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deck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deck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22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35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25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2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1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9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85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a:solidFill>
            <a:schemeClr val="tx1"/>
          </a:solidFill>
          <a:latin typeface="+mn-lt"/>
          <a:ea typeface="+mn-ea"/>
          <a:cs typeface="+mn-cs"/>
        </a:defRPr>
      </a:lvl9pPr>
    </p:bodyStyle>
    <p:otherStyle>
      <a:defPPr>
        <a:defRPr lang="en-US"/>
      </a:defPPr>
      <a:lvl1pPr marL="0" algn="l" defTabSz="457200" rtl="0" eaLnBrk="1" latinLnBrk="0" hangingPunct="1">
        <a:defRPr sz="1350" kern="1200">
          <a:solidFill>
            <a:schemeClr val="tx1"/>
          </a:solidFill>
          <a:latin typeface="+mn-lt"/>
          <a:ea typeface="+mn-ea"/>
          <a:cs typeface="+mn-cs"/>
        </a:defRPr>
      </a:lvl1pPr>
      <a:lvl2pPr marL="457200" algn="l" defTabSz="457200" rtl="0" eaLnBrk="1" latinLnBrk="0" hangingPunct="1">
        <a:defRPr sz="125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100" kern="1200">
          <a:solidFill>
            <a:schemeClr val="tx1"/>
          </a:solidFill>
          <a:latin typeface="+mn-lt"/>
          <a:ea typeface="+mn-ea"/>
          <a:cs typeface="+mn-cs"/>
        </a:defRPr>
      </a:lvl4pPr>
      <a:lvl5pPr marL="1828800" algn="l" defTabSz="457200" rtl="0" eaLnBrk="1" latinLnBrk="0" hangingPunct="1">
        <a:defRPr sz="1000" kern="1200">
          <a:solidFill>
            <a:schemeClr val="tx1"/>
          </a:solidFill>
          <a:latin typeface="+mn-lt"/>
          <a:ea typeface="+mn-ea"/>
          <a:cs typeface="+mn-cs"/>
        </a:defRPr>
      </a:lvl5pPr>
      <a:lvl6pPr marL="2286000" algn="l" defTabSz="457200" rtl="0" eaLnBrk="1" latinLnBrk="0" hangingPunct="1">
        <a:defRPr sz="950" kern="1200">
          <a:solidFill>
            <a:schemeClr val="tx1"/>
          </a:solidFill>
          <a:latin typeface="+mn-lt"/>
          <a:ea typeface="+mn-ea"/>
          <a:cs typeface="+mn-cs"/>
        </a:defRPr>
      </a:lvl6pPr>
      <a:lvl7pPr marL="2743200" algn="l" defTabSz="457200" rtl="0" eaLnBrk="1" latinLnBrk="0" hangingPunct="1">
        <a:defRPr sz="850" kern="1200">
          <a:solidFill>
            <a:schemeClr val="tx1"/>
          </a:solidFill>
          <a:latin typeface="+mn-lt"/>
          <a:ea typeface="+mn-ea"/>
          <a:cs typeface="+mn-cs"/>
        </a:defRPr>
      </a:lvl7pPr>
      <a:lvl8pPr marL="3200400" algn="l" defTabSz="457200" rtl="0" eaLnBrk="1" latinLnBrk="0" hangingPunct="1">
        <a:defRPr sz="800" kern="1200">
          <a:solidFill>
            <a:schemeClr val="tx1"/>
          </a:solidFill>
          <a:latin typeface="+mn-lt"/>
          <a:ea typeface="+mn-ea"/>
          <a:cs typeface="+mn-cs"/>
        </a:defRPr>
      </a:lvl8pPr>
      <a:lvl9pPr marL="3657600" algn="l" defTabSz="457200" rtl="0" eaLnBrk="1" latinLnBrk="0" hangingPunct="1">
        <a:defRPr sz="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604266" y="572452"/>
            <a:ext cx="995911" cy="205359"/>
          </a:xfrm>
          <a:prstGeom prst="rect">
            <a:avLst/>
          </a:prstGeom>
          <a:noFill/>
          <a:ln>
            <a:noFill/>
          </a:ln>
        </p:spPr>
        <p:txBody>
          <a:bodyPr wrap="none" lIns="0" tIns="0" rIns="0" bIns="0" anchor="t" anchorCtr="0">
            <a:spAutoFit/>
          </a:bodyPr>
          <a:lstStyle/>
          <a:p>
            <a:pPr algn="l"/>
            <a:r>
              <a:rPr lang="en-US" sz="1050" b="1" spc="225" dirty="0">
                <a:solidFill>
                  <a:schemeClr val="accent2"/>
                </a:solidFill>
                <a:latin typeface="+mn-lt"/>
                <a:ea typeface="+mn-ea"/>
                <a:cs typeface="+mn-cs"/>
              </a:rPr>
              <a:t>ICML 2024</a:t>
            </a:r>
          </a:p>
        </p:txBody>
      </p:sp>
      <p:sp>
        <p:nvSpPr>
          <p:cNvPr id="3" name="TextBox 3"/>
          <p:cNvSpPr txBox="1"/>
          <p:nvPr/>
        </p:nvSpPr>
        <p:spPr>
          <a:xfrm>
            <a:off x="8329394" y="572452"/>
            <a:ext cx="3258340"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Columbia University · Courant Institute, NYU</a:t>
            </a:r>
          </a:p>
        </p:txBody>
      </p:sp>
      <p:sp>
        <p:nvSpPr>
          <p:cNvPr id="4" name="Line 4"/>
          <p:cNvSpPr/>
          <p:nvPr/>
        </p:nvSpPr>
        <p:spPr>
          <a:xfrm>
            <a:off x="609600" y="838200"/>
            <a:ext cx="10972800" cy="9525"/>
          </a:xfrm>
          <a:custGeom>
            <a:avLst/>
            <a:gdLst/>
            <a:ahLst/>
            <a:cxnLst/>
            <a:rect l="l" t="t" r="r" b="b"/>
            <a:pathLst>
              <a:path w="10972800" h="9525">
                <a:moveTo>
                  <a:pt x="0" y="0"/>
                </a:moveTo>
                <a:lnTo>
                  <a:pt x="10972800" y="0"/>
                </a:lnTo>
              </a:path>
            </a:pathLst>
          </a:custGeom>
          <a:noFill/>
          <a:ln w="9525" cap="rnd">
            <a:solidFill>
              <a:srgbClr val="26455F"/>
            </a:solidFill>
          </a:ln>
        </p:spPr>
        <p:txBody>
          <a:bodyPr/>
          <a:p/>
        </p:txBody>
      </p:sp>
      <p:sp>
        <p:nvSpPr>
          <p:cNvPr id="5" name="TextBox 5"/>
          <p:cNvSpPr txBox="1"/>
          <p:nvPr/>
        </p:nvSpPr>
        <p:spPr>
          <a:xfrm>
            <a:off x="596646" y="1153478"/>
            <a:ext cx="6603822" cy="498729"/>
          </a:xfrm>
          <a:prstGeom prst="rect">
            <a:avLst/>
          </a:prstGeom>
          <a:noFill/>
          <a:ln>
            <a:noFill/>
          </a:ln>
        </p:spPr>
        <p:txBody>
          <a:bodyPr wrap="none" lIns="0" tIns="0" rIns="0" bIns="0" anchor="t" anchorCtr="0">
            <a:spAutoFit/>
          </a:bodyPr>
          <a:lstStyle/>
          <a:p>
            <a:pPr algn="l"/>
            <a:r>
              <a:rPr lang="en-US" sz="2550" b="1" dirty="0">
                <a:solidFill>
                  <a:srgbClr val="FFFFFF"/>
                </a:solidFill>
                <a:latin typeface="+mn-lt"/>
                <a:ea typeface="+mn-ea"/>
                <a:cs typeface="+mn-cs"/>
              </a:rPr>
              <a:t>Transformers, Parallel Computation,</a:t>
            </a:r>
          </a:p>
        </p:txBody>
      </p:sp>
      <p:sp>
        <p:nvSpPr>
          <p:cNvPr id="6" name="TextBox 6"/>
          <p:cNvSpPr txBox="1"/>
          <p:nvPr/>
        </p:nvSpPr>
        <p:spPr>
          <a:xfrm>
            <a:off x="596646" y="1553528"/>
            <a:ext cx="3923779" cy="498729"/>
          </a:xfrm>
          <a:prstGeom prst="rect">
            <a:avLst/>
          </a:prstGeom>
          <a:noFill/>
          <a:ln>
            <a:noFill/>
          </a:ln>
        </p:spPr>
        <p:txBody>
          <a:bodyPr wrap="none" lIns="0" tIns="0" rIns="0" bIns="0" anchor="t" anchorCtr="0">
            <a:spAutoFit/>
          </a:bodyPr>
          <a:lstStyle/>
          <a:p>
            <a:pPr algn="l"/>
            <a:r>
              <a:rPr lang="en-US" sz="2550" b="1" dirty="0">
                <a:solidFill>
                  <a:schemeClr val="accent2"/>
                </a:solidFill>
                <a:latin typeface="+mn-lt"/>
                <a:ea typeface="+mn-ea"/>
                <a:cs typeface="+mn-cs"/>
              </a:rPr>
              <a:t>and Logarithmic Depth</a:t>
            </a:r>
          </a:p>
        </p:txBody>
      </p:sp>
      <p:sp>
        <p:nvSpPr>
          <p:cNvPr id="7" name="Rectangle 7"/>
          <p:cNvSpPr/>
          <p:nvPr/>
        </p:nvSpPr>
        <p:spPr>
          <a:xfrm>
            <a:off x="609600" y="2057400"/>
            <a:ext cx="1428750" cy="285750"/>
          </a:xfrm>
          <a:prstGeom prst="roundRect">
            <a:avLst>
              <a:gd name="adj" fmla="val 50000"/>
            </a:avLst>
          </a:prstGeom>
          <a:solidFill>
            <a:srgbClr val="0F2E2B"/>
          </a:solidFill>
          <a:ln w="14288">
            <a:solidFill>
              <a:srgbClr val="34D3C0"/>
            </a:solidFill>
          </a:ln>
        </p:spPr>
        <p:txBody>
          <a:bodyPr/>
          <a:p/>
        </p:txBody>
      </p:sp>
      <p:sp>
        <p:nvSpPr>
          <p:cNvPr id="8" name="TextBox 8"/>
          <p:cNvSpPr txBox="1"/>
          <p:nvPr/>
        </p:nvSpPr>
        <p:spPr>
          <a:xfrm>
            <a:off x="870332" y="2118360"/>
            <a:ext cx="907286" cy="234696"/>
          </a:xfrm>
          <a:prstGeom prst="rect">
            <a:avLst/>
          </a:prstGeom>
          <a:noFill/>
          <a:ln>
            <a:noFill/>
          </a:ln>
        </p:spPr>
        <p:txBody>
          <a:bodyPr wrap="none" lIns="0" tIns="0" rIns="0" bIns="0" anchor="t" anchorCtr="0">
            <a:spAutoFit/>
          </a:bodyPr>
          <a:lstStyle/>
          <a:p>
            <a:pPr algn="ctr"/>
            <a:r>
              <a:rPr lang="en-US" sz="1200" b="1" dirty="0">
                <a:solidFill>
                  <a:srgbClr val="34D3C0"/>
                </a:solidFill>
                <a:latin typeface="+mn-lt"/>
                <a:ea typeface="+mn-ea"/>
                <a:cs typeface="+mn-cs"/>
              </a:rPr>
              <a:t>Parallelism</a:t>
            </a:r>
          </a:p>
        </p:txBody>
      </p:sp>
      <p:sp>
        <p:nvSpPr>
          <p:cNvPr id="9" name="TextBox 9"/>
          <p:cNvSpPr txBox="1"/>
          <p:nvPr/>
        </p:nvSpPr>
        <p:spPr>
          <a:xfrm>
            <a:off x="2185035" y="2126456"/>
            <a:ext cx="3011464" cy="220028"/>
          </a:xfrm>
          <a:prstGeom prst="rect">
            <a:avLst/>
          </a:prstGeom>
          <a:noFill/>
          <a:ln>
            <a:noFill/>
          </a:ln>
        </p:spPr>
        <p:txBody>
          <a:bodyPr wrap="none" lIns="0" tIns="0" rIns="0" bIns="0" anchor="t" anchorCtr="0">
            <a:spAutoFit/>
          </a:bodyPr>
          <a:lstStyle/>
          <a:p>
            <a:pPr algn="l"/>
            <a:r>
              <a:rPr lang="en-US" sz="1120" b="1" dirty="0">
                <a:solidFill>
                  <a:schemeClr val="dk2"/>
                </a:solidFill>
                <a:latin typeface="+mn-lt"/>
                <a:ea typeface="+mn-ea"/>
                <a:cs typeface="+mn-cs"/>
              </a:rPr>
              <a:t>is what makes the transformer special</a:t>
            </a:r>
          </a:p>
        </p:txBody>
      </p:sp>
      <p:sp>
        <p:nvSpPr>
          <p:cNvPr id="10" name="TextBox 10"/>
          <p:cNvSpPr txBox="1"/>
          <p:nvPr/>
        </p:nvSpPr>
        <p:spPr>
          <a:xfrm>
            <a:off x="603885" y="2469356"/>
            <a:ext cx="3473033" cy="220028"/>
          </a:xfrm>
          <a:prstGeom prst="rect">
            <a:avLst/>
          </a:prstGeom>
          <a:noFill/>
          <a:ln>
            <a:noFill/>
          </a:ln>
        </p:spPr>
        <p:txBody>
          <a:bodyPr wrap="none" lIns="0" tIns="0" rIns="0" bIns="0" anchor="t" anchorCtr="0">
            <a:spAutoFit/>
          </a:bodyPr>
          <a:lstStyle/>
          <a:p>
            <a:pPr algn="l"/>
            <a:r>
              <a:rPr lang="en-US" sz="1120" dirty="0">
                <a:solidFill>
                  <a:srgbClr val="6E869C"/>
                </a:solidFill>
                <a:latin typeface="+mn-lt"/>
                <a:ea typeface="+mn-ea"/>
                <a:cs typeface="+mn-cs"/>
              </a:rPr>
              <a:t>Clayton Sanford · Daniel Hsu · Matus Telgarsky</a:t>
            </a:r>
          </a:p>
        </p:txBody>
      </p:sp>
      <p:grpSp>
        <p:nvGrpSpPr>
          <p:cNvPr id="20" name="Group 20"/>
          <p:cNvGrpSpPr/>
          <p:nvPr/>
        </p:nvGrpSpPr>
        <p:grpSpPr>
          <a:xfrm>
            <a:off x="609600" y="2857500"/>
            <a:ext cx="2609850" cy="2152650"/>
            <a:chOff x="609600" y="2857500"/>
            <a:chExt cx="2609850" cy="2152650"/>
          </a:xfrm>
        </p:grpSpPr>
        <p:sp>
          <p:nvSpPr>
            <p:cNvPr id="11" name="Rectangle 11"/>
            <p:cNvSpPr/>
            <p:nvPr/>
          </p:nvSpPr>
          <p:spPr>
            <a:xfrm>
              <a:off x="609600" y="2857500"/>
              <a:ext cx="2609850" cy="2152650"/>
            </a:xfrm>
            <a:prstGeom prst="roundRect">
              <a:avLst>
                <a:gd name="adj" fmla="val 6195"/>
              </a:avLst>
            </a:prstGeom>
            <a:solidFill>
              <a:schemeClr val="accent5"/>
            </a:solidFill>
            <a:ln w="14288">
              <a:solidFill>
                <a:srgbClr val="26455F"/>
              </a:solidFill>
            </a:ln>
          </p:spPr>
        </p:sp>
        <p:sp>
          <p:nvSpPr>
            <p:cNvPr id="12" name="Rectangle 12"/>
            <p:cNvSpPr/>
            <p:nvPr/>
          </p:nvSpPr>
          <p:spPr>
            <a:xfrm>
              <a:off x="609600" y="2857500"/>
              <a:ext cx="2609850" cy="57150"/>
            </a:xfrm>
            <a:prstGeom prst="roundRect">
              <a:avLst>
                <a:gd name="adj" fmla="val 50000"/>
              </a:avLst>
            </a:prstGeom>
            <a:solidFill>
              <a:schemeClr val="accent2"/>
            </a:solidFill>
            <a:ln>
              <a:noFill/>
            </a:ln>
          </p:spPr>
        </p:sp>
        <p:sp>
          <p:nvSpPr>
            <p:cNvPr id="13" name="Ellipse 13"/>
            <p:cNvSpPr/>
            <p:nvPr/>
          </p:nvSpPr>
          <p:spPr>
            <a:xfrm>
              <a:off x="809625" y="3248025"/>
              <a:ext cx="133350" cy="133350"/>
            </a:xfrm>
            <a:prstGeom prst="ellipse">
              <a:avLst/>
            </a:prstGeom>
            <a:solidFill>
              <a:schemeClr val="accent2"/>
            </a:solidFill>
            <a:ln>
              <a:noFill/>
            </a:ln>
          </p:spPr>
        </p:sp>
        <p:sp>
          <p:nvSpPr>
            <p:cNvPr id="14" name="TextBox 14"/>
            <p:cNvSpPr txBox="1"/>
            <p:nvPr/>
          </p:nvSpPr>
          <p:spPr>
            <a:xfrm>
              <a:off x="1041844" y="3246358"/>
              <a:ext cx="1910992" cy="227362"/>
            </a:xfrm>
            <a:prstGeom prst="rect">
              <a:avLst/>
            </a:prstGeom>
            <a:noFill/>
            <a:ln>
              <a:noFill/>
            </a:ln>
          </p:spPr>
          <p:txBody>
            <a:bodyPr wrap="none" lIns="0" tIns="0" rIns="0" bIns="0" anchor="t" anchorCtr="0">
              <a:spAutoFit/>
            </a:bodyPr>
            <a:lstStyle/>
            <a:p>
              <a:pPr algn="l"/>
              <a:r>
                <a:rPr lang="en-US" sz="1160" b="1" dirty="0">
                  <a:solidFill>
                    <a:schemeClr val="dk1"/>
                  </a:solidFill>
                  <a:latin typeface="+mn-lt"/>
                  <a:ea typeface="+mn-ea"/>
                  <a:cs typeface="+mn-cs"/>
                </a:rPr>
                <a:t>The answer: parallelism</a:t>
              </a:r>
            </a:p>
          </p:txBody>
        </p:sp>
        <p:sp>
          <p:nvSpPr>
            <p:cNvPr id="15" name="TextBox 15"/>
            <p:cNvSpPr txBox="1"/>
            <p:nvPr/>
          </p:nvSpPr>
          <p:spPr>
            <a:xfrm>
              <a:off x="814006" y="3643551"/>
              <a:ext cx="2128994"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Self-attention lets every token</a:t>
              </a:r>
            </a:p>
          </p:txBody>
        </p:sp>
        <p:sp>
          <p:nvSpPr>
            <p:cNvPr id="16" name="TextBox 16"/>
            <p:cNvSpPr txBox="1"/>
            <p:nvPr/>
          </p:nvSpPr>
          <p:spPr>
            <a:xfrm>
              <a:off x="814006" y="3853101"/>
              <a:ext cx="1904868"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interact at once. This paper</a:t>
              </a:r>
            </a:p>
          </p:txBody>
        </p:sp>
        <p:sp>
          <p:nvSpPr>
            <p:cNvPr id="17" name="TextBox 17"/>
            <p:cNvSpPr txBox="1"/>
            <p:nvPr/>
          </p:nvSpPr>
          <p:spPr>
            <a:xfrm>
              <a:off x="814006" y="4062651"/>
              <a:ext cx="1893419"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argues that parallelism, not</a:t>
              </a:r>
            </a:p>
          </p:txBody>
        </p:sp>
        <p:sp>
          <p:nvSpPr>
            <p:cNvPr id="18" name="TextBox 18"/>
            <p:cNvSpPr txBox="1"/>
            <p:nvPr/>
          </p:nvSpPr>
          <p:spPr>
            <a:xfrm>
              <a:off x="814006" y="4272201"/>
              <a:ext cx="1886621"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scale, is the transformer's</a:t>
              </a:r>
            </a:p>
          </p:txBody>
        </p:sp>
        <p:sp>
          <p:nvSpPr>
            <p:cNvPr id="19" name="TextBox 19"/>
            <p:cNvSpPr txBox="1"/>
            <p:nvPr/>
          </p:nvSpPr>
          <p:spPr>
            <a:xfrm>
              <a:off x="814006" y="4481751"/>
              <a:ext cx="1254378"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defining strength.</a:t>
              </a:r>
            </a:p>
          </p:txBody>
        </p:sp>
      </p:grpSp>
      <p:grpSp>
        <p:nvGrpSpPr>
          <p:cNvPr id="30" name="Group 30"/>
          <p:cNvGrpSpPr/>
          <p:nvPr/>
        </p:nvGrpSpPr>
        <p:grpSpPr>
          <a:xfrm>
            <a:off x="3390900" y="2857500"/>
            <a:ext cx="2609850" cy="2152650"/>
            <a:chOff x="3390900" y="2857500"/>
            <a:chExt cx="2609850" cy="2152650"/>
          </a:xfrm>
        </p:grpSpPr>
        <p:sp>
          <p:nvSpPr>
            <p:cNvPr id="21" name="Rectangle 21"/>
            <p:cNvSpPr/>
            <p:nvPr/>
          </p:nvSpPr>
          <p:spPr>
            <a:xfrm>
              <a:off x="3390900" y="2857500"/>
              <a:ext cx="2609850" cy="2152650"/>
            </a:xfrm>
            <a:prstGeom prst="roundRect">
              <a:avLst>
                <a:gd name="adj" fmla="val 6195"/>
              </a:avLst>
            </a:prstGeom>
            <a:solidFill>
              <a:schemeClr val="accent5"/>
            </a:solidFill>
            <a:ln w="14288">
              <a:solidFill>
                <a:srgbClr val="26455F"/>
              </a:solidFill>
            </a:ln>
          </p:spPr>
        </p:sp>
        <p:sp>
          <p:nvSpPr>
            <p:cNvPr id="22" name="Rectangle 22"/>
            <p:cNvSpPr/>
            <p:nvPr/>
          </p:nvSpPr>
          <p:spPr>
            <a:xfrm>
              <a:off x="3390900" y="2857500"/>
              <a:ext cx="2609850" cy="57150"/>
            </a:xfrm>
            <a:prstGeom prst="roundRect">
              <a:avLst>
                <a:gd name="adj" fmla="val 50000"/>
              </a:avLst>
            </a:prstGeom>
            <a:solidFill>
              <a:srgbClr val="34D3C0"/>
            </a:solidFill>
            <a:ln>
              <a:noFill/>
            </a:ln>
          </p:spPr>
        </p:sp>
        <p:sp>
          <p:nvSpPr>
            <p:cNvPr id="23" name="Ellipse 23"/>
            <p:cNvSpPr/>
            <p:nvPr/>
          </p:nvSpPr>
          <p:spPr>
            <a:xfrm>
              <a:off x="3590925" y="3248025"/>
              <a:ext cx="133350" cy="133350"/>
            </a:xfrm>
            <a:prstGeom prst="ellipse">
              <a:avLst/>
            </a:prstGeom>
            <a:solidFill>
              <a:srgbClr val="34D3C0"/>
            </a:solidFill>
            <a:ln>
              <a:noFill/>
            </a:ln>
          </p:spPr>
        </p:sp>
        <p:sp>
          <p:nvSpPr>
            <p:cNvPr id="24" name="TextBox 24"/>
            <p:cNvSpPr txBox="1"/>
            <p:nvPr/>
          </p:nvSpPr>
          <p:spPr>
            <a:xfrm>
              <a:off x="3823144" y="3246358"/>
              <a:ext cx="1642944" cy="227362"/>
            </a:xfrm>
            <a:prstGeom prst="rect">
              <a:avLst/>
            </a:prstGeom>
            <a:noFill/>
            <a:ln>
              <a:noFill/>
            </a:ln>
          </p:spPr>
          <p:txBody>
            <a:bodyPr wrap="none" lIns="0" tIns="0" rIns="0" bIns="0" anchor="t" anchorCtr="0">
              <a:spAutoFit/>
            </a:bodyPr>
            <a:lstStyle/>
            <a:p>
              <a:pPr algn="l"/>
              <a:r>
                <a:rPr lang="en-US" sz="1160" b="1" dirty="0">
                  <a:solidFill>
                    <a:schemeClr val="dk1"/>
                  </a:solidFill>
                  <a:latin typeface="+mn-lt"/>
                  <a:ea typeface="+mn-ea"/>
                  <a:cs typeface="+mn-cs"/>
                </a:rPr>
                <a:t>Transformers = MPC</a:t>
              </a:r>
            </a:p>
          </p:txBody>
        </p:sp>
        <p:sp>
          <p:nvSpPr>
            <p:cNvPr id="25" name="TextBox 25"/>
            <p:cNvSpPr txBox="1"/>
            <p:nvPr/>
          </p:nvSpPr>
          <p:spPr>
            <a:xfrm>
              <a:off x="3595306" y="3643551"/>
              <a:ext cx="2251800"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A tight, two-way correspondence</a:t>
              </a:r>
            </a:p>
          </p:txBody>
        </p:sp>
        <p:sp>
          <p:nvSpPr>
            <p:cNvPr id="26" name="TextBox 26"/>
            <p:cNvSpPr txBox="1"/>
            <p:nvPr/>
          </p:nvSpPr>
          <p:spPr>
            <a:xfrm>
              <a:off x="3595306" y="3853101"/>
              <a:ext cx="2056578"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between transformers and the</a:t>
              </a:r>
            </a:p>
          </p:txBody>
        </p:sp>
        <p:sp>
          <p:nvSpPr>
            <p:cNvPr id="27" name="TextBox 27"/>
            <p:cNvSpPr txBox="1"/>
            <p:nvPr/>
          </p:nvSpPr>
          <p:spPr>
            <a:xfrm>
              <a:off x="3595306" y="4062651"/>
              <a:ext cx="2048470"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Massively Parallel Computation</a:t>
              </a:r>
            </a:p>
          </p:txBody>
        </p:sp>
        <p:sp>
          <p:nvSpPr>
            <p:cNvPr id="28" name="TextBox 28"/>
            <p:cNvSpPr txBox="1"/>
            <p:nvPr/>
          </p:nvSpPr>
          <p:spPr>
            <a:xfrm>
              <a:off x="3595306" y="4272201"/>
              <a:ext cx="2117763"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model used to study distributed</a:t>
              </a:r>
            </a:p>
          </p:txBody>
        </p:sp>
        <p:sp>
          <p:nvSpPr>
            <p:cNvPr id="29" name="TextBox 29"/>
            <p:cNvSpPr txBox="1"/>
            <p:nvPr/>
          </p:nvSpPr>
          <p:spPr>
            <a:xfrm>
              <a:off x="3595306" y="4481751"/>
              <a:ext cx="792093"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algorithms.</a:t>
              </a:r>
            </a:p>
          </p:txBody>
        </p:sp>
      </p:grpSp>
      <p:grpSp>
        <p:nvGrpSpPr>
          <p:cNvPr id="40" name="Group 40"/>
          <p:cNvGrpSpPr/>
          <p:nvPr/>
        </p:nvGrpSpPr>
        <p:grpSpPr>
          <a:xfrm>
            <a:off x="6172200" y="2857500"/>
            <a:ext cx="2609850" cy="2152650"/>
            <a:chOff x="6172200" y="2857500"/>
            <a:chExt cx="2609850" cy="2152650"/>
          </a:xfrm>
        </p:grpSpPr>
        <p:sp>
          <p:nvSpPr>
            <p:cNvPr id="31" name="Rectangle 31"/>
            <p:cNvSpPr/>
            <p:nvPr/>
          </p:nvSpPr>
          <p:spPr>
            <a:xfrm>
              <a:off x="6172200" y="2857500"/>
              <a:ext cx="2609850" cy="2152650"/>
            </a:xfrm>
            <a:prstGeom prst="roundRect">
              <a:avLst>
                <a:gd name="adj" fmla="val 6195"/>
              </a:avLst>
            </a:prstGeom>
            <a:solidFill>
              <a:schemeClr val="accent5"/>
            </a:solidFill>
            <a:ln w="14288">
              <a:solidFill>
                <a:srgbClr val="26455F"/>
              </a:solidFill>
            </a:ln>
          </p:spPr>
        </p:sp>
        <p:sp>
          <p:nvSpPr>
            <p:cNvPr id="32" name="Rectangle 32"/>
            <p:cNvSpPr/>
            <p:nvPr/>
          </p:nvSpPr>
          <p:spPr>
            <a:xfrm>
              <a:off x="6172200" y="2857500"/>
              <a:ext cx="2609850" cy="57150"/>
            </a:xfrm>
            <a:prstGeom prst="roundRect">
              <a:avLst>
                <a:gd name="adj" fmla="val 50000"/>
              </a:avLst>
            </a:prstGeom>
            <a:solidFill>
              <a:srgbClr val="F2C14E"/>
            </a:solidFill>
            <a:ln>
              <a:noFill/>
            </a:ln>
          </p:spPr>
        </p:sp>
        <p:sp>
          <p:nvSpPr>
            <p:cNvPr id="33" name="Ellipse 33"/>
            <p:cNvSpPr/>
            <p:nvPr/>
          </p:nvSpPr>
          <p:spPr>
            <a:xfrm>
              <a:off x="6372225" y="3248025"/>
              <a:ext cx="133350" cy="133350"/>
            </a:xfrm>
            <a:prstGeom prst="ellipse">
              <a:avLst/>
            </a:prstGeom>
            <a:solidFill>
              <a:srgbClr val="F2C14E"/>
            </a:solidFill>
            <a:ln>
              <a:noFill/>
            </a:ln>
          </p:spPr>
        </p:sp>
        <p:sp>
          <p:nvSpPr>
            <p:cNvPr id="34" name="TextBox 34"/>
            <p:cNvSpPr txBox="1"/>
            <p:nvPr/>
          </p:nvSpPr>
          <p:spPr>
            <a:xfrm>
              <a:off x="6604444" y="3246358"/>
              <a:ext cx="1796155" cy="227362"/>
            </a:xfrm>
            <a:prstGeom prst="rect">
              <a:avLst/>
            </a:prstGeom>
            <a:noFill/>
            <a:ln>
              <a:noFill/>
            </a:ln>
          </p:spPr>
          <p:txBody>
            <a:bodyPr wrap="none" lIns="0" tIns="0" rIns="0" bIns="0" anchor="t" anchorCtr="0">
              <a:spAutoFit/>
            </a:bodyPr>
            <a:lstStyle/>
            <a:p>
              <a:pPr algn="l"/>
              <a:r>
                <a:rPr lang="en-US" sz="1160" b="1" dirty="0">
                  <a:solidFill>
                    <a:schemeClr val="dk1"/>
                  </a:solidFill>
                  <a:latin typeface="+mn-lt"/>
                  <a:ea typeface="+mn-ea"/>
                  <a:cs typeface="+mn-cs"/>
                </a:rPr>
                <a:t>Log depth beats serial</a:t>
              </a:r>
            </a:p>
          </p:txBody>
        </p:sp>
        <p:sp>
          <p:nvSpPr>
            <p:cNvPr id="35" name="TextBox 35"/>
            <p:cNvSpPr txBox="1"/>
            <p:nvPr/>
          </p:nvSpPr>
          <p:spPr>
            <a:xfrm>
              <a:off x="6376606" y="3643551"/>
              <a:ext cx="2115538"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A log-depth transformer solves</a:t>
              </a:r>
            </a:p>
          </p:txBody>
        </p:sp>
        <p:sp>
          <p:nvSpPr>
            <p:cNvPr id="36" name="TextBox 36"/>
            <p:cNvSpPr txBox="1"/>
            <p:nvPr/>
          </p:nvSpPr>
          <p:spPr>
            <a:xfrm>
              <a:off x="6376606" y="3853101"/>
              <a:ext cx="1832596"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reasoning tasks that RNNs,</a:t>
              </a:r>
            </a:p>
          </p:txBody>
        </p:sp>
        <p:sp>
          <p:nvSpPr>
            <p:cNvPr id="37" name="TextBox 37"/>
            <p:cNvSpPr txBox="1"/>
            <p:nvPr/>
          </p:nvSpPr>
          <p:spPr>
            <a:xfrm>
              <a:off x="6376606" y="4062651"/>
              <a:ext cx="2136162"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state-space models like Mamba,</a:t>
              </a:r>
            </a:p>
          </p:txBody>
        </p:sp>
        <p:sp>
          <p:nvSpPr>
            <p:cNvPr id="38" name="TextBox 38"/>
            <p:cNvSpPr txBox="1"/>
            <p:nvPr/>
          </p:nvSpPr>
          <p:spPr>
            <a:xfrm>
              <a:off x="6376606" y="4272201"/>
              <a:ext cx="1893419"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and sub-quadratic attention</a:t>
              </a:r>
            </a:p>
          </p:txBody>
        </p:sp>
        <p:sp>
          <p:nvSpPr>
            <p:cNvPr id="39" name="TextBox 39"/>
            <p:cNvSpPr txBox="1"/>
            <p:nvPr/>
          </p:nvSpPr>
          <p:spPr>
            <a:xfrm>
              <a:off x="6376606" y="4481751"/>
              <a:ext cx="2090570"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provably cannot do efficiently.</a:t>
              </a:r>
            </a:p>
          </p:txBody>
        </p:sp>
      </p:grpSp>
      <p:grpSp>
        <p:nvGrpSpPr>
          <p:cNvPr id="50" name="Group 50"/>
          <p:cNvGrpSpPr/>
          <p:nvPr/>
        </p:nvGrpSpPr>
        <p:grpSpPr>
          <a:xfrm>
            <a:off x="8953500" y="2857500"/>
            <a:ext cx="2609850" cy="2152650"/>
            <a:chOff x="8953500" y="2857500"/>
            <a:chExt cx="2609850" cy="2152650"/>
          </a:xfrm>
        </p:grpSpPr>
        <p:sp>
          <p:nvSpPr>
            <p:cNvPr id="41" name="Rectangle 41"/>
            <p:cNvSpPr/>
            <p:nvPr/>
          </p:nvSpPr>
          <p:spPr>
            <a:xfrm>
              <a:off x="8953500" y="2857500"/>
              <a:ext cx="2609850" cy="2152650"/>
            </a:xfrm>
            <a:prstGeom prst="roundRect">
              <a:avLst>
                <a:gd name="adj" fmla="val 6195"/>
              </a:avLst>
            </a:prstGeom>
            <a:solidFill>
              <a:schemeClr val="accent5"/>
            </a:solidFill>
            <a:ln w="14288">
              <a:solidFill>
                <a:srgbClr val="26455F"/>
              </a:solidFill>
            </a:ln>
          </p:spPr>
        </p:sp>
        <p:sp>
          <p:nvSpPr>
            <p:cNvPr id="42" name="Rectangle 42"/>
            <p:cNvSpPr/>
            <p:nvPr/>
          </p:nvSpPr>
          <p:spPr>
            <a:xfrm>
              <a:off x="8953500" y="2857500"/>
              <a:ext cx="2609850" cy="57150"/>
            </a:xfrm>
            <a:prstGeom prst="roundRect">
              <a:avLst>
                <a:gd name="adj" fmla="val 50000"/>
              </a:avLst>
            </a:prstGeom>
            <a:solidFill>
              <a:srgbClr val="48C78E"/>
            </a:solidFill>
            <a:ln>
              <a:noFill/>
            </a:ln>
          </p:spPr>
        </p:sp>
        <p:sp>
          <p:nvSpPr>
            <p:cNvPr id="43" name="Ellipse 43"/>
            <p:cNvSpPr/>
            <p:nvPr/>
          </p:nvSpPr>
          <p:spPr>
            <a:xfrm>
              <a:off x="9153525" y="3248025"/>
              <a:ext cx="133350" cy="133350"/>
            </a:xfrm>
            <a:prstGeom prst="ellipse">
              <a:avLst/>
            </a:prstGeom>
            <a:solidFill>
              <a:srgbClr val="48C78E"/>
            </a:solidFill>
            <a:ln>
              <a:noFill/>
            </a:ln>
          </p:spPr>
        </p:sp>
        <p:sp>
          <p:nvSpPr>
            <p:cNvPr id="44" name="TextBox 44"/>
            <p:cNvSpPr txBox="1"/>
            <p:nvPr/>
          </p:nvSpPr>
          <p:spPr>
            <a:xfrm>
              <a:off x="9385744" y="3246358"/>
              <a:ext cx="1565917" cy="227362"/>
            </a:xfrm>
            <a:prstGeom prst="rect">
              <a:avLst/>
            </a:prstGeom>
            <a:noFill/>
            <a:ln>
              <a:noFill/>
            </a:ln>
          </p:spPr>
          <p:txBody>
            <a:bodyPr wrap="none" lIns="0" tIns="0" rIns="0" bIns="0" anchor="t" anchorCtr="0">
              <a:spAutoFit/>
            </a:bodyPr>
            <a:lstStyle/>
            <a:p>
              <a:pPr algn="l"/>
              <a:r>
                <a:rPr lang="en-US" sz="1160" b="1" dirty="0">
                  <a:solidFill>
                    <a:schemeClr val="dk1"/>
                  </a:solidFill>
                  <a:latin typeface="+mn-lt"/>
                  <a:ea typeface="+mn-ea"/>
                  <a:cs typeface="+mn-cs"/>
                </a:rPr>
                <a:t>Verified empirically</a:t>
              </a:r>
            </a:p>
          </p:txBody>
        </p:sp>
        <p:sp>
          <p:nvSpPr>
            <p:cNvPr id="45" name="TextBox 45"/>
            <p:cNvSpPr txBox="1"/>
            <p:nvPr/>
          </p:nvSpPr>
          <p:spPr>
            <a:xfrm>
              <a:off x="9157906" y="3643551"/>
              <a:ext cx="2197119"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On the synthetic k-hop induction</a:t>
              </a:r>
            </a:p>
          </p:txBody>
        </p:sp>
        <p:sp>
          <p:nvSpPr>
            <p:cNvPr id="46" name="TextBox 46"/>
            <p:cNvSpPr txBox="1"/>
            <p:nvPr/>
          </p:nvSpPr>
          <p:spPr>
            <a:xfrm>
              <a:off x="9157906" y="3853101"/>
              <a:ext cx="2294519"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heads task, trained transformers</a:t>
              </a:r>
            </a:p>
          </p:txBody>
        </p:sp>
        <p:sp>
          <p:nvSpPr>
            <p:cNvPr id="47" name="TextBox 47"/>
            <p:cNvSpPr txBox="1"/>
            <p:nvPr/>
          </p:nvSpPr>
          <p:spPr>
            <a:xfrm>
              <a:off x="9157906" y="4062651"/>
              <a:ext cx="1893419"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obey exactly the logarithmic</a:t>
              </a:r>
            </a:p>
          </p:txBody>
        </p:sp>
        <p:sp>
          <p:nvSpPr>
            <p:cNvPr id="48" name="TextBox 48"/>
            <p:cNvSpPr txBox="1"/>
            <p:nvPr/>
          </p:nvSpPr>
          <p:spPr>
            <a:xfrm>
              <a:off x="9157906" y="4272201"/>
              <a:ext cx="1818637"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depth threshold the theory</a:t>
              </a:r>
            </a:p>
          </p:txBody>
        </p:sp>
        <p:sp>
          <p:nvSpPr>
            <p:cNvPr id="49" name="TextBox 49"/>
            <p:cNvSpPr txBox="1"/>
            <p:nvPr/>
          </p:nvSpPr>
          <p:spPr>
            <a:xfrm>
              <a:off x="9157906" y="4481751"/>
              <a:ext cx="649328"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predicts.</a:t>
              </a:r>
            </a:p>
          </p:txBody>
        </p:sp>
      </p:grpSp>
      <p:sp>
        <p:nvSpPr>
          <p:cNvPr id="51" name="Line 51"/>
          <p:cNvSpPr/>
          <p:nvPr/>
        </p:nvSpPr>
        <p:spPr>
          <a:xfrm>
            <a:off x="609600" y="5429250"/>
            <a:ext cx="10972800" cy="9525"/>
          </a:xfrm>
          <a:custGeom>
            <a:avLst/>
            <a:gdLst/>
            <a:ahLst/>
            <a:cxnLst/>
            <a:rect l="l" t="t" r="r" b="b"/>
            <a:pathLst>
              <a:path w="10972800" h="9525">
                <a:moveTo>
                  <a:pt x="0" y="0"/>
                </a:moveTo>
                <a:lnTo>
                  <a:pt x="10972800" y="0"/>
                </a:lnTo>
              </a:path>
            </a:pathLst>
          </a:custGeom>
          <a:noFill/>
          <a:ln w="9525" cap="rnd">
            <a:solidFill>
              <a:srgbClr val="26455F"/>
            </a:solidFill>
          </a:ln>
        </p:spPr>
        <p:txBody>
          <a:bodyPr/>
          <a:p/>
        </p:txBody>
      </p:sp>
      <p:sp>
        <p:nvSpPr>
          <p:cNvPr id="52" name="TextBox 52"/>
          <p:cNvSpPr txBox="1"/>
          <p:nvPr/>
        </p:nvSpPr>
        <p:spPr>
          <a:xfrm>
            <a:off x="604266" y="5658802"/>
            <a:ext cx="1294012" cy="205359"/>
          </a:xfrm>
          <a:prstGeom prst="rect">
            <a:avLst/>
          </a:prstGeom>
          <a:noFill/>
          <a:ln>
            <a:noFill/>
          </a:ln>
        </p:spPr>
        <p:txBody>
          <a:bodyPr wrap="none" lIns="0" tIns="0" rIns="0" bIns="0" anchor="t" anchorCtr="0">
            <a:spAutoFit/>
          </a:bodyPr>
          <a:lstStyle/>
          <a:p>
            <a:pPr algn="l"/>
            <a:r>
              <a:rPr lang="en-US" sz="1050" b="1" dirty="0">
                <a:solidFill>
                  <a:schemeClr val="accent2"/>
                </a:solidFill>
                <a:latin typeface="+mn-lt"/>
                <a:ea typeface="+mn-ea"/>
                <a:cs typeface="+mn-cs"/>
              </a:rPr>
              <a:t>arXiv:2402.09268</a:t>
            </a:r>
          </a:p>
        </p:txBody>
      </p:sp>
      <p:sp>
        <p:nvSpPr>
          <p:cNvPr id="53" name="TextBox 53"/>
          <p:cNvSpPr txBox="1"/>
          <p:nvPr/>
        </p:nvSpPr>
        <p:spPr>
          <a:xfrm>
            <a:off x="3042666" y="5658802"/>
            <a:ext cx="3194246" cy="205359"/>
          </a:xfrm>
          <a:prstGeom prst="rect">
            <a:avLst/>
          </a:prstGeom>
          <a:noFill/>
          <a:ln>
            <a:noFill/>
          </a:ln>
        </p:spPr>
        <p:txBody>
          <a:bodyPr wrap="none" lIns="0" tIns="0" rIns="0" bIns="0" anchor="t" anchorCtr="0">
            <a:spAutoFit/>
          </a:bodyPr>
          <a:lstStyle/>
          <a:p>
            <a:pPr algn="l"/>
            <a:r>
              <a:rPr lang="en-US" sz="1050" b="1" dirty="0">
                <a:solidFill>
                  <a:schemeClr val="dk2"/>
                </a:solidFill>
                <a:latin typeface="+mn-lt"/>
                <a:ea typeface="+mn-ea"/>
                <a:cs typeface="+mn-cs"/>
              </a:rPr>
              <a:t>github.com/chsanford/hop-induction-heads</a:t>
            </a:r>
          </a:p>
        </p:txBody>
      </p:sp>
      <p:sp>
        <p:nvSpPr>
          <p:cNvPr id="54" name="TextBox 54"/>
          <p:cNvSpPr txBox="1"/>
          <p:nvPr/>
        </p:nvSpPr>
        <p:spPr>
          <a:xfrm>
            <a:off x="6948796" y="5658802"/>
            <a:ext cx="4638938" cy="205359"/>
          </a:xfrm>
          <a:prstGeom prst="rect">
            <a:avLst/>
          </a:prstGeom>
          <a:noFill/>
          <a:ln>
            <a:noFill/>
          </a:ln>
        </p:spPr>
        <p:txBody>
          <a:bodyPr wrap="none" lIns="0" tIns="0" rIns="0" bIns="0" anchor="t" anchorCtr="0">
            <a:spAutoFit/>
          </a:bodyPr>
          <a:lstStyle/>
          <a:p>
            <a:pPr algn="r"/>
            <a:r>
              <a:rPr lang="en-US" sz="1050" b="1" dirty="0">
                <a:solidFill>
                  <a:srgbClr val="34D3C0"/>
                </a:solidFill>
                <a:latin typeface="+mn-lt"/>
                <a:ea typeface="+mn-ea"/>
                <a:cs typeface="+mn-cs"/>
              </a:rPr>
              <a:t>Log-depth transformers = constant-round parallel computation</a:t>
            </a:r>
          </a:p>
        </p:txBody>
      </p:sp>
      <p:sp>
        <p:nvSpPr>
          <p:cNvPr id="55" name="cue_s01_c1_what_makes_transformer_special_clayt" title="cue_s01_c1_what_makes_transformer_special_clayt" descr="cue_s01_c1_what_makes_transformer_special_clayt What makes the transformer special? This paper by Clayton Sanford, Daniel Hsu, and Matus Telgarsky argues the answer is parallelism."/>
          <p:cNvSpPr/>
          <p:nvPr/>
        </p:nvSpPr>
        <p:spPr>
          <a:xfrm>
            <a:off x="609600" y="2857728"/>
            <a:ext cx="2610307" cy="21527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cue_s01_c2_authors_prove_tight_two_way_correspo" title="cue_s01_c2_authors_prove_tight_two_way_correspo" descr="cue_s01_c2_authors_prove_tight_two_way_correspo The authors prove a tight, two-way correspondence between transformers and the Massively Parallel Computation model used to study distributed algorithms."/>
          <p:cNvSpPr/>
          <p:nvPr/>
        </p:nvSpPr>
        <p:spPr>
          <a:xfrm>
            <a:off x="3390595" y="2857728"/>
            <a:ext cx="2610307" cy="21527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cue_s01_c3_upshot_striking_transformer_only_log" title="cue_s01_c3_upshot_striking_transformer_only_log" descr="cue_s01_c3_upshot_striking_transformer_only_log The upshot is striking: a transformer with only logarithmic depth can solve basic reasoning tasks that recurrent models, state-space models like Mamba, and efficient sub-quadratic attention variants provably cannot solve efficiently."/>
          <p:cNvSpPr/>
          <p:nvPr/>
        </p:nvSpPr>
        <p:spPr>
          <a:xfrm>
            <a:off x="6171590" y="2857728"/>
            <a:ext cx="2610307" cy="21527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cue_s01_c4_they_back_theory_clean_synthetic" title="cue_s01_c4_they_back_theory_clean_synthetic" descr="cue_s01_c4_they_back_theory_clean_synthetic They back the theory with a clean synthetic task, the k-hop induction heads problem, where trained transformers obey exactly the logarithmic depth threshold the theory predicts."/>
          <p:cNvSpPr/>
          <p:nvPr/>
        </p:nvSpPr>
        <p:spPr>
          <a:xfrm>
            <a:off x="8953804" y="2857728"/>
            <a:ext cx="2610307" cy="21527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882792"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PROBLEM</a:t>
            </a:r>
          </a:p>
        </p:txBody>
      </p:sp>
      <p:sp>
        <p:nvSpPr>
          <p:cNvPr id="4" name="TextBox 4"/>
          <p:cNvSpPr txBox="1"/>
          <p:nvPr/>
        </p:nvSpPr>
        <p:spPr>
          <a:xfrm>
            <a:off x="598170" y="804862"/>
            <a:ext cx="8350299"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Theory has not said what makes transformers special</a:t>
            </a:r>
          </a:p>
        </p:txBody>
      </p:sp>
      <p:grpSp>
        <p:nvGrpSpPr>
          <p:cNvPr id="14" name="Group 14"/>
          <p:cNvGrpSpPr/>
          <p:nvPr/>
        </p:nvGrpSpPr>
        <p:grpSpPr>
          <a:xfrm>
            <a:off x="609600" y="1447800"/>
            <a:ext cx="5334000" cy="1866900"/>
            <a:chOff x="609600" y="1447800"/>
            <a:chExt cx="5334000" cy="1866900"/>
          </a:xfrm>
        </p:grpSpPr>
        <p:sp>
          <p:nvSpPr>
            <p:cNvPr id="5" name="Rectangle 5"/>
            <p:cNvSpPr/>
            <p:nvPr/>
          </p:nvSpPr>
          <p:spPr>
            <a:xfrm>
              <a:off x="609600" y="1447800"/>
              <a:ext cx="5334000" cy="1866900"/>
            </a:xfrm>
            <a:prstGeom prst="roundRect">
              <a:avLst>
                <a:gd name="adj" fmla="val 7143"/>
              </a:avLst>
            </a:prstGeom>
            <a:solidFill>
              <a:schemeClr val="accent5"/>
            </a:solidFill>
            <a:ln w="14288">
              <a:solidFill>
                <a:srgbClr val="26455F"/>
              </a:solidFill>
            </a:ln>
          </p:spPr>
        </p:sp>
        <p:sp>
          <p:nvSpPr>
            <p:cNvPr id="6" name="Rectangle 6"/>
            <p:cNvSpPr/>
            <p:nvPr/>
          </p:nvSpPr>
          <p:spPr>
            <a:xfrm>
              <a:off x="609600" y="1447800"/>
              <a:ext cx="57150" cy="1866900"/>
            </a:xfrm>
            <a:prstGeom prst="roundRect">
              <a:avLst>
                <a:gd name="adj" fmla="val 50000"/>
              </a:avLst>
            </a:prstGeom>
            <a:solidFill>
              <a:srgbClr val="F2C14E"/>
            </a:solidFill>
            <a:ln>
              <a:noFill/>
            </a:ln>
          </p:spPr>
        </p:sp>
        <p:sp>
          <p:nvSpPr>
            <p:cNvPr id="7" name="TextBox 7"/>
            <p:cNvSpPr txBox="1"/>
            <p:nvPr/>
          </p:nvSpPr>
          <p:spPr>
            <a:xfrm>
              <a:off x="870014" y="1676162"/>
              <a:ext cx="1736347" cy="242030"/>
            </a:xfrm>
            <a:prstGeom prst="rect">
              <a:avLst/>
            </a:prstGeom>
            <a:noFill/>
            <a:ln>
              <a:noFill/>
            </a:ln>
          </p:spPr>
          <p:txBody>
            <a:bodyPr wrap="none" lIns="0" tIns="0" rIns="0" bIns="0" anchor="t" anchorCtr="0">
              <a:spAutoFit/>
            </a:bodyPr>
            <a:lstStyle/>
            <a:p>
              <a:pPr algn="l"/>
              <a:r>
                <a:rPr lang="en-US" sz="1240" b="1" dirty="0">
                  <a:solidFill>
                    <a:srgbClr val="F2C14E"/>
                  </a:solidFill>
                  <a:latin typeface="+mn-lt"/>
                  <a:ea typeface="+mn-ea"/>
                  <a:cs typeface="+mn-cs"/>
                </a:rPr>
                <a:t>Line 1 · universality</a:t>
              </a:r>
            </a:p>
          </p:txBody>
        </p:sp>
        <p:sp>
          <p:nvSpPr>
            <p:cNvPr id="8" name="TextBox 8"/>
            <p:cNvSpPr txBox="1"/>
            <p:nvPr/>
          </p:nvSpPr>
          <p:spPr>
            <a:xfrm>
              <a:off x="870776" y="1997154"/>
              <a:ext cx="4418106"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Transformers dominate sequence modeling, yet the theory of</a:t>
              </a:r>
            </a:p>
          </p:txBody>
        </p:sp>
        <p:sp>
          <p:nvSpPr>
            <p:cNvPr id="9" name="TextBox 9"/>
            <p:cNvSpPr txBox="1"/>
            <p:nvPr/>
          </p:nvSpPr>
          <p:spPr>
            <a:xfrm>
              <a:off x="870776" y="2216229"/>
              <a:ext cx="3882401"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why is unsatisfying. One line proves universality, but</a:t>
              </a:r>
            </a:p>
          </p:txBody>
        </p:sp>
        <p:sp>
          <p:nvSpPr>
            <p:cNvPr id="10" name="TextBox 10"/>
            <p:cNvSpPr txBox="1"/>
            <p:nvPr/>
          </p:nvSpPr>
          <p:spPr>
            <a:xfrm>
              <a:off x="870776" y="2435304"/>
              <a:ext cx="1903941"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only for enormous models.</a:t>
              </a:r>
            </a:p>
          </p:txBody>
        </p:sp>
        <p:sp>
          <p:nvSpPr>
            <p:cNvPr id="11" name="Rectangle 11"/>
            <p:cNvSpPr/>
            <p:nvPr/>
          </p:nvSpPr>
          <p:spPr>
            <a:xfrm>
              <a:off x="876300" y="2857500"/>
              <a:ext cx="4800600" cy="304800"/>
            </a:xfrm>
            <a:prstGeom prst="roundRect">
              <a:avLst>
                <a:gd name="adj" fmla="val 25000"/>
              </a:avLst>
            </a:prstGeom>
            <a:solidFill>
              <a:schemeClr val="accent6"/>
            </a:solidFill>
            <a:ln w="14288">
              <a:solidFill>
                <a:srgbClr val="26455F"/>
              </a:solidFill>
            </a:ln>
          </p:spPr>
        </p:sp>
        <p:sp>
          <p:nvSpPr>
            <p:cNvPr id="12" name="Ellipse 12"/>
            <p:cNvSpPr/>
            <p:nvPr/>
          </p:nvSpPr>
          <p:spPr>
            <a:xfrm>
              <a:off x="1000125" y="2962275"/>
              <a:ext cx="95250" cy="95250"/>
            </a:xfrm>
            <a:prstGeom prst="ellipse">
              <a:avLst/>
            </a:prstGeom>
            <a:solidFill>
              <a:srgbClr val="F2C14E"/>
            </a:solidFill>
            <a:ln>
              <a:noFill/>
            </a:ln>
          </p:spPr>
        </p:sp>
        <p:sp>
          <p:nvSpPr>
            <p:cNvPr id="13" name="TextBox 13"/>
            <p:cNvSpPr txBox="1"/>
            <p:nvPr/>
          </p:nvSpPr>
          <p:spPr>
            <a:xfrm>
              <a:off x="1195006" y="2948226"/>
              <a:ext cx="2994065" cy="198025"/>
            </a:xfrm>
            <a:prstGeom prst="rect">
              <a:avLst/>
            </a:prstGeom>
            <a:noFill/>
            <a:ln>
              <a:noFill/>
            </a:ln>
          </p:spPr>
          <p:txBody>
            <a:bodyPr wrap="none" lIns="0" tIns="0" rIns="0" bIns="0" anchor="t" anchorCtr="0">
              <a:spAutoFit/>
            </a:bodyPr>
            <a:lstStyle/>
            <a:p>
              <a:pPr algn="l"/>
              <a:r>
                <a:rPr lang="en-US" sz="1010" b="1" dirty="0">
                  <a:solidFill>
                    <a:schemeClr val="dk1"/>
                  </a:solidFill>
                  <a:latin typeface="+mn-lt"/>
                  <a:ea typeface="+mn-ea"/>
                  <a:cs typeface="+mn-cs"/>
                </a:rPr>
                <a:t>tells us nothing about size-efficient tasks</a:t>
              </a:r>
            </a:p>
          </p:txBody>
        </p:sp>
      </p:grpSp>
      <p:grpSp>
        <p:nvGrpSpPr>
          <p:cNvPr id="23" name="Group 23"/>
          <p:cNvGrpSpPr/>
          <p:nvPr/>
        </p:nvGrpSpPr>
        <p:grpSpPr>
          <a:xfrm>
            <a:off x="6248400" y="1447800"/>
            <a:ext cx="5334000" cy="1866900"/>
            <a:chOff x="6248400" y="1447800"/>
            <a:chExt cx="5334000" cy="1866900"/>
          </a:xfrm>
        </p:grpSpPr>
        <p:sp>
          <p:nvSpPr>
            <p:cNvPr id="15" name="Rectangle 15"/>
            <p:cNvSpPr/>
            <p:nvPr/>
          </p:nvSpPr>
          <p:spPr>
            <a:xfrm>
              <a:off x="6248400" y="1447800"/>
              <a:ext cx="5334000" cy="1866900"/>
            </a:xfrm>
            <a:prstGeom prst="roundRect">
              <a:avLst>
                <a:gd name="adj" fmla="val 7143"/>
              </a:avLst>
            </a:prstGeom>
            <a:solidFill>
              <a:schemeClr val="accent5"/>
            </a:solidFill>
            <a:ln w="14288">
              <a:solidFill>
                <a:srgbClr val="26455F"/>
              </a:solidFill>
            </a:ln>
          </p:spPr>
        </p:sp>
        <p:sp>
          <p:nvSpPr>
            <p:cNvPr id="16" name="Rectangle 16"/>
            <p:cNvSpPr/>
            <p:nvPr/>
          </p:nvSpPr>
          <p:spPr>
            <a:xfrm>
              <a:off x="6248400" y="1447800"/>
              <a:ext cx="57150" cy="1866900"/>
            </a:xfrm>
            <a:prstGeom prst="roundRect">
              <a:avLst>
                <a:gd name="adj" fmla="val 50000"/>
              </a:avLst>
            </a:prstGeom>
            <a:solidFill>
              <a:srgbClr val="F2685C"/>
            </a:solidFill>
            <a:ln>
              <a:noFill/>
            </a:ln>
          </p:spPr>
        </p:sp>
        <p:sp>
          <p:nvSpPr>
            <p:cNvPr id="17" name="TextBox 17"/>
            <p:cNvSpPr txBox="1"/>
            <p:nvPr/>
          </p:nvSpPr>
          <p:spPr>
            <a:xfrm>
              <a:off x="6508814" y="1676162"/>
              <a:ext cx="3559598" cy="242030"/>
            </a:xfrm>
            <a:prstGeom prst="rect">
              <a:avLst/>
            </a:prstGeom>
            <a:noFill/>
            <a:ln>
              <a:noFill/>
            </a:ln>
          </p:spPr>
          <p:txBody>
            <a:bodyPr wrap="none" lIns="0" tIns="0" rIns="0" bIns="0" anchor="t" anchorCtr="0">
              <a:spAutoFit/>
            </a:bodyPr>
            <a:lstStyle/>
            <a:p>
              <a:pPr algn="l"/>
              <a:r>
                <a:rPr lang="en-US" sz="1240" b="1" dirty="0">
                  <a:solidFill>
                    <a:srgbClr val="F2685C"/>
                  </a:solidFill>
                  <a:latin typeface="+mn-lt"/>
                  <a:ea typeface="+mn-ea"/>
                  <a:cs typeface="+mn-cs"/>
                </a:rPr>
                <a:t>Line 2 · constant depth, growing context</a:t>
              </a:r>
            </a:p>
          </p:txBody>
        </p:sp>
        <p:sp>
          <p:nvSpPr>
            <p:cNvPr id="18" name="TextBox 18"/>
            <p:cNvSpPr txBox="1"/>
            <p:nvPr/>
          </p:nvSpPr>
          <p:spPr>
            <a:xfrm>
              <a:off x="6509576" y="1997154"/>
              <a:ext cx="4254574"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A second line fixes depth and grows context length. There,</a:t>
              </a:r>
            </a:p>
          </p:txBody>
        </p:sp>
        <p:sp>
          <p:nvSpPr>
            <p:cNvPr id="19" name="TextBox 19"/>
            <p:cNvSpPr txBox="1"/>
            <p:nvPr/>
          </p:nvSpPr>
          <p:spPr>
            <a:xfrm>
              <a:off x="6509576" y="2216229"/>
              <a:ext cx="3694118"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many basic algorithmic tasks are simply impossible.</a:t>
              </a:r>
            </a:p>
          </p:txBody>
        </p:sp>
        <p:sp>
          <p:nvSpPr>
            <p:cNvPr id="20" name="Rectangle 20"/>
            <p:cNvSpPr/>
            <p:nvPr/>
          </p:nvSpPr>
          <p:spPr>
            <a:xfrm>
              <a:off x="6515100" y="2857500"/>
              <a:ext cx="4800600" cy="304800"/>
            </a:xfrm>
            <a:prstGeom prst="roundRect">
              <a:avLst>
                <a:gd name="adj" fmla="val 25000"/>
              </a:avLst>
            </a:prstGeom>
            <a:solidFill>
              <a:schemeClr val="accent6"/>
            </a:solidFill>
            <a:ln w="14288">
              <a:solidFill>
                <a:srgbClr val="26455F"/>
              </a:solidFill>
            </a:ln>
          </p:spPr>
        </p:sp>
        <p:sp>
          <p:nvSpPr>
            <p:cNvPr id="21" name="Ellipse 21"/>
            <p:cNvSpPr/>
            <p:nvPr/>
          </p:nvSpPr>
          <p:spPr>
            <a:xfrm>
              <a:off x="6638925" y="2962275"/>
              <a:ext cx="95250" cy="95250"/>
            </a:xfrm>
            <a:prstGeom prst="ellipse">
              <a:avLst/>
            </a:prstGeom>
            <a:solidFill>
              <a:srgbClr val="F2685C"/>
            </a:solidFill>
            <a:ln>
              <a:noFill/>
            </a:ln>
          </p:spPr>
        </p:sp>
        <p:sp>
          <p:nvSpPr>
            <p:cNvPr id="22" name="TextBox 22"/>
            <p:cNvSpPr txBox="1"/>
            <p:nvPr/>
          </p:nvSpPr>
          <p:spPr>
            <a:xfrm>
              <a:off x="6833806" y="2948226"/>
              <a:ext cx="3286733" cy="198025"/>
            </a:xfrm>
            <a:prstGeom prst="rect">
              <a:avLst/>
            </a:prstGeom>
            <a:noFill/>
            <a:ln>
              <a:noFill/>
            </a:ln>
          </p:spPr>
          <p:txBody>
            <a:bodyPr wrap="none" lIns="0" tIns="0" rIns="0" bIns="0" anchor="t" anchorCtr="0">
              <a:spAutoFit/>
            </a:bodyPr>
            <a:lstStyle/>
            <a:p>
              <a:pPr algn="l"/>
              <a:r>
                <a:rPr lang="en-US" sz="1010" b="1" dirty="0">
                  <a:solidFill>
                    <a:schemeClr val="dk1"/>
                  </a:solidFill>
                  <a:latin typeface="+mn-lt"/>
                  <a:ea typeface="+mn-ea"/>
                  <a:cs typeface="+mn-cs"/>
                </a:rPr>
                <a:t>matching parentheses -&gt; provably out of reach</a:t>
              </a:r>
            </a:p>
          </p:txBody>
        </p:sp>
      </p:grpSp>
      <p:grpSp>
        <p:nvGrpSpPr>
          <p:cNvPr id="28" name="Group 28"/>
          <p:cNvGrpSpPr/>
          <p:nvPr/>
        </p:nvGrpSpPr>
        <p:grpSpPr>
          <a:xfrm>
            <a:off x="609600" y="3467100"/>
            <a:ext cx="10972800" cy="800100"/>
            <a:chOff x="609600" y="3467100"/>
            <a:chExt cx="10972800" cy="800100"/>
          </a:xfrm>
        </p:grpSpPr>
        <p:sp>
          <p:nvSpPr>
            <p:cNvPr id="24" name="Rectangle 24"/>
            <p:cNvSpPr/>
            <p:nvPr/>
          </p:nvSpPr>
          <p:spPr>
            <a:xfrm>
              <a:off x="609600" y="3467100"/>
              <a:ext cx="10972800" cy="800100"/>
            </a:xfrm>
            <a:prstGeom prst="roundRect">
              <a:avLst>
                <a:gd name="adj" fmla="val 16667"/>
              </a:avLst>
            </a:prstGeom>
            <a:solidFill>
              <a:schemeClr val="accent5"/>
            </a:solidFill>
            <a:ln w="14288">
              <a:solidFill>
                <a:srgbClr val="26455F"/>
              </a:solidFill>
            </a:ln>
          </p:spPr>
        </p:sp>
        <p:sp>
          <p:nvSpPr>
            <p:cNvPr id="25" name="Rectangle 25"/>
            <p:cNvSpPr/>
            <p:nvPr/>
          </p:nvSpPr>
          <p:spPr>
            <a:xfrm>
              <a:off x="609600" y="3467100"/>
              <a:ext cx="57150" cy="800100"/>
            </a:xfrm>
            <a:prstGeom prst="roundRect">
              <a:avLst>
                <a:gd name="adj" fmla="val 50000"/>
              </a:avLst>
            </a:prstGeom>
            <a:solidFill>
              <a:schemeClr val="accent2"/>
            </a:solidFill>
            <a:ln>
              <a:noFill/>
            </a:ln>
          </p:spPr>
        </p:sp>
        <p:sp>
          <p:nvSpPr>
            <p:cNvPr id="26" name="TextBox 26"/>
            <p:cNvSpPr txBox="1"/>
            <p:nvPr/>
          </p:nvSpPr>
          <p:spPr>
            <a:xfrm>
              <a:off x="870204" y="3661410"/>
              <a:ext cx="4317268" cy="234696"/>
            </a:xfrm>
            <a:prstGeom prst="rect">
              <a:avLst/>
            </a:prstGeom>
            <a:noFill/>
            <a:ln>
              <a:noFill/>
            </a:ln>
          </p:spPr>
          <p:txBody>
            <a:bodyPr wrap="none" lIns="0" tIns="0" rIns="0" bIns="0" anchor="t" anchorCtr="0">
              <a:spAutoFit/>
            </a:bodyPr>
            <a:lstStyle/>
            <a:p>
              <a:pPr algn="l"/>
              <a:r>
                <a:rPr lang="en-US" sz="1200" b="1" dirty="0">
                  <a:solidFill>
                    <a:schemeClr val="accent2"/>
                  </a:solidFill>
                  <a:latin typeface="+mn-lt"/>
                  <a:ea typeface="+mn-ea"/>
                  <a:cs typeface="+mn-cs"/>
                </a:rPr>
                <a:t>Neither picture isolates the distinguishing property</a:t>
              </a:r>
            </a:p>
          </p:txBody>
        </p:sp>
        <p:sp>
          <p:nvSpPr>
            <p:cNvPr id="27" name="TextBox 27"/>
            <p:cNvSpPr txBox="1"/>
            <p:nvPr/>
          </p:nvSpPr>
          <p:spPr>
            <a:xfrm>
              <a:off x="870776" y="3940254"/>
              <a:ext cx="8174525"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Neither view pins down what actually sets transformers apart from recurrent networks or other architectures.</a:t>
              </a:r>
            </a:p>
          </p:txBody>
        </p:sp>
      </p:grpSp>
      <p:grpSp>
        <p:nvGrpSpPr>
          <p:cNvPr id="33" name="Group 33"/>
          <p:cNvGrpSpPr/>
          <p:nvPr/>
        </p:nvGrpSpPr>
        <p:grpSpPr>
          <a:xfrm>
            <a:off x="609600" y="4419600"/>
            <a:ext cx="10972800" cy="819150"/>
            <a:chOff x="609600" y="4419600"/>
            <a:chExt cx="10972800" cy="819150"/>
          </a:xfrm>
        </p:grpSpPr>
        <p:sp>
          <p:nvSpPr>
            <p:cNvPr id="29" name="Rectangle 29"/>
            <p:cNvSpPr/>
            <p:nvPr/>
          </p:nvSpPr>
          <p:spPr>
            <a:xfrm>
              <a:off x="609600" y="4419600"/>
              <a:ext cx="10972800" cy="819150"/>
            </a:xfrm>
            <a:prstGeom prst="roundRect">
              <a:avLst>
                <a:gd name="adj" fmla="val 16279"/>
              </a:avLst>
            </a:prstGeom>
            <a:solidFill>
              <a:srgbClr val="0F2E2B"/>
            </a:solidFill>
            <a:ln w="14288">
              <a:solidFill>
                <a:srgbClr val="34D3C0"/>
              </a:solidFill>
            </a:ln>
          </p:spPr>
        </p:sp>
        <p:sp>
          <p:nvSpPr>
            <p:cNvPr id="30" name="Rectangle 30"/>
            <p:cNvSpPr/>
            <p:nvPr/>
          </p:nvSpPr>
          <p:spPr>
            <a:xfrm>
              <a:off x="609600" y="4419600"/>
              <a:ext cx="57150" cy="819150"/>
            </a:xfrm>
            <a:prstGeom prst="roundRect">
              <a:avLst>
                <a:gd name="adj" fmla="val 50000"/>
              </a:avLst>
            </a:prstGeom>
            <a:solidFill>
              <a:srgbClr val="34D3C0"/>
            </a:solidFill>
            <a:ln>
              <a:noFill/>
            </a:ln>
          </p:spPr>
        </p:sp>
        <p:sp>
          <p:nvSpPr>
            <p:cNvPr id="31" name="TextBox 31"/>
            <p:cNvSpPr txBox="1"/>
            <p:nvPr/>
          </p:nvSpPr>
          <p:spPr>
            <a:xfrm>
              <a:off x="870585" y="4622006"/>
              <a:ext cx="1345915" cy="220028"/>
            </a:xfrm>
            <a:prstGeom prst="rect">
              <a:avLst/>
            </a:prstGeom>
            <a:noFill/>
            <a:ln>
              <a:noFill/>
            </a:ln>
          </p:spPr>
          <p:txBody>
            <a:bodyPr wrap="none" lIns="0" tIns="0" rIns="0" bIns="0" anchor="t" anchorCtr="0">
              <a:spAutoFit/>
            </a:bodyPr>
            <a:lstStyle/>
            <a:p>
              <a:pPr algn="l"/>
              <a:r>
                <a:rPr lang="en-US" sz="1120" b="1" spc="75" dirty="0">
                  <a:solidFill>
                    <a:srgbClr val="34D3C0"/>
                  </a:solidFill>
                  <a:latin typeface="+mn-lt"/>
                  <a:ea typeface="+mn-ea"/>
                  <a:cs typeface="+mn-cs"/>
                </a:rPr>
                <a:t>This paper asks</a:t>
              </a:r>
            </a:p>
          </p:txBody>
        </p:sp>
        <p:sp>
          <p:nvSpPr>
            <p:cNvPr id="32" name="TextBox 32"/>
            <p:cNvSpPr txBox="1"/>
            <p:nvPr/>
          </p:nvSpPr>
          <p:spPr>
            <a:xfrm>
              <a:off x="870394" y="4903708"/>
              <a:ext cx="9437506" cy="227362"/>
            </a:xfrm>
            <a:prstGeom prst="rect">
              <a:avLst/>
            </a:prstGeom>
            <a:noFill/>
            <a:ln>
              <a:noFill/>
            </a:ln>
          </p:spPr>
          <p:txBody>
            <a:bodyPr wrap="none" lIns="0" tIns="0" rIns="0" bIns="0" anchor="t" anchorCtr="0">
              <a:spAutoFit/>
            </a:bodyPr>
            <a:lstStyle/>
            <a:p>
              <a:pPr algn="l"/>
              <a:r>
                <a:rPr lang="en-US" sz="1160" b="1" dirty="0">
                  <a:solidFill>
                    <a:schemeClr val="dk1"/>
                  </a:solidFill>
                  <a:latin typeface="+mn-lt"/>
                  <a:ea typeface="+mn-ea"/>
                  <a:cs typeface="+mn-cs"/>
                </a:rPr>
                <a:t>Is there a single, clean computational property that captures the strengths AND the limits of transformers at once?</a:t>
              </a:r>
            </a:p>
          </p:txBody>
        </p:sp>
      </p:grpSp>
      <p:sp>
        <p:nvSpPr>
          <p:cNvPr id="34" name="cue_s02_c1_transformers_dominate_sequence_model" title="cue_s02_c1_transformers_dominate_sequence_model" descr="cue_s02_c1_transformers_dominate_sequence_model Transformers dominate sequence modeling, yet the theory explaining why has been unsatisfying. One line of work proves universality, but only for enormous models, and that tells us nothing about which tasks are solvable size-efficiently."/>
          <p:cNvSpPr/>
          <p:nvPr/>
        </p:nvSpPr>
        <p:spPr>
          <a:xfrm>
            <a:off x="609600" y="1447723"/>
            <a:ext cx="5334000" cy="18667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cue_s02_c2_second_line_studies_constant_depth_r" title="cue_s02_c2_second_line_studies_constant_depth_r" descr="cue_s02_c2_second_line_studies_constant_depth_r A second line studies a constant-depth regime where context length grows, and there many basic algorithmic tasks, like matching parentheses, are simply impossible."/>
          <p:cNvSpPr/>
          <p:nvPr/>
        </p:nvSpPr>
        <p:spPr>
          <a:xfrm>
            <a:off x="6248399" y="1447723"/>
            <a:ext cx="5334000" cy="18667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cue_s02_c3_neither_picture_isolates_property_ac" title="cue_s02_c3_neither_picture_isolates_property_ac" descr="cue_s02_c3_neither_picture_isolates_property_ac Neither picture isolates the property that actually sets transformers apart from recurrent networks or other architectures."/>
          <p:cNvSpPr/>
          <p:nvPr/>
        </p:nvSpPr>
        <p:spPr>
          <a:xfrm>
            <a:off x="609600" y="3467404"/>
            <a:ext cx="10972800" cy="8003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cue_s02_c4_asks_single_clean_computational_prop" title="cue_s02_c4_asks_single_clean_computational_prop" descr="cue_s02_c4_asks_single_clean_computational_prop This paper asks: is there a single, clean computational property that captures the strengths and the limits of transformers at the same time?"/>
          <p:cNvSpPr/>
          <p:nvPr/>
        </p:nvSpPr>
        <p:spPr>
          <a:xfrm>
            <a:off x="609600" y="4419295"/>
            <a:ext cx="10972800" cy="81884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188836"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MOTIVATION</a:t>
            </a:r>
          </a:p>
        </p:txBody>
      </p:sp>
      <p:sp>
        <p:nvSpPr>
          <p:cNvPr id="4" name="TextBox 4"/>
          <p:cNvSpPr txBox="1"/>
          <p:nvPr/>
        </p:nvSpPr>
        <p:spPr>
          <a:xfrm>
            <a:off x="598170" y="804862"/>
            <a:ext cx="6218459"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Self-attention is fundamentally parallel</a:t>
            </a:r>
          </a:p>
        </p:txBody>
      </p:sp>
      <p:grpSp>
        <p:nvGrpSpPr>
          <p:cNvPr id="9" name="Group 9"/>
          <p:cNvGrpSpPr/>
          <p:nvPr/>
        </p:nvGrpSpPr>
        <p:grpSpPr>
          <a:xfrm>
            <a:off x="609600" y="1447800"/>
            <a:ext cx="10972800" cy="704850"/>
            <a:chOff x="609600" y="1447800"/>
            <a:chExt cx="10972800" cy="704850"/>
          </a:xfrm>
        </p:grpSpPr>
        <p:sp>
          <p:nvSpPr>
            <p:cNvPr id="5" name="Rectangle 5"/>
            <p:cNvSpPr/>
            <p:nvPr/>
          </p:nvSpPr>
          <p:spPr>
            <a:xfrm>
              <a:off x="609600" y="1447800"/>
              <a:ext cx="10972800" cy="704850"/>
            </a:xfrm>
            <a:prstGeom prst="roundRect">
              <a:avLst>
                <a:gd name="adj" fmla="val 18919"/>
              </a:avLst>
            </a:prstGeom>
            <a:solidFill>
              <a:schemeClr val="accent5"/>
            </a:solidFill>
            <a:ln w="14288">
              <a:solidFill>
                <a:srgbClr val="26455F"/>
              </a:solidFill>
            </a:ln>
          </p:spPr>
        </p:sp>
        <p:sp>
          <p:nvSpPr>
            <p:cNvPr id="6" name="Rectangle 6"/>
            <p:cNvSpPr/>
            <p:nvPr/>
          </p:nvSpPr>
          <p:spPr>
            <a:xfrm>
              <a:off x="609600" y="1447800"/>
              <a:ext cx="57150" cy="704850"/>
            </a:xfrm>
            <a:prstGeom prst="roundRect">
              <a:avLst>
                <a:gd name="adj" fmla="val 50000"/>
              </a:avLst>
            </a:prstGeom>
            <a:solidFill>
              <a:schemeClr val="accent2"/>
            </a:solidFill>
            <a:ln>
              <a:noFill/>
            </a:ln>
          </p:spPr>
        </p:sp>
        <p:sp>
          <p:nvSpPr>
            <p:cNvPr id="7" name="TextBox 7"/>
            <p:cNvSpPr txBox="1"/>
            <p:nvPr/>
          </p:nvSpPr>
          <p:spPr>
            <a:xfrm>
              <a:off x="870585" y="1650206"/>
              <a:ext cx="1792305" cy="220028"/>
            </a:xfrm>
            <a:prstGeom prst="rect">
              <a:avLst/>
            </a:prstGeom>
            <a:noFill/>
            <a:ln>
              <a:noFill/>
            </a:ln>
          </p:spPr>
          <p:txBody>
            <a:bodyPr wrap="none" lIns="0" tIns="0" rIns="0" bIns="0" anchor="t" anchorCtr="0">
              <a:spAutoFit/>
            </a:bodyPr>
            <a:lstStyle/>
            <a:p>
              <a:pPr algn="l"/>
              <a:r>
                <a:rPr lang="en-US" sz="1120" b="1" spc="75" dirty="0">
                  <a:solidFill>
                    <a:schemeClr val="accent2"/>
                  </a:solidFill>
                  <a:latin typeface="+mn-lt"/>
                  <a:ea typeface="+mn-ea"/>
                  <a:cs typeface="+mn-cs"/>
                </a:rPr>
                <a:t>The authors' insight</a:t>
              </a:r>
            </a:p>
          </p:txBody>
        </p:sp>
        <p:sp>
          <p:nvSpPr>
            <p:cNvPr id="8" name="TextBox 8"/>
            <p:cNvSpPr txBox="1"/>
            <p:nvPr/>
          </p:nvSpPr>
          <p:spPr>
            <a:xfrm>
              <a:off x="870394" y="1912858"/>
              <a:ext cx="5633074" cy="227362"/>
            </a:xfrm>
            <a:prstGeom prst="rect">
              <a:avLst/>
            </a:prstGeom>
            <a:noFill/>
            <a:ln>
              <a:noFill/>
            </a:ln>
          </p:spPr>
          <p:txBody>
            <a:bodyPr wrap="none" lIns="0" tIns="0" rIns="0" bIns="0" anchor="t" anchorCtr="0">
              <a:spAutoFit/>
            </a:bodyPr>
            <a:lstStyle/>
            <a:p>
              <a:pPr algn="l"/>
              <a:r>
                <a:rPr lang="en-US" sz="1160" b="1" dirty="0">
                  <a:solidFill>
                    <a:schemeClr val="dk1"/>
                  </a:solidFill>
                  <a:latin typeface="+mn-lt"/>
                  <a:ea typeface="+mn-ea"/>
                  <a:cs typeface="+mn-cs"/>
                </a:rPr>
                <a:t>Self-attention is fundamentally a parallel operation, not a serial one.</a:t>
              </a:r>
            </a:p>
          </p:txBody>
        </p:sp>
      </p:grpSp>
      <p:grpSp>
        <p:nvGrpSpPr>
          <p:cNvPr id="35" name="Group 35"/>
          <p:cNvGrpSpPr/>
          <p:nvPr/>
        </p:nvGrpSpPr>
        <p:grpSpPr>
          <a:xfrm>
            <a:off x="609600" y="2324100"/>
            <a:ext cx="5334000" cy="1866900"/>
            <a:chOff x="609600" y="2324100"/>
            <a:chExt cx="5334000" cy="1866900"/>
          </a:xfrm>
        </p:grpSpPr>
        <p:sp>
          <p:nvSpPr>
            <p:cNvPr id="10" name="Rectangle 10"/>
            <p:cNvSpPr/>
            <p:nvPr/>
          </p:nvSpPr>
          <p:spPr>
            <a:xfrm>
              <a:off x="609600" y="2324100"/>
              <a:ext cx="5334000" cy="1866900"/>
            </a:xfrm>
            <a:prstGeom prst="roundRect">
              <a:avLst>
                <a:gd name="adj" fmla="val 7143"/>
              </a:avLst>
            </a:prstGeom>
            <a:solidFill>
              <a:schemeClr val="accent5"/>
            </a:solidFill>
            <a:ln w="14288">
              <a:solidFill>
                <a:srgbClr val="26455F"/>
              </a:solidFill>
            </a:ln>
          </p:spPr>
        </p:sp>
        <p:sp>
          <p:nvSpPr>
            <p:cNvPr id="11" name="Rectangle 11"/>
            <p:cNvSpPr/>
            <p:nvPr/>
          </p:nvSpPr>
          <p:spPr>
            <a:xfrm>
              <a:off x="609600" y="2324100"/>
              <a:ext cx="57150" cy="1866900"/>
            </a:xfrm>
            <a:prstGeom prst="roundRect">
              <a:avLst>
                <a:gd name="adj" fmla="val 50000"/>
              </a:avLst>
            </a:prstGeom>
            <a:solidFill>
              <a:srgbClr val="34D3C0"/>
            </a:solidFill>
            <a:ln>
              <a:noFill/>
            </a:ln>
          </p:spPr>
        </p:sp>
        <p:sp>
          <p:nvSpPr>
            <p:cNvPr id="12" name="TextBox 12"/>
            <p:cNvSpPr txBox="1"/>
            <p:nvPr/>
          </p:nvSpPr>
          <p:spPr>
            <a:xfrm>
              <a:off x="870014" y="2552462"/>
              <a:ext cx="2524466" cy="242030"/>
            </a:xfrm>
            <a:prstGeom prst="rect">
              <a:avLst/>
            </a:prstGeom>
            <a:noFill/>
            <a:ln>
              <a:noFill/>
            </a:ln>
          </p:spPr>
          <p:txBody>
            <a:bodyPr wrap="none" lIns="0" tIns="0" rIns="0" bIns="0" anchor="t" anchorCtr="0">
              <a:spAutoFit/>
            </a:bodyPr>
            <a:lstStyle/>
            <a:p>
              <a:pPr algn="l"/>
              <a:r>
                <a:rPr lang="en-US" sz="1240" b="1" dirty="0">
                  <a:solidFill>
                    <a:srgbClr val="34D3C0"/>
                  </a:solidFill>
                  <a:latin typeface="+mn-lt"/>
                  <a:ea typeface="+mn-ea"/>
                  <a:cs typeface="+mn-cs"/>
                </a:rPr>
                <a:t>All pairs interact in one layer</a:t>
              </a:r>
            </a:p>
          </p:txBody>
        </p:sp>
        <p:sp>
          <p:nvSpPr>
            <p:cNvPr id="13" name="Freeform 13"/>
            <p:cNvSpPr/>
            <p:nvPr/>
          </p:nvSpPr>
          <p:spPr>
            <a:xfrm>
              <a:off x="1238250" y="2876550"/>
              <a:ext cx="952500" cy="152400"/>
            </a:xfrm>
            <a:custGeom>
              <a:avLst/>
              <a:gdLst/>
              <a:ahLst/>
              <a:cxnLst/>
              <a:rect l="l" t="t" r="r" b="b"/>
              <a:pathLst>
                <a:path w="952500" h="152400">
                  <a:moveTo>
                    <a:pt x="0" y="152400"/>
                  </a:moveTo>
                  <a:cubicBezTo>
                    <a:pt x="317500" y="0"/>
                    <a:pt x="635000" y="0"/>
                    <a:pt x="952500" y="152400"/>
                  </a:cubicBezTo>
                </a:path>
              </a:pathLst>
            </a:custGeom>
            <a:noFill/>
            <a:ln w="11430">
              <a:solidFill>
                <a:srgbClr val="34D3C0">
                  <a:alpha val="75000"/>
                </a:srgbClr>
              </a:solidFill>
            </a:ln>
          </p:spPr>
        </p:sp>
        <p:sp>
          <p:nvSpPr>
            <p:cNvPr id="14" name="Freeform 14"/>
            <p:cNvSpPr/>
            <p:nvPr/>
          </p:nvSpPr>
          <p:spPr>
            <a:xfrm>
              <a:off x="1238250" y="2838450"/>
              <a:ext cx="1905000" cy="190500"/>
            </a:xfrm>
            <a:custGeom>
              <a:avLst/>
              <a:gdLst/>
              <a:ahLst/>
              <a:cxnLst/>
              <a:rect l="l" t="t" r="r" b="b"/>
              <a:pathLst>
                <a:path w="1905000" h="190500">
                  <a:moveTo>
                    <a:pt x="0" y="190500"/>
                  </a:moveTo>
                  <a:cubicBezTo>
                    <a:pt x="635000" y="0"/>
                    <a:pt x="1270000" y="0"/>
                    <a:pt x="1905000" y="190500"/>
                  </a:cubicBezTo>
                </a:path>
              </a:pathLst>
            </a:custGeom>
            <a:noFill/>
            <a:ln w="11430">
              <a:solidFill>
                <a:srgbClr val="34D3C0">
                  <a:alpha val="75000"/>
                </a:srgbClr>
              </a:solidFill>
            </a:ln>
          </p:spPr>
        </p:sp>
        <p:sp>
          <p:nvSpPr>
            <p:cNvPr id="15" name="Freeform 15"/>
            <p:cNvSpPr/>
            <p:nvPr/>
          </p:nvSpPr>
          <p:spPr>
            <a:xfrm>
              <a:off x="1238250" y="2800350"/>
              <a:ext cx="2857500" cy="228600"/>
            </a:xfrm>
            <a:custGeom>
              <a:avLst/>
              <a:gdLst/>
              <a:ahLst/>
              <a:cxnLst/>
              <a:rect l="l" t="t" r="r" b="b"/>
              <a:pathLst>
                <a:path w="2857500" h="228600">
                  <a:moveTo>
                    <a:pt x="0" y="228600"/>
                  </a:moveTo>
                  <a:cubicBezTo>
                    <a:pt x="952500" y="0"/>
                    <a:pt x="1905000" y="0"/>
                    <a:pt x="2857500" y="228600"/>
                  </a:cubicBezTo>
                </a:path>
              </a:pathLst>
            </a:custGeom>
            <a:noFill/>
            <a:ln w="11430">
              <a:solidFill>
                <a:srgbClr val="34D3C0">
                  <a:alpha val="75000"/>
                </a:srgbClr>
              </a:solidFill>
            </a:ln>
          </p:spPr>
        </p:sp>
        <p:sp>
          <p:nvSpPr>
            <p:cNvPr id="16" name="Freeform 16"/>
            <p:cNvSpPr/>
            <p:nvPr/>
          </p:nvSpPr>
          <p:spPr>
            <a:xfrm>
              <a:off x="2190750" y="2876550"/>
              <a:ext cx="952500" cy="152400"/>
            </a:xfrm>
            <a:custGeom>
              <a:avLst/>
              <a:gdLst/>
              <a:ahLst/>
              <a:cxnLst/>
              <a:rect l="l" t="t" r="r" b="b"/>
              <a:pathLst>
                <a:path w="952500" h="152400">
                  <a:moveTo>
                    <a:pt x="0" y="152400"/>
                  </a:moveTo>
                  <a:cubicBezTo>
                    <a:pt x="317500" y="0"/>
                    <a:pt x="635000" y="0"/>
                    <a:pt x="952500" y="152400"/>
                  </a:cubicBezTo>
                </a:path>
              </a:pathLst>
            </a:custGeom>
            <a:noFill/>
            <a:ln w="11430">
              <a:solidFill>
                <a:srgbClr val="34D3C0">
                  <a:alpha val="75000"/>
                </a:srgbClr>
              </a:solidFill>
            </a:ln>
          </p:spPr>
        </p:sp>
        <p:sp>
          <p:nvSpPr>
            <p:cNvPr id="17" name="Freeform 17"/>
            <p:cNvSpPr/>
            <p:nvPr/>
          </p:nvSpPr>
          <p:spPr>
            <a:xfrm>
              <a:off x="2190750" y="2838450"/>
              <a:ext cx="1905000" cy="190500"/>
            </a:xfrm>
            <a:custGeom>
              <a:avLst/>
              <a:gdLst/>
              <a:ahLst/>
              <a:cxnLst/>
              <a:rect l="l" t="t" r="r" b="b"/>
              <a:pathLst>
                <a:path w="1905000" h="190500">
                  <a:moveTo>
                    <a:pt x="0" y="190500"/>
                  </a:moveTo>
                  <a:cubicBezTo>
                    <a:pt x="635000" y="0"/>
                    <a:pt x="1270000" y="0"/>
                    <a:pt x="1905000" y="190500"/>
                  </a:cubicBezTo>
                </a:path>
              </a:pathLst>
            </a:custGeom>
            <a:noFill/>
            <a:ln w="11430">
              <a:solidFill>
                <a:srgbClr val="34D3C0">
                  <a:alpha val="75000"/>
                </a:srgbClr>
              </a:solidFill>
            </a:ln>
          </p:spPr>
        </p:sp>
        <p:sp>
          <p:nvSpPr>
            <p:cNvPr id="18" name="Freeform 18"/>
            <p:cNvSpPr/>
            <p:nvPr/>
          </p:nvSpPr>
          <p:spPr>
            <a:xfrm>
              <a:off x="3143250" y="2876550"/>
              <a:ext cx="952500" cy="152400"/>
            </a:xfrm>
            <a:custGeom>
              <a:avLst/>
              <a:gdLst/>
              <a:ahLst/>
              <a:cxnLst/>
              <a:rect l="l" t="t" r="r" b="b"/>
              <a:pathLst>
                <a:path w="952500" h="152400">
                  <a:moveTo>
                    <a:pt x="0" y="152400"/>
                  </a:moveTo>
                  <a:cubicBezTo>
                    <a:pt x="317500" y="0"/>
                    <a:pt x="635000" y="0"/>
                    <a:pt x="952500" y="152400"/>
                  </a:cubicBezTo>
                </a:path>
              </a:pathLst>
            </a:custGeom>
            <a:noFill/>
            <a:ln w="11430">
              <a:solidFill>
                <a:srgbClr val="34D3C0">
                  <a:alpha val="75000"/>
                </a:srgbClr>
              </a:solidFill>
            </a:ln>
          </p:spPr>
        </p:sp>
        <p:sp>
          <p:nvSpPr>
            <p:cNvPr id="19" name="Ellipse 19"/>
            <p:cNvSpPr/>
            <p:nvPr/>
          </p:nvSpPr>
          <p:spPr>
            <a:xfrm>
              <a:off x="1152525" y="2943225"/>
              <a:ext cx="171450" cy="171450"/>
            </a:xfrm>
            <a:prstGeom prst="ellipse">
              <a:avLst/>
            </a:prstGeom>
            <a:solidFill>
              <a:schemeClr val="accent6"/>
            </a:solidFill>
            <a:ln w="15240">
              <a:solidFill>
                <a:srgbClr val="34D3C0"/>
              </a:solidFill>
            </a:ln>
          </p:spPr>
        </p:sp>
        <p:sp>
          <p:nvSpPr>
            <p:cNvPr id="20" name="Ellipse 20"/>
            <p:cNvSpPr/>
            <p:nvPr/>
          </p:nvSpPr>
          <p:spPr>
            <a:xfrm>
              <a:off x="2105025" y="2943225"/>
              <a:ext cx="171450" cy="171450"/>
            </a:xfrm>
            <a:prstGeom prst="ellipse">
              <a:avLst/>
            </a:prstGeom>
            <a:solidFill>
              <a:schemeClr val="accent6"/>
            </a:solidFill>
            <a:ln w="15240">
              <a:solidFill>
                <a:srgbClr val="34D3C0"/>
              </a:solidFill>
            </a:ln>
          </p:spPr>
        </p:sp>
        <p:sp>
          <p:nvSpPr>
            <p:cNvPr id="21" name="Ellipse 21"/>
            <p:cNvSpPr/>
            <p:nvPr/>
          </p:nvSpPr>
          <p:spPr>
            <a:xfrm>
              <a:off x="3057525" y="2943225"/>
              <a:ext cx="171450" cy="171450"/>
            </a:xfrm>
            <a:prstGeom prst="ellipse">
              <a:avLst/>
            </a:prstGeom>
            <a:solidFill>
              <a:schemeClr val="accent6"/>
            </a:solidFill>
            <a:ln w="15240">
              <a:solidFill>
                <a:srgbClr val="34D3C0"/>
              </a:solidFill>
            </a:ln>
          </p:spPr>
        </p:sp>
        <p:sp>
          <p:nvSpPr>
            <p:cNvPr id="22" name="Ellipse 22"/>
            <p:cNvSpPr/>
            <p:nvPr/>
          </p:nvSpPr>
          <p:spPr>
            <a:xfrm>
              <a:off x="4010025" y="2943225"/>
              <a:ext cx="171450" cy="171450"/>
            </a:xfrm>
            <a:prstGeom prst="ellipse">
              <a:avLst/>
            </a:prstGeom>
            <a:solidFill>
              <a:schemeClr val="accent6"/>
            </a:solidFill>
            <a:ln w="15240">
              <a:solidFill>
                <a:srgbClr val="34D3C0"/>
              </a:solidFill>
            </a:ln>
          </p:spPr>
        </p:sp>
        <p:sp>
          <p:nvSpPr>
            <p:cNvPr id="23" name="TextBox 23"/>
            <p:cNvSpPr txBox="1"/>
            <p:nvPr/>
          </p:nvSpPr>
          <p:spPr>
            <a:xfrm>
              <a:off x="2004058" y="3247549"/>
              <a:ext cx="1325884" cy="190690"/>
            </a:xfrm>
            <a:prstGeom prst="rect">
              <a:avLst/>
            </a:prstGeom>
            <a:noFill/>
            <a:ln>
              <a:noFill/>
            </a:ln>
          </p:spPr>
          <p:txBody>
            <a:bodyPr wrap="none" lIns="0" tIns="0" rIns="0" bIns="0" anchor="t" anchorCtr="0">
              <a:spAutoFit/>
            </a:bodyPr>
            <a:lstStyle/>
            <a:p>
              <a:pPr algn="ctr"/>
              <a:r>
                <a:rPr lang="en-US" sz="980" b="1" dirty="0">
                  <a:solidFill>
                    <a:srgbClr val="34D3C0"/>
                  </a:solidFill>
                  <a:latin typeface="+mn-lt"/>
                  <a:ea typeface="+mn-ea"/>
                  <a:cs typeface="+mn-cs"/>
                </a:rPr>
                <a:t>attention · parallel</a:t>
              </a:r>
            </a:p>
          </p:txBody>
        </p:sp>
        <p:sp>
          <p:nvSpPr>
            <p:cNvPr id="24" name="Line 24"/>
            <p:cNvSpPr/>
            <p:nvPr/>
          </p:nvSpPr>
          <p:spPr>
            <a:xfrm>
              <a:off x="1323975" y="3733800"/>
              <a:ext cx="781050" cy="9525"/>
            </a:xfrm>
            <a:custGeom>
              <a:avLst/>
              <a:gdLst/>
              <a:ahLst/>
              <a:cxnLst/>
              <a:rect l="l" t="t" r="r" b="b"/>
              <a:pathLst>
                <a:path w="781050" h="9525">
                  <a:moveTo>
                    <a:pt x="0" y="0"/>
                  </a:moveTo>
                  <a:lnTo>
                    <a:pt x="781050" y="0"/>
                  </a:lnTo>
                </a:path>
              </a:pathLst>
            </a:custGeom>
            <a:noFill/>
            <a:ln w="15240" cap="rnd">
              <a:solidFill>
                <a:srgbClr val="F2C14E"/>
              </a:solidFill>
            </a:ln>
          </p:spPr>
        </p:sp>
        <p:sp>
          <p:nvSpPr>
            <p:cNvPr id="25" name="Freeform 25"/>
            <p:cNvSpPr/>
            <p:nvPr/>
          </p:nvSpPr>
          <p:spPr>
            <a:xfrm>
              <a:off x="2047875" y="3705225"/>
              <a:ext cx="57150" cy="57150"/>
            </a:xfrm>
            <a:custGeom>
              <a:avLst/>
              <a:gdLst/>
              <a:ahLst/>
              <a:cxnLst/>
              <a:rect l="l" t="t" r="r" b="b"/>
              <a:pathLst>
                <a:path w="57150" h="57150">
                  <a:moveTo>
                    <a:pt x="57150" y="28575"/>
                  </a:moveTo>
                  <a:lnTo>
                    <a:pt x="0" y="0"/>
                  </a:lnTo>
                  <a:lnTo>
                    <a:pt x="0" y="57150"/>
                  </a:lnTo>
                  <a:close/>
                </a:path>
              </a:pathLst>
            </a:custGeom>
            <a:solidFill>
              <a:srgbClr val="F2C14E"/>
            </a:solidFill>
            <a:ln>
              <a:noFill/>
            </a:ln>
          </p:spPr>
        </p:sp>
        <p:sp>
          <p:nvSpPr>
            <p:cNvPr id="26" name="Line 26"/>
            <p:cNvSpPr/>
            <p:nvPr/>
          </p:nvSpPr>
          <p:spPr>
            <a:xfrm>
              <a:off x="2276475" y="3733800"/>
              <a:ext cx="781050" cy="9525"/>
            </a:xfrm>
            <a:custGeom>
              <a:avLst/>
              <a:gdLst/>
              <a:ahLst/>
              <a:cxnLst/>
              <a:rect l="l" t="t" r="r" b="b"/>
              <a:pathLst>
                <a:path w="781050" h="9525">
                  <a:moveTo>
                    <a:pt x="0" y="0"/>
                  </a:moveTo>
                  <a:lnTo>
                    <a:pt x="781050" y="0"/>
                  </a:lnTo>
                </a:path>
              </a:pathLst>
            </a:custGeom>
            <a:noFill/>
            <a:ln w="15240" cap="rnd">
              <a:solidFill>
                <a:srgbClr val="F2C14E"/>
              </a:solidFill>
            </a:ln>
          </p:spPr>
        </p:sp>
        <p:sp>
          <p:nvSpPr>
            <p:cNvPr id="27" name="Freeform 27"/>
            <p:cNvSpPr/>
            <p:nvPr/>
          </p:nvSpPr>
          <p:spPr>
            <a:xfrm>
              <a:off x="3000375" y="3705225"/>
              <a:ext cx="57150" cy="57150"/>
            </a:xfrm>
            <a:custGeom>
              <a:avLst/>
              <a:gdLst/>
              <a:ahLst/>
              <a:cxnLst/>
              <a:rect l="l" t="t" r="r" b="b"/>
              <a:pathLst>
                <a:path w="57150" h="57150">
                  <a:moveTo>
                    <a:pt x="57150" y="28575"/>
                  </a:moveTo>
                  <a:lnTo>
                    <a:pt x="0" y="0"/>
                  </a:lnTo>
                  <a:lnTo>
                    <a:pt x="0" y="57150"/>
                  </a:lnTo>
                  <a:close/>
                </a:path>
              </a:pathLst>
            </a:custGeom>
            <a:solidFill>
              <a:srgbClr val="F2C14E"/>
            </a:solidFill>
            <a:ln>
              <a:noFill/>
            </a:ln>
          </p:spPr>
        </p:sp>
        <p:sp>
          <p:nvSpPr>
            <p:cNvPr id="28" name="Line 28"/>
            <p:cNvSpPr/>
            <p:nvPr/>
          </p:nvSpPr>
          <p:spPr>
            <a:xfrm>
              <a:off x="3228975" y="3733800"/>
              <a:ext cx="781050" cy="9525"/>
            </a:xfrm>
            <a:custGeom>
              <a:avLst/>
              <a:gdLst/>
              <a:ahLst/>
              <a:cxnLst/>
              <a:rect l="l" t="t" r="r" b="b"/>
              <a:pathLst>
                <a:path w="781050" h="9525">
                  <a:moveTo>
                    <a:pt x="0" y="0"/>
                  </a:moveTo>
                  <a:lnTo>
                    <a:pt x="781050" y="0"/>
                  </a:lnTo>
                </a:path>
              </a:pathLst>
            </a:custGeom>
            <a:noFill/>
            <a:ln w="15240" cap="rnd">
              <a:solidFill>
                <a:srgbClr val="F2C14E"/>
              </a:solidFill>
            </a:ln>
          </p:spPr>
        </p:sp>
        <p:sp>
          <p:nvSpPr>
            <p:cNvPr id="29" name="Freeform 29"/>
            <p:cNvSpPr/>
            <p:nvPr/>
          </p:nvSpPr>
          <p:spPr>
            <a:xfrm>
              <a:off x="3952875" y="3705225"/>
              <a:ext cx="57150" cy="57150"/>
            </a:xfrm>
            <a:custGeom>
              <a:avLst/>
              <a:gdLst/>
              <a:ahLst/>
              <a:cxnLst/>
              <a:rect l="l" t="t" r="r" b="b"/>
              <a:pathLst>
                <a:path w="57150" h="57150">
                  <a:moveTo>
                    <a:pt x="57150" y="28575"/>
                  </a:moveTo>
                  <a:lnTo>
                    <a:pt x="0" y="0"/>
                  </a:lnTo>
                  <a:lnTo>
                    <a:pt x="0" y="57150"/>
                  </a:lnTo>
                  <a:close/>
                </a:path>
              </a:pathLst>
            </a:custGeom>
            <a:solidFill>
              <a:srgbClr val="F2C14E"/>
            </a:solidFill>
            <a:ln>
              <a:noFill/>
            </a:ln>
          </p:spPr>
        </p:sp>
        <p:sp>
          <p:nvSpPr>
            <p:cNvPr id="30" name="Ellipse 30"/>
            <p:cNvSpPr/>
            <p:nvPr/>
          </p:nvSpPr>
          <p:spPr>
            <a:xfrm>
              <a:off x="1152525" y="3648075"/>
              <a:ext cx="171450" cy="171450"/>
            </a:xfrm>
            <a:prstGeom prst="ellipse">
              <a:avLst/>
            </a:prstGeom>
            <a:solidFill>
              <a:schemeClr val="accent6"/>
            </a:solidFill>
            <a:ln w="15240">
              <a:solidFill>
                <a:srgbClr val="F2C14E"/>
              </a:solidFill>
            </a:ln>
          </p:spPr>
        </p:sp>
        <p:sp>
          <p:nvSpPr>
            <p:cNvPr id="31" name="Ellipse 31"/>
            <p:cNvSpPr/>
            <p:nvPr/>
          </p:nvSpPr>
          <p:spPr>
            <a:xfrm>
              <a:off x="2105025" y="3648075"/>
              <a:ext cx="171450" cy="171450"/>
            </a:xfrm>
            <a:prstGeom prst="ellipse">
              <a:avLst/>
            </a:prstGeom>
            <a:solidFill>
              <a:schemeClr val="accent6"/>
            </a:solidFill>
            <a:ln w="15240">
              <a:solidFill>
                <a:srgbClr val="F2C14E"/>
              </a:solidFill>
            </a:ln>
          </p:spPr>
        </p:sp>
        <p:sp>
          <p:nvSpPr>
            <p:cNvPr id="32" name="Ellipse 32"/>
            <p:cNvSpPr/>
            <p:nvPr/>
          </p:nvSpPr>
          <p:spPr>
            <a:xfrm>
              <a:off x="3057525" y="3648075"/>
              <a:ext cx="171450" cy="171450"/>
            </a:xfrm>
            <a:prstGeom prst="ellipse">
              <a:avLst/>
            </a:prstGeom>
            <a:solidFill>
              <a:schemeClr val="accent6"/>
            </a:solidFill>
            <a:ln w="15240">
              <a:solidFill>
                <a:srgbClr val="F2C14E"/>
              </a:solidFill>
            </a:ln>
          </p:spPr>
        </p:sp>
        <p:sp>
          <p:nvSpPr>
            <p:cNvPr id="33" name="Ellipse 33"/>
            <p:cNvSpPr/>
            <p:nvPr/>
          </p:nvSpPr>
          <p:spPr>
            <a:xfrm>
              <a:off x="4010025" y="3648075"/>
              <a:ext cx="171450" cy="171450"/>
            </a:xfrm>
            <a:prstGeom prst="ellipse">
              <a:avLst/>
            </a:prstGeom>
            <a:solidFill>
              <a:schemeClr val="accent6"/>
            </a:solidFill>
            <a:ln w="15240">
              <a:solidFill>
                <a:srgbClr val="F2C14E"/>
              </a:solidFill>
            </a:ln>
          </p:spPr>
        </p:sp>
        <p:sp>
          <p:nvSpPr>
            <p:cNvPr id="34" name="TextBox 34"/>
            <p:cNvSpPr txBox="1"/>
            <p:nvPr/>
          </p:nvSpPr>
          <p:spPr>
            <a:xfrm>
              <a:off x="1588486" y="3876199"/>
              <a:ext cx="2157028" cy="190690"/>
            </a:xfrm>
            <a:prstGeom prst="rect">
              <a:avLst/>
            </a:prstGeom>
            <a:noFill/>
            <a:ln>
              <a:noFill/>
            </a:ln>
          </p:spPr>
          <p:txBody>
            <a:bodyPr wrap="none" lIns="0" tIns="0" rIns="0" bIns="0" anchor="t" anchorCtr="0">
              <a:spAutoFit/>
            </a:bodyPr>
            <a:lstStyle/>
            <a:p>
              <a:pPr algn="ctr"/>
              <a:r>
                <a:rPr lang="en-US" sz="980" b="1" dirty="0">
                  <a:solidFill>
                    <a:srgbClr val="F2C14E"/>
                  </a:solidFill>
                  <a:latin typeface="+mn-lt"/>
                  <a:ea typeface="+mn-ea"/>
                  <a:cs typeface="+mn-cs"/>
                </a:rPr>
                <a:t>recurrence · one step at a time</a:t>
              </a:r>
            </a:p>
          </p:txBody>
        </p:sp>
      </p:grpSp>
      <p:grpSp>
        <p:nvGrpSpPr>
          <p:cNvPr id="45" name="Group 45"/>
          <p:cNvGrpSpPr/>
          <p:nvPr/>
        </p:nvGrpSpPr>
        <p:grpSpPr>
          <a:xfrm>
            <a:off x="6248400" y="2324100"/>
            <a:ext cx="5334000" cy="1866900"/>
            <a:chOff x="6248400" y="2324100"/>
            <a:chExt cx="5334000" cy="1866900"/>
          </a:xfrm>
        </p:grpSpPr>
        <p:sp>
          <p:nvSpPr>
            <p:cNvPr id="36" name="Rectangle 36"/>
            <p:cNvSpPr/>
            <p:nvPr/>
          </p:nvSpPr>
          <p:spPr>
            <a:xfrm>
              <a:off x="6248400" y="2324100"/>
              <a:ext cx="5334000" cy="1866900"/>
            </a:xfrm>
            <a:prstGeom prst="roundRect">
              <a:avLst>
                <a:gd name="adj" fmla="val 7143"/>
              </a:avLst>
            </a:prstGeom>
            <a:solidFill>
              <a:schemeClr val="accent5"/>
            </a:solidFill>
            <a:ln w="14288">
              <a:solidFill>
                <a:srgbClr val="26455F"/>
              </a:solidFill>
            </a:ln>
          </p:spPr>
        </p:sp>
        <p:sp>
          <p:nvSpPr>
            <p:cNvPr id="37" name="Rectangle 37"/>
            <p:cNvSpPr/>
            <p:nvPr/>
          </p:nvSpPr>
          <p:spPr>
            <a:xfrm>
              <a:off x="6248400" y="2324100"/>
              <a:ext cx="57150" cy="1866900"/>
            </a:xfrm>
            <a:prstGeom prst="roundRect">
              <a:avLst>
                <a:gd name="adj" fmla="val 50000"/>
              </a:avLst>
            </a:prstGeom>
            <a:solidFill>
              <a:srgbClr val="B79CF0"/>
            </a:solidFill>
            <a:ln>
              <a:noFill/>
            </a:ln>
          </p:spPr>
        </p:sp>
        <p:sp>
          <p:nvSpPr>
            <p:cNvPr id="38" name="TextBox 38"/>
            <p:cNvSpPr txBox="1"/>
            <p:nvPr/>
          </p:nvSpPr>
          <p:spPr>
            <a:xfrm>
              <a:off x="6508814" y="2552462"/>
              <a:ext cx="1639036" cy="242030"/>
            </a:xfrm>
            <a:prstGeom prst="rect">
              <a:avLst/>
            </a:prstGeom>
            <a:noFill/>
            <a:ln>
              <a:noFill/>
            </a:ln>
          </p:spPr>
          <p:txBody>
            <a:bodyPr wrap="none" lIns="0" tIns="0" rIns="0" bIns="0" anchor="t" anchorCtr="0">
              <a:spAutoFit/>
            </a:bodyPr>
            <a:lstStyle/>
            <a:p>
              <a:pPr algn="l"/>
              <a:r>
                <a:rPr lang="en-US" sz="1240" b="1" dirty="0">
                  <a:solidFill>
                    <a:srgbClr val="B79CF0"/>
                  </a:solidFill>
                  <a:latin typeface="+mn-lt"/>
                  <a:ea typeface="+mn-ea"/>
                  <a:cs typeface="+mn-cs"/>
                </a:rPr>
                <a:t>That looks like MPC</a:t>
              </a:r>
            </a:p>
          </p:txBody>
        </p:sp>
        <p:sp>
          <p:nvSpPr>
            <p:cNvPr id="39" name="TextBox 39"/>
            <p:cNvSpPr txBox="1"/>
            <p:nvPr/>
          </p:nvSpPr>
          <p:spPr>
            <a:xfrm>
              <a:off x="6509766" y="2858452"/>
              <a:ext cx="3466157"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Massively Parallel Computation, the theory behind</a:t>
              </a:r>
            </a:p>
          </p:txBody>
        </p:sp>
        <p:sp>
          <p:nvSpPr>
            <p:cNvPr id="40" name="TextBox 40"/>
            <p:cNvSpPr txBox="1"/>
            <p:nvPr/>
          </p:nvSpPr>
          <p:spPr>
            <a:xfrm>
              <a:off x="6509766" y="3068002"/>
              <a:ext cx="410534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MapReduce-style systems: many machines each hold a little</a:t>
              </a:r>
            </a:p>
          </p:txBody>
        </p:sp>
        <p:sp>
          <p:nvSpPr>
            <p:cNvPr id="41" name="TextBox 41"/>
            <p:cNvSpPr txBox="1"/>
            <p:nvPr/>
          </p:nvSpPr>
          <p:spPr>
            <a:xfrm>
              <a:off x="6509766" y="3277552"/>
              <a:ext cx="3600983"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data and exchange messages in synchronous rounds.</a:t>
              </a:r>
            </a:p>
          </p:txBody>
        </p:sp>
        <p:sp>
          <p:nvSpPr>
            <p:cNvPr id="42" name="Rectangle 42"/>
            <p:cNvSpPr/>
            <p:nvPr/>
          </p:nvSpPr>
          <p:spPr>
            <a:xfrm>
              <a:off x="6515100" y="3790950"/>
              <a:ext cx="4800600" cy="304800"/>
            </a:xfrm>
            <a:prstGeom prst="roundRect">
              <a:avLst>
                <a:gd name="adj" fmla="val 25000"/>
              </a:avLst>
            </a:prstGeom>
            <a:solidFill>
              <a:schemeClr val="accent6"/>
            </a:solidFill>
            <a:ln w="14288">
              <a:solidFill>
                <a:srgbClr val="26455F"/>
              </a:solidFill>
            </a:ln>
          </p:spPr>
        </p:sp>
        <p:sp>
          <p:nvSpPr>
            <p:cNvPr id="43" name="Ellipse 43"/>
            <p:cNvSpPr/>
            <p:nvPr/>
          </p:nvSpPr>
          <p:spPr>
            <a:xfrm>
              <a:off x="6638925" y="3895725"/>
              <a:ext cx="95250" cy="95250"/>
            </a:xfrm>
            <a:prstGeom prst="ellipse">
              <a:avLst/>
            </a:prstGeom>
            <a:solidFill>
              <a:srgbClr val="B79CF0"/>
            </a:solidFill>
            <a:ln>
              <a:noFill/>
            </a:ln>
          </p:spPr>
        </p:sp>
        <p:sp>
          <p:nvSpPr>
            <p:cNvPr id="44" name="TextBox 44"/>
            <p:cNvSpPr txBox="1"/>
            <p:nvPr/>
          </p:nvSpPr>
          <p:spPr>
            <a:xfrm>
              <a:off x="6833806" y="3881676"/>
              <a:ext cx="2396275" cy="198025"/>
            </a:xfrm>
            <a:prstGeom prst="rect">
              <a:avLst/>
            </a:prstGeom>
            <a:noFill/>
            <a:ln>
              <a:noFill/>
            </a:ln>
          </p:spPr>
          <p:txBody>
            <a:bodyPr wrap="none" lIns="0" tIns="0" rIns="0" bIns="0" anchor="t" anchorCtr="0">
              <a:spAutoFit/>
            </a:bodyPr>
            <a:lstStyle/>
            <a:p>
              <a:pPr algn="l"/>
              <a:r>
                <a:rPr lang="en-US" sz="1010" b="1" dirty="0">
                  <a:solidFill>
                    <a:schemeClr val="dk1"/>
                  </a:solidFill>
                  <a:latin typeface="+mn-lt"/>
                  <a:ea typeface="+mn-ea"/>
                  <a:cs typeface="+mn-cs"/>
                </a:rPr>
                <a:t>attention layer &lt;-&gt; one MPC round</a:t>
              </a:r>
            </a:p>
          </p:txBody>
        </p:sp>
      </p:grpSp>
      <p:grpSp>
        <p:nvGrpSpPr>
          <p:cNvPr id="51" name="Group 51"/>
          <p:cNvGrpSpPr/>
          <p:nvPr/>
        </p:nvGrpSpPr>
        <p:grpSpPr>
          <a:xfrm>
            <a:off x="609600" y="4343400"/>
            <a:ext cx="10972800" cy="898684"/>
            <a:chOff x="609600" y="4343400"/>
            <a:chExt cx="10972800" cy="898684"/>
          </a:xfrm>
        </p:grpSpPr>
        <p:sp>
          <p:nvSpPr>
            <p:cNvPr id="46" name="Rectangle 46"/>
            <p:cNvSpPr/>
            <p:nvPr/>
          </p:nvSpPr>
          <p:spPr>
            <a:xfrm>
              <a:off x="609600" y="4343400"/>
              <a:ext cx="10972800" cy="895350"/>
            </a:xfrm>
            <a:prstGeom prst="roundRect">
              <a:avLst>
                <a:gd name="adj" fmla="val 14894"/>
              </a:avLst>
            </a:prstGeom>
            <a:solidFill>
              <a:srgbClr val="0F2E2B"/>
            </a:solidFill>
            <a:ln w="14288">
              <a:solidFill>
                <a:srgbClr val="34D3C0"/>
              </a:solidFill>
            </a:ln>
          </p:spPr>
        </p:sp>
        <p:sp>
          <p:nvSpPr>
            <p:cNvPr id="47" name="Rectangle 47"/>
            <p:cNvSpPr/>
            <p:nvPr/>
          </p:nvSpPr>
          <p:spPr>
            <a:xfrm>
              <a:off x="609600" y="4343400"/>
              <a:ext cx="57150" cy="895350"/>
            </a:xfrm>
            <a:prstGeom prst="roundRect">
              <a:avLst>
                <a:gd name="adj" fmla="val 50000"/>
              </a:avLst>
            </a:prstGeom>
            <a:solidFill>
              <a:srgbClr val="48C78E"/>
            </a:solidFill>
            <a:ln>
              <a:noFill/>
            </a:ln>
          </p:spPr>
        </p:sp>
        <p:sp>
          <p:nvSpPr>
            <p:cNvPr id="48" name="TextBox 48"/>
            <p:cNvSpPr txBox="1"/>
            <p:nvPr/>
          </p:nvSpPr>
          <p:spPr>
            <a:xfrm>
              <a:off x="870585" y="4545806"/>
              <a:ext cx="1386162" cy="220028"/>
            </a:xfrm>
            <a:prstGeom prst="rect">
              <a:avLst/>
            </a:prstGeom>
            <a:noFill/>
            <a:ln>
              <a:noFill/>
            </a:ln>
          </p:spPr>
          <p:txBody>
            <a:bodyPr wrap="none" lIns="0" tIns="0" rIns="0" bIns="0" anchor="t" anchorCtr="0">
              <a:spAutoFit/>
            </a:bodyPr>
            <a:lstStyle/>
            <a:p>
              <a:pPr algn="l"/>
              <a:r>
                <a:rPr lang="en-US" sz="1120" b="1" spc="75" dirty="0">
                  <a:solidFill>
                    <a:srgbClr val="48C78E"/>
                  </a:solidFill>
                  <a:latin typeface="+mn-lt"/>
                  <a:ea typeface="+mn-ea"/>
                  <a:cs typeface="+mn-cs"/>
                </a:rPr>
                <a:t>The paper's bet</a:t>
              </a:r>
            </a:p>
          </p:txBody>
        </p:sp>
        <p:sp>
          <p:nvSpPr>
            <p:cNvPr id="49" name="TextBox 49"/>
            <p:cNvSpPr txBox="1"/>
            <p:nvPr/>
          </p:nvSpPr>
          <p:spPr>
            <a:xfrm>
              <a:off x="870585" y="4812506"/>
              <a:ext cx="8475134"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Make the connection between attention layers and MPC rounds precise, and you get a single lens that explains both</a:t>
              </a:r>
            </a:p>
          </p:txBody>
        </p:sp>
        <p:sp>
          <p:nvSpPr>
            <p:cNvPr id="50" name="TextBox 50"/>
            <p:cNvSpPr txBox="1"/>
            <p:nvPr/>
          </p:nvSpPr>
          <p:spPr>
            <a:xfrm>
              <a:off x="870585" y="5022056"/>
              <a:ext cx="3652632"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what transformers can do and what they cannot.</a:t>
              </a:r>
            </a:p>
          </p:txBody>
        </p:sp>
      </p:grpSp>
      <p:sp>
        <p:nvSpPr>
          <p:cNvPr id="52" name="cue_s03_c1_authors_insight_self_attention_funda" title="cue_s03_c1_authors_insight_self_attention_funda" descr="cue_s03_c1_authors_insight_self_attention_funda The authors' insight is that self-attention is fundamentally a parallel operation."/>
          <p:cNvSpPr/>
          <p:nvPr/>
        </p:nvSpPr>
        <p:spPr>
          <a:xfrm>
            <a:off x="609600" y="1447723"/>
            <a:ext cx="10972800" cy="7050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cue_s03_c2_every_pair_tokens_interact_one" title="cue_s03_c2_every_pair_tokens_interact_one" descr="cue_s03_c2_every_pair_tokens_interact_one Every pair of tokens can interact in one layer through the inner product between their query and key embeddings, whereas a recurrent network must thread information through the sequence one step at a time."/>
          <p:cNvSpPr/>
          <p:nvPr/>
        </p:nvSpPr>
        <p:spPr>
          <a:xfrm>
            <a:off x="609600" y="2324176"/>
            <a:ext cx="5334000" cy="18667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cue_s03_c3_parallelism_looks_lot_like_massively" title="cue_s03_c3_parallelism_looks_lot_like_massively" descr="cue_s03_c3_parallelism_looks_lot_like_massively That parallelism looks a lot like the Massively Parallel Computation model, or MPC, the abstraction that theorists use to reason about MapReduce and other distributed systems, where many machines each hold a little data and exchange messages in synchronous rou"/>
          <p:cNvSpPr/>
          <p:nvPr/>
        </p:nvSpPr>
        <p:spPr>
          <a:xfrm>
            <a:off x="6248399" y="2324176"/>
            <a:ext cx="5334000" cy="18667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cue_s03_c4_bet_you_make_connection_between" title="cue_s03_c4_bet_you_make_connection_between" descr="cue_s03_c4_bet_you_make_connection_between The paper's bet is that if you can make the connection between attention layers and MPC rounds precise, you get a single lens that explains both what transformers can do and what they cannot."/>
          <p:cNvSpPr/>
          <p:nvPr/>
        </p:nvSpPr>
        <p:spPr>
          <a:xfrm>
            <a:off x="609600" y="4343171"/>
            <a:ext cx="10972800" cy="89839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392865"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CONTRIBUTION</a:t>
            </a:r>
          </a:p>
        </p:txBody>
      </p:sp>
      <p:sp>
        <p:nvSpPr>
          <p:cNvPr id="4" name="TextBox 4"/>
          <p:cNvSpPr txBox="1"/>
          <p:nvPr/>
        </p:nvSpPr>
        <p:spPr>
          <a:xfrm>
            <a:off x="598170" y="804862"/>
            <a:ext cx="6919556"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A correspondence, and a task that proves it</a:t>
            </a:r>
          </a:p>
        </p:txBody>
      </p:sp>
      <p:grpSp>
        <p:nvGrpSpPr>
          <p:cNvPr id="13" name="Group 13"/>
          <p:cNvGrpSpPr/>
          <p:nvPr/>
        </p:nvGrpSpPr>
        <p:grpSpPr>
          <a:xfrm>
            <a:off x="609600" y="1447800"/>
            <a:ext cx="10972800" cy="990600"/>
            <a:chOff x="609600" y="1447800"/>
            <a:chExt cx="10972800" cy="990600"/>
          </a:xfrm>
        </p:grpSpPr>
        <p:sp>
          <p:nvSpPr>
            <p:cNvPr id="5" name="Rectangle 5"/>
            <p:cNvSpPr/>
            <p:nvPr/>
          </p:nvSpPr>
          <p:spPr>
            <a:xfrm>
              <a:off x="609600" y="1447800"/>
              <a:ext cx="10972800" cy="990600"/>
            </a:xfrm>
            <a:prstGeom prst="roundRect">
              <a:avLst>
                <a:gd name="adj" fmla="val 13462"/>
              </a:avLst>
            </a:prstGeom>
            <a:solidFill>
              <a:schemeClr val="accent5"/>
            </a:solidFill>
            <a:ln w="14288">
              <a:solidFill>
                <a:srgbClr val="26455F"/>
              </a:solidFill>
            </a:ln>
          </p:spPr>
        </p:sp>
        <p:sp>
          <p:nvSpPr>
            <p:cNvPr id="6" name="Rectangle 6"/>
            <p:cNvSpPr/>
            <p:nvPr/>
          </p:nvSpPr>
          <p:spPr>
            <a:xfrm>
              <a:off x="609600" y="1447800"/>
              <a:ext cx="57150" cy="990600"/>
            </a:xfrm>
            <a:prstGeom prst="roundRect">
              <a:avLst>
                <a:gd name="adj" fmla="val 50000"/>
              </a:avLst>
            </a:prstGeom>
            <a:solidFill>
              <a:schemeClr val="accent2"/>
            </a:solidFill>
            <a:ln>
              <a:noFill/>
            </a:ln>
          </p:spPr>
        </p:sp>
        <p:sp>
          <p:nvSpPr>
            <p:cNvPr id="7" name="TextBox 7"/>
            <p:cNvSpPr txBox="1"/>
            <p:nvPr/>
          </p:nvSpPr>
          <p:spPr>
            <a:xfrm>
              <a:off x="870014" y="1619012"/>
              <a:ext cx="4225445" cy="242030"/>
            </a:xfrm>
            <a:prstGeom prst="rect">
              <a:avLst/>
            </a:prstGeom>
            <a:noFill/>
            <a:ln>
              <a:noFill/>
            </a:ln>
          </p:spPr>
          <p:txBody>
            <a:bodyPr wrap="none" lIns="0" tIns="0" rIns="0" bIns="0" anchor="t" anchorCtr="0">
              <a:spAutoFit/>
            </a:bodyPr>
            <a:lstStyle/>
            <a:p>
              <a:pPr algn="l"/>
              <a:r>
                <a:rPr lang="en-US" sz="1240" b="1" dirty="0">
                  <a:solidFill>
                    <a:schemeClr val="accent2"/>
                  </a:solidFill>
                  <a:latin typeface="+mn-lt"/>
                  <a:ea typeface="+mn-ea"/>
                  <a:cs typeface="+mn-cs"/>
                </a:rPr>
                <a:t>Contribution 1 · a tight two-way correspondence</a:t>
              </a:r>
            </a:p>
          </p:txBody>
        </p:sp>
        <p:sp>
          <p:nvSpPr>
            <p:cNvPr id="8" name="Rectangle 8"/>
            <p:cNvSpPr/>
            <p:nvPr/>
          </p:nvSpPr>
          <p:spPr>
            <a:xfrm>
              <a:off x="2857500" y="1866900"/>
              <a:ext cx="2857500" cy="419100"/>
            </a:xfrm>
            <a:prstGeom prst="roundRect">
              <a:avLst>
                <a:gd name="adj" fmla="val 18182"/>
              </a:avLst>
            </a:prstGeom>
            <a:solidFill>
              <a:schemeClr val="accent6"/>
            </a:solidFill>
            <a:ln w="14288">
              <a:solidFill>
                <a:srgbClr val="26455F"/>
              </a:solidFill>
            </a:ln>
          </p:spPr>
        </p:sp>
        <p:sp>
          <p:nvSpPr>
            <p:cNvPr id="9" name="TextBox 9"/>
            <p:cNvSpPr txBox="1"/>
            <p:nvPr/>
          </p:nvSpPr>
          <p:spPr>
            <a:xfrm>
              <a:off x="3343359" y="2010728"/>
              <a:ext cx="1885782" cy="205359"/>
            </a:xfrm>
            <a:prstGeom prst="rect">
              <a:avLst/>
            </a:prstGeom>
            <a:noFill/>
            <a:ln>
              <a:noFill/>
            </a:ln>
          </p:spPr>
          <p:txBody>
            <a:bodyPr wrap="none" lIns="0" tIns="0" rIns="0" bIns="0" anchor="t" anchorCtr="0">
              <a:spAutoFit/>
            </a:bodyPr>
            <a:lstStyle/>
            <a:p>
              <a:pPr algn="ctr"/>
              <a:r>
                <a:rPr lang="en-US" sz="1050" b="1" dirty="0">
                  <a:solidFill>
                    <a:srgbClr val="34D3C0"/>
                  </a:solidFill>
                  <a:latin typeface="Consolas"/>
                  <a:ea typeface="Consolas"/>
                  <a:cs typeface="Consolas"/>
                </a:rPr>
                <a:t>R-round MPC -&gt; depth R+1</a:t>
              </a:r>
            </a:p>
          </p:txBody>
        </p:sp>
        <p:sp>
          <p:nvSpPr>
            <p:cNvPr id="10" name="Rectangle 10"/>
            <p:cNvSpPr/>
            <p:nvPr/>
          </p:nvSpPr>
          <p:spPr>
            <a:xfrm>
              <a:off x="5905500" y="1866900"/>
              <a:ext cx="2857500" cy="419100"/>
            </a:xfrm>
            <a:prstGeom prst="roundRect">
              <a:avLst>
                <a:gd name="adj" fmla="val 18182"/>
              </a:avLst>
            </a:prstGeom>
            <a:solidFill>
              <a:schemeClr val="accent6"/>
            </a:solidFill>
            <a:ln w="14288">
              <a:solidFill>
                <a:srgbClr val="26455F"/>
              </a:solidFill>
            </a:ln>
          </p:spPr>
        </p:sp>
        <p:sp>
          <p:nvSpPr>
            <p:cNvPr id="11" name="TextBox 11"/>
            <p:cNvSpPr txBox="1"/>
            <p:nvPr/>
          </p:nvSpPr>
          <p:spPr>
            <a:xfrm>
              <a:off x="6313404" y="2010728"/>
              <a:ext cx="2041692" cy="205359"/>
            </a:xfrm>
            <a:prstGeom prst="rect">
              <a:avLst/>
            </a:prstGeom>
            <a:noFill/>
            <a:ln>
              <a:noFill/>
            </a:ln>
          </p:spPr>
          <p:txBody>
            <a:bodyPr wrap="none" lIns="0" tIns="0" rIns="0" bIns="0" anchor="t" anchorCtr="0">
              <a:spAutoFit/>
            </a:bodyPr>
            <a:lstStyle/>
            <a:p>
              <a:pPr algn="ctr"/>
              <a:r>
                <a:rPr lang="en-US" sz="1050" b="1" dirty="0">
                  <a:solidFill>
                    <a:srgbClr val="F2C14E"/>
                  </a:solidFill>
                  <a:latin typeface="Consolas"/>
                  <a:ea typeface="Consolas"/>
                  <a:cs typeface="Consolas"/>
                </a:rPr>
                <a:t>depth-L -&gt; O(L)-round MPC</a:t>
              </a:r>
            </a:p>
          </p:txBody>
        </p:sp>
        <p:sp>
          <p:nvSpPr>
            <p:cNvPr id="12" name="TextBox 12"/>
            <p:cNvSpPr txBox="1"/>
            <p:nvPr/>
          </p:nvSpPr>
          <p:spPr>
            <a:xfrm>
              <a:off x="9043606" y="1929051"/>
              <a:ext cx="1081021" cy="198025"/>
            </a:xfrm>
            <a:prstGeom prst="rect">
              <a:avLst/>
            </a:prstGeom>
            <a:noFill/>
            <a:ln>
              <a:noFill/>
            </a:ln>
          </p:spPr>
          <p:txBody>
            <a:bodyPr wrap="none" lIns="0" tIns="0" rIns="0" bIns="0" anchor="t" anchorCtr="0">
              <a:spAutoFit/>
            </a:bodyPr>
            <a:lstStyle/>
            <a:p>
              <a:pPr algn="l"/>
              <a:r>
                <a:rPr lang="en-US" sz="1010" b="1" dirty="0">
                  <a:solidFill>
                    <a:schemeClr val="dk2"/>
                  </a:solidFill>
                  <a:latin typeface="+mn-lt"/>
                  <a:ea typeface="+mn-ea"/>
                  <a:cs typeface="+mn-cs"/>
                </a:rPr>
                <a:t>both directions</a:t>
              </a:r>
            </a:p>
          </p:txBody>
        </p:sp>
      </p:grpSp>
      <p:grpSp>
        <p:nvGrpSpPr>
          <p:cNvPr id="24" name="Group 24"/>
          <p:cNvGrpSpPr/>
          <p:nvPr/>
        </p:nvGrpSpPr>
        <p:grpSpPr>
          <a:xfrm>
            <a:off x="609600" y="2590800"/>
            <a:ext cx="3505200" cy="2647950"/>
            <a:chOff x="609600" y="2590800"/>
            <a:chExt cx="3505200" cy="2647950"/>
          </a:xfrm>
        </p:grpSpPr>
        <p:sp>
          <p:nvSpPr>
            <p:cNvPr id="14" name="Rectangle 14"/>
            <p:cNvSpPr/>
            <p:nvPr/>
          </p:nvSpPr>
          <p:spPr>
            <a:xfrm>
              <a:off x="609600" y="2590800"/>
              <a:ext cx="3505200" cy="2647950"/>
            </a:xfrm>
            <a:prstGeom prst="roundRect">
              <a:avLst>
                <a:gd name="adj" fmla="val 5036"/>
              </a:avLst>
            </a:prstGeom>
            <a:solidFill>
              <a:schemeClr val="accent5"/>
            </a:solidFill>
            <a:ln w="14288">
              <a:solidFill>
                <a:srgbClr val="26455F"/>
              </a:solidFill>
            </a:ln>
          </p:spPr>
        </p:sp>
        <p:sp>
          <p:nvSpPr>
            <p:cNvPr id="15" name="Rectangle 15"/>
            <p:cNvSpPr/>
            <p:nvPr/>
          </p:nvSpPr>
          <p:spPr>
            <a:xfrm>
              <a:off x="609600" y="2590800"/>
              <a:ext cx="3505200" cy="57150"/>
            </a:xfrm>
            <a:prstGeom prst="roundRect">
              <a:avLst>
                <a:gd name="adj" fmla="val 50000"/>
              </a:avLst>
            </a:prstGeom>
            <a:solidFill>
              <a:srgbClr val="34D3C0"/>
            </a:solidFill>
            <a:ln>
              <a:noFill/>
            </a:ln>
          </p:spPr>
        </p:sp>
        <p:sp>
          <p:nvSpPr>
            <p:cNvPr id="16" name="TextBox 16"/>
            <p:cNvSpPr txBox="1"/>
            <p:nvPr/>
          </p:nvSpPr>
          <p:spPr>
            <a:xfrm>
              <a:off x="869823" y="2872264"/>
              <a:ext cx="1119951" cy="249364"/>
            </a:xfrm>
            <a:prstGeom prst="rect">
              <a:avLst/>
            </a:prstGeom>
            <a:noFill/>
            <a:ln>
              <a:noFill/>
            </a:ln>
          </p:spPr>
          <p:txBody>
            <a:bodyPr wrap="none" lIns="0" tIns="0" rIns="0" bIns="0" anchor="t" anchorCtr="0">
              <a:spAutoFit/>
            </a:bodyPr>
            <a:lstStyle/>
            <a:p>
              <a:pPr algn="l"/>
              <a:r>
                <a:rPr lang="en-US" sz="1280" b="1" dirty="0">
                  <a:solidFill>
                    <a:srgbClr val="34D3C0"/>
                  </a:solidFill>
                  <a:latin typeface="+mn-lt"/>
                  <a:ea typeface="+mn-ea"/>
                  <a:cs typeface="+mn-cs"/>
                </a:rPr>
                <a:t>Power = MPC</a:t>
              </a:r>
            </a:p>
          </p:txBody>
        </p:sp>
        <p:sp>
          <p:nvSpPr>
            <p:cNvPr id="17" name="TextBox 17"/>
            <p:cNvSpPr txBox="1"/>
            <p:nvPr/>
          </p:nvSpPr>
          <p:spPr>
            <a:xfrm>
              <a:off x="870776" y="3216354"/>
              <a:ext cx="1996857"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So the algorithmic power of</a:t>
              </a:r>
            </a:p>
          </p:txBody>
        </p:sp>
        <p:sp>
          <p:nvSpPr>
            <p:cNvPr id="18" name="TextBox 18"/>
            <p:cNvSpPr txBox="1"/>
            <p:nvPr/>
          </p:nvSpPr>
          <p:spPr>
            <a:xfrm>
              <a:off x="870776" y="3435429"/>
              <a:ext cx="2512894"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logarithmic-depth transformers is</a:t>
              </a:r>
            </a:p>
          </p:txBody>
        </p:sp>
        <p:sp>
          <p:nvSpPr>
            <p:cNvPr id="19" name="TextBox 19"/>
            <p:cNvSpPr txBox="1"/>
            <p:nvPr/>
          </p:nvSpPr>
          <p:spPr>
            <a:xfrm>
              <a:off x="870776" y="3654504"/>
              <a:ext cx="2777019"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captured, up to constants, exactly by</a:t>
              </a:r>
            </a:p>
          </p:txBody>
        </p:sp>
        <p:sp>
          <p:nvSpPr>
            <p:cNvPr id="20" name="TextBox 20"/>
            <p:cNvSpPr txBox="1"/>
            <p:nvPr/>
          </p:nvSpPr>
          <p:spPr>
            <a:xfrm>
              <a:off x="870776" y="3873579"/>
              <a:ext cx="1106206"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the MPC model.</a:t>
              </a:r>
            </a:p>
          </p:txBody>
        </p:sp>
        <p:sp>
          <p:nvSpPr>
            <p:cNvPr id="21" name="Rectangle 21"/>
            <p:cNvSpPr/>
            <p:nvPr/>
          </p:nvSpPr>
          <p:spPr>
            <a:xfrm>
              <a:off x="876300" y="4591050"/>
              <a:ext cx="2971800" cy="323850"/>
            </a:xfrm>
            <a:prstGeom prst="roundRect">
              <a:avLst>
                <a:gd name="adj" fmla="val 23529"/>
              </a:avLst>
            </a:prstGeom>
            <a:solidFill>
              <a:schemeClr val="accent6"/>
            </a:solidFill>
            <a:ln w="14288">
              <a:solidFill>
                <a:srgbClr val="26455F"/>
              </a:solidFill>
            </a:ln>
          </p:spPr>
        </p:sp>
        <p:sp>
          <p:nvSpPr>
            <p:cNvPr id="22" name="Ellipse 22"/>
            <p:cNvSpPr/>
            <p:nvPr/>
          </p:nvSpPr>
          <p:spPr>
            <a:xfrm>
              <a:off x="1000125" y="4705350"/>
              <a:ext cx="95250" cy="95250"/>
            </a:xfrm>
            <a:prstGeom prst="ellipse">
              <a:avLst/>
            </a:prstGeom>
            <a:solidFill>
              <a:srgbClr val="34D3C0"/>
            </a:solidFill>
            <a:ln>
              <a:noFill/>
            </a:ln>
          </p:spPr>
        </p:sp>
        <p:sp>
          <p:nvSpPr>
            <p:cNvPr id="23" name="TextBox 23"/>
            <p:cNvSpPr txBox="1"/>
            <p:nvPr/>
          </p:nvSpPr>
          <p:spPr>
            <a:xfrm>
              <a:off x="1195388" y="4699397"/>
              <a:ext cx="2834637" cy="183356"/>
            </a:xfrm>
            <a:prstGeom prst="rect">
              <a:avLst/>
            </a:prstGeom>
            <a:noFill/>
            <a:ln>
              <a:noFill/>
            </a:ln>
          </p:spPr>
          <p:txBody>
            <a:bodyPr wrap="none" lIns="0" tIns="0" rIns="0" bIns="0" anchor="t" anchorCtr="0">
              <a:spAutoFit/>
            </a:bodyPr>
            <a:lstStyle/>
            <a:p>
              <a:pPr algn="l"/>
              <a:r>
                <a:rPr lang="en-US" sz="940" b="1" dirty="0">
                  <a:solidFill>
                    <a:schemeClr val="dk1"/>
                  </a:solidFill>
                  <a:latin typeface="+mn-lt"/>
                  <a:ea typeface="+mn-ea"/>
                  <a:cs typeface="+mn-cs"/>
                </a:rPr>
                <a:t>log-depth transformer == const-round MPC</a:t>
              </a:r>
            </a:p>
          </p:txBody>
        </p:sp>
      </p:grpSp>
      <p:grpSp>
        <p:nvGrpSpPr>
          <p:cNvPr id="35" name="Group 35"/>
          <p:cNvGrpSpPr/>
          <p:nvPr/>
        </p:nvGrpSpPr>
        <p:grpSpPr>
          <a:xfrm>
            <a:off x="4343400" y="2590800"/>
            <a:ext cx="3505200" cy="2647950"/>
            <a:chOff x="4343400" y="2590800"/>
            <a:chExt cx="3505200" cy="2647950"/>
          </a:xfrm>
        </p:grpSpPr>
        <p:sp>
          <p:nvSpPr>
            <p:cNvPr id="25" name="Rectangle 25"/>
            <p:cNvSpPr/>
            <p:nvPr/>
          </p:nvSpPr>
          <p:spPr>
            <a:xfrm>
              <a:off x="4343400" y="2590800"/>
              <a:ext cx="3505200" cy="2647950"/>
            </a:xfrm>
            <a:prstGeom prst="roundRect">
              <a:avLst>
                <a:gd name="adj" fmla="val 5036"/>
              </a:avLst>
            </a:prstGeom>
            <a:solidFill>
              <a:schemeClr val="accent5"/>
            </a:solidFill>
            <a:ln w="14288">
              <a:solidFill>
                <a:srgbClr val="26455F"/>
              </a:solidFill>
            </a:ln>
          </p:spPr>
        </p:sp>
        <p:sp>
          <p:nvSpPr>
            <p:cNvPr id="26" name="Rectangle 26"/>
            <p:cNvSpPr/>
            <p:nvPr/>
          </p:nvSpPr>
          <p:spPr>
            <a:xfrm>
              <a:off x="4343400" y="2590800"/>
              <a:ext cx="3505200" cy="57150"/>
            </a:xfrm>
            <a:prstGeom prst="roundRect">
              <a:avLst>
                <a:gd name="adj" fmla="val 50000"/>
              </a:avLst>
            </a:prstGeom>
            <a:solidFill>
              <a:srgbClr val="F2C14E"/>
            </a:solidFill>
            <a:ln>
              <a:noFill/>
            </a:ln>
          </p:spPr>
        </p:sp>
        <p:sp>
          <p:nvSpPr>
            <p:cNvPr id="27" name="TextBox 27"/>
            <p:cNvSpPr txBox="1"/>
            <p:nvPr/>
          </p:nvSpPr>
          <p:spPr>
            <a:xfrm>
              <a:off x="4603623" y="2872264"/>
              <a:ext cx="1411742" cy="249364"/>
            </a:xfrm>
            <a:prstGeom prst="rect">
              <a:avLst/>
            </a:prstGeom>
            <a:noFill/>
            <a:ln>
              <a:noFill/>
            </a:ln>
          </p:spPr>
          <p:txBody>
            <a:bodyPr wrap="none" lIns="0" tIns="0" rIns="0" bIns="0" anchor="t" anchorCtr="0">
              <a:spAutoFit/>
            </a:bodyPr>
            <a:lstStyle/>
            <a:p>
              <a:pPr algn="l"/>
              <a:r>
                <a:rPr lang="en-US" sz="1280" b="1" dirty="0">
                  <a:solidFill>
                    <a:srgbClr val="F2C14E"/>
                  </a:solidFill>
                  <a:latin typeface="+mn-lt"/>
                  <a:ea typeface="+mn-ea"/>
                  <a:cs typeface="+mn-cs"/>
                </a:rPr>
                <a:t>Free algorithms</a:t>
              </a:r>
            </a:p>
          </p:txBody>
        </p:sp>
        <p:sp>
          <p:nvSpPr>
            <p:cNvPr id="28" name="TextBox 28"/>
            <p:cNvSpPr txBox="1"/>
            <p:nvPr/>
          </p:nvSpPr>
          <p:spPr>
            <a:xfrm>
              <a:off x="4604576" y="3216354"/>
              <a:ext cx="2223887"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The connection instantly yields</a:t>
              </a:r>
            </a:p>
          </p:txBody>
        </p:sp>
        <p:sp>
          <p:nvSpPr>
            <p:cNvPr id="29" name="TextBox 29"/>
            <p:cNvSpPr txBox="1"/>
            <p:nvPr/>
          </p:nvSpPr>
          <p:spPr>
            <a:xfrm>
              <a:off x="4604576" y="3435429"/>
              <a:ext cx="2564252"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log-depth transformers for classic</a:t>
              </a:r>
            </a:p>
          </p:txBody>
        </p:sp>
        <p:sp>
          <p:nvSpPr>
            <p:cNvPr id="30" name="TextBox 30"/>
            <p:cNvSpPr txBox="1"/>
            <p:nvPr/>
          </p:nvSpPr>
          <p:spPr>
            <a:xfrm>
              <a:off x="4604576" y="3654504"/>
              <a:ext cx="1969972"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parallel problems like graph</a:t>
              </a:r>
            </a:p>
          </p:txBody>
        </p:sp>
        <p:sp>
          <p:nvSpPr>
            <p:cNvPr id="31" name="TextBox 31"/>
            <p:cNvSpPr txBox="1"/>
            <p:nvPr/>
          </p:nvSpPr>
          <p:spPr>
            <a:xfrm>
              <a:off x="4604576" y="3873579"/>
              <a:ext cx="986842"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connectivity.</a:t>
              </a:r>
            </a:p>
          </p:txBody>
        </p:sp>
        <p:sp>
          <p:nvSpPr>
            <p:cNvPr id="32" name="Rectangle 32"/>
            <p:cNvSpPr/>
            <p:nvPr/>
          </p:nvSpPr>
          <p:spPr>
            <a:xfrm>
              <a:off x="4610100" y="4591050"/>
              <a:ext cx="2971800" cy="323850"/>
            </a:xfrm>
            <a:prstGeom prst="roundRect">
              <a:avLst>
                <a:gd name="adj" fmla="val 23529"/>
              </a:avLst>
            </a:prstGeom>
            <a:solidFill>
              <a:schemeClr val="accent6"/>
            </a:solidFill>
            <a:ln w="14288">
              <a:solidFill>
                <a:srgbClr val="26455F"/>
              </a:solidFill>
            </a:ln>
          </p:spPr>
        </p:sp>
        <p:sp>
          <p:nvSpPr>
            <p:cNvPr id="33" name="Ellipse 33"/>
            <p:cNvSpPr/>
            <p:nvPr/>
          </p:nvSpPr>
          <p:spPr>
            <a:xfrm>
              <a:off x="4733925" y="4705350"/>
              <a:ext cx="95250" cy="95250"/>
            </a:xfrm>
            <a:prstGeom prst="ellipse">
              <a:avLst/>
            </a:prstGeom>
            <a:solidFill>
              <a:srgbClr val="F2C14E"/>
            </a:solidFill>
            <a:ln>
              <a:noFill/>
            </a:ln>
          </p:spPr>
        </p:sp>
        <p:sp>
          <p:nvSpPr>
            <p:cNvPr id="34" name="TextBox 34"/>
            <p:cNvSpPr txBox="1"/>
            <p:nvPr/>
          </p:nvSpPr>
          <p:spPr>
            <a:xfrm>
              <a:off x="4929188" y="4699397"/>
              <a:ext cx="2474404" cy="183356"/>
            </a:xfrm>
            <a:prstGeom prst="rect">
              <a:avLst/>
            </a:prstGeom>
            <a:noFill/>
            <a:ln>
              <a:noFill/>
            </a:ln>
          </p:spPr>
          <p:txBody>
            <a:bodyPr wrap="none" lIns="0" tIns="0" rIns="0" bIns="0" anchor="t" anchorCtr="0">
              <a:spAutoFit/>
            </a:bodyPr>
            <a:lstStyle/>
            <a:p>
              <a:pPr algn="l"/>
              <a:r>
                <a:rPr lang="en-US" sz="940" b="1" dirty="0">
                  <a:solidFill>
                    <a:schemeClr val="dk1"/>
                  </a:solidFill>
                  <a:latin typeface="+mn-lt"/>
                  <a:ea typeface="+mn-ea"/>
                  <a:cs typeface="+mn-cs"/>
                </a:rPr>
                <a:t>near-optimal under an MPC conjecture</a:t>
              </a:r>
            </a:p>
          </p:txBody>
        </p:sp>
      </p:grpSp>
      <p:grpSp>
        <p:nvGrpSpPr>
          <p:cNvPr id="46" name="Group 46"/>
          <p:cNvGrpSpPr/>
          <p:nvPr/>
        </p:nvGrpSpPr>
        <p:grpSpPr>
          <a:xfrm>
            <a:off x="8077200" y="2590800"/>
            <a:ext cx="3505200" cy="2647950"/>
            <a:chOff x="8077200" y="2590800"/>
            <a:chExt cx="3505200" cy="2647950"/>
          </a:xfrm>
        </p:grpSpPr>
        <p:sp>
          <p:nvSpPr>
            <p:cNvPr id="36" name="Rectangle 36"/>
            <p:cNvSpPr/>
            <p:nvPr/>
          </p:nvSpPr>
          <p:spPr>
            <a:xfrm>
              <a:off x="8077200" y="2590800"/>
              <a:ext cx="3505200" cy="2647950"/>
            </a:xfrm>
            <a:prstGeom prst="roundRect">
              <a:avLst>
                <a:gd name="adj" fmla="val 5036"/>
              </a:avLst>
            </a:prstGeom>
            <a:solidFill>
              <a:srgbClr val="0F2E2B"/>
            </a:solidFill>
            <a:ln w="14288">
              <a:solidFill>
                <a:srgbClr val="48C78E"/>
              </a:solidFill>
            </a:ln>
          </p:spPr>
        </p:sp>
        <p:sp>
          <p:nvSpPr>
            <p:cNvPr id="37" name="Rectangle 37"/>
            <p:cNvSpPr/>
            <p:nvPr/>
          </p:nvSpPr>
          <p:spPr>
            <a:xfrm>
              <a:off x="8077200" y="2590800"/>
              <a:ext cx="3505200" cy="57150"/>
            </a:xfrm>
            <a:prstGeom prst="roundRect">
              <a:avLst>
                <a:gd name="adj" fmla="val 50000"/>
              </a:avLst>
            </a:prstGeom>
            <a:solidFill>
              <a:srgbClr val="48C78E"/>
            </a:solidFill>
            <a:ln>
              <a:noFill/>
            </a:ln>
          </p:spPr>
        </p:sp>
        <p:sp>
          <p:nvSpPr>
            <p:cNvPr id="38" name="TextBox 38"/>
            <p:cNvSpPr txBox="1"/>
            <p:nvPr/>
          </p:nvSpPr>
          <p:spPr>
            <a:xfrm>
              <a:off x="8337614" y="2876312"/>
              <a:ext cx="1921037" cy="242030"/>
            </a:xfrm>
            <a:prstGeom prst="rect">
              <a:avLst/>
            </a:prstGeom>
            <a:noFill/>
            <a:ln>
              <a:noFill/>
            </a:ln>
          </p:spPr>
          <p:txBody>
            <a:bodyPr wrap="none" lIns="0" tIns="0" rIns="0" bIns="0" anchor="t" anchorCtr="0">
              <a:spAutoFit/>
            </a:bodyPr>
            <a:lstStyle/>
            <a:p>
              <a:pPr algn="l"/>
              <a:r>
                <a:rPr lang="en-US" sz="1240" b="1" dirty="0">
                  <a:solidFill>
                    <a:srgbClr val="48C78E"/>
                  </a:solidFill>
                  <a:latin typeface="+mn-lt"/>
                  <a:ea typeface="+mn-ea"/>
                  <a:cs typeface="+mn-cs"/>
                </a:rPr>
                <a:t>Contribution 2 · k-hop</a:t>
              </a:r>
            </a:p>
          </p:txBody>
        </p:sp>
        <p:sp>
          <p:nvSpPr>
            <p:cNvPr id="39" name="TextBox 39"/>
            <p:cNvSpPr txBox="1"/>
            <p:nvPr/>
          </p:nvSpPr>
          <p:spPr>
            <a:xfrm>
              <a:off x="8338376" y="3216354"/>
              <a:ext cx="2415402"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A concrete synthetic task, k-hop</a:t>
              </a:r>
            </a:p>
          </p:txBody>
        </p:sp>
        <p:sp>
          <p:nvSpPr>
            <p:cNvPr id="40" name="TextBox 40"/>
            <p:cNvSpPr txBox="1"/>
            <p:nvPr/>
          </p:nvSpPr>
          <p:spPr>
            <a:xfrm>
              <a:off x="8338376" y="3435429"/>
              <a:ext cx="2967775"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induction heads: log-depth transformers</a:t>
              </a:r>
            </a:p>
          </p:txBody>
        </p:sp>
        <p:sp>
          <p:nvSpPr>
            <p:cNvPr id="41" name="TextBox 41"/>
            <p:cNvSpPr txBox="1"/>
            <p:nvPr/>
          </p:nvSpPr>
          <p:spPr>
            <a:xfrm>
              <a:off x="8338376" y="3654504"/>
              <a:ext cx="2769682"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solve it while competing architectures</a:t>
              </a:r>
            </a:p>
          </p:txBody>
        </p:sp>
        <p:sp>
          <p:nvSpPr>
            <p:cNvPr id="42" name="TextBox 42"/>
            <p:cNvSpPr txBox="1"/>
            <p:nvPr/>
          </p:nvSpPr>
          <p:spPr>
            <a:xfrm>
              <a:off x="8338376" y="3873579"/>
              <a:ext cx="1808563"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cannot do so efficiently.</a:t>
              </a:r>
            </a:p>
          </p:txBody>
        </p:sp>
        <p:sp>
          <p:nvSpPr>
            <p:cNvPr id="43" name="Rectangle 43"/>
            <p:cNvSpPr/>
            <p:nvPr/>
          </p:nvSpPr>
          <p:spPr>
            <a:xfrm>
              <a:off x="8343900" y="4591050"/>
              <a:ext cx="2971800" cy="323850"/>
            </a:xfrm>
            <a:prstGeom prst="roundRect">
              <a:avLst>
                <a:gd name="adj" fmla="val 23529"/>
              </a:avLst>
            </a:prstGeom>
            <a:solidFill>
              <a:schemeClr val="accent6"/>
            </a:solidFill>
            <a:ln w="14288">
              <a:solidFill>
                <a:srgbClr val="26455F"/>
              </a:solidFill>
            </a:ln>
          </p:spPr>
        </p:sp>
        <p:sp>
          <p:nvSpPr>
            <p:cNvPr id="44" name="Ellipse 44"/>
            <p:cNvSpPr/>
            <p:nvPr/>
          </p:nvSpPr>
          <p:spPr>
            <a:xfrm>
              <a:off x="8467725" y="4705350"/>
              <a:ext cx="95250" cy="95250"/>
            </a:xfrm>
            <a:prstGeom prst="ellipse">
              <a:avLst/>
            </a:prstGeom>
            <a:solidFill>
              <a:srgbClr val="48C78E"/>
            </a:solidFill>
            <a:ln>
              <a:noFill/>
            </a:ln>
          </p:spPr>
        </p:sp>
        <p:sp>
          <p:nvSpPr>
            <p:cNvPr id="45" name="TextBox 45"/>
            <p:cNvSpPr txBox="1"/>
            <p:nvPr/>
          </p:nvSpPr>
          <p:spPr>
            <a:xfrm>
              <a:off x="8662988" y="4699397"/>
              <a:ext cx="2215166" cy="183356"/>
            </a:xfrm>
            <a:prstGeom prst="rect">
              <a:avLst/>
            </a:prstGeom>
            <a:noFill/>
            <a:ln>
              <a:noFill/>
            </a:ln>
          </p:spPr>
          <p:txBody>
            <a:bodyPr wrap="none" lIns="0" tIns="0" rIns="0" bIns="0" anchor="t" anchorCtr="0">
              <a:spAutoFit/>
            </a:bodyPr>
            <a:lstStyle/>
            <a:p>
              <a:pPr algn="l"/>
              <a:r>
                <a:rPr lang="en-US" sz="940" b="1" dirty="0">
                  <a:solidFill>
                    <a:schemeClr val="dk1"/>
                  </a:solidFill>
                  <a:latin typeface="+mn-lt"/>
                  <a:ea typeface="+mn-ea"/>
                  <a:cs typeface="+mn-cs"/>
                </a:rPr>
                <a:t>trained models obey the threshold</a:t>
              </a:r>
            </a:p>
          </p:txBody>
        </p:sp>
      </p:grpSp>
      <p:sp>
        <p:nvSpPr>
          <p:cNvPr id="47" name="cue_s04_c1_makes_two_main_contributions_first" title="cue_s04_c1_makes_two_main_contributions_first" descr="cue_s04_c1_makes_two_main_contributions_first The paper makes two main contributions. First, it establishes a tight correspondence: any R-round MPC protocol can be run by a transformer of depth about R, and conversely any depth-L transformer can be simulated by an O(L)-round MPC protocol."/>
          <p:cNvSpPr/>
          <p:nvPr/>
        </p:nvSpPr>
        <p:spPr>
          <a:xfrm>
            <a:off x="609600" y="1447723"/>
            <a:ext cx="10972800" cy="9902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cue_s04_c2_algorithmic_power_logarithmic_depth" title="cue_s04_c2_algorithmic_power_logarithmic_depth" descr="cue_s04_c2_algorithmic_power_logarithmic_depth So the algorithmic power of logarithmic-depth transformers is captured, up to constants, by the MPC model."/>
          <p:cNvSpPr/>
          <p:nvPr/>
        </p:nvSpPr>
        <p:spPr>
          <a:xfrm>
            <a:off x="609600" y="2590952"/>
            <a:ext cx="3505199" cy="264787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cue_s04_c3_instantly_gives_log_depth_transforme" title="cue_s04_c3_instantly_gives_log_depth_transforme" descr="cue_s04_c3_instantly_gives_log_depth_transforme That instantly gives log-depth transformers for classic parallel problems like graph connectivity, and, under a standard conjecture about MPC's limits, shows those constructions are near-optimal."/>
          <p:cNvSpPr/>
          <p:nvPr/>
        </p:nvSpPr>
        <p:spPr>
          <a:xfrm>
            <a:off x="4344009" y="2590952"/>
            <a:ext cx="3505199" cy="264787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cue_s04_c4_second_authors_introduce_concrete_sy" title="cue_s04_c4_second_authors_introduce_concrete_sy" descr="cue_s04_c4_second_authors_introduce_concrete_sy Second, the authors introduce a concrete synthetic task, k-hop induction heads, and prove that transformers solve it with logarithmic depth while several competing architectures cannot do so efficiently. They then train real transformers and watch them obey th"/>
          <p:cNvSpPr/>
          <p:nvPr/>
        </p:nvSpPr>
        <p:spPr>
          <a:xfrm>
            <a:off x="8077200" y="2590952"/>
            <a:ext cx="3505199" cy="264787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764050"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METHOD</a:t>
            </a:r>
          </a:p>
        </p:txBody>
      </p:sp>
      <p:sp>
        <p:nvSpPr>
          <p:cNvPr id="4" name="TextBox 4"/>
          <p:cNvSpPr txBox="1"/>
          <p:nvPr/>
        </p:nvSpPr>
        <p:spPr>
          <a:xfrm>
            <a:off x="598170" y="804862"/>
            <a:ext cx="7125411"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A single attention layer routes one MPC round</a:t>
            </a:r>
          </a:p>
        </p:txBody>
      </p:sp>
      <p:grpSp>
        <p:nvGrpSpPr>
          <p:cNvPr id="23" name="Group 23"/>
          <p:cNvGrpSpPr/>
          <p:nvPr/>
        </p:nvGrpSpPr>
        <p:grpSpPr>
          <a:xfrm>
            <a:off x="609600" y="1447800"/>
            <a:ext cx="5410200" cy="1942862"/>
            <a:chOff x="609600" y="1447800"/>
            <a:chExt cx="5410200" cy="1942862"/>
          </a:xfrm>
        </p:grpSpPr>
        <p:sp>
          <p:nvSpPr>
            <p:cNvPr id="5" name="Rectangle 5"/>
            <p:cNvSpPr/>
            <p:nvPr/>
          </p:nvSpPr>
          <p:spPr>
            <a:xfrm>
              <a:off x="609600" y="1447800"/>
              <a:ext cx="5410200" cy="1885950"/>
            </a:xfrm>
            <a:prstGeom prst="roundRect">
              <a:avLst>
                <a:gd name="adj" fmla="val 7071"/>
              </a:avLst>
            </a:prstGeom>
            <a:solidFill>
              <a:schemeClr val="accent5"/>
            </a:solidFill>
            <a:ln w="14288">
              <a:solidFill>
                <a:srgbClr val="26455F"/>
              </a:solidFill>
            </a:ln>
          </p:spPr>
        </p:sp>
        <p:sp>
          <p:nvSpPr>
            <p:cNvPr id="6" name="Rectangle 6"/>
            <p:cNvSpPr/>
            <p:nvPr/>
          </p:nvSpPr>
          <p:spPr>
            <a:xfrm>
              <a:off x="609600" y="1447800"/>
              <a:ext cx="57150" cy="1885950"/>
            </a:xfrm>
            <a:prstGeom prst="roundRect">
              <a:avLst>
                <a:gd name="adj" fmla="val 50000"/>
              </a:avLst>
            </a:prstGeom>
            <a:solidFill>
              <a:schemeClr val="accent2"/>
            </a:solidFill>
            <a:ln>
              <a:noFill/>
            </a:ln>
          </p:spPr>
        </p:sp>
        <p:sp>
          <p:nvSpPr>
            <p:cNvPr id="7" name="TextBox 7"/>
            <p:cNvSpPr txBox="1"/>
            <p:nvPr/>
          </p:nvSpPr>
          <p:spPr>
            <a:xfrm>
              <a:off x="870014" y="1676162"/>
              <a:ext cx="1622015" cy="242030"/>
            </a:xfrm>
            <a:prstGeom prst="rect">
              <a:avLst/>
            </a:prstGeom>
            <a:noFill/>
            <a:ln>
              <a:noFill/>
            </a:ln>
          </p:spPr>
          <p:txBody>
            <a:bodyPr wrap="none" lIns="0" tIns="0" rIns="0" bIns="0" anchor="t" anchorCtr="0">
              <a:spAutoFit/>
            </a:bodyPr>
            <a:lstStyle/>
            <a:p>
              <a:pPr algn="l"/>
              <a:r>
                <a:rPr lang="en-US" sz="1240" b="1" dirty="0">
                  <a:solidFill>
                    <a:schemeClr val="accent2"/>
                  </a:solidFill>
                  <a:latin typeface="+mn-lt"/>
                  <a:ea typeface="+mn-ea"/>
                  <a:cs typeface="+mn-cs"/>
                </a:rPr>
                <a:t>The routing gadget</a:t>
              </a:r>
            </a:p>
          </p:txBody>
        </p:sp>
        <p:sp>
          <p:nvSpPr>
            <p:cNvPr id="8" name="TextBox 8"/>
            <p:cNvSpPr txBox="1"/>
            <p:nvPr/>
          </p:nvSpPr>
          <p:spPr>
            <a:xfrm>
              <a:off x="870966" y="1963102"/>
              <a:ext cx="3888544"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In MPC each round ends with machines sending addressed</a:t>
              </a:r>
            </a:p>
          </p:txBody>
        </p:sp>
        <p:sp>
          <p:nvSpPr>
            <p:cNvPr id="9" name="TextBox 9"/>
            <p:cNvSpPr txBox="1"/>
            <p:nvPr/>
          </p:nvSpPr>
          <p:spPr>
            <a:xfrm>
              <a:off x="870966" y="2163128"/>
              <a:ext cx="4065150"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messages. One self-attention layer performs exactly this</a:t>
              </a:r>
            </a:p>
          </p:txBody>
        </p:sp>
        <p:sp>
          <p:nvSpPr>
            <p:cNvPr id="10" name="TextBox 10"/>
            <p:cNvSpPr txBox="1"/>
            <p:nvPr/>
          </p:nvSpPr>
          <p:spPr>
            <a:xfrm>
              <a:off x="870966" y="2363152"/>
              <a:ext cx="59727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routing.</a:t>
              </a:r>
            </a:p>
          </p:txBody>
        </p:sp>
        <p:sp>
          <p:nvSpPr>
            <p:cNvPr id="11" name="Line 11"/>
            <p:cNvSpPr/>
            <p:nvPr/>
          </p:nvSpPr>
          <p:spPr>
            <a:xfrm>
              <a:off x="1390650" y="2667000"/>
              <a:ext cx="1962150" cy="228600"/>
            </a:xfrm>
            <a:custGeom>
              <a:avLst/>
              <a:gdLst/>
              <a:ahLst/>
              <a:cxnLst/>
              <a:rect l="l" t="t" r="r" b="b"/>
              <a:pathLst>
                <a:path w="1962150" h="228600">
                  <a:moveTo>
                    <a:pt x="0" y="0"/>
                  </a:moveTo>
                  <a:lnTo>
                    <a:pt x="1962150" y="228600"/>
                  </a:lnTo>
                </a:path>
              </a:pathLst>
            </a:custGeom>
            <a:noFill/>
            <a:ln w="13335" cap="rnd">
              <a:solidFill>
                <a:srgbClr val="34D3C0"/>
              </a:solidFill>
            </a:ln>
          </p:spPr>
        </p:sp>
        <p:sp>
          <p:nvSpPr>
            <p:cNvPr id="12" name="Line 12"/>
            <p:cNvSpPr/>
            <p:nvPr/>
          </p:nvSpPr>
          <p:spPr>
            <a:xfrm>
              <a:off x="1390650" y="2895600"/>
              <a:ext cx="1962150" cy="228600"/>
            </a:xfrm>
            <a:custGeom>
              <a:avLst/>
              <a:gdLst/>
              <a:ahLst/>
              <a:cxnLst/>
              <a:rect l="l" t="t" r="r" b="b"/>
              <a:pathLst>
                <a:path w="1962150" h="228600">
                  <a:moveTo>
                    <a:pt x="0" y="0"/>
                  </a:moveTo>
                  <a:lnTo>
                    <a:pt x="1962150" y="228600"/>
                  </a:lnTo>
                </a:path>
              </a:pathLst>
            </a:custGeom>
            <a:noFill/>
            <a:ln w="13335" cap="rnd">
              <a:solidFill>
                <a:srgbClr val="34D3C0"/>
              </a:solidFill>
            </a:ln>
          </p:spPr>
        </p:sp>
        <p:sp>
          <p:nvSpPr>
            <p:cNvPr id="13" name="Line 13"/>
            <p:cNvSpPr/>
            <p:nvPr/>
          </p:nvSpPr>
          <p:spPr>
            <a:xfrm>
              <a:off x="1390650" y="2667000"/>
              <a:ext cx="1962150" cy="457200"/>
            </a:xfrm>
            <a:custGeom>
              <a:avLst/>
              <a:gdLst/>
              <a:ahLst/>
              <a:cxnLst/>
              <a:rect l="l" t="t" r="r" b="b"/>
              <a:pathLst>
                <a:path w="1962150" h="457200">
                  <a:moveTo>
                    <a:pt x="0" y="457200"/>
                  </a:moveTo>
                  <a:lnTo>
                    <a:pt x="1962150" y="0"/>
                  </a:lnTo>
                </a:path>
              </a:pathLst>
            </a:custGeom>
            <a:noFill/>
            <a:ln w="13335" cap="rnd">
              <a:solidFill>
                <a:srgbClr val="34D3C0"/>
              </a:solidFill>
            </a:ln>
          </p:spPr>
        </p:sp>
        <p:sp>
          <p:nvSpPr>
            <p:cNvPr id="14" name="Ellipse 14"/>
            <p:cNvSpPr/>
            <p:nvPr/>
          </p:nvSpPr>
          <p:spPr>
            <a:xfrm>
              <a:off x="1266825" y="2600325"/>
              <a:ext cx="133350" cy="133350"/>
            </a:xfrm>
            <a:prstGeom prst="ellipse">
              <a:avLst/>
            </a:prstGeom>
            <a:solidFill>
              <a:schemeClr val="accent6"/>
            </a:solidFill>
            <a:ln w="14288">
              <a:solidFill>
                <a:schemeClr val="accent2"/>
              </a:solidFill>
            </a:ln>
          </p:spPr>
        </p:sp>
        <p:sp>
          <p:nvSpPr>
            <p:cNvPr id="15" name="Ellipse 15"/>
            <p:cNvSpPr/>
            <p:nvPr/>
          </p:nvSpPr>
          <p:spPr>
            <a:xfrm>
              <a:off x="3343275" y="2600325"/>
              <a:ext cx="133350" cy="133350"/>
            </a:xfrm>
            <a:prstGeom prst="ellipse">
              <a:avLst/>
            </a:prstGeom>
            <a:solidFill>
              <a:schemeClr val="accent6"/>
            </a:solidFill>
            <a:ln w="14288">
              <a:solidFill>
                <a:srgbClr val="34D3C0"/>
              </a:solidFill>
            </a:ln>
          </p:spPr>
        </p:sp>
        <p:sp>
          <p:nvSpPr>
            <p:cNvPr id="16" name="Ellipse 16"/>
            <p:cNvSpPr/>
            <p:nvPr/>
          </p:nvSpPr>
          <p:spPr>
            <a:xfrm>
              <a:off x="1266825" y="2828925"/>
              <a:ext cx="133350" cy="133350"/>
            </a:xfrm>
            <a:prstGeom prst="ellipse">
              <a:avLst/>
            </a:prstGeom>
            <a:solidFill>
              <a:schemeClr val="accent6"/>
            </a:solidFill>
            <a:ln w="14288">
              <a:solidFill>
                <a:schemeClr val="accent2"/>
              </a:solidFill>
            </a:ln>
          </p:spPr>
        </p:sp>
        <p:sp>
          <p:nvSpPr>
            <p:cNvPr id="17" name="Ellipse 17"/>
            <p:cNvSpPr/>
            <p:nvPr/>
          </p:nvSpPr>
          <p:spPr>
            <a:xfrm>
              <a:off x="3343275" y="2828925"/>
              <a:ext cx="133350" cy="133350"/>
            </a:xfrm>
            <a:prstGeom prst="ellipse">
              <a:avLst/>
            </a:prstGeom>
            <a:solidFill>
              <a:schemeClr val="accent6"/>
            </a:solidFill>
            <a:ln w="14288">
              <a:solidFill>
                <a:srgbClr val="34D3C0"/>
              </a:solidFill>
            </a:ln>
          </p:spPr>
        </p:sp>
        <p:sp>
          <p:nvSpPr>
            <p:cNvPr id="18" name="Ellipse 18"/>
            <p:cNvSpPr/>
            <p:nvPr/>
          </p:nvSpPr>
          <p:spPr>
            <a:xfrm>
              <a:off x="1266825" y="3057525"/>
              <a:ext cx="133350" cy="133350"/>
            </a:xfrm>
            <a:prstGeom prst="ellipse">
              <a:avLst/>
            </a:prstGeom>
            <a:solidFill>
              <a:schemeClr val="accent6"/>
            </a:solidFill>
            <a:ln w="14288">
              <a:solidFill>
                <a:schemeClr val="accent2"/>
              </a:solidFill>
            </a:ln>
          </p:spPr>
        </p:sp>
        <p:sp>
          <p:nvSpPr>
            <p:cNvPr id="19" name="Ellipse 19"/>
            <p:cNvSpPr/>
            <p:nvPr/>
          </p:nvSpPr>
          <p:spPr>
            <a:xfrm>
              <a:off x="3343275" y="3057525"/>
              <a:ext cx="133350" cy="133350"/>
            </a:xfrm>
            <a:prstGeom prst="ellipse">
              <a:avLst/>
            </a:prstGeom>
            <a:solidFill>
              <a:schemeClr val="accent6"/>
            </a:solidFill>
            <a:ln w="14288">
              <a:solidFill>
                <a:srgbClr val="34D3C0"/>
              </a:solidFill>
            </a:ln>
          </p:spPr>
        </p:sp>
        <p:sp>
          <p:nvSpPr>
            <p:cNvPr id="20" name="TextBox 20"/>
            <p:cNvSpPr txBox="1"/>
            <p:nvPr/>
          </p:nvSpPr>
          <p:spPr>
            <a:xfrm>
              <a:off x="1064340" y="3221593"/>
              <a:ext cx="538319" cy="169069"/>
            </a:xfrm>
            <a:prstGeom prst="rect">
              <a:avLst/>
            </a:prstGeom>
            <a:noFill/>
            <a:ln>
              <a:noFill/>
            </a:ln>
          </p:spPr>
          <p:txBody>
            <a:bodyPr wrap="none" lIns="0" tIns="0" rIns="0" bIns="0" anchor="t" anchorCtr="0">
              <a:spAutoFit/>
            </a:bodyPr>
            <a:lstStyle/>
            <a:p>
              <a:pPr algn="ctr"/>
              <a:r>
                <a:rPr lang="en-US" sz="860" b="1" dirty="0">
                  <a:solidFill>
                    <a:schemeClr val="dk2"/>
                  </a:solidFill>
                  <a:latin typeface="+mn-lt"/>
                  <a:ea typeface="+mn-ea"/>
                  <a:cs typeface="+mn-cs"/>
                </a:rPr>
                <a:t>machines</a:t>
              </a:r>
            </a:p>
          </p:txBody>
        </p:sp>
        <p:sp>
          <p:nvSpPr>
            <p:cNvPr id="21" name="TextBox 21"/>
            <p:cNvSpPr txBox="1"/>
            <p:nvPr/>
          </p:nvSpPr>
          <p:spPr>
            <a:xfrm>
              <a:off x="3040502" y="3221593"/>
              <a:ext cx="738896" cy="169069"/>
            </a:xfrm>
            <a:prstGeom prst="rect">
              <a:avLst/>
            </a:prstGeom>
            <a:noFill/>
            <a:ln>
              <a:noFill/>
            </a:ln>
          </p:spPr>
          <p:txBody>
            <a:bodyPr wrap="none" lIns="0" tIns="0" rIns="0" bIns="0" anchor="t" anchorCtr="0">
              <a:spAutoFit/>
            </a:bodyPr>
            <a:lstStyle/>
            <a:p>
              <a:pPr algn="ctr"/>
              <a:r>
                <a:rPr lang="en-US" sz="860" b="1" dirty="0">
                  <a:solidFill>
                    <a:schemeClr val="dk2"/>
                  </a:solidFill>
                  <a:latin typeface="+mn-lt"/>
                  <a:ea typeface="+mn-ea"/>
                  <a:cs typeface="+mn-cs"/>
                </a:rPr>
                <a:t>routed msgs</a:t>
              </a:r>
            </a:p>
          </p:txBody>
        </p:sp>
        <p:sp>
          <p:nvSpPr>
            <p:cNvPr id="22" name="TextBox 22"/>
            <p:cNvSpPr txBox="1"/>
            <p:nvPr/>
          </p:nvSpPr>
          <p:spPr>
            <a:xfrm>
              <a:off x="3967937" y="2828449"/>
              <a:ext cx="1284327" cy="190690"/>
            </a:xfrm>
            <a:prstGeom prst="rect">
              <a:avLst/>
            </a:prstGeom>
            <a:noFill/>
            <a:ln>
              <a:noFill/>
            </a:ln>
          </p:spPr>
          <p:txBody>
            <a:bodyPr wrap="none" lIns="0" tIns="0" rIns="0" bIns="0" anchor="t" anchorCtr="0">
              <a:spAutoFit/>
            </a:bodyPr>
            <a:lstStyle/>
            <a:p>
              <a:pPr algn="ctr"/>
              <a:r>
                <a:rPr lang="en-US" sz="980" b="1" dirty="0">
                  <a:solidFill>
                    <a:schemeClr val="accent2"/>
                  </a:solidFill>
                  <a:latin typeface="+mn-lt"/>
                  <a:ea typeface="+mn-ea"/>
                  <a:cs typeface="+mn-cs"/>
                </a:rPr>
                <a:t>= 1 attention layer</a:t>
              </a:r>
            </a:p>
          </p:txBody>
        </p:sp>
      </p:grpSp>
      <p:grpSp>
        <p:nvGrpSpPr>
          <p:cNvPr id="35" name="Group 35"/>
          <p:cNvGrpSpPr/>
          <p:nvPr/>
        </p:nvGrpSpPr>
        <p:grpSpPr>
          <a:xfrm>
            <a:off x="6172200" y="1447800"/>
            <a:ext cx="5410200" cy="1885950"/>
            <a:chOff x="6172200" y="1447800"/>
            <a:chExt cx="5410200" cy="1885950"/>
          </a:xfrm>
        </p:grpSpPr>
        <p:sp>
          <p:nvSpPr>
            <p:cNvPr id="24" name="Rectangle 24"/>
            <p:cNvSpPr/>
            <p:nvPr/>
          </p:nvSpPr>
          <p:spPr>
            <a:xfrm>
              <a:off x="6172200" y="1447800"/>
              <a:ext cx="5410200" cy="1885950"/>
            </a:xfrm>
            <a:prstGeom prst="roundRect">
              <a:avLst>
                <a:gd name="adj" fmla="val 7071"/>
              </a:avLst>
            </a:prstGeom>
            <a:solidFill>
              <a:schemeClr val="accent5"/>
            </a:solidFill>
            <a:ln w="14288">
              <a:solidFill>
                <a:srgbClr val="26455F"/>
              </a:solidFill>
            </a:ln>
          </p:spPr>
        </p:sp>
        <p:sp>
          <p:nvSpPr>
            <p:cNvPr id="25" name="Rectangle 25"/>
            <p:cNvSpPr/>
            <p:nvPr/>
          </p:nvSpPr>
          <p:spPr>
            <a:xfrm>
              <a:off x="6172200" y="1447800"/>
              <a:ext cx="57150" cy="1885950"/>
            </a:xfrm>
            <a:prstGeom prst="roundRect">
              <a:avLst>
                <a:gd name="adj" fmla="val 50000"/>
              </a:avLst>
            </a:prstGeom>
            <a:solidFill>
              <a:srgbClr val="F2C14E"/>
            </a:solidFill>
            <a:ln>
              <a:noFill/>
            </a:ln>
          </p:spPr>
        </p:sp>
        <p:sp>
          <p:nvSpPr>
            <p:cNvPr id="26" name="TextBox 26"/>
            <p:cNvSpPr txBox="1"/>
            <p:nvPr/>
          </p:nvSpPr>
          <p:spPr>
            <a:xfrm>
              <a:off x="6432614" y="1676162"/>
              <a:ext cx="2981711" cy="242030"/>
            </a:xfrm>
            <a:prstGeom prst="rect">
              <a:avLst/>
            </a:prstGeom>
            <a:noFill/>
            <a:ln>
              <a:noFill/>
            </a:ln>
          </p:spPr>
          <p:txBody>
            <a:bodyPr wrap="none" lIns="0" tIns="0" rIns="0" bIns="0" anchor="t" anchorCtr="0">
              <a:spAutoFit/>
            </a:bodyPr>
            <a:lstStyle/>
            <a:p>
              <a:pPr algn="l"/>
              <a:r>
                <a:rPr lang="en-US" sz="1240" b="1" dirty="0">
                  <a:solidFill>
                    <a:srgbClr val="F2C14E"/>
                  </a:solidFill>
                  <a:latin typeface="+mn-lt"/>
                  <a:ea typeface="+mn-ea"/>
                  <a:cs typeface="+mn-cs"/>
                </a:rPr>
                <a:t>Lemma 3.2 · keep it tall and skinny</a:t>
              </a:r>
            </a:p>
          </p:txBody>
        </p:sp>
        <p:sp>
          <p:nvSpPr>
            <p:cNvPr id="27" name="TextBox 27"/>
            <p:cNvSpPr txBox="1"/>
            <p:nvPr/>
          </p:nvSpPr>
          <p:spPr>
            <a:xfrm>
              <a:off x="6433566" y="1963102"/>
              <a:ext cx="414986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Encode each message redundantly with multiple hashing, and</a:t>
              </a:r>
            </a:p>
          </p:txBody>
        </p:sp>
        <p:sp>
          <p:nvSpPr>
            <p:cNvPr id="28" name="TextBox 28"/>
            <p:cNvSpPr txBox="1"/>
            <p:nvPr/>
          </p:nvSpPr>
          <p:spPr>
            <a:xfrm>
              <a:off x="6433566" y="2163128"/>
              <a:ext cx="230762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move it with sparse propagation.</a:t>
              </a:r>
            </a:p>
          </p:txBody>
        </p:sp>
        <p:sp>
          <p:nvSpPr>
            <p:cNvPr id="29" name="Rectangle 29"/>
            <p:cNvSpPr/>
            <p:nvPr/>
          </p:nvSpPr>
          <p:spPr>
            <a:xfrm>
              <a:off x="6438900" y="2533650"/>
              <a:ext cx="4876800" cy="304800"/>
            </a:xfrm>
            <a:prstGeom prst="roundRect">
              <a:avLst>
                <a:gd name="adj" fmla="val 25000"/>
              </a:avLst>
            </a:prstGeom>
            <a:solidFill>
              <a:schemeClr val="accent6"/>
            </a:solidFill>
            <a:ln w="14288">
              <a:solidFill>
                <a:srgbClr val="26455F"/>
              </a:solidFill>
            </a:ln>
          </p:spPr>
        </p:sp>
        <p:sp>
          <p:nvSpPr>
            <p:cNvPr id="30" name="Ellipse 30"/>
            <p:cNvSpPr/>
            <p:nvPr/>
          </p:nvSpPr>
          <p:spPr>
            <a:xfrm>
              <a:off x="6562725" y="2638425"/>
              <a:ext cx="95250" cy="95250"/>
            </a:xfrm>
            <a:prstGeom prst="ellipse">
              <a:avLst/>
            </a:prstGeom>
            <a:solidFill>
              <a:srgbClr val="F2C14E"/>
            </a:solidFill>
            <a:ln>
              <a:noFill/>
            </a:ln>
          </p:spPr>
        </p:sp>
        <p:sp>
          <p:nvSpPr>
            <p:cNvPr id="31" name="TextBox 31"/>
            <p:cNvSpPr txBox="1"/>
            <p:nvPr/>
          </p:nvSpPr>
          <p:spPr>
            <a:xfrm>
              <a:off x="6757797" y="2628424"/>
              <a:ext cx="2544895" cy="190690"/>
            </a:xfrm>
            <a:prstGeom prst="rect">
              <a:avLst/>
            </a:prstGeom>
            <a:noFill/>
            <a:ln>
              <a:noFill/>
            </a:ln>
          </p:spPr>
          <p:txBody>
            <a:bodyPr wrap="none" lIns="0" tIns="0" rIns="0" bIns="0" anchor="t" anchorCtr="0">
              <a:spAutoFit/>
            </a:bodyPr>
            <a:lstStyle/>
            <a:p>
              <a:pPr algn="l"/>
              <a:r>
                <a:rPr lang="en-US" sz="980" b="1" dirty="0">
                  <a:solidFill>
                    <a:schemeClr val="dk1"/>
                  </a:solidFill>
                  <a:latin typeface="+mn-lt"/>
                  <a:ea typeface="+mn-ea"/>
                  <a:cs typeface="+mn-cs"/>
                </a:rPr>
                <a:t>multiple hashing + sparse propagation</a:t>
              </a:r>
            </a:p>
          </p:txBody>
        </p:sp>
        <p:sp>
          <p:nvSpPr>
            <p:cNvPr id="32" name="Rectangle 32"/>
            <p:cNvSpPr/>
            <p:nvPr/>
          </p:nvSpPr>
          <p:spPr>
            <a:xfrm>
              <a:off x="6438900" y="2914650"/>
              <a:ext cx="4876800" cy="304800"/>
            </a:xfrm>
            <a:prstGeom prst="roundRect">
              <a:avLst>
                <a:gd name="adj" fmla="val 25000"/>
              </a:avLst>
            </a:prstGeom>
            <a:solidFill>
              <a:schemeClr val="accent6"/>
            </a:solidFill>
            <a:ln w="14288">
              <a:solidFill>
                <a:srgbClr val="26455F"/>
              </a:solidFill>
            </a:ln>
          </p:spPr>
        </p:sp>
        <p:sp>
          <p:nvSpPr>
            <p:cNvPr id="33" name="Ellipse 33"/>
            <p:cNvSpPr/>
            <p:nvPr/>
          </p:nvSpPr>
          <p:spPr>
            <a:xfrm>
              <a:off x="6562725" y="3019425"/>
              <a:ext cx="95250" cy="95250"/>
            </a:xfrm>
            <a:prstGeom prst="ellipse">
              <a:avLst/>
            </a:prstGeom>
            <a:solidFill>
              <a:srgbClr val="34D3C0"/>
            </a:solidFill>
            <a:ln>
              <a:noFill/>
            </a:ln>
          </p:spPr>
        </p:sp>
        <p:sp>
          <p:nvSpPr>
            <p:cNvPr id="34" name="TextBox 34"/>
            <p:cNvSpPr txBox="1"/>
            <p:nvPr/>
          </p:nvSpPr>
          <p:spPr>
            <a:xfrm>
              <a:off x="6757797" y="3009424"/>
              <a:ext cx="2768206" cy="190690"/>
            </a:xfrm>
            <a:prstGeom prst="rect">
              <a:avLst/>
            </a:prstGeom>
            <a:noFill/>
            <a:ln>
              <a:noFill/>
            </a:ln>
          </p:spPr>
          <p:txBody>
            <a:bodyPr wrap="none" lIns="0" tIns="0" rIns="0" bIns="0" anchor="t" anchorCtr="0">
              <a:spAutoFit/>
            </a:bodyPr>
            <a:lstStyle/>
            <a:p>
              <a:pPr algn="l"/>
              <a:r>
                <a:rPr lang="en-US" sz="980" b="1" dirty="0">
                  <a:solidFill>
                    <a:schemeClr val="dk1"/>
                  </a:solidFill>
                  <a:latin typeface="+mn-lt"/>
                  <a:ea typeface="+mn-ea"/>
                  <a:cs typeface="+mn-cs"/>
                </a:rPr>
                <a:t>tall-skinny Q/K/V -&gt; small embedding dim</a:t>
              </a:r>
            </a:p>
          </p:txBody>
        </p:sp>
      </p:grpSp>
      <p:grpSp>
        <p:nvGrpSpPr>
          <p:cNvPr id="43" name="Group 43"/>
          <p:cNvGrpSpPr/>
          <p:nvPr/>
        </p:nvGrpSpPr>
        <p:grpSpPr>
          <a:xfrm>
            <a:off x="609600" y="3448050"/>
            <a:ext cx="5410200" cy="1885950"/>
            <a:chOff x="609600" y="3448050"/>
            <a:chExt cx="5410200" cy="1885950"/>
          </a:xfrm>
        </p:grpSpPr>
        <p:sp>
          <p:nvSpPr>
            <p:cNvPr id="36" name="Rectangle 36"/>
            <p:cNvSpPr/>
            <p:nvPr/>
          </p:nvSpPr>
          <p:spPr>
            <a:xfrm>
              <a:off x="609600" y="3448050"/>
              <a:ext cx="5410200" cy="1885950"/>
            </a:xfrm>
            <a:prstGeom prst="roundRect">
              <a:avLst>
                <a:gd name="adj" fmla="val 7071"/>
              </a:avLst>
            </a:prstGeom>
            <a:solidFill>
              <a:schemeClr val="accent5"/>
            </a:solidFill>
            <a:ln w="14288">
              <a:solidFill>
                <a:srgbClr val="26455F"/>
              </a:solidFill>
            </a:ln>
          </p:spPr>
        </p:sp>
        <p:sp>
          <p:nvSpPr>
            <p:cNvPr id="37" name="Rectangle 37"/>
            <p:cNvSpPr/>
            <p:nvPr/>
          </p:nvSpPr>
          <p:spPr>
            <a:xfrm>
              <a:off x="609600" y="3448050"/>
              <a:ext cx="57150" cy="1885950"/>
            </a:xfrm>
            <a:prstGeom prst="roundRect">
              <a:avLst>
                <a:gd name="adj" fmla="val 50000"/>
              </a:avLst>
            </a:prstGeom>
            <a:solidFill>
              <a:srgbClr val="34D3C0"/>
            </a:solidFill>
            <a:ln>
              <a:noFill/>
            </a:ln>
          </p:spPr>
        </p:sp>
        <p:sp>
          <p:nvSpPr>
            <p:cNvPr id="38" name="TextBox 38"/>
            <p:cNvSpPr txBox="1"/>
            <p:nvPr/>
          </p:nvSpPr>
          <p:spPr>
            <a:xfrm>
              <a:off x="870014" y="3676412"/>
              <a:ext cx="1429243" cy="242030"/>
            </a:xfrm>
            <a:prstGeom prst="rect">
              <a:avLst/>
            </a:prstGeom>
            <a:noFill/>
            <a:ln>
              <a:noFill/>
            </a:ln>
          </p:spPr>
          <p:txBody>
            <a:bodyPr wrap="none" lIns="0" tIns="0" rIns="0" bIns="0" anchor="t" anchorCtr="0">
              <a:spAutoFit/>
            </a:bodyPr>
            <a:lstStyle/>
            <a:p>
              <a:pPr algn="l"/>
              <a:r>
                <a:rPr lang="en-US" sz="1240" b="1" dirty="0">
                  <a:solidFill>
                    <a:srgbClr val="34D3C0"/>
                  </a:solidFill>
                  <a:latin typeface="+mn-lt"/>
                  <a:ea typeface="+mn-ea"/>
                  <a:cs typeface="+mn-cs"/>
                </a:rPr>
                <a:t>Stack the layers</a:t>
              </a:r>
            </a:p>
          </p:txBody>
        </p:sp>
        <p:sp>
          <p:nvSpPr>
            <p:cNvPr id="39" name="Rectangle 39"/>
            <p:cNvSpPr/>
            <p:nvPr/>
          </p:nvSpPr>
          <p:spPr>
            <a:xfrm>
              <a:off x="876300" y="4000500"/>
              <a:ext cx="4876800" cy="438150"/>
            </a:xfrm>
            <a:prstGeom prst="roundRect">
              <a:avLst>
                <a:gd name="adj" fmla="val 17391"/>
              </a:avLst>
            </a:prstGeom>
            <a:solidFill>
              <a:schemeClr val="accent6"/>
            </a:solidFill>
            <a:ln w="14288">
              <a:solidFill>
                <a:srgbClr val="26455F"/>
              </a:solidFill>
            </a:ln>
          </p:spPr>
        </p:sp>
        <p:sp>
          <p:nvSpPr>
            <p:cNvPr id="40" name="TextBox 40"/>
            <p:cNvSpPr txBox="1"/>
            <p:nvPr/>
          </p:nvSpPr>
          <p:spPr>
            <a:xfrm>
              <a:off x="1877799" y="4149804"/>
              <a:ext cx="2873803" cy="212693"/>
            </a:xfrm>
            <a:prstGeom prst="rect">
              <a:avLst/>
            </a:prstGeom>
            <a:noFill/>
            <a:ln>
              <a:noFill/>
            </a:ln>
          </p:spPr>
          <p:txBody>
            <a:bodyPr wrap="none" lIns="0" tIns="0" rIns="0" bIns="0" anchor="t" anchorCtr="0">
              <a:spAutoFit/>
            </a:bodyPr>
            <a:lstStyle/>
            <a:p>
              <a:pPr algn="ctr"/>
              <a:r>
                <a:rPr lang="en-US" sz="1090" b="1" dirty="0">
                  <a:solidFill>
                    <a:schemeClr val="dk1"/>
                  </a:solidFill>
                  <a:latin typeface="Consolas"/>
                  <a:ea typeface="Consolas"/>
                  <a:cs typeface="Consolas"/>
                </a:rPr>
                <a:t>R communication rounds -&gt; depth R + 1</a:t>
              </a:r>
            </a:p>
          </p:txBody>
        </p:sp>
        <p:sp>
          <p:nvSpPr>
            <p:cNvPr id="41" name="TextBox 41"/>
            <p:cNvSpPr txBox="1"/>
            <p:nvPr/>
          </p:nvSpPr>
          <p:spPr>
            <a:xfrm>
              <a:off x="871156" y="4538901"/>
              <a:ext cx="4229741"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The reverse direction packs a whole transformer layer into one</a:t>
              </a:r>
            </a:p>
          </p:txBody>
        </p:sp>
        <p:sp>
          <p:nvSpPr>
            <p:cNvPr id="42" name="TextBox 42"/>
            <p:cNvSpPr txBox="1"/>
            <p:nvPr/>
          </p:nvSpPr>
          <p:spPr>
            <a:xfrm>
              <a:off x="871156" y="4738926"/>
              <a:ext cx="4104010"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MPC round, so transformers are no stronger than the model.</a:t>
              </a:r>
            </a:p>
          </p:txBody>
        </p:sp>
      </p:grpSp>
      <p:grpSp>
        <p:nvGrpSpPr>
          <p:cNvPr id="51" name="Group 51"/>
          <p:cNvGrpSpPr/>
          <p:nvPr/>
        </p:nvGrpSpPr>
        <p:grpSpPr>
          <a:xfrm>
            <a:off x="6172200" y="3448050"/>
            <a:ext cx="5410200" cy="1885950"/>
            <a:chOff x="6172200" y="3448050"/>
            <a:chExt cx="5410200" cy="1885950"/>
          </a:xfrm>
        </p:grpSpPr>
        <p:sp>
          <p:nvSpPr>
            <p:cNvPr id="44" name="Rectangle 44"/>
            <p:cNvSpPr/>
            <p:nvPr/>
          </p:nvSpPr>
          <p:spPr>
            <a:xfrm>
              <a:off x="6172200" y="3448050"/>
              <a:ext cx="5410200" cy="1885950"/>
            </a:xfrm>
            <a:prstGeom prst="roundRect">
              <a:avLst>
                <a:gd name="adj" fmla="val 7071"/>
              </a:avLst>
            </a:prstGeom>
            <a:solidFill>
              <a:srgbClr val="0F2E2B"/>
            </a:solidFill>
            <a:ln w="14288">
              <a:solidFill>
                <a:srgbClr val="48C78E"/>
              </a:solidFill>
            </a:ln>
          </p:spPr>
        </p:sp>
        <p:sp>
          <p:nvSpPr>
            <p:cNvPr id="45" name="Rectangle 45"/>
            <p:cNvSpPr/>
            <p:nvPr/>
          </p:nvSpPr>
          <p:spPr>
            <a:xfrm>
              <a:off x="6172200" y="3448050"/>
              <a:ext cx="57150" cy="1885950"/>
            </a:xfrm>
            <a:prstGeom prst="roundRect">
              <a:avLst>
                <a:gd name="adj" fmla="val 50000"/>
              </a:avLst>
            </a:prstGeom>
            <a:solidFill>
              <a:srgbClr val="48C78E"/>
            </a:solidFill>
            <a:ln>
              <a:noFill/>
            </a:ln>
          </p:spPr>
        </p:sp>
        <p:sp>
          <p:nvSpPr>
            <p:cNvPr id="46" name="TextBox 46"/>
            <p:cNvSpPr txBox="1"/>
            <p:nvPr/>
          </p:nvSpPr>
          <p:spPr>
            <a:xfrm>
              <a:off x="6432614" y="3676412"/>
              <a:ext cx="2007874" cy="242030"/>
            </a:xfrm>
            <a:prstGeom prst="rect">
              <a:avLst/>
            </a:prstGeom>
            <a:noFill/>
            <a:ln>
              <a:noFill/>
            </a:ln>
          </p:spPr>
          <p:txBody>
            <a:bodyPr wrap="none" lIns="0" tIns="0" rIns="0" bIns="0" anchor="t" anchorCtr="0">
              <a:spAutoFit/>
            </a:bodyPr>
            <a:lstStyle/>
            <a:p>
              <a:pPr algn="l"/>
              <a:r>
                <a:rPr lang="en-US" sz="1240" b="1" dirty="0">
                  <a:solidFill>
                    <a:srgbClr val="48C78E"/>
                  </a:solidFill>
                  <a:latin typeface="+mn-lt"/>
                  <a:ea typeface="+mn-ea"/>
                  <a:cs typeface="+mn-cs"/>
                </a:rPr>
                <a:t>The k-hop construction</a:t>
              </a:r>
            </a:p>
          </p:txBody>
        </p:sp>
        <p:sp>
          <p:nvSpPr>
            <p:cNvPr id="47" name="TextBox 47"/>
            <p:cNvSpPr txBox="1"/>
            <p:nvPr/>
          </p:nvSpPr>
          <p:spPr>
            <a:xfrm>
              <a:off x="6433566" y="3963352"/>
              <a:ext cx="423477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 tailored, causally-masked construction of constant width,</a:t>
              </a:r>
            </a:p>
          </p:txBody>
        </p:sp>
        <p:sp>
          <p:nvSpPr>
            <p:cNvPr id="48" name="TextBox 48"/>
            <p:cNvSpPr txBox="1"/>
            <p:nvPr/>
          </p:nvSpPr>
          <p:spPr>
            <a:xfrm>
              <a:off x="6433566" y="4163378"/>
              <a:ext cx="137470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with depth exactly:</a:t>
              </a:r>
            </a:p>
          </p:txBody>
        </p:sp>
        <p:sp>
          <p:nvSpPr>
            <p:cNvPr id="49" name="Rectangle 49"/>
            <p:cNvSpPr/>
            <p:nvPr/>
          </p:nvSpPr>
          <p:spPr>
            <a:xfrm>
              <a:off x="6438900" y="4476750"/>
              <a:ext cx="4876800" cy="552450"/>
            </a:xfrm>
            <a:prstGeom prst="roundRect">
              <a:avLst>
                <a:gd name="adj" fmla="val 17241"/>
              </a:avLst>
            </a:prstGeom>
            <a:solidFill>
              <a:schemeClr val="accent6"/>
            </a:solidFill>
            <a:ln w="14288">
              <a:solidFill>
                <a:srgbClr val="48C78E"/>
              </a:solidFill>
            </a:ln>
          </p:spPr>
        </p:sp>
        <p:sp>
          <p:nvSpPr>
            <p:cNvPr id="50" name="TextBox 50"/>
            <p:cNvSpPr txBox="1"/>
            <p:nvPr/>
          </p:nvSpPr>
          <p:spPr>
            <a:xfrm>
              <a:off x="7760901" y="4657725"/>
              <a:ext cx="2232797" cy="293370"/>
            </a:xfrm>
            <a:prstGeom prst="rect">
              <a:avLst/>
            </a:prstGeom>
            <a:noFill/>
            <a:ln>
              <a:noFill/>
            </a:ln>
          </p:spPr>
          <p:txBody>
            <a:bodyPr wrap="none" lIns="0" tIns="0" rIns="0" bIns="0" anchor="t" anchorCtr="0">
              <a:spAutoFit/>
            </a:bodyPr>
            <a:lstStyle/>
            <a:p>
              <a:pPr algn="ctr"/>
              <a:r>
                <a:rPr lang="en-US" sz="1500" b="1" dirty="0">
                  <a:solidFill>
                    <a:srgbClr val="48C78E"/>
                  </a:solidFill>
                  <a:latin typeface="Consolas"/>
                  <a:ea typeface="Consolas"/>
                  <a:cs typeface="Consolas"/>
                </a:rPr>
                <a:t>L = floor( log2 k ) + 2</a:t>
              </a:r>
            </a:p>
          </p:txBody>
        </p:sp>
      </p:grpSp>
      <p:sp>
        <p:nvSpPr>
          <p:cNvPr id="52" name="cue_s05_c1_heart_forward_simulation_routing_gad" title="cue_s05_c1_heart_forward_simulation_routing_gad" descr="cue_s05_c1_heart_forward_simulation_routing_gad The heart of the forward simulation is a routing gadget. In MPC, each round ends with machines sending addressed messages to one another, and the authors show a single self-attention layer can perform exactly this routing."/>
          <p:cNvSpPr/>
          <p:nvPr/>
        </p:nvSpPr>
        <p:spPr>
          <a:xfrm>
            <a:off x="609600" y="1447723"/>
            <a:ext cx="5409590" cy="19428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cue_s05_c2_trick_captured_lemma_3_2_encode" title="cue_s05_c2_trick_captured_lemma_3_2_encode" descr="cue_s05_c2_trick_captured_lemma_3_2_encode The trick, captured in Lemma 3.2, is to encode each message redundantly in multiple fixed locations using multiple hashing, and to move information with sparse propagation, which keeps the query, key, and value matrices tall and skinny so the embedding dimensi"/>
          <p:cNvSpPr/>
          <p:nvPr/>
        </p:nvSpPr>
        <p:spPr>
          <a:xfrm>
            <a:off x="6171590" y="1447723"/>
            <a:ext cx="5409590" cy="188595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cue_s05_c3_put_one_such_layer_per" title="cue_s05_c3_put_one_such_layer_per" descr="cue_s05_c3_put_one_such_layer_per Put one such layer per communication round and a protocol of R rounds becomes a transformer of depth R plus one. The reverse direction packs a whole transformer layer into a single MPC round, proving transformers are no stronger than the model."/>
          <p:cNvSpPr/>
          <p:nvPr/>
        </p:nvSpPr>
        <p:spPr>
          <a:xfrm>
            <a:off x="609600" y="3448202"/>
            <a:ext cx="5409590" cy="188595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cue_s05_c4_k_hop_task_specifically_they_give" title="cue_s05_c4_k_hop_task_specifically_they_give" descr="cue_s05_c4_k_hop_task_specifically_they_give For the k-hop task specifically, they give a tailored, causally-masked construction of constant width whose depth is exactly floor of log base two of k, plus two."/>
          <p:cNvSpPr/>
          <p:nvPr/>
        </p:nvSpPr>
        <p:spPr>
          <a:xfrm>
            <a:off x="6171590" y="3448202"/>
            <a:ext cx="5409590" cy="188595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2190604"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DATASET / BENCHMARK</a:t>
            </a:r>
          </a:p>
        </p:txBody>
      </p:sp>
      <p:sp>
        <p:nvSpPr>
          <p:cNvPr id="4" name="TextBox 4"/>
          <p:cNvSpPr txBox="1"/>
          <p:nvPr/>
        </p:nvSpPr>
        <p:spPr>
          <a:xfrm>
            <a:off x="598170" y="804862"/>
            <a:ext cx="4804258"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The k-hop induction heads task</a:t>
            </a:r>
          </a:p>
        </p:txBody>
      </p:sp>
      <p:grpSp>
        <p:nvGrpSpPr>
          <p:cNvPr id="12" name="Group 12"/>
          <p:cNvGrpSpPr/>
          <p:nvPr/>
        </p:nvGrpSpPr>
        <p:grpSpPr>
          <a:xfrm>
            <a:off x="609600" y="1447800"/>
            <a:ext cx="10972800" cy="914400"/>
            <a:chOff x="609600" y="1447800"/>
            <a:chExt cx="10972800" cy="914400"/>
          </a:xfrm>
        </p:grpSpPr>
        <p:sp>
          <p:nvSpPr>
            <p:cNvPr id="5" name="Rectangle 5"/>
            <p:cNvSpPr/>
            <p:nvPr/>
          </p:nvSpPr>
          <p:spPr>
            <a:xfrm>
              <a:off x="609600" y="1447800"/>
              <a:ext cx="10972800" cy="914400"/>
            </a:xfrm>
            <a:prstGeom prst="roundRect">
              <a:avLst>
                <a:gd name="adj" fmla="val 14583"/>
              </a:avLst>
            </a:prstGeom>
            <a:solidFill>
              <a:schemeClr val="accent5"/>
            </a:solidFill>
            <a:ln w="14288">
              <a:solidFill>
                <a:srgbClr val="26455F"/>
              </a:solidFill>
            </a:ln>
          </p:spPr>
        </p:sp>
        <p:sp>
          <p:nvSpPr>
            <p:cNvPr id="6" name="Rectangle 6"/>
            <p:cNvSpPr/>
            <p:nvPr/>
          </p:nvSpPr>
          <p:spPr>
            <a:xfrm>
              <a:off x="609600" y="1447800"/>
              <a:ext cx="57150" cy="914400"/>
            </a:xfrm>
            <a:prstGeom prst="roundRect">
              <a:avLst>
                <a:gd name="adj" fmla="val 50000"/>
              </a:avLst>
            </a:prstGeom>
            <a:solidFill>
              <a:schemeClr val="accent2"/>
            </a:solidFill>
            <a:ln>
              <a:noFill/>
            </a:ln>
          </p:spPr>
        </p:sp>
        <p:sp>
          <p:nvSpPr>
            <p:cNvPr id="7" name="TextBox 7"/>
            <p:cNvSpPr txBox="1"/>
            <p:nvPr/>
          </p:nvSpPr>
          <p:spPr>
            <a:xfrm>
              <a:off x="870204" y="1642110"/>
              <a:ext cx="3062452" cy="234696"/>
            </a:xfrm>
            <a:prstGeom prst="rect">
              <a:avLst/>
            </a:prstGeom>
            <a:noFill/>
            <a:ln>
              <a:noFill/>
            </a:ln>
          </p:spPr>
          <p:txBody>
            <a:bodyPr wrap="none" lIns="0" tIns="0" rIns="0" bIns="0" anchor="t" anchorCtr="0">
              <a:spAutoFit/>
            </a:bodyPr>
            <a:lstStyle/>
            <a:p>
              <a:pPr algn="l"/>
              <a:r>
                <a:rPr lang="en-US" sz="1200" b="1" dirty="0">
                  <a:solidFill>
                    <a:schemeClr val="accent2"/>
                  </a:solidFill>
                  <a:latin typeface="+mn-lt"/>
                  <a:ea typeface="+mn-ea"/>
                  <a:cs typeface="+mn-cs"/>
                </a:rPr>
                <a:t>Start from standard induction heads</a:t>
              </a:r>
            </a:p>
          </p:txBody>
        </p:sp>
        <p:sp>
          <p:nvSpPr>
            <p:cNvPr id="8" name="TextBox 8"/>
            <p:cNvSpPr txBox="1"/>
            <p:nvPr/>
          </p:nvSpPr>
          <p:spPr>
            <a:xfrm>
              <a:off x="870776" y="1920954"/>
              <a:ext cx="5166417"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Complete a bigram: predict the token that followed the last occurrence</a:t>
              </a:r>
            </a:p>
          </p:txBody>
        </p:sp>
        <p:sp>
          <p:nvSpPr>
            <p:cNvPr id="9" name="TextBox 9"/>
            <p:cNvSpPr txBox="1"/>
            <p:nvPr/>
          </p:nvSpPr>
          <p:spPr>
            <a:xfrm>
              <a:off x="870776" y="2130504"/>
              <a:ext cx="1595796"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of the current token.</a:t>
              </a:r>
            </a:p>
          </p:txBody>
        </p:sp>
        <p:sp>
          <p:nvSpPr>
            <p:cNvPr id="10" name="TextBox 10"/>
            <p:cNvSpPr txBox="1"/>
            <p:nvPr/>
          </p:nvSpPr>
          <p:spPr>
            <a:xfrm>
              <a:off x="6661785" y="1745456"/>
              <a:ext cx="1919103" cy="220028"/>
            </a:xfrm>
            <a:prstGeom prst="rect">
              <a:avLst/>
            </a:prstGeom>
            <a:noFill/>
            <a:ln>
              <a:noFill/>
            </a:ln>
          </p:spPr>
          <p:txBody>
            <a:bodyPr wrap="none" lIns="0" tIns="0" rIns="0" bIns="0" anchor="t" anchorCtr="0">
              <a:spAutoFit/>
            </a:bodyPr>
            <a:lstStyle/>
            <a:p>
              <a:pPr algn="l"/>
              <a:r>
                <a:rPr lang="en-US" sz="1120" b="1" dirty="0">
                  <a:solidFill>
                    <a:schemeClr val="dk1"/>
                  </a:solidFill>
                  <a:latin typeface="Consolas"/>
                  <a:ea typeface="Consolas"/>
                  <a:cs typeface="Consolas"/>
                </a:rPr>
                <a:t>... a b ... c d ... a -&gt; ?</a:t>
              </a:r>
            </a:p>
          </p:txBody>
        </p:sp>
        <p:sp>
          <p:nvSpPr>
            <p:cNvPr id="11" name="TextBox 11"/>
            <p:cNvSpPr txBox="1"/>
            <p:nvPr/>
          </p:nvSpPr>
          <p:spPr>
            <a:xfrm>
              <a:off x="6662547" y="2028349"/>
              <a:ext cx="2773459" cy="190690"/>
            </a:xfrm>
            <a:prstGeom prst="rect">
              <a:avLst/>
            </a:prstGeom>
            <a:noFill/>
            <a:ln>
              <a:noFill/>
            </a:ln>
          </p:spPr>
          <p:txBody>
            <a:bodyPr wrap="none" lIns="0" tIns="0" rIns="0" bIns="0" anchor="t" anchorCtr="0">
              <a:spAutoFit/>
            </a:bodyPr>
            <a:lstStyle/>
            <a:p>
              <a:pPr algn="l"/>
              <a:r>
                <a:rPr lang="en-US" sz="980" b="1" dirty="0">
                  <a:solidFill>
                    <a:srgbClr val="34D3C0"/>
                  </a:solidFill>
                  <a:latin typeface="Consolas"/>
                  <a:ea typeface="Consolas"/>
                  <a:cs typeface="Consolas"/>
                </a:rPr>
                <a:t>last 'a' was followed by 'b' -&gt; predict b</a:t>
              </a:r>
            </a:p>
          </p:txBody>
        </p:sp>
      </p:grpSp>
      <p:grpSp>
        <p:nvGrpSpPr>
          <p:cNvPr id="21" name="Group 21"/>
          <p:cNvGrpSpPr/>
          <p:nvPr/>
        </p:nvGrpSpPr>
        <p:grpSpPr>
          <a:xfrm>
            <a:off x="609600" y="2514600"/>
            <a:ext cx="5334000" cy="1428750"/>
            <a:chOff x="609600" y="2514600"/>
            <a:chExt cx="5334000" cy="1428750"/>
          </a:xfrm>
        </p:grpSpPr>
        <p:sp>
          <p:nvSpPr>
            <p:cNvPr id="13" name="Rectangle 13"/>
            <p:cNvSpPr/>
            <p:nvPr/>
          </p:nvSpPr>
          <p:spPr>
            <a:xfrm>
              <a:off x="609600" y="2514600"/>
              <a:ext cx="5334000" cy="1428750"/>
            </a:xfrm>
            <a:prstGeom prst="roundRect">
              <a:avLst>
                <a:gd name="adj" fmla="val 9333"/>
              </a:avLst>
            </a:prstGeom>
            <a:solidFill>
              <a:schemeClr val="accent5"/>
            </a:solidFill>
            <a:ln w="14288">
              <a:solidFill>
                <a:srgbClr val="26455F"/>
              </a:solidFill>
            </a:ln>
          </p:spPr>
        </p:sp>
        <p:sp>
          <p:nvSpPr>
            <p:cNvPr id="14" name="Rectangle 14"/>
            <p:cNvSpPr/>
            <p:nvPr/>
          </p:nvSpPr>
          <p:spPr>
            <a:xfrm>
              <a:off x="609600" y="2514600"/>
              <a:ext cx="57150" cy="1428750"/>
            </a:xfrm>
            <a:prstGeom prst="roundRect">
              <a:avLst>
                <a:gd name="adj" fmla="val 50000"/>
              </a:avLst>
            </a:prstGeom>
            <a:solidFill>
              <a:srgbClr val="F2C14E"/>
            </a:solidFill>
            <a:ln>
              <a:noFill/>
            </a:ln>
          </p:spPr>
        </p:sp>
        <p:sp>
          <p:nvSpPr>
            <p:cNvPr id="15" name="TextBox 15"/>
            <p:cNvSpPr txBox="1"/>
            <p:nvPr/>
          </p:nvSpPr>
          <p:spPr>
            <a:xfrm>
              <a:off x="870014" y="2723912"/>
              <a:ext cx="2010711" cy="242030"/>
            </a:xfrm>
            <a:prstGeom prst="rect">
              <a:avLst/>
            </a:prstGeom>
            <a:noFill/>
            <a:ln>
              <a:noFill/>
            </a:ln>
          </p:spPr>
          <p:txBody>
            <a:bodyPr wrap="none" lIns="0" tIns="0" rIns="0" bIns="0" anchor="t" anchorCtr="0">
              <a:spAutoFit/>
            </a:bodyPr>
            <a:lstStyle/>
            <a:p>
              <a:pPr algn="l"/>
              <a:r>
                <a:rPr lang="en-US" sz="1240" b="1" dirty="0">
                  <a:solidFill>
                    <a:srgbClr val="F2C14E"/>
                  </a:solidFill>
                  <a:latin typeface="+mn-lt"/>
                  <a:ea typeface="+mn-ea"/>
                  <a:cs typeface="+mn-cs"/>
                </a:rPr>
                <a:t>k-hop chains the lookup</a:t>
              </a:r>
            </a:p>
          </p:txBody>
        </p:sp>
        <p:sp>
          <p:nvSpPr>
            <p:cNvPr id="16" name="TextBox 16"/>
            <p:cNvSpPr txBox="1"/>
            <p:nvPr/>
          </p:nvSpPr>
          <p:spPr>
            <a:xfrm>
              <a:off x="870776" y="3025854"/>
              <a:ext cx="3897093"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Use one completion to decide which bigram to complete</a:t>
              </a:r>
            </a:p>
          </p:txBody>
        </p:sp>
        <p:sp>
          <p:nvSpPr>
            <p:cNvPr id="17" name="TextBox 17"/>
            <p:cNvSpPr txBox="1"/>
            <p:nvPr/>
          </p:nvSpPr>
          <p:spPr>
            <a:xfrm>
              <a:off x="870776" y="3235404"/>
              <a:ext cx="1427049"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next, k times over.</a:t>
              </a:r>
            </a:p>
          </p:txBody>
        </p:sp>
        <p:sp>
          <p:nvSpPr>
            <p:cNvPr id="18" name="Rectangle 18"/>
            <p:cNvSpPr/>
            <p:nvPr/>
          </p:nvSpPr>
          <p:spPr>
            <a:xfrm>
              <a:off x="876300" y="3543300"/>
              <a:ext cx="4800600" cy="304800"/>
            </a:xfrm>
            <a:prstGeom prst="roundRect">
              <a:avLst>
                <a:gd name="adj" fmla="val 25000"/>
              </a:avLst>
            </a:prstGeom>
            <a:solidFill>
              <a:schemeClr val="accent6"/>
            </a:solidFill>
            <a:ln w="14288">
              <a:solidFill>
                <a:srgbClr val="26455F"/>
              </a:solidFill>
            </a:ln>
          </p:spPr>
        </p:sp>
        <p:sp>
          <p:nvSpPr>
            <p:cNvPr id="19" name="Ellipse 19"/>
            <p:cNvSpPr/>
            <p:nvPr/>
          </p:nvSpPr>
          <p:spPr>
            <a:xfrm>
              <a:off x="1000125" y="3648075"/>
              <a:ext cx="95250" cy="95250"/>
            </a:xfrm>
            <a:prstGeom prst="ellipse">
              <a:avLst/>
            </a:prstGeom>
            <a:solidFill>
              <a:srgbClr val="F2C14E"/>
            </a:solidFill>
            <a:ln>
              <a:noFill/>
            </a:ln>
          </p:spPr>
        </p:sp>
        <p:sp>
          <p:nvSpPr>
            <p:cNvPr id="20" name="TextBox 20"/>
            <p:cNvSpPr txBox="1"/>
            <p:nvPr/>
          </p:nvSpPr>
          <p:spPr>
            <a:xfrm>
              <a:off x="1195006" y="3634026"/>
              <a:ext cx="2630016" cy="198025"/>
            </a:xfrm>
            <a:prstGeom prst="rect">
              <a:avLst/>
            </a:prstGeom>
            <a:noFill/>
            <a:ln>
              <a:noFill/>
            </a:ln>
          </p:spPr>
          <p:txBody>
            <a:bodyPr wrap="none" lIns="0" tIns="0" rIns="0" bIns="0" anchor="t" anchorCtr="0">
              <a:spAutoFit/>
            </a:bodyPr>
            <a:lstStyle/>
            <a:p>
              <a:pPr algn="l"/>
              <a:r>
                <a:rPr lang="en-US" sz="1010" b="1" dirty="0">
                  <a:solidFill>
                    <a:schemeClr val="dk1"/>
                  </a:solidFill>
                  <a:latin typeface="+mn-lt"/>
                  <a:ea typeface="+mn-ea"/>
                  <a:cs typeface="+mn-cs"/>
                </a:rPr>
                <a:t>hop_k = find, then find again, k times</a:t>
              </a:r>
            </a:p>
          </p:txBody>
        </p:sp>
      </p:grpSp>
      <p:grpSp>
        <p:nvGrpSpPr>
          <p:cNvPr id="30" name="Group 30"/>
          <p:cNvGrpSpPr/>
          <p:nvPr/>
        </p:nvGrpSpPr>
        <p:grpSpPr>
          <a:xfrm>
            <a:off x="6248400" y="2514600"/>
            <a:ext cx="5334000" cy="1428750"/>
            <a:chOff x="6248400" y="2514600"/>
            <a:chExt cx="5334000" cy="1428750"/>
          </a:xfrm>
        </p:grpSpPr>
        <p:sp>
          <p:nvSpPr>
            <p:cNvPr id="22" name="Rectangle 22"/>
            <p:cNvSpPr/>
            <p:nvPr/>
          </p:nvSpPr>
          <p:spPr>
            <a:xfrm>
              <a:off x="6248400" y="2514600"/>
              <a:ext cx="5334000" cy="1428750"/>
            </a:xfrm>
            <a:prstGeom prst="roundRect">
              <a:avLst>
                <a:gd name="adj" fmla="val 9333"/>
              </a:avLst>
            </a:prstGeom>
            <a:solidFill>
              <a:schemeClr val="accent5"/>
            </a:solidFill>
            <a:ln w="14288">
              <a:solidFill>
                <a:srgbClr val="26455F"/>
              </a:solidFill>
            </a:ln>
          </p:spPr>
        </p:sp>
        <p:sp>
          <p:nvSpPr>
            <p:cNvPr id="23" name="Rectangle 23"/>
            <p:cNvSpPr/>
            <p:nvPr/>
          </p:nvSpPr>
          <p:spPr>
            <a:xfrm>
              <a:off x="6248400" y="2514600"/>
              <a:ext cx="57150" cy="1428750"/>
            </a:xfrm>
            <a:prstGeom prst="roundRect">
              <a:avLst>
                <a:gd name="adj" fmla="val 50000"/>
              </a:avLst>
            </a:prstGeom>
            <a:solidFill>
              <a:srgbClr val="34D3C0"/>
            </a:solidFill>
            <a:ln>
              <a:noFill/>
            </a:ln>
          </p:spPr>
        </p:sp>
        <p:sp>
          <p:nvSpPr>
            <p:cNvPr id="24" name="TextBox 24"/>
            <p:cNvSpPr txBox="1"/>
            <p:nvPr/>
          </p:nvSpPr>
          <p:spPr>
            <a:xfrm>
              <a:off x="6508814" y="2723912"/>
              <a:ext cx="1964246" cy="242030"/>
            </a:xfrm>
            <a:prstGeom prst="rect">
              <a:avLst/>
            </a:prstGeom>
            <a:noFill/>
            <a:ln>
              <a:noFill/>
            </a:ln>
          </p:spPr>
          <p:txBody>
            <a:bodyPr wrap="none" lIns="0" tIns="0" rIns="0" bIns="0" anchor="t" anchorCtr="0">
              <a:spAutoFit/>
            </a:bodyPr>
            <a:lstStyle/>
            <a:p>
              <a:pPr algn="l"/>
              <a:r>
                <a:rPr lang="en-US" sz="1240" b="1" dirty="0">
                  <a:solidFill>
                    <a:srgbClr val="34D3C0"/>
                  </a:solidFill>
                  <a:latin typeface="+mn-lt"/>
                  <a:ea typeface="+mn-ea"/>
                  <a:cs typeface="+mn-cs"/>
                </a:rPr>
                <a:t>Why it is a stress test</a:t>
              </a:r>
            </a:p>
          </p:txBody>
        </p:sp>
        <p:sp>
          <p:nvSpPr>
            <p:cNvPr id="25" name="TextBox 25"/>
            <p:cNvSpPr txBox="1"/>
            <p:nvPr/>
          </p:nvSpPr>
          <p:spPr>
            <a:xfrm>
              <a:off x="6509576" y="3025854"/>
              <a:ext cx="3882295"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It looks like it needs k sequential steps, yet a parallel</a:t>
              </a:r>
            </a:p>
          </p:txBody>
        </p:sp>
        <p:sp>
          <p:nvSpPr>
            <p:cNvPr id="26" name="TextBox 26"/>
            <p:cNvSpPr txBox="1"/>
            <p:nvPr/>
          </p:nvSpPr>
          <p:spPr>
            <a:xfrm>
              <a:off x="6509576" y="3235404"/>
              <a:ext cx="3635423"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architecture can fold it into logarithmically many.</a:t>
              </a:r>
            </a:p>
          </p:txBody>
        </p:sp>
        <p:sp>
          <p:nvSpPr>
            <p:cNvPr id="27" name="Rectangle 27"/>
            <p:cNvSpPr/>
            <p:nvPr/>
          </p:nvSpPr>
          <p:spPr>
            <a:xfrm>
              <a:off x="6515100" y="3543300"/>
              <a:ext cx="4800600" cy="304800"/>
            </a:xfrm>
            <a:prstGeom prst="roundRect">
              <a:avLst>
                <a:gd name="adj" fmla="val 25000"/>
              </a:avLst>
            </a:prstGeom>
            <a:solidFill>
              <a:schemeClr val="accent6"/>
            </a:solidFill>
            <a:ln w="14288">
              <a:solidFill>
                <a:srgbClr val="26455F"/>
              </a:solidFill>
            </a:ln>
          </p:spPr>
        </p:sp>
        <p:sp>
          <p:nvSpPr>
            <p:cNvPr id="28" name="Ellipse 28"/>
            <p:cNvSpPr/>
            <p:nvPr/>
          </p:nvSpPr>
          <p:spPr>
            <a:xfrm>
              <a:off x="6638925" y="3648075"/>
              <a:ext cx="95250" cy="95250"/>
            </a:xfrm>
            <a:prstGeom prst="ellipse">
              <a:avLst/>
            </a:prstGeom>
            <a:solidFill>
              <a:srgbClr val="34D3C0"/>
            </a:solidFill>
            <a:ln>
              <a:noFill/>
            </a:ln>
          </p:spPr>
        </p:sp>
        <p:sp>
          <p:nvSpPr>
            <p:cNvPr id="29" name="TextBox 29"/>
            <p:cNvSpPr txBox="1"/>
            <p:nvPr/>
          </p:nvSpPr>
          <p:spPr>
            <a:xfrm>
              <a:off x="6833806" y="3634026"/>
              <a:ext cx="2530081" cy="198025"/>
            </a:xfrm>
            <a:prstGeom prst="rect">
              <a:avLst/>
            </a:prstGeom>
            <a:noFill/>
            <a:ln>
              <a:noFill/>
            </a:ln>
          </p:spPr>
          <p:txBody>
            <a:bodyPr wrap="none" lIns="0" tIns="0" rIns="0" bIns="0" anchor="t" anchorCtr="0">
              <a:spAutoFit/>
            </a:bodyPr>
            <a:lstStyle/>
            <a:p>
              <a:pPr algn="l"/>
              <a:r>
                <a:rPr lang="en-US" sz="1010" b="1" dirty="0">
                  <a:solidFill>
                    <a:schemeClr val="dk1"/>
                  </a:solidFill>
                  <a:latin typeface="+mn-lt"/>
                  <a:ea typeface="+mn-ea"/>
                  <a:cs typeface="+mn-cs"/>
                </a:rPr>
                <a:t>k serial steps -&gt; log k parallel depth</a:t>
              </a:r>
            </a:p>
          </p:txBody>
        </p:sp>
      </p:grpSp>
      <p:grpSp>
        <p:nvGrpSpPr>
          <p:cNvPr id="46" name="Group 46"/>
          <p:cNvGrpSpPr/>
          <p:nvPr/>
        </p:nvGrpSpPr>
        <p:grpSpPr>
          <a:xfrm>
            <a:off x="609600" y="4095750"/>
            <a:ext cx="10972800" cy="1143000"/>
            <a:chOff x="609600" y="4095750"/>
            <a:chExt cx="10972800" cy="1143000"/>
          </a:xfrm>
        </p:grpSpPr>
        <p:sp>
          <p:nvSpPr>
            <p:cNvPr id="31" name="Rectangle 31"/>
            <p:cNvSpPr/>
            <p:nvPr/>
          </p:nvSpPr>
          <p:spPr>
            <a:xfrm>
              <a:off x="609600" y="4095750"/>
              <a:ext cx="10972800" cy="1143000"/>
            </a:xfrm>
            <a:prstGeom prst="roundRect">
              <a:avLst>
                <a:gd name="adj" fmla="val 11667"/>
              </a:avLst>
            </a:prstGeom>
            <a:solidFill>
              <a:srgbClr val="0F2E2B"/>
            </a:solidFill>
            <a:ln w="14288">
              <a:solidFill>
                <a:srgbClr val="48C78E"/>
              </a:solidFill>
            </a:ln>
          </p:spPr>
        </p:sp>
        <p:sp>
          <p:nvSpPr>
            <p:cNvPr id="32" name="Rectangle 32"/>
            <p:cNvSpPr/>
            <p:nvPr/>
          </p:nvSpPr>
          <p:spPr>
            <a:xfrm>
              <a:off x="609600" y="4095750"/>
              <a:ext cx="57150" cy="1143000"/>
            </a:xfrm>
            <a:prstGeom prst="roundRect">
              <a:avLst>
                <a:gd name="adj" fmla="val 50000"/>
              </a:avLst>
            </a:prstGeom>
            <a:solidFill>
              <a:srgbClr val="48C78E"/>
            </a:solidFill>
            <a:ln>
              <a:noFill/>
            </a:ln>
          </p:spPr>
        </p:sp>
        <p:sp>
          <p:nvSpPr>
            <p:cNvPr id="33" name="TextBox 33"/>
            <p:cNvSpPr txBox="1"/>
            <p:nvPr/>
          </p:nvSpPr>
          <p:spPr>
            <a:xfrm>
              <a:off x="870204" y="4290060"/>
              <a:ext cx="2239698" cy="234696"/>
            </a:xfrm>
            <a:prstGeom prst="rect">
              <a:avLst/>
            </a:prstGeom>
            <a:noFill/>
            <a:ln>
              <a:noFill/>
            </a:ln>
          </p:spPr>
          <p:txBody>
            <a:bodyPr wrap="none" lIns="0" tIns="0" rIns="0" bIns="0" anchor="t" anchorCtr="0">
              <a:spAutoFit/>
            </a:bodyPr>
            <a:lstStyle/>
            <a:p>
              <a:pPr algn="l"/>
              <a:r>
                <a:rPr lang="en-US" sz="1200" b="1" dirty="0">
                  <a:solidFill>
                    <a:srgbClr val="48C78E"/>
                  </a:solidFill>
                  <a:latin typeface="+mn-lt"/>
                  <a:ea typeface="+mn-ea"/>
                  <a:cs typeface="+mn-cs"/>
                </a:rPr>
                <a:t>Training / evaluation setup</a:t>
              </a:r>
            </a:p>
          </p:txBody>
        </p:sp>
        <p:sp>
          <p:nvSpPr>
            <p:cNvPr id="34" name="Rectangle 34"/>
            <p:cNvSpPr/>
            <p:nvPr/>
          </p:nvSpPr>
          <p:spPr>
            <a:xfrm>
              <a:off x="876300" y="4552950"/>
              <a:ext cx="2495550" cy="571500"/>
            </a:xfrm>
            <a:prstGeom prst="roundRect">
              <a:avLst>
                <a:gd name="adj" fmla="val 20000"/>
              </a:avLst>
            </a:prstGeom>
            <a:solidFill>
              <a:schemeClr val="accent6"/>
            </a:solidFill>
            <a:ln w="14288">
              <a:solidFill>
                <a:srgbClr val="26455F"/>
              </a:solidFill>
            </a:ln>
          </p:spPr>
        </p:sp>
        <p:sp>
          <p:nvSpPr>
            <p:cNvPr id="35" name="TextBox 35"/>
            <p:cNvSpPr txBox="1"/>
            <p:nvPr/>
          </p:nvSpPr>
          <p:spPr>
            <a:xfrm>
              <a:off x="1549775" y="4607242"/>
              <a:ext cx="1148601" cy="440055"/>
            </a:xfrm>
            <a:prstGeom prst="rect">
              <a:avLst/>
            </a:prstGeom>
            <a:noFill/>
            <a:ln>
              <a:noFill/>
            </a:ln>
          </p:spPr>
          <p:txBody>
            <a:bodyPr wrap="none" lIns="0" tIns="0" rIns="0" bIns="0" anchor="t" anchorCtr="0">
              <a:spAutoFit/>
            </a:bodyPr>
            <a:lstStyle/>
            <a:p>
              <a:pPr algn="ctr"/>
              <a:r>
                <a:rPr lang="en-US" sz="2250" b="1" dirty="0">
                  <a:solidFill>
                    <a:schemeClr val="accent2"/>
                  </a:solidFill>
                  <a:latin typeface="+mn-lt"/>
                  <a:ea typeface="+mn-ea"/>
                  <a:cs typeface="+mn-cs"/>
                </a:rPr>
                <a:t>N = 100</a:t>
              </a:r>
            </a:p>
          </p:txBody>
        </p:sp>
        <p:sp>
          <p:nvSpPr>
            <p:cNvPr id="36" name="TextBox 36"/>
            <p:cNvSpPr txBox="1"/>
            <p:nvPr/>
          </p:nvSpPr>
          <p:spPr>
            <a:xfrm>
              <a:off x="1582342" y="4904899"/>
              <a:ext cx="1083467" cy="190690"/>
            </a:xfrm>
            <a:prstGeom prst="rect">
              <a:avLst/>
            </a:prstGeom>
            <a:noFill/>
            <a:ln>
              <a:noFill/>
            </a:ln>
          </p:spPr>
          <p:txBody>
            <a:bodyPr wrap="none" lIns="0" tIns="0" rIns="0" bIns="0" anchor="t" anchorCtr="0">
              <a:spAutoFit/>
            </a:bodyPr>
            <a:lstStyle/>
            <a:p>
              <a:pPr algn="ctr"/>
              <a:r>
                <a:rPr lang="en-US" sz="980" b="1" dirty="0">
                  <a:solidFill>
                    <a:schemeClr val="dk2"/>
                  </a:solidFill>
                  <a:latin typeface="+mn-lt"/>
                  <a:ea typeface="+mn-ea"/>
                  <a:cs typeface="+mn-cs"/>
                </a:rPr>
                <a:t>sequence length</a:t>
              </a:r>
            </a:p>
          </p:txBody>
        </p:sp>
        <p:sp>
          <p:nvSpPr>
            <p:cNvPr id="37" name="Rectangle 37"/>
            <p:cNvSpPr/>
            <p:nvPr/>
          </p:nvSpPr>
          <p:spPr>
            <a:xfrm>
              <a:off x="3486150" y="4552950"/>
              <a:ext cx="2495550" cy="571500"/>
            </a:xfrm>
            <a:prstGeom prst="roundRect">
              <a:avLst>
                <a:gd name="adj" fmla="val 20000"/>
              </a:avLst>
            </a:prstGeom>
            <a:solidFill>
              <a:schemeClr val="accent6"/>
            </a:solidFill>
            <a:ln w="14288">
              <a:solidFill>
                <a:srgbClr val="26455F"/>
              </a:solidFill>
            </a:ln>
          </p:spPr>
        </p:sp>
        <p:sp>
          <p:nvSpPr>
            <p:cNvPr id="38" name="TextBox 38"/>
            <p:cNvSpPr txBox="1"/>
            <p:nvPr/>
          </p:nvSpPr>
          <p:spPr>
            <a:xfrm>
              <a:off x="3918394" y="4607242"/>
              <a:ext cx="1631061" cy="440055"/>
            </a:xfrm>
            <a:prstGeom prst="rect">
              <a:avLst/>
            </a:prstGeom>
            <a:noFill/>
            <a:ln>
              <a:noFill/>
            </a:ln>
          </p:spPr>
          <p:txBody>
            <a:bodyPr wrap="none" lIns="0" tIns="0" rIns="0" bIns="0" anchor="t" anchorCtr="0">
              <a:spAutoFit/>
            </a:bodyPr>
            <a:lstStyle/>
            <a:p>
              <a:pPr algn="ctr"/>
              <a:r>
                <a:rPr lang="en-US" sz="2250" b="1" dirty="0">
                  <a:solidFill>
                    <a:srgbClr val="34D3C0"/>
                  </a:solidFill>
                  <a:latin typeface="+mn-lt"/>
                  <a:ea typeface="+mn-ea"/>
                  <a:cs typeface="+mn-cs"/>
                </a:rPr>
                <a:t>|Sigma| = 4</a:t>
              </a:r>
            </a:p>
          </p:txBody>
        </p:sp>
        <p:sp>
          <p:nvSpPr>
            <p:cNvPr id="39" name="TextBox 39"/>
            <p:cNvSpPr txBox="1"/>
            <p:nvPr/>
          </p:nvSpPr>
          <p:spPr>
            <a:xfrm>
              <a:off x="4195655" y="4904899"/>
              <a:ext cx="1076541" cy="190690"/>
            </a:xfrm>
            <a:prstGeom prst="rect">
              <a:avLst/>
            </a:prstGeom>
            <a:noFill/>
            <a:ln>
              <a:noFill/>
            </a:ln>
          </p:spPr>
          <p:txBody>
            <a:bodyPr wrap="none" lIns="0" tIns="0" rIns="0" bIns="0" anchor="t" anchorCtr="0">
              <a:spAutoFit/>
            </a:bodyPr>
            <a:lstStyle/>
            <a:p>
              <a:pPr algn="ctr"/>
              <a:r>
                <a:rPr lang="en-US" sz="980" b="1" dirty="0">
                  <a:solidFill>
                    <a:schemeClr val="dk2"/>
                  </a:solidFill>
                  <a:latin typeface="+mn-lt"/>
                  <a:ea typeface="+mn-ea"/>
                  <a:cs typeface="+mn-cs"/>
                </a:rPr>
                <a:t>symbol alphabet</a:t>
              </a:r>
            </a:p>
          </p:txBody>
        </p:sp>
        <p:sp>
          <p:nvSpPr>
            <p:cNvPr id="40" name="Rectangle 40"/>
            <p:cNvSpPr/>
            <p:nvPr/>
          </p:nvSpPr>
          <p:spPr>
            <a:xfrm>
              <a:off x="6096000" y="4552950"/>
              <a:ext cx="2495550" cy="571500"/>
            </a:xfrm>
            <a:prstGeom prst="roundRect">
              <a:avLst>
                <a:gd name="adj" fmla="val 20000"/>
              </a:avLst>
            </a:prstGeom>
            <a:solidFill>
              <a:schemeClr val="accent6"/>
            </a:solidFill>
            <a:ln w="14288">
              <a:solidFill>
                <a:srgbClr val="26455F"/>
              </a:solidFill>
            </a:ln>
          </p:spPr>
        </p:sp>
        <p:sp>
          <p:nvSpPr>
            <p:cNvPr id="41" name="TextBox 41"/>
            <p:cNvSpPr txBox="1"/>
            <p:nvPr/>
          </p:nvSpPr>
          <p:spPr>
            <a:xfrm>
              <a:off x="6529295" y="4607242"/>
              <a:ext cx="1628961" cy="440055"/>
            </a:xfrm>
            <a:prstGeom prst="rect">
              <a:avLst/>
            </a:prstGeom>
            <a:noFill/>
            <a:ln>
              <a:noFill/>
            </a:ln>
          </p:spPr>
          <p:txBody>
            <a:bodyPr wrap="none" lIns="0" tIns="0" rIns="0" bIns="0" anchor="t" anchorCtr="0">
              <a:spAutoFit/>
            </a:bodyPr>
            <a:lstStyle/>
            <a:p>
              <a:pPr algn="ctr"/>
              <a:r>
                <a:rPr lang="en-US" sz="2250" b="1" dirty="0">
                  <a:solidFill>
                    <a:srgbClr val="F2C14E"/>
                  </a:solidFill>
                  <a:latin typeface="+mn-lt"/>
                  <a:ea typeface="+mn-ea"/>
                  <a:cs typeface="+mn-cs"/>
                </a:rPr>
                <a:t>k = 0 .. 16</a:t>
              </a:r>
            </a:p>
          </p:txBody>
        </p:sp>
        <p:sp>
          <p:nvSpPr>
            <p:cNvPr id="42" name="TextBox 42"/>
            <p:cNvSpPr txBox="1"/>
            <p:nvPr/>
          </p:nvSpPr>
          <p:spPr>
            <a:xfrm>
              <a:off x="6750095" y="4904899"/>
              <a:ext cx="1187360" cy="190690"/>
            </a:xfrm>
            <a:prstGeom prst="rect">
              <a:avLst/>
            </a:prstGeom>
            <a:noFill/>
            <a:ln>
              <a:noFill/>
            </a:ln>
          </p:spPr>
          <p:txBody>
            <a:bodyPr wrap="none" lIns="0" tIns="0" rIns="0" bIns="0" anchor="t" anchorCtr="0">
              <a:spAutoFit/>
            </a:bodyPr>
            <a:lstStyle/>
            <a:p>
              <a:pPr algn="ctr"/>
              <a:r>
                <a:rPr lang="en-US" sz="980" b="1" dirty="0">
                  <a:solidFill>
                    <a:schemeClr val="dk2"/>
                  </a:solidFill>
                  <a:latin typeface="+mn-lt"/>
                  <a:ea typeface="+mn-ea"/>
                  <a:cs typeface="+mn-cs"/>
                </a:rPr>
                <a:t>hop counts swept</a:t>
              </a:r>
            </a:p>
          </p:txBody>
        </p:sp>
        <p:sp>
          <p:nvSpPr>
            <p:cNvPr id="43" name="Rectangle 43"/>
            <p:cNvSpPr/>
            <p:nvPr/>
          </p:nvSpPr>
          <p:spPr>
            <a:xfrm>
              <a:off x="8705850" y="4552950"/>
              <a:ext cx="2495550" cy="571500"/>
            </a:xfrm>
            <a:prstGeom prst="roundRect">
              <a:avLst>
                <a:gd name="adj" fmla="val 20000"/>
              </a:avLst>
            </a:prstGeom>
            <a:solidFill>
              <a:schemeClr val="accent6"/>
            </a:solidFill>
            <a:ln w="14288">
              <a:solidFill>
                <a:srgbClr val="26455F"/>
              </a:solidFill>
            </a:ln>
          </p:spPr>
        </p:sp>
        <p:sp>
          <p:nvSpPr>
            <p:cNvPr id="44" name="TextBox 44"/>
            <p:cNvSpPr txBox="1"/>
            <p:nvPr/>
          </p:nvSpPr>
          <p:spPr>
            <a:xfrm>
              <a:off x="9227069" y="4639628"/>
              <a:ext cx="1453111" cy="381381"/>
            </a:xfrm>
            <a:prstGeom prst="rect">
              <a:avLst/>
            </a:prstGeom>
            <a:noFill/>
            <a:ln>
              <a:noFill/>
            </a:ln>
          </p:spPr>
          <p:txBody>
            <a:bodyPr wrap="none" lIns="0" tIns="0" rIns="0" bIns="0" anchor="t" anchorCtr="0">
              <a:spAutoFit/>
            </a:bodyPr>
            <a:lstStyle/>
            <a:p>
              <a:pPr algn="ctr"/>
              <a:r>
                <a:rPr lang="en-US" sz="1950" b="1" dirty="0">
                  <a:solidFill>
                    <a:srgbClr val="48C78E"/>
                  </a:solidFill>
                  <a:latin typeface="+mn-lt"/>
                  <a:ea typeface="+mn-ea"/>
                  <a:cs typeface="+mn-cs"/>
                </a:rPr>
                <a:t>multi-task</a:t>
              </a:r>
            </a:p>
          </p:txBody>
        </p:sp>
        <p:sp>
          <p:nvSpPr>
            <p:cNvPr id="45" name="TextBox 45"/>
            <p:cNvSpPr txBox="1"/>
            <p:nvPr/>
          </p:nvSpPr>
          <p:spPr>
            <a:xfrm>
              <a:off x="9266441" y="4904899"/>
              <a:ext cx="1374367" cy="190690"/>
            </a:xfrm>
            <a:prstGeom prst="rect">
              <a:avLst/>
            </a:prstGeom>
            <a:noFill/>
            <a:ln>
              <a:noFill/>
            </a:ln>
          </p:spPr>
          <p:txBody>
            <a:bodyPr wrap="none" lIns="0" tIns="0" rIns="0" bIns="0" anchor="t" anchorCtr="0">
              <a:spAutoFit/>
            </a:bodyPr>
            <a:lstStyle/>
            <a:p>
              <a:pPr algn="ctr"/>
              <a:r>
                <a:rPr lang="en-US" sz="980" b="1" dirty="0">
                  <a:solidFill>
                    <a:schemeClr val="dk2"/>
                  </a:solidFill>
                  <a:latin typeface="+mn-lt"/>
                  <a:ea typeface="+mn-ea"/>
                  <a:cs typeface="+mn-cs"/>
                </a:rPr>
                <a:t>one model, random k</a:t>
              </a:r>
            </a:p>
          </p:txBody>
        </p:sp>
      </p:grpSp>
      <p:sp>
        <p:nvSpPr>
          <p:cNvPr id="47" name="cue_s06_c1_make_everything_concrete_authors_des" title="cue_s06_c1_make_everything_concrete_authors_des" descr="cue_s06_c1_make_everything_concrete_authors_des To make everything concrete the authors design the k-hop induction heads task. Standard induction heads asks a model to complete a bigram by predicting the token that followed the last occurrence of the current token."/>
          <p:cNvSpPr/>
          <p:nvPr/>
        </p:nvSpPr>
        <p:spPr>
          <a:xfrm>
            <a:off x="609600" y="1447723"/>
            <a:ext cx="10972800" cy="9141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cue_s06_c2_k_hop_version_chains_one_completion" title="cue_s06_c2_k_hop_version_chains_one_completion" descr="cue_s06_c2_k_hop_version_chains_one_completion The k-hop version chains this: use one completion to decide which bigram to complete next, k times over."/>
          <p:cNvSpPr/>
          <p:nvPr/>
        </p:nvSpPr>
        <p:spPr>
          <a:xfrm>
            <a:off x="609600" y="2514828"/>
            <a:ext cx="5334000"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cue_s06_c3_composition_exactly_what_makes_task" title="cue_s06_c3_composition_exactly_what_makes_task" descr="cue_s06_c3_composition_exactly_what_makes_task That composition is exactly what makes the task an interesting stress test, because intuitively it looks like it needs k sequential steps, yet a parallel architecture can fold it into logarithmically many."/>
          <p:cNvSpPr/>
          <p:nvPr/>
        </p:nvSpPr>
        <p:spPr>
          <a:xfrm>
            <a:off x="6248399" y="2514828"/>
            <a:ext cx="5334000"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cue_s06_c4_they_train_evaluate_sequences_length" title="cue_s06_c4_they_train_evaluate_sequences_length" descr="cue_s06_c4_they_train_evaluate_sequences_length They train and evaluate on sequences of length one hundred over a four-symbol alphabet, sweeping the hop count k from zero up to sixteen, in a multi-task setup where one model handles a randomly drawn k each time."/>
          <p:cNvSpPr/>
          <p:nvPr/>
        </p:nvSpPr>
        <p:spPr>
          <a:xfrm>
            <a:off x="609600" y="4095597"/>
            <a:ext cx="10972800" cy="11432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130290"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KEY RESULT</a:t>
            </a:r>
          </a:p>
        </p:txBody>
      </p:sp>
      <p:sp>
        <p:nvSpPr>
          <p:cNvPr id="4" name="TextBox 4"/>
          <p:cNvSpPr txBox="1"/>
          <p:nvPr/>
        </p:nvSpPr>
        <p:spPr>
          <a:xfrm>
            <a:off x="598170" y="804862"/>
            <a:ext cx="6664415"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Each layer doubles the reachable hop count</a:t>
            </a:r>
          </a:p>
        </p:txBody>
      </p:sp>
      <p:grpSp>
        <p:nvGrpSpPr>
          <p:cNvPr id="14" name="Group 14"/>
          <p:cNvGrpSpPr/>
          <p:nvPr/>
        </p:nvGrpSpPr>
        <p:grpSpPr>
          <a:xfrm>
            <a:off x="609600" y="1447800"/>
            <a:ext cx="5334000" cy="1314450"/>
            <a:chOff x="609600" y="1447800"/>
            <a:chExt cx="5334000" cy="1314450"/>
          </a:xfrm>
        </p:grpSpPr>
        <p:sp>
          <p:nvSpPr>
            <p:cNvPr id="5" name="Rectangle 5"/>
            <p:cNvSpPr/>
            <p:nvPr/>
          </p:nvSpPr>
          <p:spPr>
            <a:xfrm>
              <a:off x="609600" y="1447800"/>
              <a:ext cx="5334000" cy="1314450"/>
            </a:xfrm>
            <a:prstGeom prst="roundRect">
              <a:avLst>
                <a:gd name="adj" fmla="val 10145"/>
              </a:avLst>
            </a:prstGeom>
            <a:solidFill>
              <a:schemeClr val="accent5"/>
            </a:solidFill>
            <a:ln w="14288">
              <a:solidFill>
                <a:srgbClr val="26455F"/>
              </a:solidFill>
            </a:ln>
          </p:spPr>
        </p:sp>
        <p:sp>
          <p:nvSpPr>
            <p:cNvPr id="6" name="Rectangle 6"/>
            <p:cNvSpPr/>
            <p:nvPr/>
          </p:nvSpPr>
          <p:spPr>
            <a:xfrm>
              <a:off x="609600" y="1447800"/>
              <a:ext cx="57150" cy="1314450"/>
            </a:xfrm>
            <a:prstGeom prst="roundRect">
              <a:avLst>
                <a:gd name="adj" fmla="val 50000"/>
              </a:avLst>
            </a:prstGeom>
            <a:solidFill>
              <a:srgbClr val="34D3C0"/>
            </a:solidFill>
            <a:ln>
              <a:noFill/>
            </a:ln>
          </p:spPr>
        </p:sp>
        <p:sp>
          <p:nvSpPr>
            <p:cNvPr id="7" name="TextBox 7"/>
            <p:cNvSpPr txBox="1"/>
            <p:nvPr/>
          </p:nvSpPr>
          <p:spPr>
            <a:xfrm>
              <a:off x="870204" y="1661160"/>
              <a:ext cx="2613272" cy="234696"/>
            </a:xfrm>
            <a:prstGeom prst="rect">
              <a:avLst/>
            </a:prstGeom>
            <a:noFill/>
            <a:ln>
              <a:noFill/>
            </a:ln>
          </p:spPr>
          <p:txBody>
            <a:bodyPr wrap="none" lIns="0" tIns="0" rIns="0" bIns="0" anchor="t" anchorCtr="0">
              <a:spAutoFit/>
            </a:bodyPr>
            <a:lstStyle/>
            <a:p>
              <a:pPr algn="l"/>
              <a:r>
                <a:rPr lang="en-US" sz="1200" b="1" dirty="0">
                  <a:solidFill>
                    <a:srgbClr val="34D3C0"/>
                  </a:solidFill>
                  <a:latin typeface="+mn-lt"/>
                  <a:ea typeface="+mn-ea"/>
                  <a:cs typeface="+mn-cs"/>
                </a:rPr>
                <a:t>Theory · log depth is necessary</a:t>
              </a:r>
            </a:p>
          </p:txBody>
        </p:sp>
        <p:sp>
          <p:nvSpPr>
            <p:cNvPr id="8" name="TextBox 8"/>
            <p:cNvSpPr txBox="1"/>
            <p:nvPr/>
          </p:nvSpPr>
          <p:spPr>
            <a:xfrm>
              <a:off x="870776" y="1959054"/>
              <a:ext cx="4007070"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Logarithmic depth is not just sufficient but necessary:</a:t>
              </a:r>
            </a:p>
          </p:txBody>
        </p:sp>
        <p:sp>
          <p:nvSpPr>
            <p:cNvPr id="9" name="TextBox 9"/>
            <p:cNvSpPr txBox="1"/>
            <p:nvPr/>
          </p:nvSpPr>
          <p:spPr>
            <a:xfrm>
              <a:off x="870776" y="2168604"/>
              <a:ext cx="4237040"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any transformer solving k-hop needs depth on the order of</a:t>
              </a:r>
            </a:p>
          </p:txBody>
        </p:sp>
        <p:sp>
          <p:nvSpPr>
            <p:cNvPr id="10" name="TextBox 10"/>
            <p:cNvSpPr txBox="1"/>
            <p:nvPr/>
          </p:nvSpPr>
          <p:spPr>
            <a:xfrm>
              <a:off x="870776" y="2378154"/>
              <a:ext cx="421909"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log k.</a:t>
              </a:r>
            </a:p>
          </p:txBody>
        </p:sp>
        <p:sp>
          <p:nvSpPr>
            <p:cNvPr id="11" name="Rectangle 11"/>
            <p:cNvSpPr/>
            <p:nvPr/>
          </p:nvSpPr>
          <p:spPr>
            <a:xfrm>
              <a:off x="876300" y="2438400"/>
              <a:ext cx="4800600" cy="266700"/>
            </a:xfrm>
            <a:prstGeom prst="roundRect">
              <a:avLst>
                <a:gd name="adj" fmla="val 28571"/>
              </a:avLst>
            </a:prstGeom>
            <a:solidFill>
              <a:schemeClr val="accent6"/>
            </a:solidFill>
            <a:ln w="14288">
              <a:solidFill>
                <a:srgbClr val="26455F"/>
              </a:solidFill>
            </a:ln>
          </p:spPr>
        </p:sp>
        <p:sp>
          <p:nvSpPr>
            <p:cNvPr id="12" name="Ellipse 12"/>
            <p:cNvSpPr/>
            <p:nvPr/>
          </p:nvSpPr>
          <p:spPr>
            <a:xfrm>
              <a:off x="1000125" y="2524125"/>
              <a:ext cx="95250" cy="95250"/>
            </a:xfrm>
            <a:prstGeom prst="ellipse">
              <a:avLst/>
            </a:prstGeom>
            <a:solidFill>
              <a:srgbClr val="34D3C0"/>
            </a:solidFill>
            <a:ln>
              <a:noFill/>
            </a:ln>
          </p:spPr>
        </p:sp>
        <p:sp>
          <p:nvSpPr>
            <p:cNvPr id="13" name="TextBox 13"/>
            <p:cNvSpPr txBox="1"/>
            <p:nvPr/>
          </p:nvSpPr>
          <p:spPr>
            <a:xfrm>
              <a:off x="1195006" y="2510076"/>
              <a:ext cx="1529709" cy="198025"/>
            </a:xfrm>
            <a:prstGeom prst="rect">
              <a:avLst/>
            </a:prstGeom>
            <a:noFill/>
            <a:ln>
              <a:noFill/>
            </a:ln>
          </p:spPr>
          <p:txBody>
            <a:bodyPr wrap="none" lIns="0" tIns="0" rIns="0" bIns="0" anchor="t" anchorCtr="0">
              <a:spAutoFit/>
            </a:bodyPr>
            <a:lstStyle/>
            <a:p>
              <a:pPr algn="l"/>
              <a:r>
                <a:rPr lang="en-US" sz="1010" b="1" dirty="0">
                  <a:solidFill>
                    <a:schemeClr val="dk1"/>
                  </a:solidFill>
                  <a:latin typeface="+mn-lt"/>
                  <a:ea typeface="+mn-ea"/>
                  <a:cs typeface="+mn-cs"/>
                </a:rPr>
                <a:t>depth = Theta( log k )</a:t>
              </a:r>
            </a:p>
          </p:txBody>
        </p:sp>
      </p:grpSp>
      <p:grpSp>
        <p:nvGrpSpPr>
          <p:cNvPr id="21" name="Group 21"/>
          <p:cNvGrpSpPr/>
          <p:nvPr/>
        </p:nvGrpSpPr>
        <p:grpSpPr>
          <a:xfrm>
            <a:off x="609600" y="2895600"/>
            <a:ext cx="5334000" cy="1143047"/>
            <a:chOff x="609600" y="2895600"/>
            <a:chExt cx="5334000" cy="1143047"/>
          </a:xfrm>
        </p:grpSpPr>
        <p:sp>
          <p:nvSpPr>
            <p:cNvPr id="15" name="Rectangle 15"/>
            <p:cNvSpPr/>
            <p:nvPr/>
          </p:nvSpPr>
          <p:spPr>
            <a:xfrm>
              <a:off x="609600" y="2895600"/>
              <a:ext cx="5334000" cy="1143000"/>
            </a:xfrm>
            <a:prstGeom prst="roundRect">
              <a:avLst>
                <a:gd name="adj" fmla="val 11667"/>
              </a:avLst>
            </a:prstGeom>
            <a:solidFill>
              <a:schemeClr val="accent5"/>
            </a:solidFill>
            <a:ln w="14288">
              <a:solidFill>
                <a:srgbClr val="26455F"/>
              </a:solidFill>
            </a:ln>
          </p:spPr>
        </p:sp>
        <p:sp>
          <p:nvSpPr>
            <p:cNvPr id="16" name="Rectangle 16"/>
            <p:cNvSpPr/>
            <p:nvPr/>
          </p:nvSpPr>
          <p:spPr>
            <a:xfrm>
              <a:off x="609600" y="2895600"/>
              <a:ext cx="57150" cy="1143000"/>
            </a:xfrm>
            <a:prstGeom prst="roundRect">
              <a:avLst>
                <a:gd name="adj" fmla="val 50000"/>
              </a:avLst>
            </a:prstGeom>
            <a:solidFill>
              <a:schemeClr val="accent2"/>
            </a:solidFill>
            <a:ln>
              <a:noFill/>
            </a:ln>
          </p:spPr>
        </p:sp>
        <p:sp>
          <p:nvSpPr>
            <p:cNvPr id="17" name="TextBox 17"/>
            <p:cNvSpPr txBox="1"/>
            <p:nvPr/>
          </p:nvSpPr>
          <p:spPr>
            <a:xfrm>
              <a:off x="870204" y="3108960"/>
              <a:ext cx="2605888" cy="234696"/>
            </a:xfrm>
            <a:prstGeom prst="rect">
              <a:avLst/>
            </a:prstGeom>
            <a:noFill/>
            <a:ln>
              <a:noFill/>
            </a:ln>
          </p:spPr>
          <p:txBody>
            <a:bodyPr wrap="none" lIns="0" tIns="0" rIns="0" bIns="0" anchor="t" anchorCtr="0">
              <a:spAutoFit/>
            </a:bodyPr>
            <a:lstStyle/>
            <a:p>
              <a:pPr algn="l"/>
              <a:r>
                <a:rPr lang="en-US" sz="1200" b="1" dirty="0">
                  <a:solidFill>
                    <a:schemeClr val="accent2"/>
                  </a:solidFill>
                  <a:latin typeface="+mn-lt"/>
                  <a:ea typeface="+mn-ea"/>
                  <a:cs typeface="+mn-cs"/>
                </a:rPr>
                <a:t>Experiment · train depths 2 - 6</a:t>
              </a:r>
            </a:p>
          </p:txBody>
        </p:sp>
        <p:sp>
          <p:nvSpPr>
            <p:cNvPr id="18" name="TextBox 18"/>
            <p:cNvSpPr txBox="1"/>
            <p:nvPr/>
          </p:nvSpPr>
          <p:spPr>
            <a:xfrm>
              <a:off x="870776" y="3406854"/>
              <a:ext cx="4256714"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Train transformers of depths two through six and measure</a:t>
              </a:r>
            </a:p>
          </p:txBody>
        </p:sp>
        <p:sp>
          <p:nvSpPr>
            <p:cNvPr id="19" name="TextBox 19"/>
            <p:cNvSpPr txBox="1"/>
            <p:nvPr/>
          </p:nvSpPr>
          <p:spPr>
            <a:xfrm>
              <a:off x="870776" y="3616404"/>
              <a:ext cx="4022090"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token-wise error as k grows. The picture is remarkably</a:t>
              </a:r>
            </a:p>
          </p:txBody>
        </p:sp>
        <p:sp>
          <p:nvSpPr>
            <p:cNvPr id="20" name="TextBox 20"/>
            <p:cNvSpPr txBox="1"/>
            <p:nvPr/>
          </p:nvSpPr>
          <p:spPr>
            <a:xfrm>
              <a:off x="870776" y="3825954"/>
              <a:ext cx="458593"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clean.</a:t>
              </a:r>
            </a:p>
          </p:txBody>
        </p:sp>
      </p:grpSp>
      <p:grpSp>
        <p:nvGrpSpPr>
          <p:cNvPr id="27" name="Group 27"/>
          <p:cNvGrpSpPr/>
          <p:nvPr/>
        </p:nvGrpSpPr>
        <p:grpSpPr>
          <a:xfrm>
            <a:off x="609600" y="4171950"/>
            <a:ext cx="5334000" cy="1066800"/>
            <a:chOff x="609600" y="4171950"/>
            <a:chExt cx="5334000" cy="1066800"/>
          </a:xfrm>
        </p:grpSpPr>
        <p:sp>
          <p:nvSpPr>
            <p:cNvPr id="22" name="Rectangle 22"/>
            <p:cNvSpPr/>
            <p:nvPr/>
          </p:nvSpPr>
          <p:spPr>
            <a:xfrm>
              <a:off x="609600" y="4171950"/>
              <a:ext cx="5334000" cy="1066800"/>
            </a:xfrm>
            <a:prstGeom prst="roundRect">
              <a:avLst>
                <a:gd name="adj" fmla="val 12500"/>
              </a:avLst>
            </a:prstGeom>
            <a:solidFill>
              <a:srgbClr val="0F2E2B"/>
            </a:solidFill>
            <a:ln w="14288">
              <a:solidFill>
                <a:srgbClr val="48C78E"/>
              </a:solidFill>
            </a:ln>
          </p:spPr>
        </p:sp>
        <p:sp>
          <p:nvSpPr>
            <p:cNvPr id="23" name="Rectangle 23"/>
            <p:cNvSpPr/>
            <p:nvPr/>
          </p:nvSpPr>
          <p:spPr>
            <a:xfrm>
              <a:off x="609600" y="4171950"/>
              <a:ext cx="57150" cy="1066800"/>
            </a:xfrm>
            <a:prstGeom prst="roundRect">
              <a:avLst>
                <a:gd name="adj" fmla="val 50000"/>
              </a:avLst>
            </a:prstGeom>
            <a:solidFill>
              <a:srgbClr val="48C78E"/>
            </a:solidFill>
            <a:ln>
              <a:noFill/>
            </a:ln>
          </p:spPr>
        </p:sp>
        <p:sp>
          <p:nvSpPr>
            <p:cNvPr id="24" name="TextBox 24"/>
            <p:cNvSpPr txBox="1"/>
            <p:nvPr/>
          </p:nvSpPr>
          <p:spPr>
            <a:xfrm>
              <a:off x="870394" y="4370308"/>
              <a:ext cx="2509538" cy="227362"/>
            </a:xfrm>
            <a:prstGeom prst="rect">
              <a:avLst/>
            </a:prstGeom>
            <a:noFill/>
            <a:ln>
              <a:noFill/>
            </a:ln>
          </p:spPr>
          <p:txBody>
            <a:bodyPr wrap="none" lIns="0" tIns="0" rIns="0" bIns="0" anchor="t" anchorCtr="0">
              <a:spAutoFit/>
            </a:bodyPr>
            <a:lstStyle/>
            <a:p>
              <a:pPr algn="l"/>
              <a:r>
                <a:rPr lang="en-US" sz="1160" b="1" dirty="0">
                  <a:solidFill>
                    <a:srgbClr val="48C78E"/>
                  </a:solidFill>
                  <a:latin typeface="+mn-lt"/>
                  <a:ea typeface="+mn-ea"/>
                  <a:cs typeface="+mn-cs"/>
                </a:rPr>
                <a:t>Threshold matches to the layer</a:t>
              </a:r>
            </a:p>
          </p:txBody>
        </p:sp>
        <p:sp>
          <p:nvSpPr>
            <p:cNvPr id="25" name="TextBox 25"/>
            <p:cNvSpPr txBox="1"/>
            <p:nvPr/>
          </p:nvSpPr>
          <p:spPr>
            <a:xfrm>
              <a:off x="870776" y="4664154"/>
              <a:ext cx="2838281" cy="212693"/>
            </a:xfrm>
            <a:prstGeom prst="rect">
              <a:avLst/>
            </a:prstGeom>
            <a:noFill/>
            <a:ln>
              <a:noFill/>
            </a:ln>
          </p:spPr>
          <p:txBody>
            <a:bodyPr wrap="none" lIns="0" tIns="0" rIns="0" bIns="0" anchor="t" anchorCtr="0">
              <a:spAutoFit/>
            </a:bodyPr>
            <a:lstStyle/>
            <a:p>
              <a:pPr algn="l"/>
              <a:r>
                <a:rPr lang="en-US" sz="1090" b="1" dirty="0">
                  <a:solidFill>
                    <a:srgbClr val="48C78E"/>
                  </a:solidFill>
                  <a:latin typeface="Consolas"/>
                  <a:ea typeface="Consolas"/>
                  <a:cs typeface="Consolas"/>
                </a:rPr>
                <a:t>empirical boundary = floor(log2 k) + 2</a:t>
              </a:r>
            </a:p>
          </p:txBody>
        </p:sp>
        <p:sp>
          <p:nvSpPr>
            <p:cNvPr id="26" name="TextBox 26"/>
            <p:cNvSpPr txBox="1"/>
            <p:nvPr/>
          </p:nvSpPr>
          <p:spPr>
            <a:xfrm>
              <a:off x="871156" y="4938951"/>
              <a:ext cx="4157596" cy="198025"/>
            </a:xfrm>
            <a:prstGeom prst="rect">
              <a:avLst/>
            </a:prstGeom>
            <a:noFill/>
            <a:ln>
              <a:noFill/>
            </a:ln>
          </p:spPr>
          <p:txBody>
            <a:bodyPr wrap="none" lIns="0" tIns="0" rIns="0" bIns="0" anchor="t" anchorCtr="0">
              <a:spAutoFit/>
            </a:bodyPr>
            <a:lstStyle/>
            <a:p>
              <a:pPr algn="l"/>
              <a:r>
                <a:rPr lang="en-US" sz="1010" b="1" dirty="0">
                  <a:solidFill>
                    <a:schemeClr val="dk2"/>
                  </a:solidFill>
                  <a:latin typeface="+mn-lt"/>
                  <a:ea typeface="+mn-ea"/>
                  <a:cs typeface="+mn-cs"/>
                </a:rPr>
                <a:t>learned attention patterns mirror the hand-designed proof</a:t>
              </a:r>
            </a:p>
          </p:txBody>
        </p:sp>
      </p:grpSp>
      <p:grpSp>
        <p:nvGrpSpPr>
          <p:cNvPr id="61" name="Group 61"/>
          <p:cNvGrpSpPr/>
          <p:nvPr/>
        </p:nvGrpSpPr>
        <p:grpSpPr>
          <a:xfrm>
            <a:off x="6248400" y="1447800"/>
            <a:ext cx="5334000" cy="3790950"/>
            <a:chOff x="6248400" y="1447800"/>
            <a:chExt cx="5334000" cy="3790950"/>
          </a:xfrm>
        </p:grpSpPr>
        <p:sp>
          <p:nvSpPr>
            <p:cNvPr id="28" name="Rectangle 28"/>
            <p:cNvSpPr/>
            <p:nvPr/>
          </p:nvSpPr>
          <p:spPr>
            <a:xfrm>
              <a:off x="6248400" y="1447800"/>
              <a:ext cx="5334000" cy="3790950"/>
            </a:xfrm>
            <a:prstGeom prst="roundRect">
              <a:avLst>
                <a:gd name="adj" fmla="val 3518"/>
              </a:avLst>
            </a:prstGeom>
            <a:solidFill>
              <a:schemeClr val="accent5"/>
            </a:solidFill>
            <a:ln w="14288">
              <a:solidFill>
                <a:srgbClr val="26455F"/>
              </a:solidFill>
            </a:ln>
          </p:spPr>
        </p:sp>
        <p:sp>
          <p:nvSpPr>
            <p:cNvPr id="29" name="Rectangle 29"/>
            <p:cNvSpPr/>
            <p:nvPr/>
          </p:nvSpPr>
          <p:spPr>
            <a:xfrm>
              <a:off x="6248400" y="1447800"/>
              <a:ext cx="57150" cy="3790950"/>
            </a:xfrm>
            <a:prstGeom prst="roundRect">
              <a:avLst>
                <a:gd name="adj" fmla="val 50000"/>
              </a:avLst>
            </a:prstGeom>
            <a:solidFill>
              <a:srgbClr val="F2C14E"/>
            </a:solidFill>
            <a:ln>
              <a:noFill/>
            </a:ln>
          </p:spPr>
        </p:sp>
        <p:sp>
          <p:nvSpPr>
            <p:cNvPr id="30" name="TextBox 30"/>
            <p:cNvSpPr txBox="1"/>
            <p:nvPr/>
          </p:nvSpPr>
          <p:spPr>
            <a:xfrm>
              <a:off x="6509194" y="1665208"/>
              <a:ext cx="2897633" cy="227362"/>
            </a:xfrm>
            <a:prstGeom prst="rect">
              <a:avLst/>
            </a:prstGeom>
            <a:noFill/>
            <a:ln>
              <a:noFill/>
            </a:ln>
          </p:spPr>
          <p:txBody>
            <a:bodyPr wrap="none" lIns="0" tIns="0" rIns="0" bIns="0" anchor="t" anchorCtr="0">
              <a:spAutoFit/>
            </a:bodyPr>
            <a:lstStyle/>
            <a:p>
              <a:pPr algn="l"/>
              <a:r>
                <a:rPr lang="en-US" sz="1160" b="1" dirty="0">
                  <a:solidFill>
                    <a:srgbClr val="F2C14E"/>
                  </a:solidFill>
                  <a:latin typeface="+mn-lt"/>
                  <a:ea typeface="+mn-ea"/>
                  <a:cs typeface="+mn-cs"/>
                </a:rPr>
                <a:t>+1 layer ~ 2x the largest learnable k</a:t>
              </a:r>
            </a:p>
          </p:txBody>
        </p:sp>
        <p:sp>
          <p:nvSpPr>
            <p:cNvPr id="31" name="Rectangle 31"/>
            <p:cNvSpPr/>
            <p:nvPr/>
          </p:nvSpPr>
          <p:spPr>
            <a:xfrm>
              <a:off x="6667500" y="2019300"/>
              <a:ext cx="4629150" cy="2857500"/>
            </a:xfrm>
            <a:prstGeom prst="roundRect">
              <a:avLst>
                <a:gd name="adj" fmla="val 3333"/>
              </a:avLst>
            </a:prstGeom>
            <a:solidFill>
              <a:srgbClr val="0E2334"/>
            </a:solidFill>
            <a:ln w="14288">
              <a:solidFill>
                <a:srgbClr val="26455F"/>
              </a:solidFill>
            </a:ln>
          </p:spPr>
        </p:sp>
        <p:sp>
          <p:nvSpPr>
            <p:cNvPr id="32" name="Line 32"/>
            <p:cNvSpPr/>
            <p:nvPr/>
          </p:nvSpPr>
          <p:spPr>
            <a:xfrm>
              <a:off x="7162800" y="2152650"/>
              <a:ext cx="9525" cy="2343150"/>
            </a:xfrm>
            <a:custGeom>
              <a:avLst/>
              <a:gdLst/>
              <a:ahLst/>
              <a:cxnLst/>
              <a:rect l="l" t="t" r="r" b="b"/>
              <a:pathLst>
                <a:path w="9525" h="2343150">
                  <a:moveTo>
                    <a:pt x="0" y="0"/>
                  </a:moveTo>
                  <a:lnTo>
                    <a:pt x="0" y="2343150"/>
                  </a:lnTo>
                </a:path>
              </a:pathLst>
            </a:custGeom>
            <a:noFill/>
            <a:ln w="14288" cap="rnd">
              <a:solidFill>
                <a:srgbClr val="26455F"/>
              </a:solidFill>
            </a:ln>
          </p:spPr>
        </p:sp>
        <p:sp>
          <p:nvSpPr>
            <p:cNvPr id="33" name="Line 33"/>
            <p:cNvSpPr/>
            <p:nvPr/>
          </p:nvSpPr>
          <p:spPr>
            <a:xfrm>
              <a:off x="7162800" y="4495800"/>
              <a:ext cx="3829050" cy="9525"/>
            </a:xfrm>
            <a:custGeom>
              <a:avLst/>
              <a:gdLst/>
              <a:ahLst/>
              <a:cxnLst/>
              <a:rect l="l" t="t" r="r" b="b"/>
              <a:pathLst>
                <a:path w="3829050" h="9525">
                  <a:moveTo>
                    <a:pt x="0" y="0"/>
                  </a:moveTo>
                  <a:lnTo>
                    <a:pt x="3829050" y="0"/>
                  </a:lnTo>
                </a:path>
              </a:pathLst>
            </a:custGeom>
            <a:noFill/>
            <a:ln w="14288" cap="rnd">
              <a:solidFill>
                <a:srgbClr val="26455F"/>
              </a:solidFill>
            </a:ln>
          </p:spPr>
        </p:sp>
        <p:sp>
          <p:nvSpPr>
            <p:cNvPr id="34" name="Line 34"/>
            <p:cNvSpPr/>
            <p:nvPr/>
          </p:nvSpPr>
          <p:spPr>
            <a:xfrm>
              <a:off x="7162800" y="4495800"/>
              <a:ext cx="3829050" cy="9525"/>
            </a:xfrm>
            <a:custGeom>
              <a:avLst/>
              <a:gdLst/>
              <a:ahLst/>
              <a:cxnLst/>
              <a:rect l="l" t="t" r="r" b="b"/>
              <a:pathLst>
                <a:path w="3829050" h="9525">
                  <a:moveTo>
                    <a:pt x="0" y="0"/>
                  </a:moveTo>
                  <a:lnTo>
                    <a:pt x="3829050" y="0"/>
                  </a:lnTo>
                </a:path>
              </a:pathLst>
            </a:custGeom>
            <a:noFill/>
            <a:ln w="9525" cap="rnd">
              <a:solidFill>
                <a:srgbClr val="26455F"/>
              </a:solidFill>
              <a:custDash>
                <a:ds d="200000" sp="500000"/>
              </a:custDash>
            </a:ln>
          </p:spPr>
        </p:sp>
        <p:sp>
          <p:nvSpPr>
            <p:cNvPr id="35" name="TextBox 35"/>
            <p:cNvSpPr txBox="1"/>
            <p:nvPr/>
          </p:nvSpPr>
          <p:spPr>
            <a:xfrm>
              <a:off x="6999038" y="4444841"/>
              <a:ext cx="73274" cy="161925"/>
            </a:xfrm>
            <a:prstGeom prst="rect">
              <a:avLst/>
            </a:prstGeom>
            <a:noFill/>
            <a:ln>
              <a:noFill/>
            </a:ln>
          </p:spPr>
          <p:txBody>
            <a:bodyPr wrap="none" lIns="0" tIns="0" rIns="0" bIns="0" anchor="t" anchorCtr="0">
              <a:spAutoFit/>
            </a:bodyPr>
            <a:lstStyle/>
            <a:p>
              <a:pPr algn="r"/>
              <a:r>
                <a:rPr lang="en-US" sz="820" b="1" dirty="0">
                  <a:solidFill>
                    <a:srgbClr val="6E869C"/>
                  </a:solidFill>
                  <a:latin typeface="+mn-lt"/>
                  <a:ea typeface="+mn-ea"/>
                  <a:cs typeface="+mn-cs"/>
                </a:rPr>
                <a:t>0</a:t>
              </a:r>
            </a:p>
          </p:txBody>
        </p:sp>
        <p:sp>
          <p:nvSpPr>
            <p:cNvPr id="36" name="Line 36"/>
            <p:cNvSpPr/>
            <p:nvPr/>
          </p:nvSpPr>
          <p:spPr>
            <a:xfrm>
              <a:off x="7162800" y="3948112"/>
              <a:ext cx="3829050" cy="9525"/>
            </a:xfrm>
            <a:custGeom>
              <a:avLst/>
              <a:gdLst/>
              <a:ahLst/>
              <a:cxnLst/>
              <a:rect l="l" t="t" r="r" b="b"/>
              <a:pathLst>
                <a:path w="3829050" h="9525">
                  <a:moveTo>
                    <a:pt x="0" y="0"/>
                  </a:moveTo>
                  <a:lnTo>
                    <a:pt x="3829050" y="0"/>
                  </a:lnTo>
                </a:path>
              </a:pathLst>
            </a:custGeom>
            <a:noFill/>
            <a:ln w="9525" cap="rnd">
              <a:solidFill>
                <a:srgbClr val="26455F"/>
              </a:solidFill>
              <a:custDash>
                <a:ds d="200000" sp="500000"/>
              </a:custDash>
            </a:ln>
          </p:spPr>
        </p:sp>
        <p:sp>
          <p:nvSpPr>
            <p:cNvPr id="37" name="TextBox 37"/>
            <p:cNvSpPr txBox="1"/>
            <p:nvPr/>
          </p:nvSpPr>
          <p:spPr>
            <a:xfrm>
              <a:off x="6999038" y="3897154"/>
              <a:ext cx="73274" cy="161925"/>
            </a:xfrm>
            <a:prstGeom prst="rect">
              <a:avLst/>
            </a:prstGeom>
            <a:noFill/>
            <a:ln>
              <a:noFill/>
            </a:ln>
          </p:spPr>
          <p:txBody>
            <a:bodyPr wrap="none" lIns="0" tIns="0" rIns="0" bIns="0" anchor="t" anchorCtr="0">
              <a:spAutoFit/>
            </a:bodyPr>
            <a:lstStyle/>
            <a:p>
              <a:pPr algn="r"/>
              <a:r>
                <a:rPr lang="en-US" sz="820" b="1" dirty="0">
                  <a:solidFill>
                    <a:srgbClr val="6E869C"/>
                  </a:solidFill>
                  <a:latin typeface="+mn-lt"/>
                  <a:ea typeface="+mn-ea"/>
                  <a:cs typeface="+mn-cs"/>
                </a:rPr>
                <a:t>4</a:t>
              </a:r>
            </a:p>
          </p:txBody>
        </p:sp>
        <p:sp>
          <p:nvSpPr>
            <p:cNvPr id="38" name="Line 38"/>
            <p:cNvSpPr/>
            <p:nvPr/>
          </p:nvSpPr>
          <p:spPr>
            <a:xfrm>
              <a:off x="7162800" y="3400425"/>
              <a:ext cx="3829050" cy="9525"/>
            </a:xfrm>
            <a:custGeom>
              <a:avLst/>
              <a:gdLst/>
              <a:ahLst/>
              <a:cxnLst/>
              <a:rect l="l" t="t" r="r" b="b"/>
              <a:pathLst>
                <a:path w="3829050" h="9525">
                  <a:moveTo>
                    <a:pt x="0" y="0"/>
                  </a:moveTo>
                  <a:lnTo>
                    <a:pt x="3829050" y="0"/>
                  </a:lnTo>
                </a:path>
              </a:pathLst>
            </a:custGeom>
            <a:noFill/>
            <a:ln w="9525" cap="rnd">
              <a:solidFill>
                <a:srgbClr val="26455F"/>
              </a:solidFill>
              <a:custDash>
                <a:ds d="200000" sp="500000"/>
              </a:custDash>
            </a:ln>
          </p:spPr>
        </p:sp>
        <p:sp>
          <p:nvSpPr>
            <p:cNvPr id="39" name="TextBox 39"/>
            <p:cNvSpPr txBox="1"/>
            <p:nvPr/>
          </p:nvSpPr>
          <p:spPr>
            <a:xfrm>
              <a:off x="6999038" y="3349466"/>
              <a:ext cx="73274" cy="161925"/>
            </a:xfrm>
            <a:prstGeom prst="rect">
              <a:avLst/>
            </a:prstGeom>
            <a:noFill/>
            <a:ln>
              <a:noFill/>
            </a:ln>
          </p:spPr>
          <p:txBody>
            <a:bodyPr wrap="none" lIns="0" tIns="0" rIns="0" bIns="0" anchor="t" anchorCtr="0">
              <a:spAutoFit/>
            </a:bodyPr>
            <a:lstStyle/>
            <a:p>
              <a:pPr algn="r"/>
              <a:r>
                <a:rPr lang="en-US" sz="820" b="1" dirty="0">
                  <a:solidFill>
                    <a:srgbClr val="6E869C"/>
                  </a:solidFill>
                  <a:latin typeface="+mn-lt"/>
                  <a:ea typeface="+mn-ea"/>
                  <a:cs typeface="+mn-cs"/>
                </a:rPr>
                <a:t>8</a:t>
              </a:r>
            </a:p>
          </p:txBody>
        </p:sp>
        <p:sp>
          <p:nvSpPr>
            <p:cNvPr id="40" name="Line 40"/>
            <p:cNvSpPr/>
            <p:nvPr/>
          </p:nvSpPr>
          <p:spPr>
            <a:xfrm>
              <a:off x="7162800" y="2852738"/>
              <a:ext cx="3829050" cy="9525"/>
            </a:xfrm>
            <a:custGeom>
              <a:avLst/>
              <a:gdLst/>
              <a:ahLst/>
              <a:cxnLst/>
              <a:rect l="l" t="t" r="r" b="b"/>
              <a:pathLst>
                <a:path w="3829050" h="9525">
                  <a:moveTo>
                    <a:pt x="0" y="0"/>
                  </a:moveTo>
                  <a:lnTo>
                    <a:pt x="3829050" y="0"/>
                  </a:lnTo>
                </a:path>
              </a:pathLst>
            </a:custGeom>
            <a:noFill/>
            <a:ln w="9525" cap="rnd">
              <a:solidFill>
                <a:srgbClr val="26455F"/>
              </a:solidFill>
              <a:custDash>
                <a:ds d="200000" sp="500000"/>
              </a:custDash>
            </a:ln>
          </p:spPr>
        </p:sp>
        <p:sp>
          <p:nvSpPr>
            <p:cNvPr id="41" name="TextBox 41"/>
            <p:cNvSpPr txBox="1"/>
            <p:nvPr/>
          </p:nvSpPr>
          <p:spPr>
            <a:xfrm>
              <a:off x="6935289" y="2801779"/>
              <a:ext cx="137024" cy="161925"/>
            </a:xfrm>
            <a:prstGeom prst="rect">
              <a:avLst/>
            </a:prstGeom>
            <a:noFill/>
            <a:ln>
              <a:noFill/>
            </a:ln>
          </p:spPr>
          <p:txBody>
            <a:bodyPr wrap="none" lIns="0" tIns="0" rIns="0" bIns="0" anchor="t" anchorCtr="0">
              <a:spAutoFit/>
            </a:bodyPr>
            <a:lstStyle/>
            <a:p>
              <a:pPr algn="r"/>
              <a:r>
                <a:rPr lang="en-US" sz="820" b="1" dirty="0">
                  <a:solidFill>
                    <a:srgbClr val="6E869C"/>
                  </a:solidFill>
                  <a:latin typeface="+mn-lt"/>
                  <a:ea typeface="+mn-ea"/>
                  <a:cs typeface="+mn-cs"/>
                </a:rPr>
                <a:t>12</a:t>
              </a:r>
            </a:p>
          </p:txBody>
        </p:sp>
        <p:sp>
          <p:nvSpPr>
            <p:cNvPr id="42" name="Line 42"/>
            <p:cNvSpPr/>
            <p:nvPr/>
          </p:nvSpPr>
          <p:spPr>
            <a:xfrm>
              <a:off x="7162800" y="2305050"/>
              <a:ext cx="3829050" cy="9525"/>
            </a:xfrm>
            <a:custGeom>
              <a:avLst/>
              <a:gdLst/>
              <a:ahLst/>
              <a:cxnLst/>
              <a:rect l="l" t="t" r="r" b="b"/>
              <a:pathLst>
                <a:path w="3829050" h="9525">
                  <a:moveTo>
                    <a:pt x="0" y="0"/>
                  </a:moveTo>
                  <a:lnTo>
                    <a:pt x="3829050" y="0"/>
                  </a:lnTo>
                </a:path>
              </a:pathLst>
            </a:custGeom>
            <a:noFill/>
            <a:ln w="9525" cap="rnd">
              <a:solidFill>
                <a:srgbClr val="26455F"/>
              </a:solidFill>
              <a:custDash>
                <a:ds d="200000" sp="500000"/>
              </a:custDash>
            </a:ln>
          </p:spPr>
        </p:sp>
        <p:sp>
          <p:nvSpPr>
            <p:cNvPr id="43" name="TextBox 43"/>
            <p:cNvSpPr txBox="1"/>
            <p:nvPr/>
          </p:nvSpPr>
          <p:spPr>
            <a:xfrm>
              <a:off x="6935289" y="2254091"/>
              <a:ext cx="137024" cy="161925"/>
            </a:xfrm>
            <a:prstGeom prst="rect">
              <a:avLst/>
            </a:prstGeom>
            <a:noFill/>
            <a:ln>
              <a:noFill/>
            </a:ln>
          </p:spPr>
          <p:txBody>
            <a:bodyPr wrap="none" lIns="0" tIns="0" rIns="0" bIns="0" anchor="t" anchorCtr="0">
              <a:spAutoFit/>
            </a:bodyPr>
            <a:lstStyle/>
            <a:p>
              <a:pPr algn="r"/>
              <a:r>
                <a:rPr lang="en-US" sz="820" b="1" dirty="0">
                  <a:solidFill>
                    <a:srgbClr val="6E869C"/>
                  </a:solidFill>
                  <a:latin typeface="+mn-lt"/>
                  <a:ea typeface="+mn-ea"/>
                  <a:cs typeface="+mn-cs"/>
                </a:rPr>
                <a:t>16</a:t>
              </a:r>
            </a:p>
          </p:txBody>
        </p:sp>
        <p:sp>
          <p:nvSpPr>
            <p:cNvPr id="44" name="Rectangle 44"/>
            <p:cNvSpPr/>
            <p:nvPr/>
          </p:nvSpPr>
          <p:spPr>
            <a:xfrm>
              <a:off x="7346594" y="4358878"/>
              <a:ext cx="398221" cy="136922"/>
            </a:xfrm>
            <a:prstGeom prst="roundRect">
              <a:avLst>
                <a:gd name="adj" fmla="val 34783"/>
              </a:avLst>
            </a:prstGeom>
            <a:solidFill>
              <a:srgbClr val="6E869C"/>
            </a:solidFill>
            <a:ln>
              <a:noFill/>
            </a:ln>
          </p:spPr>
        </p:sp>
        <p:sp>
          <p:nvSpPr>
            <p:cNvPr id="45" name="TextBox 45"/>
            <p:cNvSpPr txBox="1"/>
            <p:nvPr/>
          </p:nvSpPr>
          <p:spPr>
            <a:xfrm>
              <a:off x="7388376" y="4177427"/>
              <a:ext cx="314659" cy="190690"/>
            </a:xfrm>
            <a:prstGeom prst="rect">
              <a:avLst/>
            </a:prstGeom>
            <a:noFill/>
            <a:ln>
              <a:noFill/>
            </a:ln>
          </p:spPr>
          <p:txBody>
            <a:bodyPr wrap="none" lIns="0" tIns="0" rIns="0" bIns="0" anchor="t" anchorCtr="0">
              <a:spAutoFit/>
            </a:bodyPr>
            <a:lstStyle/>
            <a:p>
              <a:pPr algn="ctr"/>
              <a:r>
                <a:rPr lang="en-US" sz="980" b="1" dirty="0">
                  <a:solidFill>
                    <a:srgbClr val="6E869C"/>
                  </a:solidFill>
                  <a:latin typeface="+mn-lt"/>
                  <a:ea typeface="+mn-ea"/>
                  <a:cs typeface="+mn-cs"/>
                </a:rPr>
                <a:t>k&lt;=1</a:t>
              </a:r>
            </a:p>
          </p:txBody>
        </p:sp>
        <p:sp>
          <p:nvSpPr>
            <p:cNvPr id="46" name="TextBox 46"/>
            <p:cNvSpPr txBox="1"/>
            <p:nvPr/>
          </p:nvSpPr>
          <p:spPr>
            <a:xfrm>
              <a:off x="7425120" y="4566047"/>
              <a:ext cx="241170"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L=2</a:t>
              </a:r>
            </a:p>
          </p:txBody>
        </p:sp>
        <p:sp>
          <p:nvSpPr>
            <p:cNvPr id="47" name="Rectangle 47"/>
            <p:cNvSpPr/>
            <p:nvPr/>
          </p:nvSpPr>
          <p:spPr>
            <a:xfrm>
              <a:off x="8112404" y="4221956"/>
              <a:ext cx="398221" cy="273844"/>
            </a:xfrm>
            <a:prstGeom prst="roundRect">
              <a:avLst>
                <a:gd name="adj" fmla="val 17391"/>
              </a:avLst>
            </a:prstGeom>
            <a:solidFill>
              <a:schemeClr val="dk2"/>
            </a:solidFill>
            <a:ln>
              <a:noFill/>
            </a:ln>
          </p:spPr>
        </p:sp>
        <p:sp>
          <p:nvSpPr>
            <p:cNvPr id="48" name="TextBox 48"/>
            <p:cNvSpPr txBox="1"/>
            <p:nvPr/>
          </p:nvSpPr>
          <p:spPr>
            <a:xfrm>
              <a:off x="8154186" y="4040505"/>
              <a:ext cx="314659" cy="190690"/>
            </a:xfrm>
            <a:prstGeom prst="rect">
              <a:avLst/>
            </a:prstGeom>
            <a:noFill/>
            <a:ln>
              <a:noFill/>
            </a:ln>
          </p:spPr>
          <p:txBody>
            <a:bodyPr wrap="none" lIns="0" tIns="0" rIns="0" bIns="0" anchor="t" anchorCtr="0">
              <a:spAutoFit/>
            </a:bodyPr>
            <a:lstStyle/>
            <a:p>
              <a:pPr algn="ctr"/>
              <a:r>
                <a:rPr lang="en-US" sz="980" b="1" dirty="0">
                  <a:solidFill>
                    <a:schemeClr val="dk2"/>
                  </a:solidFill>
                  <a:latin typeface="+mn-lt"/>
                  <a:ea typeface="+mn-ea"/>
                  <a:cs typeface="+mn-cs"/>
                </a:rPr>
                <a:t>k&lt;=2</a:t>
              </a:r>
            </a:p>
          </p:txBody>
        </p:sp>
        <p:sp>
          <p:nvSpPr>
            <p:cNvPr id="49" name="TextBox 49"/>
            <p:cNvSpPr txBox="1"/>
            <p:nvPr/>
          </p:nvSpPr>
          <p:spPr>
            <a:xfrm>
              <a:off x="8190930" y="4566047"/>
              <a:ext cx="241170"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L=3</a:t>
              </a:r>
            </a:p>
          </p:txBody>
        </p:sp>
        <p:sp>
          <p:nvSpPr>
            <p:cNvPr id="50" name="Rectangle 50"/>
            <p:cNvSpPr/>
            <p:nvPr/>
          </p:nvSpPr>
          <p:spPr>
            <a:xfrm>
              <a:off x="8878214" y="3948112"/>
              <a:ext cx="398221" cy="547688"/>
            </a:xfrm>
            <a:prstGeom prst="roundRect">
              <a:avLst>
                <a:gd name="adj" fmla="val 11959"/>
              </a:avLst>
            </a:prstGeom>
            <a:solidFill>
              <a:schemeClr val="accent2"/>
            </a:solidFill>
            <a:ln>
              <a:noFill/>
            </a:ln>
          </p:spPr>
        </p:sp>
        <p:sp>
          <p:nvSpPr>
            <p:cNvPr id="51" name="TextBox 51"/>
            <p:cNvSpPr txBox="1"/>
            <p:nvPr/>
          </p:nvSpPr>
          <p:spPr>
            <a:xfrm>
              <a:off x="8919996" y="3766661"/>
              <a:ext cx="314659" cy="190690"/>
            </a:xfrm>
            <a:prstGeom prst="rect">
              <a:avLst/>
            </a:prstGeom>
            <a:noFill/>
            <a:ln>
              <a:noFill/>
            </a:ln>
          </p:spPr>
          <p:txBody>
            <a:bodyPr wrap="none" lIns="0" tIns="0" rIns="0" bIns="0" anchor="t" anchorCtr="0">
              <a:spAutoFit/>
            </a:bodyPr>
            <a:lstStyle/>
            <a:p>
              <a:pPr algn="ctr"/>
              <a:r>
                <a:rPr lang="en-US" sz="980" b="1" dirty="0">
                  <a:solidFill>
                    <a:schemeClr val="accent2"/>
                  </a:solidFill>
                  <a:latin typeface="+mn-lt"/>
                  <a:ea typeface="+mn-ea"/>
                  <a:cs typeface="+mn-cs"/>
                </a:rPr>
                <a:t>k&lt;=4</a:t>
              </a:r>
            </a:p>
          </p:txBody>
        </p:sp>
        <p:sp>
          <p:nvSpPr>
            <p:cNvPr id="52" name="TextBox 52"/>
            <p:cNvSpPr txBox="1"/>
            <p:nvPr/>
          </p:nvSpPr>
          <p:spPr>
            <a:xfrm>
              <a:off x="8956740" y="4566047"/>
              <a:ext cx="241170"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L=4</a:t>
              </a:r>
            </a:p>
          </p:txBody>
        </p:sp>
        <p:sp>
          <p:nvSpPr>
            <p:cNvPr id="53" name="Rectangle 53"/>
            <p:cNvSpPr/>
            <p:nvPr/>
          </p:nvSpPr>
          <p:spPr>
            <a:xfrm>
              <a:off x="9644024" y="3400425"/>
              <a:ext cx="398221" cy="1095375"/>
            </a:xfrm>
            <a:prstGeom prst="roundRect">
              <a:avLst>
                <a:gd name="adj" fmla="val 11959"/>
              </a:avLst>
            </a:prstGeom>
            <a:solidFill>
              <a:srgbClr val="34D3C0"/>
            </a:solidFill>
            <a:ln>
              <a:noFill/>
            </a:ln>
          </p:spPr>
        </p:sp>
        <p:sp>
          <p:nvSpPr>
            <p:cNvPr id="54" name="TextBox 54"/>
            <p:cNvSpPr txBox="1"/>
            <p:nvPr/>
          </p:nvSpPr>
          <p:spPr>
            <a:xfrm>
              <a:off x="9685806" y="3218974"/>
              <a:ext cx="314659" cy="190690"/>
            </a:xfrm>
            <a:prstGeom prst="rect">
              <a:avLst/>
            </a:prstGeom>
            <a:noFill/>
            <a:ln>
              <a:noFill/>
            </a:ln>
          </p:spPr>
          <p:txBody>
            <a:bodyPr wrap="none" lIns="0" tIns="0" rIns="0" bIns="0" anchor="t" anchorCtr="0">
              <a:spAutoFit/>
            </a:bodyPr>
            <a:lstStyle/>
            <a:p>
              <a:pPr algn="ctr"/>
              <a:r>
                <a:rPr lang="en-US" sz="980" b="1" dirty="0">
                  <a:solidFill>
                    <a:srgbClr val="34D3C0"/>
                  </a:solidFill>
                  <a:latin typeface="+mn-lt"/>
                  <a:ea typeface="+mn-ea"/>
                  <a:cs typeface="+mn-cs"/>
                </a:rPr>
                <a:t>k&lt;=8</a:t>
              </a:r>
            </a:p>
          </p:txBody>
        </p:sp>
        <p:sp>
          <p:nvSpPr>
            <p:cNvPr id="55" name="TextBox 55"/>
            <p:cNvSpPr txBox="1"/>
            <p:nvPr/>
          </p:nvSpPr>
          <p:spPr>
            <a:xfrm>
              <a:off x="9722550" y="4566047"/>
              <a:ext cx="241170"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L=5</a:t>
              </a:r>
            </a:p>
          </p:txBody>
        </p:sp>
        <p:sp>
          <p:nvSpPr>
            <p:cNvPr id="56" name="Rectangle 56"/>
            <p:cNvSpPr/>
            <p:nvPr/>
          </p:nvSpPr>
          <p:spPr>
            <a:xfrm>
              <a:off x="10409834" y="2305050"/>
              <a:ext cx="398221" cy="2190750"/>
            </a:xfrm>
            <a:prstGeom prst="roundRect">
              <a:avLst>
                <a:gd name="adj" fmla="val 11959"/>
              </a:avLst>
            </a:prstGeom>
            <a:solidFill>
              <a:srgbClr val="48C78E"/>
            </a:solidFill>
            <a:ln>
              <a:noFill/>
            </a:ln>
          </p:spPr>
        </p:sp>
        <p:sp>
          <p:nvSpPr>
            <p:cNvPr id="57" name="TextBox 57"/>
            <p:cNvSpPr txBox="1"/>
            <p:nvPr/>
          </p:nvSpPr>
          <p:spPr>
            <a:xfrm>
              <a:off x="10413522" y="2123599"/>
              <a:ext cx="390847" cy="190690"/>
            </a:xfrm>
            <a:prstGeom prst="rect">
              <a:avLst/>
            </a:prstGeom>
            <a:noFill/>
            <a:ln>
              <a:noFill/>
            </a:ln>
          </p:spPr>
          <p:txBody>
            <a:bodyPr wrap="none" lIns="0" tIns="0" rIns="0" bIns="0" anchor="t" anchorCtr="0">
              <a:spAutoFit/>
            </a:bodyPr>
            <a:lstStyle/>
            <a:p>
              <a:pPr algn="ctr"/>
              <a:r>
                <a:rPr lang="en-US" sz="980" b="1" dirty="0">
                  <a:solidFill>
                    <a:srgbClr val="48C78E"/>
                  </a:solidFill>
                  <a:latin typeface="+mn-lt"/>
                  <a:ea typeface="+mn-ea"/>
                  <a:cs typeface="+mn-cs"/>
                </a:rPr>
                <a:t>k&lt;=16</a:t>
              </a:r>
            </a:p>
          </p:txBody>
        </p:sp>
        <p:sp>
          <p:nvSpPr>
            <p:cNvPr id="58" name="TextBox 58"/>
            <p:cNvSpPr txBox="1"/>
            <p:nvPr/>
          </p:nvSpPr>
          <p:spPr>
            <a:xfrm>
              <a:off x="10488360" y="4566047"/>
              <a:ext cx="241170"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L=6</a:t>
              </a:r>
            </a:p>
          </p:txBody>
        </p:sp>
        <p:sp>
          <p:nvSpPr>
            <p:cNvPr id="59" name="TextBox 59"/>
            <p:cNvSpPr txBox="1"/>
            <p:nvPr/>
          </p:nvSpPr>
          <p:spPr>
            <a:xfrm>
              <a:off x="7422238" y="4726543"/>
              <a:ext cx="3119674" cy="169069"/>
            </a:xfrm>
            <a:prstGeom prst="rect">
              <a:avLst/>
            </a:prstGeom>
            <a:noFill/>
            <a:ln>
              <a:noFill/>
            </a:ln>
          </p:spPr>
          <p:txBody>
            <a:bodyPr wrap="none" lIns="0" tIns="0" rIns="0" bIns="0" anchor="t" anchorCtr="0">
              <a:spAutoFit/>
            </a:bodyPr>
            <a:lstStyle/>
            <a:p>
              <a:pPr algn="ctr"/>
              <a:r>
                <a:rPr lang="en-US" sz="860" b="1" dirty="0">
                  <a:solidFill>
                    <a:schemeClr val="dk2"/>
                  </a:solidFill>
                  <a:latin typeface="+mn-lt"/>
                  <a:ea typeface="+mn-ea"/>
                  <a:cs typeface="+mn-cs"/>
                </a:rPr>
                <a:t>transformer depth L -&gt; largest solvable k = 2^(L-2)</a:t>
              </a:r>
            </a:p>
          </p:txBody>
        </p:sp>
        <p:sp>
          <p:nvSpPr>
            <p:cNvPr id="60" name="TextBox 60"/>
            <p:cNvSpPr txBox="1"/>
            <p:nvPr/>
          </p:nvSpPr>
          <p:spPr>
            <a:xfrm>
              <a:off x="9884506" y="2211943"/>
              <a:ext cx="1054957" cy="169069"/>
            </a:xfrm>
            <a:prstGeom prst="rect">
              <a:avLst/>
            </a:prstGeom>
            <a:noFill/>
            <a:ln>
              <a:noFill/>
            </a:ln>
          </p:spPr>
          <p:txBody>
            <a:bodyPr wrap="none" lIns="0" tIns="0" rIns="0" bIns="0" anchor="t" anchorCtr="0">
              <a:spAutoFit/>
            </a:bodyPr>
            <a:lstStyle/>
            <a:p>
              <a:pPr algn="r"/>
              <a:r>
                <a:rPr lang="en-US" sz="860" b="1" dirty="0">
                  <a:solidFill>
                    <a:srgbClr val="F2C14E"/>
                  </a:solidFill>
                  <a:latin typeface="+mn-lt"/>
                  <a:ea typeface="+mn-ea"/>
                  <a:cs typeface="+mn-cs"/>
                </a:rPr>
                <a:t>each step doubles</a:t>
              </a:r>
            </a:p>
          </p:txBody>
        </p:sp>
      </p:grpSp>
      <p:sp>
        <p:nvSpPr>
          <p:cNvPr id="62" name="cue_s07_c1_headline_result_ties_theory_experime" title="cue_s07_c1_headline_result_ties_theory_experime" descr="cue_s07_c1_headline_result_ties_theory_experime The headline result ties theory and experiment together. On the theory side, they prove logarithmic depth is not just sufficient but necessary: any transformer solving k-hop needs depth on the order of log k."/>
          <p:cNvSpPr/>
          <p:nvPr/>
        </p:nvSpPr>
        <p:spPr>
          <a:xfrm>
            <a:off x="609600" y="1447723"/>
            <a:ext cx="5334000" cy="131467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cue_s07_c2_experimental_side_they_train_transfo" title="cue_s07_c2_experimental_side_they_train_transfo" descr="cue_s07_c2_experimental_side_they_train_transfo On the experimental side, they train transformers of depths two through six and measure token-wise error as k grows. The picture is remarkably clean."/>
          <p:cNvSpPr/>
          <p:nvPr/>
        </p:nvSpPr>
        <p:spPr>
          <a:xfrm>
            <a:off x="609600" y="2895447"/>
            <a:ext cx="5334000" cy="11432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cue_s07_c3_extra_layer_roughly_doubles_largest" title="cue_s07_c3_extra_layer_roughly_doubles_largest" descr="cue_s07_c3_extra_layer_roughly_doubles_largest Each extra layer roughly doubles the largest hop count the model can learn, so a six-layer network handles every k up to sixteen, a five-layer network up to eight, a four-layer network up to four."/>
          <p:cNvSpPr/>
          <p:nvPr/>
        </p:nvSpPr>
        <p:spPr>
          <a:xfrm>
            <a:off x="6248399" y="1447723"/>
            <a:ext cx="5334000" cy="37911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cue_s07_c4_empirical_threshold_sits_right_floor" title="cue_s07_c4_empirical_threshold_sits_right_floor" descr="cue_s07_c4_empirical_threshold_sits_right_floor The empirical threshold sits right at floor of log base two of k plus two, precisely the depth their construction predicts. The learned models even turn out to be interpretable, with attention patterns that mirror the hand-designed proof."/>
          <p:cNvSpPr/>
          <p:nvPr/>
        </p:nvSpPr>
        <p:spPr>
          <a:xfrm>
            <a:off x="609600" y="4171721"/>
            <a:ext cx="5334000" cy="10671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596894"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ABLATION STUDY</a:t>
            </a:r>
          </a:p>
        </p:txBody>
      </p:sp>
      <p:sp>
        <p:nvSpPr>
          <p:cNvPr id="4" name="TextBox 4"/>
          <p:cNvSpPr txBox="1"/>
          <p:nvPr/>
        </p:nvSpPr>
        <p:spPr>
          <a:xfrm>
            <a:off x="598170" y="804862"/>
            <a:ext cx="5106229"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It is really about depth, not size</a:t>
            </a:r>
          </a:p>
        </p:txBody>
      </p:sp>
      <p:grpSp>
        <p:nvGrpSpPr>
          <p:cNvPr id="8" name="Group 8"/>
          <p:cNvGrpSpPr/>
          <p:nvPr/>
        </p:nvGrpSpPr>
        <p:grpSpPr>
          <a:xfrm>
            <a:off x="609600" y="1447800"/>
            <a:ext cx="10972800" cy="552450"/>
            <a:chOff x="609600" y="1447800"/>
            <a:chExt cx="10972800" cy="552450"/>
          </a:xfrm>
        </p:grpSpPr>
        <p:sp>
          <p:nvSpPr>
            <p:cNvPr id="5" name="Rectangle 5"/>
            <p:cNvSpPr/>
            <p:nvPr/>
          </p:nvSpPr>
          <p:spPr>
            <a:xfrm>
              <a:off x="609600" y="1447800"/>
              <a:ext cx="10972800" cy="552450"/>
            </a:xfrm>
            <a:prstGeom prst="roundRect">
              <a:avLst>
                <a:gd name="adj" fmla="val 24138"/>
              </a:avLst>
            </a:prstGeom>
            <a:solidFill>
              <a:schemeClr val="accent5"/>
            </a:solidFill>
            <a:ln w="14288">
              <a:solidFill>
                <a:srgbClr val="26455F"/>
              </a:solidFill>
            </a:ln>
          </p:spPr>
        </p:sp>
        <p:sp>
          <p:nvSpPr>
            <p:cNvPr id="6" name="Rectangle 6"/>
            <p:cNvSpPr/>
            <p:nvPr/>
          </p:nvSpPr>
          <p:spPr>
            <a:xfrm>
              <a:off x="609600" y="1447800"/>
              <a:ext cx="57150" cy="552450"/>
            </a:xfrm>
            <a:prstGeom prst="roundRect">
              <a:avLst>
                <a:gd name="adj" fmla="val 50000"/>
              </a:avLst>
            </a:prstGeom>
            <a:solidFill>
              <a:schemeClr val="accent2"/>
            </a:solidFill>
            <a:ln>
              <a:noFill/>
            </a:ln>
          </p:spPr>
        </p:sp>
        <p:sp>
          <p:nvSpPr>
            <p:cNvPr id="7" name="TextBox 7"/>
            <p:cNvSpPr txBox="1"/>
            <p:nvPr/>
          </p:nvSpPr>
          <p:spPr>
            <a:xfrm>
              <a:off x="870204" y="1661160"/>
              <a:ext cx="8030901"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The depth sweep (L = 2..6) is the main ablation: it cleanly traces out the logarithmic threshold.</a:t>
              </a:r>
            </a:p>
          </p:txBody>
        </p:sp>
      </p:grpSp>
      <p:grpSp>
        <p:nvGrpSpPr>
          <p:cNvPr id="17" name="Group 17"/>
          <p:cNvGrpSpPr/>
          <p:nvPr/>
        </p:nvGrpSpPr>
        <p:grpSpPr>
          <a:xfrm>
            <a:off x="609600" y="2190750"/>
            <a:ext cx="5334000" cy="1562100"/>
            <a:chOff x="609600" y="2190750"/>
            <a:chExt cx="5334000" cy="1562100"/>
          </a:xfrm>
        </p:grpSpPr>
        <p:sp>
          <p:nvSpPr>
            <p:cNvPr id="9" name="Rectangle 9"/>
            <p:cNvSpPr/>
            <p:nvPr/>
          </p:nvSpPr>
          <p:spPr>
            <a:xfrm>
              <a:off x="609600" y="2190750"/>
              <a:ext cx="5334000" cy="1562100"/>
            </a:xfrm>
            <a:prstGeom prst="roundRect">
              <a:avLst>
                <a:gd name="adj" fmla="val 8537"/>
              </a:avLst>
            </a:prstGeom>
            <a:solidFill>
              <a:schemeClr val="accent5"/>
            </a:solidFill>
            <a:ln w="14288">
              <a:solidFill>
                <a:srgbClr val="26455F"/>
              </a:solidFill>
            </a:ln>
          </p:spPr>
        </p:sp>
        <p:sp>
          <p:nvSpPr>
            <p:cNvPr id="10" name="Rectangle 10"/>
            <p:cNvSpPr/>
            <p:nvPr/>
          </p:nvSpPr>
          <p:spPr>
            <a:xfrm>
              <a:off x="609600" y="2190750"/>
              <a:ext cx="57150" cy="1562100"/>
            </a:xfrm>
            <a:prstGeom prst="roundRect">
              <a:avLst>
                <a:gd name="adj" fmla="val 50000"/>
              </a:avLst>
            </a:prstGeom>
            <a:solidFill>
              <a:srgbClr val="F2C14E"/>
            </a:solidFill>
            <a:ln>
              <a:noFill/>
            </a:ln>
          </p:spPr>
        </p:sp>
        <p:sp>
          <p:nvSpPr>
            <p:cNvPr id="11" name="TextBox 11"/>
            <p:cNvSpPr txBox="1"/>
            <p:nvPr/>
          </p:nvSpPr>
          <p:spPr>
            <a:xfrm>
              <a:off x="870204" y="2423160"/>
              <a:ext cx="3376633" cy="234696"/>
            </a:xfrm>
            <a:prstGeom prst="rect">
              <a:avLst/>
            </a:prstGeom>
            <a:noFill/>
            <a:ln>
              <a:noFill/>
            </a:ln>
          </p:spPr>
          <p:txBody>
            <a:bodyPr wrap="none" lIns="0" tIns="0" rIns="0" bIns="0" anchor="t" anchorCtr="0">
              <a:spAutoFit/>
            </a:bodyPr>
            <a:lstStyle/>
            <a:p>
              <a:pPr algn="l"/>
              <a:r>
                <a:rPr lang="en-US" sz="1200" b="1" dirty="0">
                  <a:solidFill>
                    <a:srgbClr val="F2C14E"/>
                  </a:solidFill>
                  <a:latin typeface="+mn-lt"/>
                  <a:ea typeface="+mn-ea"/>
                  <a:cs typeface="+mn-cs"/>
                </a:rPr>
                <a:t>Widen the model · boundary barely moves</a:t>
              </a:r>
            </a:p>
          </p:txBody>
        </p:sp>
        <p:sp>
          <p:nvSpPr>
            <p:cNvPr id="12" name="Rectangle 12"/>
            <p:cNvSpPr/>
            <p:nvPr/>
          </p:nvSpPr>
          <p:spPr>
            <a:xfrm>
              <a:off x="876300" y="2743200"/>
              <a:ext cx="4800600" cy="323850"/>
            </a:xfrm>
            <a:prstGeom prst="roundRect">
              <a:avLst>
                <a:gd name="adj" fmla="val 23529"/>
              </a:avLst>
            </a:prstGeom>
            <a:solidFill>
              <a:schemeClr val="accent6"/>
            </a:solidFill>
            <a:ln w="14288">
              <a:solidFill>
                <a:srgbClr val="26455F"/>
              </a:solidFill>
            </a:ln>
          </p:spPr>
        </p:sp>
        <p:sp>
          <p:nvSpPr>
            <p:cNvPr id="13" name="Ellipse 13"/>
            <p:cNvSpPr/>
            <p:nvPr/>
          </p:nvSpPr>
          <p:spPr>
            <a:xfrm>
              <a:off x="1000125" y="2857500"/>
              <a:ext cx="95250" cy="95250"/>
            </a:xfrm>
            <a:prstGeom prst="ellipse">
              <a:avLst/>
            </a:prstGeom>
            <a:solidFill>
              <a:srgbClr val="F2C14E"/>
            </a:solidFill>
            <a:ln>
              <a:noFill/>
            </a:ln>
          </p:spPr>
        </p:sp>
        <p:sp>
          <p:nvSpPr>
            <p:cNvPr id="14" name="TextBox 14"/>
            <p:cNvSpPr txBox="1"/>
            <p:nvPr/>
          </p:nvSpPr>
          <p:spPr>
            <a:xfrm>
              <a:off x="1194816" y="2839402"/>
              <a:ext cx="1933668" cy="205359"/>
            </a:xfrm>
            <a:prstGeom prst="rect">
              <a:avLst/>
            </a:prstGeom>
            <a:noFill/>
            <a:ln>
              <a:noFill/>
            </a:ln>
          </p:spPr>
          <p:txBody>
            <a:bodyPr wrap="none" lIns="0" tIns="0" rIns="0" bIns="0" anchor="t" anchorCtr="0">
              <a:spAutoFit/>
            </a:bodyPr>
            <a:lstStyle/>
            <a:p>
              <a:pPr algn="l"/>
              <a:r>
                <a:rPr lang="en-US" sz="1050" b="1" dirty="0">
                  <a:solidFill>
                    <a:schemeClr val="dk1"/>
                  </a:solidFill>
                  <a:latin typeface="+mn-lt"/>
                  <a:ea typeface="+mn-ea"/>
                  <a:cs typeface="+mn-cs"/>
                </a:rPr>
                <a:t>m=128, H=4 -&gt; m=256, H=8</a:t>
              </a:r>
            </a:p>
          </p:txBody>
        </p:sp>
        <p:sp>
          <p:nvSpPr>
            <p:cNvPr id="15" name="TextBox 15"/>
            <p:cNvSpPr txBox="1"/>
            <p:nvPr/>
          </p:nvSpPr>
          <p:spPr>
            <a:xfrm>
              <a:off x="871156" y="3243501"/>
              <a:ext cx="4576648"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The depth-versus-k boundary hardly shifts: the dependence is about</a:t>
              </a:r>
            </a:p>
          </p:txBody>
        </p:sp>
        <p:sp>
          <p:nvSpPr>
            <p:cNvPr id="16" name="TextBox 16"/>
            <p:cNvSpPr txBox="1"/>
            <p:nvPr/>
          </p:nvSpPr>
          <p:spPr>
            <a:xfrm>
              <a:off x="871156" y="3434001"/>
              <a:ext cx="1519512"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depth, not sheer size.</a:t>
              </a:r>
            </a:p>
          </p:txBody>
        </p:sp>
      </p:grpSp>
      <p:grpSp>
        <p:nvGrpSpPr>
          <p:cNvPr id="27" name="Group 27"/>
          <p:cNvGrpSpPr/>
          <p:nvPr/>
        </p:nvGrpSpPr>
        <p:grpSpPr>
          <a:xfrm>
            <a:off x="6248400" y="2190750"/>
            <a:ext cx="5334000" cy="1562100"/>
            <a:chOff x="6248400" y="2190750"/>
            <a:chExt cx="5334000" cy="1562100"/>
          </a:xfrm>
        </p:grpSpPr>
        <p:sp>
          <p:nvSpPr>
            <p:cNvPr id="18" name="Rectangle 18"/>
            <p:cNvSpPr/>
            <p:nvPr/>
          </p:nvSpPr>
          <p:spPr>
            <a:xfrm>
              <a:off x="6248400" y="2190750"/>
              <a:ext cx="5334000" cy="1562100"/>
            </a:xfrm>
            <a:prstGeom prst="roundRect">
              <a:avLst>
                <a:gd name="adj" fmla="val 8537"/>
              </a:avLst>
            </a:prstGeom>
            <a:solidFill>
              <a:schemeClr val="accent5"/>
            </a:solidFill>
            <a:ln w="14288">
              <a:solidFill>
                <a:srgbClr val="26455F"/>
              </a:solidFill>
            </a:ln>
          </p:spPr>
        </p:sp>
        <p:sp>
          <p:nvSpPr>
            <p:cNvPr id="19" name="Rectangle 19"/>
            <p:cNvSpPr/>
            <p:nvPr/>
          </p:nvSpPr>
          <p:spPr>
            <a:xfrm>
              <a:off x="6248400" y="2190750"/>
              <a:ext cx="57150" cy="1562100"/>
            </a:xfrm>
            <a:prstGeom prst="roundRect">
              <a:avLst>
                <a:gd name="adj" fmla="val 50000"/>
              </a:avLst>
            </a:prstGeom>
            <a:solidFill>
              <a:srgbClr val="34D3C0"/>
            </a:solidFill>
            <a:ln>
              <a:noFill/>
            </a:ln>
          </p:spPr>
        </p:sp>
        <p:sp>
          <p:nvSpPr>
            <p:cNvPr id="20" name="TextBox 20"/>
            <p:cNvSpPr txBox="1"/>
            <p:nvPr/>
          </p:nvSpPr>
          <p:spPr>
            <a:xfrm>
              <a:off x="6509004" y="2423160"/>
              <a:ext cx="1739261" cy="234696"/>
            </a:xfrm>
            <a:prstGeom prst="rect">
              <a:avLst/>
            </a:prstGeom>
            <a:noFill/>
            <a:ln>
              <a:noFill/>
            </a:ln>
          </p:spPr>
          <p:txBody>
            <a:bodyPr wrap="none" lIns="0" tIns="0" rIns="0" bIns="0" anchor="t" anchorCtr="0">
              <a:spAutoFit/>
            </a:bodyPr>
            <a:lstStyle/>
            <a:p>
              <a:pPr algn="l"/>
              <a:r>
                <a:rPr lang="en-US" sz="1200" b="1" dirty="0">
                  <a:solidFill>
                    <a:srgbClr val="34D3C0"/>
                  </a:solidFill>
                  <a:latin typeface="+mn-lt"/>
                  <a:ea typeface="+mn-ea"/>
                  <a:cs typeface="+mn-cs"/>
                </a:rPr>
                <a:t>Finite-sample regime</a:t>
              </a:r>
            </a:p>
          </p:txBody>
        </p:sp>
        <p:sp>
          <p:nvSpPr>
            <p:cNvPr id="21" name="TextBox 21"/>
            <p:cNvSpPr txBox="1"/>
            <p:nvPr/>
          </p:nvSpPr>
          <p:spPr>
            <a:xfrm>
              <a:off x="6509576" y="2740104"/>
              <a:ext cx="3838325"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Where overfitting is a risk, deeper models generalize</a:t>
              </a:r>
            </a:p>
          </p:txBody>
        </p:sp>
        <p:sp>
          <p:nvSpPr>
            <p:cNvPr id="22" name="TextBox 22"/>
            <p:cNvSpPr txBox="1"/>
            <p:nvPr/>
          </p:nvSpPr>
          <p:spPr>
            <a:xfrm>
              <a:off x="6509576" y="2949654"/>
              <a:ext cx="3246573"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better, hinting at an inductive bias suited to</a:t>
              </a:r>
            </a:p>
          </p:txBody>
        </p:sp>
        <p:sp>
          <p:nvSpPr>
            <p:cNvPr id="23" name="TextBox 23"/>
            <p:cNvSpPr txBox="1"/>
            <p:nvPr/>
          </p:nvSpPr>
          <p:spPr>
            <a:xfrm>
              <a:off x="6509576" y="3159204"/>
              <a:ext cx="1507754"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compositional tasks.</a:t>
              </a:r>
            </a:p>
          </p:txBody>
        </p:sp>
        <p:sp>
          <p:nvSpPr>
            <p:cNvPr id="24" name="Rectangle 24"/>
            <p:cNvSpPr/>
            <p:nvPr/>
          </p:nvSpPr>
          <p:spPr>
            <a:xfrm>
              <a:off x="6515100" y="3390900"/>
              <a:ext cx="4800600" cy="285750"/>
            </a:xfrm>
            <a:prstGeom prst="roundRect">
              <a:avLst>
                <a:gd name="adj" fmla="val 26667"/>
              </a:avLst>
            </a:prstGeom>
            <a:solidFill>
              <a:schemeClr val="accent6"/>
            </a:solidFill>
            <a:ln w="14288">
              <a:solidFill>
                <a:srgbClr val="26455F"/>
              </a:solidFill>
            </a:ln>
          </p:spPr>
        </p:sp>
        <p:sp>
          <p:nvSpPr>
            <p:cNvPr id="25" name="Ellipse 25"/>
            <p:cNvSpPr/>
            <p:nvPr/>
          </p:nvSpPr>
          <p:spPr>
            <a:xfrm>
              <a:off x="6638925" y="3486150"/>
              <a:ext cx="95250" cy="95250"/>
            </a:xfrm>
            <a:prstGeom prst="ellipse">
              <a:avLst/>
            </a:prstGeom>
            <a:solidFill>
              <a:srgbClr val="34D3C0"/>
            </a:solidFill>
            <a:ln>
              <a:noFill/>
            </a:ln>
          </p:spPr>
        </p:sp>
        <p:sp>
          <p:nvSpPr>
            <p:cNvPr id="26" name="TextBox 26"/>
            <p:cNvSpPr txBox="1"/>
            <p:nvPr/>
          </p:nvSpPr>
          <p:spPr>
            <a:xfrm>
              <a:off x="6833806" y="3472101"/>
              <a:ext cx="2230275" cy="198025"/>
            </a:xfrm>
            <a:prstGeom prst="rect">
              <a:avLst/>
            </a:prstGeom>
            <a:noFill/>
            <a:ln>
              <a:noFill/>
            </a:ln>
          </p:spPr>
          <p:txBody>
            <a:bodyPr wrap="none" lIns="0" tIns="0" rIns="0" bIns="0" anchor="t" anchorCtr="0">
              <a:spAutoFit/>
            </a:bodyPr>
            <a:lstStyle/>
            <a:p>
              <a:pPr algn="l"/>
              <a:r>
                <a:rPr lang="en-US" sz="1010" b="1" dirty="0">
                  <a:solidFill>
                    <a:schemeClr val="dk1"/>
                  </a:solidFill>
                  <a:latin typeface="+mn-lt"/>
                  <a:ea typeface="+mn-ea"/>
                  <a:cs typeface="+mn-cs"/>
                </a:rPr>
                <a:t>deeper -&gt; better generalization</a:t>
              </a:r>
            </a:p>
          </p:txBody>
        </p:sp>
      </p:grpSp>
      <p:grpSp>
        <p:nvGrpSpPr>
          <p:cNvPr id="36" name="Group 36"/>
          <p:cNvGrpSpPr/>
          <p:nvPr/>
        </p:nvGrpSpPr>
        <p:grpSpPr>
          <a:xfrm>
            <a:off x="609600" y="3943350"/>
            <a:ext cx="10972800" cy="1295400"/>
            <a:chOff x="609600" y="3943350"/>
            <a:chExt cx="10972800" cy="1295400"/>
          </a:xfrm>
        </p:grpSpPr>
        <p:sp>
          <p:nvSpPr>
            <p:cNvPr id="28" name="Rectangle 28"/>
            <p:cNvSpPr/>
            <p:nvPr/>
          </p:nvSpPr>
          <p:spPr>
            <a:xfrm>
              <a:off x="609600" y="3943350"/>
              <a:ext cx="10972800" cy="1295400"/>
            </a:xfrm>
            <a:prstGeom prst="roundRect">
              <a:avLst>
                <a:gd name="adj" fmla="val 10294"/>
              </a:avLst>
            </a:prstGeom>
            <a:solidFill>
              <a:srgbClr val="0F2E2B"/>
            </a:solidFill>
            <a:ln w="14288">
              <a:solidFill>
                <a:srgbClr val="48C78E"/>
              </a:solidFill>
            </a:ln>
          </p:spPr>
        </p:sp>
        <p:sp>
          <p:nvSpPr>
            <p:cNvPr id="29" name="Rectangle 29"/>
            <p:cNvSpPr/>
            <p:nvPr/>
          </p:nvSpPr>
          <p:spPr>
            <a:xfrm>
              <a:off x="609600" y="3943350"/>
              <a:ext cx="57150" cy="1295400"/>
            </a:xfrm>
            <a:prstGeom prst="roundRect">
              <a:avLst>
                <a:gd name="adj" fmla="val 50000"/>
              </a:avLst>
            </a:prstGeom>
            <a:solidFill>
              <a:srgbClr val="48C78E"/>
            </a:solidFill>
            <a:ln>
              <a:noFill/>
            </a:ln>
          </p:spPr>
        </p:sp>
        <p:sp>
          <p:nvSpPr>
            <p:cNvPr id="30" name="TextBox 30"/>
            <p:cNvSpPr txBox="1"/>
            <p:nvPr/>
          </p:nvSpPr>
          <p:spPr>
            <a:xfrm>
              <a:off x="870204" y="4137660"/>
              <a:ext cx="2638545" cy="234696"/>
            </a:xfrm>
            <a:prstGeom prst="rect">
              <a:avLst/>
            </a:prstGeom>
            <a:noFill/>
            <a:ln>
              <a:noFill/>
            </a:ln>
          </p:spPr>
          <p:txBody>
            <a:bodyPr wrap="none" lIns="0" tIns="0" rIns="0" bIns="0" anchor="t" anchorCtr="0">
              <a:spAutoFit/>
            </a:bodyPr>
            <a:lstStyle/>
            <a:p>
              <a:pPr algn="l"/>
              <a:r>
                <a:rPr lang="en-US" sz="1200" b="1" dirty="0">
                  <a:solidFill>
                    <a:srgbClr val="48C78E"/>
                  </a:solidFill>
                  <a:latin typeface="+mn-lt"/>
                  <a:ea typeface="+mn-ea"/>
                  <a:cs typeface="+mn-cs"/>
                </a:rPr>
                <a:t>Crack open the trained network</a:t>
              </a:r>
            </a:p>
          </p:txBody>
        </p:sp>
        <p:sp>
          <p:nvSpPr>
            <p:cNvPr id="31" name="TextBox 31"/>
            <p:cNvSpPr txBox="1"/>
            <p:nvPr/>
          </p:nvSpPr>
          <p:spPr>
            <a:xfrm>
              <a:off x="870776" y="4435554"/>
              <a:ext cx="7433426"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The attention matrices line up with the intermediate pointer computations from the proof: the learned</a:t>
              </a:r>
            </a:p>
          </p:txBody>
        </p:sp>
        <p:sp>
          <p:nvSpPr>
            <p:cNvPr id="32" name="TextBox 32"/>
            <p:cNvSpPr txBox="1"/>
            <p:nvPr/>
          </p:nvSpPr>
          <p:spPr>
            <a:xfrm>
              <a:off x="870776" y="4654629"/>
              <a:ext cx="4684584"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solution mechanistically resembles the theoretical construction.</a:t>
              </a:r>
            </a:p>
          </p:txBody>
        </p:sp>
        <p:sp>
          <p:nvSpPr>
            <p:cNvPr id="33" name="Rectangle 33"/>
            <p:cNvSpPr/>
            <p:nvPr/>
          </p:nvSpPr>
          <p:spPr>
            <a:xfrm>
              <a:off x="876300" y="4953000"/>
              <a:ext cx="10439400" cy="228600"/>
            </a:xfrm>
            <a:prstGeom prst="roundRect">
              <a:avLst>
                <a:gd name="adj" fmla="val 33333"/>
              </a:avLst>
            </a:prstGeom>
            <a:solidFill>
              <a:schemeClr val="accent6"/>
            </a:solidFill>
            <a:ln w="14288">
              <a:solidFill>
                <a:srgbClr val="26455F"/>
              </a:solidFill>
            </a:ln>
          </p:spPr>
        </p:sp>
        <p:sp>
          <p:nvSpPr>
            <p:cNvPr id="34" name="Ellipse 34"/>
            <p:cNvSpPr/>
            <p:nvPr/>
          </p:nvSpPr>
          <p:spPr>
            <a:xfrm>
              <a:off x="1000125" y="5019675"/>
              <a:ext cx="95250" cy="95250"/>
            </a:xfrm>
            <a:prstGeom prst="ellipse">
              <a:avLst/>
            </a:prstGeom>
            <a:solidFill>
              <a:srgbClr val="48C78E"/>
            </a:solidFill>
            <a:ln>
              <a:noFill/>
            </a:ln>
          </p:spPr>
        </p:sp>
        <p:sp>
          <p:nvSpPr>
            <p:cNvPr id="35" name="TextBox 35"/>
            <p:cNvSpPr txBox="1"/>
            <p:nvPr/>
          </p:nvSpPr>
          <p:spPr>
            <a:xfrm>
              <a:off x="1195006" y="5005626"/>
              <a:ext cx="4464540" cy="198025"/>
            </a:xfrm>
            <a:prstGeom prst="rect">
              <a:avLst/>
            </a:prstGeom>
            <a:noFill/>
            <a:ln>
              <a:noFill/>
            </a:ln>
          </p:spPr>
          <p:txBody>
            <a:bodyPr wrap="none" lIns="0" tIns="0" rIns="0" bIns="0" anchor="t" anchorCtr="0">
              <a:spAutoFit/>
            </a:bodyPr>
            <a:lstStyle/>
            <a:p>
              <a:pPr algn="l"/>
              <a:r>
                <a:rPr lang="en-US" sz="1010" b="1" dirty="0">
                  <a:solidFill>
                    <a:schemeClr val="dk1"/>
                  </a:solidFill>
                  <a:latin typeface="+mn-lt"/>
                  <a:ea typeface="+mn-ea"/>
                  <a:cs typeface="+mn-cs"/>
                </a:rPr>
                <a:t>learned attention heads == the find^j pointers used in the proof</a:t>
              </a:r>
            </a:p>
          </p:txBody>
        </p:sp>
      </p:grpSp>
      <p:sp>
        <p:nvSpPr>
          <p:cNvPr id="37" name="cue_s08_c1_experiments_include_several_ablation" title="cue_s08_c1_experiments_include_several_ablation" descr="cue_s08_c1_experiments_include_several_ablation The experiments include several ablations that stress the core claim. Sweeping depth from two to six is the main one, and it cleanly traces out the logarithmic threshold."/>
          <p:cNvSpPr/>
          <p:nvPr/>
        </p:nvSpPr>
        <p:spPr>
          <a:xfrm>
            <a:off x="609600" y="1447723"/>
            <a:ext cx="10972800" cy="55275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cue_s08_c2_when_they_widen_models_going" title="cue_s08_c2_when_they_widen_models_going" descr="cue_s08_c2_when_they_widen_models_going When they widen the models, going from embedding dimension one hundred twenty-eight and four heads up to two hundred fifty-six and eight heads, the depth-versus-k boundary barely moves, showing the dependence is really about depth, not sheer size."/>
          <p:cNvSpPr/>
          <p:nvPr/>
        </p:nvSpPr>
        <p:spPr>
          <a:xfrm>
            <a:off x="609600" y="2190445"/>
            <a:ext cx="5334000" cy="15622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cue_s08_c3_finite_sample_regime_where_overfitti" title="cue_s08_c3_finite_sample_regime_where_overfitti" descr="cue_s08_c3_finite_sample_regime_where_overfitti In the finite-sample regime, where overfitting is a risk, deeper models generalize better, hinting at an inductive bias suited to compositional tasks."/>
          <p:cNvSpPr/>
          <p:nvPr/>
        </p:nvSpPr>
        <p:spPr>
          <a:xfrm>
            <a:off x="6248399" y="2190445"/>
            <a:ext cx="5334000" cy="15622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cue_s08_c4_when_they_crack_open_trained" title="cue_s08_c4_when_they_crack_open_trained" descr="cue_s08_c4_when_they_crack_open_trained And when they crack open the trained networks, the attention matrices line up with the intermediate pointer computations from the proof, so the learned solution mechanistically resembles the theoretical construction."/>
          <p:cNvSpPr/>
          <p:nvPr/>
        </p:nvSpPr>
        <p:spPr>
          <a:xfrm>
            <a:off x="609600" y="3943349"/>
            <a:ext cx="10972800" cy="129547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834378"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HEADLINE NUMBERS</a:t>
            </a:r>
          </a:p>
        </p:txBody>
      </p:sp>
      <p:sp>
        <p:nvSpPr>
          <p:cNvPr id="4" name="TextBox 4"/>
          <p:cNvSpPr txBox="1"/>
          <p:nvPr/>
        </p:nvSpPr>
        <p:spPr>
          <a:xfrm>
            <a:off x="598170" y="804862"/>
            <a:ext cx="7332201"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Logarithmic, where the alternatives are linear</a:t>
            </a:r>
          </a:p>
        </p:txBody>
      </p:sp>
      <p:grpSp>
        <p:nvGrpSpPr>
          <p:cNvPr id="14" name="Group 14"/>
          <p:cNvGrpSpPr/>
          <p:nvPr/>
        </p:nvGrpSpPr>
        <p:grpSpPr>
          <a:xfrm>
            <a:off x="609600" y="1447800"/>
            <a:ext cx="10972800" cy="704850"/>
            <a:chOff x="609600" y="1447800"/>
            <a:chExt cx="10972800" cy="704850"/>
          </a:xfrm>
        </p:grpSpPr>
        <p:sp>
          <p:nvSpPr>
            <p:cNvPr id="5" name="Rectangle 5"/>
            <p:cNvSpPr/>
            <p:nvPr/>
          </p:nvSpPr>
          <p:spPr>
            <a:xfrm>
              <a:off x="609600" y="1447800"/>
              <a:ext cx="10972800" cy="704850"/>
            </a:xfrm>
            <a:prstGeom prst="roundRect">
              <a:avLst>
                <a:gd name="adj" fmla="val 18919"/>
              </a:avLst>
            </a:prstGeom>
            <a:solidFill>
              <a:schemeClr val="accent5"/>
            </a:solidFill>
            <a:ln w="14288">
              <a:solidFill>
                <a:srgbClr val="26455F"/>
              </a:solidFill>
            </a:ln>
          </p:spPr>
        </p:sp>
        <p:sp>
          <p:nvSpPr>
            <p:cNvPr id="6" name="Rectangle 6"/>
            <p:cNvSpPr/>
            <p:nvPr/>
          </p:nvSpPr>
          <p:spPr>
            <a:xfrm>
              <a:off x="609600" y="1447800"/>
              <a:ext cx="57150" cy="704850"/>
            </a:xfrm>
            <a:prstGeom prst="roundRect">
              <a:avLst>
                <a:gd name="adj" fmla="val 50000"/>
              </a:avLst>
            </a:prstGeom>
            <a:solidFill>
              <a:schemeClr val="accent2"/>
            </a:solidFill>
            <a:ln>
              <a:noFill/>
            </a:ln>
          </p:spPr>
        </p:sp>
        <p:sp>
          <p:nvSpPr>
            <p:cNvPr id="7" name="TextBox 7"/>
            <p:cNvSpPr txBox="1"/>
            <p:nvPr/>
          </p:nvSpPr>
          <p:spPr>
            <a:xfrm>
              <a:off x="870394" y="1608058"/>
              <a:ext cx="4387288" cy="227362"/>
            </a:xfrm>
            <a:prstGeom prst="rect">
              <a:avLst/>
            </a:prstGeom>
            <a:noFill/>
            <a:ln>
              <a:noFill/>
            </a:ln>
          </p:spPr>
          <p:txBody>
            <a:bodyPr wrap="none" lIns="0" tIns="0" rIns="0" bIns="0" anchor="t" anchorCtr="0">
              <a:spAutoFit/>
            </a:bodyPr>
            <a:lstStyle/>
            <a:p>
              <a:pPr algn="l"/>
              <a:r>
                <a:rPr lang="en-US" sz="1160" b="1" dirty="0">
                  <a:solidFill>
                    <a:schemeClr val="accent2"/>
                  </a:solidFill>
                  <a:latin typeface="+mn-lt"/>
                  <a:ea typeface="+mn-ea"/>
                  <a:cs typeface="+mn-cs"/>
                </a:rPr>
                <a:t>Depth to solve k-hop, in proof and in trained networks</a:t>
              </a:r>
            </a:p>
          </p:txBody>
        </p:sp>
        <p:sp>
          <p:nvSpPr>
            <p:cNvPr id="8" name="Rectangle 8"/>
            <p:cNvSpPr/>
            <p:nvPr/>
          </p:nvSpPr>
          <p:spPr>
            <a:xfrm>
              <a:off x="876300" y="1828800"/>
              <a:ext cx="4476750" cy="285750"/>
            </a:xfrm>
            <a:prstGeom prst="roundRect">
              <a:avLst>
                <a:gd name="adj" fmla="val 26667"/>
              </a:avLst>
            </a:prstGeom>
            <a:solidFill>
              <a:schemeClr val="accent6"/>
            </a:solidFill>
            <a:ln w="14288">
              <a:solidFill>
                <a:srgbClr val="26455F"/>
              </a:solidFill>
            </a:ln>
          </p:spPr>
        </p:sp>
        <p:sp>
          <p:nvSpPr>
            <p:cNvPr id="9" name="Ellipse 9"/>
            <p:cNvSpPr/>
            <p:nvPr/>
          </p:nvSpPr>
          <p:spPr>
            <a:xfrm>
              <a:off x="1000125" y="1924050"/>
              <a:ext cx="95250" cy="95250"/>
            </a:xfrm>
            <a:prstGeom prst="ellipse">
              <a:avLst/>
            </a:prstGeom>
            <a:solidFill>
              <a:srgbClr val="34D3C0"/>
            </a:solidFill>
            <a:ln>
              <a:noFill/>
            </a:ln>
          </p:spPr>
        </p:sp>
        <p:sp>
          <p:nvSpPr>
            <p:cNvPr id="10" name="TextBox 10"/>
            <p:cNvSpPr txBox="1"/>
            <p:nvPr/>
          </p:nvSpPr>
          <p:spPr>
            <a:xfrm>
              <a:off x="1195006" y="1910001"/>
              <a:ext cx="1417299" cy="198025"/>
            </a:xfrm>
            <a:prstGeom prst="rect">
              <a:avLst/>
            </a:prstGeom>
            <a:noFill/>
            <a:ln>
              <a:noFill/>
            </a:ln>
          </p:spPr>
          <p:txBody>
            <a:bodyPr wrap="none" lIns="0" tIns="0" rIns="0" bIns="0" anchor="t" anchorCtr="0">
              <a:spAutoFit/>
            </a:bodyPr>
            <a:lstStyle/>
            <a:p>
              <a:pPr algn="l"/>
              <a:r>
                <a:rPr lang="en-US" sz="1010" b="1" dirty="0">
                  <a:solidFill>
                    <a:schemeClr val="dk1"/>
                  </a:solidFill>
                  <a:latin typeface="+mn-lt"/>
                  <a:ea typeface="+mn-ea"/>
                  <a:cs typeface="+mn-cs"/>
                </a:rPr>
                <a:t>L = floor(log2 k) + 2</a:t>
              </a:r>
            </a:p>
          </p:txBody>
        </p:sp>
        <p:sp>
          <p:nvSpPr>
            <p:cNvPr id="11" name="Rectangle 11"/>
            <p:cNvSpPr/>
            <p:nvPr/>
          </p:nvSpPr>
          <p:spPr>
            <a:xfrm>
              <a:off x="5486400" y="1828800"/>
              <a:ext cx="4476750" cy="285750"/>
            </a:xfrm>
            <a:prstGeom prst="roundRect">
              <a:avLst>
                <a:gd name="adj" fmla="val 26667"/>
              </a:avLst>
            </a:prstGeom>
            <a:solidFill>
              <a:schemeClr val="accent6"/>
            </a:solidFill>
            <a:ln w="14288">
              <a:solidFill>
                <a:srgbClr val="26455F"/>
              </a:solidFill>
            </a:ln>
          </p:spPr>
        </p:sp>
        <p:sp>
          <p:nvSpPr>
            <p:cNvPr id="12" name="Ellipse 12"/>
            <p:cNvSpPr/>
            <p:nvPr/>
          </p:nvSpPr>
          <p:spPr>
            <a:xfrm>
              <a:off x="5610225" y="1924050"/>
              <a:ext cx="95250" cy="95250"/>
            </a:xfrm>
            <a:prstGeom prst="ellipse">
              <a:avLst/>
            </a:prstGeom>
            <a:solidFill>
              <a:srgbClr val="F2C14E"/>
            </a:solidFill>
            <a:ln>
              <a:noFill/>
            </a:ln>
          </p:spPr>
        </p:sp>
        <p:sp>
          <p:nvSpPr>
            <p:cNvPr id="13" name="TextBox 13"/>
            <p:cNvSpPr txBox="1"/>
            <p:nvPr/>
          </p:nvSpPr>
          <p:spPr>
            <a:xfrm>
              <a:off x="5805106" y="1910001"/>
              <a:ext cx="2487251" cy="198025"/>
            </a:xfrm>
            <a:prstGeom prst="rect">
              <a:avLst/>
            </a:prstGeom>
            <a:noFill/>
            <a:ln>
              <a:noFill/>
            </a:ln>
          </p:spPr>
          <p:txBody>
            <a:bodyPr wrap="none" lIns="0" tIns="0" rIns="0" bIns="0" anchor="t" anchorCtr="0">
              <a:spAutoFit/>
            </a:bodyPr>
            <a:lstStyle/>
            <a:p>
              <a:pPr algn="l"/>
              <a:r>
                <a:rPr lang="en-US" sz="1010" b="1" dirty="0">
                  <a:solidFill>
                    <a:schemeClr val="dk1"/>
                  </a:solidFill>
                  <a:latin typeface="+mn-lt"/>
                  <a:ea typeface="+mn-ea"/>
                  <a:cs typeface="+mn-cs"/>
                </a:rPr>
                <a:t>+1 layer ~ 2x k (6 layers -&gt; k &lt;= 16)</a:t>
              </a:r>
            </a:p>
          </p:txBody>
        </p:sp>
      </p:grpSp>
      <p:grpSp>
        <p:nvGrpSpPr>
          <p:cNvPr id="21" name="Group 21"/>
          <p:cNvGrpSpPr/>
          <p:nvPr/>
        </p:nvGrpSpPr>
        <p:grpSpPr>
          <a:xfrm>
            <a:off x="609600" y="2343150"/>
            <a:ext cx="5334000" cy="1257300"/>
            <a:chOff x="609600" y="2343150"/>
            <a:chExt cx="5334000" cy="1257300"/>
          </a:xfrm>
        </p:grpSpPr>
        <p:sp>
          <p:nvSpPr>
            <p:cNvPr id="15" name="Rectangle 15"/>
            <p:cNvSpPr/>
            <p:nvPr/>
          </p:nvSpPr>
          <p:spPr>
            <a:xfrm>
              <a:off x="609600" y="2343150"/>
              <a:ext cx="5334000" cy="1257300"/>
            </a:xfrm>
            <a:prstGeom prst="roundRect">
              <a:avLst>
                <a:gd name="adj" fmla="val 10606"/>
              </a:avLst>
            </a:prstGeom>
            <a:solidFill>
              <a:schemeClr val="accent5"/>
            </a:solidFill>
            <a:ln w="14288">
              <a:solidFill>
                <a:srgbClr val="26455F"/>
              </a:solidFill>
            </a:ln>
          </p:spPr>
        </p:sp>
        <p:sp>
          <p:nvSpPr>
            <p:cNvPr id="16" name="Rectangle 16"/>
            <p:cNvSpPr/>
            <p:nvPr/>
          </p:nvSpPr>
          <p:spPr>
            <a:xfrm>
              <a:off x="609600" y="2343150"/>
              <a:ext cx="5334000" cy="57150"/>
            </a:xfrm>
            <a:prstGeom prst="roundRect">
              <a:avLst>
                <a:gd name="adj" fmla="val 50000"/>
              </a:avLst>
            </a:prstGeom>
            <a:solidFill>
              <a:srgbClr val="34D3C0"/>
            </a:solidFill>
            <a:ln>
              <a:noFill/>
            </a:ln>
          </p:spPr>
        </p:sp>
        <p:sp>
          <p:nvSpPr>
            <p:cNvPr id="17" name="TextBox 17"/>
            <p:cNvSpPr txBox="1"/>
            <p:nvPr/>
          </p:nvSpPr>
          <p:spPr>
            <a:xfrm>
              <a:off x="870204" y="2594610"/>
              <a:ext cx="2553345" cy="234696"/>
            </a:xfrm>
            <a:prstGeom prst="rect">
              <a:avLst/>
            </a:prstGeom>
            <a:noFill/>
            <a:ln>
              <a:noFill/>
            </a:ln>
          </p:spPr>
          <p:txBody>
            <a:bodyPr wrap="none" lIns="0" tIns="0" rIns="0" bIns="0" anchor="t" anchorCtr="0">
              <a:spAutoFit/>
            </a:bodyPr>
            <a:lstStyle/>
            <a:p>
              <a:pPr algn="l"/>
              <a:r>
                <a:rPr lang="en-US" sz="1200" b="1" dirty="0">
                  <a:solidFill>
                    <a:srgbClr val="34D3C0"/>
                  </a:solidFill>
                  <a:latin typeface="+mn-lt"/>
                  <a:ea typeface="+mn-ea"/>
                  <a:cs typeface="+mn-cs"/>
                </a:rPr>
                <a:t>Simulation constants are clean</a:t>
              </a:r>
            </a:p>
          </p:txBody>
        </p:sp>
        <p:sp>
          <p:nvSpPr>
            <p:cNvPr id="18" name="Rectangle 18"/>
            <p:cNvSpPr/>
            <p:nvPr/>
          </p:nvSpPr>
          <p:spPr>
            <a:xfrm>
              <a:off x="876300" y="2895600"/>
              <a:ext cx="4800600" cy="514350"/>
            </a:xfrm>
            <a:prstGeom prst="roundRect">
              <a:avLst>
                <a:gd name="adj" fmla="val 14815"/>
              </a:avLst>
            </a:prstGeom>
            <a:solidFill>
              <a:schemeClr val="accent6"/>
            </a:solidFill>
            <a:ln w="14288">
              <a:solidFill>
                <a:srgbClr val="26455F"/>
              </a:solidFill>
            </a:ln>
          </p:spPr>
        </p:sp>
        <p:sp>
          <p:nvSpPr>
            <p:cNvPr id="19" name="TextBox 19"/>
            <p:cNvSpPr txBox="1"/>
            <p:nvPr/>
          </p:nvSpPr>
          <p:spPr>
            <a:xfrm>
              <a:off x="2288343" y="3010852"/>
              <a:ext cx="1976514" cy="205359"/>
            </a:xfrm>
            <a:prstGeom prst="rect">
              <a:avLst/>
            </a:prstGeom>
            <a:noFill/>
            <a:ln>
              <a:noFill/>
            </a:ln>
          </p:spPr>
          <p:txBody>
            <a:bodyPr wrap="none" lIns="0" tIns="0" rIns="0" bIns="0" anchor="t" anchorCtr="0">
              <a:spAutoFit/>
            </a:bodyPr>
            <a:lstStyle/>
            <a:p>
              <a:pPr algn="ctr"/>
              <a:r>
                <a:rPr lang="en-US" sz="1050" b="1" dirty="0">
                  <a:solidFill>
                    <a:schemeClr val="dk1"/>
                  </a:solidFill>
                  <a:latin typeface="Consolas"/>
                  <a:ea typeface="Consolas"/>
                  <a:cs typeface="Consolas"/>
                </a:rPr>
                <a:t>R-round MPC -&gt; depth R + 1</a:t>
              </a:r>
            </a:p>
          </p:txBody>
        </p:sp>
        <p:sp>
          <p:nvSpPr>
            <p:cNvPr id="20" name="TextBox 20"/>
            <p:cNvSpPr txBox="1"/>
            <p:nvPr/>
          </p:nvSpPr>
          <p:spPr>
            <a:xfrm>
              <a:off x="1772169" y="3201352"/>
              <a:ext cx="3008863" cy="205359"/>
            </a:xfrm>
            <a:prstGeom prst="rect">
              <a:avLst/>
            </a:prstGeom>
            <a:noFill/>
            <a:ln>
              <a:noFill/>
            </a:ln>
          </p:spPr>
          <p:txBody>
            <a:bodyPr wrap="none" lIns="0" tIns="0" rIns="0" bIns="0" anchor="t" anchorCtr="0">
              <a:spAutoFit/>
            </a:bodyPr>
            <a:lstStyle/>
            <a:p>
              <a:pPr algn="ctr"/>
              <a:r>
                <a:rPr lang="en-US" sz="1050" b="1" dirty="0">
                  <a:solidFill>
                    <a:schemeClr val="dk2"/>
                  </a:solidFill>
                  <a:latin typeface="Consolas"/>
                  <a:ea typeface="Consolas"/>
                  <a:cs typeface="Consolas"/>
                </a:rPr>
                <a:t>depth-L transformer -&gt; O(L)-round MPC</a:t>
              </a:r>
            </a:p>
          </p:txBody>
        </p:sp>
      </p:grpSp>
      <p:grpSp>
        <p:nvGrpSpPr>
          <p:cNvPr id="31" name="Group 31"/>
          <p:cNvGrpSpPr/>
          <p:nvPr/>
        </p:nvGrpSpPr>
        <p:grpSpPr>
          <a:xfrm>
            <a:off x="6172200" y="2343150"/>
            <a:ext cx="5334000" cy="1257300"/>
            <a:chOff x="6172200" y="2343150"/>
            <a:chExt cx="5334000" cy="1257300"/>
          </a:xfrm>
        </p:grpSpPr>
        <p:sp>
          <p:nvSpPr>
            <p:cNvPr id="22" name="Rectangle 22"/>
            <p:cNvSpPr/>
            <p:nvPr/>
          </p:nvSpPr>
          <p:spPr>
            <a:xfrm>
              <a:off x="6172200" y="2343150"/>
              <a:ext cx="5334000" cy="1257300"/>
            </a:xfrm>
            <a:prstGeom prst="roundRect">
              <a:avLst>
                <a:gd name="adj" fmla="val 10606"/>
              </a:avLst>
            </a:prstGeom>
            <a:solidFill>
              <a:schemeClr val="accent5"/>
            </a:solidFill>
            <a:ln w="14288">
              <a:solidFill>
                <a:srgbClr val="26455F"/>
              </a:solidFill>
            </a:ln>
          </p:spPr>
        </p:sp>
        <p:sp>
          <p:nvSpPr>
            <p:cNvPr id="23" name="Rectangle 23"/>
            <p:cNvSpPr/>
            <p:nvPr/>
          </p:nvSpPr>
          <p:spPr>
            <a:xfrm>
              <a:off x="6172200" y="2343150"/>
              <a:ext cx="5334000" cy="57150"/>
            </a:xfrm>
            <a:prstGeom prst="roundRect">
              <a:avLst>
                <a:gd name="adj" fmla="val 50000"/>
              </a:avLst>
            </a:prstGeom>
            <a:solidFill>
              <a:srgbClr val="F2685C"/>
            </a:solidFill>
            <a:ln>
              <a:noFill/>
            </a:ln>
          </p:spPr>
        </p:sp>
        <p:sp>
          <p:nvSpPr>
            <p:cNvPr id="24" name="TextBox 24"/>
            <p:cNvSpPr txBox="1"/>
            <p:nvPr/>
          </p:nvSpPr>
          <p:spPr>
            <a:xfrm>
              <a:off x="6432804" y="2594610"/>
              <a:ext cx="2509930" cy="234696"/>
            </a:xfrm>
            <a:prstGeom prst="rect">
              <a:avLst/>
            </a:prstGeom>
            <a:noFill/>
            <a:ln>
              <a:noFill/>
            </a:ln>
          </p:spPr>
          <p:txBody>
            <a:bodyPr wrap="none" lIns="0" tIns="0" rIns="0" bIns="0" anchor="t" anchorCtr="0">
              <a:spAutoFit/>
            </a:bodyPr>
            <a:lstStyle/>
            <a:p>
              <a:pPr algn="l"/>
              <a:r>
                <a:rPr lang="en-US" sz="1200" b="1" dirty="0">
                  <a:solidFill>
                    <a:srgbClr val="F2685C"/>
                  </a:solidFill>
                  <a:latin typeface="+mn-lt"/>
                  <a:ea typeface="+mn-ea"/>
                  <a:cs typeface="+mn-cs"/>
                </a:rPr>
                <a:t>Competitors need depth L &gt;= k</a:t>
              </a:r>
            </a:p>
          </p:txBody>
        </p:sp>
        <p:sp>
          <p:nvSpPr>
            <p:cNvPr id="25" name="Rectangle 25"/>
            <p:cNvSpPr/>
            <p:nvPr/>
          </p:nvSpPr>
          <p:spPr>
            <a:xfrm>
              <a:off x="6438900" y="2895600"/>
              <a:ext cx="4800600" cy="228600"/>
            </a:xfrm>
            <a:prstGeom prst="roundRect">
              <a:avLst>
                <a:gd name="adj" fmla="val 33333"/>
              </a:avLst>
            </a:prstGeom>
            <a:solidFill>
              <a:schemeClr val="accent6"/>
            </a:solidFill>
            <a:ln w="14288">
              <a:solidFill>
                <a:srgbClr val="26455F"/>
              </a:solidFill>
            </a:ln>
          </p:spPr>
        </p:sp>
        <p:sp>
          <p:nvSpPr>
            <p:cNvPr id="26" name="Ellipse 26"/>
            <p:cNvSpPr/>
            <p:nvPr/>
          </p:nvSpPr>
          <p:spPr>
            <a:xfrm>
              <a:off x="6562725" y="2962275"/>
              <a:ext cx="95250" cy="95250"/>
            </a:xfrm>
            <a:prstGeom prst="ellipse">
              <a:avLst/>
            </a:prstGeom>
            <a:solidFill>
              <a:srgbClr val="F2685C"/>
            </a:solidFill>
            <a:ln>
              <a:noFill/>
            </a:ln>
          </p:spPr>
        </p:sp>
        <p:sp>
          <p:nvSpPr>
            <p:cNvPr id="27" name="TextBox 27"/>
            <p:cNvSpPr txBox="1"/>
            <p:nvPr/>
          </p:nvSpPr>
          <p:spPr>
            <a:xfrm>
              <a:off x="6757797" y="2952274"/>
              <a:ext cx="2438668" cy="190690"/>
            </a:xfrm>
            <a:prstGeom prst="rect">
              <a:avLst/>
            </a:prstGeom>
            <a:noFill/>
            <a:ln>
              <a:noFill/>
            </a:ln>
          </p:spPr>
          <p:txBody>
            <a:bodyPr wrap="none" lIns="0" tIns="0" rIns="0" bIns="0" anchor="t" anchorCtr="0">
              <a:spAutoFit/>
            </a:bodyPr>
            <a:lstStyle/>
            <a:p>
              <a:pPr algn="l"/>
              <a:r>
                <a:rPr lang="en-US" sz="980" b="1" dirty="0">
                  <a:solidFill>
                    <a:schemeClr val="dk1"/>
                  </a:solidFill>
                  <a:latin typeface="+mn-lt"/>
                  <a:ea typeface="+mn-ea"/>
                  <a:cs typeface="+mn-cs"/>
                </a:rPr>
                <a:t>multi-layer RNN / Mamba (Cor. 5.2)</a:t>
              </a:r>
            </a:p>
          </p:txBody>
        </p:sp>
        <p:sp>
          <p:nvSpPr>
            <p:cNvPr id="28" name="Rectangle 28"/>
            <p:cNvSpPr/>
            <p:nvPr/>
          </p:nvSpPr>
          <p:spPr>
            <a:xfrm>
              <a:off x="6438900" y="3200400"/>
              <a:ext cx="4800600" cy="228600"/>
            </a:xfrm>
            <a:prstGeom prst="roundRect">
              <a:avLst>
                <a:gd name="adj" fmla="val 33333"/>
              </a:avLst>
            </a:prstGeom>
            <a:solidFill>
              <a:schemeClr val="accent6"/>
            </a:solidFill>
            <a:ln w="14288">
              <a:solidFill>
                <a:srgbClr val="26455F"/>
              </a:solidFill>
            </a:ln>
          </p:spPr>
        </p:sp>
        <p:sp>
          <p:nvSpPr>
            <p:cNvPr id="29" name="Ellipse 29"/>
            <p:cNvSpPr/>
            <p:nvPr/>
          </p:nvSpPr>
          <p:spPr>
            <a:xfrm>
              <a:off x="6562725" y="3267075"/>
              <a:ext cx="95250" cy="95250"/>
            </a:xfrm>
            <a:prstGeom prst="ellipse">
              <a:avLst/>
            </a:prstGeom>
            <a:solidFill>
              <a:srgbClr val="F2C14E"/>
            </a:solidFill>
            <a:ln>
              <a:noFill/>
            </a:ln>
          </p:spPr>
        </p:sp>
        <p:sp>
          <p:nvSpPr>
            <p:cNvPr id="30" name="TextBox 30"/>
            <p:cNvSpPr txBox="1"/>
            <p:nvPr/>
          </p:nvSpPr>
          <p:spPr>
            <a:xfrm>
              <a:off x="6757797" y="3257074"/>
              <a:ext cx="3311137" cy="190690"/>
            </a:xfrm>
            <a:prstGeom prst="rect">
              <a:avLst/>
            </a:prstGeom>
            <a:noFill/>
            <a:ln>
              <a:noFill/>
            </a:ln>
          </p:spPr>
          <p:txBody>
            <a:bodyPr wrap="none" lIns="0" tIns="0" rIns="0" bIns="0" anchor="t" anchorCtr="0">
              <a:spAutoFit/>
            </a:bodyPr>
            <a:lstStyle/>
            <a:p>
              <a:pPr algn="l"/>
              <a:r>
                <a:rPr lang="en-US" sz="980" b="1" dirty="0">
                  <a:solidFill>
                    <a:schemeClr val="dk1"/>
                  </a:solidFill>
                  <a:latin typeface="+mn-lt"/>
                  <a:ea typeface="+mn-ea"/>
                  <a:cs typeface="+mn-cs"/>
                </a:rPr>
                <a:t>sub-quadratic attention / Performer (Cor. 5.3)</a:t>
              </a:r>
            </a:p>
          </p:txBody>
        </p:sp>
      </p:grpSp>
      <p:grpSp>
        <p:nvGrpSpPr>
          <p:cNvPr id="43" name="Group 43"/>
          <p:cNvGrpSpPr/>
          <p:nvPr/>
        </p:nvGrpSpPr>
        <p:grpSpPr>
          <a:xfrm>
            <a:off x="609600" y="3790950"/>
            <a:ext cx="10972800" cy="1447800"/>
            <a:chOff x="609600" y="3790950"/>
            <a:chExt cx="10972800" cy="1447800"/>
          </a:xfrm>
        </p:grpSpPr>
        <p:sp>
          <p:nvSpPr>
            <p:cNvPr id="32" name="Rectangle 32"/>
            <p:cNvSpPr/>
            <p:nvPr/>
          </p:nvSpPr>
          <p:spPr>
            <a:xfrm>
              <a:off x="609600" y="3790950"/>
              <a:ext cx="10972800" cy="1447800"/>
            </a:xfrm>
            <a:prstGeom prst="roundRect">
              <a:avLst>
                <a:gd name="adj" fmla="val 9211"/>
              </a:avLst>
            </a:prstGeom>
            <a:solidFill>
              <a:srgbClr val="0F2E2B"/>
            </a:solidFill>
            <a:ln w="14288">
              <a:solidFill>
                <a:srgbClr val="34D3C0"/>
              </a:solidFill>
            </a:ln>
          </p:spPr>
        </p:sp>
        <p:sp>
          <p:nvSpPr>
            <p:cNvPr id="33" name="Rectangle 33"/>
            <p:cNvSpPr/>
            <p:nvPr/>
          </p:nvSpPr>
          <p:spPr>
            <a:xfrm>
              <a:off x="609600" y="3790950"/>
              <a:ext cx="57150" cy="1447800"/>
            </a:xfrm>
            <a:prstGeom prst="roundRect">
              <a:avLst>
                <a:gd name="adj" fmla="val 50000"/>
              </a:avLst>
            </a:prstGeom>
            <a:solidFill>
              <a:srgbClr val="34D3C0"/>
            </a:solidFill>
            <a:ln>
              <a:noFill/>
            </a:ln>
          </p:spPr>
        </p:sp>
        <p:sp>
          <p:nvSpPr>
            <p:cNvPr id="34" name="TextBox 34"/>
            <p:cNvSpPr txBox="1"/>
            <p:nvPr/>
          </p:nvSpPr>
          <p:spPr>
            <a:xfrm>
              <a:off x="870394" y="3970258"/>
              <a:ext cx="5649486" cy="227362"/>
            </a:xfrm>
            <a:prstGeom prst="rect">
              <a:avLst/>
            </a:prstGeom>
            <a:noFill/>
            <a:ln>
              <a:noFill/>
            </a:ln>
          </p:spPr>
          <p:txBody>
            <a:bodyPr wrap="none" lIns="0" tIns="0" rIns="0" bIns="0" anchor="t" anchorCtr="0">
              <a:spAutoFit/>
            </a:bodyPr>
            <a:lstStyle/>
            <a:p>
              <a:pPr algn="l"/>
              <a:r>
                <a:rPr lang="en-US" sz="1160" b="1" dirty="0">
                  <a:solidFill>
                    <a:schemeClr val="dk1"/>
                  </a:solidFill>
                  <a:latin typeface="+mn-lt"/>
                  <a:ea typeface="+mn-ea"/>
                  <a:cs typeface="+mn-cs"/>
                </a:rPr>
                <a:t>Where the transformer is logarithmic in k, the alternatives are linear</a:t>
              </a:r>
            </a:p>
          </p:txBody>
        </p:sp>
        <p:sp>
          <p:nvSpPr>
            <p:cNvPr id="35" name="Line 35"/>
            <p:cNvSpPr/>
            <p:nvPr/>
          </p:nvSpPr>
          <p:spPr>
            <a:xfrm>
              <a:off x="6953250" y="4000500"/>
              <a:ext cx="9525" cy="914400"/>
            </a:xfrm>
            <a:custGeom>
              <a:avLst/>
              <a:gdLst/>
              <a:ahLst/>
              <a:cxnLst/>
              <a:rect l="l" t="t" r="r" b="b"/>
              <a:pathLst>
                <a:path w="9525" h="914400">
                  <a:moveTo>
                    <a:pt x="0" y="0"/>
                  </a:moveTo>
                  <a:lnTo>
                    <a:pt x="0" y="914400"/>
                  </a:lnTo>
                </a:path>
              </a:pathLst>
            </a:custGeom>
            <a:noFill/>
            <a:ln w="13335" cap="rnd">
              <a:solidFill>
                <a:srgbClr val="26455F"/>
              </a:solidFill>
            </a:ln>
          </p:spPr>
        </p:sp>
        <p:sp>
          <p:nvSpPr>
            <p:cNvPr id="36" name="Line 36"/>
            <p:cNvSpPr/>
            <p:nvPr/>
          </p:nvSpPr>
          <p:spPr>
            <a:xfrm>
              <a:off x="6953250" y="4914900"/>
              <a:ext cx="4057650" cy="9525"/>
            </a:xfrm>
            <a:custGeom>
              <a:avLst/>
              <a:gdLst/>
              <a:ahLst/>
              <a:cxnLst/>
              <a:rect l="l" t="t" r="r" b="b"/>
              <a:pathLst>
                <a:path w="4057650" h="9525">
                  <a:moveTo>
                    <a:pt x="0" y="0"/>
                  </a:moveTo>
                  <a:lnTo>
                    <a:pt x="4057650" y="0"/>
                  </a:lnTo>
                </a:path>
              </a:pathLst>
            </a:custGeom>
            <a:noFill/>
            <a:ln w="13335" cap="rnd">
              <a:solidFill>
                <a:srgbClr val="26455F"/>
              </a:solidFill>
            </a:ln>
          </p:spPr>
        </p:sp>
        <p:sp>
          <p:nvSpPr>
            <p:cNvPr id="37" name="Polyline 37"/>
            <p:cNvSpPr/>
            <p:nvPr/>
          </p:nvSpPr>
          <p:spPr>
            <a:xfrm>
              <a:off x="7206853" y="4114800"/>
              <a:ext cx="3804047" cy="750094"/>
            </a:xfrm>
            <a:custGeom>
              <a:avLst/>
              <a:gdLst/>
              <a:ahLst/>
              <a:cxnLst/>
              <a:rect l="l" t="t" r="r" b="b"/>
              <a:pathLst>
                <a:path w="3804047" h="750094">
                  <a:moveTo>
                    <a:pt x="0" y="750094"/>
                  </a:moveTo>
                  <a:lnTo>
                    <a:pt x="253603" y="700088"/>
                  </a:lnTo>
                  <a:lnTo>
                    <a:pt x="507206" y="650081"/>
                  </a:lnTo>
                  <a:lnTo>
                    <a:pt x="760809" y="600075"/>
                  </a:lnTo>
                  <a:lnTo>
                    <a:pt x="1014412" y="550069"/>
                  </a:lnTo>
                  <a:lnTo>
                    <a:pt x="1268016" y="500062"/>
                  </a:lnTo>
                  <a:lnTo>
                    <a:pt x="1521619" y="450056"/>
                  </a:lnTo>
                  <a:lnTo>
                    <a:pt x="1775222" y="400050"/>
                  </a:lnTo>
                  <a:lnTo>
                    <a:pt x="2028825" y="350044"/>
                  </a:lnTo>
                  <a:lnTo>
                    <a:pt x="2282428" y="300038"/>
                  </a:lnTo>
                  <a:lnTo>
                    <a:pt x="2536031" y="250031"/>
                  </a:lnTo>
                  <a:lnTo>
                    <a:pt x="2789634" y="200025"/>
                  </a:lnTo>
                  <a:lnTo>
                    <a:pt x="3043238" y="150019"/>
                  </a:lnTo>
                  <a:lnTo>
                    <a:pt x="3296841" y="100012"/>
                  </a:lnTo>
                  <a:lnTo>
                    <a:pt x="3550444" y="50006"/>
                  </a:lnTo>
                  <a:lnTo>
                    <a:pt x="3804047" y="0"/>
                  </a:lnTo>
                </a:path>
              </a:pathLst>
            </a:custGeom>
            <a:noFill/>
            <a:ln w="24765">
              <a:solidFill>
                <a:srgbClr val="F2685C"/>
              </a:solidFill>
            </a:ln>
          </p:spPr>
        </p:sp>
        <p:sp>
          <p:nvSpPr>
            <p:cNvPr id="38" name="Polyline 38"/>
            <p:cNvSpPr/>
            <p:nvPr/>
          </p:nvSpPr>
          <p:spPr>
            <a:xfrm>
              <a:off x="7206853" y="4614862"/>
              <a:ext cx="3804047" cy="200025"/>
            </a:xfrm>
            <a:custGeom>
              <a:avLst/>
              <a:gdLst/>
              <a:ahLst/>
              <a:cxnLst/>
              <a:rect l="l" t="t" r="r" b="b"/>
              <a:pathLst>
                <a:path w="3804047" h="200025">
                  <a:moveTo>
                    <a:pt x="0" y="200025"/>
                  </a:moveTo>
                  <a:lnTo>
                    <a:pt x="253603" y="150019"/>
                  </a:lnTo>
                  <a:lnTo>
                    <a:pt x="507206" y="120767"/>
                  </a:lnTo>
                  <a:lnTo>
                    <a:pt x="760809" y="100012"/>
                  </a:lnTo>
                  <a:lnTo>
                    <a:pt x="1014412" y="83914"/>
                  </a:lnTo>
                  <a:lnTo>
                    <a:pt x="1268016" y="70761"/>
                  </a:lnTo>
                  <a:lnTo>
                    <a:pt x="1521619" y="59640"/>
                  </a:lnTo>
                  <a:lnTo>
                    <a:pt x="1775222" y="50006"/>
                  </a:lnTo>
                  <a:lnTo>
                    <a:pt x="2028825" y="41509"/>
                  </a:lnTo>
                  <a:lnTo>
                    <a:pt x="2282428" y="33908"/>
                  </a:lnTo>
                  <a:lnTo>
                    <a:pt x="2536031" y="27032"/>
                  </a:lnTo>
                  <a:lnTo>
                    <a:pt x="2789634" y="20754"/>
                  </a:lnTo>
                  <a:lnTo>
                    <a:pt x="3043238" y="14980"/>
                  </a:lnTo>
                  <a:lnTo>
                    <a:pt x="3296841" y="9633"/>
                  </a:lnTo>
                  <a:lnTo>
                    <a:pt x="3550444" y="4656"/>
                  </a:lnTo>
                  <a:lnTo>
                    <a:pt x="3804047" y="0"/>
                  </a:lnTo>
                </a:path>
              </a:pathLst>
            </a:custGeom>
            <a:noFill/>
            <a:ln w="24765">
              <a:solidFill>
                <a:srgbClr val="34D3C0"/>
              </a:solidFill>
            </a:ln>
          </p:spPr>
        </p:sp>
        <p:sp>
          <p:nvSpPr>
            <p:cNvPr id="39" name="TextBox 39"/>
            <p:cNvSpPr txBox="1"/>
            <p:nvPr/>
          </p:nvSpPr>
          <p:spPr>
            <a:xfrm>
              <a:off x="9363800" y="4044791"/>
              <a:ext cx="1651862" cy="161925"/>
            </a:xfrm>
            <a:prstGeom prst="rect">
              <a:avLst/>
            </a:prstGeom>
            <a:noFill/>
            <a:ln>
              <a:noFill/>
            </a:ln>
          </p:spPr>
          <p:txBody>
            <a:bodyPr wrap="none" lIns="0" tIns="0" rIns="0" bIns="0" anchor="t" anchorCtr="0">
              <a:spAutoFit/>
            </a:bodyPr>
            <a:lstStyle/>
            <a:p>
              <a:pPr algn="r"/>
              <a:r>
                <a:rPr lang="en-US" sz="820" b="1" dirty="0">
                  <a:solidFill>
                    <a:srgbClr val="F2685C"/>
                  </a:solidFill>
                  <a:latin typeface="+mn-lt"/>
                  <a:ea typeface="+mn-ea"/>
                  <a:cs typeface="+mn-cs"/>
                </a:rPr>
                <a:t>RNN / Mamba / Performer ~ k</a:t>
              </a:r>
            </a:p>
          </p:txBody>
        </p:sp>
        <p:sp>
          <p:nvSpPr>
            <p:cNvPr id="40" name="TextBox 40"/>
            <p:cNvSpPr txBox="1"/>
            <p:nvPr/>
          </p:nvSpPr>
          <p:spPr>
            <a:xfrm>
              <a:off x="9887627" y="4544854"/>
              <a:ext cx="1128035" cy="161925"/>
            </a:xfrm>
            <a:prstGeom prst="rect">
              <a:avLst/>
            </a:prstGeom>
            <a:noFill/>
            <a:ln>
              <a:noFill/>
            </a:ln>
          </p:spPr>
          <p:txBody>
            <a:bodyPr wrap="none" lIns="0" tIns="0" rIns="0" bIns="0" anchor="t" anchorCtr="0">
              <a:spAutoFit/>
            </a:bodyPr>
            <a:lstStyle/>
            <a:p>
              <a:pPr algn="r"/>
              <a:r>
                <a:rPr lang="en-US" sz="820" b="1" dirty="0">
                  <a:solidFill>
                    <a:srgbClr val="34D3C0"/>
                  </a:solidFill>
                  <a:latin typeface="+mn-lt"/>
                  <a:ea typeface="+mn-ea"/>
                  <a:cs typeface="+mn-cs"/>
                </a:rPr>
                <a:t>transformer ~ log k</a:t>
              </a:r>
            </a:p>
          </p:txBody>
        </p:sp>
        <p:sp>
          <p:nvSpPr>
            <p:cNvPr id="41" name="TextBox 41"/>
            <p:cNvSpPr txBox="1"/>
            <p:nvPr/>
          </p:nvSpPr>
          <p:spPr>
            <a:xfrm>
              <a:off x="8667436" y="5020389"/>
              <a:ext cx="629278" cy="154781"/>
            </a:xfrm>
            <a:prstGeom prst="rect">
              <a:avLst/>
            </a:prstGeom>
            <a:noFill/>
            <a:ln>
              <a:noFill/>
            </a:ln>
          </p:spPr>
          <p:txBody>
            <a:bodyPr wrap="none" lIns="0" tIns="0" rIns="0" bIns="0" anchor="t" anchorCtr="0">
              <a:spAutoFit/>
            </a:bodyPr>
            <a:lstStyle/>
            <a:p>
              <a:pPr algn="ctr"/>
              <a:r>
                <a:rPr lang="en-US" sz="790" b="1" dirty="0">
                  <a:solidFill>
                    <a:schemeClr val="dk2"/>
                  </a:solidFill>
                  <a:latin typeface="+mn-lt"/>
                  <a:ea typeface="+mn-ea"/>
                  <a:cs typeface="+mn-cs"/>
                </a:rPr>
                <a:t>hop count k</a:t>
              </a:r>
            </a:p>
          </p:txBody>
        </p:sp>
        <p:sp>
          <p:nvSpPr>
            <p:cNvPr id="42" name="TextBox 42"/>
            <p:cNvSpPr txBox="1"/>
            <p:nvPr/>
          </p:nvSpPr>
          <p:spPr>
            <a:xfrm>
              <a:off x="6584252" y="3972639"/>
              <a:ext cx="316610" cy="154781"/>
            </a:xfrm>
            <a:prstGeom prst="rect">
              <a:avLst/>
            </a:prstGeom>
            <a:noFill/>
            <a:ln>
              <a:noFill/>
            </a:ln>
          </p:spPr>
          <p:txBody>
            <a:bodyPr wrap="none" lIns="0" tIns="0" rIns="0" bIns="0" anchor="t" anchorCtr="0">
              <a:spAutoFit/>
            </a:bodyPr>
            <a:lstStyle/>
            <a:p>
              <a:pPr algn="r"/>
              <a:r>
                <a:rPr lang="en-US" sz="790" b="1" dirty="0">
                  <a:solidFill>
                    <a:schemeClr val="dk2"/>
                  </a:solidFill>
                  <a:latin typeface="+mn-lt"/>
                  <a:ea typeface="+mn-ea"/>
                  <a:cs typeface="+mn-cs"/>
                </a:rPr>
                <a:t>depth</a:t>
              </a:r>
            </a:p>
          </p:txBody>
        </p:sp>
      </p:grpSp>
      <p:sp>
        <p:nvSpPr>
          <p:cNvPr id="44" name="cue_s09_c1_few_numbers_capture_solving_k_hop" title="cue_s09_c1_few_numbers_capture_solving_k_hop" descr="cue_s09_c1_few_numbers_capture_solving_k_hop A few numbers capture the paper. Solving k-hop needs depth equal to floor of log base two of k plus two, and that formula holds both in the proof and in the trained networks. Adding a single layer roughly doubles the reach in k, so six layers cover everything"/>
          <p:cNvSpPr/>
          <p:nvPr/>
        </p:nvSpPr>
        <p:spPr>
          <a:xfrm>
            <a:off x="609600" y="1447723"/>
            <a:ext cx="10972800" cy="7050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cue_s09_c2_simulation_constants_clean_too_r_rou" title="cue_s09_c2_simulation_constants_clean_too_r_rou" descr="cue_s09_c2_simulation_constants_clean_too_r_rou The simulation constants are clean too: an R-round parallel protocol becomes a transformer of depth R plus one, and any depth-L transformer collapses into order-L parallel rounds."/>
          <p:cNvSpPr/>
          <p:nvPr/>
        </p:nvSpPr>
        <p:spPr>
          <a:xfrm>
            <a:off x="609600" y="2343378"/>
            <a:ext cx="5334000" cy="12570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ue_s09_c3_contrast_other_architectures_stark_m" title="cue_s09_c3_contrast_other_architectures_stark_m" descr="cue_s09_c3_contrast_other_architectures_stark_m The contrast with other architectures is stark: multi-layer recurrent networks, and by extension state-space models like Mamba, need depth at least k, and so do efficient sub-quadratic attention variants like Performer."/>
          <p:cNvSpPr/>
          <p:nvPr/>
        </p:nvSpPr>
        <p:spPr>
          <a:xfrm>
            <a:off x="6171590" y="2343378"/>
            <a:ext cx="5334000" cy="12570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cue_s09_c4_where_transformer_logarithmic_altern" title="cue_s09_c4_where_transformer_logarithmic_altern" descr="cue_s09_c4_where_transformer_logarithmic_altern Where the transformer is logarithmic in k, the alternatives are linear."/>
          <p:cNvSpPr/>
          <p:nvPr/>
        </p:nvSpPr>
        <p:spPr>
          <a:xfrm>
            <a:off x="609600" y="3791102"/>
            <a:ext cx="10972800" cy="14477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968079"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TAKEAWAY</a:t>
            </a:r>
          </a:p>
        </p:txBody>
      </p:sp>
      <p:sp>
        <p:nvSpPr>
          <p:cNvPr id="4" name="TextBox 4"/>
          <p:cNvSpPr txBox="1"/>
          <p:nvPr/>
        </p:nvSpPr>
        <p:spPr>
          <a:xfrm>
            <a:off x="598170" y="804862"/>
            <a:ext cx="9002382"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Transformers are, in a precise sense, parallel computers</a:t>
            </a:r>
          </a:p>
        </p:txBody>
      </p:sp>
      <p:grpSp>
        <p:nvGrpSpPr>
          <p:cNvPr id="9" name="Group 9"/>
          <p:cNvGrpSpPr/>
          <p:nvPr/>
        </p:nvGrpSpPr>
        <p:grpSpPr>
          <a:xfrm>
            <a:off x="609600" y="1428750"/>
            <a:ext cx="10972800" cy="685800"/>
            <a:chOff x="609600" y="1428750"/>
            <a:chExt cx="10972800" cy="685800"/>
          </a:xfrm>
        </p:grpSpPr>
        <p:sp>
          <p:nvSpPr>
            <p:cNvPr id="5" name="Rectangle 5"/>
            <p:cNvSpPr/>
            <p:nvPr/>
          </p:nvSpPr>
          <p:spPr>
            <a:xfrm>
              <a:off x="609600" y="1428750"/>
              <a:ext cx="10972800" cy="685800"/>
            </a:xfrm>
            <a:prstGeom prst="roundRect">
              <a:avLst>
                <a:gd name="adj" fmla="val 19444"/>
              </a:avLst>
            </a:prstGeom>
            <a:solidFill>
              <a:srgbClr val="0F2E2B"/>
            </a:solidFill>
            <a:ln w="14288">
              <a:solidFill>
                <a:srgbClr val="34D3C0"/>
              </a:solidFill>
            </a:ln>
          </p:spPr>
        </p:sp>
        <p:sp>
          <p:nvSpPr>
            <p:cNvPr id="6" name="Rectangle 6"/>
            <p:cNvSpPr/>
            <p:nvPr/>
          </p:nvSpPr>
          <p:spPr>
            <a:xfrm>
              <a:off x="609600" y="1428750"/>
              <a:ext cx="57150" cy="685800"/>
            </a:xfrm>
            <a:prstGeom prst="roundRect">
              <a:avLst>
                <a:gd name="adj" fmla="val 50000"/>
              </a:avLst>
            </a:prstGeom>
            <a:solidFill>
              <a:srgbClr val="34D3C0"/>
            </a:solidFill>
            <a:ln>
              <a:noFill/>
            </a:ln>
          </p:spPr>
        </p:sp>
        <p:sp>
          <p:nvSpPr>
            <p:cNvPr id="7" name="TextBox 7"/>
            <p:cNvSpPr txBox="1"/>
            <p:nvPr/>
          </p:nvSpPr>
          <p:spPr>
            <a:xfrm>
              <a:off x="870585" y="1612106"/>
              <a:ext cx="2302143" cy="220028"/>
            </a:xfrm>
            <a:prstGeom prst="rect">
              <a:avLst/>
            </a:prstGeom>
            <a:noFill/>
            <a:ln>
              <a:noFill/>
            </a:ln>
          </p:spPr>
          <p:txBody>
            <a:bodyPr wrap="none" lIns="0" tIns="0" rIns="0" bIns="0" anchor="t" anchorCtr="0">
              <a:spAutoFit/>
            </a:bodyPr>
            <a:lstStyle/>
            <a:p>
              <a:pPr algn="l"/>
              <a:r>
                <a:rPr lang="en-US" sz="1120" b="1" spc="75" dirty="0">
                  <a:solidFill>
                    <a:srgbClr val="34D3C0"/>
                  </a:solidFill>
                  <a:latin typeface="+mn-lt"/>
                  <a:ea typeface="+mn-ea"/>
                  <a:cs typeface="+mn-cs"/>
                </a:rPr>
                <a:t>The one thing to remember</a:t>
              </a:r>
            </a:p>
          </p:txBody>
        </p:sp>
        <p:sp>
          <p:nvSpPr>
            <p:cNvPr id="8" name="TextBox 8"/>
            <p:cNvSpPr txBox="1"/>
            <p:nvPr/>
          </p:nvSpPr>
          <p:spPr>
            <a:xfrm>
              <a:off x="869823" y="1862614"/>
              <a:ext cx="5184841"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A transformer is, in a precise sense, a parallel computer.</a:t>
              </a:r>
            </a:p>
          </p:txBody>
        </p:sp>
      </p:grpSp>
      <p:grpSp>
        <p:nvGrpSpPr>
          <p:cNvPr id="16" name="Group 16"/>
          <p:cNvGrpSpPr/>
          <p:nvPr/>
        </p:nvGrpSpPr>
        <p:grpSpPr>
          <a:xfrm>
            <a:off x="609600" y="2266950"/>
            <a:ext cx="10972800" cy="990647"/>
            <a:chOff x="609600" y="2266950"/>
            <a:chExt cx="10972800" cy="990647"/>
          </a:xfrm>
        </p:grpSpPr>
        <p:sp>
          <p:nvSpPr>
            <p:cNvPr id="10" name="Rectangle 10"/>
            <p:cNvSpPr/>
            <p:nvPr/>
          </p:nvSpPr>
          <p:spPr>
            <a:xfrm>
              <a:off x="609600" y="2266950"/>
              <a:ext cx="10972800" cy="952500"/>
            </a:xfrm>
            <a:prstGeom prst="roundRect">
              <a:avLst>
                <a:gd name="adj" fmla="val 14000"/>
              </a:avLst>
            </a:prstGeom>
            <a:solidFill>
              <a:schemeClr val="accent5"/>
            </a:solidFill>
            <a:ln w="14288">
              <a:solidFill>
                <a:srgbClr val="26455F"/>
              </a:solidFill>
            </a:ln>
          </p:spPr>
        </p:sp>
        <p:sp>
          <p:nvSpPr>
            <p:cNvPr id="11" name="Rectangle 11"/>
            <p:cNvSpPr/>
            <p:nvPr/>
          </p:nvSpPr>
          <p:spPr>
            <a:xfrm>
              <a:off x="609600" y="2266950"/>
              <a:ext cx="57150" cy="952500"/>
            </a:xfrm>
            <a:prstGeom prst="roundRect">
              <a:avLst>
                <a:gd name="adj" fmla="val 50000"/>
              </a:avLst>
            </a:prstGeom>
            <a:solidFill>
              <a:schemeClr val="accent2"/>
            </a:solidFill>
            <a:ln>
              <a:noFill/>
            </a:ln>
          </p:spPr>
        </p:sp>
        <p:sp>
          <p:nvSpPr>
            <p:cNvPr id="12" name="Ellipse 12"/>
            <p:cNvSpPr/>
            <p:nvPr/>
          </p:nvSpPr>
          <p:spPr>
            <a:xfrm>
              <a:off x="971550" y="2647950"/>
              <a:ext cx="190500" cy="190500"/>
            </a:xfrm>
            <a:prstGeom prst="ellipse">
              <a:avLst/>
            </a:prstGeom>
            <a:solidFill>
              <a:schemeClr val="accent2"/>
            </a:solidFill>
            <a:ln>
              <a:noFill/>
            </a:ln>
          </p:spPr>
        </p:sp>
        <p:sp>
          <p:nvSpPr>
            <p:cNvPr id="13" name="TextBox 13"/>
            <p:cNvSpPr txBox="1"/>
            <p:nvPr/>
          </p:nvSpPr>
          <p:spPr>
            <a:xfrm>
              <a:off x="1421892" y="2521268"/>
              <a:ext cx="3086070"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Log-depth = constant-round MPC</a:t>
              </a:r>
            </a:p>
          </p:txBody>
        </p:sp>
        <p:sp>
          <p:nvSpPr>
            <p:cNvPr id="14" name="TextBox 14"/>
            <p:cNvSpPr txBox="1"/>
            <p:nvPr/>
          </p:nvSpPr>
          <p:spPr>
            <a:xfrm>
              <a:off x="1423225" y="2835354"/>
              <a:ext cx="7323358"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This paper pins the intuition down: logarithmic-depth transformers are equivalent to constant-round</a:t>
              </a:r>
            </a:p>
          </p:txBody>
        </p:sp>
        <p:sp>
          <p:nvSpPr>
            <p:cNvPr id="15" name="TextBox 15"/>
            <p:cNvSpPr txBox="1"/>
            <p:nvPr/>
          </p:nvSpPr>
          <p:spPr>
            <a:xfrm>
              <a:off x="1423225" y="3044904"/>
              <a:ext cx="2291866"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Massively Parallel Computation.</a:t>
              </a:r>
            </a:p>
          </p:txBody>
        </p:sp>
      </p:grpSp>
      <p:grpSp>
        <p:nvGrpSpPr>
          <p:cNvPr id="23" name="Group 23"/>
          <p:cNvGrpSpPr/>
          <p:nvPr/>
        </p:nvGrpSpPr>
        <p:grpSpPr>
          <a:xfrm>
            <a:off x="609600" y="3333750"/>
            <a:ext cx="10972800" cy="990647"/>
            <a:chOff x="609600" y="3333750"/>
            <a:chExt cx="10972800" cy="990647"/>
          </a:xfrm>
        </p:grpSpPr>
        <p:sp>
          <p:nvSpPr>
            <p:cNvPr id="17" name="Rectangle 17"/>
            <p:cNvSpPr/>
            <p:nvPr/>
          </p:nvSpPr>
          <p:spPr>
            <a:xfrm>
              <a:off x="609600" y="3333750"/>
              <a:ext cx="10972800" cy="952500"/>
            </a:xfrm>
            <a:prstGeom prst="roundRect">
              <a:avLst>
                <a:gd name="adj" fmla="val 14000"/>
              </a:avLst>
            </a:prstGeom>
            <a:solidFill>
              <a:schemeClr val="accent5"/>
            </a:solidFill>
            <a:ln w="14288">
              <a:solidFill>
                <a:srgbClr val="26455F"/>
              </a:solidFill>
            </a:ln>
          </p:spPr>
        </p:sp>
        <p:sp>
          <p:nvSpPr>
            <p:cNvPr id="18" name="Rectangle 18"/>
            <p:cNvSpPr/>
            <p:nvPr/>
          </p:nvSpPr>
          <p:spPr>
            <a:xfrm>
              <a:off x="609600" y="3333750"/>
              <a:ext cx="57150" cy="952500"/>
            </a:xfrm>
            <a:prstGeom prst="roundRect">
              <a:avLst>
                <a:gd name="adj" fmla="val 50000"/>
              </a:avLst>
            </a:prstGeom>
            <a:solidFill>
              <a:srgbClr val="F2C14E"/>
            </a:solidFill>
            <a:ln>
              <a:noFill/>
            </a:ln>
          </p:spPr>
        </p:sp>
        <p:sp>
          <p:nvSpPr>
            <p:cNvPr id="19" name="Ellipse 19"/>
            <p:cNvSpPr/>
            <p:nvPr/>
          </p:nvSpPr>
          <p:spPr>
            <a:xfrm>
              <a:off x="971550" y="3714750"/>
              <a:ext cx="190500" cy="190500"/>
            </a:xfrm>
            <a:prstGeom prst="ellipse">
              <a:avLst/>
            </a:prstGeom>
            <a:solidFill>
              <a:srgbClr val="F2C14E"/>
            </a:solidFill>
            <a:ln>
              <a:noFill/>
            </a:ln>
          </p:spPr>
        </p:sp>
        <p:sp>
          <p:nvSpPr>
            <p:cNvPr id="20" name="TextBox 20"/>
            <p:cNvSpPr txBox="1"/>
            <p:nvPr/>
          </p:nvSpPr>
          <p:spPr>
            <a:xfrm>
              <a:off x="1421892" y="3588068"/>
              <a:ext cx="2825178"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A sharp, predicted separation</a:t>
              </a:r>
            </a:p>
          </p:txBody>
        </p:sp>
        <p:sp>
          <p:nvSpPr>
            <p:cNvPr id="21" name="TextBox 21"/>
            <p:cNvSpPr txBox="1"/>
            <p:nvPr/>
          </p:nvSpPr>
          <p:spPr>
            <a:xfrm>
              <a:off x="1423225" y="3902154"/>
              <a:ext cx="7623473"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On k-hop, transformers succeed with depth logarithmic in k, while RNNs, state-space models like Mamba,</a:t>
              </a:r>
            </a:p>
          </p:txBody>
        </p:sp>
        <p:sp>
          <p:nvSpPr>
            <p:cNvPr id="22" name="TextBox 22"/>
            <p:cNvSpPr txBox="1"/>
            <p:nvPr/>
          </p:nvSpPr>
          <p:spPr>
            <a:xfrm>
              <a:off x="1423225" y="4111704"/>
              <a:ext cx="3540045"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and efficient attention all need depth linear in k.</a:t>
              </a:r>
            </a:p>
          </p:txBody>
        </p:sp>
      </p:grpSp>
      <p:grpSp>
        <p:nvGrpSpPr>
          <p:cNvPr id="30" name="Group 30"/>
          <p:cNvGrpSpPr/>
          <p:nvPr/>
        </p:nvGrpSpPr>
        <p:grpSpPr>
          <a:xfrm>
            <a:off x="609600" y="4400550"/>
            <a:ext cx="10972800" cy="990647"/>
            <a:chOff x="609600" y="4400550"/>
            <a:chExt cx="10972800" cy="990647"/>
          </a:xfrm>
        </p:grpSpPr>
        <p:sp>
          <p:nvSpPr>
            <p:cNvPr id="24" name="Rectangle 24"/>
            <p:cNvSpPr/>
            <p:nvPr/>
          </p:nvSpPr>
          <p:spPr>
            <a:xfrm>
              <a:off x="609600" y="4400550"/>
              <a:ext cx="10972800" cy="952500"/>
            </a:xfrm>
            <a:prstGeom prst="roundRect">
              <a:avLst>
                <a:gd name="adj" fmla="val 14000"/>
              </a:avLst>
            </a:prstGeom>
            <a:solidFill>
              <a:schemeClr val="accent5"/>
            </a:solidFill>
            <a:ln w="14288">
              <a:solidFill>
                <a:srgbClr val="26455F"/>
              </a:solidFill>
            </a:ln>
          </p:spPr>
        </p:sp>
        <p:sp>
          <p:nvSpPr>
            <p:cNvPr id="25" name="Rectangle 25"/>
            <p:cNvSpPr/>
            <p:nvPr/>
          </p:nvSpPr>
          <p:spPr>
            <a:xfrm>
              <a:off x="609600" y="4400550"/>
              <a:ext cx="57150" cy="952500"/>
            </a:xfrm>
            <a:prstGeom prst="roundRect">
              <a:avLst>
                <a:gd name="adj" fmla="val 50000"/>
              </a:avLst>
            </a:prstGeom>
            <a:solidFill>
              <a:srgbClr val="48C78E"/>
            </a:solidFill>
            <a:ln>
              <a:noFill/>
            </a:ln>
          </p:spPr>
        </p:sp>
        <p:sp>
          <p:nvSpPr>
            <p:cNvPr id="26" name="Ellipse 26"/>
            <p:cNvSpPr/>
            <p:nvPr/>
          </p:nvSpPr>
          <p:spPr>
            <a:xfrm>
              <a:off x="971550" y="4781550"/>
              <a:ext cx="190500" cy="190500"/>
            </a:xfrm>
            <a:prstGeom prst="ellipse">
              <a:avLst/>
            </a:prstGeom>
            <a:solidFill>
              <a:srgbClr val="48C78E"/>
            </a:solidFill>
            <a:ln>
              <a:noFill/>
            </a:ln>
          </p:spPr>
        </p:sp>
        <p:sp>
          <p:nvSpPr>
            <p:cNvPr id="27" name="TextBox 27"/>
            <p:cNvSpPr txBox="1"/>
            <p:nvPr/>
          </p:nvSpPr>
          <p:spPr>
            <a:xfrm>
              <a:off x="1421892" y="4654868"/>
              <a:ext cx="1937526"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Verified to the layer</a:t>
              </a:r>
            </a:p>
          </p:txBody>
        </p:sp>
        <p:sp>
          <p:nvSpPr>
            <p:cNvPr id="28" name="TextBox 28"/>
            <p:cNvSpPr txBox="1"/>
            <p:nvPr/>
          </p:nvSpPr>
          <p:spPr>
            <a:xfrm>
              <a:off x="1423225" y="4968954"/>
              <a:ext cx="7247764"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Trained transformers obey the predicted threshold to the layer. The real edge is not scale, it is the</a:t>
              </a:r>
            </a:p>
          </p:txBody>
        </p:sp>
        <p:sp>
          <p:nvSpPr>
            <p:cNvPr id="29" name="TextBox 29"/>
            <p:cNvSpPr txBox="1"/>
            <p:nvPr/>
          </p:nvSpPr>
          <p:spPr>
            <a:xfrm>
              <a:off x="1423225" y="5178504"/>
              <a:ext cx="2417516"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ability to do many things at once.</a:t>
              </a:r>
            </a:p>
          </p:txBody>
        </p:sp>
      </p:grpSp>
      <p:sp>
        <p:nvSpPr>
          <p:cNvPr id="31" name="Line 31"/>
          <p:cNvSpPr/>
          <p:nvPr/>
        </p:nvSpPr>
        <p:spPr>
          <a:xfrm>
            <a:off x="609600" y="5600700"/>
            <a:ext cx="10972800" cy="9525"/>
          </a:xfrm>
          <a:custGeom>
            <a:avLst/>
            <a:gdLst/>
            <a:ahLst/>
            <a:cxnLst/>
            <a:rect l="l" t="t" r="r" b="b"/>
            <a:pathLst>
              <a:path w="10972800" h="9525">
                <a:moveTo>
                  <a:pt x="0" y="0"/>
                </a:moveTo>
                <a:lnTo>
                  <a:pt x="10972800" y="0"/>
                </a:lnTo>
              </a:path>
            </a:pathLst>
          </a:custGeom>
          <a:noFill/>
          <a:ln w="9525" cap="rnd">
            <a:solidFill>
              <a:srgbClr val="26455F"/>
            </a:solidFill>
          </a:ln>
        </p:spPr>
        <p:txBody>
          <a:bodyPr/>
          <a:p/>
        </p:txBody>
      </p:sp>
      <p:sp>
        <p:nvSpPr>
          <p:cNvPr id="32" name="TextBox 32"/>
          <p:cNvSpPr txBox="1"/>
          <p:nvPr/>
        </p:nvSpPr>
        <p:spPr>
          <a:xfrm>
            <a:off x="603694" y="5780008"/>
            <a:ext cx="4826753" cy="227362"/>
          </a:xfrm>
          <a:prstGeom prst="rect">
            <a:avLst/>
          </a:prstGeom>
          <a:noFill/>
          <a:ln>
            <a:noFill/>
          </a:ln>
        </p:spPr>
        <p:txBody>
          <a:bodyPr wrap="none" lIns="0" tIns="0" rIns="0" bIns="0" anchor="t" anchorCtr="0">
            <a:spAutoFit/>
          </a:bodyPr>
          <a:lstStyle/>
          <a:p>
            <a:pPr algn="l"/>
            <a:r>
              <a:rPr lang="en-US" sz="1160" b="1" dirty="0">
                <a:solidFill>
                  <a:schemeClr val="dk1"/>
                </a:solidFill>
                <a:latin typeface="+mn-lt"/>
                <a:ea typeface="+mn-ea"/>
                <a:cs typeface="+mn-cs"/>
              </a:rPr>
              <a:t>Transformers, Parallel Computation, and Logarithmic Depth</a:t>
            </a:r>
          </a:p>
        </p:txBody>
      </p:sp>
      <p:sp>
        <p:nvSpPr>
          <p:cNvPr id="33" name="TextBox 33"/>
          <p:cNvSpPr txBox="1"/>
          <p:nvPr/>
        </p:nvSpPr>
        <p:spPr>
          <a:xfrm>
            <a:off x="604647" y="6047899"/>
            <a:ext cx="5232061" cy="190690"/>
          </a:xfrm>
          <a:prstGeom prst="rect">
            <a:avLst/>
          </a:prstGeom>
          <a:noFill/>
          <a:ln>
            <a:noFill/>
          </a:ln>
        </p:spPr>
        <p:txBody>
          <a:bodyPr wrap="none" lIns="0" tIns="0" rIns="0" bIns="0" anchor="t" anchorCtr="0">
            <a:spAutoFit/>
          </a:bodyPr>
          <a:lstStyle/>
          <a:p>
            <a:pPr algn="l"/>
            <a:r>
              <a:rPr lang="en-US" sz="980" b="1" dirty="0">
                <a:solidFill>
                  <a:schemeClr val="dk2"/>
                </a:solidFill>
                <a:latin typeface="+mn-lt"/>
                <a:ea typeface="+mn-ea"/>
                <a:cs typeface="+mn-cs"/>
              </a:rPr>
              <a:t>ICML 2024 · arXiv:2402.09268 · Columbia University · Courant Institute, NYU</a:t>
            </a:r>
          </a:p>
        </p:txBody>
      </p:sp>
      <p:sp>
        <p:nvSpPr>
          <p:cNvPr id="34" name="cue_s10_c1_one_thing_remember_transformers_prec" title="cue_s10_c1_one_thing_remember_transformers_prec" descr="cue_s10_c1_one_thing_remember_transformers_prec The one thing to remember is that transformers are, in a precise sense, parallel computers."/>
          <p:cNvSpPr/>
          <p:nvPr/>
        </p:nvSpPr>
        <p:spPr>
          <a:xfrm>
            <a:off x="609600" y="1428521"/>
            <a:ext cx="10972800" cy="6858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cue_s10_c2_pins_intuition_down_proving_logarith" title="cue_s10_c2_pins_intuition_down_proving_logarith" descr="cue_s10_c2_pins_intuition_down_proving_logarith This paper pins that intuition down by proving logarithmic-depth transformers are equivalent to constant-round Massively Parallel Computation."/>
          <p:cNvSpPr/>
          <p:nvPr/>
        </p:nvSpPr>
        <p:spPr>
          <a:xfrm>
            <a:off x="609600" y="2267254"/>
            <a:ext cx="10972800" cy="99098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cue_s10_c3_equivalence_explains_both_their_powe" title="cue_s10_c3_equivalence_explains_both_their_powe" descr="cue_s10_c3_equivalence_explains_both_their_powe That equivalence explains both their power and their limits, and it predicts a sharp separation: on the k-hop induction heads task, transformers succeed with depth logarithmic in k, while recurrent models, state-space models like Mamba, and efficient attention"/>
          <p:cNvSpPr/>
          <p:nvPr/>
        </p:nvSpPr>
        <p:spPr>
          <a:xfrm>
            <a:off x="609600" y="3333673"/>
            <a:ext cx="10972800" cy="99098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cue_s10_c4_trained_transformers_obey_predicted" title="cue_s10_c4_trained_transformers_obey_predicted" descr="cue_s10_c4_trained_transformers_obey_predicted Trained transformers obey the predicted threshold to the layer. So the real edge of the transformer is not just scale, it is the ability to do many things at once."/>
          <p:cNvSpPr/>
          <p:nvPr/>
        </p:nvSpPr>
        <p:spPr>
          <a:xfrm>
            <a:off x="609600" y="4400778"/>
            <a:ext cx="10972800" cy="99098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deck">
  <a:themeElements>
    <a:clrScheme name="deck">
      <a:dk1>
        <a:srgbClr val="EAF2FB"/>
      </a:dk1>
      <a:lt1>
        <a:srgbClr val="0B1B2B"/>
      </a:lt1>
      <a:dk2>
        <a:srgbClr val="9DB3C8"/>
      </a:dk2>
      <a:lt2>
        <a:srgbClr val="0B1B2B"/>
      </a:lt2>
      <a:accent1>
        <a:srgbClr val="4C9BE8"/>
      </a:accent1>
      <a:accent2>
        <a:srgbClr val="4C9BE8"/>
      </a:accent2>
      <a:accent3>
        <a:srgbClr val="4C9BE8"/>
      </a:accent3>
      <a:accent4>
        <a:srgbClr val="8064A2"/>
      </a:accent4>
      <a:accent5>
        <a:srgbClr val="12293D"/>
      </a:accent5>
      <a:accent6>
        <a:srgbClr val="16324A"/>
      </a:accent6>
      <a:hlink>
        <a:srgbClr val="4C9BE8"/>
      </a:hlink>
      <a:folHlink>
        <a:srgbClr val="4C9BE8"/>
      </a:folHlink>
    </a:clrScheme>
    <a:fontScheme name="deck">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c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2026-07-16T11:04:55Z</dcterms:created>
  <dcterms:modified xsi:type="dcterms:W3CDTF">2026-07-16T11:04:55Z</dcterms:modified>
  <cp:category/>
  <cp:contentStatus/>
</cp:coreProperties>
</file>
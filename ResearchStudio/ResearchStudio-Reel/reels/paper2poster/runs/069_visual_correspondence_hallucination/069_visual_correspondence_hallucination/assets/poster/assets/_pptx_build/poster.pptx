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3108305"/>
          </a:xfrm>
          <a:prstGeom prst="roundRect">
            <a:avLst>
              <a:gd name="adj" fmla="val 4576"/>
            </a:avLst>
          </a:prstGeom>
          <a:solidFill>
            <a:srgbClr val="ECE7F4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4281646"/>
            <a:ext cx="16349682" cy="8332013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1887" y="4281646"/>
            <a:ext cx="160020" cy="8332013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428289" y="4281646"/>
            <a:ext cx="16349682" cy="18613993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28289" y="4281646"/>
            <a:ext cx="160020" cy="18613993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204691" y="4281646"/>
            <a:ext cx="16349821" cy="15350391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04691" y="4281646"/>
            <a:ext cx="160020" cy="15350391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1887" y="12945506"/>
            <a:ext cx="16349682" cy="17126446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1887" y="12945506"/>
            <a:ext cx="160020" cy="17126446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04691" y="19963884"/>
            <a:ext cx="16349821" cy="5188843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04691" y="19963884"/>
            <a:ext cx="160020" cy="5188843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428289" y="23227486"/>
            <a:ext cx="16349682" cy="6844466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428289" y="23227486"/>
            <a:ext cx="160020" cy="6844466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04691" y="25484574"/>
            <a:ext cx="16349821" cy="4587378"/>
          </a:xfrm>
          <a:prstGeom prst="rect">
            <a:avLst/>
          </a:prstGeom>
          <a:solidFill>
            <a:srgbClr val="F0EDF5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04691" y="25484574"/>
            <a:ext cx="53340" cy="4587378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256" y="1257814"/>
            <a:ext cx="6526649" cy="1896450"/>
          </a:xfrm>
          <a:prstGeom prst="rect">
            <a:avLst/>
          </a:prstGeom>
        </p:spPr>
      </p:pic>
      <p:pic>
        <p:nvPicPr>
          <p:cNvPr id="18" name="Picture 17" descr="cn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39726" y="1263696"/>
            <a:ext cx="1893709" cy="1884548"/>
          </a:xfrm>
          <a:prstGeom prst="rect">
            <a:avLst/>
          </a:prstGeom>
        </p:spPr>
      </p:pic>
      <p:pic>
        <p:nvPicPr>
          <p:cNvPr id="19" name="Picture 18" descr="university-of-bordeau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70409" y="1263649"/>
            <a:ext cx="6009223" cy="1884641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1262241" y="9057659"/>
            <a:ext cx="15351224" cy="3428623"/>
          </a:xfrm>
          <a:prstGeom prst="roundRect">
            <a:avLst>
              <a:gd name="adj" fmla="val 5324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62241" y="9057659"/>
            <a:ext cx="124460" cy="3428623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8038643" y="11577141"/>
            <a:ext cx="15351224" cy="2985512"/>
          </a:xfrm>
          <a:prstGeom prst="roundRect">
            <a:avLst>
              <a:gd name="adj" fmla="val 7546"/>
            </a:avLst>
          </a:prstGeom>
          <a:solidFill>
            <a:srgbClr val="F4F2F8"/>
          </a:solidFill>
          <a:ln w="8890">
            <a:solidFill>
              <a:srgbClr val="C5B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815045" y="17591365"/>
            <a:ext cx="15351363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815045" y="17591365"/>
            <a:ext cx="15351363" cy="11557"/>
          </a:xfrm>
          <a:prstGeom prst="rect">
            <a:avLst/>
          </a:prstGeom>
          <a:solidFill>
            <a:srgbClr val="C0B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815045" y="21454348"/>
            <a:ext cx="15351363" cy="3632676"/>
          </a:xfrm>
          <a:prstGeom prst="roundRect">
            <a:avLst>
              <a:gd name="adj" fmla="val 1957"/>
            </a:avLst>
          </a:prstGeom>
          <a:gradFill rotWithShape="1" flip="none">
            <a:gsLst>
              <a:gs pos="0">
                <a:srgbClr val="E9E6F0"/>
              </a:gs>
              <a:gs pos="100000">
                <a:srgbClr val="F4F2F8"/>
              </a:gs>
            </a:gsLst>
            <a:lin ang="5400000" scaled="0"/>
          </a:gradFill>
          <a:ln w="8890">
            <a:solidFill>
              <a:srgbClr val="D2CBE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708365" y="26975038"/>
            <a:ext cx="15458043" cy="3024822"/>
          </a:xfrm>
          <a:prstGeom prst="roundRect">
            <a:avLst>
              <a:gd name="adj" fmla="val 6896"/>
            </a:avLst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751746" y="9214068"/>
            <a:ext cx="1473796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FIRST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815045" y="9747190"/>
            <a:ext cx="15351363" cy="5924907"/>
          </a:xfrm>
          <a:prstGeom prst="roundRect">
            <a:avLst>
              <a:gd name="adj" fmla="val 60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igur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15216" y="9747190"/>
            <a:ext cx="15351022" cy="5924907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8306454" y="14967009"/>
            <a:ext cx="14815463" cy="6261060"/>
          </a:xfrm>
          <a:prstGeom prst="roundRect">
            <a:avLst>
              <a:gd name="adj" fmla="val 567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igur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06514" y="14967009"/>
            <a:ext cx="14815343" cy="626106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271686" y="21464766"/>
            <a:ext cx="15332194" cy="6939617"/>
          </a:xfrm>
          <a:prstGeom prst="roundRect">
            <a:avLst>
              <a:gd name="adj" fmla="val 512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figur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1776" y="21464766"/>
            <a:ext cx="15332014" cy="6939617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3435428" y="21676598"/>
            <a:ext cx="6485116" cy="323568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435428" y="21676598"/>
            <a:ext cx="11557" cy="3235682"/>
          </a:xfrm>
          <a:prstGeom prst="rect">
            <a:avLst/>
          </a:prstGeom>
          <a:solidFill>
            <a:srgbClr val="D2C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8038643" y="28864024"/>
            <a:ext cx="2261255" cy="819824"/>
          </a:xfrm>
          <a:prstGeom prst="roundRect">
            <a:avLst>
              <a:gd name="adj" fmla="val 50000"/>
            </a:avLst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4B2E83"/>
                </a:solidFill>
                <a:latin typeface="Arial"/>
              </a:rPr>
              <a:t>ScanNet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456306" y="28864024"/>
            <a:ext cx="2876332" cy="819824"/>
          </a:xfrm>
          <a:prstGeom prst="roundRect">
            <a:avLst>
              <a:gd name="adj" fmla="val 50000"/>
            </a:avLst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4B2E83"/>
                </a:solidFill>
                <a:latin typeface="Arial"/>
              </a:rPr>
              <a:t>MegaDepth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489046" y="28864024"/>
            <a:ext cx="2802295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NYU Depth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447750" y="28864024"/>
            <a:ext cx="2088316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ETH-3D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815045" y="8452862"/>
            <a:ext cx="15351363" cy="945118"/>
          </a:xfrm>
          <a:prstGeom prst="rect">
            <a:avLst/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815045" y="5856148"/>
            <a:ext cx="7538026" cy="706477"/>
          </a:xfrm>
          <a:prstGeom prst="rect">
            <a:avLst/>
          </a:prstGeom>
          <a:solidFill>
            <a:srgbClr val="F4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815045" y="6553735"/>
            <a:ext cx="7538026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353071" y="5856148"/>
            <a:ext cx="4845605" cy="706477"/>
          </a:xfrm>
          <a:prstGeom prst="rect">
            <a:avLst/>
          </a:prstGeom>
          <a:solidFill>
            <a:srgbClr val="F4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353071" y="6553735"/>
            <a:ext cx="4845605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198676" y="5856148"/>
            <a:ext cx="2967732" cy="706477"/>
          </a:xfrm>
          <a:prstGeom prst="rect">
            <a:avLst/>
          </a:prstGeom>
          <a:solidFill>
            <a:srgbClr val="F4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198676" y="6553735"/>
            <a:ext cx="2967732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815045" y="6562625"/>
            <a:ext cx="753802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815045" y="7498853"/>
            <a:ext cx="7538026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353071" y="6562625"/>
            <a:ext cx="484560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353071" y="7498853"/>
            <a:ext cx="4845605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198676" y="6562625"/>
            <a:ext cx="296773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7198676" y="7498853"/>
            <a:ext cx="2967732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4815045" y="7507743"/>
            <a:ext cx="7538026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4815045" y="8443972"/>
            <a:ext cx="7538026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353071" y="7507743"/>
            <a:ext cx="4845605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353071" y="8443972"/>
            <a:ext cx="4845605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7198676" y="7507743"/>
            <a:ext cx="2967732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7198676" y="8443972"/>
            <a:ext cx="2967732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4815045" y="8452862"/>
            <a:ext cx="753802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4815045" y="9389090"/>
            <a:ext cx="7538026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2353071" y="8452862"/>
            <a:ext cx="484560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2353071" y="9389090"/>
            <a:ext cx="4845605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198676" y="8452862"/>
            <a:ext cx="296773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7198676" y="9389090"/>
            <a:ext cx="2967732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446402" y="983734"/>
            <a:ext cx="24740176" cy="12594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4B2E83"/>
                </a:solidFill>
                <a:latin typeface="Arial"/>
              </a:rPr>
              <a:t>Visual Correspondence Hallucination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446402" y="2277923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Hugo Germain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  ·  Vincent Lepetit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  ·  Guillaume Bourmaud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446402" y="2947173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LIGM, École des Ponts, Univ Gustave Eiffel, CNRS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IMS, Univ. of Bordeaux, Bordeaux INP, CNRS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62241" y="4669750"/>
            <a:ext cx="1577794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Problem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038643" y="4669750"/>
            <a:ext cx="15777944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Method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4815045" y="4669750"/>
            <a:ext cx="1577808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Key Results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62241" y="5772110"/>
            <a:ext cx="15777944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Local feature matching locates a keypoint's correspondent only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when it is actually </a:t>
            </a:r>
            <a:r>
              <a:rPr sz="4106" b="1">
                <a:solidFill>
                  <a:srgbClr val="111111"/>
                </a:solidFill>
                <a:latin typeface="Arial"/>
              </a:rPr>
              <a:t>visible</a:t>
            </a:r>
            <a:r>
              <a:rPr sz="4106" b="0">
                <a:solidFill>
                  <a:srgbClr val="1C1C1C"/>
                </a:solidFill>
                <a:latin typeface="Arial"/>
              </a:rPr>
              <a:t> in the second image. Occluded or out-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of-frame correspondents are treated as noise, so matching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collapses on </a:t>
            </a:r>
            <a:r>
              <a:rPr sz="4106" b="1">
                <a:solidFill>
                  <a:srgbClr val="111111"/>
                </a:solidFill>
                <a:latin typeface="Arial"/>
              </a:rPr>
              <a:t>low-overlap</a:t>
            </a:r>
            <a:r>
              <a:rPr sz="4106" b="0">
                <a:solidFill>
                  <a:srgbClr val="1C1C1C"/>
                </a:solidFill>
                <a:latin typeface="Arial"/>
              </a:rPr>
              <a:t> pairs where few keypoints are covisible.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62241" y="13333610"/>
            <a:ext cx="1577794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Motivation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638718" y="13704629"/>
            <a:ext cx="14575463" cy="838167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217" b="0" i="1">
                <a:solidFill>
                  <a:srgbClr val="555555"/>
                </a:solidFill>
                <a:latin typeface="Tinos"/>
              </a:rPr>
              <a:t>reprojected location </a:t>
            </a:r>
            <a:r>
              <a:rPr sz="2217" b="0" i="1">
                <a:solidFill>
                  <a:srgbClr val="555555"/>
                </a:solidFill>
                <a:latin typeface="Tinos"/>
              </a:rPr>
              <a:t>                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Tinos"/>
              </a:rPr>
              <a:t>; training minimizes the sum of NRE terms by SGD — no covisibility labels.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815045" y="17591365"/>
            <a:ext cx="15778083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NeurHal's argmax errors sit far below random guessing; SOTA matchers cannot outpaint at all.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815045" y="20351988"/>
            <a:ext cx="15778083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Headline Numbers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8038643" y="23615590"/>
            <a:ext cx="1577794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Dataset / Benchmark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708365" y="25872678"/>
            <a:ext cx="1588476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Takeaway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708365" y="26975038"/>
            <a:ext cx="15884763" cy="3478545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 single network can hallucinate keypoint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correspondences — visible, occluded, or out-of-frame —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making absolute camera pose estimation markedly more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robust on low-overlap pairs.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038625" y="5775027"/>
            <a:ext cx="1577796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</a:t>
            </a:r>
            <a:r>
              <a:rPr sz="4106" b="1">
                <a:solidFill>
                  <a:srgbClr val="111111"/>
                </a:solidFill>
                <a:latin typeface="Arial"/>
              </a:rPr>
              <a:t>siamese CNN</a:t>
            </a:r>
            <a:r>
              <a:rPr sz="4106" b="0">
                <a:solidFill>
                  <a:srgbClr val="1C1C1C"/>
                </a:solidFill>
                <a:latin typeface="Arial"/>
              </a:rPr>
              <a:t> backbone produces dense descriptor maps for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source and target; the target map is padded with a learnable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vector </a:t>
            </a:r>
            <a:r>
              <a:rPr sz="4106" b="1">
                <a:solidFill>
                  <a:srgbClr val="111111"/>
                </a:solidFill>
                <a:latin typeface="Arial"/>
              </a:rPr>
              <a:t>λ</a:t>
            </a:r>
            <a:r>
              <a:rPr sz="4106" b="0">
                <a:solidFill>
                  <a:srgbClr val="1C1C1C"/>
                </a:solidFill>
                <a:latin typeface="Arial"/>
              </a:rPr>
              <a:t> to represent locations outside the field of view.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8038625" y="8226167"/>
            <a:ext cx="15777962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</a:t>
            </a:r>
            <a:r>
              <a:rPr sz="4106" b="1">
                <a:solidFill>
                  <a:srgbClr val="111111"/>
                </a:solidFill>
                <a:latin typeface="Arial"/>
              </a:rPr>
              <a:t>cross-attention</a:t>
            </a:r>
            <a:r>
              <a:rPr sz="4106" b="0">
                <a:solidFill>
                  <a:srgbClr val="1C1C1C"/>
                </a:solidFill>
                <a:latin typeface="Arial"/>
              </a:rPr>
              <a:t> backbone with positional encoding lets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source and target descriptors communicate; each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correspondence map is a 1×1 convolution of the target features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by the keypoint feature, then a 2D softmax.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51746" y="10061257"/>
            <a:ext cx="1492339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first method to </a:t>
            </a:r>
            <a:r>
              <a:rPr sz="4106" b="1">
                <a:solidFill>
                  <a:srgbClr val="111111"/>
                </a:solidFill>
                <a:latin typeface="Arial"/>
              </a:rPr>
              <a:t>predict</a:t>
            </a:r>
            <a:r>
              <a:rPr sz="4106" b="0">
                <a:solidFill>
                  <a:srgbClr val="1C1C1C"/>
                </a:solidFill>
                <a:latin typeface="Arial"/>
              </a:rPr>
              <a:t> correspondences at non-covisible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locations — occluded &amp; out-of-frame regions become signal,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not noise.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62222" y="14521398"/>
            <a:ext cx="1577796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State-of-the-art localization is built on keypoint matches, yet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matchers break down precisely on the </a:t>
            </a:r>
            <a:r>
              <a:rPr sz="4106" b="1">
                <a:solidFill>
                  <a:srgbClr val="111111"/>
                </a:solidFill>
                <a:latin typeface="Arial"/>
              </a:rPr>
              <a:t>low-overlap</a:t>
            </a:r>
            <a:r>
              <a:rPr sz="4106" b="0">
                <a:solidFill>
                  <a:srgbClr val="1C1C1C"/>
                </a:solidFill>
                <a:latin typeface="Arial"/>
              </a:rPr>
              <a:t> pairs where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most locations are occluded or outside the field of view.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429150" y="15821699"/>
            <a:ext cx="14546848" cy="19178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Qualitative hallucination on unseen scenes: (top) outpainting, (bottom)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inpainting. Red = ground-truth correspondent; dashed box = target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borders.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62222" y="16972537"/>
            <a:ext cx="1577796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Humans instead reason about scene geometry to </a:t>
            </a:r>
            <a:r>
              <a:rPr sz="4106" b="1">
                <a:solidFill>
                  <a:srgbClr val="111111"/>
                </a:solidFill>
                <a:latin typeface="Arial"/>
              </a:rPr>
              <a:t>hallucinate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where a non-covisible correspondent lies — a capability prior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matchers lack.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62222" y="19423677"/>
            <a:ext cx="1577796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Geometry has only been used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a posteriori</a:t>
            </a:r>
            <a:r>
              <a:rPr sz="4106" b="0">
                <a:solidFill>
                  <a:srgbClr val="1C1C1C"/>
                </a:solidFill>
                <a:latin typeface="Arial"/>
              </a:rPr>
              <a:t> (RANSAC-style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outlier removal), never to </a:t>
            </a:r>
            <a:r>
              <a:rPr sz="4106" b="1">
                <a:solidFill>
                  <a:srgbClr val="111111"/>
                </a:solidFill>
                <a:latin typeface="Arial"/>
              </a:rPr>
              <a:t>predict</a:t>
            </a:r>
            <a:r>
              <a:rPr sz="4106" b="0">
                <a:solidFill>
                  <a:srgbClr val="1C1C1C"/>
                </a:solidFill>
                <a:latin typeface="Arial"/>
              </a:rPr>
              <a:t> non-covisible correspondents.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899028" y="21377671"/>
            <a:ext cx="14039081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Overview of NeurHal: siamese CNN descriptors + learnable out-of-FOV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padding + cross-attention yield one correspondence map per keypoint.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038625" y="24717950"/>
            <a:ext cx="15777962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Indoor:</a:t>
            </a:r>
            <a:r>
              <a:rPr sz="4106" b="0">
                <a:solidFill>
                  <a:srgbClr val="1C1C1C"/>
                </a:solidFill>
                <a:latin typeface="Arial"/>
              </a:rPr>
              <a:t> trained on </a:t>
            </a:r>
            <a:r>
              <a:rPr sz="4106" b="1">
                <a:solidFill>
                  <a:srgbClr val="111111"/>
                </a:solidFill>
                <a:latin typeface="Arial"/>
              </a:rPr>
              <a:t>ScanNet</a:t>
            </a:r>
            <a:r>
              <a:rPr sz="4106" b="0">
                <a:solidFill>
                  <a:srgbClr val="1C1C1C"/>
                </a:solidFill>
                <a:latin typeface="Arial"/>
              </a:rPr>
              <a:t>; tested on held-out ScanNet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scenes and NYU Depth.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038625" y="26412884"/>
            <a:ext cx="1577796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Outdoor:</a:t>
            </a:r>
            <a:r>
              <a:rPr sz="4106" b="0">
                <a:solidFill>
                  <a:srgbClr val="1C1C1C"/>
                </a:solidFill>
                <a:latin typeface="Arial"/>
              </a:rPr>
              <a:t> trained on </a:t>
            </a:r>
            <a:r>
              <a:rPr sz="4106" b="1">
                <a:solidFill>
                  <a:srgbClr val="111111"/>
                </a:solidFill>
                <a:latin typeface="Arial"/>
              </a:rPr>
              <a:t>MegaDepth</a:t>
            </a:r>
            <a:r>
              <a:rPr sz="4106" b="0">
                <a:solidFill>
                  <a:srgbClr val="1C1C1C"/>
                </a:solidFill>
                <a:latin typeface="Arial"/>
              </a:rPr>
              <a:t>; tested on held-out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MegaDepth scenes and ETH-3D — every test scene unseen at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training time.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884957" y="28553985"/>
            <a:ext cx="14528678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For each source keypoint, NeurHal predicts a distribution over its target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correspondent — identified, inpainted, or outpainted — on unseen scenes.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060909" y="21676598"/>
            <a:ext cx="8034861" cy="15539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4B2E83"/>
                </a:solidFill>
                <a:latin typeface="Arial"/>
              </a:rPr>
              <a:t>Outpaint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5060909" y="23051492"/>
            <a:ext cx="8034861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correspondents beyond the target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image border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5060909" y="24094400"/>
            <a:ext cx="8034861" cy="9405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the first matcher able to predict out-of-frame</a:t>
            </a:r>
          </a:p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matches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815045" y="5856148"/>
            <a:ext cx="7764166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HALLUCINATION TASK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353071" y="5856148"/>
            <a:ext cx="4990973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SOTA MATCHERS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7198676" y="5856148"/>
            <a:ext cx="3056763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NEURHAL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815045" y="6562625"/>
            <a:ext cx="7764166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Identify · visible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353071" y="6562625"/>
            <a:ext cx="4990973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✓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7198676" y="6562625"/>
            <a:ext cx="3056763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✓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4815045" y="7507743"/>
            <a:ext cx="7764166" cy="1086886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Inpaint · occluded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2353071" y="7507743"/>
            <a:ext cx="4990973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poor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7198676" y="7507743"/>
            <a:ext cx="3056763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✓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815045" y="8452862"/>
            <a:ext cx="7764166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Outpaint · out-of-frame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2353071" y="8452862"/>
            <a:ext cx="4990973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✗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7198676" y="8452862"/>
            <a:ext cx="3056763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✓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3913682" y="21676598"/>
            <a:ext cx="137722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2,500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433317" y="21809948"/>
            <a:ext cx="4621843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held-out ScanNet pose pairs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3913682" y="22842021"/>
            <a:ext cx="1154746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&lt;20°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5217318" y="22975371"/>
            <a:ext cx="3725488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rotation-error threshold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3913682" y="24007583"/>
            <a:ext cx="1579960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&lt;1.5m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630147" y="24140933"/>
            <a:ext cx="4193768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translation-error threshold</a:t>
            </a:r>
          </a:p>
        </p:txBody>
      </p:sp>
      <p:pic>
        <p:nvPicPr>
          <p:cNvPr id="111" name="Picture 110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441749" y="12216804"/>
            <a:ext cx="14545012" cy="862330"/>
          </a:xfrm>
          <a:prstGeom prst="rect">
            <a:avLst/>
          </a:prstGeom>
        </p:spPr>
      </p:pic>
      <p:pic>
        <p:nvPicPr>
          <p:cNvPr id="112" name="Picture 111" descr="eq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79288" y="13642399"/>
            <a:ext cx="4083566" cy="40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
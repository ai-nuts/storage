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376783"/>
            <a:ext cx="16349682" cy="8763039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376783"/>
            <a:ext cx="160020" cy="876303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28289" y="5376783"/>
            <a:ext cx="16349682" cy="1574099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5376783"/>
            <a:ext cx="160020" cy="15740995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4691" y="5376783"/>
            <a:ext cx="16349821" cy="1178619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5376783"/>
            <a:ext cx="160020" cy="11786195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4471669"/>
            <a:ext cx="16349682" cy="1560028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4471669"/>
            <a:ext cx="160020" cy="15600283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17494825"/>
            <a:ext cx="16349821" cy="486727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17494825"/>
            <a:ext cx="160020" cy="4867275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28289" y="21449625"/>
            <a:ext cx="16349682" cy="862232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28289" y="21449625"/>
            <a:ext cx="160020" cy="8622327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4691" y="22693947"/>
            <a:ext cx="16349821" cy="7378005"/>
          </a:xfrm>
          <a:prstGeom prst="rect">
            <a:avLst/>
          </a:prstGeom>
          <a:solidFill>
            <a:srgbClr val="E9F2F3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4691" y="22693947"/>
            <a:ext cx="53340" cy="7378005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9467" y="1805376"/>
            <a:ext cx="5620425" cy="1896463"/>
          </a:xfrm>
          <a:prstGeom prst="rect">
            <a:avLst/>
          </a:prstGeom>
        </p:spPr>
      </p:pic>
      <p:pic>
        <p:nvPicPr>
          <p:cNvPr id="18" name="Picture 17" descr="rice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903" y="1944551"/>
            <a:ext cx="4158020" cy="1617974"/>
          </a:xfrm>
          <a:prstGeom prst="rect">
            <a:avLst/>
          </a:prstGeom>
        </p:spPr>
      </p:pic>
      <p:pic>
        <p:nvPicPr>
          <p:cNvPr id="19" name="Picture 18" descr="thirdai-cor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97" y="1944548"/>
            <a:ext cx="6898362" cy="16179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62241" y="11178202"/>
            <a:ext cx="15351224" cy="231278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2241" y="11178202"/>
            <a:ext cx="124460" cy="231278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038643" y="11916072"/>
            <a:ext cx="15351224" cy="1437541"/>
          </a:xfrm>
          <a:prstGeom prst="roundRect">
            <a:avLst>
              <a:gd name="adj" fmla="val 15673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815045" y="18985289"/>
            <a:ext cx="15351363" cy="2480171"/>
          </a:xfrm>
          <a:prstGeom prst="roundRect">
            <a:avLst>
              <a:gd name="adj" fmla="val 2867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08365" y="27750968"/>
            <a:ext cx="15458043" cy="1942187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815045" y="6867247"/>
            <a:ext cx="3642261" cy="1282799"/>
          </a:xfrm>
          <a:prstGeom prst="roundRect">
            <a:avLst>
              <a:gd name="adj" fmla="val 20328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718033" y="6867247"/>
            <a:ext cx="3642400" cy="1282799"/>
          </a:xfrm>
          <a:prstGeom prst="roundRect">
            <a:avLst>
              <a:gd name="adj" fmla="val 20328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621160" y="6867247"/>
            <a:ext cx="3642261" cy="1282799"/>
          </a:xfrm>
          <a:prstGeom prst="roundRect">
            <a:avLst>
              <a:gd name="adj" fmla="val 20328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524148" y="6867247"/>
            <a:ext cx="3642260" cy="1282799"/>
          </a:xfrm>
          <a:prstGeom prst="roundRect">
            <a:avLst>
              <a:gd name="adj" fmla="val 20328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815045" y="8410773"/>
            <a:ext cx="15351363" cy="3098304"/>
          </a:xfrm>
          <a:prstGeom prst="roundRect">
            <a:avLst>
              <a:gd name="adj" fmla="val 114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age6_fig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5383" y="8410773"/>
            <a:ext cx="15350688" cy="309830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4815045" y="12965370"/>
            <a:ext cx="15351363" cy="3072328"/>
          </a:xfrm>
          <a:prstGeom prst="roundRect">
            <a:avLst>
              <a:gd name="adj" fmla="val 115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ge7_figur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15315" y="12965370"/>
            <a:ext cx="15350824" cy="307232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8207970" y="13757969"/>
            <a:ext cx="15012432" cy="6248142"/>
          </a:xfrm>
          <a:prstGeom prst="roundRect">
            <a:avLst>
              <a:gd name="adj" fmla="val 56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age4_figur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08068" y="13757969"/>
            <a:ext cx="15012235" cy="624814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4667249" y="19136419"/>
            <a:ext cx="5253295" cy="22016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667249" y="19136419"/>
            <a:ext cx="11557" cy="2201664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84188" y="22242502"/>
            <a:ext cx="15307330" cy="6161881"/>
          </a:xfrm>
          <a:prstGeom prst="roundRect">
            <a:avLst>
              <a:gd name="adj" fmla="val 57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ge3_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4268" y="22242502"/>
            <a:ext cx="15307169" cy="616188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8038643" y="27887791"/>
            <a:ext cx="2507952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ResNet50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703004" y="27887791"/>
            <a:ext cx="1169174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ViT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028586" y="27887791"/>
            <a:ext cx="2728813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MLP-Mixer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913808" y="27887791"/>
            <a:ext cx="1423233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XML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493450" y="27887791"/>
            <a:ext cx="346918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16 V100 GPUs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19042" y="27887791"/>
            <a:ext cx="2236668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25 Gbps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038643" y="28864024"/>
            <a:ext cx="3910211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Horovod / NCCL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976"/>
              </a:lnSpc>
              <a:spcBef>
                <a:spcPts val="0"/>
              </a:spcBef>
              <a:spcAft>
                <a:spcPts val="0"/>
              </a:spcAft>
            </a:pPr>
            <a:r>
              <a:rPr sz="7251" b="1" spc="-78">
                <a:solidFill>
                  <a:srgbClr val="0F6070"/>
                </a:solidFill>
                <a:latin typeface="Arial"/>
              </a:rPr>
              <a:t>DRAGONN: Distributed Randomized Approximate</a:t>
            </a:r>
          </a:p>
          <a:p>
            <a:pPr algn="ctr">
              <a:lnSpc>
                <a:spcPts val="7976"/>
              </a:lnSpc>
              <a:spcBef>
                <a:spcPts val="0"/>
              </a:spcBef>
              <a:spcAft>
                <a:spcPts val="0"/>
              </a:spcAft>
            </a:pPr>
            <a:r>
              <a:rPr sz="7251" b="1" spc="-78">
                <a:solidFill>
                  <a:srgbClr val="0F6070"/>
                </a:solidFill>
                <a:latin typeface="Arial"/>
              </a:rPr>
              <a:t>Gradients of Neural Networks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Zhuang Wang¹, Zhaozhuo Xu¹, Xinyu Crystal Wu¹, Anshumali Shrivastava¹ ², T. S. Eugene Ng¹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Arial"/>
              </a:rPr>
              <a:t>¹Rice University · ²ThirdAI Corp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2241" y="5764887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038643" y="5764887"/>
            <a:ext cx="1577794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Method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815045" y="5764887"/>
            <a:ext cx="157780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2241" y="7001847"/>
            <a:ext cx="1577794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 data-parallel distributed training, synchronizing gradients across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GPUs is the dominant efficiency cost. </a:t>
            </a:r>
            <a:r>
              <a:rPr sz="4106" b="1">
                <a:solidFill>
                  <a:srgbClr val="111111"/>
                </a:solidFill>
                <a:latin typeface="Arial"/>
              </a:rPr>
              <a:t>Gradient sparsification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(GS)</a:t>
            </a:r>
            <a:r>
              <a:rPr sz="4106" b="0">
                <a:solidFill>
                  <a:srgbClr val="1C1C1C"/>
                </a:solidFill>
                <a:latin typeface="Arial"/>
              </a:rPr>
              <a:t> transmits only a small subset of gradients to cut this traffic,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but the time spent </a:t>
            </a:r>
            <a:r>
              <a:rPr sz="4106" b="1">
                <a:solidFill>
                  <a:srgbClr val="111111"/>
                </a:solidFill>
                <a:latin typeface="Arial"/>
              </a:rPr>
              <a:t>compressing</a:t>
            </a:r>
            <a:r>
              <a:rPr sz="4106" b="0">
                <a:solidFill>
                  <a:srgbClr val="1C1C1C"/>
                </a:solidFill>
                <a:latin typeface="Arial"/>
              </a:rPr>
              <a:t> gradients has grown so large it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cancels the communication savings.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2241" y="11178202"/>
            <a:ext cx="15777944" cy="2659707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Above </a:t>
            </a:r>
            <a:r>
              <a:rPr sz="4353" b="1" i="1">
                <a:solidFill>
                  <a:srgbClr val="111111"/>
                </a:solidFill>
                <a:latin typeface="Arial"/>
              </a:rPr>
              <a:t>2</a:t>
            </a:r>
            <a:r>
              <a:rPr sz="6094" b="1" i="1" baseline="30000">
                <a:solidFill>
                  <a:srgbClr val="111111"/>
                </a:solidFill>
                <a:latin typeface="Arial"/>
              </a:rPr>
              <a:t>24</a:t>
            </a:r>
            <a:r>
              <a:rPr sz="4353" b="1" i="1">
                <a:solidFill>
                  <a:srgbClr val="111111"/>
                </a:solidFill>
                <a:latin typeface="Arial"/>
              </a:rPr>
              <a:t> B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tensors, compression overhead exceeds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communication; for small tensors GS can be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slower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than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sending everything. Compression is the new bottleneck.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700059" y="12913280"/>
            <a:ext cx="6209243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direct hashing replaces exact nonzero-index selection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2241" y="14859773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15045" y="17882929"/>
            <a:ext cx="1577808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Headline Numbers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2241" y="20140433"/>
            <a:ext cx="15777944" cy="2099013"/>
          </a:xfrm>
          <a:prstGeom prst="rect">
            <a:avLst/>
          </a:prstGeom>
          <a:noFill/>
        </p:spPr>
        <p:txBody>
          <a:bodyPr wrap="none" lIns="0" rIns="0" tIns="130386" bIns="130386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0F6070"/>
                </a:solidFill>
                <a:latin typeface="Arial"/>
              </a:rPr>
              <a:t>7×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more memory accesses than the lower bound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815045" y="21632287"/>
            <a:ext cx="15778083" cy="599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285" b="0" i="1">
                <a:solidFill>
                  <a:srgbClr val="555555"/>
                </a:solidFill>
                <a:latin typeface="Arial"/>
              </a:rPr>
              <a:t>Measured on 16 V100 GPUs at equal convergence.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038643" y="21837729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Dataset / Benchmark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08365" y="23082051"/>
            <a:ext cx="158847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708365" y="24184411"/>
            <a:ext cx="1588476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Because gradient sparsification only ever needs </a:t>
            </a:r>
            <a:r>
              <a:rPr sz="4106" b="1">
                <a:solidFill>
                  <a:srgbClr val="111111"/>
                </a:solidFill>
                <a:latin typeface="Arial"/>
              </a:rPr>
              <a:t>approximate</a:t>
            </a:r>
            <a:r>
              <a:rPr sz="4106" b="0">
                <a:solidFill>
                  <a:srgbClr val="1C1C1C"/>
                </a:solidFill>
                <a:latin typeface="Arial"/>
              </a:rPr>
              <a:t> top-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k gradients, replacing exact parallel-prefix-sum selection with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direct randomized hashing</a:t>
            </a:r>
            <a:r>
              <a:rPr sz="4106" b="0">
                <a:solidFill>
                  <a:srgbClr val="1C1C1C"/>
                </a:solidFill>
                <a:latin typeface="Arial"/>
              </a:rPr>
              <a:t> removes the compression bottleneck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— now embarrassingly parallel.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08365" y="27750968"/>
            <a:ext cx="15884763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Tensor selection + sparse decoding make GS </a:t>
            </a:r>
            <a:r>
              <a:rPr sz="4024" b="1">
                <a:solidFill>
                  <a:srgbClr val="111111"/>
                </a:solidFill>
                <a:latin typeface="Arial"/>
              </a:rPr>
              <a:t>finally pay off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11111"/>
                </a:solidFill>
                <a:latin typeface="Arial"/>
              </a:rPr>
              <a:t>at scale</a:t>
            </a:r>
            <a:r>
              <a:rPr sz="4024" b="1">
                <a:solidFill>
                  <a:srgbClr val="0F6070"/>
                </a:solidFill>
                <a:latin typeface="Arial"/>
              </a:rPr>
              <a:t> — without hurting accuracy.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38625" y="6870164"/>
            <a:ext cx="1577796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DRAGONN pre-allocates a compressed buffer and hashes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each above-threshold gradient's index </a:t>
            </a:r>
            <a:r>
              <a:rPr sz="4106" b="1">
                <a:solidFill>
                  <a:srgbClr val="111111"/>
                </a:solidFill>
                <a:latin typeface="Arial"/>
              </a:rPr>
              <a:t>directly into a slot</a:t>
            </a:r>
            <a:r>
              <a:rPr sz="4106" b="0">
                <a:solidFill>
                  <a:srgbClr val="1C1C1C"/>
                </a:solidFill>
                <a:latin typeface="Arial"/>
              </a:rPr>
              <a:t>,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 prefix-sum scan — collisions simply overwrite, and empty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slots map to zero.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038625" y="10077509"/>
            <a:ext cx="1577796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GPU writes are </a:t>
            </a:r>
            <a:r>
              <a:rPr sz="4106" b="1">
                <a:solidFill>
                  <a:srgbClr val="111111"/>
                </a:solidFill>
                <a:latin typeface="Arial"/>
              </a:rPr>
              <a:t>atomic</a:t>
            </a:r>
            <a:r>
              <a:rPr sz="4106" b="0">
                <a:solidFill>
                  <a:srgbClr val="1C1C1C"/>
                </a:solidFill>
                <a:latin typeface="Arial"/>
              </a:rPr>
              <a:t>, so many threads hash and write in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parallel with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no ordering dependency</a:t>
            </a:r>
            <a:r>
              <a:rPr sz="4106" b="0">
                <a:solidFill>
                  <a:srgbClr val="1C1C1C"/>
                </a:solidFill>
                <a:latin typeface="Arial"/>
              </a:rPr>
              <a:t> between them.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863218" y="11658679"/>
            <a:ext cx="11592525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Training speed vs #GPUs: DRAGONN tracks linear scaling.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2222" y="15978247"/>
            <a:ext cx="15777963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SOTA methods like </a:t>
            </a:r>
            <a:r>
              <a:rPr sz="4106" b="1">
                <a:solidFill>
                  <a:srgbClr val="111111"/>
                </a:solidFill>
                <a:latin typeface="Arial"/>
              </a:rPr>
              <a:t>DGC</a:t>
            </a:r>
            <a:r>
              <a:rPr sz="4106" b="0">
                <a:solidFill>
                  <a:srgbClr val="1C1C1C"/>
                </a:solidFill>
                <a:latin typeface="Arial"/>
              </a:rPr>
              <a:t> extract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approximate</a:t>
            </a:r>
            <a:r>
              <a:rPr sz="4106" b="0">
                <a:solidFill>
                  <a:srgbClr val="1C1C1C"/>
                </a:solidFill>
                <a:latin typeface="Arial"/>
              </a:rPr>
              <a:t> top-k gradients,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yet place them with </a:t>
            </a:r>
            <a:r>
              <a:rPr sz="4106" b="1">
                <a:solidFill>
                  <a:srgbClr val="111111"/>
                </a:solidFill>
                <a:latin typeface="Arial"/>
              </a:rPr>
              <a:t>exact parallel prefix sum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sequential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O(log d)</a:t>
            </a:r>
            <a:r>
              <a:rPr sz="4106" b="0">
                <a:solidFill>
                  <a:srgbClr val="1C1C1C"/>
                </a:solidFill>
                <a:latin typeface="Arial"/>
              </a:rPr>
              <a:t> scan over the whole tensor.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34680" y="16187300"/>
            <a:ext cx="12681456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Convergence unchanged: DRAGONN matches FULL's accuracy.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2222" y="18429386"/>
            <a:ext cx="1577796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An </a:t>
            </a:r>
            <a:r>
              <a:rPr sz="4106" b="1">
                <a:solidFill>
                  <a:srgbClr val="111111"/>
                </a:solidFill>
                <a:latin typeface="Arial"/>
              </a:rPr>
              <a:t>exact–approximate mismatch</a:t>
            </a:r>
            <a:r>
              <a:rPr sz="4106" b="0">
                <a:solidFill>
                  <a:srgbClr val="1C1C1C"/>
                </a:solidFill>
                <a:latin typeface="Arial"/>
              </a:rPr>
              <a:t>: only an approximate set is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needed, so an exact selection algorithm is wasted overhead.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393812" y="20155713"/>
            <a:ext cx="13019826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DGC uses prefix sum; DRAGONN writes indices by direct hashing.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038625" y="22940089"/>
            <a:ext cx="1577796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Four models spanning vision + recommendation: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ResNet50</a:t>
            </a:r>
            <a:r>
              <a:rPr sz="4106" b="0">
                <a:solidFill>
                  <a:srgbClr val="1C1C1C"/>
                </a:solidFill>
                <a:latin typeface="Arial"/>
              </a:rPr>
              <a:t>/ImageNet, </a:t>
            </a:r>
            <a:r>
              <a:rPr sz="4106" b="1">
                <a:solidFill>
                  <a:srgbClr val="111111"/>
                </a:solidFill>
                <a:latin typeface="Arial"/>
              </a:rPr>
              <a:t>ViT</a:t>
            </a:r>
            <a:r>
              <a:rPr sz="4106" b="0">
                <a:solidFill>
                  <a:srgbClr val="1C1C1C"/>
                </a:solidFill>
                <a:latin typeface="Arial"/>
              </a:rPr>
              <a:t> &amp; </a:t>
            </a:r>
            <a:r>
              <a:rPr sz="4106" b="1">
                <a:solidFill>
                  <a:srgbClr val="111111"/>
                </a:solidFill>
                <a:latin typeface="Arial"/>
              </a:rPr>
              <a:t>MLP-Mixer</a:t>
            </a:r>
            <a:r>
              <a:rPr sz="4106" b="0">
                <a:solidFill>
                  <a:srgbClr val="1C1C1C"/>
                </a:solidFill>
                <a:latin typeface="Arial"/>
              </a:rPr>
              <a:t>/Cifar10 (ImageNet-21k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pretrain), </a:t>
            </a:r>
            <a:r>
              <a:rPr sz="4106" b="1">
                <a:solidFill>
                  <a:srgbClr val="111111"/>
                </a:solidFill>
                <a:latin typeface="Arial"/>
              </a:rPr>
              <a:t>XML</a:t>
            </a:r>
            <a:r>
              <a:rPr sz="4106" b="0">
                <a:solidFill>
                  <a:srgbClr val="1C1C1C"/>
                </a:solidFill>
                <a:latin typeface="Arial"/>
              </a:rPr>
              <a:t>/Wiki10-31K.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038625" y="25391229"/>
            <a:ext cx="15777962" cy="2661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Testbed: </a:t>
            </a:r>
            <a:r>
              <a:rPr sz="4353" b="1">
                <a:solidFill>
                  <a:srgbClr val="111111"/>
                </a:solidFill>
                <a:latin typeface="Arial"/>
              </a:rPr>
              <a:t>16×</a:t>
            </a:r>
            <a:r>
              <a:rPr sz="4106" b="0">
                <a:solidFill>
                  <a:srgbClr val="1C1C1C"/>
                </a:solidFill>
                <a:latin typeface="Arial"/>
              </a:rPr>
              <a:t> V100-32GB (2×8 GPUs), 25 Gbps network;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memory-momentum error feedback preserves accuracy for all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GS methods.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96487" y="28553985"/>
            <a:ext cx="14505213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Compression overhead dominates total overhead as tensor size grows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(DGC / TopK vs Full).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971454" y="6945451"/>
            <a:ext cx="3429327" cy="809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544"/>
              </a:lnSpc>
              <a:spcBef>
                <a:spcPts val="0"/>
              </a:spcBef>
              <a:spcAft>
                <a:spcPts val="0"/>
              </a:spcAft>
            </a:pPr>
            <a:r>
              <a:rPr sz="5544" b="1">
                <a:solidFill>
                  <a:srgbClr val="0F6070"/>
                </a:solidFill>
                <a:latin typeface="Arial"/>
              </a:rPr>
              <a:t>1.42×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74442" y="6945451"/>
            <a:ext cx="3429469" cy="809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544"/>
              </a:lnSpc>
              <a:spcBef>
                <a:spcPts val="0"/>
              </a:spcBef>
              <a:spcAft>
                <a:spcPts val="0"/>
              </a:spcAft>
            </a:pPr>
            <a:r>
              <a:rPr sz="5544" b="1">
                <a:solidFill>
                  <a:srgbClr val="0F6070"/>
                </a:solidFill>
                <a:latin typeface="Arial"/>
              </a:rPr>
              <a:t>2.15×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777568" y="6945451"/>
            <a:ext cx="3429327" cy="809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544"/>
              </a:lnSpc>
              <a:spcBef>
                <a:spcPts val="0"/>
              </a:spcBef>
              <a:spcAft>
                <a:spcPts val="0"/>
              </a:spcAft>
            </a:pPr>
            <a:r>
              <a:rPr sz="5544" b="1">
                <a:solidFill>
                  <a:srgbClr val="0F6070"/>
                </a:solidFill>
                <a:latin typeface="Arial"/>
              </a:rPr>
              <a:t>1.72×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80556" y="6945451"/>
            <a:ext cx="3429327" cy="8097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544"/>
              </a:lnSpc>
              <a:spcBef>
                <a:spcPts val="0"/>
              </a:spcBef>
              <a:spcAft>
                <a:spcPts val="0"/>
              </a:spcAft>
            </a:pPr>
            <a:r>
              <a:rPr sz="5544" b="1">
                <a:solidFill>
                  <a:srgbClr val="0F6070"/>
                </a:solidFill>
                <a:latin typeface="Arial"/>
              </a:rPr>
              <a:t>3.52×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971454" y="7712075"/>
            <a:ext cx="3429327" cy="413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464" b="0">
                <a:solidFill>
                  <a:srgbClr val="555555"/>
                </a:solidFill>
                <a:latin typeface="Arial"/>
              </a:rPr>
              <a:t>ResNet50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874442" y="7712075"/>
            <a:ext cx="3429469" cy="4137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464" b="0">
                <a:solidFill>
                  <a:srgbClr val="555555"/>
                </a:solidFill>
                <a:latin typeface="Arial"/>
              </a:rPr>
              <a:t>ViT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777568" y="7712075"/>
            <a:ext cx="3429327" cy="413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464" b="0">
                <a:solidFill>
                  <a:srgbClr val="555555"/>
                </a:solidFill>
                <a:latin typeface="Arial"/>
              </a:rPr>
              <a:t>MLP-Mixer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80556" y="7712075"/>
            <a:ext cx="3429327" cy="4137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33"/>
              </a:lnSpc>
              <a:spcBef>
                <a:spcPts val="0"/>
              </a:spcBef>
              <a:spcAft>
                <a:spcPts val="0"/>
              </a:spcAft>
            </a:pPr>
            <a:r>
              <a:rPr sz="2464" b="0">
                <a:solidFill>
                  <a:srgbClr val="555555"/>
                </a:solidFill>
                <a:latin typeface="Arial"/>
              </a:rPr>
              <a:t>XML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060909" y="19152115"/>
            <a:ext cx="9303636" cy="1398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9576"/>
              </a:lnSpc>
              <a:spcBef>
                <a:spcPts val="0"/>
              </a:spcBef>
              <a:spcAft>
                <a:spcPts val="0"/>
              </a:spcAft>
            </a:pPr>
            <a:r>
              <a:rPr sz="10080" b="1" spc="-201">
                <a:solidFill>
                  <a:srgbClr val="0F6070"/>
                </a:solidFill>
                <a:latin typeface="Arial"/>
              </a:rPr>
              <a:t>3.52×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060909" y="20391854"/>
            <a:ext cx="9303636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training vs DGC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060909" y="20913308"/>
            <a:ext cx="9303636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at equal convergence · up to 35.9×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145503" y="19136419"/>
            <a:ext cx="110710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402882" y="19269769"/>
            <a:ext cx="362319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less compression time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145503" y="19957216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35.9×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80417" y="20090566"/>
            <a:ext cx="179113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vs full sync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145503" y="20778013"/>
            <a:ext cx="17346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=FULL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012125" y="20911363"/>
            <a:ext cx="215783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test accuracy</a:t>
            </a:r>
          </a:p>
        </p:txBody>
      </p:sp>
      <p:pic>
        <p:nvPicPr>
          <p:cNvPr id="90" name="Picture 89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25683" y="12001361"/>
            <a:ext cx="9377144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
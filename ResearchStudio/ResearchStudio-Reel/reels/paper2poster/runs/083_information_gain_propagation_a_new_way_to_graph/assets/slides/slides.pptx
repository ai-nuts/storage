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igp_video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igp_video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1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9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100" kern="1200">
          <a:solidFill>
            <a:schemeClr val="tx1"/>
          </a:solidFill>
          <a:latin typeface="+mn-lt"/>
          <a:ea typeface="+mn-ea"/>
          <a:cs typeface="+mn-cs"/>
        </a:defRPr>
      </a:lvl2pPr>
      <a:lvl3pPr marL="914400" algn="l" defTabSz="457200" rtl="0" eaLnBrk="1" latinLnBrk="0" hangingPunct="1">
        <a:defRPr sz="1050" kern="1200">
          <a:solidFill>
            <a:schemeClr val="tx1"/>
          </a:solidFill>
          <a:latin typeface="+mn-lt"/>
          <a:ea typeface="+mn-ea"/>
          <a:cs typeface="+mn-cs"/>
        </a:defRPr>
      </a:lvl3pPr>
      <a:lvl4pPr marL="1371600" algn="l" defTabSz="457200" rtl="0" eaLnBrk="1" latinLnBrk="0" hangingPunct="1">
        <a:defRPr sz="1000" kern="1200">
          <a:solidFill>
            <a:schemeClr val="tx1"/>
          </a:solidFill>
          <a:latin typeface="+mn-lt"/>
          <a:ea typeface="+mn-ea"/>
          <a:cs typeface="+mn-cs"/>
        </a:defRPr>
      </a:lvl4pPr>
      <a:lvl5pPr marL="1828800" algn="l" defTabSz="457200" rtl="0" eaLnBrk="1" latinLnBrk="0" hangingPunct="1">
        <a:defRPr sz="90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4f4b2a32e7f98bf2.png"/><Relationship Id="rId3" Type="http://schemas.openxmlformats.org/officeDocument/2006/relationships/image" Target="../media/image_714f4fa6eae9858f.png"/><Relationship Id="rId4" Type="http://schemas.openxmlformats.org/officeDocument/2006/relationships/image" Target="../media/image_4054c239ec536c0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01aa453a1c1f592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2cf5d4cab2eafaf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0f09301a1c7a2b6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76200"/>
            </a:xfrm>
            <a:prstGeom prst="rect">
              <a:avLst/>
            </a:prstGeom>
            <a:solidFill>
              <a:schemeClr val="accent3"/>
            </a:solidFill>
            <a:ln>
              <a:noFill/>
            </a:ln>
          </p:spPr>
        </p:sp>
      </p:grpSp>
      <p:grpSp>
        <p:nvGrpSpPr>
          <p:cNvPr id="11" name="Group 11"/>
          <p:cNvGrpSpPr/>
          <p:nvPr/>
        </p:nvGrpSpPr>
        <p:grpSpPr>
          <a:xfrm>
            <a:off x="592836" y="564356"/>
            <a:ext cx="7289671" cy="1768983"/>
            <a:chOff x="592836" y="564356"/>
            <a:chExt cx="7289671" cy="1768983"/>
          </a:xfrm>
        </p:grpSpPr>
        <p:sp>
          <p:nvSpPr>
            <p:cNvPr id="5" name="TextBox 5"/>
            <p:cNvSpPr txBox="1"/>
            <p:nvPr/>
          </p:nvSpPr>
          <p:spPr>
            <a:xfrm>
              <a:off x="603885" y="564356"/>
              <a:ext cx="3433383" cy="220028"/>
            </a:xfrm>
            <a:prstGeom prst="rect">
              <a:avLst/>
            </a:prstGeom>
            <a:noFill/>
            <a:ln>
              <a:noFill/>
            </a:ln>
          </p:spPr>
          <p:txBody>
            <a:bodyPr wrap="none" lIns="0" tIns="0" rIns="0" bIns="0" anchor="t" anchorCtr="0">
              <a:spAutoFit/>
            </a:bodyPr>
            <a:lstStyle/>
            <a:p>
              <a:pPr algn="l"/>
              <a:r>
                <a:rPr lang="en-US" sz="1120" b="1" spc="225" dirty="0">
                  <a:solidFill>
                    <a:schemeClr val="accent3"/>
                  </a:solidFill>
                  <a:latin typeface="+mn-lt"/>
                  <a:ea typeface="+mn-ea"/>
                  <a:cs typeface="+mn-cs"/>
                </a:rPr>
                <a:t>ICLR 2022 · PAPER WALKTHROUGH</a:t>
              </a:r>
            </a:p>
          </p:txBody>
        </p:sp>
        <p:sp>
          <p:nvSpPr>
            <p:cNvPr id="6" name="TextBox 6"/>
            <p:cNvSpPr txBox="1"/>
            <p:nvPr/>
          </p:nvSpPr>
          <p:spPr>
            <a:xfrm>
              <a:off x="592836" y="843915"/>
              <a:ext cx="6653546"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Information Gain Propagation</a:t>
              </a:r>
            </a:p>
          </p:txBody>
        </p:sp>
        <p:sp>
          <p:nvSpPr>
            <p:cNvPr id="7" name="TextBox 7"/>
            <p:cNvSpPr txBox="1"/>
            <p:nvPr/>
          </p:nvSpPr>
          <p:spPr>
            <a:xfrm>
              <a:off x="601599" y="1373029"/>
              <a:ext cx="5749862" cy="308039"/>
            </a:xfrm>
            <a:prstGeom prst="rect">
              <a:avLst/>
            </a:prstGeom>
            <a:noFill/>
            <a:ln>
              <a:noFill/>
            </a:ln>
          </p:spPr>
          <p:txBody>
            <a:bodyPr wrap="none" lIns="0" tIns="0" rIns="0" bIns="0" anchor="t" anchorCtr="0">
              <a:spAutoFit/>
            </a:bodyPr>
            <a:lstStyle/>
            <a:p>
              <a:pPr algn="l"/>
              <a:r>
                <a:rPr lang="en-US" sz="1580" b="1" dirty="0">
                  <a:solidFill>
                    <a:srgbClr val="41506A"/>
                  </a:solidFill>
                  <a:latin typeface="+mn-lt"/>
                  <a:ea typeface="+mn-ea"/>
                  <a:cs typeface="+mn-cs"/>
                </a:rPr>
                <a:t>A New Way to Graph Active Learning with Soft Labels</a:t>
              </a:r>
            </a:p>
          </p:txBody>
        </p:sp>
        <p:sp>
          <p:nvSpPr>
            <p:cNvPr id="8" name="Rectangle 8"/>
            <p:cNvSpPr/>
            <p:nvPr/>
          </p:nvSpPr>
          <p:spPr>
            <a:xfrm>
              <a:off x="628650" y="1714500"/>
              <a:ext cx="1143000" cy="57150"/>
            </a:xfrm>
            <a:prstGeom prst="roundRect">
              <a:avLst>
                <a:gd name="adj" fmla="val 50000"/>
              </a:avLst>
            </a:prstGeom>
            <a:solidFill>
              <a:schemeClr val="accent2"/>
            </a:solidFill>
            <a:ln>
              <a:noFill/>
            </a:ln>
          </p:spPr>
        </p:sp>
        <p:sp>
          <p:nvSpPr>
            <p:cNvPr id="9" name="TextBox 9"/>
            <p:cNvSpPr txBox="1"/>
            <p:nvPr/>
          </p:nvSpPr>
          <p:spPr>
            <a:xfrm>
              <a:off x="604266" y="1925002"/>
              <a:ext cx="7278241"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Wentao Zhang · Yexin Wang · Zhenbang You · Meng Cao · Ping Huang · Jiulong Shan · Zhi Yang · Bin Cui</a:t>
              </a:r>
            </a:p>
          </p:txBody>
        </p:sp>
        <p:sp>
          <p:nvSpPr>
            <p:cNvPr id="10" name="TextBox 10"/>
            <p:cNvSpPr txBox="1"/>
            <p:nvPr/>
          </p:nvSpPr>
          <p:spPr>
            <a:xfrm>
              <a:off x="604647" y="2142649"/>
              <a:ext cx="627271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Peking University · Apple · National Engineering Laboratory for Big Data Analysis and Applications</a:t>
              </a:r>
            </a:p>
          </p:txBody>
        </p:sp>
      </p:grpSp>
      <p:grpSp>
        <p:nvGrpSpPr>
          <p:cNvPr id="16" name="Group 16"/>
          <p:cNvGrpSpPr/>
          <p:nvPr/>
        </p:nvGrpSpPr>
        <p:grpSpPr>
          <a:xfrm>
            <a:off x="609600" y="2457450"/>
            <a:ext cx="7598492" cy="723900"/>
            <a:chOff x="609600" y="2457450"/>
            <a:chExt cx="7598492" cy="723900"/>
          </a:xfrm>
        </p:grpSpPr>
        <p:sp>
          <p:nvSpPr>
            <p:cNvPr id="12" name="Rectangle 12"/>
            <p:cNvSpPr/>
            <p:nvPr/>
          </p:nvSpPr>
          <p:spPr>
            <a:xfrm>
              <a:off x="609600" y="2457450"/>
              <a:ext cx="7505700" cy="723900"/>
            </a:xfrm>
            <a:prstGeom prst="roundRect">
              <a:avLst>
                <a:gd name="adj" fmla="val 15789"/>
              </a:avLst>
            </a:prstGeom>
            <a:solidFill>
              <a:schemeClr val="lt2"/>
            </a:solidFill>
            <a:ln w="14288">
              <a:solidFill>
                <a:schemeClr val="accent4"/>
              </a:solidFill>
            </a:ln>
          </p:spPr>
        </p:sp>
        <p:sp>
          <p:nvSpPr>
            <p:cNvPr id="13" name="Rectangle 13"/>
            <p:cNvSpPr/>
            <p:nvPr/>
          </p:nvSpPr>
          <p:spPr>
            <a:xfrm>
              <a:off x="609600" y="2457450"/>
              <a:ext cx="66675" cy="723900"/>
            </a:xfrm>
            <a:prstGeom prst="roundRect">
              <a:avLst>
                <a:gd name="adj" fmla="val 42857"/>
              </a:avLst>
            </a:prstGeom>
            <a:solidFill>
              <a:schemeClr val="accent2"/>
            </a:solidFill>
            <a:ln>
              <a:noFill/>
            </a:ln>
          </p:spPr>
        </p:sp>
        <p:sp>
          <p:nvSpPr>
            <p:cNvPr id="14" name="TextBox 14"/>
            <p:cNvSpPr txBox="1"/>
            <p:nvPr/>
          </p:nvSpPr>
          <p:spPr>
            <a:xfrm>
              <a:off x="852297" y="2637949"/>
              <a:ext cx="1472574"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THE COST PROBLEM</a:t>
              </a:r>
            </a:p>
          </p:txBody>
        </p:sp>
        <p:sp>
          <p:nvSpPr>
            <p:cNvPr id="15" name="TextBox 15"/>
            <p:cNvSpPr txBox="1"/>
            <p:nvPr/>
          </p:nvSpPr>
          <p:spPr>
            <a:xfrm>
              <a:off x="850392" y="2864168"/>
              <a:ext cx="7357700"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Labeling graph nodes is expensive — GNNs need many labeled nodes to train well.</a:t>
              </a:r>
            </a:p>
          </p:txBody>
        </p:sp>
      </p:grpSp>
      <p:grpSp>
        <p:nvGrpSpPr>
          <p:cNvPr id="21" name="Group 21"/>
          <p:cNvGrpSpPr/>
          <p:nvPr/>
        </p:nvGrpSpPr>
        <p:grpSpPr>
          <a:xfrm>
            <a:off x="609600" y="3295650"/>
            <a:ext cx="7505700" cy="723900"/>
            <a:chOff x="609600" y="3295650"/>
            <a:chExt cx="7505700" cy="723900"/>
          </a:xfrm>
        </p:grpSpPr>
        <p:sp>
          <p:nvSpPr>
            <p:cNvPr id="17" name="Rectangle 17"/>
            <p:cNvSpPr/>
            <p:nvPr/>
          </p:nvSpPr>
          <p:spPr>
            <a:xfrm>
              <a:off x="609600" y="3295650"/>
              <a:ext cx="7505700" cy="723900"/>
            </a:xfrm>
            <a:prstGeom prst="roundRect">
              <a:avLst>
                <a:gd name="adj" fmla="val 15789"/>
              </a:avLst>
            </a:prstGeom>
            <a:solidFill>
              <a:schemeClr val="accent6"/>
            </a:solidFill>
            <a:ln w="14288">
              <a:solidFill>
                <a:schemeClr val="accent4"/>
              </a:solidFill>
            </a:ln>
          </p:spPr>
        </p:sp>
        <p:sp>
          <p:nvSpPr>
            <p:cNvPr id="18" name="Rectangle 18"/>
            <p:cNvSpPr/>
            <p:nvPr/>
          </p:nvSpPr>
          <p:spPr>
            <a:xfrm>
              <a:off x="609600" y="3295650"/>
              <a:ext cx="66675" cy="723900"/>
            </a:xfrm>
            <a:prstGeom prst="roundRect">
              <a:avLst>
                <a:gd name="adj" fmla="val 42857"/>
              </a:avLst>
            </a:prstGeom>
            <a:solidFill>
              <a:schemeClr val="accent3"/>
            </a:solidFill>
            <a:ln>
              <a:noFill/>
            </a:ln>
          </p:spPr>
        </p:sp>
        <p:sp>
          <p:nvSpPr>
            <p:cNvPr id="19" name="TextBox 19"/>
            <p:cNvSpPr txBox="1"/>
            <p:nvPr/>
          </p:nvSpPr>
          <p:spPr>
            <a:xfrm>
              <a:off x="852297" y="3476149"/>
              <a:ext cx="1785403" cy="190690"/>
            </a:xfrm>
            <a:prstGeom prst="rect">
              <a:avLst/>
            </a:prstGeom>
            <a:noFill/>
            <a:ln>
              <a:noFill/>
            </a:ln>
          </p:spPr>
          <p:txBody>
            <a:bodyPr wrap="none" lIns="0" tIns="0" rIns="0" bIns="0" anchor="t" anchorCtr="0">
              <a:spAutoFit/>
            </a:bodyPr>
            <a:lstStyle/>
            <a:p>
              <a:pPr algn="l"/>
              <a:r>
                <a:rPr lang="en-US" sz="980" b="1" spc="75" dirty="0">
                  <a:solidFill>
                    <a:schemeClr val="accent3"/>
                  </a:solidFill>
                  <a:latin typeface="+mn-lt"/>
                  <a:ea typeface="+mn-ea"/>
                  <a:cs typeface="+mn-cs"/>
                </a:rPr>
                <a:t>THIS PAPER · ICLR 2022</a:t>
              </a:r>
            </a:p>
          </p:txBody>
        </p:sp>
        <p:sp>
          <p:nvSpPr>
            <p:cNvPr id="20" name="TextBox 20"/>
            <p:cNvSpPr txBox="1"/>
            <p:nvPr/>
          </p:nvSpPr>
          <p:spPr>
            <a:xfrm>
              <a:off x="850392" y="3702368"/>
              <a:ext cx="5699343"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Information Gain Propagation rethinks graph active learning.</a:t>
              </a:r>
            </a:p>
          </p:txBody>
        </p:sp>
      </p:grpSp>
      <p:grpSp>
        <p:nvGrpSpPr>
          <p:cNvPr id="27" name="Group 27"/>
          <p:cNvGrpSpPr/>
          <p:nvPr/>
        </p:nvGrpSpPr>
        <p:grpSpPr>
          <a:xfrm>
            <a:off x="609600" y="4133850"/>
            <a:ext cx="7505700" cy="860584"/>
            <a:chOff x="609600" y="4133850"/>
            <a:chExt cx="7505700" cy="860584"/>
          </a:xfrm>
        </p:grpSpPr>
        <p:sp>
          <p:nvSpPr>
            <p:cNvPr id="22" name="Rectangle 22"/>
            <p:cNvSpPr/>
            <p:nvPr/>
          </p:nvSpPr>
          <p:spPr>
            <a:xfrm>
              <a:off x="609600" y="4133850"/>
              <a:ext cx="7505700" cy="857250"/>
            </a:xfrm>
            <a:prstGeom prst="roundRect">
              <a:avLst>
                <a:gd name="adj" fmla="val 13333"/>
              </a:avLst>
            </a:prstGeom>
            <a:solidFill>
              <a:schemeClr val="lt1"/>
            </a:solidFill>
            <a:ln w="14288">
              <a:solidFill>
                <a:schemeClr val="accent4"/>
              </a:solidFill>
            </a:ln>
          </p:spPr>
        </p:sp>
        <p:sp>
          <p:nvSpPr>
            <p:cNvPr id="23" name="Rectangle 23"/>
            <p:cNvSpPr/>
            <p:nvPr/>
          </p:nvSpPr>
          <p:spPr>
            <a:xfrm>
              <a:off x="609600" y="4133850"/>
              <a:ext cx="66675" cy="857250"/>
            </a:xfrm>
            <a:prstGeom prst="roundRect">
              <a:avLst>
                <a:gd name="adj" fmla="val 42857"/>
              </a:avLst>
            </a:prstGeom>
            <a:solidFill>
              <a:schemeClr val="accent3"/>
            </a:solidFill>
            <a:ln>
              <a:noFill/>
            </a:ln>
          </p:spPr>
        </p:sp>
        <p:sp>
          <p:nvSpPr>
            <p:cNvPr id="24" name="TextBox 24"/>
            <p:cNvSpPr txBox="1"/>
            <p:nvPr/>
          </p:nvSpPr>
          <p:spPr>
            <a:xfrm>
              <a:off x="852297" y="4314349"/>
              <a:ext cx="1505197" cy="190690"/>
            </a:xfrm>
            <a:prstGeom prst="rect">
              <a:avLst/>
            </a:prstGeom>
            <a:noFill/>
            <a:ln>
              <a:noFill/>
            </a:ln>
          </p:spPr>
          <p:txBody>
            <a:bodyPr wrap="none" lIns="0" tIns="0" rIns="0" bIns="0" anchor="t" anchorCtr="0">
              <a:spAutoFit/>
            </a:bodyPr>
            <a:lstStyle/>
            <a:p>
              <a:pPr algn="l"/>
              <a:r>
                <a:rPr lang="en-US" sz="980" b="1" spc="75" dirty="0">
                  <a:solidFill>
                    <a:schemeClr val="accent3"/>
                  </a:solidFill>
                  <a:latin typeface="+mn-lt"/>
                  <a:ea typeface="+mn-ea"/>
                  <a:cs typeface="+mn-cs"/>
                </a:rPr>
                <a:t>THE RELAXED QUERY</a:t>
              </a:r>
            </a:p>
          </p:txBody>
        </p:sp>
        <p:sp>
          <p:nvSpPr>
            <p:cNvPr id="25" name="TextBox 25"/>
            <p:cNvSpPr txBox="1"/>
            <p:nvPr/>
          </p:nvSpPr>
          <p:spPr>
            <a:xfrm>
              <a:off x="850011" y="4532471"/>
              <a:ext cx="5330158"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Ask a cheap binary question instead of the exact class</a:t>
              </a:r>
            </a:p>
          </p:txBody>
        </p:sp>
        <p:sp>
          <p:nvSpPr>
            <p:cNvPr id="26" name="TextBox 26"/>
            <p:cNvSpPr txBox="1"/>
            <p:nvPr/>
          </p:nvSpPr>
          <p:spPr>
            <a:xfrm>
              <a:off x="851535" y="4774406"/>
              <a:ext cx="6347604"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"Does this node belong to a given class — yes or no?" The answer becomes a soft label.</a:t>
              </a:r>
            </a:p>
          </p:txBody>
        </p:sp>
      </p:grpSp>
      <p:grpSp>
        <p:nvGrpSpPr>
          <p:cNvPr id="33" name="Group 33"/>
          <p:cNvGrpSpPr/>
          <p:nvPr/>
        </p:nvGrpSpPr>
        <p:grpSpPr>
          <a:xfrm>
            <a:off x="609600" y="5105400"/>
            <a:ext cx="7505700" cy="876681"/>
            <a:chOff x="609600" y="5105400"/>
            <a:chExt cx="7505700" cy="876681"/>
          </a:xfrm>
        </p:grpSpPr>
        <p:sp>
          <p:nvSpPr>
            <p:cNvPr id="28" name="Rectangle 28"/>
            <p:cNvSpPr/>
            <p:nvPr/>
          </p:nvSpPr>
          <p:spPr>
            <a:xfrm>
              <a:off x="609600" y="5105400"/>
              <a:ext cx="7505700" cy="876300"/>
            </a:xfrm>
            <a:prstGeom prst="roundRect">
              <a:avLst>
                <a:gd name="adj" fmla="val 13043"/>
              </a:avLst>
            </a:prstGeom>
            <a:gradFill>
              <a:gsLst>
                <a:gs pos="0">
                  <a:schemeClr val="accent1"/>
                </a:gs>
                <a:gs pos="100000">
                  <a:srgbClr val="123A46"/>
                </a:gs>
              </a:gsLst>
              <a:lin ang="0" scaled="1"/>
            </a:gradFill>
            <a:ln>
              <a:noFill/>
            </a:ln>
          </p:spPr>
        </p:sp>
        <p:sp>
          <p:nvSpPr>
            <p:cNvPr id="29" name="Rectangle 29"/>
            <p:cNvSpPr/>
            <p:nvPr/>
          </p:nvSpPr>
          <p:spPr>
            <a:xfrm>
              <a:off x="609600" y="5105400"/>
              <a:ext cx="76200" cy="876300"/>
            </a:xfrm>
            <a:prstGeom prst="roundRect">
              <a:avLst>
                <a:gd name="adj" fmla="val 50000"/>
              </a:avLst>
            </a:prstGeom>
            <a:solidFill>
              <a:schemeClr val="accent2"/>
            </a:solidFill>
            <a:ln>
              <a:noFill/>
            </a:ln>
          </p:spPr>
        </p:sp>
        <p:sp>
          <p:nvSpPr>
            <p:cNvPr id="30" name="TextBox 30"/>
            <p:cNvSpPr txBox="1"/>
            <p:nvPr/>
          </p:nvSpPr>
          <p:spPr>
            <a:xfrm>
              <a:off x="871347" y="5285899"/>
              <a:ext cx="1053322" cy="190690"/>
            </a:xfrm>
            <a:prstGeom prst="rect">
              <a:avLst/>
            </a:prstGeom>
            <a:noFill/>
            <a:ln>
              <a:noFill/>
            </a:ln>
          </p:spPr>
          <p:txBody>
            <a:bodyPr wrap="none" lIns="0" tIns="0" rIns="0" bIns="0" anchor="t" anchorCtr="0">
              <a:spAutoFit/>
            </a:bodyPr>
            <a:lstStyle/>
            <a:p>
              <a:pPr algn="l"/>
              <a:r>
                <a:rPr lang="en-US" sz="980" b="1" spc="75" dirty="0">
                  <a:solidFill>
                    <a:srgbClr val="7FD1C9"/>
                  </a:solidFill>
                  <a:latin typeface="+mn-lt"/>
                  <a:ea typeface="+mn-ea"/>
                  <a:cs typeface="+mn-cs"/>
                </a:rPr>
                <a:t>THE OUTCOME</a:t>
              </a:r>
            </a:p>
          </p:txBody>
        </p:sp>
        <p:sp>
          <p:nvSpPr>
            <p:cNvPr id="31" name="TextBox 31"/>
            <p:cNvSpPr txBox="1"/>
            <p:nvPr/>
          </p:nvSpPr>
          <p:spPr>
            <a:xfrm>
              <a:off x="869823" y="5520214"/>
              <a:ext cx="5111997"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mn-lt"/>
                  <a:ea typeface="+mn-ea"/>
                  <a:cs typeface="+mn-cs"/>
                </a:rPr>
                <a:t>Select nodes whose information gain propagates farthest</a:t>
              </a:r>
            </a:p>
          </p:txBody>
        </p:sp>
        <p:sp>
          <p:nvSpPr>
            <p:cNvPr id="32" name="TextBox 32"/>
            <p:cNvSpPr txBox="1"/>
            <p:nvPr/>
          </p:nvSpPr>
          <p:spPr>
            <a:xfrm>
              <a:off x="870204" y="5747385"/>
              <a:ext cx="3642086" cy="234696"/>
            </a:xfrm>
            <a:prstGeom prst="rect">
              <a:avLst/>
            </a:prstGeom>
            <a:noFill/>
            <a:ln>
              <a:noFill/>
            </a:ln>
          </p:spPr>
          <p:txBody>
            <a:bodyPr wrap="none" lIns="0" tIns="0" rIns="0" bIns="0" anchor="t" anchorCtr="0">
              <a:spAutoFit/>
            </a:bodyPr>
            <a:lstStyle/>
            <a:p>
              <a:pPr algn="l"/>
              <a:r>
                <a:rPr lang="en-US" sz="1200" b="1" dirty="0">
                  <a:solidFill>
                    <a:srgbClr val="F6A87F"/>
                  </a:solidFill>
                  <a:latin typeface="+mn-lt"/>
                  <a:ea typeface="+mn-ea"/>
                  <a:cs typeface="+mn-cs"/>
                </a:rPr>
                <a:t>→ higher accuracy at far lower labeling cost</a:t>
              </a:r>
            </a:p>
          </p:txBody>
        </p:sp>
      </p:grpSp>
      <p:grpSp>
        <p:nvGrpSpPr>
          <p:cNvPr id="44" name="Group 44"/>
          <p:cNvGrpSpPr/>
          <p:nvPr/>
        </p:nvGrpSpPr>
        <p:grpSpPr>
          <a:xfrm>
            <a:off x="8343900" y="2457450"/>
            <a:ext cx="3238500" cy="3524250"/>
            <a:chOff x="8343900" y="2457450"/>
            <a:chExt cx="3238500" cy="3524250"/>
          </a:xfrm>
        </p:grpSpPr>
        <p:sp>
          <p:nvSpPr>
            <p:cNvPr id="34" name="Rectangle 34"/>
            <p:cNvSpPr/>
            <p:nvPr/>
          </p:nvSpPr>
          <p:spPr>
            <a:xfrm>
              <a:off x="8343900" y="2457450"/>
              <a:ext cx="3238500" cy="3524250"/>
            </a:xfrm>
            <a:prstGeom prst="roundRect">
              <a:avLst>
                <a:gd name="adj" fmla="val 4118"/>
              </a:avLst>
            </a:prstGeom>
            <a:solidFill>
              <a:schemeClr val="lt2"/>
            </a:solidFill>
            <a:ln w="14288">
              <a:solidFill>
                <a:schemeClr val="accent4"/>
              </a:solidFill>
            </a:ln>
          </p:spPr>
        </p:sp>
        <p:sp>
          <p:nvSpPr>
            <p:cNvPr id="35" name="Rectangle 35"/>
            <p:cNvSpPr/>
            <p:nvPr/>
          </p:nvSpPr>
          <p:spPr>
            <a:xfrm>
              <a:off x="8343900" y="2457450"/>
              <a:ext cx="3238500" cy="76200"/>
            </a:xfrm>
            <a:prstGeom prst="roundRect">
              <a:avLst>
                <a:gd name="adj" fmla="val 50000"/>
              </a:avLst>
            </a:prstGeom>
            <a:solidFill>
              <a:schemeClr val="accent3"/>
            </a:solidFill>
            <a:ln>
              <a:noFill/>
            </a:ln>
          </p:spPr>
        </p:sp>
        <p:sp>
          <p:nvSpPr>
            <p:cNvPr id="36" name="TextBox 36"/>
            <p:cNvSpPr txBox="1"/>
            <p:nvPr/>
          </p:nvSpPr>
          <p:spPr>
            <a:xfrm>
              <a:off x="9019221" y="2733199"/>
              <a:ext cx="1887858" cy="190690"/>
            </a:xfrm>
            <a:prstGeom prst="rect">
              <a:avLst/>
            </a:prstGeom>
            <a:noFill/>
            <a:ln>
              <a:noFill/>
            </a:ln>
          </p:spPr>
          <p:txBody>
            <a:bodyPr wrap="none" lIns="0" tIns="0" rIns="0" bIns="0" anchor="t" anchorCtr="0">
              <a:spAutoFit/>
            </a:bodyPr>
            <a:lstStyle/>
            <a:p>
              <a:pPr algn="ctr"/>
              <a:r>
                <a:rPr lang="en-US" sz="980" b="1" spc="75" dirty="0">
                  <a:solidFill>
                    <a:schemeClr val="accent3"/>
                  </a:solidFill>
                  <a:latin typeface="+mn-lt"/>
                  <a:ea typeface="+mn-ea"/>
                  <a:cs typeface="+mn-cs"/>
                </a:rPr>
                <a:t>SCAN TO READ THE PAPER</a:t>
              </a:r>
            </a:p>
          </p:txBody>
        </p:sp>
        <p:sp>
          <p:nvSpPr>
            <p:cNvPr id="37" name="Rectangle 37"/>
            <p:cNvSpPr/>
            <p:nvPr/>
          </p:nvSpPr>
          <p:spPr>
            <a:xfrm>
              <a:off x="8934450" y="2971800"/>
              <a:ext cx="2057400" cy="2057400"/>
            </a:xfrm>
            <a:prstGeom prst="roundRect">
              <a:avLst>
                <a:gd name="adj" fmla="val 4630"/>
              </a:avLst>
            </a:prstGeom>
            <a:solidFill>
              <a:schemeClr val="lt1"/>
            </a:solidFill>
            <a:ln w="9525">
              <a:solidFill>
                <a:schemeClr val="accent4"/>
              </a:solidFill>
            </a:ln>
          </p:spPr>
        </p:sp>
        <p:pic>
          <p:nvPicPr>
            <p:cNvPr id="38" name="Image 38"/>
            <p:cNvPicPr>
              <a:picLocks noChangeAspect="1"/>
            </p:cNvPicPr>
            <p:nvPr/>
          </p:nvPicPr>
          <p:blipFill>
            <a:blip r:embed="rId2"/>
            <a:stretch>
              <a:fillRect/>
            </a:stretch>
          </p:blipFill>
          <p:spPr>
            <a:xfrm>
              <a:off x="9010650" y="3048000"/>
              <a:ext cx="1905000" cy="1905000"/>
            </a:xfrm>
            <a:prstGeom prst="rect">
              <a:avLst/>
            </a:prstGeom>
          </p:spPr>
        </p:pic>
        <p:sp>
          <p:nvSpPr>
            <p:cNvPr id="39" name="TextBox 39"/>
            <p:cNvSpPr txBox="1"/>
            <p:nvPr/>
          </p:nvSpPr>
          <p:spPr>
            <a:xfrm>
              <a:off x="9272985" y="5174456"/>
              <a:ext cx="1380331" cy="220028"/>
            </a:xfrm>
            <a:prstGeom prst="rect">
              <a:avLst/>
            </a:prstGeom>
            <a:noFill/>
            <a:ln>
              <a:noFill/>
            </a:ln>
          </p:spPr>
          <p:txBody>
            <a:bodyPr wrap="none" lIns="0" tIns="0" rIns="0" bIns="0" anchor="t" anchorCtr="0">
              <a:spAutoFit/>
            </a:bodyPr>
            <a:lstStyle/>
            <a:p>
              <a:pPr algn="ctr"/>
              <a:r>
                <a:rPr lang="en-US" sz="1120" b="1" dirty="0">
                  <a:solidFill>
                    <a:schemeClr val="accent1"/>
                  </a:solidFill>
                  <a:latin typeface="+mn-lt"/>
                  <a:ea typeface="+mn-ea"/>
                  <a:cs typeface="+mn-cs"/>
                </a:rPr>
                <a:t>arXiv:2203.01093</a:t>
              </a:r>
            </a:p>
          </p:txBody>
        </p:sp>
        <p:pic>
          <p:nvPicPr>
            <p:cNvPr id="40" name="Image 40"/>
            <p:cNvPicPr>
              <a:picLocks noChangeAspect="1"/>
            </p:cNvPicPr>
            <p:nvPr/>
          </p:nvPicPr>
          <p:blipFill>
            <a:blip r:embed="rId3"/>
            <a:stretch>
              <a:fillRect/>
            </a:stretch>
          </p:blipFill>
          <p:spPr>
            <a:xfrm>
              <a:off x="9410700" y="5486400"/>
              <a:ext cx="400050" cy="400050"/>
            </a:xfrm>
            <a:prstGeom prst="rect">
              <a:avLst/>
            </a:prstGeom>
          </p:spPr>
        </p:pic>
        <p:pic>
          <p:nvPicPr>
            <p:cNvPr id="41" name="Image 41"/>
            <p:cNvPicPr>
              <a:picLocks noChangeAspect="1"/>
            </p:cNvPicPr>
            <p:nvPr/>
          </p:nvPicPr>
          <p:blipFill>
            <a:blip r:embed="rId4"/>
            <a:stretch>
              <a:fillRect/>
            </a:stretch>
          </p:blipFill>
          <p:spPr>
            <a:xfrm>
              <a:off x="10020300" y="5475798"/>
              <a:ext cx="342900" cy="421253"/>
            </a:xfrm>
            <a:prstGeom prst="rect">
              <a:avLst/>
            </a:prstGeom>
          </p:spPr>
        </p:pic>
        <p:sp>
          <p:nvSpPr>
            <p:cNvPr id="42" name="TextBox 42"/>
            <p:cNvSpPr txBox="1"/>
            <p:nvPr/>
          </p:nvSpPr>
          <p:spPr>
            <a:xfrm>
              <a:off x="9005888" y="5789295"/>
              <a:ext cx="231313" cy="176212"/>
            </a:xfrm>
            <a:prstGeom prst="rect">
              <a:avLst/>
            </a:prstGeom>
            <a:noFill/>
            <a:ln>
              <a:noFill/>
            </a:ln>
          </p:spPr>
          <p:txBody>
            <a:bodyPr wrap="none" lIns="0" tIns="0" rIns="0" bIns="0" anchor="t" anchorCtr="0">
              <a:spAutoFit/>
            </a:bodyPr>
            <a:lstStyle/>
            <a:p>
              <a:pPr algn="l"/>
              <a:r>
                <a:rPr lang="en-US" sz="900" b="1" dirty="0">
                  <a:solidFill>
                    <a:schemeClr val="accent5"/>
                  </a:solidFill>
                  <a:latin typeface="+mn-lt"/>
                  <a:ea typeface="+mn-ea"/>
                  <a:cs typeface="+mn-cs"/>
                </a:rPr>
                <a:t>PKU</a:t>
              </a:r>
            </a:p>
          </p:txBody>
        </p:sp>
        <p:sp>
          <p:nvSpPr>
            <p:cNvPr id="43" name="TextBox 43"/>
            <p:cNvSpPr txBox="1"/>
            <p:nvPr/>
          </p:nvSpPr>
          <p:spPr>
            <a:xfrm>
              <a:off x="10415588" y="5789295"/>
              <a:ext cx="331165" cy="176212"/>
            </a:xfrm>
            <a:prstGeom prst="rect">
              <a:avLst/>
            </a:prstGeom>
            <a:noFill/>
            <a:ln>
              <a:noFill/>
            </a:ln>
          </p:spPr>
          <p:txBody>
            <a:bodyPr wrap="none" lIns="0" tIns="0" rIns="0" bIns="0" anchor="t" anchorCtr="0">
              <a:spAutoFit/>
            </a:bodyPr>
            <a:lstStyle/>
            <a:p>
              <a:pPr algn="l"/>
              <a:r>
                <a:rPr lang="en-US" sz="900" b="1" dirty="0">
                  <a:solidFill>
                    <a:schemeClr val="accent5"/>
                  </a:solidFill>
                  <a:latin typeface="+mn-lt"/>
                  <a:ea typeface="+mn-ea"/>
                  <a:cs typeface="+mn-cs"/>
                </a:rPr>
                <a:t>Apple</a:t>
              </a:r>
            </a:p>
          </p:txBody>
        </p:sp>
      </p:grpSp>
      <p:sp>
        <p:nvSpPr>
          <p:cNvPr id="45" name="cue_s01_c1_graph_neural_networks_need_many" title="cue_s01_c1_graph_neural_networks_need_many" descr="cue_s01_c1_graph_neural_networks_need_many Graph neural networks need many labeled nodes, and labeling is expensive."/>
          <p:cNvSpPr/>
          <p:nvPr/>
        </p:nvSpPr>
        <p:spPr>
          <a:xfrm>
            <a:off x="609600" y="2457221"/>
            <a:ext cx="7598054" cy="724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1_c2_iclr_2022_information_gain_propagati" title="cue_s01_c2_iclr_2022_information_gain_propagati" descr="cue_s01_c2_iclr_2022_information_gain_propagati This ICLR 2022 paper, Information Gain Propagation, rethinks graph active learning."/>
          <p:cNvSpPr/>
          <p:nvPr/>
        </p:nvSpPr>
        <p:spPr>
          <a:xfrm>
            <a:off x="609600" y="3295954"/>
            <a:ext cx="7505395" cy="724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1_c3_instead_asking_oracle_node_exact" title="cue_s01_c3_instead_asking_oracle_node_exact" descr="cue_s01_c3_instead_asking_oracle_node_exact Instead of asking an oracle for a node's exact class, it asks a cheaper binary question: does this node belong to a given class?"/>
          <p:cNvSpPr/>
          <p:nvPr/>
        </p:nvSpPr>
        <p:spPr>
          <a:xfrm>
            <a:off x="609600" y="4134002"/>
            <a:ext cx="7505395" cy="860679"/>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1_c4_soft_label_plus_criterion_picking" title="cue_s01_c4_soft_label_plus_criterion_picking" descr="cue_s01_c4_soft_label_plus_criterion_picking That soft label, plus a criterion picking nodes whose information gain propagates farthest, gives higher accuracy at lower cost."/>
          <p:cNvSpPr/>
          <p:nvPr/>
        </p:nvSpPr>
        <p:spPr>
          <a:xfrm>
            <a:off x="609600" y="5105095"/>
            <a:ext cx="7505395"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76200"/>
            </a:xfrm>
            <a:prstGeom prst="rect">
              <a:avLst/>
            </a:prstGeom>
            <a:solidFill>
              <a:schemeClr val="accent3"/>
            </a:solidFill>
            <a:ln>
              <a:noFill/>
            </a:ln>
          </p:spPr>
        </p:sp>
      </p:grpSp>
      <p:grpSp>
        <p:nvGrpSpPr>
          <p:cNvPr id="7" name="Group 7"/>
          <p:cNvGrpSpPr/>
          <p:nvPr/>
        </p:nvGrpSpPr>
        <p:grpSpPr>
          <a:xfrm>
            <a:off x="596646" y="564356"/>
            <a:ext cx="6165035" cy="764001"/>
            <a:chOff x="596646" y="564356"/>
            <a:chExt cx="6165035" cy="764001"/>
          </a:xfrm>
        </p:grpSpPr>
        <p:sp>
          <p:nvSpPr>
            <p:cNvPr id="5" name="TextBox 5"/>
            <p:cNvSpPr txBox="1"/>
            <p:nvPr/>
          </p:nvSpPr>
          <p:spPr>
            <a:xfrm>
              <a:off x="603885" y="564356"/>
              <a:ext cx="1333409"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01 · PROBLEM</a:t>
              </a:r>
            </a:p>
          </p:txBody>
        </p:sp>
        <p:sp>
          <p:nvSpPr>
            <p:cNvPr id="6" name="TextBox 6"/>
            <p:cNvSpPr txBox="1"/>
            <p:nvPr/>
          </p:nvSpPr>
          <p:spPr>
            <a:xfrm>
              <a:off x="596646" y="829628"/>
              <a:ext cx="6165035"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Exact-class labeling does not scale</a:t>
              </a:r>
            </a:p>
          </p:txBody>
        </p:sp>
      </p:grpSp>
      <p:grpSp>
        <p:nvGrpSpPr>
          <p:cNvPr id="14" name="Group 14"/>
          <p:cNvGrpSpPr/>
          <p:nvPr/>
        </p:nvGrpSpPr>
        <p:grpSpPr>
          <a:xfrm>
            <a:off x="609600" y="1428750"/>
            <a:ext cx="5334000" cy="1562100"/>
            <a:chOff x="609600" y="1428750"/>
            <a:chExt cx="5334000" cy="1562100"/>
          </a:xfrm>
        </p:grpSpPr>
        <p:sp>
          <p:nvSpPr>
            <p:cNvPr id="8" name="Rectangle 8"/>
            <p:cNvSpPr/>
            <p:nvPr/>
          </p:nvSpPr>
          <p:spPr>
            <a:xfrm>
              <a:off x="609600" y="1428750"/>
              <a:ext cx="5334000" cy="1562100"/>
            </a:xfrm>
            <a:prstGeom prst="roundRect">
              <a:avLst>
                <a:gd name="adj" fmla="val 8537"/>
              </a:avLst>
            </a:prstGeom>
            <a:solidFill>
              <a:schemeClr val="lt2"/>
            </a:solidFill>
            <a:ln w="14288">
              <a:solidFill>
                <a:schemeClr val="accent4"/>
              </a:solidFill>
            </a:ln>
          </p:spPr>
        </p:sp>
        <p:sp>
          <p:nvSpPr>
            <p:cNvPr id="9" name="Rectangle 9"/>
            <p:cNvSpPr/>
            <p:nvPr/>
          </p:nvSpPr>
          <p:spPr>
            <a:xfrm>
              <a:off x="609600" y="1428750"/>
              <a:ext cx="66675" cy="1562100"/>
            </a:xfrm>
            <a:prstGeom prst="roundRect">
              <a:avLst>
                <a:gd name="adj" fmla="val 42857"/>
              </a:avLst>
            </a:prstGeom>
            <a:solidFill>
              <a:schemeClr val="accent2"/>
            </a:solidFill>
            <a:ln>
              <a:noFill/>
            </a:ln>
          </p:spPr>
        </p:sp>
        <p:sp>
          <p:nvSpPr>
            <p:cNvPr id="10" name="TextBox 10"/>
            <p:cNvSpPr txBox="1"/>
            <p:nvPr/>
          </p:nvSpPr>
          <p:spPr>
            <a:xfrm>
              <a:off x="852297" y="1647349"/>
              <a:ext cx="1505197"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HUNGRY FOR LABELS</a:t>
              </a:r>
            </a:p>
          </p:txBody>
        </p:sp>
        <p:sp>
          <p:nvSpPr>
            <p:cNvPr id="11" name="TextBox 11"/>
            <p:cNvSpPr txBox="1"/>
            <p:nvPr/>
          </p:nvSpPr>
          <p:spPr>
            <a:xfrm>
              <a:off x="849630" y="1895475"/>
              <a:ext cx="3269762"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GNNs rely on many labeled nodes</a:t>
              </a:r>
            </a:p>
          </p:txBody>
        </p:sp>
        <p:sp>
          <p:nvSpPr>
            <p:cNvPr id="12" name="TextBox 12"/>
            <p:cNvSpPr txBox="1"/>
            <p:nvPr/>
          </p:nvSpPr>
          <p:spPr>
            <a:xfrm>
              <a:off x="851154" y="2232660"/>
              <a:ext cx="339392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Strong accuracy demands large amounts of</a:t>
              </a:r>
            </a:p>
          </p:txBody>
        </p:sp>
        <p:sp>
          <p:nvSpPr>
            <p:cNvPr id="13" name="TextBox 13"/>
            <p:cNvSpPr txBox="1"/>
            <p:nvPr/>
          </p:nvSpPr>
          <p:spPr>
            <a:xfrm>
              <a:off x="851154" y="2442210"/>
              <a:ext cx="311383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labeled data, which is costly to obtain.</a:t>
              </a:r>
            </a:p>
          </p:txBody>
        </p:sp>
      </p:grpSp>
      <p:grpSp>
        <p:nvGrpSpPr>
          <p:cNvPr id="21" name="Group 21"/>
          <p:cNvGrpSpPr/>
          <p:nvPr/>
        </p:nvGrpSpPr>
        <p:grpSpPr>
          <a:xfrm>
            <a:off x="6248400" y="1428750"/>
            <a:ext cx="5334000" cy="1562100"/>
            <a:chOff x="6248400" y="1428750"/>
            <a:chExt cx="5334000" cy="1562100"/>
          </a:xfrm>
        </p:grpSpPr>
        <p:sp>
          <p:nvSpPr>
            <p:cNvPr id="15" name="Rectangle 15"/>
            <p:cNvSpPr/>
            <p:nvPr/>
          </p:nvSpPr>
          <p:spPr>
            <a:xfrm>
              <a:off x="6248400" y="1428750"/>
              <a:ext cx="5334000" cy="1562100"/>
            </a:xfrm>
            <a:prstGeom prst="roundRect">
              <a:avLst>
                <a:gd name="adj" fmla="val 8537"/>
              </a:avLst>
            </a:prstGeom>
            <a:solidFill>
              <a:schemeClr val="accent6"/>
            </a:solidFill>
            <a:ln w="14288">
              <a:solidFill>
                <a:schemeClr val="accent4"/>
              </a:solidFill>
            </a:ln>
          </p:spPr>
        </p:sp>
        <p:sp>
          <p:nvSpPr>
            <p:cNvPr id="16" name="Rectangle 16"/>
            <p:cNvSpPr/>
            <p:nvPr/>
          </p:nvSpPr>
          <p:spPr>
            <a:xfrm>
              <a:off x="6248400" y="1428750"/>
              <a:ext cx="66675" cy="1562100"/>
            </a:xfrm>
            <a:prstGeom prst="roundRect">
              <a:avLst>
                <a:gd name="adj" fmla="val 42857"/>
              </a:avLst>
            </a:prstGeom>
            <a:solidFill>
              <a:schemeClr val="accent3"/>
            </a:solidFill>
            <a:ln>
              <a:noFill/>
            </a:ln>
          </p:spPr>
        </p:sp>
        <p:sp>
          <p:nvSpPr>
            <p:cNvPr id="17" name="TextBox 17"/>
            <p:cNvSpPr txBox="1"/>
            <p:nvPr/>
          </p:nvSpPr>
          <p:spPr>
            <a:xfrm>
              <a:off x="6491097" y="1647349"/>
              <a:ext cx="1074658" cy="190690"/>
            </a:xfrm>
            <a:prstGeom prst="rect">
              <a:avLst/>
            </a:prstGeom>
            <a:noFill/>
            <a:ln>
              <a:noFill/>
            </a:ln>
          </p:spPr>
          <p:txBody>
            <a:bodyPr wrap="none" lIns="0" tIns="0" rIns="0" bIns="0" anchor="t" anchorCtr="0">
              <a:spAutoFit/>
            </a:bodyPr>
            <a:lstStyle/>
            <a:p>
              <a:pPr algn="l"/>
              <a:r>
                <a:rPr lang="en-US" sz="980" b="1" spc="75" dirty="0">
                  <a:solidFill>
                    <a:schemeClr val="accent3"/>
                  </a:solidFill>
                  <a:latin typeface="+mn-lt"/>
                  <a:ea typeface="+mn-ea"/>
                  <a:cs typeface="+mn-cs"/>
                </a:rPr>
                <a:t>THE USUAL FIX</a:t>
              </a:r>
            </a:p>
          </p:txBody>
        </p:sp>
        <p:sp>
          <p:nvSpPr>
            <p:cNvPr id="18" name="TextBox 18"/>
            <p:cNvSpPr txBox="1"/>
            <p:nvPr/>
          </p:nvSpPr>
          <p:spPr>
            <a:xfrm>
              <a:off x="6488430" y="1895475"/>
              <a:ext cx="3032833"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Active learning cuts the cost</a:t>
              </a:r>
            </a:p>
          </p:txBody>
        </p:sp>
        <p:sp>
          <p:nvSpPr>
            <p:cNvPr id="19" name="TextBox 19"/>
            <p:cNvSpPr txBox="1"/>
            <p:nvPr/>
          </p:nvSpPr>
          <p:spPr>
            <a:xfrm>
              <a:off x="6489954" y="2232660"/>
              <a:ext cx="293338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It selects the most valuable nodes to</a:t>
              </a:r>
            </a:p>
          </p:txBody>
        </p:sp>
        <p:sp>
          <p:nvSpPr>
            <p:cNvPr id="20" name="TextBox 20"/>
            <p:cNvSpPr txBox="1"/>
            <p:nvPr/>
          </p:nvSpPr>
          <p:spPr>
            <a:xfrm>
              <a:off x="6489954" y="2442210"/>
              <a:ext cx="346115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label, spending the budget where it counts.</a:t>
              </a:r>
            </a:p>
          </p:txBody>
        </p:sp>
      </p:grpSp>
      <p:grpSp>
        <p:nvGrpSpPr>
          <p:cNvPr id="28" name="Group 28"/>
          <p:cNvGrpSpPr/>
          <p:nvPr/>
        </p:nvGrpSpPr>
        <p:grpSpPr>
          <a:xfrm>
            <a:off x="609600" y="3143250"/>
            <a:ext cx="10972800" cy="1333500"/>
            <a:chOff x="609600" y="3143250"/>
            <a:chExt cx="10972800" cy="1333500"/>
          </a:xfrm>
        </p:grpSpPr>
        <p:sp>
          <p:nvSpPr>
            <p:cNvPr id="22" name="Rectangle 22"/>
            <p:cNvSpPr/>
            <p:nvPr/>
          </p:nvSpPr>
          <p:spPr>
            <a:xfrm>
              <a:off x="609600" y="3143250"/>
              <a:ext cx="10972800" cy="1333500"/>
            </a:xfrm>
            <a:prstGeom prst="roundRect">
              <a:avLst>
                <a:gd name="adj" fmla="val 10000"/>
              </a:avLst>
            </a:prstGeom>
            <a:solidFill>
              <a:schemeClr val="lt1"/>
            </a:solidFill>
            <a:ln w="14288">
              <a:solidFill>
                <a:schemeClr val="accent4"/>
              </a:solidFill>
            </a:ln>
          </p:spPr>
        </p:sp>
        <p:sp>
          <p:nvSpPr>
            <p:cNvPr id="23" name="Rectangle 23"/>
            <p:cNvSpPr/>
            <p:nvPr/>
          </p:nvSpPr>
          <p:spPr>
            <a:xfrm>
              <a:off x="609600" y="3143250"/>
              <a:ext cx="66675" cy="1333500"/>
            </a:xfrm>
            <a:prstGeom prst="roundRect">
              <a:avLst>
                <a:gd name="adj" fmla="val 42857"/>
              </a:avLst>
            </a:prstGeom>
            <a:solidFill>
              <a:schemeClr val="accent2"/>
            </a:solidFill>
            <a:ln>
              <a:noFill/>
            </a:ln>
          </p:spPr>
        </p:sp>
        <p:sp>
          <p:nvSpPr>
            <p:cNvPr id="24" name="TextBox 24"/>
            <p:cNvSpPr txBox="1"/>
            <p:nvPr/>
          </p:nvSpPr>
          <p:spPr>
            <a:xfrm>
              <a:off x="852297" y="3361849"/>
              <a:ext cx="1862554"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THE SHARED ASSUMPTION</a:t>
              </a:r>
            </a:p>
          </p:txBody>
        </p:sp>
        <p:sp>
          <p:nvSpPr>
            <p:cNvPr id="25" name="TextBox 25"/>
            <p:cNvSpPr txBox="1"/>
            <p:nvPr/>
          </p:nvSpPr>
          <p:spPr>
            <a:xfrm>
              <a:off x="848868" y="3612832"/>
              <a:ext cx="9225792"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But every prior method assumes the oracle can always name a node's exact class</a:t>
              </a:r>
            </a:p>
          </p:txBody>
        </p:sp>
        <p:sp>
          <p:nvSpPr>
            <p:cNvPr id="26" name="TextBox 26"/>
            <p:cNvSpPr txBox="1"/>
            <p:nvPr/>
          </p:nvSpPr>
          <p:spPr>
            <a:xfrm>
              <a:off x="851154" y="3985260"/>
              <a:ext cx="919335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This is an expensive multi-class query — the oracle must pick one label out of all categories for every selected node.</a:t>
              </a:r>
            </a:p>
          </p:txBody>
        </p:sp>
        <p:sp>
          <p:nvSpPr>
            <p:cNvPr id="27" name="TextBox 27"/>
            <p:cNvSpPr txBox="1"/>
            <p:nvPr/>
          </p:nvSpPr>
          <p:spPr>
            <a:xfrm>
              <a:off x="851535" y="4221956"/>
              <a:ext cx="4204455"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Exact query cost grows with the number of classes c.</a:t>
              </a:r>
            </a:p>
          </p:txBody>
        </p:sp>
      </p:grpSp>
      <p:grpSp>
        <p:nvGrpSpPr>
          <p:cNvPr id="39" name="Group 39"/>
          <p:cNvGrpSpPr/>
          <p:nvPr/>
        </p:nvGrpSpPr>
        <p:grpSpPr>
          <a:xfrm>
            <a:off x="609600" y="4629150"/>
            <a:ext cx="10972800" cy="1524000"/>
            <a:chOff x="609600" y="4629150"/>
            <a:chExt cx="10972800" cy="1524000"/>
          </a:xfrm>
        </p:grpSpPr>
        <p:sp>
          <p:nvSpPr>
            <p:cNvPr id="29" name="Rectangle 29"/>
            <p:cNvSpPr/>
            <p:nvPr/>
          </p:nvSpPr>
          <p:spPr>
            <a:xfrm>
              <a:off x="609600" y="4629150"/>
              <a:ext cx="10972800" cy="1524000"/>
            </a:xfrm>
            <a:prstGeom prst="roundRect">
              <a:avLst>
                <a:gd name="adj" fmla="val 8750"/>
              </a:avLst>
            </a:prstGeom>
            <a:solidFill>
              <a:schemeClr val="accent1"/>
            </a:solidFill>
            <a:ln>
              <a:noFill/>
            </a:ln>
          </p:spPr>
        </p:sp>
        <p:sp>
          <p:nvSpPr>
            <p:cNvPr id="30" name="Rectangle 30"/>
            <p:cNvSpPr/>
            <p:nvPr/>
          </p:nvSpPr>
          <p:spPr>
            <a:xfrm>
              <a:off x="609600" y="4629150"/>
              <a:ext cx="76200" cy="1524000"/>
            </a:xfrm>
            <a:prstGeom prst="roundRect">
              <a:avLst>
                <a:gd name="adj" fmla="val 50000"/>
              </a:avLst>
            </a:prstGeom>
            <a:solidFill>
              <a:schemeClr val="accent2"/>
            </a:solidFill>
            <a:ln>
              <a:noFill/>
            </a:ln>
          </p:spPr>
        </p:sp>
        <p:sp>
          <p:nvSpPr>
            <p:cNvPr id="31" name="TextBox 31"/>
            <p:cNvSpPr txBox="1"/>
            <p:nvPr/>
          </p:nvSpPr>
          <p:spPr>
            <a:xfrm>
              <a:off x="871347" y="4828699"/>
              <a:ext cx="1103931" cy="190690"/>
            </a:xfrm>
            <a:prstGeom prst="rect">
              <a:avLst/>
            </a:prstGeom>
            <a:noFill/>
            <a:ln>
              <a:noFill/>
            </a:ln>
          </p:spPr>
          <p:txBody>
            <a:bodyPr wrap="none" lIns="0" tIns="0" rIns="0" bIns="0" anchor="t" anchorCtr="0">
              <a:spAutoFit/>
            </a:bodyPr>
            <a:lstStyle/>
            <a:p>
              <a:pPr algn="l"/>
              <a:r>
                <a:rPr lang="en-US" sz="980" b="1" spc="75" dirty="0">
                  <a:solidFill>
                    <a:srgbClr val="7FD1C9"/>
                  </a:solidFill>
                  <a:latin typeface="+mn-lt"/>
                  <a:ea typeface="+mn-ea"/>
                  <a:cs typeface="+mn-cs"/>
                </a:rPr>
                <a:t>WHY IT BREAKS</a:t>
              </a:r>
            </a:p>
          </p:txBody>
        </p:sp>
        <p:sp>
          <p:nvSpPr>
            <p:cNvPr id="32" name="TextBox 32"/>
            <p:cNvSpPr txBox="1"/>
            <p:nvPr/>
          </p:nvSpPr>
          <p:spPr>
            <a:xfrm>
              <a:off x="868299" y="5068729"/>
              <a:ext cx="4267107" cy="308039"/>
            </a:xfrm>
            <a:prstGeom prst="rect">
              <a:avLst/>
            </a:prstGeom>
            <a:noFill/>
            <a:ln>
              <a:noFill/>
            </a:ln>
          </p:spPr>
          <p:txBody>
            <a:bodyPr wrap="none" lIns="0" tIns="0" rIns="0" bIns="0" anchor="t" anchorCtr="0">
              <a:spAutoFit/>
            </a:bodyPr>
            <a:lstStyle/>
            <a:p>
              <a:pPr algn="l"/>
              <a:r>
                <a:rPr lang="en-US" sz="1580" b="1" dirty="0">
                  <a:solidFill>
                    <a:srgbClr val="FFFFFF"/>
                  </a:solidFill>
                  <a:latin typeface="+mn-lt"/>
                  <a:ea typeface="+mn-ea"/>
                  <a:cs typeface="+mn-cs"/>
                </a:rPr>
                <a:t>When classes are many or the domain is</a:t>
              </a:r>
            </a:p>
          </p:txBody>
        </p:sp>
        <p:sp>
          <p:nvSpPr>
            <p:cNvPr id="33" name="TextBox 33"/>
            <p:cNvSpPr txBox="1"/>
            <p:nvPr/>
          </p:nvSpPr>
          <p:spPr>
            <a:xfrm>
              <a:off x="868299" y="5335429"/>
              <a:ext cx="5208531" cy="308039"/>
            </a:xfrm>
            <a:prstGeom prst="rect">
              <a:avLst/>
            </a:prstGeom>
            <a:noFill/>
            <a:ln>
              <a:noFill/>
            </a:ln>
          </p:spPr>
          <p:txBody>
            <a:bodyPr wrap="none" lIns="0" tIns="0" rIns="0" bIns="0" anchor="t" anchorCtr="0">
              <a:spAutoFit/>
            </a:bodyPr>
            <a:lstStyle/>
            <a:p>
              <a:pPr algn="l"/>
              <a:r>
                <a:rPr lang="en-US" sz="1580" b="1" dirty="0">
                  <a:solidFill>
                    <a:srgbClr val="FFFFFF"/>
                  </a:solidFill>
                  <a:latin typeface="+mn-lt"/>
                  <a:ea typeface="+mn-ea"/>
                  <a:cs typeface="+mn-cs"/>
                </a:rPr>
                <a:t>unfamiliar, the exact question is too demanding</a:t>
              </a:r>
            </a:p>
          </p:txBody>
        </p:sp>
        <p:sp>
          <p:nvSpPr>
            <p:cNvPr id="34" name="TextBox 34"/>
            <p:cNvSpPr txBox="1"/>
            <p:nvPr/>
          </p:nvSpPr>
          <p:spPr>
            <a:xfrm>
              <a:off x="870204" y="5661660"/>
              <a:ext cx="6891219" cy="234696"/>
            </a:xfrm>
            <a:prstGeom prst="rect">
              <a:avLst/>
            </a:prstGeom>
            <a:noFill/>
            <a:ln>
              <a:noFill/>
            </a:ln>
          </p:spPr>
          <p:txBody>
            <a:bodyPr wrap="none" lIns="0" tIns="0" rIns="0" bIns="0" anchor="t" anchorCtr="0">
              <a:spAutoFit/>
            </a:bodyPr>
            <a:lstStyle/>
            <a:p>
              <a:pPr algn="l"/>
              <a:r>
                <a:rPr lang="en-US" sz="1200" dirty="0">
                  <a:solidFill>
                    <a:srgbClr val="CBD8E6"/>
                  </a:solidFill>
                  <a:latin typeface="+mn-lt"/>
                  <a:ea typeface="+mn-ea"/>
                  <a:cs typeface="+mn-cs"/>
                </a:rPr>
                <a:t>The multi-class query exceeds expert capability, and the budget is spent inefficiently.</a:t>
              </a:r>
            </a:p>
          </p:txBody>
        </p:sp>
        <p:grpSp>
          <p:nvGrpSpPr>
            <p:cNvPr id="38" name="Group 38"/>
            <p:cNvGrpSpPr/>
            <p:nvPr/>
          </p:nvGrpSpPr>
          <p:grpSpPr>
            <a:xfrm>
              <a:off x="8420100" y="4933950"/>
              <a:ext cx="2933700" cy="1028700"/>
              <a:chOff x="8420100" y="4933950"/>
              <a:chExt cx="2933700" cy="1028700"/>
            </a:xfrm>
          </p:grpSpPr>
          <p:sp>
            <p:nvSpPr>
              <p:cNvPr id="35" name="Rectangle 35"/>
              <p:cNvSpPr/>
              <p:nvPr/>
            </p:nvSpPr>
            <p:spPr>
              <a:xfrm>
                <a:off x="8420100" y="4933950"/>
                <a:ext cx="2933700" cy="1028700"/>
              </a:xfrm>
              <a:prstGeom prst="roundRect">
                <a:avLst>
                  <a:gd name="adj" fmla="val 11111"/>
                </a:avLst>
              </a:prstGeom>
              <a:solidFill>
                <a:srgbClr val="0E2230"/>
              </a:solidFill>
              <a:ln w="9525">
                <a:solidFill>
                  <a:srgbClr val="28485A"/>
                </a:solidFill>
              </a:ln>
            </p:spPr>
          </p:sp>
          <p:sp>
            <p:nvSpPr>
              <p:cNvPr id="36" name="TextBox 36"/>
              <p:cNvSpPr txBox="1"/>
              <p:nvPr/>
            </p:nvSpPr>
            <p:spPr>
              <a:xfrm>
                <a:off x="9521866" y="5067300"/>
                <a:ext cx="730167" cy="586740"/>
              </a:xfrm>
              <a:prstGeom prst="rect">
                <a:avLst/>
              </a:prstGeom>
              <a:noFill/>
              <a:ln>
                <a:noFill/>
              </a:ln>
            </p:spPr>
            <p:txBody>
              <a:bodyPr wrap="none" lIns="0" tIns="0" rIns="0" bIns="0" anchor="t" anchorCtr="0">
                <a:spAutoFit/>
              </a:bodyPr>
              <a:lstStyle/>
              <a:p>
                <a:pPr algn="ctr"/>
                <a:r>
                  <a:rPr lang="en-US" sz="3000" b="1" dirty="0">
                    <a:solidFill>
                      <a:srgbClr val="F6A87F"/>
                    </a:solidFill>
                    <a:latin typeface="+mn-lt"/>
                    <a:ea typeface="+mn-ea"/>
                    <a:cs typeface="+mn-cs"/>
                  </a:rPr>
                  <a:t>172</a:t>
                </a:r>
              </a:p>
            </p:txBody>
          </p:sp>
          <p:sp>
            <p:nvSpPr>
              <p:cNvPr id="37" name="TextBox 37"/>
              <p:cNvSpPr txBox="1"/>
              <p:nvPr/>
            </p:nvSpPr>
            <p:spPr>
              <a:xfrm>
                <a:off x="8876955" y="5582602"/>
                <a:ext cx="2019989" cy="205359"/>
              </a:xfrm>
              <a:prstGeom prst="rect">
                <a:avLst/>
              </a:prstGeom>
              <a:noFill/>
              <a:ln>
                <a:noFill/>
              </a:ln>
            </p:spPr>
            <p:txBody>
              <a:bodyPr wrap="none" lIns="0" tIns="0" rIns="0" bIns="0" anchor="t" anchorCtr="0">
                <a:spAutoFit/>
              </a:bodyPr>
              <a:lstStyle/>
              <a:p>
                <a:pPr algn="ctr"/>
                <a:r>
                  <a:rPr lang="en-US" sz="1050" b="1" dirty="0">
                    <a:solidFill>
                      <a:srgbClr val="CBD8E6"/>
                    </a:solidFill>
                    <a:latin typeface="+mn-lt"/>
                    <a:ea typeface="+mn-ea"/>
                    <a:cs typeface="+mn-cs"/>
                  </a:rPr>
                  <a:t>classes in ogbn-papers100M</a:t>
                </a:r>
              </a:p>
            </p:txBody>
          </p:sp>
        </p:grpSp>
      </p:grpSp>
      <p:sp>
        <p:nvSpPr>
          <p:cNvPr id="40" name="cue_s02_c1_graph_neural_networks_rely_large" title="cue_s02_c1_graph_neural_networks_rely_large" descr="cue_s02_c1_graph_neural_networks_rely_large Graph neural networks rely on large amounts of labeled data, which is costly to obtain."/>
          <p:cNvSpPr/>
          <p:nvPr/>
        </p:nvSpPr>
        <p:spPr>
          <a:xfrm>
            <a:off x="609600" y="1428521"/>
            <a:ext cx="5334000" cy="15622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2_c2_active_learning_cuts_cost_selecting" title="cue_s02_c2_active_learning_cuts_cost_selecting" descr="cue_s02_c2_active_learning_cuts_cost_selecting Active learning cuts this cost by selecting the most valuable nodes to label."/>
          <p:cNvSpPr/>
          <p:nvPr/>
        </p:nvSpPr>
        <p:spPr>
          <a:xfrm>
            <a:off x="6248399" y="1428521"/>
            <a:ext cx="5334000" cy="15622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2_c3_but_every_prior_method_assumes" title="cue_s02_c3_but_every_prior_method_assumes" descr="cue_s02_c3_but_every_prior_method_assumes But every prior method assumes an oracle can always name a node's exact class."/>
          <p:cNvSpPr/>
          <p:nvPr/>
        </p:nvSpPr>
        <p:spPr>
          <a:xfrm>
            <a:off x="609600" y="3143021"/>
            <a:ext cx="1097280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2_c4_when_categories_many_domain_unfamili" title="cue_s02_c4_when_categories_many_domain_unfamili" descr="cue_s02_c4_when_categories_many_domain_unfamili When categories are many or the domain is unfamiliar, that multi-class question is too demanding, and the budget is spent inefficiently."/>
          <p:cNvSpPr/>
          <p:nvPr/>
        </p:nvSpPr>
        <p:spPr>
          <a:xfrm>
            <a:off x="609600" y="4629150"/>
            <a:ext cx="10972800" cy="15238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76200"/>
            </a:xfrm>
            <a:prstGeom prst="rect">
              <a:avLst/>
            </a:prstGeom>
            <a:solidFill>
              <a:schemeClr val="accent3"/>
            </a:solidFill>
            <a:ln>
              <a:noFill/>
            </a:ln>
          </p:spPr>
        </p:sp>
      </p:grpSp>
      <p:grpSp>
        <p:nvGrpSpPr>
          <p:cNvPr id="7" name="Group 7"/>
          <p:cNvGrpSpPr/>
          <p:nvPr/>
        </p:nvGrpSpPr>
        <p:grpSpPr>
          <a:xfrm>
            <a:off x="596646" y="564356"/>
            <a:ext cx="8526401" cy="764001"/>
            <a:chOff x="596646" y="564356"/>
            <a:chExt cx="8526401" cy="764001"/>
          </a:xfrm>
        </p:grpSpPr>
        <p:sp>
          <p:nvSpPr>
            <p:cNvPr id="5" name="TextBox 5"/>
            <p:cNvSpPr txBox="1"/>
            <p:nvPr/>
          </p:nvSpPr>
          <p:spPr>
            <a:xfrm>
              <a:off x="603885" y="564356"/>
              <a:ext cx="1623237"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02 · MOTIVATION</a:t>
              </a:r>
            </a:p>
          </p:txBody>
        </p:sp>
        <p:sp>
          <p:nvSpPr>
            <p:cNvPr id="6" name="TextBox 6"/>
            <p:cNvSpPr txBox="1"/>
            <p:nvPr/>
          </p:nvSpPr>
          <p:spPr>
            <a:xfrm>
              <a:off x="596646" y="829628"/>
              <a:ext cx="8526401"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Cheaper questions, and propagation nobody used</a:t>
              </a:r>
            </a:p>
          </p:txBody>
        </p:sp>
      </p:grpSp>
      <p:grpSp>
        <p:nvGrpSpPr>
          <p:cNvPr id="17" name="Group 17"/>
          <p:cNvGrpSpPr/>
          <p:nvPr/>
        </p:nvGrpSpPr>
        <p:grpSpPr>
          <a:xfrm>
            <a:off x="609600" y="1428750"/>
            <a:ext cx="4572000" cy="2247900"/>
            <a:chOff x="609600" y="1428750"/>
            <a:chExt cx="4572000" cy="2247900"/>
          </a:xfrm>
        </p:grpSpPr>
        <p:sp>
          <p:nvSpPr>
            <p:cNvPr id="8" name="Rectangle 8"/>
            <p:cNvSpPr/>
            <p:nvPr/>
          </p:nvSpPr>
          <p:spPr>
            <a:xfrm>
              <a:off x="609600" y="1428750"/>
              <a:ext cx="4572000" cy="2247900"/>
            </a:xfrm>
            <a:prstGeom prst="roundRect">
              <a:avLst>
                <a:gd name="adj" fmla="val 5932"/>
              </a:avLst>
            </a:prstGeom>
            <a:solidFill>
              <a:schemeClr val="lt2"/>
            </a:solidFill>
            <a:ln w="14288">
              <a:solidFill>
                <a:schemeClr val="accent4"/>
              </a:solidFill>
            </a:ln>
          </p:spPr>
        </p:sp>
        <p:sp>
          <p:nvSpPr>
            <p:cNvPr id="9" name="Rectangle 9"/>
            <p:cNvSpPr/>
            <p:nvPr/>
          </p:nvSpPr>
          <p:spPr>
            <a:xfrm>
              <a:off x="609600" y="1428750"/>
              <a:ext cx="66675" cy="2247900"/>
            </a:xfrm>
            <a:prstGeom prst="roundRect">
              <a:avLst>
                <a:gd name="adj" fmla="val 42857"/>
              </a:avLst>
            </a:prstGeom>
            <a:solidFill>
              <a:schemeClr val="accent3"/>
            </a:solidFill>
            <a:ln>
              <a:noFill/>
            </a:ln>
          </p:spPr>
        </p:sp>
        <p:sp>
          <p:nvSpPr>
            <p:cNvPr id="10" name="TextBox 10"/>
            <p:cNvSpPr txBox="1"/>
            <p:nvPr/>
          </p:nvSpPr>
          <p:spPr>
            <a:xfrm>
              <a:off x="852297" y="1647349"/>
              <a:ext cx="1012762" cy="190690"/>
            </a:xfrm>
            <a:prstGeom prst="rect">
              <a:avLst/>
            </a:prstGeom>
            <a:noFill/>
            <a:ln>
              <a:noFill/>
            </a:ln>
          </p:spPr>
          <p:txBody>
            <a:bodyPr wrap="none" lIns="0" tIns="0" rIns="0" bIns="0" anchor="t" anchorCtr="0">
              <a:spAutoFit/>
            </a:bodyPr>
            <a:lstStyle/>
            <a:p>
              <a:pPr algn="l"/>
              <a:r>
                <a:rPr lang="en-US" sz="980" b="1" spc="75" dirty="0">
                  <a:solidFill>
                    <a:schemeClr val="accent3"/>
                  </a:solidFill>
                  <a:latin typeface="+mn-lt"/>
                  <a:ea typeface="+mn-ea"/>
                  <a:cs typeface="+mn-cs"/>
                </a:rPr>
                <a:t>CORE INSIGHT</a:t>
              </a:r>
            </a:p>
          </p:txBody>
        </p:sp>
        <p:sp>
          <p:nvSpPr>
            <p:cNvPr id="11" name="TextBox 11"/>
            <p:cNvSpPr txBox="1"/>
            <p:nvPr/>
          </p:nvSpPr>
          <p:spPr>
            <a:xfrm>
              <a:off x="849630" y="1876425"/>
              <a:ext cx="2608936"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Confirming a guess is far</a:t>
              </a:r>
            </a:p>
          </p:txBody>
        </p:sp>
        <p:sp>
          <p:nvSpPr>
            <p:cNvPr id="12" name="TextBox 12"/>
            <p:cNvSpPr txBox="1"/>
            <p:nvPr/>
          </p:nvSpPr>
          <p:spPr>
            <a:xfrm>
              <a:off x="849630" y="2124075"/>
              <a:ext cx="2951807"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easier than naming the class</a:t>
              </a:r>
            </a:p>
          </p:txBody>
        </p:sp>
        <p:sp>
          <p:nvSpPr>
            <p:cNvPr id="13" name="Rectangle 13"/>
            <p:cNvSpPr/>
            <p:nvPr/>
          </p:nvSpPr>
          <p:spPr>
            <a:xfrm>
              <a:off x="857250" y="2495550"/>
              <a:ext cx="4076700" cy="419100"/>
            </a:xfrm>
            <a:prstGeom prst="roundRect">
              <a:avLst>
                <a:gd name="adj" fmla="val 18182"/>
              </a:avLst>
            </a:prstGeom>
            <a:solidFill>
              <a:srgbClr val="E7F4EE"/>
            </a:solidFill>
            <a:ln w="9525">
              <a:solidFill>
                <a:srgbClr val="BFE3D3"/>
              </a:solidFill>
            </a:ln>
          </p:spPr>
        </p:sp>
        <p:sp>
          <p:nvSpPr>
            <p:cNvPr id="14" name="TextBox 14"/>
            <p:cNvSpPr txBox="1"/>
            <p:nvPr/>
          </p:nvSpPr>
          <p:spPr>
            <a:xfrm>
              <a:off x="1003935" y="2640806"/>
              <a:ext cx="2504968" cy="220028"/>
            </a:xfrm>
            <a:prstGeom prst="rect">
              <a:avLst/>
            </a:prstGeom>
            <a:noFill/>
            <a:ln>
              <a:noFill/>
            </a:ln>
          </p:spPr>
          <p:txBody>
            <a:bodyPr wrap="none" lIns="0" tIns="0" rIns="0" bIns="0" anchor="t" anchorCtr="0">
              <a:spAutoFit/>
            </a:bodyPr>
            <a:lstStyle/>
            <a:p>
              <a:pPr algn="l"/>
              <a:r>
                <a:rPr lang="en-US" sz="1120" b="1" dirty="0">
                  <a:solidFill>
                    <a:schemeClr val="accent3"/>
                  </a:solidFill>
                  <a:latin typeface="+mn-lt"/>
                  <a:ea typeface="+mn-ea"/>
                  <a:cs typeface="+mn-cs"/>
                </a:rPr>
                <a:t>EASY · "Yes / No" binary answer</a:t>
              </a:r>
            </a:p>
          </p:txBody>
        </p:sp>
        <p:sp>
          <p:nvSpPr>
            <p:cNvPr id="15" name="Rectangle 15"/>
            <p:cNvSpPr/>
            <p:nvPr/>
          </p:nvSpPr>
          <p:spPr>
            <a:xfrm>
              <a:off x="857250" y="3009900"/>
              <a:ext cx="4076700" cy="419100"/>
            </a:xfrm>
            <a:prstGeom prst="roundRect">
              <a:avLst>
                <a:gd name="adj" fmla="val 18182"/>
              </a:avLst>
            </a:prstGeom>
            <a:solidFill>
              <a:srgbClr val="FBEDE7"/>
            </a:solidFill>
            <a:ln w="9525">
              <a:solidFill>
                <a:srgbClr val="F3C9B6"/>
              </a:solidFill>
            </a:ln>
          </p:spPr>
        </p:sp>
        <p:sp>
          <p:nvSpPr>
            <p:cNvPr id="16" name="TextBox 16"/>
            <p:cNvSpPr txBox="1"/>
            <p:nvPr/>
          </p:nvSpPr>
          <p:spPr>
            <a:xfrm>
              <a:off x="1003935" y="3155156"/>
              <a:ext cx="2236728"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HARD · "Which of c classes?"</a:t>
              </a:r>
            </a:p>
          </p:txBody>
        </p:sp>
      </p:grpSp>
      <p:grpSp>
        <p:nvGrpSpPr>
          <p:cNvPr id="22" name="Group 22"/>
          <p:cNvGrpSpPr/>
          <p:nvPr/>
        </p:nvGrpSpPr>
        <p:grpSpPr>
          <a:xfrm>
            <a:off x="5334000" y="1428750"/>
            <a:ext cx="6248400" cy="2247900"/>
            <a:chOff x="5334000" y="1428750"/>
            <a:chExt cx="6248400" cy="2247900"/>
          </a:xfrm>
        </p:grpSpPr>
        <p:sp>
          <p:nvSpPr>
            <p:cNvPr id="18" name="Rectangle 18"/>
            <p:cNvSpPr/>
            <p:nvPr/>
          </p:nvSpPr>
          <p:spPr>
            <a:xfrm>
              <a:off x="5334000" y="1428750"/>
              <a:ext cx="6248400" cy="2247900"/>
            </a:xfrm>
            <a:prstGeom prst="roundRect">
              <a:avLst>
                <a:gd name="adj" fmla="val 5932"/>
              </a:avLst>
            </a:prstGeom>
            <a:solidFill>
              <a:schemeClr val="lt1"/>
            </a:solidFill>
            <a:ln w="14288">
              <a:solidFill>
                <a:schemeClr val="accent4"/>
              </a:solidFill>
            </a:ln>
          </p:spPr>
        </p:sp>
        <p:sp>
          <p:nvSpPr>
            <p:cNvPr id="19" name="Rectangle 19"/>
            <p:cNvSpPr/>
            <p:nvPr/>
          </p:nvSpPr>
          <p:spPr>
            <a:xfrm>
              <a:off x="5334000" y="1428750"/>
              <a:ext cx="66675" cy="2247900"/>
            </a:xfrm>
            <a:prstGeom prst="roundRect">
              <a:avLst>
                <a:gd name="adj" fmla="val 42857"/>
              </a:avLst>
            </a:prstGeom>
            <a:solidFill>
              <a:schemeClr val="accent3"/>
            </a:solidFill>
            <a:ln>
              <a:noFill/>
            </a:ln>
          </p:spPr>
        </p:sp>
        <p:sp>
          <p:nvSpPr>
            <p:cNvPr id="20" name="TextBox 20"/>
            <p:cNvSpPr txBox="1"/>
            <p:nvPr/>
          </p:nvSpPr>
          <p:spPr>
            <a:xfrm>
              <a:off x="5576697" y="1628299"/>
              <a:ext cx="2361688" cy="190690"/>
            </a:xfrm>
            <a:prstGeom prst="rect">
              <a:avLst/>
            </a:prstGeom>
            <a:noFill/>
            <a:ln>
              <a:noFill/>
            </a:ln>
          </p:spPr>
          <p:txBody>
            <a:bodyPr wrap="none" lIns="0" tIns="0" rIns="0" bIns="0" anchor="t" anchorCtr="0">
              <a:spAutoFit/>
            </a:bodyPr>
            <a:lstStyle/>
            <a:p>
              <a:pPr algn="l"/>
              <a:r>
                <a:rPr lang="en-US" sz="980" b="1" spc="75" dirty="0">
                  <a:solidFill>
                    <a:schemeClr val="accent3"/>
                  </a:solidFill>
                  <a:latin typeface="+mn-lt"/>
                  <a:ea typeface="+mn-ea"/>
                  <a:cs typeface="+mn-cs"/>
                </a:rPr>
                <a:t>RELAXED QUERY · PAPER FIG. 1</a:t>
              </a:r>
            </a:p>
          </p:txBody>
        </p:sp>
        <p:pic>
          <p:nvPicPr>
            <p:cNvPr id="21" name="Image 21"/>
            <p:cNvPicPr>
              <a:picLocks noChangeAspect="1"/>
            </p:cNvPicPr>
            <p:nvPr/>
          </p:nvPicPr>
          <p:blipFill>
            <a:blip r:embed="rId2"/>
            <a:stretch>
              <a:fillRect/>
            </a:stretch>
          </p:blipFill>
          <p:spPr>
            <a:xfrm>
              <a:off x="5628208" y="1866900"/>
              <a:ext cx="5659984" cy="1638300"/>
            </a:xfrm>
            <a:prstGeom prst="rect">
              <a:avLst/>
            </a:prstGeom>
          </p:spPr>
        </p:pic>
      </p:grpSp>
      <p:grpSp>
        <p:nvGrpSpPr>
          <p:cNvPr id="33" name="Group 33"/>
          <p:cNvGrpSpPr/>
          <p:nvPr/>
        </p:nvGrpSpPr>
        <p:grpSpPr>
          <a:xfrm>
            <a:off x="609600" y="3829050"/>
            <a:ext cx="5334000" cy="2343150"/>
            <a:chOff x="609600" y="3829050"/>
            <a:chExt cx="5334000" cy="2343150"/>
          </a:xfrm>
        </p:grpSpPr>
        <p:sp>
          <p:nvSpPr>
            <p:cNvPr id="23" name="Rectangle 23"/>
            <p:cNvSpPr/>
            <p:nvPr/>
          </p:nvSpPr>
          <p:spPr>
            <a:xfrm>
              <a:off x="609600" y="3829050"/>
              <a:ext cx="5334000" cy="2343150"/>
            </a:xfrm>
            <a:prstGeom prst="roundRect">
              <a:avLst>
                <a:gd name="adj" fmla="val 5691"/>
              </a:avLst>
            </a:prstGeom>
            <a:solidFill>
              <a:schemeClr val="lt2"/>
            </a:solidFill>
            <a:ln w="14288">
              <a:solidFill>
                <a:schemeClr val="accent4"/>
              </a:solidFill>
            </a:ln>
          </p:spPr>
        </p:sp>
        <p:sp>
          <p:nvSpPr>
            <p:cNvPr id="24" name="Rectangle 24"/>
            <p:cNvSpPr/>
            <p:nvPr/>
          </p:nvSpPr>
          <p:spPr>
            <a:xfrm>
              <a:off x="609600" y="3829050"/>
              <a:ext cx="66675" cy="2343150"/>
            </a:xfrm>
            <a:prstGeom prst="roundRect">
              <a:avLst>
                <a:gd name="adj" fmla="val 42857"/>
              </a:avLst>
            </a:prstGeom>
            <a:solidFill>
              <a:schemeClr val="accent2"/>
            </a:solidFill>
            <a:ln>
              <a:noFill/>
            </a:ln>
          </p:spPr>
        </p:sp>
        <p:sp>
          <p:nvSpPr>
            <p:cNvPr id="25" name="TextBox 25"/>
            <p:cNvSpPr txBox="1"/>
            <p:nvPr/>
          </p:nvSpPr>
          <p:spPr>
            <a:xfrm>
              <a:off x="852297" y="4047649"/>
              <a:ext cx="2018968"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WHAT PRIOR CRITERIA MISS</a:t>
              </a:r>
            </a:p>
          </p:txBody>
        </p:sp>
        <p:sp>
          <p:nvSpPr>
            <p:cNvPr id="26" name="TextBox 26"/>
            <p:cNvSpPr txBox="1"/>
            <p:nvPr/>
          </p:nvSpPr>
          <p:spPr>
            <a:xfrm>
              <a:off x="849630" y="4314825"/>
              <a:ext cx="2576733"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Built for hard labels only</a:t>
              </a:r>
            </a:p>
          </p:txBody>
        </p:sp>
        <p:sp>
          <p:nvSpPr>
            <p:cNvPr id="27" name="TextBox 27"/>
            <p:cNvSpPr txBox="1"/>
            <p:nvPr/>
          </p:nvSpPr>
          <p:spPr>
            <a:xfrm>
              <a:off x="851154" y="4671060"/>
              <a:ext cx="369239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Existing node-selection criteria were designed</a:t>
              </a:r>
            </a:p>
          </p:txBody>
        </p:sp>
        <p:sp>
          <p:nvSpPr>
            <p:cNvPr id="28" name="TextBox 28"/>
            <p:cNvSpPr txBox="1"/>
            <p:nvPr/>
          </p:nvSpPr>
          <p:spPr>
            <a:xfrm>
              <a:off x="851154" y="4880610"/>
              <a:ext cx="337230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for hard labels, and they only measure the</a:t>
              </a:r>
            </a:p>
          </p:txBody>
        </p:sp>
        <p:sp>
          <p:nvSpPr>
            <p:cNvPr id="29" name="TextBox 29"/>
            <p:cNvSpPr txBox="1"/>
            <p:nvPr/>
          </p:nvSpPr>
          <p:spPr>
            <a:xfrm>
              <a:off x="851154" y="5090160"/>
              <a:ext cx="321884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uncertainty of a single node in isolation.</a:t>
              </a:r>
            </a:p>
          </p:txBody>
        </p:sp>
        <p:sp>
          <p:nvSpPr>
            <p:cNvPr id="30" name="Rectangle 30"/>
            <p:cNvSpPr/>
            <p:nvPr/>
          </p:nvSpPr>
          <p:spPr>
            <a:xfrm>
              <a:off x="857250" y="5448300"/>
              <a:ext cx="4838700" cy="533400"/>
            </a:xfrm>
            <a:prstGeom prst="roundRect">
              <a:avLst>
                <a:gd name="adj" fmla="val 14286"/>
              </a:avLst>
            </a:prstGeom>
            <a:solidFill>
              <a:schemeClr val="lt1"/>
            </a:solidFill>
            <a:ln w="9525">
              <a:solidFill>
                <a:schemeClr val="accent4"/>
              </a:solidFill>
            </a:ln>
          </p:spPr>
        </p:sp>
        <p:sp>
          <p:nvSpPr>
            <p:cNvPr id="31" name="TextBox 31"/>
            <p:cNvSpPr txBox="1"/>
            <p:nvPr/>
          </p:nvSpPr>
          <p:spPr>
            <a:xfrm>
              <a:off x="1003935" y="5555456"/>
              <a:ext cx="1860749"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Single-node uncertainty</a:t>
              </a:r>
            </a:p>
          </p:txBody>
        </p:sp>
        <p:sp>
          <p:nvSpPr>
            <p:cNvPr id="32" name="TextBox 32"/>
            <p:cNvSpPr txBox="1"/>
            <p:nvPr/>
          </p:nvSpPr>
          <p:spPr>
            <a:xfrm>
              <a:off x="1004316" y="5773102"/>
              <a:ext cx="2717540"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ignores the graph structure around it.</a:t>
              </a:r>
            </a:p>
          </p:txBody>
        </p:sp>
      </p:grpSp>
      <p:grpSp>
        <p:nvGrpSpPr>
          <p:cNvPr id="43" name="Group 43"/>
          <p:cNvGrpSpPr/>
          <p:nvPr/>
        </p:nvGrpSpPr>
        <p:grpSpPr>
          <a:xfrm>
            <a:off x="6248400" y="3829050"/>
            <a:ext cx="5334000" cy="2343150"/>
            <a:chOff x="6248400" y="3829050"/>
            <a:chExt cx="5334000" cy="2343150"/>
          </a:xfrm>
        </p:grpSpPr>
        <p:sp>
          <p:nvSpPr>
            <p:cNvPr id="34" name="Rectangle 34"/>
            <p:cNvSpPr/>
            <p:nvPr/>
          </p:nvSpPr>
          <p:spPr>
            <a:xfrm>
              <a:off x="6248400" y="3829050"/>
              <a:ext cx="5334000" cy="2343150"/>
            </a:xfrm>
            <a:prstGeom prst="roundRect">
              <a:avLst>
                <a:gd name="adj" fmla="val 5691"/>
              </a:avLst>
            </a:prstGeom>
            <a:solidFill>
              <a:schemeClr val="accent1"/>
            </a:solidFill>
            <a:ln>
              <a:noFill/>
            </a:ln>
          </p:spPr>
        </p:sp>
        <p:sp>
          <p:nvSpPr>
            <p:cNvPr id="35" name="Rectangle 35"/>
            <p:cNvSpPr/>
            <p:nvPr/>
          </p:nvSpPr>
          <p:spPr>
            <a:xfrm>
              <a:off x="6248400" y="3829050"/>
              <a:ext cx="76200" cy="2343150"/>
            </a:xfrm>
            <a:prstGeom prst="roundRect">
              <a:avLst>
                <a:gd name="adj" fmla="val 50000"/>
              </a:avLst>
            </a:prstGeom>
            <a:solidFill>
              <a:schemeClr val="accent3"/>
            </a:solidFill>
            <a:ln>
              <a:noFill/>
            </a:ln>
          </p:spPr>
        </p:sp>
        <p:sp>
          <p:nvSpPr>
            <p:cNvPr id="36" name="TextBox 36"/>
            <p:cNvSpPr txBox="1"/>
            <p:nvPr/>
          </p:nvSpPr>
          <p:spPr>
            <a:xfrm>
              <a:off x="6510147" y="4047649"/>
              <a:ext cx="1953722" cy="190690"/>
            </a:xfrm>
            <a:prstGeom prst="rect">
              <a:avLst/>
            </a:prstGeom>
            <a:noFill/>
            <a:ln>
              <a:noFill/>
            </a:ln>
          </p:spPr>
          <p:txBody>
            <a:bodyPr wrap="none" lIns="0" tIns="0" rIns="0" bIns="0" anchor="t" anchorCtr="0">
              <a:spAutoFit/>
            </a:bodyPr>
            <a:lstStyle/>
            <a:p>
              <a:pPr algn="l"/>
              <a:r>
                <a:rPr lang="en-US" sz="980" b="1" spc="75" dirty="0">
                  <a:solidFill>
                    <a:srgbClr val="7FD1C9"/>
                  </a:solidFill>
                  <a:latin typeface="+mn-lt"/>
                  <a:ea typeface="+mn-ea"/>
                  <a:cs typeface="+mn-cs"/>
                </a:rPr>
                <a:t>THE PROPAGATION EFFECT</a:t>
              </a:r>
            </a:p>
          </p:txBody>
        </p:sp>
        <p:sp>
          <p:nvSpPr>
            <p:cNvPr id="37" name="TextBox 37"/>
            <p:cNvSpPr txBox="1"/>
            <p:nvPr/>
          </p:nvSpPr>
          <p:spPr>
            <a:xfrm>
              <a:off x="6507480" y="4314825"/>
              <a:ext cx="2672390"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Labeling one node teaches</a:t>
              </a:r>
            </a:p>
          </p:txBody>
        </p:sp>
        <p:sp>
          <p:nvSpPr>
            <p:cNvPr id="38" name="TextBox 38"/>
            <p:cNvSpPr txBox="1"/>
            <p:nvPr/>
          </p:nvSpPr>
          <p:spPr>
            <a:xfrm>
              <a:off x="6507480" y="4562475"/>
              <a:ext cx="2358133"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its whole neighborhood</a:t>
              </a:r>
            </a:p>
          </p:txBody>
        </p:sp>
        <p:sp>
          <p:nvSpPr>
            <p:cNvPr id="39" name="TextBox 39"/>
            <p:cNvSpPr txBox="1"/>
            <p:nvPr/>
          </p:nvSpPr>
          <p:spPr>
            <a:xfrm>
              <a:off x="6509004" y="4899660"/>
              <a:ext cx="2780647" cy="234696"/>
            </a:xfrm>
            <a:prstGeom prst="rect">
              <a:avLst/>
            </a:prstGeom>
            <a:noFill/>
            <a:ln>
              <a:noFill/>
            </a:ln>
          </p:spPr>
          <p:txBody>
            <a:bodyPr wrap="none" lIns="0" tIns="0" rIns="0" bIns="0" anchor="t" anchorCtr="0">
              <a:spAutoFit/>
            </a:bodyPr>
            <a:lstStyle/>
            <a:p>
              <a:pPr algn="l"/>
              <a:r>
                <a:rPr lang="en-US" sz="1200" dirty="0">
                  <a:solidFill>
                    <a:srgbClr val="CBD8E6"/>
                  </a:solidFill>
                  <a:latin typeface="+mn-lt"/>
                  <a:ea typeface="+mn-ea"/>
                  <a:cs typeface="+mn-cs"/>
                </a:rPr>
                <a:t>In a GNN, a labeled node propagates</a:t>
              </a:r>
            </a:p>
          </p:txBody>
        </p:sp>
        <p:sp>
          <p:nvSpPr>
            <p:cNvPr id="40" name="TextBox 40"/>
            <p:cNvSpPr txBox="1"/>
            <p:nvPr/>
          </p:nvSpPr>
          <p:spPr>
            <a:xfrm>
              <a:off x="6509004" y="5109210"/>
              <a:ext cx="3420770" cy="234696"/>
            </a:xfrm>
            <a:prstGeom prst="rect">
              <a:avLst/>
            </a:prstGeom>
            <a:noFill/>
            <a:ln>
              <a:noFill/>
            </a:ln>
          </p:spPr>
          <p:txBody>
            <a:bodyPr wrap="none" lIns="0" tIns="0" rIns="0" bIns="0" anchor="t" anchorCtr="0">
              <a:spAutoFit/>
            </a:bodyPr>
            <a:lstStyle/>
            <a:p>
              <a:pPr algn="l"/>
              <a:r>
                <a:rPr lang="en-US" sz="1200" dirty="0">
                  <a:solidFill>
                    <a:srgbClr val="CBD8E6"/>
                  </a:solidFill>
                  <a:latin typeface="+mn-lt"/>
                  <a:ea typeface="+mn-ea"/>
                  <a:cs typeface="+mn-cs"/>
                </a:rPr>
                <a:t>supervision across its k-hop neighborhood.</a:t>
              </a:r>
            </a:p>
          </p:txBody>
        </p:sp>
        <p:sp>
          <p:nvSpPr>
            <p:cNvPr id="41" name="TextBox 41"/>
            <p:cNvSpPr txBox="1"/>
            <p:nvPr/>
          </p:nvSpPr>
          <p:spPr>
            <a:xfrm>
              <a:off x="6509004" y="5490210"/>
              <a:ext cx="2861453" cy="234696"/>
            </a:xfrm>
            <a:prstGeom prst="rect">
              <a:avLst/>
            </a:prstGeom>
            <a:noFill/>
            <a:ln>
              <a:noFill/>
            </a:ln>
          </p:spPr>
          <p:txBody>
            <a:bodyPr wrap="none" lIns="0" tIns="0" rIns="0" bIns="0" anchor="t" anchorCtr="0">
              <a:spAutoFit/>
            </a:bodyPr>
            <a:lstStyle/>
            <a:p>
              <a:pPr algn="l"/>
              <a:r>
                <a:rPr lang="en-US" sz="1200" b="1" dirty="0">
                  <a:solidFill>
                    <a:srgbClr val="F6A87F"/>
                  </a:solidFill>
                  <a:latin typeface="+mn-lt"/>
                  <a:ea typeface="+mn-ea"/>
                  <a:cs typeface="+mn-cs"/>
                </a:rPr>
                <a:t>IGP exploits both: cheaper queries</a:t>
              </a:r>
            </a:p>
          </p:txBody>
        </p:sp>
        <p:sp>
          <p:nvSpPr>
            <p:cNvPr id="42" name="TextBox 42"/>
            <p:cNvSpPr txBox="1"/>
            <p:nvPr/>
          </p:nvSpPr>
          <p:spPr>
            <a:xfrm>
              <a:off x="6509004" y="5718810"/>
              <a:ext cx="2412332" cy="234696"/>
            </a:xfrm>
            <a:prstGeom prst="rect">
              <a:avLst/>
            </a:prstGeom>
            <a:noFill/>
            <a:ln>
              <a:noFill/>
            </a:ln>
          </p:spPr>
          <p:txBody>
            <a:bodyPr wrap="none" lIns="0" tIns="0" rIns="0" bIns="0" anchor="t" anchorCtr="0">
              <a:spAutoFit/>
            </a:bodyPr>
            <a:lstStyle/>
            <a:p>
              <a:pPr algn="l"/>
              <a:r>
                <a:rPr lang="en-US" sz="1200" b="1" dirty="0">
                  <a:solidFill>
                    <a:srgbClr val="F6A87F"/>
                  </a:solidFill>
                  <a:latin typeface="+mn-lt"/>
                  <a:ea typeface="+mn-ea"/>
                  <a:cs typeface="+mn-cs"/>
                </a:rPr>
                <a:t>and this propagation effect.</a:t>
              </a:r>
            </a:p>
          </p:txBody>
        </p:sp>
      </p:grpSp>
      <p:sp>
        <p:nvSpPr>
          <p:cNvPr id="44" name="cue_s03_c1_confirming_guess_far_easier_naming" title="cue_s03_c1_confirming_guess_far_easier_naming" descr="cue_s03_c1_confirming_guess_far_easier_naming Confirming a guess is far easier than naming the exact class."/>
          <p:cNvSpPr/>
          <p:nvPr/>
        </p:nvSpPr>
        <p:spPr>
          <a:xfrm>
            <a:off x="609600" y="1428521"/>
            <a:ext cx="4572000" cy="22480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3_c2_expert_only_answers_binary_yes_or_no" title="cue_s03_c2_expert_only_answers_binary_yes_or_no" descr="cue_s03_c2_expert_only_answers_binary_yes_or_no If an expert only answers a binary yes-or-no question, the labeling cost per node drops sharply, especially with many classes."/>
          <p:cNvSpPr/>
          <p:nvPr/>
        </p:nvSpPr>
        <p:spPr>
          <a:xfrm>
            <a:off x="5334000" y="1428521"/>
            <a:ext cx="6248399" cy="22480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3_c3_meanwhile_existing_selection_criteri" title="cue_s03_c3_meanwhile_existing_selection_criteri" descr="cue_s03_c3_meanwhile_existing_selection_criteri Meanwhile, existing selection criteria were built for hard labels and only measure a single node's uncertainty."/>
          <p:cNvSpPr/>
          <p:nvPr/>
        </p:nvSpPr>
        <p:spPr>
          <a:xfrm>
            <a:off x="609600" y="3828821"/>
            <a:ext cx="5334000" cy="23433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3_c4_they_ignore_graph_network_labeling" title="cue_s03_c4_they_ignore_graph_network_labeling" descr="cue_s03_c4_they_ignore_graph_network_labeling They ignore that in a graph network, labeling one node propagates supervision across its k-hop neighborhood."/>
          <p:cNvSpPr/>
          <p:nvPr/>
        </p:nvSpPr>
        <p:spPr>
          <a:xfrm>
            <a:off x="6248399" y="3828821"/>
            <a:ext cx="5334000" cy="23433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76200"/>
            </a:xfrm>
            <a:prstGeom prst="rect">
              <a:avLst/>
            </a:prstGeom>
            <a:solidFill>
              <a:schemeClr val="accent3"/>
            </a:solidFill>
            <a:ln>
              <a:noFill/>
            </a:ln>
          </p:spPr>
        </p:sp>
      </p:grpSp>
      <p:grpSp>
        <p:nvGrpSpPr>
          <p:cNvPr id="7" name="Group 7"/>
          <p:cNvGrpSpPr/>
          <p:nvPr/>
        </p:nvGrpSpPr>
        <p:grpSpPr>
          <a:xfrm>
            <a:off x="596646" y="564356"/>
            <a:ext cx="3533220" cy="764001"/>
            <a:chOff x="596646" y="564356"/>
            <a:chExt cx="3533220" cy="764001"/>
          </a:xfrm>
        </p:grpSpPr>
        <p:sp>
          <p:nvSpPr>
            <p:cNvPr id="5" name="TextBox 5"/>
            <p:cNvSpPr txBox="1"/>
            <p:nvPr/>
          </p:nvSpPr>
          <p:spPr>
            <a:xfrm>
              <a:off x="603885" y="564356"/>
              <a:ext cx="1816456"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03 · CONTRIBUTION</a:t>
              </a:r>
            </a:p>
          </p:txBody>
        </p:sp>
        <p:sp>
          <p:nvSpPr>
            <p:cNvPr id="6" name="TextBox 6"/>
            <p:cNvSpPr txBox="1"/>
            <p:nvPr/>
          </p:nvSpPr>
          <p:spPr>
            <a:xfrm>
              <a:off x="596646" y="829628"/>
              <a:ext cx="3533220"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Three contributions</a:t>
              </a:r>
            </a:p>
          </p:txBody>
        </p:sp>
      </p:grpSp>
      <p:grpSp>
        <p:nvGrpSpPr>
          <p:cNvPr id="13" name="Group 13"/>
          <p:cNvGrpSpPr/>
          <p:nvPr/>
        </p:nvGrpSpPr>
        <p:grpSpPr>
          <a:xfrm>
            <a:off x="609600" y="1428750"/>
            <a:ext cx="10972800" cy="993934"/>
            <a:chOff x="609600" y="1428750"/>
            <a:chExt cx="10972800" cy="993934"/>
          </a:xfrm>
        </p:grpSpPr>
        <p:sp>
          <p:nvSpPr>
            <p:cNvPr id="8" name="Rectangle 8"/>
            <p:cNvSpPr/>
            <p:nvPr/>
          </p:nvSpPr>
          <p:spPr>
            <a:xfrm>
              <a:off x="609600" y="1428750"/>
              <a:ext cx="10972800" cy="990600"/>
            </a:xfrm>
            <a:prstGeom prst="roundRect">
              <a:avLst>
                <a:gd name="adj" fmla="val 13462"/>
              </a:avLst>
            </a:prstGeom>
            <a:solidFill>
              <a:schemeClr val="accent1"/>
            </a:solidFill>
            <a:ln>
              <a:noFill/>
            </a:ln>
          </p:spPr>
        </p:sp>
        <p:sp>
          <p:nvSpPr>
            <p:cNvPr id="9" name="Rectangle 9"/>
            <p:cNvSpPr/>
            <p:nvPr/>
          </p:nvSpPr>
          <p:spPr>
            <a:xfrm>
              <a:off x="609600" y="1428750"/>
              <a:ext cx="76200" cy="990600"/>
            </a:xfrm>
            <a:prstGeom prst="roundRect">
              <a:avLst>
                <a:gd name="adj" fmla="val 50000"/>
              </a:avLst>
            </a:prstGeom>
            <a:solidFill>
              <a:schemeClr val="accent2"/>
            </a:solidFill>
            <a:ln>
              <a:noFill/>
            </a:ln>
          </p:spPr>
        </p:sp>
        <p:sp>
          <p:nvSpPr>
            <p:cNvPr id="10" name="TextBox 10"/>
            <p:cNvSpPr txBox="1"/>
            <p:nvPr/>
          </p:nvSpPr>
          <p:spPr>
            <a:xfrm>
              <a:off x="871347" y="1666399"/>
              <a:ext cx="2154046" cy="190690"/>
            </a:xfrm>
            <a:prstGeom prst="rect">
              <a:avLst/>
            </a:prstGeom>
            <a:noFill/>
            <a:ln>
              <a:noFill/>
            </a:ln>
          </p:spPr>
          <p:txBody>
            <a:bodyPr wrap="none" lIns="0" tIns="0" rIns="0" bIns="0" anchor="t" anchorCtr="0">
              <a:spAutoFit/>
            </a:bodyPr>
            <a:lstStyle/>
            <a:p>
              <a:pPr algn="l"/>
              <a:r>
                <a:rPr lang="en-US" sz="980" b="1" spc="75" dirty="0">
                  <a:solidFill>
                    <a:srgbClr val="7FD1C9"/>
                  </a:solidFill>
                  <a:latin typeface="+mn-lt"/>
                  <a:ea typeface="+mn-ea"/>
                  <a:cs typeface="+mn-cs"/>
                </a:rPr>
                <a:t>CONTRIBUTIONS AT A GLANCE</a:t>
              </a:r>
            </a:p>
          </p:txBody>
        </p:sp>
        <p:sp>
          <p:nvSpPr>
            <p:cNvPr id="11" name="TextBox 11"/>
            <p:cNvSpPr txBox="1"/>
            <p:nvPr/>
          </p:nvSpPr>
          <p:spPr>
            <a:xfrm>
              <a:off x="867537" y="1909286"/>
              <a:ext cx="8754335" cy="337376"/>
            </a:xfrm>
            <a:prstGeom prst="rect">
              <a:avLst/>
            </a:prstGeom>
            <a:noFill/>
            <a:ln>
              <a:noFill/>
            </a:ln>
          </p:spPr>
          <p:txBody>
            <a:bodyPr wrap="none" lIns="0" tIns="0" rIns="0" bIns="0" anchor="t" anchorCtr="0">
              <a:spAutoFit/>
            </a:bodyPr>
            <a:lstStyle/>
            <a:p>
              <a:pPr algn="l"/>
              <a:r>
                <a:rPr lang="en-US" sz="1720" b="1" dirty="0">
                  <a:solidFill>
                    <a:srgbClr val="FFFFFF"/>
                  </a:solidFill>
                  <a:latin typeface="+mn-lt"/>
                  <a:ea typeface="+mn-ea"/>
                  <a:cs typeface="+mn-cs"/>
                </a:rPr>
                <a:t>A new paradigm, a new selection criterion, and state-of-the-art results</a:t>
              </a:r>
            </a:p>
          </p:txBody>
        </p:sp>
        <p:sp>
          <p:nvSpPr>
            <p:cNvPr id="12" name="TextBox 12"/>
            <p:cNvSpPr txBox="1"/>
            <p:nvPr/>
          </p:nvSpPr>
          <p:spPr>
            <a:xfrm>
              <a:off x="870585" y="2202656"/>
              <a:ext cx="8181063" cy="220028"/>
            </a:xfrm>
            <a:prstGeom prst="rect">
              <a:avLst/>
            </a:prstGeom>
            <a:noFill/>
            <a:ln>
              <a:noFill/>
            </a:ln>
          </p:spPr>
          <p:txBody>
            <a:bodyPr wrap="none" lIns="0" tIns="0" rIns="0" bIns="0" anchor="t" anchorCtr="0">
              <a:spAutoFit/>
            </a:bodyPr>
            <a:lstStyle/>
            <a:p>
              <a:pPr algn="l"/>
              <a:r>
                <a:rPr lang="en-US" sz="1120" dirty="0">
                  <a:solidFill>
                    <a:srgbClr val="CBD8E6"/>
                  </a:solidFill>
                  <a:latin typeface="+mn-lt"/>
                  <a:ea typeface="+mn-ea"/>
                  <a:cs typeface="+mn-cs"/>
                </a:rPr>
                <a:t>Relaxed queries and soft labels, plus propagation-aware node selection, validated across many GNN backbones.</a:t>
              </a:r>
            </a:p>
          </p:txBody>
        </p:sp>
      </p:grpSp>
      <p:grpSp>
        <p:nvGrpSpPr>
          <p:cNvPr id="22" name="Group 22"/>
          <p:cNvGrpSpPr/>
          <p:nvPr/>
        </p:nvGrpSpPr>
        <p:grpSpPr>
          <a:xfrm>
            <a:off x="609600" y="2571750"/>
            <a:ext cx="3524250" cy="3600450"/>
            <a:chOff x="609600" y="2571750"/>
            <a:chExt cx="3524250" cy="3600450"/>
          </a:xfrm>
        </p:grpSpPr>
        <p:sp>
          <p:nvSpPr>
            <p:cNvPr id="14" name="Rectangle 14"/>
            <p:cNvSpPr/>
            <p:nvPr/>
          </p:nvSpPr>
          <p:spPr>
            <a:xfrm>
              <a:off x="609600" y="2571750"/>
              <a:ext cx="3524250" cy="3600450"/>
            </a:xfrm>
            <a:prstGeom prst="roundRect">
              <a:avLst>
                <a:gd name="adj" fmla="val 3784"/>
              </a:avLst>
            </a:prstGeom>
            <a:solidFill>
              <a:schemeClr val="lt2"/>
            </a:solidFill>
            <a:ln w="14288">
              <a:solidFill>
                <a:schemeClr val="accent4"/>
              </a:solidFill>
            </a:ln>
          </p:spPr>
        </p:sp>
        <p:sp>
          <p:nvSpPr>
            <p:cNvPr id="15" name="TextBox 15"/>
            <p:cNvSpPr txBox="1"/>
            <p:nvPr/>
          </p:nvSpPr>
          <p:spPr>
            <a:xfrm>
              <a:off x="842010" y="2781300"/>
              <a:ext cx="496938" cy="586740"/>
            </a:xfrm>
            <a:prstGeom prst="rect">
              <a:avLst/>
            </a:prstGeom>
            <a:noFill/>
            <a:ln>
              <a:noFill/>
            </a:ln>
          </p:spPr>
          <p:txBody>
            <a:bodyPr wrap="none" lIns="0" tIns="0" rIns="0" bIns="0" anchor="t" anchorCtr="0">
              <a:spAutoFit/>
            </a:bodyPr>
            <a:lstStyle/>
            <a:p>
              <a:pPr algn="l"/>
              <a:r>
                <a:rPr lang="en-US" sz="3000" b="1" dirty="0">
                  <a:solidFill>
                    <a:schemeClr val="accent3"/>
                  </a:solidFill>
                  <a:latin typeface="+mn-lt"/>
                  <a:ea typeface="+mn-ea"/>
                  <a:cs typeface="+mn-cs"/>
                </a:rPr>
                <a:t>01</a:t>
              </a:r>
            </a:p>
          </p:txBody>
        </p:sp>
        <p:sp>
          <p:nvSpPr>
            <p:cNvPr id="16" name="Rectangle 16"/>
            <p:cNvSpPr/>
            <p:nvPr/>
          </p:nvSpPr>
          <p:spPr>
            <a:xfrm>
              <a:off x="857250" y="3257550"/>
              <a:ext cx="438150" cy="47625"/>
            </a:xfrm>
            <a:prstGeom prst="roundRect">
              <a:avLst>
                <a:gd name="adj" fmla="val 40000"/>
              </a:avLst>
            </a:prstGeom>
            <a:solidFill>
              <a:schemeClr val="accent3"/>
            </a:solidFill>
            <a:ln>
              <a:noFill/>
            </a:ln>
          </p:spPr>
        </p:sp>
        <p:sp>
          <p:nvSpPr>
            <p:cNvPr id="17" name="TextBox 17"/>
            <p:cNvSpPr txBox="1"/>
            <p:nvPr/>
          </p:nvSpPr>
          <p:spPr>
            <a:xfrm>
              <a:off x="849630" y="3495675"/>
              <a:ext cx="1712129"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New AL paradigm</a:t>
              </a:r>
            </a:p>
          </p:txBody>
        </p:sp>
        <p:sp>
          <p:nvSpPr>
            <p:cNvPr id="18" name="TextBox 18"/>
            <p:cNvSpPr txBox="1"/>
            <p:nvPr/>
          </p:nvSpPr>
          <p:spPr>
            <a:xfrm>
              <a:off x="851154" y="3909060"/>
              <a:ext cx="273142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 first active-learning framework</a:t>
              </a:r>
            </a:p>
          </p:txBody>
        </p:sp>
        <p:sp>
          <p:nvSpPr>
            <p:cNvPr id="19" name="TextBox 19"/>
            <p:cNvSpPr txBox="1"/>
            <p:nvPr/>
          </p:nvSpPr>
          <p:spPr>
            <a:xfrm>
              <a:off x="851154" y="4118610"/>
              <a:ext cx="237073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for graph networks that uses</a:t>
              </a:r>
            </a:p>
          </p:txBody>
        </p:sp>
        <p:sp>
          <p:nvSpPr>
            <p:cNvPr id="20" name="TextBox 20"/>
            <p:cNvSpPr txBox="1"/>
            <p:nvPr/>
          </p:nvSpPr>
          <p:spPr>
            <a:xfrm>
              <a:off x="851154" y="4328160"/>
              <a:ext cx="2378408"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relaxed queries + soft labels</a:t>
              </a:r>
            </a:p>
          </p:txBody>
        </p:sp>
        <p:sp>
          <p:nvSpPr>
            <p:cNvPr id="21" name="TextBox 21"/>
            <p:cNvSpPr txBox="1"/>
            <p:nvPr/>
          </p:nvSpPr>
          <p:spPr>
            <a:xfrm>
              <a:off x="851154" y="4537710"/>
              <a:ext cx="279074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instead of exact-class annotation.</a:t>
              </a:r>
            </a:p>
          </p:txBody>
        </p:sp>
      </p:grpSp>
      <p:grpSp>
        <p:nvGrpSpPr>
          <p:cNvPr id="32" name="Group 32"/>
          <p:cNvGrpSpPr/>
          <p:nvPr/>
        </p:nvGrpSpPr>
        <p:grpSpPr>
          <a:xfrm>
            <a:off x="4333875" y="2571750"/>
            <a:ext cx="3524250" cy="3600450"/>
            <a:chOff x="4333875" y="2571750"/>
            <a:chExt cx="3524250" cy="3600450"/>
          </a:xfrm>
        </p:grpSpPr>
        <p:sp>
          <p:nvSpPr>
            <p:cNvPr id="23" name="Rectangle 23"/>
            <p:cNvSpPr/>
            <p:nvPr/>
          </p:nvSpPr>
          <p:spPr>
            <a:xfrm>
              <a:off x="4333875" y="2571750"/>
              <a:ext cx="3524250" cy="3600450"/>
            </a:xfrm>
            <a:prstGeom prst="roundRect">
              <a:avLst>
                <a:gd name="adj" fmla="val 3784"/>
              </a:avLst>
            </a:prstGeom>
            <a:solidFill>
              <a:schemeClr val="lt2"/>
            </a:solidFill>
            <a:ln w="14288">
              <a:solidFill>
                <a:schemeClr val="accent4"/>
              </a:solidFill>
            </a:ln>
          </p:spPr>
        </p:sp>
        <p:sp>
          <p:nvSpPr>
            <p:cNvPr id="24" name="TextBox 24"/>
            <p:cNvSpPr txBox="1"/>
            <p:nvPr/>
          </p:nvSpPr>
          <p:spPr>
            <a:xfrm>
              <a:off x="4566285" y="2781300"/>
              <a:ext cx="496938" cy="586740"/>
            </a:xfrm>
            <a:prstGeom prst="rect">
              <a:avLst/>
            </a:prstGeom>
            <a:noFill/>
            <a:ln>
              <a:noFill/>
            </a:ln>
          </p:spPr>
          <p:txBody>
            <a:bodyPr wrap="none" lIns="0" tIns="0" rIns="0" bIns="0" anchor="t" anchorCtr="0">
              <a:spAutoFit/>
            </a:bodyPr>
            <a:lstStyle/>
            <a:p>
              <a:pPr algn="l"/>
              <a:r>
                <a:rPr lang="en-US" sz="3000" b="1" dirty="0">
                  <a:solidFill>
                    <a:schemeClr val="accent3"/>
                  </a:solidFill>
                  <a:latin typeface="+mn-lt"/>
                  <a:ea typeface="+mn-ea"/>
                  <a:cs typeface="+mn-cs"/>
                </a:rPr>
                <a:t>02</a:t>
              </a:r>
            </a:p>
          </p:txBody>
        </p:sp>
        <p:sp>
          <p:nvSpPr>
            <p:cNvPr id="25" name="Rectangle 25"/>
            <p:cNvSpPr/>
            <p:nvPr/>
          </p:nvSpPr>
          <p:spPr>
            <a:xfrm>
              <a:off x="4581525" y="3257550"/>
              <a:ext cx="438150" cy="47625"/>
            </a:xfrm>
            <a:prstGeom prst="roundRect">
              <a:avLst>
                <a:gd name="adj" fmla="val 40000"/>
              </a:avLst>
            </a:prstGeom>
            <a:solidFill>
              <a:schemeClr val="accent3"/>
            </a:solidFill>
            <a:ln>
              <a:noFill/>
            </a:ln>
          </p:spPr>
        </p:sp>
        <p:sp>
          <p:nvSpPr>
            <p:cNvPr id="26" name="TextBox 26"/>
            <p:cNvSpPr txBox="1"/>
            <p:nvPr/>
          </p:nvSpPr>
          <p:spPr>
            <a:xfrm>
              <a:off x="4573905" y="3495675"/>
              <a:ext cx="1421216"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New criterion</a:t>
              </a:r>
            </a:p>
          </p:txBody>
        </p:sp>
        <p:sp>
          <p:nvSpPr>
            <p:cNvPr id="27" name="TextBox 27"/>
            <p:cNvSpPr txBox="1"/>
            <p:nvPr/>
          </p:nvSpPr>
          <p:spPr>
            <a:xfrm>
              <a:off x="4575429" y="3909060"/>
              <a:ext cx="248899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 node-selection criterion that</a:t>
              </a:r>
            </a:p>
          </p:txBody>
        </p:sp>
        <p:sp>
          <p:nvSpPr>
            <p:cNvPr id="28" name="TextBox 28"/>
            <p:cNvSpPr txBox="1"/>
            <p:nvPr/>
          </p:nvSpPr>
          <p:spPr>
            <a:xfrm>
              <a:off x="4575429" y="4118610"/>
              <a:ext cx="2285116"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maximizes information-gain</a:t>
              </a:r>
            </a:p>
          </p:txBody>
        </p:sp>
        <p:sp>
          <p:nvSpPr>
            <p:cNvPr id="29" name="TextBox 29"/>
            <p:cNvSpPr txBox="1"/>
            <p:nvPr/>
          </p:nvSpPr>
          <p:spPr>
            <a:xfrm>
              <a:off x="4575429" y="4328160"/>
              <a:ext cx="995995"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propagation</a:t>
              </a:r>
            </a:p>
          </p:txBody>
        </p:sp>
        <p:sp>
          <p:nvSpPr>
            <p:cNvPr id="30" name="TextBox 30"/>
            <p:cNvSpPr txBox="1"/>
            <p:nvPr/>
          </p:nvSpPr>
          <p:spPr>
            <a:xfrm>
              <a:off x="4575429" y="4537710"/>
              <a:ext cx="279882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through the graph, not just single-</a:t>
              </a:r>
            </a:p>
          </p:txBody>
        </p:sp>
        <p:sp>
          <p:nvSpPr>
            <p:cNvPr id="31" name="TextBox 31"/>
            <p:cNvSpPr txBox="1"/>
            <p:nvPr/>
          </p:nvSpPr>
          <p:spPr>
            <a:xfrm>
              <a:off x="4575429" y="4747260"/>
              <a:ext cx="144185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node uncertainty.</a:t>
              </a:r>
            </a:p>
          </p:txBody>
        </p:sp>
      </p:grpSp>
      <p:grpSp>
        <p:nvGrpSpPr>
          <p:cNvPr id="47" name="Group 47"/>
          <p:cNvGrpSpPr/>
          <p:nvPr/>
        </p:nvGrpSpPr>
        <p:grpSpPr>
          <a:xfrm>
            <a:off x="8058150" y="2571750"/>
            <a:ext cx="3524250" cy="3600450"/>
            <a:chOff x="8058150" y="2571750"/>
            <a:chExt cx="3524250" cy="3600450"/>
          </a:xfrm>
        </p:grpSpPr>
        <p:sp>
          <p:nvSpPr>
            <p:cNvPr id="33" name="Rectangle 33"/>
            <p:cNvSpPr/>
            <p:nvPr/>
          </p:nvSpPr>
          <p:spPr>
            <a:xfrm>
              <a:off x="8058150" y="2571750"/>
              <a:ext cx="3524250" cy="3600450"/>
            </a:xfrm>
            <a:prstGeom prst="roundRect">
              <a:avLst>
                <a:gd name="adj" fmla="val 3784"/>
              </a:avLst>
            </a:prstGeom>
            <a:solidFill>
              <a:schemeClr val="accent6"/>
            </a:solidFill>
            <a:ln w="14288">
              <a:solidFill>
                <a:schemeClr val="accent4"/>
              </a:solidFill>
            </a:ln>
          </p:spPr>
        </p:sp>
        <p:sp>
          <p:nvSpPr>
            <p:cNvPr id="34" name="TextBox 34"/>
            <p:cNvSpPr txBox="1"/>
            <p:nvPr/>
          </p:nvSpPr>
          <p:spPr>
            <a:xfrm>
              <a:off x="8290560" y="2781300"/>
              <a:ext cx="496938" cy="586740"/>
            </a:xfrm>
            <a:prstGeom prst="rect">
              <a:avLst/>
            </a:prstGeom>
            <a:noFill/>
            <a:ln>
              <a:noFill/>
            </a:ln>
          </p:spPr>
          <p:txBody>
            <a:bodyPr wrap="none" lIns="0" tIns="0" rIns="0" bIns="0" anchor="t" anchorCtr="0">
              <a:spAutoFit/>
            </a:bodyPr>
            <a:lstStyle/>
            <a:p>
              <a:pPr algn="l"/>
              <a:r>
                <a:rPr lang="en-US" sz="3000" b="1" dirty="0">
                  <a:solidFill>
                    <a:schemeClr val="accent2"/>
                  </a:solidFill>
                  <a:latin typeface="+mn-lt"/>
                  <a:ea typeface="+mn-ea"/>
                  <a:cs typeface="+mn-cs"/>
                </a:rPr>
                <a:t>03</a:t>
              </a:r>
            </a:p>
          </p:txBody>
        </p:sp>
        <p:sp>
          <p:nvSpPr>
            <p:cNvPr id="35" name="Rectangle 35"/>
            <p:cNvSpPr/>
            <p:nvPr/>
          </p:nvSpPr>
          <p:spPr>
            <a:xfrm>
              <a:off x="8305800" y="3257550"/>
              <a:ext cx="438150" cy="47625"/>
            </a:xfrm>
            <a:prstGeom prst="roundRect">
              <a:avLst>
                <a:gd name="adj" fmla="val 40000"/>
              </a:avLst>
            </a:prstGeom>
            <a:solidFill>
              <a:schemeClr val="accent2"/>
            </a:solidFill>
            <a:ln>
              <a:noFill/>
            </a:ln>
          </p:spPr>
        </p:sp>
        <p:sp>
          <p:nvSpPr>
            <p:cNvPr id="36" name="TextBox 36"/>
            <p:cNvSpPr txBox="1"/>
            <p:nvPr/>
          </p:nvSpPr>
          <p:spPr>
            <a:xfrm>
              <a:off x="8298180" y="3495675"/>
              <a:ext cx="1562433"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SOTA &amp; general</a:t>
              </a:r>
            </a:p>
          </p:txBody>
        </p:sp>
        <p:sp>
          <p:nvSpPr>
            <p:cNvPr id="37" name="TextBox 37"/>
            <p:cNvSpPr txBox="1"/>
            <p:nvPr/>
          </p:nvSpPr>
          <p:spPr>
            <a:xfrm>
              <a:off x="8299704" y="3909060"/>
              <a:ext cx="219818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Extensive experiments beat</a:t>
              </a:r>
            </a:p>
          </p:txBody>
        </p:sp>
        <p:sp>
          <p:nvSpPr>
            <p:cNvPr id="38" name="TextBox 38"/>
            <p:cNvSpPr txBox="1"/>
            <p:nvPr/>
          </p:nvSpPr>
          <p:spPr>
            <a:xfrm>
              <a:off x="8299704" y="4118610"/>
              <a:ext cx="251612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state-of-the-art baselines and</a:t>
              </a:r>
            </a:p>
          </p:txBody>
        </p:sp>
        <p:sp>
          <p:nvSpPr>
            <p:cNvPr id="39" name="TextBox 39"/>
            <p:cNvSpPr txBox="1"/>
            <p:nvPr/>
          </p:nvSpPr>
          <p:spPr>
            <a:xfrm>
              <a:off x="8299704" y="4328160"/>
              <a:ext cx="233842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generalize across backbones:</a:t>
              </a:r>
            </a:p>
          </p:txBody>
        </p:sp>
        <p:grpSp>
          <p:nvGrpSpPr>
            <p:cNvPr id="44" name="Group 44"/>
            <p:cNvGrpSpPr/>
            <p:nvPr/>
          </p:nvGrpSpPr>
          <p:grpSpPr>
            <a:xfrm>
              <a:off x="8305800" y="4629150"/>
              <a:ext cx="3028950" cy="323850"/>
              <a:chOff x="8305800" y="4629150"/>
              <a:chExt cx="3028950" cy="323850"/>
            </a:xfrm>
          </p:grpSpPr>
          <p:sp>
            <p:nvSpPr>
              <p:cNvPr id="40" name="Rectangle 40"/>
              <p:cNvSpPr/>
              <p:nvPr/>
            </p:nvSpPr>
            <p:spPr>
              <a:xfrm>
                <a:off x="8305800" y="4629150"/>
                <a:ext cx="1428750" cy="323850"/>
              </a:xfrm>
              <a:prstGeom prst="roundRect">
                <a:avLst>
                  <a:gd name="adj" fmla="val 23529"/>
                </a:avLst>
              </a:prstGeom>
              <a:solidFill>
                <a:schemeClr val="lt1"/>
              </a:solidFill>
              <a:ln w="9525">
                <a:solidFill>
                  <a:schemeClr val="accent4"/>
                </a:solidFill>
              </a:ln>
            </p:spPr>
          </p:sp>
          <p:sp>
            <p:nvSpPr>
              <p:cNvPr id="41" name="TextBox 41"/>
              <p:cNvSpPr txBox="1"/>
              <p:nvPr/>
            </p:nvSpPr>
            <p:spPr>
              <a:xfrm>
                <a:off x="8579667" y="4725352"/>
                <a:ext cx="881017"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SGC · APPNP</a:t>
                </a:r>
              </a:p>
            </p:txBody>
          </p:sp>
          <p:sp>
            <p:nvSpPr>
              <p:cNvPr id="42" name="Rectangle 42"/>
              <p:cNvSpPr/>
              <p:nvPr/>
            </p:nvSpPr>
            <p:spPr>
              <a:xfrm>
                <a:off x="9829800" y="4629150"/>
                <a:ext cx="1504950" cy="323850"/>
              </a:xfrm>
              <a:prstGeom prst="roundRect">
                <a:avLst>
                  <a:gd name="adj" fmla="val 23529"/>
                </a:avLst>
              </a:prstGeom>
              <a:solidFill>
                <a:schemeClr val="lt1"/>
              </a:solidFill>
              <a:ln w="9525">
                <a:solidFill>
                  <a:schemeClr val="accent4"/>
                </a:solidFill>
              </a:ln>
            </p:spPr>
          </p:sp>
          <p:sp>
            <p:nvSpPr>
              <p:cNvPr id="43" name="TextBox 43"/>
              <p:cNvSpPr txBox="1"/>
              <p:nvPr/>
            </p:nvSpPr>
            <p:spPr>
              <a:xfrm>
                <a:off x="10126085" y="4725352"/>
                <a:ext cx="912381"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GCN · MVGRL</a:t>
                </a:r>
              </a:p>
            </p:txBody>
          </p:sp>
        </p:grpSp>
        <p:sp>
          <p:nvSpPr>
            <p:cNvPr id="45" name="TextBox 45"/>
            <p:cNvSpPr txBox="1"/>
            <p:nvPr/>
          </p:nvSpPr>
          <p:spPr>
            <a:xfrm>
              <a:off x="8300085" y="5212556"/>
              <a:ext cx="2161632"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Consistent wins under equal</a:t>
              </a:r>
            </a:p>
          </p:txBody>
        </p:sp>
        <p:sp>
          <p:nvSpPr>
            <p:cNvPr id="46" name="TextBox 46"/>
            <p:cNvSpPr txBox="1"/>
            <p:nvPr/>
          </p:nvSpPr>
          <p:spPr>
            <a:xfrm>
              <a:off x="8300085" y="5422106"/>
              <a:ext cx="1072128"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labeling cost.</a:t>
              </a:r>
            </a:p>
          </p:txBody>
        </p:sp>
      </p:grpSp>
      <p:sp>
        <p:nvSpPr>
          <p:cNvPr id="48" name="cue_s04_c1_makes_three_contributions" title="cue_s04_c1_makes_three_contributions" descr="cue_s04_c1_makes_three_contributions The paper makes three contributions."/>
          <p:cNvSpPr/>
          <p:nvPr/>
        </p:nvSpPr>
        <p:spPr>
          <a:xfrm>
            <a:off x="609600" y="1428521"/>
            <a:ext cx="10972800" cy="99372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4_c2_first_new_active_learning_paradigm_g" title="cue_s04_c2_first_new_active_learning_paradigm_g" descr="cue_s04_c2_first_new_active_learning_paradigm_g First, a new active-learning paradigm for graph networks that uses relaxed queries and soft labels instead of exact-class annotation."/>
          <p:cNvSpPr/>
          <p:nvPr/>
        </p:nvSpPr>
        <p:spPr>
          <a:xfrm>
            <a:off x="609600" y="2571750"/>
            <a:ext cx="3524707" cy="36004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4_c3_second_node_selection_criterion_maxi" title="cue_s04_c3_second_node_selection_criterion_maxi" descr="cue_s04_c3_second_node_selection_criterion_maxi Second, a node-selection criterion that maximizes how information gain propagates through the graph."/>
          <p:cNvSpPr/>
          <p:nvPr/>
        </p:nvSpPr>
        <p:spPr>
          <a:xfrm>
            <a:off x="4334256" y="2571750"/>
            <a:ext cx="3524707" cy="36004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4_c4_third_experiments_showing_beats_stat" title="cue_s04_c4_third_experiments_showing_beats_stat" descr="cue_s04_c4_third_experiments_showing_beats_stat Third, experiments showing it beats state-of-the-art baselines and generalizes across many graph neural network backbones."/>
          <p:cNvSpPr/>
          <p:nvPr/>
        </p:nvSpPr>
        <p:spPr>
          <a:xfrm>
            <a:off x="8057692" y="2571750"/>
            <a:ext cx="3524707" cy="36004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76200"/>
            </a:xfrm>
            <a:prstGeom prst="rect">
              <a:avLst/>
            </a:prstGeom>
            <a:solidFill>
              <a:schemeClr val="accent3"/>
            </a:solidFill>
            <a:ln>
              <a:noFill/>
            </a:ln>
          </p:spPr>
        </p:sp>
      </p:grpSp>
      <p:grpSp>
        <p:nvGrpSpPr>
          <p:cNvPr id="7" name="Group 7"/>
          <p:cNvGrpSpPr/>
          <p:nvPr/>
        </p:nvGrpSpPr>
        <p:grpSpPr>
          <a:xfrm>
            <a:off x="597408" y="564356"/>
            <a:ext cx="7062224" cy="712756"/>
            <a:chOff x="597408" y="564356"/>
            <a:chExt cx="7062224" cy="712756"/>
          </a:xfrm>
        </p:grpSpPr>
        <p:sp>
          <p:nvSpPr>
            <p:cNvPr id="5" name="TextBox 5"/>
            <p:cNvSpPr txBox="1"/>
            <p:nvPr/>
          </p:nvSpPr>
          <p:spPr>
            <a:xfrm>
              <a:off x="603885" y="564356"/>
              <a:ext cx="1220072"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04 · METHOD</a:t>
              </a:r>
            </a:p>
          </p:txBody>
        </p:sp>
        <p:sp>
          <p:nvSpPr>
            <p:cNvPr id="6" name="TextBox 6"/>
            <p:cNvSpPr txBox="1"/>
            <p:nvPr/>
          </p:nvSpPr>
          <p:spPr>
            <a:xfrm>
              <a:off x="597408" y="807720"/>
              <a:ext cx="7062224"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The IGP loop: train, query, select, repeat</a:t>
              </a:r>
            </a:p>
          </p:txBody>
        </p:sp>
      </p:grpSp>
      <p:grpSp>
        <p:nvGrpSpPr>
          <p:cNvPr id="13" name="Group 13"/>
          <p:cNvGrpSpPr/>
          <p:nvPr/>
        </p:nvGrpSpPr>
        <p:grpSpPr>
          <a:xfrm>
            <a:off x="609600" y="1257300"/>
            <a:ext cx="10972800" cy="2743200"/>
            <a:chOff x="609600" y="1257300"/>
            <a:chExt cx="10972800" cy="2743200"/>
          </a:xfrm>
        </p:grpSpPr>
        <p:sp>
          <p:nvSpPr>
            <p:cNvPr id="8" name="Rectangle 8"/>
            <p:cNvSpPr/>
            <p:nvPr/>
          </p:nvSpPr>
          <p:spPr>
            <a:xfrm>
              <a:off x="609600" y="1257300"/>
              <a:ext cx="10972800" cy="2743200"/>
            </a:xfrm>
            <a:prstGeom prst="roundRect">
              <a:avLst>
                <a:gd name="adj" fmla="val 4861"/>
              </a:avLst>
            </a:prstGeom>
            <a:solidFill>
              <a:schemeClr val="lt1"/>
            </a:solidFill>
            <a:ln w="14288">
              <a:solidFill>
                <a:schemeClr val="accent4"/>
              </a:solidFill>
            </a:ln>
          </p:spPr>
        </p:sp>
        <p:sp>
          <p:nvSpPr>
            <p:cNvPr id="9" name="Rectangle 9"/>
            <p:cNvSpPr/>
            <p:nvPr/>
          </p:nvSpPr>
          <p:spPr>
            <a:xfrm>
              <a:off x="609600" y="1257300"/>
              <a:ext cx="76200" cy="2743200"/>
            </a:xfrm>
            <a:prstGeom prst="roundRect">
              <a:avLst>
                <a:gd name="adj" fmla="val 50000"/>
              </a:avLst>
            </a:prstGeom>
            <a:solidFill>
              <a:schemeClr val="accent3"/>
            </a:solidFill>
            <a:ln>
              <a:noFill/>
            </a:ln>
          </p:spPr>
        </p:sp>
        <p:sp>
          <p:nvSpPr>
            <p:cNvPr id="10" name="TextBox 10"/>
            <p:cNvSpPr txBox="1"/>
            <p:nvPr/>
          </p:nvSpPr>
          <p:spPr>
            <a:xfrm>
              <a:off x="871347" y="1456849"/>
              <a:ext cx="2711726" cy="190690"/>
            </a:xfrm>
            <a:prstGeom prst="rect">
              <a:avLst/>
            </a:prstGeom>
            <a:noFill/>
            <a:ln>
              <a:noFill/>
            </a:ln>
          </p:spPr>
          <p:txBody>
            <a:bodyPr wrap="none" lIns="0" tIns="0" rIns="0" bIns="0" anchor="t" anchorCtr="0">
              <a:spAutoFit/>
            </a:bodyPr>
            <a:lstStyle/>
            <a:p>
              <a:pPr algn="l"/>
              <a:r>
                <a:rPr lang="en-US" sz="980" b="1" spc="75" dirty="0">
                  <a:solidFill>
                    <a:schemeClr val="accent3"/>
                  </a:solidFill>
                  <a:latin typeface="+mn-lt"/>
                  <a:ea typeface="+mn-ea"/>
                  <a:cs typeface="+mn-cs"/>
                </a:rPr>
                <a:t>THE IGP FRAMEWORK · PAPER FIG. 3</a:t>
              </a:r>
            </a:p>
          </p:txBody>
        </p:sp>
        <p:sp>
          <p:nvSpPr>
            <p:cNvPr id="11" name="TextBox 11"/>
            <p:cNvSpPr txBox="1"/>
            <p:nvPr/>
          </p:nvSpPr>
          <p:spPr>
            <a:xfrm>
              <a:off x="4068972" y="1448752"/>
              <a:ext cx="4054055" cy="205359"/>
            </a:xfrm>
            <a:prstGeom prst="rect">
              <a:avLst/>
            </a:prstGeom>
            <a:noFill/>
            <a:ln>
              <a:noFill/>
            </a:ln>
          </p:spPr>
          <p:txBody>
            <a:bodyPr wrap="none" lIns="0" tIns="0" rIns="0" bIns="0" anchor="t" anchorCtr="0">
              <a:spAutoFit/>
            </a:bodyPr>
            <a:lstStyle/>
            <a:p>
              <a:pPr algn="ctr"/>
              <a:r>
                <a:rPr lang="en-US" sz="1050" b="1" dirty="0">
                  <a:solidFill>
                    <a:schemeClr val="dk2"/>
                  </a:solidFill>
                  <a:latin typeface="+mn-lt"/>
                  <a:ea typeface="+mn-ea"/>
                  <a:cs typeface="+mn-cs"/>
                </a:rPr>
                <a:t>Model Training → Node Selection → Node Labeling → Update</a:t>
              </a:r>
            </a:p>
          </p:txBody>
        </p:sp>
        <p:pic>
          <p:nvPicPr>
            <p:cNvPr id="12" name="Image 12"/>
            <p:cNvPicPr>
              <a:picLocks noChangeAspect="1"/>
            </p:cNvPicPr>
            <p:nvPr/>
          </p:nvPicPr>
          <p:blipFill>
            <a:blip r:embed="rId2"/>
            <a:stretch>
              <a:fillRect/>
            </a:stretch>
          </p:blipFill>
          <p:spPr>
            <a:xfrm>
              <a:off x="1071943" y="1695450"/>
              <a:ext cx="10048114" cy="2209800"/>
            </a:xfrm>
            <a:prstGeom prst="rect">
              <a:avLst/>
            </a:prstGeom>
          </p:spPr>
        </p:pic>
      </p:grpSp>
      <p:grpSp>
        <p:nvGrpSpPr>
          <p:cNvPr id="23" name="Group 23"/>
          <p:cNvGrpSpPr/>
          <p:nvPr/>
        </p:nvGrpSpPr>
        <p:grpSpPr>
          <a:xfrm>
            <a:off x="609600" y="4171950"/>
            <a:ext cx="3524250" cy="2019300"/>
            <a:chOff x="609600" y="4171950"/>
            <a:chExt cx="3524250" cy="2019300"/>
          </a:xfrm>
        </p:grpSpPr>
        <p:sp>
          <p:nvSpPr>
            <p:cNvPr id="14" name="Rectangle 14"/>
            <p:cNvSpPr/>
            <p:nvPr/>
          </p:nvSpPr>
          <p:spPr>
            <a:xfrm>
              <a:off x="609600" y="4171950"/>
              <a:ext cx="3524250" cy="2019300"/>
            </a:xfrm>
            <a:prstGeom prst="roundRect">
              <a:avLst>
                <a:gd name="adj" fmla="val 6604"/>
              </a:avLst>
            </a:prstGeom>
            <a:solidFill>
              <a:schemeClr val="lt2"/>
            </a:solidFill>
            <a:ln w="14288">
              <a:solidFill>
                <a:schemeClr val="accent4"/>
              </a:solidFill>
            </a:ln>
          </p:spPr>
        </p:sp>
        <p:sp>
          <p:nvSpPr>
            <p:cNvPr id="15" name="Rectangle 15"/>
            <p:cNvSpPr/>
            <p:nvPr/>
          </p:nvSpPr>
          <p:spPr>
            <a:xfrm>
              <a:off x="609600" y="4171950"/>
              <a:ext cx="66675" cy="2019300"/>
            </a:xfrm>
            <a:prstGeom prst="roundRect">
              <a:avLst>
                <a:gd name="adj" fmla="val 42857"/>
              </a:avLst>
            </a:prstGeom>
            <a:solidFill>
              <a:schemeClr val="accent3"/>
            </a:solidFill>
            <a:ln>
              <a:noFill/>
            </a:ln>
          </p:spPr>
        </p:sp>
        <p:sp>
          <p:nvSpPr>
            <p:cNvPr id="16" name="TextBox 16"/>
            <p:cNvSpPr txBox="1"/>
            <p:nvPr/>
          </p:nvSpPr>
          <p:spPr>
            <a:xfrm>
              <a:off x="852297" y="4371499"/>
              <a:ext cx="1468606" cy="190690"/>
            </a:xfrm>
            <a:prstGeom prst="rect">
              <a:avLst/>
            </a:prstGeom>
            <a:noFill/>
            <a:ln>
              <a:noFill/>
            </a:ln>
          </p:spPr>
          <p:txBody>
            <a:bodyPr wrap="none" lIns="0" tIns="0" rIns="0" bIns="0" anchor="t" anchorCtr="0">
              <a:spAutoFit/>
            </a:bodyPr>
            <a:lstStyle/>
            <a:p>
              <a:pPr algn="l"/>
              <a:r>
                <a:rPr lang="en-US" sz="980" b="1" spc="75" dirty="0">
                  <a:solidFill>
                    <a:schemeClr val="accent3"/>
                  </a:solidFill>
                  <a:latin typeface="+mn-lt"/>
                  <a:ea typeface="+mn-ea"/>
                  <a:cs typeface="+mn-cs"/>
                </a:rPr>
                <a:t>1 · RELAXED QUERY</a:t>
              </a:r>
            </a:p>
          </p:txBody>
        </p:sp>
        <p:sp>
          <p:nvSpPr>
            <p:cNvPr id="17" name="TextBox 17"/>
            <p:cNvSpPr txBox="1"/>
            <p:nvPr/>
          </p:nvSpPr>
          <p:spPr>
            <a:xfrm>
              <a:off x="850392" y="4616768"/>
              <a:ext cx="1565222"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Is the prediction</a:t>
              </a:r>
            </a:p>
          </p:txBody>
        </p:sp>
        <p:sp>
          <p:nvSpPr>
            <p:cNvPr id="18" name="TextBox 18"/>
            <p:cNvSpPr txBox="1"/>
            <p:nvPr/>
          </p:nvSpPr>
          <p:spPr>
            <a:xfrm>
              <a:off x="850392" y="4826318"/>
              <a:ext cx="1670283"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correct? Yes / No</a:t>
              </a:r>
            </a:p>
          </p:txBody>
        </p:sp>
        <p:sp>
          <p:nvSpPr>
            <p:cNvPr id="19" name="TextBox 19"/>
            <p:cNvSpPr txBox="1"/>
            <p:nvPr/>
          </p:nvSpPr>
          <p:spPr>
            <a:xfrm>
              <a:off x="851535" y="5136356"/>
              <a:ext cx="2278167"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For each candidate, the oracle</a:t>
              </a:r>
            </a:p>
          </p:txBody>
        </p:sp>
        <p:sp>
          <p:nvSpPr>
            <p:cNvPr id="20" name="TextBox 20"/>
            <p:cNvSpPr txBox="1"/>
            <p:nvPr/>
          </p:nvSpPr>
          <p:spPr>
            <a:xfrm>
              <a:off x="851535" y="5345906"/>
              <a:ext cx="2175043"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answers one binary question;</a:t>
              </a:r>
            </a:p>
          </p:txBody>
        </p:sp>
        <p:sp>
          <p:nvSpPr>
            <p:cNvPr id="21" name="TextBox 21"/>
            <p:cNvSpPr txBox="1"/>
            <p:nvPr/>
          </p:nvSpPr>
          <p:spPr>
            <a:xfrm>
              <a:off x="851535" y="5555456"/>
              <a:ext cx="1466403"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the reply becomes a</a:t>
              </a:r>
            </a:p>
          </p:txBody>
        </p:sp>
        <p:sp>
          <p:nvSpPr>
            <p:cNvPr id="22" name="TextBox 22"/>
            <p:cNvSpPr txBox="1"/>
            <p:nvPr/>
          </p:nvSpPr>
          <p:spPr>
            <a:xfrm>
              <a:off x="851535" y="5765006"/>
              <a:ext cx="1721212" cy="220028"/>
            </a:xfrm>
            <a:prstGeom prst="rect">
              <a:avLst/>
            </a:prstGeom>
            <a:noFill/>
            <a:ln>
              <a:noFill/>
            </a:ln>
          </p:spPr>
          <p:txBody>
            <a:bodyPr wrap="none" lIns="0" tIns="0" rIns="0" bIns="0" anchor="t" anchorCtr="0">
              <a:spAutoFit/>
            </a:bodyPr>
            <a:lstStyle/>
            <a:p>
              <a:pPr algn="l"/>
              <a:r>
                <a:rPr lang="en-US" sz="1120" b="1" dirty="0">
                  <a:solidFill>
                    <a:schemeClr val="accent3"/>
                  </a:solidFill>
                  <a:latin typeface="+mn-lt"/>
                  <a:ea typeface="+mn-ea"/>
                  <a:cs typeface="+mn-cs"/>
                </a:rPr>
                <a:t>normalized soft label.</a:t>
              </a:r>
            </a:p>
          </p:txBody>
        </p:sp>
      </p:grpSp>
      <p:grpSp>
        <p:nvGrpSpPr>
          <p:cNvPr id="33" name="Group 33"/>
          <p:cNvGrpSpPr/>
          <p:nvPr/>
        </p:nvGrpSpPr>
        <p:grpSpPr>
          <a:xfrm>
            <a:off x="4333875" y="4171950"/>
            <a:ext cx="3524250" cy="2019300"/>
            <a:chOff x="4333875" y="4171950"/>
            <a:chExt cx="3524250" cy="2019300"/>
          </a:xfrm>
        </p:grpSpPr>
        <p:sp>
          <p:nvSpPr>
            <p:cNvPr id="24" name="Rectangle 24"/>
            <p:cNvSpPr/>
            <p:nvPr/>
          </p:nvSpPr>
          <p:spPr>
            <a:xfrm>
              <a:off x="4333875" y="4171950"/>
              <a:ext cx="3524250" cy="2019300"/>
            </a:xfrm>
            <a:prstGeom prst="roundRect">
              <a:avLst>
                <a:gd name="adj" fmla="val 6604"/>
              </a:avLst>
            </a:prstGeom>
            <a:solidFill>
              <a:schemeClr val="lt2"/>
            </a:solidFill>
            <a:ln w="14288">
              <a:solidFill>
                <a:schemeClr val="accent4"/>
              </a:solidFill>
            </a:ln>
          </p:spPr>
        </p:sp>
        <p:sp>
          <p:nvSpPr>
            <p:cNvPr id="25" name="Rectangle 25"/>
            <p:cNvSpPr/>
            <p:nvPr/>
          </p:nvSpPr>
          <p:spPr>
            <a:xfrm>
              <a:off x="4333875" y="4171950"/>
              <a:ext cx="66675" cy="2019300"/>
            </a:xfrm>
            <a:prstGeom prst="roundRect">
              <a:avLst>
                <a:gd name="adj" fmla="val 42857"/>
              </a:avLst>
            </a:prstGeom>
            <a:solidFill>
              <a:schemeClr val="accent3"/>
            </a:solidFill>
            <a:ln>
              <a:noFill/>
            </a:ln>
          </p:spPr>
        </p:sp>
        <p:sp>
          <p:nvSpPr>
            <p:cNvPr id="26" name="TextBox 26"/>
            <p:cNvSpPr txBox="1"/>
            <p:nvPr/>
          </p:nvSpPr>
          <p:spPr>
            <a:xfrm>
              <a:off x="4576572" y="4371499"/>
              <a:ext cx="1315541" cy="190690"/>
            </a:xfrm>
            <a:prstGeom prst="rect">
              <a:avLst/>
            </a:prstGeom>
            <a:noFill/>
            <a:ln>
              <a:noFill/>
            </a:ln>
          </p:spPr>
          <p:txBody>
            <a:bodyPr wrap="none" lIns="0" tIns="0" rIns="0" bIns="0" anchor="t" anchorCtr="0">
              <a:spAutoFit/>
            </a:bodyPr>
            <a:lstStyle/>
            <a:p>
              <a:pPr algn="l"/>
              <a:r>
                <a:rPr lang="en-US" sz="980" b="1" spc="75" dirty="0">
                  <a:solidFill>
                    <a:schemeClr val="accent3"/>
                  </a:solidFill>
                  <a:latin typeface="+mn-lt"/>
                  <a:ea typeface="+mn-ea"/>
                  <a:cs typeface="+mn-cs"/>
                </a:rPr>
                <a:t>2 · SCORE NODES</a:t>
              </a:r>
            </a:p>
          </p:txBody>
        </p:sp>
        <p:sp>
          <p:nvSpPr>
            <p:cNvPr id="27" name="TextBox 27"/>
            <p:cNvSpPr txBox="1"/>
            <p:nvPr/>
          </p:nvSpPr>
          <p:spPr>
            <a:xfrm>
              <a:off x="4574667" y="4616768"/>
              <a:ext cx="1890016"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Influence × info gain</a:t>
              </a:r>
            </a:p>
          </p:txBody>
        </p:sp>
        <p:sp>
          <p:nvSpPr>
            <p:cNvPr id="28" name="TextBox 28"/>
            <p:cNvSpPr txBox="1"/>
            <p:nvPr/>
          </p:nvSpPr>
          <p:spPr>
            <a:xfrm>
              <a:off x="4575810" y="4926806"/>
              <a:ext cx="2127466"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Measure how strongly a node</a:t>
              </a:r>
            </a:p>
          </p:txBody>
        </p:sp>
        <p:sp>
          <p:nvSpPr>
            <p:cNvPr id="29" name="TextBox 29"/>
            <p:cNvSpPr txBox="1"/>
            <p:nvPr/>
          </p:nvSpPr>
          <p:spPr>
            <a:xfrm>
              <a:off x="4575810" y="5136356"/>
              <a:ext cx="2152426"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influences its neighbors (the</a:t>
              </a:r>
            </a:p>
          </p:txBody>
        </p:sp>
        <p:sp>
          <p:nvSpPr>
            <p:cNvPr id="30" name="TextBox 30"/>
            <p:cNvSpPr txBox="1"/>
            <p:nvPr/>
          </p:nvSpPr>
          <p:spPr>
            <a:xfrm>
              <a:off x="4575810" y="5345906"/>
              <a:ext cx="2188235" cy="220028"/>
            </a:xfrm>
            <a:prstGeom prst="rect">
              <a:avLst/>
            </a:prstGeom>
            <a:noFill/>
            <a:ln>
              <a:noFill/>
            </a:ln>
          </p:spPr>
          <p:txBody>
            <a:bodyPr wrap="none" lIns="0" tIns="0" rIns="0" bIns="0" anchor="t" anchorCtr="0">
              <a:spAutoFit/>
            </a:bodyPr>
            <a:lstStyle/>
            <a:p>
              <a:pPr algn="l"/>
              <a:r>
                <a:rPr lang="en-US" sz="1120" b="1" dirty="0">
                  <a:solidFill>
                    <a:schemeClr val="accent3"/>
                  </a:solidFill>
                  <a:latin typeface="+mn-lt"/>
                  <a:ea typeface="+mn-ea"/>
                  <a:cs typeface="+mn-cs"/>
                </a:rPr>
                <a:t>influence magnitude), times</a:t>
              </a:r>
            </a:p>
          </p:txBody>
        </p:sp>
        <p:sp>
          <p:nvSpPr>
            <p:cNvPr id="31" name="TextBox 31"/>
            <p:cNvSpPr txBox="1"/>
            <p:nvPr/>
          </p:nvSpPr>
          <p:spPr>
            <a:xfrm>
              <a:off x="4575810" y="5555456"/>
              <a:ext cx="2220275"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the information gain (entropy</a:t>
              </a:r>
            </a:p>
          </p:txBody>
        </p:sp>
        <p:sp>
          <p:nvSpPr>
            <p:cNvPr id="32" name="TextBox 32"/>
            <p:cNvSpPr txBox="1"/>
            <p:nvPr/>
          </p:nvSpPr>
          <p:spPr>
            <a:xfrm>
              <a:off x="4575810" y="5765006"/>
              <a:ext cx="1767952"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reduction) of each one.</a:t>
              </a:r>
            </a:p>
          </p:txBody>
        </p:sp>
      </p:grpSp>
      <p:grpSp>
        <p:nvGrpSpPr>
          <p:cNvPr id="43" name="Group 43"/>
          <p:cNvGrpSpPr/>
          <p:nvPr/>
        </p:nvGrpSpPr>
        <p:grpSpPr>
          <a:xfrm>
            <a:off x="8058150" y="4171950"/>
            <a:ext cx="3524250" cy="2019300"/>
            <a:chOff x="8058150" y="4171950"/>
            <a:chExt cx="3524250" cy="2019300"/>
          </a:xfrm>
        </p:grpSpPr>
        <p:sp>
          <p:nvSpPr>
            <p:cNvPr id="34" name="Rectangle 34"/>
            <p:cNvSpPr/>
            <p:nvPr/>
          </p:nvSpPr>
          <p:spPr>
            <a:xfrm>
              <a:off x="8058150" y="4171950"/>
              <a:ext cx="3524250" cy="2019300"/>
            </a:xfrm>
            <a:prstGeom prst="roundRect">
              <a:avLst>
                <a:gd name="adj" fmla="val 6604"/>
              </a:avLst>
            </a:prstGeom>
            <a:solidFill>
              <a:schemeClr val="accent1"/>
            </a:solidFill>
            <a:ln>
              <a:noFill/>
            </a:ln>
          </p:spPr>
        </p:sp>
        <p:sp>
          <p:nvSpPr>
            <p:cNvPr id="35" name="Rectangle 35"/>
            <p:cNvSpPr/>
            <p:nvPr/>
          </p:nvSpPr>
          <p:spPr>
            <a:xfrm>
              <a:off x="8058150" y="4171950"/>
              <a:ext cx="76200" cy="2019300"/>
            </a:xfrm>
            <a:prstGeom prst="roundRect">
              <a:avLst>
                <a:gd name="adj" fmla="val 50000"/>
              </a:avLst>
            </a:prstGeom>
            <a:solidFill>
              <a:schemeClr val="accent2"/>
            </a:solidFill>
            <a:ln>
              <a:noFill/>
            </a:ln>
          </p:spPr>
        </p:sp>
        <p:sp>
          <p:nvSpPr>
            <p:cNvPr id="36" name="TextBox 36"/>
            <p:cNvSpPr txBox="1"/>
            <p:nvPr/>
          </p:nvSpPr>
          <p:spPr>
            <a:xfrm>
              <a:off x="8319897" y="4371499"/>
              <a:ext cx="1585079" cy="190690"/>
            </a:xfrm>
            <a:prstGeom prst="rect">
              <a:avLst/>
            </a:prstGeom>
            <a:noFill/>
            <a:ln>
              <a:noFill/>
            </a:ln>
          </p:spPr>
          <p:txBody>
            <a:bodyPr wrap="none" lIns="0" tIns="0" rIns="0" bIns="0" anchor="t" anchorCtr="0">
              <a:spAutoFit/>
            </a:bodyPr>
            <a:lstStyle/>
            <a:p>
              <a:pPr algn="l"/>
              <a:r>
                <a:rPr lang="en-US" sz="980" b="1" spc="75" dirty="0">
                  <a:solidFill>
                    <a:srgbClr val="7FD1C9"/>
                  </a:solidFill>
                  <a:latin typeface="+mn-lt"/>
                  <a:ea typeface="+mn-ea"/>
                  <a:cs typeface="+mn-cs"/>
                </a:rPr>
                <a:t>3 · SELECT &amp; REPEAT</a:t>
              </a:r>
            </a:p>
          </p:txBody>
        </p:sp>
        <p:sp>
          <p:nvSpPr>
            <p:cNvPr id="37" name="TextBox 37"/>
            <p:cNvSpPr txBox="1"/>
            <p:nvPr/>
          </p:nvSpPr>
          <p:spPr>
            <a:xfrm>
              <a:off x="8317992" y="4616768"/>
              <a:ext cx="1947098"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Maximize propagated</a:t>
              </a:r>
            </a:p>
          </p:txBody>
        </p:sp>
        <p:sp>
          <p:nvSpPr>
            <p:cNvPr id="38" name="TextBox 38"/>
            <p:cNvSpPr txBox="1"/>
            <p:nvPr/>
          </p:nvSpPr>
          <p:spPr>
            <a:xfrm>
              <a:off x="8317992" y="4826318"/>
              <a:ext cx="1540307"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information gain</a:t>
              </a:r>
            </a:p>
          </p:txBody>
        </p:sp>
        <p:sp>
          <p:nvSpPr>
            <p:cNvPr id="39" name="TextBox 39"/>
            <p:cNvSpPr txBox="1"/>
            <p:nvPr/>
          </p:nvSpPr>
          <p:spPr>
            <a:xfrm>
              <a:off x="8319135" y="5136356"/>
              <a:ext cx="2270415" cy="220028"/>
            </a:xfrm>
            <a:prstGeom prst="rect">
              <a:avLst/>
            </a:prstGeom>
            <a:noFill/>
            <a:ln>
              <a:noFill/>
            </a:ln>
          </p:spPr>
          <p:txBody>
            <a:bodyPr wrap="none" lIns="0" tIns="0" rIns="0" bIns="0" anchor="t" anchorCtr="0">
              <a:spAutoFit/>
            </a:bodyPr>
            <a:lstStyle/>
            <a:p>
              <a:pPr algn="l"/>
              <a:r>
                <a:rPr lang="en-US" sz="1120" dirty="0">
                  <a:solidFill>
                    <a:srgbClr val="CBD8E6"/>
                  </a:solidFill>
                  <a:latin typeface="+mn-lt"/>
                  <a:ea typeface="+mn-ea"/>
                  <a:cs typeface="+mn-cs"/>
                </a:rPr>
                <a:t>Pick the budget-limited subset</a:t>
              </a:r>
            </a:p>
          </p:txBody>
        </p:sp>
        <p:sp>
          <p:nvSpPr>
            <p:cNvPr id="40" name="TextBox 40"/>
            <p:cNvSpPr txBox="1"/>
            <p:nvPr/>
          </p:nvSpPr>
          <p:spPr>
            <a:xfrm>
              <a:off x="8319135" y="5345906"/>
              <a:ext cx="2416282" cy="220028"/>
            </a:xfrm>
            <a:prstGeom prst="rect">
              <a:avLst/>
            </a:prstGeom>
            <a:noFill/>
            <a:ln>
              <a:noFill/>
            </a:ln>
          </p:spPr>
          <p:txBody>
            <a:bodyPr wrap="none" lIns="0" tIns="0" rIns="0" bIns="0" anchor="t" anchorCtr="0">
              <a:spAutoFit/>
            </a:bodyPr>
            <a:lstStyle/>
            <a:p>
              <a:pPr algn="l"/>
              <a:r>
                <a:rPr lang="en-US" sz="1120" dirty="0">
                  <a:solidFill>
                    <a:srgbClr val="CBD8E6"/>
                  </a:solidFill>
                  <a:latin typeface="+mn-lt"/>
                  <a:ea typeface="+mn-ea"/>
                  <a:cs typeface="+mn-cs"/>
                </a:rPr>
                <a:t>that maximizes total propagated</a:t>
              </a:r>
            </a:p>
          </p:txBody>
        </p:sp>
        <p:sp>
          <p:nvSpPr>
            <p:cNvPr id="41" name="TextBox 41"/>
            <p:cNvSpPr txBox="1"/>
            <p:nvPr/>
          </p:nvSpPr>
          <p:spPr>
            <a:xfrm>
              <a:off x="8319135" y="5555456"/>
              <a:ext cx="2054423" cy="220028"/>
            </a:xfrm>
            <a:prstGeom prst="rect">
              <a:avLst/>
            </a:prstGeom>
            <a:noFill/>
            <a:ln>
              <a:noFill/>
            </a:ln>
          </p:spPr>
          <p:txBody>
            <a:bodyPr wrap="none" lIns="0" tIns="0" rIns="0" bIns="0" anchor="t" anchorCtr="0">
              <a:spAutoFit/>
            </a:bodyPr>
            <a:lstStyle/>
            <a:p>
              <a:pPr algn="l"/>
              <a:r>
                <a:rPr lang="en-US" sz="1120" dirty="0">
                  <a:solidFill>
                    <a:srgbClr val="CBD8E6"/>
                  </a:solidFill>
                  <a:latin typeface="+mn-lt"/>
                  <a:ea typeface="+mn-ea"/>
                  <a:cs typeface="+mn-cs"/>
                </a:rPr>
                <a:t>gain, then update the model</a:t>
              </a:r>
            </a:p>
          </p:txBody>
        </p:sp>
        <p:sp>
          <p:nvSpPr>
            <p:cNvPr id="42" name="TextBox 42"/>
            <p:cNvSpPr txBox="1"/>
            <p:nvPr/>
          </p:nvSpPr>
          <p:spPr>
            <a:xfrm>
              <a:off x="8319135" y="5765006"/>
              <a:ext cx="1594561" cy="220028"/>
            </a:xfrm>
            <a:prstGeom prst="rect">
              <a:avLst/>
            </a:prstGeom>
            <a:noFill/>
            <a:ln>
              <a:noFill/>
            </a:ln>
          </p:spPr>
          <p:txBody>
            <a:bodyPr wrap="none" lIns="0" tIns="0" rIns="0" bIns="0" anchor="t" anchorCtr="0">
              <a:spAutoFit/>
            </a:bodyPr>
            <a:lstStyle/>
            <a:p>
              <a:pPr algn="l"/>
              <a:r>
                <a:rPr lang="en-US" sz="1120" b="1" dirty="0">
                  <a:solidFill>
                    <a:srgbClr val="F6A87F"/>
                  </a:solidFill>
                  <a:latin typeface="+mn-lt"/>
                  <a:ea typeface="+mn-ea"/>
                  <a:cs typeface="+mn-cs"/>
                </a:rPr>
                <a:t>and repeat the loop.</a:t>
              </a:r>
            </a:p>
          </p:txBody>
        </p:sp>
      </p:grpSp>
      <p:sp>
        <p:nvSpPr>
          <p:cNvPr id="44" name="cue_s05_c1_igp_runs_loop_graph_network" title="cue_s05_c1_igp_runs_loop_graph_network" descr="cue_s05_c1_igp_runs_loop_graph_network IGP runs in a loop. A graph network is first trained on the labeled nodes with their soft labels."/>
          <p:cNvSpPr/>
          <p:nvPr/>
        </p:nvSpPr>
        <p:spPr>
          <a:xfrm>
            <a:off x="609600" y="1257071"/>
            <a:ext cx="10972800" cy="27432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5_c2_candidate_oracle_asked_only_whether" title="cue_s05_c2_candidate_oracle_asked_only_whether" descr="cue_s05_c2_candidate_oracle_asked_only_whether For each candidate, the oracle is asked only whether the predicted label is correct, and that answer becomes a normalized soft label."/>
          <p:cNvSpPr/>
          <p:nvPr/>
        </p:nvSpPr>
        <p:spPr>
          <a:xfrm>
            <a:off x="609600" y="4171721"/>
            <a:ext cx="3524707" cy="20189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5_c3_choose_nodes_igp_measures_how" title="cue_s05_c3_choose_nodes_igp_measures_how" descr="cue_s05_c3_choose_nodes_igp_measures_how To choose nodes, IGP measures how strongly each node influences its neighbors through propagation, the influence magnitude, and combines it with the information gain, the entropy reduction, of every influenced node."/>
          <p:cNvSpPr/>
          <p:nvPr/>
        </p:nvSpPr>
        <p:spPr>
          <a:xfrm>
            <a:off x="4334256" y="4171721"/>
            <a:ext cx="3524707" cy="20189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5_c4_selects_budget_limited_subset_maximi" title="cue_s05_c4_selects_budget_limited_subset_maximi" descr="cue_s05_c4_selects_budget_limited_subset_maximi It then selects the budget-limited subset that maximizes total propagated information gain, updates the model, and repeats."/>
          <p:cNvSpPr/>
          <p:nvPr/>
        </p:nvSpPr>
        <p:spPr>
          <a:xfrm>
            <a:off x="8057692" y="4171721"/>
            <a:ext cx="3524707" cy="20189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76200"/>
            </a:xfrm>
            <a:prstGeom prst="rect">
              <a:avLst/>
            </a:prstGeom>
            <a:solidFill>
              <a:schemeClr val="accent3"/>
            </a:solidFill>
            <a:ln>
              <a:noFill/>
            </a:ln>
          </p:spPr>
        </p:sp>
      </p:grpSp>
      <p:grpSp>
        <p:nvGrpSpPr>
          <p:cNvPr id="7" name="Group 7"/>
          <p:cNvGrpSpPr/>
          <p:nvPr/>
        </p:nvGrpSpPr>
        <p:grpSpPr>
          <a:xfrm>
            <a:off x="596646" y="564356"/>
            <a:ext cx="7012857" cy="764001"/>
            <a:chOff x="596646" y="564356"/>
            <a:chExt cx="7012857" cy="764001"/>
          </a:xfrm>
        </p:grpSpPr>
        <p:sp>
          <p:nvSpPr>
            <p:cNvPr id="5" name="TextBox 5"/>
            <p:cNvSpPr txBox="1"/>
            <p:nvPr/>
          </p:nvSpPr>
          <p:spPr>
            <a:xfrm>
              <a:off x="603885" y="564356"/>
              <a:ext cx="2643268"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05 · DATASETS &amp; PROTOCOL</a:t>
              </a:r>
            </a:p>
          </p:txBody>
        </p:sp>
        <p:sp>
          <p:nvSpPr>
            <p:cNvPr id="6" name="TextBox 6"/>
            <p:cNvSpPr txBox="1"/>
            <p:nvPr/>
          </p:nvSpPr>
          <p:spPr>
            <a:xfrm>
              <a:off x="596646" y="829628"/>
              <a:ext cx="701285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Five benchmarks, budgeted by real cost</a:t>
              </a:r>
            </a:p>
          </p:txBody>
        </p:sp>
      </p:grpSp>
      <p:grpSp>
        <p:nvGrpSpPr>
          <p:cNvPr id="37" name="Group 37"/>
          <p:cNvGrpSpPr/>
          <p:nvPr/>
        </p:nvGrpSpPr>
        <p:grpSpPr>
          <a:xfrm>
            <a:off x="609600" y="1428750"/>
            <a:ext cx="10972800" cy="2286000"/>
            <a:chOff x="609600" y="1428750"/>
            <a:chExt cx="10972800" cy="2286000"/>
          </a:xfrm>
        </p:grpSpPr>
        <p:sp>
          <p:nvSpPr>
            <p:cNvPr id="8" name="Rectangle 8"/>
            <p:cNvSpPr/>
            <p:nvPr/>
          </p:nvSpPr>
          <p:spPr>
            <a:xfrm>
              <a:off x="609600" y="1428750"/>
              <a:ext cx="10972800" cy="2286000"/>
            </a:xfrm>
            <a:prstGeom prst="roundRect">
              <a:avLst>
                <a:gd name="adj" fmla="val 5833"/>
              </a:avLst>
            </a:prstGeom>
            <a:solidFill>
              <a:schemeClr val="lt2"/>
            </a:solidFill>
            <a:ln w="14288">
              <a:solidFill>
                <a:schemeClr val="accent4"/>
              </a:solidFill>
            </a:ln>
          </p:spPr>
        </p:sp>
        <p:sp>
          <p:nvSpPr>
            <p:cNvPr id="9" name="Rectangle 9"/>
            <p:cNvSpPr/>
            <p:nvPr/>
          </p:nvSpPr>
          <p:spPr>
            <a:xfrm>
              <a:off x="609600" y="1428750"/>
              <a:ext cx="66675" cy="2286000"/>
            </a:xfrm>
            <a:prstGeom prst="roundRect">
              <a:avLst>
                <a:gd name="adj" fmla="val 42857"/>
              </a:avLst>
            </a:prstGeom>
            <a:solidFill>
              <a:schemeClr val="accent3"/>
            </a:solidFill>
            <a:ln>
              <a:noFill/>
            </a:ln>
          </p:spPr>
        </p:sp>
        <p:sp>
          <p:nvSpPr>
            <p:cNvPr id="10" name="TextBox 10"/>
            <p:cNvSpPr txBox="1"/>
            <p:nvPr/>
          </p:nvSpPr>
          <p:spPr>
            <a:xfrm>
              <a:off x="852297" y="1647349"/>
              <a:ext cx="1833281" cy="190690"/>
            </a:xfrm>
            <a:prstGeom prst="rect">
              <a:avLst/>
            </a:prstGeom>
            <a:noFill/>
            <a:ln>
              <a:noFill/>
            </a:ln>
          </p:spPr>
          <p:txBody>
            <a:bodyPr wrap="none" lIns="0" tIns="0" rIns="0" bIns="0" anchor="t" anchorCtr="0">
              <a:spAutoFit/>
            </a:bodyPr>
            <a:lstStyle/>
            <a:p>
              <a:pPr algn="l"/>
              <a:r>
                <a:rPr lang="en-US" sz="980" b="1" spc="75" dirty="0">
                  <a:solidFill>
                    <a:schemeClr val="accent3"/>
                  </a:solidFill>
                  <a:latin typeface="+mn-lt"/>
                  <a:ea typeface="+mn-ea"/>
                  <a:cs typeface="+mn-cs"/>
                </a:rPr>
                <a:t>FIVE GRAPH BENCHMARKS</a:t>
              </a:r>
            </a:p>
          </p:txBody>
        </p:sp>
        <p:grpSp>
          <p:nvGrpSpPr>
            <p:cNvPr id="36" name="Group 36"/>
            <p:cNvGrpSpPr/>
            <p:nvPr/>
          </p:nvGrpSpPr>
          <p:grpSpPr>
            <a:xfrm>
              <a:off x="857250" y="1943100"/>
              <a:ext cx="10477500" cy="1543050"/>
              <a:chOff x="857250" y="1943100"/>
              <a:chExt cx="10477500" cy="1543050"/>
            </a:xfrm>
          </p:grpSpPr>
          <p:sp>
            <p:nvSpPr>
              <p:cNvPr id="11" name="Rectangle 11"/>
              <p:cNvSpPr/>
              <p:nvPr/>
            </p:nvSpPr>
            <p:spPr>
              <a:xfrm>
                <a:off x="857250" y="1943100"/>
                <a:ext cx="2000250" cy="1543050"/>
              </a:xfrm>
              <a:prstGeom prst="roundRect">
                <a:avLst>
                  <a:gd name="adj" fmla="val 7407"/>
                </a:avLst>
              </a:prstGeom>
              <a:solidFill>
                <a:schemeClr val="lt1"/>
              </a:solidFill>
              <a:ln w="14288">
                <a:solidFill>
                  <a:schemeClr val="accent4"/>
                </a:solidFill>
              </a:ln>
            </p:spPr>
          </p:sp>
          <p:sp>
            <p:nvSpPr>
              <p:cNvPr id="12" name="TextBox 12"/>
              <p:cNvSpPr txBox="1"/>
              <p:nvPr/>
            </p:nvSpPr>
            <p:spPr>
              <a:xfrm>
                <a:off x="1004888" y="2150745"/>
                <a:ext cx="635310" cy="176212"/>
              </a:xfrm>
              <a:prstGeom prst="rect">
                <a:avLst/>
              </a:prstGeom>
              <a:noFill/>
              <a:ln>
                <a:noFill/>
              </a:ln>
            </p:spPr>
            <p:txBody>
              <a:bodyPr wrap="none" lIns="0" tIns="0" rIns="0" bIns="0" anchor="t" anchorCtr="0">
                <a:spAutoFit/>
              </a:bodyPr>
              <a:lstStyle/>
              <a:p>
                <a:pPr algn="l"/>
                <a:r>
                  <a:rPr lang="en-US" sz="900" b="1" spc="75" dirty="0">
                    <a:solidFill>
                      <a:schemeClr val="accent3"/>
                    </a:solidFill>
                    <a:latin typeface="+mn-lt"/>
                    <a:ea typeface="+mn-ea"/>
                    <a:cs typeface="+mn-cs"/>
                  </a:rPr>
                  <a:t>CITATION</a:t>
                </a:r>
              </a:p>
            </p:txBody>
          </p:sp>
          <p:sp>
            <p:nvSpPr>
              <p:cNvPr id="13" name="TextBox 13"/>
              <p:cNvSpPr txBox="1"/>
              <p:nvPr/>
            </p:nvSpPr>
            <p:spPr>
              <a:xfrm>
                <a:off x="1001268" y="2393632"/>
                <a:ext cx="53712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Cora</a:t>
                </a:r>
              </a:p>
            </p:txBody>
          </p:sp>
          <p:sp>
            <p:nvSpPr>
              <p:cNvPr id="14" name="TextBox 14"/>
              <p:cNvSpPr txBox="1"/>
              <p:nvPr/>
            </p:nvSpPr>
            <p:spPr>
              <a:xfrm>
                <a:off x="1004316" y="2820352"/>
                <a:ext cx="118121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Citation network</a:t>
                </a:r>
              </a:p>
            </p:txBody>
          </p:sp>
          <p:sp>
            <p:nvSpPr>
              <p:cNvPr id="15" name="TextBox 15"/>
              <p:cNvSpPr txBox="1"/>
              <p:nvPr/>
            </p:nvSpPr>
            <p:spPr>
              <a:xfrm>
                <a:off x="1004316" y="3029902"/>
                <a:ext cx="75276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of papers.</a:t>
                </a:r>
              </a:p>
            </p:txBody>
          </p:sp>
          <p:sp>
            <p:nvSpPr>
              <p:cNvPr id="16" name="Rectangle 16"/>
              <p:cNvSpPr/>
              <p:nvPr/>
            </p:nvSpPr>
            <p:spPr>
              <a:xfrm>
                <a:off x="2971800" y="1943100"/>
                <a:ext cx="2000250" cy="1543050"/>
              </a:xfrm>
              <a:prstGeom prst="roundRect">
                <a:avLst>
                  <a:gd name="adj" fmla="val 7407"/>
                </a:avLst>
              </a:prstGeom>
              <a:solidFill>
                <a:schemeClr val="lt1"/>
              </a:solidFill>
              <a:ln w="14288">
                <a:solidFill>
                  <a:schemeClr val="accent4"/>
                </a:solidFill>
              </a:ln>
            </p:spPr>
          </p:sp>
          <p:sp>
            <p:nvSpPr>
              <p:cNvPr id="17" name="TextBox 17"/>
              <p:cNvSpPr txBox="1"/>
              <p:nvPr/>
            </p:nvSpPr>
            <p:spPr>
              <a:xfrm>
                <a:off x="3119438" y="2150745"/>
                <a:ext cx="635310" cy="176212"/>
              </a:xfrm>
              <a:prstGeom prst="rect">
                <a:avLst/>
              </a:prstGeom>
              <a:noFill/>
              <a:ln>
                <a:noFill/>
              </a:ln>
            </p:spPr>
            <p:txBody>
              <a:bodyPr wrap="none" lIns="0" tIns="0" rIns="0" bIns="0" anchor="t" anchorCtr="0">
                <a:spAutoFit/>
              </a:bodyPr>
              <a:lstStyle/>
              <a:p>
                <a:pPr algn="l"/>
                <a:r>
                  <a:rPr lang="en-US" sz="900" b="1" spc="75" dirty="0">
                    <a:solidFill>
                      <a:schemeClr val="accent3"/>
                    </a:solidFill>
                    <a:latin typeface="+mn-lt"/>
                    <a:ea typeface="+mn-ea"/>
                    <a:cs typeface="+mn-cs"/>
                  </a:rPr>
                  <a:t>CITATION</a:t>
                </a:r>
              </a:p>
            </p:txBody>
          </p:sp>
          <p:sp>
            <p:nvSpPr>
              <p:cNvPr id="18" name="TextBox 18"/>
              <p:cNvSpPr txBox="1"/>
              <p:nvPr/>
            </p:nvSpPr>
            <p:spPr>
              <a:xfrm>
                <a:off x="3115818" y="2393632"/>
                <a:ext cx="991513"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Citeseer</a:t>
                </a:r>
              </a:p>
            </p:txBody>
          </p:sp>
          <p:sp>
            <p:nvSpPr>
              <p:cNvPr id="19" name="TextBox 19"/>
              <p:cNvSpPr txBox="1"/>
              <p:nvPr/>
            </p:nvSpPr>
            <p:spPr>
              <a:xfrm>
                <a:off x="3118866" y="2820352"/>
                <a:ext cx="118121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Citation network</a:t>
                </a:r>
              </a:p>
            </p:txBody>
          </p:sp>
          <p:sp>
            <p:nvSpPr>
              <p:cNvPr id="20" name="TextBox 20"/>
              <p:cNvSpPr txBox="1"/>
              <p:nvPr/>
            </p:nvSpPr>
            <p:spPr>
              <a:xfrm>
                <a:off x="3118866" y="3029902"/>
                <a:ext cx="75276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of papers.</a:t>
                </a:r>
              </a:p>
            </p:txBody>
          </p:sp>
          <p:sp>
            <p:nvSpPr>
              <p:cNvPr id="21" name="Rectangle 21"/>
              <p:cNvSpPr/>
              <p:nvPr/>
            </p:nvSpPr>
            <p:spPr>
              <a:xfrm>
                <a:off x="5086350" y="1943100"/>
                <a:ext cx="2000250" cy="1543050"/>
              </a:xfrm>
              <a:prstGeom prst="roundRect">
                <a:avLst>
                  <a:gd name="adj" fmla="val 7407"/>
                </a:avLst>
              </a:prstGeom>
              <a:solidFill>
                <a:schemeClr val="lt1"/>
              </a:solidFill>
              <a:ln w="14288">
                <a:solidFill>
                  <a:schemeClr val="accent4"/>
                </a:solidFill>
              </a:ln>
            </p:spPr>
          </p:sp>
          <p:sp>
            <p:nvSpPr>
              <p:cNvPr id="22" name="TextBox 22"/>
              <p:cNvSpPr txBox="1"/>
              <p:nvPr/>
            </p:nvSpPr>
            <p:spPr>
              <a:xfrm>
                <a:off x="5233988" y="2150745"/>
                <a:ext cx="635310" cy="176212"/>
              </a:xfrm>
              <a:prstGeom prst="rect">
                <a:avLst/>
              </a:prstGeom>
              <a:noFill/>
              <a:ln>
                <a:noFill/>
              </a:ln>
            </p:spPr>
            <p:txBody>
              <a:bodyPr wrap="none" lIns="0" tIns="0" rIns="0" bIns="0" anchor="t" anchorCtr="0">
                <a:spAutoFit/>
              </a:bodyPr>
              <a:lstStyle/>
              <a:p>
                <a:pPr algn="l"/>
                <a:r>
                  <a:rPr lang="en-US" sz="900" b="1" spc="75" dirty="0">
                    <a:solidFill>
                      <a:schemeClr val="accent3"/>
                    </a:solidFill>
                    <a:latin typeface="+mn-lt"/>
                    <a:ea typeface="+mn-ea"/>
                    <a:cs typeface="+mn-cs"/>
                  </a:rPr>
                  <a:t>CITATION</a:t>
                </a:r>
              </a:p>
            </p:txBody>
          </p:sp>
          <p:sp>
            <p:nvSpPr>
              <p:cNvPr id="23" name="TextBox 23"/>
              <p:cNvSpPr txBox="1"/>
              <p:nvPr/>
            </p:nvSpPr>
            <p:spPr>
              <a:xfrm>
                <a:off x="5230368" y="2393632"/>
                <a:ext cx="848468"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PubMed</a:t>
                </a:r>
              </a:p>
            </p:txBody>
          </p:sp>
          <p:sp>
            <p:nvSpPr>
              <p:cNvPr id="24" name="TextBox 24"/>
              <p:cNvSpPr txBox="1"/>
              <p:nvPr/>
            </p:nvSpPr>
            <p:spPr>
              <a:xfrm>
                <a:off x="5233416" y="2820352"/>
                <a:ext cx="71431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Biomedical</a:t>
                </a:r>
              </a:p>
            </p:txBody>
          </p:sp>
          <p:sp>
            <p:nvSpPr>
              <p:cNvPr id="25" name="TextBox 25"/>
              <p:cNvSpPr txBox="1"/>
              <p:nvPr/>
            </p:nvSpPr>
            <p:spPr>
              <a:xfrm>
                <a:off x="5233416" y="3029902"/>
                <a:ext cx="107080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citation graph.</a:t>
                </a:r>
              </a:p>
            </p:txBody>
          </p:sp>
          <p:sp>
            <p:nvSpPr>
              <p:cNvPr id="26" name="Rectangle 26"/>
              <p:cNvSpPr/>
              <p:nvPr/>
            </p:nvSpPr>
            <p:spPr>
              <a:xfrm>
                <a:off x="7200900" y="1943100"/>
                <a:ext cx="2000250" cy="1543050"/>
              </a:xfrm>
              <a:prstGeom prst="roundRect">
                <a:avLst>
                  <a:gd name="adj" fmla="val 7407"/>
                </a:avLst>
              </a:prstGeom>
              <a:solidFill>
                <a:schemeClr val="lt1"/>
              </a:solidFill>
              <a:ln w="14288">
                <a:solidFill>
                  <a:schemeClr val="accent4"/>
                </a:solidFill>
              </a:ln>
            </p:spPr>
          </p:sp>
          <p:sp>
            <p:nvSpPr>
              <p:cNvPr id="27" name="TextBox 27"/>
              <p:cNvSpPr txBox="1"/>
              <p:nvPr/>
            </p:nvSpPr>
            <p:spPr>
              <a:xfrm>
                <a:off x="7348538" y="2150745"/>
                <a:ext cx="499720" cy="176212"/>
              </a:xfrm>
              <a:prstGeom prst="rect">
                <a:avLst/>
              </a:prstGeom>
              <a:noFill/>
              <a:ln>
                <a:noFill/>
              </a:ln>
            </p:spPr>
            <p:txBody>
              <a:bodyPr wrap="none" lIns="0" tIns="0" rIns="0" bIns="0" anchor="t" anchorCtr="0">
                <a:spAutoFit/>
              </a:bodyPr>
              <a:lstStyle/>
              <a:p>
                <a:pPr algn="l"/>
                <a:r>
                  <a:rPr lang="en-US" sz="900" b="1" spc="75" dirty="0">
                    <a:solidFill>
                      <a:schemeClr val="accent2"/>
                    </a:solidFill>
                    <a:latin typeface="+mn-lt"/>
                    <a:ea typeface="+mn-ea"/>
                    <a:cs typeface="+mn-cs"/>
                  </a:rPr>
                  <a:t>SOCIAL</a:t>
                </a:r>
              </a:p>
            </p:txBody>
          </p:sp>
          <p:sp>
            <p:nvSpPr>
              <p:cNvPr id="28" name="TextBox 28"/>
              <p:cNvSpPr txBox="1"/>
              <p:nvPr/>
            </p:nvSpPr>
            <p:spPr>
              <a:xfrm>
                <a:off x="7344918" y="2393632"/>
                <a:ext cx="734824"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Reddit</a:t>
                </a:r>
              </a:p>
            </p:txBody>
          </p:sp>
          <p:sp>
            <p:nvSpPr>
              <p:cNvPr id="29" name="TextBox 29"/>
              <p:cNvSpPr txBox="1"/>
              <p:nvPr/>
            </p:nvSpPr>
            <p:spPr>
              <a:xfrm>
                <a:off x="7347966" y="2820352"/>
                <a:ext cx="84182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Large social</a:t>
                </a:r>
              </a:p>
            </p:txBody>
          </p:sp>
          <p:sp>
            <p:nvSpPr>
              <p:cNvPr id="30" name="TextBox 30"/>
              <p:cNvSpPr txBox="1"/>
              <p:nvPr/>
            </p:nvSpPr>
            <p:spPr>
              <a:xfrm>
                <a:off x="7347966" y="3029902"/>
                <a:ext cx="130403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interaction graph.</a:t>
                </a:r>
              </a:p>
            </p:txBody>
          </p:sp>
          <p:sp>
            <p:nvSpPr>
              <p:cNvPr id="31" name="Rectangle 31"/>
              <p:cNvSpPr/>
              <p:nvPr/>
            </p:nvSpPr>
            <p:spPr>
              <a:xfrm>
                <a:off x="9315450" y="1943100"/>
                <a:ext cx="2019300" cy="1543050"/>
              </a:xfrm>
              <a:prstGeom prst="roundRect">
                <a:avLst>
                  <a:gd name="adj" fmla="val 7407"/>
                </a:avLst>
              </a:prstGeom>
              <a:solidFill>
                <a:schemeClr val="lt1"/>
              </a:solidFill>
              <a:ln w="14288">
                <a:solidFill>
                  <a:schemeClr val="accent4"/>
                </a:solidFill>
              </a:ln>
            </p:spPr>
          </p:sp>
          <p:sp>
            <p:nvSpPr>
              <p:cNvPr id="32" name="TextBox 32"/>
              <p:cNvSpPr txBox="1"/>
              <p:nvPr/>
            </p:nvSpPr>
            <p:spPr>
              <a:xfrm>
                <a:off x="9463088" y="2150745"/>
                <a:ext cx="279532" cy="176212"/>
              </a:xfrm>
              <a:prstGeom prst="rect">
                <a:avLst/>
              </a:prstGeom>
              <a:noFill/>
              <a:ln>
                <a:noFill/>
              </a:ln>
            </p:spPr>
            <p:txBody>
              <a:bodyPr wrap="none" lIns="0" tIns="0" rIns="0" bIns="0" anchor="t" anchorCtr="0">
                <a:spAutoFit/>
              </a:bodyPr>
              <a:lstStyle/>
              <a:p>
                <a:pPr algn="l"/>
                <a:r>
                  <a:rPr lang="en-US" sz="900" b="1" spc="75" dirty="0">
                    <a:solidFill>
                      <a:schemeClr val="accent2"/>
                    </a:solidFill>
                    <a:latin typeface="+mn-lt"/>
                    <a:ea typeface="+mn-ea"/>
                    <a:cs typeface="+mn-cs"/>
                  </a:rPr>
                  <a:t>OGB</a:t>
                </a:r>
              </a:p>
            </p:txBody>
          </p:sp>
          <p:sp>
            <p:nvSpPr>
              <p:cNvPr id="33" name="TextBox 33"/>
              <p:cNvSpPr txBox="1"/>
              <p:nvPr/>
            </p:nvSpPr>
            <p:spPr>
              <a:xfrm>
                <a:off x="9459468" y="2393632"/>
                <a:ext cx="1241217"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ogbn-arxiv</a:t>
                </a:r>
              </a:p>
            </p:txBody>
          </p:sp>
          <p:sp>
            <p:nvSpPr>
              <p:cNvPr id="34" name="TextBox 34"/>
              <p:cNvSpPr txBox="1"/>
              <p:nvPr/>
            </p:nvSpPr>
            <p:spPr>
              <a:xfrm>
                <a:off x="9462516" y="2820352"/>
                <a:ext cx="79072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Open Graph</a:t>
                </a:r>
              </a:p>
            </p:txBody>
          </p:sp>
          <p:sp>
            <p:nvSpPr>
              <p:cNvPr id="35" name="TextBox 35"/>
              <p:cNvSpPr txBox="1"/>
              <p:nvPr/>
            </p:nvSpPr>
            <p:spPr>
              <a:xfrm>
                <a:off x="9462516" y="3029902"/>
                <a:ext cx="125249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Benchmark graph.</a:t>
                </a:r>
              </a:p>
            </p:txBody>
          </p:sp>
        </p:grpSp>
      </p:grpSp>
      <p:grpSp>
        <p:nvGrpSpPr>
          <p:cNvPr id="47" name="Group 47"/>
          <p:cNvGrpSpPr/>
          <p:nvPr/>
        </p:nvGrpSpPr>
        <p:grpSpPr>
          <a:xfrm>
            <a:off x="609600" y="3867150"/>
            <a:ext cx="6667500" cy="2305050"/>
            <a:chOff x="609600" y="3867150"/>
            <a:chExt cx="6667500" cy="2305050"/>
          </a:xfrm>
        </p:grpSpPr>
        <p:sp>
          <p:nvSpPr>
            <p:cNvPr id="38" name="Rectangle 38"/>
            <p:cNvSpPr/>
            <p:nvPr/>
          </p:nvSpPr>
          <p:spPr>
            <a:xfrm>
              <a:off x="609600" y="3867150"/>
              <a:ext cx="6667500" cy="2305050"/>
            </a:xfrm>
            <a:prstGeom prst="roundRect">
              <a:avLst>
                <a:gd name="adj" fmla="val 5785"/>
              </a:avLst>
            </a:prstGeom>
            <a:solidFill>
              <a:schemeClr val="accent1"/>
            </a:solidFill>
            <a:ln>
              <a:noFill/>
            </a:ln>
          </p:spPr>
        </p:sp>
        <p:sp>
          <p:nvSpPr>
            <p:cNvPr id="39" name="Rectangle 39"/>
            <p:cNvSpPr/>
            <p:nvPr/>
          </p:nvSpPr>
          <p:spPr>
            <a:xfrm>
              <a:off x="609600" y="3867150"/>
              <a:ext cx="76200" cy="2305050"/>
            </a:xfrm>
            <a:prstGeom prst="roundRect">
              <a:avLst>
                <a:gd name="adj" fmla="val 50000"/>
              </a:avLst>
            </a:prstGeom>
            <a:solidFill>
              <a:schemeClr val="accent3"/>
            </a:solidFill>
            <a:ln>
              <a:noFill/>
            </a:ln>
          </p:spPr>
        </p:sp>
        <p:sp>
          <p:nvSpPr>
            <p:cNvPr id="40" name="TextBox 40"/>
            <p:cNvSpPr txBox="1"/>
            <p:nvPr/>
          </p:nvSpPr>
          <p:spPr>
            <a:xfrm>
              <a:off x="871347" y="4085749"/>
              <a:ext cx="1493910" cy="190690"/>
            </a:xfrm>
            <a:prstGeom prst="rect">
              <a:avLst/>
            </a:prstGeom>
            <a:noFill/>
            <a:ln>
              <a:noFill/>
            </a:ln>
          </p:spPr>
          <p:txBody>
            <a:bodyPr wrap="none" lIns="0" tIns="0" rIns="0" bIns="0" anchor="t" anchorCtr="0">
              <a:spAutoFit/>
            </a:bodyPr>
            <a:lstStyle/>
            <a:p>
              <a:pPr algn="l"/>
              <a:r>
                <a:rPr lang="en-US" sz="980" b="1" spc="75" dirty="0">
                  <a:solidFill>
                    <a:srgbClr val="7FD1C9"/>
                  </a:solidFill>
                  <a:latin typeface="+mn-lt"/>
                  <a:ea typeface="+mn-ea"/>
                  <a:cs typeface="+mn-cs"/>
                </a:rPr>
                <a:t>THE FAIR YARDSTICK</a:t>
              </a:r>
            </a:p>
          </p:txBody>
        </p:sp>
        <p:sp>
          <p:nvSpPr>
            <p:cNvPr id="41" name="TextBox 41"/>
            <p:cNvSpPr txBox="1"/>
            <p:nvPr/>
          </p:nvSpPr>
          <p:spPr>
            <a:xfrm>
              <a:off x="867918" y="4336732"/>
              <a:ext cx="3453319"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Budget = true annotation cost</a:t>
              </a:r>
            </a:p>
          </p:txBody>
        </p:sp>
        <p:sp>
          <p:nvSpPr>
            <p:cNvPr id="42" name="TextBox 42"/>
            <p:cNvSpPr txBox="1"/>
            <p:nvPr/>
          </p:nvSpPr>
          <p:spPr>
            <a:xfrm>
              <a:off x="870204" y="4690110"/>
              <a:ext cx="3658053" cy="234696"/>
            </a:xfrm>
            <a:prstGeom prst="rect">
              <a:avLst/>
            </a:prstGeom>
            <a:noFill/>
            <a:ln>
              <a:noFill/>
            </a:ln>
          </p:spPr>
          <p:txBody>
            <a:bodyPr wrap="none" lIns="0" tIns="0" rIns="0" bIns="0" anchor="t" anchorCtr="0">
              <a:spAutoFit/>
            </a:bodyPr>
            <a:lstStyle/>
            <a:p>
              <a:pPr algn="l"/>
              <a:r>
                <a:rPr lang="en-US" sz="1200" dirty="0">
                  <a:solidFill>
                    <a:srgbClr val="CBD8E6"/>
                  </a:solidFill>
                  <a:latin typeface="+mn-lt"/>
                  <a:ea typeface="+mn-ea"/>
                  <a:cs typeface="+mn-cs"/>
                </a:rPr>
                <a:t>Not a simple count of labels. Because an exact</a:t>
              </a:r>
            </a:p>
          </p:txBody>
        </p:sp>
        <p:sp>
          <p:nvSpPr>
            <p:cNvPr id="43" name="TextBox 43"/>
            <p:cNvSpPr txBox="1"/>
            <p:nvPr/>
          </p:nvSpPr>
          <p:spPr>
            <a:xfrm>
              <a:off x="870204" y="4899660"/>
              <a:ext cx="3970020" cy="234696"/>
            </a:xfrm>
            <a:prstGeom prst="rect">
              <a:avLst/>
            </a:prstGeom>
            <a:noFill/>
            <a:ln>
              <a:noFill/>
            </a:ln>
          </p:spPr>
          <p:txBody>
            <a:bodyPr wrap="none" lIns="0" tIns="0" rIns="0" bIns="0" anchor="t" anchorCtr="0">
              <a:spAutoFit/>
            </a:bodyPr>
            <a:lstStyle/>
            <a:p>
              <a:pPr algn="l"/>
              <a:r>
                <a:rPr lang="en-US" sz="1200" dirty="0">
                  <a:solidFill>
                    <a:srgbClr val="CBD8E6"/>
                  </a:solidFill>
                  <a:latin typeface="+mn-lt"/>
                  <a:ea typeface="+mn-ea"/>
                  <a:cs typeface="+mn-cs"/>
                </a:rPr>
                <a:t>multi-class query is far pricier than a binary one,</a:t>
              </a:r>
            </a:p>
          </p:txBody>
        </p:sp>
        <p:sp>
          <p:nvSpPr>
            <p:cNvPr id="44" name="TextBox 44"/>
            <p:cNvSpPr txBox="1"/>
            <p:nvPr/>
          </p:nvSpPr>
          <p:spPr>
            <a:xfrm>
              <a:off x="870204" y="5109210"/>
              <a:ext cx="3436925" cy="234696"/>
            </a:xfrm>
            <a:prstGeom prst="rect">
              <a:avLst/>
            </a:prstGeom>
            <a:noFill/>
            <a:ln>
              <a:noFill/>
            </a:ln>
          </p:spPr>
          <p:txBody>
            <a:bodyPr wrap="none" lIns="0" tIns="0" rIns="0" bIns="0" anchor="t" anchorCtr="0">
              <a:spAutoFit/>
            </a:bodyPr>
            <a:lstStyle/>
            <a:p>
              <a:pPr algn="l"/>
              <a:r>
                <a:rPr lang="en-US" sz="1200" dirty="0">
                  <a:solidFill>
                    <a:srgbClr val="CBD8E6"/>
                  </a:solidFill>
                  <a:latin typeface="+mn-lt"/>
                  <a:ea typeface="+mn-ea"/>
                  <a:cs typeface="+mn-cs"/>
                </a:rPr>
                <a:t>methods are compared at equal query cost.</a:t>
              </a:r>
            </a:p>
          </p:txBody>
        </p:sp>
        <p:sp>
          <p:nvSpPr>
            <p:cNvPr id="45" name="Rectangle 45"/>
            <p:cNvSpPr/>
            <p:nvPr/>
          </p:nvSpPr>
          <p:spPr>
            <a:xfrm>
              <a:off x="876300" y="5448300"/>
              <a:ext cx="6096000" cy="495300"/>
            </a:xfrm>
            <a:prstGeom prst="roundRect">
              <a:avLst>
                <a:gd name="adj" fmla="val 19231"/>
              </a:avLst>
            </a:prstGeom>
            <a:solidFill>
              <a:srgbClr val="0E2230"/>
            </a:solidFill>
            <a:ln w="9525">
              <a:solidFill>
                <a:srgbClr val="28485A"/>
              </a:solidFill>
            </a:ln>
          </p:spPr>
        </p:sp>
        <p:sp>
          <p:nvSpPr>
            <p:cNvPr id="46" name="TextBox 46"/>
            <p:cNvSpPr txBox="1"/>
            <p:nvPr/>
          </p:nvSpPr>
          <p:spPr>
            <a:xfrm>
              <a:off x="1060704" y="5623560"/>
              <a:ext cx="4319248" cy="234696"/>
            </a:xfrm>
            <a:prstGeom prst="rect">
              <a:avLst/>
            </a:prstGeom>
            <a:noFill/>
            <a:ln>
              <a:noFill/>
            </a:ln>
          </p:spPr>
          <p:txBody>
            <a:bodyPr wrap="none" lIns="0" tIns="0" rIns="0" bIns="0" anchor="t" anchorCtr="0">
              <a:spAutoFit/>
            </a:bodyPr>
            <a:lstStyle/>
            <a:p>
              <a:pPr algn="l"/>
              <a:r>
                <a:rPr lang="en-US" sz="1200" b="1" dirty="0">
                  <a:solidFill>
                    <a:srgbClr val="F6A87F"/>
                  </a:solidFill>
                  <a:latin typeface="+mn-lt"/>
                  <a:ea typeface="+mn-ea"/>
                  <a:cs typeface="+mn-cs"/>
                </a:rPr>
                <a:t>Exact query ≈ (c − 1) × the cost of one binary query</a:t>
              </a:r>
            </a:p>
          </p:txBody>
        </p:sp>
      </p:grpSp>
      <p:grpSp>
        <p:nvGrpSpPr>
          <p:cNvPr id="55" name="Group 55"/>
          <p:cNvGrpSpPr/>
          <p:nvPr/>
        </p:nvGrpSpPr>
        <p:grpSpPr>
          <a:xfrm>
            <a:off x="7410450" y="3867150"/>
            <a:ext cx="4171950" cy="2305050"/>
            <a:chOff x="7410450" y="3867150"/>
            <a:chExt cx="4171950" cy="2305050"/>
          </a:xfrm>
        </p:grpSpPr>
        <p:sp>
          <p:nvSpPr>
            <p:cNvPr id="48" name="Rectangle 48"/>
            <p:cNvSpPr/>
            <p:nvPr/>
          </p:nvSpPr>
          <p:spPr>
            <a:xfrm>
              <a:off x="7410450" y="3867150"/>
              <a:ext cx="4171950" cy="2305050"/>
            </a:xfrm>
            <a:prstGeom prst="roundRect">
              <a:avLst>
                <a:gd name="adj" fmla="val 5785"/>
              </a:avLst>
            </a:prstGeom>
            <a:solidFill>
              <a:schemeClr val="accent6"/>
            </a:solidFill>
            <a:ln w="14288">
              <a:solidFill>
                <a:schemeClr val="accent4"/>
              </a:solidFill>
            </a:ln>
          </p:spPr>
        </p:sp>
        <p:sp>
          <p:nvSpPr>
            <p:cNvPr id="49" name="Rectangle 49"/>
            <p:cNvSpPr/>
            <p:nvPr/>
          </p:nvSpPr>
          <p:spPr>
            <a:xfrm>
              <a:off x="7410450" y="3867150"/>
              <a:ext cx="66675" cy="2305050"/>
            </a:xfrm>
            <a:prstGeom prst="roundRect">
              <a:avLst>
                <a:gd name="adj" fmla="val 42857"/>
              </a:avLst>
            </a:prstGeom>
            <a:solidFill>
              <a:schemeClr val="accent2"/>
            </a:solidFill>
            <a:ln>
              <a:noFill/>
            </a:ln>
          </p:spPr>
        </p:sp>
        <p:sp>
          <p:nvSpPr>
            <p:cNvPr id="50" name="TextBox 50"/>
            <p:cNvSpPr txBox="1"/>
            <p:nvPr/>
          </p:nvSpPr>
          <p:spPr>
            <a:xfrm>
              <a:off x="7653147" y="4085749"/>
              <a:ext cx="1056671"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BUDGET RANGE</a:t>
              </a:r>
            </a:p>
          </p:txBody>
        </p:sp>
        <p:sp>
          <p:nvSpPr>
            <p:cNvPr id="51" name="TextBox 51"/>
            <p:cNvSpPr txBox="1"/>
            <p:nvPr/>
          </p:nvSpPr>
          <p:spPr>
            <a:xfrm>
              <a:off x="8754365" y="4412932"/>
              <a:ext cx="1484121" cy="904875"/>
            </a:xfrm>
            <a:prstGeom prst="rect">
              <a:avLst/>
            </a:prstGeom>
            <a:noFill/>
            <a:ln>
              <a:noFill/>
            </a:ln>
          </p:spPr>
          <p:txBody>
            <a:bodyPr wrap="none" lIns="0" tIns="0" rIns="0" bIns="0" anchor="t" anchorCtr="0">
              <a:spAutoFit/>
            </a:bodyPr>
            <a:lstStyle/>
            <a:p>
              <a:pPr algn="ctr"/>
              <a:r>
                <a:rPr lang="en-US" sz="4650" b="1" dirty="0">
                  <a:solidFill>
                    <a:schemeClr val="accent1"/>
                  </a:solidFill>
                  <a:latin typeface="+mn-lt"/>
                  <a:ea typeface="+mn-ea"/>
                  <a:cs typeface="+mn-cs"/>
                </a:rPr>
                <a:t>2–20</a:t>
              </a:r>
            </a:p>
          </p:txBody>
        </p:sp>
        <p:sp>
          <p:nvSpPr>
            <p:cNvPr id="52" name="TextBox 52"/>
            <p:cNvSpPr txBox="1"/>
            <p:nvPr/>
          </p:nvSpPr>
          <p:spPr>
            <a:xfrm>
              <a:off x="8769207" y="5112068"/>
              <a:ext cx="1454436" cy="264033"/>
            </a:xfrm>
            <a:prstGeom prst="rect">
              <a:avLst/>
            </a:prstGeom>
            <a:noFill/>
            <a:ln>
              <a:noFill/>
            </a:ln>
          </p:spPr>
          <p:txBody>
            <a:bodyPr wrap="none" lIns="0" tIns="0" rIns="0" bIns="0" anchor="t" anchorCtr="0">
              <a:spAutoFit/>
            </a:bodyPr>
            <a:lstStyle/>
            <a:p>
              <a:pPr algn="ctr"/>
              <a:r>
                <a:rPr lang="en-US" sz="1350" b="1" dirty="0">
                  <a:solidFill>
                    <a:schemeClr val="accent3"/>
                  </a:solidFill>
                  <a:latin typeface="+mn-lt"/>
                  <a:ea typeface="+mn-ea"/>
                  <a:cs typeface="+mn-cs"/>
                </a:rPr>
                <a:t>labels per class</a:t>
              </a:r>
            </a:p>
          </p:txBody>
        </p:sp>
        <p:sp>
          <p:nvSpPr>
            <p:cNvPr id="53" name="TextBox 53"/>
            <p:cNvSpPr txBox="1"/>
            <p:nvPr/>
          </p:nvSpPr>
          <p:spPr>
            <a:xfrm>
              <a:off x="8078395" y="5517356"/>
              <a:ext cx="2836059"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Budgets are swept from small to large</a:t>
              </a:r>
            </a:p>
          </p:txBody>
        </p:sp>
        <p:sp>
          <p:nvSpPr>
            <p:cNvPr id="54" name="TextBox 54"/>
            <p:cNvSpPr txBox="1"/>
            <p:nvPr/>
          </p:nvSpPr>
          <p:spPr>
            <a:xfrm>
              <a:off x="8322208" y="5726906"/>
              <a:ext cx="2348433"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to trace accuracy versus cost.</a:t>
              </a:r>
            </a:p>
          </p:txBody>
        </p:sp>
      </p:grpSp>
      <p:sp>
        <p:nvSpPr>
          <p:cNvPr id="56" name="cue_s06_c1_igp_evaluated_five_graph_benchmarks" title="cue_s06_c1_igp_evaluated_five_graph_benchmarks" descr="cue_s06_c1_igp_evaluated_five_graph_benchmarks IGP is evaluated on five graph benchmarks: the citation networks Cora, Citeseer, and PubMed, the large social network Reddit, and the Open Graph Benchmark dataset ogbn-arxiv."/>
          <p:cNvSpPr/>
          <p:nvPr/>
        </p:nvSpPr>
        <p:spPr>
          <a:xfrm>
            <a:off x="609600" y="1428521"/>
            <a:ext cx="10972800" cy="22857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6_c2_crucially_budget_defined_true_annota" title="cue_s06_c2_crucially_budget_defined_true_annota" descr="cue_s06_c2_crucially_budget_defined_true_annota Crucially, the budget is defined as true annotation cost, not a count of labels, since an exact query is far pricier than a binary one."/>
          <p:cNvSpPr/>
          <p:nvPr/>
        </p:nvSpPr>
        <p:spPr>
          <a:xfrm>
            <a:off x="609600" y="3867226"/>
            <a:ext cx="6667804" cy="23049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6_c3_budgets_vary_two_twenty_labels" title="cue_s06_c3_budgets_vary_two_twenty_labels" descr="cue_s06_c3_budgets_vary_two_twenty_labels Budgets vary from two to twenty labels per class."/>
          <p:cNvSpPr/>
          <p:nvPr/>
        </p:nvSpPr>
        <p:spPr>
          <a:xfrm>
            <a:off x="7410297" y="3867226"/>
            <a:ext cx="4172102" cy="23049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76200"/>
            </a:xfrm>
            <a:prstGeom prst="rect">
              <a:avLst/>
            </a:prstGeom>
            <a:solidFill>
              <a:schemeClr val="accent3"/>
            </a:solidFill>
            <a:ln>
              <a:noFill/>
            </a:ln>
          </p:spPr>
        </p:sp>
      </p:grpSp>
      <p:grpSp>
        <p:nvGrpSpPr>
          <p:cNvPr id="7" name="Group 7"/>
          <p:cNvGrpSpPr/>
          <p:nvPr/>
        </p:nvGrpSpPr>
        <p:grpSpPr>
          <a:xfrm>
            <a:off x="596646" y="564356"/>
            <a:ext cx="5931098" cy="764001"/>
            <a:chOff x="596646" y="564356"/>
            <a:chExt cx="5931098" cy="764001"/>
          </a:xfrm>
        </p:grpSpPr>
        <p:sp>
          <p:nvSpPr>
            <p:cNvPr id="5" name="TextBox 5"/>
            <p:cNvSpPr txBox="1"/>
            <p:nvPr/>
          </p:nvSpPr>
          <p:spPr>
            <a:xfrm>
              <a:off x="603885" y="564356"/>
              <a:ext cx="1564691"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06 · KEY RESULT</a:t>
              </a:r>
            </a:p>
          </p:txBody>
        </p:sp>
        <p:sp>
          <p:nvSpPr>
            <p:cNvPr id="6" name="TextBox 6"/>
            <p:cNvSpPr txBox="1"/>
            <p:nvPr/>
          </p:nvSpPr>
          <p:spPr>
            <a:xfrm>
              <a:off x="596646" y="829628"/>
              <a:ext cx="5931098"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Highest accuracy at every budget</a:t>
              </a:r>
            </a:p>
          </p:txBody>
        </p:sp>
      </p:grpSp>
      <p:grpSp>
        <p:nvGrpSpPr>
          <p:cNvPr id="13" name="Group 13"/>
          <p:cNvGrpSpPr/>
          <p:nvPr/>
        </p:nvGrpSpPr>
        <p:grpSpPr>
          <a:xfrm>
            <a:off x="609600" y="1428750"/>
            <a:ext cx="5943600" cy="4743450"/>
            <a:chOff x="609600" y="1428750"/>
            <a:chExt cx="5943600" cy="4743450"/>
          </a:xfrm>
        </p:grpSpPr>
        <p:sp>
          <p:nvSpPr>
            <p:cNvPr id="8" name="Rectangle 8"/>
            <p:cNvSpPr/>
            <p:nvPr/>
          </p:nvSpPr>
          <p:spPr>
            <a:xfrm>
              <a:off x="609600" y="1428750"/>
              <a:ext cx="5943600" cy="4743450"/>
            </a:xfrm>
            <a:prstGeom prst="roundRect">
              <a:avLst>
                <a:gd name="adj" fmla="val 2811"/>
              </a:avLst>
            </a:prstGeom>
            <a:solidFill>
              <a:schemeClr val="lt1"/>
            </a:solidFill>
            <a:ln w="14288">
              <a:solidFill>
                <a:schemeClr val="accent4"/>
              </a:solidFill>
            </a:ln>
          </p:spPr>
        </p:sp>
        <p:sp>
          <p:nvSpPr>
            <p:cNvPr id="9" name="Rectangle 9"/>
            <p:cNvSpPr/>
            <p:nvPr/>
          </p:nvSpPr>
          <p:spPr>
            <a:xfrm>
              <a:off x="609600" y="1428750"/>
              <a:ext cx="66675" cy="4743450"/>
            </a:xfrm>
            <a:prstGeom prst="roundRect">
              <a:avLst>
                <a:gd name="adj" fmla="val 42857"/>
              </a:avLst>
            </a:prstGeom>
            <a:solidFill>
              <a:schemeClr val="accent3"/>
            </a:solidFill>
            <a:ln>
              <a:noFill/>
            </a:ln>
          </p:spPr>
        </p:sp>
        <p:sp>
          <p:nvSpPr>
            <p:cNvPr id="10" name="TextBox 10"/>
            <p:cNvSpPr txBox="1"/>
            <p:nvPr/>
          </p:nvSpPr>
          <p:spPr>
            <a:xfrm>
              <a:off x="852297" y="1647349"/>
              <a:ext cx="2976762" cy="190690"/>
            </a:xfrm>
            <a:prstGeom prst="rect">
              <a:avLst/>
            </a:prstGeom>
            <a:noFill/>
            <a:ln>
              <a:noFill/>
            </a:ln>
          </p:spPr>
          <p:txBody>
            <a:bodyPr wrap="none" lIns="0" tIns="0" rIns="0" bIns="0" anchor="t" anchorCtr="0">
              <a:spAutoFit/>
            </a:bodyPr>
            <a:lstStyle/>
            <a:p>
              <a:pPr algn="l"/>
              <a:r>
                <a:rPr lang="en-US" sz="980" b="1" spc="75" dirty="0">
                  <a:solidFill>
                    <a:schemeClr val="accent3"/>
                  </a:solidFill>
                  <a:latin typeface="+mn-lt"/>
                  <a:ea typeface="+mn-ea"/>
                  <a:cs typeface="+mn-cs"/>
                </a:rPr>
                <a:t>ACCURACY vs LABELING BUDGET · FIG. 4</a:t>
              </a:r>
            </a:p>
          </p:txBody>
        </p:sp>
        <p:pic>
          <p:nvPicPr>
            <p:cNvPr id="11" name="Image 11"/>
            <p:cNvPicPr>
              <a:picLocks noChangeAspect="1"/>
            </p:cNvPicPr>
            <p:nvPr/>
          </p:nvPicPr>
          <p:blipFill>
            <a:blip r:embed="rId2"/>
            <a:stretch>
              <a:fillRect/>
            </a:stretch>
          </p:blipFill>
          <p:spPr>
            <a:xfrm>
              <a:off x="933450" y="2135981"/>
              <a:ext cx="5295900" cy="3309938"/>
            </a:xfrm>
            <a:prstGeom prst="rect">
              <a:avLst/>
            </a:prstGeom>
          </p:spPr>
        </p:pic>
        <p:sp>
          <p:nvSpPr>
            <p:cNvPr id="12" name="TextBox 12"/>
            <p:cNvSpPr txBox="1"/>
            <p:nvPr/>
          </p:nvSpPr>
          <p:spPr>
            <a:xfrm>
              <a:off x="1584601" y="5822156"/>
              <a:ext cx="3993599" cy="220028"/>
            </a:xfrm>
            <a:prstGeom prst="rect">
              <a:avLst/>
            </a:prstGeom>
            <a:noFill/>
            <a:ln>
              <a:noFill/>
            </a:ln>
          </p:spPr>
          <p:txBody>
            <a:bodyPr wrap="none" lIns="0" tIns="0" rIns="0" bIns="0" anchor="t" anchorCtr="0">
              <a:spAutoFit/>
            </a:bodyPr>
            <a:lstStyle/>
            <a:p>
              <a:pPr algn="ctr"/>
              <a:r>
                <a:rPr lang="en-US" sz="1120" b="1" dirty="0">
                  <a:solidFill>
                    <a:schemeClr val="dk2"/>
                  </a:solidFill>
                  <a:latin typeface="+mn-lt"/>
                  <a:ea typeface="+mn-ea"/>
                  <a:cs typeface="+mn-cs"/>
                </a:rPr>
                <a:t>IGP (top curve) leads across every labeling budget.</a:t>
              </a:r>
            </a:p>
          </p:txBody>
        </p:sp>
      </p:grpSp>
      <p:grpSp>
        <p:nvGrpSpPr>
          <p:cNvPr id="30" name="Group 30"/>
          <p:cNvGrpSpPr/>
          <p:nvPr/>
        </p:nvGrpSpPr>
        <p:grpSpPr>
          <a:xfrm>
            <a:off x="6781800" y="1428750"/>
            <a:ext cx="4800600" cy="3222784"/>
            <a:chOff x="6781800" y="1428750"/>
            <a:chExt cx="4800600" cy="3222784"/>
          </a:xfrm>
        </p:grpSpPr>
        <p:sp>
          <p:nvSpPr>
            <p:cNvPr id="14" name="Rectangle 14"/>
            <p:cNvSpPr/>
            <p:nvPr/>
          </p:nvSpPr>
          <p:spPr>
            <a:xfrm>
              <a:off x="6781800" y="1428750"/>
              <a:ext cx="4800600" cy="3200400"/>
            </a:xfrm>
            <a:prstGeom prst="roundRect">
              <a:avLst>
                <a:gd name="adj" fmla="val 4167"/>
              </a:avLst>
            </a:prstGeom>
            <a:solidFill>
              <a:schemeClr val="lt2"/>
            </a:solidFill>
            <a:ln w="14288">
              <a:solidFill>
                <a:schemeClr val="accent4"/>
              </a:solidFill>
            </a:ln>
          </p:spPr>
        </p:sp>
        <p:sp>
          <p:nvSpPr>
            <p:cNvPr id="15" name="Rectangle 15"/>
            <p:cNvSpPr/>
            <p:nvPr/>
          </p:nvSpPr>
          <p:spPr>
            <a:xfrm>
              <a:off x="6781800" y="1428750"/>
              <a:ext cx="66675" cy="3200400"/>
            </a:xfrm>
            <a:prstGeom prst="roundRect">
              <a:avLst>
                <a:gd name="adj" fmla="val 42857"/>
              </a:avLst>
            </a:prstGeom>
            <a:solidFill>
              <a:schemeClr val="accent2"/>
            </a:solidFill>
            <a:ln>
              <a:noFill/>
            </a:ln>
          </p:spPr>
        </p:sp>
        <p:sp>
          <p:nvSpPr>
            <p:cNvPr id="16" name="TextBox 16"/>
            <p:cNvSpPr txBox="1"/>
            <p:nvPr/>
          </p:nvSpPr>
          <p:spPr>
            <a:xfrm>
              <a:off x="7024497" y="1647349"/>
              <a:ext cx="1913163"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20 LABELS / CLASS · GCN</a:t>
              </a:r>
            </a:p>
          </p:txBody>
        </p:sp>
        <p:grpSp>
          <p:nvGrpSpPr>
            <p:cNvPr id="26" name="Group 26"/>
            <p:cNvGrpSpPr/>
            <p:nvPr/>
          </p:nvGrpSpPr>
          <p:grpSpPr>
            <a:xfrm>
              <a:off x="7029450" y="1905000"/>
              <a:ext cx="4305300" cy="1866900"/>
              <a:chOff x="7029450" y="1905000"/>
              <a:chExt cx="4305300" cy="1866900"/>
            </a:xfrm>
          </p:grpSpPr>
          <p:sp>
            <p:nvSpPr>
              <p:cNvPr id="17" name="Rectangle 17"/>
              <p:cNvSpPr/>
              <p:nvPr/>
            </p:nvSpPr>
            <p:spPr>
              <a:xfrm>
                <a:off x="7029450" y="1905000"/>
                <a:ext cx="4305300" cy="571500"/>
              </a:xfrm>
              <a:prstGeom prst="roundRect">
                <a:avLst>
                  <a:gd name="adj" fmla="val 16667"/>
                </a:avLst>
              </a:prstGeom>
              <a:solidFill>
                <a:schemeClr val="lt1"/>
              </a:solidFill>
              <a:ln w="9525">
                <a:solidFill>
                  <a:schemeClr val="accent4"/>
                </a:solidFill>
              </a:ln>
            </p:spPr>
          </p:sp>
          <p:sp>
            <p:nvSpPr>
              <p:cNvPr id="18" name="TextBox 18"/>
              <p:cNvSpPr txBox="1"/>
              <p:nvPr/>
            </p:nvSpPr>
            <p:spPr>
              <a:xfrm>
                <a:off x="7194042" y="2121218"/>
                <a:ext cx="439469"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Cora</a:t>
                </a:r>
              </a:p>
            </p:txBody>
          </p:sp>
          <p:sp>
            <p:nvSpPr>
              <p:cNvPr id="19" name="TextBox 19"/>
              <p:cNvSpPr txBox="1"/>
              <p:nvPr/>
            </p:nvSpPr>
            <p:spPr>
              <a:xfrm>
                <a:off x="10340272" y="2056448"/>
                <a:ext cx="832934" cy="381381"/>
              </a:xfrm>
              <a:prstGeom prst="rect">
                <a:avLst/>
              </a:prstGeom>
              <a:noFill/>
              <a:ln>
                <a:noFill/>
              </a:ln>
            </p:spPr>
            <p:txBody>
              <a:bodyPr wrap="none" lIns="0" tIns="0" rIns="0" bIns="0" anchor="t" anchorCtr="0">
                <a:spAutoFit/>
              </a:bodyPr>
              <a:lstStyle/>
              <a:p>
                <a:pPr algn="r"/>
                <a:r>
                  <a:rPr lang="en-US" sz="1950" b="1" dirty="0">
                    <a:solidFill>
                      <a:schemeClr val="accent3"/>
                    </a:solidFill>
                    <a:latin typeface="+mn-lt"/>
                    <a:ea typeface="+mn-ea"/>
                    <a:cs typeface="+mn-cs"/>
                  </a:rPr>
                  <a:t>86.4%</a:t>
                </a:r>
              </a:p>
            </p:txBody>
          </p:sp>
          <p:sp>
            <p:nvSpPr>
              <p:cNvPr id="20" name="Rectangle 20"/>
              <p:cNvSpPr/>
              <p:nvPr/>
            </p:nvSpPr>
            <p:spPr>
              <a:xfrm>
                <a:off x="7029450" y="2552700"/>
                <a:ext cx="4305300" cy="571500"/>
              </a:xfrm>
              <a:prstGeom prst="roundRect">
                <a:avLst>
                  <a:gd name="adj" fmla="val 16667"/>
                </a:avLst>
              </a:prstGeom>
              <a:solidFill>
                <a:schemeClr val="lt1"/>
              </a:solidFill>
              <a:ln w="9525">
                <a:solidFill>
                  <a:schemeClr val="accent4"/>
                </a:solidFill>
              </a:ln>
            </p:spPr>
          </p:sp>
          <p:sp>
            <p:nvSpPr>
              <p:cNvPr id="21" name="TextBox 21"/>
              <p:cNvSpPr txBox="1"/>
              <p:nvPr/>
            </p:nvSpPr>
            <p:spPr>
              <a:xfrm>
                <a:off x="7194042" y="2768918"/>
                <a:ext cx="811238"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Citeseer</a:t>
                </a:r>
              </a:p>
            </p:txBody>
          </p:sp>
          <p:sp>
            <p:nvSpPr>
              <p:cNvPr id="22" name="TextBox 22"/>
              <p:cNvSpPr txBox="1"/>
              <p:nvPr/>
            </p:nvSpPr>
            <p:spPr>
              <a:xfrm>
                <a:off x="10340272" y="2704148"/>
                <a:ext cx="832934" cy="381381"/>
              </a:xfrm>
              <a:prstGeom prst="rect">
                <a:avLst/>
              </a:prstGeom>
              <a:noFill/>
              <a:ln>
                <a:noFill/>
              </a:ln>
            </p:spPr>
            <p:txBody>
              <a:bodyPr wrap="none" lIns="0" tIns="0" rIns="0" bIns="0" anchor="t" anchorCtr="0">
                <a:spAutoFit/>
              </a:bodyPr>
              <a:lstStyle/>
              <a:p>
                <a:pPr algn="r"/>
                <a:r>
                  <a:rPr lang="en-US" sz="1950" b="1" dirty="0">
                    <a:solidFill>
                      <a:schemeClr val="accent3"/>
                    </a:solidFill>
                    <a:latin typeface="+mn-lt"/>
                    <a:ea typeface="+mn-ea"/>
                    <a:cs typeface="+mn-cs"/>
                  </a:rPr>
                  <a:t>75.8%</a:t>
                </a:r>
              </a:p>
            </p:txBody>
          </p:sp>
          <p:sp>
            <p:nvSpPr>
              <p:cNvPr id="23" name="Rectangle 23"/>
              <p:cNvSpPr/>
              <p:nvPr/>
            </p:nvSpPr>
            <p:spPr>
              <a:xfrm>
                <a:off x="7029450" y="3200400"/>
                <a:ext cx="4305300" cy="571500"/>
              </a:xfrm>
              <a:prstGeom prst="roundRect">
                <a:avLst>
                  <a:gd name="adj" fmla="val 16667"/>
                </a:avLst>
              </a:prstGeom>
              <a:solidFill>
                <a:schemeClr val="lt1"/>
              </a:solidFill>
              <a:ln w="9525">
                <a:solidFill>
                  <a:schemeClr val="accent4"/>
                </a:solidFill>
              </a:ln>
            </p:spPr>
          </p:sp>
          <p:sp>
            <p:nvSpPr>
              <p:cNvPr id="24" name="TextBox 24"/>
              <p:cNvSpPr txBox="1"/>
              <p:nvPr/>
            </p:nvSpPr>
            <p:spPr>
              <a:xfrm>
                <a:off x="7194042" y="3416618"/>
                <a:ext cx="69420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PubMed</a:t>
                </a:r>
              </a:p>
            </p:txBody>
          </p:sp>
          <p:sp>
            <p:nvSpPr>
              <p:cNvPr id="25" name="TextBox 25"/>
              <p:cNvSpPr txBox="1"/>
              <p:nvPr/>
            </p:nvSpPr>
            <p:spPr>
              <a:xfrm>
                <a:off x="10340272" y="3351848"/>
                <a:ext cx="832934" cy="381381"/>
              </a:xfrm>
              <a:prstGeom prst="rect">
                <a:avLst/>
              </a:prstGeom>
              <a:noFill/>
              <a:ln>
                <a:noFill/>
              </a:ln>
            </p:spPr>
            <p:txBody>
              <a:bodyPr wrap="none" lIns="0" tIns="0" rIns="0" bIns="0" anchor="t" anchorCtr="0">
                <a:spAutoFit/>
              </a:bodyPr>
              <a:lstStyle/>
              <a:p>
                <a:pPr algn="r"/>
                <a:r>
                  <a:rPr lang="en-US" sz="1950" b="1" dirty="0">
                    <a:solidFill>
                      <a:schemeClr val="accent3"/>
                    </a:solidFill>
                    <a:latin typeface="+mn-lt"/>
                    <a:ea typeface="+mn-ea"/>
                    <a:cs typeface="+mn-cs"/>
                  </a:rPr>
                  <a:t>83.6%</a:t>
                </a:r>
              </a:p>
            </p:txBody>
          </p:sp>
        </p:grpSp>
        <p:sp>
          <p:nvSpPr>
            <p:cNvPr id="27" name="TextBox 27"/>
            <p:cNvSpPr txBox="1"/>
            <p:nvPr/>
          </p:nvSpPr>
          <p:spPr>
            <a:xfrm>
              <a:off x="7023354" y="3985260"/>
              <a:ext cx="3297803"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Beats best baseline GRAIN by +1.6–2.2%</a:t>
              </a:r>
            </a:p>
          </p:txBody>
        </p:sp>
        <p:sp>
          <p:nvSpPr>
            <p:cNvPr id="28" name="TextBox 28"/>
            <p:cNvSpPr txBox="1"/>
            <p:nvPr/>
          </p:nvSpPr>
          <p:spPr>
            <a:xfrm>
              <a:off x="7023735" y="4241006"/>
              <a:ext cx="310230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on citation networks; consistent gains on</a:t>
              </a:r>
            </a:p>
          </p:txBody>
        </p:sp>
        <p:sp>
          <p:nvSpPr>
            <p:cNvPr id="29" name="TextBox 29"/>
            <p:cNvSpPr txBox="1"/>
            <p:nvPr/>
          </p:nvSpPr>
          <p:spPr>
            <a:xfrm>
              <a:off x="7023735" y="4431506"/>
              <a:ext cx="198433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Reddit and ogbn-arxiv too.</a:t>
              </a:r>
            </a:p>
          </p:txBody>
        </p:sp>
      </p:grpSp>
      <p:grpSp>
        <p:nvGrpSpPr>
          <p:cNvPr id="37" name="Group 37"/>
          <p:cNvGrpSpPr/>
          <p:nvPr/>
        </p:nvGrpSpPr>
        <p:grpSpPr>
          <a:xfrm>
            <a:off x="6781800" y="4781550"/>
            <a:ext cx="4800600" cy="1390650"/>
            <a:chOff x="6781800" y="4781550"/>
            <a:chExt cx="4800600" cy="1390650"/>
          </a:xfrm>
        </p:grpSpPr>
        <p:sp>
          <p:nvSpPr>
            <p:cNvPr id="31" name="Rectangle 31"/>
            <p:cNvSpPr/>
            <p:nvPr/>
          </p:nvSpPr>
          <p:spPr>
            <a:xfrm>
              <a:off x="6781800" y="4781550"/>
              <a:ext cx="4800600" cy="1390650"/>
            </a:xfrm>
            <a:prstGeom prst="roundRect">
              <a:avLst>
                <a:gd name="adj" fmla="val 9589"/>
              </a:avLst>
            </a:prstGeom>
            <a:solidFill>
              <a:schemeClr val="accent1"/>
            </a:solidFill>
            <a:ln>
              <a:noFill/>
            </a:ln>
          </p:spPr>
        </p:sp>
        <p:sp>
          <p:nvSpPr>
            <p:cNvPr id="32" name="Rectangle 32"/>
            <p:cNvSpPr/>
            <p:nvPr/>
          </p:nvSpPr>
          <p:spPr>
            <a:xfrm>
              <a:off x="6781800" y="4781550"/>
              <a:ext cx="76200" cy="1390650"/>
            </a:xfrm>
            <a:prstGeom prst="roundRect">
              <a:avLst>
                <a:gd name="adj" fmla="val 50000"/>
              </a:avLst>
            </a:prstGeom>
            <a:solidFill>
              <a:schemeClr val="accent3"/>
            </a:solidFill>
            <a:ln>
              <a:noFill/>
            </a:ln>
          </p:spPr>
        </p:sp>
        <p:sp>
          <p:nvSpPr>
            <p:cNvPr id="33" name="TextBox 33"/>
            <p:cNvSpPr txBox="1"/>
            <p:nvPr/>
          </p:nvSpPr>
          <p:spPr>
            <a:xfrm>
              <a:off x="7043547" y="5000149"/>
              <a:ext cx="1647593" cy="190690"/>
            </a:xfrm>
            <a:prstGeom prst="rect">
              <a:avLst/>
            </a:prstGeom>
            <a:noFill/>
            <a:ln>
              <a:noFill/>
            </a:ln>
          </p:spPr>
          <p:txBody>
            <a:bodyPr wrap="none" lIns="0" tIns="0" rIns="0" bIns="0" anchor="t" anchorCtr="0">
              <a:spAutoFit/>
            </a:bodyPr>
            <a:lstStyle/>
            <a:p>
              <a:pPr algn="l"/>
              <a:r>
                <a:rPr lang="en-US" sz="980" b="1" spc="75" dirty="0">
                  <a:solidFill>
                    <a:srgbClr val="7FD1C9"/>
                  </a:solidFill>
                  <a:latin typeface="+mn-lt"/>
                  <a:ea typeface="+mn-ea"/>
                  <a:cs typeface="+mn-cs"/>
                </a:rPr>
                <a:t>HOW THE LEAD GROWS</a:t>
              </a:r>
            </a:p>
          </p:txBody>
        </p:sp>
        <p:sp>
          <p:nvSpPr>
            <p:cNvPr id="34" name="TextBox 34"/>
            <p:cNvSpPr txBox="1"/>
            <p:nvPr/>
          </p:nvSpPr>
          <p:spPr>
            <a:xfrm>
              <a:off x="7041261" y="5256371"/>
              <a:ext cx="3466861" cy="278702"/>
            </a:xfrm>
            <a:prstGeom prst="rect">
              <a:avLst/>
            </a:prstGeom>
            <a:noFill/>
            <a:ln>
              <a:noFill/>
            </a:ln>
          </p:spPr>
          <p:txBody>
            <a:bodyPr wrap="none" lIns="0" tIns="0" rIns="0" bIns="0" anchor="t" anchorCtr="0">
              <a:spAutoFit/>
            </a:bodyPr>
            <a:lstStyle/>
            <a:p>
              <a:pPr algn="l"/>
              <a:r>
                <a:rPr lang="en-US" sz="1420" b="1" dirty="0">
                  <a:solidFill>
                    <a:srgbClr val="FFFFFF"/>
                  </a:solidFill>
                  <a:latin typeface="+mn-lt"/>
                  <a:ea typeface="+mn-ea"/>
                  <a:cs typeface="+mn-cs"/>
                </a:rPr>
                <a:t>IGP climbs fastest as budget grows</a:t>
              </a:r>
            </a:p>
          </p:txBody>
        </p:sp>
        <p:sp>
          <p:nvSpPr>
            <p:cNvPr id="35" name="TextBox 35"/>
            <p:cNvSpPr txBox="1"/>
            <p:nvPr/>
          </p:nvSpPr>
          <p:spPr>
            <a:xfrm>
              <a:off x="7042785" y="5574506"/>
              <a:ext cx="3333541" cy="220028"/>
            </a:xfrm>
            <a:prstGeom prst="rect">
              <a:avLst/>
            </a:prstGeom>
            <a:noFill/>
            <a:ln>
              <a:noFill/>
            </a:ln>
          </p:spPr>
          <p:txBody>
            <a:bodyPr wrap="none" lIns="0" tIns="0" rIns="0" bIns="0" anchor="t" anchorCtr="0">
              <a:spAutoFit/>
            </a:bodyPr>
            <a:lstStyle/>
            <a:p>
              <a:pPr algn="l"/>
              <a:r>
                <a:rPr lang="en-US" sz="1120" dirty="0">
                  <a:solidFill>
                    <a:srgbClr val="CBD8E6"/>
                  </a:solidFill>
                  <a:latin typeface="+mn-lt"/>
                  <a:ea typeface="+mn-ea"/>
                  <a:cs typeface="+mn-cs"/>
                </a:rPr>
                <a:t>Its accuracy rises the quickest, and the lead</a:t>
              </a:r>
            </a:p>
          </p:txBody>
        </p:sp>
        <p:sp>
          <p:nvSpPr>
            <p:cNvPr id="36" name="TextBox 36"/>
            <p:cNvSpPr txBox="1"/>
            <p:nvPr/>
          </p:nvSpPr>
          <p:spPr>
            <a:xfrm>
              <a:off x="7042785" y="5784056"/>
              <a:ext cx="3560595" cy="220028"/>
            </a:xfrm>
            <a:prstGeom prst="rect">
              <a:avLst/>
            </a:prstGeom>
            <a:noFill/>
            <a:ln>
              <a:noFill/>
            </a:ln>
          </p:spPr>
          <p:txBody>
            <a:bodyPr wrap="none" lIns="0" tIns="0" rIns="0" bIns="0" anchor="t" anchorCtr="0">
              <a:spAutoFit/>
            </a:bodyPr>
            <a:lstStyle/>
            <a:p>
              <a:pPr algn="l"/>
              <a:r>
                <a:rPr lang="en-US" sz="1120" dirty="0">
                  <a:solidFill>
                    <a:srgbClr val="CBD8E6"/>
                  </a:solidFill>
                  <a:latin typeface="+mn-lt"/>
                  <a:ea typeface="+mn-ea"/>
                  <a:cs typeface="+mn-cs"/>
                </a:rPr>
                <a:t>holds across GNN backbones from SGC to MVGRL.</a:t>
              </a:r>
            </a:p>
          </p:txBody>
        </p:sp>
      </p:grpSp>
      <p:sp>
        <p:nvSpPr>
          <p:cNvPr id="38" name="cue_s07_c1_across_every_dataset_budget_igp" title="cue_s07_c1_across_every_dataset_budget_igp" descr="cue_s07_c1_across_every_dataset_budget_igp Across every dataset and budget, IGP delivers the highest test accuracy."/>
          <p:cNvSpPr/>
          <p:nvPr/>
        </p:nvSpPr>
        <p:spPr>
          <a:xfrm>
            <a:off x="609600" y="1428521"/>
            <a:ext cx="5943600" cy="47436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7_c2_under_twenty_labels_per_class" title="cue_s07_c2_under_twenty_labels_per_class" descr="cue_s07_c2_under_twenty_labels_per_class Under twenty labels per class with a GCN, it reaches 86.4 percent on Cora, 75.8 on Citeseer, and 83.6 on PubMed, beating the strongest prior method, GRAIN, by 1.6 to 2.2 percent on citation networks, with smaller but consistent gains on Reddit and ogbn-arxiv."/>
          <p:cNvSpPr/>
          <p:nvPr/>
        </p:nvSpPr>
        <p:spPr>
          <a:xfrm>
            <a:off x="6782409" y="1428521"/>
            <a:ext cx="4799990" cy="322257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7_c3_budget_grows_igp_climbs_fastest" title="cue_s07_c3_budget_grows_igp_climbs_fastest" descr="cue_s07_c3_budget_grows_igp_climbs_fastest As budget grows, IGP climbs fastest, and the lead holds across backbones."/>
          <p:cNvSpPr/>
          <p:nvPr/>
        </p:nvSpPr>
        <p:spPr>
          <a:xfrm>
            <a:off x="6782409" y="4781397"/>
            <a:ext cx="4799990" cy="13908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76200"/>
            </a:xfrm>
            <a:prstGeom prst="rect">
              <a:avLst/>
            </a:prstGeom>
            <a:solidFill>
              <a:schemeClr val="accent3"/>
            </a:solidFill>
            <a:ln>
              <a:noFill/>
            </a:ln>
          </p:spPr>
        </p:sp>
      </p:grpSp>
      <p:grpSp>
        <p:nvGrpSpPr>
          <p:cNvPr id="7" name="Group 7"/>
          <p:cNvGrpSpPr/>
          <p:nvPr/>
        </p:nvGrpSpPr>
        <p:grpSpPr>
          <a:xfrm>
            <a:off x="596646" y="564356"/>
            <a:ext cx="5714819" cy="764001"/>
            <a:chOff x="596646" y="564356"/>
            <a:chExt cx="5714819" cy="764001"/>
          </a:xfrm>
        </p:grpSpPr>
        <p:sp>
          <p:nvSpPr>
            <p:cNvPr id="5" name="TextBox 5"/>
            <p:cNvSpPr txBox="1"/>
            <p:nvPr/>
          </p:nvSpPr>
          <p:spPr>
            <a:xfrm>
              <a:off x="603885" y="564356"/>
              <a:ext cx="1371472"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07 · ABLATION</a:t>
              </a:r>
            </a:p>
          </p:txBody>
        </p:sp>
        <p:sp>
          <p:nvSpPr>
            <p:cNvPr id="6" name="TextBox 6"/>
            <p:cNvSpPr txBox="1"/>
            <p:nvPr/>
          </p:nvSpPr>
          <p:spPr>
            <a:xfrm>
              <a:off x="596646" y="829628"/>
              <a:ext cx="5714819"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Every component earns its place</a:t>
              </a:r>
            </a:p>
          </p:txBody>
        </p:sp>
      </p:grpSp>
      <p:grpSp>
        <p:nvGrpSpPr>
          <p:cNvPr id="13" name="Group 13"/>
          <p:cNvGrpSpPr/>
          <p:nvPr/>
        </p:nvGrpSpPr>
        <p:grpSpPr>
          <a:xfrm>
            <a:off x="609600" y="1428750"/>
            <a:ext cx="10972800" cy="911161"/>
            <a:chOff x="609600" y="1428750"/>
            <a:chExt cx="10972800" cy="911161"/>
          </a:xfrm>
        </p:grpSpPr>
        <p:sp>
          <p:nvSpPr>
            <p:cNvPr id="8" name="Rectangle 8"/>
            <p:cNvSpPr/>
            <p:nvPr/>
          </p:nvSpPr>
          <p:spPr>
            <a:xfrm>
              <a:off x="609600" y="1428750"/>
              <a:ext cx="10972800" cy="895350"/>
            </a:xfrm>
            <a:prstGeom prst="roundRect">
              <a:avLst>
                <a:gd name="adj" fmla="val 14894"/>
              </a:avLst>
            </a:prstGeom>
            <a:solidFill>
              <a:schemeClr val="lt2"/>
            </a:solidFill>
            <a:ln w="14288">
              <a:solidFill>
                <a:schemeClr val="accent4"/>
              </a:solidFill>
            </a:ln>
          </p:spPr>
        </p:sp>
        <p:sp>
          <p:nvSpPr>
            <p:cNvPr id="9" name="Rectangle 9"/>
            <p:cNvSpPr/>
            <p:nvPr/>
          </p:nvSpPr>
          <p:spPr>
            <a:xfrm>
              <a:off x="609600" y="1428750"/>
              <a:ext cx="66675" cy="895350"/>
            </a:xfrm>
            <a:prstGeom prst="roundRect">
              <a:avLst>
                <a:gd name="adj" fmla="val 42857"/>
              </a:avLst>
            </a:prstGeom>
            <a:solidFill>
              <a:schemeClr val="accent3"/>
            </a:solidFill>
            <a:ln>
              <a:noFill/>
            </a:ln>
          </p:spPr>
        </p:sp>
        <p:sp>
          <p:nvSpPr>
            <p:cNvPr id="10" name="TextBox 10"/>
            <p:cNvSpPr txBox="1"/>
            <p:nvPr/>
          </p:nvSpPr>
          <p:spPr>
            <a:xfrm>
              <a:off x="852297" y="1628299"/>
              <a:ext cx="783165" cy="190690"/>
            </a:xfrm>
            <a:prstGeom prst="rect">
              <a:avLst/>
            </a:prstGeom>
            <a:noFill/>
            <a:ln>
              <a:noFill/>
            </a:ln>
          </p:spPr>
          <p:txBody>
            <a:bodyPr wrap="none" lIns="0" tIns="0" rIns="0" bIns="0" anchor="t" anchorCtr="0">
              <a:spAutoFit/>
            </a:bodyPr>
            <a:lstStyle/>
            <a:p>
              <a:pPr algn="l"/>
              <a:r>
                <a:rPr lang="en-US" sz="980" b="1" spc="75" dirty="0">
                  <a:solidFill>
                    <a:schemeClr val="accent3"/>
                  </a:solidFill>
                  <a:latin typeface="+mn-lt"/>
                  <a:ea typeface="+mn-ea"/>
                  <a:cs typeface="+mn-cs"/>
                </a:rPr>
                <a:t>THE SETUP</a:t>
              </a:r>
            </a:p>
          </p:txBody>
        </p:sp>
        <p:sp>
          <p:nvSpPr>
            <p:cNvPr id="11" name="TextBox 11"/>
            <p:cNvSpPr txBox="1"/>
            <p:nvPr/>
          </p:nvSpPr>
          <p:spPr>
            <a:xfrm>
              <a:off x="849630" y="1876425"/>
              <a:ext cx="6892952"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Disable one IGP component at a time and re-measure test accuracy</a:t>
              </a:r>
            </a:p>
          </p:txBody>
        </p:sp>
        <p:sp>
          <p:nvSpPr>
            <p:cNvPr id="12" name="TextBox 12"/>
            <p:cNvSpPr txBox="1"/>
            <p:nvPr/>
          </p:nvSpPr>
          <p:spPr>
            <a:xfrm>
              <a:off x="851916" y="2134552"/>
              <a:ext cx="7199025"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Components: informative selection · informative training · information quantity · normalized label</a:t>
              </a:r>
            </a:p>
          </p:txBody>
        </p:sp>
      </p:grpSp>
      <p:grpSp>
        <p:nvGrpSpPr>
          <p:cNvPr id="22" name="Group 22"/>
          <p:cNvGrpSpPr/>
          <p:nvPr/>
        </p:nvGrpSpPr>
        <p:grpSpPr>
          <a:xfrm>
            <a:off x="609600" y="2476500"/>
            <a:ext cx="5334000" cy="2362200"/>
            <a:chOff x="609600" y="2476500"/>
            <a:chExt cx="5334000" cy="2362200"/>
          </a:xfrm>
        </p:grpSpPr>
        <p:sp>
          <p:nvSpPr>
            <p:cNvPr id="14" name="Rectangle 14"/>
            <p:cNvSpPr/>
            <p:nvPr/>
          </p:nvSpPr>
          <p:spPr>
            <a:xfrm>
              <a:off x="609600" y="2476500"/>
              <a:ext cx="5334000" cy="2362200"/>
            </a:xfrm>
            <a:prstGeom prst="roundRect">
              <a:avLst>
                <a:gd name="adj" fmla="val 5645"/>
              </a:avLst>
            </a:prstGeom>
            <a:solidFill>
              <a:schemeClr val="accent1"/>
            </a:solidFill>
            <a:ln>
              <a:noFill/>
            </a:ln>
          </p:spPr>
        </p:sp>
        <p:sp>
          <p:nvSpPr>
            <p:cNvPr id="15" name="Rectangle 15"/>
            <p:cNvSpPr/>
            <p:nvPr/>
          </p:nvSpPr>
          <p:spPr>
            <a:xfrm>
              <a:off x="609600" y="2476500"/>
              <a:ext cx="76200" cy="2362200"/>
            </a:xfrm>
            <a:prstGeom prst="roundRect">
              <a:avLst>
                <a:gd name="adj" fmla="val 50000"/>
              </a:avLst>
            </a:prstGeom>
            <a:solidFill>
              <a:schemeClr val="accent2"/>
            </a:solidFill>
            <a:ln>
              <a:noFill/>
            </a:ln>
          </p:spPr>
        </p:sp>
        <p:sp>
          <p:nvSpPr>
            <p:cNvPr id="16" name="TextBox 16"/>
            <p:cNvSpPr txBox="1"/>
            <p:nvPr/>
          </p:nvSpPr>
          <p:spPr>
            <a:xfrm>
              <a:off x="871347" y="2695099"/>
              <a:ext cx="2121423" cy="190690"/>
            </a:xfrm>
            <a:prstGeom prst="rect">
              <a:avLst/>
            </a:prstGeom>
            <a:noFill/>
            <a:ln>
              <a:noFill/>
            </a:ln>
          </p:spPr>
          <p:txBody>
            <a:bodyPr wrap="none" lIns="0" tIns="0" rIns="0" bIns="0" anchor="t" anchorCtr="0">
              <a:spAutoFit/>
            </a:bodyPr>
            <a:lstStyle/>
            <a:p>
              <a:pPr algn="l"/>
              <a:r>
                <a:rPr lang="en-US" sz="980" b="1" spc="75" dirty="0">
                  <a:solidFill>
                    <a:srgbClr val="7FD1C9"/>
                  </a:solidFill>
                  <a:latin typeface="+mn-lt"/>
                  <a:ea typeface="+mn-ea"/>
                  <a:cs typeface="+mn-cs"/>
                </a:rPr>
                <a:t>THE MOST IMPORTANT PIECE</a:t>
              </a:r>
            </a:p>
          </p:txBody>
        </p:sp>
        <p:sp>
          <p:nvSpPr>
            <p:cNvPr id="17" name="TextBox 17"/>
            <p:cNvSpPr txBox="1"/>
            <p:nvPr/>
          </p:nvSpPr>
          <p:spPr>
            <a:xfrm>
              <a:off x="868680" y="2943225"/>
              <a:ext cx="2247819"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Informative selection</a:t>
              </a:r>
            </a:p>
          </p:txBody>
        </p:sp>
        <p:sp>
          <p:nvSpPr>
            <p:cNvPr id="18" name="TextBox 18"/>
            <p:cNvSpPr txBox="1"/>
            <p:nvPr/>
          </p:nvSpPr>
          <p:spPr>
            <a:xfrm>
              <a:off x="870585" y="3193256"/>
              <a:ext cx="2677792" cy="220028"/>
            </a:xfrm>
            <a:prstGeom prst="rect">
              <a:avLst/>
            </a:prstGeom>
            <a:noFill/>
            <a:ln>
              <a:noFill/>
            </a:ln>
          </p:spPr>
          <p:txBody>
            <a:bodyPr wrap="none" lIns="0" tIns="0" rIns="0" bIns="0" anchor="t" anchorCtr="0">
              <a:spAutoFit/>
            </a:bodyPr>
            <a:lstStyle/>
            <a:p>
              <a:pPr algn="l"/>
              <a:r>
                <a:rPr lang="en-US" sz="1120" dirty="0">
                  <a:solidFill>
                    <a:srgbClr val="CBD8E6"/>
                  </a:solidFill>
                  <a:latin typeface="+mn-lt"/>
                  <a:ea typeface="+mn-ea"/>
                  <a:cs typeface="+mn-cs"/>
                </a:rPr>
                <a:t>The propagation-aware node choice.</a:t>
              </a:r>
            </a:p>
          </p:txBody>
        </p:sp>
        <p:sp>
          <p:nvSpPr>
            <p:cNvPr id="19" name="TextBox 19"/>
            <p:cNvSpPr txBox="1"/>
            <p:nvPr/>
          </p:nvSpPr>
          <p:spPr>
            <a:xfrm>
              <a:off x="857250" y="3492818"/>
              <a:ext cx="1851987" cy="847725"/>
            </a:xfrm>
            <a:prstGeom prst="rect">
              <a:avLst/>
            </a:prstGeom>
            <a:noFill/>
            <a:ln>
              <a:noFill/>
            </a:ln>
          </p:spPr>
          <p:txBody>
            <a:bodyPr wrap="none" lIns="0" tIns="0" rIns="0" bIns="0" anchor="t" anchorCtr="0">
              <a:spAutoFit/>
            </a:bodyPr>
            <a:lstStyle/>
            <a:p>
              <a:pPr algn="l"/>
              <a:r>
                <a:rPr lang="en-US" sz="4350" b="1" dirty="0">
                  <a:solidFill>
                    <a:srgbClr val="F6A87F"/>
                  </a:solidFill>
                  <a:latin typeface="+mn-lt"/>
                  <a:ea typeface="+mn-ea"/>
                  <a:cs typeface="+mn-cs"/>
                </a:rPr>
                <a:t>−3.2%</a:t>
              </a:r>
            </a:p>
          </p:txBody>
        </p:sp>
        <p:sp>
          <p:nvSpPr>
            <p:cNvPr id="20" name="TextBox 20"/>
            <p:cNvSpPr txBox="1"/>
            <p:nvPr/>
          </p:nvSpPr>
          <p:spPr>
            <a:xfrm>
              <a:off x="870204" y="4118610"/>
              <a:ext cx="3883209" cy="234696"/>
            </a:xfrm>
            <a:prstGeom prst="rect">
              <a:avLst/>
            </a:prstGeom>
            <a:noFill/>
            <a:ln>
              <a:noFill/>
            </a:ln>
          </p:spPr>
          <p:txBody>
            <a:bodyPr wrap="none" lIns="0" tIns="0" rIns="0" bIns="0" anchor="t" anchorCtr="0">
              <a:spAutoFit/>
            </a:bodyPr>
            <a:lstStyle/>
            <a:p>
              <a:pPr algn="l"/>
              <a:r>
                <a:rPr lang="en-US" sz="1200" b="1" dirty="0">
                  <a:solidFill>
                    <a:srgbClr val="CBD8E6"/>
                  </a:solidFill>
                  <a:latin typeface="+mn-lt"/>
                  <a:ea typeface="+mn-ea"/>
                  <a:cs typeface="+mn-cs"/>
                </a:rPr>
                <a:t>largest accuracy drop (PubMed) when removed</a:t>
              </a:r>
            </a:p>
          </p:txBody>
        </p:sp>
        <p:sp>
          <p:nvSpPr>
            <p:cNvPr id="21" name="TextBox 21"/>
            <p:cNvSpPr txBox="1"/>
            <p:nvPr/>
          </p:nvSpPr>
          <p:spPr>
            <a:xfrm>
              <a:off x="870204" y="4499610"/>
              <a:ext cx="4394410"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Propagation-aware selection is what sets IGP apart.</a:t>
              </a:r>
            </a:p>
          </p:txBody>
        </p:sp>
      </p:grpSp>
      <p:grpSp>
        <p:nvGrpSpPr>
          <p:cNvPr id="40" name="Group 40"/>
          <p:cNvGrpSpPr/>
          <p:nvPr/>
        </p:nvGrpSpPr>
        <p:grpSpPr>
          <a:xfrm>
            <a:off x="6248400" y="2476500"/>
            <a:ext cx="5334000" cy="2362200"/>
            <a:chOff x="6248400" y="2476500"/>
            <a:chExt cx="5334000" cy="2362200"/>
          </a:xfrm>
        </p:grpSpPr>
        <p:sp>
          <p:nvSpPr>
            <p:cNvPr id="23" name="Rectangle 23"/>
            <p:cNvSpPr/>
            <p:nvPr/>
          </p:nvSpPr>
          <p:spPr>
            <a:xfrm>
              <a:off x="6248400" y="2476500"/>
              <a:ext cx="5334000" cy="2362200"/>
            </a:xfrm>
            <a:prstGeom prst="roundRect">
              <a:avLst>
                <a:gd name="adj" fmla="val 5645"/>
              </a:avLst>
            </a:prstGeom>
            <a:solidFill>
              <a:schemeClr val="lt2"/>
            </a:solidFill>
            <a:ln w="14288">
              <a:solidFill>
                <a:schemeClr val="accent4"/>
              </a:solidFill>
            </a:ln>
          </p:spPr>
        </p:sp>
        <p:sp>
          <p:nvSpPr>
            <p:cNvPr id="24" name="Rectangle 24"/>
            <p:cNvSpPr/>
            <p:nvPr/>
          </p:nvSpPr>
          <p:spPr>
            <a:xfrm>
              <a:off x="6248400" y="2476500"/>
              <a:ext cx="66675" cy="2362200"/>
            </a:xfrm>
            <a:prstGeom prst="roundRect">
              <a:avLst>
                <a:gd name="adj" fmla="val 42857"/>
              </a:avLst>
            </a:prstGeom>
            <a:solidFill>
              <a:schemeClr val="accent3"/>
            </a:solidFill>
            <a:ln>
              <a:noFill/>
            </a:ln>
          </p:spPr>
        </p:sp>
        <p:sp>
          <p:nvSpPr>
            <p:cNvPr id="25" name="TextBox 25"/>
            <p:cNvSpPr txBox="1"/>
            <p:nvPr/>
          </p:nvSpPr>
          <p:spPr>
            <a:xfrm>
              <a:off x="6491097" y="2695099"/>
              <a:ext cx="2734300" cy="190690"/>
            </a:xfrm>
            <a:prstGeom prst="rect">
              <a:avLst/>
            </a:prstGeom>
            <a:noFill/>
            <a:ln>
              <a:noFill/>
            </a:ln>
          </p:spPr>
          <p:txBody>
            <a:bodyPr wrap="none" lIns="0" tIns="0" rIns="0" bIns="0" anchor="t" anchorCtr="0">
              <a:spAutoFit/>
            </a:bodyPr>
            <a:lstStyle/>
            <a:p>
              <a:pPr algn="l"/>
              <a:r>
                <a:rPr lang="en-US" sz="980" b="1" spc="75" dirty="0">
                  <a:solidFill>
                    <a:schemeClr val="accent3"/>
                  </a:solidFill>
                  <a:latin typeface="+mn-lt"/>
                  <a:ea typeface="+mn-ea"/>
                  <a:cs typeface="+mn-cs"/>
                </a:rPr>
                <a:t>MAX ACCURACY DROP WHEN REMOVED</a:t>
              </a:r>
            </a:p>
          </p:txBody>
        </p:sp>
        <p:grpSp>
          <p:nvGrpSpPr>
            <p:cNvPr id="38" name="Group 38"/>
            <p:cNvGrpSpPr/>
            <p:nvPr/>
          </p:nvGrpSpPr>
          <p:grpSpPr>
            <a:xfrm>
              <a:off x="6490716" y="3028950"/>
              <a:ext cx="4773168" cy="1444561"/>
              <a:chOff x="6490716" y="3028950"/>
              <a:chExt cx="4773168" cy="1444561"/>
            </a:xfrm>
          </p:grpSpPr>
          <p:sp>
            <p:nvSpPr>
              <p:cNvPr id="26" name="TextBox 26"/>
              <p:cNvSpPr txBox="1"/>
              <p:nvPr/>
            </p:nvSpPr>
            <p:spPr>
              <a:xfrm>
                <a:off x="6490716" y="3048952"/>
                <a:ext cx="675284"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Selection</a:t>
                </a:r>
              </a:p>
            </p:txBody>
          </p:sp>
          <p:sp>
            <p:nvSpPr>
              <p:cNvPr id="27" name="Rectangle 27"/>
              <p:cNvSpPr/>
              <p:nvPr/>
            </p:nvSpPr>
            <p:spPr>
              <a:xfrm>
                <a:off x="8096250" y="3028950"/>
                <a:ext cx="2381250" cy="190500"/>
              </a:xfrm>
              <a:prstGeom prst="roundRect">
                <a:avLst>
                  <a:gd name="adj" fmla="val 20000"/>
                </a:avLst>
              </a:prstGeom>
              <a:solidFill>
                <a:schemeClr val="accent2"/>
              </a:solidFill>
              <a:ln>
                <a:noFill/>
              </a:ln>
            </p:spPr>
          </p:sp>
          <p:sp>
            <p:nvSpPr>
              <p:cNvPr id="28" name="TextBox 28"/>
              <p:cNvSpPr txBox="1"/>
              <p:nvPr/>
            </p:nvSpPr>
            <p:spPr>
              <a:xfrm>
                <a:off x="11008325" y="3068002"/>
                <a:ext cx="255559" cy="205359"/>
              </a:xfrm>
              <a:prstGeom prst="rect">
                <a:avLst/>
              </a:prstGeom>
              <a:noFill/>
              <a:ln>
                <a:noFill/>
              </a:ln>
            </p:spPr>
            <p:txBody>
              <a:bodyPr wrap="none" lIns="0" tIns="0" rIns="0" bIns="0" anchor="t" anchorCtr="0">
                <a:spAutoFit/>
              </a:bodyPr>
              <a:lstStyle/>
              <a:p>
                <a:pPr algn="r"/>
                <a:r>
                  <a:rPr lang="en-US" sz="1050" b="1" dirty="0">
                    <a:solidFill>
                      <a:schemeClr val="accent2"/>
                    </a:solidFill>
                    <a:latin typeface="+mn-lt"/>
                    <a:ea typeface="+mn-ea"/>
                    <a:cs typeface="+mn-cs"/>
                  </a:rPr>
                  <a:t>3.2</a:t>
                </a:r>
              </a:p>
            </p:txBody>
          </p:sp>
          <p:sp>
            <p:nvSpPr>
              <p:cNvPr id="29" name="TextBox 29"/>
              <p:cNvSpPr txBox="1"/>
              <p:nvPr/>
            </p:nvSpPr>
            <p:spPr>
              <a:xfrm>
                <a:off x="6490716" y="3449002"/>
                <a:ext cx="593596"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Training</a:t>
                </a:r>
              </a:p>
            </p:txBody>
          </p:sp>
          <p:sp>
            <p:nvSpPr>
              <p:cNvPr id="30" name="Rectangle 30"/>
              <p:cNvSpPr/>
              <p:nvPr/>
            </p:nvSpPr>
            <p:spPr>
              <a:xfrm>
                <a:off x="8096250" y="3429000"/>
                <a:ext cx="2152650" cy="190500"/>
              </a:xfrm>
              <a:prstGeom prst="roundRect">
                <a:avLst>
                  <a:gd name="adj" fmla="val 20000"/>
                </a:avLst>
              </a:prstGeom>
              <a:solidFill>
                <a:srgbClr val="2F6DB5"/>
              </a:solidFill>
              <a:ln>
                <a:noFill/>
              </a:ln>
            </p:spPr>
          </p:sp>
          <p:sp>
            <p:nvSpPr>
              <p:cNvPr id="31" name="TextBox 31"/>
              <p:cNvSpPr txBox="1"/>
              <p:nvPr/>
            </p:nvSpPr>
            <p:spPr>
              <a:xfrm>
                <a:off x="11008325" y="3468052"/>
                <a:ext cx="255559" cy="205359"/>
              </a:xfrm>
              <a:prstGeom prst="rect">
                <a:avLst/>
              </a:prstGeom>
              <a:noFill/>
              <a:ln>
                <a:noFill/>
              </a:ln>
            </p:spPr>
            <p:txBody>
              <a:bodyPr wrap="none" lIns="0" tIns="0" rIns="0" bIns="0" anchor="t" anchorCtr="0">
                <a:spAutoFit/>
              </a:bodyPr>
              <a:lstStyle/>
              <a:p>
                <a:pPr algn="r"/>
                <a:r>
                  <a:rPr lang="en-US" sz="1050" b="1" dirty="0">
                    <a:solidFill>
                      <a:srgbClr val="2F6DB5"/>
                    </a:solidFill>
                    <a:latin typeface="+mn-lt"/>
                    <a:ea typeface="+mn-ea"/>
                    <a:cs typeface="+mn-cs"/>
                  </a:rPr>
                  <a:t>2.9</a:t>
                </a:r>
              </a:p>
            </p:txBody>
          </p:sp>
          <p:sp>
            <p:nvSpPr>
              <p:cNvPr id="32" name="TextBox 32"/>
              <p:cNvSpPr txBox="1"/>
              <p:nvPr/>
            </p:nvSpPr>
            <p:spPr>
              <a:xfrm>
                <a:off x="6490716" y="3849052"/>
                <a:ext cx="832104"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Norm. label</a:t>
                </a:r>
              </a:p>
            </p:txBody>
          </p:sp>
          <p:sp>
            <p:nvSpPr>
              <p:cNvPr id="33" name="Rectangle 33"/>
              <p:cNvSpPr/>
              <p:nvPr/>
            </p:nvSpPr>
            <p:spPr>
              <a:xfrm>
                <a:off x="8096250" y="3829050"/>
                <a:ext cx="1781175" cy="190500"/>
              </a:xfrm>
              <a:prstGeom prst="roundRect">
                <a:avLst>
                  <a:gd name="adj" fmla="val 20000"/>
                </a:avLst>
              </a:prstGeom>
              <a:solidFill>
                <a:schemeClr val="accent3"/>
              </a:solidFill>
              <a:ln>
                <a:noFill/>
              </a:ln>
            </p:spPr>
          </p:sp>
          <p:sp>
            <p:nvSpPr>
              <p:cNvPr id="34" name="TextBox 34"/>
              <p:cNvSpPr txBox="1"/>
              <p:nvPr/>
            </p:nvSpPr>
            <p:spPr>
              <a:xfrm>
                <a:off x="11008325" y="3868102"/>
                <a:ext cx="255559" cy="205359"/>
              </a:xfrm>
              <a:prstGeom prst="rect">
                <a:avLst/>
              </a:prstGeom>
              <a:noFill/>
              <a:ln>
                <a:noFill/>
              </a:ln>
            </p:spPr>
            <p:txBody>
              <a:bodyPr wrap="none" lIns="0" tIns="0" rIns="0" bIns="0" anchor="t" anchorCtr="0">
                <a:spAutoFit/>
              </a:bodyPr>
              <a:lstStyle/>
              <a:p>
                <a:pPr algn="r"/>
                <a:r>
                  <a:rPr lang="en-US" sz="1050" b="1" dirty="0">
                    <a:solidFill>
                      <a:schemeClr val="accent3"/>
                    </a:solidFill>
                    <a:latin typeface="+mn-lt"/>
                    <a:ea typeface="+mn-ea"/>
                    <a:cs typeface="+mn-cs"/>
                  </a:rPr>
                  <a:t>2.4</a:t>
                </a:r>
              </a:p>
            </p:txBody>
          </p:sp>
          <p:sp>
            <p:nvSpPr>
              <p:cNvPr id="35" name="TextBox 35"/>
              <p:cNvSpPr txBox="1"/>
              <p:nvPr/>
            </p:nvSpPr>
            <p:spPr>
              <a:xfrm>
                <a:off x="6490716" y="4249102"/>
                <a:ext cx="965027"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Info quantity</a:t>
                </a:r>
              </a:p>
            </p:txBody>
          </p:sp>
          <p:sp>
            <p:nvSpPr>
              <p:cNvPr id="36" name="Rectangle 36"/>
              <p:cNvSpPr/>
              <p:nvPr/>
            </p:nvSpPr>
            <p:spPr>
              <a:xfrm>
                <a:off x="8096250" y="4229100"/>
                <a:ext cx="1562100" cy="190500"/>
              </a:xfrm>
              <a:prstGeom prst="roundRect">
                <a:avLst>
                  <a:gd name="adj" fmla="val 20000"/>
                </a:avLst>
              </a:prstGeom>
              <a:solidFill>
                <a:srgbClr val="7FB5C4"/>
              </a:solidFill>
              <a:ln>
                <a:noFill/>
              </a:ln>
            </p:spPr>
          </p:sp>
          <p:sp>
            <p:nvSpPr>
              <p:cNvPr id="37" name="TextBox 37"/>
              <p:cNvSpPr txBox="1"/>
              <p:nvPr/>
            </p:nvSpPr>
            <p:spPr>
              <a:xfrm>
                <a:off x="11008325" y="4268152"/>
                <a:ext cx="255559" cy="205359"/>
              </a:xfrm>
              <a:prstGeom prst="rect">
                <a:avLst/>
              </a:prstGeom>
              <a:noFill/>
              <a:ln>
                <a:noFill/>
              </a:ln>
            </p:spPr>
            <p:txBody>
              <a:bodyPr wrap="none" lIns="0" tIns="0" rIns="0" bIns="0" anchor="t" anchorCtr="0">
                <a:spAutoFit/>
              </a:bodyPr>
              <a:lstStyle/>
              <a:p>
                <a:pPr algn="r"/>
                <a:r>
                  <a:rPr lang="en-US" sz="1050" b="1" dirty="0">
                    <a:solidFill>
                      <a:srgbClr val="4E7E8C"/>
                    </a:solidFill>
                    <a:latin typeface="+mn-lt"/>
                    <a:ea typeface="+mn-ea"/>
                    <a:cs typeface="+mn-cs"/>
                  </a:rPr>
                  <a:t>2.1</a:t>
                </a:r>
              </a:p>
            </p:txBody>
          </p:sp>
        </p:grpSp>
        <p:sp>
          <p:nvSpPr>
            <p:cNvPr id="39" name="TextBox 39"/>
            <p:cNvSpPr txBox="1"/>
            <p:nvPr/>
          </p:nvSpPr>
          <p:spPr>
            <a:xfrm>
              <a:off x="6490716" y="4592002"/>
              <a:ext cx="379702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Values = worst-case % accuracy loss across datasets.</a:t>
              </a:r>
            </a:p>
          </p:txBody>
        </p:sp>
      </p:grpSp>
      <p:grpSp>
        <p:nvGrpSpPr>
          <p:cNvPr id="46" name="Group 46"/>
          <p:cNvGrpSpPr/>
          <p:nvPr/>
        </p:nvGrpSpPr>
        <p:grpSpPr>
          <a:xfrm>
            <a:off x="609600" y="4991100"/>
            <a:ext cx="10972800" cy="1181100"/>
            <a:chOff x="609600" y="4991100"/>
            <a:chExt cx="10972800" cy="1181100"/>
          </a:xfrm>
        </p:grpSpPr>
        <p:sp>
          <p:nvSpPr>
            <p:cNvPr id="41" name="Rectangle 41"/>
            <p:cNvSpPr/>
            <p:nvPr/>
          </p:nvSpPr>
          <p:spPr>
            <a:xfrm>
              <a:off x="609600" y="4991100"/>
              <a:ext cx="10972800" cy="1181100"/>
            </a:xfrm>
            <a:prstGeom prst="roundRect">
              <a:avLst>
                <a:gd name="adj" fmla="val 11290"/>
              </a:avLst>
            </a:prstGeom>
            <a:solidFill>
              <a:schemeClr val="accent6"/>
            </a:solidFill>
            <a:ln w="14288">
              <a:solidFill>
                <a:schemeClr val="accent4"/>
              </a:solidFill>
            </a:ln>
          </p:spPr>
        </p:sp>
        <p:sp>
          <p:nvSpPr>
            <p:cNvPr id="42" name="Rectangle 42"/>
            <p:cNvSpPr/>
            <p:nvPr/>
          </p:nvSpPr>
          <p:spPr>
            <a:xfrm>
              <a:off x="609600" y="4991100"/>
              <a:ext cx="76200" cy="1181100"/>
            </a:xfrm>
            <a:prstGeom prst="roundRect">
              <a:avLst>
                <a:gd name="adj" fmla="val 50000"/>
              </a:avLst>
            </a:prstGeom>
            <a:solidFill>
              <a:schemeClr val="accent3"/>
            </a:solidFill>
            <a:ln>
              <a:noFill/>
            </a:ln>
          </p:spPr>
        </p:sp>
        <p:sp>
          <p:nvSpPr>
            <p:cNvPr id="43" name="TextBox 43"/>
            <p:cNvSpPr txBox="1"/>
            <p:nvPr/>
          </p:nvSpPr>
          <p:spPr>
            <a:xfrm>
              <a:off x="871347" y="5228749"/>
              <a:ext cx="928912" cy="190690"/>
            </a:xfrm>
            <a:prstGeom prst="rect">
              <a:avLst/>
            </a:prstGeom>
            <a:noFill/>
            <a:ln>
              <a:noFill/>
            </a:ln>
          </p:spPr>
          <p:txBody>
            <a:bodyPr wrap="none" lIns="0" tIns="0" rIns="0" bIns="0" anchor="t" anchorCtr="0">
              <a:spAutoFit/>
            </a:bodyPr>
            <a:lstStyle/>
            <a:p>
              <a:pPr algn="l"/>
              <a:r>
                <a:rPr lang="en-US" sz="980" b="1" spc="75" dirty="0">
                  <a:solidFill>
                    <a:schemeClr val="accent3"/>
                  </a:solidFill>
                  <a:latin typeface="+mn-lt"/>
                  <a:ea typeface="+mn-ea"/>
                  <a:cs typeface="+mn-cs"/>
                </a:rPr>
                <a:t>THE VERDICT</a:t>
              </a:r>
            </a:p>
          </p:txBody>
        </p:sp>
        <p:sp>
          <p:nvSpPr>
            <p:cNvPr id="44" name="TextBox 44"/>
            <p:cNvSpPr txBox="1"/>
            <p:nvPr/>
          </p:nvSpPr>
          <p:spPr>
            <a:xfrm>
              <a:off x="867156" y="5482590"/>
              <a:ext cx="7354565"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Every piece contributes — removing any one hurts accuracy</a:t>
              </a:r>
            </a:p>
          </p:txBody>
        </p:sp>
        <p:sp>
          <p:nvSpPr>
            <p:cNvPr id="45" name="TextBox 45"/>
            <p:cNvSpPr txBox="1"/>
            <p:nvPr/>
          </p:nvSpPr>
          <p:spPr>
            <a:xfrm>
              <a:off x="870204" y="5833110"/>
              <a:ext cx="8975144" cy="234696"/>
            </a:xfrm>
            <a:prstGeom prst="rect">
              <a:avLst/>
            </a:prstGeom>
            <a:noFill/>
            <a:ln>
              <a:noFill/>
            </a:ln>
          </p:spPr>
          <p:txBody>
            <a:bodyPr wrap="none" lIns="0" tIns="0" rIns="0" bIns="0" anchor="t" anchorCtr="0">
              <a:spAutoFit/>
            </a:bodyPr>
            <a:lstStyle/>
            <a:p>
              <a:pPr algn="l"/>
              <a:r>
                <a:rPr lang="en-US" sz="1200" dirty="0">
                  <a:solidFill>
                    <a:srgbClr val="41506A"/>
                  </a:solidFill>
                  <a:latin typeface="+mn-lt"/>
                  <a:ea typeface="+mn-ea"/>
                  <a:cs typeface="+mn-cs"/>
                </a:rPr>
                <a:t>Soft-label training, influence magnitude, and normalized labels all help; propagation-aware selection helps most.</a:t>
              </a:r>
            </a:p>
          </p:txBody>
        </p:sp>
      </p:grpSp>
      <p:sp>
        <p:nvSpPr>
          <p:cNvPr id="47" name="cue_s08_c1_ablation_disables_one_component_time" title="cue_s08_c1_ablation_disables_one_component_time" descr="cue_s08_c1_ablation_disables_one_component_time An ablation disables one component at a time."/>
          <p:cNvSpPr/>
          <p:nvPr/>
        </p:nvSpPr>
        <p:spPr>
          <a:xfrm>
            <a:off x="609600" y="1428521"/>
            <a:ext cx="10972800" cy="9114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8_c2_removing_informative_selection_propa" title="cue_s08_c2_removing_informative_selection_propa" descr="cue_s08_c2_removing_informative_selection_propa Removing informative selection, the propagation-aware node choice, causes the largest drop, up to 3.2 percent on PubMed, making it the most important ingredient."/>
          <p:cNvSpPr/>
          <p:nvPr/>
        </p:nvSpPr>
        <p:spPr>
          <a:xfrm>
            <a:off x="609600" y="2476423"/>
            <a:ext cx="5334000" cy="23618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8_c3_removing_informative_soft_labels_cos" title="cue_s08_c3_removing_informative_soft_labels_cos" descr="cue_s08_c3_removing_informative_soft_labels_cos Removing informative training with soft labels costs up to 2.9 percent, dropping the influence-magnitude information quantity up to 2.1, and removing the normalized label up to 2.4."/>
          <p:cNvSpPr/>
          <p:nvPr/>
        </p:nvSpPr>
        <p:spPr>
          <a:xfrm>
            <a:off x="6248399" y="2476423"/>
            <a:ext cx="5334000" cy="23618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8_c4_every_piece_contributes" title="cue_s08_c4_every_piece_contributes" descr="cue_s08_c4_every_piece_contributes Every piece contributes."/>
          <p:cNvSpPr/>
          <p:nvPr/>
        </p:nvSpPr>
        <p:spPr>
          <a:xfrm>
            <a:off x="609600" y="4991252"/>
            <a:ext cx="10972800" cy="11809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76200"/>
            </a:xfrm>
            <a:prstGeom prst="rect">
              <a:avLst/>
            </a:prstGeom>
            <a:solidFill>
              <a:schemeClr val="accent3"/>
            </a:solidFill>
            <a:ln>
              <a:noFill/>
            </a:ln>
          </p:spPr>
        </p:sp>
      </p:grpSp>
      <p:grpSp>
        <p:nvGrpSpPr>
          <p:cNvPr id="7" name="Group 7"/>
          <p:cNvGrpSpPr/>
          <p:nvPr/>
        </p:nvGrpSpPr>
        <p:grpSpPr>
          <a:xfrm>
            <a:off x="596646" y="564356"/>
            <a:ext cx="4723750" cy="764001"/>
            <a:chOff x="596646" y="564356"/>
            <a:chExt cx="4723750" cy="764001"/>
          </a:xfrm>
        </p:grpSpPr>
        <p:sp>
          <p:nvSpPr>
            <p:cNvPr id="5" name="TextBox 5"/>
            <p:cNvSpPr txBox="1"/>
            <p:nvPr/>
          </p:nvSpPr>
          <p:spPr>
            <a:xfrm>
              <a:off x="603885" y="564356"/>
              <a:ext cx="2236348"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08 · HEADLINE NUMBERS</a:t>
              </a:r>
            </a:p>
          </p:txBody>
        </p:sp>
        <p:sp>
          <p:nvSpPr>
            <p:cNvPr id="6" name="TextBox 6"/>
            <p:cNvSpPr txBox="1"/>
            <p:nvPr/>
          </p:nvSpPr>
          <p:spPr>
            <a:xfrm>
              <a:off x="596646" y="829628"/>
              <a:ext cx="4723750"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The result in four numbers</a:t>
              </a:r>
            </a:p>
          </p:txBody>
        </p:sp>
      </p:grpSp>
      <p:grpSp>
        <p:nvGrpSpPr>
          <p:cNvPr id="39" name="Group 39"/>
          <p:cNvGrpSpPr/>
          <p:nvPr/>
        </p:nvGrpSpPr>
        <p:grpSpPr>
          <a:xfrm>
            <a:off x="609600" y="1562100"/>
            <a:ext cx="10972800" cy="4610100"/>
            <a:chOff x="609600" y="1562100"/>
            <a:chExt cx="10972800" cy="4610100"/>
          </a:xfrm>
        </p:grpSpPr>
        <p:grpSp>
          <p:nvGrpSpPr>
            <p:cNvPr id="32" name="Group 32"/>
            <p:cNvGrpSpPr/>
            <p:nvPr/>
          </p:nvGrpSpPr>
          <p:grpSpPr>
            <a:xfrm>
              <a:off x="609600" y="1562100"/>
              <a:ext cx="10972800" cy="2933700"/>
              <a:chOff x="609600" y="1562100"/>
              <a:chExt cx="10972800" cy="2933700"/>
            </a:xfrm>
          </p:grpSpPr>
          <p:sp>
            <p:nvSpPr>
              <p:cNvPr id="8" name="Rectangle 8"/>
              <p:cNvSpPr/>
              <p:nvPr/>
            </p:nvSpPr>
            <p:spPr>
              <a:xfrm>
                <a:off x="609600" y="1562100"/>
                <a:ext cx="2571750" cy="2933700"/>
              </a:xfrm>
              <a:prstGeom prst="roundRect">
                <a:avLst>
                  <a:gd name="adj" fmla="val 5926"/>
                </a:avLst>
              </a:prstGeom>
              <a:solidFill>
                <a:schemeClr val="lt2"/>
              </a:solidFill>
              <a:ln w="14288">
                <a:solidFill>
                  <a:schemeClr val="accent4"/>
                </a:solidFill>
              </a:ln>
            </p:spPr>
          </p:sp>
          <p:sp>
            <p:nvSpPr>
              <p:cNvPr id="9" name="Rectangle 9"/>
              <p:cNvSpPr/>
              <p:nvPr/>
            </p:nvSpPr>
            <p:spPr>
              <a:xfrm>
                <a:off x="609600" y="1562100"/>
                <a:ext cx="2571750" cy="76200"/>
              </a:xfrm>
              <a:prstGeom prst="roundRect">
                <a:avLst>
                  <a:gd name="adj" fmla="val 50000"/>
                </a:avLst>
              </a:prstGeom>
              <a:solidFill>
                <a:schemeClr val="accent3"/>
              </a:solidFill>
              <a:ln>
                <a:noFill/>
              </a:ln>
            </p:spPr>
          </p:sp>
          <p:sp>
            <p:nvSpPr>
              <p:cNvPr id="10" name="TextBox 10"/>
              <p:cNvSpPr txBox="1"/>
              <p:nvPr/>
            </p:nvSpPr>
            <p:spPr>
              <a:xfrm>
                <a:off x="1306918" y="1933099"/>
                <a:ext cx="1177113" cy="190690"/>
              </a:xfrm>
              <a:prstGeom prst="rect">
                <a:avLst/>
              </a:prstGeom>
              <a:noFill/>
              <a:ln>
                <a:noFill/>
              </a:ln>
            </p:spPr>
            <p:txBody>
              <a:bodyPr wrap="none" lIns="0" tIns="0" rIns="0" bIns="0" anchor="t" anchorCtr="0">
                <a:spAutoFit/>
              </a:bodyPr>
              <a:lstStyle/>
              <a:p>
                <a:pPr algn="ctr"/>
                <a:r>
                  <a:rPr lang="en-US" sz="980" b="1" spc="75" dirty="0">
                    <a:solidFill>
                      <a:schemeClr val="accent3"/>
                    </a:solidFill>
                    <a:latin typeface="+mn-lt"/>
                    <a:ea typeface="+mn-ea"/>
                    <a:cs typeface="+mn-cs"/>
                  </a:rPr>
                  <a:t>CORA ACCURACY</a:t>
                </a:r>
              </a:p>
            </p:txBody>
          </p:sp>
          <p:sp>
            <p:nvSpPr>
              <p:cNvPr id="11" name="TextBox 11"/>
              <p:cNvSpPr txBox="1"/>
              <p:nvPr/>
            </p:nvSpPr>
            <p:spPr>
              <a:xfrm>
                <a:off x="875660" y="2491740"/>
                <a:ext cx="2039630" cy="933450"/>
              </a:xfrm>
              <a:prstGeom prst="rect">
                <a:avLst/>
              </a:prstGeom>
              <a:noFill/>
              <a:ln>
                <a:noFill/>
              </a:ln>
            </p:spPr>
            <p:txBody>
              <a:bodyPr wrap="none" lIns="0" tIns="0" rIns="0" bIns="0" anchor="t" anchorCtr="0">
                <a:spAutoFit/>
              </a:bodyPr>
              <a:lstStyle/>
              <a:p>
                <a:pPr algn="ctr"/>
                <a:r>
                  <a:rPr lang="en-US" sz="4800" b="1" dirty="0">
                    <a:solidFill>
                      <a:schemeClr val="accent1"/>
                    </a:solidFill>
                    <a:latin typeface="+mn-lt"/>
                    <a:ea typeface="+mn-ea"/>
                    <a:cs typeface="+mn-cs"/>
                  </a:rPr>
                  <a:t>86.4%</a:t>
                </a:r>
              </a:p>
            </p:txBody>
          </p:sp>
          <p:sp>
            <p:nvSpPr>
              <p:cNvPr id="12" name="TextBox 12"/>
              <p:cNvSpPr txBox="1"/>
              <p:nvPr/>
            </p:nvSpPr>
            <p:spPr>
              <a:xfrm>
                <a:off x="1218971" y="3604260"/>
                <a:ext cx="1353007" cy="234696"/>
              </a:xfrm>
              <a:prstGeom prst="rect">
                <a:avLst/>
              </a:prstGeom>
              <a:noFill/>
              <a:ln>
                <a:noFill/>
              </a:ln>
            </p:spPr>
            <p:txBody>
              <a:bodyPr wrap="none" lIns="0" tIns="0" rIns="0" bIns="0" anchor="t" anchorCtr="0">
                <a:spAutoFit/>
              </a:bodyPr>
              <a:lstStyle/>
              <a:p>
                <a:pPr algn="ctr"/>
                <a:r>
                  <a:rPr lang="en-US" sz="1200" dirty="0">
                    <a:solidFill>
                      <a:schemeClr val="dk2"/>
                    </a:solidFill>
                    <a:latin typeface="+mn-lt"/>
                    <a:ea typeface="+mn-ea"/>
                    <a:cs typeface="+mn-cs"/>
                  </a:rPr>
                  <a:t>test accuracy at</a:t>
                </a:r>
              </a:p>
            </p:txBody>
          </p:sp>
          <p:sp>
            <p:nvSpPr>
              <p:cNvPr id="13" name="TextBox 13"/>
              <p:cNvSpPr txBox="1"/>
              <p:nvPr/>
            </p:nvSpPr>
            <p:spPr>
              <a:xfrm>
                <a:off x="1255319" y="3813810"/>
                <a:ext cx="1280312" cy="234696"/>
              </a:xfrm>
              <a:prstGeom prst="rect">
                <a:avLst/>
              </a:prstGeom>
              <a:noFill/>
              <a:ln>
                <a:noFill/>
              </a:ln>
            </p:spPr>
            <p:txBody>
              <a:bodyPr wrap="none" lIns="0" tIns="0" rIns="0" bIns="0" anchor="t" anchorCtr="0">
                <a:spAutoFit/>
              </a:bodyPr>
              <a:lstStyle/>
              <a:p>
                <a:pPr algn="ctr"/>
                <a:r>
                  <a:rPr lang="en-US" sz="1200" dirty="0">
                    <a:solidFill>
                      <a:schemeClr val="dk2"/>
                    </a:solidFill>
                    <a:latin typeface="+mn-lt"/>
                    <a:ea typeface="+mn-ea"/>
                    <a:cs typeface="+mn-cs"/>
                  </a:rPr>
                  <a:t>20 labels / class</a:t>
                </a:r>
              </a:p>
            </p:txBody>
          </p:sp>
          <p:sp>
            <p:nvSpPr>
              <p:cNvPr id="14" name="Rectangle 14"/>
              <p:cNvSpPr/>
              <p:nvPr/>
            </p:nvSpPr>
            <p:spPr>
              <a:xfrm>
                <a:off x="3409950" y="1562100"/>
                <a:ext cx="2571750" cy="2933700"/>
              </a:xfrm>
              <a:prstGeom prst="roundRect">
                <a:avLst>
                  <a:gd name="adj" fmla="val 5926"/>
                </a:avLst>
              </a:prstGeom>
              <a:solidFill>
                <a:schemeClr val="accent1"/>
              </a:solidFill>
              <a:ln>
                <a:noFill/>
              </a:ln>
            </p:spPr>
          </p:sp>
          <p:sp>
            <p:nvSpPr>
              <p:cNvPr id="15" name="Rectangle 15"/>
              <p:cNvSpPr/>
              <p:nvPr/>
            </p:nvSpPr>
            <p:spPr>
              <a:xfrm>
                <a:off x="3409950" y="1562100"/>
                <a:ext cx="2571750" cy="76200"/>
              </a:xfrm>
              <a:prstGeom prst="roundRect">
                <a:avLst>
                  <a:gd name="adj" fmla="val 50000"/>
                </a:avLst>
              </a:prstGeom>
              <a:solidFill>
                <a:schemeClr val="accent2"/>
              </a:solidFill>
              <a:ln>
                <a:noFill/>
              </a:ln>
            </p:spPr>
          </p:sp>
          <p:sp>
            <p:nvSpPr>
              <p:cNvPr id="16" name="TextBox 16"/>
              <p:cNvSpPr txBox="1"/>
              <p:nvPr/>
            </p:nvSpPr>
            <p:spPr>
              <a:xfrm>
                <a:off x="3915938" y="1933099"/>
                <a:ext cx="1559774" cy="190690"/>
              </a:xfrm>
              <a:prstGeom prst="rect">
                <a:avLst/>
              </a:prstGeom>
              <a:noFill/>
              <a:ln>
                <a:noFill/>
              </a:ln>
            </p:spPr>
            <p:txBody>
              <a:bodyPr wrap="none" lIns="0" tIns="0" rIns="0" bIns="0" anchor="t" anchorCtr="0">
                <a:spAutoFit/>
              </a:bodyPr>
              <a:lstStyle/>
              <a:p>
                <a:pPr algn="ctr"/>
                <a:r>
                  <a:rPr lang="en-US" sz="980" b="1" spc="75" dirty="0">
                    <a:solidFill>
                      <a:srgbClr val="F6A87F"/>
                    </a:solidFill>
                    <a:latin typeface="+mn-lt"/>
                    <a:ea typeface="+mn-ea"/>
                    <a:cs typeface="+mn-cs"/>
                  </a:rPr>
                  <a:t>OVER BEST BASELINE</a:t>
                </a:r>
              </a:p>
            </p:txBody>
          </p:sp>
          <p:sp>
            <p:nvSpPr>
              <p:cNvPr id="17" name="TextBox 17"/>
              <p:cNvSpPr txBox="1"/>
              <p:nvPr/>
            </p:nvSpPr>
            <p:spPr>
              <a:xfrm>
                <a:off x="3676010" y="2491740"/>
                <a:ext cx="2039630" cy="933450"/>
              </a:xfrm>
              <a:prstGeom prst="rect">
                <a:avLst/>
              </a:prstGeom>
              <a:noFill/>
              <a:ln>
                <a:noFill/>
              </a:ln>
            </p:spPr>
            <p:txBody>
              <a:bodyPr wrap="none" lIns="0" tIns="0" rIns="0" bIns="0" anchor="t" anchorCtr="0">
                <a:spAutoFit/>
              </a:bodyPr>
              <a:lstStyle/>
              <a:p>
                <a:pPr algn="ctr"/>
                <a:r>
                  <a:rPr lang="en-US" sz="4800" b="1" dirty="0">
                    <a:solidFill>
                      <a:srgbClr val="FFFFFF"/>
                    </a:solidFill>
                    <a:latin typeface="+mn-lt"/>
                    <a:ea typeface="+mn-ea"/>
                    <a:cs typeface="+mn-cs"/>
                  </a:rPr>
                  <a:t>+2.2%</a:t>
                </a:r>
              </a:p>
            </p:txBody>
          </p:sp>
          <p:sp>
            <p:nvSpPr>
              <p:cNvPr id="18" name="TextBox 18"/>
              <p:cNvSpPr txBox="1"/>
              <p:nvPr/>
            </p:nvSpPr>
            <p:spPr>
              <a:xfrm>
                <a:off x="3834905" y="3604260"/>
                <a:ext cx="1721841" cy="234696"/>
              </a:xfrm>
              <a:prstGeom prst="rect">
                <a:avLst/>
              </a:prstGeom>
              <a:noFill/>
              <a:ln>
                <a:noFill/>
              </a:ln>
            </p:spPr>
            <p:txBody>
              <a:bodyPr wrap="none" lIns="0" tIns="0" rIns="0" bIns="0" anchor="t" anchorCtr="0">
                <a:spAutoFit/>
              </a:bodyPr>
              <a:lstStyle/>
              <a:p>
                <a:pPr algn="ctr"/>
                <a:r>
                  <a:rPr lang="en-US" sz="1200" dirty="0">
                    <a:solidFill>
                      <a:srgbClr val="CBD8E6"/>
                    </a:solidFill>
                    <a:latin typeface="+mn-lt"/>
                    <a:ea typeface="+mn-ea"/>
                    <a:cs typeface="+mn-cs"/>
                  </a:rPr>
                  <a:t>accuracy gain on Cora</a:t>
                </a:r>
              </a:p>
            </p:txBody>
          </p:sp>
          <p:sp>
            <p:nvSpPr>
              <p:cNvPr id="19" name="TextBox 19"/>
              <p:cNvSpPr txBox="1"/>
              <p:nvPr/>
            </p:nvSpPr>
            <p:spPr>
              <a:xfrm>
                <a:off x="3726256" y="3813810"/>
                <a:ext cx="1939138" cy="234696"/>
              </a:xfrm>
              <a:prstGeom prst="rect">
                <a:avLst/>
              </a:prstGeom>
              <a:noFill/>
              <a:ln>
                <a:noFill/>
              </a:ln>
            </p:spPr>
            <p:txBody>
              <a:bodyPr wrap="none" lIns="0" tIns="0" rIns="0" bIns="0" anchor="t" anchorCtr="0">
                <a:spAutoFit/>
              </a:bodyPr>
              <a:lstStyle/>
              <a:p>
                <a:pPr algn="ctr"/>
                <a:r>
                  <a:rPr lang="en-US" sz="1200" dirty="0">
                    <a:solidFill>
                      <a:srgbClr val="CBD8E6"/>
                    </a:solidFill>
                    <a:latin typeface="+mn-lt"/>
                    <a:ea typeface="+mn-ea"/>
                    <a:cs typeface="+mn-cs"/>
                  </a:rPr>
                  <a:t>over prior SOTA (GRAIN)</a:t>
                </a:r>
              </a:p>
            </p:txBody>
          </p:sp>
          <p:sp>
            <p:nvSpPr>
              <p:cNvPr id="20" name="Rectangle 20"/>
              <p:cNvSpPr/>
              <p:nvPr/>
            </p:nvSpPr>
            <p:spPr>
              <a:xfrm>
                <a:off x="6210300" y="1562100"/>
                <a:ext cx="2571750" cy="2933700"/>
              </a:xfrm>
              <a:prstGeom prst="roundRect">
                <a:avLst>
                  <a:gd name="adj" fmla="val 5926"/>
                </a:avLst>
              </a:prstGeom>
              <a:solidFill>
                <a:schemeClr val="lt2"/>
              </a:solidFill>
              <a:ln w="14288">
                <a:solidFill>
                  <a:schemeClr val="accent4"/>
                </a:solidFill>
              </a:ln>
            </p:spPr>
          </p:sp>
          <p:sp>
            <p:nvSpPr>
              <p:cNvPr id="21" name="Rectangle 21"/>
              <p:cNvSpPr/>
              <p:nvPr/>
            </p:nvSpPr>
            <p:spPr>
              <a:xfrm>
                <a:off x="6210300" y="1562100"/>
                <a:ext cx="2571750" cy="76200"/>
              </a:xfrm>
              <a:prstGeom prst="roundRect">
                <a:avLst>
                  <a:gd name="adj" fmla="val 50000"/>
                </a:avLst>
              </a:prstGeom>
              <a:solidFill>
                <a:schemeClr val="accent3"/>
              </a:solidFill>
              <a:ln>
                <a:noFill/>
              </a:ln>
            </p:spPr>
          </p:sp>
          <p:sp>
            <p:nvSpPr>
              <p:cNvPr id="22" name="TextBox 22"/>
              <p:cNvSpPr txBox="1"/>
              <p:nvPr/>
            </p:nvSpPr>
            <p:spPr>
              <a:xfrm>
                <a:off x="6807457" y="1933099"/>
                <a:ext cx="1377437" cy="190690"/>
              </a:xfrm>
              <a:prstGeom prst="rect">
                <a:avLst/>
              </a:prstGeom>
              <a:noFill/>
              <a:ln>
                <a:noFill/>
              </a:ln>
            </p:spPr>
            <p:txBody>
              <a:bodyPr wrap="none" lIns="0" tIns="0" rIns="0" bIns="0" anchor="t" anchorCtr="0">
                <a:spAutoFit/>
              </a:bodyPr>
              <a:lstStyle/>
              <a:p>
                <a:pPr algn="ctr"/>
                <a:r>
                  <a:rPr lang="en-US" sz="980" b="1" spc="75" dirty="0">
                    <a:solidFill>
                      <a:schemeClr val="accent3"/>
                    </a:solidFill>
                    <a:latin typeface="+mn-lt"/>
                    <a:ea typeface="+mn-ea"/>
                    <a:cs typeface="+mn-cs"/>
                  </a:rPr>
                  <a:t>STATE OF THE ART</a:t>
                </a:r>
              </a:p>
            </p:txBody>
          </p:sp>
          <p:sp>
            <p:nvSpPr>
              <p:cNvPr id="23" name="TextBox 23"/>
              <p:cNvSpPr txBox="1"/>
              <p:nvPr/>
            </p:nvSpPr>
            <p:spPr>
              <a:xfrm>
                <a:off x="6761536" y="2524125"/>
                <a:ext cx="1469279" cy="876300"/>
              </a:xfrm>
              <a:prstGeom prst="rect">
                <a:avLst/>
              </a:prstGeom>
              <a:noFill/>
              <a:ln>
                <a:noFill/>
              </a:ln>
            </p:spPr>
            <p:txBody>
              <a:bodyPr wrap="none" lIns="0" tIns="0" rIns="0" bIns="0" anchor="t" anchorCtr="0">
                <a:spAutoFit/>
              </a:bodyPr>
              <a:lstStyle/>
              <a:p>
                <a:pPr algn="ctr"/>
                <a:r>
                  <a:rPr lang="en-US" sz="4500" b="1" dirty="0">
                    <a:solidFill>
                      <a:schemeClr val="accent1"/>
                    </a:solidFill>
                    <a:latin typeface="+mn-lt"/>
                    <a:ea typeface="+mn-ea"/>
                    <a:cs typeface="+mn-cs"/>
                  </a:rPr>
                  <a:t>5 × 4</a:t>
                </a:r>
              </a:p>
            </p:txBody>
          </p:sp>
          <p:sp>
            <p:nvSpPr>
              <p:cNvPr id="24" name="TextBox 24"/>
              <p:cNvSpPr txBox="1"/>
              <p:nvPr/>
            </p:nvSpPr>
            <p:spPr>
              <a:xfrm>
                <a:off x="6431128" y="3604260"/>
                <a:ext cx="2130095" cy="234696"/>
              </a:xfrm>
              <a:prstGeom prst="rect">
                <a:avLst/>
              </a:prstGeom>
              <a:noFill/>
              <a:ln>
                <a:noFill/>
              </a:ln>
            </p:spPr>
            <p:txBody>
              <a:bodyPr wrap="none" lIns="0" tIns="0" rIns="0" bIns="0" anchor="t" anchorCtr="0">
                <a:spAutoFit/>
              </a:bodyPr>
              <a:lstStyle/>
              <a:p>
                <a:pPr algn="ctr"/>
                <a:r>
                  <a:rPr lang="en-US" sz="1200" dirty="0">
                    <a:solidFill>
                      <a:schemeClr val="dk2"/>
                    </a:solidFill>
                    <a:latin typeface="+mn-lt"/>
                    <a:ea typeface="+mn-ea"/>
                    <a:cs typeface="+mn-cs"/>
                  </a:rPr>
                  <a:t>datasets × GNN backbones,</a:t>
                </a:r>
              </a:p>
            </p:txBody>
          </p:sp>
          <p:sp>
            <p:nvSpPr>
              <p:cNvPr id="25" name="TextBox 25"/>
              <p:cNvSpPr txBox="1"/>
              <p:nvPr/>
            </p:nvSpPr>
            <p:spPr>
              <a:xfrm>
                <a:off x="6723461" y="3813810"/>
                <a:ext cx="1545427" cy="234696"/>
              </a:xfrm>
              <a:prstGeom prst="rect">
                <a:avLst/>
              </a:prstGeom>
              <a:noFill/>
              <a:ln>
                <a:noFill/>
              </a:ln>
            </p:spPr>
            <p:txBody>
              <a:bodyPr wrap="none" lIns="0" tIns="0" rIns="0" bIns="0" anchor="t" anchorCtr="0">
                <a:spAutoFit/>
              </a:bodyPr>
              <a:lstStyle/>
              <a:p>
                <a:pPr algn="ctr"/>
                <a:r>
                  <a:rPr lang="en-US" sz="1200" dirty="0">
                    <a:solidFill>
                      <a:schemeClr val="dk2"/>
                    </a:solidFill>
                    <a:latin typeface="+mn-lt"/>
                    <a:ea typeface="+mn-ea"/>
                    <a:cs typeface="+mn-cs"/>
                  </a:rPr>
                  <a:t>SOTA on all of them</a:t>
                </a:r>
              </a:p>
            </p:txBody>
          </p:sp>
          <p:sp>
            <p:nvSpPr>
              <p:cNvPr id="26" name="Rectangle 26"/>
              <p:cNvSpPr/>
              <p:nvPr/>
            </p:nvSpPr>
            <p:spPr>
              <a:xfrm>
                <a:off x="9010650" y="1562100"/>
                <a:ext cx="2571750" cy="2933700"/>
              </a:xfrm>
              <a:prstGeom prst="roundRect">
                <a:avLst>
                  <a:gd name="adj" fmla="val 5926"/>
                </a:avLst>
              </a:prstGeom>
              <a:solidFill>
                <a:schemeClr val="accent6"/>
              </a:solidFill>
              <a:ln w="14288">
                <a:solidFill>
                  <a:schemeClr val="accent4"/>
                </a:solidFill>
              </a:ln>
            </p:spPr>
          </p:sp>
          <p:sp>
            <p:nvSpPr>
              <p:cNvPr id="27" name="Rectangle 27"/>
              <p:cNvSpPr/>
              <p:nvPr/>
            </p:nvSpPr>
            <p:spPr>
              <a:xfrm>
                <a:off x="9010650" y="1562100"/>
                <a:ext cx="2571750" cy="76200"/>
              </a:xfrm>
              <a:prstGeom prst="roundRect">
                <a:avLst>
                  <a:gd name="adj" fmla="val 50000"/>
                </a:avLst>
              </a:prstGeom>
              <a:solidFill>
                <a:schemeClr val="accent2"/>
              </a:solidFill>
              <a:ln>
                <a:noFill/>
              </a:ln>
            </p:spPr>
          </p:sp>
          <p:sp>
            <p:nvSpPr>
              <p:cNvPr id="28" name="TextBox 28"/>
              <p:cNvSpPr txBox="1"/>
              <p:nvPr/>
            </p:nvSpPr>
            <p:spPr>
              <a:xfrm>
                <a:off x="9890306" y="1933099"/>
                <a:ext cx="812438" cy="190690"/>
              </a:xfrm>
              <a:prstGeom prst="rect">
                <a:avLst/>
              </a:prstGeom>
              <a:noFill/>
              <a:ln>
                <a:noFill/>
              </a:ln>
            </p:spPr>
            <p:txBody>
              <a:bodyPr wrap="none" lIns="0" tIns="0" rIns="0" bIns="0" anchor="t" anchorCtr="0">
                <a:spAutoFit/>
              </a:bodyPr>
              <a:lstStyle/>
              <a:p>
                <a:pPr algn="ctr"/>
                <a:r>
                  <a:rPr lang="en-US" sz="980" b="1" spc="75" dirty="0">
                    <a:solidFill>
                      <a:schemeClr val="accent2"/>
                    </a:solidFill>
                    <a:latin typeface="+mn-lt"/>
                    <a:ea typeface="+mn-ea"/>
                    <a:cs typeface="+mn-cs"/>
                  </a:rPr>
                  <a:t>THE QUERY</a:t>
                </a:r>
              </a:p>
            </p:txBody>
          </p:sp>
          <p:sp>
            <p:nvSpPr>
              <p:cNvPr id="29" name="TextBox 29"/>
              <p:cNvSpPr txBox="1"/>
              <p:nvPr/>
            </p:nvSpPr>
            <p:spPr>
              <a:xfrm>
                <a:off x="10090892" y="2491740"/>
                <a:ext cx="411267" cy="933450"/>
              </a:xfrm>
              <a:prstGeom prst="rect">
                <a:avLst/>
              </a:prstGeom>
              <a:noFill/>
              <a:ln>
                <a:noFill/>
              </a:ln>
            </p:spPr>
            <p:txBody>
              <a:bodyPr wrap="none" lIns="0" tIns="0" rIns="0" bIns="0" anchor="t" anchorCtr="0">
                <a:spAutoFit/>
              </a:bodyPr>
              <a:lstStyle/>
              <a:p>
                <a:pPr algn="ctr"/>
                <a:r>
                  <a:rPr lang="en-US" sz="4800" b="1" dirty="0">
                    <a:solidFill>
                      <a:schemeClr val="accent1"/>
                    </a:solidFill>
                    <a:latin typeface="+mn-lt"/>
                    <a:ea typeface="+mn-ea"/>
                    <a:cs typeface="+mn-cs"/>
                  </a:rPr>
                  <a:t>1</a:t>
                </a:r>
              </a:p>
            </p:txBody>
          </p:sp>
          <p:sp>
            <p:nvSpPr>
              <p:cNvPr id="30" name="TextBox 30"/>
              <p:cNvSpPr txBox="1"/>
              <p:nvPr/>
            </p:nvSpPr>
            <p:spPr>
              <a:xfrm>
                <a:off x="9438284" y="3604260"/>
                <a:ext cx="1716481" cy="234696"/>
              </a:xfrm>
              <a:prstGeom prst="rect">
                <a:avLst/>
              </a:prstGeom>
              <a:noFill/>
              <a:ln>
                <a:noFill/>
              </a:ln>
            </p:spPr>
            <p:txBody>
              <a:bodyPr wrap="none" lIns="0" tIns="0" rIns="0" bIns="0" anchor="t" anchorCtr="0">
                <a:spAutoFit/>
              </a:bodyPr>
              <a:lstStyle/>
              <a:p>
                <a:pPr algn="ctr"/>
                <a:r>
                  <a:rPr lang="en-US" sz="1200" dirty="0">
                    <a:solidFill>
                      <a:schemeClr val="dk2"/>
                    </a:solidFill>
                    <a:latin typeface="+mn-lt"/>
                    <a:ea typeface="+mn-ea"/>
                    <a:cs typeface="+mn-cs"/>
                  </a:rPr>
                  <a:t>cheap binary question</a:t>
                </a:r>
              </a:p>
            </p:txBody>
          </p:sp>
          <p:sp>
            <p:nvSpPr>
              <p:cNvPr id="31" name="TextBox 31"/>
              <p:cNvSpPr txBox="1"/>
              <p:nvPr/>
            </p:nvSpPr>
            <p:spPr>
              <a:xfrm>
                <a:off x="9143467" y="3813810"/>
                <a:ext cx="2306117" cy="234696"/>
              </a:xfrm>
              <a:prstGeom prst="rect">
                <a:avLst/>
              </a:prstGeom>
              <a:noFill/>
              <a:ln>
                <a:noFill/>
              </a:ln>
            </p:spPr>
            <p:txBody>
              <a:bodyPr wrap="none" lIns="0" tIns="0" rIns="0" bIns="0" anchor="t" anchorCtr="0">
                <a:spAutoFit/>
              </a:bodyPr>
              <a:lstStyle/>
              <a:p>
                <a:pPr algn="ctr"/>
                <a:r>
                  <a:rPr lang="en-US" sz="1200" dirty="0">
                    <a:solidFill>
                      <a:schemeClr val="dk2"/>
                    </a:solidFill>
                    <a:latin typeface="+mn-lt"/>
                    <a:ea typeface="+mn-ea"/>
                    <a:cs typeface="+mn-cs"/>
                  </a:rPr>
                  <a:t>replaces exact-class labeling</a:t>
                </a:r>
              </a:p>
            </p:txBody>
          </p:sp>
        </p:grpSp>
        <p:sp>
          <p:nvSpPr>
            <p:cNvPr id="33" name="Rectangle 33"/>
            <p:cNvSpPr/>
            <p:nvPr/>
          </p:nvSpPr>
          <p:spPr>
            <a:xfrm>
              <a:off x="609600" y="4724400"/>
              <a:ext cx="10972800" cy="1447800"/>
            </a:xfrm>
            <a:prstGeom prst="roundRect">
              <a:avLst>
                <a:gd name="adj" fmla="val 9211"/>
              </a:avLst>
            </a:prstGeom>
            <a:solidFill>
              <a:schemeClr val="lt1"/>
            </a:solidFill>
            <a:ln w="14288">
              <a:solidFill>
                <a:schemeClr val="accent4"/>
              </a:solidFill>
            </a:ln>
          </p:spPr>
        </p:sp>
        <p:sp>
          <p:nvSpPr>
            <p:cNvPr id="34" name="Rectangle 34"/>
            <p:cNvSpPr/>
            <p:nvPr/>
          </p:nvSpPr>
          <p:spPr>
            <a:xfrm>
              <a:off x="609600" y="4724400"/>
              <a:ext cx="76200" cy="1447800"/>
            </a:xfrm>
            <a:prstGeom prst="roundRect">
              <a:avLst>
                <a:gd name="adj" fmla="val 50000"/>
              </a:avLst>
            </a:prstGeom>
            <a:solidFill>
              <a:schemeClr val="accent3"/>
            </a:solidFill>
            <a:ln>
              <a:noFill/>
            </a:ln>
          </p:spPr>
        </p:sp>
        <p:sp>
          <p:nvSpPr>
            <p:cNvPr id="35" name="TextBox 35"/>
            <p:cNvSpPr txBox="1"/>
            <p:nvPr/>
          </p:nvSpPr>
          <p:spPr>
            <a:xfrm>
              <a:off x="871347" y="4981099"/>
              <a:ext cx="885002" cy="190690"/>
            </a:xfrm>
            <a:prstGeom prst="rect">
              <a:avLst/>
            </a:prstGeom>
            <a:noFill/>
            <a:ln>
              <a:noFill/>
            </a:ln>
          </p:spPr>
          <p:txBody>
            <a:bodyPr wrap="none" lIns="0" tIns="0" rIns="0" bIns="0" anchor="t" anchorCtr="0">
              <a:spAutoFit/>
            </a:bodyPr>
            <a:lstStyle/>
            <a:p>
              <a:pPr algn="l"/>
              <a:r>
                <a:rPr lang="en-US" sz="980" b="1" spc="75" dirty="0">
                  <a:solidFill>
                    <a:schemeClr val="accent3"/>
                  </a:solidFill>
                  <a:latin typeface="+mn-lt"/>
                  <a:ea typeface="+mn-ea"/>
                  <a:cs typeface="+mn-cs"/>
                </a:rPr>
                <a:t>IN ONE LINE</a:t>
              </a:r>
            </a:p>
          </p:txBody>
        </p:sp>
        <p:sp>
          <p:nvSpPr>
            <p:cNvPr id="36" name="TextBox 36"/>
            <p:cNvSpPr txBox="1"/>
            <p:nvPr/>
          </p:nvSpPr>
          <p:spPr>
            <a:xfrm>
              <a:off x="867156" y="5253990"/>
              <a:ext cx="9046698"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State-of-the-art accuracy from a single cheap binary question per node</a:t>
              </a:r>
            </a:p>
          </p:txBody>
        </p:sp>
        <p:sp>
          <p:nvSpPr>
            <p:cNvPr id="37" name="TextBox 37"/>
            <p:cNvSpPr txBox="1"/>
            <p:nvPr/>
          </p:nvSpPr>
          <p:spPr>
            <a:xfrm>
              <a:off x="870204" y="5642610"/>
              <a:ext cx="8347968" cy="234696"/>
            </a:xfrm>
            <a:prstGeom prst="rect">
              <a:avLst/>
            </a:prstGeom>
            <a:noFill/>
            <a:ln>
              <a:noFill/>
            </a:ln>
          </p:spPr>
          <p:txBody>
            <a:bodyPr wrap="none" lIns="0" tIns="0" rIns="0" bIns="0" anchor="t" anchorCtr="0">
              <a:spAutoFit/>
            </a:bodyPr>
            <a:lstStyle/>
            <a:p>
              <a:pPr algn="l"/>
              <a:r>
                <a:rPr lang="en-US" sz="1200" dirty="0">
                  <a:solidFill>
                    <a:srgbClr val="41506A"/>
                  </a:solidFill>
                  <a:latin typeface="+mn-lt"/>
                  <a:ea typeface="+mn-ea"/>
                  <a:cs typeface="+mn-cs"/>
                </a:rPr>
                <a:t>IGP replaces the expensive exact-class query and still wins across five datasets and four GNN backbones,</a:t>
              </a:r>
            </a:p>
          </p:txBody>
        </p:sp>
        <p:sp>
          <p:nvSpPr>
            <p:cNvPr id="38" name="TextBox 38"/>
            <p:cNvSpPr txBox="1"/>
            <p:nvPr/>
          </p:nvSpPr>
          <p:spPr>
            <a:xfrm>
              <a:off x="870204" y="5871210"/>
              <a:ext cx="7418984" cy="234696"/>
            </a:xfrm>
            <a:prstGeom prst="rect">
              <a:avLst/>
            </a:prstGeom>
            <a:noFill/>
            <a:ln>
              <a:noFill/>
            </a:ln>
          </p:spPr>
          <p:txBody>
            <a:bodyPr wrap="none" lIns="0" tIns="0" rIns="0" bIns="0" anchor="t" anchorCtr="0">
              <a:spAutoFit/>
            </a:bodyPr>
            <a:lstStyle/>
            <a:p>
              <a:pPr algn="l"/>
              <a:r>
                <a:rPr lang="en-US" sz="1200" dirty="0">
                  <a:solidFill>
                    <a:srgbClr val="41506A"/>
                  </a:solidFill>
                  <a:latin typeface="+mn-lt"/>
                  <a:ea typeface="+mn-ea"/>
                  <a:cs typeface="+mn-cs"/>
                </a:rPr>
                <a:t>improving citation-network accuracy by 1.6 to 2.2 percent over the strongest prior method.</a:t>
              </a:r>
            </a:p>
          </p:txBody>
        </p:sp>
      </p:grpSp>
      <p:sp>
        <p:nvSpPr>
          <p:cNvPr id="40" name="cue_s09_c1_headline_numbers_86_4_percent_accura" title="cue_s09_c1_headline_numbers_86_4_percent_accura" descr="cue_s09_c1_headline_numbers_86_4_percent_accura The headline numbers: 86.4 percent accuracy on Cora, a 2.2 percent gain over the best baseline, state-of-the-art results across five datasets and four GNN backbones, all achieved by replacing the expensive exact-class question with one cheap binary query per n"/>
          <p:cNvSpPr/>
          <p:nvPr/>
        </p:nvSpPr>
        <p:spPr>
          <a:xfrm>
            <a:off x="609600" y="1562252"/>
            <a:ext cx="10972800" cy="46099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76200"/>
            </a:xfrm>
            <a:prstGeom prst="rect">
              <a:avLst/>
            </a:prstGeom>
            <a:solidFill>
              <a:schemeClr val="accent3"/>
            </a:solidFill>
            <a:ln>
              <a:noFill/>
            </a:ln>
          </p:spPr>
        </p:sp>
      </p:grpSp>
      <p:grpSp>
        <p:nvGrpSpPr>
          <p:cNvPr id="7" name="Group 7"/>
          <p:cNvGrpSpPr/>
          <p:nvPr/>
        </p:nvGrpSpPr>
        <p:grpSpPr>
          <a:xfrm>
            <a:off x="596646" y="564356"/>
            <a:ext cx="6003333" cy="764001"/>
            <a:chOff x="596646" y="564356"/>
            <a:chExt cx="6003333" cy="764001"/>
          </a:xfrm>
        </p:grpSpPr>
        <p:sp>
          <p:nvSpPr>
            <p:cNvPr id="5" name="TextBox 5"/>
            <p:cNvSpPr txBox="1"/>
            <p:nvPr/>
          </p:nvSpPr>
          <p:spPr>
            <a:xfrm>
              <a:off x="603885" y="564356"/>
              <a:ext cx="1413291"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09 · TAKEAWAY</a:t>
              </a:r>
            </a:p>
          </p:txBody>
        </p:sp>
        <p:sp>
          <p:nvSpPr>
            <p:cNvPr id="6" name="TextBox 6"/>
            <p:cNvSpPr txBox="1"/>
            <p:nvPr/>
          </p:nvSpPr>
          <p:spPr>
            <a:xfrm>
              <a:off x="596646" y="829628"/>
              <a:ext cx="6003333"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Cheaper questions, smarter picks</a:t>
              </a:r>
            </a:p>
          </p:txBody>
        </p:sp>
      </p:grpSp>
      <p:grpSp>
        <p:nvGrpSpPr>
          <p:cNvPr id="13" name="Group 13"/>
          <p:cNvGrpSpPr/>
          <p:nvPr/>
        </p:nvGrpSpPr>
        <p:grpSpPr>
          <a:xfrm>
            <a:off x="609600" y="1428750"/>
            <a:ext cx="10972800" cy="1200150"/>
            <a:chOff x="609600" y="1428750"/>
            <a:chExt cx="10972800" cy="1200150"/>
          </a:xfrm>
        </p:grpSpPr>
        <p:sp>
          <p:nvSpPr>
            <p:cNvPr id="8" name="Rectangle 8"/>
            <p:cNvSpPr/>
            <p:nvPr/>
          </p:nvSpPr>
          <p:spPr>
            <a:xfrm>
              <a:off x="609600" y="1428750"/>
              <a:ext cx="10972800" cy="1200150"/>
            </a:xfrm>
            <a:prstGeom prst="roundRect">
              <a:avLst>
                <a:gd name="adj" fmla="val 11111"/>
              </a:avLst>
            </a:prstGeom>
            <a:gradFill>
              <a:gsLst>
                <a:gs pos="0">
                  <a:schemeClr val="accent1"/>
                </a:gs>
                <a:gs pos="100000">
                  <a:srgbClr val="123A46"/>
                </a:gs>
              </a:gsLst>
              <a:lin ang="0" scaled="1"/>
            </a:gradFill>
            <a:ln>
              <a:noFill/>
            </a:ln>
          </p:spPr>
        </p:sp>
        <p:sp>
          <p:nvSpPr>
            <p:cNvPr id="9" name="Rectangle 9"/>
            <p:cNvSpPr/>
            <p:nvPr/>
          </p:nvSpPr>
          <p:spPr>
            <a:xfrm>
              <a:off x="609600" y="1428750"/>
              <a:ext cx="76200" cy="1200150"/>
            </a:xfrm>
            <a:prstGeom prst="roundRect">
              <a:avLst>
                <a:gd name="adj" fmla="val 50000"/>
              </a:avLst>
            </a:prstGeom>
            <a:solidFill>
              <a:schemeClr val="accent2"/>
            </a:solidFill>
            <a:ln>
              <a:noFill/>
            </a:ln>
          </p:spPr>
        </p:sp>
        <p:sp>
          <p:nvSpPr>
            <p:cNvPr id="10" name="TextBox 10"/>
            <p:cNvSpPr txBox="1"/>
            <p:nvPr/>
          </p:nvSpPr>
          <p:spPr>
            <a:xfrm>
              <a:off x="871347" y="1685449"/>
              <a:ext cx="1880540" cy="190690"/>
            </a:xfrm>
            <a:prstGeom prst="rect">
              <a:avLst/>
            </a:prstGeom>
            <a:noFill/>
            <a:ln>
              <a:noFill/>
            </a:ln>
          </p:spPr>
          <p:txBody>
            <a:bodyPr wrap="none" lIns="0" tIns="0" rIns="0" bIns="0" anchor="t" anchorCtr="0">
              <a:spAutoFit/>
            </a:bodyPr>
            <a:lstStyle/>
            <a:p>
              <a:pPr algn="l"/>
              <a:r>
                <a:rPr lang="en-US" sz="980" b="1" spc="75" dirty="0">
                  <a:solidFill>
                    <a:srgbClr val="7FD1C9"/>
                  </a:solidFill>
                  <a:latin typeface="+mn-lt"/>
                  <a:ea typeface="+mn-ea"/>
                  <a:cs typeface="+mn-cs"/>
                </a:rPr>
                <a:t>THE TAKEAWAY IS SIMPLE</a:t>
              </a:r>
            </a:p>
          </p:txBody>
        </p:sp>
        <p:sp>
          <p:nvSpPr>
            <p:cNvPr id="11" name="TextBox 11"/>
            <p:cNvSpPr txBox="1"/>
            <p:nvPr/>
          </p:nvSpPr>
          <p:spPr>
            <a:xfrm>
              <a:off x="866013" y="1953101"/>
              <a:ext cx="6525787" cy="396050"/>
            </a:xfrm>
            <a:prstGeom prst="rect">
              <a:avLst/>
            </a:prstGeom>
            <a:noFill/>
            <a:ln>
              <a:noFill/>
            </a:ln>
          </p:spPr>
          <p:txBody>
            <a:bodyPr wrap="none" lIns="0" tIns="0" rIns="0" bIns="0" anchor="t" anchorCtr="0">
              <a:spAutoFit/>
            </a:bodyPr>
            <a:lstStyle/>
            <a:p>
              <a:pPr algn="l"/>
              <a:r>
                <a:rPr lang="en-US" sz="2020" b="1" dirty="0">
                  <a:solidFill>
                    <a:srgbClr val="FFFFFF"/>
                  </a:solidFill>
                  <a:latin typeface="+mn-lt"/>
                  <a:ea typeface="+mn-ea"/>
                  <a:cs typeface="+mn-cs"/>
                </a:rPr>
                <a:t>Relax the question, and follow the propagation</a:t>
              </a:r>
            </a:p>
          </p:txBody>
        </p:sp>
        <p:sp>
          <p:nvSpPr>
            <p:cNvPr id="12" name="TextBox 12"/>
            <p:cNvSpPr txBox="1"/>
            <p:nvPr/>
          </p:nvSpPr>
          <p:spPr>
            <a:xfrm>
              <a:off x="870204" y="2327910"/>
              <a:ext cx="7521356" cy="234696"/>
            </a:xfrm>
            <a:prstGeom prst="rect">
              <a:avLst/>
            </a:prstGeom>
            <a:noFill/>
            <a:ln>
              <a:noFill/>
            </a:ln>
          </p:spPr>
          <p:txBody>
            <a:bodyPr wrap="none" lIns="0" tIns="0" rIns="0" bIns="0" anchor="t" anchorCtr="0">
              <a:spAutoFit/>
            </a:bodyPr>
            <a:lstStyle/>
            <a:p>
              <a:pPr algn="l"/>
              <a:r>
                <a:rPr lang="en-US" sz="1200" dirty="0">
                  <a:solidFill>
                    <a:srgbClr val="CBD8E6"/>
                  </a:solidFill>
                  <a:latin typeface="+mn-lt"/>
                  <a:ea typeface="+mn-ea"/>
                  <a:cs typeface="+mn-cs"/>
                </a:rPr>
                <a:t>A general recipe for graph active learning that is both more accurate and far cheaper to label.</a:t>
              </a:r>
            </a:p>
          </p:txBody>
        </p:sp>
      </p:grpSp>
      <p:grpSp>
        <p:nvGrpSpPr>
          <p:cNvPr id="32" name="Group 32"/>
          <p:cNvGrpSpPr/>
          <p:nvPr/>
        </p:nvGrpSpPr>
        <p:grpSpPr>
          <a:xfrm>
            <a:off x="609600" y="2781300"/>
            <a:ext cx="5334000" cy="3390900"/>
            <a:chOff x="609600" y="2781300"/>
            <a:chExt cx="5334000" cy="3390900"/>
          </a:xfrm>
        </p:grpSpPr>
        <p:sp>
          <p:nvSpPr>
            <p:cNvPr id="14" name="Rectangle 14"/>
            <p:cNvSpPr/>
            <p:nvPr/>
          </p:nvSpPr>
          <p:spPr>
            <a:xfrm>
              <a:off x="609600" y="2781300"/>
              <a:ext cx="5334000" cy="3390900"/>
            </a:xfrm>
            <a:prstGeom prst="roundRect">
              <a:avLst>
                <a:gd name="adj" fmla="val 3933"/>
              </a:avLst>
            </a:prstGeom>
            <a:solidFill>
              <a:schemeClr val="lt2"/>
            </a:solidFill>
            <a:ln w="14288">
              <a:solidFill>
                <a:schemeClr val="accent4"/>
              </a:solidFill>
            </a:ln>
          </p:spPr>
        </p:sp>
        <p:sp>
          <p:nvSpPr>
            <p:cNvPr id="15" name="Rectangle 15"/>
            <p:cNvSpPr/>
            <p:nvPr/>
          </p:nvSpPr>
          <p:spPr>
            <a:xfrm>
              <a:off x="609600" y="2781300"/>
              <a:ext cx="66675" cy="3390900"/>
            </a:xfrm>
            <a:prstGeom prst="roundRect">
              <a:avLst>
                <a:gd name="adj" fmla="val 42857"/>
              </a:avLst>
            </a:prstGeom>
            <a:solidFill>
              <a:schemeClr val="accent3"/>
            </a:solidFill>
            <a:ln>
              <a:noFill/>
            </a:ln>
          </p:spPr>
        </p:sp>
        <p:sp>
          <p:nvSpPr>
            <p:cNvPr id="16" name="TextBox 16"/>
            <p:cNvSpPr txBox="1"/>
            <p:nvPr/>
          </p:nvSpPr>
          <p:spPr>
            <a:xfrm>
              <a:off x="852297" y="2999899"/>
              <a:ext cx="837743" cy="190690"/>
            </a:xfrm>
            <a:prstGeom prst="rect">
              <a:avLst/>
            </a:prstGeom>
            <a:noFill/>
            <a:ln>
              <a:noFill/>
            </a:ln>
          </p:spPr>
          <p:txBody>
            <a:bodyPr wrap="none" lIns="0" tIns="0" rIns="0" bIns="0" anchor="t" anchorCtr="0">
              <a:spAutoFit/>
            </a:bodyPr>
            <a:lstStyle/>
            <a:p>
              <a:pPr algn="l"/>
              <a:r>
                <a:rPr lang="en-US" sz="980" b="1" spc="75" dirty="0">
                  <a:solidFill>
                    <a:schemeClr val="accent3"/>
                  </a:solidFill>
                  <a:latin typeface="+mn-lt"/>
                  <a:ea typeface="+mn-ea"/>
                  <a:cs typeface="+mn-cs"/>
                </a:rPr>
                <a:t>THE RECIPE</a:t>
              </a:r>
            </a:p>
          </p:txBody>
        </p:sp>
        <p:grpSp>
          <p:nvGrpSpPr>
            <p:cNvPr id="23" name="Group 23"/>
            <p:cNvGrpSpPr/>
            <p:nvPr/>
          </p:nvGrpSpPr>
          <p:grpSpPr>
            <a:xfrm>
              <a:off x="857250" y="3276600"/>
              <a:ext cx="4838700" cy="1257300"/>
              <a:chOff x="857250" y="3276600"/>
              <a:chExt cx="4838700" cy="1257300"/>
            </a:xfrm>
          </p:grpSpPr>
          <p:sp>
            <p:nvSpPr>
              <p:cNvPr id="17" name="Rectangle 17"/>
              <p:cNvSpPr/>
              <p:nvPr/>
            </p:nvSpPr>
            <p:spPr>
              <a:xfrm>
                <a:off x="857250" y="3276600"/>
                <a:ext cx="4838700" cy="1257300"/>
              </a:xfrm>
              <a:prstGeom prst="roundRect">
                <a:avLst>
                  <a:gd name="adj" fmla="val 9091"/>
                </a:avLst>
              </a:prstGeom>
              <a:solidFill>
                <a:schemeClr val="lt1"/>
              </a:solidFill>
              <a:ln w="9525">
                <a:solidFill>
                  <a:schemeClr val="accent4"/>
                </a:solidFill>
              </a:ln>
            </p:spPr>
          </p:sp>
          <p:sp>
            <p:nvSpPr>
              <p:cNvPr id="18" name="TextBox 18"/>
              <p:cNvSpPr txBox="1"/>
              <p:nvPr/>
            </p:nvSpPr>
            <p:spPr>
              <a:xfrm>
                <a:off x="1055370" y="3395662"/>
                <a:ext cx="197782"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1</a:t>
                </a:r>
              </a:p>
            </p:txBody>
          </p:sp>
          <p:sp>
            <p:nvSpPr>
              <p:cNvPr id="19" name="TextBox 19"/>
              <p:cNvSpPr txBox="1"/>
              <p:nvPr/>
            </p:nvSpPr>
            <p:spPr>
              <a:xfrm>
                <a:off x="1421511" y="3446621"/>
                <a:ext cx="2700663"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Ask a cheap binary question</a:t>
                </a:r>
              </a:p>
            </p:txBody>
          </p:sp>
          <p:sp>
            <p:nvSpPr>
              <p:cNvPr id="20" name="TextBox 20"/>
              <p:cNvSpPr txBox="1"/>
              <p:nvPr/>
            </p:nvSpPr>
            <p:spPr>
              <a:xfrm>
                <a:off x="1423035" y="3764756"/>
                <a:ext cx="260284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A simple yes-or-no query per node,</a:t>
                </a:r>
              </a:p>
            </p:txBody>
          </p:sp>
          <p:sp>
            <p:nvSpPr>
              <p:cNvPr id="21" name="TextBox 21"/>
              <p:cNvSpPr txBox="1"/>
              <p:nvPr/>
            </p:nvSpPr>
            <p:spPr>
              <a:xfrm>
                <a:off x="1423035" y="3974306"/>
                <a:ext cx="2619827"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instead of the exact class, yielding</a:t>
                </a:r>
              </a:p>
            </p:txBody>
          </p:sp>
          <p:sp>
            <p:nvSpPr>
              <p:cNvPr id="22" name="TextBox 22"/>
              <p:cNvSpPr txBox="1"/>
              <p:nvPr/>
            </p:nvSpPr>
            <p:spPr>
              <a:xfrm>
                <a:off x="1423035" y="4183856"/>
                <a:ext cx="985056" cy="220028"/>
              </a:xfrm>
              <a:prstGeom prst="rect">
                <a:avLst/>
              </a:prstGeom>
              <a:noFill/>
              <a:ln>
                <a:noFill/>
              </a:ln>
            </p:spPr>
            <p:txBody>
              <a:bodyPr wrap="none" lIns="0" tIns="0" rIns="0" bIns="0" anchor="t" anchorCtr="0">
                <a:spAutoFit/>
              </a:bodyPr>
              <a:lstStyle/>
              <a:p>
                <a:pPr algn="l"/>
                <a:r>
                  <a:rPr lang="en-US" sz="1120" b="1" dirty="0">
                    <a:solidFill>
                      <a:schemeClr val="accent3"/>
                    </a:solidFill>
                    <a:latin typeface="+mn-lt"/>
                    <a:ea typeface="+mn-ea"/>
                    <a:cs typeface="+mn-cs"/>
                  </a:rPr>
                  <a:t>a soft label.</a:t>
                </a:r>
              </a:p>
            </p:txBody>
          </p:sp>
        </p:grpSp>
        <p:grpSp>
          <p:nvGrpSpPr>
            <p:cNvPr id="31" name="Group 31"/>
            <p:cNvGrpSpPr/>
            <p:nvPr/>
          </p:nvGrpSpPr>
          <p:grpSpPr>
            <a:xfrm>
              <a:off x="857250" y="4648200"/>
              <a:ext cx="4838700" cy="1336834"/>
              <a:chOff x="857250" y="4648200"/>
              <a:chExt cx="4838700" cy="1336834"/>
            </a:xfrm>
          </p:grpSpPr>
          <p:sp>
            <p:nvSpPr>
              <p:cNvPr id="24" name="Rectangle 24"/>
              <p:cNvSpPr/>
              <p:nvPr/>
            </p:nvSpPr>
            <p:spPr>
              <a:xfrm>
                <a:off x="857250" y="4648200"/>
                <a:ext cx="4838700" cy="1333500"/>
              </a:xfrm>
              <a:prstGeom prst="roundRect">
                <a:avLst>
                  <a:gd name="adj" fmla="val 8571"/>
                </a:avLst>
              </a:prstGeom>
              <a:solidFill>
                <a:schemeClr val="lt1"/>
              </a:solidFill>
              <a:ln w="9525">
                <a:solidFill>
                  <a:schemeClr val="accent4"/>
                </a:solidFill>
              </a:ln>
            </p:spPr>
          </p:sp>
          <p:sp>
            <p:nvSpPr>
              <p:cNvPr id="25" name="TextBox 25"/>
              <p:cNvSpPr txBox="1"/>
              <p:nvPr/>
            </p:nvSpPr>
            <p:spPr>
              <a:xfrm>
                <a:off x="1055370" y="4767262"/>
                <a:ext cx="197782"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2</a:t>
                </a:r>
              </a:p>
            </p:txBody>
          </p:sp>
          <p:sp>
            <p:nvSpPr>
              <p:cNvPr id="26" name="TextBox 26"/>
              <p:cNvSpPr txBox="1"/>
              <p:nvPr/>
            </p:nvSpPr>
            <p:spPr>
              <a:xfrm>
                <a:off x="1421511" y="4818221"/>
                <a:ext cx="2238694"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Follow the propagation</a:t>
                </a:r>
              </a:p>
            </p:txBody>
          </p:sp>
          <p:sp>
            <p:nvSpPr>
              <p:cNvPr id="27" name="TextBox 27"/>
              <p:cNvSpPr txBox="1"/>
              <p:nvPr/>
            </p:nvSpPr>
            <p:spPr>
              <a:xfrm>
                <a:off x="1423035" y="5136356"/>
                <a:ext cx="2677457"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Select nodes whose information gain</a:t>
                </a:r>
              </a:p>
            </p:txBody>
          </p:sp>
          <p:sp>
            <p:nvSpPr>
              <p:cNvPr id="28" name="TextBox 28"/>
              <p:cNvSpPr txBox="1"/>
              <p:nvPr/>
            </p:nvSpPr>
            <p:spPr>
              <a:xfrm>
                <a:off x="1423035" y="5345906"/>
                <a:ext cx="1626224" cy="220028"/>
              </a:xfrm>
              <a:prstGeom prst="rect">
                <a:avLst/>
              </a:prstGeom>
              <a:noFill/>
              <a:ln>
                <a:noFill/>
              </a:ln>
            </p:spPr>
            <p:txBody>
              <a:bodyPr wrap="none" lIns="0" tIns="0" rIns="0" bIns="0" anchor="t" anchorCtr="0">
                <a:spAutoFit/>
              </a:bodyPr>
              <a:lstStyle/>
              <a:p>
                <a:pPr algn="l"/>
                <a:r>
                  <a:rPr lang="en-US" sz="1120" b="1" dirty="0">
                    <a:solidFill>
                      <a:schemeClr val="accent3"/>
                    </a:solidFill>
                    <a:latin typeface="+mn-lt"/>
                    <a:ea typeface="+mn-ea"/>
                    <a:cs typeface="+mn-cs"/>
                  </a:rPr>
                  <a:t>propagates farthest</a:t>
                </a:r>
              </a:p>
            </p:txBody>
          </p:sp>
          <p:sp>
            <p:nvSpPr>
              <p:cNvPr id="29" name="TextBox 29"/>
              <p:cNvSpPr txBox="1"/>
              <p:nvPr/>
            </p:nvSpPr>
            <p:spPr>
              <a:xfrm>
                <a:off x="1423035" y="5555456"/>
                <a:ext cx="2680137"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across the graph, not just the most</a:t>
                </a:r>
              </a:p>
            </p:txBody>
          </p:sp>
          <p:sp>
            <p:nvSpPr>
              <p:cNvPr id="30" name="TextBox 30"/>
              <p:cNvSpPr txBox="1"/>
              <p:nvPr/>
            </p:nvSpPr>
            <p:spPr>
              <a:xfrm>
                <a:off x="1423035" y="5765006"/>
                <a:ext cx="1647332"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uncertain single node.</a:t>
                </a:r>
              </a:p>
            </p:txBody>
          </p:sp>
        </p:grpSp>
      </p:grpSp>
      <p:grpSp>
        <p:nvGrpSpPr>
          <p:cNvPr id="46" name="Group 46"/>
          <p:cNvGrpSpPr/>
          <p:nvPr/>
        </p:nvGrpSpPr>
        <p:grpSpPr>
          <a:xfrm>
            <a:off x="6248400" y="2781300"/>
            <a:ext cx="5334000" cy="3390900"/>
            <a:chOff x="6248400" y="2781300"/>
            <a:chExt cx="5334000" cy="3390900"/>
          </a:xfrm>
        </p:grpSpPr>
        <p:sp>
          <p:nvSpPr>
            <p:cNvPr id="33" name="Rectangle 33"/>
            <p:cNvSpPr/>
            <p:nvPr/>
          </p:nvSpPr>
          <p:spPr>
            <a:xfrm>
              <a:off x="6248400" y="2781300"/>
              <a:ext cx="5334000" cy="3390900"/>
            </a:xfrm>
            <a:prstGeom prst="roundRect">
              <a:avLst>
                <a:gd name="adj" fmla="val 3933"/>
              </a:avLst>
            </a:prstGeom>
            <a:solidFill>
              <a:schemeClr val="accent1"/>
            </a:solidFill>
            <a:ln>
              <a:noFill/>
            </a:ln>
          </p:spPr>
        </p:sp>
        <p:sp>
          <p:nvSpPr>
            <p:cNvPr id="34" name="Rectangle 34"/>
            <p:cNvSpPr/>
            <p:nvPr/>
          </p:nvSpPr>
          <p:spPr>
            <a:xfrm>
              <a:off x="6248400" y="2781300"/>
              <a:ext cx="76200" cy="3390900"/>
            </a:xfrm>
            <a:prstGeom prst="roundRect">
              <a:avLst>
                <a:gd name="adj" fmla="val 50000"/>
              </a:avLst>
            </a:prstGeom>
            <a:solidFill>
              <a:schemeClr val="accent3"/>
            </a:solidFill>
            <a:ln>
              <a:noFill/>
            </a:ln>
          </p:spPr>
        </p:sp>
        <p:sp>
          <p:nvSpPr>
            <p:cNvPr id="35" name="TextBox 35"/>
            <p:cNvSpPr txBox="1"/>
            <p:nvPr/>
          </p:nvSpPr>
          <p:spPr>
            <a:xfrm>
              <a:off x="6510147" y="2999899"/>
              <a:ext cx="1078626" cy="190690"/>
            </a:xfrm>
            <a:prstGeom prst="rect">
              <a:avLst/>
            </a:prstGeom>
            <a:noFill/>
            <a:ln>
              <a:noFill/>
            </a:ln>
          </p:spPr>
          <p:txBody>
            <a:bodyPr wrap="none" lIns="0" tIns="0" rIns="0" bIns="0" anchor="t" anchorCtr="0">
              <a:spAutoFit/>
            </a:bodyPr>
            <a:lstStyle/>
            <a:p>
              <a:pPr algn="l"/>
              <a:r>
                <a:rPr lang="en-US" sz="980" b="1" spc="75" dirty="0">
                  <a:solidFill>
                    <a:srgbClr val="7FD1C9"/>
                  </a:solidFill>
                  <a:latin typeface="+mn-lt"/>
                  <a:ea typeface="+mn-ea"/>
                  <a:cs typeface="+mn-cs"/>
                </a:rPr>
                <a:t>WHAT YOU GET</a:t>
              </a:r>
            </a:p>
          </p:txBody>
        </p:sp>
        <p:sp>
          <p:nvSpPr>
            <p:cNvPr id="36" name="TextBox 36"/>
            <p:cNvSpPr txBox="1"/>
            <p:nvPr/>
          </p:nvSpPr>
          <p:spPr>
            <a:xfrm>
              <a:off x="6505956" y="3291840"/>
              <a:ext cx="3525726"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More accurate, far cheaper</a:t>
              </a:r>
            </a:p>
          </p:txBody>
        </p:sp>
        <p:sp>
          <p:nvSpPr>
            <p:cNvPr id="37" name="Rectangle 37"/>
            <p:cNvSpPr/>
            <p:nvPr/>
          </p:nvSpPr>
          <p:spPr>
            <a:xfrm>
              <a:off x="6515100" y="3733800"/>
              <a:ext cx="4800600" cy="914400"/>
            </a:xfrm>
            <a:prstGeom prst="roundRect">
              <a:avLst>
                <a:gd name="adj" fmla="val 12500"/>
              </a:avLst>
            </a:prstGeom>
            <a:solidFill>
              <a:srgbClr val="0E2230"/>
            </a:solidFill>
            <a:ln w="9525">
              <a:solidFill>
                <a:srgbClr val="28485A"/>
              </a:solidFill>
            </a:ln>
          </p:spPr>
        </p:sp>
        <p:sp>
          <p:nvSpPr>
            <p:cNvPr id="38" name="TextBox 38"/>
            <p:cNvSpPr txBox="1"/>
            <p:nvPr/>
          </p:nvSpPr>
          <p:spPr>
            <a:xfrm>
              <a:off x="6737223" y="3939064"/>
              <a:ext cx="2524735"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mn-lt"/>
                  <a:ea typeface="+mn-ea"/>
                  <a:cs typeface="+mn-cs"/>
                </a:rPr>
                <a:t>Higher test accuracy across</a:t>
              </a:r>
            </a:p>
          </p:txBody>
        </p:sp>
        <p:sp>
          <p:nvSpPr>
            <p:cNvPr id="39" name="TextBox 39"/>
            <p:cNvSpPr txBox="1"/>
            <p:nvPr/>
          </p:nvSpPr>
          <p:spPr>
            <a:xfrm>
              <a:off x="6737223" y="4167664"/>
              <a:ext cx="2365035"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mn-lt"/>
                  <a:ea typeface="+mn-ea"/>
                  <a:cs typeface="+mn-cs"/>
                </a:rPr>
                <a:t>every dataset and budget,</a:t>
              </a:r>
            </a:p>
          </p:txBody>
        </p:sp>
        <p:sp>
          <p:nvSpPr>
            <p:cNvPr id="40" name="TextBox 40"/>
            <p:cNvSpPr txBox="1"/>
            <p:nvPr/>
          </p:nvSpPr>
          <p:spPr>
            <a:xfrm>
              <a:off x="6737223" y="4396264"/>
              <a:ext cx="2374081" cy="249364"/>
            </a:xfrm>
            <a:prstGeom prst="rect">
              <a:avLst/>
            </a:prstGeom>
            <a:noFill/>
            <a:ln>
              <a:noFill/>
            </a:ln>
          </p:spPr>
          <p:txBody>
            <a:bodyPr wrap="none" lIns="0" tIns="0" rIns="0" bIns="0" anchor="t" anchorCtr="0">
              <a:spAutoFit/>
            </a:bodyPr>
            <a:lstStyle/>
            <a:p>
              <a:pPr algn="l"/>
              <a:r>
                <a:rPr lang="en-US" sz="1280" b="1" dirty="0">
                  <a:solidFill>
                    <a:srgbClr val="F6A87F"/>
                  </a:solidFill>
                  <a:latin typeface="+mn-lt"/>
                  <a:ea typeface="+mn-ea"/>
                  <a:cs typeface="+mn-cs"/>
                </a:rPr>
                <a:t>at far lower labeling cost.</a:t>
              </a:r>
            </a:p>
          </p:txBody>
        </p:sp>
        <p:sp>
          <p:nvSpPr>
            <p:cNvPr id="41" name="Rectangle 41"/>
            <p:cNvSpPr/>
            <p:nvPr/>
          </p:nvSpPr>
          <p:spPr>
            <a:xfrm>
              <a:off x="6515100" y="4762500"/>
              <a:ext cx="4800600" cy="685800"/>
            </a:xfrm>
            <a:prstGeom prst="roundRect">
              <a:avLst>
                <a:gd name="adj" fmla="val 16667"/>
              </a:avLst>
            </a:prstGeom>
            <a:solidFill>
              <a:srgbClr val="0E2230"/>
            </a:solidFill>
            <a:ln w="9525">
              <a:solidFill>
                <a:srgbClr val="28485A"/>
              </a:solidFill>
            </a:ln>
          </p:spPr>
        </p:sp>
        <p:sp>
          <p:nvSpPr>
            <p:cNvPr id="42" name="TextBox 42"/>
            <p:cNvSpPr txBox="1"/>
            <p:nvPr/>
          </p:nvSpPr>
          <p:spPr>
            <a:xfrm>
              <a:off x="6738366" y="4973002"/>
              <a:ext cx="1220739" cy="205359"/>
            </a:xfrm>
            <a:prstGeom prst="rect">
              <a:avLst/>
            </a:prstGeom>
            <a:noFill/>
            <a:ln>
              <a:noFill/>
            </a:ln>
          </p:spPr>
          <p:txBody>
            <a:bodyPr wrap="none" lIns="0" tIns="0" rIns="0" bIns="0" anchor="t" anchorCtr="0">
              <a:spAutoFit/>
            </a:bodyPr>
            <a:lstStyle/>
            <a:p>
              <a:pPr algn="l"/>
              <a:r>
                <a:rPr lang="en-US" sz="1050" b="1" spc="75" dirty="0">
                  <a:solidFill>
                    <a:srgbClr val="7FD1C9"/>
                  </a:solidFill>
                  <a:latin typeface="+mn-lt"/>
                  <a:ea typeface="+mn-ea"/>
                  <a:cs typeface="+mn-cs"/>
                </a:rPr>
                <a:t>FULLY GENERAL</a:t>
              </a:r>
            </a:p>
          </p:txBody>
        </p:sp>
        <p:sp>
          <p:nvSpPr>
            <p:cNvPr id="43" name="TextBox 43"/>
            <p:cNvSpPr txBox="1"/>
            <p:nvPr/>
          </p:nvSpPr>
          <p:spPr>
            <a:xfrm>
              <a:off x="6737604" y="5185410"/>
              <a:ext cx="3978747" cy="234696"/>
            </a:xfrm>
            <a:prstGeom prst="rect">
              <a:avLst/>
            </a:prstGeom>
            <a:noFill/>
            <a:ln>
              <a:noFill/>
            </a:ln>
          </p:spPr>
          <p:txBody>
            <a:bodyPr wrap="none" lIns="0" tIns="0" rIns="0" bIns="0" anchor="t" anchorCtr="0">
              <a:spAutoFit/>
            </a:bodyPr>
            <a:lstStyle/>
            <a:p>
              <a:pPr algn="l"/>
              <a:r>
                <a:rPr lang="en-US" sz="1200" b="1" dirty="0">
                  <a:solidFill>
                    <a:srgbClr val="CBD8E6"/>
                  </a:solidFill>
                  <a:latin typeface="+mn-lt"/>
                  <a:ea typeface="+mn-ea"/>
                  <a:cs typeface="+mn-cs"/>
                </a:rPr>
                <a:t>Works with any graph neural network backbone.</a:t>
              </a:r>
            </a:p>
          </p:txBody>
        </p:sp>
        <p:sp>
          <p:nvSpPr>
            <p:cNvPr id="44" name="TextBox 44"/>
            <p:cNvSpPr txBox="1"/>
            <p:nvPr/>
          </p:nvSpPr>
          <p:spPr>
            <a:xfrm>
              <a:off x="6509766" y="5658802"/>
              <a:ext cx="2973130" cy="205359"/>
            </a:xfrm>
            <a:prstGeom prst="rect">
              <a:avLst/>
            </a:prstGeom>
            <a:noFill/>
            <a:ln>
              <a:noFill/>
            </a:ln>
          </p:spPr>
          <p:txBody>
            <a:bodyPr wrap="none" lIns="0" tIns="0" rIns="0" bIns="0" anchor="t" anchorCtr="0">
              <a:spAutoFit/>
            </a:bodyPr>
            <a:lstStyle/>
            <a:p>
              <a:pPr algn="l"/>
              <a:r>
                <a:rPr lang="en-US" sz="1050" b="1" dirty="0">
                  <a:solidFill>
                    <a:srgbClr val="8FA3B5"/>
                  </a:solidFill>
                  <a:latin typeface="+mn-lt"/>
                  <a:ea typeface="+mn-ea"/>
                  <a:cs typeface="+mn-cs"/>
                </a:rPr>
                <a:t>Information Gain Propagation · ICLR 2022</a:t>
              </a:r>
            </a:p>
          </p:txBody>
        </p:sp>
        <p:sp>
          <p:nvSpPr>
            <p:cNvPr id="45" name="TextBox 45"/>
            <p:cNvSpPr txBox="1"/>
            <p:nvPr/>
          </p:nvSpPr>
          <p:spPr>
            <a:xfrm>
              <a:off x="6509766" y="5868352"/>
              <a:ext cx="1294012" cy="205359"/>
            </a:xfrm>
            <a:prstGeom prst="rect">
              <a:avLst/>
            </a:prstGeom>
            <a:noFill/>
            <a:ln>
              <a:noFill/>
            </a:ln>
          </p:spPr>
          <p:txBody>
            <a:bodyPr wrap="none" lIns="0" tIns="0" rIns="0" bIns="0" anchor="t" anchorCtr="0">
              <a:spAutoFit/>
            </a:bodyPr>
            <a:lstStyle/>
            <a:p>
              <a:pPr algn="l"/>
              <a:r>
                <a:rPr lang="en-US" sz="1050" b="1" dirty="0">
                  <a:solidFill>
                    <a:srgbClr val="8FA3B5"/>
                  </a:solidFill>
                  <a:latin typeface="+mn-lt"/>
                  <a:ea typeface="+mn-ea"/>
                  <a:cs typeface="+mn-cs"/>
                </a:rPr>
                <a:t>arXiv:2203.01093</a:t>
              </a:r>
            </a:p>
          </p:txBody>
        </p:sp>
      </p:grpSp>
      <p:sp>
        <p:nvSpPr>
          <p:cNvPr id="47" name="cue_s10_c1_takeaway_simple" title="cue_s10_c1_takeaway_simple" descr="cue_s10_c1_takeaway_simple The takeaway is simple."/>
          <p:cNvSpPr/>
          <p:nvPr/>
        </p:nvSpPr>
        <p:spPr>
          <a:xfrm>
            <a:off x="609600" y="1428521"/>
            <a:ext cx="10972800" cy="12001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10_c2_ask_cheap_binary_yes_or_no_question" title="cue_s10_c2_ask_cheap_binary_yes_or_no_question" descr="cue_s10_c2_ask_cheap_binary_yes_or_no_question Ask a cheap binary yes-or-no question, and select nodes whose information gain propagates farthest across the graph."/>
          <p:cNvSpPr/>
          <p:nvPr/>
        </p:nvSpPr>
        <p:spPr>
          <a:xfrm>
            <a:off x="609600" y="2781604"/>
            <a:ext cx="5334000"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10_c3_igp_makes_graph_active_learning" title="cue_s10_c3_igp_makes_graph_active_learning" descr="cue_s10_c3_igp_makes_graph_active_learning IGP makes graph active learning both more accurate and far cheaper to label, and works with any graph neural network."/>
          <p:cNvSpPr/>
          <p:nvPr/>
        </p:nvSpPr>
        <p:spPr>
          <a:xfrm>
            <a:off x="6248399" y="2781604"/>
            <a:ext cx="5334000"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igp_video">
  <a:themeElements>
    <a:clrScheme name="igp_video">
      <a:dk1>
        <a:srgbClr val="1B2430"/>
      </a:dk1>
      <a:lt1>
        <a:srgbClr val="FFFFFF"/>
      </a:lt1>
      <a:dk2>
        <a:srgbClr val="55606E"/>
      </a:dk2>
      <a:lt2>
        <a:srgbClr val="F4F7FA"/>
      </a:lt2>
      <a:accent1>
        <a:srgbClr val="14243D"/>
      </a:accent1>
      <a:accent2>
        <a:srgbClr val="E4572E"/>
      </a:accent2>
      <a:accent3>
        <a:srgbClr val="1F7A8C"/>
      </a:accent3>
      <a:accent4>
        <a:srgbClr val="DCE3ED"/>
      </a:accent4>
      <a:accent5>
        <a:srgbClr val="8A94A3"/>
      </a:accent5>
      <a:accent6>
        <a:srgbClr val="EAF2F4"/>
      </a:accent6>
      <a:hlink>
        <a:srgbClr val="E4572E"/>
      </a:hlink>
      <a:folHlink>
        <a:srgbClr val="1F7A8C"/>
      </a:folHlink>
    </a:clrScheme>
    <a:fontScheme name="igp_vide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gp_vide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2026-07-15T17:33:03Z</dcterms:created>
  <dcterms:modified xsi:type="dcterms:W3CDTF">2026-07-15T17:33:03Z</dcterms:modified>
  <cp:category/>
  <cp:contentStatus/>
</cp:coreProperties>
</file>
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_projec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_projec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2265883" cy="205359"/>
          </a:xfrm>
          <a:prstGeom prst="rect">
            <a:avLst/>
          </a:prstGeom>
          <a:noFill/>
          <a:ln>
            <a:noFill/>
          </a:ln>
        </p:spPr>
        <p:txBody>
          <a:bodyPr wrap="none" lIns="0" tIns="0" rIns="0" bIns="0" anchor="t" anchorCtr="0">
            <a:spAutoFit/>
          </a:bodyPr>
          <a:lstStyle/>
          <a:p>
            <a:pPr algn="l"/>
            <a:r>
              <a:rPr lang="en-US" sz="1050" b="1" spc="188" dirty="0">
                <a:solidFill>
                  <a:schemeClr val="accent2"/>
                </a:solidFill>
                <a:latin typeface="+mn-lt"/>
                <a:ea typeface="+mn-ea"/>
                <a:cs typeface="+mn-cs"/>
              </a:rPr>
              <a:t>ICLR 2022 · OFFLINE RL</a:t>
            </a:r>
          </a:p>
        </p:txBody>
      </p:sp>
      <p:sp>
        <p:nvSpPr>
          <p:cNvPr id="3" name="TextBox 3"/>
          <p:cNvSpPr txBox="1"/>
          <p:nvPr/>
        </p:nvSpPr>
        <p:spPr>
          <a:xfrm>
            <a:off x="10274936" y="572452"/>
            <a:ext cx="1312798"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UC Berkeley · CMU</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grpSp>
        <p:nvGrpSpPr>
          <p:cNvPr id="7" name="Group 7"/>
          <p:cNvGrpSpPr/>
          <p:nvPr/>
        </p:nvGrpSpPr>
        <p:grpSpPr>
          <a:xfrm>
            <a:off x="592074" y="1227772"/>
            <a:ext cx="8928884" cy="1208151"/>
            <a:chOff x="592074" y="1227772"/>
            <a:chExt cx="8928884" cy="1208151"/>
          </a:xfrm>
        </p:grpSpPr>
        <p:sp>
          <p:nvSpPr>
            <p:cNvPr id="5" name="TextBox 5"/>
            <p:cNvSpPr txBox="1"/>
            <p:nvPr/>
          </p:nvSpPr>
          <p:spPr>
            <a:xfrm>
              <a:off x="592074" y="1227772"/>
              <a:ext cx="8928884" cy="674751"/>
            </a:xfrm>
            <a:prstGeom prst="rect">
              <a:avLst/>
            </a:prstGeom>
            <a:noFill/>
            <a:ln>
              <a:noFill/>
            </a:ln>
          </p:spPr>
          <p:txBody>
            <a:bodyPr wrap="none" lIns="0" tIns="0" rIns="0" bIns="0" anchor="t" anchorCtr="0">
              <a:spAutoFit/>
            </a:bodyPr>
            <a:lstStyle/>
            <a:p>
              <a:pPr algn="l"/>
              <a:r>
                <a:rPr lang="en-US" sz="3450" b="1" dirty="0">
                  <a:solidFill>
                    <a:srgbClr val="FFFFFF"/>
                  </a:solidFill>
                  <a:latin typeface="+mn-lt"/>
                  <a:ea typeface="+mn-ea"/>
                  <a:cs typeface="+mn-cs"/>
                </a:rPr>
                <a:t>RvS: What is Essential for Offline RL</a:t>
              </a:r>
            </a:p>
          </p:txBody>
        </p:sp>
        <p:sp>
          <p:nvSpPr>
            <p:cNvPr id="6" name="TextBox 6"/>
            <p:cNvSpPr txBox="1"/>
            <p:nvPr/>
          </p:nvSpPr>
          <p:spPr>
            <a:xfrm>
              <a:off x="592074" y="1761172"/>
              <a:ext cx="5894016" cy="674751"/>
            </a:xfrm>
            <a:prstGeom prst="rect">
              <a:avLst/>
            </a:prstGeom>
            <a:noFill/>
            <a:ln>
              <a:noFill/>
            </a:ln>
          </p:spPr>
          <p:txBody>
            <a:bodyPr wrap="none" lIns="0" tIns="0" rIns="0" bIns="0" anchor="t" anchorCtr="0">
              <a:spAutoFit/>
            </a:bodyPr>
            <a:lstStyle/>
            <a:p>
              <a:pPr algn="l"/>
              <a:r>
                <a:rPr lang="en-US" sz="3450" b="1" dirty="0">
                  <a:solidFill>
                    <a:schemeClr val="accent2"/>
                  </a:solidFill>
                  <a:latin typeface="+mn-lt"/>
                  <a:ea typeface="+mn-ea"/>
                  <a:cs typeface="+mn-cs"/>
                </a:rPr>
                <a:t>via Supervised Learning?</a:t>
              </a:r>
            </a:p>
          </p:txBody>
        </p:sp>
      </p:grpSp>
      <p:grpSp>
        <p:nvGrpSpPr>
          <p:cNvPr id="12" name="Group 12"/>
          <p:cNvGrpSpPr/>
          <p:nvPr/>
        </p:nvGrpSpPr>
        <p:grpSpPr>
          <a:xfrm>
            <a:off x="609600" y="2495550"/>
            <a:ext cx="10972800" cy="609600"/>
            <a:chOff x="609600" y="2495550"/>
            <a:chExt cx="10972800" cy="609600"/>
          </a:xfrm>
        </p:grpSpPr>
        <p:sp>
          <p:nvSpPr>
            <p:cNvPr id="8" name="Rectangle 8"/>
            <p:cNvSpPr/>
            <p:nvPr/>
          </p:nvSpPr>
          <p:spPr>
            <a:xfrm>
              <a:off x="609600" y="2495550"/>
              <a:ext cx="10972800" cy="609600"/>
            </a:xfrm>
            <a:prstGeom prst="roundRect">
              <a:avLst>
                <a:gd name="adj" fmla="val 21875"/>
              </a:avLst>
            </a:prstGeom>
            <a:solidFill>
              <a:schemeClr val="accent5"/>
            </a:solidFill>
            <a:ln w="14288">
              <a:solidFill>
                <a:srgbClr val="26455F"/>
              </a:solidFill>
            </a:ln>
          </p:spPr>
        </p:sp>
        <p:sp>
          <p:nvSpPr>
            <p:cNvPr id="9" name="Rectangle 9"/>
            <p:cNvSpPr/>
            <p:nvPr/>
          </p:nvSpPr>
          <p:spPr>
            <a:xfrm>
              <a:off x="609600" y="2495550"/>
              <a:ext cx="57150" cy="609600"/>
            </a:xfrm>
            <a:prstGeom prst="roundRect">
              <a:avLst>
                <a:gd name="adj" fmla="val 50000"/>
              </a:avLst>
            </a:prstGeom>
            <a:solidFill>
              <a:srgbClr val="34D3C0"/>
            </a:solidFill>
            <a:ln>
              <a:noFill/>
            </a:ln>
          </p:spPr>
        </p:sp>
        <p:sp>
          <p:nvSpPr>
            <p:cNvPr id="10" name="TextBox 10"/>
            <p:cNvSpPr txBox="1"/>
            <p:nvPr/>
          </p:nvSpPr>
          <p:spPr>
            <a:xfrm>
              <a:off x="870204" y="2632710"/>
              <a:ext cx="564040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Scott Emmons · Benjamin Eysenbach · Ilya Kostrikov · Sergey Levine</a:t>
              </a:r>
            </a:p>
          </p:txBody>
        </p:sp>
        <p:sp>
          <p:nvSpPr>
            <p:cNvPr id="11" name="TextBox 11"/>
            <p:cNvSpPr txBox="1"/>
            <p:nvPr/>
          </p:nvSpPr>
          <p:spPr>
            <a:xfrm>
              <a:off x="870776" y="2873454"/>
              <a:ext cx="783884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RvS = Reinforcement learning via Supervised learning — a unifying view of conditional imitation for offline RL.</a:t>
              </a:r>
            </a:p>
          </p:txBody>
        </p:sp>
      </p:grpSp>
      <p:grpSp>
        <p:nvGrpSpPr>
          <p:cNvPr id="20" name="Group 20"/>
          <p:cNvGrpSpPr/>
          <p:nvPr/>
        </p:nvGrpSpPr>
        <p:grpSpPr>
          <a:xfrm>
            <a:off x="609600" y="3352800"/>
            <a:ext cx="5372100" cy="1809750"/>
            <a:chOff x="609600" y="3352800"/>
            <a:chExt cx="5372100" cy="1809750"/>
          </a:xfrm>
        </p:grpSpPr>
        <p:sp>
          <p:nvSpPr>
            <p:cNvPr id="13" name="Rectangle 13"/>
            <p:cNvSpPr/>
            <p:nvPr/>
          </p:nvSpPr>
          <p:spPr>
            <a:xfrm>
              <a:off x="609600" y="3352800"/>
              <a:ext cx="5372100" cy="1809750"/>
            </a:xfrm>
            <a:prstGeom prst="roundRect">
              <a:avLst>
                <a:gd name="adj" fmla="val 7368"/>
              </a:avLst>
            </a:prstGeom>
            <a:solidFill>
              <a:schemeClr val="accent5"/>
            </a:solidFill>
            <a:ln w="14288">
              <a:solidFill>
                <a:srgbClr val="26455F"/>
              </a:solidFill>
            </a:ln>
          </p:spPr>
        </p:sp>
        <p:sp>
          <p:nvSpPr>
            <p:cNvPr id="14" name="Rectangle 14"/>
            <p:cNvSpPr/>
            <p:nvPr/>
          </p:nvSpPr>
          <p:spPr>
            <a:xfrm>
              <a:off x="609600" y="3352800"/>
              <a:ext cx="57150" cy="1809750"/>
            </a:xfrm>
            <a:prstGeom prst="roundRect">
              <a:avLst>
                <a:gd name="adj" fmla="val 50000"/>
              </a:avLst>
            </a:prstGeom>
            <a:solidFill>
              <a:srgbClr val="48C78E"/>
            </a:solidFill>
            <a:ln>
              <a:noFill/>
            </a:ln>
          </p:spPr>
        </p:sp>
        <p:sp>
          <p:nvSpPr>
            <p:cNvPr id="15" name="TextBox 15"/>
            <p:cNvSpPr txBox="1"/>
            <p:nvPr/>
          </p:nvSpPr>
          <p:spPr>
            <a:xfrm>
              <a:off x="869823" y="3596164"/>
              <a:ext cx="1936232" cy="249364"/>
            </a:xfrm>
            <a:prstGeom prst="rect">
              <a:avLst/>
            </a:prstGeom>
            <a:noFill/>
            <a:ln>
              <a:noFill/>
            </a:ln>
          </p:spPr>
          <p:txBody>
            <a:bodyPr wrap="none" lIns="0" tIns="0" rIns="0" bIns="0" anchor="t" anchorCtr="0">
              <a:spAutoFit/>
            </a:bodyPr>
            <a:lstStyle/>
            <a:p>
              <a:pPr algn="l"/>
              <a:r>
                <a:rPr lang="en-US" sz="1280" b="1" dirty="0">
                  <a:solidFill>
                    <a:srgbClr val="48C78E"/>
                  </a:solidFill>
                  <a:latin typeface="+mn-lt"/>
                  <a:ea typeface="+mn-ea"/>
                  <a:cs typeface="+mn-cs"/>
                </a:rPr>
                <a:t>The surprising finding</a:t>
              </a:r>
            </a:p>
          </p:txBody>
        </p:sp>
        <p:sp>
          <p:nvSpPr>
            <p:cNvPr id="16" name="TextBox 16"/>
            <p:cNvSpPr txBox="1"/>
            <p:nvPr/>
          </p:nvSpPr>
          <p:spPr>
            <a:xfrm>
              <a:off x="870585" y="3917156"/>
              <a:ext cx="413274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plain two-layer feedforward network, trained just to</a:t>
              </a:r>
            </a:p>
          </p:txBody>
        </p:sp>
        <p:sp>
          <p:nvSpPr>
            <p:cNvPr id="17" name="TextBox 17"/>
            <p:cNvSpPr txBox="1"/>
            <p:nvPr/>
          </p:nvSpPr>
          <p:spPr>
            <a:xfrm>
              <a:off x="870585" y="4145756"/>
              <a:ext cx="415018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maximize likelihood, matches state-of-the-art methods</a:t>
              </a:r>
            </a:p>
          </p:txBody>
        </p:sp>
        <p:sp>
          <p:nvSpPr>
            <p:cNvPr id="18" name="TextBox 18"/>
            <p:cNvSpPr txBox="1"/>
            <p:nvPr/>
          </p:nvSpPr>
          <p:spPr>
            <a:xfrm>
              <a:off x="870585" y="4374356"/>
              <a:ext cx="397412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built on temporal-difference learning or Transformer</a:t>
              </a:r>
            </a:p>
          </p:txBody>
        </p:sp>
        <p:sp>
          <p:nvSpPr>
            <p:cNvPr id="19" name="TextBox 19"/>
            <p:cNvSpPr txBox="1"/>
            <p:nvPr/>
          </p:nvSpPr>
          <p:spPr>
            <a:xfrm>
              <a:off x="870585" y="4602956"/>
              <a:ext cx="129301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sequence models.</a:t>
              </a:r>
            </a:p>
          </p:txBody>
        </p:sp>
      </p:grpSp>
      <p:grpSp>
        <p:nvGrpSpPr>
          <p:cNvPr id="31" name="Group 31"/>
          <p:cNvGrpSpPr/>
          <p:nvPr/>
        </p:nvGrpSpPr>
        <p:grpSpPr>
          <a:xfrm>
            <a:off x="6210300" y="3352800"/>
            <a:ext cx="5372100" cy="1809750"/>
            <a:chOff x="6210300" y="3352800"/>
            <a:chExt cx="5372100" cy="1809750"/>
          </a:xfrm>
        </p:grpSpPr>
        <p:sp>
          <p:nvSpPr>
            <p:cNvPr id="21" name="Rectangle 21"/>
            <p:cNvSpPr/>
            <p:nvPr/>
          </p:nvSpPr>
          <p:spPr>
            <a:xfrm>
              <a:off x="6210300" y="3352800"/>
              <a:ext cx="5372100" cy="1809750"/>
            </a:xfrm>
            <a:prstGeom prst="roundRect">
              <a:avLst>
                <a:gd name="adj" fmla="val 7368"/>
              </a:avLst>
            </a:prstGeom>
            <a:solidFill>
              <a:schemeClr val="accent5"/>
            </a:solidFill>
            <a:ln w="14288">
              <a:solidFill>
                <a:srgbClr val="26455F"/>
              </a:solidFill>
            </a:ln>
          </p:spPr>
        </p:sp>
        <p:sp>
          <p:nvSpPr>
            <p:cNvPr id="22" name="Rectangle 22"/>
            <p:cNvSpPr/>
            <p:nvPr/>
          </p:nvSpPr>
          <p:spPr>
            <a:xfrm>
              <a:off x="6210300" y="3352800"/>
              <a:ext cx="57150" cy="1809750"/>
            </a:xfrm>
            <a:prstGeom prst="roundRect">
              <a:avLst>
                <a:gd name="adj" fmla="val 50000"/>
              </a:avLst>
            </a:prstGeom>
            <a:solidFill>
              <a:srgbClr val="F2C14E"/>
            </a:solidFill>
            <a:ln>
              <a:noFill/>
            </a:ln>
          </p:spPr>
        </p:sp>
        <p:sp>
          <p:nvSpPr>
            <p:cNvPr id="23" name="TextBox 23"/>
            <p:cNvSpPr txBox="1"/>
            <p:nvPr/>
          </p:nvSpPr>
          <p:spPr>
            <a:xfrm>
              <a:off x="6470523" y="3596164"/>
              <a:ext cx="2651435"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Only two things really matter</a:t>
              </a:r>
            </a:p>
          </p:txBody>
        </p:sp>
        <p:sp>
          <p:nvSpPr>
            <p:cNvPr id="24" name="Rectangle 24"/>
            <p:cNvSpPr/>
            <p:nvPr/>
          </p:nvSpPr>
          <p:spPr>
            <a:xfrm>
              <a:off x="6477000" y="3924300"/>
              <a:ext cx="4838700" cy="381000"/>
            </a:xfrm>
            <a:prstGeom prst="roundRect">
              <a:avLst>
                <a:gd name="adj" fmla="val 20000"/>
              </a:avLst>
            </a:prstGeom>
            <a:solidFill>
              <a:schemeClr val="accent6"/>
            </a:solidFill>
            <a:ln w="14288">
              <a:solidFill>
                <a:srgbClr val="26455F"/>
              </a:solidFill>
            </a:ln>
          </p:spPr>
        </p:sp>
        <p:sp>
          <p:nvSpPr>
            <p:cNvPr id="25" name="Ellipse 25"/>
            <p:cNvSpPr/>
            <p:nvPr/>
          </p:nvSpPr>
          <p:spPr>
            <a:xfrm>
              <a:off x="6600825" y="4067175"/>
              <a:ext cx="95250" cy="95250"/>
            </a:xfrm>
            <a:prstGeom prst="ellipse">
              <a:avLst/>
            </a:prstGeom>
            <a:solidFill>
              <a:schemeClr val="accent2"/>
            </a:solidFill>
            <a:ln>
              <a:noFill/>
            </a:ln>
          </p:spPr>
        </p:sp>
        <p:sp>
          <p:nvSpPr>
            <p:cNvPr id="26" name="TextBox 26"/>
            <p:cNvSpPr txBox="1"/>
            <p:nvPr/>
          </p:nvSpPr>
          <p:spPr>
            <a:xfrm>
              <a:off x="6795326" y="4045029"/>
              <a:ext cx="3606585"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1 · Model capacity — tune width &amp; regularization</a:t>
              </a:r>
            </a:p>
          </p:txBody>
        </p:sp>
        <p:sp>
          <p:nvSpPr>
            <p:cNvPr id="27" name="Rectangle 27"/>
            <p:cNvSpPr/>
            <p:nvPr/>
          </p:nvSpPr>
          <p:spPr>
            <a:xfrm>
              <a:off x="6477000" y="4381500"/>
              <a:ext cx="4838700" cy="381000"/>
            </a:xfrm>
            <a:prstGeom prst="roundRect">
              <a:avLst>
                <a:gd name="adj" fmla="val 20000"/>
              </a:avLst>
            </a:prstGeom>
            <a:solidFill>
              <a:schemeClr val="accent6"/>
            </a:solidFill>
            <a:ln w="14288">
              <a:solidFill>
                <a:srgbClr val="26455F"/>
              </a:solidFill>
            </a:ln>
          </p:spPr>
        </p:sp>
        <p:sp>
          <p:nvSpPr>
            <p:cNvPr id="28" name="Ellipse 28"/>
            <p:cNvSpPr/>
            <p:nvPr/>
          </p:nvSpPr>
          <p:spPr>
            <a:xfrm>
              <a:off x="6600825" y="4524375"/>
              <a:ext cx="95250" cy="95250"/>
            </a:xfrm>
            <a:prstGeom prst="ellipse">
              <a:avLst/>
            </a:prstGeom>
            <a:solidFill>
              <a:srgbClr val="34D3C0"/>
            </a:solidFill>
            <a:ln>
              <a:noFill/>
            </a:ln>
          </p:spPr>
        </p:sp>
        <p:sp>
          <p:nvSpPr>
            <p:cNvPr id="29" name="TextBox 29"/>
            <p:cNvSpPr txBox="1"/>
            <p:nvPr/>
          </p:nvSpPr>
          <p:spPr>
            <a:xfrm>
              <a:off x="6795326" y="4502229"/>
              <a:ext cx="3344904"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2 · What you condition on — goals or rewards</a:t>
              </a:r>
            </a:p>
          </p:txBody>
        </p:sp>
        <p:sp>
          <p:nvSpPr>
            <p:cNvPr id="30" name="TextBox 30"/>
            <p:cNvSpPr txBox="1"/>
            <p:nvPr/>
          </p:nvSpPr>
          <p:spPr>
            <a:xfrm>
              <a:off x="6471666" y="4877752"/>
              <a:ext cx="2991414" cy="205359"/>
            </a:xfrm>
            <a:prstGeom prst="rect">
              <a:avLst/>
            </a:prstGeom>
            <a:noFill/>
            <a:ln>
              <a:noFill/>
            </a:ln>
          </p:spPr>
          <p:txBody>
            <a:bodyPr wrap="none" lIns="0" tIns="0" rIns="0" bIns="0" anchor="t" anchorCtr="0">
              <a:spAutoFit/>
            </a:bodyPr>
            <a:lstStyle/>
            <a:p>
              <a:pPr algn="l"/>
              <a:r>
                <a:rPr lang="en-US" sz="1050" b="1" dirty="0">
                  <a:solidFill>
                    <a:srgbClr val="6E869C"/>
                  </a:solidFill>
                  <a:latin typeface="+mn-lt"/>
                  <a:ea typeface="+mn-ea"/>
                  <a:cs typeface="+mn-cs"/>
                </a:rPr>
                <a:t>Everything else turns out to be optional.</a:t>
              </a:r>
            </a:p>
          </p:txBody>
        </p:sp>
      </p:grpSp>
      <p:sp>
        <p:nvSpPr>
          <p:cNvPr id="32" name="Line 32"/>
          <p:cNvSpPr/>
          <p:nvPr/>
        </p:nvSpPr>
        <p:spPr>
          <a:xfrm>
            <a:off x="609600" y="539115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3" name="TextBox 33"/>
          <p:cNvSpPr txBox="1"/>
          <p:nvPr/>
        </p:nvSpPr>
        <p:spPr>
          <a:xfrm>
            <a:off x="603504" y="5585460"/>
            <a:ext cx="6093312"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A minimal recipe that is competitive with far more complex RL machinery.</a:t>
            </a:r>
          </a:p>
        </p:txBody>
      </p:sp>
      <p:sp>
        <p:nvSpPr>
          <p:cNvPr id="34" name="TextBox 34"/>
          <p:cNvSpPr txBox="1"/>
          <p:nvPr/>
        </p:nvSpPr>
        <p:spPr>
          <a:xfrm>
            <a:off x="604266" y="602075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arXiv:2112.10751</a:t>
            </a:r>
          </a:p>
        </p:txBody>
      </p:sp>
      <p:sp>
        <p:nvSpPr>
          <p:cNvPr id="35" name="TextBox 35"/>
          <p:cNvSpPr txBox="1"/>
          <p:nvPr/>
        </p:nvSpPr>
        <p:spPr>
          <a:xfrm>
            <a:off x="3042666" y="6020752"/>
            <a:ext cx="2185000"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github.com/scottemmons/rvs</a:t>
            </a:r>
          </a:p>
        </p:txBody>
      </p:sp>
      <p:sp>
        <p:nvSpPr>
          <p:cNvPr id="36" name="cue_s01_c1_what_actually_essential_offline_rein" title="cue_s01_c1_what_actually_essential_offline_rein" descr="cue_s01_c1_what_actually_essential_offline_rein What is actually essential for offline reinforcement learning done via supervised learning?"/>
          <p:cNvSpPr/>
          <p:nvPr/>
        </p:nvSpPr>
        <p:spPr>
          <a:xfrm>
            <a:off x="592531" y="1761134"/>
            <a:ext cx="5893612" cy="67482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1_c2_iclr_2022_scott_emmons_benjamin" title="cue_s01_c2_iclr_2022_scott_emmons_benjamin" descr="cue_s01_c2_iclr_2022_scott_emmons_benjamin This ICLR 2022 paper by Scott Emmons, Benjamin Eysenbach, Ilya Kostrikov, and Sergey Levine strips reinforcement learning via supervised learning, or RvS, down to its bare essentials."/>
          <p:cNvSpPr/>
          <p:nvPr/>
        </p:nvSpPr>
        <p:spPr>
          <a:xfrm>
            <a:off x="609600" y="2495626"/>
            <a:ext cx="10972800" cy="6096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1_c3_their_surprising_finding_plain_two_l" title="cue_s01_c3_their_surprising_finding_plain_two_l" descr="cue_s01_c3_their_surprising_finding_plain_two_l Their surprising finding is that a plain two-layer feedforward network, trained simply to maximize likelihood, matches state-of-the-art results from far more complex methods built on temporal-difference learning or on Transformer sequence models."/>
          <p:cNvSpPr/>
          <p:nvPr/>
        </p:nvSpPr>
        <p:spPr>
          <a:xfrm>
            <a:off x="609600" y="3352876"/>
            <a:ext cx="5371795" cy="18098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1_c4_two_things_really_matter_they" title="cue_s01_c4_two_things_really_matter_they" descr="cue_s01_c4_two_things_really_matter_they The two things that really matter, they show, are choosing the model's capacity carefully and choosing what to condition on, goals or rewards. Everything else turns out to be optional."/>
          <p:cNvSpPr/>
          <p:nvPr/>
        </p:nvSpPr>
        <p:spPr>
          <a:xfrm>
            <a:off x="6210604" y="3352876"/>
            <a:ext cx="5371795" cy="18098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759240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What actually makes supervised offline RL work?</a:t>
            </a:r>
          </a:p>
        </p:txBody>
      </p:sp>
      <p:grpSp>
        <p:nvGrpSpPr>
          <p:cNvPr id="10" name="Group 10"/>
          <p:cNvGrpSpPr/>
          <p:nvPr/>
        </p:nvGrpSpPr>
        <p:grpSpPr>
          <a:xfrm>
            <a:off x="609600" y="1504950"/>
            <a:ext cx="10972800" cy="993934"/>
            <a:chOff x="609600" y="1504950"/>
            <a:chExt cx="10972800" cy="993934"/>
          </a:xfrm>
        </p:grpSpPr>
        <p:sp>
          <p:nvSpPr>
            <p:cNvPr id="5" name="Rectangle 5"/>
            <p:cNvSpPr/>
            <p:nvPr/>
          </p:nvSpPr>
          <p:spPr>
            <a:xfrm>
              <a:off x="609600" y="1504950"/>
              <a:ext cx="10972800" cy="914400"/>
            </a:xfrm>
            <a:prstGeom prst="roundRect">
              <a:avLst>
                <a:gd name="adj" fmla="val 14583"/>
              </a:avLst>
            </a:prstGeom>
            <a:solidFill>
              <a:schemeClr val="accent5"/>
            </a:solidFill>
            <a:ln w="14288">
              <a:solidFill>
                <a:srgbClr val="26455F"/>
              </a:solidFill>
            </a:ln>
          </p:spPr>
        </p:sp>
        <p:sp>
          <p:nvSpPr>
            <p:cNvPr id="6" name="Rectangle 6"/>
            <p:cNvSpPr/>
            <p:nvPr/>
          </p:nvSpPr>
          <p:spPr>
            <a:xfrm>
              <a:off x="609600" y="1504950"/>
              <a:ext cx="57150" cy="914400"/>
            </a:xfrm>
            <a:prstGeom prst="roundRect">
              <a:avLst>
                <a:gd name="adj" fmla="val 50000"/>
              </a:avLst>
            </a:prstGeom>
            <a:solidFill>
              <a:schemeClr val="accent2"/>
            </a:solidFill>
            <a:ln>
              <a:noFill/>
            </a:ln>
          </p:spPr>
        </p:sp>
        <p:sp>
          <p:nvSpPr>
            <p:cNvPr id="7" name="TextBox 7"/>
            <p:cNvSpPr txBox="1"/>
            <p:nvPr/>
          </p:nvSpPr>
          <p:spPr>
            <a:xfrm>
              <a:off x="869823" y="1729264"/>
              <a:ext cx="5844873"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Plain supervised learning already works — but the picture is muddy</a:t>
              </a:r>
            </a:p>
          </p:txBody>
        </p:sp>
        <p:sp>
          <p:nvSpPr>
            <p:cNvPr id="8" name="TextBox 8"/>
            <p:cNvSpPr txBox="1"/>
            <p:nvPr/>
          </p:nvSpPr>
          <p:spPr>
            <a:xfrm>
              <a:off x="870585" y="2050256"/>
              <a:ext cx="730646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Recent work showed supervised learning, with no temporal-difference bootstrapping at all, can be</a:t>
              </a:r>
            </a:p>
          </p:txBody>
        </p:sp>
        <p:sp>
          <p:nvSpPr>
            <p:cNvPr id="9" name="TextBox 9"/>
            <p:cNvSpPr txBox="1"/>
            <p:nvPr/>
          </p:nvSpPr>
          <p:spPr>
            <a:xfrm>
              <a:off x="870585" y="2278856"/>
              <a:ext cx="45276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remarkably effective for offline RL. Yet it was unclear why.</a:t>
              </a:r>
            </a:p>
          </p:txBody>
        </p:sp>
      </p:grpSp>
      <p:grpSp>
        <p:nvGrpSpPr>
          <p:cNvPr id="22" name="Group 22"/>
          <p:cNvGrpSpPr/>
          <p:nvPr/>
        </p:nvGrpSpPr>
        <p:grpSpPr>
          <a:xfrm>
            <a:off x="609600" y="2609850"/>
            <a:ext cx="5372100" cy="1581150"/>
            <a:chOff x="609600" y="2609850"/>
            <a:chExt cx="5372100" cy="1581150"/>
          </a:xfrm>
        </p:grpSpPr>
        <p:sp>
          <p:nvSpPr>
            <p:cNvPr id="11" name="Rectangle 11"/>
            <p:cNvSpPr/>
            <p:nvPr/>
          </p:nvSpPr>
          <p:spPr>
            <a:xfrm>
              <a:off x="609600" y="2609850"/>
              <a:ext cx="5372100" cy="1581150"/>
            </a:xfrm>
            <a:prstGeom prst="roundRect">
              <a:avLst>
                <a:gd name="adj" fmla="val 8434"/>
              </a:avLst>
            </a:prstGeom>
            <a:solidFill>
              <a:schemeClr val="accent5"/>
            </a:solidFill>
            <a:ln w="14288">
              <a:solidFill>
                <a:srgbClr val="26455F"/>
              </a:solidFill>
            </a:ln>
          </p:spPr>
        </p:sp>
        <p:sp>
          <p:nvSpPr>
            <p:cNvPr id="12" name="Rectangle 12"/>
            <p:cNvSpPr/>
            <p:nvPr/>
          </p:nvSpPr>
          <p:spPr>
            <a:xfrm>
              <a:off x="609600" y="2609850"/>
              <a:ext cx="57150" cy="1581150"/>
            </a:xfrm>
            <a:prstGeom prst="roundRect">
              <a:avLst>
                <a:gd name="adj" fmla="val 50000"/>
              </a:avLst>
            </a:prstGeom>
            <a:solidFill>
              <a:srgbClr val="F2C14E"/>
            </a:solidFill>
            <a:ln>
              <a:noFill/>
            </a:ln>
          </p:spPr>
        </p:sp>
        <p:sp>
          <p:nvSpPr>
            <p:cNvPr id="13" name="TextBox 13"/>
            <p:cNvSpPr txBox="1"/>
            <p:nvPr/>
          </p:nvSpPr>
          <p:spPr>
            <a:xfrm>
              <a:off x="870204" y="2842260"/>
              <a:ext cx="2179963"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Contradictory conclusions</a:t>
              </a:r>
            </a:p>
          </p:txBody>
        </p:sp>
        <p:sp>
          <p:nvSpPr>
            <p:cNvPr id="14" name="TextBox 14"/>
            <p:cNvSpPr txBox="1"/>
            <p:nvPr/>
          </p:nvSpPr>
          <p:spPr>
            <a:xfrm>
              <a:off x="870776" y="3159204"/>
              <a:ext cx="437403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Different papers disagreed about what makes these methods</a:t>
              </a:r>
            </a:p>
          </p:txBody>
        </p:sp>
        <p:sp>
          <p:nvSpPr>
            <p:cNvPr id="15" name="TextBox 15"/>
            <p:cNvSpPr txBox="1"/>
            <p:nvPr/>
          </p:nvSpPr>
          <p:spPr>
            <a:xfrm>
              <a:off x="870776" y="3368754"/>
              <a:ext cx="44392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work:</a:t>
              </a:r>
            </a:p>
          </p:txBody>
        </p:sp>
        <p:sp>
          <p:nvSpPr>
            <p:cNvPr id="16" name="Rectangle 16"/>
            <p:cNvSpPr/>
            <p:nvPr/>
          </p:nvSpPr>
          <p:spPr>
            <a:xfrm>
              <a:off x="876300" y="3543300"/>
              <a:ext cx="4838700" cy="266700"/>
            </a:xfrm>
            <a:prstGeom prst="roundRect">
              <a:avLst>
                <a:gd name="adj" fmla="val 28571"/>
              </a:avLst>
            </a:prstGeom>
            <a:solidFill>
              <a:schemeClr val="accent6"/>
            </a:solidFill>
            <a:ln w="14288">
              <a:solidFill>
                <a:srgbClr val="26455F"/>
              </a:solidFill>
            </a:ln>
          </p:spPr>
        </p:sp>
        <p:sp>
          <p:nvSpPr>
            <p:cNvPr id="17" name="Ellipse 17"/>
            <p:cNvSpPr/>
            <p:nvPr/>
          </p:nvSpPr>
          <p:spPr>
            <a:xfrm>
              <a:off x="1000125" y="3629025"/>
              <a:ext cx="95250" cy="95250"/>
            </a:xfrm>
            <a:prstGeom prst="ellipse">
              <a:avLst/>
            </a:prstGeom>
            <a:solidFill>
              <a:srgbClr val="F2C14E"/>
            </a:solidFill>
            <a:ln>
              <a:noFill/>
            </a:ln>
          </p:spPr>
        </p:sp>
        <p:sp>
          <p:nvSpPr>
            <p:cNvPr id="18" name="TextBox 18"/>
            <p:cNvSpPr txBox="1"/>
            <p:nvPr/>
          </p:nvSpPr>
          <p:spPr>
            <a:xfrm>
              <a:off x="1195006" y="3614976"/>
              <a:ext cx="2634650"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Some emphasized advantage weighting</a:t>
              </a:r>
            </a:p>
          </p:txBody>
        </p:sp>
        <p:sp>
          <p:nvSpPr>
            <p:cNvPr id="19" name="Rectangle 19"/>
            <p:cNvSpPr/>
            <p:nvPr/>
          </p:nvSpPr>
          <p:spPr>
            <a:xfrm>
              <a:off x="876300" y="3867150"/>
              <a:ext cx="4838700" cy="266700"/>
            </a:xfrm>
            <a:prstGeom prst="roundRect">
              <a:avLst>
                <a:gd name="adj" fmla="val 28571"/>
              </a:avLst>
            </a:prstGeom>
            <a:solidFill>
              <a:schemeClr val="accent6"/>
            </a:solidFill>
            <a:ln w="14288">
              <a:solidFill>
                <a:srgbClr val="26455F"/>
              </a:solidFill>
            </a:ln>
          </p:spPr>
        </p:sp>
        <p:sp>
          <p:nvSpPr>
            <p:cNvPr id="20" name="Ellipse 20"/>
            <p:cNvSpPr/>
            <p:nvPr/>
          </p:nvSpPr>
          <p:spPr>
            <a:xfrm>
              <a:off x="1000125" y="3952875"/>
              <a:ext cx="95250" cy="95250"/>
            </a:xfrm>
            <a:prstGeom prst="ellipse">
              <a:avLst/>
            </a:prstGeom>
            <a:solidFill>
              <a:srgbClr val="F2685C"/>
            </a:solidFill>
            <a:ln>
              <a:noFill/>
            </a:ln>
          </p:spPr>
        </p:sp>
        <p:sp>
          <p:nvSpPr>
            <p:cNvPr id="21" name="TextBox 21"/>
            <p:cNvSpPr txBox="1"/>
            <p:nvPr/>
          </p:nvSpPr>
          <p:spPr>
            <a:xfrm>
              <a:off x="1195006" y="3938826"/>
              <a:ext cx="3232058"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Others reached for large Transformer models</a:t>
              </a:r>
            </a:p>
          </p:txBody>
        </p:sp>
      </p:grpSp>
      <p:grpSp>
        <p:nvGrpSpPr>
          <p:cNvPr id="29" name="Group 29"/>
          <p:cNvGrpSpPr/>
          <p:nvPr/>
        </p:nvGrpSpPr>
        <p:grpSpPr>
          <a:xfrm>
            <a:off x="6210300" y="2609850"/>
            <a:ext cx="5372100" cy="1581150"/>
            <a:chOff x="6210300" y="2609850"/>
            <a:chExt cx="5372100" cy="1581150"/>
          </a:xfrm>
        </p:grpSpPr>
        <p:sp>
          <p:nvSpPr>
            <p:cNvPr id="23" name="Rectangle 23"/>
            <p:cNvSpPr/>
            <p:nvPr/>
          </p:nvSpPr>
          <p:spPr>
            <a:xfrm>
              <a:off x="6210300" y="2609850"/>
              <a:ext cx="5372100" cy="1581150"/>
            </a:xfrm>
            <a:prstGeom prst="roundRect">
              <a:avLst>
                <a:gd name="adj" fmla="val 8434"/>
              </a:avLst>
            </a:prstGeom>
            <a:solidFill>
              <a:schemeClr val="accent5"/>
            </a:solidFill>
            <a:ln w="14288">
              <a:solidFill>
                <a:srgbClr val="26455F"/>
              </a:solidFill>
            </a:ln>
          </p:spPr>
        </p:sp>
        <p:sp>
          <p:nvSpPr>
            <p:cNvPr id="24" name="Rectangle 24"/>
            <p:cNvSpPr/>
            <p:nvPr/>
          </p:nvSpPr>
          <p:spPr>
            <a:xfrm>
              <a:off x="6210300" y="2609850"/>
              <a:ext cx="57150" cy="1581150"/>
            </a:xfrm>
            <a:prstGeom prst="roundRect">
              <a:avLst>
                <a:gd name="adj" fmla="val 50000"/>
              </a:avLst>
            </a:prstGeom>
            <a:solidFill>
              <a:srgbClr val="34D3C0"/>
            </a:solidFill>
            <a:ln>
              <a:noFill/>
            </a:ln>
          </p:spPr>
        </p:sp>
        <p:sp>
          <p:nvSpPr>
            <p:cNvPr id="25" name="TextBox 25"/>
            <p:cNvSpPr txBox="1"/>
            <p:nvPr/>
          </p:nvSpPr>
          <p:spPr>
            <a:xfrm>
              <a:off x="6470904" y="2842260"/>
              <a:ext cx="2536770"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A simple, unanswered question</a:t>
              </a:r>
            </a:p>
          </p:txBody>
        </p:sp>
        <p:sp>
          <p:nvSpPr>
            <p:cNvPr id="26" name="TextBox 26"/>
            <p:cNvSpPr txBox="1"/>
            <p:nvPr/>
          </p:nvSpPr>
          <p:spPr>
            <a:xfrm>
              <a:off x="6471476" y="3197304"/>
              <a:ext cx="419060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Stripped of the disagreements, one question remains open</a:t>
              </a:r>
            </a:p>
          </p:txBody>
        </p:sp>
        <p:sp>
          <p:nvSpPr>
            <p:cNvPr id="27" name="TextBox 27"/>
            <p:cNvSpPr txBox="1"/>
            <p:nvPr/>
          </p:nvSpPr>
          <p:spPr>
            <a:xfrm>
              <a:off x="6471476" y="3425904"/>
              <a:ext cx="343733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 and this paper sets out to answer it directly,</a:t>
              </a:r>
            </a:p>
          </p:txBody>
        </p:sp>
        <p:sp>
          <p:nvSpPr>
            <p:cNvPr id="28" name="TextBox 28"/>
            <p:cNvSpPr txBox="1"/>
            <p:nvPr/>
          </p:nvSpPr>
          <p:spPr>
            <a:xfrm>
              <a:off x="6471476" y="3654504"/>
              <a:ext cx="185258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component by component.</a:t>
              </a:r>
            </a:p>
          </p:txBody>
        </p:sp>
      </p:grpSp>
      <p:grpSp>
        <p:nvGrpSpPr>
          <p:cNvPr id="35" name="Group 35"/>
          <p:cNvGrpSpPr/>
          <p:nvPr/>
        </p:nvGrpSpPr>
        <p:grpSpPr>
          <a:xfrm>
            <a:off x="609600" y="4381500"/>
            <a:ext cx="10972800" cy="1104900"/>
            <a:chOff x="609600" y="4381500"/>
            <a:chExt cx="10972800" cy="1104900"/>
          </a:xfrm>
        </p:grpSpPr>
        <p:sp>
          <p:nvSpPr>
            <p:cNvPr id="30" name="Rectangle 30"/>
            <p:cNvSpPr/>
            <p:nvPr/>
          </p:nvSpPr>
          <p:spPr>
            <a:xfrm>
              <a:off x="609600" y="4381500"/>
              <a:ext cx="10972800" cy="1104900"/>
            </a:xfrm>
            <a:prstGeom prst="roundRect">
              <a:avLst>
                <a:gd name="adj" fmla="val 12069"/>
              </a:avLst>
            </a:prstGeom>
            <a:solidFill>
              <a:srgbClr val="0F2A2E"/>
            </a:solidFill>
            <a:ln w="14288">
              <a:solidFill>
                <a:srgbClr val="34D3C0"/>
              </a:solidFill>
            </a:ln>
          </p:spPr>
        </p:sp>
        <p:sp>
          <p:nvSpPr>
            <p:cNvPr id="31" name="Rectangle 31"/>
            <p:cNvSpPr/>
            <p:nvPr/>
          </p:nvSpPr>
          <p:spPr>
            <a:xfrm>
              <a:off x="609600" y="4381500"/>
              <a:ext cx="57150" cy="1104900"/>
            </a:xfrm>
            <a:prstGeom prst="roundRect">
              <a:avLst>
                <a:gd name="adj" fmla="val 50000"/>
              </a:avLst>
            </a:prstGeom>
            <a:solidFill>
              <a:srgbClr val="34D3C0"/>
            </a:solidFill>
            <a:ln>
              <a:noFill/>
            </a:ln>
          </p:spPr>
        </p:sp>
        <p:sp>
          <p:nvSpPr>
            <p:cNvPr id="32" name="TextBox 32"/>
            <p:cNvSpPr txBox="1"/>
            <p:nvPr/>
          </p:nvSpPr>
          <p:spPr>
            <a:xfrm>
              <a:off x="870585" y="4622006"/>
              <a:ext cx="1093742" cy="220028"/>
            </a:xfrm>
            <a:prstGeom prst="rect">
              <a:avLst/>
            </a:prstGeom>
            <a:noFill/>
            <a:ln>
              <a:noFill/>
            </a:ln>
          </p:spPr>
          <p:txBody>
            <a:bodyPr wrap="none" lIns="0" tIns="0" rIns="0" bIns="0" anchor="t" anchorCtr="0">
              <a:spAutoFit/>
            </a:bodyPr>
            <a:lstStyle/>
            <a:p>
              <a:pPr algn="l"/>
              <a:r>
                <a:rPr lang="en-US" sz="1120" b="1" spc="75" dirty="0">
                  <a:solidFill>
                    <a:srgbClr val="34D3C0"/>
                  </a:solidFill>
                  <a:latin typeface="+mn-lt"/>
                  <a:ea typeface="+mn-ea"/>
                  <a:cs typeface="+mn-cs"/>
                </a:rPr>
                <a:t>The question</a:t>
              </a:r>
            </a:p>
          </p:txBody>
        </p:sp>
        <p:sp>
          <p:nvSpPr>
            <p:cNvPr id="33" name="TextBox 33"/>
            <p:cNvSpPr txBox="1"/>
            <p:nvPr/>
          </p:nvSpPr>
          <p:spPr>
            <a:xfrm>
              <a:off x="870204" y="4899660"/>
              <a:ext cx="820227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When does supervised learning for offline RL actually work, and which algorithmic components are truly</a:t>
              </a:r>
            </a:p>
          </p:txBody>
        </p:sp>
        <p:sp>
          <p:nvSpPr>
            <p:cNvPr id="34" name="TextBox 34"/>
            <p:cNvSpPr txBox="1"/>
            <p:nvPr/>
          </p:nvSpPr>
          <p:spPr>
            <a:xfrm>
              <a:off x="870204" y="5147310"/>
              <a:ext cx="698281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essential versus merely incidental complexity that could be stripped away without cost?</a:t>
              </a:r>
            </a:p>
          </p:txBody>
        </p:sp>
      </p:grpSp>
      <p:sp>
        <p:nvSpPr>
          <p:cNvPr id="36" name="TextBox 36"/>
          <p:cNvSpPr txBox="1"/>
          <p:nvPr/>
        </p:nvSpPr>
        <p:spPr>
          <a:xfrm>
            <a:off x="604266" y="5906452"/>
            <a:ext cx="5329238" cy="205359"/>
          </a:xfrm>
          <a:prstGeom prst="rect">
            <a:avLst/>
          </a:prstGeom>
          <a:noFill/>
          <a:ln>
            <a:noFill/>
          </a:ln>
        </p:spPr>
        <p:txBody>
          <a:bodyPr wrap="none" lIns="0" tIns="0" rIns="0" bIns="0" anchor="t" anchorCtr="0">
            <a:spAutoFit/>
          </a:bodyPr>
          <a:lstStyle/>
          <a:p>
            <a:pPr algn="l"/>
            <a:r>
              <a:rPr lang="en-US" sz="1050" b="1" dirty="0">
                <a:solidFill>
                  <a:srgbClr val="6E869C"/>
                </a:solidFill>
                <a:latin typeface="+mn-lt"/>
                <a:ea typeface="+mn-ea"/>
                <a:cs typeface="+mn-cs"/>
              </a:rPr>
              <a:t>The goal is not a new algorithm, but a clear account of what is essential.</a:t>
            </a:r>
          </a:p>
        </p:txBody>
      </p:sp>
      <p:sp>
        <p:nvSpPr>
          <p:cNvPr id="37" name="cue_s02_c1_recent_work_showed_plain_supervised" title="cue_s02_c1_recent_work_showed_plain_supervised" descr="cue_s02_c1_recent_work_showed_plain_supervised Recent work showed that plain supervised learning, with no temporal-difference bootstrapping at all, can be remarkably effective for offline reinforcement learning. But the picture was muddy."/>
          <p:cNvSpPr/>
          <p:nvPr/>
        </p:nvSpPr>
        <p:spPr>
          <a:xfrm>
            <a:off x="609600" y="1504645"/>
            <a:ext cx="10972800" cy="99372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2_c2_different_papers_reached_contradicto" title="cue_s02_c2_different_papers_reached_contradicto" descr="cue_s02_c2_different_papers_reached_contradicto Different papers reached contradictory conclusions about what actually makes these methods work: some emphasized advantage weighting, others reached for large Transformer sequence models."/>
          <p:cNvSpPr/>
          <p:nvPr/>
        </p:nvSpPr>
        <p:spPr>
          <a:xfrm>
            <a:off x="609600" y="2610154"/>
            <a:ext cx="5371795" cy="15814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2_c3_core_question_asks_simple_yet" title="cue_s02_c3_core_question_asks_simple_yet" descr="cue_s02_c3_core_question_asks_simple_yet The core question this paper asks is simple, yet still unanswered."/>
          <p:cNvSpPr/>
          <p:nvPr/>
        </p:nvSpPr>
        <p:spPr>
          <a:xfrm>
            <a:off x="6210604" y="2610154"/>
            <a:ext cx="5371795" cy="15814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2_c4_when_does_supervised_learning_offlin" title="cue_s02_c4_when_does_supervised_learning_offlin" descr="cue_s02_c4_when_does_supervised_learning_offlin When does supervised learning for offline RL actually work, and which of its many algorithmic components are truly essential versus merely incidental complexity that could be stripped away without cost?"/>
          <p:cNvSpPr/>
          <p:nvPr/>
        </p:nvSpPr>
        <p:spPr>
          <a:xfrm>
            <a:off x="609600" y="4381576"/>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471654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Why look past value-based RL?</a:t>
            </a:r>
          </a:p>
        </p:txBody>
      </p:sp>
      <p:grpSp>
        <p:nvGrpSpPr>
          <p:cNvPr id="14" name="Group 14"/>
          <p:cNvGrpSpPr/>
          <p:nvPr/>
        </p:nvGrpSpPr>
        <p:grpSpPr>
          <a:xfrm>
            <a:off x="609600" y="1504950"/>
            <a:ext cx="5372100" cy="1600200"/>
            <a:chOff x="609600" y="1504950"/>
            <a:chExt cx="5372100" cy="1600200"/>
          </a:xfrm>
        </p:grpSpPr>
        <p:sp>
          <p:nvSpPr>
            <p:cNvPr id="5" name="Rectangle 5"/>
            <p:cNvSpPr/>
            <p:nvPr/>
          </p:nvSpPr>
          <p:spPr>
            <a:xfrm>
              <a:off x="609600" y="1504950"/>
              <a:ext cx="5372100" cy="1600200"/>
            </a:xfrm>
            <a:prstGeom prst="roundRect">
              <a:avLst>
                <a:gd name="adj" fmla="val 8333"/>
              </a:avLst>
            </a:prstGeom>
            <a:solidFill>
              <a:schemeClr val="accent5"/>
            </a:solidFill>
            <a:ln w="14288">
              <a:solidFill>
                <a:srgbClr val="26455F"/>
              </a:solidFill>
            </a:ln>
          </p:spPr>
        </p:sp>
        <p:sp>
          <p:nvSpPr>
            <p:cNvPr id="6" name="Rectangle 6"/>
            <p:cNvSpPr/>
            <p:nvPr/>
          </p:nvSpPr>
          <p:spPr>
            <a:xfrm>
              <a:off x="609600" y="1504950"/>
              <a:ext cx="57150" cy="1600200"/>
            </a:xfrm>
            <a:prstGeom prst="roundRect">
              <a:avLst>
                <a:gd name="adj" fmla="val 50000"/>
              </a:avLst>
            </a:prstGeom>
            <a:solidFill>
              <a:schemeClr val="accent2"/>
            </a:solidFill>
            <a:ln>
              <a:noFill/>
            </a:ln>
          </p:spPr>
        </p:sp>
        <p:sp>
          <p:nvSpPr>
            <p:cNvPr id="7" name="TextBox 7"/>
            <p:cNvSpPr txBox="1"/>
            <p:nvPr/>
          </p:nvSpPr>
          <p:spPr>
            <a:xfrm>
              <a:off x="870204" y="1737360"/>
              <a:ext cx="2528270"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Value-based methods dominate</a:t>
              </a:r>
            </a:p>
          </p:txBody>
        </p:sp>
        <p:sp>
          <p:nvSpPr>
            <p:cNvPr id="8" name="TextBox 8"/>
            <p:cNvSpPr txBox="1"/>
            <p:nvPr/>
          </p:nvSpPr>
          <p:spPr>
            <a:xfrm>
              <a:off x="870776" y="2054304"/>
              <a:ext cx="352555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They rule offline and off-policy RL and come with</a:t>
              </a:r>
            </a:p>
          </p:txBody>
        </p:sp>
        <p:sp>
          <p:nvSpPr>
            <p:cNvPr id="9" name="TextBox 9"/>
            <p:cNvSpPr txBox="1"/>
            <p:nvPr/>
          </p:nvSpPr>
          <p:spPr>
            <a:xfrm>
              <a:off x="870776" y="2282904"/>
              <a:ext cx="363542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appealing theoretical guarantees on optimality and</a:t>
              </a:r>
            </a:p>
          </p:txBody>
        </p:sp>
        <p:sp>
          <p:nvSpPr>
            <p:cNvPr id="10" name="TextBox 10"/>
            <p:cNvSpPr txBox="1"/>
            <p:nvPr/>
          </p:nvSpPr>
          <p:spPr>
            <a:xfrm>
              <a:off x="870776" y="2511504"/>
              <a:ext cx="97950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convergence.</a:t>
              </a:r>
            </a:p>
          </p:txBody>
        </p:sp>
        <p:sp>
          <p:nvSpPr>
            <p:cNvPr id="11" name="Rectangle 11"/>
            <p:cNvSpPr/>
            <p:nvPr/>
          </p:nvSpPr>
          <p:spPr>
            <a:xfrm>
              <a:off x="876300" y="2724150"/>
              <a:ext cx="4838700" cy="285750"/>
            </a:xfrm>
            <a:prstGeom prst="roundRect">
              <a:avLst>
                <a:gd name="adj" fmla="val 26667"/>
              </a:avLst>
            </a:prstGeom>
            <a:solidFill>
              <a:schemeClr val="accent6"/>
            </a:solidFill>
            <a:ln w="14288">
              <a:solidFill>
                <a:srgbClr val="26455F"/>
              </a:solidFill>
            </a:ln>
          </p:spPr>
        </p:sp>
        <p:sp>
          <p:nvSpPr>
            <p:cNvPr id="12" name="Ellipse 12"/>
            <p:cNvSpPr/>
            <p:nvPr/>
          </p:nvSpPr>
          <p:spPr>
            <a:xfrm>
              <a:off x="1000125" y="2819400"/>
              <a:ext cx="95250" cy="95250"/>
            </a:xfrm>
            <a:prstGeom prst="ellipse">
              <a:avLst/>
            </a:prstGeom>
            <a:solidFill>
              <a:schemeClr val="accent2"/>
            </a:solidFill>
            <a:ln>
              <a:noFill/>
            </a:ln>
          </p:spPr>
        </p:sp>
        <p:sp>
          <p:nvSpPr>
            <p:cNvPr id="13" name="TextBox 13"/>
            <p:cNvSpPr txBox="1"/>
            <p:nvPr/>
          </p:nvSpPr>
          <p:spPr>
            <a:xfrm>
              <a:off x="1195006" y="2805351"/>
              <a:ext cx="2028221"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Strong theory · well-studied</a:t>
              </a:r>
            </a:p>
          </p:txBody>
        </p:sp>
      </p:grpSp>
      <p:grpSp>
        <p:nvGrpSpPr>
          <p:cNvPr id="23" name="Group 23"/>
          <p:cNvGrpSpPr/>
          <p:nvPr/>
        </p:nvGrpSpPr>
        <p:grpSpPr>
          <a:xfrm>
            <a:off x="6210300" y="1504950"/>
            <a:ext cx="5372100" cy="1600200"/>
            <a:chOff x="6210300" y="1504950"/>
            <a:chExt cx="5372100" cy="1600200"/>
          </a:xfrm>
        </p:grpSpPr>
        <p:sp>
          <p:nvSpPr>
            <p:cNvPr id="15" name="Rectangle 15"/>
            <p:cNvSpPr/>
            <p:nvPr/>
          </p:nvSpPr>
          <p:spPr>
            <a:xfrm>
              <a:off x="6210300" y="1504950"/>
              <a:ext cx="5372100" cy="1600200"/>
            </a:xfrm>
            <a:prstGeom prst="roundRect">
              <a:avLst>
                <a:gd name="adj" fmla="val 8333"/>
              </a:avLst>
            </a:prstGeom>
            <a:solidFill>
              <a:srgbClr val="2A1720"/>
            </a:solidFill>
            <a:ln w="14288">
              <a:solidFill>
                <a:srgbClr val="F2685C"/>
              </a:solidFill>
            </a:ln>
          </p:spPr>
        </p:sp>
        <p:sp>
          <p:nvSpPr>
            <p:cNvPr id="16" name="Rectangle 16"/>
            <p:cNvSpPr/>
            <p:nvPr/>
          </p:nvSpPr>
          <p:spPr>
            <a:xfrm>
              <a:off x="6210300" y="1504950"/>
              <a:ext cx="57150" cy="1600200"/>
            </a:xfrm>
            <a:prstGeom prst="roundRect">
              <a:avLst>
                <a:gd name="adj" fmla="val 50000"/>
              </a:avLst>
            </a:prstGeom>
            <a:solidFill>
              <a:srgbClr val="F2685C"/>
            </a:solidFill>
            <a:ln>
              <a:noFill/>
            </a:ln>
          </p:spPr>
        </p:sp>
        <p:sp>
          <p:nvSpPr>
            <p:cNvPr id="17" name="TextBox 17"/>
            <p:cNvSpPr txBox="1"/>
            <p:nvPr/>
          </p:nvSpPr>
          <p:spPr>
            <a:xfrm>
              <a:off x="6470904" y="1737360"/>
              <a:ext cx="2383988"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But hard to apply in practice</a:t>
              </a:r>
            </a:p>
          </p:txBody>
        </p:sp>
        <p:sp>
          <p:nvSpPr>
            <p:cNvPr id="18" name="TextBox 18"/>
            <p:cNvSpPr txBox="1"/>
            <p:nvPr/>
          </p:nvSpPr>
          <p:spPr>
            <a:xfrm>
              <a:off x="6471476" y="2054304"/>
              <a:ext cx="3566730"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They need complex tricks to stabilize learning and</a:t>
              </a:r>
            </a:p>
          </p:txBody>
        </p:sp>
        <p:sp>
          <p:nvSpPr>
            <p:cNvPr id="19" name="TextBox 19"/>
            <p:cNvSpPr txBox="1"/>
            <p:nvPr/>
          </p:nvSpPr>
          <p:spPr>
            <a:xfrm>
              <a:off x="6471476" y="2282904"/>
              <a:ext cx="3855527"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careful tuning of many interacting hyperparameters.</a:t>
              </a:r>
            </a:p>
          </p:txBody>
        </p:sp>
        <p:sp>
          <p:nvSpPr>
            <p:cNvPr id="20" name="Rectangle 20"/>
            <p:cNvSpPr/>
            <p:nvPr/>
          </p:nvSpPr>
          <p:spPr>
            <a:xfrm>
              <a:off x="6477000" y="2724150"/>
              <a:ext cx="4838700" cy="285750"/>
            </a:xfrm>
            <a:prstGeom prst="roundRect">
              <a:avLst>
                <a:gd name="adj" fmla="val 26667"/>
              </a:avLst>
            </a:prstGeom>
            <a:solidFill>
              <a:schemeClr val="accent6"/>
            </a:solidFill>
            <a:ln w="14288">
              <a:solidFill>
                <a:srgbClr val="26455F"/>
              </a:solidFill>
            </a:ln>
          </p:spPr>
        </p:sp>
        <p:sp>
          <p:nvSpPr>
            <p:cNvPr id="21" name="Ellipse 21"/>
            <p:cNvSpPr/>
            <p:nvPr/>
          </p:nvSpPr>
          <p:spPr>
            <a:xfrm>
              <a:off x="6600825" y="2819400"/>
              <a:ext cx="95250" cy="95250"/>
            </a:xfrm>
            <a:prstGeom prst="ellipse">
              <a:avLst/>
            </a:prstGeom>
            <a:solidFill>
              <a:srgbClr val="F2685C"/>
            </a:solidFill>
            <a:ln>
              <a:noFill/>
            </a:ln>
          </p:spPr>
        </p:sp>
        <p:sp>
          <p:nvSpPr>
            <p:cNvPr id="22" name="TextBox 22"/>
            <p:cNvSpPr txBox="1"/>
            <p:nvPr/>
          </p:nvSpPr>
          <p:spPr>
            <a:xfrm>
              <a:off x="6795706" y="2805351"/>
              <a:ext cx="2035169"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Fragile training · many knobs</a:t>
              </a:r>
            </a:p>
          </p:txBody>
        </p:sp>
      </p:grpSp>
      <p:grpSp>
        <p:nvGrpSpPr>
          <p:cNvPr id="29" name="Group 29"/>
          <p:cNvGrpSpPr/>
          <p:nvPr/>
        </p:nvGrpSpPr>
        <p:grpSpPr>
          <a:xfrm>
            <a:off x="609600" y="3295650"/>
            <a:ext cx="10972800" cy="1143000"/>
            <a:chOff x="609600" y="3295650"/>
            <a:chExt cx="10972800" cy="1143000"/>
          </a:xfrm>
        </p:grpSpPr>
        <p:sp>
          <p:nvSpPr>
            <p:cNvPr id="24" name="Rectangle 24"/>
            <p:cNvSpPr/>
            <p:nvPr/>
          </p:nvSpPr>
          <p:spPr>
            <a:xfrm>
              <a:off x="609600" y="3295650"/>
              <a:ext cx="10972800" cy="1143000"/>
            </a:xfrm>
            <a:prstGeom prst="roundRect">
              <a:avLst>
                <a:gd name="adj" fmla="val 11667"/>
              </a:avLst>
            </a:prstGeom>
            <a:solidFill>
              <a:schemeClr val="accent5"/>
            </a:solidFill>
            <a:ln w="14288">
              <a:solidFill>
                <a:srgbClr val="26455F"/>
              </a:solidFill>
            </a:ln>
          </p:spPr>
        </p:sp>
        <p:sp>
          <p:nvSpPr>
            <p:cNvPr id="25" name="Rectangle 25"/>
            <p:cNvSpPr/>
            <p:nvPr/>
          </p:nvSpPr>
          <p:spPr>
            <a:xfrm>
              <a:off x="609600" y="3295650"/>
              <a:ext cx="57150" cy="1143000"/>
            </a:xfrm>
            <a:prstGeom prst="roundRect">
              <a:avLst>
                <a:gd name="adj" fmla="val 50000"/>
              </a:avLst>
            </a:prstGeom>
            <a:solidFill>
              <a:srgbClr val="34D3C0"/>
            </a:solidFill>
            <a:ln>
              <a:noFill/>
            </a:ln>
          </p:spPr>
        </p:sp>
        <p:sp>
          <p:nvSpPr>
            <p:cNvPr id="26" name="TextBox 26"/>
            <p:cNvSpPr txBox="1"/>
            <p:nvPr/>
          </p:nvSpPr>
          <p:spPr>
            <a:xfrm>
              <a:off x="870204" y="3528060"/>
              <a:ext cx="5032050"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An attractive alternative: turn RL into conditional imitation</a:t>
              </a:r>
            </a:p>
          </p:txBody>
        </p:sp>
        <p:sp>
          <p:nvSpPr>
            <p:cNvPr id="27" name="TextBox 27"/>
            <p:cNvSpPr txBox="1"/>
            <p:nvPr/>
          </p:nvSpPr>
          <p:spPr>
            <a:xfrm>
              <a:off x="870585" y="3840956"/>
              <a:ext cx="759542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Convert the RL problem into a conditional, filtered, or weighted imitation-learning problem — using the</a:t>
              </a:r>
            </a:p>
          </p:txBody>
        </p:sp>
        <p:sp>
          <p:nvSpPr>
            <p:cNvPr id="28" name="TextBox 28"/>
            <p:cNvSpPr txBox="1"/>
            <p:nvPr/>
          </p:nvSpPr>
          <p:spPr>
            <a:xfrm>
              <a:off x="870585" y="4069556"/>
              <a:ext cx="564285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insight that experience suboptimal for one task may be optimal for another.</a:t>
              </a:r>
            </a:p>
          </p:txBody>
        </p:sp>
      </p:grpSp>
      <p:grpSp>
        <p:nvGrpSpPr>
          <p:cNvPr id="35" name="Group 35"/>
          <p:cNvGrpSpPr/>
          <p:nvPr/>
        </p:nvGrpSpPr>
        <p:grpSpPr>
          <a:xfrm>
            <a:off x="609600" y="4629150"/>
            <a:ext cx="10972800" cy="1143000"/>
            <a:chOff x="609600" y="4629150"/>
            <a:chExt cx="10972800" cy="1143000"/>
          </a:xfrm>
        </p:grpSpPr>
        <p:sp>
          <p:nvSpPr>
            <p:cNvPr id="30" name="Rectangle 30"/>
            <p:cNvSpPr/>
            <p:nvPr/>
          </p:nvSpPr>
          <p:spPr>
            <a:xfrm>
              <a:off x="609600" y="4629150"/>
              <a:ext cx="10972800" cy="1143000"/>
            </a:xfrm>
            <a:prstGeom prst="roundRect">
              <a:avLst>
                <a:gd name="adj" fmla="val 11667"/>
              </a:avLst>
            </a:prstGeom>
            <a:solidFill>
              <a:srgbClr val="0F2E2B"/>
            </a:solidFill>
            <a:ln w="14288">
              <a:solidFill>
                <a:srgbClr val="34D3C0"/>
              </a:solidFill>
            </a:ln>
          </p:spPr>
        </p:sp>
        <p:sp>
          <p:nvSpPr>
            <p:cNvPr id="31" name="Rectangle 31"/>
            <p:cNvSpPr/>
            <p:nvPr/>
          </p:nvSpPr>
          <p:spPr>
            <a:xfrm>
              <a:off x="609600" y="4629150"/>
              <a:ext cx="57150" cy="1143000"/>
            </a:xfrm>
            <a:prstGeom prst="roundRect">
              <a:avLst>
                <a:gd name="adj" fmla="val 50000"/>
              </a:avLst>
            </a:prstGeom>
            <a:solidFill>
              <a:srgbClr val="34D3C0"/>
            </a:solidFill>
            <a:ln>
              <a:noFill/>
            </a:ln>
          </p:spPr>
        </p:sp>
        <p:sp>
          <p:nvSpPr>
            <p:cNvPr id="32" name="TextBox 32"/>
            <p:cNvSpPr txBox="1"/>
            <p:nvPr/>
          </p:nvSpPr>
          <p:spPr>
            <a:xfrm>
              <a:off x="870585" y="4869656"/>
              <a:ext cx="1834203" cy="220028"/>
            </a:xfrm>
            <a:prstGeom prst="rect">
              <a:avLst/>
            </a:prstGeom>
            <a:noFill/>
            <a:ln>
              <a:noFill/>
            </a:ln>
          </p:spPr>
          <p:txBody>
            <a:bodyPr wrap="none" lIns="0" tIns="0" rIns="0" bIns="0" anchor="t" anchorCtr="0">
              <a:spAutoFit/>
            </a:bodyPr>
            <a:lstStyle/>
            <a:p>
              <a:pPr algn="l"/>
              <a:r>
                <a:rPr lang="en-US" sz="1120" b="1" spc="75" dirty="0">
                  <a:solidFill>
                    <a:srgbClr val="34D3C0"/>
                  </a:solidFill>
                  <a:latin typeface="+mn-lt"/>
                  <a:ea typeface="+mn-ea"/>
                  <a:cs typeface="+mn-cs"/>
                </a:rPr>
                <a:t>Why it is worth doing</a:t>
              </a:r>
            </a:p>
          </p:txBody>
        </p:sp>
        <p:sp>
          <p:nvSpPr>
            <p:cNvPr id="33" name="TextBox 33"/>
            <p:cNvSpPr txBox="1"/>
            <p:nvPr/>
          </p:nvSpPr>
          <p:spPr>
            <a:xfrm>
              <a:off x="870585" y="5155406"/>
              <a:ext cx="7479792"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If a minimal supervised recipe can match these complex value-based methods, it gives practitioners a</a:t>
              </a:r>
            </a:p>
          </p:txBody>
        </p:sp>
        <p:sp>
          <p:nvSpPr>
            <p:cNvPr id="34" name="TextBox 34"/>
            <p:cNvSpPr txBox="1"/>
            <p:nvPr/>
          </p:nvSpPr>
          <p:spPr>
            <a:xfrm>
              <a:off x="870585" y="5384006"/>
              <a:ext cx="648719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dependable field guide — and reveals exactly where supervised methods still break down.</a:t>
              </a:r>
            </a:p>
          </p:txBody>
        </p:sp>
      </p:grpSp>
      <p:sp>
        <p:nvSpPr>
          <p:cNvPr id="36" name="TextBox 36"/>
          <p:cNvSpPr txBox="1"/>
          <p:nvPr/>
        </p:nvSpPr>
        <p:spPr>
          <a:xfrm>
            <a:off x="604266" y="6096952"/>
            <a:ext cx="4638843" cy="205359"/>
          </a:xfrm>
          <a:prstGeom prst="rect">
            <a:avLst/>
          </a:prstGeom>
          <a:noFill/>
          <a:ln>
            <a:noFill/>
          </a:ln>
        </p:spPr>
        <p:txBody>
          <a:bodyPr wrap="none" lIns="0" tIns="0" rIns="0" bIns="0" anchor="t" anchorCtr="0">
            <a:spAutoFit/>
          </a:bodyPr>
          <a:lstStyle/>
          <a:p>
            <a:pPr algn="l"/>
            <a:r>
              <a:rPr lang="en-US" sz="1050" b="1" dirty="0">
                <a:solidFill>
                  <a:srgbClr val="6E869C"/>
                </a:solidFill>
                <a:latin typeface="+mn-lt"/>
                <a:ea typeface="+mn-ea"/>
                <a:cs typeface="+mn-cs"/>
              </a:rPr>
              <a:t>Simplicity that matches the state of the art is itself a finding.</a:t>
            </a:r>
          </a:p>
        </p:txBody>
      </p:sp>
      <p:sp>
        <p:nvSpPr>
          <p:cNvPr id="37" name="cue_s03_c1_value_based_methods_dominate_offline" title="cue_s03_c1_value_based_methods_dominate_offline" descr="cue_s03_c1_value_based_methods_dominate_offline Value-based methods dominate offline and off-policy RL, and they come with appealing theoretical guarantees."/>
          <p:cNvSpPr/>
          <p:nvPr/>
        </p:nvSpPr>
        <p:spPr>
          <a:xfrm>
            <a:off x="609600" y="1504645"/>
            <a:ext cx="5371795"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3_c2_but_practice_they_difficult_apply" title="cue_s03_c2_but_practice_they_difficult_apply" descr="cue_s03_c2_but_practice_they_difficult_apply But in practice they are difficult to apply. They require complex tricks to stabilize learning and careful tuning of many interacting hyperparameters."/>
          <p:cNvSpPr/>
          <p:nvPr/>
        </p:nvSpPr>
        <p:spPr>
          <a:xfrm>
            <a:off x="6210604" y="1504645"/>
            <a:ext cx="5371795"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3_c3_attractive_alternative_convert_reinf" title="cue_s03_c3_attractive_alternative_convert_reinf" descr="cue_s03_c3_attractive_alternative_convert_reinf An attractive alternative is to convert the reinforcement learning problem into a conditional, filtered, or weighted imitation learning problem, using the insight that experience that is suboptimal for one task may be optimal for another."/>
          <p:cNvSpPr/>
          <p:nvPr/>
        </p:nvSpPr>
        <p:spPr>
          <a:xfrm>
            <a:off x="609600" y="3295954"/>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3_c4_minimal_supervised_recipe_match_thes" title="cue_s03_c4_minimal_supervised_recipe_match_thes" descr="cue_s03_c4_minimal_supervised_recipe_match_thes If a minimal supervised recipe can match these complex value-based methods, it would give practitioners a dependable field guide, and it would also reveal exactly where such supervised methods still break down."/>
          <p:cNvSpPr/>
          <p:nvPr/>
        </p:nvSpPr>
        <p:spPr>
          <a:xfrm>
            <a:off x="609600" y="4629150"/>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311754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Three contributions</a:t>
            </a:r>
          </a:p>
        </p:txBody>
      </p:sp>
      <p:grpSp>
        <p:nvGrpSpPr>
          <p:cNvPr id="8" name="Group 8"/>
          <p:cNvGrpSpPr/>
          <p:nvPr/>
        </p:nvGrpSpPr>
        <p:grpSpPr>
          <a:xfrm>
            <a:off x="609600" y="1504950"/>
            <a:ext cx="10972800" cy="628650"/>
            <a:chOff x="609600" y="1504950"/>
            <a:chExt cx="10972800" cy="628650"/>
          </a:xfrm>
        </p:grpSpPr>
        <p:sp>
          <p:nvSpPr>
            <p:cNvPr id="5" name="Rectangle 5"/>
            <p:cNvSpPr/>
            <p:nvPr/>
          </p:nvSpPr>
          <p:spPr>
            <a:xfrm>
              <a:off x="609600" y="1504950"/>
              <a:ext cx="10972800" cy="628650"/>
            </a:xfrm>
            <a:prstGeom prst="roundRect">
              <a:avLst>
                <a:gd name="adj" fmla="val 21212"/>
              </a:avLst>
            </a:prstGeom>
            <a:solidFill>
              <a:schemeClr val="accent5"/>
            </a:solidFill>
            <a:ln w="14288">
              <a:solidFill>
                <a:srgbClr val="26455F"/>
              </a:solidFill>
            </a:ln>
          </p:spPr>
        </p:sp>
        <p:sp>
          <p:nvSpPr>
            <p:cNvPr id="6" name="Rectangle 6"/>
            <p:cNvSpPr/>
            <p:nvPr/>
          </p:nvSpPr>
          <p:spPr>
            <a:xfrm>
              <a:off x="609600" y="1504950"/>
              <a:ext cx="57150" cy="628650"/>
            </a:xfrm>
            <a:prstGeom prst="roundRect">
              <a:avLst>
                <a:gd name="adj" fmla="val 50000"/>
              </a:avLst>
            </a:prstGeom>
            <a:solidFill>
              <a:schemeClr val="accent2"/>
            </a:solidFill>
            <a:ln>
              <a:noFill/>
            </a:ln>
          </p:spPr>
        </p:sp>
        <p:sp>
          <p:nvSpPr>
            <p:cNvPr id="7" name="TextBox 7"/>
            <p:cNvSpPr txBox="1"/>
            <p:nvPr/>
          </p:nvSpPr>
          <p:spPr>
            <a:xfrm>
              <a:off x="869823" y="1757839"/>
              <a:ext cx="8767487"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Not a new algorithm — a unifying framework, a minimal recipe, and an honest map of what matters.</a:t>
              </a:r>
            </a:p>
          </p:txBody>
        </p:sp>
      </p:grpSp>
      <p:grpSp>
        <p:nvGrpSpPr>
          <p:cNvPr id="19" name="Group 19"/>
          <p:cNvGrpSpPr/>
          <p:nvPr/>
        </p:nvGrpSpPr>
        <p:grpSpPr>
          <a:xfrm>
            <a:off x="609600" y="2381250"/>
            <a:ext cx="3505200" cy="3048000"/>
            <a:chOff x="609600" y="2381250"/>
            <a:chExt cx="3505200" cy="3048000"/>
          </a:xfrm>
        </p:grpSpPr>
        <p:sp>
          <p:nvSpPr>
            <p:cNvPr id="9" name="Rectangle 9"/>
            <p:cNvSpPr/>
            <p:nvPr/>
          </p:nvSpPr>
          <p:spPr>
            <a:xfrm>
              <a:off x="609600" y="2381250"/>
              <a:ext cx="3505200" cy="3048000"/>
            </a:xfrm>
            <a:prstGeom prst="roundRect">
              <a:avLst>
                <a:gd name="adj" fmla="val 4375"/>
              </a:avLst>
            </a:prstGeom>
            <a:solidFill>
              <a:schemeClr val="accent5"/>
            </a:solidFill>
            <a:ln w="14288">
              <a:solidFill>
                <a:srgbClr val="26455F"/>
              </a:solidFill>
            </a:ln>
          </p:spPr>
        </p:sp>
        <p:sp>
          <p:nvSpPr>
            <p:cNvPr id="10" name="Rectangle 10"/>
            <p:cNvSpPr/>
            <p:nvPr/>
          </p:nvSpPr>
          <p:spPr>
            <a:xfrm>
              <a:off x="609600" y="2381250"/>
              <a:ext cx="3505200" cy="57150"/>
            </a:xfrm>
            <a:prstGeom prst="roundRect">
              <a:avLst>
                <a:gd name="adj" fmla="val 50000"/>
              </a:avLst>
            </a:prstGeom>
            <a:solidFill>
              <a:schemeClr val="accent2"/>
            </a:solidFill>
            <a:ln>
              <a:noFill/>
            </a:ln>
          </p:spPr>
        </p:sp>
        <p:sp>
          <p:nvSpPr>
            <p:cNvPr id="11" name="Ellipse 11"/>
            <p:cNvSpPr/>
            <p:nvPr/>
          </p:nvSpPr>
          <p:spPr>
            <a:xfrm>
              <a:off x="847725" y="2771775"/>
              <a:ext cx="514350" cy="514350"/>
            </a:xfrm>
            <a:prstGeom prst="ellipse">
              <a:avLst/>
            </a:prstGeom>
            <a:noFill/>
            <a:ln w="23812">
              <a:solidFill>
                <a:schemeClr val="accent2"/>
              </a:solidFill>
            </a:ln>
          </p:spPr>
        </p:sp>
        <p:sp>
          <p:nvSpPr>
            <p:cNvPr id="12" name="TextBox 12"/>
            <p:cNvSpPr txBox="1"/>
            <p:nvPr/>
          </p:nvSpPr>
          <p:spPr>
            <a:xfrm>
              <a:off x="1006009" y="2881312"/>
              <a:ext cx="197782"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1</a:t>
              </a:r>
            </a:p>
          </p:txBody>
        </p:sp>
        <p:sp>
          <p:nvSpPr>
            <p:cNvPr id="13" name="TextBox 13"/>
            <p:cNvSpPr txBox="1"/>
            <p:nvPr/>
          </p:nvSpPr>
          <p:spPr>
            <a:xfrm>
              <a:off x="869061" y="3484721"/>
              <a:ext cx="236953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One unifying framework</a:t>
              </a:r>
            </a:p>
          </p:txBody>
        </p:sp>
        <p:sp>
          <p:nvSpPr>
            <p:cNvPr id="14" name="TextBox 14"/>
            <p:cNvSpPr txBox="1"/>
            <p:nvPr/>
          </p:nvSpPr>
          <p:spPr>
            <a:xfrm>
              <a:off x="870776" y="3883104"/>
              <a:ext cx="290641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Place many existing goal-conditioned and</a:t>
              </a:r>
            </a:p>
          </p:txBody>
        </p:sp>
        <p:sp>
          <p:nvSpPr>
            <p:cNvPr id="15" name="TextBox 15"/>
            <p:cNvSpPr txBox="1"/>
            <p:nvPr/>
          </p:nvSpPr>
          <p:spPr>
            <a:xfrm>
              <a:off x="870776" y="4111704"/>
              <a:ext cx="263028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reward-conditioned methods under a</a:t>
              </a:r>
            </a:p>
          </p:txBody>
        </p:sp>
        <p:sp>
          <p:nvSpPr>
            <p:cNvPr id="16" name="TextBox 16"/>
            <p:cNvSpPr txBox="1"/>
            <p:nvPr/>
          </p:nvSpPr>
          <p:spPr>
            <a:xfrm>
              <a:off x="870776" y="4340304"/>
              <a:ext cx="234656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single view the authors call RvS:</a:t>
              </a:r>
            </a:p>
          </p:txBody>
        </p:sp>
        <p:sp>
          <p:nvSpPr>
            <p:cNvPr id="17" name="TextBox 17"/>
            <p:cNvSpPr txBox="1"/>
            <p:nvPr/>
          </p:nvSpPr>
          <p:spPr>
            <a:xfrm>
              <a:off x="870776" y="4568904"/>
              <a:ext cx="273299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reinforcement learning via supervised</a:t>
              </a:r>
            </a:p>
          </p:txBody>
        </p:sp>
        <p:sp>
          <p:nvSpPr>
            <p:cNvPr id="18" name="TextBox 18"/>
            <p:cNvSpPr txBox="1"/>
            <p:nvPr/>
          </p:nvSpPr>
          <p:spPr>
            <a:xfrm>
              <a:off x="870776" y="4797504"/>
              <a:ext cx="66402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learning.</a:t>
              </a:r>
            </a:p>
          </p:txBody>
        </p:sp>
      </p:grpSp>
      <p:grpSp>
        <p:nvGrpSpPr>
          <p:cNvPr id="30" name="Group 30"/>
          <p:cNvGrpSpPr/>
          <p:nvPr/>
        </p:nvGrpSpPr>
        <p:grpSpPr>
          <a:xfrm>
            <a:off x="4343400" y="2381250"/>
            <a:ext cx="3505200" cy="3048000"/>
            <a:chOff x="4343400" y="2381250"/>
            <a:chExt cx="3505200" cy="3048000"/>
          </a:xfrm>
        </p:grpSpPr>
        <p:sp>
          <p:nvSpPr>
            <p:cNvPr id="20" name="Rectangle 20"/>
            <p:cNvSpPr/>
            <p:nvPr/>
          </p:nvSpPr>
          <p:spPr>
            <a:xfrm>
              <a:off x="4343400" y="2381250"/>
              <a:ext cx="3505200" cy="3048000"/>
            </a:xfrm>
            <a:prstGeom prst="roundRect">
              <a:avLst>
                <a:gd name="adj" fmla="val 4375"/>
              </a:avLst>
            </a:prstGeom>
            <a:solidFill>
              <a:schemeClr val="accent5"/>
            </a:solidFill>
            <a:ln w="14288">
              <a:solidFill>
                <a:srgbClr val="26455F"/>
              </a:solidFill>
            </a:ln>
          </p:spPr>
        </p:sp>
        <p:sp>
          <p:nvSpPr>
            <p:cNvPr id="21" name="Rectangle 21"/>
            <p:cNvSpPr/>
            <p:nvPr/>
          </p:nvSpPr>
          <p:spPr>
            <a:xfrm>
              <a:off x="4343400" y="2381250"/>
              <a:ext cx="3505200" cy="57150"/>
            </a:xfrm>
            <a:prstGeom prst="roundRect">
              <a:avLst>
                <a:gd name="adj" fmla="val 50000"/>
              </a:avLst>
            </a:prstGeom>
            <a:solidFill>
              <a:srgbClr val="48C78E"/>
            </a:solidFill>
            <a:ln>
              <a:noFill/>
            </a:ln>
          </p:spPr>
        </p:sp>
        <p:sp>
          <p:nvSpPr>
            <p:cNvPr id="22" name="Ellipse 22"/>
            <p:cNvSpPr/>
            <p:nvPr/>
          </p:nvSpPr>
          <p:spPr>
            <a:xfrm>
              <a:off x="4581525" y="2771775"/>
              <a:ext cx="514350" cy="514350"/>
            </a:xfrm>
            <a:prstGeom prst="ellipse">
              <a:avLst/>
            </a:prstGeom>
            <a:noFill/>
            <a:ln w="23812">
              <a:solidFill>
                <a:srgbClr val="48C78E"/>
              </a:solidFill>
            </a:ln>
          </p:spPr>
        </p:sp>
        <p:sp>
          <p:nvSpPr>
            <p:cNvPr id="23" name="TextBox 23"/>
            <p:cNvSpPr txBox="1"/>
            <p:nvPr/>
          </p:nvSpPr>
          <p:spPr>
            <a:xfrm>
              <a:off x="4739809" y="2881312"/>
              <a:ext cx="197782" cy="440055"/>
            </a:xfrm>
            <a:prstGeom prst="rect">
              <a:avLst/>
            </a:prstGeom>
            <a:noFill/>
            <a:ln>
              <a:noFill/>
            </a:ln>
          </p:spPr>
          <p:txBody>
            <a:bodyPr wrap="none" lIns="0" tIns="0" rIns="0" bIns="0" anchor="t" anchorCtr="0">
              <a:spAutoFit/>
            </a:bodyPr>
            <a:lstStyle/>
            <a:p>
              <a:pPr algn="ctr"/>
              <a:r>
                <a:rPr lang="en-US" sz="2250" b="1" dirty="0">
                  <a:solidFill>
                    <a:srgbClr val="48C78E"/>
                  </a:solidFill>
                  <a:latin typeface="+mn-lt"/>
                  <a:ea typeface="+mn-ea"/>
                  <a:cs typeface="+mn-cs"/>
                </a:rPr>
                <a:t>2</a:t>
              </a:r>
            </a:p>
          </p:txBody>
        </p:sp>
        <p:sp>
          <p:nvSpPr>
            <p:cNvPr id="24" name="TextBox 24"/>
            <p:cNvSpPr txBox="1"/>
            <p:nvPr/>
          </p:nvSpPr>
          <p:spPr>
            <a:xfrm>
              <a:off x="4602861" y="3484721"/>
              <a:ext cx="156625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 minimal recipe</a:t>
              </a:r>
            </a:p>
          </p:txBody>
        </p:sp>
        <p:sp>
          <p:nvSpPr>
            <p:cNvPr id="25" name="TextBox 25"/>
            <p:cNvSpPr txBox="1"/>
            <p:nvPr/>
          </p:nvSpPr>
          <p:spPr>
            <a:xfrm>
              <a:off x="4604576" y="3883104"/>
              <a:ext cx="261301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Through extensive experiments, boil</a:t>
              </a:r>
            </a:p>
          </p:txBody>
        </p:sp>
        <p:sp>
          <p:nvSpPr>
            <p:cNvPr id="26" name="TextBox 26"/>
            <p:cNvSpPr txBox="1"/>
            <p:nvPr/>
          </p:nvSpPr>
          <p:spPr>
            <a:xfrm>
              <a:off x="4604576" y="4111704"/>
              <a:ext cx="263762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these methods down to essentials: a</a:t>
              </a:r>
            </a:p>
          </p:txBody>
        </p:sp>
        <p:sp>
          <p:nvSpPr>
            <p:cNvPr id="27" name="TextBox 27"/>
            <p:cNvSpPr txBox="1"/>
            <p:nvPr/>
          </p:nvSpPr>
          <p:spPr>
            <a:xfrm>
              <a:off x="4604576" y="4340304"/>
              <a:ext cx="310717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two-layer feedforward network trained to</a:t>
              </a:r>
            </a:p>
          </p:txBody>
        </p:sp>
        <p:sp>
          <p:nvSpPr>
            <p:cNvPr id="28" name="TextBox 28"/>
            <p:cNvSpPr txBox="1"/>
            <p:nvPr/>
          </p:nvSpPr>
          <p:spPr>
            <a:xfrm>
              <a:off x="4604576" y="4568904"/>
              <a:ext cx="276234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maximize likelihood is competitive with</a:t>
              </a:r>
            </a:p>
          </p:txBody>
        </p:sp>
        <p:sp>
          <p:nvSpPr>
            <p:cNvPr id="29" name="TextBox 29"/>
            <p:cNvSpPr txBox="1"/>
            <p:nvPr/>
          </p:nvSpPr>
          <p:spPr>
            <a:xfrm>
              <a:off x="4604576" y="4797504"/>
              <a:ext cx="196997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far more complex methods.</a:t>
              </a:r>
            </a:p>
          </p:txBody>
        </p:sp>
      </p:grpSp>
      <p:grpSp>
        <p:nvGrpSpPr>
          <p:cNvPr id="42" name="Group 42"/>
          <p:cNvGrpSpPr/>
          <p:nvPr/>
        </p:nvGrpSpPr>
        <p:grpSpPr>
          <a:xfrm>
            <a:off x="8077200" y="2381250"/>
            <a:ext cx="3505200" cy="3048000"/>
            <a:chOff x="8077200" y="2381250"/>
            <a:chExt cx="3505200" cy="3048000"/>
          </a:xfrm>
        </p:grpSpPr>
        <p:sp>
          <p:nvSpPr>
            <p:cNvPr id="31" name="Rectangle 31"/>
            <p:cNvSpPr/>
            <p:nvPr/>
          </p:nvSpPr>
          <p:spPr>
            <a:xfrm>
              <a:off x="8077200" y="2381250"/>
              <a:ext cx="3505200" cy="3048000"/>
            </a:xfrm>
            <a:prstGeom prst="roundRect">
              <a:avLst>
                <a:gd name="adj" fmla="val 4375"/>
              </a:avLst>
            </a:prstGeom>
            <a:solidFill>
              <a:schemeClr val="accent5"/>
            </a:solidFill>
            <a:ln w="14288">
              <a:solidFill>
                <a:srgbClr val="26455F"/>
              </a:solidFill>
            </a:ln>
          </p:spPr>
        </p:sp>
        <p:sp>
          <p:nvSpPr>
            <p:cNvPr id="32" name="Rectangle 32"/>
            <p:cNvSpPr/>
            <p:nvPr/>
          </p:nvSpPr>
          <p:spPr>
            <a:xfrm>
              <a:off x="8077200" y="2381250"/>
              <a:ext cx="3505200" cy="57150"/>
            </a:xfrm>
            <a:prstGeom prst="roundRect">
              <a:avLst>
                <a:gd name="adj" fmla="val 50000"/>
              </a:avLst>
            </a:prstGeom>
            <a:solidFill>
              <a:srgbClr val="F2C14E"/>
            </a:solidFill>
            <a:ln>
              <a:noFill/>
            </a:ln>
          </p:spPr>
        </p:sp>
        <p:sp>
          <p:nvSpPr>
            <p:cNvPr id="33" name="Ellipse 33"/>
            <p:cNvSpPr/>
            <p:nvPr/>
          </p:nvSpPr>
          <p:spPr>
            <a:xfrm>
              <a:off x="8315325" y="2771775"/>
              <a:ext cx="514350" cy="514350"/>
            </a:xfrm>
            <a:prstGeom prst="ellipse">
              <a:avLst/>
            </a:prstGeom>
            <a:noFill/>
            <a:ln w="23812">
              <a:solidFill>
                <a:srgbClr val="F2C14E"/>
              </a:solidFill>
            </a:ln>
          </p:spPr>
        </p:sp>
        <p:sp>
          <p:nvSpPr>
            <p:cNvPr id="34" name="TextBox 34"/>
            <p:cNvSpPr txBox="1"/>
            <p:nvPr/>
          </p:nvSpPr>
          <p:spPr>
            <a:xfrm>
              <a:off x="8473609" y="2881312"/>
              <a:ext cx="197782"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3</a:t>
              </a:r>
            </a:p>
          </p:txBody>
        </p:sp>
        <p:sp>
          <p:nvSpPr>
            <p:cNvPr id="35" name="TextBox 35"/>
            <p:cNvSpPr txBox="1"/>
            <p:nvPr/>
          </p:nvSpPr>
          <p:spPr>
            <a:xfrm>
              <a:off x="8336661" y="3484721"/>
              <a:ext cx="227000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What matters, and the</a:t>
              </a:r>
            </a:p>
          </p:txBody>
        </p:sp>
        <p:sp>
          <p:nvSpPr>
            <p:cNvPr id="36" name="TextBox 36"/>
            <p:cNvSpPr txBox="1"/>
            <p:nvPr/>
          </p:nvSpPr>
          <p:spPr>
            <a:xfrm>
              <a:off x="8336661" y="3751421"/>
              <a:ext cx="56645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limits</a:t>
              </a:r>
            </a:p>
          </p:txBody>
        </p:sp>
        <p:sp>
          <p:nvSpPr>
            <p:cNvPr id="37" name="TextBox 37"/>
            <p:cNvSpPr txBox="1"/>
            <p:nvPr/>
          </p:nvSpPr>
          <p:spPr>
            <a:xfrm>
              <a:off x="8338376" y="4149804"/>
              <a:ext cx="293610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Identify the choices that matter — model</a:t>
              </a:r>
            </a:p>
          </p:txBody>
        </p:sp>
        <p:sp>
          <p:nvSpPr>
            <p:cNvPr id="38" name="TextBox 38"/>
            <p:cNvSpPr txBox="1"/>
            <p:nvPr/>
          </p:nvSpPr>
          <p:spPr>
            <a:xfrm>
              <a:off x="8338376" y="4378404"/>
              <a:ext cx="273299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capacity, regularization, and what to</a:t>
              </a:r>
            </a:p>
          </p:txBody>
        </p:sp>
        <p:sp>
          <p:nvSpPr>
            <p:cNvPr id="39" name="TextBox 39"/>
            <p:cNvSpPr txBox="1"/>
            <p:nvPr/>
          </p:nvSpPr>
          <p:spPr>
            <a:xfrm>
              <a:off x="8338376" y="4607004"/>
              <a:ext cx="279448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condition on — and honestly show RvS is</a:t>
              </a:r>
            </a:p>
          </p:txBody>
        </p:sp>
        <p:sp>
          <p:nvSpPr>
            <p:cNvPr id="40" name="TextBox 40"/>
            <p:cNvSpPr txBox="1"/>
            <p:nvPr/>
          </p:nvSpPr>
          <p:spPr>
            <a:xfrm>
              <a:off x="8338376" y="4835604"/>
              <a:ext cx="266696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comparatively weak on purely random</a:t>
              </a:r>
            </a:p>
          </p:txBody>
        </p:sp>
        <p:sp>
          <p:nvSpPr>
            <p:cNvPr id="41" name="TextBox 41"/>
            <p:cNvSpPr txBox="1"/>
            <p:nvPr/>
          </p:nvSpPr>
          <p:spPr>
            <a:xfrm>
              <a:off x="8338376" y="5064204"/>
              <a:ext cx="41457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data.</a:t>
              </a:r>
            </a:p>
          </p:txBody>
        </p:sp>
      </p:grpSp>
      <p:sp>
        <p:nvSpPr>
          <p:cNvPr id="43" name="TextBox 43"/>
          <p:cNvSpPr txBox="1"/>
          <p:nvPr/>
        </p:nvSpPr>
        <p:spPr>
          <a:xfrm>
            <a:off x="604266" y="5830252"/>
            <a:ext cx="3548584" cy="205359"/>
          </a:xfrm>
          <a:prstGeom prst="rect">
            <a:avLst/>
          </a:prstGeom>
          <a:noFill/>
          <a:ln>
            <a:noFill/>
          </a:ln>
        </p:spPr>
        <p:txBody>
          <a:bodyPr wrap="none" lIns="0" tIns="0" rIns="0" bIns="0" anchor="t" anchorCtr="0">
            <a:spAutoFit/>
          </a:bodyPr>
          <a:lstStyle/>
          <a:p>
            <a:pPr algn="l"/>
            <a:r>
              <a:rPr lang="en-US" sz="1050" b="1" dirty="0">
                <a:solidFill>
                  <a:srgbClr val="6E869C"/>
                </a:solidFill>
                <a:latin typeface="+mn-lt"/>
                <a:ea typeface="+mn-ea"/>
                <a:cs typeface="+mn-cs"/>
              </a:rPr>
              <a:t>A field guide, not a new state-of-the-art claim.</a:t>
            </a:r>
          </a:p>
        </p:txBody>
      </p:sp>
      <p:sp>
        <p:nvSpPr>
          <p:cNvPr id="44" name="cue_s04_c1_makes_three_contributions" title="cue_s04_c1_makes_three_contributions" descr="cue_s04_c1_makes_three_contributions The paper makes three contributions."/>
          <p:cNvSpPr/>
          <p:nvPr/>
        </p:nvSpPr>
        <p:spPr>
          <a:xfrm>
            <a:off x="609600" y="1504645"/>
            <a:ext cx="10972800" cy="6288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4_c2_first_does_not_propose_brand_new" title="cue_s04_c2_first_does_not_propose_brand_new" descr="cue_s04_c2_first_does_not_propose_brand_new First, it does not propose a brand-new algorithm; instead it places many existing goal-conditioned and reward-conditioned methods under one common framework, which the authors call RvS, reinforcement learning via supervised learning."/>
          <p:cNvSpPr/>
          <p:nvPr/>
        </p:nvSpPr>
        <p:spPr>
          <a:xfrm>
            <a:off x="609600" y="2381097"/>
            <a:ext cx="3505199"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4_c3_second_through_extensive_experiments" title="cue_s04_c3_second_through_extensive_experiments" descr="cue_s04_c3_second_through_extensive_experiments Second, through extensive experiments it boils these methods down to their essential elements, showing that a two-layer feedforward network trained to maximize likelihood is competitive with far more complex state-of-the-art methods."/>
          <p:cNvSpPr/>
          <p:nvPr/>
        </p:nvSpPr>
        <p:spPr>
          <a:xfrm>
            <a:off x="4344009" y="2381097"/>
            <a:ext cx="3505199"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4_c4_third_identifies_exactly_which_desig" title="cue_s04_c4_third_identifies_exactly_which_desig" descr="cue_s04_c4_third_identifies_exactly_which_desig Third, it identifies exactly which design choices matter, namely model capacity, regularization, and what you condition on, and it honestly probes the limits, showing that RvS is comparatively weak on purely random data."/>
          <p:cNvSpPr/>
          <p:nvPr/>
        </p:nvSpPr>
        <p:spPr>
          <a:xfrm>
            <a:off x="8077200" y="2381097"/>
            <a:ext cx="3505199"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656857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Condition, relabel, and maximize likelihood</a:t>
            </a:r>
          </a:p>
        </p:txBody>
      </p:sp>
      <p:grpSp>
        <p:nvGrpSpPr>
          <p:cNvPr id="17" name="Group 17"/>
          <p:cNvGrpSpPr/>
          <p:nvPr/>
        </p:nvGrpSpPr>
        <p:grpSpPr>
          <a:xfrm>
            <a:off x="609600" y="1504950"/>
            <a:ext cx="5410200" cy="1828800"/>
            <a:chOff x="609600" y="1504950"/>
            <a:chExt cx="5410200" cy="1828800"/>
          </a:xfrm>
        </p:grpSpPr>
        <p:sp>
          <p:nvSpPr>
            <p:cNvPr id="5" name="Rectangle 5"/>
            <p:cNvSpPr/>
            <p:nvPr/>
          </p:nvSpPr>
          <p:spPr>
            <a:xfrm>
              <a:off x="609600" y="1504950"/>
              <a:ext cx="5410200" cy="1828800"/>
            </a:xfrm>
            <a:prstGeom prst="roundRect">
              <a:avLst>
                <a:gd name="adj" fmla="val 7292"/>
              </a:avLst>
            </a:prstGeom>
            <a:solidFill>
              <a:schemeClr val="accent5"/>
            </a:solidFill>
            <a:ln w="14288">
              <a:solidFill>
                <a:srgbClr val="26455F"/>
              </a:solidFill>
            </a:ln>
          </p:spPr>
        </p:sp>
        <p:sp>
          <p:nvSpPr>
            <p:cNvPr id="6" name="Rectangle 6"/>
            <p:cNvSpPr/>
            <p:nvPr/>
          </p:nvSpPr>
          <p:spPr>
            <a:xfrm>
              <a:off x="609600" y="1504950"/>
              <a:ext cx="57150" cy="1828800"/>
            </a:xfrm>
            <a:prstGeom prst="roundRect">
              <a:avLst>
                <a:gd name="adj" fmla="val 50000"/>
              </a:avLst>
            </a:prstGeom>
            <a:solidFill>
              <a:schemeClr val="accent2"/>
            </a:solidFill>
            <a:ln>
              <a:noFill/>
            </a:ln>
          </p:spPr>
        </p:sp>
        <p:sp>
          <p:nvSpPr>
            <p:cNvPr id="7" name="TextBox 7"/>
            <p:cNvSpPr txBox="1"/>
            <p:nvPr/>
          </p:nvSpPr>
          <p:spPr>
            <a:xfrm>
              <a:off x="870014" y="1733312"/>
              <a:ext cx="2936602"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Condition the policy on an outcome</a:t>
              </a:r>
            </a:p>
          </p:txBody>
        </p:sp>
        <p:sp>
          <p:nvSpPr>
            <p:cNvPr id="8" name="TextBox 8"/>
            <p:cNvSpPr txBox="1"/>
            <p:nvPr/>
          </p:nvSpPr>
          <p:spPr>
            <a:xfrm>
              <a:off x="870776" y="2054304"/>
              <a:ext cx="398245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In a Markov decision process, train a policy conditioned</a:t>
              </a:r>
            </a:p>
          </p:txBody>
        </p:sp>
        <p:sp>
          <p:nvSpPr>
            <p:cNvPr id="9" name="TextBox 9"/>
            <p:cNvSpPr txBox="1"/>
            <p:nvPr/>
          </p:nvSpPr>
          <p:spPr>
            <a:xfrm>
              <a:off x="870776" y="2273379"/>
              <a:ext cx="395090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on an outcome omega — either a future goal state or an</a:t>
              </a:r>
            </a:p>
          </p:txBody>
        </p:sp>
        <p:sp>
          <p:nvSpPr>
            <p:cNvPr id="10" name="TextBox 10"/>
            <p:cNvSpPr txBox="1"/>
            <p:nvPr/>
          </p:nvSpPr>
          <p:spPr>
            <a:xfrm>
              <a:off x="870776" y="2492454"/>
              <a:ext cx="171318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average future return.</a:t>
              </a:r>
            </a:p>
          </p:txBody>
        </p:sp>
        <p:sp>
          <p:nvSpPr>
            <p:cNvPr id="11" name="Rectangle 11"/>
            <p:cNvSpPr/>
            <p:nvPr/>
          </p:nvSpPr>
          <p:spPr>
            <a:xfrm>
              <a:off x="876300" y="2857500"/>
              <a:ext cx="2362200" cy="323850"/>
            </a:xfrm>
            <a:prstGeom prst="roundRect">
              <a:avLst>
                <a:gd name="adj" fmla="val 23529"/>
              </a:avLst>
            </a:prstGeom>
            <a:solidFill>
              <a:schemeClr val="accent6"/>
            </a:solidFill>
            <a:ln w="14288">
              <a:solidFill>
                <a:srgbClr val="26455F"/>
              </a:solidFill>
            </a:ln>
          </p:spPr>
        </p:sp>
        <p:sp>
          <p:nvSpPr>
            <p:cNvPr id="12" name="Ellipse 12"/>
            <p:cNvSpPr/>
            <p:nvPr/>
          </p:nvSpPr>
          <p:spPr>
            <a:xfrm>
              <a:off x="1000125" y="2971800"/>
              <a:ext cx="95250" cy="95250"/>
            </a:xfrm>
            <a:prstGeom prst="ellipse">
              <a:avLst/>
            </a:prstGeom>
            <a:solidFill>
              <a:srgbClr val="34D3C0"/>
            </a:solidFill>
            <a:ln>
              <a:noFill/>
            </a:ln>
          </p:spPr>
        </p:sp>
        <p:sp>
          <p:nvSpPr>
            <p:cNvPr id="13" name="TextBox 13"/>
            <p:cNvSpPr txBox="1"/>
            <p:nvPr/>
          </p:nvSpPr>
          <p:spPr>
            <a:xfrm>
              <a:off x="1195006" y="2957751"/>
              <a:ext cx="1823396"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omega = future goal state</a:t>
              </a:r>
            </a:p>
          </p:txBody>
        </p:sp>
        <p:sp>
          <p:nvSpPr>
            <p:cNvPr id="14" name="Rectangle 14"/>
            <p:cNvSpPr/>
            <p:nvPr/>
          </p:nvSpPr>
          <p:spPr>
            <a:xfrm>
              <a:off x="3429000" y="2857500"/>
              <a:ext cx="2362200" cy="323850"/>
            </a:xfrm>
            <a:prstGeom prst="roundRect">
              <a:avLst>
                <a:gd name="adj" fmla="val 23529"/>
              </a:avLst>
            </a:prstGeom>
            <a:solidFill>
              <a:schemeClr val="accent6"/>
            </a:solidFill>
            <a:ln w="14288">
              <a:solidFill>
                <a:srgbClr val="26455F"/>
              </a:solidFill>
            </a:ln>
          </p:spPr>
        </p:sp>
        <p:sp>
          <p:nvSpPr>
            <p:cNvPr id="15" name="Ellipse 15"/>
            <p:cNvSpPr/>
            <p:nvPr/>
          </p:nvSpPr>
          <p:spPr>
            <a:xfrm>
              <a:off x="3552825" y="2971800"/>
              <a:ext cx="95250" cy="95250"/>
            </a:xfrm>
            <a:prstGeom prst="ellipse">
              <a:avLst/>
            </a:prstGeom>
            <a:solidFill>
              <a:srgbClr val="F2C14E"/>
            </a:solidFill>
            <a:ln>
              <a:noFill/>
            </a:ln>
          </p:spPr>
        </p:sp>
        <p:sp>
          <p:nvSpPr>
            <p:cNvPr id="16" name="TextBox 16"/>
            <p:cNvSpPr txBox="1"/>
            <p:nvPr/>
          </p:nvSpPr>
          <p:spPr>
            <a:xfrm>
              <a:off x="3747706" y="2957751"/>
              <a:ext cx="1659217"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omega = average return</a:t>
              </a:r>
            </a:p>
          </p:txBody>
        </p:sp>
      </p:grpSp>
      <p:grpSp>
        <p:nvGrpSpPr>
          <p:cNvPr id="25" name="Group 25"/>
          <p:cNvGrpSpPr/>
          <p:nvPr/>
        </p:nvGrpSpPr>
        <p:grpSpPr>
          <a:xfrm>
            <a:off x="6172200" y="1504950"/>
            <a:ext cx="5410200" cy="1828800"/>
            <a:chOff x="6172200" y="1504950"/>
            <a:chExt cx="5410200" cy="1828800"/>
          </a:xfrm>
        </p:grpSpPr>
        <p:sp>
          <p:nvSpPr>
            <p:cNvPr id="18" name="Rectangle 18"/>
            <p:cNvSpPr/>
            <p:nvPr/>
          </p:nvSpPr>
          <p:spPr>
            <a:xfrm>
              <a:off x="6172200" y="1504950"/>
              <a:ext cx="5410200" cy="1828800"/>
            </a:xfrm>
            <a:prstGeom prst="roundRect">
              <a:avLst>
                <a:gd name="adj" fmla="val 7292"/>
              </a:avLst>
            </a:prstGeom>
            <a:solidFill>
              <a:schemeClr val="accent5"/>
            </a:solidFill>
            <a:ln w="14288">
              <a:solidFill>
                <a:srgbClr val="26455F"/>
              </a:solidFill>
            </a:ln>
          </p:spPr>
        </p:sp>
        <p:sp>
          <p:nvSpPr>
            <p:cNvPr id="19" name="Rectangle 19"/>
            <p:cNvSpPr/>
            <p:nvPr/>
          </p:nvSpPr>
          <p:spPr>
            <a:xfrm>
              <a:off x="6172200" y="1504950"/>
              <a:ext cx="57150" cy="1828800"/>
            </a:xfrm>
            <a:prstGeom prst="roundRect">
              <a:avLst>
                <a:gd name="adj" fmla="val 50000"/>
              </a:avLst>
            </a:prstGeom>
            <a:solidFill>
              <a:srgbClr val="34D3C0"/>
            </a:solidFill>
            <a:ln>
              <a:noFill/>
            </a:ln>
          </p:spPr>
        </p:sp>
        <p:sp>
          <p:nvSpPr>
            <p:cNvPr id="20" name="TextBox 20"/>
            <p:cNvSpPr txBox="1"/>
            <p:nvPr/>
          </p:nvSpPr>
          <p:spPr>
            <a:xfrm>
              <a:off x="6432614" y="1733312"/>
              <a:ext cx="1682648"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Hindsight relabeling</a:t>
              </a:r>
            </a:p>
          </p:txBody>
        </p:sp>
        <p:sp>
          <p:nvSpPr>
            <p:cNvPr id="21" name="TextBox 21"/>
            <p:cNvSpPr txBox="1"/>
            <p:nvPr/>
          </p:nvSpPr>
          <p:spPr>
            <a:xfrm>
              <a:off x="6433376" y="2054304"/>
              <a:ext cx="420509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Given offline trajectories, every observed action becomes</a:t>
              </a:r>
            </a:p>
          </p:txBody>
        </p:sp>
        <p:sp>
          <p:nvSpPr>
            <p:cNvPr id="22" name="TextBox 22"/>
            <p:cNvSpPr txBox="1"/>
            <p:nvPr/>
          </p:nvSpPr>
          <p:spPr>
            <a:xfrm>
              <a:off x="6433376" y="2273379"/>
              <a:ext cx="412698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demonstration for whatever outcome actually occurred</a:t>
              </a:r>
            </a:p>
          </p:txBody>
        </p:sp>
        <p:sp>
          <p:nvSpPr>
            <p:cNvPr id="23" name="TextBox 23"/>
            <p:cNvSpPr txBox="1"/>
            <p:nvPr/>
          </p:nvSpPr>
          <p:spPr>
            <a:xfrm>
              <a:off x="6433376" y="2492454"/>
              <a:ext cx="220474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later in that same trajectory.</a:t>
              </a:r>
            </a:p>
          </p:txBody>
        </p:sp>
        <p:sp>
          <p:nvSpPr>
            <p:cNvPr id="24" name="TextBox 24"/>
            <p:cNvSpPr txBox="1"/>
            <p:nvPr/>
          </p:nvSpPr>
          <p:spPr>
            <a:xfrm>
              <a:off x="6433376" y="2911554"/>
              <a:ext cx="3785827"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Consolas"/>
                  <a:ea typeface="Consolas"/>
                  <a:cs typeface="Consolas"/>
                </a:rPr>
                <a:t>(s, a) → demonstration for outcome that followed</a:t>
              </a:r>
            </a:p>
          </p:txBody>
        </p:sp>
      </p:grpSp>
      <p:grpSp>
        <p:nvGrpSpPr>
          <p:cNvPr id="75" name="Group 75"/>
          <p:cNvGrpSpPr/>
          <p:nvPr/>
        </p:nvGrpSpPr>
        <p:grpSpPr>
          <a:xfrm>
            <a:off x="609600" y="3486150"/>
            <a:ext cx="5410200" cy="2038350"/>
            <a:chOff x="609600" y="3486150"/>
            <a:chExt cx="5410200" cy="2038350"/>
          </a:xfrm>
        </p:grpSpPr>
        <p:sp>
          <p:nvSpPr>
            <p:cNvPr id="26" name="Rectangle 26"/>
            <p:cNvSpPr/>
            <p:nvPr/>
          </p:nvSpPr>
          <p:spPr>
            <a:xfrm>
              <a:off x="609600" y="3486150"/>
              <a:ext cx="5410200" cy="2038350"/>
            </a:xfrm>
            <a:prstGeom prst="roundRect">
              <a:avLst>
                <a:gd name="adj" fmla="val 6542"/>
              </a:avLst>
            </a:prstGeom>
            <a:solidFill>
              <a:schemeClr val="accent5"/>
            </a:solidFill>
            <a:ln w="14288">
              <a:solidFill>
                <a:srgbClr val="26455F"/>
              </a:solidFill>
            </a:ln>
          </p:spPr>
        </p:sp>
        <p:sp>
          <p:nvSpPr>
            <p:cNvPr id="27" name="Rectangle 27"/>
            <p:cNvSpPr/>
            <p:nvPr/>
          </p:nvSpPr>
          <p:spPr>
            <a:xfrm>
              <a:off x="609600" y="3486150"/>
              <a:ext cx="57150" cy="2038350"/>
            </a:xfrm>
            <a:prstGeom prst="roundRect">
              <a:avLst>
                <a:gd name="adj" fmla="val 50000"/>
              </a:avLst>
            </a:prstGeom>
            <a:solidFill>
              <a:srgbClr val="F2C14E"/>
            </a:solidFill>
            <a:ln>
              <a:noFill/>
            </a:ln>
          </p:spPr>
        </p:sp>
        <p:sp>
          <p:nvSpPr>
            <p:cNvPr id="28" name="TextBox 28"/>
            <p:cNvSpPr txBox="1"/>
            <p:nvPr/>
          </p:nvSpPr>
          <p:spPr>
            <a:xfrm>
              <a:off x="870014" y="3714512"/>
              <a:ext cx="1861231"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Just a two-layer MLP</a:t>
              </a:r>
            </a:p>
          </p:txBody>
        </p:sp>
        <p:sp>
          <p:nvSpPr>
            <p:cNvPr id="29" name="TextBox 29"/>
            <p:cNvSpPr txBox="1"/>
            <p:nvPr/>
          </p:nvSpPr>
          <p:spPr>
            <a:xfrm>
              <a:off x="870776" y="4035504"/>
              <a:ext cx="437413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feedforward network with two fully connected layers; the</a:t>
              </a:r>
            </a:p>
          </p:txBody>
        </p:sp>
        <p:sp>
          <p:nvSpPr>
            <p:cNvPr id="30" name="TextBox 30"/>
            <p:cNvSpPr txBox="1"/>
            <p:nvPr/>
          </p:nvSpPr>
          <p:spPr>
            <a:xfrm>
              <a:off x="870776" y="4254579"/>
              <a:ext cx="379683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outcome is fed in simply by concatenating it onto the</a:t>
              </a:r>
            </a:p>
          </p:txBody>
        </p:sp>
        <p:sp>
          <p:nvSpPr>
            <p:cNvPr id="31" name="TextBox 31"/>
            <p:cNvSpPr txBox="1"/>
            <p:nvPr/>
          </p:nvSpPr>
          <p:spPr>
            <a:xfrm>
              <a:off x="870776" y="4473654"/>
              <a:ext cx="90613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input state.</a:t>
              </a:r>
            </a:p>
          </p:txBody>
        </p:sp>
        <p:sp>
          <p:nvSpPr>
            <p:cNvPr id="32" name="TextBox 32"/>
            <p:cNvSpPr txBox="1"/>
            <p:nvPr/>
          </p:nvSpPr>
          <p:spPr>
            <a:xfrm>
              <a:off x="705963" y="5332095"/>
              <a:ext cx="569275"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s | omega</a:t>
              </a:r>
            </a:p>
          </p:txBody>
        </p:sp>
        <p:sp>
          <p:nvSpPr>
            <p:cNvPr id="33" name="TextBox 33"/>
            <p:cNvSpPr txBox="1"/>
            <p:nvPr/>
          </p:nvSpPr>
          <p:spPr>
            <a:xfrm>
              <a:off x="2283531" y="5332095"/>
              <a:ext cx="271638"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FC 1</a:t>
              </a:r>
            </a:p>
          </p:txBody>
        </p:sp>
        <p:sp>
          <p:nvSpPr>
            <p:cNvPr id="34" name="TextBox 34"/>
            <p:cNvSpPr txBox="1"/>
            <p:nvPr/>
          </p:nvSpPr>
          <p:spPr>
            <a:xfrm>
              <a:off x="3712281" y="5332095"/>
              <a:ext cx="271638"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FC 2</a:t>
              </a:r>
            </a:p>
          </p:txBody>
        </p:sp>
        <p:sp>
          <p:nvSpPr>
            <p:cNvPr id="35" name="TextBox 35"/>
            <p:cNvSpPr txBox="1"/>
            <p:nvPr/>
          </p:nvSpPr>
          <p:spPr>
            <a:xfrm>
              <a:off x="5046603" y="5332095"/>
              <a:ext cx="79494"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a</a:t>
              </a:r>
            </a:p>
          </p:txBody>
        </p:sp>
        <p:sp>
          <p:nvSpPr>
            <p:cNvPr id="36" name="Line 36"/>
            <p:cNvSpPr/>
            <p:nvPr/>
          </p:nvSpPr>
          <p:spPr>
            <a:xfrm>
              <a:off x="990600" y="4743450"/>
              <a:ext cx="1428750" cy="76200"/>
            </a:xfrm>
            <a:custGeom>
              <a:avLst/>
              <a:gdLst/>
              <a:ahLst/>
              <a:cxnLst/>
              <a:rect l="l" t="t" r="r" b="b"/>
              <a:pathLst>
                <a:path w="1428750" h="76200">
                  <a:moveTo>
                    <a:pt x="0" y="0"/>
                  </a:moveTo>
                  <a:lnTo>
                    <a:pt x="1428750" y="76200"/>
                  </a:lnTo>
                </a:path>
              </a:pathLst>
            </a:custGeom>
            <a:noFill/>
            <a:ln w="6668" cap="rnd">
              <a:solidFill>
                <a:srgbClr val="26455F"/>
              </a:solidFill>
            </a:ln>
          </p:spPr>
        </p:sp>
        <p:sp>
          <p:nvSpPr>
            <p:cNvPr id="37" name="Line 37"/>
            <p:cNvSpPr/>
            <p:nvPr/>
          </p:nvSpPr>
          <p:spPr>
            <a:xfrm>
              <a:off x="990600" y="4743450"/>
              <a:ext cx="1428750" cy="228600"/>
            </a:xfrm>
            <a:custGeom>
              <a:avLst/>
              <a:gdLst/>
              <a:ahLst/>
              <a:cxnLst/>
              <a:rect l="l" t="t" r="r" b="b"/>
              <a:pathLst>
                <a:path w="1428750" h="228600">
                  <a:moveTo>
                    <a:pt x="0" y="0"/>
                  </a:moveTo>
                  <a:lnTo>
                    <a:pt x="1428750" y="228600"/>
                  </a:lnTo>
                </a:path>
              </a:pathLst>
            </a:custGeom>
            <a:noFill/>
            <a:ln w="6668" cap="rnd">
              <a:solidFill>
                <a:srgbClr val="26455F"/>
              </a:solidFill>
            </a:ln>
          </p:spPr>
        </p:sp>
        <p:sp>
          <p:nvSpPr>
            <p:cNvPr id="38" name="Line 38"/>
            <p:cNvSpPr/>
            <p:nvPr/>
          </p:nvSpPr>
          <p:spPr>
            <a:xfrm>
              <a:off x="990600" y="4743450"/>
              <a:ext cx="1428750" cy="381000"/>
            </a:xfrm>
            <a:custGeom>
              <a:avLst/>
              <a:gdLst/>
              <a:ahLst/>
              <a:cxnLst/>
              <a:rect l="l" t="t" r="r" b="b"/>
              <a:pathLst>
                <a:path w="1428750" h="381000">
                  <a:moveTo>
                    <a:pt x="0" y="0"/>
                  </a:moveTo>
                  <a:lnTo>
                    <a:pt x="1428750" y="381000"/>
                  </a:lnTo>
                </a:path>
              </a:pathLst>
            </a:custGeom>
            <a:noFill/>
            <a:ln w="6668" cap="rnd">
              <a:solidFill>
                <a:srgbClr val="26455F"/>
              </a:solidFill>
            </a:ln>
          </p:spPr>
        </p:sp>
        <p:sp>
          <p:nvSpPr>
            <p:cNvPr id="39" name="Line 39"/>
            <p:cNvSpPr/>
            <p:nvPr/>
          </p:nvSpPr>
          <p:spPr>
            <a:xfrm>
              <a:off x="990600" y="4819650"/>
              <a:ext cx="1428750" cy="76200"/>
            </a:xfrm>
            <a:custGeom>
              <a:avLst/>
              <a:gdLst/>
              <a:ahLst/>
              <a:cxnLst/>
              <a:rect l="l" t="t" r="r" b="b"/>
              <a:pathLst>
                <a:path w="1428750" h="76200">
                  <a:moveTo>
                    <a:pt x="0" y="76200"/>
                  </a:moveTo>
                  <a:lnTo>
                    <a:pt x="1428750" y="0"/>
                  </a:lnTo>
                </a:path>
              </a:pathLst>
            </a:custGeom>
            <a:noFill/>
            <a:ln w="6668" cap="rnd">
              <a:solidFill>
                <a:srgbClr val="26455F"/>
              </a:solidFill>
            </a:ln>
          </p:spPr>
        </p:sp>
        <p:sp>
          <p:nvSpPr>
            <p:cNvPr id="40" name="Line 40"/>
            <p:cNvSpPr/>
            <p:nvPr/>
          </p:nvSpPr>
          <p:spPr>
            <a:xfrm>
              <a:off x="990600" y="4895850"/>
              <a:ext cx="1428750" cy="76200"/>
            </a:xfrm>
            <a:custGeom>
              <a:avLst/>
              <a:gdLst/>
              <a:ahLst/>
              <a:cxnLst/>
              <a:rect l="l" t="t" r="r" b="b"/>
              <a:pathLst>
                <a:path w="1428750" h="76200">
                  <a:moveTo>
                    <a:pt x="0" y="0"/>
                  </a:moveTo>
                  <a:lnTo>
                    <a:pt x="1428750" y="76200"/>
                  </a:lnTo>
                </a:path>
              </a:pathLst>
            </a:custGeom>
            <a:noFill/>
            <a:ln w="6668" cap="rnd">
              <a:solidFill>
                <a:srgbClr val="26455F"/>
              </a:solidFill>
            </a:ln>
          </p:spPr>
        </p:sp>
        <p:sp>
          <p:nvSpPr>
            <p:cNvPr id="41" name="Line 41"/>
            <p:cNvSpPr/>
            <p:nvPr/>
          </p:nvSpPr>
          <p:spPr>
            <a:xfrm>
              <a:off x="990600" y="4895850"/>
              <a:ext cx="1428750" cy="228600"/>
            </a:xfrm>
            <a:custGeom>
              <a:avLst/>
              <a:gdLst/>
              <a:ahLst/>
              <a:cxnLst/>
              <a:rect l="l" t="t" r="r" b="b"/>
              <a:pathLst>
                <a:path w="1428750" h="228600">
                  <a:moveTo>
                    <a:pt x="0" y="0"/>
                  </a:moveTo>
                  <a:lnTo>
                    <a:pt x="1428750" y="228600"/>
                  </a:lnTo>
                </a:path>
              </a:pathLst>
            </a:custGeom>
            <a:noFill/>
            <a:ln w="6668" cap="rnd">
              <a:solidFill>
                <a:srgbClr val="26455F"/>
              </a:solidFill>
            </a:ln>
          </p:spPr>
        </p:sp>
        <p:sp>
          <p:nvSpPr>
            <p:cNvPr id="42" name="Line 42"/>
            <p:cNvSpPr/>
            <p:nvPr/>
          </p:nvSpPr>
          <p:spPr>
            <a:xfrm>
              <a:off x="990600" y="4819650"/>
              <a:ext cx="1428750" cy="228600"/>
            </a:xfrm>
            <a:custGeom>
              <a:avLst/>
              <a:gdLst/>
              <a:ahLst/>
              <a:cxnLst/>
              <a:rect l="l" t="t" r="r" b="b"/>
              <a:pathLst>
                <a:path w="1428750" h="228600">
                  <a:moveTo>
                    <a:pt x="0" y="228600"/>
                  </a:moveTo>
                  <a:lnTo>
                    <a:pt x="1428750" y="0"/>
                  </a:lnTo>
                </a:path>
              </a:pathLst>
            </a:custGeom>
            <a:noFill/>
            <a:ln w="6668" cap="rnd">
              <a:solidFill>
                <a:srgbClr val="26455F"/>
              </a:solidFill>
            </a:ln>
          </p:spPr>
        </p:sp>
        <p:sp>
          <p:nvSpPr>
            <p:cNvPr id="43" name="Line 43"/>
            <p:cNvSpPr/>
            <p:nvPr/>
          </p:nvSpPr>
          <p:spPr>
            <a:xfrm>
              <a:off x="990600" y="4972050"/>
              <a:ext cx="1428750" cy="76200"/>
            </a:xfrm>
            <a:custGeom>
              <a:avLst/>
              <a:gdLst/>
              <a:ahLst/>
              <a:cxnLst/>
              <a:rect l="l" t="t" r="r" b="b"/>
              <a:pathLst>
                <a:path w="1428750" h="76200">
                  <a:moveTo>
                    <a:pt x="0" y="76200"/>
                  </a:moveTo>
                  <a:lnTo>
                    <a:pt x="1428750" y="0"/>
                  </a:lnTo>
                </a:path>
              </a:pathLst>
            </a:custGeom>
            <a:noFill/>
            <a:ln w="6668" cap="rnd">
              <a:solidFill>
                <a:srgbClr val="26455F"/>
              </a:solidFill>
            </a:ln>
          </p:spPr>
        </p:sp>
        <p:sp>
          <p:nvSpPr>
            <p:cNvPr id="44" name="Line 44"/>
            <p:cNvSpPr/>
            <p:nvPr/>
          </p:nvSpPr>
          <p:spPr>
            <a:xfrm>
              <a:off x="990600" y="5048250"/>
              <a:ext cx="1428750" cy="76200"/>
            </a:xfrm>
            <a:custGeom>
              <a:avLst/>
              <a:gdLst/>
              <a:ahLst/>
              <a:cxnLst/>
              <a:rect l="l" t="t" r="r" b="b"/>
              <a:pathLst>
                <a:path w="1428750" h="76200">
                  <a:moveTo>
                    <a:pt x="0" y="0"/>
                  </a:moveTo>
                  <a:lnTo>
                    <a:pt x="1428750" y="76200"/>
                  </a:lnTo>
                </a:path>
              </a:pathLst>
            </a:custGeom>
            <a:noFill/>
            <a:ln w="6668" cap="rnd">
              <a:solidFill>
                <a:srgbClr val="26455F"/>
              </a:solidFill>
            </a:ln>
          </p:spPr>
        </p:sp>
        <p:sp>
          <p:nvSpPr>
            <p:cNvPr id="45" name="Line 45"/>
            <p:cNvSpPr/>
            <p:nvPr/>
          </p:nvSpPr>
          <p:spPr>
            <a:xfrm>
              <a:off x="990600" y="4819650"/>
              <a:ext cx="1428750" cy="381000"/>
            </a:xfrm>
            <a:custGeom>
              <a:avLst/>
              <a:gdLst/>
              <a:ahLst/>
              <a:cxnLst/>
              <a:rect l="l" t="t" r="r" b="b"/>
              <a:pathLst>
                <a:path w="1428750" h="381000">
                  <a:moveTo>
                    <a:pt x="0" y="381000"/>
                  </a:moveTo>
                  <a:lnTo>
                    <a:pt x="1428750" y="0"/>
                  </a:lnTo>
                </a:path>
              </a:pathLst>
            </a:custGeom>
            <a:noFill/>
            <a:ln w="6668" cap="rnd">
              <a:solidFill>
                <a:srgbClr val="26455F"/>
              </a:solidFill>
            </a:ln>
          </p:spPr>
        </p:sp>
        <p:sp>
          <p:nvSpPr>
            <p:cNvPr id="46" name="Line 46"/>
            <p:cNvSpPr/>
            <p:nvPr/>
          </p:nvSpPr>
          <p:spPr>
            <a:xfrm>
              <a:off x="990600" y="4972050"/>
              <a:ext cx="1428750" cy="228600"/>
            </a:xfrm>
            <a:custGeom>
              <a:avLst/>
              <a:gdLst/>
              <a:ahLst/>
              <a:cxnLst/>
              <a:rect l="l" t="t" r="r" b="b"/>
              <a:pathLst>
                <a:path w="1428750" h="228600">
                  <a:moveTo>
                    <a:pt x="0" y="228600"/>
                  </a:moveTo>
                  <a:lnTo>
                    <a:pt x="1428750" y="0"/>
                  </a:lnTo>
                </a:path>
              </a:pathLst>
            </a:custGeom>
            <a:noFill/>
            <a:ln w="6668" cap="rnd">
              <a:solidFill>
                <a:srgbClr val="26455F"/>
              </a:solidFill>
            </a:ln>
          </p:spPr>
        </p:sp>
        <p:sp>
          <p:nvSpPr>
            <p:cNvPr id="47" name="Line 47"/>
            <p:cNvSpPr/>
            <p:nvPr/>
          </p:nvSpPr>
          <p:spPr>
            <a:xfrm>
              <a:off x="990600" y="5124450"/>
              <a:ext cx="1428750" cy="76200"/>
            </a:xfrm>
            <a:custGeom>
              <a:avLst/>
              <a:gdLst/>
              <a:ahLst/>
              <a:cxnLst/>
              <a:rect l="l" t="t" r="r" b="b"/>
              <a:pathLst>
                <a:path w="1428750" h="76200">
                  <a:moveTo>
                    <a:pt x="0" y="76200"/>
                  </a:moveTo>
                  <a:lnTo>
                    <a:pt x="1428750" y="0"/>
                  </a:lnTo>
                </a:path>
              </a:pathLst>
            </a:custGeom>
            <a:noFill/>
            <a:ln w="6668" cap="rnd">
              <a:solidFill>
                <a:srgbClr val="26455F"/>
              </a:solidFill>
            </a:ln>
          </p:spPr>
        </p:sp>
        <p:sp>
          <p:nvSpPr>
            <p:cNvPr id="48" name="Line 48"/>
            <p:cNvSpPr/>
            <p:nvPr/>
          </p:nvSpPr>
          <p:spPr>
            <a:xfrm>
              <a:off x="2419350" y="4819650"/>
              <a:ext cx="1428750" cy="9525"/>
            </a:xfrm>
            <a:custGeom>
              <a:avLst/>
              <a:gdLst/>
              <a:ahLst/>
              <a:cxnLst/>
              <a:rect l="l" t="t" r="r" b="b"/>
              <a:pathLst>
                <a:path w="1428750" h="9525">
                  <a:moveTo>
                    <a:pt x="0" y="0"/>
                  </a:moveTo>
                  <a:lnTo>
                    <a:pt x="1428750" y="0"/>
                  </a:lnTo>
                </a:path>
              </a:pathLst>
            </a:custGeom>
            <a:noFill/>
            <a:ln w="6668" cap="rnd">
              <a:solidFill>
                <a:srgbClr val="26455F"/>
              </a:solidFill>
            </a:ln>
          </p:spPr>
        </p:sp>
        <p:sp>
          <p:nvSpPr>
            <p:cNvPr id="49" name="Line 49"/>
            <p:cNvSpPr/>
            <p:nvPr/>
          </p:nvSpPr>
          <p:spPr>
            <a:xfrm>
              <a:off x="2419350" y="4819650"/>
              <a:ext cx="1428750" cy="152400"/>
            </a:xfrm>
            <a:custGeom>
              <a:avLst/>
              <a:gdLst/>
              <a:ahLst/>
              <a:cxnLst/>
              <a:rect l="l" t="t" r="r" b="b"/>
              <a:pathLst>
                <a:path w="1428750" h="152400">
                  <a:moveTo>
                    <a:pt x="0" y="0"/>
                  </a:moveTo>
                  <a:lnTo>
                    <a:pt x="1428750" y="152400"/>
                  </a:lnTo>
                </a:path>
              </a:pathLst>
            </a:custGeom>
            <a:noFill/>
            <a:ln w="6668" cap="rnd">
              <a:solidFill>
                <a:srgbClr val="26455F"/>
              </a:solidFill>
            </a:ln>
          </p:spPr>
        </p:sp>
        <p:sp>
          <p:nvSpPr>
            <p:cNvPr id="50" name="Line 50"/>
            <p:cNvSpPr/>
            <p:nvPr/>
          </p:nvSpPr>
          <p:spPr>
            <a:xfrm>
              <a:off x="2419350" y="4819650"/>
              <a:ext cx="1428750" cy="304800"/>
            </a:xfrm>
            <a:custGeom>
              <a:avLst/>
              <a:gdLst/>
              <a:ahLst/>
              <a:cxnLst/>
              <a:rect l="l" t="t" r="r" b="b"/>
              <a:pathLst>
                <a:path w="1428750" h="304800">
                  <a:moveTo>
                    <a:pt x="0" y="0"/>
                  </a:moveTo>
                  <a:lnTo>
                    <a:pt x="1428750" y="304800"/>
                  </a:lnTo>
                </a:path>
              </a:pathLst>
            </a:custGeom>
            <a:noFill/>
            <a:ln w="6668" cap="rnd">
              <a:solidFill>
                <a:srgbClr val="26455F"/>
              </a:solidFill>
            </a:ln>
          </p:spPr>
        </p:sp>
        <p:sp>
          <p:nvSpPr>
            <p:cNvPr id="51" name="Line 51"/>
            <p:cNvSpPr/>
            <p:nvPr/>
          </p:nvSpPr>
          <p:spPr>
            <a:xfrm>
              <a:off x="2419350" y="4819650"/>
              <a:ext cx="1428750" cy="152400"/>
            </a:xfrm>
            <a:custGeom>
              <a:avLst/>
              <a:gdLst/>
              <a:ahLst/>
              <a:cxnLst/>
              <a:rect l="l" t="t" r="r" b="b"/>
              <a:pathLst>
                <a:path w="1428750" h="152400">
                  <a:moveTo>
                    <a:pt x="0" y="152400"/>
                  </a:moveTo>
                  <a:lnTo>
                    <a:pt x="1428750" y="0"/>
                  </a:lnTo>
                </a:path>
              </a:pathLst>
            </a:custGeom>
            <a:noFill/>
            <a:ln w="6668" cap="rnd">
              <a:solidFill>
                <a:srgbClr val="26455F"/>
              </a:solidFill>
            </a:ln>
          </p:spPr>
        </p:sp>
        <p:sp>
          <p:nvSpPr>
            <p:cNvPr id="52" name="Line 52"/>
            <p:cNvSpPr/>
            <p:nvPr/>
          </p:nvSpPr>
          <p:spPr>
            <a:xfrm>
              <a:off x="2419350" y="4972050"/>
              <a:ext cx="1428750" cy="9525"/>
            </a:xfrm>
            <a:custGeom>
              <a:avLst/>
              <a:gdLst/>
              <a:ahLst/>
              <a:cxnLst/>
              <a:rect l="l" t="t" r="r" b="b"/>
              <a:pathLst>
                <a:path w="1428750" h="9525">
                  <a:moveTo>
                    <a:pt x="0" y="0"/>
                  </a:moveTo>
                  <a:lnTo>
                    <a:pt x="1428750" y="0"/>
                  </a:lnTo>
                </a:path>
              </a:pathLst>
            </a:custGeom>
            <a:noFill/>
            <a:ln w="6668" cap="rnd">
              <a:solidFill>
                <a:srgbClr val="26455F"/>
              </a:solidFill>
            </a:ln>
          </p:spPr>
        </p:sp>
        <p:sp>
          <p:nvSpPr>
            <p:cNvPr id="53" name="Line 53"/>
            <p:cNvSpPr/>
            <p:nvPr/>
          </p:nvSpPr>
          <p:spPr>
            <a:xfrm>
              <a:off x="2419350" y="4972050"/>
              <a:ext cx="1428750" cy="152400"/>
            </a:xfrm>
            <a:custGeom>
              <a:avLst/>
              <a:gdLst/>
              <a:ahLst/>
              <a:cxnLst/>
              <a:rect l="l" t="t" r="r" b="b"/>
              <a:pathLst>
                <a:path w="1428750" h="152400">
                  <a:moveTo>
                    <a:pt x="0" y="0"/>
                  </a:moveTo>
                  <a:lnTo>
                    <a:pt x="1428750" y="152400"/>
                  </a:lnTo>
                </a:path>
              </a:pathLst>
            </a:custGeom>
            <a:noFill/>
            <a:ln w="6668" cap="rnd">
              <a:solidFill>
                <a:srgbClr val="26455F"/>
              </a:solidFill>
            </a:ln>
          </p:spPr>
        </p:sp>
        <p:sp>
          <p:nvSpPr>
            <p:cNvPr id="54" name="Line 54"/>
            <p:cNvSpPr/>
            <p:nvPr/>
          </p:nvSpPr>
          <p:spPr>
            <a:xfrm>
              <a:off x="2419350" y="4819650"/>
              <a:ext cx="1428750" cy="304800"/>
            </a:xfrm>
            <a:custGeom>
              <a:avLst/>
              <a:gdLst/>
              <a:ahLst/>
              <a:cxnLst/>
              <a:rect l="l" t="t" r="r" b="b"/>
              <a:pathLst>
                <a:path w="1428750" h="304800">
                  <a:moveTo>
                    <a:pt x="0" y="304800"/>
                  </a:moveTo>
                  <a:lnTo>
                    <a:pt x="1428750" y="0"/>
                  </a:lnTo>
                </a:path>
              </a:pathLst>
            </a:custGeom>
            <a:noFill/>
            <a:ln w="6668" cap="rnd">
              <a:solidFill>
                <a:srgbClr val="26455F"/>
              </a:solidFill>
            </a:ln>
          </p:spPr>
        </p:sp>
        <p:sp>
          <p:nvSpPr>
            <p:cNvPr id="55" name="Line 55"/>
            <p:cNvSpPr/>
            <p:nvPr/>
          </p:nvSpPr>
          <p:spPr>
            <a:xfrm>
              <a:off x="2419350" y="4972050"/>
              <a:ext cx="1428750" cy="152400"/>
            </a:xfrm>
            <a:custGeom>
              <a:avLst/>
              <a:gdLst/>
              <a:ahLst/>
              <a:cxnLst/>
              <a:rect l="l" t="t" r="r" b="b"/>
              <a:pathLst>
                <a:path w="1428750" h="152400">
                  <a:moveTo>
                    <a:pt x="0" y="152400"/>
                  </a:moveTo>
                  <a:lnTo>
                    <a:pt x="1428750" y="0"/>
                  </a:lnTo>
                </a:path>
              </a:pathLst>
            </a:custGeom>
            <a:noFill/>
            <a:ln w="6668" cap="rnd">
              <a:solidFill>
                <a:srgbClr val="26455F"/>
              </a:solidFill>
            </a:ln>
          </p:spPr>
        </p:sp>
        <p:sp>
          <p:nvSpPr>
            <p:cNvPr id="56" name="Line 56"/>
            <p:cNvSpPr/>
            <p:nvPr/>
          </p:nvSpPr>
          <p:spPr>
            <a:xfrm>
              <a:off x="2419350" y="5124450"/>
              <a:ext cx="1428750" cy="9525"/>
            </a:xfrm>
            <a:custGeom>
              <a:avLst/>
              <a:gdLst/>
              <a:ahLst/>
              <a:cxnLst/>
              <a:rect l="l" t="t" r="r" b="b"/>
              <a:pathLst>
                <a:path w="1428750" h="9525">
                  <a:moveTo>
                    <a:pt x="0" y="0"/>
                  </a:moveTo>
                  <a:lnTo>
                    <a:pt x="1428750" y="0"/>
                  </a:lnTo>
                </a:path>
              </a:pathLst>
            </a:custGeom>
            <a:noFill/>
            <a:ln w="6668" cap="rnd">
              <a:solidFill>
                <a:srgbClr val="26455F"/>
              </a:solidFill>
            </a:ln>
          </p:spPr>
        </p:sp>
        <p:sp>
          <p:nvSpPr>
            <p:cNvPr id="57" name="Line 57"/>
            <p:cNvSpPr/>
            <p:nvPr/>
          </p:nvSpPr>
          <p:spPr>
            <a:xfrm>
              <a:off x="3848100" y="4819650"/>
              <a:ext cx="1238250" cy="76200"/>
            </a:xfrm>
            <a:custGeom>
              <a:avLst/>
              <a:gdLst/>
              <a:ahLst/>
              <a:cxnLst/>
              <a:rect l="l" t="t" r="r" b="b"/>
              <a:pathLst>
                <a:path w="1238250" h="76200">
                  <a:moveTo>
                    <a:pt x="0" y="0"/>
                  </a:moveTo>
                  <a:lnTo>
                    <a:pt x="1238250" y="76200"/>
                  </a:lnTo>
                </a:path>
              </a:pathLst>
            </a:custGeom>
            <a:noFill/>
            <a:ln w="6668" cap="rnd">
              <a:solidFill>
                <a:srgbClr val="26455F"/>
              </a:solidFill>
            </a:ln>
          </p:spPr>
        </p:sp>
        <p:sp>
          <p:nvSpPr>
            <p:cNvPr id="58" name="Line 58"/>
            <p:cNvSpPr/>
            <p:nvPr/>
          </p:nvSpPr>
          <p:spPr>
            <a:xfrm>
              <a:off x="3848100" y="4819650"/>
              <a:ext cx="1238250" cy="228600"/>
            </a:xfrm>
            <a:custGeom>
              <a:avLst/>
              <a:gdLst/>
              <a:ahLst/>
              <a:cxnLst/>
              <a:rect l="l" t="t" r="r" b="b"/>
              <a:pathLst>
                <a:path w="1238250" h="228600">
                  <a:moveTo>
                    <a:pt x="0" y="0"/>
                  </a:moveTo>
                  <a:lnTo>
                    <a:pt x="1238250" y="228600"/>
                  </a:lnTo>
                </a:path>
              </a:pathLst>
            </a:custGeom>
            <a:noFill/>
            <a:ln w="6668" cap="rnd">
              <a:solidFill>
                <a:srgbClr val="26455F"/>
              </a:solidFill>
            </a:ln>
          </p:spPr>
        </p:sp>
        <p:sp>
          <p:nvSpPr>
            <p:cNvPr id="59" name="Line 59"/>
            <p:cNvSpPr/>
            <p:nvPr/>
          </p:nvSpPr>
          <p:spPr>
            <a:xfrm>
              <a:off x="3848100" y="4895850"/>
              <a:ext cx="1238250" cy="76200"/>
            </a:xfrm>
            <a:custGeom>
              <a:avLst/>
              <a:gdLst/>
              <a:ahLst/>
              <a:cxnLst/>
              <a:rect l="l" t="t" r="r" b="b"/>
              <a:pathLst>
                <a:path w="1238250" h="76200">
                  <a:moveTo>
                    <a:pt x="0" y="76200"/>
                  </a:moveTo>
                  <a:lnTo>
                    <a:pt x="1238250" y="0"/>
                  </a:lnTo>
                </a:path>
              </a:pathLst>
            </a:custGeom>
            <a:noFill/>
            <a:ln w="6668" cap="rnd">
              <a:solidFill>
                <a:srgbClr val="26455F"/>
              </a:solidFill>
            </a:ln>
          </p:spPr>
        </p:sp>
        <p:sp>
          <p:nvSpPr>
            <p:cNvPr id="60" name="Line 60"/>
            <p:cNvSpPr/>
            <p:nvPr/>
          </p:nvSpPr>
          <p:spPr>
            <a:xfrm>
              <a:off x="3848100" y="4972050"/>
              <a:ext cx="1238250" cy="76200"/>
            </a:xfrm>
            <a:custGeom>
              <a:avLst/>
              <a:gdLst/>
              <a:ahLst/>
              <a:cxnLst/>
              <a:rect l="l" t="t" r="r" b="b"/>
              <a:pathLst>
                <a:path w="1238250" h="76200">
                  <a:moveTo>
                    <a:pt x="0" y="0"/>
                  </a:moveTo>
                  <a:lnTo>
                    <a:pt x="1238250" y="76200"/>
                  </a:lnTo>
                </a:path>
              </a:pathLst>
            </a:custGeom>
            <a:noFill/>
            <a:ln w="6668" cap="rnd">
              <a:solidFill>
                <a:srgbClr val="26455F"/>
              </a:solidFill>
            </a:ln>
          </p:spPr>
        </p:sp>
        <p:sp>
          <p:nvSpPr>
            <p:cNvPr id="61" name="Line 61"/>
            <p:cNvSpPr/>
            <p:nvPr/>
          </p:nvSpPr>
          <p:spPr>
            <a:xfrm>
              <a:off x="3848100" y="4895850"/>
              <a:ext cx="1238250" cy="228600"/>
            </a:xfrm>
            <a:custGeom>
              <a:avLst/>
              <a:gdLst/>
              <a:ahLst/>
              <a:cxnLst/>
              <a:rect l="l" t="t" r="r" b="b"/>
              <a:pathLst>
                <a:path w="1238250" h="228600">
                  <a:moveTo>
                    <a:pt x="0" y="228600"/>
                  </a:moveTo>
                  <a:lnTo>
                    <a:pt x="1238250" y="0"/>
                  </a:lnTo>
                </a:path>
              </a:pathLst>
            </a:custGeom>
            <a:noFill/>
            <a:ln w="6668" cap="rnd">
              <a:solidFill>
                <a:srgbClr val="26455F"/>
              </a:solidFill>
            </a:ln>
          </p:spPr>
        </p:sp>
        <p:sp>
          <p:nvSpPr>
            <p:cNvPr id="62" name="Line 62"/>
            <p:cNvSpPr/>
            <p:nvPr/>
          </p:nvSpPr>
          <p:spPr>
            <a:xfrm>
              <a:off x="3848100" y="5048250"/>
              <a:ext cx="1238250" cy="76200"/>
            </a:xfrm>
            <a:custGeom>
              <a:avLst/>
              <a:gdLst/>
              <a:ahLst/>
              <a:cxnLst/>
              <a:rect l="l" t="t" r="r" b="b"/>
              <a:pathLst>
                <a:path w="1238250" h="76200">
                  <a:moveTo>
                    <a:pt x="0" y="76200"/>
                  </a:moveTo>
                  <a:lnTo>
                    <a:pt x="1238250" y="0"/>
                  </a:lnTo>
                </a:path>
              </a:pathLst>
            </a:custGeom>
            <a:noFill/>
            <a:ln w="6668" cap="rnd">
              <a:solidFill>
                <a:srgbClr val="26455F"/>
              </a:solidFill>
            </a:ln>
          </p:spPr>
        </p:sp>
        <p:sp>
          <p:nvSpPr>
            <p:cNvPr id="63" name="Ellipse 63"/>
            <p:cNvSpPr/>
            <p:nvPr/>
          </p:nvSpPr>
          <p:spPr>
            <a:xfrm>
              <a:off x="942975" y="4695825"/>
              <a:ext cx="95250" cy="95250"/>
            </a:xfrm>
            <a:prstGeom prst="ellipse">
              <a:avLst/>
            </a:prstGeom>
            <a:solidFill>
              <a:schemeClr val="accent2"/>
            </a:solidFill>
            <a:ln>
              <a:noFill/>
            </a:ln>
          </p:spPr>
        </p:sp>
        <p:sp>
          <p:nvSpPr>
            <p:cNvPr id="64" name="Ellipse 64"/>
            <p:cNvSpPr/>
            <p:nvPr/>
          </p:nvSpPr>
          <p:spPr>
            <a:xfrm>
              <a:off x="942975" y="4848225"/>
              <a:ext cx="95250" cy="95250"/>
            </a:xfrm>
            <a:prstGeom prst="ellipse">
              <a:avLst/>
            </a:prstGeom>
            <a:solidFill>
              <a:schemeClr val="accent2"/>
            </a:solidFill>
            <a:ln>
              <a:noFill/>
            </a:ln>
          </p:spPr>
        </p:sp>
        <p:sp>
          <p:nvSpPr>
            <p:cNvPr id="65" name="Ellipse 65"/>
            <p:cNvSpPr/>
            <p:nvPr/>
          </p:nvSpPr>
          <p:spPr>
            <a:xfrm>
              <a:off x="942975" y="5000625"/>
              <a:ext cx="95250" cy="95250"/>
            </a:xfrm>
            <a:prstGeom prst="ellipse">
              <a:avLst/>
            </a:prstGeom>
            <a:solidFill>
              <a:schemeClr val="accent2"/>
            </a:solidFill>
            <a:ln>
              <a:noFill/>
            </a:ln>
          </p:spPr>
        </p:sp>
        <p:sp>
          <p:nvSpPr>
            <p:cNvPr id="66" name="Ellipse 66"/>
            <p:cNvSpPr/>
            <p:nvPr/>
          </p:nvSpPr>
          <p:spPr>
            <a:xfrm>
              <a:off x="942975" y="5153025"/>
              <a:ext cx="95250" cy="95250"/>
            </a:xfrm>
            <a:prstGeom prst="ellipse">
              <a:avLst/>
            </a:prstGeom>
            <a:solidFill>
              <a:schemeClr val="accent2"/>
            </a:solidFill>
            <a:ln>
              <a:noFill/>
            </a:ln>
          </p:spPr>
        </p:sp>
        <p:sp>
          <p:nvSpPr>
            <p:cNvPr id="67" name="Ellipse 67"/>
            <p:cNvSpPr/>
            <p:nvPr/>
          </p:nvSpPr>
          <p:spPr>
            <a:xfrm>
              <a:off x="2371725" y="4772025"/>
              <a:ext cx="95250" cy="95250"/>
            </a:xfrm>
            <a:prstGeom prst="ellipse">
              <a:avLst/>
            </a:prstGeom>
            <a:solidFill>
              <a:srgbClr val="34D3C0"/>
            </a:solidFill>
            <a:ln>
              <a:noFill/>
            </a:ln>
          </p:spPr>
        </p:sp>
        <p:sp>
          <p:nvSpPr>
            <p:cNvPr id="68" name="Ellipse 68"/>
            <p:cNvSpPr/>
            <p:nvPr/>
          </p:nvSpPr>
          <p:spPr>
            <a:xfrm>
              <a:off x="2371725" y="4924425"/>
              <a:ext cx="95250" cy="95250"/>
            </a:xfrm>
            <a:prstGeom prst="ellipse">
              <a:avLst/>
            </a:prstGeom>
            <a:solidFill>
              <a:srgbClr val="34D3C0"/>
            </a:solidFill>
            <a:ln>
              <a:noFill/>
            </a:ln>
          </p:spPr>
        </p:sp>
        <p:sp>
          <p:nvSpPr>
            <p:cNvPr id="69" name="Ellipse 69"/>
            <p:cNvSpPr/>
            <p:nvPr/>
          </p:nvSpPr>
          <p:spPr>
            <a:xfrm>
              <a:off x="2371725" y="5076825"/>
              <a:ext cx="95250" cy="95250"/>
            </a:xfrm>
            <a:prstGeom prst="ellipse">
              <a:avLst/>
            </a:prstGeom>
            <a:solidFill>
              <a:srgbClr val="34D3C0"/>
            </a:solidFill>
            <a:ln>
              <a:noFill/>
            </a:ln>
          </p:spPr>
        </p:sp>
        <p:sp>
          <p:nvSpPr>
            <p:cNvPr id="70" name="Ellipse 70"/>
            <p:cNvSpPr/>
            <p:nvPr/>
          </p:nvSpPr>
          <p:spPr>
            <a:xfrm>
              <a:off x="3800475" y="4772025"/>
              <a:ext cx="95250" cy="95250"/>
            </a:xfrm>
            <a:prstGeom prst="ellipse">
              <a:avLst/>
            </a:prstGeom>
            <a:solidFill>
              <a:srgbClr val="34D3C0"/>
            </a:solidFill>
            <a:ln>
              <a:noFill/>
            </a:ln>
          </p:spPr>
        </p:sp>
        <p:sp>
          <p:nvSpPr>
            <p:cNvPr id="71" name="Ellipse 71"/>
            <p:cNvSpPr/>
            <p:nvPr/>
          </p:nvSpPr>
          <p:spPr>
            <a:xfrm>
              <a:off x="3800475" y="4924425"/>
              <a:ext cx="95250" cy="95250"/>
            </a:xfrm>
            <a:prstGeom prst="ellipse">
              <a:avLst/>
            </a:prstGeom>
            <a:solidFill>
              <a:srgbClr val="34D3C0"/>
            </a:solidFill>
            <a:ln>
              <a:noFill/>
            </a:ln>
          </p:spPr>
        </p:sp>
        <p:sp>
          <p:nvSpPr>
            <p:cNvPr id="72" name="Ellipse 72"/>
            <p:cNvSpPr/>
            <p:nvPr/>
          </p:nvSpPr>
          <p:spPr>
            <a:xfrm>
              <a:off x="3800475" y="5076825"/>
              <a:ext cx="95250" cy="95250"/>
            </a:xfrm>
            <a:prstGeom prst="ellipse">
              <a:avLst/>
            </a:prstGeom>
            <a:solidFill>
              <a:srgbClr val="34D3C0"/>
            </a:solidFill>
            <a:ln>
              <a:noFill/>
            </a:ln>
          </p:spPr>
        </p:sp>
        <p:sp>
          <p:nvSpPr>
            <p:cNvPr id="73" name="Ellipse 73"/>
            <p:cNvSpPr/>
            <p:nvPr/>
          </p:nvSpPr>
          <p:spPr>
            <a:xfrm>
              <a:off x="5038725" y="4848225"/>
              <a:ext cx="95250" cy="95250"/>
            </a:xfrm>
            <a:prstGeom prst="ellipse">
              <a:avLst/>
            </a:prstGeom>
            <a:solidFill>
              <a:srgbClr val="F2C14E"/>
            </a:solidFill>
            <a:ln>
              <a:noFill/>
            </a:ln>
          </p:spPr>
        </p:sp>
        <p:sp>
          <p:nvSpPr>
            <p:cNvPr id="74" name="Ellipse 74"/>
            <p:cNvSpPr/>
            <p:nvPr/>
          </p:nvSpPr>
          <p:spPr>
            <a:xfrm>
              <a:off x="5038725" y="5000625"/>
              <a:ext cx="95250" cy="95250"/>
            </a:xfrm>
            <a:prstGeom prst="ellipse">
              <a:avLst/>
            </a:prstGeom>
            <a:solidFill>
              <a:srgbClr val="F2C14E"/>
            </a:solidFill>
            <a:ln>
              <a:noFill/>
            </a:ln>
          </p:spPr>
        </p:sp>
      </p:grpSp>
      <p:grpSp>
        <p:nvGrpSpPr>
          <p:cNvPr id="93" name="Group 93"/>
          <p:cNvGrpSpPr/>
          <p:nvPr/>
        </p:nvGrpSpPr>
        <p:grpSpPr>
          <a:xfrm>
            <a:off x="6172200" y="3486150"/>
            <a:ext cx="5410200" cy="2038350"/>
            <a:chOff x="6172200" y="3486150"/>
            <a:chExt cx="5410200" cy="2038350"/>
          </a:xfrm>
        </p:grpSpPr>
        <p:sp>
          <p:nvSpPr>
            <p:cNvPr id="76" name="Rectangle 76"/>
            <p:cNvSpPr/>
            <p:nvPr/>
          </p:nvSpPr>
          <p:spPr>
            <a:xfrm>
              <a:off x="6172200" y="3486150"/>
              <a:ext cx="5410200" cy="2038350"/>
            </a:xfrm>
            <a:prstGeom prst="roundRect">
              <a:avLst>
                <a:gd name="adj" fmla="val 6542"/>
              </a:avLst>
            </a:prstGeom>
            <a:solidFill>
              <a:schemeClr val="accent5"/>
            </a:solidFill>
            <a:ln w="14288">
              <a:solidFill>
                <a:srgbClr val="26455F"/>
              </a:solidFill>
            </a:ln>
          </p:spPr>
        </p:sp>
        <p:sp>
          <p:nvSpPr>
            <p:cNvPr id="77" name="Rectangle 77"/>
            <p:cNvSpPr/>
            <p:nvPr/>
          </p:nvSpPr>
          <p:spPr>
            <a:xfrm>
              <a:off x="6172200" y="3486150"/>
              <a:ext cx="57150" cy="2038350"/>
            </a:xfrm>
            <a:prstGeom prst="roundRect">
              <a:avLst>
                <a:gd name="adj" fmla="val 50000"/>
              </a:avLst>
            </a:prstGeom>
            <a:solidFill>
              <a:srgbClr val="48C78E"/>
            </a:solidFill>
            <a:ln>
              <a:noFill/>
            </a:ln>
          </p:spPr>
        </p:sp>
        <p:sp>
          <p:nvSpPr>
            <p:cNvPr id="78" name="TextBox 78"/>
            <p:cNvSpPr txBox="1"/>
            <p:nvPr/>
          </p:nvSpPr>
          <p:spPr>
            <a:xfrm>
              <a:off x="6432804" y="3718560"/>
              <a:ext cx="3079270"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Maximize log-likelihood — nothing else</a:t>
              </a:r>
            </a:p>
          </p:txBody>
        </p:sp>
        <p:sp>
          <p:nvSpPr>
            <p:cNvPr id="79" name="Rectangle 79"/>
            <p:cNvSpPr/>
            <p:nvPr/>
          </p:nvSpPr>
          <p:spPr>
            <a:xfrm>
              <a:off x="6438900" y="4038600"/>
              <a:ext cx="4876800" cy="438150"/>
            </a:xfrm>
            <a:prstGeom prst="roundRect">
              <a:avLst>
                <a:gd name="adj" fmla="val 17391"/>
              </a:avLst>
            </a:prstGeom>
            <a:solidFill>
              <a:schemeClr val="accent6"/>
            </a:solidFill>
            <a:ln w="14288">
              <a:solidFill>
                <a:srgbClr val="26455F"/>
              </a:solidFill>
            </a:ln>
          </p:spPr>
        </p:sp>
        <p:sp>
          <p:nvSpPr>
            <p:cNvPr id="80" name="TextBox 80"/>
            <p:cNvSpPr txBox="1"/>
            <p:nvPr/>
          </p:nvSpPr>
          <p:spPr>
            <a:xfrm>
              <a:off x="6962397" y="4167664"/>
              <a:ext cx="3829807" cy="249364"/>
            </a:xfrm>
            <a:prstGeom prst="rect">
              <a:avLst/>
            </a:prstGeom>
            <a:noFill/>
            <a:ln>
              <a:noFill/>
            </a:ln>
          </p:spPr>
          <p:txBody>
            <a:bodyPr wrap="none" lIns="0" tIns="0" rIns="0" bIns="0" anchor="t" anchorCtr="0">
              <a:spAutoFit/>
            </a:bodyPr>
            <a:lstStyle/>
            <a:p>
              <a:pPr algn="ctr"/>
              <a:r>
                <a:rPr lang="en-US" sz="1280" b="1" dirty="0">
                  <a:solidFill>
                    <a:schemeClr val="dk1"/>
                  </a:solidFill>
                  <a:latin typeface="Consolas"/>
                  <a:ea typeface="Consolas"/>
                  <a:cs typeface="Consolas"/>
                </a:rPr>
                <a:t>max_theta E[ log pi_theta( a | s, omega ) ]</a:t>
              </a:r>
            </a:p>
          </p:txBody>
        </p:sp>
        <p:sp>
          <p:nvSpPr>
            <p:cNvPr id="81" name="Ellipse 81"/>
            <p:cNvSpPr/>
            <p:nvPr/>
          </p:nvSpPr>
          <p:spPr>
            <a:xfrm>
              <a:off x="6448425" y="4638675"/>
              <a:ext cx="133350" cy="133350"/>
            </a:xfrm>
            <a:prstGeom prst="ellipse">
              <a:avLst/>
            </a:prstGeom>
            <a:noFill/>
            <a:ln w="15240">
              <a:solidFill>
                <a:srgbClr val="F2685C"/>
              </a:solidFill>
            </a:ln>
          </p:spPr>
        </p:sp>
        <p:sp>
          <p:nvSpPr>
            <p:cNvPr id="82" name="Line 82"/>
            <p:cNvSpPr/>
            <p:nvPr/>
          </p:nvSpPr>
          <p:spPr>
            <a:xfrm>
              <a:off x="6472238" y="4662488"/>
              <a:ext cx="85725" cy="85725"/>
            </a:xfrm>
            <a:custGeom>
              <a:avLst/>
              <a:gdLst/>
              <a:ahLst/>
              <a:cxnLst/>
              <a:rect l="l" t="t" r="r" b="b"/>
              <a:pathLst>
                <a:path w="85725" h="85725">
                  <a:moveTo>
                    <a:pt x="0" y="85725"/>
                  </a:moveTo>
                  <a:lnTo>
                    <a:pt x="85725" y="0"/>
                  </a:lnTo>
                </a:path>
              </a:pathLst>
            </a:custGeom>
            <a:noFill/>
            <a:ln w="15240" cap="rnd">
              <a:solidFill>
                <a:srgbClr val="F2685C"/>
              </a:solidFill>
            </a:ln>
          </p:spPr>
        </p:sp>
        <p:sp>
          <p:nvSpPr>
            <p:cNvPr id="83" name="TextBox 83"/>
            <p:cNvSpPr txBox="1"/>
            <p:nvPr/>
          </p:nvSpPr>
          <p:spPr>
            <a:xfrm>
              <a:off x="6662547" y="4647724"/>
              <a:ext cx="1575227"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no advantage weighting</a:t>
              </a:r>
            </a:p>
          </p:txBody>
        </p:sp>
        <p:sp>
          <p:nvSpPr>
            <p:cNvPr id="84" name="Ellipse 84"/>
            <p:cNvSpPr/>
            <p:nvPr/>
          </p:nvSpPr>
          <p:spPr>
            <a:xfrm>
              <a:off x="6448425" y="4962525"/>
              <a:ext cx="133350" cy="133350"/>
            </a:xfrm>
            <a:prstGeom prst="ellipse">
              <a:avLst/>
            </a:prstGeom>
            <a:noFill/>
            <a:ln w="15240">
              <a:solidFill>
                <a:srgbClr val="F2685C"/>
              </a:solidFill>
            </a:ln>
          </p:spPr>
        </p:sp>
        <p:sp>
          <p:nvSpPr>
            <p:cNvPr id="85" name="Line 85"/>
            <p:cNvSpPr/>
            <p:nvPr/>
          </p:nvSpPr>
          <p:spPr>
            <a:xfrm>
              <a:off x="6472238" y="4986338"/>
              <a:ext cx="85725" cy="85725"/>
            </a:xfrm>
            <a:custGeom>
              <a:avLst/>
              <a:gdLst/>
              <a:ahLst/>
              <a:cxnLst/>
              <a:rect l="l" t="t" r="r" b="b"/>
              <a:pathLst>
                <a:path w="85725" h="85725">
                  <a:moveTo>
                    <a:pt x="0" y="85725"/>
                  </a:moveTo>
                  <a:lnTo>
                    <a:pt x="85725" y="0"/>
                  </a:lnTo>
                </a:path>
              </a:pathLst>
            </a:custGeom>
            <a:noFill/>
            <a:ln w="15240" cap="rnd">
              <a:solidFill>
                <a:srgbClr val="F2685C"/>
              </a:solidFill>
            </a:ln>
          </p:spPr>
        </p:sp>
        <p:sp>
          <p:nvSpPr>
            <p:cNvPr id="86" name="TextBox 86"/>
            <p:cNvSpPr txBox="1"/>
            <p:nvPr/>
          </p:nvSpPr>
          <p:spPr>
            <a:xfrm>
              <a:off x="6662547" y="4971574"/>
              <a:ext cx="2607231"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no temporal-difference bootstrapping</a:t>
              </a:r>
            </a:p>
          </p:txBody>
        </p:sp>
        <p:sp>
          <p:nvSpPr>
            <p:cNvPr id="87" name="Ellipse 87"/>
            <p:cNvSpPr/>
            <p:nvPr/>
          </p:nvSpPr>
          <p:spPr>
            <a:xfrm>
              <a:off x="9039225" y="4638675"/>
              <a:ext cx="133350" cy="133350"/>
            </a:xfrm>
            <a:prstGeom prst="ellipse">
              <a:avLst/>
            </a:prstGeom>
            <a:noFill/>
            <a:ln w="15240">
              <a:solidFill>
                <a:srgbClr val="F2685C"/>
              </a:solidFill>
            </a:ln>
          </p:spPr>
        </p:sp>
        <p:sp>
          <p:nvSpPr>
            <p:cNvPr id="88" name="Line 88"/>
            <p:cNvSpPr/>
            <p:nvPr/>
          </p:nvSpPr>
          <p:spPr>
            <a:xfrm>
              <a:off x="9063038" y="4662488"/>
              <a:ext cx="85725" cy="85725"/>
            </a:xfrm>
            <a:custGeom>
              <a:avLst/>
              <a:gdLst/>
              <a:ahLst/>
              <a:cxnLst/>
              <a:rect l="l" t="t" r="r" b="b"/>
              <a:pathLst>
                <a:path w="85725" h="85725">
                  <a:moveTo>
                    <a:pt x="0" y="85725"/>
                  </a:moveTo>
                  <a:lnTo>
                    <a:pt x="85725" y="0"/>
                  </a:lnTo>
                </a:path>
              </a:pathLst>
            </a:custGeom>
            <a:noFill/>
            <a:ln w="15240" cap="rnd">
              <a:solidFill>
                <a:srgbClr val="F2685C"/>
              </a:solidFill>
            </a:ln>
          </p:spPr>
        </p:sp>
        <p:sp>
          <p:nvSpPr>
            <p:cNvPr id="89" name="TextBox 89"/>
            <p:cNvSpPr txBox="1"/>
            <p:nvPr/>
          </p:nvSpPr>
          <p:spPr>
            <a:xfrm>
              <a:off x="9253347" y="4647724"/>
              <a:ext cx="1074229"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no Transformer</a:t>
              </a:r>
            </a:p>
          </p:txBody>
        </p:sp>
        <p:sp>
          <p:nvSpPr>
            <p:cNvPr id="90" name="Ellipse 90"/>
            <p:cNvSpPr/>
            <p:nvPr/>
          </p:nvSpPr>
          <p:spPr>
            <a:xfrm>
              <a:off x="9039225" y="4962525"/>
              <a:ext cx="133350" cy="133350"/>
            </a:xfrm>
            <a:prstGeom prst="ellipse">
              <a:avLst/>
            </a:prstGeom>
            <a:noFill/>
            <a:ln w="15240">
              <a:solidFill>
                <a:srgbClr val="F2685C"/>
              </a:solidFill>
            </a:ln>
          </p:spPr>
        </p:sp>
        <p:sp>
          <p:nvSpPr>
            <p:cNvPr id="91" name="Line 91"/>
            <p:cNvSpPr/>
            <p:nvPr/>
          </p:nvSpPr>
          <p:spPr>
            <a:xfrm>
              <a:off x="9063038" y="4986338"/>
              <a:ext cx="85725" cy="85725"/>
            </a:xfrm>
            <a:custGeom>
              <a:avLst/>
              <a:gdLst/>
              <a:ahLst/>
              <a:cxnLst/>
              <a:rect l="l" t="t" r="r" b="b"/>
              <a:pathLst>
                <a:path w="85725" h="85725">
                  <a:moveTo>
                    <a:pt x="0" y="85725"/>
                  </a:moveTo>
                  <a:lnTo>
                    <a:pt x="85725" y="0"/>
                  </a:lnTo>
                </a:path>
              </a:pathLst>
            </a:custGeom>
            <a:noFill/>
            <a:ln w="15240" cap="rnd">
              <a:solidFill>
                <a:srgbClr val="F2685C"/>
              </a:solidFill>
            </a:ln>
          </p:spPr>
        </p:sp>
        <p:sp>
          <p:nvSpPr>
            <p:cNvPr id="92" name="TextBox 92"/>
            <p:cNvSpPr txBox="1"/>
            <p:nvPr/>
          </p:nvSpPr>
          <p:spPr>
            <a:xfrm>
              <a:off x="9253347" y="4971574"/>
              <a:ext cx="1277400"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only max-likelihood</a:t>
              </a:r>
            </a:p>
          </p:txBody>
        </p:sp>
      </p:grpSp>
      <p:sp>
        <p:nvSpPr>
          <p:cNvPr id="94" name="TextBox 94"/>
          <p:cNvSpPr txBox="1"/>
          <p:nvPr/>
        </p:nvSpPr>
        <p:spPr>
          <a:xfrm>
            <a:off x="604266" y="5830252"/>
            <a:ext cx="5234201" cy="205359"/>
          </a:xfrm>
          <a:prstGeom prst="rect">
            <a:avLst/>
          </a:prstGeom>
          <a:noFill/>
          <a:ln>
            <a:noFill/>
          </a:ln>
        </p:spPr>
        <p:txBody>
          <a:bodyPr wrap="none" lIns="0" tIns="0" rIns="0" bIns="0" anchor="t" anchorCtr="0">
            <a:spAutoFit/>
          </a:bodyPr>
          <a:lstStyle/>
          <a:p>
            <a:pPr algn="l"/>
            <a:r>
              <a:rPr lang="en-US" sz="1050" b="1" dirty="0">
                <a:solidFill>
                  <a:srgbClr val="6E869C"/>
                </a:solidFill>
                <a:latin typeface="+mn-lt"/>
                <a:ea typeface="+mn-ea"/>
                <a:cs typeface="+mn-cs"/>
              </a:rPr>
              <a:t>Relabeled experience turns offline RL into ordinary supervised learning.</a:t>
            </a:r>
          </a:p>
        </p:txBody>
      </p:sp>
      <p:sp>
        <p:nvSpPr>
          <p:cNvPr id="95" name="cue_s05_c1_method_deliberately_simple_rvs_assum" title="cue_s05_c1_method_deliberately_simple_rvs_assum" descr="cue_s05_c1_method_deliberately_simple_rvs_assum The method is deliberately simple. RvS assumes an agent in a Markov decision process and trains a policy conditioned on an outcome, which can be either a future goal state or an average future return."/>
          <p:cNvSpPr/>
          <p:nvPr/>
        </p:nvSpPr>
        <p:spPr>
          <a:xfrm>
            <a:off x="609600" y="1504645"/>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cue_s05_c2_given_offline_dataset_trajectories_a" title="cue_s05_c2_given_offline_dataset_trajectories_a" descr="cue_s05_c2_given_offline_dataset_trajectories_a Given an offline dataset of trajectories, it applies hindsight relabeling: every observed action becomes a demonstration for whatever outcome actually occurred later in that same trajectory."/>
          <p:cNvSpPr/>
          <p:nvPr/>
        </p:nvSpPr>
        <p:spPr>
          <a:xfrm>
            <a:off x="6171590" y="1504645"/>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cue_s05_c3_policy_itself_just_feedforward_multi" title="cue_s05_c3_policy_itself_just_feedforward_multi" descr="cue_s05_c3_policy_itself_just_feedforward_multi The policy itself is just a feedforward multilayer perceptron with two fully connected layers, and the outcome is fed in simply by concatenating it onto the input state."/>
          <p:cNvSpPr/>
          <p:nvPr/>
        </p:nvSpPr>
        <p:spPr>
          <a:xfrm>
            <a:off x="609600" y="3485921"/>
            <a:ext cx="5409590"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cue_s05_c4_maximizes_log_likelihood_observed_ac" title="cue_s05_c4_maximizes_log_likelihood_observed_ac" descr="cue_s05_c4_maximizes_log_likelihood_observed_ac Training then maximizes the log-likelihood of the observed actions under the conditioned policy. There is no advantage weighting, no temporal-difference bootstrapping, and no Transformer, only a maximum-likelihood objective over relabeled experience."/>
          <p:cNvSpPr/>
          <p:nvPr/>
        </p:nvSpPr>
        <p:spPr>
          <a:xfrm>
            <a:off x="6171590" y="3485921"/>
            <a:ext cx="5409590"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481903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deliberately broad evaluation</a:t>
            </a:r>
          </a:p>
        </p:txBody>
      </p:sp>
      <p:grpSp>
        <p:nvGrpSpPr>
          <p:cNvPr id="8" name="Group 8"/>
          <p:cNvGrpSpPr/>
          <p:nvPr/>
        </p:nvGrpSpPr>
        <p:grpSpPr>
          <a:xfrm>
            <a:off x="609600" y="1504950"/>
            <a:ext cx="10972800" cy="552450"/>
            <a:chOff x="609600" y="1504950"/>
            <a:chExt cx="10972800" cy="552450"/>
          </a:xfrm>
        </p:grpSpPr>
        <p:sp>
          <p:nvSpPr>
            <p:cNvPr id="5" name="Rectangle 5"/>
            <p:cNvSpPr/>
            <p:nvPr/>
          </p:nvSpPr>
          <p:spPr>
            <a:xfrm>
              <a:off x="609600" y="1504950"/>
              <a:ext cx="10972800" cy="552450"/>
            </a:xfrm>
            <a:prstGeom prst="roundRect">
              <a:avLst>
                <a:gd name="adj" fmla="val 24138"/>
              </a:avLst>
            </a:prstGeom>
            <a:solidFill>
              <a:schemeClr val="accent5"/>
            </a:solidFill>
            <a:ln w="14288">
              <a:solidFill>
                <a:srgbClr val="26455F"/>
              </a:solidFill>
            </a:ln>
          </p:spPr>
        </p:sp>
        <p:sp>
          <p:nvSpPr>
            <p:cNvPr id="6" name="Rectangle 6"/>
            <p:cNvSpPr/>
            <p:nvPr/>
          </p:nvSpPr>
          <p:spPr>
            <a:xfrm>
              <a:off x="609600" y="1504950"/>
              <a:ext cx="57150" cy="552450"/>
            </a:xfrm>
            <a:prstGeom prst="roundRect">
              <a:avLst>
                <a:gd name="adj" fmla="val 50000"/>
              </a:avLst>
            </a:prstGeom>
            <a:solidFill>
              <a:schemeClr val="accent2"/>
            </a:solidFill>
            <a:ln>
              <a:noFill/>
            </a:ln>
          </p:spPr>
        </p:sp>
        <p:sp>
          <p:nvSpPr>
            <p:cNvPr id="7" name="TextBox 7"/>
            <p:cNvSpPr txBox="1"/>
            <p:nvPr/>
          </p:nvSpPr>
          <p:spPr>
            <a:xfrm>
              <a:off x="870014" y="1714262"/>
              <a:ext cx="6442182"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Two benchmark families spanning navigation, locomotion, and manipulation.</a:t>
              </a:r>
            </a:p>
          </p:txBody>
        </p:sp>
      </p:grpSp>
      <p:grpSp>
        <p:nvGrpSpPr>
          <p:cNvPr id="22" name="Group 22"/>
          <p:cNvGrpSpPr/>
          <p:nvPr/>
        </p:nvGrpSpPr>
        <p:grpSpPr>
          <a:xfrm>
            <a:off x="609600" y="2247900"/>
            <a:ext cx="5372100" cy="2857500"/>
            <a:chOff x="609600" y="2247900"/>
            <a:chExt cx="5372100" cy="2857500"/>
          </a:xfrm>
        </p:grpSpPr>
        <p:sp>
          <p:nvSpPr>
            <p:cNvPr id="9" name="Rectangle 9"/>
            <p:cNvSpPr/>
            <p:nvPr/>
          </p:nvSpPr>
          <p:spPr>
            <a:xfrm>
              <a:off x="609600" y="2247900"/>
              <a:ext cx="5372100" cy="2857500"/>
            </a:xfrm>
            <a:prstGeom prst="roundRect">
              <a:avLst>
                <a:gd name="adj" fmla="val 4667"/>
              </a:avLst>
            </a:prstGeom>
            <a:solidFill>
              <a:schemeClr val="accent5"/>
            </a:solidFill>
            <a:ln w="14288">
              <a:solidFill>
                <a:srgbClr val="26455F"/>
              </a:solidFill>
            </a:ln>
          </p:spPr>
        </p:sp>
        <p:sp>
          <p:nvSpPr>
            <p:cNvPr id="10" name="Rectangle 10"/>
            <p:cNvSpPr/>
            <p:nvPr/>
          </p:nvSpPr>
          <p:spPr>
            <a:xfrm>
              <a:off x="609600" y="2247900"/>
              <a:ext cx="57150" cy="2857500"/>
            </a:xfrm>
            <a:prstGeom prst="roundRect">
              <a:avLst>
                <a:gd name="adj" fmla="val 50000"/>
              </a:avLst>
            </a:prstGeom>
            <a:solidFill>
              <a:schemeClr val="accent2"/>
            </a:solidFill>
            <a:ln>
              <a:noFill/>
            </a:ln>
          </p:spPr>
        </p:sp>
        <p:sp>
          <p:nvSpPr>
            <p:cNvPr id="11" name="TextBox 11"/>
            <p:cNvSpPr txBox="1"/>
            <p:nvPr/>
          </p:nvSpPr>
          <p:spPr>
            <a:xfrm>
              <a:off x="869442" y="2464118"/>
              <a:ext cx="1838874"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D4RL · three suites</a:t>
              </a:r>
            </a:p>
          </p:txBody>
        </p:sp>
        <p:sp>
          <p:nvSpPr>
            <p:cNvPr id="12" name="Ellipse 12"/>
            <p:cNvSpPr/>
            <p:nvPr/>
          </p:nvSpPr>
          <p:spPr>
            <a:xfrm>
              <a:off x="885825" y="2838450"/>
              <a:ext cx="114300" cy="114300"/>
            </a:xfrm>
            <a:prstGeom prst="ellipse">
              <a:avLst/>
            </a:prstGeom>
            <a:solidFill>
              <a:schemeClr val="accent2"/>
            </a:solidFill>
            <a:ln>
              <a:noFill/>
            </a:ln>
          </p:spPr>
        </p:sp>
        <p:sp>
          <p:nvSpPr>
            <p:cNvPr id="13" name="TextBox 13"/>
            <p:cNvSpPr txBox="1"/>
            <p:nvPr/>
          </p:nvSpPr>
          <p:spPr>
            <a:xfrm>
              <a:off x="1098804" y="2813685"/>
              <a:ext cx="710268"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AntMaze</a:t>
              </a:r>
            </a:p>
          </p:txBody>
        </p:sp>
        <p:sp>
          <p:nvSpPr>
            <p:cNvPr id="14" name="TextBox 14"/>
            <p:cNvSpPr txBox="1"/>
            <p:nvPr/>
          </p:nvSpPr>
          <p:spPr>
            <a:xfrm>
              <a:off x="1099756" y="3033951"/>
              <a:ext cx="231092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8-DoF quadruped navigating a maze</a:t>
              </a:r>
            </a:p>
          </p:txBody>
        </p:sp>
        <p:sp>
          <p:nvSpPr>
            <p:cNvPr id="15" name="Ellipse 15"/>
            <p:cNvSpPr/>
            <p:nvPr/>
          </p:nvSpPr>
          <p:spPr>
            <a:xfrm>
              <a:off x="885825" y="3524250"/>
              <a:ext cx="114300" cy="114300"/>
            </a:xfrm>
            <a:prstGeom prst="ellipse">
              <a:avLst/>
            </a:prstGeom>
            <a:solidFill>
              <a:srgbClr val="34D3C0"/>
            </a:solidFill>
            <a:ln>
              <a:noFill/>
            </a:ln>
          </p:spPr>
        </p:sp>
        <p:sp>
          <p:nvSpPr>
            <p:cNvPr id="16" name="TextBox 16"/>
            <p:cNvSpPr txBox="1"/>
            <p:nvPr/>
          </p:nvSpPr>
          <p:spPr>
            <a:xfrm>
              <a:off x="1098804" y="3499485"/>
              <a:ext cx="131253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Gym Locomotion</a:t>
              </a:r>
            </a:p>
          </p:txBody>
        </p:sp>
        <p:sp>
          <p:nvSpPr>
            <p:cNvPr id="17" name="TextBox 17"/>
            <p:cNvSpPr txBox="1"/>
            <p:nvPr/>
          </p:nvSpPr>
          <p:spPr>
            <a:xfrm>
              <a:off x="1099756" y="3719751"/>
              <a:ext cx="447096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HalfCheetah · Hopper · Walker (random / medium / medium-replay /</a:t>
              </a:r>
            </a:p>
          </p:txBody>
        </p:sp>
        <p:sp>
          <p:nvSpPr>
            <p:cNvPr id="18" name="TextBox 18"/>
            <p:cNvSpPr txBox="1"/>
            <p:nvPr/>
          </p:nvSpPr>
          <p:spPr>
            <a:xfrm>
              <a:off x="1099756" y="3900726"/>
              <a:ext cx="107762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medium-expert)</a:t>
              </a:r>
            </a:p>
          </p:txBody>
        </p:sp>
        <p:sp>
          <p:nvSpPr>
            <p:cNvPr id="19" name="Ellipse 19"/>
            <p:cNvSpPr/>
            <p:nvPr/>
          </p:nvSpPr>
          <p:spPr>
            <a:xfrm>
              <a:off x="885825" y="4381500"/>
              <a:ext cx="114300" cy="114300"/>
            </a:xfrm>
            <a:prstGeom prst="ellipse">
              <a:avLst/>
            </a:prstGeom>
            <a:solidFill>
              <a:srgbClr val="F2C14E"/>
            </a:solidFill>
            <a:ln>
              <a:noFill/>
            </a:ln>
          </p:spPr>
        </p:sp>
        <p:sp>
          <p:nvSpPr>
            <p:cNvPr id="20" name="TextBox 20"/>
            <p:cNvSpPr txBox="1"/>
            <p:nvPr/>
          </p:nvSpPr>
          <p:spPr>
            <a:xfrm>
              <a:off x="1098804" y="4356735"/>
              <a:ext cx="1244100"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Franka Kitchen</a:t>
              </a:r>
            </a:p>
          </p:txBody>
        </p:sp>
        <p:sp>
          <p:nvSpPr>
            <p:cNvPr id="21" name="TextBox 21"/>
            <p:cNvSpPr txBox="1"/>
            <p:nvPr/>
          </p:nvSpPr>
          <p:spPr>
            <a:xfrm>
              <a:off x="1099756" y="4577001"/>
              <a:ext cx="314682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9-DoF manipulation from human demonstrations</a:t>
              </a:r>
            </a:p>
          </p:txBody>
        </p:sp>
      </p:grpSp>
      <p:grpSp>
        <p:nvGrpSpPr>
          <p:cNvPr id="43" name="Group 43"/>
          <p:cNvGrpSpPr/>
          <p:nvPr/>
        </p:nvGrpSpPr>
        <p:grpSpPr>
          <a:xfrm>
            <a:off x="6210300" y="2247900"/>
            <a:ext cx="5372100" cy="2857500"/>
            <a:chOff x="6210300" y="2247900"/>
            <a:chExt cx="5372100" cy="2857500"/>
          </a:xfrm>
        </p:grpSpPr>
        <p:sp>
          <p:nvSpPr>
            <p:cNvPr id="23" name="Rectangle 23"/>
            <p:cNvSpPr/>
            <p:nvPr/>
          </p:nvSpPr>
          <p:spPr>
            <a:xfrm>
              <a:off x="6210300" y="2247900"/>
              <a:ext cx="5372100" cy="2857500"/>
            </a:xfrm>
            <a:prstGeom prst="roundRect">
              <a:avLst>
                <a:gd name="adj" fmla="val 4667"/>
              </a:avLst>
            </a:prstGeom>
            <a:solidFill>
              <a:schemeClr val="accent5"/>
            </a:solidFill>
            <a:ln w="14288">
              <a:solidFill>
                <a:srgbClr val="26455F"/>
              </a:solidFill>
            </a:ln>
          </p:spPr>
        </p:sp>
        <p:sp>
          <p:nvSpPr>
            <p:cNvPr id="24" name="Rectangle 24"/>
            <p:cNvSpPr/>
            <p:nvPr/>
          </p:nvSpPr>
          <p:spPr>
            <a:xfrm>
              <a:off x="6210300" y="2247900"/>
              <a:ext cx="57150" cy="2857500"/>
            </a:xfrm>
            <a:prstGeom prst="roundRect">
              <a:avLst>
                <a:gd name="adj" fmla="val 50000"/>
              </a:avLst>
            </a:prstGeom>
            <a:solidFill>
              <a:srgbClr val="34D3C0"/>
            </a:solidFill>
            <a:ln>
              <a:noFill/>
            </a:ln>
          </p:spPr>
        </p:sp>
        <p:sp>
          <p:nvSpPr>
            <p:cNvPr id="25" name="TextBox 25"/>
            <p:cNvSpPr txBox="1"/>
            <p:nvPr/>
          </p:nvSpPr>
          <p:spPr>
            <a:xfrm>
              <a:off x="6470142" y="2464118"/>
              <a:ext cx="2748978" cy="264033"/>
            </a:xfrm>
            <a:prstGeom prst="rect">
              <a:avLst/>
            </a:prstGeom>
            <a:noFill/>
            <a:ln>
              <a:noFill/>
            </a:ln>
          </p:spPr>
          <p:txBody>
            <a:bodyPr wrap="none" lIns="0" tIns="0" rIns="0" bIns="0" anchor="t" anchorCtr="0">
              <a:spAutoFit/>
            </a:bodyPr>
            <a:lstStyle/>
            <a:p>
              <a:pPr algn="l"/>
              <a:r>
                <a:rPr lang="en-US" sz="1350" b="1" dirty="0">
                  <a:solidFill>
                    <a:srgbClr val="34D3C0"/>
                  </a:solidFill>
                  <a:latin typeface="+mn-lt"/>
                  <a:ea typeface="+mn-ea"/>
                  <a:cs typeface="+mn-cs"/>
                </a:rPr>
                <a:t>GCSL · goal-conditioned suite</a:t>
              </a:r>
            </a:p>
          </p:txBody>
        </p:sp>
        <p:sp>
          <p:nvSpPr>
            <p:cNvPr id="26" name="Rectangle 26"/>
            <p:cNvSpPr/>
            <p:nvPr/>
          </p:nvSpPr>
          <p:spPr>
            <a:xfrm>
              <a:off x="6477000" y="2857500"/>
              <a:ext cx="1962150" cy="304800"/>
            </a:xfrm>
            <a:prstGeom prst="roundRect">
              <a:avLst>
                <a:gd name="adj" fmla="val 25000"/>
              </a:avLst>
            </a:prstGeom>
            <a:solidFill>
              <a:schemeClr val="accent6"/>
            </a:solidFill>
            <a:ln w="14288">
              <a:solidFill>
                <a:srgbClr val="26455F"/>
              </a:solidFill>
            </a:ln>
          </p:spPr>
        </p:sp>
        <p:sp>
          <p:nvSpPr>
            <p:cNvPr id="27" name="Ellipse 27"/>
            <p:cNvSpPr/>
            <p:nvPr/>
          </p:nvSpPr>
          <p:spPr>
            <a:xfrm>
              <a:off x="6581775" y="2962275"/>
              <a:ext cx="95250" cy="95250"/>
            </a:xfrm>
            <a:prstGeom prst="ellipse">
              <a:avLst/>
            </a:prstGeom>
            <a:solidFill>
              <a:srgbClr val="34D3C0"/>
            </a:solidFill>
            <a:ln>
              <a:noFill/>
            </a:ln>
          </p:spPr>
        </p:sp>
        <p:sp>
          <p:nvSpPr>
            <p:cNvPr id="28" name="TextBox 28"/>
            <p:cNvSpPr txBox="1"/>
            <p:nvPr/>
          </p:nvSpPr>
          <p:spPr>
            <a:xfrm>
              <a:off x="6757606" y="2948226"/>
              <a:ext cx="928682"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2D navigation</a:t>
              </a:r>
            </a:p>
          </p:txBody>
        </p:sp>
        <p:sp>
          <p:nvSpPr>
            <p:cNvPr id="29" name="Rectangle 29"/>
            <p:cNvSpPr/>
            <p:nvPr/>
          </p:nvSpPr>
          <p:spPr>
            <a:xfrm>
              <a:off x="8648700" y="2857500"/>
              <a:ext cx="1962150" cy="304800"/>
            </a:xfrm>
            <a:prstGeom prst="roundRect">
              <a:avLst>
                <a:gd name="adj" fmla="val 25000"/>
              </a:avLst>
            </a:prstGeom>
            <a:solidFill>
              <a:schemeClr val="accent6"/>
            </a:solidFill>
            <a:ln w="14288">
              <a:solidFill>
                <a:srgbClr val="26455F"/>
              </a:solidFill>
            </a:ln>
          </p:spPr>
        </p:sp>
        <p:sp>
          <p:nvSpPr>
            <p:cNvPr id="30" name="Ellipse 30"/>
            <p:cNvSpPr/>
            <p:nvPr/>
          </p:nvSpPr>
          <p:spPr>
            <a:xfrm>
              <a:off x="8753475" y="2962275"/>
              <a:ext cx="95250" cy="95250"/>
            </a:xfrm>
            <a:prstGeom prst="ellipse">
              <a:avLst/>
            </a:prstGeom>
            <a:solidFill>
              <a:srgbClr val="34D3C0"/>
            </a:solidFill>
            <a:ln>
              <a:noFill/>
            </a:ln>
          </p:spPr>
        </p:sp>
        <p:sp>
          <p:nvSpPr>
            <p:cNvPr id="31" name="TextBox 31"/>
            <p:cNvSpPr txBox="1"/>
            <p:nvPr/>
          </p:nvSpPr>
          <p:spPr>
            <a:xfrm>
              <a:off x="8929306" y="2948226"/>
              <a:ext cx="821980"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Sawyer arm</a:t>
              </a:r>
            </a:p>
          </p:txBody>
        </p:sp>
        <p:sp>
          <p:nvSpPr>
            <p:cNvPr id="32" name="Rectangle 32"/>
            <p:cNvSpPr/>
            <p:nvPr/>
          </p:nvSpPr>
          <p:spPr>
            <a:xfrm>
              <a:off x="6477000" y="3276600"/>
              <a:ext cx="1962150" cy="304800"/>
            </a:xfrm>
            <a:prstGeom prst="roundRect">
              <a:avLst>
                <a:gd name="adj" fmla="val 25000"/>
              </a:avLst>
            </a:prstGeom>
            <a:solidFill>
              <a:schemeClr val="accent6"/>
            </a:solidFill>
            <a:ln w="14288">
              <a:solidFill>
                <a:srgbClr val="26455F"/>
              </a:solidFill>
            </a:ln>
          </p:spPr>
        </p:sp>
        <p:sp>
          <p:nvSpPr>
            <p:cNvPr id="33" name="Ellipse 33"/>
            <p:cNvSpPr/>
            <p:nvPr/>
          </p:nvSpPr>
          <p:spPr>
            <a:xfrm>
              <a:off x="6581775" y="3381375"/>
              <a:ext cx="95250" cy="95250"/>
            </a:xfrm>
            <a:prstGeom prst="ellipse">
              <a:avLst/>
            </a:prstGeom>
            <a:solidFill>
              <a:srgbClr val="34D3C0"/>
            </a:solidFill>
            <a:ln>
              <a:noFill/>
            </a:ln>
          </p:spPr>
        </p:sp>
        <p:sp>
          <p:nvSpPr>
            <p:cNvPr id="34" name="TextBox 34"/>
            <p:cNvSpPr txBox="1"/>
            <p:nvPr/>
          </p:nvSpPr>
          <p:spPr>
            <a:xfrm>
              <a:off x="6757606" y="3367326"/>
              <a:ext cx="926172"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Lunar Lander</a:t>
              </a:r>
            </a:p>
          </p:txBody>
        </p:sp>
        <p:sp>
          <p:nvSpPr>
            <p:cNvPr id="35" name="Rectangle 35"/>
            <p:cNvSpPr/>
            <p:nvPr/>
          </p:nvSpPr>
          <p:spPr>
            <a:xfrm>
              <a:off x="8648700" y="3276600"/>
              <a:ext cx="1962150" cy="304800"/>
            </a:xfrm>
            <a:prstGeom prst="roundRect">
              <a:avLst>
                <a:gd name="adj" fmla="val 25000"/>
              </a:avLst>
            </a:prstGeom>
            <a:solidFill>
              <a:schemeClr val="accent6"/>
            </a:solidFill>
            <a:ln w="14288">
              <a:solidFill>
                <a:srgbClr val="26455F"/>
              </a:solidFill>
            </a:ln>
          </p:spPr>
        </p:sp>
        <p:sp>
          <p:nvSpPr>
            <p:cNvPr id="36" name="Ellipse 36"/>
            <p:cNvSpPr/>
            <p:nvPr/>
          </p:nvSpPr>
          <p:spPr>
            <a:xfrm>
              <a:off x="8753475" y="3381375"/>
              <a:ext cx="95250" cy="95250"/>
            </a:xfrm>
            <a:prstGeom prst="ellipse">
              <a:avLst/>
            </a:prstGeom>
            <a:solidFill>
              <a:srgbClr val="34D3C0"/>
            </a:solidFill>
            <a:ln>
              <a:noFill/>
            </a:ln>
          </p:spPr>
        </p:sp>
        <p:sp>
          <p:nvSpPr>
            <p:cNvPr id="37" name="TextBox 37"/>
            <p:cNvSpPr txBox="1"/>
            <p:nvPr/>
          </p:nvSpPr>
          <p:spPr>
            <a:xfrm>
              <a:off x="8929306" y="3367326"/>
              <a:ext cx="878457"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Robotic claw</a:t>
              </a:r>
            </a:p>
          </p:txBody>
        </p:sp>
        <p:sp>
          <p:nvSpPr>
            <p:cNvPr id="38" name="TextBox 38"/>
            <p:cNvSpPr txBox="1"/>
            <p:nvPr/>
          </p:nvSpPr>
          <p:spPr>
            <a:xfrm>
              <a:off x="6471476" y="3749754"/>
              <a:ext cx="413899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Originally online goal-reaching tasks, adapted for offline</a:t>
              </a:r>
            </a:p>
          </p:txBody>
        </p:sp>
        <p:sp>
          <p:nvSpPr>
            <p:cNvPr id="39" name="TextBox 39"/>
            <p:cNvSpPr txBox="1"/>
            <p:nvPr/>
          </p:nvSpPr>
          <p:spPr>
            <a:xfrm>
              <a:off x="6471476" y="3968829"/>
              <a:ext cx="307302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RL by collecting data with a random policy.</a:t>
              </a:r>
            </a:p>
          </p:txBody>
        </p:sp>
        <p:sp>
          <p:nvSpPr>
            <p:cNvPr id="40" name="Rectangle 40"/>
            <p:cNvSpPr/>
            <p:nvPr/>
          </p:nvSpPr>
          <p:spPr>
            <a:xfrm>
              <a:off x="6477000" y="4495800"/>
              <a:ext cx="4838700" cy="323850"/>
            </a:xfrm>
            <a:prstGeom prst="roundRect">
              <a:avLst>
                <a:gd name="adj" fmla="val 23529"/>
              </a:avLst>
            </a:prstGeom>
            <a:solidFill>
              <a:schemeClr val="accent6"/>
            </a:solidFill>
            <a:ln w="14288">
              <a:solidFill>
                <a:srgbClr val="26455F"/>
              </a:solidFill>
            </a:ln>
          </p:spPr>
        </p:sp>
        <p:sp>
          <p:nvSpPr>
            <p:cNvPr id="41" name="Ellipse 41"/>
            <p:cNvSpPr/>
            <p:nvPr/>
          </p:nvSpPr>
          <p:spPr>
            <a:xfrm>
              <a:off x="6600825" y="4610100"/>
              <a:ext cx="95250" cy="95250"/>
            </a:xfrm>
            <a:prstGeom prst="ellipse">
              <a:avLst/>
            </a:prstGeom>
            <a:solidFill>
              <a:srgbClr val="F2C14E"/>
            </a:solidFill>
            <a:ln>
              <a:noFill/>
            </a:ln>
          </p:spPr>
        </p:sp>
        <p:sp>
          <p:nvSpPr>
            <p:cNvPr id="42" name="TextBox 42"/>
            <p:cNvSpPr txBox="1"/>
            <p:nvPr/>
          </p:nvSpPr>
          <p:spPr>
            <a:xfrm>
              <a:off x="6795706" y="4596051"/>
              <a:ext cx="2370663"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Offline data from a random policy</a:t>
              </a:r>
            </a:p>
          </p:txBody>
        </p:sp>
      </p:grpSp>
      <p:grpSp>
        <p:nvGrpSpPr>
          <p:cNvPr id="49" name="Group 49"/>
          <p:cNvGrpSpPr/>
          <p:nvPr/>
        </p:nvGrpSpPr>
        <p:grpSpPr>
          <a:xfrm>
            <a:off x="609600" y="5295900"/>
            <a:ext cx="10972800" cy="628650"/>
            <a:chOff x="609600" y="5295900"/>
            <a:chExt cx="10972800" cy="628650"/>
          </a:xfrm>
        </p:grpSpPr>
        <p:sp>
          <p:nvSpPr>
            <p:cNvPr id="44" name="Rectangle 44"/>
            <p:cNvSpPr/>
            <p:nvPr/>
          </p:nvSpPr>
          <p:spPr>
            <a:xfrm>
              <a:off x="609600" y="5295900"/>
              <a:ext cx="10972800" cy="628650"/>
            </a:xfrm>
            <a:prstGeom prst="roundRect">
              <a:avLst>
                <a:gd name="adj" fmla="val 21212"/>
              </a:avLst>
            </a:prstGeom>
            <a:solidFill>
              <a:schemeClr val="accent6"/>
            </a:solidFill>
            <a:ln w="14288">
              <a:solidFill>
                <a:srgbClr val="26455F"/>
              </a:solidFill>
            </a:ln>
          </p:spPr>
        </p:sp>
        <p:sp>
          <p:nvSpPr>
            <p:cNvPr id="45" name="Rectangle 45"/>
            <p:cNvSpPr/>
            <p:nvPr/>
          </p:nvSpPr>
          <p:spPr>
            <a:xfrm>
              <a:off x="609600" y="5295900"/>
              <a:ext cx="57150" cy="628650"/>
            </a:xfrm>
            <a:prstGeom prst="roundRect">
              <a:avLst>
                <a:gd name="adj" fmla="val 50000"/>
              </a:avLst>
            </a:prstGeom>
            <a:solidFill>
              <a:srgbClr val="48C78E"/>
            </a:solidFill>
            <a:ln>
              <a:noFill/>
            </a:ln>
          </p:spPr>
        </p:sp>
        <p:sp>
          <p:nvSpPr>
            <p:cNvPr id="46" name="TextBox 46"/>
            <p:cNvSpPr txBox="1"/>
            <p:nvPr/>
          </p:nvSpPr>
          <p:spPr>
            <a:xfrm>
              <a:off x="870776" y="5445204"/>
              <a:ext cx="1017674" cy="212693"/>
            </a:xfrm>
            <a:prstGeom prst="rect">
              <a:avLst/>
            </a:prstGeom>
            <a:noFill/>
            <a:ln>
              <a:noFill/>
            </a:ln>
          </p:spPr>
          <p:txBody>
            <a:bodyPr wrap="none" lIns="0" tIns="0" rIns="0" bIns="0" anchor="t" anchorCtr="0">
              <a:spAutoFit/>
            </a:bodyPr>
            <a:lstStyle/>
            <a:p>
              <a:pPr algn="l"/>
              <a:r>
                <a:rPr lang="en-US" sz="1090" b="1" dirty="0">
                  <a:solidFill>
                    <a:srgbClr val="48C78E"/>
                  </a:solidFill>
                  <a:latin typeface="+mn-lt"/>
                  <a:ea typeface="+mn-ea"/>
                  <a:cs typeface="+mn-cs"/>
                </a:rPr>
                <a:t>Common scale</a:t>
              </a:r>
            </a:p>
          </p:txBody>
        </p:sp>
        <p:sp>
          <p:nvSpPr>
            <p:cNvPr id="47" name="TextBox 47"/>
            <p:cNvSpPr txBox="1"/>
            <p:nvPr/>
          </p:nvSpPr>
          <p:spPr>
            <a:xfrm>
              <a:off x="870585" y="5669756"/>
              <a:ext cx="606479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All scores normalized into a 0–100 range so methods can be compared directly.</a:t>
              </a:r>
            </a:p>
          </p:txBody>
        </p:sp>
        <p:sp>
          <p:nvSpPr>
            <p:cNvPr id="48" name="TextBox 48"/>
            <p:cNvSpPr txBox="1"/>
            <p:nvPr/>
          </p:nvSpPr>
          <p:spPr>
            <a:xfrm>
              <a:off x="10526000" y="5498782"/>
              <a:ext cx="798082" cy="322707"/>
            </a:xfrm>
            <a:prstGeom prst="rect">
              <a:avLst/>
            </a:prstGeom>
            <a:noFill/>
            <a:ln>
              <a:noFill/>
            </a:ln>
          </p:spPr>
          <p:txBody>
            <a:bodyPr wrap="none" lIns="0" tIns="0" rIns="0" bIns="0" anchor="t" anchorCtr="0">
              <a:spAutoFit/>
            </a:bodyPr>
            <a:lstStyle/>
            <a:p>
              <a:pPr algn="r"/>
              <a:r>
                <a:rPr lang="en-US" sz="1650" b="1" dirty="0">
                  <a:solidFill>
                    <a:srgbClr val="48C78E"/>
                  </a:solidFill>
                  <a:latin typeface="Consolas"/>
                  <a:ea typeface="Consolas"/>
                  <a:cs typeface="Consolas"/>
                </a:rPr>
                <a:t>0 → 100</a:t>
              </a:r>
            </a:p>
          </p:txBody>
        </p:sp>
      </p:grpSp>
      <p:sp>
        <p:nvSpPr>
          <p:cNvPr id="50" name="cue_s06_c1_evaluation_deliberately_broad" title="cue_s06_c1_evaluation_deliberately_broad" descr="cue_s06_c1_evaluation_deliberately_broad The evaluation is deliberately broad."/>
          <p:cNvSpPr/>
          <p:nvPr/>
        </p:nvSpPr>
        <p:spPr>
          <a:xfrm>
            <a:off x="609600" y="1504645"/>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6_c2_d4rl_benchmark_authors_three_suites" title="cue_s06_c2_d4rl_benchmark_authors_three_suites" descr="cue_s06_c2_d4rl_benchmark_authors_three_suites On the D4RL benchmark, the authors use three suites: AntMaze, which requires an eight-degree-of-freedom quadruped to navigate a maze; Gym Locomotion, with HalfCheetah, Hopper, and Walker across random, medium, medium-replay, and medium-expert datasets; and Fra"/>
          <p:cNvSpPr/>
          <p:nvPr/>
        </p:nvSpPr>
        <p:spPr>
          <a:xfrm>
            <a:off x="609600" y="2248052"/>
            <a:ext cx="5371795"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6_c3_they_also_gcsl_suite_goal_conditione" title="cue_s06_c3_they_also_gcsl_suite_goal_conditione" descr="cue_s06_c3_they_also_gcsl_suite_goal_conditione They also use the GCSL suite of goal-conditioned tasks, including two-dimensional navigation, Sawyer arm control, Lunar Lander, and a robotic claw, which they adapt for offline RL by collecting data with a random policy."/>
          <p:cNvSpPr/>
          <p:nvPr/>
        </p:nvSpPr>
        <p:spPr>
          <a:xfrm>
            <a:off x="6210604" y="2248052"/>
            <a:ext cx="5371795"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6_c4_all_scores_normalized_zero_to_one_hu" title="cue_s06_c4_all_scores_normalized_zero_to_one_hu" descr="cue_s06_c4_all_scores_normalized_zero_to_one_hu All scores are normalized into a zero-to-one-hundred range so methods can be compared directly."/>
          <p:cNvSpPr/>
          <p:nvPr/>
        </p:nvSpPr>
        <p:spPr>
          <a:xfrm>
            <a:off x="609600" y="5295747"/>
            <a:ext cx="10972800" cy="6288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655677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two-layer MLP reaches state of the art</a:t>
            </a:r>
          </a:p>
        </p:txBody>
      </p:sp>
      <p:grpSp>
        <p:nvGrpSpPr>
          <p:cNvPr id="8" name="Group 8"/>
          <p:cNvGrpSpPr/>
          <p:nvPr/>
        </p:nvGrpSpPr>
        <p:grpSpPr>
          <a:xfrm>
            <a:off x="609600" y="1428750"/>
            <a:ext cx="10972800" cy="476250"/>
            <a:chOff x="609600" y="1428750"/>
            <a:chExt cx="10972800" cy="476250"/>
          </a:xfrm>
        </p:grpSpPr>
        <p:sp>
          <p:nvSpPr>
            <p:cNvPr id="5" name="Rectangle 5"/>
            <p:cNvSpPr/>
            <p:nvPr/>
          </p:nvSpPr>
          <p:spPr>
            <a:xfrm>
              <a:off x="609600" y="1428750"/>
              <a:ext cx="10972800" cy="476250"/>
            </a:xfrm>
            <a:prstGeom prst="roundRect">
              <a:avLst>
                <a:gd name="adj" fmla="val 24000"/>
              </a:avLst>
            </a:prstGeom>
            <a:solidFill>
              <a:srgbClr val="0F2E2B"/>
            </a:solidFill>
            <a:ln w="14288">
              <a:solidFill>
                <a:srgbClr val="48C78E"/>
              </a:solidFill>
            </a:ln>
          </p:spPr>
        </p:sp>
        <p:sp>
          <p:nvSpPr>
            <p:cNvPr id="6" name="Rectangle 6"/>
            <p:cNvSpPr/>
            <p:nvPr/>
          </p:nvSpPr>
          <p:spPr>
            <a:xfrm>
              <a:off x="609600" y="1428750"/>
              <a:ext cx="57150" cy="476250"/>
            </a:xfrm>
            <a:prstGeom prst="roundRect">
              <a:avLst>
                <a:gd name="adj" fmla="val 50000"/>
              </a:avLst>
            </a:prstGeom>
            <a:solidFill>
              <a:srgbClr val="48C78E"/>
            </a:solidFill>
            <a:ln>
              <a:noFill/>
            </a:ln>
          </p:spPr>
        </p:sp>
        <p:sp>
          <p:nvSpPr>
            <p:cNvPr id="7" name="TextBox 7"/>
            <p:cNvSpPr txBox="1"/>
            <p:nvPr/>
          </p:nvSpPr>
          <p:spPr>
            <a:xfrm>
              <a:off x="870014" y="1599962"/>
              <a:ext cx="9167962"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Nothing but a two-layer network trained with maximum likelihood — state of the art across several suites.</a:t>
              </a:r>
            </a:p>
          </p:txBody>
        </p:sp>
      </p:grpSp>
      <p:grpSp>
        <p:nvGrpSpPr>
          <p:cNvPr id="22" name="Group 22"/>
          <p:cNvGrpSpPr/>
          <p:nvPr/>
        </p:nvGrpSpPr>
        <p:grpSpPr>
          <a:xfrm>
            <a:off x="609600" y="2038350"/>
            <a:ext cx="5372100" cy="1733550"/>
            <a:chOff x="609600" y="2038350"/>
            <a:chExt cx="5372100" cy="1733550"/>
          </a:xfrm>
        </p:grpSpPr>
        <p:sp>
          <p:nvSpPr>
            <p:cNvPr id="9" name="Rectangle 9"/>
            <p:cNvSpPr/>
            <p:nvPr/>
          </p:nvSpPr>
          <p:spPr>
            <a:xfrm>
              <a:off x="609600" y="2038350"/>
              <a:ext cx="5372100" cy="1733550"/>
            </a:xfrm>
            <a:prstGeom prst="roundRect">
              <a:avLst>
                <a:gd name="adj" fmla="val 7692"/>
              </a:avLst>
            </a:prstGeom>
            <a:solidFill>
              <a:schemeClr val="accent5"/>
            </a:solidFill>
            <a:ln w="14288">
              <a:solidFill>
                <a:srgbClr val="26455F"/>
              </a:solidFill>
            </a:ln>
          </p:spPr>
        </p:sp>
        <p:sp>
          <p:nvSpPr>
            <p:cNvPr id="10" name="Rectangle 10"/>
            <p:cNvSpPr/>
            <p:nvPr/>
          </p:nvSpPr>
          <p:spPr>
            <a:xfrm>
              <a:off x="609600" y="2038350"/>
              <a:ext cx="57150" cy="1733550"/>
            </a:xfrm>
            <a:prstGeom prst="roundRect">
              <a:avLst>
                <a:gd name="adj" fmla="val 50000"/>
              </a:avLst>
            </a:prstGeom>
            <a:solidFill>
              <a:schemeClr val="accent2"/>
            </a:solidFill>
            <a:ln>
              <a:noFill/>
            </a:ln>
          </p:spPr>
        </p:sp>
        <p:sp>
          <p:nvSpPr>
            <p:cNvPr id="11" name="TextBox 11"/>
            <p:cNvSpPr txBox="1"/>
            <p:nvPr/>
          </p:nvSpPr>
          <p:spPr>
            <a:xfrm>
              <a:off x="870014" y="2247662"/>
              <a:ext cx="2346921"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AntMaze · goal-conditioned</a:t>
              </a:r>
            </a:p>
          </p:txBody>
        </p:sp>
        <p:sp>
          <p:nvSpPr>
            <p:cNvPr id="12" name="TextBox 12"/>
            <p:cNvSpPr txBox="1"/>
            <p:nvPr/>
          </p:nvSpPr>
          <p:spPr>
            <a:xfrm>
              <a:off x="871347" y="2542699"/>
              <a:ext cx="3006729"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Average normalized score (higher is better)</a:t>
              </a:r>
            </a:p>
          </p:txBody>
        </p:sp>
        <p:sp>
          <p:nvSpPr>
            <p:cNvPr id="13" name="Rectangle 13"/>
            <p:cNvSpPr/>
            <p:nvPr/>
          </p:nvSpPr>
          <p:spPr>
            <a:xfrm>
              <a:off x="2286000" y="2819400"/>
              <a:ext cx="2857500" cy="266700"/>
            </a:xfrm>
            <a:prstGeom prst="roundRect">
              <a:avLst>
                <a:gd name="adj" fmla="val 21429"/>
              </a:avLst>
            </a:prstGeom>
            <a:solidFill>
              <a:srgbClr val="0E2334"/>
            </a:solidFill>
            <a:ln w="9525">
              <a:solidFill>
                <a:srgbClr val="26455F"/>
              </a:solidFill>
            </a:ln>
          </p:spPr>
        </p:sp>
        <p:sp>
          <p:nvSpPr>
            <p:cNvPr id="14" name="Rectangle 14"/>
            <p:cNvSpPr/>
            <p:nvPr/>
          </p:nvSpPr>
          <p:spPr>
            <a:xfrm>
              <a:off x="2286000" y="2819400"/>
              <a:ext cx="2543175" cy="266700"/>
            </a:xfrm>
            <a:prstGeom prst="roundRect">
              <a:avLst>
                <a:gd name="adj" fmla="val 21429"/>
              </a:avLst>
            </a:prstGeom>
            <a:solidFill>
              <a:srgbClr val="48C78E"/>
            </a:solidFill>
            <a:ln>
              <a:noFill/>
            </a:ln>
          </p:spPr>
        </p:sp>
        <p:sp>
          <p:nvSpPr>
            <p:cNvPr id="15" name="TextBox 15"/>
            <p:cNvSpPr txBox="1"/>
            <p:nvPr/>
          </p:nvSpPr>
          <p:spPr>
            <a:xfrm>
              <a:off x="1740888" y="2892743"/>
              <a:ext cx="436146"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RvS-G</a:t>
              </a:r>
            </a:p>
          </p:txBody>
        </p:sp>
        <p:sp>
          <p:nvSpPr>
            <p:cNvPr id="16" name="TextBox 16"/>
            <p:cNvSpPr txBox="1"/>
            <p:nvPr/>
          </p:nvSpPr>
          <p:spPr>
            <a:xfrm>
              <a:off x="4919091" y="2892743"/>
              <a:ext cx="337189"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53.5</a:t>
              </a:r>
            </a:p>
          </p:txBody>
        </p:sp>
        <p:sp>
          <p:nvSpPr>
            <p:cNvPr id="17" name="Rectangle 17"/>
            <p:cNvSpPr/>
            <p:nvPr/>
          </p:nvSpPr>
          <p:spPr>
            <a:xfrm>
              <a:off x="2286000" y="3219450"/>
              <a:ext cx="2857500" cy="266700"/>
            </a:xfrm>
            <a:prstGeom prst="roundRect">
              <a:avLst>
                <a:gd name="adj" fmla="val 21429"/>
              </a:avLst>
            </a:prstGeom>
            <a:solidFill>
              <a:srgbClr val="0E2334"/>
            </a:solidFill>
            <a:ln w="9525">
              <a:solidFill>
                <a:srgbClr val="26455F"/>
              </a:solidFill>
            </a:ln>
          </p:spPr>
        </p:sp>
        <p:sp>
          <p:nvSpPr>
            <p:cNvPr id="18" name="Rectangle 18"/>
            <p:cNvSpPr/>
            <p:nvPr/>
          </p:nvSpPr>
          <p:spPr>
            <a:xfrm>
              <a:off x="2286000" y="3219450"/>
              <a:ext cx="2409825" cy="266700"/>
            </a:xfrm>
            <a:prstGeom prst="roundRect">
              <a:avLst>
                <a:gd name="adj" fmla="val 21429"/>
              </a:avLst>
            </a:prstGeom>
            <a:solidFill>
              <a:srgbClr val="F2C14E"/>
            </a:solidFill>
            <a:ln>
              <a:noFill/>
            </a:ln>
          </p:spPr>
        </p:sp>
        <p:sp>
          <p:nvSpPr>
            <p:cNvPr id="19" name="TextBox 19"/>
            <p:cNvSpPr txBox="1"/>
            <p:nvPr/>
          </p:nvSpPr>
          <p:spPr>
            <a:xfrm>
              <a:off x="934492" y="3292793"/>
              <a:ext cx="124254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best value-based</a:t>
              </a:r>
            </a:p>
          </p:txBody>
        </p:sp>
        <p:sp>
          <p:nvSpPr>
            <p:cNvPr id="20" name="TextBox 20"/>
            <p:cNvSpPr txBox="1"/>
            <p:nvPr/>
          </p:nvSpPr>
          <p:spPr>
            <a:xfrm>
              <a:off x="4785741" y="3292793"/>
              <a:ext cx="337189"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50.6</a:t>
              </a:r>
            </a:p>
          </p:txBody>
        </p:sp>
        <p:sp>
          <p:nvSpPr>
            <p:cNvPr id="21" name="TextBox 21"/>
            <p:cNvSpPr txBox="1"/>
            <p:nvPr/>
          </p:nvSpPr>
          <p:spPr>
            <a:xfrm>
              <a:off x="871347" y="3552349"/>
              <a:ext cx="3949020" cy="190690"/>
            </a:xfrm>
            <a:prstGeom prst="rect">
              <a:avLst/>
            </a:prstGeom>
            <a:noFill/>
            <a:ln>
              <a:noFill/>
            </a:ln>
          </p:spPr>
          <p:txBody>
            <a:bodyPr wrap="none" lIns="0" tIns="0" rIns="0" bIns="0" anchor="t" anchorCtr="0">
              <a:spAutoFit/>
            </a:bodyPr>
            <a:lstStyle/>
            <a:p>
              <a:pPr algn="l"/>
              <a:r>
                <a:rPr lang="en-US" sz="980" b="1" dirty="0">
                  <a:solidFill>
                    <a:srgbClr val="34D3C0"/>
                  </a:solidFill>
                  <a:latin typeface="+mn-lt"/>
                  <a:ea typeface="+mn-ea"/>
                  <a:cs typeface="+mn-cs"/>
                </a:rPr>
                <a:t>A plain MLP edges out the strongest value-based baseline.</a:t>
              </a:r>
            </a:p>
          </p:txBody>
        </p:sp>
      </p:grpSp>
      <p:grpSp>
        <p:nvGrpSpPr>
          <p:cNvPr id="38" name="Group 38"/>
          <p:cNvGrpSpPr/>
          <p:nvPr/>
        </p:nvGrpSpPr>
        <p:grpSpPr>
          <a:xfrm>
            <a:off x="6210300" y="2038350"/>
            <a:ext cx="5372100" cy="1733550"/>
            <a:chOff x="6210300" y="2038350"/>
            <a:chExt cx="5372100" cy="1733550"/>
          </a:xfrm>
        </p:grpSpPr>
        <p:sp>
          <p:nvSpPr>
            <p:cNvPr id="23" name="Rectangle 23"/>
            <p:cNvSpPr/>
            <p:nvPr/>
          </p:nvSpPr>
          <p:spPr>
            <a:xfrm>
              <a:off x="6210300" y="2038350"/>
              <a:ext cx="5372100" cy="1733550"/>
            </a:xfrm>
            <a:prstGeom prst="roundRect">
              <a:avLst>
                <a:gd name="adj" fmla="val 7692"/>
              </a:avLst>
            </a:prstGeom>
            <a:solidFill>
              <a:schemeClr val="accent5"/>
            </a:solidFill>
            <a:ln w="14288">
              <a:solidFill>
                <a:srgbClr val="26455F"/>
              </a:solidFill>
            </a:ln>
          </p:spPr>
        </p:sp>
        <p:sp>
          <p:nvSpPr>
            <p:cNvPr id="24" name="Rectangle 24"/>
            <p:cNvSpPr/>
            <p:nvPr/>
          </p:nvSpPr>
          <p:spPr>
            <a:xfrm>
              <a:off x="6210300" y="2038350"/>
              <a:ext cx="57150" cy="1733550"/>
            </a:xfrm>
            <a:prstGeom prst="roundRect">
              <a:avLst>
                <a:gd name="adj" fmla="val 50000"/>
              </a:avLst>
            </a:prstGeom>
            <a:solidFill>
              <a:srgbClr val="34D3C0"/>
            </a:solidFill>
            <a:ln>
              <a:noFill/>
            </a:ln>
          </p:spPr>
        </p:sp>
        <p:sp>
          <p:nvSpPr>
            <p:cNvPr id="25" name="TextBox 25"/>
            <p:cNvSpPr txBox="1"/>
            <p:nvPr/>
          </p:nvSpPr>
          <p:spPr>
            <a:xfrm>
              <a:off x="6470714" y="2247662"/>
              <a:ext cx="2388620"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Franka Kitchen &amp; GCSL suite</a:t>
              </a:r>
            </a:p>
          </p:txBody>
        </p:sp>
        <p:sp>
          <p:nvSpPr>
            <p:cNvPr id="26" name="Rectangle 26"/>
            <p:cNvSpPr/>
            <p:nvPr/>
          </p:nvSpPr>
          <p:spPr>
            <a:xfrm>
              <a:off x="6477000" y="2533650"/>
              <a:ext cx="1428750" cy="914400"/>
            </a:xfrm>
            <a:prstGeom prst="roundRect">
              <a:avLst>
                <a:gd name="adj" fmla="val 12500"/>
              </a:avLst>
            </a:prstGeom>
            <a:solidFill>
              <a:schemeClr val="accent6"/>
            </a:solidFill>
            <a:ln w="14288">
              <a:solidFill>
                <a:srgbClr val="26455F"/>
              </a:solidFill>
            </a:ln>
          </p:spPr>
        </p:sp>
        <p:sp>
          <p:nvSpPr>
            <p:cNvPr id="27" name="TextBox 27"/>
            <p:cNvSpPr txBox="1"/>
            <p:nvPr/>
          </p:nvSpPr>
          <p:spPr>
            <a:xfrm>
              <a:off x="6992600" y="2786634"/>
              <a:ext cx="397551" cy="469392"/>
            </a:xfrm>
            <a:prstGeom prst="rect">
              <a:avLst/>
            </a:prstGeom>
            <a:noFill/>
            <a:ln>
              <a:noFill/>
            </a:ln>
          </p:spPr>
          <p:txBody>
            <a:bodyPr wrap="none" lIns="0" tIns="0" rIns="0" bIns="0" anchor="t" anchorCtr="0">
              <a:spAutoFit/>
            </a:bodyPr>
            <a:lstStyle/>
            <a:p>
              <a:pPr algn="ctr"/>
              <a:r>
                <a:rPr lang="en-US" sz="2400" b="1" dirty="0">
                  <a:solidFill>
                    <a:srgbClr val="48C78E"/>
                  </a:solidFill>
                  <a:latin typeface="+mn-lt"/>
                  <a:ea typeface="+mn-ea"/>
                  <a:cs typeface="+mn-cs"/>
                </a:rPr>
                <a:t>54</a:t>
              </a:r>
            </a:p>
          </p:txBody>
        </p:sp>
        <p:sp>
          <p:nvSpPr>
            <p:cNvPr id="28" name="TextBox 28"/>
            <p:cNvSpPr txBox="1"/>
            <p:nvPr/>
          </p:nvSpPr>
          <p:spPr>
            <a:xfrm>
              <a:off x="6742736" y="3182255"/>
              <a:ext cx="89727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Kitchen score</a:t>
              </a:r>
            </a:p>
          </p:txBody>
        </p:sp>
        <p:sp>
          <p:nvSpPr>
            <p:cNvPr id="29" name="Rectangle 29"/>
            <p:cNvSpPr/>
            <p:nvPr/>
          </p:nvSpPr>
          <p:spPr>
            <a:xfrm>
              <a:off x="8953500" y="2857500"/>
              <a:ext cx="2209800" cy="247650"/>
            </a:xfrm>
            <a:prstGeom prst="roundRect">
              <a:avLst>
                <a:gd name="adj" fmla="val 23077"/>
              </a:avLst>
            </a:prstGeom>
            <a:solidFill>
              <a:srgbClr val="0E2334"/>
            </a:solidFill>
            <a:ln w="9525">
              <a:solidFill>
                <a:srgbClr val="26455F"/>
              </a:solidFill>
            </a:ln>
          </p:spPr>
        </p:sp>
        <p:sp>
          <p:nvSpPr>
            <p:cNvPr id="30" name="Rectangle 30"/>
            <p:cNvSpPr/>
            <p:nvPr/>
          </p:nvSpPr>
          <p:spPr>
            <a:xfrm>
              <a:off x="8953500" y="2857500"/>
              <a:ext cx="1952625" cy="247650"/>
            </a:xfrm>
            <a:prstGeom prst="roundRect">
              <a:avLst>
                <a:gd name="adj" fmla="val 23077"/>
              </a:avLst>
            </a:prstGeom>
            <a:solidFill>
              <a:srgbClr val="48C78E"/>
            </a:solidFill>
            <a:ln>
              <a:noFill/>
            </a:ln>
          </p:spPr>
        </p:sp>
        <p:sp>
          <p:nvSpPr>
            <p:cNvPr id="31" name="TextBox 31"/>
            <p:cNvSpPr txBox="1"/>
            <p:nvPr/>
          </p:nvSpPr>
          <p:spPr>
            <a:xfrm>
              <a:off x="8579734" y="2917508"/>
              <a:ext cx="26480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RvS</a:t>
              </a:r>
            </a:p>
          </p:txBody>
        </p:sp>
        <p:sp>
          <p:nvSpPr>
            <p:cNvPr id="32" name="TextBox 32"/>
            <p:cNvSpPr txBox="1"/>
            <p:nvPr/>
          </p:nvSpPr>
          <p:spPr>
            <a:xfrm>
              <a:off x="10996041" y="2917508"/>
              <a:ext cx="173928"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62</a:t>
              </a:r>
            </a:p>
          </p:txBody>
        </p:sp>
        <p:sp>
          <p:nvSpPr>
            <p:cNvPr id="33" name="Rectangle 33"/>
            <p:cNvSpPr/>
            <p:nvPr/>
          </p:nvSpPr>
          <p:spPr>
            <a:xfrm>
              <a:off x="8953500" y="3238500"/>
              <a:ext cx="2209800" cy="247650"/>
            </a:xfrm>
            <a:prstGeom prst="roundRect">
              <a:avLst>
                <a:gd name="adj" fmla="val 23077"/>
              </a:avLst>
            </a:prstGeom>
            <a:solidFill>
              <a:srgbClr val="0E2334"/>
            </a:solidFill>
            <a:ln w="9525">
              <a:solidFill>
                <a:srgbClr val="26455F"/>
              </a:solidFill>
            </a:ln>
          </p:spPr>
        </p:sp>
        <p:sp>
          <p:nvSpPr>
            <p:cNvPr id="34" name="Rectangle 34"/>
            <p:cNvSpPr/>
            <p:nvPr/>
          </p:nvSpPr>
          <p:spPr>
            <a:xfrm>
              <a:off x="8953500" y="3238500"/>
              <a:ext cx="1828800" cy="247650"/>
            </a:xfrm>
            <a:prstGeom prst="roundRect">
              <a:avLst>
                <a:gd name="adj" fmla="val 23077"/>
              </a:avLst>
            </a:prstGeom>
            <a:solidFill>
              <a:srgbClr val="F2C14E"/>
            </a:solidFill>
            <a:ln>
              <a:noFill/>
            </a:ln>
          </p:spPr>
        </p:sp>
        <p:sp>
          <p:nvSpPr>
            <p:cNvPr id="35" name="TextBox 35"/>
            <p:cNvSpPr txBox="1"/>
            <p:nvPr/>
          </p:nvSpPr>
          <p:spPr>
            <a:xfrm>
              <a:off x="8029437" y="3298508"/>
              <a:ext cx="81509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online GCSL</a:t>
              </a:r>
            </a:p>
          </p:txBody>
        </p:sp>
        <p:sp>
          <p:nvSpPr>
            <p:cNvPr id="36" name="TextBox 36"/>
            <p:cNvSpPr txBox="1"/>
            <p:nvPr/>
          </p:nvSpPr>
          <p:spPr>
            <a:xfrm>
              <a:off x="10872216" y="3298508"/>
              <a:ext cx="173928"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58</a:t>
              </a:r>
            </a:p>
          </p:txBody>
        </p:sp>
        <p:sp>
          <p:nvSpPr>
            <p:cNvPr id="37" name="TextBox 37"/>
            <p:cNvSpPr txBox="1"/>
            <p:nvPr/>
          </p:nvSpPr>
          <p:spPr>
            <a:xfrm>
              <a:off x="8072247" y="3495199"/>
              <a:ext cx="2773911" cy="190690"/>
            </a:xfrm>
            <a:prstGeom prst="rect">
              <a:avLst/>
            </a:prstGeom>
            <a:noFill/>
            <a:ln>
              <a:noFill/>
            </a:ln>
          </p:spPr>
          <p:txBody>
            <a:bodyPr wrap="none" lIns="0" tIns="0" rIns="0" bIns="0" anchor="t" anchorCtr="0">
              <a:spAutoFit/>
            </a:bodyPr>
            <a:lstStyle/>
            <a:p>
              <a:pPr algn="l"/>
              <a:r>
                <a:rPr lang="en-US" sz="980" b="1" dirty="0">
                  <a:solidFill>
                    <a:srgbClr val="34D3C0"/>
                  </a:solidFill>
                  <a:latin typeface="+mn-lt"/>
                  <a:ea typeface="+mn-ea"/>
                  <a:cs typeface="+mn-cs"/>
                </a:rPr>
                <a:t>RvS wins on GCSL using only offline data.</a:t>
              </a:r>
            </a:p>
          </p:txBody>
        </p:sp>
      </p:grpSp>
      <p:grpSp>
        <p:nvGrpSpPr>
          <p:cNvPr id="53" name="Group 53"/>
          <p:cNvGrpSpPr/>
          <p:nvPr/>
        </p:nvGrpSpPr>
        <p:grpSpPr>
          <a:xfrm>
            <a:off x="609600" y="3924300"/>
            <a:ext cx="10972800" cy="1981200"/>
            <a:chOff x="609600" y="3924300"/>
            <a:chExt cx="10972800" cy="1981200"/>
          </a:xfrm>
        </p:grpSpPr>
        <p:sp>
          <p:nvSpPr>
            <p:cNvPr id="39" name="Rectangle 39"/>
            <p:cNvSpPr/>
            <p:nvPr/>
          </p:nvSpPr>
          <p:spPr>
            <a:xfrm>
              <a:off x="609600" y="3924300"/>
              <a:ext cx="10972800" cy="1981200"/>
            </a:xfrm>
            <a:prstGeom prst="roundRect">
              <a:avLst>
                <a:gd name="adj" fmla="val 6731"/>
              </a:avLst>
            </a:prstGeom>
            <a:solidFill>
              <a:schemeClr val="accent5"/>
            </a:solidFill>
            <a:ln w="14288">
              <a:solidFill>
                <a:srgbClr val="26455F"/>
              </a:solidFill>
            </a:ln>
          </p:spPr>
        </p:sp>
        <p:sp>
          <p:nvSpPr>
            <p:cNvPr id="40" name="Rectangle 40"/>
            <p:cNvSpPr/>
            <p:nvPr/>
          </p:nvSpPr>
          <p:spPr>
            <a:xfrm>
              <a:off x="609600" y="3924300"/>
              <a:ext cx="57150" cy="1981200"/>
            </a:xfrm>
            <a:prstGeom prst="roundRect">
              <a:avLst>
                <a:gd name="adj" fmla="val 50000"/>
              </a:avLst>
            </a:prstGeom>
            <a:solidFill>
              <a:srgbClr val="F2C14E"/>
            </a:solidFill>
            <a:ln>
              <a:noFill/>
            </a:ln>
          </p:spPr>
        </p:sp>
        <p:sp>
          <p:nvSpPr>
            <p:cNvPr id="41" name="TextBox 41"/>
            <p:cNvSpPr txBox="1"/>
            <p:nvPr/>
          </p:nvSpPr>
          <p:spPr>
            <a:xfrm>
              <a:off x="870014" y="4152662"/>
              <a:ext cx="2338112"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Gym Locomotion &amp; stitching</a:t>
              </a:r>
            </a:p>
          </p:txBody>
        </p:sp>
        <p:sp>
          <p:nvSpPr>
            <p:cNvPr id="42" name="Rectangle 42"/>
            <p:cNvSpPr/>
            <p:nvPr/>
          </p:nvSpPr>
          <p:spPr>
            <a:xfrm>
              <a:off x="876300" y="4476750"/>
              <a:ext cx="4953000" cy="1257300"/>
            </a:xfrm>
            <a:prstGeom prst="roundRect">
              <a:avLst>
                <a:gd name="adj" fmla="val 7576"/>
              </a:avLst>
            </a:prstGeom>
            <a:solidFill>
              <a:schemeClr val="accent6"/>
            </a:solidFill>
            <a:ln w="14288">
              <a:solidFill>
                <a:srgbClr val="26455F"/>
              </a:solidFill>
            </a:ln>
          </p:spPr>
        </p:sp>
        <p:sp>
          <p:nvSpPr>
            <p:cNvPr id="43" name="TextBox 43"/>
            <p:cNvSpPr txBox="1"/>
            <p:nvPr/>
          </p:nvSpPr>
          <p:spPr>
            <a:xfrm>
              <a:off x="1060894" y="4637008"/>
              <a:ext cx="3835197"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Reward-conditioned RvS ≈ Decision Transformer</a:t>
              </a:r>
            </a:p>
          </p:txBody>
        </p:sp>
        <p:sp>
          <p:nvSpPr>
            <p:cNvPr id="44" name="TextBox 44"/>
            <p:cNvSpPr txBox="1"/>
            <p:nvPr/>
          </p:nvSpPr>
          <p:spPr>
            <a:xfrm>
              <a:off x="1061466" y="4915852"/>
              <a:ext cx="358459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Matched performance — but with a simple multilayer</a:t>
              </a:r>
            </a:p>
          </p:txBody>
        </p:sp>
        <p:sp>
          <p:nvSpPr>
            <p:cNvPr id="45" name="TextBox 45"/>
            <p:cNvSpPr txBox="1"/>
            <p:nvPr/>
          </p:nvSpPr>
          <p:spPr>
            <a:xfrm>
              <a:off x="1061466" y="5125402"/>
              <a:ext cx="364806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perceptron instead of a large Transformer sequence</a:t>
              </a:r>
            </a:p>
          </p:txBody>
        </p:sp>
        <p:sp>
          <p:nvSpPr>
            <p:cNvPr id="46" name="TextBox 46"/>
            <p:cNvSpPr txBox="1"/>
            <p:nvPr/>
          </p:nvSpPr>
          <p:spPr>
            <a:xfrm>
              <a:off x="1061466" y="5334952"/>
              <a:ext cx="47005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model.</a:t>
              </a:r>
            </a:p>
          </p:txBody>
        </p:sp>
        <p:sp>
          <p:nvSpPr>
            <p:cNvPr id="47" name="TextBox 47"/>
            <p:cNvSpPr txBox="1"/>
            <p:nvPr/>
          </p:nvSpPr>
          <p:spPr>
            <a:xfrm>
              <a:off x="1061085" y="5479256"/>
              <a:ext cx="2853943" cy="220028"/>
            </a:xfrm>
            <a:prstGeom prst="rect">
              <a:avLst/>
            </a:prstGeom>
            <a:noFill/>
            <a:ln>
              <a:noFill/>
            </a:ln>
          </p:spPr>
          <p:txBody>
            <a:bodyPr wrap="none" lIns="0" tIns="0" rIns="0" bIns="0" anchor="t" anchorCtr="0">
              <a:spAutoFit/>
            </a:bodyPr>
            <a:lstStyle/>
            <a:p>
              <a:pPr algn="l"/>
              <a:r>
                <a:rPr lang="en-US" sz="1120" b="1" dirty="0">
                  <a:solidFill>
                    <a:srgbClr val="34D3C0"/>
                  </a:solidFill>
                  <a:latin typeface="Consolas"/>
                  <a:ea typeface="Consolas"/>
                  <a:cs typeface="Consolas"/>
                </a:rPr>
                <a:t>MLP == Transformer (on locomotion)</a:t>
              </a:r>
            </a:p>
          </p:txBody>
        </p:sp>
        <p:sp>
          <p:nvSpPr>
            <p:cNvPr id="48" name="Rectangle 48"/>
            <p:cNvSpPr/>
            <p:nvPr/>
          </p:nvSpPr>
          <p:spPr>
            <a:xfrm>
              <a:off x="6096000" y="4476750"/>
              <a:ext cx="5105400" cy="1257300"/>
            </a:xfrm>
            <a:prstGeom prst="roundRect">
              <a:avLst>
                <a:gd name="adj" fmla="val 7576"/>
              </a:avLst>
            </a:prstGeom>
            <a:solidFill>
              <a:srgbClr val="0F2E2B"/>
            </a:solidFill>
            <a:ln w="14288">
              <a:solidFill>
                <a:srgbClr val="34D3C0"/>
              </a:solidFill>
            </a:ln>
          </p:spPr>
        </p:sp>
        <p:sp>
          <p:nvSpPr>
            <p:cNvPr id="49" name="TextBox 49"/>
            <p:cNvSpPr txBox="1"/>
            <p:nvPr/>
          </p:nvSpPr>
          <p:spPr>
            <a:xfrm>
              <a:off x="6280594" y="4637008"/>
              <a:ext cx="1886327"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Even on stitching tasks</a:t>
              </a:r>
            </a:p>
          </p:txBody>
        </p:sp>
        <p:sp>
          <p:nvSpPr>
            <p:cNvPr id="50" name="TextBox 50"/>
            <p:cNvSpPr txBox="1"/>
            <p:nvPr/>
          </p:nvSpPr>
          <p:spPr>
            <a:xfrm>
              <a:off x="6281166" y="4915852"/>
              <a:ext cx="349990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Long thought to demand dynamic programming, yet</a:t>
              </a:r>
            </a:p>
          </p:txBody>
        </p:sp>
        <p:sp>
          <p:nvSpPr>
            <p:cNvPr id="51" name="TextBox 51"/>
            <p:cNvSpPr txBox="1"/>
            <p:nvPr/>
          </p:nvSpPr>
          <p:spPr>
            <a:xfrm>
              <a:off x="6281166" y="5125402"/>
              <a:ext cx="411951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goal-conditioned RvS keeps pace with value-based methods.</a:t>
              </a:r>
            </a:p>
          </p:txBody>
        </p:sp>
        <p:sp>
          <p:nvSpPr>
            <p:cNvPr id="52" name="TextBox 52"/>
            <p:cNvSpPr txBox="1"/>
            <p:nvPr/>
          </p:nvSpPr>
          <p:spPr>
            <a:xfrm>
              <a:off x="6281547" y="5533549"/>
              <a:ext cx="3706214"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No dynamic programming required to stay competitive.</a:t>
              </a:r>
            </a:p>
          </p:txBody>
        </p:sp>
      </p:grpSp>
      <p:sp>
        <p:nvSpPr>
          <p:cNvPr id="54" name="cue_s07_c1_headline_result_striking_nothing_but" title="cue_s07_c1_headline_result_striking_nothing_but" descr="cue_s07_c1_headline_result_striking_nothing_but The headline result is striking. Using nothing but a two-layer feedforward network trained with maximum likelihood, RvS reaches state-of-the-art performance across several suites."/>
          <p:cNvSpPr/>
          <p:nvPr/>
        </p:nvSpPr>
        <p:spPr>
          <a:xfrm>
            <a:off x="609600" y="1428521"/>
            <a:ext cx="10972800" cy="4759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7_c2_antmaze_goal_conditioned_rvs_scores" title="cue_s07_c2_antmaze_goal_conditioned_rvs_scores" descr="cue_s07_c2_antmaze_goal_conditioned_rvs_scores On AntMaze, goal-conditioned RvS scores fifty-three point five on average, edging out the best value-based baseline at fifty point six."/>
          <p:cNvSpPr/>
          <p:nvPr/>
        </p:nvSpPr>
        <p:spPr>
          <a:xfrm>
            <a:off x="609600" y="2038197"/>
            <a:ext cx="5371795" cy="17337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7_c3_franka_kitchen_reaches_fifty_four_gc" title="cue_s07_c3_franka_kitchen_reaches_fifty_four_gc" descr="cue_s07_c3_franka_kitchen_reaches_fifty_four_gc On Franka Kitchen it reaches fifty-four. On the GCSL suite it scores sixty-two, beating the online GCSL method at fifty-eight, despite using only offline data."/>
          <p:cNvSpPr/>
          <p:nvPr/>
        </p:nvSpPr>
        <p:spPr>
          <a:xfrm>
            <a:off x="6210604" y="2038197"/>
            <a:ext cx="5371795" cy="17337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7_c4_gym_locomotion_reward_conditioned_rv" title="cue_s07_c4_gym_locomotion_reward_conditioned_rv" descr="cue_s07_c4_gym_locomotion_reward_conditioned_rv And on Gym Locomotion, reward-conditioned RvS matches Decision Transformer while using a simple multilayer perceptron instead of a large Transformer. Even on stitching tasks, long thought to demand dynamic programming, goal-conditioned RvS keeps pace."/>
          <p:cNvSpPr/>
          <p:nvPr/>
        </p:nvSpPr>
        <p:spPr>
          <a:xfrm>
            <a:off x="609600" y="3924147"/>
            <a:ext cx="10972800" cy="19812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351577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What actually matters</a:t>
            </a:r>
          </a:p>
        </p:txBody>
      </p:sp>
      <p:grpSp>
        <p:nvGrpSpPr>
          <p:cNvPr id="21" name="Group 21"/>
          <p:cNvGrpSpPr/>
          <p:nvPr/>
        </p:nvGrpSpPr>
        <p:grpSpPr>
          <a:xfrm>
            <a:off x="609600" y="1504950"/>
            <a:ext cx="5372100" cy="4267200"/>
            <a:chOff x="609600" y="1504950"/>
            <a:chExt cx="5372100" cy="4267200"/>
          </a:xfrm>
        </p:grpSpPr>
        <p:sp>
          <p:nvSpPr>
            <p:cNvPr id="5" name="Rectangle 5"/>
            <p:cNvSpPr/>
            <p:nvPr/>
          </p:nvSpPr>
          <p:spPr>
            <a:xfrm>
              <a:off x="609600" y="1504950"/>
              <a:ext cx="5372100" cy="4267200"/>
            </a:xfrm>
            <a:prstGeom prst="roundRect">
              <a:avLst>
                <a:gd name="adj" fmla="val 3125"/>
              </a:avLst>
            </a:prstGeom>
            <a:solidFill>
              <a:schemeClr val="accent5"/>
            </a:solidFill>
            <a:ln w="14288">
              <a:solidFill>
                <a:srgbClr val="26455F"/>
              </a:solidFill>
            </a:ln>
          </p:spPr>
        </p:sp>
        <p:sp>
          <p:nvSpPr>
            <p:cNvPr id="6" name="Rectangle 6"/>
            <p:cNvSpPr/>
            <p:nvPr/>
          </p:nvSpPr>
          <p:spPr>
            <a:xfrm>
              <a:off x="609600" y="1504950"/>
              <a:ext cx="57150" cy="4267200"/>
            </a:xfrm>
            <a:prstGeom prst="roundRect">
              <a:avLst>
                <a:gd name="adj" fmla="val 50000"/>
              </a:avLst>
            </a:prstGeom>
            <a:solidFill>
              <a:schemeClr val="accent2"/>
            </a:solidFill>
            <a:ln>
              <a:noFill/>
            </a:ln>
          </p:spPr>
        </p:sp>
        <p:sp>
          <p:nvSpPr>
            <p:cNvPr id="7" name="TextBox 7"/>
            <p:cNvSpPr txBox="1"/>
            <p:nvPr/>
          </p:nvSpPr>
          <p:spPr>
            <a:xfrm>
              <a:off x="870014" y="1733312"/>
              <a:ext cx="2560603"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1 · Capacity: bigger is better</a:t>
              </a:r>
            </a:p>
          </p:txBody>
        </p:sp>
        <p:sp>
          <p:nvSpPr>
            <p:cNvPr id="8" name="TextBox 8"/>
            <p:cNvSpPr txBox="1"/>
            <p:nvPr/>
          </p:nvSpPr>
          <p:spPr>
            <a:xfrm>
              <a:off x="870776" y="2054304"/>
              <a:ext cx="404390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best networks are notably larger than those used in</a:t>
              </a:r>
            </a:p>
          </p:txBody>
        </p:sp>
        <p:sp>
          <p:nvSpPr>
            <p:cNvPr id="9" name="TextBox 9"/>
            <p:cNvSpPr txBox="1"/>
            <p:nvPr/>
          </p:nvSpPr>
          <p:spPr>
            <a:xfrm>
              <a:off x="870776" y="2273379"/>
              <a:ext cx="385499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standard online RL or imitation learning. Widening the</a:t>
              </a:r>
            </a:p>
          </p:txBody>
        </p:sp>
        <p:sp>
          <p:nvSpPr>
            <p:cNvPr id="10" name="TextBox 10"/>
            <p:cNvSpPr txBox="1"/>
            <p:nvPr/>
          </p:nvSpPr>
          <p:spPr>
            <a:xfrm>
              <a:off x="870776" y="2492454"/>
              <a:ext cx="387753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network up to about a thousand hidden units generally</a:t>
              </a:r>
            </a:p>
          </p:txBody>
        </p:sp>
        <p:sp>
          <p:nvSpPr>
            <p:cNvPr id="11" name="TextBox 11"/>
            <p:cNvSpPr txBox="1"/>
            <p:nvPr/>
          </p:nvSpPr>
          <p:spPr>
            <a:xfrm>
              <a:off x="870776" y="2711529"/>
              <a:ext cx="45859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helps.</a:t>
              </a:r>
            </a:p>
          </p:txBody>
        </p:sp>
        <p:sp>
          <p:nvSpPr>
            <p:cNvPr id="12" name="Line 12"/>
            <p:cNvSpPr/>
            <p:nvPr/>
          </p:nvSpPr>
          <p:spPr>
            <a:xfrm>
              <a:off x="1447800" y="4857750"/>
              <a:ext cx="4095750" cy="9525"/>
            </a:xfrm>
            <a:custGeom>
              <a:avLst/>
              <a:gdLst/>
              <a:ahLst/>
              <a:cxnLst/>
              <a:rect l="l" t="t" r="r" b="b"/>
              <a:pathLst>
                <a:path w="4095750" h="9525">
                  <a:moveTo>
                    <a:pt x="0" y="0"/>
                  </a:moveTo>
                  <a:lnTo>
                    <a:pt x="4095750" y="0"/>
                  </a:lnTo>
                </a:path>
              </a:pathLst>
            </a:custGeom>
            <a:noFill/>
            <a:ln w="14288" cap="rnd">
              <a:solidFill>
                <a:schemeClr val="dk2"/>
              </a:solidFill>
            </a:ln>
          </p:spPr>
        </p:sp>
        <p:sp>
          <p:nvSpPr>
            <p:cNvPr id="13" name="Line 13"/>
            <p:cNvSpPr/>
            <p:nvPr/>
          </p:nvSpPr>
          <p:spPr>
            <a:xfrm>
              <a:off x="1447800" y="3429000"/>
              <a:ext cx="9525" cy="1428750"/>
            </a:xfrm>
            <a:custGeom>
              <a:avLst/>
              <a:gdLst/>
              <a:ahLst/>
              <a:cxnLst/>
              <a:rect l="l" t="t" r="r" b="b"/>
              <a:pathLst>
                <a:path w="9525" h="1428750">
                  <a:moveTo>
                    <a:pt x="0" y="1428750"/>
                  </a:moveTo>
                  <a:lnTo>
                    <a:pt x="0" y="0"/>
                  </a:lnTo>
                </a:path>
              </a:pathLst>
            </a:custGeom>
            <a:noFill/>
            <a:ln w="14288" cap="rnd">
              <a:solidFill>
                <a:schemeClr val="dk2"/>
              </a:solidFill>
            </a:ln>
          </p:spPr>
        </p:sp>
        <p:sp>
          <p:nvSpPr>
            <p:cNvPr id="14" name="TextBox 14"/>
            <p:cNvSpPr txBox="1"/>
            <p:nvPr/>
          </p:nvSpPr>
          <p:spPr>
            <a:xfrm>
              <a:off x="4794574" y="4970145"/>
              <a:ext cx="753738" cy="176212"/>
            </a:xfrm>
            <a:prstGeom prst="rect">
              <a:avLst/>
            </a:prstGeom>
            <a:noFill/>
            <a:ln>
              <a:noFill/>
            </a:ln>
          </p:spPr>
          <p:txBody>
            <a:bodyPr wrap="none" lIns="0" tIns="0" rIns="0" bIns="0" anchor="t" anchorCtr="0">
              <a:spAutoFit/>
            </a:bodyPr>
            <a:lstStyle/>
            <a:p>
              <a:pPr algn="r"/>
              <a:r>
                <a:rPr lang="en-US" sz="900" b="1" dirty="0">
                  <a:solidFill>
                    <a:srgbClr val="6E869C"/>
                  </a:solidFill>
                  <a:latin typeface="+mn-lt"/>
                  <a:ea typeface="+mn-ea"/>
                  <a:cs typeface="+mn-cs"/>
                </a:rPr>
                <a:t>hidden units</a:t>
              </a:r>
            </a:p>
          </p:txBody>
        </p:sp>
        <p:sp>
          <p:nvSpPr>
            <p:cNvPr id="15" name="TextBox 15"/>
            <p:cNvSpPr txBox="1"/>
            <p:nvPr/>
          </p:nvSpPr>
          <p:spPr>
            <a:xfrm>
              <a:off x="1067913" y="3369945"/>
              <a:ext cx="289400" cy="176212"/>
            </a:xfrm>
            <a:prstGeom prst="rect">
              <a:avLst/>
            </a:prstGeom>
            <a:noFill/>
            <a:ln>
              <a:noFill/>
            </a:ln>
          </p:spPr>
          <p:txBody>
            <a:bodyPr wrap="none" lIns="0" tIns="0" rIns="0" bIns="0" anchor="t" anchorCtr="0">
              <a:spAutoFit/>
            </a:bodyPr>
            <a:lstStyle/>
            <a:p>
              <a:pPr algn="r"/>
              <a:r>
                <a:rPr lang="en-US" sz="900" b="1" dirty="0">
                  <a:solidFill>
                    <a:srgbClr val="6E869C"/>
                  </a:solidFill>
                  <a:latin typeface="+mn-lt"/>
                  <a:ea typeface="+mn-ea"/>
                  <a:cs typeface="+mn-cs"/>
                </a:rPr>
                <a:t>perf</a:t>
              </a:r>
            </a:p>
          </p:txBody>
        </p:sp>
        <p:sp>
          <p:nvSpPr>
            <p:cNvPr id="16" name="Polyline 16"/>
            <p:cNvSpPr/>
            <p:nvPr/>
          </p:nvSpPr>
          <p:spPr>
            <a:xfrm>
              <a:off x="1447800" y="3638550"/>
              <a:ext cx="4000500" cy="1219200"/>
            </a:xfrm>
            <a:custGeom>
              <a:avLst/>
              <a:gdLst/>
              <a:ahLst/>
              <a:cxnLst/>
              <a:rect l="l" t="t" r="r" b="b"/>
              <a:pathLst>
                <a:path w="4000500" h="1219200">
                  <a:moveTo>
                    <a:pt x="0" y="1219200"/>
                  </a:moveTo>
                  <a:lnTo>
                    <a:pt x="114300" y="1114425"/>
                  </a:lnTo>
                  <a:lnTo>
                    <a:pt x="228600" y="1019175"/>
                  </a:lnTo>
                  <a:lnTo>
                    <a:pt x="342900" y="933450"/>
                  </a:lnTo>
                  <a:lnTo>
                    <a:pt x="457200" y="847725"/>
                  </a:lnTo>
                  <a:lnTo>
                    <a:pt x="571500" y="771525"/>
                  </a:lnTo>
                  <a:lnTo>
                    <a:pt x="685800" y="704850"/>
                  </a:lnTo>
                  <a:lnTo>
                    <a:pt x="800100" y="638175"/>
                  </a:lnTo>
                  <a:lnTo>
                    <a:pt x="914400" y="581025"/>
                  </a:lnTo>
                  <a:lnTo>
                    <a:pt x="1028700" y="523875"/>
                  </a:lnTo>
                  <a:lnTo>
                    <a:pt x="1143000" y="476250"/>
                  </a:lnTo>
                  <a:lnTo>
                    <a:pt x="1257300" y="438150"/>
                  </a:lnTo>
                  <a:lnTo>
                    <a:pt x="1371600" y="390525"/>
                  </a:lnTo>
                  <a:lnTo>
                    <a:pt x="1485900" y="352425"/>
                  </a:lnTo>
                  <a:lnTo>
                    <a:pt x="1600200" y="323850"/>
                  </a:lnTo>
                  <a:lnTo>
                    <a:pt x="1714500" y="285750"/>
                  </a:lnTo>
                  <a:lnTo>
                    <a:pt x="1828800" y="257175"/>
                  </a:lnTo>
                  <a:lnTo>
                    <a:pt x="1943100" y="238125"/>
                  </a:lnTo>
                  <a:lnTo>
                    <a:pt x="2057400" y="209550"/>
                  </a:lnTo>
                  <a:lnTo>
                    <a:pt x="2171700" y="190500"/>
                  </a:lnTo>
                  <a:lnTo>
                    <a:pt x="2286000" y="161925"/>
                  </a:lnTo>
                  <a:lnTo>
                    <a:pt x="2400300" y="142875"/>
                  </a:lnTo>
                  <a:lnTo>
                    <a:pt x="2514600" y="133350"/>
                  </a:lnTo>
                  <a:lnTo>
                    <a:pt x="2628900" y="114300"/>
                  </a:lnTo>
                  <a:lnTo>
                    <a:pt x="2743200" y="95250"/>
                  </a:lnTo>
                  <a:lnTo>
                    <a:pt x="2857500" y="85725"/>
                  </a:lnTo>
                  <a:lnTo>
                    <a:pt x="2971800" y="76200"/>
                  </a:lnTo>
                  <a:lnTo>
                    <a:pt x="3086100" y="66675"/>
                  </a:lnTo>
                  <a:lnTo>
                    <a:pt x="3200400" y="47625"/>
                  </a:lnTo>
                  <a:lnTo>
                    <a:pt x="3314700" y="38100"/>
                  </a:lnTo>
                  <a:lnTo>
                    <a:pt x="3429000" y="38100"/>
                  </a:lnTo>
                  <a:lnTo>
                    <a:pt x="3543300" y="28575"/>
                  </a:lnTo>
                  <a:lnTo>
                    <a:pt x="3657600" y="19050"/>
                  </a:lnTo>
                  <a:lnTo>
                    <a:pt x="3771900" y="9525"/>
                  </a:lnTo>
                  <a:lnTo>
                    <a:pt x="3886200" y="9525"/>
                  </a:lnTo>
                  <a:lnTo>
                    <a:pt x="4000500" y="0"/>
                  </a:lnTo>
                </a:path>
              </a:pathLst>
            </a:custGeom>
            <a:noFill/>
            <a:ln w="23812" cap="rnd">
              <a:solidFill>
                <a:schemeClr val="accent2"/>
              </a:solidFill>
              <a:round/>
            </a:ln>
          </p:spPr>
        </p:sp>
        <p:sp>
          <p:nvSpPr>
            <p:cNvPr id="17" name="Ellipse 17"/>
            <p:cNvSpPr/>
            <p:nvPr/>
          </p:nvSpPr>
          <p:spPr>
            <a:xfrm>
              <a:off x="4343400" y="3667125"/>
              <a:ext cx="95250" cy="95250"/>
            </a:xfrm>
            <a:prstGeom prst="ellipse">
              <a:avLst/>
            </a:prstGeom>
            <a:solidFill>
              <a:srgbClr val="48C78E"/>
            </a:solidFill>
            <a:ln>
              <a:noFill/>
            </a:ln>
          </p:spPr>
        </p:sp>
        <p:sp>
          <p:nvSpPr>
            <p:cNvPr id="18" name="Line 18"/>
            <p:cNvSpPr/>
            <p:nvPr/>
          </p:nvSpPr>
          <p:spPr>
            <a:xfrm>
              <a:off x="4391025" y="3714750"/>
              <a:ext cx="9525" cy="1143000"/>
            </a:xfrm>
            <a:custGeom>
              <a:avLst/>
              <a:gdLst/>
              <a:ahLst/>
              <a:cxnLst/>
              <a:rect l="l" t="t" r="r" b="b"/>
              <a:pathLst>
                <a:path w="9525" h="1143000">
                  <a:moveTo>
                    <a:pt x="0" y="0"/>
                  </a:moveTo>
                  <a:lnTo>
                    <a:pt x="0" y="1143000"/>
                  </a:lnTo>
                </a:path>
              </a:pathLst>
            </a:custGeom>
            <a:noFill/>
            <a:ln w="9525" cap="rnd">
              <a:solidFill>
                <a:srgbClr val="48C78E"/>
              </a:solidFill>
              <a:custDash>
                <a:ds d="300000" sp="300000"/>
              </a:custDash>
            </a:ln>
          </p:spPr>
        </p:sp>
        <p:sp>
          <p:nvSpPr>
            <p:cNvPr id="19" name="TextBox 19"/>
            <p:cNvSpPr txBox="1"/>
            <p:nvPr/>
          </p:nvSpPr>
          <p:spPr>
            <a:xfrm>
              <a:off x="4033238" y="3503295"/>
              <a:ext cx="715573" cy="176212"/>
            </a:xfrm>
            <a:prstGeom prst="rect">
              <a:avLst/>
            </a:prstGeom>
            <a:noFill/>
            <a:ln>
              <a:noFill/>
            </a:ln>
          </p:spPr>
          <p:txBody>
            <a:bodyPr wrap="none" lIns="0" tIns="0" rIns="0" bIns="0" anchor="t" anchorCtr="0">
              <a:spAutoFit/>
            </a:bodyPr>
            <a:lstStyle/>
            <a:p>
              <a:pPr algn="ctr"/>
              <a:r>
                <a:rPr lang="en-US" sz="900" b="1" dirty="0">
                  <a:solidFill>
                    <a:srgbClr val="48C78E"/>
                  </a:solidFill>
                  <a:latin typeface="+mn-lt"/>
                  <a:ea typeface="+mn-ea"/>
                  <a:cs typeface="+mn-cs"/>
                </a:rPr>
                <a:t>~1000 units</a:t>
              </a:r>
            </a:p>
          </p:txBody>
        </p:sp>
        <p:sp>
          <p:nvSpPr>
            <p:cNvPr id="20" name="TextBox 20"/>
            <p:cNvSpPr txBox="1"/>
            <p:nvPr/>
          </p:nvSpPr>
          <p:spPr>
            <a:xfrm>
              <a:off x="871156" y="5453301"/>
              <a:ext cx="3848231" cy="198025"/>
            </a:xfrm>
            <a:prstGeom prst="rect">
              <a:avLst/>
            </a:prstGeom>
            <a:noFill/>
            <a:ln>
              <a:noFill/>
            </a:ln>
          </p:spPr>
          <p:txBody>
            <a:bodyPr wrap="none" lIns="0" tIns="0" rIns="0" bIns="0" anchor="t" anchorCtr="0">
              <a:spAutoFit/>
            </a:bodyPr>
            <a:lstStyle/>
            <a:p>
              <a:pPr algn="l"/>
              <a:r>
                <a:rPr lang="en-US" sz="1010" b="1" dirty="0">
                  <a:solidFill>
                    <a:srgbClr val="34D3C0"/>
                  </a:solidFill>
                  <a:latin typeface="+mn-lt"/>
                  <a:ea typeface="+mn-ea"/>
                  <a:cs typeface="+mn-cs"/>
                </a:rPr>
                <a:t>More policy capacity is the single most consistent win.</a:t>
              </a:r>
            </a:p>
          </p:txBody>
        </p:sp>
      </p:grpSp>
      <p:grpSp>
        <p:nvGrpSpPr>
          <p:cNvPr id="35" name="Group 35"/>
          <p:cNvGrpSpPr/>
          <p:nvPr/>
        </p:nvGrpSpPr>
        <p:grpSpPr>
          <a:xfrm>
            <a:off x="6210300" y="1504950"/>
            <a:ext cx="5372100" cy="1809750"/>
            <a:chOff x="6210300" y="1504950"/>
            <a:chExt cx="5372100" cy="1809750"/>
          </a:xfrm>
        </p:grpSpPr>
        <p:sp>
          <p:nvSpPr>
            <p:cNvPr id="22" name="Rectangle 22"/>
            <p:cNvSpPr/>
            <p:nvPr/>
          </p:nvSpPr>
          <p:spPr>
            <a:xfrm>
              <a:off x="6210300" y="1504950"/>
              <a:ext cx="5372100" cy="1809750"/>
            </a:xfrm>
            <a:prstGeom prst="roundRect">
              <a:avLst>
                <a:gd name="adj" fmla="val 7368"/>
              </a:avLst>
            </a:prstGeom>
            <a:solidFill>
              <a:schemeClr val="accent5"/>
            </a:solidFill>
            <a:ln w="14288">
              <a:solidFill>
                <a:srgbClr val="26455F"/>
              </a:solidFill>
            </a:ln>
          </p:spPr>
        </p:sp>
        <p:sp>
          <p:nvSpPr>
            <p:cNvPr id="23" name="Rectangle 23"/>
            <p:cNvSpPr/>
            <p:nvPr/>
          </p:nvSpPr>
          <p:spPr>
            <a:xfrm>
              <a:off x="6210300" y="1504950"/>
              <a:ext cx="57150" cy="1809750"/>
            </a:xfrm>
            <a:prstGeom prst="roundRect">
              <a:avLst>
                <a:gd name="adj" fmla="val 50000"/>
              </a:avLst>
            </a:prstGeom>
            <a:solidFill>
              <a:srgbClr val="F2C14E"/>
            </a:solidFill>
            <a:ln>
              <a:noFill/>
            </a:ln>
          </p:spPr>
        </p:sp>
        <p:sp>
          <p:nvSpPr>
            <p:cNvPr id="24" name="TextBox 24"/>
            <p:cNvSpPr txBox="1"/>
            <p:nvPr/>
          </p:nvSpPr>
          <p:spPr>
            <a:xfrm>
              <a:off x="6471094" y="1741408"/>
              <a:ext cx="3493537"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2 · Regularization: dropout is not universal</a:t>
              </a:r>
            </a:p>
          </p:txBody>
        </p:sp>
        <p:sp>
          <p:nvSpPr>
            <p:cNvPr id="25" name="Ellipse 25"/>
            <p:cNvSpPr/>
            <p:nvPr/>
          </p:nvSpPr>
          <p:spPr>
            <a:xfrm>
              <a:off x="6477000" y="2038350"/>
              <a:ext cx="209550" cy="209550"/>
            </a:xfrm>
            <a:prstGeom prst="ellipse">
              <a:avLst/>
            </a:prstGeom>
            <a:noFill/>
            <a:ln w="17145">
              <a:solidFill>
                <a:srgbClr val="48C78E"/>
              </a:solidFill>
            </a:ln>
          </p:spPr>
        </p:sp>
        <p:sp>
          <p:nvSpPr>
            <p:cNvPr id="26" name="TextBox 26"/>
            <p:cNvSpPr txBox="1"/>
            <p:nvPr/>
          </p:nvSpPr>
          <p:spPr>
            <a:xfrm>
              <a:off x="6529033" y="2061210"/>
              <a:ext cx="105484" cy="234696"/>
            </a:xfrm>
            <a:prstGeom prst="rect">
              <a:avLst/>
            </a:prstGeom>
            <a:noFill/>
            <a:ln>
              <a:noFill/>
            </a:ln>
          </p:spPr>
          <p:txBody>
            <a:bodyPr wrap="none" lIns="0" tIns="0" rIns="0" bIns="0" anchor="t" anchorCtr="0">
              <a:spAutoFit/>
            </a:bodyPr>
            <a:lstStyle/>
            <a:p>
              <a:pPr algn="ctr"/>
              <a:r>
                <a:rPr lang="en-US" sz="1200" b="1" dirty="0">
                  <a:solidFill>
                    <a:srgbClr val="48C78E"/>
                  </a:solidFill>
                  <a:latin typeface="+mn-lt"/>
                  <a:ea typeface="+mn-ea"/>
                  <a:cs typeface="+mn-cs"/>
                </a:rPr>
                <a:t>+</a:t>
              </a:r>
            </a:p>
          </p:txBody>
        </p:sp>
        <p:sp>
          <p:nvSpPr>
            <p:cNvPr id="27" name="TextBox 27"/>
            <p:cNvSpPr txBox="1"/>
            <p:nvPr/>
          </p:nvSpPr>
          <p:spPr>
            <a:xfrm>
              <a:off x="6776656" y="2081451"/>
              <a:ext cx="3101139"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helps kitchen-complete (small human demos)</a:t>
              </a:r>
            </a:p>
          </p:txBody>
        </p:sp>
        <p:sp>
          <p:nvSpPr>
            <p:cNvPr id="28" name="Ellipse 28"/>
            <p:cNvSpPr/>
            <p:nvPr/>
          </p:nvSpPr>
          <p:spPr>
            <a:xfrm>
              <a:off x="6477000" y="2381250"/>
              <a:ext cx="209550" cy="209550"/>
            </a:xfrm>
            <a:prstGeom prst="ellipse">
              <a:avLst/>
            </a:prstGeom>
            <a:noFill/>
            <a:ln w="17145">
              <a:solidFill>
                <a:srgbClr val="F2685C"/>
              </a:solidFill>
            </a:ln>
          </p:spPr>
        </p:sp>
        <p:sp>
          <p:nvSpPr>
            <p:cNvPr id="29" name="TextBox 29"/>
            <p:cNvSpPr txBox="1"/>
            <p:nvPr/>
          </p:nvSpPr>
          <p:spPr>
            <a:xfrm>
              <a:off x="6529033" y="2404110"/>
              <a:ext cx="105484" cy="234696"/>
            </a:xfrm>
            <a:prstGeom prst="rect">
              <a:avLst/>
            </a:prstGeom>
            <a:noFill/>
            <a:ln>
              <a:noFill/>
            </a:ln>
          </p:spPr>
          <p:txBody>
            <a:bodyPr wrap="none" lIns="0" tIns="0" rIns="0" bIns="0" anchor="t" anchorCtr="0">
              <a:spAutoFit/>
            </a:bodyPr>
            <a:lstStyle/>
            <a:p>
              <a:pPr algn="ctr"/>
              <a:r>
                <a:rPr lang="en-US" sz="1200" b="1" dirty="0">
                  <a:solidFill>
                    <a:srgbClr val="F2685C"/>
                  </a:solidFill>
                  <a:latin typeface="+mn-lt"/>
                  <a:ea typeface="+mn-ea"/>
                  <a:cs typeface="+mn-cs"/>
                </a:rPr>
                <a:t>-</a:t>
              </a:r>
            </a:p>
          </p:txBody>
        </p:sp>
        <p:sp>
          <p:nvSpPr>
            <p:cNvPr id="30" name="TextBox 30"/>
            <p:cNvSpPr txBox="1"/>
            <p:nvPr/>
          </p:nvSpPr>
          <p:spPr>
            <a:xfrm>
              <a:off x="6776656" y="2424351"/>
              <a:ext cx="2037543"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hurts hopper-medium-expert</a:t>
              </a:r>
            </a:p>
          </p:txBody>
        </p:sp>
        <p:sp>
          <p:nvSpPr>
            <p:cNvPr id="31" name="Ellipse 31"/>
            <p:cNvSpPr/>
            <p:nvPr/>
          </p:nvSpPr>
          <p:spPr>
            <a:xfrm>
              <a:off x="6477000" y="2724150"/>
              <a:ext cx="209550" cy="209550"/>
            </a:xfrm>
            <a:prstGeom prst="ellipse">
              <a:avLst/>
            </a:prstGeom>
            <a:noFill/>
            <a:ln w="17145">
              <a:solidFill>
                <a:srgbClr val="F2685C"/>
              </a:solidFill>
            </a:ln>
          </p:spPr>
        </p:sp>
        <p:sp>
          <p:nvSpPr>
            <p:cNvPr id="32" name="TextBox 32"/>
            <p:cNvSpPr txBox="1"/>
            <p:nvPr/>
          </p:nvSpPr>
          <p:spPr>
            <a:xfrm>
              <a:off x="6529033" y="2747010"/>
              <a:ext cx="105484" cy="234696"/>
            </a:xfrm>
            <a:prstGeom prst="rect">
              <a:avLst/>
            </a:prstGeom>
            <a:noFill/>
            <a:ln>
              <a:noFill/>
            </a:ln>
          </p:spPr>
          <p:txBody>
            <a:bodyPr wrap="none" lIns="0" tIns="0" rIns="0" bIns="0" anchor="t" anchorCtr="0">
              <a:spAutoFit/>
            </a:bodyPr>
            <a:lstStyle/>
            <a:p>
              <a:pPr algn="ctr"/>
              <a:r>
                <a:rPr lang="en-US" sz="1200" b="1" dirty="0">
                  <a:solidFill>
                    <a:srgbClr val="F2685C"/>
                  </a:solidFill>
                  <a:latin typeface="+mn-lt"/>
                  <a:ea typeface="+mn-ea"/>
                  <a:cs typeface="+mn-cs"/>
                </a:rPr>
                <a:t>-</a:t>
              </a:r>
            </a:p>
          </p:txBody>
        </p:sp>
        <p:sp>
          <p:nvSpPr>
            <p:cNvPr id="33" name="TextBox 33"/>
            <p:cNvSpPr txBox="1"/>
            <p:nvPr/>
          </p:nvSpPr>
          <p:spPr>
            <a:xfrm>
              <a:off x="6776656" y="2767251"/>
              <a:ext cx="1951884"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hurts antmaze-medium-play</a:t>
              </a:r>
            </a:p>
          </p:txBody>
        </p:sp>
        <p:sp>
          <p:nvSpPr>
            <p:cNvPr id="34" name="TextBox 34"/>
            <p:cNvSpPr txBox="1"/>
            <p:nvPr/>
          </p:nvSpPr>
          <p:spPr>
            <a:xfrm>
              <a:off x="6472047" y="3057049"/>
              <a:ext cx="3062225"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Add a little dropout, and only where it helps.</a:t>
              </a:r>
            </a:p>
          </p:txBody>
        </p:sp>
      </p:grpSp>
      <p:grpSp>
        <p:nvGrpSpPr>
          <p:cNvPr id="42" name="Group 42"/>
          <p:cNvGrpSpPr/>
          <p:nvPr/>
        </p:nvGrpSpPr>
        <p:grpSpPr>
          <a:xfrm>
            <a:off x="6210300" y="3467100"/>
            <a:ext cx="5372100" cy="1181100"/>
            <a:chOff x="6210300" y="3467100"/>
            <a:chExt cx="5372100" cy="1181100"/>
          </a:xfrm>
        </p:grpSpPr>
        <p:sp>
          <p:nvSpPr>
            <p:cNvPr id="36" name="Rectangle 36"/>
            <p:cNvSpPr/>
            <p:nvPr/>
          </p:nvSpPr>
          <p:spPr>
            <a:xfrm>
              <a:off x="6210300" y="3467100"/>
              <a:ext cx="5372100" cy="1181100"/>
            </a:xfrm>
            <a:prstGeom prst="roundRect">
              <a:avLst>
                <a:gd name="adj" fmla="val 11290"/>
              </a:avLst>
            </a:prstGeom>
            <a:solidFill>
              <a:schemeClr val="accent5"/>
            </a:solidFill>
            <a:ln w="14288">
              <a:solidFill>
                <a:srgbClr val="26455F"/>
              </a:solidFill>
            </a:ln>
          </p:spPr>
        </p:sp>
        <p:sp>
          <p:nvSpPr>
            <p:cNvPr id="37" name="Rectangle 37"/>
            <p:cNvSpPr/>
            <p:nvPr/>
          </p:nvSpPr>
          <p:spPr>
            <a:xfrm>
              <a:off x="6210300" y="3467100"/>
              <a:ext cx="57150" cy="1181100"/>
            </a:xfrm>
            <a:prstGeom prst="roundRect">
              <a:avLst>
                <a:gd name="adj" fmla="val 50000"/>
              </a:avLst>
            </a:prstGeom>
            <a:solidFill>
              <a:srgbClr val="34D3C0"/>
            </a:solidFill>
            <a:ln>
              <a:noFill/>
            </a:ln>
          </p:spPr>
        </p:sp>
        <p:sp>
          <p:nvSpPr>
            <p:cNvPr id="38" name="TextBox 38"/>
            <p:cNvSpPr txBox="1"/>
            <p:nvPr/>
          </p:nvSpPr>
          <p:spPr>
            <a:xfrm>
              <a:off x="6471094" y="3684508"/>
              <a:ext cx="1878691"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3 · Output distribution</a:t>
              </a:r>
            </a:p>
          </p:txBody>
        </p:sp>
        <p:sp>
          <p:nvSpPr>
            <p:cNvPr id="39" name="TextBox 39"/>
            <p:cNvSpPr txBox="1"/>
            <p:nvPr/>
          </p:nvSpPr>
          <p:spPr>
            <a:xfrm>
              <a:off x="6471666" y="3982402"/>
              <a:ext cx="352048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categorical distribution over discretized actions</a:t>
              </a:r>
            </a:p>
          </p:txBody>
        </p:sp>
        <p:sp>
          <p:nvSpPr>
            <p:cNvPr id="40" name="TextBox 40"/>
            <p:cNvSpPr txBox="1"/>
            <p:nvPr/>
          </p:nvSpPr>
          <p:spPr>
            <a:xfrm>
              <a:off x="6471666" y="4191952"/>
              <a:ext cx="417617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matches or beats a unimodal Gaussian across the GCSL tasks</a:t>
              </a:r>
            </a:p>
          </p:txBody>
        </p:sp>
        <p:sp>
          <p:nvSpPr>
            <p:cNvPr id="41" name="TextBox 41"/>
            <p:cNvSpPr txBox="1"/>
            <p:nvPr/>
          </p:nvSpPr>
          <p:spPr>
            <a:xfrm>
              <a:off x="6471666" y="4401502"/>
              <a:ext cx="157259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 more capacity again.</a:t>
              </a:r>
            </a:p>
          </p:txBody>
        </p:sp>
      </p:grpSp>
      <p:grpSp>
        <p:nvGrpSpPr>
          <p:cNvPr id="48" name="Group 48"/>
          <p:cNvGrpSpPr/>
          <p:nvPr/>
        </p:nvGrpSpPr>
        <p:grpSpPr>
          <a:xfrm>
            <a:off x="6210300" y="4800600"/>
            <a:ext cx="5372100" cy="971550"/>
            <a:chOff x="6210300" y="4800600"/>
            <a:chExt cx="5372100" cy="971550"/>
          </a:xfrm>
        </p:grpSpPr>
        <p:sp>
          <p:nvSpPr>
            <p:cNvPr id="43" name="Rectangle 43"/>
            <p:cNvSpPr/>
            <p:nvPr/>
          </p:nvSpPr>
          <p:spPr>
            <a:xfrm>
              <a:off x="6210300" y="4800600"/>
              <a:ext cx="5372100" cy="971550"/>
            </a:xfrm>
            <a:prstGeom prst="roundRect">
              <a:avLst>
                <a:gd name="adj" fmla="val 13725"/>
              </a:avLst>
            </a:prstGeom>
            <a:solidFill>
              <a:srgbClr val="2A2417"/>
            </a:solidFill>
            <a:ln w="14288">
              <a:solidFill>
                <a:srgbClr val="F2C14E"/>
              </a:solidFill>
            </a:ln>
          </p:spPr>
        </p:sp>
        <p:sp>
          <p:nvSpPr>
            <p:cNvPr id="44" name="Rectangle 44"/>
            <p:cNvSpPr/>
            <p:nvPr/>
          </p:nvSpPr>
          <p:spPr>
            <a:xfrm>
              <a:off x="6210300" y="4800600"/>
              <a:ext cx="57150" cy="971550"/>
            </a:xfrm>
            <a:prstGeom prst="roundRect">
              <a:avLst>
                <a:gd name="adj" fmla="val 50000"/>
              </a:avLst>
            </a:prstGeom>
            <a:solidFill>
              <a:srgbClr val="F2C14E"/>
            </a:solidFill>
            <a:ln>
              <a:noFill/>
            </a:ln>
          </p:spPr>
        </p:sp>
        <p:sp>
          <p:nvSpPr>
            <p:cNvPr id="45" name="TextBox 45"/>
            <p:cNvSpPr txBox="1"/>
            <p:nvPr/>
          </p:nvSpPr>
          <p:spPr>
            <a:xfrm>
              <a:off x="6471094" y="5018008"/>
              <a:ext cx="2722941"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4 · Validation loss is a weak signal</a:t>
              </a:r>
            </a:p>
          </p:txBody>
        </p:sp>
        <p:sp>
          <p:nvSpPr>
            <p:cNvPr id="46" name="TextBox 46"/>
            <p:cNvSpPr txBox="1"/>
            <p:nvPr/>
          </p:nvSpPr>
          <p:spPr>
            <a:xfrm>
              <a:off x="6471666" y="5315902"/>
              <a:ext cx="378230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It correlates only loosely with final performance — not</a:t>
              </a:r>
            </a:p>
          </p:txBody>
        </p:sp>
        <p:sp>
          <p:nvSpPr>
            <p:cNvPr id="47" name="TextBox 47"/>
            <p:cNvSpPr txBox="1"/>
            <p:nvPr/>
          </p:nvSpPr>
          <p:spPr>
            <a:xfrm>
              <a:off x="6471666" y="5525452"/>
              <a:ext cx="209559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reliable for tuning on its own.</a:t>
              </a:r>
            </a:p>
          </p:txBody>
        </p:sp>
      </p:grpSp>
      <p:sp>
        <p:nvSpPr>
          <p:cNvPr id="49" name="cue_s08_c1_ablations_pin_down_what_actually" title="cue_s08_c1_ablations_pin_down_what_actually" descr="cue_s08_c1_ablations_pin_down_what_actually The ablations pin down what actually matters. First, capacity: the best architectures are notably larger than those used in standard online RL or imitation learning, and widening the network up to about a thousand hidden units generally helps."/>
          <p:cNvSpPr/>
          <p:nvPr/>
        </p:nvSpPr>
        <p:spPr>
          <a:xfrm>
            <a:off x="609600" y="1504645"/>
            <a:ext cx="5371795" cy="42670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8_c2_second_regularization_dropout_not_un" title="cue_s08_c2_second_regularization_dropout_not_un" descr="cue_s08_c2_second_regularization_dropout_not_un Second, regularization: dropout is not universally good. It boosts performance on the small, human-demonstration kitchen-complete dataset, but it hurts on hopper-medium-expert and on antmaze-medium-play."/>
          <p:cNvSpPr/>
          <p:nvPr/>
        </p:nvSpPr>
        <p:spPr>
          <a:xfrm>
            <a:off x="6210604" y="1504645"/>
            <a:ext cx="5371795" cy="18098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8_c3_third_output_distribution_categorica" title="cue_s08_c3_third_output_distribution_categorica" descr="cue_s08_c3_third_output_distribution_categorica Third, the output distribution: a categorical distribution over discretized actions matches or beats a unimodal Gaussian across the GCSL tasks, which fits the broader theme that more policy capacity helps."/>
          <p:cNvSpPr/>
          <p:nvPr/>
        </p:nvSpPr>
        <p:spPr>
          <a:xfrm>
            <a:off x="6210604" y="3467404"/>
            <a:ext cx="5371795" cy="11809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8_c4_finally_validation_loss_correlates_o" title="cue_s08_c4_finally_validation_loss_correlates_o" descr="cue_s08_c4_finally_validation_loss_correlates_o Finally, validation loss correlates only loosely with final performance, so it is not a reliable tuning signal on its own."/>
          <p:cNvSpPr/>
          <p:nvPr/>
        </p:nvSpPr>
        <p:spPr>
          <a:xfrm>
            <a:off x="6210604" y="4800600"/>
            <a:ext cx="5371795" cy="9717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429464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practitioner's field guide</a:t>
            </a:r>
          </a:p>
        </p:txBody>
      </p:sp>
      <p:grpSp>
        <p:nvGrpSpPr>
          <p:cNvPr id="9" name="Group 9"/>
          <p:cNvGrpSpPr/>
          <p:nvPr/>
        </p:nvGrpSpPr>
        <p:grpSpPr>
          <a:xfrm>
            <a:off x="609600" y="1504950"/>
            <a:ext cx="10972800" cy="685800"/>
            <a:chOff x="609600" y="1504950"/>
            <a:chExt cx="10972800" cy="685800"/>
          </a:xfrm>
        </p:grpSpPr>
        <p:sp>
          <p:nvSpPr>
            <p:cNvPr id="5" name="Rectangle 5"/>
            <p:cNvSpPr/>
            <p:nvPr/>
          </p:nvSpPr>
          <p:spPr>
            <a:xfrm>
              <a:off x="609600" y="1504950"/>
              <a:ext cx="10972800" cy="685800"/>
            </a:xfrm>
            <a:prstGeom prst="roundRect">
              <a:avLst>
                <a:gd name="adj" fmla="val 19444"/>
              </a:avLst>
            </a:prstGeom>
            <a:solidFill>
              <a:schemeClr val="accent5"/>
            </a:solidFill>
            <a:ln w="14288">
              <a:solidFill>
                <a:srgbClr val="26455F"/>
              </a:solidFill>
            </a:ln>
          </p:spPr>
        </p:sp>
        <p:sp>
          <p:nvSpPr>
            <p:cNvPr id="6" name="Rectangle 6"/>
            <p:cNvSpPr/>
            <p:nvPr/>
          </p:nvSpPr>
          <p:spPr>
            <a:xfrm>
              <a:off x="609600" y="1504950"/>
              <a:ext cx="57150" cy="685800"/>
            </a:xfrm>
            <a:prstGeom prst="roundRect">
              <a:avLst>
                <a:gd name="adj" fmla="val 50000"/>
              </a:avLst>
            </a:prstGeom>
            <a:solidFill>
              <a:srgbClr val="48C78E"/>
            </a:solidFill>
            <a:ln>
              <a:noFill/>
            </a:ln>
          </p:spPr>
        </p:sp>
        <p:sp>
          <p:nvSpPr>
            <p:cNvPr id="7" name="TextBox 7"/>
            <p:cNvSpPr txBox="1"/>
            <p:nvPr/>
          </p:nvSpPr>
          <p:spPr>
            <a:xfrm>
              <a:off x="869823" y="1691164"/>
              <a:ext cx="4819916"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You do not need advantage weighting or a Transformer</a:t>
              </a:r>
            </a:p>
          </p:txBody>
        </p:sp>
        <p:sp>
          <p:nvSpPr>
            <p:cNvPr id="8" name="TextBox 8"/>
            <p:cNvSpPr txBox="1"/>
            <p:nvPr/>
          </p:nvSpPr>
          <p:spPr>
            <a:xfrm>
              <a:off x="870585" y="1935956"/>
              <a:ext cx="694723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Plain supervised learning, done right, is competitive with the state of the art for offline RL.</a:t>
              </a:r>
            </a:p>
          </p:txBody>
        </p:sp>
      </p:grpSp>
      <p:grpSp>
        <p:nvGrpSpPr>
          <p:cNvPr id="20" name="Group 20"/>
          <p:cNvGrpSpPr/>
          <p:nvPr/>
        </p:nvGrpSpPr>
        <p:grpSpPr>
          <a:xfrm>
            <a:off x="609600" y="2343150"/>
            <a:ext cx="5372100" cy="1600200"/>
            <a:chOff x="609600" y="2343150"/>
            <a:chExt cx="5372100" cy="1600200"/>
          </a:xfrm>
        </p:grpSpPr>
        <p:sp>
          <p:nvSpPr>
            <p:cNvPr id="10" name="Rectangle 10"/>
            <p:cNvSpPr/>
            <p:nvPr/>
          </p:nvSpPr>
          <p:spPr>
            <a:xfrm>
              <a:off x="609600" y="2343150"/>
              <a:ext cx="5372100" cy="1600200"/>
            </a:xfrm>
            <a:prstGeom prst="roundRect">
              <a:avLst>
                <a:gd name="adj" fmla="val 8333"/>
              </a:avLst>
            </a:prstGeom>
            <a:solidFill>
              <a:schemeClr val="accent5"/>
            </a:solidFill>
            <a:ln w="14288">
              <a:solidFill>
                <a:srgbClr val="26455F"/>
              </a:solidFill>
            </a:ln>
          </p:spPr>
        </p:sp>
        <p:sp>
          <p:nvSpPr>
            <p:cNvPr id="11" name="Rectangle 11"/>
            <p:cNvSpPr/>
            <p:nvPr/>
          </p:nvSpPr>
          <p:spPr>
            <a:xfrm>
              <a:off x="609600" y="2343150"/>
              <a:ext cx="57150" cy="1600200"/>
            </a:xfrm>
            <a:prstGeom prst="roundRect">
              <a:avLst>
                <a:gd name="adj" fmla="val 50000"/>
              </a:avLst>
            </a:prstGeom>
            <a:solidFill>
              <a:schemeClr val="accent2"/>
            </a:solidFill>
            <a:ln>
              <a:noFill/>
            </a:ln>
          </p:spPr>
        </p:sp>
        <p:sp>
          <p:nvSpPr>
            <p:cNvPr id="12" name="TextBox 12"/>
            <p:cNvSpPr txBox="1"/>
            <p:nvPr/>
          </p:nvSpPr>
          <p:spPr>
            <a:xfrm>
              <a:off x="870204" y="2575560"/>
              <a:ext cx="1705542"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Get two things right</a:t>
              </a:r>
            </a:p>
          </p:txBody>
        </p:sp>
        <p:sp>
          <p:nvSpPr>
            <p:cNvPr id="13" name="Rectangle 13"/>
            <p:cNvSpPr/>
            <p:nvPr/>
          </p:nvSpPr>
          <p:spPr>
            <a:xfrm>
              <a:off x="876300" y="2876550"/>
              <a:ext cx="4838700" cy="361950"/>
            </a:xfrm>
            <a:prstGeom prst="roundRect">
              <a:avLst>
                <a:gd name="adj" fmla="val 21053"/>
              </a:avLst>
            </a:prstGeom>
            <a:solidFill>
              <a:schemeClr val="accent6"/>
            </a:solidFill>
            <a:ln w="14288">
              <a:solidFill>
                <a:srgbClr val="26455F"/>
              </a:solidFill>
            </a:ln>
          </p:spPr>
        </p:sp>
        <p:sp>
          <p:nvSpPr>
            <p:cNvPr id="14" name="Ellipse 14"/>
            <p:cNvSpPr/>
            <p:nvPr/>
          </p:nvSpPr>
          <p:spPr>
            <a:xfrm>
              <a:off x="1000125" y="3009900"/>
              <a:ext cx="95250" cy="95250"/>
            </a:xfrm>
            <a:prstGeom prst="ellipse">
              <a:avLst/>
            </a:prstGeom>
            <a:solidFill>
              <a:schemeClr val="accent2"/>
            </a:solidFill>
            <a:ln>
              <a:noFill/>
            </a:ln>
          </p:spPr>
        </p:sp>
        <p:sp>
          <p:nvSpPr>
            <p:cNvPr id="15" name="TextBox 15"/>
            <p:cNvSpPr txBox="1"/>
            <p:nvPr/>
          </p:nvSpPr>
          <p:spPr>
            <a:xfrm>
              <a:off x="1194816" y="2991802"/>
              <a:ext cx="2649908"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Tune model capacity &amp; regularization</a:t>
              </a:r>
            </a:p>
          </p:txBody>
        </p:sp>
        <p:sp>
          <p:nvSpPr>
            <p:cNvPr id="16" name="Rectangle 16"/>
            <p:cNvSpPr/>
            <p:nvPr/>
          </p:nvSpPr>
          <p:spPr>
            <a:xfrm>
              <a:off x="876300" y="3314700"/>
              <a:ext cx="4838700" cy="361950"/>
            </a:xfrm>
            <a:prstGeom prst="roundRect">
              <a:avLst>
                <a:gd name="adj" fmla="val 21053"/>
              </a:avLst>
            </a:prstGeom>
            <a:solidFill>
              <a:schemeClr val="accent6"/>
            </a:solidFill>
            <a:ln w="14288">
              <a:solidFill>
                <a:srgbClr val="26455F"/>
              </a:solidFill>
            </a:ln>
          </p:spPr>
        </p:sp>
        <p:sp>
          <p:nvSpPr>
            <p:cNvPr id="17" name="Ellipse 17"/>
            <p:cNvSpPr/>
            <p:nvPr/>
          </p:nvSpPr>
          <p:spPr>
            <a:xfrm>
              <a:off x="1000125" y="3448050"/>
              <a:ext cx="95250" cy="95250"/>
            </a:xfrm>
            <a:prstGeom prst="ellipse">
              <a:avLst/>
            </a:prstGeom>
            <a:solidFill>
              <a:srgbClr val="34D3C0"/>
            </a:solidFill>
            <a:ln>
              <a:noFill/>
            </a:ln>
          </p:spPr>
        </p:sp>
        <p:sp>
          <p:nvSpPr>
            <p:cNvPr id="18" name="TextBox 18"/>
            <p:cNvSpPr txBox="1"/>
            <p:nvPr/>
          </p:nvSpPr>
          <p:spPr>
            <a:xfrm>
              <a:off x="1194816" y="3429952"/>
              <a:ext cx="3377491"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Choose what to condition on: goals or rewards</a:t>
              </a:r>
            </a:p>
          </p:txBody>
        </p:sp>
        <p:sp>
          <p:nvSpPr>
            <p:cNvPr id="19" name="TextBox 19"/>
            <p:cNvSpPr txBox="1"/>
            <p:nvPr/>
          </p:nvSpPr>
          <p:spPr>
            <a:xfrm>
              <a:off x="871156" y="3681651"/>
              <a:ext cx="4013458"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A two-layer MLP trained by max-likelihood does the rest.</a:t>
              </a:r>
            </a:p>
          </p:txBody>
        </p:sp>
      </p:grpSp>
      <p:grpSp>
        <p:nvGrpSpPr>
          <p:cNvPr id="31" name="Group 31"/>
          <p:cNvGrpSpPr/>
          <p:nvPr/>
        </p:nvGrpSpPr>
        <p:grpSpPr>
          <a:xfrm>
            <a:off x="6210300" y="2343150"/>
            <a:ext cx="5372100" cy="1600200"/>
            <a:chOff x="6210300" y="2343150"/>
            <a:chExt cx="5372100" cy="1600200"/>
          </a:xfrm>
        </p:grpSpPr>
        <p:sp>
          <p:nvSpPr>
            <p:cNvPr id="21" name="Rectangle 21"/>
            <p:cNvSpPr/>
            <p:nvPr/>
          </p:nvSpPr>
          <p:spPr>
            <a:xfrm>
              <a:off x="6210300" y="2343150"/>
              <a:ext cx="5372100" cy="1600200"/>
            </a:xfrm>
            <a:prstGeom prst="roundRect">
              <a:avLst>
                <a:gd name="adj" fmla="val 8333"/>
              </a:avLst>
            </a:prstGeom>
            <a:solidFill>
              <a:srgbClr val="0F2E2B"/>
            </a:solidFill>
            <a:ln w="14288">
              <a:solidFill>
                <a:srgbClr val="34D3C0"/>
              </a:solidFill>
            </a:ln>
          </p:spPr>
        </p:sp>
        <p:sp>
          <p:nvSpPr>
            <p:cNvPr id="22" name="Rectangle 22"/>
            <p:cNvSpPr/>
            <p:nvPr/>
          </p:nvSpPr>
          <p:spPr>
            <a:xfrm>
              <a:off x="6210300" y="2343150"/>
              <a:ext cx="57150" cy="1600200"/>
            </a:xfrm>
            <a:prstGeom prst="roundRect">
              <a:avLst>
                <a:gd name="adj" fmla="val 50000"/>
              </a:avLst>
            </a:prstGeom>
            <a:solidFill>
              <a:srgbClr val="34D3C0"/>
            </a:solidFill>
            <a:ln>
              <a:noFill/>
            </a:ln>
          </p:spPr>
        </p:sp>
        <p:sp>
          <p:nvSpPr>
            <p:cNvPr id="23" name="TextBox 23"/>
            <p:cNvSpPr txBox="1"/>
            <p:nvPr/>
          </p:nvSpPr>
          <p:spPr>
            <a:xfrm>
              <a:off x="6470904" y="2575560"/>
              <a:ext cx="1662996"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The concrete recipe</a:t>
              </a:r>
            </a:p>
          </p:txBody>
        </p:sp>
        <p:sp>
          <p:nvSpPr>
            <p:cNvPr id="24" name="Ellipse 24"/>
            <p:cNvSpPr/>
            <p:nvPr/>
          </p:nvSpPr>
          <p:spPr>
            <a:xfrm>
              <a:off x="6477000" y="2819400"/>
              <a:ext cx="247650" cy="247650"/>
            </a:xfrm>
            <a:prstGeom prst="ellipse">
              <a:avLst/>
            </a:prstGeom>
            <a:noFill/>
            <a:ln w="17145">
              <a:solidFill>
                <a:srgbClr val="34D3C0"/>
              </a:solidFill>
            </a:ln>
          </p:spPr>
        </p:sp>
        <p:sp>
          <p:nvSpPr>
            <p:cNvPr id="25" name="TextBox 25"/>
            <p:cNvSpPr txBox="1"/>
            <p:nvPr/>
          </p:nvSpPr>
          <p:spPr>
            <a:xfrm>
              <a:off x="6554676" y="2887028"/>
              <a:ext cx="92298" cy="205359"/>
            </a:xfrm>
            <a:prstGeom prst="rect">
              <a:avLst/>
            </a:prstGeom>
            <a:noFill/>
            <a:ln>
              <a:noFill/>
            </a:ln>
          </p:spPr>
          <p:txBody>
            <a:bodyPr wrap="none" lIns="0" tIns="0" rIns="0" bIns="0" anchor="t" anchorCtr="0">
              <a:spAutoFit/>
            </a:bodyPr>
            <a:lstStyle/>
            <a:p>
              <a:pPr algn="ctr"/>
              <a:r>
                <a:rPr lang="en-US" sz="1050" b="1" dirty="0">
                  <a:solidFill>
                    <a:srgbClr val="34D3C0"/>
                  </a:solidFill>
                  <a:latin typeface="+mn-lt"/>
                  <a:ea typeface="+mn-ea"/>
                  <a:cs typeface="+mn-cs"/>
                </a:rPr>
                <a:t>1</a:t>
              </a:r>
            </a:p>
          </p:txBody>
        </p:sp>
        <p:sp>
          <p:nvSpPr>
            <p:cNvPr id="26" name="TextBox 26"/>
            <p:cNvSpPr txBox="1"/>
            <p:nvPr/>
          </p:nvSpPr>
          <p:spPr>
            <a:xfrm>
              <a:off x="6814376" y="2882979"/>
              <a:ext cx="3729325"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Grow network width until performance saturates</a:t>
              </a:r>
            </a:p>
          </p:txBody>
        </p:sp>
        <p:sp>
          <p:nvSpPr>
            <p:cNvPr id="27" name="Ellipse 27"/>
            <p:cNvSpPr/>
            <p:nvPr/>
          </p:nvSpPr>
          <p:spPr>
            <a:xfrm>
              <a:off x="6477000" y="3257550"/>
              <a:ext cx="247650" cy="247650"/>
            </a:xfrm>
            <a:prstGeom prst="ellipse">
              <a:avLst/>
            </a:prstGeom>
            <a:noFill/>
            <a:ln w="17145">
              <a:solidFill>
                <a:srgbClr val="34D3C0"/>
              </a:solidFill>
            </a:ln>
          </p:spPr>
        </p:sp>
        <p:sp>
          <p:nvSpPr>
            <p:cNvPr id="28" name="TextBox 28"/>
            <p:cNvSpPr txBox="1"/>
            <p:nvPr/>
          </p:nvSpPr>
          <p:spPr>
            <a:xfrm>
              <a:off x="6554676" y="3325178"/>
              <a:ext cx="92298" cy="205359"/>
            </a:xfrm>
            <a:prstGeom prst="rect">
              <a:avLst/>
            </a:prstGeom>
            <a:noFill/>
            <a:ln>
              <a:noFill/>
            </a:ln>
          </p:spPr>
          <p:txBody>
            <a:bodyPr wrap="none" lIns="0" tIns="0" rIns="0" bIns="0" anchor="t" anchorCtr="0">
              <a:spAutoFit/>
            </a:bodyPr>
            <a:lstStyle/>
            <a:p>
              <a:pPr algn="ctr"/>
              <a:r>
                <a:rPr lang="en-US" sz="1050" b="1" dirty="0">
                  <a:solidFill>
                    <a:srgbClr val="34D3C0"/>
                  </a:solidFill>
                  <a:latin typeface="+mn-lt"/>
                  <a:ea typeface="+mn-ea"/>
                  <a:cs typeface="+mn-cs"/>
                </a:rPr>
                <a:t>2</a:t>
              </a:r>
            </a:p>
          </p:txBody>
        </p:sp>
        <p:sp>
          <p:nvSpPr>
            <p:cNvPr id="29" name="TextBox 29"/>
            <p:cNvSpPr txBox="1"/>
            <p:nvPr/>
          </p:nvSpPr>
          <p:spPr>
            <a:xfrm>
              <a:off x="6814376" y="3321129"/>
              <a:ext cx="1864904"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Then add a little dropout</a:t>
              </a:r>
            </a:p>
          </p:txBody>
        </p:sp>
        <p:sp>
          <p:nvSpPr>
            <p:cNvPr id="30" name="TextBox 30"/>
            <p:cNvSpPr txBox="1"/>
            <p:nvPr/>
          </p:nvSpPr>
          <p:spPr>
            <a:xfrm>
              <a:off x="6471856" y="3719751"/>
              <a:ext cx="2863477"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Simple, reproducible, and cheap to tune.</a:t>
              </a:r>
            </a:p>
          </p:txBody>
        </p:sp>
      </p:grpSp>
      <p:grpSp>
        <p:nvGrpSpPr>
          <p:cNvPr id="37" name="Group 37"/>
          <p:cNvGrpSpPr/>
          <p:nvPr/>
        </p:nvGrpSpPr>
        <p:grpSpPr>
          <a:xfrm>
            <a:off x="609600" y="4133850"/>
            <a:ext cx="10972800" cy="1143000"/>
            <a:chOff x="609600" y="4133850"/>
            <a:chExt cx="10972800" cy="1143000"/>
          </a:xfrm>
        </p:grpSpPr>
        <p:sp>
          <p:nvSpPr>
            <p:cNvPr id="32" name="Rectangle 32"/>
            <p:cNvSpPr/>
            <p:nvPr/>
          </p:nvSpPr>
          <p:spPr>
            <a:xfrm>
              <a:off x="609600" y="4133850"/>
              <a:ext cx="10972800" cy="1143000"/>
            </a:xfrm>
            <a:prstGeom prst="roundRect">
              <a:avLst>
                <a:gd name="adj" fmla="val 11667"/>
              </a:avLst>
            </a:prstGeom>
            <a:solidFill>
              <a:srgbClr val="2A1720"/>
            </a:solidFill>
            <a:ln w="14288">
              <a:solidFill>
                <a:srgbClr val="F2685C"/>
              </a:solidFill>
            </a:ln>
          </p:spPr>
        </p:sp>
        <p:sp>
          <p:nvSpPr>
            <p:cNvPr id="33" name="Rectangle 33"/>
            <p:cNvSpPr/>
            <p:nvPr/>
          </p:nvSpPr>
          <p:spPr>
            <a:xfrm>
              <a:off x="609600" y="4133850"/>
              <a:ext cx="57150" cy="1143000"/>
            </a:xfrm>
            <a:prstGeom prst="roundRect">
              <a:avLst>
                <a:gd name="adj" fmla="val 50000"/>
              </a:avLst>
            </a:prstGeom>
            <a:solidFill>
              <a:srgbClr val="F2685C"/>
            </a:solidFill>
            <a:ln>
              <a:noFill/>
            </a:ln>
          </p:spPr>
        </p:sp>
        <p:sp>
          <p:nvSpPr>
            <p:cNvPr id="34" name="TextBox 34"/>
            <p:cNvSpPr txBox="1"/>
            <p:nvPr/>
          </p:nvSpPr>
          <p:spPr>
            <a:xfrm>
              <a:off x="870585" y="4374356"/>
              <a:ext cx="1579942" cy="220028"/>
            </a:xfrm>
            <a:prstGeom prst="rect">
              <a:avLst/>
            </a:prstGeom>
            <a:noFill/>
            <a:ln>
              <a:noFill/>
            </a:ln>
          </p:spPr>
          <p:txBody>
            <a:bodyPr wrap="none" lIns="0" tIns="0" rIns="0" bIns="0" anchor="t" anchorCtr="0">
              <a:spAutoFit/>
            </a:bodyPr>
            <a:lstStyle/>
            <a:p>
              <a:pPr algn="l"/>
              <a:r>
                <a:rPr lang="en-US" sz="1120" b="1" spc="75" dirty="0">
                  <a:solidFill>
                    <a:srgbClr val="F2685C"/>
                  </a:solidFill>
                  <a:latin typeface="+mn-lt"/>
                  <a:ea typeface="+mn-ea"/>
                  <a:cs typeface="+mn-cs"/>
                </a:rPr>
                <a:t>The honest caveat</a:t>
              </a:r>
            </a:p>
          </p:txBody>
        </p:sp>
        <p:sp>
          <p:nvSpPr>
            <p:cNvPr id="35" name="TextBox 35"/>
            <p:cNvSpPr txBox="1"/>
            <p:nvPr/>
          </p:nvSpPr>
          <p:spPr>
            <a:xfrm>
              <a:off x="870394" y="4656058"/>
              <a:ext cx="8457645"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On purely random data, temporal-difference methods still win — which the authors flag as an open problem for</a:t>
              </a:r>
            </a:p>
          </p:txBody>
        </p:sp>
        <p:sp>
          <p:nvSpPr>
            <p:cNvPr id="36" name="TextBox 36"/>
            <p:cNvSpPr txBox="1"/>
            <p:nvPr/>
          </p:nvSpPr>
          <p:spPr>
            <a:xfrm>
              <a:off x="870394" y="4903708"/>
              <a:ext cx="1034654" cy="227362"/>
            </a:xfrm>
            <a:prstGeom prst="rect">
              <a:avLst/>
            </a:prstGeom>
            <a:noFill/>
            <a:ln>
              <a:noFill/>
            </a:ln>
          </p:spPr>
          <p:txBody>
            <a:bodyPr wrap="none" lIns="0" tIns="0" rIns="0" bIns="0" anchor="t" anchorCtr="0">
              <a:spAutoFit/>
            </a:bodyPr>
            <a:lstStyle/>
            <a:p>
              <a:pPr algn="l"/>
              <a:r>
                <a:rPr lang="en-US" sz="1160" dirty="0">
                  <a:solidFill>
                    <a:schemeClr val="dk1"/>
                  </a:solidFill>
                  <a:latin typeface="+mn-lt"/>
                  <a:ea typeface="+mn-ea"/>
                  <a:cs typeface="+mn-cs"/>
                </a:rPr>
                <a:t>future work.</a:t>
              </a:r>
            </a:p>
          </p:txBody>
        </p:sp>
      </p:grpSp>
      <p:sp>
        <p:nvSpPr>
          <p:cNvPr id="38" name="Line 38"/>
          <p:cNvSpPr/>
          <p:nvPr/>
        </p:nvSpPr>
        <p:spPr>
          <a:xfrm>
            <a:off x="609600" y="55626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9" name="TextBox 39"/>
          <p:cNvSpPr txBox="1"/>
          <p:nvPr/>
        </p:nvSpPr>
        <p:spPr>
          <a:xfrm>
            <a:off x="603504" y="5737860"/>
            <a:ext cx="5194487"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RvS: What is Essential for Offline RL via Supervised Learning?</a:t>
            </a:r>
          </a:p>
        </p:txBody>
      </p:sp>
      <p:sp>
        <p:nvSpPr>
          <p:cNvPr id="40" name="TextBox 40"/>
          <p:cNvSpPr txBox="1"/>
          <p:nvPr/>
        </p:nvSpPr>
        <p:spPr>
          <a:xfrm>
            <a:off x="604456" y="6024801"/>
            <a:ext cx="4323901"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ICLR 2022 · arXiv:2112.10751 · github.com/scottemmons/rvs</a:t>
            </a:r>
          </a:p>
        </p:txBody>
      </p:sp>
      <p:sp>
        <p:nvSpPr>
          <p:cNvPr id="41" name="cue_s09_c1_takeaway_essentially_practitioner_fi" title="cue_s09_c1_takeaway_essentially_practitioner_fi" descr="cue_s09_c1_takeaway_essentially_practitioner_fi The takeaway is essentially a practitioner's field guide. You do not need advantage weighting or a Transformer to do offline RL by supervised learning."/>
          <p:cNvSpPr/>
          <p:nvPr/>
        </p:nvSpPr>
        <p:spPr>
          <a:xfrm>
            <a:off x="609600" y="1504645"/>
            <a:ext cx="10972800" cy="6858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9_c2_plain_two_layer_feedforward_network" title="cue_s09_c2_plain_two_layer_feedforward_network" descr="cue_s09_c2_plain_two_layer_feedforward_network A plain two-layer feedforward network, trained simply to maximize likelihood, is competitive with the state of the art, as long as you get two things right: carefully tune the model's capacity and its regularization, and choose the right thing to condition on,"/>
          <p:cNvSpPr/>
          <p:nvPr/>
        </p:nvSpPr>
        <p:spPr>
          <a:xfrm>
            <a:off x="609600" y="2343378"/>
            <a:ext cx="5371795"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9_c3_concrete_recipe_grow_network_width" title="cue_s09_c3_concrete_recipe_grow_network_width" descr="cue_s09_c3_concrete_recipe_grow_network_width The concrete recipe is to grow the network width until performance saturates, then add a little dropout."/>
          <p:cNvSpPr/>
          <p:nvPr/>
        </p:nvSpPr>
        <p:spPr>
          <a:xfrm>
            <a:off x="6210604" y="2343378"/>
            <a:ext cx="5371795"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9_c4_honest_caveat_purely_random_temporal" title="cue_s09_c4_honest_caveat_purely_random_temporal" descr="cue_s09_c4_honest_caveat_purely_random_temporal The honest caveat is that on purely random data, temporal-difference methods still win, which the authors flag as an open problem for future work."/>
          <p:cNvSpPr/>
          <p:nvPr/>
        </p:nvSpPr>
        <p:spPr>
          <a:xfrm>
            <a:off x="609600" y="4134002"/>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pt_project">
  <a:themeElements>
    <a:clrScheme name="ppt_project">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ppt_projec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_proj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2026-07-15T20:30:02Z</dcterms:created>
  <dcterms:modified xsi:type="dcterms:W3CDTF">2026-07-15T20:30:02Z</dcterms:modified>
  <cp:category/>
  <cp:contentStatus/>
</cp:coreProperties>
</file>
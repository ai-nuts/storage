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5000"/>
                </a:schemeClr>
              </a:gs>
              <a:gs pos="62000">
                <a:schemeClr val="lt1">
                  <a:alpha val="0"/>
                </a:schemeClr>
              </a:gs>
            </a:gsLst>
            <a:path path="circle">
              <a:fillToRect l="50000" t="50000" r="50000" b="50000"/>
            </a:path>
          </a:gradFill>
          <a:ln>
            <a:noFill/>
          </a:ln>
        </p:spPr>
        <p:txBody>
          <a:bodyPr/>
          <a:p/>
        </p:txBody>
      </p:sp>
      <p:grpSp>
        <p:nvGrpSpPr>
          <p:cNvPr id="6" name="Group 6"/>
          <p:cNvGrpSpPr/>
          <p:nvPr/>
        </p:nvGrpSpPr>
        <p:grpSpPr>
          <a:xfrm>
            <a:off x="685800" y="773906"/>
            <a:ext cx="7657193" cy="512350"/>
            <a:chOff x="685800" y="773906"/>
            <a:chExt cx="7657193" cy="512350"/>
          </a:xfrm>
        </p:grpSpPr>
        <p:sp>
          <p:nvSpPr>
            <p:cNvPr id="3" name="Rectangle 3"/>
            <p:cNvSpPr/>
            <p:nvPr/>
          </p:nvSpPr>
          <p:spPr>
            <a:xfrm>
              <a:off x="685800" y="781050"/>
              <a:ext cx="57150" cy="285750"/>
            </a:xfrm>
            <a:prstGeom prst="roundRect">
              <a:avLst>
                <a:gd name="adj" fmla="val 41667"/>
              </a:avLst>
            </a:prstGeom>
            <a:solidFill>
              <a:schemeClr val="accent2"/>
            </a:solidFill>
            <a:ln>
              <a:noFill/>
            </a:ln>
          </p:spPr>
        </p:sp>
        <p:sp>
          <p:nvSpPr>
            <p:cNvPr id="4" name="TextBox 4"/>
            <p:cNvSpPr txBox="1"/>
            <p:nvPr/>
          </p:nvSpPr>
          <p:spPr>
            <a:xfrm>
              <a:off x="870585" y="773906"/>
              <a:ext cx="5170816"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DATASET DISTILLATION · SPARSE PARAMETERIZATION</a:t>
              </a:r>
            </a:p>
          </p:txBody>
        </p:sp>
        <p:sp>
          <p:nvSpPr>
            <p:cNvPr id="5" name="TextBox 5"/>
            <p:cNvSpPr txBox="1"/>
            <p:nvPr/>
          </p:nvSpPr>
          <p:spPr>
            <a:xfrm>
              <a:off x="870204" y="1051560"/>
              <a:ext cx="747278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Deep learning depends on huge datasets; distillation compresses one into a tiny synthetic set.</a:t>
              </a:r>
            </a:p>
          </p:txBody>
        </p:sp>
      </p:grpSp>
      <p:sp>
        <p:nvSpPr>
          <p:cNvPr id="7" name="TextBox 7"/>
          <p:cNvSpPr txBox="1"/>
          <p:nvPr/>
        </p:nvSpPr>
        <p:spPr>
          <a:xfrm>
            <a:off x="666750" y="1338262"/>
            <a:ext cx="2194370" cy="1019175"/>
          </a:xfrm>
          <a:prstGeom prst="rect">
            <a:avLst/>
          </a:prstGeom>
          <a:noFill/>
          <a:ln>
            <a:noFill/>
          </a:ln>
        </p:spPr>
        <p:txBody>
          <a:bodyPr wrap="none" lIns="0" tIns="0" rIns="0" bIns="0" anchor="t" anchorCtr="0">
            <a:spAutoFit/>
          </a:bodyPr>
          <a:lstStyle/>
          <a:p>
            <a:pPr algn="l"/>
            <a:r>
              <a:rPr lang="en-US" sz="5250" b="1" dirty="0">
                <a:solidFill>
                  <a:schemeClr val="dk1"/>
                </a:solidFill>
                <a:latin typeface="+mn-lt"/>
                <a:ea typeface="+mn-ea"/>
                <a:cs typeface="+mn-cs"/>
              </a:rPr>
              <a:t>SPEED</a:t>
            </a:r>
          </a:p>
        </p:txBody>
      </p:sp>
      <p:sp>
        <p:nvSpPr>
          <p:cNvPr id="8" name="TextBox 8"/>
          <p:cNvSpPr txBox="1"/>
          <p:nvPr/>
        </p:nvSpPr>
        <p:spPr>
          <a:xfrm>
            <a:off x="2848356" y="1691640"/>
            <a:ext cx="343824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Sparse Parameterization for</a:t>
            </a:r>
          </a:p>
        </p:txBody>
      </p:sp>
      <p:sp>
        <p:nvSpPr>
          <p:cNvPr id="9" name="TextBox 9"/>
          <p:cNvSpPr txBox="1"/>
          <p:nvPr/>
        </p:nvSpPr>
        <p:spPr>
          <a:xfrm>
            <a:off x="2848356" y="1977390"/>
            <a:ext cx="340766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Epitomic Dataset Distillation</a:t>
            </a:r>
          </a:p>
        </p:txBody>
      </p:sp>
      <p:grpSp>
        <p:nvGrpSpPr>
          <p:cNvPr id="16" name="Group 16"/>
          <p:cNvGrpSpPr/>
          <p:nvPr/>
        </p:nvGrpSpPr>
        <p:grpSpPr>
          <a:xfrm>
            <a:off x="685800" y="2552700"/>
            <a:ext cx="5715000" cy="1219200"/>
            <a:chOff x="685800" y="2552700"/>
            <a:chExt cx="5715000" cy="1219200"/>
          </a:xfrm>
        </p:grpSpPr>
        <p:sp>
          <p:nvSpPr>
            <p:cNvPr id="10" name="Rectangle 10"/>
            <p:cNvSpPr/>
            <p:nvPr/>
          </p:nvSpPr>
          <p:spPr>
            <a:xfrm>
              <a:off x="685800" y="2552700"/>
              <a:ext cx="5715000" cy="1219200"/>
            </a:xfrm>
            <a:prstGeom prst="roundRect">
              <a:avLst>
                <a:gd name="adj" fmla="val 12500"/>
              </a:avLst>
            </a:prstGeom>
            <a:solidFill>
              <a:schemeClr val="accent5"/>
            </a:solidFill>
            <a:ln w="11430">
              <a:solidFill>
                <a:schemeClr val="accent4"/>
              </a:solidFill>
            </a:ln>
          </p:spPr>
        </p:sp>
        <p:sp>
          <p:nvSpPr>
            <p:cNvPr id="11" name="Rectangle 11"/>
            <p:cNvSpPr/>
            <p:nvPr/>
          </p:nvSpPr>
          <p:spPr>
            <a:xfrm>
              <a:off x="876300" y="2781300"/>
              <a:ext cx="57150" cy="762000"/>
            </a:xfrm>
            <a:prstGeom prst="roundRect">
              <a:avLst>
                <a:gd name="adj" fmla="val 41667"/>
              </a:avLst>
            </a:prstGeom>
            <a:solidFill>
              <a:srgbClr val="37DCC0"/>
            </a:solidFill>
            <a:ln>
              <a:noFill/>
            </a:ln>
          </p:spPr>
        </p:sp>
        <p:sp>
          <p:nvSpPr>
            <p:cNvPr id="12" name="TextBox 12"/>
            <p:cNvSpPr txBox="1"/>
            <p:nvPr/>
          </p:nvSpPr>
          <p:spPr>
            <a:xfrm>
              <a:off x="1059180" y="2752725"/>
              <a:ext cx="1188720" cy="293370"/>
            </a:xfrm>
            <a:prstGeom prst="rect">
              <a:avLst/>
            </a:prstGeom>
            <a:noFill/>
            <a:ln>
              <a:noFill/>
            </a:ln>
          </p:spPr>
          <p:txBody>
            <a:bodyPr wrap="none" lIns="0" tIns="0" rIns="0" bIns="0" anchor="t" anchorCtr="0">
              <a:spAutoFit/>
            </a:bodyPr>
            <a:lstStyle/>
            <a:p>
              <a:pPr algn="l"/>
              <a:r>
                <a:rPr lang="en-US" sz="1500" b="1" dirty="0">
                  <a:solidFill>
                    <a:srgbClr val="37DCC0"/>
                  </a:solidFill>
                  <a:latin typeface="+mn-lt"/>
                  <a:ea typeface="+mn-ea"/>
                  <a:cs typeface="+mn-cs"/>
                </a:rPr>
                <a:t>A new lever</a:t>
              </a:r>
            </a:p>
          </p:txBody>
        </p:sp>
        <p:sp>
          <p:nvSpPr>
            <p:cNvPr id="13" name="TextBox 13"/>
            <p:cNvSpPr txBox="1"/>
            <p:nvPr/>
          </p:nvSpPr>
          <p:spPr>
            <a:xfrm>
              <a:off x="1061085" y="3098006"/>
              <a:ext cx="328798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Instead of tuning the matching objective like</a:t>
              </a:r>
            </a:p>
          </p:txBody>
        </p:sp>
        <p:sp>
          <p:nvSpPr>
            <p:cNvPr id="14" name="TextBox 14"/>
            <p:cNvSpPr txBox="1"/>
            <p:nvPr/>
          </p:nvSpPr>
          <p:spPr>
            <a:xfrm>
              <a:off x="1061085" y="3307556"/>
              <a:ext cx="34070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prior work, SPEED rethinks how the synthetic</a:t>
              </a:r>
            </a:p>
          </p:txBody>
        </p:sp>
        <p:sp>
          <p:nvSpPr>
            <p:cNvPr id="15" name="TextBox 15"/>
            <p:cNvSpPr txBox="1"/>
            <p:nvPr/>
          </p:nvSpPr>
          <p:spPr>
            <a:xfrm>
              <a:off x="1061085" y="3517106"/>
              <a:ext cx="19639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dataset is parameterized.</a:t>
              </a:r>
            </a:p>
          </p:txBody>
        </p:sp>
      </p:grpSp>
      <p:grpSp>
        <p:nvGrpSpPr>
          <p:cNvPr id="37" name="Group 37"/>
          <p:cNvGrpSpPr/>
          <p:nvPr/>
        </p:nvGrpSpPr>
        <p:grpSpPr>
          <a:xfrm>
            <a:off x="6781800" y="2552700"/>
            <a:ext cx="4724400" cy="1219200"/>
            <a:chOff x="6781800" y="2552700"/>
            <a:chExt cx="4724400" cy="1219200"/>
          </a:xfrm>
        </p:grpSpPr>
        <p:sp>
          <p:nvSpPr>
            <p:cNvPr id="17" name="Rectangle 17"/>
            <p:cNvSpPr/>
            <p:nvPr/>
          </p:nvSpPr>
          <p:spPr>
            <a:xfrm>
              <a:off x="6781800" y="2552700"/>
              <a:ext cx="4724400" cy="1219200"/>
            </a:xfrm>
            <a:prstGeom prst="roundRect">
              <a:avLst>
                <a:gd name="adj" fmla="val 12500"/>
              </a:avLst>
            </a:prstGeom>
            <a:solidFill>
              <a:schemeClr val="accent6"/>
            </a:solidFill>
            <a:ln w="13335">
              <a:solidFill>
                <a:schemeClr val="accent2"/>
              </a:solidFill>
            </a:ln>
          </p:spPr>
        </p:sp>
        <p:sp>
          <p:nvSpPr>
            <p:cNvPr id="18" name="TextBox 18"/>
            <p:cNvSpPr txBox="1"/>
            <p:nvPr/>
          </p:nvSpPr>
          <p:spPr>
            <a:xfrm>
              <a:off x="7004685" y="2736056"/>
              <a:ext cx="2707831"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Dictionary learning + sparse coding</a:t>
              </a:r>
            </a:p>
          </p:txBody>
        </p:sp>
        <p:sp>
          <p:nvSpPr>
            <p:cNvPr id="19" name="TextBox 19"/>
            <p:cNvSpPr txBox="1"/>
            <p:nvPr/>
          </p:nvSpPr>
          <p:spPr>
            <a:xfrm>
              <a:off x="7005256" y="3033951"/>
              <a:ext cx="392203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Consolas"/>
                  <a:ea typeface="Consolas"/>
                  <a:cs typeface="Consolas"/>
                </a:rPr>
                <a:t>epitomic tokens -&gt; sparse codes -&gt; recurrent synthesis</a:t>
              </a:r>
            </a:p>
          </p:txBody>
        </p:sp>
        <p:sp>
          <p:nvSpPr>
            <p:cNvPr id="20" name="Ellipse 20"/>
            <p:cNvSpPr/>
            <p:nvPr/>
          </p:nvSpPr>
          <p:spPr>
            <a:xfrm>
              <a:off x="7029450" y="3352800"/>
              <a:ext cx="76200" cy="76200"/>
            </a:xfrm>
            <a:prstGeom prst="ellipse">
              <a:avLst/>
            </a:prstGeom>
            <a:solidFill>
              <a:schemeClr val="accent4">
                <a:alpha val="50000"/>
              </a:schemeClr>
            </a:solidFill>
            <a:ln>
              <a:noFill/>
            </a:ln>
          </p:spPr>
        </p:sp>
        <p:sp>
          <p:nvSpPr>
            <p:cNvPr id="21" name="Ellipse 21"/>
            <p:cNvSpPr/>
            <p:nvPr/>
          </p:nvSpPr>
          <p:spPr>
            <a:xfrm>
              <a:off x="7219950" y="3352800"/>
              <a:ext cx="76200" cy="76200"/>
            </a:xfrm>
            <a:prstGeom prst="ellipse">
              <a:avLst/>
            </a:prstGeom>
            <a:solidFill>
              <a:srgbClr val="37DCC0"/>
            </a:solidFill>
            <a:ln>
              <a:noFill/>
            </a:ln>
          </p:spPr>
        </p:sp>
        <p:sp>
          <p:nvSpPr>
            <p:cNvPr id="22" name="Ellipse 22"/>
            <p:cNvSpPr/>
            <p:nvPr/>
          </p:nvSpPr>
          <p:spPr>
            <a:xfrm>
              <a:off x="7410450" y="3352800"/>
              <a:ext cx="76200" cy="76200"/>
            </a:xfrm>
            <a:prstGeom prst="ellipse">
              <a:avLst/>
            </a:prstGeom>
            <a:solidFill>
              <a:schemeClr val="accent4">
                <a:alpha val="50000"/>
              </a:schemeClr>
            </a:solidFill>
            <a:ln>
              <a:noFill/>
            </a:ln>
          </p:spPr>
        </p:sp>
        <p:sp>
          <p:nvSpPr>
            <p:cNvPr id="23" name="Ellipse 23"/>
            <p:cNvSpPr/>
            <p:nvPr/>
          </p:nvSpPr>
          <p:spPr>
            <a:xfrm>
              <a:off x="7600950" y="3352800"/>
              <a:ext cx="76200" cy="76200"/>
            </a:xfrm>
            <a:prstGeom prst="ellipse">
              <a:avLst/>
            </a:prstGeom>
            <a:solidFill>
              <a:schemeClr val="accent4">
                <a:alpha val="50000"/>
              </a:schemeClr>
            </a:solidFill>
            <a:ln>
              <a:noFill/>
            </a:ln>
          </p:spPr>
        </p:sp>
        <p:sp>
          <p:nvSpPr>
            <p:cNvPr id="24" name="Ellipse 24"/>
            <p:cNvSpPr/>
            <p:nvPr/>
          </p:nvSpPr>
          <p:spPr>
            <a:xfrm>
              <a:off x="7791450" y="3352800"/>
              <a:ext cx="76200" cy="76200"/>
            </a:xfrm>
            <a:prstGeom prst="ellipse">
              <a:avLst/>
            </a:prstGeom>
            <a:solidFill>
              <a:srgbClr val="37DCC0"/>
            </a:solidFill>
            <a:ln>
              <a:noFill/>
            </a:ln>
          </p:spPr>
        </p:sp>
        <p:sp>
          <p:nvSpPr>
            <p:cNvPr id="25" name="Ellipse 25"/>
            <p:cNvSpPr/>
            <p:nvPr/>
          </p:nvSpPr>
          <p:spPr>
            <a:xfrm>
              <a:off x="7981950" y="3352800"/>
              <a:ext cx="76200" cy="76200"/>
            </a:xfrm>
            <a:prstGeom prst="ellipse">
              <a:avLst/>
            </a:prstGeom>
            <a:solidFill>
              <a:schemeClr val="accent4">
                <a:alpha val="50000"/>
              </a:schemeClr>
            </a:solidFill>
            <a:ln>
              <a:noFill/>
            </a:ln>
          </p:spPr>
        </p:sp>
        <p:sp>
          <p:nvSpPr>
            <p:cNvPr id="26" name="Ellipse 26"/>
            <p:cNvSpPr/>
            <p:nvPr/>
          </p:nvSpPr>
          <p:spPr>
            <a:xfrm>
              <a:off x="8172450" y="3352800"/>
              <a:ext cx="76200" cy="76200"/>
            </a:xfrm>
            <a:prstGeom prst="ellipse">
              <a:avLst/>
            </a:prstGeom>
            <a:solidFill>
              <a:schemeClr val="accent4">
                <a:alpha val="50000"/>
              </a:schemeClr>
            </a:solidFill>
            <a:ln>
              <a:noFill/>
            </a:ln>
          </p:spPr>
        </p:sp>
        <p:sp>
          <p:nvSpPr>
            <p:cNvPr id="27" name="Ellipse 27"/>
            <p:cNvSpPr/>
            <p:nvPr/>
          </p:nvSpPr>
          <p:spPr>
            <a:xfrm>
              <a:off x="8362950" y="3352800"/>
              <a:ext cx="76200" cy="76200"/>
            </a:xfrm>
            <a:prstGeom prst="ellipse">
              <a:avLst/>
            </a:prstGeom>
            <a:solidFill>
              <a:schemeClr val="accent4">
                <a:alpha val="50000"/>
              </a:schemeClr>
            </a:solidFill>
            <a:ln>
              <a:noFill/>
            </a:ln>
          </p:spPr>
        </p:sp>
        <p:sp>
          <p:nvSpPr>
            <p:cNvPr id="28" name="Ellipse 28"/>
            <p:cNvSpPr/>
            <p:nvPr/>
          </p:nvSpPr>
          <p:spPr>
            <a:xfrm>
              <a:off x="7029450" y="3543300"/>
              <a:ext cx="76200" cy="76200"/>
            </a:xfrm>
            <a:prstGeom prst="ellipse">
              <a:avLst/>
            </a:prstGeom>
            <a:solidFill>
              <a:schemeClr val="accent4">
                <a:alpha val="50000"/>
              </a:schemeClr>
            </a:solidFill>
            <a:ln>
              <a:noFill/>
            </a:ln>
          </p:spPr>
        </p:sp>
        <p:sp>
          <p:nvSpPr>
            <p:cNvPr id="29" name="Ellipse 29"/>
            <p:cNvSpPr/>
            <p:nvPr/>
          </p:nvSpPr>
          <p:spPr>
            <a:xfrm>
              <a:off x="7219950" y="3543300"/>
              <a:ext cx="76200" cy="76200"/>
            </a:xfrm>
            <a:prstGeom prst="ellipse">
              <a:avLst/>
            </a:prstGeom>
            <a:solidFill>
              <a:srgbClr val="37DCC0"/>
            </a:solidFill>
            <a:ln>
              <a:noFill/>
            </a:ln>
          </p:spPr>
        </p:sp>
        <p:sp>
          <p:nvSpPr>
            <p:cNvPr id="30" name="Ellipse 30"/>
            <p:cNvSpPr/>
            <p:nvPr/>
          </p:nvSpPr>
          <p:spPr>
            <a:xfrm>
              <a:off x="7410450" y="3543300"/>
              <a:ext cx="76200" cy="76200"/>
            </a:xfrm>
            <a:prstGeom prst="ellipse">
              <a:avLst/>
            </a:prstGeom>
            <a:solidFill>
              <a:schemeClr val="accent4">
                <a:alpha val="50000"/>
              </a:schemeClr>
            </a:solidFill>
            <a:ln>
              <a:noFill/>
            </a:ln>
          </p:spPr>
        </p:sp>
        <p:sp>
          <p:nvSpPr>
            <p:cNvPr id="31" name="Ellipse 31"/>
            <p:cNvSpPr/>
            <p:nvPr/>
          </p:nvSpPr>
          <p:spPr>
            <a:xfrm>
              <a:off x="7600950" y="3543300"/>
              <a:ext cx="76200" cy="76200"/>
            </a:xfrm>
            <a:prstGeom prst="ellipse">
              <a:avLst/>
            </a:prstGeom>
            <a:solidFill>
              <a:schemeClr val="accent4">
                <a:alpha val="50000"/>
              </a:schemeClr>
            </a:solidFill>
            <a:ln>
              <a:noFill/>
            </a:ln>
          </p:spPr>
        </p:sp>
        <p:sp>
          <p:nvSpPr>
            <p:cNvPr id="32" name="Ellipse 32"/>
            <p:cNvSpPr/>
            <p:nvPr/>
          </p:nvSpPr>
          <p:spPr>
            <a:xfrm>
              <a:off x="7791450" y="3543300"/>
              <a:ext cx="76200" cy="76200"/>
            </a:xfrm>
            <a:prstGeom prst="ellipse">
              <a:avLst/>
            </a:prstGeom>
            <a:solidFill>
              <a:schemeClr val="accent4">
                <a:alpha val="50000"/>
              </a:schemeClr>
            </a:solidFill>
            <a:ln>
              <a:noFill/>
            </a:ln>
          </p:spPr>
        </p:sp>
        <p:sp>
          <p:nvSpPr>
            <p:cNvPr id="33" name="Ellipse 33"/>
            <p:cNvSpPr/>
            <p:nvPr/>
          </p:nvSpPr>
          <p:spPr>
            <a:xfrm>
              <a:off x="7981950" y="3543300"/>
              <a:ext cx="76200" cy="76200"/>
            </a:xfrm>
            <a:prstGeom prst="ellipse">
              <a:avLst/>
            </a:prstGeom>
            <a:solidFill>
              <a:srgbClr val="37DCC0"/>
            </a:solidFill>
            <a:ln>
              <a:noFill/>
            </a:ln>
          </p:spPr>
        </p:sp>
        <p:sp>
          <p:nvSpPr>
            <p:cNvPr id="34" name="Ellipse 34"/>
            <p:cNvSpPr/>
            <p:nvPr/>
          </p:nvSpPr>
          <p:spPr>
            <a:xfrm>
              <a:off x="8172450" y="3543300"/>
              <a:ext cx="76200" cy="76200"/>
            </a:xfrm>
            <a:prstGeom prst="ellipse">
              <a:avLst/>
            </a:prstGeom>
            <a:solidFill>
              <a:schemeClr val="accent4">
                <a:alpha val="50000"/>
              </a:schemeClr>
            </a:solidFill>
            <a:ln>
              <a:noFill/>
            </a:ln>
          </p:spPr>
        </p:sp>
        <p:sp>
          <p:nvSpPr>
            <p:cNvPr id="35" name="Ellipse 35"/>
            <p:cNvSpPr/>
            <p:nvPr/>
          </p:nvSpPr>
          <p:spPr>
            <a:xfrm>
              <a:off x="8362950" y="3543300"/>
              <a:ext cx="76200" cy="76200"/>
            </a:xfrm>
            <a:prstGeom prst="ellipse">
              <a:avLst/>
            </a:prstGeom>
            <a:solidFill>
              <a:schemeClr val="accent4">
                <a:alpha val="50000"/>
              </a:schemeClr>
            </a:solidFill>
            <a:ln>
              <a:noFill/>
            </a:ln>
          </p:spPr>
        </p:sp>
        <p:sp>
          <p:nvSpPr>
            <p:cNvPr id="36" name="TextBox 36"/>
            <p:cNvSpPr txBox="1"/>
            <p:nvPr/>
          </p:nvSpPr>
          <p:spPr>
            <a:xfrm>
              <a:off x="8758047" y="3495199"/>
              <a:ext cx="1546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shared token dictionary</a:t>
              </a:r>
            </a:p>
          </p:txBody>
        </p:sp>
      </p:grpSp>
      <p:grpSp>
        <p:nvGrpSpPr>
          <p:cNvPr id="41" name="Group 41"/>
          <p:cNvGrpSpPr/>
          <p:nvPr/>
        </p:nvGrpSpPr>
        <p:grpSpPr>
          <a:xfrm>
            <a:off x="685800" y="3943350"/>
            <a:ext cx="10820400" cy="552450"/>
            <a:chOff x="685800" y="3943350"/>
            <a:chExt cx="10820400" cy="552450"/>
          </a:xfrm>
        </p:grpSpPr>
        <p:sp>
          <p:nvSpPr>
            <p:cNvPr id="38" name="Rectangle 38"/>
            <p:cNvSpPr/>
            <p:nvPr/>
          </p:nvSpPr>
          <p:spPr>
            <a:xfrm>
              <a:off x="685800" y="3943350"/>
              <a:ext cx="10820400" cy="552450"/>
            </a:xfrm>
            <a:prstGeom prst="roundRect">
              <a:avLst>
                <a:gd name="adj" fmla="val 24138"/>
              </a:avLst>
            </a:prstGeom>
            <a:solidFill>
              <a:schemeClr val="accent5"/>
            </a:solidFill>
            <a:ln w="11430">
              <a:solidFill>
                <a:srgbClr val="F7B84B"/>
              </a:solidFill>
            </a:ln>
          </p:spPr>
        </p:sp>
        <p:sp>
          <p:nvSpPr>
            <p:cNvPr id="39" name="Rectangle 39"/>
            <p:cNvSpPr/>
            <p:nvPr/>
          </p:nvSpPr>
          <p:spPr>
            <a:xfrm>
              <a:off x="876300" y="4114800"/>
              <a:ext cx="47625" cy="209550"/>
            </a:xfrm>
            <a:prstGeom prst="roundRect">
              <a:avLst>
                <a:gd name="adj" fmla="val 50000"/>
              </a:avLst>
            </a:prstGeom>
            <a:solidFill>
              <a:srgbClr val="F7B84B"/>
            </a:solidFill>
            <a:ln>
              <a:noFill/>
            </a:ln>
          </p:spPr>
        </p:sp>
        <p:sp>
          <p:nvSpPr>
            <p:cNvPr id="40" name="TextBox 40"/>
            <p:cNvSpPr txBox="1"/>
            <p:nvPr/>
          </p:nvSpPr>
          <p:spPr>
            <a:xfrm>
              <a:off x="1079944" y="4160758"/>
              <a:ext cx="9317154"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State-of-the-art distillation, especially on high-resolution ImageNet subsets, with only a fraction of the storage.</a:t>
              </a:r>
            </a:p>
          </p:txBody>
        </p:sp>
      </p:grpSp>
      <p:sp>
        <p:nvSpPr>
          <p:cNvPr id="42" name="Line 42"/>
          <p:cNvSpPr/>
          <p:nvPr/>
        </p:nvSpPr>
        <p:spPr>
          <a:xfrm>
            <a:off x="685800" y="4876800"/>
            <a:ext cx="10820400" cy="9525"/>
          </a:xfrm>
          <a:custGeom>
            <a:avLst/>
            <a:gdLst/>
            <a:ahLst/>
            <a:cxnLst/>
            <a:rect l="l" t="t" r="r" b="b"/>
            <a:pathLst>
              <a:path w="10820400" h="9525">
                <a:moveTo>
                  <a:pt x="0" y="0"/>
                </a:moveTo>
                <a:lnTo>
                  <a:pt x="10820400" y="0"/>
                </a:lnTo>
              </a:path>
            </a:pathLst>
          </a:custGeom>
          <a:noFill/>
          <a:ln w="11430">
            <a:solidFill>
              <a:schemeClr val="accent4"/>
            </a:solidFill>
          </a:ln>
        </p:spPr>
        <p:txBody>
          <a:bodyPr/>
          <a:p/>
        </p:txBody>
      </p:sp>
      <p:sp>
        <p:nvSpPr>
          <p:cNvPr id="43" name="TextBox 43"/>
          <p:cNvSpPr txBox="1"/>
          <p:nvPr/>
        </p:nvSpPr>
        <p:spPr>
          <a:xfrm>
            <a:off x="677799" y="5068729"/>
            <a:ext cx="505137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Xing Wei · Anjia Cao · Funing Yang · Zhiheng Ma</a:t>
            </a:r>
          </a:p>
        </p:txBody>
      </p:sp>
      <p:sp>
        <p:nvSpPr>
          <p:cNvPr id="44" name="TextBox 44"/>
          <p:cNvSpPr txBox="1"/>
          <p:nvPr/>
        </p:nvSpPr>
        <p:spPr>
          <a:xfrm>
            <a:off x="680085" y="5384006"/>
            <a:ext cx="18726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Xi'an Jiaotong University</a:t>
            </a:r>
          </a:p>
        </p:txBody>
      </p:sp>
      <p:sp>
        <p:nvSpPr>
          <p:cNvPr id="45" name="TextBox 45"/>
          <p:cNvSpPr txBox="1"/>
          <p:nvPr/>
        </p:nvSpPr>
        <p:spPr>
          <a:xfrm>
            <a:off x="680466" y="5715952"/>
            <a:ext cx="1082889" cy="205359"/>
          </a:xfrm>
          <a:prstGeom prst="rect">
            <a:avLst/>
          </a:prstGeom>
          <a:noFill/>
          <a:ln>
            <a:noFill/>
          </a:ln>
        </p:spPr>
        <p:txBody>
          <a:bodyPr wrap="none" lIns="0" tIns="0" rIns="0" bIns="0" anchor="t" anchorCtr="0">
            <a:spAutoFit/>
          </a:bodyPr>
          <a:lstStyle/>
          <a:p>
            <a:pPr algn="l"/>
            <a:r>
              <a:rPr lang="en-US" sz="1050" b="1" spc="90" dirty="0">
                <a:solidFill>
                  <a:schemeClr val="accent2"/>
                </a:solidFill>
                <a:latin typeface="+mn-lt"/>
                <a:ea typeface="+mn-ea"/>
                <a:cs typeface="+mn-cs"/>
              </a:rPr>
              <a:t>NeurIPS 2023</a:t>
            </a:r>
          </a:p>
        </p:txBody>
      </p:sp>
      <p:sp>
        <p:nvSpPr>
          <p:cNvPr id="46" name="TextBox 46"/>
          <p:cNvSpPr txBox="1"/>
          <p:nvPr/>
        </p:nvSpPr>
        <p:spPr>
          <a:xfrm>
            <a:off x="680466" y="5963602"/>
            <a:ext cx="4665238" cy="205359"/>
          </a:xfrm>
          <a:prstGeom prst="rect">
            <a:avLst/>
          </a:prstGeom>
          <a:noFill/>
          <a:ln>
            <a:noFill/>
          </a:ln>
        </p:spPr>
        <p:txBody>
          <a:bodyPr wrap="none" lIns="0" tIns="0" rIns="0" bIns="0" anchor="t" anchorCtr="0">
            <a:spAutoFit/>
          </a:bodyPr>
          <a:lstStyle/>
          <a:p>
            <a:pPr algn="l"/>
            <a:r>
              <a:rPr lang="en-US" sz="1050" dirty="0">
                <a:solidFill>
                  <a:srgbClr val="7C7AA6"/>
                </a:solidFill>
                <a:latin typeface="Consolas"/>
                <a:ea typeface="Consolas"/>
                <a:cs typeface="Consolas"/>
              </a:rPr>
              <a:t>proceedings.neurips.cc/paper/2023 · github.com/MIV-XJTU/SPEED</a:t>
            </a:r>
          </a:p>
        </p:txBody>
      </p:sp>
      <p:sp>
        <p:nvSpPr>
          <p:cNvPr id="47" name="cue_s01_c1_deep_learning_depends_huge_datasets" title="cue_s01_c1_deep_learning_depends_huge_datasets" descr="cue_s01_c1_deep_learning_depends_huge_datasets Deep learning depends on huge datasets that are costly to store, preprocess, and train on. Dataset distillation compresses a dataset into a tiny synthetic one that still trains high-accuracy models. This paper introduces SPEED, Sparse Parameterization for Epit"/>
          <p:cNvSpPr/>
          <p:nvPr/>
        </p:nvSpPr>
        <p:spPr>
          <a:xfrm>
            <a:off x="870508" y="773582"/>
            <a:ext cx="5170627" cy="22014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1_c2_instead_tuning_matching_objective_li" title="cue_s01_c2_instead_tuning_matching_objective_li" descr="cue_s01_c2_instead_tuning_matching_objective_li Instead of tuning the matching objective like most prior work, SPEED rethinks how the synthetic dataset itself is parameterized."/>
          <p:cNvSpPr/>
          <p:nvPr/>
        </p:nvSpPr>
        <p:spPr>
          <a:xfrm>
            <a:off x="686409" y="2552547"/>
            <a:ext cx="5715609"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1_c3_borrows_ideas_dictionary_learning_sp" title="cue_s01_c3_borrows_ideas_dictionary_learning_sp" descr="cue_s01_c3_borrows_ideas_dictionary_learning_sp It borrows ideas from dictionary learning and sparse coding: a shared pool of spatial-agnostic epitomic tokens acts as a dictionary, sparse coding matrices pick the significant tokens per image, and a feature-recurrent network reassembles them into high-resolu"/>
          <p:cNvSpPr/>
          <p:nvPr/>
        </p:nvSpPr>
        <p:spPr>
          <a:xfrm>
            <a:off x="6782409" y="2552547"/>
            <a:ext cx="47244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1_c4_result_state_of_the_art_distillation" title="cue_s01_c4_result_state_of_the_art_distillation" descr="cue_s01_c4_result_state_of_the_art_distillation The result is state-of-the-art distillation, especially on high-resolution ImageNet subsets, with a fraction of the storage."/>
          <p:cNvSpPr/>
          <p:nvPr/>
        </p:nvSpPr>
        <p:spPr>
          <a:xfrm>
            <a:off x="686409" y="3943349"/>
            <a:ext cx="108204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5000"/>
                </a:schemeClr>
              </a:gs>
              <a:gs pos="62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1437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PROBLEM</a:t>
            </a:r>
          </a:p>
        </p:txBody>
      </p:sp>
      <p:sp>
        <p:nvSpPr>
          <p:cNvPr id="5" name="TextBox 5"/>
          <p:cNvSpPr txBox="1"/>
          <p:nvPr/>
        </p:nvSpPr>
        <p:spPr>
          <a:xfrm>
            <a:off x="518160" y="781050"/>
            <a:ext cx="765569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Parameterization is an afterthought</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7C7AA6"/>
                </a:solidFill>
                <a:latin typeface="Consolas"/>
                <a:ea typeface="Consolas"/>
                <a:cs typeface="Consolas"/>
              </a:rPr>
              <a:t>02 / 08</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876300"/>
            <a:chOff x="533400" y="1524000"/>
            <a:chExt cx="11125200" cy="876300"/>
          </a:xfrm>
        </p:grpSpPr>
        <p:sp>
          <p:nvSpPr>
            <p:cNvPr id="8" name="Rectangle 8"/>
            <p:cNvSpPr/>
            <p:nvPr/>
          </p:nvSpPr>
          <p:spPr>
            <a:xfrm>
              <a:off x="533400" y="1524000"/>
              <a:ext cx="11125200" cy="876300"/>
            </a:xfrm>
            <a:prstGeom prst="roundRect">
              <a:avLst>
                <a:gd name="adj" fmla="val 15217"/>
              </a:avLst>
            </a:prstGeom>
            <a:solidFill>
              <a:schemeClr val="accent5"/>
            </a:solidFill>
            <a:ln w="11430">
              <a:solidFill>
                <a:schemeClr val="accent4"/>
              </a:solidFill>
            </a:ln>
          </p:spPr>
        </p:sp>
        <p:sp>
          <p:nvSpPr>
            <p:cNvPr id="9" name="Rectangle 9"/>
            <p:cNvSpPr/>
            <p:nvPr/>
          </p:nvSpPr>
          <p:spPr>
            <a:xfrm>
              <a:off x="723900" y="1733550"/>
              <a:ext cx="47625" cy="457200"/>
            </a:xfrm>
            <a:prstGeom prst="roundRect">
              <a:avLst>
                <a:gd name="adj" fmla="val 50000"/>
              </a:avLst>
            </a:prstGeom>
            <a:solidFill>
              <a:schemeClr val="accent2"/>
            </a:solidFill>
            <a:ln>
              <a:noFill/>
            </a:ln>
          </p:spPr>
        </p:sp>
        <p:sp>
          <p:nvSpPr>
            <p:cNvPr id="10" name="TextBox 10"/>
            <p:cNvSpPr txBox="1"/>
            <p:nvPr/>
          </p:nvSpPr>
          <p:spPr>
            <a:xfrm>
              <a:off x="907161" y="1732121"/>
              <a:ext cx="1053859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goal of dataset distillation: shrink a big dataset into a small synthetic set that still trains models well</a:t>
              </a:r>
            </a:p>
          </p:txBody>
        </p:sp>
        <p:sp>
          <p:nvSpPr>
            <p:cNvPr id="11" name="TextBox 11"/>
            <p:cNvSpPr txBox="1"/>
            <p:nvPr/>
          </p:nvSpPr>
          <p:spPr>
            <a:xfrm>
              <a:off x="908685" y="2031206"/>
              <a:ext cx="63364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but how the synthetic images are parameterized has been treated as an afterthought</a:t>
              </a:r>
            </a:p>
          </p:txBody>
        </p:sp>
      </p:grpSp>
      <p:grpSp>
        <p:nvGrpSpPr>
          <p:cNvPr id="23" name="Group 23"/>
          <p:cNvGrpSpPr/>
          <p:nvPr/>
        </p:nvGrpSpPr>
        <p:grpSpPr>
          <a:xfrm>
            <a:off x="533400" y="2590800"/>
            <a:ext cx="3556000" cy="2857500"/>
            <a:chOff x="533400" y="2590800"/>
            <a:chExt cx="3556000" cy="2857500"/>
          </a:xfrm>
        </p:grpSpPr>
        <p:sp>
          <p:nvSpPr>
            <p:cNvPr id="13" name="Rectangle 13"/>
            <p:cNvSpPr/>
            <p:nvPr/>
          </p:nvSpPr>
          <p:spPr>
            <a:xfrm>
              <a:off x="533400" y="2590800"/>
              <a:ext cx="3556000" cy="2857500"/>
            </a:xfrm>
            <a:prstGeom prst="roundRect">
              <a:avLst>
                <a:gd name="adj" fmla="val 4667"/>
              </a:avLst>
            </a:prstGeom>
            <a:solidFill>
              <a:schemeClr val="accent5"/>
            </a:solidFill>
            <a:ln w="11430">
              <a:solidFill>
                <a:schemeClr val="accent4"/>
              </a:solidFill>
            </a:ln>
          </p:spPr>
        </p:sp>
        <p:sp>
          <p:nvSpPr>
            <p:cNvPr id="14" name="Rectangle 14"/>
            <p:cNvSpPr/>
            <p:nvPr/>
          </p:nvSpPr>
          <p:spPr>
            <a:xfrm>
              <a:off x="742950" y="2838450"/>
              <a:ext cx="47625" cy="285750"/>
            </a:xfrm>
            <a:prstGeom prst="roundRect">
              <a:avLst>
                <a:gd name="adj" fmla="val 50000"/>
              </a:avLst>
            </a:prstGeom>
            <a:solidFill>
              <a:schemeClr val="accent2"/>
            </a:solidFill>
            <a:ln>
              <a:noFill/>
            </a:ln>
          </p:spPr>
        </p:sp>
        <p:sp>
          <p:nvSpPr>
            <p:cNvPr id="15" name="TextBox 15"/>
            <p:cNvSpPr txBox="1"/>
            <p:nvPr/>
          </p:nvSpPr>
          <p:spPr>
            <a:xfrm>
              <a:off x="736092" y="3207068"/>
              <a:ext cx="226194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All eyes on the objective</a:t>
              </a:r>
            </a:p>
          </p:txBody>
        </p:sp>
        <p:sp>
          <p:nvSpPr>
            <p:cNvPr id="16" name="TextBox 16"/>
            <p:cNvSpPr txBox="1"/>
            <p:nvPr/>
          </p:nvSpPr>
          <p:spPr>
            <a:xfrm>
              <a:off x="737235" y="3536156"/>
              <a:ext cx="21348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Most existing work pours its</a:t>
              </a:r>
            </a:p>
          </p:txBody>
        </p:sp>
        <p:sp>
          <p:nvSpPr>
            <p:cNvPr id="17" name="TextBox 17"/>
            <p:cNvSpPr txBox="1"/>
            <p:nvPr/>
          </p:nvSpPr>
          <p:spPr>
            <a:xfrm>
              <a:off x="737235" y="3736181"/>
              <a:ext cx="1843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energy into the matching</a:t>
              </a:r>
            </a:p>
          </p:txBody>
        </p:sp>
        <p:sp>
          <p:nvSpPr>
            <p:cNvPr id="18" name="TextBox 18"/>
            <p:cNvSpPr txBox="1"/>
            <p:nvPr/>
          </p:nvSpPr>
          <p:spPr>
            <a:xfrm>
              <a:off x="737235" y="3936206"/>
              <a:ext cx="224289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objective, the loss that aligns</a:t>
              </a:r>
            </a:p>
          </p:txBody>
        </p:sp>
        <p:sp>
          <p:nvSpPr>
            <p:cNvPr id="19" name="TextBox 19"/>
            <p:cNvSpPr txBox="1"/>
            <p:nvPr/>
          </p:nvSpPr>
          <p:spPr>
            <a:xfrm>
              <a:off x="737235" y="4136231"/>
              <a:ext cx="181318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synthetic and real data.</a:t>
              </a:r>
            </a:p>
          </p:txBody>
        </p:sp>
        <p:sp>
          <p:nvSpPr>
            <p:cNvPr id="20" name="Rectangle 20"/>
            <p:cNvSpPr/>
            <p:nvPr/>
          </p:nvSpPr>
          <p:spPr>
            <a:xfrm>
              <a:off x="742950" y="4552950"/>
              <a:ext cx="3136900" cy="628650"/>
            </a:xfrm>
            <a:prstGeom prst="roundRect">
              <a:avLst>
                <a:gd name="adj" fmla="val 18182"/>
              </a:avLst>
            </a:prstGeom>
            <a:solidFill>
              <a:srgbClr val="211C3A"/>
            </a:solidFill>
            <a:ln w="11430">
              <a:solidFill>
                <a:schemeClr val="accent2"/>
              </a:solidFill>
            </a:ln>
          </p:spPr>
        </p:sp>
        <p:sp>
          <p:nvSpPr>
            <p:cNvPr id="21" name="TextBox 21"/>
            <p:cNvSpPr txBox="1"/>
            <p:nvPr/>
          </p:nvSpPr>
          <p:spPr>
            <a:xfrm>
              <a:off x="889254" y="4747260"/>
              <a:ext cx="155574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matching objective</a:t>
              </a:r>
            </a:p>
          </p:txBody>
        </p:sp>
        <p:sp>
          <p:nvSpPr>
            <p:cNvPr id="22" name="TextBox 22"/>
            <p:cNvSpPr txBox="1"/>
            <p:nvPr/>
          </p:nvSpPr>
          <p:spPr>
            <a:xfrm>
              <a:off x="890397" y="4981099"/>
              <a:ext cx="143472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well-studied lever</a:t>
              </a:r>
            </a:p>
          </p:txBody>
        </p:sp>
      </p:grpSp>
      <p:grpSp>
        <p:nvGrpSpPr>
          <p:cNvPr id="34" name="Group 34"/>
          <p:cNvGrpSpPr/>
          <p:nvPr/>
        </p:nvGrpSpPr>
        <p:grpSpPr>
          <a:xfrm>
            <a:off x="4318000" y="2590800"/>
            <a:ext cx="3556000" cy="2857500"/>
            <a:chOff x="4318000" y="2590800"/>
            <a:chExt cx="3556000" cy="2857500"/>
          </a:xfrm>
        </p:grpSpPr>
        <p:sp>
          <p:nvSpPr>
            <p:cNvPr id="24" name="Rectangle 24"/>
            <p:cNvSpPr/>
            <p:nvPr/>
          </p:nvSpPr>
          <p:spPr>
            <a:xfrm>
              <a:off x="4318000" y="2590800"/>
              <a:ext cx="3556000" cy="2857500"/>
            </a:xfrm>
            <a:prstGeom prst="roundRect">
              <a:avLst>
                <a:gd name="adj" fmla="val 4667"/>
              </a:avLst>
            </a:prstGeom>
            <a:solidFill>
              <a:schemeClr val="accent5"/>
            </a:solidFill>
            <a:ln w="11430">
              <a:solidFill>
                <a:schemeClr val="accent4"/>
              </a:solidFill>
            </a:ln>
          </p:spPr>
        </p:sp>
        <p:sp>
          <p:nvSpPr>
            <p:cNvPr id="25" name="Rectangle 25"/>
            <p:cNvSpPr/>
            <p:nvPr/>
          </p:nvSpPr>
          <p:spPr>
            <a:xfrm>
              <a:off x="4527550" y="2838450"/>
              <a:ext cx="47625" cy="285750"/>
            </a:xfrm>
            <a:prstGeom prst="roundRect">
              <a:avLst>
                <a:gd name="adj" fmla="val 50000"/>
              </a:avLst>
            </a:prstGeom>
            <a:solidFill>
              <a:srgbClr val="F7B84B"/>
            </a:solidFill>
            <a:ln>
              <a:noFill/>
            </a:ln>
          </p:spPr>
        </p:sp>
        <p:sp>
          <p:nvSpPr>
            <p:cNvPr id="26" name="TextBox 26"/>
            <p:cNvSpPr txBox="1"/>
            <p:nvPr/>
          </p:nvSpPr>
          <p:spPr>
            <a:xfrm>
              <a:off x="4520692" y="3207068"/>
              <a:ext cx="211976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Each image, on its own</a:t>
              </a:r>
            </a:p>
          </p:txBody>
        </p:sp>
        <p:sp>
          <p:nvSpPr>
            <p:cNvPr id="27" name="TextBox 27"/>
            <p:cNvSpPr txBox="1"/>
            <p:nvPr/>
          </p:nvSpPr>
          <p:spPr>
            <a:xfrm>
              <a:off x="4521835" y="3536156"/>
              <a:ext cx="22930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standard scheme optimizes</a:t>
              </a:r>
            </a:p>
          </p:txBody>
        </p:sp>
        <p:sp>
          <p:nvSpPr>
            <p:cNvPr id="28" name="TextBox 28"/>
            <p:cNvSpPr txBox="1"/>
            <p:nvPr/>
          </p:nvSpPr>
          <p:spPr>
            <a:xfrm>
              <a:off x="4521835" y="3736181"/>
              <a:ext cx="163225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every synthetic image</a:t>
              </a:r>
            </a:p>
          </p:txBody>
        </p:sp>
        <p:sp>
          <p:nvSpPr>
            <p:cNvPr id="29" name="TextBox 29"/>
            <p:cNvSpPr txBox="1"/>
            <p:nvPr/>
          </p:nvSpPr>
          <p:spPr>
            <a:xfrm>
              <a:off x="4521835" y="3936206"/>
              <a:ext cx="231827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independently, never exploiting</a:t>
              </a:r>
            </a:p>
          </p:txBody>
        </p:sp>
        <p:sp>
          <p:nvSpPr>
            <p:cNvPr id="30" name="TextBox 30"/>
            <p:cNvSpPr txBox="1"/>
            <p:nvPr/>
          </p:nvSpPr>
          <p:spPr>
            <a:xfrm>
              <a:off x="4521835" y="4136231"/>
              <a:ext cx="18358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structure images share.</a:t>
              </a:r>
            </a:p>
          </p:txBody>
        </p:sp>
        <p:sp>
          <p:nvSpPr>
            <p:cNvPr id="31" name="Rectangle 31"/>
            <p:cNvSpPr/>
            <p:nvPr/>
          </p:nvSpPr>
          <p:spPr>
            <a:xfrm>
              <a:off x="4527550" y="4552950"/>
              <a:ext cx="3136900" cy="628650"/>
            </a:xfrm>
            <a:prstGeom prst="roundRect">
              <a:avLst>
                <a:gd name="adj" fmla="val 18182"/>
              </a:avLst>
            </a:prstGeom>
            <a:solidFill>
              <a:srgbClr val="332A18"/>
            </a:solidFill>
            <a:ln w="11430">
              <a:solidFill>
                <a:srgbClr val="F7B84B"/>
              </a:solidFill>
            </a:ln>
          </p:spPr>
        </p:sp>
        <p:sp>
          <p:nvSpPr>
            <p:cNvPr id="32" name="TextBox 32"/>
            <p:cNvSpPr txBox="1"/>
            <p:nvPr/>
          </p:nvSpPr>
          <p:spPr>
            <a:xfrm>
              <a:off x="4673854" y="4747260"/>
              <a:ext cx="1928912" cy="234696"/>
            </a:xfrm>
            <a:prstGeom prst="rect">
              <a:avLst/>
            </a:prstGeom>
            <a:noFill/>
            <a:ln>
              <a:noFill/>
            </a:ln>
          </p:spPr>
          <p:txBody>
            <a:bodyPr wrap="none" lIns="0" tIns="0" rIns="0" bIns="0" anchor="t" anchorCtr="0">
              <a:spAutoFit/>
            </a:bodyPr>
            <a:lstStyle/>
            <a:p>
              <a:pPr algn="l"/>
              <a:r>
                <a:rPr lang="en-US" sz="1200" b="1" dirty="0">
                  <a:solidFill>
                    <a:srgbClr val="F7B84B"/>
                  </a:solidFill>
                  <a:latin typeface="+mn-lt"/>
                  <a:ea typeface="+mn-ea"/>
                  <a:cs typeface="+mn-cs"/>
                </a:rPr>
                <a:t>naive parameterization</a:t>
              </a:r>
            </a:p>
          </p:txBody>
        </p:sp>
        <p:sp>
          <p:nvSpPr>
            <p:cNvPr id="33" name="TextBox 33"/>
            <p:cNvSpPr txBox="1"/>
            <p:nvPr/>
          </p:nvSpPr>
          <p:spPr>
            <a:xfrm>
              <a:off x="4674997" y="4981099"/>
              <a:ext cx="132258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 shared structure</a:t>
              </a:r>
            </a:p>
          </p:txBody>
        </p:sp>
      </p:grpSp>
      <p:grpSp>
        <p:nvGrpSpPr>
          <p:cNvPr id="45" name="Group 45"/>
          <p:cNvGrpSpPr/>
          <p:nvPr/>
        </p:nvGrpSpPr>
        <p:grpSpPr>
          <a:xfrm>
            <a:off x="8102600" y="2590800"/>
            <a:ext cx="3556000" cy="2857500"/>
            <a:chOff x="8102600" y="2590800"/>
            <a:chExt cx="3556000" cy="2857500"/>
          </a:xfrm>
        </p:grpSpPr>
        <p:sp>
          <p:nvSpPr>
            <p:cNvPr id="35" name="Rectangle 35"/>
            <p:cNvSpPr/>
            <p:nvPr/>
          </p:nvSpPr>
          <p:spPr>
            <a:xfrm>
              <a:off x="8102600" y="2590800"/>
              <a:ext cx="3556000" cy="2857500"/>
            </a:xfrm>
            <a:prstGeom prst="roundRect">
              <a:avLst>
                <a:gd name="adj" fmla="val 4667"/>
              </a:avLst>
            </a:prstGeom>
            <a:solidFill>
              <a:schemeClr val="accent5"/>
            </a:solidFill>
            <a:ln w="11430">
              <a:solidFill>
                <a:schemeClr val="accent4"/>
              </a:solidFill>
            </a:ln>
          </p:spPr>
        </p:sp>
        <p:sp>
          <p:nvSpPr>
            <p:cNvPr id="36" name="Rectangle 36"/>
            <p:cNvSpPr/>
            <p:nvPr/>
          </p:nvSpPr>
          <p:spPr>
            <a:xfrm>
              <a:off x="8312150" y="2838450"/>
              <a:ext cx="47625" cy="285750"/>
            </a:xfrm>
            <a:prstGeom prst="roundRect">
              <a:avLst>
                <a:gd name="adj" fmla="val 50000"/>
              </a:avLst>
            </a:prstGeom>
            <a:solidFill>
              <a:srgbClr val="F2708A"/>
            </a:solidFill>
            <a:ln>
              <a:noFill/>
            </a:ln>
          </p:spPr>
        </p:sp>
        <p:sp>
          <p:nvSpPr>
            <p:cNvPr id="37" name="TextBox 37"/>
            <p:cNvSpPr txBox="1"/>
            <p:nvPr/>
          </p:nvSpPr>
          <p:spPr>
            <a:xfrm>
              <a:off x="8305292" y="3207068"/>
              <a:ext cx="137495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Wasted budget</a:t>
              </a:r>
            </a:p>
          </p:txBody>
        </p:sp>
        <p:sp>
          <p:nvSpPr>
            <p:cNvPr id="38" name="TextBox 38"/>
            <p:cNvSpPr txBox="1"/>
            <p:nvPr/>
          </p:nvSpPr>
          <p:spPr>
            <a:xfrm>
              <a:off x="8306435" y="3536156"/>
              <a:ext cx="23681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spatial redundancy silently</a:t>
              </a:r>
            </a:p>
          </p:txBody>
        </p:sp>
        <p:sp>
          <p:nvSpPr>
            <p:cNvPr id="39" name="TextBox 39"/>
            <p:cNvSpPr txBox="1"/>
            <p:nvPr/>
          </p:nvSpPr>
          <p:spPr>
            <a:xfrm>
              <a:off x="8306435" y="3736181"/>
              <a:ext cx="238612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wastes the already tiny storage</a:t>
              </a:r>
            </a:p>
          </p:txBody>
        </p:sp>
        <p:sp>
          <p:nvSpPr>
            <p:cNvPr id="40" name="TextBox 40"/>
            <p:cNvSpPr txBox="1"/>
            <p:nvPr/>
          </p:nvSpPr>
          <p:spPr>
            <a:xfrm>
              <a:off x="8306435" y="3936206"/>
              <a:ext cx="19262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budget, and it worsens as</a:t>
              </a:r>
            </a:p>
          </p:txBody>
        </p:sp>
        <p:sp>
          <p:nvSpPr>
            <p:cNvPr id="41" name="TextBox 41"/>
            <p:cNvSpPr txBox="1"/>
            <p:nvPr/>
          </p:nvSpPr>
          <p:spPr>
            <a:xfrm>
              <a:off x="8306435" y="4136231"/>
              <a:ext cx="133824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resolution grows.</a:t>
              </a:r>
            </a:p>
          </p:txBody>
        </p:sp>
        <p:sp>
          <p:nvSpPr>
            <p:cNvPr id="42" name="Rectangle 42"/>
            <p:cNvSpPr/>
            <p:nvPr/>
          </p:nvSpPr>
          <p:spPr>
            <a:xfrm>
              <a:off x="8312150" y="4552950"/>
              <a:ext cx="3136900" cy="628650"/>
            </a:xfrm>
            <a:prstGeom prst="roundRect">
              <a:avLst>
                <a:gd name="adj" fmla="val 18182"/>
              </a:avLst>
            </a:prstGeom>
            <a:solidFill>
              <a:srgbClr val="301B27"/>
            </a:solidFill>
            <a:ln w="11430">
              <a:solidFill>
                <a:srgbClr val="F2708A"/>
              </a:solidFill>
            </a:ln>
          </p:spPr>
        </p:sp>
        <p:sp>
          <p:nvSpPr>
            <p:cNvPr id="43" name="TextBox 43"/>
            <p:cNvSpPr txBox="1"/>
            <p:nvPr/>
          </p:nvSpPr>
          <p:spPr>
            <a:xfrm>
              <a:off x="8458454" y="4747260"/>
              <a:ext cx="1564226" cy="234696"/>
            </a:xfrm>
            <a:prstGeom prst="rect">
              <a:avLst/>
            </a:prstGeom>
            <a:noFill/>
            <a:ln>
              <a:noFill/>
            </a:ln>
          </p:spPr>
          <p:txBody>
            <a:bodyPr wrap="none" lIns="0" tIns="0" rIns="0" bIns="0" anchor="t" anchorCtr="0">
              <a:spAutoFit/>
            </a:bodyPr>
            <a:lstStyle/>
            <a:p>
              <a:pPr algn="l"/>
              <a:r>
                <a:rPr lang="en-US" sz="1200" b="1" dirty="0">
                  <a:solidFill>
                    <a:srgbClr val="F2708A"/>
                  </a:solidFill>
                  <a:latin typeface="+mn-lt"/>
                  <a:ea typeface="+mn-ea"/>
                  <a:cs typeface="+mn-cs"/>
                </a:rPr>
                <a:t>spatial redundancy</a:t>
              </a:r>
            </a:p>
          </p:txBody>
        </p:sp>
        <p:sp>
          <p:nvSpPr>
            <p:cNvPr id="44" name="TextBox 44"/>
            <p:cNvSpPr txBox="1"/>
            <p:nvPr/>
          </p:nvSpPr>
          <p:spPr>
            <a:xfrm>
              <a:off x="8459597" y="4981099"/>
              <a:ext cx="157984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worse at high resolution</a:t>
              </a:r>
            </a:p>
          </p:txBody>
        </p:sp>
      </p:grpSp>
      <p:sp>
        <p:nvSpPr>
          <p:cNvPr id="46" name="cue_s02_c1_goal_dataset_distillation_shrink_big" title="cue_s02_c1_goal_dataset_distillation_shrink_big" descr="cue_s02_c1_goal_dataset_distillation_shrink_big The goal of dataset distillation is to shrink a big dataset into a small synthetic set that still trains models well."/>
          <p:cNvSpPr/>
          <p:nvPr/>
        </p:nvSpPr>
        <p:spPr>
          <a:xfrm>
            <a:off x="532790" y="1523847"/>
            <a:ext cx="111252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2_most_existing_work_pours_its" title="cue_s02_c2_most_existing_work_pours_its" descr="cue_s02_c2_most_existing_work_pours_its Most existing work pours its energy into the matching objective, the loss that aligns the synthetic and real datasets. But how the synthetic images are actually parameterized has been an afterthought."/>
          <p:cNvSpPr/>
          <p:nvPr/>
        </p:nvSpPr>
        <p:spPr>
          <a:xfrm>
            <a:off x="532790"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2_c3_standard_approach_optimizes_syntheti" title="cue_s02_c3_standard_approach_optimizes_syntheti" descr="cue_s02_c3_standard_approach_optimizes_syntheti The standard approach optimizes each synthetic image independently, a naive scheme that never exploits the fact that natural images share enormous amounts of visual structure, both within a single image and across different images."/>
          <p:cNvSpPr/>
          <p:nvPr/>
        </p:nvSpPr>
        <p:spPr>
          <a:xfrm>
            <a:off x="4318406"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4_spatial_redundancy_silently_wastes_a" title="cue_s02_c4_spatial_redundancy_silently_wastes_a" descr="cue_s02_c4_spatial_redundancy_silently_wastes_a This spatial redundancy silently wastes the already tiny storage budget, and the problem gets worse as image resolution grows."/>
          <p:cNvSpPr/>
          <p:nvPr/>
        </p:nvSpPr>
        <p:spPr>
          <a:xfrm>
            <a:off x="8102803"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5000"/>
                </a:schemeClr>
              </a:gs>
              <a:gs pos="62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36202"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MOTIVATION</a:t>
            </a:r>
          </a:p>
        </p:txBody>
      </p:sp>
      <p:sp>
        <p:nvSpPr>
          <p:cNvPr id="5" name="TextBox 5"/>
          <p:cNvSpPr txBox="1"/>
          <p:nvPr/>
        </p:nvSpPr>
        <p:spPr>
          <a:xfrm>
            <a:off x="518160" y="781050"/>
            <a:ext cx="578995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Images are highly redundant</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7C7AA6"/>
                </a:solidFill>
                <a:latin typeface="Consolas"/>
                <a:ea typeface="Consolas"/>
                <a:cs typeface="Consolas"/>
              </a:rPr>
              <a:t>03 / 08</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43" name="Group 43"/>
          <p:cNvGrpSpPr/>
          <p:nvPr/>
        </p:nvGrpSpPr>
        <p:grpSpPr>
          <a:xfrm>
            <a:off x="533400" y="1524000"/>
            <a:ext cx="5867400" cy="1600200"/>
            <a:chOff x="533400" y="1524000"/>
            <a:chExt cx="5867400" cy="1600200"/>
          </a:xfrm>
        </p:grpSpPr>
        <p:sp>
          <p:nvSpPr>
            <p:cNvPr id="8" name="Rectangle 8"/>
            <p:cNvSpPr/>
            <p:nvPr/>
          </p:nvSpPr>
          <p:spPr>
            <a:xfrm>
              <a:off x="533400" y="1524000"/>
              <a:ext cx="5867400" cy="1600200"/>
            </a:xfrm>
            <a:prstGeom prst="roundRect">
              <a:avLst>
                <a:gd name="adj" fmla="val 8333"/>
              </a:avLst>
            </a:prstGeom>
            <a:solidFill>
              <a:schemeClr val="accent5"/>
            </a:solidFill>
            <a:ln w="11430">
              <a:solidFill>
                <a:schemeClr val="accent4"/>
              </a:solidFill>
            </a:ln>
          </p:spPr>
        </p:sp>
        <p:sp>
          <p:nvSpPr>
            <p:cNvPr id="9" name="Rectangle 9"/>
            <p:cNvSpPr/>
            <p:nvPr/>
          </p:nvSpPr>
          <p:spPr>
            <a:xfrm>
              <a:off x="723900" y="1733550"/>
              <a:ext cx="47625" cy="285750"/>
            </a:xfrm>
            <a:prstGeom prst="roundRect">
              <a:avLst>
                <a:gd name="adj" fmla="val 50000"/>
              </a:avLst>
            </a:prstGeom>
            <a:solidFill>
              <a:schemeClr val="accent2"/>
            </a:solidFill>
            <a:ln>
              <a:noFill/>
            </a:ln>
          </p:spPr>
        </p:sp>
        <p:sp>
          <p:nvSpPr>
            <p:cNvPr id="10" name="TextBox 10"/>
            <p:cNvSpPr txBox="1"/>
            <p:nvPr/>
          </p:nvSpPr>
          <p:spPr>
            <a:xfrm>
              <a:off x="907923" y="1767364"/>
              <a:ext cx="376424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key insight: images repeat themselves</a:t>
              </a:r>
            </a:p>
          </p:txBody>
        </p:sp>
        <p:sp>
          <p:nvSpPr>
            <p:cNvPr id="11" name="TextBox 11"/>
            <p:cNvSpPr txBox="1"/>
            <p:nvPr/>
          </p:nvSpPr>
          <p:spPr>
            <a:xfrm>
              <a:off x="908876" y="2073354"/>
              <a:ext cx="460153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Patches repeat, textures recur, and similar structures appear</a:t>
              </a:r>
            </a:p>
          </p:txBody>
        </p:sp>
        <p:sp>
          <p:nvSpPr>
            <p:cNvPr id="12" name="TextBox 12"/>
            <p:cNvSpPr txBox="1"/>
            <p:nvPr/>
          </p:nvSpPr>
          <p:spPr>
            <a:xfrm>
              <a:off x="908876" y="2273379"/>
              <a:ext cx="222676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across many different images.</a:t>
              </a:r>
            </a:p>
          </p:txBody>
        </p:sp>
        <p:sp>
          <p:nvSpPr>
            <p:cNvPr id="13" name="Ellipse 13"/>
            <p:cNvSpPr/>
            <p:nvPr/>
          </p:nvSpPr>
          <p:spPr>
            <a:xfrm>
              <a:off x="874395" y="2703195"/>
              <a:ext cx="80010" cy="80010"/>
            </a:xfrm>
            <a:prstGeom prst="ellipse">
              <a:avLst/>
            </a:prstGeom>
            <a:solidFill>
              <a:srgbClr val="37DCC0"/>
            </a:solidFill>
            <a:ln>
              <a:noFill/>
            </a:ln>
          </p:spPr>
        </p:sp>
        <p:sp>
          <p:nvSpPr>
            <p:cNvPr id="14" name="Ellipse 14"/>
            <p:cNvSpPr/>
            <p:nvPr/>
          </p:nvSpPr>
          <p:spPr>
            <a:xfrm>
              <a:off x="1083945" y="2703195"/>
              <a:ext cx="80010" cy="80010"/>
            </a:xfrm>
            <a:prstGeom prst="ellipse">
              <a:avLst/>
            </a:prstGeom>
            <a:solidFill>
              <a:schemeClr val="accent4">
                <a:alpha val="50000"/>
              </a:schemeClr>
            </a:solidFill>
            <a:ln>
              <a:noFill/>
            </a:ln>
          </p:spPr>
        </p:sp>
        <p:sp>
          <p:nvSpPr>
            <p:cNvPr id="15" name="Ellipse 15"/>
            <p:cNvSpPr/>
            <p:nvPr/>
          </p:nvSpPr>
          <p:spPr>
            <a:xfrm>
              <a:off x="1293495" y="2703195"/>
              <a:ext cx="80010" cy="80010"/>
            </a:xfrm>
            <a:prstGeom prst="ellipse">
              <a:avLst/>
            </a:prstGeom>
            <a:solidFill>
              <a:schemeClr val="accent4">
                <a:alpha val="50000"/>
              </a:schemeClr>
            </a:solidFill>
            <a:ln>
              <a:noFill/>
            </a:ln>
          </p:spPr>
        </p:sp>
        <p:sp>
          <p:nvSpPr>
            <p:cNvPr id="16" name="Ellipse 16"/>
            <p:cNvSpPr/>
            <p:nvPr/>
          </p:nvSpPr>
          <p:spPr>
            <a:xfrm>
              <a:off x="1503045" y="2703195"/>
              <a:ext cx="80010" cy="80010"/>
            </a:xfrm>
            <a:prstGeom prst="ellipse">
              <a:avLst/>
            </a:prstGeom>
            <a:solidFill>
              <a:srgbClr val="37DCC0"/>
            </a:solidFill>
            <a:ln>
              <a:noFill/>
            </a:ln>
          </p:spPr>
        </p:sp>
        <p:sp>
          <p:nvSpPr>
            <p:cNvPr id="17" name="Ellipse 17"/>
            <p:cNvSpPr/>
            <p:nvPr/>
          </p:nvSpPr>
          <p:spPr>
            <a:xfrm>
              <a:off x="1712595" y="2703195"/>
              <a:ext cx="80010" cy="80010"/>
            </a:xfrm>
            <a:prstGeom prst="ellipse">
              <a:avLst/>
            </a:prstGeom>
            <a:solidFill>
              <a:schemeClr val="accent4">
                <a:alpha val="50000"/>
              </a:schemeClr>
            </a:solidFill>
            <a:ln>
              <a:noFill/>
            </a:ln>
          </p:spPr>
        </p:sp>
        <p:sp>
          <p:nvSpPr>
            <p:cNvPr id="18" name="Ellipse 18"/>
            <p:cNvSpPr/>
            <p:nvPr/>
          </p:nvSpPr>
          <p:spPr>
            <a:xfrm>
              <a:off x="1922145" y="2703195"/>
              <a:ext cx="80010" cy="80010"/>
            </a:xfrm>
            <a:prstGeom prst="ellipse">
              <a:avLst/>
            </a:prstGeom>
            <a:solidFill>
              <a:schemeClr val="accent4">
                <a:alpha val="50000"/>
              </a:schemeClr>
            </a:solidFill>
            <a:ln>
              <a:noFill/>
            </a:ln>
          </p:spPr>
        </p:sp>
        <p:sp>
          <p:nvSpPr>
            <p:cNvPr id="19" name="Ellipse 19"/>
            <p:cNvSpPr/>
            <p:nvPr/>
          </p:nvSpPr>
          <p:spPr>
            <a:xfrm>
              <a:off x="2131695" y="2703195"/>
              <a:ext cx="80010" cy="80010"/>
            </a:xfrm>
            <a:prstGeom prst="ellipse">
              <a:avLst/>
            </a:prstGeom>
            <a:solidFill>
              <a:schemeClr val="accent4">
                <a:alpha val="50000"/>
              </a:schemeClr>
            </a:solidFill>
            <a:ln>
              <a:noFill/>
            </a:ln>
          </p:spPr>
        </p:sp>
        <p:sp>
          <p:nvSpPr>
            <p:cNvPr id="20" name="Ellipse 20"/>
            <p:cNvSpPr/>
            <p:nvPr/>
          </p:nvSpPr>
          <p:spPr>
            <a:xfrm>
              <a:off x="2341245" y="2703195"/>
              <a:ext cx="80010" cy="80010"/>
            </a:xfrm>
            <a:prstGeom prst="ellipse">
              <a:avLst/>
            </a:prstGeom>
            <a:solidFill>
              <a:srgbClr val="37DCC0"/>
            </a:solidFill>
            <a:ln>
              <a:noFill/>
            </a:ln>
          </p:spPr>
        </p:sp>
        <p:sp>
          <p:nvSpPr>
            <p:cNvPr id="21" name="Ellipse 21"/>
            <p:cNvSpPr/>
            <p:nvPr/>
          </p:nvSpPr>
          <p:spPr>
            <a:xfrm>
              <a:off x="2550795" y="2703195"/>
              <a:ext cx="80010" cy="80010"/>
            </a:xfrm>
            <a:prstGeom prst="ellipse">
              <a:avLst/>
            </a:prstGeom>
            <a:solidFill>
              <a:schemeClr val="accent4">
                <a:alpha val="50000"/>
              </a:schemeClr>
            </a:solidFill>
            <a:ln>
              <a:noFill/>
            </a:ln>
          </p:spPr>
        </p:sp>
        <p:sp>
          <p:nvSpPr>
            <p:cNvPr id="22" name="Ellipse 22"/>
            <p:cNvSpPr/>
            <p:nvPr/>
          </p:nvSpPr>
          <p:spPr>
            <a:xfrm>
              <a:off x="2760345" y="2703195"/>
              <a:ext cx="80010" cy="80010"/>
            </a:xfrm>
            <a:prstGeom prst="ellipse">
              <a:avLst/>
            </a:prstGeom>
            <a:solidFill>
              <a:schemeClr val="accent4">
                <a:alpha val="50000"/>
              </a:schemeClr>
            </a:solidFill>
            <a:ln>
              <a:noFill/>
            </a:ln>
          </p:spPr>
        </p:sp>
        <p:sp>
          <p:nvSpPr>
            <p:cNvPr id="23" name="Ellipse 23"/>
            <p:cNvSpPr/>
            <p:nvPr/>
          </p:nvSpPr>
          <p:spPr>
            <a:xfrm>
              <a:off x="2969895" y="2703195"/>
              <a:ext cx="80010" cy="80010"/>
            </a:xfrm>
            <a:prstGeom prst="ellipse">
              <a:avLst/>
            </a:prstGeom>
            <a:solidFill>
              <a:srgbClr val="37DCC0"/>
            </a:solidFill>
            <a:ln>
              <a:noFill/>
            </a:ln>
          </p:spPr>
        </p:sp>
        <p:sp>
          <p:nvSpPr>
            <p:cNvPr id="24" name="Ellipse 24"/>
            <p:cNvSpPr/>
            <p:nvPr/>
          </p:nvSpPr>
          <p:spPr>
            <a:xfrm>
              <a:off x="3179445" y="2703195"/>
              <a:ext cx="80010" cy="80010"/>
            </a:xfrm>
            <a:prstGeom prst="ellipse">
              <a:avLst/>
            </a:prstGeom>
            <a:solidFill>
              <a:schemeClr val="accent4">
                <a:alpha val="50000"/>
              </a:schemeClr>
            </a:solidFill>
            <a:ln>
              <a:noFill/>
            </a:ln>
          </p:spPr>
        </p:sp>
        <p:sp>
          <p:nvSpPr>
            <p:cNvPr id="25" name="Ellipse 25"/>
            <p:cNvSpPr/>
            <p:nvPr/>
          </p:nvSpPr>
          <p:spPr>
            <a:xfrm>
              <a:off x="3388995" y="2703195"/>
              <a:ext cx="80010" cy="80010"/>
            </a:xfrm>
            <a:prstGeom prst="ellipse">
              <a:avLst/>
            </a:prstGeom>
            <a:solidFill>
              <a:schemeClr val="accent4">
                <a:alpha val="50000"/>
              </a:schemeClr>
            </a:solidFill>
            <a:ln>
              <a:noFill/>
            </a:ln>
          </p:spPr>
        </p:sp>
        <p:sp>
          <p:nvSpPr>
            <p:cNvPr id="26" name="Ellipse 26"/>
            <p:cNvSpPr/>
            <p:nvPr/>
          </p:nvSpPr>
          <p:spPr>
            <a:xfrm>
              <a:off x="3598545" y="2703195"/>
              <a:ext cx="80010" cy="80010"/>
            </a:xfrm>
            <a:prstGeom prst="ellipse">
              <a:avLst/>
            </a:prstGeom>
            <a:solidFill>
              <a:schemeClr val="accent4">
                <a:alpha val="50000"/>
              </a:schemeClr>
            </a:solidFill>
            <a:ln>
              <a:noFill/>
            </a:ln>
          </p:spPr>
        </p:sp>
        <p:sp>
          <p:nvSpPr>
            <p:cNvPr id="27" name="Ellipse 27"/>
            <p:cNvSpPr/>
            <p:nvPr/>
          </p:nvSpPr>
          <p:spPr>
            <a:xfrm>
              <a:off x="874395" y="2912745"/>
              <a:ext cx="80010" cy="80010"/>
            </a:xfrm>
            <a:prstGeom prst="ellipse">
              <a:avLst/>
            </a:prstGeom>
            <a:solidFill>
              <a:schemeClr val="accent4">
                <a:alpha val="50000"/>
              </a:schemeClr>
            </a:solidFill>
            <a:ln>
              <a:noFill/>
            </a:ln>
          </p:spPr>
        </p:sp>
        <p:sp>
          <p:nvSpPr>
            <p:cNvPr id="28" name="Ellipse 28"/>
            <p:cNvSpPr/>
            <p:nvPr/>
          </p:nvSpPr>
          <p:spPr>
            <a:xfrm>
              <a:off x="1083945" y="2912745"/>
              <a:ext cx="80010" cy="80010"/>
            </a:xfrm>
            <a:prstGeom prst="ellipse">
              <a:avLst/>
            </a:prstGeom>
            <a:solidFill>
              <a:schemeClr val="accent4">
                <a:alpha val="50000"/>
              </a:schemeClr>
            </a:solidFill>
            <a:ln>
              <a:noFill/>
            </a:ln>
          </p:spPr>
        </p:sp>
        <p:sp>
          <p:nvSpPr>
            <p:cNvPr id="29" name="Ellipse 29"/>
            <p:cNvSpPr/>
            <p:nvPr/>
          </p:nvSpPr>
          <p:spPr>
            <a:xfrm>
              <a:off x="1293495" y="2912745"/>
              <a:ext cx="80010" cy="80010"/>
            </a:xfrm>
            <a:prstGeom prst="ellipse">
              <a:avLst/>
            </a:prstGeom>
            <a:solidFill>
              <a:srgbClr val="37DCC0"/>
            </a:solidFill>
            <a:ln>
              <a:noFill/>
            </a:ln>
          </p:spPr>
        </p:sp>
        <p:sp>
          <p:nvSpPr>
            <p:cNvPr id="30" name="Ellipse 30"/>
            <p:cNvSpPr/>
            <p:nvPr/>
          </p:nvSpPr>
          <p:spPr>
            <a:xfrm>
              <a:off x="1503045" y="2912745"/>
              <a:ext cx="80010" cy="80010"/>
            </a:xfrm>
            <a:prstGeom prst="ellipse">
              <a:avLst/>
            </a:prstGeom>
            <a:solidFill>
              <a:schemeClr val="accent4">
                <a:alpha val="50000"/>
              </a:schemeClr>
            </a:solidFill>
            <a:ln>
              <a:noFill/>
            </a:ln>
          </p:spPr>
        </p:sp>
        <p:sp>
          <p:nvSpPr>
            <p:cNvPr id="31" name="Ellipse 31"/>
            <p:cNvSpPr/>
            <p:nvPr/>
          </p:nvSpPr>
          <p:spPr>
            <a:xfrm>
              <a:off x="1712595" y="2912745"/>
              <a:ext cx="80010" cy="80010"/>
            </a:xfrm>
            <a:prstGeom prst="ellipse">
              <a:avLst/>
            </a:prstGeom>
            <a:solidFill>
              <a:schemeClr val="accent4">
                <a:alpha val="50000"/>
              </a:schemeClr>
            </a:solidFill>
            <a:ln>
              <a:noFill/>
            </a:ln>
          </p:spPr>
        </p:sp>
        <p:sp>
          <p:nvSpPr>
            <p:cNvPr id="32" name="Ellipse 32"/>
            <p:cNvSpPr/>
            <p:nvPr/>
          </p:nvSpPr>
          <p:spPr>
            <a:xfrm>
              <a:off x="1922145" y="2912745"/>
              <a:ext cx="80010" cy="80010"/>
            </a:xfrm>
            <a:prstGeom prst="ellipse">
              <a:avLst/>
            </a:prstGeom>
            <a:solidFill>
              <a:srgbClr val="37DCC0"/>
            </a:solidFill>
            <a:ln>
              <a:noFill/>
            </a:ln>
          </p:spPr>
        </p:sp>
        <p:sp>
          <p:nvSpPr>
            <p:cNvPr id="33" name="Ellipse 33"/>
            <p:cNvSpPr/>
            <p:nvPr/>
          </p:nvSpPr>
          <p:spPr>
            <a:xfrm>
              <a:off x="2131695" y="2912745"/>
              <a:ext cx="80010" cy="80010"/>
            </a:xfrm>
            <a:prstGeom prst="ellipse">
              <a:avLst/>
            </a:prstGeom>
            <a:solidFill>
              <a:schemeClr val="accent4">
                <a:alpha val="50000"/>
              </a:schemeClr>
            </a:solidFill>
            <a:ln>
              <a:noFill/>
            </a:ln>
          </p:spPr>
        </p:sp>
        <p:sp>
          <p:nvSpPr>
            <p:cNvPr id="34" name="Ellipse 34"/>
            <p:cNvSpPr/>
            <p:nvPr/>
          </p:nvSpPr>
          <p:spPr>
            <a:xfrm>
              <a:off x="2341245" y="2912745"/>
              <a:ext cx="80010" cy="80010"/>
            </a:xfrm>
            <a:prstGeom prst="ellipse">
              <a:avLst/>
            </a:prstGeom>
            <a:solidFill>
              <a:schemeClr val="accent4">
                <a:alpha val="50000"/>
              </a:schemeClr>
            </a:solidFill>
            <a:ln>
              <a:noFill/>
            </a:ln>
          </p:spPr>
        </p:sp>
        <p:sp>
          <p:nvSpPr>
            <p:cNvPr id="35" name="Ellipse 35"/>
            <p:cNvSpPr/>
            <p:nvPr/>
          </p:nvSpPr>
          <p:spPr>
            <a:xfrm>
              <a:off x="2550795" y="2912745"/>
              <a:ext cx="80010" cy="80010"/>
            </a:xfrm>
            <a:prstGeom prst="ellipse">
              <a:avLst/>
            </a:prstGeom>
            <a:solidFill>
              <a:schemeClr val="accent4">
                <a:alpha val="50000"/>
              </a:schemeClr>
            </a:solidFill>
            <a:ln>
              <a:noFill/>
            </a:ln>
          </p:spPr>
        </p:sp>
        <p:sp>
          <p:nvSpPr>
            <p:cNvPr id="36" name="Ellipse 36"/>
            <p:cNvSpPr/>
            <p:nvPr/>
          </p:nvSpPr>
          <p:spPr>
            <a:xfrm>
              <a:off x="2760345" y="2912745"/>
              <a:ext cx="80010" cy="80010"/>
            </a:xfrm>
            <a:prstGeom prst="ellipse">
              <a:avLst/>
            </a:prstGeom>
            <a:solidFill>
              <a:schemeClr val="accent4">
                <a:alpha val="50000"/>
              </a:schemeClr>
            </a:solidFill>
            <a:ln>
              <a:noFill/>
            </a:ln>
          </p:spPr>
        </p:sp>
        <p:sp>
          <p:nvSpPr>
            <p:cNvPr id="37" name="Ellipse 37"/>
            <p:cNvSpPr/>
            <p:nvPr/>
          </p:nvSpPr>
          <p:spPr>
            <a:xfrm>
              <a:off x="2969895" y="2912745"/>
              <a:ext cx="80010" cy="80010"/>
            </a:xfrm>
            <a:prstGeom prst="ellipse">
              <a:avLst/>
            </a:prstGeom>
            <a:solidFill>
              <a:srgbClr val="37DCC0"/>
            </a:solidFill>
            <a:ln>
              <a:noFill/>
            </a:ln>
          </p:spPr>
        </p:sp>
        <p:sp>
          <p:nvSpPr>
            <p:cNvPr id="38" name="Ellipse 38"/>
            <p:cNvSpPr/>
            <p:nvPr/>
          </p:nvSpPr>
          <p:spPr>
            <a:xfrm>
              <a:off x="3179445" y="2912745"/>
              <a:ext cx="80010" cy="80010"/>
            </a:xfrm>
            <a:prstGeom prst="ellipse">
              <a:avLst/>
            </a:prstGeom>
            <a:solidFill>
              <a:schemeClr val="accent4">
                <a:alpha val="50000"/>
              </a:schemeClr>
            </a:solidFill>
            <a:ln>
              <a:noFill/>
            </a:ln>
          </p:spPr>
        </p:sp>
        <p:sp>
          <p:nvSpPr>
            <p:cNvPr id="39" name="Ellipse 39"/>
            <p:cNvSpPr/>
            <p:nvPr/>
          </p:nvSpPr>
          <p:spPr>
            <a:xfrm>
              <a:off x="3388995" y="2912745"/>
              <a:ext cx="80010" cy="80010"/>
            </a:xfrm>
            <a:prstGeom prst="ellipse">
              <a:avLst/>
            </a:prstGeom>
            <a:solidFill>
              <a:schemeClr val="accent4">
                <a:alpha val="50000"/>
              </a:schemeClr>
            </a:solidFill>
            <a:ln>
              <a:noFill/>
            </a:ln>
          </p:spPr>
        </p:sp>
        <p:sp>
          <p:nvSpPr>
            <p:cNvPr id="40" name="Ellipse 40"/>
            <p:cNvSpPr/>
            <p:nvPr/>
          </p:nvSpPr>
          <p:spPr>
            <a:xfrm>
              <a:off x="3598545" y="2912745"/>
              <a:ext cx="80010" cy="80010"/>
            </a:xfrm>
            <a:prstGeom prst="ellipse">
              <a:avLst/>
            </a:prstGeom>
            <a:solidFill>
              <a:schemeClr val="accent4">
                <a:alpha val="50000"/>
              </a:schemeClr>
            </a:solidFill>
            <a:ln>
              <a:noFill/>
            </a:ln>
          </p:spPr>
        </p:sp>
        <p:sp>
          <p:nvSpPr>
            <p:cNvPr id="41" name="TextBox 41"/>
            <p:cNvSpPr txBox="1"/>
            <p:nvPr/>
          </p:nvSpPr>
          <p:spPr>
            <a:xfrm>
              <a:off x="3919538" y="2565797"/>
              <a:ext cx="604276"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recurring</a:t>
              </a:r>
            </a:p>
          </p:txBody>
        </p:sp>
        <p:sp>
          <p:nvSpPr>
            <p:cNvPr id="42" name="TextBox 42"/>
            <p:cNvSpPr txBox="1"/>
            <p:nvPr/>
          </p:nvSpPr>
          <p:spPr>
            <a:xfrm>
              <a:off x="3919538" y="2737247"/>
              <a:ext cx="635912"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structure</a:t>
              </a:r>
            </a:p>
          </p:txBody>
        </p:sp>
      </p:grpSp>
      <p:grpSp>
        <p:nvGrpSpPr>
          <p:cNvPr id="49" name="Group 49"/>
          <p:cNvGrpSpPr/>
          <p:nvPr/>
        </p:nvGrpSpPr>
        <p:grpSpPr>
          <a:xfrm>
            <a:off x="533400" y="3314700"/>
            <a:ext cx="5867400" cy="1143000"/>
            <a:chOff x="533400" y="3314700"/>
            <a:chExt cx="5867400" cy="1143000"/>
          </a:xfrm>
        </p:grpSpPr>
        <p:sp>
          <p:nvSpPr>
            <p:cNvPr id="44" name="Rectangle 44"/>
            <p:cNvSpPr/>
            <p:nvPr/>
          </p:nvSpPr>
          <p:spPr>
            <a:xfrm>
              <a:off x="533400" y="3314700"/>
              <a:ext cx="5867400" cy="1143000"/>
            </a:xfrm>
            <a:prstGeom prst="roundRect">
              <a:avLst>
                <a:gd name="adj" fmla="val 11667"/>
              </a:avLst>
            </a:prstGeom>
            <a:solidFill>
              <a:schemeClr val="accent6"/>
            </a:solidFill>
            <a:ln w="11430">
              <a:solidFill>
                <a:schemeClr val="accent2"/>
              </a:solidFill>
            </a:ln>
          </p:spPr>
        </p:sp>
        <p:sp>
          <p:nvSpPr>
            <p:cNvPr id="45" name="Rectangle 45"/>
            <p:cNvSpPr/>
            <p:nvPr/>
          </p:nvSpPr>
          <p:spPr>
            <a:xfrm>
              <a:off x="723900" y="3543300"/>
              <a:ext cx="47625" cy="685800"/>
            </a:xfrm>
            <a:prstGeom prst="roundRect">
              <a:avLst>
                <a:gd name="adj" fmla="val 50000"/>
              </a:avLst>
            </a:prstGeom>
            <a:solidFill>
              <a:schemeClr val="accent2"/>
            </a:solidFill>
            <a:ln>
              <a:noFill/>
            </a:ln>
          </p:spPr>
        </p:sp>
        <p:sp>
          <p:nvSpPr>
            <p:cNvPr id="46" name="TextBox 46"/>
            <p:cNvSpPr txBox="1"/>
            <p:nvPr/>
          </p:nvSpPr>
          <p:spPr>
            <a:xfrm>
              <a:off x="907542" y="3588068"/>
              <a:ext cx="448473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Classical representation learning fits perfectly</a:t>
              </a:r>
            </a:p>
          </p:txBody>
        </p:sp>
        <p:sp>
          <p:nvSpPr>
            <p:cNvPr id="47" name="TextBox 47"/>
            <p:cNvSpPr txBox="1"/>
            <p:nvPr/>
          </p:nvSpPr>
          <p:spPr>
            <a:xfrm>
              <a:off x="908876" y="3883104"/>
              <a:ext cx="441782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Dictionary learning and sparse coding were built to represent</a:t>
              </a:r>
            </a:p>
          </p:txBody>
        </p:sp>
        <p:sp>
          <p:nvSpPr>
            <p:cNvPr id="48" name="TextBox 48"/>
            <p:cNvSpPr txBox="1"/>
            <p:nvPr/>
          </p:nvSpPr>
          <p:spPr>
            <a:xfrm>
              <a:off x="908876" y="4083129"/>
              <a:ext cx="43177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many signals as sparse combinations of a shared dictionary.</a:t>
              </a:r>
            </a:p>
          </p:txBody>
        </p:sp>
      </p:grpSp>
      <p:grpSp>
        <p:nvGrpSpPr>
          <p:cNvPr id="58" name="Group 58"/>
          <p:cNvGrpSpPr/>
          <p:nvPr/>
        </p:nvGrpSpPr>
        <p:grpSpPr>
          <a:xfrm>
            <a:off x="6629400" y="1524000"/>
            <a:ext cx="5029200" cy="1600200"/>
            <a:chOff x="6629400" y="1524000"/>
            <a:chExt cx="5029200" cy="1600200"/>
          </a:xfrm>
        </p:grpSpPr>
        <p:sp>
          <p:nvSpPr>
            <p:cNvPr id="50" name="Rectangle 50"/>
            <p:cNvSpPr/>
            <p:nvPr/>
          </p:nvSpPr>
          <p:spPr>
            <a:xfrm>
              <a:off x="6629400" y="1524000"/>
              <a:ext cx="5029200" cy="1600200"/>
            </a:xfrm>
            <a:prstGeom prst="roundRect">
              <a:avLst>
                <a:gd name="adj" fmla="val 8333"/>
              </a:avLst>
            </a:prstGeom>
            <a:solidFill>
              <a:schemeClr val="accent5"/>
            </a:solidFill>
            <a:ln w="11430">
              <a:solidFill>
                <a:schemeClr val="accent4"/>
              </a:solidFill>
            </a:ln>
          </p:spPr>
        </p:sp>
        <p:sp>
          <p:nvSpPr>
            <p:cNvPr id="51" name="Rectangle 51"/>
            <p:cNvSpPr/>
            <p:nvPr/>
          </p:nvSpPr>
          <p:spPr>
            <a:xfrm>
              <a:off x="6819900" y="1733550"/>
              <a:ext cx="47625" cy="285750"/>
            </a:xfrm>
            <a:prstGeom prst="roundRect">
              <a:avLst>
                <a:gd name="adj" fmla="val 50000"/>
              </a:avLst>
            </a:prstGeom>
            <a:solidFill>
              <a:srgbClr val="F7B84B"/>
            </a:solidFill>
            <a:ln>
              <a:noFill/>
            </a:ln>
          </p:spPr>
        </p:sp>
        <p:sp>
          <p:nvSpPr>
            <p:cNvPr id="52" name="TextBox 52"/>
            <p:cNvSpPr txBox="1"/>
            <p:nvPr/>
          </p:nvSpPr>
          <p:spPr>
            <a:xfrm>
              <a:off x="7004304" y="1775460"/>
              <a:ext cx="1137453" cy="234696"/>
            </a:xfrm>
            <a:prstGeom prst="rect">
              <a:avLst/>
            </a:prstGeom>
            <a:noFill/>
            <a:ln>
              <a:noFill/>
            </a:ln>
          </p:spPr>
          <p:txBody>
            <a:bodyPr wrap="none" lIns="0" tIns="0" rIns="0" bIns="0" anchor="t" anchorCtr="0">
              <a:spAutoFit/>
            </a:bodyPr>
            <a:lstStyle/>
            <a:p>
              <a:pPr algn="l"/>
              <a:r>
                <a:rPr lang="en-US" sz="1200" b="1" dirty="0">
                  <a:solidFill>
                    <a:srgbClr val="F7B84B"/>
                  </a:solidFill>
                  <a:latin typeface="+mn-lt"/>
                  <a:ea typeface="+mn-ea"/>
                  <a:cs typeface="+mn-cs"/>
                </a:rPr>
                <a:t>A gap remains</a:t>
              </a:r>
            </a:p>
          </p:txBody>
        </p:sp>
        <p:sp>
          <p:nvSpPr>
            <p:cNvPr id="53" name="TextBox 53"/>
            <p:cNvSpPr txBox="1"/>
            <p:nvPr/>
          </p:nvSpPr>
          <p:spPr>
            <a:xfrm>
              <a:off x="6814376" y="2092404"/>
              <a:ext cx="309721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few recent methods exploit relationships</a:t>
              </a:r>
            </a:p>
          </p:txBody>
        </p:sp>
        <p:sp>
          <p:nvSpPr>
            <p:cNvPr id="54" name="TextBox 54"/>
            <p:cNvSpPr txBox="1"/>
            <p:nvPr/>
          </p:nvSpPr>
          <p:spPr>
            <a:xfrm>
              <a:off x="6814376" y="2292429"/>
              <a:ext cx="308516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between synthetic images, but none tackle</a:t>
              </a:r>
            </a:p>
          </p:txBody>
        </p:sp>
        <p:sp>
          <p:nvSpPr>
            <p:cNvPr id="55" name="TextBox 55"/>
            <p:cNvSpPr txBox="1"/>
            <p:nvPr/>
          </p:nvSpPr>
          <p:spPr>
            <a:xfrm>
              <a:off x="6814376" y="2492454"/>
              <a:ext cx="285772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redundancy in a spatially-agnostic way.</a:t>
              </a:r>
            </a:p>
          </p:txBody>
        </p:sp>
        <p:sp>
          <p:nvSpPr>
            <p:cNvPr id="56" name="Rectangle 56"/>
            <p:cNvSpPr/>
            <p:nvPr/>
          </p:nvSpPr>
          <p:spPr>
            <a:xfrm>
              <a:off x="6819900" y="2800350"/>
              <a:ext cx="4648200" cy="228600"/>
            </a:xfrm>
            <a:prstGeom prst="roundRect">
              <a:avLst>
                <a:gd name="adj" fmla="val 33333"/>
              </a:avLst>
            </a:prstGeom>
            <a:solidFill>
              <a:schemeClr val="lt2"/>
            </a:solidFill>
            <a:ln>
              <a:noFill/>
            </a:ln>
          </p:spPr>
        </p:sp>
        <p:sp>
          <p:nvSpPr>
            <p:cNvPr id="57" name="TextBox 57"/>
            <p:cNvSpPr txBox="1"/>
            <p:nvPr/>
          </p:nvSpPr>
          <p:spPr>
            <a:xfrm>
              <a:off x="6948488" y="2861072"/>
              <a:ext cx="3131969" cy="183356"/>
            </a:xfrm>
            <a:prstGeom prst="rect">
              <a:avLst/>
            </a:prstGeom>
            <a:noFill/>
            <a:ln>
              <a:noFill/>
            </a:ln>
          </p:spPr>
          <p:txBody>
            <a:bodyPr wrap="none" lIns="0" tIns="0" rIns="0" bIns="0" anchor="t" anchorCtr="0">
              <a:spAutoFit/>
            </a:bodyPr>
            <a:lstStyle/>
            <a:p>
              <a:pPr algn="l"/>
              <a:r>
                <a:rPr lang="en-US" sz="940" b="1" dirty="0">
                  <a:solidFill>
                    <a:srgbClr val="F7B84B"/>
                  </a:solidFill>
                  <a:latin typeface="+mn-lt"/>
                  <a:ea typeface="+mn-ea"/>
                  <a:cs typeface="+mn-cs"/>
                </a:rPr>
                <a:t>spatially-agnostic: wherever a feature appears</a:t>
              </a:r>
            </a:p>
          </p:txBody>
        </p:sp>
      </p:grpSp>
      <p:grpSp>
        <p:nvGrpSpPr>
          <p:cNvPr id="65" name="Group 65"/>
          <p:cNvGrpSpPr/>
          <p:nvPr/>
        </p:nvGrpSpPr>
        <p:grpSpPr>
          <a:xfrm>
            <a:off x="6629400" y="3314700"/>
            <a:ext cx="5029200" cy="1181147"/>
            <a:chOff x="6629400" y="3314700"/>
            <a:chExt cx="5029200" cy="1181147"/>
          </a:xfrm>
        </p:grpSpPr>
        <p:sp>
          <p:nvSpPr>
            <p:cNvPr id="59" name="Rectangle 59"/>
            <p:cNvSpPr/>
            <p:nvPr/>
          </p:nvSpPr>
          <p:spPr>
            <a:xfrm>
              <a:off x="6629400" y="3314700"/>
              <a:ext cx="5029200" cy="1143000"/>
            </a:xfrm>
            <a:prstGeom prst="roundRect">
              <a:avLst>
                <a:gd name="adj" fmla="val 11667"/>
              </a:avLst>
            </a:prstGeom>
            <a:solidFill>
              <a:schemeClr val="accent6"/>
            </a:solidFill>
            <a:ln w="12382">
              <a:solidFill>
                <a:srgbClr val="57D9A3"/>
              </a:solidFill>
            </a:ln>
          </p:spPr>
        </p:sp>
        <p:sp>
          <p:nvSpPr>
            <p:cNvPr id="60" name="Rectangle 60"/>
            <p:cNvSpPr/>
            <p:nvPr/>
          </p:nvSpPr>
          <p:spPr>
            <a:xfrm>
              <a:off x="6819900" y="3543300"/>
              <a:ext cx="47625" cy="285750"/>
            </a:xfrm>
            <a:prstGeom prst="roundRect">
              <a:avLst>
                <a:gd name="adj" fmla="val 50000"/>
              </a:avLst>
            </a:prstGeom>
            <a:solidFill>
              <a:srgbClr val="57D9A3"/>
            </a:solidFill>
            <a:ln>
              <a:noFill/>
            </a:ln>
          </p:spPr>
        </p:sp>
        <p:sp>
          <p:nvSpPr>
            <p:cNvPr id="61" name="TextBox 61"/>
            <p:cNvSpPr txBox="1"/>
            <p:nvPr/>
          </p:nvSpPr>
          <p:spPr>
            <a:xfrm>
              <a:off x="7004304" y="3585210"/>
              <a:ext cx="1597170" cy="234696"/>
            </a:xfrm>
            <a:prstGeom prst="rect">
              <a:avLst/>
            </a:prstGeom>
            <a:noFill/>
            <a:ln>
              <a:noFill/>
            </a:ln>
          </p:spPr>
          <p:txBody>
            <a:bodyPr wrap="none" lIns="0" tIns="0" rIns="0" bIns="0" anchor="t" anchorCtr="0">
              <a:spAutoFit/>
            </a:bodyPr>
            <a:lstStyle/>
            <a:p>
              <a:pPr algn="l"/>
              <a:r>
                <a:rPr lang="en-US" sz="1200" b="1" dirty="0">
                  <a:solidFill>
                    <a:srgbClr val="57D9A3"/>
                  </a:solidFill>
                  <a:latin typeface="+mn-lt"/>
                  <a:ea typeface="+mn-ea"/>
                  <a:cs typeface="+mn-cs"/>
                </a:rPr>
                <a:t>The SPEED question</a:t>
              </a:r>
            </a:p>
          </p:txBody>
        </p:sp>
        <p:sp>
          <p:nvSpPr>
            <p:cNvPr id="62" name="TextBox 62"/>
            <p:cNvSpPr txBox="1"/>
            <p:nvPr/>
          </p:nvSpPr>
          <p:spPr>
            <a:xfrm>
              <a:off x="6814376" y="3883104"/>
              <a:ext cx="333249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What if we spend almost none of the budget on</a:t>
              </a:r>
            </a:p>
          </p:txBody>
        </p:sp>
        <p:sp>
          <p:nvSpPr>
            <p:cNvPr id="63" name="TextBox 63"/>
            <p:cNvSpPr txBox="1"/>
            <p:nvPr/>
          </p:nvSpPr>
          <p:spPr>
            <a:xfrm>
              <a:off x="6814376" y="4083129"/>
              <a:ext cx="327592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shared dictionary and sparse codes, and let</a:t>
              </a:r>
            </a:p>
          </p:txBody>
        </p:sp>
        <p:sp>
          <p:nvSpPr>
            <p:cNvPr id="64" name="TextBox 64"/>
            <p:cNvSpPr txBox="1"/>
            <p:nvPr/>
          </p:nvSpPr>
          <p:spPr>
            <a:xfrm>
              <a:off x="6814376" y="4283154"/>
              <a:ext cx="224877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small net rebuild rich images?</a:t>
              </a:r>
            </a:p>
          </p:txBody>
        </p:sp>
      </p:grpSp>
      <p:sp>
        <p:nvSpPr>
          <p:cNvPr id="66" name="cue_s03_c1_key_insight_images_highly_redundant" title="cue_s03_c1_key_insight_images_highly_redundant" descr="cue_s03_c1_key_insight_images_highly_redundant The key insight is that images are highly redundant. Patches repeat, textures recur, and similar structures appear across many images."/>
          <p:cNvSpPr/>
          <p:nvPr/>
        </p:nvSpPr>
        <p:spPr>
          <a:xfrm>
            <a:off x="532790" y="1523847"/>
            <a:ext cx="5868009"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3_c2_classical_representation_learning_di" title="cue_s03_c2_classical_representation_learning_di" descr="cue_s03_c2_classical_representation_learning_di Classical representation learning, dictionary learning and sparse coding, was built exactly to capture this: represent many signals as sparse combinations of a shared dictionary."/>
          <p:cNvSpPr/>
          <p:nvPr/>
        </p:nvSpPr>
        <p:spPr>
          <a:xfrm>
            <a:off x="532790" y="3314471"/>
            <a:ext cx="5868009"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3_c3_handful_recent_distillation_methods" title="cue_s03_c3_handful_recent_distillation_methods" descr="cue_s03_c3_handful_recent_distillation_methods A handful of recent distillation methods started exploiting relationships between synthetic images, but none tackled redundancy in a spatially-agnostic way, no matter where a feature appears."/>
          <p:cNvSpPr/>
          <p:nvPr/>
        </p:nvSpPr>
        <p:spPr>
          <a:xfrm>
            <a:off x="6628790" y="1523847"/>
            <a:ext cx="50292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3_c4_speed_asks_what_spend_almost" title="cue_s03_c4_speed_asks_what_spend_almost" descr="cue_s03_c4_speed_asks_what_spend_almost SPEED asks: what if we spend almost none of the storage budget on a shared dictionary and per-image sparse codes, and let a small network reconstruct rich images from them? That reframing is where the gains come from."/>
          <p:cNvSpPr/>
          <p:nvPr/>
        </p:nvSpPr>
        <p:spPr>
          <a:xfrm>
            <a:off x="6628790" y="3314471"/>
            <a:ext cx="50292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5000"/>
                </a:schemeClr>
              </a:gs>
              <a:gs pos="62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450757"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CONTRIBUTION</a:t>
            </a:r>
          </a:p>
        </p:txBody>
      </p:sp>
      <p:sp>
        <p:nvSpPr>
          <p:cNvPr id="5" name="TextBox 5"/>
          <p:cNvSpPr txBox="1"/>
          <p:nvPr/>
        </p:nvSpPr>
        <p:spPr>
          <a:xfrm>
            <a:off x="518160" y="781050"/>
            <a:ext cx="774206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Three pieces, one drop-in framework</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7C7AA6"/>
                </a:solidFill>
                <a:latin typeface="Consolas"/>
                <a:ea typeface="Consolas"/>
                <a:cs typeface="Consolas"/>
              </a:rPr>
              <a:t>04 / 08</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5" name="Group 15"/>
          <p:cNvGrpSpPr/>
          <p:nvPr/>
        </p:nvGrpSpPr>
        <p:grpSpPr>
          <a:xfrm>
            <a:off x="533400" y="1524000"/>
            <a:ext cx="5448300" cy="1638300"/>
            <a:chOff x="533400" y="1524000"/>
            <a:chExt cx="5448300" cy="1638300"/>
          </a:xfrm>
        </p:grpSpPr>
        <p:sp>
          <p:nvSpPr>
            <p:cNvPr id="8" name="Rectangle 8"/>
            <p:cNvSpPr/>
            <p:nvPr/>
          </p:nvSpPr>
          <p:spPr>
            <a:xfrm>
              <a:off x="533400" y="1524000"/>
              <a:ext cx="5448300" cy="1638300"/>
            </a:xfrm>
            <a:prstGeom prst="roundRect">
              <a:avLst>
                <a:gd name="adj" fmla="val 8140"/>
              </a:avLst>
            </a:prstGeom>
            <a:solidFill>
              <a:schemeClr val="accent5"/>
            </a:solidFill>
            <a:ln w="11430">
              <a:solidFill>
                <a:schemeClr val="accent4"/>
              </a:solidFill>
            </a:ln>
          </p:spPr>
        </p:sp>
        <p:sp>
          <p:nvSpPr>
            <p:cNvPr id="9" name="Rectangle 9"/>
            <p:cNvSpPr/>
            <p:nvPr/>
          </p:nvSpPr>
          <p:spPr>
            <a:xfrm>
              <a:off x="762000" y="1790700"/>
              <a:ext cx="47625" cy="323850"/>
            </a:xfrm>
            <a:prstGeom prst="roundRect">
              <a:avLst>
                <a:gd name="adj" fmla="val 50000"/>
              </a:avLst>
            </a:prstGeom>
            <a:solidFill>
              <a:schemeClr val="accent2"/>
            </a:solidFill>
            <a:ln>
              <a:noFill/>
            </a:ln>
          </p:spPr>
        </p:sp>
        <p:sp>
          <p:nvSpPr>
            <p:cNvPr id="10" name="TextBox 10"/>
            <p:cNvSpPr txBox="1"/>
            <p:nvPr/>
          </p:nvSpPr>
          <p:spPr>
            <a:xfrm>
              <a:off x="5271402" y="1714500"/>
              <a:ext cx="496938" cy="586740"/>
            </a:xfrm>
            <a:prstGeom prst="rect">
              <a:avLst/>
            </a:prstGeom>
            <a:noFill/>
            <a:ln>
              <a:noFill/>
            </a:ln>
          </p:spPr>
          <p:txBody>
            <a:bodyPr wrap="none" lIns="0" tIns="0" rIns="0" bIns="0" anchor="t" anchorCtr="0">
              <a:spAutoFit/>
            </a:bodyPr>
            <a:lstStyle/>
            <a:p>
              <a:pPr algn="r"/>
              <a:r>
                <a:rPr lang="en-US" sz="3000" b="1" dirty="0">
                  <a:solidFill>
                    <a:schemeClr val="accent2">
                      <a:alphaMod val="50000"/>
                    </a:schemeClr>
                  </a:solidFill>
                  <a:latin typeface="Consolas"/>
                  <a:ea typeface="Consolas"/>
                  <a:cs typeface="Consolas"/>
                </a:rPr>
                <a:t>01</a:t>
              </a:r>
            </a:p>
          </p:txBody>
        </p:sp>
        <p:sp>
          <p:nvSpPr>
            <p:cNvPr id="11" name="TextBox 11"/>
            <p:cNvSpPr txBox="1"/>
            <p:nvPr/>
          </p:nvSpPr>
          <p:spPr>
            <a:xfrm>
              <a:off x="944880" y="1838325"/>
              <a:ext cx="342490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Spatial-agnostic epitomic tokens</a:t>
              </a:r>
            </a:p>
          </p:txBody>
        </p:sp>
        <p:sp>
          <p:nvSpPr>
            <p:cNvPr id="12" name="TextBox 12"/>
            <p:cNvSpPr txBox="1"/>
            <p:nvPr/>
          </p:nvSpPr>
          <p:spPr>
            <a:xfrm>
              <a:off x="946976" y="2225754"/>
              <a:ext cx="43874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shared dictionary of tokens (SAETs) reused by every image</a:t>
              </a:r>
            </a:p>
          </p:txBody>
        </p:sp>
        <p:sp>
          <p:nvSpPr>
            <p:cNvPr id="13" name="TextBox 13"/>
            <p:cNvSpPr txBox="1"/>
            <p:nvPr/>
          </p:nvSpPr>
          <p:spPr>
            <a:xfrm>
              <a:off x="946976" y="2425779"/>
              <a:ext cx="436176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patch, with sparse coding matrices selecting the significant</a:t>
              </a:r>
            </a:p>
          </p:txBody>
        </p:sp>
        <p:sp>
          <p:nvSpPr>
            <p:cNvPr id="14" name="TextBox 14"/>
            <p:cNvSpPr txBox="1"/>
            <p:nvPr/>
          </p:nvSpPr>
          <p:spPr>
            <a:xfrm>
              <a:off x="946976" y="2625804"/>
              <a:ext cx="130232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tokens per image.</a:t>
              </a:r>
            </a:p>
          </p:txBody>
        </p:sp>
      </p:grpSp>
      <p:grpSp>
        <p:nvGrpSpPr>
          <p:cNvPr id="23" name="Group 23"/>
          <p:cNvGrpSpPr/>
          <p:nvPr/>
        </p:nvGrpSpPr>
        <p:grpSpPr>
          <a:xfrm>
            <a:off x="6210300" y="1524000"/>
            <a:ext cx="5448300" cy="1638300"/>
            <a:chOff x="6210300" y="1524000"/>
            <a:chExt cx="5448300" cy="1638300"/>
          </a:xfrm>
        </p:grpSpPr>
        <p:sp>
          <p:nvSpPr>
            <p:cNvPr id="16" name="Rectangle 16"/>
            <p:cNvSpPr/>
            <p:nvPr/>
          </p:nvSpPr>
          <p:spPr>
            <a:xfrm>
              <a:off x="6210300" y="1524000"/>
              <a:ext cx="5448300" cy="1638300"/>
            </a:xfrm>
            <a:prstGeom prst="roundRect">
              <a:avLst>
                <a:gd name="adj" fmla="val 8140"/>
              </a:avLst>
            </a:prstGeom>
            <a:solidFill>
              <a:schemeClr val="accent5"/>
            </a:solidFill>
            <a:ln w="11430">
              <a:solidFill>
                <a:schemeClr val="accent4"/>
              </a:solidFill>
            </a:ln>
          </p:spPr>
        </p:sp>
        <p:sp>
          <p:nvSpPr>
            <p:cNvPr id="17" name="Rectangle 17"/>
            <p:cNvSpPr/>
            <p:nvPr/>
          </p:nvSpPr>
          <p:spPr>
            <a:xfrm>
              <a:off x="6438900" y="1790700"/>
              <a:ext cx="47625" cy="323850"/>
            </a:xfrm>
            <a:prstGeom prst="roundRect">
              <a:avLst>
                <a:gd name="adj" fmla="val 50000"/>
              </a:avLst>
            </a:prstGeom>
            <a:solidFill>
              <a:srgbClr val="37DCC0"/>
            </a:solidFill>
            <a:ln>
              <a:noFill/>
            </a:ln>
          </p:spPr>
        </p:sp>
        <p:sp>
          <p:nvSpPr>
            <p:cNvPr id="18" name="TextBox 18"/>
            <p:cNvSpPr txBox="1"/>
            <p:nvPr/>
          </p:nvSpPr>
          <p:spPr>
            <a:xfrm>
              <a:off x="10948302" y="1714500"/>
              <a:ext cx="496938" cy="586740"/>
            </a:xfrm>
            <a:prstGeom prst="rect">
              <a:avLst/>
            </a:prstGeom>
            <a:noFill/>
            <a:ln>
              <a:noFill/>
            </a:ln>
          </p:spPr>
          <p:txBody>
            <a:bodyPr wrap="none" lIns="0" tIns="0" rIns="0" bIns="0" anchor="t" anchorCtr="0">
              <a:spAutoFit/>
            </a:bodyPr>
            <a:lstStyle/>
            <a:p>
              <a:pPr algn="r"/>
              <a:r>
                <a:rPr lang="en-US" sz="3000" b="1" dirty="0">
                  <a:solidFill>
                    <a:srgbClr val="37DCC0">
                      <a:alphaMod val="50000"/>
                    </a:srgbClr>
                  </a:solidFill>
                  <a:latin typeface="Consolas"/>
                  <a:ea typeface="Consolas"/>
                  <a:cs typeface="Consolas"/>
                </a:rPr>
                <a:t>02</a:t>
              </a:r>
            </a:p>
          </p:txBody>
        </p:sp>
        <p:sp>
          <p:nvSpPr>
            <p:cNvPr id="19" name="TextBox 19"/>
            <p:cNvSpPr txBox="1"/>
            <p:nvPr/>
          </p:nvSpPr>
          <p:spPr>
            <a:xfrm>
              <a:off x="6621780" y="1838325"/>
              <a:ext cx="292715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Feature-recurrent network</a:t>
              </a:r>
            </a:p>
          </p:txBody>
        </p:sp>
        <p:sp>
          <p:nvSpPr>
            <p:cNvPr id="20" name="TextBox 20"/>
            <p:cNvSpPr txBox="1"/>
            <p:nvPr/>
          </p:nvSpPr>
          <p:spPr>
            <a:xfrm>
              <a:off x="6623876" y="2225754"/>
              <a:ext cx="447768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compact transformer-style net (FReeNet) that recurrently</a:t>
              </a:r>
            </a:p>
          </p:txBody>
        </p:sp>
        <p:sp>
          <p:nvSpPr>
            <p:cNvPr id="21" name="TextBox 21"/>
            <p:cNvSpPr txBox="1"/>
            <p:nvPr/>
          </p:nvSpPr>
          <p:spPr>
            <a:xfrm>
              <a:off x="6623876" y="2425779"/>
              <a:ext cx="43177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assembles tokens into hierarchical, high-resolution images,</a:t>
              </a:r>
            </a:p>
          </p:txBody>
        </p:sp>
        <p:sp>
          <p:nvSpPr>
            <p:cNvPr id="22" name="TextBox 22"/>
            <p:cNvSpPr txBox="1"/>
            <p:nvPr/>
          </p:nvSpPr>
          <p:spPr>
            <a:xfrm>
              <a:off x="6623876" y="2625804"/>
              <a:ext cx="241017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reusing shared tokens and codes.</a:t>
              </a:r>
            </a:p>
          </p:txBody>
        </p:sp>
      </p:grpSp>
      <p:grpSp>
        <p:nvGrpSpPr>
          <p:cNvPr id="31" name="Group 31"/>
          <p:cNvGrpSpPr/>
          <p:nvPr/>
        </p:nvGrpSpPr>
        <p:grpSpPr>
          <a:xfrm>
            <a:off x="533400" y="3371850"/>
            <a:ext cx="5448300" cy="1638300"/>
            <a:chOff x="533400" y="3371850"/>
            <a:chExt cx="5448300" cy="1638300"/>
          </a:xfrm>
        </p:grpSpPr>
        <p:sp>
          <p:nvSpPr>
            <p:cNvPr id="24" name="Rectangle 24"/>
            <p:cNvSpPr/>
            <p:nvPr/>
          </p:nvSpPr>
          <p:spPr>
            <a:xfrm>
              <a:off x="533400" y="3371850"/>
              <a:ext cx="5448300" cy="1638300"/>
            </a:xfrm>
            <a:prstGeom prst="roundRect">
              <a:avLst>
                <a:gd name="adj" fmla="val 8140"/>
              </a:avLst>
            </a:prstGeom>
            <a:solidFill>
              <a:schemeClr val="accent5"/>
            </a:solidFill>
            <a:ln w="11430">
              <a:solidFill>
                <a:schemeClr val="accent4"/>
              </a:solidFill>
            </a:ln>
          </p:spPr>
        </p:sp>
        <p:sp>
          <p:nvSpPr>
            <p:cNvPr id="25" name="Rectangle 25"/>
            <p:cNvSpPr/>
            <p:nvPr/>
          </p:nvSpPr>
          <p:spPr>
            <a:xfrm>
              <a:off x="762000" y="3638550"/>
              <a:ext cx="47625" cy="323850"/>
            </a:xfrm>
            <a:prstGeom prst="roundRect">
              <a:avLst>
                <a:gd name="adj" fmla="val 50000"/>
              </a:avLst>
            </a:prstGeom>
            <a:solidFill>
              <a:srgbClr val="57D9A3"/>
            </a:solidFill>
            <a:ln>
              <a:noFill/>
            </a:ln>
          </p:spPr>
        </p:sp>
        <p:sp>
          <p:nvSpPr>
            <p:cNvPr id="26" name="TextBox 26"/>
            <p:cNvSpPr txBox="1"/>
            <p:nvPr/>
          </p:nvSpPr>
          <p:spPr>
            <a:xfrm>
              <a:off x="5271402" y="3562350"/>
              <a:ext cx="496938" cy="586740"/>
            </a:xfrm>
            <a:prstGeom prst="rect">
              <a:avLst/>
            </a:prstGeom>
            <a:noFill/>
            <a:ln>
              <a:noFill/>
            </a:ln>
          </p:spPr>
          <p:txBody>
            <a:bodyPr wrap="none" lIns="0" tIns="0" rIns="0" bIns="0" anchor="t" anchorCtr="0">
              <a:spAutoFit/>
            </a:bodyPr>
            <a:lstStyle/>
            <a:p>
              <a:pPr algn="r"/>
              <a:r>
                <a:rPr lang="en-US" sz="3000" b="1" dirty="0">
                  <a:solidFill>
                    <a:srgbClr val="57D9A3">
                      <a:alphaMod val="50000"/>
                    </a:srgbClr>
                  </a:solidFill>
                  <a:latin typeface="Consolas"/>
                  <a:ea typeface="Consolas"/>
                  <a:cs typeface="Consolas"/>
                </a:rPr>
                <a:t>03</a:t>
              </a:r>
            </a:p>
          </p:txBody>
        </p:sp>
        <p:sp>
          <p:nvSpPr>
            <p:cNvPr id="27" name="TextBox 27"/>
            <p:cNvSpPr txBox="1"/>
            <p:nvPr/>
          </p:nvSpPr>
          <p:spPr>
            <a:xfrm>
              <a:off x="944880" y="3686175"/>
              <a:ext cx="171883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drop-in module</a:t>
              </a:r>
            </a:p>
          </p:txBody>
        </p:sp>
        <p:sp>
          <p:nvSpPr>
            <p:cNvPr id="28" name="TextBox 28"/>
            <p:cNvSpPr txBox="1"/>
            <p:nvPr/>
          </p:nvSpPr>
          <p:spPr>
            <a:xfrm>
              <a:off x="946976" y="4073604"/>
              <a:ext cx="42931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parameterization plugs into gradient, distribution, and</a:t>
              </a:r>
            </a:p>
          </p:txBody>
        </p:sp>
        <p:sp>
          <p:nvSpPr>
            <p:cNvPr id="29" name="TextBox 29"/>
            <p:cNvSpPr txBox="1"/>
            <p:nvPr/>
          </p:nvSpPr>
          <p:spPr>
            <a:xfrm>
              <a:off x="946976" y="4273629"/>
              <a:ext cx="408296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trajectory matching objectives alike, and improves all of</a:t>
              </a:r>
            </a:p>
          </p:txBody>
        </p:sp>
        <p:sp>
          <p:nvSpPr>
            <p:cNvPr id="30" name="TextBox 30"/>
            <p:cNvSpPr txBox="1"/>
            <p:nvPr/>
          </p:nvSpPr>
          <p:spPr>
            <a:xfrm>
              <a:off x="946976" y="4473654"/>
              <a:ext cx="44392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them.</a:t>
              </a:r>
            </a:p>
          </p:txBody>
        </p:sp>
      </p:grpSp>
      <p:grpSp>
        <p:nvGrpSpPr>
          <p:cNvPr id="38" name="Group 38"/>
          <p:cNvGrpSpPr/>
          <p:nvPr/>
        </p:nvGrpSpPr>
        <p:grpSpPr>
          <a:xfrm>
            <a:off x="6210300" y="3371850"/>
            <a:ext cx="5448300" cy="1638300"/>
            <a:chOff x="6210300" y="3371850"/>
            <a:chExt cx="5448300" cy="1638300"/>
          </a:xfrm>
        </p:grpSpPr>
        <p:sp>
          <p:nvSpPr>
            <p:cNvPr id="32" name="Rectangle 32"/>
            <p:cNvSpPr/>
            <p:nvPr/>
          </p:nvSpPr>
          <p:spPr>
            <a:xfrm>
              <a:off x="6210300" y="3371850"/>
              <a:ext cx="5448300" cy="1638300"/>
            </a:xfrm>
            <a:prstGeom prst="roundRect">
              <a:avLst>
                <a:gd name="adj" fmla="val 8140"/>
              </a:avLst>
            </a:prstGeom>
            <a:solidFill>
              <a:schemeClr val="accent5"/>
            </a:solidFill>
            <a:ln w="11430">
              <a:solidFill>
                <a:schemeClr val="accent4"/>
              </a:solidFill>
            </a:ln>
          </p:spPr>
        </p:sp>
        <p:sp>
          <p:nvSpPr>
            <p:cNvPr id="33" name="Rectangle 33"/>
            <p:cNvSpPr/>
            <p:nvPr/>
          </p:nvSpPr>
          <p:spPr>
            <a:xfrm>
              <a:off x="6438900" y="3638550"/>
              <a:ext cx="47625" cy="323850"/>
            </a:xfrm>
            <a:prstGeom prst="roundRect">
              <a:avLst>
                <a:gd name="adj" fmla="val 50000"/>
              </a:avLst>
            </a:prstGeom>
            <a:solidFill>
              <a:srgbClr val="F7B84B"/>
            </a:solidFill>
            <a:ln>
              <a:noFill/>
            </a:ln>
          </p:spPr>
        </p:sp>
        <p:sp>
          <p:nvSpPr>
            <p:cNvPr id="34" name="TextBox 34"/>
            <p:cNvSpPr txBox="1"/>
            <p:nvPr/>
          </p:nvSpPr>
          <p:spPr>
            <a:xfrm>
              <a:off x="10948302" y="3562350"/>
              <a:ext cx="496938" cy="586740"/>
            </a:xfrm>
            <a:prstGeom prst="rect">
              <a:avLst/>
            </a:prstGeom>
            <a:noFill/>
            <a:ln>
              <a:noFill/>
            </a:ln>
          </p:spPr>
          <p:txBody>
            <a:bodyPr wrap="none" lIns="0" tIns="0" rIns="0" bIns="0" anchor="t" anchorCtr="0">
              <a:spAutoFit/>
            </a:bodyPr>
            <a:lstStyle/>
            <a:p>
              <a:pPr algn="r"/>
              <a:r>
                <a:rPr lang="en-US" sz="3000" b="1" dirty="0">
                  <a:solidFill>
                    <a:srgbClr val="F7B84B">
                      <a:alphaMod val="50000"/>
                    </a:srgbClr>
                  </a:solidFill>
                  <a:latin typeface="Consolas"/>
                  <a:ea typeface="Consolas"/>
                  <a:cs typeface="Consolas"/>
                </a:rPr>
                <a:t>04</a:t>
              </a:r>
            </a:p>
          </p:txBody>
        </p:sp>
        <p:sp>
          <p:nvSpPr>
            <p:cNvPr id="35" name="TextBox 35"/>
            <p:cNvSpPr txBox="1"/>
            <p:nvPr/>
          </p:nvSpPr>
          <p:spPr>
            <a:xfrm>
              <a:off x="6621780" y="3686175"/>
              <a:ext cx="218556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New state of the art</a:t>
              </a:r>
            </a:p>
          </p:txBody>
        </p:sp>
        <p:sp>
          <p:nvSpPr>
            <p:cNvPr id="36" name="TextBox 36"/>
            <p:cNvSpPr txBox="1"/>
            <p:nvPr/>
          </p:nvSpPr>
          <p:spPr>
            <a:xfrm>
              <a:off x="6623876" y="4073604"/>
              <a:ext cx="450614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framework sets new state-of-the-art distillation results</a:t>
              </a:r>
            </a:p>
          </p:txBody>
        </p:sp>
        <p:sp>
          <p:nvSpPr>
            <p:cNvPr id="37" name="TextBox 37"/>
            <p:cNvSpPr txBox="1"/>
            <p:nvPr/>
          </p:nvSpPr>
          <p:spPr>
            <a:xfrm>
              <a:off x="6623876" y="4273629"/>
              <a:ext cx="348868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and is especially strong on high-resolution data.</a:t>
              </a:r>
            </a:p>
          </p:txBody>
        </p:sp>
      </p:grpSp>
      <p:sp>
        <p:nvSpPr>
          <p:cNvPr id="39" name="cue_s04_c1_speed_makes_three_main_contributions" title="cue_s04_c1_speed_makes_three_main_contributions" descr="cue_s04_c1_speed_makes_three_main_contributions SPEED makes three main contributions. First, it introduces spatial-agnostic epitomic tokens, a shared dictionary of tokens reused by every synthetic image patch, together with sparse coding matrices that select only the most significant tokens per image."/>
          <p:cNvSpPr/>
          <p:nvPr/>
        </p:nvSpPr>
        <p:spPr>
          <a:xfrm>
            <a:off x="532790" y="1523847"/>
            <a:ext cx="5448604"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2_second_proposes_feature_recurrent_ne" title="cue_s04_c2_second_proposes_feature_recurrent_ne" descr="cue_s04_c2_second_proposes_feature_recurrent_ne Second, it proposes a feature-recurrent network, a compact transformer-style network that recurrently assembles those tokens into hierarchical, high-resolution synthetic images while reusing the same shared tokens and codes."/>
          <p:cNvSpPr/>
          <p:nvPr/>
        </p:nvSpPr>
        <p:spPr>
          <a:xfrm>
            <a:off x="6210604" y="1523847"/>
            <a:ext cx="5448604"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3_third_shows_parameterization_drop_in" title="cue_s04_c3_third_shows_parameterization_drop_in" descr="cue_s04_c3_third_shows_parameterization_drop_in Third, it shows this parameterization is a drop-in module: it plugs into gradient, distribution, and trajectory matching objectives alike and improves all of them."/>
          <p:cNvSpPr/>
          <p:nvPr/>
        </p:nvSpPr>
        <p:spPr>
          <a:xfrm>
            <a:off x="532790" y="3372078"/>
            <a:ext cx="5448604"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4_framework_sets_new_state_of_the_art" title="cue_s04_c4_framework_sets_new_state_of_the_art" descr="cue_s04_c4_framework_sets_new_state_of_the_art The framework sets new state-of-the-art results and is especially strong on high-resolution data."/>
          <p:cNvSpPr/>
          <p:nvPr/>
        </p:nvSpPr>
        <p:spPr>
          <a:xfrm>
            <a:off x="6210604" y="3372078"/>
            <a:ext cx="5448604"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5000"/>
                </a:schemeClr>
              </a:gs>
              <a:gs pos="62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28924"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BENCHMARK</a:t>
            </a:r>
          </a:p>
        </p:txBody>
      </p:sp>
      <p:sp>
        <p:nvSpPr>
          <p:cNvPr id="5" name="TextBox 5"/>
          <p:cNvSpPr txBox="1"/>
          <p:nvPr/>
        </p:nvSpPr>
        <p:spPr>
          <a:xfrm>
            <a:off x="518160" y="781050"/>
            <a:ext cx="721146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Tested broadly, budget for budget</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7C7AA6"/>
                </a:solidFill>
                <a:latin typeface="Consolas"/>
                <a:ea typeface="Consolas"/>
                <a:cs typeface="Consolas"/>
              </a:rPr>
              <a:t>05 / 08</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628650"/>
            <a:chOff x="533400" y="1524000"/>
            <a:chExt cx="11125200" cy="628650"/>
          </a:xfrm>
        </p:grpSpPr>
        <p:sp>
          <p:nvSpPr>
            <p:cNvPr id="8" name="Rectangle 8"/>
            <p:cNvSpPr/>
            <p:nvPr/>
          </p:nvSpPr>
          <p:spPr>
            <a:xfrm>
              <a:off x="533400" y="1524000"/>
              <a:ext cx="11125200" cy="628650"/>
            </a:xfrm>
            <a:prstGeom prst="roundRect">
              <a:avLst>
                <a:gd name="adj" fmla="val 21212"/>
              </a:avLst>
            </a:prstGeom>
            <a:solidFill>
              <a:schemeClr val="accent5"/>
            </a:solidFill>
            <a:ln w="11430">
              <a:solidFill>
                <a:schemeClr val="accent4"/>
              </a:solidFill>
            </a:ln>
          </p:spPr>
        </p:sp>
        <p:sp>
          <p:nvSpPr>
            <p:cNvPr id="9" name="Rectangle 9"/>
            <p:cNvSpPr/>
            <p:nvPr/>
          </p:nvSpPr>
          <p:spPr>
            <a:xfrm>
              <a:off x="723900" y="1695450"/>
              <a:ext cx="47625" cy="285750"/>
            </a:xfrm>
            <a:prstGeom prst="roundRect">
              <a:avLst>
                <a:gd name="adj" fmla="val 50000"/>
              </a:avLst>
            </a:prstGeom>
            <a:solidFill>
              <a:srgbClr val="37DCC0"/>
            </a:solidFill>
            <a:ln>
              <a:noFill/>
            </a:ln>
          </p:spPr>
        </p:sp>
        <p:sp>
          <p:nvSpPr>
            <p:cNvPr id="10" name="TextBox 10"/>
            <p:cNvSpPr txBox="1"/>
            <p:nvPr/>
          </p:nvSpPr>
          <p:spPr>
            <a:xfrm>
              <a:off x="907542" y="1778318"/>
              <a:ext cx="638044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Standard: CIFAR-10 and CIFAR-100 at 32x32 · TinyImageNet at 64x64</a:t>
              </a:r>
            </a:p>
          </p:txBody>
        </p:sp>
      </p:grpSp>
      <p:grpSp>
        <p:nvGrpSpPr>
          <p:cNvPr id="33" name="Group 33"/>
          <p:cNvGrpSpPr/>
          <p:nvPr/>
        </p:nvGrpSpPr>
        <p:grpSpPr>
          <a:xfrm>
            <a:off x="533400" y="2343150"/>
            <a:ext cx="5676900" cy="2857500"/>
            <a:chOff x="533400" y="2343150"/>
            <a:chExt cx="5676900" cy="2857500"/>
          </a:xfrm>
        </p:grpSpPr>
        <p:sp>
          <p:nvSpPr>
            <p:cNvPr id="12" name="Rectangle 12"/>
            <p:cNvSpPr/>
            <p:nvPr/>
          </p:nvSpPr>
          <p:spPr>
            <a:xfrm>
              <a:off x="533400" y="2343150"/>
              <a:ext cx="5676900" cy="2857500"/>
            </a:xfrm>
            <a:prstGeom prst="roundRect">
              <a:avLst>
                <a:gd name="adj" fmla="val 4667"/>
              </a:avLst>
            </a:prstGeom>
            <a:solidFill>
              <a:schemeClr val="accent5"/>
            </a:solidFill>
            <a:ln w="11430">
              <a:solidFill>
                <a:schemeClr val="accent4"/>
              </a:solidFill>
            </a:ln>
          </p:spPr>
        </p:sp>
        <p:sp>
          <p:nvSpPr>
            <p:cNvPr id="13" name="Rectangle 13"/>
            <p:cNvSpPr/>
            <p:nvPr/>
          </p:nvSpPr>
          <p:spPr>
            <a:xfrm>
              <a:off x="723900" y="2571750"/>
              <a:ext cx="47625" cy="266700"/>
            </a:xfrm>
            <a:prstGeom prst="roundRect">
              <a:avLst>
                <a:gd name="adj" fmla="val 50000"/>
              </a:avLst>
            </a:prstGeom>
            <a:solidFill>
              <a:schemeClr val="accent2"/>
            </a:solidFill>
            <a:ln>
              <a:noFill/>
            </a:ln>
          </p:spPr>
        </p:sp>
        <p:sp>
          <p:nvSpPr>
            <p:cNvPr id="14" name="TextBox 14"/>
            <p:cNvSpPr txBox="1"/>
            <p:nvPr/>
          </p:nvSpPr>
          <p:spPr>
            <a:xfrm>
              <a:off x="888873" y="2624614"/>
              <a:ext cx="439648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Six ImageNet subsets at 128x128, 10 classes each</a:t>
              </a:r>
            </a:p>
          </p:txBody>
        </p:sp>
        <p:sp>
          <p:nvSpPr>
            <p:cNvPr id="15" name="Rectangle 15"/>
            <p:cNvSpPr/>
            <p:nvPr/>
          </p:nvSpPr>
          <p:spPr>
            <a:xfrm>
              <a:off x="723900" y="3048000"/>
              <a:ext cx="2552700" cy="552450"/>
            </a:xfrm>
            <a:prstGeom prst="roundRect">
              <a:avLst>
                <a:gd name="adj" fmla="val 17241"/>
              </a:avLst>
            </a:prstGeom>
            <a:solidFill>
              <a:schemeClr val="accent6"/>
            </a:solidFill>
            <a:ln w="10478">
              <a:solidFill>
                <a:schemeClr val="accent2"/>
              </a:solidFill>
            </a:ln>
          </p:spPr>
        </p:sp>
        <p:sp>
          <p:nvSpPr>
            <p:cNvPr id="16" name="Rectangle 16"/>
            <p:cNvSpPr/>
            <p:nvPr/>
          </p:nvSpPr>
          <p:spPr>
            <a:xfrm>
              <a:off x="857250" y="3200400"/>
              <a:ext cx="47625" cy="247650"/>
            </a:xfrm>
            <a:prstGeom prst="roundRect">
              <a:avLst>
                <a:gd name="adj" fmla="val 50000"/>
              </a:avLst>
            </a:prstGeom>
            <a:solidFill>
              <a:schemeClr val="accent2"/>
            </a:solidFill>
            <a:ln>
              <a:noFill/>
            </a:ln>
          </p:spPr>
        </p:sp>
        <p:sp>
          <p:nvSpPr>
            <p:cNvPr id="17" name="TextBox 17"/>
            <p:cNvSpPr txBox="1"/>
            <p:nvPr/>
          </p:nvSpPr>
          <p:spPr>
            <a:xfrm>
              <a:off x="1003744" y="3255883"/>
              <a:ext cx="915548"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ImageNette</a:t>
              </a:r>
            </a:p>
          </p:txBody>
        </p:sp>
        <p:sp>
          <p:nvSpPr>
            <p:cNvPr id="18" name="Rectangle 18"/>
            <p:cNvSpPr/>
            <p:nvPr/>
          </p:nvSpPr>
          <p:spPr>
            <a:xfrm>
              <a:off x="3467100" y="3048000"/>
              <a:ext cx="2552700" cy="552450"/>
            </a:xfrm>
            <a:prstGeom prst="roundRect">
              <a:avLst>
                <a:gd name="adj" fmla="val 17241"/>
              </a:avLst>
            </a:prstGeom>
            <a:solidFill>
              <a:schemeClr val="accent6"/>
            </a:solidFill>
            <a:ln w="10478">
              <a:solidFill>
                <a:srgbClr val="37DCC0"/>
              </a:solidFill>
            </a:ln>
          </p:spPr>
        </p:sp>
        <p:sp>
          <p:nvSpPr>
            <p:cNvPr id="19" name="Rectangle 19"/>
            <p:cNvSpPr/>
            <p:nvPr/>
          </p:nvSpPr>
          <p:spPr>
            <a:xfrm>
              <a:off x="3600450" y="3200400"/>
              <a:ext cx="47625" cy="247650"/>
            </a:xfrm>
            <a:prstGeom prst="roundRect">
              <a:avLst>
                <a:gd name="adj" fmla="val 50000"/>
              </a:avLst>
            </a:prstGeom>
            <a:solidFill>
              <a:srgbClr val="37DCC0"/>
            </a:solidFill>
            <a:ln>
              <a:noFill/>
            </a:ln>
          </p:spPr>
        </p:sp>
        <p:sp>
          <p:nvSpPr>
            <p:cNvPr id="20" name="TextBox 20"/>
            <p:cNvSpPr txBox="1"/>
            <p:nvPr/>
          </p:nvSpPr>
          <p:spPr>
            <a:xfrm>
              <a:off x="3746944" y="3255883"/>
              <a:ext cx="858562"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ImageWoof</a:t>
              </a:r>
            </a:p>
          </p:txBody>
        </p:sp>
        <p:sp>
          <p:nvSpPr>
            <p:cNvPr id="21" name="Rectangle 21"/>
            <p:cNvSpPr/>
            <p:nvPr/>
          </p:nvSpPr>
          <p:spPr>
            <a:xfrm>
              <a:off x="723900" y="3733800"/>
              <a:ext cx="2552700" cy="552450"/>
            </a:xfrm>
            <a:prstGeom prst="roundRect">
              <a:avLst>
                <a:gd name="adj" fmla="val 17241"/>
              </a:avLst>
            </a:prstGeom>
            <a:solidFill>
              <a:schemeClr val="accent6"/>
            </a:solidFill>
            <a:ln w="10478">
              <a:solidFill>
                <a:srgbClr val="F7B84B"/>
              </a:solidFill>
            </a:ln>
          </p:spPr>
        </p:sp>
        <p:sp>
          <p:nvSpPr>
            <p:cNvPr id="22" name="Rectangle 22"/>
            <p:cNvSpPr/>
            <p:nvPr/>
          </p:nvSpPr>
          <p:spPr>
            <a:xfrm>
              <a:off x="857250" y="3886200"/>
              <a:ext cx="47625" cy="247650"/>
            </a:xfrm>
            <a:prstGeom prst="roundRect">
              <a:avLst>
                <a:gd name="adj" fmla="val 50000"/>
              </a:avLst>
            </a:prstGeom>
            <a:solidFill>
              <a:srgbClr val="F7B84B"/>
            </a:solidFill>
            <a:ln>
              <a:noFill/>
            </a:ln>
          </p:spPr>
        </p:sp>
        <p:sp>
          <p:nvSpPr>
            <p:cNvPr id="23" name="TextBox 23"/>
            <p:cNvSpPr txBox="1"/>
            <p:nvPr/>
          </p:nvSpPr>
          <p:spPr>
            <a:xfrm>
              <a:off x="1003744" y="3941683"/>
              <a:ext cx="874093"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ImageFruit</a:t>
              </a:r>
            </a:p>
          </p:txBody>
        </p:sp>
        <p:sp>
          <p:nvSpPr>
            <p:cNvPr id="24" name="Rectangle 24"/>
            <p:cNvSpPr/>
            <p:nvPr/>
          </p:nvSpPr>
          <p:spPr>
            <a:xfrm>
              <a:off x="3467100" y="3733800"/>
              <a:ext cx="2552700" cy="552450"/>
            </a:xfrm>
            <a:prstGeom prst="roundRect">
              <a:avLst>
                <a:gd name="adj" fmla="val 17241"/>
              </a:avLst>
            </a:prstGeom>
            <a:solidFill>
              <a:schemeClr val="accent6"/>
            </a:solidFill>
            <a:ln w="10478">
              <a:solidFill>
                <a:srgbClr val="57D9A3"/>
              </a:solidFill>
            </a:ln>
          </p:spPr>
        </p:sp>
        <p:sp>
          <p:nvSpPr>
            <p:cNvPr id="25" name="Rectangle 25"/>
            <p:cNvSpPr/>
            <p:nvPr/>
          </p:nvSpPr>
          <p:spPr>
            <a:xfrm>
              <a:off x="3600450" y="3886200"/>
              <a:ext cx="47625" cy="247650"/>
            </a:xfrm>
            <a:prstGeom prst="roundRect">
              <a:avLst>
                <a:gd name="adj" fmla="val 50000"/>
              </a:avLst>
            </a:prstGeom>
            <a:solidFill>
              <a:srgbClr val="57D9A3"/>
            </a:solidFill>
            <a:ln>
              <a:noFill/>
            </a:ln>
          </p:spPr>
        </p:sp>
        <p:sp>
          <p:nvSpPr>
            <p:cNvPr id="26" name="TextBox 26"/>
            <p:cNvSpPr txBox="1"/>
            <p:nvPr/>
          </p:nvSpPr>
          <p:spPr>
            <a:xfrm>
              <a:off x="3746944" y="3941683"/>
              <a:ext cx="891768"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ImageMeow</a:t>
              </a:r>
            </a:p>
          </p:txBody>
        </p:sp>
        <p:sp>
          <p:nvSpPr>
            <p:cNvPr id="27" name="Rectangle 27"/>
            <p:cNvSpPr/>
            <p:nvPr/>
          </p:nvSpPr>
          <p:spPr>
            <a:xfrm>
              <a:off x="723900" y="4419600"/>
              <a:ext cx="2552700" cy="552450"/>
            </a:xfrm>
            <a:prstGeom prst="roundRect">
              <a:avLst>
                <a:gd name="adj" fmla="val 17241"/>
              </a:avLst>
            </a:prstGeom>
            <a:solidFill>
              <a:schemeClr val="accent6"/>
            </a:solidFill>
            <a:ln w="10478">
              <a:solidFill>
                <a:srgbClr val="F2708A"/>
              </a:solidFill>
            </a:ln>
          </p:spPr>
        </p:sp>
        <p:sp>
          <p:nvSpPr>
            <p:cNvPr id="28" name="Rectangle 28"/>
            <p:cNvSpPr/>
            <p:nvPr/>
          </p:nvSpPr>
          <p:spPr>
            <a:xfrm>
              <a:off x="857250" y="4572000"/>
              <a:ext cx="47625" cy="247650"/>
            </a:xfrm>
            <a:prstGeom prst="roundRect">
              <a:avLst>
                <a:gd name="adj" fmla="val 50000"/>
              </a:avLst>
            </a:prstGeom>
            <a:solidFill>
              <a:srgbClr val="F2708A"/>
            </a:solidFill>
            <a:ln>
              <a:noFill/>
            </a:ln>
          </p:spPr>
        </p:sp>
        <p:sp>
          <p:nvSpPr>
            <p:cNvPr id="29" name="TextBox 29"/>
            <p:cNvSpPr txBox="1"/>
            <p:nvPr/>
          </p:nvSpPr>
          <p:spPr>
            <a:xfrm>
              <a:off x="1003744" y="4627483"/>
              <a:ext cx="1038870"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ImageSquawk</a:t>
              </a:r>
            </a:p>
          </p:txBody>
        </p:sp>
        <p:sp>
          <p:nvSpPr>
            <p:cNvPr id="30" name="Rectangle 30"/>
            <p:cNvSpPr/>
            <p:nvPr/>
          </p:nvSpPr>
          <p:spPr>
            <a:xfrm>
              <a:off x="3467100" y="4419600"/>
              <a:ext cx="2552700" cy="552450"/>
            </a:xfrm>
            <a:prstGeom prst="roundRect">
              <a:avLst>
                <a:gd name="adj" fmla="val 17241"/>
              </a:avLst>
            </a:prstGeom>
            <a:solidFill>
              <a:schemeClr val="accent6"/>
            </a:solidFill>
            <a:ln w="10478">
              <a:solidFill>
                <a:srgbClr val="B98CF0"/>
              </a:solidFill>
            </a:ln>
          </p:spPr>
        </p:sp>
        <p:sp>
          <p:nvSpPr>
            <p:cNvPr id="31" name="Rectangle 31"/>
            <p:cNvSpPr/>
            <p:nvPr/>
          </p:nvSpPr>
          <p:spPr>
            <a:xfrm>
              <a:off x="3600450" y="4572000"/>
              <a:ext cx="47625" cy="247650"/>
            </a:xfrm>
            <a:prstGeom prst="roundRect">
              <a:avLst>
                <a:gd name="adj" fmla="val 50000"/>
              </a:avLst>
            </a:prstGeom>
            <a:solidFill>
              <a:srgbClr val="B98CF0"/>
            </a:solidFill>
            <a:ln>
              <a:noFill/>
            </a:ln>
          </p:spPr>
        </p:sp>
        <p:sp>
          <p:nvSpPr>
            <p:cNvPr id="32" name="TextBox 32"/>
            <p:cNvSpPr txBox="1"/>
            <p:nvPr/>
          </p:nvSpPr>
          <p:spPr>
            <a:xfrm>
              <a:off x="3746944" y="4627483"/>
              <a:ext cx="956042"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ImageYellow</a:t>
              </a:r>
            </a:p>
          </p:txBody>
        </p:sp>
      </p:grpSp>
      <p:grpSp>
        <p:nvGrpSpPr>
          <p:cNvPr id="43" name="Group 43"/>
          <p:cNvGrpSpPr/>
          <p:nvPr/>
        </p:nvGrpSpPr>
        <p:grpSpPr>
          <a:xfrm>
            <a:off x="6438900" y="2343150"/>
            <a:ext cx="5219700" cy="1314450"/>
            <a:chOff x="6438900" y="2343150"/>
            <a:chExt cx="5219700" cy="1314450"/>
          </a:xfrm>
        </p:grpSpPr>
        <p:sp>
          <p:nvSpPr>
            <p:cNvPr id="34" name="Rectangle 34"/>
            <p:cNvSpPr/>
            <p:nvPr/>
          </p:nvSpPr>
          <p:spPr>
            <a:xfrm>
              <a:off x="6438900" y="2343150"/>
              <a:ext cx="5219700" cy="1314450"/>
            </a:xfrm>
            <a:prstGeom prst="roundRect">
              <a:avLst>
                <a:gd name="adj" fmla="val 10145"/>
              </a:avLst>
            </a:prstGeom>
            <a:solidFill>
              <a:schemeClr val="accent5"/>
            </a:solidFill>
            <a:ln w="11430">
              <a:solidFill>
                <a:schemeClr val="accent4"/>
              </a:solidFill>
            </a:ln>
          </p:spPr>
        </p:sp>
        <p:sp>
          <p:nvSpPr>
            <p:cNvPr id="35" name="Rectangle 35"/>
            <p:cNvSpPr/>
            <p:nvPr/>
          </p:nvSpPr>
          <p:spPr>
            <a:xfrm>
              <a:off x="6629400" y="2552700"/>
              <a:ext cx="47625" cy="266700"/>
            </a:xfrm>
            <a:prstGeom prst="roundRect">
              <a:avLst>
                <a:gd name="adj" fmla="val 50000"/>
              </a:avLst>
            </a:prstGeom>
            <a:solidFill>
              <a:srgbClr val="F7B84B"/>
            </a:solidFill>
            <a:ln>
              <a:noFill/>
            </a:ln>
          </p:spPr>
        </p:sp>
        <p:sp>
          <p:nvSpPr>
            <p:cNvPr id="36" name="TextBox 36"/>
            <p:cNvSpPr txBox="1"/>
            <p:nvPr/>
          </p:nvSpPr>
          <p:spPr>
            <a:xfrm>
              <a:off x="6794754" y="2613660"/>
              <a:ext cx="1985367" cy="234696"/>
            </a:xfrm>
            <a:prstGeom prst="rect">
              <a:avLst/>
            </a:prstGeom>
            <a:noFill/>
            <a:ln>
              <a:noFill/>
            </a:ln>
          </p:spPr>
          <p:txBody>
            <a:bodyPr wrap="none" lIns="0" tIns="0" rIns="0" bIns="0" anchor="t" anchorCtr="0">
              <a:spAutoFit/>
            </a:bodyPr>
            <a:lstStyle/>
            <a:p>
              <a:pPr algn="l"/>
              <a:r>
                <a:rPr lang="en-US" sz="1200" b="1" dirty="0">
                  <a:solidFill>
                    <a:srgbClr val="F7B84B"/>
                  </a:solidFill>
                  <a:latin typeface="+mn-lt"/>
                  <a:ea typeface="+mn-ea"/>
                  <a:cs typeface="+mn-cs"/>
                </a:rPr>
                <a:t>Robustness stress test</a:t>
              </a:r>
            </a:p>
          </p:txBody>
        </p:sp>
        <p:sp>
          <p:nvSpPr>
            <p:cNvPr id="37" name="TextBox 37"/>
            <p:cNvSpPr txBox="1"/>
            <p:nvPr/>
          </p:nvSpPr>
          <p:spPr>
            <a:xfrm>
              <a:off x="6643116" y="2915602"/>
              <a:ext cx="77983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Benchmark</a:t>
              </a:r>
            </a:p>
          </p:txBody>
        </p:sp>
        <p:sp>
          <p:nvSpPr>
            <p:cNvPr id="38" name="TextBox 38"/>
            <p:cNvSpPr txBox="1"/>
            <p:nvPr/>
          </p:nvSpPr>
          <p:spPr>
            <a:xfrm>
              <a:off x="10534162" y="2915602"/>
              <a:ext cx="920222" cy="205359"/>
            </a:xfrm>
            <a:prstGeom prst="rect">
              <a:avLst/>
            </a:prstGeom>
            <a:noFill/>
            <a:ln>
              <a:noFill/>
            </a:ln>
          </p:spPr>
          <p:txBody>
            <a:bodyPr wrap="none" lIns="0" tIns="0" rIns="0" bIns="0" anchor="t" anchorCtr="0">
              <a:spAutoFit/>
            </a:bodyPr>
            <a:lstStyle/>
            <a:p>
              <a:pPr algn="r"/>
              <a:r>
                <a:rPr lang="en-US" sz="1050" b="1" dirty="0">
                  <a:solidFill>
                    <a:schemeClr val="dk1"/>
                  </a:solidFill>
                  <a:latin typeface="Consolas"/>
                  <a:ea typeface="Consolas"/>
                  <a:cs typeface="Consolas"/>
                </a:rPr>
                <a:t>CIFAR-100-C</a:t>
              </a:r>
            </a:p>
          </p:txBody>
        </p:sp>
        <p:sp>
          <p:nvSpPr>
            <p:cNvPr id="39" name="TextBox 39"/>
            <p:cNvSpPr txBox="1"/>
            <p:nvPr/>
          </p:nvSpPr>
          <p:spPr>
            <a:xfrm>
              <a:off x="6643116" y="3144202"/>
              <a:ext cx="124719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Corruption types</a:t>
              </a:r>
            </a:p>
          </p:txBody>
        </p:sp>
        <p:sp>
          <p:nvSpPr>
            <p:cNvPr id="40" name="TextBox 40"/>
            <p:cNvSpPr txBox="1"/>
            <p:nvPr/>
          </p:nvSpPr>
          <p:spPr>
            <a:xfrm>
              <a:off x="11280456" y="3144202"/>
              <a:ext cx="173928" cy="205359"/>
            </a:xfrm>
            <a:prstGeom prst="rect">
              <a:avLst/>
            </a:prstGeom>
            <a:noFill/>
            <a:ln>
              <a:noFill/>
            </a:ln>
          </p:spPr>
          <p:txBody>
            <a:bodyPr wrap="none" lIns="0" tIns="0" rIns="0" bIns="0" anchor="t" anchorCtr="0">
              <a:spAutoFit/>
            </a:bodyPr>
            <a:lstStyle/>
            <a:p>
              <a:pPr algn="r"/>
              <a:r>
                <a:rPr lang="en-US" sz="1050" b="1" dirty="0">
                  <a:solidFill>
                    <a:schemeClr val="dk1"/>
                  </a:solidFill>
                  <a:latin typeface="Consolas"/>
                  <a:ea typeface="Consolas"/>
                  <a:cs typeface="Consolas"/>
                </a:rPr>
                <a:t>14</a:t>
              </a:r>
            </a:p>
          </p:txBody>
        </p:sp>
        <p:sp>
          <p:nvSpPr>
            <p:cNvPr id="41" name="TextBox 41"/>
            <p:cNvSpPr txBox="1"/>
            <p:nvPr/>
          </p:nvSpPr>
          <p:spPr>
            <a:xfrm>
              <a:off x="6643116" y="3372802"/>
              <a:ext cx="1091053"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Severity levels</a:t>
              </a:r>
            </a:p>
          </p:txBody>
        </p:sp>
        <p:sp>
          <p:nvSpPr>
            <p:cNvPr id="42" name="TextBox 42"/>
            <p:cNvSpPr txBox="1"/>
            <p:nvPr/>
          </p:nvSpPr>
          <p:spPr>
            <a:xfrm>
              <a:off x="11362086" y="3372802"/>
              <a:ext cx="92298" cy="205359"/>
            </a:xfrm>
            <a:prstGeom prst="rect">
              <a:avLst/>
            </a:prstGeom>
            <a:noFill/>
            <a:ln>
              <a:noFill/>
            </a:ln>
          </p:spPr>
          <p:txBody>
            <a:bodyPr wrap="none" lIns="0" tIns="0" rIns="0" bIns="0" anchor="t" anchorCtr="0">
              <a:spAutoFit/>
            </a:bodyPr>
            <a:lstStyle/>
            <a:p>
              <a:pPr algn="r"/>
              <a:r>
                <a:rPr lang="en-US" sz="1050" b="1" dirty="0">
                  <a:solidFill>
                    <a:schemeClr val="dk1"/>
                  </a:solidFill>
                  <a:latin typeface="Consolas"/>
                  <a:ea typeface="Consolas"/>
                  <a:cs typeface="Consolas"/>
                </a:rPr>
                <a:t>5</a:t>
              </a:r>
            </a:p>
          </p:txBody>
        </p:sp>
      </p:grpSp>
      <p:grpSp>
        <p:nvGrpSpPr>
          <p:cNvPr id="50" name="Group 50"/>
          <p:cNvGrpSpPr/>
          <p:nvPr/>
        </p:nvGrpSpPr>
        <p:grpSpPr>
          <a:xfrm>
            <a:off x="6438900" y="3848100"/>
            <a:ext cx="5219700" cy="1352550"/>
            <a:chOff x="6438900" y="3848100"/>
            <a:chExt cx="5219700" cy="1352550"/>
          </a:xfrm>
        </p:grpSpPr>
        <p:sp>
          <p:nvSpPr>
            <p:cNvPr id="44" name="Rectangle 44"/>
            <p:cNvSpPr/>
            <p:nvPr/>
          </p:nvSpPr>
          <p:spPr>
            <a:xfrm>
              <a:off x="6438900" y="3848100"/>
              <a:ext cx="5219700" cy="1352550"/>
            </a:xfrm>
            <a:prstGeom prst="roundRect">
              <a:avLst>
                <a:gd name="adj" fmla="val 9859"/>
              </a:avLst>
            </a:prstGeom>
            <a:solidFill>
              <a:schemeClr val="accent6"/>
            </a:solidFill>
            <a:ln w="12382">
              <a:solidFill>
                <a:srgbClr val="37DCC0"/>
              </a:solidFill>
            </a:ln>
          </p:spPr>
        </p:sp>
        <p:sp>
          <p:nvSpPr>
            <p:cNvPr id="45" name="Rectangle 45"/>
            <p:cNvSpPr/>
            <p:nvPr/>
          </p:nvSpPr>
          <p:spPr>
            <a:xfrm>
              <a:off x="6629400" y="4057650"/>
              <a:ext cx="47625" cy="285750"/>
            </a:xfrm>
            <a:prstGeom prst="roundRect">
              <a:avLst>
                <a:gd name="adj" fmla="val 50000"/>
              </a:avLst>
            </a:prstGeom>
            <a:solidFill>
              <a:srgbClr val="37DCC0"/>
            </a:solidFill>
            <a:ln>
              <a:noFill/>
            </a:ln>
          </p:spPr>
        </p:sp>
        <p:sp>
          <p:nvSpPr>
            <p:cNvPr id="46" name="TextBox 46"/>
            <p:cNvSpPr txBox="1"/>
            <p:nvPr/>
          </p:nvSpPr>
          <p:spPr>
            <a:xfrm>
              <a:off x="6813994" y="4122658"/>
              <a:ext cx="2599916" cy="227362"/>
            </a:xfrm>
            <a:prstGeom prst="rect">
              <a:avLst/>
            </a:prstGeom>
            <a:noFill/>
            <a:ln>
              <a:noFill/>
            </a:ln>
          </p:spPr>
          <p:txBody>
            <a:bodyPr wrap="none" lIns="0" tIns="0" rIns="0" bIns="0" anchor="t" anchorCtr="0">
              <a:spAutoFit/>
            </a:bodyPr>
            <a:lstStyle/>
            <a:p>
              <a:pPr algn="l"/>
              <a:r>
                <a:rPr lang="en-US" sz="1160" b="1" dirty="0">
                  <a:solidFill>
                    <a:srgbClr val="37DCC0"/>
                  </a:solidFill>
                  <a:latin typeface="+mn-lt"/>
                  <a:ea typeface="+mn-ea"/>
                  <a:cs typeface="+mn-cs"/>
                </a:rPr>
                <a:t>Equal budgets, params per class</a:t>
              </a:r>
            </a:p>
          </p:txBody>
        </p:sp>
        <p:sp>
          <p:nvSpPr>
            <p:cNvPr id="47" name="TextBox 47"/>
            <p:cNvSpPr txBox="1"/>
            <p:nvPr/>
          </p:nvSpPr>
          <p:spPr>
            <a:xfrm>
              <a:off x="6642735" y="4412456"/>
              <a:ext cx="114053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Consolas"/>
                  <a:ea typeface="Consolas"/>
                  <a:cs typeface="Consolas"/>
                </a:rPr>
                <a:t>IPC 1 · 10 · 50</a:t>
              </a:r>
            </a:p>
          </p:txBody>
        </p:sp>
        <p:sp>
          <p:nvSpPr>
            <p:cNvPr id="48" name="TextBox 48"/>
            <p:cNvSpPr txBox="1"/>
            <p:nvPr/>
          </p:nvSpPr>
          <p:spPr>
            <a:xfrm>
              <a:off x="6643306" y="4662726"/>
              <a:ext cx="26551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Default ConvNet + trajectory matching;</a:t>
              </a:r>
            </a:p>
          </p:txBody>
        </p:sp>
        <p:sp>
          <p:nvSpPr>
            <p:cNvPr id="49" name="TextBox 49"/>
            <p:cNvSpPr txBox="1"/>
            <p:nvPr/>
          </p:nvSpPr>
          <p:spPr>
            <a:xfrm>
              <a:off x="6643306" y="4853226"/>
              <a:ext cx="267984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cross-arch eval on MLP, ResNet18, ViT.</a:t>
              </a:r>
            </a:p>
          </p:txBody>
        </p:sp>
      </p:grpSp>
      <p:sp>
        <p:nvSpPr>
          <p:cNvPr id="51" name="cue_s05_c1_speed_tested_broadly_standard_side" title="cue_s05_c1_speed_tested_broadly_standard_side" descr="cue_s05_c1_speed_tested_broadly_standard_side SPEED is tested broadly. On the standard side, it uses CIFAR-10 and CIFAR-100 at thirty-two by thirty-two resolution and TinyImageNet at sixty-four by sixty-four."/>
          <p:cNvSpPr/>
          <p:nvPr/>
        </p:nvSpPr>
        <p:spPr>
          <a:xfrm>
            <a:off x="532790" y="1523847"/>
            <a:ext cx="111252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5_c2_stress_high_resolution_performance_s" title="cue_s05_c2_stress_high_resolution_performance_s" descr="cue_s05_c2_stress_high_resolution_performance_s To stress high-resolution performance, it uses six ImageNet subsets at one-twenty-eight by one-twenty-eight, each with ten classes: ImageNette, ImageWoof, ImageFruit, ImageMeow, ImageSquawk, and ImageYellow."/>
          <p:cNvSpPr/>
          <p:nvPr/>
        </p:nvSpPr>
        <p:spPr>
          <a:xfrm>
            <a:off x="532790" y="2343378"/>
            <a:ext cx="56765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5_c3_robustness_measured_cifar_100_c_four" title="cue_s05_c3_robustness_measured_cifar_100_c_four" descr="cue_s05_c3_robustness_measured_cifar_100_c_four Robustness is measured on CIFAR-100-C with fourteen corruption types at five severity levels. Everything is compared under equal storage budgets, counted in parameters per class, at one, ten, and fifty images per class."/>
          <p:cNvSpPr/>
          <p:nvPr/>
        </p:nvSpPr>
        <p:spPr>
          <a:xfrm>
            <a:off x="6438595" y="2343378"/>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5_c4_default_backbone_convnet_default_mat" title="cue_s05_c4_default_backbone_convnet_default_mat" descr="cue_s05_c4_default_backbone_convnet_default_mat The default backbone is a ConvNet, the default matching objective is trajectory matching, and generalization is checked on MLP, ResNet18, and ViT."/>
          <p:cNvSpPr/>
          <p:nvPr/>
        </p:nvSpPr>
        <p:spPr>
          <a:xfrm>
            <a:off x="6438595" y="3848023"/>
            <a:ext cx="5219395"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5000"/>
                </a:schemeClr>
              </a:gs>
              <a:gs pos="62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77656"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KEY RESULT</a:t>
            </a:r>
          </a:p>
        </p:txBody>
      </p:sp>
      <p:sp>
        <p:nvSpPr>
          <p:cNvPr id="5" name="TextBox 5"/>
          <p:cNvSpPr txBox="1"/>
          <p:nvPr/>
        </p:nvSpPr>
        <p:spPr>
          <a:xfrm>
            <a:off x="518160" y="781050"/>
            <a:ext cx="780579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A clean sweep of the state of the art</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7C7AA6"/>
                </a:solidFill>
                <a:latin typeface="Consolas"/>
                <a:ea typeface="Consolas"/>
                <a:cs typeface="Consolas"/>
              </a:rPr>
              <a:t>06 / 08</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0" name="Group 10"/>
          <p:cNvGrpSpPr/>
          <p:nvPr/>
        </p:nvGrpSpPr>
        <p:grpSpPr>
          <a:xfrm>
            <a:off x="533400" y="1524000"/>
            <a:ext cx="11125200" cy="552450"/>
            <a:chOff x="533400" y="1524000"/>
            <a:chExt cx="11125200" cy="552450"/>
          </a:xfrm>
        </p:grpSpPr>
        <p:sp>
          <p:nvSpPr>
            <p:cNvPr id="8" name="Rectangle 8"/>
            <p:cNvSpPr/>
            <p:nvPr/>
          </p:nvSpPr>
          <p:spPr>
            <a:xfrm>
              <a:off x="533400" y="1524000"/>
              <a:ext cx="11125200" cy="552450"/>
            </a:xfrm>
            <a:prstGeom prst="roundRect">
              <a:avLst>
                <a:gd name="adj" fmla="val 20690"/>
              </a:avLst>
            </a:prstGeom>
            <a:solidFill>
              <a:schemeClr val="accent6"/>
            </a:solidFill>
            <a:ln w="11430">
              <a:solidFill>
                <a:srgbClr val="F7B84B"/>
              </a:solidFill>
            </a:ln>
          </p:spPr>
        </p:sp>
        <p:sp>
          <p:nvSpPr>
            <p:cNvPr id="9" name="TextBox 9"/>
            <p:cNvSpPr txBox="1"/>
            <p:nvPr/>
          </p:nvSpPr>
          <p:spPr>
            <a:xfrm>
              <a:off x="717232" y="1734741"/>
              <a:ext cx="966117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New state-of-the-art across all three standard benchmarks and all six high-resolution ImageNet subsets.</a:t>
              </a:r>
            </a:p>
          </p:txBody>
        </p:sp>
      </p:grpSp>
      <p:grpSp>
        <p:nvGrpSpPr>
          <p:cNvPr id="28" name="Group 28"/>
          <p:cNvGrpSpPr/>
          <p:nvPr/>
        </p:nvGrpSpPr>
        <p:grpSpPr>
          <a:xfrm>
            <a:off x="533400" y="2286000"/>
            <a:ext cx="5676900" cy="2819400"/>
            <a:chOff x="533400" y="2286000"/>
            <a:chExt cx="5676900" cy="2819400"/>
          </a:xfrm>
        </p:grpSpPr>
        <p:sp>
          <p:nvSpPr>
            <p:cNvPr id="11" name="Rectangle 11"/>
            <p:cNvSpPr/>
            <p:nvPr/>
          </p:nvSpPr>
          <p:spPr>
            <a:xfrm>
              <a:off x="533400" y="2286000"/>
              <a:ext cx="5676900" cy="2819400"/>
            </a:xfrm>
            <a:prstGeom prst="roundRect">
              <a:avLst>
                <a:gd name="adj" fmla="val 4730"/>
              </a:avLst>
            </a:prstGeom>
            <a:solidFill>
              <a:schemeClr val="accent5"/>
            </a:solidFill>
            <a:ln w="11430">
              <a:solidFill>
                <a:schemeClr val="accent4"/>
              </a:solidFill>
            </a:ln>
          </p:spPr>
        </p:sp>
        <p:sp>
          <p:nvSpPr>
            <p:cNvPr id="12" name="TextBox 12"/>
            <p:cNvSpPr txBox="1"/>
            <p:nvPr/>
          </p:nvSpPr>
          <p:spPr>
            <a:xfrm>
              <a:off x="755523" y="2529364"/>
              <a:ext cx="38820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Accuracy gain at the tightest 1 image/class</a:t>
              </a:r>
            </a:p>
          </p:txBody>
        </p:sp>
        <p:sp>
          <p:nvSpPr>
            <p:cNvPr id="13" name="TextBox 13"/>
            <p:cNvSpPr txBox="1"/>
            <p:nvPr/>
          </p:nvSpPr>
          <p:spPr>
            <a:xfrm>
              <a:off x="5671994" y="2561749"/>
              <a:ext cx="314659" cy="190690"/>
            </a:xfrm>
            <a:prstGeom prst="rect">
              <a:avLst/>
            </a:prstGeom>
            <a:noFill/>
            <a:ln>
              <a:noFill/>
            </a:ln>
          </p:spPr>
          <p:txBody>
            <a:bodyPr wrap="none" lIns="0" tIns="0" rIns="0" bIns="0" anchor="t" anchorCtr="0">
              <a:spAutoFit/>
            </a:bodyPr>
            <a:lstStyle/>
            <a:p>
              <a:pPr algn="r"/>
              <a:r>
                <a:rPr lang="en-US" sz="980" b="1" dirty="0">
                  <a:solidFill>
                    <a:srgbClr val="7C7AA6"/>
                  </a:solidFill>
                  <a:latin typeface="Consolas"/>
                  <a:ea typeface="Consolas"/>
                  <a:cs typeface="Consolas"/>
                </a:rPr>
                <a:t>+pts</a:t>
              </a:r>
            </a:p>
          </p:txBody>
        </p:sp>
        <p:sp>
          <p:nvSpPr>
            <p:cNvPr id="14" name="Line 14"/>
            <p:cNvSpPr/>
            <p:nvPr/>
          </p:nvSpPr>
          <p:spPr>
            <a:xfrm>
              <a:off x="914400" y="4400550"/>
              <a:ext cx="4819650" cy="9525"/>
            </a:xfrm>
            <a:custGeom>
              <a:avLst/>
              <a:gdLst/>
              <a:ahLst/>
              <a:cxnLst/>
              <a:rect l="l" t="t" r="r" b="b"/>
              <a:pathLst>
                <a:path w="4819650" h="9525">
                  <a:moveTo>
                    <a:pt x="0" y="0"/>
                  </a:moveTo>
                  <a:lnTo>
                    <a:pt x="4819650" y="0"/>
                  </a:lnTo>
                </a:path>
              </a:pathLst>
            </a:custGeom>
            <a:noFill/>
            <a:ln w="11430">
              <a:solidFill>
                <a:srgbClr val="7C7AA6"/>
              </a:solidFill>
            </a:ln>
          </p:spPr>
        </p:sp>
        <p:sp>
          <p:nvSpPr>
            <p:cNvPr id="15" name="Rectangle 15"/>
            <p:cNvSpPr/>
            <p:nvPr/>
          </p:nvSpPr>
          <p:spPr>
            <a:xfrm>
              <a:off x="1245160" y="3686175"/>
              <a:ext cx="945029" cy="714375"/>
            </a:xfrm>
            <a:prstGeom prst="roundRect">
              <a:avLst>
                <a:gd name="adj" fmla="val 6667"/>
              </a:avLst>
            </a:prstGeom>
            <a:solidFill>
              <a:schemeClr val="accent2"/>
            </a:solidFill>
            <a:ln>
              <a:noFill/>
            </a:ln>
          </p:spPr>
        </p:sp>
        <p:sp>
          <p:nvSpPr>
            <p:cNvPr id="16" name="TextBox 16"/>
            <p:cNvSpPr txBox="1"/>
            <p:nvPr/>
          </p:nvSpPr>
          <p:spPr>
            <a:xfrm>
              <a:off x="1611687" y="3453289"/>
              <a:ext cx="211976"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+6</a:t>
              </a:r>
            </a:p>
          </p:txBody>
        </p:sp>
        <p:sp>
          <p:nvSpPr>
            <p:cNvPr id="17" name="TextBox 17"/>
            <p:cNvSpPr txBox="1"/>
            <p:nvPr/>
          </p:nvSpPr>
          <p:spPr>
            <a:xfrm>
              <a:off x="1382994" y="4470797"/>
              <a:ext cx="66936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CIFAR-100</a:t>
              </a:r>
            </a:p>
          </p:txBody>
        </p:sp>
        <p:sp>
          <p:nvSpPr>
            <p:cNvPr id="18" name="TextBox 18"/>
            <p:cNvSpPr txBox="1"/>
            <p:nvPr/>
          </p:nvSpPr>
          <p:spPr>
            <a:xfrm>
              <a:off x="1525269" y="4646295"/>
              <a:ext cx="384812" cy="176212"/>
            </a:xfrm>
            <a:prstGeom prst="rect">
              <a:avLst/>
            </a:prstGeom>
            <a:noFill/>
            <a:ln>
              <a:noFill/>
            </a:ln>
          </p:spPr>
          <p:txBody>
            <a:bodyPr wrap="none" lIns="0" tIns="0" rIns="0" bIns="0" anchor="t" anchorCtr="0">
              <a:spAutoFit/>
            </a:bodyPr>
            <a:lstStyle/>
            <a:p>
              <a:pPr algn="ctr"/>
              <a:r>
                <a:rPr lang="en-US" sz="900" b="1" dirty="0">
                  <a:solidFill>
                    <a:srgbClr val="7C7AA6"/>
                  </a:solidFill>
                  <a:latin typeface="Consolas"/>
                  <a:ea typeface="Consolas"/>
                  <a:cs typeface="Consolas"/>
                </a:rPr>
                <a:t>40.0%</a:t>
              </a:r>
            </a:p>
          </p:txBody>
        </p:sp>
        <p:sp>
          <p:nvSpPr>
            <p:cNvPr id="19" name="Rectangle 19"/>
            <p:cNvSpPr/>
            <p:nvPr/>
          </p:nvSpPr>
          <p:spPr>
            <a:xfrm>
              <a:off x="2851710" y="3102769"/>
              <a:ext cx="945029" cy="1297781"/>
            </a:xfrm>
            <a:prstGeom prst="roundRect">
              <a:avLst>
                <a:gd name="adj" fmla="val 5040"/>
              </a:avLst>
            </a:prstGeom>
            <a:solidFill>
              <a:srgbClr val="37DCC0"/>
            </a:solidFill>
            <a:ln>
              <a:noFill/>
            </a:ln>
          </p:spPr>
        </p:sp>
        <p:sp>
          <p:nvSpPr>
            <p:cNvPr id="20" name="TextBox 20"/>
            <p:cNvSpPr txBox="1"/>
            <p:nvPr/>
          </p:nvSpPr>
          <p:spPr>
            <a:xfrm>
              <a:off x="3068970" y="2869882"/>
              <a:ext cx="510510" cy="249364"/>
            </a:xfrm>
            <a:prstGeom prst="rect">
              <a:avLst/>
            </a:prstGeom>
            <a:noFill/>
            <a:ln>
              <a:noFill/>
            </a:ln>
          </p:spPr>
          <p:txBody>
            <a:bodyPr wrap="none" lIns="0" tIns="0" rIns="0" bIns="0" anchor="t" anchorCtr="0">
              <a:spAutoFit/>
            </a:bodyPr>
            <a:lstStyle/>
            <a:p>
              <a:pPr algn="ctr"/>
              <a:r>
                <a:rPr lang="en-US" sz="1280" b="1" dirty="0">
                  <a:solidFill>
                    <a:srgbClr val="37DCC0"/>
                  </a:solidFill>
                  <a:latin typeface="+mn-lt"/>
                  <a:ea typeface="+mn-ea"/>
                  <a:cs typeface="+mn-cs"/>
                </a:rPr>
                <a:t>+10.9</a:t>
              </a:r>
            </a:p>
          </p:txBody>
        </p:sp>
        <p:sp>
          <p:nvSpPr>
            <p:cNvPr id="21" name="TextBox 21"/>
            <p:cNvSpPr txBox="1"/>
            <p:nvPr/>
          </p:nvSpPr>
          <p:spPr>
            <a:xfrm>
              <a:off x="2894999" y="4470797"/>
              <a:ext cx="85845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TinyImageNet</a:t>
              </a:r>
            </a:p>
          </p:txBody>
        </p:sp>
        <p:sp>
          <p:nvSpPr>
            <p:cNvPr id="22" name="TextBox 22"/>
            <p:cNvSpPr txBox="1"/>
            <p:nvPr/>
          </p:nvSpPr>
          <p:spPr>
            <a:xfrm>
              <a:off x="3131819" y="4646295"/>
              <a:ext cx="384812" cy="176212"/>
            </a:xfrm>
            <a:prstGeom prst="rect">
              <a:avLst/>
            </a:prstGeom>
            <a:noFill/>
            <a:ln>
              <a:noFill/>
            </a:ln>
          </p:spPr>
          <p:txBody>
            <a:bodyPr wrap="none" lIns="0" tIns="0" rIns="0" bIns="0" anchor="t" anchorCtr="0">
              <a:spAutoFit/>
            </a:bodyPr>
            <a:lstStyle/>
            <a:p>
              <a:pPr algn="ctr"/>
              <a:r>
                <a:rPr lang="en-US" sz="900" b="1" dirty="0">
                  <a:solidFill>
                    <a:srgbClr val="7C7AA6"/>
                  </a:solidFill>
                  <a:latin typeface="Consolas"/>
                  <a:ea typeface="Consolas"/>
                  <a:cs typeface="Consolas"/>
                </a:rPr>
                <a:t>26.9%</a:t>
              </a:r>
            </a:p>
          </p:txBody>
        </p:sp>
        <p:sp>
          <p:nvSpPr>
            <p:cNvPr id="23" name="Rectangle 23"/>
            <p:cNvSpPr/>
            <p:nvPr/>
          </p:nvSpPr>
          <p:spPr>
            <a:xfrm>
              <a:off x="4458260" y="3067050"/>
              <a:ext cx="945029" cy="1333500"/>
            </a:xfrm>
            <a:prstGeom prst="roundRect">
              <a:avLst>
                <a:gd name="adj" fmla="val 5040"/>
              </a:avLst>
            </a:prstGeom>
            <a:solidFill>
              <a:srgbClr val="57D9A3"/>
            </a:solidFill>
            <a:ln>
              <a:noFill/>
            </a:ln>
          </p:spPr>
        </p:sp>
        <p:sp>
          <p:nvSpPr>
            <p:cNvPr id="24" name="TextBox 24"/>
            <p:cNvSpPr txBox="1"/>
            <p:nvPr/>
          </p:nvSpPr>
          <p:spPr>
            <a:xfrm>
              <a:off x="4675520" y="2834164"/>
              <a:ext cx="510510" cy="249364"/>
            </a:xfrm>
            <a:prstGeom prst="rect">
              <a:avLst/>
            </a:prstGeom>
            <a:noFill/>
            <a:ln>
              <a:noFill/>
            </a:ln>
          </p:spPr>
          <p:txBody>
            <a:bodyPr wrap="none" lIns="0" tIns="0" rIns="0" bIns="0" anchor="t" anchorCtr="0">
              <a:spAutoFit/>
            </a:bodyPr>
            <a:lstStyle/>
            <a:p>
              <a:pPr algn="ctr"/>
              <a:r>
                <a:rPr lang="en-US" sz="1280" b="1" dirty="0">
                  <a:solidFill>
                    <a:srgbClr val="57D9A3"/>
                  </a:solidFill>
                  <a:latin typeface="+mn-lt"/>
                  <a:ea typeface="+mn-ea"/>
                  <a:cs typeface="+mn-cs"/>
                </a:rPr>
                <a:t>+11.2</a:t>
              </a:r>
            </a:p>
          </p:txBody>
        </p:sp>
        <p:sp>
          <p:nvSpPr>
            <p:cNvPr id="25" name="TextBox 25"/>
            <p:cNvSpPr txBox="1"/>
            <p:nvPr/>
          </p:nvSpPr>
          <p:spPr>
            <a:xfrm>
              <a:off x="4357053" y="4470797"/>
              <a:ext cx="114744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ImageNet subsets</a:t>
              </a:r>
            </a:p>
          </p:txBody>
        </p:sp>
        <p:sp>
          <p:nvSpPr>
            <p:cNvPr id="26" name="TextBox 26"/>
            <p:cNvSpPr txBox="1"/>
            <p:nvPr/>
          </p:nvSpPr>
          <p:spPr>
            <a:xfrm>
              <a:off x="4821059" y="4646295"/>
              <a:ext cx="219431" cy="176212"/>
            </a:xfrm>
            <a:prstGeom prst="rect">
              <a:avLst/>
            </a:prstGeom>
            <a:noFill/>
            <a:ln>
              <a:noFill/>
            </a:ln>
          </p:spPr>
          <p:txBody>
            <a:bodyPr wrap="none" lIns="0" tIns="0" rIns="0" bIns="0" anchor="t" anchorCtr="0">
              <a:spAutoFit/>
            </a:bodyPr>
            <a:lstStyle/>
            <a:p>
              <a:pPr algn="ctr"/>
              <a:r>
                <a:rPr lang="en-US" sz="900" b="1" dirty="0">
                  <a:solidFill>
                    <a:srgbClr val="7C7AA6"/>
                  </a:solidFill>
                  <a:latin typeface="Consolas"/>
                  <a:ea typeface="Consolas"/>
                  <a:cs typeface="Consolas"/>
                </a:rPr>
                <a:t>avg</a:t>
              </a:r>
            </a:p>
          </p:txBody>
        </p:sp>
        <p:sp>
          <p:nvSpPr>
            <p:cNvPr id="27" name="TextBox 27"/>
            <p:cNvSpPr txBox="1"/>
            <p:nvPr/>
          </p:nvSpPr>
          <p:spPr>
            <a:xfrm>
              <a:off x="757047" y="4866799"/>
              <a:ext cx="444098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Up to +11 points over the previous best at the same storage budget.</a:t>
              </a:r>
            </a:p>
          </p:txBody>
        </p:sp>
      </p:grpSp>
      <p:grpSp>
        <p:nvGrpSpPr>
          <p:cNvPr id="34" name="Group 34"/>
          <p:cNvGrpSpPr/>
          <p:nvPr/>
        </p:nvGrpSpPr>
        <p:grpSpPr>
          <a:xfrm>
            <a:off x="6438900" y="2286000"/>
            <a:ext cx="5219700" cy="1314450"/>
            <a:chOff x="6438900" y="2286000"/>
            <a:chExt cx="5219700" cy="1314450"/>
          </a:xfrm>
        </p:grpSpPr>
        <p:sp>
          <p:nvSpPr>
            <p:cNvPr id="29" name="Rectangle 29"/>
            <p:cNvSpPr/>
            <p:nvPr/>
          </p:nvSpPr>
          <p:spPr>
            <a:xfrm>
              <a:off x="6438900" y="2286000"/>
              <a:ext cx="5219700" cy="1314450"/>
            </a:xfrm>
            <a:prstGeom prst="roundRect">
              <a:avLst>
                <a:gd name="adj" fmla="val 10145"/>
              </a:avLst>
            </a:prstGeom>
            <a:solidFill>
              <a:schemeClr val="accent6"/>
            </a:solidFill>
            <a:ln w="13335">
              <a:solidFill>
                <a:schemeClr val="accent2"/>
              </a:solidFill>
            </a:ln>
          </p:spPr>
        </p:sp>
        <p:sp>
          <p:nvSpPr>
            <p:cNvPr id="30" name="TextBox 30"/>
            <p:cNvSpPr txBox="1"/>
            <p:nvPr/>
          </p:nvSpPr>
          <p:spPr>
            <a:xfrm>
              <a:off x="6662547" y="2523649"/>
              <a:ext cx="1757814"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Ten times less storage</a:t>
              </a:r>
            </a:p>
          </p:txBody>
        </p:sp>
        <p:sp>
          <p:nvSpPr>
            <p:cNvPr id="31" name="TextBox 31"/>
            <p:cNvSpPr txBox="1"/>
            <p:nvPr/>
          </p:nvSpPr>
          <p:spPr>
            <a:xfrm>
              <a:off x="6659499" y="2858929"/>
              <a:ext cx="2088072"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1 IPC = prior 10 IPC</a:t>
              </a:r>
            </a:p>
          </p:txBody>
        </p:sp>
        <p:sp>
          <p:nvSpPr>
            <p:cNvPr id="32" name="TextBox 32"/>
            <p:cNvSpPr txBox="1"/>
            <p:nvPr/>
          </p:nvSpPr>
          <p:spPr>
            <a:xfrm>
              <a:off x="6662356" y="3186351"/>
              <a:ext cx="2257198" cy="198025"/>
            </a:xfrm>
            <a:prstGeom prst="rect">
              <a:avLst/>
            </a:prstGeom>
            <a:noFill/>
            <a:ln>
              <a:noFill/>
            </a:ln>
          </p:spPr>
          <p:txBody>
            <a:bodyPr wrap="none" lIns="0" tIns="0" rIns="0" bIns="0" anchor="t" anchorCtr="0">
              <a:spAutoFit/>
            </a:bodyPr>
            <a:lstStyle/>
            <a:p>
              <a:pPr algn="l"/>
              <a:r>
                <a:rPr lang="en-US" sz="1010" b="1" dirty="0">
                  <a:solidFill>
                    <a:srgbClr val="37DCC0"/>
                  </a:solidFill>
                  <a:latin typeface="+mn-lt"/>
                  <a:ea typeface="+mn-ea"/>
                  <a:cs typeface="+mn-cs"/>
                </a:rPr>
                <a:t>+11.2% avg on ImageNet subsets</a:t>
              </a:r>
            </a:p>
          </p:txBody>
        </p:sp>
        <p:sp>
          <p:nvSpPr>
            <p:cNvPr id="33" name="TextBox 33"/>
            <p:cNvSpPr txBox="1"/>
            <p:nvPr/>
          </p:nvSpPr>
          <p:spPr>
            <a:xfrm>
              <a:off x="6662738" y="3384947"/>
              <a:ext cx="1831741"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at only ~10% of their storage</a:t>
              </a:r>
            </a:p>
          </p:txBody>
        </p:sp>
      </p:grpSp>
      <p:grpSp>
        <p:nvGrpSpPr>
          <p:cNvPr id="41" name="Group 41"/>
          <p:cNvGrpSpPr/>
          <p:nvPr/>
        </p:nvGrpSpPr>
        <p:grpSpPr>
          <a:xfrm>
            <a:off x="6438900" y="3790950"/>
            <a:ext cx="5219700" cy="1314450"/>
            <a:chOff x="6438900" y="3790950"/>
            <a:chExt cx="5219700" cy="1314450"/>
          </a:xfrm>
        </p:grpSpPr>
        <p:sp>
          <p:nvSpPr>
            <p:cNvPr id="35" name="Rectangle 35"/>
            <p:cNvSpPr/>
            <p:nvPr/>
          </p:nvSpPr>
          <p:spPr>
            <a:xfrm>
              <a:off x="6438900" y="3790950"/>
              <a:ext cx="5219700" cy="1314450"/>
            </a:xfrm>
            <a:prstGeom prst="roundRect">
              <a:avLst>
                <a:gd name="adj" fmla="val 10145"/>
              </a:avLst>
            </a:prstGeom>
            <a:solidFill>
              <a:schemeClr val="accent5"/>
            </a:solidFill>
            <a:ln w="11430">
              <a:solidFill>
                <a:schemeClr val="accent4"/>
              </a:solidFill>
            </a:ln>
          </p:spPr>
        </p:sp>
        <p:sp>
          <p:nvSpPr>
            <p:cNvPr id="36" name="Rectangle 36"/>
            <p:cNvSpPr/>
            <p:nvPr/>
          </p:nvSpPr>
          <p:spPr>
            <a:xfrm>
              <a:off x="6648450" y="4000500"/>
              <a:ext cx="47625" cy="285750"/>
            </a:xfrm>
            <a:prstGeom prst="roundRect">
              <a:avLst>
                <a:gd name="adj" fmla="val 50000"/>
              </a:avLst>
            </a:prstGeom>
            <a:solidFill>
              <a:srgbClr val="57D9A3"/>
            </a:solidFill>
            <a:ln>
              <a:noFill/>
            </a:ln>
          </p:spPr>
        </p:sp>
        <p:sp>
          <p:nvSpPr>
            <p:cNvPr id="37" name="TextBox 37"/>
            <p:cNvSpPr txBox="1"/>
            <p:nvPr/>
          </p:nvSpPr>
          <p:spPr>
            <a:xfrm>
              <a:off x="6832854" y="4061460"/>
              <a:ext cx="212966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Best beyond accuracy too</a:t>
              </a:r>
            </a:p>
          </p:txBody>
        </p:sp>
        <p:sp>
          <p:nvSpPr>
            <p:cNvPr id="38" name="TextBox 38"/>
            <p:cNvSpPr txBox="1"/>
            <p:nvPr/>
          </p:nvSpPr>
          <p:spPr>
            <a:xfrm>
              <a:off x="6643116" y="4363402"/>
              <a:ext cx="29626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Best at every continual-learning step, and</a:t>
              </a:r>
            </a:p>
          </p:txBody>
        </p:sp>
        <p:sp>
          <p:nvSpPr>
            <p:cNvPr id="39" name="TextBox 39"/>
            <p:cNvSpPr txBox="1"/>
            <p:nvPr/>
          </p:nvSpPr>
          <p:spPr>
            <a:xfrm>
              <a:off x="6643116" y="4563428"/>
              <a:ext cx="269195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under corruption on ResNet18 it nearly</a:t>
              </a:r>
            </a:p>
          </p:txBody>
        </p:sp>
        <p:sp>
          <p:nvSpPr>
            <p:cNvPr id="40" name="TextBox 40"/>
            <p:cNvSpPr txBox="1"/>
            <p:nvPr/>
          </p:nvSpPr>
          <p:spPr>
            <a:xfrm>
              <a:off x="6643116" y="4763452"/>
              <a:ext cx="274581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doubles the accuracy of prior methods.</a:t>
              </a:r>
            </a:p>
          </p:txBody>
        </p:sp>
      </p:grpSp>
      <p:sp>
        <p:nvSpPr>
          <p:cNvPr id="42" name="cue_s06_c1_headline_clean_sweep_across_all" title="cue_s06_c1_headline_clean_sweep_across_all" descr="cue_s06_c1_headline_clean_sweep_across_all The headline is a clean sweep. Across all three standard benchmarks and all six high-resolution ImageNet subsets, SPEED sets new state-of-the-art."/>
          <p:cNvSpPr/>
          <p:nvPr/>
        </p:nvSpPr>
        <p:spPr>
          <a:xfrm>
            <a:off x="532790" y="1523847"/>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6_c2_tightest_one_image_per_class_budget" title="cue_s06_c2_tightest_one_image_per_class_budget" descr="cue_s06_c2_tightest_one_image_per_class_budget At the tightest one-image-per-class budget, it reaches forty percent on CIFAR-100, a six point gain, and twenty-six point nine percent on TinyImageNet, a ten point nine gain over the previous best."/>
          <p:cNvSpPr/>
          <p:nvPr/>
        </p:nvSpPr>
        <p:spPr>
          <a:xfrm>
            <a:off x="532790" y="2285771"/>
            <a:ext cx="5676595"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6_c3_imagenet_subsets_averages_eleven_poi" title="cue_s06_c3_imagenet_subsets_averages_eleven_poi" descr="cue_s06_c3_imagenet_subsets_averages_eleven_poi On the ImageNet subsets it averages an eleven point two percent improvement at the same budget. Strikingly, its one-image-per-class results match what prior methods needed ten images per class to achieve, using only about ten percent of their storage."/>
          <p:cNvSpPr/>
          <p:nvPr/>
        </p:nvSpPr>
        <p:spPr>
          <a:xfrm>
            <a:off x="6438595" y="2285771"/>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6_c4_also_stays_best_every_step" title="cue_s06_c4_also_stays_best_every_step" descr="cue_s06_c4_also_stays_best_every_step It also stays best at every step of continual learning, and under corruption on ResNet18 it nearly doubles the accuracy of prior methods."/>
          <p:cNvSpPr/>
          <p:nvPr/>
        </p:nvSpPr>
        <p:spPr>
          <a:xfrm>
            <a:off x="6438595" y="3791102"/>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5000"/>
                </a:schemeClr>
              </a:gs>
              <a:gs pos="62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6310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ABLATION</a:t>
            </a:r>
          </a:p>
        </p:txBody>
      </p:sp>
      <p:sp>
        <p:nvSpPr>
          <p:cNvPr id="5" name="TextBox 5"/>
          <p:cNvSpPr txBox="1"/>
          <p:nvPr/>
        </p:nvSpPr>
        <p:spPr>
          <a:xfrm>
            <a:off x="518160" y="781050"/>
            <a:ext cx="691268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Sparsification is essentially free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7C7AA6"/>
                </a:solidFill>
                <a:latin typeface="Consolas"/>
                <a:ea typeface="Consolas"/>
                <a:cs typeface="Consolas"/>
              </a:rPr>
              <a:t>07 / 08</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22" name="Group 22"/>
          <p:cNvGrpSpPr/>
          <p:nvPr/>
        </p:nvGrpSpPr>
        <p:grpSpPr>
          <a:xfrm>
            <a:off x="533400" y="1524000"/>
            <a:ext cx="5676900" cy="2819400"/>
            <a:chOff x="533400" y="1524000"/>
            <a:chExt cx="5676900" cy="2819400"/>
          </a:xfrm>
        </p:grpSpPr>
        <p:sp>
          <p:nvSpPr>
            <p:cNvPr id="8" name="Rectangle 8"/>
            <p:cNvSpPr/>
            <p:nvPr/>
          </p:nvSpPr>
          <p:spPr>
            <a:xfrm>
              <a:off x="533400" y="1524000"/>
              <a:ext cx="5676900" cy="2819400"/>
            </a:xfrm>
            <a:prstGeom prst="roundRect">
              <a:avLst>
                <a:gd name="adj" fmla="val 4730"/>
              </a:avLst>
            </a:prstGeom>
            <a:solidFill>
              <a:schemeClr val="accent5"/>
            </a:solidFill>
            <a:ln w="11430">
              <a:solidFill>
                <a:schemeClr val="accent4"/>
              </a:solidFill>
            </a:ln>
          </p:spPr>
        </p:sp>
        <p:sp>
          <p:nvSpPr>
            <p:cNvPr id="9" name="Rectangle 9"/>
            <p:cNvSpPr/>
            <p:nvPr/>
          </p:nvSpPr>
          <p:spPr>
            <a:xfrm>
              <a:off x="742950" y="1752600"/>
              <a:ext cx="47625" cy="266700"/>
            </a:xfrm>
            <a:prstGeom prst="roundRect">
              <a:avLst>
                <a:gd name="adj" fmla="val 50000"/>
              </a:avLst>
            </a:prstGeom>
            <a:solidFill>
              <a:schemeClr val="accent2"/>
            </a:solidFill>
            <a:ln>
              <a:noFill/>
            </a:ln>
          </p:spPr>
        </p:sp>
        <p:sp>
          <p:nvSpPr>
            <p:cNvPr id="10" name="TextBox 10"/>
            <p:cNvSpPr txBox="1"/>
            <p:nvPr/>
          </p:nvSpPr>
          <p:spPr>
            <a:xfrm>
              <a:off x="907542" y="1797368"/>
              <a:ext cx="381743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Pruning the codes barely moves accuracy</a:t>
              </a:r>
            </a:p>
          </p:txBody>
        </p:sp>
        <p:sp>
          <p:nvSpPr>
            <p:cNvPr id="11" name="TextBox 11"/>
            <p:cNvSpPr txBox="1"/>
            <p:nvPr/>
          </p:nvSpPr>
          <p:spPr>
            <a:xfrm>
              <a:off x="756476" y="2130504"/>
              <a:ext cx="388274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Pruning each sparse coding matrix to just 48 non-zero</a:t>
              </a:r>
            </a:p>
          </p:txBody>
        </p:sp>
        <p:sp>
          <p:nvSpPr>
            <p:cNvPr id="12" name="TextBox 12"/>
            <p:cNvSpPr txBox="1"/>
            <p:nvPr/>
          </p:nvSpPr>
          <p:spPr>
            <a:xfrm>
              <a:off x="756476" y="2330529"/>
              <a:ext cx="404628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elements meets the storage budget with almost no loss.</a:t>
              </a:r>
            </a:p>
          </p:txBody>
        </p:sp>
        <p:sp>
          <p:nvSpPr>
            <p:cNvPr id="13" name="Rectangle 13"/>
            <p:cNvSpPr/>
            <p:nvPr/>
          </p:nvSpPr>
          <p:spPr>
            <a:xfrm>
              <a:off x="762000" y="2933700"/>
              <a:ext cx="2419350" cy="1104900"/>
            </a:xfrm>
            <a:prstGeom prst="roundRect">
              <a:avLst>
                <a:gd name="adj" fmla="val 10345"/>
              </a:avLst>
            </a:prstGeom>
            <a:solidFill>
              <a:schemeClr val="accent6"/>
            </a:solidFill>
            <a:ln w="11430">
              <a:solidFill>
                <a:srgbClr val="37DCC0"/>
              </a:solidFill>
            </a:ln>
          </p:spPr>
        </p:sp>
        <p:sp>
          <p:nvSpPr>
            <p:cNvPr id="14" name="TextBox 14"/>
            <p:cNvSpPr txBox="1"/>
            <p:nvPr/>
          </p:nvSpPr>
          <p:spPr>
            <a:xfrm>
              <a:off x="1282854" y="3128010"/>
              <a:ext cx="1377643"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k = 48 non-zeros</a:t>
              </a:r>
            </a:p>
          </p:txBody>
        </p:sp>
        <p:sp>
          <p:nvSpPr>
            <p:cNvPr id="15" name="TextBox 15"/>
            <p:cNvSpPr txBox="1"/>
            <p:nvPr/>
          </p:nvSpPr>
          <p:spPr>
            <a:xfrm>
              <a:off x="1491136" y="3300412"/>
              <a:ext cx="961077" cy="440055"/>
            </a:xfrm>
            <a:prstGeom prst="rect">
              <a:avLst/>
            </a:prstGeom>
            <a:noFill/>
            <a:ln>
              <a:noFill/>
            </a:ln>
          </p:spPr>
          <p:txBody>
            <a:bodyPr wrap="none" lIns="0" tIns="0" rIns="0" bIns="0" anchor="t" anchorCtr="0">
              <a:spAutoFit/>
            </a:bodyPr>
            <a:lstStyle/>
            <a:p>
              <a:pPr algn="ctr"/>
              <a:r>
                <a:rPr lang="en-US" sz="2250" b="1" dirty="0">
                  <a:solidFill>
                    <a:srgbClr val="37DCC0"/>
                  </a:solidFill>
                  <a:latin typeface="+mn-lt"/>
                  <a:ea typeface="+mn-ea"/>
                  <a:cs typeface="+mn-cs"/>
                </a:rPr>
                <a:t>73.5%</a:t>
              </a:r>
            </a:p>
          </p:txBody>
        </p:sp>
        <p:sp>
          <p:nvSpPr>
            <p:cNvPr id="16" name="TextBox 16"/>
            <p:cNvSpPr txBox="1"/>
            <p:nvPr/>
          </p:nvSpPr>
          <p:spPr>
            <a:xfrm>
              <a:off x="1584214" y="3708797"/>
              <a:ext cx="774921"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Consolas"/>
                  <a:ea typeface="Consolas"/>
                  <a:cs typeface="Consolas"/>
                </a:rPr>
                <a:t>307K params</a:t>
              </a:r>
            </a:p>
          </p:txBody>
        </p:sp>
        <p:sp>
          <p:nvSpPr>
            <p:cNvPr id="17" name="TextBox 17"/>
            <p:cNvSpPr txBox="1"/>
            <p:nvPr/>
          </p:nvSpPr>
          <p:spPr>
            <a:xfrm>
              <a:off x="3259774" y="3268028"/>
              <a:ext cx="224153" cy="498729"/>
            </a:xfrm>
            <a:prstGeom prst="rect">
              <a:avLst/>
            </a:prstGeom>
            <a:noFill/>
            <a:ln>
              <a:noFill/>
            </a:ln>
          </p:spPr>
          <p:txBody>
            <a:bodyPr wrap="none" lIns="0" tIns="0" rIns="0" bIns="0" anchor="t" anchorCtr="0">
              <a:spAutoFit/>
            </a:bodyPr>
            <a:lstStyle/>
            <a:p>
              <a:pPr algn="ctr"/>
              <a:r>
                <a:rPr lang="en-US" sz="2550" b="1" dirty="0">
                  <a:solidFill>
                    <a:srgbClr val="F7B84B"/>
                  </a:solidFill>
                  <a:latin typeface="+mn-lt"/>
                  <a:ea typeface="+mn-ea"/>
                  <a:cs typeface="+mn-cs"/>
                </a:rPr>
                <a:t>≈</a:t>
              </a:r>
            </a:p>
          </p:txBody>
        </p:sp>
        <p:sp>
          <p:nvSpPr>
            <p:cNvPr id="18" name="Rectangle 18"/>
            <p:cNvSpPr/>
            <p:nvPr/>
          </p:nvSpPr>
          <p:spPr>
            <a:xfrm>
              <a:off x="3562350" y="2933700"/>
              <a:ext cx="2419350" cy="1104900"/>
            </a:xfrm>
            <a:prstGeom prst="roundRect">
              <a:avLst>
                <a:gd name="adj" fmla="val 10345"/>
              </a:avLst>
            </a:prstGeom>
            <a:solidFill>
              <a:schemeClr val="accent6"/>
            </a:solidFill>
            <a:ln w="11430">
              <a:solidFill>
                <a:schemeClr val="accent4"/>
              </a:solidFill>
            </a:ln>
          </p:spPr>
        </p:sp>
        <p:sp>
          <p:nvSpPr>
            <p:cNvPr id="19" name="TextBox 19"/>
            <p:cNvSpPr txBox="1"/>
            <p:nvPr/>
          </p:nvSpPr>
          <p:spPr>
            <a:xfrm>
              <a:off x="4367319" y="3128010"/>
              <a:ext cx="809412"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full model</a:t>
              </a:r>
            </a:p>
          </p:txBody>
        </p:sp>
        <p:sp>
          <p:nvSpPr>
            <p:cNvPr id="20" name="TextBox 20"/>
            <p:cNvSpPr txBox="1"/>
            <p:nvPr/>
          </p:nvSpPr>
          <p:spPr>
            <a:xfrm>
              <a:off x="4291486" y="3300412"/>
              <a:ext cx="961077" cy="440055"/>
            </a:xfrm>
            <a:prstGeom prst="rect">
              <a:avLst/>
            </a:prstGeom>
            <a:noFill/>
            <a:ln>
              <a:noFill/>
            </a:ln>
          </p:spPr>
          <p:txBody>
            <a:bodyPr wrap="none" lIns="0" tIns="0" rIns="0" bIns="0" anchor="t" anchorCtr="0">
              <a:spAutoFit/>
            </a:bodyPr>
            <a:lstStyle/>
            <a:p>
              <a:pPr algn="ctr"/>
              <a:r>
                <a:rPr lang="en-US" sz="2250" b="1" dirty="0">
                  <a:solidFill>
                    <a:schemeClr val="dk1"/>
                  </a:solidFill>
                  <a:latin typeface="+mn-lt"/>
                  <a:ea typeface="+mn-ea"/>
                  <a:cs typeface="+mn-cs"/>
                </a:rPr>
                <a:t>74.0%</a:t>
              </a:r>
            </a:p>
          </p:txBody>
        </p:sp>
        <p:sp>
          <p:nvSpPr>
            <p:cNvPr id="21" name="TextBox 21"/>
            <p:cNvSpPr txBox="1"/>
            <p:nvPr/>
          </p:nvSpPr>
          <p:spPr>
            <a:xfrm>
              <a:off x="4406888" y="3708797"/>
              <a:ext cx="730273"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Consolas"/>
                  <a:ea typeface="Consolas"/>
                  <a:cs typeface="Consolas"/>
                </a:rPr>
                <a:t>15M params</a:t>
              </a:r>
            </a:p>
          </p:txBody>
        </p:sp>
      </p:grpSp>
      <p:grpSp>
        <p:nvGrpSpPr>
          <p:cNvPr id="27" name="Group 27"/>
          <p:cNvGrpSpPr/>
          <p:nvPr/>
        </p:nvGrpSpPr>
        <p:grpSpPr>
          <a:xfrm>
            <a:off x="6438900" y="1524000"/>
            <a:ext cx="5219700" cy="863600"/>
            <a:chOff x="6438900" y="1524000"/>
            <a:chExt cx="5219700" cy="863600"/>
          </a:xfrm>
        </p:grpSpPr>
        <p:sp>
          <p:nvSpPr>
            <p:cNvPr id="23" name="Rectangle 23"/>
            <p:cNvSpPr/>
            <p:nvPr/>
          </p:nvSpPr>
          <p:spPr>
            <a:xfrm>
              <a:off x="6438900" y="1524000"/>
              <a:ext cx="5219700" cy="863600"/>
            </a:xfrm>
            <a:prstGeom prst="roundRect">
              <a:avLst>
                <a:gd name="adj" fmla="val 15441"/>
              </a:avLst>
            </a:prstGeom>
            <a:solidFill>
              <a:schemeClr val="accent5"/>
            </a:solidFill>
            <a:ln w="11430">
              <a:solidFill>
                <a:schemeClr val="accent4"/>
              </a:solidFill>
            </a:ln>
          </p:spPr>
        </p:sp>
        <p:sp>
          <p:nvSpPr>
            <p:cNvPr id="24" name="TextBox 24"/>
            <p:cNvSpPr txBox="1"/>
            <p:nvPr/>
          </p:nvSpPr>
          <p:spPr>
            <a:xfrm>
              <a:off x="6623876" y="1711404"/>
              <a:ext cx="1803911" cy="212693"/>
            </a:xfrm>
            <a:prstGeom prst="rect">
              <a:avLst/>
            </a:prstGeom>
            <a:noFill/>
            <a:ln>
              <a:noFill/>
            </a:ln>
          </p:spPr>
          <p:txBody>
            <a:bodyPr wrap="none" lIns="0" tIns="0" rIns="0" bIns="0" anchor="t" anchorCtr="0">
              <a:spAutoFit/>
            </a:bodyPr>
            <a:lstStyle/>
            <a:p>
              <a:pPr algn="l"/>
              <a:r>
                <a:rPr lang="en-US" sz="1090" b="1" dirty="0">
                  <a:solidFill>
                    <a:schemeClr val="accent2"/>
                  </a:solidFill>
                  <a:latin typeface="+mn-lt"/>
                  <a:ea typeface="+mn-ea"/>
                  <a:cs typeface="+mn-cs"/>
                </a:rPr>
                <a:t>About 50x smaller codes</a:t>
              </a:r>
            </a:p>
          </p:txBody>
        </p:sp>
        <p:sp>
          <p:nvSpPr>
            <p:cNvPr id="25" name="TextBox 25"/>
            <p:cNvSpPr txBox="1"/>
            <p:nvPr/>
          </p:nvSpPr>
          <p:spPr>
            <a:xfrm>
              <a:off x="6624447" y="1952149"/>
              <a:ext cx="324455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Roughly 307K parameters versus a 15M-parameter</a:t>
              </a:r>
            </a:p>
          </p:txBody>
        </p:sp>
        <p:sp>
          <p:nvSpPr>
            <p:cNvPr id="26" name="TextBox 26"/>
            <p:cNvSpPr txBox="1"/>
            <p:nvPr/>
          </p:nvSpPr>
          <p:spPr>
            <a:xfrm>
              <a:off x="6624447" y="2152174"/>
              <a:ext cx="190306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full model, at ~0.3% density.</a:t>
              </a:r>
            </a:p>
          </p:txBody>
        </p:sp>
      </p:grpSp>
      <p:grpSp>
        <p:nvGrpSpPr>
          <p:cNvPr id="32" name="Group 32"/>
          <p:cNvGrpSpPr/>
          <p:nvPr/>
        </p:nvGrpSpPr>
        <p:grpSpPr>
          <a:xfrm>
            <a:off x="6438900" y="2501900"/>
            <a:ext cx="5219700" cy="863600"/>
            <a:chOff x="6438900" y="2501900"/>
            <a:chExt cx="5219700" cy="863600"/>
          </a:xfrm>
        </p:grpSpPr>
        <p:sp>
          <p:nvSpPr>
            <p:cNvPr id="28" name="Rectangle 28"/>
            <p:cNvSpPr/>
            <p:nvPr/>
          </p:nvSpPr>
          <p:spPr>
            <a:xfrm>
              <a:off x="6438900" y="2501900"/>
              <a:ext cx="5219700" cy="863600"/>
            </a:xfrm>
            <a:prstGeom prst="roundRect">
              <a:avLst>
                <a:gd name="adj" fmla="val 15441"/>
              </a:avLst>
            </a:prstGeom>
            <a:solidFill>
              <a:schemeClr val="accent6"/>
            </a:solidFill>
            <a:ln w="11430">
              <a:solidFill>
                <a:srgbClr val="F2708A"/>
              </a:solidFill>
            </a:ln>
          </p:spPr>
        </p:sp>
        <p:sp>
          <p:nvSpPr>
            <p:cNvPr id="29" name="TextBox 29"/>
            <p:cNvSpPr txBox="1"/>
            <p:nvPr/>
          </p:nvSpPr>
          <p:spPr>
            <a:xfrm>
              <a:off x="6623876" y="2689304"/>
              <a:ext cx="1603611" cy="212693"/>
            </a:xfrm>
            <a:prstGeom prst="rect">
              <a:avLst/>
            </a:prstGeom>
            <a:noFill/>
            <a:ln>
              <a:noFill/>
            </a:ln>
          </p:spPr>
          <p:txBody>
            <a:bodyPr wrap="none" lIns="0" tIns="0" rIns="0" bIns="0" anchor="t" anchorCtr="0">
              <a:spAutoFit/>
            </a:bodyPr>
            <a:lstStyle/>
            <a:p>
              <a:pPr algn="l"/>
              <a:r>
                <a:rPr lang="en-US" sz="1090" b="1" dirty="0">
                  <a:solidFill>
                    <a:srgbClr val="F2708A"/>
                  </a:solidFill>
                  <a:latin typeface="+mn-lt"/>
                  <a:ea typeface="+mn-ea"/>
                  <a:cs typeface="+mn-cs"/>
                </a:rPr>
                <a:t>Do not push k too far</a:t>
              </a:r>
            </a:p>
          </p:txBody>
        </p:sp>
        <p:sp>
          <p:nvSpPr>
            <p:cNvPr id="30" name="TextBox 30"/>
            <p:cNvSpPr txBox="1"/>
            <p:nvPr/>
          </p:nvSpPr>
          <p:spPr>
            <a:xfrm>
              <a:off x="6624447" y="2930049"/>
              <a:ext cx="254212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At k=12 accuracy collapses to 57.8%. A</a:t>
              </a:r>
            </a:p>
          </p:txBody>
        </p:sp>
        <p:sp>
          <p:nvSpPr>
            <p:cNvPr id="31" name="TextBox 31"/>
            <p:cNvSpPr txBox="1"/>
            <p:nvPr/>
          </p:nvSpPr>
          <p:spPr>
            <a:xfrm>
              <a:off x="6624447" y="3130074"/>
              <a:ext cx="249674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moderate k is best for generalization.</a:t>
              </a:r>
            </a:p>
          </p:txBody>
        </p:sp>
      </p:grpSp>
      <p:grpSp>
        <p:nvGrpSpPr>
          <p:cNvPr id="38" name="Group 38"/>
          <p:cNvGrpSpPr/>
          <p:nvPr/>
        </p:nvGrpSpPr>
        <p:grpSpPr>
          <a:xfrm>
            <a:off x="6438900" y="3479800"/>
            <a:ext cx="5219700" cy="895064"/>
            <a:chOff x="6438900" y="3479800"/>
            <a:chExt cx="5219700" cy="895064"/>
          </a:xfrm>
        </p:grpSpPr>
        <p:sp>
          <p:nvSpPr>
            <p:cNvPr id="33" name="Rectangle 33"/>
            <p:cNvSpPr/>
            <p:nvPr/>
          </p:nvSpPr>
          <p:spPr>
            <a:xfrm>
              <a:off x="6438900" y="3479800"/>
              <a:ext cx="5219700" cy="863600"/>
            </a:xfrm>
            <a:prstGeom prst="roundRect">
              <a:avLst>
                <a:gd name="adj" fmla="val 15441"/>
              </a:avLst>
            </a:prstGeom>
            <a:solidFill>
              <a:schemeClr val="accent5"/>
            </a:solidFill>
            <a:ln w="11430">
              <a:solidFill>
                <a:srgbClr val="F7B84B"/>
              </a:solidFill>
            </a:ln>
          </p:spPr>
        </p:sp>
        <p:sp>
          <p:nvSpPr>
            <p:cNvPr id="34" name="Rectangle 34"/>
            <p:cNvSpPr/>
            <p:nvPr/>
          </p:nvSpPr>
          <p:spPr>
            <a:xfrm>
              <a:off x="6629400" y="3689350"/>
              <a:ext cx="47625" cy="228600"/>
            </a:xfrm>
            <a:prstGeom prst="roundRect">
              <a:avLst>
                <a:gd name="adj" fmla="val 50000"/>
              </a:avLst>
            </a:prstGeom>
            <a:solidFill>
              <a:srgbClr val="F7B84B"/>
            </a:solidFill>
            <a:ln>
              <a:noFill/>
            </a:ln>
          </p:spPr>
        </p:sp>
        <p:sp>
          <p:nvSpPr>
            <p:cNvPr id="35" name="TextBox 35"/>
            <p:cNvSpPr txBox="1"/>
            <p:nvPr/>
          </p:nvSpPr>
          <p:spPr>
            <a:xfrm>
              <a:off x="6795135" y="3739356"/>
              <a:ext cx="1696178" cy="220028"/>
            </a:xfrm>
            <a:prstGeom prst="rect">
              <a:avLst/>
            </a:prstGeom>
            <a:noFill/>
            <a:ln>
              <a:noFill/>
            </a:ln>
          </p:spPr>
          <p:txBody>
            <a:bodyPr wrap="none" lIns="0" tIns="0" rIns="0" bIns="0" anchor="t" anchorCtr="0">
              <a:spAutoFit/>
            </a:bodyPr>
            <a:lstStyle/>
            <a:p>
              <a:pPr algn="l"/>
              <a:r>
                <a:rPr lang="en-US" sz="1120" b="1" dirty="0">
                  <a:solidFill>
                    <a:srgbClr val="F7B84B"/>
                  </a:solidFill>
                  <a:latin typeface="+mn-lt"/>
                  <a:ea typeface="+mn-ea"/>
                  <a:cs typeface="+mn-cs"/>
                </a:rPr>
                <a:t>R=2 blocks, H=3 heads</a:t>
              </a:r>
            </a:p>
          </p:txBody>
        </p:sp>
        <p:sp>
          <p:nvSpPr>
            <p:cNvPr id="36" name="TextBox 36"/>
            <p:cNvSpPr txBox="1"/>
            <p:nvPr/>
          </p:nvSpPr>
          <p:spPr>
            <a:xfrm>
              <a:off x="6624447" y="3984149"/>
              <a:ext cx="296339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Samples before and after sparsifying to 0.3%</a:t>
              </a:r>
            </a:p>
          </p:txBody>
        </p:sp>
        <p:sp>
          <p:nvSpPr>
            <p:cNvPr id="37" name="TextBox 37"/>
            <p:cNvSpPr txBox="1"/>
            <p:nvPr/>
          </p:nvSpPr>
          <p:spPr>
            <a:xfrm>
              <a:off x="6624447" y="4184174"/>
              <a:ext cx="191626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density look almost identical.</a:t>
              </a:r>
            </a:p>
          </p:txBody>
        </p:sp>
      </p:grpSp>
      <p:sp>
        <p:nvSpPr>
          <p:cNvPr id="39" name="cue_s07_c1_ablations_show_sparsification_essent" title="cue_s07_c1_ablations_show_sparsification_essent" descr="cue_s07_c1_ablations_show_sparsification_essent The ablations show sparsification is essentially free."/>
          <p:cNvSpPr/>
          <p:nvPr/>
        </p:nvSpPr>
        <p:spPr>
          <a:xfrm>
            <a:off x="532790" y="1523847"/>
            <a:ext cx="5676595"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7_c2_pruning_sparse_coding_matrix_just" title="cue_s07_c2_pruning_sparse_coding_matrix_just" descr="cue_s07_c2_pruning_sparse_coding_matrix_just Pruning each sparse coding matrix to just forty-eight non-zero elements, about three hundred thousand parameters, meets the storage budget while keeping ConvNet accuracy at seventy-three point five percent, barely below the seventy-four percent of the full fif"/>
          <p:cNvSpPr/>
          <p:nvPr/>
        </p:nvSpPr>
        <p:spPr>
          <a:xfrm>
            <a:off x="6438595" y="1523847"/>
            <a:ext cx="5219395" cy="86342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7_c3_push_too_low_down_twelve" title="cue_s07_c3_push_too_low_down_twelve" descr="cue_s07_c3_push_too_low_down_twelve Push k too low, down to twelve, and accuracy collapses, so a moderate value is best and even improves cross-architecture generalization. On the network side, two recurrent blocks and three heads work best."/>
          <p:cNvSpPr/>
          <p:nvPr/>
        </p:nvSpPr>
        <p:spPr>
          <a:xfrm>
            <a:off x="6438595" y="2501798"/>
            <a:ext cx="5219395" cy="86342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7_c4_qualitatively_synthetic_images_befor" title="cue_s07_c4_qualitatively_synthetic_images_befor" descr="cue_s07_c4_qualitatively_synthetic_images_befor And qualitatively, synthetic images before and after sparsification to zero point three percent density look almost identical, confirming that the pruned features preserve the global semantics."/>
          <p:cNvSpPr/>
          <p:nvPr/>
        </p:nvSpPr>
        <p:spPr>
          <a:xfrm>
            <a:off x="6438595" y="3479749"/>
            <a:ext cx="5219395" cy="89496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5000"/>
                </a:schemeClr>
              </a:gs>
              <a:gs pos="62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00492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TAKEAWAY</a:t>
            </a:r>
          </a:p>
        </p:txBody>
      </p:sp>
      <p:sp>
        <p:nvSpPr>
          <p:cNvPr id="5" name="TextBox 5"/>
          <p:cNvSpPr txBox="1"/>
          <p:nvPr/>
        </p:nvSpPr>
        <p:spPr>
          <a:xfrm>
            <a:off x="518160" y="781050"/>
            <a:ext cx="765569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Parameterization is a powerful lever</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7C7AA6"/>
                </a:solidFill>
                <a:latin typeface="Consolas"/>
                <a:ea typeface="Consolas"/>
                <a:cs typeface="Consolas"/>
              </a:rPr>
              <a:t>08 / 08</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914400"/>
            <a:chOff x="533400" y="1524000"/>
            <a:chExt cx="11125200" cy="914400"/>
          </a:xfrm>
        </p:grpSpPr>
        <p:sp>
          <p:nvSpPr>
            <p:cNvPr id="8" name="Rectangle 8"/>
            <p:cNvSpPr/>
            <p:nvPr/>
          </p:nvSpPr>
          <p:spPr>
            <a:xfrm>
              <a:off x="533400" y="1524000"/>
              <a:ext cx="11125200" cy="914400"/>
            </a:xfrm>
            <a:prstGeom prst="roundRect">
              <a:avLst>
                <a:gd name="adj" fmla="val 14583"/>
              </a:avLst>
            </a:prstGeom>
            <a:solidFill>
              <a:schemeClr val="accent6"/>
            </a:solidFill>
            <a:ln w="12382">
              <a:solidFill>
                <a:schemeClr val="accent2"/>
              </a:solidFill>
            </a:ln>
          </p:spPr>
        </p:sp>
        <p:sp>
          <p:nvSpPr>
            <p:cNvPr id="9" name="Rectangle 9"/>
            <p:cNvSpPr/>
            <p:nvPr/>
          </p:nvSpPr>
          <p:spPr>
            <a:xfrm>
              <a:off x="723900" y="1733550"/>
              <a:ext cx="47625" cy="495300"/>
            </a:xfrm>
            <a:prstGeom prst="roundRect">
              <a:avLst>
                <a:gd name="adj" fmla="val 50000"/>
              </a:avLst>
            </a:prstGeom>
            <a:solidFill>
              <a:schemeClr val="accent2"/>
            </a:solidFill>
            <a:ln>
              <a:noFill/>
            </a:ln>
          </p:spPr>
        </p:sp>
        <p:sp>
          <p:nvSpPr>
            <p:cNvPr id="10" name="TextBox 10"/>
            <p:cNvSpPr txBox="1"/>
            <p:nvPr/>
          </p:nvSpPr>
          <p:spPr>
            <a:xfrm>
              <a:off x="906780" y="1781175"/>
              <a:ext cx="745366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Parameterization deserves as much attention as the matching objective</a:t>
              </a:r>
            </a:p>
          </p:txBody>
        </p:sp>
        <p:sp>
          <p:nvSpPr>
            <p:cNvPr id="11" name="TextBox 11"/>
            <p:cNvSpPr txBox="1"/>
            <p:nvPr/>
          </p:nvSpPr>
          <p:spPr>
            <a:xfrm>
              <a:off x="908685" y="2107406"/>
              <a:ext cx="45234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lasting message of SPEED, and where its gains come from</a:t>
              </a:r>
            </a:p>
          </p:txBody>
        </p:sp>
      </p:grpSp>
      <p:grpSp>
        <p:nvGrpSpPr>
          <p:cNvPr id="17" name="Group 17"/>
          <p:cNvGrpSpPr/>
          <p:nvPr/>
        </p:nvGrpSpPr>
        <p:grpSpPr>
          <a:xfrm>
            <a:off x="533400" y="2628900"/>
            <a:ext cx="11125200" cy="876300"/>
            <a:chOff x="533400" y="2628900"/>
            <a:chExt cx="11125200" cy="876300"/>
          </a:xfrm>
        </p:grpSpPr>
        <p:sp>
          <p:nvSpPr>
            <p:cNvPr id="13" name="Rectangle 13"/>
            <p:cNvSpPr/>
            <p:nvPr/>
          </p:nvSpPr>
          <p:spPr>
            <a:xfrm>
              <a:off x="533400" y="2628900"/>
              <a:ext cx="11125200" cy="876300"/>
            </a:xfrm>
            <a:prstGeom prst="roundRect">
              <a:avLst>
                <a:gd name="adj" fmla="val 15217"/>
              </a:avLst>
            </a:prstGeom>
            <a:solidFill>
              <a:schemeClr val="accent6"/>
            </a:solidFill>
            <a:ln w="11430">
              <a:solidFill>
                <a:srgbClr val="57D9A3"/>
              </a:solidFill>
            </a:ln>
          </p:spPr>
        </p:sp>
        <p:sp>
          <p:nvSpPr>
            <p:cNvPr id="14" name="Rectangle 14"/>
            <p:cNvSpPr/>
            <p:nvPr/>
          </p:nvSpPr>
          <p:spPr>
            <a:xfrm>
              <a:off x="723900" y="2838450"/>
              <a:ext cx="47625" cy="457200"/>
            </a:xfrm>
            <a:prstGeom prst="roundRect">
              <a:avLst>
                <a:gd name="adj" fmla="val 50000"/>
              </a:avLst>
            </a:prstGeom>
            <a:solidFill>
              <a:srgbClr val="57D9A3"/>
            </a:solidFill>
            <a:ln>
              <a:noFill/>
            </a:ln>
          </p:spPr>
        </p:sp>
        <p:sp>
          <p:nvSpPr>
            <p:cNvPr id="15" name="TextBox 15"/>
            <p:cNvSpPr txBox="1"/>
            <p:nvPr/>
          </p:nvSpPr>
          <p:spPr>
            <a:xfrm>
              <a:off x="908304" y="2899410"/>
              <a:ext cx="814279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shared dictionary of spatial-agnostic epitomic tokens, sparse per-image coding matrices, and a</a:t>
              </a:r>
            </a:p>
          </p:txBody>
        </p:sp>
        <p:sp>
          <p:nvSpPr>
            <p:cNvPr id="16" name="TextBox 16"/>
            <p:cNvSpPr txBox="1"/>
            <p:nvPr/>
          </p:nvSpPr>
          <p:spPr>
            <a:xfrm>
              <a:off x="908304" y="3147060"/>
              <a:ext cx="745856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small recurrent network remove the spatial redundancy naive methods leave on the table.</a:t>
              </a:r>
            </a:p>
          </p:txBody>
        </p:sp>
      </p:grpSp>
      <p:grpSp>
        <p:nvGrpSpPr>
          <p:cNvPr id="33" name="Group 33"/>
          <p:cNvGrpSpPr/>
          <p:nvPr/>
        </p:nvGrpSpPr>
        <p:grpSpPr>
          <a:xfrm>
            <a:off x="533400" y="3695700"/>
            <a:ext cx="11125200" cy="1409700"/>
            <a:chOff x="533400" y="3695700"/>
            <a:chExt cx="11125200" cy="1409700"/>
          </a:xfrm>
        </p:grpSpPr>
        <p:sp>
          <p:nvSpPr>
            <p:cNvPr id="18" name="Rectangle 18"/>
            <p:cNvSpPr/>
            <p:nvPr/>
          </p:nvSpPr>
          <p:spPr>
            <a:xfrm>
              <a:off x="533400" y="3695700"/>
              <a:ext cx="3556000" cy="1409700"/>
            </a:xfrm>
            <a:prstGeom prst="roundRect">
              <a:avLst>
                <a:gd name="adj" fmla="val 9459"/>
              </a:avLst>
            </a:prstGeom>
            <a:solidFill>
              <a:schemeClr val="accent5"/>
            </a:solidFill>
            <a:ln w="11430">
              <a:solidFill>
                <a:schemeClr val="accent4"/>
              </a:solidFill>
            </a:ln>
          </p:spPr>
        </p:sp>
        <p:sp>
          <p:nvSpPr>
            <p:cNvPr id="19" name="Rectangle 19"/>
            <p:cNvSpPr/>
            <p:nvPr/>
          </p:nvSpPr>
          <p:spPr>
            <a:xfrm>
              <a:off x="742950" y="3943350"/>
              <a:ext cx="47625" cy="285750"/>
            </a:xfrm>
            <a:prstGeom prst="roundRect">
              <a:avLst>
                <a:gd name="adj" fmla="val 50000"/>
              </a:avLst>
            </a:prstGeom>
            <a:solidFill>
              <a:schemeClr val="accent2"/>
            </a:solidFill>
            <a:ln>
              <a:noFill/>
            </a:ln>
          </p:spPr>
        </p:sp>
        <p:sp>
          <p:nvSpPr>
            <p:cNvPr id="20" name="TextBox 20"/>
            <p:cNvSpPr txBox="1"/>
            <p:nvPr/>
          </p:nvSpPr>
          <p:spPr>
            <a:xfrm>
              <a:off x="736664" y="4247912"/>
              <a:ext cx="2060309"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Fraction of the storage</a:t>
              </a:r>
            </a:p>
          </p:txBody>
        </p:sp>
        <p:sp>
          <p:nvSpPr>
            <p:cNvPr id="21" name="TextBox 21"/>
            <p:cNvSpPr txBox="1"/>
            <p:nvPr/>
          </p:nvSpPr>
          <p:spPr>
            <a:xfrm>
              <a:off x="737806" y="4538901"/>
              <a:ext cx="25800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state-of-the-art distillation, biggest</a:t>
              </a:r>
            </a:p>
          </p:txBody>
        </p:sp>
        <p:sp>
          <p:nvSpPr>
            <p:cNvPr id="22" name="TextBox 22"/>
            <p:cNvSpPr txBox="1"/>
            <p:nvPr/>
          </p:nvSpPr>
          <p:spPr>
            <a:xfrm>
              <a:off x="737806" y="4738926"/>
              <a:ext cx="17030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 high-resolution images</a:t>
              </a:r>
            </a:p>
          </p:txBody>
        </p:sp>
        <p:sp>
          <p:nvSpPr>
            <p:cNvPr id="23" name="Rectangle 23"/>
            <p:cNvSpPr/>
            <p:nvPr/>
          </p:nvSpPr>
          <p:spPr>
            <a:xfrm>
              <a:off x="4318000" y="3695700"/>
              <a:ext cx="3556000" cy="1409700"/>
            </a:xfrm>
            <a:prstGeom prst="roundRect">
              <a:avLst>
                <a:gd name="adj" fmla="val 9459"/>
              </a:avLst>
            </a:prstGeom>
            <a:solidFill>
              <a:schemeClr val="accent5"/>
            </a:solidFill>
            <a:ln w="11430">
              <a:solidFill>
                <a:schemeClr val="accent4"/>
              </a:solidFill>
            </a:ln>
          </p:spPr>
        </p:sp>
        <p:sp>
          <p:nvSpPr>
            <p:cNvPr id="24" name="Rectangle 24"/>
            <p:cNvSpPr/>
            <p:nvPr/>
          </p:nvSpPr>
          <p:spPr>
            <a:xfrm>
              <a:off x="4527550" y="3943350"/>
              <a:ext cx="47625" cy="285750"/>
            </a:xfrm>
            <a:prstGeom prst="roundRect">
              <a:avLst>
                <a:gd name="adj" fmla="val 50000"/>
              </a:avLst>
            </a:prstGeom>
            <a:solidFill>
              <a:srgbClr val="37DCC0"/>
            </a:solidFill>
            <a:ln>
              <a:noFill/>
            </a:ln>
          </p:spPr>
        </p:sp>
        <p:sp>
          <p:nvSpPr>
            <p:cNvPr id="25" name="TextBox 25"/>
            <p:cNvSpPr txBox="1"/>
            <p:nvPr/>
          </p:nvSpPr>
          <p:spPr>
            <a:xfrm>
              <a:off x="4521264" y="4247912"/>
              <a:ext cx="1621681"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Generalizes better</a:t>
              </a:r>
            </a:p>
          </p:txBody>
        </p:sp>
        <p:sp>
          <p:nvSpPr>
            <p:cNvPr id="26" name="TextBox 26"/>
            <p:cNvSpPr txBox="1"/>
            <p:nvPr/>
          </p:nvSpPr>
          <p:spPr>
            <a:xfrm>
              <a:off x="4522406" y="4538901"/>
              <a:ext cx="192741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stronger transfer to unseen</a:t>
              </a:r>
            </a:p>
          </p:txBody>
        </p:sp>
        <p:sp>
          <p:nvSpPr>
            <p:cNvPr id="27" name="TextBox 27"/>
            <p:cNvSpPr txBox="1"/>
            <p:nvPr/>
          </p:nvSpPr>
          <p:spPr>
            <a:xfrm>
              <a:off x="4522406" y="4738926"/>
              <a:ext cx="222328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architectures like ResNet and ViT</a:t>
              </a:r>
            </a:p>
          </p:txBody>
        </p:sp>
        <p:sp>
          <p:nvSpPr>
            <p:cNvPr id="28" name="Rectangle 28"/>
            <p:cNvSpPr/>
            <p:nvPr/>
          </p:nvSpPr>
          <p:spPr>
            <a:xfrm>
              <a:off x="8102600" y="3695700"/>
              <a:ext cx="3556000" cy="1409700"/>
            </a:xfrm>
            <a:prstGeom prst="roundRect">
              <a:avLst>
                <a:gd name="adj" fmla="val 9459"/>
              </a:avLst>
            </a:prstGeom>
            <a:solidFill>
              <a:schemeClr val="accent5"/>
            </a:solidFill>
            <a:ln w="11430">
              <a:solidFill>
                <a:schemeClr val="accent4"/>
              </a:solidFill>
            </a:ln>
          </p:spPr>
        </p:sp>
        <p:sp>
          <p:nvSpPr>
            <p:cNvPr id="29" name="Rectangle 29"/>
            <p:cNvSpPr/>
            <p:nvPr/>
          </p:nvSpPr>
          <p:spPr>
            <a:xfrm>
              <a:off x="8312150" y="3943350"/>
              <a:ext cx="47625" cy="285750"/>
            </a:xfrm>
            <a:prstGeom prst="roundRect">
              <a:avLst>
                <a:gd name="adj" fmla="val 50000"/>
              </a:avLst>
            </a:prstGeom>
            <a:solidFill>
              <a:srgbClr val="57D9A3"/>
            </a:solidFill>
            <a:ln>
              <a:noFill/>
            </a:ln>
          </p:spPr>
        </p:sp>
        <p:sp>
          <p:nvSpPr>
            <p:cNvPr id="30" name="TextBox 30"/>
            <p:cNvSpPr txBox="1"/>
            <p:nvPr/>
          </p:nvSpPr>
          <p:spPr>
            <a:xfrm>
              <a:off x="8305864" y="4247912"/>
              <a:ext cx="1070177"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More robust</a:t>
              </a:r>
            </a:p>
          </p:txBody>
        </p:sp>
        <p:sp>
          <p:nvSpPr>
            <p:cNvPr id="31" name="TextBox 31"/>
            <p:cNvSpPr txBox="1"/>
            <p:nvPr/>
          </p:nvSpPr>
          <p:spPr>
            <a:xfrm>
              <a:off x="8307006" y="4538901"/>
              <a:ext cx="249167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sturdier under image corruption than</a:t>
              </a:r>
            </a:p>
          </p:txBody>
        </p:sp>
        <p:sp>
          <p:nvSpPr>
            <p:cNvPr id="32" name="TextBox 32"/>
            <p:cNvSpPr txBox="1"/>
            <p:nvPr/>
          </p:nvSpPr>
          <p:spPr>
            <a:xfrm>
              <a:off x="8307006" y="4738926"/>
              <a:ext cx="94165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prior methods</a:t>
              </a:r>
            </a:p>
          </p:txBody>
        </p:sp>
      </p:grpSp>
      <p:grpSp>
        <p:nvGrpSpPr>
          <p:cNvPr id="37" name="Group 37"/>
          <p:cNvGrpSpPr/>
          <p:nvPr/>
        </p:nvGrpSpPr>
        <p:grpSpPr>
          <a:xfrm>
            <a:off x="533400" y="5295900"/>
            <a:ext cx="11125200" cy="419100"/>
            <a:chOff x="533400" y="5295900"/>
            <a:chExt cx="11125200" cy="419100"/>
          </a:xfrm>
        </p:grpSpPr>
        <p:sp>
          <p:nvSpPr>
            <p:cNvPr id="34" name="Rectangle 34"/>
            <p:cNvSpPr/>
            <p:nvPr/>
          </p:nvSpPr>
          <p:spPr>
            <a:xfrm>
              <a:off x="533400" y="5295900"/>
              <a:ext cx="11125200" cy="419100"/>
            </a:xfrm>
            <a:prstGeom prst="roundRect">
              <a:avLst>
                <a:gd name="adj" fmla="val 27273"/>
              </a:avLst>
            </a:prstGeom>
            <a:solidFill>
              <a:schemeClr val="accent5"/>
            </a:solidFill>
            <a:ln w="10478">
              <a:solidFill>
                <a:srgbClr val="F7B84B"/>
              </a:solidFill>
            </a:ln>
          </p:spPr>
        </p:sp>
        <p:sp>
          <p:nvSpPr>
            <p:cNvPr id="35" name="Rectangle 35"/>
            <p:cNvSpPr/>
            <p:nvPr/>
          </p:nvSpPr>
          <p:spPr>
            <a:xfrm>
              <a:off x="723900" y="5410200"/>
              <a:ext cx="47625" cy="190500"/>
            </a:xfrm>
            <a:prstGeom prst="roundRect">
              <a:avLst>
                <a:gd name="adj" fmla="val 50000"/>
              </a:avLst>
            </a:prstGeom>
            <a:solidFill>
              <a:srgbClr val="F7B84B"/>
            </a:solidFill>
            <a:ln>
              <a:noFill/>
            </a:ln>
          </p:spPr>
        </p:sp>
        <p:sp>
          <p:nvSpPr>
            <p:cNvPr id="36" name="TextBox 36"/>
            <p:cNvSpPr txBox="1"/>
            <p:nvPr/>
          </p:nvSpPr>
          <p:spPr>
            <a:xfrm>
              <a:off x="908685" y="5450681"/>
              <a:ext cx="7607915"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Sparse, shared representation is a general lever for making tiny synthetic datasets do far more.</a:t>
              </a:r>
            </a:p>
          </p:txBody>
        </p:sp>
      </p:grpSp>
      <p:sp>
        <p:nvSpPr>
          <p:cNvPr id="38" name="TextBox 38"/>
          <p:cNvSpPr txBox="1"/>
          <p:nvPr/>
        </p:nvSpPr>
        <p:spPr>
          <a:xfrm>
            <a:off x="9701635" y="5466874"/>
            <a:ext cx="1961918" cy="190690"/>
          </a:xfrm>
          <a:prstGeom prst="rect">
            <a:avLst/>
          </a:prstGeom>
          <a:noFill/>
          <a:ln>
            <a:noFill/>
          </a:ln>
        </p:spPr>
        <p:txBody>
          <a:bodyPr wrap="none" lIns="0" tIns="0" rIns="0" bIns="0" anchor="t" anchorCtr="0">
            <a:spAutoFit/>
          </a:bodyPr>
          <a:lstStyle/>
          <a:p>
            <a:pPr algn="r"/>
            <a:r>
              <a:rPr lang="en-US" sz="980" b="1" dirty="0">
                <a:solidFill>
                  <a:schemeClr val="accent2"/>
                </a:solidFill>
                <a:latin typeface="Consolas"/>
                <a:ea typeface="Consolas"/>
                <a:cs typeface="Consolas"/>
              </a:rPr>
              <a:t>github.com/MIV-XJTU/SPEED</a:t>
            </a:r>
          </a:p>
        </p:txBody>
      </p:sp>
      <p:sp>
        <p:nvSpPr>
          <p:cNvPr id="39" name="cue_s08_c1_lasting_message_speed_parameterizati" title="cue_s08_c1_lasting_message_speed_parameterizati" descr="cue_s08_c1_lasting_message_speed_parameterizati The lasting message of SPEED is that parameterization deserves as much attention as the matching objective."/>
          <p:cNvSpPr/>
          <p:nvPr/>
        </p:nvSpPr>
        <p:spPr>
          <a:xfrm>
            <a:off x="532790" y="1523847"/>
            <a:ext cx="111252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8_c2_treating_synthetic_dataset_shared_di" title="cue_s08_c2_treating_synthetic_dataset_shared_di" descr="cue_s08_c2_treating_synthetic_dataset_shared_di By treating a synthetic dataset as a shared dictionary of spatial-agnostic epitomic tokens, sparse per-image coding matrices, and a small recurrent network that reassembles them, SPEED removes the spatial redundancy that naive methods leave on the table."/>
          <p:cNvSpPr/>
          <p:nvPr/>
        </p:nvSpPr>
        <p:spPr>
          <a:xfrm>
            <a:off x="532790" y="2628671"/>
            <a:ext cx="111252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8_c3_payoff_state_of_the_art_distillation" title="cue_s08_c3_payoff_state_of_the_art_distillation" descr="cue_s08_c3_payoff_state_of_the_art_distillation The payoff is state-of-the-art distillation at a fraction of the storage, biggest on high-resolution images, plus better generalization to unseen architectures and stronger robustness to corruption."/>
          <p:cNvSpPr/>
          <p:nvPr/>
        </p:nvSpPr>
        <p:spPr>
          <a:xfrm>
            <a:off x="532790" y="3695776"/>
            <a:ext cx="11125200"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4_short_sparse_shared_representation_p" title="cue_s08_c4_short_sparse_shared_representation_p" descr="cue_s08_c4_short_sparse_shared_representation_p In short, sparse, shared representation is a powerful and general lever for making tiny synthetic datasets do far more."/>
          <p:cNvSpPr/>
          <p:nvPr/>
        </p:nvSpPr>
        <p:spPr>
          <a:xfrm>
            <a:off x="532790" y="5295747"/>
            <a:ext cx="11130076" cy="419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EF0FB"/>
      </a:dk1>
      <a:lt1>
        <a:srgbClr val="0B1020"/>
      </a:lt1>
      <a:dk2>
        <a:srgbClr val="B4B2D6"/>
      </a:dk2>
      <a:lt2>
        <a:srgbClr val="141232"/>
      </a:lt2>
      <a:accent1>
        <a:srgbClr val="7C6CF0"/>
      </a:accent1>
      <a:accent2>
        <a:srgbClr val="7C6CF0"/>
      </a:accent2>
      <a:accent3>
        <a:srgbClr val="7C6CF0"/>
      </a:accent3>
      <a:accent4>
        <a:srgbClr val="332F5E"/>
      </a:accent4>
      <a:accent5>
        <a:srgbClr val="181634"/>
      </a:accent5>
      <a:accent6>
        <a:srgbClr val="211E44"/>
      </a:accent6>
      <a:hlink>
        <a:srgbClr val="7C6CF0"/>
      </a:hlink>
      <a:folHlink>
        <a:srgbClr val="7C6CF0"/>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2026-07-16T09:03:04Z</dcterms:created>
  <dcterms:modified xsi:type="dcterms:W3CDTF">2026-07-16T09:03:04Z</dcterms:modified>
  <cp:category/>
  <cp:contentStatus/>
</cp:coreProperties>
</file>
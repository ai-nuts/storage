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ECE7F4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6254531"/>
            <a:ext cx="10804961" cy="7702213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6254531"/>
            <a:ext cx="160020" cy="7702213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3568" y="6254531"/>
            <a:ext cx="13506133" cy="23817421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3568" y="6254531"/>
            <a:ext cx="160020" cy="23817421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816421" y="6254531"/>
            <a:ext cx="13506271" cy="776249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816421" y="6254531"/>
            <a:ext cx="160020" cy="776249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6254531"/>
            <a:ext cx="10804962" cy="930560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6254531"/>
            <a:ext cx="160020" cy="930560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887" y="14288591"/>
            <a:ext cx="10804961" cy="15783361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887" y="14288591"/>
            <a:ext cx="160020" cy="15783361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816421" y="14348876"/>
            <a:ext cx="13506271" cy="15723076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16421" y="14348876"/>
            <a:ext cx="160020" cy="15723076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49412" y="15891986"/>
            <a:ext cx="10804962" cy="5020627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49412" y="15891986"/>
            <a:ext cx="160020" cy="5020627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49412" y="21244460"/>
            <a:ext cx="10804962" cy="8827492"/>
          </a:xfrm>
          <a:prstGeom prst="rect">
            <a:avLst/>
          </a:prstGeom>
          <a:solidFill>
            <a:srgbClr val="F0EDF5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49412" y="21244460"/>
            <a:ext cx="53340" cy="8827492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1006" y="3958140"/>
            <a:ext cx="5048131" cy="1466836"/>
          </a:xfrm>
          <a:prstGeom prst="rect">
            <a:avLst/>
          </a:prstGeom>
        </p:spPr>
      </p:pic>
      <p:pic>
        <p:nvPicPr>
          <p:cNvPr id="20" name="Picture 19" descr="massachusetts-institute-of-techn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111" y="3958162"/>
            <a:ext cx="2754788" cy="1466792"/>
          </a:xfrm>
          <a:prstGeom prst="rect">
            <a:avLst/>
          </a:prstGeom>
        </p:spPr>
      </p:pic>
      <p:pic>
        <p:nvPicPr>
          <p:cNvPr id="21" name="Picture 20" descr="microsoft-research-ny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7873" y="3958133"/>
            <a:ext cx="6827520" cy="146685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0359766" y="13533635"/>
            <a:ext cx="980650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359766" y="13533635"/>
            <a:ext cx="9806504" cy="11557"/>
          </a:xfrm>
          <a:prstGeom prst="rect">
            <a:avLst/>
          </a:prstGeom>
          <a:solidFill>
            <a:srgbClr val="C0B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359766" y="17272853"/>
            <a:ext cx="9806504" cy="3419316"/>
          </a:xfrm>
          <a:prstGeom prst="roundRect">
            <a:avLst>
              <a:gd name="adj" fmla="val 2079"/>
            </a:avLst>
          </a:prstGeom>
          <a:gradFill rotWithShape="1" flip="none">
            <a:gsLst>
              <a:gs pos="0">
                <a:srgbClr val="E9E6F0"/>
              </a:gs>
              <a:gs pos="100000">
                <a:srgbClr val="F4F2F8"/>
              </a:gs>
            </a:gsLst>
            <a:lin ang="5400000" scaled="0"/>
          </a:gradFill>
          <a:ln w="8890">
            <a:solidFill>
              <a:srgbClr val="D2CB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493922" y="18397855"/>
            <a:ext cx="12507675" cy="1554499"/>
          </a:xfrm>
          <a:prstGeom prst="roundRect">
            <a:avLst>
              <a:gd name="adj" fmla="val 14493"/>
            </a:avLst>
          </a:prstGeom>
          <a:solidFill>
            <a:srgbClr val="F4F2F8"/>
          </a:solidFill>
          <a:ln w="8890">
            <a:solidFill>
              <a:srgbClr val="C5B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493922" y="20160019"/>
            <a:ext cx="12507675" cy="2346821"/>
          </a:xfrm>
          <a:prstGeom prst="roundRect">
            <a:avLst>
              <a:gd name="adj" fmla="val 8889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426775" y="28112819"/>
            <a:ext cx="12507813" cy="15679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426775" y="28112819"/>
            <a:ext cx="12507813" cy="11557"/>
          </a:xfrm>
          <a:prstGeom prst="rect">
            <a:avLst/>
          </a:prstGeom>
          <a:solidFill>
            <a:srgbClr val="C0B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253086" y="28372018"/>
            <a:ext cx="9913184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53086" y="28372018"/>
            <a:ext cx="124460" cy="148101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6426775" y="11981914"/>
            <a:ext cx="3082607" cy="819824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Walker2d-v4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665791" y="11981914"/>
            <a:ext cx="2039004" cy="819824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Hopper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861204" y="11981914"/>
            <a:ext cx="3073717" cy="819824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HalfCheetah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091330" y="11981914"/>
            <a:ext cx="1226125" cy="819824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426775" y="12958147"/>
            <a:ext cx="2654498" cy="819825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Humanoid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37682" y="12958147"/>
            <a:ext cx="3656568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TinyStories LM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426775" y="16048811"/>
            <a:ext cx="5836840" cy="4104957"/>
          </a:xfrm>
          <a:prstGeom prst="roundRect">
            <a:avLst>
              <a:gd name="adj" fmla="val 5082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3097608" y="16048811"/>
            <a:ext cx="5836980" cy="3348752"/>
          </a:xfrm>
          <a:prstGeom prst="roundRect">
            <a:avLst>
              <a:gd name="adj" fmla="val 6229"/>
            </a:avLst>
          </a:prstGeom>
          <a:solidFill>
            <a:srgbClr val="F4F2F8"/>
          </a:solidFill>
          <a:ln w="8890">
            <a:solidFill>
              <a:srgbClr val="4B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821977" y="17400230"/>
            <a:ext cx="4098428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821977" y="17400230"/>
            <a:ext cx="11557" cy="3235682"/>
          </a:xfrm>
          <a:prstGeom prst="rect">
            <a:avLst/>
          </a:prstGeom>
          <a:solidFill>
            <a:srgbClr val="D2C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6426775" y="20623966"/>
            <a:ext cx="12507813" cy="6000194"/>
          </a:xfrm>
          <a:prstGeom prst="roundRect">
            <a:avLst>
              <a:gd name="adj" fmla="val 59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26818" y="20623966"/>
            <a:ext cx="12507727" cy="6000194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268214" y="21330165"/>
            <a:ext cx="9794418" cy="7074218"/>
          </a:xfrm>
          <a:prstGeom prst="roundRect">
            <a:avLst>
              <a:gd name="adj" fmla="val 50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254" y="21330165"/>
            <a:ext cx="9794338" cy="7074218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2493922" y="22834520"/>
            <a:ext cx="12507675" cy="4925477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igur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4064" y="22834520"/>
            <a:ext cx="12507391" cy="492547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6670277" y="17000458"/>
            <a:ext cx="4984965" cy="3273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Reward swings step-to-step; any checkpoint is a gamble.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41111" y="17000458"/>
            <a:ext cx="4626994" cy="240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Rollouts stay near-expert; also lowest-perplexity LM.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4B2E83"/>
                </a:solidFill>
                <a:latin typeface="Arial"/>
              </a:rPr>
              <a:t>Butterfly Effects of SGD Noise: Error Amplification in Behavior Cloning and Autoregression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Adam Block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Dylan J. Foster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Akshay Krishnamurthy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Max Simchowitz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Cyril Zhang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MIT  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Microsoft Research NYC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359766" y="6524148"/>
            <a:ext cx="1010069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Ablation Study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62241" y="6642635"/>
            <a:ext cx="1010069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Problem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493922" y="6642635"/>
            <a:ext cx="12882905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Method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426775" y="6642635"/>
            <a:ext cx="12883047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Dataset / Benchmark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62241" y="8014473"/>
            <a:ext cx="10100698" cy="6087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Behavior-cloning deep policies with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minibatch SGD makes long-horizon rollout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reward </a:t>
            </a:r>
            <a:r>
              <a:rPr sz="4106" b="1">
                <a:solidFill>
                  <a:srgbClr val="111111"/>
                </a:solidFill>
                <a:latin typeface="Arial"/>
              </a:rPr>
              <a:t>oscillate violently</a:t>
            </a:r>
            <a:r>
              <a:rPr sz="4106" b="0">
                <a:solidFill>
                  <a:srgbClr val="1C1C1C"/>
                </a:solidFill>
                <a:latin typeface="Arial"/>
              </a:rPr>
              <a:t> across iterates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— while the single-step BC loss stays </a:t>
            </a:r>
            <a:r>
              <a:rPr sz="4106" b="1">
                <a:solidFill>
                  <a:srgbClr val="111111"/>
                </a:solidFill>
                <a:latin typeface="Arial"/>
              </a:rPr>
              <a:t>flat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and stable</a:t>
            </a:r>
            <a:r>
              <a:rPr sz="4106" b="0">
                <a:solidFill>
                  <a:srgbClr val="1C1C1C"/>
                </a:solidFill>
                <a:latin typeface="Arial"/>
              </a:rPr>
              <a:t>. Rolling out every checkpoint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is impractical, so any saved model carries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real risk of poor deployed performance.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359766" y="13533635"/>
            <a:ext cx="10100699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LR decay and huge batches also help, at large compute cost.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62241" y="14676695"/>
            <a:ext cx="1010069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Motivation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426775" y="14736980"/>
            <a:ext cx="12883047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Key Results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359766" y="16161603"/>
            <a:ext cx="10100699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Headline Numbers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157033" y="19502715"/>
            <a:ext cx="7396896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EMA of the optimizer trajectory; rate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with a burn-in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493922" y="20160019"/>
            <a:ext cx="12882905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Same fix, two domains: EMA tames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butterfly effect in robot control </a:t>
            </a:r>
            <a:r>
              <a:rPr sz="4106" b="1" i="1">
                <a:solidFill>
                  <a:srgbClr val="FFFFFF"/>
                </a:solidFill>
                <a:latin typeface="Arial"/>
              </a:rPr>
              <a:t>and</a:t>
            </a:r>
            <a:r>
              <a:rPr sz="4106" b="1">
                <a:solidFill>
                  <a:srgbClr val="FFFFFF"/>
                </a:solidFill>
                <a:latin typeface="Arial"/>
              </a:rPr>
              <a:t> language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generation.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53086" y="21514077"/>
            <a:ext cx="1021057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Takeaway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253086" y="22717144"/>
            <a:ext cx="10210579" cy="6087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SGD noise is harmless for the one-step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loss, but feedback loops amplify it into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chaotic long-horizon failures (</a:t>
            </a:r>
            <a:r>
              <a:rPr sz="4106" b="1">
                <a:solidFill>
                  <a:srgbClr val="111111"/>
                </a:solidFill>
                <a:latin typeface="Arial"/>
              </a:rPr>
              <a:t>GVA</a:t>
            </a:r>
            <a:r>
              <a:rPr sz="4106" b="0">
                <a:solidFill>
                  <a:srgbClr val="1C1C1C"/>
                </a:solidFill>
                <a:latin typeface="Arial"/>
              </a:rPr>
              <a:t>).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cheap </a:t>
            </a:r>
            <a:r>
              <a:rPr sz="4106" b="1">
                <a:solidFill>
                  <a:srgbClr val="111111"/>
                </a:solidFill>
                <a:latin typeface="Arial"/>
              </a:rPr>
              <a:t>EMA of the weights</a:t>
            </a:r>
            <a:r>
              <a:rPr sz="4106" b="0">
                <a:solidFill>
                  <a:srgbClr val="1C1C1C"/>
                </a:solidFill>
                <a:latin typeface="Arial"/>
              </a:rPr>
              <a:t> is a broadly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effective stabilizer — treat it like your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optimizer and scheduler, from robotic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control to language generation.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426775" y="28112819"/>
            <a:ext cx="12883047" cy="1803168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Statistical convergence is sufficient but not necessary for BC.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253086" y="28372018"/>
            <a:ext cx="10210579" cy="1703170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Averaging weights is a first-class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stabilizer.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426756" y="7744995"/>
            <a:ext cx="12883066" cy="2661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Continuous control:</a:t>
            </a:r>
            <a:r>
              <a:rPr sz="4106" b="0">
                <a:solidFill>
                  <a:srgbClr val="1C1C1C"/>
                </a:solidFill>
                <a:latin typeface="Arial"/>
              </a:rPr>
              <a:t> BC from SAC experts over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horizon </a:t>
            </a:r>
            <a:r>
              <a:rPr sz="4353" b="1">
                <a:solidFill>
                  <a:srgbClr val="111111"/>
                </a:solidFill>
                <a:latin typeface="Arial"/>
              </a:rPr>
              <a:t>H = 1000</a:t>
            </a:r>
            <a:r>
              <a:rPr sz="4106" b="0">
                <a:solidFill>
                  <a:srgbClr val="1C1C1C"/>
                </a:solidFill>
                <a:latin typeface="Arial"/>
              </a:rPr>
              <a:t> on MuJoCo — Walker2d-v4 plus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four more tasks.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359748" y="7750829"/>
            <a:ext cx="10100717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Oscillations persist across </a:t>
            </a:r>
            <a:r>
              <a:rPr sz="4106" b="1">
                <a:solidFill>
                  <a:srgbClr val="111111"/>
                </a:solidFill>
                <a:latin typeface="Arial"/>
              </a:rPr>
              <a:t>dataset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sizes, architectures, scales</a:t>
            </a:r>
            <a:r>
              <a:rPr sz="4106" b="0">
                <a:solidFill>
                  <a:srgbClr val="1C1C1C"/>
                </a:solidFill>
                <a:latin typeface="Arial"/>
              </a:rPr>
              <a:t>,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regularizers — only </a:t>
            </a:r>
            <a:r>
              <a:rPr sz="4106" b="1">
                <a:solidFill>
                  <a:srgbClr val="111111"/>
                </a:solidFill>
                <a:latin typeface="Arial"/>
              </a:rPr>
              <a:t>variance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reduction</a:t>
            </a:r>
            <a:r>
              <a:rPr sz="4106" b="0">
                <a:solidFill>
                  <a:srgbClr val="1C1C1C"/>
                </a:solidFill>
                <a:latin typeface="Arial"/>
              </a:rPr>
              <a:t> calms them.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493904" y="7811948"/>
            <a:ext cx="12882923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Disentangle</a:t>
            </a:r>
            <a:r>
              <a:rPr sz="4106" b="0">
                <a:solidFill>
                  <a:srgbClr val="1C1C1C"/>
                </a:solidFill>
                <a:latin typeface="Arial"/>
              </a:rPr>
              <a:t> statistical vs. algorithmic causes: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ablate the data difficulty and the oscillations remain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— the cause is </a:t>
            </a:r>
            <a:r>
              <a:rPr sz="4106" b="1">
                <a:solidFill>
                  <a:srgbClr val="111111"/>
                </a:solidFill>
                <a:latin typeface="Arial"/>
              </a:rPr>
              <a:t>gradient variance amplification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(GVA)</a:t>
            </a:r>
            <a:r>
              <a:rPr sz="4106" b="0">
                <a:solidFill>
                  <a:srgbClr val="1C1C1C"/>
                </a:solidFill>
                <a:latin typeface="Arial"/>
              </a:rPr>
              <a:t>, SGD noise amplified through unstable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closed-loop rollouts.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426756" y="10241557"/>
            <a:ext cx="12883066" cy="1791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Language:</a:t>
            </a:r>
            <a:r>
              <a:rPr sz="4106" b="0">
                <a:solidFill>
                  <a:srgbClr val="1C1C1C"/>
                </a:solidFill>
                <a:latin typeface="Arial"/>
              </a:rPr>
              <a:t> on </a:t>
            </a:r>
            <a:r>
              <a:rPr sz="4106" b="1">
                <a:solidFill>
                  <a:srgbClr val="111111"/>
                </a:solidFill>
                <a:latin typeface="Arial"/>
              </a:rPr>
              <a:t>TinyStories</a:t>
            </a:r>
            <a:r>
              <a:rPr sz="4106" b="0">
                <a:solidFill>
                  <a:srgbClr val="1C1C1C"/>
                </a:solidFill>
                <a:latin typeface="Arial"/>
              </a:rPr>
              <a:t>, train </a:t>
            </a:r>
            <a:r>
              <a:rPr sz="4353" b="1">
                <a:solidFill>
                  <a:srgbClr val="111111"/>
                </a:solidFill>
                <a:latin typeface="Arial"/>
              </a:rPr>
              <a:t>270M</a:t>
            </a:r>
            <a:r>
              <a:rPr sz="4106" b="0">
                <a:solidFill>
                  <a:srgbClr val="1C1C1C"/>
                </a:solidFill>
                <a:latin typeface="Arial"/>
              </a:rPr>
              <a:t>-parameter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Transformers for language generation.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359748" y="10958175"/>
            <a:ext cx="10100717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EMA is most effective updating </a:t>
            </a:r>
            <a:r>
              <a:rPr sz="4106" b="1">
                <a:solidFill>
                  <a:srgbClr val="111111"/>
                </a:solidFill>
                <a:latin typeface="Arial"/>
              </a:rPr>
              <a:t>every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iterate</a:t>
            </a:r>
            <a:r>
              <a:rPr sz="4106" b="0">
                <a:solidFill>
                  <a:srgbClr val="1C1C1C"/>
                </a:solidFill>
                <a:latin typeface="Arial"/>
              </a:rPr>
              <a:t> after a burn-in; skipping either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weakens the stabilization.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493904" y="11775499"/>
            <a:ext cx="12882923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Test variance-reduction cures — LR decay, huge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batches, and iterate averaging. An </a:t>
            </a:r>
            <a:r>
              <a:rPr sz="4106" b="1">
                <a:solidFill>
                  <a:srgbClr val="111111"/>
                </a:solidFill>
                <a:latin typeface="Arial"/>
              </a:rPr>
              <a:t>EMA of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weights</a:t>
            </a:r>
            <a:r>
              <a:rPr sz="4106" b="0">
                <a:solidFill>
                  <a:srgbClr val="1C1C1C"/>
                </a:solidFill>
                <a:latin typeface="Arial"/>
              </a:rPr>
              <a:t> updated every step stabilizes rollouts 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near-zero cost; a convex ‘cliff-loss’ vignette proves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blow-up is real.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493904" y="15739050"/>
            <a:ext cx="1288292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EMA needs no learning-rate or batch-size change;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 language modeling it further </a:t>
            </a:r>
            <a:r>
              <a:rPr sz="4106" b="1">
                <a:solidFill>
                  <a:srgbClr val="111111"/>
                </a:solidFill>
                <a:latin typeface="Arial"/>
              </a:rPr>
              <a:t>removes the need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for LR decay</a:t>
            </a:r>
            <a:r>
              <a:rPr sz="4106" b="0">
                <a:solidFill>
                  <a:srgbClr val="1C1C1C"/>
                </a:solidFill>
                <a:latin typeface="Arial"/>
              </a:rPr>
              <a:t>, reducing overfitting.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62222" y="15973107"/>
            <a:ext cx="10100717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Deep systems act inside </a:t>
            </a:r>
            <a:r>
              <a:rPr sz="4106" b="1">
                <a:solidFill>
                  <a:srgbClr val="111111"/>
                </a:solidFill>
                <a:latin typeface="Arial"/>
              </a:rPr>
              <a:t>feedback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loops</a:t>
            </a:r>
            <a:r>
              <a:rPr sz="4106" b="0">
                <a:solidFill>
                  <a:srgbClr val="1C1C1C"/>
                </a:solidFill>
                <a:latin typeface="Arial"/>
              </a:rPr>
              <a:t>, yet we train on </a:t>
            </a:r>
            <a:r>
              <a:rPr sz="4106" b="1">
                <a:solidFill>
                  <a:srgbClr val="111111"/>
                </a:solidFill>
                <a:latin typeface="Arial"/>
              </a:rPr>
              <a:t>surrogate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objectives</a:t>
            </a:r>
            <a:r>
              <a:rPr sz="4106" b="0">
                <a:solidFill>
                  <a:srgbClr val="1C1C1C"/>
                </a:solidFill>
                <a:latin typeface="Arial"/>
              </a:rPr>
              <a:t> that ignore the loop.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393909" y="16048811"/>
            <a:ext cx="590607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4B2E83"/>
                </a:solidFill>
                <a:latin typeface="Arial"/>
              </a:rP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62222" y="18424247"/>
            <a:ext cx="10100717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Blame </a:t>
            </a:r>
            <a:r>
              <a:rPr sz="4106" b="1">
                <a:solidFill>
                  <a:srgbClr val="111111"/>
                </a:solidFill>
                <a:latin typeface="Arial"/>
              </a:rPr>
              <a:t>optimizer noise</a:t>
            </a:r>
            <a:r>
              <a:rPr sz="4106" b="0">
                <a:solidFill>
                  <a:srgbClr val="1C1C1C"/>
                </a:solidFill>
                <a:latin typeface="Arial"/>
              </a:rPr>
              <a:t>: the smooth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surrogate hides wild swings in the true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metric, not the training loss.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927115" y="26773762"/>
            <a:ext cx="11852346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Oscillations persist across architectures and regularizers;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only variance-reduction (especially EMA) calms them.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994262" y="27909599"/>
            <a:ext cx="11852203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EMA sharply damps GVA-induced reward oscillations across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architectures, ablations, dataset sizes, and tasks — no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change to the LR schedule or batch size.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59929" y="28553985"/>
            <a:ext cx="9281174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Reward swings; BC loss stays flat; EMA damps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it.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670277" y="16266199"/>
            <a:ext cx="5510331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RAW SGD ITERATES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341111" y="16266199"/>
            <a:ext cx="5510473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EMA ITERATES (OURS)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605630" y="17400230"/>
            <a:ext cx="4781943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4B2E83"/>
                </a:solidFill>
                <a:latin typeface="Arial"/>
              </a:rPr>
              <a:t>278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605630" y="18775124"/>
            <a:ext cx="4781943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distinct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interventions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605630" y="19818032"/>
            <a:ext cx="4781943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map when GVA appears and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what tames 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300231" y="17400230"/>
            <a:ext cx="122685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673875" y="17533580"/>
            <a:ext cx="2313925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rollout horizon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300231" y="18647747"/>
            <a:ext cx="138237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270M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824866" y="18781097"/>
            <a:ext cx="183191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LM params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300231" y="19772193"/>
            <a:ext cx="61349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078384" y="19905543"/>
            <a:ext cx="260651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seeds averaged</a:t>
            </a:r>
          </a:p>
        </p:txBody>
      </p:sp>
      <p:pic>
        <p:nvPicPr>
          <p:cNvPr id="91" name="Picture 90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34847" y="18573015"/>
            <a:ext cx="8825686" cy="800100"/>
          </a:xfrm>
          <a:prstGeom prst="rect">
            <a:avLst/>
          </a:prstGeom>
        </p:spPr>
      </p:pic>
      <p:pic>
        <p:nvPicPr>
          <p:cNvPr id="92" name="Picture 91" descr="eq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37151" y="19440485"/>
            <a:ext cx="1219597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
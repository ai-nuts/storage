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66640" cy="427939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927" y="418988"/>
            <a:ext cx="29424707" cy="5174562"/>
          </a:xfrm>
          <a:prstGeom prst="roundRect">
            <a:avLst>
              <a:gd name="adj" fmla="val 1104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31846" y="1985581"/>
            <a:ext cx="3101676" cy="20412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14468" y="1985581"/>
            <a:ext cx="19054" cy="20412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0927" y="5898269"/>
            <a:ext cx="29424707" cy="13261807"/>
          </a:xfrm>
          <a:prstGeom prst="roundRect">
            <a:avLst>
              <a:gd name="adj" fmla="val 431"/>
            </a:avLst>
          </a:prstGeom>
          <a:solidFill>
            <a:srgbClr val="FAFAF7"/>
          </a:solidFill>
          <a:ln w="9526">
            <a:solidFill>
              <a:srgbClr val="B6BCC6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991" y="6136330"/>
            <a:ext cx="28948581" cy="104747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991" y="7164747"/>
            <a:ext cx="28948581" cy="19054"/>
          </a:xfrm>
          <a:prstGeom prst="rect">
            <a:avLst/>
          </a:prstGeom>
          <a:solidFill>
            <a:srgbClr val="BBC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0927" y="19464794"/>
            <a:ext cx="14559993" cy="5029642"/>
          </a:xfrm>
          <a:prstGeom prst="roundRect">
            <a:avLst>
              <a:gd name="adj" fmla="val 1136"/>
            </a:avLst>
          </a:prstGeom>
          <a:solidFill>
            <a:srgbClr val="FAFAF7"/>
          </a:solidFill>
          <a:ln w="9526">
            <a:solidFill>
              <a:srgbClr val="B6BCC6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285642" y="19464794"/>
            <a:ext cx="14559993" cy="10179061"/>
          </a:xfrm>
          <a:prstGeom prst="roundRect">
            <a:avLst>
              <a:gd name="adj" fmla="val 561"/>
            </a:avLst>
          </a:prstGeom>
          <a:solidFill>
            <a:srgbClr val="FAFAF7"/>
          </a:solidFill>
          <a:ln w="9526">
            <a:solidFill>
              <a:srgbClr val="B6BCC6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0927" y="24748270"/>
            <a:ext cx="14559993" cy="11721847"/>
          </a:xfrm>
          <a:prstGeom prst="roundRect">
            <a:avLst>
              <a:gd name="adj" fmla="val 487"/>
            </a:avLst>
          </a:prstGeom>
          <a:solidFill>
            <a:srgbClr val="FAFAF7"/>
          </a:solidFill>
          <a:ln w="9526">
            <a:solidFill>
              <a:srgbClr val="B6BCC6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5285642" y="29897687"/>
            <a:ext cx="14559993" cy="6904673"/>
          </a:xfrm>
          <a:prstGeom prst="roundRect">
            <a:avLst>
              <a:gd name="adj" fmla="val 827"/>
            </a:avLst>
          </a:prstGeom>
          <a:solidFill>
            <a:srgbClr val="FAFAF7"/>
          </a:solidFill>
          <a:ln w="9526">
            <a:solidFill>
              <a:srgbClr val="B6BCC6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927" y="36723949"/>
            <a:ext cx="14559993" cy="5641460"/>
          </a:xfrm>
          <a:prstGeom prst="roundRect">
            <a:avLst>
              <a:gd name="adj" fmla="val 1013"/>
            </a:avLst>
          </a:prstGeom>
          <a:solidFill>
            <a:srgbClr val="EDF1F7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927" y="36723949"/>
            <a:ext cx="14559993" cy="9526"/>
          </a:xfrm>
          <a:prstGeom prst="rect">
            <a:avLst/>
          </a:prstGeom>
          <a:solidFill>
            <a:srgbClr val="B6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971394" y="36723949"/>
            <a:ext cx="9526" cy="5641460"/>
          </a:xfrm>
          <a:prstGeom prst="rect">
            <a:avLst/>
          </a:prstGeom>
          <a:solidFill>
            <a:srgbClr val="B6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927" y="42355882"/>
            <a:ext cx="14559993" cy="9527"/>
          </a:xfrm>
          <a:prstGeom prst="rect">
            <a:avLst/>
          </a:prstGeom>
          <a:solidFill>
            <a:srgbClr val="B6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927" y="36723949"/>
            <a:ext cx="57161" cy="5641460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5285642" y="37056194"/>
            <a:ext cx="14559993" cy="5309215"/>
          </a:xfrm>
          <a:prstGeom prst="roundRect">
            <a:avLst>
              <a:gd name="adj" fmla="val 1076"/>
            </a:avLst>
          </a:prstGeom>
          <a:solidFill>
            <a:srgbClr val="FAFAF7"/>
          </a:solidFill>
          <a:ln w="9526">
            <a:solidFill>
              <a:srgbClr val="B6BCC6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6595468" y="825180"/>
            <a:ext cx="2539250" cy="1396528"/>
          </a:xfrm>
          <a:prstGeom prst="roundRect">
            <a:avLst>
              <a:gd name="adj" fmla="val 727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microsoft-re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3302" y="1211749"/>
            <a:ext cx="2183582" cy="62339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58991" y="19702857"/>
            <a:ext cx="14083866" cy="104746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991" y="20731272"/>
            <a:ext cx="14083866" cy="19054"/>
          </a:xfrm>
          <a:prstGeom prst="rect">
            <a:avLst/>
          </a:prstGeom>
          <a:solidFill>
            <a:srgbClr val="BBC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5523707" y="19702857"/>
            <a:ext cx="14083865" cy="104746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5523707" y="20731272"/>
            <a:ext cx="14083865" cy="19054"/>
          </a:xfrm>
          <a:prstGeom prst="rect">
            <a:avLst/>
          </a:prstGeom>
          <a:solidFill>
            <a:srgbClr val="BBC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991" y="24986331"/>
            <a:ext cx="14083866" cy="104747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991" y="26014749"/>
            <a:ext cx="14083866" cy="19053"/>
          </a:xfrm>
          <a:prstGeom prst="rect">
            <a:avLst/>
          </a:prstGeom>
          <a:solidFill>
            <a:srgbClr val="BBC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5523707" y="30135750"/>
            <a:ext cx="14083865" cy="104746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523707" y="31164165"/>
            <a:ext cx="14083865" cy="19054"/>
          </a:xfrm>
          <a:prstGeom prst="rect">
            <a:avLst/>
          </a:prstGeom>
          <a:solidFill>
            <a:srgbClr val="BBC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6604" y="36962011"/>
            <a:ext cx="14036253" cy="104746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6604" y="37990427"/>
            <a:ext cx="14036253" cy="19053"/>
          </a:xfrm>
          <a:prstGeom prst="rect">
            <a:avLst/>
          </a:prstGeom>
          <a:solidFill>
            <a:srgbClr val="BBC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523707" y="37294255"/>
            <a:ext cx="14083865" cy="104747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5523707" y="38322673"/>
            <a:ext cx="14083865" cy="19053"/>
          </a:xfrm>
          <a:prstGeom prst="rect">
            <a:avLst/>
          </a:prstGeom>
          <a:solidFill>
            <a:srgbClr val="BBC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6785918" y="2450247"/>
            <a:ext cx="2158348" cy="2158324"/>
          </a:xfrm>
          <a:prstGeom prst="roundRect">
            <a:avLst>
              <a:gd name="adj" fmla="val 5296"/>
            </a:avLst>
          </a:prstGeom>
          <a:solidFill>
            <a:srgbClr val="FFFFFF"/>
          </a:solidFill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00240" y="2564567"/>
            <a:ext cx="1929704" cy="1929684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11980570" y="7730449"/>
            <a:ext cx="17627002" cy="9863033"/>
          </a:xfrm>
          <a:prstGeom prst="roundRect">
            <a:avLst>
              <a:gd name="adj" fmla="val 386"/>
            </a:avLst>
          </a:prstGeom>
          <a:solidFill>
            <a:srgbClr val="FFFFFF"/>
          </a:solidFill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page2_figur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0667" y="7730449"/>
            <a:ext cx="17626808" cy="9863033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658991" y="30901265"/>
            <a:ext cx="14083866" cy="3428085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page1_figur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791" y="30901265"/>
            <a:ext cx="10372266" cy="3428085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5523707" y="21263051"/>
            <a:ext cx="9578059" cy="735311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5523707" y="21988836"/>
            <a:ext cx="9578059" cy="9526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5101766" y="21263051"/>
            <a:ext cx="2252827" cy="735311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5101766" y="21988836"/>
            <a:ext cx="2252827" cy="9526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354593" y="21263051"/>
            <a:ext cx="2252979" cy="735311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354593" y="21988836"/>
            <a:ext cx="2252979" cy="9526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5523707" y="21998362"/>
            <a:ext cx="9578059" cy="7400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5523707" y="22728908"/>
            <a:ext cx="9578059" cy="952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5101766" y="21998362"/>
            <a:ext cx="2252827" cy="7400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5101766" y="22728908"/>
            <a:ext cx="2252827" cy="952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7354593" y="21998362"/>
            <a:ext cx="2252979" cy="7400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354593" y="22728908"/>
            <a:ext cx="2252979" cy="952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523707" y="22738435"/>
            <a:ext cx="9578059" cy="7400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5523707" y="23468983"/>
            <a:ext cx="9578059" cy="952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5101766" y="22738435"/>
            <a:ext cx="2252827" cy="7400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5101766" y="23468983"/>
            <a:ext cx="2252827" cy="952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7354593" y="22738435"/>
            <a:ext cx="2252979" cy="7400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7354593" y="23468983"/>
            <a:ext cx="2252979" cy="952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5523707" y="23478510"/>
            <a:ext cx="9578059" cy="7400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5523707" y="24209056"/>
            <a:ext cx="9578059" cy="952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5101766" y="23478510"/>
            <a:ext cx="2252827" cy="7400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5101766" y="24209056"/>
            <a:ext cx="2252827" cy="952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7354593" y="23478510"/>
            <a:ext cx="2252979" cy="7400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7354593" y="24209056"/>
            <a:ext cx="2252979" cy="952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5523707" y="24218583"/>
            <a:ext cx="9578059" cy="740075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5523707" y="24949131"/>
            <a:ext cx="9578059" cy="952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5101766" y="24218583"/>
            <a:ext cx="2252827" cy="740075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5101766" y="24949131"/>
            <a:ext cx="2252827" cy="952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7354593" y="24218583"/>
            <a:ext cx="2252979" cy="740075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7354593" y="24949131"/>
            <a:ext cx="2252979" cy="952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842966" y="1788287"/>
            <a:ext cx="21447915" cy="1177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8065"/>
              </a:lnSpc>
              <a:spcBef>
                <a:spcPts val="0"/>
              </a:spcBef>
              <a:spcAft>
                <a:spcPts val="0"/>
              </a:spcAft>
            </a:pPr>
            <a:r>
              <a:rPr sz="7201" b="1" spc="-72">
                <a:solidFill>
                  <a:srgbClr val="FFFFFF"/>
                </a:solidFill>
                <a:latin typeface="Arial"/>
              </a:rPr>
              <a:t>Deep Residual Learning for Image Recognition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42966" y="3040639"/>
            <a:ext cx="21447915" cy="7621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22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FFFFFF"/>
                </a:solidFill>
                <a:latin typeface="Arial"/>
              </a:rPr>
              <a:t>Kaiming He</a:t>
            </a:r>
            <a:r>
              <a:rPr sz="5040" b="0" baseline="30000">
                <a:solidFill>
                  <a:srgbClr val="FFFFFF"/>
                </a:solidFill>
                <a:latin typeface="Arial"/>
              </a:rPr>
              <a:t>1</a:t>
            </a:r>
            <a:r>
              <a:rPr sz="3600" b="0">
                <a:solidFill>
                  <a:srgbClr val="FFFFFF"/>
                </a:solidFill>
                <a:latin typeface="Arial"/>
              </a:rPr>
              <a:t>, Xiangyu Zhang</a:t>
            </a:r>
            <a:r>
              <a:rPr sz="5040" b="0" baseline="30000">
                <a:solidFill>
                  <a:srgbClr val="FFFFFF"/>
                </a:solidFill>
                <a:latin typeface="Arial"/>
              </a:rPr>
              <a:t>1</a:t>
            </a:r>
            <a:r>
              <a:rPr sz="3600" b="0">
                <a:solidFill>
                  <a:srgbClr val="FFFFFF"/>
                </a:solidFill>
                <a:latin typeface="Arial"/>
              </a:rPr>
              <a:t>, Shaoqing Ren</a:t>
            </a:r>
            <a:r>
              <a:rPr sz="5040" b="0" baseline="30000">
                <a:solidFill>
                  <a:srgbClr val="FFFFFF"/>
                </a:solidFill>
                <a:latin typeface="Arial"/>
              </a:rPr>
              <a:t>1</a:t>
            </a:r>
            <a:r>
              <a:rPr sz="3600" b="0">
                <a:solidFill>
                  <a:srgbClr val="FFFFFF"/>
                </a:solidFill>
                <a:latin typeface="Arial"/>
              </a:rPr>
              <a:t>, Jian Sun</a:t>
            </a:r>
            <a:r>
              <a:rPr sz="5040" b="0" baseline="300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8991" y="6136330"/>
            <a:ext cx="29253438" cy="1204591"/>
          </a:xfrm>
          <a:prstGeom prst="rect">
            <a:avLst/>
          </a:prstGeom>
          <a:noFill/>
        </p:spPr>
        <p:txBody>
          <a:bodyPr wrap="none" lIns="0" rIns="4191791" tIns="0" bIns="190533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>
                <a:solidFill>
                  <a:srgbClr val="1D3A87"/>
                </a:solidFill>
                <a:latin typeface="Arial"/>
              </a:rPr>
              <a:t>Method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55937" y="1985581"/>
            <a:ext cx="2265055" cy="9344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401"/>
              </a:lnSpc>
              <a:spcBef>
                <a:spcPts val="0"/>
              </a:spcBef>
              <a:spcAft>
                <a:spcPts val="0"/>
              </a:spcAft>
            </a:pPr>
            <a:r>
              <a:rPr sz="6401" b="1" spc="-64">
                <a:solidFill>
                  <a:srgbClr val="FFFFFF"/>
                </a:solidFill>
                <a:latin typeface="Arial"/>
              </a:rPr>
              <a:t>CVPR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851543" y="2858968"/>
            <a:ext cx="1052249" cy="6774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64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spc="256">
                <a:solidFill>
                  <a:srgbClr val="FFFFFF"/>
                </a:solidFill>
                <a:latin typeface="Arial"/>
              </a:rPr>
              <a:t>2016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31846" y="3585056"/>
            <a:ext cx="2517704" cy="5080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48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spc="432">
                <a:solidFill>
                  <a:srgbClr val="FFFFFF"/>
                </a:solidFill>
                <a:latin typeface="Arial"/>
              </a:rPr>
              <a:t>BEST PAPER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42966" y="3751996"/>
            <a:ext cx="21447915" cy="5080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480"/>
              </a:lnSpc>
              <a:spcBef>
                <a:spcPts val="0"/>
              </a:spcBef>
              <a:spcAft>
                <a:spcPts val="0"/>
              </a:spcAft>
            </a:pPr>
            <a:r>
              <a:rPr sz="2184" b="0" spc="48" baseline="30000">
                <a:solidFill>
                  <a:srgbClr val="FFFFFF"/>
                </a:solidFill>
                <a:latin typeface="Arial"/>
              </a:rPr>
              <a:t>1</a:t>
            </a:r>
            <a:r>
              <a:rPr sz="2400" b="0" spc="48">
                <a:solidFill>
                  <a:srgbClr val="FFFFFF"/>
                </a:solidFill>
                <a:latin typeface="Arial"/>
              </a:rPr>
              <a:t> Microsoft Research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991" y="19702857"/>
            <a:ext cx="14337375" cy="1204589"/>
          </a:xfrm>
          <a:prstGeom prst="rect">
            <a:avLst/>
          </a:prstGeom>
          <a:noFill/>
        </p:spPr>
        <p:txBody>
          <a:bodyPr wrap="square" lIns="0" rIns="4191791" tIns="0" bIns="190533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>
                <a:solidFill>
                  <a:srgbClr val="1D3A87"/>
                </a:solidFill>
                <a:latin typeface="Arial"/>
              </a:rPr>
              <a:t>Problem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5523707" y="19702857"/>
            <a:ext cx="14337374" cy="1204589"/>
          </a:xfrm>
          <a:prstGeom prst="rect">
            <a:avLst/>
          </a:prstGeom>
          <a:noFill/>
        </p:spPr>
        <p:txBody>
          <a:bodyPr wrap="square" lIns="0" rIns="4191791" tIns="0" bIns="190533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>
                <a:solidFill>
                  <a:srgbClr val="1D3A87"/>
                </a:solidFill>
                <a:latin typeface="Arial"/>
              </a:rPr>
              <a:t>Key Results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8991" y="21093133"/>
            <a:ext cx="14337375" cy="38105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22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1C1C1C"/>
                </a:solidFill>
                <a:latin typeface="Arial"/>
              </a:rPr>
              <a:t>Plain deep networks suffer a </a:t>
            </a:r>
            <a:r>
              <a:rPr sz="3600" b="1">
                <a:solidFill>
                  <a:srgbClr val="111111"/>
                </a:solidFill>
                <a:latin typeface="Arial"/>
              </a:rPr>
              <a:t>degradation problem</a:t>
            </a:r>
            <a:r>
              <a:rPr sz="3600" b="0">
                <a:solidFill>
                  <a:srgbClr val="1C1C1C"/>
                </a:solidFill>
                <a:latin typeface="Arial"/>
              </a:rPr>
              <a:t>: as depth grows past a point, training accuracy </a:t>
            </a:r>
            <a:r>
              <a:rPr sz="3600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saturates and then gets worse</a:t>
            </a:r>
            <a:r>
              <a:rPr sz="3600" b="0">
                <a:solidFill>
                  <a:srgbClr val="1C1C1C"/>
                </a:solidFill>
                <a:latin typeface="Arial"/>
              </a:rPr>
              <a:t> — not from overfitting, but from optimization difficulty. A 56-layer plain CNN has </a:t>
            </a:r>
            <a:r>
              <a:rPr sz="3600" b="1">
                <a:solidFill>
                  <a:srgbClr val="111111"/>
                </a:solidFill>
                <a:latin typeface="Arial"/>
              </a:rPr>
              <a:t>higher</a:t>
            </a:r>
            <a:r>
              <a:rPr sz="3600" b="0">
                <a:solidFill>
                  <a:srgbClr val="1C1C1C"/>
                </a:solidFill>
                <a:latin typeface="Arial"/>
              </a:rPr>
              <a:t> training error than a 20-layer one on CIFAR-10: deeper actively hurts.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5523707" y="24963419"/>
            <a:ext cx="14337374" cy="22863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22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1C1C1C"/>
                </a:solidFill>
                <a:latin typeface="Arial"/>
              </a:rPr>
              <a:t>−</a:t>
            </a:r>
            <a:r>
              <a:rPr sz="3600" b="1">
                <a:solidFill>
                  <a:srgbClr val="111111"/>
                </a:solidFill>
                <a:latin typeface="Arial"/>
              </a:rPr>
              <a:t>3.51 pts top-1</a:t>
            </a:r>
            <a:r>
              <a:rPr sz="3600" b="0">
                <a:solidFill>
                  <a:srgbClr val="1C1C1C"/>
                </a:solidFill>
                <a:latin typeface="Arial"/>
              </a:rPr>
              <a:t> from Plain-34 to ResNet-34 — the degradation curve flips: ResNet-34 BEATS ResNet-18 by 2.8 pts top-1, the opposite of the plain-net trend.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8991" y="24986331"/>
            <a:ext cx="14337375" cy="1204591"/>
          </a:xfrm>
          <a:prstGeom prst="rect">
            <a:avLst/>
          </a:prstGeom>
          <a:noFill/>
        </p:spPr>
        <p:txBody>
          <a:bodyPr wrap="square" lIns="0" rIns="4191791" tIns="0" bIns="190533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>
                <a:solidFill>
                  <a:srgbClr val="1D3A87"/>
                </a:solidFill>
                <a:latin typeface="Arial"/>
              </a:rPr>
              <a:t>Motivation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5523707" y="27180067"/>
            <a:ext cx="14337374" cy="22863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22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1C1C1C"/>
                </a:solidFill>
                <a:latin typeface="Arial"/>
              </a:rPr>
              <a:t>Same ResNet-101 backbone, dropped into Faster R-CNN, lifts COCO mAP@[.5,.95] by </a:t>
            </a:r>
            <a:r>
              <a:rPr sz="3600" b="1">
                <a:solidFill>
                  <a:srgbClr val="111111"/>
                </a:solidFill>
                <a:latin typeface="Arial"/>
              </a:rPr>
              <a:t>+28% relative</a:t>
            </a:r>
            <a:r>
              <a:rPr sz="3600" b="0">
                <a:solidFill>
                  <a:srgbClr val="1C1C1C"/>
                </a:solidFill>
                <a:latin typeface="Arial"/>
              </a:rPr>
              <a:t> over VGG-16. The 152-layer net is </a:t>
            </a:r>
            <a:r>
              <a:rPr sz="3600" b="1">
                <a:solidFill>
                  <a:srgbClr val="111111"/>
                </a:solidFill>
                <a:latin typeface="Arial"/>
              </a:rPr>
              <a:t>8× deeper</a:t>
            </a:r>
            <a:r>
              <a:rPr sz="3600" b="0">
                <a:solidFill>
                  <a:srgbClr val="1C1C1C"/>
                </a:solidFill>
                <a:latin typeface="Arial"/>
              </a:rPr>
              <a:t> than VGG-19 with lower theoretical FLOPs.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5523707" y="30135750"/>
            <a:ext cx="14337374" cy="1204589"/>
          </a:xfrm>
          <a:prstGeom prst="rect">
            <a:avLst/>
          </a:prstGeom>
          <a:noFill/>
        </p:spPr>
        <p:txBody>
          <a:bodyPr wrap="square" lIns="0" rIns="4191791" tIns="0" bIns="190533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>
                <a:solidFill>
                  <a:srgbClr val="1D3A87"/>
                </a:solidFill>
                <a:latin typeface="Arial"/>
              </a:rPr>
              <a:t>Ablation Study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6604" y="36962011"/>
            <a:ext cx="14288905" cy="1204589"/>
          </a:xfrm>
          <a:prstGeom prst="rect">
            <a:avLst/>
          </a:prstGeom>
          <a:noFill/>
        </p:spPr>
        <p:txBody>
          <a:bodyPr wrap="square" lIns="0" rIns="4191791" tIns="0" bIns="190533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>
                <a:solidFill>
                  <a:srgbClr val="1D3A87"/>
                </a:solidFill>
                <a:latin typeface="Arial"/>
              </a:rPr>
              <a:t>Takeaway 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5523707" y="37294255"/>
            <a:ext cx="14337374" cy="1204591"/>
          </a:xfrm>
          <a:prstGeom prst="rect">
            <a:avLst/>
          </a:prstGeom>
          <a:noFill/>
        </p:spPr>
        <p:txBody>
          <a:bodyPr wrap="square" lIns="0" rIns="0" tIns="0" bIns="190533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>
                <a:solidFill>
                  <a:srgbClr val="1D3A87"/>
                </a:solidFill>
                <a:latin typeface="Arial"/>
              </a:rPr>
              <a:t>Headline Numbers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06604" y="38352290"/>
            <a:ext cx="14288905" cy="4572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22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1C1C1C"/>
                </a:solidFill>
                <a:latin typeface="Arial"/>
              </a:rPr>
              <a:t>Residual learning with identity shortcuts </a:t>
            </a:r>
            <a:r>
              <a:rPr sz="3600" b="1">
                <a:solidFill>
                  <a:srgbClr val="111111"/>
                </a:solidFill>
                <a:latin typeface="Arial"/>
              </a:rPr>
              <a:t>removes the degradation barrier</a:t>
            </a:r>
            <a:r>
              <a:rPr sz="3600" b="0">
                <a:solidFill>
                  <a:srgbClr val="1C1C1C"/>
                </a:solidFill>
                <a:latin typeface="Arial"/>
              </a:rPr>
              <a:t> — accuracy keeps improving as depth grows into the hundreds, turning </a:t>
            </a:r>
            <a:r>
              <a:rPr sz="3600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depth from a liability into an asset</a:t>
            </a:r>
            <a:r>
              <a:rPr sz="3600" b="0">
                <a:solidFill>
                  <a:srgbClr val="1C1C1C"/>
                </a:solidFill>
                <a:latin typeface="Arial"/>
              </a:rPr>
              <a:t>. The same ResNet backbones swept the </a:t>
            </a:r>
            <a:r>
              <a:rPr sz="3600" b="1">
                <a:solidFill>
                  <a:srgbClr val="111111"/>
                </a:solidFill>
                <a:latin typeface="Arial"/>
              </a:rPr>
              <a:t>2015 ILSVRC + COCO challenges</a:t>
            </a:r>
            <a:r>
              <a:rPr sz="3600" b="0">
                <a:solidFill>
                  <a:srgbClr val="1C1C1C"/>
                </a:solidFill>
                <a:latin typeface="Arial"/>
              </a:rPr>
              <a:t>, and the residual block became the default primitive across vision — reused in Transformers, U-Nets, diffusion.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7411133" y="4791283"/>
            <a:ext cx="924260" cy="4554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spc="96">
                <a:solidFill>
                  <a:srgbClr val="FFFFFF"/>
                </a:solidFill>
                <a:latin typeface="Arial"/>
              </a:rPr>
              <a:t>Paper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2685686" y="17724565"/>
            <a:ext cx="16508671" cy="11204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838"/>
              </a:lnSpc>
              <a:spcBef>
                <a:spcPts val="0"/>
              </a:spcBef>
              <a:spcAft>
                <a:spcPts val="0"/>
              </a:spcAft>
            </a:pPr>
            <a:r>
              <a:rPr sz="2952" b="0" i="1">
                <a:solidFill>
                  <a:srgbClr val="555555"/>
                </a:solidFill>
                <a:latin typeface="Arial"/>
              </a:rPr>
              <a:t>Fig. 2 · A residual building block: two weight layers learn </a:t>
            </a:r>
            <a:r>
              <a:rPr sz="2952" b="1" i="1">
                <a:solidFill>
                  <a:srgbClr val="111111"/>
                </a:solidFill>
                <a:latin typeface="Arial"/>
              </a:rPr>
              <a:t>F(x)</a:t>
            </a:r>
            <a:r>
              <a:rPr sz="2952" b="0" i="1">
                <a:solidFill>
                  <a:srgbClr val="555555"/>
                </a:solidFill>
                <a:latin typeface="Arial"/>
              </a:rPr>
              <a:t>, and an identity shortcut adds </a:t>
            </a:r>
            <a:r>
              <a:rPr sz="2952" b="1" i="1">
                <a:solidFill>
                  <a:srgbClr val="111111"/>
                </a:solidFill>
                <a:latin typeface="Arial"/>
              </a:rPr>
              <a:t>x</a:t>
            </a:r>
            <a:r>
              <a:rPr sz="2952" b="0" i="1">
                <a:solidFill>
                  <a:srgbClr val="555555"/>
                </a:solidFill>
                <a:latin typeface="Arial"/>
              </a:rPr>
              <a:t> back — the entire framework adds no extra parameters and almost no extra compute.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58738" y="26376610"/>
            <a:ext cx="14337633" cy="22863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03014" indent="-503014">
              <a:lnSpc>
                <a:spcPts val="522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600" b="1">
                <a:solidFill>
                  <a:srgbClr val="111111"/>
                </a:solidFill>
                <a:latin typeface="Arial"/>
              </a:rPr>
              <a:t>BatchNorm + He init</a:t>
            </a:r>
            <a:r>
              <a:rPr sz="3600" b="0">
                <a:solidFill>
                  <a:srgbClr val="1C1C1C"/>
                </a:solidFill>
                <a:latin typeface="Arial"/>
              </a:rPr>
              <a:t> already tame vanishing gradients — gradient norms stay healthy at 30+ layers, so degradation is NOT a gradient-flow issue.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58738" y="28524668"/>
            <a:ext cx="14337633" cy="22863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03014" indent="-503014">
              <a:lnSpc>
                <a:spcPts val="522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600" b="0">
                <a:solidFill>
                  <a:srgbClr val="1C1C1C"/>
                </a:solidFill>
                <a:latin typeface="Arial"/>
              </a:rPr>
              <a:t>A deeper net can match a shallower one by setting extra layers to identity — degradation is a </a:t>
            </a:r>
            <a:r>
              <a:rPr sz="3600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pure optimization failure</a:t>
            </a:r>
            <a:r>
              <a:rPr sz="3600" b="0">
                <a:solidFill>
                  <a:srgbClr val="1C1C1C"/>
                </a:solidFill>
                <a:latin typeface="Arial"/>
              </a:rPr>
              <a:t> of SGD on very deep stacks, not a representational limit.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5523452" y="31526026"/>
            <a:ext cx="14337634" cy="2377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03014" indent="-503014">
              <a:lnSpc>
                <a:spcPts val="522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600" b="1">
                <a:solidFill>
                  <a:srgbClr val="111111"/>
                </a:solidFill>
                <a:latin typeface="Arial"/>
              </a:rPr>
              <a:t>Shortcut type</a:t>
            </a:r>
            <a:r>
              <a:rPr sz="3600" b="0">
                <a:solidFill>
                  <a:srgbClr val="1C1C1C"/>
                </a:solidFill>
                <a:latin typeface="Arial"/>
              </a:rPr>
              <a:t> (Tbl. 3, ResNet-34): zero-pad </a:t>
            </a:r>
            <a:r>
              <a:rPr sz="3600" b="1">
                <a:solidFill>
                  <a:srgbClr val="111111"/>
                </a:solidFill>
                <a:latin typeface="Arial"/>
              </a:rPr>
              <a:t>A</a:t>
            </a:r>
            <a:r>
              <a:rPr sz="3600" b="0">
                <a:solidFill>
                  <a:srgbClr val="1C1C1C"/>
                </a:solidFill>
                <a:latin typeface="Arial"/>
              </a:rPr>
              <a:t> </a:t>
            </a:r>
            <a:r>
              <a:rPr sz="3816" b="1">
                <a:solidFill>
                  <a:srgbClr val="111111"/>
                </a:solidFill>
                <a:latin typeface="Arial"/>
              </a:rPr>
              <a:t>25.03 / 7.76</a:t>
            </a:r>
            <a:r>
              <a:rPr sz="3600" b="0">
                <a:solidFill>
                  <a:srgbClr val="1C1C1C"/>
                </a:solidFill>
                <a:latin typeface="Arial"/>
              </a:rPr>
              <a:t> → proj-on-change </a:t>
            </a:r>
            <a:r>
              <a:rPr sz="3600" b="1">
                <a:solidFill>
                  <a:srgbClr val="111111"/>
                </a:solidFill>
                <a:latin typeface="Arial"/>
              </a:rPr>
              <a:t>B</a:t>
            </a:r>
            <a:r>
              <a:rPr sz="3600" b="0">
                <a:solidFill>
                  <a:srgbClr val="1C1C1C"/>
                </a:solidFill>
                <a:latin typeface="Arial"/>
              </a:rPr>
              <a:t> </a:t>
            </a:r>
            <a:r>
              <a:rPr sz="3816" b="1">
                <a:solidFill>
                  <a:srgbClr val="111111"/>
                </a:solidFill>
                <a:latin typeface="Arial"/>
              </a:rPr>
              <a:t>24.52 / 7.46</a:t>
            </a:r>
            <a:r>
              <a:rPr sz="3600" b="0">
                <a:solidFill>
                  <a:srgbClr val="1C1C1C"/>
                </a:solidFill>
                <a:latin typeface="Arial"/>
              </a:rPr>
              <a:t> → everywhere </a:t>
            </a:r>
            <a:r>
              <a:rPr sz="3600" b="1">
                <a:solidFill>
                  <a:srgbClr val="111111"/>
                </a:solidFill>
                <a:latin typeface="Arial"/>
              </a:rPr>
              <a:t>C</a:t>
            </a:r>
            <a:r>
              <a:rPr sz="3600" b="0">
                <a:solidFill>
                  <a:srgbClr val="1C1C1C"/>
                </a:solidFill>
                <a:latin typeface="Arial"/>
              </a:rPr>
              <a:t> </a:t>
            </a:r>
            <a:r>
              <a:rPr sz="3816" b="1">
                <a:solidFill>
                  <a:srgbClr val="111111"/>
                </a:solidFill>
                <a:latin typeface="Arial"/>
              </a:rPr>
              <a:t>24.19 / 7.40</a:t>
            </a:r>
            <a:r>
              <a:rPr sz="3600" b="0">
                <a:solidFill>
                  <a:srgbClr val="1C1C1C"/>
                </a:solidFill>
                <a:latin typeface="Arial"/>
              </a:rPr>
              <a:t> — small gaps confirm parameter-free identity shortcuts are sufficient.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5523452" y="33753538"/>
            <a:ext cx="14337634" cy="30484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03014" indent="-503014">
              <a:lnSpc>
                <a:spcPts val="522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3600" b="1">
                <a:solidFill>
                  <a:srgbClr val="111111"/>
                </a:solidFill>
                <a:latin typeface="Arial"/>
              </a:rPr>
              <a:t>Layer-response std</a:t>
            </a:r>
            <a:r>
              <a:rPr sz="3600" b="0">
                <a:solidFill>
                  <a:srgbClr val="1C1C1C"/>
                </a:solidFill>
                <a:latin typeface="Arial"/>
              </a:rPr>
              <a:t> (Fig. 7) drops with depth — deeper ResNets settle to smaller per-layer outputs, so </a:t>
            </a:r>
            <a:r>
              <a:rPr sz="3600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residuals stay closer to zero</a:t>
            </a:r>
            <a:r>
              <a:rPr sz="3600" b="0">
                <a:solidFill>
                  <a:srgbClr val="1C1C1C"/>
                </a:solidFill>
                <a:latin typeface="Arial"/>
              </a:rPr>
              <a:t>, confirming the framework's central learned-residual hypothesis.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22310" y="34460433"/>
            <a:ext cx="13190305" cy="1680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838"/>
              </a:lnSpc>
              <a:spcBef>
                <a:spcPts val="0"/>
              </a:spcBef>
              <a:spcAft>
                <a:spcPts val="0"/>
              </a:spcAft>
            </a:pPr>
            <a:r>
              <a:rPr sz="2952" b="0" i="1">
                <a:solidFill>
                  <a:srgbClr val="555555"/>
                </a:solidFill>
                <a:latin typeface="Arial"/>
              </a:rPr>
              <a:t>Fig. 1 · CIFAR-10 train (left) / test (right): the 56-layer plain net loses to the 20-layer one at every step. Both train AND test error rise — ruling out overfitting and exposing pure optimization failure.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0690141" y="38786009"/>
            <a:ext cx="3818513" cy="14980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261"/>
              </a:lnSpc>
              <a:spcBef>
                <a:spcPts val="0"/>
              </a:spcBef>
              <a:spcAft>
                <a:spcPts val="0"/>
              </a:spcAft>
            </a:pPr>
            <a:r>
              <a:rPr sz="10802" b="1" spc="-216">
                <a:solidFill>
                  <a:srgbClr val="1D3A87"/>
                </a:solidFill>
                <a:latin typeface="Arial"/>
              </a:rPr>
              <a:t>3.57%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8551434" y="40108884"/>
            <a:ext cx="8172770" cy="5140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C1C1C"/>
                </a:solidFill>
                <a:latin typeface="Arial"/>
              </a:rPr>
              <a:t>Top-5 error · ImageNet 2015 (1st, ILSVRC)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8738" y="7526609"/>
            <a:ext cx="11215418" cy="31250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03014" indent="-503014">
              <a:lnSpc>
                <a:spcPts val="522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600" b="0">
                <a:solidFill>
                  <a:srgbClr val="1C1C1C"/>
                </a:solidFill>
                <a:latin typeface="Arial"/>
              </a:rPr>
              <a:t>Each block computes </a:t>
            </a:r>
            <a:r>
              <a:rPr sz="3600" b="1">
                <a:solidFill>
                  <a:srgbClr val="111111"/>
                </a:solidFill>
                <a:latin typeface="Arial"/>
              </a:rPr>
              <a:t>y = F(x, {W</a:t>
            </a:r>
            <a:r>
              <a:rPr sz="5040" b="1" baseline="-25000">
                <a:solidFill>
                  <a:srgbClr val="111111"/>
                </a:solidFill>
                <a:latin typeface="Arial"/>
              </a:rPr>
              <a:t>i</a:t>
            </a:r>
            <a:r>
              <a:rPr sz="3600" b="1">
                <a:solidFill>
                  <a:srgbClr val="111111"/>
                </a:solidFill>
                <a:latin typeface="Arial"/>
              </a:rPr>
              <a:t>}) + x</a:t>
            </a:r>
            <a:r>
              <a:rPr sz="3600" b="0">
                <a:solidFill>
                  <a:srgbClr val="1C1C1C"/>
                </a:solidFill>
                <a:latin typeface="Arial"/>
              </a:rPr>
              <a:t> — the </a:t>
            </a:r>
            <a:r>
              <a:rPr sz="3600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2–3-layer residual F</a:t>
            </a:r>
            <a:r>
              <a:rPr sz="3600" b="0">
                <a:solidFill>
                  <a:srgbClr val="1C1C1C"/>
                </a:solidFill>
                <a:latin typeface="Arial"/>
              </a:rPr>
              <a:t> is added through an identity shortcut that introduces zero extra parameters and almost no extra compute over a plain stack.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58738" y="10404028"/>
            <a:ext cx="11215418" cy="38105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03014" indent="-503014">
              <a:lnSpc>
                <a:spcPts val="522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600" b="0">
                <a:solidFill>
                  <a:srgbClr val="1C1C1C"/>
                </a:solidFill>
                <a:latin typeface="Arial"/>
              </a:rPr>
              <a:t>When channel count or spatial size changes, the shortcut either </a:t>
            </a:r>
            <a:r>
              <a:rPr sz="3600" b="1">
                <a:solidFill>
                  <a:srgbClr val="111111"/>
                </a:solidFill>
                <a:latin typeface="Arial"/>
              </a:rPr>
              <a:t>zero-pads</a:t>
            </a:r>
            <a:r>
              <a:rPr sz="3600" b="0">
                <a:solidFill>
                  <a:srgbClr val="1C1C1C"/>
                </a:solidFill>
                <a:latin typeface="Arial"/>
              </a:rPr>
              <a:t> (option A) or applies a </a:t>
            </a:r>
            <a:r>
              <a:rPr sz="3600" b="1">
                <a:solidFill>
                  <a:srgbClr val="111111"/>
                </a:solidFill>
                <a:latin typeface="Arial"/>
              </a:rPr>
              <a:t>1×1 projection</a:t>
            </a:r>
            <a:r>
              <a:rPr sz="3600" b="0">
                <a:solidFill>
                  <a:srgbClr val="1C1C1C"/>
                </a:solidFill>
                <a:latin typeface="Arial"/>
              </a:rPr>
              <a:t> (B); deeper nets stack </a:t>
            </a:r>
            <a:r>
              <a:rPr sz="3600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1×1, 3×3, 1×1 bottleneck blocks</a:t>
            </a:r>
            <a:r>
              <a:rPr sz="3600" b="0">
                <a:solidFill>
                  <a:srgbClr val="1C1C1C"/>
                </a:solidFill>
                <a:latin typeface="Arial"/>
              </a:rPr>
              <a:t> for compute efficiency at extreme depth.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8738" y="13877492"/>
            <a:ext cx="11215418" cy="31469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03014" indent="-503014">
              <a:lnSpc>
                <a:spcPts val="522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600" b="0">
                <a:solidFill>
                  <a:srgbClr val="1C1C1C"/>
                </a:solidFill>
                <a:latin typeface="Arial"/>
              </a:rPr>
              <a:t>BatchNorm after every conv, </a:t>
            </a:r>
            <a:r>
              <a:rPr sz="3600" b="1">
                <a:solidFill>
                  <a:srgbClr val="111111"/>
                </a:solidFill>
                <a:latin typeface="Arial"/>
              </a:rPr>
              <a:t>He initialization</a:t>
            </a:r>
            <a:r>
              <a:rPr sz="3600" b="0">
                <a:solidFill>
                  <a:srgbClr val="1C1C1C"/>
                </a:solidFill>
                <a:latin typeface="Arial"/>
              </a:rPr>
              <a:t>, SGD batch 256, LR 0.1 with step decay, weight decay 1e−4, momentum 0.9, </a:t>
            </a:r>
            <a:r>
              <a:rPr sz="3600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no dropout</a:t>
            </a:r>
            <a:r>
              <a:rPr sz="3600" b="0">
                <a:solidFill>
                  <a:srgbClr val="1C1C1C"/>
                </a:solidFill>
                <a:latin typeface="Arial"/>
              </a:rPr>
              <a:t>; 60×10</a:t>
            </a:r>
            <a:r>
              <a:rPr sz="5040" b="0" baseline="30000">
                <a:solidFill>
                  <a:srgbClr val="1C1C1C"/>
                </a:solidFill>
                <a:latin typeface="Arial"/>
              </a:rPr>
              <a:t>4</a:t>
            </a:r>
            <a:r>
              <a:rPr sz="3600" b="0">
                <a:solidFill>
                  <a:srgbClr val="1C1C1C"/>
                </a:solidFill>
                <a:latin typeface="Arial"/>
              </a:rPr>
              <a:t> iterations on ImageNet.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58738" y="16773956"/>
            <a:ext cx="11215418" cy="22863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03014" indent="-503014">
              <a:lnSpc>
                <a:spcPts val="5220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3600" b="0">
                <a:solidFill>
                  <a:srgbClr val="1C1C1C"/>
                </a:solidFill>
                <a:latin typeface="Arial"/>
              </a:rPr>
              <a:t>Downsampling lives in stride-2 convs at </a:t>
            </a:r>
            <a:r>
              <a:rPr sz="3600" b="1">
                <a:solidFill>
                  <a:srgbClr val="111111"/>
                </a:solidFill>
                <a:latin typeface="Arial"/>
              </a:rPr>
              <a:t>conv3_1 / conv4_1 / conv5_1</a:t>
            </a:r>
            <a:r>
              <a:rPr sz="3600" b="0">
                <a:solidFill>
                  <a:srgbClr val="1C1C1C"/>
                </a:solidFill>
                <a:latin typeface="Arial"/>
              </a:rPr>
              <a:t>; CIFAR-10 ResNets follow a </a:t>
            </a:r>
            <a:r>
              <a:rPr sz="3600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6n+2</a:t>
            </a:r>
            <a:r>
              <a:rPr sz="3600" b="0">
                <a:solidFill>
                  <a:srgbClr val="1C1C1C"/>
                </a:solidFill>
                <a:latin typeface="Arial"/>
              </a:rPr>
              <a:t> recipe with identity shortcuts everywhere.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5523707" y="21263051"/>
            <a:ext cx="9750464" cy="845607"/>
          </a:xfrm>
          <a:prstGeom prst="rect">
            <a:avLst/>
          </a:prstGeom>
          <a:noFill/>
        </p:spPr>
        <p:txBody>
          <a:bodyPr wrap="none" lIns="76214" rIns="76214" tIns="57160" bIns="57160">
            <a:spAutoFit/>
          </a:bodyPr>
          <a:lstStyle/>
          <a:p>
            <a:pPr algn="ctr">
              <a:lnSpc>
                <a:spcPts val="4855"/>
              </a:lnSpc>
              <a:spcBef>
                <a:spcPts val="0"/>
              </a:spcBef>
              <a:spcAft>
                <a:spcPts val="0"/>
              </a:spcAft>
            </a:pPr>
            <a:r>
              <a:rPr sz="3348" b="1">
                <a:solidFill>
                  <a:srgbClr val="1D3A87"/>
                </a:solidFill>
                <a:latin typeface="Arial"/>
              </a:rPr>
              <a:t>Method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5101766" y="21263051"/>
            <a:ext cx="2293377" cy="845607"/>
          </a:xfrm>
          <a:prstGeom prst="rect">
            <a:avLst/>
          </a:prstGeom>
          <a:noFill/>
        </p:spPr>
        <p:txBody>
          <a:bodyPr wrap="none" lIns="76214" rIns="76214" tIns="57160" bIns="57160">
            <a:spAutoFit/>
          </a:bodyPr>
          <a:lstStyle/>
          <a:p>
            <a:pPr algn="ctr">
              <a:lnSpc>
                <a:spcPts val="4855"/>
              </a:lnSpc>
              <a:spcBef>
                <a:spcPts val="0"/>
              </a:spcBef>
              <a:spcAft>
                <a:spcPts val="0"/>
              </a:spcAft>
            </a:pPr>
            <a:r>
              <a:rPr sz="3348" b="1">
                <a:solidFill>
                  <a:srgbClr val="1D3A87"/>
                </a:solidFill>
                <a:latin typeface="Arial"/>
              </a:rPr>
              <a:t>Top-1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7354593" y="21263051"/>
            <a:ext cx="2293532" cy="845607"/>
          </a:xfrm>
          <a:prstGeom prst="rect">
            <a:avLst/>
          </a:prstGeom>
          <a:noFill/>
        </p:spPr>
        <p:txBody>
          <a:bodyPr wrap="none" lIns="76214" rIns="76214" tIns="57160" bIns="57160">
            <a:spAutoFit/>
          </a:bodyPr>
          <a:lstStyle/>
          <a:p>
            <a:pPr algn="ctr">
              <a:lnSpc>
                <a:spcPts val="4855"/>
              </a:lnSpc>
              <a:spcBef>
                <a:spcPts val="0"/>
              </a:spcBef>
              <a:spcAft>
                <a:spcPts val="0"/>
              </a:spcAft>
            </a:pPr>
            <a:r>
              <a:rPr sz="3348" b="1">
                <a:solidFill>
                  <a:srgbClr val="1D3A87"/>
                </a:solidFill>
                <a:latin typeface="Arial"/>
              </a:rPr>
              <a:t>Top-5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5523707" y="21998362"/>
            <a:ext cx="9750464" cy="851083"/>
          </a:xfrm>
          <a:prstGeom prst="rect">
            <a:avLst/>
          </a:prstGeom>
          <a:noFill/>
        </p:spPr>
        <p:txBody>
          <a:bodyPr wrap="square" lIns="76214" rIns="76214" tIns="57160" bIns="57160">
            <a:spAutoFit/>
          </a:bodyPr>
          <a:lstStyle/>
          <a:p>
            <a:pPr algn="l">
              <a:lnSpc>
                <a:spcPts val="4855"/>
              </a:lnSpc>
              <a:spcBef>
                <a:spcPts val="0"/>
              </a:spcBef>
              <a:spcAft>
                <a:spcPts val="0"/>
              </a:spcAft>
            </a:pPr>
            <a:r>
              <a:rPr sz="3348" b="1">
                <a:solidFill>
                  <a:srgbClr val="1C1C1C"/>
                </a:solidFill>
                <a:latin typeface="Arial"/>
              </a:rPr>
              <a:t>Plain-34 (baseline)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5101766" y="21998362"/>
            <a:ext cx="2293377" cy="851083"/>
          </a:xfrm>
          <a:prstGeom prst="rect">
            <a:avLst/>
          </a:prstGeom>
          <a:noFill/>
        </p:spPr>
        <p:txBody>
          <a:bodyPr wrap="none" lIns="76214" rIns="76214" tIns="57160" bIns="57160">
            <a:spAutoFit/>
          </a:bodyPr>
          <a:lstStyle/>
          <a:p>
            <a:pPr algn="ctr">
              <a:lnSpc>
                <a:spcPts val="4855"/>
              </a:lnSpc>
              <a:spcBef>
                <a:spcPts val="0"/>
              </a:spcBef>
              <a:spcAft>
                <a:spcPts val="0"/>
              </a:spcAft>
            </a:pPr>
            <a:r>
              <a:rPr sz="3348" b="0">
                <a:solidFill>
                  <a:srgbClr val="1C1C1C"/>
                </a:solidFill>
                <a:latin typeface="Arial"/>
              </a:rPr>
              <a:t>28.54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7354593" y="21998362"/>
            <a:ext cx="2293532" cy="851083"/>
          </a:xfrm>
          <a:prstGeom prst="rect">
            <a:avLst/>
          </a:prstGeom>
          <a:noFill/>
        </p:spPr>
        <p:txBody>
          <a:bodyPr wrap="none" lIns="76214" rIns="76214" tIns="57160" bIns="57160">
            <a:spAutoFit/>
          </a:bodyPr>
          <a:lstStyle/>
          <a:p>
            <a:pPr algn="ctr">
              <a:lnSpc>
                <a:spcPts val="4855"/>
              </a:lnSpc>
              <a:spcBef>
                <a:spcPts val="0"/>
              </a:spcBef>
              <a:spcAft>
                <a:spcPts val="0"/>
              </a:spcAft>
            </a:pPr>
            <a:r>
              <a:rPr sz="3348" b="0">
                <a:solidFill>
                  <a:srgbClr val="1C1C1C"/>
                </a:solidFill>
                <a:latin typeface="Arial"/>
              </a:rPr>
              <a:t>10.02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5523707" y="22738435"/>
            <a:ext cx="9750464" cy="851086"/>
          </a:xfrm>
          <a:prstGeom prst="rect">
            <a:avLst/>
          </a:prstGeom>
          <a:noFill/>
        </p:spPr>
        <p:txBody>
          <a:bodyPr wrap="square" lIns="76214" rIns="76214" tIns="57160" bIns="57160">
            <a:spAutoFit/>
          </a:bodyPr>
          <a:lstStyle/>
          <a:p>
            <a:pPr algn="l">
              <a:lnSpc>
                <a:spcPts val="4855"/>
              </a:lnSpc>
              <a:spcBef>
                <a:spcPts val="0"/>
              </a:spcBef>
              <a:spcAft>
                <a:spcPts val="0"/>
              </a:spcAft>
            </a:pPr>
            <a:r>
              <a:rPr sz="3348" b="1">
                <a:solidFill>
                  <a:srgbClr val="1C1C1C"/>
                </a:solidFill>
                <a:latin typeface="Arial"/>
              </a:rPr>
              <a:t>ResNet-34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5101766" y="22738435"/>
            <a:ext cx="2293377" cy="851086"/>
          </a:xfrm>
          <a:prstGeom prst="rect">
            <a:avLst/>
          </a:prstGeom>
          <a:noFill/>
        </p:spPr>
        <p:txBody>
          <a:bodyPr wrap="none" lIns="76214" rIns="76214" tIns="57160" bIns="57160">
            <a:spAutoFit/>
          </a:bodyPr>
          <a:lstStyle/>
          <a:p>
            <a:pPr algn="ctr">
              <a:lnSpc>
                <a:spcPts val="4855"/>
              </a:lnSpc>
              <a:spcBef>
                <a:spcPts val="0"/>
              </a:spcBef>
              <a:spcAft>
                <a:spcPts val="0"/>
              </a:spcAft>
            </a:pPr>
            <a:r>
              <a:rPr sz="3348" b="0">
                <a:solidFill>
                  <a:srgbClr val="1C1C1C"/>
                </a:solidFill>
                <a:latin typeface="Arial"/>
              </a:rPr>
              <a:t>25.03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7354593" y="22738435"/>
            <a:ext cx="2293532" cy="851086"/>
          </a:xfrm>
          <a:prstGeom prst="rect">
            <a:avLst/>
          </a:prstGeom>
          <a:noFill/>
        </p:spPr>
        <p:txBody>
          <a:bodyPr wrap="none" lIns="76214" rIns="76214" tIns="57160" bIns="57160">
            <a:spAutoFit/>
          </a:bodyPr>
          <a:lstStyle/>
          <a:p>
            <a:pPr algn="ctr">
              <a:lnSpc>
                <a:spcPts val="4855"/>
              </a:lnSpc>
              <a:spcBef>
                <a:spcPts val="0"/>
              </a:spcBef>
              <a:spcAft>
                <a:spcPts val="0"/>
              </a:spcAft>
            </a:pPr>
            <a:r>
              <a:rPr sz="3348" b="0">
                <a:solidFill>
                  <a:srgbClr val="1C1C1C"/>
                </a:solidFill>
                <a:latin typeface="Arial"/>
              </a:rPr>
              <a:t>7.76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5523707" y="23478510"/>
            <a:ext cx="9750464" cy="851083"/>
          </a:xfrm>
          <a:prstGeom prst="rect">
            <a:avLst/>
          </a:prstGeom>
          <a:noFill/>
        </p:spPr>
        <p:txBody>
          <a:bodyPr wrap="square" lIns="76214" rIns="76214" tIns="57160" bIns="57160">
            <a:spAutoFit/>
          </a:bodyPr>
          <a:lstStyle/>
          <a:p>
            <a:pPr algn="l">
              <a:lnSpc>
                <a:spcPts val="4855"/>
              </a:lnSpc>
              <a:spcBef>
                <a:spcPts val="0"/>
              </a:spcBef>
              <a:spcAft>
                <a:spcPts val="0"/>
              </a:spcAft>
            </a:pPr>
            <a:r>
              <a:rPr sz="3348" b="1">
                <a:solidFill>
                  <a:srgbClr val="1C1C1C"/>
                </a:solidFill>
                <a:latin typeface="Arial"/>
              </a:rPr>
              <a:t>ResNet-152 (single)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5101766" y="23478510"/>
            <a:ext cx="2293377" cy="851083"/>
          </a:xfrm>
          <a:prstGeom prst="rect">
            <a:avLst/>
          </a:prstGeom>
          <a:noFill/>
        </p:spPr>
        <p:txBody>
          <a:bodyPr wrap="none" lIns="76214" rIns="76214" tIns="57160" bIns="57160">
            <a:spAutoFit/>
          </a:bodyPr>
          <a:lstStyle/>
          <a:p>
            <a:pPr algn="ctr">
              <a:lnSpc>
                <a:spcPts val="4855"/>
              </a:lnSpc>
              <a:spcBef>
                <a:spcPts val="0"/>
              </a:spcBef>
              <a:spcAft>
                <a:spcPts val="0"/>
              </a:spcAft>
            </a:pPr>
            <a:r>
              <a:rPr sz="3348" b="0">
                <a:solidFill>
                  <a:srgbClr val="1C1C1C"/>
                </a:solidFill>
                <a:latin typeface="Arial"/>
              </a:rPr>
              <a:t>21.43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7354593" y="23478510"/>
            <a:ext cx="2293532" cy="851083"/>
          </a:xfrm>
          <a:prstGeom prst="rect">
            <a:avLst/>
          </a:prstGeom>
          <a:noFill/>
        </p:spPr>
        <p:txBody>
          <a:bodyPr wrap="none" lIns="76214" rIns="76214" tIns="57160" bIns="57160">
            <a:spAutoFit/>
          </a:bodyPr>
          <a:lstStyle/>
          <a:p>
            <a:pPr algn="ctr">
              <a:lnSpc>
                <a:spcPts val="4855"/>
              </a:lnSpc>
              <a:spcBef>
                <a:spcPts val="0"/>
              </a:spcBef>
              <a:spcAft>
                <a:spcPts val="0"/>
              </a:spcAft>
            </a:pPr>
            <a:r>
              <a:rPr sz="3348" b="0">
                <a:solidFill>
                  <a:srgbClr val="1C1C1C"/>
                </a:solidFill>
                <a:latin typeface="Arial"/>
              </a:rPr>
              <a:t>4.49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5523707" y="24218583"/>
            <a:ext cx="9750464" cy="851086"/>
          </a:xfrm>
          <a:prstGeom prst="rect">
            <a:avLst/>
          </a:prstGeom>
          <a:noFill/>
        </p:spPr>
        <p:txBody>
          <a:bodyPr wrap="square" lIns="76214" rIns="76214" tIns="57160" bIns="57160">
            <a:spAutoFit/>
          </a:bodyPr>
          <a:lstStyle/>
          <a:p>
            <a:pPr algn="l">
              <a:lnSpc>
                <a:spcPts val="4855"/>
              </a:lnSpc>
              <a:spcBef>
                <a:spcPts val="0"/>
              </a:spcBef>
              <a:spcAft>
                <a:spcPts val="0"/>
              </a:spcAft>
            </a:pPr>
            <a:r>
              <a:rPr sz="3348" b="1">
                <a:solidFill>
                  <a:srgbClr val="1D3A87"/>
                </a:solidFill>
                <a:latin typeface="Arial"/>
              </a:rPr>
              <a:t>ResNet-152 ×6 (ensemble)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5101766" y="24218583"/>
            <a:ext cx="2293377" cy="851086"/>
          </a:xfrm>
          <a:prstGeom prst="rect">
            <a:avLst/>
          </a:prstGeom>
          <a:noFill/>
        </p:spPr>
        <p:txBody>
          <a:bodyPr wrap="none" lIns="76214" rIns="76214" tIns="57160" bIns="57160">
            <a:spAutoFit/>
          </a:bodyPr>
          <a:lstStyle/>
          <a:p>
            <a:pPr algn="ctr">
              <a:lnSpc>
                <a:spcPts val="4855"/>
              </a:lnSpc>
              <a:spcBef>
                <a:spcPts val="0"/>
              </a:spcBef>
              <a:spcAft>
                <a:spcPts val="0"/>
              </a:spcAft>
            </a:pPr>
            <a:r>
              <a:rPr sz="3348" b="1">
                <a:solidFill>
                  <a:srgbClr val="1D3A87"/>
                </a:solidFill>
                <a:latin typeface="Arial"/>
              </a:rPr>
              <a:t>—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7354593" y="24218583"/>
            <a:ext cx="2293532" cy="851086"/>
          </a:xfrm>
          <a:prstGeom prst="rect">
            <a:avLst/>
          </a:prstGeom>
          <a:noFill/>
        </p:spPr>
        <p:txBody>
          <a:bodyPr wrap="none" lIns="76214" rIns="76214" tIns="57160" bIns="57160">
            <a:spAutoFit/>
          </a:bodyPr>
          <a:lstStyle/>
          <a:p>
            <a:pPr algn="ctr">
              <a:lnSpc>
                <a:spcPts val="4855"/>
              </a:lnSpc>
              <a:spcBef>
                <a:spcPts val="0"/>
              </a:spcBef>
              <a:spcAft>
                <a:spcPts val="0"/>
              </a:spcAft>
            </a:pPr>
            <a:r>
              <a:rPr sz="3348" b="1">
                <a:solidFill>
                  <a:srgbClr val="1D3A87"/>
                </a:solidFill>
                <a:latin typeface="Arial"/>
              </a:rPr>
              <a:t>3.57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7136144" y="40967096"/>
            <a:ext cx="1185844" cy="8177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601"/>
              </a:lnSpc>
              <a:spcBef>
                <a:spcPts val="0"/>
              </a:spcBef>
              <a:spcAft>
                <a:spcPts val="0"/>
              </a:spcAft>
            </a:pPr>
            <a:r>
              <a:rPr sz="5601" b="1" spc="-56">
                <a:solidFill>
                  <a:srgbClr val="AE2622"/>
                </a:solidFill>
                <a:latin typeface="Arial"/>
              </a:rPr>
              <a:t>152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1654448" y="40967096"/>
            <a:ext cx="1855184" cy="8177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601"/>
              </a:lnSpc>
              <a:spcBef>
                <a:spcPts val="0"/>
              </a:spcBef>
              <a:spcAft>
                <a:spcPts val="0"/>
              </a:spcAft>
            </a:pPr>
            <a:r>
              <a:rPr sz="5601" b="1" spc="-56">
                <a:solidFill>
                  <a:srgbClr val="AE2622"/>
                </a:solidFill>
                <a:latin typeface="Arial"/>
              </a:rPr>
              <a:t>11.3B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6507680" y="40967096"/>
            <a:ext cx="1842309" cy="81771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601"/>
              </a:lnSpc>
              <a:spcBef>
                <a:spcPts val="0"/>
              </a:spcBef>
              <a:spcAft>
                <a:spcPts val="0"/>
              </a:spcAft>
            </a:pPr>
            <a:r>
              <a:rPr sz="5601" b="1" spc="-56">
                <a:solidFill>
                  <a:srgbClr val="AE2622"/>
                </a:solidFill>
                <a:latin typeface="Arial"/>
              </a:rPr>
              <a:t>+28%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6393533" y="41761775"/>
            <a:ext cx="2697951" cy="420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555555"/>
                </a:solidFill>
                <a:latin typeface="Arial"/>
              </a:rPr>
              <a:t>layers (8× VGG-19)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0906036" y="41761775"/>
            <a:ext cx="3378951" cy="420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555555"/>
                </a:solidFill>
                <a:latin typeface="Arial"/>
              </a:rPr>
              <a:t>FLOPs (VGG-19: 19.6B)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6328985" y="41761775"/>
            <a:ext cx="2206134" cy="420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555555"/>
                </a:solidFill>
                <a:latin typeface="Arial"/>
              </a:rPr>
              <a:t>rel. COCO 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
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Free Design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Free Design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3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57150" cy="381000"/>
          </a:xfrm>
          <a:prstGeom prst="roundRect">
            <a:avLst>
              <a:gd name="adj" fmla="val 50000"/>
            </a:avLst>
          </a:prstGeom>
          <a:solidFill>
            <a:srgbClr val="35D0BA"/>
          </a:solidFill>
          <a:ln w="0">
            <a:solidFill>
              <a:srgbClr val="35D0BA"/>
            </a:solidFill>
          </a:ln>
        </p:spPr>
        <p:txBody>
          <a:bodyPr/>
          <a:p/>
        </p:txBody>
      </p:sp>
      <p:sp>
        <p:nvSpPr>
          <p:cNvPr id="3" name="TextBox 3"/>
          <p:cNvSpPr txBox="1"/>
          <p:nvPr/>
        </p:nvSpPr>
        <p:spPr>
          <a:xfrm>
            <a:off x="813054" y="499110"/>
            <a:ext cx="5396972" cy="234696"/>
          </a:xfrm>
          <a:prstGeom prst="rect">
            <a:avLst/>
          </a:prstGeom>
          <a:noFill/>
          <a:ln>
            <a:noFill/>
          </a:ln>
        </p:spPr>
        <p:txBody>
          <a:bodyPr wrap="none" lIns="0" tIns="0" rIns="0" bIns="0" anchor="t" anchorCtr="0">
            <a:spAutoFit/>
          </a:bodyPr>
          <a:lstStyle/>
          <a:p>
            <a:pPr algn="l"/>
            <a:r>
              <a:rPr lang="en-US" sz="1200" b="1" spc="150" dirty="0">
                <a:solidFill>
                  <a:srgbClr val="35D0BA"/>
                </a:solidFill>
                <a:latin typeface="+mn-lt"/>
                <a:ea typeface="+mn-ea"/>
                <a:cs typeface="+mn-cs"/>
              </a:rPr>
              <a:t>ICML 2024 · THE HONG KONG POLYTECHNIC UNIVERSITY</a:t>
            </a:r>
          </a:p>
        </p:txBody>
      </p:sp>
      <p:sp>
        <p:nvSpPr>
          <p:cNvPr id="4" name="TextBox 4"/>
          <p:cNvSpPr txBox="1"/>
          <p:nvPr/>
        </p:nvSpPr>
        <p:spPr>
          <a:xfrm>
            <a:off x="781050" y="991552"/>
            <a:ext cx="8848203" cy="790575"/>
          </a:xfrm>
          <a:prstGeom prst="rect">
            <a:avLst/>
          </a:prstGeom>
          <a:noFill/>
          <a:ln>
            <a:noFill/>
          </a:ln>
        </p:spPr>
        <p:txBody>
          <a:bodyPr wrap="none" lIns="0" tIns="0" rIns="0" bIns="0" anchor="t" anchorCtr="0">
            <a:spAutoFit/>
          </a:bodyPr>
          <a:lstStyle/>
          <a:p>
            <a:pPr algn="l"/>
            <a:r>
              <a:rPr lang="en-US" sz="4050" b="1" dirty="0">
                <a:solidFill>
                  <a:schemeClr val="dk1"/>
                </a:solidFill>
                <a:latin typeface="+mn-lt"/>
                <a:ea typeface="+mn-ea"/>
                <a:cs typeface="+mn-cs"/>
              </a:rPr>
              <a:t>Collective Certified Robustness</a:t>
            </a:r>
          </a:p>
        </p:txBody>
      </p:sp>
      <p:sp>
        <p:nvSpPr>
          <p:cNvPr id="5" name="TextBox 5"/>
          <p:cNvSpPr txBox="1"/>
          <p:nvPr/>
        </p:nvSpPr>
        <p:spPr>
          <a:xfrm>
            <a:off x="781050" y="1563052"/>
            <a:ext cx="8850034" cy="790575"/>
          </a:xfrm>
          <a:prstGeom prst="rect">
            <a:avLst/>
          </a:prstGeom>
          <a:noFill/>
          <a:ln>
            <a:noFill/>
          </a:ln>
        </p:spPr>
        <p:txBody>
          <a:bodyPr wrap="none" lIns="0" tIns="0" rIns="0" bIns="0" anchor="t" anchorCtr="0">
            <a:spAutoFit/>
          </a:bodyPr>
          <a:lstStyle/>
          <a:p>
            <a:pPr algn="l"/>
            <a:r>
              <a:rPr lang="en-US" sz="4050" b="1" dirty="0">
                <a:solidFill>
                  <a:schemeClr val="dk1"/>
                </a:solidFill>
                <a:latin typeface="+mn-lt"/>
                <a:ea typeface="+mn-ea"/>
                <a:cs typeface="+mn-cs"/>
              </a:rPr>
              <a:t>against Graph Injection Attacks</a:t>
            </a:r>
          </a:p>
        </p:txBody>
      </p:sp>
      <p:sp>
        <p:nvSpPr>
          <p:cNvPr id="6" name="TextBox 6"/>
          <p:cNvSpPr txBox="1"/>
          <p:nvPr/>
        </p:nvSpPr>
        <p:spPr>
          <a:xfrm>
            <a:off x="791718" y="2222182"/>
            <a:ext cx="5890295" cy="322707"/>
          </a:xfrm>
          <a:prstGeom prst="rect">
            <a:avLst/>
          </a:prstGeom>
          <a:noFill/>
          <a:ln>
            <a:noFill/>
          </a:ln>
        </p:spPr>
        <p:txBody>
          <a:bodyPr wrap="none" lIns="0" tIns="0" rIns="0" bIns="0" anchor="t" anchorCtr="0">
            <a:spAutoFit/>
          </a:bodyPr>
          <a:lstStyle/>
          <a:p>
            <a:pPr algn="l"/>
            <a:r>
              <a:rPr lang="en-US" sz="1650" dirty="0">
                <a:solidFill>
                  <a:srgbClr val="F5B841"/>
                </a:solidFill>
                <a:latin typeface="+mn-lt"/>
                <a:ea typeface="+mn-ea"/>
                <a:cs typeface="+mn-cs"/>
              </a:rPr>
              <a:t>Certify a whole target set at once — 0% becomes 80%+</a:t>
            </a:r>
          </a:p>
        </p:txBody>
      </p:sp>
      <p:sp>
        <p:nvSpPr>
          <p:cNvPr id="7" name="TextBox 7"/>
          <p:cNvSpPr txBox="1"/>
          <p:nvPr/>
        </p:nvSpPr>
        <p:spPr>
          <a:xfrm>
            <a:off x="793242" y="2635568"/>
            <a:ext cx="5568273"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Yuni Lai · Bailin Pan · Kaihuang Chen · Yancheng Yuan · Kai Zhou</a:t>
            </a:r>
          </a:p>
        </p:txBody>
      </p:sp>
      <p:grpSp>
        <p:nvGrpSpPr>
          <p:cNvPr id="15" name="Group 15"/>
          <p:cNvGrpSpPr/>
          <p:nvPr/>
        </p:nvGrpSpPr>
        <p:grpSpPr>
          <a:xfrm>
            <a:off x="609600" y="3390900"/>
            <a:ext cx="2647950" cy="2381250"/>
            <a:chOff x="609600" y="3390900"/>
            <a:chExt cx="2647950" cy="2381250"/>
          </a:xfrm>
        </p:grpSpPr>
        <p:sp>
          <p:nvSpPr>
            <p:cNvPr id="8" name="Rectangle 8"/>
            <p:cNvSpPr/>
            <p:nvPr/>
          </p:nvSpPr>
          <p:spPr>
            <a:xfrm>
              <a:off x="609600" y="3390900"/>
              <a:ext cx="2647950" cy="2381250"/>
            </a:xfrm>
            <a:prstGeom prst="roundRect">
              <a:avLst>
                <a:gd name="adj" fmla="val 5600"/>
              </a:avLst>
            </a:prstGeom>
            <a:solidFill>
              <a:schemeClr val="accent5"/>
            </a:solidFill>
            <a:ln w="14288">
              <a:solidFill>
                <a:srgbClr val="1E3A52"/>
              </a:solidFill>
            </a:ln>
          </p:spPr>
        </p:sp>
        <p:sp>
          <p:nvSpPr>
            <p:cNvPr id="9" name="Rectangle 9"/>
            <p:cNvSpPr/>
            <p:nvPr/>
          </p:nvSpPr>
          <p:spPr>
            <a:xfrm>
              <a:off x="609600" y="3390900"/>
              <a:ext cx="2647950" cy="57150"/>
            </a:xfrm>
            <a:prstGeom prst="roundRect">
              <a:avLst>
                <a:gd name="adj" fmla="val 50000"/>
              </a:avLst>
            </a:prstGeom>
            <a:solidFill>
              <a:srgbClr val="FF6B6B"/>
            </a:solidFill>
            <a:ln w="0">
              <a:solidFill>
                <a:srgbClr val="FF6B6B"/>
              </a:solidFill>
            </a:ln>
          </p:spPr>
        </p:sp>
        <p:sp>
          <p:nvSpPr>
            <p:cNvPr id="10" name="TextBox 10"/>
            <p:cNvSpPr txBox="1"/>
            <p:nvPr/>
          </p:nvSpPr>
          <p:spPr>
            <a:xfrm>
              <a:off x="794766" y="3696652"/>
              <a:ext cx="1530005" cy="205359"/>
            </a:xfrm>
            <a:prstGeom prst="rect">
              <a:avLst/>
            </a:prstGeom>
            <a:noFill/>
            <a:ln>
              <a:noFill/>
            </a:ln>
          </p:spPr>
          <p:txBody>
            <a:bodyPr wrap="none" lIns="0" tIns="0" rIns="0" bIns="0" anchor="t" anchorCtr="0">
              <a:spAutoFit/>
            </a:bodyPr>
            <a:lstStyle/>
            <a:p>
              <a:pPr algn="l"/>
              <a:r>
                <a:rPr lang="en-US" sz="1050" b="1" spc="75" dirty="0">
                  <a:solidFill>
                    <a:srgbClr val="FF6B6B"/>
                  </a:solidFill>
                  <a:latin typeface="+mn-lt"/>
                  <a:ea typeface="+mn-ea"/>
                  <a:cs typeface="+mn-cs"/>
                </a:rPr>
                <a:t>THE VULNERABILITY</a:t>
              </a:r>
            </a:p>
          </p:txBody>
        </p:sp>
        <p:sp>
          <p:nvSpPr>
            <p:cNvPr id="11" name="TextBox 11"/>
            <p:cNvSpPr txBox="1"/>
            <p:nvPr/>
          </p:nvSpPr>
          <p:spPr>
            <a:xfrm>
              <a:off x="794004" y="3985260"/>
              <a:ext cx="2168453"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GNNs power citation search</a:t>
              </a:r>
            </a:p>
          </p:txBody>
        </p:sp>
        <p:sp>
          <p:nvSpPr>
            <p:cNvPr id="12" name="TextBox 12"/>
            <p:cNvSpPr txBox="1"/>
            <p:nvPr/>
          </p:nvSpPr>
          <p:spPr>
            <a:xfrm>
              <a:off x="794004" y="4213860"/>
              <a:ext cx="218495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and recommendation — yet a</a:t>
              </a:r>
            </a:p>
          </p:txBody>
        </p:sp>
        <p:sp>
          <p:nvSpPr>
            <p:cNvPr id="13" name="TextBox 13"/>
            <p:cNvSpPr txBox="1"/>
            <p:nvPr/>
          </p:nvSpPr>
          <p:spPr>
            <a:xfrm>
              <a:off x="794004" y="4442460"/>
              <a:ext cx="224149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few injected malicious nodes</a:t>
              </a:r>
            </a:p>
          </p:txBody>
        </p:sp>
        <p:sp>
          <p:nvSpPr>
            <p:cNvPr id="14" name="TextBox 14"/>
            <p:cNvSpPr txBox="1"/>
            <p:nvPr/>
          </p:nvSpPr>
          <p:spPr>
            <a:xfrm>
              <a:off x="794004" y="4671060"/>
              <a:ext cx="116723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can fool them.</a:t>
              </a:r>
            </a:p>
          </p:txBody>
        </p:sp>
      </p:grpSp>
      <p:grpSp>
        <p:nvGrpSpPr>
          <p:cNvPr id="23" name="Group 23"/>
          <p:cNvGrpSpPr/>
          <p:nvPr/>
        </p:nvGrpSpPr>
        <p:grpSpPr>
          <a:xfrm>
            <a:off x="3429000" y="3390900"/>
            <a:ext cx="2647950" cy="2381250"/>
            <a:chOff x="3429000" y="3390900"/>
            <a:chExt cx="2647950" cy="2381250"/>
          </a:xfrm>
        </p:grpSpPr>
        <p:sp>
          <p:nvSpPr>
            <p:cNvPr id="16" name="Rectangle 16"/>
            <p:cNvSpPr/>
            <p:nvPr/>
          </p:nvSpPr>
          <p:spPr>
            <a:xfrm>
              <a:off x="3429000" y="3390900"/>
              <a:ext cx="2647950" cy="2381250"/>
            </a:xfrm>
            <a:prstGeom prst="roundRect">
              <a:avLst>
                <a:gd name="adj" fmla="val 5600"/>
              </a:avLst>
            </a:prstGeom>
            <a:solidFill>
              <a:schemeClr val="accent5"/>
            </a:solidFill>
            <a:ln w="14288">
              <a:solidFill>
                <a:srgbClr val="1E3A52"/>
              </a:solidFill>
            </a:ln>
          </p:spPr>
        </p:sp>
        <p:sp>
          <p:nvSpPr>
            <p:cNvPr id="17" name="Rectangle 17"/>
            <p:cNvSpPr/>
            <p:nvPr/>
          </p:nvSpPr>
          <p:spPr>
            <a:xfrm>
              <a:off x="3429000" y="3390900"/>
              <a:ext cx="2647950" cy="57150"/>
            </a:xfrm>
            <a:prstGeom prst="roundRect">
              <a:avLst>
                <a:gd name="adj" fmla="val 50000"/>
              </a:avLst>
            </a:prstGeom>
            <a:solidFill>
              <a:srgbClr val="4C8DFF"/>
            </a:solidFill>
            <a:ln w="0">
              <a:solidFill>
                <a:srgbClr val="4C8DFF"/>
              </a:solidFill>
            </a:ln>
          </p:spPr>
        </p:sp>
        <p:sp>
          <p:nvSpPr>
            <p:cNvPr id="18" name="TextBox 18"/>
            <p:cNvSpPr txBox="1"/>
            <p:nvPr/>
          </p:nvSpPr>
          <p:spPr>
            <a:xfrm>
              <a:off x="3614166" y="3696652"/>
              <a:ext cx="833064" cy="205359"/>
            </a:xfrm>
            <a:prstGeom prst="rect">
              <a:avLst/>
            </a:prstGeom>
            <a:noFill/>
            <a:ln>
              <a:noFill/>
            </a:ln>
          </p:spPr>
          <p:txBody>
            <a:bodyPr wrap="none" lIns="0" tIns="0" rIns="0" bIns="0" anchor="t" anchorCtr="0">
              <a:spAutoFit/>
            </a:bodyPr>
            <a:lstStyle/>
            <a:p>
              <a:pPr algn="l"/>
              <a:r>
                <a:rPr lang="en-US" sz="1050" b="1" spc="75" dirty="0">
                  <a:solidFill>
                    <a:srgbClr val="4C8DFF"/>
                  </a:solidFill>
                  <a:latin typeface="+mn-lt"/>
                  <a:ea typeface="+mn-ea"/>
                  <a:cs typeface="+mn-cs"/>
                </a:rPr>
                <a:t>THE PAPER</a:t>
              </a:r>
            </a:p>
          </p:txBody>
        </p:sp>
        <p:sp>
          <p:nvSpPr>
            <p:cNvPr id="19" name="TextBox 19"/>
            <p:cNvSpPr txBox="1"/>
            <p:nvPr/>
          </p:nvSpPr>
          <p:spPr>
            <a:xfrm>
              <a:off x="3613404" y="3985260"/>
              <a:ext cx="155168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The first collective</a:t>
              </a:r>
            </a:p>
          </p:txBody>
        </p:sp>
        <p:sp>
          <p:nvSpPr>
            <p:cNvPr id="20" name="TextBox 20"/>
            <p:cNvSpPr txBox="1"/>
            <p:nvPr/>
          </p:nvSpPr>
          <p:spPr>
            <a:xfrm>
              <a:off x="3613404" y="4213860"/>
              <a:ext cx="2281885"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certified robustness scheme</a:t>
              </a:r>
            </a:p>
          </p:txBody>
        </p:sp>
        <p:sp>
          <p:nvSpPr>
            <p:cNvPr id="21" name="TextBox 21"/>
            <p:cNvSpPr txBox="1"/>
            <p:nvPr/>
          </p:nvSpPr>
          <p:spPr>
            <a:xfrm>
              <a:off x="3613404" y="4442460"/>
              <a:ext cx="181340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against graph injection</a:t>
              </a:r>
            </a:p>
          </p:txBody>
        </p:sp>
        <p:sp>
          <p:nvSpPr>
            <p:cNvPr id="22" name="TextBox 22"/>
            <p:cNvSpPr txBox="1"/>
            <p:nvPr/>
          </p:nvSpPr>
          <p:spPr>
            <a:xfrm>
              <a:off x="3613404" y="4671060"/>
              <a:ext cx="72298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attacks.</a:t>
              </a:r>
            </a:p>
          </p:txBody>
        </p:sp>
      </p:grpSp>
      <p:grpSp>
        <p:nvGrpSpPr>
          <p:cNvPr id="33" name="Group 33"/>
          <p:cNvGrpSpPr/>
          <p:nvPr/>
        </p:nvGrpSpPr>
        <p:grpSpPr>
          <a:xfrm>
            <a:off x="6248400" y="3390900"/>
            <a:ext cx="2647950" cy="2381250"/>
            <a:chOff x="6248400" y="3390900"/>
            <a:chExt cx="2647950" cy="2381250"/>
          </a:xfrm>
        </p:grpSpPr>
        <p:sp>
          <p:nvSpPr>
            <p:cNvPr id="24" name="Rectangle 24"/>
            <p:cNvSpPr/>
            <p:nvPr/>
          </p:nvSpPr>
          <p:spPr>
            <a:xfrm>
              <a:off x="6248400" y="3390900"/>
              <a:ext cx="2647950" cy="2381250"/>
            </a:xfrm>
            <a:prstGeom prst="roundRect">
              <a:avLst>
                <a:gd name="adj" fmla="val 5600"/>
              </a:avLst>
            </a:prstGeom>
            <a:solidFill>
              <a:schemeClr val="accent5"/>
            </a:solidFill>
            <a:ln w="14288">
              <a:solidFill>
                <a:srgbClr val="1E3A52"/>
              </a:solidFill>
            </a:ln>
          </p:spPr>
        </p:sp>
        <p:sp>
          <p:nvSpPr>
            <p:cNvPr id="25" name="Rectangle 25"/>
            <p:cNvSpPr/>
            <p:nvPr/>
          </p:nvSpPr>
          <p:spPr>
            <a:xfrm>
              <a:off x="6248400" y="3390900"/>
              <a:ext cx="2647950" cy="57150"/>
            </a:xfrm>
            <a:prstGeom prst="roundRect">
              <a:avLst>
                <a:gd name="adj" fmla="val 50000"/>
              </a:avLst>
            </a:prstGeom>
            <a:solidFill>
              <a:srgbClr val="35D0BA"/>
            </a:solidFill>
            <a:ln w="0">
              <a:solidFill>
                <a:srgbClr val="35D0BA"/>
              </a:solidFill>
            </a:ln>
          </p:spPr>
        </p:sp>
        <p:sp>
          <p:nvSpPr>
            <p:cNvPr id="26" name="TextBox 26"/>
            <p:cNvSpPr txBox="1"/>
            <p:nvPr/>
          </p:nvSpPr>
          <p:spPr>
            <a:xfrm>
              <a:off x="6433566" y="3696652"/>
              <a:ext cx="696940" cy="205359"/>
            </a:xfrm>
            <a:prstGeom prst="rect">
              <a:avLst/>
            </a:prstGeom>
            <a:noFill/>
            <a:ln>
              <a:noFill/>
            </a:ln>
          </p:spPr>
          <p:txBody>
            <a:bodyPr wrap="none" lIns="0" tIns="0" rIns="0" bIns="0" anchor="t" anchorCtr="0">
              <a:spAutoFit/>
            </a:bodyPr>
            <a:lstStyle/>
            <a:p>
              <a:pPr algn="l"/>
              <a:r>
                <a:rPr lang="en-US" sz="1050" b="1" spc="75" dirty="0">
                  <a:solidFill>
                    <a:srgbClr val="35D0BA"/>
                  </a:solidFill>
                  <a:latin typeface="+mn-lt"/>
                  <a:ea typeface="+mn-ea"/>
                  <a:cs typeface="+mn-cs"/>
                </a:rPr>
                <a:t>THE IDEA</a:t>
              </a:r>
            </a:p>
          </p:txBody>
        </p:sp>
        <p:sp>
          <p:nvSpPr>
            <p:cNvPr id="27" name="TextBox 27"/>
            <p:cNvSpPr txBox="1"/>
            <p:nvPr/>
          </p:nvSpPr>
          <p:spPr>
            <a:xfrm>
              <a:off x="6432804" y="3985260"/>
              <a:ext cx="176235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Certify a whole set of</a:t>
              </a:r>
            </a:p>
          </p:txBody>
        </p:sp>
        <p:sp>
          <p:nvSpPr>
            <p:cNvPr id="28" name="TextBox 28"/>
            <p:cNvSpPr txBox="1"/>
            <p:nvPr/>
          </p:nvSpPr>
          <p:spPr>
            <a:xfrm>
              <a:off x="6432804" y="4213860"/>
              <a:ext cx="2079955"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target nodes jointly: cast</a:t>
              </a:r>
            </a:p>
          </p:txBody>
        </p:sp>
        <p:sp>
          <p:nvSpPr>
            <p:cNvPr id="29" name="TextBox 29"/>
            <p:cNvSpPr txBox="1"/>
            <p:nvPr/>
          </p:nvSpPr>
          <p:spPr>
            <a:xfrm>
              <a:off x="6432804" y="4442460"/>
              <a:ext cx="223342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the worst-case attacker as</a:t>
              </a:r>
            </a:p>
          </p:txBody>
        </p:sp>
        <p:sp>
          <p:nvSpPr>
            <p:cNvPr id="30" name="TextBox 30"/>
            <p:cNvSpPr txBox="1"/>
            <p:nvPr/>
          </p:nvSpPr>
          <p:spPr>
            <a:xfrm>
              <a:off x="6432804" y="4671060"/>
              <a:ext cx="224957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an integer program, relax it</a:t>
              </a:r>
            </a:p>
          </p:txBody>
        </p:sp>
        <p:sp>
          <p:nvSpPr>
            <p:cNvPr id="31" name="TextBox 31"/>
            <p:cNvSpPr txBox="1"/>
            <p:nvPr/>
          </p:nvSpPr>
          <p:spPr>
            <a:xfrm>
              <a:off x="6432804" y="4899660"/>
              <a:ext cx="193456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to a linear program that</a:t>
              </a:r>
            </a:p>
          </p:txBody>
        </p:sp>
        <p:sp>
          <p:nvSpPr>
            <p:cNvPr id="32" name="TextBox 32"/>
            <p:cNvSpPr txBox="1"/>
            <p:nvPr/>
          </p:nvSpPr>
          <p:spPr>
            <a:xfrm>
              <a:off x="6432804" y="5128260"/>
              <a:ext cx="198302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solves in about a minute.</a:t>
              </a:r>
            </a:p>
          </p:txBody>
        </p:sp>
      </p:grpSp>
      <p:grpSp>
        <p:nvGrpSpPr>
          <p:cNvPr id="41" name="Group 41"/>
          <p:cNvGrpSpPr/>
          <p:nvPr/>
        </p:nvGrpSpPr>
        <p:grpSpPr>
          <a:xfrm>
            <a:off x="9067800" y="3390900"/>
            <a:ext cx="2647950" cy="2381250"/>
            <a:chOff x="9067800" y="3390900"/>
            <a:chExt cx="2647950" cy="2381250"/>
          </a:xfrm>
        </p:grpSpPr>
        <p:sp>
          <p:nvSpPr>
            <p:cNvPr id="34" name="Rectangle 34"/>
            <p:cNvSpPr/>
            <p:nvPr/>
          </p:nvSpPr>
          <p:spPr>
            <a:xfrm>
              <a:off x="9067800" y="3390900"/>
              <a:ext cx="2647950" cy="2381250"/>
            </a:xfrm>
            <a:prstGeom prst="roundRect">
              <a:avLst>
                <a:gd name="adj" fmla="val 5600"/>
              </a:avLst>
            </a:prstGeom>
            <a:solidFill>
              <a:schemeClr val="accent5"/>
            </a:solidFill>
            <a:ln w="14288">
              <a:solidFill>
                <a:srgbClr val="1E3A52"/>
              </a:solidFill>
            </a:ln>
          </p:spPr>
        </p:sp>
        <p:sp>
          <p:nvSpPr>
            <p:cNvPr id="35" name="Rectangle 35"/>
            <p:cNvSpPr/>
            <p:nvPr/>
          </p:nvSpPr>
          <p:spPr>
            <a:xfrm>
              <a:off x="9067800" y="3390900"/>
              <a:ext cx="2647950" cy="57150"/>
            </a:xfrm>
            <a:prstGeom prst="roundRect">
              <a:avLst>
                <a:gd name="adj" fmla="val 50000"/>
              </a:avLst>
            </a:prstGeom>
            <a:solidFill>
              <a:srgbClr val="48D597"/>
            </a:solidFill>
            <a:ln w="0">
              <a:solidFill>
                <a:srgbClr val="48D597"/>
              </a:solidFill>
            </a:ln>
          </p:spPr>
        </p:sp>
        <p:sp>
          <p:nvSpPr>
            <p:cNvPr id="36" name="TextBox 36"/>
            <p:cNvSpPr txBox="1"/>
            <p:nvPr/>
          </p:nvSpPr>
          <p:spPr>
            <a:xfrm>
              <a:off x="9252966" y="3696652"/>
              <a:ext cx="961347" cy="205359"/>
            </a:xfrm>
            <a:prstGeom prst="rect">
              <a:avLst/>
            </a:prstGeom>
            <a:noFill/>
            <a:ln>
              <a:noFill/>
            </a:ln>
          </p:spPr>
          <p:txBody>
            <a:bodyPr wrap="none" lIns="0" tIns="0" rIns="0" bIns="0" anchor="t" anchorCtr="0">
              <a:spAutoFit/>
            </a:bodyPr>
            <a:lstStyle/>
            <a:p>
              <a:pPr algn="l"/>
              <a:r>
                <a:rPr lang="en-US" sz="1050" b="1" spc="75" dirty="0">
                  <a:solidFill>
                    <a:srgbClr val="48D597"/>
                  </a:solidFill>
                  <a:latin typeface="+mn-lt"/>
                  <a:ea typeface="+mn-ea"/>
                  <a:cs typeface="+mn-cs"/>
                </a:rPr>
                <a:t>THE PAYOFF</a:t>
              </a:r>
            </a:p>
          </p:txBody>
        </p:sp>
        <p:sp>
          <p:nvSpPr>
            <p:cNvPr id="37" name="TextBox 37"/>
            <p:cNvSpPr txBox="1"/>
            <p:nvPr/>
          </p:nvSpPr>
          <p:spPr>
            <a:xfrm>
              <a:off x="9252204" y="3985260"/>
              <a:ext cx="203376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On Citeseer the certified</a:t>
              </a:r>
            </a:p>
          </p:txBody>
        </p:sp>
        <p:sp>
          <p:nvSpPr>
            <p:cNvPr id="38" name="TextBox 38"/>
            <p:cNvSpPr txBox="1"/>
            <p:nvPr/>
          </p:nvSpPr>
          <p:spPr>
            <a:xfrm>
              <a:off x="9252204" y="4213860"/>
              <a:ext cx="1740713"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ratio jumps from zero</a:t>
              </a:r>
            </a:p>
          </p:txBody>
        </p:sp>
        <p:sp>
          <p:nvSpPr>
            <p:cNvPr id="39" name="TextBox 39"/>
            <p:cNvSpPr txBox="1"/>
            <p:nvPr/>
          </p:nvSpPr>
          <p:spPr>
            <a:xfrm>
              <a:off x="9252204" y="4442460"/>
              <a:ext cx="180533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percent to over eighty</a:t>
              </a:r>
            </a:p>
          </p:txBody>
        </p:sp>
        <p:sp>
          <p:nvSpPr>
            <p:cNvPr id="40" name="TextBox 40"/>
            <p:cNvSpPr txBox="1"/>
            <p:nvPr/>
          </p:nvSpPr>
          <p:spPr>
            <a:xfrm>
              <a:off x="9252204" y="4671060"/>
              <a:ext cx="72298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percent.</a:t>
              </a:r>
            </a:p>
          </p:txBody>
        </p:sp>
      </p:grpSp>
      <p:sp>
        <p:nvSpPr>
          <p:cNvPr id="42" name="TextBox 42"/>
          <p:cNvSpPr txBox="1"/>
          <p:nvPr/>
        </p:nvSpPr>
        <p:spPr>
          <a:xfrm>
            <a:off x="794004" y="6042660"/>
            <a:ext cx="5320121"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arxiv.org/abs/2403.01423 · github.com/Yuni-Lai/CollectiveLPCert</a:t>
            </a:r>
          </a:p>
        </p:txBody>
      </p:sp>
      <p:sp>
        <p:nvSpPr>
          <p:cNvPr id="43" name="cue_s01_c1_graph_neural_networks_power_everythi" title="cue_s01_c1_graph_neural_networks_power_everythi" descr="cue_s01_c1_graph_neural_networks_power_everythi Graph neural networks power everything from citation search to recommendation, but they are alarmingly easy to fool by injecting a few malicious nodes into the graph."/>
          <p:cNvSpPr/>
          <p:nvPr/>
        </p:nvSpPr>
        <p:spPr>
          <a:xfrm>
            <a:off x="609600" y="3390595"/>
            <a:ext cx="2648102"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1_c2_hong_kong_polytechnic_university_pub" title="cue_s01_c2_hong_kong_polytechnic_university_pub" descr="cue_s01_c2_hong_kong_polytechnic_university_pub This paper, from the Hong Kong Polytechnic University and published at ICML 2024, presents the first collective certified robustness scheme against graph injection attacks."/>
          <p:cNvSpPr/>
          <p:nvPr/>
        </p:nvSpPr>
        <p:spPr>
          <a:xfrm>
            <a:off x="3428390" y="3390595"/>
            <a:ext cx="2648102"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1_c3_instead_certifying_node_isolation_wh" title="cue_s01_c3_instead_certifying_node_isolation_wh" descr="cue_s01_c3_instead_certifying_node_isolation_wh Instead of certifying each node in isolation, which is hopelessly pessimistic, the authors certify a whole set of target nodes at once by formulating the worst-case attacker as an optimization problem, then relaxing that hard integer program into a linear prog"/>
          <p:cNvSpPr/>
          <p:nvPr/>
        </p:nvSpPr>
        <p:spPr>
          <a:xfrm>
            <a:off x="6248399" y="3390595"/>
            <a:ext cx="2648102"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1_c4_payoff_dramatic_citeseer_certified_r" title="cue_s01_c4_payoff_dramatic_citeseer_certified_r" descr="cue_s01_c4_payoff_dramatic_citeseer_certified_r The payoff is dramatic: on Citeseer, the certified ratio jumps from zero percent to over eighty percent."/>
          <p:cNvSpPr/>
          <p:nvPr/>
        </p:nvSpPr>
        <p:spPr>
          <a:xfrm>
            <a:off x="9068409" y="3390595"/>
            <a:ext cx="2648102"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57150" cy="381000"/>
          </a:xfrm>
          <a:prstGeom prst="roundRect">
            <a:avLst>
              <a:gd name="adj" fmla="val 50000"/>
            </a:avLst>
          </a:prstGeom>
          <a:solidFill>
            <a:srgbClr val="35D0BA"/>
          </a:solidFill>
          <a:ln w="0">
            <a:solidFill>
              <a:srgbClr val="35D0BA"/>
            </a:solidFill>
          </a:ln>
        </p:spPr>
        <p:txBody>
          <a:bodyPr/>
          <a:p/>
        </p:txBody>
      </p:sp>
      <p:sp>
        <p:nvSpPr>
          <p:cNvPr id="3" name="TextBox 3"/>
          <p:cNvSpPr txBox="1"/>
          <p:nvPr/>
        </p:nvSpPr>
        <p:spPr>
          <a:xfrm>
            <a:off x="813435" y="469106"/>
            <a:ext cx="850362" cy="220028"/>
          </a:xfrm>
          <a:prstGeom prst="rect">
            <a:avLst/>
          </a:prstGeom>
          <a:noFill/>
          <a:ln>
            <a:noFill/>
          </a:ln>
        </p:spPr>
        <p:txBody>
          <a:bodyPr wrap="none" lIns="0" tIns="0" rIns="0" bIns="0" anchor="t" anchorCtr="0">
            <a:spAutoFit/>
          </a:bodyPr>
          <a:lstStyle/>
          <a:p>
            <a:pPr algn="l"/>
            <a:r>
              <a:rPr lang="en-US" sz="1120" b="1" spc="150" dirty="0">
                <a:solidFill>
                  <a:srgbClr val="35D0BA"/>
                </a:solidFill>
                <a:latin typeface="+mn-lt"/>
                <a:ea typeface="+mn-ea"/>
                <a:cs typeface="+mn-cs"/>
              </a:rPr>
              <a:t>PROBLEM</a:t>
            </a:r>
          </a:p>
        </p:txBody>
      </p:sp>
      <p:sp>
        <p:nvSpPr>
          <p:cNvPr id="4" name="TextBox 4"/>
          <p:cNvSpPr txBox="1"/>
          <p:nvPr/>
        </p:nvSpPr>
        <p:spPr>
          <a:xfrm>
            <a:off x="807720" y="614362"/>
            <a:ext cx="777756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Node-by-node certificates certify almost nothing</a:t>
            </a:r>
          </a:p>
        </p:txBody>
      </p:sp>
      <p:sp>
        <p:nvSpPr>
          <p:cNvPr id="5" name="TextBox 5"/>
          <p:cNvSpPr txBox="1"/>
          <p:nvPr/>
        </p:nvSpPr>
        <p:spPr>
          <a:xfrm>
            <a:off x="11046336" y="526256"/>
            <a:ext cx="541779" cy="220028"/>
          </a:xfrm>
          <a:prstGeom prst="rect">
            <a:avLst/>
          </a:prstGeom>
          <a:noFill/>
          <a:ln>
            <a:noFill/>
          </a:ln>
        </p:spPr>
        <p:txBody>
          <a:bodyPr wrap="none" lIns="0" tIns="0" rIns="0" bIns="0" anchor="t" anchorCtr="0">
            <a:spAutoFit/>
          </a:bodyPr>
          <a:lstStyle/>
          <a:p>
            <a:pPr algn="r"/>
            <a:r>
              <a:rPr lang="en-US" sz="1120" b="1" dirty="0">
                <a:solidFill>
                  <a:srgbClr val="9DB2C4"/>
                </a:solidFill>
                <a:latin typeface="+mn-lt"/>
                <a:ea typeface="+mn-ea"/>
                <a:cs typeface="+mn-cs"/>
              </a:rPr>
              <a:t>02 / 10</a:t>
            </a:r>
          </a:p>
        </p:txBody>
      </p:sp>
      <p:sp>
        <p:nvSpPr>
          <p:cNvPr id="6" name="Line 6"/>
          <p:cNvSpPr/>
          <p:nvPr/>
        </p:nvSpPr>
        <p:spPr>
          <a:xfrm>
            <a:off x="609600" y="990600"/>
            <a:ext cx="10972800" cy="9525"/>
          </a:xfrm>
          <a:custGeom>
            <a:avLst/>
            <a:gdLst/>
            <a:ahLst/>
            <a:cxnLst/>
            <a:rect l="l" t="t" r="r" b="b"/>
            <a:pathLst>
              <a:path w="10972800" h="9525">
                <a:moveTo>
                  <a:pt x="0" y="0"/>
                </a:moveTo>
                <a:lnTo>
                  <a:pt x="10972800" y="0"/>
                </a:lnTo>
              </a:path>
            </a:pathLst>
          </a:custGeom>
          <a:noFill/>
          <a:ln w="14288">
            <a:solidFill>
              <a:srgbClr val="1E3A52"/>
            </a:solidFill>
          </a:ln>
        </p:spPr>
        <p:txBody>
          <a:bodyPr/>
          <a:p/>
        </p:txBody>
      </p:sp>
      <p:grpSp>
        <p:nvGrpSpPr>
          <p:cNvPr id="27" name="Group 27"/>
          <p:cNvGrpSpPr/>
          <p:nvPr/>
        </p:nvGrpSpPr>
        <p:grpSpPr>
          <a:xfrm>
            <a:off x="609600" y="1162050"/>
            <a:ext cx="5334000" cy="2457450"/>
            <a:chOff x="609600" y="1162050"/>
            <a:chExt cx="5334000" cy="2457450"/>
          </a:xfrm>
        </p:grpSpPr>
        <p:sp>
          <p:nvSpPr>
            <p:cNvPr id="7" name="Rectangle 7"/>
            <p:cNvSpPr/>
            <p:nvPr/>
          </p:nvSpPr>
          <p:spPr>
            <a:xfrm>
              <a:off x="609600" y="1162050"/>
              <a:ext cx="5334000" cy="2457450"/>
            </a:xfrm>
            <a:prstGeom prst="roundRect">
              <a:avLst>
                <a:gd name="adj" fmla="val 5426"/>
              </a:avLst>
            </a:prstGeom>
            <a:solidFill>
              <a:schemeClr val="accent5"/>
            </a:solidFill>
            <a:ln w="14288">
              <a:solidFill>
                <a:srgbClr val="1E3A52"/>
              </a:solidFill>
            </a:ln>
          </p:spPr>
        </p:sp>
        <p:sp>
          <p:nvSpPr>
            <p:cNvPr id="8" name="Rectangle 8"/>
            <p:cNvSpPr/>
            <p:nvPr/>
          </p:nvSpPr>
          <p:spPr>
            <a:xfrm>
              <a:off x="609600" y="1162050"/>
              <a:ext cx="57150" cy="2457450"/>
            </a:xfrm>
            <a:prstGeom prst="roundRect">
              <a:avLst>
                <a:gd name="adj" fmla="val 50000"/>
              </a:avLst>
            </a:prstGeom>
            <a:solidFill>
              <a:srgbClr val="35D0BA"/>
            </a:solidFill>
            <a:ln w="0">
              <a:solidFill>
                <a:srgbClr val="35D0BA"/>
              </a:solidFill>
            </a:ln>
          </p:spPr>
        </p:sp>
        <p:sp>
          <p:nvSpPr>
            <p:cNvPr id="9" name="TextBox 9"/>
            <p:cNvSpPr txBox="1"/>
            <p:nvPr/>
          </p:nvSpPr>
          <p:spPr>
            <a:xfrm>
              <a:off x="849630" y="1400175"/>
              <a:ext cx="2322238"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Graph injection attack</a:t>
              </a:r>
            </a:p>
          </p:txBody>
        </p:sp>
        <p:sp>
          <p:nvSpPr>
            <p:cNvPr id="10" name="TextBox 10"/>
            <p:cNvSpPr txBox="1"/>
            <p:nvPr/>
          </p:nvSpPr>
          <p:spPr>
            <a:xfrm>
              <a:off x="851916" y="1677352"/>
              <a:ext cx="3322962" cy="205359"/>
            </a:xfrm>
            <a:prstGeom prst="rect">
              <a:avLst/>
            </a:prstGeom>
            <a:noFill/>
            <a:ln>
              <a:noFill/>
            </a:ln>
          </p:spPr>
          <p:txBody>
            <a:bodyPr wrap="none" lIns="0" tIns="0" rIns="0" bIns="0" anchor="t" anchorCtr="0">
              <a:spAutoFit/>
            </a:bodyPr>
            <a:lstStyle/>
            <a:p>
              <a:pPr algn="l"/>
              <a:r>
                <a:rPr lang="en-US" sz="1050" dirty="0">
                  <a:solidFill>
                    <a:srgbClr val="9DB2C4"/>
                  </a:solidFill>
                  <a:latin typeface="+mn-lt"/>
                  <a:ea typeface="+mn-ea"/>
                  <a:cs typeface="+mn-cs"/>
                </a:rPr>
                <a:t>A handful of malicious nodes slip into the graph:</a:t>
              </a:r>
            </a:p>
          </p:txBody>
        </p:sp>
        <p:sp>
          <p:nvSpPr>
            <p:cNvPr id="11" name="Line 11"/>
            <p:cNvSpPr/>
            <p:nvPr/>
          </p:nvSpPr>
          <p:spPr>
            <a:xfrm>
              <a:off x="2038350" y="2762250"/>
              <a:ext cx="419100" cy="323850"/>
            </a:xfrm>
            <a:custGeom>
              <a:avLst/>
              <a:gdLst/>
              <a:ahLst/>
              <a:cxnLst/>
              <a:rect l="l" t="t" r="r" b="b"/>
              <a:pathLst>
                <a:path w="419100" h="323850">
                  <a:moveTo>
                    <a:pt x="0" y="0"/>
                  </a:moveTo>
                  <a:lnTo>
                    <a:pt x="419100" y="323850"/>
                  </a:lnTo>
                </a:path>
              </a:pathLst>
            </a:custGeom>
            <a:noFill/>
            <a:ln w="14288">
              <a:solidFill>
                <a:srgbClr val="1E3A52"/>
              </a:solidFill>
            </a:ln>
          </p:spPr>
        </p:sp>
        <p:sp>
          <p:nvSpPr>
            <p:cNvPr id="12" name="Line 12"/>
            <p:cNvSpPr/>
            <p:nvPr/>
          </p:nvSpPr>
          <p:spPr>
            <a:xfrm>
              <a:off x="2038350" y="2457450"/>
              <a:ext cx="323850" cy="304800"/>
            </a:xfrm>
            <a:custGeom>
              <a:avLst/>
              <a:gdLst/>
              <a:ahLst/>
              <a:cxnLst/>
              <a:rect l="l" t="t" r="r" b="b"/>
              <a:pathLst>
                <a:path w="323850" h="304800">
                  <a:moveTo>
                    <a:pt x="0" y="304800"/>
                  </a:moveTo>
                  <a:lnTo>
                    <a:pt x="323850" y="0"/>
                  </a:lnTo>
                </a:path>
              </a:pathLst>
            </a:custGeom>
            <a:noFill/>
            <a:ln w="14288">
              <a:solidFill>
                <a:srgbClr val="1E3A52"/>
              </a:solidFill>
            </a:ln>
          </p:spPr>
        </p:sp>
        <p:sp>
          <p:nvSpPr>
            <p:cNvPr id="13" name="Line 13"/>
            <p:cNvSpPr/>
            <p:nvPr/>
          </p:nvSpPr>
          <p:spPr>
            <a:xfrm>
              <a:off x="1600200" y="2381250"/>
              <a:ext cx="171450" cy="666750"/>
            </a:xfrm>
            <a:custGeom>
              <a:avLst/>
              <a:gdLst/>
              <a:ahLst/>
              <a:cxnLst/>
              <a:rect l="l" t="t" r="r" b="b"/>
              <a:pathLst>
                <a:path w="171450" h="666750">
                  <a:moveTo>
                    <a:pt x="0" y="666750"/>
                  </a:moveTo>
                  <a:lnTo>
                    <a:pt x="171450" y="0"/>
                  </a:lnTo>
                </a:path>
              </a:pathLst>
            </a:custGeom>
            <a:noFill/>
            <a:ln w="14288">
              <a:solidFill>
                <a:srgbClr val="1E3A52"/>
              </a:solidFill>
            </a:ln>
          </p:spPr>
        </p:sp>
        <p:sp>
          <p:nvSpPr>
            <p:cNvPr id="14" name="Line 14"/>
            <p:cNvSpPr/>
            <p:nvPr/>
          </p:nvSpPr>
          <p:spPr>
            <a:xfrm>
              <a:off x="2362200" y="2457450"/>
              <a:ext cx="95250" cy="628650"/>
            </a:xfrm>
            <a:custGeom>
              <a:avLst/>
              <a:gdLst/>
              <a:ahLst/>
              <a:cxnLst/>
              <a:rect l="l" t="t" r="r" b="b"/>
              <a:pathLst>
                <a:path w="95250" h="628650">
                  <a:moveTo>
                    <a:pt x="95250" y="628650"/>
                  </a:moveTo>
                  <a:lnTo>
                    <a:pt x="0" y="0"/>
                  </a:lnTo>
                </a:path>
              </a:pathLst>
            </a:custGeom>
            <a:noFill/>
            <a:ln w="14288">
              <a:solidFill>
                <a:srgbClr val="1E3A52"/>
              </a:solidFill>
            </a:ln>
          </p:spPr>
        </p:sp>
        <p:sp>
          <p:nvSpPr>
            <p:cNvPr id="15" name="Ellipse 15"/>
            <p:cNvSpPr/>
            <p:nvPr/>
          </p:nvSpPr>
          <p:spPr>
            <a:xfrm>
              <a:off x="1914525" y="2638425"/>
              <a:ext cx="247650" cy="247650"/>
            </a:xfrm>
            <a:prstGeom prst="ellipse">
              <a:avLst/>
            </a:prstGeom>
            <a:solidFill>
              <a:srgbClr val="4C8DFF"/>
            </a:solidFill>
            <a:ln w="19050">
              <a:solidFill>
                <a:srgbClr val="0B1B2B"/>
              </a:solidFill>
            </a:ln>
          </p:spPr>
        </p:sp>
        <p:sp>
          <p:nvSpPr>
            <p:cNvPr id="16" name="Ellipse 16"/>
            <p:cNvSpPr/>
            <p:nvPr/>
          </p:nvSpPr>
          <p:spPr>
            <a:xfrm>
              <a:off x="1476375" y="2924175"/>
              <a:ext cx="247650" cy="247650"/>
            </a:xfrm>
            <a:prstGeom prst="ellipse">
              <a:avLst/>
            </a:prstGeom>
            <a:solidFill>
              <a:srgbClr val="4C8DFF"/>
            </a:solidFill>
            <a:ln w="19050">
              <a:solidFill>
                <a:srgbClr val="0B1B2B"/>
              </a:solidFill>
            </a:ln>
          </p:spPr>
        </p:sp>
        <p:sp>
          <p:nvSpPr>
            <p:cNvPr id="17" name="Ellipse 17"/>
            <p:cNvSpPr/>
            <p:nvPr/>
          </p:nvSpPr>
          <p:spPr>
            <a:xfrm>
              <a:off x="2333625" y="2962275"/>
              <a:ext cx="247650" cy="247650"/>
            </a:xfrm>
            <a:prstGeom prst="ellipse">
              <a:avLst/>
            </a:prstGeom>
            <a:solidFill>
              <a:srgbClr val="4C8DFF"/>
            </a:solidFill>
            <a:ln w="19050">
              <a:solidFill>
                <a:srgbClr val="0B1B2B"/>
              </a:solidFill>
            </a:ln>
          </p:spPr>
        </p:sp>
        <p:sp>
          <p:nvSpPr>
            <p:cNvPr id="18" name="Ellipse 18"/>
            <p:cNvSpPr/>
            <p:nvPr/>
          </p:nvSpPr>
          <p:spPr>
            <a:xfrm>
              <a:off x="1647825" y="2257425"/>
              <a:ext cx="247650" cy="247650"/>
            </a:xfrm>
            <a:prstGeom prst="ellipse">
              <a:avLst/>
            </a:prstGeom>
            <a:solidFill>
              <a:srgbClr val="4C8DFF"/>
            </a:solidFill>
            <a:ln w="19050">
              <a:solidFill>
                <a:srgbClr val="0B1B2B"/>
              </a:solidFill>
            </a:ln>
          </p:spPr>
        </p:sp>
        <p:sp>
          <p:nvSpPr>
            <p:cNvPr id="19" name="Ellipse 19"/>
            <p:cNvSpPr/>
            <p:nvPr/>
          </p:nvSpPr>
          <p:spPr>
            <a:xfrm>
              <a:off x="2238375" y="2333625"/>
              <a:ext cx="247650" cy="247650"/>
            </a:xfrm>
            <a:prstGeom prst="ellipse">
              <a:avLst/>
            </a:prstGeom>
            <a:solidFill>
              <a:srgbClr val="4C8DFF"/>
            </a:solidFill>
            <a:ln w="19050">
              <a:solidFill>
                <a:srgbClr val="0B1B2B"/>
              </a:solidFill>
            </a:ln>
          </p:spPr>
        </p:sp>
        <p:sp>
          <p:nvSpPr>
            <p:cNvPr id="20" name="Line 20"/>
            <p:cNvSpPr/>
            <p:nvPr/>
          </p:nvSpPr>
          <p:spPr>
            <a:xfrm>
              <a:off x="2457450" y="2305050"/>
              <a:ext cx="1962150" cy="781050"/>
            </a:xfrm>
            <a:custGeom>
              <a:avLst/>
              <a:gdLst/>
              <a:ahLst/>
              <a:cxnLst/>
              <a:rect l="l" t="t" r="r" b="b"/>
              <a:pathLst>
                <a:path w="1962150" h="781050">
                  <a:moveTo>
                    <a:pt x="1962150" y="0"/>
                  </a:moveTo>
                  <a:lnTo>
                    <a:pt x="0" y="781050"/>
                  </a:lnTo>
                </a:path>
              </a:pathLst>
            </a:custGeom>
            <a:noFill/>
            <a:ln w="19050">
              <a:solidFill>
                <a:srgbClr val="FF6B6B"/>
              </a:solidFill>
              <a:custDash>
                <a:ds d="200000" sp="150000"/>
              </a:custDash>
            </a:ln>
          </p:spPr>
        </p:sp>
        <p:sp>
          <p:nvSpPr>
            <p:cNvPr id="21" name="Line 21"/>
            <p:cNvSpPr/>
            <p:nvPr/>
          </p:nvSpPr>
          <p:spPr>
            <a:xfrm>
              <a:off x="2038350" y="2305050"/>
              <a:ext cx="2381250" cy="457200"/>
            </a:xfrm>
            <a:custGeom>
              <a:avLst/>
              <a:gdLst/>
              <a:ahLst/>
              <a:cxnLst/>
              <a:rect l="l" t="t" r="r" b="b"/>
              <a:pathLst>
                <a:path w="2381250" h="457200">
                  <a:moveTo>
                    <a:pt x="2381250" y="0"/>
                  </a:moveTo>
                  <a:lnTo>
                    <a:pt x="0" y="457200"/>
                  </a:lnTo>
                </a:path>
              </a:pathLst>
            </a:custGeom>
            <a:noFill/>
            <a:ln w="19050">
              <a:solidFill>
                <a:srgbClr val="FF6B6B"/>
              </a:solidFill>
              <a:custDash>
                <a:ds d="200000" sp="150000"/>
              </a:custDash>
            </a:ln>
          </p:spPr>
        </p:sp>
        <p:sp>
          <p:nvSpPr>
            <p:cNvPr id="22" name="Ellipse 22"/>
            <p:cNvSpPr/>
            <p:nvPr/>
          </p:nvSpPr>
          <p:spPr>
            <a:xfrm>
              <a:off x="4286250" y="2171700"/>
              <a:ext cx="266700" cy="266700"/>
            </a:xfrm>
            <a:prstGeom prst="ellipse">
              <a:avLst/>
            </a:prstGeom>
            <a:solidFill>
              <a:srgbClr val="FF6B6B"/>
            </a:solidFill>
            <a:ln w="19050">
              <a:solidFill>
                <a:srgbClr val="0B1B2B"/>
              </a:solidFill>
            </a:ln>
          </p:spPr>
        </p:sp>
        <p:sp>
          <p:nvSpPr>
            <p:cNvPr id="23" name="Line 23"/>
            <p:cNvSpPr/>
            <p:nvPr/>
          </p:nvSpPr>
          <p:spPr>
            <a:xfrm>
              <a:off x="2457450" y="2838450"/>
              <a:ext cx="2457450" cy="247650"/>
            </a:xfrm>
            <a:custGeom>
              <a:avLst/>
              <a:gdLst/>
              <a:ahLst/>
              <a:cxnLst/>
              <a:rect l="l" t="t" r="r" b="b"/>
              <a:pathLst>
                <a:path w="2457450" h="247650">
                  <a:moveTo>
                    <a:pt x="2457450" y="0"/>
                  </a:moveTo>
                  <a:lnTo>
                    <a:pt x="0" y="247650"/>
                  </a:lnTo>
                </a:path>
              </a:pathLst>
            </a:custGeom>
            <a:noFill/>
            <a:ln w="19050">
              <a:solidFill>
                <a:srgbClr val="FF6B6B"/>
              </a:solidFill>
              <a:custDash>
                <a:ds d="200000" sp="150000"/>
              </a:custDash>
            </a:ln>
          </p:spPr>
        </p:sp>
        <p:sp>
          <p:nvSpPr>
            <p:cNvPr id="24" name="Line 24"/>
            <p:cNvSpPr/>
            <p:nvPr/>
          </p:nvSpPr>
          <p:spPr>
            <a:xfrm>
              <a:off x="2038350" y="2762250"/>
              <a:ext cx="2876550" cy="76200"/>
            </a:xfrm>
            <a:custGeom>
              <a:avLst/>
              <a:gdLst/>
              <a:ahLst/>
              <a:cxnLst/>
              <a:rect l="l" t="t" r="r" b="b"/>
              <a:pathLst>
                <a:path w="2876550" h="76200">
                  <a:moveTo>
                    <a:pt x="2876550" y="76200"/>
                  </a:moveTo>
                  <a:lnTo>
                    <a:pt x="0" y="0"/>
                  </a:lnTo>
                </a:path>
              </a:pathLst>
            </a:custGeom>
            <a:noFill/>
            <a:ln w="19050">
              <a:solidFill>
                <a:srgbClr val="FF6B6B"/>
              </a:solidFill>
              <a:custDash>
                <a:ds d="200000" sp="150000"/>
              </a:custDash>
            </a:ln>
          </p:spPr>
        </p:sp>
        <p:sp>
          <p:nvSpPr>
            <p:cNvPr id="25" name="Ellipse 25"/>
            <p:cNvSpPr/>
            <p:nvPr/>
          </p:nvSpPr>
          <p:spPr>
            <a:xfrm>
              <a:off x="4781550" y="2705100"/>
              <a:ext cx="266700" cy="266700"/>
            </a:xfrm>
            <a:prstGeom prst="ellipse">
              <a:avLst/>
            </a:prstGeom>
            <a:solidFill>
              <a:srgbClr val="FF6B6B"/>
            </a:solidFill>
            <a:ln w="19050">
              <a:solidFill>
                <a:srgbClr val="0B1B2B"/>
              </a:solidFill>
            </a:ln>
          </p:spPr>
        </p:sp>
        <p:sp>
          <p:nvSpPr>
            <p:cNvPr id="26" name="TextBox 26"/>
            <p:cNvSpPr txBox="1"/>
            <p:nvPr/>
          </p:nvSpPr>
          <p:spPr>
            <a:xfrm>
              <a:off x="3893819" y="3266599"/>
              <a:ext cx="1546863" cy="190690"/>
            </a:xfrm>
            <a:prstGeom prst="rect">
              <a:avLst/>
            </a:prstGeom>
            <a:noFill/>
            <a:ln>
              <a:noFill/>
            </a:ln>
          </p:spPr>
          <p:txBody>
            <a:bodyPr wrap="none" lIns="0" tIns="0" rIns="0" bIns="0" anchor="t" anchorCtr="0">
              <a:spAutoFit/>
            </a:bodyPr>
            <a:lstStyle/>
            <a:p>
              <a:pPr algn="ctr"/>
              <a:r>
                <a:rPr lang="en-US" sz="980" dirty="0">
                  <a:solidFill>
                    <a:srgbClr val="FF6B6B"/>
                  </a:solidFill>
                  <a:latin typeface="+mn-lt"/>
                  <a:ea typeface="+mn-ea"/>
                  <a:cs typeface="+mn-cs"/>
                </a:rPr>
                <a:t>injected malicious nodes</a:t>
              </a:r>
            </a:p>
          </p:txBody>
        </p:sp>
      </p:grpSp>
      <p:grpSp>
        <p:nvGrpSpPr>
          <p:cNvPr id="35" name="Group 35"/>
          <p:cNvGrpSpPr/>
          <p:nvPr/>
        </p:nvGrpSpPr>
        <p:grpSpPr>
          <a:xfrm>
            <a:off x="6248400" y="1162050"/>
            <a:ext cx="5334000" cy="2457450"/>
            <a:chOff x="6248400" y="1162050"/>
            <a:chExt cx="5334000" cy="2457450"/>
          </a:xfrm>
        </p:grpSpPr>
        <p:sp>
          <p:nvSpPr>
            <p:cNvPr id="28" name="Rectangle 28"/>
            <p:cNvSpPr/>
            <p:nvPr/>
          </p:nvSpPr>
          <p:spPr>
            <a:xfrm>
              <a:off x="6248400" y="1162050"/>
              <a:ext cx="5334000" cy="2457450"/>
            </a:xfrm>
            <a:prstGeom prst="roundRect">
              <a:avLst>
                <a:gd name="adj" fmla="val 5426"/>
              </a:avLst>
            </a:prstGeom>
            <a:solidFill>
              <a:schemeClr val="accent5"/>
            </a:solidFill>
            <a:ln w="14288">
              <a:solidFill>
                <a:srgbClr val="1E3A52"/>
              </a:solidFill>
            </a:ln>
          </p:spPr>
        </p:sp>
        <p:sp>
          <p:nvSpPr>
            <p:cNvPr id="29" name="Rectangle 29"/>
            <p:cNvSpPr/>
            <p:nvPr/>
          </p:nvSpPr>
          <p:spPr>
            <a:xfrm>
              <a:off x="6248400" y="1162050"/>
              <a:ext cx="57150" cy="2457450"/>
            </a:xfrm>
            <a:prstGeom prst="roundRect">
              <a:avLst>
                <a:gd name="adj" fmla="val 50000"/>
              </a:avLst>
            </a:prstGeom>
            <a:solidFill>
              <a:srgbClr val="4C8DFF"/>
            </a:solidFill>
            <a:ln w="0">
              <a:solidFill>
                <a:srgbClr val="4C8DFF"/>
              </a:solidFill>
            </a:ln>
          </p:spPr>
        </p:sp>
        <p:sp>
          <p:nvSpPr>
            <p:cNvPr id="30" name="TextBox 30"/>
            <p:cNvSpPr txBox="1"/>
            <p:nvPr/>
          </p:nvSpPr>
          <p:spPr>
            <a:xfrm>
              <a:off x="6488430" y="1400175"/>
              <a:ext cx="3107210"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We want certified robustness</a:t>
              </a:r>
            </a:p>
          </p:txBody>
        </p:sp>
        <p:sp>
          <p:nvSpPr>
            <p:cNvPr id="31" name="TextBox 31"/>
            <p:cNvSpPr txBox="1"/>
            <p:nvPr/>
          </p:nvSpPr>
          <p:spPr>
            <a:xfrm>
              <a:off x="6489573" y="1786414"/>
              <a:ext cx="4912431"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A mathematical guarantee that a model's predictions stay</a:t>
              </a:r>
            </a:p>
          </p:txBody>
        </p:sp>
        <p:sp>
          <p:nvSpPr>
            <p:cNvPr id="32" name="TextBox 32"/>
            <p:cNvSpPr txBox="1"/>
            <p:nvPr/>
          </p:nvSpPr>
          <p:spPr>
            <a:xfrm>
              <a:off x="6489573" y="2024539"/>
              <a:ext cx="4622343"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stable no matter how the attacker spends the budget.</a:t>
              </a:r>
            </a:p>
          </p:txBody>
        </p:sp>
        <p:sp>
          <p:nvSpPr>
            <p:cNvPr id="33" name="Rectangle 33"/>
            <p:cNvSpPr/>
            <p:nvPr/>
          </p:nvSpPr>
          <p:spPr>
            <a:xfrm>
              <a:off x="6496050" y="2895600"/>
              <a:ext cx="4838700" cy="457200"/>
            </a:xfrm>
            <a:prstGeom prst="roundRect">
              <a:avLst>
                <a:gd name="adj" fmla="val 29167"/>
              </a:avLst>
            </a:prstGeom>
            <a:solidFill>
              <a:schemeClr val="accent6"/>
            </a:solidFill>
            <a:ln w="14288">
              <a:solidFill>
                <a:srgbClr val="1E3A52"/>
              </a:solidFill>
            </a:ln>
          </p:spPr>
        </p:sp>
        <p:sp>
          <p:nvSpPr>
            <p:cNvPr id="34" name="TextBox 34"/>
            <p:cNvSpPr txBox="1"/>
            <p:nvPr/>
          </p:nvSpPr>
          <p:spPr>
            <a:xfrm>
              <a:off x="6642735" y="3059906"/>
              <a:ext cx="3890101" cy="220028"/>
            </a:xfrm>
            <a:prstGeom prst="rect">
              <a:avLst/>
            </a:prstGeom>
            <a:noFill/>
            <a:ln>
              <a:noFill/>
            </a:ln>
          </p:spPr>
          <p:txBody>
            <a:bodyPr wrap="none" lIns="0" tIns="0" rIns="0" bIns="0" anchor="t" anchorCtr="0">
              <a:spAutoFit/>
            </a:bodyPr>
            <a:lstStyle/>
            <a:p>
              <a:pPr algn="l"/>
              <a:r>
                <a:rPr lang="en-US" sz="1120" b="1" dirty="0">
                  <a:solidFill>
                    <a:srgbClr val="35D0BA"/>
                  </a:solidFill>
                  <a:latin typeface="Consolas"/>
                  <a:ea typeface="Consolas"/>
                  <a:cs typeface="Consolas"/>
                </a:rPr>
                <a:t>prediction( attacked graph ) = prediction( clean )</a:t>
              </a:r>
            </a:p>
          </p:txBody>
        </p:sp>
      </p:grpSp>
      <p:grpSp>
        <p:nvGrpSpPr>
          <p:cNvPr id="44" name="Group 44"/>
          <p:cNvGrpSpPr/>
          <p:nvPr/>
        </p:nvGrpSpPr>
        <p:grpSpPr>
          <a:xfrm>
            <a:off x="609600" y="3810000"/>
            <a:ext cx="5334000" cy="2457450"/>
            <a:chOff x="609600" y="3810000"/>
            <a:chExt cx="5334000" cy="2457450"/>
          </a:xfrm>
        </p:grpSpPr>
        <p:sp>
          <p:nvSpPr>
            <p:cNvPr id="36" name="Rectangle 36"/>
            <p:cNvSpPr/>
            <p:nvPr/>
          </p:nvSpPr>
          <p:spPr>
            <a:xfrm>
              <a:off x="609600" y="3810000"/>
              <a:ext cx="5334000" cy="2457450"/>
            </a:xfrm>
            <a:prstGeom prst="roundRect">
              <a:avLst>
                <a:gd name="adj" fmla="val 5426"/>
              </a:avLst>
            </a:prstGeom>
            <a:solidFill>
              <a:schemeClr val="accent5"/>
            </a:solidFill>
            <a:ln w="14288">
              <a:solidFill>
                <a:srgbClr val="1E3A52"/>
              </a:solidFill>
            </a:ln>
          </p:spPr>
        </p:sp>
        <p:sp>
          <p:nvSpPr>
            <p:cNvPr id="37" name="Rectangle 37"/>
            <p:cNvSpPr/>
            <p:nvPr/>
          </p:nvSpPr>
          <p:spPr>
            <a:xfrm>
              <a:off x="609600" y="3810000"/>
              <a:ext cx="57150" cy="2457450"/>
            </a:xfrm>
            <a:prstGeom prst="roundRect">
              <a:avLst>
                <a:gd name="adj" fmla="val 50000"/>
              </a:avLst>
            </a:prstGeom>
            <a:solidFill>
              <a:srgbClr val="F5B841"/>
            </a:solidFill>
            <a:ln w="0">
              <a:solidFill>
                <a:srgbClr val="F5B841"/>
              </a:solidFill>
            </a:ln>
          </p:spPr>
        </p:sp>
        <p:sp>
          <p:nvSpPr>
            <p:cNvPr id="38" name="TextBox 38"/>
            <p:cNvSpPr txBox="1"/>
            <p:nvPr/>
          </p:nvSpPr>
          <p:spPr>
            <a:xfrm>
              <a:off x="850011" y="4056221"/>
              <a:ext cx="4075365"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Every existing certificate is sample-wise</a:t>
              </a:r>
            </a:p>
          </p:txBody>
        </p:sp>
        <p:sp>
          <p:nvSpPr>
            <p:cNvPr id="39" name="TextBox 39"/>
            <p:cNvSpPr txBox="1"/>
            <p:nvPr/>
          </p:nvSpPr>
          <p:spPr>
            <a:xfrm>
              <a:off x="850773" y="4434364"/>
              <a:ext cx="4619268"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For injection attacks, all prior certificates work node</a:t>
              </a:r>
            </a:p>
          </p:txBody>
        </p:sp>
        <p:sp>
          <p:nvSpPr>
            <p:cNvPr id="40" name="TextBox 40"/>
            <p:cNvSpPr txBox="1"/>
            <p:nvPr/>
          </p:nvSpPr>
          <p:spPr>
            <a:xfrm>
              <a:off x="850773" y="4672489"/>
              <a:ext cx="4122633"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by node, certifying each target node in complete</a:t>
              </a:r>
            </a:p>
          </p:txBody>
        </p:sp>
        <p:sp>
          <p:nvSpPr>
            <p:cNvPr id="41" name="TextBox 41"/>
            <p:cNvSpPr txBox="1"/>
            <p:nvPr/>
          </p:nvSpPr>
          <p:spPr>
            <a:xfrm>
              <a:off x="850773" y="4910614"/>
              <a:ext cx="831444"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isolation.</a:t>
              </a:r>
            </a:p>
          </p:txBody>
        </p:sp>
        <p:sp>
          <p:nvSpPr>
            <p:cNvPr id="42" name="Rectangle 42"/>
            <p:cNvSpPr/>
            <p:nvPr/>
          </p:nvSpPr>
          <p:spPr>
            <a:xfrm>
              <a:off x="857250" y="5676900"/>
              <a:ext cx="2857500" cy="247650"/>
            </a:xfrm>
            <a:prstGeom prst="roundRect">
              <a:avLst>
                <a:gd name="adj" fmla="val 50000"/>
              </a:avLst>
            </a:prstGeom>
            <a:solidFill>
              <a:srgbClr val="F5B841"/>
            </a:solidFill>
            <a:ln w="0">
              <a:solidFill>
                <a:srgbClr val="F5B841"/>
              </a:solidFill>
            </a:ln>
          </p:spPr>
        </p:sp>
        <p:sp>
          <p:nvSpPr>
            <p:cNvPr id="43" name="TextBox 43"/>
            <p:cNvSpPr txBox="1"/>
            <p:nvPr/>
          </p:nvSpPr>
          <p:spPr>
            <a:xfrm>
              <a:off x="1063634" y="5735002"/>
              <a:ext cx="2444732" cy="205359"/>
            </a:xfrm>
            <a:prstGeom prst="rect">
              <a:avLst/>
            </a:prstGeom>
            <a:noFill/>
            <a:ln>
              <a:noFill/>
            </a:ln>
          </p:spPr>
          <p:txBody>
            <a:bodyPr wrap="none" lIns="0" tIns="0" rIns="0" bIns="0" anchor="t" anchorCtr="0">
              <a:spAutoFit/>
            </a:bodyPr>
            <a:lstStyle/>
            <a:p>
              <a:pPr algn="ctr"/>
              <a:r>
                <a:rPr lang="en-US" sz="1050" b="1" dirty="0">
                  <a:solidFill>
                    <a:srgbClr val="08131F"/>
                  </a:solidFill>
                  <a:latin typeface="+mn-lt"/>
                  <a:ea typeface="+mn-ea"/>
                  <a:cs typeface="+mn-cs"/>
                </a:rPr>
                <a:t>one certificate · one target node</a:t>
              </a:r>
            </a:p>
          </p:txBody>
        </p:sp>
      </p:grpSp>
      <p:grpSp>
        <p:nvGrpSpPr>
          <p:cNvPr id="51" name="Group 51"/>
          <p:cNvGrpSpPr/>
          <p:nvPr/>
        </p:nvGrpSpPr>
        <p:grpSpPr>
          <a:xfrm>
            <a:off x="6248400" y="3810000"/>
            <a:ext cx="5334000" cy="2457450"/>
            <a:chOff x="6248400" y="3810000"/>
            <a:chExt cx="5334000" cy="2457450"/>
          </a:xfrm>
        </p:grpSpPr>
        <p:sp>
          <p:nvSpPr>
            <p:cNvPr id="45" name="Rectangle 45"/>
            <p:cNvSpPr/>
            <p:nvPr/>
          </p:nvSpPr>
          <p:spPr>
            <a:xfrm>
              <a:off x="6248400" y="3810000"/>
              <a:ext cx="5334000" cy="2457450"/>
            </a:xfrm>
            <a:prstGeom prst="roundRect">
              <a:avLst>
                <a:gd name="adj" fmla="val 5426"/>
              </a:avLst>
            </a:prstGeom>
            <a:solidFill>
              <a:schemeClr val="accent5"/>
            </a:solidFill>
            <a:ln w="14288">
              <a:solidFill>
                <a:srgbClr val="1E3A52"/>
              </a:solidFill>
            </a:ln>
          </p:spPr>
        </p:sp>
        <p:sp>
          <p:nvSpPr>
            <p:cNvPr id="46" name="Rectangle 46"/>
            <p:cNvSpPr/>
            <p:nvPr/>
          </p:nvSpPr>
          <p:spPr>
            <a:xfrm>
              <a:off x="6248400" y="3810000"/>
              <a:ext cx="57150" cy="2457450"/>
            </a:xfrm>
            <a:prstGeom prst="roundRect">
              <a:avLst>
                <a:gd name="adj" fmla="val 50000"/>
              </a:avLst>
            </a:prstGeom>
            <a:solidFill>
              <a:srgbClr val="FF6B6B"/>
            </a:solidFill>
            <a:ln w="0">
              <a:solidFill>
                <a:srgbClr val="FF6B6B"/>
              </a:solidFill>
            </a:ln>
          </p:spPr>
        </p:sp>
        <p:sp>
          <p:nvSpPr>
            <p:cNvPr id="47" name="TextBox 47"/>
            <p:cNvSpPr txBox="1"/>
            <p:nvPr/>
          </p:nvSpPr>
          <p:spPr>
            <a:xfrm>
              <a:off x="6488430" y="4048125"/>
              <a:ext cx="2788712"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Too pessimistic in practice</a:t>
              </a:r>
            </a:p>
          </p:txBody>
        </p:sp>
        <p:sp>
          <p:nvSpPr>
            <p:cNvPr id="48" name="TextBox 48"/>
            <p:cNvSpPr txBox="1"/>
            <p:nvPr/>
          </p:nvSpPr>
          <p:spPr>
            <a:xfrm>
              <a:off x="8372645" y="4604385"/>
              <a:ext cx="1085511" cy="1104900"/>
            </a:xfrm>
            <a:prstGeom prst="rect">
              <a:avLst/>
            </a:prstGeom>
            <a:noFill/>
            <a:ln>
              <a:noFill/>
            </a:ln>
          </p:spPr>
          <p:txBody>
            <a:bodyPr wrap="none" lIns="0" tIns="0" rIns="0" bIns="0" anchor="t" anchorCtr="0">
              <a:spAutoFit/>
            </a:bodyPr>
            <a:lstStyle/>
            <a:p>
              <a:pPr algn="ctr"/>
              <a:r>
                <a:rPr lang="en-US" sz="5700" b="1" dirty="0">
                  <a:solidFill>
                    <a:srgbClr val="FF6B6B"/>
                  </a:solidFill>
                  <a:latin typeface="+mn-lt"/>
                  <a:ea typeface="+mn-ea"/>
                  <a:cs typeface="+mn-cs"/>
                </a:rPr>
                <a:t>0%</a:t>
              </a:r>
            </a:p>
          </p:txBody>
        </p:sp>
        <p:sp>
          <p:nvSpPr>
            <p:cNvPr id="49" name="TextBox 49"/>
            <p:cNvSpPr txBox="1"/>
            <p:nvPr/>
          </p:nvSpPr>
          <p:spPr>
            <a:xfrm>
              <a:off x="7608875" y="5547360"/>
              <a:ext cx="2613050" cy="234696"/>
            </a:xfrm>
            <a:prstGeom prst="rect">
              <a:avLst/>
            </a:prstGeom>
            <a:noFill/>
            <a:ln>
              <a:noFill/>
            </a:ln>
          </p:spPr>
          <p:txBody>
            <a:bodyPr wrap="none" lIns="0" tIns="0" rIns="0" bIns="0" anchor="t" anchorCtr="0">
              <a:spAutoFit/>
            </a:bodyPr>
            <a:lstStyle/>
            <a:p>
              <a:pPr algn="ctr"/>
              <a:r>
                <a:rPr lang="en-US" sz="1200" dirty="0">
                  <a:solidFill>
                    <a:srgbClr val="9DB2C4"/>
                  </a:solidFill>
                  <a:latin typeface="+mn-lt"/>
                  <a:ea typeface="+mn-ea"/>
                  <a:cs typeface="+mn-cs"/>
                </a:rPr>
                <a:t>certified once the attacker gets</a:t>
              </a:r>
            </a:p>
          </p:txBody>
        </p:sp>
        <p:sp>
          <p:nvSpPr>
            <p:cNvPr id="50" name="TextBox 50"/>
            <p:cNvSpPr txBox="1"/>
            <p:nvPr/>
          </p:nvSpPr>
          <p:spPr>
            <a:xfrm>
              <a:off x="7903693" y="5775960"/>
              <a:ext cx="2023415" cy="234696"/>
            </a:xfrm>
            <a:prstGeom prst="rect">
              <a:avLst/>
            </a:prstGeom>
            <a:noFill/>
            <a:ln>
              <a:noFill/>
            </a:ln>
          </p:spPr>
          <p:txBody>
            <a:bodyPr wrap="none" lIns="0" tIns="0" rIns="0" bIns="0" anchor="t" anchorCtr="0">
              <a:spAutoFit/>
            </a:bodyPr>
            <a:lstStyle/>
            <a:p>
              <a:pPr algn="ctr"/>
              <a:r>
                <a:rPr lang="en-US" sz="1200" dirty="0">
                  <a:solidFill>
                    <a:srgbClr val="9DB2C4"/>
                  </a:solidFill>
                  <a:latin typeface="+mn-lt"/>
                  <a:ea typeface="+mn-ea"/>
                  <a:cs typeface="+mn-cs"/>
                </a:rPr>
                <a:t>a modest injection budget</a:t>
              </a:r>
            </a:p>
          </p:txBody>
        </p:sp>
      </p:grpSp>
      <p:sp>
        <p:nvSpPr>
          <p:cNvPr id="52" name="cue_s02_c1_graph_neural_networks_workhorses_gra" title="cue_s02_c1_graph_neural_networks_workhorses_gra" descr="cue_s02_c1_graph_neural_networks_workhorses_gra Graph neural networks are the workhorses of graph learning, but they can be broken by a graph injection attack that slips a handful of malicious nodes into the graph."/>
          <p:cNvSpPr/>
          <p:nvPr/>
        </p:nvSpPr>
        <p:spPr>
          <a:xfrm>
            <a:off x="609600"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2_c2_trust_these_models_want_certified" title="cue_s02_c2_trust_these_models_want_certified" descr="cue_s02_c2_trust_these_models_want_certified To trust these models we want certified robustness, a mathematical guarantee that predictions stay stable under attack."/>
          <p:cNvSpPr/>
          <p:nvPr/>
        </p:nvSpPr>
        <p:spPr>
          <a:xfrm>
            <a:off x="6248399"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2_c3_trouble_every_existing_certificate_i" title="cue_s02_c3_trouble_every_existing_certificate_i" descr="cue_s02_c3_trouble_every_existing_certificate_i The trouble is that every existing certificate for injection attacks works node by node, certifying each target in isolation."/>
          <p:cNvSpPr/>
          <p:nvPr/>
        </p:nvSpPr>
        <p:spPr>
          <a:xfrm>
            <a:off x="609600"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2_c4_sample_wise_view_far_too_pessimistic" title="cue_s02_c4_sample_wise_view_far_too_pessimistic" descr="cue_s02_c4_sample_wise_view_far_too_pessimistic That sample-wise view is far too pessimistic, and in practice it certifies almost nothing once the attacker gets a modest budget."/>
          <p:cNvSpPr/>
          <p:nvPr/>
        </p:nvSpPr>
        <p:spPr>
          <a:xfrm>
            <a:off x="6248399"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57150" cy="381000"/>
          </a:xfrm>
          <a:prstGeom prst="roundRect">
            <a:avLst>
              <a:gd name="adj" fmla="val 50000"/>
            </a:avLst>
          </a:prstGeom>
          <a:solidFill>
            <a:srgbClr val="35D0BA"/>
          </a:solidFill>
          <a:ln w="0">
            <a:solidFill>
              <a:srgbClr val="35D0BA"/>
            </a:solidFill>
          </a:ln>
        </p:spPr>
        <p:txBody>
          <a:bodyPr/>
          <a:p/>
        </p:txBody>
      </p:sp>
      <p:sp>
        <p:nvSpPr>
          <p:cNvPr id="3" name="TextBox 3"/>
          <p:cNvSpPr txBox="1"/>
          <p:nvPr/>
        </p:nvSpPr>
        <p:spPr>
          <a:xfrm>
            <a:off x="813435" y="469106"/>
            <a:ext cx="1140190" cy="220028"/>
          </a:xfrm>
          <a:prstGeom prst="rect">
            <a:avLst/>
          </a:prstGeom>
          <a:noFill/>
          <a:ln>
            <a:noFill/>
          </a:ln>
        </p:spPr>
        <p:txBody>
          <a:bodyPr wrap="none" lIns="0" tIns="0" rIns="0" bIns="0" anchor="t" anchorCtr="0">
            <a:spAutoFit/>
          </a:bodyPr>
          <a:lstStyle/>
          <a:p>
            <a:pPr algn="l"/>
            <a:r>
              <a:rPr lang="en-US" sz="1120" b="1" spc="150" dirty="0">
                <a:solidFill>
                  <a:srgbClr val="35D0BA"/>
                </a:solidFill>
                <a:latin typeface="+mn-lt"/>
                <a:ea typeface="+mn-ea"/>
                <a:cs typeface="+mn-cs"/>
              </a:rPr>
              <a:t>MOTIVATION</a:t>
            </a:r>
          </a:p>
        </p:txBody>
      </p:sp>
      <p:sp>
        <p:nvSpPr>
          <p:cNvPr id="4" name="TextBox 4"/>
          <p:cNvSpPr txBox="1"/>
          <p:nvPr/>
        </p:nvSpPr>
        <p:spPr>
          <a:xfrm>
            <a:off x="807720" y="614362"/>
            <a:ext cx="650607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One graph must fool the whole target set</a:t>
            </a:r>
          </a:p>
        </p:txBody>
      </p:sp>
      <p:sp>
        <p:nvSpPr>
          <p:cNvPr id="5" name="TextBox 5"/>
          <p:cNvSpPr txBox="1"/>
          <p:nvPr/>
        </p:nvSpPr>
        <p:spPr>
          <a:xfrm>
            <a:off x="11046336" y="526256"/>
            <a:ext cx="541779" cy="220028"/>
          </a:xfrm>
          <a:prstGeom prst="rect">
            <a:avLst/>
          </a:prstGeom>
          <a:noFill/>
          <a:ln>
            <a:noFill/>
          </a:ln>
        </p:spPr>
        <p:txBody>
          <a:bodyPr wrap="none" lIns="0" tIns="0" rIns="0" bIns="0" anchor="t" anchorCtr="0">
            <a:spAutoFit/>
          </a:bodyPr>
          <a:lstStyle/>
          <a:p>
            <a:pPr algn="r"/>
            <a:r>
              <a:rPr lang="en-US" sz="1120" b="1" dirty="0">
                <a:solidFill>
                  <a:srgbClr val="9DB2C4"/>
                </a:solidFill>
                <a:latin typeface="+mn-lt"/>
                <a:ea typeface="+mn-ea"/>
                <a:cs typeface="+mn-cs"/>
              </a:rPr>
              <a:t>03 / 10</a:t>
            </a:r>
          </a:p>
        </p:txBody>
      </p:sp>
      <p:sp>
        <p:nvSpPr>
          <p:cNvPr id="6" name="Line 6"/>
          <p:cNvSpPr/>
          <p:nvPr/>
        </p:nvSpPr>
        <p:spPr>
          <a:xfrm>
            <a:off x="609600" y="990600"/>
            <a:ext cx="10972800" cy="9525"/>
          </a:xfrm>
          <a:custGeom>
            <a:avLst/>
            <a:gdLst/>
            <a:ahLst/>
            <a:cxnLst/>
            <a:rect l="l" t="t" r="r" b="b"/>
            <a:pathLst>
              <a:path w="10972800" h="9525">
                <a:moveTo>
                  <a:pt x="0" y="0"/>
                </a:moveTo>
                <a:lnTo>
                  <a:pt x="10972800" y="0"/>
                </a:lnTo>
              </a:path>
            </a:pathLst>
          </a:custGeom>
          <a:noFill/>
          <a:ln w="14288">
            <a:solidFill>
              <a:srgbClr val="1E3A52"/>
            </a:solidFill>
          </a:ln>
        </p:spPr>
        <p:txBody>
          <a:bodyPr/>
          <a:p/>
        </p:txBody>
      </p:sp>
      <p:grpSp>
        <p:nvGrpSpPr>
          <p:cNvPr id="13" name="Group 13"/>
          <p:cNvGrpSpPr/>
          <p:nvPr/>
        </p:nvGrpSpPr>
        <p:grpSpPr>
          <a:xfrm>
            <a:off x="609600" y="1162050"/>
            <a:ext cx="5334000" cy="2457450"/>
            <a:chOff x="609600" y="1162050"/>
            <a:chExt cx="5334000" cy="2457450"/>
          </a:xfrm>
        </p:grpSpPr>
        <p:sp>
          <p:nvSpPr>
            <p:cNvPr id="7" name="Rectangle 7"/>
            <p:cNvSpPr/>
            <p:nvPr/>
          </p:nvSpPr>
          <p:spPr>
            <a:xfrm>
              <a:off x="609600" y="1162050"/>
              <a:ext cx="5334000" cy="2457450"/>
            </a:xfrm>
            <a:prstGeom prst="roundRect">
              <a:avLst>
                <a:gd name="adj" fmla="val 5426"/>
              </a:avLst>
            </a:prstGeom>
            <a:solidFill>
              <a:schemeClr val="accent5"/>
            </a:solidFill>
            <a:ln w="14288">
              <a:solidFill>
                <a:srgbClr val="1E3A52"/>
              </a:solidFill>
            </a:ln>
          </p:spPr>
        </p:sp>
        <p:sp>
          <p:nvSpPr>
            <p:cNvPr id="8" name="Rectangle 8"/>
            <p:cNvSpPr/>
            <p:nvPr/>
          </p:nvSpPr>
          <p:spPr>
            <a:xfrm>
              <a:off x="609600" y="1162050"/>
              <a:ext cx="57150" cy="2457450"/>
            </a:xfrm>
            <a:prstGeom prst="roundRect">
              <a:avLst>
                <a:gd name="adj" fmla="val 50000"/>
              </a:avLst>
            </a:prstGeom>
            <a:solidFill>
              <a:srgbClr val="35D0BA"/>
            </a:solidFill>
            <a:ln w="0">
              <a:solidFill>
                <a:srgbClr val="35D0BA"/>
              </a:solidFill>
            </a:ln>
          </p:spPr>
        </p:sp>
        <p:sp>
          <p:nvSpPr>
            <p:cNvPr id="9" name="TextBox 9"/>
            <p:cNvSpPr txBox="1"/>
            <p:nvPr/>
          </p:nvSpPr>
          <p:spPr>
            <a:xfrm>
              <a:off x="849630" y="1400175"/>
              <a:ext cx="1559125"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The key insight</a:t>
              </a:r>
            </a:p>
          </p:txBody>
        </p:sp>
        <p:sp>
          <p:nvSpPr>
            <p:cNvPr id="10" name="Line 10"/>
            <p:cNvSpPr/>
            <p:nvPr/>
          </p:nvSpPr>
          <p:spPr>
            <a:xfrm>
              <a:off x="857250" y="1695450"/>
              <a:ext cx="4838700" cy="9525"/>
            </a:xfrm>
            <a:custGeom>
              <a:avLst/>
              <a:gdLst/>
              <a:ahLst/>
              <a:cxnLst/>
              <a:rect l="l" t="t" r="r" b="b"/>
              <a:pathLst>
                <a:path w="4838700" h="9525">
                  <a:moveTo>
                    <a:pt x="0" y="0"/>
                  </a:moveTo>
                  <a:lnTo>
                    <a:pt x="4838700" y="0"/>
                  </a:lnTo>
                </a:path>
              </a:pathLst>
            </a:custGeom>
            <a:noFill/>
            <a:ln w="9525">
              <a:solidFill>
                <a:srgbClr val="1E3A52"/>
              </a:solidFill>
            </a:ln>
          </p:spPr>
        </p:sp>
        <p:sp>
          <p:nvSpPr>
            <p:cNvPr id="11" name="TextBox 11"/>
            <p:cNvSpPr txBox="1"/>
            <p:nvPr/>
          </p:nvSpPr>
          <p:spPr>
            <a:xfrm>
              <a:off x="850773" y="1881664"/>
              <a:ext cx="4757285"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In the real world an attacker cannot conjure a different</a:t>
              </a:r>
            </a:p>
          </p:txBody>
        </p:sp>
        <p:sp>
          <p:nvSpPr>
            <p:cNvPr id="12" name="TextBox 12"/>
            <p:cNvSpPr txBox="1"/>
            <p:nvPr/>
          </p:nvSpPr>
          <p:spPr>
            <a:xfrm>
              <a:off x="850773" y="2129314"/>
              <a:ext cx="3398916"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graph for every node they want to fool.</a:t>
              </a:r>
            </a:p>
          </p:txBody>
        </p:sp>
      </p:grpSp>
      <p:grpSp>
        <p:nvGrpSpPr>
          <p:cNvPr id="21" name="Group 21"/>
          <p:cNvGrpSpPr/>
          <p:nvPr/>
        </p:nvGrpSpPr>
        <p:grpSpPr>
          <a:xfrm>
            <a:off x="6248400" y="1162050"/>
            <a:ext cx="5334000" cy="2457450"/>
            <a:chOff x="6248400" y="1162050"/>
            <a:chExt cx="5334000" cy="2457450"/>
          </a:xfrm>
        </p:grpSpPr>
        <p:sp>
          <p:nvSpPr>
            <p:cNvPr id="14" name="Rectangle 14"/>
            <p:cNvSpPr/>
            <p:nvPr/>
          </p:nvSpPr>
          <p:spPr>
            <a:xfrm>
              <a:off x="6248400" y="1162050"/>
              <a:ext cx="5334000" cy="2457450"/>
            </a:xfrm>
            <a:prstGeom prst="roundRect">
              <a:avLst>
                <a:gd name="adj" fmla="val 5426"/>
              </a:avLst>
            </a:prstGeom>
            <a:solidFill>
              <a:schemeClr val="accent5"/>
            </a:solidFill>
            <a:ln w="14288">
              <a:solidFill>
                <a:srgbClr val="1E3A52"/>
              </a:solidFill>
            </a:ln>
          </p:spPr>
        </p:sp>
        <p:sp>
          <p:nvSpPr>
            <p:cNvPr id="15" name="Rectangle 15"/>
            <p:cNvSpPr/>
            <p:nvPr/>
          </p:nvSpPr>
          <p:spPr>
            <a:xfrm>
              <a:off x="6248400" y="1162050"/>
              <a:ext cx="57150" cy="2457450"/>
            </a:xfrm>
            <a:prstGeom prst="roundRect">
              <a:avLst>
                <a:gd name="adj" fmla="val 50000"/>
              </a:avLst>
            </a:prstGeom>
            <a:solidFill>
              <a:srgbClr val="4C8DFF"/>
            </a:solidFill>
            <a:ln w="0">
              <a:solidFill>
                <a:srgbClr val="4C8DFF"/>
              </a:solidFill>
            </a:ln>
          </p:spPr>
        </p:sp>
        <p:sp>
          <p:nvSpPr>
            <p:cNvPr id="16" name="TextBox 16"/>
            <p:cNvSpPr txBox="1"/>
            <p:nvPr/>
          </p:nvSpPr>
          <p:spPr>
            <a:xfrm>
              <a:off x="6488430" y="1400175"/>
              <a:ext cx="2937779"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One shared perturbed graph</a:t>
              </a:r>
            </a:p>
          </p:txBody>
        </p:sp>
        <p:sp>
          <p:nvSpPr>
            <p:cNvPr id="17" name="Line 17"/>
            <p:cNvSpPr/>
            <p:nvPr/>
          </p:nvSpPr>
          <p:spPr>
            <a:xfrm>
              <a:off x="6496050" y="1695450"/>
              <a:ext cx="4838700" cy="9525"/>
            </a:xfrm>
            <a:custGeom>
              <a:avLst/>
              <a:gdLst/>
              <a:ahLst/>
              <a:cxnLst/>
              <a:rect l="l" t="t" r="r" b="b"/>
              <a:pathLst>
                <a:path w="4838700" h="9525">
                  <a:moveTo>
                    <a:pt x="0" y="0"/>
                  </a:moveTo>
                  <a:lnTo>
                    <a:pt x="4838700" y="0"/>
                  </a:lnTo>
                </a:path>
              </a:pathLst>
            </a:custGeom>
            <a:noFill/>
            <a:ln w="9525">
              <a:solidFill>
                <a:srgbClr val="1E3A52"/>
              </a:solidFill>
            </a:ln>
          </p:spPr>
        </p:sp>
        <p:sp>
          <p:nvSpPr>
            <p:cNvPr id="18" name="TextBox 18"/>
            <p:cNvSpPr txBox="1"/>
            <p:nvPr/>
          </p:nvSpPr>
          <p:spPr>
            <a:xfrm>
              <a:off x="6489573" y="1881664"/>
              <a:ext cx="4766035"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They inject a single perturbed graph, and that one graph</a:t>
              </a:r>
            </a:p>
          </p:txBody>
        </p:sp>
        <p:sp>
          <p:nvSpPr>
            <p:cNvPr id="19" name="TextBox 19"/>
            <p:cNvSpPr txBox="1"/>
            <p:nvPr/>
          </p:nvSpPr>
          <p:spPr>
            <a:xfrm>
              <a:off x="6489573" y="2129314"/>
              <a:ext cx="4424182"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has to disrupt the entire set of target nodes at the</a:t>
              </a:r>
            </a:p>
          </p:txBody>
        </p:sp>
        <p:sp>
          <p:nvSpPr>
            <p:cNvPr id="20" name="TextBox 20"/>
            <p:cNvSpPr txBox="1"/>
            <p:nvPr/>
          </p:nvSpPr>
          <p:spPr>
            <a:xfrm>
              <a:off x="6489573" y="2376964"/>
              <a:ext cx="943447"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same time.</a:t>
              </a:r>
            </a:p>
          </p:txBody>
        </p:sp>
      </p:grpSp>
      <p:grpSp>
        <p:nvGrpSpPr>
          <p:cNvPr id="28" name="Group 28"/>
          <p:cNvGrpSpPr/>
          <p:nvPr/>
        </p:nvGrpSpPr>
        <p:grpSpPr>
          <a:xfrm>
            <a:off x="609600" y="3810000"/>
            <a:ext cx="5334000" cy="2457450"/>
            <a:chOff x="609600" y="3810000"/>
            <a:chExt cx="5334000" cy="2457450"/>
          </a:xfrm>
        </p:grpSpPr>
        <p:sp>
          <p:nvSpPr>
            <p:cNvPr id="22" name="Rectangle 22"/>
            <p:cNvSpPr/>
            <p:nvPr/>
          </p:nvSpPr>
          <p:spPr>
            <a:xfrm>
              <a:off x="609600" y="3810000"/>
              <a:ext cx="5334000" cy="2457450"/>
            </a:xfrm>
            <a:prstGeom prst="roundRect">
              <a:avLst>
                <a:gd name="adj" fmla="val 5426"/>
              </a:avLst>
            </a:prstGeom>
            <a:solidFill>
              <a:schemeClr val="accent5"/>
            </a:solidFill>
            <a:ln w="14288">
              <a:solidFill>
                <a:srgbClr val="1E3A52"/>
              </a:solidFill>
            </a:ln>
          </p:spPr>
        </p:sp>
        <p:sp>
          <p:nvSpPr>
            <p:cNvPr id="23" name="Rectangle 23"/>
            <p:cNvSpPr/>
            <p:nvPr/>
          </p:nvSpPr>
          <p:spPr>
            <a:xfrm>
              <a:off x="609600" y="3810000"/>
              <a:ext cx="57150" cy="2457450"/>
            </a:xfrm>
            <a:prstGeom prst="roundRect">
              <a:avLst>
                <a:gd name="adj" fmla="val 50000"/>
              </a:avLst>
            </a:prstGeom>
            <a:solidFill>
              <a:srgbClr val="48D597"/>
            </a:solidFill>
            <a:ln w="0">
              <a:solidFill>
                <a:srgbClr val="48D597"/>
              </a:solidFill>
            </a:ln>
          </p:spPr>
        </p:sp>
        <p:sp>
          <p:nvSpPr>
            <p:cNvPr id="24" name="TextBox 24"/>
            <p:cNvSpPr txBox="1"/>
            <p:nvPr/>
          </p:nvSpPr>
          <p:spPr>
            <a:xfrm>
              <a:off x="849630" y="4048125"/>
              <a:ext cx="2629876"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So certify the set jointly</a:t>
              </a:r>
            </a:p>
          </p:txBody>
        </p:sp>
        <p:sp>
          <p:nvSpPr>
            <p:cNvPr id="25" name="Line 25"/>
            <p:cNvSpPr/>
            <p:nvPr/>
          </p:nvSpPr>
          <p:spPr>
            <a:xfrm>
              <a:off x="857250" y="4343400"/>
              <a:ext cx="4838700" cy="9525"/>
            </a:xfrm>
            <a:custGeom>
              <a:avLst/>
              <a:gdLst/>
              <a:ahLst/>
              <a:cxnLst/>
              <a:rect l="l" t="t" r="r" b="b"/>
              <a:pathLst>
                <a:path w="4838700" h="9525">
                  <a:moveTo>
                    <a:pt x="0" y="0"/>
                  </a:moveTo>
                  <a:lnTo>
                    <a:pt x="4838700" y="0"/>
                  </a:lnTo>
                </a:path>
              </a:pathLst>
            </a:custGeom>
            <a:noFill/>
            <a:ln w="9525">
              <a:solidFill>
                <a:srgbClr val="1E3A52"/>
              </a:solidFill>
            </a:ln>
          </p:spPr>
        </p:sp>
        <p:sp>
          <p:nvSpPr>
            <p:cNvPr id="26" name="TextBox 26"/>
            <p:cNvSpPr txBox="1"/>
            <p:nvPr/>
          </p:nvSpPr>
          <p:spPr>
            <a:xfrm>
              <a:off x="850773" y="4529614"/>
              <a:ext cx="4421230"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If we certify the whole target set jointly instead of</a:t>
              </a:r>
            </a:p>
          </p:txBody>
        </p:sp>
        <p:sp>
          <p:nvSpPr>
            <p:cNvPr id="27" name="TextBox 27"/>
            <p:cNvSpPr txBox="1"/>
            <p:nvPr/>
          </p:nvSpPr>
          <p:spPr>
            <a:xfrm>
              <a:off x="850773" y="4777264"/>
              <a:ext cx="4992817"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one node at a time, the guarantee becomes much stronger.</a:t>
              </a:r>
            </a:p>
          </p:txBody>
        </p:sp>
      </p:grpSp>
      <p:grpSp>
        <p:nvGrpSpPr>
          <p:cNvPr id="37" name="Group 37"/>
          <p:cNvGrpSpPr/>
          <p:nvPr/>
        </p:nvGrpSpPr>
        <p:grpSpPr>
          <a:xfrm>
            <a:off x="6248400" y="3810000"/>
            <a:ext cx="5334000" cy="2457450"/>
            <a:chOff x="6248400" y="3810000"/>
            <a:chExt cx="5334000" cy="2457450"/>
          </a:xfrm>
        </p:grpSpPr>
        <p:sp>
          <p:nvSpPr>
            <p:cNvPr id="29" name="Rectangle 29"/>
            <p:cNvSpPr/>
            <p:nvPr/>
          </p:nvSpPr>
          <p:spPr>
            <a:xfrm>
              <a:off x="6248400" y="3810000"/>
              <a:ext cx="5334000" cy="2457450"/>
            </a:xfrm>
            <a:prstGeom prst="roundRect">
              <a:avLst>
                <a:gd name="adj" fmla="val 5426"/>
              </a:avLst>
            </a:prstGeom>
            <a:solidFill>
              <a:schemeClr val="accent5"/>
            </a:solidFill>
            <a:ln w="14288">
              <a:solidFill>
                <a:srgbClr val="1E3A52"/>
              </a:solidFill>
            </a:ln>
          </p:spPr>
        </p:sp>
        <p:sp>
          <p:nvSpPr>
            <p:cNvPr id="30" name="Rectangle 30"/>
            <p:cNvSpPr/>
            <p:nvPr/>
          </p:nvSpPr>
          <p:spPr>
            <a:xfrm>
              <a:off x="6248400" y="3810000"/>
              <a:ext cx="57150" cy="2457450"/>
            </a:xfrm>
            <a:prstGeom prst="roundRect">
              <a:avLst>
                <a:gd name="adj" fmla="val 50000"/>
              </a:avLst>
            </a:prstGeom>
            <a:solidFill>
              <a:srgbClr val="F5B841"/>
            </a:solidFill>
            <a:ln w="0">
              <a:solidFill>
                <a:srgbClr val="F5B841"/>
              </a:solidFill>
            </a:ln>
          </p:spPr>
        </p:sp>
        <p:sp>
          <p:nvSpPr>
            <p:cNvPr id="31" name="TextBox 31"/>
            <p:cNvSpPr txBox="1"/>
            <p:nvPr/>
          </p:nvSpPr>
          <p:spPr>
            <a:xfrm>
              <a:off x="6488430" y="4048125"/>
              <a:ext cx="4432325"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Prior collective methods do not carry over</a:t>
              </a:r>
            </a:p>
          </p:txBody>
        </p:sp>
        <p:sp>
          <p:nvSpPr>
            <p:cNvPr id="32" name="Line 32"/>
            <p:cNvSpPr/>
            <p:nvPr/>
          </p:nvSpPr>
          <p:spPr>
            <a:xfrm>
              <a:off x="6496050" y="4343400"/>
              <a:ext cx="4838700" cy="9525"/>
            </a:xfrm>
            <a:custGeom>
              <a:avLst/>
              <a:gdLst/>
              <a:ahLst/>
              <a:cxnLst/>
              <a:rect l="l" t="t" r="r" b="b"/>
              <a:pathLst>
                <a:path w="4838700" h="9525">
                  <a:moveTo>
                    <a:pt x="0" y="0"/>
                  </a:moveTo>
                  <a:lnTo>
                    <a:pt x="4838700" y="0"/>
                  </a:lnTo>
                </a:path>
              </a:pathLst>
            </a:custGeom>
            <a:noFill/>
            <a:ln w="9525">
              <a:solidFill>
                <a:srgbClr val="1E3A52"/>
              </a:solidFill>
            </a:ln>
          </p:spPr>
        </p:sp>
        <p:sp>
          <p:nvSpPr>
            <p:cNvPr id="33" name="TextBox 33"/>
            <p:cNvSpPr txBox="1"/>
            <p:nvPr/>
          </p:nvSpPr>
          <p:spPr>
            <a:xfrm>
              <a:off x="6489573" y="4529614"/>
              <a:ext cx="4162551"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Collective methods existed for edge-modification</a:t>
              </a:r>
            </a:p>
          </p:txBody>
        </p:sp>
        <p:sp>
          <p:nvSpPr>
            <p:cNvPr id="34" name="TextBox 34"/>
            <p:cNvSpPr txBox="1"/>
            <p:nvPr/>
          </p:nvSpPr>
          <p:spPr>
            <a:xfrm>
              <a:off x="6489573" y="4777264"/>
              <a:ext cx="4699884"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attacks, but they assume a fixed receptive field and do</a:t>
              </a:r>
            </a:p>
          </p:txBody>
        </p:sp>
        <p:sp>
          <p:nvSpPr>
            <p:cNvPr id="35" name="TextBox 35"/>
            <p:cNvSpPr txBox="1"/>
            <p:nvPr/>
          </p:nvSpPr>
          <p:spPr>
            <a:xfrm>
              <a:off x="6489573" y="5024914"/>
              <a:ext cx="4794656"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not carry over to injection, which expands the receptive</a:t>
              </a:r>
            </a:p>
          </p:txBody>
        </p:sp>
        <p:sp>
          <p:nvSpPr>
            <p:cNvPr id="36" name="TextBox 36"/>
            <p:cNvSpPr txBox="1"/>
            <p:nvPr/>
          </p:nvSpPr>
          <p:spPr>
            <a:xfrm>
              <a:off x="6489573" y="5272564"/>
              <a:ext cx="2209952"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field by adding new edges.</a:t>
              </a:r>
            </a:p>
          </p:txBody>
        </p:sp>
      </p:grpSp>
      <p:sp>
        <p:nvSpPr>
          <p:cNvPr id="38" name="cue_s03_c1_key_insight_real_world_attacker" title="cue_s03_c1_key_insight_real_world_attacker" descr="cue_s03_c1_key_insight_real_world_attacker Here is the key insight. In the real world, an attacker cannot conjure a different graph for every node they want to fool."/>
          <p:cNvSpPr/>
          <p:nvPr/>
        </p:nvSpPr>
        <p:spPr>
          <a:xfrm>
            <a:off x="609600"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3_c2_they_inject_one_perturbed_graph" title="cue_s03_c2_they_inject_one_perturbed_graph" descr="cue_s03_c2_they_inject_one_perturbed_graph They inject one perturbed graph, and that single graph has to disrupt the entire set of target nodes at the same time."/>
          <p:cNvSpPr/>
          <p:nvPr/>
        </p:nvSpPr>
        <p:spPr>
          <a:xfrm>
            <a:off x="6248399"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3_c3_certify_whole_target_set_jointly" title="cue_s03_c3_certify_whole_target_set_jointly" descr="cue_s03_c3_certify_whole_target_set_jointly If we certify the whole target set jointly instead of one node at a time, the guarantee should be much stronger."/>
          <p:cNvSpPr/>
          <p:nvPr/>
        </p:nvSpPr>
        <p:spPr>
          <a:xfrm>
            <a:off x="609600"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3_c4_prior_collective_methods_existed_edg" title="cue_s03_c4_prior_collective_methods_existed_edg" descr="cue_s03_c4_prior_collective_methods_existed_edg Prior collective methods existed for edge-modification attacks, but they assume a fixed receptive field and simply do not carry over to injection attacks, which expand the receptive field by adding new edges."/>
          <p:cNvSpPr/>
          <p:nvPr/>
        </p:nvSpPr>
        <p:spPr>
          <a:xfrm>
            <a:off x="6248399"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57150" cy="381000"/>
          </a:xfrm>
          <a:prstGeom prst="roundRect">
            <a:avLst>
              <a:gd name="adj" fmla="val 50000"/>
            </a:avLst>
          </a:prstGeom>
          <a:solidFill>
            <a:srgbClr val="35D0BA"/>
          </a:solidFill>
          <a:ln w="0">
            <a:solidFill>
              <a:srgbClr val="35D0BA"/>
            </a:solidFill>
          </a:ln>
        </p:spPr>
        <p:txBody>
          <a:bodyPr/>
          <a:p/>
        </p:txBody>
      </p:sp>
      <p:sp>
        <p:nvSpPr>
          <p:cNvPr id="3" name="TextBox 3"/>
          <p:cNvSpPr txBox="1"/>
          <p:nvPr/>
        </p:nvSpPr>
        <p:spPr>
          <a:xfrm>
            <a:off x="813435" y="469106"/>
            <a:ext cx="1333409" cy="220028"/>
          </a:xfrm>
          <a:prstGeom prst="rect">
            <a:avLst/>
          </a:prstGeom>
          <a:noFill/>
          <a:ln>
            <a:noFill/>
          </a:ln>
        </p:spPr>
        <p:txBody>
          <a:bodyPr wrap="none" lIns="0" tIns="0" rIns="0" bIns="0" anchor="t" anchorCtr="0">
            <a:spAutoFit/>
          </a:bodyPr>
          <a:lstStyle/>
          <a:p>
            <a:pPr algn="l"/>
            <a:r>
              <a:rPr lang="en-US" sz="1120" b="1" spc="150" dirty="0">
                <a:solidFill>
                  <a:srgbClr val="35D0BA"/>
                </a:solidFill>
                <a:latin typeface="+mn-lt"/>
                <a:ea typeface="+mn-ea"/>
                <a:cs typeface="+mn-cs"/>
              </a:rPr>
              <a:t>CONTRIBUTION</a:t>
            </a:r>
          </a:p>
        </p:txBody>
      </p:sp>
      <p:sp>
        <p:nvSpPr>
          <p:cNvPr id="4" name="TextBox 4"/>
          <p:cNvSpPr txBox="1"/>
          <p:nvPr/>
        </p:nvSpPr>
        <p:spPr>
          <a:xfrm>
            <a:off x="807720" y="614362"/>
            <a:ext cx="696569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first collective certificate for injection</a:t>
            </a:r>
          </a:p>
        </p:txBody>
      </p:sp>
      <p:sp>
        <p:nvSpPr>
          <p:cNvPr id="5" name="TextBox 5"/>
          <p:cNvSpPr txBox="1"/>
          <p:nvPr/>
        </p:nvSpPr>
        <p:spPr>
          <a:xfrm>
            <a:off x="11046336" y="526256"/>
            <a:ext cx="541779" cy="220028"/>
          </a:xfrm>
          <a:prstGeom prst="rect">
            <a:avLst/>
          </a:prstGeom>
          <a:noFill/>
          <a:ln>
            <a:noFill/>
          </a:ln>
        </p:spPr>
        <p:txBody>
          <a:bodyPr wrap="none" lIns="0" tIns="0" rIns="0" bIns="0" anchor="t" anchorCtr="0">
            <a:spAutoFit/>
          </a:bodyPr>
          <a:lstStyle/>
          <a:p>
            <a:pPr algn="r"/>
            <a:r>
              <a:rPr lang="en-US" sz="1120" b="1" dirty="0">
                <a:solidFill>
                  <a:srgbClr val="9DB2C4"/>
                </a:solidFill>
                <a:latin typeface="+mn-lt"/>
                <a:ea typeface="+mn-ea"/>
                <a:cs typeface="+mn-cs"/>
              </a:rPr>
              <a:t>04 / 10</a:t>
            </a:r>
          </a:p>
        </p:txBody>
      </p:sp>
      <p:sp>
        <p:nvSpPr>
          <p:cNvPr id="6" name="Line 6"/>
          <p:cNvSpPr/>
          <p:nvPr/>
        </p:nvSpPr>
        <p:spPr>
          <a:xfrm>
            <a:off x="609600" y="990600"/>
            <a:ext cx="10972800" cy="9525"/>
          </a:xfrm>
          <a:custGeom>
            <a:avLst/>
            <a:gdLst/>
            <a:ahLst/>
            <a:cxnLst/>
            <a:rect l="l" t="t" r="r" b="b"/>
            <a:pathLst>
              <a:path w="10972800" h="9525">
                <a:moveTo>
                  <a:pt x="0" y="0"/>
                </a:moveTo>
                <a:lnTo>
                  <a:pt x="10972800" y="0"/>
                </a:lnTo>
              </a:path>
            </a:pathLst>
          </a:custGeom>
          <a:noFill/>
          <a:ln w="14288">
            <a:solidFill>
              <a:srgbClr val="1E3A52"/>
            </a:solidFill>
          </a:ln>
        </p:spPr>
        <p:txBody>
          <a:bodyPr/>
          <a:p/>
        </p:txBody>
      </p:sp>
      <p:grpSp>
        <p:nvGrpSpPr>
          <p:cNvPr id="16" name="Group 16"/>
          <p:cNvGrpSpPr/>
          <p:nvPr/>
        </p:nvGrpSpPr>
        <p:grpSpPr>
          <a:xfrm>
            <a:off x="609600" y="1333500"/>
            <a:ext cx="3505200" cy="4476750"/>
            <a:chOff x="609600" y="1333500"/>
            <a:chExt cx="3505200" cy="4476750"/>
          </a:xfrm>
        </p:grpSpPr>
        <p:sp>
          <p:nvSpPr>
            <p:cNvPr id="7" name="Rectangle 7"/>
            <p:cNvSpPr/>
            <p:nvPr/>
          </p:nvSpPr>
          <p:spPr>
            <a:xfrm>
              <a:off x="609600" y="1333500"/>
              <a:ext cx="3505200" cy="4476750"/>
            </a:xfrm>
            <a:prstGeom prst="roundRect">
              <a:avLst>
                <a:gd name="adj" fmla="val 3804"/>
              </a:avLst>
            </a:prstGeom>
            <a:solidFill>
              <a:schemeClr val="accent5"/>
            </a:solidFill>
            <a:ln w="14288">
              <a:solidFill>
                <a:srgbClr val="1E3A52"/>
              </a:solidFill>
            </a:ln>
          </p:spPr>
        </p:sp>
        <p:sp>
          <p:nvSpPr>
            <p:cNvPr id="8" name="Rectangle 8"/>
            <p:cNvSpPr/>
            <p:nvPr/>
          </p:nvSpPr>
          <p:spPr>
            <a:xfrm>
              <a:off x="609600" y="1333500"/>
              <a:ext cx="3505200" cy="76200"/>
            </a:xfrm>
            <a:prstGeom prst="roundRect">
              <a:avLst>
                <a:gd name="adj" fmla="val 50000"/>
              </a:avLst>
            </a:prstGeom>
            <a:solidFill>
              <a:srgbClr val="35D0BA"/>
            </a:solidFill>
            <a:ln w="0">
              <a:solidFill>
                <a:srgbClr val="35D0BA"/>
              </a:solidFill>
            </a:ln>
          </p:spPr>
        </p:sp>
        <p:sp>
          <p:nvSpPr>
            <p:cNvPr id="9" name="Ellipse 9"/>
            <p:cNvSpPr/>
            <p:nvPr/>
          </p:nvSpPr>
          <p:spPr>
            <a:xfrm>
              <a:off x="838200" y="1733550"/>
              <a:ext cx="381000" cy="381000"/>
            </a:xfrm>
            <a:prstGeom prst="ellipse">
              <a:avLst/>
            </a:prstGeom>
            <a:solidFill>
              <a:srgbClr val="35D0BA"/>
            </a:solidFill>
            <a:ln w="0">
              <a:solidFill>
                <a:srgbClr val="10263B"/>
              </a:solidFill>
            </a:ln>
          </p:spPr>
        </p:sp>
        <p:sp>
          <p:nvSpPr>
            <p:cNvPr id="10" name="TextBox 10"/>
            <p:cNvSpPr txBox="1"/>
            <p:nvPr/>
          </p:nvSpPr>
          <p:spPr>
            <a:xfrm>
              <a:off x="956180" y="1812608"/>
              <a:ext cx="145040" cy="322707"/>
            </a:xfrm>
            <a:prstGeom prst="rect">
              <a:avLst/>
            </a:prstGeom>
            <a:noFill/>
            <a:ln>
              <a:noFill/>
            </a:ln>
          </p:spPr>
          <p:txBody>
            <a:bodyPr wrap="none" lIns="0" tIns="0" rIns="0" bIns="0" anchor="t" anchorCtr="0">
              <a:spAutoFit/>
            </a:bodyPr>
            <a:lstStyle/>
            <a:p>
              <a:pPr algn="ctr"/>
              <a:r>
                <a:rPr lang="en-US" sz="1650" b="1" dirty="0">
                  <a:solidFill>
                    <a:srgbClr val="08131F"/>
                  </a:solidFill>
                  <a:latin typeface="+mn-lt"/>
                  <a:ea typeface="+mn-ea"/>
                  <a:cs typeface="+mn-cs"/>
                </a:rPr>
                <a:t>1</a:t>
              </a:r>
            </a:p>
          </p:txBody>
        </p:sp>
        <p:sp>
          <p:nvSpPr>
            <p:cNvPr id="11" name="TextBox 11"/>
            <p:cNvSpPr txBox="1"/>
            <p:nvPr/>
          </p:nvSpPr>
          <p:spPr>
            <a:xfrm>
              <a:off x="1325499" y="1696879"/>
              <a:ext cx="2557682"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First collective scheme</a:t>
              </a:r>
            </a:p>
          </p:txBody>
        </p:sp>
        <p:sp>
          <p:nvSpPr>
            <p:cNvPr id="12" name="TextBox 12"/>
            <p:cNvSpPr txBox="1"/>
            <p:nvPr/>
          </p:nvSpPr>
          <p:spPr>
            <a:xfrm>
              <a:off x="926592" y="2597468"/>
              <a:ext cx="2608898"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The first collective certified</a:t>
              </a:r>
            </a:p>
          </p:txBody>
        </p:sp>
        <p:sp>
          <p:nvSpPr>
            <p:cNvPr id="13" name="TextBox 13"/>
            <p:cNvSpPr txBox="1"/>
            <p:nvPr/>
          </p:nvSpPr>
          <p:spPr>
            <a:xfrm>
              <a:off x="926592" y="2854642"/>
              <a:ext cx="2612555"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robustness scheme for graph</a:t>
              </a:r>
            </a:p>
          </p:txBody>
        </p:sp>
        <p:sp>
          <p:nvSpPr>
            <p:cNvPr id="14" name="TextBox 14"/>
            <p:cNvSpPr txBox="1"/>
            <p:nvPr/>
          </p:nvSpPr>
          <p:spPr>
            <a:xfrm>
              <a:off x="926592" y="3111818"/>
              <a:ext cx="2721597"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neural networks against graph</a:t>
              </a:r>
            </a:p>
          </p:txBody>
        </p:sp>
        <p:sp>
          <p:nvSpPr>
            <p:cNvPr id="15" name="TextBox 15"/>
            <p:cNvSpPr txBox="1"/>
            <p:nvPr/>
          </p:nvSpPr>
          <p:spPr>
            <a:xfrm>
              <a:off x="926592" y="3368992"/>
              <a:ext cx="1631175"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injection attacks.</a:t>
              </a:r>
            </a:p>
          </p:txBody>
        </p:sp>
      </p:grpSp>
      <p:grpSp>
        <p:nvGrpSpPr>
          <p:cNvPr id="30" name="Group 30"/>
          <p:cNvGrpSpPr/>
          <p:nvPr/>
        </p:nvGrpSpPr>
        <p:grpSpPr>
          <a:xfrm>
            <a:off x="4343400" y="1333500"/>
            <a:ext cx="3505200" cy="4476750"/>
            <a:chOff x="4343400" y="1333500"/>
            <a:chExt cx="3505200" cy="4476750"/>
          </a:xfrm>
        </p:grpSpPr>
        <p:sp>
          <p:nvSpPr>
            <p:cNvPr id="17" name="Rectangle 17"/>
            <p:cNvSpPr/>
            <p:nvPr/>
          </p:nvSpPr>
          <p:spPr>
            <a:xfrm>
              <a:off x="4343400" y="1333500"/>
              <a:ext cx="3505200" cy="4476750"/>
            </a:xfrm>
            <a:prstGeom prst="roundRect">
              <a:avLst>
                <a:gd name="adj" fmla="val 3804"/>
              </a:avLst>
            </a:prstGeom>
            <a:solidFill>
              <a:schemeClr val="accent5"/>
            </a:solidFill>
            <a:ln w="14288">
              <a:solidFill>
                <a:srgbClr val="1E3A52"/>
              </a:solidFill>
            </a:ln>
          </p:spPr>
        </p:sp>
        <p:sp>
          <p:nvSpPr>
            <p:cNvPr id="18" name="Rectangle 18"/>
            <p:cNvSpPr/>
            <p:nvPr/>
          </p:nvSpPr>
          <p:spPr>
            <a:xfrm>
              <a:off x="4343400" y="1333500"/>
              <a:ext cx="3505200" cy="76200"/>
            </a:xfrm>
            <a:prstGeom prst="roundRect">
              <a:avLst>
                <a:gd name="adj" fmla="val 50000"/>
              </a:avLst>
            </a:prstGeom>
            <a:solidFill>
              <a:srgbClr val="4C8DFF"/>
            </a:solidFill>
            <a:ln w="0">
              <a:solidFill>
                <a:srgbClr val="4C8DFF"/>
              </a:solidFill>
            </a:ln>
          </p:spPr>
        </p:sp>
        <p:sp>
          <p:nvSpPr>
            <p:cNvPr id="19" name="Ellipse 19"/>
            <p:cNvSpPr/>
            <p:nvPr/>
          </p:nvSpPr>
          <p:spPr>
            <a:xfrm>
              <a:off x="4572000" y="1733550"/>
              <a:ext cx="381000" cy="381000"/>
            </a:xfrm>
            <a:prstGeom prst="ellipse">
              <a:avLst/>
            </a:prstGeom>
            <a:solidFill>
              <a:srgbClr val="4C8DFF"/>
            </a:solidFill>
            <a:ln w="0">
              <a:solidFill>
                <a:srgbClr val="10263B"/>
              </a:solidFill>
            </a:ln>
          </p:spPr>
        </p:sp>
        <p:sp>
          <p:nvSpPr>
            <p:cNvPr id="20" name="TextBox 20"/>
            <p:cNvSpPr txBox="1"/>
            <p:nvPr/>
          </p:nvSpPr>
          <p:spPr>
            <a:xfrm>
              <a:off x="4689980" y="1812608"/>
              <a:ext cx="145040" cy="322707"/>
            </a:xfrm>
            <a:prstGeom prst="rect">
              <a:avLst/>
            </a:prstGeom>
            <a:noFill/>
            <a:ln>
              <a:noFill/>
            </a:ln>
          </p:spPr>
          <p:txBody>
            <a:bodyPr wrap="none" lIns="0" tIns="0" rIns="0" bIns="0" anchor="t" anchorCtr="0">
              <a:spAutoFit/>
            </a:bodyPr>
            <a:lstStyle/>
            <a:p>
              <a:pPr algn="ctr"/>
              <a:r>
                <a:rPr lang="en-US" sz="1650" b="1" dirty="0">
                  <a:solidFill>
                    <a:srgbClr val="08131F"/>
                  </a:solidFill>
                  <a:latin typeface="+mn-lt"/>
                  <a:ea typeface="+mn-ea"/>
                  <a:cs typeface="+mn-cs"/>
                </a:rPr>
                <a:t>2</a:t>
              </a:r>
            </a:p>
          </p:txBody>
        </p:sp>
        <p:sp>
          <p:nvSpPr>
            <p:cNvPr id="21" name="TextBox 21"/>
            <p:cNvSpPr txBox="1"/>
            <p:nvPr/>
          </p:nvSpPr>
          <p:spPr>
            <a:xfrm>
              <a:off x="5059299" y="1696879"/>
              <a:ext cx="1430250"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A customized</a:t>
              </a:r>
            </a:p>
          </p:txBody>
        </p:sp>
        <p:sp>
          <p:nvSpPr>
            <p:cNvPr id="22" name="TextBox 22"/>
            <p:cNvSpPr txBox="1"/>
            <p:nvPr/>
          </p:nvSpPr>
          <p:spPr>
            <a:xfrm>
              <a:off x="5059299" y="1954054"/>
              <a:ext cx="1389510"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linearization</a:t>
              </a:r>
            </a:p>
          </p:txBody>
        </p:sp>
        <p:sp>
          <p:nvSpPr>
            <p:cNvPr id="23" name="TextBox 23"/>
            <p:cNvSpPr txBox="1"/>
            <p:nvPr/>
          </p:nvSpPr>
          <p:spPr>
            <a:xfrm>
              <a:off x="4660392" y="2597468"/>
              <a:ext cx="2045819"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Cast certification as a</a:t>
              </a:r>
            </a:p>
          </p:txBody>
        </p:sp>
        <p:sp>
          <p:nvSpPr>
            <p:cNvPr id="24" name="TextBox 24"/>
            <p:cNvSpPr txBox="1"/>
            <p:nvPr/>
          </p:nvSpPr>
          <p:spPr>
            <a:xfrm>
              <a:off x="4660392" y="2854642"/>
              <a:ext cx="2458079"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worst-case optimization: a</a:t>
              </a:r>
            </a:p>
          </p:txBody>
        </p:sp>
        <p:sp>
          <p:nvSpPr>
            <p:cNvPr id="25" name="TextBox 25"/>
            <p:cNvSpPr txBox="1"/>
            <p:nvPr/>
          </p:nvSpPr>
          <p:spPr>
            <a:xfrm>
              <a:off x="4660392" y="3111818"/>
              <a:ext cx="2185473"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binary integer quadratic</a:t>
              </a:r>
            </a:p>
          </p:txBody>
        </p:sp>
        <p:sp>
          <p:nvSpPr>
            <p:cNvPr id="26" name="TextBox 26"/>
            <p:cNvSpPr txBox="1"/>
            <p:nvPr/>
          </p:nvSpPr>
          <p:spPr>
            <a:xfrm>
              <a:off x="4660392" y="3368992"/>
              <a:ext cx="2521687"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constrained linear program,</a:t>
              </a:r>
            </a:p>
          </p:txBody>
        </p:sp>
        <p:sp>
          <p:nvSpPr>
            <p:cNvPr id="27" name="TextBox 27"/>
            <p:cNvSpPr txBox="1"/>
            <p:nvPr/>
          </p:nvSpPr>
          <p:spPr>
            <a:xfrm>
              <a:off x="4660392" y="3626168"/>
              <a:ext cx="2621642"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then relax that hard program</a:t>
              </a:r>
            </a:p>
          </p:txBody>
        </p:sp>
        <p:sp>
          <p:nvSpPr>
            <p:cNvPr id="28" name="TextBox 28"/>
            <p:cNvSpPr txBox="1"/>
            <p:nvPr/>
          </p:nvSpPr>
          <p:spPr>
            <a:xfrm>
              <a:off x="4660392" y="3883342"/>
              <a:ext cx="2785205"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into an ordinary linear program</a:t>
              </a:r>
            </a:p>
          </p:txBody>
        </p:sp>
        <p:sp>
          <p:nvSpPr>
            <p:cNvPr id="29" name="TextBox 29"/>
            <p:cNvSpPr txBox="1"/>
            <p:nvPr/>
          </p:nvSpPr>
          <p:spPr>
            <a:xfrm>
              <a:off x="4660392" y="4140518"/>
              <a:ext cx="2140039"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that solves efficiently.</a:t>
              </a:r>
            </a:p>
          </p:txBody>
        </p:sp>
      </p:grpSp>
      <p:grpSp>
        <p:nvGrpSpPr>
          <p:cNvPr id="41" name="Group 41"/>
          <p:cNvGrpSpPr/>
          <p:nvPr/>
        </p:nvGrpSpPr>
        <p:grpSpPr>
          <a:xfrm>
            <a:off x="8077200" y="1333500"/>
            <a:ext cx="3505200" cy="4476750"/>
            <a:chOff x="8077200" y="1333500"/>
            <a:chExt cx="3505200" cy="4476750"/>
          </a:xfrm>
        </p:grpSpPr>
        <p:sp>
          <p:nvSpPr>
            <p:cNvPr id="31" name="Rectangle 31"/>
            <p:cNvSpPr/>
            <p:nvPr/>
          </p:nvSpPr>
          <p:spPr>
            <a:xfrm>
              <a:off x="8077200" y="1333500"/>
              <a:ext cx="3505200" cy="4476750"/>
            </a:xfrm>
            <a:prstGeom prst="roundRect">
              <a:avLst>
                <a:gd name="adj" fmla="val 3804"/>
              </a:avLst>
            </a:prstGeom>
            <a:solidFill>
              <a:schemeClr val="accent5"/>
            </a:solidFill>
            <a:ln w="14288">
              <a:solidFill>
                <a:srgbClr val="1E3A52"/>
              </a:solidFill>
            </a:ln>
          </p:spPr>
        </p:sp>
        <p:sp>
          <p:nvSpPr>
            <p:cNvPr id="32" name="Rectangle 32"/>
            <p:cNvSpPr/>
            <p:nvPr/>
          </p:nvSpPr>
          <p:spPr>
            <a:xfrm>
              <a:off x="8077200" y="1333500"/>
              <a:ext cx="3505200" cy="76200"/>
            </a:xfrm>
            <a:prstGeom prst="roundRect">
              <a:avLst>
                <a:gd name="adj" fmla="val 50000"/>
              </a:avLst>
            </a:prstGeom>
            <a:solidFill>
              <a:srgbClr val="48D597"/>
            </a:solidFill>
            <a:ln w="0">
              <a:solidFill>
                <a:srgbClr val="48D597"/>
              </a:solidFill>
            </a:ln>
          </p:spPr>
        </p:sp>
        <p:sp>
          <p:nvSpPr>
            <p:cNvPr id="33" name="Ellipse 33"/>
            <p:cNvSpPr/>
            <p:nvPr/>
          </p:nvSpPr>
          <p:spPr>
            <a:xfrm>
              <a:off x="8305800" y="1733550"/>
              <a:ext cx="381000" cy="381000"/>
            </a:xfrm>
            <a:prstGeom prst="ellipse">
              <a:avLst/>
            </a:prstGeom>
            <a:solidFill>
              <a:srgbClr val="48D597"/>
            </a:solidFill>
            <a:ln w="0">
              <a:solidFill>
                <a:srgbClr val="10263B"/>
              </a:solidFill>
            </a:ln>
          </p:spPr>
        </p:sp>
        <p:sp>
          <p:nvSpPr>
            <p:cNvPr id="34" name="TextBox 34"/>
            <p:cNvSpPr txBox="1"/>
            <p:nvPr/>
          </p:nvSpPr>
          <p:spPr>
            <a:xfrm>
              <a:off x="8423780" y="1812608"/>
              <a:ext cx="145040" cy="322707"/>
            </a:xfrm>
            <a:prstGeom prst="rect">
              <a:avLst/>
            </a:prstGeom>
            <a:noFill/>
            <a:ln>
              <a:noFill/>
            </a:ln>
          </p:spPr>
          <p:txBody>
            <a:bodyPr wrap="none" lIns="0" tIns="0" rIns="0" bIns="0" anchor="t" anchorCtr="0">
              <a:spAutoFit/>
            </a:bodyPr>
            <a:lstStyle/>
            <a:p>
              <a:pPr algn="ctr"/>
              <a:r>
                <a:rPr lang="en-US" sz="1650" b="1" dirty="0">
                  <a:solidFill>
                    <a:srgbClr val="08131F"/>
                  </a:solidFill>
                  <a:latin typeface="+mn-lt"/>
                  <a:ea typeface="+mn-ea"/>
                  <a:cs typeface="+mn-cs"/>
                </a:rPr>
                <a:t>3</a:t>
              </a:r>
            </a:p>
          </p:txBody>
        </p:sp>
        <p:sp>
          <p:nvSpPr>
            <p:cNvPr id="35" name="TextBox 35"/>
            <p:cNvSpPr txBox="1"/>
            <p:nvPr/>
          </p:nvSpPr>
          <p:spPr>
            <a:xfrm>
              <a:off x="8793099" y="1696879"/>
              <a:ext cx="2468801"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Almost model-agnostic</a:t>
              </a:r>
            </a:p>
          </p:txBody>
        </p:sp>
        <p:sp>
          <p:nvSpPr>
            <p:cNvPr id="36" name="TextBox 36"/>
            <p:cNvSpPr txBox="1"/>
            <p:nvPr/>
          </p:nvSpPr>
          <p:spPr>
            <a:xfrm>
              <a:off x="8394192" y="2597468"/>
              <a:ext cx="1473942"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It works for any</a:t>
              </a:r>
            </a:p>
          </p:txBody>
        </p:sp>
        <p:sp>
          <p:nvSpPr>
            <p:cNvPr id="37" name="TextBox 37"/>
            <p:cNvSpPr txBox="1"/>
            <p:nvPr/>
          </p:nvSpPr>
          <p:spPr>
            <a:xfrm>
              <a:off x="8394192" y="2854642"/>
              <a:ext cx="2685850"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message-passing GNN and buys</a:t>
              </a:r>
            </a:p>
          </p:txBody>
        </p:sp>
        <p:sp>
          <p:nvSpPr>
            <p:cNvPr id="38" name="TextBox 38"/>
            <p:cNvSpPr txBox="1"/>
            <p:nvPr/>
          </p:nvSpPr>
          <p:spPr>
            <a:xfrm>
              <a:off x="8394192" y="3111818"/>
              <a:ext cx="1994649"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huge gains in certified</a:t>
              </a:r>
            </a:p>
          </p:txBody>
        </p:sp>
        <p:sp>
          <p:nvSpPr>
            <p:cNvPr id="39" name="TextBox 39"/>
            <p:cNvSpPr txBox="1"/>
            <p:nvPr/>
          </p:nvSpPr>
          <p:spPr>
            <a:xfrm>
              <a:off x="8394192" y="3368992"/>
              <a:ext cx="2376297"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performance at very little</a:t>
              </a:r>
            </a:p>
          </p:txBody>
        </p:sp>
        <p:sp>
          <p:nvSpPr>
            <p:cNvPr id="40" name="TextBox 40"/>
            <p:cNvSpPr txBox="1"/>
            <p:nvPr/>
          </p:nvSpPr>
          <p:spPr>
            <a:xfrm>
              <a:off x="8394192" y="3626168"/>
              <a:ext cx="1812912"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computational cost.</a:t>
              </a:r>
            </a:p>
          </p:txBody>
        </p:sp>
      </p:grpSp>
      <p:sp>
        <p:nvSpPr>
          <p:cNvPr id="42" name="cue_s04_c1_delivers_first_collective_certified" title="cue_s04_c1_delivers_first_collective_certified" descr="cue_s04_c1_delivers_first_collective_certified This paper delivers the first collective certified robustness scheme for graph neural networks against injection attacks."/>
          <p:cNvSpPr/>
          <p:nvPr/>
        </p:nvSpPr>
        <p:spPr>
          <a:xfrm>
            <a:off x="609600" y="1333195"/>
            <a:ext cx="3505199" cy="44769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4_c2_authors_cast_certification_worst_cas" title="cue_s04_c2_authors_cast_certification_worst_cas" descr="cue_s04_c2_authors_cast_certification_worst_cas The authors cast certification as a worst-case optimization problem, a binary integer quadratic constrained linear program, and then introduce a customized linearization that relaxes this hard program into an ordinary linear program that can be solved efficien"/>
          <p:cNvSpPr/>
          <p:nvPr/>
        </p:nvSpPr>
        <p:spPr>
          <a:xfrm>
            <a:off x="4344009" y="1333195"/>
            <a:ext cx="3505199" cy="44769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4_c3_result_almost_model_agnostic_works_a" title="cue_s04_c3_result_almost_model_agnostic_works_a" descr="cue_s04_c3_result_almost_model_agnostic_works_a The result is almost model-agnostic: it works for any message-passing GNN, and it buys huge gains in certified performance at very little computational cost."/>
          <p:cNvSpPr/>
          <p:nvPr/>
        </p:nvSpPr>
        <p:spPr>
          <a:xfrm>
            <a:off x="8077200" y="1333195"/>
            <a:ext cx="3505199" cy="44769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57150" cy="381000"/>
          </a:xfrm>
          <a:prstGeom prst="roundRect">
            <a:avLst>
              <a:gd name="adj" fmla="val 50000"/>
            </a:avLst>
          </a:prstGeom>
          <a:solidFill>
            <a:srgbClr val="35D0BA"/>
          </a:solidFill>
          <a:ln w="0">
            <a:solidFill>
              <a:srgbClr val="35D0BA"/>
            </a:solidFill>
          </a:ln>
        </p:spPr>
        <p:txBody>
          <a:bodyPr/>
          <a:p/>
        </p:txBody>
      </p:sp>
      <p:sp>
        <p:nvSpPr>
          <p:cNvPr id="3" name="TextBox 3"/>
          <p:cNvSpPr txBox="1"/>
          <p:nvPr/>
        </p:nvSpPr>
        <p:spPr>
          <a:xfrm>
            <a:off x="813435" y="469106"/>
            <a:ext cx="737025" cy="220028"/>
          </a:xfrm>
          <a:prstGeom prst="rect">
            <a:avLst/>
          </a:prstGeom>
          <a:noFill/>
          <a:ln>
            <a:noFill/>
          </a:ln>
        </p:spPr>
        <p:txBody>
          <a:bodyPr wrap="none" lIns="0" tIns="0" rIns="0" bIns="0" anchor="t" anchorCtr="0">
            <a:spAutoFit/>
          </a:bodyPr>
          <a:lstStyle/>
          <a:p>
            <a:pPr algn="l"/>
            <a:r>
              <a:rPr lang="en-US" sz="1120" b="1" spc="150" dirty="0">
                <a:solidFill>
                  <a:srgbClr val="35D0BA"/>
                </a:solidFill>
                <a:latin typeface="+mn-lt"/>
                <a:ea typeface="+mn-ea"/>
                <a:cs typeface="+mn-cs"/>
              </a:rPr>
              <a:t>METHOD</a:t>
            </a:r>
          </a:p>
        </p:txBody>
      </p:sp>
      <p:sp>
        <p:nvSpPr>
          <p:cNvPr id="4" name="TextBox 4"/>
          <p:cNvSpPr txBox="1"/>
          <p:nvPr/>
        </p:nvSpPr>
        <p:spPr>
          <a:xfrm>
            <a:off x="807720" y="614362"/>
            <a:ext cx="689486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Node-aware bi-smoothing, then a relaxed LP</a:t>
            </a:r>
          </a:p>
        </p:txBody>
      </p:sp>
      <p:sp>
        <p:nvSpPr>
          <p:cNvPr id="5" name="TextBox 5"/>
          <p:cNvSpPr txBox="1"/>
          <p:nvPr/>
        </p:nvSpPr>
        <p:spPr>
          <a:xfrm>
            <a:off x="11046336" y="526256"/>
            <a:ext cx="541779" cy="220028"/>
          </a:xfrm>
          <a:prstGeom prst="rect">
            <a:avLst/>
          </a:prstGeom>
          <a:noFill/>
          <a:ln>
            <a:noFill/>
          </a:ln>
        </p:spPr>
        <p:txBody>
          <a:bodyPr wrap="none" lIns="0" tIns="0" rIns="0" bIns="0" anchor="t" anchorCtr="0">
            <a:spAutoFit/>
          </a:bodyPr>
          <a:lstStyle/>
          <a:p>
            <a:pPr algn="r"/>
            <a:r>
              <a:rPr lang="en-US" sz="1120" b="1" dirty="0">
                <a:solidFill>
                  <a:srgbClr val="9DB2C4"/>
                </a:solidFill>
                <a:latin typeface="+mn-lt"/>
                <a:ea typeface="+mn-ea"/>
                <a:cs typeface="+mn-cs"/>
              </a:rPr>
              <a:t>05 / 10</a:t>
            </a:r>
          </a:p>
        </p:txBody>
      </p:sp>
      <p:sp>
        <p:nvSpPr>
          <p:cNvPr id="6" name="Line 6"/>
          <p:cNvSpPr/>
          <p:nvPr/>
        </p:nvSpPr>
        <p:spPr>
          <a:xfrm>
            <a:off x="609600" y="990600"/>
            <a:ext cx="10972800" cy="9525"/>
          </a:xfrm>
          <a:custGeom>
            <a:avLst/>
            <a:gdLst/>
            <a:ahLst/>
            <a:cxnLst/>
            <a:rect l="l" t="t" r="r" b="b"/>
            <a:pathLst>
              <a:path w="10972800" h="9525">
                <a:moveTo>
                  <a:pt x="0" y="0"/>
                </a:moveTo>
                <a:lnTo>
                  <a:pt x="10972800" y="0"/>
                </a:lnTo>
              </a:path>
            </a:pathLst>
          </a:custGeom>
          <a:noFill/>
          <a:ln w="14288">
            <a:solidFill>
              <a:srgbClr val="1E3A52"/>
            </a:solidFill>
          </a:ln>
        </p:spPr>
        <p:txBody>
          <a:bodyPr/>
          <a:p/>
        </p:txBody>
      </p:sp>
      <p:grpSp>
        <p:nvGrpSpPr>
          <p:cNvPr id="24" name="Group 24"/>
          <p:cNvGrpSpPr/>
          <p:nvPr/>
        </p:nvGrpSpPr>
        <p:grpSpPr>
          <a:xfrm>
            <a:off x="609600" y="1162050"/>
            <a:ext cx="5334000" cy="2457450"/>
            <a:chOff x="609600" y="1162050"/>
            <a:chExt cx="5334000" cy="2457450"/>
          </a:xfrm>
        </p:grpSpPr>
        <p:sp>
          <p:nvSpPr>
            <p:cNvPr id="7" name="Rectangle 7"/>
            <p:cNvSpPr/>
            <p:nvPr/>
          </p:nvSpPr>
          <p:spPr>
            <a:xfrm>
              <a:off x="609600" y="1162050"/>
              <a:ext cx="5334000" cy="2457450"/>
            </a:xfrm>
            <a:prstGeom prst="roundRect">
              <a:avLst>
                <a:gd name="adj" fmla="val 5426"/>
              </a:avLst>
            </a:prstGeom>
            <a:solidFill>
              <a:schemeClr val="accent5"/>
            </a:solidFill>
            <a:ln w="14288">
              <a:solidFill>
                <a:srgbClr val="1E3A52"/>
              </a:solidFill>
            </a:ln>
          </p:spPr>
        </p:sp>
        <p:sp>
          <p:nvSpPr>
            <p:cNvPr id="8" name="Rectangle 8"/>
            <p:cNvSpPr/>
            <p:nvPr/>
          </p:nvSpPr>
          <p:spPr>
            <a:xfrm>
              <a:off x="609600" y="1162050"/>
              <a:ext cx="57150" cy="2457450"/>
            </a:xfrm>
            <a:prstGeom prst="roundRect">
              <a:avLst>
                <a:gd name="adj" fmla="val 50000"/>
              </a:avLst>
            </a:prstGeom>
            <a:solidFill>
              <a:srgbClr val="35D0BA"/>
            </a:solidFill>
            <a:ln w="0">
              <a:solidFill>
                <a:srgbClr val="35D0BA"/>
              </a:solidFill>
            </a:ln>
          </p:spPr>
        </p:sp>
        <p:sp>
          <p:nvSpPr>
            <p:cNvPr id="9" name="TextBox 9"/>
            <p:cNvSpPr txBox="1"/>
            <p:nvPr/>
          </p:nvSpPr>
          <p:spPr>
            <a:xfrm>
              <a:off x="849630" y="1400175"/>
              <a:ext cx="2630547"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Node-aware bi-smoothing</a:t>
              </a:r>
            </a:p>
          </p:txBody>
        </p:sp>
        <p:sp>
          <p:nvSpPr>
            <p:cNvPr id="10" name="TextBox 10"/>
            <p:cNvSpPr txBox="1"/>
            <p:nvPr/>
          </p:nvSpPr>
          <p:spPr>
            <a:xfrm>
              <a:off x="851154" y="1756410"/>
              <a:ext cx="4823460"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Randomized smoothing that randomly deletes edges and nodes</a:t>
              </a:r>
            </a:p>
          </p:txBody>
        </p:sp>
        <p:sp>
          <p:nvSpPr>
            <p:cNvPr id="11" name="TextBox 11"/>
            <p:cNvSpPr txBox="1"/>
            <p:nvPr/>
          </p:nvSpPr>
          <p:spPr>
            <a:xfrm>
              <a:off x="851154" y="1985010"/>
              <a:ext cx="4338930"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to blur the attacker's influence. Locality: an injected</a:t>
              </a:r>
            </a:p>
          </p:txBody>
        </p:sp>
        <p:sp>
          <p:nvSpPr>
            <p:cNvPr id="12" name="TextBox 12"/>
            <p:cNvSpPr txBox="1"/>
            <p:nvPr/>
          </p:nvSpPr>
          <p:spPr>
            <a:xfrm>
              <a:off x="851154" y="2213610"/>
              <a:ext cx="4075024"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node harms a target only if a message-passing path</a:t>
              </a:r>
            </a:p>
          </p:txBody>
        </p:sp>
        <p:sp>
          <p:nvSpPr>
            <p:cNvPr id="13" name="TextBox 13"/>
            <p:cNvSpPr txBox="1"/>
            <p:nvPr/>
          </p:nvSpPr>
          <p:spPr>
            <a:xfrm>
              <a:off x="851154" y="2442210"/>
              <a:ext cx="771449"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survives.</a:t>
              </a:r>
            </a:p>
          </p:txBody>
        </p:sp>
        <p:sp>
          <p:nvSpPr>
            <p:cNvPr id="14" name="Ellipse 14"/>
            <p:cNvSpPr/>
            <p:nvPr/>
          </p:nvSpPr>
          <p:spPr>
            <a:xfrm>
              <a:off x="1066800" y="3086100"/>
              <a:ext cx="228600" cy="228600"/>
            </a:xfrm>
            <a:prstGeom prst="ellipse">
              <a:avLst/>
            </a:prstGeom>
            <a:solidFill>
              <a:srgbClr val="FF6B6B"/>
            </a:solidFill>
            <a:ln w="19050">
              <a:solidFill>
                <a:srgbClr val="0B1B2B"/>
              </a:solidFill>
            </a:ln>
          </p:spPr>
        </p:sp>
        <p:sp>
          <p:nvSpPr>
            <p:cNvPr id="15" name="TextBox 15"/>
            <p:cNvSpPr txBox="1"/>
            <p:nvPr/>
          </p:nvSpPr>
          <p:spPr>
            <a:xfrm>
              <a:off x="940079" y="3388995"/>
              <a:ext cx="482041" cy="176212"/>
            </a:xfrm>
            <a:prstGeom prst="rect">
              <a:avLst/>
            </a:prstGeom>
            <a:noFill/>
            <a:ln>
              <a:noFill/>
            </a:ln>
          </p:spPr>
          <p:txBody>
            <a:bodyPr wrap="none" lIns="0" tIns="0" rIns="0" bIns="0" anchor="t" anchorCtr="0">
              <a:spAutoFit/>
            </a:bodyPr>
            <a:lstStyle/>
            <a:p>
              <a:pPr algn="ctr"/>
              <a:r>
                <a:rPr lang="en-US" sz="900" dirty="0">
                  <a:solidFill>
                    <a:srgbClr val="FF6B6B"/>
                  </a:solidFill>
                  <a:latin typeface="+mn-lt"/>
                  <a:ea typeface="+mn-ea"/>
                  <a:cs typeface="+mn-cs"/>
                </a:rPr>
                <a:t>injected</a:t>
              </a:r>
            </a:p>
          </p:txBody>
        </p:sp>
        <p:sp>
          <p:nvSpPr>
            <p:cNvPr id="16" name="Ellipse 16"/>
            <p:cNvSpPr/>
            <p:nvPr/>
          </p:nvSpPr>
          <p:spPr>
            <a:xfrm>
              <a:off x="2324100" y="3105150"/>
              <a:ext cx="190500" cy="190500"/>
            </a:xfrm>
            <a:prstGeom prst="ellipse">
              <a:avLst/>
            </a:prstGeom>
            <a:solidFill>
              <a:srgbClr val="9DB2C4"/>
            </a:solidFill>
            <a:ln w="19050">
              <a:solidFill>
                <a:srgbClr val="0B1B2B"/>
              </a:solidFill>
            </a:ln>
          </p:spPr>
        </p:sp>
        <p:sp>
          <p:nvSpPr>
            <p:cNvPr id="17" name="Ellipse 17"/>
            <p:cNvSpPr/>
            <p:nvPr/>
          </p:nvSpPr>
          <p:spPr>
            <a:xfrm>
              <a:off x="3562350" y="3105150"/>
              <a:ext cx="190500" cy="190500"/>
            </a:xfrm>
            <a:prstGeom prst="ellipse">
              <a:avLst/>
            </a:prstGeom>
            <a:solidFill>
              <a:srgbClr val="9DB2C4"/>
            </a:solidFill>
            <a:ln w="19050">
              <a:solidFill>
                <a:srgbClr val="0B1B2B"/>
              </a:solidFill>
            </a:ln>
          </p:spPr>
        </p:sp>
        <p:sp>
          <p:nvSpPr>
            <p:cNvPr id="18" name="Ellipse 18"/>
            <p:cNvSpPr/>
            <p:nvPr/>
          </p:nvSpPr>
          <p:spPr>
            <a:xfrm>
              <a:off x="4781550" y="3086100"/>
              <a:ext cx="228600" cy="228600"/>
            </a:xfrm>
            <a:prstGeom prst="ellipse">
              <a:avLst/>
            </a:prstGeom>
            <a:solidFill>
              <a:srgbClr val="35D0BA"/>
            </a:solidFill>
            <a:ln w="19050">
              <a:solidFill>
                <a:srgbClr val="0B1B2B"/>
              </a:solidFill>
            </a:ln>
          </p:spPr>
        </p:sp>
        <p:sp>
          <p:nvSpPr>
            <p:cNvPr id="19" name="TextBox 19"/>
            <p:cNvSpPr txBox="1"/>
            <p:nvPr/>
          </p:nvSpPr>
          <p:spPr>
            <a:xfrm>
              <a:off x="4691177" y="3388995"/>
              <a:ext cx="409346" cy="176212"/>
            </a:xfrm>
            <a:prstGeom prst="rect">
              <a:avLst/>
            </a:prstGeom>
            <a:noFill/>
            <a:ln>
              <a:noFill/>
            </a:ln>
          </p:spPr>
          <p:txBody>
            <a:bodyPr wrap="none" lIns="0" tIns="0" rIns="0" bIns="0" anchor="t" anchorCtr="0">
              <a:spAutoFit/>
            </a:bodyPr>
            <a:lstStyle/>
            <a:p>
              <a:pPr algn="ctr"/>
              <a:r>
                <a:rPr lang="en-US" sz="900" dirty="0">
                  <a:solidFill>
                    <a:srgbClr val="35D0BA"/>
                  </a:solidFill>
                  <a:latin typeface="+mn-lt"/>
                  <a:ea typeface="+mn-ea"/>
                  <a:cs typeface="+mn-cs"/>
                </a:rPr>
                <a:t>target</a:t>
              </a:r>
            </a:p>
          </p:txBody>
        </p:sp>
        <p:sp>
          <p:nvSpPr>
            <p:cNvPr id="20" name="Line 20"/>
            <p:cNvSpPr/>
            <p:nvPr/>
          </p:nvSpPr>
          <p:spPr>
            <a:xfrm>
              <a:off x="1295400" y="3200400"/>
              <a:ext cx="1028700" cy="9525"/>
            </a:xfrm>
            <a:custGeom>
              <a:avLst/>
              <a:gdLst/>
              <a:ahLst/>
              <a:cxnLst/>
              <a:rect l="l" t="t" r="r" b="b"/>
              <a:pathLst>
                <a:path w="1028700" h="9525">
                  <a:moveTo>
                    <a:pt x="0" y="0"/>
                  </a:moveTo>
                  <a:lnTo>
                    <a:pt x="1028700" y="0"/>
                  </a:lnTo>
                </a:path>
              </a:pathLst>
            </a:custGeom>
            <a:noFill/>
            <a:ln w="19050">
              <a:solidFill>
                <a:srgbClr val="F5B841"/>
              </a:solidFill>
              <a:custDash>
                <a:ds d="200000" sp="150000"/>
              </a:custDash>
            </a:ln>
          </p:spPr>
        </p:sp>
        <p:sp>
          <p:nvSpPr>
            <p:cNvPr id="21" name="Line 21"/>
            <p:cNvSpPr/>
            <p:nvPr/>
          </p:nvSpPr>
          <p:spPr>
            <a:xfrm>
              <a:off x="2514600" y="3200400"/>
              <a:ext cx="1047750" cy="9525"/>
            </a:xfrm>
            <a:custGeom>
              <a:avLst/>
              <a:gdLst/>
              <a:ahLst/>
              <a:cxnLst/>
              <a:rect l="l" t="t" r="r" b="b"/>
              <a:pathLst>
                <a:path w="1047750" h="9525">
                  <a:moveTo>
                    <a:pt x="0" y="0"/>
                  </a:moveTo>
                  <a:lnTo>
                    <a:pt x="1047750" y="0"/>
                  </a:lnTo>
                </a:path>
              </a:pathLst>
            </a:custGeom>
            <a:noFill/>
            <a:ln w="19050">
              <a:solidFill>
                <a:srgbClr val="F5B841"/>
              </a:solidFill>
              <a:custDash>
                <a:ds d="200000" sp="150000"/>
              </a:custDash>
            </a:ln>
          </p:spPr>
        </p:sp>
        <p:sp>
          <p:nvSpPr>
            <p:cNvPr id="22" name="Line 22"/>
            <p:cNvSpPr/>
            <p:nvPr/>
          </p:nvSpPr>
          <p:spPr>
            <a:xfrm>
              <a:off x="3752850" y="3200400"/>
              <a:ext cx="1028700" cy="9525"/>
            </a:xfrm>
            <a:custGeom>
              <a:avLst/>
              <a:gdLst/>
              <a:ahLst/>
              <a:cxnLst/>
              <a:rect l="l" t="t" r="r" b="b"/>
              <a:pathLst>
                <a:path w="1028700" h="9525">
                  <a:moveTo>
                    <a:pt x="0" y="0"/>
                  </a:moveTo>
                  <a:lnTo>
                    <a:pt x="1028700" y="0"/>
                  </a:lnTo>
                </a:path>
              </a:pathLst>
            </a:custGeom>
            <a:noFill/>
            <a:ln w="19050">
              <a:solidFill>
                <a:srgbClr val="F5B841"/>
              </a:solidFill>
              <a:custDash>
                <a:ds d="200000" sp="150000"/>
              </a:custDash>
            </a:ln>
          </p:spPr>
        </p:sp>
        <p:sp>
          <p:nvSpPr>
            <p:cNvPr id="23" name="TextBox 23"/>
            <p:cNvSpPr txBox="1"/>
            <p:nvPr/>
          </p:nvSpPr>
          <p:spPr>
            <a:xfrm>
              <a:off x="2349170" y="2969895"/>
              <a:ext cx="1378610" cy="176212"/>
            </a:xfrm>
            <a:prstGeom prst="rect">
              <a:avLst/>
            </a:prstGeom>
            <a:noFill/>
            <a:ln>
              <a:noFill/>
            </a:ln>
          </p:spPr>
          <p:txBody>
            <a:bodyPr wrap="none" lIns="0" tIns="0" rIns="0" bIns="0" anchor="t" anchorCtr="0">
              <a:spAutoFit/>
            </a:bodyPr>
            <a:lstStyle/>
            <a:p>
              <a:pPr algn="ctr"/>
              <a:r>
                <a:rPr lang="en-US" sz="900" dirty="0">
                  <a:solidFill>
                    <a:srgbClr val="F5B841"/>
                  </a:solidFill>
                  <a:latin typeface="+mn-lt"/>
                  <a:ea typeface="+mn-ea"/>
                  <a:cs typeface="+mn-cs"/>
                </a:rPr>
                <a:t>surviving message path</a:t>
              </a:r>
            </a:p>
          </p:txBody>
        </p:sp>
      </p:grpSp>
      <p:grpSp>
        <p:nvGrpSpPr>
          <p:cNvPr id="37" name="Group 37"/>
          <p:cNvGrpSpPr/>
          <p:nvPr/>
        </p:nvGrpSpPr>
        <p:grpSpPr>
          <a:xfrm>
            <a:off x="6248400" y="1162050"/>
            <a:ext cx="5334000" cy="2457450"/>
            <a:chOff x="6248400" y="1162050"/>
            <a:chExt cx="5334000" cy="2457450"/>
          </a:xfrm>
        </p:grpSpPr>
        <p:sp>
          <p:nvSpPr>
            <p:cNvPr id="25" name="Rectangle 25"/>
            <p:cNvSpPr/>
            <p:nvPr/>
          </p:nvSpPr>
          <p:spPr>
            <a:xfrm>
              <a:off x="6248400" y="1162050"/>
              <a:ext cx="5334000" cy="2457450"/>
            </a:xfrm>
            <a:prstGeom prst="roundRect">
              <a:avLst>
                <a:gd name="adj" fmla="val 5426"/>
              </a:avLst>
            </a:prstGeom>
            <a:solidFill>
              <a:schemeClr val="accent5"/>
            </a:solidFill>
            <a:ln w="14288">
              <a:solidFill>
                <a:srgbClr val="1E3A52"/>
              </a:solidFill>
            </a:ln>
          </p:spPr>
        </p:sp>
        <p:sp>
          <p:nvSpPr>
            <p:cNvPr id="26" name="Rectangle 26"/>
            <p:cNvSpPr/>
            <p:nvPr/>
          </p:nvSpPr>
          <p:spPr>
            <a:xfrm>
              <a:off x="6248400" y="1162050"/>
              <a:ext cx="57150" cy="2457450"/>
            </a:xfrm>
            <a:prstGeom prst="roundRect">
              <a:avLst>
                <a:gd name="adj" fmla="val 50000"/>
              </a:avLst>
            </a:prstGeom>
            <a:solidFill>
              <a:srgbClr val="4C8DFF"/>
            </a:solidFill>
            <a:ln w="0">
              <a:solidFill>
                <a:srgbClr val="4C8DFF"/>
              </a:solidFill>
            </a:ln>
          </p:spPr>
        </p:sp>
        <p:sp>
          <p:nvSpPr>
            <p:cNvPr id="27" name="TextBox 27"/>
            <p:cNvSpPr txBox="1"/>
            <p:nvPr/>
          </p:nvSpPr>
          <p:spPr>
            <a:xfrm>
              <a:off x="6488430" y="1400175"/>
              <a:ext cx="3627247"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Worst-case attacker as a program</a:t>
              </a:r>
            </a:p>
          </p:txBody>
        </p:sp>
        <p:sp>
          <p:nvSpPr>
            <p:cNvPr id="28" name="TextBox 28"/>
            <p:cNvSpPr txBox="1"/>
            <p:nvPr/>
          </p:nvSpPr>
          <p:spPr>
            <a:xfrm>
              <a:off x="6489954" y="1756410"/>
              <a:ext cx="4532671"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Upper-bound the message-interference probability into a</a:t>
              </a:r>
            </a:p>
          </p:txBody>
        </p:sp>
        <p:sp>
          <p:nvSpPr>
            <p:cNvPr id="29" name="TextBox 29"/>
            <p:cNvSpPr txBox="1"/>
            <p:nvPr/>
          </p:nvSpPr>
          <p:spPr>
            <a:xfrm>
              <a:off x="6489954" y="1985010"/>
              <a:ext cx="4430420"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certifying condition, then model an attacker maximizing</a:t>
              </a:r>
            </a:p>
          </p:txBody>
        </p:sp>
        <p:sp>
          <p:nvSpPr>
            <p:cNvPr id="30" name="TextBox 30"/>
            <p:cNvSpPr txBox="1"/>
            <p:nvPr/>
          </p:nvSpPr>
          <p:spPr>
            <a:xfrm>
              <a:off x="6489954" y="2213610"/>
              <a:ext cx="4317340"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non-robust nodes under a budget on injected nodes and</a:t>
              </a:r>
            </a:p>
          </p:txBody>
        </p:sp>
        <p:sp>
          <p:nvSpPr>
            <p:cNvPr id="31" name="TextBox 31"/>
            <p:cNvSpPr txBox="1"/>
            <p:nvPr/>
          </p:nvSpPr>
          <p:spPr>
            <a:xfrm>
              <a:off x="6489954" y="2442210"/>
              <a:ext cx="545287"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edges.</a:t>
              </a:r>
            </a:p>
          </p:txBody>
        </p:sp>
        <p:sp>
          <p:nvSpPr>
            <p:cNvPr id="32" name="Rectangle 32"/>
            <p:cNvSpPr/>
            <p:nvPr/>
          </p:nvSpPr>
          <p:spPr>
            <a:xfrm>
              <a:off x="6496050" y="2971800"/>
              <a:ext cx="2381250" cy="419100"/>
            </a:xfrm>
            <a:prstGeom prst="roundRect">
              <a:avLst>
                <a:gd name="adj" fmla="val 31818"/>
              </a:avLst>
            </a:prstGeom>
            <a:solidFill>
              <a:schemeClr val="accent6"/>
            </a:solidFill>
            <a:ln w="14288">
              <a:solidFill>
                <a:srgbClr val="FF6B6B"/>
              </a:solidFill>
            </a:ln>
          </p:spPr>
        </p:sp>
        <p:sp>
          <p:nvSpPr>
            <p:cNvPr id="33" name="TextBox 33"/>
            <p:cNvSpPr txBox="1"/>
            <p:nvPr/>
          </p:nvSpPr>
          <p:spPr>
            <a:xfrm>
              <a:off x="6696234" y="3115628"/>
              <a:ext cx="1980882" cy="205359"/>
            </a:xfrm>
            <a:prstGeom prst="rect">
              <a:avLst/>
            </a:prstGeom>
            <a:noFill/>
            <a:ln>
              <a:noFill/>
            </a:ln>
          </p:spPr>
          <p:txBody>
            <a:bodyPr wrap="none" lIns="0" tIns="0" rIns="0" bIns="0" anchor="t" anchorCtr="0">
              <a:spAutoFit/>
            </a:bodyPr>
            <a:lstStyle/>
            <a:p>
              <a:pPr algn="ctr"/>
              <a:r>
                <a:rPr lang="en-US" sz="1050" b="1" dirty="0">
                  <a:solidFill>
                    <a:srgbClr val="FF6B6B"/>
                  </a:solidFill>
                  <a:latin typeface="+mn-lt"/>
                  <a:ea typeface="+mn-ea"/>
                  <a:cs typeface="+mn-cs"/>
                </a:rPr>
                <a:t>integer program (NP-hard)</a:t>
              </a:r>
            </a:p>
          </p:txBody>
        </p:sp>
        <p:sp>
          <p:nvSpPr>
            <p:cNvPr id="34" name="TextBox 34"/>
            <p:cNvSpPr txBox="1"/>
            <p:nvPr/>
          </p:nvSpPr>
          <p:spPr>
            <a:xfrm>
              <a:off x="8985704" y="3027998"/>
              <a:ext cx="164192" cy="381381"/>
            </a:xfrm>
            <a:prstGeom prst="rect">
              <a:avLst/>
            </a:prstGeom>
            <a:noFill/>
            <a:ln>
              <a:noFill/>
            </a:ln>
          </p:spPr>
          <p:txBody>
            <a:bodyPr wrap="none" lIns="0" tIns="0" rIns="0" bIns="0" anchor="t" anchorCtr="0">
              <a:spAutoFit/>
            </a:bodyPr>
            <a:lstStyle/>
            <a:p>
              <a:pPr algn="ctr"/>
              <a:r>
                <a:rPr lang="en-US" sz="1950" dirty="0">
                  <a:solidFill>
                    <a:srgbClr val="F5B841"/>
                  </a:solidFill>
                  <a:latin typeface="+mn-lt"/>
                  <a:ea typeface="+mn-ea"/>
                  <a:cs typeface="+mn-cs"/>
                </a:rPr>
                <a:t>→</a:t>
              </a:r>
            </a:p>
          </p:txBody>
        </p:sp>
        <p:sp>
          <p:nvSpPr>
            <p:cNvPr id="35" name="Rectangle 35"/>
            <p:cNvSpPr/>
            <p:nvPr/>
          </p:nvSpPr>
          <p:spPr>
            <a:xfrm>
              <a:off x="9258300" y="2971800"/>
              <a:ext cx="2076450" cy="419100"/>
            </a:xfrm>
            <a:prstGeom prst="roundRect">
              <a:avLst>
                <a:gd name="adj" fmla="val 31818"/>
              </a:avLst>
            </a:prstGeom>
            <a:solidFill>
              <a:schemeClr val="accent6"/>
            </a:solidFill>
            <a:ln w="14288">
              <a:solidFill>
                <a:srgbClr val="48D597"/>
              </a:solidFill>
            </a:ln>
          </p:spPr>
        </p:sp>
        <p:sp>
          <p:nvSpPr>
            <p:cNvPr id="36" name="TextBox 36"/>
            <p:cNvSpPr txBox="1"/>
            <p:nvPr/>
          </p:nvSpPr>
          <p:spPr>
            <a:xfrm>
              <a:off x="9760595" y="3115628"/>
              <a:ext cx="1071861" cy="205359"/>
            </a:xfrm>
            <a:prstGeom prst="rect">
              <a:avLst/>
            </a:prstGeom>
            <a:noFill/>
            <a:ln>
              <a:noFill/>
            </a:ln>
          </p:spPr>
          <p:txBody>
            <a:bodyPr wrap="none" lIns="0" tIns="0" rIns="0" bIns="0" anchor="t" anchorCtr="0">
              <a:spAutoFit/>
            </a:bodyPr>
            <a:lstStyle/>
            <a:p>
              <a:pPr algn="ctr"/>
              <a:r>
                <a:rPr lang="en-US" sz="1050" b="1" dirty="0">
                  <a:solidFill>
                    <a:srgbClr val="48D597"/>
                  </a:solidFill>
                  <a:latin typeface="+mn-lt"/>
                  <a:ea typeface="+mn-ea"/>
                  <a:cs typeface="+mn-cs"/>
                </a:rPr>
                <a:t>linear program</a:t>
              </a:r>
            </a:p>
          </p:txBody>
        </p:sp>
      </p:grpSp>
      <p:grpSp>
        <p:nvGrpSpPr>
          <p:cNvPr id="46" name="Group 46"/>
          <p:cNvGrpSpPr/>
          <p:nvPr/>
        </p:nvGrpSpPr>
        <p:grpSpPr>
          <a:xfrm>
            <a:off x="609600" y="3810000"/>
            <a:ext cx="5334000" cy="2457450"/>
            <a:chOff x="609600" y="3810000"/>
            <a:chExt cx="5334000" cy="2457450"/>
          </a:xfrm>
        </p:grpSpPr>
        <p:sp>
          <p:nvSpPr>
            <p:cNvPr id="38" name="Rectangle 38"/>
            <p:cNvSpPr/>
            <p:nvPr/>
          </p:nvSpPr>
          <p:spPr>
            <a:xfrm>
              <a:off x="609600" y="3810000"/>
              <a:ext cx="5334000" cy="2457450"/>
            </a:xfrm>
            <a:prstGeom prst="roundRect">
              <a:avLst>
                <a:gd name="adj" fmla="val 5426"/>
              </a:avLst>
            </a:prstGeom>
            <a:solidFill>
              <a:schemeClr val="accent5"/>
            </a:solidFill>
            <a:ln w="14288">
              <a:solidFill>
                <a:srgbClr val="1E3A52"/>
              </a:solidFill>
            </a:ln>
          </p:spPr>
        </p:sp>
        <p:sp>
          <p:nvSpPr>
            <p:cNvPr id="39" name="Rectangle 39"/>
            <p:cNvSpPr/>
            <p:nvPr/>
          </p:nvSpPr>
          <p:spPr>
            <a:xfrm>
              <a:off x="609600" y="3810000"/>
              <a:ext cx="57150" cy="2457450"/>
            </a:xfrm>
            <a:prstGeom prst="roundRect">
              <a:avLst>
                <a:gd name="adj" fmla="val 50000"/>
              </a:avLst>
            </a:prstGeom>
            <a:solidFill>
              <a:srgbClr val="F5B841"/>
            </a:solidFill>
            <a:ln w="0">
              <a:solidFill>
                <a:srgbClr val="F5B841"/>
              </a:solidFill>
            </a:ln>
          </p:spPr>
        </p:sp>
        <p:sp>
          <p:nvSpPr>
            <p:cNvPr id="40" name="TextBox 40"/>
            <p:cNvSpPr txBox="1"/>
            <p:nvPr/>
          </p:nvSpPr>
          <p:spPr>
            <a:xfrm>
              <a:off x="849630" y="4048125"/>
              <a:ext cx="3440491"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Collective-LP-2: fewer variables</a:t>
              </a:r>
            </a:p>
          </p:txBody>
        </p:sp>
        <p:sp>
          <p:nvSpPr>
            <p:cNvPr id="41" name="TextBox 41"/>
            <p:cNvSpPr txBox="1"/>
            <p:nvPr/>
          </p:nvSpPr>
          <p:spPr>
            <a:xfrm>
              <a:off x="851154" y="4404360"/>
              <a:ext cx="4516390"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The customized reformulation collapses a quadratic term</a:t>
              </a:r>
            </a:p>
          </p:txBody>
        </p:sp>
        <p:sp>
          <p:nvSpPr>
            <p:cNvPr id="42" name="TextBox 42"/>
            <p:cNvSpPr txBox="1"/>
            <p:nvPr/>
          </p:nvSpPr>
          <p:spPr>
            <a:xfrm>
              <a:off x="851154" y="4632960"/>
              <a:ext cx="4155796"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into a single vector, cutting the extra variables and</a:t>
              </a:r>
            </a:p>
          </p:txBody>
        </p:sp>
        <p:sp>
          <p:nvSpPr>
            <p:cNvPr id="43" name="TextBox 43"/>
            <p:cNvSpPr txBox="1"/>
            <p:nvPr/>
          </p:nvSpPr>
          <p:spPr>
            <a:xfrm>
              <a:off x="851154" y="4861560"/>
              <a:ext cx="2653436"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improving both quality and speed.</a:t>
              </a:r>
            </a:p>
          </p:txBody>
        </p:sp>
        <p:sp>
          <p:nvSpPr>
            <p:cNvPr id="44" name="Rectangle 44"/>
            <p:cNvSpPr/>
            <p:nvPr/>
          </p:nvSpPr>
          <p:spPr>
            <a:xfrm>
              <a:off x="857250" y="5619750"/>
              <a:ext cx="4838700" cy="457200"/>
            </a:xfrm>
            <a:prstGeom prst="roundRect">
              <a:avLst>
                <a:gd name="adj" fmla="val 29167"/>
              </a:avLst>
            </a:prstGeom>
            <a:solidFill>
              <a:schemeClr val="accent6"/>
            </a:solidFill>
            <a:ln w="14288">
              <a:solidFill>
                <a:srgbClr val="1E3A52"/>
              </a:solidFill>
            </a:ln>
          </p:spPr>
        </p:sp>
        <p:sp>
          <p:nvSpPr>
            <p:cNvPr id="45" name="TextBox 45"/>
            <p:cNvSpPr txBox="1"/>
            <p:nvPr/>
          </p:nvSpPr>
          <p:spPr>
            <a:xfrm>
              <a:off x="1002792" y="5759768"/>
              <a:ext cx="3389498" cy="264033"/>
            </a:xfrm>
            <a:prstGeom prst="rect">
              <a:avLst/>
            </a:prstGeom>
            <a:noFill/>
            <a:ln>
              <a:noFill/>
            </a:ln>
          </p:spPr>
          <p:txBody>
            <a:bodyPr wrap="none" lIns="0" tIns="0" rIns="0" bIns="0" anchor="t" anchorCtr="0">
              <a:spAutoFit/>
            </a:bodyPr>
            <a:lstStyle/>
            <a:p>
              <a:pPr algn="l"/>
              <a:r>
                <a:rPr lang="en-US" sz="1350" b="1" dirty="0">
                  <a:solidFill>
                    <a:srgbClr val="F5B841"/>
                  </a:solidFill>
                  <a:latin typeface="Consolas"/>
                  <a:ea typeface="Consolas"/>
                  <a:cs typeface="Consolas"/>
                </a:rPr>
                <a:t>extra variables: O(rho^2) → O(rho)</a:t>
              </a:r>
            </a:p>
          </p:txBody>
        </p:sp>
      </p:grpSp>
      <p:grpSp>
        <p:nvGrpSpPr>
          <p:cNvPr id="55" name="Group 55"/>
          <p:cNvGrpSpPr/>
          <p:nvPr/>
        </p:nvGrpSpPr>
        <p:grpSpPr>
          <a:xfrm>
            <a:off x="6248400" y="3810000"/>
            <a:ext cx="5334000" cy="2457450"/>
            <a:chOff x="6248400" y="3810000"/>
            <a:chExt cx="5334000" cy="2457450"/>
          </a:xfrm>
        </p:grpSpPr>
        <p:sp>
          <p:nvSpPr>
            <p:cNvPr id="47" name="Rectangle 47"/>
            <p:cNvSpPr/>
            <p:nvPr/>
          </p:nvSpPr>
          <p:spPr>
            <a:xfrm>
              <a:off x="6248400" y="3810000"/>
              <a:ext cx="5334000" cy="2457450"/>
            </a:xfrm>
            <a:prstGeom prst="roundRect">
              <a:avLst>
                <a:gd name="adj" fmla="val 5426"/>
              </a:avLst>
            </a:prstGeom>
            <a:solidFill>
              <a:schemeClr val="accent5"/>
            </a:solidFill>
            <a:ln w="14288">
              <a:solidFill>
                <a:srgbClr val="1E3A52"/>
              </a:solidFill>
            </a:ln>
          </p:spPr>
        </p:sp>
        <p:sp>
          <p:nvSpPr>
            <p:cNvPr id="48" name="Rectangle 48"/>
            <p:cNvSpPr/>
            <p:nvPr/>
          </p:nvSpPr>
          <p:spPr>
            <a:xfrm>
              <a:off x="6248400" y="3810000"/>
              <a:ext cx="57150" cy="2457450"/>
            </a:xfrm>
            <a:prstGeom prst="roundRect">
              <a:avLst>
                <a:gd name="adj" fmla="val 50000"/>
              </a:avLst>
            </a:prstGeom>
            <a:solidFill>
              <a:srgbClr val="48D597"/>
            </a:solidFill>
            <a:ln w="0">
              <a:solidFill>
                <a:srgbClr val="48D597"/>
              </a:solidFill>
            </a:ln>
          </p:spPr>
        </p:sp>
        <p:sp>
          <p:nvSpPr>
            <p:cNvPr id="49" name="TextBox 49"/>
            <p:cNvSpPr txBox="1"/>
            <p:nvPr/>
          </p:nvSpPr>
          <p:spPr>
            <a:xfrm>
              <a:off x="6488430" y="4048125"/>
              <a:ext cx="2068534"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A sound lower bound</a:t>
              </a:r>
            </a:p>
          </p:txBody>
        </p:sp>
        <p:sp>
          <p:nvSpPr>
            <p:cNvPr id="50" name="TextBox 50"/>
            <p:cNvSpPr txBox="1"/>
            <p:nvPr/>
          </p:nvSpPr>
          <p:spPr>
            <a:xfrm>
              <a:off x="6489573" y="4434364"/>
              <a:ext cx="4714155"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The linear program has a larger feasible region than the</a:t>
              </a:r>
            </a:p>
          </p:txBody>
        </p:sp>
        <p:sp>
          <p:nvSpPr>
            <p:cNvPr id="51" name="TextBox 51"/>
            <p:cNvSpPr txBox="1"/>
            <p:nvPr/>
          </p:nvSpPr>
          <p:spPr>
            <a:xfrm>
              <a:off x="6489573" y="4672489"/>
              <a:ext cx="4251869"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integer one, so its optimum is always a valid lower</a:t>
              </a:r>
            </a:p>
          </p:txBody>
        </p:sp>
        <p:sp>
          <p:nvSpPr>
            <p:cNvPr id="52" name="TextBox 52"/>
            <p:cNvSpPr txBox="1"/>
            <p:nvPr/>
          </p:nvSpPr>
          <p:spPr>
            <a:xfrm>
              <a:off x="6489573" y="4910614"/>
              <a:ext cx="2890591"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bound on the true certified ratio.</a:t>
              </a:r>
            </a:p>
          </p:txBody>
        </p:sp>
        <p:sp>
          <p:nvSpPr>
            <p:cNvPr id="53" name="Rectangle 53"/>
            <p:cNvSpPr/>
            <p:nvPr/>
          </p:nvSpPr>
          <p:spPr>
            <a:xfrm>
              <a:off x="6496050" y="5676900"/>
              <a:ext cx="2857500" cy="247650"/>
            </a:xfrm>
            <a:prstGeom prst="roundRect">
              <a:avLst>
                <a:gd name="adj" fmla="val 50000"/>
              </a:avLst>
            </a:prstGeom>
            <a:solidFill>
              <a:srgbClr val="48D597"/>
            </a:solidFill>
            <a:ln w="0">
              <a:solidFill>
                <a:srgbClr val="48D597"/>
              </a:solidFill>
            </a:ln>
          </p:spPr>
        </p:sp>
        <p:sp>
          <p:nvSpPr>
            <p:cNvPr id="54" name="TextBox 54"/>
            <p:cNvSpPr txBox="1"/>
            <p:nvPr/>
          </p:nvSpPr>
          <p:spPr>
            <a:xfrm>
              <a:off x="6700861" y="5735002"/>
              <a:ext cx="2447877" cy="205359"/>
            </a:xfrm>
            <a:prstGeom prst="rect">
              <a:avLst/>
            </a:prstGeom>
            <a:noFill/>
            <a:ln>
              <a:noFill/>
            </a:ln>
          </p:spPr>
          <p:txBody>
            <a:bodyPr wrap="none" lIns="0" tIns="0" rIns="0" bIns="0" anchor="t" anchorCtr="0">
              <a:spAutoFit/>
            </a:bodyPr>
            <a:lstStyle/>
            <a:p>
              <a:pPr algn="ctr"/>
              <a:r>
                <a:rPr lang="en-US" sz="1050" b="1" dirty="0">
                  <a:solidFill>
                    <a:srgbClr val="08131F"/>
                  </a:solidFill>
                  <a:latin typeface="+mn-lt"/>
                  <a:ea typeface="+mn-ea"/>
                  <a:cs typeface="+mn-cs"/>
                </a:rPr>
                <a:t>LP answer &lt;= true certified ratio</a:t>
              </a:r>
            </a:p>
          </p:txBody>
        </p:sp>
      </p:grpSp>
      <p:sp>
        <p:nvSpPr>
          <p:cNvPr id="56" name="cue_s05_c1_method_builds_randomized_smoothing_s" title="cue_s05_c1_method_builds_randomized_smoothing_s" descr="cue_s05_c1_method_builds_randomized_smoothing_s The method builds on randomized smoothing, specifically node-aware bi-smoothing, which randomly deletes edges and nodes to blur the attacker's influence. The crucial observation is locality: an injected node can only harm a target if at least one message-passi"/>
          <p:cNvSpPr/>
          <p:nvPr/>
        </p:nvSpPr>
        <p:spPr>
          <a:xfrm>
            <a:off x="609600"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5_c2_authors_upper_bound_probability_mess" title="cue_s05_c2_authors_upper_bound_probability_mess" descr="cue_s05_c2_authors_upper_bound_probability_mess The authors upper-bound the probability of that message interference, turn it into a certifying condition, and then model a worst-case attacker who tries to make as many target nodes non-robust as possible under a budget on injected nodes and edges. That worst"/>
          <p:cNvSpPr/>
          <p:nvPr/>
        </p:nvSpPr>
        <p:spPr>
          <a:xfrm>
            <a:off x="6248399"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5_c3_standard_relaxation_needs_many_extra" title="cue_s05_c3_standard_relaxation_needs_many_extra" descr="cue_s05_c3_standard_relaxation_needs_many_extra The standard relaxation needs many extra variables, while their customized reformulation, Collective-LP-two, first collapses a quadratic term into a single vector, cutting the extra variables from order rho-squared to order rho and improving both quality and s"/>
          <p:cNvSpPr/>
          <p:nvPr/>
        </p:nvSpPr>
        <p:spPr>
          <a:xfrm>
            <a:off x="609600"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5_c4_since_linear_program_larger_feasible" title="cue_s05_c4_since_linear_program_larger_feasible" descr="cue_s05_c4_since_linear_program_larger_feasible Since the linear program has a larger feasible region than the integer one, its answer is always a sound lower bound on the true certified ratio."/>
          <p:cNvSpPr/>
          <p:nvPr/>
        </p:nvSpPr>
        <p:spPr>
          <a:xfrm>
            <a:off x="6248399"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57150" cy="381000"/>
          </a:xfrm>
          <a:prstGeom prst="roundRect">
            <a:avLst>
              <a:gd name="adj" fmla="val 50000"/>
            </a:avLst>
          </a:prstGeom>
          <a:solidFill>
            <a:srgbClr val="35D0BA"/>
          </a:solidFill>
          <a:ln w="0">
            <a:solidFill>
              <a:srgbClr val="35D0BA"/>
            </a:solidFill>
          </a:ln>
        </p:spPr>
        <p:txBody>
          <a:bodyPr/>
          <a:p/>
        </p:txBody>
      </p:sp>
      <p:sp>
        <p:nvSpPr>
          <p:cNvPr id="3" name="TextBox 3"/>
          <p:cNvSpPr txBox="1"/>
          <p:nvPr/>
        </p:nvSpPr>
        <p:spPr>
          <a:xfrm>
            <a:off x="813435" y="469106"/>
            <a:ext cx="2093312" cy="220028"/>
          </a:xfrm>
          <a:prstGeom prst="rect">
            <a:avLst/>
          </a:prstGeom>
          <a:noFill/>
          <a:ln>
            <a:noFill/>
          </a:ln>
        </p:spPr>
        <p:txBody>
          <a:bodyPr wrap="none" lIns="0" tIns="0" rIns="0" bIns="0" anchor="t" anchorCtr="0">
            <a:spAutoFit/>
          </a:bodyPr>
          <a:lstStyle/>
          <a:p>
            <a:pPr algn="l"/>
            <a:r>
              <a:rPr lang="en-US" sz="1120" b="1" spc="150" dirty="0">
                <a:solidFill>
                  <a:srgbClr val="35D0BA"/>
                </a:solidFill>
                <a:latin typeface="+mn-lt"/>
                <a:ea typeface="+mn-ea"/>
                <a:cs typeface="+mn-cs"/>
              </a:rPr>
              <a:t>DATASET / BENCHMARK</a:t>
            </a:r>
          </a:p>
        </p:txBody>
      </p:sp>
      <p:sp>
        <p:nvSpPr>
          <p:cNvPr id="4" name="TextBox 4"/>
          <p:cNvSpPr txBox="1"/>
          <p:nvPr/>
        </p:nvSpPr>
        <p:spPr>
          <a:xfrm>
            <a:off x="807720" y="614362"/>
            <a:ext cx="628453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Two citation graphs, two GNN backbones</a:t>
            </a:r>
          </a:p>
        </p:txBody>
      </p:sp>
      <p:sp>
        <p:nvSpPr>
          <p:cNvPr id="5" name="TextBox 5"/>
          <p:cNvSpPr txBox="1"/>
          <p:nvPr/>
        </p:nvSpPr>
        <p:spPr>
          <a:xfrm>
            <a:off x="11046336" y="526256"/>
            <a:ext cx="541779" cy="220028"/>
          </a:xfrm>
          <a:prstGeom prst="rect">
            <a:avLst/>
          </a:prstGeom>
          <a:noFill/>
          <a:ln>
            <a:noFill/>
          </a:ln>
        </p:spPr>
        <p:txBody>
          <a:bodyPr wrap="none" lIns="0" tIns="0" rIns="0" bIns="0" anchor="t" anchorCtr="0">
            <a:spAutoFit/>
          </a:bodyPr>
          <a:lstStyle/>
          <a:p>
            <a:pPr algn="r"/>
            <a:r>
              <a:rPr lang="en-US" sz="1120" b="1" dirty="0">
                <a:solidFill>
                  <a:srgbClr val="9DB2C4"/>
                </a:solidFill>
                <a:latin typeface="+mn-lt"/>
                <a:ea typeface="+mn-ea"/>
                <a:cs typeface="+mn-cs"/>
              </a:rPr>
              <a:t>06 / 10</a:t>
            </a:r>
          </a:p>
        </p:txBody>
      </p:sp>
      <p:sp>
        <p:nvSpPr>
          <p:cNvPr id="6" name="Line 6"/>
          <p:cNvSpPr/>
          <p:nvPr/>
        </p:nvSpPr>
        <p:spPr>
          <a:xfrm>
            <a:off x="609600" y="990600"/>
            <a:ext cx="10972800" cy="9525"/>
          </a:xfrm>
          <a:custGeom>
            <a:avLst/>
            <a:gdLst/>
            <a:ahLst/>
            <a:cxnLst/>
            <a:rect l="l" t="t" r="r" b="b"/>
            <a:pathLst>
              <a:path w="10972800" h="9525">
                <a:moveTo>
                  <a:pt x="0" y="0"/>
                </a:moveTo>
                <a:lnTo>
                  <a:pt x="10972800" y="0"/>
                </a:lnTo>
              </a:path>
            </a:pathLst>
          </a:custGeom>
          <a:noFill/>
          <a:ln w="14288">
            <a:solidFill>
              <a:srgbClr val="1E3A52"/>
            </a:solidFill>
          </a:ln>
        </p:spPr>
        <p:txBody>
          <a:bodyPr/>
          <a:p/>
        </p:txBody>
      </p:sp>
      <p:grpSp>
        <p:nvGrpSpPr>
          <p:cNvPr id="23" name="Group 23"/>
          <p:cNvGrpSpPr/>
          <p:nvPr/>
        </p:nvGrpSpPr>
        <p:grpSpPr>
          <a:xfrm>
            <a:off x="609600" y="1333500"/>
            <a:ext cx="3505200" cy="4476750"/>
            <a:chOff x="609600" y="1333500"/>
            <a:chExt cx="3505200" cy="4476750"/>
          </a:xfrm>
        </p:grpSpPr>
        <p:sp>
          <p:nvSpPr>
            <p:cNvPr id="7" name="Rectangle 7"/>
            <p:cNvSpPr/>
            <p:nvPr/>
          </p:nvSpPr>
          <p:spPr>
            <a:xfrm>
              <a:off x="609600" y="1333500"/>
              <a:ext cx="3505200" cy="4476750"/>
            </a:xfrm>
            <a:prstGeom prst="roundRect">
              <a:avLst>
                <a:gd name="adj" fmla="val 3804"/>
              </a:avLst>
            </a:prstGeom>
            <a:solidFill>
              <a:schemeClr val="accent5"/>
            </a:solidFill>
            <a:ln w="14288">
              <a:solidFill>
                <a:srgbClr val="1E3A52"/>
              </a:solidFill>
            </a:ln>
          </p:spPr>
        </p:sp>
        <p:sp>
          <p:nvSpPr>
            <p:cNvPr id="8" name="Rectangle 8"/>
            <p:cNvSpPr/>
            <p:nvPr/>
          </p:nvSpPr>
          <p:spPr>
            <a:xfrm>
              <a:off x="609600" y="1333500"/>
              <a:ext cx="3505200" cy="76200"/>
            </a:xfrm>
            <a:prstGeom prst="roundRect">
              <a:avLst>
                <a:gd name="adj" fmla="val 50000"/>
              </a:avLst>
            </a:prstGeom>
            <a:solidFill>
              <a:srgbClr val="35D0BA"/>
            </a:solidFill>
            <a:ln w="0">
              <a:solidFill>
                <a:srgbClr val="35D0BA"/>
              </a:solidFill>
            </a:ln>
          </p:spPr>
        </p:sp>
        <p:sp>
          <p:nvSpPr>
            <p:cNvPr id="9" name="TextBox 9"/>
            <p:cNvSpPr txBox="1"/>
            <p:nvPr/>
          </p:nvSpPr>
          <p:spPr>
            <a:xfrm>
              <a:off x="887730" y="1666875"/>
              <a:ext cx="2015810"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Graphs &amp; backbones</a:t>
              </a:r>
            </a:p>
          </p:txBody>
        </p:sp>
        <p:sp>
          <p:nvSpPr>
            <p:cNvPr id="10" name="Rectangle 10"/>
            <p:cNvSpPr/>
            <p:nvPr/>
          </p:nvSpPr>
          <p:spPr>
            <a:xfrm>
              <a:off x="895350" y="2133600"/>
              <a:ext cx="1428750" cy="247650"/>
            </a:xfrm>
            <a:prstGeom prst="roundRect">
              <a:avLst>
                <a:gd name="adj" fmla="val 50000"/>
              </a:avLst>
            </a:prstGeom>
            <a:solidFill>
              <a:srgbClr val="4C8DFF"/>
            </a:solidFill>
            <a:ln w="0">
              <a:solidFill>
                <a:srgbClr val="4C8DFF"/>
              </a:solidFill>
            </a:ln>
          </p:spPr>
        </p:sp>
        <p:sp>
          <p:nvSpPr>
            <p:cNvPr id="11" name="TextBox 11"/>
            <p:cNvSpPr txBox="1"/>
            <p:nvPr/>
          </p:nvSpPr>
          <p:spPr>
            <a:xfrm>
              <a:off x="1295337" y="2191702"/>
              <a:ext cx="628775" cy="205359"/>
            </a:xfrm>
            <a:prstGeom prst="rect">
              <a:avLst/>
            </a:prstGeom>
            <a:noFill/>
            <a:ln>
              <a:noFill/>
            </a:ln>
          </p:spPr>
          <p:txBody>
            <a:bodyPr wrap="none" lIns="0" tIns="0" rIns="0" bIns="0" anchor="t" anchorCtr="0">
              <a:spAutoFit/>
            </a:bodyPr>
            <a:lstStyle/>
            <a:p>
              <a:pPr algn="ctr"/>
              <a:r>
                <a:rPr lang="en-US" sz="1050" b="1" dirty="0">
                  <a:solidFill>
                    <a:srgbClr val="08131F"/>
                  </a:solidFill>
                  <a:latin typeface="+mn-lt"/>
                  <a:ea typeface="+mn-ea"/>
                  <a:cs typeface="+mn-cs"/>
                </a:rPr>
                <a:t>Cora-ML</a:t>
              </a:r>
            </a:p>
          </p:txBody>
        </p:sp>
        <p:sp>
          <p:nvSpPr>
            <p:cNvPr id="12" name="Rectangle 12"/>
            <p:cNvSpPr/>
            <p:nvPr/>
          </p:nvSpPr>
          <p:spPr>
            <a:xfrm>
              <a:off x="2419350" y="2133600"/>
              <a:ext cx="1428750" cy="247650"/>
            </a:xfrm>
            <a:prstGeom prst="roundRect">
              <a:avLst>
                <a:gd name="adj" fmla="val 50000"/>
              </a:avLst>
            </a:prstGeom>
            <a:solidFill>
              <a:srgbClr val="4C8DFF"/>
            </a:solidFill>
            <a:ln w="0">
              <a:solidFill>
                <a:srgbClr val="4C8DFF"/>
              </a:solidFill>
            </a:ln>
          </p:spPr>
        </p:sp>
        <p:sp>
          <p:nvSpPr>
            <p:cNvPr id="13" name="TextBox 13"/>
            <p:cNvSpPr txBox="1"/>
            <p:nvPr/>
          </p:nvSpPr>
          <p:spPr>
            <a:xfrm>
              <a:off x="2818243" y="2191702"/>
              <a:ext cx="630963" cy="205359"/>
            </a:xfrm>
            <a:prstGeom prst="rect">
              <a:avLst/>
            </a:prstGeom>
            <a:noFill/>
            <a:ln>
              <a:noFill/>
            </a:ln>
          </p:spPr>
          <p:txBody>
            <a:bodyPr wrap="none" lIns="0" tIns="0" rIns="0" bIns="0" anchor="t" anchorCtr="0">
              <a:spAutoFit/>
            </a:bodyPr>
            <a:lstStyle/>
            <a:p>
              <a:pPr algn="ctr"/>
              <a:r>
                <a:rPr lang="en-US" sz="1050" b="1" dirty="0">
                  <a:solidFill>
                    <a:srgbClr val="08131F"/>
                  </a:solidFill>
                  <a:latin typeface="+mn-lt"/>
                  <a:ea typeface="+mn-ea"/>
                  <a:cs typeface="+mn-cs"/>
                </a:rPr>
                <a:t>Citeseer</a:t>
              </a:r>
            </a:p>
          </p:txBody>
        </p:sp>
        <p:sp>
          <p:nvSpPr>
            <p:cNvPr id="14" name="TextBox 14"/>
            <p:cNvSpPr txBox="1"/>
            <p:nvPr/>
          </p:nvSpPr>
          <p:spPr>
            <a:xfrm>
              <a:off x="889254" y="2613660"/>
              <a:ext cx="2419198"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two standard citation graphs,</a:t>
              </a:r>
            </a:p>
          </p:txBody>
        </p:sp>
        <p:sp>
          <p:nvSpPr>
            <p:cNvPr id="15" name="TextBox 15"/>
            <p:cNvSpPr txBox="1"/>
            <p:nvPr/>
          </p:nvSpPr>
          <p:spPr>
            <a:xfrm>
              <a:off x="889254" y="2842260"/>
              <a:ext cx="2104187"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a few thousand nodes each</a:t>
              </a:r>
            </a:p>
          </p:txBody>
        </p:sp>
        <p:sp>
          <p:nvSpPr>
            <p:cNvPr id="16" name="Line 16"/>
            <p:cNvSpPr/>
            <p:nvPr/>
          </p:nvSpPr>
          <p:spPr>
            <a:xfrm>
              <a:off x="895350" y="3238500"/>
              <a:ext cx="2933700" cy="9525"/>
            </a:xfrm>
            <a:custGeom>
              <a:avLst/>
              <a:gdLst/>
              <a:ahLst/>
              <a:cxnLst/>
              <a:rect l="l" t="t" r="r" b="b"/>
              <a:pathLst>
                <a:path w="2933700" h="9525">
                  <a:moveTo>
                    <a:pt x="0" y="0"/>
                  </a:moveTo>
                  <a:lnTo>
                    <a:pt x="2933700" y="0"/>
                  </a:lnTo>
                </a:path>
              </a:pathLst>
            </a:custGeom>
            <a:noFill/>
            <a:ln w="9525">
              <a:solidFill>
                <a:srgbClr val="1E3A52"/>
              </a:solidFill>
            </a:ln>
          </p:spPr>
        </p:sp>
        <p:sp>
          <p:nvSpPr>
            <p:cNvPr id="17" name="Rectangle 17"/>
            <p:cNvSpPr/>
            <p:nvPr/>
          </p:nvSpPr>
          <p:spPr>
            <a:xfrm>
              <a:off x="895350" y="3486150"/>
              <a:ext cx="1143000" cy="247650"/>
            </a:xfrm>
            <a:prstGeom prst="roundRect">
              <a:avLst>
                <a:gd name="adj" fmla="val 50000"/>
              </a:avLst>
            </a:prstGeom>
            <a:solidFill>
              <a:srgbClr val="35D0BA"/>
            </a:solidFill>
            <a:ln w="0">
              <a:solidFill>
                <a:srgbClr val="35D0BA"/>
              </a:solidFill>
            </a:ln>
          </p:spPr>
        </p:sp>
        <p:sp>
          <p:nvSpPr>
            <p:cNvPr id="18" name="TextBox 18"/>
            <p:cNvSpPr txBox="1"/>
            <p:nvPr/>
          </p:nvSpPr>
          <p:spPr>
            <a:xfrm>
              <a:off x="1332140" y="3544252"/>
              <a:ext cx="269420" cy="205359"/>
            </a:xfrm>
            <a:prstGeom prst="rect">
              <a:avLst/>
            </a:prstGeom>
            <a:noFill/>
            <a:ln>
              <a:noFill/>
            </a:ln>
          </p:spPr>
          <p:txBody>
            <a:bodyPr wrap="none" lIns="0" tIns="0" rIns="0" bIns="0" anchor="t" anchorCtr="0">
              <a:spAutoFit/>
            </a:bodyPr>
            <a:lstStyle/>
            <a:p>
              <a:pPr algn="ctr"/>
              <a:r>
                <a:rPr lang="en-US" sz="1050" b="1" dirty="0">
                  <a:solidFill>
                    <a:srgbClr val="08131F"/>
                  </a:solidFill>
                  <a:latin typeface="+mn-lt"/>
                  <a:ea typeface="+mn-ea"/>
                  <a:cs typeface="+mn-cs"/>
                </a:rPr>
                <a:t>GCN</a:t>
              </a:r>
            </a:p>
          </p:txBody>
        </p:sp>
        <p:sp>
          <p:nvSpPr>
            <p:cNvPr id="19" name="Rectangle 19"/>
            <p:cNvSpPr/>
            <p:nvPr/>
          </p:nvSpPr>
          <p:spPr>
            <a:xfrm>
              <a:off x="2152650" y="3486150"/>
              <a:ext cx="1143000" cy="247650"/>
            </a:xfrm>
            <a:prstGeom prst="roundRect">
              <a:avLst>
                <a:gd name="adj" fmla="val 50000"/>
              </a:avLst>
            </a:prstGeom>
            <a:solidFill>
              <a:srgbClr val="35D0BA"/>
            </a:solidFill>
            <a:ln w="0">
              <a:solidFill>
                <a:srgbClr val="35D0BA"/>
              </a:solidFill>
            </a:ln>
          </p:spPr>
        </p:sp>
        <p:sp>
          <p:nvSpPr>
            <p:cNvPr id="20" name="TextBox 20"/>
            <p:cNvSpPr txBox="1"/>
            <p:nvPr/>
          </p:nvSpPr>
          <p:spPr>
            <a:xfrm>
              <a:off x="2589440" y="3544252"/>
              <a:ext cx="269420" cy="205359"/>
            </a:xfrm>
            <a:prstGeom prst="rect">
              <a:avLst/>
            </a:prstGeom>
            <a:noFill/>
            <a:ln>
              <a:noFill/>
            </a:ln>
          </p:spPr>
          <p:txBody>
            <a:bodyPr wrap="none" lIns="0" tIns="0" rIns="0" bIns="0" anchor="t" anchorCtr="0">
              <a:spAutoFit/>
            </a:bodyPr>
            <a:lstStyle/>
            <a:p>
              <a:pPr algn="ctr"/>
              <a:r>
                <a:rPr lang="en-US" sz="1050" b="1" dirty="0">
                  <a:solidFill>
                    <a:srgbClr val="08131F"/>
                  </a:solidFill>
                  <a:latin typeface="+mn-lt"/>
                  <a:ea typeface="+mn-ea"/>
                  <a:cs typeface="+mn-cs"/>
                </a:rPr>
                <a:t>GAT</a:t>
              </a:r>
            </a:p>
          </p:txBody>
        </p:sp>
        <p:sp>
          <p:nvSpPr>
            <p:cNvPr id="21" name="TextBox 21"/>
            <p:cNvSpPr txBox="1"/>
            <p:nvPr/>
          </p:nvSpPr>
          <p:spPr>
            <a:xfrm>
              <a:off x="889254" y="3966210"/>
              <a:ext cx="2354580"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two representative message-</a:t>
              </a:r>
            </a:p>
          </p:txBody>
        </p:sp>
        <p:sp>
          <p:nvSpPr>
            <p:cNvPr id="22" name="TextBox 22"/>
            <p:cNvSpPr txBox="1"/>
            <p:nvPr/>
          </p:nvSpPr>
          <p:spPr>
            <a:xfrm>
              <a:off x="889254" y="4194810"/>
              <a:ext cx="1441856"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passing backbones</a:t>
              </a:r>
            </a:p>
          </p:txBody>
        </p:sp>
      </p:grpSp>
      <p:grpSp>
        <p:nvGrpSpPr>
          <p:cNvPr id="34" name="Group 34"/>
          <p:cNvGrpSpPr/>
          <p:nvPr/>
        </p:nvGrpSpPr>
        <p:grpSpPr>
          <a:xfrm>
            <a:off x="4343400" y="1333500"/>
            <a:ext cx="3505200" cy="4476750"/>
            <a:chOff x="4343400" y="1333500"/>
            <a:chExt cx="3505200" cy="4476750"/>
          </a:xfrm>
        </p:grpSpPr>
        <p:sp>
          <p:nvSpPr>
            <p:cNvPr id="24" name="Rectangle 24"/>
            <p:cNvSpPr/>
            <p:nvPr/>
          </p:nvSpPr>
          <p:spPr>
            <a:xfrm>
              <a:off x="4343400" y="1333500"/>
              <a:ext cx="3505200" cy="4476750"/>
            </a:xfrm>
            <a:prstGeom prst="roundRect">
              <a:avLst>
                <a:gd name="adj" fmla="val 3804"/>
              </a:avLst>
            </a:prstGeom>
            <a:solidFill>
              <a:schemeClr val="accent5"/>
            </a:solidFill>
            <a:ln w="14288">
              <a:solidFill>
                <a:srgbClr val="1E3A52"/>
              </a:solidFill>
            </a:ln>
          </p:spPr>
        </p:sp>
        <p:sp>
          <p:nvSpPr>
            <p:cNvPr id="25" name="Rectangle 25"/>
            <p:cNvSpPr/>
            <p:nvPr/>
          </p:nvSpPr>
          <p:spPr>
            <a:xfrm>
              <a:off x="4343400" y="1333500"/>
              <a:ext cx="3505200" cy="76200"/>
            </a:xfrm>
            <a:prstGeom prst="roundRect">
              <a:avLst>
                <a:gd name="adj" fmla="val 50000"/>
              </a:avLst>
            </a:prstGeom>
            <a:solidFill>
              <a:srgbClr val="4C8DFF"/>
            </a:solidFill>
            <a:ln w="0">
              <a:solidFill>
                <a:srgbClr val="4C8DFF"/>
              </a:solidFill>
            </a:ln>
          </p:spPr>
        </p:sp>
        <p:sp>
          <p:nvSpPr>
            <p:cNvPr id="26" name="TextBox 26"/>
            <p:cNvSpPr txBox="1"/>
            <p:nvPr/>
          </p:nvSpPr>
          <p:spPr>
            <a:xfrm>
              <a:off x="4621530" y="1666875"/>
              <a:ext cx="1718310"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Attacker budget</a:t>
              </a:r>
            </a:p>
          </p:txBody>
        </p:sp>
        <p:sp>
          <p:nvSpPr>
            <p:cNvPr id="27" name="TextBox 27"/>
            <p:cNvSpPr txBox="1"/>
            <p:nvPr/>
          </p:nvSpPr>
          <p:spPr>
            <a:xfrm>
              <a:off x="5001976" y="2341245"/>
              <a:ext cx="2188049" cy="762000"/>
            </a:xfrm>
            <a:prstGeom prst="rect">
              <a:avLst/>
            </a:prstGeom>
            <a:noFill/>
            <a:ln>
              <a:noFill/>
            </a:ln>
          </p:spPr>
          <p:txBody>
            <a:bodyPr wrap="none" lIns="0" tIns="0" rIns="0" bIns="0" anchor="t" anchorCtr="0">
              <a:spAutoFit/>
            </a:bodyPr>
            <a:lstStyle/>
            <a:p>
              <a:pPr algn="ctr"/>
              <a:r>
                <a:rPr lang="en-US" sz="3900" b="1" dirty="0">
                  <a:solidFill>
                    <a:srgbClr val="4C8DFF"/>
                  </a:solidFill>
                  <a:latin typeface="+mn-lt"/>
                  <a:ea typeface="+mn-ea"/>
                  <a:cs typeface="+mn-cs"/>
                </a:rPr>
                <a:t>20 → 160</a:t>
              </a:r>
            </a:p>
          </p:txBody>
        </p:sp>
        <p:sp>
          <p:nvSpPr>
            <p:cNvPr id="28" name="TextBox 28"/>
            <p:cNvSpPr txBox="1"/>
            <p:nvPr/>
          </p:nvSpPr>
          <p:spPr>
            <a:xfrm>
              <a:off x="5266030" y="3013710"/>
              <a:ext cx="1659941" cy="234696"/>
            </a:xfrm>
            <a:prstGeom prst="rect">
              <a:avLst/>
            </a:prstGeom>
            <a:noFill/>
            <a:ln>
              <a:noFill/>
            </a:ln>
          </p:spPr>
          <p:txBody>
            <a:bodyPr wrap="none" lIns="0" tIns="0" rIns="0" bIns="0" anchor="t" anchorCtr="0">
              <a:spAutoFit/>
            </a:bodyPr>
            <a:lstStyle/>
            <a:p>
              <a:pPr algn="ctr"/>
              <a:r>
                <a:rPr lang="en-US" sz="1200" dirty="0">
                  <a:solidFill>
                    <a:srgbClr val="9DB2C4"/>
                  </a:solidFill>
                  <a:latin typeface="+mn-lt"/>
                  <a:ea typeface="+mn-ea"/>
                  <a:cs typeface="+mn-cs"/>
                </a:rPr>
                <a:t>injected nodes swept</a:t>
              </a:r>
            </a:p>
          </p:txBody>
        </p:sp>
        <p:sp>
          <p:nvSpPr>
            <p:cNvPr id="29" name="Rectangle 29"/>
            <p:cNvSpPr/>
            <p:nvPr/>
          </p:nvSpPr>
          <p:spPr>
            <a:xfrm>
              <a:off x="4629150" y="3581400"/>
              <a:ext cx="2933700" cy="666750"/>
            </a:xfrm>
            <a:prstGeom prst="roundRect">
              <a:avLst>
                <a:gd name="adj" fmla="val 20000"/>
              </a:avLst>
            </a:prstGeom>
            <a:solidFill>
              <a:schemeClr val="accent6"/>
            </a:solidFill>
            <a:ln w="14288">
              <a:solidFill>
                <a:srgbClr val="1E3A52"/>
              </a:solidFill>
            </a:ln>
          </p:spPr>
        </p:sp>
        <p:sp>
          <p:nvSpPr>
            <p:cNvPr id="30" name="TextBox 30"/>
            <p:cNvSpPr txBox="1"/>
            <p:nvPr/>
          </p:nvSpPr>
          <p:spPr>
            <a:xfrm>
              <a:off x="5381645" y="3764756"/>
              <a:ext cx="1428709" cy="220028"/>
            </a:xfrm>
            <a:prstGeom prst="rect">
              <a:avLst/>
            </a:prstGeom>
            <a:noFill/>
            <a:ln>
              <a:noFill/>
            </a:ln>
          </p:spPr>
          <p:txBody>
            <a:bodyPr wrap="none" lIns="0" tIns="0" rIns="0" bIns="0" anchor="t" anchorCtr="0">
              <a:spAutoFit/>
            </a:bodyPr>
            <a:lstStyle/>
            <a:p>
              <a:pPr algn="ctr"/>
              <a:r>
                <a:rPr lang="en-US" sz="1120" dirty="0">
                  <a:solidFill>
                    <a:srgbClr val="9DB2C4"/>
                  </a:solidFill>
                  <a:latin typeface="+mn-lt"/>
                  <a:ea typeface="+mn-ea"/>
                  <a:cs typeface="+mn-cs"/>
                </a:rPr>
                <a:t>per-node edge limit</a:t>
              </a:r>
            </a:p>
          </p:txBody>
        </p:sp>
        <p:sp>
          <p:nvSpPr>
            <p:cNvPr id="31" name="TextBox 31"/>
            <p:cNvSpPr txBox="1"/>
            <p:nvPr/>
          </p:nvSpPr>
          <p:spPr>
            <a:xfrm>
              <a:off x="5127304" y="3985260"/>
              <a:ext cx="1937393" cy="234696"/>
            </a:xfrm>
            <a:prstGeom prst="rect">
              <a:avLst/>
            </a:prstGeom>
            <a:noFill/>
            <a:ln>
              <a:noFill/>
            </a:ln>
          </p:spPr>
          <p:txBody>
            <a:bodyPr wrap="none" lIns="0" tIns="0" rIns="0" bIns="0" anchor="t" anchorCtr="0">
              <a:spAutoFit/>
            </a:bodyPr>
            <a:lstStyle/>
            <a:p>
              <a:pPr algn="ctr"/>
              <a:r>
                <a:rPr lang="en-US" sz="1200" b="1" dirty="0">
                  <a:solidFill>
                    <a:srgbClr val="F5B841"/>
                  </a:solidFill>
                  <a:latin typeface="+mn-lt"/>
                  <a:ea typeface="+mn-ea"/>
                  <a:cs typeface="+mn-cs"/>
                </a:rPr>
                <a:t>= graph average degree</a:t>
              </a:r>
            </a:p>
          </p:txBody>
        </p:sp>
        <p:sp>
          <p:nvSpPr>
            <p:cNvPr id="32" name="TextBox 32"/>
            <p:cNvSpPr txBox="1"/>
            <p:nvPr/>
          </p:nvSpPr>
          <p:spPr>
            <a:xfrm>
              <a:off x="4623435" y="4641056"/>
              <a:ext cx="2029222" cy="220028"/>
            </a:xfrm>
            <a:prstGeom prst="rect">
              <a:avLst/>
            </a:prstGeom>
            <a:noFill/>
            <a:ln>
              <a:noFill/>
            </a:ln>
          </p:spPr>
          <p:txBody>
            <a:bodyPr wrap="none" lIns="0" tIns="0" rIns="0" bIns="0" anchor="t" anchorCtr="0">
              <a:spAutoFit/>
            </a:bodyPr>
            <a:lstStyle/>
            <a:p>
              <a:pPr algn="l"/>
              <a:r>
                <a:rPr lang="en-US" sz="1120" dirty="0">
                  <a:solidFill>
                    <a:srgbClr val="9DB2C4"/>
                  </a:solidFill>
                  <a:latin typeface="+mn-lt"/>
                  <a:ea typeface="+mn-ea"/>
                  <a:cs typeface="+mn-cs"/>
                </a:rPr>
                <a:t>Budget spans light to heavy</a:t>
              </a:r>
            </a:p>
          </p:txBody>
        </p:sp>
        <p:sp>
          <p:nvSpPr>
            <p:cNvPr id="33" name="TextBox 33"/>
            <p:cNvSpPr txBox="1"/>
            <p:nvPr/>
          </p:nvSpPr>
          <p:spPr>
            <a:xfrm>
              <a:off x="4623435" y="4869656"/>
              <a:ext cx="1353322" cy="220028"/>
            </a:xfrm>
            <a:prstGeom prst="rect">
              <a:avLst/>
            </a:prstGeom>
            <a:noFill/>
            <a:ln>
              <a:noFill/>
            </a:ln>
          </p:spPr>
          <p:txBody>
            <a:bodyPr wrap="none" lIns="0" tIns="0" rIns="0" bIns="0" anchor="t" anchorCtr="0">
              <a:spAutoFit/>
            </a:bodyPr>
            <a:lstStyle/>
            <a:p>
              <a:pPr algn="l"/>
              <a:r>
                <a:rPr lang="en-US" sz="1120" dirty="0">
                  <a:solidFill>
                    <a:srgbClr val="9DB2C4"/>
                  </a:solidFill>
                  <a:latin typeface="+mn-lt"/>
                  <a:ea typeface="+mn-ea"/>
                  <a:cs typeface="+mn-cs"/>
                </a:rPr>
                <a:t>injection attacks.</a:t>
              </a:r>
            </a:p>
          </p:txBody>
        </p:sp>
      </p:grpSp>
      <p:grpSp>
        <p:nvGrpSpPr>
          <p:cNvPr id="49" name="Group 49"/>
          <p:cNvGrpSpPr/>
          <p:nvPr/>
        </p:nvGrpSpPr>
        <p:grpSpPr>
          <a:xfrm>
            <a:off x="8077200" y="1333500"/>
            <a:ext cx="3505200" cy="4476750"/>
            <a:chOff x="8077200" y="1333500"/>
            <a:chExt cx="3505200" cy="4476750"/>
          </a:xfrm>
        </p:grpSpPr>
        <p:sp>
          <p:nvSpPr>
            <p:cNvPr id="35" name="Rectangle 35"/>
            <p:cNvSpPr/>
            <p:nvPr/>
          </p:nvSpPr>
          <p:spPr>
            <a:xfrm>
              <a:off x="8077200" y="1333500"/>
              <a:ext cx="3505200" cy="4476750"/>
            </a:xfrm>
            <a:prstGeom prst="roundRect">
              <a:avLst>
                <a:gd name="adj" fmla="val 3804"/>
              </a:avLst>
            </a:prstGeom>
            <a:solidFill>
              <a:schemeClr val="accent5"/>
            </a:solidFill>
            <a:ln w="14288">
              <a:solidFill>
                <a:srgbClr val="1E3A52"/>
              </a:solidFill>
            </a:ln>
          </p:spPr>
        </p:sp>
        <p:sp>
          <p:nvSpPr>
            <p:cNvPr id="36" name="Rectangle 36"/>
            <p:cNvSpPr/>
            <p:nvPr/>
          </p:nvSpPr>
          <p:spPr>
            <a:xfrm>
              <a:off x="8077200" y="1333500"/>
              <a:ext cx="3505200" cy="76200"/>
            </a:xfrm>
            <a:prstGeom prst="roundRect">
              <a:avLst>
                <a:gd name="adj" fmla="val 50000"/>
              </a:avLst>
            </a:prstGeom>
            <a:solidFill>
              <a:srgbClr val="F5B841"/>
            </a:solidFill>
            <a:ln w="0">
              <a:solidFill>
                <a:srgbClr val="F5B841"/>
              </a:solidFill>
            </a:ln>
          </p:spPr>
        </p:sp>
        <p:sp>
          <p:nvSpPr>
            <p:cNvPr id="37" name="TextBox 37"/>
            <p:cNvSpPr txBox="1"/>
            <p:nvPr/>
          </p:nvSpPr>
          <p:spPr>
            <a:xfrm>
              <a:off x="8355330" y="1666875"/>
              <a:ext cx="2015340"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Estimation &amp; solver</a:t>
              </a:r>
            </a:p>
          </p:txBody>
        </p:sp>
        <p:sp>
          <p:nvSpPr>
            <p:cNvPr id="38" name="Rectangle 38"/>
            <p:cNvSpPr/>
            <p:nvPr/>
          </p:nvSpPr>
          <p:spPr>
            <a:xfrm>
              <a:off x="8362950" y="2133600"/>
              <a:ext cx="2933700" cy="781050"/>
            </a:xfrm>
            <a:prstGeom prst="roundRect">
              <a:avLst>
                <a:gd name="adj" fmla="val 17073"/>
              </a:avLst>
            </a:prstGeom>
            <a:solidFill>
              <a:schemeClr val="accent6"/>
            </a:solidFill>
            <a:ln w="14288">
              <a:solidFill>
                <a:srgbClr val="1E3A52"/>
              </a:solidFill>
            </a:ln>
          </p:spPr>
        </p:sp>
        <p:sp>
          <p:nvSpPr>
            <p:cNvPr id="39" name="TextBox 39"/>
            <p:cNvSpPr txBox="1"/>
            <p:nvPr/>
          </p:nvSpPr>
          <p:spPr>
            <a:xfrm>
              <a:off x="8522970" y="2328862"/>
              <a:ext cx="1247313" cy="440055"/>
            </a:xfrm>
            <a:prstGeom prst="rect">
              <a:avLst/>
            </a:prstGeom>
            <a:noFill/>
            <a:ln>
              <a:noFill/>
            </a:ln>
          </p:spPr>
          <p:txBody>
            <a:bodyPr wrap="none" lIns="0" tIns="0" rIns="0" bIns="0" anchor="t" anchorCtr="0">
              <a:spAutoFit/>
            </a:bodyPr>
            <a:lstStyle/>
            <a:p>
              <a:pPr algn="l"/>
              <a:r>
                <a:rPr lang="en-US" sz="2250" b="1" dirty="0">
                  <a:solidFill>
                    <a:srgbClr val="F5B841"/>
                  </a:solidFill>
                  <a:latin typeface="+mn-lt"/>
                  <a:ea typeface="+mn-ea"/>
                  <a:cs typeface="+mn-cs"/>
                </a:rPr>
                <a:t>100,000</a:t>
              </a:r>
            </a:p>
          </p:txBody>
        </p:sp>
        <p:sp>
          <p:nvSpPr>
            <p:cNvPr id="40" name="TextBox 40"/>
            <p:cNvSpPr txBox="1"/>
            <p:nvPr/>
          </p:nvSpPr>
          <p:spPr>
            <a:xfrm>
              <a:off x="8529066" y="2667952"/>
              <a:ext cx="1412247" cy="205359"/>
            </a:xfrm>
            <a:prstGeom prst="rect">
              <a:avLst/>
            </a:prstGeom>
            <a:noFill/>
            <a:ln>
              <a:noFill/>
            </a:ln>
          </p:spPr>
          <p:txBody>
            <a:bodyPr wrap="none" lIns="0" tIns="0" rIns="0" bIns="0" anchor="t" anchorCtr="0">
              <a:spAutoFit/>
            </a:bodyPr>
            <a:lstStyle/>
            <a:p>
              <a:pPr algn="l"/>
              <a:r>
                <a:rPr lang="en-US" sz="1050" dirty="0">
                  <a:solidFill>
                    <a:srgbClr val="9DB2C4"/>
                  </a:solidFill>
                  <a:latin typeface="+mn-lt"/>
                  <a:ea typeface="+mn-ea"/>
                  <a:cs typeface="+mn-cs"/>
                </a:rPr>
                <a:t>Monte Carlo samples</a:t>
              </a:r>
            </a:p>
          </p:txBody>
        </p:sp>
        <p:sp>
          <p:nvSpPr>
            <p:cNvPr id="41" name="Rectangle 41"/>
            <p:cNvSpPr/>
            <p:nvPr/>
          </p:nvSpPr>
          <p:spPr>
            <a:xfrm>
              <a:off x="8362950" y="3048000"/>
              <a:ext cx="2933700" cy="781050"/>
            </a:xfrm>
            <a:prstGeom prst="roundRect">
              <a:avLst>
                <a:gd name="adj" fmla="val 17073"/>
              </a:avLst>
            </a:prstGeom>
            <a:solidFill>
              <a:schemeClr val="accent6"/>
            </a:solidFill>
            <a:ln w="14288">
              <a:solidFill>
                <a:srgbClr val="1E3A52"/>
              </a:solidFill>
            </a:ln>
          </p:spPr>
        </p:sp>
        <p:sp>
          <p:nvSpPr>
            <p:cNvPr id="42" name="TextBox 42"/>
            <p:cNvSpPr txBox="1"/>
            <p:nvPr/>
          </p:nvSpPr>
          <p:spPr>
            <a:xfrm>
              <a:off x="8522970" y="3243262"/>
              <a:ext cx="436312" cy="440055"/>
            </a:xfrm>
            <a:prstGeom prst="rect">
              <a:avLst/>
            </a:prstGeom>
            <a:noFill/>
            <a:ln>
              <a:noFill/>
            </a:ln>
          </p:spPr>
          <p:txBody>
            <a:bodyPr wrap="none" lIns="0" tIns="0" rIns="0" bIns="0" anchor="t" anchorCtr="0">
              <a:spAutoFit/>
            </a:bodyPr>
            <a:lstStyle/>
            <a:p>
              <a:pPr algn="l"/>
              <a:r>
                <a:rPr lang="en-US" sz="2250" b="1" dirty="0">
                  <a:solidFill>
                    <a:srgbClr val="F5B841"/>
                  </a:solidFill>
                  <a:latin typeface="+mn-lt"/>
                  <a:ea typeface="+mn-ea"/>
                  <a:cs typeface="+mn-cs"/>
                </a:rPr>
                <a:t>1%</a:t>
              </a:r>
            </a:p>
          </p:txBody>
        </p:sp>
        <p:sp>
          <p:nvSpPr>
            <p:cNvPr id="43" name="TextBox 43"/>
            <p:cNvSpPr txBox="1"/>
            <p:nvPr/>
          </p:nvSpPr>
          <p:spPr>
            <a:xfrm>
              <a:off x="8529066" y="3582352"/>
              <a:ext cx="1113206" cy="205359"/>
            </a:xfrm>
            <a:prstGeom prst="rect">
              <a:avLst/>
            </a:prstGeom>
            <a:noFill/>
            <a:ln>
              <a:noFill/>
            </a:ln>
          </p:spPr>
          <p:txBody>
            <a:bodyPr wrap="none" lIns="0" tIns="0" rIns="0" bIns="0" anchor="t" anchorCtr="0">
              <a:spAutoFit/>
            </a:bodyPr>
            <a:lstStyle/>
            <a:p>
              <a:pPr algn="l"/>
              <a:r>
                <a:rPr lang="en-US" sz="1050" dirty="0">
                  <a:solidFill>
                    <a:srgbClr val="9DB2C4"/>
                  </a:solidFill>
                  <a:latin typeface="+mn-lt"/>
                  <a:ea typeface="+mn-ea"/>
                  <a:cs typeface="+mn-cs"/>
                </a:rPr>
                <a:t>confidence level</a:t>
              </a:r>
            </a:p>
          </p:txBody>
        </p:sp>
        <p:sp>
          <p:nvSpPr>
            <p:cNvPr id="44" name="Line 44"/>
            <p:cNvSpPr/>
            <p:nvPr/>
          </p:nvSpPr>
          <p:spPr>
            <a:xfrm>
              <a:off x="8362950" y="4114800"/>
              <a:ext cx="2933700" cy="9525"/>
            </a:xfrm>
            <a:custGeom>
              <a:avLst/>
              <a:gdLst/>
              <a:ahLst/>
              <a:cxnLst/>
              <a:rect l="l" t="t" r="r" b="b"/>
              <a:pathLst>
                <a:path w="2933700" h="9525">
                  <a:moveTo>
                    <a:pt x="0" y="0"/>
                  </a:moveTo>
                  <a:lnTo>
                    <a:pt x="2933700" y="0"/>
                  </a:lnTo>
                </a:path>
              </a:pathLst>
            </a:custGeom>
            <a:noFill/>
            <a:ln w="9525">
              <a:solidFill>
                <a:srgbClr val="1E3A52"/>
              </a:solidFill>
            </a:ln>
          </p:spPr>
        </p:sp>
        <p:sp>
          <p:nvSpPr>
            <p:cNvPr id="45" name="TextBox 45"/>
            <p:cNvSpPr txBox="1"/>
            <p:nvPr/>
          </p:nvSpPr>
          <p:spPr>
            <a:xfrm>
              <a:off x="8357235" y="4355306"/>
              <a:ext cx="2428697" cy="220028"/>
            </a:xfrm>
            <a:prstGeom prst="rect">
              <a:avLst/>
            </a:prstGeom>
            <a:noFill/>
            <a:ln>
              <a:noFill/>
            </a:ln>
          </p:spPr>
          <p:txBody>
            <a:bodyPr wrap="none" lIns="0" tIns="0" rIns="0" bIns="0" anchor="t" anchorCtr="0">
              <a:spAutoFit/>
            </a:bodyPr>
            <a:lstStyle/>
            <a:p>
              <a:pPr algn="l"/>
              <a:r>
                <a:rPr lang="en-US" sz="1120" dirty="0">
                  <a:solidFill>
                    <a:srgbClr val="9DB2C4"/>
                  </a:solidFill>
                  <a:latin typeface="+mn-lt"/>
                  <a:ea typeface="+mn-ea"/>
                  <a:cs typeface="+mn-cs"/>
                </a:rPr>
                <a:t>Every linear program solved with</a:t>
              </a:r>
            </a:p>
          </p:txBody>
        </p:sp>
        <p:sp>
          <p:nvSpPr>
            <p:cNvPr id="46" name="Rectangle 46"/>
            <p:cNvSpPr/>
            <p:nvPr/>
          </p:nvSpPr>
          <p:spPr>
            <a:xfrm>
              <a:off x="8362950" y="4686300"/>
              <a:ext cx="1428750" cy="247650"/>
            </a:xfrm>
            <a:prstGeom prst="roundRect">
              <a:avLst>
                <a:gd name="adj" fmla="val 50000"/>
              </a:avLst>
            </a:prstGeom>
            <a:solidFill>
              <a:srgbClr val="48D597"/>
            </a:solidFill>
            <a:ln w="0">
              <a:solidFill>
                <a:srgbClr val="48D597"/>
              </a:solidFill>
            </a:ln>
          </p:spPr>
        </p:sp>
        <p:sp>
          <p:nvSpPr>
            <p:cNvPr id="47" name="TextBox 47"/>
            <p:cNvSpPr txBox="1"/>
            <p:nvPr/>
          </p:nvSpPr>
          <p:spPr>
            <a:xfrm>
              <a:off x="8825000" y="4744402"/>
              <a:ext cx="504650" cy="205359"/>
            </a:xfrm>
            <a:prstGeom prst="rect">
              <a:avLst/>
            </a:prstGeom>
            <a:noFill/>
            <a:ln>
              <a:noFill/>
            </a:ln>
          </p:spPr>
          <p:txBody>
            <a:bodyPr wrap="none" lIns="0" tIns="0" rIns="0" bIns="0" anchor="t" anchorCtr="0">
              <a:spAutoFit/>
            </a:bodyPr>
            <a:lstStyle/>
            <a:p>
              <a:pPr algn="ctr"/>
              <a:r>
                <a:rPr lang="en-US" sz="1050" b="1" dirty="0">
                  <a:solidFill>
                    <a:srgbClr val="08131F"/>
                  </a:solidFill>
                  <a:latin typeface="+mn-lt"/>
                  <a:ea typeface="+mn-ea"/>
                  <a:cs typeface="+mn-cs"/>
                </a:rPr>
                <a:t>MOSEK</a:t>
              </a:r>
            </a:p>
          </p:txBody>
        </p:sp>
        <p:sp>
          <p:nvSpPr>
            <p:cNvPr id="48" name="TextBox 48"/>
            <p:cNvSpPr txBox="1"/>
            <p:nvPr/>
          </p:nvSpPr>
          <p:spPr>
            <a:xfrm>
              <a:off x="9881235" y="4736306"/>
              <a:ext cx="706112" cy="220028"/>
            </a:xfrm>
            <a:prstGeom prst="rect">
              <a:avLst/>
            </a:prstGeom>
            <a:noFill/>
            <a:ln>
              <a:noFill/>
            </a:ln>
          </p:spPr>
          <p:txBody>
            <a:bodyPr wrap="none" lIns="0" tIns="0" rIns="0" bIns="0" anchor="t" anchorCtr="0">
              <a:spAutoFit/>
            </a:bodyPr>
            <a:lstStyle/>
            <a:p>
              <a:pPr algn="l"/>
              <a:r>
                <a:rPr lang="en-US" sz="1120" dirty="0">
                  <a:solidFill>
                    <a:srgbClr val="9DB2C4"/>
                  </a:solidFill>
                  <a:latin typeface="+mn-lt"/>
                  <a:ea typeface="+mn-ea"/>
                  <a:cs typeface="+mn-cs"/>
                </a:rPr>
                <a:t>via CVXPY</a:t>
              </a:r>
            </a:p>
          </p:txBody>
        </p:sp>
      </p:grpSp>
      <p:sp>
        <p:nvSpPr>
          <p:cNvPr id="50" name="cue_s06_c1_evaluation_two_standard_citation_gra" title="cue_s06_c1_evaluation_two_standard_citation_gra" descr="cue_s06_c1_evaluation_two_standard_citation_gra The evaluation uses two standard citation graphs, Cora-ML and Citeseer, with a few thousand nodes each, and two representative backbones, a graph convolution network and a graph attention network."/>
          <p:cNvSpPr/>
          <p:nvPr/>
        </p:nvSpPr>
        <p:spPr>
          <a:xfrm>
            <a:off x="609600" y="1333195"/>
            <a:ext cx="3505199" cy="44769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6_c2_attacker_budget_swept_twenty_hundred" title="cue_s06_c2_attacker_budget_swept_twenty_hundred" descr="cue_s06_c2_attacker_budget_swept_twenty_hundred The attacker's budget is swept from twenty up to a hundred and sixty injected nodes, with the per-node edge limit set to each graph's average degree."/>
          <p:cNvSpPr/>
          <p:nvPr/>
        </p:nvSpPr>
        <p:spPr>
          <a:xfrm>
            <a:off x="4344009" y="1333195"/>
            <a:ext cx="3505199" cy="44769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6_c3_smoothed_classifier_estimated_hundre" title="cue_s06_c3_smoothed_classifier_estimated_hundre" descr="cue_s06_c3_smoothed_classifier_estimated_hundre The smoothed classifier is estimated with a hundred thousand Monte Carlo samples at a one percent confidence level, and every linear program is solved with the MOSEK solver through CVXPY."/>
          <p:cNvSpPr/>
          <p:nvPr/>
        </p:nvSpPr>
        <p:spPr>
          <a:xfrm>
            <a:off x="8077200" y="1333195"/>
            <a:ext cx="3505199" cy="44769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57150" cy="381000"/>
          </a:xfrm>
          <a:prstGeom prst="roundRect">
            <a:avLst>
              <a:gd name="adj" fmla="val 50000"/>
            </a:avLst>
          </a:prstGeom>
          <a:solidFill>
            <a:srgbClr val="35D0BA"/>
          </a:solidFill>
          <a:ln w="0">
            <a:solidFill>
              <a:srgbClr val="35D0BA"/>
            </a:solidFill>
          </a:ln>
        </p:spPr>
        <p:txBody>
          <a:bodyPr/>
          <a:p/>
        </p:txBody>
      </p:sp>
      <p:sp>
        <p:nvSpPr>
          <p:cNvPr id="3" name="TextBox 3"/>
          <p:cNvSpPr txBox="1"/>
          <p:nvPr/>
        </p:nvSpPr>
        <p:spPr>
          <a:xfrm>
            <a:off x="813435" y="469106"/>
            <a:ext cx="1081644" cy="220028"/>
          </a:xfrm>
          <a:prstGeom prst="rect">
            <a:avLst/>
          </a:prstGeom>
          <a:noFill/>
          <a:ln>
            <a:noFill/>
          </a:ln>
        </p:spPr>
        <p:txBody>
          <a:bodyPr wrap="none" lIns="0" tIns="0" rIns="0" bIns="0" anchor="t" anchorCtr="0">
            <a:spAutoFit/>
          </a:bodyPr>
          <a:lstStyle/>
          <a:p>
            <a:pPr algn="l"/>
            <a:r>
              <a:rPr lang="en-US" sz="1120" b="1" spc="150" dirty="0">
                <a:solidFill>
                  <a:srgbClr val="35D0BA"/>
                </a:solidFill>
                <a:latin typeface="+mn-lt"/>
                <a:ea typeface="+mn-ea"/>
                <a:cs typeface="+mn-cs"/>
              </a:rPr>
              <a:t>KEY RESULT</a:t>
            </a:r>
          </a:p>
        </p:txBody>
      </p:sp>
      <p:sp>
        <p:nvSpPr>
          <p:cNvPr id="4" name="TextBox 4"/>
          <p:cNvSpPr txBox="1"/>
          <p:nvPr/>
        </p:nvSpPr>
        <p:spPr>
          <a:xfrm>
            <a:off x="807720" y="614362"/>
            <a:ext cx="734812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Sample-wise collapses to zero; collective holds</a:t>
            </a:r>
          </a:p>
        </p:txBody>
      </p:sp>
      <p:sp>
        <p:nvSpPr>
          <p:cNvPr id="5" name="TextBox 5"/>
          <p:cNvSpPr txBox="1"/>
          <p:nvPr/>
        </p:nvSpPr>
        <p:spPr>
          <a:xfrm>
            <a:off x="11046336" y="526256"/>
            <a:ext cx="541779" cy="220028"/>
          </a:xfrm>
          <a:prstGeom prst="rect">
            <a:avLst/>
          </a:prstGeom>
          <a:noFill/>
          <a:ln>
            <a:noFill/>
          </a:ln>
        </p:spPr>
        <p:txBody>
          <a:bodyPr wrap="none" lIns="0" tIns="0" rIns="0" bIns="0" anchor="t" anchorCtr="0">
            <a:spAutoFit/>
          </a:bodyPr>
          <a:lstStyle/>
          <a:p>
            <a:pPr algn="r"/>
            <a:r>
              <a:rPr lang="en-US" sz="1120" b="1" dirty="0">
                <a:solidFill>
                  <a:srgbClr val="9DB2C4"/>
                </a:solidFill>
                <a:latin typeface="+mn-lt"/>
                <a:ea typeface="+mn-ea"/>
                <a:cs typeface="+mn-cs"/>
              </a:rPr>
              <a:t>07 / 10</a:t>
            </a:r>
          </a:p>
        </p:txBody>
      </p:sp>
      <p:sp>
        <p:nvSpPr>
          <p:cNvPr id="6" name="Line 6"/>
          <p:cNvSpPr/>
          <p:nvPr/>
        </p:nvSpPr>
        <p:spPr>
          <a:xfrm>
            <a:off x="609600" y="990600"/>
            <a:ext cx="10972800" cy="9525"/>
          </a:xfrm>
          <a:custGeom>
            <a:avLst/>
            <a:gdLst/>
            <a:ahLst/>
            <a:cxnLst/>
            <a:rect l="l" t="t" r="r" b="b"/>
            <a:pathLst>
              <a:path w="10972800" h="9525">
                <a:moveTo>
                  <a:pt x="0" y="0"/>
                </a:moveTo>
                <a:lnTo>
                  <a:pt x="10972800" y="0"/>
                </a:lnTo>
              </a:path>
            </a:pathLst>
          </a:custGeom>
          <a:noFill/>
          <a:ln w="14288">
            <a:solidFill>
              <a:srgbClr val="1E3A52"/>
            </a:solidFill>
          </a:ln>
        </p:spPr>
        <p:txBody>
          <a:bodyPr/>
          <a:p/>
        </p:txBody>
      </p:sp>
      <p:grpSp>
        <p:nvGrpSpPr>
          <p:cNvPr id="15" name="Group 15"/>
          <p:cNvGrpSpPr/>
          <p:nvPr/>
        </p:nvGrpSpPr>
        <p:grpSpPr>
          <a:xfrm>
            <a:off x="609600" y="1162050"/>
            <a:ext cx="5334000" cy="2457450"/>
            <a:chOff x="609600" y="1162050"/>
            <a:chExt cx="5334000" cy="2457450"/>
          </a:xfrm>
        </p:grpSpPr>
        <p:sp>
          <p:nvSpPr>
            <p:cNvPr id="7" name="Rectangle 7"/>
            <p:cNvSpPr/>
            <p:nvPr/>
          </p:nvSpPr>
          <p:spPr>
            <a:xfrm>
              <a:off x="609600" y="1162050"/>
              <a:ext cx="5334000" cy="2457450"/>
            </a:xfrm>
            <a:prstGeom prst="roundRect">
              <a:avLst>
                <a:gd name="adj" fmla="val 5426"/>
              </a:avLst>
            </a:prstGeom>
            <a:solidFill>
              <a:schemeClr val="accent5"/>
            </a:solidFill>
            <a:ln w="14288">
              <a:solidFill>
                <a:srgbClr val="1E3A52"/>
              </a:solidFill>
            </a:ln>
          </p:spPr>
        </p:sp>
        <p:sp>
          <p:nvSpPr>
            <p:cNvPr id="8" name="Rectangle 8"/>
            <p:cNvSpPr/>
            <p:nvPr/>
          </p:nvSpPr>
          <p:spPr>
            <a:xfrm>
              <a:off x="609600" y="1162050"/>
              <a:ext cx="57150" cy="2457450"/>
            </a:xfrm>
            <a:prstGeom prst="roundRect">
              <a:avLst>
                <a:gd name="adj" fmla="val 50000"/>
              </a:avLst>
            </a:prstGeom>
            <a:solidFill>
              <a:srgbClr val="35D0BA"/>
            </a:solidFill>
            <a:ln w="0">
              <a:solidFill>
                <a:srgbClr val="35D0BA"/>
              </a:solidFill>
            </a:ln>
          </p:spPr>
        </p:sp>
        <p:sp>
          <p:nvSpPr>
            <p:cNvPr id="9" name="TextBox 9"/>
            <p:cNvSpPr txBox="1"/>
            <p:nvPr/>
          </p:nvSpPr>
          <p:spPr>
            <a:xfrm>
              <a:off x="849630" y="1400175"/>
              <a:ext cx="3044053"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A night-and-day improvement</a:t>
              </a:r>
            </a:p>
          </p:txBody>
        </p:sp>
        <p:sp>
          <p:nvSpPr>
            <p:cNvPr id="10" name="TextBox 10"/>
            <p:cNvSpPr txBox="1"/>
            <p:nvPr/>
          </p:nvSpPr>
          <p:spPr>
            <a:xfrm>
              <a:off x="850392" y="1816418"/>
              <a:ext cx="388169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Under graph injection attacks, sample-wise</a:t>
              </a:r>
            </a:p>
          </p:txBody>
        </p:sp>
        <p:sp>
          <p:nvSpPr>
            <p:cNvPr id="11" name="TextBox 11"/>
            <p:cNvSpPr txBox="1"/>
            <p:nvPr/>
          </p:nvSpPr>
          <p:spPr>
            <a:xfrm>
              <a:off x="850392" y="2073592"/>
              <a:ext cx="386654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certification is useless while the collective</a:t>
              </a:r>
            </a:p>
          </p:txBody>
        </p:sp>
        <p:sp>
          <p:nvSpPr>
            <p:cNvPr id="12" name="TextBox 12"/>
            <p:cNvSpPr txBox="1"/>
            <p:nvPr/>
          </p:nvSpPr>
          <p:spPr>
            <a:xfrm>
              <a:off x="850392" y="2330768"/>
              <a:ext cx="233086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certificates stay strong.</a:t>
              </a:r>
            </a:p>
          </p:txBody>
        </p:sp>
        <p:sp>
          <p:nvSpPr>
            <p:cNvPr id="13" name="Rectangle 13"/>
            <p:cNvSpPr/>
            <p:nvPr/>
          </p:nvSpPr>
          <p:spPr>
            <a:xfrm>
              <a:off x="857250" y="3028950"/>
              <a:ext cx="3048000" cy="247650"/>
            </a:xfrm>
            <a:prstGeom prst="roundRect">
              <a:avLst>
                <a:gd name="adj" fmla="val 50000"/>
              </a:avLst>
            </a:prstGeom>
            <a:solidFill>
              <a:srgbClr val="35D0BA"/>
            </a:solidFill>
            <a:ln w="0">
              <a:solidFill>
                <a:srgbClr val="35D0BA"/>
              </a:solidFill>
            </a:ln>
          </p:spPr>
        </p:sp>
        <p:sp>
          <p:nvSpPr>
            <p:cNvPr id="14" name="TextBox 14"/>
            <p:cNvSpPr txBox="1"/>
            <p:nvPr/>
          </p:nvSpPr>
          <p:spPr>
            <a:xfrm>
              <a:off x="1455721" y="3087052"/>
              <a:ext cx="1851058" cy="205359"/>
            </a:xfrm>
            <a:prstGeom prst="rect">
              <a:avLst/>
            </a:prstGeom>
            <a:noFill/>
            <a:ln>
              <a:noFill/>
            </a:ln>
          </p:spPr>
          <p:txBody>
            <a:bodyPr wrap="none" lIns="0" tIns="0" rIns="0" bIns="0" anchor="t" anchorCtr="0">
              <a:spAutoFit/>
            </a:bodyPr>
            <a:lstStyle/>
            <a:p>
              <a:pPr algn="ctr"/>
              <a:r>
                <a:rPr lang="en-US" sz="1050" b="1" dirty="0">
                  <a:solidFill>
                    <a:srgbClr val="08131F"/>
                  </a:solidFill>
                  <a:latin typeface="+mn-lt"/>
                  <a:ea typeface="+mn-ea"/>
                  <a:cs typeface="+mn-cs"/>
                </a:rPr>
                <a:t>collective &gt;&gt; sample-wise</a:t>
              </a:r>
            </a:p>
          </p:txBody>
        </p:sp>
      </p:grpSp>
      <p:grpSp>
        <p:nvGrpSpPr>
          <p:cNvPr id="38" name="Group 38"/>
          <p:cNvGrpSpPr/>
          <p:nvPr/>
        </p:nvGrpSpPr>
        <p:grpSpPr>
          <a:xfrm>
            <a:off x="6248400" y="1162050"/>
            <a:ext cx="5334000" cy="2457450"/>
            <a:chOff x="6248400" y="1162050"/>
            <a:chExt cx="5334000" cy="2457450"/>
          </a:xfrm>
        </p:grpSpPr>
        <p:sp>
          <p:nvSpPr>
            <p:cNvPr id="16" name="Rectangle 16"/>
            <p:cNvSpPr/>
            <p:nvPr/>
          </p:nvSpPr>
          <p:spPr>
            <a:xfrm>
              <a:off x="6248400" y="1162050"/>
              <a:ext cx="5334000" cy="2457450"/>
            </a:xfrm>
            <a:prstGeom prst="roundRect">
              <a:avLst>
                <a:gd name="adj" fmla="val 5426"/>
              </a:avLst>
            </a:prstGeom>
            <a:solidFill>
              <a:schemeClr val="accent5"/>
            </a:solidFill>
            <a:ln w="14288">
              <a:solidFill>
                <a:srgbClr val="1E3A52"/>
              </a:solidFill>
            </a:ln>
          </p:spPr>
        </p:sp>
        <p:sp>
          <p:nvSpPr>
            <p:cNvPr id="17" name="Rectangle 17"/>
            <p:cNvSpPr/>
            <p:nvPr/>
          </p:nvSpPr>
          <p:spPr>
            <a:xfrm>
              <a:off x="6248400" y="1162050"/>
              <a:ext cx="57150" cy="2457450"/>
            </a:xfrm>
            <a:prstGeom prst="roundRect">
              <a:avLst>
                <a:gd name="adj" fmla="val 50000"/>
              </a:avLst>
            </a:prstGeom>
            <a:solidFill>
              <a:srgbClr val="4C8DFF"/>
            </a:solidFill>
            <a:ln w="0">
              <a:solidFill>
                <a:srgbClr val="4C8DFF"/>
              </a:solidFill>
            </a:ln>
          </p:spPr>
        </p:sp>
        <p:sp>
          <p:nvSpPr>
            <p:cNvPr id="18" name="TextBox 18"/>
            <p:cNvSpPr txBox="1"/>
            <p:nvPr/>
          </p:nvSpPr>
          <p:spPr>
            <a:xfrm>
              <a:off x="6488811" y="1389221"/>
              <a:ext cx="321213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Certified ratio vs injected nodes</a:t>
              </a:r>
            </a:p>
          </p:txBody>
        </p:sp>
        <p:sp>
          <p:nvSpPr>
            <p:cNvPr id="19" name="Line 19"/>
            <p:cNvSpPr/>
            <p:nvPr/>
          </p:nvSpPr>
          <p:spPr>
            <a:xfrm>
              <a:off x="6953250" y="3162300"/>
              <a:ext cx="4000500" cy="9525"/>
            </a:xfrm>
            <a:custGeom>
              <a:avLst/>
              <a:gdLst/>
              <a:ahLst/>
              <a:cxnLst/>
              <a:rect l="l" t="t" r="r" b="b"/>
              <a:pathLst>
                <a:path w="4000500" h="9525">
                  <a:moveTo>
                    <a:pt x="0" y="0"/>
                  </a:moveTo>
                  <a:lnTo>
                    <a:pt x="4000500" y="0"/>
                  </a:lnTo>
                </a:path>
              </a:pathLst>
            </a:custGeom>
            <a:noFill/>
            <a:ln w="19050">
              <a:solidFill>
                <a:srgbClr val="9DB2C4"/>
              </a:solidFill>
            </a:ln>
          </p:spPr>
        </p:sp>
        <p:sp>
          <p:nvSpPr>
            <p:cNvPr id="20" name="Line 20"/>
            <p:cNvSpPr/>
            <p:nvPr/>
          </p:nvSpPr>
          <p:spPr>
            <a:xfrm>
              <a:off x="6953250" y="1924050"/>
              <a:ext cx="9525" cy="1238250"/>
            </a:xfrm>
            <a:custGeom>
              <a:avLst/>
              <a:gdLst/>
              <a:ahLst/>
              <a:cxnLst/>
              <a:rect l="l" t="t" r="r" b="b"/>
              <a:pathLst>
                <a:path w="9525" h="1238250">
                  <a:moveTo>
                    <a:pt x="0" y="1238250"/>
                  </a:moveTo>
                  <a:lnTo>
                    <a:pt x="0" y="0"/>
                  </a:lnTo>
                </a:path>
              </a:pathLst>
            </a:custGeom>
            <a:noFill/>
            <a:ln w="19050">
              <a:solidFill>
                <a:srgbClr val="9DB2C4"/>
              </a:solidFill>
            </a:ln>
          </p:spPr>
        </p:sp>
        <p:sp>
          <p:nvSpPr>
            <p:cNvPr id="21" name="TextBox 21"/>
            <p:cNvSpPr txBox="1"/>
            <p:nvPr/>
          </p:nvSpPr>
          <p:spPr>
            <a:xfrm>
              <a:off x="6562458" y="1826895"/>
              <a:ext cx="300304" cy="176212"/>
            </a:xfrm>
            <a:prstGeom prst="rect">
              <a:avLst/>
            </a:prstGeom>
            <a:noFill/>
            <a:ln>
              <a:noFill/>
            </a:ln>
          </p:spPr>
          <p:txBody>
            <a:bodyPr wrap="none" lIns="0" tIns="0" rIns="0" bIns="0" anchor="t" anchorCtr="0">
              <a:spAutoFit/>
            </a:bodyPr>
            <a:lstStyle/>
            <a:p>
              <a:pPr algn="r"/>
              <a:r>
                <a:rPr lang="en-US" sz="900" dirty="0">
                  <a:solidFill>
                    <a:srgbClr val="9DB2C4"/>
                  </a:solidFill>
                  <a:latin typeface="+mn-lt"/>
                  <a:ea typeface="+mn-ea"/>
                  <a:cs typeface="+mn-cs"/>
                </a:rPr>
                <a:t>100%</a:t>
              </a:r>
            </a:p>
          </p:txBody>
        </p:sp>
        <p:sp>
          <p:nvSpPr>
            <p:cNvPr id="22" name="TextBox 22"/>
            <p:cNvSpPr txBox="1"/>
            <p:nvPr/>
          </p:nvSpPr>
          <p:spPr>
            <a:xfrm>
              <a:off x="6695732" y="3103245"/>
              <a:ext cx="167030" cy="176212"/>
            </a:xfrm>
            <a:prstGeom prst="rect">
              <a:avLst/>
            </a:prstGeom>
            <a:noFill/>
            <a:ln>
              <a:noFill/>
            </a:ln>
          </p:spPr>
          <p:txBody>
            <a:bodyPr wrap="none" lIns="0" tIns="0" rIns="0" bIns="0" anchor="t" anchorCtr="0">
              <a:spAutoFit/>
            </a:bodyPr>
            <a:lstStyle/>
            <a:p>
              <a:pPr algn="r"/>
              <a:r>
                <a:rPr lang="en-US" sz="900" dirty="0">
                  <a:solidFill>
                    <a:srgbClr val="9DB2C4"/>
                  </a:solidFill>
                  <a:latin typeface="+mn-lt"/>
                  <a:ea typeface="+mn-ea"/>
                  <a:cs typeface="+mn-cs"/>
                </a:rPr>
                <a:t>0%</a:t>
              </a:r>
            </a:p>
          </p:txBody>
        </p:sp>
        <p:sp>
          <p:nvSpPr>
            <p:cNvPr id="23" name="TextBox 23"/>
            <p:cNvSpPr txBox="1"/>
            <p:nvPr/>
          </p:nvSpPr>
          <p:spPr>
            <a:xfrm>
              <a:off x="8213051" y="3342799"/>
              <a:ext cx="1480899" cy="190690"/>
            </a:xfrm>
            <a:prstGeom prst="rect">
              <a:avLst/>
            </a:prstGeom>
            <a:noFill/>
            <a:ln>
              <a:noFill/>
            </a:ln>
          </p:spPr>
          <p:txBody>
            <a:bodyPr wrap="none" lIns="0" tIns="0" rIns="0" bIns="0" anchor="t" anchorCtr="0">
              <a:spAutoFit/>
            </a:bodyPr>
            <a:lstStyle/>
            <a:p>
              <a:pPr algn="ctr"/>
              <a:r>
                <a:rPr lang="en-US" sz="980" dirty="0">
                  <a:solidFill>
                    <a:srgbClr val="9DB2C4"/>
                  </a:solidFill>
                  <a:latin typeface="+mn-lt"/>
                  <a:ea typeface="+mn-ea"/>
                  <a:cs typeface="+mn-cs"/>
                </a:rPr>
                <a:t>injected nodes 20 → 160</a:t>
              </a:r>
            </a:p>
          </p:txBody>
        </p:sp>
        <p:sp>
          <p:nvSpPr>
            <p:cNvPr id="24" name="Polyline 24"/>
            <p:cNvSpPr/>
            <p:nvPr/>
          </p:nvSpPr>
          <p:spPr>
            <a:xfrm>
              <a:off x="6953250" y="2023110"/>
              <a:ext cx="4000500" cy="160973"/>
            </a:xfrm>
            <a:custGeom>
              <a:avLst/>
              <a:gdLst/>
              <a:ahLst/>
              <a:cxnLst/>
              <a:rect l="l" t="t" r="r" b="b"/>
              <a:pathLst>
                <a:path w="4000500" h="160973">
                  <a:moveTo>
                    <a:pt x="0" y="0"/>
                  </a:moveTo>
                  <a:lnTo>
                    <a:pt x="1000125" y="24765"/>
                  </a:lnTo>
                  <a:lnTo>
                    <a:pt x="2000250" y="74295"/>
                  </a:lnTo>
                  <a:lnTo>
                    <a:pt x="3000375" y="111442"/>
                  </a:lnTo>
                  <a:lnTo>
                    <a:pt x="4000500" y="160973"/>
                  </a:lnTo>
                </a:path>
              </a:pathLst>
            </a:custGeom>
            <a:noFill/>
            <a:ln w="28575">
              <a:solidFill>
                <a:srgbClr val="48D597"/>
              </a:solidFill>
            </a:ln>
          </p:spPr>
        </p:sp>
        <p:sp>
          <p:nvSpPr>
            <p:cNvPr id="25" name="Polyline 25"/>
            <p:cNvSpPr/>
            <p:nvPr/>
          </p:nvSpPr>
          <p:spPr>
            <a:xfrm>
              <a:off x="6953250" y="2790825"/>
              <a:ext cx="4000500" cy="371475"/>
            </a:xfrm>
            <a:custGeom>
              <a:avLst/>
              <a:gdLst/>
              <a:ahLst/>
              <a:cxnLst/>
              <a:rect l="l" t="t" r="r" b="b"/>
              <a:pathLst>
                <a:path w="4000500" h="371475">
                  <a:moveTo>
                    <a:pt x="0" y="0"/>
                  </a:moveTo>
                  <a:lnTo>
                    <a:pt x="1000125" y="222885"/>
                  </a:lnTo>
                  <a:lnTo>
                    <a:pt x="2000250" y="334328"/>
                  </a:lnTo>
                  <a:lnTo>
                    <a:pt x="3000375" y="371475"/>
                  </a:lnTo>
                  <a:lnTo>
                    <a:pt x="4000500" y="371475"/>
                  </a:lnTo>
                </a:path>
              </a:pathLst>
            </a:custGeom>
            <a:noFill/>
            <a:ln w="28575">
              <a:solidFill>
                <a:srgbClr val="FF6B6B"/>
              </a:solidFill>
            </a:ln>
          </p:spPr>
        </p:sp>
        <p:sp>
          <p:nvSpPr>
            <p:cNvPr id="26" name="Ellipse 26"/>
            <p:cNvSpPr/>
            <p:nvPr/>
          </p:nvSpPr>
          <p:spPr>
            <a:xfrm>
              <a:off x="6915150" y="1985010"/>
              <a:ext cx="76200" cy="76200"/>
            </a:xfrm>
            <a:prstGeom prst="ellipse">
              <a:avLst/>
            </a:prstGeom>
            <a:solidFill>
              <a:srgbClr val="48D597"/>
            </a:solidFill>
            <a:ln w="9525">
              <a:solidFill>
                <a:srgbClr val="10263B"/>
              </a:solidFill>
            </a:ln>
          </p:spPr>
        </p:sp>
        <p:sp>
          <p:nvSpPr>
            <p:cNvPr id="27" name="Ellipse 27"/>
            <p:cNvSpPr/>
            <p:nvPr/>
          </p:nvSpPr>
          <p:spPr>
            <a:xfrm>
              <a:off x="7915275" y="2009775"/>
              <a:ext cx="76200" cy="76200"/>
            </a:xfrm>
            <a:prstGeom prst="ellipse">
              <a:avLst/>
            </a:prstGeom>
            <a:solidFill>
              <a:srgbClr val="48D597"/>
            </a:solidFill>
            <a:ln w="9525">
              <a:solidFill>
                <a:srgbClr val="10263B"/>
              </a:solidFill>
            </a:ln>
          </p:spPr>
        </p:sp>
        <p:sp>
          <p:nvSpPr>
            <p:cNvPr id="28" name="Ellipse 28"/>
            <p:cNvSpPr/>
            <p:nvPr/>
          </p:nvSpPr>
          <p:spPr>
            <a:xfrm>
              <a:off x="8915400" y="2059305"/>
              <a:ext cx="76200" cy="76200"/>
            </a:xfrm>
            <a:prstGeom prst="ellipse">
              <a:avLst/>
            </a:prstGeom>
            <a:solidFill>
              <a:srgbClr val="48D597"/>
            </a:solidFill>
            <a:ln w="9525">
              <a:solidFill>
                <a:srgbClr val="10263B"/>
              </a:solidFill>
            </a:ln>
          </p:spPr>
        </p:sp>
        <p:sp>
          <p:nvSpPr>
            <p:cNvPr id="29" name="Ellipse 29"/>
            <p:cNvSpPr/>
            <p:nvPr/>
          </p:nvSpPr>
          <p:spPr>
            <a:xfrm>
              <a:off x="9915525" y="2096452"/>
              <a:ext cx="76200" cy="76200"/>
            </a:xfrm>
            <a:prstGeom prst="ellipse">
              <a:avLst/>
            </a:prstGeom>
            <a:solidFill>
              <a:srgbClr val="48D597"/>
            </a:solidFill>
            <a:ln w="9525">
              <a:solidFill>
                <a:srgbClr val="10263B"/>
              </a:solidFill>
            </a:ln>
          </p:spPr>
        </p:sp>
        <p:sp>
          <p:nvSpPr>
            <p:cNvPr id="30" name="Ellipse 30"/>
            <p:cNvSpPr/>
            <p:nvPr/>
          </p:nvSpPr>
          <p:spPr>
            <a:xfrm>
              <a:off x="10915650" y="2145982"/>
              <a:ext cx="76200" cy="76200"/>
            </a:xfrm>
            <a:prstGeom prst="ellipse">
              <a:avLst/>
            </a:prstGeom>
            <a:solidFill>
              <a:srgbClr val="48D597"/>
            </a:solidFill>
            <a:ln w="9525">
              <a:solidFill>
                <a:srgbClr val="10263B"/>
              </a:solidFill>
            </a:ln>
          </p:spPr>
        </p:sp>
        <p:sp>
          <p:nvSpPr>
            <p:cNvPr id="31" name="Ellipse 31"/>
            <p:cNvSpPr/>
            <p:nvPr/>
          </p:nvSpPr>
          <p:spPr>
            <a:xfrm>
              <a:off x="6915150" y="2752725"/>
              <a:ext cx="76200" cy="76200"/>
            </a:xfrm>
            <a:prstGeom prst="ellipse">
              <a:avLst/>
            </a:prstGeom>
            <a:solidFill>
              <a:srgbClr val="FF6B6B"/>
            </a:solidFill>
            <a:ln w="9525">
              <a:solidFill>
                <a:srgbClr val="10263B"/>
              </a:solidFill>
            </a:ln>
          </p:spPr>
        </p:sp>
        <p:sp>
          <p:nvSpPr>
            <p:cNvPr id="32" name="Ellipse 32"/>
            <p:cNvSpPr/>
            <p:nvPr/>
          </p:nvSpPr>
          <p:spPr>
            <a:xfrm>
              <a:off x="7915275" y="2975610"/>
              <a:ext cx="76200" cy="76200"/>
            </a:xfrm>
            <a:prstGeom prst="ellipse">
              <a:avLst/>
            </a:prstGeom>
            <a:solidFill>
              <a:srgbClr val="FF6B6B"/>
            </a:solidFill>
            <a:ln w="9525">
              <a:solidFill>
                <a:srgbClr val="10263B"/>
              </a:solidFill>
            </a:ln>
          </p:spPr>
        </p:sp>
        <p:sp>
          <p:nvSpPr>
            <p:cNvPr id="33" name="Ellipse 33"/>
            <p:cNvSpPr/>
            <p:nvPr/>
          </p:nvSpPr>
          <p:spPr>
            <a:xfrm>
              <a:off x="8915400" y="3087052"/>
              <a:ext cx="76200" cy="76200"/>
            </a:xfrm>
            <a:prstGeom prst="ellipse">
              <a:avLst/>
            </a:prstGeom>
            <a:solidFill>
              <a:srgbClr val="FF6B6B"/>
            </a:solidFill>
            <a:ln w="9525">
              <a:solidFill>
                <a:srgbClr val="10263B"/>
              </a:solidFill>
            </a:ln>
          </p:spPr>
        </p:sp>
        <p:sp>
          <p:nvSpPr>
            <p:cNvPr id="34" name="Ellipse 34"/>
            <p:cNvSpPr/>
            <p:nvPr/>
          </p:nvSpPr>
          <p:spPr>
            <a:xfrm>
              <a:off x="9915525" y="3124200"/>
              <a:ext cx="76200" cy="76200"/>
            </a:xfrm>
            <a:prstGeom prst="ellipse">
              <a:avLst/>
            </a:prstGeom>
            <a:solidFill>
              <a:srgbClr val="FF6B6B"/>
            </a:solidFill>
            <a:ln w="9525">
              <a:solidFill>
                <a:srgbClr val="10263B"/>
              </a:solidFill>
            </a:ln>
          </p:spPr>
        </p:sp>
        <p:sp>
          <p:nvSpPr>
            <p:cNvPr id="35" name="Ellipse 35"/>
            <p:cNvSpPr/>
            <p:nvPr/>
          </p:nvSpPr>
          <p:spPr>
            <a:xfrm>
              <a:off x="10915650" y="3124200"/>
              <a:ext cx="76200" cy="76200"/>
            </a:xfrm>
            <a:prstGeom prst="ellipse">
              <a:avLst/>
            </a:prstGeom>
            <a:solidFill>
              <a:srgbClr val="FF6B6B"/>
            </a:solidFill>
            <a:ln w="9525">
              <a:solidFill>
                <a:srgbClr val="10263B"/>
              </a:solidFill>
            </a:ln>
          </p:spPr>
        </p:sp>
        <p:sp>
          <p:nvSpPr>
            <p:cNvPr id="36" name="TextBox 36"/>
            <p:cNvSpPr txBox="1"/>
            <p:nvPr/>
          </p:nvSpPr>
          <p:spPr>
            <a:xfrm>
              <a:off x="10290808" y="2002631"/>
              <a:ext cx="667895" cy="190690"/>
            </a:xfrm>
            <a:prstGeom prst="rect">
              <a:avLst/>
            </a:prstGeom>
            <a:noFill/>
            <a:ln>
              <a:noFill/>
            </a:ln>
          </p:spPr>
          <p:txBody>
            <a:bodyPr wrap="none" lIns="0" tIns="0" rIns="0" bIns="0" anchor="t" anchorCtr="0">
              <a:spAutoFit/>
            </a:bodyPr>
            <a:lstStyle/>
            <a:p>
              <a:pPr algn="r"/>
              <a:r>
                <a:rPr lang="en-US" sz="980" b="1" dirty="0">
                  <a:solidFill>
                    <a:srgbClr val="48D597"/>
                  </a:solidFill>
                  <a:latin typeface="+mn-lt"/>
                  <a:ea typeface="+mn-ea"/>
                  <a:cs typeface="+mn-cs"/>
                </a:rPr>
                <a:t>collective</a:t>
              </a:r>
            </a:p>
          </p:txBody>
        </p:sp>
        <p:sp>
          <p:nvSpPr>
            <p:cNvPr id="37" name="TextBox 37"/>
            <p:cNvSpPr txBox="1"/>
            <p:nvPr/>
          </p:nvSpPr>
          <p:spPr>
            <a:xfrm>
              <a:off x="10124579" y="2980849"/>
              <a:ext cx="834124" cy="190690"/>
            </a:xfrm>
            <a:prstGeom prst="rect">
              <a:avLst/>
            </a:prstGeom>
            <a:noFill/>
            <a:ln>
              <a:noFill/>
            </a:ln>
          </p:spPr>
          <p:txBody>
            <a:bodyPr wrap="none" lIns="0" tIns="0" rIns="0" bIns="0" anchor="t" anchorCtr="0">
              <a:spAutoFit/>
            </a:bodyPr>
            <a:lstStyle/>
            <a:p>
              <a:pPr algn="r"/>
              <a:r>
                <a:rPr lang="en-US" sz="980" b="1" dirty="0">
                  <a:solidFill>
                    <a:srgbClr val="FF6B6B"/>
                  </a:solidFill>
                  <a:latin typeface="+mn-lt"/>
                  <a:ea typeface="+mn-ea"/>
                  <a:cs typeface="+mn-cs"/>
                </a:rPr>
                <a:t>sample-wise</a:t>
              </a:r>
            </a:p>
          </p:txBody>
        </p:sp>
      </p:grpSp>
      <p:grpSp>
        <p:nvGrpSpPr>
          <p:cNvPr id="54" name="Group 54"/>
          <p:cNvGrpSpPr/>
          <p:nvPr/>
        </p:nvGrpSpPr>
        <p:grpSpPr>
          <a:xfrm>
            <a:off x="609600" y="3810000"/>
            <a:ext cx="5334000" cy="2600039"/>
            <a:chOff x="609600" y="3810000"/>
            <a:chExt cx="5334000" cy="2600039"/>
          </a:xfrm>
        </p:grpSpPr>
        <p:sp>
          <p:nvSpPr>
            <p:cNvPr id="39" name="Rectangle 39"/>
            <p:cNvSpPr/>
            <p:nvPr/>
          </p:nvSpPr>
          <p:spPr>
            <a:xfrm>
              <a:off x="609600" y="3810000"/>
              <a:ext cx="5334000" cy="2457450"/>
            </a:xfrm>
            <a:prstGeom prst="roundRect">
              <a:avLst>
                <a:gd name="adj" fmla="val 5426"/>
              </a:avLst>
            </a:prstGeom>
            <a:solidFill>
              <a:schemeClr val="accent5"/>
            </a:solidFill>
            <a:ln w="14288">
              <a:solidFill>
                <a:srgbClr val="1E3A52"/>
              </a:solidFill>
            </a:ln>
          </p:spPr>
        </p:sp>
        <p:sp>
          <p:nvSpPr>
            <p:cNvPr id="40" name="Rectangle 40"/>
            <p:cNvSpPr/>
            <p:nvPr/>
          </p:nvSpPr>
          <p:spPr>
            <a:xfrm>
              <a:off x="609600" y="3810000"/>
              <a:ext cx="57150" cy="2457450"/>
            </a:xfrm>
            <a:prstGeom prst="roundRect">
              <a:avLst>
                <a:gd name="adj" fmla="val 50000"/>
              </a:avLst>
            </a:prstGeom>
            <a:solidFill>
              <a:srgbClr val="F5B841"/>
            </a:solidFill>
            <a:ln w="0">
              <a:solidFill>
                <a:srgbClr val="F5B841"/>
              </a:solidFill>
            </a:ln>
          </p:spPr>
        </p:sp>
        <p:sp>
          <p:nvSpPr>
            <p:cNvPr id="41" name="TextBox 41"/>
            <p:cNvSpPr txBox="1"/>
            <p:nvPr/>
          </p:nvSpPr>
          <p:spPr>
            <a:xfrm>
              <a:off x="849630" y="4029075"/>
              <a:ext cx="2970352"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Citeseer, 140 injected nodes</a:t>
              </a:r>
            </a:p>
          </p:txBody>
        </p:sp>
        <p:sp>
          <p:nvSpPr>
            <p:cNvPr id="42" name="Rectangle 42"/>
            <p:cNvSpPr/>
            <p:nvPr/>
          </p:nvSpPr>
          <p:spPr>
            <a:xfrm>
              <a:off x="1276350" y="5943600"/>
              <a:ext cx="1143000" cy="19050"/>
            </a:xfrm>
            <a:prstGeom prst="roundRect">
              <a:avLst>
                <a:gd name="adj" fmla="val 50000"/>
              </a:avLst>
            </a:prstGeom>
            <a:solidFill>
              <a:srgbClr val="FF6B6B"/>
            </a:solidFill>
            <a:ln w="0">
              <a:solidFill>
                <a:srgbClr val="FF6B6B"/>
              </a:solidFill>
            </a:ln>
          </p:spPr>
        </p:sp>
        <p:sp>
          <p:nvSpPr>
            <p:cNvPr id="43" name="TextBox 43"/>
            <p:cNvSpPr txBox="1"/>
            <p:nvPr/>
          </p:nvSpPr>
          <p:spPr>
            <a:xfrm>
              <a:off x="1702413" y="5667375"/>
              <a:ext cx="290874" cy="293370"/>
            </a:xfrm>
            <a:prstGeom prst="rect">
              <a:avLst/>
            </a:prstGeom>
            <a:noFill/>
            <a:ln>
              <a:noFill/>
            </a:ln>
          </p:spPr>
          <p:txBody>
            <a:bodyPr wrap="none" lIns="0" tIns="0" rIns="0" bIns="0" anchor="t" anchorCtr="0">
              <a:spAutoFit/>
            </a:bodyPr>
            <a:lstStyle/>
            <a:p>
              <a:pPr algn="ctr"/>
              <a:r>
                <a:rPr lang="en-US" sz="1500" b="1" dirty="0">
                  <a:solidFill>
                    <a:srgbClr val="FF6B6B"/>
                  </a:solidFill>
                  <a:latin typeface="+mn-lt"/>
                  <a:ea typeface="+mn-ea"/>
                  <a:cs typeface="+mn-cs"/>
                </a:rPr>
                <a:t>0%</a:t>
              </a:r>
            </a:p>
          </p:txBody>
        </p:sp>
        <p:sp>
          <p:nvSpPr>
            <p:cNvPr id="44" name="TextBox 44"/>
            <p:cNvSpPr txBox="1"/>
            <p:nvPr/>
          </p:nvSpPr>
          <p:spPr>
            <a:xfrm>
              <a:off x="1450412" y="6066949"/>
              <a:ext cx="794875" cy="190690"/>
            </a:xfrm>
            <a:prstGeom prst="rect">
              <a:avLst/>
            </a:prstGeom>
            <a:noFill/>
            <a:ln>
              <a:noFill/>
            </a:ln>
          </p:spPr>
          <p:txBody>
            <a:bodyPr wrap="none" lIns="0" tIns="0" rIns="0" bIns="0" anchor="t" anchorCtr="0">
              <a:spAutoFit/>
            </a:bodyPr>
            <a:lstStyle/>
            <a:p>
              <a:pPr algn="ctr"/>
              <a:r>
                <a:rPr lang="en-US" sz="980" dirty="0">
                  <a:solidFill>
                    <a:schemeClr val="dk1"/>
                  </a:solidFill>
                  <a:latin typeface="+mn-lt"/>
                  <a:ea typeface="+mn-ea"/>
                  <a:cs typeface="+mn-cs"/>
                </a:rPr>
                <a:t>sample-wise</a:t>
              </a:r>
            </a:p>
          </p:txBody>
        </p:sp>
        <p:sp>
          <p:nvSpPr>
            <p:cNvPr id="45" name="Rectangle 45"/>
            <p:cNvSpPr/>
            <p:nvPr/>
          </p:nvSpPr>
          <p:spPr>
            <a:xfrm>
              <a:off x="2847975" y="5128260"/>
              <a:ext cx="1143000" cy="834390"/>
            </a:xfrm>
            <a:prstGeom prst="roundRect">
              <a:avLst>
                <a:gd name="adj" fmla="val 6849"/>
              </a:avLst>
            </a:prstGeom>
            <a:solidFill>
              <a:srgbClr val="4C8DFF"/>
            </a:solidFill>
            <a:ln w="0">
              <a:solidFill>
                <a:srgbClr val="4C8DFF"/>
              </a:solidFill>
            </a:ln>
          </p:spPr>
        </p:sp>
        <p:sp>
          <p:nvSpPr>
            <p:cNvPr id="46" name="TextBox 46"/>
            <p:cNvSpPr txBox="1"/>
            <p:nvPr/>
          </p:nvSpPr>
          <p:spPr>
            <a:xfrm>
              <a:off x="3215730" y="4852035"/>
              <a:ext cx="407489" cy="293370"/>
            </a:xfrm>
            <a:prstGeom prst="rect">
              <a:avLst/>
            </a:prstGeom>
            <a:noFill/>
            <a:ln>
              <a:noFill/>
            </a:ln>
          </p:spPr>
          <p:txBody>
            <a:bodyPr wrap="none" lIns="0" tIns="0" rIns="0" bIns="0" anchor="t" anchorCtr="0">
              <a:spAutoFit/>
            </a:bodyPr>
            <a:lstStyle/>
            <a:p>
              <a:pPr algn="ctr"/>
              <a:r>
                <a:rPr lang="en-US" sz="1500" b="1" dirty="0">
                  <a:solidFill>
                    <a:srgbClr val="4C8DFF"/>
                  </a:solidFill>
                  <a:latin typeface="+mn-lt"/>
                  <a:ea typeface="+mn-ea"/>
                  <a:cs typeface="+mn-cs"/>
                </a:rPr>
                <a:t>73%</a:t>
              </a:r>
            </a:p>
          </p:txBody>
        </p:sp>
        <p:sp>
          <p:nvSpPr>
            <p:cNvPr id="47" name="TextBox 47"/>
            <p:cNvSpPr txBox="1"/>
            <p:nvPr/>
          </p:nvSpPr>
          <p:spPr>
            <a:xfrm>
              <a:off x="3101194" y="6066949"/>
              <a:ext cx="636562" cy="190690"/>
            </a:xfrm>
            <a:prstGeom prst="rect">
              <a:avLst/>
            </a:prstGeom>
            <a:noFill/>
            <a:ln>
              <a:noFill/>
            </a:ln>
          </p:spPr>
          <p:txBody>
            <a:bodyPr wrap="none" lIns="0" tIns="0" rIns="0" bIns="0" anchor="t" anchorCtr="0">
              <a:spAutoFit/>
            </a:bodyPr>
            <a:lstStyle/>
            <a:p>
              <a:pPr algn="ctr"/>
              <a:r>
                <a:rPr lang="en-US" sz="980" dirty="0">
                  <a:solidFill>
                    <a:schemeClr val="dk1"/>
                  </a:solidFill>
                  <a:latin typeface="+mn-lt"/>
                  <a:ea typeface="+mn-ea"/>
                  <a:cs typeface="+mn-cs"/>
                </a:rPr>
                <a:t>collective</a:t>
              </a:r>
            </a:p>
          </p:txBody>
        </p:sp>
        <p:sp>
          <p:nvSpPr>
            <p:cNvPr id="48" name="TextBox 48"/>
            <p:cNvSpPr txBox="1"/>
            <p:nvPr/>
          </p:nvSpPr>
          <p:spPr>
            <a:xfrm>
              <a:off x="3051721" y="6219349"/>
              <a:ext cx="735508" cy="190690"/>
            </a:xfrm>
            <a:prstGeom prst="rect">
              <a:avLst/>
            </a:prstGeom>
            <a:noFill/>
            <a:ln>
              <a:noFill/>
            </a:ln>
          </p:spPr>
          <p:txBody>
            <a:bodyPr wrap="none" lIns="0" tIns="0" rIns="0" bIns="0" anchor="t" anchorCtr="0">
              <a:spAutoFit/>
            </a:bodyPr>
            <a:lstStyle/>
            <a:p>
              <a:pPr algn="ctr"/>
              <a:r>
                <a:rPr lang="en-US" sz="980" dirty="0">
                  <a:solidFill>
                    <a:schemeClr val="dk1"/>
                  </a:solidFill>
                  <a:latin typeface="+mn-lt"/>
                  <a:ea typeface="+mn-ea"/>
                  <a:cs typeface="+mn-cs"/>
                </a:rPr>
                <a:t>(standard)</a:t>
              </a:r>
            </a:p>
          </p:txBody>
        </p:sp>
        <p:sp>
          <p:nvSpPr>
            <p:cNvPr id="49" name="Rectangle 49"/>
            <p:cNvSpPr/>
            <p:nvPr/>
          </p:nvSpPr>
          <p:spPr>
            <a:xfrm>
              <a:off x="4419600" y="5034915"/>
              <a:ext cx="1143000" cy="927735"/>
            </a:xfrm>
            <a:prstGeom prst="roundRect">
              <a:avLst>
                <a:gd name="adj" fmla="val 6160"/>
              </a:avLst>
            </a:prstGeom>
            <a:solidFill>
              <a:srgbClr val="48D597"/>
            </a:solidFill>
            <a:ln w="0">
              <a:solidFill>
                <a:srgbClr val="48D597"/>
              </a:solidFill>
            </a:ln>
          </p:spPr>
        </p:sp>
        <p:sp>
          <p:nvSpPr>
            <p:cNvPr id="50" name="TextBox 50"/>
            <p:cNvSpPr txBox="1"/>
            <p:nvPr/>
          </p:nvSpPr>
          <p:spPr>
            <a:xfrm>
              <a:off x="4670741" y="4758690"/>
              <a:ext cx="640718" cy="293370"/>
            </a:xfrm>
            <a:prstGeom prst="rect">
              <a:avLst/>
            </a:prstGeom>
            <a:noFill/>
            <a:ln>
              <a:noFill/>
            </a:ln>
          </p:spPr>
          <p:txBody>
            <a:bodyPr wrap="none" lIns="0" tIns="0" rIns="0" bIns="0" anchor="t" anchorCtr="0">
              <a:spAutoFit/>
            </a:bodyPr>
            <a:lstStyle/>
            <a:p>
              <a:pPr algn="ctr"/>
              <a:r>
                <a:rPr lang="en-US" sz="1500" b="1" dirty="0">
                  <a:solidFill>
                    <a:srgbClr val="48D597"/>
                  </a:solidFill>
                  <a:latin typeface="+mn-lt"/>
                  <a:ea typeface="+mn-ea"/>
                  <a:cs typeface="+mn-cs"/>
                </a:rPr>
                <a:t>81.2%</a:t>
              </a:r>
            </a:p>
          </p:txBody>
        </p:sp>
        <p:sp>
          <p:nvSpPr>
            <p:cNvPr id="51" name="TextBox 51"/>
            <p:cNvSpPr txBox="1"/>
            <p:nvPr/>
          </p:nvSpPr>
          <p:spPr>
            <a:xfrm>
              <a:off x="4672819" y="6066949"/>
              <a:ext cx="636562" cy="190690"/>
            </a:xfrm>
            <a:prstGeom prst="rect">
              <a:avLst/>
            </a:prstGeom>
            <a:noFill/>
            <a:ln>
              <a:noFill/>
            </a:ln>
          </p:spPr>
          <p:txBody>
            <a:bodyPr wrap="none" lIns="0" tIns="0" rIns="0" bIns="0" anchor="t" anchorCtr="0">
              <a:spAutoFit/>
            </a:bodyPr>
            <a:lstStyle/>
            <a:p>
              <a:pPr algn="ctr"/>
              <a:r>
                <a:rPr lang="en-US" sz="980" dirty="0">
                  <a:solidFill>
                    <a:schemeClr val="dk1"/>
                  </a:solidFill>
                  <a:latin typeface="+mn-lt"/>
                  <a:ea typeface="+mn-ea"/>
                  <a:cs typeface="+mn-cs"/>
                </a:rPr>
                <a:t>collective</a:t>
              </a:r>
            </a:p>
          </p:txBody>
        </p:sp>
        <p:sp>
          <p:nvSpPr>
            <p:cNvPr id="52" name="TextBox 52"/>
            <p:cNvSpPr txBox="1"/>
            <p:nvPr/>
          </p:nvSpPr>
          <p:spPr>
            <a:xfrm>
              <a:off x="4554084" y="6219349"/>
              <a:ext cx="874032" cy="190690"/>
            </a:xfrm>
            <a:prstGeom prst="rect">
              <a:avLst/>
            </a:prstGeom>
            <a:noFill/>
            <a:ln>
              <a:noFill/>
            </a:ln>
          </p:spPr>
          <p:txBody>
            <a:bodyPr wrap="none" lIns="0" tIns="0" rIns="0" bIns="0" anchor="t" anchorCtr="0">
              <a:spAutoFit/>
            </a:bodyPr>
            <a:lstStyle/>
            <a:p>
              <a:pPr algn="ctr"/>
              <a:r>
                <a:rPr lang="en-US" sz="980" dirty="0">
                  <a:solidFill>
                    <a:schemeClr val="dk1"/>
                  </a:solidFill>
                  <a:latin typeface="+mn-lt"/>
                  <a:ea typeface="+mn-ea"/>
                  <a:cs typeface="+mn-cs"/>
                </a:rPr>
                <a:t>(customized)</a:t>
              </a:r>
            </a:p>
          </p:txBody>
        </p:sp>
        <p:sp>
          <p:nvSpPr>
            <p:cNvPr id="53" name="Line 53"/>
            <p:cNvSpPr/>
            <p:nvPr/>
          </p:nvSpPr>
          <p:spPr>
            <a:xfrm>
              <a:off x="1181100" y="5962650"/>
              <a:ext cx="4476750" cy="9525"/>
            </a:xfrm>
            <a:custGeom>
              <a:avLst/>
              <a:gdLst/>
              <a:ahLst/>
              <a:cxnLst/>
              <a:rect l="l" t="t" r="r" b="b"/>
              <a:pathLst>
                <a:path w="4476750" h="9525">
                  <a:moveTo>
                    <a:pt x="0" y="0"/>
                  </a:moveTo>
                  <a:lnTo>
                    <a:pt x="4476750" y="0"/>
                  </a:lnTo>
                </a:path>
              </a:pathLst>
            </a:custGeom>
            <a:noFill/>
            <a:ln w="14288">
              <a:solidFill>
                <a:srgbClr val="1E3A52"/>
              </a:solidFill>
            </a:ln>
          </p:spPr>
        </p:sp>
      </p:grpSp>
      <p:grpSp>
        <p:nvGrpSpPr>
          <p:cNvPr id="67" name="Group 67"/>
          <p:cNvGrpSpPr/>
          <p:nvPr/>
        </p:nvGrpSpPr>
        <p:grpSpPr>
          <a:xfrm>
            <a:off x="6248400" y="3810000"/>
            <a:ext cx="5334000" cy="2457450"/>
            <a:chOff x="6248400" y="3810000"/>
            <a:chExt cx="5334000" cy="2457450"/>
          </a:xfrm>
        </p:grpSpPr>
        <p:sp>
          <p:nvSpPr>
            <p:cNvPr id="55" name="Rectangle 55"/>
            <p:cNvSpPr/>
            <p:nvPr/>
          </p:nvSpPr>
          <p:spPr>
            <a:xfrm>
              <a:off x="6248400" y="3810000"/>
              <a:ext cx="5334000" cy="2457450"/>
            </a:xfrm>
            <a:prstGeom prst="roundRect">
              <a:avLst>
                <a:gd name="adj" fmla="val 5426"/>
              </a:avLst>
            </a:prstGeom>
            <a:solidFill>
              <a:schemeClr val="accent5"/>
            </a:solidFill>
            <a:ln w="14288">
              <a:solidFill>
                <a:srgbClr val="1E3A52"/>
              </a:solidFill>
            </a:ln>
          </p:spPr>
        </p:sp>
        <p:sp>
          <p:nvSpPr>
            <p:cNvPr id="56" name="Rectangle 56"/>
            <p:cNvSpPr/>
            <p:nvPr/>
          </p:nvSpPr>
          <p:spPr>
            <a:xfrm>
              <a:off x="6248400" y="3810000"/>
              <a:ext cx="57150" cy="2457450"/>
            </a:xfrm>
            <a:prstGeom prst="roundRect">
              <a:avLst>
                <a:gd name="adj" fmla="val 50000"/>
              </a:avLst>
            </a:prstGeom>
            <a:solidFill>
              <a:srgbClr val="48D597"/>
            </a:solidFill>
            <a:ln w="0">
              <a:solidFill>
                <a:srgbClr val="48D597"/>
              </a:solidFill>
            </a:ln>
          </p:spPr>
        </p:sp>
        <p:sp>
          <p:nvSpPr>
            <p:cNvPr id="57" name="TextBox 57"/>
            <p:cNvSpPr txBox="1"/>
            <p:nvPr/>
          </p:nvSpPr>
          <p:spPr>
            <a:xfrm>
              <a:off x="6488811" y="4056221"/>
              <a:ext cx="374478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Customized Collective-LP-2 dominates</a:t>
              </a:r>
            </a:p>
          </p:txBody>
        </p:sp>
        <p:sp>
          <p:nvSpPr>
            <p:cNvPr id="58" name="Ellipse 58"/>
            <p:cNvSpPr/>
            <p:nvPr/>
          </p:nvSpPr>
          <p:spPr>
            <a:xfrm>
              <a:off x="6553200" y="4581525"/>
              <a:ext cx="114300" cy="114300"/>
            </a:xfrm>
            <a:prstGeom prst="ellipse">
              <a:avLst/>
            </a:prstGeom>
            <a:solidFill>
              <a:srgbClr val="48D597"/>
            </a:solidFill>
            <a:ln w="0">
              <a:solidFill>
                <a:srgbClr val="10263B"/>
              </a:solidFill>
            </a:ln>
          </p:spPr>
        </p:sp>
        <p:sp>
          <p:nvSpPr>
            <p:cNvPr id="59" name="TextBox 59"/>
            <p:cNvSpPr txBox="1"/>
            <p:nvPr/>
          </p:nvSpPr>
          <p:spPr>
            <a:xfrm>
              <a:off x="6775704" y="4556760"/>
              <a:ext cx="2144573"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matches or beats standard</a:t>
              </a:r>
            </a:p>
          </p:txBody>
        </p:sp>
        <p:sp>
          <p:nvSpPr>
            <p:cNvPr id="60" name="TextBox 60"/>
            <p:cNvSpPr txBox="1"/>
            <p:nvPr/>
          </p:nvSpPr>
          <p:spPr>
            <a:xfrm>
              <a:off x="10740253" y="4548664"/>
              <a:ext cx="600974" cy="249364"/>
            </a:xfrm>
            <a:prstGeom prst="rect">
              <a:avLst/>
            </a:prstGeom>
            <a:noFill/>
            <a:ln>
              <a:noFill/>
            </a:ln>
          </p:spPr>
          <p:txBody>
            <a:bodyPr wrap="none" lIns="0" tIns="0" rIns="0" bIns="0" anchor="t" anchorCtr="0">
              <a:spAutoFit/>
            </a:bodyPr>
            <a:lstStyle/>
            <a:p>
              <a:pPr algn="r"/>
              <a:r>
                <a:rPr lang="en-US" sz="1280" b="1" dirty="0">
                  <a:solidFill>
                    <a:srgbClr val="48D597"/>
                  </a:solidFill>
                  <a:latin typeface="+mn-lt"/>
                  <a:ea typeface="+mn-ea"/>
                  <a:cs typeface="+mn-cs"/>
                </a:rPr>
                <a:t>always</a:t>
              </a:r>
            </a:p>
          </p:txBody>
        </p:sp>
        <p:sp>
          <p:nvSpPr>
            <p:cNvPr id="61" name="Ellipse 61"/>
            <p:cNvSpPr/>
            <p:nvPr/>
          </p:nvSpPr>
          <p:spPr>
            <a:xfrm>
              <a:off x="6553200" y="5057775"/>
              <a:ext cx="114300" cy="114300"/>
            </a:xfrm>
            <a:prstGeom prst="ellipse">
              <a:avLst/>
            </a:prstGeom>
            <a:solidFill>
              <a:srgbClr val="F5B841"/>
            </a:solidFill>
            <a:ln w="0">
              <a:solidFill>
                <a:srgbClr val="10263B"/>
              </a:solidFill>
            </a:ln>
          </p:spPr>
        </p:sp>
        <p:sp>
          <p:nvSpPr>
            <p:cNvPr id="62" name="TextBox 62"/>
            <p:cNvSpPr txBox="1"/>
            <p:nvPr/>
          </p:nvSpPr>
          <p:spPr>
            <a:xfrm>
              <a:off x="6775704" y="5033010"/>
              <a:ext cx="213649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relative gain in one setting</a:t>
              </a:r>
            </a:p>
          </p:txBody>
        </p:sp>
        <p:sp>
          <p:nvSpPr>
            <p:cNvPr id="63" name="TextBox 63"/>
            <p:cNvSpPr txBox="1"/>
            <p:nvPr/>
          </p:nvSpPr>
          <p:spPr>
            <a:xfrm>
              <a:off x="10794532" y="5024914"/>
              <a:ext cx="546695" cy="249364"/>
            </a:xfrm>
            <a:prstGeom prst="rect">
              <a:avLst/>
            </a:prstGeom>
            <a:noFill/>
            <a:ln>
              <a:noFill/>
            </a:ln>
          </p:spPr>
          <p:txBody>
            <a:bodyPr wrap="none" lIns="0" tIns="0" rIns="0" bIns="0" anchor="t" anchorCtr="0">
              <a:spAutoFit/>
            </a:bodyPr>
            <a:lstStyle/>
            <a:p>
              <a:pPr algn="r"/>
              <a:r>
                <a:rPr lang="en-US" sz="1280" b="1" dirty="0">
                  <a:solidFill>
                    <a:srgbClr val="F5B841"/>
                  </a:solidFill>
                  <a:latin typeface="+mn-lt"/>
                  <a:ea typeface="+mn-ea"/>
                  <a:cs typeface="+mn-cs"/>
                </a:rPr>
                <a:t>+216%</a:t>
              </a:r>
            </a:p>
          </p:txBody>
        </p:sp>
        <p:sp>
          <p:nvSpPr>
            <p:cNvPr id="64" name="Ellipse 64"/>
            <p:cNvSpPr/>
            <p:nvPr/>
          </p:nvSpPr>
          <p:spPr>
            <a:xfrm>
              <a:off x="6553200" y="5534025"/>
              <a:ext cx="114300" cy="114300"/>
            </a:xfrm>
            <a:prstGeom prst="ellipse">
              <a:avLst/>
            </a:prstGeom>
            <a:solidFill>
              <a:srgbClr val="35D0BA"/>
            </a:solidFill>
            <a:ln w="0">
              <a:solidFill>
                <a:srgbClr val="10263B"/>
              </a:solidFill>
            </a:ln>
          </p:spPr>
        </p:sp>
        <p:sp>
          <p:nvSpPr>
            <p:cNvPr id="65" name="TextBox 65"/>
            <p:cNvSpPr txBox="1"/>
            <p:nvPr/>
          </p:nvSpPr>
          <p:spPr>
            <a:xfrm>
              <a:off x="6775704" y="5509260"/>
              <a:ext cx="2306117"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solves the largest budgets in</a:t>
              </a:r>
            </a:p>
          </p:txBody>
        </p:sp>
        <p:sp>
          <p:nvSpPr>
            <p:cNvPr id="66" name="TextBox 66"/>
            <p:cNvSpPr txBox="1"/>
            <p:nvPr/>
          </p:nvSpPr>
          <p:spPr>
            <a:xfrm>
              <a:off x="10785485" y="5501164"/>
              <a:ext cx="555742" cy="249364"/>
            </a:xfrm>
            <a:prstGeom prst="rect">
              <a:avLst/>
            </a:prstGeom>
            <a:noFill/>
            <a:ln>
              <a:noFill/>
            </a:ln>
          </p:spPr>
          <p:txBody>
            <a:bodyPr wrap="none" lIns="0" tIns="0" rIns="0" bIns="0" anchor="t" anchorCtr="0">
              <a:spAutoFit/>
            </a:bodyPr>
            <a:lstStyle/>
            <a:p>
              <a:pPr algn="r"/>
              <a:r>
                <a:rPr lang="en-US" sz="1280" b="1" dirty="0">
                  <a:solidFill>
                    <a:srgbClr val="35D0BA"/>
                  </a:solidFill>
                  <a:latin typeface="+mn-lt"/>
                  <a:ea typeface="+mn-ea"/>
                  <a:cs typeface="+mn-cs"/>
                </a:rPr>
                <a:t>~1 min</a:t>
              </a:r>
            </a:p>
          </p:txBody>
        </p:sp>
      </p:grpSp>
      <p:sp>
        <p:nvSpPr>
          <p:cNvPr id="68" name="cue_s07_c1_headline_result_night_and_day_improv" title="cue_s07_c1_headline_result_night_and_day_improv" descr="cue_s07_c1_headline_result_night_and_day_improv The headline result is a night-and-day improvement."/>
          <p:cNvSpPr/>
          <p:nvPr/>
        </p:nvSpPr>
        <p:spPr>
          <a:xfrm>
            <a:off x="609600"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cue_s07_c2_number_injected_nodes_grows_sample_w" title="cue_s07_c2_number_injected_nodes_grows_sample_w" descr="cue_s07_c2_number_injected_nodes_grows_sample_w As the number of injected nodes grows, the sample-wise baseline collapses to zero certified nodes, while the collective certificates hold strong."/>
          <p:cNvSpPr/>
          <p:nvPr/>
        </p:nvSpPr>
        <p:spPr>
          <a:xfrm>
            <a:off x="6248399"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cue_s07_c3_citeseer_hundred_forty_injected_node" title="cue_s07_c3_citeseer_hundred_forty_injected_node" descr="cue_s07_c3_citeseer_hundred_forty_injected_node On Citeseer with a hundred and forty injected nodes, the standard collective relaxation certifies seventy-three percent of targets and the customized version reaches eighty-one point two percent, both against zero percent for sample-wise."/>
          <p:cNvSpPr/>
          <p:nvPr/>
        </p:nvSpPr>
        <p:spPr>
          <a:xfrm>
            <a:off x="609600" y="3810304"/>
            <a:ext cx="5334000" cy="259986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cue_s07_c4_customized_collective_lp_two_consist" title="cue_s07_c4_customized_collective_lp_two_consist" descr="cue_s07_c4_customized_collective_lp_two_consist The customized Collective-LP-two consistently matches or beats the standard one, in one setting by over two hundred percent relative, and it does so far faster, solving even the largest budgets in about a minute."/>
          <p:cNvSpPr/>
          <p:nvPr/>
        </p:nvSpPr>
        <p:spPr>
          <a:xfrm>
            <a:off x="6248399"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57150" cy="381000"/>
          </a:xfrm>
          <a:prstGeom prst="roundRect">
            <a:avLst>
              <a:gd name="adj" fmla="val 50000"/>
            </a:avLst>
          </a:prstGeom>
          <a:solidFill>
            <a:srgbClr val="35D0BA"/>
          </a:solidFill>
          <a:ln w="0">
            <a:solidFill>
              <a:srgbClr val="35D0BA"/>
            </a:solidFill>
          </a:ln>
        </p:spPr>
        <p:txBody>
          <a:bodyPr/>
          <a:p/>
        </p:txBody>
      </p:sp>
      <p:sp>
        <p:nvSpPr>
          <p:cNvPr id="3" name="TextBox 3"/>
          <p:cNvSpPr txBox="1"/>
          <p:nvPr/>
        </p:nvSpPr>
        <p:spPr>
          <a:xfrm>
            <a:off x="813435" y="469106"/>
            <a:ext cx="1526627" cy="220028"/>
          </a:xfrm>
          <a:prstGeom prst="rect">
            <a:avLst/>
          </a:prstGeom>
          <a:noFill/>
          <a:ln>
            <a:noFill/>
          </a:ln>
        </p:spPr>
        <p:txBody>
          <a:bodyPr wrap="none" lIns="0" tIns="0" rIns="0" bIns="0" anchor="t" anchorCtr="0">
            <a:spAutoFit/>
          </a:bodyPr>
          <a:lstStyle/>
          <a:p>
            <a:pPr algn="l"/>
            <a:r>
              <a:rPr lang="en-US" sz="1120" b="1" spc="150" dirty="0">
                <a:solidFill>
                  <a:srgbClr val="35D0BA"/>
                </a:solidFill>
                <a:latin typeface="+mn-lt"/>
                <a:ea typeface="+mn-ea"/>
                <a:cs typeface="+mn-cs"/>
              </a:rPr>
              <a:t>ABLATION STUDY</a:t>
            </a:r>
          </a:p>
        </p:txBody>
      </p:sp>
      <p:sp>
        <p:nvSpPr>
          <p:cNvPr id="4" name="TextBox 4"/>
          <p:cNvSpPr txBox="1"/>
          <p:nvPr/>
        </p:nvSpPr>
        <p:spPr>
          <a:xfrm>
            <a:off x="807720" y="614362"/>
            <a:ext cx="668034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relaxation costs little, and stays fast</a:t>
            </a:r>
          </a:p>
        </p:txBody>
      </p:sp>
      <p:sp>
        <p:nvSpPr>
          <p:cNvPr id="5" name="TextBox 5"/>
          <p:cNvSpPr txBox="1"/>
          <p:nvPr/>
        </p:nvSpPr>
        <p:spPr>
          <a:xfrm>
            <a:off x="11046336" y="526256"/>
            <a:ext cx="541779" cy="220028"/>
          </a:xfrm>
          <a:prstGeom prst="rect">
            <a:avLst/>
          </a:prstGeom>
          <a:noFill/>
          <a:ln>
            <a:noFill/>
          </a:ln>
        </p:spPr>
        <p:txBody>
          <a:bodyPr wrap="none" lIns="0" tIns="0" rIns="0" bIns="0" anchor="t" anchorCtr="0">
            <a:spAutoFit/>
          </a:bodyPr>
          <a:lstStyle/>
          <a:p>
            <a:pPr algn="r"/>
            <a:r>
              <a:rPr lang="en-US" sz="1120" b="1" dirty="0">
                <a:solidFill>
                  <a:srgbClr val="9DB2C4"/>
                </a:solidFill>
                <a:latin typeface="+mn-lt"/>
                <a:ea typeface="+mn-ea"/>
                <a:cs typeface="+mn-cs"/>
              </a:rPr>
              <a:t>08 / 10</a:t>
            </a:r>
          </a:p>
        </p:txBody>
      </p:sp>
      <p:sp>
        <p:nvSpPr>
          <p:cNvPr id="6" name="Line 6"/>
          <p:cNvSpPr/>
          <p:nvPr/>
        </p:nvSpPr>
        <p:spPr>
          <a:xfrm>
            <a:off x="609600" y="990600"/>
            <a:ext cx="10972800" cy="9525"/>
          </a:xfrm>
          <a:custGeom>
            <a:avLst/>
            <a:gdLst/>
            <a:ahLst/>
            <a:cxnLst/>
            <a:rect l="l" t="t" r="r" b="b"/>
            <a:pathLst>
              <a:path w="10972800" h="9525">
                <a:moveTo>
                  <a:pt x="0" y="0"/>
                </a:moveTo>
                <a:lnTo>
                  <a:pt x="10972800" y="0"/>
                </a:lnTo>
              </a:path>
            </a:pathLst>
          </a:custGeom>
          <a:noFill/>
          <a:ln w="14288">
            <a:solidFill>
              <a:srgbClr val="1E3A52"/>
            </a:solidFill>
          </a:ln>
        </p:spPr>
        <p:txBody>
          <a:bodyPr/>
          <a:p/>
        </p:txBody>
      </p:sp>
      <p:grpSp>
        <p:nvGrpSpPr>
          <p:cNvPr id="15" name="Group 15"/>
          <p:cNvGrpSpPr/>
          <p:nvPr/>
        </p:nvGrpSpPr>
        <p:grpSpPr>
          <a:xfrm>
            <a:off x="609600" y="1162050"/>
            <a:ext cx="5334000" cy="2457450"/>
            <a:chOff x="609600" y="1162050"/>
            <a:chExt cx="5334000" cy="2457450"/>
          </a:xfrm>
        </p:grpSpPr>
        <p:sp>
          <p:nvSpPr>
            <p:cNvPr id="7" name="Rectangle 7"/>
            <p:cNvSpPr/>
            <p:nvPr/>
          </p:nvSpPr>
          <p:spPr>
            <a:xfrm>
              <a:off x="609600" y="1162050"/>
              <a:ext cx="5334000" cy="2457450"/>
            </a:xfrm>
            <a:prstGeom prst="roundRect">
              <a:avLst>
                <a:gd name="adj" fmla="val 5426"/>
              </a:avLst>
            </a:prstGeom>
            <a:solidFill>
              <a:schemeClr val="accent5"/>
            </a:solidFill>
            <a:ln w="14288">
              <a:solidFill>
                <a:srgbClr val="1E3A52"/>
              </a:solidFill>
            </a:ln>
          </p:spPr>
        </p:sp>
        <p:sp>
          <p:nvSpPr>
            <p:cNvPr id="8" name="Rectangle 8"/>
            <p:cNvSpPr/>
            <p:nvPr/>
          </p:nvSpPr>
          <p:spPr>
            <a:xfrm>
              <a:off x="609600" y="1162050"/>
              <a:ext cx="57150" cy="2457450"/>
            </a:xfrm>
            <a:prstGeom prst="roundRect">
              <a:avLst>
                <a:gd name="adj" fmla="val 50000"/>
              </a:avLst>
            </a:prstGeom>
            <a:solidFill>
              <a:srgbClr val="35D0BA"/>
            </a:solidFill>
            <a:ln w="0">
              <a:solidFill>
                <a:srgbClr val="35D0BA"/>
              </a:solidFill>
            </a:ln>
          </p:spPr>
        </p:sp>
        <p:sp>
          <p:nvSpPr>
            <p:cNvPr id="9" name="TextBox 9"/>
            <p:cNvSpPr txBox="1"/>
            <p:nvPr/>
          </p:nvSpPr>
          <p:spPr>
            <a:xfrm>
              <a:off x="849630" y="1400175"/>
              <a:ext cx="3287841"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How much does relaxation cost?</a:t>
              </a:r>
            </a:p>
          </p:txBody>
        </p:sp>
        <p:sp>
          <p:nvSpPr>
            <p:cNvPr id="10" name="TextBox 10"/>
            <p:cNvSpPr txBox="1"/>
            <p:nvPr/>
          </p:nvSpPr>
          <p:spPr>
            <a:xfrm>
              <a:off x="850392" y="1816418"/>
              <a:ext cx="380872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The linear relaxation trades exactness for</a:t>
              </a:r>
            </a:p>
          </p:txBody>
        </p:sp>
        <p:sp>
          <p:nvSpPr>
            <p:cNvPr id="11" name="TextBox 11"/>
            <p:cNvSpPr txBox="1"/>
            <p:nvPr/>
          </p:nvSpPr>
          <p:spPr>
            <a:xfrm>
              <a:off x="850392" y="2073592"/>
              <a:ext cx="423613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tractability. So how much certified ratio do we</a:t>
              </a:r>
            </a:p>
          </p:txBody>
        </p:sp>
        <p:sp>
          <p:nvSpPr>
            <p:cNvPr id="12" name="TextBox 12"/>
            <p:cNvSpPr txBox="1"/>
            <p:nvPr/>
          </p:nvSpPr>
          <p:spPr>
            <a:xfrm>
              <a:off x="850392" y="2330768"/>
              <a:ext cx="148578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actually give up?</a:t>
              </a:r>
            </a:p>
          </p:txBody>
        </p:sp>
        <p:sp>
          <p:nvSpPr>
            <p:cNvPr id="13" name="Rectangle 13"/>
            <p:cNvSpPr/>
            <p:nvPr/>
          </p:nvSpPr>
          <p:spPr>
            <a:xfrm>
              <a:off x="857250" y="3028950"/>
              <a:ext cx="2857500" cy="247650"/>
            </a:xfrm>
            <a:prstGeom prst="roundRect">
              <a:avLst>
                <a:gd name="adj" fmla="val 50000"/>
              </a:avLst>
            </a:prstGeom>
            <a:solidFill>
              <a:srgbClr val="35D0BA"/>
            </a:solidFill>
            <a:ln w="0">
              <a:solidFill>
                <a:srgbClr val="35D0BA"/>
              </a:solidFill>
            </a:ln>
          </p:spPr>
        </p:sp>
        <p:sp>
          <p:nvSpPr>
            <p:cNvPr id="14" name="TextBox 14"/>
            <p:cNvSpPr txBox="1"/>
            <p:nvPr/>
          </p:nvSpPr>
          <p:spPr>
            <a:xfrm>
              <a:off x="1285096" y="3087052"/>
              <a:ext cx="2001808" cy="205359"/>
            </a:xfrm>
            <a:prstGeom prst="rect">
              <a:avLst/>
            </a:prstGeom>
            <a:noFill/>
            <a:ln>
              <a:noFill/>
            </a:ln>
          </p:spPr>
          <p:txBody>
            <a:bodyPr wrap="none" lIns="0" tIns="0" rIns="0" bIns="0" anchor="t" anchorCtr="0">
              <a:spAutoFit/>
            </a:bodyPr>
            <a:lstStyle/>
            <a:p>
              <a:pPr algn="ctr"/>
              <a:r>
                <a:rPr lang="en-US" sz="1050" b="1" dirty="0">
                  <a:solidFill>
                    <a:srgbClr val="08131F"/>
                  </a:solidFill>
                  <a:latin typeface="+mn-lt"/>
                  <a:ea typeface="+mn-ea"/>
                  <a:cs typeface="+mn-cs"/>
                </a:rPr>
                <a:t>relaxed LP vs exact integer</a:t>
              </a:r>
            </a:p>
          </p:txBody>
        </p:sp>
      </p:grpSp>
      <p:grpSp>
        <p:nvGrpSpPr>
          <p:cNvPr id="24" name="Group 24"/>
          <p:cNvGrpSpPr/>
          <p:nvPr/>
        </p:nvGrpSpPr>
        <p:grpSpPr>
          <a:xfrm>
            <a:off x="6248400" y="1162050"/>
            <a:ext cx="5334000" cy="2457450"/>
            <a:chOff x="6248400" y="1162050"/>
            <a:chExt cx="5334000" cy="2457450"/>
          </a:xfrm>
        </p:grpSpPr>
        <p:sp>
          <p:nvSpPr>
            <p:cNvPr id="16" name="Rectangle 16"/>
            <p:cNvSpPr/>
            <p:nvPr/>
          </p:nvSpPr>
          <p:spPr>
            <a:xfrm>
              <a:off x="6248400" y="1162050"/>
              <a:ext cx="5334000" cy="2457450"/>
            </a:xfrm>
            <a:prstGeom prst="roundRect">
              <a:avLst>
                <a:gd name="adj" fmla="val 5426"/>
              </a:avLst>
            </a:prstGeom>
            <a:solidFill>
              <a:schemeClr val="accent5"/>
            </a:solidFill>
            <a:ln w="14288">
              <a:solidFill>
                <a:srgbClr val="1E3A52"/>
              </a:solidFill>
            </a:ln>
          </p:spPr>
        </p:sp>
        <p:sp>
          <p:nvSpPr>
            <p:cNvPr id="17" name="Rectangle 17"/>
            <p:cNvSpPr/>
            <p:nvPr/>
          </p:nvSpPr>
          <p:spPr>
            <a:xfrm>
              <a:off x="6248400" y="1162050"/>
              <a:ext cx="57150" cy="2457450"/>
            </a:xfrm>
            <a:prstGeom prst="roundRect">
              <a:avLst>
                <a:gd name="adj" fmla="val 50000"/>
              </a:avLst>
            </a:prstGeom>
            <a:solidFill>
              <a:srgbClr val="4C8DFF"/>
            </a:solidFill>
            <a:ln w="0">
              <a:solidFill>
                <a:srgbClr val="4C8DFF"/>
              </a:solidFill>
            </a:ln>
          </p:spPr>
        </p:sp>
        <p:sp>
          <p:nvSpPr>
            <p:cNvPr id="18" name="TextBox 18"/>
            <p:cNvSpPr txBox="1"/>
            <p:nvPr/>
          </p:nvSpPr>
          <p:spPr>
            <a:xfrm>
              <a:off x="6488811" y="1408271"/>
              <a:ext cx="3825037"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Benchmark: the exact integer program</a:t>
              </a:r>
            </a:p>
          </p:txBody>
        </p:sp>
        <p:sp>
          <p:nvSpPr>
            <p:cNvPr id="19" name="TextBox 19"/>
            <p:cNvSpPr txBox="1"/>
            <p:nvPr/>
          </p:nvSpPr>
          <p:spPr>
            <a:xfrm>
              <a:off x="6489573" y="1805464"/>
              <a:ext cx="4610762"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The exact binary integer program is only tractable for</a:t>
              </a:r>
            </a:p>
          </p:txBody>
        </p:sp>
        <p:sp>
          <p:nvSpPr>
            <p:cNvPr id="20" name="TextBox 20"/>
            <p:cNvSpPr txBox="1"/>
            <p:nvPr/>
          </p:nvSpPr>
          <p:spPr>
            <a:xfrm>
              <a:off x="6489573" y="2043589"/>
              <a:ext cx="4406951"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very small attack budgets, giving a reference upper</a:t>
              </a:r>
            </a:p>
          </p:txBody>
        </p:sp>
        <p:sp>
          <p:nvSpPr>
            <p:cNvPr id="21" name="TextBox 21"/>
            <p:cNvSpPr txBox="1"/>
            <p:nvPr/>
          </p:nvSpPr>
          <p:spPr>
            <a:xfrm>
              <a:off x="6489573" y="2281714"/>
              <a:ext cx="3493689"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bound to compare the relaxation against.</a:t>
              </a:r>
            </a:p>
          </p:txBody>
        </p:sp>
        <p:sp>
          <p:nvSpPr>
            <p:cNvPr id="22" name="Rectangle 22"/>
            <p:cNvSpPr/>
            <p:nvPr/>
          </p:nvSpPr>
          <p:spPr>
            <a:xfrm>
              <a:off x="6496050" y="3028950"/>
              <a:ext cx="3048000" cy="247650"/>
            </a:xfrm>
            <a:prstGeom prst="roundRect">
              <a:avLst>
                <a:gd name="adj" fmla="val 50000"/>
              </a:avLst>
            </a:prstGeom>
            <a:solidFill>
              <a:srgbClr val="4C8DFF"/>
            </a:solidFill>
            <a:ln w="0">
              <a:solidFill>
                <a:srgbClr val="4C8DFF"/>
              </a:solidFill>
            </a:ln>
          </p:spPr>
        </p:sp>
        <p:sp>
          <p:nvSpPr>
            <p:cNvPr id="23" name="TextBox 23"/>
            <p:cNvSpPr txBox="1"/>
            <p:nvPr/>
          </p:nvSpPr>
          <p:spPr>
            <a:xfrm>
              <a:off x="6845920" y="3087052"/>
              <a:ext cx="2348260" cy="205359"/>
            </a:xfrm>
            <a:prstGeom prst="rect">
              <a:avLst/>
            </a:prstGeom>
            <a:noFill/>
            <a:ln>
              <a:noFill/>
            </a:ln>
          </p:spPr>
          <p:txBody>
            <a:bodyPr wrap="none" lIns="0" tIns="0" rIns="0" bIns="0" anchor="t" anchorCtr="0">
              <a:spAutoFit/>
            </a:bodyPr>
            <a:lstStyle/>
            <a:p>
              <a:pPr algn="ctr"/>
              <a:r>
                <a:rPr lang="en-US" sz="1050" b="1" dirty="0">
                  <a:solidFill>
                    <a:srgbClr val="08131F"/>
                  </a:solidFill>
                  <a:latin typeface="+mn-lt"/>
                  <a:ea typeface="+mn-ea"/>
                  <a:cs typeface="+mn-cs"/>
                </a:rPr>
                <a:t>exact = ground-truth reference</a:t>
              </a:r>
            </a:p>
          </p:txBody>
        </p:sp>
      </p:grpSp>
      <p:grpSp>
        <p:nvGrpSpPr>
          <p:cNvPr id="31" name="Group 31"/>
          <p:cNvGrpSpPr/>
          <p:nvPr/>
        </p:nvGrpSpPr>
        <p:grpSpPr>
          <a:xfrm>
            <a:off x="609600" y="3810000"/>
            <a:ext cx="5334000" cy="2457450"/>
            <a:chOff x="609600" y="3810000"/>
            <a:chExt cx="5334000" cy="2457450"/>
          </a:xfrm>
        </p:grpSpPr>
        <p:sp>
          <p:nvSpPr>
            <p:cNvPr id="25" name="Rectangle 25"/>
            <p:cNvSpPr/>
            <p:nvPr/>
          </p:nvSpPr>
          <p:spPr>
            <a:xfrm>
              <a:off x="609600" y="3810000"/>
              <a:ext cx="5334000" cy="2457450"/>
            </a:xfrm>
            <a:prstGeom prst="roundRect">
              <a:avLst>
                <a:gd name="adj" fmla="val 5426"/>
              </a:avLst>
            </a:prstGeom>
            <a:solidFill>
              <a:schemeClr val="accent5"/>
            </a:solidFill>
            <a:ln w="14288">
              <a:solidFill>
                <a:srgbClr val="1E3A52"/>
              </a:solidFill>
            </a:ln>
          </p:spPr>
        </p:sp>
        <p:sp>
          <p:nvSpPr>
            <p:cNvPr id="26" name="Rectangle 26"/>
            <p:cNvSpPr/>
            <p:nvPr/>
          </p:nvSpPr>
          <p:spPr>
            <a:xfrm>
              <a:off x="609600" y="3810000"/>
              <a:ext cx="57150" cy="2457450"/>
            </a:xfrm>
            <a:prstGeom prst="roundRect">
              <a:avLst>
                <a:gd name="adj" fmla="val 50000"/>
              </a:avLst>
            </a:prstGeom>
            <a:solidFill>
              <a:srgbClr val="48D597"/>
            </a:solidFill>
            <a:ln w="0">
              <a:solidFill>
                <a:srgbClr val="48D597"/>
              </a:solidFill>
            </a:ln>
          </p:spPr>
        </p:sp>
        <p:sp>
          <p:nvSpPr>
            <p:cNvPr id="27" name="TextBox 27"/>
            <p:cNvSpPr txBox="1"/>
            <p:nvPr/>
          </p:nvSpPr>
          <p:spPr>
            <a:xfrm>
              <a:off x="849630" y="4048125"/>
              <a:ext cx="1612363"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The gap is small</a:t>
              </a:r>
            </a:p>
          </p:txBody>
        </p:sp>
        <p:sp>
          <p:nvSpPr>
            <p:cNvPr id="28" name="TextBox 28"/>
            <p:cNvSpPr txBox="1"/>
            <p:nvPr/>
          </p:nvSpPr>
          <p:spPr>
            <a:xfrm>
              <a:off x="2551502" y="4655820"/>
              <a:ext cx="1450196" cy="1047750"/>
            </a:xfrm>
            <a:prstGeom prst="rect">
              <a:avLst/>
            </a:prstGeom>
            <a:noFill/>
            <a:ln>
              <a:noFill/>
            </a:ln>
          </p:spPr>
          <p:txBody>
            <a:bodyPr wrap="none" lIns="0" tIns="0" rIns="0" bIns="0" anchor="t" anchorCtr="0">
              <a:spAutoFit/>
            </a:bodyPr>
            <a:lstStyle/>
            <a:p>
              <a:pPr algn="ctr"/>
              <a:r>
                <a:rPr lang="en-US" sz="5400" b="1" dirty="0">
                  <a:solidFill>
                    <a:srgbClr val="48D597"/>
                  </a:solidFill>
                  <a:latin typeface="+mn-lt"/>
                  <a:ea typeface="+mn-ea"/>
                  <a:cs typeface="+mn-cs"/>
                </a:rPr>
                <a:t>~5%</a:t>
              </a:r>
            </a:p>
          </p:txBody>
        </p:sp>
        <p:sp>
          <p:nvSpPr>
            <p:cNvPr id="29" name="TextBox 29"/>
            <p:cNvSpPr txBox="1"/>
            <p:nvPr/>
          </p:nvSpPr>
          <p:spPr>
            <a:xfrm>
              <a:off x="1634871" y="5547360"/>
              <a:ext cx="3283458" cy="234696"/>
            </a:xfrm>
            <a:prstGeom prst="rect">
              <a:avLst/>
            </a:prstGeom>
            <a:noFill/>
            <a:ln>
              <a:noFill/>
            </a:ln>
          </p:spPr>
          <p:txBody>
            <a:bodyPr wrap="none" lIns="0" tIns="0" rIns="0" bIns="0" anchor="t" anchorCtr="0">
              <a:spAutoFit/>
            </a:bodyPr>
            <a:lstStyle/>
            <a:p>
              <a:pPr algn="ctr"/>
              <a:r>
                <a:rPr lang="en-US" sz="1200" dirty="0">
                  <a:solidFill>
                    <a:srgbClr val="9DB2C4"/>
                  </a:solidFill>
                  <a:latin typeface="+mn-lt"/>
                  <a:ea typeface="+mn-ea"/>
                  <a:cs typeface="+mn-cs"/>
                </a:rPr>
                <a:t>certified ratio lost vs the exact program</a:t>
              </a:r>
            </a:p>
          </p:txBody>
        </p:sp>
        <p:sp>
          <p:nvSpPr>
            <p:cNvPr id="30" name="TextBox 30"/>
            <p:cNvSpPr txBox="1"/>
            <p:nvPr/>
          </p:nvSpPr>
          <p:spPr>
            <a:xfrm>
              <a:off x="1695202" y="5811202"/>
              <a:ext cx="3162795" cy="205359"/>
            </a:xfrm>
            <a:prstGeom prst="rect">
              <a:avLst/>
            </a:prstGeom>
            <a:noFill/>
            <a:ln>
              <a:noFill/>
            </a:ln>
          </p:spPr>
          <p:txBody>
            <a:bodyPr wrap="none" lIns="0" tIns="0" rIns="0" bIns="0" anchor="t" anchorCtr="0">
              <a:spAutoFit/>
            </a:bodyPr>
            <a:lstStyle/>
            <a:p>
              <a:pPr algn="ctr"/>
              <a:r>
                <a:rPr lang="en-US" sz="1050" dirty="0">
                  <a:solidFill>
                    <a:srgbClr val="9DB2C4"/>
                  </a:solidFill>
                  <a:latin typeface="+mn-lt"/>
                  <a:ea typeface="+mn-ea"/>
                  <a:cs typeface="+mn-cs"/>
                </a:rPr>
                <a:t>— also why collective can trail at tiny budgets</a:t>
              </a:r>
            </a:p>
          </p:txBody>
        </p:sp>
      </p:grpSp>
      <p:grpSp>
        <p:nvGrpSpPr>
          <p:cNvPr id="44" name="Group 44"/>
          <p:cNvGrpSpPr/>
          <p:nvPr/>
        </p:nvGrpSpPr>
        <p:grpSpPr>
          <a:xfrm>
            <a:off x="6248400" y="3810000"/>
            <a:ext cx="5334000" cy="2457450"/>
            <a:chOff x="6248400" y="3810000"/>
            <a:chExt cx="5334000" cy="2457450"/>
          </a:xfrm>
        </p:grpSpPr>
        <p:sp>
          <p:nvSpPr>
            <p:cNvPr id="32" name="Rectangle 32"/>
            <p:cNvSpPr/>
            <p:nvPr/>
          </p:nvSpPr>
          <p:spPr>
            <a:xfrm>
              <a:off x="6248400" y="3810000"/>
              <a:ext cx="5334000" cy="2457450"/>
            </a:xfrm>
            <a:prstGeom prst="roundRect">
              <a:avLst>
                <a:gd name="adj" fmla="val 5426"/>
              </a:avLst>
            </a:prstGeom>
            <a:solidFill>
              <a:schemeClr val="accent5"/>
            </a:solidFill>
            <a:ln w="14288">
              <a:solidFill>
                <a:srgbClr val="1E3A52"/>
              </a:solidFill>
            </a:ln>
          </p:spPr>
        </p:sp>
        <p:sp>
          <p:nvSpPr>
            <p:cNvPr id="33" name="Rectangle 33"/>
            <p:cNvSpPr/>
            <p:nvPr/>
          </p:nvSpPr>
          <p:spPr>
            <a:xfrm>
              <a:off x="6248400" y="3810000"/>
              <a:ext cx="57150" cy="2457450"/>
            </a:xfrm>
            <a:prstGeom prst="roundRect">
              <a:avLst>
                <a:gd name="adj" fmla="val 50000"/>
              </a:avLst>
            </a:prstGeom>
            <a:solidFill>
              <a:srgbClr val="FF6B6B"/>
            </a:solidFill>
            <a:ln w="0">
              <a:solidFill>
                <a:srgbClr val="FF6B6B"/>
              </a:solidFill>
            </a:ln>
          </p:spPr>
        </p:sp>
        <p:sp>
          <p:nvSpPr>
            <p:cNvPr id="34" name="TextBox 34"/>
            <p:cNvSpPr txBox="1"/>
            <p:nvPr/>
          </p:nvSpPr>
          <p:spPr>
            <a:xfrm>
              <a:off x="6489192" y="4045268"/>
              <a:ext cx="3846297"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Runtime: customized stays near a minute</a:t>
              </a:r>
            </a:p>
          </p:txBody>
        </p:sp>
        <p:sp>
          <p:nvSpPr>
            <p:cNvPr id="35" name="Line 35"/>
            <p:cNvSpPr/>
            <p:nvPr/>
          </p:nvSpPr>
          <p:spPr>
            <a:xfrm>
              <a:off x="6915150" y="5848350"/>
              <a:ext cx="4095750" cy="9525"/>
            </a:xfrm>
            <a:custGeom>
              <a:avLst/>
              <a:gdLst/>
              <a:ahLst/>
              <a:cxnLst/>
              <a:rect l="l" t="t" r="r" b="b"/>
              <a:pathLst>
                <a:path w="4095750" h="9525">
                  <a:moveTo>
                    <a:pt x="0" y="0"/>
                  </a:moveTo>
                  <a:lnTo>
                    <a:pt x="4095750" y="0"/>
                  </a:lnTo>
                </a:path>
              </a:pathLst>
            </a:custGeom>
            <a:noFill/>
            <a:ln w="19050">
              <a:solidFill>
                <a:srgbClr val="9DB2C4"/>
              </a:solidFill>
            </a:ln>
          </p:spPr>
        </p:sp>
        <p:sp>
          <p:nvSpPr>
            <p:cNvPr id="36" name="Line 36"/>
            <p:cNvSpPr/>
            <p:nvPr/>
          </p:nvSpPr>
          <p:spPr>
            <a:xfrm>
              <a:off x="6915150" y="4705350"/>
              <a:ext cx="9525" cy="1143000"/>
            </a:xfrm>
            <a:custGeom>
              <a:avLst/>
              <a:gdLst/>
              <a:ahLst/>
              <a:cxnLst/>
              <a:rect l="l" t="t" r="r" b="b"/>
              <a:pathLst>
                <a:path w="9525" h="1143000">
                  <a:moveTo>
                    <a:pt x="0" y="1143000"/>
                  </a:moveTo>
                  <a:lnTo>
                    <a:pt x="0" y="0"/>
                  </a:lnTo>
                </a:path>
              </a:pathLst>
            </a:custGeom>
            <a:noFill/>
            <a:ln w="19050">
              <a:solidFill>
                <a:srgbClr val="9DB2C4"/>
              </a:solidFill>
            </a:ln>
          </p:spPr>
        </p:sp>
        <p:sp>
          <p:nvSpPr>
            <p:cNvPr id="37" name="TextBox 37"/>
            <p:cNvSpPr txBox="1"/>
            <p:nvPr/>
          </p:nvSpPr>
          <p:spPr>
            <a:xfrm>
              <a:off x="6481953" y="4608195"/>
              <a:ext cx="342710" cy="176212"/>
            </a:xfrm>
            <a:prstGeom prst="rect">
              <a:avLst/>
            </a:prstGeom>
            <a:noFill/>
            <a:ln>
              <a:noFill/>
            </a:ln>
          </p:spPr>
          <p:txBody>
            <a:bodyPr wrap="none" lIns="0" tIns="0" rIns="0" bIns="0" anchor="t" anchorCtr="0">
              <a:spAutoFit/>
            </a:bodyPr>
            <a:lstStyle/>
            <a:p>
              <a:pPr algn="r"/>
              <a:r>
                <a:rPr lang="en-US" sz="900" dirty="0">
                  <a:solidFill>
                    <a:srgbClr val="9DB2C4"/>
                  </a:solidFill>
                  <a:latin typeface="+mn-lt"/>
                  <a:ea typeface="+mn-ea"/>
                  <a:cs typeface="+mn-cs"/>
                </a:rPr>
                <a:t>1000s</a:t>
              </a:r>
            </a:p>
          </p:txBody>
        </p:sp>
        <p:sp>
          <p:nvSpPr>
            <p:cNvPr id="38" name="TextBox 38"/>
            <p:cNvSpPr txBox="1"/>
            <p:nvPr/>
          </p:nvSpPr>
          <p:spPr>
            <a:xfrm>
              <a:off x="6748501" y="5789295"/>
              <a:ext cx="76162" cy="176212"/>
            </a:xfrm>
            <a:prstGeom prst="rect">
              <a:avLst/>
            </a:prstGeom>
            <a:noFill/>
            <a:ln>
              <a:noFill/>
            </a:ln>
          </p:spPr>
          <p:txBody>
            <a:bodyPr wrap="none" lIns="0" tIns="0" rIns="0" bIns="0" anchor="t" anchorCtr="0">
              <a:spAutoFit/>
            </a:bodyPr>
            <a:lstStyle/>
            <a:p>
              <a:pPr algn="r"/>
              <a:r>
                <a:rPr lang="en-US" sz="900" dirty="0">
                  <a:solidFill>
                    <a:srgbClr val="9DB2C4"/>
                  </a:solidFill>
                  <a:latin typeface="+mn-lt"/>
                  <a:ea typeface="+mn-ea"/>
                  <a:cs typeface="+mn-cs"/>
                </a:rPr>
                <a:t>0</a:t>
              </a:r>
            </a:p>
          </p:txBody>
        </p:sp>
        <p:sp>
          <p:nvSpPr>
            <p:cNvPr id="39" name="TextBox 39"/>
            <p:cNvSpPr txBox="1"/>
            <p:nvPr/>
          </p:nvSpPr>
          <p:spPr>
            <a:xfrm>
              <a:off x="8446853" y="5990749"/>
              <a:ext cx="1032345" cy="190690"/>
            </a:xfrm>
            <a:prstGeom prst="rect">
              <a:avLst/>
            </a:prstGeom>
            <a:noFill/>
            <a:ln>
              <a:noFill/>
            </a:ln>
          </p:spPr>
          <p:txBody>
            <a:bodyPr wrap="none" lIns="0" tIns="0" rIns="0" bIns="0" anchor="t" anchorCtr="0">
              <a:spAutoFit/>
            </a:bodyPr>
            <a:lstStyle/>
            <a:p>
              <a:pPr algn="ctr"/>
              <a:r>
                <a:rPr lang="en-US" sz="980" dirty="0">
                  <a:solidFill>
                    <a:srgbClr val="9DB2C4"/>
                  </a:solidFill>
                  <a:latin typeface="+mn-lt"/>
                  <a:ea typeface="+mn-ea"/>
                  <a:cs typeface="+mn-cs"/>
                </a:rPr>
                <a:t>attack budget →</a:t>
              </a:r>
            </a:p>
          </p:txBody>
        </p:sp>
        <p:sp>
          <p:nvSpPr>
            <p:cNvPr id="40" name="Polyline 40"/>
            <p:cNvSpPr/>
            <p:nvPr/>
          </p:nvSpPr>
          <p:spPr>
            <a:xfrm>
              <a:off x="6915150" y="4705350"/>
              <a:ext cx="4095750" cy="1051560"/>
            </a:xfrm>
            <a:custGeom>
              <a:avLst/>
              <a:gdLst/>
              <a:ahLst/>
              <a:cxnLst/>
              <a:rect l="l" t="t" r="r" b="b"/>
              <a:pathLst>
                <a:path w="4095750" h="1051560">
                  <a:moveTo>
                    <a:pt x="0" y="1051560"/>
                  </a:moveTo>
                  <a:lnTo>
                    <a:pt x="1351597" y="800100"/>
                  </a:lnTo>
                  <a:lnTo>
                    <a:pt x="2703195" y="388620"/>
                  </a:lnTo>
                  <a:lnTo>
                    <a:pt x="4095750" y="0"/>
                  </a:lnTo>
                </a:path>
              </a:pathLst>
            </a:custGeom>
            <a:noFill/>
            <a:ln w="28575">
              <a:solidFill>
                <a:srgbClr val="FF6B6B"/>
              </a:solidFill>
            </a:ln>
          </p:spPr>
        </p:sp>
        <p:sp>
          <p:nvSpPr>
            <p:cNvPr id="41" name="Polyline 41"/>
            <p:cNvSpPr/>
            <p:nvPr/>
          </p:nvSpPr>
          <p:spPr>
            <a:xfrm>
              <a:off x="6915150" y="5768340"/>
              <a:ext cx="4095750" cy="22860"/>
            </a:xfrm>
            <a:custGeom>
              <a:avLst/>
              <a:gdLst/>
              <a:ahLst/>
              <a:cxnLst/>
              <a:rect l="l" t="t" r="r" b="b"/>
              <a:pathLst>
                <a:path w="4095750" h="22860">
                  <a:moveTo>
                    <a:pt x="0" y="22860"/>
                  </a:moveTo>
                  <a:lnTo>
                    <a:pt x="1351597" y="11430"/>
                  </a:lnTo>
                  <a:lnTo>
                    <a:pt x="2703195" y="11430"/>
                  </a:lnTo>
                  <a:lnTo>
                    <a:pt x="4095750" y="0"/>
                  </a:lnTo>
                </a:path>
              </a:pathLst>
            </a:custGeom>
            <a:noFill/>
            <a:ln w="28575">
              <a:solidFill>
                <a:srgbClr val="48D597"/>
              </a:solidFill>
            </a:ln>
          </p:spPr>
        </p:sp>
        <p:sp>
          <p:nvSpPr>
            <p:cNvPr id="42" name="TextBox 42"/>
            <p:cNvSpPr txBox="1"/>
            <p:nvPr/>
          </p:nvSpPr>
          <p:spPr>
            <a:xfrm>
              <a:off x="10396441" y="4638199"/>
              <a:ext cx="619412" cy="190690"/>
            </a:xfrm>
            <a:prstGeom prst="rect">
              <a:avLst/>
            </a:prstGeom>
            <a:noFill/>
            <a:ln>
              <a:noFill/>
            </a:ln>
          </p:spPr>
          <p:txBody>
            <a:bodyPr wrap="none" lIns="0" tIns="0" rIns="0" bIns="0" anchor="t" anchorCtr="0">
              <a:spAutoFit/>
            </a:bodyPr>
            <a:lstStyle/>
            <a:p>
              <a:pPr algn="r"/>
              <a:r>
                <a:rPr lang="en-US" sz="980" b="1" dirty="0">
                  <a:solidFill>
                    <a:srgbClr val="FF6B6B"/>
                  </a:solidFill>
                  <a:latin typeface="+mn-lt"/>
                  <a:ea typeface="+mn-ea"/>
                  <a:cs typeface="+mn-cs"/>
                </a:rPr>
                <a:t>standard</a:t>
              </a:r>
            </a:p>
          </p:txBody>
        </p:sp>
        <p:sp>
          <p:nvSpPr>
            <p:cNvPr id="43" name="TextBox 43"/>
            <p:cNvSpPr txBox="1"/>
            <p:nvPr/>
          </p:nvSpPr>
          <p:spPr>
            <a:xfrm>
              <a:off x="9793862" y="5586889"/>
              <a:ext cx="1221991" cy="190690"/>
            </a:xfrm>
            <a:prstGeom prst="rect">
              <a:avLst/>
            </a:prstGeom>
            <a:noFill/>
            <a:ln>
              <a:noFill/>
            </a:ln>
          </p:spPr>
          <p:txBody>
            <a:bodyPr wrap="none" lIns="0" tIns="0" rIns="0" bIns="0" anchor="t" anchorCtr="0">
              <a:spAutoFit/>
            </a:bodyPr>
            <a:lstStyle/>
            <a:p>
              <a:pPr algn="r"/>
              <a:r>
                <a:rPr lang="en-US" sz="980" b="1" dirty="0">
                  <a:solidFill>
                    <a:srgbClr val="48D597"/>
                  </a:solidFill>
                  <a:latin typeface="+mn-lt"/>
                  <a:ea typeface="+mn-ea"/>
                  <a:cs typeface="+mn-cs"/>
                </a:rPr>
                <a:t>customized ~1 min</a:t>
              </a:r>
            </a:p>
          </p:txBody>
        </p:sp>
      </p:grpSp>
      <p:sp>
        <p:nvSpPr>
          <p:cNvPr id="45" name="cue_s08_c1_how_much_does_linear_relaxation" title="cue_s08_c1_how_much_does_linear_relaxation" descr="cue_s08_c1_how_much_does_linear_relaxation How much does the linear relaxation cost us?"/>
          <p:cNvSpPr/>
          <p:nvPr/>
        </p:nvSpPr>
        <p:spPr>
          <a:xfrm>
            <a:off x="609600"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8_c2_find_out_authors_compare_relaxed" title="cue_s08_c2_find_out_authors_compare_relaxed" descr="cue_s08_c2_find_out_authors_compare_relaxed To find out, the authors compare the relaxed program against the exact integer program, which is only tractable for very small budgets."/>
          <p:cNvSpPr/>
          <p:nvPr/>
        </p:nvSpPr>
        <p:spPr>
          <a:xfrm>
            <a:off x="6248399"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8_c3_gap_small_customized_relaxation_lose" title="cue_s08_c3_gap_small_customized_relaxation_lose" descr="cue_s08_c3_gap_small_customized_relaxation_lose The gap is small: the customized relaxation loses only about five percent in certified ratio, which also explains why the collective approach can trail sample-wise at very tiny budgets."/>
          <p:cNvSpPr/>
          <p:nvPr/>
        </p:nvSpPr>
        <p:spPr>
          <a:xfrm>
            <a:off x="609600"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8_c4_runtime_standard_relaxation_blows_pa" title="cue_s08_c4_runtime_standard_relaxation_blows_pa" descr="cue_s08_c4_runtime_standard_relaxation_blows_pa On runtime, the standard relaxation blows up past a thousand seconds as the attack grows, while the customized version stays near a single minute, and at equal clean accuracy it dominates the standard version on the accuracy-versus-certification trade-off."/>
          <p:cNvSpPr/>
          <p:nvPr/>
        </p:nvSpPr>
        <p:spPr>
          <a:xfrm>
            <a:off x="6248399"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57150" cy="381000"/>
          </a:xfrm>
          <a:prstGeom prst="roundRect">
            <a:avLst>
              <a:gd name="adj" fmla="val 50000"/>
            </a:avLst>
          </a:prstGeom>
          <a:solidFill>
            <a:srgbClr val="35D0BA"/>
          </a:solidFill>
          <a:ln w="0">
            <a:solidFill>
              <a:srgbClr val="35D0BA"/>
            </a:solidFill>
          </a:ln>
        </p:spPr>
        <p:txBody>
          <a:bodyPr/>
          <a:p/>
        </p:txBody>
      </p:sp>
      <p:sp>
        <p:nvSpPr>
          <p:cNvPr id="3" name="TextBox 3"/>
          <p:cNvSpPr txBox="1"/>
          <p:nvPr/>
        </p:nvSpPr>
        <p:spPr>
          <a:xfrm>
            <a:off x="813435" y="469106"/>
            <a:ext cx="1753301" cy="220028"/>
          </a:xfrm>
          <a:prstGeom prst="rect">
            <a:avLst/>
          </a:prstGeom>
          <a:noFill/>
          <a:ln>
            <a:noFill/>
          </a:ln>
        </p:spPr>
        <p:txBody>
          <a:bodyPr wrap="none" lIns="0" tIns="0" rIns="0" bIns="0" anchor="t" anchorCtr="0">
            <a:spAutoFit/>
          </a:bodyPr>
          <a:lstStyle/>
          <a:p>
            <a:pPr algn="l"/>
            <a:r>
              <a:rPr lang="en-US" sz="1120" b="1" spc="150" dirty="0">
                <a:solidFill>
                  <a:srgbClr val="35D0BA"/>
                </a:solidFill>
                <a:latin typeface="+mn-lt"/>
                <a:ea typeface="+mn-ea"/>
                <a:cs typeface="+mn-cs"/>
              </a:rPr>
              <a:t>HEADLINE NUMBERS</a:t>
            </a:r>
          </a:p>
        </p:txBody>
      </p:sp>
      <p:sp>
        <p:nvSpPr>
          <p:cNvPr id="4" name="TextBox 4"/>
          <p:cNvSpPr txBox="1"/>
          <p:nvPr/>
        </p:nvSpPr>
        <p:spPr>
          <a:xfrm>
            <a:off x="807720" y="614362"/>
            <a:ext cx="423178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impact in four numbers</a:t>
            </a:r>
          </a:p>
        </p:txBody>
      </p:sp>
      <p:sp>
        <p:nvSpPr>
          <p:cNvPr id="5" name="TextBox 5"/>
          <p:cNvSpPr txBox="1"/>
          <p:nvPr/>
        </p:nvSpPr>
        <p:spPr>
          <a:xfrm>
            <a:off x="11046336" y="526256"/>
            <a:ext cx="541779" cy="220028"/>
          </a:xfrm>
          <a:prstGeom prst="rect">
            <a:avLst/>
          </a:prstGeom>
          <a:noFill/>
          <a:ln>
            <a:noFill/>
          </a:ln>
        </p:spPr>
        <p:txBody>
          <a:bodyPr wrap="none" lIns="0" tIns="0" rIns="0" bIns="0" anchor="t" anchorCtr="0">
            <a:spAutoFit/>
          </a:bodyPr>
          <a:lstStyle/>
          <a:p>
            <a:pPr algn="r"/>
            <a:r>
              <a:rPr lang="en-US" sz="1120" b="1" dirty="0">
                <a:solidFill>
                  <a:srgbClr val="9DB2C4"/>
                </a:solidFill>
                <a:latin typeface="+mn-lt"/>
                <a:ea typeface="+mn-ea"/>
                <a:cs typeface="+mn-cs"/>
              </a:rPr>
              <a:t>09 / 10</a:t>
            </a:r>
          </a:p>
        </p:txBody>
      </p:sp>
      <p:sp>
        <p:nvSpPr>
          <p:cNvPr id="6" name="Line 6"/>
          <p:cNvSpPr/>
          <p:nvPr/>
        </p:nvSpPr>
        <p:spPr>
          <a:xfrm>
            <a:off x="609600" y="990600"/>
            <a:ext cx="10972800" cy="9525"/>
          </a:xfrm>
          <a:custGeom>
            <a:avLst/>
            <a:gdLst/>
            <a:ahLst/>
            <a:cxnLst/>
            <a:rect l="l" t="t" r="r" b="b"/>
            <a:pathLst>
              <a:path w="10972800" h="9525">
                <a:moveTo>
                  <a:pt x="0" y="0"/>
                </a:moveTo>
                <a:lnTo>
                  <a:pt x="10972800" y="0"/>
                </a:lnTo>
              </a:path>
            </a:pathLst>
          </a:custGeom>
          <a:noFill/>
          <a:ln w="14288">
            <a:solidFill>
              <a:srgbClr val="1E3A52"/>
            </a:solidFill>
          </a:ln>
        </p:spPr>
        <p:txBody>
          <a:bodyPr/>
          <a:p/>
        </p:txBody>
      </p:sp>
      <p:grpSp>
        <p:nvGrpSpPr>
          <p:cNvPr id="14" name="Group 14"/>
          <p:cNvGrpSpPr/>
          <p:nvPr/>
        </p:nvGrpSpPr>
        <p:grpSpPr>
          <a:xfrm>
            <a:off x="554954" y="1428750"/>
            <a:ext cx="2700093" cy="4381500"/>
            <a:chOff x="554954" y="1428750"/>
            <a:chExt cx="2700093" cy="4381500"/>
          </a:xfrm>
        </p:grpSpPr>
        <p:sp>
          <p:nvSpPr>
            <p:cNvPr id="7" name="Rectangle 7"/>
            <p:cNvSpPr/>
            <p:nvPr/>
          </p:nvSpPr>
          <p:spPr>
            <a:xfrm>
              <a:off x="609600" y="1428750"/>
              <a:ext cx="2590800" cy="4381500"/>
            </a:xfrm>
            <a:prstGeom prst="roundRect">
              <a:avLst>
                <a:gd name="adj" fmla="val 5147"/>
              </a:avLst>
            </a:prstGeom>
            <a:solidFill>
              <a:schemeClr val="accent5"/>
            </a:solidFill>
            <a:ln w="14288">
              <a:solidFill>
                <a:srgbClr val="1E3A52"/>
              </a:solidFill>
            </a:ln>
          </p:spPr>
        </p:sp>
        <p:sp>
          <p:nvSpPr>
            <p:cNvPr id="8" name="Rectangle 8"/>
            <p:cNvSpPr/>
            <p:nvPr/>
          </p:nvSpPr>
          <p:spPr>
            <a:xfrm>
              <a:off x="609600" y="1428750"/>
              <a:ext cx="2590800" cy="76200"/>
            </a:xfrm>
            <a:prstGeom prst="roundRect">
              <a:avLst>
                <a:gd name="adj" fmla="val 50000"/>
              </a:avLst>
            </a:prstGeom>
            <a:solidFill>
              <a:srgbClr val="48D597"/>
            </a:solidFill>
            <a:ln w="0">
              <a:solidFill>
                <a:srgbClr val="48D597"/>
              </a:solidFill>
            </a:ln>
          </p:spPr>
        </p:sp>
        <p:sp>
          <p:nvSpPr>
            <p:cNvPr id="9" name="TextBox 9"/>
            <p:cNvSpPr txBox="1"/>
            <p:nvPr/>
          </p:nvSpPr>
          <p:spPr>
            <a:xfrm>
              <a:off x="554954" y="2801302"/>
              <a:ext cx="2700093" cy="790575"/>
            </a:xfrm>
            <a:prstGeom prst="rect">
              <a:avLst/>
            </a:prstGeom>
            <a:noFill/>
            <a:ln>
              <a:noFill/>
            </a:ln>
          </p:spPr>
          <p:txBody>
            <a:bodyPr wrap="none" lIns="0" tIns="0" rIns="0" bIns="0" anchor="t" anchorCtr="0">
              <a:spAutoFit/>
            </a:bodyPr>
            <a:lstStyle/>
            <a:p>
              <a:pPr algn="ctr"/>
              <a:r>
                <a:rPr lang="en-US" sz="4050" b="1" dirty="0">
                  <a:solidFill>
                    <a:srgbClr val="48D597"/>
                  </a:solidFill>
                  <a:latin typeface="+mn-lt"/>
                  <a:ea typeface="+mn-ea"/>
                  <a:cs typeface="+mn-cs"/>
                </a:rPr>
                <a:t>0 → 81.2%</a:t>
              </a:r>
            </a:p>
          </p:txBody>
        </p:sp>
        <p:sp>
          <p:nvSpPr>
            <p:cNvPr id="10" name="TextBox 10"/>
            <p:cNvSpPr txBox="1"/>
            <p:nvPr/>
          </p:nvSpPr>
          <p:spPr>
            <a:xfrm>
              <a:off x="850773" y="3748564"/>
              <a:ext cx="1503467"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certified ratio on</a:t>
              </a:r>
            </a:p>
          </p:txBody>
        </p:sp>
        <p:sp>
          <p:nvSpPr>
            <p:cNvPr id="11" name="TextBox 11"/>
            <p:cNvSpPr txBox="1"/>
            <p:nvPr/>
          </p:nvSpPr>
          <p:spPr>
            <a:xfrm>
              <a:off x="850773" y="3986689"/>
              <a:ext cx="203536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Citeseer at 140 injected</a:t>
              </a:r>
            </a:p>
          </p:txBody>
        </p:sp>
        <p:sp>
          <p:nvSpPr>
            <p:cNvPr id="12" name="TextBox 12"/>
            <p:cNvSpPr txBox="1"/>
            <p:nvPr/>
          </p:nvSpPr>
          <p:spPr>
            <a:xfrm>
              <a:off x="850773" y="4224814"/>
              <a:ext cx="195148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nodes — sample-wise vs</a:t>
              </a:r>
            </a:p>
          </p:txBody>
        </p:sp>
        <p:sp>
          <p:nvSpPr>
            <p:cNvPr id="13" name="TextBox 13"/>
            <p:cNvSpPr txBox="1"/>
            <p:nvPr/>
          </p:nvSpPr>
          <p:spPr>
            <a:xfrm>
              <a:off x="850773" y="4462939"/>
              <a:ext cx="1822247"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customized collective</a:t>
              </a:r>
            </a:p>
          </p:txBody>
        </p:sp>
      </p:grpSp>
      <p:grpSp>
        <p:nvGrpSpPr>
          <p:cNvPr id="21" name="Group 21"/>
          <p:cNvGrpSpPr/>
          <p:nvPr/>
        </p:nvGrpSpPr>
        <p:grpSpPr>
          <a:xfrm>
            <a:off x="3390900" y="1428750"/>
            <a:ext cx="2590800" cy="4381500"/>
            <a:chOff x="3390900" y="1428750"/>
            <a:chExt cx="2590800" cy="4381500"/>
          </a:xfrm>
        </p:grpSpPr>
        <p:sp>
          <p:nvSpPr>
            <p:cNvPr id="15" name="Rectangle 15"/>
            <p:cNvSpPr/>
            <p:nvPr/>
          </p:nvSpPr>
          <p:spPr>
            <a:xfrm>
              <a:off x="3390900" y="1428750"/>
              <a:ext cx="2590800" cy="4381500"/>
            </a:xfrm>
            <a:prstGeom prst="roundRect">
              <a:avLst>
                <a:gd name="adj" fmla="val 5147"/>
              </a:avLst>
            </a:prstGeom>
            <a:solidFill>
              <a:schemeClr val="accent5"/>
            </a:solidFill>
            <a:ln w="14288">
              <a:solidFill>
                <a:srgbClr val="1E3A52"/>
              </a:solidFill>
            </a:ln>
          </p:spPr>
        </p:sp>
        <p:sp>
          <p:nvSpPr>
            <p:cNvPr id="16" name="Rectangle 16"/>
            <p:cNvSpPr/>
            <p:nvPr/>
          </p:nvSpPr>
          <p:spPr>
            <a:xfrm>
              <a:off x="3390900" y="1428750"/>
              <a:ext cx="2590800" cy="76200"/>
            </a:xfrm>
            <a:prstGeom prst="roundRect">
              <a:avLst>
                <a:gd name="adj" fmla="val 50000"/>
              </a:avLst>
            </a:prstGeom>
            <a:solidFill>
              <a:srgbClr val="35D0BA"/>
            </a:solidFill>
            <a:ln w="0">
              <a:solidFill>
                <a:srgbClr val="35D0BA"/>
              </a:solidFill>
            </a:ln>
          </p:spPr>
        </p:sp>
        <p:sp>
          <p:nvSpPr>
            <p:cNvPr id="17" name="TextBox 17"/>
            <p:cNvSpPr txBox="1"/>
            <p:nvPr/>
          </p:nvSpPr>
          <p:spPr>
            <a:xfrm>
              <a:off x="3617719" y="2704148"/>
              <a:ext cx="2137162" cy="962025"/>
            </a:xfrm>
            <a:prstGeom prst="rect">
              <a:avLst/>
            </a:prstGeom>
            <a:noFill/>
            <a:ln>
              <a:noFill/>
            </a:ln>
          </p:spPr>
          <p:txBody>
            <a:bodyPr wrap="none" lIns="0" tIns="0" rIns="0" bIns="0" anchor="t" anchorCtr="0">
              <a:spAutoFit/>
            </a:bodyPr>
            <a:lstStyle/>
            <a:p>
              <a:pPr algn="ctr"/>
              <a:r>
                <a:rPr lang="en-US" sz="4950" b="1" dirty="0">
                  <a:solidFill>
                    <a:srgbClr val="35D0BA"/>
                  </a:solidFill>
                  <a:latin typeface="+mn-lt"/>
                  <a:ea typeface="+mn-ea"/>
                  <a:cs typeface="+mn-cs"/>
                </a:rPr>
                <a:t>~1 min</a:t>
              </a:r>
            </a:p>
          </p:txBody>
        </p:sp>
        <p:sp>
          <p:nvSpPr>
            <p:cNvPr id="18" name="TextBox 18"/>
            <p:cNvSpPr txBox="1"/>
            <p:nvPr/>
          </p:nvSpPr>
          <p:spPr>
            <a:xfrm>
              <a:off x="3632073" y="3748564"/>
              <a:ext cx="1701627"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the collective linear</a:t>
              </a:r>
            </a:p>
          </p:txBody>
        </p:sp>
        <p:sp>
          <p:nvSpPr>
            <p:cNvPr id="19" name="TextBox 19"/>
            <p:cNvSpPr txBox="1"/>
            <p:nvPr/>
          </p:nvSpPr>
          <p:spPr>
            <a:xfrm>
              <a:off x="3632073" y="3986689"/>
              <a:ext cx="2054870"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program solves even the</a:t>
              </a:r>
            </a:p>
          </p:txBody>
        </p:sp>
        <p:sp>
          <p:nvSpPr>
            <p:cNvPr id="20" name="TextBox 20"/>
            <p:cNvSpPr txBox="1"/>
            <p:nvPr/>
          </p:nvSpPr>
          <p:spPr>
            <a:xfrm>
              <a:off x="3632073" y="4224814"/>
              <a:ext cx="196871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largest attack budgets</a:t>
              </a:r>
            </a:p>
          </p:txBody>
        </p:sp>
      </p:grpSp>
      <p:grpSp>
        <p:nvGrpSpPr>
          <p:cNvPr id="29" name="Group 29"/>
          <p:cNvGrpSpPr/>
          <p:nvPr/>
        </p:nvGrpSpPr>
        <p:grpSpPr>
          <a:xfrm>
            <a:off x="6172200" y="1428750"/>
            <a:ext cx="2590800" cy="4381500"/>
            <a:chOff x="6172200" y="1428750"/>
            <a:chExt cx="2590800" cy="4381500"/>
          </a:xfrm>
        </p:grpSpPr>
        <p:sp>
          <p:nvSpPr>
            <p:cNvPr id="22" name="Rectangle 22"/>
            <p:cNvSpPr/>
            <p:nvPr/>
          </p:nvSpPr>
          <p:spPr>
            <a:xfrm>
              <a:off x="6172200" y="1428750"/>
              <a:ext cx="2590800" cy="4381500"/>
            </a:xfrm>
            <a:prstGeom prst="roundRect">
              <a:avLst>
                <a:gd name="adj" fmla="val 5147"/>
              </a:avLst>
            </a:prstGeom>
            <a:solidFill>
              <a:schemeClr val="accent5"/>
            </a:solidFill>
            <a:ln w="14288">
              <a:solidFill>
                <a:srgbClr val="1E3A52"/>
              </a:solidFill>
            </a:ln>
          </p:spPr>
        </p:sp>
        <p:sp>
          <p:nvSpPr>
            <p:cNvPr id="23" name="Rectangle 23"/>
            <p:cNvSpPr/>
            <p:nvPr/>
          </p:nvSpPr>
          <p:spPr>
            <a:xfrm>
              <a:off x="6172200" y="1428750"/>
              <a:ext cx="2590800" cy="76200"/>
            </a:xfrm>
            <a:prstGeom prst="roundRect">
              <a:avLst>
                <a:gd name="adj" fmla="val 50000"/>
              </a:avLst>
            </a:prstGeom>
            <a:solidFill>
              <a:srgbClr val="F5B841"/>
            </a:solidFill>
            <a:ln w="0">
              <a:solidFill>
                <a:srgbClr val="F5B841"/>
              </a:solidFill>
            </a:ln>
          </p:spPr>
        </p:sp>
        <p:sp>
          <p:nvSpPr>
            <p:cNvPr id="24" name="TextBox 24"/>
            <p:cNvSpPr txBox="1"/>
            <p:nvPr/>
          </p:nvSpPr>
          <p:spPr>
            <a:xfrm>
              <a:off x="6416511" y="2704148"/>
              <a:ext cx="2102178" cy="962025"/>
            </a:xfrm>
            <a:prstGeom prst="rect">
              <a:avLst/>
            </a:prstGeom>
            <a:noFill/>
            <a:ln>
              <a:noFill/>
            </a:ln>
          </p:spPr>
          <p:txBody>
            <a:bodyPr wrap="none" lIns="0" tIns="0" rIns="0" bIns="0" anchor="t" anchorCtr="0">
              <a:spAutoFit/>
            </a:bodyPr>
            <a:lstStyle/>
            <a:p>
              <a:pPr algn="ctr"/>
              <a:r>
                <a:rPr lang="en-US" sz="4950" b="1" dirty="0">
                  <a:solidFill>
                    <a:srgbClr val="F5B841"/>
                  </a:solidFill>
                  <a:latin typeface="+mn-lt"/>
                  <a:ea typeface="+mn-ea"/>
                  <a:cs typeface="+mn-cs"/>
                </a:rPr>
                <a:t>+216%</a:t>
              </a:r>
            </a:p>
          </p:txBody>
        </p:sp>
        <p:sp>
          <p:nvSpPr>
            <p:cNvPr id="25" name="TextBox 25"/>
            <p:cNvSpPr txBox="1"/>
            <p:nvPr/>
          </p:nvSpPr>
          <p:spPr>
            <a:xfrm>
              <a:off x="6413373" y="3748564"/>
              <a:ext cx="2046254"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relative improvement of</a:t>
              </a:r>
            </a:p>
          </p:txBody>
        </p:sp>
        <p:sp>
          <p:nvSpPr>
            <p:cNvPr id="26" name="TextBox 26"/>
            <p:cNvSpPr txBox="1"/>
            <p:nvPr/>
          </p:nvSpPr>
          <p:spPr>
            <a:xfrm>
              <a:off x="6413373" y="3986689"/>
              <a:ext cx="128807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the customized</a:t>
              </a:r>
            </a:p>
          </p:txBody>
        </p:sp>
        <p:sp>
          <p:nvSpPr>
            <p:cNvPr id="27" name="TextBox 27"/>
            <p:cNvSpPr txBox="1"/>
            <p:nvPr/>
          </p:nvSpPr>
          <p:spPr>
            <a:xfrm>
              <a:off x="6413373" y="4224814"/>
              <a:ext cx="1641318"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relaxation over the</a:t>
              </a:r>
            </a:p>
          </p:txBody>
        </p:sp>
        <p:sp>
          <p:nvSpPr>
            <p:cNvPr id="28" name="TextBox 28"/>
            <p:cNvSpPr txBox="1"/>
            <p:nvPr/>
          </p:nvSpPr>
          <p:spPr>
            <a:xfrm>
              <a:off x="6413373" y="4462939"/>
              <a:ext cx="110714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standard one</a:t>
              </a:r>
            </a:p>
          </p:txBody>
        </p:sp>
      </p:grpSp>
      <p:grpSp>
        <p:nvGrpSpPr>
          <p:cNvPr id="37" name="Group 37"/>
          <p:cNvGrpSpPr/>
          <p:nvPr/>
        </p:nvGrpSpPr>
        <p:grpSpPr>
          <a:xfrm>
            <a:off x="8953500" y="1428750"/>
            <a:ext cx="2590800" cy="4381500"/>
            <a:chOff x="8953500" y="1428750"/>
            <a:chExt cx="2590800" cy="4381500"/>
          </a:xfrm>
        </p:grpSpPr>
        <p:sp>
          <p:nvSpPr>
            <p:cNvPr id="30" name="Rectangle 30"/>
            <p:cNvSpPr/>
            <p:nvPr/>
          </p:nvSpPr>
          <p:spPr>
            <a:xfrm>
              <a:off x="8953500" y="1428750"/>
              <a:ext cx="2590800" cy="4381500"/>
            </a:xfrm>
            <a:prstGeom prst="roundRect">
              <a:avLst>
                <a:gd name="adj" fmla="val 5147"/>
              </a:avLst>
            </a:prstGeom>
            <a:solidFill>
              <a:schemeClr val="accent5"/>
            </a:solidFill>
            <a:ln w="14288">
              <a:solidFill>
                <a:srgbClr val="1E3A52"/>
              </a:solidFill>
            </a:ln>
          </p:spPr>
        </p:sp>
        <p:sp>
          <p:nvSpPr>
            <p:cNvPr id="31" name="Rectangle 31"/>
            <p:cNvSpPr/>
            <p:nvPr/>
          </p:nvSpPr>
          <p:spPr>
            <a:xfrm>
              <a:off x="8953500" y="1428750"/>
              <a:ext cx="2590800" cy="76200"/>
            </a:xfrm>
            <a:prstGeom prst="roundRect">
              <a:avLst>
                <a:gd name="adj" fmla="val 50000"/>
              </a:avLst>
            </a:prstGeom>
            <a:solidFill>
              <a:srgbClr val="4C8DFF"/>
            </a:solidFill>
            <a:ln w="0">
              <a:solidFill>
                <a:srgbClr val="4C8DFF"/>
              </a:solidFill>
            </a:ln>
          </p:spPr>
        </p:sp>
        <p:sp>
          <p:nvSpPr>
            <p:cNvPr id="32" name="TextBox 32"/>
            <p:cNvSpPr txBox="1"/>
            <p:nvPr/>
          </p:nvSpPr>
          <p:spPr>
            <a:xfrm>
              <a:off x="9582639" y="2704148"/>
              <a:ext cx="1332522" cy="962025"/>
            </a:xfrm>
            <a:prstGeom prst="rect">
              <a:avLst/>
            </a:prstGeom>
            <a:noFill/>
            <a:ln>
              <a:noFill/>
            </a:ln>
          </p:spPr>
          <p:txBody>
            <a:bodyPr wrap="none" lIns="0" tIns="0" rIns="0" bIns="0" anchor="t" anchorCtr="0">
              <a:spAutoFit/>
            </a:bodyPr>
            <a:lstStyle/>
            <a:p>
              <a:pPr algn="ctr"/>
              <a:r>
                <a:rPr lang="en-US" sz="4950" b="1" dirty="0">
                  <a:solidFill>
                    <a:srgbClr val="4C8DFF"/>
                  </a:solidFill>
                  <a:latin typeface="+mn-lt"/>
                  <a:ea typeface="+mn-ea"/>
                  <a:cs typeface="+mn-cs"/>
                </a:rPr>
                <a:t>~5%</a:t>
              </a:r>
            </a:p>
          </p:txBody>
        </p:sp>
        <p:sp>
          <p:nvSpPr>
            <p:cNvPr id="33" name="TextBox 33"/>
            <p:cNvSpPr txBox="1"/>
            <p:nvPr/>
          </p:nvSpPr>
          <p:spPr>
            <a:xfrm>
              <a:off x="9194673" y="3748564"/>
              <a:ext cx="1917019"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how far the relaxation</a:t>
              </a:r>
            </a:p>
          </p:txBody>
        </p:sp>
        <p:sp>
          <p:nvSpPr>
            <p:cNvPr id="34" name="TextBox 34"/>
            <p:cNvSpPr txBox="1"/>
            <p:nvPr/>
          </p:nvSpPr>
          <p:spPr>
            <a:xfrm>
              <a:off x="9194673" y="3986689"/>
              <a:ext cx="2063486"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sits below the exact but</a:t>
              </a:r>
            </a:p>
          </p:txBody>
        </p:sp>
        <p:sp>
          <p:nvSpPr>
            <p:cNvPr id="35" name="TextBox 35"/>
            <p:cNvSpPr txBox="1"/>
            <p:nvPr/>
          </p:nvSpPr>
          <p:spPr>
            <a:xfrm>
              <a:off x="9194673" y="4224814"/>
              <a:ext cx="1581008"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far slower integer</a:t>
              </a:r>
            </a:p>
          </p:txBody>
        </p:sp>
        <p:sp>
          <p:nvSpPr>
            <p:cNvPr id="36" name="TextBox 36"/>
            <p:cNvSpPr txBox="1"/>
            <p:nvPr/>
          </p:nvSpPr>
          <p:spPr>
            <a:xfrm>
              <a:off x="9194673" y="4462939"/>
              <a:ext cx="684977"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solution</a:t>
              </a:r>
            </a:p>
          </p:txBody>
        </p:sp>
      </p:grpSp>
      <p:sp>
        <p:nvSpPr>
          <p:cNvPr id="38" name="TextBox 38"/>
          <p:cNvSpPr txBox="1"/>
          <p:nvPr/>
        </p:nvSpPr>
        <p:spPr>
          <a:xfrm>
            <a:off x="603885" y="6031706"/>
            <a:ext cx="8474967" cy="220028"/>
          </a:xfrm>
          <a:prstGeom prst="rect">
            <a:avLst/>
          </a:prstGeom>
          <a:noFill/>
          <a:ln>
            <a:noFill/>
          </a:ln>
        </p:spPr>
        <p:txBody>
          <a:bodyPr wrap="none" lIns="0" tIns="0" rIns="0" bIns="0" anchor="t" anchorCtr="0">
            <a:spAutoFit/>
          </a:bodyPr>
          <a:lstStyle/>
          <a:p>
            <a:pPr algn="l"/>
            <a:r>
              <a:rPr lang="en-US" sz="1120" dirty="0">
                <a:solidFill>
                  <a:srgbClr val="9DB2C4"/>
                </a:solidFill>
                <a:latin typeface="+mn-lt"/>
                <a:ea typeface="+mn-ea"/>
                <a:cs typeface="+mn-cs"/>
              </a:rPr>
              <a:t>Injecting five percent of the graph, the certified ratio climbs from zero to over eighty percent on both datasets.</a:t>
            </a:r>
          </a:p>
        </p:txBody>
      </p:sp>
      <p:sp>
        <p:nvSpPr>
          <p:cNvPr id="39" name="cue_s09_c1_put_numbers_citeseer_hundred_forty" title="cue_s09_c1_put_numbers_citeseer_hundred_forty" descr="cue_s09_c1_put_numbers_citeseer_hundred_forty To put numbers on it: on Citeseer at a hundred and forty injected nodes, the certified ratio jumps from zero percent under sample-wise certification to eighty-one point two percent with the customized collective method."/>
          <p:cNvSpPr/>
          <p:nvPr/>
        </p:nvSpPr>
        <p:spPr>
          <a:xfrm>
            <a:off x="554736" y="1428521"/>
            <a:ext cx="2700528" cy="43815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9_c2_collective_linear_program_solves_rou" title="cue_s09_c2_collective_linear_program_solves_rou" descr="cue_s09_c2_collective_linear_program_solves_rou That collective linear program solves in roughly one minute."/>
          <p:cNvSpPr/>
          <p:nvPr/>
        </p:nvSpPr>
        <p:spPr>
          <a:xfrm>
            <a:off x="3390595" y="1428521"/>
            <a:ext cx="2590800" cy="43815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9_c3_customized_relaxation_improves_stand" title="cue_s09_c3_customized_relaxation_improves_stand" descr="cue_s09_c3_customized_relaxation_improves_stand The customized relaxation improves on the standard one by up to two hundred and sixteen percent relative, and it sits only about five percent below the exact but far slower integer solution."/>
          <p:cNvSpPr/>
          <p:nvPr/>
        </p:nvSpPr>
        <p:spPr>
          <a:xfrm>
            <a:off x="6171590" y="1428521"/>
            <a:ext cx="2590800" cy="43815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9_c4_short_injecting_five_percent_graph" title="cue_s09_c4_short_injecting_five_percent_graph" descr="cue_s09_c4_short_injecting_five_percent_graph In short, injecting five percent of the graph, the certified ratio climbs from zero to over eighty percent on both datasets."/>
          <p:cNvSpPr/>
          <p:nvPr/>
        </p:nvSpPr>
        <p:spPr>
          <a:xfrm>
            <a:off x="8953804" y="1428521"/>
            <a:ext cx="2590800" cy="43815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57150" cy="381000"/>
          </a:xfrm>
          <a:prstGeom prst="roundRect">
            <a:avLst>
              <a:gd name="adj" fmla="val 50000"/>
            </a:avLst>
          </a:prstGeom>
          <a:solidFill>
            <a:srgbClr val="35D0BA"/>
          </a:solidFill>
          <a:ln w="0">
            <a:solidFill>
              <a:srgbClr val="35D0BA"/>
            </a:solidFill>
          </a:ln>
        </p:spPr>
        <p:txBody>
          <a:bodyPr/>
          <a:p/>
        </p:txBody>
      </p:sp>
      <p:sp>
        <p:nvSpPr>
          <p:cNvPr id="3" name="TextBox 3"/>
          <p:cNvSpPr txBox="1"/>
          <p:nvPr/>
        </p:nvSpPr>
        <p:spPr>
          <a:xfrm>
            <a:off x="813435" y="469106"/>
            <a:ext cx="930244" cy="220028"/>
          </a:xfrm>
          <a:prstGeom prst="rect">
            <a:avLst/>
          </a:prstGeom>
          <a:noFill/>
          <a:ln>
            <a:noFill/>
          </a:ln>
        </p:spPr>
        <p:txBody>
          <a:bodyPr wrap="none" lIns="0" tIns="0" rIns="0" bIns="0" anchor="t" anchorCtr="0">
            <a:spAutoFit/>
          </a:bodyPr>
          <a:lstStyle/>
          <a:p>
            <a:pPr algn="l"/>
            <a:r>
              <a:rPr lang="en-US" sz="1120" b="1" spc="150" dirty="0">
                <a:solidFill>
                  <a:srgbClr val="35D0BA"/>
                </a:solidFill>
                <a:latin typeface="+mn-lt"/>
                <a:ea typeface="+mn-ea"/>
                <a:cs typeface="+mn-cs"/>
              </a:rPr>
              <a:t>TAKEAWAY</a:t>
            </a:r>
          </a:p>
        </p:txBody>
      </p:sp>
      <p:sp>
        <p:nvSpPr>
          <p:cNvPr id="4" name="TextBox 4"/>
          <p:cNvSpPr txBox="1"/>
          <p:nvPr/>
        </p:nvSpPr>
        <p:spPr>
          <a:xfrm>
            <a:off x="807720" y="614362"/>
            <a:ext cx="612481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Certify the set, not one node at a time</a:t>
            </a:r>
          </a:p>
        </p:txBody>
      </p:sp>
      <p:sp>
        <p:nvSpPr>
          <p:cNvPr id="5" name="TextBox 5"/>
          <p:cNvSpPr txBox="1"/>
          <p:nvPr/>
        </p:nvSpPr>
        <p:spPr>
          <a:xfrm>
            <a:off x="11046336" y="526256"/>
            <a:ext cx="541779" cy="220028"/>
          </a:xfrm>
          <a:prstGeom prst="rect">
            <a:avLst/>
          </a:prstGeom>
          <a:noFill/>
          <a:ln>
            <a:noFill/>
          </a:ln>
        </p:spPr>
        <p:txBody>
          <a:bodyPr wrap="none" lIns="0" tIns="0" rIns="0" bIns="0" anchor="t" anchorCtr="0">
            <a:spAutoFit/>
          </a:bodyPr>
          <a:lstStyle/>
          <a:p>
            <a:pPr algn="r"/>
            <a:r>
              <a:rPr lang="en-US" sz="1120" b="1" dirty="0">
                <a:solidFill>
                  <a:srgbClr val="9DB2C4"/>
                </a:solidFill>
                <a:latin typeface="+mn-lt"/>
                <a:ea typeface="+mn-ea"/>
                <a:cs typeface="+mn-cs"/>
              </a:rPr>
              <a:t>10 / 10</a:t>
            </a:r>
          </a:p>
        </p:txBody>
      </p:sp>
      <p:sp>
        <p:nvSpPr>
          <p:cNvPr id="6" name="Line 6"/>
          <p:cNvSpPr/>
          <p:nvPr/>
        </p:nvSpPr>
        <p:spPr>
          <a:xfrm>
            <a:off x="609600" y="990600"/>
            <a:ext cx="10972800" cy="9525"/>
          </a:xfrm>
          <a:custGeom>
            <a:avLst/>
            <a:gdLst/>
            <a:ahLst/>
            <a:cxnLst/>
            <a:rect l="l" t="t" r="r" b="b"/>
            <a:pathLst>
              <a:path w="10972800" h="9525">
                <a:moveTo>
                  <a:pt x="0" y="0"/>
                </a:moveTo>
                <a:lnTo>
                  <a:pt x="10972800" y="0"/>
                </a:lnTo>
              </a:path>
            </a:pathLst>
          </a:custGeom>
          <a:noFill/>
          <a:ln w="14288">
            <a:solidFill>
              <a:srgbClr val="1E3A52"/>
            </a:solidFill>
          </a:ln>
        </p:spPr>
        <p:txBody>
          <a:bodyPr/>
          <a:p/>
        </p:txBody>
      </p:sp>
      <p:grpSp>
        <p:nvGrpSpPr>
          <p:cNvPr id="14" name="Group 14"/>
          <p:cNvGrpSpPr/>
          <p:nvPr/>
        </p:nvGrpSpPr>
        <p:grpSpPr>
          <a:xfrm>
            <a:off x="609600" y="1162050"/>
            <a:ext cx="5334000" cy="2457450"/>
            <a:chOff x="609600" y="1162050"/>
            <a:chExt cx="5334000" cy="2457450"/>
          </a:xfrm>
        </p:grpSpPr>
        <p:sp>
          <p:nvSpPr>
            <p:cNvPr id="7" name="Rectangle 7"/>
            <p:cNvSpPr/>
            <p:nvPr/>
          </p:nvSpPr>
          <p:spPr>
            <a:xfrm>
              <a:off x="609600" y="1162050"/>
              <a:ext cx="5334000" cy="2457450"/>
            </a:xfrm>
            <a:prstGeom prst="roundRect">
              <a:avLst>
                <a:gd name="adj" fmla="val 5426"/>
              </a:avLst>
            </a:prstGeom>
            <a:solidFill>
              <a:schemeClr val="accent5"/>
            </a:solidFill>
            <a:ln w="14288">
              <a:solidFill>
                <a:srgbClr val="1E3A52"/>
              </a:solidFill>
            </a:ln>
          </p:spPr>
        </p:sp>
        <p:sp>
          <p:nvSpPr>
            <p:cNvPr id="8" name="Rectangle 8"/>
            <p:cNvSpPr/>
            <p:nvPr/>
          </p:nvSpPr>
          <p:spPr>
            <a:xfrm>
              <a:off x="609600" y="1162050"/>
              <a:ext cx="57150" cy="2457450"/>
            </a:xfrm>
            <a:prstGeom prst="roundRect">
              <a:avLst>
                <a:gd name="adj" fmla="val 50000"/>
              </a:avLst>
            </a:prstGeom>
            <a:solidFill>
              <a:srgbClr val="35D0BA"/>
            </a:solidFill>
            <a:ln w="0">
              <a:solidFill>
                <a:srgbClr val="35D0BA"/>
              </a:solidFill>
            </a:ln>
          </p:spPr>
        </p:sp>
        <p:sp>
          <p:nvSpPr>
            <p:cNvPr id="9" name="Ellipse 9"/>
            <p:cNvSpPr/>
            <p:nvPr/>
          </p:nvSpPr>
          <p:spPr>
            <a:xfrm>
              <a:off x="819150" y="1409700"/>
              <a:ext cx="342900" cy="342900"/>
            </a:xfrm>
            <a:prstGeom prst="ellipse">
              <a:avLst/>
            </a:prstGeom>
            <a:solidFill>
              <a:srgbClr val="35D0BA"/>
            </a:solidFill>
            <a:ln w="0">
              <a:solidFill>
                <a:srgbClr val="10263B"/>
              </a:solidFill>
            </a:ln>
          </p:spPr>
        </p:sp>
        <p:sp>
          <p:nvSpPr>
            <p:cNvPr id="10" name="TextBox 10"/>
            <p:cNvSpPr txBox="1"/>
            <p:nvPr/>
          </p:nvSpPr>
          <p:spPr>
            <a:xfrm>
              <a:off x="924673" y="1485900"/>
              <a:ext cx="131855" cy="293370"/>
            </a:xfrm>
            <a:prstGeom prst="rect">
              <a:avLst/>
            </a:prstGeom>
            <a:noFill/>
            <a:ln>
              <a:noFill/>
            </a:ln>
          </p:spPr>
          <p:txBody>
            <a:bodyPr wrap="none" lIns="0" tIns="0" rIns="0" bIns="0" anchor="t" anchorCtr="0">
              <a:spAutoFit/>
            </a:bodyPr>
            <a:lstStyle/>
            <a:p>
              <a:pPr algn="ctr"/>
              <a:r>
                <a:rPr lang="en-US" sz="1500" b="1" dirty="0">
                  <a:solidFill>
                    <a:srgbClr val="08131F"/>
                  </a:solidFill>
                  <a:latin typeface="+mn-lt"/>
                  <a:ea typeface="+mn-ea"/>
                  <a:cs typeface="+mn-cs"/>
                </a:rPr>
                <a:t>1</a:t>
              </a:r>
            </a:p>
          </p:txBody>
        </p:sp>
        <p:sp>
          <p:nvSpPr>
            <p:cNvPr id="11" name="TextBox 11"/>
            <p:cNvSpPr txBox="1"/>
            <p:nvPr/>
          </p:nvSpPr>
          <p:spPr>
            <a:xfrm>
              <a:off x="1287780" y="1381125"/>
              <a:ext cx="1082040"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The lesson</a:t>
              </a:r>
            </a:p>
          </p:txBody>
        </p:sp>
        <p:sp>
          <p:nvSpPr>
            <p:cNvPr id="12" name="TextBox 12"/>
            <p:cNvSpPr txBox="1"/>
            <p:nvPr/>
          </p:nvSpPr>
          <p:spPr>
            <a:xfrm>
              <a:off x="850773" y="2053114"/>
              <a:ext cx="4524751"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Simple but powerful: how you frame the certification</a:t>
              </a:r>
            </a:p>
          </p:txBody>
        </p:sp>
        <p:sp>
          <p:nvSpPr>
            <p:cNvPr id="13" name="TextBox 13"/>
            <p:cNvSpPr txBox="1"/>
            <p:nvPr/>
          </p:nvSpPr>
          <p:spPr>
            <a:xfrm>
              <a:off x="850773" y="2291239"/>
              <a:ext cx="2494270"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question changes everything.</a:t>
              </a:r>
            </a:p>
          </p:txBody>
        </p:sp>
      </p:grpSp>
      <p:grpSp>
        <p:nvGrpSpPr>
          <p:cNvPr id="25" name="Group 25"/>
          <p:cNvGrpSpPr/>
          <p:nvPr/>
        </p:nvGrpSpPr>
        <p:grpSpPr>
          <a:xfrm>
            <a:off x="6248400" y="1162050"/>
            <a:ext cx="5334000" cy="2457450"/>
            <a:chOff x="6248400" y="1162050"/>
            <a:chExt cx="5334000" cy="2457450"/>
          </a:xfrm>
        </p:grpSpPr>
        <p:sp>
          <p:nvSpPr>
            <p:cNvPr id="15" name="Rectangle 15"/>
            <p:cNvSpPr/>
            <p:nvPr/>
          </p:nvSpPr>
          <p:spPr>
            <a:xfrm>
              <a:off x="6248400" y="1162050"/>
              <a:ext cx="5334000" cy="2457450"/>
            </a:xfrm>
            <a:prstGeom prst="roundRect">
              <a:avLst>
                <a:gd name="adj" fmla="val 5426"/>
              </a:avLst>
            </a:prstGeom>
            <a:solidFill>
              <a:schemeClr val="accent5"/>
            </a:solidFill>
            <a:ln w="14288">
              <a:solidFill>
                <a:srgbClr val="1E3A52"/>
              </a:solidFill>
            </a:ln>
          </p:spPr>
        </p:sp>
        <p:sp>
          <p:nvSpPr>
            <p:cNvPr id="16" name="Rectangle 16"/>
            <p:cNvSpPr/>
            <p:nvPr/>
          </p:nvSpPr>
          <p:spPr>
            <a:xfrm>
              <a:off x="6248400" y="1162050"/>
              <a:ext cx="57150" cy="2457450"/>
            </a:xfrm>
            <a:prstGeom prst="roundRect">
              <a:avLst>
                <a:gd name="adj" fmla="val 50000"/>
              </a:avLst>
            </a:prstGeom>
            <a:solidFill>
              <a:srgbClr val="48D597"/>
            </a:solidFill>
            <a:ln w="0">
              <a:solidFill>
                <a:srgbClr val="48D597"/>
              </a:solidFill>
            </a:ln>
          </p:spPr>
        </p:sp>
        <p:sp>
          <p:nvSpPr>
            <p:cNvPr id="17" name="Ellipse 17"/>
            <p:cNvSpPr/>
            <p:nvPr/>
          </p:nvSpPr>
          <p:spPr>
            <a:xfrm>
              <a:off x="6457950" y="1409700"/>
              <a:ext cx="342900" cy="342900"/>
            </a:xfrm>
            <a:prstGeom prst="ellipse">
              <a:avLst/>
            </a:prstGeom>
            <a:solidFill>
              <a:srgbClr val="48D597"/>
            </a:solidFill>
            <a:ln w="0">
              <a:solidFill>
                <a:srgbClr val="10263B"/>
              </a:solidFill>
            </a:ln>
          </p:spPr>
        </p:sp>
        <p:sp>
          <p:nvSpPr>
            <p:cNvPr id="18" name="TextBox 18"/>
            <p:cNvSpPr txBox="1"/>
            <p:nvPr/>
          </p:nvSpPr>
          <p:spPr>
            <a:xfrm>
              <a:off x="6563473" y="1485900"/>
              <a:ext cx="131855" cy="293370"/>
            </a:xfrm>
            <a:prstGeom prst="rect">
              <a:avLst/>
            </a:prstGeom>
            <a:noFill/>
            <a:ln>
              <a:noFill/>
            </a:ln>
          </p:spPr>
          <p:txBody>
            <a:bodyPr wrap="none" lIns="0" tIns="0" rIns="0" bIns="0" anchor="t" anchorCtr="0">
              <a:spAutoFit/>
            </a:bodyPr>
            <a:lstStyle/>
            <a:p>
              <a:pPr algn="ctr"/>
              <a:r>
                <a:rPr lang="en-US" sz="1500" b="1" dirty="0">
                  <a:solidFill>
                    <a:srgbClr val="08131F"/>
                  </a:solidFill>
                  <a:latin typeface="+mn-lt"/>
                  <a:ea typeface="+mn-ea"/>
                  <a:cs typeface="+mn-cs"/>
                </a:rPr>
                <a:t>2</a:t>
              </a:r>
            </a:p>
          </p:txBody>
        </p:sp>
        <p:sp>
          <p:nvSpPr>
            <p:cNvPr id="19" name="TextBox 19"/>
            <p:cNvSpPr txBox="1"/>
            <p:nvPr/>
          </p:nvSpPr>
          <p:spPr>
            <a:xfrm>
              <a:off x="6926580" y="1381125"/>
              <a:ext cx="4135022"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Collective certification transforms the</a:t>
              </a:r>
            </a:p>
          </p:txBody>
        </p:sp>
        <p:sp>
          <p:nvSpPr>
            <p:cNvPr id="20" name="TextBox 20"/>
            <p:cNvSpPr txBox="1"/>
            <p:nvPr/>
          </p:nvSpPr>
          <p:spPr>
            <a:xfrm>
              <a:off x="6926580" y="1628775"/>
              <a:ext cx="1064771"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guarantee</a:t>
              </a:r>
            </a:p>
          </p:txBody>
        </p:sp>
        <p:sp>
          <p:nvSpPr>
            <p:cNvPr id="21" name="TextBox 21"/>
            <p:cNvSpPr txBox="1"/>
            <p:nvPr/>
          </p:nvSpPr>
          <p:spPr>
            <a:xfrm>
              <a:off x="6489573" y="2243614"/>
              <a:ext cx="4800540"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Certifying a whole set of nodes together, instead of one</a:t>
              </a:r>
            </a:p>
          </p:txBody>
        </p:sp>
        <p:sp>
          <p:nvSpPr>
            <p:cNvPr id="22" name="TextBox 22"/>
            <p:cNvSpPr txBox="1"/>
            <p:nvPr/>
          </p:nvSpPr>
          <p:spPr>
            <a:xfrm>
              <a:off x="6489573" y="2481739"/>
              <a:ext cx="4734347"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at a time, turns a near-useless zero percent guarantee</a:t>
              </a:r>
            </a:p>
          </p:txBody>
        </p:sp>
        <p:sp>
          <p:nvSpPr>
            <p:cNvPr id="23" name="TextBox 23"/>
            <p:cNvSpPr txBox="1"/>
            <p:nvPr/>
          </p:nvSpPr>
          <p:spPr>
            <a:xfrm>
              <a:off x="6489573" y="2719864"/>
              <a:ext cx="4381104"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into an eighty percent certified ratio against graph</a:t>
              </a:r>
            </a:p>
          </p:txBody>
        </p:sp>
        <p:sp>
          <p:nvSpPr>
            <p:cNvPr id="24" name="TextBox 24"/>
            <p:cNvSpPr txBox="1"/>
            <p:nvPr/>
          </p:nvSpPr>
          <p:spPr>
            <a:xfrm>
              <a:off x="6489573" y="2957989"/>
              <a:ext cx="1546545"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injection attacks.</a:t>
              </a:r>
            </a:p>
          </p:txBody>
        </p:sp>
      </p:grpSp>
      <p:grpSp>
        <p:nvGrpSpPr>
          <p:cNvPr id="33" name="Group 33"/>
          <p:cNvGrpSpPr/>
          <p:nvPr/>
        </p:nvGrpSpPr>
        <p:grpSpPr>
          <a:xfrm>
            <a:off x="609600" y="3810000"/>
            <a:ext cx="5334000" cy="2457450"/>
            <a:chOff x="609600" y="3810000"/>
            <a:chExt cx="5334000" cy="2457450"/>
          </a:xfrm>
        </p:grpSpPr>
        <p:sp>
          <p:nvSpPr>
            <p:cNvPr id="26" name="Rectangle 26"/>
            <p:cNvSpPr/>
            <p:nvPr/>
          </p:nvSpPr>
          <p:spPr>
            <a:xfrm>
              <a:off x="609600" y="3810000"/>
              <a:ext cx="5334000" cy="2457450"/>
            </a:xfrm>
            <a:prstGeom prst="roundRect">
              <a:avLst>
                <a:gd name="adj" fmla="val 5426"/>
              </a:avLst>
            </a:prstGeom>
            <a:solidFill>
              <a:schemeClr val="accent5"/>
            </a:solidFill>
            <a:ln w="14288">
              <a:solidFill>
                <a:srgbClr val="1E3A52"/>
              </a:solidFill>
            </a:ln>
          </p:spPr>
        </p:sp>
        <p:sp>
          <p:nvSpPr>
            <p:cNvPr id="27" name="Rectangle 27"/>
            <p:cNvSpPr/>
            <p:nvPr/>
          </p:nvSpPr>
          <p:spPr>
            <a:xfrm>
              <a:off x="609600" y="3810000"/>
              <a:ext cx="57150" cy="2457450"/>
            </a:xfrm>
            <a:prstGeom prst="roundRect">
              <a:avLst>
                <a:gd name="adj" fmla="val 50000"/>
              </a:avLst>
            </a:prstGeom>
            <a:solidFill>
              <a:srgbClr val="4C8DFF"/>
            </a:solidFill>
            <a:ln w="0">
              <a:solidFill>
                <a:srgbClr val="4C8DFF"/>
              </a:solidFill>
            </a:ln>
          </p:spPr>
        </p:sp>
        <p:sp>
          <p:nvSpPr>
            <p:cNvPr id="28" name="Ellipse 28"/>
            <p:cNvSpPr/>
            <p:nvPr/>
          </p:nvSpPr>
          <p:spPr>
            <a:xfrm>
              <a:off x="819150" y="4057650"/>
              <a:ext cx="342900" cy="342900"/>
            </a:xfrm>
            <a:prstGeom prst="ellipse">
              <a:avLst/>
            </a:prstGeom>
            <a:solidFill>
              <a:srgbClr val="4C8DFF"/>
            </a:solidFill>
            <a:ln w="0">
              <a:solidFill>
                <a:srgbClr val="10263B"/>
              </a:solidFill>
            </a:ln>
          </p:spPr>
        </p:sp>
        <p:sp>
          <p:nvSpPr>
            <p:cNvPr id="29" name="TextBox 29"/>
            <p:cNvSpPr txBox="1"/>
            <p:nvPr/>
          </p:nvSpPr>
          <p:spPr>
            <a:xfrm>
              <a:off x="924673" y="4133850"/>
              <a:ext cx="131855" cy="293370"/>
            </a:xfrm>
            <a:prstGeom prst="rect">
              <a:avLst/>
            </a:prstGeom>
            <a:noFill/>
            <a:ln>
              <a:noFill/>
            </a:ln>
          </p:spPr>
          <p:txBody>
            <a:bodyPr wrap="none" lIns="0" tIns="0" rIns="0" bIns="0" anchor="t" anchorCtr="0">
              <a:spAutoFit/>
            </a:bodyPr>
            <a:lstStyle/>
            <a:p>
              <a:pPr algn="ctr"/>
              <a:r>
                <a:rPr lang="en-US" sz="1500" b="1" dirty="0">
                  <a:solidFill>
                    <a:srgbClr val="08131F"/>
                  </a:solidFill>
                  <a:latin typeface="+mn-lt"/>
                  <a:ea typeface="+mn-ea"/>
                  <a:cs typeface="+mn-cs"/>
                </a:rPr>
                <a:t>3</a:t>
              </a:r>
            </a:p>
          </p:txBody>
        </p:sp>
        <p:sp>
          <p:nvSpPr>
            <p:cNvPr id="30" name="TextBox 30"/>
            <p:cNvSpPr txBox="1"/>
            <p:nvPr/>
          </p:nvSpPr>
          <p:spPr>
            <a:xfrm>
              <a:off x="1287780" y="4029075"/>
              <a:ext cx="1548478"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Kept tractable</a:t>
              </a:r>
            </a:p>
          </p:txBody>
        </p:sp>
        <p:sp>
          <p:nvSpPr>
            <p:cNvPr id="31" name="TextBox 31"/>
            <p:cNvSpPr txBox="1"/>
            <p:nvPr/>
          </p:nvSpPr>
          <p:spPr>
            <a:xfrm>
              <a:off x="850773" y="4701064"/>
              <a:ext cx="4377972"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A customized linear relaxation keeps this efficient,</a:t>
              </a:r>
            </a:p>
          </p:txBody>
        </p:sp>
        <p:sp>
          <p:nvSpPr>
            <p:cNvPr id="32" name="TextBox 32"/>
            <p:cNvSpPr txBox="1"/>
            <p:nvPr/>
          </p:nvSpPr>
          <p:spPr>
            <a:xfrm>
              <a:off x="850773" y="4939189"/>
              <a:ext cx="4131249"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solving in about a minute even for large attacks.</a:t>
              </a:r>
            </a:p>
          </p:txBody>
        </p:sp>
      </p:grpSp>
      <p:grpSp>
        <p:nvGrpSpPr>
          <p:cNvPr id="43" name="Group 43"/>
          <p:cNvGrpSpPr/>
          <p:nvPr/>
        </p:nvGrpSpPr>
        <p:grpSpPr>
          <a:xfrm>
            <a:off x="6248400" y="3810000"/>
            <a:ext cx="5334000" cy="2457450"/>
            <a:chOff x="6248400" y="3810000"/>
            <a:chExt cx="5334000" cy="2457450"/>
          </a:xfrm>
        </p:grpSpPr>
        <p:sp>
          <p:nvSpPr>
            <p:cNvPr id="34" name="Rectangle 34"/>
            <p:cNvSpPr/>
            <p:nvPr/>
          </p:nvSpPr>
          <p:spPr>
            <a:xfrm>
              <a:off x="6248400" y="3810000"/>
              <a:ext cx="5334000" cy="2457450"/>
            </a:xfrm>
            <a:prstGeom prst="roundRect">
              <a:avLst>
                <a:gd name="adj" fmla="val 5426"/>
              </a:avLst>
            </a:prstGeom>
            <a:solidFill>
              <a:schemeClr val="accent5"/>
            </a:solidFill>
            <a:ln w="14288">
              <a:solidFill>
                <a:srgbClr val="1E3A52"/>
              </a:solidFill>
            </a:ln>
          </p:spPr>
        </p:sp>
        <p:sp>
          <p:nvSpPr>
            <p:cNvPr id="35" name="Rectangle 35"/>
            <p:cNvSpPr/>
            <p:nvPr/>
          </p:nvSpPr>
          <p:spPr>
            <a:xfrm>
              <a:off x="6248400" y="3810000"/>
              <a:ext cx="57150" cy="2457450"/>
            </a:xfrm>
            <a:prstGeom prst="roundRect">
              <a:avLst>
                <a:gd name="adj" fmla="val 50000"/>
              </a:avLst>
            </a:prstGeom>
            <a:solidFill>
              <a:srgbClr val="F5B841"/>
            </a:solidFill>
            <a:ln w="0">
              <a:solidFill>
                <a:srgbClr val="F5B841"/>
              </a:solidFill>
            </a:ln>
          </p:spPr>
        </p:sp>
        <p:sp>
          <p:nvSpPr>
            <p:cNvPr id="36" name="Ellipse 36"/>
            <p:cNvSpPr/>
            <p:nvPr/>
          </p:nvSpPr>
          <p:spPr>
            <a:xfrm>
              <a:off x="6457950" y="4057650"/>
              <a:ext cx="342900" cy="342900"/>
            </a:xfrm>
            <a:prstGeom prst="ellipse">
              <a:avLst/>
            </a:prstGeom>
            <a:solidFill>
              <a:srgbClr val="F5B841"/>
            </a:solidFill>
            <a:ln w="0">
              <a:solidFill>
                <a:srgbClr val="10263B"/>
              </a:solidFill>
            </a:ln>
          </p:spPr>
        </p:sp>
        <p:sp>
          <p:nvSpPr>
            <p:cNvPr id="37" name="TextBox 37"/>
            <p:cNvSpPr txBox="1"/>
            <p:nvPr/>
          </p:nvSpPr>
          <p:spPr>
            <a:xfrm>
              <a:off x="6563473" y="4133850"/>
              <a:ext cx="131855" cy="293370"/>
            </a:xfrm>
            <a:prstGeom prst="rect">
              <a:avLst/>
            </a:prstGeom>
            <a:noFill/>
            <a:ln>
              <a:noFill/>
            </a:ln>
          </p:spPr>
          <p:txBody>
            <a:bodyPr wrap="none" lIns="0" tIns="0" rIns="0" bIns="0" anchor="t" anchorCtr="0">
              <a:spAutoFit/>
            </a:bodyPr>
            <a:lstStyle/>
            <a:p>
              <a:pPr algn="ctr"/>
              <a:r>
                <a:rPr lang="en-US" sz="1500" b="1" dirty="0">
                  <a:solidFill>
                    <a:srgbClr val="08131F"/>
                  </a:solidFill>
                  <a:latin typeface="+mn-lt"/>
                  <a:ea typeface="+mn-ea"/>
                  <a:cs typeface="+mn-cs"/>
                </a:rPr>
                <a:t>4</a:t>
              </a:r>
            </a:p>
          </p:txBody>
        </p:sp>
        <p:sp>
          <p:nvSpPr>
            <p:cNvPr id="38" name="TextBox 38"/>
            <p:cNvSpPr txBox="1"/>
            <p:nvPr/>
          </p:nvSpPr>
          <p:spPr>
            <a:xfrm>
              <a:off x="6926580" y="4029075"/>
              <a:ext cx="2714905"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Practical, and composable</a:t>
              </a:r>
            </a:p>
          </p:txBody>
        </p:sp>
        <p:sp>
          <p:nvSpPr>
            <p:cNvPr id="39" name="TextBox 39"/>
            <p:cNvSpPr txBox="1"/>
            <p:nvPr/>
          </p:nvSpPr>
          <p:spPr>
            <a:xfrm>
              <a:off x="6489573" y="4701064"/>
              <a:ext cx="4498871"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A concrete step toward practical provable defenses.</a:t>
              </a:r>
            </a:p>
          </p:txBody>
        </p:sp>
        <p:sp>
          <p:nvSpPr>
            <p:cNvPr id="40" name="TextBox 40"/>
            <p:cNvSpPr txBox="1"/>
            <p:nvPr/>
          </p:nvSpPr>
          <p:spPr>
            <a:xfrm>
              <a:off x="6489573" y="4939189"/>
              <a:ext cx="4636899"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Because it shares the same smoothed model, it plugs in</a:t>
              </a:r>
            </a:p>
          </p:txBody>
        </p:sp>
        <p:sp>
          <p:nvSpPr>
            <p:cNvPr id="41" name="TextBox 41"/>
            <p:cNvSpPr txBox="1"/>
            <p:nvPr/>
          </p:nvSpPr>
          <p:spPr>
            <a:xfrm>
              <a:off x="6489573" y="5177314"/>
              <a:ext cx="4355257"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alongside existing sample-wise certificates to stay</a:t>
              </a:r>
            </a:p>
          </p:txBody>
        </p:sp>
        <p:sp>
          <p:nvSpPr>
            <p:cNvPr id="42" name="TextBox 42"/>
            <p:cNvSpPr txBox="1"/>
            <p:nvPr/>
          </p:nvSpPr>
          <p:spPr>
            <a:xfrm>
              <a:off x="6489573" y="5415439"/>
              <a:ext cx="3062905"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strong across every attack budget.</a:t>
              </a:r>
            </a:p>
          </p:txBody>
        </p:sp>
      </p:grpSp>
      <p:sp>
        <p:nvSpPr>
          <p:cNvPr id="44" name="TextBox 44"/>
          <p:cNvSpPr txBox="1"/>
          <p:nvPr/>
        </p:nvSpPr>
        <p:spPr>
          <a:xfrm>
            <a:off x="604266" y="6458902"/>
            <a:ext cx="7247750" cy="205359"/>
          </a:xfrm>
          <a:prstGeom prst="rect">
            <a:avLst/>
          </a:prstGeom>
          <a:noFill/>
          <a:ln>
            <a:noFill/>
          </a:ln>
        </p:spPr>
        <p:txBody>
          <a:bodyPr wrap="none" lIns="0" tIns="0" rIns="0" bIns="0" anchor="t" anchorCtr="0">
            <a:spAutoFit/>
          </a:bodyPr>
          <a:lstStyle/>
          <a:p>
            <a:pPr algn="l"/>
            <a:r>
              <a:rPr lang="en-US" sz="1050" dirty="0">
                <a:solidFill>
                  <a:srgbClr val="9DB2C4"/>
                </a:solidFill>
                <a:latin typeface="+mn-lt"/>
                <a:ea typeface="+mn-ea"/>
                <a:cs typeface="+mn-cs"/>
              </a:rPr>
              <a:t>Collective Certified Robustness against Graph Injection Attacks · ICML 2024 · arxiv.org/abs/2403.01423</a:t>
            </a:r>
          </a:p>
        </p:txBody>
      </p:sp>
      <p:sp>
        <p:nvSpPr>
          <p:cNvPr id="45" name="cue_s10_c1_lesson_simple_but_powerful" title="cue_s10_c1_lesson_simple_but_powerful" descr="cue_s10_c1_lesson_simple_but_powerful The lesson is simple but powerful."/>
          <p:cNvSpPr/>
          <p:nvPr/>
        </p:nvSpPr>
        <p:spPr>
          <a:xfrm>
            <a:off x="609600"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10_c2_certifying_whole_set_nodes_together" title="cue_s10_c2_certifying_whole_set_nodes_together" descr="cue_s10_c2_certifying_whole_set_nodes_together Certifying a whole set of nodes together, instead of one at a time, transforms a near-useless zero percent guarantee into an eighty percent certified ratio against graph injection attacks."/>
          <p:cNvSpPr/>
          <p:nvPr/>
        </p:nvSpPr>
        <p:spPr>
          <a:xfrm>
            <a:off x="6248399"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10_c3_customized_linear_relaxation_keeps_t" title="cue_s10_c3_customized_linear_relaxation_keeps_t" descr="cue_s10_c3_customized_linear_relaxation_keeps_t A customized linear relaxation keeps this tractable, solving in about a minute even for large attacks."/>
          <p:cNvSpPr/>
          <p:nvPr/>
        </p:nvSpPr>
        <p:spPr>
          <a:xfrm>
            <a:off x="609600"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10_c4_concrete_step_toward_provable_defens" title="cue_s10_c4_concrete_step_toward_provable_defens" descr="cue_s10_c4_concrete_step_toward_provable_defens It is a concrete step toward provable defenses that are practical, and because it shares the same smoothed model, it plugs right in alongside existing sample-wise certificates to stay strong across every attack budget."/>
          <p:cNvSpPr/>
          <p:nvPr/>
        </p:nvSpPr>
        <p:spPr>
          <a:xfrm>
            <a:off x="6248399"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Free Design">
  <a:themeElements>
    <a:clrScheme name="Free Design">
      <a:dk1>
        <a:srgbClr val="E8F0F7"/>
      </a:dk1>
      <a:lt1>
        <a:srgbClr val="0B1B2B"/>
      </a:lt1>
      <a:dk2>
        <a:srgbClr val="E8F0F7"/>
      </a:dk2>
      <a:lt2>
        <a:srgbClr val="0B1B2B"/>
      </a:lt2>
      <a:accent1>
        <a:srgbClr val="4F81BD"/>
      </a:accent1>
      <a:accent2>
        <a:srgbClr val="C0504D"/>
      </a:accent2>
      <a:accent3>
        <a:srgbClr val="9BBB59"/>
      </a:accent3>
      <a:accent4>
        <a:srgbClr val="8064A2"/>
      </a:accent4>
      <a:accent5>
        <a:srgbClr val="10263B"/>
      </a:accent5>
      <a:accent6>
        <a:srgbClr val="12314A"/>
      </a:accent6>
      <a:hlink>
        <a:srgbClr val="0000FF"/>
      </a:hlink>
      <a:folHlink>
        <a:srgbClr val="800080"/>
      </a:folHlink>
    </a:clrScheme>
    <a:fontScheme name="Free Design">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ree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2026-07-16T10:57:27Z</dcterms:created>
  <dcterms:modified xsi:type="dcterms:W3CDTF">2026-07-16T10:57:27Z</dcterms:modified>
  <cp:category/>
  <cp:contentStatus/>
</cp:coreProperties>
</file>
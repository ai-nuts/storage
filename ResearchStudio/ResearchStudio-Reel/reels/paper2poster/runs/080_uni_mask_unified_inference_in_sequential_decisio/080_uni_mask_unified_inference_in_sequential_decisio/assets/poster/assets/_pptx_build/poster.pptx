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065508"/>
          </a:xfrm>
          <a:prstGeom prst="roundRect">
            <a:avLst>
              <a:gd name="adj" fmla="val 3498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238849"/>
            <a:ext cx="16349682" cy="733202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238849"/>
            <a:ext cx="160020" cy="7332027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5238849"/>
            <a:ext cx="16349682" cy="1630356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238849"/>
            <a:ext cx="160020" cy="16303565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5238849"/>
            <a:ext cx="16349821" cy="1817018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238849"/>
            <a:ext cx="160020" cy="18170187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2902723"/>
            <a:ext cx="16349682" cy="1716922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2902723"/>
            <a:ext cx="160020" cy="17169229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28289" y="21874261"/>
            <a:ext cx="16349682" cy="8197691"/>
          </a:xfrm>
          <a:prstGeom prst="rect">
            <a:avLst/>
          </a:prstGeom>
          <a:solidFill>
            <a:srgbClr val="ECF3EE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428289" y="21874261"/>
            <a:ext cx="53340" cy="8197691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23740883"/>
            <a:ext cx="16349821" cy="633106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3740883"/>
            <a:ext cx="160020" cy="6331069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487" y="1149732"/>
            <a:ext cx="3475851" cy="151712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2241" y="10023752"/>
            <a:ext cx="15351224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62241" y="10023752"/>
            <a:ext cx="124460" cy="2159020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8038643" y="10576044"/>
            <a:ext cx="15351224" cy="1476156"/>
          </a:xfrm>
          <a:prstGeom prst="roundRect">
            <a:avLst>
              <a:gd name="adj" fmla="val 15263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62241" y="19624675"/>
            <a:ext cx="15351224" cy="2325985"/>
          </a:xfrm>
          <a:prstGeom prst="roundRect">
            <a:avLst>
              <a:gd name="adj" fmla="val 896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931963" y="23498075"/>
            <a:ext cx="15457904" cy="3702824"/>
          </a:xfrm>
          <a:prstGeom prst="roundRect">
            <a:avLst>
              <a:gd name="adj" fmla="val 5634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815045" y="25231347"/>
            <a:ext cx="15351363" cy="4452501"/>
          </a:xfrm>
          <a:prstGeom prst="roundRect">
            <a:avLst>
              <a:gd name="adj" fmla="val 1597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niversity-of-california-berkel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9770" y="3093600"/>
            <a:ext cx="1742579" cy="551141"/>
          </a:xfrm>
          <a:prstGeom prst="rect">
            <a:avLst/>
          </a:prstGeom>
        </p:spPr>
      </p:pic>
      <p:pic>
        <p:nvPicPr>
          <p:cNvPr id="23" name="Picture 22" descr="microsoft-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9323" y="3093592"/>
            <a:ext cx="1956217" cy="551157"/>
          </a:xfrm>
          <a:prstGeom prst="rect">
            <a:avLst/>
          </a:prstGeom>
        </p:spPr>
      </p:pic>
      <p:pic>
        <p:nvPicPr>
          <p:cNvPr id="24" name="Picture 23" descr="carnegie-mellon-univers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24492" y="3810615"/>
            <a:ext cx="6166326" cy="55118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4838520" y="9625925"/>
            <a:ext cx="15304413" cy="11559639"/>
          </a:xfrm>
          <a:prstGeom prst="roundRect">
            <a:avLst>
              <a:gd name="adj" fmla="val 30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ure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38571" y="9625925"/>
            <a:ext cx="15304311" cy="11559639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8377157" y="12611715"/>
            <a:ext cx="14674196" cy="5971579"/>
          </a:xfrm>
          <a:prstGeom prst="roundRect">
            <a:avLst>
              <a:gd name="adj" fmla="val 59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77249" y="12611715"/>
            <a:ext cx="14674012" cy="5971579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275437" y="22375991"/>
            <a:ext cx="15324832" cy="4916586"/>
          </a:xfrm>
          <a:prstGeom prst="roundRect">
            <a:avLst>
              <a:gd name="adj" fmla="val 72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560" y="22375991"/>
            <a:ext cx="15324585" cy="4916586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6264115" y="25453597"/>
            <a:ext cx="3656429" cy="40555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264115" y="25453597"/>
            <a:ext cx="11557" cy="4055507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815045" y="8398271"/>
            <a:ext cx="15351363" cy="945119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815045" y="6746676"/>
            <a:ext cx="10074176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815045" y="7444263"/>
            <a:ext cx="1007417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89221" y="6746676"/>
            <a:ext cx="2638524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889221" y="7444263"/>
            <a:ext cx="26385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27745" y="6746676"/>
            <a:ext cx="2638663" cy="706477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27745" y="7444263"/>
            <a:ext cx="2638663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815045" y="7453153"/>
            <a:ext cx="1007417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815045" y="8389381"/>
            <a:ext cx="1007417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89221" y="7453153"/>
            <a:ext cx="2638524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89221" y="8389381"/>
            <a:ext cx="26385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27745" y="7453153"/>
            <a:ext cx="26386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527745" y="8389381"/>
            <a:ext cx="2638663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815045" y="8398271"/>
            <a:ext cx="1007417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815045" y="9334500"/>
            <a:ext cx="10074176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89221" y="8398271"/>
            <a:ext cx="2638524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889221" y="9334500"/>
            <a:ext cx="2638524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527745" y="8398271"/>
            <a:ext cx="263866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527745" y="9334500"/>
            <a:ext cx="2638663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916850" y="10776902"/>
            <a:ext cx="4822433" cy="7156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≡  behavior cloning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15581" y="1007487"/>
            <a:ext cx="42219304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2D5F3E"/>
                </a:solidFill>
                <a:latin typeface="Arial"/>
              </a:rPr>
              <a:t>Uni[MASK]: Unified Inference in Sequential Decision Problems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5581" y="2363350"/>
            <a:ext cx="42219304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Micah Carroll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Orr Paradise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Jessy Lin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Raluca Georgescu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Mingfei Sun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David Bignell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Stephanie Milani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Katja Hofmann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Matthew Hausknecht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Anca Dragan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Sam Devlin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5581" y="3063577"/>
            <a:ext cx="42219304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UC Berkeley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Microsoft Research  ·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Carnegie Mellon University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62241" y="5626953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38643" y="5626953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815045" y="5626953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2241" y="6733758"/>
            <a:ext cx="1577794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Sequential decision problems are usually solved </a:t>
            </a:r>
            <a:r>
              <a:rPr sz="4106" b="1">
                <a:solidFill>
                  <a:srgbClr val="111111"/>
                </a:solidFill>
                <a:latin typeface="Arial"/>
              </a:rPr>
              <a:t>one task at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time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separate model for behavior cloning, offline RL,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dynamics prediction, or goal conditioning — even though the tasks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share deep structure.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62241" y="10023752"/>
            <a:ext cx="15777944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All of these inferences run over the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same trajectory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of states,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actions and returns — and could share representations — yet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each is trained in isolation.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075578" y="10776902"/>
            <a:ext cx="13675531" cy="1307330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6431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 ≡  behavior cloning
 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Every task is a masking scheme, e.g.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 conditions an action on a goal state + return-to-go.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62241" y="13290827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62241" y="19624675"/>
            <a:ext cx="15777944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A single masked-prediction objective can express the whole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family — behavior cloning, offline RL, dynamics, and goal 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2D5F3E"/>
                </a:solidFill>
                <a:latin typeface="Arial"/>
              </a:rPr>
              <a:t>waypoint conditioning — with no task-specific heads.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31963" y="22262365"/>
            <a:ext cx="158846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Takeaway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931963" y="23498075"/>
            <a:ext cx="15884624" cy="4258247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Many sequential-decision tasks are just different maskings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of one trajectory — so </a:t>
            </a:r>
            <a:r>
              <a:rPr sz="4106" b="1">
                <a:solidFill>
                  <a:srgbClr val="111111"/>
                </a:solidFill>
                <a:latin typeface="Arial"/>
              </a:rPr>
              <a:t>one</a:t>
            </a:r>
            <a:r>
              <a:rPr sz="4106" b="1">
                <a:solidFill>
                  <a:srgbClr val="FFFFFF"/>
                </a:solidFill>
                <a:latin typeface="Arial"/>
              </a:rPr>
              <a:t> masked-prediction model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replaces a zoo of specialized ones, and random-mask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pretraining + fine-tuning generally beats task-specific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training.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815045" y="24128987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931963" y="27334249"/>
            <a:ext cx="1588462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BERT-style backbones shine at short contexts but struggle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generate over longer sequences — GPT-style backbones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random masking are a promising next step.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38625" y="6887388"/>
            <a:ext cx="1577796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Tokenize a trajectory into per-timestep </a:t>
            </a:r>
            <a:r>
              <a:rPr sz="4106" b="1">
                <a:solidFill>
                  <a:srgbClr val="111111"/>
                </a:solidFill>
                <a:latin typeface="Arial"/>
              </a:rPr>
              <a:t>state, action,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property</a:t>
            </a:r>
            <a:r>
              <a:rPr sz="4106" b="0">
                <a:solidFill>
                  <a:srgbClr val="1C1C1C"/>
                </a:solidFill>
                <a:latin typeface="Arial"/>
              </a:rPr>
              <a:t> (return-to-go) tokens.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038625" y="8582322"/>
            <a:ext cx="1577796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masking scheme</a:t>
            </a:r>
            <a:r>
              <a:rPr sz="4106" b="0">
                <a:solidFill>
                  <a:srgbClr val="1C1C1C"/>
                </a:solidFill>
                <a:latin typeface="Arial"/>
              </a:rPr>
              <a:t> picks inputs vs. predicted outputs;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bidirectional </a:t>
            </a:r>
            <a:r>
              <a:rPr sz="4106" b="1">
                <a:solidFill>
                  <a:srgbClr val="111111"/>
                </a:solidFill>
                <a:latin typeface="Arial"/>
              </a:rPr>
              <a:t>BERT transformer</a:t>
            </a:r>
            <a:r>
              <a:rPr sz="4106" b="0">
                <a:solidFill>
                  <a:srgbClr val="1C1C1C"/>
                </a:solidFill>
                <a:latin typeface="Arial"/>
              </a:rPr>
              <a:t> predicts the masked ones.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2222" y="14557791"/>
            <a:ext cx="1577796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Masked language modeling (BERT) trains models to predict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randomly masked tokens, yielding bidirectional representations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that transfer to many downstream tasks.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62222" y="17008931"/>
            <a:ext cx="1577796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Decision-making inferences are just different </a:t>
            </a:r>
            <a:r>
              <a:rPr sz="4106" b="1">
                <a:solidFill>
                  <a:srgbClr val="111111"/>
                </a:solidFill>
                <a:latin typeface="Arial"/>
              </a:rPr>
              <a:t>maskings of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trajectory</a:t>
            </a:r>
            <a:r>
              <a:rPr sz="4106" b="0">
                <a:solidFill>
                  <a:srgbClr val="1C1C1C"/>
                </a:solidFill>
                <a:latin typeface="Arial"/>
              </a:rPr>
              <a:t>: mask the last action given prior states and actions,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predicting it is exactly a behavior-cloning inference.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964175" y="18732896"/>
            <a:ext cx="13905164" cy="31964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One Uni[MASK] model executes five inference tasks in MiniGrid —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behavioral cloning, goal-, reward-, waypoint-conditioned,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backwards inference — each just a different masking. Four training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regimes (single-task, multi-task, random-mask, +fine-tune) are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compared.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450680" y="21335166"/>
            <a:ext cx="14502353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MiniGrid cross-task validation loss (relative to best). Random-mask +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finetune (bottom row) hits 1.0 on every task and beats single-task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everywhere; single-task rows degrade sharply off-diagonal.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88430" y="27442179"/>
            <a:ext cx="14521810" cy="255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Uni[MASK] framework: eight decision-making tasks — BC, offline RL, goal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/ waypoint conditioning, past / future inference, and forward / inverse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dynamics — written as masking schemes over one trajectory (solid =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input, translucent = predicted).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060909" y="26328707"/>
            <a:ext cx="10948408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2.73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60909" y="27703601"/>
            <a:ext cx="10948408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Maze2D reward · fine-tuned (CL 5)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060909" y="28225055"/>
            <a:ext cx="10948408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1.13 for Decision Transformer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815045" y="6746676"/>
            <a:ext cx="10376401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MAZE2D REWARD · CL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89221" y="6746676"/>
            <a:ext cx="2717679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27745" y="6746676"/>
            <a:ext cx="2717822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815045" y="7453153"/>
            <a:ext cx="10376401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Decision Transformer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889221" y="7453153"/>
            <a:ext cx="271767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1.13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27745" y="7453153"/>
            <a:ext cx="271782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1.49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815045" y="8398271"/>
            <a:ext cx="10376401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Uni[MASK] + finetune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889221" y="8398271"/>
            <a:ext cx="2717679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2.73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527745" y="8398271"/>
            <a:ext cx="2717822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2.73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742369" y="25453597"/>
            <a:ext cx="1070619" cy="62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2.73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964328" y="25586947"/>
            <a:ext cx="201490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RC reward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(vs 1.49 DT)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742369" y="26987956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222707" y="27121306"/>
            <a:ext cx="1567655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model, all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8 tasks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742369" y="28522314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222707" y="28655664"/>
            <a:ext cx="2097313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seeds,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1000 rollouts</a:t>
            </a:r>
          </a:p>
        </p:txBody>
      </p:sp>
      <p:pic>
        <p:nvPicPr>
          <p:cNvPr id="93" name="Picture 92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29547" y="10661332"/>
            <a:ext cx="5087303" cy="800100"/>
          </a:xfrm>
          <a:prstGeom prst="rect">
            <a:avLst/>
          </a:prstGeom>
        </p:spPr>
      </p:pic>
      <p:pic>
        <p:nvPicPr>
          <p:cNvPr id="94" name="Picture 93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50961" y="11540331"/>
            <a:ext cx="3213179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
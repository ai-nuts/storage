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1206400" cy="3072384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1887" y="651887"/>
            <a:ext cx="49902625" cy="3108305"/>
          </a:xfrm>
          <a:prstGeom prst="roundRect">
            <a:avLst>
              <a:gd name="adj" fmla="val 4576"/>
            </a:avLst>
          </a:prstGeom>
          <a:solidFill>
            <a:srgbClr val="ECE7F4"/>
          </a:solidFill>
          <a:ln>
            <a:noFill/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1887" y="4281646"/>
            <a:ext cx="10804961" cy="12933422"/>
          </a:xfrm>
          <a:prstGeom prst="rect">
            <a:avLst/>
          </a:prstGeom>
          <a:solidFill>
            <a:srgbClr val="FFFFFF"/>
          </a:solidFill>
          <a:ln w="8890">
            <a:solidFill>
              <a:srgbClr val="E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1887" y="4281646"/>
            <a:ext cx="160020" cy="12933422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883568" y="4281646"/>
            <a:ext cx="27439124" cy="15770999"/>
          </a:xfrm>
          <a:prstGeom prst="rect">
            <a:avLst/>
          </a:prstGeom>
          <a:solidFill>
            <a:srgbClr val="FFFFFF"/>
          </a:solidFill>
          <a:ln w="8890">
            <a:solidFill>
              <a:srgbClr val="E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3568" y="4281646"/>
            <a:ext cx="160020" cy="15770999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9749412" y="4281646"/>
            <a:ext cx="10804962" cy="5099665"/>
          </a:xfrm>
          <a:prstGeom prst="rect">
            <a:avLst/>
          </a:prstGeom>
          <a:solidFill>
            <a:srgbClr val="FFFFFF"/>
          </a:solidFill>
          <a:ln w="8890">
            <a:solidFill>
              <a:srgbClr val="E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9749412" y="4281646"/>
            <a:ext cx="160020" cy="5099665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9749412" y="9476045"/>
            <a:ext cx="10804962" cy="6528733"/>
          </a:xfrm>
          <a:prstGeom prst="rect">
            <a:avLst/>
          </a:prstGeom>
          <a:solidFill>
            <a:srgbClr val="FFFFFF"/>
          </a:solidFill>
          <a:ln w="8890">
            <a:solidFill>
              <a:srgbClr val="E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9749412" y="9476045"/>
            <a:ext cx="160020" cy="6528733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9749412" y="16099512"/>
            <a:ext cx="10804962" cy="9646344"/>
          </a:xfrm>
          <a:prstGeom prst="rect">
            <a:avLst/>
          </a:prstGeom>
          <a:solidFill>
            <a:srgbClr val="F0EDF5"/>
          </a:solidFill>
          <a:ln w="8890">
            <a:solidFill>
              <a:srgbClr val="E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9749412" y="16099512"/>
            <a:ext cx="53340" cy="9646344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1887" y="17546915"/>
            <a:ext cx="10804961" cy="12525037"/>
          </a:xfrm>
          <a:prstGeom prst="rect">
            <a:avLst/>
          </a:prstGeom>
          <a:solidFill>
            <a:srgbClr val="FFFFFF"/>
          </a:solidFill>
          <a:ln w="8890">
            <a:solidFill>
              <a:srgbClr val="E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1887" y="17546915"/>
            <a:ext cx="160020" cy="12525037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9749412" y="25840590"/>
            <a:ext cx="10804962" cy="4231362"/>
          </a:xfrm>
          <a:prstGeom prst="rect">
            <a:avLst/>
          </a:prstGeom>
          <a:solidFill>
            <a:srgbClr val="FFFFFF"/>
          </a:solidFill>
          <a:ln w="8890">
            <a:solidFill>
              <a:srgbClr val="E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9749412" y="25840590"/>
            <a:ext cx="160020" cy="4231362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Picture 16" descr="_ven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37185" y="1257799"/>
            <a:ext cx="4344988" cy="1896480"/>
          </a:xfrm>
          <a:prstGeom prst="rect">
            <a:avLst/>
          </a:prstGeom>
        </p:spPr>
      </p:pic>
      <p:pic>
        <p:nvPicPr>
          <p:cNvPr id="18" name="Picture 17" descr="university-of-illinois-urbana-champaig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2670" y="1405874"/>
            <a:ext cx="8728313" cy="1600191"/>
          </a:xfrm>
          <a:prstGeom prst="rect">
            <a:avLst/>
          </a:prstGeom>
        </p:spPr>
      </p:pic>
      <p:pic>
        <p:nvPicPr>
          <p:cNvPr id="19" name="Picture 18" descr="amazon-alex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27957" y="1405912"/>
            <a:ext cx="2502396" cy="1600116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40359766" y="10753149"/>
            <a:ext cx="9806504" cy="5158978"/>
          </a:xfrm>
          <a:prstGeom prst="roundRect">
            <a:avLst>
              <a:gd name="adj" fmla="val 1378"/>
            </a:avLst>
          </a:prstGeom>
          <a:gradFill rotWithShape="1" flip="none">
            <a:gsLst>
              <a:gs pos="0">
                <a:srgbClr val="E9E6F0"/>
              </a:gs>
              <a:gs pos="100000">
                <a:srgbClr val="F4F2F8"/>
              </a:gs>
            </a:gsLst>
            <a:lin ang="5400000" scaled="0"/>
          </a:gradFill>
          <a:ln w="8890">
            <a:solidFill>
              <a:srgbClr val="D2CBE0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262241" y="14411662"/>
            <a:ext cx="9806503" cy="21590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262241" y="14411662"/>
            <a:ext cx="124460" cy="215902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1883568" y="20384492"/>
            <a:ext cx="13553639" cy="9687460"/>
          </a:xfrm>
          <a:prstGeom prst="rect">
            <a:avLst/>
          </a:prstGeom>
          <a:solidFill>
            <a:srgbClr val="FFFFFF"/>
          </a:solidFill>
          <a:ln w="8890">
            <a:solidFill>
              <a:srgbClr val="E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883568" y="20384492"/>
            <a:ext cx="160020" cy="968746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5769054" y="20384492"/>
            <a:ext cx="13553638" cy="9687460"/>
          </a:xfrm>
          <a:prstGeom prst="rect">
            <a:avLst/>
          </a:prstGeom>
          <a:solidFill>
            <a:srgbClr val="FFFFFF"/>
          </a:solidFill>
          <a:ln w="8890">
            <a:solidFill>
              <a:srgbClr val="E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5769054" y="20384492"/>
            <a:ext cx="160020" cy="968746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0253086" y="22639079"/>
            <a:ext cx="9913184" cy="2581156"/>
          </a:xfrm>
          <a:prstGeom prst="roundRect">
            <a:avLst>
              <a:gd name="adj" fmla="val 1377"/>
            </a:avLst>
          </a:prstGeom>
          <a:solidFill>
            <a:srgbClr val="ECE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0253086" y="22639079"/>
            <a:ext cx="35560" cy="2581156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2493922" y="8915003"/>
            <a:ext cx="26440666" cy="1437540"/>
          </a:xfrm>
          <a:prstGeom prst="roundRect">
            <a:avLst>
              <a:gd name="adj" fmla="val 15673"/>
            </a:avLst>
          </a:prstGeom>
          <a:solidFill>
            <a:srgbClr val="F4F2F8"/>
          </a:solidFill>
          <a:ln w="8890">
            <a:solidFill>
              <a:srgbClr val="C5B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821977" y="10975399"/>
            <a:ext cx="4098428" cy="476198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821977" y="10975399"/>
            <a:ext cx="11557" cy="4761984"/>
          </a:xfrm>
          <a:prstGeom prst="rect">
            <a:avLst/>
          </a:prstGeom>
          <a:solidFill>
            <a:srgbClr val="D2C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26379408" y="24806433"/>
            <a:ext cx="12555180" cy="1942187"/>
          </a:xfrm>
          <a:prstGeom prst="roundRect">
            <a:avLst>
              <a:gd name="adj" fmla="val 50000"/>
            </a:avLst>
          </a:prstGeom>
          <a:solidFill>
            <a:srgbClr val="ECE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6379408" y="27029628"/>
            <a:ext cx="12555180" cy="223958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6379408" y="27029628"/>
            <a:ext cx="12555180" cy="11557"/>
          </a:xfrm>
          <a:prstGeom prst="rect">
            <a:avLst/>
          </a:prstGeom>
          <a:solidFill>
            <a:srgbClr val="C0B6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0359766" y="7720687"/>
            <a:ext cx="9806504" cy="1544637"/>
          </a:xfrm>
          <a:prstGeom prst="rect">
            <a:avLst/>
          </a:prstGeom>
          <a:solidFill>
            <a:srgbClr val="ED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2919809" y="10753982"/>
            <a:ext cx="25588753" cy="8012530"/>
          </a:xfrm>
          <a:prstGeom prst="roundRect">
            <a:avLst>
              <a:gd name="adj" fmla="val 443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page3_figure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19986" y="10753982"/>
            <a:ext cx="25588399" cy="8012530"/>
          </a:xfrm>
          <a:prstGeom prst="rect">
            <a:avLst/>
          </a:prstGeom>
        </p:spPr>
      </p:pic>
      <p:sp>
        <p:nvSpPr>
          <p:cNvPr id="38" name="Rounded Rectangle 37"/>
          <p:cNvSpPr/>
          <p:nvPr/>
        </p:nvSpPr>
        <p:spPr>
          <a:xfrm>
            <a:off x="47085607" y="26086454"/>
            <a:ext cx="3055798" cy="3055799"/>
          </a:xfrm>
          <a:prstGeom prst="roundRect">
            <a:avLst>
              <a:gd name="adj" fmla="val 5042"/>
            </a:avLst>
          </a:prstGeom>
          <a:solidFill>
            <a:srgbClr val="FFFFFF"/>
          </a:solidFill>
          <a:ln w="8890">
            <a:solidFill>
              <a:srgbClr val="F0F0F0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pap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204140" y="26204987"/>
            <a:ext cx="2818732" cy="2818733"/>
          </a:xfrm>
          <a:prstGeom prst="rect">
            <a:avLst/>
          </a:prstGeom>
        </p:spPr>
      </p:pic>
      <p:sp>
        <p:nvSpPr>
          <p:cNvPr id="40" name="Rounded Rectangle 39"/>
          <p:cNvSpPr/>
          <p:nvPr/>
        </p:nvSpPr>
        <p:spPr>
          <a:xfrm>
            <a:off x="12493922" y="26281757"/>
            <a:ext cx="12555180" cy="1788279"/>
          </a:xfrm>
          <a:prstGeom prst="roundRect">
            <a:avLst>
              <a:gd name="adj" fmla="val 1988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page4_figure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493963" y="26281757"/>
            <a:ext cx="12555099" cy="1788279"/>
          </a:xfrm>
          <a:prstGeom prst="rect">
            <a:avLst/>
          </a:prstGeom>
        </p:spPr>
      </p:pic>
      <p:sp>
        <p:nvSpPr>
          <p:cNvPr id="42" name="Rounded Rectangle 41"/>
          <p:cNvSpPr/>
          <p:nvPr/>
        </p:nvSpPr>
        <p:spPr>
          <a:xfrm>
            <a:off x="47968495" y="29284493"/>
            <a:ext cx="1290022" cy="541595"/>
          </a:xfrm>
          <a:prstGeom prst="roundRect">
            <a:avLst>
              <a:gd name="adj" fmla="val 50000"/>
            </a:avLst>
          </a:prstGeom>
          <a:solidFill>
            <a:srgbClr val="ECE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426" b="1">
                <a:solidFill>
                  <a:srgbClr val="4B2E83"/>
                </a:solidFill>
                <a:latin typeface="Arial"/>
              </a:rPr>
              <a:t>Paper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0359766" y="5558750"/>
            <a:ext cx="4789626" cy="617299"/>
          </a:xfrm>
          <a:prstGeom prst="rect">
            <a:avLst/>
          </a:prstGeom>
          <a:solidFill>
            <a:srgbClr val="F4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0359766" y="6167159"/>
            <a:ext cx="4789626" cy="11557"/>
          </a:xfrm>
          <a:prstGeom prst="rect">
            <a:avLst/>
          </a:prstGeom>
          <a:solidFill>
            <a:srgbClr val="E4E0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5149392" y="5558750"/>
            <a:ext cx="2508370" cy="617299"/>
          </a:xfrm>
          <a:prstGeom prst="rect">
            <a:avLst/>
          </a:prstGeom>
          <a:solidFill>
            <a:srgbClr val="F4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5149392" y="6167159"/>
            <a:ext cx="2508370" cy="11557"/>
          </a:xfrm>
          <a:prstGeom prst="rect">
            <a:avLst/>
          </a:prstGeom>
          <a:solidFill>
            <a:srgbClr val="E4E0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7657762" y="5558750"/>
            <a:ext cx="2508508" cy="617299"/>
          </a:xfrm>
          <a:prstGeom prst="rect">
            <a:avLst/>
          </a:prstGeom>
          <a:solidFill>
            <a:srgbClr val="F4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7657762" y="6167159"/>
            <a:ext cx="2508508" cy="11557"/>
          </a:xfrm>
          <a:prstGeom prst="rect">
            <a:avLst/>
          </a:prstGeom>
          <a:solidFill>
            <a:srgbClr val="E4E0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0359766" y="6176049"/>
            <a:ext cx="4789626" cy="154463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0359766" y="7711797"/>
            <a:ext cx="4789626" cy="11557"/>
          </a:xfrm>
          <a:prstGeom prst="rect">
            <a:avLst/>
          </a:prstGeom>
          <a:solidFill>
            <a:srgbClr val="E4E0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5149392" y="6176049"/>
            <a:ext cx="2508370" cy="154463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5149392" y="7711797"/>
            <a:ext cx="2508370" cy="11557"/>
          </a:xfrm>
          <a:prstGeom prst="rect">
            <a:avLst/>
          </a:prstGeom>
          <a:solidFill>
            <a:srgbClr val="E4E0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7657762" y="6176049"/>
            <a:ext cx="2508508" cy="154463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7657762" y="7711797"/>
            <a:ext cx="2508508" cy="11557"/>
          </a:xfrm>
          <a:prstGeom prst="rect">
            <a:avLst/>
          </a:prstGeom>
          <a:solidFill>
            <a:srgbClr val="E4E0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0359766" y="7720687"/>
            <a:ext cx="4789626" cy="154463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0359766" y="9256434"/>
            <a:ext cx="4789626" cy="11557"/>
          </a:xfrm>
          <a:prstGeom prst="rect">
            <a:avLst/>
          </a:prstGeom>
          <a:solidFill>
            <a:srgbClr val="E4E0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5149392" y="7720687"/>
            <a:ext cx="2508370" cy="154463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5149392" y="9256434"/>
            <a:ext cx="2508370" cy="11557"/>
          </a:xfrm>
          <a:prstGeom prst="rect">
            <a:avLst/>
          </a:prstGeom>
          <a:solidFill>
            <a:srgbClr val="E4E0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7657762" y="7720687"/>
            <a:ext cx="2508508" cy="154463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7657762" y="9256434"/>
            <a:ext cx="2508508" cy="11557"/>
          </a:xfrm>
          <a:prstGeom prst="rect">
            <a:avLst/>
          </a:prstGeom>
          <a:solidFill>
            <a:srgbClr val="E4E0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26379408" y="22068869"/>
            <a:ext cx="6653470" cy="814407"/>
          </a:xfrm>
          <a:prstGeom prst="rect">
            <a:avLst/>
          </a:prstGeom>
          <a:solidFill>
            <a:srgbClr val="ECE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26379408" y="22874386"/>
            <a:ext cx="6653470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33032878" y="22068869"/>
            <a:ext cx="2616022" cy="814407"/>
          </a:xfrm>
          <a:prstGeom prst="rect">
            <a:avLst/>
          </a:prstGeom>
          <a:solidFill>
            <a:srgbClr val="ECE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33032878" y="22874386"/>
            <a:ext cx="2616022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35648900" y="22068869"/>
            <a:ext cx="3285688" cy="814407"/>
          </a:xfrm>
          <a:prstGeom prst="rect">
            <a:avLst/>
          </a:prstGeom>
          <a:solidFill>
            <a:srgbClr val="ECE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35648900" y="22874386"/>
            <a:ext cx="3285688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26379408" y="22883276"/>
            <a:ext cx="6653470" cy="81885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26379408" y="23693239"/>
            <a:ext cx="6653470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33032878" y="22883276"/>
            <a:ext cx="2616022" cy="81885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33032878" y="23693239"/>
            <a:ext cx="2616022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35648900" y="22883276"/>
            <a:ext cx="3285688" cy="81885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35648900" y="23693239"/>
            <a:ext cx="3285688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26379408" y="23702129"/>
            <a:ext cx="6653470" cy="818852"/>
          </a:xfrm>
          <a:prstGeom prst="rect">
            <a:avLst/>
          </a:prstGeom>
          <a:solidFill>
            <a:srgbClr val="ECE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26379408" y="24512091"/>
            <a:ext cx="6653470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33032878" y="23702129"/>
            <a:ext cx="2616022" cy="818852"/>
          </a:xfrm>
          <a:prstGeom prst="rect">
            <a:avLst/>
          </a:prstGeom>
          <a:solidFill>
            <a:srgbClr val="ECE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33032878" y="24512091"/>
            <a:ext cx="2616022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35648900" y="23702129"/>
            <a:ext cx="3285688" cy="818852"/>
          </a:xfrm>
          <a:prstGeom prst="rect">
            <a:avLst/>
          </a:prstGeom>
          <a:solidFill>
            <a:srgbClr val="ECE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35648900" y="24512091"/>
            <a:ext cx="3285688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3446402" y="983734"/>
            <a:ext cx="24740176" cy="125940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8624"/>
              </a:lnSpc>
              <a:spcBef>
                <a:spcPts val="0"/>
              </a:spcBef>
              <a:spcAft>
                <a:spcPts val="0"/>
              </a:spcAft>
            </a:pPr>
            <a:r>
              <a:rPr sz="7840" b="1" spc="-78">
                <a:solidFill>
                  <a:srgbClr val="4B2E83"/>
                </a:solidFill>
                <a:latin typeface="Arial"/>
              </a:rPr>
              <a:t>Towards Reasoning-Aware Explainable VQA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3446402" y="2277923"/>
            <a:ext cx="24740176" cy="708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853"/>
              </a:lnSpc>
              <a:spcBef>
                <a:spcPts val="0"/>
              </a:spcBef>
              <a:spcAft>
                <a:spcPts val="0"/>
              </a:spcAft>
            </a:pPr>
            <a:r>
              <a:rPr sz="3733" b="0">
                <a:solidFill>
                  <a:srgbClr val="1B2331"/>
                </a:solidFill>
                <a:latin typeface="Arial"/>
              </a:rPr>
              <a:t>Rakesh Vaideeswaran</a:t>
            </a:r>
            <a:r>
              <a:rPr sz="5226" b="0" baseline="30000">
                <a:solidFill>
                  <a:srgbClr val="1B2331"/>
                </a:solidFill>
                <a:latin typeface="Arial"/>
              </a:rPr>
              <a:t>1</a:t>
            </a:r>
            <a:r>
              <a:rPr sz="3733" b="0">
                <a:solidFill>
                  <a:srgbClr val="1B2331"/>
                </a:solidFill>
                <a:latin typeface="Arial"/>
              </a:rPr>
              <a:t>, Feng Gao</a:t>
            </a:r>
            <a:r>
              <a:rPr sz="5226" b="0" baseline="30000">
                <a:solidFill>
                  <a:srgbClr val="1B2331"/>
                </a:solidFill>
                <a:latin typeface="Arial"/>
              </a:rPr>
              <a:t>2</a:t>
            </a:r>
            <a:r>
              <a:rPr sz="3733" b="0">
                <a:solidFill>
                  <a:srgbClr val="1B2331"/>
                </a:solidFill>
                <a:latin typeface="Arial"/>
              </a:rPr>
              <a:t>, Abhinav Mathur</a:t>
            </a:r>
            <a:r>
              <a:rPr sz="5226" b="0" baseline="30000">
                <a:solidFill>
                  <a:srgbClr val="1B2331"/>
                </a:solidFill>
                <a:latin typeface="Arial"/>
              </a:rPr>
              <a:t>2</a:t>
            </a:r>
            <a:r>
              <a:rPr sz="3733" b="0">
                <a:solidFill>
                  <a:srgbClr val="1B2331"/>
                </a:solidFill>
                <a:latin typeface="Arial"/>
              </a:rPr>
              <a:t>, Govind Thattai</a:t>
            </a:r>
            <a:r>
              <a:rPr sz="5226" b="0" baseline="30000">
                <a:solidFill>
                  <a:srgbClr val="1B2331"/>
                </a:solidFill>
                <a:latin typeface="Arial"/>
              </a:rPr>
              <a:t>2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3446402" y="2947173"/>
            <a:ext cx="24740176" cy="5533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3789"/>
              </a:lnSpc>
              <a:spcBef>
                <a:spcPts val="0"/>
              </a:spcBef>
              <a:spcAft>
                <a:spcPts val="0"/>
              </a:spcAft>
            </a:pPr>
            <a:r>
              <a:rPr sz="2268" b="0" spc="52" baseline="30000">
                <a:solidFill>
                  <a:srgbClr val="55617A"/>
                </a:solidFill>
                <a:latin typeface="Arial"/>
              </a:rPr>
              <a:t>1</a:t>
            </a:r>
            <a:r>
              <a:rPr sz="2613" b="0" spc="52">
                <a:solidFill>
                  <a:srgbClr val="55617A"/>
                </a:solidFill>
                <a:latin typeface="Arial"/>
              </a:rPr>
              <a:t>University of Illinois, Urbana-Champaign    </a:t>
            </a:r>
            <a:r>
              <a:rPr sz="3658" b="0" spc="52" baseline="30000">
                <a:solidFill>
                  <a:srgbClr val="55617A"/>
                </a:solidFill>
                <a:latin typeface="Arial"/>
              </a:rPr>
              <a:t>2</a:t>
            </a:r>
            <a:r>
              <a:rPr sz="2613" b="0" spc="52">
                <a:solidFill>
                  <a:srgbClr val="55617A"/>
                </a:solidFill>
                <a:latin typeface="Arial"/>
              </a:rPr>
              <a:t>Amazon Alexa AI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0359766" y="4456390"/>
            <a:ext cx="10100699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4B2E83"/>
                </a:solidFill>
                <a:latin typeface="Arial"/>
              </a:rPr>
              <a:t>Ablation Study 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262241" y="4669750"/>
            <a:ext cx="10100698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4B2E83"/>
                </a:solidFill>
                <a:latin typeface="Arial"/>
              </a:rPr>
              <a:t>Problem 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2493922" y="4669750"/>
            <a:ext cx="26867386" cy="899667"/>
          </a:xfrm>
          <a:prstGeom prst="rect">
            <a:avLst/>
          </a:prstGeom>
          <a:noFill/>
        </p:spPr>
        <p:txBody>
          <a:bodyPr wrap="non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4B2E83"/>
                </a:solidFill>
                <a:latin typeface="Arial"/>
              </a:rPr>
              <a:t>Method 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262241" y="5861843"/>
            <a:ext cx="10100698" cy="34785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Most VQA models optimize </a:t>
            </a:r>
            <a:r>
              <a:rPr sz="4106" b="1">
                <a:solidFill>
                  <a:srgbClr val="111111"/>
                </a:solidFill>
                <a:latin typeface="Arial"/>
              </a:rPr>
              <a:t>only answer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111111"/>
                </a:solidFill>
                <a:latin typeface="Arial"/>
              </a:rPr>
              <a:t>accuracy</a:t>
            </a:r>
            <a:r>
              <a:rPr sz="4106" b="0">
                <a:solidFill>
                  <a:srgbClr val="1C1C1C"/>
                </a:solidFill>
                <a:latin typeface="Arial"/>
              </a:rPr>
              <a:t> and reach the answer as a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black box — giving no human-readable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evidence for </a:t>
            </a:r>
            <a:r>
              <a:rPr sz="4106" b="0" i="1">
                <a:solidFill>
                  <a:srgbClr val="1C1C1C"/>
                </a:solidFill>
                <a:latin typeface="Arial"/>
              </a:rPr>
              <a:t>how</a:t>
            </a:r>
            <a:r>
              <a:rPr sz="4106" b="0">
                <a:solidFill>
                  <a:srgbClr val="1C1C1C"/>
                </a:solidFill>
                <a:latin typeface="Arial"/>
              </a:rPr>
              <a:t> the answer was derived.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0359766" y="9650789"/>
            <a:ext cx="10100699" cy="899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4B2E83"/>
                </a:solidFill>
                <a:latin typeface="Arial"/>
              </a:rPr>
              <a:t>Headline Numbers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262241" y="14411662"/>
            <a:ext cx="10100698" cy="2482873"/>
          </a:xfrm>
          <a:prstGeom prst="rect">
            <a:avLst/>
          </a:prstGeom>
          <a:noFill/>
        </p:spPr>
        <p:txBody>
          <a:bodyPr wrap="none" lIns="365082" rIns="365082" tIns="62585" bIns="62585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 i="1">
                <a:solidFill>
                  <a:srgbClr val="1C1C1C"/>
                </a:solidFill>
                <a:latin typeface="Arial"/>
              </a:rPr>
              <a:t>Almost every state-of-the-art VQA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 i="1">
                <a:solidFill>
                  <a:srgbClr val="1C1C1C"/>
                </a:solidFill>
                <a:latin typeface="Arial"/>
              </a:rPr>
              <a:t>model just answers the question,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 i="1">
                <a:solidFill>
                  <a:srgbClr val="111111"/>
                </a:solidFill>
                <a:latin typeface="Arial"/>
              </a:rPr>
              <a:t>without justifying</a:t>
            </a:r>
            <a:r>
              <a:rPr sz="4106" b="0" i="1">
                <a:solidFill>
                  <a:srgbClr val="1C1C1C"/>
                </a:solidFill>
                <a:latin typeface="Arial"/>
              </a:rPr>
              <a:t> how it got there.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0253086" y="16487616"/>
            <a:ext cx="10210579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4B2E83"/>
                </a:solidFill>
                <a:latin typeface="Arial"/>
              </a:rPr>
              <a:t>Takeaway 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0253086" y="17715547"/>
            <a:ext cx="10210579" cy="52178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A simple explanation generator gives a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strong VQA model human-readable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explanations at </a:t>
            </a:r>
            <a:r>
              <a:rPr sz="4106" b="1">
                <a:solidFill>
                  <a:srgbClr val="111111"/>
                </a:solidFill>
                <a:latin typeface="Arial"/>
              </a:rPr>
              <a:t>almost no accuracy loss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— but string-matching metrics like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BLEU/ROUGE </a:t>
            </a:r>
            <a:r>
              <a:rPr sz="4106" b="1">
                <a:solidFill>
                  <a:srgbClr val="111111"/>
                </a:solidFill>
                <a:latin typeface="Arial"/>
              </a:rPr>
              <a:t>reward wrong</a:t>
            </a:r>
            <a:r>
              <a:rPr sz="4106" b="0">
                <a:solidFill>
                  <a:srgbClr val="1C1C1C"/>
                </a:solidFill>
                <a:latin typeface="Arial"/>
              </a:rPr>
              <a:t> and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111111"/>
                </a:solidFill>
                <a:latin typeface="Arial"/>
              </a:rPr>
              <a:t>penalize valid</a:t>
            </a:r>
            <a:r>
              <a:rPr sz="4106" b="0">
                <a:solidFill>
                  <a:srgbClr val="1C1C1C"/>
                </a:solidFill>
                <a:latin typeface="Arial"/>
              </a:rPr>
              <a:t> explanations.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262241" y="17935019"/>
            <a:ext cx="10100698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4B2E83"/>
                </a:solidFill>
                <a:latin typeface="Arial"/>
              </a:rPr>
              <a:t>Motivation 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0253086" y="22639079"/>
            <a:ext cx="10210579" cy="2968329"/>
          </a:xfrm>
          <a:prstGeom prst="rect">
            <a:avLst/>
          </a:prstGeom>
          <a:noFill/>
        </p:spPr>
        <p:txBody>
          <a:bodyPr wrap="none" lIns="408892" rIns="408892" tIns="255558" bIns="255558">
            <a:spAutoFit/>
          </a:bodyPr>
          <a:lstStyle/>
          <a:p>
            <a:pPr algn="l">
              <a:lnSpc>
                <a:spcPts val="5433"/>
              </a:lnSpc>
              <a:spcBef>
                <a:spcPts val="0"/>
              </a:spcBef>
              <a:spcAft>
                <a:spcPts val="0"/>
              </a:spcAft>
            </a:pPr>
            <a:r>
              <a:rPr sz="4024" b="1">
                <a:solidFill>
                  <a:srgbClr val="4B2E83"/>
                </a:solidFill>
                <a:latin typeface="Arial"/>
              </a:rPr>
              <a:t>The real bottleneck for explainable</a:t>
            </a:r>
          </a:p>
          <a:p>
            <a:pPr algn="l">
              <a:lnSpc>
                <a:spcPts val="5433"/>
              </a:lnSpc>
              <a:spcBef>
                <a:spcPts val="0"/>
              </a:spcBef>
              <a:spcAft>
                <a:spcPts val="0"/>
              </a:spcAft>
            </a:pPr>
            <a:r>
              <a:rPr sz="4024" b="1">
                <a:solidFill>
                  <a:srgbClr val="4B2E83"/>
                </a:solidFill>
                <a:latin typeface="Arial"/>
              </a:rPr>
              <a:t>VQA isn't the generator — it's the</a:t>
            </a:r>
          </a:p>
          <a:p>
            <a:pPr algn="l">
              <a:lnSpc>
                <a:spcPts val="5433"/>
              </a:lnSpc>
              <a:spcBef>
                <a:spcPts val="0"/>
              </a:spcBef>
              <a:spcAft>
                <a:spcPts val="0"/>
              </a:spcAft>
            </a:pPr>
            <a:r>
              <a:rPr sz="4024" b="1">
                <a:solidFill>
                  <a:srgbClr val="4B2E83"/>
                </a:solidFill>
                <a:latin typeface="Arial"/>
              </a:rPr>
              <a:t>evaluation metric.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262222" y="9237126"/>
            <a:ext cx="10100717" cy="17392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Type 1</a:t>
            </a:r>
            <a:r>
              <a:rPr sz="4106" b="0">
                <a:solidFill>
                  <a:srgbClr val="1C1C1C"/>
                </a:solidFill>
                <a:latin typeface="Arial"/>
              </a:rPr>
              <a:t> — answer only, no supporting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evidence.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2320845" y="9912211"/>
            <a:ext cx="6990424" cy="357822"/>
          </a:xfrm>
          <a:prstGeom prst="rect">
            <a:avLst/>
          </a:prstGeom>
          <a:noFill/>
        </p:spPr>
        <p:txBody>
          <a:bodyPr wrap="square" lIns="394289" rIns="394289" tIns="67592" bIns="67592">
            <a:spAutoFit/>
          </a:bodyPr>
          <a:lstStyle/>
          <a:p>
            <a:pPr algn="ctr">
              <a:lnSpc>
                <a:spcPts val="3215"/>
              </a:lnSpc>
              <a:spcBef>
                <a:spcPts val="0"/>
              </a:spcBef>
              <a:spcAft>
                <a:spcPts val="0"/>
              </a:spcAft>
            </a:pPr>
            <a:r>
              <a:rPr sz="4435" b="0">
                <a:solidFill>
                  <a:srgbClr val="1C1C1C"/>
                </a:solidFill>
                <a:latin typeface="Tinos"/>
              </a:rPr>
              <a:t>                                                       </a:t>
            </a:r>
            <a:r>
              <a:rPr sz="2217" b="0" i="1">
                <a:solidFill>
                  <a:srgbClr val="555555"/>
                </a:solidFill>
                <a:latin typeface="Tinos"/>
              </a:rPr>
              <a:t>one end-to-end loss balances answering vs. explaining via α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262222" y="10932060"/>
            <a:ext cx="10100717" cy="173927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Type 2</a:t>
            </a:r>
            <a:r>
              <a:rPr sz="4106" b="0">
                <a:solidFill>
                  <a:srgbClr val="1C1C1C"/>
                </a:solidFill>
                <a:latin typeface="Arial"/>
              </a:rPr>
              <a:t> — answer plus a generic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caption describing the image.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262222" y="12626994"/>
            <a:ext cx="10100717" cy="173927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Type 3</a:t>
            </a:r>
            <a:r>
              <a:rPr sz="4106" b="0">
                <a:solidFill>
                  <a:srgbClr val="1C1C1C"/>
                </a:solidFill>
                <a:latin typeface="Arial"/>
              </a:rPr>
              <a:t> — answer plus a self-contained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explanation that matches it (rare).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262222" y="19127251"/>
            <a:ext cx="10100717" cy="26089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As reasoning demands in VQA grow,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1">
                <a:solidFill>
                  <a:srgbClr val="111111"/>
                </a:solidFill>
                <a:latin typeface="Arial"/>
              </a:rPr>
              <a:t>interpretability</a:t>
            </a:r>
            <a:r>
              <a:rPr sz="4106" b="0">
                <a:solidFill>
                  <a:srgbClr val="1C1C1C"/>
                </a:solidFill>
                <a:latin typeface="Arial"/>
              </a:rPr>
              <a:t> becomes urgent for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diagnosing and trusting models.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2493922" y="20772596"/>
            <a:ext cx="12931835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4B2E83"/>
                </a:solidFill>
                <a:latin typeface="Arial"/>
              </a:rPr>
              <a:t>Dataset / Benchmark 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6379408" y="20772596"/>
            <a:ext cx="12931835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4B2E83"/>
                </a:solidFill>
                <a:latin typeface="Arial"/>
              </a:rPr>
              <a:t>Key Results 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262222" y="21578391"/>
            <a:ext cx="10100717" cy="26089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Explanation quality has </a:t>
            </a:r>
            <a:r>
              <a:rPr sz="4106" b="1">
                <a:solidFill>
                  <a:srgbClr val="111111"/>
                </a:solidFill>
                <a:latin typeface="Arial"/>
              </a:rPr>
              <a:t>no reliable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1">
                <a:solidFill>
                  <a:srgbClr val="111111"/>
                </a:solidFill>
                <a:latin typeface="Arial"/>
              </a:rPr>
              <a:t>metric</a:t>
            </a:r>
            <a:r>
              <a:rPr sz="4106" b="0">
                <a:solidFill>
                  <a:srgbClr val="1C1C1C"/>
                </a:solidFill>
                <a:latin typeface="Arial"/>
              </a:rPr>
              <a:t> — BLEU/ROUGE score n-gram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overlap, not reasoning.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262222" y="24029531"/>
            <a:ext cx="10100717" cy="26089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Prior explainable-VQA work reuses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image captions or external knowledge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that gives no direct evidence.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26379408" y="24806433"/>
            <a:ext cx="12931835" cy="2233515"/>
          </a:xfrm>
          <a:prstGeom prst="rect">
            <a:avLst/>
          </a:prstGeom>
          <a:noFill/>
        </p:spPr>
        <p:txBody>
          <a:bodyPr wrap="none" lIns="485560" rIns="485560" tIns="281113" bIns="281113">
            <a:spAutoFit/>
          </a:bodyPr>
          <a:lstStyle/>
          <a:p>
            <a:pPr algn="ctr">
              <a:lnSpc>
                <a:spcPts val="5433"/>
              </a:lnSpc>
              <a:spcBef>
                <a:spcPts val="0"/>
              </a:spcBef>
              <a:spcAft>
                <a:spcPts val="0"/>
              </a:spcAft>
            </a:pPr>
            <a:r>
              <a:rPr sz="4024" b="1">
                <a:solidFill>
                  <a:srgbClr val="4B2E83"/>
                </a:solidFill>
                <a:latin typeface="Arial"/>
              </a:rPr>
              <a:t>Answer accuracy held at 77.49% / 71.48% —</a:t>
            </a:r>
          </a:p>
          <a:p>
            <a:pPr algn="ctr">
              <a:lnSpc>
                <a:spcPts val="5433"/>
              </a:lnSpc>
              <a:spcBef>
                <a:spcPts val="0"/>
              </a:spcBef>
              <a:spcAft>
                <a:spcPts val="0"/>
              </a:spcAft>
            </a:pPr>
            <a:r>
              <a:rPr sz="4024" b="1">
                <a:solidFill>
                  <a:srgbClr val="4B2E83"/>
                </a:solidFill>
                <a:latin typeface="Arial"/>
              </a:rPr>
              <a:t>explanations added essentially for free.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262222" y="26480670"/>
            <a:ext cx="10100717" cy="34785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Two open questions remain: can a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model </a:t>
            </a:r>
            <a:r>
              <a:rPr sz="4106" b="1">
                <a:solidFill>
                  <a:srgbClr val="111111"/>
                </a:solidFill>
                <a:latin typeface="Arial"/>
              </a:rPr>
              <a:t>explain while keeping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1">
                <a:solidFill>
                  <a:srgbClr val="111111"/>
                </a:solidFill>
                <a:latin typeface="Arial"/>
              </a:rPr>
              <a:t>accuracy</a:t>
            </a:r>
            <a:r>
              <a:rPr sz="4106" b="0">
                <a:solidFill>
                  <a:srgbClr val="1C1C1C"/>
                </a:solidFill>
                <a:latin typeface="Arial"/>
              </a:rPr>
              <a:t>, and how should we reliably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1">
                <a:solidFill>
                  <a:srgbClr val="111111"/>
                </a:solidFill>
                <a:latin typeface="Arial"/>
              </a:rPr>
              <a:t>evaluate</a:t>
            </a:r>
            <a:r>
              <a:rPr sz="4106" b="0">
                <a:solidFill>
                  <a:srgbClr val="1C1C1C"/>
                </a:solidFill>
                <a:latin typeface="Arial"/>
              </a:rPr>
              <a:t> those explanations?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26379408" y="27029628"/>
            <a:ext cx="12931835" cy="2575522"/>
          </a:xfrm>
          <a:prstGeom prst="rect">
            <a:avLst/>
          </a:prstGeom>
          <a:noFill/>
        </p:spPr>
        <p:txBody>
          <a:bodyPr wrap="square" lIns="0" rIns="0" tIns="215920" bIns="0">
            <a:spAutoFit/>
          </a:bodyPr>
          <a:lstStyle/>
          <a:p>
            <a:pPr algn="l">
              <a:lnSpc>
                <a:spcPts val="5289"/>
              </a:lnSpc>
              <a:spcBef>
                <a:spcPts val="0"/>
              </a:spcBef>
              <a:spcAft>
                <a:spcPts val="0"/>
              </a:spcAft>
            </a:pPr>
            <a:r>
              <a:rPr sz="2946" b="1" spc="176">
                <a:solidFill>
                  <a:srgbClr val="111111"/>
                </a:solidFill>
                <a:latin typeface="Arial"/>
              </a:rPr>
              <a:t>SO WHAT → </a:t>
            </a:r>
            <a:r>
              <a:rPr sz="3778" b="0" i="1">
                <a:solidFill>
                  <a:srgbClr val="1C1C1C"/>
                </a:solidFill>
                <a:latin typeface="Arial"/>
              </a:rPr>
              <a:t>Explanations improve over prior work while VQA accuracy stays at SOTA — better explanations at </a:t>
            </a:r>
            <a:r>
              <a:rPr sz="3778" b="1" i="1">
                <a:solidFill>
                  <a:srgbClr val="111111"/>
                </a:solidFill>
                <a:latin typeface="Arial"/>
              </a:rPr>
              <a:t>zero</a:t>
            </a:r>
            <a:r>
              <a:rPr sz="3778" b="0" i="1">
                <a:solidFill>
                  <a:srgbClr val="1C1C1C"/>
                </a:solidFill>
                <a:latin typeface="Arial"/>
              </a:rPr>
              <a:t> answer-accuracy cost.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2493904" y="5781000"/>
            <a:ext cx="26867404" cy="77970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338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Builds on the </a:t>
            </a:r>
            <a:r>
              <a:rPr sz="4106" b="1">
                <a:solidFill>
                  <a:srgbClr val="111111"/>
                </a:solidFill>
                <a:latin typeface="Arial"/>
              </a:rPr>
              <a:t>Coarse-to-Fine Reasoning (CFR)</a:t>
            </a:r>
            <a:r>
              <a:rPr sz="4106" b="0">
                <a:solidFill>
                  <a:srgbClr val="1C1C1C"/>
                </a:solidFill>
                <a:latin typeface="Arial"/>
              </a:rPr>
              <a:t> backbone that yields a joint image–question embedding.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2493904" y="6552763"/>
            <a:ext cx="26867404" cy="77970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338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Faster-RCNN region features + a GloVe+GRU question encoder feed the reasoning modules.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2493904" y="7324526"/>
            <a:ext cx="26867404" cy="15594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338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The joint embedding drives an answer MLP and a new </a:t>
            </a:r>
            <a:r>
              <a:rPr sz="4106" b="1">
                <a:solidFill>
                  <a:srgbClr val="111111"/>
                </a:solidFill>
                <a:latin typeface="Arial"/>
              </a:rPr>
              <a:t>explanation generator</a:t>
            </a:r>
            <a:r>
              <a:rPr sz="4106" b="0">
                <a:solidFill>
                  <a:srgbClr val="1C1C1C"/>
                </a:solidFill>
                <a:latin typeface="Arial"/>
              </a:rPr>
              <a:t> — an LSTM or Transformer</a:t>
            </a:r>
          </a:p>
          <a:p>
            <a:pPr algn="l" marL="573701" indent="0">
              <a:lnSpc>
                <a:spcPts val="53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decoder trained end-to-end.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0605630" y="12237501"/>
            <a:ext cx="4781943" cy="13467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9221"/>
              </a:lnSpc>
              <a:spcBef>
                <a:spcPts val="0"/>
              </a:spcBef>
              <a:spcAft>
                <a:spcPts val="0"/>
              </a:spcAft>
            </a:pPr>
            <a:r>
              <a:rPr sz="9706" b="1" spc="-194">
                <a:solidFill>
                  <a:srgbClr val="4B2E83"/>
                </a:solidFill>
                <a:latin typeface="Arial"/>
              </a:rPr>
              <a:t>77.49%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40605630" y="13432234"/>
            <a:ext cx="4781943" cy="11993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733" b="1">
                <a:solidFill>
                  <a:srgbClr val="1C1C1C"/>
                </a:solidFill>
                <a:latin typeface="Arial"/>
              </a:rPr>
              <a:t>GQA-REX VQA</a:t>
            </a:r>
          </a:p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733" b="1">
                <a:solidFill>
                  <a:srgbClr val="1C1C1C"/>
                </a:solidFill>
                <a:latin typeface="Arial"/>
              </a:rPr>
              <a:t>score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8718589" y="18916114"/>
            <a:ext cx="14410928" cy="6392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Coarse-to-fine VQA augmented with an end-to-end explanation generator.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2493904" y="21874956"/>
            <a:ext cx="12931853" cy="26089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GQA-REX</a:t>
            </a:r>
            <a:r>
              <a:rPr sz="4106" b="0">
                <a:solidFill>
                  <a:srgbClr val="1C1C1C"/>
                </a:solidFill>
                <a:latin typeface="Arial"/>
              </a:rPr>
              <a:t>: ~1.04M QA pairs over 82K images;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explanations for ~98% of GQA-balanced samples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(scene-graph format).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2493904" y="24326095"/>
            <a:ext cx="12931853" cy="173927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VQA-E</a:t>
            </a:r>
            <a:r>
              <a:rPr sz="4106" b="0">
                <a:solidFill>
                  <a:srgbClr val="1C1C1C"/>
                </a:solidFill>
                <a:latin typeface="Arial"/>
              </a:rPr>
              <a:t>: explanations for ~40% of VQA2.0 QA pairs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— caption-like, containing the answer.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40359766" y="27408703"/>
            <a:ext cx="6535737" cy="5723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920"/>
              </a:lnSpc>
              <a:spcBef>
                <a:spcPts val="0"/>
              </a:spcBef>
              <a:spcAft>
                <a:spcPts val="0"/>
              </a:spcAft>
            </a:pPr>
            <a:r>
              <a:rPr sz="3733" b="1">
                <a:solidFill>
                  <a:srgbClr val="4B2E83"/>
                </a:solidFill>
                <a:latin typeface="Arial"/>
              </a:rPr>
              <a:t>Questions? Get in touch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0359766" y="28072258"/>
            <a:ext cx="6535737" cy="4961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97"/>
              </a:lnSpc>
              <a:spcBef>
                <a:spcPts val="0"/>
              </a:spcBef>
              <a:spcAft>
                <a:spcPts val="0"/>
              </a:spcAft>
            </a:pPr>
            <a:r>
              <a:rPr sz="2426" b="0">
                <a:solidFill>
                  <a:srgbClr val="555555"/>
                </a:solidFill>
                <a:latin typeface="Arial"/>
              </a:rPr>
              <a:t>rmahesh3@illinois.edu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2996068" y="28219638"/>
            <a:ext cx="11897271" cy="12785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Example image–question pairs with annotated explanations</a:t>
            </a:r>
          </a:p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from (a) GQA-REX and (b) VQA-E.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40359766" y="5558750"/>
            <a:ext cx="4933314" cy="709893"/>
          </a:xfrm>
          <a:prstGeom prst="rect">
            <a:avLst/>
          </a:prstGeom>
          <a:noFill/>
        </p:spPr>
        <p:txBody>
          <a:bodyPr wrap="none" lIns="185800" rIns="185800" tIns="37160" bIns="37160">
            <a:spAutoFit/>
          </a:bodyPr>
          <a:lstStyle/>
          <a:p>
            <a:pPr algn="l">
              <a:lnSpc>
                <a:spcPts val="4242"/>
              </a:lnSpc>
              <a:spcBef>
                <a:spcPts val="0"/>
              </a:spcBef>
              <a:spcAft>
                <a:spcPts val="0"/>
              </a:spcAft>
            </a:pPr>
            <a:r>
              <a:rPr sz="2926" b="1" spc="146">
                <a:solidFill>
                  <a:srgbClr val="555555"/>
                </a:solidFill>
                <a:latin typeface="Arial"/>
              </a:rPr>
              <a:t>CONFIG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5149392" y="5558750"/>
            <a:ext cx="2583621" cy="709893"/>
          </a:xfrm>
          <a:prstGeom prst="rect">
            <a:avLst/>
          </a:prstGeom>
          <a:noFill/>
        </p:spPr>
        <p:txBody>
          <a:bodyPr wrap="square" lIns="185800" rIns="185800" tIns="37160" bIns="37160">
            <a:spAutoFit/>
          </a:bodyPr>
          <a:lstStyle/>
          <a:p>
            <a:pPr algn="l">
              <a:lnSpc>
                <a:spcPts val="4242"/>
              </a:lnSpc>
              <a:spcBef>
                <a:spcPts val="0"/>
              </a:spcBef>
              <a:spcAft>
                <a:spcPts val="0"/>
              </a:spcAft>
            </a:pPr>
            <a:r>
              <a:rPr sz="2926" b="1" spc="146">
                <a:solidFill>
                  <a:srgbClr val="555555"/>
                </a:solidFill>
                <a:latin typeface="Arial"/>
              </a:rPr>
              <a:t>GQA-REX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7657762" y="5558750"/>
            <a:ext cx="2583763" cy="709893"/>
          </a:xfrm>
          <a:prstGeom prst="rect">
            <a:avLst/>
          </a:prstGeom>
          <a:noFill/>
        </p:spPr>
        <p:txBody>
          <a:bodyPr wrap="none" lIns="185800" rIns="185800" tIns="37160" bIns="37160">
            <a:spAutoFit/>
          </a:bodyPr>
          <a:lstStyle/>
          <a:p>
            <a:pPr algn="l">
              <a:lnSpc>
                <a:spcPts val="4242"/>
              </a:lnSpc>
              <a:spcBef>
                <a:spcPts val="0"/>
              </a:spcBef>
              <a:spcAft>
                <a:spcPts val="0"/>
              </a:spcAft>
            </a:pPr>
            <a:r>
              <a:rPr sz="2926" b="1" spc="146">
                <a:solidFill>
                  <a:srgbClr val="555555"/>
                </a:solidFill>
                <a:latin typeface="Arial"/>
              </a:rPr>
              <a:t>VQA-E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40359766" y="6176049"/>
            <a:ext cx="4933314" cy="1776333"/>
          </a:xfrm>
          <a:prstGeom prst="rect">
            <a:avLst/>
          </a:prstGeom>
          <a:noFill/>
        </p:spPr>
        <p:txBody>
          <a:bodyPr wrap="square" lIns="247734" rIns="247734" tIns="49546" bIns="49546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LSTM (α sweep)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45149392" y="6176049"/>
            <a:ext cx="2583621" cy="1776333"/>
          </a:xfrm>
          <a:prstGeom prst="rect">
            <a:avLst/>
          </a:prstGeom>
          <a:noFill/>
        </p:spPr>
        <p:txBody>
          <a:bodyPr wrap="none" lIns="247734" rIns="247734" tIns="49546" bIns="49546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75.1–</a:t>
            </a:r>
          </a:p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77.5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47657762" y="6176049"/>
            <a:ext cx="2583763" cy="1776333"/>
          </a:xfrm>
          <a:prstGeom prst="rect">
            <a:avLst/>
          </a:prstGeom>
          <a:noFill/>
        </p:spPr>
        <p:txBody>
          <a:bodyPr wrap="none" lIns="247734" rIns="247734" tIns="49546" bIns="49546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71.3–</a:t>
            </a:r>
          </a:p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71.6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40359766" y="7720687"/>
            <a:ext cx="4933314" cy="1776332"/>
          </a:xfrm>
          <a:prstGeom prst="rect">
            <a:avLst/>
          </a:prstGeom>
          <a:noFill/>
        </p:spPr>
        <p:txBody>
          <a:bodyPr wrap="none" lIns="247734" rIns="247734" tIns="49546" bIns="49546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1">
                <a:solidFill>
                  <a:srgbClr val="1C1C1C"/>
                </a:solidFill>
                <a:latin typeface="Arial"/>
              </a:rPr>
              <a:t>Transformer</a:t>
            </a:r>
          </a:p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1">
                <a:solidFill>
                  <a:srgbClr val="1C1C1C"/>
                </a:solidFill>
                <a:latin typeface="Arial"/>
              </a:rPr>
              <a:t>(α=0.5)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45149392" y="7720687"/>
            <a:ext cx="2583621" cy="1776332"/>
          </a:xfrm>
          <a:prstGeom prst="rect">
            <a:avLst/>
          </a:prstGeom>
          <a:noFill/>
        </p:spPr>
        <p:txBody>
          <a:bodyPr wrap="none" lIns="247734" rIns="247734" tIns="49546" bIns="49546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1">
                <a:solidFill>
                  <a:srgbClr val="1C1C1C"/>
                </a:solidFill>
                <a:latin typeface="Arial"/>
              </a:rPr>
              <a:t>77.06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47657762" y="7720687"/>
            <a:ext cx="2583763" cy="1776332"/>
          </a:xfrm>
          <a:prstGeom prst="rect">
            <a:avLst/>
          </a:prstGeom>
          <a:noFill/>
        </p:spPr>
        <p:txBody>
          <a:bodyPr wrap="none" lIns="247734" rIns="247734" tIns="49546" bIns="49546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1">
                <a:solidFill>
                  <a:srgbClr val="1C1C1C"/>
                </a:solidFill>
                <a:latin typeface="Arial"/>
              </a:rPr>
              <a:t>71.46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46300231" y="10975399"/>
            <a:ext cx="1870971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71.48%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8299231" y="11108749"/>
            <a:ext cx="1669809" cy="1472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VQA-E</a:t>
            </a:r>
          </a:p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VQA</a:t>
            </a:r>
          </a:p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score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6300231" y="12649636"/>
            <a:ext cx="1870971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65.16%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48299231" y="12782986"/>
            <a:ext cx="2056680" cy="1472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explanations</a:t>
            </a:r>
          </a:p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reach the</a:t>
            </a:r>
          </a:p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answer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46300231" y="14323873"/>
            <a:ext cx="1886566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~60.5%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48314371" y="14457223"/>
            <a:ext cx="1873547" cy="1472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answer +</a:t>
            </a:r>
          </a:p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valid</a:t>
            </a:r>
          </a:p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explanation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26379408" y="22068869"/>
            <a:ext cx="6853074" cy="936568"/>
          </a:xfrm>
          <a:prstGeom prst="rect">
            <a:avLst/>
          </a:prstGeom>
          <a:noFill/>
        </p:spPr>
        <p:txBody>
          <a:bodyPr wrap="square" lIns="71120" rIns="71120" tIns="53340" bIns="53340">
            <a:spAutoFit/>
          </a:bodyPr>
          <a:lstStyle/>
          <a:p>
            <a:pPr algn="l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4B2E83"/>
                </a:solidFill>
                <a:latin typeface="Arial"/>
              </a:rPr>
              <a:t>VQA-E explanation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33032878" y="22068869"/>
            <a:ext cx="2694502" cy="936568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4B2E83"/>
                </a:solidFill>
                <a:latin typeface="Arial"/>
              </a:rPr>
              <a:t>BLEU-1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35648900" y="22068869"/>
            <a:ext cx="3384258" cy="936568"/>
          </a:xfrm>
          <a:prstGeom prst="rect">
            <a:avLst/>
          </a:prstGeom>
          <a:noFill/>
        </p:spPr>
        <p:txBody>
          <a:bodyPr wrap="squar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4B2E83"/>
                </a:solidFill>
                <a:latin typeface="Arial"/>
              </a:rPr>
              <a:t>ROUGE-L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26379408" y="22883276"/>
            <a:ext cx="6853074" cy="941680"/>
          </a:xfrm>
          <a:prstGeom prst="rect">
            <a:avLst/>
          </a:prstGeom>
          <a:noFill/>
        </p:spPr>
        <p:txBody>
          <a:bodyPr wrap="square" lIns="71120" rIns="71120" tIns="53340" bIns="53340">
            <a:spAutoFit/>
          </a:bodyPr>
          <a:lstStyle/>
          <a:p>
            <a:pPr algn="l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1C1C1C"/>
                </a:solidFill>
                <a:latin typeface="Arial"/>
              </a:rPr>
              <a:t>Prior baseline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33032878" y="22883276"/>
            <a:ext cx="2694502" cy="941680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0">
                <a:solidFill>
                  <a:srgbClr val="1C1C1C"/>
                </a:solidFill>
                <a:latin typeface="Arial"/>
              </a:rPr>
              <a:t>0.268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35648900" y="22883276"/>
            <a:ext cx="3384258" cy="941680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0">
                <a:solidFill>
                  <a:srgbClr val="1C1C1C"/>
                </a:solidFill>
                <a:latin typeface="Arial"/>
              </a:rPr>
              <a:t>0.249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6379408" y="23702129"/>
            <a:ext cx="6853074" cy="941679"/>
          </a:xfrm>
          <a:prstGeom prst="rect">
            <a:avLst/>
          </a:prstGeom>
          <a:noFill/>
        </p:spPr>
        <p:txBody>
          <a:bodyPr wrap="square" lIns="71120" rIns="71120" tIns="53340" bIns="53340">
            <a:spAutoFit/>
          </a:bodyPr>
          <a:lstStyle/>
          <a:p>
            <a:pPr algn="l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4B2E83"/>
                </a:solidFill>
                <a:latin typeface="Arial"/>
              </a:rPr>
              <a:t>CFRF + LSTM (ours)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3032878" y="23702129"/>
            <a:ext cx="2694502" cy="941679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4B2E83"/>
                </a:solidFill>
                <a:latin typeface="Arial"/>
              </a:rPr>
              <a:t>0.33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35648900" y="23702129"/>
            <a:ext cx="3384258" cy="941679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4B2E83"/>
                </a:solidFill>
                <a:latin typeface="Arial"/>
              </a:rPr>
              <a:t>0.325</a:t>
            </a:r>
          </a:p>
        </p:txBody>
      </p:sp>
      <p:pic>
        <p:nvPicPr>
          <p:cNvPr id="139" name="Picture 138" descr="eq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875928" y="9000291"/>
            <a:ext cx="7676654" cy="8001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
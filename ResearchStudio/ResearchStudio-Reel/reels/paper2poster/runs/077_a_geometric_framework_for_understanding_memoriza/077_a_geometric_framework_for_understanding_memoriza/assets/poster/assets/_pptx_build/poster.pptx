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90750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35560">
            <a:solidFill>
              <a:srgbClr val="2D5F3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535066" y="1983164"/>
            <a:ext cx="7095609" cy="222819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887" y="6064091"/>
            <a:ext cx="16349682" cy="8185328"/>
          </a:xfrm>
          <a:prstGeom prst="roundRect">
            <a:avLst>
              <a:gd name="adj" fmla="val 2027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28289" y="6064091"/>
            <a:ext cx="16349682" cy="24007861"/>
          </a:xfrm>
          <a:prstGeom prst="roundRect">
            <a:avLst>
              <a:gd name="adj" fmla="val 1014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04691" y="6064091"/>
            <a:ext cx="16349821" cy="10738147"/>
          </a:xfrm>
          <a:prstGeom prst="roundRect">
            <a:avLst>
              <a:gd name="adj" fmla="val 1545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4581266"/>
            <a:ext cx="16349682" cy="15490686"/>
          </a:xfrm>
          <a:prstGeom prst="roundRect">
            <a:avLst>
              <a:gd name="adj" fmla="val 1071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17134085"/>
            <a:ext cx="16349821" cy="5071468"/>
          </a:xfrm>
          <a:prstGeom prst="roundRect">
            <a:avLst>
              <a:gd name="adj" fmla="val 3272"/>
            </a:avLst>
          </a:prstGeom>
          <a:solidFill>
            <a:srgbClr val="FAFAF7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04691" y="22537400"/>
            <a:ext cx="16349821" cy="7534552"/>
          </a:xfrm>
          <a:prstGeom prst="roundRect">
            <a:avLst>
              <a:gd name="adj" fmla="val 2202"/>
            </a:avLst>
          </a:prstGeom>
          <a:solidFill>
            <a:srgbClr val="ECF3EE"/>
          </a:solidFill>
          <a:ln w="8890">
            <a:solidFill>
              <a:srgbClr val="D8D8D4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04691" y="22537400"/>
            <a:ext cx="53340" cy="7534552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ayer-6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420" y="1492562"/>
            <a:ext cx="10177939" cy="3209260"/>
          </a:xfrm>
          <a:prstGeom prst="rect">
            <a:avLst/>
          </a:prstGeom>
        </p:spPr>
      </p:pic>
      <p:pic>
        <p:nvPicPr>
          <p:cNvPr id="12" name="Picture 11" descr="_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9546" y="2149037"/>
            <a:ext cx="6526649" cy="189644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0777" y="6072981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437179" y="6072981"/>
            <a:ext cx="16331902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13581" y="6072981"/>
            <a:ext cx="16332041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2380297"/>
            <a:ext cx="1557347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9991" y="12380297"/>
            <a:ext cx="124460" cy="1481018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777" y="14590156"/>
            <a:ext cx="16331902" cy="1180426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14790459"/>
            <a:ext cx="1557361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592795" y="14790459"/>
            <a:ext cx="15573613" cy="11557"/>
          </a:xfrm>
          <a:prstGeom prst="rect">
            <a:avLst/>
          </a:prstGeom>
          <a:solidFill>
            <a:srgbClr val="B6C7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816393" y="16885860"/>
            <a:ext cx="15573474" cy="2985512"/>
          </a:xfrm>
          <a:prstGeom prst="roundRect">
            <a:avLst>
              <a:gd name="adj" fmla="val 7546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213581" y="17142975"/>
            <a:ext cx="16332041" cy="1180426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592795" y="18643441"/>
            <a:ext cx="15573613" cy="3253462"/>
          </a:xfrm>
          <a:prstGeom prst="roundRect">
            <a:avLst>
              <a:gd name="adj" fmla="val 2185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258031" y="22546290"/>
            <a:ext cx="16287591" cy="1180425"/>
          </a:xfrm>
          <a:prstGeom prst="roundRect">
            <a:avLst>
              <a:gd name="adj" fmla="val 14058"/>
            </a:avLst>
          </a:prstGeom>
          <a:solidFill>
            <a:srgbClr val="2D5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592795" y="10228917"/>
            <a:ext cx="15573613" cy="3010237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g6_density_histogra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2826" y="10228917"/>
            <a:ext cx="15573552" cy="301023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4856022" y="18770818"/>
            <a:ext cx="5064522" cy="30224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56022" y="18770818"/>
            <a:ext cx="11557" cy="3022461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7816393" y="20676334"/>
            <a:ext cx="15573474" cy="7635954"/>
          </a:xfrm>
          <a:prstGeom prst="roundRect">
            <a:avLst>
              <a:gd name="adj" fmla="val 124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1_lid_illust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6466" y="20676334"/>
            <a:ext cx="15573328" cy="763595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039991" y="21256823"/>
            <a:ext cx="7369671" cy="3348752"/>
          </a:xfrm>
          <a:prstGeom prst="roundRect">
            <a:avLst>
              <a:gd name="adj" fmla="val 6229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43655" y="21256823"/>
            <a:ext cx="7369810" cy="3348752"/>
          </a:xfrm>
          <a:prstGeom prst="roundRect">
            <a:avLst>
              <a:gd name="adj" fmla="val 6229"/>
            </a:avLst>
          </a:prstGeom>
          <a:solidFill>
            <a:srgbClr val="F2F5F3"/>
          </a:solidFill>
          <a:ln w="8890">
            <a:solidFill>
              <a:srgbClr val="2D5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9991" y="24737536"/>
            <a:ext cx="3320554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2D von Mises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6953" y="24737536"/>
            <a:ext cx="2310428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CIFAR10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83789" y="24737536"/>
            <a:ext cx="4847134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Stable Diffusion v1.5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987331" y="24737536"/>
            <a:ext cx="2580739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LAION-2B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74439" y="25950048"/>
            <a:ext cx="15504577" cy="1898432"/>
          </a:xfrm>
          <a:prstGeom prst="roundRect">
            <a:avLst>
              <a:gd name="adj" fmla="val 499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2_sd_manifold_w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798" y="25950048"/>
            <a:ext cx="15503859" cy="1898432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4592795" y="9126279"/>
            <a:ext cx="15573613" cy="893445"/>
          </a:xfrm>
          <a:prstGeom prst="rect">
            <a:avLst/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592795" y="7699990"/>
            <a:ext cx="7439680" cy="60979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592795" y="8300898"/>
            <a:ext cx="743968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032475" y="7699990"/>
            <a:ext cx="3588365" cy="60979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32475" y="8300898"/>
            <a:ext cx="358836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620840" y="7699990"/>
            <a:ext cx="4545568" cy="609798"/>
          </a:xfrm>
          <a:prstGeom prst="rect">
            <a:avLst/>
          </a:prstGeom>
          <a:solidFill>
            <a:srgbClr val="F3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620840" y="8300898"/>
            <a:ext cx="454556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592795" y="8309788"/>
            <a:ext cx="7439680" cy="816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592795" y="9117389"/>
            <a:ext cx="743968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32475" y="8309788"/>
            <a:ext cx="3588365" cy="816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32475" y="9117389"/>
            <a:ext cx="358836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620840" y="8309788"/>
            <a:ext cx="4545568" cy="8164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620840" y="9117389"/>
            <a:ext cx="454556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4592795" y="9126279"/>
            <a:ext cx="7439680" cy="8934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4592795" y="10010834"/>
            <a:ext cx="7439680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32475" y="9126279"/>
            <a:ext cx="3588365" cy="8934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032475" y="10010834"/>
            <a:ext cx="3588365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620840" y="9126279"/>
            <a:ext cx="4545568" cy="8934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620840" y="10010834"/>
            <a:ext cx="4545568" cy="11557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83493" y="22208470"/>
            <a:ext cx="6523720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Needs the full training set + huge sample counts — intractable at LAION scale.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87157" y="22208470"/>
            <a:ext cx="6001215" cy="2403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One measurable quantity (LID) with estimators that scale to Stable Diffusion.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464460" y="1019294"/>
            <a:ext cx="24704060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2D5F3E"/>
                </a:solidFill>
                <a:latin typeface="Arial"/>
              </a:rPr>
              <a:t>A Geometric Framework for Understanding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2D5F3E"/>
                </a:solidFill>
                <a:latin typeface="Arial"/>
              </a:rPr>
              <a:t>Memorization in Generative Models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464460" y="3408620"/>
            <a:ext cx="24704060" cy="1417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Brendan Leigh Ross, Hamidreza Kamkari, Tongzi Wu, Rasa Hosseinzadeh, Zhaoyan Liu, George Stein, Jesse C. Cresswell, Gabriel Loaiza-Ganem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464460" y="4694058"/>
            <a:ext cx="24704060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5555"/>
                </a:solidFill>
                <a:latin typeface="Arial"/>
              </a:rPr>
              <a:t>1</a:t>
            </a:r>
            <a:r>
              <a:rPr sz="2613" b="0" spc="52">
                <a:solidFill>
                  <a:srgbClr val="555555"/>
                </a:solidFill>
                <a:latin typeface="Arial"/>
              </a:rPr>
              <a:t> Layer 6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777" y="6072981"/>
            <a:ext cx="16758622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437179" y="6072981"/>
            <a:ext cx="16758622" cy="1357488"/>
          </a:xfrm>
          <a:prstGeom prst="rect">
            <a:avLst/>
          </a:prstGeom>
          <a:noFill/>
        </p:spPr>
        <p:txBody>
          <a:bodyPr wrap="non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13581" y="6072981"/>
            <a:ext cx="1675876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7577891"/>
            <a:ext cx="16000194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Deep generative models — diffusion models especially — </a:t>
            </a:r>
            <a:r>
              <a:rPr sz="4106" b="1">
                <a:solidFill>
                  <a:srgbClr val="111111"/>
                </a:solidFill>
                <a:latin typeface="Arial"/>
              </a:rPr>
              <a:t>memorize and reproduce training datapoints</a:t>
            </a:r>
            <a:r>
              <a:rPr sz="4106" b="0">
                <a:solidFill>
                  <a:srgbClr val="1C1C1C"/>
                </a:solidFill>
                <a:latin typeface="Arial"/>
              </a:rPr>
              <a:t>, a real privacy and copyright risk. The field has </a:t>
            </a:r>
            <a:r>
              <a:rPr sz="4106" b="1">
                <a:solidFill>
                  <a:srgbClr val="111111"/>
                </a:solidFill>
                <a:latin typeface="Arial"/>
              </a:rPr>
              <a:t>no unified, formal language</a:t>
            </a:r>
            <a:r>
              <a:rPr sz="4106" b="0">
                <a:solidFill>
                  <a:srgbClr val="1C1C1C"/>
                </a:solidFill>
                <a:latin typeface="Arial"/>
              </a:rPr>
              <a:t>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how memorized</a:t>
            </a:r>
            <a:r>
              <a:rPr sz="4106" b="0">
                <a:solidFill>
                  <a:srgbClr val="1C1C1C"/>
                </a:solidFill>
                <a:latin typeface="Arial"/>
              </a:rPr>
              <a:t> a sample is: prior pixel-distance definitions miss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reconstructive memorization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 (copied layout / style) and don't scale to LAION-2B.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991" y="12380297"/>
            <a:ext cx="16000194" cy="1703170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Goal: one formal, geometric standard for “how memorized” a datapoint is — computable up to Stable Diffusion.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777" y="14590156"/>
            <a:ext cx="16758622" cy="1357489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592795" y="14790459"/>
            <a:ext cx="1600033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LID tracks memorization from 2D data up to Stable Diffusion — confirming the MMH.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4213581" y="17142975"/>
            <a:ext cx="16758761" cy="1357489"/>
          </a:xfrm>
          <a:prstGeom prst="rect">
            <a:avLst/>
          </a:prstGeom>
          <a:noFill/>
        </p:spPr>
        <p:txBody>
          <a:bodyPr wrap="square" lIns="379306" rIns="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439249" y="19013348"/>
            <a:ext cx="14754344" cy="838167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OD-Mem: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(overfitting) · DD-Mem: LID low even when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(data-driven). Conditioning can only lower LID, so specific prompts drive memorization.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258031" y="22546290"/>
            <a:ext cx="16714311" cy="1357488"/>
          </a:xfrm>
          <a:prstGeom prst="rect">
            <a:avLst/>
          </a:prstGeom>
          <a:noFill/>
        </p:spPr>
        <p:txBody>
          <a:bodyPr wrap="square" lIns="379306" rIns="3911600" tIns="199136" bIns="19913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37245" y="24277617"/>
            <a:ext cx="15955883" cy="60609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817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Memorization is geometric:</a:t>
            </a:r>
            <a:r>
              <a:rPr sz="4106" b="0">
                <a:solidFill>
                  <a:srgbClr val="1C1C1C"/>
                </a:solidFill>
                <a:latin typeface="Arial"/>
              </a:rPr>
              <a:t> when a model's local intrinsic dimension collapses too low, that point is memorized — from overfitting (OD-Mem) or intrinsically simple data (DD-Mem). Because LID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 is estimable at scale, one quantity both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detects</a:t>
            </a:r>
            <a:r>
              <a:rPr sz="4106" b="0">
                <a:solidFill>
                  <a:srgbClr val="1C1C1C"/>
                </a:solidFill>
                <a:latin typeface="Arial"/>
              </a:rPr>
              <a:t> memorized images (even caption-free) and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mitigates</a:t>
            </a:r>
            <a:r>
              <a:rPr sz="4106" b="0">
                <a:solidFill>
                  <a:srgbClr val="1C1C1C"/>
                </a:solidFill>
                <a:latin typeface="Arial"/>
              </a:rPr>
              <a:t> it at sample time by steering toward higher-LID regions.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816375" y="7976969"/>
            <a:ext cx="1600021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Local intrinsic dimension</a:t>
            </a:r>
            <a:r>
              <a:rPr sz="4106" b="0">
                <a:solidFill>
                  <a:srgbClr val="1C1C1C"/>
                </a:solidFill>
                <a:latin typeface="Arial"/>
              </a:rPr>
              <a:t> LID(x) counts a manifold's degrees of freedom: with ℓ active constraints, LID(x)=d−ℓ. A perfectly copied training image sits on a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0-dimensional</a:t>
            </a:r>
            <a:r>
              <a:rPr sz="4106" b="0">
                <a:solidFill>
                  <a:srgbClr val="1C1C1C"/>
                </a:solidFill>
                <a:latin typeface="Arial"/>
              </a:rPr>
              <a:t> point mass.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816375" y="10428108"/>
            <a:ext cx="16000212" cy="35763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Manifold Memorization Hypothesis (MMH)</a:t>
            </a:r>
            <a:r>
              <a:rPr sz="4106" b="0">
                <a:solidFill>
                  <a:srgbClr val="1C1C1C"/>
                </a:solidFill>
                <a:latin typeface="Arial"/>
              </a:rPr>
              <a:t> compares the model's LID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(x) to the ground-truth LID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*</a:t>
            </a:r>
            <a:r>
              <a:rPr sz="4106" b="0">
                <a:solidFill>
                  <a:srgbClr val="1C1C1C"/>
                </a:solidFill>
                <a:latin typeface="Arial"/>
              </a:rPr>
              <a:t>(x): </a:t>
            </a:r>
            <a:r>
              <a:rPr sz="4106" b="1">
                <a:solidFill>
                  <a:srgbClr val="111111"/>
                </a:solidFill>
                <a:latin typeface="Arial"/>
              </a:rPr>
              <a:t>OD-Mem</a:t>
            </a:r>
            <a:r>
              <a:rPr sz="4106" b="0">
                <a:solidFill>
                  <a:srgbClr val="1C1C1C"/>
                </a:solidFill>
                <a:latin typeface="Arial"/>
              </a:rPr>
              <a:t> = model over-constrained (a generalization failure); </a:t>
            </a:r>
            <a:r>
              <a:rPr sz="4106" b="1">
                <a:solidFill>
                  <a:srgbClr val="111111"/>
                </a:solidFill>
                <a:latin typeface="Arial"/>
              </a:rPr>
              <a:t>DD-Mem</a:t>
            </a:r>
            <a:r>
              <a:rPr sz="4106" b="0">
                <a:solidFill>
                  <a:srgbClr val="1C1C1C"/>
                </a:solidFill>
                <a:latin typeface="Arial"/>
              </a:rPr>
              <a:t> = dimension intrinsically low even when the fit is correct.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215790" y="13388756"/>
            <a:ext cx="14754344" cy="14459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Memorized LAION (green) separates on every metric: low LID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θ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/ conditional LID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θ</a:t>
            </a:r>
            <a:r>
              <a:rPr sz="3367" b="0" i="1">
                <a:solidFill>
                  <a:srgbClr val="555555"/>
                </a:solidFill>
                <a:latin typeface="Arial"/>
              </a:rPr>
              <a:t>, high CFG-norm tail vs. COCO / LAION-Aesthetics / Tuxemon.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816375" y="13720464"/>
            <a:ext cx="16000212" cy="28044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Three tractable proxies estimate LID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 at scale —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unconditional (FLIPD)</a:t>
            </a:r>
            <a:r>
              <a:rPr sz="4106" b="0">
                <a:solidFill>
                  <a:srgbClr val="1C1C1C"/>
                </a:solidFill>
                <a:latin typeface="Arial"/>
              </a:rPr>
              <a:t>, conditional LID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θ</a:t>
            </a:r>
            <a:r>
              <a:rPr sz="4106" b="0">
                <a:solidFill>
                  <a:srgbClr val="1C1C1C"/>
                </a:solidFill>
                <a:latin typeface="Arial"/>
              </a:rPr>
              <a:t>(·|c), and the CFG vector norm.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9972" y="16222583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manifold hypothesis</a:t>
            </a:r>
            <a:r>
              <a:rPr sz="4106" b="0">
                <a:solidFill>
                  <a:srgbClr val="1C1C1C"/>
                </a:solidFill>
                <a:latin typeface="Arial"/>
              </a:rPr>
              <a:t> — realistic data lives on a low-dimensional manifold — is the right lens: it ties memorization to a single geometric quantity,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local intrinsic dimension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72" y="18673722"/>
            <a:ext cx="16000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It unifies scattered empirical memorization phenomena — duplication, low complexity, specific conditioning — under one framework.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39956" y="21256823"/>
            <a:ext cx="590607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2D5F3E"/>
                </a:solidFill>
                <a:latin typeface="Arial"/>
              </a:rPr>
              <a:t>→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4656" y="27998082"/>
            <a:ext cx="14690864" cy="19178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Eight images along a low-dimensional manifold learned by Stable Diffusion v1.5 — the first is a real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memorized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LAION image, the rest are generated near-duplicates.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439387" y="28461890"/>
            <a:ext cx="14754206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LID and memorization: (a,d) 0-dim point masses = memorization — (a) overfitting-driven, (d) data-driven; only (c), a 2-dim manifold, generalizes.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838659" y="19350474"/>
            <a:ext cx="9726991" cy="1139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802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164">
                <a:solidFill>
                  <a:srgbClr val="2D5F3E"/>
                </a:solidFill>
                <a:latin typeface="Arial"/>
              </a:rPr>
              <a:t>86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838659" y="20361433"/>
            <a:ext cx="9726991" cy="5097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90"/>
              </a:lnSpc>
              <a:spcBef>
                <a:spcPts val="0"/>
              </a:spcBef>
              <a:spcAft>
                <a:spcPts val="0"/>
              </a:spcAft>
            </a:pPr>
            <a:r>
              <a:rPr sz="3173" b="1">
                <a:solidFill>
                  <a:srgbClr val="1C1C1C"/>
                </a:solidFill>
                <a:latin typeface="Arial"/>
              </a:rPr>
              <a:t>verbatim-memorized LAION-2B images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838659" y="20804683"/>
            <a:ext cx="972699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flagged by low LIDθ, caption-free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83493" y="21474211"/>
            <a:ext cx="708914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PROBABILISTIC VIEW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87157" y="21474211"/>
            <a:ext cx="7089289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GEOMETRIC VIEW (OURS)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4592795" y="7699990"/>
            <a:ext cx="7662870" cy="701267"/>
          </a:xfrm>
          <a:prstGeom prst="rect">
            <a:avLst/>
          </a:prstGeom>
          <a:noFill/>
        </p:spPr>
        <p:txBody>
          <a:bodyPr wrap="square" lIns="185800" rIns="185800" tIns="33444" bIns="33444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MEMORIZATION DETECTOR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032475" y="7699990"/>
            <a:ext cx="3696015" cy="701267"/>
          </a:xfrm>
          <a:prstGeom prst="rect">
            <a:avLst/>
          </a:prstGeom>
          <a:noFill/>
        </p:spPr>
        <p:txBody>
          <a:bodyPr wrap="square" lIns="185800" rIns="185800" tIns="33444" bIns="33444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CAPTION-FREE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620840" y="7699990"/>
            <a:ext cx="4681935" cy="701267"/>
          </a:xfrm>
          <a:prstGeom prst="rect">
            <a:avLst/>
          </a:prstGeom>
          <a:noFill/>
        </p:spPr>
        <p:txBody>
          <a:bodyPr wrap="square" lIns="185800" rIns="185800" tIns="33444" bIns="33444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FLAGS MEMORIZED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592795" y="8309788"/>
            <a:ext cx="7662870" cy="938964"/>
          </a:xfrm>
          <a:prstGeom prst="rect">
            <a:avLst/>
          </a:prstGeom>
          <a:noFill/>
        </p:spPr>
        <p:txBody>
          <a:bodyPr wrap="squar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CFG vector norm </a:t>
            </a:r>
            <a:r>
              <a:rPr sz="3901" b="0">
                <a:solidFill>
                  <a:srgbClr val="555555"/>
                </a:solidFill>
                <a:latin typeface="Arial"/>
              </a:rPr>
              <a:t>(Wen 2023)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032475" y="8309788"/>
            <a:ext cx="3696015" cy="938964"/>
          </a:xfrm>
          <a:prstGeom prst="rect">
            <a:avLst/>
          </a:prstGeom>
          <a:noFill/>
        </p:spPr>
        <p:txBody>
          <a:bodyPr wrap="non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✗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620840" y="8309788"/>
            <a:ext cx="4681935" cy="938964"/>
          </a:xfrm>
          <a:prstGeom prst="rect">
            <a:avLst/>
          </a:prstGeom>
          <a:noFill/>
        </p:spPr>
        <p:txBody>
          <a:bodyPr wrap="non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9126279"/>
            <a:ext cx="7662870" cy="1027461"/>
          </a:xfrm>
          <a:prstGeom prst="rect">
            <a:avLst/>
          </a:prstGeom>
          <a:noFill/>
        </p:spPr>
        <p:txBody>
          <a:bodyPr wrap="squar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11111"/>
                </a:solidFill>
                <a:latin typeface="Arial"/>
              </a:rPr>
              <a:t>Unconditional LID</a:t>
            </a:r>
            <a:r>
              <a:rPr sz="5461" b="1" baseline="-25000">
                <a:solidFill>
                  <a:srgbClr val="111111"/>
                </a:solidFill>
                <a:latin typeface="Arial"/>
              </a:rPr>
              <a:t>θ</a:t>
            </a:r>
            <a:r>
              <a:rPr sz="3901" b="1">
                <a:solidFill>
                  <a:srgbClr val="111111"/>
                </a:solidFill>
                <a:latin typeface="Arial"/>
              </a:rPr>
              <a:t> (ours)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32475" y="9126279"/>
            <a:ext cx="3696015" cy="1027461"/>
          </a:xfrm>
          <a:prstGeom prst="rect">
            <a:avLst/>
          </a:prstGeom>
          <a:noFill/>
        </p:spPr>
        <p:txBody>
          <a:bodyPr wrap="non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620840" y="9126279"/>
            <a:ext cx="4681935" cy="1027461"/>
          </a:xfrm>
          <a:prstGeom prst="rect">
            <a:avLst/>
          </a:prstGeom>
          <a:noFill/>
        </p:spPr>
        <p:txBody>
          <a:bodyPr wrap="none" lIns="247734" rIns="247734" tIns="44592" bIns="4459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334277" y="18770818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814615" y="18904168"/>
            <a:ext cx="205625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LIDθ proxies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334277" y="19591615"/>
            <a:ext cx="137722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4,251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853911" y="19724965"/>
            <a:ext cx="303301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non-mem. controls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334277" y="20412412"/>
            <a:ext cx="203149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2D→SD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489129" y="20545762"/>
            <a:ext cx="250435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validation scale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334277" y="21233209"/>
            <a:ext cx="92010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1–8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410106" y="21366559"/>
            <a:ext cx="283027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tokens rephrased</a:t>
            </a:r>
          </a:p>
        </p:txBody>
      </p:sp>
      <p:pic>
        <p:nvPicPr>
          <p:cNvPr id="105" name="Picture 104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9499" y="17525523"/>
            <a:ext cx="14767262" cy="862330"/>
          </a:xfrm>
          <a:prstGeom prst="rect">
            <a:avLst/>
          </a:prstGeom>
        </p:spPr>
      </p:pic>
      <p:pic>
        <p:nvPicPr>
          <p:cNvPr id="106" name="Picture 105" descr="eq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66763" y="18951118"/>
            <a:ext cx="2852162" cy="400050"/>
          </a:xfrm>
          <a:prstGeom prst="rect">
            <a:avLst/>
          </a:prstGeom>
        </p:spPr>
      </p:pic>
      <p:pic>
        <p:nvPicPr>
          <p:cNvPr id="107" name="Picture 106" descr="eq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40676" y="18951118"/>
            <a:ext cx="1927602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
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684613"/>
          </a:xfrm>
          <a:prstGeom prst="roundRect">
            <a:avLst>
              <a:gd name="adj" fmla="val 3036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857954"/>
            <a:ext cx="16349682" cy="7474267"/>
          </a:xfrm>
          <a:prstGeom prst="roundRect">
            <a:avLst>
              <a:gd name="adj" fmla="val 111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857954"/>
            <a:ext cx="16349682" cy="15919212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857954"/>
            <a:ext cx="16349821" cy="6935450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13125251"/>
            <a:ext cx="16349821" cy="6635135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3664068"/>
            <a:ext cx="16349682" cy="16407884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0092233"/>
            <a:ext cx="16349821" cy="509216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28289" y="22109013"/>
            <a:ext cx="16349682" cy="7962939"/>
          </a:xfrm>
          <a:prstGeom prst="roundRect">
            <a:avLst>
              <a:gd name="adj" fmla="val 104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04691" y="25516244"/>
            <a:ext cx="16349821" cy="4555708"/>
          </a:xfrm>
          <a:prstGeom prst="roundRect">
            <a:avLst>
              <a:gd name="adj" fmla="val 1821"/>
            </a:avLst>
          </a:prstGeom>
          <a:solidFill>
            <a:srgbClr val="E9F2F3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25516244"/>
            <a:ext cx="53340" cy="4555708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key-laboratory-of-intelligent-information-processing-institute-of-computing-technology-chinese-academy-of-sci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716" y="1355496"/>
            <a:ext cx="1733272" cy="1555651"/>
          </a:xfrm>
          <a:prstGeom prst="rect">
            <a:avLst/>
          </a:prstGeom>
        </p:spPr>
      </p:pic>
      <p:pic>
        <p:nvPicPr>
          <p:cNvPr id="13" name="Picture 12" descr="university-of-chinese-academy-of-sci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62" y="1355448"/>
            <a:ext cx="7416621" cy="1555747"/>
          </a:xfrm>
          <a:prstGeom prst="rect">
            <a:avLst/>
          </a:prstGeom>
        </p:spPr>
      </p:pic>
      <p:pic>
        <p:nvPicPr>
          <p:cNvPr id="14" name="Picture 13" descr="peng-cheng-labora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0557" y="1355447"/>
            <a:ext cx="1555750" cy="1555750"/>
          </a:xfrm>
          <a:prstGeom prst="rect">
            <a:avLst/>
          </a:prstGeom>
        </p:spPr>
      </p:pic>
      <p:pic>
        <p:nvPicPr>
          <p:cNvPr id="15" name="Picture 14" descr="_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9467" y="2045962"/>
            <a:ext cx="5620425" cy="1896462"/>
          </a:xfrm>
          <a:prstGeom prst="rect">
            <a:avLst/>
          </a:prstGeom>
        </p:spPr>
      </p:pic>
      <p:pic>
        <p:nvPicPr>
          <p:cNvPr id="16" name="Picture 15" descr="beijing-key-laboratory-of-intelligent-telecommunication-software-and-multimedia-school-of-computer-science-beijing-university-of-posts-and-telecommunic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706" y="3077051"/>
            <a:ext cx="1555750" cy="15557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39991" y="6246058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816393" y="6246058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592795" y="6246058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0785097"/>
            <a:ext cx="1557347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0785097"/>
            <a:ext cx="124460" cy="215902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816393" y="13295689"/>
            <a:ext cx="15573474" cy="3347918"/>
          </a:xfrm>
          <a:prstGeom prst="roundRect">
            <a:avLst>
              <a:gd name="adj" fmla="val 6729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592795" y="13513355"/>
            <a:ext cx="6841828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9991" y="14052172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592795" y="14757955"/>
            <a:ext cx="15573613" cy="3223736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991" y="18835548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592795" y="20480337"/>
            <a:ext cx="5615008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7816393" y="22497117"/>
            <a:ext cx="7633315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637245" y="25904348"/>
            <a:ext cx="3905350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637245" y="27148948"/>
            <a:ext cx="15529163" cy="990819"/>
          </a:xfrm>
          <a:prstGeom prst="roundRect">
            <a:avLst>
              <a:gd name="adj" fmla="val 21055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518202" y="14980205"/>
            <a:ext cx="5402342" cy="28267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518202" y="14980205"/>
            <a:ext cx="11557" cy="2826742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127682" y="17047964"/>
            <a:ext cx="14950757" cy="3617535"/>
          </a:xfrm>
          <a:prstGeom prst="roundRect">
            <a:avLst>
              <a:gd name="adj" fmla="val 98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age3_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27865" y="17047964"/>
            <a:ext cx="14950392" cy="361753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49020" y="20909974"/>
            <a:ext cx="15555416" cy="7494409"/>
          </a:xfrm>
          <a:prstGeom prst="roundRect">
            <a:avLst>
              <a:gd name="adj" fmla="val 47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age8_figure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066" y="20909974"/>
            <a:ext cx="15555324" cy="7494409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7816393" y="27887791"/>
            <a:ext cx="2079704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MUTAG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052506" y="27887791"/>
            <a:ext cx="2753399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PROTEINS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962314" y="27887791"/>
            <a:ext cx="1497548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NCI1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16271" y="27887791"/>
            <a:ext cx="2334180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COLLAB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106860" y="27887791"/>
            <a:ext cx="2087900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IMDB-B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351168" y="27887791"/>
            <a:ext cx="2137073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IMDB-M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816393" y="28864024"/>
            <a:ext cx="2876748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Chameleon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849550" y="28864024"/>
            <a:ext cx="2162631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Squirrel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168590" y="28864024"/>
            <a:ext cx="2014557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Cornell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339555" y="28864024"/>
            <a:ext cx="171160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Texas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207567" y="28864024"/>
            <a:ext cx="2700198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Wisconsin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064174" y="28864024"/>
            <a:ext cx="164506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Actor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592795" y="8197135"/>
            <a:ext cx="15573613" cy="945118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592795" y="7490658"/>
            <a:ext cx="6596797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592795" y="8188245"/>
            <a:ext cx="659679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89592" y="7490658"/>
            <a:ext cx="4151908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89592" y="8188245"/>
            <a:ext cx="4151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341500" y="7490658"/>
            <a:ext cx="4824908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341500" y="8188245"/>
            <a:ext cx="4824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592795" y="8197135"/>
            <a:ext cx="659679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592795" y="9133363"/>
            <a:ext cx="659679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89592" y="8197135"/>
            <a:ext cx="415190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189592" y="9133363"/>
            <a:ext cx="4151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341500" y="8197135"/>
            <a:ext cx="482490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341500" y="9133363"/>
            <a:ext cx="4824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592795" y="9142253"/>
            <a:ext cx="659679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592795" y="10078481"/>
            <a:ext cx="659679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189592" y="9142253"/>
            <a:ext cx="415190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189592" y="10078481"/>
            <a:ext cx="4151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341500" y="9142253"/>
            <a:ext cx="482490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341500" y="10078481"/>
            <a:ext cx="4824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592795" y="10087371"/>
            <a:ext cx="6596797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592795" y="11023600"/>
            <a:ext cx="659679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89592" y="10087371"/>
            <a:ext cx="415190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189592" y="11023600"/>
            <a:ext cx="4151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341500" y="10087371"/>
            <a:ext cx="482490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341500" y="11023600"/>
            <a:ext cx="482490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593"/>
              </a:lnSpc>
              <a:spcBef>
                <a:spcPts val="0"/>
              </a:spcBef>
              <a:spcAft>
                <a:spcPts val="0"/>
              </a:spcAft>
            </a:pPr>
            <a:r>
              <a:rPr sz="6903" b="1" spc="-78">
                <a:solidFill>
                  <a:srgbClr val="0F6070"/>
                </a:solidFill>
                <a:latin typeface="Arial"/>
              </a:rPr>
              <a:t>All in a Row: Compressed Convolution Networks for</a:t>
            </a:r>
          </a:p>
          <a:p>
            <a:pPr algn="ctr">
              <a:lnSpc>
                <a:spcPts val="7593"/>
              </a:lnSpc>
              <a:spcBef>
                <a:spcPts val="0"/>
              </a:spcBef>
              <a:spcAft>
                <a:spcPts val="0"/>
              </a:spcAft>
            </a:pPr>
            <a:r>
              <a:rPr sz="6903" b="1" spc="-78">
                <a:solidFill>
                  <a:srgbClr val="0F6070"/>
                </a:solidFill>
                <a:latin typeface="Arial"/>
              </a:rPr>
              <a:t>Graphs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Junshu Sun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733" b="0">
                <a:solidFill>
                  <a:srgbClr val="1B2331"/>
                </a:solidFill>
                <a:latin typeface="Arial"/>
              </a:rPr>
              <a:t>, Shuhui Wang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1,3†</a:t>
            </a:r>
            <a:r>
              <a:rPr sz="3733" b="0">
                <a:solidFill>
                  <a:srgbClr val="1B2331"/>
                </a:solidFill>
                <a:latin typeface="Arial"/>
              </a:rPr>
              <a:t>, Xinzhe Han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733" b="0">
                <a:solidFill>
                  <a:srgbClr val="1B2331"/>
                </a:solidFill>
                <a:latin typeface="Arial"/>
              </a:rPr>
              <a:t>, Zhe Xue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3733" b="0">
                <a:solidFill>
                  <a:srgbClr val="1B2331"/>
                </a:solidFill>
                <a:latin typeface="Arial"/>
              </a:rPr>
              <a:t>, Qingming Huang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1,2,3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446402" y="4042310"/>
            <a:ext cx="24740176" cy="110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Key Lab of Intelligent Information Processing, ICT, CAS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UCAS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Peng Cheng Laboratory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Beijing Key Lab of Intelligent Telecom Software &amp;</a:t>
            </a:r>
          </a:p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Arial"/>
              </a:rPr>
              <a:t>Multimedia, BUPT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91" y="6246058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16393" y="6246058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92795" y="6246058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991" y="7495103"/>
            <a:ext cx="160001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Convolutional GNNs built on graph polynomials are </a:t>
            </a:r>
            <a:r>
              <a:rPr sz="4106" b="1">
                <a:solidFill>
                  <a:srgbClr val="111111"/>
                </a:solidFill>
                <a:latin typeface="Arial"/>
              </a:rPr>
              <a:t>weakly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expressive</a:t>
            </a:r>
            <a:r>
              <a:rPr sz="4106" b="0">
                <a:solidFill>
                  <a:srgbClr val="1C1C1C"/>
                </a:solidFill>
                <a:latin typeface="Arial"/>
              </a:rPr>
              <a:t> under a small parameter budget, and cannot learn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hierarchical representations</a:t>
            </a:r>
            <a:r>
              <a:rPr sz="4106" b="0">
                <a:solidFill>
                  <a:srgbClr val="1C1C1C"/>
                </a:solidFill>
                <a:latin typeface="Arial"/>
              </a:rPr>
              <a:t> on their own: they need bolt-on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node clustering or node-drop pooling.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91" y="10785097"/>
            <a:ext cx="16000194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Euclidean CNNs escape both limits through local feature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learning and global parameter sharing, but their convolution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cannot run on irregular, non-grid graphs.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92795" y="11276826"/>
            <a:ext cx="16000333" cy="1544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3778" b="1" i="1">
                <a:solidFill>
                  <a:srgbClr val="111111"/>
                </a:solidFill>
                <a:latin typeface="Arial"/>
              </a:rPr>
              <a:t>+11.1 pts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on Squirrel over LINKX, best average rank 1.83, and wins on</a:t>
            </a:r>
          </a:p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3778" b="0" i="1">
                <a:solidFill>
                  <a:srgbClr val="1C1C1C"/>
                </a:solidFill>
                <a:latin typeface="Arial"/>
              </a:rPr>
              <a:t>five of six graph datasets.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592795" y="13513355"/>
            <a:ext cx="7047082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14052172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94137" y="16203275"/>
            <a:ext cx="7434382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One kernel reads structure Â and features X̂ along the diagonal.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592795" y="18221582"/>
            <a:ext cx="16000333" cy="15447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3778" b="0" i="1">
                <a:solidFill>
                  <a:srgbClr val="1C1C1C"/>
                </a:solidFill>
                <a:latin typeface="Arial"/>
              </a:rPr>
              <a:t>On Squirrel, CoCN gains +11.1 points over LINKX, the strongest prior</a:t>
            </a:r>
          </a:p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3778" b="0" i="1">
                <a:solidFill>
                  <a:srgbClr val="1C1C1C"/>
                </a:solidFill>
                <a:latin typeface="Arial"/>
              </a:rPr>
              <a:t>baseline model.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9991" y="18835548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Prior orderings are chosen independent of the task; CoCN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learns the permutation end-to-end, differentiable and invariant.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92795" y="20480337"/>
            <a:ext cx="578345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 Study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816393" y="22497117"/>
            <a:ext cx="786231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637245" y="25904348"/>
            <a:ext cx="402251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637245" y="27148948"/>
            <a:ext cx="15955883" cy="1139441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Graphs, all in a row, can be convolved just like images.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637245" y="28379658"/>
            <a:ext cx="15955883" cy="1544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3778" b="0" i="1">
                <a:solidFill>
                  <a:srgbClr val="1C1C1C"/>
                </a:solidFill>
                <a:latin typeface="Arial"/>
              </a:rPr>
              <a:t>One differentiable permutation brings standard CNN machinery to</a:t>
            </a:r>
          </a:p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3778" b="0" i="1">
                <a:solidFill>
                  <a:srgbClr val="1C1C1C"/>
                </a:solidFill>
                <a:latin typeface="Arial"/>
              </a:rPr>
              <a:t>graphs, reaching state-of-the-art at O(n²) cost.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816375" y="7493575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Permutation generation</a:t>
            </a:r>
            <a:r>
              <a:rPr sz="4106" b="0">
                <a:solidFill>
                  <a:srgbClr val="1C1C1C"/>
                </a:solidFill>
                <a:latin typeface="Arial"/>
              </a:rPr>
              <a:t> regresses each node position with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Laplacian-smoothed MLP, then converts positions into a relaxed,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differentiable permutation matrix.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16375" y="9944715"/>
            <a:ext cx="1600021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Diagonal convolution</a:t>
            </a:r>
            <a:r>
              <a:rPr sz="4106" b="0">
                <a:solidFill>
                  <a:srgbClr val="1C1C1C"/>
                </a:solidFill>
                <a:latin typeface="Arial"/>
              </a:rPr>
              <a:t> slides one kernel along the diagonal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permuted node- and edge-feature matrices; </a:t>
            </a:r>
            <a:r>
              <a:rPr sz="4106" b="1">
                <a:solidFill>
                  <a:srgbClr val="111111"/>
                </a:solidFill>
                <a:latin typeface="Arial"/>
              </a:rPr>
              <a:t>compressed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pooling</a:t>
            </a:r>
            <a:r>
              <a:rPr sz="4106" b="0">
                <a:solidFill>
                  <a:srgbClr val="1C1C1C"/>
                </a:solidFill>
                <a:latin typeface="Arial"/>
              </a:rPr>
              <a:t> and transposed convolution build and then invert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multi-scale hierarchy.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72" y="15462488"/>
            <a:ext cx="1600021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Convolution is </a:t>
            </a:r>
            <a:r>
              <a:rPr sz="4106" b="1">
                <a:solidFill>
                  <a:srgbClr val="111111"/>
                </a:solidFill>
                <a:latin typeface="Arial"/>
              </a:rPr>
              <a:t>order-sensitive</a:t>
            </a:r>
            <a:r>
              <a:rPr sz="4106" b="0">
                <a:solidFill>
                  <a:srgbClr val="1C1C1C"/>
                </a:solidFill>
                <a:latin typeface="Arial"/>
              </a:rPr>
              <a:t>, yet GNNs must be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permutation-invariant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, and prior graph regularizers are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decoupled from the convolution, so they cannot be optimized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each downstream task.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201705" y="20815101"/>
            <a:ext cx="13186792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CoCN pipeline: permute nodes into a row, then convolve diagonally.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592777" y="21724937"/>
            <a:ext cx="1600035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More permutations help.</a:t>
            </a:r>
            <a:r>
              <a:rPr sz="4106" b="0">
                <a:solidFill>
                  <a:srgbClr val="1C1C1C"/>
                </a:solidFill>
                <a:latin typeface="Arial"/>
              </a:rPr>
              <a:t> Accuracy rises steadily with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number of learnable permutations.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592777" y="23419871"/>
            <a:ext cx="1600035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Bigger kernels help.</a:t>
            </a:r>
            <a:r>
              <a:rPr sz="4106" b="0">
                <a:solidFill>
                  <a:srgbClr val="1C1C1C"/>
                </a:solidFill>
                <a:latin typeface="Arial"/>
              </a:rPr>
              <a:t> Larger kernels and receptive fields boost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accuracy without degradation.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816375" y="23741717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Graph classification:</a:t>
            </a:r>
            <a:r>
              <a:rPr sz="4106" b="0">
                <a:solidFill>
                  <a:srgbClr val="1C1C1C"/>
                </a:solidFill>
                <a:latin typeface="Arial"/>
              </a:rPr>
              <a:t> six TU datasets, evaluated under 10-fold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cross-validation.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16375" y="25436651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Node classification:</a:t>
            </a:r>
            <a:r>
              <a:rPr sz="4106" b="0">
                <a:solidFill>
                  <a:srgbClr val="1C1C1C"/>
                </a:solidFill>
                <a:latin typeface="Arial"/>
              </a:rPr>
              <a:t> six heterophilic sets, plus three large-scale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graphs (questions, amazon-ratings, genius) for mini-batch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scalability tests.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71181" y="28553985"/>
            <a:ext cx="14737675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Learned permutations cluster connected / similar nodes into adjacent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positions (varying smoothness t).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838659" y="14980205"/>
            <a:ext cx="9379036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1.83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838659" y="16355099"/>
            <a:ext cx="9379036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Avg rank · 6 node-classification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datasets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838659" y="17398007"/>
            <a:ext cx="9379036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Best of all baselines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592795" y="7490658"/>
            <a:ext cx="679470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BENCHMARK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89592" y="7490658"/>
            <a:ext cx="4276465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TASK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341500" y="7490658"/>
            <a:ext cx="4969655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COCN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592795" y="8197135"/>
            <a:ext cx="679470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Squirrel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189592" y="8197135"/>
            <a:ext cx="427646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Node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341500" y="8197135"/>
            <a:ext cx="496965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72.95%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592795" y="9142253"/>
            <a:ext cx="679470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Cornell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189592" y="9142253"/>
            <a:ext cx="427646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Node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341500" y="9142253"/>
            <a:ext cx="496965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86.22%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592795" y="10087371"/>
            <a:ext cx="6794700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COLLAB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189592" y="10087371"/>
            <a:ext cx="4276465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Graph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341500" y="10087371"/>
            <a:ext cx="4969655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86.15%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996457" y="14980205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72.95%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995457" y="15113555"/>
            <a:ext cx="282956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Squirrel accuracy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4996457" y="16009362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86.15%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995457" y="16142712"/>
            <a:ext cx="301283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COLLAB accuracy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4996457" y="17038518"/>
            <a:ext cx="131284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O(n²)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453583" y="17171868"/>
            <a:ext cx="350072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perm. cost, was O(n!)</a:t>
            </a:r>
          </a:p>
        </p:txBody>
      </p:sp>
      <p:pic>
        <p:nvPicPr>
          <p:cNvPr id="123" name="Picture 122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19499" y="13935352"/>
            <a:ext cx="14767262" cy="1660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
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4E6EF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76783"/>
            <a:ext cx="10804961" cy="815657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3568" y="5376783"/>
            <a:ext cx="27439124" cy="16538594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749412" y="5376783"/>
            <a:ext cx="10804962" cy="4849634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9749412" y="10558264"/>
            <a:ext cx="10804962" cy="6956008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887" y="13865205"/>
            <a:ext cx="10804961" cy="1620674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17846119"/>
            <a:ext cx="10804962" cy="6611521"/>
          </a:xfrm>
          <a:prstGeom prst="rect">
            <a:avLst/>
          </a:prstGeom>
          <a:solidFill>
            <a:srgbClr val="F6EC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7846119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18814" y="17846119"/>
            <a:ext cx="35560" cy="6611521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24422080"/>
            <a:ext cx="10804962" cy="355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17846119"/>
            <a:ext cx="53340" cy="6611521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4789487"/>
            <a:ext cx="10804962" cy="5282465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niversity-of-illinois-at-urbana-ch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378" y="1657156"/>
            <a:ext cx="5527913" cy="1013450"/>
          </a:xfrm>
          <a:prstGeom prst="rect">
            <a:avLst/>
          </a:prstGeom>
        </p:spPr>
      </p:pic>
      <p:pic>
        <p:nvPicPr>
          <p:cNvPr id="15" name="Picture 14" descr="washington-university-in-st-lou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265" y="1657160"/>
            <a:ext cx="4145380" cy="1013442"/>
          </a:xfrm>
          <a:prstGeom prst="rect">
            <a:avLst/>
          </a:prstGeom>
        </p:spPr>
      </p:pic>
      <p:pic>
        <p:nvPicPr>
          <p:cNvPr id="16" name="Picture 15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6355" y="1805383"/>
            <a:ext cx="6526649" cy="1896449"/>
          </a:xfrm>
          <a:prstGeom prst="rect">
            <a:avLst/>
          </a:prstGeom>
        </p:spPr>
      </p:pic>
      <p:pic>
        <p:nvPicPr>
          <p:cNvPr id="17" name="Picture 16" descr="carnegie-mellon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539" y="2836465"/>
            <a:ext cx="11338084" cy="10134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0164186" y="6893917"/>
            <a:ext cx="9975414" cy="3093303"/>
          </a:xfrm>
          <a:prstGeom prst="roundRect">
            <a:avLst>
              <a:gd name="adj" fmla="val 2299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6661" y="10970954"/>
            <a:ext cx="997541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6661" y="10970954"/>
            <a:ext cx="124460" cy="2159020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64186" y="15486380"/>
            <a:ext cx="9975414" cy="16408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64186" y="15486380"/>
            <a:ext cx="9975414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181966" y="19391312"/>
            <a:ext cx="9957634" cy="2346821"/>
          </a:xfrm>
          <a:prstGeom prst="roundRect">
            <a:avLst>
              <a:gd name="adj" fmla="val 8889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3568" y="22247225"/>
            <a:ext cx="13553639" cy="782472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69054" y="22247225"/>
            <a:ext cx="13553638" cy="7824727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00432" y="7116167"/>
            <a:ext cx="3093303" cy="26963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800432" y="7116167"/>
            <a:ext cx="11557" cy="2696309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298342" y="10741203"/>
            <a:ext cx="26609576" cy="2148463"/>
          </a:xfrm>
          <a:prstGeom prst="roundRect">
            <a:avLst>
              <a:gd name="adj" fmla="val 10486"/>
            </a:avLst>
          </a:prstGeom>
          <a:solidFill>
            <a:srgbClr val="F7F2F5"/>
          </a:solidFill>
          <a:ln w="8890">
            <a:solidFill>
              <a:srgbClr val="D5B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661" y="24748093"/>
            <a:ext cx="4468891" cy="4932838"/>
          </a:xfrm>
          <a:prstGeom prst="roundRect">
            <a:avLst>
              <a:gd name="adj" fmla="val 4668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73043" y="24748093"/>
            <a:ext cx="4469031" cy="4365684"/>
          </a:xfrm>
          <a:prstGeom prst="roundRect">
            <a:avLst>
              <a:gd name="adj" fmla="val 4778"/>
            </a:avLst>
          </a:prstGeom>
          <a:solidFill>
            <a:srgbClr val="F7F2F5"/>
          </a:solidFill>
          <a:ln w="889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183828" y="27849314"/>
            <a:ext cx="12724090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183828" y="27849314"/>
            <a:ext cx="12724090" cy="11557"/>
          </a:xfrm>
          <a:prstGeom prst="rect">
            <a:avLst/>
          </a:prstGeom>
          <a:solidFill>
            <a:srgbClr val="D2B4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298342" y="13291105"/>
            <a:ext cx="26609576" cy="7292300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age7_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8561" y="13291105"/>
            <a:ext cx="26609138" cy="729230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2298342" y="22922726"/>
            <a:ext cx="12724090" cy="5357475"/>
          </a:xfrm>
          <a:prstGeom prst="roundRect">
            <a:avLst>
              <a:gd name="adj" fmla="val 66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age9_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98386" y="22922726"/>
            <a:ext cx="12724003" cy="535747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2767011" y="25343167"/>
            <a:ext cx="3508494" cy="3508494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85544" y="25461700"/>
            <a:ext cx="3271428" cy="3271428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6631105" y="25343167"/>
            <a:ext cx="3508495" cy="3508494"/>
          </a:xfrm>
          <a:prstGeom prst="roundRect">
            <a:avLst>
              <a:gd name="adj" fmla="val 439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49638" y="25461700"/>
            <a:ext cx="3271428" cy="327142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43893263" y="28993901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7D2860"/>
                </a:solidFill>
                <a:latin typeface="Arial"/>
              </a:rPr>
              <a:t>Paper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660956" y="28993901"/>
            <a:ext cx="1448793" cy="524232"/>
          </a:xfrm>
          <a:prstGeom prst="roundRect">
            <a:avLst>
              <a:gd name="adj" fmla="val 50000"/>
            </a:avLst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7D2860"/>
                </a:solidFill>
                <a:latin typeface="Arial"/>
              </a:rPr>
              <a:t>Project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164186" y="12871469"/>
            <a:ext cx="2728258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164186" y="13569057"/>
            <a:ext cx="27282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892444" y="12871469"/>
            <a:ext cx="3074967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892444" y="13569057"/>
            <a:ext cx="3074967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967411" y="12871469"/>
            <a:ext cx="4172189" cy="706478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967411" y="13569057"/>
            <a:ext cx="417218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164186" y="13577947"/>
            <a:ext cx="27282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164186" y="14514175"/>
            <a:ext cx="27282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892444" y="13577947"/>
            <a:ext cx="307496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892444" y="14514175"/>
            <a:ext cx="3074967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967411" y="13577947"/>
            <a:ext cx="417218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967411" y="14514175"/>
            <a:ext cx="417218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164186" y="14523065"/>
            <a:ext cx="272825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164186" y="15459293"/>
            <a:ext cx="2728258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892444" y="14523065"/>
            <a:ext cx="3074967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892444" y="15459293"/>
            <a:ext cx="3074967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967411" y="14523065"/>
            <a:ext cx="417218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967411" y="15459293"/>
            <a:ext cx="417218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183828" y="25009514"/>
            <a:ext cx="12724090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183828" y="25954632"/>
            <a:ext cx="12724090" cy="945118"/>
          </a:xfrm>
          <a:prstGeom prst="rect">
            <a:avLst/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0164186" y="26292036"/>
            <a:ext cx="2247225" cy="1666041"/>
          </a:xfrm>
          <a:prstGeom prst="roundRect">
            <a:avLst>
              <a:gd name="adj" fmla="val 8537"/>
            </a:avLst>
          </a:prstGeom>
          <a:solidFill>
            <a:srgbClr val="F4E6EF"/>
          </a:solidFill>
          <a:ln w="1778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0164186" y="28088371"/>
            <a:ext cx="2247225" cy="1666042"/>
          </a:xfrm>
          <a:prstGeom prst="roundRect">
            <a:avLst>
              <a:gd name="adj" fmla="val 8537"/>
            </a:avLst>
          </a:prstGeom>
          <a:solidFill>
            <a:srgbClr val="F4E6EF"/>
          </a:solidFill>
          <a:ln w="17780">
            <a:solidFill>
              <a:srgbClr val="7D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183828" y="23764359"/>
            <a:ext cx="3321526" cy="1245155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183828" y="25000624"/>
            <a:ext cx="332152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9505354" y="23764359"/>
            <a:ext cx="5329555" cy="1245155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505354" y="25000624"/>
            <a:ext cx="5329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4834909" y="23764359"/>
            <a:ext cx="4073009" cy="1245155"/>
          </a:xfrm>
          <a:prstGeom prst="rect">
            <a:avLst/>
          </a:prstGeom>
          <a:solidFill>
            <a:srgbClr val="F7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834909" y="25000624"/>
            <a:ext cx="4073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183828" y="25009514"/>
            <a:ext cx="3321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183828" y="25945742"/>
            <a:ext cx="332152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9505354" y="25009514"/>
            <a:ext cx="53295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505354" y="25945742"/>
            <a:ext cx="5329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834909" y="25009514"/>
            <a:ext cx="407300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4834909" y="25945742"/>
            <a:ext cx="4073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183828" y="25954632"/>
            <a:ext cx="33215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183828" y="26890860"/>
            <a:ext cx="332152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505354" y="25954632"/>
            <a:ext cx="53295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505354" y="26890860"/>
            <a:ext cx="5329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834909" y="25954632"/>
            <a:ext cx="407300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4834909" y="26890860"/>
            <a:ext cx="4073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6183828" y="26899750"/>
            <a:ext cx="332152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183828" y="27835979"/>
            <a:ext cx="3321526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9505354" y="26899750"/>
            <a:ext cx="532955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9505354" y="27835979"/>
            <a:ext cx="5329555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4834909" y="26899750"/>
            <a:ext cx="4073009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834909" y="27835979"/>
            <a:ext cx="4073009" cy="11557"/>
          </a:xfrm>
          <a:prstGeom prst="rect">
            <a:avLst/>
          </a:prstGeom>
          <a:solidFill>
            <a:srgbClr val="ECDF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593"/>
              </a:lnSpc>
              <a:spcBef>
                <a:spcPts val="0"/>
              </a:spcBef>
              <a:spcAft>
                <a:spcPts val="0"/>
              </a:spcAft>
            </a:pPr>
            <a:r>
              <a:rPr sz="6903" b="1" spc="-78">
                <a:solidFill>
                  <a:srgbClr val="7D2860"/>
                </a:solidFill>
                <a:latin typeface="Arial"/>
              </a:rPr>
              <a:t>CROP: Certifying Robust Policies for Reinforcement</a:t>
            </a:r>
          </a:p>
          <a:p>
            <a:pPr algn="ctr">
              <a:lnSpc>
                <a:spcPts val="7593"/>
              </a:lnSpc>
              <a:spcBef>
                <a:spcPts val="0"/>
              </a:spcBef>
              <a:spcAft>
                <a:spcPts val="0"/>
              </a:spcAft>
            </a:pPr>
            <a:r>
              <a:rPr sz="6903" b="1" spc="-78">
                <a:solidFill>
                  <a:srgbClr val="7D2860"/>
                </a:solidFill>
                <a:latin typeface="Arial"/>
              </a:rPr>
              <a:t>Learning through Functional Smoothing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Fan Wu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Linyi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Zijian Huang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Yevgeniy Vorobeychik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Ding Zhao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Bo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Illinois at Urbana-Champaign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Washington University in St. Louis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Carnegie Mellon University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6661" y="5791557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98342" y="5791557"/>
            <a:ext cx="2703629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164186" y="5791557"/>
            <a:ext cx="1027467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6661" y="6911558"/>
            <a:ext cx="1027467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RL agents now drive </a:t>
            </a:r>
            <a:r>
              <a:rPr sz="4106" b="1">
                <a:solidFill>
                  <a:srgbClr val="111111"/>
                </a:solidFill>
                <a:latin typeface="Arial"/>
              </a:rPr>
              <a:t>safety-critical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systems (autonomous cars, trading), yet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tiny adversarial perturbations of their input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states can quietly steer them toward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disaster.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6661" y="10970954"/>
            <a:ext cx="10274675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Defenses improve robustness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empirically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— but almost none can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 i="1">
                <a:solidFill>
                  <a:srgbClr val="111111"/>
                </a:solidFill>
                <a:latin typeface="Arial"/>
              </a:rPr>
              <a:t>certify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it.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164186" y="10973038"/>
            <a:ext cx="10274676" cy="1799335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ABLATION STUDY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6661" y="14279979"/>
            <a:ext cx="1027467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164186" y="15486380"/>
            <a:ext cx="10274676" cy="188703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Percentile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J</a:t>
            </a:r>
            <a:r>
              <a:rPr sz="5289" b="0" i="1" baseline="-25000">
                <a:solidFill>
                  <a:srgbClr val="1C1C1C"/>
                </a:solidFill>
                <a:latin typeface="Arial"/>
              </a:rPr>
              <a:t>p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beats the loose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J</a:t>
            </a:r>
            <a:r>
              <a:rPr sz="5289" b="0" i="1" baseline="-25000">
                <a:solidFill>
                  <a:srgbClr val="1C1C1C"/>
                </a:solidFill>
                <a:latin typeface="Arial"/>
              </a:rPr>
              <a:t>E</a:t>
            </a:r>
            <a:r>
              <a:rPr sz="3778" b="0" i="1">
                <a:solidFill>
                  <a:srgbClr val="1C1C1C"/>
                </a:solidFill>
                <a:latin typeface="Arial"/>
              </a:rPr>
              <a:t>; absolute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J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shows a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zero gap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to PGD.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6661" y="15522912"/>
            <a:ext cx="1027467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core issue is </a:t>
            </a:r>
            <a:r>
              <a:rPr sz="4106" b="1">
                <a:solidFill>
                  <a:srgbClr val="111111"/>
                </a:solidFill>
                <a:latin typeface="Arial"/>
              </a:rPr>
              <a:t>trust</a:t>
            </a:r>
            <a:r>
              <a:rPr sz="4106" b="0">
                <a:solidFill>
                  <a:srgbClr val="1C1C1C"/>
                </a:solidFill>
                <a:latin typeface="Arial"/>
              </a:rPr>
              <a:t>: if you cannot prove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policy is robust, passing today's attacks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says little about tomorrow's.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181966" y="18260893"/>
            <a:ext cx="102563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0181966" y="19391312"/>
            <a:ext cx="1025636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Certificates are often </a:t>
            </a:r>
            <a:r>
              <a:rPr sz="4106" b="1">
                <a:solidFill>
                  <a:srgbClr val="111111"/>
                </a:solidFill>
                <a:latin typeface="Arial"/>
              </a:rPr>
              <a:t>tight</a:t>
            </a:r>
            <a:r>
              <a:rPr sz="4106" b="1">
                <a:solidFill>
                  <a:srgbClr val="FFFFFF"/>
                </a:solidFill>
                <a:latin typeface="Arial"/>
              </a:rPr>
              <a:t> — robust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RL you can measure on 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leaderboard.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181966" y="21766192"/>
            <a:ext cx="1025636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Functional smoothing gives RL policies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provable robustness at both the action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reward levels.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6642" y="18192829"/>
            <a:ext cx="102746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policy that resists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known</a:t>
            </a:r>
            <a:r>
              <a:rPr sz="4106" b="0">
                <a:solidFill>
                  <a:srgbClr val="1C1C1C"/>
                </a:solidFill>
                <a:latin typeface="Arial"/>
              </a:rPr>
              <a:t> attacks may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still fail against a stronger, unseen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adversary — safety-critical RL needs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provable</a:t>
            </a:r>
            <a:r>
              <a:rPr sz="4106" b="0">
                <a:solidFill>
                  <a:srgbClr val="1C1C1C"/>
                </a:solidFill>
                <a:latin typeface="Arial"/>
              </a:rPr>
              <a:t> certificates.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6642" y="21400174"/>
            <a:ext cx="1027469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Randomized smoothing certifies image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classifiers, but Q-learning breaks its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assumptions: values are </a:t>
            </a:r>
            <a:r>
              <a:rPr sz="4106" b="1">
                <a:solidFill>
                  <a:srgbClr val="111111"/>
                </a:solidFill>
                <a:latin typeface="Arial"/>
              </a:rPr>
              <a:t>unbounded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are </a:t>
            </a:r>
            <a:r>
              <a:rPr sz="4106" b="1">
                <a:solidFill>
                  <a:srgbClr val="111111"/>
                </a:solidFill>
                <a:latin typeface="Arial"/>
              </a:rPr>
              <a:t>not probabilities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183828" y="22661999"/>
            <a:ext cx="1310581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56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5847" y="24748093"/>
            <a:ext cx="800209" cy="869635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7D2860"/>
                </a:solidFill>
                <a:latin typeface="Arial"/>
              </a:rPr>
              <a:t>vs.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183828" y="27849314"/>
            <a:ext cx="13105812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Certified rankings match empirical robustness — the certificates are trustworthy.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298324" y="6929199"/>
            <a:ext cx="2703631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Functional smoothing.</a:t>
            </a:r>
            <a:r>
              <a:rPr sz="4106" b="0">
                <a:solidFill>
                  <a:srgbClr val="1C1C1C"/>
                </a:solidFill>
                <a:latin typeface="Arial"/>
              </a:rPr>
              <a:t> Average the Q-network over Gaussian state noise → a smoothed, </a:t>
            </a:r>
            <a:r>
              <a:rPr sz="4106" b="1">
                <a:solidFill>
                  <a:srgbClr val="111111"/>
                </a:solidFill>
                <a:latin typeface="Arial"/>
              </a:rPr>
              <a:t>Lipschitz</a:t>
            </a:r>
            <a:r>
              <a:rPr sz="4106" b="0">
                <a:solidFill>
                  <a:srgbClr val="1C1C1C"/>
                </a:solidFill>
                <a:latin typeface="Arial"/>
              </a:rPr>
              <a:t> value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function.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410050" y="7116167"/>
            <a:ext cx="5991199" cy="1874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1</a:t>
            </a:r>
            <a:r>
              <a:rPr sz="15680" b="1" spc="-224" baseline="30000">
                <a:solidFill>
                  <a:srgbClr val="7D2860"/>
                </a:solidFill>
                <a:latin typeface="Arial"/>
              </a:rPr>
              <a:t>st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298324" y="8378963"/>
            <a:ext cx="27036314" cy="7797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CROP-LoAct.</a:t>
            </a:r>
            <a:r>
              <a:rPr sz="4106" b="0">
                <a:solidFill>
                  <a:srgbClr val="1C1C1C"/>
                </a:solidFill>
                <a:latin typeface="Arial"/>
              </a:rPr>
              <a:t> Local smoothing certifies a radius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r</a:t>
            </a:r>
            <a:r>
              <a:rPr sz="4106" b="0">
                <a:solidFill>
                  <a:srgbClr val="1C1C1C"/>
                </a:solidFill>
                <a:latin typeface="Arial"/>
              </a:rPr>
              <a:t> within which the action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cannot</a:t>
            </a:r>
            <a:r>
              <a:rPr sz="4106" b="0">
                <a:solidFill>
                  <a:srgbClr val="1C1C1C"/>
                </a:solidFill>
                <a:latin typeface="Arial"/>
              </a:rPr>
              <a:t> change.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410050" y="8769568"/>
            <a:ext cx="5991199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unified certification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framework for RL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298324" y="9150727"/>
            <a:ext cx="27036314" cy="15594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CROP-GRe / CROP-LoRe.</a:t>
            </a:r>
            <a:r>
              <a:rPr sz="4106" b="0">
                <a:solidFill>
                  <a:srgbClr val="1C1C1C"/>
                </a:solidFill>
                <a:latin typeface="Arial"/>
              </a:rPr>
              <a:t> Global smoothing bounds the reward; a tree search certifies a tight </a:t>
            </a:r>
            <a:r>
              <a:rPr sz="4106" b="1">
                <a:solidFill>
                  <a:srgbClr val="111111"/>
                </a:solidFill>
                <a:latin typeface="Arial"/>
              </a:rPr>
              <a:t>absolute lower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bound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3544609" y="20733007"/>
            <a:ext cx="24543762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Per-state certified radius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r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over time for nine RL methods; each column is a smoothing variance σ (top: Freeway, bottom: Pong).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10163" y="24965481"/>
            <a:ext cx="4101343" cy="1304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CLASSIFICATION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SMOOTHING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16546" y="24965481"/>
            <a:ext cx="4101485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RL CERTIFICATION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0164186" y="25107026"/>
            <a:ext cx="2314641" cy="1144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7D2860"/>
                </a:solidFill>
                <a:latin typeface="Arial"/>
              </a:rPr>
              <a:t>SCAN TO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37">
                <a:solidFill>
                  <a:srgbClr val="7D2860"/>
                </a:solidFill>
                <a:latin typeface="Arial"/>
              </a:rPr>
              <a:t>READ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16546" y="25610839"/>
            <a:ext cx="410148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Unbounded Q-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values; reward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accrues over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whole trajectory.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10163" y="26177994"/>
            <a:ext cx="410134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Output in [0,1],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behaves like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probability,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decision.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807295" y="28429803"/>
            <a:ext cx="12057227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Certified reward.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Bounds on Freeway vs. attack ε; solid =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certified, dashed = empirical PGD — tight.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7278686" y="7116167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759024" y="7249517"/>
            <a:ext cx="196125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RL methods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278686" y="8101845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759024" y="8235195"/>
            <a:ext cx="219875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environments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278686" y="9087524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7759024" y="9220874"/>
            <a:ext cx="168955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algorithms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0164186" y="12871469"/>
            <a:ext cx="2810105" cy="81244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ENV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2892444" y="12871469"/>
            <a:ext cx="3167216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BEST Σ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967411" y="12871469"/>
            <a:ext cx="4297354" cy="81244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TREND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164186" y="13577947"/>
            <a:ext cx="2810105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Freeway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892444" y="13577947"/>
            <a:ext cx="316721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up to 1.0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967411" y="13577947"/>
            <a:ext cx="429735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rises with σ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0164186" y="14523065"/>
            <a:ext cx="281010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Pong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2892444" y="14523065"/>
            <a:ext cx="316721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0.01–0.03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967411" y="14523065"/>
            <a:ext cx="429735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moderate best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0164186" y="26292036"/>
            <a:ext cx="2314641" cy="1915947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7D2860"/>
                </a:solidFill>
                <a:latin typeface="Arial"/>
              </a:rPr>
              <a:t>Leaderboard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crop-leaderboard.githu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b.io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164186" y="28088371"/>
            <a:ext cx="2314641" cy="191594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7D2860"/>
                </a:solidFill>
                <a:latin typeface="Arial"/>
              </a:rPr>
              <a:t>Paper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arxiv.org/abs/2106.092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92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6183828" y="23764359"/>
            <a:ext cx="3421171" cy="143192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ENVIRONMENT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9505354" y="23764359"/>
            <a:ext cx="5489441" cy="143192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MOST CERTIFIABLY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ROBUST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834909" y="23764359"/>
            <a:ext cx="4195199" cy="143192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CERTIFIED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RADIUS </a:t>
            </a:r>
            <a:r>
              <a:rPr sz="2926" b="1" i="1" spc="146">
                <a:solidFill>
                  <a:srgbClr val="555555"/>
                </a:solidFill>
                <a:latin typeface="Arial"/>
              </a:rPr>
              <a:t>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183828" y="25009514"/>
            <a:ext cx="3421171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Freeway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9505354" y="25009514"/>
            <a:ext cx="5489441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RadialRL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4834909" y="25009514"/>
            <a:ext cx="4195199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up to ~2.0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183828" y="25954632"/>
            <a:ext cx="342117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Pong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9505354" y="25954632"/>
            <a:ext cx="5489441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SA-MDP (CVX)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834909" y="25954632"/>
            <a:ext cx="4195199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highest at all σ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6183828" y="26899750"/>
            <a:ext cx="3421171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Baselines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9505354" y="26899750"/>
            <a:ext cx="5489441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StdTrain / GaussAug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4834909" y="26899750"/>
            <a:ext cx="4195199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near 0</a:t>
            </a:r>
          </a:p>
        </p:txBody>
      </p:sp>
      <p:pic>
        <p:nvPicPr>
          <p:cNvPr id="150" name="Picture 149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1448" y="11380866"/>
            <a:ext cx="25803364" cy="8691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
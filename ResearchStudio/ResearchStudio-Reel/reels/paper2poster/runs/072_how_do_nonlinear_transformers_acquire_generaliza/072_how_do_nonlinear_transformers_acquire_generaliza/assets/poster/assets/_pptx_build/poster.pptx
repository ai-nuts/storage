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F6ECE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0505757" cy="10105152"/>
          </a:xfrm>
          <a:prstGeom prst="roundRect">
            <a:avLst>
              <a:gd name="adj" fmla="val 821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584364" y="5376783"/>
            <a:ext cx="14478337" cy="24695169"/>
          </a:xfrm>
          <a:prstGeom prst="roundRect">
            <a:avLst>
              <a:gd name="adj" fmla="val 573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489421" y="5376783"/>
            <a:ext cx="13132475" cy="24695169"/>
          </a:xfrm>
          <a:prstGeom prst="roundRect">
            <a:avLst>
              <a:gd name="adj" fmla="val 631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0048616" y="5376783"/>
            <a:ext cx="10505896" cy="6405245"/>
          </a:xfrm>
          <a:prstGeom prst="roundRect">
            <a:avLst>
              <a:gd name="adj" fmla="val 1295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048616" y="12113875"/>
            <a:ext cx="10505896" cy="12054423"/>
          </a:xfrm>
          <a:prstGeom prst="roundRect">
            <a:avLst>
              <a:gd name="adj" fmla="val 789"/>
            </a:avLst>
          </a:prstGeom>
          <a:solidFill>
            <a:srgbClr val="F7F0E8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048616" y="12113875"/>
            <a:ext cx="53340" cy="12054423"/>
          </a:xfrm>
          <a:prstGeom prst="rect">
            <a:avLst/>
          </a:prstGeom>
          <a:solidFill>
            <a:srgbClr val="A252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5813782"/>
            <a:ext cx="10505757" cy="14258170"/>
          </a:xfrm>
          <a:prstGeom prst="roundRect">
            <a:avLst>
              <a:gd name="adj" fmla="val 789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48616" y="24500145"/>
            <a:ext cx="10505896" cy="5571807"/>
          </a:xfrm>
          <a:prstGeom prst="roundRect">
            <a:avLst>
              <a:gd name="adj" fmla="val 1489"/>
            </a:avLst>
          </a:prstGeom>
          <a:solidFill>
            <a:srgbClr val="F8F3EF"/>
          </a:solidFill>
          <a:ln w="8890">
            <a:solidFill>
              <a:srgbClr val="EBD9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9467" y="1805376"/>
            <a:ext cx="5620425" cy="1896463"/>
          </a:xfrm>
          <a:prstGeom prst="rect">
            <a:avLst/>
          </a:prstGeom>
        </p:spPr>
      </p:pic>
      <p:pic>
        <p:nvPicPr>
          <p:cNvPr id="12" name="Picture 11" descr="rensselaer-polytechnic-instit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095" y="1931213"/>
            <a:ext cx="6701948" cy="1644650"/>
          </a:xfrm>
          <a:prstGeom prst="rect">
            <a:avLst/>
          </a:prstGeom>
        </p:spPr>
      </p:pic>
      <p:pic>
        <p:nvPicPr>
          <p:cNvPr id="13" name="Picture 12" descr="ib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017" y="1931231"/>
            <a:ext cx="4397911" cy="164461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0436720" y="6867247"/>
            <a:ext cx="9729688" cy="4526677"/>
          </a:xfrm>
          <a:prstGeom prst="roundRect">
            <a:avLst>
              <a:gd name="adj" fmla="val 1571"/>
            </a:avLst>
          </a:prstGeom>
          <a:gradFill rotWithShape="1" flip="none">
            <a:gsLst>
              <a:gs pos="0">
                <a:srgbClr val="F4EAE4"/>
              </a:gs>
              <a:gs pos="100000">
                <a:srgbClr val="F9F5F1"/>
              </a:gs>
            </a:gsLst>
            <a:lin ang="5400000" scaled="0"/>
          </a:gradFill>
          <a:ln w="8890">
            <a:solidFill>
              <a:srgbClr val="E8D4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9991" y="12421413"/>
            <a:ext cx="9729549" cy="2672417"/>
          </a:xfrm>
          <a:prstGeom prst="roundRect">
            <a:avLst>
              <a:gd name="adj" fmla="val 6830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12421413"/>
            <a:ext cx="124460" cy="2672417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481170" y="20712866"/>
            <a:ext cx="9685238" cy="3024823"/>
          </a:xfrm>
          <a:prstGeom prst="roundRect">
            <a:avLst>
              <a:gd name="adj" fmla="val 6896"/>
            </a:avLst>
          </a:prstGeom>
          <a:solidFill>
            <a:srgbClr val="A25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877525" y="25403591"/>
            <a:ext cx="12356267" cy="22395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877525" y="25403591"/>
            <a:ext cx="12356267" cy="11557"/>
          </a:xfrm>
          <a:prstGeom prst="rect">
            <a:avLst/>
          </a:prstGeom>
          <a:solidFill>
            <a:srgbClr val="DFC3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877525" y="27930018"/>
            <a:ext cx="12356267" cy="1647984"/>
          </a:xfrm>
          <a:prstGeom prst="roundRect">
            <a:avLst>
              <a:gd name="adj" fmla="val 12659"/>
            </a:avLst>
          </a:prstGeom>
          <a:solidFill>
            <a:srgbClr val="F6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855870" y="7089497"/>
            <a:ext cx="4064674" cy="412968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855870" y="7089497"/>
            <a:ext cx="11557" cy="4129683"/>
          </a:xfrm>
          <a:prstGeom prst="rect">
            <a:avLst/>
          </a:prstGeom>
          <a:solidFill>
            <a:srgbClr val="E8D4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877525" y="11165284"/>
            <a:ext cx="12356267" cy="12356266"/>
          </a:xfrm>
          <a:prstGeom prst="roundRect">
            <a:avLst>
              <a:gd name="adj" fmla="val 28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figur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77525" y="11165284"/>
            <a:ext cx="12356267" cy="1235626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1529496" y="12577822"/>
            <a:ext cx="1473796" cy="638690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FIRST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972468" y="20695920"/>
            <a:ext cx="13702129" cy="6575405"/>
          </a:xfrm>
          <a:prstGeom prst="roundRect">
            <a:avLst>
              <a:gd name="adj" fmla="val 54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figur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2535" y="20695920"/>
            <a:ext cx="13701995" cy="6575405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39991" y="23718936"/>
            <a:ext cx="4345959" cy="5689045"/>
          </a:xfrm>
          <a:prstGeom prst="roundRect">
            <a:avLst>
              <a:gd name="adj" fmla="val 4800"/>
            </a:avLst>
          </a:prstGeom>
          <a:solidFill>
            <a:srgbClr val="FAFAFA"/>
          </a:solidFill>
          <a:ln w="8890">
            <a:solidFill>
              <a:srgbClr val="D97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3441" y="23718936"/>
            <a:ext cx="4346099" cy="5121890"/>
          </a:xfrm>
          <a:prstGeom prst="roundRect">
            <a:avLst>
              <a:gd name="adj" fmla="val 4800"/>
            </a:avLst>
          </a:prstGeom>
          <a:solidFill>
            <a:srgbClr val="F9F5F1"/>
          </a:solidFill>
          <a:ln w="8890">
            <a:solidFill>
              <a:srgbClr val="A252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877525" y="9189620"/>
            <a:ext cx="12356267" cy="1663542"/>
          </a:xfrm>
          <a:prstGeom prst="rect">
            <a:avLst/>
          </a:prstGeom>
          <a:solidFill>
            <a:srgbClr val="F6E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523495" y="24888249"/>
            <a:ext cx="3556000" cy="3556000"/>
          </a:xfrm>
          <a:prstGeom prst="roundRect">
            <a:avLst>
              <a:gd name="adj" fmla="val 4333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42028" y="25006782"/>
            <a:ext cx="3318934" cy="3318934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6877525" y="6914197"/>
            <a:ext cx="3495437" cy="1245156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877525" y="8150463"/>
            <a:ext cx="3495437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372962" y="6914197"/>
            <a:ext cx="6271618" cy="1245156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372962" y="8150463"/>
            <a:ext cx="6271618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644580" y="6914197"/>
            <a:ext cx="2589212" cy="1245156"/>
          </a:xfrm>
          <a:prstGeom prst="rect">
            <a:avLst/>
          </a:prstGeom>
          <a:solidFill>
            <a:srgbClr val="FA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644580" y="8150463"/>
            <a:ext cx="258921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877525" y="8159353"/>
            <a:ext cx="3495437" cy="10302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877525" y="9180730"/>
            <a:ext cx="3495437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0372962" y="8159353"/>
            <a:ext cx="6271618" cy="10302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0372962" y="9180730"/>
            <a:ext cx="6271618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644580" y="8159353"/>
            <a:ext cx="2589212" cy="103026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644580" y="9180730"/>
            <a:ext cx="258921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877525" y="9189620"/>
            <a:ext cx="3495437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877525" y="10844272"/>
            <a:ext cx="3495437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0372962" y="9189620"/>
            <a:ext cx="6271618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372962" y="10844272"/>
            <a:ext cx="6271618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644580" y="9189620"/>
            <a:ext cx="2589212" cy="16635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644580" y="10844272"/>
            <a:ext cx="2589212" cy="11557"/>
          </a:xfrm>
          <a:prstGeom prst="rect">
            <a:avLst/>
          </a:prstGeom>
          <a:solidFill>
            <a:srgbClr val="F1E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How Do Nonlinear Transformers Learn and</a:t>
            </a:r>
          </a:p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A2521C"/>
                </a:solidFill>
                <a:latin typeface="Arial"/>
              </a:rPr>
              <a:t>Generalize in In-Context Learning?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Hongkang Li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Meng Wang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Songtao Lu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Xiaodong Cui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Pin-Yu Chen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Rensselaer Polytechnic Institute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IBM Thomas J. Watson Research Center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9991" y="5764887"/>
            <a:ext cx="100214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Problem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72468" y="5764887"/>
            <a:ext cx="14113192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Method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877525" y="5764887"/>
            <a:ext cx="1272695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Key Results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36720" y="5764887"/>
            <a:ext cx="10021578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Headline Numbers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9991" y="6867247"/>
            <a:ext cx="10021435" cy="6087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In-context learning (ICL) lets a pretrained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Transformer solve new tasks from a few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examples, with </a:t>
            </a:r>
            <a:r>
              <a:rPr sz="4106" b="1">
                <a:solidFill>
                  <a:srgbClr val="111111"/>
                </a:solidFill>
                <a:latin typeface="Arial"/>
              </a:rPr>
              <a:t>no fine-tuning</a:t>
            </a:r>
            <a:r>
              <a:rPr sz="4106" b="0">
                <a:solidFill>
                  <a:srgbClr val="1C1C1C"/>
                </a:solidFill>
                <a:latin typeface="Arial"/>
              </a:rPr>
              <a:t>. Yet </a:t>
            </a:r>
            <a:r>
              <a:rPr sz="4106" b="1">
                <a:solidFill>
                  <a:srgbClr val="111111"/>
                </a:solidFill>
                <a:latin typeface="Arial"/>
              </a:rPr>
              <a:t>why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training yields ICL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how it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generalizes</a:t>
            </a:r>
            <a:r>
              <a:rPr sz="4106" b="0">
                <a:solidFill>
                  <a:srgbClr val="1C1C1C"/>
                </a:solidFill>
                <a:latin typeface="Arial"/>
              </a:rPr>
              <a:t> stay unknown: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softmax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attention</a:t>
            </a:r>
            <a:r>
              <a:rPr sz="4106" b="0">
                <a:solidFill>
                  <a:srgbClr val="1C1C1C"/>
                </a:solidFill>
                <a:latin typeface="Arial"/>
              </a:rPr>
              <a:t> and a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ReLU MLP</a:t>
            </a:r>
            <a:r>
              <a:rPr sz="4106" b="0">
                <a:solidFill>
                  <a:srgbClr val="1C1C1C"/>
                </a:solidFill>
                <a:latin typeface="Arial"/>
              </a:rPr>
              <a:t> make the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objective nonconvex and hard to analyze.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481170" y="12501979"/>
            <a:ext cx="997579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Takeaway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481170" y="14003416"/>
            <a:ext cx="9975795" cy="69570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one-layer Transformer with genuinely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nonlinear attention and MLP can be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provably trained</a:t>
            </a:r>
            <a:r>
              <a:rPr sz="4106" b="0">
                <a:solidFill>
                  <a:srgbClr val="1C1C1C"/>
                </a:solidFill>
                <a:latin typeface="Arial"/>
              </a:rPr>
              <a:t> for ICL that generalizes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in-domain and under distribution shift, at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cost set by the relevant-context fraction,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while its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low-magnitude MLP neurons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prune almost for free</a:t>
            </a:r>
            <a:r>
              <a:rPr sz="4106" b="0">
                <a:solidFill>
                  <a:srgbClr val="1C1C1C"/>
                </a:solidFill>
                <a:latin typeface="Arial"/>
              </a:rPr>
              <a:t> — a principled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reason magnitude pruning preserves ICL.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991" y="16201886"/>
            <a:ext cx="1002143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A2521C"/>
                </a:solidFill>
                <a:latin typeface="Arial"/>
              </a:rPr>
              <a:t>Motivation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972468" y="17982942"/>
            <a:ext cx="13380085" cy="27172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attn(Ψ;P,i)=softmax((W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K</a:t>
            </a:r>
            <a:r>
              <a:rPr sz="4106" b="0">
                <a:solidFill>
                  <a:srgbClr val="1C1C1C"/>
                </a:solidFill>
                <a:latin typeface="Arial"/>
              </a:rPr>
              <a:t>p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i</a:t>
            </a:r>
            <a:r>
              <a:rPr sz="4106" b="0">
                <a:solidFill>
                  <a:srgbClr val="1C1C1C"/>
                </a:solidFill>
                <a:latin typeface="Arial"/>
              </a:rPr>
              <a:t>)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⊤</a:t>
            </a:r>
            <a:r>
              <a:rPr sz="4106" b="0">
                <a:solidFill>
                  <a:srgbClr val="1C1C1C"/>
                </a:solidFill>
                <a:latin typeface="Arial"/>
              </a:rPr>
              <a:t>W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Q</a:t>
            </a:r>
            <a:r>
              <a:rPr sz="4106" b="0">
                <a:solidFill>
                  <a:srgbClr val="1C1C1C"/>
                </a:solidFill>
                <a:latin typeface="Arial"/>
              </a:rPr>
              <a:t>p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query</a:t>
            </a:r>
            <a:r>
              <a:rPr sz="4106" b="0">
                <a:solidFill>
                  <a:srgbClr val="1C1C1C"/>
                </a:solidFill>
                <a:latin typeface="Arial"/>
              </a:rPr>
              <a:t>) — nonlinear attention + ReLU MLP. Gradient descent drives it to O(ε) ICL error in T = Θ(α</a:t>
            </a:r>
            <a:r>
              <a:rPr sz="5749" b="0" baseline="30000">
                <a:solidFill>
                  <a:srgbClr val="1C1C1C"/>
                </a:solidFill>
                <a:latin typeface="Arial"/>
              </a:rPr>
              <a:t>−2/3</a:t>
            </a:r>
            <a:r>
              <a:rPr sz="4106" b="0">
                <a:solidFill>
                  <a:srgbClr val="1C1C1C"/>
                </a:solidFill>
                <a:latin typeface="Arial"/>
              </a:rPr>
              <a:t>) iterations on N = BT samples.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81170" y="20712866"/>
            <a:ext cx="9975795" cy="3478546"/>
          </a:xfrm>
          <a:prstGeom prst="rect">
            <a:avLst/>
          </a:prstGeom>
          <a:noFill/>
        </p:spPr>
        <p:txBody>
          <a:bodyPr wrap="non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ICL in a nonlinear Transformer is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not a black box: attention finds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matching context, the ReLU MLP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amplifies its label.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877525" y="25403591"/>
            <a:ext cx="12726955" cy="2575523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One trained model generalizes in-domain and to shifted tasks whose relevant patterns are linear combinations of the training ones.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6877525" y="27930018"/>
            <a:ext cx="12726955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Trained on only a </a:t>
            </a:r>
            <a:r>
              <a:rPr sz="4106" b="1">
                <a:solidFill>
                  <a:srgbClr val="111111"/>
                </a:solidFill>
                <a:latin typeface="Arial"/>
              </a:rPr>
              <a:t>vanishing</a:t>
            </a:r>
            <a:r>
              <a:rPr sz="4106" b="0">
                <a:solidFill>
                  <a:srgbClr val="A2521C"/>
                </a:solidFill>
                <a:latin typeface="Arial"/>
              </a:rPr>
              <a:t> fraction of in-domain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A2521C"/>
                </a:solidFill>
                <a:latin typeface="Arial"/>
              </a:rPr>
              <a:t>tasks, yet generalizes to the rest.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972450" y="6867247"/>
            <a:ext cx="14113211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single-head, one-layer Transformer</a:t>
            </a:r>
            <a:r>
              <a:rPr sz="4106" b="0">
                <a:solidFill>
                  <a:srgbClr val="1C1C1C"/>
                </a:solidFill>
                <a:latin typeface="Arial"/>
              </a:rPr>
              <a:t> — softmax self-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attention plus a two-layer </a:t>
            </a:r>
            <a:r>
              <a:rPr sz="4106" b="1">
                <a:solidFill>
                  <a:srgbClr val="111111"/>
                </a:solidFill>
                <a:latin typeface="Arial"/>
              </a:rPr>
              <a:t>ReLU MLP</a:t>
            </a:r>
            <a:r>
              <a:rPr sz="4106" b="0">
                <a:solidFill>
                  <a:srgbClr val="1C1C1C"/>
                </a:solidFill>
                <a:latin typeface="Arial"/>
              </a:rPr>
              <a:t> — is trained by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minimizing hinge loss over prompts drawn from a subset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of binary classification tasks.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972450" y="10074592"/>
            <a:ext cx="14113211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Each input carries label-deciding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IDR patterns</a:t>
            </a:r>
            <a:r>
              <a:rPr sz="4106" b="0">
                <a:solidFill>
                  <a:srgbClr val="1C1C1C"/>
                </a:solidFill>
                <a:latin typeface="Arial"/>
              </a:rPr>
              <a:t> plus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irrelevant patterns; we follow the </a:t>
            </a:r>
            <a:r>
              <a:rPr sz="4106" b="1">
                <a:solidFill>
                  <a:srgbClr val="111111"/>
                </a:solidFill>
                <a:latin typeface="Arial"/>
              </a:rPr>
              <a:t>gradient-descent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trajectory</a:t>
            </a:r>
            <a:r>
              <a:rPr sz="4106" b="0">
                <a:solidFill>
                  <a:srgbClr val="1C1C1C"/>
                </a:solidFill>
                <a:latin typeface="Arial"/>
              </a:rPr>
              <a:t> of the attention and MLP weights and test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both in-domain and out-of-domain.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972450" y="13281937"/>
            <a:ext cx="14113211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Two quantities drive every guarantee: </a:t>
            </a:r>
            <a:r>
              <a:rPr sz="4106" b="1">
                <a:solidFill>
                  <a:srgbClr val="111111"/>
                </a:solidFill>
                <a:latin typeface="Arial"/>
              </a:rPr>
              <a:t>α</a:t>
            </a:r>
            <a:r>
              <a:rPr sz="4106" b="0">
                <a:solidFill>
                  <a:srgbClr val="1C1C1C"/>
                </a:solidFill>
                <a:latin typeface="Arial"/>
              </a:rPr>
              <a:t>, the fraction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context sharing the query's IDR pattern, and </a:t>
            </a:r>
            <a:r>
              <a:rPr sz="4106" b="1">
                <a:solidFill>
                  <a:srgbClr val="111111"/>
                </a:solidFill>
                <a:latin typeface="Arial"/>
              </a:rPr>
              <a:t>β</a:t>
            </a:r>
            <a:r>
              <a:rPr sz="4106" b="0">
                <a:solidFill>
                  <a:srgbClr val="1C1C1C"/>
                </a:solidFill>
                <a:latin typeface="Arial"/>
              </a:rPr>
              <a:t>, the norm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of the relevant patterns.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29496" y="13425011"/>
            <a:ext cx="9141247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First analysis of a </a:t>
            </a:r>
            <a:r>
              <a:rPr sz="4106" b="1">
                <a:solidFill>
                  <a:srgbClr val="111111"/>
                </a:solidFill>
                <a:latin typeface="Arial"/>
              </a:rPr>
              <a:t>fully nonlinear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Transformer.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9972" y="17304246"/>
            <a:ext cx="1002145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ICL theory </a:t>
            </a:r>
            <a:r>
              <a:rPr sz="4106" b="1">
                <a:solidFill>
                  <a:srgbClr val="111111"/>
                </a:solidFill>
                <a:latin typeface="Arial"/>
              </a:rPr>
              <a:t>drops the hard parts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— it removes nonlinear attention or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uses a linear MLP, and studies only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linear regression.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9972" y="20511591"/>
            <a:ext cx="10021455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None explain </a:t>
            </a:r>
            <a:r>
              <a:rPr sz="4106" b="1">
                <a:solidFill>
                  <a:srgbClr val="111111"/>
                </a:solidFill>
                <a:latin typeface="Arial"/>
              </a:rPr>
              <a:t>training under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distribution shift</a:t>
            </a:r>
            <a:r>
              <a:rPr sz="4106" b="0">
                <a:solidFill>
                  <a:srgbClr val="1C1C1C"/>
                </a:solidFill>
                <a:latin typeface="Arial"/>
              </a:rPr>
              <a:t>, nor how </a:t>
            </a:r>
            <a:r>
              <a:rPr sz="4106" b="1">
                <a:solidFill>
                  <a:srgbClr val="111111"/>
                </a:solidFill>
                <a:latin typeface="Arial"/>
              </a:rPr>
              <a:t>model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pruning</a:t>
            </a:r>
            <a:r>
              <a:rPr sz="4106" b="0">
                <a:solidFill>
                  <a:srgbClr val="1C1C1C"/>
                </a:solidFill>
                <a:latin typeface="Arial"/>
              </a:rPr>
              <a:t>, now routine for cheaper LLM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inference, affects ICL.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7371754" y="23671152"/>
            <a:ext cx="11708701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Out-of-domain error vs. context length for combination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strengths S₁: error falls below the 0.01 line (dashed) exactly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when S₁ ≥ 1.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16245" y="23718936"/>
            <a:ext cx="800209" cy="869636"/>
          </a:xfrm>
          <a:prstGeom prst="rect">
            <a:avLst/>
          </a:prstGeom>
          <a:noFill/>
        </p:spPr>
        <p:txBody>
          <a:bodyPr wrap="none" lIns="26077" rIns="26077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A2521C"/>
                </a:solidFill>
                <a:latin typeface="Arial"/>
              </a:rPr>
              <a:t>vs.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520592" y="27420927"/>
            <a:ext cx="12984057" cy="25571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Trained-model mechanism: attention concentrates on context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tokens sharing the query's IDR pattern (score 0.8); the ReLU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MLP's large-magnitude neurons then promote the matching label,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so the prediction reads the query-varying part of the label.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473780" y="28610103"/>
            <a:ext cx="5825091" cy="56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01"/>
              </a:lnSpc>
              <a:spcBef>
                <a:spcPts val="0"/>
              </a:spcBef>
              <a:spcAft>
                <a:spcPts val="0"/>
              </a:spcAft>
            </a:pPr>
            <a:r>
              <a:rPr sz="3546" b="1">
                <a:solidFill>
                  <a:srgbClr val="A2521C"/>
                </a:solidFill>
                <a:latin typeface="Arial"/>
              </a:rPr>
              <a:t>Scan to read the full paper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706851" y="29271436"/>
            <a:ext cx="3285108" cy="474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247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555555"/>
                </a:solidFill>
                <a:latin typeface="Arial"/>
              </a:rPr>
              <a:t>arxiv.org/abs/2402.15607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82584" y="7740967"/>
            <a:ext cx="4737591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A2521C"/>
                </a:solidFill>
                <a:latin typeface="Arial"/>
              </a:rPr>
              <a:t>~15%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682584" y="9115861"/>
            <a:ext cx="4737591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Wₒ neurons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prunable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682584" y="10158769"/>
            <a:ext cx="4737591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near-lossless ICL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83493" y="23936325"/>
            <a:ext cx="3974723" cy="1304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PRIOR ICL</a:t>
            </a:r>
          </a:p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THEORY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66944" y="23936325"/>
            <a:ext cx="3974865" cy="6522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466"/>
              </a:lnSpc>
              <a:spcBef>
                <a:spcPts val="0"/>
              </a:spcBef>
              <a:spcAft>
                <a:spcPts val="0"/>
              </a:spcAft>
            </a:pPr>
            <a:r>
              <a:rPr sz="3080" b="1" spc="154">
                <a:solidFill>
                  <a:srgbClr val="555555"/>
                </a:solidFill>
                <a:latin typeface="Arial"/>
              </a:rPr>
              <a:t>THIS WORK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66944" y="24581683"/>
            <a:ext cx="3974865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Fully nonlinear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model; provable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in- &amp; out-of-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domain ICL; first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pruning theory.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83493" y="25148837"/>
            <a:ext cx="3974723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Linear attention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or a linear MLP;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regression only;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no shift and no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pruning.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877525" y="6914197"/>
            <a:ext cx="3600300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REGIME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372962" y="6914197"/>
            <a:ext cx="6459766" cy="1431929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CONDITION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644580" y="6914197"/>
            <a:ext cx="2666888" cy="1431929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CLS.</a:t>
            </a:r>
          </a:p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ERROR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334124" y="7089497"/>
            <a:ext cx="1241162" cy="75414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α</a:t>
            </a:r>
            <a:r>
              <a:rPr sz="6010" b="1" spc="-42" baseline="30000">
                <a:solidFill>
                  <a:srgbClr val="AE2622"/>
                </a:solidFill>
                <a:latin typeface="Arial"/>
              </a:rPr>
              <a:t>−2/3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721658" y="7333416"/>
            <a:ext cx="2264852" cy="1472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iters &amp;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samples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scale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6877525" y="8159353"/>
            <a:ext cx="3600300" cy="1184807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In-domain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372962" y="8159353"/>
            <a:ext cx="6459766" cy="1184807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Θ(α</a:t>
            </a:r>
            <a:r>
              <a:rPr sz="5461" b="0" baseline="30000">
                <a:solidFill>
                  <a:srgbClr val="1C1C1C"/>
                </a:solidFill>
                <a:latin typeface="Arial"/>
              </a:rPr>
              <a:t>−2/3</a:t>
            </a:r>
            <a:r>
              <a:rPr sz="3901" b="0">
                <a:solidFill>
                  <a:srgbClr val="1C1C1C"/>
                </a:solidFill>
                <a:latin typeface="Arial"/>
              </a:rPr>
              <a:t>) iters &amp; samples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644580" y="8159353"/>
            <a:ext cx="2666888" cy="1184807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O(ε)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334124" y="8874303"/>
            <a:ext cx="862017" cy="7541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α</a:t>
            </a:r>
            <a:r>
              <a:rPr sz="6010" b="1" spc="-42" baseline="30000">
                <a:solidFill>
                  <a:srgbClr val="AE2622"/>
                </a:solidFill>
                <a:latin typeface="Arial"/>
              </a:rPr>
              <a:t>−1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353557" y="9118222"/>
            <a:ext cx="2643996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context length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scales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6877525" y="9189620"/>
            <a:ext cx="3600300" cy="1913073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Out-of-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domain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372962" y="9189620"/>
            <a:ext cx="6459766" cy="1913073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S₁ ≥ 1 (linear-combo</a:t>
            </a:r>
          </a:p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patterns)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644580" y="9189620"/>
            <a:ext cx="2666888" cy="1913073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&lt; 0.01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334124" y="10232390"/>
            <a:ext cx="1392962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&lt;0.01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7869038" y="10365740"/>
            <a:ext cx="2113051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OOD error,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S₁≥1</a:t>
            </a:r>
          </a:p>
        </p:txBody>
      </p:sp>
      <p:pic>
        <p:nvPicPr>
          <p:cNvPr id="99" name="Picture 98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72468" y="16254531"/>
            <a:ext cx="13702129" cy="11358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
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mf_vide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mf_vide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70a1e07f6ede383e.png"/><Relationship Id="rId3" Type="http://schemas.openxmlformats.org/officeDocument/2006/relationships/image" Target="../media/image_aeb30a5f95a0459d.png"/><Relationship Id="rId4" Type="http://schemas.openxmlformats.org/officeDocument/2006/relationships/image" Target="../media/image_ebfa27b3a15fceb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b41ae5bbb5c0839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9edc34b132fdf7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b6fa2704830a47b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346b3dfde088e4a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38200" y="1187768"/>
            <a:ext cx="4662379" cy="264033"/>
            <a:chOff x="838200" y="1187768"/>
            <a:chExt cx="4662379" cy="264033"/>
          </a:xfrm>
        </p:grpSpPr>
        <p:sp>
          <p:nvSpPr>
            <p:cNvPr id="5" name="Rectangle 5"/>
            <p:cNvSpPr/>
            <p:nvPr/>
          </p:nvSpPr>
          <p:spPr>
            <a:xfrm>
              <a:off x="838200" y="1257300"/>
              <a:ext cx="4381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02842" y="1187768"/>
              <a:ext cx="4097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NeurIPS 2023 · UNIVERSITY OF BASEL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829752"/>
            <a:ext cx="8600028" cy="1400175"/>
            <a:chOff x="800100" y="1829752"/>
            <a:chExt cx="8600028" cy="1400175"/>
          </a:xfrm>
        </p:grpSpPr>
        <p:sp>
          <p:nvSpPr>
            <p:cNvPr id="8" name="TextBox 8"/>
            <p:cNvSpPr txBox="1"/>
            <p:nvPr/>
          </p:nvSpPr>
          <p:spPr>
            <a:xfrm>
              <a:off x="800100" y="1829752"/>
              <a:ext cx="860002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Conditional Matrix Flows for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0100" y="2439352"/>
              <a:ext cx="777928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Gaussian Graphical Models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9056" y="3348990"/>
            <a:ext cx="9161681" cy="827628"/>
            <a:chOff x="829056" y="3348990"/>
            <a:chExt cx="9161681" cy="827628"/>
          </a:xfrm>
        </p:grpSpPr>
        <p:sp>
          <p:nvSpPr>
            <p:cNvPr id="11" name="TextBox 11"/>
            <p:cNvSpPr txBox="1"/>
            <p:nvPr/>
          </p:nvSpPr>
          <p:spPr>
            <a:xfrm>
              <a:off x="829056" y="3348990"/>
              <a:ext cx="91616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matrix normalizing flow for the whole family of sparse precision models.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199" y="3868579"/>
              <a:ext cx="66877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Marcello Massimo Negri · Fabricio Arend Torres · Volker Roth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31342" y="4731068"/>
            <a:ext cx="9817608" cy="1155382"/>
            <a:chOff x="831342" y="4731068"/>
            <a:chExt cx="9817608" cy="1155382"/>
          </a:xfrm>
        </p:grpSpPr>
        <p:sp>
          <p:nvSpPr>
            <p:cNvPr id="14" name="TextBox 14"/>
            <p:cNvSpPr txBox="1"/>
            <p:nvPr/>
          </p:nvSpPr>
          <p:spPr>
            <a:xfrm>
              <a:off x="831342" y="4731068"/>
              <a:ext cx="2735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SINGLE TRAINED FLOW GIVES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38200" y="5048250"/>
              <a:ext cx="3143250" cy="838200"/>
              <a:chOff x="838200" y="5048250"/>
              <a:chExt cx="3143250" cy="8382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38200" y="5048250"/>
                <a:ext cx="3143250" cy="838200"/>
              </a:xfrm>
              <a:prstGeom prst="roundRect">
                <a:avLst>
                  <a:gd name="adj" fmla="val 15909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58418" y="5232082"/>
                <a:ext cx="21579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Bayesian posterior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0323" y="5558314"/>
                <a:ext cx="25890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for every λ and every l-q norm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171950" y="5048250"/>
              <a:ext cx="3143250" cy="838200"/>
              <a:chOff x="4171950" y="5048250"/>
              <a:chExt cx="3143250" cy="8382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171950" y="5048250"/>
                <a:ext cx="3143250" cy="838200"/>
              </a:xfrm>
              <a:prstGeom prst="roundRect">
                <a:avLst>
                  <a:gd name="adj" fmla="val 15909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392168" y="5232082"/>
                <a:ext cx="20990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Marginal likelihood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394073" y="5558314"/>
                <a:ext cx="220995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for model selection over λ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505700" y="5048250"/>
              <a:ext cx="3143250" cy="838200"/>
              <a:chOff x="7505700" y="5048250"/>
              <a:chExt cx="3143250" cy="8382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505700" y="5048250"/>
                <a:ext cx="3143250" cy="838200"/>
              </a:xfrm>
              <a:prstGeom prst="roundRect">
                <a:avLst>
                  <a:gd name="adj" fmla="val 15909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725918" y="5232082"/>
                <a:ext cx="1959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Frequentist path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727823" y="5558314"/>
                <a:ext cx="192563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via simulated annealing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7549466" y="609600"/>
            <a:ext cx="3804334" cy="2727484"/>
            <a:chOff x="7549466" y="609600"/>
            <a:chExt cx="3804334" cy="2727484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9466" y="609600"/>
              <a:ext cx="3760568" cy="120015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9300" y="2286000"/>
              <a:ext cx="800100" cy="8001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9865436" y="3117056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53700" y="2286000"/>
              <a:ext cx="800100" cy="8001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10738373" y="3117056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  <p:sp>
        <p:nvSpPr>
          <p:cNvPr id="37" name="cue_s01_c1_conditional_matrix_flows_gaussian_gr" title="cue_s01_c1_conditional_matrix_flows_gaussian_gr" descr="cue_s01_c1_conditional_matrix_flows_gaussian_gr Conditional Matrix Flows for Gaussian Graphical Models, from the University of Basel, unifies sparse network inference."/>
          <p:cNvSpPr/>
          <p:nvPr/>
        </p:nvSpPr>
        <p:spPr>
          <a:xfrm>
            <a:off x="799795" y="1829714"/>
            <a:ext cx="8600236" cy="7907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1_c2_one_trained_matrix_normalizing_flow" title="cue_s01_c2_one_trained_matrix_normalizing_flow" descr="cue_s01_c2_one_trained_matrix_normalizing_flow With one trained matrix normalizing flow it delivers the full Bayesian posterior for every regularization strength and every l-q pseudo-norm, the marginal likelihood for model selection, and the frequentist solution path through simulated annealing."/>
          <p:cNvSpPr/>
          <p:nvPr/>
        </p:nvSpPr>
        <p:spPr>
          <a:xfrm>
            <a:off x="831494" y="4731334"/>
            <a:ext cx="9818217" cy="11555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1477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PROBLEM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80033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Sparse Precision Estimation Is Hard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829056" y="1539240"/>
            <a:ext cx="1364456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 zero in the precision matrix means conditional independence, so a sparse precision matrix recovers the network.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38200" y="2133600"/>
            <a:ext cx="3352800" cy="3733800"/>
            <a:chOff x="838200" y="2133600"/>
            <a:chExt cx="3352800" cy="3733800"/>
          </a:xfrm>
        </p:grpSpPr>
        <p:sp>
          <p:nvSpPr>
            <p:cNvPr id="10" name="Rectangle 10"/>
            <p:cNvSpPr/>
            <p:nvPr/>
          </p:nvSpPr>
          <p:spPr>
            <a:xfrm>
              <a:off x="838200" y="2133600"/>
              <a:ext cx="3352800" cy="3733800"/>
            </a:xfrm>
            <a:prstGeom prst="roundRect">
              <a:avLst>
                <a:gd name="adj" fmla="val 454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1009650" y="23050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15173" y="2381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7137" y="2356961"/>
              <a:ext cx="218439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Precision matrix Θ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257300" y="2857500"/>
              <a:ext cx="2064532" cy="1257300"/>
              <a:chOff x="1257300" y="2857500"/>
              <a:chExt cx="2064532" cy="12573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257300" y="285750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695450" y="285750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133600" y="285750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257300" y="32956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695450" y="32956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133600" y="329565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257300" y="373380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695450" y="373380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133600" y="3733800"/>
                <a:ext cx="381000" cy="381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699004" y="3261360"/>
                <a:ext cx="2496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= 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99004" y="3470910"/>
                <a:ext cx="6228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no edge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097280" y="4429125"/>
              <a:ext cx="1918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Θᵢⱼ = 0 ⇒ i ⊥ j | rest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7661" y="4837271"/>
              <a:ext cx="2532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Sparse Θ = the conditional-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7661" y="5084921"/>
              <a:ext cx="27576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independence network itself.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19600" y="2133600"/>
            <a:ext cx="3352800" cy="3733800"/>
            <a:chOff x="4419600" y="2133600"/>
            <a:chExt cx="3352800" cy="3733800"/>
          </a:xfrm>
        </p:grpSpPr>
        <p:sp>
          <p:nvSpPr>
            <p:cNvPr id="30" name="Rectangle 30"/>
            <p:cNvSpPr/>
            <p:nvPr/>
          </p:nvSpPr>
          <p:spPr>
            <a:xfrm>
              <a:off x="4419600" y="2133600"/>
              <a:ext cx="3352800" cy="3733800"/>
            </a:xfrm>
            <a:prstGeom prst="roundRect">
              <a:avLst>
                <a:gd name="adj" fmla="val 454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1" name="Ellipse 31"/>
            <p:cNvSpPr/>
            <p:nvPr/>
          </p:nvSpPr>
          <p:spPr>
            <a:xfrm>
              <a:off x="4591050" y="23050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96573" y="2381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58537" y="2356961"/>
              <a:ext cx="24085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ideal: l₀ penalty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67250" y="2741295"/>
              <a:ext cx="15941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‖Θ‖₀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78680" y="3571875"/>
              <a:ext cx="2758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Counts the non-zero edges.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79061" y="4094321"/>
              <a:ext cx="2859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Exactly the sparsity we want,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79061" y="4341971"/>
              <a:ext cx="18305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but the objective is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78680" y="4581525"/>
              <a:ext cx="29518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combinatorial &amp; intractable.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001000" y="2133600"/>
            <a:ext cx="3352800" cy="3733800"/>
            <a:chOff x="8001000" y="2133600"/>
            <a:chExt cx="3352800" cy="3733800"/>
          </a:xfrm>
        </p:grpSpPr>
        <p:sp>
          <p:nvSpPr>
            <p:cNvPr id="40" name="Rectangle 40"/>
            <p:cNvSpPr/>
            <p:nvPr/>
          </p:nvSpPr>
          <p:spPr>
            <a:xfrm>
              <a:off x="8001000" y="2133600"/>
              <a:ext cx="3352800" cy="3733800"/>
            </a:xfrm>
            <a:prstGeom prst="roundRect">
              <a:avLst>
                <a:gd name="adj" fmla="val 454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1" name="Ellipse 41"/>
            <p:cNvSpPr/>
            <p:nvPr/>
          </p:nvSpPr>
          <p:spPr>
            <a:xfrm>
              <a:off x="8172450" y="23050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77973" y="2381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39937" y="2356961"/>
              <a:ext cx="20564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retreat to l₁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0461" y="2951321"/>
              <a:ext cx="1927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Sub-l₁ norms (q &lt; 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0461" y="3198971"/>
              <a:ext cx="2652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approximate l₀ well, but are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60461" y="3446621"/>
              <a:ext cx="30653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non-convex &amp; hard to optimize.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0461" y="3941921"/>
              <a:ext cx="2706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 most methods fall back to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461" y="4189571"/>
              <a:ext cx="2432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convex l₁ norm, which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60461" y="4437221"/>
              <a:ext cx="26137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over-shrinks the estimate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0842" y="4940618"/>
              <a:ext cx="1909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Worst when variables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60842" y="5169218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outnumber samples (d &gt; n).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53" name="TextBox 53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  <p:sp>
        <p:nvSpPr>
          <p:cNvPr id="56" name="cue_s02_c1_gaussian_graphical_models_read_condi" title="cue_s02_c1_gaussian_graphical_models_read_condi" descr="cue_s02_c1_gaussian_graphical_models_read_condi Gaussian Graphical Models read conditional independence from the precision matrix, the inverse covariance: a zero entry means two variables are conditionally independent, so a sparse precision matrix recovers the network."/>
          <p:cNvSpPr/>
          <p:nvPr/>
        </p:nvSpPr>
        <p:spPr>
          <a:xfrm>
            <a:off x="838809" y="2133523"/>
            <a:ext cx="335280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2_c2_ideal_l_zero_penalty_counts_edges" title="cue_s02_c2_ideal_l_zero_penalty_counts_edges" descr="cue_s02_c2_ideal_l_zero_penalty_counts_edges The ideal l-zero penalty that counts edges is combinatorial and intractable."/>
          <p:cNvSpPr/>
          <p:nvPr/>
        </p:nvSpPr>
        <p:spPr>
          <a:xfrm>
            <a:off x="4419600" y="2133523"/>
            <a:ext cx="335280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2_c3_sub_l_one_pseudo_norms_approximate_w" title="cue_s02_c3_sub_l_one_pseudo_norms_approximate_w" descr="cue_s02_c3_sub_l_one_pseudo_norms_approximate_w Sub-l-one pseudo-norms approximate it well but are non-convex, so most methods retreat to the convex l-one norm, which over-shrinks, especially when variables outnumber samples."/>
          <p:cNvSpPr/>
          <p:nvPr/>
        </p:nvSpPr>
        <p:spPr>
          <a:xfrm>
            <a:off x="8000390" y="2133523"/>
            <a:ext cx="335280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1334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MOTIVATION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68064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Camps, One Missing Piece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38200" y="1562100"/>
            <a:ext cx="3352800" cy="2019300"/>
            <a:chOff x="838200" y="1562100"/>
            <a:chExt cx="3352800" cy="2019300"/>
          </a:xfrm>
        </p:grpSpPr>
        <p:sp>
          <p:nvSpPr>
            <p:cNvPr id="9" name="Rectangle 9"/>
            <p:cNvSpPr/>
            <p:nvPr/>
          </p:nvSpPr>
          <p:spPr>
            <a:xfrm>
              <a:off x="838200" y="1562100"/>
              <a:ext cx="3352800" cy="2019300"/>
            </a:xfrm>
            <a:prstGeom prst="roundRect">
              <a:avLst>
                <a:gd name="adj" fmla="val 754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838200" y="1562100"/>
              <a:ext cx="3352800" cy="438150"/>
            </a:xfrm>
            <a:prstGeom prst="roundRect">
              <a:avLst>
                <a:gd name="adj" fmla="val 3478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8200" y="1790700"/>
              <a:ext cx="335280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8418" y="1688782"/>
              <a:ext cx="22310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Frequentist GLasso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561" y="2246471"/>
              <a:ext cx="2400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Traces the whole solution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561" y="2494121"/>
              <a:ext cx="16106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path as λ varies.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561" y="2989421"/>
              <a:ext cx="2630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But: point estimates only.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19600" y="1562100"/>
            <a:ext cx="3352800" cy="2019300"/>
            <a:chOff x="4419600" y="1562100"/>
            <a:chExt cx="3352800" cy="2019300"/>
          </a:xfrm>
        </p:grpSpPr>
        <p:sp>
          <p:nvSpPr>
            <p:cNvPr id="17" name="Rectangle 17"/>
            <p:cNvSpPr/>
            <p:nvPr/>
          </p:nvSpPr>
          <p:spPr>
            <a:xfrm>
              <a:off x="4419600" y="1562100"/>
              <a:ext cx="3352800" cy="2019300"/>
            </a:xfrm>
            <a:prstGeom prst="roundRect">
              <a:avLst>
                <a:gd name="adj" fmla="val 754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8" name="Rectangle 18"/>
            <p:cNvSpPr/>
            <p:nvPr/>
          </p:nvSpPr>
          <p:spPr>
            <a:xfrm>
              <a:off x="4419600" y="1562100"/>
              <a:ext cx="3352800" cy="438150"/>
            </a:xfrm>
            <a:prstGeom prst="roundRect">
              <a:avLst>
                <a:gd name="adj" fmla="val 3478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19600" y="1790700"/>
              <a:ext cx="335280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39818" y="1688782"/>
              <a:ext cx="18462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Bayesian GLasso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0961" y="2246471"/>
              <a:ext cx="23050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Full posterior + marginal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0961" y="2494121"/>
              <a:ext cx="22606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likelihood for selection.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0961" y="2989421"/>
              <a:ext cx="24172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But: Gibbs mixes poorly,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0961" y="3237071"/>
              <a:ext cx="2182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restarts for every λ.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562100"/>
            <a:ext cx="3352800" cy="2019300"/>
            <a:chOff x="8001000" y="1562100"/>
            <a:chExt cx="3352800" cy="2019300"/>
          </a:xfrm>
        </p:grpSpPr>
        <p:sp>
          <p:nvSpPr>
            <p:cNvPr id="26" name="Rectangle 26"/>
            <p:cNvSpPr/>
            <p:nvPr/>
          </p:nvSpPr>
          <p:spPr>
            <a:xfrm>
              <a:off x="8001000" y="1562100"/>
              <a:ext cx="3352800" cy="2019300"/>
            </a:xfrm>
            <a:prstGeom prst="roundRect">
              <a:avLst>
                <a:gd name="adj" fmla="val 754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8001000" y="1562100"/>
              <a:ext cx="3352800" cy="438150"/>
            </a:xfrm>
            <a:prstGeom prst="roundRect">
              <a:avLst>
                <a:gd name="adj" fmla="val 3478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0" y="1790700"/>
              <a:ext cx="335280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1218" y="1688782"/>
              <a:ext cx="2425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Variational inference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2361" y="2246471"/>
              <a:ext cx="18173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Turns sampling into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2361" y="2494121"/>
              <a:ext cx="1276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optimization.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2361" y="2989421"/>
              <a:ext cx="24403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But: mean-field assumes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2361" y="3237071"/>
              <a:ext cx="2934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independence — what we seek.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38200" y="3981450"/>
            <a:ext cx="10515600" cy="1676400"/>
            <a:chOff x="838200" y="3981450"/>
            <a:chExt cx="10515600" cy="1676400"/>
          </a:xfrm>
        </p:grpSpPr>
        <p:sp>
          <p:nvSpPr>
            <p:cNvPr id="35" name="Rectangle 35"/>
            <p:cNvSpPr/>
            <p:nvPr/>
          </p:nvSpPr>
          <p:spPr>
            <a:xfrm>
              <a:off x="838200" y="3981450"/>
              <a:ext cx="10515600" cy="1676400"/>
            </a:xfrm>
            <a:prstGeom prst="roundRect">
              <a:avLst>
                <a:gd name="adj" fmla="val 909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838200" y="3981450"/>
              <a:ext cx="76200" cy="1676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2342" y="4369118"/>
              <a:ext cx="1040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GOAL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06246" y="4696778"/>
              <a:ext cx="86217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 variational family that respects dependence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246" y="5096828"/>
              <a:ext cx="76238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and flexes across both λ and the norm q.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41" name="TextBox 41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  <p:sp>
        <p:nvSpPr>
          <p:cNvPr id="44" name="cue_s03_c1_two_camps_exist_frequentist_graphica" title="cue_s03_c1_two_camps_exist_frequentist_graphica" descr="cue_s03_c1_two_camps_exist_frequentist_graphica Two camps exist. The frequentist Graphical Lasso traces the whole solution path as lambda varies, but returns only point estimates."/>
          <p:cNvSpPr/>
          <p:nvPr/>
        </p:nvSpPr>
        <p:spPr>
          <a:xfrm>
            <a:off x="838809" y="1562252"/>
            <a:ext cx="3352800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3_c2_bayesian_graphical_lasso_gives_full" title="cue_s03_c2_bayesian_graphical_lasso_gives_full" descr="cue_s03_c2_bayesian_graphical_lasso_gives_full The Bayesian Graphical Lasso gives a full posterior and a marginal likelihood, but relies on Gibbs samplers that mix poorly and must restart for every lambda."/>
          <p:cNvSpPr/>
          <p:nvPr/>
        </p:nvSpPr>
        <p:spPr>
          <a:xfrm>
            <a:off x="4419600" y="1562252"/>
            <a:ext cx="3352800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3_c3_variational_inference_could_bridge_t" title="cue_s03_c3_variational_inference_could_bridge_t" descr="cue_s03_c3_variational_inference_could_bridge_t Variational inference could bridge them, yet the usual mean-field trick assumes independence, exactly what a graphical model seeks."/>
          <p:cNvSpPr/>
          <p:nvPr/>
        </p:nvSpPr>
        <p:spPr>
          <a:xfrm>
            <a:off x="8000390" y="1562252"/>
            <a:ext cx="3352800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3_c4_need_family_respects_dependence_flex" title="cue_s03_c4_need_family_respects_dependence_flex" descr="cue_s03_c4_need_family_respects_dependence_flex We need a family that respects dependence and flexes across lambda and the norm."/>
          <p:cNvSpPr/>
          <p:nvPr/>
        </p:nvSpPr>
        <p:spPr>
          <a:xfrm>
            <a:off x="838809" y="3981754"/>
            <a:ext cx="105156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866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78341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Conditional Matrix Flow (CMF)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38200" y="1428750"/>
            <a:ext cx="10515600" cy="2114550"/>
            <a:chOff x="838200" y="1428750"/>
            <a:chExt cx="10515600" cy="2114550"/>
          </a:xfrm>
        </p:grpSpPr>
        <p:sp>
          <p:nvSpPr>
            <p:cNvPr id="9" name="Rectangle 9"/>
            <p:cNvSpPr/>
            <p:nvPr/>
          </p:nvSpPr>
          <p:spPr>
            <a:xfrm>
              <a:off x="838200" y="1428750"/>
              <a:ext cx="10515600" cy="2114550"/>
            </a:xfrm>
            <a:prstGeom prst="roundRect">
              <a:avLst>
                <a:gd name="adj" fmla="val 720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7848" y="1581150"/>
              <a:ext cx="6760803" cy="18097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9250680" y="1857375"/>
              <a:ext cx="1745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Built on Cholesky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51442" y="2254568"/>
              <a:ext cx="1917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Any PD matrix = L Lᵀ,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1442" y="250221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 a d-dim precision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51442" y="27498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matrix needs only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50680" y="3000375"/>
              <a:ext cx="1987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d(d+1)/2 numbers.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" y="3733800"/>
            <a:ext cx="4572000" cy="2114550"/>
            <a:chOff x="838200" y="3733800"/>
            <a:chExt cx="4572000" cy="2114550"/>
          </a:xfrm>
        </p:grpSpPr>
        <p:sp>
          <p:nvSpPr>
            <p:cNvPr id="17" name="Rectangle 17"/>
            <p:cNvSpPr/>
            <p:nvPr/>
          </p:nvSpPr>
          <p:spPr>
            <a:xfrm>
              <a:off x="838200" y="3733800"/>
              <a:ext cx="4572000" cy="2114550"/>
            </a:xfrm>
            <a:prstGeom prst="roundRect">
              <a:avLst>
                <a:gd name="adj" fmla="val 720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1058418" y="3936682"/>
              <a:ext cx="19013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flow pipeline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4331018"/>
              <a:ext cx="3379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base vector → Sum-of-Sigmoids layers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942" y="4616768"/>
              <a:ext cx="2837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reshape to lower-triangular 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9942" y="4902518"/>
              <a:ext cx="2294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softplus on the diagonal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942" y="5188268"/>
              <a:ext cx="2106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 Cholesky product L Lᵀ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942" y="5531168"/>
              <a:ext cx="38948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Always a valid PD matrix, cheap Jacobian.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38800" y="3733800"/>
            <a:ext cx="3658352" cy="2114550"/>
            <a:chOff x="5638800" y="3733800"/>
            <a:chExt cx="3658352" cy="2114550"/>
          </a:xfrm>
        </p:grpSpPr>
        <p:sp>
          <p:nvSpPr>
            <p:cNvPr id="25" name="Rectangle 25"/>
            <p:cNvSpPr/>
            <p:nvPr/>
          </p:nvSpPr>
          <p:spPr>
            <a:xfrm>
              <a:off x="5638800" y="3733800"/>
              <a:ext cx="3429000" cy="2114550"/>
            </a:xfrm>
            <a:prstGeom prst="roundRect">
              <a:avLst>
                <a:gd name="adj" fmla="val 720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5859018" y="3936682"/>
              <a:ext cx="2566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Conditioning &amp; training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60542" y="4331018"/>
              <a:ext cx="2782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Hypernetwork feeds in λ and q.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60542" y="4616768"/>
              <a:ext cx="2650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Loss = KL to the unnormalized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60542" y="4864418"/>
              <a:ext cx="343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posterior (generalized-Normal prior).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60542" y="5245418"/>
              <a:ext cx="2576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Marginal likelihood falls out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60542" y="5493068"/>
              <a:ext cx="2551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for free → model selection.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296400" y="3733800"/>
            <a:ext cx="2057400" cy="2114550"/>
            <a:chOff x="9296400" y="3733800"/>
            <a:chExt cx="2057400" cy="2114550"/>
          </a:xfrm>
        </p:grpSpPr>
        <p:sp>
          <p:nvSpPr>
            <p:cNvPr id="33" name="Rectangle 33"/>
            <p:cNvSpPr/>
            <p:nvPr/>
          </p:nvSpPr>
          <p:spPr>
            <a:xfrm>
              <a:off x="9296400" y="3733800"/>
              <a:ext cx="2057400" cy="2114550"/>
            </a:xfrm>
            <a:prstGeom prst="roundRect">
              <a:avLst>
                <a:gd name="adj" fmla="val 7407"/>
              </a:avLst>
            </a:prstGeom>
            <a:solidFill>
              <a:schemeClr val="dk1"/>
            </a:solidFill>
            <a:ln>
              <a:noFill/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9517380" y="3933825"/>
              <a:ext cx="1125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One prior,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7380" y="4181475"/>
              <a:ext cx="1213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many norms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25000" y="4514850"/>
              <a:ext cx="160020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0542" y="4607242"/>
              <a:ext cx="1150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 = 2 · Ridge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0" y="4914900"/>
              <a:ext cx="1600200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70542" y="5007292"/>
              <a:ext cx="1198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 = 1 · Lasso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25000" y="5314950"/>
              <a:ext cx="1600200" cy="342900"/>
            </a:xfrm>
            <a:prstGeom prst="roundRect">
              <a:avLst>
                <a:gd name="adj" fmla="val 2222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70542" y="540734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 &lt; 1 · sub-l₁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43" name="TextBox 43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  <p:sp>
        <p:nvSpPr>
          <p:cNvPr id="46" name="cue_s04_c1_flow_works_cholesky_factorization_an" title="cue_s04_c1_flow_works_cholesky_factorization_an" descr="cue_s04_c1_flow_works_cholesky_factorization_an The flow works on the Cholesky factorization. Any positive-definite matrix is L times L-transpose, so a d-dimensional precision matrix needs only d times d plus one, over two, numbers."/>
          <p:cNvSpPr/>
          <p:nvPr/>
        </p:nvSpPr>
        <p:spPr>
          <a:xfrm>
            <a:off x="838809" y="1428521"/>
            <a:ext cx="10515600" cy="21143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4_c2_flow_pushes_base_vector_through" title="cue_s04_c2_flow_pushes_base_vector_through" descr="cue_s04_c2_flow_pushes_base_vector_through The flow pushes a base vector through Sum-of-Sigmoids layers, reshapes it into a triangular matrix, forces the diagonal positive with a softplus, and takes the Cholesky product, so every output is a valid precision matrix with cheap Jacobians."/>
          <p:cNvSpPr/>
          <p:nvPr/>
        </p:nvSpPr>
        <p:spPr>
          <a:xfrm>
            <a:off x="838809" y="3733495"/>
            <a:ext cx="4572000" cy="21143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4_c3_hypernetwork_feeds_lambda_minimizes" title="cue_s04_c3_hypernetwork_feeds_lambda_minimizes" descr="cue_s04_c3_hypernetwork_feeds_lambda_minimizes A hypernetwork feeds in lambda and q, and training minimizes the KL divergence to the unnormalized posterior under a generalized-Normal prior."/>
          <p:cNvSpPr/>
          <p:nvPr/>
        </p:nvSpPr>
        <p:spPr>
          <a:xfrm>
            <a:off x="5638800" y="3733495"/>
            <a:ext cx="3658819" cy="21143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4_c4_lasso_appears_equals_one_ridge" title="cue_s04_c4_lasso_appears_equals_one_ridge" descr="cue_s04_c4_lasso_appears_equals_one_ridge Lasso appears at q equals one, Ridge at q equals two, and smaller q reaches the sub-l-one regime."/>
          <p:cNvSpPr/>
          <p:nvPr/>
        </p:nvSpPr>
        <p:spPr>
          <a:xfrm>
            <a:off x="9296400" y="3733495"/>
            <a:ext cx="2056790" cy="21143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2179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 &amp; BENCHMARKS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96691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From Synthetic Graphs to Real Cancer Data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38200" y="1447800"/>
            <a:ext cx="10602188" cy="495300"/>
            <a:chOff x="838200" y="1447800"/>
            <a:chExt cx="10602188" cy="495300"/>
          </a:xfrm>
        </p:grpSpPr>
        <p:sp>
          <p:nvSpPr>
            <p:cNvPr id="9" name="Rectangle 9"/>
            <p:cNvSpPr/>
            <p:nvPr/>
          </p:nvSpPr>
          <p:spPr>
            <a:xfrm>
              <a:off x="838200" y="1447800"/>
              <a:ext cx="105156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447800"/>
              <a:ext cx="7620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899" y="1592104"/>
              <a:ext cx="103434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The model is tested on </a:t>
              </a:r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two data types</a:t>
              </a:r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: controlled synthetic graphs and a real biomedical network.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200" y="2133600"/>
            <a:ext cx="5177390" cy="3733800"/>
            <a:chOff x="838200" y="2133600"/>
            <a:chExt cx="5177390" cy="3733800"/>
          </a:xfrm>
        </p:grpSpPr>
        <p:sp>
          <p:nvSpPr>
            <p:cNvPr id="13" name="Rectangle 13"/>
            <p:cNvSpPr/>
            <p:nvPr/>
          </p:nvSpPr>
          <p:spPr>
            <a:xfrm>
              <a:off x="838200" y="2133600"/>
              <a:ext cx="4953000" cy="3733800"/>
            </a:xfrm>
            <a:prstGeom prst="roundRect">
              <a:avLst>
                <a:gd name="adj" fmla="val 408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838200" y="2133600"/>
              <a:ext cx="4953000" cy="5524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8200" y="2400300"/>
              <a:ext cx="4953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5756" y="2301240"/>
              <a:ext cx="35109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· Synthetic (Scikit-learn)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171575" y="3114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2080" y="3067050"/>
              <a:ext cx="2769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15×15 example to visualize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02080" y="33147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posteriors and solution paths.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171575" y="38385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02080" y="3790950"/>
              <a:ext cx="2993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= 30, with n = 15, 25, 35, 45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02080" y="4038600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samples for edge recovery.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71575" y="45624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02080" y="4514850"/>
              <a:ext cx="3092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Averaged over 10 ground-truth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02080" y="4762500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precision matrices.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04900" y="5257800"/>
              <a:ext cx="4533900" cy="419100"/>
            </a:xfrm>
            <a:prstGeom prst="roundRect">
              <a:avLst>
                <a:gd name="adj" fmla="val 2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88542" y="5378768"/>
              <a:ext cx="4727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Few samples relative to dimension — the hard regime.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19800" y="2133600"/>
            <a:ext cx="5622254" cy="3733800"/>
            <a:chOff x="6019800" y="2133600"/>
            <a:chExt cx="5622254" cy="3733800"/>
          </a:xfrm>
        </p:grpSpPr>
        <p:sp>
          <p:nvSpPr>
            <p:cNvPr id="29" name="Rectangle 29"/>
            <p:cNvSpPr/>
            <p:nvPr/>
          </p:nvSpPr>
          <p:spPr>
            <a:xfrm>
              <a:off x="6019800" y="2133600"/>
              <a:ext cx="5334000" cy="3733800"/>
            </a:xfrm>
            <a:prstGeom prst="roundRect">
              <a:avLst>
                <a:gd name="adj" fmla="val 408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6019800" y="2133600"/>
              <a:ext cx="5334000" cy="5524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19800" y="2400300"/>
              <a:ext cx="5334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77356" y="2301240"/>
              <a:ext cx="32204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· Real colorectal cancer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353175" y="3095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3680" y="3048000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clinical variables 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3680" y="32956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312 gene measurements.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353175" y="3819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3680" y="3771900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190 fully-measured patients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83680" y="4019550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(p53 status removed).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353175" y="4543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3680" y="4495800"/>
              <a:ext cx="2384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Infers only the relevant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83680" y="4743450"/>
              <a:ext cx="2435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sub-blocks of Θ, not the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83680" y="4991100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full expensive matrix.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2600" y="3067050"/>
              <a:ext cx="1752600" cy="17526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9371762" y="4861560"/>
              <a:ext cx="17542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Inferred CMF network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86500" y="5391150"/>
              <a:ext cx="48006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70142" y="5464492"/>
              <a:ext cx="5171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Smaller q yields sparser, cleaner clinical-gene structure.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48" name="TextBox 48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  <p:sp>
        <p:nvSpPr>
          <p:cNvPr id="51" name="cue_s05_c1_experiments_two_types" title="cue_s05_c1_experiments_two_types" descr="cue_s05_c1_experiments_two_types Experiments use two data types."/>
          <p:cNvSpPr/>
          <p:nvPr/>
        </p:nvSpPr>
        <p:spPr>
          <a:xfrm>
            <a:off x="838809" y="1447723"/>
            <a:ext cx="10602163" cy="495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5_c2_first_synthetic_sparse_precision_mat" title="cue_s05_c2_first_synthetic_sparse_precision_mat" descr="cue_s05_c2_first_synthetic_sparse_precision_mat First, synthetic sparse precision matrices from Scikit-learn: a small fifteen-by-fifteen case to visualize posteriors, and a thirty-dimensional setting with fifteen to forty-five samples for edge recovery, averaged over ten ground-truth matrices."/>
          <p:cNvSpPr/>
          <p:nvPr/>
        </p:nvSpPr>
        <p:spPr>
          <a:xfrm>
            <a:off x="838809" y="2133523"/>
            <a:ext cx="495239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5_c3_second_real_colorectal_cancer_datase" title="cue_s05_c3_second_real_colorectal_cancer_datase" descr="cue_s05_c3_second_real_colorectal_cancer_datase Second, a real colorectal-cancer dataset with six clinical variables and three hundred twelve gene-expression measurements across one hundred ninety patients, inferring only the relevant sub-blocks of the precision matrix."/>
          <p:cNvSpPr/>
          <p:nvPr/>
        </p:nvSpPr>
        <p:spPr>
          <a:xfrm>
            <a:off x="6020409" y="2133523"/>
            <a:ext cx="5621731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126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RESULT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75533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Model Does the Work of Many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38200" y="1447800"/>
            <a:ext cx="5715000" cy="1495425"/>
            <a:chOff x="838200" y="1447800"/>
            <a:chExt cx="5715000" cy="1495425"/>
          </a:xfrm>
        </p:grpSpPr>
        <p:sp>
          <p:nvSpPr>
            <p:cNvPr id="9" name="Rectangle 9"/>
            <p:cNvSpPr/>
            <p:nvPr/>
          </p:nvSpPr>
          <p:spPr>
            <a:xfrm>
              <a:off x="838200" y="1447800"/>
              <a:ext cx="5715000" cy="1428750"/>
            </a:xfrm>
            <a:prstGeom prst="roundRect">
              <a:avLst>
                <a:gd name="adj" fmla="val 10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097661" y="1732121"/>
              <a:ext cx="4924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One trained flow reconstructs the frequentist path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5850" y="2066925"/>
              <a:ext cx="473068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MSE = 0.052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81800" y="1447800"/>
            <a:ext cx="4685015" cy="1428750"/>
            <a:chOff x="6781800" y="1447800"/>
            <a:chExt cx="4685015" cy="1428750"/>
          </a:xfrm>
        </p:grpSpPr>
        <p:sp>
          <p:nvSpPr>
            <p:cNvPr id="13" name="Rectangle 13"/>
            <p:cNvSpPr/>
            <p:nvPr/>
          </p:nvSpPr>
          <p:spPr>
            <a:xfrm>
              <a:off x="6781800" y="1447800"/>
              <a:ext cx="4572000" cy="1428750"/>
            </a:xfrm>
            <a:prstGeom prst="roundRect">
              <a:avLst>
                <a:gd name="adj" fmla="val 10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7003161" y="1674971"/>
              <a:ext cx="2830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Bayesian model selection picks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92874" y="2027872"/>
              <a:ext cx="204458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λ = 3.52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3161" y="2589371"/>
              <a:ext cx="44636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agreeing with cross-validated GLasso </a:t>
              </a:r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λ = 3.36</a:t>
              </a:r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38200" y="3105150"/>
            <a:ext cx="6318789" cy="2762250"/>
            <a:chOff x="838200" y="3105150"/>
            <a:chExt cx="6318789" cy="2762250"/>
          </a:xfrm>
        </p:grpSpPr>
        <p:sp>
          <p:nvSpPr>
            <p:cNvPr id="18" name="Rectangle 18"/>
            <p:cNvSpPr/>
            <p:nvPr/>
          </p:nvSpPr>
          <p:spPr>
            <a:xfrm>
              <a:off x="838200" y="3105150"/>
              <a:ext cx="5715000" cy="2762250"/>
            </a:xfrm>
            <a:prstGeom prst="roundRect">
              <a:avLst>
                <a:gd name="adj" fmla="val 551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1059180" y="3286125"/>
              <a:ext cx="3065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F1 edge recovery vs. samples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0905" y="3562350"/>
              <a:ext cx="2823891" cy="19431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1060323" y="5596414"/>
              <a:ext cx="6096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Scarce samples: sub-l₁ norms clearly beat BGL; the gain grows as q → 0.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81800" y="3105150"/>
            <a:ext cx="4572000" cy="2762250"/>
            <a:chOff x="6781800" y="3105150"/>
            <a:chExt cx="4572000" cy="2762250"/>
          </a:xfrm>
        </p:grpSpPr>
        <p:sp>
          <p:nvSpPr>
            <p:cNvPr id="23" name="Rectangle 23"/>
            <p:cNvSpPr/>
            <p:nvPr/>
          </p:nvSpPr>
          <p:spPr>
            <a:xfrm>
              <a:off x="6781800" y="3105150"/>
              <a:ext cx="4572000" cy="2762250"/>
            </a:xfrm>
            <a:prstGeom prst="roundRect">
              <a:avLst>
                <a:gd name="adj" fmla="val 551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6781800" y="3105150"/>
              <a:ext cx="76200" cy="2762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78218" y="3327082"/>
              <a:ext cx="3293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vs. frequentist competitors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78980" y="3800475"/>
              <a:ext cx="3111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Against surrogate l₀ penalties,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78980" y="4048125"/>
              <a:ext cx="320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the CMF at </a:t>
              </a:r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 = 0.25</a:t>
              </a: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wins across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78980" y="429577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 sample sizes.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86600" y="4762500"/>
              <a:ext cx="4038600" cy="838200"/>
            </a:xfrm>
            <a:prstGeom prst="roundRect">
              <a:avLst>
                <a:gd name="adj" fmla="val 13636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03770" y="4862512"/>
              <a:ext cx="96377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n = 15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4761" y="4894421"/>
              <a:ext cx="19547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most decisive margin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4761" y="5142071"/>
              <a:ext cx="2356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when samples are fewest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  <p:sp>
        <p:nvSpPr>
          <p:cNvPr id="37" name="cue_s06_c1_one_does_work_many_trained" title="cue_s06_c1_one_does_work_many_trained" descr="cue_s06_c1_one_does_work_many_trained One model does the work of many. Trained once, the flow reconstructs the frequentist solution path with a mean squared error of just zero point zero five two."/>
          <p:cNvSpPr/>
          <p:nvPr/>
        </p:nvSpPr>
        <p:spPr>
          <a:xfrm>
            <a:off x="838809" y="1447723"/>
            <a:ext cx="5715609" cy="149572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6_c2_when_samples_scarce_sub_l_one_pseudo" title="cue_s06_c2_when_samples_scarce_sub_l_one_pseudo" descr="cue_s06_c2_when_samples_scarce_sub_l_one_pseudo When samples are scarce, the sub-l-one pseudo-norms clearly beat the Bayesian Graphical Lasso, and the gain grows as q approaches zero."/>
          <p:cNvSpPr/>
          <p:nvPr/>
        </p:nvSpPr>
        <p:spPr>
          <a:xfrm>
            <a:off x="838809" y="3105302"/>
            <a:ext cx="5715609" cy="27624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6_c3_against_frequentist_competitors_wins" title="cue_s06_c3_against_frequentist_competitors_wins" descr="cue_s06_c3_against_frequentist_competitors_wins Against frequentist competitors it wins at every sample size, most at fifteen samples."/>
          <p:cNvSpPr/>
          <p:nvPr/>
        </p:nvSpPr>
        <p:spPr>
          <a:xfrm>
            <a:off x="6782409" y="3105302"/>
            <a:ext cx="4572000" cy="27624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6_c4_its_selection_picks_lambda_three" title="cue_s06_c4_its_selection_picks_lambda_three" descr="cue_s06_c4_its_selection_picks_lambda_three Its model selection picks a lambda of three point five two, matching the cross-validated Graphical Lasso value of three point three six."/>
          <p:cNvSpPr/>
          <p:nvPr/>
        </p:nvSpPr>
        <p:spPr>
          <a:xfrm>
            <a:off x="6782409" y="1447723"/>
            <a:ext cx="4685385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1783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ABLATION STUDY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98679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Knobs: the Norm q and the Temperature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38200" y="1447800"/>
            <a:ext cx="10515600" cy="495300"/>
            <a:chOff x="838200" y="1447800"/>
            <a:chExt cx="10515600" cy="495300"/>
          </a:xfrm>
        </p:grpSpPr>
        <p:sp>
          <p:nvSpPr>
            <p:cNvPr id="9" name="Rectangle 9"/>
            <p:cNvSpPr/>
            <p:nvPr/>
          </p:nvSpPr>
          <p:spPr>
            <a:xfrm>
              <a:off x="838200" y="1447800"/>
              <a:ext cx="105156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447800"/>
              <a:ext cx="7620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899" y="1592104"/>
              <a:ext cx="90534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The key study </a:t>
              </a:r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varies the pseudo-norm exponent q</a:t>
              </a:r>
              <a:r>
                <a:rPr lang="en-US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while holding everything else fixed.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8200" y="2133600"/>
            <a:ext cx="5334000" cy="3733800"/>
            <a:chOff x="838200" y="2133600"/>
            <a:chExt cx="5334000" cy="3733800"/>
          </a:xfrm>
        </p:grpSpPr>
        <p:sp>
          <p:nvSpPr>
            <p:cNvPr id="13" name="Rectangle 13"/>
            <p:cNvSpPr/>
            <p:nvPr/>
          </p:nvSpPr>
          <p:spPr>
            <a:xfrm>
              <a:off x="838200" y="2133600"/>
              <a:ext cx="5334000" cy="3733800"/>
            </a:xfrm>
            <a:prstGeom prst="roundRect">
              <a:avLst>
                <a:gd name="adj" fmla="val 4082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33625"/>
              <a:ext cx="2799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Credible intervals across q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6146" y="2628900"/>
              <a:ext cx="3692408" cy="27241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60323" y="5539264"/>
              <a:ext cx="4593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Smaller q pulls the posterior median less toward zero.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00800" y="2133600"/>
            <a:ext cx="4953000" cy="1809750"/>
            <a:chOff x="6400800" y="2133600"/>
            <a:chExt cx="4953000" cy="1809750"/>
          </a:xfrm>
        </p:grpSpPr>
        <p:sp>
          <p:nvSpPr>
            <p:cNvPr id="18" name="Rectangle 18"/>
            <p:cNvSpPr/>
            <p:nvPr/>
          </p:nvSpPr>
          <p:spPr>
            <a:xfrm>
              <a:off x="6400800" y="2133600"/>
              <a:ext cx="4953000" cy="1809750"/>
            </a:xfrm>
            <a:prstGeom prst="roundRect">
              <a:avLst>
                <a:gd name="adj" fmla="val 84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6621018" y="2317432"/>
              <a:ext cx="2228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Keeping a true edge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2161" y="2703671"/>
              <a:ext cx="34258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 λ = 0.3, the 95% credible interval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2161" y="2951321"/>
              <a:ext cx="3808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excludes zero for q = 0.25, 0.5, 0.75.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2161" y="3294221"/>
              <a:ext cx="32057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BGL at q = 1 still includes zero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2161" y="3541871"/>
              <a:ext cx="2623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— and would drop the edge.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800" y="4095750"/>
            <a:ext cx="4953000" cy="1771650"/>
            <a:chOff x="6400800" y="4095750"/>
            <a:chExt cx="4953000" cy="1771650"/>
          </a:xfrm>
        </p:grpSpPr>
        <p:sp>
          <p:nvSpPr>
            <p:cNvPr id="25" name="Rectangle 25"/>
            <p:cNvSpPr/>
            <p:nvPr/>
          </p:nvSpPr>
          <p:spPr>
            <a:xfrm>
              <a:off x="6400800" y="4095750"/>
              <a:ext cx="4953000" cy="1771650"/>
            </a:xfrm>
            <a:prstGeom prst="roundRect">
              <a:avLst>
                <a:gd name="adj" fmla="val 8602"/>
              </a:avLst>
            </a:prstGeom>
            <a:solidFill>
              <a:schemeClr val="dk1"/>
            </a:solidFill>
            <a:ln>
              <a:noFill/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6621018" y="4298632"/>
              <a:ext cx="30335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Second knob: temperature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29400" y="4667250"/>
              <a:ext cx="1905000" cy="5715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3042" y="4769168"/>
              <a:ext cx="467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=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13804" y="5013960"/>
              <a:ext cx="1339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Bayesian (= BGL)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8794" y="48186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67800" y="4667250"/>
              <a:ext cx="20574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51442" y="4769168"/>
              <a:ext cx="467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→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52204" y="5013960"/>
              <a:ext cx="1716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frequentist MAP path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22923" y="5501164"/>
              <a:ext cx="4274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trained flow smoothly spans the whole family.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36" name="TextBox 36"/>
            <p:cNvSpPr txBox="1"/>
            <p:nvPr/>
          </p:nvSpPr>
          <p:spPr>
            <a:xfrm>
              <a:off x="832485" y="6431756"/>
              <a:ext cx="5160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  <p:sp>
        <p:nvSpPr>
          <p:cNvPr id="39" name="cue_s07_c1_key_study_varies_pseudo_norm_exponen" title="cue_s07_c1_key_study_varies_pseudo_norm_exponen" descr="cue_s07_c1_key_study_varies_pseudo_norm_exponen The key study varies the pseudo-norm exponent q."/>
          <p:cNvSpPr/>
          <p:nvPr/>
        </p:nvSpPr>
        <p:spPr>
          <a:xfrm>
            <a:off x="838809" y="1447723"/>
            <a:ext cx="10515600" cy="495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7_c2_shrinks_one_toward_quarter_posterior" title="cue_s07_c2_shrinks_one_toward_quarter_posterior" descr="cue_s07_c2_shrinks_one_toward_quarter_posterior As q shrinks from one toward a quarter, the posterior median for a precision entry is pulled less toward zero, reducing over-shrinkage as promised."/>
          <p:cNvSpPr/>
          <p:nvPr/>
        </p:nvSpPr>
        <p:spPr>
          <a:xfrm>
            <a:off x="838809" y="2133523"/>
            <a:ext cx="533400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7_c3_lambda_zero_point_three_ninety_five" title="cue_s07_c3_lambda_zero_point_three_ninety_five" descr="cue_s07_c3_lambda_zero_point_three_ninety_five At a lambda of zero point three the ninety-five percent credible interval excludes zero for q below one, while the Bayesian Lasso at q equals one still includes zero and would drop the edge."/>
          <p:cNvSpPr/>
          <p:nvPr/>
        </p:nvSpPr>
        <p:spPr>
          <a:xfrm>
            <a:off x="6400800" y="2133523"/>
            <a:ext cx="495239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7_c4_second_knob_temperature_slides_bayes" title="cue_s07_c4_second_knob_temperature_slides_bayes" descr="cue_s07_c4_second_knob_temperature_slides_bayes A second knob, the temperature, slides the model from the Bayesian regime to the frequentist path."/>
          <p:cNvSpPr/>
          <p:nvPr/>
        </p:nvSpPr>
        <p:spPr>
          <a:xfrm>
            <a:off x="6400800" y="4095597"/>
            <a:ext cx="4952390" cy="17714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571500"/>
            <a:ext cx="57150" cy="5715000"/>
            <a:chOff x="381000" y="571500"/>
            <a:chExt cx="57150" cy="5715000"/>
          </a:xfrm>
        </p:grpSpPr>
        <p:sp>
          <p:nvSpPr>
            <p:cNvPr id="2" name="Rectangle 2"/>
            <p:cNvSpPr/>
            <p:nvPr/>
          </p:nvSpPr>
          <p:spPr>
            <a:xfrm>
              <a:off x="381000" y="571500"/>
              <a:ext cx="57150" cy="5715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571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22960" y="540068"/>
            <a:ext cx="10530840" cy="789622"/>
            <a:chOff x="822960" y="540068"/>
            <a:chExt cx="10530840" cy="789622"/>
          </a:xfrm>
        </p:grpSpPr>
        <p:sp>
          <p:nvSpPr>
            <p:cNvPr id="5" name="TextBox 5"/>
            <p:cNvSpPr txBox="1"/>
            <p:nvPr/>
          </p:nvSpPr>
          <p:spPr>
            <a:xfrm>
              <a:off x="831342" y="540068"/>
              <a:ext cx="1090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2960" y="742950"/>
              <a:ext cx="630465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Flow Replaces a Toolbox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" y="1238250"/>
              <a:ext cx="105156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38200" y="1524000"/>
            <a:ext cx="10515600" cy="1257300"/>
            <a:chOff x="838200" y="1524000"/>
            <a:chExt cx="10515600" cy="1257300"/>
          </a:xfrm>
        </p:grpSpPr>
        <p:sp>
          <p:nvSpPr>
            <p:cNvPr id="9" name="Rectangle 9"/>
            <p:cNvSpPr/>
            <p:nvPr/>
          </p:nvSpPr>
          <p:spPr>
            <a:xfrm>
              <a:off x="838200" y="1524000"/>
              <a:ext cx="10515600" cy="1257300"/>
            </a:xfrm>
            <a:prstGeom prst="roundRect">
              <a:avLst>
                <a:gd name="adj" fmla="val 1212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838200" y="1524000"/>
              <a:ext cx="76200" cy="1257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5484" y="1823085"/>
              <a:ext cx="787950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 single, well-designed normalizing flow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05484" y="2242185"/>
              <a:ext cx="5975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can replace an entire toolbox.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8200" y="2971800"/>
            <a:ext cx="6096000" cy="2895600"/>
            <a:chOff x="838200" y="2971800"/>
            <a:chExt cx="6096000" cy="2895600"/>
          </a:xfrm>
        </p:grpSpPr>
        <p:sp>
          <p:nvSpPr>
            <p:cNvPr id="14" name="Rectangle 14"/>
            <p:cNvSpPr/>
            <p:nvPr/>
          </p:nvSpPr>
          <p:spPr>
            <a:xfrm>
              <a:off x="838200" y="2971800"/>
              <a:ext cx="6096000" cy="2895600"/>
            </a:xfrm>
            <a:prstGeom prst="roundRect">
              <a:avLst>
                <a:gd name="adj" fmla="val 526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1058418" y="3174682"/>
              <a:ext cx="21111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clean unification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9561" y="3579971"/>
              <a:ext cx="416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Built directly on positive-definite matrices,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561" y="382762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conditioned on both λ and the norm exponent q: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133475" y="42767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63980" y="4229100"/>
              <a:ext cx="1980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Bayesian posteriors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133475" y="463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63980" y="4591050"/>
              <a:ext cx="3433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Marginal-likelihood model selection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133475" y="5000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63980" y="4953000"/>
              <a:ext cx="2939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frequentist solution path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942" y="5435918"/>
              <a:ext cx="5674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... for every λ and every l-q norm, including the sub-l₁ region.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62800" y="2971800"/>
            <a:ext cx="4191000" cy="2895600"/>
            <a:chOff x="7162800" y="2971800"/>
            <a:chExt cx="4191000" cy="2895600"/>
          </a:xfrm>
        </p:grpSpPr>
        <p:sp>
          <p:nvSpPr>
            <p:cNvPr id="26" name="Rectangle 26"/>
            <p:cNvSpPr/>
            <p:nvPr/>
          </p:nvSpPr>
          <p:spPr>
            <a:xfrm>
              <a:off x="7162800" y="2971800"/>
              <a:ext cx="4191000" cy="28956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  <a:effectLst>
              <a:outerShdw blurRad="133350" dist="4762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7383018" y="3174682"/>
              <a:ext cx="17390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391400" y="3543300"/>
              <a:ext cx="3733800" cy="990600"/>
            </a:xfrm>
            <a:prstGeom prst="roundRect">
              <a:avLst>
                <a:gd name="adj" fmla="val 11538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0470" y="3662362"/>
              <a:ext cx="21982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Better edges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5042" y="4102418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sub-l₁ fights over-shrinkage exactly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5042" y="43119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 the low-sample regime.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91400" y="4667250"/>
              <a:ext cx="3733800" cy="990600"/>
            </a:xfrm>
            <a:prstGeom prst="roundRect">
              <a:avLst>
                <a:gd name="adj" fmla="val 11538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70470" y="4786312"/>
              <a:ext cx="21567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100s× faster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5042" y="5226368"/>
              <a:ext cx="2802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~2000 samples/s on one GPU vs.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5042" y="5435918"/>
              <a:ext cx="2684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~5.5/s for the Gibbs sampler.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32485" y="6431756"/>
            <a:ext cx="10527030" cy="220028"/>
            <a:chOff x="832485" y="6431756"/>
            <a:chExt cx="10527030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832485" y="6431756"/>
              <a:ext cx="7295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Conditional Matrix Flows for Gaussian Graphical Models · NeurIPS 2023 · arxiv.org/abs/2306.07255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42991" y="64317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  <p:sp>
        <p:nvSpPr>
          <p:cNvPr id="40" name="cue_s08_c1_takeaway_one_normalizing_flow_replac" title="cue_s08_c1_takeaway_one_normalizing_flow_replac" descr="cue_s08_c1_takeaway_one_normalizing_flow_replac The takeaway: one normalizing flow can replace a toolbox."/>
          <p:cNvSpPr/>
          <p:nvPr/>
        </p:nvSpPr>
        <p:spPr>
          <a:xfrm>
            <a:off x="838809" y="1523847"/>
            <a:ext cx="10515600" cy="12570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8_c2_built_positive_definite_matrices_con" title="cue_s08_c2_built_positive_definite_matrices_con" descr="cue_s08_c2_built_positive_definite_matrices_con Built on positive-definite matrices and conditioned on both the shrinkage strength and the norm exponent, it delivers Bayesian posteriors, marginal-likelihood model selection, and the frequentist solution path, for every setting and every l-q norm, including t"/>
          <p:cNvSpPr/>
          <p:nvPr/>
        </p:nvSpPr>
        <p:spPr>
          <a:xfrm>
            <a:off x="838809" y="2971571"/>
            <a:ext cx="6096000" cy="28954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8_c3_edge_recovery_improves_where_hardest" title="cue_s08_c3_edge_recovery_improves_where_hardest" descr="cue_s08_c3_edge_recovery_improves_where_hardest Edge recovery improves where it is hardest, and sampling runs hundreds of times faster than Gibbs."/>
          <p:cNvSpPr/>
          <p:nvPr/>
        </p:nvSpPr>
        <p:spPr>
          <a:xfrm>
            <a:off x="7162800" y="2971571"/>
            <a:ext cx="4191609" cy="28954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mf_video">
  <a:themeElements>
    <a:clrScheme name="cmf_video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1E3A8A"/>
      </a:accent1>
      <a:accent2>
        <a:srgbClr val="0EA5E9"/>
      </a:accent2>
      <a:accent3>
        <a:srgbClr val="F59E0B"/>
      </a:accent3>
      <a:accent4>
        <a:srgbClr val="E2E8F0"/>
      </a:accent4>
      <a:accent5>
        <a:srgbClr val="94A3B8"/>
      </a:accent5>
      <a:accent6>
        <a:srgbClr val="BFDBFE"/>
      </a:accent6>
      <a:hlink>
        <a:srgbClr val="0EA5E9"/>
      </a:hlink>
      <a:folHlink>
        <a:srgbClr val="F59E0B"/>
      </a:folHlink>
    </a:clrScheme>
    <a:fontScheme name="cmf_video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mf_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2026-07-15T05:05:04Z</dcterms:created>
  <dcterms:modified xsi:type="dcterms:W3CDTF">2026-07-15T05:05:04Z</dcterms:modified>
  <cp:category/>
  <cp:contentStatus/>
</cp:coreProperties>
</file>
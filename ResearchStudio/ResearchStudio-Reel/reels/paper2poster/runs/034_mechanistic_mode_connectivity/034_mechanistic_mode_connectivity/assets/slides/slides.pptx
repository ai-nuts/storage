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mc_03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mc_03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c9e7c7f988b5aaf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667702"/>
            <a:ext cx="5402656" cy="205359"/>
            <a:chOff x="609600" y="667702"/>
            <a:chExt cx="5402656" cy="205359"/>
          </a:xfrm>
        </p:grpSpPr>
        <p:sp>
          <p:nvSpPr>
            <p:cNvPr id="2" name="Rectangle 2"/>
            <p:cNvSpPr/>
            <p:nvPr/>
          </p:nvSpPr>
          <p:spPr>
            <a:xfrm>
              <a:off x="609600" y="7048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667702"/>
              <a:ext cx="4855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ICML 2023 · LOSS LANDSCAPES · ROBUST FINE-TUNING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0550" y="1239202"/>
            <a:ext cx="8592769" cy="1013366"/>
            <a:chOff x="590550" y="1239202"/>
            <a:chExt cx="8592769" cy="1013366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239202"/>
              <a:ext cx="859276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Mechanistic Mode Connectivity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1944529"/>
              <a:ext cx="7925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Are minimizers that use different mechanisms connected by low-loss paths?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2458402"/>
            <a:ext cx="6099356" cy="414909"/>
            <a:chOff x="604266" y="2458402"/>
            <a:chExt cx="6099356" cy="414909"/>
          </a:xfrm>
        </p:grpSpPr>
        <p:sp>
          <p:nvSpPr>
            <p:cNvPr id="8" name="TextBox 8"/>
            <p:cNvSpPr txBox="1"/>
            <p:nvPr/>
          </p:nvSpPr>
          <p:spPr>
            <a:xfrm>
              <a:off x="604266" y="2458402"/>
              <a:ext cx="6099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Ekdeep Singh Lubana · Eric J. Bigelow · Robert P. Dick · David Krueger · Hidenori Tanaka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4266" y="2667952"/>
              <a:ext cx="5903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University of Michigan · Harvard University · NTT Research · University of Cambridge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9249" y="1428750"/>
            <a:ext cx="2564151" cy="2161889"/>
            <a:chOff x="9319249" y="1428750"/>
            <a:chExt cx="2564151" cy="2161889"/>
          </a:xfrm>
        </p:grpSpPr>
        <p:sp>
          <p:nvSpPr>
            <p:cNvPr id="11" name="Rectangle 11"/>
            <p:cNvSpPr/>
            <p:nvPr/>
          </p:nvSpPr>
          <p:spPr>
            <a:xfrm>
              <a:off x="9620250" y="1428750"/>
              <a:ext cx="1962150" cy="2133600"/>
            </a:xfrm>
            <a:prstGeom prst="roundRect">
              <a:avLst>
                <a:gd name="adj" fmla="val 582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96450" y="1504950"/>
              <a:ext cx="1809750" cy="180975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9319249" y="3399949"/>
              <a:ext cx="25641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Code · github.com/EkdeepSLubana/MMC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733800"/>
            <a:ext cx="2571750" cy="1771650"/>
            <a:chOff x="609600" y="3733800"/>
            <a:chExt cx="2571750" cy="1771650"/>
          </a:xfrm>
        </p:grpSpPr>
        <p:sp>
          <p:nvSpPr>
            <p:cNvPr id="15" name="Rectangle 15"/>
            <p:cNvSpPr/>
            <p:nvPr/>
          </p:nvSpPr>
          <p:spPr>
            <a:xfrm>
              <a:off x="609600" y="3733800"/>
              <a:ext cx="2571750" cy="17716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37338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197" y="3952399"/>
              <a:ext cx="867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FOCUS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2292" y="4197668"/>
              <a:ext cx="1698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connectivity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816" y="4515802"/>
              <a:ext cx="1414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Neural-network loss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16" y="4715828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landscapes, read through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" y="491585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 of minima.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09950" y="3733800"/>
            <a:ext cx="2571750" cy="1771650"/>
            <a:chOff x="3409950" y="3733800"/>
            <a:chExt cx="2571750" cy="1771650"/>
          </a:xfrm>
        </p:grpSpPr>
        <p:sp>
          <p:nvSpPr>
            <p:cNvPr id="23" name="Rectangle 23"/>
            <p:cNvSpPr/>
            <p:nvPr/>
          </p:nvSpPr>
          <p:spPr>
            <a:xfrm>
              <a:off x="3409950" y="3733800"/>
              <a:ext cx="2571750" cy="17716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09950" y="37338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14547" y="3952399"/>
              <a:ext cx="1133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77C11"/>
                  </a:solidFill>
                  <a:latin typeface="+mn-lt"/>
                  <a:ea typeface="+mn-ea"/>
                  <a:cs typeface="+mn-cs"/>
                </a:rPr>
                <a:t>02 · QUESTION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2642" y="4197668"/>
              <a:ext cx="1900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low-loss path?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166" y="4515802"/>
              <a:ext cx="1654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 minimizers relying 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14166" y="4715828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different mechanisms link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4166" y="491585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via simple low-loss paths?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3733800"/>
            <a:ext cx="2571750" cy="1771650"/>
            <a:chOff x="6210300" y="3733800"/>
            <a:chExt cx="2571750" cy="1771650"/>
          </a:xfrm>
        </p:grpSpPr>
        <p:sp>
          <p:nvSpPr>
            <p:cNvPr id="31" name="Rectangle 31"/>
            <p:cNvSpPr/>
            <p:nvPr/>
          </p:nvSpPr>
          <p:spPr>
            <a:xfrm>
              <a:off x="6210300" y="3733800"/>
              <a:ext cx="2571750" cy="17716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0300" y="37338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4897" y="3952399"/>
              <a:ext cx="946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03 · INSIGHT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2992" y="4197668"/>
              <a:ext cx="12024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linear link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4516" y="4515802"/>
              <a:ext cx="1654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Mechanistic similarity =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4516" y="4715828"/>
              <a:ext cx="192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shared invariances; missing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4516" y="4915852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linear link ⇒ dissimilar.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10650" y="3733800"/>
            <a:ext cx="2571750" cy="1771650"/>
            <a:chOff x="9010650" y="3733800"/>
            <a:chExt cx="2571750" cy="1771650"/>
          </a:xfrm>
        </p:grpSpPr>
        <p:sp>
          <p:nvSpPr>
            <p:cNvPr id="39" name="Rectangle 39"/>
            <p:cNvSpPr/>
            <p:nvPr/>
          </p:nvSpPr>
          <p:spPr>
            <a:xfrm>
              <a:off x="9010650" y="3733800"/>
              <a:ext cx="2571750" cy="1771650"/>
            </a:xfrm>
            <a:prstGeom prst="roundRect">
              <a:avLst>
                <a:gd name="adj" fmla="val 64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10650" y="3733800"/>
              <a:ext cx="57150" cy="1771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15247" y="3952399"/>
              <a:ext cx="987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METHOD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13342" y="419766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CBFT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14866" y="4515802"/>
              <a:ext cx="1348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Connectivity-Based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4866" y="4715828"/>
              <a:ext cx="1978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Fine-Tuning alters a model's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14866" y="491585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mechanisms, cutting cues.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589395"/>
              <a:ext cx="564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Overview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1 / 10</a:t>
              </a:r>
            </a:p>
          </p:txBody>
        </p:sp>
      </p:grpSp>
      <p:sp>
        <p:nvSpPr>
          <p:cNvPr id="50" name="cue_s01_c1_mechanistic_mode_connectivity_studie" title="cue_s01_c1_mechanistic_mode_connectivity_studie" descr="cue_s01_c1_mechanistic_mode_connectivity_studie This paper, Mechanistic Mode Connectivity, studies neural network loss landscapes through the lens of mode connectivity."/>
          <p:cNvSpPr/>
          <p:nvPr/>
        </p:nvSpPr>
        <p:spPr>
          <a:xfrm>
            <a:off x="609600" y="3733495"/>
            <a:ext cx="2571292" cy="17714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1_c2_authors_ask_whether_minimizers_rely" title="cue_s01_c2_authors_ask_whether_minimizers_rely" descr="cue_s01_c2_authors_ask_whether_minimizers_rely The authors ask whether minimizers that rely on different mechanisms for making predictions are connected via simple paths of low loss."/>
          <p:cNvSpPr/>
          <p:nvPr/>
        </p:nvSpPr>
        <p:spPr>
          <a:xfrm>
            <a:off x="3410102" y="3733495"/>
            <a:ext cx="2571292" cy="17714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1_c3_they_define_mechanistic_similarity_s" title="cue_s01_c3_they_define_mechanistic_similarity_s" descr="cue_s01_c3_they_define_mechanistic_similarity_s They define mechanistic similarity as shared invariances to input transformations, and show that a lack of linear connectivity between two models implies they use dissimilar mechanisms."/>
          <p:cNvSpPr/>
          <p:nvPr/>
        </p:nvSpPr>
        <p:spPr>
          <a:xfrm>
            <a:off x="6210604" y="3733495"/>
            <a:ext cx="2571292" cy="17714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1_c4_building_insight_they_propose_connec" title="cue_s01_c4_building_insight_they_propose_connec" descr="cue_s01_c4_building_insight_they_propose_connec Building on this insight, they propose connectivity-based fine-tuning, a method to deliberately alter a model's mechanisms and reduce its reliance on spurious attributes."/>
          <p:cNvSpPr/>
          <p:nvPr/>
        </p:nvSpPr>
        <p:spPr>
          <a:xfrm>
            <a:off x="9011107" y="3733495"/>
            <a:ext cx="2571292" cy="17714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5414058" cy="761810"/>
            <a:chOff x="597408" y="591502"/>
            <a:chExt cx="5414058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19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54140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 loss — but which mechanism?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676400"/>
            <a:ext cx="5105400" cy="2590800"/>
            <a:chOff x="609600" y="1676400"/>
            <a:chExt cx="5105400" cy="25908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5105400" cy="2590800"/>
            </a:xfrm>
            <a:prstGeom prst="roundRect">
              <a:avLst>
                <a:gd name="adj" fmla="val 441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57150" cy="2590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911668"/>
              <a:ext cx="3750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Infinitely many minimizers, simple paths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38862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Polyline 10"/>
            <p:cNvSpPr/>
            <p:nvPr/>
          </p:nvSpPr>
          <p:spPr>
            <a:xfrm>
              <a:off x="1066800" y="2514600"/>
              <a:ext cx="4152900" cy="1219200"/>
            </a:xfrm>
            <a:custGeom>
              <a:avLst/>
              <a:gdLst/>
              <a:ahLst/>
              <a:cxnLst/>
              <a:rect l="l" t="t" r="r" b="b"/>
              <a:pathLst>
                <a:path w="4152900" h="1219200">
                  <a:moveTo>
                    <a:pt x="0" y="342900"/>
                  </a:moveTo>
                  <a:lnTo>
                    <a:pt x="361950" y="838200"/>
                  </a:lnTo>
                  <a:lnTo>
                    <a:pt x="838200" y="1219200"/>
                  </a:lnTo>
                  <a:lnTo>
                    <a:pt x="1314450" y="838200"/>
                  </a:lnTo>
                  <a:lnTo>
                    <a:pt x="1790700" y="400050"/>
                  </a:lnTo>
                  <a:lnTo>
                    <a:pt x="2247900" y="0"/>
                  </a:lnTo>
                  <a:lnTo>
                    <a:pt x="2705100" y="400050"/>
                  </a:lnTo>
                  <a:lnTo>
                    <a:pt x="3238500" y="1219200"/>
                  </a:lnTo>
                  <a:lnTo>
                    <a:pt x="3695700" y="838200"/>
                  </a:lnTo>
                  <a:lnTo>
                    <a:pt x="4152900" y="342900"/>
                  </a:lnTo>
                </a:path>
              </a:pathLst>
            </a:custGeom>
            <a:noFill/>
            <a:ln w="23812" cap="rnd">
              <a:solidFill>
                <a:srgbClr val="8A97A8"/>
              </a:solidFill>
              <a:round/>
            </a:ln>
          </p:spPr>
        </p:sp>
        <p:sp>
          <p:nvSpPr>
            <p:cNvPr id="11" name="Polyline 11"/>
            <p:cNvSpPr/>
            <p:nvPr/>
          </p:nvSpPr>
          <p:spPr>
            <a:xfrm>
              <a:off x="1905000" y="3733800"/>
              <a:ext cx="2400300" cy="209550"/>
            </a:xfrm>
            <a:custGeom>
              <a:avLst/>
              <a:gdLst/>
              <a:ahLst/>
              <a:cxnLst/>
              <a:rect l="l" t="t" r="r" b="b"/>
              <a:pathLst>
                <a:path w="2400300" h="209550">
                  <a:moveTo>
                    <a:pt x="0" y="0"/>
                  </a:moveTo>
                  <a:lnTo>
                    <a:pt x="723900" y="209550"/>
                  </a:lnTo>
                  <a:lnTo>
                    <a:pt x="1409700" y="133350"/>
                  </a:lnTo>
                  <a:lnTo>
                    <a:pt x="2095500" y="209550"/>
                  </a:lnTo>
                  <a:lnTo>
                    <a:pt x="24003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2" name="Ellipse 12"/>
            <p:cNvSpPr/>
            <p:nvPr/>
          </p:nvSpPr>
          <p:spPr>
            <a:xfrm>
              <a:off x="1847850" y="3676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248150" y="36766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23859" y="38380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θ₁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24159" y="38380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θ₂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39614" y="4047649"/>
              <a:ext cx="1692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low-loss connecting path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81700" y="1676400"/>
            <a:ext cx="5600700" cy="1123950"/>
            <a:chOff x="5981700" y="1676400"/>
            <a:chExt cx="5600700" cy="1123950"/>
          </a:xfrm>
        </p:grpSpPr>
        <p:sp>
          <p:nvSpPr>
            <p:cNvPr id="18" name="Rectangle 18"/>
            <p:cNvSpPr/>
            <p:nvPr/>
          </p:nvSpPr>
          <p:spPr>
            <a:xfrm>
              <a:off x="5981700" y="1676400"/>
              <a:ext cx="5600700" cy="1123950"/>
            </a:xfrm>
            <a:prstGeom prst="roundRect">
              <a:avLst>
                <a:gd name="adj" fmla="val 10169"/>
              </a:avLst>
            </a:prstGeom>
            <a:solidFill>
              <a:srgbClr val="FBF0DD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981700" y="16764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5347" y="1875949"/>
              <a:ext cx="17640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77C11"/>
                  </a:solidFill>
                  <a:latin typeface="+mn-lt"/>
                  <a:ea typeface="+mn-ea"/>
                  <a:cs typeface="+mn-cs"/>
                </a:rPr>
                <a:t>THE IGNORED QUESTION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02680" y="2162175"/>
              <a:ext cx="3616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mechanisms do the connected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02680" y="2409825"/>
              <a:ext cx="2124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models actually use?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81700" y="2914650"/>
            <a:ext cx="5600700" cy="1352550"/>
            <a:chOff x="5981700" y="2914650"/>
            <a:chExt cx="5600700" cy="1352550"/>
          </a:xfrm>
        </p:grpSpPr>
        <p:sp>
          <p:nvSpPr>
            <p:cNvPr id="24" name="Rectangle 24"/>
            <p:cNvSpPr/>
            <p:nvPr/>
          </p:nvSpPr>
          <p:spPr>
            <a:xfrm>
              <a:off x="5981700" y="2914650"/>
              <a:ext cx="5600700" cy="1352550"/>
            </a:xfrm>
            <a:prstGeom prst="roundRect">
              <a:avLst>
                <a:gd name="adj" fmla="val 845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81700" y="29146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03442" y="3073718"/>
              <a:ext cx="244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loss, different cues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10300" y="3390900"/>
              <a:ext cx="2514600" cy="647700"/>
            </a:xfrm>
            <a:prstGeom prst="roundRect">
              <a:avLst>
                <a:gd name="adj" fmla="val 11765"/>
              </a:avLst>
            </a:prstGeom>
            <a:solidFill>
              <a:srgbClr val="FBE7E7"/>
            </a:solidFill>
            <a:ln w="9525">
              <a:solidFill>
                <a:srgbClr val="F2C4C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7366" y="3544252"/>
              <a:ext cx="1372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Model A → backdrop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7747" y="3761899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predicts from the scene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39200" y="3390900"/>
              <a:ext cx="2514600" cy="647700"/>
            </a:xfrm>
            <a:prstGeom prst="roundRect">
              <a:avLst>
                <a:gd name="adj" fmla="val 11765"/>
              </a:avLst>
            </a:prstGeom>
            <a:solidFill>
              <a:srgbClr val="E3F5EC"/>
            </a:solidFill>
            <a:ln w="9525">
              <a:solidFill>
                <a:srgbClr val="B7E2C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86266" y="3544252"/>
              <a:ext cx="1127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Model B → shape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86647" y="37618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predicts from the object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4438650"/>
            <a:ext cx="10972800" cy="1066800"/>
            <a:chOff x="609600" y="4438650"/>
            <a:chExt cx="109728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609600" y="4438650"/>
              <a:ext cx="10972800" cy="10668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4438650"/>
              <a:ext cx="57150" cy="1066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1342" y="4635818"/>
              <a:ext cx="5735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 cannot understand loss landscapes — or safely fine-tune 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342" y="4902518"/>
              <a:ext cx="5003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without accounting for these prediction mechanisms.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866" y="5182552"/>
              <a:ext cx="4595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Geometry alone hides what a model has actually learned to rely on.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589395"/>
              <a:ext cx="7101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The problem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2 / 10</a:t>
              </a:r>
            </a:p>
          </p:txBody>
        </p:sp>
      </p:grpSp>
      <p:sp>
        <p:nvSpPr>
          <p:cNvPr id="43" name="cue_s02_c1_modern_deep_networks_infinitely_many" title="cue_s02_c1_modern_deep_networks_infinitely_many" descr="cue_s02_c1_modern_deep_networks_infinitely_many Modern deep networks have infinitely many global minimizers, and the mode-connectivity literature shows these minimizers are joined by surprisingly simple, low-loss paths."/>
          <p:cNvSpPr/>
          <p:nvPr/>
        </p:nvSpPr>
        <p:spPr>
          <a:xfrm>
            <a:off x="609600" y="1676095"/>
            <a:ext cx="5106009" cy="25909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2_c2_but_literature_ignored_crucial_quest" title="cue_s02_c2_but_literature_ignored_crucial_quest" descr="cue_s02_c2_but_literature_ignored_crucial_quest But this literature has ignored a crucial question: what mechanisms do the connected models actually use?"/>
          <p:cNvSpPr/>
          <p:nvPr/>
        </p:nvSpPr>
        <p:spPr>
          <a:xfrm>
            <a:off x="5981395" y="1676095"/>
            <a:ext cx="5601004" cy="11240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3_two_models_both_reach_low" title="cue_s02_c3_two_models_both_reach_low" descr="cue_s02_c3_two_models_both_reach_low Two models can both reach low loss while relying on entirely different attributes of the input, such as an object's background versus its shape."/>
          <p:cNvSpPr/>
          <p:nvPr/>
        </p:nvSpPr>
        <p:spPr>
          <a:xfrm>
            <a:off x="5981395" y="2914650"/>
            <a:ext cx="5601004" cy="13523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4_argues_cannot_understand_loss_landsc" title="cue_s02_c4_argues_cannot_understand_loss_landsc" descr="cue_s02_c4_argues_cannot_understand_loss_landsc The paper argues we cannot understand loss landscapes, or safely fine-tune models, without accounting for these prediction mechanisms."/>
          <p:cNvSpPr/>
          <p:nvPr/>
        </p:nvSpPr>
        <p:spPr>
          <a:xfrm>
            <a:off x="609600" y="4438497"/>
            <a:ext cx="10972800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5752174" cy="761810"/>
            <a:chOff x="597408" y="591502"/>
            <a:chExt cx="5752174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440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57521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Fine-tuning may never fix the flaw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638300"/>
            <a:ext cx="10972800" cy="1123950"/>
            <a:chOff x="609600" y="1638300"/>
            <a:chExt cx="10972800" cy="1123950"/>
          </a:xfrm>
        </p:grpSpPr>
        <p:sp>
          <p:nvSpPr>
            <p:cNvPr id="6" name="Rectangle 6"/>
            <p:cNvSpPr/>
            <p:nvPr/>
          </p:nvSpPr>
          <p:spPr>
            <a:xfrm>
              <a:off x="609600" y="1638300"/>
              <a:ext cx="10972800" cy="1123950"/>
            </a:xfrm>
            <a:prstGeom prst="roundRect">
              <a:avLst>
                <a:gd name="adj" fmla="val 10169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383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47" y="1856899"/>
              <a:ext cx="2044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STANDARD ASSUMPTION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133600"/>
              <a:ext cx="3238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96229" y="2278856"/>
              <a:ext cx="1322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Pretrained 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75630" y="22412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19600" y="2133600"/>
              <a:ext cx="3238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14288">
              <a:solidFill>
                <a:srgbClr val="C77C1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58855" y="2278856"/>
              <a:ext cx="2359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Fine-tune on downstream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57030" y="22412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2133600"/>
              <a:ext cx="3238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14288">
              <a:solidFill>
                <a:srgbClr val="8A97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61067" y="2278856"/>
              <a:ext cx="171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Assume behavior fixed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2933700"/>
            <a:ext cx="5334000" cy="1428750"/>
            <a:chOff x="609600" y="2933700"/>
            <a:chExt cx="5334000" cy="1428750"/>
          </a:xfrm>
        </p:grpSpPr>
        <p:sp>
          <p:nvSpPr>
            <p:cNvPr id="18" name="Rectangle 18"/>
            <p:cNvSpPr/>
            <p:nvPr/>
          </p:nvSpPr>
          <p:spPr>
            <a:xfrm>
              <a:off x="609600" y="2933700"/>
              <a:ext cx="5334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9337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111818"/>
              <a:ext cx="2891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 it stays linearly connected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143000" y="38671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66800" y="37909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781300" y="37909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1737" y="400954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pretrained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06237" y="400954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fine-tuned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33166" y="371570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straight, low-loss line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72200" y="2933700"/>
            <a:ext cx="5410200" cy="1428750"/>
            <a:chOff x="6172200" y="2933700"/>
            <a:chExt cx="5410200" cy="1428750"/>
          </a:xfrm>
        </p:grpSpPr>
        <p:sp>
          <p:nvSpPr>
            <p:cNvPr id="28" name="Rectangle 28"/>
            <p:cNvSpPr/>
            <p:nvPr/>
          </p:nvSpPr>
          <p:spPr>
            <a:xfrm>
              <a:off x="6172200" y="2933700"/>
              <a:ext cx="5410200" cy="1428750"/>
            </a:xfrm>
            <a:prstGeom prst="roundRect">
              <a:avLst>
                <a:gd name="adj" fmla="val 8000"/>
              </a:avLst>
            </a:prstGeom>
            <a:solidFill>
              <a:srgbClr val="FBE7E7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72200" y="29337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95847" y="3152299"/>
              <a:ext cx="1388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THE CONSEQUENCE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3942" y="3416618"/>
              <a:ext cx="2891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Naive fine-tuning on clean data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3942" y="3664268"/>
              <a:ext cx="2742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may never remove reliance 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3942" y="3911918"/>
              <a:ext cx="1387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spurious cues.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552950"/>
            <a:ext cx="10972800" cy="933450"/>
            <a:chOff x="609600" y="4552950"/>
            <a:chExt cx="10972800" cy="933450"/>
          </a:xfrm>
        </p:grpSpPr>
        <p:sp>
          <p:nvSpPr>
            <p:cNvPr id="35" name="Rectangle 35"/>
            <p:cNvSpPr/>
            <p:nvPr/>
          </p:nvSpPr>
          <p:spPr>
            <a:xfrm>
              <a:off x="609600" y="4552950"/>
              <a:ext cx="10972800" cy="933450"/>
            </a:xfrm>
            <a:prstGeom prst="roundRect">
              <a:avLst>
                <a:gd name="adj" fmla="val 12245"/>
              </a:avLst>
            </a:prstGeom>
            <a:solidFill>
              <a:srgbClr val="E3F5EC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4552950"/>
              <a:ext cx="57150" cy="933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342" y="4750118"/>
              <a:ext cx="3979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Connectivity ↔ mechanism is directly about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342" y="499776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robustness and safe adaptation of models.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866" y="5277802"/>
              <a:ext cx="5747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link tells us when fine-tuning can — and cannot — change what a model relies on.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589395"/>
              <a:ext cx="6431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Motivation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3 / 10</a:t>
              </a:r>
            </a:p>
          </p:txBody>
        </p:sp>
      </p:grpSp>
      <p:sp>
        <p:nvSpPr>
          <p:cNvPr id="44" name="cue_s03_c1_why_does_matter_now_practice" title="cue_s03_c1_why_does_matter_now_practice" descr="cue_s03_c1_why_does_matter_now_practice Why does this matter now? In practice we constantly fine-tune pretrained models on downstream data, assuming this fixes undesirable behavior."/>
          <p:cNvSpPr/>
          <p:nvPr/>
        </p:nvSpPr>
        <p:spPr>
          <a:xfrm>
            <a:off x="609600" y="1638376"/>
            <a:ext cx="10972800" cy="11240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3_c2_but_prior_work_shows_fine_tuned" title="cue_s03_c2_but_prior_work_shows_fine_tuned" descr="cue_s03_c2_but_prior_work_shows_fine_tuned But prior work shows fine-tuned models often remain linearly connected to their pretraining solution."/>
          <p:cNvSpPr/>
          <p:nvPr/>
        </p:nvSpPr>
        <p:spPr>
          <a:xfrm>
            <a:off x="609600" y="2933852"/>
            <a:ext cx="53340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3_c3_linear_connectivity_tied_shared_mech" title="cue_s03_c3_linear_connectivity_tied_shared_mech" descr="cue_s03_c3_linear_connectivity_tied_shared_mech If linear connectivity is tied to shared mechanisms, then naive fine-tuning on clean data might never remove a model's reliance on spurious cues."/>
          <p:cNvSpPr/>
          <p:nvPr/>
        </p:nvSpPr>
        <p:spPr>
          <a:xfrm>
            <a:off x="6171590" y="2933852"/>
            <a:ext cx="540959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3_c4_understanding_relationship_between_c" title="cue_s03_c4_understanding_relationship_between_c" descr="cue_s03_c4_understanding_relationship_between_c Understanding the relationship between connectivity and mechanism is therefore directly relevant to robustness and safe adaptation of models."/>
          <p:cNvSpPr/>
          <p:nvPr/>
        </p:nvSpPr>
        <p:spPr>
          <a:xfrm>
            <a:off x="609600" y="4553026"/>
            <a:ext cx="10972800" cy="9333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3325383" cy="761810"/>
            <a:chOff x="597408" y="591502"/>
            <a:chExt cx="3325383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372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CONTRIBUTIONS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33253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contributions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00200"/>
            <a:ext cx="10972800" cy="552450"/>
            <a:chOff x="609600" y="160020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961" y="1789271"/>
              <a:ext cx="8170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paper makes three main contributions — a definition, a theorem, and a method.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400300"/>
            <a:ext cx="3505200" cy="2933700"/>
            <a:chOff x="609600" y="2400300"/>
            <a:chExt cx="3505200" cy="2933700"/>
          </a:xfrm>
        </p:grpSpPr>
        <p:sp>
          <p:nvSpPr>
            <p:cNvPr id="10" name="Rectangle 10"/>
            <p:cNvSpPr/>
            <p:nvPr/>
          </p:nvSpPr>
          <p:spPr>
            <a:xfrm>
              <a:off x="609600" y="2400300"/>
              <a:ext cx="3505200" cy="2933700"/>
            </a:xfrm>
            <a:prstGeom prst="roundRect">
              <a:avLst>
                <a:gd name="adj" fmla="val 3896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400300"/>
              <a:ext cx="57150" cy="2933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272415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6009" y="2862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961" y="3465671"/>
              <a:ext cx="2178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Mechanistic similarity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3860006"/>
              <a:ext cx="2292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models are mechanistically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410765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similar if they are invariant 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4355306"/>
              <a:ext cx="2559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set of unit interventions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485" y="460295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the data-generating process.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43400" y="2400300"/>
            <a:ext cx="3505200" cy="2933700"/>
            <a:chOff x="4343400" y="2400300"/>
            <a:chExt cx="3505200" cy="2933700"/>
          </a:xfrm>
        </p:grpSpPr>
        <p:sp>
          <p:nvSpPr>
            <p:cNvPr id="20" name="Rectangle 20"/>
            <p:cNvSpPr/>
            <p:nvPr/>
          </p:nvSpPr>
          <p:spPr>
            <a:xfrm>
              <a:off x="4343400" y="2400300"/>
              <a:ext cx="3505200" cy="2933700"/>
            </a:xfrm>
            <a:prstGeom prst="roundRect">
              <a:avLst>
                <a:gd name="adj" fmla="val 3896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43400" y="2400300"/>
              <a:ext cx="57150" cy="293370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52950" y="2724150"/>
              <a:ext cx="571500" cy="571500"/>
            </a:xfrm>
            <a:prstGeom prst="ellipse">
              <a:avLst/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39809" y="2862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4761" y="3465671"/>
              <a:ext cx="25000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Connectivity ⇒ mechanism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6285" y="3860006"/>
              <a:ext cx="1810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If two models lack linear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6285" y="4107656"/>
              <a:ext cx="2401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 up to architectural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6285" y="435530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symmetries, they must be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6285" y="4602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mechanistically dissimilar.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77200" y="2400300"/>
            <a:ext cx="3505200" cy="2933700"/>
            <a:chOff x="8077200" y="2400300"/>
            <a:chExt cx="3505200" cy="2933700"/>
          </a:xfrm>
        </p:grpSpPr>
        <p:sp>
          <p:nvSpPr>
            <p:cNvPr id="30" name="Rectangle 30"/>
            <p:cNvSpPr/>
            <p:nvPr/>
          </p:nvSpPr>
          <p:spPr>
            <a:xfrm>
              <a:off x="8077200" y="2400300"/>
              <a:ext cx="3505200" cy="2933700"/>
            </a:xfrm>
            <a:prstGeom prst="roundRect">
              <a:avLst>
                <a:gd name="adj" fmla="val 3896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77200" y="2400300"/>
              <a:ext cx="57150" cy="2933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286750" y="272415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73609" y="28622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8561" y="346567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CBFT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0085" y="3860006"/>
              <a:ext cx="2330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Connectivity-Based Fine-Tuning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0085" y="410765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exploits loss barriers to steer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0085" y="435530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model toward the mechanisms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0085" y="4602956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 actually want.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589395"/>
              <a:ext cx="818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Contributions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4 / 10</a:t>
              </a:r>
            </a:p>
          </p:txBody>
        </p:sp>
      </p:grpSp>
      <p:sp>
        <p:nvSpPr>
          <p:cNvPr id="43" name="cue_s04_c1_makes_three_main_contributions" title="cue_s04_c1_makes_three_main_contributions" descr="cue_s04_c1_makes_three_main_contributions The paper makes three main contributions."/>
          <p:cNvSpPr/>
          <p:nvPr/>
        </p:nvSpPr>
        <p:spPr>
          <a:xfrm>
            <a:off x="609600" y="1599971"/>
            <a:ext cx="109728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4_c2_first_defines_mechanistic_similarity" title="cue_s04_c2_first_defines_mechanistic_similarity" descr="cue_s04_c2_first_defines_mechanistic_similarity First, it defines mechanistic similarity: two models are mechanistically similar if they are invariant to the same set of unit interventions on the data-generating process."/>
          <p:cNvSpPr/>
          <p:nvPr/>
        </p:nvSpPr>
        <p:spPr>
          <a:xfrm>
            <a:off x="609600" y="2400300"/>
            <a:ext cx="3505199" cy="29338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4_c3_second_characterizes_connectivity_pr" title="cue_s04_c3_second_characterizes_connectivity_pr" descr="cue_s04_c3_second_characterizes_connectivity_pr Second, it characterizes connectivity, proving that if two models lack linear connectivity up to architectural symmetries, they must be mechanistically dissimilar."/>
          <p:cNvSpPr/>
          <p:nvPr/>
        </p:nvSpPr>
        <p:spPr>
          <a:xfrm>
            <a:off x="4344009" y="2400300"/>
            <a:ext cx="3505199" cy="29338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4_c4_third_motivated_result_proposes_conn" title="cue_s04_c4_third_motivated_result_proposes_conn" descr="cue_s04_c4_third_motivated_result_proposes_conn Third, motivated by this result, it proposes Connectivity-Based Fine-Tuning, a method that exploits loss barriers to steer a model toward the mechanisms we actually want."/>
          <p:cNvSpPr/>
          <p:nvPr/>
        </p:nvSpPr>
        <p:spPr>
          <a:xfrm>
            <a:off x="8077200" y="2400300"/>
            <a:ext cx="3505199" cy="29338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5241214" cy="761810"/>
            <a:chOff x="597408" y="591502"/>
            <a:chExt cx="5241214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697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52412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Connectivity-Based Fine-Tuning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00200"/>
            <a:ext cx="5295900" cy="1143000"/>
            <a:chOff x="609600" y="1600200"/>
            <a:chExt cx="5295900" cy="114300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5295900" cy="11430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47" y="1818799"/>
              <a:ext cx="932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FOUNDATION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723" y="2072164"/>
              <a:ext cx="3329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Mechanistic similarity = invariance to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319814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interventions on the data-generating process.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2895600"/>
            <a:ext cx="5295900" cy="2609850"/>
            <a:chOff x="609600" y="2895600"/>
            <a:chExt cx="5295900" cy="2609850"/>
          </a:xfrm>
        </p:grpSpPr>
        <p:sp>
          <p:nvSpPr>
            <p:cNvPr id="12" name="Rectangle 12"/>
            <p:cNvSpPr/>
            <p:nvPr/>
          </p:nvSpPr>
          <p:spPr>
            <a:xfrm>
              <a:off x="609600" y="2895600"/>
              <a:ext cx="5295900" cy="2609850"/>
            </a:xfrm>
            <a:prstGeom prst="roundRect">
              <a:avLst>
                <a:gd name="adj" fmla="val 43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895600"/>
              <a:ext cx="57150" cy="26098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3092768"/>
              <a:ext cx="3550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loss barrier ⇒ dissimilar mechanisms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90600" y="5143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90600" y="375285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Polyline 17"/>
            <p:cNvSpPr/>
            <p:nvPr/>
          </p:nvSpPr>
          <p:spPr>
            <a:xfrm>
              <a:off x="1066800" y="3733800"/>
              <a:ext cx="4229100" cy="1409700"/>
            </a:xfrm>
            <a:custGeom>
              <a:avLst/>
              <a:gdLst/>
              <a:ahLst/>
              <a:cxnLst/>
              <a:rect l="l" t="t" r="r" b="b"/>
              <a:pathLst>
                <a:path w="4229100" h="1409700">
                  <a:moveTo>
                    <a:pt x="0" y="1409700"/>
                  </a:moveTo>
                  <a:lnTo>
                    <a:pt x="552450" y="1123950"/>
                  </a:lnTo>
                  <a:lnTo>
                    <a:pt x="1123950" y="666750"/>
                  </a:lnTo>
                  <a:lnTo>
                    <a:pt x="1790700" y="133350"/>
                  </a:lnTo>
                  <a:lnTo>
                    <a:pt x="2124075" y="0"/>
                  </a:lnTo>
                  <a:lnTo>
                    <a:pt x="2457450" y="133350"/>
                  </a:lnTo>
                  <a:lnTo>
                    <a:pt x="3124200" y="666750"/>
                  </a:lnTo>
                  <a:lnTo>
                    <a:pt x="3695700" y="1123950"/>
                  </a:lnTo>
                  <a:lnTo>
                    <a:pt x="4229100" y="1409700"/>
                  </a:lnTo>
                </a:path>
              </a:pathLst>
            </a:custGeom>
            <a:noFill/>
            <a:ln w="26670" cap="rnd">
              <a:solidFill>
                <a:srgbClr val="DC2626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36579" y="3533299"/>
              <a:ext cx="50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09650" y="5086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238750" y="5086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490" y="523684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θ*target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9690" y="5236845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θ cue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3941445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loss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72200" y="1600200"/>
            <a:ext cx="5410200" cy="2857500"/>
            <a:chOff x="6172200" y="1600200"/>
            <a:chExt cx="54102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6172200" y="1600200"/>
              <a:ext cx="5410200" cy="28575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72200" y="1600200"/>
              <a:ext cx="57150" cy="2857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5847" y="1837849"/>
              <a:ext cx="2008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OBJECTIVE — THREE TERMS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00800" y="2133600"/>
              <a:ext cx="4953000" cy="6858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00800" y="21336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4823" y="2281714"/>
              <a:ext cx="1312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Cross-entropy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5966" y="2534602"/>
              <a:ext cx="192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a small cue-free dataset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00800" y="2933700"/>
              <a:ext cx="4953000" cy="6858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14288">
              <a:solidFill>
                <a:srgbClr val="DC262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00800" y="29337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4823" y="3081814"/>
              <a:ext cx="1076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Barrier loss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5966" y="333470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raise loss on the linear path to θ_cue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00800" y="3733800"/>
              <a:ext cx="4953000" cy="6858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00800" y="3733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4823" y="3881914"/>
              <a:ext cx="1329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Invariance loss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85966" y="4134802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align penultimate reps across counterfactuals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4648200"/>
            <a:ext cx="5410200" cy="857250"/>
            <a:chOff x="6172200" y="4648200"/>
            <a:chExt cx="5410200" cy="857250"/>
          </a:xfrm>
        </p:grpSpPr>
        <p:sp>
          <p:nvSpPr>
            <p:cNvPr id="41" name="Rectangle 41"/>
            <p:cNvSpPr/>
            <p:nvPr/>
          </p:nvSpPr>
          <p:spPr>
            <a:xfrm>
              <a:off x="6172200" y="4648200"/>
              <a:ext cx="5410200" cy="857250"/>
            </a:xfrm>
            <a:prstGeom prst="roundRect">
              <a:avLst>
                <a:gd name="adj" fmla="val 13333"/>
              </a:avLst>
            </a:prstGeom>
            <a:solidFill>
              <a:srgbClr val="E3F5EC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72200" y="464820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3942" y="4845368"/>
              <a:ext cx="2818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a mechanistically dissimilar,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3942" y="509301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cue-invariant solution.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589395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5 / 10</a:t>
              </a:r>
            </a:p>
          </p:txBody>
        </p:sp>
      </p:grpSp>
      <p:sp>
        <p:nvSpPr>
          <p:cNvPr id="49" name="cue_s05_c1_method_rests_defining_mechanistic_si" title="cue_s05_c1_method_rests_defining_mechanistic_si" descr="cue_s05_c1_method_rests_defining_mechanistic_si The method rests on defining mechanistic similarity through invariance to interventions on the data-generating process."/>
          <p:cNvSpPr/>
          <p:nvPr/>
        </p:nvSpPr>
        <p:spPr>
          <a:xfrm>
            <a:off x="609600" y="1599971"/>
            <a:ext cx="5296204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2_authors_prove_loss_barrier_along" title="cue_s05_c2_authors_prove_loss_barrier_along" descr="cue_s05_c2_authors_prove_loss_barrier_along The authors then prove that a loss barrier along the linear path between two models implies the models are mechanistically dissimilar, they have learned different invariances. Connectivity-Based Fine-Tuning turns this into an algorithm."/>
          <p:cNvSpPr/>
          <p:nvPr/>
        </p:nvSpPr>
        <p:spPr>
          <a:xfrm>
            <a:off x="609600" y="2895447"/>
            <a:ext cx="5296204" cy="26101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3_minimizes_three_terms_cross_entropy" title="cue_s05_c3_minimizes_three_terms_cross_entropy" descr="cue_s05_c3_minimizes_three_terms_cross_entropy It minimizes three terms: a cross-entropy loss on a small cue-free dataset, a barrier loss that deliberately raises loss along the linear path to the cue-relying solution up to an upper bound, and an invariance loss that aligns penultimate-layer representation"/>
          <p:cNvSpPr/>
          <p:nvPr/>
        </p:nvSpPr>
        <p:spPr>
          <a:xfrm>
            <a:off x="6171590" y="1599971"/>
            <a:ext cx="5409590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5_c4_together_these_push_mechanistically" title="cue_s05_c4_together_these_push_mechanistically" descr="cue_s05_c4_together_these_push_mechanistically Together these push the model to a mechanistically dissimilar, cue-invariant solution."/>
          <p:cNvSpPr/>
          <p:nvPr/>
        </p:nvSpPr>
        <p:spPr>
          <a:xfrm>
            <a:off x="6171590" y="4648352"/>
            <a:ext cx="5409590" cy="8572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6175204" cy="761810"/>
            <a:chOff x="597408" y="591502"/>
            <a:chExt cx="6175204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771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DATASETS &amp; PROBES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61752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Measuring mechanisms quantitatively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00200"/>
            <a:ext cx="10972800" cy="628650"/>
            <a:chOff x="609600" y="1600200"/>
            <a:chExt cx="10972800" cy="62865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10972800" cy="62865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35468"/>
              <a:ext cx="8759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Embed easily separable spurious cues into standard vision data — so reliance can be measured.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419350"/>
            <a:ext cx="6858000" cy="1809750"/>
            <a:chOff x="609600" y="2419350"/>
            <a:chExt cx="6858000" cy="1809750"/>
          </a:xfrm>
        </p:grpSpPr>
        <p:sp>
          <p:nvSpPr>
            <p:cNvPr id="10" name="Rectangle 10"/>
            <p:cNvSpPr/>
            <p:nvPr/>
          </p:nvSpPr>
          <p:spPr>
            <a:xfrm>
              <a:off x="609600" y="2419350"/>
              <a:ext cx="6858000" cy="1809750"/>
            </a:xfrm>
            <a:prstGeom prst="roundRect">
              <a:avLst>
                <a:gd name="adj" fmla="val 6316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41935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637949"/>
              <a:ext cx="1658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 CUED DATASETS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895600"/>
              <a:ext cx="64008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1143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28956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2985" y="3021806"/>
              <a:ext cx="70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CIFAR-10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9766" y="3029902"/>
              <a:ext cx="2215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 box cue placed by the label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3333750"/>
              <a:ext cx="64008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11430">
              <a:solidFill>
                <a:srgbClr val="C77C1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8200" y="333375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2985" y="3459956"/>
              <a:ext cx="79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CIFAR-100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9766" y="3468052"/>
              <a:ext cx="2660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cue colored &amp; positioned by label digits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71900"/>
              <a:ext cx="64008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11430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7719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985" y="3898106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Dominoes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99766" y="3906202"/>
              <a:ext cx="25971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CIFAR-10 stacked with Fashion-MNIST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96200" y="2419350"/>
            <a:ext cx="3886200" cy="1809750"/>
            <a:chOff x="7696200" y="2419350"/>
            <a:chExt cx="3886200" cy="1809750"/>
          </a:xfrm>
        </p:grpSpPr>
        <p:sp>
          <p:nvSpPr>
            <p:cNvPr id="26" name="Rectangle 26"/>
            <p:cNvSpPr/>
            <p:nvPr/>
          </p:nvSpPr>
          <p:spPr>
            <a:xfrm>
              <a:off x="7696200" y="2419350"/>
              <a:ext cx="3886200" cy="1809750"/>
            </a:xfrm>
            <a:prstGeom prst="roundRect">
              <a:avLst>
                <a:gd name="adj" fmla="val 6316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0" y="241935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19847" y="2637949"/>
              <a:ext cx="2143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77C11"/>
                  </a:solidFill>
                  <a:latin typeface="+mn-lt"/>
                  <a:ea typeface="+mn-ea"/>
                  <a:cs typeface="+mn-cs"/>
                </a:rPr>
                <a:t>COUNTERFACTUAL TEST SETS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24800" y="2895600"/>
              <a:ext cx="1714500" cy="361950"/>
            </a:xfrm>
            <a:prstGeom prst="roundRect">
              <a:avLst>
                <a:gd name="adj" fmla="val 21053"/>
              </a:avLst>
            </a:prstGeom>
            <a:solidFill>
              <a:srgbClr val="FBF0DD"/>
            </a:solidFill>
            <a:ln w="9525">
              <a:solidFill>
                <a:srgbClr val="C77C1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14533" y="302037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Remove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753600" y="2895600"/>
              <a:ext cx="1714500" cy="361950"/>
            </a:xfrm>
            <a:prstGeom prst="roundRect">
              <a:avLst>
                <a:gd name="adj" fmla="val 21053"/>
              </a:avLst>
            </a:prstGeom>
            <a:solidFill>
              <a:srgbClr val="FBF0DD"/>
            </a:solidFill>
            <a:ln w="9525">
              <a:solidFill>
                <a:srgbClr val="C77C1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39945" y="302037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24800" y="3333750"/>
              <a:ext cx="1714500" cy="361950"/>
            </a:xfrm>
            <a:prstGeom prst="roundRect">
              <a:avLst>
                <a:gd name="adj" fmla="val 21053"/>
              </a:avLst>
            </a:prstGeom>
            <a:solidFill>
              <a:srgbClr val="FBF0DD"/>
            </a:solidFill>
            <a:ln w="9525">
              <a:solidFill>
                <a:srgbClr val="C77C1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10804" y="3458528"/>
              <a:ext cx="742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Randomize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753600" y="3333750"/>
              <a:ext cx="1714500" cy="361950"/>
            </a:xfrm>
            <a:prstGeom prst="roundRect">
              <a:avLst>
                <a:gd name="adj" fmla="val 21053"/>
              </a:avLst>
            </a:prstGeom>
            <a:solidFill>
              <a:srgbClr val="FBF0DD"/>
            </a:solidFill>
            <a:ln w="9525">
              <a:solidFill>
                <a:srgbClr val="C77C1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80422" y="3458528"/>
              <a:ext cx="660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Scramble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9466" y="3734752"/>
              <a:ext cx="2236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Cued fraction varied 60% → 100%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4400550"/>
            <a:ext cx="10972800" cy="1104900"/>
            <a:chOff x="609600" y="4400550"/>
            <a:chExt cx="10972800" cy="1104900"/>
          </a:xfrm>
        </p:grpSpPr>
        <p:sp>
          <p:nvSpPr>
            <p:cNvPr id="39" name="Rectangle 39"/>
            <p:cNvSpPr/>
            <p:nvPr/>
          </p:nvSpPr>
          <p:spPr>
            <a:xfrm>
              <a:off x="609600" y="440055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rgbClr val="E3F5EC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9600" y="44005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1342" y="4635818"/>
              <a:ext cx="6613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Counterfactuals reveal exactly how much a model leans on the spurious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342" y="4902518"/>
              <a:ext cx="2809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cue versus the natural image.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866" y="5201602"/>
              <a:ext cx="6312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Comparing accuracy across probes turns an abstract mechanism into a measurable number.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589395"/>
              <a:ext cx="1310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Datasets &amp; benchmark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6 / 10</a:t>
              </a:r>
            </a:p>
          </p:txBody>
        </p:sp>
      </p:grpSp>
      <p:sp>
        <p:nvSpPr>
          <p:cNvPr id="48" name="cue_s06_c1_measure_mechanisms_quantitatively_au" title="cue_s06_c1_measure_mechanisms_quantitatively_au" descr="cue_s06_c1_measure_mechanisms_quantitatively_au To measure mechanisms quantitatively, the authors build synthetic datasets by embedding easily separable spurious cues into standard vision data."/>
          <p:cNvSpPr/>
          <p:nvPr/>
        </p:nvSpPr>
        <p:spPr>
          <a:xfrm>
            <a:off x="609600" y="1599971"/>
            <a:ext cx="109728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6_c2_cifar_10_gets_small_box_cues" title="cue_s06_c2_cifar_10_gets_small_box_cues" descr="cue_s06_c2_cifar_10_gets_small_box_cues CIFAR-10 gets small box cues placed according to the label, CIFAR-100 gets cues colored and positioned by label digits, and the Dominoes dataset stacks CIFAR-10 images with class-matched Fashion-MNIST images."/>
          <p:cNvSpPr/>
          <p:nvPr/>
        </p:nvSpPr>
        <p:spPr>
          <a:xfrm>
            <a:off x="609600" y="2419502"/>
            <a:ext cx="685800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6_c3_they_vary_fraction_cued_samples" title="cue_s06_c3_they_vary_fraction_cued_samples" descr="cue_s06_c3_they_vary_fraction_cued_samples They vary the fraction of cued samples from sixty to one hundred percent, and pair every dataset with counterfactual test sets that remove, keep, randomize, or scramble the cue."/>
          <p:cNvSpPr/>
          <p:nvPr/>
        </p:nvSpPr>
        <p:spPr>
          <a:xfrm>
            <a:off x="7695590" y="2419502"/>
            <a:ext cx="38855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6_c4_these_counterfactuals_reveal_exactly" title="cue_s06_c4_these_counterfactuals_reveal_exactly" descr="cue_s06_c4_these_counterfactuals_reveal_exactly These counterfactuals reveal exactly how much a model leans on the spurious cue versus the natural image."/>
          <p:cNvSpPr/>
          <p:nvPr/>
        </p:nvSpPr>
        <p:spPr>
          <a:xfrm>
            <a:off x="609600" y="4400778"/>
            <a:ext cx="109728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8380244" cy="761810"/>
            <a:chOff x="597408" y="591502"/>
            <a:chExt cx="8380244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025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RESULT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83802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disconnection signals different mechanisms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00200"/>
            <a:ext cx="10972800" cy="552450"/>
            <a:chOff x="609600" y="160020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rgbClr val="E3F5EC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961" y="1789271"/>
              <a:ext cx="4988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central empirical finding validates the theory.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286000"/>
            <a:ext cx="5334000" cy="2495550"/>
            <a:chOff x="609600" y="2286000"/>
            <a:chExt cx="5334000" cy="2495550"/>
          </a:xfrm>
        </p:grpSpPr>
        <p:sp>
          <p:nvSpPr>
            <p:cNvPr id="10" name="Rectangle 10"/>
            <p:cNvSpPr/>
            <p:nvPr/>
          </p:nvSpPr>
          <p:spPr>
            <a:xfrm>
              <a:off x="609600" y="2286000"/>
              <a:ext cx="5334000" cy="2495550"/>
            </a:xfrm>
            <a:prstGeom prst="roundRect">
              <a:avLst>
                <a:gd name="adj" fmla="val 45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286000"/>
              <a:ext cx="57150" cy="2495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483168"/>
              <a:ext cx="2415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path → high barrier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3989" y="2507456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DISCONNECTED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90600" y="4286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" y="31432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Polyline 16"/>
            <p:cNvSpPr/>
            <p:nvPr/>
          </p:nvSpPr>
          <p:spPr>
            <a:xfrm>
              <a:off x="609600" y="3200400"/>
              <a:ext cx="4381500" cy="800100"/>
            </a:xfrm>
            <a:custGeom>
              <a:avLst/>
              <a:gdLst/>
              <a:ahLst/>
              <a:cxnLst/>
              <a:rect l="l" t="t" r="r" b="b"/>
              <a:pathLst>
                <a:path w="4381500" h="800100">
                  <a:moveTo>
                    <a:pt x="0" y="800100"/>
                  </a:moveTo>
                  <a:lnTo>
                    <a:pt x="666750" y="704850"/>
                  </a:lnTo>
                  <a:lnTo>
                    <a:pt x="1333500" y="457200"/>
                  </a:lnTo>
                  <a:lnTo>
                    <a:pt x="2000250" y="76200"/>
                  </a:lnTo>
                  <a:lnTo>
                    <a:pt x="2190750" y="0"/>
                  </a:lnTo>
                  <a:lnTo>
                    <a:pt x="2381250" y="76200"/>
                  </a:lnTo>
                  <a:lnTo>
                    <a:pt x="3048000" y="457200"/>
                  </a:lnTo>
                  <a:lnTo>
                    <a:pt x="3714750" y="704850"/>
                  </a:lnTo>
                  <a:lnTo>
                    <a:pt x="4381500" y="800100"/>
                  </a:lnTo>
                </a:path>
              </a:pathLst>
            </a:custGeom>
            <a:noFill/>
            <a:ln w="28575" cap="rnd">
              <a:solidFill>
                <a:srgbClr val="DC2626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1214" y="2885599"/>
              <a:ext cx="820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loss barrier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866" y="4515802"/>
              <a:ext cx="498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ResNet-18 with vs. without cue: no linear link, even up to permutation.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72200" y="2286000"/>
            <a:ext cx="5410200" cy="2495550"/>
            <a:chOff x="6172200" y="2286000"/>
            <a:chExt cx="5410200" cy="2495550"/>
          </a:xfrm>
        </p:grpSpPr>
        <p:sp>
          <p:nvSpPr>
            <p:cNvPr id="20" name="Rectangle 20"/>
            <p:cNvSpPr/>
            <p:nvPr/>
          </p:nvSpPr>
          <p:spPr>
            <a:xfrm>
              <a:off x="6172200" y="2286000"/>
              <a:ext cx="5410200" cy="2495550"/>
            </a:xfrm>
            <a:prstGeom prst="roundRect">
              <a:avLst>
                <a:gd name="adj" fmla="val 458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72200" y="2286000"/>
              <a:ext cx="57150" cy="2495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93942" y="2483168"/>
              <a:ext cx="2386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Quadratic path → low loss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6973" y="2507456"/>
              <a:ext cx="872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CONNECTED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4286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553200" y="31432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Polyline 26"/>
            <p:cNvSpPr/>
            <p:nvPr/>
          </p:nvSpPr>
          <p:spPr>
            <a:xfrm>
              <a:off x="6172200" y="3829050"/>
              <a:ext cx="4667250" cy="171450"/>
            </a:xfrm>
            <a:custGeom>
              <a:avLst/>
              <a:gdLst/>
              <a:ahLst/>
              <a:cxnLst/>
              <a:rect l="l" t="t" r="r" b="b"/>
              <a:pathLst>
                <a:path w="4667250" h="171450">
                  <a:moveTo>
                    <a:pt x="0" y="171450"/>
                  </a:moveTo>
                  <a:lnTo>
                    <a:pt x="666750" y="133350"/>
                  </a:lnTo>
                  <a:lnTo>
                    <a:pt x="1333500" y="76200"/>
                  </a:lnTo>
                  <a:lnTo>
                    <a:pt x="2000250" y="19050"/>
                  </a:lnTo>
                  <a:lnTo>
                    <a:pt x="2667000" y="0"/>
                  </a:lnTo>
                  <a:lnTo>
                    <a:pt x="3333750" y="19050"/>
                  </a:lnTo>
                  <a:lnTo>
                    <a:pt x="4000500" y="76200"/>
                  </a:lnTo>
                  <a:lnTo>
                    <a:pt x="4667250" y="1714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37734" y="3990499"/>
              <a:ext cx="1602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smooth, low-loss curve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5466" y="4515802"/>
              <a:ext cx="4792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quadratic path links them easily — disconnection is a reliable signal.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4972050"/>
            <a:ext cx="10972800" cy="552450"/>
            <a:chOff x="609600" y="4972050"/>
            <a:chExt cx="10972800" cy="552450"/>
          </a:xfrm>
        </p:grpSpPr>
        <p:sp>
          <p:nvSpPr>
            <p:cNvPr id="30" name="Rectangle 30"/>
            <p:cNvSpPr/>
            <p:nvPr/>
          </p:nvSpPr>
          <p:spPr>
            <a:xfrm>
              <a:off x="609600" y="497205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rgbClr val="FBE7E7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97205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5169218"/>
              <a:ext cx="8235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 naive fine-tuning fails: it stays linearly connected → keeps the same spurious cues.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589395"/>
              <a:ext cx="6191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Key result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7 / 10</a:t>
              </a:r>
            </a:p>
          </p:txBody>
        </p:sp>
      </p:grpSp>
      <p:sp>
        <p:nvSpPr>
          <p:cNvPr id="37" name="cue_s07_c1_central_empirical_finding_validates" title="cue_s07_c1_central_empirical_finding_validates" descr="cue_s07_c1_central_empirical_finding_validates The central empirical finding validates the theory."/>
          <p:cNvSpPr/>
          <p:nvPr/>
        </p:nvSpPr>
        <p:spPr>
          <a:xfrm>
            <a:off x="609600" y="1599971"/>
            <a:ext cx="109728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7_c2_when_resnet_18_models_trained_withou" title="cue_s07_c2_when_resnet_18_models_trained_withou" descr="cue_s07_c2_when_resnet_18_models_trained_withou When ResNet-18 models are trained with and without spurious cues, they are mechanistically dissimilar, and the paper shows they cannot be connected by a linear path, even after accounting for permutation symmetries."/>
          <p:cNvSpPr/>
          <p:nvPr/>
        </p:nvSpPr>
        <p:spPr>
          <a:xfrm>
            <a:off x="609600" y="2285771"/>
            <a:ext cx="5334000" cy="24956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7_c3_however_quadratic_path_connects_them" title="cue_s07_c3_however_quadratic_path_connects_them" descr="cue_s07_c3_however_quadratic_path_connects_them However, a quadratic path connects them with ease. This confirms that linear disconnection is a reliable signal of differing mechanisms."/>
          <p:cNvSpPr/>
          <p:nvPr/>
        </p:nvSpPr>
        <p:spPr>
          <a:xfrm>
            <a:off x="6171590" y="2285771"/>
            <a:ext cx="5409590" cy="24956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7_c4_also_explains_why_naive_fine_tuning" title="cue_s07_c4_also_explains_why_naive_fine_tuning" descr="cue_s07_c4_also_explains_why_naive_fine_tuning It also explains why naive fine-tuning fails: fine-tuned models stay linearly connected to their pretraining solution and therefore keep relying on the same spurious cues."/>
          <p:cNvSpPr/>
          <p:nvPr/>
        </p:nvSpPr>
        <p:spPr>
          <a:xfrm>
            <a:off x="609600" y="4972050"/>
            <a:ext cx="109728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5293665" cy="761810"/>
            <a:chOff x="597408" y="591502"/>
            <a:chExt cx="5293665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842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52936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auxiliary terms are needed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00200"/>
            <a:ext cx="10972800" cy="552450"/>
            <a:chOff x="609600" y="160020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961" y="1789271"/>
              <a:ext cx="53965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Ablating the two auxiliary terms in the CBFT objective.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286000"/>
            <a:ext cx="6667500" cy="2266950"/>
            <a:chOff x="609600" y="2286000"/>
            <a:chExt cx="6667500" cy="2266950"/>
          </a:xfrm>
        </p:grpSpPr>
        <p:sp>
          <p:nvSpPr>
            <p:cNvPr id="10" name="Rectangle 10"/>
            <p:cNvSpPr/>
            <p:nvPr/>
          </p:nvSpPr>
          <p:spPr>
            <a:xfrm>
              <a:off x="609600" y="2286000"/>
              <a:ext cx="6667500" cy="2266950"/>
            </a:xfrm>
            <a:prstGeom prst="roundRect">
              <a:avLst>
                <a:gd name="adj" fmla="val 504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286000"/>
              <a:ext cx="57150" cy="22669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483168"/>
              <a:ext cx="2959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Remove a term, lose a property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838450"/>
              <a:ext cx="6210300" cy="704850"/>
            </a:xfrm>
            <a:prstGeom prst="roundRect">
              <a:avLst>
                <a:gd name="adj" fmla="val 10811"/>
              </a:avLst>
            </a:prstGeom>
            <a:solidFill>
              <a:schemeClr val="accent5"/>
            </a:solidFill>
            <a:ln w="14288">
              <a:solidFill>
                <a:srgbClr val="DC262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283845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2223" y="3005614"/>
              <a:ext cx="12314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− Barrier loss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3366" y="3277552"/>
              <a:ext cx="39190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 can't move to a mechanistically dissimilar solution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3676650"/>
              <a:ext cx="6210300" cy="704850"/>
            </a:xfrm>
            <a:prstGeom prst="roundRect">
              <a:avLst>
                <a:gd name="adj" fmla="val 10811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8200" y="367665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2223" y="3843814"/>
              <a:ext cx="1484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 Invariance loss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366" y="4115752"/>
              <a:ext cx="38059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longer selects the specific cue-invariant mechanism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05700" y="2286000"/>
            <a:ext cx="4076700" cy="2266950"/>
            <a:chOff x="7505700" y="2286000"/>
            <a:chExt cx="4076700" cy="2266950"/>
          </a:xfrm>
        </p:grpSpPr>
        <p:sp>
          <p:nvSpPr>
            <p:cNvPr id="22" name="Rectangle 22"/>
            <p:cNvSpPr/>
            <p:nvPr/>
          </p:nvSpPr>
          <p:spPr>
            <a:xfrm>
              <a:off x="7505700" y="2286000"/>
              <a:ext cx="4076700" cy="2266950"/>
            </a:xfrm>
            <a:prstGeom prst="roundRect">
              <a:avLst>
                <a:gd name="adj" fmla="val 504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05700" y="2286000"/>
              <a:ext cx="57150" cy="2266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29347" y="2523649"/>
              <a:ext cx="17820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DIVISION OF LABOR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34300" y="2781300"/>
              <a:ext cx="3619500" cy="666750"/>
            </a:xfrm>
            <a:prstGeom prst="roundRect">
              <a:avLst>
                <a:gd name="adj" fmla="val 11429"/>
              </a:avLst>
            </a:prstGeom>
            <a:solidFill>
              <a:srgbClr val="FBE7E7"/>
            </a:solidFill>
            <a:ln w="9525">
              <a:solidFill>
                <a:srgbClr val="F2C4C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80223" y="2910364"/>
              <a:ext cx="1445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Barrier = WHERE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81747" y="3171349"/>
              <a:ext cx="2688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push away from the cue-relying minimizer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34300" y="3562350"/>
              <a:ext cx="3619500" cy="666750"/>
            </a:xfrm>
            <a:prstGeom prst="roundRect">
              <a:avLst>
                <a:gd name="adj" fmla="val 11429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0223" y="3691414"/>
              <a:ext cx="1650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Invariance = WHICH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1747" y="3952399"/>
              <a:ext cx="2067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lock onto the desired invariance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743450"/>
            <a:ext cx="10972800" cy="762000"/>
            <a:chOff x="609600" y="4743450"/>
            <a:chExt cx="10972800" cy="762000"/>
          </a:xfrm>
        </p:grpSpPr>
        <p:sp>
          <p:nvSpPr>
            <p:cNvPr id="32" name="Rectangle 32"/>
            <p:cNvSpPr/>
            <p:nvPr/>
          </p:nvSpPr>
          <p:spPr>
            <a:xfrm>
              <a:off x="609600" y="4743450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rgbClr val="E3F5EC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" y="47434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342" y="4959668"/>
              <a:ext cx="6737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are needed for CBFT to work — the where and the which, together.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247" y="5247799"/>
              <a:ext cx="4486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Neither term alone produces the targeted, cue-invariant mechanism.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589395"/>
              <a:ext cx="8552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Ablation study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8 / 10</a:t>
              </a:r>
            </a:p>
          </p:txBody>
        </p:sp>
      </p:grpSp>
      <p:sp>
        <p:nvSpPr>
          <p:cNvPr id="40" name="cue_s08_c1_authors_ablate_two_auxiliary_terms" title="cue_s08_c1_authors_ablate_two_auxiliary_terms" descr="cue_s08_c1_authors_ablate_two_auxiliary_terms The authors ablate the two auxiliary terms in the CBFT objective."/>
          <p:cNvSpPr/>
          <p:nvPr/>
        </p:nvSpPr>
        <p:spPr>
          <a:xfrm>
            <a:off x="609600" y="1599971"/>
            <a:ext cx="10972800" cy="5527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8_c2_removing_barrier_loss_prevents_movin" title="cue_s08_c2_removing_barrier_loss_prevents_movin" descr="cue_s08_c2_removing_barrier_loss_prevents_movin Removing the barrier loss prevents the model from moving to a mechanistically dissimilar solution, while removing the invariance loss means the model no longer reliably selects the specific cue-invariant mechanism the user wants."/>
          <p:cNvSpPr/>
          <p:nvPr/>
        </p:nvSpPr>
        <p:spPr>
          <a:xfrm>
            <a:off x="609600" y="2285771"/>
            <a:ext cx="6667804" cy="22672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8_c3_other_words_barrier_loss_handles" title="cue_s08_c3_other_words_barrier_loss_handles" descr="cue_s08_c3_other_words_barrier_loss_handles In other words, the barrier loss handles the where, pushing away from the cue-relying minimizer, and the invariance loss handles the which, locking onto the desired invariance."/>
          <p:cNvSpPr/>
          <p:nvPr/>
        </p:nvSpPr>
        <p:spPr>
          <a:xfrm>
            <a:off x="7505395" y="2285771"/>
            <a:ext cx="4077004" cy="22672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8_c4_both_needed_cbft_work" title="cue_s08_c4_both_needed_cbft_work" descr="cue_s08_c4_both_needed_cbft_work Both are needed for CBFT to work."/>
          <p:cNvSpPr/>
          <p:nvPr/>
        </p:nvSpPr>
        <p:spPr>
          <a:xfrm>
            <a:off x="609600" y="4743678"/>
            <a:ext cx="10972800" cy="7619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4235913" cy="761810"/>
            <a:chOff x="597408" y="591502"/>
            <a:chExt cx="4235913" cy="7618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1663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HEADLINE NUMBERS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883920"/>
              <a:ext cx="42359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CIFAR-10 · 60% cued data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581150"/>
            <a:ext cx="10972800" cy="495300"/>
            <a:chOff x="609600" y="1581150"/>
            <a:chExt cx="10972800" cy="49530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10972800" cy="495300"/>
            </a:xfrm>
            <a:prstGeom prst="roundRect">
              <a:avLst>
                <a:gd name="adj" fmla="val 23077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759268"/>
              <a:ext cx="7023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numbers make the effect concrete — accuracy under three cue probes.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226945"/>
            <a:ext cx="6667500" cy="3297555"/>
            <a:chOff x="609600" y="2226945"/>
            <a:chExt cx="6667500" cy="3297555"/>
          </a:xfrm>
        </p:grpSpPr>
        <p:sp>
          <p:nvSpPr>
            <p:cNvPr id="10" name="Rectangle 10"/>
            <p:cNvSpPr/>
            <p:nvPr/>
          </p:nvSpPr>
          <p:spPr>
            <a:xfrm>
              <a:off x="609600" y="2247900"/>
              <a:ext cx="6667500" cy="3276600"/>
            </a:xfrm>
            <a:prstGeom prst="roundRect">
              <a:avLst>
                <a:gd name="adj" fmla="val 348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533400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9201" y="52749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66800" y="4595812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2564" y="453675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66800" y="3857625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2564" y="37985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66800" y="3119438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564" y="306038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66800" y="23812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5927" y="23221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066800" y="2381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295275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8A97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9638" y="2226945"/>
              <a:ext cx="336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 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12293" y="2951321"/>
            <a:ext cx="2001379" cy="2855690"/>
            <a:chOff x="1012293" y="2951321"/>
            <a:chExt cx="2001379" cy="2855690"/>
          </a:xfrm>
        </p:grpSpPr>
        <p:sp>
          <p:nvSpPr>
            <p:cNvPr id="24" name="Rectangle 24"/>
            <p:cNvSpPr/>
            <p:nvPr/>
          </p:nvSpPr>
          <p:spPr>
            <a:xfrm>
              <a:off x="1428750" y="3148965"/>
              <a:ext cx="438150" cy="2185035"/>
            </a:xfrm>
            <a:prstGeom prst="roundRect">
              <a:avLst>
                <a:gd name="adj" fmla="val 869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55038" y="29513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8297" y="5408295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cue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00250" y="3208020"/>
              <a:ext cx="438150" cy="2125980"/>
            </a:xfrm>
            <a:prstGeom prst="roundRect">
              <a:avLst>
                <a:gd name="adj" fmla="val 869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26538" y="30103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6189" y="5408295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cue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71750" y="3178493"/>
              <a:ext cx="438150" cy="2155507"/>
            </a:xfrm>
            <a:prstGeom prst="roundRect">
              <a:avLst>
                <a:gd name="adj" fmla="val 869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98038" y="29808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67978" y="54082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cue rnd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2293" y="5601652"/>
              <a:ext cx="197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CBFT — invariant to the cue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289980" y="2213134"/>
            <a:ext cx="2183040" cy="3593877"/>
            <a:chOff x="3289980" y="2213134"/>
            <a:chExt cx="2183040" cy="3593877"/>
          </a:xfrm>
        </p:grpSpPr>
        <p:sp>
          <p:nvSpPr>
            <p:cNvPr id="35" name="Rectangle 35"/>
            <p:cNvSpPr/>
            <p:nvPr/>
          </p:nvSpPr>
          <p:spPr>
            <a:xfrm>
              <a:off x="4095750" y="2410778"/>
              <a:ext cx="438150" cy="2923222"/>
            </a:xfrm>
            <a:prstGeom prst="roundRect">
              <a:avLst>
                <a:gd name="adj" fmla="val 8696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22038" y="221313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99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61689" y="5408295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cue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67250" y="4832032"/>
              <a:ext cx="438150" cy="501967"/>
            </a:xfrm>
            <a:prstGeom prst="roundRect">
              <a:avLst>
                <a:gd name="adj" fmla="val 8696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93538" y="463438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63478" y="54082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cue rnd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89980" y="5601652"/>
              <a:ext cx="2183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Standard FT — 99 → 17 collapse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58100" y="2247900"/>
            <a:ext cx="3924300" cy="3276600"/>
            <a:chOff x="7658100" y="2247900"/>
            <a:chExt cx="3924300" cy="3276600"/>
          </a:xfrm>
        </p:grpSpPr>
        <p:sp>
          <p:nvSpPr>
            <p:cNvPr id="43" name="Rectangle 43"/>
            <p:cNvSpPr/>
            <p:nvPr/>
          </p:nvSpPr>
          <p:spPr>
            <a:xfrm>
              <a:off x="7658100" y="2247900"/>
              <a:ext cx="3924300" cy="3276600"/>
            </a:xfrm>
            <a:prstGeom prst="roundRect">
              <a:avLst>
                <a:gd name="adj" fmla="val 348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58100" y="224790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19847" y="2561749"/>
              <a:ext cx="23656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77C11"/>
                  </a:solidFill>
                  <a:latin typeface="+mn-lt"/>
                  <a:ea typeface="+mn-ea"/>
                  <a:cs typeface="+mn-cs"/>
                </a:rPr>
                <a:t>UNDERLYING IMAGE RANDOMIZED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8036" y="3187065"/>
              <a:ext cx="1036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≈ 9%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79230" y="3381375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near chance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18704" y="3813810"/>
              <a:ext cx="2883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the real image scrambled, CBFT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042410"/>
              <a:ext cx="2992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falls to chance — it no longer predicts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18704" y="427101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from the spurious cue at all.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924800" y="4705350"/>
              <a:ext cx="3390900" cy="552450"/>
            </a:xfrm>
            <a:prstGeom prst="roundRect">
              <a:avLst>
                <a:gd name="adj" fmla="val 13793"/>
              </a:avLst>
            </a:prstGeom>
            <a:solidFill>
              <a:srgbClr val="E3F5EC"/>
            </a:solidFill>
            <a:ln w="9525">
              <a:solidFill>
                <a:srgbClr val="B7E2C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90916" y="4915852"/>
              <a:ext cx="2449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Mechanism successfully removed.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54" name="TextBox 54"/>
            <p:cNvSpPr txBox="1"/>
            <p:nvPr/>
          </p:nvSpPr>
          <p:spPr>
            <a:xfrm>
              <a:off x="604838" y="6589395"/>
              <a:ext cx="1012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Headline numbers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85542" y="6589395"/>
              <a:ext cx="2301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9 / 10</a:t>
              </a:r>
            </a:p>
          </p:txBody>
        </p:sp>
      </p:grpSp>
      <p:sp>
        <p:nvSpPr>
          <p:cNvPr id="57" name="cue_s09_c1_numbers_make_effect_concrete" title="cue_s09_c1_numbers_make_effect_concrete" descr="cue_s09_c1_numbers_make_effect_concrete The numbers make the effect concrete."/>
          <p:cNvSpPr/>
          <p:nvPr/>
        </p:nvSpPr>
        <p:spPr>
          <a:xfrm>
            <a:off x="609600" y="1581454"/>
            <a:ext cx="10972800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9_c2_cifar_10_sixty_percent_cued_connecti" title="cue_s09_c2_cifar_10_sixty_percent_cued_connecti" descr="cue_s09_c2_cifar_10_sixty_percent_cued_connecti On CIFAR-10 with sixty percent cued data, Connectivity-Based Fine-Tuning achieves seventy-four percent accuracy without the cue, seventy-two percent with the cue, and seventy-three percent when the cue is randomized, essentially invariant to the cue."/>
          <p:cNvSpPr/>
          <p:nvPr/>
        </p:nvSpPr>
        <p:spPr>
          <a:xfrm>
            <a:off x="1011936" y="2950997"/>
            <a:ext cx="2001926" cy="28556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9_c3_standard_fine_tuning_baseline_contra" title="cue_s09_c3_standard_fine_tuning_baseline_contra" descr="cue_s09_c3_standard_fine_tuning_baseline_contra A standard fine-tuning baseline, by contrast, hits ninety-nine percent with the cue but drops to just seventeen percent when the cue is randomized, revealing heavy reliance on the spurious feature."/>
          <p:cNvSpPr/>
          <p:nvPr/>
        </p:nvSpPr>
        <p:spPr>
          <a:xfrm>
            <a:off x="3289401" y="2213076"/>
            <a:ext cx="2183587" cy="359359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9_c4_when_underlying_image_randomized_cbf" title="cue_s09_c4_when_underlying_image_randomized_cbf" descr="cue_s09_c4_when_underlying_image_randomized_cbf And when the underlying image is randomized, CBFT falls near chance, around nine percent, showing it no longer predicts from the cue at all."/>
          <p:cNvSpPr/>
          <p:nvPr/>
        </p:nvSpPr>
        <p:spPr>
          <a:xfrm>
            <a:off x="7657795" y="2248052"/>
            <a:ext cx="3924604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7408" y="591502"/>
            <a:ext cx="7210642" cy="799910"/>
            <a:chOff x="597408" y="591502"/>
            <a:chExt cx="7210642" cy="799910"/>
          </a:xfrm>
        </p:grpSpPr>
        <p:sp>
          <p:nvSpPr>
            <p:cNvPr id="2" name="Rectangle 2"/>
            <p:cNvSpPr/>
            <p:nvPr/>
          </p:nvSpPr>
          <p:spPr>
            <a:xfrm>
              <a:off x="609600" y="628650"/>
              <a:ext cx="4381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56716" y="591502"/>
              <a:ext cx="881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922020"/>
              <a:ext cx="72106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connectivity is a tool, not a curiosity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695450"/>
            <a:ext cx="10972800" cy="914400"/>
            <a:chOff x="609600" y="1695450"/>
            <a:chExt cx="10972800" cy="9144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47" y="2009299"/>
              <a:ext cx="946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BIG IDEA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818" y="2222182"/>
              <a:ext cx="5481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connectivity carries mechanistic meaning.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857500"/>
            <a:ext cx="5334000" cy="1447800"/>
            <a:chOff x="609600" y="2857500"/>
            <a:chExt cx="5334000" cy="1447800"/>
          </a:xfrm>
        </p:grpSpPr>
        <p:sp>
          <p:nvSpPr>
            <p:cNvPr id="11" name="Rectangle 11"/>
            <p:cNvSpPr/>
            <p:nvPr/>
          </p:nvSpPr>
          <p:spPr>
            <a:xfrm>
              <a:off x="609600" y="2857500"/>
              <a:ext cx="5334000" cy="1447800"/>
            </a:xfrm>
            <a:prstGeom prst="roundRect">
              <a:avLst>
                <a:gd name="adj" fmla="val 789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85750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C77C1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342" y="3073718"/>
              <a:ext cx="2156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signal you can exploit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3421856"/>
              <a:ext cx="2851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If two low-loss models are not linearly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3631406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connected, they rely on different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3840956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mechanisms — and that fact is a tool.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72200" y="2857500"/>
            <a:ext cx="5410200" cy="1447800"/>
            <a:chOff x="6172200" y="2857500"/>
            <a:chExt cx="5410200" cy="1447800"/>
          </a:xfrm>
        </p:grpSpPr>
        <p:sp>
          <p:nvSpPr>
            <p:cNvPr id="18" name="Rectangle 18"/>
            <p:cNvSpPr/>
            <p:nvPr/>
          </p:nvSpPr>
          <p:spPr>
            <a:xfrm>
              <a:off x="6172200" y="2857500"/>
              <a:ext cx="5410200" cy="1447800"/>
            </a:xfrm>
            <a:prstGeom prst="roundRect">
              <a:avLst>
                <a:gd name="adj" fmla="val 7895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72200" y="285750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3942" y="3073718"/>
              <a:ext cx="2309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CBFT reshapes attention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5085" y="3421856"/>
              <a:ext cx="3038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Connectivity-Based Fine-Tuning reshapes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5085" y="3631406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a model attends to, dropping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5085" y="3840956"/>
              <a:ext cx="3022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spurious cues where ordinary FT cannot.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4533900"/>
            <a:ext cx="10972800" cy="949261"/>
            <a:chOff x="609600" y="4533900"/>
            <a:chExt cx="10972800" cy="949261"/>
          </a:xfrm>
        </p:grpSpPr>
        <p:sp>
          <p:nvSpPr>
            <p:cNvPr id="25" name="Rectangle 25"/>
            <p:cNvSpPr/>
            <p:nvPr/>
          </p:nvSpPr>
          <p:spPr>
            <a:xfrm>
              <a:off x="609600" y="45339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45339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4750118"/>
              <a:ext cx="37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merely a geometric curiosity, but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997768"/>
              <a:ext cx="4250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practical handle for robust, editable models.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866" y="5277802"/>
              <a:ext cx="6114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Connectivity turns loss-landscape geometry into a lever on what networks learn to use.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589395"/>
            <a:ext cx="10982325" cy="176212"/>
            <a:chOff x="604838" y="6589395"/>
            <a:chExt cx="10982325" cy="176212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589395"/>
              <a:ext cx="5707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18486" y="6589395"/>
              <a:ext cx="2368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Mechanistic Mode Connectivity · 10 / 10</a:t>
              </a:r>
            </a:p>
          </p:txBody>
        </p:sp>
      </p:grpSp>
      <p:sp>
        <p:nvSpPr>
          <p:cNvPr id="34" name="cue_s10_c1_takeaway_mode_connectivity_carries_m" title="cue_s10_c1_takeaway_mode_connectivity_carries_m" descr="cue_s10_c1_takeaway_mode_connectivity_carries_m The takeaway is that mode connectivity carries mechanistic meaning."/>
          <p:cNvSpPr/>
          <p:nvPr/>
        </p:nvSpPr>
        <p:spPr>
          <a:xfrm>
            <a:off x="609600" y="1695297"/>
            <a:ext cx="10972800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10_c2_two_low_loss_models_not_linearly" title="cue_s10_c2_two_low_loss_models_not_linearly" descr="cue_s10_c2_two_low_loss_models_not_linearly If two low-loss models are not linearly connected, they rely on different mechanisms, and this fact can be turned into a tool."/>
          <p:cNvSpPr/>
          <p:nvPr/>
        </p:nvSpPr>
        <p:spPr>
          <a:xfrm>
            <a:off x="609600" y="2857728"/>
            <a:ext cx="5334000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10_c3_connectivity_based_fine_tuning_delib" title="cue_s10_c3_connectivity_based_fine_tuning_delib" descr="cue_s10_c3_connectivity_based_fine_tuning_delib Connectivity-Based Fine-Tuning uses it to deliberately reshape what a model attends to, removing reliance on spurious cues where ordinary fine-tuning cannot."/>
          <p:cNvSpPr/>
          <p:nvPr/>
        </p:nvSpPr>
        <p:spPr>
          <a:xfrm>
            <a:off x="6171590" y="2857728"/>
            <a:ext cx="5409590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10_c4_mode_connectivity_short_not_merely" title="cue_s10_c4_mode_connectivity_short_not_merely" descr="cue_s10_c4_mode_connectivity_short_not_merely Mode connectivity, in short, is not merely a geometric curiosity but a practical handle for building more robust and editable models."/>
          <p:cNvSpPr/>
          <p:nvPr/>
        </p:nvSpPr>
        <p:spPr>
          <a:xfrm>
            <a:off x="609600" y="4533823"/>
            <a:ext cx="10972800" cy="949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mc_034">
  <a:themeElements>
    <a:clrScheme name="mmc_034">
      <a:dk1>
        <a:srgbClr val="12172A"/>
      </a:dk1>
      <a:lt1>
        <a:srgbClr val="FFFFFF"/>
      </a:lt1>
      <a:dk2>
        <a:srgbClr val="55617A"/>
      </a:dk2>
      <a:lt2>
        <a:srgbClr val="F4F6FB"/>
      </a:lt2>
      <a:accent1>
        <a:srgbClr val="2453D6"/>
      </a:accent1>
      <a:accent2>
        <a:srgbClr val="0E9E6E"/>
      </a:accent2>
      <a:accent3>
        <a:srgbClr val="0E9E6E"/>
      </a:accent3>
      <a:accent4>
        <a:srgbClr val="E2E7EF"/>
      </a:accent4>
      <a:accent5>
        <a:srgbClr val="F8FAFD"/>
      </a:accent5>
      <a:accent6>
        <a:srgbClr val="E7EEFF"/>
      </a:accent6>
      <a:hlink>
        <a:srgbClr val="0E9E6E"/>
      </a:hlink>
      <a:folHlink>
        <a:srgbClr val="0E9E6E"/>
      </a:folHlink>
    </a:clrScheme>
    <a:fontScheme name="mmc_034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mc_03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2026-07-15T16:04:34Z</dcterms:created>
  <dcterms:modified xsi:type="dcterms:W3CDTF">2026-07-15T16:04:34Z</dcterms:modified>
  <cp:category/>
  <cp:contentStatus/>
</cp:coreProperties>
</file>
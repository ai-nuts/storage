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_projec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_projec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48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100" kern="1200">
          <a:solidFill>
            <a:schemeClr val="tx1"/>
          </a:solidFill>
          <a:latin typeface="+mn-lt"/>
          <a:ea typeface="+mn-ea"/>
          <a:cs typeface="+mn-cs"/>
        </a:defRPr>
      </a:lvl2pPr>
      <a:lvl3pPr marL="914400" algn="l" defTabSz="457200" rtl="0" eaLnBrk="1" latinLnBrk="0" hangingPunct="1">
        <a:defRPr sz="1050" kern="1200">
          <a:solidFill>
            <a:schemeClr val="tx1"/>
          </a:solidFill>
          <a:latin typeface="+mn-lt"/>
          <a:ea typeface="+mn-ea"/>
          <a:cs typeface="+mn-cs"/>
        </a:defRPr>
      </a:lvl3pPr>
      <a:lvl4pPr marL="1371600" algn="l" defTabSz="457200" rtl="0" eaLnBrk="1" latinLnBrk="0" hangingPunct="1">
        <a:defRPr sz="1000" kern="1200">
          <a:solidFill>
            <a:schemeClr val="tx1"/>
          </a:solidFill>
          <a:latin typeface="+mn-lt"/>
          <a:ea typeface="+mn-ea"/>
          <a:cs typeface="+mn-cs"/>
        </a:defRPr>
      </a:lvl4pPr>
      <a:lvl5pPr marL="1828800" algn="l" defTabSz="457200" rtl="0" eaLnBrk="1" latinLnBrk="0" hangingPunct="1">
        <a:defRPr sz="9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59e0ac61b0b0748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chemeClr val="accent1"/>
            </a:solidFill>
            <a:ln>
              <a:noFill/>
            </a:ln>
          </p:spPr>
        </p:sp>
      </p:grpSp>
      <p:sp>
        <p:nvSpPr>
          <p:cNvPr id="5" name="TextBox 5"/>
          <p:cNvSpPr txBox="1"/>
          <p:nvPr/>
        </p:nvSpPr>
        <p:spPr>
          <a:xfrm>
            <a:off x="604647" y="771049"/>
            <a:ext cx="3391235"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CNRS · UNIVERSITE DE BORDEAUX · ENPC</a:t>
            </a:r>
          </a:p>
        </p:txBody>
      </p:sp>
      <p:sp>
        <p:nvSpPr>
          <p:cNvPr id="6" name="TextBox 6"/>
          <p:cNvSpPr txBox="1"/>
          <p:nvPr/>
        </p:nvSpPr>
        <p:spPr>
          <a:xfrm>
            <a:off x="604838" y="988695"/>
            <a:ext cx="2147415" cy="176212"/>
          </a:xfrm>
          <a:prstGeom prst="rect">
            <a:avLst/>
          </a:prstGeom>
          <a:noFill/>
          <a:ln>
            <a:noFill/>
          </a:ln>
        </p:spPr>
        <p:txBody>
          <a:bodyPr wrap="none" lIns="0" tIns="0" rIns="0" bIns="0" anchor="t" anchorCtr="0">
            <a:spAutoFit/>
          </a:bodyPr>
          <a:lstStyle/>
          <a:p>
            <a:pPr algn="l"/>
            <a:r>
              <a:rPr lang="en-US" sz="900" b="1" spc="75" dirty="0">
                <a:solidFill>
                  <a:srgbClr val="6E82A6"/>
                </a:solidFill>
                <a:latin typeface="+mn-lt"/>
                <a:ea typeface="+mn-ea"/>
                <a:cs typeface="+mn-cs"/>
              </a:rPr>
              <a:t>ICLR 2022 · arXiv:2106.09711</a:t>
            </a:r>
          </a:p>
        </p:txBody>
      </p:sp>
      <p:sp>
        <p:nvSpPr>
          <p:cNvPr id="7" name="TextBox 7"/>
          <p:cNvSpPr txBox="1"/>
          <p:nvPr/>
        </p:nvSpPr>
        <p:spPr>
          <a:xfrm>
            <a:off x="592836" y="1510665"/>
            <a:ext cx="5470496"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j-lt"/>
                <a:ea typeface="+mj-ea"/>
                <a:cs typeface="+mj-cs"/>
              </a:rPr>
              <a:t>Visual Correspondence</a:t>
            </a:r>
          </a:p>
        </p:txBody>
      </p:sp>
      <p:sp>
        <p:nvSpPr>
          <p:cNvPr id="8" name="TextBox 8"/>
          <p:cNvSpPr txBox="1"/>
          <p:nvPr/>
        </p:nvSpPr>
        <p:spPr>
          <a:xfrm>
            <a:off x="592836" y="2005965"/>
            <a:ext cx="3114590"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j-lt"/>
                <a:ea typeface="+mj-ea"/>
                <a:cs typeface="+mj-cs"/>
              </a:rPr>
              <a:t>Hallucination</a:t>
            </a:r>
          </a:p>
        </p:txBody>
      </p:sp>
      <p:sp>
        <p:nvSpPr>
          <p:cNvPr id="9" name="Rectangle 9"/>
          <p:cNvSpPr/>
          <p:nvPr/>
        </p:nvSpPr>
        <p:spPr>
          <a:xfrm>
            <a:off x="609600" y="2628900"/>
            <a:ext cx="857250" cy="47625"/>
          </a:xfrm>
          <a:prstGeom prst="roundRect">
            <a:avLst>
              <a:gd name="adj" fmla="val 40000"/>
            </a:avLst>
          </a:prstGeom>
          <a:solidFill>
            <a:schemeClr val="accent1"/>
          </a:solidFill>
          <a:ln>
            <a:noFill/>
          </a:ln>
        </p:spPr>
        <p:txBody>
          <a:bodyPr/>
          <a:p/>
        </p:txBody>
      </p:sp>
      <p:sp>
        <p:nvSpPr>
          <p:cNvPr id="10" name="TextBox 10"/>
          <p:cNvSpPr txBox="1"/>
          <p:nvPr/>
        </p:nvSpPr>
        <p:spPr>
          <a:xfrm>
            <a:off x="602361" y="2951321"/>
            <a:ext cx="4965785" cy="278702"/>
          </a:xfrm>
          <a:prstGeom prst="rect">
            <a:avLst/>
          </a:prstGeom>
          <a:noFill/>
          <a:ln>
            <a:noFill/>
          </a:ln>
        </p:spPr>
        <p:txBody>
          <a:bodyPr wrap="none" lIns="0" tIns="0" rIns="0" bIns="0" anchor="t" anchorCtr="0">
            <a:spAutoFit/>
          </a:bodyPr>
          <a:lstStyle/>
          <a:p>
            <a:pPr algn="l"/>
            <a:r>
              <a:rPr lang="en-US" sz="1420" b="1" dirty="0">
                <a:solidFill>
                  <a:schemeClr val="dk2"/>
                </a:solidFill>
                <a:latin typeface="+mn-lt"/>
                <a:ea typeface="+mn-ea"/>
                <a:cs typeface="+mn-cs"/>
              </a:rPr>
              <a:t>NeurHal — matching even where points are occluded</a:t>
            </a:r>
          </a:p>
        </p:txBody>
      </p:sp>
      <p:sp>
        <p:nvSpPr>
          <p:cNvPr id="11" name="TextBox 11"/>
          <p:cNvSpPr txBox="1"/>
          <p:nvPr/>
        </p:nvSpPr>
        <p:spPr>
          <a:xfrm>
            <a:off x="602361" y="3198971"/>
            <a:ext cx="2694069" cy="278702"/>
          </a:xfrm>
          <a:prstGeom prst="rect">
            <a:avLst/>
          </a:prstGeom>
          <a:noFill/>
          <a:ln>
            <a:noFill/>
          </a:ln>
        </p:spPr>
        <p:txBody>
          <a:bodyPr wrap="none" lIns="0" tIns="0" rIns="0" bIns="0" anchor="t" anchorCtr="0">
            <a:spAutoFit/>
          </a:bodyPr>
          <a:lstStyle/>
          <a:p>
            <a:pPr algn="l"/>
            <a:r>
              <a:rPr lang="en-US" sz="1420" b="1" dirty="0">
                <a:solidFill>
                  <a:schemeClr val="dk2"/>
                </a:solidFill>
                <a:latin typeface="+mn-lt"/>
                <a:ea typeface="+mn-ea"/>
                <a:cs typeface="+mn-cs"/>
              </a:rPr>
              <a:t>or outside the field of view</a:t>
            </a:r>
          </a:p>
        </p:txBody>
      </p:sp>
      <p:sp>
        <p:nvSpPr>
          <p:cNvPr id="12" name="TextBox 12"/>
          <p:cNvSpPr txBox="1"/>
          <p:nvPr/>
        </p:nvSpPr>
        <p:spPr>
          <a:xfrm>
            <a:off x="604266" y="3620452"/>
            <a:ext cx="3630016" cy="205359"/>
          </a:xfrm>
          <a:prstGeom prst="rect">
            <a:avLst/>
          </a:prstGeom>
          <a:noFill/>
          <a:ln>
            <a:noFill/>
          </a:ln>
        </p:spPr>
        <p:txBody>
          <a:bodyPr wrap="none" lIns="0" tIns="0" rIns="0" bIns="0" anchor="t" anchorCtr="0">
            <a:spAutoFit/>
          </a:bodyPr>
          <a:lstStyle/>
          <a:p>
            <a:pPr algn="l"/>
            <a:r>
              <a:rPr lang="en-US" sz="1050" dirty="0">
                <a:solidFill>
                  <a:srgbClr val="6E82A6"/>
                </a:solidFill>
                <a:latin typeface="+mn-lt"/>
                <a:ea typeface="+mn-ea"/>
                <a:cs typeface="+mn-cs"/>
              </a:rPr>
              <a:t>Hugo Germain · Vincent Lepetit · Guillaume Bourmaud</a:t>
            </a:r>
          </a:p>
        </p:txBody>
      </p:sp>
      <p:sp>
        <p:nvSpPr>
          <p:cNvPr id="13" name="Rectangle 13"/>
          <p:cNvSpPr/>
          <p:nvPr/>
        </p:nvSpPr>
        <p:spPr>
          <a:xfrm>
            <a:off x="609600" y="4114800"/>
            <a:ext cx="1905000" cy="1905000"/>
          </a:xfrm>
          <a:prstGeom prst="roundRect">
            <a:avLst>
              <a:gd name="adj" fmla="val 6000"/>
            </a:avLst>
          </a:prstGeom>
          <a:solidFill>
            <a:srgbClr val="FFFFFF"/>
          </a:solidFill>
          <a:ln>
            <a:noFill/>
          </a:ln>
        </p:spPr>
        <p:txBody>
          <a:bodyPr/>
          <a:p/>
        </p:txBody>
      </p:sp>
      <p:pic>
        <p:nvPicPr>
          <p:cNvPr id="14" name="Image 14"/>
          <p:cNvPicPr>
            <a:picLocks noChangeAspect="1"/>
          </p:cNvPicPr>
          <p:nvPr/>
        </p:nvPicPr>
        <p:blipFill>
          <a:blip r:embed="rId2"/>
          <a:stretch>
            <a:fillRect/>
          </a:stretch>
        </p:blipFill>
        <p:spPr>
          <a:xfrm>
            <a:off x="685800" y="4191000"/>
            <a:ext cx="1752600" cy="1752600"/>
          </a:xfrm>
          <a:prstGeom prst="rect">
            <a:avLst/>
          </a:prstGeom>
        </p:spPr>
      </p:pic>
      <p:sp>
        <p:nvSpPr>
          <p:cNvPr id="15" name="TextBox 15"/>
          <p:cNvSpPr txBox="1"/>
          <p:nvPr/>
        </p:nvSpPr>
        <p:spPr>
          <a:xfrm>
            <a:off x="2700338" y="4741545"/>
            <a:ext cx="1281577" cy="176212"/>
          </a:xfrm>
          <a:prstGeom prst="rect">
            <a:avLst/>
          </a:prstGeom>
          <a:noFill/>
          <a:ln>
            <a:noFill/>
          </a:ln>
        </p:spPr>
        <p:txBody>
          <a:bodyPr wrap="none" lIns="0" tIns="0" rIns="0" bIns="0" anchor="t" anchorCtr="0">
            <a:spAutoFit/>
          </a:bodyPr>
          <a:lstStyle/>
          <a:p>
            <a:pPr algn="l"/>
            <a:r>
              <a:rPr lang="en-US" sz="900" b="1" spc="150" dirty="0">
                <a:solidFill>
                  <a:schemeClr val="dk2"/>
                </a:solidFill>
                <a:latin typeface="+mn-lt"/>
                <a:ea typeface="+mn-ea"/>
                <a:cs typeface="+mn-cs"/>
              </a:rPr>
              <a:t>SCAN FOR PAPER</a:t>
            </a:r>
          </a:p>
        </p:txBody>
      </p:sp>
      <p:sp>
        <p:nvSpPr>
          <p:cNvPr id="16" name="TextBox 16"/>
          <p:cNvSpPr txBox="1"/>
          <p:nvPr/>
        </p:nvSpPr>
        <p:spPr>
          <a:xfrm>
            <a:off x="2700147" y="4981099"/>
            <a:ext cx="1803792"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arxiv.org/abs/2106.09711</a:t>
            </a:r>
          </a:p>
        </p:txBody>
      </p:sp>
      <p:sp>
        <p:nvSpPr>
          <p:cNvPr id="17" name="TextBox 17"/>
          <p:cNvSpPr txBox="1"/>
          <p:nvPr/>
        </p:nvSpPr>
        <p:spPr>
          <a:xfrm>
            <a:off x="2699766" y="5487352"/>
            <a:ext cx="2524229" cy="205359"/>
          </a:xfrm>
          <a:prstGeom prst="rect">
            <a:avLst/>
          </a:prstGeom>
          <a:noFill/>
          <a:ln>
            <a:noFill/>
          </a:ln>
        </p:spPr>
        <p:txBody>
          <a:bodyPr wrap="none" lIns="0" tIns="0" rIns="0" bIns="0" anchor="t" anchorCtr="0">
            <a:spAutoFit/>
          </a:bodyPr>
          <a:lstStyle/>
          <a:p>
            <a:pPr algn="l"/>
            <a:r>
              <a:rPr lang="en-US" sz="1050" i="1" dirty="0">
                <a:solidFill>
                  <a:srgbClr val="6E82A6"/>
                </a:solidFill>
                <a:latin typeface="+mn-lt"/>
                <a:ea typeface="+mn-ea"/>
                <a:cs typeface="+mn-cs"/>
              </a:rPr>
              <a:t>Non-covisible regions become signal.</a:t>
            </a:r>
          </a:p>
        </p:txBody>
      </p:sp>
      <p:grpSp>
        <p:nvGrpSpPr>
          <p:cNvPr id="23" name="Group 23"/>
          <p:cNvGrpSpPr/>
          <p:nvPr/>
        </p:nvGrpSpPr>
        <p:grpSpPr>
          <a:xfrm>
            <a:off x="6477000" y="1428750"/>
            <a:ext cx="5105400" cy="1123950"/>
            <a:chOff x="6477000" y="1428750"/>
            <a:chExt cx="5105400" cy="1123950"/>
          </a:xfrm>
        </p:grpSpPr>
        <p:sp>
          <p:nvSpPr>
            <p:cNvPr id="18" name="Rectangle 18"/>
            <p:cNvSpPr/>
            <p:nvPr/>
          </p:nvSpPr>
          <p:spPr>
            <a:xfrm>
              <a:off x="6477000" y="1428750"/>
              <a:ext cx="5105400" cy="1123950"/>
            </a:xfrm>
            <a:prstGeom prst="roundRect">
              <a:avLst>
                <a:gd name="adj" fmla="val 11864"/>
              </a:avLst>
            </a:prstGeom>
            <a:solidFill>
              <a:schemeClr val="lt2"/>
            </a:solidFill>
            <a:ln w="9525">
              <a:solidFill>
                <a:schemeClr val="accent4"/>
              </a:solidFill>
            </a:ln>
          </p:spPr>
        </p:sp>
        <p:sp>
          <p:nvSpPr>
            <p:cNvPr id="19" name="Rectangle 19"/>
            <p:cNvSpPr/>
            <p:nvPr/>
          </p:nvSpPr>
          <p:spPr>
            <a:xfrm>
              <a:off x="6477000" y="1581150"/>
              <a:ext cx="47625" cy="819150"/>
            </a:xfrm>
            <a:prstGeom prst="roundRect">
              <a:avLst>
                <a:gd name="adj" fmla="val 40000"/>
              </a:avLst>
            </a:prstGeom>
            <a:solidFill>
              <a:schemeClr val="accent1"/>
            </a:solidFill>
            <a:ln>
              <a:noFill/>
            </a:ln>
          </p:spPr>
        </p:sp>
        <p:sp>
          <p:nvSpPr>
            <p:cNvPr id="20" name="TextBox 20"/>
            <p:cNvSpPr txBox="1"/>
            <p:nvPr/>
          </p:nvSpPr>
          <p:spPr>
            <a:xfrm>
              <a:off x="6719697" y="1666399"/>
              <a:ext cx="1195974"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THE QUESTION</a:t>
              </a:r>
            </a:p>
          </p:txBody>
        </p:sp>
        <p:sp>
          <p:nvSpPr>
            <p:cNvPr id="21" name="TextBox 21"/>
            <p:cNvSpPr txBox="1"/>
            <p:nvPr/>
          </p:nvSpPr>
          <p:spPr>
            <a:xfrm>
              <a:off x="6718554" y="1908810"/>
              <a:ext cx="382207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Two overlapping images, a keypoint in the first:</a:t>
              </a:r>
            </a:p>
          </p:txBody>
        </p:sp>
        <p:sp>
          <p:nvSpPr>
            <p:cNvPr id="22" name="TextBox 22"/>
            <p:cNvSpPr txBox="1"/>
            <p:nvPr/>
          </p:nvSpPr>
          <p:spPr>
            <a:xfrm>
              <a:off x="6718554" y="2127885"/>
              <a:ext cx="322691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where does its match land in the second?</a:t>
              </a:r>
            </a:p>
          </p:txBody>
        </p:sp>
      </p:grpSp>
      <p:grpSp>
        <p:nvGrpSpPr>
          <p:cNvPr id="29" name="Group 29"/>
          <p:cNvGrpSpPr/>
          <p:nvPr/>
        </p:nvGrpSpPr>
        <p:grpSpPr>
          <a:xfrm>
            <a:off x="6477000" y="2686050"/>
            <a:ext cx="5105400" cy="1123950"/>
            <a:chOff x="6477000" y="2686050"/>
            <a:chExt cx="5105400" cy="1123950"/>
          </a:xfrm>
        </p:grpSpPr>
        <p:sp>
          <p:nvSpPr>
            <p:cNvPr id="24" name="Rectangle 24"/>
            <p:cNvSpPr/>
            <p:nvPr/>
          </p:nvSpPr>
          <p:spPr>
            <a:xfrm>
              <a:off x="6477000" y="2686050"/>
              <a:ext cx="5105400" cy="1123950"/>
            </a:xfrm>
            <a:prstGeom prst="roundRect">
              <a:avLst>
                <a:gd name="adj" fmla="val 11864"/>
              </a:avLst>
            </a:prstGeom>
            <a:solidFill>
              <a:schemeClr val="lt2"/>
            </a:solidFill>
            <a:ln w="9525">
              <a:solidFill>
                <a:schemeClr val="accent4"/>
              </a:solidFill>
            </a:ln>
          </p:spPr>
        </p:sp>
        <p:sp>
          <p:nvSpPr>
            <p:cNvPr id="25" name="Rectangle 25"/>
            <p:cNvSpPr/>
            <p:nvPr/>
          </p:nvSpPr>
          <p:spPr>
            <a:xfrm>
              <a:off x="6477000" y="2838450"/>
              <a:ext cx="47625" cy="819150"/>
            </a:xfrm>
            <a:prstGeom prst="roundRect">
              <a:avLst>
                <a:gd name="adj" fmla="val 40000"/>
              </a:avLst>
            </a:prstGeom>
            <a:solidFill>
              <a:srgbClr val="FBBF24"/>
            </a:solidFill>
            <a:ln>
              <a:noFill/>
            </a:ln>
          </p:spPr>
        </p:sp>
        <p:sp>
          <p:nvSpPr>
            <p:cNvPr id="26" name="TextBox 26"/>
            <p:cNvSpPr txBox="1"/>
            <p:nvPr/>
          </p:nvSpPr>
          <p:spPr>
            <a:xfrm>
              <a:off x="6719697" y="2923699"/>
              <a:ext cx="824600"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THE LIMIT</a:t>
              </a:r>
            </a:p>
          </p:txBody>
        </p:sp>
        <p:sp>
          <p:nvSpPr>
            <p:cNvPr id="27" name="TextBox 27"/>
            <p:cNvSpPr txBox="1"/>
            <p:nvPr/>
          </p:nvSpPr>
          <p:spPr>
            <a:xfrm>
              <a:off x="6718554" y="3166110"/>
              <a:ext cx="374927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Local feature matching only answers when that</a:t>
              </a:r>
            </a:p>
          </p:txBody>
        </p:sp>
        <p:sp>
          <p:nvSpPr>
            <p:cNvPr id="28" name="TextBox 28"/>
            <p:cNvSpPr txBox="1"/>
            <p:nvPr/>
          </p:nvSpPr>
          <p:spPr>
            <a:xfrm>
              <a:off x="6718554" y="3385185"/>
              <a:ext cx="308152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point is actually visible in both images.</a:t>
              </a:r>
            </a:p>
          </p:txBody>
        </p:sp>
      </p:grpSp>
      <p:grpSp>
        <p:nvGrpSpPr>
          <p:cNvPr id="35" name="Group 35"/>
          <p:cNvGrpSpPr/>
          <p:nvPr/>
        </p:nvGrpSpPr>
        <p:grpSpPr>
          <a:xfrm>
            <a:off x="6477000" y="3943350"/>
            <a:ext cx="5105400" cy="1123950"/>
            <a:chOff x="6477000" y="3943350"/>
            <a:chExt cx="5105400" cy="1123950"/>
          </a:xfrm>
        </p:grpSpPr>
        <p:sp>
          <p:nvSpPr>
            <p:cNvPr id="30" name="Rectangle 30"/>
            <p:cNvSpPr/>
            <p:nvPr/>
          </p:nvSpPr>
          <p:spPr>
            <a:xfrm>
              <a:off x="6477000" y="3943350"/>
              <a:ext cx="5105400" cy="1123950"/>
            </a:xfrm>
            <a:prstGeom prst="roundRect">
              <a:avLst>
                <a:gd name="adj" fmla="val 11864"/>
              </a:avLst>
            </a:prstGeom>
            <a:solidFill>
              <a:schemeClr val="lt2"/>
            </a:solidFill>
            <a:ln w="9525">
              <a:solidFill>
                <a:schemeClr val="accent4"/>
              </a:solidFill>
            </a:ln>
          </p:spPr>
        </p:sp>
        <p:sp>
          <p:nvSpPr>
            <p:cNvPr id="31" name="Rectangle 31"/>
            <p:cNvSpPr/>
            <p:nvPr/>
          </p:nvSpPr>
          <p:spPr>
            <a:xfrm>
              <a:off x="6477000" y="4095750"/>
              <a:ext cx="47625" cy="819150"/>
            </a:xfrm>
            <a:prstGeom prst="roundRect">
              <a:avLst>
                <a:gd name="adj" fmla="val 40000"/>
              </a:avLst>
            </a:prstGeom>
            <a:solidFill>
              <a:schemeClr val="accent2"/>
            </a:solidFill>
            <a:ln>
              <a:noFill/>
            </a:ln>
          </p:spPr>
        </p:sp>
        <p:sp>
          <p:nvSpPr>
            <p:cNvPr id="32" name="TextBox 32"/>
            <p:cNvSpPr txBox="1"/>
            <p:nvPr/>
          </p:nvSpPr>
          <p:spPr>
            <a:xfrm>
              <a:off x="6719697" y="4180999"/>
              <a:ext cx="1435620"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THE HUMAN SKILL</a:t>
              </a:r>
            </a:p>
          </p:txBody>
        </p:sp>
        <p:sp>
          <p:nvSpPr>
            <p:cNvPr id="33" name="TextBox 33"/>
            <p:cNvSpPr txBox="1"/>
            <p:nvPr/>
          </p:nvSpPr>
          <p:spPr>
            <a:xfrm>
              <a:off x="6718554" y="4423410"/>
              <a:ext cx="337790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Humans still guess — hallucinate — where an</a:t>
              </a:r>
            </a:p>
          </p:txBody>
        </p:sp>
        <p:sp>
          <p:nvSpPr>
            <p:cNvPr id="34" name="TextBox 34"/>
            <p:cNvSpPr txBox="1"/>
            <p:nvPr/>
          </p:nvSpPr>
          <p:spPr>
            <a:xfrm>
              <a:off x="6718554" y="4642485"/>
              <a:ext cx="336423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occluded or out-of-frame point should be.</a:t>
              </a:r>
            </a:p>
          </p:txBody>
        </p:sp>
      </p:grpSp>
      <p:grpSp>
        <p:nvGrpSpPr>
          <p:cNvPr id="41" name="Group 41"/>
          <p:cNvGrpSpPr/>
          <p:nvPr/>
        </p:nvGrpSpPr>
        <p:grpSpPr>
          <a:xfrm>
            <a:off x="6477000" y="5200650"/>
            <a:ext cx="5105400" cy="1123950"/>
            <a:chOff x="6477000" y="5200650"/>
            <a:chExt cx="5105400" cy="1123950"/>
          </a:xfrm>
        </p:grpSpPr>
        <p:sp>
          <p:nvSpPr>
            <p:cNvPr id="36" name="Rectangle 36"/>
            <p:cNvSpPr/>
            <p:nvPr/>
          </p:nvSpPr>
          <p:spPr>
            <a:xfrm>
              <a:off x="6477000" y="5200650"/>
              <a:ext cx="5105400" cy="1123950"/>
            </a:xfrm>
            <a:prstGeom prst="roundRect">
              <a:avLst>
                <a:gd name="adj" fmla="val 11864"/>
              </a:avLst>
            </a:prstGeom>
            <a:solidFill>
              <a:schemeClr val="lt2"/>
            </a:solidFill>
            <a:ln w="9525">
              <a:solidFill>
                <a:schemeClr val="accent4"/>
              </a:solidFill>
            </a:ln>
          </p:spPr>
        </p:sp>
        <p:sp>
          <p:nvSpPr>
            <p:cNvPr id="37" name="Rectangle 37"/>
            <p:cNvSpPr/>
            <p:nvPr/>
          </p:nvSpPr>
          <p:spPr>
            <a:xfrm>
              <a:off x="6477000" y="5353050"/>
              <a:ext cx="47625" cy="819150"/>
            </a:xfrm>
            <a:prstGeom prst="roundRect">
              <a:avLst>
                <a:gd name="adj" fmla="val 40000"/>
              </a:avLst>
            </a:prstGeom>
            <a:solidFill>
              <a:srgbClr val="A78BFA"/>
            </a:solidFill>
            <a:ln>
              <a:noFill/>
            </a:ln>
          </p:spPr>
        </p:sp>
        <p:sp>
          <p:nvSpPr>
            <p:cNvPr id="38" name="TextBox 38"/>
            <p:cNvSpPr txBox="1"/>
            <p:nvPr/>
          </p:nvSpPr>
          <p:spPr>
            <a:xfrm>
              <a:off x="6719697" y="5438299"/>
              <a:ext cx="701427" cy="190690"/>
            </a:xfrm>
            <a:prstGeom prst="rect">
              <a:avLst/>
            </a:prstGeom>
            <a:noFill/>
            <a:ln>
              <a:noFill/>
            </a:ln>
          </p:spPr>
          <p:txBody>
            <a:bodyPr wrap="none" lIns="0" tIns="0" rIns="0" bIns="0" anchor="t" anchorCtr="0">
              <a:spAutoFit/>
            </a:bodyPr>
            <a:lstStyle/>
            <a:p>
              <a:pPr algn="l"/>
              <a:r>
                <a:rPr lang="en-US" sz="980" b="1" spc="150" dirty="0">
                  <a:solidFill>
                    <a:srgbClr val="A78BFA"/>
                  </a:solidFill>
                  <a:latin typeface="+mn-lt"/>
                  <a:ea typeface="+mn-ea"/>
                  <a:cs typeface="+mn-cs"/>
                </a:rPr>
                <a:t>NEURHAL</a:t>
              </a:r>
            </a:p>
          </p:txBody>
        </p:sp>
        <p:sp>
          <p:nvSpPr>
            <p:cNvPr id="39" name="TextBox 39"/>
            <p:cNvSpPr txBox="1"/>
            <p:nvPr/>
          </p:nvSpPr>
          <p:spPr>
            <a:xfrm>
              <a:off x="6718554" y="5680710"/>
              <a:ext cx="380575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One network outputs a peaked distribution over</a:t>
              </a:r>
            </a:p>
          </p:txBody>
        </p:sp>
        <p:sp>
          <p:nvSpPr>
            <p:cNvPr id="40" name="TextBox 40"/>
            <p:cNvSpPr txBox="1"/>
            <p:nvPr/>
          </p:nvSpPr>
          <p:spPr>
            <a:xfrm>
              <a:off x="6718554" y="5899785"/>
              <a:ext cx="371962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match: visible, occluded, or out of frame.</a:t>
              </a:r>
            </a:p>
          </p:txBody>
        </p:sp>
      </p:grpSp>
      <p:sp>
        <p:nvSpPr>
          <p:cNvPr id="42" name="cue_s01_c1_given_two_partially_overlapping_imag" title="cue_s01_c1_given_two_partially_overlapping_imag" descr="cue_s01_c1_given_two_partially_overlapping_imag Given two partially overlapping images and a keypoint in the first, where does its match land in the second?"/>
          <p:cNvSpPr/>
          <p:nvPr/>
        </p:nvSpPr>
        <p:spPr>
          <a:xfrm>
            <a:off x="6476390" y="1428521"/>
            <a:ext cx="510479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1_c2_local_feature_matching_only_answers" title="cue_s01_c2_local_feature_matching_only_answers" descr="cue_s01_c2_local_feature_matching_only_answers Local feature matching only answers when the point is visible."/>
          <p:cNvSpPr/>
          <p:nvPr/>
        </p:nvSpPr>
        <p:spPr>
          <a:xfrm>
            <a:off x="6476390" y="2686278"/>
            <a:ext cx="510479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1_c3_but_humans_also_guess_hallucinate" title="cue_s01_c3_but_humans_also_guess_hallucinate" descr="cue_s01_c3_but_humans_also_guess_hallucinate But humans can also guess, or hallucinate, where an occluded or out of frame point should be, using geometric reasoning."/>
          <p:cNvSpPr/>
          <p:nvPr/>
        </p:nvSpPr>
        <p:spPr>
          <a:xfrm>
            <a:off x="6476390" y="3943349"/>
            <a:ext cx="510479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1_c4_visual_correspondence_hallucination" title="cue_s01_c4_visual_correspondence_hallucination" descr="cue_s01_c4_visual_correspondence_hallucination This paper, Visual Correspondence Hallucination from ICLR 2022, trains a single network called NeurHal to output a peaked probability distribution over the correspondent's location whether it is visible, occluded, or outside the field of view, and shows this m"/>
          <p:cNvSpPr/>
          <p:nvPr/>
        </p:nvSpPr>
        <p:spPr>
          <a:xfrm>
            <a:off x="6476390" y="5200421"/>
            <a:ext cx="510479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chemeClr val="accent1"/>
            </a:solidFill>
            <a:ln>
              <a:noFill/>
            </a:ln>
          </p:spPr>
        </p:sp>
      </p:grpSp>
      <p:sp>
        <p:nvSpPr>
          <p:cNvPr id="5" name="TextBox 5"/>
          <p:cNvSpPr txBox="1"/>
          <p:nvPr/>
        </p:nvSpPr>
        <p:spPr>
          <a:xfrm>
            <a:off x="604647" y="485299"/>
            <a:ext cx="1237409" cy="190690"/>
          </a:xfrm>
          <a:prstGeom prst="rect">
            <a:avLst/>
          </a:prstGeom>
          <a:noFill/>
          <a:ln>
            <a:noFill/>
          </a:ln>
        </p:spPr>
        <p:txBody>
          <a:bodyPr wrap="none" lIns="0" tIns="0" rIns="0" bIns="0" anchor="t" anchorCtr="0">
            <a:spAutoFit/>
          </a:bodyPr>
          <a:lstStyle/>
          <a:p>
            <a:pPr algn="l"/>
            <a:r>
              <a:rPr lang="en-US" sz="980" b="1" spc="225" dirty="0">
                <a:solidFill>
                  <a:schemeClr val="accent1"/>
                </a:solidFill>
                <a:latin typeface="+mn-lt"/>
                <a:ea typeface="+mn-ea"/>
                <a:cs typeface="+mn-cs"/>
              </a:rPr>
              <a:t>THE PROBLEM</a:t>
            </a:r>
          </a:p>
        </p:txBody>
      </p:sp>
      <p:sp>
        <p:nvSpPr>
          <p:cNvPr id="6" name="TextBox 6"/>
          <p:cNvSpPr txBox="1"/>
          <p:nvPr/>
        </p:nvSpPr>
        <p:spPr>
          <a:xfrm>
            <a:off x="597027" y="723424"/>
            <a:ext cx="6330645"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j-lt"/>
                <a:ea typeface="+mj-ea"/>
                <a:cs typeface="+mj-cs"/>
              </a:rPr>
              <a:t>When Matching Has Nothing To Say</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01 / 10</a:t>
            </a:r>
          </a:p>
        </p:txBody>
      </p:sp>
      <p:grpSp>
        <p:nvGrpSpPr>
          <p:cNvPr id="13" name="Group 13"/>
          <p:cNvGrpSpPr/>
          <p:nvPr/>
        </p:nvGrpSpPr>
        <p:grpSpPr>
          <a:xfrm>
            <a:off x="609600" y="1428750"/>
            <a:ext cx="10972800" cy="609600"/>
            <a:chOff x="609600" y="1428750"/>
            <a:chExt cx="10972800" cy="609600"/>
          </a:xfrm>
        </p:grpSpPr>
        <p:sp>
          <p:nvSpPr>
            <p:cNvPr id="9" name="Rectangle 9"/>
            <p:cNvSpPr/>
            <p:nvPr/>
          </p:nvSpPr>
          <p:spPr>
            <a:xfrm>
              <a:off x="609600" y="1428750"/>
              <a:ext cx="10972800" cy="609600"/>
            </a:xfrm>
            <a:prstGeom prst="roundRect">
              <a:avLst>
                <a:gd name="adj" fmla="val 21875"/>
              </a:avLst>
            </a:prstGeom>
            <a:solidFill>
              <a:schemeClr val="lt2"/>
            </a:solidFill>
            <a:ln w="9525">
              <a:solidFill>
                <a:schemeClr val="accent4"/>
              </a:solidFill>
            </a:ln>
          </p:spPr>
        </p:sp>
        <p:sp>
          <p:nvSpPr>
            <p:cNvPr id="10" name="Rectangle 10"/>
            <p:cNvSpPr/>
            <p:nvPr/>
          </p:nvSpPr>
          <p:spPr>
            <a:xfrm>
              <a:off x="609600" y="1581150"/>
              <a:ext cx="47625" cy="304800"/>
            </a:xfrm>
            <a:prstGeom prst="roundRect">
              <a:avLst>
                <a:gd name="adj" fmla="val 40000"/>
              </a:avLst>
            </a:prstGeom>
            <a:solidFill>
              <a:schemeClr val="accent1"/>
            </a:solidFill>
            <a:ln>
              <a:noFill/>
            </a:ln>
          </p:spPr>
        </p:sp>
        <p:sp>
          <p:nvSpPr>
            <p:cNvPr id="11" name="TextBox 11"/>
            <p:cNvSpPr txBox="1"/>
            <p:nvPr/>
          </p:nvSpPr>
          <p:spPr>
            <a:xfrm>
              <a:off x="850392" y="1568768"/>
              <a:ext cx="784382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Correspondences between two overlapping images underlie much of computer vision.</a:t>
              </a:r>
            </a:p>
          </p:txBody>
        </p:sp>
        <p:sp>
          <p:nvSpPr>
            <p:cNvPr id="12" name="TextBox 12"/>
            <p:cNvSpPr txBox="1"/>
            <p:nvPr/>
          </p:nvSpPr>
          <p:spPr>
            <a:xfrm>
              <a:off x="852297" y="1818799"/>
              <a:ext cx="660857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From camera localization to 3D reconstruction, everything starts with matching points across views.</a:t>
              </a:r>
            </a:p>
          </p:txBody>
        </p:sp>
      </p:grpSp>
      <p:grpSp>
        <p:nvGrpSpPr>
          <p:cNvPr id="36" name="Group 36"/>
          <p:cNvGrpSpPr/>
          <p:nvPr/>
        </p:nvGrpSpPr>
        <p:grpSpPr>
          <a:xfrm>
            <a:off x="609600" y="2247900"/>
            <a:ext cx="5334000" cy="2857500"/>
            <a:chOff x="609600" y="2247900"/>
            <a:chExt cx="5334000" cy="2857500"/>
          </a:xfrm>
        </p:grpSpPr>
        <p:sp>
          <p:nvSpPr>
            <p:cNvPr id="14" name="Rectangle 14"/>
            <p:cNvSpPr/>
            <p:nvPr/>
          </p:nvSpPr>
          <p:spPr>
            <a:xfrm>
              <a:off x="609600" y="2247900"/>
              <a:ext cx="5334000" cy="2857500"/>
            </a:xfrm>
            <a:prstGeom prst="roundRect">
              <a:avLst>
                <a:gd name="adj" fmla="val 4667"/>
              </a:avLst>
            </a:prstGeom>
            <a:solidFill>
              <a:schemeClr val="lt2"/>
            </a:solidFill>
            <a:ln w="9525">
              <a:solidFill>
                <a:schemeClr val="accent4"/>
              </a:solidFill>
            </a:ln>
          </p:spPr>
        </p:sp>
        <p:sp>
          <p:nvSpPr>
            <p:cNvPr id="15" name="TextBox 15"/>
            <p:cNvSpPr txBox="1"/>
            <p:nvPr/>
          </p:nvSpPr>
          <p:spPr>
            <a:xfrm>
              <a:off x="851154" y="2442210"/>
              <a:ext cx="2808101"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Works: the point is visible in both</a:t>
              </a:r>
            </a:p>
          </p:txBody>
        </p:sp>
        <p:sp>
          <p:nvSpPr>
            <p:cNvPr id="16" name="Rectangle 16"/>
            <p:cNvSpPr/>
            <p:nvPr/>
          </p:nvSpPr>
          <p:spPr>
            <a:xfrm>
              <a:off x="876300" y="2762250"/>
              <a:ext cx="2095500" cy="1428750"/>
            </a:xfrm>
            <a:prstGeom prst="roundRect">
              <a:avLst>
                <a:gd name="adj" fmla="val 5333"/>
              </a:avLst>
            </a:prstGeom>
            <a:solidFill>
              <a:schemeClr val="accent6"/>
            </a:solidFill>
            <a:ln w="9525">
              <a:solidFill>
                <a:schemeClr val="accent4"/>
              </a:solidFill>
            </a:ln>
          </p:spPr>
        </p:sp>
        <p:sp>
          <p:nvSpPr>
            <p:cNvPr id="17" name="Line 17"/>
            <p:cNvSpPr/>
            <p:nvPr/>
          </p:nvSpPr>
          <p:spPr>
            <a:xfrm>
              <a:off x="971550" y="3590925"/>
              <a:ext cx="1905000" cy="57150"/>
            </a:xfrm>
            <a:custGeom>
              <a:avLst/>
              <a:gdLst/>
              <a:ahLst/>
              <a:cxnLst/>
              <a:rect l="l" t="t" r="r" b="b"/>
              <a:pathLst>
                <a:path w="1905000" h="57150">
                  <a:moveTo>
                    <a:pt x="0" y="57150"/>
                  </a:moveTo>
                  <a:lnTo>
                    <a:pt x="1905000" y="0"/>
                  </a:lnTo>
                </a:path>
              </a:pathLst>
            </a:custGeom>
            <a:noFill/>
            <a:ln w="14288" cap="rnd">
              <a:solidFill>
                <a:srgbClr val="33456A"/>
              </a:solidFill>
            </a:ln>
          </p:spPr>
        </p:sp>
        <p:sp>
          <p:nvSpPr>
            <p:cNvPr id="18" name="Polyline 18"/>
            <p:cNvSpPr/>
            <p:nvPr/>
          </p:nvSpPr>
          <p:spPr>
            <a:xfrm>
              <a:off x="1253490" y="3190875"/>
              <a:ext cx="670560" cy="457200"/>
            </a:xfrm>
            <a:custGeom>
              <a:avLst/>
              <a:gdLst/>
              <a:ahLst/>
              <a:cxnLst/>
              <a:rect l="l" t="t" r="r" b="b"/>
              <a:pathLst>
                <a:path w="670560" h="457200">
                  <a:moveTo>
                    <a:pt x="0" y="457200"/>
                  </a:moveTo>
                  <a:lnTo>
                    <a:pt x="335280" y="0"/>
                  </a:lnTo>
                  <a:lnTo>
                    <a:pt x="670560" y="428625"/>
                  </a:lnTo>
                </a:path>
              </a:pathLst>
            </a:custGeom>
            <a:noFill/>
            <a:ln w="14288" cap="rnd">
              <a:solidFill>
                <a:srgbClr val="3A4F78"/>
              </a:solidFill>
              <a:round/>
            </a:ln>
          </p:spPr>
        </p:sp>
        <p:sp>
          <p:nvSpPr>
            <p:cNvPr id="19" name="Polyline 19"/>
            <p:cNvSpPr/>
            <p:nvPr/>
          </p:nvSpPr>
          <p:spPr>
            <a:xfrm>
              <a:off x="1924050" y="3305175"/>
              <a:ext cx="838200" cy="314325"/>
            </a:xfrm>
            <a:custGeom>
              <a:avLst/>
              <a:gdLst/>
              <a:ahLst/>
              <a:cxnLst/>
              <a:rect l="l" t="t" r="r" b="b"/>
              <a:pathLst>
                <a:path w="838200" h="314325">
                  <a:moveTo>
                    <a:pt x="0" y="314325"/>
                  </a:moveTo>
                  <a:lnTo>
                    <a:pt x="419100" y="0"/>
                  </a:lnTo>
                  <a:lnTo>
                    <a:pt x="838200" y="314325"/>
                  </a:lnTo>
                </a:path>
              </a:pathLst>
            </a:custGeom>
            <a:noFill/>
            <a:ln w="14288" cap="rnd">
              <a:solidFill>
                <a:srgbClr val="3A4F78"/>
              </a:solidFill>
              <a:round/>
            </a:ln>
          </p:spPr>
        </p:sp>
        <p:sp>
          <p:nvSpPr>
            <p:cNvPr id="20" name="TextBox 20"/>
            <p:cNvSpPr txBox="1"/>
            <p:nvPr/>
          </p:nvSpPr>
          <p:spPr>
            <a:xfrm>
              <a:off x="966788" y="4265295"/>
              <a:ext cx="922047" cy="176212"/>
            </a:xfrm>
            <a:prstGeom prst="rect">
              <a:avLst/>
            </a:prstGeom>
            <a:noFill/>
            <a:ln>
              <a:noFill/>
            </a:ln>
          </p:spPr>
          <p:txBody>
            <a:bodyPr wrap="none" lIns="0" tIns="0" rIns="0" bIns="0" anchor="t" anchorCtr="0">
              <a:spAutoFit/>
            </a:bodyPr>
            <a:lstStyle/>
            <a:p>
              <a:pPr algn="l"/>
              <a:r>
                <a:rPr lang="en-US" sz="900" b="1" spc="75" dirty="0">
                  <a:solidFill>
                    <a:srgbClr val="6E82A6"/>
                  </a:solidFill>
                  <a:latin typeface="+mn-lt"/>
                  <a:ea typeface="+mn-ea"/>
                  <a:cs typeface="+mn-cs"/>
                </a:rPr>
                <a:t>source image</a:t>
              </a:r>
            </a:p>
          </p:txBody>
        </p:sp>
        <p:sp>
          <p:nvSpPr>
            <p:cNvPr id="21" name="Rectangle 21"/>
            <p:cNvSpPr/>
            <p:nvPr/>
          </p:nvSpPr>
          <p:spPr>
            <a:xfrm>
              <a:off x="3371850" y="2762250"/>
              <a:ext cx="2095500" cy="1428750"/>
            </a:xfrm>
            <a:prstGeom prst="roundRect">
              <a:avLst>
                <a:gd name="adj" fmla="val 5333"/>
              </a:avLst>
            </a:prstGeom>
            <a:solidFill>
              <a:schemeClr val="accent6"/>
            </a:solidFill>
            <a:ln w="9525">
              <a:solidFill>
                <a:schemeClr val="accent4"/>
              </a:solidFill>
            </a:ln>
          </p:spPr>
        </p:sp>
        <p:sp>
          <p:nvSpPr>
            <p:cNvPr id="22" name="Line 22"/>
            <p:cNvSpPr/>
            <p:nvPr/>
          </p:nvSpPr>
          <p:spPr>
            <a:xfrm>
              <a:off x="3467100" y="3590925"/>
              <a:ext cx="1905000" cy="57150"/>
            </a:xfrm>
            <a:custGeom>
              <a:avLst/>
              <a:gdLst/>
              <a:ahLst/>
              <a:cxnLst/>
              <a:rect l="l" t="t" r="r" b="b"/>
              <a:pathLst>
                <a:path w="1905000" h="57150">
                  <a:moveTo>
                    <a:pt x="0" y="57150"/>
                  </a:moveTo>
                  <a:lnTo>
                    <a:pt x="1905000" y="0"/>
                  </a:lnTo>
                </a:path>
              </a:pathLst>
            </a:custGeom>
            <a:noFill/>
            <a:ln w="14288" cap="rnd">
              <a:solidFill>
                <a:srgbClr val="33456A"/>
              </a:solidFill>
            </a:ln>
          </p:spPr>
        </p:sp>
        <p:sp>
          <p:nvSpPr>
            <p:cNvPr id="23" name="Polyline 23"/>
            <p:cNvSpPr/>
            <p:nvPr/>
          </p:nvSpPr>
          <p:spPr>
            <a:xfrm>
              <a:off x="3749040" y="3190875"/>
              <a:ext cx="670560" cy="457200"/>
            </a:xfrm>
            <a:custGeom>
              <a:avLst/>
              <a:gdLst/>
              <a:ahLst/>
              <a:cxnLst/>
              <a:rect l="l" t="t" r="r" b="b"/>
              <a:pathLst>
                <a:path w="670560" h="457200">
                  <a:moveTo>
                    <a:pt x="0" y="457200"/>
                  </a:moveTo>
                  <a:lnTo>
                    <a:pt x="335280" y="0"/>
                  </a:lnTo>
                  <a:lnTo>
                    <a:pt x="670560" y="428625"/>
                  </a:lnTo>
                </a:path>
              </a:pathLst>
            </a:custGeom>
            <a:noFill/>
            <a:ln w="14288" cap="rnd">
              <a:solidFill>
                <a:srgbClr val="3A4F78"/>
              </a:solidFill>
              <a:round/>
            </a:ln>
          </p:spPr>
        </p:sp>
        <p:sp>
          <p:nvSpPr>
            <p:cNvPr id="24" name="Polyline 24"/>
            <p:cNvSpPr/>
            <p:nvPr/>
          </p:nvSpPr>
          <p:spPr>
            <a:xfrm>
              <a:off x="4419600" y="3305175"/>
              <a:ext cx="838200" cy="314325"/>
            </a:xfrm>
            <a:custGeom>
              <a:avLst/>
              <a:gdLst/>
              <a:ahLst/>
              <a:cxnLst/>
              <a:rect l="l" t="t" r="r" b="b"/>
              <a:pathLst>
                <a:path w="838200" h="314325">
                  <a:moveTo>
                    <a:pt x="0" y="314325"/>
                  </a:moveTo>
                  <a:lnTo>
                    <a:pt x="419100" y="0"/>
                  </a:lnTo>
                  <a:lnTo>
                    <a:pt x="838200" y="314325"/>
                  </a:lnTo>
                </a:path>
              </a:pathLst>
            </a:custGeom>
            <a:noFill/>
            <a:ln w="14288" cap="rnd">
              <a:solidFill>
                <a:srgbClr val="3A4F78"/>
              </a:solidFill>
              <a:round/>
            </a:ln>
          </p:spPr>
        </p:sp>
        <p:sp>
          <p:nvSpPr>
            <p:cNvPr id="25" name="TextBox 25"/>
            <p:cNvSpPr txBox="1"/>
            <p:nvPr/>
          </p:nvSpPr>
          <p:spPr>
            <a:xfrm>
              <a:off x="3462338" y="4265295"/>
              <a:ext cx="922047" cy="176212"/>
            </a:xfrm>
            <a:prstGeom prst="rect">
              <a:avLst/>
            </a:prstGeom>
            <a:noFill/>
            <a:ln>
              <a:noFill/>
            </a:ln>
          </p:spPr>
          <p:txBody>
            <a:bodyPr wrap="none" lIns="0" tIns="0" rIns="0" bIns="0" anchor="t" anchorCtr="0">
              <a:spAutoFit/>
            </a:bodyPr>
            <a:lstStyle/>
            <a:p>
              <a:pPr algn="l"/>
              <a:r>
                <a:rPr lang="en-US" sz="900" b="1" spc="75" dirty="0">
                  <a:solidFill>
                    <a:srgbClr val="6E82A6"/>
                  </a:solidFill>
                  <a:latin typeface="+mn-lt"/>
                  <a:ea typeface="+mn-ea"/>
                  <a:cs typeface="+mn-cs"/>
                </a:rPr>
                <a:t>target image</a:t>
              </a:r>
            </a:p>
          </p:txBody>
        </p:sp>
        <p:sp>
          <p:nvSpPr>
            <p:cNvPr id="26" name="Ellipse 26"/>
            <p:cNvSpPr/>
            <p:nvPr/>
          </p:nvSpPr>
          <p:spPr>
            <a:xfrm>
              <a:off x="1333500" y="3257550"/>
              <a:ext cx="190500" cy="190500"/>
            </a:xfrm>
            <a:prstGeom prst="ellipse">
              <a:avLst/>
            </a:prstGeom>
            <a:solidFill>
              <a:schemeClr val="accent2"/>
            </a:solidFill>
            <a:ln>
              <a:noFill/>
            </a:ln>
          </p:spPr>
        </p:sp>
        <p:sp>
          <p:nvSpPr>
            <p:cNvPr id="27" name="Ellipse 27"/>
            <p:cNvSpPr/>
            <p:nvPr/>
          </p:nvSpPr>
          <p:spPr>
            <a:xfrm>
              <a:off x="1362075" y="3286125"/>
              <a:ext cx="133350" cy="133350"/>
            </a:xfrm>
            <a:prstGeom prst="ellipse">
              <a:avLst/>
            </a:prstGeom>
            <a:solidFill>
              <a:schemeClr val="lt1"/>
            </a:solidFill>
            <a:ln>
              <a:noFill/>
            </a:ln>
          </p:spPr>
        </p:sp>
        <p:sp>
          <p:nvSpPr>
            <p:cNvPr id="28" name="Ellipse 28"/>
            <p:cNvSpPr/>
            <p:nvPr/>
          </p:nvSpPr>
          <p:spPr>
            <a:xfrm>
              <a:off x="1390650" y="3314700"/>
              <a:ext cx="76200" cy="76200"/>
            </a:xfrm>
            <a:prstGeom prst="ellipse">
              <a:avLst/>
            </a:prstGeom>
            <a:solidFill>
              <a:schemeClr val="accent2"/>
            </a:solidFill>
            <a:ln>
              <a:noFill/>
            </a:ln>
          </p:spPr>
        </p:sp>
        <p:sp>
          <p:nvSpPr>
            <p:cNvPr id="29" name="Ellipse 29"/>
            <p:cNvSpPr/>
            <p:nvPr/>
          </p:nvSpPr>
          <p:spPr>
            <a:xfrm>
              <a:off x="4381500" y="3181350"/>
              <a:ext cx="190500" cy="190500"/>
            </a:xfrm>
            <a:prstGeom prst="ellipse">
              <a:avLst/>
            </a:prstGeom>
            <a:solidFill>
              <a:schemeClr val="accent2"/>
            </a:solidFill>
            <a:ln>
              <a:noFill/>
            </a:ln>
          </p:spPr>
        </p:sp>
        <p:sp>
          <p:nvSpPr>
            <p:cNvPr id="30" name="Ellipse 30"/>
            <p:cNvSpPr/>
            <p:nvPr/>
          </p:nvSpPr>
          <p:spPr>
            <a:xfrm>
              <a:off x="4410075" y="3209925"/>
              <a:ext cx="133350" cy="133350"/>
            </a:xfrm>
            <a:prstGeom prst="ellipse">
              <a:avLst/>
            </a:prstGeom>
            <a:solidFill>
              <a:schemeClr val="lt1"/>
            </a:solidFill>
            <a:ln>
              <a:noFill/>
            </a:ln>
          </p:spPr>
        </p:sp>
        <p:sp>
          <p:nvSpPr>
            <p:cNvPr id="31" name="Ellipse 31"/>
            <p:cNvSpPr/>
            <p:nvPr/>
          </p:nvSpPr>
          <p:spPr>
            <a:xfrm>
              <a:off x="4438650" y="3238500"/>
              <a:ext cx="76200" cy="76200"/>
            </a:xfrm>
            <a:prstGeom prst="ellipse">
              <a:avLst/>
            </a:prstGeom>
            <a:solidFill>
              <a:schemeClr val="accent2"/>
            </a:solidFill>
            <a:ln>
              <a:noFill/>
            </a:ln>
          </p:spPr>
        </p:sp>
        <p:sp>
          <p:nvSpPr>
            <p:cNvPr id="32" name="Line 32"/>
            <p:cNvSpPr/>
            <p:nvPr/>
          </p:nvSpPr>
          <p:spPr>
            <a:xfrm>
              <a:off x="1428750" y="3276600"/>
              <a:ext cx="3048000" cy="76200"/>
            </a:xfrm>
            <a:custGeom>
              <a:avLst/>
              <a:gdLst/>
              <a:ahLst/>
              <a:cxnLst/>
              <a:rect l="l" t="t" r="r" b="b"/>
              <a:pathLst>
                <a:path w="3048000" h="76200">
                  <a:moveTo>
                    <a:pt x="0" y="76200"/>
                  </a:moveTo>
                  <a:lnTo>
                    <a:pt x="3048000" y="0"/>
                  </a:lnTo>
                </a:path>
              </a:pathLst>
            </a:custGeom>
            <a:noFill/>
            <a:ln w="19050" cap="rnd">
              <a:solidFill>
                <a:schemeClr val="accent2"/>
              </a:solidFill>
              <a:custDash>
                <a:ds d="300000" sp="250000"/>
              </a:custDash>
            </a:ln>
          </p:spPr>
        </p:sp>
        <p:sp>
          <p:nvSpPr>
            <p:cNvPr id="33" name="TextBox 33"/>
            <p:cNvSpPr txBox="1"/>
            <p:nvPr/>
          </p:nvSpPr>
          <p:spPr>
            <a:xfrm>
              <a:off x="852297" y="4371499"/>
              <a:ext cx="318714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Standard local features find the match only when</a:t>
              </a:r>
            </a:p>
          </p:txBody>
        </p:sp>
        <p:sp>
          <p:nvSpPr>
            <p:cNvPr id="34" name="TextBox 34"/>
            <p:cNvSpPr txBox="1"/>
            <p:nvPr/>
          </p:nvSpPr>
          <p:spPr>
            <a:xfrm>
              <a:off x="852297" y="4561999"/>
              <a:ext cx="265505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 correspondent is actually co-visible.</a:t>
              </a:r>
            </a:p>
          </p:txBody>
        </p:sp>
        <p:sp>
          <p:nvSpPr>
            <p:cNvPr id="35" name="TextBox 35"/>
            <p:cNvSpPr txBox="1"/>
            <p:nvPr/>
          </p:nvSpPr>
          <p:spPr>
            <a:xfrm>
              <a:off x="852297" y="4809649"/>
              <a:ext cx="2666341" cy="190690"/>
            </a:xfrm>
            <a:prstGeom prst="rect">
              <a:avLst/>
            </a:prstGeom>
            <a:noFill/>
            <a:ln>
              <a:noFill/>
            </a:ln>
          </p:spPr>
          <p:txBody>
            <a:bodyPr wrap="none" lIns="0" tIns="0" rIns="0" bIns="0" anchor="t" anchorCtr="0">
              <a:spAutoFit/>
            </a:bodyPr>
            <a:lstStyle/>
            <a:p>
              <a:pPr algn="l"/>
              <a:r>
                <a:rPr lang="en-US" sz="980" i="1" dirty="0">
                  <a:solidFill>
                    <a:srgbClr val="6E82A6"/>
                  </a:solidFill>
                  <a:latin typeface="+mn-lt"/>
                  <a:ea typeface="+mn-ea"/>
                  <a:cs typeface="+mn-cs"/>
                </a:rPr>
                <a:t>Otherwise, they have nothing to report.</a:t>
              </a:r>
            </a:p>
          </p:txBody>
        </p:sp>
      </p:grpSp>
      <p:grpSp>
        <p:nvGrpSpPr>
          <p:cNvPr id="58" name="Group 58"/>
          <p:cNvGrpSpPr/>
          <p:nvPr/>
        </p:nvGrpSpPr>
        <p:grpSpPr>
          <a:xfrm>
            <a:off x="6134100" y="2247900"/>
            <a:ext cx="5448300" cy="2857500"/>
            <a:chOff x="6134100" y="2247900"/>
            <a:chExt cx="5448300" cy="2857500"/>
          </a:xfrm>
        </p:grpSpPr>
        <p:sp>
          <p:nvSpPr>
            <p:cNvPr id="37" name="Rectangle 37"/>
            <p:cNvSpPr/>
            <p:nvPr/>
          </p:nvSpPr>
          <p:spPr>
            <a:xfrm>
              <a:off x="6134100" y="2247900"/>
              <a:ext cx="5448300" cy="2857500"/>
            </a:xfrm>
            <a:prstGeom prst="roundRect">
              <a:avLst>
                <a:gd name="adj" fmla="val 4667"/>
              </a:avLst>
            </a:prstGeom>
            <a:solidFill>
              <a:schemeClr val="lt2"/>
            </a:solidFill>
            <a:ln w="9525">
              <a:solidFill>
                <a:schemeClr val="accent4"/>
              </a:solidFill>
            </a:ln>
          </p:spPr>
        </p:sp>
        <p:sp>
          <p:nvSpPr>
            <p:cNvPr id="38" name="TextBox 38"/>
            <p:cNvSpPr txBox="1"/>
            <p:nvPr/>
          </p:nvSpPr>
          <p:spPr>
            <a:xfrm>
              <a:off x="6394704" y="2442210"/>
              <a:ext cx="2604772" cy="234696"/>
            </a:xfrm>
            <a:prstGeom prst="rect">
              <a:avLst/>
            </a:prstGeom>
            <a:noFill/>
            <a:ln>
              <a:noFill/>
            </a:ln>
          </p:spPr>
          <p:txBody>
            <a:bodyPr wrap="none" lIns="0" tIns="0" rIns="0" bIns="0" anchor="t" anchorCtr="0">
              <a:spAutoFit/>
            </a:bodyPr>
            <a:lstStyle/>
            <a:p>
              <a:pPr algn="l"/>
              <a:r>
                <a:rPr lang="en-US" sz="1200" b="1" dirty="0">
                  <a:solidFill>
                    <a:srgbClr val="F87171"/>
                  </a:solidFill>
                  <a:latin typeface="+mn-lt"/>
                  <a:ea typeface="+mn-ea"/>
                  <a:cs typeface="+mn-cs"/>
                </a:rPr>
                <a:t>Fails: occluded or out of frame</a:t>
              </a:r>
            </a:p>
          </p:txBody>
        </p:sp>
        <p:sp>
          <p:nvSpPr>
            <p:cNvPr id="39" name="Rectangle 39"/>
            <p:cNvSpPr/>
            <p:nvPr/>
          </p:nvSpPr>
          <p:spPr>
            <a:xfrm>
              <a:off x="6419850" y="2762250"/>
              <a:ext cx="2095500" cy="1428750"/>
            </a:xfrm>
            <a:prstGeom prst="roundRect">
              <a:avLst>
                <a:gd name="adj" fmla="val 5333"/>
              </a:avLst>
            </a:prstGeom>
            <a:solidFill>
              <a:schemeClr val="accent6"/>
            </a:solidFill>
            <a:ln w="9525">
              <a:solidFill>
                <a:schemeClr val="accent4"/>
              </a:solidFill>
            </a:ln>
          </p:spPr>
        </p:sp>
        <p:sp>
          <p:nvSpPr>
            <p:cNvPr id="40" name="Line 40"/>
            <p:cNvSpPr/>
            <p:nvPr/>
          </p:nvSpPr>
          <p:spPr>
            <a:xfrm>
              <a:off x="6515100" y="3590925"/>
              <a:ext cx="1905000" cy="57150"/>
            </a:xfrm>
            <a:custGeom>
              <a:avLst/>
              <a:gdLst/>
              <a:ahLst/>
              <a:cxnLst/>
              <a:rect l="l" t="t" r="r" b="b"/>
              <a:pathLst>
                <a:path w="1905000" h="57150">
                  <a:moveTo>
                    <a:pt x="0" y="57150"/>
                  </a:moveTo>
                  <a:lnTo>
                    <a:pt x="1905000" y="0"/>
                  </a:lnTo>
                </a:path>
              </a:pathLst>
            </a:custGeom>
            <a:noFill/>
            <a:ln w="14288" cap="rnd">
              <a:solidFill>
                <a:srgbClr val="33456A"/>
              </a:solidFill>
            </a:ln>
          </p:spPr>
        </p:sp>
        <p:sp>
          <p:nvSpPr>
            <p:cNvPr id="41" name="Polyline 41"/>
            <p:cNvSpPr/>
            <p:nvPr/>
          </p:nvSpPr>
          <p:spPr>
            <a:xfrm>
              <a:off x="6797040" y="3190875"/>
              <a:ext cx="670560" cy="457200"/>
            </a:xfrm>
            <a:custGeom>
              <a:avLst/>
              <a:gdLst/>
              <a:ahLst/>
              <a:cxnLst/>
              <a:rect l="l" t="t" r="r" b="b"/>
              <a:pathLst>
                <a:path w="670560" h="457200">
                  <a:moveTo>
                    <a:pt x="0" y="457200"/>
                  </a:moveTo>
                  <a:lnTo>
                    <a:pt x="335280" y="0"/>
                  </a:lnTo>
                  <a:lnTo>
                    <a:pt x="670560" y="428625"/>
                  </a:lnTo>
                </a:path>
              </a:pathLst>
            </a:custGeom>
            <a:noFill/>
            <a:ln w="14288" cap="rnd">
              <a:solidFill>
                <a:srgbClr val="3A4F78"/>
              </a:solidFill>
              <a:round/>
            </a:ln>
          </p:spPr>
        </p:sp>
        <p:sp>
          <p:nvSpPr>
            <p:cNvPr id="42" name="Polyline 42"/>
            <p:cNvSpPr/>
            <p:nvPr/>
          </p:nvSpPr>
          <p:spPr>
            <a:xfrm>
              <a:off x="7467600" y="3305175"/>
              <a:ext cx="838200" cy="314325"/>
            </a:xfrm>
            <a:custGeom>
              <a:avLst/>
              <a:gdLst/>
              <a:ahLst/>
              <a:cxnLst/>
              <a:rect l="l" t="t" r="r" b="b"/>
              <a:pathLst>
                <a:path w="838200" h="314325">
                  <a:moveTo>
                    <a:pt x="0" y="314325"/>
                  </a:moveTo>
                  <a:lnTo>
                    <a:pt x="419100" y="0"/>
                  </a:lnTo>
                  <a:lnTo>
                    <a:pt x="838200" y="314325"/>
                  </a:lnTo>
                </a:path>
              </a:pathLst>
            </a:custGeom>
            <a:noFill/>
            <a:ln w="14288" cap="rnd">
              <a:solidFill>
                <a:srgbClr val="3A4F78"/>
              </a:solidFill>
              <a:round/>
            </a:ln>
          </p:spPr>
        </p:sp>
        <p:sp>
          <p:nvSpPr>
            <p:cNvPr id="43" name="TextBox 43"/>
            <p:cNvSpPr txBox="1"/>
            <p:nvPr/>
          </p:nvSpPr>
          <p:spPr>
            <a:xfrm>
              <a:off x="6510338" y="4265295"/>
              <a:ext cx="922047" cy="176212"/>
            </a:xfrm>
            <a:prstGeom prst="rect">
              <a:avLst/>
            </a:prstGeom>
            <a:noFill/>
            <a:ln>
              <a:noFill/>
            </a:ln>
          </p:spPr>
          <p:txBody>
            <a:bodyPr wrap="none" lIns="0" tIns="0" rIns="0" bIns="0" anchor="t" anchorCtr="0">
              <a:spAutoFit/>
            </a:bodyPr>
            <a:lstStyle/>
            <a:p>
              <a:pPr algn="l"/>
              <a:r>
                <a:rPr lang="en-US" sz="900" b="1" spc="75" dirty="0">
                  <a:solidFill>
                    <a:srgbClr val="6E82A6"/>
                  </a:solidFill>
                  <a:latin typeface="+mn-lt"/>
                  <a:ea typeface="+mn-ea"/>
                  <a:cs typeface="+mn-cs"/>
                </a:rPr>
                <a:t>source image</a:t>
              </a:r>
            </a:p>
          </p:txBody>
        </p:sp>
        <p:sp>
          <p:nvSpPr>
            <p:cNvPr id="44" name="Rectangle 44"/>
            <p:cNvSpPr/>
            <p:nvPr/>
          </p:nvSpPr>
          <p:spPr>
            <a:xfrm>
              <a:off x="8915400" y="2762250"/>
              <a:ext cx="2095500" cy="1428750"/>
            </a:xfrm>
            <a:prstGeom prst="roundRect">
              <a:avLst>
                <a:gd name="adj" fmla="val 5333"/>
              </a:avLst>
            </a:prstGeom>
            <a:solidFill>
              <a:schemeClr val="accent6"/>
            </a:solidFill>
            <a:ln w="9525">
              <a:solidFill>
                <a:schemeClr val="accent4"/>
              </a:solidFill>
            </a:ln>
          </p:spPr>
        </p:sp>
        <p:sp>
          <p:nvSpPr>
            <p:cNvPr id="45" name="Line 45"/>
            <p:cNvSpPr/>
            <p:nvPr/>
          </p:nvSpPr>
          <p:spPr>
            <a:xfrm>
              <a:off x="9010650" y="3590925"/>
              <a:ext cx="1905000" cy="57150"/>
            </a:xfrm>
            <a:custGeom>
              <a:avLst/>
              <a:gdLst/>
              <a:ahLst/>
              <a:cxnLst/>
              <a:rect l="l" t="t" r="r" b="b"/>
              <a:pathLst>
                <a:path w="1905000" h="57150">
                  <a:moveTo>
                    <a:pt x="0" y="57150"/>
                  </a:moveTo>
                  <a:lnTo>
                    <a:pt x="1905000" y="0"/>
                  </a:lnTo>
                </a:path>
              </a:pathLst>
            </a:custGeom>
            <a:noFill/>
            <a:ln w="14288" cap="rnd">
              <a:solidFill>
                <a:srgbClr val="33456A"/>
              </a:solidFill>
            </a:ln>
          </p:spPr>
        </p:sp>
        <p:sp>
          <p:nvSpPr>
            <p:cNvPr id="46" name="Polyline 46"/>
            <p:cNvSpPr/>
            <p:nvPr/>
          </p:nvSpPr>
          <p:spPr>
            <a:xfrm>
              <a:off x="9292590" y="3190875"/>
              <a:ext cx="670560" cy="457200"/>
            </a:xfrm>
            <a:custGeom>
              <a:avLst/>
              <a:gdLst/>
              <a:ahLst/>
              <a:cxnLst/>
              <a:rect l="l" t="t" r="r" b="b"/>
              <a:pathLst>
                <a:path w="670560" h="457200">
                  <a:moveTo>
                    <a:pt x="0" y="457200"/>
                  </a:moveTo>
                  <a:lnTo>
                    <a:pt x="335280" y="0"/>
                  </a:lnTo>
                  <a:lnTo>
                    <a:pt x="670560" y="428625"/>
                  </a:lnTo>
                </a:path>
              </a:pathLst>
            </a:custGeom>
            <a:noFill/>
            <a:ln w="14288" cap="rnd">
              <a:solidFill>
                <a:srgbClr val="3A4F78"/>
              </a:solidFill>
              <a:round/>
            </a:ln>
          </p:spPr>
        </p:sp>
        <p:sp>
          <p:nvSpPr>
            <p:cNvPr id="47" name="Polyline 47"/>
            <p:cNvSpPr/>
            <p:nvPr/>
          </p:nvSpPr>
          <p:spPr>
            <a:xfrm>
              <a:off x="9963150" y="3305175"/>
              <a:ext cx="838200" cy="314325"/>
            </a:xfrm>
            <a:custGeom>
              <a:avLst/>
              <a:gdLst/>
              <a:ahLst/>
              <a:cxnLst/>
              <a:rect l="l" t="t" r="r" b="b"/>
              <a:pathLst>
                <a:path w="838200" h="314325">
                  <a:moveTo>
                    <a:pt x="0" y="314325"/>
                  </a:moveTo>
                  <a:lnTo>
                    <a:pt x="419100" y="0"/>
                  </a:lnTo>
                  <a:lnTo>
                    <a:pt x="838200" y="314325"/>
                  </a:lnTo>
                </a:path>
              </a:pathLst>
            </a:custGeom>
            <a:noFill/>
            <a:ln w="14288" cap="rnd">
              <a:solidFill>
                <a:srgbClr val="3A4F78"/>
              </a:solidFill>
              <a:round/>
            </a:ln>
          </p:spPr>
        </p:sp>
        <p:sp>
          <p:nvSpPr>
            <p:cNvPr id="48" name="TextBox 48"/>
            <p:cNvSpPr txBox="1"/>
            <p:nvPr/>
          </p:nvSpPr>
          <p:spPr>
            <a:xfrm>
              <a:off x="9005888" y="4265295"/>
              <a:ext cx="922047" cy="176212"/>
            </a:xfrm>
            <a:prstGeom prst="rect">
              <a:avLst/>
            </a:prstGeom>
            <a:noFill/>
            <a:ln>
              <a:noFill/>
            </a:ln>
          </p:spPr>
          <p:txBody>
            <a:bodyPr wrap="none" lIns="0" tIns="0" rIns="0" bIns="0" anchor="t" anchorCtr="0">
              <a:spAutoFit/>
            </a:bodyPr>
            <a:lstStyle/>
            <a:p>
              <a:pPr algn="l"/>
              <a:r>
                <a:rPr lang="en-US" sz="900" b="1" spc="75" dirty="0">
                  <a:solidFill>
                    <a:srgbClr val="6E82A6"/>
                  </a:solidFill>
                  <a:latin typeface="+mn-lt"/>
                  <a:ea typeface="+mn-ea"/>
                  <a:cs typeface="+mn-cs"/>
                </a:rPr>
                <a:t>target image</a:t>
              </a:r>
            </a:p>
          </p:txBody>
        </p:sp>
        <p:sp>
          <p:nvSpPr>
            <p:cNvPr id="49" name="Ellipse 49"/>
            <p:cNvSpPr/>
            <p:nvPr/>
          </p:nvSpPr>
          <p:spPr>
            <a:xfrm>
              <a:off x="6762750" y="3238500"/>
              <a:ext cx="190500" cy="190500"/>
            </a:xfrm>
            <a:prstGeom prst="ellipse">
              <a:avLst/>
            </a:prstGeom>
            <a:solidFill>
              <a:schemeClr val="accent1"/>
            </a:solidFill>
            <a:ln>
              <a:noFill/>
            </a:ln>
          </p:spPr>
        </p:sp>
        <p:sp>
          <p:nvSpPr>
            <p:cNvPr id="50" name="Ellipse 50"/>
            <p:cNvSpPr/>
            <p:nvPr/>
          </p:nvSpPr>
          <p:spPr>
            <a:xfrm>
              <a:off x="6791325" y="3267075"/>
              <a:ext cx="133350" cy="133350"/>
            </a:xfrm>
            <a:prstGeom prst="ellipse">
              <a:avLst/>
            </a:prstGeom>
            <a:solidFill>
              <a:schemeClr val="lt1"/>
            </a:solidFill>
            <a:ln>
              <a:noFill/>
            </a:ln>
          </p:spPr>
        </p:sp>
        <p:sp>
          <p:nvSpPr>
            <p:cNvPr id="51" name="Ellipse 51"/>
            <p:cNvSpPr/>
            <p:nvPr/>
          </p:nvSpPr>
          <p:spPr>
            <a:xfrm>
              <a:off x="6819900" y="3295650"/>
              <a:ext cx="76200" cy="76200"/>
            </a:xfrm>
            <a:prstGeom prst="ellipse">
              <a:avLst/>
            </a:prstGeom>
            <a:solidFill>
              <a:schemeClr val="accent1"/>
            </a:solidFill>
            <a:ln>
              <a:noFill/>
            </a:ln>
          </p:spPr>
        </p:sp>
        <p:sp>
          <p:nvSpPr>
            <p:cNvPr id="52" name="Rectangle 52"/>
            <p:cNvSpPr/>
            <p:nvPr/>
          </p:nvSpPr>
          <p:spPr>
            <a:xfrm>
              <a:off x="9620250" y="3048000"/>
              <a:ext cx="666750" cy="952500"/>
            </a:xfrm>
            <a:prstGeom prst="roundRect">
              <a:avLst>
                <a:gd name="adj" fmla="val 8571"/>
              </a:avLst>
            </a:prstGeom>
            <a:solidFill>
              <a:srgbClr val="5A2130"/>
            </a:solidFill>
            <a:ln w="9525">
              <a:solidFill>
                <a:srgbClr val="F87171"/>
              </a:solidFill>
            </a:ln>
          </p:spPr>
        </p:sp>
        <p:sp>
          <p:nvSpPr>
            <p:cNvPr id="53" name="TextBox 53"/>
            <p:cNvSpPr txBox="1"/>
            <p:nvPr/>
          </p:nvSpPr>
          <p:spPr>
            <a:xfrm>
              <a:off x="9867920" y="3361372"/>
              <a:ext cx="171411" cy="381381"/>
            </a:xfrm>
            <a:prstGeom prst="rect">
              <a:avLst/>
            </a:prstGeom>
            <a:noFill/>
            <a:ln>
              <a:noFill/>
            </a:ln>
          </p:spPr>
          <p:txBody>
            <a:bodyPr wrap="none" lIns="0" tIns="0" rIns="0" bIns="0" anchor="t" anchorCtr="0">
              <a:spAutoFit/>
            </a:bodyPr>
            <a:lstStyle/>
            <a:p>
              <a:pPr algn="ctr"/>
              <a:r>
                <a:rPr lang="en-US" sz="1950" b="1" dirty="0">
                  <a:solidFill>
                    <a:srgbClr val="F87171"/>
                  </a:solidFill>
                  <a:latin typeface="+mn-lt"/>
                  <a:ea typeface="+mn-ea"/>
                  <a:cs typeface="+mn-cs"/>
                </a:rPr>
                <a:t>?</a:t>
              </a:r>
            </a:p>
          </p:txBody>
        </p:sp>
        <p:sp>
          <p:nvSpPr>
            <p:cNvPr id="54" name="Line 54"/>
            <p:cNvSpPr/>
            <p:nvPr/>
          </p:nvSpPr>
          <p:spPr>
            <a:xfrm>
              <a:off x="6858000" y="3333750"/>
              <a:ext cx="2762250" cy="190500"/>
            </a:xfrm>
            <a:custGeom>
              <a:avLst/>
              <a:gdLst/>
              <a:ahLst/>
              <a:cxnLst/>
              <a:rect l="l" t="t" r="r" b="b"/>
              <a:pathLst>
                <a:path w="2762250" h="190500">
                  <a:moveTo>
                    <a:pt x="0" y="0"/>
                  </a:moveTo>
                  <a:lnTo>
                    <a:pt x="2762250" y="190500"/>
                  </a:lnTo>
                </a:path>
              </a:pathLst>
            </a:custGeom>
            <a:noFill/>
            <a:ln w="19050" cap="rnd">
              <a:solidFill>
                <a:srgbClr val="F87171"/>
              </a:solidFill>
              <a:custDash>
                <a:ds d="200000" sp="250000"/>
              </a:custDash>
            </a:ln>
          </p:spPr>
        </p:sp>
        <p:sp>
          <p:nvSpPr>
            <p:cNvPr id="55" name="TextBox 55"/>
            <p:cNvSpPr txBox="1"/>
            <p:nvPr/>
          </p:nvSpPr>
          <p:spPr>
            <a:xfrm>
              <a:off x="6395847" y="4371499"/>
              <a:ext cx="290354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When the correspondent is occluded, or falls</a:t>
              </a:r>
            </a:p>
          </p:txBody>
        </p:sp>
        <p:sp>
          <p:nvSpPr>
            <p:cNvPr id="56" name="TextBox 56"/>
            <p:cNvSpPr txBox="1"/>
            <p:nvPr/>
          </p:nvSpPr>
          <p:spPr>
            <a:xfrm>
              <a:off x="6395847" y="4561999"/>
              <a:ext cx="325532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outside the target's field of view, these methods</a:t>
              </a:r>
            </a:p>
          </p:txBody>
        </p:sp>
        <p:sp>
          <p:nvSpPr>
            <p:cNvPr id="57" name="TextBox 57"/>
            <p:cNvSpPr txBox="1"/>
            <p:nvPr/>
          </p:nvSpPr>
          <p:spPr>
            <a:xfrm>
              <a:off x="6395847" y="4752499"/>
              <a:ext cx="239779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treat the region as noise to discard.</a:t>
              </a:r>
            </a:p>
          </p:txBody>
        </p:sp>
      </p:grpSp>
      <p:grpSp>
        <p:nvGrpSpPr>
          <p:cNvPr id="62" name="Group 62"/>
          <p:cNvGrpSpPr/>
          <p:nvPr/>
        </p:nvGrpSpPr>
        <p:grpSpPr>
          <a:xfrm>
            <a:off x="609600" y="5257800"/>
            <a:ext cx="10972800" cy="552450"/>
            <a:chOff x="609600" y="5257800"/>
            <a:chExt cx="10972800" cy="552450"/>
          </a:xfrm>
        </p:grpSpPr>
        <p:sp>
          <p:nvSpPr>
            <p:cNvPr id="59" name="Rectangle 59"/>
            <p:cNvSpPr/>
            <p:nvPr/>
          </p:nvSpPr>
          <p:spPr>
            <a:xfrm>
              <a:off x="609600" y="5257800"/>
              <a:ext cx="10972800" cy="552450"/>
            </a:xfrm>
            <a:prstGeom prst="roundRect">
              <a:avLst>
                <a:gd name="adj" fmla="val 24138"/>
              </a:avLst>
            </a:prstGeom>
            <a:solidFill>
              <a:schemeClr val="accent6"/>
            </a:solidFill>
            <a:ln w="9525">
              <a:solidFill>
                <a:schemeClr val="accent4"/>
              </a:solidFill>
            </a:ln>
          </p:spPr>
        </p:sp>
        <p:sp>
          <p:nvSpPr>
            <p:cNvPr id="60" name="Rectangle 60"/>
            <p:cNvSpPr/>
            <p:nvPr/>
          </p:nvSpPr>
          <p:spPr>
            <a:xfrm>
              <a:off x="609600" y="5410200"/>
              <a:ext cx="47625" cy="247650"/>
            </a:xfrm>
            <a:prstGeom prst="roundRect">
              <a:avLst>
                <a:gd name="adj" fmla="val 40000"/>
              </a:avLst>
            </a:prstGeom>
            <a:solidFill>
              <a:srgbClr val="FBBF24"/>
            </a:solidFill>
            <a:ln>
              <a:noFill/>
            </a:ln>
          </p:spPr>
        </p:sp>
        <p:sp>
          <p:nvSpPr>
            <p:cNvPr id="61" name="TextBox 61"/>
            <p:cNvSpPr txBox="1"/>
            <p:nvPr/>
          </p:nvSpPr>
          <p:spPr>
            <a:xfrm>
              <a:off x="851154" y="5471160"/>
              <a:ext cx="10254626"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Consequence: whenever two images share little overlap, most correspondents are non-covisible and matching breaks down.</a:t>
              </a:r>
            </a:p>
          </p:txBody>
        </p:sp>
      </p:grpSp>
      <p:sp>
        <p:nvSpPr>
          <p:cNvPr id="63" name="cue_s02_c1_establishing_correspondences_between" title="cue_s02_c1_establishing_correspondences_between" descr="cue_s02_c1_establishing_correspondences_between Establishing correspondences between two overlapping images underlies much of computer vision, from localization to reconstruction."/>
          <p:cNvSpPr/>
          <p:nvPr/>
        </p:nvSpPr>
        <p:spPr>
          <a:xfrm>
            <a:off x="609600" y="1428521"/>
            <a:ext cx="10972800" cy="609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2_c2_but_local_feature_matching_only" title="cue_s02_c2_but_local_feature_matching_only" descr="cue_s02_c2_but_local_feature_matching_only But local feature matching only works when a keypoint is actually visible in both images."/>
          <p:cNvSpPr/>
          <p:nvPr/>
        </p:nvSpPr>
        <p:spPr>
          <a:xfrm>
            <a:off x="609600" y="2248052"/>
            <a:ext cx="533400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2_c3_when_correspondent_occluded_when_fal" title="cue_s02_c3_when_correspondent_occluded_when_fal" descr="cue_s02_c3_when_correspondent_occluded_when_fal When the correspondent is occluded, or when it falls outside the field of view of the second image, these methods have nothing to say, and they simply treat those regions as noise."/>
          <p:cNvSpPr/>
          <p:nvPr/>
        </p:nvSpPr>
        <p:spPr>
          <a:xfrm>
            <a:off x="6133795" y="2248052"/>
            <a:ext cx="54486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2_c4_whenever_two_images_share_little" title="cue_s02_c4_whenever_two_images_share_little" descr="cue_s02_c4_whenever_two_images_share_little So whenever two images share little overlap, matching breaks down."/>
          <p:cNvSpPr/>
          <p:nvPr/>
        </p:nvSpPr>
        <p:spPr>
          <a:xfrm>
            <a:off x="609600" y="5258028"/>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chemeClr val="accent1"/>
            </a:solidFill>
            <a:ln>
              <a:noFill/>
            </a:ln>
          </p:spPr>
        </p:sp>
      </p:grpSp>
      <p:sp>
        <p:nvSpPr>
          <p:cNvPr id="5" name="TextBox 5"/>
          <p:cNvSpPr txBox="1"/>
          <p:nvPr/>
        </p:nvSpPr>
        <p:spPr>
          <a:xfrm>
            <a:off x="604647" y="485299"/>
            <a:ext cx="1531013" cy="190690"/>
          </a:xfrm>
          <a:prstGeom prst="rect">
            <a:avLst/>
          </a:prstGeom>
          <a:noFill/>
          <a:ln>
            <a:noFill/>
          </a:ln>
        </p:spPr>
        <p:txBody>
          <a:bodyPr wrap="none" lIns="0" tIns="0" rIns="0" bIns="0" anchor="t" anchorCtr="0">
            <a:spAutoFit/>
          </a:bodyPr>
          <a:lstStyle/>
          <a:p>
            <a:pPr algn="l"/>
            <a:r>
              <a:rPr lang="en-US" sz="980" b="1" spc="225" dirty="0">
                <a:solidFill>
                  <a:schemeClr val="accent1"/>
                </a:solidFill>
                <a:latin typeface="+mn-lt"/>
                <a:ea typeface="+mn-ea"/>
                <a:cs typeface="+mn-cs"/>
              </a:rPr>
              <a:t>THE MOTIVATION</a:t>
            </a:r>
          </a:p>
        </p:txBody>
      </p:sp>
      <p:sp>
        <p:nvSpPr>
          <p:cNvPr id="6" name="TextBox 6"/>
          <p:cNvSpPr txBox="1"/>
          <p:nvPr/>
        </p:nvSpPr>
        <p:spPr>
          <a:xfrm>
            <a:off x="597027" y="723424"/>
            <a:ext cx="5618291"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j-lt"/>
                <a:ea typeface="+mj-ea"/>
                <a:cs typeface="+mj-cs"/>
              </a:rPr>
              <a:t>People Reason About Geometry</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02 / 10</a:t>
            </a:r>
          </a:p>
        </p:txBody>
      </p:sp>
      <p:grpSp>
        <p:nvGrpSpPr>
          <p:cNvPr id="14" name="Group 14"/>
          <p:cNvGrpSpPr/>
          <p:nvPr/>
        </p:nvGrpSpPr>
        <p:grpSpPr>
          <a:xfrm>
            <a:off x="609600" y="1428750"/>
            <a:ext cx="5334000" cy="1143000"/>
            <a:chOff x="609600" y="1428750"/>
            <a:chExt cx="5334000" cy="1143000"/>
          </a:xfrm>
        </p:grpSpPr>
        <p:sp>
          <p:nvSpPr>
            <p:cNvPr id="9" name="Rectangle 9"/>
            <p:cNvSpPr/>
            <p:nvPr/>
          </p:nvSpPr>
          <p:spPr>
            <a:xfrm>
              <a:off x="609600" y="1428750"/>
              <a:ext cx="5334000" cy="1143000"/>
            </a:xfrm>
            <a:prstGeom prst="roundRect">
              <a:avLst>
                <a:gd name="adj" fmla="val 11667"/>
              </a:avLst>
            </a:prstGeom>
            <a:solidFill>
              <a:schemeClr val="lt2"/>
            </a:solidFill>
            <a:ln w="9525">
              <a:solidFill>
                <a:schemeClr val="accent4"/>
              </a:solidFill>
            </a:ln>
          </p:spPr>
        </p:sp>
        <p:sp>
          <p:nvSpPr>
            <p:cNvPr id="10" name="Rectangle 10"/>
            <p:cNvSpPr/>
            <p:nvPr/>
          </p:nvSpPr>
          <p:spPr>
            <a:xfrm>
              <a:off x="609600" y="1581150"/>
              <a:ext cx="47625" cy="838200"/>
            </a:xfrm>
            <a:prstGeom prst="roundRect">
              <a:avLst>
                <a:gd name="adj" fmla="val 40000"/>
              </a:avLst>
            </a:prstGeom>
            <a:solidFill>
              <a:schemeClr val="accent2"/>
            </a:solidFill>
            <a:ln>
              <a:noFill/>
            </a:ln>
          </p:spPr>
        </p:sp>
        <p:sp>
          <p:nvSpPr>
            <p:cNvPr id="11" name="TextBox 11"/>
            <p:cNvSpPr txBox="1"/>
            <p:nvPr/>
          </p:nvSpPr>
          <p:spPr>
            <a:xfrm>
              <a:off x="850392" y="1664018"/>
              <a:ext cx="2024038"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Humans do not give up</a:t>
              </a:r>
            </a:p>
          </p:txBody>
        </p:sp>
        <p:sp>
          <p:nvSpPr>
            <p:cNvPr id="12" name="TextBox 12"/>
            <p:cNvSpPr txBox="1"/>
            <p:nvPr/>
          </p:nvSpPr>
          <p:spPr>
            <a:xfrm>
              <a:off x="851916" y="1963102"/>
              <a:ext cx="358483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Even when a point is hidden or off-screen, a person</a:t>
              </a:r>
            </a:p>
          </p:txBody>
        </p:sp>
        <p:sp>
          <p:nvSpPr>
            <p:cNvPr id="13" name="TextBox 13"/>
            <p:cNvSpPr txBox="1"/>
            <p:nvPr/>
          </p:nvSpPr>
          <p:spPr>
            <a:xfrm>
              <a:off x="851916" y="2172652"/>
              <a:ext cx="364338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still has a strong sense of where its match must be.</a:t>
              </a:r>
            </a:p>
          </p:txBody>
        </p:sp>
      </p:grpSp>
      <p:grpSp>
        <p:nvGrpSpPr>
          <p:cNvPr id="26" name="Group 26"/>
          <p:cNvGrpSpPr/>
          <p:nvPr/>
        </p:nvGrpSpPr>
        <p:grpSpPr>
          <a:xfrm>
            <a:off x="6134100" y="1428750"/>
            <a:ext cx="5448300" cy="1143000"/>
            <a:chOff x="6134100" y="1428750"/>
            <a:chExt cx="5448300" cy="1143000"/>
          </a:xfrm>
        </p:grpSpPr>
        <p:sp>
          <p:nvSpPr>
            <p:cNvPr id="15" name="Rectangle 15"/>
            <p:cNvSpPr/>
            <p:nvPr/>
          </p:nvSpPr>
          <p:spPr>
            <a:xfrm>
              <a:off x="6134100" y="1428750"/>
              <a:ext cx="5448300" cy="1143000"/>
            </a:xfrm>
            <a:prstGeom prst="roundRect">
              <a:avLst>
                <a:gd name="adj" fmla="val 11667"/>
              </a:avLst>
            </a:prstGeom>
            <a:solidFill>
              <a:schemeClr val="lt2"/>
            </a:solidFill>
            <a:ln w="9525">
              <a:solidFill>
                <a:schemeClr val="accent4"/>
              </a:solidFill>
            </a:ln>
          </p:spPr>
        </p:sp>
        <p:sp>
          <p:nvSpPr>
            <p:cNvPr id="16" name="TextBox 16"/>
            <p:cNvSpPr txBox="1"/>
            <p:nvPr/>
          </p:nvSpPr>
          <p:spPr>
            <a:xfrm>
              <a:off x="6394704" y="1642110"/>
              <a:ext cx="286758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They reason about scene geometry</a:t>
              </a:r>
            </a:p>
          </p:txBody>
        </p:sp>
        <p:sp>
          <p:nvSpPr>
            <p:cNvPr id="17" name="TextBox 17"/>
            <p:cNvSpPr txBox="1"/>
            <p:nvPr/>
          </p:nvSpPr>
          <p:spPr>
            <a:xfrm>
              <a:off x="6395466" y="1925002"/>
              <a:ext cx="334444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Given an occluded or out-of-frame point, people</a:t>
              </a:r>
            </a:p>
          </p:txBody>
        </p:sp>
        <p:sp>
          <p:nvSpPr>
            <p:cNvPr id="18" name="TextBox 18"/>
            <p:cNvSpPr txBox="1"/>
            <p:nvPr/>
          </p:nvSpPr>
          <p:spPr>
            <a:xfrm>
              <a:off x="6395466" y="2134552"/>
              <a:ext cx="36151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predict — hallucinate — where the match should land.</a:t>
              </a:r>
            </a:p>
          </p:txBody>
        </p:sp>
        <p:sp>
          <p:nvSpPr>
            <p:cNvPr id="19" name="Ellipse 19"/>
            <p:cNvSpPr/>
            <p:nvPr/>
          </p:nvSpPr>
          <p:spPr>
            <a:xfrm>
              <a:off x="6591300" y="2381250"/>
              <a:ext cx="152400" cy="152400"/>
            </a:xfrm>
            <a:prstGeom prst="ellipse">
              <a:avLst/>
            </a:prstGeom>
            <a:solidFill>
              <a:schemeClr val="accent1"/>
            </a:solidFill>
            <a:ln>
              <a:noFill/>
            </a:ln>
          </p:spPr>
        </p:sp>
        <p:sp>
          <p:nvSpPr>
            <p:cNvPr id="20" name="Ellipse 20"/>
            <p:cNvSpPr/>
            <p:nvPr/>
          </p:nvSpPr>
          <p:spPr>
            <a:xfrm>
              <a:off x="6619875" y="2409825"/>
              <a:ext cx="95250" cy="95250"/>
            </a:xfrm>
            <a:prstGeom prst="ellipse">
              <a:avLst/>
            </a:prstGeom>
            <a:solidFill>
              <a:schemeClr val="lt1"/>
            </a:solidFill>
            <a:ln>
              <a:noFill/>
            </a:ln>
          </p:spPr>
        </p:sp>
        <p:sp>
          <p:nvSpPr>
            <p:cNvPr id="21" name="Ellipse 21"/>
            <p:cNvSpPr/>
            <p:nvPr/>
          </p:nvSpPr>
          <p:spPr>
            <a:xfrm>
              <a:off x="6648450" y="2438400"/>
              <a:ext cx="38100" cy="38100"/>
            </a:xfrm>
            <a:prstGeom prst="ellipse">
              <a:avLst/>
            </a:prstGeom>
            <a:solidFill>
              <a:schemeClr val="accent1"/>
            </a:solidFill>
            <a:ln>
              <a:noFill/>
            </a:ln>
          </p:spPr>
        </p:sp>
        <p:sp>
          <p:nvSpPr>
            <p:cNvPr id="22" name="Freeform 22"/>
            <p:cNvSpPr/>
            <p:nvPr/>
          </p:nvSpPr>
          <p:spPr>
            <a:xfrm>
              <a:off x="6781800" y="2292350"/>
              <a:ext cx="4457700" cy="146050"/>
            </a:xfrm>
            <a:custGeom>
              <a:avLst/>
              <a:gdLst/>
              <a:ahLst/>
              <a:cxnLst/>
              <a:rect l="l" t="t" r="r" b="b"/>
              <a:pathLst>
                <a:path w="4457700" h="146050">
                  <a:moveTo>
                    <a:pt x="0" y="146050"/>
                  </a:moveTo>
                  <a:cubicBezTo>
                    <a:pt x="749300" y="19050"/>
                    <a:pt x="2235200" y="0"/>
                    <a:pt x="4457700" y="88900"/>
                  </a:cubicBezTo>
                </a:path>
              </a:pathLst>
            </a:custGeom>
            <a:noFill/>
            <a:ln w="19050" cap="rnd">
              <a:solidFill>
                <a:srgbClr val="A78BFA"/>
              </a:solidFill>
              <a:custDash>
                <a:ds d="250000" sp="250000"/>
              </a:custDash>
              <a:round/>
            </a:ln>
          </p:spPr>
        </p:sp>
        <p:sp>
          <p:nvSpPr>
            <p:cNvPr id="23" name="Ellipse 23"/>
            <p:cNvSpPr/>
            <p:nvPr/>
          </p:nvSpPr>
          <p:spPr>
            <a:xfrm>
              <a:off x="11163300" y="2305050"/>
              <a:ext cx="152400" cy="152400"/>
            </a:xfrm>
            <a:prstGeom prst="ellipse">
              <a:avLst/>
            </a:prstGeom>
            <a:solidFill>
              <a:srgbClr val="A78BFA"/>
            </a:solidFill>
            <a:ln>
              <a:noFill/>
            </a:ln>
          </p:spPr>
        </p:sp>
        <p:sp>
          <p:nvSpPr>
            <p:cNvPr id="24" name="Ellipse 24"/>
            <p:cNvSpPr/>
            <p:nvPr/>
          </p:nvSpPr>
          <p:spPr>
            <a:xfrm>
              <a:off x="11191875" y="2333625"/>
              <a:ext cx="95250" cy="95250"/>
            </a:xfrm>
            <a:prstGeom prst="ellipse">
              <a:avLst/>
            </a:prstGeom>
            <a:solidFill>
              <a:schemeClr val="lt1"/>
            </a:solidFill>
            <a:ln>
              <a:noFill/>
            </a:ln>
          </p:spPr>
        </p:sp>
        <p:sp>
          <p:nvSpPr>
            <p:cNvPr id="25" name="Ellipse 25"/>
            <p:cNvSpPr/>
            <p:nvPr/>
          </p:nvSpPr>
          <p:spPr>
            <a:xfrm>
              <a:off x="11220450" y="2362200"/>
              <a:ext cx="38100" cy="38100"/>
            </a:xfrm>
            <a:prstGeom prst="ellipse">
              <a:avLst/>
            </a:prstGeom>
            <a:solidFill>
              <a:srgbClr val="A78BFA"/>
            </a:solidFill>
            <a:ln>
              <a:noFill/>
            </a:ln>
          </p:spPr>
        </p:sp>
      </p:grpSp>
      <p:grpSp>
        <p:nvGrpSpPr>
          <p:cNvPr id="40" name="Group 40"/>
          <p:cNvGrpSpPr/>
          <p:nvPr/>
        </p:nvGrpSpPr>
        <p:grpSpPr>
          <a:xfrm>
            <a:off x="609600" y="2762250"/>
            <a:ext cx="5334000" cy="3048000"/>
            <a:chOff x="609600" y="2762250"/>
            <a:chExt cx="5334000" cy="3048000"/>
          </a:xfrm>
        </p:grpSpPr>
        <p:sp>
          <p:nvSpPr>
            <p:cNvPr id="27" name="Rectangle 27"/>
            <p:cNvSpPr/>
            <p:nvPr/>
          </p:nvSpPr>
          <p:spPr>
            <a:xfrm>
              <a:off x="609600" y="2762250"/>
              <a:ext cx="5334000" cy="3048000"/>
            </a:xfrm>
            <a:prstGeom prst="roundRect">
              <a:avLst>
                <a:gd name="adj" fmla="val 4375"/>
              </a:avLst>
            </a:prstGeom>
            <a:solidFill>
              <a:schemeClr val="lt2"/>
            </a:solidFill>
            <a:ln w="9525">
              <a:solidFill>
                <a:schemeClr val="accent4"/>
              </a:solidFill>
            </a:ln>
          </p:spPr>
        </p:sp>
        <p:sp>
          <p:nvSpPr>
            <p:cNvPr id="28" name="Rectangle 28"/>
            <p:cNvSpPr/>
            <p:nvPr/>
          </p:nvSpPr>
          <p:spPr>
            <a:xfrm>
              <a:off x="609600" y="2914650"/>
              <a:ext cx="47625" cy="2743200"/>
            </a:xfrm>
            <a:prstGeom prst="roundRect">
              <a:avLst>
                <a:gd name="adj" fmla="val 40000"/>
              </a:avLst>
            </a:prstGeom>
            <a:solidFill>
              <a:srgbClr val="FBBF24"/>
            </a:solidFill>
            <a:ln>
              <a:noFill/>
            </a:ln>
          </p:spPr>
        </p:sp>
        <p:sp>
          <p:nvSpPr>
            <p:cNvPr id="29" name="TextBox 29"/>
            <p:cNvSpPr txBox="1"/>
            <p:nvPr/>
          </p:nvSpPr>
          <p:spPr>
            <a:xfrm>
              <a:off x="851154" y="2994660"/>
              <a:ext cx="3316983" cy="234696"/>
            </a:xfrm>
            <a:prstGeom prst="rect">
              <a:avLst/>
            </a:prstGeom>
            <a:noFill/>
            <a:ln>
              <a:noFill/>
            </a:ln>
          </p:spPr>
          <p:txBody>
            <a:bodyPr wrap="none" lIns="0" tIns="0" rIns="0" bIns="0" anchor="t" anchorCtr="0">
              <a:spAutoFit/>
            </a:bodyPr>
            <a:lstStyle/>
            <a:p>
              <a:pPr algn="l"/>
              <a:r>
                <a:rPr lang="en-US" sz="1200" b="1" dirty="0">
                  <a:solidFill>
                    <a:srgbClr val="FBBF24"/>
                  </a:solidFill>
                  <a:latin typeface="+mn-lt"/>
                  <a:ea typeface="+mn-ea"/>
                  <a:cs typeface="+mn-cs"/>
                </a:rPr>
                <a:t>Classical vision: geometry, but too late</a:t>
              </a:r>
            </a:p>
          </p:txBody>
        </p:sp>
        <p:sp>
          <p:nvSpPr>
            <p:cNvPr id="30" name="TextBox 30"/>
            <p:cNvSpPr txBox="1"/>
            <p:nvPr/>
          </p:nvSpPr>
          <p:spPr>
            <a:xfrm>
              <a:off x="851916" y="3315652"/>
              <a:ext cx="328049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Epipolar geometry and RANSAC do use geometric</a:t>
              </a:r>
            </a:p>
          </p:txBody>
        </p:sp>
        <p:sp>
          <p:nvSpPr>
            <p:cNvPr id="31" name="TextBox 31"/>
            <p:cNvSpPr txBox="1"/>
            <p:nvPr/>
          </p:nvSpPr>
          <p:spPr>
            <a:xfrm>
              <a:off x="851916" y="3525202"/>
              <a:ext cx="343843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reasoning — but only after the fact, to filter out</a:t>
              </a:r>
            </a:p>
          </p:txBody>
        </p:sp>
        <p:sp>
          <p:nvSpPr>
            <p:cNvPr id="32" name="TextBox 32"/>
            <p:cNvSpPr txBox="1"/>
            <p:nvPr/>
          </p:nvSpPr>
          <p:spPr>
            <a:xfrm>
              <a:off x="851916" y="3734752"/>
              <a:ext cx="288716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bad matches that were already proposed.</a:t>
              </a:r>
            </a:p>
          </p:txBody>
        </p:sp>
        <p:sp>
          <p:nvSpPr>
            <p:cNvPr id="33" name="Rectangle 33"/>
            <p:cNvSpPr/>
            <p:nvPr/>
          </p:nvSpPr>
          <p:spPr>
            <a:xfrm>
              <a:off x="857250" y="4476750"/>
              <a:ext cx="1714500" cy="419100"/>
            </a:xfrm>
            <a:prstGeom prst="roundRect">
              <a:avLst>
                <a:gd name="adj" fmla="val 18182"/>
              </a:avLst>
            </a:prstGeom>
            <a:solidFill>
              <a:schemeClr val="accent6"/>
            </a:solidFill>
            <a:ln w="9525">
              <a:solidFill>
                <a:schemeClr val="accent4"/>
              </a:solidFill>
            </a:ln>
          </p:spPr>
        </p:sp>
        <p:sp>
          <p:nvSpPr>
            <p:cNvPr id="34" name="TextBox 34"/>
            <p:cNvSpPr txBox="1"/>
            <p:nvPr/>
          </p:nvSpPr>
          <p:spPr>
            <a:xfrm>
              <a:off x="1141599" y="4628674"/>
              <a:ext cx="1145803"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propose matches</a:t>
              </a:r>
            </a:p>
          </p:txBody>
        </p:sp>
        <p:sp>
          <p:nvSpPr>
            <p:cNvPr id="35" name="Line 35"/>
            <p:cNvSpPr/>
            <p:nvPr/>
          </p:nvSpPr>
          <p:spPr>
            <a:xfrm>
              <a:off x="2590800" y="4686300"/>
              <a:ext cx="552450" cy="9525"/>
            </a:xfrm>
            <a:custGeom>
              <a:avLst/>
              <a:gdLst/>
              <a:ahLst/>
              <a:cxnLst/>
              <a:rect l="l" t="t" r="r" b="b"/>
              <a:pathLst>
                <a:path w="552450" h="9525">
                  <a:moveTo>
                    <a:pt x="0" y="0"/>
                  </a:moveTo>
                  <a:lnTo>
                    <a:pt x="552450" y="0"/>
                  </a:lnTo>
                </a:path>
              </a:pathLst>
            </a:custGeom>
            <a:noFill/>
            <a:ln w="19050" cap="rnd">
              <a:solidFill>
                <a:srgbClr val="6E82A6"/>
              </a:solidFill>
            </a:ln>
          </p:spPr>
        </p:sp>
        <p:sp>
          <p:nvSpPr>
            <p:cNvPr id="36" name="Polyline 36"/>
            <p:cNvSpPr/>
            <p:nvPr/>
          </p:nvSpPr>
          <p:spPr>
            <a:xfrm>
              <a:off x="3067050" y="4638675"/>
              <a:ext cx="95250" cy="95250"/>
            </a:xfrm>
            <a:custGeom>
              <a:avLst/>
              <a:gdLst/>
              <a:ahLst/>
              <a:cxnLst/>
              <a:rect l="l" t="t" r="r" b="b"/>
              <a:pathLst>
                <a:path w="95250" h="95250">
                  <a:moveTo>
                    <a:pt x="0" y="0"/>
                  </a:moveTo>
                  <a:lnTo>
                    <a:pt x="95250" y="47625"/>
                  </a:lnTo>
                  <a:lnTo>
                    <a:pt x="0" y="95250"/>
                  </a:lnTo>
                </a:path>
              </a:pathLst>
            </a:custGeom>
            <a:noFill/>
            <a:ln w="9525" cap="rnd">
              <a:solidFill>
                <a:srgbClr val="6E82A6"/>
              </a:solidFill>
              <a:round/>
            </a:ln>
          </p:spPr>
        </p:sp>
        <p:sp>
          <p:nvSpPr>
            <p:cNvPr id="37" name="Rectangle 37"/>
            <p:cNvSpPr/>
            <p:nvPr/>
          </p:nvSpPr>
          <p:spPr>
            <a:xfrm>
              <a:off x="3200400" y="4476750"/>
              <a:ext cx="1714500" cy="419100"/>
            </a:xfrm>
            <a:prstGeom prst="roundRect">
              <a:avLst>
                <a:gd name="adj" fmla="val 18182"/>
              </a:avLst>
            </a:prstGeom>
            <a:solidFill>
              <a:schemeClr val="accent6"/>
            </a:solidFill>
            <a:ln w="9525">
              <a:solidFill>
                <a:srgbClr val="FBBF24"/>
              </a:solidFill>
            </a:ln>
          </p:spPr>
        </p:sp>
        <p:sp>
          <p:nvSpPr>
            <p:cNvPr id="38" name="TextBox 38"/>
            <p:cNvSpPr txBox="1"/>
            <p:nvPr/>
          </p:nvSpPr>
          <p:spPr>
            <a:xfrm>
              <a:off x="3349688" y="4628674"/>
              <a:ext cx="1415924" cy="190690"/>
            </a:xfrm>
            <a:prstGeom prst="rect">
              <a:avLst/>
            </a:prstGeom>
            <a:noFill/>
            <a:ln>
              <a:noFill/>
            </a:ln>
          </p:spPr>
          <p:txBody>
            <a:bodyPr wrap="none" lIns="0" tIns="0" rIns="0" bIns="0" anchor="t" anchorCtr="0">
              <a:spAutoFit/>
            </a:bodyPr>
            <a:lstStyle/>
            <a:p>
              <a:pPr algn="ctr"/>
              <a:r>
                <a:rPr lang="en-US" sz="980" b="1" dirty="0">
                  <a:solidFill>
                    <a:srgbClr val="FBBF24"/>
                  </a:solidFill>
                  <a:latin typeface="+mn-lt"/>
                  <a:ea typeface="+mn-ea"/>
                  <a:cs typeface="+mn-cs"/>
                </a:rPr>
                <a:t>filter with geometry</a:t>
              </a:r>
            </a:p>
          </p:txBody>
        </p:sp>
        <p:sp>
          <p:nvSpPr>
            <p:cNvPr id="39" name="TextBox 39"/>
            <p:cNvSpPr txBox="1"/>
            <p:nvPr/>
          </p:nvSpPr>
          <p:spPr>
            <a:xfrm>
              <a:off x="852297" y="5114449"/>
              <a:ext cx="3213567" cy="190690"/>
            </a:xfrm>
            <a:prstGeom prst="rect">
              <a:avLst/>
            </a:prstGeom>
            <a:noFill/>
            <a:ln>
              <a:noFill/>
            </a:ln>
          </p:spPr>
          <p:txBody>
            <a:bodyPr wrap="none" lIns="0" tIns="0" rIns="0" bIns="0" anchor="t" anchorCtr="0">
              <a:spAutoFit/>
            </a:bodyPr>
            <a:lstStyle/>
            <a:p>
              <a:pPr algn="l"/>
              <a:r>
                <a:rPr lang="en-US" sz="980" i="1" dirty="0">
                  <a:solidFill>
                    <a:srgbClr val="6E82A6"/>
                  </a:solidFill>
                  <a:latin typeface="+mn-lt"/>
                  <a:ea typeface="+mn-ea"/>
                  <a:cs typeface="+mn-cs"/>
                </a:rPr>
                <a:t>Nothing is ever predicted at a non-covisible spot.</a:t>
              </a:r>
            </a:p>
          </p:txBody>
        </p:sp>
      </p:grpSp>
      <p:grpSp>
        <p:nvGrpSpPr>
          <p:cNvPr id="52" name="Group 52"/>
          <p:cNvGrpSpPr/>
          <p:nvPr/>
        </p:nvGrpSpPr>
        <p:grpSpPr>
          <a:xfrm>
            <a:off x="6134100" y="2762250"/>
            <a:ext cx="5448300" cy="3048000"/>
            <a:chOff x="6134100" y="2762250"/>
            <a:chExt cx="5448300" cy="3048000"/>
          </a:xfrm>
        </p:grpSpPr>
        <p:sp>
          <p:nvSpPr>
            <p:cNvPr id="41" name="Rectangle 41"/>
            <p:cNvSpPr/>
            <p:nvPr/>
          </p:nvSpPr>
          <p:spPr>
            <a:xfrm>
              <a:off x="6134100" y="2762250"/>
              <a:ext cx="5448300" cy="3048000"/>
            </a:xfrm>
            <a:prstGeom prst="roundRect">
              <a:avLst>
                <a:gd name="adj" fmla="val 4375"/>
              </a:avLst>
            </a:prstGeom>
            <a:solidFill>
              <a:schemeClr val="lt2"/>
            </a:solidFill>
            <a:ln w="9525">
              <a:solidFill>
                <a:schemeClr val="accent4"/>
              </a:solidFill>
            </a:ln>
          </p:spPr>
        </p:sp>
        <p:sp>
          <p:nvSpPr>
            <p:cNvPr id="42" name="Rectangle 42"/>
            <p:cNvSpPr/>
            <p:nvPr/>
          </p:nvSpPr>
          <p:spPr>
            <a:xfrm>
              <a:off x="6134100" y="2914650"/>
              <a:ext cx="47625" cy="2743200"/>
            </a:xfrm>
            <a:prstGeom prst="roundRect">
              <a:avLst>
                <a:gd name="adj" fmla="val 40000"/>
              </a:avLst>
            </a:prstGeom>
            <a:solidFill>
              <a:srgbClr val="A78BFA"/>
            </a:solidFill>
            <a:ln>
              <a:noFill/>
            </a:ln>
          </p:spPr>
        </p:sp>
        <p:sp>
          <p:nvSpPr>
            <p:cNvPr id="43" name="TextBox 43"/>
            <p:cNvSpPr txBox="1"/>
            <p:nvPr/>
          </p:nvSpPr>
          <p:spPr>
            <a:xfrm>
              <a:off x="6394704" y="2994660"/>
              <a:ext cx="2172188" cy="234696"/>
            </a:xfrm>
            <a:prstGeom prst="rect">
              <a:avLst/>
            </a:prstGeom>
            <a:noFill/>
            <a:ln>
              <a:noFill/>
            </a:ln>
          </p:spPr>
          <p:txBody>
            <a:bodyPr wrap="none" lIns="0" tIns="0" rIns="0" bIns="0" anchor="t" anchorCtr="0">
              <a:spAutoFit/>
            </a:bodyPr>
            <a:lstStyle/>
            <a:p>
              <a:pPr algn="l"/>
              <a:r>
                <a:rPr lang="en-US" sz="1200" b="1" dirty="0">
                  <a:solidFill>
                    <a:srgbClr val="A78BFA"/>
                  </a:solidFill>
                  <a:latin typeface="+mn-lt"/>
                  <a:ea typeface="+mn-ea"/>
                  <a:cs typeface="+mn-cs"/>
                </a:rPr>
                <a:t>The gap this work targets</a:t>
              </a:r>
            </a:p>
          </p:txBody>
        </p:sp>
        <p:sp>
          <p:nvSpPr>
            <p:cNvPr id="44" name="TextBox 44"/>
            <p:cNvSpPr txBox="1"/>
            <p:nvPr/>
          </p:nvSpPr>
          <p:spPr>
            <a:xfrm>
              <a:off x="6395085" y="3326606"/>
              <a:ext cx="2604902"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No prior method actually predicts</a:t>
              </a:r>
            </a:p>
          </p:txBody>
        </p:sp>
        <p:sp>
          <p:nvSpPr>
            <p:cNvPr id="45" name="TextBox 45"/>
            <p:cNvSpPr txBox="1"/>
            <p:nvPr/>
          </p:nvSpPr>
          <p:spPr>
            <a:xfrm>
              <a:off x="6395085" y="3545681"/>
              <a:ext cx="330434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correspondences at locations that are not</a:t>
              </a:r>
            </a:p>
          </p:txBody>
        </p:sp>
        <p:sp>
          <p:nvSpPr>
            <p:cNvPr id="46" name="TextBox 46"/>
            <p:cNvSpPr txBox="1"/>
            <p:nvPr/>
          </p:nvSpPr>
          <p:spPr>
            <a:xfrm>
              <a:off x="6395085" y="3764756"/>
              <a:ext cx="763417"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covisible.</a:t>
              </a:r>
            </a:p>
          </p:txBody>
        </p:sp>
        <p:sp>
          <p:nvSpPr>
            <p:cNvPr id="47" name="Rectangle 47"/>
            <p:cNvSpPr/>
            <p:nvPr/>
          </p:nvSpPr>
          <p:spPr>
            <a:xfrm>
              <a:off x="6400800" y="4095750"/>
              <a:ext cx="4914900" cy="1143000"/>
            </a:xfrm>
            <a:prstGeom prst="roundRect">
              <a:avLst>
                <a:gd name="adj" fmla="val 8333"/>
              </a:avLst>
            </a:prstGeom>
            <a:solidFill>
              <a:schemeClr val="accent6"/>
            </a:solidFill>
            <a:ln w="9525">
              <a:solidFill>
                <a:srgbClr val="A78BFA"/>
              </a:solidFill>
            </a:ln>
          </p:spPr>
        </p:sp>
        <p:sp>
          <p:nvSpPr>
            <p:cNvPr id="48" name="TextBox 48"/>
            <p:cNvSpPr txBox="1"/>
            <p:nvPr/>
          </p:nvSpPr>
          <p:spPr>
            <a:xfrm>
              <a:off x="6586538" y="4341495"/>
              <a:ext cx="1279437" cy="176212"/>
            </a:xfrm>
            <a:prstGeom prst="rect">
              <a:avLst/>
            </a:prstGeom>
            <a:noFill/>
            <a:ln>
              <a:noFill/>
            </a:ln>
          </p:spPr>
          <p:txBody>
            <a:bodyPr wrap="none" lIns="0" tIns="0" rIns="0" bIns="0" anchor="t" anchorCtr="0">
              <a:spAutoFit/>
            </a:bodyPr>
            <a:lstStyle/>
            <a:p>
              <a:pPr algn="l"/>
              <a:r>
                <a:rPr lang="en-US" sz="900" b="1" spc="75" dirty="0">
                  <a:solidFill>
                    <a:srgbClr val="A78BFA"/>
                  </a:solidFill>
                  <a:latin typeface="+mn-lt"/>
                  <a:ea typeface="+mn-ea"/>
                  <a:cs typeface="+mn-cs"/>
                </a:rPr>
                <a:t>Missing capability</a:t>
              </a:r>
            </a:p>
          </p:txBody>
        </p:sp>
        <p:sp>
          <p:nvSpPr>
            <p:cNvPr id="49" name="TextBox 49"/>
            <p:cNvSpPr txBox="1"/>
            <p:nvPr/>
          </p:nvSpPr>
          <p:spPr>
            <a:xfrm>
              <a:off x="6585966" y="4572952"/>
              <a:ext cx="258811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Predict a match for a keypoint whose</a:t>
              </a:r>
            </a:p>
          </p:txBody>
        </p:sp>
        <p:sp>
          <p:nvSpPr>
            <p:cNvPr id="50" name="TextBox 50"/>
            <p:cNvSpPr txBox="1"/>
            <p:nvPr/>
          </p:nvSpPr>
          <p:spPr>
            <a:xfrm>
              <a:off x="6585966" y="4772978"/>
              <a:ext cx="307798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correspondent is occluded or lies beyond the</a:t>
              </a:r>
            </a:p>
          </p:txBody>
        </p:sp>
        <p:sp>
          <p:nvSpPr>
            <p:cNvPr id="51" name="TextBox 51"/>
            <p:cNvSpPr txBox="1"/>
            <p:nvPr/>
          </p:nvSpPr>
          <p:spPr>
            <a:xfrm>
              <a:off x="6585966" y="4973002"/>
              <a:ext cx="97892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image border.</a:t>
              </a:r>
            </a:p>
          </p:txBody>
        </p:sp>
      </p:grpSp>
      <p:sp>
        <p:nvSpPr>
          <p:cNvPr id="53" name="cue_s03_c1_humans_not_give_these_situations" title="cue_s03_c1_humans_not_give_these_situations" descr="cue_s03_c1_humans_not_give_these_situations Humans do not give up in these situations."/>
          <p:cNvSpPr/>
          <p:nvPr/>
        </p:nvSpPr>
        <p:spPr>
          <a:xfrm>
            <a:off x="609600" y="1428521"/>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3_c2_faced_occluded_out_frame_point" title="cue_s03_c2_faced_occluded_out_frame_point" descr="cue_s03_c2_faced_occluded_out_frame_point Faced with an occluded or out of frame point, a person reasons about the geometry of the scene and predicts, or hallucinates, where the match should be."/>
          <p:cNvSpPr/>
          <p:nvPr/>
        </p:nvSpPr>
        <p:spPr>
          <a:xfrm>
            <a:off x="6133795" y="1428521"/>
            <a:ext cx="54486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3_c3_classical_vision_does_geometric_reas" title="cue_s03_c3_classical_vision_does_geometric_reas" descr="cue_s03_c3_classical_vision_does_geometric_reas Classical vision does use geometric reasoning, but only after the fact, to filter out bad matches with models like epipolar geometry."/>
          <p:cNvSpPr/>
          <p:nvPr/>
        </p:nvSpPr>
        <p:spPr>
          <a:xfrm>
            <a:off x="609600" y="2762402"/>
            <a:ext cx="5334000"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3_c4_prior_method_actually_predicts_corre" title="cue_s03_c4_prior_method_actually_predicts_corre" descr="cue_s03_c4_prior_method_actually_predicts_corre No prior method actually predicts correspondences at locations that are not covisible. That gap is exactly what this work targets."/>
          <p:cNvSpPr/>
          <p:nvPr/>
        </p:nvSpPr>
        <p:spPr>
          <a:xfrm>
            <a:off x="6133795" y="2762402"/>
            <a:ext cx="5448604"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chemeClr val="accent1"/>
            </a:solidFill>
            <a:ln>
              <a:noFill/>
            </a:ln>
          </p:spPr>
        </p:sp>
      </p:grpSp>
      <p:sp>
        <p:nvSpPr>
          <p:cNvPr id="5" name="TextBox 5"/>
          <p:cNvSpPr txBox="1"/>
          <p:nvPr/>
        </p:nvSpPr>
        <p:spPr>
          <a:xfrm>
            <a:off x="604647" y="485299"/>
            <a:ext cx="1726750" cy="190690"/>
          </a:xfrm>
          <a:prstGeom prst="rect">
            <a:avLst/>
          </a:prstGeom>
          <a:noFill/>
          <a:ln>
            <a:noFill/>
          </a:ln>
        </p:spPr>
        <p:txBody>
          <a:bodyPr wrap="none" lIns="0" tIns="0" rIns="0" bIns="0" anchor="t" anchorCtr="0">
            <a:spAutoFit/>
          </a:bodyPr>
          <a:lstStyle/>
          <a:p>
            <a:pPr algn="l"/>
            <a:r>
              <a:rPr lang="en-US" sz="980" b="1" spc="225" dirty="0">
                <a:solidFill>
                  <a:schemeClr val="accent1"/>
                </a:solidFill>
                <a:latin typeface="+mn-lt"/>
                <a:ea typeface="+mn-ea"/>
                <a:cs typeface="+mn-cs"/>
              </a:rPr>
              <a:t>THE CONTRIBUTION</a:t>
            </a:r>
          </a:p>
        </p:txBody>
      </p:sp>
      <p:sp>
        <p:nvSpPr>
          <p:cNvPr id="6" name="TextBox 6"/>
          <p:cNvSpPr txBox="1"/>
          <p:nvPr/>
        </p:nvSpPr>
        <p:spPr>
          <a:xfrm>
            <a:off x="597027" y="723424"/>
            <a:ext cx="6054284"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j-lt"/>
                <a:ea typeface="+mj-ea"/>
                <a:cs typeface="+mj-cs"/>
              </a:rPr>
              <a:t>A New Task and a Network For It</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03 / 10</a:t>
            </a:r>
          </a:p>
        </p:txBody>
      </p:sp>
      <p:grpSp>
        <p:nvGrpSpPr>
          <p:cNvPr id="13" name="Group 13"/>
          <p:cNvGrpSpPr/>
          <p:nvPr/>
        </p:nvGrpSpPr>
        <p:grpSpPr>
          <a:xfrm>
            <a:off x="609600" y="1428750"/>
            <a:ext cx="10972800" cy="685800"/>
            <a:chOff x="609600" y="1428750"/>
            <a:chExt cx="10972800" cy="685800"/>
          </a:xfrm>
        </p:grpSpPr>
        <p:sp>
          <p:nvSpPr>
            <p:cNvPr id="9" name="Rectangle 9"/>
            <p:cNvSpPr/>
            <p:nvPr/>
          </p:nvSpPr>
          <p:spPr>
            <a:xfrm>
              <a:off x="609600" y="1428750"/>
              <a:ext cx="10972800" cy="685800"/>
            </a:xfrm>
            <a:prstGeom prst="roundRect">
              <a:avLst>
                <a:gd name="adj" fmla="val 19444"/>
              </a:avLst>
            </a:prstGeom>
            <a:solidFill>
              <a:schemeClr val="lt2"/>
            </a:solidFill>
            <a:ln w="9525">
              <a:solidFill>
                <a:schemeClr val="accent4"/>
              </a:solidFill>
            </a:ln>
          </p:spPr>
        </p:sp>
        <p:sp>
          <p:nvSpPr>
            <p:cNvPr id="10" name="Rectangle 10"/>
            <p:cNvSpPr/>
            <p:nvPr/>
          </p:nvSpPr>
          <p:spPr>
            <a:xfrm>
              <a:off x="609600" y="1581150"/>
              <a:ext cx="47625" cy="381000"/>
            </a:xfrm>
            <a:prstGeom prst="roundRect">
              <a:avLst>
                <a:gd name="adj" fmla="val 40000"/>
              </a:avLst>
            </a:prstGeom>
            <a:solidFill>
              <a:schemeClr val="accent1"/>
            </a:solidFill>
            <a:ln>
              <a:noFill/>
            </a:ln>
          </p:spPr>
        </p:sp>
        <p:sp>
          <p:nvSpPr>
            <p:cNvPr id="11" name="TextBox 11"/>
            <p:cNvSpPr txBox="1"/>
            <p:nvPr/>
          </p:nvSpPr>
          <p:spPr>
            <a:xfrm>
              <a:off x="850392" y="1606868"/>
              <a:ext cx="908119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new task: visual correspondence hallucination — and NeurHal (Neural Hallucinations) to solve it.</a:t>
              </a:r>
            </a:p>
          </p:txBody>
        </p:sp>
        <p:sp>
          <p:nvSpPr>
            <p:cNvPr id="12" name="TextBox 12"/>
            <p:cNvSpPr txBox="1"/>
            <p:nvPr/>
          </p:nvSpPr>
          <p:spPr>
            <a:xfrm>
              <a:off x="852297" y="1856899"/>
              <a:ext cx="548952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 first network trained to place a keypoint's match even where it cannot be seen.</a:t>
              </a:r>
            </a:p>
          </p:txBody>
        </p:sp>
      </p:grpSp>
      <p:grpSp>
        <p:nvGrpSpPr>
          <p:cNvPr id="32" name="Group 32"/>
          <p:cNvGrpSpPr/>
          <p:nvPr/>
        </p:nvGrpSpPr>
        <p:grpSpPr>
          <a:xfrm>
            <a:off x="609600" y="2324100"/>
            <a:ext cx="5334000" cy="2857500"/>
            <a:chOff x="609600" y="2324100"/>
            <a:chExt cx="5334000" cy="2857500"/>
          </a:xfrm>
        </p:grpSpPr>
        <p:sp>
          <p:nvSpPr>
            <p:cNvPr id="14" name="Rectangle 14"/>
            <p:cNvSpPr/>
            <p:nvPr/>
          </p:nvSpPr>
          <p:spPr>
            <a:xfrm>
              <a:off x="609600" y="2324100"/>
              <a:ext cx="5334000" cy="2857500"/>
            </a:xfrm>
            <a:prstGeom prst="roundRect">
              <a:avLst>
                <a:gd name="adj" fmla="val 4667"/>
              </a:avLst>
            </a:prstGeom>
            <a:solidFill>
              <a:schemeClr val="lt2"/>
            </a:solidFill>
            <a:ln w="9525">
              <a:solidFill>
                <a:schemeClr val="accent4"/>
              </a:solidFill>
            </a:ln>
          </p:spPr>
        </p:sp>
        <p:sp>
          <p:nvSpPr>
            <p:cNvPr id="15" name="TextBox 15"/>
            <p:cNvSpPr txBox="1"/>
            <p:nvPr/>
          </p:nvSpPr>
          <p:spPr>
            <a:xfrm>
              <a:off x="851154" y="2537460"/>
              <a:ext cx="3198397"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Output: a distribution over the match</a:t>
              </a:r>
            </a:p>
          </p:txBody>
        </p:sp>
        <p:sp>
          <p:nvSpPr>
            <p:cNvPr id="16" name="TextBox 16"/>
            <p:cNvSpPr txBox="1"/>
            <p:nvPr/>
          </p:nvSpPr>
          <p:spPr>
            <a:xfrm>
              <a:off x="852297" y="2809399"/>
              <a:ext cx="335454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For each source keypoint, NeurHal outputs a peaked</a:t>
              </a:r>
            </a:p>
          </p:txBody>
        </p:sp>
        <p:sp>
          <p:nvSpPr>
            <p:cNvPr id="17" name="TextBox 17"/>
            <p:cNvSpPr txBox="1"/>
            <p:nvPr/>
          </p:nvSpPr>
          <p:spPr>
            <a:xfrm>
              <a:off x="852297" y="2999899"/>
              <a:ext cx="367089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probability map over the correspondent's location in the</a:t>
              </a:r>
            </a:p>
          </p:txBody>
        </p:sp>
        <p:sp>
          <p:nvSpPr>
            <p:cNvPr id="18" name="TextBox 18"/>
            <p:cNvSpPr txBox="1"/>
            <p:nvPr/>
          </p:nvSpPr>
          <p:spPr>
            <a:xfrm>
              <a:off x="852297" y="3190399"/>
              <a:ext cx="51782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target.</a:t>
              </a:r>
            </a:p>
          </p:txBody>
        </p:sp>
        <p:sp>
          <p:nvSpPr>
            <p:cNvPr id="19" name="Rectangle 19"/>
            <p:cNvSpPr/>
            <p:nvPr/>
          </p:nvSpPr>
          <p:spPr>
            <a:xfrm>
              <a:off x="952500" y="3448050"/>
              <a:ext cx="2857500" cy="1428750"/>
            </a:xfrm>
            <a:prstGeom prst="roundRect">
              <a:avLst>
                <a:gd name="adj" fmla="val 5333"/>
              </a:avLst>
            </a:prstGeom>
            <a:solidFill>
              <a:schemeClr val="accent6"/>
            </a:solidFill>
            <a:ln w="9525">
              <a:solidFill>
                <a:schemeClr val="accent4"/>
              </a:solidFill>
            </a:ln>
          </p:spPr>
        </p:sp>
        <p:sp>
          <p:nvSpPr>
            <p:cNvPr id="20" name="Line 20"/>
            <p:cNvSpPr/>
            <p:nvPr/>
          </p:nvSpPr>
          <p:spPr>
            <a:xfrm>
              <a:off x="1428750" y="3448050"/>
              <a:ext cx="9525" cy="1428750"/>
            </a:xfrm>
            <a:custGeom>
              <a:avLst/>
              <a:gdLst/>
              <a:ahLst/>
              <a:cxnLst/>
              <a:rect l="l" t="t" r="r" b="b"/>
              <a:pathLst>
                <a:path w="9525" h="1428750">
                  <a:moveTo>
                    <a:pt x="0" y="0"/>
                  </a:moveTo>
                  <a:lnTo>
                    <a:pt x="0" y="1428750"/>
                  </a:lnTo>
                </a:path>
              </a:pathLst>
            </a:custGeom>
            <a:noFill/>
            <a:ln w="9525" cap="rnd">
              <a:solidFill>
                <a:srgbClr val="263654">
                  <a:alpha val="0"/>
                </a:srgbClr>
              </a:solidFill>
            </a:ln>
          </p:spPr>
        </p:sp>
        <p:sp>
          <p:nvSpPr>
            <p:cNvPr id="21" name="Line 21"/>
            <p:cNvSpPr/>
            <p:nvPr/>
          </p:nvSpPr>
          <p:spPr>
            <a:xfrm>
              <a:off x="1905000" y="3448050"/>
              <a:ext cx="9525" cy="1428750"/>
            </a:xfrm>
            <a:custGeom>
              <a:avLst/>
              <a:gdLst/>
              <a:ahLst/>
              <a:cxnLst/>
              <a:rect l="l" t="t" r="r" b="b"/>
              <a:pathLst>
                <a:path w="9525" h="1428750">
                  <a:moveTo>
                    <a:pt x="0" y="0"/>
                  </a:moveTo>
                  <a:lnTo>
                    <a:pt x="0" y="1428750"/>
                  </a:lnTo>
                </a:path>
              </a:pathLst>
            </a:custGeom>
            <a:noFill/>
            <a:ln w="9525" cap="rnd">
              <a:solidFill>
                <a:srgbClr val="263654">
                  <a:alpha val="0"/>
                </a:srgbClr>
              </a:solidFill>
            </a:ln>
          </p:spPr>
        </p:sp>
        <p:sp>
          <p:nvSpPr>
            <p:cNvPr id="22" name="Line 22"/>
            <p:cNvSpPr/>
            <p:nvPr/>
          </p:nvSpPr>
          <p:spPr>
            <a:xfrm>
              <a:off x="2381250" y="3448050"/>
              <a:ext cx="9525" cy="1428750"/>
            </a:xfrm>
            <a:custGeom>
              <a:avLst/>
              <a:gdLst/>
              <a:ahLst/>
              <a:cxnLst/>
              <a:rect l="l" t="t" r="r" b="b"/>
              <a:pathLst>
                <a:path w="9525" h="1428750">
                  <a:moveTo>
                    <a:pt x="0" y="0"/>
                  </a:moveTo>
                  <a:lnTo>
                    <a:pt x="0" y="1428750"/>
                  </a:lnTo>
                </a:path>
              </a:pathLst>
            </a:custGeom>
            <a:noFill/>
            <a:ln w="9525" cap="rnd">
              <a:solidFill>
                <a:srgbClr val="263654">
                  <a:alpha val="0"/>
                </a:srgbClr>
              </a:solidFill>
            </a:ln>
          </p:spPr>
        </p:sp>
        <p:sp>
          <p:nvSpPr>
            <p:cNvPr id="23" name="Line 23"/>
            <p:cNvSpPr/>
            <p:nvPr/>
          </p:nvSpPr>
          <p:spPr>
            <a:xfrm>
              <a:off x="2857500" y="3448050"/>
              <a:ext cx="9525" cy="1428750"/>
            </a:xfrm>
            <a:custGeom>
              <a:avLst/>
              <a:gdLst/>
              <a:ahLst/>
              <a:cxnLst/>
              <a:rect l="l" t="t" r="r" b="b"/>
              <a:pathLst>
                <a:path w="9525" h="1428750">
                  <a:moveTo>
                    <a:pt x="0" y="0"/>
                  </a:moveTo>
                  <a:lnTo>
                    <a:pt x="0" y="1428750"/>
                  </a:lnTo>
                </a:path>
              </a:pathLst>
            </a:custGeom>
            <a:noFill/>
            <a:ln w="9525" cap="rnd">
              <a:solidFill>
                <a:srgbClr val="263654">
                  <a:alpha val="0"/>
                </a:srgbClr>
              </a:solidFill>
            </a:ln>
          </p:spPr>
        </p:sp>
        <p:sp>
          <p:nvSpPr>
            <p:cNvPr id="24" name="Line 24"/>
            <p:cNvSpPr/>
            <p:nvPr/>
          </p:nvSpPr>
          <p:spPr>
            <a:xfrm>
              <a:off x="3333750" y="3448050"/>
              <a:ext cx="9525" cy="1428750"/>
            </a:xfrm>
            <a:custGeom>
              <a:avLst/>
              <a:gdLst/>
              <a:ahLst/>
              <a:cxnLst/>
              <a:rect l="l" t="t" r="r" b="b"/>
              <a:pathLst>
                <a:path w="9525" h="1428750">
                  <a:moveTo>
                    <a:pt x="0" y="0"/>
                  </a:moveTo>
                  <a:lnTo>
                    <a:pt x="0" y="1428750"/>
                  </a:lnTo>
                </a:path>
              </a:pathLst>
            </a:custGeom>
            <a:noFill/>
            <a:ln w="9525" cap="rnd">
              <a:solidFill>
                <a:srgbClr val="263654">
                  <a:alpha val="0"/>
                </a:srgbClr>
              </a:solidFill>
            </a:ln>
          </p:spPr>
        </p:sp>
        <p:sp>
          <p:nvSpPr>
            <p:cNvPr id="25" name="Ellipse 25"/>
            <p:cNvSpPr/>
            <p:nvPr/>
          </p:nvSpPr>
          <p:spPr>
            <a:xfrm>
              <a:off x="2533650" y="3790950"/>
              <a:ext cx="647700" cy="647700"/>
            </a:xfrm>
            <a:prstGeom prst="ellipse">
              <a:avLst/>
            </a:prstGeom>
            <a:solidFill>
              <a:srgbClr val="A78BFA"/>
            </a:solidFill>
            <a:ln>
              <a:noFill/>
            </a:ln>
          </p:spPr>
        </p:sp>
        <p:sp>
          <p:nvSpPr>
            <p:cNvPr id="26" name="Ellipse 26"/>
            <p:cNvSpPr/>
            <p:nvPr/>
          </p:nvSpPr>
          <p:spPr>
            <a:xfrm>
              <a:off x="2647950" y="3905250"/>
              <a:ext cx="419100" cy="419100"/>
            </a:xfrm>
            <a:prstGeom prst="ellipse">
              <a:avLst/>
            </a:prstGeom>
            <a:solidFill>
              <a:srgbClr val="FBBF24">
                <a:alpha val="90000"/>
              </a:srgbClr>
            </a:solidFill>
            <a:ln>
              <a:noFill/>
            </a:ln>
          </p:spPr>
        </p:sp>
        <p:sp>
          <p:nvSpPr>
            <p:cNvPr id="27" name="Ellipse 27"/>
            <p:cNvSpPr/>
            <p:nvPr/>
          </p:nvSpPr>
          <p:spPr>
            <a:xfrm>
              <a:off x="2762250" y="4019550"/>
              <a:ext cx="190500" cy="190500"/>
            </a:xfrm>
            <a:prstGeom prst="ellipse">
              <a:avLst/>
            </a:prstGeom>
            <a:solidFill>
              <a:srgbClr val="FFFFFF"/>
            </a:solidFill>
            <a:ln>
              <a:noFill/>
            </a:ln>
          </p:spPr>
        </p:sp>
        <p:sp>
          <p:nvSpPr>
            <p:cNvPr id="28" name="TextBox 28"/>
            <p:cNvSpPr txBox="1"/>
            <p:nvPr/>
          </p:nvSpPr>
          <p:spPr>
            <a:xfrm>
              <a:off x="1997211" y="4989195"/>
              <a:ext cx="1720579" cy="176212"/>
            </a:xfrm>
            <a:prstGeom prst="rect">
              <a:avLst/>
            </a:prstGeom>
            <a:noFill/>
            <a:ln>
              <a:noFill/>
            </a:ln>
          </p:spPr>
          <p:txBody>
            <a:bodyPr wrap="none" lIns="0" tIns="0" rIns="0" bIns="0" anchor="t" anchorCtr="0">
              <a:spAutoFit/>
            </a:bodyPr>
            <a:lstStyle/>
            <a:p>
              <a:pPr algn="ctr"/>
              <a:r>
                <a:rPr lang="en-US" sz="900" b="1" dirty="0">
                  <a:solidFill>
                    <a:srgbClr val="6E82A6"/>
                  </a:solidFill>
                  <a:latin typeface="+mn-lt"/>
                  <a:ea typeface="+mn-ea"/>
                  <a:cs typeface="+mn-cs"/>
                </a:rPr>
                <a:t>peaked correspondence map</a:t>
              </a:r>
            </a:p>
          </p:txBody>
        </p:sp>
        <p:sp>
          <p:nvSpPr>
            <p:cNvPr id="29" name="TextBox 29"/>
            <p:cNvSpPr txBox="1"/>
            <p:nvPr/>
          </p:nvSpPr>
          <p:spPr>
            <a:xfrm>
              <a:off x="4090416" y="3620452"/>
              <a:ext cx="552396"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visible,</a:t>
              </a:r>
            </a:p>
          </p:txBody>
        </p:sp>
        <p:sp>
          <p:nvSpPr>
            <p:cNvPr id="30" name="TextBox 30"/>
            <p:cNvSpPr txBox="1"/>
            <p:nvPr/>
          </p:nvSpPr>
          <p:spPr>
            <a:xfrm>
              <a:off x="4090416" y="3849052"/>
              <a:ext cx="916021" cy="205359"/>
            </a:xfrm>
            <a:prstGeom prst="rect">
              <a:avLst/>
            </a:prstGeom>
            <a:noFill/>
            <a:ln>
              <a:noFill/>
            </a:ln>
          </p:spPr>
          <p:txBody>
            <a:bodyPr wrap="none" lIns="0" tIns="0" rIns="0" bIns="0" anchor="t" anchorCtr="0">
              <a:spAutoFit/>
            </a:bodyPr>
            <a:lstStyle/>
            <a:p>
              <a:pPr algn="l"/>
              <a:r>
                <a:rPr lang="en-US" sz="1050" b="1" dirty="0">
                  <a:solidFill>
                    <a:srgbClr val="FBBF24"/>
                  </a:solidFill>
                  <a:latin typeface="+mn-lt"/>
                  <a:ea typeface="+mn-ea"/>
                  <a:cs typeface="+mn-cs"/>
                </a:rPr>
                <a:t>occluded, or</a:t>
              </a:r>
            </a:p>
          </p:txBody>
        </p:sp>
        <p:sp>
          <p:nvSpPr>
            <p:cNvPr id="31" name="TextBox 31"/>
            <p:cNvSpPr txBox="1"/>
            <p:nvPr/>
          </p:nvSpPr>
          <p:spPr>
            <a:xfrm>
              <a:off x="4090416" y="4077652"/>
              <a:ext cx="945705" cy="205359"/>
            </a:xfrm>
            <a:prstGeom prst="rect">
              <a:avLst/>
            </a:prstGeom>
            <a:noFill/>
            <a:ln>
              <a:noFill/>
            </a:ln>
          </p:spPr>
          <p:txBody>
            <a:bodyPr wrap="none" lIns="0" tIns="0" rIns="0" bIns="0" anchor="t" anchorCtr="0">
              <a:spAutoFit/>
            </a:bodyPr>
            <a:lstStyle/>
            <a:p>
              <a:pPr algn="l"/>
              <a:r>
                <a:rPr lang="en-US" sz="1050" b="1" dirty="0">
                  <a:solidFill>
                    <a:srgbClr val="F87171"/>
                  </a:solidFill>
                  <a:latin typeface="+mn-lt"/>
                  <a:ea typeface="+mn-ea"/>
                  <a:cs typeface="+mn-cs"/>
                </a:rPr>
                <a:t>out of frame</a:t>
              </a:r>
            </a:p>
          </p:txBody>
        </p:sp>
      </p:grpSp>
      <p:grpSp>
        <p:nvGrpSpPr>
          <p:cNvPr id="48" name="Group 48"/>
          <p:cNvGrpSpPr/>
          <p:nvPr/>
        </p:nvGrpSpPr>
        <p:grpSpPr>
          <a:xfrm>
            <a:off x="6134100" y="2324100"/>
            <a:ext cx="5448300" cy="2857500"/>
            <a:chOff x="6134100" y="2324100"/>
            <a:chExt cx="5448300" cy="2857500"/>
          </a:xfrm>
        </p:grpSpPr>
        <p:sp>
          <p:nvSpPr>
            <p:cNvPr id="33" name="Rectangle 33"/>
            <p:cNvSpPr/>
            <p:nvPr/>
          </p:nvSpPr>
          <p:spPr>
            <a:xfrm>
              <a:off x="6134100" y="2324100"/>
              <a:ext cx="5448300" cy="2857500"/>
            </a:xfrm>
            <a:prstGeom prst="roundRect">
              <a:avLst>
                <a:gd name="adj" fmla="val 4667"/>
              </a:avLst>
            </a:prstGeom>
            <a:solidFill>
              <a:schemeClr val="lt2"/>
            </a:solidFill>
            <a:ln w="9525">
              <a:solidFill>
                <a:schemeClr val="accent4"/>
              </a:solidFill>
            </a:ln>
          </p:spPr>
        </p:sp>
        <p:sp>
          <p:nvSpPr>
            <p:cNvPr id="34" name="Rectangle 34"/>
            <p:cNvSpPr/>
            <p:nvPr/>
          </p:nvSpPr>
          <p:spPr>
            <a:xfrm>
              <a:off x="6134100" y="2476500"/>
              <a:ext cx="47625" cy="2552700"/>
            </a:xfrm>
            <a:prstGeom prst="roundRect">
              <a:avLst>
                <a:gd name="adj" fmla="val 40000"/>
              </a:avLst>
            </a:prstGeom>
            <a:solidFill>
              <a:schemeClr val="accent2"/>
            </a:solidFill>
            <a:ln>
              <a:noFill/>
            </a:ln>
          </p:spPr>
        </p:sp>
        <p:sp>
          <p:nvSpPr>
            <p:cNvPr id="35" name="TextBox 35"/>
            <p:cNvSpPr txBox="1"/>
            <p:nvPr/>
          </p:nvSpPr>
          <p:spPr>
            <a:xfrm>
              <a:off x="6394704" y="2556510"/>
              <a:ext cx="249426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One model unifies three tasks</a:t>
              </a:r>
            </a:p>
          </p:txBody>
        </p:sp>
        <p:sp>
          <p:nvSpPr>
            <p:cNvPr id="36" name="Rectangle 36"/>
            <p:cNvSpPr/>
            <p:nvPr/>
          </p:nvSpPr>
          <p:spPr>
            <a:xfrm>
              <a:off x="6400800" y="3028950"/>
              <a:ext cx="4914900" cy="514350"/>
            </a:xfrm>
            <a:prstGeom prst="roundRect">
              <a:avLst>
                <a:gd name="adj" fmla="val 18519"/>
              </a:avLst>
            </a:prstGeom>
            <a:solidFill>
              <a:schemeClr val="accent6"/>
            </a:solidFill>
            <a:ln w="9525">
              <a:solidFill>
                <a:schemeClr val="accent2"/>
              </a:solidFill>
            </a:ln>
          </p:spPr>
        </p:sp>
        <p:sp>
          <p:nvSpPr>
            <p:cNvPr id="37" name="Ellipse 37"/>
            <p:cNvSpPr/>
            <p:nvPr/>
          </p:nvSpPr>
          <p:spPr>
            <a:xfrm>
              <a:off x="6572250" y="3190875"/>
              <a:ext cx="190500" cy="190500"/>
            </a:xfrm>
            <a:prstGeom prst="ellipse">
              <a:avLst/>
            </a:prstGeom>
            <a:solidFill>
              <a:schemeClr val="accent2"/>
            </a:solidFill>
            <a:ln>
              <a:noFill/>
            </a:ln>
          </p:spPr>
        </p:sp>
        <p:sp>
          <p:nvSpPr>
            <p:cNvPr id="38" name="TextBox 38"/>
            <p:cNvSpPr txBox="1"/>
            <p:nvPr/>
          </p:nvSpPr>
          <p:spPr>
            <a:xfrm>
              <a:off x="6890385" y="3136106"/>
              <a:ext cx="738476"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IDENTIFY</a:t>
              </a:r>
            </a:p>
          </p:txBody>
        </p:sp>
        <p:sp>
          <p:nvSpPr>
            <p:cNvPr id="39" name="TextBox 39"/>
            <p:cNvSpPr txBox="1"/>
            <p:nvPr/>
          </p:nvSpPr>
          <p:spPr>
            <a:xfrm>
              <a:off x="6891147" y="3342799"/>
              <a:ext cx="243737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correspondent is visible in the target</a:t>
              </a:r>
            </a:p>
          </p:txBody>
        </p:sp>
        <p:sp>
          <p:nvSpPr>
            <p:cNvPr id="40" name="Rectangle 40"/>
            <p:cNvSpPr/>
            <p:nvPr/>
          </p:nvSpPr>
          <p:spPr>
            <a:xfrm>
              <a:off x="6400800" y="3657600"/>
              <a:ext cx="4914900" cy="514350"/>
            </a:xfrm>
            <a:prstGeom prst="roundRect">
              <a:avLst>
                <a:gd name="adj" fmla="val 18519"/>
              </a:avLst>
            </a:prstGeom>
            <a:solidFill>
              <a:schemeClr val="accent6"/>
            </a:solidFill>
            <a:ln w="9525">
              <a:solidFill>
                <a:srgbClr val="FBBF24"/>
              </a:solidFill>
            </a:ln>
          </p:spPr>
        </p:sp>
        <p:sp>
          <p:nvSpPr>
            <p:cNvPr id="41" name="Ellipse 41"/>
            <p:cNvSpPr/>
            <p:nvPr/>
          </p:nvSpPr>
          <p:spPr>
            <a:xfrm>
              <a:off x="6572250" y="3819525"/>
              <a:ext cx="190500" cy="190500"/>
            </a:xfrm>
            <a:prstGeom prst="ellipse">
              <a:avLst/>
            </a:prstGeom>
            <a:solidFill>
              <a:srgbClr val="FBBF24"/>
            </a:solidFill>
            <a:ln>
              <a:noFill/>
            </a:ln>
          </p:spPr>
        </p:sp>
        <p:sp>
          <p:nvSpPr>
            <p:cNvPr id="42" name="TextBox 42"/>
            <p:cNvSpPr txBox="1"/>
            <p:nvPr/>
          </p:nvSpPr>
          <p:spPr>
            <a:xfrm>
              <a:off x="6890385" y="3764756"/>
              <a:ext cx="635807" cy="220028"/>
            </a:xfrm>
            <a:prstGeom prst="rect">
              <a:avLst/>
            </a:prstGeom>
            <a:noFill/>
            <a:ln>
              <a:noFill/>
            </a:ln>
          </p:spPr>
          <p:txBody>
            <a:bodyPr wrap="none" lIns="0" tIns="0" rIns="0" bIns="0" anchor="t" anchorCtr="0">
              <a:spAutoFit/>
            </a:bodyPr>
            <a:lstStyle/>
            <a:p>
              <a:pPr algn="l"/>
              <a:r>
                <a:rPr lang="en-US" sz="1120" b="1" spc="75" dirty="0">
                  <a:solidFill>
                    <a:srgbClr val="FBBF24"/>
                  </a:solidFill>
                  <a:latin typeface="+mn-lt"/>
                  <a:ea typeface="+mn-ea"/>
                  <a:cs typeface="+mn-cs"/>
                </a:rPr>
                <a:t>INPAINT</a:t>
              </a:r>
            </a:p>
          </p:txBody>
        </p:sp>
        <p:sp>
          <p:nvSpPr>
            <p:cNvPr id="43" name="TextBox 43"/>
            <p:cNvSpPr txBox="1"/>
            <p:nvPr/>
          </p:nvSpPr>
          <p:spPr>
            <a:xfrm>
              <a:off x="6891147" y="3971449"/>
              <a:ext cx="275400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correspondent is occluded inside the image</a:t>
              </a:r>
            </a:p>
          </p:txBody>
        </p:sp>
        <p:sp>
          <p:nvSpPr>
            <p:cNvPr id="44" name="Rectangle 44"/>
            <p:cNvSpPr/>
            <p:nvPr/>
          </p:nvSpPr>
          <p:spPr>
            <a:xfrm>
              <a:off x="6400800" y="4286250"/>
              <a:ext cx="4914900" cy="514350"/>
            </a:xfrm>
            <a:prstGeom prst="roundRect">
              <a:avLst>
                <a:gd name="adj" fmla="val 18519"/>
              </a:avLst>
            </a:prstGeom>
            <a:solidFill>
              <a:schemeClr val="accent6"/>
            </a:solidFill>
            <a:ln w="9525">
              <a:solidFill>
                <a:srgbClr val="F87171"/>
              </a:solidFill>
            </a:ln>
          </p:spPr>
        </p:sp>
        <p:sp>
          <p:nvSpPr>
            <p:cNvPr id="45" name="Ellipse 45"/>
            <p:cNvSpPr/>
            <p:nvPr/>
          </p:nvSpPr>
          <p:spPr>
            <a:xfrm>
              <a:off x="6572250" y="4448175"/>
              <a:ext cx="190500" cy="190500"/>
            </a:xfrm>
            <a:prstGeom prst="ellipse">
              <a:avLst/>
            </a:prstGeom>
            <a:solidFill>
              <a:srgbClr val="F87171"/>
            </a:solidFill>
            <a:ln>
              <a:noFill/>
            </a:ln>
          </p:spPr>
        </p:sp>
        <p:sp>
          <p:nvSpPr>
            <p:cNvPr id="46" name="TextBox 46"/>
            <p:cNvSpPr txBox="1"/>
            <p:nvPr/>
          </p:nvSpPr>
          <p:spPr>
            <a:xfrm>
              <a:off x="6890385" y="4393406"/>
              <a:ext cx="813749" cy="220028"/>
            </a:xfrm>
            <a:prstGeom prst="rect">
              <a:avLst/>
            </a:prstGeom>
            <a:noFill/>
            <a:ln>
              <a:noFill/>
            </a:ln>
          </p:spPr>
          <p:txBody>
            <a:bodyPr wrap="none" lIns="0" tIns="0" rIns="0" bIns="0" anchor="t" anchorCtr="0">
              <a:spAutoFit/>
            </a:bodyPr>
            <a:lstStyle/>
            <a:p>
              <a:pPr algn="l"/>
              <a:r>
                <a:rPr lang="en-US" sz="1120" b="1" spc="75" dirty="0">
                  <a:solidFill>
                    <a:srgbClr val="F87171"/>
                  </a:solidFill>
                  <a:latin typeface="+mn-lt"/>
                  <a:ea typeface="+mn-ea"/>
                  <a:cs typeface="+mn-cs"/>
                </a:rPr>
                <a:t>OUTPAINT</a:t>
              </a:r>
            </a:p>
          </p:txBody>
        </p:sp>
        <p:sp>
          <p:nvSpPr>
            <p:cNvPr id="47" name="TextBox 47"/>
            <p:cNvSpPr txBox="1"/>
            <p:nvPr/>
          </p:nvSpPr>
          <p:spPr>
            <a:xfrm>
              <a:off x="6891147" y="4600099"/>
              <a:ext cx="283315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correspondent lies outside the field of view</a:t>
              </a:r>
            </a:p>
          </p:txBody>
        </p:sp>
      </p:grpSp>
      <p:grpSp>
        <p:nvGrpSpPr>
          <p:cNvPr id="52" name="Group 52"/>
          <p:cNvGrpSpPr/>
          <p:nvPr/>
        </p:nvGrpSpPr>
        <p:grpSpPr>
          <a:xfrm>
            <a:off x="609600" y="5334000"/>
            <a:ext cx="10972800" cy="476250"/>
            <a:chOff x="609600" y="5334000"/>
            <a:chExt cx="10972800" cy="476250"/>
          </a:xfrm>
        </p:grpSpPr>
        <p:sp>
          <p:nvSpPr>
            <p:cNvPr id="49" name="Rectangle 49"/>
            <p:cNvSpPr/>
            <p:nvPr/>
          </p:nvSpPr>
          <p:spPr>
            <a:xfrm>
              <a:off x="609600" y="5334000"/>
              <a:ext cx="10972800" cy="476250"/>
            </a:xfrm>
            <a:prstGeom prst="roundRect">
              <a:avLst>
                <a:gd name="adj" fmla="val 28000"/>
              </a:avLst>
            </a:prstGeom>
            <a:solidFill>
              <a:schemeClr val="accent6"/>
            </a:solidFill>
            <a:ln w="9525">
              <a:solidFill>
                <a:schemeClr val="accent4"/>
              </a:solidFill>
            </a:ln>
          </p:spPr>
        </p:sp>
        <p:sp>
          <p:nvSpPr>
            <p:cNvPr id="50" name="Rectangle 50"/>
            <p:cNvSpPr/>
            <p:nvPr/>
          </p:nvSpPr>
          <p:spPr>
            <a:xfrm>
              <a:off x="609600" y="5486400"/>
              <a:ext cx="47625" cy="171450"/>
            </a:xfrm>
            <a:prstGeom prst="roundRect">
              <a:avLst>
                <a:gd name="adj" fmla="val 40000"/>
              </a:avLst>
            </a:prstGeom>
            <a:solidFill>
              <a:srgbClr val="A78BFA"/>
            </a:solidFill>
            <a:ln>
              <a:noFill/>
            </a:ln>
          </p:spPr>
        </p:sp>
        <p:sp>
          <p:nvSpPr>
            <p:cNvPr id="51" name="TextBox 51"/>
            <p:cNvSpPr txBox="1"/>
            <p:nvPr/>
          </p:nvSpPr>
          <p:spPr>
            <a:xfrm>
              <a:off x="851535" y="5507831"/>
              <a:ext cx="10536560"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Because hallucination is unexplored, the authors first analyze what makes it distinctive, then let that drive the loss and architecture.</a:t>
              </a:r>
            </a:p>
          </p:txBody>
        </p:sp>
      </p:grpSp>
      <p:sp>
        <p:nvSpPr>
          <p:cNvPr id="53" name="cue_s04_c1_introduces_task_visual_correspondenc" title="cue_s04_c1_introduces_task_visual_correspondenc" descr="cue_s04_c1_introduces_task_visual_correspondenc The paper introduces the task of visual correspondence hallucination and a network to solve it, called NeurHal, for Neural Hallucinations."/>
          <p:cNvSpPr/>
          <p:nvPr/>
        </p:nvSpPr>
        <p:spPr>
          <a:xfrm>
            <a:off x="609600" y="1428521"/>
            <a:ext cx="109728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4_c2_given_pair_overlapping_images_keypoi" title="cue_s04_c2_given_pair_overlapping_images_keypoi" descr="cue_s04_c2_given_pair_overlapping_images_keypoi Given a pair of overlapping images and keypoints in the source image, NeurHal outputs, for each keypoint, a probability distribution over its correspondent's location in the target image, whether that location is visible, occluded, or outside the field of view"/>
          <p:cNvSpPr/>
          <p:nvPr/>
        </p:nvSpPr>
        <p:spPr>
          <a:xfrm>
            <a:off x="609600" y="2324176"/>
            <a:ext cx="533400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4_c3_unifies_three_tasks_authors_name" title="cue_s04_c3_unifies_three_tasks_authors_name" descr="cue_s04_c3_unifies_three_tasks_authors_name This unifies three tasks the authors name identifying, inpainting, and outpainting."/>
          <p:cNvSpPr/>
          <p:nvPr/>
        </p:nvSpPr>
        <p:spPr>
          <a:xfrm>
            <a:off x="6133795" y="2324176"/>
            <a:ext cx="54486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4_c4_because_learning_hallucinate_unexplo" title="cue_s04_c4_because_learning_hallucinate_unexplo" descr="cue_s04_c4_because_learning_hallucinate_unexplo Because learning to hallucinate is unexplored territory, they first analyze what makes the task distinctive, and let that analysis drive the choice of loss and architecture."/>
          <p:cNvSpPr/>
          <p:nvPr/>
        </p:nvSpPr>
        <p:spPr>
          <a:xfrm>
            <a:off x="609600" y="5334152"/>
            <a:ext cx="10972800" cy="4759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chemeClr val="accent1"/>
            </a:solidFill>
            <a:ln>
              <a:noFill/>
            </a:ln>
          </p:spPr>
        </p:sp>
      </p:grpSp>
      <p:sp>
        <p:nvSpPr>
          <p:cNvPr id="5" name="TextBox 5"/>
          <p:cNvSpPr txBox="1"/>
          <p:nvPr/>
        </p:nvSpPr>
        <p:spPr>
          <a:xfrm>
            <a:off x="604647" y="485299"/>
            <a:ext cx="1124904" cy="190690"/>
          </a:xfrm>
          <a:prstGeom prst="rect">
            <a:avLst/>
          </a:prstGeom>
          <a:noFill/>
          <a:ln>
            <a:noFill/>
          </a:ln>
        </p:spPr>
        <p:txBody>
          <a:bodyPr wrap="none" lIns="0" tIns="0" rIns="0" bIns="0" anchor="t" anchorCtr="0">
            <a:spAutoFit/>
          </a:bodyPr>
          <a:lstStyle/>
          <a:p>
            <a:pPr algn="l"/>
            <a:r>
              <a:rPr lang="en-US" sz="980" b="1" spc="225" dirty="0">
                <a:solidFill>
                  <a:schemeClr val="accent1"/>
                </a:solidFill>
                <a:latin typeface="+mn-lt"/>
                <a:ea typeface="+mn-ea"/>
                <a:cs typeface="+mn-cs"/>
              </a:rPr>
              <a:t>THE METHOD</a:t>
            </a:r>
          </a:p>
        </p:txBody>
      </p:sp>
      <p:sp>
        <p:nvSpPr>
          <p:cNvPr id="6" name="TextBox 6"/>
          <p:cNvSpPr txBox="1"/>
          <p:nvPr/>
        </p:nvSpPr>
        <p:spPr>
          <a:xfrm>
            <a:off x="597027" y="723424"/>
            <a:ext cx="2629497"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j-lt"/>
                <a:ea typeface="+mj-ea"/>
                <a:cs typeface="+mj-cs"/>
              </a:rPr>
              <a:t>Inside NeurHal</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04 / 10</a:t>
            </a:r>
          </a:p>
        </p:txBody>
      </p:sp>
      <p:grpSp>
        <p:nvGrpSpPr>
          <p:cNvPr id="16" name="Group 16"/>
          <p:cNvGrpSpPr/>
          <p:nvPr/>
        </p:nvGrpSpPr>
        <p:grpSpPr>
          <a:xfrm>
            <a:off x="609600" y="1581150"/>
            <a:ext cx="3352800" cy="1866900"/>
            <a:chOff x="609600" y="1581150"/>
            <a:chExt cx="3352800" cy="1866900"/>
          </a:xfrm>
        </p:grpSpPr>
        <p:sp>
          <p:nvSpPr>
            <p:cNvPr id="9" name="Rectangle 9"/>
            <p:cNvSpPr/>
            <p:nvPr/>
          </p:nvSpPr>
          <p:spPr>
            <a:xfrm>
              <a:off x="609600" y="1581150"/>
              <a:ext cx="3352800" cy="1866900"/>
            </a:xfrm>
            <a:prstGeom prst="roundRect">
              <a:avLst>
                <a:gd name="adj" fmla="val 7143"/>
              </a:avLst>
            </a:prstGeom>
            <a:solidFill>
              <a:schemeClr val="lt2"/>
            </a:solidFill>
            <a:ln w="9525">
              <a:solidFill>
                <a:schemeClr val="accent4"/>
              </a:solidFill>
            </a:ln>
          </p:spPr>
        </p:sp>
        <p:sp>
          <p:nvSpPr>
            <p:cNvPr id="10" name="Rectangle 10"/>
            <p:cNvSpPr/>
            <p:nvPr/>
          </p:nvSpPr>
          <p:spPr>
            <a:xfrm>
              <a:off x="609600" y="1733550"/>
              <a:ext cx="47625" cy="1562100"/>
            </a:xfrm>
            <a:prstGeom prst="roundRect">
              <a:avLst>
                <a:gd name="adj" fmla="val 40000"/>
              </a:avLst>
            </a:prstGeom>
            <a:solidFill>
              <a:schemeClr val="accent1"/>
            </a:solidFill>
            <a:ln>
              <a:noFill/>
            </a:ln>
          </p:spPr>
        </p:sp>
        <p:sp>
          <p:nvSpPr>
            <p:cNvPr id="11" name="TextBox 11"/>
            <p:cNvSpPr txBox="1"/>
            <p:nvPr/>
          </p:nvSpPr>
          <p:spPr>
            <a:xfrm>
              <a:off x="794385" y="1783556"/>
              <a:ext cx="1959129"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1 · Siamese CNN backbone</a:t>
              </a:r>
            </a:p>
          </p:txBody>
        </p:sp>
        <p:sp>
          <p:nvSpPr>
            <p:cNvPr id="12" name="TextBox 12"/>
            <p:cNvSpPr txBox="1"/>
            <p:nvPr/>
          </p:nvSpPr>
          <p:spPr>
            <a:xfrm>
              <a:off x="795338" y="2070497"/>
              <a:ext cx="2418531"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Both images -&gt; dense descriptor maps.</a:t>
              </a:r>
            </a:p>
          </p:txBody>
        </p:sp>
        <p:sp>
          <p:nvSpPr>
            <p:cNvPr id="13" name="TextBox 13"/>
            <p:cNvSpPr txBox="1"/>
            <p:nvPr/>
          </p:nvSpPr>
          <p:spPr>
            <a:xfrm>
              <a:off x="795338" y="2299097"/>
              <a:ext cx="2848420"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Target map is padded with a learnable vector,</a:t>
              </a:r>
            </a:p>
          </p:txBody>
        </p:sp>
        <p:sp>
          <p:nvSpPr>
            <p:cNvPr id="14" name="TextBox 14"/>
            <p:cNvSpPr txBox="1"/>
            <p:nvPr/>
          </p:nvSpPr>
          <p:spPr>
            <a:xfrm>
              <a:off x="795338" y="2470547"/>
              <a:ext cx="2882047"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so descriptors exist beyond the image borders</a:t>
              </a:r>
            </a:p>
          </p:txBody>
        </p:sp>
        <p:sp>
          <p:nvSpPr>
            <p:cNvPr id="15" name="TextBox 15"/>
            <p:cNvSpPr txBox="1"/>
            <p:nvPr/>
          </p:nvSpPr>
          <p:spPr>
            <a:xfrm>
              <a:off x="795338" y="2641997"/>
              <a:ext cx="1414150"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(enables outpainting).</a:t>
              </a:r>
            </a:p>
          </p:txBody>
        </p:sp>
      </p:grpSp>
      <p:grpSp>
        <p:nvGrpSpPr>
          <p:cNvPr id="24" name="Group 24"/>
          <p:cNvGrpSpPr/>
          <p:nvPr/>
        </p:nvGrpSpPr>
        <p:grpSpPr>
          <a:xfrm>
            <a:off x="4191000" y="1581150"/>
            <a:ext cx="3352800" cy="1866900"/>
            <a:chOff x="4191000" y="1581150"/>
            <a:chExt cx="3352800" cy="1866900"/>
          </a:xfrm>
        </p:grpSpPr>
        <p:sp>
          <p:nvSpPr>
            <p:cNvPr id="17" name="Rectangle 17"/>
            <p:cNvSpPr/>
            <p:nvPr/>
          </p:nvSpPr>
          <p:spPr>
            <a:xfrm>
              <a:off x="4191000" y="1581150"/>
              <a:ext cx="3352800" cy="1866900"/>
            </a:xfrm>
            <a:prstGeom prst="roundRect">
              <a:avLst>
                <a:gd name="adj" fmla="val 7143"/>
              </a:avLst>
            </a:prstGeom>
            <a:solidFill>
              <a:schemeClr val="lt2"/>
            </a:solidFill>
            <a:ln w="9525">
              <a:solidFill>
                <a:schemeClr val="accent4"/>
              </a:solidFill>
            </a:ln>
          </p:spPr>
        </p:sp>
        <p:sp>
          <p:nvSpPr>
            <p:cNvPr id="18" name="Rectangle 18"/>
            <p:cNvSpPr/>
            <p:nvPr/>
          </p:nvSpPr>
          <p:spPr>
            <a:xfrm>
              <a:off x="4191000" y="1733550"/>
              <a:ext cx="47625" cy="1562100"/>
            </a:xfrm>
            <a:prstGeom prst="roundRect">
              <a:avLst>
                <a:gd name="adj" fmla="val 40000"/>
              </a:avLst>
            </a:prstGeom>
            <a:solidFill>
              <a:srgbClr val="A78BFA"/>
            </a:solidFill>
            <a:ln>
              <a:noFill/>
            </a:ln>
          </p:spPr>
        </p:sp>
        <p:sp>
          <p:nvSpPr>
            <p:cNvPr id="19" name="TextBox 19"/>
            <p:cNvSpPr txBox="1"/>
            <p:nvPr/>
          </p:nvSpPr>
          <p:spPr>
            <a:xfrm>
              <a:off x="4375785" y="1783556"/>
              <a:ext cx="1553276" cy="220028"/>
            </a:xfrm>
            <a:prstGeom prst="rect">
              <a:avLst/>
            </a:prstGeom>
            <a:noFill/>
            <a:ln>
              <a:noFill/>
            </a:ln>
          </p:spPr>
          <p:txBody>
            <a:bodyPr wrap="none" lIns="0" tIns="0" rIns="0" bIns="0" anchor="t" anchorCtr="0">
              <a:spAutoFit/>
            </a:bodyPr>
            <a:lstStyle/>
            <a:p>
              <a:pPr algn="l"/>
              <a:r>
                <a:rPr lang="en-US" sz="1120" b="1" dirty="0">
                  <a:solidFill>
                    <a:srgbClr val="A78BFA"/>
                  </a:solidFill>
                  <a:latin typeface="+mn-lt"/>
                  <a:ea typeface="+mn-ea"/>
                  <a:cs typeface="+mn-cs"/>
                </a:rPr>
                <a:t>2 · Cross-attention</a:t>
              </a:r>
            </a:p>
          </p:txBody>
        </p:sp>
        <p:sp>
          <p:nvSpPr>
            <p:cNvPr id="20" name="TextBox 20"/>
            <p:cNvSpPr txBox="1"/>
            <p:nvPr/>
          </p:nvSpPr>
          <p:spPr>
            <a:xfrm>
              <a:off x="4376738" y="2070497"/>
              <a:ext cx="2962043"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Positional-encoded cross-attention lets source</a:t>
              </a:r>
            </a:p>
          </p:txBody>
        </p:sp>
        <p:sp>
          <p:nvSpPr>
            <p:cNvPr id="21" name="TextBox 21"/>
            <p:cNvSpPr txBox="1"/>
            <p:nvPr/>
          </p:nvSpPr>
          <p:spPr>
            <a:xfrm>
              <a:off x="4376738" y="2241947"/>
              <a:ext cx="2875719"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and target descriptors exchange information.</a:t>
              </a:r>
            </a:p>
          </p:txBody>
        </p:sp>
        <p:sp>
          <p:nvSpPr>
            <p:cNvPr id="22" name="TextBox 22"/>
            <p:cNvSpPr txBox="1"/>
            <p:nvPr/>
          </p:nvSpPr>
          <p:spPr>
            <a:xfrm>
              <a:off x="4376738" y="2470547"/>
              <a:ext cx="2690000"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This is what lets the net hallucinate peaked</a:t>
              </a:r>
            </a:p>
          </p:txBody>
        </p:sp>
        <p:sp>
          <p:nvSpPr>
            <p:cNvPr id="23" name="TextBox 23"/>
            <p:cNvSpPr txBox="1"/>
            <p:nvPr/>
          </p:nvSpPr>
          <p:spPr>
            <a:xfrm>
              <a:off x="4376738" y="2641997"/>
              <a:ext cx="1477421"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maps for hidden points.</a:t>
              </a:r>
            </a:p>
          </p:txBody>
        </p:sp>
      </p:grpSp>
      <p:grpSp>
        <p:nvGrpSpPr>
          <p:cNvPr id="32" name="Group 32"/>
          <p:cNvGrpSpPr/>
          <p:nvPr/>
        </p:nvGrpSpPr>
        <p:grpSpPr>
          <a:xfrm>
            <a:off x="7772400" y="1581150"/>
            <a:ext cx="3810000" cy="1866900"/>
            <a:chOff x="7772400" y="1581150"/>
            <a:chExt cx="3810000" cy="1866900"/>
          </a:xfrm>
        </p:grpSpPr>
        <p:sp>
          <p:nvSpPr>
            <p:cNvPr id="25" name="Rectangle 25"/>
            <p:cNvSpPr/>
            <p:nvPr/>
          </p:nvSpPr>
          <p:spPr>
            <a:xfrm>
              <a:off x="7772400" y="1581150"/>
              <a:ext cx="3810000" cy="1866900"/>
            </a:xfrm>
            <a:prstGeom prst="roundRect">
              <a:avLst>
                <a:gd name="adj" fmla="val 7143"/>
              </a:avLst>
            </a:prstGeom>
            <a:solidFill>
              <a:schemeClr val="lt2"/>
            </a:solidFill>
            <a:ln w="9525">
              <a:solidFill>
                <a:schemeClr val="accent4"/>
              </a:solidFill>
            </a:ln>
          </p:spPr>
        </p:sp>
        <p:sp>
          <p:nvSpPr>
            <p:cNvPr id="26" name="Rectangle 26"/>
            <p:cNvSpPr/>
            <p:nvPr/>
          </p:nvSpPr>
          <p:spPr>
            <a:xfrm>
              <a:off x="7772400" y="1733550"/>
              <a:ext cx="47625" cy="1562100"/>
            </a:xfrm>
            <a:prstGeom prst="roundRect">
              <a:avLst>
                <a:gd name="adj" fmla="val 40000"/>
              </a:avLst>
            </a:prstGeom>
            <a:solidFill>
              <a:schemeClr val="accent2"/>
            </a:solidFill>
            <a:ln>
              <a:noFill/>
            </a:ln>
          </p:spPr>
        </p:sp>
        <p:sp>
          <p:nvSpPr>
            <p:cNvPr id="27" name="TextBox 27"/>
            <p:cNvSpPr txBox="1"/>
            <p:nvPr/>
          </p:nvSpPr>
          <p:spPr>
            <a:xfrm>
              <a:off x="7957185" y="1783556"/>
              <a:ext cx="2083206"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3 · Correlate + 2D softmax</a:t>
              </a:r>
            </a:p>
          </p:txBody>
        </p:sp>
        <p:sp>
          <p:nvSpPr>
            <p:cNvPr id="28" name="TextBox 28"/>
            <p:cNvSpPr txBox="1"/>
            <p:nvPr/>
          </p:nvSpPr>
          <p:spPr>
            <a:xfrm>
              <a:off x="7958138" y="2070497"/>
              <a:ext cx="3177259"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Each keypoint feature is convolved over the target</a:t>
              </a:r>
            </a:p>
          </p:txBody>
        </p:sp>
        <p:sp>
          <p:nvSpPr>
            <p:cNvPr id="29" name="TextBox 29"/>
            <p:cNvSpPr txBox="1"/>
            <p:nvPr/>
          </p:nvSpPr>
          <p:spPr>
            <a:xfrm>
              <a:off x="7958138" y="2241947"/>
              <a:ext cx="635912"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features,</a:t>
              </a:r>
            </a:p>
          </p:txBody>
        </p:sp>
        <p:sp>
          <p:nvSpPr>
            <p:cNvPr id="30" name="TextBox 30"/>
            <p:cNvSpPr txBox="1"/>
            <p:nvPr/>
          </p:nvSpPr>
          <p:spPr>
            <a:xfrm>
              <a:off x="7958138" y="2470547"/>
              <a:ext cx="3063633"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then a 2D softmax turns it into a correspondence</a:t>
              </a:r>
            </a:p>
          </p:txBody>
        </p:sp>
        <p:sp>
          <p:nvSpPr>
            <p:cNvPr id="31" name="TextBox 31"/>
            <p:cNvSpPr txBox="1"/>
            <p:nvPr/>
          </p:nvSpPr>
          <p:spPr>
            <a:xfrm>
              <a:off x="7958138" y="2641997"/>
              <a:ext cx="1021867" cy="183356"/>
            </a:xfrm>
            <a:prstGeom prst="rect">
              <a:avLst/>
            </a:prstGeom>
            <a:noFill/>
            <a:ln>
              <a:noFill/>
            </a:ln>
          </p:spPr>
          <p:txBody>
            <a:bodyPr wrap="none" lIns="0" tIns="0" rIns="0" bIns="0" anchor="t" anchorCtr="0">
              <a:spAutoFit/>
            </a:bodyPr>
            <a:lstStyle/>
            <a:p>
              <a:pPr algn="l"/>
              <a:r>
                <a:rPr lang="en-US" sz="940" dirty="0">
                  <a:solidFill>
                    <a:schemeClr val="dk1"/>
                  </a:solidFill>
                  <a:latin typeface="+mn-lt"/>
                  <a:ea typeface="+mn-ea"/>
                  <a:cs typeface="+mn-cs"/>
                </a:rPr>
                <a:t>probability map.</a:t>
              </a:r>
            </a:p>
          </p:txBody>
        </p:sp>
      </p:grpSp>
      <p:sp>
        <p:nvSpPr>
          <p:cNvPr id="33" name="Line 33"/>
          <p:cNvSpPr/>
          <p:nvPr/>
        </p:nvSpPr>
        <p:spPr>
          <a:xfrm>
            <a:off x="3962400" y="2514600"/>
            <a:ext cx="209550" cy="9525"/>
          </a:xfrm>
          <a:custGeom>
            <a:avLst/>
            <a:gdLst/>
            <a:ahLst/>
            <a:cxnLst/>
            <a:rect l="l" t="t" r="r" b="b"/>
            <a:pathLst>
              <a:path w="209550" h="9525">
                <a:moveTo>
                  <a:pt x="0" y="0"/>
                </a:moveTo>
                <a:lnTo>
                  <a:pt x="209550" y="0"/>
                </a:lnTo>
              </a:path>
            </a:pathLst>
          </a:custGeom>
          <a:noFill/>
          <a:ln w="19050" cap="rnd">
            <a:solidFill>
              <a:srgbClr val="6E82A6"/>
            </a:solidFill>
          </a:ln>
        </p:spPr>
        <p:txBody>
          <a:bodyPr/>
          <a:p/>
        </p:txBody>
      </p:sp>
      <p:sp>
        <p:nvSpPr>
          <p:cNvPr id="34" name="Polyline 34"/>
          <p:cNvSpPr/>
          <p:nvPr/>
        </p:nvSpPr>
        <p:spPr>
          <a:xfrm>
            <a:off x="4095750" y="2466975"/>
            <a:ext cx="95250" cy="95250"/>
          </a:xfrm>
          <a:custGeom>
            <a:avLst/>
            <a:gdLst/>
            <a:ahLst/>
            <a:cxnLst/>
            <a:rect l="l" t="t" r="r" b="b"/>
            <a:pathLst>
              <a:path w="95250" h="95250">
                <a:moveTo>
                  <a:pt x="0" y="0"/>
                </a:moveTo>
                <a:lnTo>
                  <a:pt x="95250" y="47625"/>
                </a:lnTo>
                <a:lnTo>
                  <a:pt x="0" y="95250"/>
                </a:lnTo>
              </a:path>
            </a:pathLst>
          </a:custGeom>
          <a:noFill/>
          <a:ln w="9525" cap="rnd">
            <a:solidFill>
              <a:srgbClr val="6E82A6"/>
            </a:solidFill>
            <a:round/>
          </a:ln>
        </p:spPr>
        <p:txBody>
          <a:bodyPr/>
          <a:p/>
        </p:txBody>
      </p:sp>
      <p:sp>
        <p:nvSpPr>
          <p:cNvPr id="35" name="Line 35"/>
          <p:cNvSpPr/>
          <p:nvPr/>
        </p:nvSpPr>
        <p:spPr>
          <a:xfrm>
            <a:off x="7543800" y="2514600"/>
            <a:ext cx="209550" cy="9525"/>
          </a:xfrm>
          <a:custGeom>
            <a:avLst/>
            <a:gdLst/>
            <a:ahLst/>
            <a:cxnLst/>
            <a:rect l="l" t="t" r="r" b="b"/>
            <a:pathLst>
              <a:path w="209550" h="9525">
                <a:moveTo>
                  <a:pt x="0" y="0"/>
                </a:moveTo>
                <a:lnTo>
                  <a:pt x="209550" y="0"/>
                </a:lnTo>
              </a:path>
            </a:pathLst>
          </a:custGeom>
          <a:noFill/>
          <a:ln w="19050" cap="rnd">
            <a:solidFill>
              <a:srgbClr val="6E82A6"/>
            </a:solidFill>
          </a:ln>
        </p:spPr>
        <p:txBody>
          <a:bodyPr/>
          <a:p/>
        </p:txBody>
      </p:sp>
      <p:sp>
        <p:nvSpPr>
          <p:cNvPr id="36" name="Polyline 36"/>
          <p:cNvSpPr/>
          <p:nvPr/>
        </p:nvSpPr>
        <p:spPr>
          <a:xfrm>
            <a:off x="7677150" y="2466975"/>
            <a:ext cx="95250" cy="95250"/>
          </a:xfrm>
          <a:custGeom>
            <a:avLst/>
            <a:gdLst/>
            <a:ahLst/>
            <a:cxnLst/>
            <a:rect l="l" t="t" r="r" b="b"/>
            <a:pathLst>
              <a:path w="95250" h="95250">
                <a:moveTo>
                  <a:pt x="0" y="0"/>
                </a:moveTo>
                <a:lnTo>
                  <a:pt x="95250" y="47625"/>
                </a:lnTo>
                <a:lnTo>
                  <a:pt x="0" y="95250"/>
                </a:lnTo>
              </a:path>
            </a:pathLst>
          </a:custGeom>
          <a:noFill/>
          <a:ln w="9525" cap="rnd">
            <a:solidFill>
              <a:srgbClr val="6E82A6"/>
            </a:solidFill>
            <a:round/>
          </a:ln>
        </p:spPr>
        <p:txBody>
          <a:bodyPr/>
          <a:p/>
        </p:txBody>
      </p:sp>
      <p:grpSp>
        <p:nvGrpSpPr>
          <p:cNvPr id="48" name="Group 48"/>
          <p:cNvGrpSpPr/>
          <p:nvPr/>
        </p:nvGrpSpPr>
        <p:grpSpPr>
          <a:xfrm>
            <a:off x="609600" y="3695700"/>
            <a:ext cx="11310892" cy="2114550"/>
            <a:chOff x="609600" y="3695700"/>
            <a:chExt cx="11310892" cy="2114550"/>
          </a:xfrm>
        </p:grpSpPr>
        <p:sp>
          <p:nvSpPr>
            <p:cNvPr id="37" name="Rectangle 37"/>
            <p:cNvSpPr/>
            <p:nvPr/>
          </p:nvSpPr>
          <p:spPr>
            <a:xfrm>
              <a:off x="609600" y="3695700"/>
              <a:ext cx="10972800" cy="2114550"/>
            </a:xfrm>
            <a:prstGeom prst="roundRect">
              <a:avLst>
                <a:gd name="adj" fmla="val 6306"/>
              </a:avLst>
            </a:prstGeom>
            <a:solidFill>
              <a:schemeClr val="accent6"/>
            </a:solidFill>
            <a:ln w="9525">
              <a:solidFill>
                <a:schemeClr val="accent4"/>
              </a:solidFill>
            </a:ln>
          </p:spPr>
        </p:sp>
        <p:sp>
          <p:nvSpPr>
            <p:cNvPr id="38" name="TextBox 38"/>
            <p:cNvSpPr txBox="1"/>
            <p:nvPr/>
          </p:nvSpPr>
          <p:spPr>
            <a:xfrm>
              <a:off x="851154" y="3909060"/>
              <a:ext cx="3816155" cy="234696"/>
            </a:xfrm>
            <a:prstGeom prst="rect">
              <a:avLst/>
            </a:prstGeom>
            <a:noFill/>
            <a:ln>
              <a:noFill/>
            </a:ln>
          </p:spPr>
          <p:txBody>
            <a:bodyPr wrap="none" lIns="0" tIns="0" rIns="0" bIns="0" anchor="t" anchorCtr="0">
              <a:spAutoFit/>
            </a:bodyPr>
            <a:lstStyle/>
            <a:p>
              <a:pPr algn="l"/>
              <a:r>
                <a:rPr lang="en-US" sz="1200" b="1" dirty="0">
                  <a:solidFill>
                    <a:srgbClr val="FBBF24"/>
                  </a:solidFill>
                  <a:latin typeface="+mn-lt"/>
                  <a:ea typeface="+mn-ea"/>
                  <a:cs typeface="+mn-cs"/>
                </a:rPr>
                <a:t>Training objective — Neural Reprojection Error</a:t>
              </a:r>
            </a:p>
          </p:txBody>
        </p:sp>
        <p:sp>
          <p:nvSpPr>
            <p:cNvPr id="39" name="Rectangle 39"/>
            <p:cNvSpPr/>
            <p:nvPr/>
          </p:nvSpPr>
          <p:spPr>
            <a:xfrm>
              <a:off x="857250" y="4248150"/>
              <a:ext cx="10401300" cy="571500"/>
            </a:xfrm>
            <a:prstGeom prst="roundRect">
              <a:avLst>
                <a:gd name="adj" fmla="val 16667"/>
              </a:avLst>
            </a:prstGeom>
            <a:solidFill>
              <a:schemeClr val="lt1"/>
            </a:solidFill>
            <a:ln w="9525">
              <a:solidFill>
                <a:schemeClr val="accent4"/>
              </a:solidFill>
            </a:ln>
          </p:spPr>
        </p:sp>
        <p:sp>
          <p:nvSpPr>
            <p:cNvPr id="40" name="TextBox 40"/>
            <p:cNvSpPr txBox="1"/>
            <p:nvPr/>
          </p:nvSpPr>
          <p:spPr>
            <a:xfrm>
              <a:off x="1040130" y="4438650"/>
              <a:ext cx="704391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Consolas"/>
                  <a:ea typeface="Consolas"/>
                  <a:cs typeface="Consolas"/>
                </a:rPr>
                <a:t>loss = sum over keypoints of ( - log p( true reprojected location ) )</a:t>
              </a:r>
            </a:p>
          </p:txBody>
        </p:sp>
        <p:sp>
          <p:nvSpPr>
            <p:cNvPr id="41" name="Ellipse 41"/>
            <p:cNvSpPr/>
            <p:nvPr/>
          </p:nvSpPr>
          <p:spPr>
            <a:xfrm>
              <a:off x="866775" y="5162550"/>
              <a:ext cx="114300" cy="114300"/>
            </a:xfrm>
            <a:prstGeom prst="ellipse">
              <a:avLst/>
            </a:prstGeom>
            <a:solidFill>
              <a:schemeClr val="accent2"/>
            </a:solidFill>
            <a:ln>
              <a:noFill/>
            </a:ln>
          </p:spPr>
        </p:sp>
        <p:sp>
          <p:nvSpPr>
            <p:cNvPr id="42" name="TextBox 42"/>
            <p:cNvSpPr txBox="1"/>
            <p:nvPr/>
          </p:nvSpPr>
          <p:spPr>
            <a:xfrm>
              <a:off x="1061656" y="5158026"/>
              <a:ext cx="1799052"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No covisibility assumption</a:t>
              </a:r>
            </a:p>
          </p:txBody>
        </p:sp>
        <p:sp>
          <p:nvSpPr>
            <p:cNvPr id="43" name="Ellipse 43"/>
            <p:cNvSpPr/>
            <p:nvPr/>
          </p:nvSpPr>
          <p:spPr>
            <a:xfrm>
              <a:off x="4486275" y="5162550"/>
              <a:ext cx="114300" cy="114300"/>
            </a:xfrm>
            <a:prstGeom prst="ellipse">
              <a:avLst/>
            </a:prstGeom>
            <a:solidFill>
              <a:schemeClr val="accent1"/>
            </a:solidFill>
            <a:ln>
              <a:noFill/>
            </a:ln>
          </p:spPr>
        </p:sp>
        <p:sp>
          <p:nvSpPr>
            <p:cNvPr id="44" name="TextBox 44"/>
            <p:cNvSpPr txBox="1"/>
            <p:nvPr/>
          </p:nvSpPr>
          <p:spPr>
            <a:xfrm>
              <a:off x="4681156" y="5158026"/>
              <a:ext cx="2213470"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No visible / hidden labels needed</a:t>
              </a:r>
            </a:p>
          </p:txBody>
        </p:sp>
        <p:sp>
          <p:nvSpPr>
            <p:cNvPr id="45" name="Ellipse 45"/>
            <p:cNvSpPr/>
            <p:nvPr/>
          </p:nvSpPr>
          <p:spPr>
            <a:xfrm>
              <a:off x="8105775" y="5162550"/>
              <a:ext cx="114300" cy="114300"/>
            </a:xfrm>
            <a:prstGeom prst="ellipse">
              <a:avLst/>
            </a:prstGeom>
            <a:solidFill>
              <a:srgbClr val="A78BFA"/>
            </a:solidFill>
            <a:ln>
              <a:noFill/>
            </a:ln>
          </p:spPr>
        </p:sp>
        <p:sp>
          <p:nvSpPr>
            <p:cNvPr id="46" name="TextBox 46"/>
            <p:cNvSpPr txBox="1"/>
            <p:nvPr/>
          </p:nvSpPr>
          <p:spPr>
            <a:xfrm>
              <a:off x="8300656" y="5158026"/>
              <a:ext cx="3619836"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Supervises visible, occluded and out-of-frame alike</a:t>
              </a:r>
            </a:p>
          </p:txBody>
        </p:sp>
        <p:sp>
          <p:nvSpPr>
            <p:cNvPr id="47" name="TextBox 47"/>
            <p:cNvSpPr txBox="1"/>
            <p:nvPr/>
          </p:nvSpPr>
          <p:spPr>
            <a:xfrm>
              <a:off x="852297" y="5514499"/>
              <a:ext cx="5825481" cy="190690"/>
            </a:xfrm>
            <a:prstGeom prst="rect">
              <a:avLst/>
            </a:prstGeom>
            <a:noFill/>
            <a:ln>
              <a:noFill/>
            </a:ln>
          </p:spPr>
          <p:txBody>
            <a:bodyPr wrap="none" lIns="0" tIns="0" rIns="0" bIns="0" anchor="t" anchorCtr="0">
              <a:spAutoFit/>
            </a:bodyPr>
            <a:lstStyle/>
            <a:p>
              <a:pPr algn="l"/>
              <a:r>
                <a:rPr lang="en-US" sz="980" i="1" dirty="0">
                  <a:solidFill>
                    <a:schemeClr val="dk2"/>
                  </a:solidFill>
                  <a:latin typeface="+mn-lt"/>
                  <a:ea typeface="+mn-ea"/>
                  <a:cs typeface="+mn-cs"/>
                </a:rPr>
                <a:t>The negative log-likelihood of the ground-truth reprojection trains hallucination directly.</a:t>
              </a:r>
            </a:p>
          </p:txBody>
        </p:sp>
      </p:grpSp>
      <p:sp>
        <p:nvSpPr>
          <p:cNvPr id="49" name="cue_s05_c1_how_neurhal_works_siamese_convolutio" title="cue_s05_c1_how_neurhal_works_siamese_convolutio" descr="cue_s05_c1_how_neurhal_works_siamese_convolutio Here is how NeurHal works. A siamese convolutional backbone turns both images into dense descriptor maps. To allow correspondents outside the target's field of view, the target map is padded with a learnable vector, initializing descriptors beyond the image bo"/>
          <p:cNvSpPr/>
          <p:nvPr/>
        </p:nvSpPr>
        <p:spPr>
          <a:xfrm>
            <a:off x="609600" y="1581454"/>
            <a:ext cx="33528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5_c2_cross_attention_backbone_positional" title="cue_s05_c2_cross_attention_backbone_positional" descr="cue_s05_c2_cross_attention_backbone_positional A cross attention backbone with positional encoding then lets source and target descriptors exchange information, which is what enables the network to hallucinate peaked distributions for occluded and out of frame points."/>
          <p:cNvSpPr/>
          <p:nvPr/>
        </p:nvSpPr>
        <p:spPr>
          <a:xfrm>
            <a:off x="4191609" y="1581454"/>
            <a:ext cx="33528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5_c3_keypoint_feature_convolved_over_targ" title="cue_s05_c3_keypoint_feature_convolved_over_targ" descr="cue_s05_c3_keypoint_feature_convolved_over_targ Each keypoint's feature is convolved over the target features and passed through a two D softmax to produce a correspondence map."/>
          <p:cNvSpPr/>
          <p:nvPr/>
        </p:nvSpPr>
        <p:spPr>
          <a:xfrm>
            <a:off x="7772399" y="1581454"/>
            <a:ext cx="3810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5_c4_minimizes_sum_neural_reprojection_er" title="cue_s05_c4_minimizes_sum_neural_reprojection_er" descr="cue_s05_c4_minimizes_sum_neural_reprojection_er Training minimizes a sum of Neural Reprojection Error terms, the negative log likelihood of the true reprojected location, with no covisibility assumption and no need to label points as visible or hidden."/>
          <p:cNvSpPr/>
          <p:nvPr/>
        </p:nvSpPr>
        <p:spPr>
          <a:xfrm>
            <a:off x="609600" y="3695776"/>
            <a:ext cx="10972800" cy="21143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chemeClr val="accent1"/>
            </a:solidFill>
            <a:ln>
              <a:noFill/>
            </a:ln>
          </p:spPr>
        </p:sp>
      </p:grpSp>
      <p:sp>
        <p:nvSpPr>
          <p:cNvPr id="5" name="TextBox 5"/>
          <p:cNvSpPr txBox="1"/>
          <p:nvPr/>
        </p:nvSpPr>
        <p:spPr>
          <a:xfrm>
            <a:off x="604647" y="485299"/>
            <a:ext cx="1734068" cy="190690"/>
          </a:xfrm>
          <a:prstGeom prst="rect">
            <a:avLst/>
          </a:prstGeom>
          <a:noFill/>
          <a:ln>
            <a:noFill/>
          </a:ln>
        </p:spPr>
        <p:txBody>
          <a:bodyPr wrap="none" lIns="0" tIns="0" rIns="0" bIns="0" anchor="t" anchorCtr="0">
            <a:spAutoFit/>
          </a:bodyPr>
          <a:lstStyle/>
          <a:p>
            <a:pPr algn="l"/>
            <a:r>
              <a:rPr lang="en-US" sz="980" b="1" spc="225" dirty="0">
                <a:solidFill>
                  <a:schemeClr val="accent1"/>
                </a:solidFill>
                <a:latin typeface="+mn-lt"/>
                <a:ea typeface="+mn-ea"/>
                <a:cs typeface="+mn-cs"/>
              </a:rPr>
              <a:t>EVALUATION SETUP</a:t>
            </a:r>
          </a:p>
        </p:txBody>
      </p:sp>
      <p:sp>
        <p:nvSpPr>
          <p:cNvPr id="6" name="TextBox 6"/>
          <p:cNvSpPr txBox="1"/>
          <p:nvPr/>
        </p:nvSpPr>
        <p:spPr>
          <a:xfrm>
            <a:off x="597027" y="723424"/>
            <a:ext cx="5786906"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j-lt"/>
                <a:ea typeface="+mj-ea"/>
                <a:cs typeface="+mj-cs"/>
              </a:rPr>
              <a:t>Indoors, Outdoors, and Unseen</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05 / 10</a:t>
            </a:r>
          </a:p>
        </p:txBody>
      </p:sp>
      <p:grpSp>
        <p:nvGrpSpPr>
          <p:cNvPr id="12" name="Group 12"/>
          <p:cNvGrpSpPr/>
          <p:nvPr/>
        </p:nvGrpSpPr>
        <p:grpSpPr>
          <a:xfrm>
            <a:off x="609600" y="1428750"/>
            <a:ext cx="10972800" cy="552450"/>
            <a:chOff x="609600" y="1428750"/>
            <a:chExt cx="10972800" cy="552450"/>
          </a:xfrm>
        </p:grpSpPr>
        <p:sp>
          <p:nvSpPr>
            <p:cNvPr id="9" name="Rectangle 9"/>
            <p:cNvSpPr/>
            <p:nvPr/>
          </p:nvSpPr>
          <p:spPr>
            <a:xfrm>
              <a:off x="609600" y="1428750"/>
              <a:ext cx="10972800" cy="552450"/>
            </a:xfrm>
            <a:prstGeom prst="roundRect">
              <a:avLst>
                <a:gd name="adj" fmla="val 24138"/>
              </a:avLst>
            </a:prstGeom>
            <a:solidFill>
              <a:schemeClr val="lt2"/>
            </a:solidFill>
            <a:ln w="9525">
              <a:solidFill>
                <a:schemeClr val="accent4"/>
              </a:solidFill>
            </a:ln>
          </p:spPr>
        </p:sp>
        <p:sp>
          <p:nvSpPr>
            <p:cNvPr id="10" name="Rectangle 10"/>
            <p:cNvSpPr/>
            <p:nvPr/>
          </p:nvSpPr>
          <p:spPr>
            <a:xfrm>
              <a:off x="609600" y="1581150"/>
              <a:ext cx="47625" cy="247650"/>
            </a:xfrm>
            <a:prstGeom prst="roundRect">
              <a:avLst>
                <a:gd name="adj" fmla="val 40000"/>
              </a:avLst>
            </a:prstGeom>
            <a:solidFill>
              <a:schemeClr val="accent1"/>
            </a:solidFill>
            <a:ln>
              <a:noFill/>
            </a:ln>
          </p:spPr>
        </p:sp>
        <p:sp>
          <p:nvSpPr>
            <p:cNvPr id="11" name="TextBox 11"/>
            <p:cNvSpPr txBox="1"/>
            <p:nvPr/>
          </p:nvSpPr>
          <p:spPr>
            <a:xfrm>
              <a:off x="850773" y="1634014"/>
              <a:ext cx="895444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NeurHal is evaluated across both indoor and outdoor domains — with a downstream camera-pose test.</a:t>
              </a:r>
            </a:p>
          </p:txBody>
        </p:sp>
      </p:grpSp>
      <p:grpSp>
        <p:nvGrpSpPr>
          <p:cNvPr id="33" name="Group 33"/>
          <p:cNvGrpSpPr/>
          <p:nvPr/>
        </p:nvGrpSpPr>
        <p:grpSpPr>
          <a:xfrm>
            <a:off x="609600" y="2190750"/>
            <a:ext cx="5334000" cy="2857500"/>
            <a:chOff x="609600" y="2190750"/>
            <a:chExt cx="5334000" cy="2857500"/>
          </a:xfrm>
        </p:grpSpPr>
        <p:sp>
          <p:nvSpPr>
            <p:cNvPr id="13" name="Rectangle 13"/>
            <p:cNvSpPr/>
            <p:nvPr/>
          </p:nvSpPr>
          <p:spPr>
            <a:xfrm>
              <a:off x="609600" y="2190750"/>
              <a:ext cx="5334000" cy="2857500"/>
            </a:xfrm>
            <a:prstGeom prst="roundRect">
              <a:avLst>
                <a:gd name="adj" fmla="val 4667"/>
              </a:avLst>
            </a:prstGeom>
            <a:solidFill>
              <a:schemeClr val="lt2"/>
            </a:solidFill>
            <a:ln w="9525">
              <a:solidFill>
                <a:schemeClr val="accent4"/>
              </a:solidFill>
            </a:ln>
          </p:spPr>
        </p:sp>
        <p:sp>
          <p:nvSpPr>
            <p:cNvPr id="14" name="TextBox 14"/>
            <p:cNvSpPr txBox="1"/>
            <p:nvPr/>
          </p:nvSpPr>
          <p:spPr>
            <a:xfrm>
              <a:off x="851154" y="2404110"/>
              <a:ext cx="317309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Trained on one set, tested on another</a:t>
              </a:r>
            </a:p>
          </p:txBody>
        </p:sp>
        <p:sp>
          <p:nvSpPr>
            <p:cNvPr id="15" name="TextBox 15"/>
            <p:cNvSpPr txBox="1"/>
            <p:nvPr/>
          </p:nvSpPr>
          <p:spPr>
            <a:xfrm>
              <a:off x="2279342" y="2752249"/>
              <a:ext cx="356216"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train</a:t>
              </a:r>
            </a:p>
          </p:txBody>
        </p:sp>
        <p:sp>
          <p:nvSpPr>
            <p:cNvPr id="16" name="TextBox 16"/>
            <p:cNvSpPr txBox="1"/>
            <p:nvPr/>
          </p:nvSpPr>
          <p:spPr>
            <a:xfrm>
              <a:off x="4147971" y="2752249"/>
              <a:ext cx="314659"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test</a:t>
              </a:r>
            </a:p>
          </p:txBody>
        </p:sp>
        <p:sp>
          <p:nvSpPr>
            <p:cNvPr id="17" name="Rectangle 17"/>
            <p:cNvSpPr/>
            <p:nvPr/>
          </p:nvSpPr>
          <p:spPr>
            <a:xfrm>
              <a:off x="857250" y="3067050"/>
              <a:ext cx="4457700" cy="685800"/>
            </a:xfrm>
            <a:prstGeom prst="roundRect">
              <a:avLst>
                <a:gd name="adj" fmla="val 13889"/>
              </a:avLst>
            </a:prstGeom>
            <a:solidFill>
              <a:schemeClr val="accent6"/>
            </a:solidFill>
            <a:ln w="9525">
              <a:solidFill>
                <a:schemeClr val="accent2"/>
              </a:solidFill>
            </a:ln>
          </p:spPr>
        </p:sp>
        <p:sp>
          <p:nvSpPr>
            <p:cNvPr id="18" name="TextBox 18"/>
            <p:cNvSpPr txBox="1"/>
            <p:nvPr/>
          </p:nvSpPr>
          <p:spPr>
            <a:xfrm>
              <a:off x="1042797" y="3361849"/>
              <a:ext cx="568205"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INDOOR</a:t>
              </a:r>
            </a:p>
          </p:txBody>
        </p:sp>
        <p:sp>
          <p:nvSpPr>
            <p:cNvPr id="19" name="Rectangle 19"/>
            <p:cNvSpPr/>
            <p:nvPr/>
          </p:nvSpPr>
          <p:spPr>
            <a:xfrm>
              <a:off x="1924050" y="3238500"/>
              <a:ext cx="1066800" cy="342900"/>
            </a:xfrm>
            <a:prstGeom prst="roundRect">
              <a:avLst>
                <a:gd name="adj" fmla="val 22222"/>
              </a:avLst>
            </a:prstGeom>
            <a:solidFill>
              <a:schemeClr val="lt1"/>
            </a:solidFill>
            <a:ln w="9525">
              <a:solidFill>
                <a:schemeClr val="accent4"/>
              </a:solidFill>
            </a:ln>
          </p:spPr>
        </p:sp>
        <p:sp>
          <p:nvSpPr>
            <p:cNvPr id="20" name="TextBox 20"/>
            <p:cNvSpPr txBox="1"/>
            <p:nvPr/>
          </p:nvSpPr>
          <p:spPr>
            <a:xfrm>
              <a:off x="2161790" y="3344228"/>
              <a:ext cx="591321"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ScanNet</a:t>
              </a:r>
            </a:p>
          </p:txBody>
        </p:sp>
        <p:sp>
          <p:nvSpPr>
            <p:cNvPr id="21" name="Line 21"/>
            <p:cNvSpPr/>
            <p:nvPr/>
          </p:nvSpPr>
          <p:spPr>
            <a:xfrm>
              <a:off x="3028950" y="3409950"/>
              <a:ext cx="419100" cy="9525"/>
            </a:xfrm>
            <a:custGeom>
              <a:avLst/>
              <a:gdLst/>
              <a:ahLst/>
              <a:cxnLst/>
              <a:rect l="l" t="t" r="r" b="b"/>
              <a:pathLst>
                <a:path w="419100" h="9525">
                  <a:moveTo>
                    <a:pt x="0" y="0"/>
                  </a:moveTo>
                  <a:lnTo>
                    <a:pt x="419100" y="0"/>
                  </a:lnTo>
                </a:path>
              </a:pathLst>
            </a:custGeom>
            <a:noFill/>
            <a:ln w="19050" cap="rnd">
              <a:solidFill>
                <a:srgbClr val="6E82A6"/>
              </a:solidFill>
            </a:ln>
          </p:spPr>
        </p:sp>
        <p:sp>
          <p:nvSpPr>
            <p:cNvPr id="22" name="Polyline 22"/>
            <p:cNvSpPr/>
            <p:nvPr/>
          </p:nvSpPr>
          <p:spPr>
            <a:xfrm>
              <a:off x="3371850" y="3362325"/>
              <a:ext cx="95250" cy="95250"/>
            </a:xfrm>
            <a:custGeom>
              <a:avLst/>
              <a:gdLst/>
              <a:ahLst/>
              <a:cxnLst/>
              <a:rect l="l" t="t" r="r" b="b"/>
              <a:pathLst>
                <a:path w="95250" h="95250">
                  <a:moveTo>
                    <a:pt x="0" y="0"/>
                  </a:moveTo>
                  <a:lnTo>
                    <a:pt x="95250" y="47625"/>
                  </a:lnTo>
                  <a:lnTo>
                    <a:pt x="0" y="95250"/>
                  </a:lnTo>
                </a:path>
              </a:pathLst>
            </a:custGeom>
            <a:noFill/>
            <a:ln w="9525" cap="rnd">
              <a:solidFill>
                <a:srgbClr val="6E82A6"/>
              </a:solidFill>
              <a:round/>
            </a:ln>
          </p:spPr>
        </p:sp>
        <p:sp>
          <p:nvSpPr>
            <p:cNvPr id="23" name="Rectangle 23"/>
            <p:cNvSpPr/>
            <p:nvPr/>
          </p:nvSpPr>
          <p:spPr>
            <a:xfrm>
              <a:off x="3505200" y="3238500"/>
              <a:ext cx="1619250" cy="342900"/>
            </a:xfrm>
            <a:prstGeom prst="roundRect">
              <a:avLst>
                <a:gd name="adj" fmla="val 22222"/>
              </a:avLst>
            </a:prstGeom>
            <a:solidFill>
              <a:schemeClr val="lt1"/>
            </a:solidFill>
            <a:ln w="9525">
              <a:solidFill>
                <a:schemeClr val="accent4"/>
              </a:solidFill>
            </a:ln>
          </p:spPr>
        </p:sp>
        <p:sp>
          <p:nvSpPr>
            <p:cNvPr id="24" name="TextBox 24"/>
            <p:cNvSpPr txBox="1"/>
            <p:nvPr/>
          </p:nvSpPr>
          <p:spPr>
            <a:xfrm>
              <a:off x="3950836" y="3344228"/>
              <a:ext cx="727978"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NYU Depth</a:t>
              </a:r>
            </a:p>
          </p:txBody>
        </p:sp>
        <p:sp>
          <p:nvSpPr>
            <p:cNvPr id="25" name="Rectangle 25"/>
            <p:cNvSpPr/>
            <p:nvPr/>
          </p:nvSpPr>
          <p:spPr>
            <a:xfrm>
              <a:off x="857250" y="3905250"/>
              <a:ext cx="4457700" cy="685800"/>
            </a:xfrm>
            <a:prstGeom prst="roundRect">
              <a:avLst>
                <a:gd name="adj" fmla="val 13889"/>
              </a:avLst>
            </a:prstGeom>
            <a:solidFill>
              <a:schemeClr val="accent6"/>
            </a:solidFill>
            <a:ln w="9525">
              <a:solidFill>
                <a:srgbClr val="FBBF24"/>
              </a:solidFill>
            </a:ln>
          </p:spPr>
        </p:sp>
        <p:sp>
          <p:nvSpPr>
            <p:cNvPr id="26" name="TextBox 26"/>
            <p:cNvSpPr txBox="1"/>
            <p:nvPr/>
          </p:nvSpPr>
          <p:spPr>
            <a:xfrm>
              <a:off x="1042797" y="4200049"/>
              <a:ext cx="725238" cy="190690"/>
            </a:xfrm>
            <a:prstGeom prst="rect">
              <a:avLst/>
            </a:prstGeom>
            <a:noFill/>
            <a:ln>
              <a:noFill/>
            </a:ln>
          </p:spPr>
          <p:txBody>
            <a:bodyPr wrap="none" lIns="0" tIns="0" rIns="0" bIns="0" anchor="t" anchorCtr="0">
              <a:spAutoFit/>
            </a:bodyPr>
            <a:lstStyle/>
            <a:p>
              <a:pPr algn="l"/>
              <a:r>
                <a:rPr lang="en-US" sz="980" b="1" spc="75" dirty="0">
                  <a:solidFill>
                    <a:srgbClr val="FBBF24"/>
                  </a:solidFill>
                  <a:latin typeface="+mn-lt"/>
                  <a:ea typeface="+mn-ea"/>
                  <a:cs typeface="+mn-cs"/>
                </a:rPr>
                <a:t>OUTDOOR</a:t>
              </a:r>
            </a:p>
          </p:txBody>
        </p:sp>
        <p:sp>
          <p:nvSpPr>
            <p:cNvPr id="27" name="Rectangle 27"/>
            <p:cNvSpPr/>
            <p:nvPr/>
          </p:nvSpPr>
          <p:spPr>
            <a:xfrm>
              <a:off x="1924050" y="4076700"/>
              <a:ext cx="1066800" cy="342900"/>
            </a:xfrm>
            <a:prstGeom prst="roundRect">
              <a:avLst>
                <a:gd name="adj" fmla="val 22222"/>
              </a:avLst>
            </a:prstGeom>
            <a:solidFill>
              <a:schemeClr val="lt1"/>
            </a:solidFill>
            <a:ln w="9525">
              <a:solidFill>
                <a:schemeClr val="accent4"/>
              </a:solidFill>
            </a:ln>
          </p:spPr>
        </p:sp>
        <p:sp>
          <p:nvSpPr>
            <p:cNvPr id="28" name="TextBox 28"/>
            <p:cNvSpPr txBox="1"/>
            <p:nvPr/>
          </p:nvSpPr>
          <p:spPr>
            <a:xfrm>
              <a:off x="2065131" y="4182428"/>
              <a:ext cx="784638"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MegaDepth</a:t>
              </a:r>
            </a:p>
          </p:txBody>
        </p:sp>
        <p:sp>
          <p:nvSpPr>
            <p:cNvPr id="29" name="Line 29"/>
            <p:cNvSpPr/>
            <p:nvPr/>
          </p:nvSpPr>
          <p:spPr>
            <a:xfrm>
              <a:off x="3028950" y="4248150"/>
              <a:ext cx="419100" cy="9525"/>
            </a:xfrm>
            <a:custGeom>
              <a:avLst/>
              <a:gdLst/>
              <a:ahLst/>
              <a:cxnLst/>
              <a:rect l="l" t="t" r="r" b="b"/>
              <a:pathLst>
                <a:path w="419100" h="9525">
                  <a:moveTo>
                    <a:pt x="0" y="0"/>
                  </a:moveTo>
                  <a:lnTo>
                    <a:pt x="419100" y="0"/>
                  </a:lnTo>
                </a:path>
              </a:pathLst>
            </a:custGeom>
            <a:noFill/>
            <a:ln w="19050" cap="rnd">
              <a:solidFill>
                <a:srgbClr val="6E82A6"/>
              </a:solidFill>
            </a:ln>
          </p:spPr>
        </p:sp>
        <p:sp>
          <p:nvSpPr>
            <p:cNvPr id="30" name="Polyline 30"/>
            <p:cNvSpPr/>
            <p:nvPr/>
          </p:nvSpPr>
          <p:spPr>
            <a:xfrm>
              <a:off x="3371850" y="4200525"/>
              <a:ext cx="95250" cy="95250"/>
            </a:xfrm>
            <a:custGeom>
              <a:avLst/>
              <a:gdLst/>
              <a:ahLst/>
              <a:cxnLst/>
              <a:rect l="l" t="t" r="r" b="b"/>
              <a:pathLst>
                <a:path w="95250" h="95250">
                  <a:moveTo>
                    <a:pt x="0" y="0"/>
                  </a:moveTo>
                  <a:lnTo>
                    <a:pt x="95250" y="47625"/>
                  </a:lnTo>
                  <a:lnTo>
                    <a:pt x="0" y="95250"/>
                  </a:lnTo>
                </a:path>
              </a:pathLst>
            </a:custGeom>
            <a:noFill/>
            <a:ln w="9525" cap="rnd">
              <a:solidFill>
                <a:srgbClr val="6E82A6"/>
              </a:solidFill>
              <a:round/>
            </a:ln>
          </p:spPr>
        </p:sp>
        <p:sp>
          <p:nvSpPr>
            <p:cNvPr id="31" name="Rectangle 31"/>
            <p:cNvSpPr/>
            <p:nvPr/>
          </p:nvSpPr>
          <p:spPr>
            <a:xfrm>
              <a:off x="3505200" y="4076700"/>
              <a:ext cx="1619250" cy="342900"/>
            </a:xfrm>
            <a:prstGeom prst="roundRect">
              <a:avLst>
                <a:gd name="adj" fmla="val 22222"/>
              </a:avLst>
            </a:prstGeom>
            <a:solidFill>
              <a:schemeClr val="lt1"/>
            </a:solidFill>
            <a:ln w="9525">
              <a:solidFill>
                <a:schemeClr val="accent4"/>
              </a:solidFill>
            </a:ln>
          </p:spPr>
        </p:sp>
        <p:sp>
          <p:nvSpPr>
            <p:cNvPr id="32" name="TextBox 32"/>
            <p:cNvSpPr txBox="1"/>
            <p:nvPr/>
          </p:nvSpPr>
          <p:spPr>
            <a:xfrm>
              <a:off x="4070341" y="4182428"/>
              <a:ext cx="488968"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ETH 3D</a:t>
              </a:r>
            </a:p>
          </p:txBody>
        </p:sp>
      </p:grpSp>
      <p:grpSp>
        <p:nvGrpSpPr>
          <p:cNvPr id="40" name="Group 40"/>
          <p:cNvGrpSpPr/>
          <p:nvPr/>
        </p:nvGrpSpPr>
        <p:grpSpPr>
          <a:xfrm>
            <a:off x="6134100" y="2190750"/>
            <a:ext cx="5448300" cy="1352550"/>
            <a:chOff x="6134100" y="2190750"/>
            <a:chExt cx="5448300" cy="1352550"/>
          </a:xfrm>
        </p:grpSpPr>
        <p:sp>
          <p:nvSpPr>
            <p:cNvPr id="34" name="Rectangle 34"/>
            <p:cNvSpPr/>
            <p:nvPr/>
          </p:nvSpPr>
          <p:spPr>
            <a:xfrm>
              <a:off x="6134100" y="2190750"/>
              <a:ext cx="5448300" cy="1352550"/>
            </a:xfrm>
            <a:prstGeom prst="roundRect">
              <a:avLst>
                <a:gd name="adj" fmla="val 9859"/>
              </a:avLst>
            </a:prstGeom>
            <a:solidFill>
              <a:schemeClr val="lt2"/>
            </a:solidFill>
            <a:ln w="9525">
              <a:solidFill>
                <a:schemeClr val="accent4"/>
              </a:solidFill>
            </a:ln>
          </p:spPr>
        </p:sp>
        <p:sp>
          <p:nvSpPr>
            <p:cNvPr id="35" name="Rectangle 35"/>
            <p:cNvSpPr/>
            <p:nvPr/>
          </p:nvSpPr>
          <p:spPr>
            <a:xfrm>
              <a:off x="6134100" y="2343150"/>
              <a:ext cx="47625" cy="1047750"/>
            </a:xfrm>
            <a:prstGeom prst="roundRect">
              <a:avLst>
                <a:gd name="adj" fmla="val 40000"/>
              </a:avLst>
            </a:prstGeom>
            <a:solidFill>
              <a:srgbClr val="A78BFA"/>
            </a:solidFill>
            <a:ln>
              <a:noFill/>
            </a:ln>
          </p:spPr>
        </p:sp>
        <p:sp>
          <p:nvSpPr>
            <p:cNvPr id="36" name="TextBox 36"/>
            <p:cNvSpPr txBox="1"/>
            <p:nvPr/>
          </p:nvSpPr>
          <p:spPr>
            <a:xfrm>
              <a:off x="6394704" y="2404110"/>
              <a:ext cx="1857543" cy="234696"/>
            </a:xfrm>
            <a:prstGeom prst="rect">
              <a:avLst/>
            </a:prstGeom>
            <a:noFill/>
            <a:ln>
              <a:noFill/>
            </a:ln>
          </p:spPr>
          <p:txBody>
            <a:bodyPr wrap="none" lIns="0" tIns="0" rIns="0" bIns="0" anchor="t" anchorCtr="0">
              <a:spAutoFit/>
            </a:bodyPr>
            <a:lstStyle/>
            <a:p>
              <a:pPr algn="l"/>
              <a:r>
                <a:rPr lang="en-US" sz="1200" b="1" dirty="0">
                  <a:solidFill>
                    <a:srgbClr val="A78BFA"/>
                  </a:solidFill>
                  <a:latin typeface="+mn-lt"/>
                  <a:ea typeface="+mn-ea"/>
                  <a:cs typeface="+mn-cs"/>
                </a:rPr>
                <a:t>Genuine generalization</a:t>
              </a:r>
            </a:p>
          </p:txBody>
        </p:sp>
        <p:sp>
          <p:nvSpPr>
            <p:cNvPr id="37" name="TextBox 37"/>
            <p:cNvSpPr txBox="1"/>
            <p:nvPr/>
          </p:nvSpPr>
          <p:spPr>
            <a:xfrm>
              <a:off x="6395466" y="2706052"/>
              <a:ext cx="327341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Every evaluation uses scenes never seen during</a:t>
              </a:r>
            </a:p>
          </p:txBody>
        </p:sp>
        <p:sp>
          <p:nvSpPr>
            <p:cNvPr id="38" name="TextBox 38"/>
            <p:cNvSpPr txBox="1"/>
            <p:nvPr/>
          </p:nvSpPr>
          <p:spPr>
            <a:xfrm>
              <a:off x="6395466" y="2915602"/>
              <a:ext cx="346670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training, so results measure real generalization —</a:t>
              </a:r>
            </a:p>
          </p:txBody>
        </p:sp>
        <p:sp>
          <p:nvSpPr>
            <p:cNvPr id="39" name="TextBox 39"/>
            <p:cNvSpPr txBox="1"/>
            <p:nvPr/>
          </p:nvSpPr>
          <p:spPr>
            <a:xfrm>
              <a:off x="6395466" y="3125152"/>
              <a:ext cx="128282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not memorization.</a:t>
              </a:r>
            </a:p>
          </p:txBody>
        </p:sp>
      </p:grpSp>
      <p:grpSp>
        <p:nvGrpSpPr>
          <p:cNvPr id="47" name="Group 47"/>
          <p:cNvGrpSpPr/>
          <p:nvPr/>
        </p:nvGrpSpPr>
        <p:grpSpPr>
          <a:xfrm>
            <a:off x="6134100" y="3695700"/>
            <a:ext cx="5448300" cy="1352550"/>
            <a:chOff x="6134100" y="3695700"/>
            <a:chExt cx="5448300" cy="1352550"/>
          </a:xfrm>
        </p:grpSpPr>
        <p:sp>
          <p:nvSpPr>
            <p:cNvPr id="41" name="Rectangle 41"/>
            <p:cNvSpPr/>
            <p:nvPr/>
          </p:nvSpPr>
          <p:spPr>
            <a:xfrm>
              <a:off x="6134100" y="3695700"/>
              <a:ext cx="5448300" cy="1352550"/>
            </a:xfrm>
            <a:prstGeom prst="roundRect">
              <a:avLst>
                <a:gd name="adj" fmla="val 9859"/>
              </a:avLst>
            </a:prstGeom>
            <a:solidFill>
              <a:schemeClr val="lt2"/>
            </a:solidFill>
            <a:ln w="9525">
              <a:solidFill>
                <a:schemeClr val="accent4"/>
              </a:solidFill>
            </a:ln>
          </p:spPr>
        </p:sp>
        <p:sp>
          <p:nvSpPr>
            <p:cNvPr id="42" name="Rectangle 42"/>
            <p:cNvSpPr/>
            <p:nvPr/>
          </p:nvSpPr>
          <p:spPr>
            <a:xfrm>
              <a:off x="6134100" y="3848100"/>
              <a:ext cx="47625" cy="1047750"/>
            </a:xfrm>
            <a:prstGeom prst="roundRect">
              <a:avLst>
                <a:gd name="adj" fmla="val 40000"/>
              </a:avLst>
            </a:prstGeom>
            <a:solidFill>
              <a:schemeClr val="accent2"/>
            </a:solidFill>
            <a:ln>
              <a:noFill/>
            </a:ln>
          </p:spPr>
        </p:sp>
        <p:sp>
          <p:nvSpPr>
            <p:cNvPr id="43" name="TextBox 43"/>
            <p:cNvSpPr txBox="1"/>
            <p:nvPr/>
          </p:nvSpPr>
          <p:spPr>
            <a:xfrm>
              <a:off x="6394704" y="3909060"/>
              <a:ext cx="1442771"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Downstream task</a:t>
              </a:r>
            </a:p>
          </p:txBody>
        </p:sp>
        <p:sp>
          <p:nvSpPr>
            <p:cNvPr id="44" name="TextBox 44"/>
            <p:cNvSpPr txBox="1"/>
            <p:nvPr/>
          </p:nvSpPr>
          <p:spPr>
            <a:xfrm>
              <a:off x="6395466" y="4191952"/>
              <a:ext cx="323827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Absolute camera pose estimation, measured on</a:t>
              </a:r>
            </a:p>
          </p:txBody>
        </p:sp>
        <p:sp>
          <p:nvSpPr>
            <p:cNvPr id="45" name="TextBox 45"/>
            <p:cNvSpPr txBox="1"/>
            <p:nvPr/>
          </p:nvSpPr>
          <p:spPr>
            <a:xfrm>
              <a:off x="6389370" y="4462462"/>
              <a:ext cx="897469"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2,500</a:t>
              </a:r>
            </a:p>
          </p:txBody>
        </p:sp>
        <p:sp>
          <p:nvSpPr>
            <p:cNvPr id="46" name="TextBox 46"/>
            <p:cNvSpPr txBox="1"/>
            <p:nvPr/>
          </p:nvSpPr>
          <p:spPr>
            <a:xfrm>
              <a:off x="7233666" y="4592002"/>
              <a:ext cx="3301033"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held-out ScanNet source/target image pairs.</a:t>
              </a:r>
            </a:p>
          </p:txBody>
        </p:sp>
      </p:grpSp>
      <p:sp>
        <p:nvSpPr>
          <p:cNvPr id="48" name="cue_s06_c1_method_evaluated_across_both_indoor" title="cue_s06_c1_method_evaluated_across_both_indoor" descr="cue_s06_c1_method_evaluated_across_both_indoor The method is evaluated across both indoor and outdoor domains."/>
          <p:cNvSpPr/>
          <p:nvPr/>
        </p:nvSpPr>
        <p:spPr>
          <a:xfrm>
            <a:off x="609600" y="1428521"/>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2_indoors_neurhal_trained_scannet_also" title="cue_s06_c2_indoors_neurhal_trained_scannet_also" descr="cue_s06_c2_indoors_neurhal_trained_scannet_also Indoors, NeurHal is trained on ScanNet and also tested on the NYU Depth dataset; outdoors, it is trained on MegaDepth and tested on ETH three D."/>
          <p:cNvSpPr/>
          <p:nvPr/>
        </p:nvSpPr>
        <p:spPr>
          <a:xfrm>
            <a:off x="609600" y="2190445"/>
            <a:ext cx="533400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3_crucially_every_evaluation_scenes_ne" title="cue_s06_c3_crucially_every_evaluation_scenes_ne" descr="cue_s06_c3_crucially_every_evaluation_scenes_ne Crucially, every evaluation uses scenes that were never seen during training, so the results measure genuine generalization."/>
          <p:cNvSpPr/>
          <p:nvPr/>
        </p:nvSpPr>
        <p:spPr>
          <a:xfrm>
            <a:off x="6133795" y="2190445"/>
            <a:ext cx="5448604" cy="13523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6_c4_downstream_application_absolute_came" title="cue_s06_c4_downstream_application_absolute_came" descr="cue_s06_c4_downstream_application_absolute_came For the downstream application, absolute camera pose estimation is measured on twenty five hundred source and target image pairs from held out ScanNet scenes."/>
          <p:cNvSpPr/>
          <p:nvPr/>
        </p:nvSpPr>
        <p:spPr>
          <a:xfrm>
            <a:off x="6133795" y="3695776"/>
            <a:ext cx="5448604" cy="13523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chemeClr val="accent1"/>
            </a:solidFill>
            <a:ln>
              <a:noFill/>
            </a:ln>
          </p:spPr>
        </p:sp>
      </p:grpSp>
      <p:sp>
        <p:nvSpPr>
          <p:cNvPr id="5" name="TextBox 5"/>
          <p:cNvSpPr txBox="1"/>
          <p:nvPr/>
        </p:nvSpPr>
        <p:spPr>
          <a:xfrm>
            <a:off x="604647" y="485299"/>
            <a:ext cx="1479786" cy="190690"/>
          </a:xfrm>
          <a:prstGeom prst="rect">
            <a:avLst/>
          </a:prstGeom>
          <a:noFill/>
          <a:ln>
            <a:noFill/>
          </a:ln>
        </p:spPr>
        <p:txBody>
          <a:bodyPr wrap="none" lIns="0" tIns="0" rIns="0" bIns="0" anchor="t" anchorCtr="0">
            <a:spAutoFit/>
          </a:bodyPr>
          <a:lstStyle/>
          <a:p>
            <a:pPr algn="l"/>
            <a:r>
              <a:rPr lang="en-US" sz="980" b="1" spc="225" dirty="0">
                <a:solidFill>
                  <a:schemeClr val="accent1"/>
                </a:solidFill>
                <a:latin typeface="+mn-lt"/>
                <a:ea typeface="+mn-ea"/>
                <a:cs typeface="+mn-cs"/>
              </a:rPr>
              <a:t>THE KEY RESULT</a:t>
            </a:r>
          </a:p>
        </p:txBody>
      </p:sp>
      <p:sp>
        <p:nvSpPr>
          <p:cNvPr id="6" name="TextBox 6"/>
          <p:cNvSpPr txBox="1"/>
          <p:nvPr/>
        </p:nvSpPr>
        <p:spPr>
          <a:xfrm>
            <a:off x="597027" y="723424"/>
            <a:ext cx="6190110"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j-lt"/>
                <a:ea typeface="+mj-ea"/>
                <a:cs typeface="+mj-cs"/>
              </a:rPr>
              <a:t>It Hallucinates — and Pose Follows</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06 / 10</a:t>
            </a:r>
          </a:p>
        </p:txBody>
      </p:sp>
      <p:grpSp>
        <p:nvGrpSpPr>
          <p:cNvPr id="12" name="Group 12"/>
          <p:cNvGrpSpPr/>
          <p:nvPr/>
        </p:nvGrpSpPr>
        <p:grpSpPr>
          <a:xfrm>
            <a:off x="609600" y="1428750"/>
            <a:ext cx="10972800" cy="476250"/>
            <a:chOff x="609600" y="1428750"/>
            <a:chExt cx="10972800" cy="476250"/>
          </a:xfrm>
        </p:grpSpPr>
        <p:sp>
          <p:nvSpPr>
            <p:cNvPr id="9" name="Rectangle 9"/>
            <p:cNvSpPr/>
            <p:nvPr/>
          </p:nvSpPr>
          <p:spPr>
            <a:xfrm>
              <a:off x="609600" y="1428750"/>
              <a:ext cx="10972800" cy="476250"/>
            </a:xfrm>
            <a:prstGeom prst="roundRect">
              <a:avLst>
                <a:gd name="adj" fmla="val 28000"/>
              </a:avLst>
            </a:prstGeom>
            <a:solidFill>
              <a:schemeClr val="lt2"/>
            </a:solidFill>
            <a:ln w="9525">
              <a:solidFill>
                <a:schemeClr val="accent4"/>
              </a:solidFill>
            </a:ln>
          </p:spPr>
        </p:sp>
        <p:sp>
          <p:nvSpPr>
            <p:cNvPr id="10" name="Rectangle 10"/>
            <p:cNvSpPr/>
            <p:nvPr/>
          </p:nvSpPr>
          <p:spPr>
            <a:xfrm>
              <a:off x="609600" y="1581150"/>
              <a:ext cx="47625" cy="171450"/>
            </a:xfrm>
            <a:prstGeom prst="roundRect">
              <a:avLst>
                <a:gd name="adj" fmla="val 40000"/>
              </a:avLst>
            </a:prstGeom>
            <a:solidFill>
              <a:schemeClr val="accent1"/>
            </a:solidFill>
            <a:ln>
              <a:noFill/>
            </a:ln>
          </p:spPr>
        </p:sp>
        <p:sp>
          <p:nvSpPr>
            <p:cNvPr id="11" name="TextBox 11"/>
            <p:cNvSpPr txBox="1"/>
            <p:nvPr/>
          </p:nvSpPr>
          <p:spPr>
            <a:xfrm>
              <a:off x="851154" y="1594485"/>
              <a:ext cx="9028160"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Both research questions are confirmed: NeurHal can hallucinate, and it makes camera pose far more robust.</a:t>
              </a:r>
            </a:p>
          </p:txBody>
        </p:sp>
      </p:grpSp>
      <p:grpSp>
        <p:nvGrpSpPr>
          <p:cNvPr id="26" name="Group 26"/>
          <p:cNvGrpSpPr/>
          <p:nvPr/>
        </p:nvGrpSpPr>
        <p:grpSpPr>
          <a:xfrm>
            <a:off x="609600" y="2057400"/>
            <a:ext cx="5334000" cy="1809750"/>
            <a:chOff x="609600" y="2057400"/>
            <a:chExt cx="5334000" cy="1809750"/>
          </a:xfrm>
        </p:grpSpPr>
        <p:sp>
          <p:nvSpPr>
            <p:cNvPr id="13" name="Rectangle 13"/>
            <p:cNvSpPr/>
            <p:nvPr/>
          </p:nvSpPr>
          <p:spPr>
            <a:xfrm>
              <a:off x="609600" y="2057400"/>
              <a:ext cx="5334000" cy="1809750"/>
            </a:xfrm>
            <a:prstGeom prst="roundRect">
              <a:avLst>
                <a:gd name="adj" fmla="val 7368"/>
              </a:avLst>
            </a:prstGeom>
            <a:solidFill>
              <a:schemeClr val="lt2"/>
            </a:solidFill>
            <a:ln w="9525">
              <a:solidFill>
                <a:schemeClr val="accent4"/>
              </a:solidFill>
            </a:ln>
          </p:spPr>
        </p:sp>
        <p:sp>
          <p:nvSpPr>
            <p:cNvPr id="14" name="Rectangle 14"/>
            <p:cNvSpPr/>
            <p:nvPr/>
          </p:nvSpPr>
          <p:spPr>
            <a:xfrm>
              <a:off x="609600" y="2209800"/>
              <a:ext cx="47625" cy="1504950"/>
            </a:xfrm>
            <a:prstGeom prst="roundRect">
              <a:avLst>
                <a:gd name="adj" fmla="val 40000"/>
              </a:avLst>
            </a:prstGeom>
            <a:solidFill>
              <a:schemeClr val="accent2"/>
            </a:solidFill>
            <a:ln>
              <a:noFill/>
            </a:ln>
          </p:spPr>
        </p:sp>
        <p:sp>
          <p:nvSpPr>
            <p:cNvPr id="15" name="TextBox 15"/>
            <p:cNvSpPr txBox="1"/>
            <p:nvPr/>
          </p:nvSpPr>
          <p:spPr>
            <a:xfrm>
              <a:off x="851154" y="2270760"/>
              <a:ext cx="2468554"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Hallucinates on unseen scenes</a:t>
              </a:r>
            </a:p>
          </p:txBody>
        </p:sp>
        <p:sp>
          <p:nvSpPr>
            <p:cNvPr id="16" name="TextBox 16"/>
            <p:cNvSpPr txBox="1"/>
            <p:nvPr/>
          </p:nvSpPr>
          <p:spPr>
            <a:xfrm>
              <a:off x="852106" y="2557701"/>
              <a:ext cx="3516250"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For both occluded points (inpaint) and out-of-frame</a:t>
              </a:r>
            </a:p>
          </p:txBody>
        </p:sp>
        <p:sp>
          <p:nvSpPr>
            <p:cNvPr id="17" name="TextBox 17"/>
            <p:cNvSpPr txBox="1"/>
            <p:nvPr/>
          </p:nvSpPr>
          <p:spPr>
            <a:xfrm>
              <a:off x="852106" y="2757726"/>
              <a:ext cx="362698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points (outpaint), prediction error concentrates well</a:t>
              </a:r>
            </a:p>
          </p:txBody>
        </p:sp>
        <p:sp>
          <p:nvSpPr>
            <p:cNvPr id="18" name="TextBox 18"/>
            <p:cNvSpPr txBox="1"/>
            <p:nvPr/>
          </p:nvSpPr>
          <p:spPr>
            <a:xfrm>
              <a:off x="852106" y="2957751"/>
              <a:ext cx="157389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below random guessing.</a:t>
              </a:r>
            </a:p>
          </p:txBody>
        </p:sp>
        <p:sp>
          <p:nvSpPr>
            <p:cNvPr id="19" name="TextBox 19"/>
            <p:cNvSpPr txBox="1"/>
            <p:nvPr/>
          </p:nvSpPr>
          <p:spPr>
            <a:xfrm>
              <a:off x="852488" y="3293745"/>
              <a:ext cx="1090860"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error vs random:</a:t>
              </a:r>
            </a:p>
          </p:txBody>
        </p:sp>
        <p:sp>
          <p:nvSpPr>
            <p:cNvPr id="20" name="Rectangle 20"/>
            <p:cNvSpPr/>
            <p:nvPr/>
          </p:nvSpPr>
          <p:spPr>
            <a:xfrm>
              <a:off x="2190750" y="3295650"/>
              <a:ext cx="2286000" cy="133350"/>
            </a:xfrm>
            <a:prstGeom prst="roundRect">
              <a:avLst>
                <a:gd name="adj" fmla="val 50000"/>
              </a:avLst>
            </a:prstGeom>
            <a:solidFill>
              <a:srgbClr val="24344F"/>
            </a:solidFill>
            <a:ln>
              <a:noFill/>
            </a:ln>
          </p:spPr>
        </p:sp>
        <p:sp>
          <p:nvSpPr>
            <p:cNvPr id="21" name="Rectangle 21"/>
            <p:cNvSpPr/>
            <p:nvPr/>
          </p:nvSpPr>
          <p:spPr>
            <a:xfrm>
              <a:off x="2190750" y="3295650"/>
              <a:ext cx="571500" cy="133350"/>
            </a:xfrm>
            <a:prstGeom prst="roundRect">
              <a:avLst>
                <a:gd name="adj" fmla="val 50000"/>
              </a:avLst>
            </a:prstGeom>
            <a:solidFill>
              <a:schemeClr val="accent2"/>
            </a:solidFill>
            <a:ln>
              <a:noFill/>
            </a:ln>
          </p:spPr>
        </p:sp>
        <p:sp>
          <p:nvSpPr>
            <p:cNvPr id="22" name="TextBox 22"/>
            <p:cNvSpPr txBox="1"/>
            <p:nvPr/>
          </p:nvSpPr>
          <p:spPr>
            <a:xfrm>
              <a:off x="4548188" y="3303270"/>
              <a:ext cx="213070" cy="176212"/>
            </a:xfrm>
            <a:prstGeom prst="rect">
              <a:avLst/>
            </a:prstGeom>
            <a:noFill/>
            <a:ln>
              <a:noFill/>
            </a:ln>
          </p:spPr>
          <p:txBody>
            <a:bodyPr wrap="none" lIns="0" tIns="0" rIns="0" bIns="0" anchor="t" anchorCtr="0">
              <a:spAutoFit/>
            </a:bodyPr>
            <a:lstStyle/>
            <a:p>
              <a:pPr algn="l"/>
              <a:r>
                <a:rPr lang="en-US" sz="900" b="1" dirty="0">
                  <a:solidFill>
                    <a:schemeClr val="accent2"/>
                  </a:solidFill>
                  <a:latin typeface="+mn-lt"/>
                  <a:ea typeface="+mn-ea"/>
                  <a:cs typeface="+mn-cs"/>
                </a:rPr>
                <a:t>low</a:t>
              </a:r>
            </a:p>
          </p:txBody>
        </p:sp>
        <p:sp>
          <p:nvSpPr>
            <p:cNvPr id="23" name="TextBox 23"/>
            <p:cNvSpPr txBox="1"/>
            <p:nvPr/>
          </p:nvSpPr>
          <p:spPr>
            <a:xfrm>
              <a:off x="852488" y="3560445"/>
              <a:ext cx="912758"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random guess:</a:t>
              </a:r>
            </a:p>
          </p:txBody>
        </p:sp>
        <p:sp>
          <p:nvSpPr>
            <p:cNvPr id="24" name="Rectangle 24"/>
            <p:cNvSpPr/>
            <p:nvPr/>
          </p:nvSpPr>
          <p:spPr>
            <a:xfrm>
              <a:off x="2190750" y="3562350"/>
              <a:ext cx="2286000" cy="133350"/>
            </a:xfrm>
            <a:prstGeom prst="roundRect">
              <a:avLst>
                <a:gd name="adj" fmla="val 50000"/>
              </a:avLst>
            </a:prstGeom>
            <a:solidFill>
              <a:srgbClr val="24344F"/>
            </a:solidFill>
            <a:ln>
              <a:noFill/>
            </a:ln>
          </p:spPr>
        </p:sp>
        <p:sp>
          <p:nvSpPr>
            <p:cNvPr id="25" name="Rectangle 25"/>
            <p:cNvSpPr/>
            <p:nvPr/>
          </p:nvSpPr>
          <p:spPr>
            <a:xfrm>
              <a:off x="2190750" y="3562350"/>
              <a:ext cx="2095500" cy="133350"/>
            </a:xfrm>
            <a:prstGeom prst="roundRect">
              <a:avLst>
                <a:gd name="adj" fmla="val 50000"/>
              </a:avLst>
            </a:prstGeom>
            <a:solidFill>
              <a:srgbClr val="F87171"/>
            </a:solidFill>
            <a:ln>
              <a:noFill/>
            </a:ln>
          </p:spPr>
        </p:sp>
      </p:grpSp>
      <p:grpSp>
        <p:nvGrpSpPr>
          <p:cNvPr id="42" name="Group 42"/>
          <p:cNvGrpSpPr/>
          <p:nvPr/>
        </p:nvGrpSpPr>
        <p:grpSpPr>
          <a:xfrm>
            <a:off x="6134100" y="2057400"/>
            <a:ext cx="5448300" cy="1809750"/>
            <a:chOff x="6134100" y="2057400"/>
            <a:chExt cx="5448300" cy="1809750"/>
          </a:xfrm>
        </p:grpSpPr>
        <p:sp>
          <p:nvSpPr>
            <p:cNvPr id="27" name="Rectangle 27"/>
            <p:cNvSpPr/>
            <p:nvPr/>
          </p:nvSpPr>
          <p:spPr>
            <a:xfrm>
              <a:off x="6134100" y="2057400"/>
              <a:ext cx="5448300" cy="1809750"/>
            </a:xfrm>
            <a:prstGeom prst="roundRect">
              <a:avLst>
                <a:gd name="adj" fmla="val 7368"/>
              </a:avLst>
            </a:prstGeom>
            <a:solidFill>
              <a:schemeClr val="lt2"/>
            </a:solidFill>
            <a:ln w="9525">
              <a:solidFill>
                <a:schemeClr val="accent4"/>
              </a:solidFill>
            </a:ln>
          </p:spPr>
        </p:sp>
        <p:sp>
          <p:nvSpPr>
            <p:cNvPr id="28" name="TextBox 28"/>
            <p:cNvSpPr txBox="1"/>
            <p:nvPr/>
          </p:nvSpPr>
          <p:spPr>
            <a:xfrm>
              <a:off x="6394704" y="2251710"/>
              <a:ext cx="2371987"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Capability vs SOTA matchers</a:t>
              </a:r>
            </a:p>
          </p:txBody>
        </p:sp>
        <p:sp>
          <p:nvSpPr>
            <p:cNvPr id="29" name="TextBox 29"/>
            <p:cNvSpPr txBox="1"/>
            <p:nvPr/>
          </p:nvSpPr>
          <p:spPr>
            <a:xfrm>
              <a:off x="6396038" y="2474595"/>
              <a:ext cx="3554397" cy="176212"/>
            </a:xfrm>
            <a:prstGeom prst="rect">
              <a:avLst/>
            </a:prstGeom>
            <a:noFill/>
            <a:ln>
              <a:noFill/>
            </a:ln>
          </p:spPr>
          <p:txBody>
            <a:bodyPr wrap="none" lIns="0" tIns="0" rIns="0" bIns="0" anchor="t" anchorCtr="0">
              <a:spAutoFit/>
            </a:bodyPr>
            <a:lstStyle/>
            <a:p>
              <a:pPr algn="l"/>
              <a:r>
                <a:rPr lang="en-US" sz="900" dirty="0">
                  <a:solidFill>
                    <a:srgbClr val="6E82A6"/>
                  </a:solidFill>
                  <a:latin typeface="+mn-lt"/>
                  <a:ea typeface="+mn-ea"/>
                  <a:cs typeface="+mn-cs"/>
                </a:rPr>
                <a:t>LoFTR · DRC-Net · S2D-Net search only inside image borders</a:t>
              </a:r>
            </a:p>
          </p:txBody>
        </p:sp>
        <p:sp>
          <p:nvSpPr>
            <p:cNvPr id="30" name="TextBox 30"/>
            <p:cNvSpPr txBox="1"/>
            <p:nvPr/>
          </p:nvSpPr>
          <p:spPr>
            <a:xfrm>
              <a:off x="9092237" y="2741295"/>
              <a:ext cx="332125"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SOTA</a:t>
              </a:r>
            </a:p>
          </p:txBody>
        </p:sp>
        <p:sp>
          <p:nvSpPr>
            <p:cNvPr id="31" name="TextBox 31"/>
            <p:cNvSpPr txBox="1"/>
            <p:nvPr/>
          </p:nvSpPr>
          <p:spPr>
            <a:xfrm>
              <a:off x="9992396" y="2741295"/>
              <a:ext cx="474909"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NeurHal</a:t>
              </a:r>
            </a:p>
          </p:txBody>
        </p:sp>
        <p:sp>
          <p:nvSpPr>
            <p:cNvPr id="32" name="Line 32"/>
            <p:cNvSpPr/>
            <p:nvPr/>
          </p:nvSpPr>
          <p:spPr>
            <a:xfrm>
              <a:off x="6400800" y="2933700"/>
              <a:ext cx="4914900" cy="9525"/>
            </a:xfrm>
            <a:custGeom>
              <a:avLst/>
              <a:gdLst/>
              <a:ahLst/>
              <a:cxnLst/>
              <a:rect l="l" t="t" r="r" b="b"/>
              <a:pathLst>
                <a:path w="4914900" h="9525">
                  <a:moveTo>
                    <a:pt x="0" y="0"/>
                  </a:moveTo>
                  <a:lnTo>
                    <a:pt x="4914900" y="0"/>
                  </a:lnTo>
                </a:path>
              </a:pathLst>
            </a:custGeom>
            <a:noFill/>
            <a:ln w="9525" cap="rnd">
              <a:solidFill>
                <a:schemeClr val="accent4"/>
              </a:solidFill>
            </a:ln>
          </p:spPr>
        </p:sp>
        <p:sp>
          <p:nvSpPr>
            <p:cNvPr id="33" name="TextBox 33"/>
            <p:cNvSpPr txBox="1"/>
            <p:nvPr/>
          </p:nvSpPr>
          <p:spPr>
            <a:xfrm>
              <a:off x="6471856" y="3072051"/>
              <a:ext cx="571008"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mn-lt"/>
                  <a:ea typeface="+mn-ea"/>
                  <a:cs typeface="+mn-cs"/>
                </a:rPr>
                <a:t>Identify</a:t>
              </a:r>
            </a:p>
          </p:txBody>
        </p:sp>
        <p:sp>
          <p:nvSpPr>
            <p:cNvPr id="34" name="TextBox 34"/>
            <p:cNvSpPr txBox="1"/>
            <p:nvPr/>
          </p:nvSpPr>
          <p:spPr>
            <a:xfrm>
              <a:off x="9133154" y="3072051"/>
              <a:ext cx="250293" cy="198025"/>
            </a:xfrm>
            <a:prstGeom prst="rect">
              <a:avLst/>
            </a:prstGeom>
            <a:noFill/>
            <a:ln>
              <a:noFill/>
            </a:ln>
          </p:spPr>
          <p:txBody>
            <a:bodyPr wrap="none" lIns="0" tIns="0" rIns="0" bIns="0" anchor="t" anchorCtr="0">
              <a:spAutoFit/>
            </a:bodyPr>
            <a:lstStyle/>
            <a:p>
              <a:pPr algn="ctr"/>
              <a:r>
                <a:rPr lang="en-US" sz="1010" b="1" dirty="0">
                  <a:solidFill>
                    <a:schemeClr val="accent2"/>
                  </a:solidFill>
                  <a:latin typeface="+mn-lt"/>
                  <a:ea typeface="+mn-ea"/>
                  <a:cs typeface="+mn-cs"/>
                </a:rPr>
                <a:t>Yes</a:t>
              </a:r>
            </a:p>
          </p:txBody>
        </p:sp>
        <p:sp>
          <p:nvSpPr>
            <p:cNvPr id="35" name="TextBox 35"/>
            <p:cNvSpPr txBox="1"/>
            <p:nvPr/>
          </p:nvSpPr>
          <p:spPr>
            <a:xfrm>
              <a:off x="10104704" y="3072051"/>
              <a:ext cx="250293" cy="198025"/>
            </a:xfrm>
            <a:prstGeom prst="rect">
              <a:avLst/>
            </a:prstGeom>
            <a:noFill/>
            <a:ln>
              <a:noFill/>
            </a:ln>
          </p:spPr>
          <p:txBody>
            <a:bodyPr wrap="none" lIns="0" tIns="0" rIns="0" bIns="0" anchor="t" anchorCtr="0">
              <a:spAutoFit/>
            </a:bodyPr>
            <a:lstStyle/>
            <a:p>
              <a:pPr algn="ctr"/>
              <a:r>
                <a:rPr lang="en-US" sz="1010" b="1" dirty="0">
                  <a:solidFill>
                    <a:schemeClr val="accent2"/>
                  </a:solidFill>
                  <a:latin typeface="+mn-lt"/>
                  <a:ea typeface="+mn-ea"/>
                  <a:cs typeface="+mn-cs"/>
                </a:rPr>
                <a:t>Yes</a:t>
              </a:r>
            </a:p>
          </p:txBody>
        </p:sp>
        <p:sp>
          <p:nvSpPr>
            <p:cNvPr id="36" name="TextBox 36"/>
            <p:cNvSpPr txBox="1"/>
            <p:nvPr/>
          </p:nvSpPr>
          <p:spPr>
            <a:xfrm>
              <a:off x="6471856" y="3319701"/>
              <a:ext cx="492415" cy="198025"/>
            </a:xfrm>
            <a:prstGeom prst="rect">
              <a:avLst/>
            </a:prstGeom>
            <a:noFill/>
            <a:ln>
              <a:noFill/>
            </a:ln>
          </p:spPr>
          <p:txBody>
            <a:bodyPr wrap="none" lIns="0" tIns="0" rIns="0" bIns="0" anchor="t" anchorCtr="0">
              <a:spAutoFit/>
            </a:bodyPr>
            <a:lstStyle/>
            <a:p>
              <a:pPr algn="l"/>
              <a:r>
                <a:rPr lang="en-US" sz="1010" b="1" dirty="0">
                  <a:solidFill>
                    <a:srgbClr val="FBBF24"/>
                  </a:solidFill>
                  <a:latin typeface="+mn-lt"/>
                  <a:ea typeface="+mn-ea"/>
                  <a:cs typeface="+mn-cs"/>
                </a:rPr>
                <a:t>Inpaint</a:t>
              </a:r>
            </a:p>
          </p:txBody>
        </p:sp>
        <p:sp>
          <p:nvSpPr>
            <p:cNvPr id="37" name="TextBox 37"/>
            <p:cNvSpPr txBox="1"/>
            <p:nvPr/>
          </p:nvSpPr>
          <p:spPr>
            <a:xfrm>
              <a:off x="9079415" y="3319701"/>
              <a:ext cx="357770" cy="198025"/>
            </a:xfrm>
            <a:prstGeom prst="rect">
              <a:avLst/>
            </a:prstGeom>
            <a:noFill/>
            <a:ln>
              <a:noFill/>
            </a:ln>
          </p:spPr>
          <p:txBody>
            <a:bodyPr wrap="none" lIns="0" tIns="0" rIns="0" bIns="0" anchor="t" anchorCtr="0">
              <a:spAutoFit/>
            </a:bodyPr>
            <a:lstStyle/>
            <a:p>
              <a:pPr algn="ctr"/>
              <a:r>
                <a:rPr lang="en-US" sz="1010" b="1" dirty="0">
                  <a:solidFill>
                    <a:srgbClr val="F87171"/>
                  </a:solidFill>
                  <a:latin typeface="+mn-lt"/>
                  <a:ea typeface="+mn-ea"/>
                  <a:cs typeface="+mn-cs"/>
                </a:rPr>
                <a:t>Weak</a:t>
              </a:r>
            </a:p>
          </p:txBody>
        </p:sp>
        <p:sp>
          <p:nvSpPr>
            <p:cNvPr id="38" name="TextBox 38"/>
            <p:cNvSpPr txBox="1"/>
            <p:nvPr/>
          </p:nvSpPr>
          <p:spPr>
            <a:xfrm>
              <a:off x="10104704" y="3319701"/>
              <a:ext cx="250293" cy="198025"/>
            </a:xfrm>
            <a:prstGeom prst="rect">
              <a:avLst/>
            </a:prstGeom>
            <a:noFill/>
            <a:ln>
              <a:noFill/>
            </a:ln>
          </p:spPr>
          <p:txBody>
            <a:bodyPr wrap="none" lIns="0" tIns="0" rIns="0" bIns="0" anchor="t" anchorCtr="0">
              <a:spAutoFit/>
            </a:bodyPr>
            <a:lstStyle/>
            <a:p>
              <a:pPr algn="ctr"/>
              <a:r>
                <a:rPr lang="en-US" sz="1010" b="1" dirty="0">
                  <a:solidFill>
                    <a:schemeClr val="accent2"/>
                  </a:solidFill>
                  <a:latin typeface="+mn-lt"/>
                  <a:ea typeface="+mn-ea"/>
                  <a:cs typeface="+mn-cs"/>
                </a:rPr>
                <a:t>Yes</a:t>
              </a:r>
            </a:p>
          </p:txBody>
        </p:sp>
        <p:sp>
          <p:nvSpPr>
            <p:cNvPr id="39" name="TextBox 39"/>
            <p:cNvSpPr txBox="1"/>
            <p:nvPr/>
          </p:nvSpPr>
          <p:spPr>
            <a:xfrm>
              <a:off x="6471856" y="3567351"/>
              <a:ext cx="635707" cy="198025"/>
            </a:xfrm>
            <a:prstGeom prst="rect">
              <a:avLst/>
            </a:prstGeom>
            <a:noFill/>
            <a:ln>
              <a:noFill/>
            </a:ln>
          </p:spPr>
          <p:txBody>
            <a:bodyPr wrap="none" lIns="0" tIns="0" rIns="0" bIns="0" anchor="t" anchorCtr="0">
              <a:spAutoFit/>
            </a:bodyPr>
            <a:lstStyle/>
            <a:p>
              <a:pPr algn="l"/>
              <a:r>
                <a:rPr lang="en-US" sz="1010" b="1" dirty="0">
                  <a:solidFill>
                    <a:srgbClr val="F87171"/>
                  </a:solidFill>
                  <a:latin typeface="+mn-lt"/>
                  <a:ea typeface="+mn-ea"/>
                  <a:cs typeface="+mn-cs"/>
                </a:rPr>
                <a:t>Outpaint</a:t>
              </a:r>
            </a:p>
          </p:txBody>
        </p:sp>
        <p:sp>
          <p:nvSpPr>
            <p:cNvPr id="40" name="TextBox 40"/>
            <p:cNvSpPr txBox="1"/>
            <p:nvPr/>
          </p:nvSpPr>
          <p:spPr>
            <a:xfrm>
              <a:off x="9172414" y="3567351"/>
              <a:ext cx="171773" cy="198025"/>
            </a:xfrm>
            <a:prstGeom prst="rect">
              <a:avLst/>
            </a:prstGeom>
            <a:noFill/>
            <a:ln>
              <a:noFill/>
            </a:ln>
          </p:spPr>
          <p:txBody>
            <a:bodyPr wrap="none" lIns="0" tIns="0" rIns="0" bIns="0" anchor="t" anchorCtr="0">
              <a:spAutoFit/>
            </a:bodyPr>
            <a:lstStyle/>
            <a:p>
              <a:pPr algn="ctr"/>
              <a:r>
                <a:rPr lang="en-US" sz="1010" b="1" dirty="0">
                  <a:solidFill>
                    <a:srgbClr val="F87171"/>
                  </a:solidFill>
                  <a:latin typeface="+mn-lt"/>
                  <a:ea typeface="+mn-ea"/>
                  <a:cs typeface="+mn-cs"/>
                </a:rPr>
                <a:t>No</a:t>
              </a:r>
            </a:p>
          </p:txBody>
        </p:sp>
        <p:sp>
          <p:nvSpPr>
            <p:cNvPr id="41" name="TextBox 41"/>
            <p:cNvSpPr txBox="1"/>
            <p:nvPr/>
          </p:nvSpPr>
          <p:spPr>
            <a:xfrm>
              <a:off x="10104704" y="3567351"/>
              <a:ext cx="250293" cy="198025"/>
            </a:xfrm>
            <a:prstGeom prst="rect">
              <a:avLst/>
            </a:prstGeom>
            <a:noFill/>
            <a:ln>
              <a:noFill/>
            </a:ln>
          </p:spPr>
          <p:txBody>
            <a:bodyPr wrap="none" lIns="0" tIns="0" rIns="0" bIns="0" anchor="t" anchorCtr="0">
              <a:spAutoFit/>
            </a:bodyPr>
            <a:lstStyle/>
            <a:p>
              <a:pPr algn="ctr"/>
              <a:r>
                <a:rPr lang="en-US" sz="1010" b="1" dirty="0">
                  <a:solidFill>
                    <a:schemeClr val="accent2"/>
                  </a:solidFill>
                  <a:latin typeface="+mn-lt"/>
                  <a:ea typeface="+mn-ea"/>
                  <a:cs typeface="+mn-cs"/>
                </a:rPr>
                <a:t>Yes</a:t>
              </a:r>
            </a:p>
          </p:txBody>
        </p:sp>
      </p:grpSp>
      <p:grpSp>
        <p:nvGrpSpPr>
          <p:cNvPr id="55" name="Group 55"/>
          <p:cNvGrpSpPr/>
          <p:nvPr/>
        </p:nvGrpSpPr>
        <p:grpSpPr>
          <a:xfrm>
            <a:off x="572030" y="4019550"/>
            <a:ext cx="11010370" cy="1831657"/>
            <a:chOff x="572030" y="4019550"/>
            <a:chExt cx="11010370" cy="1831657"/>
          </a:xfrm>
        </p:grpSpPr>
        <p:sp>
          <p:nvSpPr>
            <p:cNvPr id="43" name="Rectangle 43"/>
            <p:cNvSpPr/>
            <p:nvPr/>
          </p:nvSpPr>
          <p:spPr>
            <a:xfrm>
              <a:off x="609600" y="4019550"/>
              <a:ext cx="10972800" cy="1790700"/>
            </a:xfrm>
            <a:prstGeom prst="roundRect">
              <a:avLst>
                <a:gd name="adj" fmla="val 7447"/>
              </a:avLst>
            </a:prstGeom>
            <a:solidFill>
              <a:schemeClr val="lt2"/>
            </a:solidFill>
            <a:ln w="9525">
              <a:solidFill>
                <a:schemeClr val="accent4"/>
              </a:solidFill>
            </a:ln>
          </p:spPr>
        </p:sp>
        <p:sp>
          <p:nvSpPr>
            <p:cNvPr id="44" name="TextBox 44"/>
            <p:cNvSpPr txBox="1"/>
            <p:nvPr/>
          </p:nvSpPr>
          <p:spPr>
            <a:xfrm>
              <a:off x="851154" y="4213860"/>
              <a:ext cx="568347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Absolute camera pose — correct far more often on low-overlap pairs</a:t>
              </a:r>
            </a:p>
          </p:txBody>
        </p:sp>
        <p:sp>
          <p:nvSpPr>
            <p:cNvPr id="45" name="Line 45"/>
            <p:cNvSpPr/>
            <p:nvPr/>
          </p:nvSpPr>
          <p:spPr>
            <a:xfrm>
              <a:off x="1333500" y="5524500"/>
              <a:ext cx="7239000" cy="9525"/>
            </a:xfrm>
            <a:custGeom>
              <a:avLst/>
              <a:gdLst/>
              <a:ahLst/>
              <a:cxnLst/>
              <a:rect l="l" t="t" r="r" b="b"/>
              <a:pathLst>
                <a:path w="7239000" h="9525">
                  <a:moveTo>
                    <a:pt x="0" y="0"/>
                  </a:moveTo>
                  <a:lnTo>
                    <a:pt x="7239000" y="0"/>
                  </a:lnTo>
                </a:path>
              </a:pathLst>
            </a:custGeom>
            <a:noFill/>
            <a:ln w="19050" cap="rnd">
              <a:solidFill>
                <a:schemeClr val="accent4"/>
              </a:solidFill>
            </a:ln>
          </p:spPr>
        </p:sp>
        <p:sp>
          <p:nvSpPr>
            <p:cNvPr id="46" name="Line 46"/>
            <p:cNvSpPr/>
            <p:nvPr/>
          </p:nvSpPr>
          <p:spPr>
            <a:xfrm>
              <a:off x="1333500" y="4476750"/>
              <a:ext cx="9525" cy="1047750"/>
            </a:xfrm>
            <a:custGeom>
              <a:avLst/>
              <a:gdLst/>
              <a:ahLst/>
              <a:cxnLst/>
              <a:rect l="l" t="t" r="r" b="b"/>
              <a:pathLst>
                <a:path w="9525" h="1047750">
                  <a:moveTo>
                    <a:pt x="0" y="1047750"/>
                  </a:moveTo>
                  <a:lnTo>
                    <a:pt x="0" y="0"/>
                  </a:lnTo>
                </a:path>
              </a:pathLst>
            </a:custGeom>
            <a:noFill/>
            <a:ln w="19050" cap="rnd">
              <a:solidFill>
                <a:schemeClr val="accent4"/>
              </a:solidFill>
            </a:ln>
          </p:spPr>
        </p:sp>
        <p:sp>
          <p:nvSpPr>
            <p:cNvPr id="47" name="TextBox 47"/>
            <p:cNvSpPr txBox="1"/>
            <p:nvPr/>
          </p:nvSpPr>
          <p:spPr>
            <a:xfrm>
              <a:off x="4099071" y="5674995"/>
              <a:ext cx="1707857" cy="176212"/>
            </a:xfrm>
            <a:prstGeom prst="rect">
              <a:avLst/>
            </a:prstGeom>
            <a:noFill/>
            <a:ln>
              <a:noFill/>
            </a:ln>
          </p:spPr>
          <p:txBody>
            <a:bodyPr wrap="none" lIns="0" tIns="0" rIns="0" bIns="0" anchor="t" anchorCtr="0">
              <a:spAutoFit/>
            </a:bodyPr>
            <a:lstStyle/>
            <a:p>
              <a:pPr algn="ctr"/>
              <a:r>
                <a:rPr lang="en-US" sz="900" b="1" dirty="0">
                  <a:solidFill>
                    <a:srgbClr val="6E82A6"/>
                  </a:solidFill>
                  <a:latin typeface="+mn-lt"/>
                  <a:ea typeface="+mn-ea"/>
                  <a:cs typeface="+mn-cs"/>
                </a:rPr>
                <a:t>visual overlap (low -&gt; high)</a:t>
              </a:r>
            </a:p>
          </p:txBody>
        </p:sp>
        <p:sp>
          <p:nvSpPr>
            <p:cNvPr id="48" name="TextBox 48"/>
            <p:cNvSpPr txBox="1"/>
            <p:nvPr/>
          </p:nvSpPr>
          <p:spPr>
            <a:xfrm>
              <a:off x="572030" y="4379595"/>
              <a:ext cx="632883" cy="176212"/>
            </a:xfrm>
            <a:prstGeom prst="rect">
              <a:avLst/>
            </a:prstGeom>
            <a:noFill/>
            <a:ln>
              <a:noFill/>
            </a:ln>
          </p:spPr>
          <p:txBody>
            <a:bodyPr wrap="none" lIns="0" tIns="0" rIns="0" bIns="0" anchor="t" anchorCtr="0">
              <a:spAutoFit/>
            </a:bodyPr>
            <a:lstStyle/>
            <a:p>
              <a:pPr algn="r"/>
              <a:r>
                <a:rPr lang="en-US" sz="900" b="1" dirty="0">
                  <a:solidFill>
                    <a:srgbClr val="6E82A6"/>
                  </a:solidFill>
                  <a:latin typeface="+mn-lt"/>
                  <a:ea typeface="+mn-ea"/>
                  <a:cs typeface="+mn-cs"/>
                </a:rPr>
                <a:t>% correct</a:t>
              </a:r>
            </a:p>
          </p:txBody>
        </p:sp>
        <p:sp>
          <p:nvSpPr>
            <p:cNvPr id="49" name="Freeform 49"/>
            <p:cNvSpPr/>
            <p:nvPr/>
          </p:nvSpPr>
          <p:spPr>
            <a:xfrm>
              <a:off x="1333500" y="4533900"/>
              <a:ext cx="7239000" cy="628650"/>
            </a:xfrm>
            <a:custGeom>
              <a:avLst/>
              <a:gdLst/>
              <a:ahLst/>
              <a:cxnLst/>
              <a:rect l="l" t="t" r="r" b="b"/>
              <a:pathLst>
                <a:path w="7239000" h="628650">
                  <a:moveTo>
                    <a:pt x="0" y="628650"/>
                  </a:moveTo>
                  <a:cubicBezTo>
                    <a:pt x="2286000" y="323850"/>
                    <a:pt x="4572000" y="76200"/>
                    <a:pt x="7239000" y="0"/>
                  </a:cubicBezTo>
                </a:path>
              </a:pathLst>
            </a:custGeom>
            <a:noFill/>
            <a:ln w="28575" cap="rnd">
              <a:solidFill>
                <a:schemeClr val="accent2"/>
              </a:solidFill>
              <a:round/>
            </a:ln>
          </p:spPr>
        </p:sp>
        <p:sp>
          <p:nvSpPr>
            <p:cNvPr id="50" name="Freeform 50"/>
            <p:cNvSpPr/>
            <p:nvPr/>
          </p:nvSpPr>
          <p:spPr>
            <a:xfrm>
              <a:off x="1333500" y="4591050"/>
              <a:ext cx="7239000" cy="876300"/>
            </a:xfrm>
            <a:custGeom>
              <a:avLst/>
              <a:gdLst/>
              <a:ahLst/>
              <a:cxnLst/>
              <a:rect l="l" t="t" r="r" b="b"/>
              <a:pathLst>
                <a:path w="7239000" h="876300">
                  <a:moveTo>
                    <a:pt x="0" y="876300"/>
                  </a:moveTo>
                  <a:cubicBezTo>
                    <a:pt x="2476500" y="800100"/>
                    <a:pt x="4953000" y="266700"/>
                    <a:pt x="7239000" y="0"/>
                  </a:cubicBezTo>
                </a:path>
              </a:pathLst>
            </a:custGeom>
            <a:noFill/>
            <a:ln w="28575" cap="rnd">
              <a:solidFill>
                <a:srgbClr val="F87171"/>
              </a:solidFill>
              <a:custDash>
                <a:ds d="200000" sp="166667"/>
              </a:custDash>
              <a:round/>
            </a:ln>
          </p:spPr>
        </p:sp>
        <p:sp>
          <p:nvSpPr>
            <p:cNvPr id="51" name="Rectangle 51"/>
            <p:cNvSpPr/>
            <p:nvPr/>
          </p:nvSpPr>
          <p:spPr>
            <a:xfrm>
              <a:off x="8858250" y="4610100"/>
              <a:ext cx="133350" cy="133350"/>
            </a:xfrm>
            <a:prstGeom prst="roundRect">
              <a:avLst>
                <a:gd name="adj" fmla="val 21429"/>
              </a:avLst>
            </a:prstGeom>
            <a:solidFill>
              <a:schemeClr val="accent2"/>
            </a:solidFill>
            <a:ln>
              <a:noFill/>
            </a:ln>
          </p:spPr>
        </p:sp>
        <p:sp>
          <p:nvSpPr>
            <p:cNvPr id="52" name="TextBox 52"/>
            <p:cNvSpPr txBox="1"/>
            <p:nvPr/>
          </p:nvSpPr>
          <p:spPr>
            <a:xfrm>
              <a:off x="9043988" y="4623197"/>
              <a:ext cx="1307483"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NeurHal (outpaints)</a:t>
              </a:r>
            </a:p>
          </p:txBody>
        </p:sp>
        <p:sp>
          <p:nvSpPr>
            <p:cNvPr id="53" name="Rectangle 53"/>
            <p:cNvSpPr/>
            <p:nvPr/>
          </p:nvSpPr>
          <p:spPr>
            <a:xfrm>
              <a:off x="8858250" y="4953000"/>
              <a:ext cx="133350" cy="133350"/>
            </a:xfrm>
            <a:prstGeom prst="roundRect">
              <a:avLst>
                <a:gd name="adj" fmla="val 21429"/>
              </a:avLst>
            </a:prstGeom>
            <a:solidFill>
              <a:srgbClr val="F87171"/>
            </a:solidFill>
            <a:ln>
              <a:noFill/>
            </a:ln>
          </p:spPr>
        </p:sp>
        <p:sp>
          <p:nvSpPr>
            <p:cNvPr id="54" name="TextBox 54"/>
            <p:cNvSpPr txBox="1"/>
            <p:nvPr/>
          </p:nvSpPr>
          <p:spPr>
            <a:xfrm>
              <a:off x="9043988" y="4966097"/>
              <a:ext cx="1065841"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best competitor</a:t>
              </a:r>
            </a:p>
          </p:txBody>
        </p:sp>
      </p:grpSp>
      <p:sp>
        <p:nvSpPr>
          <p:cNvPr id="56" name="cue_s07_c1_experiments_confirm_both_research_qu" title="cue_s07_c1_experiments_confirm_both_research_qu" descr="cue_s07_c1_experiments_confirm_both_research_qu The experiments confirm both research questions."/>
          <p:cNvSpPr/>
          <p:nvPr/>
        </p:nvSpPr>
        <p:spPr>
          <a:xfrm>
            <a:off x="609600" y="1428521"/>
            <a:ext cx="10972800" cy="4759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7_c2_neurhal_successfully_hallucinates_co" title="cue_s07_c2_neurhal_successfully_hallucinates_co" descr="cue_s07_c2_neurhal_successfully_hallucinates_co NeurHal successfully hallucinates correspondences on scenes it never saw during training, for occluded points that must be inpainted and for out of frame points that must be outpainted, with prediction errors concentrated well below what random guessing would"/>
          <p:cNvSpPr/>
          <p:nvPr/>
        </p:nvSpPr>
        <p:spPr>
          <a:xfrm>
            <a:off x="609600" y="2057400"/>
            <a:ext cx="5334000"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7_c3_state_art_matching_methods_like" title="cue_s07_c3_state_art_matching_methods_like" descr="cue_s07_c3_state_art_matching_methods_like State of the art matching methods like LoFTR, DRC Net, and S two D Net do poorly on inpainting and essentially cannot outpaint at all, since they only ever search inside the image boundaries."/>
          <p:cNvSpPr/>
          <p:nvPr/>
        </p:nvSpPr>
        <p:spPr>
          <a:xfrm>
            <a:off x="6133795" y="2057400"/>
            <a:ext cx="5448604"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7_c4_absolute_camera_pose_estimation_neur" title="cue_s07_c4_absolute_camera_pose_estimation_neur" descr="cue_s07_c4_absolute_camera_pose_estimation_neur And on absolute camera pose estimation, NeurHal is correct far more often than any competitor on low overlap pairs, precisely because it is the only method that can outpaint."/>
          <p:cNvSpPr/>
          <p:nvPr/>
        </p:nvSpPr>
        <p:spPr>
          <a:xfrm>
            <a:off x="609600" y="4019473"/>
            <a:ext cx="10972800" cy="17906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chemeClr val="accent1"/>
            </a:solidFill>
            <a:ln>
              <a:noFill/>
            </a:ln>
          </p:spPr>
        </p:sp>
      </p:grpSp>
      <p:sp>
        <p:nvSpPr>
          <p:cNvPr id="5" name="TextBox 5"/>
          <p:cNvSpPr txBox="1"/>
          <p:nvPr/>
        </p:nvSpPr>
        <p:spPr>
          <a:xfrm>
            <a:off x="604647" y="485299"/>
            <a:ext cx="1284049" cy="190690"/>
          </a:xfrm>
          <a:prstGeom prst="rect">
            <a:avLst/>
          </a:prstGeom>
          <a:noFill/>
          <a:ln>
            <a:noFill/>
          </a:ln>
        </p:spPr>
        <p:txBody>
          <a:bodyPr wrap="none" lIns="0" tIns="0" rIns="0" bIns="0" anchor="t" anchorCtr="0">
            <a:spAutoFit/>
          </a:bodyPr>
          <a:lstStyle/>
          <a:p>
            <a:pPr algn="l"/>
            <a:r>
              <a:rPr lang="en-US" sz="980" b="1" spc="225" dirty="0">
                <a:solidFill>
                  <a:schemeClr val="accent1"/>
                </a:solidFill>
                <a:latin typeface="+mn-lt"/>
                <a:ea typeface="+mn-ea"/>
                <a:cs typeface="+mn-cs"/>
              </a:rPr>
              <a:t>THE ABLATION</a:t>
            </a:r>
          </a:p>
        </p:txBody>
      </p:sp>
      <p:sp>
        <p:nvSpPr>
          <p:cNvPr id="6" name="TextBox 6"/>
          <p:cNvSpPr txBox="1"/>
          <p:nvPr/>
        </p:nvSpPr>
        <p:spPr>
          <a:xfrm>
            <a:off x="597027" y="723424"/>
            <a:ext cx="5376663"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j-lt"/>
                <a:ea typeface="+mj-ea"/>
                <a:cs typeface="+mj-cs"/>
              </a:rPr>
              <a:t>Outpainting Is What Matters</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07 / 10</a:t>
            </a:r>
          </a:p>
        </p:txBody>
      </p:sp>
      <p:grpSp>
        <p:nvGrpSpPr>
          <p:cNvPr id="13" name="Group 13"/>
          <p:cNvGrpSpPr/>
          <p:nvPr/>
        </p:nvGrpSpPr>
        <p:grpSpPr>
          <a:xfrm>
            <a:off x="609600" y="1428750"/>
            <a:ext cx="10972800" cy="609600"/>
            <a:chOff x="609600" y="1428750"/>
            <a:chExt cx="10972800" cy="609600"/>
          </a:xfrm>
        </p:grpSpPr>
        <p:sp>
          <p:nvSpPr>
            <p:cNvPr id="9" name="Rectangle 9"/>
            <p:cNvSpPr/>
            <p:nvPr/>
          </p:nvSpPr>
          <p:spPr>
            <a:xfrm>
              <a:off x="609600" y="1428750"/>
              <a:ext cx="10972800" cy="609600"/>
            </a:xfrm>
            <a:prstGeom prst="roundRect">
              <a:avLst>
                <a:gd name="adj" fmla="val 21875"/>
              </a:avLst>
            </a:prstGeom>
            <a:solidFill>
              <a:schemeClr val="lt2"/>
            </a:solidFill>
            <a:ln w="9525">
              <a:solidFill>
                <a:schemeClr val="accent4"/>
              </a:solidFill>
            </a:ln>
          </p:spPr>
        </p:sp>
        <p:sp>
          <p:nvSpPr>
            <p:cNvPr id="10" name="Rectangle 10"/>
            <p:cNvSpPr/>
            <p:nvPr/>
          </p:nvSpPr>
          <p:spPr>
            <a:xfrm>
              <a:off x="609600" y="1581150"/>
              <a:ext cx="47625" cy="304800"/>
            </a:xfrm>
            <a:prstGeom prst="roundRect">
              <a:avLst>
                <a:gd name="adj" fmla="val 40000"/>
              </a:avLst>
            </a:prstGeom>
            <a:solidFill>
              <a:schemeClr val="accent1"/>
            </a:solidFill>
            <a:ln>
              <a:noFill/>
            </a:ln>
          </p:spPr>
        </p:sp>
        <p:sp>
          <p:nvSpPr>
            <p:cNvPr id="11" name="TextBox 11"/>
            <p:cNvSpPr txBox="1"/>
            <p:nvPr/>
          </p:nvSpPr>
          <p:spPr>
            <a:xfrm>
              <a:off x="850773" y="1595914"/>
              <a:ext cx="783846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An ablation on ScanNet isolates what each task contributes to camera-pose robustness.</a:t>
              </a:r>
            </a:p>
          </p:txBody>
        </p:sp>
        <p:sp>
          <p:nvSpPr>
            <p:cNvPr id="12" name="TextBox 12"/>
            <p:cNvSpPr txBox="1"/>
            <p:nvPr/>
          </p:nvSpPr>
          <p:spPr>
            <a:xfrm>
              <a:off x="852297" y="1837849"/>
              <a:ext cx="594465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Training on all three tasks together — identify + inpaint + outpaint — gives the best results.</a:t>
              </a:r>
            </a:p>
          </p:txBody>
        </p:sp>
      </p:grpSp>
      <p:grpSp>
        <p:nvGrpSpPr>
          <p:cNvPr id="28" name="Group 28"/>
          <p:cNvGrpSpPr/>
          <p:nvPr/>
        </p:nvGrpSpPr>
        <p:grpSpPr>
          <a:xfrm>
            <a:off x="609600" y="2266950"/>
            <a:ext cx="6667500" cy="2762250"/>
            <a:chOff x="609600" y="2266950"/>
            <a:chExt cx="6667500" cy="2762250"/>
          </a:xfrm>
        </p:grpSpPr>
        <p:sp>
          <p:nvSpPr>
            <p:cNvPr id="14" name="Rectangle 14"/>
            <p:cNvSpPr/>
            <p:nvPr/>
          </p:nvSpPr>
          <p:spPr>
            <a:xfrm>
              <a:off x="609600" y="2266950"/>
              <a:ext cx="6667500" cy="2762250"/>
            </a:xfrm>
            <a:prstGeom prst="roundRect">
              <a:avLst>
                <a:gd name="adj" fmla="val 4828"/>
              </a:avLst>
            </a:prstGeom>
            <a:solidFill>
              <a:schemeClr val="lt2"/>
            </a:solidFill>
            <a:ln w="9525">
              <a:solidFill>
                <a:schemeClr val="accent4"/>
              </a:solidFill>
            </a:ln>
          </p:spPr>
        </p:sp>
        <p:sp>
          <p:nvSpPr>
            <p:cNvPr id="15" name="Rectangle 15"/>
            <p:cNvSpPr/>
            <p:nvPr/>
          </p:nvSpPr>
          <p:spPr>
            <a:xfrm>
              <a:off x="609600" y="2419350"/>
              <a:ext cx="47625" cy="2457450"/>
            </a:xfrm>
            <a:prstGeom prst="roundRect">
              <a:avLst>
                <a:gd name="adj" fmla="val 40000"/>
              </a:avLst>
            </a:prstGeom>
            <a:solidFill>
              <a:schemeClr val="accent2"/>
            </a:solidFill>
            <a:ln>
              <a:noFill/>
            </a:ln>
          </p:spPr>
        </p:sp>
        <p:sp>
          <p:nvSpPr>
            <p:cNvPr id="16" name="TextBox 16"/>
            <p:cNvSpPr txBox="1"/>
            <p:nvPr/>
          </p:nvSpPr>
          <p:spPr>
            <a:xfrm>
              <a:off x="851535" y="2488406"/>
              <a:ext cx="410116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Pose accuracy on low-overlap pairs by training tasks</a:t>
              </a:r>
            </a:p>
          </p:txBody>
        </p:sp>
        <p:sp>
          <p:nvSpPr>
            <p:cNvPr id="17" name="TextBox 17"/>
            <p:cNvSpPr txBox="1"/>
            <p:nvPr/>
          </p:nvSpPr>
          <p:spPr>
            <a:xfrm>
              <a:off x="1042606" y="2881551"/>
              <a:ext cx="892430"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Identify only</a:t>
              </a:r>
            </a:p>
          </p:txBody>
        </p:sp>
        <p:sp>
          <p:nvSpPr>
            <p:cNvPr id="18" name="Rectangle 18"/>
            <p:cNvSpPr/>
            <p:nvPr/>
          </p:nvSpPr>
          <p:spPr>
            <a:xfrm>
              <a:off x="1047750" y="3048000"/>
              <a:ext cx="5334000" cy="419100"/>
            </a:xfrm>
            <a:prstGeom prst="roundRect">
              <a:avLst>
                <a:gd name="adj" fmla="val 18182"/>
              </a:avLst>
            </a:prstGeom>
            <a:solidFill>
              <a:srgbClr val="24344F"/>
            </a:solidFill>
            <a:ln>
              <a:noFill/>
            </a:ln>
          </p:spPr>
        </p:sp>
        <p:sp>
          <p:nvSpPr>
            <p:cNvPr id="19" name="Rectangle 19"/>
            <p:cNvSpPr/>
            <p:nvPr/>
          </p:nvSpPr>
          <p:spPr>
            <a:xfrm>
              <a:off x="1047750" y="3048000"/>
              <a:ext cx="1600200" cy="419100"/>
            </a:xfrm>
            <a:prstGeom prst="roundRect">
              <a:avLst>
                <a:gd name="adj" fmla="val 18182"/>
              </a:avLst>
            </a:prstGeom>
            <a:solidFill>
              <a:srgbClr val="6E82A6"/>
            </a:solidFill>
            <a:ln>
              <a:noFill/>
            </a:ln>
          </p:spPr>
        </p:sp>
        <p:sp>
          <p:nvSpPr>
            <p:cNvPr id="20" name="TextBox 20"/>
            <p:cNvSpPr txBox="1"/>
            <p:nvPr/>
          </p:nvSpPr>
          <p:spPr>
            <a:xfrm>
              <a:off x="1042606" y="3453051"/>
              <a:ext cx="614747"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 Inpaint</a:t>
              </a:r>
            </a:p>
          </p:txBody>
        </p:sp>
        <p:sp>
          <p:nvSpPr>
            <p:cNvPr id="21" name="Rectangle 21"/>
            <p:cNvSpPr/>
            <p:nvPr/>
          </p:nvSpPr>
          <p:spPr>
            <a:xfrm>
              <a:off x="1047750" y="3619500"/>
              <a:ext cx="5334000" cy="419100"/>
            </a:xfrm>
            <a:prstGeom prst="roundRect">
              <a:avLst>
                <a:gd name="adj" fmla="val 18182"/>
              </a:avLst>
            </a:prstGeom>
            <a:solidFill>
              <a:srgbClr val="24344F"/>
            </a:solidFill>
            <a:ln>
              <a:noFill/>
            </a:ln>
          </p:spPr>
        </p:sp>
        <p:sp>
          <p:nvSpPr>
            <p:cNvPr id="22" name="Rectangle 22"/>
            <p:cNvSpPr/>
            <p:nvPr/>
          </p:nvSpPr>
          <p:spPr>
            <a:xfrm>
              <a:off x="1047750" y="3619500"/>
              <a:ext cx="1920240" cy="419100"/>
            </a:xfrm>
            <a:prstGeom prst="roundRect">
              <a:avLst>
                <a:gd name="adj" fmla="val 18182"/>
              </a:avLst>
            </a:prstGeom>
            <a:solidFill>
              <a:srgbClr val="FBBF24"/>
            </a:solidFill>
            <a:ln>
              <a:noFill/>
            </a:ln>
          </p:spPr>
        </p:sp>
        <p:sp>
          <p:nvSpPr>
            <p:cNvPr id="23" name="TextBox 23"/>
            <p:cNvSpPr txBox="1"/>
            <p:nvPr/>
          </p:nvSpPr>
          <p:spPr>
            <a:xfrm>
              <a:off x="1042606" y="4024551"/>
              <a:ext cx="1122405"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 Outpaint (all)</a:t>
              </a:r>
            </a:p>
          </p:txBody>
        </p:sp>
        <p:sp>
          <p:nvSpPr>
            <p:cNvPr id="24" name="Rectangle 24"/>
            <p:cNvSpPr/>
            <p:nvPr/>
          </p:nvSpPr>
          <p:spPr>
            <a:xfrm>
              <a:off x="1047750" y="4191000"/>
              <a:ext cx="5334000" cy="419100"/>
            </a:xfrm>
            <a:prstGeom prst="roundRect">
              <a:avLst>
                <a:gd name="adj" fmla="val 18182"/>
              </a:avLst>
            </a:prstGeom>
            <a:solidFill>
              <a:srgbClr val="24344F"/>
            </a:solidFill>
            <a:ln>
              <a:noFill/>
            </a:ln>
          </p:spPr>
        </p:sp>
        <p:sp>
          <p:nvSpPr>
            <p:cNvPr id="25" name="Rectangle 25"/>
            <p:cNvSpPr/>
            <p:nvPr/>
          </p:nvSpPr>
          <p:spPr>
            <a:xfrm>
              <a:off x="1047750" y="4191000"/>
              <a:ext cx="4587240" cy="419100"/>
            </a:xfrm>
            <a:prstGeom prst="roundRect">
              <a:avLst>
                <a:gd name="adj" fmla="val 18182"/>
              </a:avLst>
            </a:prstGeom>
            <a:solidFill>
              <a:schemeClr val="accent2"/>
            </a:solidFill>
            <a:ln>
              <a:noFill/>
            </a:ln>
          </p:spPr>
        </p:sp>
        <p:sp>
          <p:nvSpPr>
            <p:cNvPr id="26" name="TextBox 26"/>
            <p:cNvSpPr txBox="1"/>
            <p:nvPr/>
          </p:nvSpPr>
          <p:spPr>
            <a:xfrm>
              <a:off x="5744337" y="4361974"/>
              <a:ext cx="314659"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best</a:t>
              </a:r>
            </a:p>
          </p:txBody>
        </p:sp>
        <p:sp>
          <p:nvSpPr>
            <p:cNvPr id="27" name="TextBox 27"/>
            <p:cNvSpPr txBox="1"/>
            <p:nvPr/>
          </p:nvSpPr>
          <p:spPr>
            <a:xfrm>
              <a:off x="1042797" y="4695349"/>
              <a:ext cx="4045517" cy="190690"/>
            </a:xfrm>
            <a:prstGeom prst="rect">
              <a:avLst/>
            </a:prstGeom>
            <a:noFill/>
            <a:ln>
              <a:noFill/>
            </a:ln>
          </p:spPr>
          <p:txBody>
            <a:bodyPr wrap="none" lIns="0" tIns="0" rIns="0" bIns="0" anchor="t" anchorCtr="0">
              <a:spAutoFit/>
            </a:bodyPr>
            <a:lstStyle/>
            <a:p>
              <a:pPr algn="l"/>
              <a:r>
                <a:rPr lang="en-US" sz="980" b="1" i="1" dirty="0">
                  <a:solidFill>
                    <a:schemeClr val="accent2"/>
                  </a:solidFill>
                  <a:latin typeface="+mn-lt"/>
                  <a:ea typeface="+mn-ea"/>
                  <a:cs typeface="+mn-cs"/>
                </a:rPr>
                <a:t>Adding outpainting is what lifts low-overlap pose accuracy.</a:t>
              </a:r>
            </a:p>
          </p:txBody>
        </p:sp>
      </p:grpSp>
      <p:grpSp>
        <p:nvGrpSpPr>
          <p:cNvPr id="35" name="Group 35"/>
          <p:cNvGrpSpPr/>
          <p:nvPr/>
        </p:nvGrpSpPr>
        <p:grpSpPr>
          <a:xfrm>
            <a:off x="7467600" y="2266950"/>
            <a:ext cx="4114800" cy="1428750"/>
            <a:chOff x="7467600" y="2266950"/>
            <a:chExt cx="4114800" cy="1428750"/>
          </a:xfrm>
        </p:grpSpPr>
        <p:sp>
          <p:nvSpPr>
            <p:cNvPr id="29" name="Rectangle 29"/>
            <p:cNvSpPr/>
            <p:nvPr/>
          </p:nvSpPr>
          <p:spPr>
            <a:xfrm>
              <a:off x="7467600" y="2266950"/>
              <a:ext cx="4114800" cy="1428750"/>
            </a:xfrm>
            <a:prstGeom prst="roundRect">
              <a:avLst>
                <a:gd name="adj" fmla="val 9333"/>
              </a:avLst>
            </a:prstGeom>
            <a:solidFill>
              <a:schemeClr val="lt2"/>
            </a:solidFill>
            <a:ln w="9525">
              <a:solidFill>
                <a:schemeClr val="accent4"/>
              </a:solidFill>
            </a:ln>
          </p:spPr>
        </p:sp>
        <p:sp>
          <p:nvSpPr>
            <p:cNvPr id="30" name="Rectangle 30"/>
            <p:cNvSpPr/>
            <p:nvPr/>
          </p:nvSpPr>
          <p:spPr>
            <a:xfrm>
              <a:off x="7467600" y="2419350"/>
              <a:ext cx="47625" cy="1123950"/>
            </a:xfrm>
            <a:prstGeom prst="roundRect">
              <a:avLst>
                <a:gd name="adj" fmla="val 40000"/>
              </a:avLst>
            </a:prstGeom>
            <a:solidFill>
              <a:srgbClr val="FBBF24"/>
            </a:solidFill>
            <a:ln>
              <a:noFill/>
            </a:ln>
          </p:spPr>
        </p:sp>
        <p:sp>
          <p:nvSpPr>
            <p:cNvPr id="31" name="TextBox 31"/>
            <p:cNvSpPr txBox="1"/>
            <p:nvPr/>
          </p:nvSpPr>
          <p:spPr>
            <a:xfrm>
              <a:off x="7709535" y="2488406"/>
              <a:ext cx="1789316" cy="220028"/>
            </a:xfrm>
            <a:prstGeom prst="rect">
              <a:avLst/>
            </a:prstGeom>
            <a:noFill/>
            <a:ln>
              <a:noFill/>
            </a:ln>
          </p:spPr>
          <p:txBody>
            <a:bodyPr wrap="none" lIns="0" tIns="0" rIns="0" bIns="0" anchor="t" anchorCtr="0">
              <a:spAutoFit/>
            </a:bodyPr>
            <a:lstStyle/>
            <a:p>
              <a:pPr algn="l"/>
              <a:r>
                <a:rPr lang="en-US" sz="1120" b="1" dirty="0">
                  <a:solidFill>
                    <a:srgbClr val="FBBF24"/>
                  </a:solidFill>
                  <a:latin typeface="+mn-lt"/>
                  <a:ea typeface="+mn-ea"/>
                  <a:cs typeface="+mn-cs"/>
                </a:rPr>
                <a:t>Inpainting: little extra</a:t>
              </a:r>
            </a:p>
          </p:txBody>
        </p:sp>
        <p:sp>
          <p:nvSpPr>
            <p:cNvPr id="32" name="TextBox 32"/>
            <p:cNvSpPr txBox="1"/>
            <p:nvPr/>
          </p:nvSpPr>
          <p:spPr>
            <a:xfrm>
              <a:off x="7710106" y="2786301"/>
              <a:ext cx="2101587"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Adding the inpainting task alone</a:t>
              </a:r>
            </a:p>
          </p:txBody>
        </p:sp>
        <p:sp>
          <p:nvSpPr>
            <p:cNvPr id="33" name="TextBox 33"/>
            <p:cNvSpPr txBox="1"/>
            <p:nvPr/>
          </p:nvSpPr>
          <p:spPr>
            <a:xfrm>
              <a:off x="7710106" y="2986326"/>
              <a:ext cx="221973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brings little additional benefit to</a:t>
              </a:r>
            </a:p>
          </p:txBody>
        </p:sp>
        <p:sp>
          <p:nvSpPr>
            <p:cNvPr id="34" name="TextBox 34"/>
            <p:cNvSpPr txBox="1"/>
            <p:nvPr/>
          </p:nvSpPr>
          <p:spPr>
            <a:xfrm>
              <a:off x="7710106" y="3186351"/>
              <a:ext cx="1648680"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camera pose estimation.</a:t>
              </a:r>
            </a:p>
          </p:txBody>
        </p:sp>
      </p:grpSp>
      <p:grpSp>
        <p:nvGrpSpPr>
          <p:cNvPr id="42" name="Group 42"/>
          <p:cNvGrpSpPr/>
          <p:nvPr/>
        </p:nvGrpSpPr>
        <p:grpSpPr>
          <a:xfrm>
            <a:off x="7467600" y="3848100"/>
            <a:ext cx="5121016" cy="1181100"/>
            <a:chOff x="7467600" y="3848100"/>
            <a:chExt cx="5121016" cy="1181100"/>
          </a:xfrm>
        </p:grpSpPr>
        <p:sp>
          <p:nvSpPr>
            <p:cNvPr id="36" name="Rectangle 36"/>
            <p:cNvSpPr/>
            <p:nvPr/>
          </p:nvSpPr>
          <p:spPr>
            <a:xfrm>
              <a:off x="7467600" y="3848100"/>
              <a:ext cx="4114800" cy="1181100"/>
            </a:xfrm>
            <a:prstGeom prst="roundRect">
              <a:avLst>
                <a:gd name="adj" fmla="val 11290"/>
              </a:avLst>
            </a:prstGeom>
            <a:solidFill>
              <a:schemeClr val="lt2"/>
            </a:solidFill>
            <a:ln w="9525">
              <a:solidFill>
                <a:schemeClr val="accent4"/>
              </a:solidFill>
            </a:ln>
          </p:spPr>
        </p:sp>
        <p:sp>
          <p:nvSpPr>
            <p:cNvPr id="37" name="Rectangle 37"/>
            <p:cNvSpPr/>
            <p:nvPr/>
          </p:nvSpPr>
          <p:spPr>
            <a:xfrm>
              <a:off x="7467600" y="4000500"/>
              <a:ext cx="47625" cy="876300"/>
            </a:xfrm>
            <a:prstGeom prst="roundRect">
              <a:avLst>
                <a:gd name="adj" fmla="val 40000"/>
              </a:avLst>
            </a:prstGeom>
            <a:solidFill>
              <a:srgbClr val="A78BFA"/>
            </a:solidFill>
            <a:ln>
              <a:noFill/>
            </a:ln>
          </p:spPr>
        </p:sp>
        <p:sp>
          <p:nvSpPr>
            <p:cNvPr id="38" name="TextBox 38"/>
            <p:cNvSpPr txBox="1"/>
            <p:nvPr/>
          </p:nvSpPr>
          <p:spPr>
            <a:xfrm>
              <a:off x="7709916" y="4058602"/>
              <a:ext cx="1655850" cy="205359"/>
            </a:xfrm>
            <a:prstGeom prst="rect">
              <a:avLst/>
            </a:prstGeom>
            <a:noFill/>
            <a:ln>
              <a:noFill/>
            </a:ln>
          </p:spPr>
          <p:txBody>
            <a:bodyPr wrap="none" lIns="0" tIns="0" rIns="0" bIns="0" anchor="t" anchorCtr="0">
              <a:spAutoFit/>
            </a:bodyPr>
            <a:lstStyle/>
            <a:p>
              <a:pPr algn="l"/>
              <a:r>
                <a:rPr lang="en-US" sz="1050" b="1" dirty="0">
                  <a:solidFill>
                    <a:srgbClr val="A78BFA"/>
                  </a:solidFill>
                  <a:latin typeface="+mn-lt"/>
                  <a:ea typeface="+mn-ea"/>
                  <a:cs typeface="+mn-cs"/>
                </a:rPr>
                <a:t>A pose is correct when</a:t>
              </a:r>
            </a:p>
          </p:txBody>
        </p:sp>
        <p:sp>
          <p:nvSpPr>
            <p:cNvPr id="39" name="TextBox 39"/>
            <p:cNvSpPr txBox="1"/>
            <p:nvPr/>
          </p:nvSpPr>
          <p:spPr>
            <a:xfrm>
              <a:off x="7707630" y="4352925"/>
              <a:ext cx="95875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rot &lt; 20°</a:t>
              </a:r>
            </a:p>
          </p:txBody>
        </p:sp>
        <p:sp>
          <p:nvSpPr>
            <p:cNvPr id="40" name="TextBox 40"/>
            <p:cNvSpPr txBox="1"/>
            <p:nvPr/>
          </p:nvSpPr>
          <p:spPr>
            <a:xfrm>
              <a:off x="8947404" y="4385310"/>
              <a:ext cx="1462453" cy="234696"/>
            </a:xfrm>
            <a:prstGeom prst="rect">
              <a:avLst/>
            </a:prstGeom>
            <a:noFill/>
            <a:ln>
              <a:noFill/>
            </a:ln>
          </p:spPr>
          <p:txBody>
            <a:bodyPr wrap="none" lIns="0" tIns="0" rIns="0" bIns="0" anchor="t" anchorCtr="0">
              <a:spAutoFit/>
            </a:bodyPr>
            <a:lstStyle/>
            <a:p>
              <a:pPr algn="l"/>
              <a:r>
                <a:rPr lang="en-US" sz="1200" b="1" dirty="0">
                  <a:solidFill>
                    <a:schemeClr val="dk2"/>
                  </a:solidFill>
                  <a:latin typeface="+mn-lt"/>
                  <a:ea typeface="+mn-ea"/>
                  <a:cs typeface="+mn-cs"/>
                </a:rPr>
                <a:t>and trans &lt; 1.5 m</a:t>
              </a:r>
            </a:p>
          </p:txBody>
        </p:sp>
        <p:sp>
          <p:nvSpPr>
            <p:cNvPr id="41" name="TextBox 41"/>
            <p:cNvSpPr txBox="1"/>
            <p:nvPr/>
          </p:nvSpPr>
          <p:spPr>
            <a:xfrm>
              <a:off x="7710488" y="4722495"/>
              <a:ext cx="4878128" cy="176212"/>
            </a:xfrm>
            <a:prstGeom prst="rect">
              <a:avLst/>
            </a:prstGeom>
            <a:noFill/>
            <a:ln>
              <a:noFill/>
            </a:ln>
          </p:spPr>
          <p:txBody>
            <a:bodyPr wrap="none" lIns="0" tIns="0" rIns="0" bIns="0" anchor="t" anchorCtr="0">
              <a:spAutoFit/>
            </a:bodyPr>
            <a:lstStyle/>
            <a:p>
              <a:pPr algn="l"/>
              <a:r>
                <a:rPr lang="en-US" sz="900" dirty="0">
                  <a:solidFill>
                    <a:srgbClr val="6E82A6"/>
                  </a:solidFill>
                  <a:latin typeface="+mn-lt"/>
                  <a:ea typeface="+mn-ea"/>
                  <a:cs typeface="+mn-cs"/>
                </a:rPr>
                <a:t>Most correspondents on low-overlap pairs fall outside the target's field of view.</a:t>
              </a:r>
            </a:p>
          </p:txBody>
        </p:sp>
      </p:grpSp>
      <p:sp>
        <p:nvSpPr>
          <p:cNvPr id="43" name="cue_s08_c1_ablation_scannet_isolates_what_task" title="cue_s08_c1_ablation_scannet_isolates_what_task" descr="cue_s08_c1_ablation_scannet_isolates_what_task An ablation on ScanNet isolates what each task contributes to pose robustness. Training NeurHal on all three tasks together, identification, inpainting, and outpainting, gives the best results."/>
          <p:cNvSpPr/>
          <p:nvPr/>
        </p:nvSpPr>
        <p:spPr>
          <a:xfrm>
            <a:off x="609600" y="1428521"/>
            <a:ext cx="10972800" cy="609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8_c2_key_finding_adding_outpainting_task" title="cue_s08_c2_key_finding_adding_outpainting_task" descr="cue_s08_c2_key_finding_adding_outpainting_task The key finding is that adding the outpainting task is what drives the improvement on low overlap pairs, where most correspondents fall outside the target's field of view."/>
          <p:cNvSpPr/>
          <p:nvPr/>
        </p:nvSpPr>
        <p:spPr>
          <a:xfrm>
            <a:off x="609600" y="2267254"/>
            <a:ext cx="6667804" cy="27624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8_c3_adding_inpainting_contrast_brings_li" title="cue_s08_c3_adding_inpainting_contrast_brings_li" descr="cue_s08_c3_adding_inpainting_contrast_brings_li Adding inpainting, by contrast, brings little additional benefit to camera pose estimation."/>
          <p:cNvSpPr/>
          <p:nvPr/>
        </p:nvSpPr>
        <p:spPr>
          <a:xfrm>
            <a:off x="7467600" y="2267254"/>
            <a:ext cx="4114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8_c4_pose_counts_correct_when_rotation" title="cue_s08_c4_pose_counts_correct_when_rotation" descr="cue_s08_c4_pose_counts_correct_when_rotation Here a pose counts as correct when rotation error is under twenty degrees and translation error under one point five meters."/>
          <p:cNvSpPr/>
          <p:nvPr/>
        </p:nvSpPr>
        <p:spPr>
          <a:xfrm>
            <a:off x="7467600" y="3848023"/>
            <a:ext cx="47244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chemeClr val="accent1"/>
            </a:solidFill>
            <a:ln>
              <a:noFill/>
            </a:ln>
          </p:spPr>
        </p:sp>
      </p:grpSp>
      <p:sp>
        <p:nvSpPr>
          <p:cNvPr id="5" name="TextBox 5"/>
          <p:cNvSpPr txBox="1"/>
          <p:nvPr/>
        </p:nvSpPr>
        <p:spPr>
          <a:xfrm>
            <a:off x="604647" y="485299"/>
            <a:ext cx="1509059" cy="190690"/>
          </a:xfrm>
          <a:prstGeom prst="rect">
            <a:avLst/>
          </a:prstGeom>
          <a:noFill/>
          <a:ln>
            <a:noFill/>
          </a:ln>
        </p:spPr>
        <p:txBody>
          <a:bodyPr wrap="none" lIns="0" tIns="0" rIns="0" bIns="0" anchor="t" anchorCtr="0">
            <a:spAutoFit/>
          </a:bodyPr>
          <a:lstStyle/>
          <a:p>
            <a:pPr algn="l"/>
            <a:r>
              <a:rPr lang="en-US" sz="980" b="1" spc="225" dirty="0">
                <a:solidFill>
                  <a:schemeClr val="accent1"/>
                </a:solidFill>
                <a:latin typeface="+mn-lt"/>
                <a:ea typeface="+mn-ea"/>
                <a:cs typeface="+mn-cs"/>
              </a:rPr>
              <a:t>BY THE NUMBERS</a:t>
            </a:r>
          </a:p>
        </p:txBody>
      </p:sp>
      <p:sp>
        <p:nvSpPr>
          <p:cNvPr id="6" name="TextBox 6"/>
          <p:cNvSpPr txBox="1"/>
          <p:nvPr/>
        </p:nvSpPr>
        <p:spPr>
          <a:xfrm>
            <a:off x="597027" y="723424"/>
            <a:ext cx="3858630"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j-lt"/>
                <a:ea typeface="+mj-ea"/>
                <a:cs typeface="+mj-cs"/>
              </a:rPr>
              <a:t>The Setup, Anchored</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08 / 10</a:t>
            </a:r>
          </a:p>
        </p:txBody>
      </p:sp>
      <p:grpSp>
        <p:nvGrpSpPr>
          <p:cNvPr id="12" name="Group 12"/>
          <p:cNvGrpSpPr/>
          <p:nvPr/>
        </p:nvGrpSpPr>
        <p:grpSpPr>
          <a:xfrm>
            <a:off x="609600" y="1428750"/>
            <a:ext cx="10972800" cy="457200"/>
            <a:chOff x="609600" y="1428750"/>
            <a:chExt cx="10972800" cy="457200"/>
          </a:xfrm>
        </p:grpSpPr>
        <p:sp>
          <p:nvSpPr>
            <p:cNvPr id="9" name="Rectangle 9"/>
            <p:cNvSpPr/>
            <p:nvPr/>
          </p:nvSpPr>
          <p:spPr>
            <a:xfrm>
              <a:off x="609600" y="1428750"/>
              <a:ext cx="10972800" cy="457200"/>
            </a:xfrm>
            <a:prstGeom prst="roundRect">
              <a:avLst>
                <a:gd name="adj" fmla="val 29167"/>
              </a:avLst>
            </a:prstGeom>
            <a:solidFill>
              <a:schemeClr val="accent6"/>
            </a:solidFill>
            <a:ln w="9525">
              <a:solidFill>
                <a:schemeClr val="accent4"/>
              </a:solidFill>
            </a:ln>
          </p:spPr>
        </p:sp>
        <p:sp>
          <p:nvSpPr>
            <p:cNvPr id="10" name="Rectangle 10"/>
            <p:cNvSpPr/>
            <p:nvPr/>
          </p:nvSpPr>
          <p:spPr>
            <a:xfrm>
              <a:off x="609600" y="1581150"/>
              <a:ext cx="47625" cy="152400"/>
            </a:xfrm>
            <a:prstGeom prst="roundRect">
              <a:avLst>
                <a:gd name="adj" fmla="val 40000"/>
              </a:avLst>
            </a:prstGeom>
            <a:solidFill>
              <a:schemeClr val="accent1"/>
            </a:solidFill>
            <a:ln>
              <a:noFill/>
            </a:ln>
          </p:spPr>
        </p:sp>
        <p:sp>
          <p:nvSpPr>
            <p:cNvPr id="11" name="TextBox 11"/>
            <p:cNvSpPr txBox="1"/>
            <p:nvPr/>
          </p:nvSpPr>
          <p:spPr>
            <a:xfrm>
              <a:off x="851154" y="1584960"/>
              <a:ext cx="6780485"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 few numbers anchor exactly how NeurHal is evaluated and what it uniquely does.</a:t>
              </a:r>
            </a:p>
          </p:txBody>
        </p:sp>
      </p:grpSp>
      <p:grpSp>
        <p:nvGrpSpPr>
          <p:cNvPr id="24" name="Group 24"/>
          <p:cNvGrpSpPr/>
          <p:nvPr/>
        </p:nvGrpSpPr>
        <p:grpSpPr>
          <a:xfrm>
            <a:off x="609600" y="2038350"/>
            <a:ext cx="5334000" cy="1714500"/>
            <a:chOff x="609600" y="2038350"/>
            <a:chExt cx="5334000" cy="1714500"/>
          </a:xfrm>
        </p:grpSpPr>
        <p:sp>
          <p:nvSpPr>
            <p:cNvPr id="13" name="Rectangle 13"/>
            <p:cNvSpPr/>
            <p:nvPr/>
          </p:nvSpPr>
          <p:spPr>
            <a:xfrm>
              <a:off x="609600" y="2038350"/>
              <a:ext cx="5334000" cy="1714500"/>
            </a:xfrm>
            <a:prstGeom prst="roundRect">
              <a:avLst>
                <a:gd name="adj" fmla="val 7778"/>
              </a:avLst>
            </a:prstGeom>
            <a:solidFill>
              <a:schemeClr val="lt2"/>
            </a:solidFill>
            <a:ln w="9525">
              <a:solidFill>
                <a:schemeClr val="accent4"/>
              </a:solidFill>
            </a:ln>
          </p:spPr>
        </p:sp>
        <p:sp>
          <p:nvSpPr>
            <p:cNvPr id="14" name="TextBox 14"/>
            <p:cNvSpPr txBox="1"/>
            <p:nvPr/>
          </p:nvSpPr>
          <p:spPr>
            <a:xfrm>
              <a:off x="851535" y="2259806"/>
              <a:ext cx="1813369"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Pose-correct criterion</a:t>
              </a:r>
            </a:p>
          </p:txBody>
        </p:sp>
        <p:sp>
          <p:nvSpPr>
            <p:cNvPr id="15" name="Rectangle 15"/>
            <p:cNvSpPr/>
            <p:nvPr/>
          </p:nvSpPr>
          <p:spPr>
            <a:xfrm>
              <a:off x="857250" y="2647950"/>
              <a:ext cx="1524000" cy="876300"/>
            </a:xfrm>
            <a:prstGeom prst="roundRect">
              <a:avLst>
                <a:gd name="adj" fmla="val 10870"/>
              </a:avLst>
            </a:prstGeom>
            <a:solidFill>
              <a:schemeClr val="accent6"/>
            </a:solidFill>
            <a:ln w="9525">
              <a:solidFill>
                <a:schemeClr val="accent1"/>
              </a:solidFill>
            </a:ln>
          </p:spPr>
        </p:sp>
        <p:sp>
          <p:nvSpPr>
            <p:cNvPr id="16" name="TextBox 16"/>
            <p:cNvSpPr txBox="1"/>
            <p:nvPr/>
          </p:nvSpPr>
          <p:spPr>
            <a:xfrm>
              <a:off x="1381946" y="2894648"/>
              <a:ext cx="474609" cy="381381"/>
            </a:xfrm>
            <a:prstGeom prst="rect">
              <a:avLst/>
            </a:prstGeom>
            <a:noFill/>
            <a:ln>
              <a:noFill/>
            </a:ln>
          </p:spPr>
          <p:txBody>
            <a:bodyPr wrap="none" lIns="0" tIns="0" rIns="0" bIns="0" anchor="t" anchorCtr="0">
              <a:spAutoFit/>
            </a:bodyPr>
            <a:lstStyle/>
            <a:p>
              <a:pPr algn="ctr"/>
              <a:r>
                <a:rPr lang="en-US" sz="1950" b="1" dirty="0">
                  <a:solidFill>
                    <a:schemeClr val="accent1"/>
                  </a:solidFill>
                  <a:latin typeface="+mn-lt"/>
                  <a:ea typeface="+mn-ea"/>
                  <a:cs typeface="+mn-cs"/>
                </a:rPr>
                <a:t>20°</a:t>
              </a:r>
            </a:p>
          </p:txBody>
        </p:sp>
        <p:sp>
          <p:nvSpPr>
            <p:cNvPr id="17" name="TextBox 17"/>
            <p:cNvSpPr txBox="1"/>
            <p:nvPr/>
          </p:nvSpPr>
          <p:spPr>
            <a:xfrm>
              <a:off x="985838" y="3240643"/>
              <a:ext cx="1121816" cy="169069"/>
            </a:xfrm>
            <a:prstGeom prst="rect">
              <a:avLst/>
            </a:prstGeom>
            <a:noFill/>
            <a:ln>
              <a:noFill/>
            </a:ln>
          </p:spPr>
          <p:txBody>
            <a:bodyPr wrap="none" lIns="0" tIns="0" rIns="0" bIns="0" anchor="t" anchorCtr="0">
              <a:spAutoFit/>
            </a:bodyPr>
            <a:lstStyle/>
            <a:p>
              <a:pPr algn="l"/>
              <a:r>
                <a:rPr lang="en-US" sz="860" b="1" dirty="0">
                  <a:solidFill>
                    <a:schemeClr val="dk2"/>
                  </a:solidFill>
                  <a:latin typeface="+mn-lt"/>
                  <a:ea typeface="+mn-ea"/>
                  <a:cs typeface="+mn-cs"/>
                </a:rPr>
                <a:t>rotation threshold</a:t>
              </a:r>
            </a:p>
          </p:txBody>
        </p:sp>
        <p:sp>
          <p:nvSpPr>
            <p:cNvPr id="18" name="Rectangle 18"/>
            <p:cNvSpPr/>
            <p:nvPr/>
          </p:nvSpPr>
          <p:spPr>
            <a:xfrm>
              <a:off x="2552700" y="2647950"/>
              <a:ext cx="1524000" cy="876300"/>
            </a:xfrm>
            <a:prstGeom prst="roundRect">
              <a:avLst>
                <a:gd name="adj" fmla="val 10870"/>
              </a:avLst>
            </a:prstGeom>
            <a:solidFill>
              <a:schemeClr val="accent6"/>
            </a:solidFill>
            <a:ln w="9525">
              <a:solidFill>
                <a:srgbClr val="A78BFA"/>
              </a:solidFill>
            </a:ln>
          </p:spPr>
        </p:sp>
        <p:sp>
          <p:nvSpPr>
            <p:cNvPr id="19" name="TextBox 19"/>
            <p:cNvSpPr txBox="1"/>
            <p:nvPr/>
          </p:nvSpPr>
          <p:spPr>
            <a:xfrm>
              <a:off x="2932687" y="2894648"/>
              <a:ext cx="764025" cy="381381"/>
            </a:xfrm>
            <a:prstGeom prst="rect">
              <a:avLst/>
            </a:prstGeom>
            <a:noFill/>
            <a:ln>
              <a:noFill/>
            </a:ln>
          </p:spPr>
          <p:txBody>
            <a:bodyPr wrap="none" lIns="0" tIns="0" rIns="0" bIns="0" anchor="t" anchorCtr="0">
              <a:spAutoFit/>
            </a:bodyPr>
            <a:lstStyle/>
            <a:p>
              <a:pPr algn="ctr"/>
              <a:r>
                <a:rPr lang="en-US" sz="1950" b="1" dirty="0">
                  <a:solidFill>
                    <a:srgbClr val="A78BFA"/>
                  </a:solidFill>
                  <a:latin typeface="+mn-lt"/>
                  <a:ea typeface="+mn-ea"/>
                  <a:cs typeface="+mn-cs"/>
                </a:rPr>
                <a:t>1.5 m</a:t>
              </a:r>
            </a:p>
          </p:txBody>
        </p:sp>
        <p:sp>
          <p:nvSpPr>
            <p:cNvPr id="20" name="TextBox 20"/>
            <p:cNvSpPr txBox="1"/>
            <p:nvPr/>
          </p:nvSpPr>
          <p:spPr>
            <a:xfrm>
              <a:off x="2681288" y="3240643"/>
              <a:ext cx="1292003" cy="169069"/>
            </a:xfrm>
            <a:prstGeom prst="rect">
              <a:avLst/>
            </a:prstGeom>
            <a:noFill/>
            <a:ln>
              <a:noFill/>
            </a:ln>
          </p:spPr>
          <p:txBody>
            <a:bodyPr wrap="none" lIns="0" tIns="0" rIns="0" bIns="0" anchor="t" anchorCtr="0">
              <a:spAutoFit/>
            </a:bodyPr>
            <a:lstStyle/>
            <a:p>
              <a:pPr algn="l"/>
              <a:r>
                <a:rPr lang="en-US" sz="860" b="1" dirty="0">
                  <a:solidFill>
                    <a:schemeClr val="dk2"/>
                  </a:solidFill>
                  <a:latin typeface="+mn-lt"/>
                  <a:ea typeface="+mn-ea"/>
                  <a:cs typeface="+mn-cs"/>
                </a:rPr>
                <a:t>translation threshold</a:t>
              </a:r>
            </a:p>
          </p:txBody>
        </p:sp>
        <p:sp>
          <p:nvSpPr>
            <p:cNvPr id="21" name="Rectangle 21"/>
            <p:cNvSpPr/>
            <p:nvPr/>
          </p:nvSpPr>
          <p:spPr>
            <a:xfrm>
              <a:off x="4248150" y="2647950"/>
              <a:ext cx="1524000" cy="876300"/>
            </a:xfrm>
            <a:prstGeom prst="roundRect">
              <a:avLst>
                <a:gd name="adj" fmla="val 10870"/>
              </a:avLst>
            </a:prstGeom>
            <a:solidFill>
              <a:schemeClr val="accent6"/>
            </a:solidFill>
            <a:ln w="9525">
              <a:solidFill>
                <a:schemeClr val="accent2"/>
              </a:solidFill>
            </a:ln>
          </p:spPr>
        </p:sp>
        <p:sp>
          <p:nvSpPr>
            <p:cNvPr id="22" name="TextBox 22"/>
            <p:cNvSpPr txBox="1"/>
            <p:nvPr/>
          </p:nvSpPr>
          <p:spPr>
            <a:xfrm>
              <a:off x="4621247" y="2894648"/>
              <a:ext cx="777807" cy="381381"/>
            </a:xfrm>
            <a:prstGeom prst="rect">
              <a:avLst/>
            </a:prstGeom>
            <a:noFill/>
            <a:ln>
              <a:noFill/>
            </a:ln>
          </p:spPr>
          <p:txBody>
            <a:bodyPr wrap="none" lIns="0" tIns="0" rIns="0" bIns="0" anchor="t" anchorCtr="0">
              <a:spAutoFit/>
            </a:bodyPr>
            <a:lstStyle/>
            <a:p>
              <a:pPr algn="ctr"/>
              <a:r>
                <a:rPr lang="en-US" sz="1950" b="1" dirty="0">
                  <a:solidFill>
                    <a:schemeClr val="accent2"/>
                  </a:solidFill>
                  <a:latin typeface="+mn-lt"/>
                  <a:ea typeface="+mn-ea"/>
                  <a:cs typeface="+mn-cs"/>
                </a:rPr>
                <a:t>2,500</a:t>
              </a:r>
            </a:p>
          </p:txBody>
        </p:sp>
        <p:sp>
          <p:nvSpPr>
            <p:cNvPr id="23" name="TextBox 23"/>
            <p:cNvSpPr txBox="1"/>
            <p:nvPr/>
          </p:nvSpPr>
          <p:spPr>
            <a:xfrm>
              <a:off x="4376738" y="3240643"/>
              <a:ext cx="1366901" cy="169069"/>
            </a:xfrm>
            <a:prstGeom prst="rect">
              <a:avLst/>
            </a:prstGeom>
            <a:noFill/>
            <a:ln>
              <a:noFill/>
            </a:ln>
          </p:spPr>
          <p:txBody>
            <a:bodyPr wrap="none" lIns="0" tIns="0" rIns="0" bIns="0" anchor="t" anchorCtr="0">
              <a:spAutoFit/>
            </a:bodyPr>
            <a:lstStyle/>
            <a:p>
              <a:pPr algn="l"/>
              <a:r>
                <a:rPr lang="en-US" sz="860" b="1" dirty="0">
                  <a:solidFill>
                    <a:schemeClr val="dk2"/>
                  </a:solidFill>
                  <a:latin typeface="+mn-lt"/>
                  <a:ea typeface="+mn-ea"/>
                  <a:cs typeface="+mn-cs"/>
                </a:rPr>
                <a:t>held-out ScanNet pairs</a:t>
              </a:r>
            </a:p>
          </p:txBody>
        </p:sp>
      </p:grpSp>
      <p:grpSp>
        <p:nvGrpSpPr>
          <p:cNvPr id="37" name="Group 37"/>
          <p:cNvGrpSpPr/>
          <p:nvPr/>
        </p:nvGrpSpPr>
        <p:grpSpPr>
          <a:xfrm>
            <a:off x="6134100" y="2038350"/>
            <a:ext cx="5448300" cy="1777603"/>
            <a:chOff x="6134100" y="2038350"/>
            <a:chExt cx="5448300" cy="1777603"/>
          </a:xfrm>
        </p:grpSpPr>
        <p:sp>
          <p:nvSpPr>
            <p:cNvPr id="25" name="Rectangle 25"/>
            <p:cNvSpPr/>
            <p:nvPr/>
          </p:nvSpPr>
          <p:spPr>
            <a:xfrm>
              <a:off x="6134100" y="2038350"/>
              <a:ext cx="5448300" cy="1714500"/>
            </a:xfrm>
            <a:prstGeom prst="roundRect">
              <a:avLst>
                <a:gd name="adj" fmla="val 7778"/>
              </a:avLst>
            </a:prstGeom>
            <a:solidFill>
              <a:schemeClr val="lt2"/>
            </a:solidFill>
            <a:ln w="9525">
              <a:solidFill>
                <a:schemeClr val="accent4"/>
              </a:solidFill>
            </a:ln>
          </p:spPr>
        </p:sp>
        <p:sp>
          <p:nvSpPr>
            <p:cNvPr id="26" name="Rectangle 26"/>
            <p:cNvSpPr/>
            <p:nvPr/>
          </p:nvSpPr>
          <p:spPr>
            <a:xfrm>
              <a:off x="6134100" y="2190750"/>
              <a:ext cx="47625" cy="1409700"/>
            </a:xfrm>
            <a:prstGeom prst="roundRect">
              <a:avLst>
                <a:gd name="adj" fmla="val 40000"/>
              </a:avLst>
            </a:prstGeom>
            <a:solidFill>
              <a:srgbClr val="FBBF24"/>
            </a:solidFill>
            <a:ln>
              <a:noFill/>
            </a:ln>
          </p:spPr>
        </p:sp>
        <p:sp>
          <p:nvSpPr>
            <p:cNvPr id="27" name="TextBox 27"/>
            <p:cNvSpPr txBox="1"/>
            <p:nvPr/>
          </p:nvSpPr>
          <p:spPr>
            <a:xfrm>
              <a:off x="6395085" y="2259806"/>
              <a:ext cx="2549384" cy="220028"/>
            </a:xfrm>
            <a:prstGeom prst="rect">
              <a:avLst/>
            </a:prstGeom>
            <a:noFill/>
            <a:ln>
              <a:noFill/>
            </a:ln>
          </p:spPr>
          <p:txBody>
            <a:bodyPr wrap="none" lIns="0" tIns="0" rIns="0" bIns="0" anchor="t" anchorCtr="0">
              <a:spAutoFit/>
            </a:bodyPr>
            <a:lstStyle/>
            <a:p>
              <a:pPr algn="l"/>
              <a:r>
                <a:rPr lang="en-US" sz="1120" b="1" dirty="0">
                  <a:solidFill>
                    <a:srgbClr val="FBBF24"/>
                  </a:solidFill>
                  <a:latin typeface="+mn-lt"/>
                  <a:ea typeface="+mn-ea"/>
                  <a:cs typeface="+mn-cs"/>
                </a:rPr>
                <a:t>Deliberately low-resolution maps</a:t>
              </a:r>
            </a:p>
          </p:txBody>
        </p:sp>
        <p:sp>
          <p:nvSpPr>
            <p:cNvPr id="28" name="TextBox 28"/>
            <p:cNvSpPr txBox="1"/>
            <p:nvPr/>
          </p:nvSpPr>
          <p:spPr>
            <a:xfrm>
              <a:off x="6393942" y="2578418"/>
              <a:ext cx="75792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stride 8</a:t>
              </a:r>
            </a:p>
          </p:txBody>
        </p:sp>
        <p:sp>
          <p:nvSpPr>
            <p:cNvPr id="29" name="TextBox 29"/>
            <p:cNvSpPr txBox="1"/>
            <p:nvPr/>
          </p:nvSpPr>
          <p:spPr>
            <a:xfrm>
              <a:off x="7347585" y="2602706"/>
              <a:ext cx="1444462" cy="220028"/>
            </a:xfrm>
            <a:prstGeom prst="rect">
              <a:avLst/>
            </a:prstGeom>
            <a:noFill/>
            <a:ln>
              <a:noFill/>
            </a:ln>
          </p:spPr>
          <p:txBody>
            <a:bodyPr wrap="none" lIns="0" tIns="0" rIns="0" bIns="0" anchor="t" anchorCtr="0">
              <a:spAutoFit/>
            </a:bodyPr>
            <a:lstStyle/>
            <a:p>
              <a:pPr algn="l" marL="126949" indent="-126949">
                <a:buClr>
                  <a:schemeClr val="dk2"/>
                </a:buClr>
                <a:buSzTx/>
                <a:buFontTx/>
                <a:buChar char="•"/>
              </a:pPr>
              <a:r>
                <a:rPr lang="en-US" sz="1120" b="1" dirty="0">
                  <a:solidFill>
                    <a:schemeClr val="dk2"/>
                  </a:solidFill>
                  <a:latin typeface="+mn-lt"/>
                  <a:ea typeface="+mn-ea"/>
                  <a:cs typeface="+mn-cs"/>
                </a:rPr>
                <a:t>output ratio 50%</a:t>
              </a:r>
            </a:p>
          </p:txBody>
        </p:sp>
        <p:sp>
          <p:nvSpPr>
            <p:cNvPr id="30" name="Rectangle 30"/>
            <p:cNvSpPr/>
            <p:nvPr/>
          </p:nvSpPr>
          <p:spPr>
            <a:xfrm>
              <a:off x="6400800" y="2933700"/>
              <a:ext cx="1333500" cy="628650"/>
            </a:xfrm>
            <a:prstGeom prst="roundRect">
              <a:avLst>
                <a:gd name="adj" fmla="val 9091"/>
              </a:avLst>
            </a:prstGeom>
            <a:solidFill>
              <a:schemeClr val="accent6"/>
            </a:solidFill>
            <a:ln w="9525">
              <a:solidFill>
                <a:schemeClr val="accent4"/>
              </a:solidFill>
            </a:ln>
          </p:spPr>
        </p:sp>
        <p:sp>
          <p:nvSpPr>
            <p:cNvPr id="31" name="TextBox 31"/>
            <p:cNvSpPr txBox="1"/>
            <p:nvPr/>
          </p:nvSpPr>
          <p:spPr>
            <a:xfrm>
              <a:off x="6754381" y="3190399"/>
              <a:ext cx="626338"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640 x 480</a:t>
              </a:r>
            </a:p>
          </p:txBody>
        </p:sp>
        <p:sp>
          <p:nvSpPr>
            <p:cNvPr id="32" name="Line 32"/>
            <p:cNvSpPr/>
            <p:nvPr/>
          </p:nvSpPr>
          <p:spPr>
            <a:xfrm>
              <a:off x="7848600" y="3248025"/>
              <a:ext cx="533400" cy="9525"/>
            </a:xfrm>
            <a:custGeom>
              <a:avLst/>
              <a:gdLst/>
              <a:ahLst/>
              <a:cxnLst/>
              <a:rect l="l" t="t" r="r" b="b"/>
              <a:pathLst>
                <a:path w="533400" h="9525">
                  <a:moveTo>
                    <a:pt x="0" y="0"/>
                  </a:moveTo>
                  <a:lnTo>
                    <a:pt x="533400" y="0"/>
                  </a:lnTo>
                </a:path>
              </a:pathLst>
            </a:custGeom>
            <a:noFill/>
            <a:ln w="19050" cap="rnd">
              <a:solidFill>
                <a:srgbClr val="6E82A6"/>
              </a:solidFill>
            </a:ln>
          </p:spPr>
        </p:sp>
        <p:sp>
          <p:nvSpPr>
            <p:cNvPr id="33" name="Polyline 33"/>
            <p:cNvSpPr/>
            <p:nvPr/>
          </p:nvSpPr>
          <p:spPr>
            <a:xfrm>
              <a:off x="8305800" y="3200400"/>
              <a:ext cx="95250" cy="95250"/>
            </a:xfrm>
            <a:custGeom>
              <a:avLst/>
              <a:gdLst/>
              <a:ahLst/>
              <a:cxnLst/>
              <a:rect l="l" t="t" r="r" b="b"/>
              <a:pathLst>
                <a:path w="95250" h="95250">
                  <a:moveTo>
                    <a:pt x="0" y="0"/>
                  </a:moveTo>
                  <a:lnTo>
                    <a:pt x="95250" y="47625"/>
                  </a:lnTo>
                  <a:lnTo>
                    <a:pt x="0" y="95250"/>
                  </a:lnTo>
                </a:path>
              </a:pathLst>
            </a:custGeom>
            <a:noFill/>
            <a:ln w="9525" cap="rnd">
              <a:solidFill>
                <a:srgbClr val="6E82A6"/>
              </a:solidFill>
              <a:round/>
            </a:ln>
          </p:spPr>
        </p:sp>
        <p:sp>
          <p:nvSpPr>
            <p:cNvPr id="34" name="Rectangle 34"/>
            <p:cNvSpPr/>
            <p:nvPr/>
          </p:nvSpPr>
          <p:spPr>
            <a:xfrm>
              <a:off x="8496300" y="3028950"/>
              <a:ext cx="857250" cy="438150"/>
            </a:xfrm>
            <a:prstGeom prst="roundRect">
              <a:avLst>
                <a:gd name="adj" fmla="val 13043"/>
              </a:avLst>
            </a:prstGeom>
            <a:solidFill>
              <a:schemeClr val="accent6"/>
            </a:solidFill>
            <a:ln w="9525">
              <a:solidFill>
                <a:srgbClr val="FBBF24"/>
              </a:solidFill>
            </a:ln>
          </p:spPr>
        </p:sp>
        <p:sp>
          <p:nvSpPr>
            <p:cNvPr id="35" name="TextBox 35"/>
            <p:cNvSpPr txBox="1"/>
            <p:nvPr/>
          </p:nvSpPr>
          <p:spPr>
            <a:xfrm>
              <a:off x="8637107" y="3198495"/>
              <a:ext cx="575636" cy="176212"/>
            </a:xfrm>
            <a:prstGeom prst="rect">
              <a:avLst/>
            </a:prstGeom>
            <a:noFill/>
            <a:ln>
              <a:noFill/>
            </a:ln>
          </p:spPr>
          <p:txBody>
            <a:bodyPr wrap="none" lIns="0" tIns="0" rIns="0" bIns="0" anchor="t" anchorCtr="0">
              <a:spAutoFit/>
            </a:bodyPr>
            <a:lstStyle/>
            <a:p>
              <a:pPr algn="ctr"/>
              <a:r>
                <a:rPr lang="en-US" sz="900" b="1" dirty="0">
                  <a:solidFill>
                    <a:srgbClr val="FBBF24"/>
                  </a:solidFill>
                  <a:latin typeface="+mn-lt"/>
                  <a:ea typeface="+mn-ea"/>
                  <a:cs typeface="+mn-cs"/>
                </a:rPr>
                <a:t>160 x 120</a:t>
              </a:r>
            </a:p>
          </p:txBody>
        </p:sp>
        <p:sp>
          <p:nvSpPr>
            <p:cNvPr id="36" name="TextBox 36"/>
            <p:cNvSpPr txBox="1"/>
            <p:nvPr/>
          </p:nvSpPr>
          <p:spPr>
            <a:xfrm>
              <a:off x="6396038" y="3632597"/>
              <a:ext cx="2607731" cy="183356"/>
            </a:xfrm>
            <a:prstGeom prst="rect">
              <a:avLst/>
            </a:prstGeom>
            <a:noFill/>
            <a:ln>
              <a:noFill/>
            </a:ln>
          </p:spPr>
          <p:txBody>
            <a:bodyPr wrap="none" lIns="0" tIns="0" rIns="0" bIns="0" anchor="t" anchorCtr="0">
              <a:spAutoFit/>
            </a:bodyPr>
            <a:lstStyle/>
            <a:p>
              <a:pPr algn="l"/>
              <a:r>
                <a:rPr lang="en-US" sz="940" i="1" dirty="0">
                  <a:solidFill>
                    <a:srgbClr val="6E82A6"/>
                  </a:solidFill>
                  <a:latin typeface="+mn-lt"/>
                  <a:ea typeface="+mn-ea"/>
                  <a:cs typeface="+mn-cs"/>
                </a:rPr>
                <a:t>Coarse maps keep hallucination tractable.</a:t>
              </a:r>
            </a:p>
          </p:txBody>
        </p:sp>
      </p:grpSp>
      <p:grpSp>
        <p:nvGrpSpPr>
          <p:cNvPr id="52" name="Group 52"/>
          <p:cNvGrpSpPr/>
          <p:nvPr/>
        </p:nvGrpSpPr>
        <p:grpSpPr>
          <a:xfrm>
            <a:off x="609600" y="3905250"/>
            <a:ext cx="10972800" cy="1905000"/>
            <a:chOff x="609600" y="3905250"/>
            <a:chExt cx="10972800" cy="1905000"/>
          </a:xfrm>
        </p:grpSpPr>
        <p:sp>
          <p:nvSpPr>
            <p:cNvPr id="38" name="Rectangle 38"/>
            <p:cNvSpPr/>
            <p:nvPr/>
          </p:nvSpPr>
          <p:spPr>
            <a:xfrm>
              <a:off x="609600" y="3905250"/>
              <a:ext cx="10972800" cy="1905000"/>
            </a:xfrm>
            <a:prstGeom prst="roundRect">
              <a:avLst>
                <a:gd name="adj" fmla="val 7000"/>
              </a:avLst>
            </a:prstGeom>
            <a:solidFill>
              <a:schemeClr val="lt2"/>
            </a:solidFill>
            <a:ln w="9525">
              <a:solidFill>
                <a:schemeClr val="accent4"/>
              </a:solidFill>
            </a:ln>
          </p:spPr>
        </p:sp>
        <p:sp>
          <p:nvSpPr>
            <p:cNvPr id="39" name="Rectangle 39"/>
            <p:cNvSpPr/>
            <p:nvPr/>
          </p:nvSpPr>
          <p:spPr>
            <a:xfrm>
              <a:off x="609600" y="4057650"/>
              <a:ext cx="47625" cy="1600200"/>
            </a:xfrm>
            <a:prstGeom prst="roundRect">
              <a:avLst>
                <a:gd name="adj" fmla="val 40000"/>
              </a:avLst>
            </a:prstGeom>
            <a:solidFill>
              <a:srgbClr val="F87171"/>
            </a:solidFill>
            <a:ln>
              <a:noFill/>
            </a:ln>
          </p:spPr>
        </p:sp>
        <p:sp>
          <p:nvSpPr>
            <p:cNvPr id="40" name="TextBox 40"/>
            <p:cNvSpPr txBox="1"/>
            <p:nvPr/>
          </p:nvSpPr>
          <p:spPr>
            <a:xfrm>
              <a:off x="851154" y="4137660"/>
              <a:ext cx="331177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The one number that sets NeurHal apart</a:t>
              </a:r>
            </a:p>
          </p:txBody>
        </p:sp>
        <p:sp>
          <p:nvSpPr>
            <p:cNvPr id="41" name="TextBox 41"/>
            <p:cNvSpPr txBox="1"/>
            <p:nvPr/>
          </p:nvSpPr>
          <p:spPr>
            <a:xfrm>
              <a:off x="838200" y="4463415"/>
              <a:ext cx="527881" cy="1219200"/>
            </a:xfrm>
            <a:prstGeom prst="rect">
              <a:avLst/>
            </a:prstGeom>
            <a:noFill/>
            <a:ln>
              <a:noFill/>
            </a:ln>
          </p:spPr>
          <p:txBody>
            <a:bodyPr wrap="none" lIns="0" tIns="0" rIns="0" bIns="0" anchor="t" anchorCtr="0">
              <a:spAutoFit/>
            </a:bodyPr>
            <a:lstStyle/>
            <a:p>
              <a:pPr algn="l"/>
              <a:r>
                <a:rPr lang="en-US" sz="6300" b="1" dirty="0">
                  <a:solidFill>
                    <a:srgbClr val="F87171"/>
                  </a:solidFill>
                  <a:latin typeface="+mn-lt"/>
                  <a:ea typeface="+mn-ea"/>
                  <a:cs typeface="+mn-cs"/>
                </a:rPr>
                <a:t>1</a:t>
              </a:r>
            </a:p>
          </p:txBody>
        </p:sp>
        <p:sp>
          <p:nvSpPr>
            <p:cNvPr id="42" name="TextBox 42"/>
            <p:cNvSpPr txBox="1"/>
            <p:nvPr/>
          </p:nvSpPr>
          <p:spPr>
            <a:xfrm>
              <a:off x="1421130" y="4752975"/>
              <a:ext cx="448412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of all methods tested is able to OUTPAINT —</a:t>
              </a:r>
            </a:p>
          </p:txBody>
        </p:sp>
        <p:sp>
          <p:nvSpPr>
            <p:cNvPr id="43" name="TextBox 43"/>
            <p:cNvSpPr txBox="1"/>
            <p:nvPr/>
          </p:nvSpPr>
          <p:spPr>
            <a:xfrm>
              <a:off x="1422273" y="5082064"/>
              <a:ext cx="5413693" cy="249364"/>
            </a:xfrm>
            <a:prstGeom prst="rect">
              <a:avLst/>
            </a:prstGeom>
            <a:noFill/>
            <a:ln>
              <a:noFill/>
            </a:ln>
          </p:spPr>
          <p:txBody>
            <a:bodyPr wrap="none" lIns="0" tIns="0" rIns="0" bIns="0" anchor="t" anchorCtr="0">
              <a:spAutoFit/>
            </a:bodyPr>
            <a:lstStyle/>
            <a:p>
              <a:pPr algn="l"/>
              <a:r>
                <a:rPr lang="en-US" sz="1280" b="1" dirty="0">
                  <a:solidFill>
                    <a:schemeClr val="dk2"/>
                  </a:solidFill>
                  <a:latin typeface="+mn-lt"/>
                  <a:ea typeface="+mn-ea"/>
                  <a:cs typeface="+mn-cs"/>
                </a:rPr>
                <a:t>to place correspondents beyond the target image's borders.</a:t>
              </a:r>
            </a:p>
          </p:txBody>
        </p:sp>
        <p:sp>
          <p:nvSpPr>
            <p:cNvPr id="44" name="Rectangle 44"/>
            <p:cNvSpPr/>
            <p:nvPr/>
          </p:nvSpPr>
          <p:spPr>
            <a:xfrm>
              <a:off x="857250" y="5391150"/>
              <a:ext cx="676275" cy="304800"/>
            </a:xfrm>
            <a:prstGeom prst="roundRect">
              <a:avLst>
                <a:gd name="adj" fmla="val 25000"/>
              </a:avLst>
            </a:prstGeom>
            <a:solidFill>
              <a:schemeClr val="accent6"/>
            </a:solidFill>
            <a:ln w="9525">
              <a:solidFill>
                <a:schemeClr val="accent4"/>
              </a:solidFill>
            </a:ln>
          </p:spPr>
        </p:sp>
        <p:sp>
          <p:nvSpPr>
            <p:cNvPr id="45" name="TextBox 45"/>
            <p:cNvSpPr txBox="1"/>
            <p:nvPr/>
          </p:nvSpPr>
          <p:spPr>
            <a:xfrm>
              <a:off x="1004697" y="5485924"/>
              <a:ext cx="408097" cy="190690"/>
            </a:xfrm>
            <a:prstGeom prst="rect">
              <a:avLst/>
            </a:prstGeom>
            <a:noFill/>
            <a:ln>
              <a:noFill/>
            </a:ln>
          </p:spPr>
          <p:txBody>
            <a:bodyPr wrap="none" lIns="0" tIns="0" rIns="0" bIns="0" anchor="t" anchorCtr="0">
              <a:spAutoFit/>
            </a:bodyPr>
            <a:lstStyle/>
            <a:p>
              <a:pPr algn="l"/>
              <a:r>
                <a:rPr lang="en-US" sz="980" b="1" dirty="0">
                  <a:solidFill>
                    <a:srgbClr val="6E82A6"/>
                  </a:solidFill>
                  <a:latin typeface="+mn-lt"/>
                  <a:ea typeface="+mn-ea"/>
                  <a:cs typeface="+mn-cs"/>
                </a:rPr>
                <a:t>LoFTR</a:t>
              </a:r>
            </a:p>
          </p:txBody>
        </p:sp>
        <p:sp>
          <p:nvSpPr>
            <p:cNvPr id="46" name="Rectangle 46"/>
            <p:cNvSpPr/>
            <p:nvPr/>
          </p:nvSpPr>
          <p:spPr>
            <a:xfrm>
              <a:off x="1666875" y="5391150"/>
              <a:ext cx="832485" cy="304800"/>
            </a:xfrm>
            <a:prstGeom prst="roundRect">
              <a:avLst>
                <a:gd name="adj" fmla="val 25000"/>
              </a:avLst>
            </a:prstGeom>
            <a:solidFill>
              <a:schemeClr val="accent6"/>
            </a:solidFill>
            <a:ln w="9525">
              <a:solidFill>
                <a:schemeClr val="accent4"/>
              </a:solidFill>
            </a:ln>
          </p:spPr>
        </p:sp>
        <p:sp>
          <p:nvSpPr>
            <p:cNvPr id="47" name="TextBox 47"/>
            <p:cNvSpPr txBox="1"/>
            <p:nvPr/>
          </p:nvSpPr>
          <p:spPr>
            <a:xfrm>
              <a:off x="1814322" y="5485924"/>
              <a:ext cx="563349" cy="190690"/>
            </a:xfrm>
            <a:prstGeom prst="rect">
              <a:avLst/>
            </a:prstGeom>
            <a:noFill/>
            <a:ln>
              <a:noFill/>
            </a:ln>
          </p:spPr>
          <p:txBody>
            <a:bodyPr wrap="none" lIns="0" tIns="0" rIns="0" bIns="0" anchor="t" anchorCtr="0">
              <a:spAutoFit/>
            </a:bodyPr>
            <a:lstStyle/>
            <a:p>
              <a:pPr algn="l"/>
              <a:r>
                <a:rPr lang="en-US" sz="980" b="1" dirty="0">
                  <a:solidFill>
                    <a:srgbClr val="6E82A6"/>
                  </a:solidFill>
                  <a:latin typeface="+mn-lt"/>
                  <a:ea typeface="+mn-ea"/>
                  <a:cs typeface="+mn-cs"/>
                </a:rPr>
                <a:t>DRC-Net</a:t>
              </a:r>
            </a:p>
          </p:txBody>
        </p:sp>
        <p:sp>
          <p:nvSpPr>
            <p:cNvPr id="48" name="Rectangle 48"/>
            <p:cNvSpPr/>
            <p:nvPr/>
          </p:nvSpPr>
          <p:spPr>
            <a:xfrm>
              <a:off x="2632710" y="5391150"/>
              <a:ext cx="832485" cy="304800"/>
            </a:xfrm>
            <a:prstGeom prst="roundRect">
              <a:avLst>
                <a:gd name="adj" fmla="val 25000"/>
              </a:avLst>
            </a:prstGeom>
            <a:solidFill>
              <a:schemeClr val="accent6"/>
            </a:solidFill>
            <a:ln w="9525">
              <a:solidFill>
                <a:schemeClr val="accent4"/>
              </a:solidFill>
            </a:ln>
          </p:spPr>
        </p:sp>
        <p:sp>
          <p:nvSpPr>
            <p:cNvPr id="49" name="TextBox 49"/>
            <p:cNvSpPr txBox="1"/>
            <p:nvPr/>
          </p:nvSpPr>
          <p:spPr>
            <a:xfrm>
              <a:off x="2780157" y="5485924"/>
              <a:ext cx="561336" cy="190690"/>
            </a:xfrm>
            <a:prstGeom prst="rect">
              <a:avLst/>
            </a:prstGeom>
            <a:noFill/>
            <a:ln>
              <a:noFill/>
            </a:ln>
          </p:spPr>
          <p:txBody>
            <a:bodyPr wrap="none" lIns="0" tIns="0" rIns="0" bIns="0" anchor="t" anchorCtr="0">
              <a:spAutoFit/>
            </a:bodyPr>
            <a:lstStyle/>
            <a:p>
              <a:pPr algn="l"/>
              <a:r>
                <a:rPr lang="en-US" sz="980" b="1" dirty="0">
                  <a:solidFill>
                    <a:srgbClr val="6E82A6"/>
                  </a:solidFill>
                  <a:latin typeface="+mn-lt"/>
                  <a:ea typeface="+mn-ea"/>
                  <a:cs typeface="+mn-cs"/>
                </a:rPr>
                <a:t>S2D-Net</a:t>
              </a:r>
            </a:p>
          </p:txBody>
        </p:sp>
        <p:sp>
          <p:nvSpPr>
            <p:cNvPr id="50" name="Rectangle 50"/>
            <p:cNvSpPr/>
            <p:nvPr/>
          </p:nvSpPr>
          <p:spPr>
            <a:xfrm>
              <a:off x="3598545" y="5391150"/>
              <a:ext cx="2004060" cy="304800"/>
            </a:xfrm>
            <a:prstGeom prst="roundRect">
              <a:avLst>
                <a:gd name="adj" fmla="val 25000"/>
              </a:avLst>
            </a:prstGeom>
            <a:solidFill>
              <a:srgbClr val="14532D"/>
            </a:solidFill>
            <a:ln w="9525">
              <a:solidFill>
                <a:schemeClr val="accent2"/>
              </a:solidFill>
            </a:ln>
          </p:spPr>
        </p:sp>
        <p:sp>
          <p:nvSpPr>
            <p:cNvPr id="51" name="TextBox 51"/>
            <p:cNvSpPr txBox="1"/>
            <p:nvPr/>
          </p:nvSpPr>
          <p:spPr>
            <a:xfrm>
              <a:off x="3745992" y="5485924"/>
              <a:ext cx="1521399"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only NeurHal outpaints</a:t>
              </a:r>
            </a:p>
          </p:txBody>
        </p:sp>
      </p:grpSp>
      <p:sp>
        <p:nvSpPr>
          <p:cNvPr id="53" name="cue_s09_c1_few_numbers_anchor_setup" title="cue_s09_c1_few_numbers_anchor_setup" descr="cue_s09_c1_few_numbers_anchor_setup A few numbers anchor the setup."/>
          <p:cNvSpPr/>
          <p:nvPr/>
        </p:nvSpPr>
        <p:spPr>
          <a:xfrm>
            <a:off x="609600" y="1428521"/>
            <a:ext cx="10972800" cy="4574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9_c2_pose_estimates_judged_correct_under" title="cue_s09_c2_pose_estimates_judged_correct_under" descr="cue_s09_c2_pose_estimates_judged_correct_under Pose estimates are judged correct under a rotation threshold of twenty degrees and a translation threshold of one point five meters, measured over twenty five hundred held out ScanNet image pairs."/>
          <p:cNvSpPr/>
          <p:nvPr/>
        </p:nvSpPr>
        <p:spPr>
          <a:xfrm>
            <a:off x="609600" y="2038197"/>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9_c3_neurhal_produces_deliberately_low_re" title="cue_s09_c3_neurhal_produces_deliberately_low_re" descr="cue_s09_c3_neurhal_produces_deliberately_low_re NeurHal produces deliberately low resolution correspondence maps, using an effective stride of eight and an output ratio of fifty percent, so a six hundred forty by four hundred eighty target yields a one hundred sixty by one hundred twenty map."/>
          <p:cNvSpPr/>
          <p:nvPr/>
        </p:nvSpPr>
        <p:spPr>
          <a:xfrm>
            <a:off x="6133795" y="2038197"/>
            <a:ext cx="5448604" cy="177759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9_c4_across_all_methods_tested_neurhal" title="cue_s09_c4_across_all_methods_tested_neurhal" descr="cue_s09_c4_across_all_methods_tested_neurhal And across all the methods tested, NeurHal is the only one able to outpaint, to place correspondents beyond the target image's borders."/>
          <p:cNvSpPr/>
          <p:nvPr/>
        </p:nvSpPr>
        <p:spPr>
          <a:xfrm>
            <a:off x="609600" y="3904945"/>
            <a:ext cx="1097280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chemeClr val="accent1"/>
            </a:solidFill>
            <a:ln>
              <a:noFill/>
            </a:ln>
          </p:spPr>
        </p:sp>
      </p:grpSp>
      <p:sp>
        <p:nvSpPr>
          <p:cNvPr id="5" name="TextBox 5"/>
          <p:cNvSpPr txBox="1"/>
          <p:nvPr/>
        </p:nvSpPr>
        <p:spPr>
          <a:xfrm>
            <a:off x="604647" y="485299"/>
            <a:ext cx="1320640" cy="190690"/>
          </a:xfrm>
          <a:prstGeom prst="rect">
            <a:avLst/>
          </a:prstGeom>
          <a:noFill/>
          <a:ln>
            <a:noFill/>
          </a:ln>
        </p:spPr>
        <p:txBody>
          <a:bodyPr wrap="none" lIns="0" tIns="0" rIns="0" bIns="0" anchor="t" anchorCtr="0">
            <a:spAutoFit/>
          </a:bodyPr>
          <a:lstStyle/>
          <a:p>
            <a:pPr algn="l"/>
            <a:r>
              <a:rPr lang="en-US" sz="980" b="1" spc="225" dirty="0">
                <a:solidFill>
                  <a:schemeClr val="accent1"/>
                </a:solidFill>
                <a:latin typeface="+mn-lt"/>
                <a:ea typeface="+mn-ea"/>
                <a:cs typeface="+mn-cs"/>
              </a:rPr>
              <a:t>THE TAKEAWAY</a:t>
            </a:r>
          </a:p>
        </p:txBody>
      </p:sp>
      <p:sp>
        <p:nvSpPr>
          <p:cNvPr id="6" name="TextBox 6"/>
          <p:cNvSpPr txBox="1"/>
          <p:nvPr/>
        </p:nvSpPr>
        <p:spPr>
          <a:xfrm>
            <a:off x="597027" y="723424"/>
            <a:ext cx="5928237"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j-lt"/>
                <a:ea typeface="+mj-ea"/>
                <a:cs typeface="+mj-cs"/>
              </a:rPr>
              <a:t>Non-Covisible Regions Are Signal</a:t>
            </a:r>
          </a:p>
        </p:txBody>
      </p:sp>
      <p:sp>
        <p:nvSpPr>
          <p:cNvPr id="7" name="Line 7"/>
          <p:cNvSpPr/>
          <p:nvPr/>
        </p:nvSpPr>
        <p:spPr>
          <a:xfrm>
            <a:off x="609600" y="1162050"/>
            <a:ext cx="2857500" cy="9525"/>
          </a:xfrm>
          <a:custGeom>
            <a:avLst/>
            <a:gdLst/>
            <a:ahLst/>
            <a:cxnLst/>
            <a:rect l="l" t="t" r="r" b="b"/>
            <a:pathLst>
              <a:path w="2857500" h="9525">
                <a:moveTo>
                  <a:pt x="0" y="0"/>
                </a:moveTo>
                <a:lnTo>
                  <a:pt x="2857500" y="0"/>
                </a:lnTo>
              </a:path>
            </a:pathLst>
          </a:custGeom>
          <a:noFill/>
          <a:ln w="19050" cap="rnd">
            <a:solidFill>
              <a:schemeClr val="accent4"/>
            </a:solidFill>
          </a:ln>
        </p:spPr>
        <p:txBody>
          <a:bodyPr/>
          <a:p/>
        </p:txBody>
      </p:sp>
      <p:sp>
        <p:nvSpPr>
          <p:cNvPr id="8" name="TextBox 8"/>
          <p:cNvSpPr txBox="1"/>
          <p:nvPr/>
        </p:nvSpPr>
        <p:spPr>
          <a:xfrm>
            <a:off x="11030306" y="493395"/>
            <a:ext cx="556856" cy="176212"/>
          </a:xfrm>
          <a:prstGeom prst="rect">
            <a:avLst/>
          </a:prstGeom>
          <a:noFill/>
          <a:ln>
            <a:noFill/>
          </a:ln>
        </p:spPr>
        <p:txBody>
          <a:bodyPr wrap="none" lIns="0" tIns="0" rIns="0" bIns="0" anchor="t" anchorCtr="0">
            <a:spAutoFit/>
          </a:bodyPr>
          <a:lstStyle/>
          <a:p>
            <a:pPr algn="r"/>
            <a:r>
              <a:rPr lang="en-US" sz="900" b="1" spc="150" dirty="0">
                <a:solidFill>
                  <a:srgbClr val="6E82A6"/>
                </a:solidFill>
                <a:latin typeface="+mn-lt"/>
                <a:ea typeface="+mn-ea"/>
                <a:cs typeface="+mn-cs"/>
              </a:rPr>
              <a:t>09 / 10</a:t>
            </a:r>
          </a:p>
        </p:txBody>
      </p:sp>
      <p:grpSp>
        <p:nvGrpSpPr>
          <p:cNvPr id="13" name="Group 13"/>
          <p:cNvGrpSpPr/>
          <p:nvPr/>
        </p:nvGrpSpPr>
        <p:grpSpPr>
          <a:xfrm>
            <a:off x="609600" y="1504950"/>
            <a:ext cx="11073351" cy="1047750"/>
            <a:chOff x="609600" y="1504950"/>
            <a:chExt cx="11073351" cy="1047750"/>
          </a:xfrm>
        </p:grpSpPr>
        <p:sp>
          <p:nvSpPr>
            <p:cNvPr id="9" name="Rectangle 9"/>
            <p:cNvSpPr/>
            <p:nvPr/>
          </p:nvSpPr>
          <p:spPr>
            <a:xfrm>
              <a:off x="609600" y="1504950"/>
              <a:ext cx="10972800" cy="1047750"/>
            </a:xfrm>
            <a:prstGeom prst="roundRect">
              <a:avLst>
                <a:gd name="adj" fmla="val 12727"/>
              </a:avLst>
            </a:prstGeom>
            <a:solidFill>
              <a:schemeClr val="lt2"/>
            </a:solidFill>
            <a:ln w="9525">
              <a:solidFill>
                <a:schemeClr val="accent4"/>
              </a:solidFill>
            </a:ln>
          </p:spPr>
        </p:sp>
        <p:sp>
          <p:nvSpPr>
            <p:cNvPr id="10" name="Rectangle 10"/>
            <p:cNvSpPr/>
            <p:nvPr/>
          </p:nvSpPr>
          <p:spPr>
            <a:xfrm>
              <a:off x="609600" y="1657350"/>
              <a:ext cx="47625" cy="742950"/>
            </a:xfrm>
            <a:prstGeom prst="roundRect">
              <a:avLst>
                <a:gd name="adj" fmla="val 40000"/>
              </a:avLst>
            </a:prstGeom>
            <a:solidFill>
              <a:schemeClr val="accent1"/>
            </a:solidFill>
            <a:ln>
              <a:noFill/>
            </a:ln>
          </p:spPr>
        </p:sp>
        <p:sp>
          <p:nvSpPr>
            <p:cNvPr id="11" name="TextBox 11"/>
            <p:cNvSpPr txBox="1"/>
            <p:nvPr/>
          </p:nvSpPr>
          <p:spPr>
            <a:xfrm>
              <a:off x="908685" y="1840706"/>
              <a:ext cx="1816131" cy="220028"/>
            </a:xfrm>
            <a:prstGeom prst="rect">
              <a:avLst/>
            </a:prstGeom>
            <a:noFill/>
            <a:ln>
              <a:noFill/>
            </a:ln>
          </p:spPr>
          <p:txBody>
            <a:bodyPr wrap="none" lIns="0" tIns="0" rIns="0" bIns="0" anchor="t" anchorCtr="0">
              <a:spAutoFit/>
            </a:bodyPr>
            <a:lstStyle/>
            <a:p>
              <a:pPr algn="l"/>
              <a:r>
                <a:rPr lang="en-US" sz="1120" b="1" spc="75" dirty="0">
                  <a:solidFill>
                    <a:schemeClr val="accent1"/>
                  </a:solidFill>
                  <a:latin typeface="+mn-lt"/>
                  <a:ea typeface="+mn-ea"/>
                  <a:cs typeface="+mn-cs"/>
                </a:rPr>
                <a:t>Simple, but powerful</a:t>
              </a:r>
            </a:p>
          </p:txBody>
        </p:sp>
        <p:sp>
          <p:nvSpPr>
            <p:cNvPr id="12" name="TextBox 12"/>
            <p:cNvSpPr txBox="1"/>
            <p:nvPr/>
          </p:nvSpPr>
          <p:spPr>
            <a:xfrm>
              <a:off x="905637" y="2137886"/>
              <a:ext cx="10777314"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j-lt"/>
                  <a:ea typeface="+mj-ea"/>
                  <a:cs typeface="+mj-cs"/>
                </a:rPr>
                <a:t>One network can hallucinate a keypoint's match — visible, occluded, or out of frame.</a:t>
              </a:r>
            </a:p>
          </p:txBody>
        </p:sp>
      </p:grpSp>
      <p:grpSp>
        <p:nvGrpSpPr>
          <p:cNvPr id="27" name="Group 27"/>
          <p:cNvGrpSpPr/>
          <p:nvPr/>
        </p:nvGrpSpPr>
        <p:grpSpPr>
          <a:xfrm>
            <a:off x="609600" y="2781300"/>
            <a:ext cx="6667500" cy="2286000"/>
            <a:chOff x="609600" y="2781300"/>
            <a:chExt cx="6667500" cy="2286000"/>
          </a:xfrm>
        </p:grpSpPr>
        <p:sp>
          <p:nvSpPr>
            <p:cNvPr id="14" name="Rectangle 14"/>
            <p:cNvSpPr/>
            <p:nvPr/>
          </p:nvSpPr>
          <p:spPr>
            <a:xfrm>
              <a:off x="609600" y="2781300"/>
              <a:ext cx="6667500" cy="2286000"/>
            </a:xfrm>
            <a:prstGeom prst="roundRect">
              <a:avLst>
                <a:gd name="adj" fmla="val 5833"/>
              </a:avLst>
            </a:prstGeom>
            <a:solidFill>
              <a:schemeClr val="lt2"/>
            </a:solidFill>
            <a:ln w="9525">
              <a:solidFill>
                <a:schemeClr val="accent4"/>
              </a:solidFill>
            </a:ln>
          </p:spPr>
        </p:sp>
        <p:sp>
          <p:nvSpPr>
            <p:cNvPr id="15" name="Rectangle 15"/>
            <p:cNvSpPr/>
            <p:nvPr/>
          </p:nvSpPr>
          <p:spPr>
            <a:xfrm>
              <a:off x="609600" y="2933700"/>
              <a:ext cx="47625" cy="1981200"/>
            </a:xfrm>
            <a:prstGeom prst="roundRect">
              <a:avLst>
                <a:gd name="adj" fmla="val 40000"/>
              </a:avLst>
            </a:prstGeom>
            <a:solidFill>
              <a:schemeClr val="accent2"/>
            </a:solidFill>
            <a:ln>
              <a:noFill/>
            </a:ln>
          </p:spPr>
        </p:sp>
        <p:sp>
          <p:nvSpPr>
            <p:cNvPr id="16" name="TextBox 16"/>
            <p:cNvSpPr txBox="1"/>
            <p:nvPr/>
          </p:nvSpPr>
          <p:spPr>
            <a:xfrm>
              <a:off x="870204" y="3013710"/>
              <a:ext cx="2681042"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A single network, three regimes</a:t>
              </a:r>
            </a:p>
          </p:txBody>
        </p:sp>
        <p:sp>
          <p:nvSpPr>
            <p:cNvPr id="17" name="Ellipse 17"/>
            <p:cNvSpPr/>
            <p:nvPr/>
          </p:nvSpPr>
          <p:spPr>
            <a:xfrm>
              <a:off x="981075" y="3343275"/>
              <a:ext cx="171450" cy="171450"/>
            </a:xfrm>
            <a:prstGeom prst="ellipse">
              <a:avLst/>
            </a:prstGeom>
            <a:solidFill>
              <a:schemeClr val="accent2"/>
            </a:solidFill>
            <a:ln>
              <a:noFill/>
            </a:ln>
          </p:spPr>
        </p:sp>
        <p:sp>
          <p:nvSpPr>
            <p:cNvPr id="18" name="TextBox 18"/>
            <p:cNvSpPr txBox="1"/>
            <p:nvPr/>
          </p:nvSpPr>
          <p:spPr>
            <a:xfrm>
              <a:off x="1270635" y="3345656"/>
              <a:ext cx="635807"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VISIBLE</a:t>
              </a:r>
            </a:p>
          </p:txBody>
        </p:sp>
        <p:sp>
          <p:nvSpPr>
            <p:cNvPr id="19" name="TextBox 19"/>
            <p:cNvSpPr txBox="1"/>
            <p:nvPr/>
          </p:nvSpPr>
          <p:spPr>
            <a:xfrm>
              <a:off x="3042666" y="3353752"/>
              <a:ext cx="589500"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identify</a:t>
              </a:r>
            </a:p>
          </p:txBody>
        </p:sp>
        <p:sp>
          <p:nvSpPr>
            <p:cNvPr id="20" name="Ellipse 20"/>
            <p:cNvSpPr/>
            <p:nvPr/>
          </p:nvSpPr>
          <p:spPr>
            <a:xfrm>
              <a:off x="981075" y="3838575"/>
              <a:ext cx="171450" cy="171450"/>
            </a:xfrm>
            <a:prstGeom prst="ellipse">
              <a:avLst/>
            </a:prstGeom>
            <a:solidFill>
              <a:srgbClr val="FBBF24"/>
            </a:solidFill>
            <a:ln>
              <a:noFill/>
            </a:ln>
          </p:spPr>
        </p:sp>
        <p:sp>
          <p:nvSpPr>
            <p:cNvPr id="21" name="TextBox 21"/>
            <p:cNvSpPr txBox="1"/>
            <p:nvPr/>
          </p:nvSpPr>
          <p:spPr>
            <a:xfrm>
              <a:off x="1270635" y="3840956"/>
              <a:ext cx="855568" cy="220028"/>
            </a:xfrm>
            <a:prstGeom prst="rect">
              <a:avLst/>
            </a:prstGeom>
            <a:noFill/>
            <a:ln>
              <a:noFill/>
            </a:ln>
          </p:spPr>
          <p:txBody>
            <a:bodyPr wrap="none" lIns="0" tIns="0" rIns="0" bIns="0" anchor="t" anchorCtr="0">
              <a:spAutoFit/>
            </a:bodyPr>
            <a:lstStyle/>
            <a:p>
              <a:pPr algn="l"/>
              <a:r>
                <a:rPr lang="en-US" sz="1120" b="1" spc="75" dirty="0">
                  <a:solidFill>
                    <a:srgbClr val="FBBF24"/>
                  </a:solidFill>
                  <a:latin typeface="+mn-lt"/>
                  <a:ea typeface="+mn-ea"/>
                  <a:cs typeface="+mn-cs"/>
                </a:rPr>
                <a:t>OCCLUDED</a:t>
              </a:r>
            </a:p>
          </p:txBody>
        </p:sp>
        <p:sp>
          <p:nvSpPr>
            <p:cNvPr id="22" name="TextBox 22"/>
            <p:cNvSpPr txBox="1"/>
            <p:nvPr/>
          </p:nvSpPr>
          <p:spPr>
            <a:xfrm>
              <a:off x="3042666" y="3849052"/>
              <a:ext cx="507870"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inpaint</a:t>
              </a:r>
            </a:p>
          </p:txBody>
        </p:sp>
        <p:sp>
          <p:nvSpPr>
            <p:cNvPr id="23" name="Ellipse 23"/>
            <p:cNvSpPr/>
            <p:nvPr/>
          </p:nvSpPr>
          <p:spPr>
            <a:xfrm>
              <a:off x="981075" y="4333875"/>
              <a:ext cx="171450" cy="171450"/>
            </a:xfrm>
            <a:prstGeom prst="ellipse">
              <a:avLst/>
            </a:prstGeom>
            <a:solidFill>
              <a:srgbClr val="F87171"/>
            </a:solidFill>
            <a:ln>
              <a:noFill/>
            </a:ln>
          </p:spPr>
        </p:sp>
        <p:sp>
          <p:nvSpPr>
            <p:cNvPr id="24" name="TextBox 24"/>
            <p:cNvSpPr txBox="1"/>
            <p:nvPr/>
          </p:nvSpPr>
          <p:spPr>
            <a:xfrm>
              <a:off x="1270635" y="4336256"/>
              <a:ext cx="1249515" cy="220028"/>
            </a:xfrm>
            <a:prstGeom prst="rect">
              <a:avLst/>
            </a:prstGeom>
            <a:noFill/>
            <a:ln>
              <a:noFill/>
            </a:ln>
          </p:spPr>
          <p:txBody>
            <a:bodyPr wrap="none" lIns="0" tIns="0" rIns="0" bIns="0" anchor="t" anchorCtr="0">
              <a:spAutoFit/>
            </a:bodyPr>
            <a:lstStyle/>
            <a:p>
              <a:pPr algn="l"/>
              <a:r>
                <a:rPr lang="en-US" sz="1120" b="1" spc="75" dirty="0">
                  <a:solidFill>
                    <a:srgbClr val="F87171"/>
                  </a:solidFill>
                  <a:latin typeface="+mn-lt"/>
                  <a:ea typeface="+mn-ea"/>
                  <a:cs typeface="+mn-cs"/>
                </a:rPr>
                <a:t>OUT OF FRAME</a:t>
              </a:r>
            </a:p>
          </p:txBody>
        </p:sp>
        <p:sp>
          <p:nvSpPr>
            <p:cNvPr id="25" name="TextBox 25"/>
            <p:cNvSpPr txBox="1"/>
            <p:nvPr/>
          </p:nvSpPr>
          <p:spPr>
            <a:xfrm>
              <a:off x="3042666" y="4344352"/>
              <a:ext cx="626605"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outpaint</a:t>
              </a:r>
            </a:p>
          </p:txBody>
        </p:sp>
        <p:sp>
          <p:nvSpPr>
            <p:cNvPr id="26" name="TextBox 26"/>
            <p:cNvSpPr txBox="1"/>
            <p:nvPr/>
          </p:nvSpPr>
          <p:spPr>
            <a:xfrm>
              <a:off x="871156" y="4862751"/>
              <a:ext cx="5813664"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...which makes absolute camera pose far more robust when images barely overlap.</a:t>
              </a:r>
            </a:p>
          </p:txBody>
        </p:sp>
      </p:grpSp>
      <p:grpSp>
        <p:nvGrpSpPr>
          <p:cNvPr id="37" name="Group 37"/>
          <p:cNvGrpSpPr/>
          <p:nvPr/>
        </p:nvGrpSpPr>
        <p:grpSpPr>
          <a:xfrm>
            <a:off x="7467600" y="2781300"/>
            <a:ext cx="4114800" cy="2286000"/>
            <a:chOff x="7467600" y="2781300"/>
            <a:chExt cx="4114800" cy="2286000"/>
          </a:xfrm>
        </p:grpSpPr>
        <p:sp>
          <p:nvSpPr>
            <p:cNvPr id="28" name="Rectangle 28"/>
            <p:cNvSpPr/>
            <p:nvPr/>
          </p:nvSpPr>
          <p:spPr>
            <a:xfrm>
              <a:off x="7467600" y="2781300"/>
              <a:ext cx="4114800" cy="2286000"/>
            </a:xfrm>
            <a:prstGeom prst="roundRect">
              <a:avLst>
                <a:gd name="adj" fmla="val 5833"/>
              </a:avLst>
            </a:prstGeom>
            <a:solidFill>
              <a:schemeClr val="lt2"/>
            </a:solidFill>
            <a:ln w="9525">
              <a:solidFill>
                <a:schemeClr val="accent4"/>
              </a:solidFill>
            </a:ln>
          </p:spPr>
        </p:sp>
        <p:sp>
          <p:nvSpPr>
            <p:cNvPr id="29" name="Rectangle 29"/>
            <p:cNvSpPr/>
            <p:nvPr/>
          </p:nvSpPr>
          <p:spPr>
            <a:xfrm>
              <a:off x="7467600" y="2933700"/>
              <a:ext cx="47625" cy="1981200"/>
            </a:xfrm>
            <a:prstGeom prst="roundRect">
              <a:avLst>
                <a:gd name="adj" fmla="val 40000"/>
              </a:avLst>
            </a:prstGeom>
            <a:solidFill>
              <a:srgbClr val="A78BFA"/>
            </a:solidFill>
            <a:ln>
              <a:noFill/>
            </a:ln>
          </p:spPr>
        </p:sp>
        <p:sp>
          <p:nvSpPr>
            <p:cNvPr id="30" name="TextBox 30"/>
            <p:cNvSpPr txBox="1"/>
            <p:nvPr/>
          </p:nvSpPr>
          <p:spPr>
            <a:xfrm>
              <a:off x="7709154" y="3013710"/>
              <a:ext cx="1179578" cy="234696"/>
            </a:xfrm>
            <a:prstGeom prst="rect">
              <a:avLst/>
            </a:prstGeom>
            <a:noFill/>
            <a:ln>
              <a:noFill/>
            </a:ln>
          </p:spPr>
          <p:txBody>
            <a:bodyPr wrap="none" lIns="0" tIns="0" rIns="0" bIns="0" anchor="t" anchorCtr="0">
              <a:spAutoFit/>
            </a:bodyPr>
            <a:lstStyle/>
            <a:p>
              <a:pPr algn="l"/>
              <a:r>
                <a:rPr lang="en-US" sz="1200" b="1" dirty="0">
                  <a:solidFill>
                    <a:srgbClr val="A78BFA"/>
                  </a:solidFill>
                  <a:latin typeface="+mn-lt"/>
                  <a:ea typeface="+mn-ea"/>
                  <a:cs typeface="+mn-cs"/>
                </a:rPr>
                <a:t>The reframing</a:t>
              </a:r>
            </a:p>
          </p:txBody>
        </p:sp>
        <p:sp>
          <p:nvSpPr>
            <p:cNvPr id="31" name="Rectangle 31"/>
            <p:cNvSpPr/>
            <p:nvPr/>
          </p:nvSpPr>
          <p:spPr>
            <a:xfrm>
              <a:off x="7715250" y="3352800"/>
              <a:ext cx="3619500" cy="609600"/>
            </a:xfrm>
            <a:prstGeom prst="roundRect">
              <a:avLst>
                <a:gd name="adj" fmla="val 15625"/>
              </a:avLst>
            </a:prstGeom>
            <a:solidFill>
              <a:srgbClr val="5A2130"/>
            </a:solidFill>
            <a:ln w="9525">
              <a:solidFill>
                <a:srgbClr val="F87171"/>
              </a:solidFill>
            </a:ln>
          </p:spPr>
        </p:sp>
        <p:sp>
          <p:nvSpPr>
            <p:cNvPr id="32" name="TextBox 32"/>
            <p:cNvSpPr txBox="1"/>
            <p:nvPr/>
          </p:nvSpPr>
          <p:spPr>
            <a:xfrm>
              <a:off x="7900035" y="3612356"/>
              <a:ext cx="2441536" cy="220028"/>
            </a:xfrm>
            <a:prstGeom prst="rect">
              <a:avLst/>
            </a:prstGeom>
            <a:noFill/>
            <a:ln>
              <a:noFill/>
            </a:ln>
          </p:spPr>
          <p:txBody>
            <a:bodyPr wrap="none" lIns="0" tIns="0" rIns="0" bIns="0" anchor="t" anchorCtr="0">
              <a:spAutoFit/>
            </a:bodyPr>
            <a:lstStyle/>
            <a:p>
              <a:pPr algn="l"/>
              <a:r>
                <a:rPr lang="en-US" sz="1120" b="1" dirty="0">
                  <a:solidFill>
                    <a:srgbClr val="F87171"/>
                  </a:solidFill>
                  <a:latin typeface="+mn-lt"/>
                  <a:ea typeface="+mn-ea"/>
                  <a:cs typeface="+mn-cs"/>
                </a:rPr>
                <a:t>non-covisible = noise to discard</a:t>
              </a:r>
            </a:p>
          </p:txBody>
        </p:sp>
        <p:sp>
          <p:nvSpPr>
            <p:cNvPr id="33" name="Line 33"/>
            <p:cNvSpPr/>
            <p:nvPr/>
          </p:nvSpPr>
          <p:spPr>
            <a:xfrm>
              <a:off x="9525000" y="4076700"/>
              <a:ext cx="9525" cy="171450"/>
            </a:xfrm>
            <a:custGeom>
              <a:avLst/>
              <a:gdLst/>
              <a:ahLst/>
              <a:cxnLst/>
              <a:rect l="l" t="t" r="r" b="b"/>
              <a:pathLst>
                <a:path w="9525" h="171450">
                  <a:moveTo>
                    <a:pt x="0" y="0"/>
                  </a:moveTo>
                  <a:lnTo>
                    <a:pt x="0" y="171450"/>
                  </a:lnTo>
                </a:path>
              </a:pathLst>
            </a:custGeom>
            <a:noFill/>
            <a:ln w="19050" cap="rnd">
              <a:solidFill>
                <a:srgbClr val="6E82A6"/>
              </a:solidFill>
            </a:ln>
          </p:spPr>
        </p:sp>
        <p:sp>
          <p:nvSpPr>
            <p:cNvPr id="34" name="Polyline 34"/>
            <p:cNvSpPr/>
            <p:nvPr/>
          </p:nvSpPr>
          <p:spPr>
            <a:xfrm>
              <a:off x="9477375" y="4171950"/>
              <a:ext cx="95250" cy="95250"/>
            </a:xfrm>
            <a:custGeom>
              <a:avLst/>
              <a:gdLst/>
              <a:ahLst/>
              <a:cxnLst/>
              <a:rect l="l" t="t" r="r" b="b"/>
              <a:pathLst>
                <a:path w="95250" h="95250">
                  <a:moveTo>
                    <a:pt x="0" y="0"/>
                  </a:moveTo>
                  <a:lnTo>
                    <a:pt x="47625" y="95250"/>
                  </a:lnTo>
                  <a:lnTo>
                    <a:pt x="95250" y="0"/>
                  </a:lnTo>
                </a:path>
              </a:pathLst>
            </a:custGeom>
            <a:noFill/>
            <a:ln w="9525" cap="rnd">
              <a:solidFill>
                <a:srgbClr val="6E82A6"/>
              </a:solidFill>
              <a:round/>
            </a:ln>
          </p:spPr>
        </p:sp>
        <p:sp>
          <p:nvSpPr>
            <p:cNvPr id="35" name="Rectangle 35"/>
            <p:cNvSpPr/>
            <p:nvPr/>
          </p:nvSpPr>
          <p:spPr>
            <a:xfrm>
              <a:off x="7715250" y="4343400"/>
              <a:ext cx="3619500" cy="609600"/>
            </a:xfrm>
            <a:prstGeom prst="roundRect">
              <a:avLst>
                <a:gd name="adj" fmla="val 15625"/>
              </a:avLst>
            </a:prstGeom>
            <a:solidFill>
              <a:srgbClr val="14532D"/>
            </a:solidFill>
            <a:ln w="9525">
              <a:solidFill>
                <a:schemeClr val="accent2"/>
              </a:solidFill>
            </a:ln>
          </p:spPr>
        </p:sp>
        <p:sp>
          <p:nvSpPr>
            <p:cNvPr id="36" name="TextBox 36"/>
            <p:cNvSpPr txBox="1"/>
            <p:nvPr/>
          </p:nvSpPr>
          <p:spPr>
            <a:xfrm>
              <a:off x="7900035" y="4602956"/>
              <a:ext cx="2489030"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non-covisible = signal to predict</a:t>
              </a:r>
            </a:p>
          </p:txBody>
        </p:sp>
      </p:grpSp>
      <p:sp>
        <p:nvSpPr>
          <p:cNvPr id="38" name="cue_s10_c1_takeaway_simple_but_powerful" title="cue_s10_c1_takeaway_simple_but_powerful" descr="cue_s10_c1_takeaway_simple_but_powerful The takeaway is simple but powerful."/>
          <p:cNvSpPr/>
          <p:nvPr/>
        </p:nvSpPr>
        <p:spPr>
          <a:xfrm>
            <a:off x="609600" y="1504645"/>
            <a:ext cx="11072774" cy="1047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10_c2_single_network_learn_hallucinate_key" title="cue_s10_c2_single_network_learn_hallucinate_key" descr="cue_s10_c2_single_network_learn_hallucinate_key A single network can learn to hallucinate keypoint correspondences whether the match is visible, occluded, or entirely outside the field of view, and this ability makes absolute camera pose estimation much more robust when images barely overlap."/>
          <p:cNvSpPr/>
          <p:nvPr/>
        </p:nvSpPr>
        <p:spPr>
          <a:xfrm>
            <a:off x="609600" y="2781604"/>
            <a:ext cx="6667804" cy="22857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10_c3_effect_neurhal_reframes_non_covisibl" title="cue_s10_c3_effect_neurhal_reframes_non_covisibl" descr="cue_s10_c3_effect_neurhal_reframes_non_covisibl In effect, NeurHal reframes non covisible regions not as noise to be thrown away, but as signal to be predicted through learned geometric reasoning."/>
          <p:cNvSpPr/>
          <p:nvPr/>
        </p:nvSpPr>
        <p:spPr>
          <a:xfrm>
            <a:off x="7467600" y="2781604"/>
            <a:ext cx="4114800" cy="22857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pt_project">
  <a:themeElements>
    <a:clrScheme name="ppt_project">
      <a:dk1>
        <a:srgbClr val="EAF1FF"/>
      </a:dk1>
      <a:lt1>
        <a:srgbClr val="0B1220"/>
      </a:lt1>
      <a:dk2>
        <a:srgbClr val="9DB0D0"/>
      </a:dk2>
      <a:lt2>
        <a:srgbClr val="152238"/>
      </a:lt2>
      <a:accent1>
        <a:srgbClr val="4F8CFF"/>
      </a:accent1>
      <a:accent2>
        <a:srgbClr val="34D399"/>
      </a:accent2>
      <a:accent3>
        <a:srgbClr val="34D399"/>
      </a:accent3>
      <a:accent4>
        <a:srgbClr val="2A3B5C"/>
      </a:accent4>
      <a:accent5>
        <a:srgbClr val="152238"/>
      </a:accent5>
      <a:accent6>
        <a:srgbClr val="1B2B47"/>
      </a:accent6>
      <a:hlink>
        <a:srgbClr val="34D399"/>
      </a:hlink>
      <a:folHlink>
        <a:srgbClr val="34D399"/>
      </a:folHlink>
    </a:clrScheme>
    <a:fontScheme name="ppt_project">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_proj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2026-07-16T11:35:33Z</dcterms:created>
  <dcterms:modified xsi:type="dcterms:W3CDTF">2026-07-16T11:35:33Z</dcterms:modified>
  <cp:category/>
  <cp:contentStatus/>
</cp:coreProperties>
</file>
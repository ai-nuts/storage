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74562"/>
          </a:xfrm>
          <a:prstGeom prst="roundRect">
            <a:avLst>
              <a:gd name="adj" fmla="val 3882"/>
            </a:avLst>
          </a:prstGeom>
          <a:solidFill>
            <a:srgbClr val="FFFFFF"/>
          </a:solidFill>
          <a:ln w="35560">
            <a:solidFill>
              <a:srgbClr val="4B2E8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625897" y="1675070"/>
            <a:ext cx="4913947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5447903"/>
            <a:ext cx="16349682" cy="7429123"/>
          </a:xfrm>
          <a:prstGeom prst="roundRect">
            <a:avLst>
              <a:gd name="adj" fmla="val 2233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28289" y="5447903"/>
            <a:ext cx="16349682" cy="17849314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5447903"/>
            <a:ext cx="16349821" cy="12055812"/>
          </a:xfrm>
          <a:prstGeom prst="roundRect">
            <a:avLst>
              <a:gd name="adj" fmla="val 1376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3208873"/>
            <a:ext cx="16349682" cy="16863079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17835562"/>
            <a:ext cx="16349821" cy="5020766"/>
          </a:xfrm>
          <a:prstGeom prst="roundRect">
            <a:avLst>
              <a:gd name="adj" fmla="val 330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3188175"/>
            <a:ext cx="16349821" cy="6883777"/>
          </a:xfrm>
          <a:prstGeom prst="roundRect">
            <a:avLst>
              <a:gd name="adj" fmla="val 2410"/>
            </a:avLst>
          </a:prstGeom>
          <a:solidFill>
            <a:srgbClr val="F0EDF5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3188175"/>
            <a:ext cx="53340" cy="6883777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428289" y="23629064"/>
            <a:ext cx="16349682" cy="6442888"/>
          </a:xfrm>
          <a:prstGeom prst="roundRect">
            <a:avLst>
              <a:gd name="adj" fmla="val 257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xi-an-jiaotong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20" y="1424483"/>
            <a:ext cx="2729230" cy="2729230"/>
          </a:xfrm>
          <a:prstGeom prst="rect">
            <a:avLst/>
          </a:prstGeom>
        </p:spPr>
      </p:pic>
      <p:pic>
        <p:nvPicPr>
          <p:cNvPr id="13" name="Picture 12" descr="chinese-academy-of-sci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024" y="1424506"/>
            <a:ext cx="3040797" cy="2729184"/>
          </a:xfrm>
          <a:prstGeom prst="rect">
            <a:avLst/>
          </a:prstGeom>
        </p:spPr>
      </p:pic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377" y="1840927"/>
            <a:ext cx="4344987" cy="189648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777" y="5456793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437179" y="5456793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13581" y="5456793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11007903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1007903"/>
            <a:ext cx="124460" cy="1481019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0777" y="13217763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13581" y="17844452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592795" y="19344917"/>
            <a:ext cx="15573613" cy="3223737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58031" y="23197065"/>
            <a:ext cx="16287591" cy="1180426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437179" y="23637954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637245" y="24785736"/>
            <a:ext cx="15529163" cy="1668820"/>
          </a:xfrm>
          <a:prstGeom prst="roundRect">
            <a:avLst>
              <a:gd name="adj" fmla="val 12500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592795" y="9868455"/>
            <a:ext cx="15573613" cy="6790710"/>
          </a:xfrm>
          <a:prstGeom prst="roundRect">
            <a:avLst>
              <a:gd name="adj" fmla="val 139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age7_figure2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2921" y="9868455"/>
            <a:ext cx="15573361" cy="679071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7831395" y="17624702"/>
            <a:ext cx="15543470" cy="4560848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age2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1553" y="17624702"/>
            <a:ext cx="15543154" cy="456084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3317219" y="19567167"/>
            <a:ext cx="6603325" cy="28267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17219" y="19567167"/>
            <a:ext cx="11557" cy="2826743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2214" y="23397229"/>
            <a:ext cx="15548888" cy="5563057"/>
          </a:xfrm>
          <a:prstGeom prst="roundRect">
            <a:avLst>
              <a:gd name="adj" fmla="val 170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ge8_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303" y="23397229"/>
            <a:ext cx="15548710" cy="556305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7816393" y="26911557"/>
            <a:ext cx="2457946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CIFAR-10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430747" y="26911557"/>
            <a:ext cx="2704505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CIFAR-100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291661" y="26911557"/>
            <a:ext cx="3386117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TinyImageNet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834187" y="26911557"/>
            <a:ext cx="287702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ImageNette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867621" y="26911557"/>
            <a:ext cx="286813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ImageWoof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816393" y="27887791"/>
            <a:ext cx="275340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ImageFruit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726201" y="27887791"/>
            <a:ext cx="2999958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ImageMeow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882568" y="27887791"/>
            <a:ext cx="3443625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ImageSquawk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82601" y="27887791"/>
            <a:ext cx="3148171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ImageYellow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816393" y="28864024"/>
            <a:ext cx="3172202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CIFAR-100-C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592795" y="7151171"/>
            <a:ext cx="7764999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592795" y="7956688"/>
            <a:ext cx="77649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357794" y="7151171"/>
            <a:ext cx="4713228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57794" y="7956688"/>
            <a:ext cx="47132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71022" y="7151171"/>
            <a:ext cx="3095386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071022" y="7956688"/>
            <a:ext cx="30953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592795" y="7965578"/>
            <a:ext cx="776499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592795" y="8775541"/>
            <a:ext cx="77649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357794" y="7965578"/>
            <a:ext cx="471322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357794" y="8775541"/>
            <a:ext cx="47132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071022" y="7965578"/>
            <a:ext cx="3095386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071022" y="8775541"/>
            <a:ext cx="30953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592795" y="8784431"/>
            <a:ext cx="776499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592795" y="9594393"/>
            <a:ext cx="776499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357794" y="8784431"/>
            <a:ext cx="471322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357794" y="9594393"/>
            <a:ext cx="47132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071022" y="8784431"/>
            <a:ext cx="3095386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71022" y="9594393"/>
            <a:ext cx="30953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464460" y="1019294"/>
            <a:ext cx="24704060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4B2E83"/>
                </a:solidFill>
                <a:latin typeface="Arial"/>
              </a:rPr>
              <a:t>Sparse Parameterization for Epitomic Dataset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4B2E83"/>
                </a:solidFill>
                <a:latin typeface="Arial"/>
              </a:rPr>
              <a:t>Distillation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464460" y="3408620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Xing Wei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Anjia Cao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Funing Yang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Zhiheng Ma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464460" y="4077870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School of Software Engineering, Xi'an Jiaotong University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Shenzhen Institute of Advanced Technology, CAS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777" y="5456793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437179" y="5456793"/>
            <a:ext cx="16758622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13581" y="5456793"/>
            <a:ext cx="167587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991" y="6961703"/>
            <a:ext cx="1600019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Dataset distillation compresses a large dataset into a small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synthetic set, but prior work pours effort into the </a:t>
            </a:r>
            <a:r>
              <a:rPr sz="4106" b="1">
                <a:solidFill>
                  <a:srgbClr val="111111"/>
                </a:solidFill>
                <a:latin typeface="Arial"/>
              </a:rPr>
              <a:t>matching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objective</a:t>
            </a:r>
            <a:r>
              <a:rPr sz="4106" b="0">
                <a:solidFill>
                  <a:srgbClr val="1C1C1C"/>
                </a:solidFill>
                <a:latin typeface="Arial"/>
              </a:rPr>
              <a:t> while parameterizing each synthetic image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independently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naive scheme that ignores the heavy </a:t>
            </a:r>
            <a:r>
              <a:rPr sz="4106" b="1">
                <a:solidFill>
                  <a:srgbClr val="111111"/>
                </a:solidFill>
                <a:latin typeface="Arial"/>
              </a:rPr>
              <a:t>spatial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redundancy</a:t>
            </a:r>
            <a:r>
              <a:rPr sz="4106" b="0">
                <a:solidFill>
                  <a:srgbClr val="1C1C1C"/>
                </a:solidFill>
                <a:latin typeface="Arial"/>
              </a:rPr>
              <a:t> within and across images.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11007903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Wasted redundancy caps the informative data that fits the tiny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budget — worst at high resolution.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777" y="13217763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16393" y="15818921"/>
            <a:ext cx="15986998" cy="163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Factorize each image into shared tokens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</a:t>
            </a:r>
            <a:r>
              <a:rPr sz="4106" b="0">
                <a:solidFill>
                  <a:srgbClr val="1C1C1C"/>
                </a:solidFill>
                <a:latin typeface="Arial"/>
              </a:rPr>
              <a:t> + a sparse code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 (top-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</a:t>
            </a:r>
            <a:r>
              <a:rPr sz="4106" b="0">
                <a:solidFill>
                  <a:srgbClr val="1C1C1C"/>
                </a:solidFill>
                <a:latin typeface="Arial"/>
              </a:rPr>
              <a:t>, uint8).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13581" y="17844452"/>
            <a:ext cx="16758761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258031" y="23197065"/>
            <a:ext cx="16714311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437179" y="23637954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37245" y="24785736"/>
            <a:ext cx="15955883" cy="1919142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How you parameterize the synthetic dataset matters as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much as the matching objective.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16393" y="25138419"/>
            <a:ext cx="1600019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Equal-storage comparison (params/class) at IPC 1/10/50; ConvNet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+ trajectory matching by default: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637245" y="26542761"/>
            <a:ext cx="1595588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shared epitomic-token dictionary with sparse per-image codes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a recurrent synthesizer removes spatial redundancy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delivering SOTA distillation at a fraction of the storage, especially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 high-resolution data.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16375" y="6993790"/>
            <a:ext cx="1600021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Epitomic tokens (SAETs).</a:t>
            </a:r>
            <a:r>
              <a:rPr sz="4106" b="0">
                <a:solidFill>
                  <a:srgbClr val="1C1C1C"/>
                </a:solidFill>
                <a:latin typeface="Arial"/>
              </a:rPr>
              <a:t> A shared multi-head dictionary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</a:t>
            </a:r>
            <a:r>
              <a:rPr sz="4106" b="0">
                <a:solidFill>
                  <a:srgbClr val="1C1C1C"/>
                </a:solidFill>
                <a:latin typeface="Arial"/>
              </a:rPr>
              <a:t>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spatial-agnostic tokens reused by every synthetic image patch.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16375" y="8688724"/>
            <a:ext cx="16000212" cy="28044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Sparse coding (SCMs).</a:t>
            </a:r>
            <a:r>
              <a:rPr sz="4106" b="0">
                <a:solidFill>
                  <a:srgbClr val="1C1C1C"/>
                </a:solidFill>
                <a:latin typeface="Arial"/>
              </a:rPr>
              <a:t> Each image keeps a sparse matrix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i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that selects only its significant tokens; an ℓ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 penalty then prunes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each SCM to its top-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</a:t>
            </a:r>
            <a:r>
              <a:rPr sz="4106" b="0">
                <a:solidFill>
                  <a:srgbClr val="1C1C1C"/>
                </a:solidFill>
                <a:latin typeface="Arial"/>
              </a:rPr>
              <a:t> non-zero entries.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816375" y="11309885"/>
            <a:ext cx="16000212" cy="2706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FReeNet synthesis.</a:t>
            </a:r>
            <a:r>
              <a:rPr sz="4106" b="0">
                <a:solidFill>
                  <a:srgbClr val="1C1C1C"/>
                </a:solidFill>
                <a:latin typeface="Arial"/>
              </a:rPr>
              <a:t> A recurrent transformer-style network Φ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φ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(shared across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 blocks) assembles tokens into hierarchical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image patches.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72" y="15250656"/>
            <a:ext cx="16000213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Images are redundant.</a:t>
            </a:r>
            <a:r>
              <a:rPr sz="4106" b="0">
                <a:solidFill>
                  <a:srgbClr val="1C1C1C"/>
                </a:solidFill>
                <a:latin typeface="Arial"/>
              </a:rPr>
              <a:t> Patches, textures, and structures recur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within and across images — exactly what dictionary learning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sparse coding were built to exploit.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388839" y="16808767"/>
            <a:ext cx="10280828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Continual learning: SPEED (red) leads at every step.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72" y="17701795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Spend the budget wisely.</a:t>
            </a:r>
            <a:r>
              <a:rPr sz="4106" b="0">
                <a:solidFill>
                  <a:srgbClr val="1C1C1C"/>
                </a:solidFill>
                <a:latin typeface="Arial"/>
              </a:rPr>
              <a:t> A compact shared dictionary plus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sparse per-image codes packs far more informative synthetic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images than one-image-per-parameter.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72" y="20152935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Spatially agnostic.</a:t>
            </a:r>
            <a:r>
              <a:rPr sz="4106" b="0">
                <a:solidFill>
                  <a:srgbClr val="1C1C1C"/>
                </a:solidFill>
                <a:latin typeface="Arial"/>
              </a:rPr>
              <a:t> Prior methods exploit cross-image relations,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but none remove redundancy regardless of a feature's location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— SPEED's shared tokens do.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551207" y="22335152"/>
            <a:ext cx="14526961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SPEED overview: shared tokens + sparse codes drive recurrent synthesis.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14329" y="29109888"/>
            <a:ext cx="13209255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Synthetic ImageSquawk samples from a compact shared dictionary.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838659" y="19567167"/>
            <a:ext cx="8142023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Arial"/>
              </a:rPr>
              <a:t>+11.2%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838659" y="20942061"/>
            <a:ext cx="8142023" cy="1199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avg gain across 6 ImageNet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subsets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838659" y="21984970"/>
            <a:ext cx="8142023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new state-of-the-art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592795" y="7151171"/>
            <a:ext cx="7997948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IPC 1 · test acc (%)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357794" y="7151171"/>
            <a:ext cx="4854624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Prior SOTA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071022" y="7151171"/>
            <a:ext cx="3188247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SPEED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592795" y="7965578"/>
            <a:ext cx="7997948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CIFAR-100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357794" y="7965578"/>
            <a:ext cx="485462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34.0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071022" y="7965578"/>
            <a:ext cx="3188247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40.0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592795" y="8784431"/>
            <a:ext cx="7997948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TinyImageNet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357794" y="8784431"/>
            <a:ext cx="485462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16.0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071022" y="8784431"/>
            <a:ext cx="318824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26.9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795473" y="19567167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40.0%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496658" y="19700517"/>
            <a:ext cx="389832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CIFAR-100 IPC 1 (+6.0)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795473" y="20596324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26.9%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496658" y="20729674"/>
            <a:ext cx="455660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TinyImageNet IPC 1 (+10.9)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795473" y="21625480"/>
            <a:ext cx="132013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307K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259684" y="21758830"/>
            <a:ext cx="422381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params (k=48) vs 15M full</a:t>
            </a:r>
          </a:p>
        </p:txBody>
      </p:sp>
      <p:pic>
        <p:nvPicPr>
          <p:cNvPr id="105" name="Picture 104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6393" y="14404022"/>
            <a:ext cx="15573474" cy="804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
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</p:sldIdLst>
  <p:sldSz cx="51206400" cy="3072384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image" Target="../media/image2.png"/><Relationship Id="rId4" Type="http://schemas.openxmlformats.org/officeDocument/2006/relationships/image" Target="../media/image3.png"/><Relationship Id="rId5" Type="http://schemas.openxmlformats.org/officeDocument/2006/relationships/image" Target="../media/image4.png"/><Relationship Id="rId6" Type="http://schemas.openxmlformats.org/officeDocument/2006/relationships/image" Target="../media/image5.png"/><Relationship Id="rId7" Type="http://schemas.openxmlformats.org/officeDocument/2006/relationships/image" Target="../media/image6.png"/><Relationship Id="rId8" Type="http://schemas.openxmlformats.org/officeDocument/2006/relationships/image" Target="../media/image7.png"/><Relationship Id="rId9" Type="http://schemas.openxmlformats.org/officeDocument/2006/relationships/image" Target="../media/image8.png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651887" y="651887"/>
            <a:ext cx="49902625" cy="5081190"/>
          </a:xfrm>
          <a:prstGeom prst="roundRect">
            <a:avLst>
              <a:gd name="adj" fmla="val 2799"/>
            </a:avLst>
          </a:prstGeom>
          <a:solidFill>
            <a:srgbClr val="F4E6EF"/>
          </a:solidFill>
          <a:ln>
            <a:noFill/>
          </a:ln>
          <a:effectLst>
            <a:outerShdw blurRad="63500" dist="19050" dir="10800000" algn="ctr" rotWithShape="0">
              <a:srgbClr val="000000">
                <a:alpha val="1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651887" y="6254531"/>
            <a:ext cx="10804961" cy="8156159"/>
          </a:xfrm>
          <a:prstGeom prst="rect">
            <a:avLst/>
          </a:prstGeom>
          <a:solidFill>
            <a:srgbClr val="FFFFFF"/>
          </a:solidFill>
          <a:ln w="35560">
            <a:solidFill>
              <a:srgbClr val="111111"/>
            </a:solidFill>
          </a:ln>
          <a:effectLst>
            <a:outerShdw blurRad="63500" dist="19050" dir="10800000" algn="ctr" rotWithShape="0">
              <a:srgbClr val="000000">
                <a:alpha val="1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11883568" y="6254531"/>
            <a:ext cx="27439124" cy="12739370"/>
          </a:xfrm>
          <a:prstGeom prst="rect">
            <a:avLst/>
          </a:prstGeom>
          <a:solidFill>
            <a:srgbClr val="FFFFFF"/>
          </a:solidFill>
          <a:ln w="35560">
            <a:solidFill>
              <a:srgbClr val="111111"/>
            </a:solidFill>
          </a:ln>
          <a:effectLst>
            <a:outerShdw blurRad="63500" dist="19050" dir="10800000" algn="ctr" rotWithShape="0">
              <a:srgbClr val="000000">
                <a:alpha val="1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39749412" y="6254531"/>
            <a:ext cx="10804962" cy="4391105"/>
          </a:xfrm>
          <a:prstGeom prst="rect">
            <a:avLst/>
          </a:prstGeom>
          <a:solidFill>
            <a:srgbClr val="FFFFFF"/>
          </a:solidFill>
          <a:ln w="35560">
            <a:solidFill>
              <a:srgbClr val="111111"/>
            </a:solidFill>
          </a:ln>
          <a:effectLst>
            <a:outerShdw blurRad="63500" dist="19050" dir="10800000" algn="ctr" rotWithShape="0">
              <a:srgbClr val="000000">
                <a:alpha val="1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39749412" y="10977483"/>
            <a:ext cx="10804962" cy="6090483"/>
          </a:xfrm>
          <a:prstGeom prst="rect">
            <a:avLst/>
          </a:prstGeom>
          <a:solidFill>
            <a:srgbClr val="FFFFFF"/>
          </a:solidFill>
          <a:ln w="35560">
            <a:solidFill>
              <a:srgbClr val="111111"/>
            </a:solidFill>
          </a:ln>
          <a:effectLst>
            <a:outerShdw blurRad="63500" dist="19050" dir="10800000" algn="ctr" rotWithShape="0">
              <a:srgbClr val="000000">
                <a:alpha val="1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651887" y="14742537"/>
            <a:ext cx="10804961" cy="15329415"/>
          </a:xfrm>
          <a:prstGeom prst="rect">
            <a:avLst/>
          </a:prstGeom>
          <a:solidFill>
            <a:srgbClr val="FFFFFF"/>
          </a:solidFill>
          <a:ln w="35560">
            <a:solidFill>
              <a:srgbClr val="111111"/>
            </a:solidFill>
          </a:ln>
          <a:effectLst>
            <a:outerShdw blurRad="63500" dist="19050" dir="10800000" algn="ctr" rotWithShape="0">
              <a:srgbClr val="000000">
                <a:alpha val="1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39749412" y="17399813"/>
            <a:ext cx="10804962" cy="7869039"/>
          </a:xfrm>
          <a:prstGeom prst="rect">
            <a:avLst/>
          </a:prstGeom>
          <a:solidFill>
            <a:srgbClr val="F6ECF1"/>
          </a:solidFill>
          <a:ln>
            <a:noFill/>
          </a:ln>
          <a:effectLst>
            <a:outerShdw blurRad="63500" dist="19050" dir="10800000" algn="ctr" rotWithShape="0">
              <a:srgbClr val="000000">
                <a:alpha val="1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39749412" y="17399813"/>
            <a:ext cx="10804962" cy="35560"/>
          </a:xfrm>
          <a:prstGeom prst="rect">
            <a:avLst/>
          </a:prstGeom>
          <a:solidFill>
            <a:srgbClr val="111111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50518814" y="17399813"/>
            <a:ext cx="35560" cy="7869039"/>
          </a:xfrm>
          <a:prstGeom prst="rect">
            <a:avLst/>
          </a:prstGeom>
          <a:solidFill>
            <a:srgbClr val="111111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39749412" y="25233292"/>
            <a:ext cx="10804962" cy="35560"/>
          </a:xfrm>
          <a:prstGeom prst="rect">
            <a:avLst/>
          </a:prstGeom>
          <a:solidFill>
            <a:srgbClr val="111111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39749412" y="17399813"/>
            <a:ext cx="53340" cy="7869039"/>
          </a:xfrm>
          <a:prstGeom prst="rect">
            <a:avLst/>
          </a:prstGeom>
          <a:solidFill>
            <a:srgbClr val="7D2860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39749412" y="25600699"/>
            <a:ext cx="10804962" cy="4471253"/>
          </a:xfrm>
          <a:prstGeom prst="rect">
            <a:avLst/>
          </a:prstGeom>
          <a:solidFill>
            <a:srgbClr val="FFFFFF"/>
          </a:solidFill>
          <a:ln w="35560">
            <a:solidFill>
              <a:srgbClr val="111111"/>
            </a:solidFill>
          </a:ln>
          <a:effectLst>
            <a:outerShdw blurRad="63500" dist="19050" dir="10800000" algn="ctr" rotWithShape="0">
              <a:srgbClr val="000000">
                <a:alpha val="1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14" name="Picture 13" descr="_venu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9400341" y="3958133"/>
            <a:ext cx="4347210" cy="1466850"/>
          </a:xfrm>
          <a:prstGeom prst="rect">
            <a:avLst/>
          </a:prstGeom>
        </p:spPr>
      </p:pic>
      <p:pic>
        <p:nvPicPr>
          <p:cNvPr id="15" name="Picture 14" descr="googl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3984525" y="3958149"/>
            <a:ext cx="4829770" cy="1466819"/>
          </a:xfrm>
          <a:prstGeom prst="rect">
            <a:avLst/>
          </a:prstGeom>
        </p:spPr>
      </p:pic>
      <p:pic>
        <p:nvPicPr>
          <p:cNvPr id="16" name="Picture 15" descr="massachusetts-institute-of-technology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29051269" y="3958162"/>
            <a:ext cx="2754789" cy="1466792"/>
          </a:xfrm>
          <a:prstGeom prst="rect">
            <a:avLst/>
          </a:prstGeom>
        </p:spPr>
      </p:pic>
      <p:sp>
        <p:nvSpPr>
          <p:cNvPr id="17" name="Rectangle 16"/>
          <p:cNvSpPr/>
          <p:nvPr/>
        </p:nvSpPr>
        <p:spPr>
          <a:xfrm>
            <a:off x="1066661" y="11848703"/>
            <a:ext cx="9975413" cy="2159019"/>
          </a:xfrm>
          <a:prstGeom prst="rect">
            <a:avLst/>
          </a:prstGeom>
          <a:noFill/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>
            <a:off x="1066661" y="11848703"/>
            <a:ext cx="124460" cy="2159019"/>
          </a:xfrm>
          <a:prstGeom prst="rect">
            <a:avLst/>
          </a:prstGeom>
          <a:solidFill>
            <a:srgbClr val="7D2860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9" name="Rounded Rectangle 18"/>
          <p:cNvSpPr/>
          <p:nvPr/>
        </p:nvSpPr>
        <p:spPr>
          <a:xfrm>
            <a:off x="40164186" y="12530177"/>
            <a:ext cx="9975414" cy="4305538"/>
          </a:xfrm>
          <a:prstGeom prst="roundRect">
            <a:avLst>
              <a:gd name="adj" fmla="val 1651"/>
            </a:avLst>
          </a:prstGeom>
          <a:gradFill rotWithShape="1" flip="none">
            <a:gsLst>
              <a:gs pos="0">
                <a:srgbClr val="EFE5EC"/>
              </a:gs>
              <a:gs pos="100000">
                <a:srgbClr val="F7F2F5"/>
              </a:gs>
            </a:gsLst>
            <a:lin ang="5400000" scaled="0"/>
          </a:gradFill>
          <a:ln w="8890">
            <a:solidFill>
              <a:srgbClr val="DEC9D7"/>
            </a:solidFill>
          </a:ln>
          <a:effectLst>
            <a:outerShdw blurRad="63500" dist="19050" dir="10800000" algn="ctr" rotWithShape="0">
              <a:srgbClr val="000000">
                <a:alpha val="1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Rectangle 19"/>
          <p:cNvSpPr/>
          <p:nvPr/>
        </p:nvSpPr>
        <p:spPr>
          <a:xfrm>
            <a:off x="11883568" y="19325748"/>
            <a:ext cx="13553639" cy="10746204"/>
          </a:xfrm>
          <a:prstGeom prst="rect">
            <a:avLst/>
          </a:prstGeom>
          <a:solidFill>
            <a:srgbClr val="FFFFFF"/>
          </a:solidFill>
          <a:ln w="35560">
            <a:solidFill>
              <a:srgbClr val="111111"/>
            </a:solidFill>
          </a:ln>
          <a:effectLst>
            <a:outerShdw blurRad="63500" dist="19050" dir="10800000" algn="ctr" rotWithShape="0">
              <a:srgbClr val="000000">
                <a:alpha val="1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Rectangle 20"/>
          <p:cNvSpPr/>
          <p:nvPr/>
        </p:nvSpPr>
        <p:spPr>
          <a:xfrm>
            <a:off x="25769054" y="19325748"/>
            <a:ext cx="13553638" cy="10746204"/>
          </a:xfrm>
          <a:prstGeom prst="rect">
            <a:avLst/>
          </a:prstGeom>
          <a:solidFill>
            <a:srgbClr val="FFFFFF"/>
          </a:solidFill>
          <a:ln w="35560">
            <a:solidFill>
              <a:srgbClr val="111111"/>
            </a:solidFill>
          </a:ln>
          <a:effectLst>
            <a:outerShdw blurRad="63500" dist="19050" dir="10800000" algn="ctr" rotWithShape="0">
              <a:srgbClr val="000000">
                <a:alpha val="1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Rounded Rectangle 21"/>
          <p:cNvSpPr/>
          <p:nvPr/>
        </p:nvSpPr>
        <p:spPr>
          <a:xfrm>
            <a:off x="40181966" y="22695336"/>
            <a:ext cx="9957634" cy="2346821"/>
          </a:xfrm>
          <a:prstGeom prst="roundRect">
            <a:avLst>
              <a:gd name="adj" fmla="val 8889"/>
            </a:avLst>
          </a:prstGeom>
          <a:solidFill>
            <a:srgbClr val="7D286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Rounded Rectangle 22"/>
          <p:cNvSpPr/>
          <p:nvPr/>
        </p:nvSpPr>
        <p:spPr>
          <a:xfrm>
            <a:off x="1066661" y="27354668"/>
            <a:ext cx="9975413" cy="2325986"/>
          </a:xfrm>
          <a:prstGeom prst="roundRect">
            <a:avLst>
              <a:gd name="adj" fmla="val 8969"/>
            </a:avLst>
          </a:prstGeom>
          <a:solidFill>
            <a:srgbClr val="F4E6E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Rounded Rectangle 23"/>
          <p:cNvSpPr/>
          <p:nvPr/>
        </p:nvSpPr>
        <p:spPr>
          <a:xfrm>
            <a:off x="12298342" y="12337792"/>
            <a:ext cx="26609576" cy="1437540"/>
          </a:xfrm>
          <a:prstGeom prst="roundRect">
            <a:avLst>
              <a:gd name="adj" fmla="val 15673"/>
            </a:avLst>
          </a:prstGeom>
          <a:solidFill>
            <a:srgbClr val="F7F2F5"/>
          </a:solidFill>
          <a:ln w="8890">
            <a:solidFill>
              <a:srgbClr val="D5BAC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Rectangle 24"/>
          <p:cNvSpPr/>
          <p:nvPr/>
        </p:nvSpPr>
        <p:spPr>
          <a:xfrm>
            <a:off x="45720992" y="12752427"/>
            <a:ext cx="4172743" cy="3908544"/>
          </a:xfrm>
          <a:prstGeom prst="rect">
            <a:avLst/>
          </a:prstGeom>
          <a:noFill/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Rectangle 25"/>
          <p:cNvSpPr/>
          <p:nvPr/>
        </p:nvSpPr>
        <p:spPr>
          <a:xfrm>
            <a:off x="45720992" y="12752427"/>
            <a:ext cx="11557" cy="3908544"/>
          </a:xfrm>
          <a:prstGeom prst="rect">
            <a:avLst/>
          </a:prstGeom>
          <a:solidFill>
            <a:srgbClr val="DEC9D7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7" name="Rounded Rectangle 26"/>
          <p:cNvSpPr/>
          <p:nvPr/>
        </p:nvSpPr>
        <p:spPr>
          <a:xfrm>
            <a:off x="26183828" y="24670722"/>
            <a:ext cx="12724090" cy="1942187"/>
          </a:xfrm>
          <a:prstGeom prst="roundRect">
            <a:avLst>
              <a:gd name="adj" fmla="val 50000"/>
            </a:avLst>
          </a:prstGeom>
          <a:solidFill>
            <a:srgbClr val="F4E6E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Rectangle 27"/>
          <p:cNvSpPr/>
          <p:nvPr/>
        </p:nvSpPr>
        <p:spPr>
          <a:xfrm>
            <a:off x="26183828" y="26893916"/>
            <a:ext cx="12724090" cy="2239586"/>
          </a:xfrm>
          <a:prstGeom prst="rect">
            <a:avLst/>
          </a:prstGeom>
          <a:noFill/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Rectangle 28"/>
          <p:cNvSpPr/>
          <p:nvPr/>
        </p:nvSpPr>
        <p:spPr>
          <a:xfrm>
            <a:off x="26183828" y="26893916"/>
            <a:ext cx="12724090" cy="11557"/>
          </a:xfrm>
          <a:prstGeom prst="rect">
            <a:avLst/>
          </a:prstGeom>
          <a:solidFill>
            <a:srgbClr val="D2B4C8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30" name="Rectangle 29"/>
          <p:cNvSpPr/>
          <p:nvPr/>
        </p:nvSpPr>
        <p:spPr>
          <a:xfrm>
            <a:off x="40164186" y="8513564"/>
            <a:ext cx="9975414" cy="945118"/>
          </a:xfrm>
          <a:prstGeom prst="rect">
            <a:avLst/>
          </a:prstGeom>
          <a:solidFill>
            <a:srgbClr val="F2E9E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Rounded Rectangle 30"/>
          <p:cNvSpPr/>
          <p:nvPr/>
        </p:nvSpPr>
        <p:spPr>
          <a:xfrm>
            <a:off x="12298342" y="14176771"/>
            <a:ext cx="26609576" cy="2827159"/>
          </a:xfrm>
          <a:prstGeom prst="roundRect">
            <a:avLst>
              <a:gd name="adj" fmla="val 1257"/>
            </a:avLst>
          </a:prstGeom>
          <a:solidFill>
            <a:srgbClr val="FFFFFF"/>
          </a:solidFill>
          <a:ln w="8890">
            <a:solidFill>
              <a:srgbClr val="E5E5E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32" name="Picture 31" descr="figure2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12298853" y="14176771"/>
            <a:ext cx="26608554" cy="2827159"/>
          </a:xfrm>
          <a:prstGeom prst="rect">
            <a:avLst/>
          </a:prstGeom>
        </p:spPr>
      </p:pic>
      <p:sp>
        <p:nvSpPr>
          <p:cNvPr id="33" name="Rounded Rectangle 32"/>
          <p:cNvSpPr/>
          <p:nvPr/>
        </p:nvSpPr>
        <p:spPr>
          <a:xfrm>
            <a:off x="12298342" y="20842882"/>
            <a:ext cx="5192871" cy="819825"/>
          </a:xfrm>
          <a:prstGeom prst="roundRect">
            <a:avLst>
              <a:gd name="adj" fmla="val 50000"/>
            </a:avLst>
          </a:prstGeom>
          <a:solidFill>
            <a:srgbClr val="F2E9E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 wrap="none"/>
          <a:lstStyle/>
          <a:p>
            <a:pPr algn="ctr"/>
            <a:r>
              <a:rPr sz="3490" b="1">
                <a:solidFill>
                  <a:srgbClr val="7D2860"/>
                </a:solidFill>
                <a:latin typeface="Arial"/>
              </a:rPr>
              <a:t>QM9 · 134K molecules</a:t>
            </a:r>
          </a:p>
        </p:txBody>
      </p:sp>
      <p:sp>
        <p:nvSpPr>
          <p:cNvPr id="34" name="Rounded Rectangle 33"/>
          <p:cNvSpPr/>
          <p:nvPr/>
        </p:nvSpPr>
        <p:spPr>
          <a:xfrm>
            <a:off x="17647622" y="20842882"/>
            <a:ext cx="3583087" cy="819825"/>
          </a:xfrm>
          <a:prstGeom prst="roundRect">
            <a:avLst>
              <a:gd name="adj" fmla="val 50000"/>
            </a:avLst>
          </a:prstGeom>
          <a:solidFill>
            <a:srgbClr val="F2E9E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 wrap="none"/>
          <a:lstStyle/>
          <a:p>
            <a:pPr algn="ctr"/>
            <a:r>
              <a:rPr sz="3490" b="1">
                <a:solidFill>
                  <a:srgbClr val="7D2860"/>
                </a:solidFill>
                <a:latin typeface="Arial"/>
              </a:rPr>
              <a:t>WeatherBench</a:t>
            </a:r>
          </a:p>
        </p:txBody>
      </p:sp>
      <p:sp>
        <p:nvSpPr>
          <p:cNvPr id="35" name="Rounded Rectangle 34"/>
          <p:cNvSpPr/>
          <p:nvPr/>
        </p:nvSpPr>
        <p:spPr>
          <a:xfrm>
            <a:off x="21387117" y="20842882"/>
            <a:ext cx="1669931" cy="819825"/>
          </a:xfrm>
          <a:prstGeom prst="roundRect">
            <a:avLst>
              <a:gd name="adj" fmla="val 50000"/>
            </a:avLst>
          </a:prstGeom>
          <a:solidFill>
            <a:srgbClr val="F2E9E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 wrap="none"/>
          <a:lstStyle/>
          <a:p>
            <a:pPr algn="ctr"/>
            <a:r>
              <a:rPr sz="3490" b="1">
                <a:solidFill>
                  <a:srgbClr val="7D2860"/>
                </a:solidFill>
                <a:latin typeface="Arial"/>
              </a:rPr>
              <a:t>ERA5</a:t>
            </a:r>
          </a:p>
        </p:txBody>
      </p:sp>
      <p:sp>
        <p:nvSpPr>
          <p:cNvPr id="36" name="Rounded Rectangle 35"/>
          <p:cNvSpPr/>
          <p:nvPr/>
        </p:nvSpPr>
        <p:spPr>
          <a:xfrm>
            <a:off x="12298342" y="21923434"/>
            <a:ext cx="12724090" cy="5206484"/>
          </a:xfrm>
          <a:prstGeom prst="roundRect">
            <a:avLst>
              <a:gd name="adj" fmla="val 682"/>
            </a:avLst>
          </a:prstGeom>
          <a:solidFill>
            <a:srgbClr val="FFFFFF"/>
          </a:solidFill>
          <a:ln w="8890">
            <a:solidFill>
              <a:srgbClr val="E5E5E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37" name="Picture 36" descr="figure3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12298383" y="21923434"/>
            <a:ext cx="12724009" cy="5206484"/>
          </a:xfrm>
          <a:prstGeom prst="rect">
            <a:avLst/>
          </a:prstGeom>
        </p:spPr>
      </p:pic>
      <p:sp>
        <p:nvSpPr>
          <p:cNvPr id="38" name="Rounded Rectangle 37"/>
          <p:cNvSpPr/>
          <p:nvPr/>
        </p:nvSpPr>
        <p:spPr>
          <a:xfrm>
            <a:off x="43389034" y="26015473"/>
            <a:ext cx="3188593" cy="3188593"/>
          </a:xfrm>
          <a:prstGeom prst="roundRect">
            <a:avLst>
              <a:gd name="adj" fmla="val 4832"/>
            </a:avLst>
          </a:prstGeom>
          <a:solidFill>
            <a:srgbClr val="FFFFFF"/>
          </a:solidFill>
          <a:ln w="8890">
            <a:solidFill>
              <a:srgbClr val="F0F0F0"/>
            </a:solidFill>
          </a:ln>
          <a:effectLst>
            <a:outerShdw blurRad="63500" dist="19050" dir="10800000" algn="ctr" rotWithShape="0">
              <a:srgbClr val="000000">
                <a:alpha val="1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39" name="Picture 38" descr="paper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43507567" y="26134006"/>
            <a:ext cx="2951526" cy="2951527"/>
          </a:xfrm>
          <a:prstGeom prst="rect">
            <a:avLst/>
          </a:prstGeom>
        </p:spPr>
      </p:pic>
      <p:sp>
        <p:nvSpPr>
          <p:cNvPr id="40" name="Rounded Rectangle 39"/>
          <p:cNvSpPr/>
          <p:nvPr/>
        </p:nvSpPr>
        <p:spPr>
          <a:xfrm>
            <a:off x="46945034" y="26015473"/>
            <a:ext cx="3188593" cy="3188593"/>
          </a:xfrm>
          <a:prstGeom prst="roundRect">
            <a:avLst>
              <a:gd name="adj" fmla="val 4832"/>
            </a:avLst>
          </a:prstGeom>
          <a:solidFill>
            <a:srgbClr val="FFFFFF"/>
          </a:solidFill>
          <a:ln w="8890">
            <a:solidFill>
              <a:srgbClr val="F0F0F0"/>
            </a:solidFill>
          </a:ln>
          <a:effectLst>
            <a:outerShdw blurRad="63500" dist="19050" dir="10800000" algn="ctr" rotWithShape="0">
              <a:srgbClr val="000000">
                <a:alpha val="1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41" name="Picture 40" descr="code.png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47063567" y="26134006"/>
            <a:ext cx="2951526" cy="2951527"/>
          </a:xfrm>
          <a:prstGeom prst="rect">
            <a:avLst/>
          </a:prstGeom>
        </p:spPr>
      </p:pic>
      <p:sp>
        <p:nvSpPr>
          <p:cNvPr id="42" name="Rounded Rectangle 41"/>
          <p:cNvSpPr/>
          <p:nvPr/>
        </p:nvSpPr>
        <p:spPr>
          <a:xfrm>
            <a:off x="44355404" y="29346306"/>
            <a:ext cx="1255991" cy="524232"/>
          </a:xfrm>
          <a:prstGeom prst="roundRect">
            <a:avLst>
              <a:gd name="adj" fmla="val 50000"/>
            </a:avLst>
          </a:prstGeom>
          <a:solidFill>
            <a:srgbClr val="F4E6E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 wrap="none"/>
          <a:lstStyle/>
          <a:p>
            <a:pPr algn="ctr"/>
            <a:r>
              <a:rPr sz="2333" b="1">
                <a:solidFill>
                  <a:srgbClr val="7D2860"/>
                </a:solidFill>
                <a:latin typeface="Arial"/>
              </a:rPr>
              <a:t>Paper</a:t>
            </a:r>
          </a:p>
        </p:txBody>
      </p:sp>
      <p:sp>
        <p:nvSpPr>
          <p:cNvPr id="43" name="Rounded Rectangle 42"/>
          <p:cNvSpPr/>
          <p:nvPr/>
        </p:nvSpPr>
        <p:spPr>
          <a:xfrm>
            <a:off x="47955715" y="29346306"/>
            <a:ext cx="1167369" cy="524232"/>
          </a:xfrm>
          <a:prstGeom prst="roundRect">
            <a:avLst>
              <a:gd name="adj" fmla="val 50000"/>
            </a:avLst>
          </a:prstGeom>
          <a:solidFill>
            <a:srgbClr val="F4E6E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 wrap="none"/>
          <a:lstStyle/>
          <a:p>
            <a:pPr algn="ctr"/>
            <a:r>
              <a:rPr sz="2333" b="1">
                <a:solidFill>
                  <a:srgbClr val="7D2860"/>
                </a:solidFill>
                <a:latin typeface="Arial"/>
              </a:rPr>
              <a:t>Code</a:t>
            </a:r>
          </a:p>
        </p:txBody>
      </p:sp>
      <p:sp>
        <p:nvSpPr>
          <p:cNvPr id="44" name="Rectangle 43"/>
          <p:cNvSpPr/>
          <p:nvPr/>
        </p:nvSpPr>
        <p:spPr>
          <a:xfrm>
            <a:off x="40164186" y="7807086"/>
            <a:ext cx="4821158" cy="706478"/>
          </a:xfrm>
          <a:prstGeom prst="rect">
            <a:avLst/>
          </a:prstGeom>
          <a:solidFill>
            <a:srgbClr val="F7F2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5" name="Rectangle 44"/>
          <p:cNvSpPr/>
          <p:nvPr/>
        </p:nvSpPr>
        <p:spPr>
          <a:xfrm>
            <a:off x="40164186" y="8504674"/>
            <a:ext cx="4821158" cy="11557"/>
          </a:xfrm>
          <a:prstGeom prst="rect">
            <a:avLst/>
          </a:prstGeom>
          <a:solidFill>
            <a:srgbClr val="ECDFE7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46" name="Rectangle 45"/>
          <p:cNvSpPr/>
          <p:nvPr/>
        </p:nvSpPr>
        <p:spPr>
          <a:xfrm>
            <a:off x="44985344" y="7807086"/>
            <a:ext cx="2899668" cy="706478"/>
          </a:xfrm>
          <a:prstGeom prst="rect">
            <a:avLst/>
          </a:prstGeom>
          <a:solidFill>
            <a:srgbClr val="F7F2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7" name="Rectangle 46"/>
          <p:cNvSpPr/>
          <p:nvPr/>
        </p:nvSpPr>
        <p:spPr>
          <a:xfrm>
            <a:off x="44985344" y="8504674"/>
            <a:ext cx="2899668" cy="11557"/>
          </a:xfrm>
          <a:prstGeom prst="rect">
            <a:avLst/>
          </a:prstGeom>
          <a:solidFill>
            <a:srgbClr val="ECDFE7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48" name="Rectangle 47"/>
          <p:cNvSpPr/>
          <p:nvPr/>
        </p:nvSpPr>
        <p:spPr>
          <a:xfrm>
            <a:off x="47885012" y="7807086"/>
            <a:ext cx="2254588" cy="706478"/>
          </a:xfrm>
          <a:prstGeom prst="rect">
            <a:avLst/>
          </a:prstGeom>
          <a:solidFill>
            <a:srgbClr val="F7F2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9" name="Rectangle 48"/>
          <p:cNvSpPr/>
          <p:nvPr/>
        </p:nvSpPr>
        <p:spPr>
          <a:xfrm>
            <a:off x="47885012" y="8504674"/>
            <a:ext cx="2254588" cy="11557"/>
          </a:xfrm>
          <a:prstGeom prst="rect">
            <a:avLst/>
          </a:prstGeom>
          <a:solidFill>
            <a:srgbClr val="ECDFE7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50" name="Rectangle 49"/>
          <p:cNvSpPr/>
          <p:nvPr/>
        </p:nvSpPr>
        <p:spPr>
          <a:xfrm>
            <a:off x="40164186" y="8513564"/>
            <a:ext cx="4821158" cy="945118"/>
          </a:xfrm>
          <a:prstGeom prst="rect">
            <a:avLst/>
          </a:prstGeom>
          <a:noFill/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1" name="Rectangle 50"/>
          <p:cNvSpPr/>
          <p:nvPr/>
        </p:nvSpPr>
        <p:spPr>
          <a:xfrm>
            <a:off x="40164186" y="9449792"/>
            <a:ext cx="4821158" cy="11557"/>
          </a:xfrm>
          <a:prstGeom prst="rect">
            <a:avLst/>
          </a:prstGeom>
          <a:solidFill>
            <a:srgbClr val="ECDFE7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52" name="Rectangle 51"/>
          <p:cNvSpPr/>
          <p:nvPr/>
        </p:nvSpPr>
        <p:spPr>
          <a:xfrm>
            <a:off x="44985344" y="8513564"/>
            <a:ext cx="2899668" cy="945118"/>
          </a:xfrm>
          <a:prstGeom prst="rect">
            <a:avLst/>
          </a:prstGeom>
          <a:noFill/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3" name="Rectangle 52"/>
          <p:cNvSpPr/>
          <p:nvPr/>
        </p:nvSpPr>
        <p:spPr>
          <a:xfrm>
            <a:off x="44985344" y="9449792"/>
            <a:ext cx="2899668" cy="11557"/>
          </a:xfrm>
          <a:prstGeom prst="rect">
            <a:avLst/>
          </a:prstGeom>
          <a:solidFill>
            <a:srgbClr val="ECDFE7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54" name="Rectangle 53"/>
          <p:cNvSpPr/>
          <p:nvPr/>
        </p:nvSpPr>
        <p:spPr>
          <a:xfrm>
            <a:off x="47885012" y="8513564"/>
            <a:ext cx="2254588" cy="945118"/>
          </a:xfrm>
          <a:prstGeom prst="rect">
            <a:avLst/>
          </a:prstGeom>
          <a:noFill/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5" name="Rectangle 54"/>
          <p:cNvSpPr/>
          <p:nvPr/>
        </p:nvSpPr>
        <p:spPr>
          <a:xfrm>
            <a:off x="47885012" y="9449792"/>
            <a:ext cx="2254588" cy="11557"/>
          </a:xfrm>
          <a:prstGeom prst="rect">
            <a:avLst/>
          </a:prstGeom>
          <a:solidFill>
            <a:srgbClr val="ECDFE7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56" name="Rectangle 55"/>
          <p:cNvSpPr/>
          <p:nvPr/>
        </p:nvSpPr>
        <p:spPr>
          <a:xfrm>
            <a:off x="40164186" y="9458682"/>
            <a:ext cx="4821158" cy="945118"/>
          </a:xfrm>
          <a:prstGeom prst="rect">
            <a:avLst/>
          </a:prstGeom>
          <a:noFill/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7" name="Rectangle 56"/>
          <p:cNvSpPr/>
          <p:nvPr/>
        </p:nvSpPr>
        <p:spPr>
          <a:xfrm>
            <a:off x="40164186" y="10394910"/>
            <a:ext cx="4821158" cy="11557"/>
          </a:xfrm>
          <a:prstGeom prst="rect">
            <a:avLst/>
          </a:prstGeom>
          <a:solidFill>
            <a:srgbClr val="ECDFE7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58" name="Rectangle 57"/>
          <p:cNvSpPr/>
          <p:nvPr/>
        </p:nvSpPr>
        <p:spPr>
          <a:xfrm>
            <a:off x="44985344" y="9458682"/>
            <a:ext cx="2899668" cy="945118"/>
          </a:xfrm>
          <a:prstGeom prst="rect">
            <a:avLst/>
          </a:prstGeom>
          <a:noFill/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9" name="Rectangle 58"/>
          <p:cNvSpPr/>
          <p:nvPr/>
        </p:nvSpPr>
        <p:spPr>
          <a:xfrm>
            <a:off x="44985344" y="10394910"/>
            <a:ext cx="2899668" cy="11557"/>
          </a:xfrm>
          <a:prstGeom prst="rect">
            <a:avLst/>
          </a:prstGeom>
          <a:solidFill>
            <a:srgbClr val="ECDFE7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60" name="Rectangle 59"/>
          <p:cNvSpPr/>
          <p:nvPr/>
        </p:nvSpPr>
        <p:spPr>
          <a:xfrm>
            <a:off x="47885012" y="9458682"/>
            <a:ext cx="2254588" cy="945118"/>
          </a:xfrm>
          <a:prstGeom prst="rect">
            <a:avLst/>
          </a:prstGeom>
          <a:noFill/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1" name="Rectangle 60"/>
          <p:cNvSpPr/>
          <p:nvPr/>
        </p:nvSpPr>
        <p:spPr>
          <a:xfrm>
            <a:off x="47885012" y="10394910"/>
            <a:ext cx="2254588" cy="11557"/>
          </a:xfrm>
          <a:prstGeom prst="rect">
            <a:avLst/>
          </a:prstGeom>
          <a:solidFill>
            <a:srgbClr val="ECDFE7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62" name="Rounded Rectangle 61"/>
          <p:cNvSpPr/>
          <p:nvPr/>
        </p:nvSpPr>
        <p:spPr>
          <a:xfrm>
            <a:off x="40164186" y="27858898"/>
            <a:ext cx="2863414" cy="1353225"/>
          </a:xfrm>
          <a:prstGeom prst="roundRect">
            <a:avLst>
              <a:gd name="adj" fmla="val 10511"/>
            </a:avLst>
          </a:prstGeom>
          <a:solidFill>
            <a:srgbClr val="F4E6EF"/>
          </a:solidFill>
          <a:ln w="17780">
            <a:solidFill>
              <a:srgbClr val="7D286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3" name="Rectangle 62"/>
          <p:cNvSpPr/>
          <p:nvPr/>
        </p:nvSpPr>
        <p:spPr>
          <a:xfrm>
            <a:off x="26183828" y="21036795"/>
            <a:ext cx="5249684" cy="891917"/>
          </a:xfrm>
          <a:prstGeom prst="rect">
            <a:avLst/>
          </a:prstGeom>
          <a:solidFill>
            <a:srgbClr val="F4E6E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4" name="Rectangle 63"/>
          <p:cNvSpPr/>
          <p:nvPr/>
        </p:nvSpPr>
        <p:spPr>
          <a:xfrm>
            <a:off x="26183828" y="21919822"/>
            <a:ext cx="5249684" cy="11557"/>
          </a:xfrm>
          <a:prstGeom prst="rect">
            <a:avLst/>
          </a:prstGeom>
          <a:solidFill>
            <a:srgbClr val="E5E5E0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65" name="Rectangle 64"/>
          <p:cNvSpPr/>
          <p:nvPr/>
        </p:nvSpPr>
        <p:spPr>
          <a:xfrm>
            <a:off x="31433512" y="21036795"/>
            <a:ext cx="1820922" cy="891917"/>
          </a:xfrm>
          <a:prstGeom prst="rect">
            <a:avLst/>
          </a:prstGeom>
          <a:solidFill>
            <a:srgbClr val="F4E6E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6" name="Rectangle 65"/>
          <p:cNvSpPr/>
          <p:nvPr/>
        </p:nvSpPr>
        <p:spPr>
          <a:xfrm>
            <a:off x="31433512" y="21919822"/>
            <a:ext cx="1820922" cy="11557"/>
          </a:xfrm>
          <a:prstGeom prst="rect">
            <a:avLst/>
          </a:prstGeom>
          <a:solidFill>
            <a:srgbClr val="E5E5E0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67" name="Rectangle 66"/>
          <p:cNvSpPr/>
          <p:nvPr/>
        </p:nvSpPr>
        <p:spPr>
          <a:xfrm>
            <a:off x="33254434" y="21036795"/>
            <a:ext cx="2033448" cy="891917"/>
          </a:xfrm>
          <a:prstGeom prst="rect">
            <a:avLst/>
          </a:prstGeom>
          <a:solidFill>
            <a:srgbClr val="F4E6E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8" name="Rectangle 67"/>
          <p:cNvSpPr/>
          <p:nvPr/>
        </p:nvSpPr>
        <p:spPr>
          <a:xfrm>
            <a:off x="33254434" y="21919822"/>
            <a:ext cx="2033448" cy="11557"/>
          </a:xfrm>
          <a:prstGeom prst="rect">
            <a:avLst/>
          </a:prstGeom>
          <a:solidFill>
            <a:srgbClr val="E5E5E0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69" name="Rectangle 68"/>
          <p:cNvSpPr/>
          <p:nvPr/>
        </p:nvSpPr>
        <p:spPr>
          <a:xfrm>
            <a:off x="35287882" y="21036795"/>
            <a:ext cx="1809810" cy="891917"/>
          </a:xfrm>
          <a:prstGeom prst="rect">
            <a:avLst/>
          </a:prstGeom>
          <a:solidFill>
            <a:srgbClr val="F4E6E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0" name="Rectangle 69"/>
          <p:cNvSpPr/>
          <p:nvPr/>
        </p:nvSpPr>
        <p:spPr>
          <a:xfrm>
            <a:off x="35287882" y="21919822"/>
            <a:ext cx="1809810" cy="11557"/>
          </a:xfrm>
          <a:prstGeom prst="rect">
            <a:avLst/>
          </a:prstGeom>
          <a:solidFill>
            <a:srgbClr val="E5E5E0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71" name="Rectangle 70"/>
          <p:cNvSpPr/>
          <p:nvPr/>
        </p:nvSpPr>
        <p:spPr>
          <a:xfrm>
            <a:off x="37097692" y="21036795"/>
            <a:ext cx="1810226" cy="891917"/>
          </a:xfrm>
          <a:prstGeom prst="rect">
            <a:avLst/>
          </a:prstGeom>
          <a:solidFill>
            <a:srgbClr val="F4E6E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2" name="Rectangle 71"/>
          <p:cNvSpPr/>
          <p:nvPr/>
        </p:nvSpPr>
        <p:spPr>
          <a:xfrm>
            <a:off x="37097692" y="21919822"/>
            <a:ext cx="1810226" cy="11557"/>
          </a:xfrm>
          <a:prstGeom prst="rect">
            <a:avLst/>
          </a:prstGeom>
          <a:solidFill>
            <a:srgbClr val="E5E5E0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73" name="Rectangle 72"/>
          <p:cNvSpPr/>
          <p:nvPr/>
        </p:nvSpPr>
        <p:spPr>
          <a:xfrm>
            <a:off x="26183828" y="21928712"/>
            <a:ext cx="5249684" cy="818853"/>
          </a:xfrm>
          <a:prstGeom prst="rect">
            <a:avLst/>
          </a:prstGeom>
          <a:noFill/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4" name="Rectangle 73"/>
          <p:cNvSpPr/>
          <p:nvPr/>
        </p:nvSpPr>
        <p:spPr>
          <a:xfrm>
            <a:off x="26183828" y="22738675"/>
            <a:ext cx="5249684" cy="11557"/>
          </a:xfrm>
          <a:prstGeom prst="rect">
            <a:avLst/>
          </a:prstGeom>
          <a:solidFill>
            <a:srgbClr val="E5E5E0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75" name="Rectangle 74"/>
          <p:cNvSpPr/>
          <p:nvPr/>
        </p:nvSpPr>
        <p:spPr>
          <a:xfrm>
            <a:off x="31433512" y="21928712"/>
            <a:ext cx="1820922" cy="818853"/>
          </a:xfrm>
          <a:prstGeom prst="rect">
            <a:avLst/>
          </a:prstGeom>
          <a:noFill/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6" name="Rectangle 75"/>
          <p:cNvSpPr/>
          <p:nvPr/>
        </p:nvSpPr>
        <p:spPr>
          <a:xfrm>
            <a:off x="31433512" y="22738675"/>
            <a:ext cx="1820922" cy="11557"/>
          </a:xfrm>
          <a:prstGeom prst="rect">
            <a:avLst/>
          </a:prstGeom>
          <a:solidFill>
            <a:srgbClr val="E5E5E0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77" name="Rectangle 76"/>
          <p:cNvSpPr/>
          <p:nvPr/>
        </p:nvSpPr>
        <p:spPr>
          <a:xfrm>
            <a:off x="33254434" y="21928712"/>
            <a:ext cx="2033448" cy="818853"/>
          </a:xfrm>
          <a:prstGeom prst="rect">
            <a:avLst/>
          </a:prstGeom>
          <a:noFill/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8" name="Rectangle 77"/>
          <p:cNvSpPr/>
          <p:nvPr/>
        </p:nvSpPr>
        <p:spPr>
          <a:xfrm>
            <a:off x="33254434" y="22738675"/>
            <a:ext cx="2033448" cy="11557"/>
          </a:xfrm>
          <a:prstGeom prst="rect">
            <a:avLst/>
          </a:prstGeom>
          <a:solidFill>
            <a:srgbClr val="E5E5E0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79" name="Rectangle 78"/>
          <p:cNvSpPr/>
          <p:nvPr/>
        </p:nvSpPr>
        <p:spPr>
          <a:xfrm>
            <a:off x="35287882" y="21928712"/>
            <a:ext cx="1809810" cy="818853"/>
          </a:xfrm>
          <a:prstGeom prst="rect">
            <a:avLst/>
          </a:prstGeom>
          <a:noFill/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0" name="Rectangle 79"/>
          <p:cNvSpPr/>
          <p:nvPr/>
        </p:nvSpPr>
        <p:spPr>
          <a:xfrm>
            <a:off x="35287882" y="22738675"/>
            <a:ext cx="1809810" cy="11557"/>
          </a:xfrm>
          <a:prstGeom prst="rect">
            <a:avLst/>
          </a:prstGeom>
          <a:solidFill>
            <a:srgbClr val="E5E5E0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81" name="Rectangle 80"/>
          <p:cNvSpPr/>
          <p:nvPr/>
        </p:nvSpPr>
        <p:spPr>
          <a:xfrm>
            <a:off x="37097692" y="21928712"/>
            <a:ext cx="1810226" cy="818853"/>
          </a:xfrm>
          <a:prstGeom prst="rect">
            <a:avLst/>
          </a:prstGeom>
          <a:noFill/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2" name="Rectangle 81"/>
          <p:cNvSpPr/>
          <p:nvPr/>
        </p:nvSpPr>
        <p:spPr>
          <a:xfrm>
            <a:off x="37097692" y="22738675"/>
            <a:ext cx="1810226" cy="11557"/>
          </a:xfrm>
          <a:prstGeom prst="rect">
            <a:avLst/>
          </a:prstGeom>
          <a:solidFill>
            <a:srgbClr val="E5E5E0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83" name="Rectangle 82"/>
          <p:cNvSpPr/>
          <p:nvPr/>
        </p:nvSpPr>
        <p:spPr>
          <a:xfrm>
            <a:off x="26183828" y="22747565"/>
            <a:ext cx="5249684" cy="818852"/>
          </a:xfrm>
          <a:prstGeom prst="rect">
            <a:avLst/>
          </a:prstGeom>
          <a:noFill/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4" name="Rectangle 83"/>
          <p:cNvSpPr/>
          <p:nvPr/>
        </p:nvSpPr>
        <p:spPr>
          <a:xfrm>
            <a:off x="26183828" y="23557527"/>
            <a:ext cx="5249684" cy="11557"/>
          </a:xfrm>
          <a:prstGeom prst="rect">
            <a:avLst/>
          </a:prstGeom>
          <a:solidFill>
            <a:srgbClr val="E5E5E0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85" name="Rectangle 84"/>
          <p:cNvSpPr/>
          <p:nvPr/>
        </p:nvSpPr>
        <p:spPr>
          <a:xfrm>
            <a:off x="31433512" y="22747565"/>
            <a:ext cx="1820922" cy="818852"/>
          </a:xfrm>
          <a:prstGeom prst="rect">
            <a:avLst/>
          </a:prstGeom>
          <a:noFill/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6" name="Rectangle 85"/>
          <p:cNvSpPr/>
          <p:nvPr/>
        </p:nvSpPr>
        <p:spPr>
          <a:xfrm>
            <a:off x="31433512" y="23557527"/>
            <a:ext cx="1820922" cy="11557"/>
          </a:xfrm>
          <a:prstGeom prst="rect">
            <a:avLst/>
          </a:prstGeom>
          <a:solidFill>
            <a:srgbClr val="E5E5E0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87" name="Rectangle 86"/>
          <p:cNvSpPr/>
          <p:nvPr/>
        </p:nvSpPr>
        <p:spPr>
          <a:xfrm>
            <a:off x="33254434" y="22747565"/>
            <a:ext cx="2033448" cy="818852"/>
          </a:xfrm>
          <a:prstGeom prst="rect">
            <a:avLst/>
          </a:prstGeom>
          <a:noFill/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8" name="Rectangle 87"/>
          <p:cNvSpPr/>
          <p:nvPr/>
        </p:nvSpPr>
        <p:spPr>
          <a:xfrm>
            <a:off x="33254434" y="23557527"/>
            <a:ext cx="2033448" cy="11557"/>
          </a:xfrm>
          <a:prstGeom prst="rect">
            <a:avLst/>
          </a:prstGeom>
          <a:solidFill>
            <a:srgbClr val="E5E5E0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89" name="Rectangle 88"/>
          <p:cNvSpPr/>
          <p:nvPr/>
        </p:nvSpPr>
        <p:spPr>
          <a:xfrm>
            <a:off x="35287882" y="22747565"/>
            <a:ext cx="1809810" cy="818852"/>
          </a:xfrm>
          <a:prstGeom prst="rect">
            <a:avLst/>
          </a:prstGeom>
          <a:noFill/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0" name="Rectangle 89"/>
          <p:cNvSpPr/>
          <p:nvPr/>
        </p:nvSpPr>
        <p:spPr>
          <a:xfrm>
            <a:off x="35287882" y="23557527"/>
            <a:ext cx="1809810" cy="11557"/>
          </a:xfrm>
          <a:prstGeom prst="rect">
            <a:avLst/>
          </a:prstGeom>
          <a:solidFill>
            <a:srgbClr val="E5E5E0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91" name="Rectangle 90"/>
          <p:cNvSpPr/>
          <p:nvPr/>
        </p:nvSpPr>
        <p:spPr>
          <a:xfrm>
            <a:off x="37097692" y="22747565"/>
            <a:ext cx="1810226" cy="818852"/>
          </a:xfrm>
          <a:prstGeom prst="rect">
            <a:avLst/>
          </a:prstGeom>
          <a:noFill/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2" name="Rectangle 91"/>
          <p:cNvSpPr/>
          <p:nvPr/>
        </p:nvSpPr>
        <p:spPr>
          <a:xfrm>
            <a:off x="37097692" y="23557527"/>
            <a:ext cx="1810226" cy="11557"/>
          </a:xfrm>
          <a:prstGeom prst="rect">
            <a:avLst/>
          </a:prstGeom>
          <a:solidFill>
            <a:srgbClr val="E5E5E0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93" name="Rectangle 92"/>
          <p:cNvSpPr/>
          <p:nvPr/>
        </p:nvSpPr>
        <p:spPr>
          <a:xfrm>
            <a:off x="26183828" y="23566417"/>
            <a:ext cx="5249684" cy="818853"/>
          </a:xfrm>
          <a:prstGeom prst="rect">
            <a:avLst/>
          </a:prstGeom>
          <a:solidFill>
            <a:srgbClr val="F4E6E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4" name="Rectangle 93"/>
          <p:cNvSpPr/>
          <p:nvPr/>
        </p:nvSpPr>
        <p:spPr>
          <a:xfrm>
            <a:off x="26183828" y="24376380"/>
            <a:ext cx="5249684" cy="11557"/>
          </a:xfrm>
          <a:prstGeom prst="rect">
            <a:avLst/>
          </a:prstGeom>
          <a:solidFill>
            <a:srgbClr val="E5E5E0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95" name="Rectangle 94"/>
          <p:cNvSpPr/>
          <p:nvPr/>
        </p:nvSpPr>
        <p:spPr>
          <a:xfrm>
            <a:off x="31433512" y="23566417"/>
            <a:ext cx="1820922" cy="818853"/>
          </a:xfrm>
          <a:prstGeom prst="rect">
            <a:avLst/>
          </a:prstGeom>
          <a:solidFill>
            <a:srgbClr val="F4E6E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6" name="Rectangle 95"/>
          <p:cNvSpPr/>
          <p:nvPr/>
        </p:nvSpPr>
        <p:spPr>
          <a:xfrm>
            <a:off x="31433512" y="24376380"/>
            <a:ext cx="1820922" cy="11557"/>
          </a:xfrm>
          <a:prstGeom prst="rect">
            <a:avLst/>
          </a:prstGeom>
          <a:solidFill>
            <a:srgbClr val="E5E5E0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97" name="Rectangle 96"/>
          <p:cNvSpPr/>
          <p:nvPr/>
        </p:nvSpPr>
        <p:spPr>
          <a:xfrm>
            <a:off x="33254434" y="23566417"/>
            <a:ext cx="2033448" cy="818853"/>
          </a:xfrm>
          <a:prstGeom prst="rect">
            <a:avLst/>
          </a:prstGeom>
          <a:solidFill>
            <a:srgbClr val="F4E6E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8" name="Rectangle 97"/>
          <p:cNvSpPr/>
          <p:nvPr/>
        </p:nvSpPr>
        <p:spPr>
          <a:xfrm>
            <a:off x="33254434" y="24376380"/>
            <a:ext cx="2033448" cy="11557"/>
          </a:xfrm>
          <a:prstGeom prst="rect">
            <a:avLst/>
          </a:prstGeom>
          <a:solidFill>
            <a:srgbClr val="E5E5E0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99" name="Rectangle 98"/>
          <p:cNvSpPr/>
          <p:nvPr/>
        </p:nvSpPr>
        <p:spPr>
          <a:xfrm>
            <a:off x="35287882" y="23566417"/>
            <a:ext cx="1809810" cy="818853"/>
          </a:xfrm>
          <a:prstGeom prst="rect">
            <a:avLst/>
          </a:prstGeom>
          <a:solidFill>
            <a:srgbClr val="F4E6E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0" name="Rectangle 99"/>
          <p:cNvSpPr/>
          <p:nvPr/>
        </p:nvSpPr>
        <p:spPr>
          <a:xfrm>
            <a:off x="35287882" y="24376380"/>
            <a:ext cx="1809810" cy="11557"/>
          </a:xfrm>
          <a:prstGeom prst="rect">
            <a:avLst/>
          </a:prstGeom>
          <a:solidFill>
            <a:srgbClr val="E5E5E0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01" name="Rectangle 100"/>
          <p:cNvSpPr/>
          <p:nvPr/>
        </p:nvSpPr>
        <p:spPr>
          <a:xfrm>
            <a:off x="37097692" y="23566417"/>
            <a:ext cx="1810226" cy="818853"/>
          </a:xfrm>
          <a:prstGeom prst="rect">
            <a:avLst/>
          </a:prstGeom>
          <a:solidFill>
            <a:srgbClr val="F4E6E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2" name="Rectangle 101"/>
          <p:cNvSpPr/>
          <p:nvPr/>
        </p:nvSpPr>
        <p:spPr>
          <a:xfrm>
            <a:off x="37097692" y="24376380"/>
            <a:ext cx="1810226" cy="11557"/>
          </a:xfrm>
          <a:prstGeom prst="rect">
            <a:avLst/>
          </a:prstGeom>
          <a:solidFill>
            <a:srgbClr val="E5E5E0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03" name="TextBox 102"/>
          <p:cNvSpPr txBox="1"/>
          <p:nvPr/>
        </p:nvSpPr>
        <p:spPr>
          <a:xfrm>
            <a:off x="1315581" y="1007487"/>
            <a:ext cx="49001957" cy="1379533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>
              <a:lnSpc>
                <a:spcPts val="9445"/>
              </a:lnSpc>
              <a:spcBef>
                <a:spcPts val="0"/>
              </a:spcBef>
              <a:spcAft>
                <a:spcPts val="0"/>
              </a:spcAft>
            </a:pPr>
            <a:r>
              <a:rPr sz="8586" b="1" spc="-85">
                <a:solidFill>
                  <a:srgbClr val="7D2860"/>
                </a:solidFill>
                <a:latin typeface="Arial"/>
              </a:rPr>
              <a:t>Scaling Spherical CNNs</a:t>
            </a:r>
          </a:p>
        </p:txBody>
      </p:sp>
      <p:sp>
        <p:nvSpPr>
          <p:cNvPr id="104" name="TextBox 103"/>
          <p:cNvSpPr txBox="1"/>
          <p:nvPr/>
        </p:nvSpPr>
        <p:spPr>
          <a:xfrm>
            <a:off x="1315581" y="2446972"/>
            <a:ext cx="49001957" cy="779701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>
              <a:lnSpc>
                <a:spcPts val="5338"/>
              </a:lnSpc>
              <a:spcBef>
                <a:spcPts val="0"/>
              </a:spcBef>
              <a:spcAft>
                <a:spcPts val="0"/>
              </a:spcAft>
            </a:pPr>
            <a:r>
              <a:rPr sz="4106" b="0">
                <a:solidFill>
                  <a:srgbClr val="1B2331"/>
                </a:solidFill>
                <a:latin typeface="Arial"/>
              </a:rPr>
              <a:t>Carlos Esteves</a:t>
            </a:r>
            <a:r>
              <a:rPr sz="5749" b="0" baseline="30000">
                <a:solidFill>
                  <a:srgbClr val="1B2331"/>
                </a:solidFill>
                <a:latin typeface="Arial"/>
              </a:rPr>
              <a:t>1</a:t>
            </a:r>
            <a:r>
              <a:rPr sz="4106" b="0">
                <a:solidFill>
                  <a:srgbClr val="1B2331"/>
                </a:solidFill>
                <a:latin typeface="Arial"/>
              </a:rPr>
              <a:t>, Jean-Jacques Slotine</a:t>
            </a:r>
            <a:r>
              <a:rPr sz="5749" b="0" baseline="30000">
                <a:solidFill>
                  <a:srgbClr val="1B2331"/>
                </a:solidFill>
                <a:latin typeface="Arial"/>
              </a:rPr>
              <a:t>2</a:t>
            </a:r>
            <a:r>
              <a:rPr sz="4106" b="0">
                <a:solidFill>
                  <a:srgbClr val="1B2331"/>
                </a:solidFill>
                <a:latin typeface="Arial"/>
              </a:rPr>
              <a:t>, Ameesh Makadia</a:t>
            </a:r>
            <a:r>
              <a:rPr sz="5749" b="0" baseline="30000">
                <a:solidFill>
                  <a:srgbClr val="1B2331"/>
                </a:solidFill>
                <a:latin typeface="Arial"/>
              </a:rPr>
              <a:t>1</a:t>
            </a:r>
          </a:p>
        </p:txBody>
      </p:sp>
      <p:sp>
        <p:nvSpPr>
          <p:cNvPr id="105" name="TextBox 104"/>
          <p:cNvSpPr txBox="1"/>
          <p:nvPr/>
        </p:nvSpPr>
        <p:spPr>
          <a:xfrm>
            <a:off x="1315581" y="3181786"/>
            <a:ext cx="49001957" cy="592963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>
              <a:lnSpc>
                <a:spcPts val="4060"/>
              </a:lnSpc>
              <a:spcBef>
                <a:spcPts val="0"/>
              </a:spcBef>
              <a:spcAft>
                <a:spcPts val="0"/>
              </a:spcAft>
            </a:pPr>
            <a:r>
              <a:rPr sz="2430" b="0" spc="56" baseline="30000">
                <a:solidFill>
                  <a:srgbClr val="55617A"/>
                </a:solidFill>
                <a:latin typeface="Arial"/>
              </a:rPr>
              <a:t>1</a:t>
            </a:r>
            <a:r>
              <a:rPr sz="2800" b="0" spc="56">
                <a:solidFill>
                  <a:srgbClr val="55617A"/>
                </a:solidFill>
                <a:latin typeface="Arial"/>
              </a:rPr>
              <a:t> Google Research    </a:t>
            </a:r>
            <a:r>
              <a:rPr sz="3920" b="0" spc="56" baseline="30000">
                <a:solidFill>
                  <a:srgbClr val="55617A"/>
                </a:solidFill>
                <a:latin typeface="Arial"/>
              </a:rPr>
              <a:t>2</a:t>
            </a:r>
            <a:r>
              <a:rPr sz="2800" b="0" spc="56">
                <a:solidFill>
                  <a:srgbClr val="55617A"/>
                </a:solidFill>
                <a:latin typeface="Arial"/>
              </a:rPr>
              <a:t> MIT</a:t>
            </a:r>
          </a:p>
        </p:txBody>
      </p:sp>
      <p:sp>
        <p:nvSpPr>
          <p:cNvPr id="106" name="TextBox 105"/>
          <p:cNvSpPr txBox="1"/>
          <p:nvPr/>
        </p:nvSpPr>
        <p:spPr>
          <a:xfrm>
            <a:off x="1066661" y="6669305"/>
            <a:ext cx="10274675" cy="899667"/>
          </a:xfrm>
          <a:prstGeom prst="rect">
            <a:avLst/>
          </a:prstGeom>
          <a:noFill/>
        </p:spPr>
        <p:txBody>
          <a:bodyPr wrap="square" lIns="0" rIns="3911600" tIns="0" bIns="0">
            <a:spAutoFit/>
          </a:bodyPr>
          <a:lstStyle/>
          <a:p>
            <a:pPr algn="l">
              <a:lnSpc>
                <a:spcPts val="6160"/>
              </a:lnSpc>
              <a:spcBef>
                <a:spcPts val="0"/>
              </a:spcBef>
              <a:spcAft>
                <a:spcPts val="0"/>
              </a:spcAft>
            </a:pPr>
            <a:r>
              <a:rPr sz="5600" b="1" spc="56">
                <a:solidFill>
                  <a:srgbClr val="111111"/>
                </a:solidFill>
                <a:latin typeface="Arial"/>
              </a:rPr>
              <a:t>PROBLEM </a:t>
            </a:r>
          </a:p>
        </p:txBody>
      </p:sp>
      <p:sp>
        <p:nvSpPr>
          <p:cNvPr id="107" name="TextBox 106"/>
          <p:cNvSpPr txBox="1"/>
          <p:nvPr/>
        </p:nvSpPr>
        <p:spPr>
          <a:xfrm>
            <a:off x="12298342" y="6669305"/>
            <a:ext cx="27036296" cy="899667"/>
          </a:xfrm>
          <a:prstGeom prst="rect">
            <a:avLst/>
          </a:prstGeom>
          <a:noFill/>
        </p:spPr>
        <p:txBody>
          <a:bodyPr wrap="none" lIns="0" rIns="3911600" tIns="0" bIns="0">
            <a:spAutoFit/>
          </a:bodyPr>
          <a:lstStyle/>
          <a:p>
            <a:pPr algn="l">
              <a:lnSpc>
                <a:spcPts val="6160"/>
              </a:lnSpc>
              <a:spcBef>
                <a:spcPts val="0"/>
              </a:spcBef>
              <a:spcAft>
                <a:spcPts val="0"/>
              </a:spcAft>
            </a:pPr>
            <a:r>
              <a:rPr sz="5600" b="1" spc="56">
                <a:solidFill>
                  <a:srgbClr val="111111"/>
                </a:solidFill>
                <a:latin typeface="Arial"/>
              </a:rPr>
              <a:t>METHOD </a:t>
            </a:r>
          </a:p>
        </p:txBody>
      </p:sp>
      <p:sp>
        <p:nvSpPr>
          <p:cNvPr id="108" name="TextBox 107"/>
          <p:cNvSpPr txBox="1"/>
          <p:nvPr/>
        </p:nvSpPr>
        <p:spPr>
          <a:xfrm>
            <a:off x="40164186" y="6669305"/>
            <a:ext cx="10274676" cy="899667"/>
          </a:xfrm>
          <a:prstGeom prst="rect">
            <a:avLst/>
          </a:prstGeom>
          <a:noFill/>
        </p:spPr>
        <p:txBody>
          <a:bodyPr wrap="square" lIns="0" rIns="3911600" tIns="0" bIns="0">
            <a:spAutoFit/>
          </a:bodyPr>
          <a:lstStyle/>
          <a:p>
            <a:pPr algn="l">
              <a:lnSpc>
                <a:spcPts val="6160"/>
              </a:lnSpc>
              <a:spcBef>
                <a:spcPts val="0"/>
              </a:spcBef>
              <a:spcAft>
                <a:spcPts val="0"/>
              </a:spcAft>
            </a:pPr>
            <a:r>
              <a:rPr sz="5600" b="1" spc="56">
                <a:solidFill>
                  <a:srgbClr val="111111"/>
                </a:solidFill>
                <a:latin typeface="Arial"/>
              </a:rPr>
              <a:t>ABLATION </a:t>
            </a:r>
          </a:p>
        </p:txBody>
      </p:sp>
      <p:sp>
        <p:nvSpPr>
          <p:cNvPr id="109" name="TextBox 108"/>
          <p:cNvSpPr txBox="1"/>
          <p:nvPr/>
        </p:nvSpPr>
        <p:spPr>
          <a:xfrm>
            <a:off x="1066661" y="7789306"/>
            <a:ext cx="10274675" cy="4348183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l">
              <a:lnSpc>
                <a:spcPts val="5954"/>
              </a:lnSpc>
              <a:spcBef>
                <a:spcPts val="0"/>
              </a:spcBef>
              <a:spcAft>
                <a:spcPts val="0"/>
              </a:spcAft>
            </a:pPr>
            <a:r>
              <a:rPr sz="4106" b="0">
                <a:solidFill>
                  <a:srgbClr val="1C1C1C"/>
                </a:solidFill>
                <a:latin typeface="Arial"/>
              </a:rPr>
              <a:t>Spherical CNNs compute convolutions in</a:t>
            </a:r>
          </a:p>
          <a:p>
            <a:pPr algn="l">
              <a:lnSpc>
                <a:spcPts val="5954"/>
              </a:lnSpc>
              <a:spcBef>
                <a:spcPts val="0"/>
              </a:spcBef>
              <a:spcAft>
                <a:spcPts val="0"/>
              </a:spcAft>
            </a:pPr>
            <a:r>
              <a:rPr sz="4106" b="0">
                <a:solidFill>
                  <a:srgbClr val="1C1C1C"/>
                </a:solidFill>
                <a:latin typeface="Arial"/>
              </a:rPr>
              <a:t>the </a:t>
            </a:r>
            <a:r>
              <a:rPr sz="4106" b="1">
                <a:solidFill>
                  <a:srgbClr val="111111"/>
                </a:solidFill>
                <a:latin typeface="Arial"/>
              </a:rPr>
              <a:t>spectral domain</a:t>
            </a:r>
            <a:r>
              <a:rPr sz="4106" b="0">
                <a:solidFill>
                  <a:srgbClr val="1C1C1C"/>
                </a:solidFill>
                <a:latin typeface="Arial"/>
              </a:rPr>
              <a:t> — far costlier than</a:t>
            </a:r>
          </a:p>
          <a:p>
            <a:pPr algn="l">
              <a:lnSpc>
                <a:spcPts val="5954"/>
              </a:lnSpc>
              <a:spcBef>
                <a:spcPts val="0"/>
              </a:spcBef>
              <a:spcAft>
                <a:spcPts val="0"/>
              </a:spcAft>
            </a:pPr>
            <a:r>
              <a:rPr sz="4106" b="0">
                <a:solidFill>
                  <a:srgbClr val="1C1C1C"/>
                </a:solidFill>
                <a:latin typeface="Arial"/>
              </a:rPr>
              <a:t>planar convolution — so applications</a:t>
            </a:r>
          </a:p>
          <a:p>
            <a:pPr algn="l">
              <a:lnSpc>
                <a:spcPts val="5954"/>
              </a:lnSpc>
              <a:spcBef>
                <a:spcPts val="0"/>
              </a:spcBef>
              <a:spcAft>
                <a:spcPts val="0"/>
              </a:spcAft>
            </a:pPr>
            <a:r>
              <a:rPr sz="4106" b="0">
                <a:solidFill>
                  <a:srgbClr val="1C1C1C"/>
                </a:solidFill>
                <a:latin typeface="Arial"/>
              </a:rPr>
              <a:t>stayed confined to small, low-resolution,</a:t>
            </a:r>
          </a:p>
          <a:p>
            <a:pPr algn="l">
              <a:lnSpc>
                <a:spcPts val="5954"/>
              </a:lnSpc>
              <a:spcBef>
                <a:spcPts val="0"/>
              </a:spcBef>
              <a:spcAft>
                <a:spcPts val="0"/>
              </a:spcAft>
            </a:pPr>
            <a:r>
              <a:rPr sz="4106" b="0">
                <a:solidFill>
                  <a:srgbClr val="1C1C1C"/>
                </a:solidFill>
                <a:latin typeface="Arial"/>
              </a:rPr>
              <a:t>low-capacity problems.</a:t>
            </a:r>
          </a:p>
        </p:txBody>
      </p:sp>
      <p:sp>
        <p:nvSpPr>
          <p:cNvPr id="110" name="TextBox 109"/>
          <p:cNvSpPr txBox="1"/>
          <p:nvPr/>
        </p:nvSpPr>
        <p:spPr>
          <a:xfrm>
            <a:off x="40164186" y="11392257"/>
            <a:ext cx="10274676" cy="899667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ts val="6160"/>
              </a:lnSpc>
              <a:spcBef>
                <a:spcPts val="0"/>
              </a:spcBef>
              <a:spcAft>
                <a:spcPts val="0"/>
              </a:spcAft>
            </a:pPr>
            <a:r>
              <a:rPr sz="5600" b="1" spc="56">
                <a:solidFill>
                  <a:srgbClr val="111111"/>
                </a:solidFill>
                <a:latin typeface="Arial"/>
              </a:rPr>
              <a:t>HEADLINE NUMBERS</a:t>
            </a:r>
          </a:p>
        </p:txBody>
      </p:sp>
      <p:sp>
        <p:nvSpPr>
          <p:cNvPr id="111" name="TextBox 110"/>
          <p:cNvSpPr txBox="1"/>
          <p:nvPr/>
        </p:nvSpPr>
        <p:spPr>
          <a:xfrm>
            <a:off x="1066661" y="11848703"/>
            <a:ext cx="10274675" cy="2482871"/>
          </a:xfrm>
          <a:prstGeom prst="rect">
            <a:avLst/>
          </a:prstGeom>
          <a:noFill/>
        </p:spPr>
        <p:txBody>
          <a:bodyPr wrap="none" lIns="365082" rIns="365082" tIns="62585" bIns="62585">
            <a:spAutoFit/>
          </a:bodyPr>
          <a:lstStyle/>
          <a:p>
            <a:pPr algn="l">
              <a:lnSpc>
                <a:spcPts val="5338"/>
              </a:lnSpc>
              <a:spcBef>
                <a:spcPts val="0"/>
              </a:spcBef>
              <a:spcAft>
                <a:spcPts val="0"/>
              </a:spcAft>
            </a:pPr>
            <a:r>
              <a:rPr sz="4106" b="0" i="1">
                <a:solidFill>
                  <a:srgbClr val="1C1C1C"/>
                </a:solidFill>
                <a:latin typeface="Arial"/>
              </a:rPr>
              <a:t>No spherical CNN existed at the scale</a:t>
            </a:r>
          </a:p>
          <a:p>
            <a:pPr algn="l">
              <a:lnSpc>
                <a:spcPts val="5338"/>
              </a:lnSpc>
              <a:spcBef>
                <a:spcPts val="0"/>
              </a:spcBef>
              <a:spcAft>
                <a:spcPts val="0"/>
              </a:spcAft>
            </a:pPr>
            <a:r>
              <a:rPr sz="4106" b="0" i="1">
                <a:solidFill>
                  <a:srgbClr val="1C1C1C"/>
                </a:solidFill>
                <a:latin typeface="Arial"/>
              </a:rPr>
              <a:t>of planar nets like VGG-19, blocking</a:t>
            </a:r>
          </a:p>
          <a:p>
            <a:pPr algn="l">
              <a:lnSpc>
                <a:spcPts val="5338"/>
              </a:lnSpc>
              <a:spcBef>
                <a:spcPts val="0"/>
              </a:spcBef>
              <a:spcAft>
                <a:spcPts val="0"/>
              </a:spcAft>
            </a:pPr>
            <a:r>
              <a:rPr sz="4106" b="0" i="1">
                <a:solidFill>
                  <a:srgbClr val="1C1C1C"/>
                </a:solidFill>
                <a:latin typeface="Arial"/>
              </a:rPr>
              <a:t>large scientific datasets.</a:t>
            </a:r>
          </a:p>
        </p:txBody>
      </p:sp>
      <p:sp>
        <p:nvSpPr>
          <p:cNvPr id="112" name="TextBox 111"/>
          <p:cNvSpPr txBox="1"/>
          <p:nvPr/>
        </p:nvSpPr>
        <p:spPr>
          <a:xfrm>
            <a:off x="1066661" y="15157311"/>
            <a:ext cx="10274675" cy="899667"/>
          </a:xfrm>
          <a:prstGeom prst="rect">
            <a:avLst/>
          </a:prstGeom>
          <a:noFill/>
        </p:spPr>
        <p:txBody>
          <a:bodyPr wrap="square" lIns="0" rIns="3911600" tIns="0" bIns="0">
            <a:spAutoFit/>
          </a:bodyPr>
          <a:lstStyle/>
          <a:p>
            <a:pPr algn="l">
              <a:lnSpc>
                <a:spcPts val="6160"/>
              </a:lnSpc>
              <a:spcBef>
                <a:spcPts val="0"/>
              </a:spcBef>
              <a:spcAft>
                <a:spcPts val="0"/>
              </a:spcAft>
            </a:pPr>
            <a:r>
              <a:rPr sz="5600" b="1" spc="56">
                <a:solidFill>
                  <a:srgbClr val="111111"/>
                </a:solidFill>
                <a:latin typeface="Arial"/>
              </a:rPr>
              <a:t>MOTIVATION </a:t>
            </a:r>
          </a:p>
        </p:txBody>
      </p:sp>
      <p:sp>
        <p:nvSpPr>
          <p:cNvPr id="113" name="TextBox 112"/>
          <p:cNvSpPr txBox="1"/>
          <p:nvPr/>
        </p:nvSpPr>
        <p:spPr>
          <a:xfrm>
            <a:off x="40181966" y="17814587"/>
            <a:ext cx="10256363" cy="899667"/>
          </a:xfrm>
          <a:prstGeom prst="rect">
            <a:avLst/>
          </a:prstGeom>
          <a:noFill/>
        </p:spPr>
        <p:txBody>
          <a:bodyPr wrap="square" lIns="0" rIns="3911600" tIns="0" bIns="0">
            <a:spAutoFit/>
          </a:bodyPr>
          <a:lstStyle/>
          <a:p>
            <a:pPr algn="l">
              <a:lnSpc>
                <a:spcPts val="6160"/>
              </a:lnSpc>
              <a:spcBef>
                <a:spcPts val="0"/>
              </a:spcBef>
              <a:spcAft>
                <a:spcPts val="0"/>
              </a:spcAft>
            </a:pPr>
            <a:r>
              <a:rPr sz="5600" b="1" spc="56">
                <a:solidFill>
                  <a:srgbClr val="111111"/>
                </a:solidFill>
                <a:latin typeface="Arial"/>
              </a:rPr>
              <a:t>TAKEAWAY </a:t>
            </a:r>
          </a:p>
        </p:txBody>
      </p:sp>
      <p:sp>
        <p:nvSpPr>
          <p:cNvPr id="114" name="TextBox 113"/>
          <p:cNvSpPr txBox="1"/>
          <p:nvPr/>
        </p:nvSpPr>
        <p:spPr>
          <a:xfrm>
            <a:off x="40181966" y="19163367"/>
            <a:ext cx="10256363" cy="3478545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l">
              <a:lnSpc>
                <a:spcPts val="5954"/>
              </a:lnSpc>
              <a:spcBef>
                <a:spcPts val="0"/>
              </a:spcBef>
              <a:spcAft>
                <a:spcPts val="0"/>
              </a:spcAft>
            </a:pPr>
            <a:r>
              <a:rPr sz="4106" b="0">
                <a:solidFill>
                  <a:srgbClr val="1C1C1C"/>
                </a:solidFill>
                <a:latin typeface="Arial"/>
              </a:rPr>
              <a:t>Redesigned components plus a TPU-</a:t>
            </a:r>
          </a:p>
          <a:p>
            <a:pPr algn="l">
              <a:lnSpc>
                <a:spcPts val="5954"/>
              </a:lnSpc>
              <a:spcBef>
                <a:spcPts val="0"/>
              </a:spcBef>
              <a:spcAft>
                <a:spcPts val="0"/>
              </a:spcAft>
            </a:pPr>
            <a:r>
              <a:rPr sz="4106" b="0">
                <a:solidFill>
                  <a:srgbClr val="1C1C1C"/>
                </a:solidFill>
                <a:latin typeface="Arial"/>
              </a:rPr>
              <a:t>tuned JAX rewrite let spherical CNNs</a:t>
            </a:r>
          </a:p>
          <a:p>
            <a:pPr algn="l">
              <a:lnSpc>
                <a:spcPts val="5954"/>
              </a:lnSpc>
              <a:spcBef>
                <a:spcPts val="0"/>
              </a:spcBef>
              <a:spcAft>
                <a:spcPts val="0"/>
              </a:spcAft>
            </a:pPr>
            <a:r>
              <a:rPr sz="4106" b="0">
                <a:solidFill>
                  <a:srgbClr val="1C1C1C"/>
                </a:solidFill>
                <a:latin typeface="Arial"/>
              </a:rPr>
              <a:t>finally reach state-of-the-art molecular</a:t>
            </a:r>
          </a:p>
          <a:p>
            <a:pPr algn="l">
              <a:lnSpc>
                <a:spcPts val="5954"/>
              </a:lnSpc>
              <a:spcBef>
                <a:spcPts val="0"/>
              </a:spcBef>
              <a:spcAft>
                <a:spcPts val="0"/>
              </a:spcAft>
            </a:pPr>
            <a:r>
              <a:rPr sz="4106" b="0">
                <a:solidFill>
                  <a:srgbClr val="1C1C1C"/>
                </a:solidFill>
                <a:latin typeface="Arial"/>
              </a:rPr>
              <a:t>prediction.</a:t>
            </a:r>
          </a:p>
        </p:txBody>
      </p:sp>
      <p:sp>
        <p:nvSpPr>
          <p:cNvPr id="115" name="TextBox 114"/>
          <p:cNvSpPr txBox="1"/>
          <p:nvPr/>
        </p:nvSpPr>
        <p:spPr>
          <a:xfrm>
            <a:off x="40181966" y="22695336"/>
            <a:ext cx="10256363" cy="2698844"/>
          </a:xfrm>
          <a:prstGeom prst="rect">
            <a:avLst/>
          </a:prstGeom>
          <a:noFill/>
        </p:spPr>
        <p:txBody>
          <a:bodyPr wrap="none" lIns="365082" rIns="365082" tIns="156464" bIns="156464">
            <a:spAutoFit/>
          </a:bodyPr>
          <a:lstStyle/>
          <a:p>
            <a:pPr algn="l">
              <a:lnSpc>
                <a:spcPts val="5338"/>
              </a:lnSpc>
              <a:spcBef>
                <a:spcPts val="0"/>
              </a:spcBef>
              <a:spcAft>
                <a:spcPts val="0"/>
              </a:spcAft>
            </a:pPr>
            <a:r>
              <a:rPr sz="4106" b="1">
                <a:solidFill>
                  <a:srgbClr val="FFFFFF"/>
                </a:solidFill>
                <a:latin typeface="Arial"/>
              </a:rPr>
              <a:t>The first demonstration that</a:t>
            </a:r>
          </a:p>
          <a:p>
            <a:pPr algn="l">
              <a:lnSpc>
                <a:spcPts val="5338"/>
              </a:lnSpc>
              <a:spcBef>
                <a:spcPts val="0"/>
              </a:spcBef>
              <a:spcAft>
                <a:spcPts val="0"/>
              </a:spcAft>
            </a:pPr>
            <a:r>
              <a:rPr sz="4106" b="1">
                <a:solidFill>
                  <a:srgbClr val="FFFFFF"/>
                </a:solidFill>
                <a:latin typeface="Arial"/>
              </a:rPr>
              <a:t>spherical CNNs are viable,</a:t>
            </a:r>
          </a:p>
          <a:p>
            <a:pPr algn="l">
              <a:lnSpc>
                <a:spcPts val="5338"/>
              </a:lnSpc>
              <a:spcBef>
                <a:spcPts val="0"/>
              </a:spcBef>
              <a:spcAft>
                <a:spcPts val="0"/>
              </a:spcAft>
            </a:pPr>
            <a:r>
              <a:rPr sz="4106" b="1">
                <a:solidFill>
                  <a:srgbClr val="FFFFFF"/>
                </a:solidFill>
                <a:latin typeface="Arial"/>
              </a:rPr>
              <a:t>competitive neural weather models.</a:t>
            </a:r>
          </a:p>
        </p:txBody>
      </p:sp>
      <p:sp>
        <p:nvSpPr>
          <p:cNvPr id="116" name="TextBox 115"/>
          <p:cNvSpPr txBox="1"/>
          <p:nvPr/>
        </p:nvSpPr>
        <p:spPr>
          <a:xfrm>
            <a:off x="1066661" y="27354668"/>
            <a:ext cx="10274675" cy="2674883"/>
          </a:xfrm>
          <a:prstGeom prst="rect">
            <a:avLst/>
          </a:prstGeom>
          <a:noFill/>
        </p:spPr>
        <p:txBody>
          <a:bodyPr wrap="none" lIns="339005" rIns="339005" tIns="146033" bIns="146033">
            <a:spAutoFit/>
          </a:bodyPr>
          <a:lstStyle/>
          <a:p>
            <a:pPr algn="l">
              <a:lnSpc>
                <a:spcPts val="5338"/>
              </a:lnSpc>
              <a:spcBef>
                <a:spcPts val="0"/>
              </a:spcBef>
              <a:spcAft>
                <a:spcPts val="0"/>
              </a:spcAft>
            </a:pPr>
            <a:r>
              <a:rPr sz="4106" b="0">
                <a:solidFill>
                  <a:srgbClr val="7D2860"/>
                </a:solidFill>
                <a:latin typeface="Arial"/>
              </a:rPr>
              <a:t>To compete, models must scale to QM9</a:t>
            </a:r>
          </a:p>
          <a:p>
            <a:pPr algn="l">
              <a:lnSpc>
                <a:spcPts val="5338"/>
              </a:lnSpc>
              <a:spcBef>
                <a:spcPts val="0"/>
              </a:spcBef>
              <a:spcAft>
                <a:spcPts val="0"/>
              </a:spcAft>
            </a:pPr>
            <a:r>
              <a:rPr sz="4106" b="0">
                <a:solidFill>
                  <a:srgbClr val="7D2860"/>
                </a:solidFill>
                <a:latin typeface="Arial"/>
              </a:rPr>
              <a:t>(134K molecules) and high-resolution</a:t>
            </a:r>
          </a:p>
          <a:p>
            <a:pPr algn="l">
              <a:lnSpc>
                <a:spcPts val="5338"/>
              </a:lnSpc>
              <a:spcBef>
                <a:spcPts val="0"/>
              </a:spcBef>
              <a:spcAft>
                <a:spcPts val="0"/>
              </a:spcAft>
            </a:pPr>
            <a:r>
              <a:rPr sz="4106" b="0">
                <a:solidFill>
                  <a:srgbClr val="7D2860"/>
                </a:solidFill>
                <a:latin typeface="Arial"/>
              </a:rPr>
              <a:t>ERA5 grids.</a:t>
            </a:r>
          </a:p>
        </p:txBody>
      </p:sp>
      <p:sp>
        <p:nvSpPr>
          <p:cNvPr id="117" name="TextBox 116"/>
          <p:cNvSpPr txBox="1"/>
          <p:nvPr/>
        </p:nvSpPr>
        <p:spPr>
          <a:xfrm>
            <a:off x="21399757" y="13335000"/>
            <a:ext cx="8658948" cy="357822"/>
          </a:xfrm>
          <a:prstGeom prst="rect">
            <a:avLst/>
          </a:prstGeom>
          <a:noFill/>
        </p:spPr>
        <p:txBody>
          <a:bodyPr wrap="square" lIns="394289" rIns="394289" tIns="67592" bIns="67592">
            <a:spAutoFit/>
          </a:bodyPr>
          <a:lstStyle/>
          <a:p>
            <a:pPr algn="ctr">
              <a:lnSpc>
                <a:spcPts val="3215"/>
              </a:lnSpc>
              <a:spcBef>
                <a:spcPts val="0"/>
              </a:spcBef>
              <a:spcAft>
                <a:spcPts val="0"/>
              </a:spcAft>
            </a:pPr>
            <a:r>
              <a:rPr sz="4435" b="0">
                <a:solidFill>
                  <a:srgbClr val="1C1C1C"/>
                </a:solidFill>
                <a:latin typeface="Tinos"/>
              </a:rPr>
              <a:t>                                                 </a:t>
            </a:r>
            <a:r>
              <a:rPr sz="2217" b="0" i="1">
                <a:solidFill>
                  <a:srgbClr val="555555"/>
                </a:solidFill>
                <a:latin typeface="Tinos"/>
              </a:rPr>
              <a:t>phase collapse activation — the modulus term restores rotation invariance</a:t>
            </a:r>
          </a:p>
        </p:txBody>
      </p:sp>
      <p:sp>
        <p:nvSpPr>
          <p:cNvPr id="118" name="TextBox 117"/>
          <p:cNvSpPr txBox="1"/>
          <p:nvPr/>
        </p:nvSpPr>
        <p:spPr>
          <a:xfrm>
            <a:off x="1066642" y="16618049"/>
            <a:ext cx="10274694" cy="4348182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l" marL="573701" indent="-573701">
              <a:lnSpc>
                <a:spcPts val="5954"/>
              </a:lnSpc>
              <a:spcBef>
                <a:spcPts val="0"/>
              </a:spcBef>
              <a:spcAft>
                <a:spcPts val="0"/>
              </a:spcAft>
              <a:buClr>
                <a:srgbClr val="1C1C1C"/>
              </a:buClr>
              <a:buFont typeface="Arial" panose="020B0604020202020204" pitchFamily="34" charset="0"/>
              <a:buChar char="•"/>
            </a:pPr>
            <a:r>
              <a:rPr sz="4106" b="0">
                <a:solidFill>
                  <a:srgbClr val="1C1C1C"/>
                </a:solidFill>
                <a:latin typeface="Arial"/>
              </a:rPr>
              <a:t>Molecular property prediction and</a:t>
            </a:r>
          </a:p>
          <a:p>
            <a:pPr algn="l" marL="573701" indent="0">
              <a:lnSpc>
                <a:spcPts val="5954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4106" b="0">
                <a:solidFill>
                  <a:srgbClr val="1C1C1C"/>
                </a:solidFill>
                <a:latin typeface="Arial"/>
              </a:rPr>
              <a:t>weather forecasting are naturally</a:t>
            </a:r>
          </a:p>
          <a:p>
            <a:pPr algn="l" marL="573701" indent="0">
              <a:lnSpc>
                <a:spcPts val="5954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4106" b="1">
                <a:solidFill>
                  <a:srgbClr val="111111"/>
                </a:solidFill>
                <a:latin typeface="Arial"/>
              </a:rPr>
              <a:t>spherical and rotation-related</a:t>
            </a:r>
            <a:r>
              <a:rPr sz="4106" b="0">
                <a:solidFill>
                  <a:srgbClr val="1C1C1C"/>
                </a:solidFill>
                <a:latin typeface="Arial"/>
              </a:rPr>
              <a:t> — a</a:t>
            </a:r>
          </a:p>
          <a:p>
            <a:pPr algn="l" marL="573701" indent="0">
              <a:lnSpc>
                <a:spcPts val="5954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4106" b="0">
                <a:solidFill>
                  <a:srgbClr val="1C1C1C"/>
                </a:solidFill>
                <a:latin typeface="Arial"/>
              </a:rPr>
              <a:t>perfect fit for rotation-equivariant</a:t>
            </a:r>
          </a:p>
          <a:p>
            <a:pPr algn="l" marL="573701" indent="0">
              <a:lnSpc>
                <a:spcPts val="5954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4106" b="0">
                <a:solidFill>
                  <a:srgbClr val="1C1C1C"/>
                </a:solidFill>
                <a:latin typeface="Arial"/>
              </a:rPr>
              <a:t>spherical CNNs.</a:t>
            </a:r>
          </a:p>
        </p:txBody>
      </p:sp>
      <p:sp>
        <p:nvSpPr>
          <p:cNvPr id="119" name="TextBox 118"/>
          <p:cNvSpPr txBox="1"/>
          <p:nvPr/>
        </p:nvSpPr>
        <p:spPr>
          <a:xfrm>
            <a:off x="12298342" y="19740522"/>
            <a:ext cx="13105812" cy="899667"/>
          </a:xfrm>
          <a:prstGeom prst="rect">
            <a:avLst/>
          </a:prstGeom>
          <a:noFill/>
        </p:spPr>
        <p:txBody>
          <a:bodyPr wrap="square" lIns="0" rIns="3911600" tIns="0" bIns="0">
            <a:spAutoFit/>
          </a:bodyPr>
          <a:lstStyle/>
          <a:p>
            <a:pPr algn="l">
              <a:lnSpc>
                <a:spcPts val="6160"/>
              </a:lnSpc>
              <a:spcBef>
                <a:spcPts val="0"/>
              </a:spcBef>
              <a:spcAft>
                <a:spcPts val="0"/>
              </a:spcAft>
            </a:pPr>
            <a:r>
              <a:rPr sz="5600" b="1" spc="56">
                <a:solidFill>
                  <a:srgbClr val="111111"/>
                </a:solidFill>
                <a:latin typeface="Arial"/>
              </a:rPr>
              <a:t>DATASET / BENCHMARK </a:t>
            </a:r>
          </a:p>
        </p:txBody>
      </p:sp>
      <p:sp>
        <p:nvSpPr>
          <p:cNvPr id="120" name="TextBox 119"/>
          <p:cNvSpPr txBox="1"/>
          <p:nvPr/>
        </p:nvSpPr>
        <p:spPr>
          <a:xfrm>
            <a:off x="26183828" y="19740522"/>
            <a:ext cx="13105812" cy="899667"/>
          </a:xfrm>
          <a:prstGeom prst="rect">
            <a:avLst/>
          </a:prstGeom>
          <a:noFill/>
        </p:spPr>
        <p:txBody>
          <a:bodyPr wrap="square" lIns="0" rIns="3911600" tIns="0" bIns="0">
            <a:spAutoFit/>
          </a:bodyPr>
          <a:lstStyle/>
          <a:p>
            <a:pPr algn="l">
              <a:lnSpc>
                <a:spcPts val="6160"/>
              </a:lnSpc>
              <a:spcBef>
                <a:spcPts val="0"/>
              </a:spcBef>
              <a:spcAft>
                <a:spcPts val="0"/>
              </a:spcAft>
            </a:pPr>
            <a:r>
              <a:rPr sz="5600" b="1" spc="56">
                <a:solidFill>
                  <a:srgbClr val="111111"/>
                </a:solidFill>
                <a:latin typeface="Arial"/>
              </a:rPr>
              <a:t>KEY RESULTS </a:t>
            </a:r>
          </a:p>
        </p:txBody>
      </p:sp>
      <p:sp>
        <p:nvSpPr>
          <p:cNvPr id="121" name="TextBox 120"/>
          <p:cNvSpPr txBox="1"/>
          <p:nvPr/>
        </p:nvSpPr>
        <p:spPr>
          <a:xfrm>
            <a:off x="1066642" y="20581600"/>
            <a:ext cx="10274694" cy="3478545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l" marL="573701" indent="-573701">
              <a:lnSpc>
                <a:spcPts val="5954"/>
              </a:lnSpc>
              <a:spcBef>
                <a:spcPts val="0"/>
              </a:spcBef>
              <a:spcAft>
                <a:spcPts val="0"/>
              </a:spcAft>
              <a:buClr>
                <a:srgbClr val="1C1C1C"/>
              </a:buClr>
              <a:buFont typeface="Arial" panose="020B0604020202020204" pitchFamily="34" charset="0"/>
              <a:buChar char="•"/>
            </a:pPr>
            <a:r>
              <a:rPr sz="4106" b="0">
                <a:solidFill>
                  <a:srgbClr val="1C1C1C"/>
                </a:solidFill>
                <a:latin typeface="Arial"/>
              </a:rPr>
              <a:t>A molecule's properties are invariant to</a:t>
            </a:r>
          </a:p>
          <a:p>
            <a:pPr algn="l" marL="573701" indent="0">
              <a:lnSpc>
                <a:spcPts val="5954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4106" b="0">
                <a:solidFill>
                  <a:srgbClr val="1C1C1C"/>
                </a:solidFill>
                <a:latin typeface="Arial"/>
              </a:rPr>
              <a:t>rotation and the atmosphere is a signal</a:t>
            </a:r>
          </a:p>
          <a:p>
            <a:pPr algn="l" marL="573701" indent="0">
              <a:lnSpc>
                <a:spcPts val="5954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4106" b="0">
                <a:solidFill>
                  <a:srgbClr val="1C1C1C"/>
                </a:solidFill>
                <a:latin typeface="Arial"/>
              </a:rPr>
              <a:t>on a sphere — equivariance should be a</a:t>
            </a:r>
          </a:p>
          <a:p>
            <a:pPr algn="l" marL="573701" indent="0">
              <a:lnSpc>
                <a:spcPts val="5954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4106" b="0">
                <a:solidFill>
                  <a:srgbClr val="1C1C1C"/>
                </a:solidFill>
                <a:latin typeface="Arial"/>
              </a:rPr>
              <a:t>decisive inductive bias.</a:t>
            </a:r>
          </a:p>
        </p:txBody>
      </p:sp>
      <p:sp>
        <p:nvSpPr>
          <p:cNvPr id="122" name="TextBox 121"/>
          <p:cNvSpPr txBox="1"/>
          <p:nvPr/>
        </p:nvSpPr>
        <p:spPr>
          <a:xfrm>
            <a:off x="1066642" y="23788945"/>
            <a:ext cx="10274694" cy="3478545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l" marL="573701" indent="-573701">
              <a:lnSpc>
                <a:spcPts val="5954"/>
              </a:lnSpc>
              <a:spcBef>
                <a:spcPts val="0"/>
              </a:spcBef>
              <a:spcAft>
                <a:spcPts val="0"/>
              </a:spcAft>
              <a:buClr>
                <a:srgbClr val="1C1C1C"/>
              </a:buClr>
              <a:buFont typeface="Arial" panose="020B0604020202020204" pitchFamily="34" charset="0"/>
              <a:buChar char="•"/>
            </a:pPr>
            <a:r>
              <a:rPr sz="4106" b="0">
                <a:solidFill>
                  <a:srgbClr val="1C1C1C"/>
                </a:solidFill>
                <a:latin typeface="Arial"/>
              </a:rPr>
              <a:t>Yet the field was dominated by</a:t>
            </a:r>
          </a:p>
          <a:p>
            <a:pPr algn="l" marL="573701" indent="0">
              <a:lnSpc>
                <a:spcPts val="5954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4106" b="0">
                <a:solidFill>
                  <a:srgbClr val="1C1C1C"/>
                </a:solidFill>
                <a:latin typeface="Arial"/>
              </a:rPr>
              <a:t>equivariant GNNs and transformers;</a:t>
            </a:r>
          </a:p>
          <a:p>
            <a:pPr algn="l" marL="573701" indent="0">
              <a:lnSpc>
                <a:spcPts val="5954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4106" b="0">
                <a:solidFill>
                  <a:srgbClr val="1C1C1C"/>
                </a:solidFill>
                <a:latin typeface="Arial"/>
              </a:rPr>
              <a:t>prior spherical CNNs were stuck on tiny</a:t>
            </a:r>
          </a:p>
          <a:p>
            <a:pPr algn="l" marL="573701" indent="0">
              <a:lnSpc>
                <a:spcPts val="5954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4106" b="0">
                <a:solidFill>
                  <a:srgbClr val="1C1C1C"/>
                </a:solidFill>
                <a:latin typeface="Arial"/>
              </a:rPr>
              <a:t>sets like QM7, 18× smaller than QM9.</a:t>
            </a:r>
          </a:p>
        </p:txBody>
      </p:sp>
      <p:sp>
        <p:nvSpPr>
          <p:cNvPr id="123" name="TextBox 122"/>
          <p:cNvSpPr txBox="1"/>
          <p:nvPr/>
        </p:nvSpPr>
        <p:spPr>
          <a:xfrm>
            <a:off x="26183828" y="24670722"/>
            <a:ext cx="13105812" cy="2233515"/>
          </a:xfrm>
          <a:prstGeom prst="rect">
            <a:avLst/>
          </a:prstGeom>
          <a:noFill/>
        </p:spPr>
        <p:txBody>
          <a:bodyPr wrap="none" lIns="485560" rIns="485560" tIns="281113" bIns="281113">
            <a:spAutoFit/>
          </a:bodyPr>
          <a:lstStyle/>
          <a:p>
            <a:pPr algn="ctr">
              <a:lnSpc>
                <a:spcPts val="5433"/>
              </a:lnSpc>
              <a:spcBef>
                <a:spcPts val="0"/>
              </a:spcBef>
              <a:spcAft>
                <a:spcPts val="0"/>
              </a:spcAft>
            </a:pPr>
            <a:r>
              <a:rPr sz="4024" b="1">
                <a:solidFill>
                  <a:srgbClr val="7D2860"/>
                </a:solidFill>
                <a:latin typeface="Arial"/>
              </a:rPr>
              <a:t>SOTA on 8/12 (Split 1) and 9/12 (Split 2) QM9</a:t>
            </a:r>
          </a:p>
          <a:p>
            <a:pPr algn="ctr">
              <a:lnSpc>
                <a:spcPts val="5433"/>
              </a:lnSpc>
              <a:spcBef>
                <a:spcPts val="0"/>
              </a:spcBef>
              <a:spcAft>
                <a:spcPts val="0"/>
              </a:spcAft>
            </a:pPr>
            <a:r>
              <a:rPr sz="4024" b="1">
                <a:solidFill>
                  <a:srgbClr val="7D2860"/>
                </a:solidFill>
                <a:latin typeface="Arial"/>
              </a:rPr>
              <a:t>targets · lower is better (meV)</a:t>
            </a:r>
          </a:p>
        </p:txBody>
      </p:sp>
      <p:sp>
        <p:nvSpPr>
          <p:cNvPr id="124" name="TextBox 123"/>
          <p:cNvSpPr txBox="1"/>
          <p:nvPr/>
        </p:nvSpPr>
        <p:spPr>
          <a:xfrm>
            <a:off x="26183828" y="26893916"/>
            <a:ext cx="13105812" cy="2575523"/>
          </a:xfrm>
          <a:prstGeom prst="rect">
            <a:avLst/>
          </a:prstGeom>
          <a:noFill/>
        </p:spPr>
        <p:txBody>
          <a:bodyPr wrap="square" lIns="0" rIns="0" tIns="215920" bIns="0">
            <a:spAutoFit/>
          </a:bodyPr>
          <a:lstStyle/>
          <a:p>
            <a:pPr algn="l">
              <a:lnSpc>
                <a:spcPts val="5289"/>
              </a:lnSpc>
              <a:spcBef>
                <a:spcPts val="0"/>
              </a:spcBef>
              <a:spcAft>
                <a:spcPts val="0"/>
              </a:spcAft>
            </a:pPr>
            <a:r>
              <a:rPr sz="2946" b="1" spc="176">
                <a:solidFill>
                  <a:srgbClr val="111111"/>
                </a:solidFill>
                <a:latin typeface="Arial"/>
              </a:rPr>
              <a:t>SO WHAT → </a:t>
            </a:r>
            <a:r>
              <a:rPr sz="3778" b="0" i="1">
                <a:solidFill>
                  <a:srgbClr val="1C1C1C"/>
                </a:solidFill>
                <a:latin typeface="Arial"/>
              </a:rPr>
              <a:t>Beats the previously dominant GNNs and transformers, and outperforms the WeatherBench baseline on all metrics in the 2-predictor setting.</a:t>
            </a:r>
          </a:p>
        </p:txBody>
      </p:sp>
      <p:sp>
        <p:nvSpPr>
          <p:cNvPr id="125" name="TextBox 124"/>
          <p:cNvSpPr txBox="1"/>
          <p:nvPr/>
        </p:nvSpPr>
        <p:spPr>
          <a:xfrm>
            <a:off x="12298324" y="7807086"/>
            <a:ext cx="27036314" cy="1606208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l" marL="573701" indent="-573701">
              <a:lnSpc>
                <a:spcPts val="5338"/>
              </a:lnSpc>
              <a:spcBef>
                <a:spcPts val="0"/>
              </a:spcBef>
              <a:spcAft>
                <a:spcPts val="0"/>
              </a:spcAft>
              <a:buClr>
                <a:srgbClr val="111111"/>
              </a:buClr>
              <a:buFont typeface="Arial" panose="020B0604020202020204" pitchFamily="34" charset="0"/>
              <a:buChar char="•"/>
            </a:pPr>
            <a:r>
              <a:rPr sz="4106" b="1">
                <a:solidFill>
                  <a:srgbClr val="111111"/>
                </a:solidFill>
                <a:latin typeface="Arial"/>
              </a:rPr>
              <a:t>Phase collapse nonlinearity:</a:t>
            </a:r>
            <a:r>
              <a:rPr sz="4106" b="0">
                <a:solidFill>
                  <a:srgbClr val="1C1C1C"/>
                </a:solidFill>
                <a:latin typeface="Arial"/>
              </a:rPr>
              <a:t> the modulus </a:t>
            </a:r>
            <a:r>
              <a:rPr sz="4353" b="1">
                <a:solidFill>
                  <a:srgbClr val="111111"/>
                </a:solidFill>
                <a:latin typeface="Arial"/>
              </a:rPr>
              <a:t>|x|</a:t>
            </a:r>
            <a:r>
              <a:rPr sz="4106" b="0">
                <a:solidFill>
                  <a:srgbClr val="1C1C1C"/>
                </a:solidFill>
                <a:latin typeface="Arial"/>
              </a:rPr>
              <a:t> collapses phase to</a:t>
            </a:r>
          </a:p>
          <a:p>
            <a:pPr algn="l" marL="573701" indent="0">
              <a:lnSpc>
                <a:spcPts val="5338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4106" b="0">
                <a:solidFill>
                  <a:srgbClr val="1C1C1C"/>
                </a:solidFill>
                <a:latin typeface="Arial"/>
              </a:rPr>
              <a:t>restore rotation invariance without information loss.</a:t>
            </a:r>
          </a:p>
        </p:txBody>
      </p:sp>
      <p:sp>
        <p:nvSpPr>
          <p:cNvPr id="126" name="TextBox 125"/>
          <p:cNvSpPr txBox="1"/>
          <p:nvPr/>
        </p:nvSpPr>
        <p:spPr>
          <a:xfrm>
            <a:off x="12298324" y="9297550"/>
            <a:ext cx="27036314" cy="1559403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l" marL="573701" indent="-573701">
              <a:lnSpc>
                <a:spcPts val="5338"/>
              </a:lnSpc>
              <a:spcBef>
                <a:spcPts val="0"/>
              </a:spcBef>
              <a:spcAft>
                <a:spcPts val="0"/>
              </a:spcAft>
              <a:buClr>
                <a:srgbClr val="111111"/>
              </a:buClr>
              <a:buFont typeface="Arial" panose="020B0604020202020204" pitchFamily="34" charset="0"/>
              <a:buChar char="•"/>
            </a:pPr>
            <a:r>
              <a:rPr sz="4106" b="1">
                <a:solidFill>
                  <a:srgbClr val="111111"/>
                </a:solidFill>
                <a:latin typeface="Arial"/>
              </a:rPr>
              <a:t>Spectral batch norm, spectral pooling,</a:t>
            </a:r>
            <a:r>
              <a:rPr sz="4106" b="0">
                <a:solidFill>
                  <a:srgbClr val="1C1C1C"/>
                </a:solidFill>
                <a:latin typeface="Arial"/>
              </a:rPr>
              <a:t> and an efficient residual block with a Fourier-</a:t>
            </a:r>
          </a:p>
          <a:p>
            <a:pPr algn="l" marL="573701" indent="0">
              <a:lnSpc>
                <a:spcPts val="5338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4106" b="0">
                <a:solidFill>
                  <a:srgbClr val="1C1C1C"/>
                </a:solidFill>
                <a:latin typeface="Arial"/>
              </a:rPr>
              <a:t>space skip connection (Figure 2).</a:t>
            </a:r>
          </a:p>
        </p:txBody>
      </p:sp>
      <p:sp>
        <p:nvSpPr>
          <p:cNvPr id="127" name="TextBox 126"/>
          <p:cNvSpPr txBox="1"/>
          <p:nvPr/>
        </p:nvSpPr>
        <p:spPr>
          <a:xfrm>
            <a:off x="12298324" y="10747315"/>
            <a:ext cx="27036314" cy="1559403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l" marL="573701" indent="-573701">
              <a:lnSpc>
                <a:spcPts val="5338"/>
              </a:lnSpc>
              <a:spcBef>
                <a:spcPts val="0"/>
              </a:spcBef>
              <a:spcAft>
                <a:spcPts val="0"/>
              </a:spcAft>
              <a:buClr>
                <a:srgbClr val="111111"/>
              </a:buClr>
              <a:buFont typeface="Arial" panose="020B0604020202020204" pitchFamily="34" charset="0"/>
              <a:buChar char="•"/>
            </a:pPr>
            <a:r>
              <a:rPr sz="4106" b="1">
                <a:solidFill>
                  <a:srgbClr val="111111"/>
                </a:solidFill>
                <a:latin typeface="Arial"/>
              </a:rPr>
              <a:t>TPU-tuned JAX rewrite:</a:t>
            </a:r>
            <a:r>
              <a:rPr sz="4106" b="0">
                <a:solidFill>
                  <a:srgbClr val="1C1C1C"/>
                </a:solidFill>
                <a:latin typeface="Arial"/>
              </a:rPr>
              <a:t> Fourier transforms run as dense matrix multiplies (DFT),</a:t>
            </a:r>
          </a:p>
          <a:p>
            <a:pPr algn="l" marL="573701" indent="0">
              <a:lnSpc>
                <a:spcPts val="5338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4106" b="0">
                <a:solidFill>
                  <a:srgbClr val="1C1C1C"/>
                </a:solidFill>
                <a:latin typeface="Arial"/>
              </a:rPr>
              <a:t>not FFTs, across up to 32 TPUs.</a:t>
            </a:r>
          </a:p>
        </p:txBody>
      </p:sp>
      <p:sp>
        <p:nvSpPr>
          <p:cNvPr id="128" name="TextBox 127"/>
          <p:cNvSpPr txBox="1"/>
          <p:nvPr/>
        </p:nvSpPr>
        <p:spPr>
          <a:xfrm>
            <a:off x="40410050" y="13237071"/>
            <a:ext cx="4879376" cy="1553971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l">
              <a:lnSpc>
                <a:spcPts val="10640"/>
              </a:lnSpc>
              <a:spcBef>
                <a:spcPts val="0"/>
              </a:spcBef>
              <a:spcAft>
                <a:spcPts val="0"/>
              </a:spcAft>
            </a:pPr>
            <a:r>
              <a:rPr sz="11200" b="1" spc="-224">
                <a:solidFill>
                  <a:srgbClr val="7D2860"/>
                </a:solidFill>
                <a:latin typeface="Arial"/>
              </a:rPr>
              <a:t>10×</a:t>
            </a:r>
          </a:p>
        </p:txBody>
      </p:sp>
      <p:sp>
        <p:nvSpPr>
          <p:cNvPr id="129" name="TextBox 128"/>
          <p:cNvSpPr txBox="1"/>
          <p:nvPr/>
        </p:nvSpPr>
        <p:spPr>
          <a:xfrm>
            <a:off x="40410050" y="14611965"/>
            <a:ext cx="4879376" cy="1799016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l">
              <a:lnSpc>
                <a:spcPts val="4106"/>
              </a:lnSpc>
              <a:spcBef>
                <a:spcPts val="0"/>
              </a:spcBef>
              <a:spcAft>
                <a:spcPts val="0"/>
              </a:spcAft>
            </a:pPr>
            <a:r>
              <a:rPr sz="3733" b="1">
                <a:solidFill>
                  <a:srgbClr val="1C1C1C"/>
                </a:solidFill>
                <a:latin typeface="Arial"/>
              </a:rPr>
              <a:t>Larger spherical</a:t>
            </a:r>
          </a:p>
          <a:p>
            <a:pPr algn="l">
              <a:lnSpc>
                <a:spcPts val="4106"/>
              </a:lnSpc>
              <a:spcBef>
                <a:spcPts val="0"/>
              </a:spcBef>
              <a:spcAft>
                <a:spcPts val="0"/>
              </a:spcAft>
            </a:pPr>
            <a:r>
              <a:rPr sz="3733" b="1">
                <a:solidFill>
                  <a:srgbClr val="1C1C1C"/>
                </a:solidFill>
                <a:latin typeface="Arial"/>
              </a:rPr>
              <a:t>CNNs (ops &amp;</a:t>
            </a:r>
          </a:p>
          <a:p>
            <a:pPr algn="l">
              <a:lnSpc>
                <a:spcPts val="4106"/>
              </a:lnSpc>
              <a:spcBef>
                <a:spcPts val="0"/>
              </a:spcBef>
              <a:spcAft>
                <a:spcPts val="0"/>
              </a:spcAft>
            </a:pPr>
            <a:r>
              <a:rPr sz="3733" b="1">
                <a:solidFill>
                  <a:srgbClr val="1C1C1C"/>
                </a:solidFill>
                <a:latin typeface="Arial"/>
              </a:rPr>
              <a:t>resolution)</a:t>
            </a:r>
          </a:p>
        </p:txBody>
      </p:sp>
      <p:sp>
        <p:nvSpPr>
          <p:cNvPr id="130" name="TextBox 129"/>
          <p:cNvSpPr txBox="1"/>
          <p:nvPr/>
        </p:nvSpPr>
        <p:spPr>
          <a:xfrm>
            <a:off x="13362781" y="17153532"/>
            <a:ext cx="24907418" cy="1278576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ctr">
              <a:lnSpc>
                <a:spcPts val="4377"/>
              </a:lnSpc>
              <a:spcBef>
                <a:spcPts val="0"/>
              </a:spcBef>
              <a:spcAft>
                <a:spcPts val="0"/>
              </a:spcAft>
            </a:pPr>
            <a:r>
              <a:rPr sz="3367" b="0" i="1">
                <a:solidFill>
                  <a:srgbClr val="555555"/>
                </a:solidFill>
                <a:latin typeface="Arial"/>
              </a:rPr>
              <a:t>Figure 2. The efficient residual block: spin-weighted Fourier transforms (FT/IFT), filter multiply (∗K), activation (σ), and spectral</a:t>
            </a:r>
          </a:p>
          <a:p>
            <a:pPr algn="ctr">
              <a:lnSpc>
                <a:spcPts val="4377"/>
              </a:lnSpc>
              <a:spcBef>
                <a:spcPts val="0"/>
              </a:spcBef>
              <a:spcAft>
                <a:spcPts val="0"/>
              </a:spcAft>
            </a:pPr>
            <a:r>
              <a:rPr sz="3367" b="0" i="1">
                <a:solidFill>
                  <a:srgbClr val="555555"/>
                </a:solidFill>
                <a:latin typeface="Arial"/>
              </a:rPr>
              <a:t>batch norm (BN). The skip connection happens in Fourier space.</a:t>
            </a:r>
          </a:p>
        </p:txBody>
      </p:sp>
      <p:sp>
        <p:nvSpPr>
          <p:cNvPr id="131" name="TextBox 130"/>
          <p:cNvSpPr txBox="1"/>
          <p:nvPr/>
        </p:nvSpPr>
        <p:spPr>
          <a:xfrm>
            <a:off x="40164186" y="26673889"/>
            <a:ext cx="2949316" cy="1144712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l">
              <a:lnSpc>
                <a:spcPts val="3920"/>
              </a:lnSpc>
              <a:spcBef>
                <a:spcPts val="0"/>
              </a:spcBef>
              <a:spcAft>
                <a:spcPts val="0"/>
              </a:spcAft>
            </a:pPr>
            <a:r>
              <a:rPr sz="3733" b="1" spc="37">
                <a:solidFill>
                  <a:srgbClr val="7D2860"/>
                </a:solidFill>
                <a:latin typeface="Arial"/>
              </a:rPr>
              <a:t>SCAN TO</a:t>
            </a:r>
          </a:p>
          <a:p>
            <a:pPr algn="l">
              <a:lnSpc>
                <a:spcPts val="3920"/>
              </a:lnSpc>
              <a:spcBef>
                <a:spcPts val="0"/>
              </a:spcBef>
              <a:spcAft>
                <a:spcPts val="0"/>
              </a:spcAft>
            </a:pPr>
            <a:r>
              <a:rPr sz="3733" b="1" spc="37">
                <a:solidFill>
                  <a:srgbClr val="7D2860"/>
                </a:solidFill>
                <a:latin typeface="Arial"/>
              </a:rPr>
              <a:t>READ</a:t>
            </a:r>
          </a:p>
        </p:txBody>
      </p:sp>
      <p:sp>
        <p:nvSpPr>
          <p:cNvPr id="132" name="TextBox 131"/>
          <p:cNvSpPr txBox="1"/>
          <p:nvPr/>
        </p:nvSpPr>
        <p:spPr>
          <a:xfrm>
            <a:off x="12807295" y="27279520"/>
            <a:ext cx="12057227" cy="1917865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ctr">
              <a:lnSpc>
                <a:spcPts val="4377"/>
              </a:lnSpc>
              <a:spcBef>
                <a:spcPts val="0"/>
              </a:spcBef>
              <a:spcAft>
                <a:spcPts val="0"/>
              </a:spcAft>
            </a:pPr>
            <a:r>
              <a:rPr sz="3367" b="0" i="1">
                <a:solidFill>
                  <a:srgbClr val="555555"/>
                </a:solidFill>
                <a:latin typeface="Arial"/>
              </a:rPr>
              <a:t>Molecules encoded as spherical functions per atom, from</a:t>
            </a:r>
          </a:p>
          <a:p>
            <a:pPr algn="ctr">
              <a:lnSpc>
                <a:spcPts val="4377"/>
              </a:lnSpc>
              <a:spcBef>
                <a:spcPts val="0"/>
              </a:spcBef>
              <a:spcAft>
                <a:spcPts val="0"/>
              </a:spcAft>
            </a:pPr>
            <a:r>
              <a:rPr sz="3367" b="0" i="1">
                <a:solidFill>
                  <a:srgbClr val="555555"/>
                </a:solidFill>
                <a:latin typeface="Arial"/>
              </a:rPr>
              <a:t>physically-based atom-pair interactions; QM9 regression + 3–</a:t>
            </a:r>
          </a:p>
          <a:p>
            <a:pPr algn="ctr">
              <a:lnSpc>
                <a:spcPts val="4377"/>
              </a:lnSpc>
              <a:spcBef>
                <a:spcPts val="0"/>
              </a:spcBef>
              <a:spcAft>
                <a:spcPts val="0"/>
              </a:spcAft>
            </a:pPr>
            <a:r>
              <a:rPr sz="3367" b="0" i="1">
                <a:solidFill>
                  <a:srgbClr val="555555"/>
                </a:solidFill>
                <a:latin typeface="Arial"/>
              </a:rPr>
              <a:t>28 day weather forecasting.</a:t>
            </a:r>
          </a:p>
        </p:txBody>
      </p:sp>
      <p:sp>
        <p:nvSpPr>
          <p:cNvPr id="133" name="TextBox 132"/>
          <p:cNvSpPr txBox="1"/>
          <p:nvPr/>
        </p:nvSpPr>
        <p:spPr>
          <a:xfrm>
            <a:off x="40164186" y="7807086"/>
            <a:ext cx="4965792" cy="812449"/>
          </a:xfrm>
          <a:prstGeom prst="rect">
            <a:avLst/>
          </a:prstGeom>
          <a:noFill/>
        </p:spPr>
        <p:txBody>
          <a:bodyPr wrap="square" lIns="185800" rIns="185800" tIns="81752" bIns="81752">
            <a:spAutoFit/>
          </a:bodyPr>
          <a:lstStyle/>
          <a:p>
            <a:pPr algn="l">
              <a:lnSpc>
                <a:spcPts val="4242"/>
              </a:lnSpc>
              <a:spcBef>
                <a:spcPts val="0"/>
              </a:spcBef>
              <a:spcAft>
                <a:spcPts val="0"/>
              </a:spcAft>
            </a:pPr>
            <a:r>
              <a:rPr sz="2926" b="1" spc="146">
                <a:solidFill>
                  <a:srgbClr val="555555"/>
                </a:solidFill>
                <a:latin typeface="Arial"/>
              </a:rPr>
              <a:t>COMPONENT</a:t>
            </a:r>
          </a:p>
        </p:txBody>
      </p:sp>
      <p:sp>
        <p:nvSpPr>
          <p:cNvPr id="134" name="TextBox 133"/>
          <p:cNvSpPr txBox="1"/>
          <p:nvPr/>
        </p:nvSpPr>
        <p:spPr>
          <a:xfrm>
            <a:off x="44985344" y="7807086"/>
            <a:ext cx="2986658" cy="812449"/>
          </a:xfrm>
          <a:prstGeom prst="rect">
            <a:avLst/>
          </a:prstGeom>
          <a:noFill/>
        </p:spPr>
        <p:txBody>
          <a:bodyPr wrap="square" lIns="185800" rIns="185800" tIns="81752" bIns="81752">
            <a:spAutoFit/>
          </a:bodyPr>
          <a:lstStyle/>
          <a:p>
            <a:pPr algn="l">
              <a:lnSpc>
                <a:spcPts val="4242"/>
              </a:lnSpc>
              <a:spcBef>
                <a:spcPts val="0"/>
              </a:spcBef>
              <a:spcAft>
                <a:spcPts val="0"/>
              </a:spcAft>
            </a:pPr>
            <a:r>
              <a:rPr sz="2926" b="1" spc="146">
                <a:solidFill>
                  <a:srgbClr val="555555"/>
                </a:solidFill>
                <a:latin typeface="Arial"/>
              </a:rPr>
              <a:t>Δ STEPS/S</a:t>
            </a:r>
          </a:p>
        </p:txBody>
      </p:sp>
      <p:sp>
        <p:nvSpPr>
          <p:cNvPr id="135" name="TextBox 134"/>
          <p:cNvSpPr txBox="1"/>
          <p:nvPr/>
        </p:nvSpPr>
        <p:spPr>
          <a:xfrm>
            <a:off x="47885012" y="7807086"/>
            <a:ext cx="2322225" cy="812449"/>
          </a:xfrm>
          <a:prstGeom prst="rect">
            <a:avLst/>
          </a:prstGeom>
          <a:noFill/>
        </p:spPr>
        <p:txBody>
          <a:bodyPr wrap="square" lIns="185800" rIns="185800" tIns="81752" bIns="81752">
            <a:spAutoFit/>
          </a:bodyPr>
          <a:lstStyle/>
          <a:p>
            <a:pPr algn="l">
              <a:lnSpc>
                <a:spcPts val="4242"/>
              </a:lnSpc>
              <a:spcBef>
                <a:spcPts val="0"/>
              </a:spcBef>
              <a:spcAft>
                <a:spcPts val="0"/>
              </a:spcAft>
            </a:pPr>
            <a:r>
              <a:rPr sz="2926" b="1" spc="146">
                <a:solidFill>
                  <a:srgbClr val="555555"/>
                </a:solidFill>
                <a:latin typeface="Arial"/>
              </a:rPr>
              <a:t>Δ RMSE</a:t>
            </a:r>
          </a:p>
        </p:txBody>
      </p:sp>
      <p:sp>
        <p:nvSpPr>
          <p:cNvPr id="136" name="TextBox 135"/>
          <p:cNvSpPr txBox="1"/>
          <p:nvPr/>
        </p:nvSpPr>
        <p:spPr>
          <a:xfrm>
            <a:off x="40164186" y="8513564"/>
            <a:ext cx="4965792" cy="1086885"/>
          </a:xfrm>
          <a:prstGeom prst="rect">
            <a:avLst/>
          </a:prstGeom>
          <a:noFill/>
        </p:spPr>
        <p:txBody>
          <a:bodyPr wrap="square" lIns="247734" rIns="247734" tIns="109002" bIns="109002">
            <a:spAutoFit/>
          </a:bodyPr>
          <a:lstStyle/>
          <a:p>
            <a:pPr algn="l">
              <a:lnSpc>
                <a:spcPts val="5656"/>
              </a:lnSpc>
              <a:spcBef>
                <a:spcPts val="0"/>
              </a:spcBef>
              <a:spcAft>
                <a:spcPts val="0"/>
              </a:spcAft>
            </a:pPr>
            <a:r>
              <a:rPr sz="3901" b="1">
                <a:solidFill>
                  <a:srgbClr val="1C1C1C"/>
                </a:solidFill>
                <a:latin typeface="Arial"/>
              </a:rPr>
              <a:t>Phase collapse</a:t>
            </a:r>
          </a:p>
        </p:txBody>
      </p:sp>
      <p:sp>
        <p:nvSpPr>
          <p:cNvPr id="137" name="TextBox 136"/>
          <p:cNvSpPr txBox="1"/>
          <p:nvPr/>
        </p:nvSpPr>
        <p:spPr>
          <a:xfrm>
            <a:off x="44985344" y="8513564"/>
            <a:ext cx="2986658" cy="1086885"/>
          </a:xfrm>
          <a:prstGeom prst="rect">
            <a:avLst/>
          </a:prstGeom>
          <a:noFill/>
        </p:spPr>
        <p:txBody>
          <a:bodyPr wrap="none" lIns="247734" rIns="247734" tIns="109002" bIns="109002">
            <a:spAutoFit/>
          </a:bodyPr>
          <a:lstStyle/>
          <a:p>
            <a:pPr algn="l">
              <a:lnSpc>
                <a:spcPts val="5656"/>
              </a:lnSpc>
              <a:spcBef>
                <a:spcPts val="0"/>
              </a:spcBef>
              <a:spcAft>
                <a:spcPts val="0"/>
              </a:spcAft>
            </a:pPr>
            <a:r>
              <a:rPr sz="3901" b="1">
                <a:solidFill>
                  <a:srgbClr val="1C1C1C"/>
                </a:solidFill>
                <a:latin typeface="Arial"/>
              </a:rPr>
              <a:t>−4.6%</a:t>
            </a:r>
          </a:p>
        </p:txBody>
      </p:sp>
      <p:sp>
        <p:nvSpPr>
          <p:cNvPr id="138" name="TextBox 137"/>
          <p:cNvSpPr txBox="1"/>
          <p:nvPr/>
        </p:nvSpPr>
        <p:spPr>
          <a:xfrm>
            <a:off x="47885012" y="8513564"/>
            <a:ext cx="2322225" cy="1086885"/>
          </a:xfrm>
          <a:prstGeom prst="rect">
            <a:avLst/>
          </a:prstGeom>
          <a:noFill/>
        </p:spPr>
        <p:txBody>
          <a:bodyPr wrap="none" lIns="247734" rIns="247734" tIns="109002" bIns="109002">
            <a:spAutoFit/>
          </a:bodyPr>
          <a:lstStyle/>
          <a:p>
            <a:pPr algn="l">
              <a:lnSpc>
                <a:spcPts val="5656"/>
              </a:lnSpc>
              <a:spcBef>
                <a:spcPts val="0"/>
              </a:spcBef>
              <a:spcAft>
                <a:spcPts val="0"/>
              </a:spcAft>
            </a:pPr>
            <a:r>
              <a:rPr sz="3901" b="1">
                <a:solidFill>
                  <a:srgbClr val="1C1C1C"/>
                </a:solidFill>
                <a:latin typeface="Arial"/>
              </a:rPr>
              <a:t>−8.0%</a:t>
            </a:r>
          </a:p>
        </p:txBody>
      </p:sp>
      <p:sp>
        <p:nvSpPr>
          <p:cNvPr id="139" name="TextBox 138"/>
          <p:cNvSpPr txBox="1"/>
          <p:nvPr/>
        </p:nvSpPr>
        <p:spPr>
          <a:xfrm>
            <a:off x="40164186" y="9458682"/>
            <a:ext cx="4965792" cy="1086885"/>
          </a:xfrm>
          <a:prstGeom prst="rect">
            <a:avLst/>
          </a:prstGeom>
          <a:noFill/>
        </p:spPr>
        <p:txBody>
          <a:bodyPr wrap="square" lIns="247734" rIns="247734" tIns="109002" bIns="109002">
            <a:spAutoFit/>
          </a:bodyPr>
          <a:lstStyle/>
          <a:p>
            <a:pPr algn="l">
              <a:lnSpc>
                <a:spcPts val="5656"/>
              </a:lnSpc>
              <a:spcBef>
                <a:spcPts val="0"/>
              </a:spcBef>
              <a:spcAft>
                <a:spcPts val="0"/>
              </a:spcAft>
            </a:pPr>
            <a:r>
              <a:rPr sz="3901" b="0">
                <a:solidFill>
                  <a:srgbClr val="1C1C1C"/>
                </a:solidFill>
                <a:latin typeface="Arial"/>
              </a:rPr>
              <a:t>Efficient residual</a:t>
            </a:r>
          </a:p>
        </p:txBody>
      </p:sp>
      <p:sp>
        <p:nvSpPr>
          <p:cNvPr id="140" name="TextBox 139"/>
          <p:cNvSpPr txBox="1"/>
          <p:nvPr/>
        </p:nvSpPr>
        <p:spPr>
          <a:xfrm>
            <a:off x="44985344" y="9458682"/>
            <a:ext cx="2986658" cy="1086885"/>
          </a:xfrm>
          <a:prstGeom prst="rect">
            <a:avLst/>
          </a:prstGeom>
          <a:noFill/>
        </p:spPr>
        <p:txBody>
          <a:bodyPr wrap="none" lIns="247734" rIns="247734" tIns="109002" bIns="109002">
            <a:spAutoFit/>
          </a:bodyPr>
          <a:lstStyle/>
          <a:p>
            <a:pPr algn="l">
              <a:lnSpc>
                <a:spcPts val="5656"/>
              </a:lnSpc>
              <a:spcBef>
                <a:spcPts val="0"/>
              </a:spcBef>
              <a:spcAft>
                <a:spcPts val="0"/>
              </a:spcAft>
            </a:pPr>
            <a:r>
              <a:rPr sz="3901" b="0">
                <a:solidFill>
                  <a:srgbClr val="1C1C1C"/>
                </a:solidFill>
                <a:latin typeface="Arial"/>
              </a:rPr>
              <a:t>+19.3%</a:t>
            </a:r>
          </a:p>
        </p:txBody>
      </p:sp>
      <p:sp>
        <p:nvSpPr>
          <p:cNvPr id="141" name="TextBox 140"/>
          <p:cNvSpPr txBox="1"/>
          <p:nvPr/>
        </p:nvSpPr>
        <p:spPr>
          <a:xfrm>
            <a:off x="47885012" y="9458682"/>
            <a:ext cx="2322225" cy="1086885"/>
          </a:xfrm>
          <a:prstGeom prst="rect">
            <a:avLst/>
          </a:prstGeom>
          <a:noFill/>
        </p:spPr>
        <p:txBody>
          <a:bodyPr wrap="none" lIns="247734" rIns="247734" tIns="109002" bIns="109002">
            <a:spAutoFit/>
          </a:bodyPr>
          <a:lstStyle/>
          <a:p>
            <a:pPr algn="l">
              <a:lnSpc>
                <a:spcPts val="5656"/>
              </a:lnSpc>
              <a:spcBef>
                <a:spcPts val="0"/>
              </a:spcBef>
              <a:spcAft>
                <a:spcPts val="0"/>
              </a:spcAft>
            </a:pPr>
            <a:r>
              <a:rPr sz="3901" b="0">
                <a:solidFill>
                  <a:srgbClr val="1C1C1C"/>
                </a:solidFill>
                <a:latin typeface="Arial"/>
              </a:rPr>
              <a:t>−2.4%</a:t>
            </a:r>
          </a:p>
        </p:txBody>
      </p:sp>
      <p:sp>
        <p:nvSpPr>
          <p:cNvPr id="142" name="TextBox 141"/>
          <p:cNvSpPr txBox="1"/>
          <p:nvPr/>
        </p:nvSpPr>
        <p:spPr>
          <a:xfrm>
            <a:off x="46199246" y="12752427"/>
            <a:ext cx="1070618" cy="626988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l">
              <a:lnSpc>
                <a:spcPts val="4293"/>
              </a:lnSpc>
              <a:spcBef>
                <a:spcPts val="0"/>
              </a:spcBef>
              <a:spcAft>
                <a:spcPts val="0"/>
              </a:spcAft>
            </a:pPr>
            <a:r>
              <a:rPr sz="4293" b="1" spc="-42">
                <a:solidFill>
                  <a:srgbClr val="AE2622"/>
                </a:solidFill>
                <a:latin typeface="Arial"/>
              </a:rPr>
              <a:t>8/12</a:t>
            </a:r>
          </a:p>
        </p:txBody>
      </p:sp>
      <p:sp>
        <p:nvSpPr>
          <p:cNvPr id="143" name="TextBox 142"/>
          <p:cNvSpPr txBox="1"/>
          <p:nvPr/>
        </p:nvSpPr>
        <p:spPr>
          <a:xfrm>
            <a:off x="47421204" y="12885777"/>
            <a:ext cx="2546706" cy="981455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l">
              <a:lnSpc>
                <a:spcPts val="3360"/>
              </a:lnSpc>
              <a:spcBef>
                <a:spcPts val="0"/>
              </a:spcBef>
              <a:spcAft>
                <a:spcPts val="0"/>
              </a:spcAft>
            </a:pPr>
            <a:r>
              <a:rPr sz="2800" b="0">
                <a:solidFill>
                  <a:srgbClr val="555555"/>
                </a:solidFill>
                <a:latin typeface="Arial"/>
              </a:rPr>
              <a:t>QM9 SOTA</a:t>
            </a:r>
          </a:p>
          <a:p>
            <a:pPr algn="l">
              <a:lnSpc>
                <a:spcPts val="3360"/>
              </a:lnSpc>
              <a:spcBef>
                <a:spcPts val="0"/>
              </a:spcBef>
              <a:spcAft>
                <a:spcPts val="0"/>
              </a:spcAft>
            </a:pPr>
            <a:r>
              <a:rPr sz="2800" b="0">
                <a:solidFill>
                  <a:srgbClr val="555555"/>
                </a:solidFill>
                <a:latin typeface="Arial"/>
              </a:rPr>
              <a:t>targets (Split 1)</a:t>
            </a:r>
          </a:p>
        </p:txBody>
      </p:sp>
      <p:sp>
        <p:nvSpPr>
          <p:cNvPr id="144" name="TextBox 143"/>
          <p:cNvSpPr txBox="1"/>
          <p:nvPr/>
        </p:nvSpPr>
        <p:spPr>
          <a:xfrm>
            <a:off x="46199246" y="13999944"/>
            <a:ext cx="1579960" cy="626988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l">
              <a:lnSpc>
                <a:spcPts val="4293"/>
              </a:lnSpc>
              <a:spcBef>
                <a:spcPts val="0"/>
              </a:spcBef>
              <a:spcAft>
                <a:spcPts val="0"/>
              </a:spcAft>
            </a:pPr>
            <a:r>
              <a:rPr sz="4293" b="1" spc="-42">
                <a:solidFill>
                  <a:srgbClr val="AE2622"/>
                </a:solidFill>
                <a:latin typeface="Arial"/>
              </a:rPr>
              <a:t>−8.0%</a:t>
            </a:r>
          </a:p>
        </p:txBody>
      </p:sp>
      <p:sp>
        <p:nvSpPr>
          <p:cNvPr id="145" name="TextBox 144"/>
          <p:cNvSpPr txBox="1"/>
          <p:nvPr/>
        </p:nvSpPr>
        <p:spPr>
          <a:xfrm>
            <a:off x="47915710" y="14133294"/>
            <a:ext cx="2037365" cy="1472184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l">
              <a:lnSpc>
                <a:spcPts val="3360"/>
              </a:lnSpc>
              <a:spcBef>
                <a:spcPts val="0"/>
              </a:spcBef>
              <a:spcAft>
                <a:spcPts val="0"/>
              </a:spcAft>
            </a:pPr>
            <a:r>
              <a:rPr sz="2800" b="0">
                <a:solidFill>
                  <a:srgbClr val="555555"/>
                </a:solidFill>
                <a:latin typeface="Arial"/>
              </a:rPr>
              <a:t>RMSE from</a:t>
            </a:r>
          </a:p>
          <a:p>
            <a:pPr algn="l">
              <a:lnSpc>
                <a:spcPts val="3360"/>
              </a:lnSpc>
              <a:spcBef>
                <a:spcPts val="0"/>
              </a:spcBef>
              <a:spcAft>
                <a:spcPts val="0"/>
              </a:spcAft>
            </a:pPr>
            <a:r>
              <a:rPr sz="2800" b="0">
                <a:solidFill>
                  <a:srgbClr val="555555"/>
                </a:solidFill>
                <a:latin typeface="Arial"/>
              </a:rPr>
              <a:t>phase</a:t>
            </a:r>
          </a:p>
          <a:p>
            <a:pPr algn="l">
              <a:lnSpc>
                <a:spcPts val="3360"/>
              </a:lnSpc>
              <a:spcBef>
                <a:spcPts val="0"/>
              </a:spcBef>
              <a:spcAft>
                <a:spcPts val="0"/>
              </a:spcAft>
            </a:pPr>
            <a:r>
              <a:rPr sz="2800" b="0">
                <a:solidFill>
                  <a:srgbClr val="555555"/>
                </a:solidFill>
                <a:latin typeface="Arial"/>
              </a:rPr>
              <a:t>collapse</a:t>
            </a:r>
          </a:p>
        </p:txBody>
      </p:sp>
      <p:sp>
        <p:nvSpPr>
          <p:cNvPr id="146" name="TextBox 145"/>
          <p:cNvSpPr txBox="1"/>
          <p:nvPr/>
        </p:nvSpPr>
        <p:spPr>
          <a:xfrm>
            <a:off x="46199246" y="15674181"/>
            <a:ext cx="1564794" cy="626988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l">
              <a:lnSpc>
                <a:spcPts val="4293"/>
              </a:lnSpc>
              <a:spcBef>
                <a:spcPts val="0"/>
              </a:spcBef>
              <a:spcAft>
                <a:spcPts val="0"/>
              </a:spcAft>
            </a:pPr>
            <a:r>
              <a:rPr sz="4293" b="1" spc="-42">
                <a:solidFill>
                  <a:srgbClr val="AE2622"/>
                </a:solidFill>
                <a:latin typeface="Arial"/>
              </a:rPr>
              <a:t>~100×</a:t>
            </a:r>
          </a:p>
        </p:txBody>
      </p:sp>
      <p:sp>
        <p:nvSpPr>
          <p:cNvPr id="147" name="TextBox 146"/>
          <p:cNvSpPr txBox="1"/>
          <p:nvPr/>
        </p:nvSpPr>
        <p:spPr>
          <a:xfrm>
            <a:off x="47900986" y="15807531"/>
            <a:ext cx="2052531" cy="981455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l">
              <a:lnSpc>
                <a:spcPts val="3360"/>
              </a:lnSpc>
              <a:spcBef>
                <a:spcPts val="0"/>
              </a:spcBef>
              <a:spcAft>
                <a:spcPts val="0"/>
              </a:spcAft>
            </a:pPr>
            <a:r>
              <a:rPr sz="2800" b="0">
                <a:solidFill>
                  <a:srgbClr val="555555"/>
                </a:solidFill>
                <a:latin typeface="Arial"/>
              </a:rPr>
              <a:t>faster on 32</a:t>
            </a:r>
          </a:p>
          <a:p>
            <a:pPr algn="l">
              <a:lnSpc>
                <a:spcPts val="3360"/>
              </a:lnSpc>
              <a:spcBef>
                <a:spcPts val="0"/>
              </a:spcBef>
              <a:spcAft>
                <a:spcPts val="0"/>
              </a:spcAft>
            </a:pPr>
            <a:r>
              <a:rPr sz="2800" b="0">
                <a:solidFill>
                  <a:srgbClr val="555555"/>
                </a:solidFill>
                <a:latin typeface="Arial"/>
              </a:rPr>
              <a:t>TPUs</a:t>
            </a:r>
          </a:p>
        </p:txBody>
      </p:sp>
      <p:sp>
        <p:nvSpPr>
          <p:cNvPr id="148" name="TextBox 147"/>
          <p:cNvSpPr txBox="1"/>
          <p:nvPr/>
        </p:nvSpPr>
        <p:spPr>
          <a:xfrm>
            <a:off x="40164186" y="27858898"/>
            <a:ext cx="2949316" cy="1556208"/>
          </a:xfrm>
          <a:prstGeom prst="rect">
            <a:avLst/>
          </a:prstGeom>
          <a:noFill/>
        </p:spPr>
        <p:txBody>
          <a:bodyPr wrap="none" lIns="237066" rIns="237066" tIns="154093" bIns="154093">
            <a:spAutoFit/>
          </a:bodyPr>
          <a:lstStyle/>
          <a:p>
            <a:pPr algn="l">
              <a:lnSpc>
                <a:spcPts val="2464"/>
              </a:lnSpc>
              <a:spcBef>
                <a:spcPts val="0"/>
              </a:spcBef>
              <a:spcAft>
                <a:spcPts val="0"/>
              </a:spcAft>
            </a:pPr>
            <a:r>
              <a:rPr sz="2240" b="1">
                <a:solidFill>
                  <a:srgbClr val="7D2860"/>
                </a:solidFill>
                <a:latin typeface="Arial"/>
              </a:rPr>
              <a:t>Paper &amp; Code</a:t>
            </a:r>
          </a:p>
          <a:p>
            <a:pPr algn="l">
              <a:lnSpc>
                <a:spcPts val="2464"/>
              </a:lnSpc>
              <a:spcBef>
                <a:spcPts val="0"/>
              </a:spcBef>
              <a:spcAft>
                <a:spcPts val="0"/>
              </a:spcAft>
            </a:pPr>
            <a:r>
              <a:rPr sz="2053" b="0">
                <a:solidFill>
                  <a:srgbClr val="555555"/>
                </a:solidFill>
                <a:latin typeface="JetBrains Mono"/>
              </a:rPr>
              <a:t>arxiv.org/abs/2306.05420</a:t>
            </a:r>
          </a:p>
        </p:txBody>
      </p:sp>
      <p:sp>
        <p:nvSpPr>
          <p:cNvPr id="149" name="TextBox 148"/>
          <p:cNvSpPr txBox="1"/>
          <p:nvPr/>
        </p:nvSpPr>
        <p:spPr>
          <a:xfrm>
            <a:off x="26183828" y="21036795"/>
            <a:ext cx="5407174" cy="1025704"/>
          </a:xfrm>
          <a:prstGeom prst="rect">
            <a:avLst/>
          </a:prstGeom>
          <a:noFill/>
        </p:spPr>
        <p:txBody>
          <a:bodyPr wrap="square" lIns="71120" rIns="71120" tIns="53340" bIns="53340">
            <a:spAutoFit/>
          </a:bodyPr>
          <a:lstStyle/>
          <a:p>
            <a:pPr algn="l">
              <a:lnSpc>
                <a:spcPts val="5537"/>
              </a:lnSpc>
              <a:spcBef>
                <a:spcPts val="0"/>
              </a:spcBef>
              <a:spcAft>
                <a:spcPts val="0"/>
              </a:spcAft>
            </a:pPr>
            <a:r>
              <a:rPr sz="3819" b="1">
                <a:solidFill>
                  <a:srgbClr val="7D2860"/>
                </a:solidFill>
                <a:latin typeface="Arial"/>
              </a:rPr>
              <a:t>QM9 (Split 1)</a:t>
            </a:r>
          </a:p>
        </p:txBody>
      </p:sp>
      <p:sp>
        <p:nvSpPr>
          <p:cNvPr id="150" name="TextBox 149"/>
          <p:cNvSpPr txBox="1"/>
          <p:nvPr/>
        </p:nvSpPr>
        <p:spPr>
          <a:xfrm>
            <a:off x="31433512" y="21036795"/>
            <a:ext cx="1875549" cy="1025704"/>
          </a:xfrm>
          <a:prstGeom prst="rect">
            <a:avLst/>
          </a:prstGeom>
          <a:noFill/>
        </p:spPr>
        <p:txBody>
          <a:bodyPr wrap="none" lIns="71120" rIns="71120" tIns="53340" bIns="53340">
            <a:spAutoFit/>
          </a:bodyPr>
          <a:lstStyle/>
          <a:p>
            <a:pPr algn="ctr">
              <a:lnSpc>
                <a:spcPts val="5537"/>
              </a:lnSpc>
              <a:spcBef>
                <a:spcPts val="0"/>
              </a:spcBef>
              <a:spcAft>
                <a:spcPts val="0"/>
              </a:spcAft>
            </a:pPr>
            <a:r>
              <a:rPr sz="3819" b="1">
                <a:solidFill>
                  <a:srgbClr val="7D2860"/>
                </a:solidFill>
                <a:latin typeface="Arial"/>
              </a:rPr>
              <a:t>ϵ</a:t>
            </a:r>
            <a:r>
              <a:rPr sz="5346" b="1" baseline="-25000">
                <a:solidFill>
                  <a:srgbClr val="7D2860"/>
                </a:solidFill>
                <a:latin typeface="Arial"/>
              </a:rPr>
              <a:t>gap</a:t>
            </a:r>
          </a:p>
        </p:txBody>
      </p:sp>
      <p:sp>
        <p:nvSpPr>
          <p:cNvPr id="151" name="TextBox 150"/>
          <p:cNvSpPr txBox="1"/>
          <p:nvPr/>
        </p:nvSpPr>
        <p:spPr>
          <a:xfrm>
            <a:off x="33254434" y="21036795"/>
            <a:ext cx="2094451" cy="1025704"/>
          </a:xfrm>
          <a:prstGeom prst="rect">
            <a:avLst/>
          </a:prstGeom>
          <a:noFill/>
        </p:spPr>
        <p:txBody>
          <a:bodyPr wrap="none" lIns="71120" rIns="71120" tIns="53340" bIns="53340">
            <a:spAutoFit/>
          </a:bodyPr>
          <a:lstStyle/>
          <a:p>
            <a:pPr algn="ctr">
              <a:lnSpc>
                <a:spcPts val="5537"/>
              </a:lnSpc>
              <a:spcBef>
                <a:spcPts val="0"/>
              </a:spcBef>
              <a:spcAft>
                <a:spcPts val="0"/>
              </a:spcAft>
            </a:pPr>
            <a:r>
              <a:rPr sz="3819" b="1">
                <a:solidFill>
                  <a:srgbClr val="7D2860"/>
                </a:solidFill>
                <a:latin typeface="Arial"/>
              </a:rPr>
              <a:t>zpve</a:t>
            </a:r>
          </a:p>
        </p:txBody>
      </p:sp>
      <p:sp>
        <p:nvSpPr>
          <p:cNvPr id="152" name="TextBox 151"/>
          <p:cNvSpPr txBox="1"/>
          <p:nvPr/>
        </p:nvSpPr>
        <p:spPr>
          <a:xfrm>
            <a:off x="35287882" y="21036795"/>
            <a:ext cx="1864104" cy="1025704"/>
          </a:xfrm>
          <a:prstGeom prst="rect">
            <a:avLst/>
          </a:prstGeom>
          <a:noFill/>
        </p:spPr>
        <p:txBody>
          <a:bodyPr wrap="none" lIns="71120" rIns="71120" tIns="53340" bIns="53340">
            <a:spAutoFit/>
          </a:bodyPr>
          <a:lstStyle/>
          <a:p>
            <a:pPr algn="ctr">
              <a:lnSpc>
                <a:spcPts val="5537"/>
              </a:lnSpc>
              <a:spcBef>
                <a:spcPts val="0"/>
              </a:spcBef>
              <a:spcAft>
                <a:spcPts val="0"/>
              </a:spcAft>
            </a:pPr>
            <a:r>
              <a:rPr sz="3819" b="1">
                <a:solidFill>
                  <a:srgbClr val="7D2860"/>
                </a:solidFill>
                <a:latin typeface="Arial"/>
              </a:rPr>
              <a:t>U</a:t>
            </a:r>
            <a:r>
              <a:rPr sz="5346" b="1" baseline="-25000">
                <a:solidFill>
                  <a:srgbClr val="7D2860"/>
                </a:solidFill>
                <a:latin typeface="Arial"/>
              </a:rPr>
              <a:t>0</a:t>
            </a:r>
          </a:p>
        </p:txBody>
      </p:sp>
      <p:sp>
        <p:nvSpPr>
          <p:cNvPr id="153" name="TextBox 152"/>
          <p:cNvSpPr txBox="1"/>
          <p:nvPr/>
        </p:nvSpPr>
        <p:spPr>
          <a:xfrm>
            <a:off x="37097692" y="21036795"/>
            <a:ext cx="1864532" cy="1025704"/>
          </a:xfrm>
          <a:prstGeom prst="rect">
            <a:avLst/>
          </a:prstGeom>
          <a:noFill/>
        </p:spPr>
        <p:txBody>
          <a:bodyPr wrap="none" lIns="71120" rIns="71120" tIns="53340" bIns="53340">
            <a:spAutoFit/>
          </a:bodyPr>
          <a:lstStyle/>
          <a:p>
            <a:pPr algn="ctr">
              <a:lnSpc>
                <a:spcPts val="5537"/>
              </a:lnSpc>
              <a:spcBef>
                <a:spcPts val="0"/>
              </a:spcBef>
              <a:spcAft>
                <a:spcPts val="0"/>
              </a:spcAft>
            </a:pPr>
            <a:r>
              <a:rPr sz="3819" b="1">
                <a:solidFill>
                  <a:srgbClr val="7D2860"/>
                </a:solidFill>
                <a:latin typeface="Arial"/>
              </a:rPr>
              <a:t>H</a:t>
            </a:r>
          </a:p>
        </p:txBody>
      </p:sp>
      <p:sp>
        <p:nvSpPr>
          <p:cNvPr id="154" name="TextBox 153"/>
          <p:cNvSpPr txBox="1"/>
          <p:nvPr/>
        </p:nvSpPr>
        <p:spPr>
          <a:xfrm>
            <a:off x="26183828" y="21928712"/>
            <a:ext cx="5407174" cy="941680"/>
          </a:xfrm>
          <a:prstGeom prst="rect">
            <a:avLst/>
          </a:prstGeom>
          <a:noFill/>
        </p:spPr>
        <p:txBody>
          <a:bodyPr wrap="square" lIns="71120" rIns="71120" tIns="53340" bIns="53340">
            <a:spAutoFit/>
          </a:bodyPr>
          <a:lstStyle/>
          <a:p>
            <a:pPr algn="l">
              <a:lnSpc>
                <a:spcPts val="5537"/>
              </a:lnSpc>
              <a:spcBef>
                <a:spcPts val="0"/>
              </a:spcBef>
              <a:spcAft>
                <a:spcPts val="0"/>
              </a:spcAft>
            </a:pPr>
            <a:r>
              <a:rPr sz="3819" b="1">
                <a:solidFill>
                  <a:srgbClr val="1C1C1C"/>
                </a:solidFill>
                <a:latin typeface="Arial"/>
              </a:rPr>
              <a:t>DimeNet++</a:t>
            </a:r>
          </a:p>
        </p:txBody>
      </p:sp>
      <p:sp>
        <p:nvSpPr>
          <p:cNvPr id="155" name="TextBox 154"/>
          <p:cNvSpPr txBox="1"/>
          <p:nvPr/>
        </p:nvSpPr>
        <p:spPr>
          <a:xfrm>
            <a:off x="31433512" y="21928712"/>
            <a:ext cx="1875549" cy="941680"/>
          </a:xfrm>
          <a:prstGeom prst="rect">
            <a:avLst/>
          </a:prstGeom>
          <a:noFill/>
        </p:spPr>
        <p:txBody>
          <a:bodyPr wrap="none" lIns="71120" rIns="71120" tIns="53340" bIns="53340">
            <a:spAutoFit/>
          </a:bodyPr>
          <a:lstStyle/>
          <a:p>
            <a:pPr algn="ctr">
              <a:lnSpc>
                <a:spcPts val="5537"/>
              </a:lnSpc>
              <a:spcBef>
                <a:spcPts val="0"/>
              </a:spcBef>
              <a:spcAft>
                <a:spcPts val="0"/>
              </a:spcAft>
            </a:pPr>
            <a:r>
              <a:rPr sz="3819" b="0">
                <a:solidFill>
                  <a:srgbClr val="1C1C1C"/>
                </a:solidFill>
                <a:latin typeface="Arial"/>
              </a:rPr>
              <a:t>32.6</a:t>
            </a:r>
          </a:p>
        </p:txBody>
      </p:sp>
      <p:sp>
        <p:nvSpPr>
          <p:cNvPr id="156" name="TextBox 155"/>
          <p:cNvSpPr txBox="1"/>
          <p:nvPr/>
        </p:nvSpPr>
        <p:spPr>
          <a:xfrm>
            <a:off x="33254434" y="21928712"/>
            <a:ext cx="2094451" cy="941680"/>
          </a:xfrm>
          <a:prstGeom prst="rect">
            <a:avLst/>
          </a:prstGeom>
          <a:noFill/>
        </p:spPr>
        <p:txBody>
          <a:bodyPr wrap="none" lIns="71120" rIns="71120" tIns="53340" bIns="53340">
            <a:spAutoFit/>
          </a:bodyPr>
          <a:lstStyle/>
          <a:p>
            <a:pPr algn="ctr">
              <a:lnSpc>
                <a:spcPts val="5537"/>
              </a:lnSpc>
              <a:spcBef>
                <a:spcPts val="0"/>
              </a:spcBef>
              <a:spcAft>
                <a:spcPts val="0"/>
              </a:spcAft>
            </a:pPr>
            <a:r>
              <a:rPr sz="3819" b="0">
                <a:solidFill>
                  <a:srgbClr val="1C1C1C"/>
                </a:solidFill>
                <a:latin typeface="Arial"/>
              </a:rPr>
              <a:t>1.21</a:t>
            </a:r>
          </a:p>
        </p:txBody>
      </p:sp>
      <p:sp>
        <p:nvSpPr>
          <p:cNvPr id="157" name="TextBox 156"/>
          <p:cNvSpPr txBox="1"/>
          <p:nvPr/>
        </p:nvSpPr>
        <p:spPr>
          <a:xfrm>
            <a:off x="35287882" y="21928712"/>
            <a:ext cx="1864104" cy="941680"/>
          </a:xfrm>
          <a:prstGeom prst="rect">
            <a:avLst/>
          </a:prstGeom>
          <a:noFill/>
        </p:spPr>
        <p:txBody>
          <a:bodyPr wrap="none" lIns="71120" rIns="71120" tIns="53340" bIns="53340">
            <a:spAutoFit/>
          </a:bodyPr>
          <a:lstStyle/>
          <a:p>
            <a:pPr algn="ctr">
              <a:lnSpc>
                <a:spcPts val="5537"/>
              </a:lnSpc>
              <a:spcBef>
                <a:spcPts val="0"/>
              </a:spcBef>
              <a:spcAft>
                <a:spcPts val="0"/>
              </a:spcAft>
            </a:pPr>
            <a:r>
              <a:rPr sz="3819" b="0">
                <a:solidFill>
                  <a:srgbClr val="1C1C1C"/>
                </a:solidFill>
                <a:latin typeface="Arial"/>
              </a:rPr>
              <a:t>6.32</a:t>
            </a:r>
          </a:p>
        </p:txBody>
      </p:sp>
      <p:sp>
        <p:nvSpPr>
          <p:cNvPr id="158" name="TextBox 157"/>
          <p:cNvSpPr txBox="1"/>
          <p:nvPr/>
        </p:nvSpPr>
        <p:spPr>
          <a:xfrm>
            <a:off x="37097692" y="21928712"/>
            <a:ext cx="1864532" cy="941680"/>
          </a:xfrm>
          <a:prstGeom prst="rect">
            <a:avLst/>
          </a:prstGeom>
          <a:noFill/>
        </p:spPr>
        <p:txBody>
          <a:bodyPr wrap="none" lIns="71120" rIns="71120" tIns="53340" bIns="53340">
            <a:spAutoFit/>
          </a:bodyPr>
          <a:lstStyle/>
          <a:p>
            <a:pPr algn="ctr">
              <a:lnSpc>
                <a:spcPts val="5537"/>
              </a:lnSpc>
              <a:spcBef>
                <a:spcPts val="0"/>
              </a:spcBef>
              <a:spcAft>
                <a:spcPts val="0"/>
              </a:spcAft>
            </a:pPr>
            <a:r>
              <a:rPr sz="3819" b="0">
                <a:solidFill>
                  <a:srgbClr val="1C1C1C"/>
                </a:solidFill>
                <a:latin typeface="Arial"/>
              </a:rPr>
              <a:t>6.53</a:t>
            </a:r>
          </a:p>
        </p:txBody>
      </p:sp>
      <p:sp>
        <p:nvSpPr>
          <p:cNvPr id="159" name="TextBox 158"/>
          <p:cNvSpPr txBox="1"/>
          <p:nvPr/>
        </p:nvSpPr>
        <p:spPr>
          <a:xfrm>
            <a:off x="26183828" y="22747565"/>
            <a:ext cx="5407174" cy="941679"/>
          </a:xfrm>
          <a:prstGeom prst="rect">
            <a:avLst/>
          </a:prstGeom>
          <a:noFill/>
        </p:spPr>
        <p:txBody>
          <a:bodyPr wrap="square" lIns="71120" rIns="71120" tIns="53340" bIns="53340">
            <a:spAutoFit/>
          </a:bodyPr>
          <a:lstStyle/>
          <a:p>
            <a:pPr algn="l">
              <a:lnSpc>
                <a:spcPts val="5537"/>
              </a:lnSpc>
              <a:spcBef>
                <a:spcPts val="0"/>
              </a:spcBef>
              <a:spcAft>
                <a:spcPts val="0"/>
              </a:spcAft>
            </a:pPr>
            <a:r>
              <a:rPr sz="3819" b="1">
                <a:solidFill>
                  <a:srgbClr val="1C1C1C"/>
                </a:solidFill>
                <a:latin typeface="Arial"/>
              </a:rPr>
              <a:t>TorchMD-Net</a:t>
            </a:r>
          </a:p>
        </p:txBody>
      </p:sp>
      <p:sp>
        <p:nvSpPr>
          <p:cNvPr id="160" name="TextBox 159"/>
          <p:cNvSpPr txBox="1"/>
          <p:nvPr/>
        </p:nvSpPr>
        <p:spPr>
          <a:xfrm>
            <a:off x="31433512" y="22747565"/>
            <a:ext cx="1875549" cy="941679"/>
          </a:xfrm>
          <a:prstGeom prst="rect">
            <a:avLst/>
          </a:prstGeom>
          <a:noFill/>
        </p:spPr>
        <p:txBody>
          <a:bodyPr wrap="none" lIns="71120" rIns="71120" tIns="53340" bIns="53340">
            <a:spAutoFit/>
          </a:bodyPr>
          <a:lstStyle/>
          <a:p>
            <a:pPr algn="ctr">
              <a:lnSpc>
                <a:spcPts val="5537"/>
              </a:lnSpc>
              <a:spcBef>
                <a:spcPts val="0"/>
              </a:spcBef>
              <a:spcAft>
                <a:spcPts val="0"/>
              </a:spcAft>
            </a:pPr>
            <a:r>
              <a:rPr sz="3819" b="0">
                <a:solidFill>
                  <a:srgbClr val="1C1C1C"/>
                </a:solidFill>
                <a:latin typeface="Arial"/>
              </a:rPr>
              <a:t>36.1</a:t>
            </a:r>
          </a:p>
        </p:txBody>
      </p:sp>
      <p:sp>
        <p:nvSpPr>
          <p:cNvPr id="161" name="TextBox 160"/>
          <p:cNvSpPr txBox="1"/>
          <p:nvPr/>
        </p:nvSpPr>
        <p:spPr>
          <a:xfrm>
            <a:off x="33254434" y="22747565"/>
            <a:ext cx="2094451" cy="941679"/>
          </a:xfrm>
          <a:prstGeom prst="rect">
            <a:avLst/>
          </a:prstGeom>
          <a:noFill/>
        </p:spPr>
        <p:txBody>
          <a:bodyPr wrap="none" lIns="71120" rIns="71120" tIns="53340" bIns="53340">
            <a:spAutoFit/>
          </a:bodyPr>
          <a:lstStyle/>
          <a:p>
            <a:pPr algn="ctr">
              <a:lnSpc>
                <a:spcPts val="5537"/>
              </a:lnSpc>
              <a:spcBef>
                <a:spcPts val="0"/>
              </a:spcBef>
              <a:spcAft>
                <a:spcPts val="0"/>
              </a:spcAft>
            </a:pPr>
            <a:r>
              <a:rPr sz="3819" b="0">
                <a:solidFill>
                  <a:srgbClr val="1C1C1C"/>
                </a:solidFill>
                <a:latin typeface="Arial"/>
              </a:rPr>
              <a:t>1.84</a:t>
            </a:r>
          </a:p>
        </p:txBody>
      </p:sp>
      <p:sp>
        <p:nvSpPr>
          <p:cNvPr id="162" name="TextBox 161"/>
          <p:cNvSpPr txBox="1"/>
          <p:nvPr/>
        </p:nvSpPr>
        <p:spPr>
          <a:xfrm>
            <a:off x="35287882" y="22747565"/>
            <a:ext cx="1864104" cy="941679"/>
          </a:xfrm>
          <a:prstGeom prst="rect">
            <a:avLst/>
          </a:prstGeom>
          <a:noFill/>
        </p:spPr>
        <p:txBody>
          <a:bodyPr wrap="none" lIns="71120" rIns="71120" tIns="53340" bIns="53340">
            <a:spAutoFit/>
          </a:bodyPr>
          <a:lstStyle/>
          <a:p>
            <a:pPr algn="ctr">
              <a:lnSpc>
                <a:spcPts val="5537"/>
              </a:lnSpc>
              <a:spcBef>
                <a:spcPts val="0"/>
              </a:spcBef>
              <a:spcAft>
                <a:spcPts val="0"/>
              </a:spcAft>
            </a:pPr>
            <a:r>
              <a:rPr sz="3819" b="0">
                <a:solidFill>
                  <a:srgbClr val="1C1C1C"/>
                </a:solidFill>
                <a:latin typeface="Arial"/>
              </a:rPr>
              <a:t>6.15</a:t>
            </a:r>
          </a:p>
        </p:txBody>
      </p:sp>
      <p:sp>
        <p:nvSpPr>
          <p:cNvPr id="163" name="TextBox 162"/>
          <p:cNvSpPr txBox="1"/>
          <p:nvPr/>
        </p:nvSpPr>
        <p:spPr>
          <a:xfrm>
            <a:off x="37097692" y="22747565"/>
            <a:ext cx="1864532" cy="941679"/>
          </a:xfrm>
          <a:prstGeom prst="rect">
            <a:avLst/>
          </a:prstGeom>
          <a:noFill/>
        </p:spPr>
        <p:txBody>
          <a:bodyPr wrap="none" lIns="71120" rIns="71120" tIns="53340" bIns="53340">
            <a:spAutoFit/>
          </a:bodyPr>
          <a:lstStyle/>
          <a:p>
            <a:pPr algn="ctr">
              <a:lnSpc>
                <a:spcPts val="5537"/>
              </a:lnSpc>
              <a:spcBef>
                <a:spcPts val="0"/>
              </a:spcBef>
              <a:spcAft>
                <a:spcPts val="0"/>
              </a:spcAft>
            </a:pPr>
            <a:r>
              <a:rPr sz="3819" b="0">
                <a:solidFill>
                  <a:srgbClr val="1C1C1C"/>
                </a:solidFill>
                <a:latin typeface="Arial"/>
              </a:rPr>
              <a:t>6.16</a:t>
            </a:r>
          </a:p>
        </p:txBody>
      </p:sp>
      <p:sp>
        <p:nvSpPr>
          <p:cNvPr id="164" name="TextBox 163"/>
          <p:cNvSpPr txBox="1"/>
          <p:nvPr/>
        </p:nvSpPr>
        <p:spPr>
          <a:xfrm>
            <a:off x="26183828" y="23566417"/>
            <a:ext cx="5407174" cy="941680"/>
          </a:xfrm>
          <a:prstGeom prst="rect">
            <a:avLst/>
          </a:prstGeom>
          <a:noFill/>
        </p:spPr>
        <p:txBody>
          <a:bodyPr wrap="none" lIns="71120" rIns="71120" tIns="53340" bIns="53340">
            <a:spAutoFit/>
          </a:bodyPr>
          <a:lstStyle/>
          <a:p>
            <a:pPr algn="l">
              <a:lnSpc>
                <a:spcPts val="5537"/>
              </a:lnSpc>
              <a:spcBef>
                <a:spcPts val="0"/>
              </a:spcBef>
              <a:spcAft>
                <a:spcPts val="0"/>
              </a:spcAft>
            </a:pPr>
            <a:r>
              <a:rPr sz="3819" b="1">
                <a:solidFill>
                  <a:srgbClr val="7D2860"/>
                </a:solidFill>
                <a:latin typeface="Arial"/>
              </a:rPr>
              <a:t>Ours</a:t>
            </a:r>
          </a:p>
        </p:txBody>
      </p:sp>
      <p:sp>
        <p:nvSpPr>
          <p:cNvPr id="165" name="TextBox 164"/>
          <p:cNvSpPr txBox="1"/>
          <p:nvPr/>
        </p:nvSpPr>
        <p:spPr>
          <a:xfrm>
            <a:off x="31433512" y="23566417"/>
            <a:ext cx="1875549" cy="941680"/>
          </a:xfrm>
          <a:prstGeom prst="rect">
            <a:avLst/>
          </a:prstGeom>
          <a:noFill/>
        </p:spPr>
        <p:txBody>
          <a:bodyPr wrap="none" lIns="71120" rIns="71120" tIns="53340" bIns="53340">
            <a:spAutoFit/>
          </a:bodyPr>
          <a:lstStyle/>
          <a:p>
            <a:pPr algn="ctr">
              <a:lnSpc>
                <a:spcPts val="5537"/>
              </a:lnSpc>
              <a:spcBef>
                <a:spcPts val="0"/>
              </a:spcBef>
              <a:spcAft>
                <a:spcPts val="0"/>
              </a:spcAft>
            </a:pPr>
            <a:r>
              <a:rPr sz="3819" b="1">
                <a:solidFill>
                  <a:srgbClr val="7D2860"/>
                </a:solidFill>
                <a:latin typeface="Arial"/>
              </a:rPr>
              <a:t>28.8</a:t>
            </a:r>
          </a:p>
        </p:txBody>
      </p:sp>
      <p:sp>
        <p:nvSpPr>
          <p:cNvPr id="166" name="TextBox 165"/>
          <p:cNvSpPr txBox="1"/>
          <p:nvPr/>
        </p:nvSpPr>
        <p:spPr>
          <a:xfrm>
            <a:off x="33254434" y="23566417"/>
            <a:ext cx="2094451" cy="941680"/>
          </a:xfrm>
          <a:prstGeom prst="rect">
            <a:avLst/>
          </a:prstGeom>
          <a:noFill/>
        </p:spPr>
        <p:txBody>
          <a:bodyPr wrap="none" lIns="71120" rIns="71120" tIns="53340" bIns="53340">
            <a:spAutoFit/>
          </a:bodyPr>
          <a:lstStyle/>
          <a:p>
            <a:pPr algn="ctr">
              <a:lnSpc>
                <a:spcPts val="5537"/>
              </a:lnSpc>
              <a:spcBef>
                <a:spcPts val="0"/>
              </a:spcBef>
              <a:spcAft>
                <a:spcPts val="0"/>
              </a:spcAft>
            </a:pPr>
            <a:r>
              <a:rPr sz="3819" b="1">
                <a:solidFill>
                  <a:srgbClr val="7D2860"/>
                </a:solidFill>
                <a:latin typeface="Arial"/>
              </a:rPr>
              <a:t>1.15</a:t>
            </a:r>
          </a:p>
        </p:txBody>
      </p:sp>
      <p:sp>
        <p:nvSpPr>
          <p:cNvPr id="167" name="TextBox 166"/>
          <p:cNvSpPr txBox="1"/>
          <p:nvPr/>
        </p:nvSpPr>
        <p:spPr>
          <a:xfrm>
            <a:off x="35287882" y="23566417"/>
            <a:ext cx="1864104" cy="941680"/>
          </a:xfrm>
          <a:prstGeom prst="rect">
            <a:avLst/>
          </a:prstGeom>
          <a:noFill/>
        </p:spPr>
        <p:txBody>
          <a:bodyPr wrap="none" lIns="71120" rIns="71120" tIns="53340" bIns="53340">
            <a:spAutoFit/>
          </a:bodyPr>
          <a:lstStyle/>
          <a:p>
            <a:pPr algn="ctr">
              <a:lnSpc>
                <a:spcPts val="5537"/>
              </a:lnSpc>
              <a:spcBef>
                <a:spcPts val="0"/>
              </a:spcBef>
              <a:spcAft>
                <a:spcPts val="0"/>
              </a:spcAft>
            </a:pPr>
            <a:r>
              <a:rPr sz="3819" b="1">
                <a:solidFill>
                  <a:srgbClr val="7D2860"/>
                </a:solidFill>
                <a:latin typeface="Arial"/>
              </a:rPr>
              <a:t>5.65</a:t>
            </a:r>
          </a:p>
        </p:txBody>
      </p:sp>
      <p:sp>
        <p:nvSpPr>
          <p:cNvPr id="168" name="TextBox 167"/>
          <p:cNvSpPr txBox="1"/>
          <p:nvPr/>
        </p:nvSpPr>
        <p:spPr>
          <a:xfrm>
            <a:off x="37097692" y="23566417"/>
            <a:ext cx="1864532" cy="941680"/>
          </a:xfrm>
          <a:prstGeom prst="rect">
            <a:avLst/>
          </a:prstGeom>
          <a:noFill/>
        </p:spPr>
        <p:txBody>
          <a:bodyPr wrap="none" lIns="71120" rIns="71120" tIns="53340" bIns="53340">
            <a:spAutoFit/>
          </a:bodyPr>
          <a:lstStyle/>
          <a:p>
            <a:pPr algn="ctr">
              <a:lnSpc>
                <a:spcPts val="5537"/>
              </a:lnSpc>
              <a:spcBef>
                <a:spcPts val="0"/>
              </a:spcBef>
              <a:spcAft>
                <a:spcPts val="0"/>
              </a:spcAft>
            </a:pPr>
            <a:r>
              <a:rPr sz="3819" b="1">
                <a:solidFill>
                  <a:srgbClr val="7D2860"/>
                </a:solidFill>
                <a:latin typeface="Arial"/>
              </a:rPr>
              <a:t>5.69</a:t>
            </a:r>
          </a:p>
        </p:txBody>
      </p:sp>
      <p:pic>
        <p:nvPicPr>
          <p:cNvPr id="169" name="Picture 168" descr="eq0.png"/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22118042" y="12423080"/>
            <a:ext cx="6970038" cy="800100"/>
          </a:xfrm>
          <a:prstGeom prst="rect">
            <a:avLst/>
          </a:prstGeom>
        </p:spPr>
      </p:pic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
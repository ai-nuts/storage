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Deep networks memorize training data, and memorization ties to generalization and privacy. Feldman's memorization score is rigorous but costly, while input loss curvature is a cheap proxy nobody could justify. This Purdue ICML 2024 paper builds the missing theory linking memorization, curvature, and differential privacy on CIFAR and ImageNet.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Deep networks memorize training data, which matters for generalization, noisy learning, and privacy leakage. Feldman's memorization score quantifies this rigorously but is far too expensive. Input loss curvature, the trace of the input-loss Hessian, tracks memorization roughly a thousand times cheaper, yet the connection was purely empirical, with no theory linking either to differential privacy.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Proving curvature bounds memorization would license the cheap proxy over the expensive score. Because memorization is a privacy risk, linking differential privacy to curvature explains why privacy reduces leakage. Unlike influence functions, which assume Hessian convexity that fails for deep nets, this framework needs no such assumptions.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proves three links in a triangle connecting memorization, input loss curvature, and differential privacy. First, curvature upper-bounds memorization. Second, the privacy parameter upper-bounds average curvature. Third, privacy bounds memorization directly. None assume Hessian convexity, so they hold for real deep networks, and all three are validated empirically.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theory starts from a second-order Nesterov-Polyak expansion of the loss, introducing the input Hessian. A zero-mean perturbation cancels first-order terms, and taking expectations bounds memorization by expected curvature plus a data-independent offset. With the definition of differential privacy, a smaller epsilon forces lower curvature. Curvature itself is estimated cheaply via Hutchinson's trace estimator.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Validation uses CIFAR10, CIFAR100, and ImageNet. Memorization relies on Feldman and Zhang's precomputed scores and ensembles, a thousand models on CIFAR100 and a hundred on ImageNet, using Small Inception and ResNet50. Privacy experiments train ResNet18 with DP-SGD across several budgets.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Every prediction holds. Memorization plotted against input loss curvature shows a strong linear trend on CIFAR100 and ImageNet, especially clean on ImageNet. Stronger privacy drives curvature down along the predicted curve, and for the most-memorized examples, memorization rises with the privacy budget while staying under the theoretical bound.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Curvature uses Hutchinson's trace estimator with step 1e-3 and ten Rademacher vectors, cheap enough to run at scale. Privacy sweeps epsilon over one, ten, twenty, thirty, forty, and fifty at delta 1e-5, averaging ten seeds. The five hundred most-memorized CIFAR100 examples collapse under strong privacy and recover as epsilon grows.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few numbers capture the work. Input loss curvature is about three orders of magnitude cheaper than the Feldman score. Ground truth averages a thousand models on CIFAR100 and a hundred on ImageNet. Privacy sweeps epsilon from one to fifty at delta 1e-5. Three theorems tie the triangle together.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empirical curvature-memorization link now rests on firm theory. Curvature provably upper-bounds memorization and is itself bounded by the differential privacy parameter, closing the triangle. Needing no Hessian-convexity assumptions, it applies to real deep networks, so cheap curvature is a justified proxy, and privacy provably suppresses both.</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cefb487ce6441745.png"/><Relationship Id="rId3" Type="http://schemas.openxmlformats.org/officeDocument/2006/relationships/image" Target="../media/image_f115979b753aa7ab.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ea5dfa0e0d172120.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afd385d17f4092ea.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e22384fa5485025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980ea94aad6d384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f115979b753aa7ab.png"/><Relationship Id="rId3" Type="http://schemas.openxmlformats.org/officeDocument/2006/relationships/image" Target="../media/image_2248f5b0d3737d93.png"/><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33350" cy="6858000"/>
            </a:xfrm>
            <a:prstGeom prst="rect">
              <a:avLst/>
            </a:prstGeom>
            <a:solidFill>
              <a:schemeClr val="accent2"/>
            </a:solidFill>
            <a:ln>
              <a:noFill/>
            </a:ln>
          </p:spPr>
        </p:sp>
      </p:grpSp>
      <p:grpSp>
        <p:nvGrpSpPr>
          <p:cNvPr id="11" name="Group 11"/>
          <p:cNvGrpSpPr/>
          <p:nvPr/>
        </p:nvGrpSpPr>
        <p:grpSpPr>
          <a:xfrm>
            <a:off x="896874" y="1029652"/>
            <a:ext cx="8468563" cy="2421732"/>
            <a:chOff x="896874" y="1029652"/>
            <a:chExt cx="8468563" cy="2421732"/>
          </a:xfrm>
        </p:grpSpPr>
        <p:sp>
          <p:nvSpPr>
            <p:cNvPr id="5" name="TextBox 5"/>
            <p:cNvSpPr txBox="1"/>
            <p:nvPr/>
          </p:nvSpPr>
          <p:spPr>
            <a:xfrm>
              <a:off x="909066" y="1029652"/>
              <a:ext cx="4751823" cy="205359"/>
            </a:xfrm>
            <a:prstGeom prst="rect">
              <a:avLst/>
            </a:prstGeom>
            <a:noFill/>
            <a:ln>
              <a:noFill/>
            </a:ln>
          </p:spPr>
          <p:txBody>
            <a:bodyPr wrap="none" lIns="0" tIns="0" rIns="0" bIns="0" anchor="t" anchorCtr="0">
              <a:spAutoFit/>
            </a:bodyPr>
            <a:lstStyle/>
            <a:p>
              <a:pPr algn="l"/>
              <a:r>
                <a:rPr lang="en-US" sz="1050" b="1" spc="150" dirty="0">
                  <a:solidFill>
                    <a:schemeClr val="accent2"/>
                  </a:solidFill>
                  <a:latin typeface="+mn-lt"/>
                  <a:ea typeface="+mn-ea"/>
                  <a:cs typeface="+mn-cs"/>
                </a:rPr>
                <a:t>ICML 2024 · PURDUE UNIVERSITY · arXiv:2402.18726</a:t>
              </a:r>
            </a:p>
          </p:txBody>
        </p:sp>
        <p:sp>
          <p:nvSpPr>
            <p:cNvPr id="6" name="TextBox 6"/>
            <p:cNvSpPr txBox="1"/>
            <p:nvPr/>
          </p:nvSpPr>
          <p:spPr>
            <a:xfrm>
              <a:off x="896874" y="1437322"/>
              <a:ext cx="8468563" cy="674751"/>
            </a:xfrm>
            <a:prstGeom prst="rect">
              <a:avLst/>
            </a:prstGeom>
            <a:noFill/>
            <a:ln>
              <a:noFill/>
            </a:ln>
          </p:spPr>
          <p:txBody>
            <a:bodyPr wrap="none" lIns="0" tIns="0" rIns="0" bIns="0" anchor="t" anchorCtr="0">
              <a:spAutoFit/>
            </a:bodyPr>
            <a:lstStyle/>
            <a:p>
              <a:pPr algn="l"/>
              <a:r>
                <a:rPr lang="en-US" sz="3450" b="1" dirty="0">
                  <a:solidFill>
                    <a:schemeClr val="dk1"/>
                  </a:solidFill>
                  <a:latin typeface="+mj-lt"/>
                  <a:ea typeface="+mj-ea"/>
                  <a:cs typeface="+mj-cs"/>
                </a:rPr>
                <a:t>Unveiling Privacy, Memorization,</a:t>
              </a:r>
            </a:p>
          </p:txBody>
        </p:sp>
        <p:sp>
          <p:nvSpPr>
            <p:cNvPr id="7" name="TextBox 7"/>
            <p:cNvSpPr txBox="1"/>
            <p:nvPr/>
          </p:nvSpPr>
          <p:spPr>
            <a:xfrm>
              <a:off x="896874" y="1951672"/>
              <a:ext cx="6664062" cy="674751"/>
            </a:xfrm>
            <a:prstGeom prst="rect">
              <a:avLst/>
            </a:prstGeom>
            <a:noFill/>
            <a:ln>
              <a:noFill/>
            </a:ln>
          </p:spPr>
          <p:txBody>
            <a:bodyPr wrap="none" lIns="0" tIns="0" rIns="0" bIns="0" anchor="t" anchorCtr="0">
              <a:spAutoFit/>
            </a:bodyPr>
            <a:lstStyle/>
            <a:p>
              <a:pPr algn="l"/>
              <a:r>
                <a:rPr lang="en-US" sz="3450" b="1" dirty="0">
                  <a:solidFill>
                    <a:schemeClr val="dk1"/>
                  </a:solidFill>
                  <a:latin typeface="+mj-lt"/>
                  <a:ea typeface="+mj-ea"/>
                  <a:cs typeface="+mj-cs"/>
                </a:rPr>
                <a:t>and Input Curvature Links</a:t>
              </a:r>
            </a:p>
          </p:txBody>
        </p:sp>
        <p:sp>
          <p:nvSpPr>
            <p:cNvPr id="8" name="TextBox 8"/>
            <p:cNvSpPr txBox="1"/>
            <p:nvPr/>
          </p:nvSpPr>
          <p:spPr>
            <a:xfrm>
              <a:off x="907542" y="2616518"/>
              <a:ext cx="443587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 rigorous theory bounding memorization by cheap</a:t>
              </a:r>
            </a:p>
          </p:txBody>
        </p:sp>
        <p:sp>
          <p:nvSpPr>
            <p:cNvPr id="9" name="TextBox 9"/>
            <p:cNvSpPr txBox="1"/>
            <p:nvPr/>
          </p:nvSpPr>
          <p:spPr>
            <a:xfrm>
              <a:off x="907542" y="2864168"/>
              <a:ext cx="497513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input loss curvature — and both by differential privacy.</a:t>
              </a:r>
            </a:p>
          </p:txBody>
        </p:sp>
        <p:sp>
          <p:nvSpPr>
            <p:cNvPr id="10" name="TextBox 10"/>
            <p:cNvSpPr txBox="1"/>
            <p:nvPr/>
          </p:nvSpPr>
          <p:spPr>
            <a:xfrm>
              <a:off x="908685" y="3231356"/>
              <a:ext cx="5239274" cy="220028"/>
            </a:xfrm>
            <a:prstGeom prst="rect">
              <a:avLst/>
            </a:prstGeom>
            <a:noFill/>
            <a:ln>
              <a:noFill/>
            </a:ln>
          </p:spPr>
          <p:txBody>
            <a:bodyPr wrap="none" lIns="0" tIns="0" rIns="0" bIns="0" anchor="t" anchorCtr="0">
              <a:spAutoFit/>
            </a:bodyPr>
            <a:lstStyle/>
            <a:p>
              <a:pPr algn="l"/>
              <a:r>
                <a:rPr lang="en-US" sz="1120" dirty="0">
                  <a:solidFill>
                    <a:srgbClr val="8A94A8"/>
                  </a:solidFill>
                  <a:latin typeface="+mn-lt"/>
                  <a:ea typeface="+mn-ea"/>
                  <a:cs typeface="+mn-cs"/>
                </a:rPr>
                <a:t>Deepak Ravikumar · Efstathia Soufleri · Abolfazl Hashemi · Kaushik Roy</a:t>
              </a:r>
            </a:p>
          </p:txBody>
        </p:sp>
      </p:grpSp>
      <p:grpSp>
        <p:nvGrpSpPr>
          <p:cNvPr id="16" name="Group 16"/>
          <p:cNvGrpSpPr/>
          <p:nvPr/>
        </p:nvGrpSpPr>
        <p:grpSpPr>
          <a:xfrm>
            <a:off x="9525000" y="515302"/>
            <a:ext cx="2000250" cy="2764155"/>
            <a:chOff x="9525000" y="515302"/>
            <a:chExt cx="2000250" cy="2764155"/>
          </a:xfrm>
        </p:grpSpPr>
        <p:pic>
          <p:nvPicPr>
            <p:cNvPr id="12" name="Image 12"/>
            <p:cNvPicPr>
              <a:picLocks noChangeAspect="1"/>
            </p:cNvPicPr>
            <p:nvPr/>
          </p:nvPicPr>
          <p:blipFill>
            <a:blip r:embed="rId2"/>
            <a:stretch>
              <a:fillRect/>
            </a:stretch>
          </p:blipFill>
          <p:spPr>
            <a:xfrm>
              <a:off x="9525000" y="515302"/>
              <a:ext cx="1676400" cy="302895"/>
            </a:xfrm>
            <a:prstGeom prst="rect">
              <a:avLst/>
            </a:prstGeom>
          </p:spPr>
        </p:pic>
        <p:sp>
          <p:nvSpPr>
            <p:cNvPr id="13" name="Rectangle 13"/>
            <p:cNvSpPr/>
            <p:nvPr/>
          </p:nvSpPr>
          <p:spPr>
            <a:xfrm>
              <a:off x="9601200" y="1047750"/>
              <a:ext cx="1924050" cy="1924050"/>
            </a:xfrm>
            <a:prstGeom prst="roundRect">
              <a:avLst>
                <a:gd name="adj" fmla="val 5941"/>
              </a:avLst>
            </a:prstGeom>
            <a:solidFill>
              <a:schemeClr val="lt1"/>
            </a:solidFill>
            <a:ln w="14288">
              <a:solidFill>
                <a:schemeClr val="accent4"/>
              </a:solidFill>
            </a:ln>
            <a:effectLst>
              <a:outerShdw blurRad="76200" dist="19050" dir="5400000" algn="ctr" rotWithShape="0">
                <a:srgbClr val="16213E">
                  <a:alpha val="7500"/>
                </a:srgbClr>
              </a:outerShdw>
            </a:effectLst>
          </p:spPr>
        </p:sp>
        <p:pic>
          <p:nvPicPr>
            <p:cNvPr id="14" name="Image 14"/>
            <p:cNvPicPr>
              <a:picLocks noChangeAspect="1"/>
            </p:cNvPicPr>
            <p:nvPr/>
          </p:nvPicPr>
          <p:blipFill>
            <a:blip r:embed="rId3"/>
            <a:stretch>
              <a:fillRect/>
            </a:stretch>
          </p:blipFill>
          <p:spPr>
            <a:xfrm>
              <a:off x="9686925" y="1133475"/>
              <a:ext cx="1752600" cy="1752600"/>
            </a:xfrm>
            <a:prstGeom prst="rect">
              <a:avLst/>
            </a:prstGeom>
          </p:spPr>
        </p:pic>
        <p:sp>
          <p:nvSpPr>
            <p:cNvPr id="15" name="TextBox 15"/>
            <p:cNvSpPr txBox="1"/>
            <p:nvPr/>
          </p:nvSpPr>
          <p:spPr>
            <a:xfrm>
              <a:off x="10184282" y="3103245"/>
              <a:ext cx="757885" cy="176212"/>
            </a:xfrm>
            <a:prstGeom prst="rect">
              <a:avLst/>
            </a:prstGeom>
            <a:noFill/>
            <a:ln>
              <a:noFill/>
            </a:ln>
          </p:spPr>
          <p:txBody>
            <a:bodyPr wrap="none" lIns="0" tIns="0" rIns="0" bIns="0" anchor="t" anchorCtr="0">
              <a:spAutoFit/>
            </a:bodyPr>
            <a:lstStyle/>
            <a:p>
              <a:pPr algn="ctr"/>
              <a:r>
                <a:rPr lang="en-US" sz="900" dirty="0">
                  <a:solidFill>
                    <a:srgbClr val="8A94A8"/>
                  </a:solidFill>
                  <a:latin typeface="+mn-lt"/>
                  <a:ea typeface="+mn-ea"/>
                  <a:cs typeface="+mn-cs"/>
                </a:rPr>
                <a:t>Scan · Paper</a:t>
              </a:r>
            </a:p>
          </p:txBody>
        </p:sp>
      </p:grpSp>
      <p:grpSp>
        <p:nvGrpSpPr>
          <p:cNvPr id="25" name="Group 25"/>
          <p:cNvGrpSpPr/>
          <p:nvPr/>
        </p:nvGrpSpPr>
        <p:grpSpPr>
          <a:xfrm>
            <a:off x="914400" y="3867150"/>
            <a:ext cx="3632713" cy="1866900"/>
            <a:chOff x="914400" y="3867150"/>
            <a:chExt cx="3632713" cy="1866900"/>
          </a:xfrm>
        </p:grpSpPr>
        <p:sp>
          <p:nvSpPr>
            <p:cNvPr id="17" name="Rectangle 17"/>
            <p:cNvSpPr/>
            <p:nvPr/>
          </p:nvSpPr>
          <p:spPr>
            <a:xfrm>
              <a:off x="914400" y="3867150"/>
              <a:ext cx="3352800" cy="1866900"/>
            </a:xfrm>
            <a:prstGeom prst="roundRect">
              <a:avLst>
                <a:gd name="adj" fmla="val 7143"/>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18" name="Rectangle 18"/>
            <p:cNvSpPr/>
            <p:nvPr/>
          </p:nvSpPr>
          <p:spPr>
            <a:xfrm>
              <a:off x="914400" y="3867150"/>
              <a:ext cx="3352800" cy="66675"/>
            </a:xfrm>
            <a:prstGeom prst="rect">
              <a:avLst/>
            </a:prstGeom>
            <a:solidFill>
              <a:schemeClr val="accent5"/>
            </a:solidFill>
            <a:ln>
              <a:noFill/>
            </a:ln>
          </p:spPr>
        </p:sp>
        <p:sp>
          <p:nvSpPr>
            <p:cNvPr id="19" name="Rectangle 19"/>
            <p:cNvSpPr/>
            <p:nvPr/>
          </p:nvSpPr>
          <p:spPr>
            <a:xfrm>
              <a:off x="914400" y="3867150"/>
              <a:ext cx="66675" cy="1866900"/>
            </a:xfrm>
            <a:prstGeom prst="rect">
              <a:avLst/>
            </a:prstGeom>
            <a:solidFill>
              <a:schemeClr val="accent5"/>
            </a:solidFill>
            <a:ln>
              <a:noFill/>
            </a:ln>
          </p:spPr>
        </p:sp>
        <p:sp>
          <p:nvSpPr>
            <p:cNvPr id="20" name="TextBox 20"/>
            <p:cNvSpPr txBox="1"/>
            <p:nvPr/>
          </p:nvSpPr>
          <p:spPr>
            <a:xfrm>
              <a:off x="1176147" y="4200049"/>
              <a:ext cx="1254520" cy="190690"/>
            </a:xfrm>
            <a:prstGeom prst="rect">
              <a:avLst/>
            </a:prstGeom>
            <a:noFill/>
            <a:ln>
              <a:noFill/>
            </a:ln>
          </p:spPr>
          <p:txBody>
            <a:bodyPr wrap="none" lIns="0" tIns="0" rIns="0" bIns="0" anchor="t" anchorCtr="0">
              <a:spAutoFit/>
            </a:bodyPr>
            <a:lstStyle/>
            <a:p>
              <a:pPr algn="l"/>
              <a:r>
                <a:rPr lang="en-US" sz="980" b="1" spc="150" dirty="0">
                  <a:solidFill>
                    <a:schemeClr val="accent6"/>
                  </a:solidFill>
                  <a:latin typeface="+mn-lt"/>
                  <a:ea typeface="+mn-ea"/>
                  <a:cs typeface="+mn-cs"/>
                </a:rPr>
                <a:t>MEMORIZATION</a:t>
              </a:r>
            </a:p>
          </p:txBody>
        </p:sp>
        <p:sp>
          <p:nvSpPr>
            <p:cNvPr id="21" name="TextBox 21"/>
            <p:cNvSpPr txBox="1"/>
            <p:nvPr/>
          </p:nvSpPr>
          <p:spPr>
            <a:xfrm>
              <a:off x="1173861" y="4494371"/>
              <a:ext cx="337325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Networks memorize training data.</a:t>
              </a:r>
            </a:p>
          </p:txBody>
        </p:sp>
        <p:sp>
          <p:nvSpPr>
            <p:cNvPr id="22" name="TextBox 22"/>
            <p:cNvSpPr txBox="1"/>
            <p:nvPr/>
          </p:nvSpPr>
          <p:spPr>
            <a:xfrm>
              <a:off x="1175385" y="4850606"/>
              <a:ext cx="217975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Memorization ties directly to</a:t>
              </a:r>
            </a:p>
          </p:txBody>
        </p:sp>
        <p:sp>
          <p:nvSpPr>
            <p:cNvPr id="23" name="TextBox 23"/>
            <p:cNvSpPr txBox="1"/>
            <p:nvPr/>
          </p:nvSpPr>
          <p:spPr>
            <a:xfrm>
              <a:off x="1175385" y="5088731"/>
              <a:ext cx="228058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generalization, noisy learning,</a:t>
              </a:r>
            </a:p>
          </p:txBody>
        </p:sp>
        <p:sp>
          <p:nvSpPr>
            <p:cNvPr id="24" name="TextBox 24"/>
            <p:cNvSpPr txBox="1"/>
            <p:nvPr/>
          </p:nvSpPr>
          <p:spPr>
            <a:xfrm>
              <a:off x="1175385" y="5326856"/>
              <a:ext cx="151917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and privacy leakage.</a:t>
              </a:r>
            </a:p>
          </p:txBody>
        </p:sp>
      </p:grpSp>
      <p:grpSp>
        <p:nvGrpSpPr>
          <p:cNvPr id="34" name="Group 34"/>
          <p:cNvGrpSpPr/>
          <p:nvPr/>
        </p:nvGrpSpPr>
        <p:grpSpPr>
          <a:xfrm>
            <a:off x="4533900" y="3867150"/>
            <a:ext cx="3552772" cy="1866900"/>
            <a:chOff x="4533900" y="3867150"/>
            <a:chExt cx="3552772" cy="1866900"/>
          </a:xfrm>
        </p:grpSpPr>
        <p:sp>
          <p:nvSpPr>
            <p:cNvPr id="26" name="Rectangle 26"/>
            <p:cNvSpPr/>
            <p:nvPr/>
          </p:nvSpPr>
          <p:spPr>
            <a:xfrm>
              <a:off x="4533900" y="3867150"/>
              <a:ext cx="3352800" cy="1866900"/>
            </a:xfrm>
            <a:prstGeom prst="roundRect">
              <a:avLst>
                <a:gd name="adj" fmla="val 7143"/>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27" name="Rectangle 27"/>
            <p:cNvSpPr/>
            <p:nvPr/>
          </p:nvSpPr>
          <p:spPr>
            <a:xfrm>
              <a:off x="4533900" y="3867150"/>
              <a:ext cx="3352800" cy="66675"/>
            </a:xfrm>
            <a:prstGeom prst="rect">
              <a:avLst/>
            </a:prstGeom>
            <a:solidFill>
              <a:schemeClr val="accent2"/>
            </a:solidFill>
            <a:ln>
              <a:noFill/>
            </a:ln>
          </p:spPr>
        </p:sp>
        <p:sp>
          <p:nvSpPr>
            <p:cNvPr id="28" name="Rectangle 28"/>
            <p:cNvSpPr/>
            <p:nvPr/>
          </p:nvSpPr>
          <p:spPr>
            <a:xfrm>
              <a:off x="4533900" y="3867150"/>
              <a:ext cx="66675" cy="1866900"/>
            </a:xfrm>
            <a:prstGeom prst="rect">
              <a:avLst/>
            </a:prstGeom>
            <a:solidFill>
              <a:schemeClr val="accent2"/>
            </a:solidFill>
            <a:ln>
              <a:noFill/>
            </a:ln>
          </p:spPr>
        </p:sp>
        <p:sp>
          <p:nvSpPr>
            <p:cNvPr id="29" name="TextBox 29"/>
            <p:cNvSpPr txBox="1"/>
            <p:nvPr/>
          </p:nvSpPr>
          <p:spPr>
            <a:xfrm>
              <a:off x="4795647" y="4200049"/>
              <a:ext cx="795946" cy="190690"/>
            </a:xfrm>
            <a:prstGeom prst="rect">
              <a:avLst/>
            </a:prstGeom>
            <a:noFill/>
            <a:ln>
              <a:noFill/>
            </a:ln>
          </p:spPr>
          <p:txBody>
            <a:bodyPr wrap="none" lIns="0" tIns="0" rIns="0" bIns="0" anchor="t" anchorCtr="0">
              <a:spAutoFit/>
            </a:bodyPr>
            <a:lstStyle/>
            <a:p>
              <a:pPr algn="l"/>
              <a:r>
                <a:rPr lang="en-US" sz="980" b="1" spc="150" dirty="0">
                  <a:solidFill>
                    <a:srgbClr val="2450A8"/>
                  </a:solidFill>
                  <a:latin typeface="+mn-lt"/>
                  <a:ea typeface="+mn-ea"/>
                  <a:cs typeface="+mn-cs"/>
                </a:rPr>
                <a:t>COST GAP</a:t>
              </a:r>
            </a:p>
          </p:txBody>
        </p:sp>
        <p:sp>
          <p:nvSpPr>
            <p:cNvPr id="30" name="TextBox 30"/>
            <p:cNvSpPr txBox="1"/>
            <p:nvPr/>
          </p:nvSpPr>
          <p:spPr>
            <a:xfrm>
              <a:off x="4793361" y="4494371"/>
              <a:ext cx="329331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Feldman score: rigorous, costly.</a:t>
              </a:r>
            </a:p>
          </p:txBody>
        </p:sp>
        <p:sp>
          <p:nvSpPr>
            <p:cNvPr id="31" name="TextBox 31"/>
            <p:cNvSpPr txBox="1"/>
            <p:nvPr/>
          </p:nvSpPr>
          <p:spPr>
            <a:xfrm>
              <a:off x="4794885" y="4850606"/>
              <a:ext cx="228552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Input loss curvature is a cheap</a:t>
              </a:r>
            </a:p>
          </p:txBody>
        </p:sp>
        <p:sp>
          <p:nvSpPr>
            <p:cNvPr id="32" name="TextBox 32"/>
            <p:cNvSpPr txBox="1"/>
            <p:nvPr/>
          </p:nvSpPr>
          <p:spPr>
            <a:xfrm>
              <a:off x="4794885" y="5088731"/>
              <a:ext cx="247659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empirical proxy — ~1000× faster —</a:t>
              </a:r>
            </a:p>
          </p:txBody>
        </p:sp>
        <p:sp>
          <p:nvSpPr>
            <p:cNvPr id="33" name="TextBox 33"/>
            <p:cNvSpPr txBox="1"/>
            <p:nvPr/>
          </p:nvSpPr>
          <p:spPr>
            <a:xfrm>
              <a:off x="4794885" y="5326856"/>
              <a:ext cx="222781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but was unjustified in theory.</a:t>
              </a:r>
            </a:p>
          </p:txBody>
        </p:sp>
      </p:grpSp>
      <p:grpSp>
        <p:nvGrpSpPr>
          <p:cNvPr id="43" name="Group 43"/>
          <p:cNvGrpSpPr/>
          <p:nvPr/>
        </p:nvGrpSpPr>
        <p:grpSpPr>
          <a:xfrm>
            <a:off x="8153400" y="3867150"/>
            <a:ext cx="3352800" cy="1866900"/>
            <a:chOff x="8153400" y="3867150"/>
            <a:chExt cx="3352800" cy="1866900"/>
          </a:xfrm>
        </p:grpSpPr>
        <p:sp>
          <p:nvSpPr>
            <p:cNvPr id="35" name="Rectangle 35"/>
            <p:cNvSpPr/>
            <p:nvPr/>
          </p:nvSpPr>
          <p:spPr>
            <a:xfrm>
              <a:off x="8153400" y="3867150"/>
              <a:ext cx="3352800" cy="1866900"/>
            </a:xfrm>
            <a:prstGeom prst="roundRect">
              <a:avLst>
                <a:gd name="adj" fmla="val 7143"/>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36" name="Rectangle 36"/>
            <p:cNvSpPr/>
            <p:nvPr/>
          </p:nvSpPr>
          <p:spPr>
            <a:xfrm>
              <a:off x="8153400" y="3867150"/>
              <a:ext cx="3352800" cy="66675"/>
            </a:xfrm>
            <a:prstGeom prst="rect">
              <a:avLst/>
            </a:prstGeom>
            <a:solidFill>
              <a:srgbClr val="3E9E6E"/>
            </a:solidFill>
            <a:ln>
              <a:noFill/>
            </a:ln>
          </p:spPr>
        </p:sp>
        <p:sp>
          <p:nvSpPr>
            <p:cNvPr id="37" name="Rectangle 37"/>
            <p:cNvSpPr/>
            <p:nvPr/>
          </p:nvSpPr>
          <p:spPr>
            <a:xfrm>
              <a:off x="8153400" y="3867150"/>
              <a:ext cx="66675" cy="1866900"/>
            </a:xfrm>
            <a:prstGeom prst="rect">
              <a:avLst/>
            </a:prstGeom>
            <a:solidFill>
              <a:srgbClr val="3E9E6E"/>
            </a:solidFill>
            <a:ln>
              <a:noFill/>
            </a:ln>
          </p:spPr>
        </p:sp>
        <p:sp>
          <p:nvSpPr>
            <p:cNvPr id="38" name="TextBox 38"/>
            <p:cNvSpPr txBox="1"/>
            <p:nvPr/>
          </p:nvSpPr>
          <p:spPr>
            <a:xfrm>
              <a:off x="8415147" y="4200049"/>
              <a:ext cx="933755" cy="190690"/>
            </a:xfrm>
            <a:prstGeom prst="rect">
              <a:avLst/>
            </a:prstGeom>
            <a:noFill/>
            <a:ln>
              <a:noFill/>
            </a:ln>
          </p:spPr>
          <p:txBody>
            <a:bodyPr wrap="none" lIns="0" tIns="0" rIns="0" bIns="0" anchor="t" anchorCtr="0">
              <a:spAutoFit/>
            </a:bodyPr>
            <a:lstStyle/>
            <a:p>
              <a:pPr algn="l"/>
              <a:r>
                <a:rPr lang="en-US" sz="980" b="1" spc="150" dirty="0">
                  <a:solidFill>
                    <a:srgbClr val="2C7350"/>
                  </a:solidFill>
                  <a:latin typeface="+mn-lt"/>
                  <a:ea typeface="+mn-ea"/>
                  <a:cs typeface="+mn-cs"/>
                </a:rPr>
                <a:t>THE BRIDGE</a:t>
              </a:r>
            </a:p>
          </p:txBody>
        </p:sp>
        <p:sp>
          <p:nvSpPr>
            <p:cNvPr id="39" name="TextBox 39"/>
            <p:cNvSpPr txBox="1"/>
            <p:nvPr/>
          </p:nvSpPr>
          <p:spPr>
            <a:xfrm>
              <a:off x="8412861" y="4494371"/>
              <a:ext cx="287140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This paper builds the theory.</a:t>
              </a:r>
            </a:p>
          </p:txBody>
        </p:sp>
        <p:sp>
          <p:nvSpPr>
            <p:cNvPr id="40" name="TextBox 40"/>
            <p:cNvSpPr txBox="1"/>
            <p:nvPr/>
          </p:nvSpPr>
          <p:spPr>
            <a:xfrm>
              <a:off x="8414385" y="4850606"/>
              <a:ext cx="266990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Formal bounds linking memorization,</a:t>
              </a:r>
            </a:p>
          </p:txBody>
        </p:sp>
        <p:sp>
          <p:nvSpPr>
            <p:cNvPr id="41" name="TextBox 41"/>
            <p:cNvSpPr txBox="1"/>
            <p:nvPr/>
          </p:nvSpPr>
          <p:spPr>
            <a:xfrm>
              <a:off x="8414385" y="5088731"/>
              <a:ext cx="248413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curvature &amp; differential privacy,</a:t>
              </a:r>
            </a:p>
          </p:txBody>
        </p:sp>
        <p:sp>
          <p:nvSpPr>
            <p:cNvPr id="42" name="TextBox 42"/>
            <p:cNvSpPr txBox="1"/>
            <p:nvPr/>
          </p:nvSpPr>
          <p:spPr>
            <a:xfrm>
              <a:off x="8414385" y="5326856"/>
              <a:ext cx="226440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validated on CIFAR &amp; ImageNet.</a:t>
              </a:r>
            </a:p>
          </p:txBody>
        </p:sp>
      </p:grpSp>
      <p:sp>
        <p:nvSpPr>
          <p:cNvPr id="44" name="cue_s01_c1_deep_networks_memorize_memorization" title="cue_s01_c1_deep_networks_memorize_memorization" descr="cue_s01_c1_deep_networks_memorize_memorization Deep networks memorize training data, and memorization ties to generalization and privacy."/>
          <p:cNvSpPr/>
          <p:nvPr/>
        </p:nvSpPr>
        <p:spPr>
          <a:xfrm>
            <a:off x="914400" y="3867226"/>
            <a:ext cx="3633216"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1_c2_feldman_memorization_score_rigorous" title="cue_s01_c2_feldman_memorization_score_rigorous" descr="cue_s01_c2_feldman_memorization_score_rigorous Feldman's memorization score is rigorous but costly, while input loss curvature is a cheap proxy nobody could justify."/>
          <p:cNvSpPr/>
          <p:nvPr/>
        </p:nvSpPr>
        <p:spPr>
          <a:xfrm>
            <a:off x="4534204" y="3867226"/>
            <a:ext cx="3552748"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1_c3_purdue_icml_2024_builds_missing" title="cue_s01_c3_purdue_icml_2024_builds_missing" descr="cue_s01_c3_purdue_icml_2024_builds_missing This Purdue ICML 2024 paper builds the missing theory linking memorization, curvature, and differential privacy on CIFAR and ImageNet."/>
          <p:cNvSpPr/>
          <p:nvPr/>
        </p:nvSpPr>
        <p:spPr>
          <a:xfrm>
            <a:off x="8152790" y="3867226"/>
            <a:ext cx="33528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09600" y="495300"/>
            <a:ext cx="10972800" cy="677037"/>
            <a:chOff x="609600" y="495300"/>
            <a:chExt cx="10972800" cy="677037"/>
          </a:xfrm>
        </p:grpSpPr>
        <p:sp>
          <p:nvSpPr>
            <p:cNvPr id="2" name="Rectangle 2"/>
            <p:cNvSpPr/>
            <p:nvPr/>
          </p:nvSpPr>
          <p:spPr>
            <a:xfrm>
              <a:off x="609600" y="495300"/>
              <a:ext cx="57150" cy="381000"/>
            </a:xfrm>
            <a:prstGeom prst="rect">
              <a:avLst/>
            </a:prstGeom>
            <a:solidFill>
              <a:schemeClr val="accent5"/>
            </a:solidFill>
            <a:ln>
              <a:noFill/>
            </a:ln>
          </p:spPr>
        </p:sp>
        <p:sp>
          <p:nvSpPr>
            <p:cNvPr id="3" name="TextBox 3"/>
            <p:cNvSpPr txBox="1"/>
            <p:nvPr/>
          </p:nvSpPr>
          <p:spPr>
            <a:xfrm>
              <a:off x="814197" y="580549"/>
              <a:ext cx="1631975" cy="190690"/>
            </a:xfrm>
            <a:prstGeom prst="rect">
              <a:avLst/>
            </a:prstGeom>
            <a:noFill/>
            <a:ln>
              <a:noFill/>
            </a:ln>
          </p:spPr>
          <p:txBody>
            <a:bodyPr wrap="none" lIns="0" tIns="0" rIns="0" bIns="0" anchor="t" anchorCtr="0">
              <a:spAutoFit/>
            </a:bodyPr>
            <a:lstStyle/>
            <a:p>
              <a:pPr algn="l"/>
              <a:r>
                <a:rPr lang="en-US" sz="980" b="1" spc="150" dirty="0">
                  <a:solidFill>
                    <a:srgbClr val="8A94A8"/>
                  </a:solidFill>
                  <a:latin typeface="+mn-lt"/>
                  <a:ea typeface="+mn-ea"/>
                  <a:cs typeface="+mn-cs"/>
                </a:rPr>
                <a:t>PROBLEM · 02 / 10</a:t>
              </a:r>
            </a:p>
          </p:txBody>
        </p:sp>
        <p:sp>
          <p:nvSpPr>
            <p:cNvPr id="4" name="TextBox 4"/>
            <p:cNvSpPr txBox="1"/>
            <p:nvPr/>
          </p:nvSpPr>
          <p:spPr>
            <a:xfrm>
              <a:off x="806958" y="702945"/>
              <a:ext cx="8852180"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j-lt"/>
                  <a:ea typeface="+mj-ea"/>
                  <a:cs typeface="+mj-cs"/>
                </a:rPr>
                <a:t>Memorization matters — but measuring it is costly</a:t>
              </a:r>
            </a:p>
          </p:txBody>
        </p:sp>
        <p:sp>
          <p:nvSpPr>
            <p:cNvPr id="5" name="Line 5"/>
            <p:cNvSpPr/>
            <p:nvPr/>
          </p:nvSpPr>
          <p:spPr>
            <a:xfrm>
              <a:off x="609600" y="1143000"/>
              <a:ext cx="10972800" cy="9525"/>
            </a:xfrm>
            <a:custGeom>
              <a:avLst/>
              <a:gdLst/>
              <a:ahLst/>
              <a:cxnLst/>
              <a:rect l="l" t="t" r="r" b="b"/>
              <a:pathLst>
                <a:path w="10972800" h="9525">
                  <a:moveTo>
                    <a:pt x="0" y="0"/>
                  </a:moveTo>
                  <a:lnTo>
                    <a:pt x="10972800" y="0"/>
                  </a:lnTo>
                </a:path>
              </a:pathLst>
            </a:custGeom>
            <a:noFill/>
            <a:ln w="14288">
              <a:solidFill>
                <a:schemeClr val="accent4"/>
              </a:solidFill>
            </a:ln>
          </p:spPr>
        </p:sp>
      </p:grpSp>
      <p:grpSp>
        <p:nvGrpSpPr>
          <p:cNvPr id="14" name="Group 14"/>
          <p:cNvGrpSpPr/>
          <p:nvPr/>
        </p:nvGrpSpPr>
        <p:grpSpPr>
          <a:xfrm>
            <a:off x="609600" y="1428750"/>
            <a:ext cx="5905500" cy="1508284"/>
            <a:chOff x="609600" y="1428750"/>
            <a:chExt cx="5905500" cy="1508284"/>
          </a:xfrm>
        </p:grpSpPr>
        <p:sp>
          <p:nvSpPr>
            <p:cNvPr id="7" name="Rectangle 7"/>
            <p:cNvSpPr/>
            <p:nvPr/>
          </p:nvSpPr>
          <p:spPr>
            <a:xfrm>
              <a:off x="609600" y="1428750"/>
              <a:ext cx="5905500" cy="1428750"/>
            </a:xfrm>
            <a:prstGeom prst="roundRect">
              <a:avLst>
                <a:gd name="adj" fmla="val 8000"/>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8" name="Rectangle 8"/>
            <p:cNvSpPr/>
            <p:nvPr/>
          </p:nvSpPr>
          <p:spPr>
            <a:xfrm>
              <a:off x="609600" y="1428750"/>
              <a:ext cx="66675" cy="1428750"/>
            </a:xfrm>
            <a:prstGeom prst="rect">
              <a:avLst/>
            </a:prstGeom>
            <a:solidFill>
              <a:schemeClr val="accent5"/>
            </a:solidFill>
            <a:ln>
              <a:noFill/>
            </a:ln>
          </p:spPr>
        </p:sp>
        <p:sp>
          <p:nvSpPr>
            <p:cNvPr id="9" name="TextBox 9"/>
            <p:cNvSpPr txBox="1"/>
            <p:nvPr/>
          </p:nvSpPr>
          <p:spPr>
            <a:xfrm>
              <a:off x="871538" y="1712595"/>
              <a:ext cx="858591" cy="176212"/>
            </a:xfrm>
            <a:prstGeom prst="rect">
              <a:avLst/>
            </a:prstGeom>
            <a:noFill/>
            <a:ln>
              <a:noFill/>
            </a:ln>
          </p:spPr>
          <p:txBody>
            <a:bodyPr wrap="none" lIns="0" tIns="0" rIns="0" bIns="0" anchor="t" anchorCtr="0">
              <a:spAutoFit/>
            </a:bodyPr>
            <a:lstStyle/>
            <a:p>
              <a:pPr algn="l"/>
              <a:r>
                <a:rPr lang="en-US" sz="900" b="1" spc="112" dirty="0">
                  <a:solidFill>
                    <a:schemeClr val="accent5"/>
                  </a:solidFill>
                  <a:latin typeface="+mn-lt"/>
                  <a:ea typeface="+mn-ea"/>
                  <a:cs typeface="+mn-cs"/>
                </a:rPr>
                <a:t>THE STAKES</a:t>
              </a:r>
            </a:p>
          </p:txBody>
        </p:sp>
        <p:sp>
          <p:nvSpPr>
            <p:cNvPr id="10" name="TextBox 10"/>
            <p:cNvSpPr txBox="1"/>
            <p:nvPr/>
          </p:nvSpPr>
          <p:spPr>
            <a:xfrm>
              <a:off x="869061" y="1922621"/>
              <a:ext cx="263053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Why memorization matters</a:t>
              </a:r>
            </a:p>
          </p:txBody>
        </p:sp>
        <p:sp>
          <p:nvSpPr>
            <p:cNvPr id="11" name="TextBox 11"/>
            <p:cNvSpPr txBox="1"/>
            <p:nvPr/>
          </p:nvSpPr>
          <p:spPr>
            <a:xfrm>
              <a:off x="870585" y="2259806"/>
              <a:ext cx="379341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Deep networks overfit and memorize training data.</a:t>
              </a:r>
            </a:p>
          </p:txBody>
        </p:sp>
        <p:sp>
          <p:nvSpPr>
            <p:cNvPr id="12" name="TextBox 12"/>
            <p:cNvSpPr txBox="1"/>
            <p:nvPr/>
          </p:nvSpPr>
          <p:spPr>
            <a:xfrm>
              <a:off x="870585" y="2488406"/>
              <a:ext cx="390630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That memorization is tied to generalization, to noisy</a:t>
              </a:r>
            </a:p>
          </p:txBody>
        </p:sp>
        <p:sp>
          <p:nvSpPr>
            <p:cNvPr id="13" name="TextBox 13"/>
            <p:cNvSpPr txBox="1"/>
            <p:nvPr/>
          </p:nvSpPr>
          <p:spPr>
            <a:xfrm>
              <a:off x="870585" y="2717006"/>
              <a:ext cx="342647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learning, and — critically — to privacy leakage.</a:t>
              </a:r>
            </a:p>
          </p:txBody>
        </p:sp>
      </p:grpSp>
      <p:grpSp>
        <p:nvGrpSpPr>
          <p:cNvPr id="22" name="Group 22"/>
          <p:cNvGrpSpPr/>
          <p:nvPr/>
        </p:nvGrpSpPr>
        <p:grpSpPr>
          <a:xfrm>
            <a:off x="609600" y="3028950"/>
            <a:ext cx="5905500" cy="1508284"/>
            <a:chOff x="609600" y="3028950"/>
            <a:chExt cx="5905500" cy="1508284"/>
          </a:xfrm>
        </p:grpSpPr>
        <p:sp>
          <p:nvSpPr>
            <p:cNvPr id="15" name="Rectangle 15"/>
            <p:cNvSpPr/>
            <p:nvPr/>
          </p:nvSpPr>
          <p:spPr>
            <a:xfrm>
              <a:off x="609600" y="3028950"/>
              <a:ext cx="5905500" cy="1428750"/>
            </a:xfrm>
            <a:prstGeom prst="roundRect">
              <a:avLst>
                <a:gd name="adj" fmla="val 8000"/>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16" name="Rectangle 16"/>
            <p:cNvSpPr/>
            <p:nvPr/>
          </p:nvSpPr>
          <p:spPr>
            <a:xfrm>
              <a:off x="609600" y="3028950"/>
              <a:ext cx="66675" cy="1428750"/>
            </a:xfrm>
            <a:prstGeom prst="rect">
              <a:avLst/>
            </a:prstGeom>
            <a:solidFill>
              <a:schemeClr val="accent2"/>
            </a:solidFill>
            <a:ln>
              <a:noFill/>
            </a:ln>
          </p:spPr>
        </p:sp>
        <p:sp>
          <p:nvSpPr>
            <p:cNvPr id="17" name="TextBox 17"/>
            <p:cNvSpPr txBox="1"/>
            <p:nvPr/>
          </p:nvSpPr>
          <p:spPr>
            <a:xfrm>
              <a:off x="871538" y="3312795"/>
              <a:ext cx="1065195"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THE OBSTACLE</a:t>
              </a:r>
            </a:p>
          </p:txBody>
        </p:sp>
        <p:sp>
          <p:nvSpPr>
            <p:cNvPr id="18" name="TextBox 18"/>
            <p:cNvSpPr txBox="1"/>
            <p:nvPr/>
          </p:nvSpPr>
          <p:spPr>
            <a:xfrm>
              <a:off x="869061" y="3522821"/>
              <a:ext cx="413586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Feldman's score is rigorous but expensive</a:t>
              </a:r>
            </a:p>
          </p:txBody>
        </p:sp>
        <p:sp>
          <p:nvSpPr>
            <p:cNvPr id="19" name="TextBox 19"/>
            <p:cNvSpPr txBox="1"/>
            <p:nvPr/>
          </p:nvSpPr>
          <p:spPr>
            <a:xfrm>
              <a:off x="870585" y="3860006"/>
              <a:ext cx="421534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Feldman's stability-based memorization score quantifies</a:t>
              </a:r>
            </a:p>
          </p:txBody>
        </p:sp>
        <p:sp>
          <p:nvSpPr>
            <p:cNvPr id="20" name="TextBox 20"/>
            <p:cNvSpPr txBox="1"/>
            <p:nvPr/>
          </p:nvSpPr>
          <p:spPr>
            <a:xfrm>
              <a:off x="870585" y="4088606"/>
              <a:ext cx="354709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memorization rigorously, but is computationally</a:t>
              </a:r>
            </a:p>
          </p:txBody>
        </p:sp>
        <p:sp>
          <p:nvSpPr>
            <p:cNvPr id="21" name="TextBox 21"/>
            <p:cNvSpPr txBox="1"/>
            <p:nvPr/>
          </p:nvSpPr>
          <p:spPr>
            <a:xfrm>
              <a:off x="870585" y="4317206"/>
              <a:ext cx="386371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prohibitive — far too expensive to compute at scale.</a:t>
              </a:r>
            </a:p>
          </p:txBody>
        </p:sp>
      </p:grpSp>
      <p:grpSp>
        <p:nvGrpSpPr>
          <p:cNvPr id="29" name="Group 29"/>
          <p:cNvGrpSpPr/>
          <p:nvPr/>
        </p:nvGrpSpPr>
        <p:grpSpPr>
          <a:xfrm>
            <a:off x="609600" y="4629150"/>
            <a:ext cx="5905500" cy="1428750"/>
            <a:chOff x="609600" y="4629150"/>
            <a:chExt cx="5905500" cy="1428750"/>
          </a:xfrm>
        </p:grpSpPr>
        <p:sp>
          <p:nvSpPr>
            <p:cNvPr id="23" name="Rectangle 23"/>
            <p:cNvSpPr/>
            <p:nvPr/>
          </p:nvSpPr>
          <p:spPr>
            <a:xfrm>
              <a:off x="609600" y="4629150"/>
              <a:ext cx="5905500" cy="1428750"/>
            </a:xfrm>
            <a:prstGeom prst="roundRect">
              <a:avLst>
                <a:gd name="adj" fmla="val 8000"/>
              </a:avLst>
            </a:prstGeom>
            <a:solidFill>
              <a:srgbClr val="E7EFFB"/>
            </a:solidFill>
            <a:ln w="14288">
              <a:solidFill>
                <a:schemeClr val="accent2"/>
              </a:solidFill>
            </a:ln>
          </p:spPr>
        </p:sp>
        <p:sp>
          <p:nvSpPr>
            <p:cNvPr id="24" name="Rectangle 24"/>
            <p:cNvSpPr/>
            <p:nvPr/>
          </p:nvSpPr>
          <p:spPr>
            <a:xfrm>
              <a:off x="609600" y="4629150"/>
              <a:ext cx="66675" cy="1428750"/>
            </a:xfrm>
            <a:prstGeom prst="rect">
              <a:avLst/>
            </a:prstGeom>
            <a:solidFill>
              <a:schemeClr val="accent2"/>
            </a:solidFill>
            <a:ln>
              <a:noFill/>
            </a:ln>
          </p:spPr>
        </p:sp>
        <p:sp>
          <p:nvSpPr>
            <p:cNvPr id="25" name="TextBox 25"/>
            <p:cNvSpPr txBox="1"/>
            <p:nvPr/>
          </p:nvSpPr>
          <p:spPr>
            <a:xfrm>
              <a:off x="871538" y="4912995"/>
              <a:ext cx="469778" cy="176212"/>
            </a:xfrm>
            <a:prstGeom prst="rect">
              <a:avLst/>
            </a:prstGeom>
            <a:noFill/>
            <a:ln>
              <a:noFill/>
            </a:ln>
          </p:spPr>
          <p:txBody>
            <a:bodyPr wrap="none" lIns="0" tIns="0" rIns="0" bIns="0" anchor="t" anchorCtr="0">
              <a:spAutoFit/>
            </a:bodyPr>
            <a:lstStyle/>
            <a:p>
              <a:pPr algn="l"/>
              <a:r>
                <a:rPr lang="en-US" sz="900" b="1" spc="112" dirty="0">
                  <a:solidFill>
                    <a:srgbClr val="2450A8"/>
                  </a:solidFill>
                  <a:latin typeface="+mn-lt"/>
                  <a:ea typeface="+mn-ea"/>
                  <a:cs typeface="+mn-cs"/>
                </a:rPr>
                <a:t>PROXY</a:t>
              </a:r>
            </a:p>
          </p:txBody>
        </p:sp>
        <p:sp>
          <p:nvSpPr>
            <p:cNvPr id="26" name="TextBox 26"/>
            <p:cNvSpPr txBox="1"/>
            <p:nvPr/>
          </p:nvSpPr>
          <p:spPr>
            <a:xfrm>
              <a:off x="869442" y="5169218"/>
              <a:ext cx="431364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Input loss curvature → a cheap empirical proxy</a:t>
              </a:r>
            </a:p>
          </p:txBody>
        </p:sp>
        <p:sp>
          <p:nvSpPr>
            <p:cNvPr id="27" name="TextBox 27"/>
            <p:cNvSpPr txBox="1"/>
            <p:nvPr/>
          </p:nvSpPr>
          <p:spPr>
            <a:xfrm>
              <a:off x="870966" y="5487352"/>
              <a:ext cx="486976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Trace of the input-loss Hessian tracks memorization ~1000× cheaper —</a:t>
              </a:r>
            </a:p>
          </p:txBody>
        </p:sp>
        <p:sp>
          <p:nvSpPr>
            <p:cNvPr id="28" name="TextBox 28"/>
            <p:cNvSpPr txBox="1"/>
            <p:nvPr/>
          </p:nvSpPr>
          <p:spPr>
            <a:xfrm>
              <a:off x="870966" y="5696902"/>
              <a:ext cx="480246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yet the link was purely empirical, with no tie to differential privacy.</a:t>
              </a:r>
            </a:p>
          </p:txBody>
        </p:sp>
      </p:grpSp>
      <p:grpSp>
        <p:nvGrpSpPr>
          <p:cNvPr id="36" name="Group 36"/>
          <p:cNvGrpSpPr/>
          <p:nvPr/>
        </p:nvGrpSpPr>
        <p:grpSpPr>
          <a:xfrm>
            <a:off x="6781800" y="1428750"/>
            <a:ext cx="4800600" cy="4629150"/>
            <a:chOff x="6781800" y="1428750"/>
            <a:chExt cx="4800600" cy="4629150"/>
          </a:xfrm>
        </p:grpSpPr>
        <p:sp>
          <p:nvSpPr>
            <p:cNvPr id="30" name="Rectangle 30"/>
            <p:cNvSpPr/>
            <p:nvPr/>
          </p:nvSpPr>
          <p:spPr>
            <a:xfrm>
              <a:off x="6781800" y="1428750"/>
              <a:ext cx="4800600" cy="4629150"/>
            </a:xfrm>
            <a:prstGeom prst="roundRect">
              <a:avLst>
                <a:gd name="adj" fmla="val 2469"/>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31" name="TextBox 31"/>
            <p:cNvSpPr txBox="1"/>
            <p:nvPr/>
          </p:nvSpPr>
          <p:spPr>
            <a:xfrm>
              <a:off x="7368620" y="1658302"/>
              <a:ext cx="3626960"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ImageNet examples ranked by input loss curvature</a:t>
              </a:r>
            </a:p>
          </p:txBody>
        </p:sp>
        <p:pic>
          <p:nvPicPr>
            <p:cNvPr id="32" name="Image 32"/>
            <p:cNvPicPr>
              <a:picLocks noChangeAspect="1"/>
            </p:cNvPicPr>
            <p:nvPr/>
          </p:nvPicPr>
          <p:blipFill>
            <a:blip r:embed="rId2"/>
            <a:stretch>
              <a:fillRect/>
            </a:stretch>
          </p:blipFill>
          <p:spPr>
            <a:xfrm>
              <a:off x="6972300" y="2262188"/>
              <a:ext cx="4419600" cy="2257425"/>
            </a:xfrm>
            <a:prstGeom prst="rect">
              <a:avLst/>
            </a:prstGeom>
          </p:spPr>
        </p:pic>
        <p:sp>
          <p:nvSpPr>
            <p:cNvPr id="33" name="TextBox 33"/>
            <p:cNvSpPr txBox="1"/>
            <p:nvPr/>
          </p:nvSpPr>
          <p:spPr>
            <a:xfrm>
              <a:off x="7756632" y="5038249"/>
              <a:ext cx="2850937"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Low curvature → typical, redundant samples</a:t>
              </a:r>
            </a:p>
          </p:txBody>
        </p:sp>
        <p:sp>
          <p:nvSpPr>
            <p:cNvPr id="34" name="TextBox 34"/>
            <p:cNvSpPr txBox="1"/>
            <p:nvPr/>
          </p:nvSpPr>
          <p:spPr>
            <a:xfrm>
              <a:off x="7815962" y="5247799"/>
              <a:ext cx="2732276"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High curvature → rare, memorized samples</a:t>
              </a:r>
            </a:p>
          </p:txBody>
        </p:sp>
        <p:sp>
          <p:nvSpPr>
            <p:cNvPr id="35" name="TextBox 35"/>
            <p:cNvSpPr txBox="1"/>
            <p:nvPr/>
          </p:nvSpPr>
          <p:spPr>
            <a:xfrm>
              <a:off x="7806099" y="5655945"/>
              <a:ext cx="2752001" cy="176212"/>
            </a:xfrm>
            <a:prstGeom prst="rect">
              <a:avLst/>
            </a:prstGeom>
            <a:noFill/>
            <a:ln>
              <a:noFill/>
            </a:ln>
          </p:spPr>
          <p:txBody>
            <a:bodyPr wrap="none" lIns="0" tIns="0" rIns="0" bIns="0" anchor="t" anchorCtr="0">
              <a:spAutoFit/>
            </a:bodyPr>
            <a:lstStyle/>
            <a:p>
              <a:pPr algn="ctr"/>
              <a:r>
                <a:rPr lang="en-US" sz="900" i="1" dirty="0">
                  <a:solidFill>
                    <a:srgbClr val="8A94A8"/>
                  </a:solidFill>
                  <a:latin typeface="+mn-lt"/>
                  <a:ea typeface="+mn-ea"/>
                  <a:cs typeface="+mn-cs"/>
                </a:rPr>
                <a:t>Figure 2 · curvature surfaces memorized data</a:t>
              </a:r>
            </a:p>
          </p:txBody>
        </p:sp>
      </p:grpSp>
      <p:grpSp>
        <p:nvGrpSpPr>
          <p:cNvPr id="40" name="Group 40"/>
          <p:cNvGrpSpPr/>
          <p:nvPr/>
        </p:nvGrpSpPr>
        <p:grpSpPr>
          <a:xfrm>
            <a:off x="604838" y="6457950"/>
            <a:ext cx="10982324" cy="263366"/>
            <a:chOff x="604838" y="6457950"/>
            <a:chExt cx="10982324" cy="263366"/>
          </a:xfrm>
        </p:grpSpPr>
        <p:sp>
          <p:nvSpPr>
            <p:cNvPr id="37" name="Line 37"/>
            <p:cNvSpPr/>
            <p:nvPr/>
          </p:nvSpPr>
          <p:spPr>
            <a:xfrm>
              <a:off x="609600" y="6457950"/>
              <a:ext cx="10972800" cy="9525"/>
            </a:xfrm>
            <a:custGeom>
              <a:avLst/>
              <a:gdLst/>
              <a:ahLst/>
              <a:cxnLst/>
              <a:rect l="l" t="t" r="r" b="b"/>
              <a:pathLst>
                <a:path w="10972800" h="9525">
                  <a:moveTo>
                    <a:pt x="0" y="0"/>
                  </a:moveTo>
                  <a:lnTo>
                    <a:pt x="10972800" y="0"/>
                  </a:lnTo>
                </a:path>
              </a:pathLst>
            </a:custGeom>
            <a:noFill/>
            <a:ln w="9525">
              <a:solidFill>
                <a:schemeClr val="accent4"/>
              </a:solidFill>
            </a:ln>
          </p:spPr>
        </p:sp>
        <p:sp>
          <p:nvSpPr>
            <p:cNvPr id="38" name="TextBox 38"/>
            <p:cNvSpPr txBox="1"/>
            <p:nvPr/>
          </p:nvSpPr>
          <p:spPr>
            <a:xfrm>
              <a:off x="604838" y="6559391"/>
              <a:ext cx="2528947" cy="161925"/>
            </a:xfrm>
            <a:prstGeom prst="rect">
              <a:avLst/>
            </a:prstGeom>
            <a:noFill/>
            <a:ln>
              <a:noFill/>
            </a:ln>
          </p:spPr>
          <p:txBody>
            <a:bodyPr wrap="none" lIns="0" tIns="0" rIns="0" bIns="0" anchor="t" anchorCtr="0">
              <a:spAutoFit/>
            </a:bodyPr>
            <a:lstStyle/>
            <a:p>
              <a:pPr algn="l"/>
              <a:r>
                <a:rPr lang="en-US" sz="820" dirty="0">
                  <a:solidFill>
                    <a:srgbClr val="8A94A8"/>
                  </a:solidFill>
                  <a:latin typeface="+mn-lt"/>
                  <a:ea typeface="+mn-ea"/>
                  <a:cs typeface="+mn-cs"/>
                </a:rPr>
                <a:t>Input Loss Curvature ↔ Memorization ↔ Privacy</a:t>
              </a:r>
            </a:p>
          </p:txBody>
        </p:sp>
        <p:sp>
          <p:nvSpPr>
            <p:cNvPr id="39" name="TextBox 39"/>
            <p:cNvSpPr txBox="1"/>
            <p:nvPr/>
          </p:nvSpPr>
          <p:spPr>
            <a:xfrm>
              <a:off x="11207836" y="6559391"/>
              <a:ext cx="379326" cy="161925"/>
            </a:xfrm>
            <a:prstGeom prst="rect">
              <a:avLst/>
            </a:prstGeom>
            <a:noFill/>
            <a:ln>
              <a:noFill/>
            </a:ln>
          </p:spPr>
          <p:txBody>
            <a:bodyPr wrap="none" lIns="0" tIns="0" rIns="0" bIns="0" anchor="t" anchorCtr="0">
              <a:spAutoFit/>
            </a:bodyPr>
            <a:lstStyle/>
            <a:p>
              <a:pPr algn="r"/>
              <a:r>
                <a:rPr lang="en-US" sz="820" dirty="0">
                  <a:solidFill>
                    <a:srgbClr val="8A94A8"/>
                  </a:solidFill>
                  <a:latin typeface="+mn-lt"/>
                  <a:ea typeface="+mn-ea"/>
                  <a:cs typeface="+mn-cs"/>
                </a:rPr>
                <a:t>02 / 10</a:t>
              </a:r>
            </a:p>
          </p:txBody>
        </p:sp>
      </p:grpSp>
      <p:sp>
        <p:nvSpPr>
          <p:cNvPr id="41" name="cue_s02_c1_deep_networks_memorize_which_matters" title="cue_s02_c1_deep_networks_memorize_which_matters" descr="cue_s02_c1_deep_networks_memorize_which_matters Deep networks memorize training data, which matters for generalization, noisy learning, and privacy leakage."/>
          <p:cNvSpPr/>
          <p:nvPr/>
        </p:nvSpPr>
        <p:spPr>
          <a:xfrm>
            <a:off x="609600" y="1428521"/>
            <a:ext cx="5905804" cy="150807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2_c2_feldman_memorization_score_quantifie" title="cue_s02_c2_feldman_memorization_score_quantifie" descr="cue_s02_c2_feldman_memorization_score_quantifie Feldman's memorization score quantifies this rigorously but is far too expensive."/>
          <p:cNvSpPr/>
          <p:nvPr/>
        </p:nvSpPr>
        <p:spPr>
          <a:xfrm>
            <a:off x="609600" y="3029178"/>
            <a:ext cx="5905804" cy="150807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2_c3_input_loss_curvature_trace_input_los" title="cue_s02_c3_input_loss_curvature_trace_input_los" descr="cue_s02_c3_input_loss_curvature_trace_input_los Input loss curvature, the trace of the input-loss Hessian, tracks memorization roughly a thousand times cheaper, yet the connection was purely empirical, with no theory linking either to differential privacy."/>
          <p:cNvSpPr/>
          <p:nvPr/>
        </p:nvSpPr>
        <p:spPr>
          <a:xfrm>
            <a:off x="609600" y="4629150"/>
            <a:ext cx="5905804"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09600" y="495300"/>
            <a:ext cx="10972800" cy="677037"/>
            <a:chOff x="609600" y="495300"/>
            <a:chExt cx="10972800" cy="677037"/>
          </a:xfrm>
        </p:grpSpPr>
        <p:sp>
          <p:nvSpPr>
            <p:cNvPr id="2" name="Rectangle 2"/>
            <p:cNvSpPr/>
            <p:nvPr/>
          </p:nvSpPr>
          <p:spPr>
            <a:xfrm>
              <a:off x="609600" y="495300"/>
              <a:ext cx="57150" cy="381000"/>
            </a:xfrm>
            <a:prstGeom prst="rect">
              <a:avLst/>
            </a:prstGeom>
            <a:solidFill>
              <a:schemeClr val="accent2"/>
            </a:solidFill>
            <a:ln>
              <a:noFill/>
            </a:ln>
          </p:spPr>
        </p:sp>
        <p:sp>
          <p:nvSpPr>
            <p:cNvPr id="3" name="TextBox 3"/>
            <p:cNvSpPr txBox="1"/>
            <p:nvPr/>
          </p:nvSpPr>
          <p:spPr>
            <a:xfrm>
              <a:off x="814197" y="580549"/>
              <a:ext cx="1893576" cy="190690"/>
            </a:xfrm>
            <a:prstGeom prst="rect">
              <a:avLst/>
            </a:prstGeom>
            <a:noFill/>
            <a:ln>
              <a:noFill/>
            </a:ln>
          </p:spPr>
          <p:txBody>
            <a:bodyPr wrap="none" lIns="0" tIns="0" rIns="0" bIns="0" anchor="t" anchorCtr="0">
              <a:spAutoFit/>
            </a:bodyPr>
            <a:lstStyle/>
            <a:p>
              <a:pPr algn="l"/>
              <a:r>
                <a:rPr lang="en-US" sz="980" b="1" spc="150" dirty="0">
                  <a:solidFill>
                    <a:srgbClr val="8A94A8"/>
                  </a:solidFill>
                  <a:latin typeface="+mn-lt"/>
                  <a:ea typeface="+mn-ea"/>
                  <a:cs typeface="+mn-cs"/>
                </a:rPr>
                <a:t>MOTIVATION · 03 / 10</a:t>
              </a:r>
            </a:p>
          </p:txBody>
        </p:sp>
        <p:sp>
          <p:nvSpPr>
            <p:cNvPr id="4" name="TextBox 4"/>
            <p:cNvSpPr txBox="1"/>
            <p:nvPr/>
          </p:nvSpPr>
          <p:spPr>
            <a:xfrm>
              <a:off x="806958" y="702945"/>
              <a:ext cx="6323923"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j-lt"/>
                  <a:ea typeface="+mj-ea"/>
                  <a:cs typeface="+mj-cs"/>
                </a:rPr>
                <a:t>Why a rigorous link is worth proving</a:t>
              </a:r>
            </a:p>
          </p:txBody>
        </p:sp>
        <p:sp>
          <p:nvSpPr>
            <p:cNvPr id="5" name="Line 5"/>
            <p:cNvSpPr/>
            <p:nvPr/>
          </p:nvSpPr>
          <p:spPr>
            <a:xfrm>
              <a:off x="609600" y="1143000"/>
              <a:ext cx="10972800" cy="9525"/>
            </a:xfrm>
            <a:custGeom>
              <a:avLst/>
              <a:gdLst/>
              <a:ahLst/>
              <a:cxnLst/>
              <a:rect l="l" t="t" r="r" b="b"/>
              <a:pathLst>
                <a:path w="10972800" h="9525">
                  <a:moveTo>
                    <a:pt x="0" y="0"/>
                  </a:moveTo>
                  <a:lnTo>
                    <a:pt x="10972800" y="0"/>
                  </a:lnTo>
                </a:path>
              </a:pathLst>
            </a:custGeom>
            <a:noFill/>
            <a:ln w="14288">
              <a:solidFill>
                <a:schemeClr val="accent4"/>
              </a:solidFill>
            </a:ln>
          </p:spPr>
        </p:sp>
      </p:grpSp>
      <p:grpSp>
        <p:nvGrpSpPr>
          <p:cNvPr id="14" name="Group 14"/>
          <p:cNvGrpSpPr/>
          <p:nvPr/>
        </p:nvGrpSpPr>
        <p:grpSpPr>
          <a:xfrm>
            <a:off x="609600" y="1428750"/>
            <a:ext cx="5410200" cy="1536859"/>
            <a:chOff x="609600" y="1428750"/>
            <a:chExt cx="5410200" cy="1536859"/>
          </a:xfrm>
        </p:grpSpPr>
        <p:sp>
          <p:nvSpPr>
            <p:cNvPr id="7" name="Rectangle 7"/>
            <p:cNvSpPr/>
            <p:nvPr/>
          </p:nvSpPr>
          <p:spPr>
            <a:xfrm>
              <a:off x="609600" y="1428750"/>
              <a:ext cx="5410200" cy="1504950"/>
            </a:xfrm>
            <a:prstGeom prst="roundRect">
              <a:avLst>
                <a:gd name="adj" fmla="val 7595"/>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8" name="Rectangle 8"/>
            <p:cNvSpPr/>
            <p:nvPr/>
          </p:nvSpPr>
          <p:spPr>
            <a:xfrm>
              <a:off x="609600" y="1428750"/>
              <a:ext cx="66675" cy="1504950"/>
            </a:xfrm>
            <a:prstGeom prst="rect">
              <a:avLst/>
            </a:prstGeom>
            <a:solidFill>
              <a:schemeClr val="accent2"/>
            </a:solidFill>
            <a:ln>
              <a:noFill/>
            </a:ln>
          </p:spPr>
        </p:sp>
        <p:sp>
          <p:nvSpPr>
            <p:cNvPr id="9" name="TextBox 9"/>
            <p:cNvSpPr txBox="1"/>
            <p:nvPr/>
          </p:nvSpPr>
          <p:spPr>
            <a:xfrm>
              <a:off x="871538" y="1712595"/>
              <a:ext cx="705754"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PAYOFF 1</a:t>
              </a:r>
            </a:p>
          </p:txBody>
        </p:sp>
        <p:sp>
          <p:nvSpPr>
            <p:cNvPr id="10" name="TextBox 10"/>
            <p:cNvSpPr txBox="1"/>
            <p:nvPr/>
          </p:nvSpPr>
          <p:spPr>
            <a:xfrm>
              <a:off x="869061" y="1922621"/>
              <a:ext cx="404539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 theoretical license for the cheap proxy</a:t>
              </a:r>
            </a:p>
          </p:txBody>
        </p:sp>
        <p:sp>
          <p:nvSpPr>
            <p:cNvPr id="11" name="TextBox 11"/>
            <p:cNvSpPr txBox="1"/>
            <p:nvPr/>
          </p:nvSpPr>
          <p:spPr>
            <a:xfrm>
              <a:off x="870585" y="2269331"/>
              <a:ext cx="375567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If curvature provably upper-bounds memorization,</a:t>
              </a:r>
            </a:p>
          </p:txBody>
        </p:sp>
        <p:sp>
          <p:nvSpPr>
            <p:cNvPr id="12" name="TextBox 12"/>
            <p:cNvSpPr txBox="1"/>
            <p:nvPr/>
          </p:nvSpPr>
          <p:spPr>
            <a:xfrm>
              <a:off x="870585" y="2507456"/>
              <a:ext cx="360739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practitioners can use the cheap curvature proxy</a:t>
              </a:r>
            </a:p>
          </p:txBody>
        </p:sp>
        <p:sp>
          <p:nvSpPr>
            <p:cNvPr id="13" name="TextBox 13"/>
            <p:cNvSpPr txBox="1"/>
            <p:nvPr/>
          </p:nvSpPr>
          <p:spPr>
            <a:xfrm>
              <a:off x="870585" y="2745581"/>
              <a:ext cx="338123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instead of the expensive memorization score.</a:t>
              </a:r>
            </a:p>
          </p:txBody>
        </p:sp>
      </p:grpSp>
      <p:grpSp>
        <p:nvGrpSpPr>
          <p:cNvPr id="22" name="Group 22"/>
          <p:cNvGrpSpPr/>
          <p:nvPr/>
        </p:nvGrpSpPr>
        <p:grpSpPr>
          <a:xfrm>
            <a:off x="609600" y="3143250"/>
            <a:ext cx="5410200" cy="1536859"/>
            <a:chOff x="609600" y="3143250"/>
            <a:chExt cx="5410200" cy="1536859"/>
          </a:xfrm>
        </p:grpSpPr>
        <p:sp>
          <p:nvSpPr>
            <p:cNvPr id="15" name="Rectangle 15"/>
            <p:cNvSpPr/>
            <p:nvPr/>
          </p:nvSpPr>
          <p:spPr>
            <a:xfrm>
              <a:off x="609600" y="3143250"/>
              <a:ext cx="5410200" cy="1504950"/>
            </a:xfrm>
            <a:prstGeom prst="roundRect">
              <a:avLst>
                <a:gd name="adj" fmla="val 7595"/>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16" name="Rectangle 16"/>
            <p:cNvSpPr/>
            <p:nvPr/>
          </p:nvSpPr>
          <p:spPr>
            <a:xfrm>
              <a:off x="609600" y="3143250"/>
              <a:ext cx="66675" cy="1504950"/>
            </a:xfrm>
            <a:prstGeom prst="rect">
              <a:avLst/>
            </a:prstGeom>
            <a:solidFill>
              <a:srgbClr val="3E9E6E"/>
            </a:solidFill>
            <a:ln>
              <a:noFill/>
            </a:ln>
          </p:spPr>
        </p:sp>
        <p:sp>
          <p:nvSpPr>
            <p:cNvPr id="17" name="TextBox 17"/>
            <p:cNvSpPr txBox="1"/>
            <p:nvPr/>
          </p:nvSpPr>
          <p:spPr>
            <a:xfrm>
              <a:off x="871538" y="3427095"/>
              <a:ext cx="705754" cy="176212"/>
            </a:xfrm>
            <a:prstGeom prst="rect">
              <a:avLst/>
            </a:prstGeom>
            <a:noFill/>
            <a:ln>
              <a:noFill/>
            </a:ln>
          </p:spPr>
          <p:txBody>
            <a:bodyPr wrap="none" lIns="0" tIns="0" rIns="0" bIns="0" anchor="t" anchorCtr="0">
              <a:spAutoFit/>
            </a:bodyPr>
            <a:lstStyle/>
            <a:p>
              <a:pPr algn="l"/>
              <a:r>
                <a:rPr lang="en-US" sz="900" b="1" spc="112" dirty="0">
                  <a:solidFill>
                    <a:srgbClr val="3E9E6E"/>
                  </a:solidFill>
                  <a:latin typeface="+mn-lt"/>
                  <a:ea typeface="+mn-ea"/>
                  <a:cs typeface="+mn-cs"/>
                </a:rPr>
                <a:t>PAYOFF 2</a:t>
              </a:r>
            </a:p>
          </p:txBody>
        </p:sp>
        <p:sp>
          <p:nvSpPr>
            <p:cNvPr id="18" name="TextBox 18"/>
            <p:cNvSpPr txBox="1"/>
            <p:nvPr/>
          </p:nvSpPr>
          <p:spPr>
            <a:xfrm>
              <a:off x="869061" y="3637121"/>
              <a:ext cx="413550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Explaining why privacy suppresses leakage</a:t>
              </a:r>
            </a:p>
          </p:txBody>
        </p:sp>
        <p:sp>
          <p:nvSpPr>
            <p:cNvPr id="19" name="TextBox 19"/>
            <p:cNvSpPr txBox="1"/>
            <p:nvPr/>
          </p:nvSpPr>
          <p:spPr>
            <a:xfrm>
              <a:off x="870585" y="3983831"/>
              <a:ext cx="333053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Memorization is itself a privacy risk. Linking</a:t>
              </a:r>
            </a:p>
          </p:txBody>
        </p:sp>
        <p:sp>
          <p:nvSpPr>
            <p:cNvPr id="20" name="TextBox 20"/>
            <p:cNvSpPr txBox="1"/>
            <p:nvPr/>
          </p:nvSpPr>
          <p:spPr>
            <a:xfrm>
              <a:off x="870585" y="4221956"/>
              <a:ext cx="344154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differential privacy to curvature explains why</a:t>
              </a:r>
            </a:p>
          </p:txBody>
        </p:sp>
        <p:sp>
          <p:nvSpPr>
            <p:cNvPr id="21" name="TextBox 21"/>
            <p:cNvSpPr txBox="1"/>
            <p:nvPr/>
          </p:nvSpPr>
          <p:spPr>
            <a:xfrm>
              <a:off x="870585" y="4460081"/>
              <a:ext cx="353201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privacy mechanisms measurably reduce leakage.</a:t>
              </a:r>
            </a:p>
          </p:txBody>
        </p:sp>
      </p:grpSp>
      <p:grpSp>
        <p:nvGrpSpPr>
          <p:cNvPr id="43" name="Group 43"/>
          <p:cNvGrpSpPr/>
          <p:nvPr/>
        </p:nvGrpSpPr>
        <p:grpSpPr>
          <a:xfrm>
            <a:off x="6324600" y="1428750"/>
            <a:ext cx="5257800" cy="3390900"/>
            <a:chOff x="6324600" y="1428750"/>
            <a:chExt cx="5257800" cy="3390900"/>
          </a:xfrm>
        </p:grpSpPr>
        <p:sp>
          <p:nvSpPr>
            <p:cNvPr id="23" name="Rectangle 23"/>
            <p:cNvSpPr/>
            <p:nvPr/>
          </p:nvSpPr>
          <p:spPr>
            <a:xfrm>
              <a:off x="6324600" y="1428750"/>
              <a:ext cx="5257800" cy="3390900"/>
            </a:xfrm>
            <a:prstGeom prst="roundRect">
              <a:avLst>
                <a:gd name="adj" fmla="val 3371"/>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24" name="Rectangle 24"/>
            <p:cNvSpPr/>
            <p:nvPr/>
          </p:nvSpPr>
          <p:spPr>
            <a:xfrm>
              <a:off x="6324600" y="1428750"/>
              <a:ext cx="66675" cy="3390900"/>
            </a:xfrm>
            <a:prstGeom prst="rect">
              <a:avLst/>
            </a:prstGeom>
            <a:solidFill>
              <a:schemeClr val="accent5"/>
            </a:solidFill>
            <a:ln>
              <a:noFill/>
            </a:ln>
          </p:spPr>
        </p:sp>
        <p:sp>
          <p:nvSpPr>
            <p:cNvPr id="25" name="TextBox 25"/>
            <p:cNvSpPr txBox="1"/>
            <p:nvPr/>
          </p:nvSpPr>
          <p:spPr>
            <a:xfrm>
              <a:off x="6586538" y="1712595"/>
              <a:ext cx="1887377" cy="176212"/>
            </a:xfrm>
            <a:prstGeom prst="rect">
              <a:avLst/>
            </a:prstGeom>
            <a:noFill/>
            <a:ln>
              <a:noFill/>
            </a:ln>
          </p:spPr>
          <p:txBody>
            <a:bodyPr wrap="none" lIns="0" tIns="0" rIns="0" bIns="0" anchor="t" anchorCtr="0">
              <a:spAutoFit/>
            </a:bodyPr>
            <a:lstStyle/>
            <a:p>
              <a:pPr algn="l"/>
              <a:r>
                <a:rPr lang="en-US" sz="900" b="1" spc="112" dirty="0">
                  <a:solidFill>
                    <a:schemeClr val="accent6"/>
                  </a:solidFill>
                  <a:latin typeface="+mn-lt"/>
                  <a:ea typeface="+mn-ea"/>
                  <a:cs typeface="+mn-cs"/>
                </a:rPr>
                <a:t>NO STRONG ASSUMPTIONS</a:t>
              </a:r>
            </a:p>
          </p:txBody>
        </p:sp>
        <p:sp>
          <p:nvSpPr>
            <p:cNvPr id="26" name="TextBox 26"/>
            <p:cNvSpPr txBox="1"/>
            <p:nvPr/>
          </p:nvSpPr>
          <p:spPr>
            <a:xfrm>
              <a:off x="6584442" y="1968818"/>
              <a:ext cx="368381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Influence functions don't fit deep nets</a:t>
              </a:r>
            </a:p>
          </p:txBody>
        </p:sp>
        <p:sp>
          <p:nvSpPr>
            <p:cNvPr id="27" name="Rectangle 27"/>
            <p:cNvSpPr/>
            <p:nvPr/>
          </p:nvSpPr>
          <p:spPr>
            <a:xfrm>
              <a:off x="6591300" y="2324100"/>
              <a:ext cx="2286000" cy="2209800"/>
            </a:xfrm>
            <a:prstGeom prst="roundRect">
              <a:avLst>
                <a:gd name="adj" fmla="val 4310"/>
              </a:avLst>
            </a:prstGeom>
            <a:solidFill>
              <a:schemeClr val="lt2"/>
            </a:solidFill>
            <a:ln w="9525">
              <a:solidFill>
                <a:schemeClr val="accent4"/>
              </a:solidFill>
            </a:ln>
          </p:spPr>
        </p:sp>
        <p:sp>
          <p:nvSpPr>
            <p:cNvPr id="28" name="TextBox 28"/>
            <p:cNvSpPr txBox="1"/>
            <p:nvPr/>
          </p:nvSpPr>
          <p:spPr>
            <a:xfrm>
              <a:off x="6776466" y="2534602"/>
              <a:ext cx="1417634" cy="205359"/>
            </a:xfrm>
            <a:prstGeom prst="rect">
              <a:avLst/>
            </a:prstGeom>
            <a:noFill/>
            <a:ln>
              <a:noFill/>
            </a:ln>
          </p:spPr>
          <p:txBody>
            <a:bodyPr wrap="none" lIns="0" tIns="0" rIns="0" bIns="0" anchor="t" anchorCtr="0">
              <a:spAutoFit/>
            </a:bodyPr>
            <a:lstStyle/>
            <a:p>
              <a:pPr algn="l"/>
              <a:r>
                <a:rPr lang="en-US" sz="1050" b="1" dirty="0">
                  <a:solidFill>
                    <a:schemeClr val="accent6"/>
                  </a:solidFill>
                  <a:latin typeface="+mn-lt"/>
                  <a:ea typeface="+mn-ea"/>
                  <a:cs typeface="+mn-cs"/>
                </a:rPr>
                <a:t>Influence functions</a:t>
              </a:r>
            </a:p>
          </p:txBody>
        </p:sp>
        <p:sp>
          <p:nvSpPr>
            <p:cNvPr id="29" name="TextBox 29"/>
            <p:cNvSpPr txBox="1"/>
            <p:nvPr/>
          </p:nvSpPr>
          <p:spPr>
            <a:xfrm>
              <a:off x="6776847" y="2828449"/>
              <a:ext cx="99467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Assume Hessian</a:t>
              </a:r>
            </a:p>
          </p:txBody>
        </p:sp>
        <p:sp>
          <p:nvSpPr>
            <p:cNvPr id="30" name="TextBox 30"/>
            <p:cNvSpPr txBox="1"/>
            <p:nvPr/>
          </p:nvSpPr>
          <p:spPr>
            <a:xfrm>
              <a:off x="6776847" y="3037999"/>
              <a:ext cx="74210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convexity &amp;</a:t>
              </a:r>
            </a:p>
          </p:txBody>
        </p:sp>
        <p:sp>
          <p:nvSpPr>
            <p:cNvPr id="31" name="TextBox 31"/>
            <p:cNvSpPr txBox="1"/>
            <p:nvPr/>
          </p:nvSpPr>
          <p:spPr>
            <a:xfrm>
              <a:off x="6776847" y="3247549"/>
              <a:ext cx="59698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positive-</a:t>
              </a:r>
            </a:p>
          </p:txBody>
        </p:sp>
        <p:sp>
          <p:nvSpPr>
            <p:cNvPr id="32" name="TextBox 32"/>
            <p:cNvSpPr txBox="1"/>
            <p:nvPr/>
          </p:nvSpPr>
          <p:spPr>
            <a:xfrm>
              <a:off x="6776847" y="3457099"/>
              <a:ext cx="88722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definiteness.</a:t>
              </a:r>
            </a:p>
          </p:txBody>
        </p:sp>
        <p:sp>
          <p:nvSpPr>
            <p:cNvPr id="33" name="TextBox 33"/>
            <p:cNvSpPr txBox="1"/>
            <p:nvPr/>
          </p:nvSpPr>
          <p:spPr>
            <a:xfrm>
              <a:off x="6776847" y="3838099"/>
              <a:ext cx="777179" cy="190690"/>
            </a:xfrm>
            <a:prstGeom prst="rect">
              <a:avLst/>
            </a:prstGeom>
            <a:noFill/>
            <a:ln>
              <a:noFill/>
            </a:ln>
          </p:spPr>
          <p:txBody>
            <a:bodyPr wrap="none" lIns="0" tIns="0" rIns="0" bIns="0" anchor="t" anchorCtr="0">
              <a:spAutoFit/>
            </a:bodyPr>
            <a:lstStyle/>
            <a:p>
              <a:pPr algn="l"/>
              <a:r>
                <a:rPr lang="en-US" sz="980" b="1" dirty="0">
                  <a:solidFill>
                    <a:schemeClr val="accent6"/>
                  </a:solidFill>
                  <a:latin typeface="+mn-lt"/>
                  <a:ea typeface="+mn-ea"/>
                  <a:cs typeface="+mn-cs"/>
                </a:rPr>
                <a:t>✗ Fails for</a:t>
              </a:r>
            </a:p>
          </p:txBody>
        </p:sp>
        <p:sp>
          <p:nvSpPr>
            <p:cNvPr id="34" name="TextBox 34"/>
            <p:cNvSpPr txBox="1"/>
            <p:nvPr/>
          </p:nvSpPr>
          <p:spPr>
            <a:xfrm>
              <a:off x="6776847" y="4047649"/>
              <a:ext cx="1069614" cy="190690"/>
            </a:xfrm>
            <a:prstGeom prst="rect">
              <a:avLst/>
            </a:prstGeom>
            <a:noFill/>
            <a:ln>
              <a:noFill/>
            </a:ln>
          </p:spPr>
          <p:txBody>
            <a:bodyPr wrap="none" lIns="0" tIns="0" rIns="0" bIns="0" anchor="t" anchorCtr="0">
              <a:spAutoFit/>
            </a:bodyPr>
            <a:lstStyle/>
            <a:p>
              <a:pPr algn="l"/>
              <a:r>
                <a:rPr lang="en-US" sz="980" b="1" dirty="0">
                  <a:solidFill>
                    <a:schemeClr val="accent6"/>
                  </a:solidFill>
                  <a:latin typeface="+mn-lt"/>
                  <a:ea typeface="+mn-ea"/>
                  <a:cs typeface="+mn-cs"/>
                </a:rPr>
                <a:t>deep networks.</a:t>
              </a:r>
            </a:p>
          </p:txBody>
        </p:sp>
        <p:sp>
          <p:nvSpPr>
            <p:cNvPr id="35" name="Rectangle 35"/>
            <p:cNvSpPr/>
            <p:nvPr/>
          </p:nvSpPr>
          <p:spPr>
            <a:xfrm>
              <a:off x="9029700" y="2324100"/>
              <a:ext cx="2286000" cy="2209800"/>
            </a:xfrm>
            <a:prstGeom prst="roundRect">
              <a:avLst>
                <a:gd name="adj" fmla="val 4310"/>
              </a:avLst>
            </a:prstGeom>
            <a:solidFill>
              <a:srgbClr val="E3F1EA"/>
            </a:solidFill>
            <a:ln w="9525">
              <a:solidFill>
                <a:srgbClr val="3E9E6E"/>
              </a:solidFill>
            </a:ln>
          </p:spPr>
        </p:sp>
        <p:sp>
          <p:nvSpPr>
            <p:cNvPr id="36" name="TextBox 36"/>
            <p:cNvSpPr txBox="1"/>
            <p:nvPr/>
          </p:nvSpPr>
          <p:spPr>
            <a:xfrm>
              <a:off x="9214866" y="2534602"/>
              <a:ext cx="1143560" cy="205359"/>
            </a:xfrm>
            <a:prstGeom prst="rect">
              <a:avLst/>
            </a:prstGeom>
            <a:noFill/>
            <a:ln>
              <a:noFill/>
            </a:ln>
          </p:spPr>
          <p:txBody>
            <a:bodyPr wrap="none" lIns="0" tIns="0" rIns="0" bIns="0" anchor="t" anchorCtr="0">
              <a:spAutoFit/>
            </a:bodyPr>
            <a:lstStyle/>
            <a:p>
              <a:pPr algn="l"/>
              <a:r>
                <a:rPr lang="en-US" sz="1050" b="1" dirty="0">
                  <a:solidFill>
                    <a:srgbClr val="2C7350"/>
                  </a:solidFill>
                  <a:latin typeface="+mn-lt"/>
                  <a:ea typeface="+mn-ea"/>
                  <a:cs typeface="+mn-cs"/>
                </a:rPr>
                <a:t>This framework</a:t>
              </a:r>
            </a:p>
          </p:txBody>
        </p:sp>
        <p:sp>
          <p:nvSpPr>
            <p:cNvPr id="37" name="TextBox 37"/>
            <p:cNvSpPr txBox="1"/>
            <p:nvPr/>
          </p:nvSpPr>
          <p:spPr>
            <a:xfrm>
              <a:off x="9215247" y="2828449"/>
              <a:ext cx="56183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Needs no</a:t>
              </a:r>
            </a:p>
          </p:txBody>
        </p:sp>
        <p:sp>
          <p:nvSpPr>
            <p:cNvPr id="38" name="TextBox 38"/>
            <p:cNvSpPr txBox="1"/>
            <p:nvPr/>
          </p:nvSpPr>
          <p:spPr>
            <a:xfrm>
              <a:off x="9215247" y="3037999"/>
              <a:ext cx="81466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convexity or</a:t>
              </a:r>
            </a:p>
          </p:txBody>
        </p:sp>
        <p:sp>
          <p:nvSpPr>
            <p:cNvPr id="39" name="TextBox 39"/>
            <p:cNvSpPr txBox="1"/>
            <p:nvPr/>
          </p:nvSpPr>
          <p:spPr>
            <a:xfrm>
              <a:off x="9215247" y="3247549"/>
              <a:ext cx="81466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definiteness</a:t>
              </a:r>
            </a:p>
          </p:txBody>
        </p:sp>
        <p:sp>
          <p:nvSpPr>
            <p:cNvPr id="40" name="TextBox 40"/>
            <p:cNvSpPr txBox="1"/>
            <p:nvPr/>
          </p:nvSpPr>
          <p:spPr>
            <a:xfrm>
              <a:off x="9215247" y="3457099"/>
              <a:ext cx="87403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assumptions.</a:t>
              </a:r>
            </a:p>
          </p:txBody>
        </p:sp>
        <p:sp>
          <p:nvSpPr>
            <p:cNvPr id="41" name="TextBox 41"/>
            <p:cNvSpPr txBox="1"/>
            <p:nvPr/>
          </p:nvSpPr>
          <p:spPr>
            <a:xfrm>
              <a:off x="9215247" y="3838099"/>
              <a:ext cx="853247" cy="190690"/>
            </a:xfrm>
            <a:prstGeom prst="rect">
              <a:avLst/>
            </a:prstGeom>
            <a:noFill/>
            <a:ln>
              <a:noFill/>
            </a:ln>
          </p:spPr>
          <p:txBody>
            <a:bodyPr wrap="none" lIns="0" tIns="0" rIns="0" bIns="0" anchor="t" anchorCtr="0">
              <a:spAutoFit/>
            </a:bodyPr>
            <a:lstStyle/>
            <a:p>
              <a:pPr algn="l"/>
              <a:r>
                <a:rPr lang="en-US" sz="980" b="1" dirty="0">
                  <a:solidFill>
                    <a:srgbClr val="2C7350"/>
                  </a:solidFill>
                  <a:latin typeface="+mn-lt"/>
                  <a:ea typeface="+mn-ea"/>
                  <a:cs typeface="+mn-cs"/>
                </a:rPr>
                <a:t>✓ Applies to</a:t>
              </a:r>
            </a:p>
          </p:txBody>
        </p:sp>
        <p:sp>
          <p:nvSpPr>
            <p:cNvPr id="42" name="TextBox 42"/>
            <p:cNvSpPr txBox="1"/>
            <p:nvPr/>
          </p:nvSpPr>
          <p:spPr>
            <a:xfrm>
              <a:off x="9215247" y="4047649"/>
              <a:ext cx="1048836" cy="190690"/>
            </a:xfrm>
            <a:prstGeom prst="rect">
              <a:avLst/>
            </a:prstGeom>
            <a:noFill/>
            <a:ln>
              <a:noFill/>
            </a:ln>
          </p:spPr>
          <p:txBody>
            <a:bodyPr wrap="none" lIns="0" tIns="0" rIns="0" bIns="0" anchor="t" anchorCtr="0">
              <a:spAutoFit/>
            </a:bodyPr>
            <a:lstStyle/>
            <a:p>
              <a:pPr algn="l"/>
              <a:r>
                <a:rPr lang="en-US" sz="980" b="1" dirty="0">
                  <a:solidFill>
                    <a:srgbClr val="2C7350"/>
                  </a:solidFill>
                  <a:latin typeface="+mn-lt"/>
                  <a:ea typeface="+mn-ea"/>
                  <a:cs typeface="+mn-cs"/>
                </a:rPr>
                <a:t>real deep nets.</a:t>
              </a:r>
            </a:p>
          </p:txBody>
        </p:sp>
      </p:grpSp>
      <p:grpSp>
        <p:nvGrpSpPr>
          <p:cNvPr id="48" name="Group 48"/>
          <p:cNvGrpSpPr/>
          <p:nvPr/>
        </p:nvGrpSpPr>
        <p:grpSpPr>
          <a:xfrm>
            <a:off x="609600" y="4857750"/>
            <a:ext cx="10972800" cy="1143000"/>
            <a:chOff x="609600" y="4857750"/>
            <a:chExt cx="10972800" cy="1143000"/>
          </a:xfrm>
        </p:grpSpPr>
        <p:sp>
          <p:nvSpPr>
            <p:cNvPr id="44" name="Rectangle 44"/>
            <p:cNvSpPr/>
            <p:nvPr/>
          </p:nvSpPr>
          <p:spPr>
            <a:xfrm>
              <a:off x="609600" y="4857750"/>
              <a:ext cx="10972800" cy="1143000"/>
            </a:xfrm>
            <a:prstGeom prst="roundRect">
              <a:avLst>
                <a:gd name="adj" fmla="val 10000"/>
              </a:avLst>
            </a:prstGeom>
            <a:solidFill>
              <a:srgbClr val="EAF1FB"/>
            </a:solidFill>
            <a:ln>
              <a:noFill/>
            </a:ln>
          </p:spPr>
        </p:sp>
        <p:sp>
          <p:nvSpPr>
            <p:cNvPr id="45" name="TextBox 45"/>
            <p:cNvSpPr txBox="1"/>
            <p:nvPr/>
          </p:nvSpPr>
          <p:spPr>
            <a:xfrm>
              <a:off x="871347" y="5152549"/>
              <a:ext cx="329723"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Goal</a:t>
              </a:r>
            </a:p>
          </p:txBody>
        </p:sp>
        <p:sp>
          <p:nvSpPr>
            <p:cNvPr id="46" name="TextBox 46"/>
            <p:cNvSpPr txBox="1"/>
            <p:nvPr/>
          </p:nvSpPr>
          <p:spPr>
            <a:xfrm>
              <a:off x="870204" y="5414010"/>
              <a:ext cx="765869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Turn an empirical coincidence — curvature tracks memorization — into a proven, assumption-light</a:t>
              </a:r>
            </a:p>
          </p:txBody>
        </p:sp>
        <p:sp>
          <p:nvSpPr>
            <p:cNvPr id="47" name="TextBox 47"/>
            <p:cNvSpPr txBox="1"/>
            <p:nvPr/>
          </p:nvSpPr>
          <p:spPr>
            <a:xfrm>
              <a:off x="870204" y="5642610"/>
              <a:ext cx="527044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theory that also connects both quantities to differential privacy.</a:t>
              </a:r>
            </a:p>
          </p:txBody>
        </p:sp>
      </p:grpSp>
      <p:grpSp>
        <p:nvGrpSpPr>
          <p:cNvPr id="52" name="Group 52"/>
          <p:cNvGrpSpPr/>
          <p:nvPr/>
        </p:nvGrpSpPr>
        <p:grpSpPr>
          <a:xfrm>
            <a:off x="604838" y="6457950"/>
            <a:ext cx="10982324" cy="263366"/>
            <a:chOff x="604838" y="6457950"/>
            <a:chExt cx="10982324" cy="263366"/>
          </a:xfrm>
        </p:grpSpPr>
        <p:sp>
          <p:nvSpPr>
            <p:cNvPr id="49" name="Line 49"/>
            <p:cNvSpPr/>
            <p:nvPr/>
          </p:nvSpPr>
          <p:spPr>
            <a:xfrm>
              <a:off x="609600" y="6457950"/>
              <a:ext cx="10972800" cy="9525"/>
            </a:xfrm>
            <a:custGeom>
              <a:avLst/>
              <a:gdLst/>
              <a:ahLst/>
              <a:cxnLst/>
              <a:rect l="l" t="t" r="r" b="b"/>
              <a:pathLst>
                <a:path w="10972800" h="9525">
                  <a:moveTo>
                    <a:pt x="0" y="0"/>
                  </a:moveTo>
                  <a:lnTo>
                    <a:pt x="10972800" y="0"/>
                  </a:lnTo>
                </a:path>
              </a:pathLst>
            </a:custGeom>
            <a:noFill/>
            <a:ln w="9525">
              <a:solidFill>
                <a:schemeClr val="accent4"/>
              </a:solidFill>
            </a:ln>
          </p:spPr>
        </p:sp>
        <p:sp>
          <p:nvSpPr>
            <p:cNvPr id="50" name="TextBox 50"/>
            <p:cNvSpPr txBox="1"/>
            <p:nvPr/>
          </p:nvSpPr>
          <p:spPr>
            <a:xfrm>
              <a:off x="604838" y="6559391"/>
              <a:ext cx="2528947" cy="161925"/>
            </a:xfrm>
            <a:prstGeom prst="rect">
              <a:avLst/>
            </a:prstGeom>
            <a:noFill/>
            <a:ln>
              <a:noFill/>
            </a:ln>
          </p:spPr>
          <p:txBody>
            <a:bodyPr wrap="none" lIns="0" tIns="0" rIns="0" bIns="0" anchor="t" anchorCtr="0">
              <a:spAutoFit/>
            </a:bodyPr>
            <a:lstStyle/>
            <a:p>
              <a:pPr algn="l"/>
              <a:r>
                <a:rPr lang="en-US" sz="820" dirty="0">
                  <a:solidFill>
                    <a:srgbClr val="8A94A8"/>
                  </a:solidFill>
                  <a:latin typeface="+mn-lt"/>
                  <a:ea typeface="+mn-ea"/>
                  <a:cs typeface="+mn-cs"/>
                </a:rPr>
                <a:t>Input Loss Curvature ↔ Memorization ↔ Privacy</a:t>
              </a:r>
            </a:p>
          </p:txBody>
        </p:sp>
        <p:sp>
          <p:nvSpPr>
            <p:cNvPr id="51" name="TextBox 51"/>
            <p:cNvSpPr txBox="1"/>
            <p:nvPr/>
          </p:nvSpPr>
          <p:spPr>
            <a:xfrm>
              <a:off x="11207836" y="6559391"/>
              <a:ext cx="379326" cy="161925"/>
            </a:xfrm>
            <a:prstGeom prst="rect">
              <a:avLst/>
            </a:prstGeom>
            <a:noFill/>
            <a:ln>
              <a:noFill/>
            </a:ln>
          </p:spPr>
          <p:txBody>
            <a:bodyPr wrap="none" lIns="0" tIns="0" rIns="0" bIns="0" anchor="t" anchorCtr="0">
              <a:spAutoFit/>
            </a:bodyPr>
            <a:lstStyle/>
            <a:p>
              <a:pPr algn="r"/>
              <a:r>
                <a:rPr lang="en-US" sz="820" dirty="0">
                  <a:solidFill>
                    <a:srgbClr val="8A94A8"/>
                  </a:solidFill>
                  <a:latin typeface="+mn-lt"/>
                  <a:ea typeface="+mn-ea"/>
                  <a:cs typeface="+mn-cs"/>
                </a:rPr>
                <a:t>03 / 10</a:t>
              </a:r>
            </a:p>
          </p:txBody>
        </p:sp>
      </p:grpSp>
      <p:sp>
        <p:nvSpPr>
          <p:cNvPr id="53" name="cue_s03_c1_proving_curvature_bounds_memorizatio" title="cue_s03_c1_proving_curvature_bounds_memorizatio" descr="cue_s03_c1_proving_curvature_bounds_memorizatio Proving curvature bounds memorization would license the cheap proxy over the expensive score."/>
          <p:cNvSpPr/>
          <p:nvPr/>
        </p:nvSpPr>
        <p:spPr>
          <a:xfrm>
            <a:off x="609600" y="1428521"/>
            <a:ext cx="5409590" cy="153687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3_c2_because_memorization_privacy_risk_li" title="cue_s03_c2_because_memorization_privacy_risk_li" descr="cue_s03_c2_because_memorization_privacy_risk_li Because memorization is a privacy risk, linking differential privacy to curvature explains why privacy reduces leakage."/>
          <p:cNvSpPr/>
          <p:nvPr/>
        </p:nvSpPr>
        <p:spPr>
          <a:xfrm>
            <a:off x="609600" y="3143021"/>
            <a:ext cx="5409590" cy="153687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3_c3_unlike_influence_functions_which_ass" title="cue_s03_c3_unlike_influence_functions_which_ass" descr="cue_s03_c3_unlike_influence_functions_which_ass Unlike influence functions, which assume Hessian convexity that fails for deep nets, this framework needs no such assumptions."/>
          <p:cNvSpPr/>
          <p:nvPr/>
        </p:nvSpPr>
        <p:spPr>
          <a:xfrm>
            <a:off x="6325209" y="1428521"/>
            <a:ext cx="5258409"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09600" y="495300"/>
            <a:ext cx="10972800" cy="677037"/>
            <a:chOff x="609600" y="495300"/>
            <a:chExt cx="10972800" cy="677037"/>
          </a:xfrm>
        </p:grpSpPr>
        <p:sp>
          <p:nvSpPr>
            <p:cNvPr id="2" name="Rectangle 2"/>
            <p:cNvSpPr/>
            <p:nvPr/>
          </p:nvSpPr>
          <p:spPr>
            <a:xfrm>
              <a:off x="609600" y="495300"/>
              <a:ext cx="57150" cy="381000"/>
            </a:xfrm>
            <a:prstGeom prst="rect">
              <a:avLst/>
            </a:prstGeom>
            <a:solidFill>
              <a:srgbClr val="3E9E6E"/>
            </a:solidFill>
            <a:ln>
              <a:noFill/>
            </a:ln>
          </p:spPr>
        </p:sp>
        <p:sp>
          <p:nvSpPr>
            <p:cNvPr id="3" name="TextBox 3"/>
            <p:cNvSpPr txBox="1"/>
            <p:nvPr/>
          </p:nvSpPr>
          <p:spPr>
            <a:xfrm>
              <a:off x="814197" y="580549"/>
              <a:ext cx="2067977" cy="190690"/>
            </a:xfrm>
            <a:prstGeom prst="rect">
              <a:avLst/>
            </a:prstGeom>
            <a:noFill/>
            <a:ln>
              <a:noFill/>
            </a:ln>
          </p:spPr>
          <p:txBody>
            <a:bodyPr wrap="none" lIns="0" tIns="0" rIns="0" bIns="0" anchor="t" anchorCtr="0">
              <a:spAutoFit/>
            </a:bodyPr>
            <a:lstStyle/>
            <a:p>
              <a:pPr algn="l"/>
              <a:r>
                <a:rPr lang="en-US" sz="980" b="1" spc="150" dirty="0">
                  <a:solidFill>
                    <a:srgbClr val="8A94A8"/>
                  </a:solidFill>
                  <a:latin typeface="+mn-lt"/>
                  <a:ea typeface="+mn-ea"/>
                  <a:cs typeface="+mn-cs"/>
                </a:rPr>
                <a:t>CONTRIBUTION · 04 / 10</a:t>
              </a:r>
            </a:p>
          </p:txBody>
        </p:sp>
        <p:sp>
          <p:nvSpPr>
            <p:cNvPr id="4" name="TextBox 4"/>
            <p:cNvSpPr txBox="1"/>
            <p:nvPr/>
          </p:nvSpPr>
          <p:spPr>
            <a:xfrm>
              <a:off x="806958" y="702945"/>
              <a:ext cx="5213993"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j-lt"/>
                  <a:ea typeface="+mj-ea"/>
                  <a:cs typeface="+mj-cs"/>
                </a:rPr>
                <a:t>Three theorems, one triangle</a:t>
              </a:r>
            </a:p>
          </p:txBody>
        </p:sp>
        <p:sp>
          <p:nvSpPr>
            <p:cNvPr id="5" name="Line 5"/>
            <p:cNvSpPr/>
            <p:nvPr/>
          </p:nvSpPr>
          <p:spPr>
            <a:xfrm>
              <a:off x="609600" y="1143000"/>
              <a:ext cx="10972800" cy="9525"/>
            </a:xfrm>
            <a:custGeom>
              <a:avLst/>
              <a:gdLst/>
              <a:ahLst/>
              <a:cxnLst/>
              <a:rect l="l" t="t" r="r" b="b"/>
              <a:pathLst>
                <a:path w="10972800" h="9525">
                  <a:moveTo>
                    <a:pt x="0" y="0"/>
                  </a:moveTo>
                  <a:lnTo>
                    <a:pt x="10972800" y="0"/>
                  </a:lnTo>
                </a:path>
              </a:pathLst>
            </a:custGeom>
            <a:noFill/>
            <a:ln w="14288">
              <a:solidFill>
                <a:schemeClr val="accent4"/>
              </a:solidFill>
            </a:ln>
          </p:spPr>
        </p:sp>
      </p:grpSp>
      <p:grpSp>
        <p:nvGrpSpPr>
          <p:cNvPr id="12" name="Group 12"/>
          <p:cNvGrpSpPr/>
          <p:nvPr/>
        </p:nvGrpSpPr>
        <p:grpSpPr>
          <a:xfrm>
            <a:off x="609600" y="1428750"/>
            <a:ext cx="5334000" cy="990600"/>
            <a:chOff x="609600" y="1428750"/>
            <a:chExt cx="5334000" cy="990600"/>
          </a:xfrm>
        </p:grpSpPr>
        <p:sp>
          <p:nvSpPr>
            <p:cNvPr id="7" name="Rectangle 7"/>
            <p:cNvSpPr/>
            <p:nvPr/>
          </p:nvSpPr>
          <p:spPr>
            <a:xfrm>
              <a:off x="609600" y="1428750"/>
              <a:ext cx="5334000" cy="990600"/>
            </a:xfrm>
            <a:prstGeom prst="roundRect">
              <a:avLst>
                <a:gd name="adj" fmla="val 11538"/>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8" name="Rectangle 8"/>
            <p:cNvSpPr/>
            <p:nvPr/>
          </p:nvSpPr>
          <p:spPr>
            <a:xfrm>
              <a:off x="609600" y="1428750"/>
              <a:ext cx="66675" cy="990600"/>
            </a:xfrm>
            <a:prstGeom prst="rect">
              <a:avLst/>
            </a:prstGeom>
            <a:solidFill>
              <a:schemeClr val="accent2"/>
            </a:solidFill>
            <a:ln>
              <a:noFill/>
            </a:ln>
          </p:spPr>
        </p:sp>
        <p:sp>
          <p:nvSpPr>
            <p:cNvPr id="9" name="TextBox 9"/>
            <p:cNvSpPr txBox="1"/>
            <p:nvPr/>
          </p:nvSpPr>
          <p:spPr>
            <a:xfrm>
              <a:off x="871538" y="1655445"/>
              <a:ext cx="2213214" cy="176212"/>
            </a:xfrm>
            <a:prstGeom prst="rect">
              <a:avLst/>
            </a:prstGeom>
            <a:noFill/>
            <a:ln>
              <a:noFill/>
            </a:ln>
          </p:spPr>
          <p:txBody>
            <a:bodyPr wrap="none" lIns="0" tIns="0" rIns="0" bIns="0" anchor="t" anchorCtr="0">
              <a:spAutoFit/>
            </a:bodyPr>
            <a:lstStyle/>
            <a:p>
              <a:pPr algn="l"/>
              <a:r>
                <a:rPr lang="en-US" sz="900" b="1" spc="112" dirty="0">
                  <a:solidFill>
                    <a:srgbClr val="2450A8"/>
                  </a:solidFill>
                  <a:latin typeface="+mn-lt"/>
                  <a:ea typeface="+mn-ea"/>
                  <a:cs typeface="+mn-cs"/>
                </a:rPr>
                <a:t>THEOREM 5.1 · THEOREM 5.3</a:t>
              </a:r>
            </a:p>
          </p:txBody>
        </p:sp>
        <p:sp>
          <p:nvSpPr>
            <p:cNvPr id="10" name="TextBox 10"/>
            <p:cNvSpPr txBox="1"/>
            <p:nvPr/>
          </p:nvSpPr>
          <p:spPr>
            <a:xfrm>
              <a:off x="869823" y="1900714"/>
              <a:ext cx="349294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Curvature upper-bounds memorization;</a:t>
              </a:r>
            </a:p>
          </p:txBody>
        </p:sp>
        <p:sp>
          <p:nvSpPr>
            <p:cNvPr id="11" name="TextBox 11"/>
            <p:cNvSpPr txBox="1"/>
            <p:nvPr/>
          </p:nvSpPr>
          <p:spPr>
            <a:xfrm>
              <a:off x="869823" y="2129314"/>
              <a:ext cx="3866748"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privacy ε upper-bounds average curvature.</a:t>
              </a:r>
            </a:p>
          </p:txBody>
        </p:sp>
      </p:grpSp>
      <p:grpSp>
        <p:nvGrpSpPr>
          <p:cNvPr id="17" name="Group 17"/>
          <p:cNvGrpSpPr/>
          <p:nvPr/>
        </p:nvGrpSpPr>
        <p:grpSpPr>
          <a:xfrm>
            <a:off x="609600" y="2552700"/>
            <a:ext cx="5334000" cy="876300"/>
            <a:chOff x="609600" y="2552700"/>
            <a:chExt cx="5334000" cy="876300"/>
          </a:xfrm>
        </p:grpSpPr>
        <p:sp>
          <p:nvSpPr>
            <p:cNvPr id="13" name="Rectangle 13"/>
            <p:cNvSpPr/>
            <p:nvPr/>
          </p:nvSpPr>
          <p:spPr>
            <a:xfrm>
              <a:off x="609600" y="2552700"/>
              <a:ext cx="5334000" cy="876300"/>
            </a:xfrm>
            <a:prstGeom prst="roundRect">
              <a:avLst>
                <a:gd name="adj" fmla="val 13043"/>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14" name="Rectangle 14"/>
            <p:cNvSpPr/>
            <p:nvPr/>
          </p:nvSpPr>
          <p:spPr>
            <a:xfrm>
              <a:off x="609600" y="2552700"/>
              <a:ext cx="66675" cy="876300"/>
            </a:xfrm>
            <a:prstGeom prst="rect">
              <a:avLst/>
            </a:prstGeom>
            <a:solidFill>
              <a:schemeClr val="accent5"/>
            </a:solidFill>
            <a:ln>
              <a:noFill/>
            </a:ln>
          </p:spPr>
        </p:sp>
        <p:sp>
          <p:nvSpPr>
            <p:cNvPr id="15" name="TextBox 15"/>
            <p:cNvSpPr txBox="1"/>
            <p:nvPr/>
          </p:nvSpPr>
          <p:spPr>
            <a:xfrm>
              <a:off x="871538" y="2779395"/>
              <a:ext cx="1002218" cy="176212"/>
            </a:xfrm>
            <a:prstGeom prst="rect">
              <a:avLst/>
            </a:prstGeom>
            <a:noFill/>
            <a:ln>
              <a:noFill/>
            </a:ln>
          </p:spPr>
          <p:txBody>
            <a:bodyPr wrap="none" lIns="0" tIns="0" rIns="0" bIns="0" anchor="t" anchorCtr="0">
              <a:spAutoFit/>
            </a:bodyPr>
            <a:lstStyle/>
            <a:p>
              <a:pPr algn="l"/>
              <a:r>
                <a:rPr lang="en-US" sz="900" b="1" spc="112" dirty="0">
                  <a:solidFill>
                    <a:schemeClr val="accent6"/>
                  </a:solidFill>
                  <a:latin typeface="+mn-lt"/>
                  <a:ea typeface="+mn-ea"/>
                  <a:cs typeface="+mn-cs"/>
                </a:rPr>
                <a:t>THEOREM 5.4</a:t>
              </a:r>
            </a:p>
          </p:txBody>
        </p:sp>
        <p:sp>
          <p:nvSpPr>
            <p:cNvPr id="16" name="TextBox 16"/>
            <p:cNvSpPr txBox="1"/>
            <p:nvPr/>
          </p:nvSpPr>
          <p:spPr>
            <a:xfrm>
              <a:off x="869823" y="3024664"/>
              <a:ext cx="4008387"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Privacy directly upper-bounds memorization.</a:t>
              </a:r>
            </a:p>
          </p:txBody>
        </p:sp>
      </p:grpSp>
      <p:grpSp>
        <p:nvGrpSpPr>
          <p:cNvPr id="23" name="Group 23"/>
          <p:cNvGrpSpPr/>
          <p:nvPr/>
        </p:nvGrpSpPr>
        <p:grpSpPr>
          <a:xfrm>
            <a:off x="609600" y="3562350"/>
            <a:ext cx="5334000" cy="1047750"/>
            <a:chOff x="609600" y="3562350"/>
            <a:chExt cx="5334000" cy="1047750"/>
          </a:xfrm>
        </p:grpSpPr>
        <p:sp>
          <p:nvSpPr>
            <p:cNvPr id="18" name="Rectangle 18"/>
            <p:cNvSpPr/>
            <p:nvPr/>
          </p:nvSpPr>
          <p:spPr>
            <a:xfrm>
              <a:off x="609600" y="3562350"/>
              <a:ext cx="5334000" cy="1047750"/>
            </a:xfrm>
            <a:prstGeom prst="roundRect">
              <a:avLst>
                <a:gd name="adj" fmla="val 10909"/>
              </a:avLst>
            </a:prstGeom>
            <a:solidFill>
              <a:srgbClr val="E3F1EA"/>
            </a:solidFill>
            <a:ln w="14288">
              <a:solidFill>
                <a:srgbClr val="3E9E6E"/>
              </a:solidFill>
            </a:ln>
          </p:spPr>
        </p:sp>
        <p:sp>
          <p:nvSpPr>
            <p:cNvPr id="19" name="Rectangle 19"/>
            <p:cNvSpPr/>
            <p:nvPr/>
          </p:nvSpPr>
          <p:spPr>
            <a:xfrm>
              <a:off x="609600" y="3562350"/>
              <a:ext cx="66675" cy="1047750"/>
            </a:xfrm>
            <a:prstGeom prst="rect">
              <a:avLst/>
            </a:prstGeom>
            <a:solidFill>
              <a:srgbClr val="3E9E6E"/>
            </a:solidFill>
            <a:ln>
              <a:noFill/>
            </a:ln>
          </p:spPr>
        </p:sp>
        <p:sp>
          <p:nvSpPr>
            <p:cNvPr id="20" name="TextBox 20"/>
            <p:cNvSpPr txBox="1"/>
            <p:nvPr/>
          </p:nvSpPr>
          <p:spPr>
            <a:xfrm>
              <a:off x="871538" y="3789045"/>
              <a:ext cx="2808630" cy="176212"/>
            </a:xfrm>
            <a:prstGeom prst="rect">
              <a:avLst/>
            </a:prstGeom>
            <a:noFill/>
            <a:ln>
              <a:noFill/>
            </a:ln>
          </p:spPr>
          <p:txBody>
            <a:bodyPr wrap="none" lIns="0" tIns="0" rIns="0" bIns="0" anchor="t" anchorCtr="0">
              <a:spAutoFit/>
            </a:bodyPr>
            <a:lstStyle/>
            <a:p>
              <a:pPr algn="l"/>
              <a:r>
                <a:rPr lang="en-US" sz="900" b="1" spc="112" dirty="0">
                  <a:solidFill>
                    <a:srgbClr val="2C7350"/>
                  </a:solidFill>
                  <a:latin typeface="+mn-lt"/>
                  <a:ea typeface="+mn-ea"/>
                  <a:cs typeface="+mn-cs"/>
                </a:rPr>
                <a:t>NO HESSIAN-CONVEXITY ASSUMPTIONS</a:t>
              </a:r>
            </a:p>
          </p:txBody>
        </p:sp>
        <p:sp>
          <p:nvSpPr>
            <p:cNvPr id="21" name="TextBox 21"/>
            <p:cNvSpPr txBox="1"/>
            <p:nvPr/>
          </p:nvSpPr>
          <p:spPr>
            <a:xfrm>
              <a:off x="870204" y="4042410"/>
              <a:ext cx="3690430"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So the results hold for real deep networks —</a:t>
              </a:r>
            </a:p>
          </p:txBody>
        </p:sp>
        <p:sp>
          <p:nvSpPr>
            <p:cNvPr id="22" name="TextBox 22"/>
            <p:cNvSpPr txBox="1"/>
            <p:nvPr/>
          </p:nvSpPr>
          <p:spPr>
            <a:xfrm>
              <a:off x="870204" y="4271010"/>
              <a:ext cx="3226514"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and all three are validated empirically.</a:t>
              </a:r>
            </a:p>
          </p:txBody>
        </p:sp>
      </p:grpSp>
      <p:grpSp>
        <p:nvGrpSpPr>
          <p:cNvPr id="28" name="Group 28"/>
          <p:cNvGrpSpPr/>
          <p:nvPr/>
        </p:nvGrpSpPr>
        <p:grpSpPr>
          <a:xfrm>
            <a:off x="6172200" y="1428750"/>
            <a:ext cx="5410200" cy="4476750"/>
            <a:chOff x="6172200" y="1428750"/>
            <a:chExt cx="5410200" cy="4476750"/>
          </a:xfrm>
        </p:grpSpPr>
        <p:sp>
          <p:nvSpPr>
            <p:cNvPr id="24" name="Rectangle 24"/>
            <p:cNvSpPr/>
            <p:nvPr/>
          </p:nvSpPr>
          <p:spPr>
            <a:xfrm>
              <a:off x="6172200" y="1428750"/>
              <a:ext cx="5410200" cy="4476750"/>
            </a:xfrm>
            <a:prstGeom prst="roundRect">
              <a:avLst>
                <a:gd name="adj" fmla="val 2553"/>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25" name="TextBox 25"/>
            <p:cNvSpPr txBox="1"/>
            <p:nvPr/>
          </p:nvSpPr>
          <p:spPr>
            <a:xfrm>
              <a:off x="7634246" y="1650206"/>
              <a:ext cx="2486107"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mn-lt"/>
                  <a:ea typeface="+mn-ea"/>
                  <a:cs typeface="+mn-cs"/>
                </a:rPr>
                <a:t>Three links connect the triangle</a:t>
              </a:r>
            </a:p>
          </p:txBody>
        </p:sp>
        <p:pic>
          <p:nvPicPr>
            <p:cNvPr id="26" name="Image 26"/>
            <p:cNvPicPr>
              <a:picLocks noChangeAspect="1"/>
            </p:cNvPicPr>
            <p:nvPr/>
          </p:nvPicPr>
          <p:blipFill>
            <a:blip r:embed="rId2"/>
            <a:stretch>
              <a:fillRect/>
            </a:stretch>
          </p:blipFill>
          <p:spPr>
            <a:xfrm>
              <a:off x="6400800" y="2151698"/>
              <a:ext cx="4953000" cy="3165158"/>
            </a:xfrm>
            <a:prstGeom prst="rect">
              <a:avLst/>
            </a:prstGeom>
          </p:spPr>
        </p:pic>
        <p:sp>
          <p:nvSpPr>
            <p:cNvPr id="27" name="TextBox 27"/>
            <p:cNvSpPr txBox="1"/>
            <p:nvPr/>
          </p:nvSpPr>
          <p:spPr>
            <a:xfrm>
              <a:off x="7334868" y="5674995"/>
              <a:ext cx="3084863" cy="176212"/>
            </a:xfrm>
            <a:prstGeom prst="rect">
              <a:avLst/>
            </a:prstGeom>
            <a:noFill/>
            <a:ln>
              <a:noFill/>
            </a:ln>
          </p:spPr>
          <p:txBody>
            <a:bodyPr wrap="none" lIns="0" tIns="0" rIns="0" bIns="0" anchor="t" anchorCtr="0">
              <a:spAutoFit/>
            </a:bodyPr>
            <a:lstStyle/>
            <a:p>
              <a:pPr algn="ctr"/>
              <a:r>
                <a:rPr lang="en-US" sz="900" i="1" dirty="0">
                  <a:solidFill>
                    <a:srgbClr val="8A94A8"/>
                  </a:solidFill>
                  <a:latin typeface="+mn-lt"/>
                  <a:ea typeface="+mn-ea"/>
                  <a:cs typeface="+mn-cs"/>
                </a:rPr>
                <a:t>Figure 1 · Memorization ↔ Input Curvature ↔ Privacy</a:t>
              </a:r>
            </a:p>
          </p:txBody>
        </p:sp>
      </p:grpSp>
      <p:grpSp>
        <p:nvGrpSpPr>
          <p:cNvPr id="32" name="Group 32"/>
          <p:cNvGrpSpPr/>
          <p:nvPr/>
        </p:nvGrpSpPr>
        <p:grpSpPr>
          <a:xfrm>
            <a:off x="604838" y="6457950"/>
            <a:ext cx="10982324" cy="263366"/>
            <a:chOff x="604838" y="6457950"/>
            <a:chExt cx="10982324" cy="263366"/>
          </a:xfrm>
        </p:grpSpPr>
        <p:sp>
          <p:nvSpPr>
            <p:cNvPr id="29" name="Line 29"/>
            <p:cNvSpPr/>
            <p:nvPr/>
          </p:nvSpPr>
          <p:spPr>
            <a:xfrm>
              <a:off x="609600" y="6457950"/>
              <a:ext cx="10972800" cy="9525"/>
            </a:xfrm>
            <a:custGeom>
              <a:avLst/>
              <a:gdLst/>
              <a:ahLst/>
              <a:cxnLst/>
              <a:rect l="l" t="t" r="r" b="b"/>
              <a:pathLst>
                <a:path w="10972800" h="9525">
                  <a:moveTo>
                    <a:pt x="0" y="0"/>
                  </a:moveTo>
                  <a:lnTo>
                    <a:pt x="10972800" y="0"/>
                  </a:lnTo>
                </a:path>
              </a:pathLst>
            </a:custGeom>
            <a:noFill/>
            <a:ln w="9525">
              <a:solidFill>
                <a:schemeClr val="accent4"/>
              </a:solidFill>
            </a:ln>
          </p:spPr>
        </p:sp>
        <p:sp>
          <p:nvSpPr>
            <p:cNvPr id="30" name="TextBox 30"/>
            <p:cNvSpPr txBox="1"/>
            <p:nvPr/>
          </p:nvSpPr>
          <p:spPr>
            <a:xfrm>
              <a:off x="604838" y="6559391"/>
              <a:ext cx="2528947" cy="161925"/>
            </a:xfrm>
            <a:prstGeom prst="rect">
              <a:avLst/>
            </a:prstGeom>
            <a:noFill/>
            <a:ln>
              <a:noFill/>
            </a:ln>
          </p:spPr>
          <p:txBody>
            <a:bodyPr wrap="none" lIns="0" tIns="0" rIns="0" bIns="0" anchor="t" anchorCtr="0">
              <a:spAutoFit/>
            </a:bodyPr>
            <a:lstStyle/>
            <a:p>
              <a:pPr algn="l"/>
              <a:r>
                <a:rPr lang="en-US" sz="820" dirty="0">
                  <a:solidFill>
                    <a:srgbClr val="8A94A8"/>
                  </a:solidFill>
                  <a:latin typeface="+mn-lt"/>
                  <a:ea typeface="+mn-ea"/>
                  <a:cs typeface="+mn-cs"/>
                </a:rPr>
                <a:t>Input Loss Curvature ↔ Memorization ↔ Privacy</a:t>
              </a:r>
            </a:p>
          </p:txBody>
        </p:sp>
        <p:sp>
          <p:nvSpPr>
            <p:cNvPr id="31" name="TextBox 31"/>
            <p:cNvSpPr txBox="1"/>
            <p:nvPr/>
          </p:nvSpPr>
          <p:spPr>
            <a:xfrm>
              <a:off x="11207836" y="6559391"/>
              <a:ext cx="379326" cy="161925"/>
            </a:xfrm>
            <a:prstGeom prst="rect">
              <a:avLst/>
            </a:prstGeom>
            <a:noFill/>
            <a:ln>
              <a:noFill/>
            </a:ln>
          </p:spPr>
          <p:txBody>
            <a:bodyPr wrap="none" lIns="0" tIns="0" rIns="0" bIns="0" anchor="t" anchorCtr="0">
              <a:spAutoFit/>
            </a:bodyPr>
            <a:lstStyle/>
            <a:p>
              <a:pPr algn="r"/>
              <a:r>
                <a:rPr lang="en-US" sz="820" dirty="0">
                  <a:solidFill>
                    <a:srgbClr val="8A94A8"/>
                  </a:solidFill>
                  <a:latin typeface="+mn-lt"/>
                  <a:ea typeface="+mn-ea"/>
                  <a:cs typeface="+mn-cs"/>
                </a:rPr>
                <a:t>04 / 10</a:t>
              </a:r>
            </a:p>
          </p:txBody>
        </p:sp>
      </p:grpSp>
      <p:sp>
        <p:nvSpPr>
          <p:cNvPr id="33" name="cue_s04_c1_proves_three_links_triangle_connecti" title="cue_s04_c1_proves_three_links_triangle_connecti" descr="cue_s04_c1_proves_three_links_triangle_connecti The paper proves three links in a triangle connecting memorization, input loss curvature, and differential privacy."/>
          <p:cNvSpPr/>
          <p:nvPr/>
        </p:nvSpPr>
        <p:spPr>
          <a:xfrm>
            <a:off x="6171590" y="1428521"/>
            <a:ext cx="5409590" cy="4476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4_c2_first_curvature_upper_bounds_memoriz" title="cue_s04_c2_first_curvature_upper_bounds_memoriz" descr="cue_s04_c2_first_curvature_upper_bounds_memoriz First, curvature upper-bounds memorization. Second, the privacy parameter upper-bounds average curvature."/>
          <p:cNvSpPr/>
          <p:nvPr/>
        </p:nvSpPr>
        <p:spPr>
          <a:xfrm>
            <a:off x="609600" y="1428521"/>
            <a:ext cx="5334000"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4_c3_third_privacy_bounds_memorization_di" title="cue_s04_c3_third_privacy_bounds_memorization_di" descr="cue_s04_c3_third_privacy_bounds_memorization_di Third, privacy bounds memorization directly."/>
          <p:cNvSpPr/>
          <p:nvPr/>
        </p:nvSpPr>
        <p:spPr>
          <a:xfrm>
            <a:off x="609600" y="2552547"/>
            <a:ext cx="5334000"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4_c4_none_assume_hessian_convexity_they" title="cue_s04_c4_none_assume_hessian_convexity_they" descr="cue_s04_c4_none_assume_hessian_convexity_they None assume Hessian convexity, so they hold for real deep networks, and all three are validated empirically."/>
          <p:cNvSpPr/>
          <p:nvPr/>
        </p:nvSpPr>
        <p:spPr>
          <a:xfrm>
            <a:off x="609600" y="3562045"/>
            <a:ext cx="5334000" cy="1047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09600" y="495300"/>
            <a:ext cx="10972800" cy="677037"/>
            <a:chOff x="609600" y="495300"/>
            <a:chExt cx="10972800" cy="677037"/>
          </a:xfrm>
        </p:grpSpPr>
        <p:sp>
          <p:nvSpPr>
            <p:cNvPr id="2" name="Rectangle 2"/>
            <p:cNvSpPr/>
            <p:nvPr/>
          </p:nvSpPr>
          <p:spPr>
            <a:xfrm>
              <a:off x="609600" y="495300"/>
              <a:ext cx="57150" cy="381000"/>
            </a:xfrm>
            <a:prstGeom prst="rect">
              <a:avLst/>
            </a:prstGeom>
            <a:solidFill>
              <a:schemeClr val="accent2"/>
            </a:solidFill>
            <a:ln>
              <a:noFill/>
            </a:ln>
          </p:spPr>
        </p:sp>
        <p:sp>
          <p:nvSpPr>
            <p:cNvPr id="3" name="TextBox 3"/>
            <p:cNvSpPr txBox="1"/>
            <p:nvPr/>
          </p:nvSpPr>
          <p:spPr>
            <a:xfrm>
              <a:off x="814197" y="580549"/>
              <a:ext cx="1530139" cy="190690"/>
            </a:xfrm>
            <a:prstGeom prst="rect">
              <a:avLst/>
            </a:prstGeom>
            <a:noFill/>
            <a:ln>
              <a:noFill/>
            </a:ln>
          </p:spPr>
          <p:txBody>
            <a:bodyPr wrap="none" lIns="0" tIns="0" rIns="0" bIns="0" anchor="t" anchorCtr="0">
              <a:spAutoFit/>
            </a:bodyPr>
            <a:lstStyle/>
            <a:p>
              <a:pPr algn="l"/>
              <a:r>
                <a:rPr lang="en-US" sz="980" b="1" spc="150" dirty="0">
                  <a:solidFill>
                    <a:srgbClr val="8A94A8"/>
                  </a:solidFill>
                  <a:latin typeface="+mn-lt"/>
                  <a:ea typeface="+mn-ea"/>
                  <a:cs typeface="+mn-cs"/>
                </a:rPr>
                <a:t>METHOD · 05 / 10</a:t>
              </a:r>
            </a:p>
          </p:txBody>
        </p:sp>
        <p:sp>
          <p:nvSpPr>
            <p:cNvPr id="4" name="TextBox 4"/>
            <p:cNvSpPr txBox="1"/>
            <p:nvPr/>
          </p:nvSpPr>
          <p:spPr>
            <a:xfrm>
              <a:off x="806958" y="702945"/>
              <a:ext cx="8431687"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j-lt"/>
                  <a:ea typeface="+mj-ea"/>
                  <a:cs typeface="+mj-cs"/>
                </a:rPr>
                <a:t>From a Taylor expansion to two provable bounds</a:t>
              </a:r>
            </a:p>
          </p:txBody>
        </p:sp>
        <p:sp>
          <p:nvSpPr>
            <p:cNvPr id="5" name="Line 5"/>
            <p:cNvSpPr/>
            <p:nvPr/>
          </p:nvSpPr>
          <p:spPr>
            <a:xfrm>
              <a:off x="609600" y="1143000"/>
              <a:ext cx="10972800" cy="9525"/>
            </a:xfrm>
            <a:custGeom>
              <a:avLst/>
              <a:gdLst/>
              <a:ahLst/>
              <a:cxnLst/>
              <a:rect l="l" t="t" r="r" b="b"/>
              <a:pathLst>
                <a:path w="10972800" h="9525">
                  <a:moveTo>
                    <a:pt x="0" y="0"/>
                  </a:moveTo>
                  <a:lnTo>
                    <a:pt x="10972800" y="0"/>
                  </a:lnTo>
                </a:path>
              </a:pathLst>
            </a:custGeom>
            <a:noFill/>
            <a:ln w="14288">
              <a:solidFill>
                <a:schemeClr val="accent4"/>
              </a:solidFill>
            </a:ln>
          </p:spPr>
        </p:sp>
      </p:grpSp>
      <p:grpSp>
        <p:nvGrpSpPr>
          <p:cNvPr id="12" name="Group 12"/>
          <p:cNvGrpSpPr/>
          <p:nvPr/>
        </p:nvGrpSpPr>
        <p:grpSpPr>
          <a:xfrm>
            <a:off x="609600" y="1428750"/>
            <a:ext cx="5638800" cy="1143000"/>
            <a:chOff x="609600" y="1428750"/>
            <a:chExt cx="5638800" cy="1143000"/>
          </a:xfrm>
        </p:grpSpPr>
        <p:sp>
          <p:nvSpPr>
            <p:cNvPr id="7" name="Rectangle 7"/>
            <p:cNvSpPr/>
            <p:nvPr/>
          </p:nvSpPr>
          <p:spPr>
            <a:xfrm>
              <a:off x="609600" y="1428750"/>
              <a:ext cx="5638800" cy="1143000"/>
            </a:xfrm>
            <a:prstGeom prst="roundRect">
              <a:avLst>
                <a:gd name="adj" fmla="val 10000"/>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8" name="Rectangle 8"/>
            <p:cNvSpPr/>
            <p:nvPr/>
          </p:nvSpPr>
          <p:spPr>
            <a:xfrm>
              <a:off x="609600" y="1428750"/>
              <a:ext cx="66675" cy="1143000"/>
            </a:xfrm>
            <a:prstGeom prst="rect">
              <a:avLst/>
            </a:prstGeom>
            <a:solidFill>
              <a:schemeClr val="accent2"/>
            </a:solidFill>
            <a:ln>
              <a:noFill/>
            </a:ln>
          </p:spPr>
        </p:sp>
        <p:sp>
          <p:nvSpPr>
            <p:cNvPr id="9" name="TextBox 9"/>
            <p:cNvSpPr txBox="1"/>
            <p:nvPr/>
          </p:nvSpPr>
          <p:spPr>
            <a:xfrm>
              <a:off x="871538" y="1655445"/>
              <a:ext cx="2691887" cy="176212"/>
            </a:xfrm>
            <a:prstGeom prst="rect">
              <a:avLst/>
            </a:prstGeom>
            <a:noFill/>
            <a:ln>
              <a:noFill/>
            </a:ln>
          </p:spPr>
          <p:txBody>
            <a:bodyPr wrap="none" lIns="0" tIns="0" rIns="0" bIns="0" anchor="t" anchorCtr="0">
              <a:spAutoFit/>
            </a:bodyPr>
            <a:lstStyle/>
            <a:p>
              <a:pPr algn="l"/>
              <a:r>
                <a:rPr lang="en-US" sz="900" b="1" spc="112" dirty="0">
                  <a:solidFill>
                    <a:srgbClr val="2450A8"/>
                  </a:solidFill>
                  <a:latin typeface="+mn-lt"/>
                  <a:ea typeface="+mn-ea"/>
                  <a:cs typeface="+mn-cs"/>
                </a:rPr>
                <a:t>STEP 1 · SECOND-ORDER EXPANSION</a:t>
              </a:r>
            </a:p>
          </p:txBody>
        </p:sp>
        <p:sp>
          <p:nvSpPr>
            <p:cNvPr id="10" name="TextBox 10"/>
            <p:cNvSpPr txBox="1"/>
            <p:nvPr/>
          </p:nvSpPr>
          <p:spPr>
            <a:xfrm>
              <a:off x="870204" y="1927860"/>
              <a:ext cx="3274880"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A Nesterov-Polyak second-order Taylor</a:t>
              </a:r>
            </a:p>
          </p:txBody>
        </p:sp>
        <p:sp>
          <p:nvSpPr>
            <p:cNvPr id="11" name="TextBox 11"/>
            <p:cNvSpPr txBox="1"/>
            <p:nvPr/>
          </p:nvSpPr>
          <p:spPr>
            <a:xfrm>
              <a:off x="870204" y="2156460"/>
              <a:ext cx="4266796"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expansion of the loss introduces the input Hessian.</a:t>
              </a:r>
            </a:p>
          </p:txBody>
        </p:sp>
      </p:grpSp>
      <p:grpSp>
        <p:nvGrpSpPr>
          <p:cNvPr id="21" name="Group 21"/>
          <p:cNvGrpSpPr/>
          <p:nvPr/>
        </p:nvGrpSpPr>
        <p:grpSpPr>
          <a:xfrm>
            <a:off x="609600" y="2705100"/>
            <a:ext cx="5638800" cy="1562100"/>
            <a:chOff x="609600" y="2705100"/>
            <a:chExt cx="5638800" cy="1562100"/>
          </a:xfrm>
        </p:grpSpPr>
        <p:sp>
          <p:nvSpPr>
            <p:cNvPr id="13" name="Rectangle 13"/>
            <p:cNvSpPr/>
            <p:nvPr/>
          </p:nvSpPr>
          <p:spPr>
            <a:xfrm>
              <a:off x="609600" y="2705100"/>
              <a:ext cx="5638800" cy="1562100"/>
            </a:xfrm>
            <a:prstGeom prst="roundRect">
              <a:avLst>
                <a:gd name="adj" fmla="val 7317"/>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14" name="Rectangle 14"/>
            <p:cNvSpPr/>
            <p:nvPr/>
          </p:nvSpPr>
          <p:spPr>
            <a:xfrm>
              <a:off x="609600" y="2705100"/>
              <a:ext cx="66675" cy="1562100"/>
            </a:xfrm>
            <a:prstGeom prst="rect">
              <a:avLst/>
            </a:prstGeom>
            <a:solidFill>
              <a:schemeClr val="accent5"/>
            </a:solidFill>
            <a:ln>
              <a:noFill/>
            </a:ln>
          </p:spPr>
        </p:sp>
        <p:sp>
          <p:nvSpPr>
            <p:cNvPr id="15" name="TextBox 15"/>
            <p:cNvSpPr txBox="1"/>
            <p:nvPr/>
          </p:nvSpPr>
          <p:spPr>
            <a:xfrm>
              <a:off x="871538" y="2931795"/>
              <a:ext cx="2615468" cy="176212"/>
            </a:xfrm>
            <a:prstGeom prst="rect">
              <a:avLst/>
            </a:prstGeom>
            <a:noFill/>
            <a:ln>
              <a:noFill/>
            </a:ln>
          </p:spPr>
          <p:txBody>
            <a:bodyPr wrap="none" lIns="0" tIns="0" rIns="0" bIns="0" anchor="t" anchorCtr="0">
              <a:spAutoFit/>
            </a:bodyPr>
            <a:lstStyle/>
            <a:p>
              <a:pPr algn="l"/>
              <a:r>
                <a:rPr lang="en-US" sz="900" b="1" spc="112" dirty="0">
                  <a:solidFill>
                    <a:schemeClr val="accent6"/>
                  </a:solidFill>
                  <a:latin typeface="+mn-lt"/>
                  <a:ea typeface="+mn-ea"/>
                  <a:cs typeface="+mn-cs"/>
                </a:rPr>
                <a:t>STEP 2 · BOUND ON MEMORIZATION</a:t>
              </a:r>
            </a:p>
          </p:txBody>
        </p:sp>
        <p:sp>
          <p:nvSpPr>
            <p:cNvPr id="16" name="TextBox 16"/>
            <p:cNvSpPr txBox="1"/>
            <p:nvPr/>
          </p:nvSpPr>
          <p:spPr>
            <a:xfrm>
              <a:off x="870585" y="3193256"/>
              <a:ext cx="343155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zero-mean perturbation cancels first-order</a:t>
              </a:r>
            </a:p>
          </p:txBody>
        </p:sp>
        <p:sp>
          <p:nvSpPr>
            <p:cNvPr id="17" name="TextBox 17"/>
            <p:cNvSpPr txBox="1"/>
            <p:nvPr/>
          </p:nvSpPr>
          <p:spPr>
            <a:xfrm>
              <a:off x="870585" y="3402806"/>
              <a:ext cx="361493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terms; taking expectations bounds memorization</a:t>
              </a:r>
            </a:p>
          </p:txBody>
        </p:sp>
        <p:sp>
          <p:nvSpPr>
            <p:cNvPr id="18" name="TextBox 18"/>
            <p:cNvSpPr txBox="1"/>
            <p:nvPr/>
          </p:nvSpPr>
          <p:spPr>
            <a:xfrm>
              <a:off x="870585" y="3612356"/>
              <a:ext cx="410495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by expected curvature plus a data-independent offset.</a:t>
              </a:r>
            </a:p>
          </p:txBody>
        </p:sp>
        <p:sp>
          <p:nvSpPr>
            <p:cNvPr id="19" name="Rectangle 19"/>
            <p:cNvSpPr/>
            <p:nvPr/>
          </p:nvSpPr>
          <p:spPr>
            <a:xfrm>
              <a:off x="876300" y="3848100"/>
              <a:ext cx="5105400" cy="304800"/>
            </a:xfrm>
            <a:prstGeom prst="roundRect">
              <a:avLst>
                <a:gd name="adj" fmla="val 18750"/>
              </a:avLst>
            </a:prstGeom>
            <a:solidFill>
              <a:schemeClr val="lt2"/>
            </a:solidFill>
            <a:ln>
              <a:noFill/>
            </a:ln>
          </p:spPr>
        </p:sp>
        <p:sp>
          <p:nvSpPr>
            <p:cNvPr id="20" name="TextBox 20"/>
            <p:cNvSpPr txBox="1"/>
            <p:nvPr/>
          </p:nvSpPr>
          <p:spPr>
            <a:xfrm>
              <a:off x="984885" y="3936206"/>
              <a:ext cx="3757670" cy="220028"/>
            </a:xfrm>
            <a:prstGeom prst="rect">
              <a:avLst/>
            </a:prstGeom>
            <a:noFill/>
            <a:ln>
              <a:noFill/>
            </a:ln>
          </p:spPr>
          <p:txBody>
            <a:bodyPr wrap="none" lIns="0" tIns="0" rIns="0" bIns="0" anchor="t" anchorCtr="0">
              <a:spAutoFit/>
            </a:bodyPr>
            <a:lstStyle/>
            <a:p>
              <a:pPr algn="l"/>
              <a:r>
                <a:rPr lang="en-US" sz="1120" b="1" dirty="0">
                  <a:solidFill>
                    <a:srgbClr val="2450A8"/>
                  </a:solidFill>
                  <a:latin typeface="Consolas"/>
                  <a:ea typeface="Consolas"/>
                  <a:cs typeface="Consolas"/>
                </a:rPr>
                <a:t>|mem(A,S,i)| ≤ (1/L) · Eφ[Curvφ(zᵢ, S∖ⁱ)] + c₁</a:t>
              </a:r>
            </a:p>
          </p:txBody>
        </p:sp>
      </p:grpSp>
      <p:grpSp>
        <p:nvGrpSpPr>
          <p:cNvPr id="29" name="Group 29"/>
          <p:cNvGrpSpPr/>
          <p:nvPr/>
        </p:nvGrpSpPr>
        <p:grpSpPr>
          <a:xfrm>
            <a:off x="609600" y="4400550"/>
            <a:ext cx="5638800" cy="1158811"/>
            <a:chOff x="609600" y="4400550"/>
            <a:chExt cx="5638800" cy="1158811"/>
          </a:xfrm>
        </p:grpSpPr>
        <p:sp>
          <p:nvSpPr>
            <p:cNvPr id="22" name="Rectangle 22"/>
            <p:cNvSpPr/>
            <p:nvPr/>
          </p:nvSpPr>
          <p:spPr>
            <a:xfrm>
              <a:off x="609600" y="4400550"/>
              <a:ext cx="5638800" cy="1143000"/>
            </a:xfrm>
            <a:prstGeom prst="roundRect">
              <a:avLst>
                <a:gd name="adj" fmla="val 10000"/>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23" name="Rectangle 23"/>
            <p:cNvSpPr/>
            <p:nvPr/>
          </p:nvSpPr>
          <p:spPr>
            <a:xfrm>
              <a:off x="609600" y="4400550"/>
              <a:ext cx="66675" cy="1143000"/>
            </a:xfrm>
            <a:prstGeom prst="rect">
              <a:avLst/>
            </a:prstGeom>
            <a:solidFill>
              <a:srgbClr val="3E9E6E"/>
            </a:solidFill>
            <a:ln>
              <a:noFill/>
            </a:ln>
          </p:spPr>
        </p:sp>
        <p:sp>
          <p:nvSpPr>
            <p:cNvPr id="24" name="TextBox 24"/>
            <p:cNvSpPr txBox="1"/>
            <p:nvPr/>
          </p:nvSpPr>
          <p:spPr>
            <a:xfrm>
              <a:off x="871538" y="4627245"/>
              <a:ext cx="2308052" cy="176212"/>
            </a:xfrm>
            <a:prstGeom prst="rect">
              <a:avLst/>
            </a:prstGeom>
            <a:noFill/>
            <a:ln>
              <a:noFill/>
            </a:ln>
          </p:spPr>
          <p:txBody>
            <a:bodyPr wrap="none" lIns="0" tIns="0" rIns="0" bIns="0" anchor="t" anchorCtr="0">
              <a:spAutoFit/>
            </a:bodyPr>
            <a:lstStyle/>
            <a:p>
              <a:pPr algn="l"/>
              <a:r>
                <a:rPr lang="en-US" sz="900" b="1" spc="112" dirty="0">
                  <a:solidFill>
                    <a:srgbClr val="2C7350"/>
                  </a:solidFill>
                  <a:latin typeface="+mn-lt"/>
                  <a:ea typeface="+mn-ea"/>
                  <a:cs typeface="+mn-cs"/>
                </a:rPr>
                <a:t>STEP 3 · PRIVACY → CURVATURE</a:t>
              </a:r>
            </a:p>
          </p:txBody>
        </p:sp>
        <p:sp>
          <p:nvSpPr>
            <p:cNvPr id="25" name="TextBox 25"/>
            <p:cNvSpPr txBox="1"/>
            <p:nvPr/>
          </p:nvSpPr>
          <p:spPr>
            <a:xfrm>
              <a:off x="870585" y="4869656"/>
              <a:ext cx="33332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With the definition of differential privacy, a</a:t>
              </a:r>
            </a:p>
          </p:txBody>
        </p:sp>
        <p:sp>
          <p:nvSpPr>
            <p:cNvPr id="26" name="TextBox 26"/>
            <p:cNvSpPr txBox="1"/>
            <p:nvPr/>
          </p:nvSpPr>
          <p:spPr>
            <a:xfrm>
              <a:off x="870585" y="5079206"/>
              <a:ext cx="317015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smaller ε forces lower average curvature.</a:t>
              </a:r>
            </a:p>
          </p:txBody>
        </p:sp>
        <p:sp>
          <p:nvSpPr>
            <p:cNvPr id="27" name="Rectangle 27"/>
            <p:cNvSpPr/>
            <p:nvPr/>
          </p:nvSpPr>
          <p:spPr>
            <a:xfrm>
              <a:off x="876300" y="5295900"/>
              <a:ext cx="5105400" cy="171450"/>
            </a:xfrm>
            <a:prstGeom prst="rect">
              <a:avLst/>
            </a:prstGeom>
            <a:noFill/>
            <a:ln>
              <a:noFill/>
            </a:ln>
          </p:spPr>
        </p:sp>
        <p:sp>
          <p:nvSpPr>
            <p:cNvPr id="28" name="TextBox 28"/>
            <p:cNvSpPr txBox="1"/>
            <p:nvPr/>
          </p:nvSpPr>
          <p:spPr>
            <a:xfrm>
              <a:off x="870966" y="5354002"/>
              <a:ext cx="2629695" cy="205359"/>
            </a:xfrm>
            <a:prstGeom prst="rect">
              <a:avLst/>
            </a:prstGeom>
            <a:noFill/>
            <a:ln>
              <a:noFill/>
            </a:ln>
          </p:spPr>
          <p:txBody>
            <a:bodyPr wrap="none" lIns="0" tIns="0" rIns="0" bIns="0" anchor="t" anchorCtr="0">
              <a:spAutoFit/>
            </a:bodyPr>
            <a:lstStyle/>
            <a:p>
              <a:pPr algn="l"/>
              <a:r>
                <a:rPr lang="en-US" sz="1050" b="1" dirty="0">
                  <a:solidFill>
                    <a:srgbClr val="2C7350"/>
                  </a:solidFill>
                  <a:latin typeface="Consolas"/>
                  <a:ea typeface="Consolas"/>
                  <a:cs typeface="Consolas"/>
                </a:rPr>
                <a:t>E[Curv] ≤ L(m+1)(1 − exp(−ε)) + c₂</a:t>
              </a:r>
            </a:p>
          </p:txBody>
        </p:sp>
      </p:grpSp>
      <p:sp>
        <p:nvSpPr>
          <p:cNvPr id="30" name="Rectangle 30"/>
          <p:cNvSpPr/>
          <p:nvPr/>
        </p:nvSpPr>
        <p:spPr>
          <a:xfrm>
            <a:off x="6477000" y="1428750"/>
            <a:ext cx="5105400" cy="4114800"/>
          </a:xfrm>
          <a:prstGeom prst="roundRect">
            <a:avLst>
              <a:gd name="adj" fmla="val 2778"/>
            </a:avLst>
          </a:prstGeom>
          <a:solidFill>
            <a:schemeClr val="lt2"/>
          </a:solidFill>
          <a:ln w="14288">
            <a:solidFill>
              <a:schemeClr val="accent4"/>
            </a:solidFill>
          </a:ln>
        </p:spPr>
        <p:txBody>
          <a:bodyPr/>
          <a:p/>
        </p:txBody>
      </p:sp>
      <p:sp>
        <p:nvSpPr>
          <p:cNvPr id="31" name="TextBox 31"/>
          <p:cNvSpPr txBox="1"/>
          <p:nvPr/>
        </p:nvSpPr>
        <p:spPr>
          <a:xfrm>
            <a:off x="8320806" y="1688306"/>
            <a:ext cx="1417788"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mn-lt"/>
                <a:ea typeface="+mn-ea"/>
                <a:cs typeface="+mn-cs"/>
              </a:rPr>
              <a:t>How the pieces fit</a:t>
            </a:r>
          </a:p>
        </p:txBody>
      </p:sp>
      <p:sp>
        <p:nvSpPr>
          <p:cNvPr id="32" name="Rectangle 32"/>
          <p:cNvSpPr/>
          <p:nvPr/>
        </p:nvSpPr>
        <p:spPr>
          <a:xfrm>
            <a:off x="7143750" y="2114550"/>
            <a:ext cx="3771900" cy="495300"/>
          </a:xfrm>
          <a:prstGeom prst="roundRect">
            <a:avLst>
              <a:gd name="adj" fmla="val 19231"/>
            </a:avLst>
          </a:prstGeom>
          <a:solidFill>
            <a:srgbClr val="E3F1EA"/>
          </a:solidFill>
          <a:ln w="14288">
            <a:solidFill>
              <a:srgbClr val="3E9E6E"/>
            </a:solidFill>
          </a:ln>
        </p:spPr>
        <p:txBody>
          <a:bodyPr/>
          <a:p/>
        </p:txBody>
      </p:sp>
      <p:sp>
        <p:nvSpPr>
          <p:cNvPr id="33" name="TextBox 33"/>
          <p:cNvSpPr txBox="1"/>
          <p:nvPr/>
        </p:nvSpPr>
        <p:spPr>
          <a:xfrm>
            <a:off x="8025703" y="2289810"/>
            <a:ext cx="2007993" cy="234696"/>
          </a:xfrm>
          <a:prstGeom prst="rect">
            <a:avLst/>
          </a:prstGeom>
          <a:noFill/>
          <a:ln>
            <a:noFill/>
          </a:ln>
        </p:spPr>
        <p:txBody>
          <a:bodyPr wrap="none" lIns="0" tIns="0" rIns="0" bIns="0" anchor="t" anchorCtr="0">
            <a:spAutoFit/>
          </a:bodyPr>
          <a:lstStyle/>
          <a:p>
            <a:pPr algn="ctr"/>
            <a:r>
              <a:rPr lang="en-US" sz="1200" b="1" dirty="0">
                <a:solidFill>
                  <a:srgbClr val="2C7350"/>
                </a:solidFill>
                <a:latin typeface="+mn-lt"/>
                <a:ea typeface="+mn-ea"/>
                <a:cs typeface="+mn-cs"/>
              </a:rPr>
              <a:t>Differential Privacy (ε)</a:t>
            </a:r>
          </a:p>
        </p:txBody>
      </p:sp>
      <p:sp>
        <p:nvSpPr>
          <p:cNvPr id="34" name="TextBox 34"/>
          <p:cNvSpPr txBox="1"/>
          <p:nvPr/>
        </p:nvSpPr>
        <p:spPr>
          <a:xfrm>
            <a:off x="8750997" y="2752249"/>
            <a:ext cx="557406" cy="190690"/>
          </a:xfrm>
          <a:prstGeom prst="rect">
            <a:avLst/>
          </a:prstGeom>
          <a:noFill/>
          <a:ln>
            <a:noFill/>
          </a:ln>
        </p:spPr>
        <p:txBody>
          <a:bodyPr wrap="none" lIns="0" tIns="0" rIns="0" bIns="0" anchor="t" anchorCtr="0">
            <a:spAutoFit/>
          </a:bodyPr>
          <a:lstStyle/>
          <a:p>
            <a:pPr algn="ctr"/>
            <a:r>
              <a:rPr lang="en-US" sz="980" dirty="0">
                <a:solidFill>
                  <a:srgbClr val="8A94A8"/>
                </a:solidFill>
                <a:latin typeface="+mn-lt"/>
                <a:ea typeface="+mn-ea"/>
                <a:cs typeface="+mn-cs"/>
              </a:rPr>
              <a:t>↓ bounds</a:t>
            </a:r>
          </a:p>
        </p:txBody>
      </p:sp>
      <p:sp>
        <p:nvSpPr>
          <p:cNvPr id="35" name="Rectangle 35"/>
          <p:cNvSpPr/>
          <p:nvPr/>
        </p:nvSpPr>
        <p:spPr>
          <a:xfrm>
            <a:off x="7143750" y="3067050"/>
            <a:ext cx="3771900" cy="495300"/>
          </a:xfrm>
          <a:prstGeom prst="roundRect">
            <a:avLst>
              <a:gd name="adj" fmla="val 19231"/>
            </a:avLst>
          </a:prstGeom>
          <a:solidFill>
            <a:srgbClr val="E7EFFB"/>
          </a:solidFill>
          <a:ln w="14288">
            <a:solidFill>
              <a:schemeClr val="accent2"/>
            </a:solidFill>
          </a:ln>
        </p:spPr>
        <p:txBody>
          <a:bodyPr/>
          <a:p/>
        </p:txBody>
      </p:sp>
      <p:sp>
        <p:nvSpPr>
          <p:cNvPr id="36" name="TextBox 36"/>
          <p:cNvSpPr txBox="1"/>
          <p:nvPr/>
        </p:nvSpPr>
        <p:spPr>
          <a:xfrm>
            <a:off x="7857744" y="3242310"/>
            <a:ext cx="2343912" cy="234696"/>
          </a:xfrm>
          <a:prstGeom prst="rect">
            <a:avLst/>
          </a:prstGeom>
          <a:noFill/>
          <a:ln>
            <a:noFill/>
          </a:ln>
        </p:spPr>
        <p:txBody>
          <a:bodyPr wrap="none" lIns="0" tIns="0" rIns="0" bIns="0" anchor="t" anchorCtr="0">
            <a:spAutoFit/>
          </a:bodyPr>
          <a:lstStyle/>
          <a:p>
            <a:pPr algn="ctr"/>
            <a:r>
              <a:rPr lang="en-US" sz="1200" b="1" dirty="0">
                <a:solidFill>
                  <a:srgbClr val="2450A8"/>
                </a:solidFill>
                <a:latin typeface="+mn-lt"/>
                <a:ea typeface="+mn-ea"/>
                <a:cs typeface="+mn-cs"/>
              </a:rPr>
              <a:t>Input Loss Curvature (tr H)</a:t>
            </a:r>
          </a:p>
        </p:txBody>
      </p:sp>
      <p:sp>
        <p:nvSpPr>
          <p:cNvPr id="37" name="TextBox 37"/>
          <p:cNvSpPr txBox="1"/>
          <p:nvPr/>
        </p:nvSpPr>
        <p:spPr>
          <a:xfrm>
            <a:off x="8750997" y="3704749"/>
            <a:ext cx="557406" cy="190690"/>
          </a:xfrm>
          <a:prstGeom prst="rect">
            <a:avLst/>
          </a:prstGeom>
          <a:noFill/>
          <a:ln>
            <a:noFill/>
          </a:ln>
        </p:spPr>
        <p:txBody>
          <a:bodyPr wrap="none" lIns="0" tIns="0" rIns="0" bIns="0" anchor="t" anchorCtr="0">
            <a:spAutoFit/>
          </a:bodyPr>
          <a:lstStyle/>
          <a:p>
            <a:pPr algn="ctr"/>
            <a:r>
              <a:rPr lang="en-US" sz="980" dirty="0">
                <a:solidFill>
                  <a:srgbClr val="8A94A8"/>
                </a:solidFill>
                <a:latin typeface="+mn-lt"/>
                <a:ea typeface="+mn-ea"/>
                <a:cs typeface="+mn-cs"/>
              </a:rPr>
              <a:t>↓ bounds</a:t>
            </a:r>
          </a:p>
        </p:txBody>
      </p:sp>
      <p:sp>
        <p:nvSpPr>
          <p:cNvPr id="38" name="Rectangle 38"/>
          <p:cNvSpPr/>
          <p:nvPr/>
        </p:nvSpPr>
        <p:spPr>
          <a:xfrm>
            <a:off x="7143750" y="4019550"/>
            <a:ext cx="3771900" cy="495300"/>
          </a:xfrm>
          <a:prstGeom prst="roundRect">
            <a:avLst>
              <a:gd name="adj" fmla="val 19231"/>
            </a:avLst>
          </a:prstGeom>
          <a:solidFill>
            <a:srgbClr val="FBEEDC"/>
          </a:solidFill>
          <a:ln w="14288">
            <a:solidFill>
              <a:schemeClr val="accent5"/>
            </a:solidFill>
          </a:ln>
        </p:spPr>
        <p:txBody>
          <a:bodyPr/>
          <a:p/>
        </p:txBody>
      </p:sp>
      <p:sp>
        <p:nvSpPr>
          <p:cNvPr id="39" name="TextBox 39"/>
          <p:cNvSpPr txBox="1"/>
          <p:nvPr/>
        </p:nvSpPr>
        <p:spPr>
          <a:xfrm>
            <a:off x="7917946" y="4194810"/>
            <a:ext cx="2223508" cy="234696"/>
          </a:xfrm>
          <a:prstGeom prst="rect">
            <a:avLst/>
          </a:prstGeom>
          <a:noFill/>
          <a:ln>
            <a:noFill/>
          </a:ln>
        </p:spPr>
        <p:txBody>
          <a:bodyPr wrap="none" lIns="0" tIns="0" rIns="0" bIns="0" anchor="t" anchorCtr="0">
            <a:spAutoFit/>
          </a:bodyPr>
          <a:lstStyle/>
          <a:p>
            <a:pPr algn="ctr"/>
            <a:r>
              <a:rPr lang="en-US" sz="1200" b="1" dirty="0">
                <a:solidFill>
                  <a:schemeClr val="accent6"/>
                </a:solidFill>
                <a:latin typeface="+mn-lt"/>
                <a:ea typeface="+mn-ea"/>
                <a:cs typeface="+mn-cs"/>
              </a:rPr>
              <a:t>Memorization (mem score)</a:t>
            </a:r>
          </a:p>
        </p:txBody>
      </p:sp>
      <p:grpSp>
        <p:nvGrpSpPr>
          <p:cNvPr id="43" name="Group 43"/>
          <p:cNvGrpSpPr/>
          <p:nvPr/>
        </p:nvGrpSpPr>
        <p:grpSpPr>
          <a:xfrm>
            <a:off x="6858000" y="4914900"/>
            <a:ext cx="4343400" cy="800100"/>
            <a:chOff x="6858000" y="4914900"/>
            <a:chExt cx="4343400" cy="800100"/>
          </a:xfrm>
        </p:grpSpPr>
        <p:sp>
          <p:nvSpPr>
            <p:cNvPr id="40" name="Rectangle 40"/>
            <p:cNvSpPr/>
            <p:nvPr/>
          </p:nvSpPr>
          <p:spPr>
            <a:xfrm>
              <a:off x="6858000" y="4914900"/>
              <a:ext cx="4343400" cy="800100"/>
            </a:xfrm>
            <a:prstGeom prst="roundRect">
              <a:avLst>
                <a:gd name="adj" fmla="val 11905"/>
              </a:avLst>
            </a:prstGeom>
            <a:solidFill>
              <a:schemeClr val="lt1"/>
            </a:solidFill>
            <a:ln w="14288">
              <a:solidFill>
                <a:schemeClr val="accent2"/>
              </a:solidFill>
            </a:ln>
          </p:spPr>
        </p:sp>
        <p:sp>
          <p:nvSpPr>
            <p:cNvPr id="41" name="TextBox 41"/>
            <p:cNvSpPr txBox="1"/>
            <p:nvPr/>
          </p:nvSpPr>
          <p:spPr>
            <a:xfrm>
              <a:off x="7486988" y="5087302"/>
              <a:ext cx="3085424"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Estimation: Hutchinson's trace estimator</a:t>
              </a:r>
            </a:p>
          </p:txBody>
        </p:sp>
        <p:sp>
          <p:nvSpPr>
            <p:cNvPr id="42" name="TextBox 42"/>
            <p:cNvSpPr txBox="1"/>
            <p:nvPr/>
          </p:nvSpPr>
          <p:spPr>
            <a:xfrm>
              <a:off x="7313550" y="5343049"/>
              <a:ext cx="3432299"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h = 1e-3 · n = 10 Rademacher probes (no full Hessian)</a:t>
              </a:r>
            </a:p>
          </p:txBody>
        </p:sp>
      </p:grpSp>
      <p:grpSp>
        <p:nvGrpSpPr>
          <p:cNvPr id="47" name="Group 47"/>
          <p:cNvGrpSpPr/>
          <p:nvPr/>
        </p:nvGrpSpPr>
        <p:grpSpPr>
          <a:xfrm>
            <a:off x="604838" y="6457950"/>
            <a:ext cx="10982324" cy="263366"/>
            <a:chOff x="604838" y="6457950"/>
            <a:chExt cx="10982324" cy="263366"/>
          </a:xfrm>
        </p:grpSpPr>
        <p:sp>
          <p:nvSpPr>
            <p:cNvPr id="44" name="Line 44"/>
            <p:cNvSpPr/>
            <p:nvPr/>
          </p:nvSpPr>
          <p:spPr>
            <a:xfrm>
              <a:off x="609600" y="6457950"/>
              <a:ext cx="10972800" cy="9525"/>
            </a:xfrm>
            <a:custGeom>
              <a:avLst/>
              <a:gdLst/>
              <a:ahLst/>
              <a:cxnLst/>
              <a:rect l="l" t="t" r="r" b="b"/>
              <a:pathLst>
                <a:path w="10972800" h="9525">
                  <a:moveTo>
                    <a:pt x="0" y="0"/>
                  </a:moveTo>
                  <a:lnTo>
                    <a:pt x="10972800" y="0"/>
                  </a:lnTo>
                </a:path>
              </a:pathLst>
            </a:custGeom>
            <a:noFill/>
            <a:ln w="9525">
              <a:solidFill>
                <a:schemeClr val="accent4"/>
              </a:solidFill>
            </a:ln>
          </p:spPr>
        </p:sp>
        <p:sp>
          <p:nvSpPr>
            <p:cNvPr id="45" name="TextBox 45"/>
            <p:cNvSpPr txBox="1"/>
            <p:nvPr/>
          </p:nvSpPr>
          <p:spPr>
            <a:xfrm>
              <a:off x="604838" y="6559391"/>
              <a:ext cx="2528947" cy="161925"/>
            </a:xfrm>
            <a:prstGeom prst="rect">
              <a:avLst/>
            </a:prstGeom>
            <a:noFill/>
            <a:ln>
              <a:noFill/>
            </a:ln>
          </p:spPr>
          <p:txBody>
            <a:bodyPr wrap="none" lIns="0" tIns="0" rIns="0" bIns="0" anchor="t" anchorCtr="0">
              <a:spAutoFit/>
            </a:bodyPr>
            <a:lstStyle/>
            <a:p>
              <a:pPr algn="l"/>
              <a:r>
                <a:rPr lang="en-US" sz="820" dirty="0">
                  <a:solidFill>
                    <a:srgbClr val="8A94A8"/>
                  </a:solidFill>
                  <a:latin typeface="+mn-lt"/>
                  <a:ea typeface="+mn-ea"/>
                  <a:cs typeface="+mn-cs"/>
                </a:rPr>
                <a:t>Input Loss Curvature ↔ Memorization ↔ Privacy</a:t>
              </a:r>
            </a:p>
          </p:txBody>
        </p:sp>
        <p:sp>
          <p:nvSpPr>
            <p:cNvPr id="46" name="TextBox 46"/>
            <p:cNvSpPr txBox="1"/>
            <p:nvPr/>
          </p:nvSpPr>
          <p:spPr>
            <a:xfrm>
              <a:off x="11207836" y="6559391"/>
              <a:ext cx="379326" cy="161925"/>
            </a:xfrm>
            <a:prstGeom prst="rect">
              <a:avLst/>
            </a:prstGeom>
            <a:noFill/>
            <a:ln>
              <a:noFill/>
            </a:ln>
          </p:spPr>
          <p:txBody>
            <a:bodyPr wrap="none" lIns="0" tIns="0" rIns="0" bIns="0" anchor="t" anchorCtr="0">
              <a:spAutoFit/>
            </a:bodyPr>
            <a:lstStyle/>
            <a:p>
              <a:pPr algn="r"/>
              <a:r>
                <a:rPr lang="en-US" sz="820" dirty="0">
                  <a:solidFill>
                    <a:srgbClr val="8A94A8"/>
                  </a:solidFill>
                  <a:latin typeface="+mn-lt"/>
                  <a:ea typeface="+mn-ea"/>
                  <a:cs typeface="+mn-cs"/>
                </a:rPr>
                <a:t>05 / 10</a:t>
              </a:r>
            </a:p>
          </p:txBody>
        </p:sp>
      </p:grpSp>
      <p:sp>
        <p:nvSpPr>
          <p:cNvPr id="48" name="cue_s05_c1_theory_starts_second_order_nesterov" title="cue_s05_c1_theory_starts_second_order_nesterov" descr="cue_s05_c1_theory_starts_second_order_nesterov The theory starts from a second-order Nesterov-Polyak expansion of the loss, introducing the input Hessian."/>
          <p:cNvSpPr/>
          <p:nvPr/>
        </p:nvSpPr>
        <p:spPr>
          <a:xfrm>
            <a:off x="609600" y="1428521"/>
            <a:ext cx="5638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5_c2_zero_mean_perturbation_cancels_first" title="cue_s05_c2_zero_mean_perturbation_cancels_first" descr="cue_s05_c2_zero_mean_perturbation_cancels_first A zero-mean perturbation cancels first-order terms, and taking expectations bounds memorization by expected curvature plus a data-independent offset."/>
          <p:cNvSpPr/>
          <p:nvPr/>
        </p:nvSpPr>
        <p:spPr>
          <a:xfrm>
            <a:off x="609600" y="2704795"/>
            <a:ext cx="5638800" cy="15622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5_c3_definition_differential_privacy_smal" title="cue_s05_c3_definition_differential_privacy_smal" descr="cue_s05_c3_definition_differential_privacy_smal With the definition of differential privacy, a smaller epsilon forces lower curvature."/>
          <p:cNvSpPr/>
          <p:nvPr/>
        </p:nvSpPr>
        <p:spPr>
          <a:xfrm>
            <a:off x="609600" y="4400778"/>
            <a:ext cx="5638800" cy="11590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5_c4_curvature_itself_estimated_cheaply_v" title="cue_s05_c4_curvature_itself_estimated_cheaply_v" descr="cue_s05_c4_curvature_itself_estimated_cheaply_v Curvature itself is estimated cheaply via Hutchinson's trace estimator."/>
          <p:cNvSpPr/>
          <p:nvPr/>
        </p:nvSpPr>
        <p:spPr>
          <a:xfrm>
            <a:off x="6858000" y="4915128"/>
            <a:ext cx="4344009" cy="8003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09600" y="495300"/>
            <a:ext cx="10972800" cy="677037"/>
            <a:chOff x="609600" y="495300"/>
            <a:chExt cx="10972800" cy="677037"/>
          </a:xfrm>
        </p:grpSpPr>
        <p:sp>
          <p:nvSpPr>
            <p:cNvPr id="2" name="Rectangle 2"/>
            <p:cNvSpPr/>
            <p:nvPr/>
          </p:nvSpPr>
          <p:spPr>
            <a:xfrm>
              <a:off x="609600" y="495300"/>
              <a:ext cx="57150" cy="381000"/>
            </a:xfrm>
            <a:prstGeom prst="rect">
              <a:avLst/>
            </a:prstGeom>
            <a:solidFill>
              <a:srgbClr val="3E9E6E"/>
            </a:solidFill>
            <a:ln>
              <a:noFill/>
            </a:ln>
          </p:spPr>
        </p:sp>
        <p:sp>
          <p:nvSpPr>
            <p:cNvPr id="3" name="TextBox 3"/>
            <p:cNvSpPr txBox="1"/>
            <p:nvPr/>
          </p:nvSpPr>
          <p:spPr>
            <a:xfrm>
              <a:off x="814197" y="580549"/>
              <a:ext cx="2751561" cy="190690"/>
            </a:xfrm>
            <a:prstGeom prst="rect">
              <a:avLst/>
            </a:prstGeom>
            <a:noFill/>
            <a:ln>
              <a:noFill/>
            </a:ln>
          </p:spPr>
          <p:txBody>
            <a:bodyPr wrap="none" lIns="0" tIns="0" rIns="0" bIns="0" anchor="t" anchorCtr="0">
              <a:spAutoFit/>
            </a:bodyPr>
            <a:lstStyle/>
            <a:p>
              <a:pPr algn="l"/>
              <a:r>
                <a:rPr lang="en-US" sz="980" b="1" spc="150" dirty="0">
                  <a:solidFill>
                    <a:srgbClr val="8A94A8"/>
                  </a:solidFill>
                  <a:latin typeface="+mn-lt"/>
                  <a:ea typeface="+mn-ea"/>
                  <a:cs typeface="+mn-cs"/>
                </a:rPr>
                <a:t>DATASET / BENCHMARK · 06 / 10</a:t>
              </a:r>
            </a:p>
          </p:txBody>
        </p:sp>
        <p:sp>
          <p:nvSpPr>
            <p:cNvPr id="4" name="TextBox 4"/>
            <p:cNvSpPr txBox="1"/>
            <p:nvPr/>
          </p:nvSpPr>
          <p:spPr>
            <a:xfrm>
              <a:off x="806958" y="702945"/>
              <a:ext cx="5535719"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j-lt"/>
                  <a:ea typeface="+mj-ea"/>
                  <a:cs typeface="+mj-cs"/>
                </a:rPr>
                <a:t>What the theory is validated on</a:t>
              </a:r>
            </a:p>
          </p:txBody>
        </p:sp>
        <p:sp>
          <p:nvSpPr>
            <p:cNvPr id="5" name="Line 5"/>
            <p:cNvSpPr/>
            <p:nvPr/>
          </p:nvSpPr>
          <p:spPr>
            <a:xfrm>
              <a:off x="609600" y="1143000"/>
              <a:ext cx="10972800" cy="9525"/>
            </a:xfrm>
            <a:custGeom>
              <a:avLst/>
              <a:gdLst/>
              <a:ahLst/>
              <a:cxnLst/>
              <a:rect l="l" t="t" r="r" b="b"/>
              <a:pathLst>
                <a:path w="10972800" h="9525">
                  <a:moveTo>
                    <a:pt x="0" y="0"/>
                  </a:moveTo>
                  <a:lnTo>
                    <a:pt x="10972800" y="0"/>
                  </a:lnTo>
                </a:path>
              </a:pathLst>
            </a:custGeom>
            <a:noFill/>
            <a:ln w="14288">
              <a:solidFill>
                <a:schemeClr val="accent4"/>
              </a:solidFill>
            </a:ln>
          </p:spPr>
        </p:sp>
      </p:grpSp>
      <p:grpSp>
        <p:nvGrpSpPr>
          <p:cNvPr id="17" name="Group 17"/>
          <p:cNvGrpSpPr/>
          <p:nvPr/>
        </p:nvGrpSpPr>
        <p:grpSpPr>
          <a:xfrm>
            <a:off x="609600" y="1598295"/>
            <a:ext cx="10972800" cy="1144905"/>
            <a:chOff x="609600" y="1598295"/>
            <a:chExt cx="10972800" cy="1144905"/>
          </a:xfrm>
        </p:grpSpPr>
        <p:sp>
          <p:nvSpPr>
            <p:cNvPr id="7" name="TextBox 7"/>
            <p:cNvSpPr txBox="1"/>
            <p:nvPr/>
          </p:nvSpPr>
          <p:spPr>
            <a:xfrm>
              <a:off x="719138" y="1598295"/>
              <a:ext cx="3938976" cy="176212"/>
            </a:xfrm>
            <a:prstGeom prst="rect">
              <a:avLst/>
            </a:prstGeom>
            <a:noFill/>
            <a:ln>
              <a:noFill/>
            </a:ln>
          </p:spPr>
          <p:txBody>
            <a:bodyPr wrap="none" lIns="0" tIns="0" rIns="0" bIns="0" anchor="t" anchorCtr="0">
              <a:spAutoFit/>
            </a:bodyPr>
            <a:lstStyle/>
            <a:p>
              <a:pPr algn="l"/>
              <a:r>
                <a:rPr lang="en-US" sz="900" b="1" spc="112" dirty="0">
                  <a:solidFill>
                    <a:srgbClr val="8A94A8"/>
                  </a:solidFill>
                  <a:latin typeface="+mn-lt"/>
                  <a:ea typeface="+mn-ea"/>
                  <a:cs typeface="+mn-cs"/>
                </a:rPr>
                <a:t>THREE STANDARD IMAGE CLASSIFICATION BENCHMARKS</a:t>
              </a:r>
            </a:p>
          </p:txBody>
        </p:sp>
        <p:sp>
          <p:nvSpPr>
            <p:cNvPr id="8" name="Rectangle 8"/>
            <p:cNvSpPr/>
            <p:nvPr/>
          </p:nvSpPr>
          <p:spPr>
            <a:xfrm>
              <a:off x="609600" y="1828800"/>
              <a:ext cx="3505200" cy="914400"/>
            </a:xfrm>
            <a:prstGeom prst="roundRect">
              <a:avLst>
                <a:gd name="adj" fmla="val 12500"/>
              </a:avLst>
            </a:prstGeom>
            <a:solidFill>
              <a:srgbClr val="E7EFFB"/>
            </a:solidFill>
            <a:ln w="14288">
              <a:solidFill>
                <a:schemeClr val="accent2"/>
              </a:solidFill>
            </a:ln>
          </p:spPr>
        </p:sp>
        <p:sp>
          <p:nvSpPr>
            <p:cNvPr id="9" name="TextBox 9"/>
            <p:cNvSpPr txBox="1"/>
            <p:nvPr/>
          </p:nvSpPr>
          <p:spPr>
            <a:xfrm>
              <a:off x="1618482" y="2056448"/>
              <a:ext cx="1487435" cy="381381"/>
            </a:xfrm>
            <a:prstGeom prst="rect">
              <a:avLst/>
            </a:prstGeom>
            <a:noFill/>
            <a:ln>
              <a:noFill/>
            </a:ln>
          </p:spPr>
          <p:txBody>
            <a:bodyPr wrap="none" lIns="0" tIns="0" rIns="0" bIns="0" anchor="t" anchorCtr="0">
              <a:spAutoFit/>
            </a:bodyPr>
            <a:lstStyle/>
            <a:p>
              <a:pPr algn="ctr"/>
              <a:r>
                <a:rPr lang="en-US" sz="1950" b="1" dirty="0">
                  <a:solidFill>
                    <a:srgbClr val="2450A8"/>
                  </a:solidFill>
                  <a:latin typeface="+mj-lt"/>
                  <a:ea typeface="+mj-ea"/>
                  <a:cs typeface="+mj-cs"/>
                </a:rPr>
                <a:t>CIFAR-10</a:t>
              </a:r>
            </a:p>
          </p:txBody>
        </p:sp>
        <p:sp>
          <p:nvSpPr>
            <p:cNvPr id="10" name="TextBox 10"/>
            <p:cNvSpPr txBox="1"/>
            <p:nvPr/>
          </p:nvSpPr>
          <p:spPr>
            <a:xfrm>
              <a:off x="2003488" y="2439352"/>
              <a:ext cx="717423"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10 classes</a:t>
              </a:r>
            </a:p>
          </p:txBody>
        </p:sp>
        <p:sp>
          <p:nvSpPr>
            <p:cNvPr id="11" name="Rectangle 11"/>
            <p:cNvSpPr/>
            <p:nvPr/>
          </p:nvSpPr>
          <p:spPr>
            <a:xfrm>
              <a:off x="4343400" y="1828800"/>
              <a:ext cx="3505200" cy="914400"/>
            </a:xfrm>
            <a:prstGeom prst="roundRect">
              <a:avLst>
                <a:gd name="adj" fmla="val 12500"/>
              </a:avLst>
            </a:prstGeom>
            <a:solidFill>
              <a:srgbClr val="E7EFFB"/>
            </a:solidFill>
            <a:ln w="14288">
              <a:solidFill>
                <a:schemeClr val="accent2"/>
              </a:solidFill>
            </a:ln>
          </p:spPr>
        </p:sp>
        <p:sp>
          <p:nvSpPr>
            <p:cNvPr id="12" name="TextBox 12"/>
            <p:cNvSpPr txBox="1"/>
            <p:nvPr/>
          </p:nvSpPr>
          <p:spPr>
            <a:xfrm>
              <a:off x="5255030" y="2056448"/>
              <a:ext cx="1681940" cy="381381"/>
            </a:xfrm>
            <a:prstGeom prst="rect">
              <a:avLst/>
            </a:prstGeom>
            <a:noFill/>
            <a:ln>
              <a:noFill/>
            </a:ln>
          </p:spPr>
          <p:txBody>
            <a:bodyPr wrap="none" lIns="0" tIns="0" rIns="0" bIns="0" anchor="t" anchorCtr="0">
              <a:spAutoFit/>
            </a:bodyPr>
            <a:lstStyle/>
            <a:p>
              <a:pPr algn="ctr"/>
              <a:r>
                <a:rPr lang="en-US" sz="1950" b="1" dirty="0">
                  <a:solidFill>
                    <a:srgbClr val="2450A8"/>
                  </a:solidFill>
                  <a:latin typeface="+mj-lt"/>
                  <a:ea typeface="+mj-ea"/>
                  <a:cs typeface="+mj-cs"/>
                </a:rPr>
                <a:t>CIFAR-100</a:t>
              </a:r>
            </a:p>
          </p:txBody>
        </p:sp>
        <p:sp>
          <p:nvSpPr>
            <p:cNvPr id="13" name="TextBox 13"/>
            <p:cNvSpPr txBox="1"/>
            <p:nvPr/>
          </p:nvSpPr>
          <p:spPr>
            <a:xfrm>
              <a:off x="5698417" y="2439352"/>
              <a:ext cx="795166"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100 classes</a:t>
              </a:r>
            </a:p>
          </p:txBody>
        </p:sp>
        <p:sp>
          <p:nvSpPr>
            <p:cNvPr id="14" name="Rectangle 14"/>
            <p:cNvSpPr/>
            <p:nvPr/>
          </p:nvSpPr>
          <p:spPr>
            <a:xfrm>
              <a:off x="8077200" y="1828800"/>
              <a:ext cx="3505200" cy="914400"/>
            </a:xfrm>
            <a:prstGeom prst="roundRect">
              <a:avLst>
                <a:gd name="adj" fmla="val 12500"/>
              </a:avLst>
            </a:prstGeom>
            <a:solidFill>
              <a:srgbClr val="E3F1EA"/>
            </a:solidFill>
            <a:ln w="14288">
              <a:solidFill>
                <a:srgbClr val="3E9E6E"/>
              </a:solidFill>
            </a:ln>
          </p:spPr>
        </p:sp>
        <p:sp>
          <p:nvSpPr>
            <p:cNvPr id="15" name="TextBox 15"/>
            <p:cNvSpPr txBox="1"/>
            <p:nvPr/>
          </p:nvSpPr>
          <p:spPr>
            <a:xfrm>
              <a:off x="9152521" y="2056448"/>
              <a:ext cx="1354559" cy="381381"/>
            </a:xfrm>
            <a:prstGeom prst="rect">
              <a:avLst/>
            </a:prstGeom>
            <a:noFill/>
            <a:ln>
              <a:noFill/>
            </a:ln>
          </p:spPr>
          <p:txBody>
            <a:bodyPr wrap="none" lIns="0" tIns="0" rIns="0" bIns="0" anchor="t" anchorCtr="0">
              <a:spAutoFit/>
            </a:bodyPr>
            <a:lstStyle/>
            <a:p>
              <a:pPr algn="ctr"/>
              <a:r>
                <a:rPr lang="en-US" sz="1950" b="1" dirty="0">
                  <a:solidFill>
                    <a:srgbClr val="2C7350"/>
                  </a:solidFill>
                  <a:latin typeface="+mj-lt"/>
                  <a:ea typeface="+mj-ea"/>
                  <a:cs typeface="+mj-cs"/>
                </a:rPr>
                <a:t>ImageNet</a:t>
              </a:r>
            </a:p>
          </p:txBody>
        </p:sp>
        <p:sp>
          <p:nvSpPr>
            <p:cNvPr id="16" name="TextBox 16"/>
            <p:cNvSpPr txBox="1"/>
            <p:nvPr/>
          </p:nvSpPr>
          <p:spPr>
            <a:xfrm>
              <a:off x="9393345" y="2439352"/>
              <a:ext cx="872909"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1000 classes</a:t>
              </a:r>
            </a:p>
          </p:txBody>
        </p:sp>
      </p:grpSp>
      <p:grpSp>
        <p:nvGrpSpPr>
          <p:cNvPr id="28" name="Group 28"/>
          <p:cNvGrpSpPr/>
          <p:nvPr/>
        </p:nvGrpSpPr>
        <p:grpSpPr>
          <a:xfrm>
            <a:off x="609600" y="2990850"/>
            <a:ext cx="6667500" cy="2365534"/>
            <a:chOff x="609600" y="2990850"/>
            <a:chExt cx="6667500" cy="2365534"/>
          </a:xfrm>
        </p:grpSpPr>
        <p:sp>
          <p:nvSpPr>
            <p:cNvPr id="18" name="Rectangle 18"/>
            <p:cNvSpPr/>
            <p:nvPr/>
          </p:nvSpPr>
          <p:spPr>
            <a:xfrm>
              <a:off x="609600" y="2990850"/>
              <a:ext cx="6667500" cy="2286000"/>
            </a:xfrm>
            <a:prstGeom prst="roundRect">
              <a:avLst>
                <a:gd name="adj" fmla="val 5000"/>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19" name="Rectangle 19"/>
            <p:cNvSpPr/>
            <p:nvPr/>
          </p:nvSpPr>
          <p:spPr>
            <a:xfrm>
              <a:off x="609600" y="2990850"/>
              <a:ext cx="66675" cy="2286000"/>
            </a:xfrm>
            <a:prstGeom prst="rect">
              <a:avLst/>
            </a:prstGeom>
            <a:solidFill>
              <a:schemeClr val="accent5"/>
            </a:solidFill>
            <a:ln>
              <a:noFill/>
            </a:ln>
          </p:spPr>
        </p:sp>
        <p:sp>
          <p:nvSpPr>
            <p:cNvPr id="20" name="TextBox 20"/>
            <p:cNvSpPr txBox="1"/>
            <p:nvPr/>
          </p:nvSpPr>
          <p:spPr>
            <a:xfrm>
              <a:off x="871538" y="3274695"/>
              <a:ext cx="589011" cy="176212"/>
            </a:xfrm>
            <a:prstGeom prst="rect">
              <a:avLst/>
            </a:prstGeom>
            <a:noFill/>
            <a:ln>
              <a:noFill/>
            </a:ln>
          </p:spPr>
          <p:txBody>
            <a:bodyPr wrap="none" lIns="0" tIns="0" rIns="0" bIns="0" anchor="t" anchorCtr="0">
              <a:spAutoFit/>
            </a:bodyPr>
            <a:lstStyle/>
            <a:p>
              <a:pPr algn="l"/>
              <a:r>
                <a:rPr lang="en-US" sz="900" b="1" spc="112" dirty="0">
                  <a:solidFill>
                    <a:schemeClr val="accent5"/>
                  </a:solidFill>
                  <a:latin typeface="+mn-lt"/>
                  <a:ea typeface="+mn-ea"/>
                  <a:cs typeface="+mn-cs"/>
                </a:rPr>
                <a:t>SETUP A</a:t>
              </a:r>
            </a:p>
          </p:txBody>
        </p:sp>
        <p:sp>
          <p:nvSpPr>
            <p:cNvPr id="21" name="TextBox 21"/>
            <p:cNvSpPr txBox="1"/>
            <p:nvPr/>
          </p:nvSpPr>
          <p:spPr>
            <a:xfrm>
              <a:off x="868680" y="3476625"/>
              <a:ext cx="281025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Memorization ground truth</a:t>
              </a:r>
            </a:p>
          </p:txBody>
        </p:sp>
        <p:sp>
          <p:nvSpPr>
            <p:cNvPr id="22" name="TextBox 22"/>
            <p:cNvSpPr txBox="1"/>
            <p:nvPr/>
          </p:nvSpPr>
          <p:spPr>
            <a:xfrm>
              <a:off x="870585" y="3850481"/>
              <a:ext cx="389062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Feldman &amp; Zhang (2020) precomputed stability-based</a:t>
              </a:r>
            </a:p>
          </p:txBody>
        </p:sp>
        <p:sp>
          <p:nvSpPr>
            <p:cNvPr id="23" name="TextBox 23"/>
            <p:cNvSpPr txBox="1"/>
            <p:nvPr/>
          </p:nvSpPr>
          <p:spPr>
            <a:xfrm>
              <a:off x="870585" y="4107656"/>
              <a:ext cx="365263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memorization scores + released model ensembles.</a:t>
              </a:r>
            </a:p>
          </p:txBody>
        </p:sp>
        <p:sp>
          <p:nvSpPr>
            <p:cNvPr id="24" name="TextBox 24"/>
            <p:cNvSpPr txBox="1"/>
            <p:nvPr/>
          </p:nvSpPr>
          <p:spPr>
            <a:xfrm>
              <a:off x="870585" y="4364831"/>
              <a:ext cx="3306815" cy="220028"/>
            </a:xfrm>
            <a:prstGeom prst="rect">
              <a:avLst/>
            </a:prstGeom>
            <a:noFill/>
            <a:ln>
              <a:noFill/>
            </a:ln>
          </p:spPr>
          <p:txBody>
            <a:bodyPr wrap="none" lIns="0" tIns="0" rIns="0" bIns="0" anchor="t" anchorCtr="0">
              <a:spAutoFit/>
            </a:bodyPr>
            <a:lstStyle/>
            <a:p>
              <a:pPr algn="l" marL="120904" indent="-120904">
                <a:buClr>
                  <a:schemeClr val="dk2"/>
                </a:buClr>
                <a:buSzTx/>
                <a:buFontTx/>
                <a:buChar char="•"/>
              </a:pPr>
              <a:r>
                <a:rPr lang="en-US" sz="1120" dirty="0">
                  <a:solidFill>
                    <a:schemeClr val="dk2"/>
                  </a:solidFill>
                  <a:latin typeface="+mn-lt"/>
                  <a:ea typeface="+mn-ea"/>
                  <a:cs typeface="+mn-cs"/>
                </a:rPr>
                <a:t>1000 models on CIFAR-100 (Small Inception)</a:t>
              </a:r>
            </a:p>
          </p:txBody>
        </p:sp>
        <p:sp>
          <p:nvSpPr>
            <p:cNvPr id="25" name="TextBox 25"/>
            <p:cNvSpPr txBox="1"/>
            <p:nvPr/>
          </p:nvSpPr>
          <p:spPr>
            <a:xfrm>
              <a:off x="870585" y="4622006"/>
              <a:ext cx="2813274" cy="220028"/>
            </a:xfrm>
            <a:prstGeom prst="rect">
              <a:avLst/>
            </a:prstGeom>
            <a:noFill/>
            <a:ln>
              <a:noFill/>
            </a:ln>
          </p:spPr>
          <p:txBody>
            <a:bodyPr wrap="none" lIns="0" tIns="0" rIns="0" bIns="0" anchor="t" anchorCtr="0">
              <a:spAutoFit/>
            </a:bodyPr>
            <a:lstStyle/>
            <a:p>
              <a:pPr algn="l" marL="120904" indent="-120904">
                <a:buClr>
                  <a:schemeClr val="dk2"/>
                </a:buClr>
                <a:buSzTx/>
                <a:buFontTx/>
                <a:buChar char="•"/>
              </a:pPr>
              <a:r>
                <a:rPr lang="en-US" sz="1120" dirty="0">
                  <a:solidFill>
                    <a:schemeClr val="dk2"/>
                  </a:solidFill>
                  <a:latin typeface="+mn-lt"/>
                  <a:ea typeface="+mn-ea"/>
                  <a:cs typeface="+mn-cs"/>
                </a:rPr>
                <a:t>100 models on ImageNet (ResNet-50)</a:t>
              </a:r>
            </a:p>
          </p:txBody>
        </p:sp>
        <p:sp>
          <p:nvSpPr>
            <p:cNvPr id="26" name="TextBox 26"/>
            <p:cNvSpPr txBox="1"/>
            <p:nvPr/>
          </p:nvSpPr>
          <p:spPr>
            <a:xfrm>
              <a:off x="870585" y="4879181"/>
              <a:ext cx="39215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Curvature and memorization are averaged across the</a:t>
              </a:r>
            </a:p>
          </p:txBody>
        </p:sp>
        <p:sp>
          <p:nvSpPr>
            <p:cNvPr id="27" name="TextBox 27"/>
            <p:cNvSpPr txBox="1"/>
            <p:nvPr/>
          </p:nvSpPr>
          <p:spPr>
            <a:xfrm>
              <a:off x="870585" y="5136356"/>
              <a:ext cx="203934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ensemble for each example.</a:t>
              </a:r>
            </a:p>
          </p:txBody>
        </p:sp>
      </p:grpSp>
      <p:grpSp>
        <p:nvGrpSpPr>
          <p:cNvPr id="38" name="Group 38"/>
          <p:cNvGrpSpPr/>
          <p:nvPr/>
        </p:nvGrpSpPr>
        <p:grpSpPr>
          <a:xfrm>
            <a:off x="7505700" y="2990850"/>
            <a:ext cx="4076700" cy="2365534"/>
            <a:chOff x="7505700" y="2990850"/>
            <a:chExt cx="4076700" cy="2365534"/>
          </a:xfrm>
        </p:grpSpPr>
        <p:sp>
          <p:nvSpPr>
            <p:cNvPr id="29" name="Rectangle 29"/>
            <p:cNvSpPr/>
            <p:nvPr/>
          </p:nvSpPr>
          <p:spPr>
            <a:xfrm>
              <a:off x="7505700" y="2990850"/>
              <a:ext cx="4076700" cy="2286000"/>
            </a:xfrm>
            <a:prstGeom prst="roundRect">
              <a:avLst>
                <a:gd name="adj" fmla="val 5000"/>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30" name="Rectangle 30"/>
            <p:cNvSpPr/>
            <p:nvPr/>
          </p:nvSpPr>
          <p:spPr>
            <a:xfrm>
              <a:off x="7505700" y="2990850"/>
              <a:ext cx="66675" cy="2286000"/>
            </a:xfrm>
            <a:prstGeom prst="rect">
              <a:avLst/>
            </a:prstGeom>
            <a:solidFill>
              <a:srgbClr val="3E9E6E"/>
            </a:solidFill>
            <a:ln>
              <a:noFill/>
            </a:ln>
          </p:spPr>
        </p:sp>
        <p:sp>
          <p:nvSpPr>
            <p:cNvPr id="31" name="TextBox 31"/>
            <p:cNvSpPr txBox="1"/>
            <p:nvPr/>
          </p:nvSpPr>
          <p:spPr>
            <a:xfrm>
              <a:off x="7767638" y="3274695"/>
              <a:ext cx="589011" cy="176212"/>
            </a:xfrm>
            <a:prstGeom prst="rect">
              <a:avLst/>
            </a:prstGeom>
            <a:noFill/>
            <a:ln>
              <a:noFill/>
            </a:ln>
          </p:spPr>
          <p:txBody>
            <a:bodyPr wrap="none" lIns="0" tIns="0" rIns="0" bIns="0" anchor="t" anchorCtr="0">
              <a:spAutoFit/>
            </a:bodyPr>
            <a:lstStyle/>
            <a:p>
              <a:pPr algn="l"/>
              <a:r>
                <a:rPr lang="en-US" sz="900" b="1" spc="112" dirty="0">
                  <a:solidFill>
                    <a:srgbClr val="3E9E6E"/>
                  </a:solidFill>
                  <a:latin typeface="+mn-lt"/>
                  <a:ea typeface="+mn-ea"/>
                  <a:cs typeface="+mn-cs"/>
                </a:rPr>
                <a:t>SETUP B</a:t>
              </a:r>
            </a:p>
          </p:txBody>
        </p:sp>
        <p:sp>
          <p:nvSpPr>
            <p:cNvPr id="32" name="TextBox 32"/>
            <p:cNvSpPr txBox="1"/>
            <p:nvPr/>
          </p:nvSpPr>
          <p:spPr>
            <a:xfrm>
              <a:off x="7764780" y="3476625"/>
              <a:ext cx="2120903"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Privacy experiments</a:t>
              </a:r>
            </a:p>
          </p:txBody>
        </p:sp>
        <p:sp>
          <p:nvSpPr>
            <p:cNvPr id="33" name="TextBox 33"/>
            <p:cNvSpPr txBox="1"/>
            <p:nvPr/>
          </p:nvSpPr>
          <p:spPr>
            <a:xfrm>
              <a:off x="7766685" y="3850481"/>
              <a:ext cx="229842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ResNet-18 trained with DP-SGD</a:t>
              </a:r>
            </a:p>
          </p:txBody>
        </p:sp>
        <p:sp>
          <p:nvSpPr>
            <p:cNvPr id="34" name="TextBox 34"/>
            <p:cNvSpPr txBox="1"/>
            <p:nvPr/>
          </p:nvSpPr>
          <p:spPr>
            <a:xfrm>
              <a:off x="7766685" y="4107656"/>
              <a:ext cx="189611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across a range of privacy</a:t>
              </a:r>
            </a:p>
          </p:txBody>
        </p:sp>
        <p:sp>
          <p:nvSpPr>
            <p:cNvPr id="35" name="TextBox 35"/>
            <p:cNvSpPr txBox="1"/>
            <p:nvPr/>
          </p:nvSpPr>
          <p:spPr>
            <a:xfrm>
              <a:off x="7766685" y="4364831"/>
              <a:ext cx="80299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budgets ε.</a:t>
              </a:r>
            </a:p>
          </p:txBody>
        </p:sp>
        <p:sp>
          <p:nvSpPr>
            <p:cNvPr id="36" name="TextBox 36"/>
            <p:cNvSpPr txBox="1"/>
            <p:nvPr/>
          </p:nvSpPr>
          <p:spPr>
            <a:xfrm>
              <a:off x="7766685" y="4879181"/>
              <a:ext cx="186887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Clip norm 1.0 · lr 0.001 ·</a:t>
              </a:r>
            </a:p>
          </p:txBody>
        </p:sp>
        <p:sp>
          <p:nvSpPr>
            <p:cNvPr id="37" name="TextBox 37"/>
            <p:cNvSpPr txBox="1"/>
            <p:nvPr/>
          </p:nvSpPr>
          <p:spPr>
            <a:xfrm>
              <a:off x="7766685" y="5136356"/>
              <a:ext cx="114223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batch size 128.</a:t>
              </a:r>
            </a:p>
          </p:txBody>
        </p:sp>
      </p:grpSp>
      <p:sp>
        <p:nvSpPr>
          <p:cNvPr id="39" name="Rectangle 39"/>
          <p:cNvSpPr/>
          <p:nvPr/>
        </p:nvSpPr>
        <p:spPr>
          <a:xfrm>
            <a:off x="609600" y="5448300"/>
            <a:ext cx="10972800" cy="609600"/>
          </a:xfrm>
          <a:prstGeom prst="roundRect">
            <a:avLst>
              <a:gd name="adj" fmla="val 18750"/>
            </a:avLst>
          </a:prstGeom>
          <a:solidFill>
            <a:srgbClr val="EAF1FB"/>
          </a:solidFill>
          <a:ln>
            <a:noFill/>
          </a:ln>
        </p:spPr>
        <p:txBody>
          <a:bodyPr/>
          <a:p/>
        </p:txBody>
      </p:sp>
      <p:sp>
        <p:nvSpPr>
          <p:cNvPr id="40" name="TextBox 40"/>
          <p:cNvSpPr txBox="1"/>
          <p:nvPr/>
        </p:nvSpPr>
        <p:spPr>
          <a:xfrm>
            <a:off x="870585" y="5688806"/>
            <a:ext cx="11136201"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Because the memorization scores and ensembles are reused from prior work, the bounds are tested against an independent, established ground truth.</a:t>
            </a:r>
          </a:p>
        </p:txBody>
      </p:sp>
      <p:grpSp>
        <p:nvGrpSpPr>
          <p:cNvPr id="44" name="Group 44"/>
          <p:cNvGrpSpPr/>
          <p:nvPr/>
        </p:nvGrpSpPr>
        <p:grpSpPr>
          <a:xfrm>
            <a:off x="604838" y="6457950"/>
            <a:ext cx="10982324" cy="263366"/>
            <a:chOff x="604838" y="6457950"/>
            <a:chExt cx="10982324" cy="263366"/>
          </a:xfrm>
        </p:grpSpPr>
        <p:sp>
          <p:nvSpPr>
            <p:cNvPr id="41" name="Line 41"/>
            <p:cNvSpPr/>
            <p:nvPr/>
          </p:nvSpPr>
          <p:spPr>
            <a:xfrm>
              <a:off x="609600" y="6457950"/>
              <a:ext cx="10972800" cy="9525"/>
            </a:xfrm>
            <a:custGeom>
              <a:avLst/>
              <a:gdLst/>
              <a:ahLst/>
              <a:cxnLst/>
              <a:rect l="l" t="t" r="r" b="b"/>
              <a:pathLst>
                <a:path w="10972800" h="9525">
                  <a:moveTo>
                    <a:pt x="0" y="0"/>
                  </a:moveTo>
                  <a:lnTo>
                    <a:pt x="10972800" y="0"/>
                  </a:lnTo>
                </a:path>
              </a:pathLst>
            </a:custGeom>
            <a:noFill/>
            <a:ln w="9525">
              <a:solidFill>
                <a:schemeClr val="accent4"/>
              </a:solidFill>
            </a:ln>
          </p:spPr>
        </p:sp>
        <p:sp>
          <p:nvSpPr>
            <p:cNvPr id="42" name="TextBox 42"/>
            <p:cNvSpPr txBox="1"/>
            <p:nvPr/>
          </p:nvSpPr>
          <p:spPr>
            <a:xfrm>
              <a:off x="604838" y="6559391"/>
              <a:ext cx="2528947" cy="161925"/>
            </a:xfrm>
            <a:prstGeom prst="rect">
              <a:avLst/>
            </a:prstGeom>
            <a:noFill/>
            <a:ln>
              <a:noFill/>
            </a:ln>
          </p:spPr>
          <p:txBody>
            <a:bodyPr wrap="none" lIns="0" tIns="0" rIns="0" bIns="0" anchor="t" anchorCtr="0">
              <a:spAutoFit/>
            </a:bodyPr>
            <a:lstStyle/>
            <a:p>
              <a:pPr algn="l"/>
              <a:r>
                <a:rPr lang="en-US" sz="820" dirty="0">
                  <a:solidFill>
                    <a:srgbClr val="8A94A8"/>
                  </a:solidFill>
                  <a:latin typeface="+mn-lt"/>
                  <a:ea typeface="+mn-ea"/>
                  <a:cs typeface="+mn-cs"/>
                </a:rPr>
                <a:t>Input Loss Curvature ↔ Memorization ↔ Privacy</a:t>
              </a:r>
            </a:p>
          </p:txBody>
        </p:sp>
        <p:sp>
          <p:nvSpPr>
            <p:cNvPr id="43" name="TextBox 43"/>
            <p:cNvSpPr txBox="1"/>
            <p:nvPr/>
          </p:nvSpPr>
          <p:spPr>
            <a:xfrm>
              <a:off x="11207836" y="6559391"/>
              <a:ext cx="379326" cy="161925"/>
            </a:xfrm>
            <a:prstGeom prst="rect">
              <a:avLst/>
            </a:prstGeom>
            <a:noFill/>
            <a:ln>
              <a:noFill/>
            </a:ln>
          </p:spPr>
          <p:txBody>
            <a:bodyPr wrap="none" lIns="0" tIns="0" rIns="0" bIns="0" anchor="t" anchorCtr="0">
              <a:spAutoFit/>
            </a:bodyPr>
            <a:lstStyle/>
            <a:p>
              <a:pPr algn="r"/>
              <a:r>
                <a:rPr lang="en-US" sz="820" dirty="0">
                  <a:solidFill>
                    <a:srgbClr val="8A94A8"/>
                  </a:solidFill>
                  <a:latin typeface="+mn-lt"/>
                  <a:ea typeface="+mn-ea"/>
                  <a:cs typeface="+mn-cs"/>
                </a:rPr>
                <a:t>06 / 10</a:t>
              </a:r>
            </a:p>
          </p:txBody>
        </p:sp>
      </p:grpSp>
      <p:sp>
        <p:nvSpPr>
          <p:cNvPr id="45" name="cue_s06_c1_validation_cifar10_cifar100_imagenet" title="cue_s06_c1_validation_cifar10_cifar100_imagenet" descr="cue_s06_c1_validation_cifar10_cifar100_imagenet Validation uses CIFAR10, CIFAR100, and ImageNet."/>
          <p:cNvSpPr/>
          <p:nvPr/>
        </p:nvSpPr>
        <p:spPr>
          <a:xfrm>
            <a:off x="609600" y="1598599"/>
            <a:ext cx="10972800" cy="11446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6_c2_memorization_relies_feldman_zhang_pr" title="cue_s06_c2_memorization_relies_feldman_zhang_pr" descr="cue_s06_c2_memorization_relies_feldman_zhang_pr Memorization relies on Feldman and Zhang's precomputed scores and ensembles, a thousand models on CIFAR100 and a hundred on ImageNet, using Small Inception and ResNet50."/>
          <p:cNvSpPr/>
          <p:nvPr/>
        </p:nvSpPr>
        <p:spPr>
          <a:xfrm>
            <a:off x="609600" y="2990773"/>
            <a:ext cx="6667804" cy="236532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6_c3_privacy_experiments_train_resnet18_d" title="cue_s06_c3_privacy_experiments_train_resnet18_d" descr="cue_s06_c3_privacy_experiments_train_resnet18_d Privacy experiments train ResNet18 with DP-SGD across several budgets."/>
          <p:cNvSpPr/>
          <p:nvPr/>
        </p:nvSpPr>
        <p:spPr>
          <a:xfrm>
            <a:off x="7505395" y="2990773"/>
            <a:ext cx="4077004" cy="236532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09600" y="495300"/>
            <a:ext cx="10972800" cy="677037"/>
            <a:chOff x="609600" y="495300"/>
            <a:chExt cx="10972800" cy="677037"/>
          </a:xfrm>
        </p:grpSpPr>
        <p:sp>
          <p:nvSpPr>
            <p:cNvPr id="2" name="Rectangle 2"/>
            <p:cNvSpPr/>
            <p:nvPr/>
          </p:nvSpPr>
          <p:spPr>
            <a:xfrm>
              <a:off x="609600" y="495300"/>
              <a:ext cx="57150" cy="381000"/>
            </a:xfrm>
            <a:prstGeom prst="rect">
              <a:avLst/>
            </a:prstGeom>
            <a:solidFill>
              <a:schemeClr val="accent2"/>
            </a:solidFill>
            <a:ln>
              <a:noFill/>
            </a:ln>
          </p:spPr>
        </p:sp>
        <p:sp>
          <p:nvSpPr>
            <p:cNvPr id="3" name="TextBox 3"/>
            <p:cNvSpPr txBox="1"/>
            <p:nvPr/>
          </p:nvSpPr>
          <p:spPr>
            <a:xfrm>
              <a:off x="814197" y="580549"/>
              <a:ext cx="1842348" cy="190690"/>
            </a:xfrm>
            <a:prstGeom prst="rect">
              <a:avLst/>
            </a:prstGeom>
            <a:noFill/>
            <a:ln>
              <a:noFill/>
            </a:ln>
          </p:spPr>
          <p:txBody>
            <a:bodyPr wrap="none" lIns="0" tIns="0" rIns="0" bIns="0" anchor="t" anchorCtr="0">
              <a:spAutoFit/>
            </a:bodyPr>
            <a:lstStyle/>
            <a:p>
              <a:pPr algn="l"/>
              <a:r>
                <a:rPr lang="en-US" sz="980" b="1" spc="150" dirty="0">
                  <a:solidFill>
                    <a:srgbClr val="8A94A8"/>
                  </a:solidFill>
                  <a:latin typeface="+mn-lt"/>
                  <a:ea typeface="+mn-ea"/>
                  <a:cs typeface="+mn-cs"/>
                </a:rPr>
                <a:t>KEY RESULT · 07 / 10</a:t>
              </a:r>
            </a:p>
          </p:txBody>
        </p:sp>
        <p:sp>
          <p:nvSpPr>
            <p:cNvPr id="4" name="TextBox 4"/>
            <p:cNvSpPr txBox="1"/>
            <p:nvPr/>
          </p:nvSpPr>
          <p:spPr>
            <a:xfrm>
              <a:off x="806958" y="702945"/>
              <a:ext cx="7380183"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j-lt"/>
                  <a:ea typeface="+mj-ea"/>
                  <a:cs typeface="+mj-cs"/>
                </a:rPr>
                <a:t>Memorization tracks input loss curvature</a:t>
              </a:r>
            </a:p>
          </p:txBody>
        </p:sp>
        <p:sp>
          <p:nvSpPr>
            <p:cNvPr id="5" name="Line 5"/>
            <p:cNvSpPr/>
            <p:nvPr/>
          </p:nvSpPr>
          <p:spPr>
            <a:xfrm>
              <a:off x="609600" y="1143000"/>
              <a:ext cx="10972800" cy="9525"/>
            </a:xfrm>
            <a:custGeom>
              <a:avLst/>
              <a:gdLst/>
              <a:ahLst/>
              <a:cxnLst/>
              <a:rect l="l" t="t" r="r" b="b"/>
              <a:pathLst>
                <a:path w="10972800" h="9525">
                  <a:moveTo>
                    <a:pt x="0" y="0"/>
                  </a:moveTo>
                  <a:lnTo>
                    <a:pt x="10972800" y="0"/>
                  </a:lnTo>
                </a:path>
              </a:pathLst>
            </a:custGeom>
            <a:noFill/>
            <a:ln w="14288">
              <a:solidFill>
                <a:schemeClr val="accent4"/>
              </a:solidFill>
            </a:ln>
          </p:spPr>
        </p:sp>
      </p:grpSp>
      <p:grpSp>
        <p:nvGrpSpPr>
          <p:cNvPr id="11" name="Group 11"/>
          <p:cNvGrpSpPr/>
          <p:nvPr/>
        </p:nvGrpSpPr>
        <p:grpSpPr>
          <a:xfrm>
            <a:off x="609600" y="1428750"/>
            <a:ext cx="5829300" cy="4629150"/>
            <a:chOff x="609600" y="1428750"/>
            <a:chExt cx="5829300" cy="4629150"/>
          </a:xfrm>
        </p:grpSpPr>
        <p:sp>
          <p:nvSpPr>
            <p:cNvPr id="7" name="Rectangle 7"/>
            <p:cNvSpPr/>
            <p:nvPr/>
          </p:nvSpPr>
          <p:spPr>
            <a:xfrm>
              <a:off x="609600" y="1428750"/>
              <a:ext cx="5829300" cy="4629150"/>
            </a:xfrm>
            <a:prstGeom prst="roundRect">
              <a:avLst>
                <a:gd name="adj" fmla="val 2469"/>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8" name="TextBox 8"/>
            <p:cNvSpPr txBox="1"/>
            <p:nvPr/>
          </p:nvSpPr>
          <p:spPr>
            <a:xfrm>
              <a:off x="1678880" y="1658302"/>
              <a:ext cx="3690740"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Avg. curvature vs. avg. memorization — CIFAR-100</a:t>
              </a:r>
            </a:p>
          </p:txBody>
        </p:sp>
        <p:pic>
          <p:nvPicPr>
            <p:cNvPr id="9" name="Image 9"/>
            <p:cNvPicPr>
              <a:picLocks noChangeAspect="1"/>
            </p:cNvPicPr>
            <p:nvPr/>
          </p:nvPicPr>
          <p:blipFill>
            <a:blip r:embed="rId2"/>
            <a:stretch>
              <a:fillRect/>
            </a:stretch>
          </p:blipFill>
          <p:spPr>
            <a:xfrm>
              <a:off x="942975" y="1943100"/>
              <a:ext cx="5162550" cy="3695700"/>
            </a:xfrm>
            <a:prstGeom prst="rect">
              <a:avLst/>
            </a:prstGeom>
          </p:spPr>
        </p:pic>
        <p:sp>
          <p:nvSpPr>
            <p:cNvPr id="10" name="TextBox 10"/>
            <p:cNvSpPr txBox="1"/>
            <p:nvPr/>
          </p:nvSpPr>
          <p:spPr>
            <a:xfrm>
              <a:off x="1618698" y="5808345"/>
              <a:ext cx="3811103" cy="176212"/>
            </a:xfrm>
            <a:prstGeom prst="rect">
              <a:avLst/>
            </a:prstGeom>
            <a:noFill/>
            <a:ln>
              <a:noFill/>
            </a:ln>
          </p:spPr>
          <p:txBody>
            <a:bodyPr wrap="none" lIns="0" tIns="0" rIns="0" bIns="0" anchor="t" anchorCtr="0">
              <a:spAutoFit/>
            </a:bodyPr>
            <a:lstStyle/>
            <a:p>
              <a:pPr algn="ctr"/>
              <a:r>
                <a:rPr lang="en-US" sz="900" i="1" dirty="0">
                  <a:solidFill>
                    <a:srgbClr val="8A94A8"/>
                  </a:solidFill>
                  <a:latin typeface="+mn-lt"/>
                  <a:ea typeface="+mn-ea"/>
                  <a:cs typeface="+mn-cs"/>
                </a:rPr>
                <a:t>Figure 3 · strong linear trend, matching Theorem 5.1's best fit</a:t>
              </a:r>
            </a:p>
          </p:txBody>
        </p:sp>
      </p:grpSp>
      <p:grpSp>
        <p:nvGrpSpPr>
          <p:cNvPr id="16" name="Group 16"/>
          <p:cNvGrpSpPr/>
          <p:nvPr/>
        </p:nvGrpSpPr>
        <p:grpSpPr>
          <a:xfrm>
            <a:off x="6705600" y="1428750"/>
            <a:ext cx="4876800" cy="876300"/>
            <a:chOff x="6705600" y="1428750"/>
            <a:chExt cx="4876800" cy="876300"/>
          </a:xfrm>
        </p:grpSpPr>
        <p:sp>
          <p:nvSpPr>
            <p:cNvPr id="12" name="Rectangle 12"/>
            <p:cNvSpPr/>
            <p:nvPr/>
          </p:nvSpPr>
          <p:spPr>
            <a:xfrm>
              <a:off x="6705600" y="1428750"/>
              <a:ext cx="4876800" cy="876300"/>
            </a:xfrm>
            <a:prstGeom prst="roundRect">
              <a:avLst>
                <a:gd name="adj" fmla="val 13043"/>
              </a:avLst>
            </a:prstGeom>
            <a:solidFill>
              <a:srgbClr val="E3F1EA"/>
            </a:solidFill>
            <a:ln w="14288">
              <a:solidFill>
                <a:srgbClr val="3E9E6E"/>
              </a:solidFill>
            </a:ln>
          </p:spPr>
        </p:sp>
        <p:sp>
          <p:nvSpPr>
            <p:cNvPr id="13" name="Rectangle 13"/>
            <p:cNvSpPr/>
            <p:nvPr/>
          </p:nvSpPr>
          <p:spPr>
            <a:xfrm>
              <a:off x="6705600" y="1428750"/>
              <a:ext cx="66675" cy="876300"/>
            </a:xfrm>
            <a:prstGeom prst="rect">
              <a:avLst/>
            </a:prstGeom>
            <a:solidFill>
              <a:srgbClr val="3E9E6E"/>
            </a:solidFill>
            <a:ln>
              <a:noFill/>
            </a:ln>
          </p:spPr>
        </p:sp>
        <p:sp>
          <p:nvSpPr>
            <p:cNvPr id="14" name="TextBox 14"/>
            <p:cNvSpPr txBox="1"/>
            <p:nvPr/>
          </p:nvSpPr>
          <p:spPr>
            <a:xfrm>
              <a:off x="6967538" y="1693545"/>
              <a:ext cx="2927863" cy="176212"/>
            </a:xfrm>
            <a:prstGeom prst="rect">
              <a:avLst/>
            </a:prstGeom>
            <a:noFill/>
            <a:ln>
              <a:noFill/>
            </a:ln>
          </p:spPr>
          <p:txBody>
            <a:bodyPr wrap="none" lIns="0" tIns="0" rIns="0" bIns="0" anchor="t" anchorCtr="0">
              <a:spAutoFit/>
            </a:bodyPr>
            <a:lstStyle/>
            <a:p>
              <a:pPr algn="l"/>
              <a:r>
                <a:rPr lang="en-US" sz="900" b="1" spc="112" dirty="0">
                  <a:solidFill>
                    <a:srgbClr val="2C7350"/>
                  </a:solidFill>
                  <a:latin typeface="+mn-lt"/>
                  <a:ea typeface="+mn-ea"/>
                  <a:cs typeface="+mn-cs"/>
                </a:rPr>
                <a:t>EVERY THEORETICAL PREDICTION HOLDS</a:t>
              </a:r>
            </a:p>
          </p:txBody>
        </p:sp>
        <p:sp>
          <p:nvSpPr>
            <p:cNvPr id="15" name="TextBox 15"/>
            <p:cNvSpPr txBox="1"/>
            <p:nvPr/>
          </p:nvSpPr>
          <p:spPr>
            <a:xfrm>
              <a:off x="6965823" y="1957864"/>
              <a:ext cx="4180216"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The empirical results confirm all three bounds.</a:t>
              </a:r>
            </a:p>
          </p:txBody>
        </p:sp>
      </p:grpSp>
      <p:grpSp>
        <p:nvGrpSpPr>
          <p:cNvPr id="32" name="Group 32"/>
          <p:cNvGrpSpPr/>
          <p:nvPr/>
        </p:nvGrpSpPr>
        <p:grpSpPr>
          <a:xfrm>
            <a:off x="6705600" y="2457450"/>
            <a:ext cx="4876800" cy="3600450"/>
            <a:chOff x="6705600" y="2457450"/>
            <a:chExt cx="4876800" cy="3600450"/>
          </a:xfrm>
        </p:grpSpPr>
        <p:sp>
          <p:nvSpPr>
            <p:cNvPr id="17" name="Rectangle 17"/>
            <p:cNvSpPr/>
            <p:nvPr/>
          </p:nvSpPr>
          <p:spPr>
            <a:xfrm>
              <a:off x="6705600" y="2457450"/>
              <a:ext cx="4876800" cy="3600450"/>
            </a:xfrm>
            <a:prstGeom prst="roundRect">
              <a:avLst>
                <a:gd name="adj" fmla="val 3175"/>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18" name="Rectangle 18"/>
            <p:cNvSpPr/>
            <p:nvPr/>
          </p:nvSpPr>
          <p:spPr>
            <a:xfrm>
              <a:off x="6705600" y="2457450"/>
              <a:ext cx="66675" cy="3600450"/>
            </a:xfrm>
            <a:prstGeom prst="rect">
              <a:avLst/>
            </a:prstGeom>
            <a:solidFill>
              <a:schemeClr val="accent2"/>
            </a:solidFill>
            <a:ln>
              <a:noFill/>
            </a:ln>
          </p:spPr>
        </p:sp>
        <p:sp>
          <p:nvSpPr>
            <p:cNvPr id="19" name="TextBox 19"/>
            <p:cNvSpPr txBox="1"/>
            <p:nvPr/>
          </p:nvSpPr>
          <p:spPr>
            <a:xfrm>
              <a:off x="6967538" y="2703195"/>
              <a:ext cx="1707657" cy="176212"/>
            </a:xfrm>
            <a:prstGeom prst="rect">
              <a:avLst/>
            </a:prstGeom>
            <a:noFill/>
            <a:ln>
              <a:noFill/>
            </a:ln>
          </p:spPr>
          <p:txBody>
            <a:bodyPr wrap="none" lIns="0" tIns="0" rIns="0" bIns="0" anchor="t" anchorCtr="0">
              <a:spAutoFit/>
            </a:bodyPr>
            <a:lstStyle/>
            <a:p>
              <a:pPr algn="l"/>
              <a:r>
                <a:rPr lang="en-US" sz="900" b="1" spc="112" dirty="0">
                  <a:solidFill>
                    <a:srgbClr val="2450A8"/>
                  </a:solidFill>
                  <a:latin typeface="+mn-lt"/>
                  <a:ea typeface="+mn-ea"/>
                  <a:cs typeface="+mn-cs"/>
                </a:rPr>
                <a:t>WHAT THE PLOTS SHOW</a:t>
              </a:r>
            </a:p>
          </p:txBody>
        </p:sp>
        <p:sp>
          <p:nvSpPr>
            <p:cNvPr id="20" name="TextBox 20"/>
            <p:cNvSpPr txBox="1"/>
            <p:nvPr/>
          </p:nvSpPr>
          <p:spPr>
            <a:xfrm>
              <a:off x="6966204" y="3013710"/>
              <a:ext cx="1342045"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1 · Linear trend</a:t>
              </a:r>
            </a:p>
          </p:txBody>
        </p:sp>
        <p:sp>
          <p:nvSpPr>
            <p:cNvPr id="21" name="TextBox 21"/>
            <p:cNvSpPr txBox="1"/>
            <p:nvPr/>
          </p:nvSpPr>
          <p:spPr>
            <a:xfrm>
              <a:off x="6966966" y="3258502"/>
              <a:ext cx="337946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Memorization vs. curvature is strongly linear on</a:t>
              </a:r>
            </a:p>
          </p:txBody>
        </p:sp>
        <p:sp>
          <p:nvSpPr>
            <p:cNvPr id="22" name="TextBox 22"/>
            <p:cNvSpPr txBox="1"/>
            <p:nvPr/>
          </p:nvSpPr>
          <p:spPr>
            <a:xfrm>
              <a:off x="6966966" y="3468052"/>
              <a:ext cx="381732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CIFAR-100 and ImageNet — especially clean on ImageNet.</a:t>
              </a:r>
            </a:p>
          </p:txBody>
        </p:sp>
        <p:sp>
          <p:nvSpPr>
            <p:cNvPr id="23" name="TextBox 23"/>
            <p:cNvSpPr txBox="1"/>
            <p:nvPr/>
          </p:nvSpPr>
          <p:spPr>
            <a:xfrm>
              <a:off x="6966204" y="3851910"/>
              <a:ext cx="2834034"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2 · Privacy drives curvature down</a:t>
              </a:r>
            </a:p>
          </p:txBody>
        </p:sp>
        <p:sp>
          <p:nvSpPr>
            <p:cNvPr id="24" name="TextBox 24"/>
            <p:cNvSpPr txBox="1"/>
            <p:nvPr/>
          </p:nvSpPr>
          <p:spPr>
            <a:xfrm>
              <a:off x="6966966" y="4096702"/>
              <a:ext cx="364817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Stronger privacy (smaller ε) lowers curvature along</a:t>
              </a:r>
            </a:p>
          </p:txBody>
        </p:sp>
        <p:sp>
          <p:nvSpPr>
            <p:cNvPr id="25" name="TextBox 25"/>
            <p:cNvSpPr txBox="1"/>
            <p:nvPr/>
          </p:nvSpPr>
          <p:spPr>
            <a:xfrm>
              <a:off x="6966966" y="4306252"/>
              <a:ext cx="279528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best-fit curve the theory predicts.</a:t>
              </a:r>
            </a:p>
          </p:txBody>
        </p:sp>
        <p:sp>
          <p:nvSpPr>
            <p:cNvPr id="26" name="TextBox 26"/>
            <p:cNvSpPr txBox="1"/>
            <p:nvPr/>
          </p:nvSpPr>
          <p:spPr>
            <a:xfrm>
              <a:off x="6966204" y="4690110"/>
              <a:ext cx="2800541"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3 · Most-memorized stay bounded</a:t>
              </a:r>
            </a:p>
          </p:txBody>
        </p:sp>
        <p:sp>
          <p:nvSpPr>
            <p:cNvPr id="27" name="TextBox 27"/>
            <p:cNvSpPr txBox="1"/>
            <p:nvPr/>
          </p:nvSpPr>
          <p:spPr>
            <a:xfrm>
              <a:off x="6966966" y="4934902"/>
              <a:ext cx="379667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For the most-memorized examples, memorization rises</a:t>
              </a:r>
            </a:p>
          </p:txBody>
        </p:sp>
        <p:sp>
          <p:nvSpPr>
            <p:cNvPr id="28" name="TextBox 28"/>
            <p:cNvSpPr txBox="1"/>
            <p:nvPr/>
          </p:nvSpPr>
          <p:spPr>
            <a:xfrm>
              <a:off x="6966966" y="5144452"/>
              <a:ext cx="329707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with the privacy budget while staying under the</a:t>
              </a:r>
            </a:p>
          </p:txBody>
        </p:sp>
        <p:sp>
          <p:nvSpPr>
            <p:cNvPr id="29" name="TextBox 29"/>
            <p:cNvSpPr txBox="1"/>
            <p:nvPr/>
          </p:nvSpPr>
          <p:spPr>
            <a:xfrm>
              <a:off x="6966966" y="5354002"/>
              <a:ext cx="180471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Theorem 5.4 upper bound.</a:t>
              </a:r>
            </a:p>
          </p:txBody>
        </p:sp>
        <p:sp>
          <p:nvSpPr>
            <p:cNvPr id="30" name="Rectangle 30"/>
            <p:cNvSpPr/>
            <p:nvPr/>
          </p:nvSpPr>
          <p:spPr>
            <a:xfrm>
              <a:off x="6972300" y="5638800"/>
              <a:ext cx="4343400" cy="266700"/>
            </a:xfrm>
            <a:prstGeom prst="roundRect">
              <a:avLst>
                <a:gd name="adj" fmla="val 21429"/>
              </a:avLst>
            </a:prstGeom>
            <a:solidFill>
              <a:srgbClr val="EAF1FB"/>
            </a:solidFill>
            <a:ln>
              <a:noFill/>
            </a:ln>
          </p:spPr>
        </p:sp>
        <p:sp>
          <p:nvSpPr>
            <p:cNvPr id="31" name="TextBox 31"/>
            <p:cNvSpPr txBox="1"/>
            <p:nvPr/>
          </p:nvSpPr>
          <p:spPr>
            <a:xfrm>
              <a:off x="7100697" y="5714524"/>
              <a:ext cx="3719449" cy="190690"/>
            </a:xfrm>
            <a:prstGeom prst="rect">
              <a:avLst/>
            </a:prstGeom>
            <a:noFill/>
            <a:ln>
              <a:noFill/>
            </a:ln>
          </p:spPr>
          <p:txBody>
            <a:bodyPr wrap="none" lIns="0" tIns="0" rIns="0" bIns="0" anchor="t" anchorCtr="0">
              <a:spAutoFit/>
            </a:bodyPr>
            <a:lstStyle/>
            <a:p>
              <a:pPr algn="l"/>
              <a:r>
                <a:rPr lang="en-US" sz="980" b="1" dirty="0">
                  <a:solidFill>
                    <a:schemeClr val="accent2"/>
                  </a:solidFill>
                  <a:latin typeface="+mn-lt"/>
                  <a:ea typeface="+mn-ea"/>
                  <a:cs typeface="+mn-cs"/>
                </a:rPr>
                <a:t>Theory and experiment agree across CIFAR &amp; ImageNet.</a:t>
              </a:r>
            </a:p>
          </p:txBody>
        </p:sp>
      </p:grpSp>
      <p:grpSp>
        <p:nvGrpSpPr>
          <p:cNvPr id="36" name="Group 36"/>
          <p:cNvGrpSpPr/>
          <p:nvPr/>
        </p:nvGrpSpPr>
        <p:grpSpPr>
          <a:xfrm>
            <a:off x="604838" y="6457950"/>
            <a:ext cx="10982324" cy="263366"/>
            <a:chOff x="604838" y="6457950"/>
            <a:chExt cx="10982324" cy="263366"/>
          </a:xfrm>
        </p:grpSpPr>
        <p:sp>
          <p:nvSpPr>
            <p:cNvPr id="33" name="Line 33"/>
            <p:cNvSpPr/>
            <p:nvPr/>
          </p:nvSpPr>
          <p:spPr>
            <a:xfrm>
              <a:off x="609600" y="6457950"/>
              <a:ext cx="10972800" cy="9525"/>
            </a:xfrm>
            <a:custGeom>
              <a:avLst/>
              <a:gdLst/>
              <a:ahLst/>
              <a:cxnLst/>
              <a:rect l="l" t="t" r="r" b="b"/>
              <a:pathLst>
                <a:path w="10972800" h="9525">
                  <a:moveTo>
                    <a:pt x="0" y="0"/>
                  </a:moveTo>
                  <a:lnTo>
                    <a:pt x="10972800" y="0"/>
                  </a:lnTo>
                </a:path>
              </a:pathLst>
            </a:custGeom>
            <a:noFill/>
            <a:ln w="9525">
              <a:solidFill>
                <a:schemeClr val="accent4"/>
              </a:solidFill>
            </a:ln>
          </p:spPr>
        </p:sp>
        <p:sp>
          <p:nvSpPr>
            <p:cNvPr id="34" name="TextBox 34"/>
            <p:cNvSpPr txBox="1"/>
            <p:nvPr/>
          </p:nvSpPr>
          <p:spPr>
            <a:xfrm>
              <a:off x="604838" y="6559391"/>
              <a:ext cx="2528947" cy="161925"/>
            </a:xfrm>
            <a:prstGeom prst="rect">
              <a:avLst/>
            </a:prstGeom>
            <a:noFill/>
            <a:ln>
              <a:noFill/>
            </a:ln>
          </p:spPr>
          <p:txBody>
            <a:bodyPr wrap="none" lIns="0" tIns="0" rIns="0" bIns="0" anchor="t" anchorCtr="0">
              <a:spAutoFit/>
            </a:bodyPr>
            <a:lstStyle/>
            <a:p>
              <a:pPr algn="l"/>
              <a:r>
                <a:rPr lang="en-US" sz="820" dirty="0">
                  <a:solidFill>
                    <a:srgbClr val="8A94A8"/>
                  </a:solidFill>
                  <a:latin typeface="+mn-lt"/>
                  <a:ea typeface="+mn-ea"/>
                  <a:cs typeface="+mn-cs"/>
                </a:rPr>
                <a:t>Input Loss Curvature ↔ Memorization ↔ Privacy</a:t>
              </a:r>
            </a:p>
          </p:txBody>
        </p:sp>
        <p:sp>
          <p:nvSpPr>
            <p:cNvPr id="35" name="TextBox 35"/>
            <p:cNvSpPr txBox="1"/>
            <p:nvPr/>
          </p:nvSpPr>
          <p:spPr>
            <a:xfrm>
              <a:off x="11207836" y="6559391"/>
              <a:ext cx="379326" cy="161925"/>
            </a:xfrm>
            <a:prstGeom prst="rect">
              <a:avLst/>
            </a:prstGeom>
            <a:noFill/>
            <a:ln>
              <a:noFill/>
            </a:ln>
          </p:spPr>
          <p:txBody>
            <a:bodyPr wrap="none" lIns="0" tIns="0" rIns="0" bIns="0" anchor="t" anchorCtr="0">
              <a:spAutoFit/>
            </a:bodyPr>
            <a:lstStyle/>
            <a:p>
              <a:pPr algn="r"/>
              <a:r>
                <a:rPr lang="en-US" sz="820" dirty="0">
                  <a:solidFill>
                    <a:srgbClr val="8A94A8"/>
                  </a:solidFill>
                  <a:latin typeface="+mn-lt"/>
                  <a:ea typeface="+mn-ea"/>
                  <a:cs typeface="+mn-cs"/>
                </a:rPr>
                <a:t>07 / 10</a:t>
              </a:r>
            </a:p>
          </p:txBody>
        </p:sp>
      </p:grpSp>
      <p:sp>
        <p:nvSpPr>
          <p:cNvPr id="37" name="cue_s07_c1_every_prediction_holds" title="cue_s07_c1_every_prediction_holds" descr="cue_s07_c1_every_prediction_holds Every prediction holds."/>
          <p:cNvSpPr/>
          <p:nvPr/>
        </p:nvSpPr>
        <p:spPr>
          <a:xfrm>
            <a:off x="6705600" y="1428521"/>
            <a:ext cx="4876800"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7_c2_memorization_plotted_against_input_l" title="cue_s07_c2_memorization_plotted_against_input_l" descr="cue_s07_c2_memorization_plotted_against_input_l Memorization plotted against input loss curvature shows a strong linear trend on CIFAR100 and ImageNet, especially clean on ImageNet."/>
          <p:cNvSpPr/>
          <p:nvPr/>
        </p:nvSpPr>
        <p:spPr>
          <a:xfrm>
            <a:off x="609600" y="1428521"/>
            <a:ext cx="6163055" cy="46291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7_c3_stronger_privacy_drives_curvature_do" title="cue_s07_c3_stronger_privacy_drives_curvature_do" descr="cue_s07_c3_stronger_privacy_drives_curvature_do Stronger privacy drives curvature down along the predicted curve, and for the most-memorized examples, memorization rises with the privacy budget while staying under the theoretical bound."/>
          <p:cNvSpPr/>
          <p:nvPr/>
        </p:nvSpPr>
        <p:spPr>
          <a:xfrm>
            <a:off x="6705600" y="2457221"/>
            <a:ext cx="4876800" cy="36004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09600" y="495300"/>
            <a:ext cx="10972800" cy="677037"/>
            <a:chOff x="609600" y="495300"/>
            <a:chExt cx="10972800" cy="677037"/>
          </a:xfrm>
        </p:grpSpPr>
        <p:sp>
          <p:nvSpPr>
            <p:cNvPr id="2" name="Rectangle 2"/>
            <p:cNvSpPr/>
            <p:nvPr/>
          </p:nvSpPr>
          <p:spPr>
            <a:xfrm>
              <a:off x="609600" y="495300"/>
              <a:ext cx="57150" cy="381000"/>
            </a:xfrm>
            <a:prstGeom prst="rect">
              <a:avLst/>
            </a:prstGeom>
            <a:solidFill>
              <a:schemeClr val="accent5"/>
            </a:solidFill>
            <a:ln>
              <a:noFill/>
            </a:ln>
          </p:spPr>
        </p:sp>
        <p:sp>
          <p:nvSpPr>
            <p:cNvPr id="3" name="TextBox 3"/>
            <p:cNvSpPr txBox="1"/>
            <p:nvPr/>
          </p:nvSpPr>
          <p:spPr>
            <a:xfrm>
              <a:off x="814197" y="580549"/>
              <a:ext cx="2242377" cy="190690"/>
            </a:xfrm>
            <a:prstGeom prst="rect">
              <a:avLst/>
            </a:prstGeom>
            <a:noFill/>
            <a:ln>
              <a:noFill/>
            </a:ln>
          </p:spPr>
          <p:txBody>
            <a:bodyPr wrap="none" lIns="0" tIns="0" rIns="0" bIns="0" anchor="t" anchorCtr="0">
              <a:spAutoFit/>
            </a:bodyPr>
            <a:lstStyle/>
            <a:p>
              <a:pPr algn="l"/>
              <a:r>
                <a:rPr lang="en-US" sz="980" b="1" spc="150" dirty="0">
                  <a:solidFill>
                    <a:srgbClr val="8A94A8"/>
                  </a:solidFill>
                  <a:latin typeface="+mn-lt"/>
                  <a:ea typeface="+mn-ea"/>
                  <a:cs typeface="+mn-cs"/>
                </a:rPr>
                <a:t>ABLATION STUDY · 08 / 10</a:t>
              </a:r>
            </a:p>
          </p:txBody>
        </p:sp>
        <p:sp>
          <p:nvSpPr>
            <p:cNvPr id="4" name="TextBox 4"/>
            <p:cNvSpPr txBox="1"/>
            <p:nvPr/>
          </p:nvSpPr>
          <p:spPr>
            <a:xfrm>
              <a:off x="806958" y="702945"/>
              <a:ext cx="7471587"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j-lt"/>
                  <a:ea typeface="+mj-ea"/>
                  <a:cs typeface="+mj-cs"/>
                </a:rPr>
                <a:t>How the estimates behave across settings</a:t>
              </a:r>
            </a:p>
          </p:txBody>
        </p:sp>
        <p:sp>
          <p:nvSpPr>
            <p:cNvPr id="5" name="Line 5"/>
            <p:cNvSpPr/>
            <p:nvPr/>
          </p:nvSpPr>
          <p:spPr>
            <a:xfrm>
              <a:off x="609600" y="1143000"/>
              <a:ext cx="10972800" cy="9525"/>
            </a:xfrm>
            <a:custGeom>
              <a:avLst/>
              <a:gdLst/>
              <a:ahLst/>
              <a:cxnLst/>
              <a:rect l="l" t="t" r="r" b="b"/>
              <a:pathLst>
                <a:path w="10972800" h="9525">
                  <a:moveTo>
                    <a:pt x="0" y="0"/>
                  </a:moveTo>
                  <a:lnTo>
                    <a:pt x="10972800" y="0"/>
                  </a:lnTo>
                </a:path>
              </a:pathLst>
            </a:custGeom>
            <a:noFill/>
            <a:ln w="14288">
              <a:solidFill>
                <a:schemeClr val="accent4"/>
              </a:solidFill>
            </a:ln>
          </p:spPr>
        </p:sp>
      </p:grpSp>
      <p:grpSp>
        <p:nvGrpSpPr>
          <p:cNvPr id="14" name="Group 14"/>
          <p:cNvGrpSpPr/>
          <p:nvPr/>
        </p:nvGrpSpPr>
        <p:grpSpPr>
          <a:xfrm>
            <a:off x="609600" y="1428750"/>
            <a:ext cx="5219700" cy="1536859"/>
            <a:chOff x="609600" y="1428750"/>
            <a:chExt cx="5219700" cy="1536859"/>
          </a:xfrm>
        </p:grpSpPr>
        <p:sp>
          <p:nvSpPr>
            <p:cNvPr id="7" name="Rectangle 7"/>
            <p:cNvSpPr/>
            <p:nvPr/>
          </p:nvSpPr>
          <p:spPr>
            <a:xfrm>
              <a:off x="609600" y="1428750"/>
              <a:ext cx="5219700" cy="1485900"/>
            </a:xfrm>
            <a:prstGeom prst="roundRect">
              <a:avLst>
                <a:gd name="adj" fmla="val 7692"/>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8" name="Rectangle 8"/>
            <p:cNvSpPr/>
            <p:nvPr/>
          </p:nvSpPr>
          <p:spPr>
            <a:xfrm>
              <a:off x="609600" y="1428750"/>
              <a:ext cx="66675" cy="1485900"/>
            </a:xfrm>
            <a:prstGeom prst="rect">
              <a:avLst/>
            </a:prstGeom>
            <a:solidFill>
              <a:schemeClr val="accent2"/>
            </a:solidFill>
            <a:ln>
              <a:noFill/>
            </a:ln>
          </p:spPr>
        </p:sp>
        <p:sp>
          <p:nvSpPr>
            <p:cNvPr id="9" name="TextBox 9"/>
            <p:cNvSpPr txBox="1"/>
            <p:nvPr/>
          </p:nvSpPr>
          <p:spPr>
            <a:xfrm>
              <a:off x="871538" y="1712595"/>
              <a:ext cx="526034"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CONFIG</a:t>
              </a:r>
            </a:p>
          </p:txBody>
        </p:sp>
        <p:sp>
          <p:nvSpPr>
            <p:cNvPr id="10" name="TextBox 10"/>
            <p:cNvSpPr txBox="1"/>
            <p:nvPr/>
          </p:nvSpPr>
          <p:spPr>
            <a:xfrm>
              <a:off x="869061" y="1922621"/>
              <a:ext cx="205817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Curvature estimator</a:t>
              </a:r>
            </a:p>
          </p:txBody>
        </p:sp>
        <p:sp>
          <p:nvSpPr>
            <p:cNvPr id="11" name="TextBox 11"/>
            <p:cNvSpPr txBox="1"/>
            <p:nvPr/>
          </p:nvSpPr>
          <p:spPr>
            <a:xfrm>
              <a:off x="870585" y="2269331"/>
              <a:ext cx="380864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Hutchinson's trace estimator, cheap enough to run</a:t>
              </a:r>
            </a:p>
          </p:txBody>
        </p:sp>
        <p:sp>
          <p:nvSpPr>
            <p:cNvPr id="12" name="TextBox 12"/>
            <p:cNvSpPr txBox="1"/>
            <p:nvPr/>
          </p:nvSpPr>
          <p:spPr>
            <a:xfrm>
              <a:off x="870585" y="2507456"/>
              <a:ext cx="348678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at scale: finite-difference step h = 1e-3, with</a:t>
              </a:r>
            </a:p>
          </p:txBody>
        </p:sp>
        <p:sp>
          <p:nvSpPr>
            <p:cNvPr id="13" name="TextBox 13"/>
            <p:cNvSpPr txBox="1"/>
            <p:nvPr/>
          </p:nvSpPr>
          <p:spPr>
            <a:xfrm>
              <a:off x="870585" y="2745581"/>
              <a:ext cx="251288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 = 10 Rademacher probe vectors.</a:t>
              </a:r>
            </a:p>
          </p:txBody>
        </p:sp>
      </p:grpSp>
      <p:grpSp>
        <p:nvGrpSpPr>
          <p:cNvPr id="23" name="Group 23"/>
          <p:cNvGrpSpPr/>
          <p:nvPr/>
        </p:nvGrpSpPr>
        <p:grpSpPr>
          <a:xfrm>
            <a:off x="609600" y="3067050"/>
            <a:ext cx="5219700" cy="1851184"/>
            <a:chOff x="609600" y="3067050"/>
            <a:chExt cx="5219700" cy="1851184"/>
          </a:xfrm>
        </p:grpSpPr>
        <p:sp>
          <p:nvSpPr>
            <p:cNvPr id="15" name="Rectangle 15"/>
            <p:cNvSpPr/>
            <p:nvPr/>
          </p:nvSpPr>
          <p:spPr>
            <a:xfrm>
              <a:off x="609600" y="3067050"/>
              <a:ext cx="5219700" cy="1733550"/>
            </a:xfrm>
            <a:prstGeom prst="roundRect">
              <a:avLst>
                <a:gd name="adj" fmla="val 6593"/>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16" name="Rectangle 16"/>
            <p:cNvSpPr/>
            <p:nvPr/>
          </p:nvSpPr>
          <p:spPr>
            <a:xfrm>
              <a:off x="609600" y="3067050"/>
              <a:ext cx="66675" cy="1733550"/>
            </a:xfrm>
            <a:prstGeom prst="rect">
              <a:avLst/>
            </a:prstGeom>
            <a:solidFill>
              <a:srgbClr val="3E9E6E"/>
            </a:solidFill>
            <a:ln>
              <a:noFill/>
            </a:ln>
          </p:spPr>
        </p:sp>
        <p:sp>
          <p:nvSpPr>
            <p:cNvPr id="17" name="TextBox 17"/>
            <p:cNvSpPr txBox="1"/>
            <p:nvPr/>
          </p:nvSpPr>
          <p:spPr>
            <a:xfrm>
              <a:off x="871538" y="3350895"/>
              <a:ext cx="469778" cy="176212"/>
            </a:xfrm>
            <a:prstGeom prst="rect">
              <a:avLst/>
            </a:prstGeom>
            <a:noFill/>
            <a:ln>
              <a:noFill/>
            </a:ln>
          </p:spPr>
          <p:txBody>
            <a:bodyPr wrap="none" lIns="0" tIns="0" rIns="0" bIns="0" anchor="t" anchorCtr="0">
              <a:spAutoFit/>
            </a:bodyPr>
            <a:lstStyle/>
            <a:p>
              <a:pPr algn="l"/>
              <a:r>
                <a:rPr lang="en-US" sz="900" b="1" spc="112" dirty="0">
                  <a:solidFill>
                    <a:srgbClr val="3E9E6E"/>
                  </a:solidFill>
                  <a:latin typeface="+mn-lt"/>
                  <a:ea typeface="+mn-ea"/>
                  <a:cs typeface="+mn-cs"/>
                </a:rPr>
                <a:t>SWEEP</a:t>
              </a:r>
            </a:p>
          </p:txBody>
        </p:sp>
        <p:sp>
          <p:nvSpPr>
            <p:cNvPr id="18" name="TextBox 18"/>
            <p:cNvSpPr txBox="1"/>
            <p:nvPr/>
          </p:nvSpPr>
          <p:spPr>
            <a:xfrm>
              <a:off x="869061" y="3560921"/>
              <a:ext cx="211858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Privacy budget sweep</a:t>
              </a:r>
            </a:p>
          </p:txBody>
        </p:sp>
        <p:sp>
          <p:nvSpPr>
            <p:cNvPr id="19" name="TextBox 19"/>
            <p:cNvSpPr txBox="1"/>
            <p:nvPr/>
          </p:nvSpPr>
          <p:spPr>
            <a:xfrm>
              <a:off x="870585" y="3926681"/>
              <a:ext cx="333600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ε ∈ {1, 10, 20, 30, 40, 50} at fixed δ = 1e-5.</a:t>
              </a:r>
            </a:p>
          </p:txBody>
        </p:sp>
        <p:sp>
          <p:nvSpPr>
            <p:cNvPr id="20" name="TextBox 20"/>
            <p:cNvSpPr txBox="1"/>
            <p:nvPr/>
          </p:nvSpPr>
          <p:spPr>
            <a:xfrm>
              <a:off x="870585" y="4183856"/>
              <a:ext cx="401246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Curvature averaged over 10 random seeds per budget.</a:t>
              </a:r>
            </a:p>
          </p:txBody>
        </p:sp>
        <p:sp>
          <p:nvSpPr>
            <p:cNvPr id="21" name="TextBox 21"/>
            <p:cNvSpPr txBox="1"/>
            <p:nvPr/>
          </p:nvSpPr>
          <p:spPr>
            <a:xfrm>
              <a:off x="870585" y="4441031"/>
              <a:ext cx="343199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Stronger privacy (small ε) → lower curvature;</a:t>
              </a:r>
            </a:p>
          </p:txBody>
        </p:sp>
        <p:sp>
          <p:nvSpPr>
            <p:cNvPr id="22" name="TextBox 22"/>
            <p:cNvSpPr txBox="1"/>
            <p:nvPr/>
          </p:nvSpPr>
          <p:spPr>
            <a:xfrm>
              <a:off x="870585" y="4698206"/>
              <a:ext cx="269521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it recovers as the budget ε loosens.</a:t>
              </a:r>
            </a:p>
          </p:txBody>
        </p:sp>
      </p:grpSp>
      <p:grpSp>
        <p:nvGrpSpPr>
          <p:cNvPr id="28" name="Group 28"/>
          <p:cNvGrpSpPr/>
          <p:nvPr/>
        </p:nvGrpSpPr>
        <p:grpSpPr>
          <a:xfrm>
            <a:off x="609600" y="4972050"/>
            <a:ext cx="5219700" cy="1085850"/>
            <a:chOff x="609600" y="4972050"/>
            <a:chExt cx="5219700" cy="1085850"/>
          </a:xfrm>
        </p:grpSpPr>
        <p:sp>
          <p:nvSpPr>
            <p:cNvPr id="24" name="Rectangle 24"/>
            <p:cNvSpPr/>
            <p:nvPr/>
          </p:nvSpPr>
          <p:spPr>
            <a:xfrm>
              <a:off x="609600" y="4972050"/>
              <a:ext cx="5219700" cy="1085850"/>
            </a:xfrm>
            <a:prstGeom prst="roundRect">
              <a:avLst>
                <a:gd name="adj" fmla="val 10526"/>
              </a:avLst>
            </a:prstGeom>
            <a:solidFill>
              <a:srgbClr val="EAF1FB"/>
            </a:solidFill>
            <a:ln>
              <a:noFill/>
            </a:ln>
          </p:spPr>
        </p:sp>
        <p:sp>
          <p:nvSpPr>
            <p:cNvPr id="25" name="TextBox 25"/>
            <p:cNvSpPr txBox="1"/>
            <p:nvPr/>
          </p:nvSpPr>
          <p:spPr>
            <a:xfrm>
              <a:off x="833247" y="5209699"/>
              <a:ext cx="1265363"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Cheap by design</a:t>
              </a:r>
            </a:p>
          </p:txBody>
        </p:sp>
        <p:sp>
          <p:nvSpPr>
            <p:cNvPr id="26" name="TextBox 26"/>
            <p:cNvSpPr txBox="1"/>
            <p:nvPr/>
          </p:nvSpPr>
          <p:spPr>
            <a:xfrm>
              <a:off x="832485" y="5479256"/>
              <a:ext cx="355952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The whole sweep is affordable precisely because</a:t>
              </a:r>
            </a:p>
          </p:txBody>
        </p:sp>
        <p:sp>
          <p:nvSpPr>
            <p:cNvPr id="27" name="TextBox 27"/>
            <p:cNvSpPr txBox="1"/>
            <p:nvPr/>
          </p:nvSpPr>
          <p:spPr>
            <a:xfrm>
              <a:off x="832485" y="5688806"/>
              <a:ext cx="331830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curvature avoids computing the full Hessian.</a:t>
              </a:r>
            </a:p>
          </p:txBody>
        </p:sp>
      </p:grpSp>
      <p:grpSp>
        <p:nvGrpSpPr>
          <p:cNvPr id="39" name="Group 39"/>
          <p:cNvGrpSpPr/>
          <p:nvPr/>
        </p:nvGrpSpPr>
        <p:grpSpPr>
          <a:xfrm>
            <a:off x="6057900" y="1428750"/>
            <a:ext cx="5524500" cy="4629150"/>
            <a:chOff x="6057900" y="1428750"/>
            <a:chExt cx="5524500" cy="4629150"/>
          </a:xfrm>
        </p:grpSpPr>
        <p:sp>
          <p:nvSpPr>
            <p:cNvPr id="29" name="Rectangle 29"/>
            <p:cNvSpPr/>
            <p:nvPr/>
          </p:nvSpPr>
          <p:spPr>
            <a:xfrm>
              <a:off x="6057900" y="1428750"/>
              <a:ext cx="5524500" cy="4629150"/>
            </a:xfrm>
            <a:prstGeom prst="roundRect">
              <a:avLst>
                <a:gd name="adj" fmla="val 2469"/>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30" name="Rectangle 30"/>
            <p:cNvSpPr/>
            <p:nvPr/>
          </p:nvSpPr>
          <p:spPr>
            <a:xfrm>
              <a:off x="6057900" y="1428750"/>
              <a:ext cx="66675" cy="4629150"/>
            </a:xfrm>
            <a:prstGeom prst="rect">
              <a:avLst/>
            </a:prstGeom>
            <a:solidFill>
              <a:schemeClr val="accent5"/>
            </a:solidFill>
            <a:ln>
              <a:noFill/>
            </a:ln>
          </p:spPr>
        </p:sp>
        <p:sp>
          <p:nvSpPr>
            <p:cNvPr id="31" name="TextBox 31"/>
            <p:cNvSpPr txBox="1"/>
            <p:nvPr/>
          </p:nvSpPr>
          <p:spPr>
            <a:xfrm>
              <a:off x="6319838" y="1674495"/>
              <a:ext cx="2896001" cy="176212"/>
            </a:xfrm>
            <a:prstGeom prst="rect">
              <a:avLst/>
            </a:prstGeom>
            <a:noFill/>
            <a:ln>
              <a:noFill/>
            </a:ln>
          </p:spPr>
          <p:txBody>
            <a:bodyPr wrap="none" lIns="0" tIns="0" rIns="0" bIns="0" anchor="t" anchorCtr="0">
              <a:spAutoFit/>
            </a:bodyPr>
            <a:lstStyle/>
            <a:p>
              <a:pPr algn="l"/>
              <a:r>
                <a:rPr lang="en-US" sz="900" b="1" spc="112" dirty="0">
                  <a:solidFill>
                    <a:schemeClr val="accent6"/>
                  </a:solidFill>
                  <a:latin typeface="+mn-lt"/>
                  <a:ea typeface="+mn-ea"/>
                  <a:cs typeface="+mn-cs"/>
                </a:rPr>
                <a:t>TOP-500 MOST-MEMORIZED CIFAR-100</a:t>
              </a:r>
            </a:p>
          </p:txBody>
        </p:sp>
        <p:sp>
          <p:nvSpPr>
            <p:cNvPr id="32" name="TextBox 32"/>
            <p:cNvSpPr txBox="1"/>
            <p:nvPr/>
          </p:nvSpPr>
          <p:spPr>
            <a:xfrm>
              <a:off x="6318885" y="1916906"/>
              <a:ext cx="338612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Memorization collapses under strong privacy,</a:t>
              </a:r>
            </a:p>
          </p:txBody>
        </p:sp>
        <p:sp>
          <p:nvSpPr>
            <p:cNvPr id="33" name="TextBox 33"/>
            <p:cNvSpPr txBox="1"/>
            <p:nvPr/>
          </p:nvSpPr>
          <p:spPr>
            <a:xfrm>
              <a:off x="6318885" y="2126456"/>
              <a:ext cx="351693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then recovers as the budget ε grows — tracking</a:t>
              </a:r>
            </a:p>
          </p:txBody>
        </p:sp>
        <p:sp>
          <p:nvSpPr>
            <p:cNvPr id="34" name="TextBox 34"/>
            <p:cNvSpPr txBox="1"/>
            <p:nvPr/>
          </p:nvSpPr>
          <p:spPr>
            <a:xfrm>
              <a:off x="6318885" y="2336006"/>
              <a:ext cx="255951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theoretical bound throughout.</a:t>
              </a:r>
            </a:p>
          </p:txBody>
        </p:sp>
        <p:sp>
          <p:nvSpPr>
            <p:cNvPr id="35" name="Rectangle 35"/>
            <p:cNvSpPr/>
            <p:nvPr/>
          </p:nvSpPr>
          <p:spPr>
            <a:xfrm>
              <a:off x="6324600" y="2647950"/>
              <a:ext cx="4991100" cy="2857500"/>
            </a:xfrm>
            <a:prstGeom prst="roundRect">
              <a:avLst>
                <a:gd name="adj" fmla="val 3333"/>
              </a:avLst>
            </a:prstGeom>
            <a:solidFill>
              <a:schemeClr val="lt2"/>
            </a:solidFill>
            <a:ln w="9525">
              <a:solidFill>
                <a:schemeClr val="accent4"/>
              </a:solidFill>
            </a:ln>
          </p:spPr>
        </p:sp>
        <p:sp>
          <p:nvSpPr>
            <p:cNvPr id="36" name="TextBox 36"/>
            <p:cNvSpPr txBox="1"/>
            <p:nvPr/>
          </p:nvSpPr>
          <p:spPr>
            <a:xfrm>
              <a:off x="7221033" y="2809399"/>
              <a:ext cx="3198233"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mn-lt"/>
                  <a:ea typeface="+mn-ea"/>
                  <a:cs typeface="+mn-cs"/>
                </a:rPr>
                <a:t>Curvature vs. privacy budget (CIFAR-10 / 100)</a:t>
              </a:r>
            </a:p>
          </p:txBody>
        </p:sp>
        <p:pic>
          <p:nvPicPr>
            <p:cNvPr id="37" name="Image 37"/>
            <p:cNvPicPr>
              <a:picLocks noChangeAspect="1"/>
            </p:cNvPicPr>
            <p:nvPr/>
          </p:nvPicPr>
          <p:blipFill>
            <a:blip r:embed="rId2"/>
            <a:stretch>
              <a:fillRect/>
            </a:stretch>
          </p:blipFill>
          <p:spPr>
            <a:xfrm>
              <a:off x="7175182" y="3028950"/>
              <a:ext cx="3289935" cy="2343150"/>
            </a:xfrm>
            <a:prstGeom prst="rect">
              <a:avLst/>
            </a:prstGeom>
          </p:spPr>
        </p:pic>
        <p:sp>
          <p:nvSpPr>
            <p:cNvPr id="38" name="TextBox 38"/>
            <p:cNvSpPr txBox="1"/>
            <p:nvPr/>
          </p:nvSpPr>
          <p:spPr>
            <a:xfrm>
              <a:off x="7062500" y="5674995"/>
              <a:ext cx="3515300" cy="176212"/>
            </a:xfrm>
            <a:prstGeom prst="rect">
              <a:avLst/>
            </a:prstGeom>
            <a:noFill/>
            <a:ln>
              <a:noFill/>
            </a:ln>
          </p:spPr>
          <p:txBody>
            <a:bodyPr wrap="none" lIns="0" tIns="0" rIns="0" bIns="0" anchor="t" anchorCtr="0">
              <a:spAutoFit/>
            </a:bodyPr>
            <a:lstStyle/>
            <a:p>
              <a:pPr algn="ctr"/>
              <a:r>
                <a:rPr lang="en-US" sz="900" i="1" dirty="0">
                  <a:solidFill>
                    <a:srgbClr val="8A94A8"/>
                  </a:solidFill>
                  <a:latin typeface="+mn-lt"/>
                  <a:ea typeface="+mn-ea"/>
                  <a:cs typeface="+mn-cs"/>
                </a:rPr>
                <a:t>Figure 7 · curvature rises with ε along the theory best-fit</a:t>
              </a:r>
            </a:p>
          </p:txBody>
        </p:sp>
      </p:grpSp>
      <p:grpSp>
        <p:nvGrpSpPr>
          <p:cNvPr id="43" name="Group 43"/>
          <p:cNvGrpSpPr/>
          <p:nvPr/>
        </p:nvGrpSpPr>
        <p:grpSpPr>
          <a:xfrm>
            <a:off x="604838" y="6457950"/>
            <a:ext cx="10982324" cy="263366"/>
            <a:chOff x="604838" y="6457950"/>
            <a:chExt cx="10982324" cy="263366"/>
          </a:xfrm>
        </p:grpSpPr>
        <p:sp>
          <p:nvSpPr>
            <p:cNvPr id="40" name="Line 40"/>
            <p:cNvSpPr/>
            <p:nvPr/>
          </p:nvSpPr>
          <p:spPr>
            <a:xfrm>
              <a:off x="609600" y="6457950"/>
              <a:ext cx="10972800" cy="9525"/>
            </a:xfrm>
            <a:custGeom>
              <a:avLst/>
              <a:gdLst/>
              <a:ahLst/>
              <a:cxnLst/>
              <a:rect l="l" t="t" r="r" b="b"/>
              <a:pathLst>
                <a:path w="10972800" h="9525">
                  <a:moveTo>
                    <a:pt x="0" y="0"/>
                  </a:moveTo>
                  <a:lnTo>
                    <a:pt x="10972800" y="0"/>
                  </a:lnTo>
                </a:path>
              </a:pathLst>
            </a:custGeom>
            <a:noFill/>
            <a:ln w="9525">
              <a:solidFill>
                <a:schemeClr val="accent4"/>
              </a:solidFill>
            </a:ln>
          </p:spPr>
        </p:sp>
        <p:sp>
          <p:nvSpPr>
            <p:cNvPr id="41" name="TextBox 41"/>
            <p:cNvSpPr txBox="1"/>
            <p:nvPr/>
          </p:nvSpPr>
          <p:spPr>
            <a:xfrm>
              <a:off x="604838" y="6559391"/>
              <a:ext cx="2528947" cy="161925"/>
            </a:xfrm>
            <a:prstGeom prst="rect">
              <a:avLst/>
            </a:prstGeom>
            <a:noFill/>
            <a:ln>
              <a:noFill/>
            </a:ln>
          </p:spPr>
          <p:txBody>
            <a:bodyPr wrap="none" lIns="0" tIns="0" rIns="0" bIns="0" anchor="t" anchorCtr="0">
              <a:spAutoFit/>
            </a:bodyPr>
            <a:lstStyle/>
            <a:p>
              <a:pPr algn="l"/>
              <a:r>
                <a:rPr lang="en-US" sz="820" dirty="0">
                  <a:solidFill>
                    <a:srgbClr val="8A94A8"/>
                  </a:solidFill>
                  <a:latin typeface="+mn-lt"/>
                  <a:ea typeface="+mn-ea"/>
                  <a:cs typeface="+mn-cs"/>
                </a:rPr>
                <a:t>Input Loss Curvature ↔ Memorization ↔ Privacy</a:t>
              </a:r>
            </a:p>
          </p:txBody>
        </p:sp>
        <p:sp>
          <p:nvSpPr>
            <p:cNvPr id="42" name="TextBox 42"/>
            <p:cNvSpPr txBox="1"/>
            <p:nvPr/>
          </p:nvSpPr>
          <p:spPr>
            <a:xfrm>
              <a:off x="11207836" y="6559391"/>
              <a:ext cx="379326" cy="161925"/>
            </a:xfrm>
            <a:prstGeom prst="rect">
              <a:avLst/>
            </a:prstGeom>
            <a:noFill/>
            <a:ln>
              <a:noFill/>
            </a:ln>
          </p:spPr>
          <p:txBody>
            <a:bodyPr wrap="none" lIns="0" tIns="0" rIns="0" bIns="0" anchor="t" anchorCtr="0">
              <a:spAutoFit/>
            </a:bodyPr>
            <a:lstStyle/>
            <a:p>
              <a:pPr algn="r"/>
              <a:r>
                <a:rPr lang="en-US" sz="820" dirty="0">
                  <a:solidFill>
                    <a:srgbClr val="8A94A8"/>
                  </a:solidFill>
                  <a:latin typeface="+mn-lt"/>
                  <a:ea typeface="+mn-ea"/>
                  <a:cs typeface="+mn-cs"/>
                </a:rPr>
                <a:t>08 / 10</a:t>
              </a:r>
            </a:p>
          </p:txBody>
        </p:sp>
      </p:grpSp>
      <p:sp>
        <p:nvSpPr>
          <p:cNvPr id="44" name="cue_s08_c1_curvature_hutchinson_trace_estimator" title="cue_s08_c1_curvature_hutchinson_trace_estimator" descr="cue_s08_c1_curvature_hutchinson_trace_estimator Curvature uses Hutchinson's trace estimator with step 1e-3 and ten Rademacher vectors, cheap enough to run at scale."/>
          <p:cNvSpPr/>
          <p:nvPr/>
        </p:nvSpPr>
        <p:spPr>
          <a:xfrm>
            <a:off x="609600" y="1428521"/>
            <a:ext cx="5219395" cy="153687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8_c2_privacy_sweeps_epsilon_over_one" title="cue_s08_c2_privacy_sweeps_epsilon_over_one" descr="cue_s08_c2_privacy_sweeps_epsilon_over_one Privacy sweeps epsilon over one, ten, twenty, thirty, forty, and fifty at delta 1e-5, averaging ten seeds."/>
          <p:cNvSpPr/>
          <p:nvPr/>
        </p:nvSpPr>
        <p:spPr>
          <a:xfrm>
            <a:off x="609600" y="3066897"/>
            <a:ext cx="5219395" cy="185097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8_c3_five_hundred_most_memorized_cifar100" title="cue_s08_c3_five_hundred_most_memorized_cifar100" descr="cue_s08_c3_five_hundred_most_memorized_cifar100 The five hundred most-memorized CIFAR100 examples collapse under strong privacy and recover as epsilon grows."/>
          <p:cNvSpPr/>
          <p:nvPr/>
        </p:nvSpPr>
        <p:spPr>
          <a:xfrm>
            <a:off x="6058204" y="1428521"/>
            <a:ext cx="5524195" cy="46291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09600" y="495300"/>
            <a:ext cx="10972800" cy="677037"/>
            <a:chOff x="609600" y="495300"/>
            <a:chExt cx="10972800" cy="677037"/>
          </a:xfrm>
        </p:grpSpPr>
        <p:sp>
          <p:nvSpPr>
            <p:cNvPr id="2" name="Rectangle 2"/>
            <p:cNvSpPr/>
            <p:nvPr/>
          </p:nvSpPr>
          <p:spPr>
            <a:xfrm>
              <a:off x="609600" y="495300"/>
              <a:ext cx="57150" cy="381000"/>
            </a:xfrm>
            <a:prstGeom prst="rect">
              <a:avLst/>
            </a:prstGeom>
            <a:solidFill>
              <a:schemeClr val="accent2"/>
            </a:solidFill>
            <a:ln>
              <a:noFill/>
            </a:ln>
          </p:spPr>
        </p:sp>
        <p:sp>
          <p:nvSpPr>
            <p:cNvPr id="3" name="TextBox 3"/>
            <p:cNvSpPr txBox="1"/>
            <p:nvPr/>
          </p:nvSpPr>
          <p:spPr>
            <a:xfrm>
              <a:off x="814197" y="580549"/>
              <a:ext cx="2446050" cy="190690"/>
            </a:xfrm>
            <a:prstGeom prst="rect">
              <a:avLst/>
            </a:prstGeom>
            <a:noFill/>
            <a:ln>
              <a:noFill/>
            </a:ln>
          </p:spPr>
          <p:txBody>
            <a:bodyPr wrap="none" lIns="0" tIns="0" rIns="0" bIns="0" anchor="t" anchorCtr="0">
              <a:spAutoFit/>
            </a:bodyPr>
            <a:lstStyle/>
            <a:p>
              <a:pPr algn="l"/>
              <a:r>
                <a:rPr lang="en-US" sz="980" b="1" spc="150" dirty="0">
                  <a:solidFill>
                    <a:srgbClr val="8A94A8"/>
                  </a:solidFill>
                  <a:latin typeface="+mn-lt"/>
                  <a:ea typeface="+mn-ea"/>
                  <a:cs typeface="+mn-cs"/>
                </a:rPr>
                <a:t>HEADLINE NUMBERS · 09 / 10</a:t>
              </a:r>
            </a:p>
          </p:txBody>
        </p:sp>
        <p:sp>
          <p:nvSpPr>
            <p:cNvPr id="4" name="TextBox 4"/>
            <p:cNvSpPr txBox="1"/>
            <p:nvPr/>
          </p:nvSpPr>
          <p:spPr>
            <a:xfrm>
              <a:off x="806958" y="702945"/>
              <a:ext cx="6182639"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j-lt"/>
                  <a:ea typeface="+mj-ea"/>
                  <a:cs typeface="+mj-cs"/>
                </a:rPr>
                <a:t>Four numbers that define the work</a:t>
              </a:r>
            </a:p>
          </p:txBody>
        </p:sp>
        <p:sp>
          <p:nvSpPr>
            <p:cNvPr id="5" name="Line 5"/>
            <p:cNvSpPr/>
            <p:nvPr/>
          </p:nvSpPr>
          <p:spPr>
            <a:xfrm>
              <a:off x="609600" y="1143000"/>
              <a:ext cx="10972800" cy="9525"/>
            </a:xfrm>
            <a:custGeom>
              <a:avLst/>
              <a:gdLst/>
              <a:ahLst/>
              <a:cxnLst/>
              <a:rect l="l" t="t" r="r" b="b"/>
              <a:pathLst>
                <a:path w="10972800" h="9525">
                  <a:moveTo>
                    <a:pt x="0" y="0"/>
                  </a:moveTo>
                  <a:lnTo>
                    <a:pt x="10972800" y="0"/>
                  </a:lnTo>
                </a:path>
              </a:pathLst>
            </a:custGeom>
            <a:noFill/>
            <a:ln w="14288">
              <a:solidFill>
                <a:schemeClr val="accent4"/>
              </a:solidFill>
            </a:ln>
          </p:spPr>
        </p:sp>
      </p:grpSp>
      <p:grpSp>
        <p:nvGrpSpPr>
          <p:cNvPr id="13" name="Group 13"/>
          <p:cNvGrpSpPr/>
          <p:nvPr/>
        </p:nvGrpSpPr>
        <p:grpSpPr>
          <a:xfrm>
            <a:off x="609600" y="1485900"/>
            <a:ext cx="5334000" cy="2133600"/>
            <a:chOff x="609600" y="1485900"/>
            <a:chExt cx="5334000" cy="2133600"/>
          </a:xfrm>
        </p:grpSpPr>
        <p:sp>
          <p:nvSpPr>
            <p:cNvPr id="7" name="Rectangle 7"/>
            <p:cNvSpPr/>
            <p:nvPr/>
          </p:nvSpPr>
          <p:spPr>
            <a:xfrm>
              <a:off x="609600" y="1485900"/>
              <a:ext cx="5334000" cy="2133600"/>
            </a:xfrm>
            <a:prstGeom prst="roundRect">
              <a:avLst>
                <a:gd name="adj" fmla="val 6250"/>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8" name="Rectangle 8"/>
            <p:cNvSpPr/>
            <p:nvPr/>
          </p:nvSpPr>
          <p:spPr>
            <a:xfrm>
              <a:off x="609600" y="1485900"/>
              <a:ext cx="5334000" cy="66675"/>
            </a:xfrm>
            <a:prstGeom prst="rect">
              <a:avLst/>
            </a:prstGeom>
            <a:solidFill>
              <a:schemeClr val="accent2"/>
            </a:solidFill>
            <a:ln>
              <a:noFill/>
            </a:ln>
          </p:spPr>
        </p:sp>
        <p:sp>
          <p:nvSpPr>
            <p:cNvPr id="9" name="TextBox 9"/>
            <p:cNvSpPr txBox="1"/>
            <p:nvPr/>
          </p:nvSpPr>
          <p:spPr>
            <a:xfrm>
              <a:off x="928497" y="1933099"/>
              <a:ext cx="885109" cy="190690"/>
            </a:xfrm>
            <a:prstGeom prst="rect">
              <a:avLst/>
            </a:prstGeom>
            <a:noFill/>
            <a:ln>
              <a:noFill/>
            </a:ln>
          </p:spPr>
          <p:txBody>
            <a:bodyPr wrap="none" lIns="0" tIns="0" rIns="0" bIns="0" anchor="t" anchorCtr="0">
              <a:spAutoFit/>
            </a:bodyPr>
            <a:lstStyle/>
            <a:p>
              <a:pPr algn="l"/>
              <a:r>
                <a:rPr lang="en-US" sz="980" b="1" spc="112" dirty="0">
                  <a:solidFill>
                    <a:srgbClr val="2450A8"/>
                  </a:solidFill>
                  <a:latin typeface="+mn-lt"/>
                  <a:ea typeface="+mn-ea"/>
                  <a:cs typeface="+mn-cs"/>
                </a:rPr>
                <a:t>EFFICIENCY</a:t>
              </a:r>
            </a:p>
          </p:txBody>
        </p:sp>
        <p:sp>
          <p:nvSpPr>
            <p:cNvPr id="10" name="TextBox 10"/>
            <p:cNvSpPr txBox="1"/>
            <p:nvPr/>
          </p:nvSpPr>
          <p:spPr>
            <a:xfrm>
              <a:off x="914400" y="2235518"/>
              <a:ext cx="2182048" cy="847725"/>
            </a:xfrm>
            <a:prstGeom prst="rect">
              <a:avLst/>
            </a:prstGeom>
            <a:noFill/>
            <a:ln>
              <a:noFill/>
            </a:ln>
          </p:spPr>
          <p:txBody>
            <a:bodyPr wrap="none" lIns="0" tIns="0" rIns="0" bIns="0" anchor="t" anchorCtr="0">
              <a:spAutoFit/>
            </a:bodyPr>
            <a:lstStyle/>
            <a:p>
              <a:pPr algn="l"/>
              <a:r>
                <a:rPr lang="en-US" sz="4350" b="1" dirty="0">
                  <a:solidFill>
                    <a:schemeClr val="dk1"/>
                  </a:solidFill>
                  <a:latin typeface="+mj-lt"/>
                  <a:ea typeface="+mj-ea"/>
                  <a:cs typeface="+mj-cs"/>
                </a:rPr>
                <a:t>~1000×</a:t>
              </a:r>
            </a:p>
          </p:txBody>
        </p:sp>
        <p:sp>
          <p:nvSpPr>
            <p:cNvPr id="11" name="TextBox 11"/>
            <p:cNvSpPr txBox="1"/>
            <p:nvPr/>
          </p:nvSpPr>
          <p:spPr>
            <a:xfrm>
              <a:off x="927354" y="2842260"/>
              <a:ext cx="156301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cheaper to compute</a:t>
              </a:r>
            </a:p>
          </p:txBody>
        </p:sp>
        <p:sp>
          <p:nvSpPr>
            <p:cNvPr id="12" name="TextBox 12"/>
            <p:cNvSpPr txBox="1"/>
            <p:nvPr/>
          </p:nvSpPr>
          <p:spPr>
            <a:xfrm>
              <a:off x="928116" y="3201352"/>
              <a:ext cx="406420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Curvature vs. Feldman's memorization score (~3 orders).</a:t>
              </a:r>
            </a:p>
          </p:txBody>
        </p:sp>
      </p:grpSp>
      <p:grpSp>
        <p:nvGrpSpPr>
          <p:cNvPr id="20" name="Group 20"/>
          <p:cNvGrpSpPr/>
          <p:nvPr/>
        </p:nvGrpSpPr>
        <p:grpSpPr>
          <a:xfrm>
            <a:off x="6248400" y="1485900"/>
            <a:ext cx="5334000" cy="2133600"/>
            <a:chOff x="6248400" y="1485900"/>
            <a:chExt cx="5334000" cy="2133600"/>
          </a:xfrm>
        </p:grpSpPr>
        <p:sp>
          <p:nvSpPr>
            <p:cNvPr id="14" name="Rectangle 14"/>
            <p:cNvSpPr/>
            <p:nvPr/>
          </p:nvSpPr>
          <p:spPr>
            <a:xfrm>
              <a:off x="6248400" y="1485900"/>
              <a:ext cx="5334000" cy="2133600"/>
            </a:xfrm>
            <a:prstGeom prst="roundRect">
              <a:avLst>
                <a:gd name="adj" fmla="val 6250"/>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15" name="Rectangle 15"/>
            <p:cNvSpPr/>
            <p:nvPr/>
          </p:nvSpPr>
          <p:spPr>
            <a:xfrm>
              <a:off x="6248400" y="1485900"/>
              <a:ext cx="5334000" cy="66675"/>
            </a:xfrm>
            <a:prstGeom prst="rect">
              <a:avLst/>
            </a:prstGeom>
            <a:solidFill>
              <a:schemeClr val="accent5"/>
            </a:solidFill>
            <a:ln>
              <a:noFill/>
            </a:ln>
          </p:spPr>
        </p:sp>
        <p:sp>
          <p:nvSpPr>
            <p:cNvPr id="16" name="TextBox 16"/>
            <p:cNvSpPr txBox="1"/>
            <p:nvPr/>
          </p:nvSpPr>
          <p:spPr>
            <a:xfrm>
              <a:off x="6567297" y="1933099"/>
              <a:ext cx="1143836" cy="190690"/>
            </a:xfrm>
            <a:prstGeom prst="rect">
              <a:avLst/>
            </a:prstGeom>
            <a:noFill/>
            <a:ln>
              <a:noFill/>
            </a:ln>
          </p:spPr>
          <p:txBody>
            <a:bodyPr wrap="none" lIns="0" tIns="0" rIns="0" bIns="0" anchor="t" anchorCtr="0">
              <a:spAutoFit/>
            </a:bodyPr>
            <a:lstStyle/>
            <a:p>
              <a:pPr algn="l"/>
              <a:r>
                <a:rPr lang="en-US" sz="980" b="1" spc="112" dirty="0">
                  <a:solidFill>
                    <a:schemeClr val="accent6"/>
                  </a:solidFill>
                  <a:latin typeface="+mn-lt"/>
                  <a:ea typeface="+mn-ea"/>
                  <a:cs typeface="+mn-cs"/>
                </a:rPr>
                <a:t>GROUND TRUTH</a:t>
              </a:r>
            </a:p>
          </p:txBody>
        </p:sp>
        <p:sp>
          <p:nvSpPr>
            <p:cNvPr id="17" name="TextBox 17"/>
            <p:cNvSpPr txBox="1"/>
            <p:nvPr/>
          </p:nvSpPr>
          <p:spPr>
            <a:xfrm>
              <a:off x="6553200" y="2235518"/>
              <a:ext cx="3286506" cy="847725"/>
            </a:xfrm>
            <a:prstGeom prst="rect">
              <a:avLst/>
            </a:prstGeom>
            <a:noFill/>
            <a:ln>
              <a:noFill/>
            </a:ln>
          </p:spPr>
          <p:txBody>
            <a:bodyPr wrap="none" lIns="0" tIns="0" rIns="0" bIns="0" anchor="t" anchorCtr="0">
              <a:spAutoFit/>
            </a:bodyPr>
            <a:lstStyle/>
            <a:p>
              <a:pPr algn="l"/>
              <a:r>
                <a:rPr lang="en-US" sz="4350" b="1" dirty="0">
                  <a:solidFill>
                    <a:schemeClr val="dk1"/>
                  </a:solidFill>
                  <a:latin typeface="+mj-lt"/>
                  <a:ea typeface="+mj-ea"/>
                  <a:cs typeface="+mj-cs"/>
                </a:rPr>
                <a:t>1000 / 100</a:t>
              </a:r>
            </a:p>
          </p:txBody>
        </p:sp>
        <p:sp>
          <p:nvSpPr>
            <p:cNvPr id="18" name="TextBox 18"/>
            <p:cNvSpPr txBox="1"/>
            <p:nvPr/>
          </p:nvSpPr>
          <p:spPr>
            <a:xfrm>
              <a:off x="6566154" y="2842260"/>
              <a:ext cx="246114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models (CIFAR-100 / ImageNet)</a:t>
              </a:r>
            </a:p>
          </p:txBody>
        </p:sp>
        <p:sp>
          <p:nvSpPr>
            <p:cNvPr id="19" name="TextBox 19"/>
            <p:cNvSpPr txBox="1"/>
            <p:nvPr/>
          </p:nvSpPr>
          <p:spPr>
            <a:xfrm>
              <a:off x="6566916" y="3201352"/>
              <a:ext cx="344129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Feldman &amp; Zhang ensembles averaged per example.</a:t>
              </a:r>
            </a:p>
          </p:txBody>
        </p:sp>
      </p:grpSp>
      <p:grpSp>
        <p:nvGrpSpPr>
          <p:cNvPr id="27" name="Group 27"/>
          <p:cNvGrpSpPr/>
          <p:nvPr/>
        </p:nvGrpSpPr>
        <p:grpSpPr>
          <a:xfrm>
            <a:off x="609600" y="3924300"/>
            <a:ext cx="5334000" cy="2133600"/>
            <a:chOff x="609600" y="3924300"/>
            <a:chExt cx="5334000" cy="2133600"/>
          </a:xfrm>
        </p:grpSpPr>
        <p:sp>
          <p:nvSpPr>
            <p:cNvPr id="21" name="Rectangle 21"/>
            <p:cNvSpPr/>
            <p:nvPr/>
          </p:nvSpPr>
          <p:spPr>
            <a:xfrm>
              <a:off x="609600" y="3924300"/>
              <a:ext cx="5334000" cy="2133600"/>
            </a:xfrm>
            <a:prstGeom prst="roundRect">
              <a:avLst>
                <a:gd name="adj" fmla="val 6250"/>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22" name="Rectangle 22"/>
            <p:cNvSpPr/>
            <p:nvPr/>
          </p:nvSpPr>
          <p:spPr>
            <a:xfrm>
              <a:off x="609600" y="3924300"/>
              <a:ext cx="5334000" cy="66675"/>
            </a:xfrm>
            <a:prstGeom prst="rect">
              <a:avLst/>
            </a:prstGeom>
            <a:solidFill>
              <a:srgbClr val="3E9E6E"/>
            </a:solidFill>
            <a:ln>
              <a:noFill/>
            </a:ln>
          </p:spPr>
        </p:sp>
        <p:sp>
          <p:nvSpPr>
            <p:cNvPr id="23" name="TextBox 23"/>
            <p:cNvSpPr txBox="1"/>
            <p:nvPr/>
          </p:nvSpPr>
          <p:spPr>
            <a:xfrm>
              <a:off x="928497" y="4371499"/>
              <a:ext cx="1270835" cy="190690"/>
            </a:xfrm>
            <a:prstGeom prst="rect">
              <a:avLst/>
            </a:prstGeom>
            <a:noFill/>
            <a:ln>
              <a:noFill/>
            </a:ln>
          </p:spPr>
          <p:txBody>
            <a:bodyPr wrap="none" lIns="0" tIns="0" rIns="0" bIns="0" anchor="t" anchorCtr="0">
              <a:spAutoFit/>
            </a:bodyPr>
            <a:lstStyle/>
            <a:p>
              <a:pPr algn="l"/>
              <a:r>
                <a:rPr lang="en-US" sz="980" b="1" spc="112" dirty="0">
                  <a:solidFill>
                    <a:srgbClr val="2C7350"/>
                  </a:solidFill>
                  <a:latin typeface="+mn-lt"/>
                  <a:ea typeface="+mn-ea"/>
                  <a:cs typeface="+mn-cs"/>
                </a:rPr>
                <a:t>PRIVACY BUDGET</a:t>
              </a:r>
            </a:p>
          </p:txBody>
        </p:sp>
        <p:sp>
          <p:nvSpPr>
            <p:cNvPr id="24" name="TextBox 24"/>
            <p:cNvSpPr txBox="1"/>
            <p:nvPr/>
          </p:nvSpPr>
          <p:spPr>
            <a:xfrm>
              <a:off x="914400" y="4673918"/>
              <a:ext cx="2376952" cy="847725"/>
            </a:xfrm>
            <a:prstGeom prst="rect">
              <a:avLst/>
            </a:prstGeom>
            <a:noFill/>
            <a:ln>
              <a:noFill/>
            </a:ln>
          </p:spPr>
          <p:txBody>
            <a:bodyPr wrap="none" lIns="0" tIns="0" rIns="0" bIns="0" anchor="t" anchorCtr="0">
              <a:spAutoFit/>
            </a:bodyPr>
            <a:lstStyle/>
            <a:p>
              <a:pPr algn="l"/>
              <a:r>
                <a:rPr lang="en-US" sz="4350" b="1" dirty="0">
                  <a:solidFill>
                    <a:schemeClr val="dk1"/>
                  </a:solidFill>
                  <a:latin typeface="+mj-lt"/>
                  <a:ea typeface="+mj-ea"/>
                  <a:cs typeface="+mj-cs"/>
                </a:rPr>
                <a:t>ε: 1→50</a:t>
              </a:r>
            </a:p>
          </p:txBody>
        </p:sp>
        <p:sp>
          <p:nvSpPr>
            <p:cNvPr id="25" name="TextBox 25"/>
            <p:cNvSpPr txBox="1"/>
            <p:nvPr/>
          </p:nvSpPr>
          <p:spPr>
            <a:xfrm>
              <a:off x="927354" y="5280660"/>
              <a:ext cx="179725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δ = 1e-5 privacy sweep</a:t>
              </a:r>
            </a:p>
          </p:txBody>
        </p:sp>
        <p:sp>
          <p:nvSpPr>
            <p:cNvPr id="26" name="TextBox 26"/>
            <p:cNvSpPr txBox="1"/>
            <p:nvPr/>
          </p:nvSpPr>
          <p:spPr>
            <a:xfrm>
              <a:off x="928116" y="5639752"/>
              <a:ext cx="354236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Six budgets; 3 theorems tie the triangle together.</a:t>
              </a:r>
            </a:p>
          </p:txBody>
        </p:sp>
      </p:grpSp>
      <p:grpSp>
        <p:nvGrpSpPr>
          <p:cNvPr id="33" name="Group 33"/>
          <p:cNvGrpSpPr/>
          <p:nvPr/>
        </p:nvGrpSpPr>
        <p:grpSpPr>
          <a:xfrm>
            <a:off x="6248400" y="3924300"/>
            <a:ext cx="5334000" cy="2133600"/>
            <a:chOff x="6248400" y="3924300"/>
            <a:chExt cx="5334000" cy="2133600"/>
          </a:xfrm>
        </p:grpSpPr>
        <p:sp>
          <p:nvSpPr>
            <p:cNvPr id="28" name="Rectangle 28"/>
            <p:cNvSpPr/>
            <p:nvPr/>
          </p:nvSpPr>
          <p:spPr>
            <a:xfrm>
              <a:off x="6248400" y="3924300"/>
              <a:ext cx="5334000" cy="2133600"/>
            </a:xfrm>
            <a:prstGeom prst="roundRect">
              <a:avLst>
                <a:gd name="adj" fmla="val 6250"/>
              </a:avLst>
            </a:prstGeom>
            <a:solidFill>
              <a:srgbClr val="EAF1FB"/>
            </a:solidFill>
            <a:ln w="14288">
              <a:solidFill>
                <a:schemeClr val="accent2"/>
              </a:solidFill>
            </a:ln>
          </p:spPr>
        </p:sp>
        <p:sp>
          <p:nvSpPr>
            <p:cNvPr id="29" name="TextBox 29"/>
            <p:cNvSpPr txBox="1"/>
            <p:nvPr/>
          </p:nvSpPr>
          <p:spPr>
            <a:xfrm>
              <a:off x="6567297" y="4371499"/>
              <a:ext cx="883814"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ESTIMATOR</a:t>
              </a:r>
            </a:p>
          </p:txBody>
        </p:sp>
        <p:sp>
          <p:nvSpPr>
            <p:cNvPr id="30" name="TextBox 30"/>
            <p:cNvSpPr txBox="1"/>
            <p:nvPr/>
          </p:nvSpPr>
          <p:spPr>
            <a:xfrm>
              <a:off x="6555486" y="4768215"/>
              <a:ext cx="3163199"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j-lt"/>
                  <a:ea typeface="+mj-ea"/>
                  <a:cs typeface="+mj-cs"/>
                </a:rPr>
                <a:t>h=1e-3, n=10</a:t>
              </a:r>
            </a:p>
          </p:txBody>
        </p:sp>
        <p:sp>
          <p:nvSpPr>
            <p:cNvPr id="31" name="TextBox 31"/>
            <p:cNvSpPr txBox="1"/>
            <p:nvPr/>
          </p:nvSpPr>
          <p:spPr>
            <a:xfrm>
              <a:off x="6566535" y="5288756"/>
              <a:ext cx="276825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finite-diff step · Rademacher probes</a:t>
              </a:r>
            </a:p>
          </p:txBody>
        </p:sp>
        <p:sp>
          <p:nvSpPr>
            <p:cNvPr id="32" name="TextBox 32"/>
            <p:cNvSpPr txBox="1"/>
            <p:nvPr/>
          </p:nvSpPr>
          <p:spPr>
            <a:xfrm>
              <a:off x="6566916" y="5639752"/>
              <a:ext cx="284976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few numbers capture the whole result.</a:t>
              </a:r>
            </a:p>
          </p:txBody>
        </p:sp>
      </p:grpSp>
      <p:grpSp>
        <p:nvGrpSpPr>
          <p:cNvPr id="37" name="Group 37"/>
          <p:cNvGrpSpPr/>
          <p:nvPr/>
        </p:nvGrpSpPr>
        <p:grpSpPr>
          <a:xfrm>
            <a:off x="604838" y="6457950"/>
            <a:ext cx="10982324" cy="263366"/>
            <a:chOff x="604838" y="6457950"/>
            <a:chExt cx="10982324" cy="263366"/>
          </a:xfrm>
        </p:grpSpPr>
        <p:sp>
          <p:nvSpPr>
            <p:cNvPr id="34" name="Line 34"/>
            <p:cNvSpPr/>
            <p:nvPr/>
          </p:nvSpPr>
          <p:spPr>
            <a:xfrm>
              <a:off x="609600" y="6457950"/>
              <a:ext cx="10972800" cy="9525"/>
            </a:xfrm>
            <a:custGeom>
              <a:avLst/>
              <a:gdLst/>
              <a:ahLst/>
              <a:cxnLst/>
              <a:rect l="l" t="t" r="r" b="b"/>
              <a:pathLst>
                <a:path w="10972800" h="9525">
                  <a:moveTo>
                    <a:pt x="0" y="0"/>
                  </a:moveTo>
                  <a:lnTo>
                    <a:pt x="10972800" y="0"/>
                  </a:lnTo>
                </a:path>
              </a:pathLst>
            </a:custGeom>
            <a:noFill/>
            <a:ln w="9525">
              <a:solidFill>
                <a:schemeClr val="accent4"/>
              </a:solidFill>
            </a:ln>
          </p:spPr>
        </p:sp>
        <p:sp>
          <p:nvSpPr>
            <p:cNvPr id="35" name="TextBox 35"/>
            <p:cNvSpPr txBox="1"/>
            <p:nvPr/>
          </p:nvSpPr>
          <p:spPr>
            <a:xfrm>
              <a:off x="604838" y="6559391"/>
              <a:ext cx="2528947" cy="161925"/>
            </a:xfrm>
            <a:prstGeom prst="rect">
              <a:avLst/>
            </a:prstGeom>
            <a:noFill/>
            <a:ln>
              <a:noFill/>
            </a:ln>
          </p:spPr>
          <p:txBody>
            <a:bodyPr wrap="none" lIns="0" tIns="0" rIns="0" bIns="0" anchor="t" anchorCtr="0">
              <a:spAutoFit/>
            </a:bodyPr>
            <a:lstStyle/>
            <a:p>
              <a:pPr algn="l"/>
              <a:r>
                <a:rPr lang="en-US" sz="820" dirty="0">
                  <a:solidFill>
                    <a:srgbClr val="8A94A8"/>
                  </a:solidFill>
                  <a:latin typeface="+mn-lt"/>
                  <a:ea typeface="+mn-ea"/>
                  <a:cs typeface="+mn-cs"/>
                </a:rPr>
                <a:t>Input Loss Curvature ↔ Memorization ↔ Privacy</a:t>
              </a:r>
            </a:p>
          </p:txBody>
        </p:sp>
        <p:sp>
          <p:nvSpPr>
            <p:cNvPr id="36" name="TextBox 36"/>
            <p:cNvSpPr txBox="1"/>
            <p:nvPr/>
          </p:nvSpPr>
          <p:spPr>
            <a:xfrm>
              <a:off x="11207836" y="6559391"/>
              <a:ext cx="379326" cy="161925"/>
            </a:xfrm>
            <a:prstGeom prst="rect">
              <a:avLst/>
            </a:prstGeom>
            <a:noFill/>
            <a:ln>
              <a:noFill/>
            </a:ln>
          </p:spPr>
          <p:txBody>
            <a:bodyPr wrap="none" lIns="0" tIns="0" rIns="0" bIns="0" anchor="t" anchorCtr="0">
              <a:spAutoFit/>
            </a:bodyPr>
            <a:lstStyle/>
            <a:p>
              <a:pPr algn="r"/>
              <a:r>
                <a:rPr lang="en-US" sz="820" dirty="0">
                  <a:solidFill>
                    <a:srgbClr val="8A94A8"/>
                  </a:solidFill>
                  <a:latin typeface="+mn-lt"/>
                  <a:ea typeface="+mn-ea"/>
                  <a:cs typeface="+mn-cs"/>
                </a:rPr>
                <a:t>09 / 10</a:t>
              </a:r>
            </a:p>
          </p:txBody>
        </p:sp>
      </p:grpSp>
      <p:sp>
        <p:nvSpPr>
          <p:cNvPr id="38" name="cue_s09_c1_few_numbers_capture_work" title="cue_s09_c1_few_numbers_capture_work" descr="cue_s09_c1_few_numbers_capture_work A few numbers capture the work."/>
          <p:cNvSpPr/>
          <p:nvPr/>
        </p:nvSpPr>
        <p:spPr>
          <a:xfrm>
            <a:off x="6248399" y="3924147"/>
            <a:ext cx="5334000"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9_c2_input_loss_curvature_about_three" title="cue_s09_c2_input_loss_curvature_about_three" descr="cue_s09_c2_input_loss_curvature_about_three Input loss curvature is about three orders of magnitude cheaper than the Feldman score."/>
          <p:cNvSpPr/>
          <p:nvPr/>
        </p:nvSpPr>
        <p:spPr>
          <a:xfrm>
            <a:off x="609600" y="1486128"/>
            <a:ext cx="5334000"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9_c3_ground_truth_averages_thousand_model" title="cue_s09_c3_ground_truth_averages_thousand_model" descr="cue_s09_c3_ground_truth_averages_thousand_model Ground truth averages a thousand models on CIFAR100 and a hundred on ImageNet."/>
          <p:cNvSpPr/>
          <p:nvPr/>
        </p:nvSpPr>
        <p:spPr>
          <a:xfrm>
            <a:off x="6248399" y="1486128"/>
            <a:ext cx="5334000"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9_c4_privacy_sweeps_epsilon_one_fifty" title="cue_s09_c4_privacy_sweeps_epsilon_one_fifty" descr="cue_s09_c4_privacy_sweeps_epsilon_one_fifty Privacy sweeps epsilon from one to fifty at delta 1e-5. Three theorems tie the triangle together."/>
          <p:cNvSpPr/>
          <p:nvPr/>
        </p:nvSpPr>
        <p:spPr>
          <a:xfrm>
            <a:off x="609600" y="3924147"/>
            <a:ext cx="5334000"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09600" y="495300"/>
            <a:ext cx="10972800" cy="677037"/>
            <a:chOff x="609600" y="495300"/>
            <a:chExt cx="10972800" cy="677037"/>
          </a:xfrm>
        </p:grpSpPr>
        <p:sp>
          <p:nvSpPr>
            <p:cNvPr id="2" name="Rectangle 2"/>
            <p:cNvSpPr/>
            <p:nvPr/>
          </p:nvSpPr>
          <p:spPr>
            <a:xfrm>
              <a:off x="609600" y="495300"/>
              <a:ext cx="57150" cy="381000"/>
            </a:xfrm>
            <a:prstGeom prst="rect">
              <a:avLst/>
            </a:prstGeom>
            <a:solidFill>
              <a:srgbClr val="3E9E6E"/>
            </a:solidFill>
            <a:ln>
              <a:noFill/>
            </a:ln>
          </p:spPr>
        </p:sp>
        <p:sp>
          <p:nvSpPr>
            <p:cNvPr id="3" name="TextBox 3"/>
            <p:cNvSpPr txBox="1"/>
            <p:nvPr/>
          </p:nvSpPr>
          <p:spPr>
            <a:xfrm>
              <a:off x="814197" y="580549"/>
              <a:ext cx="1704539" cy="190690"/>
            </a:xfrm>
            <a:prstGeom prst="rect">
              <a:avLst/>
            </a:prstGeom>
            <a:noFill/>
            <a:ln>
              <a:noFill/>
            </a:ln>
          </p:spPr>
          <p:txBody>
            <a:bodyPr wrap="none" lIns="0" tIns="0" rIns="0" bIns="0" anchor="t" anchorCtr="0">
              <a:spAutoFit/>
            </a:bodyPr>
            <a:lstStyle/>
            <a:p>
              <a:pPr algn="l"/>
              <a:r>
                <a:rPr lang="en-US" sz="980" b="1" spc="150" dirty="0">
                  <a:solidFill>
                    <a:srgbClr val="8A94A8"/>
                  </a:solidFill>
                  <a:latin typeface="+mn-lt"/>
                  <a:ea typeface="+mn-ea"/>
                  <a:cs typeface="+mn-cs"/>
                </a:rPr>
                <a:t>TAKEAWAY · 10 / 10</a:t>
              </a:r>
            </a:p>
          </p:txBody>
        </p:sp>
        <p:sp>
          <p:nvSpPr>
            <p:cNvPr id="4" name="TextBox 4"/>
            <p:cNvSpPr txBox="1"/>
            <p:nvPr/>
          </p:nvSpPr>
          <p:spPr>
            <a:xfrm>
              <a:off x="806958" y="702945"/>
              <a:ext cx="7421709"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j-lt"/>
                  <a:ea typeface="+mj-ea"/>
                  <a:cs typeface="+mj-cs"/>
                </a:rPr>
                <a:t>A cheap measurement, now on firm ground</a:t>
              </a:r>
            </a:p>
          </p:txBody>
        </p:sp>
        <p:sp>
          <p:nvSpPr>
            <p:cNvPr id="5" name="Line 5"/>
            <p:cNvSpPr/>
            <p:nvPr/>
          </p:nvSpPr>
          <p:spPr>
            <a:xfrm>
              <a:off x="609600" y="1143000"/>
              <a:ext cx="10972800" cy="9525"/>
            </a:xfrm>
            <a:custGeom>
              <a:avLst/>
              <a:gdLst/>
              <a:ahLst/>
              <a:cxnLst/>
              <a:rect l="l" t="t" r="r" b="b"/>
              <a:pathLst>
                <a:path w="10972800" h="9525">
                  <a:moveTo>
                    <a:pt x="0" y="0"/>
                  </a:moveTo>
                  <a:lnTo>
                    <a:pt x="10972800" y="0"/>
                  </a:lnTo>
                </a:path>
              </a:pathLst>
            </a:custGeom>
            <a:noFill/>
            <a:ln w="14288">
              <a:solidFill>
                <a:schemeClr val="accent4"/>
              </a:solidFill>
            </a:ln>
          </p:spPr>
        </p:sp>
      </p:grpSp>
      <p:grpSp>
        <p:nvGrpSpPr>
          <p:cNvPr id="15" name="Group 15"/>
          <p:cNvGrpSpPr/>
          <p:nvPr/>
        </p:nvGrpSpPr>
        <p:grpSpPr>
          <a:xfrm>
            <a:off x="609600" y="1428750"/>
            <a:ext cx="6781800" cy="2038350"/>
            <a:chOff x="609600" y="1428750"/>
            <a:chExt cx="6781800" cy="2038350"/>
          </a:xfrm>
        </p:grpSpPr>
        <p:sp>
          <p:nvSpPr>
            <p:cNvPr id="7" name="Rectangle 7"/>
            <p:cNvSpPr/>
            <p:nvPr/>
          </p:nvSpPr>
          <p:spPr>
            <a:xfrm>
              <a:off x="609600" y="1428750"/>
              <a:ext cx="6781800" cy="2038350"/>
            </a:xfrm>
            <a:prstGeom prst="roundRect">
              <a:avLst>
                <a:gd name="adj" fmla="val 6542"/>
              </a:avLst>
            </a:prstGeom>
            <a:solidFill>
              <a:schemeClr val="lt1"/>
            </a:solidFill>
            <a:ln w="14288">
              <a:solidFill>
                <a:schemeClr val="accent4"/>
              </a:solidFill>
            </a:ln>
            <a:effectLst>
              <a:outerShdw blurRad="76200" dist="19050" dir="5400000" algn="ctr" rotWithShape="0">
                <a:srgbClr val="16213E">
                  <a:alpha val="7500"/>
                </a:srgbClr>
              </a:outerShdw>
            </a:effectLst>
          </p:spPr>
        </p:sp>
        <p:sp>
          <p:nvSpPr>
            <p:cNvPr id="8" name="Rectangle 8"/>
            <p:cNvSpPr/>
            <p:nvPr/>
          </p:nvSpPr>
          <p:spPr>
            <a:xfrm>
              <a:off x="609600" y="1428750"/>
              <a:ext cx="66675" cy="2038350"/>
            </a:xfrm>
            <a:prstGeom prst="rect">
              <a:avLst/>
            </a:prstGeom>
            <a:solidFill>
              <a:schemeClr val="accent2"/>
            </a:solidFill>
            <a:ln>
              <a:noFill/>
            </a:ln>
          </p:spPr>
        </p:sp>
        <p:sp>
          <p:nvSpPr>
            <p:cNvPr id="9" name="TextBox 9"/>
            <p:cNvSpPr txBox="1"/>
            <p:nvPr/>
          </p:nvSpPr>
          <p:spPr>
            <a:xfrm>
              <a:off x="871538" y="1712595"/>
              <a:ext cx="1627007" cy="176212"/>
            </a:xfrm>
            <a:prstGeom prst="rect">
              <a:avLst/>
            </a:prstGeom>
            <a:noFill/>
            <a:ln>
              <a:noFill/>
            </a:ln>
          </p:spPr>
          <p:txBody>
            <a:bodyPr wrap="none" lIns="0" tIns="0" rIns="0" bIns="0" anchor="t" anchorCtr="0">
              <a:spAutoFit/>
            </a:bodyPr>
            <a:lstStyle/>
            <a:p>
              <a:pPr algn="l"/>
              <a:r>
                <a:rPr lang="en-US" sz="900" b="1" spc="112" dirty="0">
                  <a:solidFill>
                    <a:srgbClr val="2450A8"/>
                  </a:solidFill>
                  <a:latin typeface="+mn-lt"/>
                  <a:ea typeface="+mn-ea"/>
                  <a:cs typeface="+mn-cs"/>
                </a:rPr>
                <a:t>THE CLOSED TRIANGLE</a:t>
              </a:r>
            </a:p>
          </p:txBody>
        </p:sp>
        <p:sp>
          <p:nvSpPr>
            <p:cNvPr id="10" name="TextBox 10"/>
            <p:cNvSpPr txBox="1"/>
            <p:nvPr/>
          </p:nvSpPr>
          <p:spPr>
            <a:xfrm>
              <a:off x="867918" y="1993582"/>
              <a:ext cx="5540439"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Curvature provably upper-bounds memorization,</a:t>
              </a:r>
            </a:p>
          </p:txBody>
        </p:sp>
        <p:sp>
          <p:nvSpPr>
            <p:cNvPr id="11" name="TextBox 11"/>
            <p:cNvSpPr txBox="1"/>
            <p:nvPr/>
          </p:nvSpPr>
          <p:spPr>
            <a:xfrm>
              <a:off x="867918" y="2279332"/>
              <a:ext cx="457639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and is itself bounded by the differential</a:t>
              </a:r>
            </a:p>
          </p:txBody>
        </p:sp>
        <p:sp>
          <p:nvSpPr>
            <p:cNvPr id="12" name="TextBox 12"/>
            <p:cNvSpPr txBox="1"/>
            <p:nvPr/>
          </p:nvSpPr>
          <p:spPr>
            <a:xfrm>
              <a:off x="867918" y="2565082"/>
              <a:ext cx="5194451"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privacy parameter — closing the triangle that</a:t>
              </a:r>
            </a:p>
          </p:txBody>
        </p:sp>
        <p:sp>
          <p:nvSpPr>
            <p:cNvPr id="13" name="TextBox 13"/>
            <p:cNvSpPr txBox="1"/>
            <p:nvPr/>
          </p:nvSpPr>
          <p:spPr>
            <a:xfrm>
              <a:off x="867918" y="2850832"/>
              <a:ext cx="4261535"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also bounds memorization by privacy.</a:t>
              </a:r>
            </a:p>
          </p:txBody>
        </p:sp>
        <p:sp>
          <p:nvSpPr>
            <p:cNvPr id="14" name="TextBox 14"/>
            <p:cNvSpPr txBox="1"/>
            <p:nvPr/>
          </p:nvSpPr>
          <p:spPr>
            <a:xfrm>
              <a:off x="870585" y="3193256"/>
              <a:ext cx="3943769" cy="220028"/>
            </a:xfrm>
            <a:prstGeom prst="rect">
              <a:avLst/>
            </a:prstGeom>
            <a:noFill/>
            <a:ln>
              <a:noFill/>
            </a:ln>
          </p:spPr>
          <p:txBody>
            <a:bodyPr wrap="none" lIns="0" tIns="0" rIns="0" bIns="0" anchor="t" anchorCtr="0">
              <a:spAutoFit/>
            </a:bodyPr>
            <a:lstStyle/>
            <a:p>
              <a:pPr algn="l"/>
              <a:r>
                <a:rPr lang="en-US" sz="1120" b="1" dirty="0">
                  <a:solidFill>
                    <a:srgbClr val="2450A8"/>
                  </a:solidFill>
                  <a:latin typeface="Consolas"/>
                  <a:ea typeface="Consolas"/>
                  <a:cs typeface="Consolas"/>
                </a:rPr>
                <a:t>Curvature ≤ f(ε) and memorization ≤ g(curvature)</a:t>
              </a:r>
            </a:p>
          </p:txBody>
        </p:sp>
      </p:grpSp>
      <p:grpSp>
        <p:nvGrpSpPr>
          <p:cNvPr id="24" name="Group 24"/>
          <p:cNvGrpSpPr/>
          <p:nvPr/>
        </p:nvGrpSpPr>
        <p:grpSpPr>
          <a:xfrm>
            <a:off x="609600" y="3638550"/>
            <a:ext cx="6939655" cy="2419350"/>
            <a:chOff x="609600" y="3638550"/>
            <a:chExt cx="6939655" cy="2419350"/>
          </a:xfrm>
        </p:grpSpPr>
        <p:sp>
          <p:nvSpPr>
            <p:cNvPr id="16" name="Rectangle 16"/>
            <p:cNvSpPr/>
            <p:nvPr/>
          </p:nvSpPr>
          <p:spPr>
            <a:xfrm>
              <a:off x="609600" y="3638550"/>
              <a:ext cx="6781800" cy="2419350"/>
            </a:xfrm>
            <a:prstGeom prst="roundRect">
              <a:avLst>
                <a:gd name="adj" fmla="val 5512"/>
              </a:avLst>
            </a:prstGeom>
            <a:solidFill>
              <a:schemeClr val="lt2"/>
            </a:solidFill>
            <a:ln w="14288">
              <a:solidFill>
                <a:schemeClr val="accent4"/>
              </a:solidFill>
            </a:ln>
          </p:spPr>
        </p:sp>
        <p:sp>
          <p:nvSpPr>
            <p:cNvPr id="17" name="TextBox 17"/>
            <p:cNvSpPr txBox="1"/>
            <p:nvPr/>
          </p:nvSpPr>
          <p:spPr>
            <a:xfrm>
              <a:off x="871538" y="3903345"/>
              <a:ext cx="1114730" cy="176212"/>
            </a:xfrm>
            <a:prstGeom prst="rect">
              <a:avLst/>
            </a:prstGeom>
            <a:noFill/>
            <a:ln>
              <a:noFill/>
            </a:ln>
          </p:spPr>
          <p:txBody>
            <a:bodyPr wrap="none" lIns="0" tIns="0" rIns="0" bIns="0" anchor="t" anchorCtr="0">
              <a:spAutoFit/>
            </a:bodyPr>
            <a:lstStyle/>
            <a:p>
              <a:pPr algn="l"/>
              <a:r>
                <a:rPr lang="en-US" sz="900" b="1" spc="112" dirty="0">
                  <a:solidFill>
                    <a:srgbClr val="2C7350"/>
                  </a:solidFill>
                  <a:latin typeface="+mn-lt"/>
                  <a:ea typeface="+mn-ea"/>
                  <a:cs typeface="+mn-cs"/>
                </a:rPr>
                <a:t>WHAT IT MEANS</a:t>
              </a:r>
            </a:p>
          </p:txBody>
        </p:sp>
        <p:sp>
          <p:nvSpPr>
            <p:cNvPr id="18" name="TextBox 18"/>
            <p:cNvSpPr txBox="1"/>
            <p:nvPr/>
          </p:nvSpPr>
          <p:spPr>
            <a:xfrm>
              <a:off x="870204" y="4213860"/>
              <a:ext cx="667905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 Needs no Hessian-convexity assumptions — applies directly to real deep networks.</a:t>
              </a:r>
            </a:p>
          </p:txBody>
        </p:sp>
        <p:sp>
          <p:nvSpPr>
            <p:cNvPr id="19" name="TextBox 19"/>
            <p:cNvSpPr txBox="1"/>
            <p:nvPr/>
          </p:nvSpPr>
          <p:spPr>
            <a:xfrm>
              <a:off x="870204" y="4537710"/>
              <a:ext cx="559080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 Cheap input loss curvature is a theoretically justified proxy for the</a:t>
              </a:r>
            </a:p>
          </p:txBody>
        </p:sp>
        <p:sp>
          <p:nvSpPr>
            <p:cNvPr id="20" name="TextBox 20"/>
            <p:cNvSpPr txBox="1"/>
            <p:nvPr/>
          </p:nvSpPr>
          <p:spPr>
            <a:xfrm>
              <a:off x="1098804" y="4747260"/>
              <a:ext cx="311915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expensive Feldman memorization score.</a:t>
              </a:r>
            </a:p>
          </p:txBody>
        </p:sp>
        <p:sp>
          <p:nvSpPr>
            <p:cNvPr id="21" name="TextBox 21"/>
            <p:cNvSpPr txBox="1"/>
            <p:nvPr/>
          </p:nvSpPr>
          <p:spPr>
            <a:xfrm>
              <a:off x="870204" y="5071110"/>
              <a:ext cx="600295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 Privacy mechanisms provably suppress both curvature and memorization.</a:t>
              </a:r>
            </a:p>
          </p:txBody>
        </p:sp>
        <p:sp>
          <p:nvSpPr>
            <p:cNvPr id="22" name="TextBox 22"/>
            <p:cNvSpPr txBox="1"/>
            <p:nvPr/>
          </p:nvSpPr>
          <p:spPr>
            <a:xfrm>
              <a:off x="870204" y="5394960"/>
              <a:ext cx="490240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 Predictions match CIFAR and ImageNet experiments closely.</a:t>
              </a:r>
            </a:p>
          </p:txBody>
        </p:sp>
        <p:sp>
          <p:nvSpPr>
            <p:cNvPr id="23" name="Rectangle 23"/>
            <p:cNvSpPr/>
            <p:nvPr/>
          </p:nvSpPr>
          <p:spPr>
            <a:xfrm>
              <a:off x="876300" y="5715000"/>
              <a:ext cx="6248400" cy="190500"/>
            </a:xfrm>
            <a:prstGeom prst="rect">
              <a:avLst/>
            </a:prstGeom>
            <a:noFill/>
            <a:ln>
              <a:noFill/>
            </a:ln>
          </p:spPr>
        </p:sp>
      </p:grpSp>
      <p:grpSp>
        <p:nvGrpSpPr>
          <p:cNvPr id="31" name="Group 31"/>
          <p:cNvGrpSpPr/>
          <p:nvPr/>
        </p:nvGrpSpPr>
        <p:grpSpPr>
          <a:xfrm>
            <a:off x="7658100" y="1428750"/>
            <a:ext cx="3924300" cy="2038350"/>
            <a:chOff x="7658100" y="1428750"/>
            <a:chExt cx="3924300" cy="2038350"/>
          </a:xfrm>
        </p:grpSpPr>
        <p:sp>
          <p:nvSpPr>
            <p:cNvPr id="25" name="Rectangle 25"/>
            <p:cNvSpPr/>
            <p:nvPr/>
          </p:nvSpPr>
          <p:spPr>
            <a:xfrm>
              <a:off x="7658100" y="1428750"/>
              <a:ext cx="3924300" cy="2038350"/>
            </a:xfrm>
            <a:prstGeom prst="roundRect">
              <a:avLst>
                <a:gd name="adj" fmla="val 6542"/>
              </a:avLst>
            </a:prstGeom>
            <a:solidFill>
              <a:srgbClr val="E3F1EA"/>
            </a:solidFill>
            <a:ln w="14288">
              <a:solidFill>
                <a:srgbClr val="3E9E6E"/>
              </a:solidFill>
            </a:ln>
          </p:spPr>
        </p:sp>
        <p:sp>
          <p:nvSpPr>
            <p:cNvPr id="26" name="TextBox 26"/>
            <p:cNvSpPr txBox="1"/>
            <p:nvPr/>
          </p:nvSpPr>
          <p:spPr>
            <a:xfrm>
              <a:off x="8768864" y="1642110"/>
              <a:ext cx="1702771" cy="234696"/>
            </a:xfrm>
            <a:prstGeom prst="rect">
              <a:avLst/>
            </a:prstGeom>
            <a:noFill/>
            <a:ln>
              <a:noFill/>
            </a:ln>
          </p:spPr>
          <p:txBody>
            <a:bodyPr wrap="none" lIns="0" tIns="0" rIns="0" bIns="0" anchor="t" anchorCtr="0">
              <a:spAutoFit/>
            </a:bodyPr>
            <a:lstStyle/>
            <a:p>
              <a:pPr algn="ctr"/>
              <a:r>
                <a:rPr lang="en-US" sz="1200" b="1" dirty="0">
                  <a:solidFill>
                    <a:srgbClr val="2C7350"/>
                  </a:solidFill>
                  <a:latin typeface="+mj-lt"/>
                  <a:ea typeface="+mj-ea"/>
                  <a:cs typeface="+mj-cs"/>
                </a:rPr>
                <a:t>Now on firm theory</a:t>
              </a:r>
            </a:p>
          </p:txBody>
        </p:sp>
        <p:sp>
          <p:nvSpPr>
            <p:cNvPr id="27" name="Rectangle 27"/>
            <p:cNvSpPr/>
            <p:nvPr/>
          </p:nvSpPr>
          <p:spPr>
            <a:xfrm>
              <a:off x="9124950" y="1943100"/>
              <a:ext cx="990600" cy="990600"/>
            </a:xfrm>
            <a:prstGeom prst="roundRect">
              <a:avLst>
                <a:gd name="adj" fmla="val 9615"/>
              </a:avLst>
            </a:prstGeom>
            <a:solidFill>
              <a:schemeClr val="lt1"/>
            </a:solidFill>
            <a:ln w="14288">
              <a:solidFill>
                <a:schemeClr val="accent4"/>
              </a:solidFill>
            </a:ln>
          </p:spPr>
        </p:sp>
        <p:pic>
          <p:nvPicPr>
            <p:cNvPr id="28" name="Image 28"/>
            <p:cNvPicPr>
              <a:picLocks noChangeAspect="1"/>
            </p:cNvPicPr>
            <p:nvPr/>
          </p:nvPicPr>
          <p:blipFill>
            <a:blip r:embed="rId2"/>
            <a:stretch>
              <a:fillRect/>
            </a:stretch>
          </p:blipFill>
          <p:spPr>
            <a:xfrm>
              <a:off x="9201150" y="2019300"/>
              <a:ext cx="838200" cy="838200"/>
            </a:xfrm>
            <a:prstGeom prst="rect">
              <a:avLst/>
            </a:prstGeom>
          </p:spPr>
        </p:pic>
        <p:sp>
          <p:nvSpPr>
            <p:cNvPr id="29" name="TextBox 29"/>
            <p:cNvSpPr txBox="1"/>
            <p:nvPr/>
          </p:nvSpPr>
          <p:spPr>
            <a:xfrm>
              <a:off x="9009451" y="3057049"/>
              <a:ext cx="1221599"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Scan for the paper</a:t>
              </a:r>
            </a:p>
          </p:txBody>
        </p:sp>
        <p:sp>
          <p:nvSpPr>
            <p:cNvPr id="30" name="TextBox 30"/>
            <p:cNvSpPr txBox="1"/>
            <p:nvPr/>
          </p:nvSpPr>
          <p:spPr>
            <a:xfrm>
              <a:off x="8718842" y="3255645"/>
              <a:ext cx="1802816" cy="176212"/>
            </a:xfrm>
            <a:prstGeom prst="rect">
              <a:avLst/>
            </a:prstGeom>
            <a:noFill/>
            <a:ln>
              <a:noFill/>
            </a:ln>
          </p:spPr>
          <p:txBody>
            <a:bodyPr wrap="none" lIns="0" tIns="0" rIns="0" bIns="0" anchor="t" anchorCtr="0">
              <a:spAutoFit/>
            </a:bodyPr>
            <a:lstStyle/>
            <a:p>
              <a:pPr algn="ctr"/>
              <a:r>
                <a:rPr lang="en-US" sz="900" dirty="0">
                  <a:solidFill>
                    <a:srgbClr val="8A94A8"/>
                  </a:solidFill>
                  <a:latin typeface="+mn-lt"/>
                  <a:ea typeface="+mn-ea"/>
                  <a:cs typeface="+mn-cs"/>
                </a:rPr>
                <a:t>arXiv:2402.18726 · ICML 2024</a:t>
              </a:r>
            </a:p>
          </p:txBody>
        </p:sp>
      </p:grpSp>
      <p:sp>
        <p:nvSpPr>
          <p:cNvPr id="32" name="Rectangle 32"/>
          <p:cNvSpPr/>
          <p:nvPr/>
        </p:nvSpPr>
        <p:spPr>
          <a:xfrm>
            <a:off x="7658100" y="3638550"/>
            <a:ext cx="3924300" cy="2419350"/>
          </a:xfrm>
          <a:prstGeom prst="roundRect">
            <a:avLst>
              <a:gd name="adj" fmla="val 5512"/>
            </a:avLst>
          </a:prstGeom>
          <a:solidFill>
            <a:schemeClr val="lt1"/>
          </a:solidFill>
          <a:ln w="14288">
            <a:solidFill>
              <a:schemeClr val="accent4"/>
            </a:solidFill>
          </a:ln>
          <a:effectLst>
            <a:outerShdw blurRad="76200" dist="19050" dir="5400000" algn="ctr" rotWithShape="0">
              <a:srgbClr val="16213E">
                <a:alpha val="7500"/>
              </a:srgbClr>
            </a:outerShdw>
          </a:effectLst>
        </p:spPr>
        <p:txBody>
          <a:bodyPr/>
          <a:p/>
        </p:txBody>
      </p:sp>
      <p:sp>
        <p:nvSpPr>
          <p:cNvPr id="33" name="TextBox 33"/>
          <p:cNvSpPr txBox="1"/>
          <p:nvPr/>
        </p:nvSpPr>
        <p:spPr>
          <a:xfrm>
            <a:off x="8487339" y="3838099"/>
            <a:ext cx="2265821"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mn-lt"/>
                <a:ea typeface="+mn-ea"/>
                <a:cs typeface="+mn-cs"/>
              </a:rPr>
              <a:t>Privacy vs. memorization + bound</a:t>
            </a:r>
          </a:p>
        </p:txBody>
      </p:sp>
      <p:pic>
        <p:nvPicPr>
          <p:cNvPr id="34" name="Image 34"/>
          <p:cNvPicPr>
            <a:picLocks noChangeAspect="1"/>
          </p:cNvPicPr>
          <p:nvPr/>
        </p:nvPicPr>
        <p:blipFill>
          <a:blip r:embed="rId3"/>
          <a:stretch>
            <a:fillRect/>
          </a:stretch>
        </p:blipFill>
        <p:spPr>
          <a:xfrm>
            <a:off x="8548688" y="4057650"/>
            <a:ext cx="2143125" cy="1600200"/>
          </a:xfrm>
          <a:prstGeom prst="rect">
            <a:avLst/>
          </a:prstGeom>
        </p:spPr>
      </p:pic>
      <p:sp>
        <p:nvSpPr>
          <p:cNvPr id="35" name="TextBox 35"/>
          <p:cNvSpPr txBox="1"/>
          <p:nvPr/>
        </p:nvSpPr>
        <p:spPr>
          <a:xfrm>
            <a:off x="8310964" y="5873591"/>
            <a:ext cx="2618572" cy="161925"/>
          </a:xfrm>
          <a:prstGeom prst="rect">
            <a:avLst/>
          </a:prstGeom>
          <a:noFill/>
          <a:ln>
            <a:noFill/>
          </a:ln>
        </p:spPr>
        <p:txBody>
          <a:bodyPr wrap="none" lIns="0" tIns="0" rIns="0" bIns="0" anchor="t" anchorCtr="0">
            <a:spAutoFit/>
          </a:bodyPr>
          <a:lstStyle/>
          <a:p>
            <a:pPr algn="ctr"/>
            <a:r>
              <a:rPr lang="en-US" sz="820" i="1" dirty="0">
                <a:solidFill>
                  <a:srgbClr val="8A94A8"/>
                </a:solidFill>
                <a:latin typeface="+mn-lt"/>
                <a:ea typeface="+mn-ea"/>
                <a:cs typeface="+mn-cs"/>
              </a:rPr>
              <a:t>Figure 8 · empirical scores stay under the bound</a:t>
            </a:r>
          </a:p>
        </p:txBody>
      </p:sp>
      <p:grpSp>
        <p:nvGrpSpPr>
          <p:cNvPr id="39" name="Group 39"/>
          <p:cNvGrpSpPr/>
          <p:nvPr/>
        </p:nvGrpSpPr>
        <p:grpSpPr>
          <a:xfrm>
            <a:off x="604838" y="6457950"/>
            <a:ext cx="10982324" cy="263366"/>
            <a:chOff x="604838" y="6457950"/>
            <a:chExt cx="10982324" cy="263366"/>
          </a:xfrm>
        </p:grpSpPr>
        <p:sp>
          <p:nvSpPr>
            <p:cNvPr id="36" name="Line 36"/>
            <p:cNvSpPr/>
            <p:nvPr/>
          </p:nvSpPr>
          <p:spPr>
            <a:xfrm>
              <a:off x="609600" y="6457950"/>
              <a:ext cx="10972800" cy="9525"/>
            </a:xfrm>
            <a:custGeom>
              <a:avLst/>
              <a:gdLst/>
              <a:ahLst/>
              <a:cxnLst/>
              <a:rect l="l" t="t" r="r" b="b"/>
              <a:pathLst>
                <a:path w="10972800" h="9525">
                  <a:moveTo>
                    <a:pt x="0" y="0"/>
                  </a:moveTo>
                  <a:lnTo>
                    <a:pt x="10972800" y="0"/>
                  </a:lnTo>
                </a:path>
              </a:pathLst>
            </a:custGeom>
            <a:noFill/>
            <a:ln w="9525">
              <a:solidFill>
                <a:schemeClr val="accent4"/>
              </a:solidFill>
            </a:ln>
          </p:spPr>
        </p:sp>
        <p:sp>
          <p:nvSpPr>
            <p:cNvPr id="37" name="TextBox 37"/>
            <p:cNvSpPr txBox="1"/>
            <p:nvPr/>
          </p:nvSpPr>
          <p:spPr>
            <a:xfrm>
              <a:off x="604838" y="6559391"/>
              <a:ext cx="2528947" cy="161925"/>
            </a:xfrm>
            <a:prstGeom prst="rect">
              <a:avLst/>
            </a:prstGeom>
            <a:noFill/>
            <a:ln>
              <a:noFill/>
            </a:ln>
          </p:spPr>
          <p:txBody>
            <a:bodyPr wrap="none" lIns="0" tIns="0" rIns="0" bIns="0" anchor="t" anchorCtr="0">
              <a:spAutoFit/>
            </a:bodyPr>
            <a:lstStyle/>
            <a:p>
              <a:pPr algn="l"/>
              <a:r>
                <a:rPr lang="en-US" sz="820" dirty="0">
                  <a:solidFill>
                    <a:srgbClr val="8A94A8"/>
                  </a:solidFill>
                  <a:latin typeface="+mn-lt"/>
                  <a:ea typeface="+mn-ea"/>
                  <a:cs typeface="+mn-cs"/>
                </a:rPr>
                <a:t>Input Loss Curvature ↔ Memorization ↔ Privacy</a:t>
              </a:r>
            </a:p>
          </p:txBody>
        </p:sp>
        <p:sp>
          <p:nvSpPr>
            <p:cNvPr id="38" name="TextBox 38"/>
            <p:cNvSpPr txBox="1"/>
            <p:nvPr/>
          </p:nvSpPr>
          <p:spPr>
            <a:xfrm>
              <a:off x="11207836" y="6559391"/>
              <a:ext cx="379326" cy="161925"/>
            </a:xfrm>
            <a:prstGeom prst="rect">
              <a:avLst/>
            </a:prstGeom>
            <a:noFill/>
            <a:ln>
              <a:noFill/>
            </a:ln>
          </p:spPr>
          <p:txBody>
            <a:bodyPr wrap="none" lIns="0" tIns="0" rIns="0" bIns="0" anchor="t" anchorCtr="0">
              <a:spAutoFit/>
            </a:bodyPr>
            <a:lstStyle/>
            <a:p>
              <a:pPr algn="r"/>
              <a:r>
                <a:rPr lang="en-US" sz="820" dirty="0">
                  <a:solidFill>
                    <a:srgbClr val="8A94A8"/>
                  </a:solidFill>
                  <a:latin typeface="+mn-lt"/>
                  <a:ea typeface="+mn-ea"/>
                  <a:cs typeface="+mn-cs"/>
                </a:rPr>
                <a:t>10 / 10</a:t>
              </a:r>
            </a:p>
          </p:txBody>
        </p:sp>
      </p:grpSp>
      <p:sp>
        <p:nvSpPr>
          <p:cNvPr id="40" name="cue_s10_c1_empirical_curvature_memorization_lin" title="cue_s10_c1_empirical_curvature_memorization_lin" descr="cue_s10_c1_empirical_curvature_memorization_lin The empirical curvature-memorization link now rests on firm theory."/>
          <p:cNvSpPr/>
          <p:nvPr/>
        </p:nvSpPr>
        <p:spPr>
          <a:xfrm>
            <a:off x="7657795" y="1428521"/>
            <a:ext cx="3924604"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10_c2_curvature_provably_upper_bounds_memo" title="cue_s10_c2_curvature_provably_upper_bounds_memo" descr="cue_s10_c2_curvature_provably_upper_bounds_memo Curvature provably upper-bounds memorization and is itself bounded by the differential privacy parameter, closing the triangle."/>
          <p:cNvSpPr/>
          <p:nvPr/>
        </p:nvSpPr>
        <p:spPr>
          <a:xfrm>
            <a:off x="609600" y="1428521"/>
            <a:ext cx="6782409"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10_c3_needing_hessian_convexity_assumption" title="cue_s10_c3_needing_hessian_convexity_assumption" descr="cue_s10_c3_needing_hessian_convexity_assumption Needing no Hessian-convexity assumptions, it applies to real deep networks, so cheap curvature is a justified proxy, and privacy provably suppresses both."/>
          <p:cNvSpPr/>
          <p:nvPr/>
        </p:nvSpPr>
        <p:spPr>
          <a:xfrm>
            <a:off x="609600" y="3638854"/>
            <a:ext cx="6939686"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16213E"/>
      </a:dk1>
      <a:lt1>
        <a:srgbClr val="FFFFFF"/>
      </a:lt1>
      <a:dk2>
        <a:srgbClr val="47536B"/>
      </a:dk2>
      <a:lt2>
        <a:srgbClr val="F5F7FB"/>
      </a:lt2>
      <a:accent1>
        <a:srgbClr val="16213E"/>
      </a:accent1>
      <a:accent2>
        <a:srgbClr val="3B6FD4"/>
      </a:accent2>
      <a:accent3>
        <a:srgbClr val="6C97E0"/>
      </a:accent3>
      <a:accent4>
        <a:srgbClr val="DCE3EF"/>
      </a:accent4>
      <a:accent5>
        <a:srgbClr val="E39A3B"/>
      </a:accent5>
      <a:accent6>
        <a:srgbClr val="B76E14"/>
      </a:accent6>
      <a:hlink>
        <a:srgbClr val="3B6FD4"/>
      </a:hlink>
      <a:folHlink>
        <a:srgbClr val="6C97E0"/>
      </a:folHlink>
    </a:clrScheme>
    <a:fontScheme name="deck">
      <a:majorFont>
        <a:latin typeface="Georgia"/>
        <a:ea typeface="Microsoft YaHei"/>
        <a:cs typeface="Georgia"/>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ck">
  <a:themeElements>
    <a:clrScheme name="deck">
      <a:dk1>
        <a:srgbClr val="16213E"/>
      </a:dk1>
      <a:lt1>
        <a:srgbClr val="FFFFFF"/>
      </a:lt1>
      <a:dk2>
        <a:srgbClr val="47536B"/>
      </a:dk2>
      <a:lt2>
        <a:srgbClr val="F5F7FB"/>
      </a:lt2>
      <a:accent1>
        <a:srgbClr val="16213E"/>
      </a:accent1>
      <a:accent2>
        <a:srgbClr val="3B6FD4"/>
      </a:accent2>
      <a:accent3>
        <a:srgbClr val="6C97E0"/>
      </a:accent3>
      <a:accent4>
        <a:srgbClr val="DCE3EF"/>
      </a:accent4>
      <a:accent5>
        <a:srgbClr val="E39A3B"/>
      </a:accent5>
      <a:accent6>
        <a:srgbClr val="B76E14"/>
      </a:accent6>
      <a:hlink>
        <a:srgbClr val="3B6FD4"/>
      </a:hlink>
      <a:folHlink>
        <a:srgbClr val="6C97E0"/>
      </a:folHlink>
    </a:clrScheme>
    <a:fontScheme name="deck">
      <a:majorFont>
        <a:latin typeface="Georgia"/>
        <a:ea typeface="Microsoft YaHei"/>
        <a:cs typeface="Georgia"/>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2026-07-15T09:24:07Z</dcterms:created>
  <dcterms:modified xsi:type="dcterms:W3CDTF">2026-07-15T09:24:07Z</dcterms:modified>
  <cp:category/>
  <cp:contentStatus/>
</cp:coreProperties>
</file>
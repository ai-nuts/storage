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What if a robot could be told what to do by analogy, not by an exact goal image? This ICML 2022 work from Berkeley and Meta introduces goal-conditioned bisimulation: a state abstraction where behaviorally equivalent state-goal pairs share a representation, so goals compose by simple arithmetic in latent space.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Goal-conditioned reinforcement learning usually hands the agent the exact goal, as a target image or state. But in the real world you rarely know the precise goal in advance. Asking a robot to close a drawer, you may not know how the closed drawer looks. We want to specify tasks by analogy instead.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Consider dicing a carrot versus a radish. The objects differ, but the skill and the functional change from start to goal are the same. Good task representations are invariant to irrelevant details and equivariant to what varies. Prior bisimulation work handled distractors for one task; we lift that idea to families of tasks.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makes three contributions. It defines goal-conditioned bisimulation, grouping state-goal pairs that behave equivalently to capture functional equivariance. It gives a metric-learning objective so new goals arise from latent arithmetic. And it proves the representation is sufficient for any state-only reward task.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GCB learns two encoders together. Phi encodes a state-goal pair so its L1 distance matches an on-policy bisimulation metric, capturing how differently two tasks behave. Psi encodes a state so the goal embedding minus the state embedding equals phi. That makes goals composable: add an analogous pair to your state, then take the nearest neighbor in psi space to recover the goal. Training is offline on Implicit Q-Learning.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GCB is tested in a PyBullet manipulation suite of randomly generated workspaces built from eighty-four object geometries. Tasks span Drawer, Button-and-Drawer, and dedicated Analogy tasks, each also run with added video distractors to probe robustness. Results average over five seeds.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Across six settings, GCB is top on five, and wins on every distractor task, isolating task-relevant structure. It reaches about forty-five percent on Drawer with distractors and thirty-two on Button-and-Drawer. On analogy tasks, where the goal is inferred from an example, it roughly doubles the next-best baseline.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Ablations confirm the design. Adding a grounding term, phi of a goal with itself, as a normalizing constant in psi's objective helps. An L1 metric loss for phi beats L2. And varying the latent dimensionality barely changes control, so the method is not sensitive to that choice.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Some headline numbers. On Drawer with video distractors, GCB reaches zero point four four eight, best of any method. On Button-and-Drawer with distractors, zero point three two two, again best. On analogy, zero point four zero three versus zero point one seven six for the next best, over five seeds.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takeaway: treating bisimulation as an equivalence over tasks, not just states, aligns analogous tasks in one space. Because goals become composable by arithmetic, you can point a robot at an example and have it infer its own goal, provably sufficient for any state-only reward task.</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gcb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gcb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13925413532383b1.jpg"/><Relationship Id="rId3" Type="http://schemas.openxmlformats.org/officeDocument/2006/relationships/image" Target="../media/image_4e7025323d42694d.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13925413532383b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847c4881750b15f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18278a754ecd6e85.jpg"/><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33350" cy="6858000"/>
            </a:xfrm>
            <a:prstGeom prst="rect">
              <a:avLst/>
            </a:prstGeom>
            <a:gradFill>
              <a:gsLst>
                <a:gs pos="0">
                  <a:schemeClr val="accent2"/>
                </a:gs>
                <a:gs pos="100000">
                  <a:schemeClr val="accent1"/>
                </a:gs>
              </a:gsLst>
              <a:lin ang="5400000" scaled="1"/>
            </a:gradFill>
            <a:ln>
              <a:noFill/>
            </a:ln>
          </p:spPr>
        </p:sp>
        <p:sp>
          <p:nvSpPr>
            <p:cNvPr id="4" name="Rectangle 4"/>
            <p:cNvSpPr/>
            <p:nvPr/>
          </p:nvSpPr>
          <p:spPr>
            <a:xfrm>
              <a:off x="7734300" y="0"/>
              <a:ext cx="4457700" cy="6858000"/>
            </a:xfrm>
            <a:prstGeom prst="rect">
              <a:avLst/>
            </a:prstGeom>
            <a:solidFill>
              <a:schemeClr val="lt2"/>
            </a:solidFill>
            <a:ln>
              <a:noFill/>
            </a:ln>
          </p:spPr>
        </p:sp>
      </p:grpSp>
      <p:grpSp>
        <p:nvGrpSpPr>
          <p:cNvPr id="9" name="Group 9"/>
          <p:cNvGrpSpPr/>
          <p:nvPr/>
        </p:nvGrpSpPr>
        <p:grpSpPr>
          <a:xfrm>
            <a:off x="757047" y="933450"/>
            <a:ext cx="2222899" cy="669607"/>
            <a:chOff x="757047" y="933450"/>
            <a:chExt cx="2222899" cy="669607"/>
          </a:xfrm>
        </p:grpSpPr>
        <p:sp>
          <p:nvSpPr>
            <p:cNvPr id="6" name="Rectangle 6"/>
            <p:cNvSpPr/>
            <p:nvPr/>
          </p:nvSpPr>
          <p:spPr>
            <a:xfrm>
              <a:off x="762000" y="933450"/>
              <a:ext cx="609600" cy="38100"/>
            </a:xfrm>
            <a:prstGeom prst="rect">
              <a:avLst/>
            </a:prstGeom>
            <a:solidFill>
              <a:schemeClr val="accent2"/>
            </a:solidFill>
            <a:ln>
              <a:noFill/>
            </a:ln>
          </p:spPr>
        </p:sp>
        <p:sp>
          <p:nvSpPr>
            <p:cNvPr id="7" name="TextBox 7"/>
            <p:cNvSpPr txBox="1"/>
            <p:nvPr/>
          </p:nvSpPr>
          <p:spPr>
            <a:xfrm>
              <a:off x="757047" y="1190149"/>
              <a:ext cx="1696503" cy="190690"/>
            </a:xfrm>
            <a:prstGeom prst="rect">
              <a:avLst/>
            </a:prstGeom>
            <a:noFill/>
            <a:ln>
              <a:noFill/>
            </a:ln>
          </p:spPr>
          <p:txBody>
            <a:bodyPr wrap="none" lIns="0" tIns="0" rIns="0" bIns="0" anchor="t" anchorCtr="0">
              <a:spAutoFit/>
            </a:bodyPr>
            <a:lstStyle/>
            <a:p>
              <a:pPr algn="l"/>
              <a:r>
                <a:rPr lang="en-US" sz="980" b="1" spc="188" dirty="0">
                  <a:solidFill>
                    <a:schemeClr val="accent2"/>
                  </a:solidFill>
                  <a:latin typeface="+mn-lt"/>
                  <a:ea typeface="+mn-ea"/>
                  <a:cs typeface="+mn-cs"/>
                </a:rPr>
                <a:t>PAPER · DEEP READ</a:t>
              </a:r>
            </a:p>
          </p:txBody>
        </p:sp>
        <p:sp>
          <p:nvSpPr>
            <p:cNvPr id="8" name="TextBox 8"/>
            <p:cNvSpPr txBox="1"/>
            <p:nvPr/>
          </p:nvSpPr>
          <p:spPr>
            <a:xfrm>
              <a:off x="757238" y="1426845"/>
              <a:ext cx="2222708" cy="176212"/>
            </a:xfrm>
            <a:prstGeom prst="rect">
              <a:avLst/>
            </a:prstGeom>
            <a:noFill/>
            <a:ln>
              <a:noFill/>
            </a:ln>
          </p:spPr>
          <p:txBody>
            <a:bodyPr wrap="none" lIns="0" tIns="0" rIns="0" bIns="0" anchor="t" anchorCtr="0">
              <a:spAutoFit/>
            </a:bodyPr>
            <a:lstStyle/>
            <a:p>
              <a:pPr algn="l"/>
              <a:r>
                <a:rPr lang="en-US" sz="900" spc="112" dirty="0">
                  <a:solidFill>
                    <a:schemeClr val="dk2"/>
                  </a:solidFill>
                  <a:latin typeface="+mn-lt"/>
                  <a:ea typeface="+mn-ea"/>
                  <a:cs typeface="+mn-cs"/>
                </a:rPr>
                <a:t>ICML 2022 · arXiv:2204.13060</a:t>
              </a:r>
            </a:p>
          </p:txBody>
        </p:sp>
      </p:grpSp>
      <p:grpSp>
        <p:nvGrpSpPr>
          <p:cNvPr id="15" name="Group 15"/>
          <p:cNvGrpSpPr/>
          <p:nvPr/>
        </p:nvGrpSpPr>
        <p:grpSpPr>
          <a:xfrm>
            <a:off x="742950" y="1930718"/>
            <a:ext cx="6081296" cy="1832705"/>
            <a:chOff x="742950" y="1930718"/>
            <a:chExt cx="6081296" cy="1832705"/>
          </a:xfrm>
        </p:grpSpPr>
        <p:sp>
          <p:nvSpPr>
            <p:cNvPr id="10" name="TextBox 10"/>
            <p:cNvSpPr txBox="1"/>
            <p:nvPr/>
          </p:nvSpPr>
          <p:spPr>
            <a:xfrm>
              <a:off x="742950" y="1930718"/>
              <a:ext cx="6065940" cy="847725"/>
            </a:xfrm>
            <a:prstGeom prst="rect">
              <a:avLst/>
            </a:prstGeom>
            <a:noFill/>
            <a:ln>
              <a:noFill/>
            </a:ln>
          </p:spPr>
          <p:txBody>
            <a:bodyPr wrap="none" lIns="0" tIns="0" rIns="0" bIns="0" anchor="t" anchorCtr="0">
              <a:spAutoFit/>
            </a:bodyPr>
            <a:lstStyle/>
            <a:p>
              <a:pPr algn="l"/>
              <a:r>
                <a:rPr lang="en-US" sz="4350" b="1" dirty="0">
                  <a:solidFill>
                    <a:schemeClr val="accent1"/>
                  </a:solidFill>
                  <a:latin typeface="+mj-lt"/>
                  <a:ea typeface="+mj-ea"/>
                  <a:cs typeface="+mj-cs"/>
                </a:rPr>
                <a:t>Bisimulation Makes</a:t>
              </a:r>
            </a:p>
          </p:txBody>
        </p:sp>
        <p:sp>
          <p:nvSpPr>
            <p:cNvPr id="11" name="TextBox 11"/>
            <p:cNvSpPr txBox="1"/>
            <p:nvPr/>
          </p:nvSpPr>
          <p:spPr>
            <a:xfrm>
              <a:off x="742950" y="2502218"/>
              <a:ext cx="2998017" cy="847725"/>
            </a:xfrm>
            <a:prstGeom prst="rect">
              <a:avLst/>
            </a:prstGeom>
            <a:noFill/>
            <a:ln>
              <a:noFill/>
            </a:ln>
          </p:spPr>
          <p:txBody>
            <a:bodyPr wrap="none" lIns="0" tIns="0" rIns="0" bIns="0" anchor="t" anchorCtr="0">
              <a:spAutoFit/>
            </a:bodyPr>
            <a:lstStyle/>
            <a:p>
              <a:pPr algn="l"/>
              <a:r>
                <a:rPr lang="en-US" sz="4350" b="1" dirty="0">
                  <a:solidFill>
                    <a:schemeClr val="accent1"/>
                  </a:solidFill>
                  <a:latin typeface="+mj-lt"/>
                  <a:ea typeface="+mj-ea"/>
                  <a:cs typeface="+mj-cs"/>
                </a:rPr>
                <a:t>Analogies</a:t>
              </a:r>
            </a:p>
          </p:txBody>
        </p:sp>
        <p:sp>
          <p:nvSpPr>
            <p:cNvPr id="12" name="TextBox 12"/>
            <p:cNvSpPr txBox="1"/>
            <p:nvPr/>
          </p:nvSpPr>
          <p:spPr>
            <a:xfrm>
              <a:off x="3647694" y="2761298"/>
              <a:ext cx="3176552"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j-lt"/>
                  <a:ea typeface="+mj-ea"/>
                  <a:cs typeface="+mj-cs"/>
                </a:rPr>
                <a:t>in goal-conditioned RL</a:t>
              </a:r>
            </a:p>
          </p:txBody>
        </p:sp>
        <p:sp>
          <p:nvSpPr>
            <p:cNvPr id="13" name="TextBox 13"/>
            <p:cNvSpPr txBox="1"/>
            <p:nvPr/>
          </p:nvSpPr>
          <p:spPr>
            <a:xfrm>
              <a:off x="754761" y="3237071"/>
              <a:ext cx="597614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Tell a robot what to do by analogy — not by an exact goal image —</a:t>
              </a:r>
            </a:p>
          </p:txBody>
        </p:sp>
        <p:sp>
          <p:nvSpPr>
            <p:cNvPr id="14" name="TextBox 14"/>
            <p:cNvSpPr txBox="1"/>
            <p:nvPr/>
          </p:nvSpPr>
          <p:spPr>
            <a:xfrm>
              <a:off x="754761" y="3484721"/>
              <a:ext cx="534785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and let it infer the equivalent goal for its own situation.</a:t>
              </a:r>
            </a:p>
          </p:txBody>
        </p:sp>
      </p:grpSp>
      <p:grpSp>
        <p:nvGrpSpPr>
          <p:cNvPr id="19" name="Group 19"/>
          <p:cNvGrpSpPr/>
          <p:nvPr/>
        </p:nvGrpSpPr>
        <p:grpSpPr>
          <a:xfrm>
            <a:off x="755904" y="4000500"/>
            <a:ext cx="3825299" cy="599789"/>
            <a:chOff x="755904" y="4000500"/>
            <a:chExt cx="3825299" cy="599789"/>
          </a:xfrm>
        </p:grpSpPr>
        <p:sp>
          <p:nvSpPr>
            <p:cNvPr id="16" name="Line 16"/>
            <p:cNvSpPr/>
            <p:nvPr/>
          </p:nvSpPr>
          <p:spPr>
            <a:xfrm>
              <a:off x="762000" y="4000500"/>
              <a:ext cx="952500" cy="9525"/>
            </a:xfrm>
            <a:custGeom>
              <a:avLst/>
              <a:gdLst/>
              <a:ahLst/>
              <a:cxnLst/>
              <a:rect l="l" t="t" r="r" b="b"/>
              <a:pathLst>
                <a:path w="952500" h="9525">
                  <a:moveTo>
                    <a:pt x="0" y="0"/>
                  </a:moveTo>
                  <a:lnTo>
                    <a:pt x="952500" y="0"/>
                  </a:lnTo>
                </a:path>
              </a:pathLst>
            </a:custGeom>
            <a:noFill/>
            <a:ln w="14288">
              <a:solidFill>
                <a:schemeClr val="accent1"/>
              </a:solidFill>
            </a:ln>
          </p:spPr>
        </p:sp>
        <p:sp>
          <p:nvSpPr>
            <p:cNvPr id="17" name="TextBox 17"/>
            <p:cNvSpPr txBox="1"/>
            <p:nvPr/>
          </p:nvSpPr>
          <p:spPr>
            <a:xfrm>
              <a:off x="755904" y="4156710"/>
              <a:ext cx="3825299" cy="234696"/>
            </a:xfrm>
            <a:prstGeom prst="rect">
              <a:avLst/>
            </a:prstGeom>
            <a:noFill/>
            <a:ln>
              <a:noFill/>
            </a:ln>
          </p:spPr>
          <p:txBody>
            <a:bodyPr wrap="none" lIns="0" tIns="0" rIns="0" bIns="0" anchor="t" anchorCtr="0">
              <a:spAutoFit/>
            </a:bodyPr>
            <a:lstStyle/>
            <a:p>
              <a:pPr algn="l"/>
              <a:r>
                <a:rPr lang="en-US" sz="1200" i="1" dirty="0">
                  <a:solidFill>
                    <a:schemeClr val="dk2"/>
                  </a:solidFill>
                  <a:latin typeface="+mj-lt"/>
                  <a:ea typeface="+mj-ea"/>
                  <a:cs typeface="+mj-cs"/>
                </a:rPr>
                <a:t>Hansen-Estruch · Zhang · Nair · Yin · Levine</a:t>
              </a:r>
            </a:p>
          </p:txBody>
        </p:sp>
        <p:sp>
          <p:nvSpPr>
            <p:cNvPr id="18" name="TextBox 18"/>
            <p:cNvSpPr txBox="1"/>
            <p:nvPr/>
          </p:nvSpPr>
          <p:spPr>
            <a:xfrm>
              <a:off x="757047" y="4409599"/>
              <a:ext cx="201478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UC Berkeley · Meta AI Research</a:t>
              </a:r>
            </a:p>
          </p:txBody>
        </p:sp>
      </p:grpSp>
      <p:grpSp>
        <p:nvGrpSpPr>
          <p:cNvPr id="38" name="Group 38"/>
          <p:cNvGrpSpPr/>
          <p:nvPr/>
        </p:nvGrpSpPr>
        <p:grpSpPr>
          <a:xfrm>
            <a:off x="762000" y="4972050"/>
            <a:ext cx="6877050" cy="1257300"/>
            <a:chOff x="762000" y="4972050"/>
            <a:chExt cx="6877050" cy="1257300"/>
          </a:xfrm>
        </p:grpSpPr>
        <p:sp>
          <p:nvSpPr>
            <p:cNvPr id="20" name="Rectangle 20"/>
            <p:cNvSpPr/>
            <p:nvPr/>
          </p:nvSpPr>
          <p:spPr>
            <a:xfrm>
              <a:off x="762000" y="4972050"/>
              <a:ext cx="2209800" cy="1257300"/>
            </a:xfrm>
            <a:prstGeom prst="roundRect">
              <a:avLst>
                <a:gd name="adj" fmla="val 7576"/>
              </a:avLst>
            </a:prstGeom>
            <a:solidFill>
              <a:schemeClr val="lt1"/>
            </a:solidFill>
            <a:ln w="14288">
              <a:solidFill>
                <a:schemeClr val="accent4"/>
              </a:solidFill>
            </a:ln>
          </p:spPr>
        </p:sp>
        <p:sp>
          <p:nvSpPr>
            <p:cNvPr id="21" name="Rectangle 21"/>
            <p:cNvSpPr/>
            <p:nvPr/>
          </p:nvSpPr>
          <p:spPr>
            <a:xfrm>
              <a:off x="762000" y="4972050"/>
              <a:ext cx="2209800" cy="57150"/>
            </a:xfrm>
            <a:prstGeom prst="roundRect">
              <a:avLst>
                <a:gd name="adj" fmla="val 50000"/>
              </a:avLst>
            </a:prstGeom>
            <a:solidFill>
              <a:schemeClr val="accent2"/>
            </a:solidFill>
            <a:ln>
              <a:noFill/>
            </a:ln>
          </p:spPr>
        </p:sp>
        <p:sp>
          <p:nvSpPr>
            <p:cNvPr id="22" name="TextBox 22"/>
            <p:cNvSpPr txBox="1"/>
            <p:nvPr/>
          </p:nvSpPr>
          <p:spPr>
            <a:xfrm>
              <a:off x="947547" y="5247799"/>
              <a:ext cx="1505197"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STATE ABSTRACTION</a:t>
              </a:r>
            </a:p>
          </p:txBody>
        </p:sp>
        <p:sp>
          <p:nvSpPr>
            <p:cNvPr id="23" name="TextBox 23"/>
            <p:cNvSpPr txBox="1"/>
            <p:nvPr/>
          </p:nvSpPr>
          <p:spPr>
            <a:xfrm>
              <a:off x="947166" y="5506402"/>
              <a:ext cx="159078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Behaviorally equivalent</a:t>
              </a:r>
            </a:p>
          </p:txBody>
        </p:sp>
        <p:sp>
          <p:nvSpPr>
            <p:cNvPr id="24" name="TextBox 24"/>
            <p:cNvSpPr txBox="1"/>
            <p:nvPr/>
          </p:nvSpPr>
          <p:spPr>
            <a:xfrm>
              <a:off x="947166" y="5696902"/>
              <a:ext cx="185529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state-goal pairs share one</a:t>
              </a:r>
            </a:p>
          </p:txBody>
        </p:sp>
        <p:sp>
          <p:nvSpPr>
            <p:cNvPr id="25" name="TextBox 25"/>
            <p:cNvSpPr txBox="1"/>
            <p:nvPr/>
          </p:nvSpPr>
          <p:spPr>
            <a:xfrm>
              <a:off x="947166" y="5887402"/>
              <a:ext cx="114147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representation.</a:t>
              </a:r>
            </a:p>
          </p:txBody>
        </p:sp>
        <p:sp>
          <p:nvSpPr>
            <p:cNvPr id="26" name="Rectangle 26"/>
            <p:cNvSpPr/>
            <p:nvPr/>
          </p:nvSpPr>
          <p:spPr>
            <a:xfrm>
              <a:off x="3105150" y="4972050"/>
              <a:ext cx="2209800" cy="1257300"/>
            </a:xfrm>
            <a:prstGeom prst="roundRect">
              <a:avLst>
                <a:gd name="adj" fmla="val 7576"/>
              </a:avLst>
            </a:prstGeom>
            <a:solidFill>
              <a:schemeClr val="lt1"/>
            </a:solidFill>
            <a:ln w="14288">
              <a:solidFill>
                <a:schemeClr val="accent4"/>
              </a:solidFill>
            </a:ln>
          </p:spPr>
        </p:sp>
        <p:sp>
          <p:nvSpPr>
            <p:cNvPr id="27" name="Rectangle 27"/>
            <p:cNvSpPr/>
            <p:nvPr/>
          </p:nvSpPr>
          <p:spPr>
            <a:xfrm>
              <a:off x="3105150" y="4972050"/>
              <a:ext cx="2209800" cy="57150"/>
            </a:xfrm>
            <a:prstGeom prst="roundRect">
              <a:avLst>
                <a:gd name="adj" fmla="val 50000"/>
              </a:avLst>
            </a:prstGeom>
            <a:solidFill>
              <a:schemeClr val="accent5"/>
            </a:solidFill>
            <a:ln>
              <a:noFill/>
            </a:ln>
          </p:spPr>
        </p:sp>
        <p:sp>
          <p:nvSpPr>
            <p:cNvPr id="28" name="TextBox 28"/>
            <p:cNvSpPr txBox="1"/>
            <p:nvPr/>
          </p:nvSpPr>
          <p:spPr>
            <a:xfrm>
              <a:off x="3290697" y="5247799"/>
              <a:ext cx="1443301"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GOALS BY ANALOGY</a:t>
              </a:r>
            </a:p>
          </p:txBody>
        </p:sp>
        <p:sp>
          <p:nvSpPr>
            <p:cNvPr id="29" name="TextBox 29"/>
            <p:cNvSpPr txBox="1"/>
            <p:nvPr/>
          </p:nvSpPr>
          <p:spPr>
            <a:xfrm>
              <a:off x="3290316" y="5506402"/>
              <a:ext cx="179627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Compose goals with simple</a:t>
              </a:r>
            </a:p>
          </p:txBody>
        </p:sp>
        <p:sp>
          <p:nvSpPr>
            <p:cNvPr id="30" name="TextBox 30"/>
            <p:cNvSpPr txBox="1"/>
            <p:nvPr/>
          </p:nvSpPr>
          <p:spPr>
            <a:xfrm>
              <a:off x="3290316" y="5696902"/>
              <a:ext cx="189063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arithmetic in latent space:</a:t>
              </a:r>
            </a:p>
          </p:txBody>
        </p:sp>
        <p:sp>
          <p:nvSpPr>
            <p:cNvPr id="31" name="TextBox 31"/>
            <p:cNvSpPr txBox="1"/>
            <p:nvPr/>
          </p:nvSpPr>
          <p:spPr>
            <a:xfrm>
              <a:off x="3290316" y="5887402"/>
              <a:ext cx="1160912"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Consolas"/>
                  <a:ea typeface="Consolas"/>
                  <a:cs typeface="Consolas"/>
                </a:rPr>
                <a:t>ψ(s) + φ(sₐ,gₐ)</a:t>
              </a:r>
            </a:p>
          </p:txBody>
        </p:sp>
        <p:sp>
          <p:nvSpPr>
            <p:cNvPr id="32" name="Rectangle 32"/>
            <p:cNvSpPr/>
            <p:nvPr/>
          </p:nvSpPr>
          <p:spPr>
            <a:xfrm>
              <a:off x="5448300" y="4972050"/>
              <a:ext cx="2190750" cy="1257300"/>
            </a:xfrm>
            <a:prstGeom prst="roundRect">
              <a:avLst>
                <a:gd name="adj" fmla="val 7576"/>
              </a:avLst>
            </a:prstGeom>
            <a:solidFill>
              <a:schemeClr val="lt1"/>
            </a:solidFill>
            <a:ln w="14288">
              <a:solidFill>
                <a:schemeClr val="accent4"/>
              </a:solidFill>
            </a:ln>
          </p:spPr>
        </p:sp>
        <p:sp>
          <p:nvSpPr>
            <p:cNvPr id="33" name="Rectangle 33"/>
            <p:cNvSpPr/>
            <p:nvPr/>
          </p:nvSpPr>
          <p:spPr>
            <a:xfrm>
              <a:off x="5448300" y="4972050"/>
              <a:ext cx="2190750" cy="57150"/>
            </a:xfrm>
            <a:prstGeom prst="roundRect">
              <a:avLst>
                <a:gd name="adj" fmla="val 50000"/>
              </a:avLst>
            </a:prstGeom>
            <a:solidFill>
              <a:srgbClr val="2F9E68"/>
            </a:solidFill>
            <a:ln>
              <a:noFill/>
            </a:ln>
          </p:spPr>
        </p:sp>
        <p:sp>
          <p:nvSpPr>
            <p:cNvPr id="34" name="TextBox 34"/>
            <p:cNvSpPr txBox="1"/>
            <p:nvPr/>
          </p:nvSpPr>
          <p:spPr>
            <a:xfrm>
              <a:off x="5633847" y="5247799"/>
              <a:ext cx="1650943" cy="190690"/>
            </a:xfrm>
            <a:prstGeom prst="rect">
              <a:avLst/>
            </a:prstGeom>
            <a:noFill/>
            <a:ln>
              <a:noFill/>
            </a:ln>
          </p:spPr>
          <p:txBody>
            <a:bodyPr wrap="none" lIns="0" tIns="0" rIns="0" bIns="0" anchor="t" anchorCtr="0">
              <a:spAutoFit/>
            </a:bodyPr>
            <a:lstStyle/>
            <a:p>
              <a:pPr algn="l"/>
              <a:r>
                <a:rPr lang="en-US" sz="980" b="1" spc="75" dirty="0">
                  <a:solidFill>
                    <a:srgbClr val="2F9E68"/>
                  </a:solidFill>
                  <a:latin typeface="+mn-lt"/>
                  <a:ea typeface="+mn-ea"/>
                  <a:cs typeface="+mn-cs"/>
                </a:rPr>
                <a:t>PROVABLY SUFFICIENT</a:t>
              </a:r>
            </a:p>
          </p:txBody>
        </p:sp>
        <p:sp>
          <p:nvSpPr>
            <p:cNvPr id="35" name="TextBox 35"/>
            <p:cNvSpPr txBox="1"/>
            <p:nvPr/>
          </p:nvSpPr>
          <p:spPr>
            <a:xfrm>
              <a:off x="5633466" y="5506402"/>
              <a:ext cx="185318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Enough for any task with a</a:t>
              </a:r>
            </a:p>
          </p:txBody>
        </p:sp>
        <p:sp>
          <p:nvSpPr>
            <p:cNvPr id="36" name="TextBox 36"/>
            <p:cNvSpPr txBox="1"/>
            <p:nvPr/>
          </p:nvSpPr>
          <p:spPr>
            <a:xfrm>
              <a:off x="5633466" y="5696902"/>
              <a:ext cx="196131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state-only reward, not just</a:t>
              </a:r>
            </a:p>
          </p:txBody>
        </p:sp>
        <p:sp>
          <p:nvSpPr>
            <p:cNvPr id="37" name="TextBox 37"/>
            <p:cNvSpPr txBox="1"/>
            <p:nvPr/>
          </p:nvSpPr>
          <p:spPr>
            <a:xfrm>
              <a:off x="5633466" y="5887402"/>
              <a:ext cx="99305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goal reaching.</a:t>
              </a:r>
            </a:p>
          </p:txBody>
        </p:sp>
      </p:grpSp>
      <p:grpSp>
        <p:nvGrpSpPr>
          <p:cNvPr id="51" name="Group 51"/>
          <p:cNvGrpSpPr/>
          <p:nvPr/>
        </p:nvGrpSpPr>
        <p:grpSpPr>
          <a:xfrm>
            <a:off x="8058150" y="1228249"/>
            <a:ext cx="3657600" cy="4870608"/>
            <a:chOff x="8058150" y="1228249"/>
            <a:chExt cx="3657600" cy="4870608"/>
          </a:xfrm>
        </p:grpSpPr>
        <p:sp>
          <p:nvSpPr>
            <p:cNvPr id="39" name="TextBox 39"/>
            <p:cNvSpPr txBox="1"/>
            <p:nvPr/>
          </p:nvSpPr>
          <p:spPr>
            <a:xfrm>
              <a:off x="8091297" y="1228249"/>
              <a:ext cx="1611358"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THE ANALOGY MOTIF</a:t>
              </a:r>
            </a:p>
          </p:txBody>
        </p:sp>
        <p:sp>
          <p:nvSpPr>
            <p:cNvPr id="40" name="Rectangle 40"/>
            <p:cNvSpPr/>
            <p:nvPr/>
          </p:nvSpPr>
          <p:spPr>
            <a:xfrm>
              <a:off x="8058150" y="1543050"/>
              <a:ext cx="3657600" cy="2362200"/>
            </a:xfrm>
            <a:prstGeom prst="roundRect">
              <a:avLst>
                <a:gd name="adj" fmla="val 4839"/>
              </a:avLst>
            </a:prstGeom>
            <a:solidFill>
              <a:schemeClr val="lt1"/>
            </a:solidFill>
            <a:ln w="14288">
              <a:solidFill>
                <a:schemeClr val="accent4"/>
              </a:solidFill>
            </a:ln>
          </p:spPr>
        </p:sp>
        <p:pic>
          <p:nvPicPr>
            <p:cNvPr id="41" name="Image 41"/>
            <p:cNvPicPr>
              <a:picLocks noChangeAspect="1"/>
            </p:cNvPicPr>
            <p:nvPr/>
          </p:nvPicPr>
          <p:blipFill>
            <a:blip r:embed="rId2"/>
            <a:stretch>
              <a:fillRect/>
            </a:stretch>
          </p:blipFill>
          <p:spPr>
            <a:xfrm>
              <a:off x="8266169" y="1695450"/>
              <a:ext cx="3241563" cy="2057400"/>
            </a:xfrm>
            <a:prstGeom prst="rect">
              <a:avLst/>
            </a:prstGeom>
          </p:spPr>
        </p:pic>
        <p:sp>
          <p:nvSpPr>
            <p:cNvPr id="42" name="TextBox 42"/>
            <p:cNvSpPr txBox="1"/>
            <p:nvPr/>
          </p:nvSpPr>
          <p:spPr>
            <a:xfrm>
              <a:off x="8144463" y="4036695"/>
              <a:ext cx="3484973" cy="176212"/>
            </a:xfrm>
            <a:prstGeom prst="rect">
              <a:avLst/>
            </a:prstGeom>
            <a:noFill/>
            <a:ln>
              <a:noFill/>
            </a:ln>
          </p:spPr>
          <p:txBody>
            <a:bodyPr wrap="none" lIns="0" tIns="0" rIns="0" bIns="0" anchor="t" anchorCtr="0">
              <a:spAutoFit/>
            </a:bodyPr>
            <a:lstStyle/>
            <a:p>
              <a:pPr algn="ctr"/>
              <a:r>
                <a:rPr lang="en-US" sz="900" i="1" dirty="0">
                  <a:solidFill>
                    <a:schemeClr val="dk2"/>
                  </a:solidFill>
                  <a:latin typeface="+mn-lt"/>
                  <a:ea typeface="+mn-ea"/>
                  <a:cs typeface="+mn-cs"/>
                </a:rPr>
                <a:t>Dice a carrot, then a radish: same skill, different object.</a:t>
              </a:r>
            </a:p>
          </p:txBody>
        </p:sp>
        <p:sp>
          <p:nvSpPr>
            <p:cNvPr id="43" name="Rectangle 43"/>
            <p:cNvSpPr/>
            <p:nvPr/>
          </p:nvSpPr>
          <p:spPr>
            <a:xfrm>
              <a:off x="8058150" y="4400550"/>
              <a:ext cx="1428750" cy="1428750"/>
            </a:xfrm>
            <a:prstGeom prst="roundRect">
              <a:avLst>
                <a:gd name="adj" fmla="val 8000"/>
              </a:avLst>
            </a:prstGeom>
            <a:solidFill>
              <a:schemeClr val="lt1"/>
            </a:solidFill>
            <a:ln w="14288">
              <a:solidFill>
                <a:schemeClr val="accent4"/>
              </a:solidFill>
            </a:ln>
          </p:spPr>
        </p:sp>
        <p:pic>
          <p:nvPicPr>
            <p:cNvPr id="44" name="Image 44"/>
            <p:cNvPicPr>
              <a:picLocks noChangeAspect="1"/>
            </p:cNvPicPr>
            <p:nvPr/>
          </p:nvPicPr>
          <p:blipFill>
            <a:blip r:embed="rId3"/>
            <a:stretch>
              <a:fillRect/>
            </a:stretch>
          </p:blipFill>
          <p:spPr>
            <a:xfrm>
              <a:off x="8162925" y="4505325"/>
              <a:ext cx="1219200" cy="1219200"/>
            </a:xfrm>
            <a:prstGeom prst="rect">
              <a:avLst/>
            </a:prstGeom>
          </p:spPr>
        </p:pic>
        <p:sp>
          <p:nvSpPr>
            <p:cNvPr id="45" name="TextBox 45"/>
            <p:cNvSpPr txBox="1"/>
            <p:nvPr/>
          </p:nvSpPr>
          <p:spPr>
            <a:xfrm>
              <a:off x="8561603" y="5922645"/>
              <a:ext cx="421843" cy="176212"/>
            </a:xfrm>
            <a:prstGeom prst="rect">
              <a:avLst/>
            </a:prstGeom>
            <a:noFill/>
            <a:ln>
              <a:noFill/>
            </a:ln>
          </p:spPr>
          <p:txBody>
            <a:bodyPr wrap="none" lIns="0" tIns="0" rIns="0" bIns="0" anchor="t" anchorCtr="0">
              <a:spAutoFit/>
            </a:bodyPr>
            <a:lstStyle/>
            <a:p>
              <a:pPr algn="ctr"/>
              <a:r>
                <a:rPr lang="en-US" sz="900" b="1" spc="75" dirty="0">
                  <a:solidFill>
                    <a:schemeClr val="dk2"/>
                  </a:solidFill>
                  <a:latin typeface="+mn-lt"/>
                  <a:ea typeface="+mn-ea"/>
                  <a:cs typeface="+mn-cs"/>
                </a:rPr>
                <a:t>PAPER</a:t>
              </a:r>
            </a:p>
          </p:txBody>
        </p:sp>
        <p:sp>
          <p:nvSpPr>
            <p:cNvPr id="46" name="TextBox 46"/>
            <p:cNvSpPr txBox="1"/>
            <p:nvPr/>
          </p:nvSpPr>
          <p:spPr>
            <a:xfrm>
              <a:off x="9670923" y="4624864"/>
              <a:ext cx="1499533" cy="249364"/>
            </a:xfrm>
            <a:prstGeom prst="rect">
              <a:avLst/>
            </a:prstGeom>
            <a:noFill/>
            <a:ln>
              <a:noFill/>
            </a:ln>
          </p:spPr>
          <p:txBody>
            <a:bodyPr wrap="none" lIns="0" tIns="0" rIns="0" bIns="0" anchor="t" anchorCtr="0">
              <a:spAutoFit/>
            </a:bodyPr>
            <a:lstStyle/>
            <a:p>
              <a:pPr algn="l"/>
              <a:r>
                <a:rPr lang="en-US" sz="1280" i="1" dirty="0">
                  <a:solidFill>
                    <a:schemeClr val="accent1"/>
                  </a:solidFill>
                  <a:latin typeface="+mj-lt"/>
                  <a:ea typeface="+mj-ea"/>
                  <a:cs typeface="+mj-cs"/>
                </a:rPr>
                <a:t>Group equivalent</a:t>
              </a:r>
            </a:p>
          </p:txBody>
        </p:sp>
        <p:sp>
          <p:nvSpPr>
            <p:cNvPr id="47" name="TextBox 47"/>
            <p:cNvSpPr txBox="1"/>
            <p:nvPr/>
          </p:nvSpPr>
          <p:spPr>
            <a:xfrm>
              <a:off x="9670923" y="4872514"/>
              <a:ext cx="1378458" cy="249364"/>
            </a:xfrm>
            <a:prstGeom prst="rect">
              <a:avLst/>
            </a:prstGeom>
            <a:noFill/>
            <a:ln>
              <a:noFill/>
            </a:ln>
          </p:spPr>
          <p:txBody>
            <a:bodyPr wrap="none" lIns="0" tIns="0" rIns="0" bIns="0" anchor="t" anchorCtr="0">
              <a:spAutoFit/>
            </a:bodyPr>
            <a:lstStyle/>
            <a:p>
              <a:pPr algn="l"/>
              <a:r>
                <a:rPr lang="en-US" sz="1280" i="1" dirty="0">
                  <a:solidFill>
                    <a:schemeClr val="accent1"/>
                  </a:solidFill>
                  <a:latin typeface="+mj-lt"/>
                  <a:ea typeface="+mj-ea"/>
                  <a:cs typeface="+mj-cs"/>
                </a:rPr>
                <a:t>tasks, not just</a:t>
              </a:r>
            </a:p>
          </p:txBody>
        </p:sp>
        <p:sp>
          <p:nvSpPr>
            <p:cNvPr id="48" name="TextBox 48"/>
            <p:cNvSpPr txBox="1"/>
            <p:nvPr/>
          </p:nvSpPr>
          <p:spPr>
            <a:xfrm>
              <a:off x="9670923" y="5120164"/>
              <a:ext cx="1678869" cy="249364"/>
            </a:xfrm>
            <a:prstGeom prst="rect">
              <a:avLst/>
            </a:prstGeom>
            <a:noFill/>
            <a:ln>
              <a:noFill/>
            </a:ln>
          </p:spPr>
          <p:txBody>
            <a:bodyPr wrap="none" lIns="0" tIns="0" rIns="0" bIns="0" anchor="t" anchorCtr="0">
              <a:spAutoFit/>
            </a:bodyPr>
            <a:lstStyle/>
            <a:p>
              <a:pPr algn="l"/>
              <a:r>
                <a:rPr lang="en-US" sz="1280" i="1" dirty="0">
                  <a:solidFill>
                    <a:schemeClr val="accent1"/>
                  </a:solidFill>
                  <a:latin typeface="+mj-lt"/>
                  <a:ea typeface="+mj-ea"/>
                  <a:cs typeface="+mj-cs"/>
                </a:rPr>
                <a:t>equivalent states.</a:t>
              </a:r>
            </a:p>
          </p:txBody>
        </p:sp>
        <p:sp>
          <p:nvSpPr>
            <p:cNvPr id="49" name="TextBox 49"/>
            <p:cNvSpPr txBox="1"/>
            <p:nvPr/>
          </p:nvSpPr>
          <p:spPr>
            <a:xfrm>
              <a:off x="9672447" y="5533549"/>
              <a:ext cx="151174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Skills transfer to new,</a:t>
              </a:r>
            </a:p>
          </p:txBody>
        </p:sp>
        <p:sp>
          <p:nvSpPr>
            <p:cNvPr id="50" name="TextBox 50"/>
            <p:cNvSpPr txBox="1"/>
            <p:nvPr/>
          </p:nvSpPr>
          <p:spPr>
            <a:xfrm>
              <a:off x="9672447" y="5704999"/>
              <a:ext cx="88722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unseen goals.</a:t>
              </a:r>
            </a:p>
          </p:txBody>
        </p:sp>
      </p:grpSp>
      <p:sp>
        <p:nvSpPr>
          <p:cNvPr id="52" name="TextBox 52"/>
          <p:cNvSpPr txBox="1"/>
          <p:nvPr/>
        </p:nvSpPr>
        <p:spPr>
          <a:xfrm>
            <a:off x="11494310" y="65212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01</a:t>
            </a:r>
          </a:p>
        </p:txBody>
      </p:sp>
      <p:sp>
        <p:nvSpPr>
          <p:cNvPr id="53" name="cue_s01_c1_what_robot_told_what_analogy" title="cue_s01_c1_what_robot_told_what_analogy" descr="cue_s01_c1_what_robot_told_what_analogy What if a robot were told what to do by analogy, not by an exact goal image?"/>
          <p:cNvSpPr/>
          <p:nvPr/>
        </p:nvSpPr>
        <p:spPr>
          <a:xfrm>
            <a:off x="762000" y="1847545"/>
            <a:ext cx="5402275" cy="185371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1_c2_icml_2022_work_berkeley_meta" title="cue_s01_c2_icml_2022_work_berkeley_meta" descr="cue_s01_c2_icml_2022_work_berkeley_meta This ICML 2022 work from Berkeley and Meta introduces goal-conditioned bisimulation: an abstraction where behaviorally equivalent state-goal pairs share a representation, so goals compose by arithmetic."/>
          <p:cNvSpPr/>
          <p:nvPr/>
        </p:nvSpPr>
        <p:spPr>
          <a:xfrm>
            <a:off x="762000" y="4972050"/>
            <a:ext cx="6877507"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135746" cy="656939"/>
            <a:chOff x="571500" y="533400"/>
            <a:chExt cx="6135746"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5920100"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goal is rarely handed to you</a:t>
              </a:r>
            </a:p>
          </p:txBody>
        </p:sp>
        <p:sp>
          <p:nvSpPr>
            <p:cNvPr id="4" name="TextBox 4"/>
            <p:cNvSpPr txBox="1"/>
            <p:nvPr/>
          </p:nvSpPr>
          <p:spPr>
            <a:xfrm>
              <a:off x="795147" y="999649"/>
              <a:ext cx="399287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PROBLEM · WHAT GOAL-CONDITIONED RL ASSUMES</a:t>
              </a:r>
            </a:p>
          </p:txBody>
        </p:sp>
      </p:grpSp>
      <p:grpSp>
        <p:nvGrpSpPr>
          <p:cNvPr id="9" name="Group 9"/>
          <p:cNvGrpSpPr/>
          <p:nvPr/>
        </p:nvGrpSpPr>
        <p:grpSpPr>
          <a:xfrm>
            <a:off x="3238500" y="3438525"/>
            <a:ext cx="5772150" cy="95250"/>
            <a:chOff x="3238500" y="3438525"/>
            <a:chExt cx="5772150" cy="95250"/>
          </a:xfrm>
        </p:grpSpPr>
        <p:sp>
          <p:nvSpPr>
            <p:cNvPr id="6" name="Freeform 6"/>
            <p:cNvSpPr/>
            <p:nvPr/>
          </p:nvSpPr>
          <p:spPr>
            <a:xfrm>
              <a:off x="3238500" y="3438525"/>
              <a:ext cx="133350" cy="95250"/>
            </a:xfrm>
            <a:custGeom>
              <a:avLst/>
              <a:gdLst/>
              <a:ahLst/>
              <a:cxnLst/>
              <a:rect l="l" t="t" r="r" b="b"/>
              <a:pathLst>
                <a:path w="133350" h="95250">
                  <a:moveTo>
                    <a:pt x="0" y="47625"/>
                  </a:moveTo>
                  <a:lnTo>
                    <a:pt x="133350" y="47625"/>
                  </a:lnTo>
                  <a:moveTo>
                    <a:pt x="76200" y="0"/>
                  </a:moveTo>
                  <a:lnTo>
                    <a:pt x="133350" y="47625"/>
                  </a:lnTo>
                  <a:lnTo>
                    <a:pt x="76200" y="95250"/>
                  </a:lnTo>
                </a:path>
              </a:pathLst>
            </a:custGeom>
            <a:noFill/>
            <a:ln w="19050">
              <a:solidFill>
                <a:srgbClr val="99A2BE"/>
              </a:solidFill>
            </a:ln>
          </p:spPr>
        </p:sp>
        <p:sp>
          <p:nvSpPr>
            <p:cNvPr id="7" name="Freeform 7"/>
            <p:cNvSpPr/>
            <p:nvPr/>
          </p:nvSpPr>
          <p:spPr>
            <a:xfrm>
              <a:off x="6057900" y="3438525"/>
              <a:ext cx="133350" cy="95250"/>
            </a:xfrm>
            <a:custGeom>
              <a:avLst/>
              <a:gdLst/>
              <a:ahLst/>
              <a:cxnLst/>
              <a:rect l="l" t="t" r="r" b="b"/>
              <a:pathLst>
                <a:path w="133350" h="95250">
                  <a:moveTo>
                    <a:pt x="0" y="47625"/>
                  </a:moveTo>
                  <a:lnTo>
                    <a:pt x="133350" y="47625"/>
                  </a:lnTo>
                  <a:moveTo>
                    <a:pt x="76200" y="0"/>
                  </a:moveTo>
                  <a:lnTo>
                    <a:pt x="133350" y="47625"/>
                  </a:lnTo>
                  <a:lnTo>
                    <a:pt x="76200" y="95250"/>
                  </a:lnTo>
                </a:path>
              </a:pathLst>
            </a:custGeom>
            <a:noFill/>
            <a:ln w="19050">
              <a:solidFill>
                <a:srgbClr val="99A2BE"/>
              </a:solidFill>
            </a:ln>
          </p:spPr>
        </p:sp>
        <p:sp>
          <p:nvSpPr>
            <p:cNvPr id="8" name="Freeform 8"/>
            <p:cNvSpPr/>
            <p:nvPr/>
          </p:nvSpPr>
          <p:spPr>
            <a:xfrm>
              <a:off x="8877300" y="3438525"/>
              <a:ext cx="133350" cy="95250"/>
            </a:xfrm>
            <a:custGeom>
              <a:avLst/>
              <a:gdLst/>
              <a:ahLst/>
              <a:cxnLst/>
              <a:rect l="l" t="t" r="r" b="b"/>
              <a:pathLst>
                <a:path w="133350" h="95250">
                  <a:moveTo>
                    <a:pt x="0" y="47625"/>
                  </a:moveTo>
                  <a:lnTo>
                    <a:pt x="133350" y="47625"/>
                  </a:lnTo>
                  <a:moveTo>
                    <a:pt x="76200" y="0"/>
                  </a:moveTo>
                  <a:lnTo>
                    <a:pt x="133350" y="47625"/>
                  </a:lnTo>
                  <a:lnTo>
                    <a:pt x="76200" y="95250"/>
                  </a:lnTo>
                </a:path>
              </a:pathLst>
            </a:custGeom>
            <a:noFill/>
            <a:ln w="23812">
              <a:solidFill>
                <a:schemeClr val="accent5"/>
              </a:solidFill>
            </a:ln>
          </p:spPr>
        </p:sp>
      </p:grpSp>
      <p:grpSp>
        <p:nvGrpSpPr>
          <p:cNvPr id="22" name="Group 22"/>
          <p:cNvGrpSpPr/>
          <p:nvPr/>
        </p:nvGrpSpPr>
        <p:grpSpPr>
          <a:xfrm>
            <a:off x="571500" y="1676400"/>
            <a:ext cx="2590800" cy="3619500"/>
            <a:chOff x="571500" y="1676400"/>
            <a:chExt cx="2590800" cy="3619500"/>
          </a:xfrm>
        </p:grpSpPr>
        <p:sp>
          <p:nvSpPr>
            <p:cNvPr id="10" name="Rectangle 10"/>
            <p:cNvSpPr/>
            <p:nvPr/>
          </p:nvSpPr>
          <p:spPr>
            <a:xfrm>
              <a:off x="571500" y="1676400"/>
              <a:ext cx="2590800" cy="3619500"/>
            </a:xfrm>
            <a:prstGeom prst="roundRect">
              <a:avLst>
                <a:gd name="adj" fmla="val 4412"/>
              </a:avLst>
            </a:prstGeom>
            <a:solidFill>
              <a:schemeClr val="lt1"/>
            </a:solidFill>
            <a:ln w="14288">
              <a:solidFill>
                <a:schemeClr val="accent4"/>
              </a:solidFill>
            </a:ln>
          </p:spPr>
        </p:sp>
        <p:sp>
          <p:nvSpPr>
            <p:cNvPr id="11" name="Rectangle 11"/>
            <p:cNvSpPr/>
            <p:nvPr/>
          </p:nvSpPr>
          <p:spPr>
            <a:xfrm>
              <a:off x="571500" y="1676400"/>
              <a:ext cx="2590800" cy="57150"/>
            </a:xfrm>
            <a:prstGeom prst="roundRect">
              <a:avLst>
                <a:gd name="adj" fmla="val 50000"/>
              </a:avLst>
            </a:prstGeom>
            <a:solidFill>
              <a:schemeClr val="accent2"/>
            </a:solidFill>
            <a:ln>
              <a:noFill/>
            </a:ln>
          </p:spPr>
        </p:sp>
        <p:sp>
          <p:nvSpPr>
            <p:cNvPr id="12" name="TextBox 12"/>
            <p:cNvSpPr txBox="1"/>
            <p:nvPr/>
          </p:nvSpPr>
          <p:spPr>
            <a:xfrm>
              <a:off x="769620" y="1871662"/>
              <a:ext cx="392506" cy="440055"/>
            </a:xfrm>
            <a:prstGeom prst="rect">
              <a:avLst/>
            </a:prstGeom>
            <a:noFill/>
            <a:ln>
              <a:noFill/>
            </a:ln>
          </p:spPr>
          <p:txBody>
            <a:bodyPr wrap="none" lIns="0" tIns="0" rIns="0" bIns="0" anchor="t" anchorCtr="0">
              <a:spAutoFit/>
            </a:bodyPr>
            <a:lstStyle/>
            <a:p>
              <a:pPr algn="l"/>
              <a:r>
                <a:rPr lang="en-US" sz="2250" b="1" dirty="0">
                  <a:solidFill>
                    <a:srgbClr val="EAEFFC"/>
                  </a:solidFill>
                  <a:latin typeface="+mj-lt"/>
                  <a:ea typeface="+mj-ea"/>
                  <a:cs typeface="+mj-cs"/>
                </a:rPr>
                <a:t>01</a:t>
              </a:r>
            </a:p>
          </p:txBody>
        </p:sp>
        <p:sp>
          <p:nvSpPr>
            <p:cNvPr id="13" name="TextBox 13"/>
            <p:cNvSpPr txBox="1"/>
            <p:nvPr/>
          </p:nvSpPr>
          <p:spPr>
            <a:xfrm>
              <a:off x="776097" y="2390299"/>
              <a:ext cx="1567093"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THE STANDARD SETUP</a:t>
              </a:r>
            </a:p>
          </p:txBody>
        </p:sp>
        <p:sp>
          <p:nvSpPr>
            <p:cNvPr id="14" name="TextBox 14"/>
            <p:cNvSpPr txBox="1"/>
            <p:nvPr/>
          </p:nvSpPr>
          <p:spPr>
            <a:xfrm>
              <a:off x="774954" y="2708910"/>
              <a:ext cx="155403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Goal-conditioned RL</a:t>
              </a:r>
            </a:p>
          </p:txBody>
        </p:sp>
        <p:sp>
          <p:nvSpPr>
            <p:cNvPr id="15" name="TextBox 15"/>
            <p:cNvSpPr txBox="1"/>
            <p:nvPr/>
          </p:nvSpPr>
          <p:spPr>
            <a:xfrm>
              <a:off x="774954" y="2918460"/>
              <a:ext cx="185379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usually hands the agent</a:t>
              </a:r>
            </a:p>
          </p:txBody>
        </p:sp>
        <p:sp>
          <p:nvSpPr>
            <p:cNvPr id="16" name="TextBox 16"/>
            <p:cNvSpPr txBox="1"/>
            <p:nvPr/>
          </p:nvSpPr>
          <p:spPr>
            <a:xfrm>
              <a:off x="774954" y="3128010"/>
              <a:ext cx="186187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exact goal it should</a:t>
              </a:r>
            </a:p>
          </p:txBody>
        </p:sp>
        <p:sp>
          <p:nvSpPr>
            <p:cNvPr id="17" name="TextBox 17"/>
            <p:cNvSpPr txBox="1"/>
            <p:nvPr/>
          </p:nvSpPr>
          <p:spPr>
            <a:xfrm>
              <a:off x="774954" y="3337560"/>
              <a:ext cx="54528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reach.</a:t>
              </a:r>
            </a:p>
          </p:txBody>
        </p:sp>
        <p:sp>
          <p:nvSpPr>
            <p:cNvPr id="18" name="Rectangle 18"/>
            <p:cNvSpPr/>
            <p:nvPr/>
          </p:nvSpPr>
          <p:spPr>
            <a:xfrm>
              <a:off x="781050" y="3733800"/>
              <a:ext cx="2171700" cy="1333500"/>
            </a:xfrm>
            <a:prstGeom prst="roundRect">
              <a:avLst>
                <a:gd name="adj" fmla="val 5714"/>
              </a:avLst>
            </a:prstGeom>
            <a:solidFill>
              <a:schemeClr val="lt2"/>
            </a:solidFill>
            <a:ln>
              <a:noFill/>
            </a:ln>
          </p:spPr>
        </p:sp>
        <p:sp>
          <p:nvSpPr>
            <p:cNvPr id="19" name="TextBox 19"/>
            <p:cNvSpPr txBox="1"/>
            <p:nvPr/>
          </p:nvSpPr>
          <p:spPr>
            <a:xfrm>
              <a:off x="1500562" y="4183856"/>
              <a:ext cx="732676"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Given as a</a:t>
              </a:r>
            </a:p>
          </p:txBody>
        </p:sp>
        <p:sp>
          <p:nvSpPr>
            <p:cNvPr id="20" name="TextBox 20"/>
            <p:cNvSpPr txBox="1"/>
            <p:nvPr/>
          </p:nvSpPr>
          <p:spPr>
            <a:xfrm>
              <a:off x="1058380" y="4371975"/>
              <a:ext cx="1617040"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mj-lt"/>
                  <a:ea typeface="+mj-ea"/>
                  <a:cs typeface="+mj-cs"/>
                </a:rPr>
                <a:t>target image g</a:t>
              </a:r>
            </a:p>
          </p:txBody>
        </p:sp>
        <p:sp>
          <p:nvSpPr>
            <p:cNvPr id="21" name="TextBox 21"/>
            <p:cNvSpPr txBox="1"/>
            <p:nvPr/>
          </p:nvSpPr>
          <p:spPr>
            <a:xfrm>
              <a:off x="1276934" y="4641056"/>
              <a:ext cx="1179932"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or exact state.</a:t>
              </a:r>
            </a:p>
          </p:txBody>
        </p:sp>
      </p:grpSp>
      <p:grpSp>
        <p:nvGrpSpPr>
          <p:cNvPr id="37" name="Group 37"/>
          <p:cNvGrpSpPr/>
          <p:nvPr/>
        </p:nvGrpSpPr>
        <p:grpSpPr>
          <a:xfrm>
            <a:off x="3390900" y="1676400"/>
            <a:ext cx="2590800" cy="3619500"/>
            <a:chOff x="3390900" y="1676400"/>
            <a:chExt cx="2590800" cy="3619500"/>
          </a:xfrm>
        </p:grpSpPr>
        <p:sp>
          <p:nvSpPr>
            <p:cNvPr id="23" name="Rectangle 23"/>
            <p:cNvSpPr/>
            <p:nvPr/>
          </p:nvSpPr>
          <p:spPr>
            <a:xfrm>
              <a:off x="3390900" y="1676400"/>
              <a:ext cx="2590800" cy="3619500"/>
            </a:xfrm>
            <a:prstGeom prst="roundRect">
              <a:avLst>
                <a:gd name="adj" fmla="val 4412"/>
              </a:avLst>
            </a:prstGeom>
            <a:solidFill>
              <a:schemeClr val="lt1"/>
            </a:solidFill>
            <a:ln w="14288">
              <a:solidFill>
                <a:schemeClr val="accent4"/>
              </a:solidFill>
            </a:ln>
          </p:spPr>
        </p:sp>
        <p:sp>
          <p:nvSpPr>
            <p:cNvPr id="24" name="Rectangle 24"/>
            <p:cNvSpPr/>
            <p:nvPr/>
          </p:nvSpPr>
          <p:spPr>
            <a:xfrm>
              <a:off x="3390900" y="1676400"/>
              <a:ext cx="2590800" cy="57150"/>
            </a:xfrm>
            <a:prstGeom prst="roundRect">
              <a:avLst>
                <a:gd name="adj" fmla="val 50000"/>
              </a:avLst>
            </a:prstGeom>
            <a:solidFill>
              <a:schemeClr val="accent2"/>
            </a:solidFill>
            <a:ln>
              <a:noFill/>
            </a:ln>
          </p:spPr>
        </p:sp>
        <p:sp>
          <p:nvSpPr>
            <p:cNvPr id="25" name="TextBox 25"/>
            <p:cNvSpPr txBox="1"/>
            <p:nvPr/>
          </p:nvSpPr>
          <p:spPr>
            <a:xfrm>
              <a:off x="3589020" y="1871662"/>
              <a:ext cx="392506" cy="440055"/>
            </a:xfrm>
            <a:prstGeom prst="rect">
              <a:avLst/>
            </a:prstGeom>
            <a:noFill/>
            <a:ln>
              <a:noFill/>
            </a:ln>
          </p:spPr>
          <p:txBody>
            <a:bodyPr wrap="none" lIns="0" tIns="0" rIns="0" bIns="0" anchor="t" anchorCtr="0">
              <a:spAutoFit/>
            </a:bodyPr>
            <a:lstStyle/>
            <a:p>
              <a:pPr algn="l"/>
              <a:r>
                <a:rPr lang="en-US" sz="2250" b="1" dirty="0">
                  <a:solidFill>
                    <a:srgbClr val="EAEFFC"/>
                  </a:solidFill>
                  <a:latin typeface="+mj-lt"/>
                  <a:ea typeface="+mj-ea"/>
                  <a:cs typeface="+mj-cs"/>
                </a:rPr>
                <a:t>02</a:t>
              </a:r>
            </a:p>
          </p:txBody>
        </p:sp>
        <p:sp>
          <p:nvSpPr>
            <p:cNvPr id="26" name="TextBox 26"/>
            <p:cNvSpPr txBox="1"/>
            <p:nvPr/>
          </p:nvSpPr>
          <p:spPr>
            <a:xfrm>
              <a:off x="3595497" y="2390299"/>
              <a:ext cx="1078626"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THE MISMATCH</a:t>
              </a:r>
            </a:p>
          </p:txBody>
        </p:sp>
        <p:sp>
          <p:nvSpPr>
            <p:cNvPr id="27" name="TextBox 27"/>
            <p:cNvSpPr txBox="1"/>
            <p:nvPr/>
          </p:nvSpPr>
          <p:spPr>
            <a:xfrm>
              <a:off x="3594354" y="2708910"/>
              <a:ext cx="163301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But in the real world</a:t>
              </a:r>
            </a:p>
          </p:txBody>
        </p:sp>
        <p:sp>
          <p:nvSpPr>
            <p:cNvPr id="28" name="TextBox 28"/>
            <p:cNvSpPr txBox="1"/>
            <p:nvPr/>
          </p:nvSpPr>
          <p:spPr>
            <a:xfrm>
              <a:off x="3594354" y="2918460"/>
              <a:ext cx="157109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you rarely know the</a:t>
              </a:r>
            </a:p>
          </p:txBody>
        </p:sp>
        <p:sp>
          <p:nvSpPr>
            <p:cNvPr id="29" name="TextBox 29"/>
            <p:cNvSpPr txBox="1"/>
            <p:nvPr/>
          </p:nvSpPr>
          <p:spPr>
            <a:xfrm>
              <a:off x="3594354" y="3128010"/>
              <a:ext cx="190225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precise goal in advance.</a:t>
              </a:r>
            </a:p>
          </p:txBody>
        </p:sp>
        <p:sp>
          <p:nvSpPr>
            <p:cNvPr id="30" name="Rectangle 30"/>
            <p:cNvSpPr/>
            <p:nvPr/>
          </p:nvSpPr>
          <p:spPr>
            <a:xfrm>
              <a:off x="3600450" y="3505200"/>
              <a:ext cx="2171700" cy="1562100"/>
            </a:xfrm>
            <a:prstGeom prst="roundRect">
              <a:avLst>
                <a:gd name="adj" fmla="val 4878"/>
              </a:avLst>
            </a:prstGeom>
            <a:solidFill>
              <a:schemeClr val="lt2"/>
            </a:solidFill>
            <a:ln>
              <a:noFill/>
            </a:ln>
          </p:spPr>
        </p:sp>
        <p:sp>
          <p:nvSpPr>
            <p:cNvPr id="31" name="TextBox 31"/>
            <p:cNvSpPr txBox="1"/>
            <p:nvPr/>
          </p:nvSpPr>
          <p:spPr>
            <a:xfrm>
              <a:off x="3785235" y="3726656"/>
              <a:ext cx="177268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exact configuration</a:t>
              </a:r>
            </a:p>
          </p:txBody>
        </p:sp>
        <p:sp>
          <p:nvSpPr>
            <p:cNvPr id="32" name="TextBox 32"/>
            <p:cNvSpPr txBox="1"/>
            <p:nvPr/>
          </p:nvSpPr>
          <p:spPr>
            <a:xfrm>
              <a:off x="3785235" y="3936206"/>
              <a:ext cx="153425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of the goal is usually</a:t>
              </a:r>
            </a:p>
          </p:txBody>
        </p:sp>
        <p:sp>
          <p:nvSpPr>
            <p:cNvPr id="33" name="TextBox 33"/>
            <p:cNvSpPr txBox="1"/>
            <p:nvPr/>
          </p:nvSpPr>
          <p:spPr>
            <a:xfrm>
              <a:off x="3785235" y="4145756"/>
              <a:ext cx="183580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unknown before the task</a:t>
              </a:r>
            </a:p>
          </p:txBody>
        </p:sp>
        <p:sp>
          <p:nvSpPr>
            <p:cNvPr id="34" name="TextBox 34"/>
            <p:cNvSpPr txBox="1"/>
            <p:nvPr/>
          </p:nvSpPr>
          <p:spPr>
            <a:xfrm>
              <a:off x="3785235" y="4355306"/>
              <a:ext cx="16774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is even attempted — an</a:t>
              </a:r>
            </a:p>
          </p:txBody>
        </p:sp>
        <p:sp>
          <p:nvSpPr>
            <p:cNvPr id="35" name="TextBox 35"/>
            <p:cNvSpPr txBox="1"/>
            <p:nvPr/>
          </p:nvSpPr>
          <p:spPr>
            <a:xfrm>
              <a:off x="3785235" y="4564856"/>
              <a:ext cx="16774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unrealistic assumption</a:t>
              </a:r>
            </a:p>
          </p:txBody>
        </p:sp>
        <p:sp>
          <p:nvSpPr>
            <p:cNvPr id="36" name="TextBox 36"/>
            <p:cNvSpPr txBox="1"/>
            <p:nvPr/>
          </p:nvSpPr>
          <p:spPr>
            <a:xfrm>
              <a:off x="3785235" y="4774406"/>
              <a:ext cx="16774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for most applications.</a:t>
              </a:r>
            </a:p>
          </p:txBody>
        </p:sp>
      </p:grpSp>
      <p:grpSp>
        <p:nvGrpSpPr>
          <p:cNvPr id="50" name="Group 50"/>
          <p:cNvGrpSpPr/>
          <p:nvPr/>
        </p:nvGrpSpPr>
        <p:grpSpPr>
          <a:xfrm>
            <a:off x="6210300" y="1676400"/>
            <a:ext cx="2590800" cy="3619500"/>
            <a:chOff x="6210300" y="1676400"/>
            <a:chExt cx="2590800" cy="3619500"/>
          </a:xfrm>
        </p:grpSpPr>
        <p:sp>
          <p:nvSpPr>
            <p:cNvPr id="38" name="Rectangle 38"/>
            <p:cNvSpPr/>
            <p:nvPr/>
          </p:nvSpPr>
          <p:spPr>
            <a:xfrm>
              <a:off x="6210300" y="1676400"/>
              <a:ext cx="2590800" cy="3619500"/>
            </a:xfrm>
            <a:prstGeom prst="roundRect">
              <a:avLst>
                <a:gd name="adj" fmla="val 4412"/>
              </a:avLst>
            </a:prstGeom>
            <a:solidFill>
              <a:schemeClr val="lt1"/>
            </a:solidFill>
            <a:ln w="14288">
              <a:solidFill>
                <a:schemeClr val="accent4"/>
              </a:solidFill>
            </a:ln>
          </p:spPr>
        </p:sp>
        <p:sp>
          <p:nvSpPr>
            <p:cNvPr id="39" name="Rectangle 39"/>
            <p:cNvSpPr/>
            <p:nvPr/>
          </p:nvSpPr>
          <p:spPr>
            <a:xfrm>
              <a:off x="6210300" y="1676400"/>
              <a:ext cx="2590800" cy="57150"/>
            </a:xfrm>
            <a:prstGeom prst="roundRect">
              <a:avLst>
                <a:gd name="adj" fmla="val 50000"/>
              </a:avLst>
            </a:prstGeom>
            <a:solidFill>
              <a:schemeClr val="accent2"/>
            </a:solidFill>
            <a:ln>
              <a:noFill/>
            </a:ln>
          </p:spPr>
        </p:sp>
        <p:sp>
          <p:nvSpPr>
            <p:cNvPr id="40" name="TextBox 40"/>
            <p:cNvSpPr txBox="1"/>
            <p:nvPr/>
          </p:nvSpPr>
          <p:spPr>
            <a:xfrm>
              <a:off x="6408420" y="1871662"/>
              <a:ext cx="392506" cy="440055"/>
            </a:xfrm>
            <a:prstGeom prst="rect">
              <a:avLst/>
            </a:prstGeom>
            <a:noFill/>
            <a:ln>
              <a:noFill/>
            </a:ln>
          </p:spPr>
          <p:txBody>
            <a:bodyPr wrap="none" lIns="0" tIns="0" rIns="0" bIns="0" anchor="t" anchorCtr="0">
              <a:spAutoFit/>
            </a:bodyPr>
            <a:lstStyle/>
            <a:p>
              <a:pPr algn="l"/>
              <a:r>
                <a:rPr lang="en-US" sz="2250" b="1" dirty="0">
                  <a:solidFill>
                    <a:srgbClr val="EAEFFC"/>
                  </a:solidFill>
                  <a:latin typeface="+mj-lt"/>
                  <a:ea typeface="+mj-ea"/>
                  <a:cs typeface="+mj-cs"/>
                </a:rPr>
                <a:t>03</a:t>
              </a:r>
            </a:p>
          </p:txBody>
        </p:sp>
        <p:sp>
          <p:nvSpPr>
            <p:cNvPr id="41" name="TextBox 41"/>
            <p:cNvSpPr txBox="1"/>
            <p:nvPr/>
          </p:nvSpPr>
          <p:spPr>
            <a:xfrm>
              <a:off x="6414897" y="2390299"/>
              <a:ext cx="1625639"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A CONCRETE EXAMPLE</a:t>
              </a:r>
            </a:p>
          </p:txBody>
        </p:sp>
        <p:sp>
          <p:nvSpPr>
            <p:cNvPr id="42" name="TextBox 42"/>
            <p:cNvSpPr txBox="1"/>
            <p:nvPr/>
          </p:nvSpPr>
          <p:spPr>
            <a:xfrm>
              <a:off x="6413754" y="2708910"/>
              <a:ext cx="159281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Ask a robot to close</a:t>
              </a:r>
            </a:p>
          </p:txBody>
        </p:sp>
        <p:sp>
          <p:nvSpPr>
            <p:cNvPr id="43" name="TextBox 43"/>
            <p:cNvSpPr txBox="1"/>
            <p:nvPr/>
          </p:nvSpPr>
          <p:spPr>
            <a:xfrm>
              <a:off x="6413754" y="2918460"/>
              <a:ext cx="182956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 drawer — you may not</a:t>
              </a:r>
            </a:p>
          </p:txBody>
        </p:sp>
        <p:sp>
          <p:nvSpPr>
            <p:cNvPr id="44" name="TextBox 44"/>
            <p:cNvSpPr txBox="1"/>
            <p:nvPr/>
          </p:nvSpPr>
          <p:spPr>
            <a:xfrm>
              <a:off x="6413754" y="3128010"/>
              <a:ext cx="160340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know how the closed</a:t>
              </a:r>
            </a:p>
          </p:txBody>
        </p:sp>
        <p:sp>
          <p:nvSpPr>
            <p:cNvPr id="45" name="TextBox 45"/>
            <p:cNvSpPr txBox="1"/>
            <p:nvPr/>
          </p:nvSpPr>
          <p:spPr>
            <a:xfrm>
              <a:off x="6413754" y="3337560"/>
              <a:ext cx="152262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drawer even looks.</a:t>
              </a:r>
            </a:p>
          </p:txBody>
        </p:sp>
        <p:sp>
          <p:nvSpPr>
            <p:cNvPr id="46" name="Rectangle 46"/>
            <p:cNvSpPr/>
            <p:nvPr/>
          </p:nvSpPr>
          <p:spPr>
            <a:xfrm>
              <a:off x="6419850" y="3733800"/>
              <a:ext cx="2171700" cy="1333500"/>
            </a:xfrm>
            <a:prstGeom prst="roundRect">
              <a:avLst>
                <a:gd name="adj" fmla="val 5714"/>
              </a:avLst>
            </a:prstGeom>
            <a:solidFill>
              <a:schemeClr val="lt2"/>
            </a:solidFill>
            <a:ln>
              <a:noFill/>
            </a:ln>
          </p:spPr>
        </p:sp>
        <p:sp>
          <p:nvSpPr>
            <p:cNvPr id="47" name="Rectangle 47"/>
            <p:cNvSpPr/>
            <p:nvPr/>
          </p:nvSpPr>
          <p:spPr>
            <a:xfrm>
              <a:off x="6667500" y="4000500"/>
              <a:ext cx="1676400" cy="571500"/>
            </a:xfrm>
            <a:prstGeom prst="roundRect">
              <a:avLst>
                <a:gd name="adj" fmla="val 10000"/>
              </a:avLst>
            </a:prstGeom>
            <a:solidFill>
              <a:schemeClr val="lt1"/>
            </a:solidFill>
            <a:ln w="14288">
              <a:solidFill>
                <a:srgbClr val="99A2BE"/>
              </a:solidFill>
            </a:ln>
          </p:spPr>
        </p:sp>
        <p:sp>
          <p:nvSpPr>
            <p:cNvPr id="48" name="Line 48"/>
            <p:cNvSpPr/>
            <p:nvPr/>
          </p:nvSpPr>
          <p:spPr>
            <a:xfrm>
              <a:off x="6667500" y="4286250"/>
              <a:ext cx="1676400" cy="9525"/>
            </a:xfrm>
            <a:custGeom>
              <a:avLst/>
              <a:gdLst/>
              <a:ahLst/>
              <a:cxnLst/>
              <a:rect l="l" t="t" r="r" b="b"/>
              <a:pathLst>
                <a:path w="1676400" h="9525">
                  <a:moveTo>
                    <a:pt x="0" y="0"/>
                  </a:moveTo>
                  <a:lnTo>
                    <a:pt x="1676400" y="0"/>
                  </a:lnTo>
                </a:path>
              </a:pathLst>
            </a:custGeom>
            <a:noFill/>
            <a:ln w="14288">
              <a:solidFill>
                <a:srgbClr val="99A2BE"/>
              </a:solidFill>
            </a:ln>
          </p:spPr>
        </p:sp>
        <p:sp>
          <p:nvSpPr>
            <p:cNvPr id="49" name="TextBox 49"/>
            <p:cNvSpPr txBox="1"/>
            <p:nvPr/>
          </p:nvSpPr>
          <p:spPr>
            <a:xfrm>
              <a:off x="7161490" y="4687252"/>
              <a:ext cx="688419" cy="205359"/>
            </a:xfrm>
            <a:prstGeom prst="rect">
              <a:avLst/>
            </a:prstGeom>
            <a:noFill/>
            <a:ln>
              <a:noFill/>
            </a:ln>
          </p:spPr>
          <p:txBody>
            <a:bodyPr wrap="none" lIns="0" tIns="0" rIns="0" bIns="0" anchor="t" anchorCtr="0">
              <a:spAutoFit/>
            </a:bodyPr>
            <a:lstStyle/>
            <a:p>
              <a:pPr algn="ctr"/>
              <a:r>
                <a:rPr lang="en-US" sz="1050" i="1" dirty="0">
                  <a:solidFill>
                    <a:schemeClr val="dk2"/>
                  </a:solidFill>
                  <a:latin typeface="+mn-lt"/>
                  <a:ea typeface="+mn-ea"/>
                  <a:cs typeface="+mn-cs"/>
                </a:rPr>
                <a:t>Closed = ?</a:t>
              </a:r>
            </a:p>
          </p:txBody>
        </p:sp>
      </p:grpSp>
      <p:grpSp>
        <p:nvGrpSpPr>
          <p:cNvPr id="64" name="Group 64"/>
          <p:cNvGrpSpPr/>
          <p:nvPr/>
        </p:nvGrpSpPr>
        <p:grpSpPr>
          <a:xfrm>
            <a:off x="9029700" y="1676400"/>
            <a:ext cx="2590800" cy="3619500"/>
            <a:chOff x="9029700" y="1676400"/>
            <a:chExt cx="2590800" cy="3619500"/>
          </a:xfrm>
        </p:grpSpPr>
        <p:sp>
          <p:nvSpPr>
            <p:cNvPr id="51" name="Rectangle 51"/>
            <p:cNvSpPr/>
            <p:nvPr/>
          </p:nvSpPr>
          <p:spPr>
            <a:xfrm>
              <a:off x="9029700" y="1676400"/>
              <a:ext cx="2590800" cy="3619500"/>
            </a:xfrm>
            <a:prstGeom prst="roundRect">
              <a:avLst>
                <a:gd name="adj" fmla="val 4412"/>
              </a:avLst>
            </a:prstGeom>
            <a:solidFill>
              <a:srgbClr val="FCEEDF"/>
            </a:solidFill>
            <a:ln w="14288">
              <a:solidFill>
                <a:schemeClr val="accent5"/>
              </a:solidFill>
            </a:ln>
          </p:spPr>
        </p:sp>
        <p:sp>
          <p:nvSpPr>
            <p:cNvPr id="52" name="Rectangle 52"/>
            <p:cNvSpPr/>
            <p:nvPr/>
          </p:nvSpPr>
          <p:spPr>
            <a:xfrm>
              <a:off x="9029700" y="1676400"/>
              <a:ext cx="2590800" cy="57150"/>
            </a:xfrm>
            <a:prstGeom prst="roundRect">
              <a:avLst>
                <a:gd name="adj" fmla="val 50000"/>
              </a:avLst>
            </a:prstGeom>
            <a:solidFill>
              <a:schemeClr val="accent5"/>
            </a:solidFill>
            <a:ln>
              <a:noFill/>
            </a:ln>
          </p:spPr>
        </p:sp>
        <p:sp>
          <p:nvSpPr>
            <p:cNvPr id="53" name="TextBox 53"/>
            <p:cNvSpPr txBox="1"/>
            <p:nvPr/>
          </p:nvSpPr>
          <p:spPr>
            <a:xfrm>
              <a:off x="9227820" y="1871662"/>
              <a:ext cx="392506" cy="440055"/>
            </a:xfrm>
            <a:prstGeom prst="rect">
              <a:avLst/>
            </a:prstGeom>
            <a:noFill/>
            <a:ln>
              <a:noFill/>
            </a:ln>
          </p:spPr>
          <p:txBody>
            <a:bodyPr wrap="none" lIns="0" tIns="0" rIns="0" bIns="0" anchor="t" anchorCtr="0">
              <a:spAutoFit/>
            </a:bodyPr>
            <a:lstStyle/>
            <a:p>
              <a:pPr algn="l"/>
              <a:r>
                <a:rPr lang="en-US" sz="2250" b="1" dirty="0">
                  <a:solidFill>
                    <a:srgbClr val="F7D8BA"/>
                  </a:solidFill>
                  <a:latin typeface="+mj-lt"/>
                  <a:ea typeface="+mj-ea"/>
                  <a:cs typeface="+mj-cs"/>
                </a:rPr>
                <a:t>04</a:t>
              </a:r>
            </a:p>
          </p:txBody>
        </p:sp>
        <p:sp>
          <p:nvSpPr>
            <p:cNvPr id="54" name="TextBox 54"/>
            <p:cNvSpPr txBox="1"/>
            <p:nvPr/>
          </p:nvSpPr>
          <p:spPr>
            <a:xfrm>
              <a:off x="9234297" y="2390299"/>
              <a:ext cx="1293586"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THE ALTERNATIVE</a:t>
              </a:r>
            </a:p>
          </p:txBody>
        </p:sp>
        <p:sp>
          <p:nvSpPr>
            <p:cNvPr id="55" name="TextBox 55"/>
            <p:cNvSpPr txBox="1"/>
            <p:nvPr/>
          </p:nvSpPr>
          <p:spPr>
            <a:xfrm>
              <a:off x="9232011" y="2684621"/>
              <a:ext cx="1747852"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Specify tasks by</a:t>
              </a:r>
            </a:p>
          </p:txBody>
        </p:sp>
        <p:sp>
          <p:nvSpPr>
            <p:cNvPr id="56" name="TextBox 56"/>
            <p:cNvSpPr txBox="1"/>
            <p:nvPr/>
          </p:nvSpPr>
          <p:spPr>
            <a:xfrm>
              <a:off x="9232011" y="2913221"/>
              <a:ext cx="1721721"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analogy instead.</a:t>
              </a:r>
            </a:p>
          </p:txBody>
        </p:sp>
        <p:sp>
          <p:nvSpPr>
            <p:cNvPr id="57" name="TextBox 57"/>
            <p:cNvSpPr txBox="1"/>
            <p:nvPr/>
          </p:nvSpPr>
          <p:spPr>
            <a:xfrm>
              <a:off x="9233535" y="3307556"/>
              <a:ext cx="1803163"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Show the agent a similar</a:t>
              </a:r>
            </a:p>
          </p:txBody>
        </p:sp>
        <p:sp>
          <p:nvSpPr>
            <p:cNvPr id="58" name="TextBox 58"/>
            <p:cNvSpPr txBox="1"/>
            <p:nvPr/>
          </p:nvSpPr>
          <p:spPr>
            <a:xfrm>
              <a:off x="9233535" y="3517106"/>
              <a:ext cx="190364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task being solved, and let</a:t>
              </a:r>
            </a:p>
          </p:txBody>
        </p:sp>
        <p:sp>
          <p:nvSpPr>
            <p:cNvPr id="59" name="TextBox 59"/>
            <p:cNvSpPr txBox="1"/>
            <p:nvPr/>
          </p:nvSpPr>
          <p:spPr>
            <a:xfrm>
              <a:off x="9233535" y="3726656"/>
              <a:ext cx="184333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it work out its own goal.</a:t>
              </a:r>
            </a:p>
          </p:txBody>
        </p:sp>
        <p:sp>
          <p:nvSpPr>
            <p:cNvPr id="60" name="Rectangle 60"/>
            <p:cNvSpPr/>
            <p:nvPr/>
          </p:nvSpPr>
          <p:spPr>
            <a:xfrm>
              <a:off x="9239250" y="4095750"/>
              <a:ext cx="2171700" cy="971550"/>
            </a:xfrm>
            <a:prstGeom prst="roundRect">
              <a:avLst>
                <a:gd name="adj" fmla="val 7843"/>
              </a:avLst>
            </a:prstGeom>
            <a:solidFill>
              <a:schemeClr val="lt1"/>
            </a:solidFill>
            <a:ln>
              <a:noFill/>
            </a:ln>
          </p:spPr>
        </p:sp>
        <p:sp>
          <p:nvSpPr>
            <p:cNvPr id="61" name="TextBox 61"/>
            <p:cNvSpPr txBox="1"/>
            <p:nvPr/>
          </p:nvSpPr>
          <p:spPr>
            <a:xfrm>
              <a:off x="9949653" y="4363402"/>
              <a:ext cx="750894"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A far more</a:t>
              </a:r>
            </a:p>
          </p:txBody>
        </p:sp>
        <p:sp>
          <p:nvSpPr>
            <p:cNvPr id="62" name="TextBox 62"/>
            <p:cNvSpPr txBox="1"/>
            <p:nvPr/>
          </p:nvSpPr>
          <p:spPr>
            <a:xfrm>
              <a:off x="9421010" y="4559618"/>
              <a:ext cx="1808180" cy="264033"/>
            </a:xfrm>
            <a:prstGeom prst="rect">
              <a:avLst/>
            </a:prstGeom>
            <a:noFill/>
            <a:ln>
              <a:noFill/>
            </a:ln>
          </p:spPr>
          <p:txBody>
            <a:bodyPr wrap="none" lIns="0" tIns="0" rIns="0" bIns="0" anchor="t" anchorCtr="0">
              <a:spAutoFit/>
            </a:bodyPr>
            <a:lstStyle/>
            <a:p>
              <a:pPr algn="ctr"/>
              <a:r>
                <a:rPr lang="en-US" sz="1350" b="1" dirty="0">
                  <a:solidFill>
                    <a:schemeClr val="accent5"/>
                  </a:solidFill>
                  <a:latin typeface="+mj-lt"/>
                  <a:ea typeface="+mj-ea"/>
                  <a:cs typeface="+mj-cs"/>
                </a:rPr>
                <a:t>scalable interface</a:t>
              </a:r>
            </a:p>
          </p:txBody>
        </p:sp>
        <p:sp>
          <p:nvSpPr>
            <p:cNvPr id="63" name="TextBox 63"/>
            <p:cNvSpPr txBox="1"/>
            <p:nvPr/>
          </p:nvSpPr>
          <p:spPr>
            <a:xfrm>
              <a:off x="9789700" y="4801552"/>
              <a:ext cx="1070801"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for real tasks.</a:t>
              </a:r>
            </a:p>
          </p:txBody>
        </p:sp>
      </p:grpSp>
      <p:grpSp>
        <p:nvGrpSpPr>
          <p:cNvPr id="68" name="Group 68"/>
          <p:cNvGrpSpPr/>
          <p:nvPr/>
        </p:nvGrpSpPr>
        <p:grpSpPr>
          <a:xfrm>
            <a:off x="565023" y="5577364"/>
            <a:ext cx="11060239" cy="1182052"/>
            <a:chOff x="565023" y="5577364"/>
            <a:chExt cx="11060239" cy="1182052"/>
          </a:xfrm>
        </p:grpSpPr>
        <p:sp>
          <p:nvSpPr>
            <p:cNvPr id="65" name="TextBox 65"/>
            <p:cNvSpPr txBox="1"/>
            <p:nvPr/>
          </p:nvSpPr>
          <p:spPr>
            <a:xfrm>
              <a:off x="565023" y="5577364"/>
              <a:ext cx="7330787" cy="249364"/>
            </a:xfrm>
            <a:prstGeom prst="rect">
              <a:avLst/>
            </a:prstGeom>
            <a:noFill/>
            <a:ln>
              <a:noFill/>
            </a:ln>
          </p:spPr>
          <p:txBody>
            <a:bodyPr wrap="none" lIns="0" tIns="0" rIns="0" bIns="0" anchor="t" anchorCtr="0">
              <a:spAutoFit/>
            </a:bodyPr>
            <a:lstStyle/>
            <a:p>
              <a:pPr algn="l"/>
              <a:r>
                <a:rPr lang="en-US" sz="1280" i="1" dirty="0">
                  <a:solidFill>
                    <a:schemeClr val="dk2"/>
                  </a:solidFill>
                  <a:latin typeface="+mj-lt"/>
                  <a:ea typeface="+mj-ea"/>
                  <a:cs typeface="+mj-cs"/>
                </a:rPr>
                <a:t>From “here is the exact goal” → “here is an analogous task; figure out your goal.”</a:t>
              </a:r>
            </a:p>
          </p:txBody>
        </p:sp>
        <p:sp>
          <p:nvSpPr>
            <p:cNvPr id="66" name="TextBox 66"/>
            <p:cNvSpPr txBox="1"/>
            <p:nvPr/>
          </p:nvSpPr>
          <p:spPr>
            <a:xfrm>
              <a:off x="566738" y="6597491"/>
              <a:ext cx="2239922"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Goal-Conditioned Bisimulation · ICML 2022</a:t>
              </a:r>
            </a:p>
          </p:txBody>
        </p:sp>
        <p:sp>
          <p:nvSpPr>
            <p:cNvPr id="67" name="TextBox 67"/>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02</a:t>
              </a:r>
            </a:p>
          </p:txBody>
        </p:sp>
      </p:grpSp>
      <p:sp>
        <p:nvSpPr>
          <p:cNvPr id="69" name="cue_s02_c1_goal_conditioned_reinforcement_learn" title="cue_s02_c1_goal_conditioned_reinforcement_learn" descr="cue_s02_c1_goal_conditioned_reinforcement_learn Goal-conditioned reinforcement learning usually hands the agent the exact goal, as a target image."/>
          <p:cNvSpPr/>
          <p:nvPr/>
        </p:nvSpPr>
        <p:spPr>
          <a:xfrm>
            <a:off x="571804" y="1676095"/>
            <a:ext cx="2590800"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2_c2_but_real_world_you_rarely" title="cue_s02_c2_but_real_world_you_rarely" descr="cue_s02_c2_but_real_world_you_rarely But in the real world you rarely know the precise goal in advance."/>
          <p:cNvSpPr/>
          <p:nvPr/>
        </p:nvSpPr>
        <p:spPr>
          <a:xfrm>
            <a:off x="3390595" y="1676095"/>
            <a:ext cx="2590800"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ue_s02_c3_ask_robot_close_drawer_you" title="cue_s02_c3_ask_robot_close_drawer_you" descr="cue_s02_c3_ask_robot_close_drawer_you Ask a robot to close a drawer, and you may not know how the closed drawer looks."/>
          <p:cNvSpPr/>
          <p:nvPr/>
        </p:nvSpPr>
        <p:spPr>
          <a:xfrm>
            <a:off x="6210604" y="1676095"/>
            <a:ext cx="2590800"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ue_s02_c4_want_specify_tasks_analogy" title="cue_s02_c4_want_specify_tasks_analogy" descr="cue_s02_c4_want_specify_tasks_analogy We want to specify tasks by analogy."/>
          <p:cNvSpPr/>
          <p:nvPr/>
        </p:nvSpPr>
        <p:spPr>
          <a:xfrm>
            <a:off x="9029395" y="1676095"/>
            <a:ext cx="2715158"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5962952" cy="656939"/>
            <a:chOff x="571500" y="533400"/>
            <a:chExt cx="5962952"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5747306"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Humans solve families of tasks</a:t>
              </a:r>
            </a:p>
          </p:txBody>
        </p:sp>
        <p:sp>
          <p:nvSpPr>
            <p:cNvPr id="4" name="TextBox 4"/>
            <p:cNvSpPr txBox="1"/>
            <p:nvPr/>
          </p:nvSpPr>
          <p:spPr>
            <a:xfrm>
              <a:off x="795147" y="999649"/>
              <a:ext cx="455941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MOTIVATION · INVARIANCE, EQUIVARIANCE, AND ANALOGY</a:t>
              </a:r>
            </a:p>
          </p:txBody>
        </p:sp>
      </p:grpSp>
      <p:grpSp>
        <p:nvGrpSpPr>
          <p:cNvPr id="11" name="Group 11"/>
          <p:cNvGrpSpPr/>
          <p:nvPr/>
        </p:nvGrpSpPr>
        <p:grpSpPr>
          <a:xfrm>
            <a:off x="571500" y="1504950"/>
            <a:ext cx="4876800" cy="4514850"/>
            <a:chOff x="571500" y="1504950"/>
            <a:chExt cx="4876800" cy="4514850"/>
          </a:xfrm>
        </p:grpSpPr>
        <p:sp>
          <p:nvSpPr>
            <p:cNvPr id="6" name="Rectangle 6"/>
            <p:cNvSpPr/>
            <p:nvPr/>
          </p:nvSpPr>
          <p:spPr>
            <a:xfrm>
              <a:off x="571500" y="1504950"/>
              <a:ext cx="4876800" cy="4514850"/>
            </a:xfrm>
            <a:prstGeom prst="roundRect">
              <a:avLst>
                <a:gd name="adj" fmla="val 2532"/>
              </a:avLst>
            </a:prstGeom>
            <a:solidFill>
              <a:schemeClr val="lt2"/>
            </a:solidFill>
            <a:ln w="14288">
              <a:solidFill>
                <a:schemeClr val="accent4"/>
              </a:solidFill>
            </a:ln>
            <a:effectLst>
              <a:outerShdw blurRad="95250" dist="19050" dir="5400000" algn="ctr" rotWithShape="0">
                <a:srgbClr val="1B2A4A">
                  <a:alpha val="7500"/>
                </a:srgbClr>
              </a:outerShdw>
            </a:effectLst>
          </p:spPr>
        </p:sp>
        <p:sp>
          <p:nvSpPr>
            <p:cNvPr id="7" name="TextBox 7"/>
            <p:cNvSpPr txBox="1"/>
            <p:nvPr/>
          </p:nvSpPr>
          <p:spPr>
            <a:xfrm>
              <a:off x="795147" y="1761649"/>
              <a:ext cx="2527035" cy="190690"/>
            </a:xfrm>
            <a:prstGeom prst="rect">
              <a:avLst/>
            </a:prstGeom>
            <a:noFill/>
            <a:ln>
              <a:noFill/>
            </a:ln>
          </p:spPr>
          <p:txBody>
            <a:bodyPr wrap="none" lIns="0" tIns="0" rIns="0" bIns="0" anchor="t" anchorCtr="0">
              <a:spAutoFit/>
            </a:bodyPr>
            <a:lstStyle/>
            <a:p>
              <a:pPr algn="l"/>
              <a:r>
                <a:rPr lang="en-US" sz="980" b="1" spc="112" dirty="0">
                  <a:solidFill>
                    <a:schemeClr val="accent5"/>
                  </a:solidFill>
                  <a:latin typeface="+mn-lt"/>
                  <a:ea typeface="+mn-ea"/>
                  <a:cs typeface="+mn-cs"/>
                </a:rPr>
                <a:t>DICE A CARROT · THEN A RADISH</a:t>
              </a:r>
            </a:p>
          </p:txBody>
        </p:sp>
        <p:pic>
          <p:nvPicPr>
            <p:cNvPr id="8" name="Image 8"/>
            <p:cNvPicPr>
              <a:picLocks noChangeAspect="1"/>
            </p:cNvPicPr>
            <p:nvPr/>
          </p:nvPicPr>
          <p:blipFill>
            <a:blip r:embed="rId2"/>
            <a:stretch>
              <a:fillRect/>
            </a:stretch>
          </p:blipFill>
          <p:spPr>
            <a:xfrm>
              <a:off x="800100" y="2216953"/>
              <a:ext cx="4419600" cy="2805093"/>
            </a:xfrm>
            <a:prstGeom prst="rect">
              <a:avLst/>
            </a:prstGeom>
          </p:spPr>
        </p:pic>
        <p:sp>
          <p:nvSpPr>
            <p:cNvPr id="9" name="TextBox 9"/>
            <p:cNvSpPr txBox="1"/>
            <p:nvPr/>
          </p:nvSpPr>
          <p:spPr>
            <a:xfrm>
              <a:off x="1305954" y="5430202"/>
              <a:ext cx="3407893" cy="205359"/>
            </a:xfrm>
            <a:prstGeom prst="rect">
              <a:avLst/>
            </a:prstGeom>
            <a:noFill/>
            <a:ln>
              <a:noFill/>
            </a:ln>
          </p:spPr>
          <p:txBody>
            <a:bodyPr wrap="none" lIns="0" tIns="0" rIns="0" bIns="0" anchor="t" anchorCtr="0">
              <a:spAutoFit/>
            </a:bodyPr>
            <a:lstStyle/>
            <a:p>
              <a:pPr algn="ctr"/>
              <a:r>
                <a:rPr lang="en-US" sz="1050" i="1" dirty="0">
                  <a:solidFill>
                    <a:schemeClr val="dk2"/>
                  </a:solidFill>
                  <a:latin typeface="+mn-lt"/>
                  <a:ea typeface="+mn-ea"/>
                  <a:cs typeface="+mn-cs"/>
                </a:rPr>
                <a:t>The objects differ, but the transformation from</a:t>
              </a:r>
            </a:p>
          </p:txBody>
        </p:sp>
        <p:sp>
          <p:nvSpPr>
            <p:cNvPr id="10" name="TextBox 10"/>
            <p:cNvSpPr txBox="1"/>
            <p:nvPr/>
          </p:nvSpPr>
          <p:spPr>
            <a:xfrm>
              <a:off x="1534516" y="5639752"/>
              <a:ext cx="2950769" cy="205359"/>
            </a:xfrm>
            <a:prstGeom prst="rect">
              <a:avLst/>
            </a:prstGeom>
            <a:noFill/>
            <a:ln>
              <a:noFill/>
            </a:ln>
          </p:spPr>
          <p:txBody>
            <a:bodyPr wrap="none" lIns="0" tIns="0" rIns="0" bIns="0" anchor="t" anchorCtr="0">
              <a:spAutoFit/>
            </a:bodyPr>
            <a:lstStyle/>
            <a:p>
              <a:pPr algn="ctr"/>
              <a:r>
                <a:rPr lang="en-US" sz="1050" i="1" dirty="0">
                  <a:solidFill>
                    <a:schemeClr val="dk2"/>
                  </a:solidFill>
                  <a:latin typeface="+mn-lt"/>
                  <a:ea typeface="+mn-ea"/>
                  <a:cs typeface="+mn-cs"/>
                </a:rPr>
                <a:t>whole to diced — the analogy — is the same.</a:t>
              </a:r>
            </a:p>
          </p:txBody>
        </p:sp>
      </p:grpSp>
      <p:grpSp>
        <p:nvGrpSpPr>
          <p:cNvPr id="18" name="Group 18"/>
          <p:cNvGrpSpPr/>
          <p:nvPr/>
        </p:nvGrpSpPr>
        <p:grpSpPr>
          <a:xfrm>
            <a:off x="5676900" y="1504950"/>
            <a:ext cx="5943600" cy="1333500"/>
            <a:chOff x="5676900" y="1504950"/>
            <a:chExt cx="5943600" cy="1333500"/>
          </a:xfrm>
        </p:grpSpPr>
        <p:sp>
          <p:nvSpPr>
            <p:cNvPr id="12" name="Rectangle 12"/>
            <p:cNvSpPr/>
            <p:nvPr/>
          </p:nvSpPr>
          <p:spPr>
            <a:xfrm>
              <a:off x="5676900" y="1504950"/>
              <a:ext cx="5943600" cy="1333500"/>
            </a:xfrm>
            <a:prstGeom prst="roundRect">
              <a:avLst>
                <a:gd name="adj" fmla="val 8571"/>
              </a:avLst>
            </a:prstGeom>
            <a:solidFill>
              <a:schemeClr val="lt1"/>
            </a:solidFill>
            <a:ln w="14288">
              <a:solidFill>
                <a:schemeClr val="accent4"/>
              </a:solidFill>
            </a:ln>
          </p:spPr>
        </p:sp>
        <p:sp>
          <p:nvSpPr>
            <p:cNvPr id="13" name="Rectangle 13"/>
            <p:cNvSpPr/>
            <p:nvPr/>
          </p:nvSpPr>
          <p:spPr>
            <a:xfrm>
              <a:off x="5676900" y="1504950"/>
              <a:ext cx="57150" cy="1333500"/>
            </a:xfrm>
            <a:prstGeom prst="roundRect">
              <a:avLst>
                <a:gd name="adj" fmla="val 50000"/>
              </a:avLst>
            </a:prstGeom>
            <a:solidFill>
              <a:schemeClr val="accent5"/>
            </a:solidFill>
            <a:ln>
              <a:noFill/>
            </a:ln>
          </p:spPr>
        </p:sp>
        <p:sp>
          <p:nvSpPr>
            <p:cNvPr id="14" name="TextBox 14"/>
            <p:cNvSpPr txBox="1"/>
            <p:nvPr/>
          </p:nvSpPr>
          <p:spPr>
            <a:xfrm>
              <a:off x="5938647" y="1761649"/>
              <a:ext cx="2427552"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SAME SKILL, DIFFERENT OBJECT</a:t>
              </a:r>
            </a:p>
          </p:txBody>
        </p:sp>
        <p:sp>
          <p:nvSpPr>
            <p:cNvPr id="15" name="TextBox 15"/>
            <p:cNvSpPr txBox="1"/>
            <p:nvPr/>
          </p:nvSpPr>
          <p:spPr>
            <a:xfrm>
              <a:off x="5937123" y="2034064"/>
              <a:ext cx="477453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The target objects differ, but the skill required and the</a:t>
              </a:r>
            </a:p>
          </p:txBody>
        </p:sp>
        <p:sp>
          <p:nvSpPr>
            <p:cNvPr id="16" name="TextBox 16"/>
            <p:cNvSpPr txBox="1"/>
            <p:nvPr/>
          </p:nvSpPr>
          <p:spPr>
            <a:xfrm>
              <a:off x="5937123" y="2262664"/>
              <a:ext cx="464819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functional change from the start state to the goal are</a:t>
              </a:r>
            </a:p>
          </p:txBody>
        </p:sp>
        <p:sp>
          <p:nvSpPr>
            <p:cNvPr id="17" name="TextBox 17"/>
            <p:cNvSpPr txBox="1"/>
            <p:nvPr/>
          </p:nvSpPr>
          <p:spPr>
            <a:xfrm>
              <a:off x="5937123" y="2491264"/>
              <a:ext cx="182224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essentially the same.</a:t>
              </a:r>
            </a:p>
          </p:txBody>
        </p:sp>
      </p:grpSp>
      <p:grpSp>
        <p:nvGrpSpPr>
          <p:cNvPr id="30" name="Group 30"/>
          <p:cNvGrpSpPr/>
          <p:nvPr/>
        </p:nvGrpSpPr>
        <p:grpSpPr>
          <a:xfrm>
            <a:off x="5676900" y="2990850"/>
            <a:ext cx="5943600" cy="1428750"/>
            <a:chOff x="5676900" y="2990850"/>
            <a:chExt cx="5943600" cy="1428750"/>
          </a:xfrm>
        </p:grpSpPr>
        <p:sp>
          <p:nvSpPr>
            <p:cNvPr id="19" name="Rectangle 19"/>
            <p:cNvSpPr/>
            <p:nvPr/>
          </p:nvSpPr>
          <p:spPr>
            <a:xfrm>
              <a:off x="5676900" y="2990850"/>
              <a:ext cx="5943600" cy="1428750"/>
            </a:xfrm>
            <a:prstGeom prst="roundRect">
              <a:avLst>
                <a:gd name="adj" fmla="val 8000"/>
              </a:avLst>
            </a:prstGeom>
            <a:solidFill>
              <a:schemeClr val="lt1"/>
            </a:solidFill>
            <a:ln w="14288">
              <a:solidFill>
                <a:schemeClr val="accent4"/>
              </a:solidFill>
            </a:ln>
          </p:spPr>
        </p:sp>
        <p:sp>
          <p:nvSpPr>
            <p:cNvPr id="20" name="Rectangle 20"/>
            <p:cNvSpPr/>
            <p:nvPr/>
          </p:nvSpPr>
          <p:spPr>
            <a:xfrm>
              <a:off x="5676900" y="2990850"/>
              <a:ext cx="57150" cy="1428750"/>
            </a:xfrm>
            <a:prstGeom prst="roundRect">
              <a:avLst>
                <a:gd name="adj" fmla="val 50000"/>
              </a:avLst>
            </a:prstGeom>
            <a:solidFill>
              <a:schemeClr val="accent2"/>
            </a:solidFill>
            <a:ln>
              <a:noFill/>
            </a:ln>
          </p:spPr>
        </p:sp>
        <p:sp>
          <p:nvSpPr>
            <p:cNvPr id="21" name="TextBox 21"/>
            <p:cNvSpPr txBox="1"/>
            <p:nvPr/>
          </p:nvSpPr>
          <p:spPr>
            <a:xfrm>
              <a:off x="5938647" y="3247549"/>
              <a:ext cx="2070196"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THE RIGHT REPRESENTATION</a:t>
              </a:r>
            </a:p>
          </p:txBody>
        </p:sp>
        <p:sp>
          <p:nvSpPr>
            <p:cNvPr id="22" name="Rectangle 22"/>
            <p:cNvSpPr/>
            <p:nvPr/>
          </p:nvSpPr>
          <p:spPr>
            <a:xfrm>
              <a:off x="5943600" y="3505200"/>
              <a:ext cx="2647950" cy="723900"/>
            </a:xfrm>
            <a:prstGeom prst="roundRect">
              <a:avLst>
                <a:gd name="adj" fmla="val 10526"/>
              </a:avLst>
            </a:prstGeom>
            <a:solidFill>
              <a:schemeClr val="lt2"/>
            </a:solidFill>
            <a:ln>
              <a:noFill/>
            </a:ln>
          </p:spPr>
        </p:sp>
        <p:sp>
          <p:nvSpPr>
            <p:cNvPr id="23" name="TextBox 23"/>
            <p:cNvSpPr txBox="1"/>
            <p:nvPr/>
          </p:nvSpPr>
          <p:spPr>
            <a:xfrm>
              <a:off x="6127623" y="3634264"/>
              <a:ext cx="883918"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j-lt"/>
                  <a:ea typeface="+mj-ea"/>
                  <a:cs typeface="+mj-cs"/>
                </a:rPr>
                <a:t>Invariant</a:t>
              </a:r>
            </a:p>
          </p:txBody>
        </p:sp>
        <p:sp>
          <p:nvSpPr>
            <p:cNvPr id="24" name="TextBox 24"/>
            <p:cNvSpPr txBox="1"/>
            <p:nvPr/>
          </p:nvSpPr>
          <p:spPr>
            <a:xfrm>
              <a:off x="6128766" y="3906202"/>
              <a:ext cx="143124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 irrelevant details</a:t>
              </a:r>
            </a:p>
          </p:txBody>
        </p:sp>
        <p:sp>
          <p:nvSpPr>
            <p:cNvPr id="25" name="TextBox 25"/>
            <p:cNvSpPr txBox="1"/>
            <p:nvPr/>
          </p:nvSpPr>
          <p:spPr>
            <a:xfrm>
              <a:off x="6128766" y="4077652"/>
              <a:ext cx="15372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(color, distractors).</a:t>
              </a:r>
            </a:p>
          </p:txBody>
        </p:sp>
        <p:sp>
          <p:nvSpPr>
            <p:cNvPr id="26" name="Rectangle 26"/>
            <p:cNvSpPr/>
            <p:nvPr/>
          </p:nvSpPr>
          <p:spPr>
            <a:xfrm>
              <a:off x="8705850" y="3505200"/>
              <a:ext cx="2647950" cy="723900"/>
            </a:xfrm>
            <a:prstGeom prst="roundRect">
              <a:avLst>
                <a:gd name="adj" fmla="val 10526"/>
              </a:avLst>
            </a:prstGeom>
            <a:solidFill>
              <a:srgbClr val="EAEFFC"/>
            </a:solidFill>
            <a:ln>
              <a:noFill/>
            </a:ln>
          </p:spPr>
        </p:sp>
        <p:sp>
          <p:nvSpPr>
            <p:cNvPr id="27" name="TextBox 27"/>
            <p:cNvSpPr txBox="1"/>
            <p:nvPr/>
          </p:nvSpPr>
          <p:spPr>
            <a:xfrm>
              <a:off x="8889873" y="3634264"/>
              <a:ext cx="1094619"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j-lt"/>
                  <a:ea typeface="+mj-ea"/>
                  <a:cs typeface="+mj-cs"/>
                </a:rPr>
                <a:t>Equivariant</a:t>
              </a:r>
            </a:p>
          </p:txBody>
        </p:sp>
        <p:sp>
          <p:nvSpPr>
            <p:cNvPr id="28" name="TextBox 28"/>
            <p:cNvSpPr txBox="1"/>
            <p:nvPr/>
          </p:nvSpPr>
          <p:spPr>
            <a:xfrm>
              <a:off x="8891016" y="3906202"/>
              <a:ext cx="17351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 the factors that vary</a:t>
              </a:r>
            </a:p>
          </p:txBody>
        </p:sp>
        <p:sp>
          <p:nvSpPr>
            <p:cNvPr id="29" name="TextBox 29"/>
            <p:cNvSpPr txBox="1"/>
            <p:nvPr/>
          </p:nvSpPr>
          <p:spPr>
            <a:xfrm>
              <a:off x="8891016" y="4077652"/>
              <a:ext cx="179875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between analogous tasks.</a:t>
              </a:r>
            </a:p>
          </p:txBody>
        </p:sp>
      </p:grpSp>
      <p:grpSp>
        <p:nvGrpSpPr>
          <p:cNvPr id="37" name="Group 37"/>
          <p:cNvGrpSpPr/>
          <p:nvPr/>
        </p:nvGrpSpPr>
        <p:grpSpPr>
          <a:xfrm>
            <a:off x="5676900" y="4572000"/>
            <a:ext cx="5943600" cy="1447800"/>
            <a:chOff x="5676900" y="4572000"/>
            <a:chExt cx="5943600" cy="1447800"/>
          </a:xfrm>
        </p:grpSpPr>
        <p:sp>
          <p:nvSpPr>
            <p:cNvPr id="31" name="Rectangle 31"/>
            <p:cNvSpPr/>
            <p:nvPr/>
          </p:nvSpPr>
          <p:spPr>
            <a:xfrm>
              <a:off x="5676900" y="4572000"/>
              <a:ext cx="5943600" cy="1447800"/>
            </a:xfrm>
            <a:prstGeom prst="roundRect">
              <a:avLst>
                <a:gd name="adj" fmla="val 7895"/>
              </a:avLst>
            </a:prstGeom>
            <a:solidFill>
              <a:schemeClr val="lt1"/>
            </a:solidFill>
            <a:ln w="14288">
              <a:solidFill>
                <a:schemeClr val="accent4"/>
              </a:solidFill>
            </a:ln>
          </p:spPr>
        </p:sp>
        <p:sp>
          <p:nvSpPr>
            <p:cNvPr id="32" name="Rectangle 32"/>
            <p:cNvSpPr/>
            <p:nvPr/>
          </p:nvSpPr>
          <p:spPr>
            <a:xfrm>
              <a:off x="5676900" y="4572000"/>
              <a:ext cx="57150" cy="1447800"/>
            </a:xfrm>
            <a:prstGeom prst="roundRect">
              <a:avLst>
                <a:gd name="adj" fmla="val 50000"/>
              </a:avLst>
            </a:prstGeom>
            <a:solidFill>
              <a:srgbClr val="2F9E68"/>
            </a:solidFill>
            <a:ln>
              <a:noFill/>
            </a:ln>
          </p:spPr>
        </p:sp>
        <p:sp>
          <p:nvSpPr>
            <p:cNvPr id="33" name="TextBox 33"/>
            <p:cNvSpPr txBox="1"/>
            <p:nvPr/>
          </p:nvSpPr>
          <p:spPr>
            <a:xfrm>
              <a:off x="5938647" y="4828699"/>
              <a:ext cx="1406710" cy="190690"/>
            </a:xfrm>
            <a:prstGeom prst="rect">
              <a:avLst/>
            </a:prstGeom>
            <a:noFill/>
            <a:ln>
              <a:noFill/>
            </a:ln>
          </p:spPr>
          <p:txBody>
            <a:bodyPr wrap="none" lIns="0" tIns="0" rIns="0" bIns="0" anchor="t" anchorCtr="0">
              <a:spAutoFit/>
            </a:bodyPr>
            <a:lstStyle/>
            <a:p>
              <a:pPr algn="l"/>
              <a:r>
                <a:rPr lang="en-US" sz="980" b="1" spc="75" dirty="0">
                  <a:solidFill>
                    <a:srgbClr val="2F9E68"/>
                  </a:solidFill>
                  <a:latin typeface="+mn-lt"/>
                  <a:ea typeface="+mn-ea"/>
                  <a:cs typeface="+mn-cs"/>
                </a:rPr>
                <a:t>THE GAP WE CLOSE</a:t>
              </a:r>
            </a:p>
          </p:txBody>
        </p:sp>
        <p:sp>
          <p:nvSpPr>
            <p:cNvPr id="34" name="TextBox 34"/>
            <p:cNvSpPr txBox="1"/>
            <p:nvPr/>
          </p:nvSpPr>
          <p:spPr>
            <a:xfrm>
              <a:off x="5937123" y="5101114"/>
              <a:ext cx="517053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Prior bisimulation metrics learned representations robust to</a:t>
              </a:r>
            </a:p>
          </p:txBody>
        </p:sp>
        <p:sp>
          <p:nvSpPr>
            <p:cNvPr id="35" name="TextBox 35"/>
            <p:cNvSpPr txBox="1"/>
            <p:nvPr/>
          </p:nvSpPr>
          <p:spPr>
            <a:xfrm>
              <a:off x="5937123" y="5329714"/>
              <a:ext cx="395893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visual distractors — but only for a single task.</a:t>
              </a:r>
            </a:p>
          </p:txBody>
        </p:sp>
        <p:sp>
          <p:nvSpPr>
            <p:cNvPr id="36" name="TextBox 36"/>
            <p:cNvSpPr txBox="1"/>
            <p:nvPr/>
          </p:nvSpPr>
          <p:spPr>
            <a:xfrm>
              <a:off x="5937123" y="5634514"/>
              <a:ext cx="5122306" cy="249364"/>
            </a:xfrm>
            <a:prstGeom prst="rect">
              <a:avLst/>
            </a:prstGeom>
            <a:noFill/>
            <a:ln>
              <a:noFill/>
            </a:ln>
          </p:spPr>
          <p:txBody>
            <a:bodyPr wrap="none" lIns="0" tIns="0" rIns="0" bIns="0" anchor="t" anchorCtr="0">
              <a:spAutoFit/>
            </a:bodyPr>
            <a:lstStyle/>
            <a:p>
              <a:pPr algn="l"/>
              <a:r>
                <a:rPr lang="en-US" sz="1280" b="1" dirty="0">
                  <a:solidFill>
                    <a:srgbClr val="2F9E68"/>
                  </a:solidFill>
                  <a:latin typeface="+mj-lt"/>
                  <a:ea typeface="+mj-ea"/>
                  <a:cs typeface="+mj-cs"/>
                </a:rPr>
                <a:t>We lift that idea to whole families of analogous tasks.</a:t>
              </a:r>
            </a:p>
          </p:txBody>
        </p:sp>
      </p:grpSp>
      <p:grpSp>
        <p:nvGrpSpPr>
          <p:cNvPr id="40" name="Group 40"/>
          <p:cNvGrpSpPr/>
          <p:nvPr/>
        </p:nvGrpSpPr>
        <p:grpSpPr>
          <a:xfrm>
            <a:off x="566738" y="6597491"/>
            <a:ext cx="11058524" cy="161925"/>
            <a:chOff x="566738" y="6597491"/>
            <a:chExt cx="11058524" cy="161925"/>
          </a:xfrm>
        </p:grpSpPr>
        <p:sp>
          <p:nvSpPr>
            <p:cNvPr id="38" name="TextBox 38"/>
            <p:cNvSpPr txBox="1"/>
            <p:nvPr/>
          </p:nvSpPr>
          <p:spPr>
            <a:xfrm>
              <a:off x="566738" y="6597491"/>
              <a:ext cx="2239922"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Goal-Conditioned Bisimulation · ICML 2022</a:t>
              </a:r>
            </a:p>
          </p:txBody>
        </p:sp>
        <p:sp>
          <p:nvSpPr>
            <p:cNvPr id="39" name="TextBox 39"/>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03</a:t>
              </a:r>
            </a:p>
          </p:txBody>
        </p:sp>
      </p:grpSp>
      <p:sp>
        <p:nvSpPr>
          <p:cNvPr id="41" name="cue_s03_c1_consider_dicing_carrot_versus_radish" title="cue_s03_c1_consider_dicing_carrot_versus_radish" descr="cue_s03_c1_consider_dicing_carrot_versus_radish Consider dicing a carrot versus a radish."/>
          <p:cNvSpPr/>
          <p:nvPr/>
        </p:nvSpPr>
        <p:spPr>
          <a:xfrm>
            <a:off x="571804" y="1504645"/>
            <a:ext cx="5321808" cy="4514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3_c2_objects_differ_but_skill_change" title="cue_s03_c2_objects_differ_but_skill_change" descr="cue_s03_c2_objects_differ_but_skill_change The objects differ, but the skill and the change from start to goal are the same."/>
          <p:cNvSpPr/>
          <p:nvPr/>
        </p:nvSpPr>
        <p:spPr>
          <a:xfrm>
            <a:off x="5676595" y="1504645"/>
            <a:ext cx="59436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3_c3_good_representations_invariant_irrel" title="cue_s03_c3_good_representations_invariant_irrel" descr="cue_s03_c3_good_representations_invariant_irrel Good representations are invariant to irrelevant details and equivariant to what varies."/>
          <p:cNvSpPr/>
          <p:nvPr/>
        </p:nvSpPr>
        <p:spPr>
          <a:xfrm>
            <a:off x="5676595" y="2990773"/>
            <a:ext cx="59436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3_c4_prior_bisimulation_handled_distracto" title="cue_s03_c4_prior_bisimulation_handled_distracto" descr="cue_s03_c4_prior_bisimulation_handled_distracto Prior bisimulation handled distractors for one task; we lift it to families of tasks."/>
          <p:cNvSpPr/>
          <p:nvPr/>
        </p:nvSpPr>
        <p:spPr>
          <a:xfrm>
            <a:off x="5676595" y="4572228"/>
            <a:ext cx="5943600"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5430898" cy="656939"/>
            <a:chOff x="571500" y="533400"/>
            <a:chExt cx="5430898"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5215252"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What the paper contributes</a:t>
              </a:r>
            </a:p>
          </p:txBody>
        </p:sp>
        <p:sp>
          <p:nvSpPr>
            <p:cNvPr id="4" name="TextBox 4"/>
            <p:cNvSpPr txBox="1"/>
            <p:nvPr/>
          </p:nvSpPr>
          <p:spPr>
            <a:xfrm>
              <a:off x="795147" y="999649"/>
              <a:ext cx="4617963"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CONTRIBUTION · GOAL-CONDITIONED BISIMULATION (GCB)</a:t>
              </a:r>
            </a:p>
          </p:txBody>
        </p:sp>
      </p:grpSp>
      <p:grpSp>
        <p:nvGrpSpPr>
          <p:cNvPr id="10" name="Group 10"/>
          <p:cNvGrpSpPr/>
          <p:nvPr/>
        </p:nvGrpSpPr>
        <p:grpSpPr>
          <a:xfrm>
            <a:off x="571500" y="1504950"/>
            <a:ext cx="11049000" cy="914400"/>
            <a:chOff x="571500" y="1504950"/>
            <a:chExt cx="11049000" cy="914400"/>
          </a:xfrm>
        </p:grpSpPr>
        <p:sp>
          <p:nvSpPr>
            <p:cNvPr id="6" name="Rectangle 6"/>
            <p:cNvSpPr/>
            <p:nvPr/>
          </p:nvSpPr>
          <p:spPr>
            <a:xfrm>
              <a:off x="571500" y="1504950"/>
              <a:ext cx="11049000" cy="914400"/>
            </a:xfrm>
            <a:prstGeom prst="roundRect">
              <a:avLst>
                <a:gd name="adj" fmla="val 12500"/>
              </a:avLst>
            </a:prstGeom>
            <a:solidFill>
              <a:schemeClr val="accent1"/>
            </a:solidFill>
            <a:ln>
              <a:noFill/>
            </a:ln>
          </p:spPr>
        </p:sp>
        <p:sp>
          <p:nvSpPr>
            <p:cNvPr id="7" name="TextBox 7"/>
            <p:cNvSpPr txBox="1"/>
            <p:nvPr/>
          </p:nvSpPr>
          <p:spPr>
            <a:xfrm>
              <a:off x="871347" y="1799749"/>
              <a:ext cx="1872240" cy="190690"/>
            </a:xfrm>
            <a:prstGeom prst="rect">
              <a:avLst/>
            </a:prstGeom>
            <a:noFill/>
            <a:ln>
              <a:noFill/>
            </a:ln>
          </p:spPr>
          <p:txBody>
            <a:bodyPr wrap="none" lIns="0" tIns="0" rIns="0" bIns="0" anchor="t" anchorCtr="0">
              <a:spAutoFit/>
            </a:bodyPr>
            <a:lstStyle/>
            <a:p>
              <a:pPr algn="l"/>
              <a:r>
                <a:rPr lang="en-US" sz="980" b="1" spc="150" dirty="0">
                  <a:solidFill>
                    <a:schemeClr val="accent3"/>
                  </a:solidFill>
                  <a:latin typeface="+mn-lt"/>
                  <a:ea typeface="+mn-ea"/>
                  <a:cs typeface="+mn-cs"/>
                </a:rPr>
                <a:t>THREE CONTRIBUTIONS</a:t>
              </a:r>
            </a:p>
          </p:txBody>
        </p:sp>
        <p:sp>
          <p:nvSpPr>
            <p:cNvPr id="8" name="TextBox 8"/>
            <p:cNvSpPr txBox="1"/>
            <p:nvPr/>
          </p:nvSpPr>
          <p:spPr>
            <a:xfrm>
              <a:off x="867156" y="2034540"/>
              <a:ext cx="8940570"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A new abstraction, a way to learn it, and a proof that it is enough.</a:t>
              </a:r>
            </a:p>
          </p:txBody>
        </p:sp>
        <p:sp>
          <p:nvSpPr>
            <p:cNvPr id="9" name="TextBox 9"/>
            <p:cNvSpPr txBox="1"/>
            <p:nvPr/>
          </p:nvSpPr>
          <p:spPr>
            <a:xfrm>
              <a:off x="10976290" y="1636395"/>
              <a:ext cx="358460" cy="762000"/>
            </a:xfrm>
            <a:prstGeom prst="rect">
              <a:avLst/>
            </a:prstGeom>
            <a:noFill/>
            <a:ln>
              <a:noFill/>
            </a:ln>
          </p:spPr>
          <p:txBody>
            <a:bodyPr wrap="none" lIns="0" tIns="0" rIns="0" bIns="0" anchor="t" anchorCtr="0">
              <a:spAutoFit/>
            </a:bodyPr>
            <a:lstStyle/>
            <a:p>
              <a:pPr algn="r"/>
              <a:r>
                <a:rPr lang="en-US" sz="3900" b="1" dirty="0">
                  <a:solidFill>
                    <a:schemeClr val="accent2"/>
                  </a:solidFill>
                  <a:latin typeface="+mj-lt"/>
                  <a:ea typeface="+mj-ea"/>
                  <a:cs typeface="+mj-cs"/>
                </a:rPr>
                <a:t>3</a:t>
              </a:r>
            </a:p>
          </p:txBody>
        </p:sp>
      </p:grpSp>
      <p:grpSp>
        <p:nvGrpSpPr>
          <p:cNvPr id="25" name="Group 25"/>
          <p:cNvGrpSpPr/>
          <p:nvPr/>
        </p:nvGrpSpPr>
        <p:grpSpPr>
          <a:xfrm>
            <a:off x="571500" y="2686050"/>
            <a:ext cx="3552825" cy="3333750"/>
            <a:chOff x="571500" y="2686050"/>
            <a:chExt cx="3552825" cy="3333750"/>
          </a:xfrm>
        </p:grpSpPr>
        <p:sp>
          <p:nvSpPr>
            <p:cNvPr id="11" name="Rectangle 11"/>
            <p:cNvSpPr/>
            <p:nvPr/>
          </p:nvSpPr>
          <p:spPr>
            <a:xfrm>
              <a:off x="571500" y="2686050"/>
              <a:ext cx="3552825" cy="3333750"/>
            </a:xfrm>
            <a:prstGeom prst="roundRect">
              <a:avLst>
                <a:gd name="adj" fmla="val 3429"/>
              </a:avLst>
            </a:prstGeom>
            <a:solidFill>
              <a:schemeClr val="lt1"/>
            </a:solidFill>
            <a:ln w="14288">
              <a:solidFill>
                <a:schemeClr val="accent4"/>
              </a:solidFill>
            </a:ln>
          </p:spPr>
        </p:sp>
        <p:sp>
          <p:nvSpPr>
            <p:cNvPr id="12" name="Rectangle 12"/>
            <p:cNvSpPr/>
            <p:nvPr/>
          </p:nvSpPr>
          <p:spPr>
            <a:xfrm>
              <a:off x="571500" y="2686050"/>
              <a:ext cx="3552825" cy="57150"/>
            </a:xfrm>
            <a:prstGeom prst="roundRect">
              <a:avLst>
                <a:gd name="adj" fmla="val 50000"/>
              </a:avLst>
            </a:prstGeom>
            <a:solidFill>
              <a:schemeClr val="accent2"/>
            </a:solidFill>
            <a:ln>
              <a:noFill/>
            </a:ln>
          </p:spPr>
        </p:sp>
        <p:sp>
          <p:nvSpPr>
            <p:cNvPr id="13" name="Ellipse 13"/>
            <p:cNvSpPr/>
            <p:nvPr/>
          </p:nvSpPr>
          <p:spPr>
            <a:xfrm>
              <a:off x="742950" y="2952750"/>
              <a:ext cx="381000" cy="381000"/>
            </a:xfrm>
            <a:prstGeom prst="ellipse">
              <a:avLst/>
            </a:prstGeom>
            <a:solidFill>
              <a:srgbClr val="EAEFFC"/>
            </a:solidFill>
            <a:ln>
              <a:noFill/>
            </a:ln>
          </p:spPr>
        </p:sp>
        <p:sp>
          <p:nvSpPr>
            <p:cNvPr id="14" name="TextBox 14"/>
            <p:cNvSpPr txBox="1"/>
            <p:nvPr/>
          </p:nvSpPr>
          <p:spPr>
            <a:xfrm>
              <a:off x="864222" y="3048000"/>
              <a:ext cx="138455"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j-lt"/>
                  <a:ea typeface="+mj-ea"/>
                  <a:cs typeface="+mj-cs"/>
                </a:rPr>
                <a:t>1</a:t>
              </a:r>
            </a:p>
          </p:txBody>
        </p:sp>
        <p:sp>
          <p:nvSpPr>
            <p:cNvPr id="15" name="TextBox 15"/>
            <p:cNvSpPr txBox="1"/>
            <p:nvPr/>
          </p:nvSpPr>
          <p:spPr>
            <a:xfrm>
              <a:off x="1249299" y="3039904"/>
              <a:ext cx="1308252"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Define GCB</a:t>
              </a:r>
            </a:p>
          </p:txBody>
        </p:sp>
        <p:sp>
          <p:nvSpPr>
            <p:cNvPr id="16" name="Line 16"/>
            <p:cNvSpPr/>
            <p:nvPr/>
          </p:nvSpPr>
          <p:spPr>
            <a:xfrm>
              <a:off x="800100" y="3448050"/>
              <a:ext cx="3095625" cy="9525"/>
            </a:xfrm>
            <a:custGeom>
              <a:avLst/>
              <a:gdLst/>
              <a:ahLst/>
              <a:cxnLst/>
              <a:rect l="l" t="t" r="r" b="b"/>
              <a:pathLst>
                <a:path w="3095625" h="9525">
                  <a:moveTo>
                    <a:pt x="0" y="0"/>
                  </a:moveTo>
                  <a:lnTo>
                    <a:pt x="3095625" y="0"/>
                  </a:lnTo>
                </a:path>
              </a:pathLst>
            </a:custGeom>
            <a:noFill/>
            <a:ln w="14288">
              <a:solidFill>
                <a:schemeClr val="accent4"/>
              </a:solidFill>
            </a:ln>
          </p:spPr>
        </p:sp>
        <p:sp>
          <p:nvSpPr>
            <p:cNvPr id="17" name="TextBox 17"/>
            <p:cNvSpPr txBox="1"/>
            <p:nvPr/>
          </p:nvSpPr>
          <p:spPr>
            <a:xfrm>
              <a:off x="794004" y="3642360"/>
              <a:ext cx="233581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 new state abstraction that</a:t>
              </a:r>
            </a:p>
          </p:txBody>
        </p:sp>
        <p:sp>
          <p:nvSpPr>
            <p:cNvPr id="18" name="TextBox 18"/>
            <p:cNvSpPr txBox="1"/>
            <p:nvPr/>
          </p:nvSpPr>
          <p:spPr>
            <a:xfrm>
              <a:off x="794004" y="3851910"/>
              <a:ext cx="237881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groups state-goal pairs which</a:t>
              </a:r>
            </a:p>
          </p:txBody>
        </p:sp>
        <p:sp>
          <p:nvSpPr>
            <p:cNvPr id="19" name="TextBox 19"/>
            <p:cNvSpPr txBox="1"/>
            <p:nvPr/>
          </p:nvSpPr>
          <p:spPr>
            <a:xfrm>
              <a:off x="794004" y="4061460"/>
              <a:ext cx="162763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behave equivalently.</a:t>
              </a:r>
            </a:p>
          </p:txBody>
        </p:sp>
        <p:sp>
          <p:nvSpPr>
            <p:cNvPr id="20" name="Rectangle 20"/>
            <p:cNvSpPr/>
            <p:nvPr/>
          </p:nvSpPr>
          <p:spPr>
            <a:xfrm>
              <a:off x="800100" y="4438650"/>
              <a:ext cx="3095625" cy="1333500"/>
            </a:xfrm>
            <a:prstGeom prst="roundRect">
              <a:avLst>
                <a:gd name="adj" fmla="val 5714"/>
              </a:avLst>
            </a:prstGeom>
            <a:solidFill>
              <a:schemeClr val="lt2"/>
            </a:solidFill>
            <a:ln>
              <a:noFill/>
            </a:ln>
          </p:spPr>
        </p:sp>
        <p:sp>
          <p:nvSpPr>
            <p:cNvPr id="21" name="TextBox 21"/>
            <p:cNvSpPr txBox="1"/>
            <p:nvPr/>
          </p:nvSpPr>
          <p:spPr>
            <a:xfrm>
              <a:off x="985647" y="4657249"/>
              <a:ext cx="728588"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CAPTURES</a:t>
              </a:r>
            </a:p>
          </p:txBody>
        </p:sp>
        <p:sp>
          <p:nvSpPr>
            <p:cNvPr id="22" name="TextBox 22"/>
            <p:cNvSpPr txBox="1"/>
            <p:nvPr/>
          </p:nvSpPr>
          <p:spPr>
            <a:xfrm>
              <a:off x="982980" y="4905375"/>
              <a:ext cx="115938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Functional</a:t>
              </a:r>
            </a:p>
          </p:txBody>
        </p:sp>
        <p:sp>
          <p:nvSpPr>
            <p:cNvPr id="23" name="TextBox 23"/>
            <p:cNvSpPr txBox="1"/>
            <p:nvPr/>
          </p:nvSpPr>
          <p:spPr>
            <a:xfrm>
              <a:off x="982980" y="5153025"/>
              <a:ext cx="138181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equivariance</a:t>
              </a:r>
            </a:p>
          </p:txBody>
        </p:sp>
        <p:sp>
          <p:nvSpPr>
            <p:cNvPr id="24" name="TextBox 24"/>
            <p:cNvSpPr txBox="1"/>
            <p:nvPr/>
          </p:nvSpPr>
          <p:spPr>
            <a:xfrm>
              <a:off x="985266" y="5468302"/>
              <a:ext cx="16927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across analogous tasks.</a:t>
              </a:r>
            </a:p>
          </p:txBody>
        </p:sp>
      </p:grpSp>
      <p:grpSp>
        <p:nvGrpSpPr>
          <p:cNvPr id="40" name="Group 40"/>
          <p:cNvGrpSpPr/>
          <p:nvPr/>
        </p:nvGrpSpPr>
        <p:grpSpPr>
          <a:xfrm>
            <a:off x="4324350" y="2686050"/>
            <a:ext cx="3552825" cy="3333750"/>
            <a:chOff x="4324350" y="2686050"/>
            <a:chExt cx="3552825" cy="3333750"/>
          </a:xfrm>
        </p:grpSpPr>
        <p:sp>
          <p:nvSpPr>
            <p:cNvPr id="26" name="Rectangle 26"/>
            <p:cNvSpPr/>
            <p:nvPr/>
          </p:nvSpPr>
          <p:spPr>
            <a:xfrm>
              <a:off x="4324350" y="2686050"/>
              <a:ext cx="3552825" cy="3333750"/>
            </a:xfrm>
            <a:prstGeom prst="roundRect">
              <a:avLst>
                <a:gd name="adj" fmla="val 3429"/>
              </a:avLst>
            </a:prstGeom>
            <a:solidFill>
              <a:schemeClr val="lt1"/>
            </a:solidFill>
            <a:ln w="14288">
              <a:solidFill>
                <a:schemeClr val="accent4"/>
              </a:solidFill>
            </a:ln>
          </p:spPr>
        </p:sp>
        <p:sp>
          <p:nvSpPr>
            <p:cNvPr id="27" name="Rectangle 27"/>
            <p:cNvSpPr/>
            <p:nvPr/>
          </p:nvSpPr>
          <p:spPr>
            <a:xfrm>
              <a:off x="4324350" y="2686050"/>
              <a:ext cx="3552825" cy="57150"/>
            </a:xfrm>
            <a:prstGeom prst="roundRect">
              <a:avLst>
                <a:gd name="adj" fmla="val 50000"/>
              </a:avLst>
            </a:prstGeom>
            <a:solidFill>
              <a:schemeClr val="accent5"/>
            </a:solidFill>
            <a:ln>
              <a:noFill/>
            </a:ln>
          </p:spPr>
        </p:sp>
        <p:sp>
          <p:nvSpPr>
            <p:cNvPr id="28" name="Ellipse 28"/>
            <p:cNvSpPr/>
            <p:nvPr/>
          </p:nvSpPr>
          <p:spPr>
            <a:xfrm>
              <a:off x="4495800" y="2952750"/>
              <a:ext cx="381000" cy="381000"/>
            </a:xfrm>
            <a:prstGeom prst="ellipse">
              <a:avLst/>
            </a:prstGeom>
            <a:solidFill>
              <a:srgbClr val="FCEEDF"/>
            </a:solidFill>
            <a:ln>
              <a:noFill/>
            </a:ln>
          </p:spPr>
        </p:sp>
        <p:sp>
          <p:nvSpPr>
            <p:cNvPr id="29" name="TextBox 29"/>
            <p:cNvSpPr txBox="1"/>
            <p:nvPr/>
          </p:nvSpPr>
          <p:spPr>
            <a:xfrm>
              <a:off x="4617072" y="3048000"/>
              <a:ext cx="138455" cy="293370"/>
            </a:xfrm>
            <a:prstGeom prst="rect">
              <a:avLst/>
            </a:prstGeom>
            <a:noFill/>
            <a:ln>
              <a:noFill/>
            </a:ln>
          </p:spPr>
          <p:txBody>
            <a:bodyPr wrap="none" lIns="0" tIns="0" rIns="0" bIns="0" anchor="t" anchorCtr="0">
              <a:spAutoFit/>
            </a:bodyPr>
            <a:lstStyle/>
            <a:p>
              <a:pPr algn="ctr"/>
              <a:r>
                <a:rPr lang="en-US" sz="1500" b="1" dirty="0">
                  <a:solidFill>
                    <a:schemeClr val="accent5"/>
                  </a:solidFill>
                  <a:latin typeface="+mj-lt"/>
                  <a:ea typeface="+mj-ea"/>
                  <a:cs typeface="+mj-cs"/>
                </a:rPr>
                <a:t>2</a:t>
              </a:r>
            </a:p>
          </p:txBody>
        </p:sp>
        <p:sp>
          <p:nvSpPr>
            <p:cNvPr id="30" name="TextBox 30"/>
            <p:cNvSpPr txBox="1"/>
            <p:nvPr/>
          </p:nvSpPr>
          <p:spPr>
            <a:xfrm>
              <a:off x="5002149" y="3039904"/>
              <a:ext cx="2134225"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Learn it by metric</a:t>
              </a:r>
            </a:p>
          </p:txBody>
        </p:sp>
        <p:sp>
          <p:nvSpPr>
            <p:cNvPr id="31" name="Line 31"/>
            <p:cNvSpPr/>
            <p:nvPr/>
          </p:nvSpPr>
          <p:spPr>
            <a:xfrm>
              <a:off x="4552950" y="3448050"/>
              <a:ext cx="3095625" cy="9525"/>
            </a:xfrm>
            <a:custGeom>
              <a:avLst/>
              <a:gdLst/>
              <a:ahLst/>
              <a:cxnLst/>
              <a:rect l="l" t="t" r="r" b="b"/>
              <a:pathLst>
                <a:path w="3095625" h="9525">
                  <a:moveTo>
                    <a:pt x="0" y="0"/>
                  </a:moveTo>
                  <a:lnTo>
                    <a:pt x="3095625" y="0"/>
                  </a:lnTo>
                </a:path>
              </a:pathLst>
            </a:custGeom>
            <a:noFill/>
            <a:ln w="14288">
              <a:solidFill>
                <a:schemeClr val="accent4"/>
              </a:solidFill>
            </a:ln>
          </p:spPr>
        </p:sp>
        <p:sp>
          <p:nvSpPr>
            <p:cNvPr id="32" name="TextBox 32"/>
            <p:cNvSpPr txBox="1"/>
            <p:nvPr/>
          </p:nvSpPr>
          <p:spPr>
            <a:xfrm>
              <a:off x="4546854" y="3642360"/>
              <a:ext cx="216579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 practical metric-learning</a:t>
              </a:r>
            </a:p>
          </p:txBody>
        </p:sp>
        <p:sp>
          <p:nvSpPr>
            <p:cNvPr id="33" name="TextBox 33"/>
            <p:cNvSpPr txBox="1"/>
            <p:nvPr/>
          </p:nvSpPr>
          <p:spPr>
            <a:xfrm>
              <a:off x="4546854" y="3851910"/>
              <a:ext cx="257266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objective learns the abstraction</a:t>
              </a:r>
            </a:p>
          </p:txBody>
        </p:sp>
        <p:sp>
          <p:nvSpPr>
            <p:cNvPr id="34" name="TextBox 34"/>
            <p:cNvSpPr txBox="1"/>
            <p:nvPr/>
          </p:nvSpPr>
          <p:spPr>
            <a:xfrm>
              <a:off x="4546854" y="4061460"/>
              <a:ext cx="166801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directly from pixels.</a:t>
              </a:r>
            </a:p>
          </p:txBody>
        </p:sp>
        <p:sp>
          <p:nvSpPr>
            <p:cNvPr id="35" name="Rectangle 35"/>
            <p:cNvSpPr/>
            <p:nvPr/>
          </p:nvSpPr>
          <p:spPr>
            <a:xfrm>
              <a:off x="4552950" y="4438650"/>
              <a:ext cx="3095625" cy="1333500"/>
            </a:xfrm>
            <a:prstGeom prst="roundRect">
              <a:avLst>
                <a:gd name="adj" fmla="val 5714"/>
              </a:avLst>
            </a:prstGeom>
            <a:solidFill>
              <a:srgbClr val="FCEEDF"/>
            </a:solidFill>
            <a:ln>
              <a:noFill/>
            </a:ln>
          </p:spPr>
        </p:sp>
        <p:sp>
          <p:nvSpPr>
            <p:cNvPr id="36" name="TextBox 36"/>
            <p:cNvSpPr txBox="1"/>
            <p:nvPr/>
          </p:nvSpPr>
          <p:spPr>
            <a:xfrm>
              <a:off x="4738497" y="4657249"/>
              <a:ext cx="1319510"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NEW GOALS FROM</a:t>
              </a:r>
            </a:p>
          </p:txBody>
        </p:sp>
        <p:sp>
          <p:nvSpPr>
            <p:cNvPr id="37" name="TextBox 37"/>
            <p:cNvSpPr txBox="1"/>
            <p:nvPr/>
          </p:nvSpPr>
          <p:spPr>
            <a:xfrm>
              <a:off x="4735830" y="4943475"/>
              <a:ext cx="152262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Latent-space</a:t>
              </a:r>
            </a:p>
          </p:txBody>
        </p:sp>
        <p:sp>
          <p:nvSpPr>
            <p:cNvPr id="38" name="TextBox 38"/>
            <p:cNvSpPr txBox="1"/>
            <p:nvPr/>
          </p:nvSpPr>
          <p:spPr>
            <a:xfrm>
              <a:off x="4735830" y="5191125"/>
              <a:ext cx="118018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arithmetic</a:t>
              </a:r>
            </a:p>
          </p:txBody>
        </p:sp>
        <p:sp>
          <p:nvSpPr>
            <p:cNvPr id="39" name="TextBox 39"/>
            <p:cNvSpPr txBox="1"/>
            <p:nvPr/>
          </p:nvSpPr>
          <p:spPr>
            <a:xfrm>
              <a:off x="4738116" y="5506402"/>
              <a:ext cx="10708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over analogies.</a:t>
              </a:r>
            </a:p>
          </p:txBody>
        </p:sp>
      </p:grpSp>
      <p:grpSp>
        <p:nvGrpSpPr>
          <p:cNvPr id="55" name="Group 55"/>
          <p:cNvGrpSpPr/>
          <p:nvPr/>
        </p:nvGrpSpPr>
        <p:grpSpPr>
          <a:xfrm>
            <a:off x="8077200" y="2686050"/>
            <a:ext cx="3543300" cy="3333750"/>
            <a:chOff x="8077200" y="2686050"/>
            <a:chExt cx="3543300" cy="3333750"/>
          </a:xfrm>
        </p:grpSpPr>
        <p:sp>
          <p:nvSpPr>
            <p:cNvPr id="41" name="Rectangle 41"/>
            <p:cNvSpPr/>
            <p:nvPr/>
          </p:nvSpPr>
          <p:spPr>
            <a:xfrm>
              <a:off x="8077200" y="2686050"/>
              <a:ext cx="3543300" cy="3333750"/>
            </a:xfrm>
            <a:prstGeom prst="roundRect">
              <a:avLst>
                <a:gd name="adj" fmla="val 3429"/>
              </a:avLst>
            </a:prstGeom>
            <a:solidFill>
              <a:schemeClr val="lt1"/>
            </a:solidFill>
            <a:ln w="14288">
              <a:solidFill>
                <a:schemeClr val="accent4"/>
              </a:solidFill>
            </a:ln>
          </p:spPr>
        </p:sp>
        <p:sp>
          <p:nvSpPr>
            <p:cNvPr id="42" name="Rectangle 42"/>
            <p:cNvSpPr/>
            <p:nvPr/>
          </p:nvSpPr>
          <p:spPr>
            <a:xfrm>
              <a:off x="8077200" y="2686050"/>
              <a:ext cx="3543300" cy="57150"/>
            </a:xfrm>
            <a:prstGeom prst="roundRect">
              <a:avLst>
                <a:gd name="adj" fmla="val 50000"/>
              </a:avLst>
            </a:prstGeom>
            <a:solidFill>
              <a:srgbClr val="2F9E68"/>
            </a:solidFill>
            <a:ln>
              <a:noFill/>
            </a:ln>
          </p:spPr>
        </p:sp>
        <p:sp>
          <p:nvSpPr>
            <p:cNvPr id="43" name="Ellipse 43"/>
            <p:cNvSpPr/>
            <p:nvPr/>
          </p:nvSpPr>
          <p:spPr>
            <a:xfrm>
              <a:off x="8248650" y="2952750"/>
              <a:ext cx="381000" cy="381000"/>
            </a:xfrm>
            <a:prstGeom prst="ellipse">
              <a:avLst/>
            </a:prstGeom>
            <a:solidFill>
              <a:srgbClr val="E7F4EC"/>
            </a:solidFill>
            <a:ln>
              <a:noFill/>
            </a:ln>
          </p:spPr>
        </p:sp>
        <p:sp>
          <p:nvSpPr>
            <p:cNvPr id="44" name="TextBox 44"/>
            <p:cNvSpPr txBox="1"/>
            <p:nvPr/>
          </p:nvSpPr>
          <p:spPr>
            <a:xfrm>
              <a:off x="8369922" y="3048000"/>
              <a:ext cx="138455" cy="293370"/>
            </a:xfrm>
            <a:prstGeom prst="rect">
              <a:avLst/>
            </a:prstGeom>
            <a:noFill/>
            <a:ln>
              <a:noFill/>
            </a:ln>
          </p:spPr>
          <p:txBody>
            <a:bodyPr wrap="none" lIns="0" tIns="0" rIns="0" bIns="0" anchor="t" anchorCtr="0">
              <a:spAutoFit/>
            </a:bodyPr>
            <a:lstStyle/>
            <a:p>
              <a:pPr algn="ctr"/>
              <a:r>
                <a:rPr lang="en-US" sz="1500" b="1" dirty="0">
                  <a:solidFill>
                    <a:srgbClr val="2F9E68"/>
                  </a:solidFill>
                  <a:latin typeface="+mj-lt"/>
                  <a:ea typeface="+mj-ea"/>
                  <a:cs typeface="+mj-cs"/>
                </a:rPr>
                <a:t>3</a:t>
              </a:r>
            </a:p>
          </p:txBody>
        </p:sp>
        <p:sp>
          <p:nvSpPr>
            <p:cNvPr id="45" name="TextBox 45"/>
            <p:cNvSpPr txBox="1"/>
            <p:nvPr/>
          </p:nvSpPr>
          <p:spPr>
            <a:xfrm>
              <a:off x="8754999" y="3039904"/>
              <a:ext cx="2072576"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Prove sufficiency</a:t>
              </a:r>
            </a:p>
          </p:txBody>
        </p:sp>
        <p:sp>
          <p:nvSpPr>
            <p:cNvPr id="46" name="Line 46"/>
            <p:cNvSpPr/>
            <p:nvPr/>
          </p:nvSpPr>
          <p:spPr>
            <a:xfrm>
              <a:off x="8305800" y="3448050"/>
              <a:ext cx="3086100" cy="9525"/>
            </a:xfrm>
            <a:custGeom>
              <a:avLst/>
              <a:gdLst/>
              <a:ahLst/>
              <a:cxnLst/>
              <a:rect l="l" t="t" r="r" b="b"/>
              <a:pathLst>
                <a:path w="3086100" h="9525">
                  <a:moveTo>
                    <a:pt x="0" y="0"/>
                  </a:moveTo>
                  <a:lnTo>
                    <a:pt x="3086100" y="0"/>
                  </a:lnTo>
                </a:path>
              </a:pathLst>
            </a:custGeom>
            <a:noFill/>
            <a:ln w="14288">
              <a:solidFill>
                <a:schemeClr val="accent4"/>
              </a:solidFill>
            </a:ln>
          </p:spPr>
        </p:sp>
        <p:sp>
          <p:nvSpPr>
            <p:cNvPr id="47" name="TextBox 47"/>
            <p:cNvSpPr txBox="1"/>
            <p:nvPr/>
          </p:nvSpPr>
          <p:spPr>
            <a:xfrm>
              <a:off x="8299704" y="3642360"/>
              <a:ext cx="248090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Theoretical guarantee that the</a:t>
              </a:r>
            </a:p>
          </p:txBody>
        </p:sp>
        <p:sp>
          <p:nvSpPr>
            <p:cNvPr id="48" name="TextBox 48"/>
            <p:cNvSpPr txBox="1"/>
            <p:nvPr/>
          </p:nvSpPr>
          <p:spPr>
            <a:xfrm>
              <a:off x="8299704" y="3851910"/>
              <a:ext cx="247573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learned representation retains</a:t>
              </a:r>
            </a:p>
          </p:txBody>
        </p:sp>
        <p:sp>
          <p:nvSpPr>
            <p:cNvPr id="49" name="TextBox 49"/>
            <p:cNvSpPr txBox="1"/>
            <p:nvPr/>
          </p:nvSpPr>
          <p:spPr>
            <a:xfrm>
              <a:off x="8299704" y="4061460"/>
              <a:ext cx="161147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what control needs.</a:t>
              </a:r>
            </a:p>
          </p:txBody>
        </p:sp>
        <p:sp>
          <p:nvSpPr>
            <p:cNvPr id="50" name="Rectangle 50"/>
            <p:cNvSpPr/>
            <p:nvPr/>
          </p:nvSpPr>
          <p:spPr>
            <a:xfrm>
              <a:off x="8305800" y="4438650"/>
              <a:ext cx="3086100" cy="1333500"/>
            </a:xfrm>
            <a:prstGeom prst="roundRect">
              <a:avLst>
                <a:gd name="adj" fmla="val 5714"/>
              </a:avLst>
            </a:prstGeom>
            <a:solidFill>
              <a:srgbClr val="E7F4EC"/>
            </a:solidFill>
            <a:ln>
              <a:noFill/>
            </a:ln>
          </p:spPr>
        </p:sp>
        <p:sp>
          <p:nvSpPr>
            <p:cNvPr id="51" name="TextBox 51"/>
            <p:cNvSpPr txBox="1"/>
            <p:nvPr/>
          </p:nvSpPr>
          <p:spPr>
            <a:xfrm>
              <a:off x="8491347" y="4657249"/>
              <a:ext cx="1195099" cy="190690"/>
            </a:xfrm>
            <a:prstGeom prst="rect">
              <a:avLst/>
            </a:prstGeom>
            <a:noFill/>
            <a:ln>
              <a:noFill/>
            </a:ln>
          </p:spPr>
          <p:txBody>
            <a:bodyPr wrap="none" lIns="0" tIns="0" rIns="0" bIns="0" anchor="t" anchorCtr="0">
              <a:spAutoFit/>
            </a:bodyPr>
            <a:lstStyle/>
            <a:p>
              <a:pPr algn="l"/>
              <a:r>
                <a:rPr lang="en-US" sz="980" b="1" spc="75" dirty="0">
                  <a:solidFill>
                    <a:srgbClr val="2F9E68"/>
                  </a:solidFill>
                  <a:latin typeface="+mn-lt"/>
                  <a:ea typeface="+mn-ea"/>
                  <a:cs typeface="+mn-cs"/>
                </a:rPr>
                <a:t>SUFFICIENT FOR</a:t>
              </a:r>
            </a:p>
          </p:txBody>
        </p:sp>
        <p:sp>
          <p:nvSpPr>
            <p:cNvPr id="52" name="TextBox 52"/>
            <p:cNvSpPr txBox="1"/>
            <p:nvPr/>
          </p:nvSpPr>
          <p:spPr>
            <a:xfrm>
              <a:off x="8488680" y="4943475"/>
              <a:ext cx="1657045"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Any state-only</a:t>
              </a:r>
            </a:p>
          </p:txBody>
        </p:sp>
        <p:sp>
          <p:nvSpPr>
            <p:cNvPr id="53" name="TextBox 53"/>
            <p:cNvSpPr txBox="1"/>
            <p:nvPr/>
          </p:nvSpPr>
          <p:spPr>
            <a:xfrm>
              <a:off x="8488680" y="5191125"/>
              <a:ext cx="135940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reward task</a:t>
              </a:r>
            </a:p>
          </p:txBody>
        </p:sp>
        <p:sp>
          <p:nvSpPr>
            <p:cNvPr id="54" name="TextBox 54"/>
            <p:cNvSpPr txBox="1"/>
            <p:nvPr/>
          </p:nvSpPr>
          <p:spPr>
            <a:xfrm>
              <a:off x="8490966" y="5506402"/>
              <a:ext cx="15867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not just goal reaching.</a:t>
              </a:r>
            </a:p>
          </p:txBody>
        </p:sp>
      </p:grpSp>
      <p:grpSp>
        <p:nvGrpSpPr>
          <p:cNvPr id="58" name="Group 58"/>
          <p:cNvGrpSpPr/>
          <p:nvPr/>
        </p:nvGrpSpPr>
        <p:grpSpPr>
          <a:xfrm>
            <a:off x="566738" y="6597491"/>
            <a:ext cx="11058524" cy="161925"/>
            <a:chOff x="566738" y="6597491"/>
            <a:chExt cx="11058524" cy="161925"/>
          </a:xfrm>
        </p:grpSpPr>
        <p:sp>
          <p:nvSpPr>
            <p:cNvPr id="56" name="TextBox 56"/>
            <p:cNvSpPr txBox="1"/>
            <p:nvPr/>
          </p:nvSpPr>
          <p:spPr>
            <a:xfrm>
              <a:off x="566738" y="6597491"/>
              <a:ext cx="2239922"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Goal-Conditioned Bisimulation · ICML 2022</a:t>
              </a:r>
            </a:p>
          </p:txBody>
        </p:sp>
        <p:sp>
          <p:nvSpPr>
            <p:cNvPr id="57" name="TextBox 57"/>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04</a:t>
              </a:r>
            </a:p>
          </p:txBody>
        </p:sp>
      </p:grpSp>
      <p:sp>
        <p:nvSpPr>
          <p:cNvPr id="59" name="cue_s04_c1_makes_three_contributions" title="cue_s04_c1_makes_three_contributions" descr="cue_s04_c1_makes_three_contributions The paper makes three contributions."/>
          <p:cNvSpPr/>
          <p:nvPr/>
        </p:nvSpPr>
        <p:spPr>
          <a:xfrm>
            <a:off x="571804" y="1504645"/>
            <a:ext cx="1104839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4_c2_defines_goal_conditioned_bisimulatio" title="cue_s04_c2_defines_goal_conditioned_bisimulatio" descr="cue_s04_c2_defines_goal_conditioned_bisimulatio It defines goal-conditioned bisimulation, grouping state-goal pairs that behave equivalently."/>
          <p:cNvSpPr/>
          <p:nvPr/>
        </p:nvSpPr>
        <p:spPr>
          <a:xfrm>
            <a:off x="571804" y="2686278"/>
            <a:ext cx="3552748" cy="33336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4_c3_gives_metric_learning_objective_new" title="cue_s04_c3_gives_metric_learning_objective_new" descr="cue_s04_c3_gives_metric_learning_objective_new It gives a metric-learning objective so new goals arise from latent arithmetic."/>
          <p:cNvSpPr/>
          <p:nvPr/>
        </p:nvSpPr>
        <p:spPr>
          <a:xfrm>
            <a:off x="4324502" y="2686278"/>
            <a:ext cx="3552748" cy="33336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4_c4_proves_representation_sufficient_any" title="cue_s04_c4_proves_representation_sufficient_any" descr="cue_s04_c4_proves_representation_sufficient_any And it proves the representation is sufficient for any state-only reward task."/>
          <p:cNvSpPr/>
          <p:nvPr/>
        </p:nvSpPr>
        <p:spPr>
          <a:xfrm>
            <a:off x="8077200" y="2686278"/>
            <a:ext cx="3542995" cy="33336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8021486" cy="656939"/>
            <a:chOff x="571500" y="495300"/>
            <a:chExt cx="8021486" cy="656939"/>
          </a:xfrm>
        </p:grpSpPr>
        <p:sp>
          <p:nvSpPr>
            <p:cNvPr id="2" name="Rectangle 2"/>
            <p:cNvSpPr/>
            <p:nvPr/>
          </p:nvSpPr>
          <p:spPr>
            <a:xfrm>
              <a:off x="571500" y="495300"/>
              <a:ext cx="57150" cy="381000"/>
            </a:xfrm>
            <a:prstGeom prst="rect">
              <a:avLst/>
            </a:prstGeom>
            <a:solidFill>
              <a:schemeClr val="accent2"/>
            </a:solidFill>
            <a:ln>
              <a:noFill/>
            </a:ln>
          </p:spPr>
        </p:sp>
        <p:sp>
          <p:nvSpPr>
            <p:cNvPr id="3" name="TextBox 3"/>
            <p:cNvSpPr txBox="1"/>
            <p:nvPr/>
          </p:nvSpPr>
          <p:spPr>
            <a:xfrm>
              <a:off x="787146" y="524828"/>
              <a:ext cx="7805840"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Two encoders that make goals composable</a:t>
              </a:r>
            </a:p>
          </p:txBody>
        </p:sp>
        <p:sp>
          <p:nvSpPr>
            <p:cNvPr id="4" name="TextBox 4"/>
            <p:cNvSpPr txBox="1"/>
            <p:nvPr/>
          </p:nvSpPr>
          <p:spPr>
            <a:xfrm>
              <a:off x="795147" y="961549"/>
              <a:ext cx="354989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METHOD · REPRESENTATION LEARNING IN GCB</a:t>
              </a:r>
            </a:p>
          </p:txBody>
        </p:sp>
      </p:grpSp>
      <p:grpSp>
        <p:nvGrpSpPr>
          <p:cNvPr id="9" name="Group 9"/>
          <p:cNvGrpSpPr/>
          <p:nvPr/>
        </p:nvGrpSpPr>
        <p:grpSpPr>
          <a:xfrm>
            <a:off x="555532" y="1257300"/>
            <a:ext cx="5365936" cy="3067050"/>
            <a:chOff x="555532" y="1257300"/>
            <a:chExt cx="5365936" cy="3067050"/>
          </a:xfrm>
        </p:grpSpPr>
        <p:sp>
          <p:nvSpPr>
            <p:cNvPr id="6" name="Rectangle 6"/>
            <p:cNvSpPr/>
            <p:nvPr/>
          </p:nvSpPr>
          <p:spPr>
            <a:xfrm>
              <a:off x="571500" y="1257300"/>
              <a:ext cx="5334000" cy="3067050"/>
            </a:xfrm>
            <a:prstGeom prst="roundRect">
              <a:avLst>
                <a:gd name="adj" fmla="val 3727"/>
              </a:avLst>
            </a:prstGeom>
            <a:solidFill>
              <a:schemeClr val="lt2"/>
            </a:solidFill>
            <a:ln w="14288">
              <a:solidFill>
                <a:schemeClr val="accent4"/>
              </a:solidFill>
            </a:ln>
            <a:effectLst>
              <a:outerShdw blurRad="95250" dist="19050" dir="5400000" algn="ctr" rotWithShape="0">
                <a:srgbClr val="1B2A4A">
                  <a:alpha val="7500"/>
                </a:srgbClr>
              </a:outerShdw>
            </a:effectLst>
          </p:spPr>
        </p:sp>
        <p:pic>
          <p:nvPicPr>
            <p:cNvPr id="7" name="Image 7"/>
            <p:cNvPicPr>
              <a:picLocks noChangeAspect="1"/>
            </p:cNvPicPr>
            <p:nvPr/>
          </p:nvPicPr>
          <p:blipFill>
            <a:blip r:embed="rId2"/>
            <a:stretch>
              <a:fillRect/>
            </a:stretch>
          </p:blipFill>
          <p:spPr>
            <a:xfrm>
              <a:off x="1501450" y="1428750"/>
              <a:ext cx="3474100" cy="2533650"/>
            </a:xfrm>
            <a:prstGeom prst="rect">
              <a:avLst/>
            </a:prstGeom>
          </p:spPr>
        </p:pic>
        <p:sp>
          <p:nvSpPr>
            <p:cNvPr id="8" name="TextBox 8"/>
            <p:cNvSpPr txBox="1"/>
            <p:nvPr/>
          </p:nvSpPr>
          <p:spPr>
            <a:xfrm>
              <a:off x="555532" y="4093845"/>
              <a:ext cx="5365936" cy="176212"/>
            </a:xfrm>
            <a:prstGeom prst="rect">
              <a:avLst/>
            </a:prstGeom>
            <a:noFill/>
            <a:ln>
              <a:noFill/>
            </a:ln>
          </p:spPr>
          <p:txBody>
            <a:bodyPr wrap="none" lIns="0" tIns="0" rIns="0" bIns="0" anchor="t" anchorCtr="0">
              <a:spAutoFit/>
            </a:bodyPr>
            <a:lstStyle/>
            <a:p>
              <a:pPr algn="ctr"/>
              <a:r>
                <a:rPr lang="en-US" sz="900" i="1" dirty="0">
                  <a:solidFill>
                    <a:schemeClr val="dk2"/>
                  </a:solidFill>
                  <a:latin typeface="+mn-lt"/>
                  <a:ea typeface="+mn-ea"/>
                  <a:cs typeface="+mn-cs"/>
                </a:rPr>
                <a:t>Figure 3 · State-goal encoder φ and Siamese state encoder ψ; dashed = stopped gradients.</a:t>
              </a:r>
            </a:p>
          </p:txBody>
        </p:sp>
      </p:grpSp>
      <p:grpSp>
        <p:nvGrpSpPr>
          <p:cNvPr id="16" name="Group 16"/>
          <p:cNvGrpSpPr/>
          <p:nvPr/>
        </p:nvGrpSpPr>
        <p:grpSpPr>
          <a:xfrm>
            <a:off x="571500" y="4476750"/>
            <a:ext cx="5334000" cy="1543050"/>
            <a:chOff x="571500" y="4476750"/>
            <a:chExt cx="5334000" cy="1543050"/>
          </a:xfrm>
        </p:grpSpPr>
        <p:sp>
          <p:nvSpPr>
            <p:cNvPr id="10" name="Rectangle 10"/>
            <p:cNvSpPr/>
            <p:nvPr/>
          </p:nvSpPr>
          <p:spPr>
            <a:xfrm>
              <a:off x="571500" y="4476750"/>
              <a:ext cx="5334000" cy="1543050"/>
            </a:xfrm>
            <a:prstGeom prst="roundRect">
              <a:avLst>
                <a:gd name="adj" fmla="val 7407"/>
              </a:avLst>
            </a:prstGeom>
            <a:solidFill>
              <a:schemeClr val="accent1"/>
            </a:solidFill>
            <a:ln>
              <a:noFill/>
            </a:ln>
          </p:spPr>
        </p:sp>
        <p:sp>
          <p:nvSpPr>
            <p:cNvPr id="11" name="TextBox 11"/>
            <p:cNvSpPr txBox="1"/>
            <p:nvPr/>
          </p:nvSpPr>
          <p:spPr>
            <a:xfrm>
              <a:off x="795147" y="4676299"/>
              <a:ext cx="1707789"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THE TWO OBJECTIVES</a:t>
              </a:r>
            </a:p>
          </p:txBody>
        </p:sp>
        <p:sp>
          <p:nvSpPr>
            <p:cNvPr id="12" name="TextBox 12"/>
            <p:cNvSpPr txBox="1"/>
            <p:nvPr/>
          </p:nvSpPr>
          <p:spPr>
            <a:xfrm>
              <a:off x="795147" y="5000149"/>
              <a:ext cx="3110205" cy="190690"/>
            </a:xfrm>
            <a:prstGeom prst="rect">
              <a:avLst/>
            </a:prstGeom>
            <a:noFill/>
            <a:ln>
              <a:noFill/>
            </a:ln>
          </p:spPr>
          <p:txBody>
            <a:bodyPr wrap="none" lIns="0" tIns="0" rIns="0" bIns="0" anchor="t" anchorCtr="0">
              <a:spAutoFit/>
            </a:bodyPr>
            <a:lstStyle/>
            <a:p>
              <a:pPr algn="l"/>
              <a:r>
                <a:rPr lang="en-US" sz="980" dirty="0">
                  <a:solidFill>
                    <a:srgbClr val="A9B6D6"/>
                  </a:solidFill>
                  <a:latin typeface="+mn-lt"/>
                  <a:ea typeface="+mn-ea"/>
                  <a:cs typeface="+mn-cs"/>
                </a:rPr>
                <a:t>φ metric loss — match the bisimulation distance:</a:t>
              </a:r>
            </a:p>
          </p:txBody>
        </p:sp>
        <p:sp>
          <p:nvSpPr>
            <p:cNvPr id="13" name="TextBox 13"/>
            <p:cNvSpPr txBox="1"/>
            <p:nvPr/>
          </p:nvSpPr>
          <p:spPr>
            <a:xfrm>
              <a:off x="795147" y="5247799"/>
              <a:ext cx="4100244" cy="190690"/>
            </a:xfrm>
            <a:prstGeom prst="rect">
              <a:avLst/>
            </a:prstGeom>
            <a:noFill/>
            <a:ln>
              <a:noFill/>
            </a:ln>
          </p:spPr>
          <p:txBody>
            <a:bodyPr wrap="none" lIns="0" tIns="0" rIns="0" bIns="0" anchor="t" anchorCtr="0">
              <a:spAutoFit/>
            </a:bodyPr>
            <a:lstStyle/>
            <a:p>
              <a:pPr algn="l"/>
              <a:r>
                <a:rPr lang="en-US" sz="980" b="1" dirty="0">
                  <a:solidFill>
                    <a:srgbClr val="FFFFFF"/>
                  </a:solidFill>
                  <a:latin typeface="Consolas"/>
                  <a:ea typeface="Consolas"/>
                  <a:cs typeface="Consolas"/>
                </a:rPr>
                <a:t>L_φ = (‖φ(sᵢ,gᵢ) − φ(sⱼ,gⱼ)‖₁ − ‖rᵢ−rⱼ‖₂ − γ‖φ̄ᵢ′ − φ̄ⱼ′‖₂)²</a:t>
              </a:r>
            </a:p>
          </p:txBody>
        </p:sp>
        <p:sp>
          <p:nvSpPr>
            <p:cNvPr id="14" name="TextBox 14"/>
            <p:cNvSpPr txBox="1"/>
            <p:nvPr/>
          </p:nvSpPr>
          <p:spPr>
            <a:xfrm>
              <a:off x="795147" y="5571649"/>
              <a:ext cx="2457163" cy="190690"/>
            </a:xfrm>
            <a:prstGeom prst="rect">
              <a:avLst/>
            </a:prstGeom>
            <a:noFill/>
            <a:ln>
              <a:noFill/>
            </a:ln>
          </p:spPr>
          <p:txBody>
            <a:bodyPr wrap="none" lIns="0" tIns="0" rIns="0" bIns="0" anchor="t" anchorCtr="0">
              <a:spAutoFit/>
            </a:bodyPr>
            <a:lstStyle/>
            <a:p>
              <a:pPr algn="l"/>
              <a:r>
                <a:rPr lang="en-US" sz="980" dirty="0">
                  <a:solidFill>
                    <a:srgbClr val="A9B6D6"/>
                  </a:solidFill>
                  <a:latin typeface="+mn-lt"/>
                  <a:ea typeface="+mn-ea"/>
                  <a:cs typeface="+mn-cs"/>
                </a:rPr>
                <a:t>ψ composability — what lets goals add:</a:t>
              </a:r>
            </a:p>
          </p:txBody>
        </p:sp>
        <p:sp>
          <p:nvSpPr>
            <p:cNvPr id="15" name="TextBox 15"/>
            <p:cNvSpPr txBox="1"/>
            <p:nvPr/>
          </p:nvSpPr>
          <p:spPr>
            <a:xfrm>
              <a:off x="793623" y="5767864"/>
              <a:ext cx="2274570" cy="249364"/>
            </a:xfrm>
            <a:prstGeom prst="rect">
              <a:avLst/>
            </a:prstGeom>
            <a:noFill/>
            <a:ln>
              <a:noFill/>
            </a:ln>
          </p:spPr>
          <p:txBody>
            <a:bodyPr wrap="none" lIns="0" tIns="0" rIns="0" bIns="0" anchor="t" anchorCtr="0">
              <a:spAutoFit/>
            </a:bodyPr>
            <a:lstStyle/>
            <a:p>
              <a:pPr algn="l"/>
              <a:r>
                <a:rPr lang="en-US" sz="1280" b="1" dirty="0">
                  <a:solidFill>
                    <a:schemeClr val="accent5"/>
                  </a:solidFill>
                  <a:latin typeface="Consolas"/>
                  <a:ea typeface="Consolas"/>
                  <a:cs typeface="Consolas"/>
                </a:rPr>
                <a:t>ψ(gᵢ) − ψ(sᵢ) = φ(sᵢ, gᵢ)</a:t>
              </a:r>
            </a:p>
          </p:txBody>
        </p:sp>
      </p:grpSp>
      <p:grpSp>
        <p:nvGrpSpPr>
          <p:cNvPr id="23" name="Group 23"/>
          <p:cNvGrpSpPr/>
          <p:nvPr/>
        </p:nvGrpSpPr>
        <p:grpSpPr>
          <a:xfrm>
            <a:off x="6134100" y="1257300"/>
            <a:ext cx="5486400" cy="1095756"/>
            <a:chOff x="6134100" y="1257300"/>
            <a:chExt cx="5486400" cy="1095756"/>
          </a:xfrm>
        </p:grpSpPr>
        <p:sp>
          <p:nvSpPr>
            <p:cNvPr id="17" name="Rectangle 17"/>
            <p:cNvSpPr/>
            <p:nvPr/>
          </p:nvSpPr>
          <p:spPr>
            <a:xfrm>
              <a:off x="6134100" y="1257300"/>
              <a:ext cx="5486400" cy="1085850"/>
            </a:xfrm>
            <a:prstGeom prst="roundRect">
              <a:avLst>
                <a:gd name="adj" fmla="val 8772"/>
              </a:avLst>
            </a:prstGeom>
            <a:solidFill>
              <a:schemeClr val="lt1"/>
            </a:solidFill>
            <a:ln w="14288">
              <a:solidFill>
                <a:schemeClr val="accent4"/>
              </a:solidFill>
            </a:ln>
          </p:spPr>
        </p:sp>
        <p:sp>
          <p:nvSpPr>
            <p:cNvPr id="18" name="Rectangle 18"/>
            <p:cNvSpPr/>
            <p:nvPr/>
          </p:nvSpPr>
          <p:spPr>
            <a:xfrm>
              <a:off x="6134100" y="1257300"/>
              <a:ext cx="57150" cy="1085850"/>
            </a:xfrm>
            <a:prstGeom prst="roundRect">
              <a:avLst>
                <a:gd name="adj" fmla="val 50000"/>
              </a:avLst>
            </a:prstGeom>
            <a:solidFill>
              <a:schemeClr val="accent2"/>
            </a:solidFill>
            <a:ln>
              <a:noFill/>
            </a:ln>
          </p:spPr>
        </p:sp>
        <p:sp>
          <p:nvSpPr>
            <p:cNvPr id="19" name="TextBox 19"/>
            <p:cNvSpPr txBox="1"/>
            <p:nvPr/>
          </p:nvSpPr>
          <p:spPr>
            <a:xfrm>
              <a:off x="6395847" y="1456849"/>
              <a:ext cx="1947597"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φ · STATE-GOAL ENCODER</a:t>
              </a:r>
            </a:p>
          </p:txBody>
        </p:sp>
        <p:sp>
          <p:nvSpPr>
            <p:cNvPr id="20" name="TextBox 20"/>
            <p:cNvSpPr txBox="1"/>
            <p:nvPr/>
          </p:nvSpPr>
          <p:spPr>
            <a:xfrm>
              <a:off x="6394704" y="1699260"/>
              <a:ext cx="441197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Encodes a state-goal pair so its ℓ₁ distance matches an</a:t>
              </a:r>
            </a:p>
          </p:txBody>
        </p:sp>
        <p:sp>
          <p:nvSpPr>
            <p:cNvPr id="21" name="TextBox 21"/>
            <p:cNvSpPr txBox="1"/>
            <p:nvPr/>
          </p:nvSpPr>
          <p:spPr>
            <a:xfrm>
              <a:off x="6394704" y="1908810"/>
              <a:ext cx="377616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on-policy goal-conditioned bisimulation metric —</a:t>
              </a:r>
            </a:p>
          </p:txBody>
        </p:sp>
        <p:sp>
          <p:nvSpPr>
            <p:cNvPr id="22" name="TextBox 22"/>
            <p:cNvSpPr txBox="1"/>
            <p:nvPr/>
          </p:nvSpPr>
          <p:spPr>
            <a:xfrm>
              <a:off x="6394704" y="2118360"/>
              <a:ext cx="276651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how differently two tasks behave.</a:t>
              </a:r>
            </a:p>
          </p:txBody>
        </p:sp>
      </p:grpSp>
      <p:grpSp>
        <p:nvGrpSpPr>
          <p:cNvPr id="30" name="Group 30"/>
          <p:cNvGrpSpPr/>
          <p:nvPr/>
        </p:nvGrpSpPr>
        <p:grpSpPr>
          <a:xfrm>
            <a:off x="6134100" y="2438400"/>
            <a:ext cx="5486400" cy="1095756"/>
            <a:chOff x="6134100" y="2438400"/>
            <a:chExt cx="5486400" cy="1095756"/>
          </a:xfrm>
        </p:grpSpPr>
        <p:sp>
          <p:nvSpPr>
            <p:cNvPr id="24" name="Rectangle 24"/>
            <p:cNvSpPr/>
            <p:nvPr/>
          </p:nvSpPr>
          <p:spPr>
            <a:xfrm>
              <a:off x="6134100" y="2438400"/>
              <a:ext cx="5486400" cy="1085850"/>
            </a:xfrm>
            <a:prstGeom prst="roundRect">
              <a:avLst>
                <a:gd name="adj" fmla="val 8772"/>
              </a:avLst>
            </a:prstGeom>
            <a:solidFill>
              <a:schemeClr val="lt1"/>
            </a:solidFill>
            <a:ln w="14288">
              <a:solidFill>
                <a:schemeClr val="accent4"/>
              </a:solidFill>
            </a:ln>
          </p:spPr>
        </p:sp>
        <p:sp>
          <p:nvSpPr>
            <p:cNvPr id="25" name="Rectangle 25"/>
            <p:cNvSpPr/>
            <p:nvPr/>
          </p:nvSpPr>
          <p:spPr>
            <a:xfrm>
              <a:off x="6134100" y="2438400"/>
              <a:ext cx="57150" cy="1085850"/>
            </a:xfrm>
            <a:prstGeom prst="roundRect">
              <a:avLst>
                <a:gd name="adj" fmla="val 50000"/>
              </a:avLst>
            </a:prstGeom>
            <a:solidFill>
              <a:schemeClr val="accent2"/>
            </a:solidFill>
            <a:ln>
              <a:noFill/>
            </a:ln>
          </p:spPr>
        </p:sp>
        <p:sp>
          <p:nvSpPr>
            <p:cNvPr id="26" name="TextBox 26"/>
            <p:cNvSpPr txBox="1"/>
            <p:nvPr/>
          </p:nvSpPr>
          <p:spPr>
            <a:xfrm>
              <a:off x="6395847" y="2637949"/>
              <a:ext cx="1462595"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ψ · STATE ENCODER</a:t>
              </a:r>
            </a:p>
          </p:txBody>
        </p:sp>
        <p:sp>
          <p:nvSpPr>
            <p:cNvPr id="27" name="TextBox 27"/>
            <p:cNvSpPr txBox="1"/>
            <p:nvPr/>
          </p:nvSpPr>
          <p:spPr>
            <a:xfrm>
              <a:off x="6394704" y="2880360"/>
              <a:ext cx="440350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Encodes a single state so that the goal embedding minus</a:t>
              </a:r>
            </a:p>
          </p:txBody>
        </p:sp>
        <p:sp>
          <p:nvSpPr>
            <p:cNvPr id="28" name="TextBox 28"/>
            <p:cNvSpPr txBox="1"/>
            <p:nvPr/>
          </p:nvSpPr>
          <p:spPr>
            <a:xfrm>
              <a:off x="6394704" y="3089910"/>
              <a:ext cx="337230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state embedding equals φ of that pair.</a:t>
              </a:r>
            </a:p>
          </p:txBody>
        </p:sp>
        <p:sp>
          <p:nvSpPr>
            <p:cNvPr id="29" name="TextBox 29"/>
            <p:cNvSpPr txBox="1"/>
            <p:nvPr/>
          </p:nvSpPr>
          <p:spPr>
            <a:xfrm>
              <a:off x="6394704" y="3299460"/>
              <a:ext cx="191570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This equality is the key.</a:t>
              </a:r>
            </a:p>
          </p:txBody>
        </p:sp>
      </p:grpSp>
      <p:grpSp>
        <p:nvGrpSpPr>
          <p:cNvPr id="37" name="Group 37"/>
          <p:cNvGrpSpPr/>
          <p:nvPr/>
        </p:nvGrpSpPr>
        <p:grpSpPr>
          <a:xfrm>
            <a:off x="6134100" y="3619500"/>
            <a:ext cx="5486400" cy="1200150"/>
            <a:chOff x="6134100" y="3619500"/>
            <a:chExt cx="5486400" cy="1200150"/>
          </a:xfrm>
        </p:grpSpPr>
        <p:sp>
          <p:nvSpPr>
            <p:cNvPr id="31" name="Rectangle 31"/>
            <p:cNvSpPr/>
            <p:nvPr/>
          </p:nvSpPr>
          <p:spPr>
            <a:xfrm>
              <a:off x="6134100" y="3619500"/>
              <a:ext cx="5486400" cy="1200150"/>
            </a:xfrm>
            <a:prstGeom prst="roundRect">
              <a:avLst>
                <a:gd name="adj" fmla="val 7937"/>
              </a:avLst>
            </a:prstGeom>
            <a:solidFill>
              <a:srgbClr val="FCEEDF"/>
            </a:solidFill>
            <a:ln w="14288">
              <a:solidFill>
                <a:schemeClr val="accent5"/>
              </a:solidFill>
            </a:ln>
          </p:spPr>
        </p:sp>
        <p:sp>
          <p:nvSpPr>
            <p:cNvPr id="32" name="Rectangle 32"/>
            <p:cNvSpPr/>
            <p:nvPr/>
          </p:nvSpPr>
          <p:spPr>
            <a:xfrm>
              <a:off x="6134100" y="3619500"/>
              <a:ext cx="57150" cy="1200150"/>
            </a:xfrm>
            <a:prstGeom prst="roundRect">
              <a:avLst>
                <a:gd name="adj" fmla="val 50000"/>
              </a:avLst>
            </a:prstGeom>
            <a:solidFill>
              <a:schemeClr val="accent5"/>
            </a:solidFill>
            <a:ln>
              <a:noFill/>
            </a:ln>
          </p:spPr>
        </p:sp>
        <p:sp>
          <p:nvSpPr>
            <p:cNvPr id="33" name="TextBox 33"/>
            <p:cNvSpPr txBox="1"/>
            <p:nvPr/>
          </p:nvSpPr>
          <p:spPr>
            <a:xfrm>
              <a:off x="6395847" y="3819049"/>
              <a:ext cx="2198574"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GOALS BECOME COMPOSABLE</a:t>
              </a:r>
            </a:p>
          </p:txBody>
        </p:sp>
        <p:sp>
          <p:nvSpPr>
            <p:cNvPr id="34" name="TextBox 34"/>
            <p:cNvSpPr txBox="1"/>
            <p:nvPr/>
          </p:nvSpPr>
          <p:spPr>
            <a:xfrm>
              <a:off x="6394704" y="4061460"/>
              <a:ext cx="468643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Add an analogous pair to your current state, then take the</a:t>
              </a:r>
            </a:p>
          </p:txBody>
        </p:sp>
        <p:sp>
          <p:nvSpPr>
            <p:cNvPr id="35" name="TextBox 35"/>
            <p:cNvSpPr txBox="1"/>
            <p:nvPr/>
          </p:nvSpPr>
          <p:spPr>
            <a:xfrm>
              <a:off x="6394704" y="4271010"/>
              <a:ext cx="441426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nearest neighbor in ψ space to recover a concrete goal:</a:t>
              </a:r>
            </a:p>
          </p:txBody>
        </p:sp>
        <p:sp>
          <p:nvSpPr>
            <p:cNvPr id="36" name="TextBox 36"/>
            <p:cNvSpPr txBox="1"/>
            <p:nvPr/>
          </p:nvSpPr>
          <p:spPr>
            <a:xfrm>
              <a:off x="6393942" y="4540568"/>
              <a:ext cx="383019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Consolas"/>
                  <a:ea typeface="Consolas"/>
                  <a:cs typeface="Consolas"/>
                </a:rPr>
                <a:t>ψ(s) + φ(sₐ, gₐ) → nearest-neighbor goal</a:t>
              </a:r>
            </a:p>
          </p:txBody>
        </p:sp>
      </p:grpSp>
      <p:grpSp>
        <p:nvGrpSpPr>
          <p:cNvPr id="44" name="Group 44"/>
          <p:cNvGrpSpPr/>
          <p:nvPr/>
        </p:nvGrpSpPr>
        <p:grpSpPr>
          <a:xfrm>
            <a:off x="6134100" y="4914900"/>
            <a:ext cx="5486400" cy="1104900"/>
            <a:chOff x="6134100" y="4914900"/>
            <a:chExt cx="5486400" cy="1104900"/>
          </a:xfrm>
        </p:grpSpPr>
        <p:sp>
          <p:nvSpPr>
            <p:cNvPr id="38" name="Rectangle 38"/>
            <p:cNvSpPr/>
            <p:nvPr/>
          </p:nvSpPr>
          <p:spPr>
            <a:xfrm>
              <a:off x="6134100" y="4914900"/>
              <a:ext cx="5486400" cy="1104900"/>
            </a:xfrm>
            <a:prstGeom prst="roundRect">
              <a:avLst>
                <a:gd name="adj" fmla="val 8621"/>
              </a:avLst>
            </a:prstGeom>
            <a:solidFill>
              <a:schemeClr val="lt1"/>
            </a:solidFill>
            <a:ln w="14288">
              <a:solidFill>
                <a:schemeClr val="accent4"/>
              </a:solidFill>
            </a:ln>
          </p:spPr>
        </p:sp>
        <p:sp>
          <p:nvSpPr>
            <p:cNvPr id="39" name="Rectangle 39"/>
            <p:cNvSpPr/>
            <p:nvPr/>
          </p:nvSpPr>
          <p:spPr>
            <a:xfrm>
              <a:off x="6134100" y="4914900"/>
              <a:ext cx="57150" cy="1104900"/>
            </a:xfrm>
            <a:prstGeom prst="roundRect">
              <a:avLst>
                <a:gd name="adj" fmla="val 50000"/>
              </a:avLst>
            </a:prstGeom>
            <a:solidFill>
              <a:srgbClr val="2F9E68"/>
            </a:solidFill>
            <a:ln>
              <a:noFill/>
            </a:ln>
          </p:spPr>
        </p:sp>
        <p:sp>
          <p:nvSpPr>
            <p:cNvPr id="40" name="TextBox 40"/>
            <p:cNvSpPr txBox="1"/>
            <p:nvPr/>
          </p:nvSpPr>
          <p:spPr>
            <a:xfrm>
              <a:off x="6395847" y="5114449"/>
              <a:ext cx="1388105" cy="190690"/>
            </a:xfrm>
            <a:prstGeom prst="rect">
              <a:avLst/>
            </a:prstGeom>
            <a:noFill/>
            <a:ln>
              <a:noFill/>
            </a:ln>
          </p:spPr>
          <p:txBody>
            <a:bodyPr wrap="none" lIns="0" tIns="0" rIns="0" bIns="0" anchor="t" anchorCtr="0">
              <a:spAutoFit/>
            </a:bodyPr>
            <a:lstStyle/>
            <a:p>
              <a:pPr algn="l"/>
              <a:r>
                <a:rPr lang="en-US" sz="980" b="1" spc="75" dirty="0">
                  <a:solidFill>
                    <a:srgbClr val="2F9E68"/>
                  </a:solidFill>
                  <a:latin typeface="+mn-lt"/>
                  <a:ea typeface="+mn-ea"/>
                  <a:cs typeface="+mn-cs"/>
                </a:rPr>
                <a:t>HOW IT IS TRAINED</a:t>
              </a:r>
            </a:p>
          </p:txBody>
        </p:sp>
        <p:sp>
          <p:nvSpPr>
            <p:cNvPr id="41" name="TextBox 41"/>
            <p:cNvSpPr txBox="1"/>
            <p:nvPr/>
          </p:nvSpPr>
          <p:spPr>
            <a:xfrm>
              <a:off x="6394704" y="5356860"/>
              <a:ext cx="383270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φ, ψ, and the policy π(ψ(s), φ(s,g)) are learned</a:t>
              </a:r>
            </a:p>
          </p:txBody>
        </p:sp>
        <p:sp>
          <p:nvSpPr>
            <p:cNvPr id="42" name="TextBox 42"/>
            <p:cNvSpPr txBox="1"/>
            <p:nvPr/>
          </p:nvSpPr>
          <p:spPr>
            <a:xfrm>
              <a:off x="6394704" y="5566410"/>
              <a:ext cx="428568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concurrently — offline, on top of Implicit Q-Learning.</a:t>
              </a:r>
            </a:p>
          </p:txBody>
        </p:sp>
        <p:sp>
          <p:nvSpPr>
            <p:cNvPr id="43" name="TextBox 43"/>
            <p:cNvSpPr txBox="1"/>
            <p:nvPr/>
          </p:nvSpPr>
          <p:spPr>
            <a:xfrm>
              <a:off x="6394704" y="5775960"/>
              <a:ext cx="352787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Encoders: six-layer CNNs → 256-dim latents.</a:t>
              </a:r>
            </a:p>
          </p:txBody>
        </p:sp>
      </p:grpSp>
      <p:sp>
        <p:nvSpPr>
          <p:cNvPr id="45" name="TextBox 45"/>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05</a:t>
            </a:r>
          </a:p>
        </p:txBody>
      </p:sp>
      <p:sp>
        <p:nvSpPr>
          <p:cNvPr id="46" name="cue_s05_c1_gcb_learns_two_encoders_together" title="cue_s05_c1_gcb_learns_two_encoders_together" descr="cue_s05_c1_gcb_learns_two_encoders_together GCB learns two encoders together."/>
          <p:cNvSpPr/>
          <p:nvPr/>
        </p:nvSpPr>
        <p:spPr>
          <a:xfrm>
            <a:off x="6133795" y="4915128"/>
            <a:ext cx="54864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2_phi_encodes_state_goal_pair_its" title="cue_s05_c2_phi_encodes_state_goal_pair_its" descr="cue_s05_c2_phi_encodes_state_goal_pair_its Phi encodes a state-goal pair so its L1 distance matches an on-policy bisimulation metric, capturing how differently two tasks behave."/>
          <p:cNvSpPr/>
          <p:nvPr/>
        </p:nvSpPr>
        <p:spPr>
          <a:xfrm>
            <a:off x="6133795" y="1257071"/>
            <a:ext cx="5486400" cy="1085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3_psi_encodes_state_goal_embedding" title="cue_s05_c3_psi_encodes_state_goal_embedding" descr="cue_s05_c3_psi_encodes_state_goal_embedding Psi encodes a state so the goal embedding minus the state embedding equals phi."/>
          <p:cNvSpPr/>
          <p:nvPr/>
        </p:nvSpPr>
        <p:spPr>
          <a:xfrm>
            <a:off x="6133795" y="2438704"/>
            <a:ext cx="5486400" cy="1085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4_makes_goals_composable_add_analogous" title="cue_s05_c4_makes_goals_composable_add_analogous" descr="cue_s05_c4_makes_goals_composable_add_analogous That makes goals composable: add an analogous pair to your state, then take the nearest neighbor in psi space. Training is offline on Implicit Q-Learning."/>
          <p:cNvSpPr/>
          <p:nvPr/>
        </p:nvSpPr>
        <p:spPr>
          <a:xfrm>
            <a:off x="6133795" y="3619652"/>
            <a:ext cx="5486400" cy="12001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8454498" cy="656939"/>
            <a:chOff x="571500" y="533400"/>
            <a:chExt cx="8454498"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8238852"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A manipulation suite built for generalization</a:t>
              </a:r>
            </a:p>
          </p:txBody>
        </p:sp>
        <p:sp>
          <p:nvSpPr>
            <p:cNvPr id="4" name="TextBox 4"/>
            <p:cNvSpPr txBox="1"/>
            <p:nvPr/>
          </p:nvSpPr>
          <p:spPr>
            <a:xfrm>
              <a:off x="795147" y="999649"/>
              <a:ext cx="489262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DATASET / BENCHMARK · PYBULLET SIMULATED MANIPULATION</a:t>
              </a:r>
            </a:p>
          </p:txBody>
        </p:sp>
      </p:grpSp>
      <p:grpSp>
        <p:nvGrpSpPr>
          <p:cNvPr id="21" name="Group 21"/>
          <p:cNvGrpSpPr/>
          <p:nvPr/>
        </p:nvGrpSpPr>
        <p:grpSpPr>
          <a:xfrm>
            <a:off x="571500" y="1600200"/>
            <a:ext cx="3390900" cy="4419600"/>
            <a:chOff x="571500" y="1600200"/>
            <a:chExt cx="3390900" cy="4419600"/>
          </a:xfrm>
        </p:grpSpPr>
        <p:sp>
          <p:nvSpPr>
            <p:cNvPr id="6" name="Rectangle 6"/>
            <p:cNvSpPr/>
            <p:nvPr/>
          </p:nvSpPr>
          <p:spPr>
            <a:xfrm>
              <a:off x="571500" y="1600200"/>
              <a:ext cx="3390900" cy="4419600"/>
            </a:xfrm>
            <a:prstGeom prst="roundRect">
              <a:avLst>
                <a:gd name="adj" fmla="val 3371"/>
              </a:avLst>
            </a:prstGeom>
            <a:solidFill>
              <a:schemeClr val="lt2"/>
            </a:solidFill>
            <a:ln w="14288">
              <a:solidFill>
                <a:schemeClr val="accent4"/>
              </a:solidFill>
            </a:ln>
          </p:spPr>
        </p:sp>
        <p:sp>
          <p:nvSpPr>
            <p:cNvPr id="7" name="Rectangle 7"/>
            <p:cNvSpPr/>
            <p:nvPr/>
          </p:nvSpPr>
          <p:spPr>
            <a:xfrm>
              <a:off x="571500" y="1600200"/>
              <a:ext cx="3390900" cy="57150"/>
            </a:xfrm>
            <a:prstGeom prst="roundRect">
              <a:avLst>
                <a:gd name="adj" fmla="val 50000"/>
              </a:avLst>
            </a:prstGeom>
            <a:solidFill>
              <a:schemeClr val="accent2"/>
            </a:solidFill>
            <a:ln>
              <a:noFill/>
            </a:ln>
          </p:spPr>
        </p:sp>
        <p:sp>
          <p:nvSpPr>
            <p:cNvPr id="8" name="TextBox 8"/>
            <p:cNvSpPr txBox="1"/>
            <p:nvPr/>
          </p:nvSpPr>
          <p:spPr>
            <a:xfrm>
              <a:off x="795147" y="1894999"/>
              <a:ext cx="142581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ENVIRONMENT</a:t>
              </a:r>
            </a:p>
          </p:txBody>
        </p:sp>
        <p:sp>
          <p:nvSpPr>
            <p:cNvPr id="9" name="TextBox 9"/>
            <p:cNvSpPr txBox="1"/>
            <p:nvPr/>
          </p:nvSpPr>
          <p:spPr>
            <a:xfrm>
              <a:off x="793623" y="2224564"/>
              <a:ext cx="199321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 PyBullet simulation of</a:t>
              </a:r>
            </a:p>
          </p:txBody>
        </p:sp>
        <p:sp>
          <p:nvSpPr>
            <p:cNvPr id="10" name="TextBox 10"/>
            <p:cNvSpPr txBox="1"/>
            <p:nvPr/>
          </p:nvSpPr>
          <p:spPr>
            <a:xfrm>
              <a:off x="793623" y="2434114"/>
              <a:ext cx="224441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robotic manipulation, with</a:t>
              </a:r>
            </a:p>
          </p:txBody>
        </p:sp>
        <p:sp>
          <p:nvSpPr>
            <p:cNvPr id="11" name="TextBox 11"/>
            <p:cNvSpPr txBox="1"/>
            <p:nvPr/>
          </p:nvSpPr>
          <p:spPr>
            <a:xfrm>
              <a:off x="793623" y="2643664"/>
              <a:ext cx="166716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randomly generated</a:t>
              </a:r>
            </a:p>
          </p:txBody>
        </p:sp>
        <p:sp>
          <p:nvSpPr>
            <p:cNvPr id="12" name="TextBox 12"/>
            <p:cNvSpPr txBox="1"/>
            <p:nvPr/>
          </p:nvSpPr>
          <p:spPr>
            <a:xfrm>
              <a:off x="793623" y="2853214"/>
              <a:ext cx="108991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workspaces.</a:t>
              </a:r>
            </a:p>
          </p:txBody>
        </p:sp>
        <p:sp>
          <p:nvSpPr>
            <p:cNvPr id="13" name="Rectangle 13"/>
            <p:cNvSpPr/>
            <p:nvPr/>
          </p:nvSpPr>
          <p:spPr>
            <a:xfrm>
              <a:off x="800100" y="3257550"/>
              <a:ext cx="2933700" cy="1123950"/>
            </a:xfrm>
            <a:prstGeom prst="roundRect">
              <a:avLst>
                <a:gd name="adj" fmla="val 8475"/>
              </a:avLst>
            </a:prstGeom>
            <a:solidFill>
              <a:schemeClr val="lt1"/>
            </a:solidFill>
            <a:ln w="14288">
              <a:solidFill>
                <a:schemeClr val="accent4"/>
              </a:solidFill>
            </a:ln>
          </p:spPr>
        </p:sp>
        <p:sp>
          <p:nvSpPr>
            <p:cNvPr id="14" name="TextBox 14"/>
            <p:cNvSpPr txBox="1"/>
            <p:nvPr/>
          </p:nvSpPr>
          <p:spPr>
            <a:xfrm>
              <a:off x="1966029" y="3361372"/>
              <a:ext cx="601843"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j-lt"/>
                  <a:ea typeface="+mj-ea"/>
                  <a:cs typeface="+mj-cs"/>
                </a:rPr>
                <a:t>84</a:t>
              </a:r>
            </a:p>
          </p:txBody>
        </p:sp>
        <p:sp>
          <p:nvSpPr>
            <p:cNvPr id="15" name="TextBox 15"/>
            <p:cNvSpPr txBox="1"/>
            <p:nvPr/>
          </p:nvSpPr>
          <p:spPr>
            <a:xfrm>
              <a:off x="1597828" y="3936206"/>
              <a:ext cx="1338245"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object geometries</a:t>
              </a:r>
            </a:p>
          </p:txBody>
        </p:sp>
        <p:sp>
          <p:nvSpPr>
            <p:cNvPr id="16" name="TextBox 16"/>
            <p:cNvSpPr txBox="1"/>
            <p:nvPr/>
          </p:nvSpPr>
          <p:spPr>
            <a:xfrm>
              <a:off x="794385" y="4641056"/>
              <a:ext cx="178002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Deliberately designed to</a:t>
              </a:r>
            </a:p>
          </p:txBody>
        </p:sp>
        <p:sp>
          <p:nvSpPr>
            <p:cNvPr id="17" name="TextBox 17"/>
            <p:cNvSpPr txBox="1"/>
            <p:nvPr/>
          </p:nvSpPr>
          <p:spPr>
            <a:xfrm>
              <a:off x="794385" y="4850606"/>
              <a:ext cx="19262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showcase several distinct</a:t>
              </a:r>
            </a:p>
          </p:txBody>
        </p:sp>
        <p:sp>
          <p:nvSpPr>
            <p:cNvPr id="18" name="TextBox 18"/>
            <p:cNvSpPr txBox="1"/>
            <p:nvPr/>
          </p:nvSpPr>
          <p:spPr>
            <a:xfrm>
              <a:off x="794385" y="5060156"/>
              <a:ext cx="181318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types of generalization.</a:t>
              </a:r>
            </a:p>
          </p:txBody>
        </p:sp>
        <p:sp>
          <p:nvSpPr>
            <p:cNvPr id="19" name="TextBox 19"/>
            <p:cNvSpPr txBox="1"/>
            <p:nvPr/>
          </p:nvSpPr>
          <p:spPr>
            <a:xfrm>
              <a:off x="794766" y="5525452"/>
              <a:ext cx="1742664" cy="205359"/>
            </a:xfrm>
            <a:prstGeom prst="rect">
              <a:avLst/>
            </a:prstGeom>
            <a:noFill/>
            <a:ln>
              <a:noFill/>
            </a:ln>
          </p:spPr>
          <p:txBody>
            <a:bodyPr wrap="none" lIns="0" tIns="0" rIns="0" bIns="0" anchor="t" anchorCtr="0">
              <a:spAutoFit/>
            </a:bodyPr>
            <a:lstStyle/>
            <a:p>
              <a:pPr algn="l"/>
              <a:r>
                <a:rPr lang="en-US" sz="1050" i="1" dirty="0">
                  <a:solidFill>
                    <a:schemeClr val="dk2"/>
                  </a:solidFill>
                  <a:latin typeface="+mn-lt"/>
                  <a:ea typeface="+mn-ea"/>
                  <a:cs typeface="+mn-cs"/>
                </a:rPr>
                <a:t>Offline RL: a demo policy</a:t>
              </a:r>
            </a:p>
          </p:txBody>
        </p:sp>
        <p:sp>
          <p:nvSpPr>
            <p:cNvPr id="20" name="TextBox 20"/>
            <p:cNvSpPr txBox="1"/>
            <p:nvPr/>
          </p:nvSpPr>
          <p:spPr>
            <a:xfrm>
              <a:off x="794766" y="5715952"/>
              <a:ext cx="2434838" cy="205359"/>
            </a:xfrm>
            <a:prstGeom prst="rect">
              <a:avLst/>
            </a:prstGeom>
            <a:noFill/>
            <a:ln>
              <a:noFill/>
            </a:ln>
          </p:spPr>
          <p:txBody>
            <a:bodyPr wrap="none" lIns="0" tIns="0" rIns="0" bIns="0" anchor="t" anchorCtr="0">
              <a:spAutoFit/>
            </a:bodyPr>
            <a:lstStyle/>
            <a:p>
              <a:pPr algn="l"/>
              <a:r>
                <a:rPr lang="en-US" sz="1050" i="1" dirty="0">
                  <a:solidFill>
                    <a:schemeClr val="dk2"/>
                  </a:solidFill>
                  <a:latin typeface="+mn-lt"/>
                  <a:ea typeface="+mn-ea"/>
                  <a:cs typeface="+mn-cs"/>
                </a:rPr>
                <a:t>reaches the goal ~80% of episodes.</a:t>
              </a:r>
            </a:p>
          </p:txBody>
        </p:sp>
      </p:grpSp>
      <p:grpSp>
        <p:nvGrpSpPr>
          <p:cNvPr id="45" name="Group 45"/>
          <p:cNvGrpSpPr/>
          <p:nvPr/>
        </p:nvGrpSpPr>
        <p:grpSpPr>
          <a:xfrm>
            <a:off x="4191000" y="1600200"/>
            <a:ext cx="7429500" cy="3276600"/>
            <a:chOff x="4191000" y="1600200"/>
            <a:chExt cx="7429500" cy="3276600"/>
          </a:xfrm>
        </p:grpSpPr>
        <p:sp>
          <p:nvSpPr>
            <p:cNvPr id="22" name="Rectangle 22"/>
            <p:cNvSpPr/>
            <p:nvPr/>
          </p:nvSpPr>
          <p:spPr>
            <a:xfrm>
              <a:off x="4191000" y="1600200"/>
              <a:ext cx="7429500" cy="3276600"/>
            </a:xfrm>
            <a:prstGeom prst="roundRect">
              <a:avLst>
                <a:gd name="adj" fmla="val 3488"/>
              </a:avLst>
            </a:prstGeom>
            <a:solidFill>
              <a:schemeClr val="lt1"/>
            </a:solidFill>
            <a:ln w="14288">
              <a:solidFill>
                <a:schemeClr val="accent4"/>
              </a:solidFill>
            </a:ln>
          </p:spPr>
        </p:sp>
        <p:sp>
          <p:nvSpPr>
            <p:cNvPr id="23" name="Rectangle 23"/>
            <p:cNvSpPr/>
            <p:nvPr/>
          </p:nvSpPr>
          <p:spPr>
            <a:xfrm>
              <a:off x="4191000" y="1600200"/>
              <a:ext cx="7429500" cy="57150"/>
            </a:xfrm>
            <a:prstGeom prst="roundRect">
              <a:avLst>
                <a:gd name="adj" fmla="val 50000"/>
              </a:avLst>
            </a:prstGeom>
            <a:solidFill>
              <a:schemeClr val="accent2"/>
            </a:solidFill>
            <a:ln>
              <a:noFill/>
            </a:ln>
          </p:spPr>
        </p:sp>
        <p:sp>
          <p:nvSpPr>
            <p:cNvPr id="24" name="TextBox 24"/>
            <p:cNvSpPr txBox="1"/>
            <p:nvPr/>
          </p:nvSpPr>
          <p:spPr>
            <a:xfrm>
              <a:off x="4414647" y="1894999"/>
              <a:ext cx="443500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SIX TASK SETTINGS · CLEAN + VIDEO DISTRACTORS (VD)</a:t>
              </a:r>
            </a:p>
          </p:txBody>
        </p:sp>
        <p:sp>
          <p:nvSpPr>
            <p:cNvPr id="25" name="Rectangle 25"/>
            <p:cNvSpPr/>
            <p:nvPr/>
          </p:nvSpPr>
          <p:spPr>
            <a:xfrm>
              <a:off x="4419600" y="2190750"/>
              <a:ext cx="2190750" cy="1162050"/>
            </a:xfrm>
            <a:prstGeom prst="roundRect">
              <a:avLst>
                <a:gd name="adj" fmla="val 8197"/>
              </a:avLst>
            </a:prstGeom>
            <a:solidFill>
              <a:srgbClr val="EAEFFC"/>
            </a:solidFill>
            <a:ln>
              <a:noFill/>
            </a:ln>
          </p:spPr>
        </p:sp>
        <p:sp>
          <p:nvSpPr>
            <p:cNvPr id="26" name="TextBox 26"/>
            <p:cNvSpPr txBox="1"/>
            <p:nvPr/>
          </p:nvSpPr>
          <p:spPr>
            <a:xfrm>
              <a:off x="4602480" y="2333625"/>
              <a:ext cx="827342"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Drawer</a:t>
              </a:r>
            </a:p>
          </p:txBody>
        </p:sp>
        <p:sp>
          <p:nvSpPr>
            <p:cNvPr id="27" name="TextBox 27"/>
            <p:cNvSpPr txBox="1"/>
            <p:nvPr/>
          </p:nvSpPr>
          <p:spPr>
            <a:xfrm>
              <a:off x="4604766" y="2648902"/>
              <a:ext cx="15420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Position a drawer to a</a:t>
              </a:r>
            </a:p>
          </p:txBody>
        </p:sp>
        <p:sp>
          <p:nvSpPr>
            <p:cNvPr id="28" name="TextBox 28"/>
            <p:cNvSpPr txBox="1"/>
            <p:nvPr/>
          </p:nvSpPr>
          <p:spPr>
            <a:xfrm>
              <a:off x="4604766" y="2839402"/>
              <a:ext cx="12192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target openness.</a:t>
              </a:r>
            </a:p>
          </p:txBody>
        </p:sp>
        <p:sp>
          <p:nvSpPr>
            <p:cNvPr id="29" name="TextBox 29"/>
            <p:cNvSpPr txBox="1"/>
            <p:nvPr/>
          </p:nvSpPr>
          <p:spPr>
            <a:xfrm>
              <a:off x="4605147" y="3114199"/>
              <a:ext cx="823326"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Drawer + VD</a:t>
              </a:r>
            </a:p>
          </p:txBody>
        </p:sp>
        <p:sp>
          <p:nvSpPr>
            <p:cNvPr id="30" name="Rectangle 30"/>
            <p:cNvSpPr/>
            <p:nvPr/>
          </p:nvSpPr>
          <p:spPr>
            <a:xfrm>
              <a:off x="6819900" y="2190750"/>
              <a:ext cx="2190750" cy="1162050"/>
            </a:xfrm>
            <a:prstGeom prst="roundRect">
              <a:avLst>
                <a:gd name="adj" fmla="val 8197"/>
              </a:avLst>
            </a:prstGeom>
            <a:solidFill>
              <a:srgbClr val="EAEFFC"/>
            </a:solidFill>
            <a:ln>
              <a:noFill/>
            </a:ln>
          </p:spPr>
        </p:sp>
        <p:sp>
          <p:nvSpPr>
            <p:cNvPr id="31" name="TextBox 31"/>
            <p:cNvSpPr txBox="1"/>
            <p:nvPr/>
          </p:nvSpPr>
          <p:spPr>
            <a:xfrm>
              <a:off x="7002780" y="2333625"/>
              <a:ext cx="185987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Button &amp; Drawer</a:t>
              </a:r>
            </a:p>
          </p:txBody>
        </p:sp>
        <p:sp>
          <p:nvSpPr>
            <p:cNvPr id="32" name="TextBox 32"/>
            <p:cNvSpPr txBox="1"/>
            <p:nvPr/>
          </p:nvSpPr>
          <p:spPr>
            <a:xfrm>
              <a:off x="7005066" y="2648902"/>
              <a:ext cx="14217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Position a drawer or</a:t>
              </a:r>
            </a:p>
          </p:txBody>
        </p:sp>
        <p:sp>
          <p:nvSpPr>
            <p:cNvPr id="33" name="TextBox 33"/>
            <p:cNvSpPr txBox="1"/>
            <p:nvPr/>
          </p:nvSpPr>
          <p:spPr>
            <a:xfrm>
              <a:off x="7005066" y="2839402"/>
              <a:ext cx="14712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press a button (BD).</a:t>
              </a:r>
            </a:p>
          </p:txBody>
        </p:sp>
        <p:sp>
          <p:nvSpPr>
            <p:cNvPr id="34" name="TextBox 34"/>
            <p:cNvSpPr txBox="1"/>
            <p:nvPr/>
          </p:nvSpPr>
          <p:spPr>
            <a:xfrm>
              <a:off x="7005447" y="3114199"/>
              <a:ext cx="500229"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BD + VD</a:t>
              </a:r>
            </a:p>
          </p:txBody>
        </p:sp>
        <p:sp>
          <p:nvSpPr>
            <p:cNvPr id="35" name="Rectangle 35"/>
            <p:cNvSpPr/>
            <p:nvPr/>
          </p:nvSpPr>
          <p:spPr>
            <a:xfrm>
              <a:off x="9220200" y="2190750"/>
              <a:ext cx="2171700" cy="1162050"/>
            </a:xfrm>
            <a:prstGeom prst="roundRect">
              <a:avLst>
                <a:gd name="adj" fmla="val 8197"/>
              </a:avLst>
            </a:prstGeom>
            <a:solidFill>
              <a:srgbClr val="FCEEDF"/>
            </a:solidFill>
            <a:ln>
              <a:noFill/>
            </a:ln>
          </p:spPr>
        </p:sp>
        <p:sp>
          <p:nvSpPr>
            <p:cNvPr id="36" name="TextBox 36"/>
            <p:cNvSpPr txBox="1"/>
            <p:nvPr/>
          </p:nvSpPr>
          <p:spPr>
            <a:xfrm>
              <a:off x="9403080" y="2333625"/>
              <a:ext cx="846430"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j-lt"/>
                  <a:ea typeface="+mj-ea"/>
                  <a:cs typeface="+mj-cs"/>
                </a:rPr>
                <a:t>Analogy</a:t>
              </a:r>
            </a:p>
          </p:txBody>
        </p:sp>
        <p:sp>
          <p:nvSpPr>
            <p:cNvPr id="37" name="TextBox 37"/>
            <p:cNvSpPr txBox="1"/>
            <p:nvPr/>
          </p:nvSpPr>
          <p:spPr>
            <a:xfrm>
              <a:off x="9405366" y="2648902"/>
              <a:ext cx="15420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Infer the goal from an</a:t>
              </a:r>
            </a:p>
          </p:txBody>
        </p:sp>
        <p:sp>
          <p:nvSpPr>
            <p:cNvPr id="38" name="TextBox 38"/>
            <p:cNvSpPr txBox="1"/>
            <p:nvPr/>
          </p:nvSpPr>
          <p:spPr>
            <a:xfrm>
              <a:off x="9405366" y="2839402"/>
              <a:ext cx="133230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analogous example.</a:t>
              </a:r>
            </a:p>
          </p:txBody>
        </p:sp>
        <p:sp>
          <p:nvSpPr>
            <p:cNvPr id="39" name="TextBox 39"/>
            <p:cNvSpPr txBox="1"/>
            <p:nvPr/>
          </p:nvSpPr>
          <p:spPr>
            <a:xfrm>
              <a:off x="9405747" y="3114199"/>
              <a:ext cx="835561" cy="190690"/>
            </a:xfrm>
            <a:prstGeom prst="rect">
              <a:avLst/>
            </a:prstGeom>
            <a:noFill/>
            <a:ln>
              <a:noFill/>
            </a:ln>
          </p:spPr>
          <p:txBody>
            <a:bodyPr wrap="none" lIns="0" tIns="0" rIns="0" bIns="0" anchor="t" anchorCtr="0">
              <a:spAutoFit/>
            </a:bodyPr>
            <a:lstStyle/>
            <a:p>
              <a:pPr algn="l"/>
              <a:r>
                <a:rPr lang="en-US" sz="980" b="1" dirty="0">
                  <a:solidFill>
                    <a:schemeClr val="accent5"/>
                  </a:solidFill>
                  <a:latin typeface="+mn-lt"/>
                  <a:ea typeface="+mn-ea"/>
                  <a:cs typeface="+mn-cs"/>
                </a:rPr>
                <a:t>Analogy + VD</a:t>
              </a:r>
            </a:p>
          </p:txBody>
        </p:sp>
        <p:sp>
          <p:nvSpPr>
            <p:cNvPr id="40" name="Rectangle 40"/>
            <p:cNvSpPr/>
            <p:nvPr/>
          </p:nvSpPr>
          <p:spPr>
            <a:xfrm>
              <a:off x="4419600" y="3543300"/>
              <a:ext cx="6972300" cy="1143000"/>
            </a:xfrm>
            <a:prstGeom prst="roundRect">
              <a:avLst>
                <a:gd name="adj" fmla="val 8333"/>
              </a:avLst>
            </a:prstGeom>
            <a:solidFill>
              <a:schemeClr val="lt2"/>
            </a:solidFill>
            <a:ln>
              <a:noFill/>
            </a:ln>
          </p:spPr>
        </p:sp>
        <p:sp>
          <p:nvSpPr>
            <p:cNvPr id="41" name="TextBox 41"/>
            <p:cNvSpPr txBox="1"/>
            <p:nvPr/>
          </p:nvSpPr>
          <p:spPr>
            <a:xfrm>
              <a:off x="4605147" y="3742849"/>
              <a:ext cx="1497879"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VIDEO DISTRACTORS</a:t>
              </a:r>
            </a:p>
          </p:txBody>
        </p:sp>
        <p:sp>
          <p:nvSpPr>
            <p:cNvPr id="42" name="TextBox 42"/>
            <p:cNvSpPr txBox="1"/>
            <p:nvPr/>
          </p:nvSpPr>
          <p:spPr>
            <a:xfrm>
              <a:off x="4604004" y="4004310"/>
              <a:ext cx="514639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Each task is also evaluated with distracting video played into the</a:t>
              </a:r>
            </a:p>
          </p:txBody>
        </p:sp>
        <p:sp>
          <p:nvSpPr>
            <p:cNvPr id="43" name="TextBox 43"/>
            <p:cNvSpPr txBox="1"/>
            <p:nvPr/>
          </p:nvSpPr>
          <p:spPr>
            <a:xfrm>
              <a:off x="4604004" y="4213860"/>
              <a:ext cx="521390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scene — a direct test of whether the representation isolates only</a:t>
              </a:r>
            </a:p>
          </p:txBody>
        </p:sp>
        <p:sp>
          <p:nvSpPr>
            <p:cNvPr id="44" name="TextBox 44"/>
            <p:cNvSpPr txBox="1"/>
            <p:nvPr/>
          </p:nvSpPr>
          <p:spPr>
            <a:xfrm>
              <a:off x="4604004" y="4423410"/>
              <a:ext cx="237881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task-relevant structure.</a:t>
              </a:r>
            </a:p>
          </p:txBody>
        </p:sp>
      </p:grpSp>
      <p:grpSp>
        <p:nvGrpSpPr>
          <p:cNvPr id="50" name="Group 50"/>
          <p:cNvGrpSpPr/>
          <p:nvPr/>
        </p:nvGrpSpPr>
        <p:grpSpPr>
          <a:xfrm>
            <a:off x="4191000" y="5029200"/>
            <a:ext cx="8610278" cy="990600"/>
            <a:chOff x="4191000" y="5029200"/>
            <a:chExt cx="8610278" cy="990600"/>
          </a:xfrm>
        </p:grpSpPr>
        <p:sp>
          <p:nvSpPr>
            <p:cNvPr id="46" name="Rectangle 46"/>
            <p:cNvSpPr/>
            <p:nvPr/>
          </p:nvSpPr>
          <p:spPr>
            <a:xfrm>
              <a:off x="4191000" y="5029200"/>
              <a:ext cx="7429500" cy="990600"/>
            </a:xfrm>
            <a:prstGeom prst="roundRect">
              <a:avLst>
                <a:gd name="adj" fmla="val 11538"/>
              </a:avLst>
            </a:prstGeom>
            <a:solidFill>
              <a:schemeClr val="accent1"/>
            </a:solidFill>
            <a:ln>
              <a:noFill/>
            </a:ln>
          </p:spPr>
        </p:sp>
        <p:sp>
          <p:nvSpPr>
            <p:cNvPr id="47" name="TextBox 47"/>
            <p:cNvSpPr txBox="1"/>
            <p:nvPr/>
          </p:nvSpPr>
          <p:spPr>
            <a:xfrm>
              <a:off x="4414647" y="5285899"/>
              <a:ext cx="1870085"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EVALUATION PROTOCOL</a:t>
              </a:r>
            </a:p>
          </p:txBody>
        </p:sp>
        <p:sp>
          <p:nvSpPr>
            <p:cNvPr id="48" name="TextBox 48"/>
            <p:cNvSpPr txBox="1"/>
            <p:nvPr/>
          </p:nvSpPr>
          <p:spPr>
            <a:xfrm>
              <a:off x="4411599" y="5544979"/>
              <a:ext cx="8389679"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j-lt"/>
                  <a:ea typeface="+mj-ea"/>
                  <a:cs typeface="+mj-cs"/>
                </a:rPr>
                <a:t>Success measured against the true goal, averaged over 5 random seeds.</a:t>
              </a:r>
            </a:p>
          </p:txBody>
        </p:sp>
        <p:sp>
          <p:nvSpPr>
            <p:cNvPr id="49" name="TextBox 49"/>
            <p:cNvSpPr txBox="1"/>
            <p:nvPr/>
          </p:nvSpPr>
          <p:spPr>
            <a:xfrm>
              <a:off x="10807583" y="5304472"/>
              <a:ext cx="601843" cy="674751"/>
            </a:xfrm>
            <a:prstGeom prst="rect">
              <a:avLst/>
            </a:prstGeom>
            <a:noFill/>
            <a:ln>
              <a:noFill/>
            </a:ln>
          </p:spPr>
          <p:txBody>
            <a:bodyPr wrap="none" lIns="0" tIns="0" rIns="0" bIns="0" anchor="t" anchorCtr="0">
              <a:spAutoFit/>
            </a:bodyPr>
            <a:lstStyle/>
            <a:p>
              <a:pPr algn="r"/>
              <a:r>
                <a:rPr lang="en-US" sz="3450" b="1" dirty="0">
                  <a:solidFill>
                    <a:schemeClr val="accent2"/>
                  </a:solidFill>
                  <a:latin typeface="+mj-lt"/>
                  <a:ea typeface="+mj-ea"/>
                  <a:cs typeface="+mj-cs"/>
                </a:rPr>
                <a:t>5×</a:t>
              </a:r>
            </a:p>
          </p:txBody>
        </p:sp>
      </p:grpSp>
      <p:grpSp>
        <p:nvGrpSpPr>
          <p:cNvPr id="53" name="Group 53"/>
          <p:cNvGrpSpPr/>
          <p:nvPr/>
        </p:nvGrpSpPr>
        <p:grpSpPr>
          <a:xfrm>
            <a:off x="566738" y="6597491"/>
            <a:ext cx="11058524" cy="161925"/>
            <a:chOff x="566738" y="6597491"/>
            <a:chExt cx="11058524" cy="161925"/>
          </a:xfrm>
        </p:grpSpPr>
        <p:sp>
          <p:nvSpPr>
            <p:cNvPr id="51" name="TextBox 51"/>
            <p:cNvSpPr txBox="1"/>
            <p:nvPr/>
          </p:nvSpPr>
          <p:spPr>
            <a:xfrm>
              <a:off x="566738" y="6597491"/>
              <a:ext cx="2239922"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Goal-Conditioned Bisimulation · ICML 2022</a:t>
              </a:r>
            </a:p>
          </p:txBody>
        </p:sp>
        <p:sp>
          <p:nvSpPr>
            <p:cNvPr id="52" name="TextBox 52"/>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06</a:t>
              </a:r>
            </a:p>
          </p:txBody>
        </p:sp>
      </p:grpSp>
      <p:sp>
        <p:nvSpPr>
          <p:cNvPr id="54" name="cue_s06_c1_gcb_tested_pybullet_manipulation_sui" title="cue_s06_c1_gcb_tested_pybullet_manipulation_sui" descr="cue_s06_c1_gcb_tested_pybullet_manipulation_sui GCB is tested in a PyBullet manipulation suite of random workspaces built from eighty-four object geometries."/>
          <p:cNvSpPr/>
          <p:nvPr/>
        </p:nvSpPr>
        <p:spPr>
          <a:xfrm>
            <a:off x="571804" y="1599971"/>
            <a:ext cx="3390595" cy="4419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6_c2_tasks_span_drawer_button_and_drawer" title="cue_s06_c2_tasks_span_drawer_button_and_drawer" descr="cue_s06_c2_tasks_span_drawer_button_and_drawer Tasks span Drawer, Button-and-Drawer, and Analogy, each also run with added video distractors to probe robustness."/>
          <p:cNvSpPr/>
          <p:nvPr/>
        </p:nvSpPr>
        <p:spPr>
          <a:xfrm>
            <a:off x="4191609" y="1599971"/>
            <a:ext cx="7429804" cy="32767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6_c3_results_average_over_five_seeds" title="cue_s06_c3_results_average_over_five_seeds" descr="cue_s06_c3_results_average_over_five_seeds Results average over five seeds."/>
          <p:cNvSpPr/>
          <p:nvPr/>
        </p:nvSpPr>
        <p:spPr>
          <a:xfrm>
            <a:off x="4191609" y="5028971"/>
            <a:ext cx="7604150"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345090" cy="656939"/>
            <a:chOff x="571500" y="533400"/>
            <a:chExt cx="6345090"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612944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Best on five of six task settings</a:t>
              </a:r>
            </a:p>
          </p:txBody>
        </p:sp>
        <p:sp>
          <p:nvSpPr>
            <p:cNvPr id="4" name="TextBox 4"/>
            <p:cNvSpPr txBox="1"/>
            <p:nvPr/>
          </p:nvSpPr>
          <p:spPr>
            <a:xfrm>
              <a:off x="795147" y="999649"/>
              <a:ext cx="4991642"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KEY RESULT · FINAL AVG. SUCCESS RATE (± STDERR, 5 SEEDS)</a:t>
              </a:r>
            </a:p>
          </p:txBody>
        </p:sp>
      </p:grpSp>
      <p:grpSp>
        <p:nvGrpSpPr>
          <p:cNvPr id="55" name="Group 55"/>
          <p:cNvGrpSpPr/>
          <p:nvPr/>
        </p:nvGrpSpPr>
        <p:grpSpPr>
          <a:xfrm>
            <a:off x="571500" y="1562100"/>
            <a:ext cx="7086600" cy="4457700"/>
            <a:chOff x="571500" y="1562100"/>
            <a:chExt cx="7086600" cy="4457700"/>
          </a:xfrm>
        </p:grpSpPr>
        <p:sp>
          <p:nvSpPr>
            <p:cNvPr id="6" name="Rectangle 6"/>
            <p:cNvSpPr/>
            <p:nvPr/>
          </p:nvSpPr>
          <p:spPr>
            <a:xfrm>
              <a:off x="571500" y="1562100"/>
              <a:ext cx="7086600" cy="4457700"/>
            </a:xfrm>
            <a:prstGeom prst="roundRect">
              <a:avLst>
                <a:gd name="adj" fmla="val 2991"/>
              </a:avLst>
            </a:prstGeom>
            <a:solidFill>
              <a:schemeClr val="lt1"/>
            </a:solidFill>
            <a:ln w="14288">
              <a:solidFill>
                <a:schemeClr val="accent4"/>
              </a:solidFill>
            </a:ln>
          </p:spPr>
        </p:sp>
        <p:sp>
          <p:nvSpPr>
            <p:cNvPr id="7" name="Rectangle 7"/>
            <p:cNvSpPr/>
            <p:nvPr/>
          </p:nvSpPr>
          <p:spPr>
            <a:xfrm>
              <a:off x="571500" y="1562100"/>
              <a:ext cx="7086600" cy="57150"/>
            </a:xfrm>
            <a:prstGeom prst="roundRect">
              <a:avLst>
                <a:gd name="adj" fmla="val 50000"/>
              </a:avLst>
            </a:prstGeom>
            <a:solidFill>
              <a:srgbClr val="2F9E68"/>
            </a:solidFill>
            <a:ln>
              <a:noFill/>
            </a:ln>
          </p:spPr>
        </p:sp>
        <p:sp>
          <p:nvSpPr>
            <p:cNvPr id="8" name="TextBox 8"/>
            <p:cNvSpPr txBox="1"/>
            <p:nvPr/>
          </p:nvSpPr>
          <p:spPr>
            <a:xfrm>
              <a:off x="795147" y="1837849"/>
              <a:ext cx="604796" cy="190690"/>
            </a:xfrm>
            <a:prstGeom prst="rect">
              <a:avLst/>
            </a:prstGeom>
            <a:noFill/>
            <a:ln>
              <a:noFill/>
            </a:ln>
          </p:spPr>
          <p:txBody>
            <a:bodyPr wrap="none" lIns="0" tIns="0" rIns="0" bIns="0" anchor="t" anchorCtr="0">
              <a:spAutoFit/>
            </a:bodyPr>
            <a:lstStyle/>
            <a:p>
              <a:pPr algn="l"/>
              <a:r>
                <a:rPr lang="en-US" sz="980" b="1" spc="75" dirty="0">
                  <a:solidFill>
                    <a:schemeClr val="dk2"/>
                  </a:solidFill>
                  <a:latin typeface="+mn-lt"/>
                  <a:ea typeface="+mn-ea"/>
                  <a:cs typeface="+mn-cs"/>
                </a:rPr>
                <a:t>METHOD</a:t>
              </a:r>
            </a:p>
          </p:txBody>
        </p:sp>
        <p:sp>
          <p:nvSpPr>
            <p:cNvPr id="9" name="TextBox 9"/>
            <p:cNvSpPr txBox="1"/>
            <p:nvPr/>
          </p:nvSpPr>
          <p:spPr>
            <a:xfrm>
              <a:off x="3199509" y="1845945"/>
              <a:ext cx="458981"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Drawer</a:t>
              </a:r>
            </a:p>
          </p:txBody>
        </p:sp>
        <p:sp>
          <p:nvSpPr>
            <p:cNvPr id="10" name="TextBox 10"/>
            <p:cNvSpPr txBox="1"/>
            <p:nvPr/>
          </p:nvSpPr>
          <p:spPr>
            <a:xfrm>
              <a:off x="3927690" y="1845945"/>
              <a:ext cx="374221" cy="176212"/>
            </a:xfrm>
            <a:prstGeom prst="rect">
              <a:avLst/>
            </a:prstGeom>
            <a:noFill/>
            <a:ln>
              <a:noFill/>
            </a:ln>
          </p:spPr>
          <p:txBody>
            <a:bodyPr wrap="none" lIns="0" tIns="0" rIns="0" bIns="0" anchor="t" anchorCtr="0">
              <a:spAutoFit/>
            </a:bodyPr>
            <a:lstStyle/>
            <a:p>
              <a:pPr algn="ctr"/>
              <a:r>
                <a:rPr lang="en-US" sz="900" b="1" dirty="0">
                  <a:solidFill>
                    <a:schemeClr val="accent2"/>
                  </a:solidFill>
                  <a:latin typeface="+mn-lt"/>
                  <a:ea typeface="+mn-ea"/>
                  <a:cs typeface="+mn-cs"/>
                </a:rPr>
                <a:t>Dr+VD</a:t>
              </a:r>
            </a:p>
          </p:txBody>
        </p:sp>
        <p:sp>
          <p:nvSpPr>
            <p:cNvPr id="11" name="TextBox 11"/>
            <p:cNvSpPr txBox="1"/>
            <p:nvPr/>
          </p:nvSpPr>
          <p:spPr>
            <a:xfrm>
              <a:off x="4721908" y="1845945"/>
              <a:ext cx="157383"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BD</a:t>
              </a:r>
            </a:p>
          </p:txBody>
        </p:sp>
        <p:sp>
          <p:nvSpPr>
            <p:cNvPr id="12" name="TextBox 12"/>
            <p:cNvSpPr txBox="1"/>
            <p:nvPr/>
          </p:nvSpPr>
          <p:spPr>
            <a:xfrm>
              <a:off x="5296814" y="1845945"/>
              <a:ext cx="379171" cy="176212"/>
            </a:xfrm>
            <a:prstGeom prst="rect">
              <a:avLst/>
            </a:prstGeom>
            <a:noFill/>
            <a:ln>
              <a:noFill/>
            </a:ln>
          </p:spPr>
          <p:txBody>
            <a:bodyPr wrap="none" lIns="0" tIns="0" rIns="0" bIns="0" anchor="t" anchorCtr="0">
              <a:spAutoFit/>
            </a:bodyPr>
            <a:lstStyle/>
            <a:p>
              <a:pPr algn="ctr"/>
              <a:r>
                <a:rPr lang="en-US" sz="900" b="1" dirty="0">
                  <a:solidFill>
                    <a:schemeClr val="accent2"/>
                  </a:solidFill>
                  <a:latin typeface="+mn-lt"/>
                  <a:ea typeface="+mn-ea"/>
                  <a:cs typeface="+mn-cs"/>
                </a:rPr>
                <a:t>BD+VD</a:t>
              </a:r>
            </a:p>
          </p:txBody>
        </p:sp>
        <p:sp>
          <p:nvSpPr>
            <p:cNvPr id="13" name="TextBox 13"/>
            <p:cNvSpPr txBox="1"/>
            <p:nvPr/>
          </p:nvSpPr>
          <p:spPr>
            <a:xfrm>
              <a:off x="5936597" y="1845945"/>
              <a:ext cx="471206" cy="176212"/>
            </a:xfrm>
            <a:prstGeom prst="rect">
              <a:avLst/>
            </a:prstGeom>
            <a:noFill/>
            <a:ln>
              <a:noFill/>
            </a:ln>
          </p:spPr>
          <p:txBody>
            <a:bodyPr wrap="none" lIns="0" tIns="0" rIns="0" bIns="0" anchor="t" anchorCtr="0">
              <a:spAutoFit/>
            </a:bodyPr>
            <a:lstStyle/>
            <a:p>
              <a:pPr algn="ctr"/>
              <a:r>
                <a:rPr lang="en-US" sz="900" b="1" dirty="0">
                  <a:solidFill>
                    <a:schemeClr val="accent5"/>
                  </a:solidFill>
                  <a:latin typeface="+mn-lt"/>
                  <a:ea typeface="+mn-ea"/>
                  <a:cs typeface="+mn-cs"/>
                </a:rPr>
                <a:t>Analogy</a:t>
              </a:r>
            </a:p>
          </p:txBody>
        </p:sp>
        <p:sp>
          <p:nvSpPr>
            <p:cNvPr id="14" name="TextBox 14"/>
            <p:cNvSpPr txBox="1"/>
            <p:nvPr/>
          </p:nvSpPr>
          <p:spPr>
            <a:xfrm>
              <a:off x="6728040" y="1845945"/>
              <a:ext cx="374221" cy="176212"/>
            </a:xfrm>
            <a:prstGeom prst="rect">
              <a:avLst/>
            </a:prstGeom>
            <a:noFill/>
            <a:ln>
              <a:noFill/>
            </a:ln>
          </p:spPr>
          <p:txBody>
            <a:bodyPr wrap="none" lIns="0" tIns="0" rIns="0" bIns="0" anchor="t" anchorCtr="0">
              <a:spAutoFit/>
            </a:bodyPr>
            <a:lstStyle/>
            <a:p>
              <a:pPr algn="ctr"/>
              <a:r>
                <a:rPr lang="en-US" sz="900" b="1" dirty="0">
                  <a:solidFill>
                    <a:schemeClr val="accent5"/>
                  </a:solidFill>
                  <a:latin typeface="+mn-lt"/>
                  <a:ea typeface="+mn-ea"/>
                  <a:cs typeface="+mn-cs"/>
                </a:rPr>
                <a:t>An+VD</a:t>
              </a:r>
            </a:p>
          </p:txBody>
        </p:sp>
        <p:sp>
          <p:nvSpPr>
            <p:cNvPr id="15" name="Line 15"/>
            <p:cNvSpPr/>
            <p:nvPr/>
          </p:nvSpPr>
          <p:spPr>
            <a:xfrm>
              <a:off x="800100" y="2057400"/>
              <a:ext cx="6629400" cy="9525"/>
            </a:xfrm>
            <a:custGeom>
              <a:avLst/>
              <a:gdLst/>
              <a:ahLst/>
              <a:cxnLst/>
              <a:rect l="l" t="t" r="r" b="b"/>
              <a:pathLst>
                <a:path w="6629400" h="9525">
                  <a:moveTo>
                    <a:pt x="0" y="0"/>
                  </a:moveTo>
                  <a:lnTo>
                    <a:pt x="6629400" y="0"/>
                  </a:lnTo>
                </a:path>
              </a:pathLst>
            </a:custGeom>
            <a:noFill/>
            <a:ln w="14288">
              <a:solidFill>
                <a:schemeClr val="accent4"/>
              </a:solidFill>
            </a:ln>
          </p:spPr>
        </p:sp>
        <p:sp>
          <p:nvSpPr>
            <p:cNvPr id="16" name="Rectangle 16"/>
            <p:cNvSpPr/>
            <p:nvPr/>
          </p:nvSpPr>
          <p:spPr>
            <a:xfrm>
              <a:off x="723900" y="2171700"/>
              <a:ext cx="6781800" cy="495300"/>
            </a:xfrm>
            <a:prstGeom prst="roundRect">
              <a:avLst>
                <a:gd name="adj" fmla="val 15385"/>
              </a:avLst>
            </a:prstGeom>
            <a:solidFill>
              <a:srgbClr val="E7F4EC"/>
            </a:solidFill>
            <a:ln>
              <a:noFill/>
            </a:ln>
          </p:spPr>
        </p:sp>
        <p:sp>
          <p:nvSpPr>
            <p:cNvPr id="17" name="TextBox 17"/>
            <p:cNvSpPr txBox="1"/>
            <p:nvPr/>
          </p:nvSpPr>
          <p:spPr>
            <a:xfrm>
              <a:off x="907161" y="2246471"/>
              <a:ext cx="439395"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j-lt"/>
                  <a:ea typeface="+mj-ea"/>
                  <a:cs typeface="+mj-cs"/>
                </a:rPr>
                <a:t>GCB</a:t>
              </a:r>
            </a:p>
          </p:txBody>
        </p:sp>
        <p:sp>
          <p:nvSpPr>
            <p:cNvPr id="18" name="TextBox 18"/>
            <p:cNvSpPr txBox="1"/>
            <p:nvPr/>
          </p:nvSpPr>
          <p:spPr>
            <a:xfrm>
              <a:off x="909638" y="2482691"/>
              <a:ext cx="522831" cy="161925"/>
            </a:xfrm>
            <a:prstGeom prst="rect">
              <a:avLst/>
            </a:prstGeom>
            <a:noFill/>
            <a:ln>
              <a:noFill/>
            </a:ln>
          </p:spPr>
          <p:txBody>
            <a:bodyPr wrap="none" lIns="0" tIns="0" rIns="0" bIns="0" anchor="t" anchorCtr="0">
              <a:spAutoFit/>
            </a:bodyPr>
            <a:lstStyle/>
            <a:p>
              <a:pPr algn="l"/>
              <a:r>
                <a:rPr lang="en-US" sz="820" i="1" dirty="0">
                  <a:solidFill>
                    <a:srgbClr val="2F9E68"/>
                  </a:solidFill>
                  <a:latin typeface="+mn-lt"/>
                  <a:ea typeface="+mn-ea"/>
                  <a:cs typeface="+mn-cs"/>
                </a:rPr>
                <a:t>this work</a:t>
              </a:r>
            </a:p>
          </p:txBody>
        </p:sp>
        <p:sp>
          <p:nvSpPr>
            <p:cNvPr id="19" name="TextBox 19"/>
            <p:cNvSpPr txBox="1"/>
            <p:nvPr/>
          </p:nvSpPr>
          <p:spPr>
            <a:xfrm>
              <a:off x="3189675" y="2366010"/>
              <a:ext cx="478650" cy="234696"/>
            </a:xfrm>
            <a:prstGeom prst="rect">
              <a:avLst/>
            </a:prstGeom>
            <a:noFill/>
            <a:ln>
              <a:noFill/>
            </a:ln>
          </p:spPr>
          <p:txBody>
            <a:bodyPr wrap="none" lIns="0" tIns="0" rIns="0" bIns="0" anchor="t" anchorCtr="0">
              <a:spAutoFit/>
            </a:bodyPr>
            <a:lstStyle/>
            <a:p>
              <a:pPr algn="ctr"/>
              <a:r>
                <a:rPr lang="en-US" sz="1200" b="1" dirty="0">
                  <a:solidFill>
                    <a:srgbClr val="2F9E68"/>
                  </a:solidFill>
                  <a:latin typeface="Consolas"/>
                  <a:ea typeface="Consolas"/>
                  <a:cs typeface="Consolas"/>
                </a:rPr>
                <a:t>0.533</a:t>
              </a:r>
            </a:p>
          </p:txBody>
        </p:sp>
        <p:sp>
          <p:nvSpPr>
            <p:cNvPr id="20" name="TextBox 20"/>
            <p:cNvSpPr txBox="1"/>
            <p:nvPr/>
          </p:nvSpPr>
          <p:spPr>
            <a:xfrm>
              <a:off x="3875475" y="2366010"/>
              <a:ext cx="478650" cy="234696"/>
            </a:xfrm>
            <a:prstGeom prst="rect">
              <a:avLst/>
            </a:prstGeom>
            <a:noFill/>
            <a:ln>
              <a:noFill/>
            </a:ln>
          </p:spPr>
          <p:txBody>
            <a:bodyPr wrap="none" lIns="0" tIns="0" rIns="0" bIns="0" anchor="t" anchorCtr="0">
              <a:spAutoFit/>
            </a:bodyPr>
            <a:lstStyle/>
            <a:p>
              <a:pPr algn="ctr"/>
              <a:r>
                <a:rPr lang="en-US" sz="1200" b="1" dirty="0">
                  <a:solidFill>
                    <a:srgbClr val="2F9E68"/>
                  </a:solidFill>
                  <a:latin typeface="Consolas"/>
                  <a:ea typeface="Consolas"/>
                  <a:cs typeface="Consolas"/>
                </a:rPr>
                <a:t>0.448</a:t>
              </a:r>
            </a:p>
          </p:txBody>
        </p:sp>
        <p:sp>
          <p:nvSpPr>
            <p:cNvPr id="21" name="TextBox 21"/>
            <p:cNvSpPr txBox="1"/>
            <p:nvPr/>
          </p:nvSpPr>
          <p:spPr>
            <a:xfrm>
              <a:off x="4572381" y="2366010"/>
              <a:ext cx="456438"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0.440</a:t>
              </a:r>
            </a:p>
          </p:txBody>
        </p:sp>
        <p:sp>
          <p:nvSpPr>
            <p:cNvPr id="22" name="TextBox 22"/>
            <p:cNvSpPr txBox="1"/>
            <p:nvPr/>
          </p:nvSpPr>
          <p:spPr>
            <a:xfrm>
              <a:off x="5247075" y="2366010"/>
              <a:ext cx="478650" cy="234696"/>
            </a:xfrm>
            <a:prstGeom prst="rect">
              <a:avLst/>
            </a:prstGeom>
            <a:noFill/>
            <a:ln>
              <a:noFill/>
            </a:ln>
          </p:spPr>
          <p:txBody>
            <a:bodyPr wrap="none" lIns="0" tIns="0" rIns="0" bIns="0" anchor="t" anchorCtr="0">
              <a:spAutoFit/>
            </a:bodyPr>
            <a:lstStyle/>
            <a:p>
              <a:pPr algn="ctr"/>
              <a:r>
                <a:rPr lang="en-US" sz="1200" b="1" dirty="0">
                  <a:solidFill>
                    <a:srgbClr val="2F9E68"/>
                  </a:solidFill>
                  <a:latin typeface="Consolas"/>
                  <a:ea typeface="Consolas"/>
                  <a:cs typeface="Consolas"/>
                </a:rPr>
                <a:t>0.322</a:t>
              </a:r>
            </a:p>
          </p:txBody>
        </p:sp>
        <p:sp>
          <p:nvSpPr>
            <p:cNvPr id="23" name="TextBox 23"/>
            <p:cNvSpPr txBox="1"/>
            <p:nvPr/>
          </p:nvSpPr>
          <p:spPr>
            <a:xfrm>
              <a:off x="5932875" y="2366010"/>
              <a:ext cx="478650" cy="234696"/>
            </a:xfrm>
            <a:prstGeom prst="rect">
              <a:avLst/>
            </a:prstGeom>
            <a:noFill/>
            <a:ln>
              <a:noFill/>
            </a:ln>
          </p:spPr>
          <p:txBody>
            <a:bodyPr wrap="none" lIns="0" tIns="0" rIns="0" bIns="0" anchor="t" anchorCtr="0">
              <a:spAutoFit/>
            </a:bodyPr>
            <a:lstStyle/>
            <a:p>
              <a:pPr algn="ctr"/>
              <a:r>
                <a:rPr lang="en-US" sz="1200" b="1" dirty="0">
                  <a:solidFill>
                    <a:srgbClr val="2F9E68"/>
                  </a:solidFill>
                  <a:latin typeface="Consolas"/>
                  <a:ea typeface="Consolas"/>
                  <a:cs typeface="Consolas"/>
                </a:rPr>
                <a:t>0.403</a:t>
              </a:r>
            </a:p>
          </p:txBody>
        </p:sp>
        <p:sp>
          <p:nvSpPr>
            <p:cNvPr id="24" name="TextBox 24"/>
            <p:cNvSpPr txBox="1"/>
            <p:nvPr/>
          </p:nvSpPr>
          <p:spPr>
            <a:xfrm>
              <a:off x="6675825" y="2366010"/>
              <a:ext cx="478650" cy="234696"/>
            </a:xfrm>
            <a:prstGeom prst="rect">
              <a:avLst/>
            </a:prstGeom>
            <a:noFill/>
            <a:ln>
              <a:noFill/>
            </a:ln>
          </p:spPr>
          <p:txBody>
            <a:bodyPr wrap="none" lIns="0" tIns="0" rIns="0" bIns="0" anchor="t" anchorCtr="0">
              <a:spAutoFit/>
            </a:bodyPr>
            <a:lstStyle/>
            <a:p>
              <a:pPr algn="ctr"/>
              <a:r>
                <a:rPr lang="en-US" sz="1200" b="1" dirty="0">
                  <a:solidFill>
                    <a:srgbClr val="2F9E68"/>
                  </a:solidFill>
                  <a:latin typeface="Consolas"/>
                  <a:ea typeface="Consolas"/>
                  <a:cs typeface="Consolas"/>
                </a:rPr>
                <a:t>0.303</a:t>
              </a:r>
            </a:p>
          </p:txBody>
        </p:sp>
        <p:sp>
          <p:nvSpPr>
            <p:cNvPr id="25" name="TextBox 25"/>
            <p:cNvSpPr txBox="1"/>
            <p:nvPr/>
          </p:nvSpPr>
          <p:spPr>
            <a:xfrm>
              <a:off x="907923" y="2910364"/>
              <a:ext cx="32838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CPV</a:t>
              </a:r>
            </a:p>
          </p:txBody>
        </p:sp>
        <p:sp>
          <p:nvSpPr>
            <p:cNvPr id="26" name="TextBox 26"/>
            <p:cNvSpPr txBox="1"/>
            <p:nvPr/>
          </p:nvSpPr>
          <p:spPr>
            <a:xfrm>
              <a:off x="3215970" y="29265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0.400</a:t>
              </a:r>
            </a:p>
          </p:txBody>
        </p:sp>
        <p:sp>
          <p:nvSpPr>
            <p:cNvPr id="27" name="TextBox 27"/>
            <p:cNvSpPr txBox="1"/>
            <p:nvPr/>
          </p:nvSpPr>
          <p:spPr>
            <a:xfrm>
              <a:off x="3901770" y="29265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0.209</a:t>
              </a:r>
            </a:p>
          </p:txBody>
        </p:sp>
        <p:sp>
          <p:nvSpPr>
            <p:cNvPr id="28" name="TextBox 28"/>
            <p:cNvSpPr txBox="1"/>
            <p:nvPr/>
          </p:nvSpPr>
          <p:spPr>
            <a:xfrm>
              <a:off x="4587570" y="29265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0.228</a:t>
              </a:r>
            </a:p>
          </p:txBody>
        </p:sp>
        <p:sp>
          <p:nvSpPr>
            <p:cNvPr id="29" name="TextBox 29"/>
            <p:cNvSpPr txBox="1"/>
            <p:nvPr/>
          </p:nvSpPr>
          <p:spPr>
            <a:xfrm>
              <a:off x="5273370" y="29265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0.198</a:t>
              </a:r>
            </a:p>
          </p:txBody>
        </p:sp>
        <p:sp>
          <p:nvSpPr>
            <p:cNvPr id="30" name="TextBox 30"/>
            <p:cNvSpPr txBox="1"/>
            <p:nvPr/>
          </p:nvSpPr>
          <p:spPr>
            <a:xfrm>
              <a:off x="5959170" y="29265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0.176</a:t>
              </a:r>
            </a:p>
          </p:txBody>
        </p:sp>
        <p:sp>
          <p:nvSpPr>
            <p:cNvPr id="31" name="TextBox 31"/>
            <p:cNvSpPr txBox="1"/>
            <p:nvPr/>
          </p:nvSpPr>
          <p:spPr>
            <a:xfrm>
              <a:off x="6702120" y="29265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0.121</a:t>
              </a:r>
            </a:p>
          </p:txBody>
        </p:sp>
        <p:sp>
          <p:nvSpPr>
            <p:cNvPr id="32" name="TextBox 32"/>
            <p:cNvSpPr txBox="1"/>
            <p:nvPr/>
          </p:nvSpPr>
          <p:spPr>
            <a:xfrm>
              <a:off x="907923" y="3253264"/>
              <a:ext cx="32838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VAE</a:t>
              </a:r>
            </a:p>
          </p:txBody>
        </p:sp>
        <p:sp>
          <p:nvSpPr>
            <p:cNvPr id="33" name="TextBox 33"/>
            <p:cNvSpPr txBox="1"/>
            <p:nvPr/>
          </p:nvSpPr>
          <p:spPr>
            <a:xfrm>
              <a:off x="3215970" y="32694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0.463</a:t>
              </a:r>
            </a:p>
          </p:txBody>
        </p:sp>
        <p:sp>
          <p:nvSpPr>
            <p:cNvPr id="34" name="TextBox 34"/>
            <p:cNvSpPr txBox="1"/>
            <p:nvPr/>
          </p:nvSpPr>
          <p:spPr>
            <a:xfrm>
              <a:off x="3901770" y="32694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0.261</a:t>
              </a:r>
            </a:p>
          </p:txBody>
        </p:sp>
        <p:sp>
          <p:nvSpPr>
            <p:cNvPr id="35" name="TextBox 35"/>
            <p:cNvSpPr txBox="1"/>
            <p:nvPr/>
          </p:nvSpPr>
          <p:spPr>
            <a:xfrm>
              <a:off x="4577204" y="3269456"/>
              <a:ext cx="446791" cy="220028"/>
            </a:xfrm>
            <a:prstGeom prst="rect">
              <a:avLst/>
            </a:prstGeom>
            <a:noFill/>
            <a:ln>
              <a:noFill/>
            </a:ln>
          </p:spPr>
          <p:txBody>
            <a:bodyPr wrap="none" lIns="0" tIns="0" rIns="0" bIns="0" anchor="t" anchorCtr="0">
              <a:spAutoFit/>
            </a:bodyPr>
            <a:lstStyle/>
            <a:p>
              <a:pPr algn="ctr"/>
              <a:r>
                <a:rPr lang="en-US" sz="1120" b="1" dirty="0">
                  <a:solidFill>
                    <a:schemeClr val="accent1"/>
                  </a:solidFill>
                  <a:latin typeface="Consolas"/>
                  <a:ea typeface="Consolas"/>
                  <a:cs typeface="Consolas"/>
                </a:rPr>
                <a:t>0.522</a:t>
              </a:r>
            </a:p>
          </p:txBody>
        </p:sp>
        <p:sp>
          <p:nvSpPr>
            <p:cNvPr id="36" name="TextBox 36"/>
            <p:cNvSpPr txBox="1"/>
            <p:nvPr/>
          </p:nvSpPr>
          <p:spPr>
            <a:xfrm>
              <a:off x="5273370" y="32694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0.115</a:t>
              </a:r>
            </a:p>
          </p:txBody>
        </p:sp>
        <p:sp>
          <p:nvSpPr>
            <p:cNvPr id="37" name="TextBox 37"/>
            <p:cNvSpPr txBox="1"/>
            <p:nvPr/>
          </p:nvSpPr>
          <p:spPr>
            <a:xfrm>
              <a:off x="5959170" y="32694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0.280</a:t>
              </a:r>
            </a:p>
          </p:txBody>
        </p:sp>
        <p:sp>
          <p:nvSpPr>
            <p:cNvPr id="38" name="TextBox 38"/>
            <p:cNvSpPr txBox="1"/>
            <p:nvPr/>
          </p:nvSpPr>
          <p:spPr>
            <a:xfrm>
              <a:off x="6702120" y="32694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0.112</a:t>
              </a:r>
            </a:p>
          </p:txBody>
        </p:sp>
        <p:sp>
          <p:nvSpPr>
            <p:cNvPr id="39" name="TextBox 39"/>
            <p:cNvSpPr txBox="1"/>
            <p:nvPr/>
          </p:nvSpPr>
          <p:spPr>
            <a:xfrm>
              <a:off x="907923" y="3596164"/>
              <a:ext cx="64381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GC-DBC</a:t>
              </a:r>
            </a:p>
          </p:txBody>
        </p:sp>
        <p:sp>
          <p:nvSpPr>
            <p:cNvPr id="40" name="TextBox 40"/>
            <p:cNvSpPr txBox="1"/>
            <p:nvPr/>
          </p:nvSpPr>
          <p:spPr>
            <a:xfrm>
              <a:off x="3215970" y="36123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0.269</a:t>
              </a:r>
            </a:p>
          </p:txBody>
        </p:sp>
        <p:sp>
          <p:nvSpPr>
            <p:cNvPr id="41" name="TextBox 41"/>
            <p:cNvSpPr txBox="1"/>
            <p:nvPr/>
          </p:nvSpPr>
          <p:spPr>
            <a:xfrm>
              <a:off x="3901770" y="36123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0.261</a:t>
              </a:r>
            </a:p>
          </p:txBody>
        </p:sp>
        <p:sp>
          <p:nvSpPr>
            <p:cNvPr id="42" name="TextBox 42"/>
            <p:cNvSpPr txBox="1"/>
            <p:nvPr/>
          </p:nvSpPr>
          <p:spPr>
            <a:xfrm>
              <a:off x="4587570" y="36123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0.358</a:t>
              </a:r>
            </a:p>
          </p:txBody>
        </p:sp>
        <p:sp>
          <p:nvSpPr>
            <p:cNvPr id="43" name="TextBox 43"/>
            <p:cNvSpPr txBox="1"/>
            <p:nvPr/>
          </p:nvSpPr>
          <p:spPr>
            <a:xfrm>
              <a:off x="5273370" y="3612356"/>
              <a:ext cx="426060"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Consolas"/>
                  <a:ea typeface="Consolas"/>
                  <a:cs typeface="Consolas"/>
                </a:rPr>
                <a:t>0.255</a:t>
              </a:r>
            </a:p>
          </p:txBody>
        </p:sp>
        <p:sp>
          <p:nvSpPr>
            <p:cNvPr id="44" name="TextBox 44"/>
            <p:cNvSpPr txBox="1"/>
            <p:nvPr/>
          </p:nvSpPr>
          <p:spPr>
            <a:xfrm>
              <a:off x="6078865" y="3612356"/>
              <a:ext cx="186670" cy="220028"/>
            </a:xfrm>
            <a:prstGeom prst="rect">
              <a:avLst/>
            </a:prstGeom>
            <a:noFill/>
            <a:ln>
              <a:noFill/>
            </a:ln>
          </p:spPr>
          <p:txBody>
            <a:bodyPr wrap="none" lIns="0" tIns="0" rIns="0" bIns="0" anchor="t" anchorCtr="0">
              <a:spAutoFit/>
            </a:bodyPr>
            <a:lstStyle/>
            <a:p>
              <a:pPr algn="ctr"/>
              <a:r>
                <a:rPr lang="en-US" sz="1120" dirty="0">
                  <a:solidFill>
                    <a:schemeClr val="accent6"/>
                  </a:solidFill>
                  <a:latin typeface="Consolas"/>
                  <a:ea typeface="Consolas"/>
                  <a:cs typeface="Consolas"/>
                </a:rPr>
                <a:t>NA</a:t>
              </a:r>
            </a:p>
          </p:txBody>
        </p:sp>
        <p:sp>
          <p:nvSpPr>
            <p:cNvPr id="45" name="TextBox 45"/>
            <p:cNvSpPr txBox="1"/>
            <p:nvPr/>
          </p:nvSpPr>
          <p:spPr>
            <a:xfrm>
              <a:off x="6821815" y="3612356"/>
              <a:ext cx="186670" cy="220028"/>
            </a:xfrm>
            <a:prstGeom prst="rect">
              <a:avLst/>
            </a:prstGeom>
            <a:noFill/>
            <a:ln>
              <a:noFill/>
            </a:ln>
          </p:spPr>
          <p:txBody>
            <a:bodyPr wrap="none" lIns="0" tIns="0" rIns="0" bIns="0" anchor="t" anchorCtr="0">
              <a:spAutoFit/>
            </a:bodyPr>
            <a:lstStyle/>
            <a:p>
              <a:pPr algn="ctr"/>
              <a:r>
                <a:rPr lang="en-US" sz="1120" dirty="0">
                  <a:solidFill>
                    <a:schemeClr val="accent6"/>
                  </a:solidFill>
                  <a:latin typeface="Consolas"/>
                  <a:ea typeface="Consolas"/>
                  <a:cs typeface="Consolas"/>
                </a:rPr>
                <a:t>NA</a:t>
              </a:r>
            </a:p>
          </p:txBody>
        </p:sp>
        <p:sp>
          <p:nvSpPr>
            <p:cNvPr id="46" name="Line 46"/>
            <p:cNvSpPr/>
            <p:nvPr/>
          </p:nvSpPr>
          <p:spPr>
            <a:xfrm>
              <a:off x="800100" y="3943350"/>
              <a:ext cx="6629400" cy="9525"/>
            </a:xfrm>
            <a:custGeom>
              <a:avLst/>
              <a:gdLst/>
              <a:ahLst/>
              <a:cxnLst/>
              <a:rect l="l" t="t" r="r" b="b"/>
              <a:pathLst>
                <a:path w="6629400" h="9525">
                  <a:moveTo>
                    <a:pt x="0" y="0"/>
                  </a:moveTo>
                  <a:lnTo>
                    <a:pt x="6629400" y="0"/>
                  </a:lnTo>
                </a:path>
              </a:pathLst>
            </a:custGeom>
            <a:noFill/>
            <a:ln w="9525">
              <a:solidFill>
                <a:schemeClr val="accent4"/>
              </a:solidFill>
            </a:ln>
          </p:spPr>
        </p:sp>
        <p:sp>
          <p:nvSpPr>
            <p:cNvPr id="47" name="TextBox 47"/>
            <p:cNvSpPr txBox="1"/>
            <p:nvPr/>
          </p:nvSpPr>
          <p:spPr>
            <a:xfrm>
              <a:off x="909447" y="4123849"/>
              <a:ext cx="4310435"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mn-lt"/>
                  <a:ea typeface="+mn-ea"/>
                  <a:cs typeface="+mn-cs"/>
                </a:rPr>
                <a:t>Also compared: CCVAE · CPC · CURL · RAD · Pixel (9 methods total)</a:t>
              </a:r>
            </a:p>
          </p:txBody>
        </p:sp>
        <p:sp>
          <p:nvSpPr>
            <p:cNvPr id="48" name="Rectangle 48"/>
            <p:cNvSpPr/>
            <p:nvPr/>
          </p:nvSpPr>
          <p:spPr>
            <a:xfrm>
              <a:off x="800100" y="4438650"/>
              <a:ext cx="6629400" cy="1390650"/>
            </a:xfrm>
            <a:prstGeom prst="roundRect">
              <a:avLst>
                <a:gd name="adj" fmla="val 6849"/>
              </a:avLst>
            </a:prstGeom>
            <a:solidFill>
              <a:schemeClr val="lt2"/>
            </a:solidFill>
            <a:ln>
              <a:noFill/>
            </a:ln>
          </p:spPr>
        </p:sp>
        <p:sp>
          <p:nvSpPr>
            <p:cNvPr id="49" name="Rectangle 49"/>
            <p:cNvSpPr/>
            <p:nvPr/>
          </p:nvSpPr>
          <p:spPr>
            <a:xfrm>
              <a:off x="800100" y="4438650"/>
              <a:ext cx="38100" cy="1390650"/>
            </a:xfrm>
            <a:prstGeom prst="rect">
              <a:avLst/>
            </a:prstGeom>
            <a:solidFill>
              <a:srgbClr val="2F9E68"/>
            </a:solidFill>
            <a:ln>
              <a:noFill/>
            </a:ln>
          </p:spPr>
        </p:sp>
        <p:sp>
          <p:nvSpPr>
            <p:cNvPr id="50" name="TextBox 50"/>
            <p:cNvSpPr txBox="1"/>
            <p:nvPr/>
          </p:nvSpPr>
          <p:spPr>
            <a:xfrm>
              <a:off x="1023747" y="4638199"/>
              <a:ext cx="1224372" cy="190690"/>
            </a:xfrm>
            <a:prstGeom prst="rect">
              <a:avLst/>
            </a:prstGeom>
            <a:noFill/>
            <a:ln>
              <a:noFill/>
            </a:ln>
          </p:spPr>
          <p:txBody>
            <a:bodyPr wrap="none" lIns="0" tIns="0" rIns="0" bIns="0" anchor="t" anchorCtr="0">
              <a:spAutoFit/>
            </a:bodyPr>
            <a:lstStyle/>
            <a:p>
              <a:pPr algn="l"/>
              <a:r>
                <a:rPr lang="en-US" sz="980" b="1" spc="75" dirty="0">
                  <a:solidFill>
                    <a:srgbClr val="2F9E68"/>
                  </a:solidFill>
                  <a:latin typeface="+mn-lt"/>
                  <a:ea typeface="+mn-ea"/>
                  <a:cs typeface="+mn-cs"/>
                </a:rPr>
                <a:t>WHERE GCB WINS</a:t>
              </a:r>
            </a:p>
          </p:txBody>
        </p:sp>
        <p:sp>
          <p:nvSpPr>
            <p:cNvPr id="51" name="TextBox 51"/>
            <p:cNvSpPr txBox="1"/>
            <p:nvPr/>
          </p:nvSpPr>
          <p:spPr>
            <a:xfrm>
              <a:off x="1022223" y="4910614"/>
              <a:ext cx="523094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Top method on 5 of 6 settings (only VAE edges it on clean BD),</a:t>
              </a:r>
            </a:p>
          </p:txBody>
        </p:sp>
        <p:sp>
          <p:nvSpPr>
            <p:cNvPr id="52" name="TextBox 52"/>
            <p:cNvSpPr txBox="1"/>
            <p:nvPr/>
          </p:nvSpPr>
          <p:spPr>
            <a:xfrm>
              <a:off x="1022223" y="5139214"/>
              <a:ext cx="547529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and the strongest method on every distractor-augmented task —</a:t>
              </a:r>
            </a:p>
          </p:txBody>
        </p:sp>
        <p:sp>
          <p:nvSpPr>
            <p:cNvPr id="53" name="TextBox 53"/>
            <p:cNvSpPr txBox="1"/>
            <p:nvPr/>
          </p:nvSpPr>
          <p:spPr>
            <a:xfrm>
              <a:off x="1022223" y="5367814"/>
              <a:ext cx="5948800" cy="249364"/>
            </a:xfrm>
            <a:prstGeom prst="rect">
              <a:avLst/>
            </a:prstGeom>
            <a:noFill/>
            <a:ln>
              <a:noFill/>
            </a:ln>
          </p:spPr>
          <p:txBody>
            <a:bodyPr wrap="none" lIns="0" tIns="0" rIns="0" bIns="0" anchor="t" anchorCtr="0">
              <a:spAutoFit/>
            </a:bodyPr>
            <a:lstStyle/>
            <a:p>
              <a:pPr algn="l"/>
              <a:r>
                <a:rPr lang="en-US" sz="1280" b="1" dirty="0">
                  <a:solidFill>
                    <a:srgbClr val="2F9E68"/>
                  </a:solidFill>
                  <a:latin typeface="+mj-lt"/>
                  <a:ea typeface="+mj-ea"/>
                  <a:cs typeface="+mj-cs"/>
                </a:rPr>
                <a:t>evidence the representation isolates task-relevant structure.</a:t>
              </a:r>
            </a:p>
          </p:txBody>
        </p:sp>
        <p:sp>
          <p:nvSpPr>
            <p:cNvPr id="54" name="TextBox 54"/>
            <p:cNvSpPr txBox="1"/>
            <p:nvPr/>
          </p:nvSpPr>
          <p:spPr>
            <a:xfrm>
              <a:off x="1023747" y="5609749"/>
              <a:ext cx="1512270" cy="190690"/>
            </a:xfrm>
            <a:prstGeom prst="rect">
              <a:avLst/>
            </a:prstGeom>
            <a:noFill/>
            <a:ln>
              <a:noFill/>
            </a:ln>
          </p:spPr>
          <p:txBody>
            <a:bodyPr wrap="none" lIns="0" tIns="0" rIns="0" bIns="0" anchor="t" anchorCtr="0">
              <a:spAutoFit/>
            </a:bodyPr>
            <a:lstStyle/>
            <a:p>
              <a:pPr algn="l"/>
              <a:r>
                <a:rPr lang="en-US" sz="980" i="1" dirty="0">
                  <a:solidFill>
                    <a:schemeClr val="dk2"/>
                  </a:solidFill>
                  <a:latin typeface="+mn-lt"/>
                  <a:ea typeface="+mn-ea"/>
                  <a:cs typeface="+mn-cs"/>
                </a:rPr>
                <a:t>Green = best in column.</a:t>
              </a:r>
            </a:p>
          </p:txBody>
        </p:sp>
      </p:grpSp>
      <p:grpSp>
        <p:nvGrpSpPr>
          <p:cNvPr id="67" name="Group 67"/>
          <p:cNvGrpSpPr/>
          <p:nvPr/>
        </p:nvGrpSpPr>
        <p:grpSpPr>
          <a:xfrm>
            <a:off x="7848600" y="1562100"/>
            <a:ext cx="3771900" cy="2095500"/>
            <a:chOff x="7848600" y="1562100"/>
            <a:chExt cx="3771900" cy="2095500"/>
          </a:xfrm>
        </p:grpSpPr>
        <p:sp>
          <p:nvSpPr>
            <p:cNvPr id="56" name="Rectangle 56"/>
            <p:cNvSpPr/>
            <p:nvPr/>
          </p:nvSpPr>
          <p:spPr>
            <a:xfrm>
              <a:off x="7848600" y="1562100"/>
              <a:ext cx="3771900" cy="2095500"/>
            </a:xfrm>
            <a:prstGeom prst="roundRect">
              <a:avLst>
                <a:gd name="adj" fmla="val 6364"/>
              </a:avLst>
            </a:prstGeom>
            <a:solidFill>
              <a:schemeClr val="lt1"/>
            </a:solidFill>
            <a:ln w="14288">
              <a:solidFill>
                <a:schemeClr val="accent4"/>
              </a:solidFill>
            </a:ln>
          </p:spPr>
        </p:sp>
        <p:sp>
          <p:nvSpPr>
            <p:cNvPr id="57" name="Rectangle 57"/>
            <p:cNvSpPr/>
            <p:nvPr/>
          </p:nvSpPr>
          <p:spPr>
            <a:xfrm>
              <a:off x="7848600" y="1562100"/>
              <a:ext cx="3771900" cy="57150"/>
            </a:xfrm>
            <a:prstGeom prst="roundRect">
              <a:avLst>
                <a:gd name="adj" fmla="val 50000"/>
              </a:avLst>
            </a:prstGeom>
            <a:solidFill>
              <a:schemeClr val="accent2"/>
            </a:solidFill>
            <a:ln>
              <a:noFill/>
            </a:ln>
          </p:spPr>
        </p:sp>
        <p:sp>
          <p:nvSpPr>
            <p:cNvPr id="58" name="TextBox 58"/>
            <p:cNvSpPr txBox="1"/>
            <p:nvPr/>
          </p:nvSpPr>
          <p:spPr>
            <a:xfrm>
              <a:off x="8072247" y="1837849"/>
              <a:ext cx="1891827"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ROBUST TO DISTRACTORS</a:t>
              </a:r>
            </a:p>
          </p:txBody>
        </p:sp>
        <p:sp>
          <p:nvSpPr>
            <p:cNvPr id="59" name="Rectangle 59"/>
            <p:cNvSpPr/>
            <p:nvPr/>
          </p:nvSpPr>
          <p:spPr>
            <a:xfrm>
              <a:off x="8077200" y="2114550"/>
              <a:ext cx="1638300" cy="1238250"/>
            </a:xfrm>
            <a:prstGeom prst="roundRect">
              <a:avLst>
                <a:gd name="adj" fmla="val 7692"/>
              </a:avLst>
            </a:prstGeom>
            <a:solidFill>
              <a:srgbClr val="EAEFFC"/>
            </a:solidFill>
            <a:ln>
              <a:noFill/>
            </a:ln>
          </p:spPr>
        </p:sp>
        <p:sp>
          <p:nvSpPr>
            <p:cNvPr id="60" name="TextBox 60"/>
            <p:cNvSpPr txBox="1"/>
            <p:nvPr/>
          </p:nvSpPr>
          <p:spPr>
            <a:xfrm>
              <a:off x="8327953" y="2340292"/>
              <a:ext cx="1136794" cy="557403"/>
            </a:xfrm>
            <a:prstGeom prst="rect">
              <a:avLst/>
            </a:prstGeom>
            <a:noFill/>
            <a:ln>
              <a:noFill/>
            </a:ln>
          </p:spPr>
          <p:txBody>
            <a:bodyPr wrap="none" lIns="0" tIns="0" rIns="0" bIns="0" anchor="t" anchorCtr="0">
              <a:spAutoFit/>
            </a:bodyPr>
            <a:lstStyle/>
            <a:p>
              <a:pPr algn="ctr"/>
              <a:r>
                <a:rPr lang="en-US" sz="2850" b="1" dirty="0">
                  <a:solidFill>
                    <a:schemeClr val="accent2"/>
                  </a:solidFill>
                  <a:latin typeface="Consolas"/>
                  <a:ea typeface="Consolas"/>
                  <a:cs typeface="Consolas"/>
                </a:rPr>
                <a:t>0.448</a:t>
              </a:r>
            </a:p>
          </p:txBody>
        </p:sp>
        <p:sp>
          <p:nvSpPr>
            <p:cNvPr id="61" name="TextBox 61"/>
            <p:cNvSpPr txBox="1"/>
            <p:nvPr/>
          </p:nvSpPr>
          <p:spPr>
            <a:xfrm>
              <a:off x="8476006" y="2820352"/>
              <a:ext cx="840688"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Drawer + VD</a:t>
              </a:r>
            </a:p>
          </p:txBody>
        </p:sp>
        <p:sp>
          <p:nvSpPr>
            <p:cNvPr id="62" name="TextBox 62"/>
            <p:cNvSpPr txBox="1"/>
            <p:nvPr/>
          </p:nvSpPr>
          <p:spPr>
            <a:xfrm>
              <a:off x="8322145" y="3046095"/>
              <a:ext cx="1148410" cy="176212"/>
            </a:xfrm>
            <a:prstGeom prst="rect">
              <a:avLst/>
            </a:prstGeom>
            <a:noFill/>
            <a:ln>
              <a:noFill/>
            </a:ln>
          </p:spPr>
          <p:txBody>
            <a:bodyPr wrap="none" lIns="0" tIns="0" rIns="0" bIns="0" anchor="t" anchorCtr="0">
              <a:spAutoFit/>
            </a:bodyPr>
            <a:lstStyle/>
            <a:p>
              <a:pPr algn="ctr"/>
              <a:r>
                <a:rPr lang="en-US" sz="900" i="1" dirty="0">
                  <a:solidFill>
                    <a:schemeClr val="dk2"/>
                  </a:solidFill>
                  <a:latin typeface="+mn-lt"/>
                  <a:ea typeface="+mn-ea"/>
                  <a:cs typeface="+mn-cs"/>
                </a:rPr>
                <a:t>best of all methods</a:t>
              </a:r>
            </a:p>
          </p:txBody>
        </p:sp>
        <p:sp>
          <p:nvSpPr>
            <p:cNvPr id="63" name="Rectangle 63"/>
            <p:cNvSpPr/>
            <p:nvPr/>
          </p:nvSpPr>
          <p:spPr>
            <a:xfrm>
              <a:off x="9829800" y="2114550"/>
              <a:ext cx="1562100" cy="1238250"/>
            </a:xfrm>
            <a:prstGeom prst="roundRect">
              <a:avLst>
                <a:gd name="adj" fmla="val 7692"/>
              </a:avLst>
            </a:prstGeom>
            <a:solidFill>
              <a:srgbClr val="EAEFFC"/>
            </a:solidFill>
            <a:ln>
              <a:noFill/>
            </a:ln>
          </p:spPr>
        </p:sp>
        <p:sp>
          <p:nvSpPr>
            <p:cNvPr id="64" name="TextBox 64"/>
            <p:cNvSpPr txBox="1"/>
            <p:nvPr/>
          </p:nvSpPr>
          <p:spPr>
            <a:xfrm>
              <a:off x="10042453" y="2340292"/>
              <a:ext cx="1136794" cy="557403"/>
            </a:xfrm>
            <a:prstGeom prst="rect">
              <a:avLst/>
            </a:prstGeom>
            <a:noFill/>
            <a:ln>
              <a:noFill/>
            </a:ln>
          </p:spPr>
          <p:txBody>
            <a:bodyPr wrap="none" lIns="0" tIns="0" rIns="0" bIns="0" anchor="t" anchorCtr="0">
              <a:spAutoFit/>
            </a:bodyPr>
            <a:lstStyle/>
            <a:p>
              <a:pPr algn="ctr"/>
              <a:r>
                <a:rPr lang="en-US" sz="2850" b="1" dirty="0">
                  <a:solidFill>
                    <a:schemeClr val="accent2"/>
                  </a:solidFill>
                  <a:latin typeface="Consolas"/>
                  <a:ea typeface="Consolas"/>
                  <a:cs typeface="Consolas"/>
                </a:rPr>
                <a:t>0.322</a:t>
              </a:r>
            </a:p>
          </p:txBody>
        </p:sp>
        <p:sp>
          <p:nvSpPr>
            <p:cNvPr id="65" name="TextBox 65"/>
            <p:cNvSpPr txBox="1"/>
            <p:nvPr/>
          </p:nvSpPr>
          <p:spPr>
            <a:xfrm>
              <a:off x="10355351" y="2820352"/>
              <a:ext cx="510997"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BD + VD</a:t>
              </a:r>
            </a:p>
          </p:txBody>
        </p:sp>
        <p:sp>
          <p:nvSpPr>
            <p:cNvPr id="66" name="TextBox 66"/>
            <p:cNvSpPr txBox="1"/>
            <p:nvPr/>
          </p:nvSpPr>
          <p:spPr>
            <a:xfrm>
              <a:off x="10036645" y="3046095"/>
              <a:ext cx="1148410" cy="176212"/>
            </a:xfrm>
            <a:prstGeom prst="rect">
              <a:avLst/>
            </a:prstGeom>
            <a:noFill/>
            <a:ln>
              <a:noFill/>
            </a:ln>
          </p:spPr>
          <p:txBody>
            <a:bodyPr wrap="none" lIns="0" tIns="0" rIns="0" bIns="0" anchor="t" anchorCtr="0">
              <a:spAutoFit/>
            </a:bodyPr>
            <a:lstStyle/>
            <a:p>
              <a:pPr algn="ctr"/>
              <a:r>
                <a:rPr lang="en-US" sz="900" i="1" dirty="0">
                  <a:solidFill>
                    <a:schemeClr val="dk2"/>
                  </a:solidFill>
                  <a:latin typeface="+mn-lt"/>
                  <a:ea typeface="+mn-ea"/>
                  <a:cs typeface="+mn-cs"/>
                </a:rPr>
                <a:t>best of all methods</a:t>
              </a:r>
            </a:p>
          </p:txBody>
        </p:sp>
      </p:grpSp>
      <p:grpSp>
        <p:nvGrpSpPr>
          <p:cNvPr id="79" name="Group 79"/>
          <p:cNvGrpSpPr/>
          <p:nvPr/>
        </p:nvGrpSpPr>
        <p:grpSpPr>
          <a:xfrm>
            <a:off x="7848600" y="3848100"/>
            <a:ext cx="3771900" cy="2171700"/>
            <a:chOff x="7848600" y="3848100"/>
            <a:chExt cx="3771900" cy="2171700"/>
          </a:xfrm>
        </p:grpSpPr>
        <p:sp>
          <p:nvSpPr>
            <p:cNvPr id="68" name="Rectangle 68"/>
            <p:cNvSpPr/>
            <p:nvPr/>
          </p:nvSpPr>
          <p:spPr>
            <a:xfrm>
              <a:off x="7848600" y="3848100"/>
              <a:ext cx="3771900" cy="2171700"/>
            </a:xfrm>
            <a:prstGeom prst="roundRect">
              <a:avLst>
                <a:gd name="adj" fmla="val 6140"/>
              </a:avLst>
            </a:prstGeom>
            <a:solidFill>
              <a:srgbClr val="FCEEDF"/>
            </a:solidFill>
            <a:ln w="14288">
              <a:solidFill>
                <a:schemeClr val="accent5"/>
              </a:solidFill>
            </a:ln>
          </p:spPr>
        </p:sp>
        <p:sp>
          <p:nvSpPr>
            <p:cNvPr id="69" name="Rectangle 69"/>
            <p:cNvSpPr/>
            <p:nvPr/>
          </p:nvSpPr>
          <p:spPr>
            <a:xfrm>
              <a:off x="7848600" y="3848100"/>
              <a:ext cx="3771900" cy="57150"/>
            </a:xfrm>
            <a:prstGeom prst="roundRect">
              <a:avLst>
                <a:gd name="adj" fmla="val 50000"/>
              </a:avLst>
            </a:prstGeom>
            <a:solidFill>
              <a:schemeClr val="accent5"/>
            </a:solidFill>
            <a:ln>
              <a:noFill/>
            </a:ln>
          </p:spPr>
        </p:sp>
        <p:sp>
          <p:nvSpPr>
            <p:cNvPr id="70" name="TextBox 70"/>
            <p:cNvSpPr txBox="1"/>
            <p:nvPr/>
          </p:nvSpPr>
          <p:spPr>
            <a:xfrm>
              <a:off x="8072247" y="4123849"/>
              <a:ext cx="2340352"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GOAL INFERRED FROM ANALOGY</a:t>
              </a:r>
            </a:p>
          </p:txBody>
        </p:sp>
        <p:sp>
          <p:nvSpPr>
            <p:cNvPr id="71" name="TextBox 71"/>
            <p:cNvSpPr txBox="1"/>
            <p:nvPr/>
          </p:nvSpPr>
          <p:spPr>
            <a:xfrm>
              <a:off x="8071485" y="4412456"/>
              <a:ext cx="285840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The only representation that supports</a:t>
              </a:r>
            </a:p>
          </p:txBody>
        </p:sp>
        <p:sp>
          <p:nvSpPr>
            <p:cNvPr id="72" name="TextBox 72"/>
            <p:cNvSpPr txBox="1"/>
            <p:nvPr/>
          </p:nvSpPr>
          <p:spPr>
            <a:xfrm>
              <a:off x="8071485" y="4622006"/>
              <a:ext cx="285352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goal inference from an analogous pair.</a:t>
              </a:r>
            </a:p>
          </p:txBody>
        </p:sp>
        <p:sp>
          <p:nvSpPr>
            <p:cNvPr id="73" name="TextBox 73"/>
            <p:cNvSpPr txBox="1"/>
            <p:nvPr/>
          </p:nvSpPr>
          <p:spPr>
            <a:xfrm>
              <a:off x="8233410" y="5029200"/>
              <a:ext cx="1196626" cy="586740"/>
            </a:xfrm>
            <a:prstGeom prst="rect">
              <a:avLst/>
            </a:prstGeom>
            <a:noFill/>
            <a:ln>
              <a:noFill/>
            </a:ln>
          </p:spPr>
          <p:txBody>
            <a:bodyPr wrap="none" lIns="0" tIns="0" rIns="0" bIns="0" anchor="t" anchorCtr="0">
              <a:spAutoFit/>
            </a:bodyPr>
            <a:lstStyle/>
            <a:p>
              <a:pPr algn="l"/>
              <a:r>
                <a:rPr lang="en-US" sz="3000" b="1" dirty="0">
                  <a:solidFill>
                    <a:schemeClr val="accent5"/>
                  </a:solidFill>
                  <a:latin typeface="Consolas"/>
                  <a:ea typeface="Consolas"/>
                  <a:cs typeface="Consolas"/>
                </a:rPr>
                <a:t>0.403</a:t>
              </a:r>
            </a:p>
          </p:txBody>
        </p:sp>
        <p:sp>
          <p:nvSpPr>
            <p:cNvPr id="74" name="TextBox 74"/>
            <p:cNvSpPr txBox="1"/>
            <p:nvPr/>
          </p:nvSpPr>
          <p:spPr>
            <a:xfrm>
              <a:off x="9611868" y="5136832"/>
              <a:ext cx="261099"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vs</a:t>
              </a:r>
            </a:p>
          </p:txBody>
        </p:sp>
        <p:sp>
          <p:nvSpPr>
            <p:cNvPr id="75" name="TextBox 75"/>
            <p:cNvSpPr txBox="1"/>
            <p:nvPr/>
          </p:nvSpPr>
          <p:spPr>
            <a:xfrm>
              <a:off x="10007346" y="5077778"/>
              <a:ext cx="1017132" cy="498729"/>
            </a:xfrm>
            <a:prstGeom prst="rect">
              <a:avLst/>
            </a:prstGeom>
            <a:noFill/>
            <a:ln>
              <a:noFill/>
            </a:ln>
          </p:spPr>
          <p:txBody>
            <a:bodyPr wrap="none" lIns="0" tIns="0" rIns="0" bIns="0" anchor="t" anchorCtr="0">
              <a:spAutoFit/>
            </a:bodyPr>
            <a:lstStyle/>
            <a:p>
              <a:pPr algn="l"/>
              <a:r>
                <a:rPr lang="en-US" sz="2550" b="1" dirty="0">
                  <a:solidFill>
                    <a:schemeClr val="dk2"/>
                  </a:solidFill>
                  <a:latin typeface="Consolas"/>
                  <a:ea typeface="Consolas"/>
                  <a:cs typeface="Consolas"/>
                </a:rPr>
                <a:t>0.176</a:t>
              </a:r>
            </a:p>
          </p:txBody>
        </p:sp>
        <p:sp>
          <p:nvSpPr>
            <p:cNvPr id="76" name="TextBox 76"/>
            <p:cNvSpPr txBox="1"/>
            <p:nvPr/>
          </p:nvSpPr>
          <p:spPr>
            <a:xfrm>
              <a:off x="8071866" y="5506402"/>
              <a:ext cx="25709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GCB</a:t>
              </a:r>
            </a:p>
          </p:txBody>
        </p:sp>
        <p:sp>
          <p:nvSpPr>
            <p:cNvPr id="77" name="TextBox 77"/>
            <p:cNvSpPr txBox="1"/>
            <p:nvPr/>
          </p:nvSpPr>
          <p:spPr>
            <a:xfrm>
              <a:off x="10014966" y="5506402"/>
              <a:ext cx="112304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CPV (next best)</a:t>
              </a:r>
            </a:p>
          </p:txBody>
        </p:sp>
        <p:sp>
          <p:nvSpPr>
            <p:cNvPr id="78" name="TextBox 78"/>
            <p:cNvSpPr txBox="1"/>
            <p:nvPr/>
          </p:nvSpPr>
          <p:spPr>
            <a:xfrm>
              <a:off x="8070723" y="5748814"/>
              <a:ext cx="3280001"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j-lt"/>
                  <a:ea typeface="+mj-ea"/>
                  <a:cs typeface="+mj-cs"/>
                </a:rPr>
                <a:t>Roughly 2× the next-best baseline.</a:t>
              </a:r>
            </a:p>
          </p:txBody>
        </p:sp>
      </p:grpSp>
      <p:grpSp>
        <p:nvGrpSpPr>
          <p:cNvPr id="82" name="Group 82"/>
          <p:cNvGrpSpPr/>
          <p:nvPr/>
        </p:nvGrpSpPr>
        <p:grpSpPr>
          <a:xfrm>
            <a:off x="566738" y="6597491"/>
            <a:ext cx="11058524" cy="161925"/>
            <a:chOff x="566738" y="6597491"/>
            <a:chExt cx="11058524" cy="161925"/>
          </a:xfrm>
        </p:grpSpPr>
        <p:sp>
          <p:nvSpPr>
            <p:cNvPr id="80" name="TextBox 80"/>
            <p:cNvSpPr txBox="1"/>
            <p:nvPr/>
          </p:nvSpPr>
          <p:spPr>
            <a:xfrm>
              <a:off x="566738" y="6597491"/>
              <a:ext cx="3546310"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Source: Table 1 — BD = Button and Drawer, VD = Video Distractors</a:t>
              </a:r>
            </a:p>
          </p:txBody>
        </p:sp>
        <p:sp>
          <p:nvSpPr>
            <p:cNvPr id="81" name="TextBox 81"/>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07</a:t>
              </a:r>
            </a:p>
          </p:txBody>
        </p:sp>
      </p:grpSp>
      <p:sp>
        <p:nvSpPr>
          <p:cNvPr id="83" name="cue_s07_c1_across_six_settings_gcb_top" title="cue_s07_c1_across_six_settings_gcb_top" descr="cue_s07_c1_across_six_settings_gcb_top Across six settings, GCB is top on five, and wins on every distractor task."/>
          <p:cNvSpPr/>
          <p:nvPr/>
        </p:nvSpPr>
        <p:spPr>
          <a:xfrm>
            <a:off x="571804" y="1562252"/>
            <a:ext cx="7087209" cy="44577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ue_s07_c2_reaches_about_forty_five_percent_dra" title="cue_s07_c2_reaches_about_forty_five_percent_dra" descr="cue_s07_c2_reaches_about_forty_five_percent_dra It reaches about forty-five percent on Drawer with distractors and thirty-two on Button-and-Drawer."/>
          <p:cNvSpPr/>
          <p:nvPr/>
        </p:nvSpPr>
        <p:spPr>
          <a:xfrm>
            <a:off x="7849209" y="1562252"/>
            <a:ext cx="3772204"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ue_s07_c3_analogy_tasks_where_goal_inferred" title="cue_s07_c3_analogy_tasks_where_goal_inferred" descr="cue_s07_c3_analogy_tasks_where_goal_inferred On analogy tasks, where the goal is inferred from an example, it roughly doubles the next-best baseline."/>
          <p:cNvSpPr/>
          <p:nvPr/>
        </p:nvSpPr>
        <p:spPr>
          <a:xfrm>
            <a:off x="7849209" y="3848023"/>
            <a:ext cx="3772204" cy="21719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915636" cy="656939"/>
            <a:chOff x="571500" y="533400"/>
            <a:chExt cx="6915636"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6699990"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What actually matters in the design</a:t>
              </a:r>
            </a:p>
          </p:txBody>
        </p:sp>
        <p:sp>
          <p:nvSpPr>
            <p:cNvPr id="4" name="TextBox 4"/>
            <p:cNvSpPr txBox="1"/>
            <p:nvPr/>
          </p:nvSpPr>
          <p:spPr>
            <a:xfrm>
              <a:off x="795147" y="999649"/>
              <a:ext cx="383316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ABLATION STUDY · VALIDATING THE KEY CHOICES</a:t>
              </a:r>
            </a:p>
          </p:txBody>
        </p:sp>
      </p:grpSp>
      <p:grpSp>
        <p:nvGrpSpPr>
          <p:cNvPr id="10" name="Group 10"/>
          <p:cNvGrpSpPr/>
          <p:nvPr/>
        </p:nvGrpSpPr>
        <p:grpSpPr>
          <a:xfrm>
            <a:off x="571500" y="1524000"/>
            <a:ext cx="11049000" cy="876300"/>
            <a:chOff x="571500" y="1524000"/>
            <a:chExt cx="11049000" cy="876300"/>
          </a:xfrm>
        </p:grpSpPr>
        <p:sp>
          <p:nvSpPr>
            <p:cNvPr id="6" name="Rectangle 6"/>
            <p:cNvSpPr/>
            <p:nvPr/>
          </p:nvSpPr>
          <p:spPr>
            <a:xfrm>
              <a:off x="571500" y="1524000"/>
              <a:ext cx="11049000" cy="876300"/>
            </a:xfrm>
            <a:prstGeom prst="roundRect">
              <a:avLst>
                <a:gd name="adj" fmla="val 13043"/>
              </a:avLst>
            </a:prstGeom>
            <a:solidFill>
              <a:srgbClr val="EAEFFC"/>
            </a:solidFill>
            <a:ln>
              <a:noFill/>
            </a:ln>
          </p:spPr>
        </p:sp>
        <p:sp>
          <p:nvSpPr>
            <p:cNvPr id="7" name="Rectangle 7"/>
            <p:cNvSpPr/>
            <p:nvPr/>
          </p:nvSpPr>
          <p:spPr>
            <a:xfrm>
              <a:off x="571500" y="1524000"/>
              <a:ext cx="57150" cy="876300"/>
            </a:xfrm>
            <a:prstGeom prst="roundRect">
              <a:avLst>
                <a:gd name="adj" fmla="val 50000"/>
              </a:avLst>
            </a:prstGeom>
            <a:solidFill>
              <a:schemeClr val="accent2"/>
            </a:solidFill>
            <a:ln>
              <a:noFill/>
            </a:ln>
          </p:spPr>
        </p:sp>
        <p:sp>
          <p:nvSpPr>
            <p:cNvPr id="8" name="TextBox 8"/>
            <p:cNvSpPr txBox="1"/>
            <p:nvPr/>
          </p:nvSpPr>
          <p:spPr>
            <a:xfrm>
              <a:off x="871347" y="1780699"/>
              <a:ext cx="2708270"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ABLATIONS CONFIRM THE DESIGN</a:t>
              </a:r>
            </a:p>
          </p:txBody>
        </p:sp>
        <p:sp>
          <p:nvSpPr>
            <p:cNvPr id="9" name="TextBox 9"/>
            <p:cNvSpPr txBox="1"/>
            <p:nvPr/>
          </p:nvSpPr>
          <p:spPr>
            <a:xfrm>
              <a:off x="867918" y="2012632"/>
              <a:ext cx="805876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Each key design decision was tested — and the chosen one holds up.</a:t>
              </a:r>
            </a:p>
          </p:txBody>
        </p:sp>
      </p:grpSp>
      <p:grpSp>
        <p:nvGrpSpPr>
          <p:cNvPr id="22" name="Group 22"/>
          <p:cNvGrpSpPr/>
          <p:nvPr/>
        </p:nvGrpSpPr>
        <p:grpSpPr>
          <a:xfrm>
            <a:off x="571500" y="2647950"/>
            <a:ext cx="3552825" cy="3371850"/>
            <a:chOff x="571500" y="2647950"/>
            <a:chExt cx="3552825" cy="3371850"/>
          </a:xfrm>
        </p:grpSpPr>
        <p:sp>
          <p:nvSpPr>
            <p:cNvPr id="11" name="Rectangle 11"/>
            <p:cNvSpPr/>
            <p:nvPr/>
          </p:nvSpPr>
          <p:spPr>
            <a:xfrm>
              <a:off x="571500" y="2647950"/>
              <a:ext cx="3552825" cy="3371850"/>
            </a:xfrm>
            <a:prstGeom prst="roundRect">
              <a:avLst>
                <a:gd name="adj" fmla="val 3390"/>
              </a:avLst>
            </a:prstGeom>
            <a:solidFill>
              <a:schemeClr val="lt1"/>
            </a:solidFill>
            <a:ln w="14288">
              <a:solidFill>
                <a:schemeClr val="accent4"/>
              </a:solidFill>
            </a:ln>
          </p:spPr>
        </p:sp>
        <p:sp>
          <p:nvSpPr>
            <p:cNvPr id="12" name="Rectangle 12"/>
            <p:cNvSpPr/>
            <p:nvPr/>
          </p:nvSpPr>
          <p:spPr>
            <a:xfrm>
              <a:off x="571500" y="2647950"/>
              <a:ext cx="3552825" cy="57150"/>
            </a:xfrm>
            <a:prstGeom prst="roundRect">
              <a:avLst>
                <a:gd name="adj" fmla="val 50000"/>
              </a:avLst>
            </a:prstGeom>
            <a:solidFill>
              <a:srgbClr val="2F9E68"/>
            </a:solidFill>
            <a:ln>
              <a:noFill/>
            </a:ln>
          </p:spPr>
        </p:sp>
        <p:sp>
          <p:nvSpPr>
            <p:cNvPr id="13" name="TextBox 13"/>
            <p:cNvSpPr txBox="1"/>
            <p:nvPr/>
          </p:nvSpPr>
          <p:spPr>
            <a:xfrm>
              <a:off x="795147" y="2923699"/>
              <a:ext cx="1552456" cy="190690"/>
            </a:xfrm>
            <a:prstGeom prst="rect">
              <a:avLst/>
            </a:prstGeom>
            <a:noFill/>
            <a:ln>
              <a:noFill/>
            </a:ln>
          </p:spPr>
          <p:txBody>
            <a:bodyPr wrap="none" lIns="0" tIns="0" rIns="0" bIns="0" anchor="t" anchorCtr="0">
              <a:spAutoFit/>
            </a:bodyPr>
            <a:lstStyle/>
            <a:p>
              <a:pPr algn="l"/>
              <a:r>
                <a:rPr lang="en-US" sz="980" b="1" spc="75" dirty="0">
                  <a:solidFill>
                    <a:srgbClr val="2F9E68"/>
                  </a:solidFill>
                  <a:latin typeface="+mn-lt"/>
                  <a:ea typeface="+mn-ea"/>
                  <a:cs typeface="+mn-cs"/>
                </a:rPr>
                <a:t>1 · GROUNDING TERM</a:t>
              </a:r>
            </a:p>
          </p:txBody>
        </p:sp>
        <p:sp>
          <p:nvSpPr>
            <p:cNvPr id="14" name="Rectangle 14"/>
            <p:cNvSpPr/>
            <p:nvPr/>
          </p:nvSpPr>
          <p:spPr>
            <a:xfrm>
              <a:off x="800100" y="3200400"/>
              <a:ext cx="3095625" cy="666750"/>
            </a:xfrm>
            <a:prstGeom prst="roundRect">
              <a:avLst>
                <a:gd name="adj" fmla="val 11429"/>
              </a:avLst>
            </a:prstGeom>
            <a:solidFill>
              <a:srgbClr val="E7F4EC"/>
            </a:solidFill>
            <a:ln>
              <a:noFill/>
            </a:ln>
          </p:spPr>
        </p:sp>
        <p:sp>
          <p:nvSpPr>
            <p:cNvPr id="15" name="TextBox 15"/>
            <p:cNvSpPr txBox="1"/>
            <p:nvPr/>
          </p:nvSpPr>
          <p:spPr>
            <a:xfrm>
              <a:off x="1736091" y="3444240"/>
              <a:ext cx="1214117" cy="352044"/>
            </a:xfrm>
            <a:prstGeom prst="rect">
              <a:avLst/>
            </a:prstGeom>
            <a:noFill/>
            <a:ln>
              <a:noFill/>
            </a:ln>
          </p:spPr>
          <p:txBody>
            <a:bodyPr wrap="none" lIns="0" tIns="0" rIns="0" bIns="0" anchor="t" anchorCtr="0">
              <a:spAutoFit/>
            </a:bodyPr>
            <a:lstStyle/>
            <a:p>
              <a:pPr algn="ctr"/>
              <a:r>
                <a:rPr lang="en-US" sz="1800" b="1" dirty="0">
                  <a:solidFill>
                    <a:srgbClr val="2F9E68"/>
                  </a:solidFill>
                  <a:latin typeface="Consolas"/>
                  <a:ea typeface="Consolas"/>
                  <a:cs typeface="Consolas"/>
                </a:rPr>
                <a:t>φ(gᵢ, gᵢ)</a:t>
              </a:r>
            </a:p>
          </p:txBody>
        </p:sp>
        <p:sp>
          <p:nvSpPr>
            <p:cNvPr id="16" name="TextBox 16"/>
            <p:cNvSpPr txBox="1"/>
            <p:nvPr/>
          </p:nvSpPr>
          <p:spPr>
            <a:xfrm>
              <a:off x="794004" y="4061460"/>
              <a:ext cx="227104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Adding φ of a goal with itself</a:t>
              </a:r>
            </a:p>
          </p:txBody>
        </p:sp>
        <p:sp>
          <p:nvSpPr>
            <p:cNvPr id="17" name="TextBox 17"/>
            <p:cNvSpPr txBox="1"/>
            <p:nvPr/>
          </p:nvSpPr>
          <p:spPr>
            <a:xfrm>
              <a:off x="794004" y="4271010"/>
              <a:ext cx="220919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as a normalizing constant in</a:t>
              </a:r>
            </a:p>
          </p:txBody>
        </p:sp>
        <p:sp>
          <p:nvSpPr>
            <p:cNvPr id="18" name="TextBox 18"/>
            <p:cNvSpPr txBox="1"/>
            <p:nvPr/>
          </p:nvSpPr>
          <p:spPr>
            <a:xfrm>
              <a:off x="794004" y="4480560"/>
              <a:ext cx="179725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ψ's objective improves</a:t>
              </a:r>
            </a:p>
          </p:txBody>
        </p:sp>
        <p:sp>
          <p:nvSpPr>
            <p:cNvPr id="19" name="TextBox 19"/>
            <p:cNvSpPr txBox="1"/>
            <p:nvPr/>
          </p:nvSpPr>
          <p:spPr>
            <a:xfrm>
              <a:off x="794004" y="4690110"/>
              <a:ext cx="111069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performance.</a:t>
              </a:r>
            </a:p>
          </p:txBody>
        </p:sp>
        <p:sp>
          <p:nvSpPr>
            <p:cNvPr id="20" name="TextBox 20"/>
            <p:cNvSpPr txBox="1"/>
            <p:nvPr/>
          </p:nvSpPr>
          <p:spPr>
            <a:xfrm>
              <a:off x="794004" y="5166360"/>
              <a:ext cx="1909877" cy="234696"/>
            </a:xfrm>
            <a:prstGeom prst="rect">
              <a:avLst/>
            </a:prstGeom>
            <a:noFill/>
            <a:ln>
              <a:noFill/>
            </a:ln>
          </p:spPr>
          <p:txBody>
            <a:bodyPr wrap="none" lIns="0" tIns="0" rIns="0" bIns="0" anchor="t" anchorCtr="0">
              <a:spAutoFit/>
            </a:bodyPr>
            <a:lstStyle/>
            <a:p>
              <a:pPr algn="l"/>
              <a:r>
                <a:rPr lang="en-US" sz="1200" i="1" dirty="0">
                  <a:solidFill>
                    <a:srgbClr val="2F9E68"/>
                  </a:solidFill>
                  <a:latin typeface="+mj-lt"/>
                  <a:ea typeface="+mj-ea"/>
                  <a:cs typeface="+mj-cs"/>
                </a:rPr>
                <a:t>Confirms the empirical</a:t>
              </a:r>
            </a:p>
          </p:txBody>
        </p:sp>
        <p:sp>
          <p:nvSpPr>
            <p:cNvPr id="21" name="TextBox 21"/>
            <p:cNvSpPr txBox="1"/>
            <p:nvPr/>
          </p:nvSpPr>
          <p:spPr>
            <a:xfrm>
              <a:off x="794004" y="5375910"/>
              <a:ext cx="1328501" cy="234696"/>
            </a:xfrm>
            <a:prstGeom prst="rect">
              <a:avLst/>
            </a:prstGeom>
            <a:noFill/>
            <a:ln>
              <a:noFill/>
            </a:ln>
          </p:spPr>
          <p:txBody>
            <a:bodyPr wrap="none" lIns="0" tIns="0" rIns="0" bIns="0" anchor="t" anchorCtr="0">
              <a:spAutoFit/>
            </a:bodyPr>
            <a:lstStyle/>
            <a:p>
              <a:pPr algn="l"/>
              <a:r>
                <a:rPr lang="en-US" sz="1200" i="1" dirty="0">
                  <a:solidFill>
                    <a:srgbClr val="2F9E68"/>
                  </a:solidFill>
                  <a:latin typeface="+mj-lt"/>
                  <a:ea typeface="+mj-ea"/>
                  <a:cs typeface="+mj-cs"/>
                </a:rPr>
                <a:t>choice in Eq. 7.</a:t>
              </a:r>
            </a:p>
          </p:txBody>
        </p:sp>
      </p:grpSp>
      <p:grpSp>
        <p:nvGrpSpPr>
          <p:cNvPr id="38" name="Group 38"/>
          <p:cNvGrpSpPr/>
          <p:nvPr/>
        </p:nvGrpSpPr>
        <p:grpSpPr>
          <a:xfrm>
            <a:off x="4324350" y="2647950"/>
            <a:ext cx="3552825" cy="3371850"/>
            <a:chOff x="4324350" y="2647950"/>
            <a:chExt cx="3552825" cy="3371850"/>
          </a:xfrm>
        </p:grpSpPr>
        <p:sp>
          <p:nvSpPr>
            <p:cNvPr id="23" name="Rectangle 23"/>
            <p:cNvSpPr/>
            <p:nvPr/>
          </p:nvSpPr>
          <p:spPr>
            <a:xfrm>
              <a:off x="4324350" y="2647950"/>
              <a:ext cx="3552825" cy="3371850"/>
            </a:xfrm>
            <a:prstGeom prst="roundRect">
              <a:avLst>
                <a:gd name="adj" fmla="val 3390"/>
              </a:avLst>
            </a:prstGeom>
            <a:solidFill>
              <a:schemeClr val="lt1"/>
            </a:solidFill>
            <a:ln w="14288">
              <a:solidFill>
                <a:schemeClr val="accent4"/>
              </a:solidFill>
            </a:ln>
          </p:spPr>
        </p:sp>
        <p:sp>
          <p:nvSpPr>
            <p:cNvPr id="24" name="Rectangle 24"/>
            <p:cNvSpPr/>
            <p:nvPr/>
          </p:nvSpPr>
          <p:spPr>
            <a:xfrm>
              <a:off x="4324350" y="2647950"/>
              <a:ext cx="3552825" cy="57150"/>
            </a:xfrm>
            <a:prstGeom prst="roundRect">
              <a:avLst>
                <a:gd name="adj" fmla="val 50000"/>
              </a:avLst>
            </a:prstGeom>
            <a:solidFill>
              <a:schemeClr val="accent2"/>
            </a:solidFill>
            <a:ln>
              <a:noFill/>
            </a:ln>
          </p:spPr>
        </p:sp>
        <p:sp>
          <p:nvSpPr>
            <p:cNvPr id="25" name="TextBox 25"/>
            <p:cNvSpPr txBox="1"/>
            <p:nvPr/>
          </p:nvSpPr>
          <p:spPr>
            <a:xfrm>
              <a:off x="4547997" y="2923699"/>
              <a:ext cx="1775272"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2 · METRIC LOSS FOR φ</a:t>
              </a:r>
            </a:p>
          </p:txBody>
        </p:sp>
        <p:sp>
          <p:nvSpPr>
            <p:cNvPr id="26" name="Rectangle 26"/>
            <p:cNvSpPr/>
            <p:nvPr/>
          </p:nvSpPr>
          <p:spPr>
            <a:xfrm>
              <a:off x="4552950" y="3200400"/>
              <a:ext cx="1428750" cy="666750"/>
            </a:xfrm>
            <a:prstGeom prst="roundRect">
              <a:avLst>
                <a:gd name="adj" fmla="val 11429"/>
              </a:avLst>
            </a:prstGeom>
            <a:solidFill>
              <a:srgbClr val="EAEFFC"/>
            </a:solidFill>
            <a:ln>
              <a:noFill/>
            </a:ln>
          </p:spPr>
        </p:sp>
        <p:sp>
          <p:nvSpPr>
            <p:cNvPr id="27" name="TextBox 27"/>
            <p:cNvSpPr txBox="1"/>
            <p:nvPr/>
          </p:nvSpPr>
          <p:spPr>
            <a:xfrm>
              <a:off x="5130667" y="3365182"/>
              <a:ext cx="273316"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Consolas"/>
                  <a:ea typeface="Consolas"/>
                  <a:cs typeface="Consolas"/>
                </a:rPr>
                <a:t>ℓ₁</a:t>
              </a:r>
            </a:p>
          </p:txBody>
        </p:sp>
        <p:sp>
          <p:nvSpPr>
            <p:cNvPr id="28" name="TextBox 28"/>
            <p:cNvSpPr txBox="1"/>
            <p:nvPr/>
          </p:nvSpPr>
          <p:spPr>
            <a:xfrm>
              <a:off x="5052656" y="3655695"/>
              <a:ext cx="429337" cy="176212"/>
            </a:xfrm>
            <a:prstGeom prst="rect">
              <a:avLst/>
            </a:prstGeom>
            <a:noFill/>
            <a:ln>
              <a:noFill/>
            </a:ln>
          </p:spPr>
          <p:txBody>
            <a:bodyPr wrap="none" lIns="0" tIns="0" rIns="0" bIns="0" anchor="t" anchorCtr="0">
              <a:spAutoFit/>
            </a:bodyPr>
            <a:lstStyle/>
            <a:p>
              <a:pPr algn="ctr"/>
              <a:r>
                <a:rPr lang="en-US" sz="900" b="1" dirty="0">
                  <a:solidFill>
                    <a:schemeClr val="accent2"/>
                  </a:solidFill>
                  <a:latin typeface="+mn-lt"/>
                  <a:ea typeface="+mn-ea"/>
                  <a:cs typeface="+mn-cs"/>
                </a:rPr>
                <a:t>chosen</a:t>
              </a:r>
            </a:p>
          </p:txBody>
        </p:sp>
        <p:sp>
          <p:nvSpPr>
            <p:cNvPr id="29" name="TextBox 29"/>
            <p:cNvSpPr txBox="1"/>
            <p:nvPr/>
          </p:nvSpPr>
          <p:spPr>
            <a:xfrm>
              <a:off x="6068568" y="3441382"/>
              <a:ext cx="138932" cy="322707"/>
            </a:xfrm>
            <a:prstGeom prst="rect">
              <a:avLst/>
            </a:prstGeom>
            <a:noFill/>
            <a:ln>
              <a:noFill/>
            </a:ln>
          </p:spPr>
          <p:txBody>
            <a:bodyPr wrap="none" lIns="0" tIns="0" rIns="0" bIns="0" anchor="t" anchorCtr="0">
              <a:spAutoFit/>
            </a:bodyPr>
            <a:lstStyle/>
            <a:p>
              <a:pPr algn="l"/>
              <a:r>
                <a:rPr lang="en-US" sz="1650" dirty="0">
                  <a:solidFill>
                    <a:schemeClr val="accent6"/>
                  </a:solidFill>
                  <a:latin typeface="+mn-lt"/>
                  <a:ea typeface="+mn-ea"/>
                  <a:cs typeface="+mn-cs"/>
                </a:rPr>
                <a:t>&gt;</a:t>
              </a:r>
            </a:p>
          </p:txBody>
        </p:sp>
        <p:sp>
          <p:nvSpPr>
            <p:cNvPr id="30" name="Rectangle 30"/>
            <p:cNvSpPr/>
            <p:nvPr/>
          </p:nvSpPr>
          <p:spPr>
            <a:xfrm>
              <a:off x="6305550" y="3200400"/>
              <a:ext cx="1400175" cy="666750"/>
            </a:xfrm>
            <a:prstGeom prst="roundRect">
              <a:avLst>
                <a:gd name="adj" fmla="val 11429"/>
              </a:avLst>
            </a:prstGeom>
            <a:solidFill>
              <a:schemeClr val="lt2"/>
            </a:solidFill>
            <a:ln>
              <a:noFill/>
            </a:ln>
          </p:spPr>
        </p:sp>
        <p:sp>
          <p:nvSpPr>
            <p:cNvPr id="31" name="TextBox 31"/>
            <p:cNvSpPr txBox="1"/>
            <p:nvPr/>
          </p:nvSpPr>
          <p:spPr>
            <a:xfrm>
              <a:off x="6864217" y="3365182"/>
              <a:ext cx="273316" cy="322707"/>
            </a:xfrm>
            <a:prstGeom prst="rect">
              <a:avLst/>
            </a:prstGeom>
            <a:noFill/>
            <a:ln>
              <a:noFill/>
            </a:ln>
          </p:spPr>
          <p:txBody>
            <a:bodyPr wrap="none" lIns="0" tIns="0" rIns="0" bIns="0" anchor="t" anchorCtr="0">
              <a:spAutoFit/>
            </a:bodyPr>
            <a:lstStyle/>
            <a:p>
              <a:pPr algn="ctr"/>
              <a:r>
                <a:rPr lang="en-US" sz="1650" b="1" dirty="0">
                  <a:solidFill>
                    <a:schemeClr val="accent6"/>
                  </a:solidFill>
                  <a:latin typeface="Consolas"/>
                  <a:ea typeface="Consolas"/>
                  <a:cs typeface="Consolas"/>
                </a:rPr>
                <a:t>ℓ₂</a:t>
              </a:r>
            </a:p>
          </p:txBody>
        </p:sp>
        <p:sp>
          <p:nvSpPr>
            <p:cNvPr id="32" name="TextBox 32"/>
            <p:cNvSpPr txBox="1"/>
            <p:nvPr/>
          </p:nvSpPr>
          <p:spPr>
            <a:xfrm>
              <a:off x="6784086" y="3655695"/>
              <a:ext cx="433578" cy="176212"/>
            </a:xfrm>
            <a:prstGeom prst="rect">
              <a:avLst/>
            </a:prstGeom>
            <a:noFill/>
            <a:ln>
              <a:noFill/>
            </a:ln>
          </p:spPr>
          <p:txBody>
            <a:bodyPr wrap="none" lIns="0" tIns="0" rIns="0" bIns="0" anchor="t" anchorCtr="0">
              <a:spAutoFit/>
            </a:bodyPr>
            <a:lstStyle/>
            <a:p>
              <a:pPr algn="ctr"/>
              <a:r>
                <a:rPr lang="en-US" sz="900" dirty="0">
                  <a:solidFill>
                    <a:schemeClr val="accent6"/>
                  </a:solidFill>
                  <a:latin typeface="+mn-lt"/>
                  <a:ea typeface="+mn-ea"/>
                  <a:cs typeface="+mn-cs"/>
                </a:rPr>
                <a:t>weaker</a:t>
              </a:r>
            </a:p>
          </p:txBody>
        </p:sp>
        <p:sp>
          <p:nvSpPr>
            <p:cNvPr id="33" name="TextBox 33"/>
            <p:cNvSpPr txBox="1"/>
            <p:nvPr/>
          </p:nvSpPr>
          <p:spPr>
            <a:xfrm>
              <a:off x="4546854" y="4061460"/>
              <a:ext cx="222226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Fitting φ to the bisimulation</a:t>
              </a:r>
            </a:p>
          </p:txBody>
        </p:sp>
        <p:sp>
          <p:nvSpPr>
            <p:cNvPr id="34" name="TextBox 34"/>
            <p:cNvSpPr txBox="1"/>
            <p:nvPr/>
          </p:nvSpPr>
          <p:spPr>
            <a:xfrm>
              <a:off x="4546854" y="4271010"/>
              <a:ext cx="227380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metric with an ℓ₁ loss works</a:t>
              </a:r>
            </a:p>
          </p:txBody>
        </p:sp>
        <p:sp>
          <p:nvSpPr>
            <p:cNvPr id="35" name="TextBox 35"/>
            <p:cNvSpPr txBox="1"/>
            <p:nvPr/>
          </p:nvSpPr>
          <p:spPr>
            <a:xfrm>
              <a:off x="4546854" y="4480560"/>
              <a:ext cx="185379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better than an ℓ₂ loss.</a:t>
              </a:r>
            </a:p>
          </p:txBody>
        </p:sp>
        <p:sp>
          <p:nvSpPr>
            <p:cNvPr id="36" name="TextBox 36"/>
            <p:cNvSpPr txBox="1"/>
            <p:nvPr/>
          </p:nvSpPr>
          <p:spPr>
            <a:xfrm>
              <a:off x="4546854" y="5166360"/>
              <a:ext cx="1845716" cy="234696"/>
            </a:xfrm>
            <a:prstGeom prst="rect">
              <a:avLst/>
            </a:prstGeom>
            <a:noFill/>
            <a:ln>
              <a:noFill/>
            </a:ln>
          </p:spPr>
          <p:txBody>
            <a:bodyPr wrap="none" lIns="0" tIns="0" rIns="0" bIns="0" anchor="t" anchorCtr="0">
              <a:spAutoFit/>
            </a:bodyPr>
            <a:lstStyle/>
            <a:p>
              <a:pPr algn="l"/>
              <a:r>
                <a:rPr lang="en-US" sz="1200" i="1" dirty="0">
                  <a:solidFill>
                    <a:schemeClr val="accent2"/>
                  </a:solidFill>
                  <a:latin typeface="+mj-lt"/>
                  <a:ea typeface="+mj-ea"/>
                  <a:cs typeface="+mj-cs"/>
                </a:rPr>
                <a:t>The ℓ₁ distance in the</a:t>
              </a:r>
            </a:p>
          </p:txBody>
        </p:sp>
        <p:sp>
          <p:nvSpPr>
            <p:cNvPr id="37" name="TextBox 37"/>
            <p:cNvSpPr txBox="1"/>
            <p:nvPr/>
          </p:nvSpPr>
          <p:spPr>
            <a:xfrm>
              <a:off x="4546854" y="5375910"/>
              <a:ext cx="2444496" cy="234696"/>
            </a:xfrm>
            <a:prstGeom prst="rect">
              <a:avLst/>
            </a:prstGeom>
            <a:noFill/>
            <a:ln>
              <a:noFill/>
            </a:ln>
          </p:spPr>
          <p:txBody>
            <a:bodyPr wrap="none" lIns="0" tIns="0" rIns="0" bIns="0" anchor="t" anchorCtr="0">
              <a:spAutoFit/>
            </a:bodyPr>
            <a:lstStyle/>
            <a:p>
              <a:pPr algn="l"/>
              <a:r>
                <a:rPr lang="en-US" sz="1200" i="1" dirty="0">
                  <a:solidFill>
                    <a:schemeClr val="accent2"/>
                  </a:solidFill>
                  <a:latin typeface="+mj-lt"/>
                  <a:ea typeface="+mj-ea"/>
                  <a:cs typeface="+mj-cs"/>
                </a:rPr>
                <a:t>objective is the right choice.</a:t>
              </a:r>
            </a:p>
          </p:txBody>
        </p:sp>
      </p:grpSp>
      <p:grpSp>
        <p:nvGrpSpPr>
          <p:cNvPr id="54" name="Group 54"/>
          <p:cNvGrpSpPr/>
          <p:nvPr/>
        </p:nvGrpSpPr>
        <p:grpSpPr>
          <a:xfrm>
            <a:off x="8077200" y="2647950"/>
            <a:ext cx="3543300" cy="3371850"/>
            <a:chOff x="8077200" y="2647950"/>
            <a:chExt cx="3543300" cy="3371850"/>
          </a:xfrm>
        </p:grpSpPr>
        <p:sp>
          <p:nvSpPr>
            <p:cNvPr id="39" name="Rectangle 39"/>
            <p:cNvSpPr/>
            <p:nvPr/>
          </p:nvSpPr>
          <p:spPr>
            <a:xfrm>
              <a:off x="8077200" y="2647950"/>
              <a:ext cx="3543300" cy="3371850"/>
            </a:xfrm>
            <a:prstGeom prst="roundRect">
              <a:avLst>
                <a:gd name="adj" fmla="val 3390"/>
              </a:avLst>
            </a:prstGeom>
            <a:solidFill>
              <a:schemeClr val="lt1"/>
            </a:solidFill>
            <a:ln w="14288">
              <a:solidFill>
                <a:schemeClr val="accent4"/>
              </a:solidFill>
            </a:ln>
          </p:spPr>
        </p:sp>
        <p:sp>
          <p:nvSpPr>
            <p:cNvPr id="40" name="Rectangle 40"/>
            <p:cNvSpPr/>
            <p:nvPr/>
          </p:nvSpPr>
          <p:spPr>
            <a:xfrm>
              <a:off x="8077200" y="2647950"/>
              <a:ext cx="3543300" cy="57150"/>
            </a:xfrm>
            <a:prstGeom prst="roundRect">
              <a:avLst>
                <a:gd name="adj" fmla="val 50000"/>
              </a:avLst>
            </a:prstGeom>
            <a:solidFill>
              <a:schemeClr val="dk2"/>
            </a:solidFill>
            <a:ln>
              <a:noFill/>
            </a:ln>
          </p:spPr>
        </p:sp>
        <p:sp>
          <p:nvSpPr>
            <p:cNvPr id="41" name="TextBox 41"/>
            <p:cNvSpPr txBox="1"/>
            <p:nvPr/>
          </p:nvSpPr>
          <p:spPr>
            <a:xfrm>
              <a:off x="8300847" y="2923699"/>
              <a:ext cx="2117455" cy="190690"/>
            </a:xfrm>
            <a:prstGeom prst="rect">
              <a:avLst/>
            </a:prstGeom>
            <a:noFill/>
            <a:ln>
              <a:noFill/>
            </a:ln>
          </p:spPr>
          <p:txBody>
            <a:bodyPr wrap="none" lIns="0" tIns="0" rIns="0" bIns="0" anchor="t" anchorCtr="0">
              <a:spAutoFit/>
            </a:bodyPr>
            <a:lstStyle/>
            <a:p>
              <a:pPr algn="l"/>
              <a:r>
                <a:rPr lang="en-US" sz="980" b="1" spc="75" dirty="0">
                  <a:solidFill>
                    <a:schemeClr val="dk2"/>
                  </a:solidFill>
                  <a:latin typeface="+mn-lt"/>
                  <a:ea typeface="+mn-ea"/>
                  <a:cs typeface="+mn-cs"/>
                </a:rPr>
                <a:t>3 · LATENT DIMENSIONALITY</a:t>
              </a:r>
            </a:p>
          </p:txBody>
        </p:sp>
        <p:grpSp>
          <p:nvGrpSpPr>
            <p:cNvPr id="47" name="Group 47"/>
            <p:cNvGrpSpPr/>
            <p:nvPr/>
          </p:nvGrpSpPr>
          <p:grpSpPr>
            <a:xfrm>
              <a:off x="8382000" y="3200400"/>
              <a:ext cx="2667000" cy="666750"/>
              <a:chOff x="8382000" y="3200400"/>
              <a:chExt cx="2667000" cy="666750"/>
            </a:xfrm>
          </p:grpSpPr>
          <p:sp>
            <p:nvSpPr>
              <p:cNvPr id="42" name="Rectangle 42"/>
              <p:cNvSpPr/>
              <p:nvPr/>
            </p:nvSpPr>
            <p:spPr>
              <a:xfrm>
                <a:off x="8420100" y="3238500"/>
                <a:ext cx="495300" cy="628650"/>
              </a:xfrm>
              <a:prstGeom prst="roundRect">
                <a:avLst>
                  <a:gd name="adj" fmla="val 7692"/>
                </a:avLst>
              </a:prstGeom>
              <a:solidFill>
                <a:schemeClr val="accent4"/>
              </a:solidFill>
              <a:ln>
                <a:noFill/>
              </a:ln>
            </p:spPr>
          </p:sp>
          <p:sp>
            <p:nvSpPr>
              <p:cNvPr id="43" name="Rectangle 43"/>
              <p:cNvSpPr/>
              <p:nvPr/>
            </p:nvSpPr>
            <p:spPr>
              <a:xfrm>
                <a:off x="9067800" y="3200400"/>
                <a:ext cx="495300" cy="666750"/>
              </a:xfrm>
              <a:prstGeom prst="roundRect">
                <a:avLst>
                  <a:gd name="adj" fmla="val 7692"/>
                </a:avLst>
              </a:prstGeom>
              <a:solidFill>
                <a:srgbClr val="C7D0E8"/>
              </a:solidFill>
              <a:ln>
                <a:noFill/>
              </a:ln>
            </p:spPr>
          </p:sp>
          <p:sp>
            <p:nvSpPr>
              <p:cNvPr id="44" name="Rectangle 44"/>
              <p:cNvSpPr/>
              <p:nvPr/>
            </p:nvSpPr>
            <p:spPr>
              <a:xfrm>
                <a:off x="9715500" y="3238500"/>
                <a:ext cx="495300" cy="628650"/>
              </a:xfrm>
              <a:prstGeom prst="roundRect">
                <a:avLst>
                  <a:gd name="adj" fmla="val 7692"/>
                </a:avLst>
              </a:prstGeom>
              <a:solidFill>
                <a:schemeClr val="accent4"/>
              </a:solidFill>
              <a:ln>
                <a:noFill/>
              </a:ln>
            </p:spPr>
          </p:sp>
          <p:sp>
            <p:nvSpPr>
              <p:cNvPr id="45" name="Rectangle 45"/>
              <p:cNvSpPr/>
              <p:nvPr/>
            </p:nvSpPr>
            <p:spPr>
              <a:xfrm>
                <a:off x="10363200" y="3219450"/>
                <a:ext cx="495300" cy="647700"/>
              </a:xfrm>
              <a:prstGeom prst="roundRect">
                <a:avLst>
                  <a:gd name="adj" fmla="val 7692"/>
                </a:avLst>
              </a:prstGeom>
              <a:solidFill>
                <a:srgbClr val="C7D0E8"/>
              </a:solidFill>
              <a:ln>
                <a:noFill/>
              </a:ln>
            </p:spPr>
          </p:sp>
          <p:sp>
            <p:nvSpPr>
              <p:cNvPr id="46" name="Line 46"/>
              <p:cNvSpPr/>
              <p:nvPr/>
            </p:nvSpPr>
            <p:spPr>
              <a:xfrm>
                <a:off x="8382000" y="3352800"/>
                <a:ext cx="2667000" cy="9525"/>
              </a:xfrm>
              <a:custGeom>
                <a:avLst/>
                <a:gdLst/>
                <a:ahLst/>
                <a:cxnLst/>
                <a:rect l="l" t="t" r="r" b="b"/>
                <a:pathLst>
                  <a:path w="2667000" h="9525">
                    <a:moveTo>
                      <a:pt x="0" y="0"/>
                    </a:moveTo>
                    <a:lnTo>
                      <a:pt x="2667000" y="0"/>
                    </a:lnTo>
                  </a:path>
                </a:pathLst>
              </a:custGeom>
              <a:noFill/>
              <a:ln w="14288">
                <a:solidFill>
                  <a:srgbClr val="99A2BE"/>
                </a:solidFill>
                <a:prstDash val="dash"/>
              </a:ln>
            </p:spPr>
          </p:sp>
        </p:grpSp>
        <p:sp>
          <p:nvSpPr>
            <p:cNvPr id="48" name="TextBox 48"/>
            <p:cNvSpPr txBox="1"/>
            <p:nvPr/>
          </p:nvSpPr>
          <p:spPr>
            <a:xfrm>
              <a:off x="8699068" y="3979545"/>
              <a:ext cx="2032864" cy="176212"/>
            </a:xfrm>
            <a:prstGeom prst="rect">
              <a:avLst/>
            </a:prstGeom>
            <a:noFill/>
            <a:ln>
              <a:noFill/>
            </a:ln>
          </p:spPr>
          <p:txBody>
            <a:bodyPr wrap="none" lIns="0" tIns="0" rIns="0" bIns="0" anchor="t" anchorCtr="0">
              <a:spAutoFit/>
            </a:bodyPr>
            <a:lstStyle/>
            <a:p>
              <a:pPr algn="ctr"/>
              <a:r>
                <a:rPr lang="en-US" sz="900" dirty="0">
                  <a:solidFill>
                    <a:schemeClr val="accent6"/>
                  </a:solidFill>
                  <a:latin typeface="+mn-lt"/>
                  <a:ea typeface="+mn-ea"/>
                  <a:cs typeface="+mn-cs"/>
                </a:rPr>
                <a:t>success ≈ flat across latent sizes</a:t>
              </a:r>
            </a:p>
          </p:txBody>
        </p:sp>
        <p:sp>
          <p:nvSpPr>
            <p:cNvPr id="49" name="TextBox 49"/>
            <p:cNvSpPr txBox="1"/>
            <p:nvPr/>
          </p:nvSpPr>
          <p:spPr>
            <a:xfrm>
              <a:off x="8299704" y="4309110"/>
              <a:ext cx="230301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Varying the dimensionality of</a:t>
              </a:r>
            </a:p>
          </p:txBody>
        </p:sp>
        <p:sp>
          <p:nvSpPr>
            <p:cNvPr id="50" name="TextBox 50"/>
            <p:cNvSpPr txBox="1"/>
            <p:nvPr/>
          </p:nvSpPr>
          <p:spPr>
            <a:xfrm>
              <a:off x="8299704" y="4518660"/>
              <a:ext cx="213649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φ and ψ has little effect on</a:t>
              </a:r>
            </a:p>
          </p:txBody>
        </p:sp>
        <p:sp>
          <p:nvSpPr>
            <p:cNvPr id="51" name="TextBox 51"/>
            <p:cNvSpPr txBox="1"/>
            <p:nvPr/>
          </p:nvSpPr>
          <p:spPr>
            <a:xfrm>
              <a:off x="8299704" y="4728210"/>
              <a:ext cx="168417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downstream control.</a:t>
              </a:r>
            </a:p>
          </p:txBody>
        </p:sp>
        <p:sp>
          <p:nvSpPr>
            <p:cNvPr id="52" name="TextBox 52"/>
            <p:cNvSpPr txBox="1"/>
            <p:nvPr/>
          </p:nvSpPr>
          <p:spPr>
            <a:xfrm>
              <a:off x="8299704" y="5204460"/>
              <a:ext cx="2303493" cy="234696"/>
            </a:xfrm>
            <a:prstGeom prst="rect">
              <a:avLst/>
            </a:prstGeom>
            <a:noFill/>
            <a:ln>
              <a:noFill/>
            </a:ln>
          </p:spPr>
          <p:txBody>
            <a:bodyPr wrap="none" lIns="0" tIns="0" rIns="0" bIns="0" anchor="t" anchorCtr="0">
              <a:spAutoFit/>
            </a:bodyPr>
            <a:lstStyle/>
            <a:p>
              <a:pPr algn="l"/>
              <a:r>
                <a:rPr lang="en-US" sz="1200" i="1" dirty="0">
                  <a:solidFill>
                    <a:schemeClr val="dk2"/>
                  </a:solidFill>
                  <a:latin typeface="+mj-lt"/>
                  <a:ea typeface="+mj-ea"/>
                  <a:cs typeface="+mj-cs"/>
                </a:rPr>
                <a:t>The method is not sensitive</a:t>
              </a:r>
            </a:p>
          </p:txBody>
        </p:sp>
        <p:sp>
          <p:nvSpPr>
            <p:cNvPr id="53" name="TextBox 53"/>
            <p:cNvSpPr txBox="1"/>
            <p:nvPr/>
          </p:nvSpPr>
          <p:spPr>
            <a:xfrm>
              <a:off x="8299704" y="5414010"/>
              <a:ext cx="2077517" cy="234696"/>
            </a:xfrm>
            <a:prstGeom prst="rect">
              <a:avLst/>
            </a:prstGeom>
            <a:noFill/>
            <a:ln>
              <a:noFill/>
            </a:ln>
          </p:spPr>
          <p:txBody>
            <a:bodyPr wrap="none" lIns="0" tIns="0" rIns="0" bIns="0" anchor="t" anchorCtr="0">
              <a:spAutoFit/>
            </a:bodyPr>
            <a:lstStyle/>
            <a:p>
              <a:pPr algn="l"/>
              <a:r>
                <a:rPr lang="en-US" sz="1200" i="1" dirty="0">
                  <a:solidFill>
                    <a:schemeClr val="dk2"/>
                  </a:solidFill>
                  <a:latin typeface="+mj-lt"/>
                  <a:ea typeface="+mj-ea"/>
                  <a:cs typeface="+mj-cs"/>
                </a:rPr>
                <a:t>to this hyperparameter.</a:t>
              </a:r>
            </a:p>
          </p:txBody>
        </p:sp>
      </p:grpSp>
      <p:grpSp>
        <p:nvGrpSpPr>
          <p:cNvPr id="57" name="Group 57"/>
          <p:cNvGrpSpPr/>
          <p:nvPr/>
        </p:nvGrpSpPr>
        <p:grpSpPr>
          <a:xfrm>
            <a:off x="566738" y="6597491"/>
            <a:ext cx="11058524" cy="161925"/>
            <a:chOff x="566738" y="6597491"/>
            <a:chExt cx="11058524" cy="161925"/>
          </a:xfrm>
        </p:grpSpPr>
        <p:sp>
          <p:nvSpPr>
            <p:cNvPr id="55" name="TextBox 55"/>
            <p:cNvSpPr txBox="1"/>
            <p:nvPr/>
          </p:nvSpPr>
          <p:spPr>
            <a:xfrm>
              <a:off x="566738" y="6597491"/>
              <a:ext cx="2239922"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Goal-Conditioned Bisimulation · ICML 2022</a:t>
              </a:r>
            </a:p>
          </p:txBody>
        </p:sp>
        <p:sp>
          <p:nvSpPr>
            <p:cNvPr id="56" name="TextBox 56"/>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08</a:t>
              </a:r>
            </a:p>
          </p:txBody>
        </p:sp>
      </p:grpSp>
      <p:sp>
        <p:nvSpPr>
          <p:cNvPr id="58" name="cue_s08_c1_ablations_confirm_design" title="cue_s08_c1_ablations_confirm_design" descr="cue_s08_c1_ablations_confirm_design Ablations confirm the design."/>
          <p:cNvSpPr/>
          <p:nvPr/>
        </p:nvSpPr>
        <p:spPr>
          <a:xfrm>
            <a:off x="571804" y="1523847"/>
            <a:ext cx="1104839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8_c2_adding_grounding_term_phi_goal" title="cue_s08_c2_adding_grounding_term_phi_goal" descr="cue_s08_c2_adding_grounding_term_phi_goal Adding a grounding term, phi of a goal with itself, as a normalizing constant in psi's objective helps."/>
          <p:cNvSpPr/>
          <p:nvPr/>
        </p:nvSpPr>
        <p:spPr>
          <a:xfrm>
            <a:off x="571804" y="2647873"/>
            <a:ext cx="3552748" cy="33720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8_c3_1_metric_loss_phi_beats" title="cue_s08_c3_1_metric_loss_phi_beats" descr="cue_s08_c3_1_metric_loss_phi_beats An L1 metric loss for phi beats L2."/>
          <p:cNvSpPr/>
          <p:nvPr/>
        </p:nvSpPr>
        <p:spPr>
          <a:xfrm>
            <a:off x="4324502" y="2647873"/>
            <a:ext cx="3552748" cy="33720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8_c4_varying_latent_dimensionality_barely" title="cue_s08_c4_varying_latent_dimensionality_barely" descr="cue_s08_c4_varying_latent_dimensionality_barely And varying the latent dimensionality barely changes control."/>
          <p:cNvSpPr/>
          <p:nvPr/>
        </p:nvSpPr>
        <p:spPr>
          <a:xfrm>
            <a:off x="8077200" y="2647873"/>
            <a:ext cx="3542995" cy="33720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4976170" cy="656939"/>
            <a:chOff x="571500" y="533400"/>
            <a:chExt cx="4976170"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476052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numbers that matter</a:t>
              </a:r>
            </a:p>
          </p:txBody>
        </p:sp>
        <p:sp>
          <p:nvSpPr>
            <p:cNvPr id="4" name="TextBox 4"/>
            <p:cNvSpPr txBox="1"/>
            <p:nvPr/>
          </p:nvSpPr>
          <p:spPr>
            <a:xfrm>
              <a:off x="795147" y="999649"/>
              <a:ext cx="3624374"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HEADLINE NUMBERS · SUCCESS RATE, 5 SEEDS</a:t>
              </a:r>
            </a:p>
          </p:txBody>
        </p:sp>
      </p:grpSp>
      <p:grpSp>
        <p:nvGrpSpPr>
          <p:cNvPr id="10" name="Group 10"/>
          <p:cNvGrpSpPr/>
          <p:nvPr/>
        </p:nvGrpSpPr>
        <p:grpSpPr>
          <a:xfrm>
            <a:off x="571500" y="1524000"/>
            <a:ext cx="11049000" cy="914400"/>
            <a:chOff x="571500" y="1524000"/>
            <a:chExt cx="11049000" cy="914400"/>
          </a:xfrm>
        </p:grpSpPr>
        <p:sp>
          <p:nvSpPr>
            <p:cNvPr id="6" name="Rectangle 6"/>
            <p:cNvSpPr/>
            <p:nvPr/>
          </p:nvSpPr>
          <p:spPr>
            <a:xfrm>
              <a:off x="571500" y="1524000"/>
              <a:ext cx="11049000" cy="914400"/>
            </a:xfrm>
            <a:prstGeom prst="roundRect">
              <a:avLst>
                <a:gd name="adj" fmla="val 12500"/>
              </a:avLst>
            </a:prstGeom>
            <a:solidFill>
              <a:schemeClr val="accent1"/>
            </a:solidFill>
            <a:ln>
              <a:noFill/>
            </a:ln>
          </p:spPr>
        </p:sp>
        <p:sp>
          <p:nvSpPr>
            <p:cNvPr id="7" name="TextBox 7"/>
            <p:cNvSpPr txBox="1"/>
            <p:nvPr/>
          </p:nvSpPr>
          <p:spPr>
            <a:xfrm>
              <a:off x="871347" y="1799749"/>
              <a:ext cx="1544775" cy="190690"/>
            </a:xfrm>
            <a:prstGeom prst="rect">
              <a:avLst/>
            </a:prstGeom>
            <a:noFill/>
            <a:ln>
              <a:noFill/>
            </a:ln>
          </p:spPr>
          <p:txBody>
            <a:bodyPr wrap="none" lIns="0" tIns="0" rIns="0" bIns="0" anchor="t" anchorCtr="0">
              <a:spAutoFit/>
            </a:bodyPr>
            <a:lstStyle/>
            <a:p>
              <a:pPr algn="l"/>
              <a:r>
                <a:rPr lang="en-US" sz="980" b="1" spc="150" dirty="0">
                  <a:solidFill>
                    <a:schemeClr val="accent3"/>
                  </a:solidFill>
                  <a:latin typeface="+mn-lt"/>
                  <a:ea typeface="+mn-ea"/>
                  <a:cs typeface="+mn-cs"/>
                </a:rPr>
                <a:t>HEADLINE RESULTS</a:t>
              </a:r>
            </a:p>
          </p:txBody>
        </p:sp>
        <p:sp>
          <p:nvSpPr>
            <p:cNvPr id="8" name="TextBox 8"/>
            <p:cNvSpPr txBox="1"/>
            <p:nvPr/>
          </p:nvSpPr>
          <p:spPr>
            <a:xfrm>
              <a:off x="867156" y="2034540"/>
              <a:ext cx="8632365"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Best method on 5 of 6 task settings — and every distractor task.</a:t>
              </a:r>
            </a:p>
          </p:txBody>
        </p:sp>
        <p:sp>
          <p:nvSpPr>
            <p:cNvPr id="9" name="TextBox 9"/>
            <p:cNvSpPr txBox="1"/>
            <p:nvPr/>
          </p:nvSpPr>
          <p:spPr>
            <a:xfrm>
              <a:off x="10189997" y="1758315"/>
              <a:ext cx="1142467" cy="645414"/>
            </a:xfrm>
            <a:prstGeom prst="rect">
              <a:avLst/>
            </a:prstGeom>
            <a:noFill/>
            <a:ln>
              <a:noFill/>
            </a:ln>
          </p:spPr>
          <p:txBody>
            <a:bodyPr wrap="none" lIns="0" tIns="0" rIns="0" bIns="0" anchor="t" anchorCtr="0">
              <a:spAutoFit/>
            </a:bodyPr>
            <a:lstStyle/>
            <a:p>
              <a:pPr algn="r"/>
              <a:r>
                <a:rPr lang="en-US" sz="3300" b="1" dirty="0">
                  <a:solidFill>
                    <a:schemeClr val="accent2"/>
                  </a:solidFill>
                  <a:latin typeface="+mj-lt"/>
                  <a:ea typeface="+mj-ea"/>
                  <a:cs typeface="+mj-cs"/>
                </a:rPr>
                <a:t>5 / 6</a:t>
              </a:r>
            </a:p>
          </p:txBody>
        </p:sp>
      </p:grpSp>
      <p:grpSp>
        <p:nvGrpSpPr>
          <p:cNvPr id="19" name="Group 19"/>
          <p:cNvGrpSpPr/>
          <p:nvPr/>
        </p:nvGrpSpPr>
        <p:grpSpPr>
          <a:xfrm>
            <a:off x="571500" y="2724150"/>
            <a:ext cx="3552825" cy="3295650"/>
            <a:chOff x="571500" y="2724150"/>
            <a:chExt cx="3552825" cy="3295650"/>
          </a:xfrm>
        </p:grpSpPr>
        <p:sp>
          <p:nvSpPr>
            <p:cNvPr id="11" name="Rectangle 11"/>
            <p:cNvSpPr/>
            <p:nvPr/>
          </p:nvSpPr>
          <p:spPr>
            <a:xfrm>
              <a:off x="571500" y="2724150"/>
              <a:ext cx="3552825" cy="3295650"/>
            </a:xfrm>
            <a:prstGeom prst="roundRect">
              <a:avLst>
                <a:gd name="adj" fmla="val 4046"/>
              </a:avLst>
            </a:prstGeom>
            <a:solidFill>
              <a:schemeClr val="lt1"/>
            </a:solidFill>
            <a:ln w="14288">
              <a:solidFill>
                <a:schemeClr val="accent4"/>
              </a:solidFill>
            </a:ln>
          </p:spPr>
        </p:sp>
        <p:sp>
          <p:nvSpPr>
            <p:cNvPr id="12" name="Rectangle 12"/>
            <p:cNvSpPr/>
            <p:nvPr/>
          </p:nvSpPr>
          <p:spPr>
            <a:xfrm>
              <a:off x="571500" y="2724150"/>
              <a:ext cx="3552825" cy="76200"/>
            </a:xfrm>
            <a:prstGeom prst="roundRect">
              <a:avLst>
                <a:gd name="adj" fmla="val 50000"/>
              </a:avLst>
            </a:prstGeom>
            <a:solidFill>
              <a:schemeClr val="accent2"/>
            </a:solidFill>
            <a:ln>
              <a:noFill/>
            </a:ln>
          </p:spPr>
        </p:sp>
        <p:sp>
          <p:nvSpPr>
            <p:cNvPr id="13" name="TextBox 13"/>
            <p:cNvSpPr txBox="1"/>
            <p:nvPr/>
          </p:nvSpPr>
          <p:spPr>
            <a:xfrm>
              <a:off x="1807305" y="3277552"/>
              <a:ext cx="1071690" cy="205359"/>
            </a:xfrm>
            <a:prstGeom prst="rect">
              <a:avLst/>
            </a:prstGeom>
            <a:noFill/>
            <a:ln>
              <a:noFill/>
            </a:ln>
          </p:spPr>
          <p:txBody>
            <a:bodyPr wrap="none" lIns="0" tIns="0" rIns="0" bIns="0" anchor="t" anchorCtr="0">
              <a:spAutoFit/>
            </a:bodyPr>
            <a:lstStyle/>
            <a:p>
              <a:pPr algn="ctr"/>
              <a:r>
                <a:rPr lang="en-US" sz="1050" b="1" spc="112" dirty="0">
                  <a:solidFill>
                    <a:schemeClr val="accent2"/>
                  </a:solidFill>
                  <a:latin typeface="+mn-lt"/>
                  <a:ea typeface="+mn-ea"/>
                  <a:cs typeface="+mn-cs"/>
                </a:rPr>
                <a:t>DRAWER + VD</a:t>
              </a:r>
            </a:p>
          </p:txBody>
        </p:sp>
        <p:sp>
          <p:nvSpPr>
            <p:cNvPr id="14" name="TextBox 14"/>
            <p:cNvSpPr txBox="1"/>
            <p:nvPr/>
          </p:nvSpPr>
          <p:spPr>
            <a:xfrm>
              <a:off x="1070493" y="3609022"/>
              <a:ext cx="2545313" cy="1247775"/>
            </a:xfrm>
            <a:prstGeom prst="rect">
              <a:avLst/>
            </a:prstGeom>
            <a:noFill/>
            <a:ln>
              <a:noFill/>
            </a:ln>
          </p:spPr>
          <p:txBody>
            <a:bodyPr wrap="none" lIns="0" tIns="0" rIns="0" bIns="0" anchor="t" anchorCtr="0">
              <a:spAutoFit/>
            </a:bodyPr>
            <a:lstStyle/>
            <a:p>
              <a:pPr algn="ctr"/>
              <a:r>
                <a:rPr lang="en-US" sz="6450" b="1" dirty="0">
                  <a:solidFill>
                    <a:schemeClr val="accent1"/>
                  </a:solidFill>
                  <a:latin typeface="Consolas"/>
                  <a:ea typeface="Consolas"/>
                  <a:cs typeface="Consolas"/>
                </a:rPr>
                <a:t>0.448</a:t>
              </a:r>
            </a:p>
          </p:txBody>
        </p:sp>
        <p:sp>
          <p:nvSpPr>
            <p:cNvPr id="15" name="TextBox 15"/>
            <p:cNvSpPr txBox="1"/>
            <p:nvPr/>
          </p:nvSpPr>
          <p:spPr>
            <a:xfrm>
              <a:off x="1509141" y="4499610"/>
              <a:ext cx="1668018"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mn-lt"/>
                  <a:ea typeface="+mn-ea"/>
                  <a:cs typeface="+mn-cs"/>
                </a:rPr>
                <a:t>± 0.033 success rate</a:t>
              </a:r>
            </a:p>
          </p:txBody>
        </p:sp>
        <p:sp>
          <p:nvSpPr>
            <p:cNvPr id="16" name="Rectangle 16"/>
            <p:cNvSpPr/>
            <p:nvPr/>
          </p:nvSpPr>
          <p:spPr>
            <a:xfrm>
              <a:off x="876300" y="4991100"/>
              <a:ext cx="2933700" cy="723900"/>
            </a:xfrm>
            <a:prstGeom prst="roundRect">
              <a:avLst>
                <a:gd name="adj" fmla="val 13158"/>
              </a:avLst>
            </a:prstGeom>
            <a:solidFill>
              <a:srgbClr val="EAEFFC"/>
            </a:solidFill>
            <a:ln>
              <a:noFill/>
            </a:ln>
          </p:spPr>
        </p:sp>
        <p:sp>
          <p:nvSpPr>
            <p:cNvPr id="17" name="TextBox 17"/>
            <p:cNvSpPr txBox="1"/>
            <p:nvPr/>
          </p:nvSpPr>
          <p:spPr>
            <a:xfrm>
              <a:off x="1375962" y="5131118"/>
              <a:ext cx="1934376"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j-lt"/>
                  <a:ea typeface="+mj-ea"/>
                  <a:cs typeface="+mj-cs"/>
                </a:rPr>
                <a:t>Best of all methods</a:t>
              </a:r>
            </a:p>
          </p:txBody>
        </p:sp>
        <p:sp>
          <p:nvSpPr>
            <p:cNvPr id="18" name="TextBox 18"/>
            <p:cNvSpPr txBox="1"/>
            <p:nvPr/>
          </p:nvSpPr>
          <p:spPr>
            <a:xfrm>
              <a:off x="1302420" y="5430202"/>
              <a:ext cx="2081460"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with video distractors added.</a:t>
              </a:r>
            </a:p>
          </p:txBody>
        </p:sp>
      </p:grpSp>
      <p:grpSp>
        <p:nvGrpSpPr>
          <p:cNvPr id="28" name="Group 28"/>
          <p:cNvGrpSpPr/>
          <p:nvPr/>
        </p:nvGrpSpPr>
        <p:grpSpPr>
          <a:xfrm>
            <a:off x="4324350" y="2724150"/>
            <a:ext cx="3552825" cy="3295650"/>
            <a:chOff x="4324350" y="2724150"/>
            <a:chExt cx="3552825" cy="3295650"/>
          </a:xfrm>
        </p:grpSpPr>
        <p:sp>
          <p:nvSpPr>
            <p:cNvPr id="20" name="Rectangle 20"/>
            <p:cNvSpPr/>
            <p:nvPr/>
          </p:nvSpPr>
          <p:spPr>
            <a:xfrm>
              <a:off x="4324350" y="2724150"/>
              <a:ext cx="3552825" cy="3295650"/>
            </a:xfrm>
            <a:prstGeom prst="roundRect">
              <a:avLst>
                <a:gd name="adj" fmla="val 4046"/>
              </a:avLst>
            </a:prstGeom>
            <a:solidFill>
              <a:schemeClr val="lt1"/>
            </a:solidFill>
            <a:ln w="14288">
              <a:solidFill>
                <a:schemeClr val="accent4"/>
              </a:solidFill>
            </a:ln>
          </p:spPr>
        </p:sp>
        <p:sp>
          <p:nvSpPr>
            <p:cNvPr id="21" name="Rectangle 21"/>
            <p:cNvSpPr/>
            <p:nvPr/>
          </p:nvSpPr>
          <p:spPr>
            <a:xfrm>
              <a:off x="4324350" y="2724150"/>
              <a:ext cx="3552825" cy="76200"/>
            </a:xfrm>
            <a:prstGeom prst="roundRect">
              <a:avLst>
                <a:gd name="adj" fmla="val 50000"/>
              </a:avLst>
            </a:prstGeom>
            <a:solidFill>
              <a:schemeClr val="accent2"/>
            </a:solidFill>
            <a:ln>
              <a:noFill/>
            </a:ln>
          </p:spPr>
        </p:sp>
        <p:sp>
          <p:nvSpPr>
            <p:cNvPr id="22" name="TextBox 22"/>
            <p:cNvSpPr txBox="1"/>
            <p:nvPr/>
          </p:nvSpPr>
          <p:spPr>
            <a:xfrm>
              <a:off x="5123861" y="3277552"/>
              <a:ext cx="1944279" cy="205359"/>
            </a:xfrm>
            <a:prstGeom prst="rect">
              <a:avLst/>
            </a:prstGeom>
            <a:noFill/>
            <a:ln>
              <a:noFill/>
            </a:ln>
          </p:spPr>
          <p:txBody>
            <a:bodyPr wrap="none" lIns="0" tIns="0" rIns="0" bIns="0" anchor="t" anchorCtr="0">
              <a:spAutoFit/>
            </a:bodyPr>
            <a:lstStyle/>
            <a:p>
              <a:pPr algn="ctr"/>
              <a:r>
                <a:rPr lang="en-US" sz="1050" b="1" spc="112" dirty="0">
                  <a:solidFill>
                    <a:schemeClr val="accent2"/>
                  </a:solidFill>
                  <a:latin typeface="+mn-lt"/>
                  <a:ea typeface="+mn-ea"/>
                  <a:cs typeface="+mn-cs"/>
                </a:rPr>
                <a:t>BUTTON &amp; DRAWER + VD</a:t>
              </a:r>
            </a:p>
          </p:txBody>
        </p:sp>
        <p:sp>
          <p:nvSpPr>
            <p:cNvPr id="23" name="TextBox 23"/>
            <p:cNvSpPr txBox="1"/>
            <p:nvPr/>
          </p:nvSpPr>
          <p:spPr>
            <a:xfrm>
              <a:off x="4823343" y="3609022"/>
              <a:ext cx="2545313" cy="1247775"/>
            </a:xfrm>
            <a:prstGeom prst="rect">
              <a:avLst/>
            </a:prstGeom>
            <a:noFill/>
            <a:ln>
              <a:noFill/>
            </a:ln>
          </p:spPr>
          <p:txBody>
            <a:bodyPr wrap="none" lIns="0" tIns="0" rIns="0" bIns="0" anchor="t" anchorCtr="0">
              <a:spAutoFit/>
            </a:bodyPr>
            <a:lstStyle/>
            <a:p>
              <a:pPr algn="ctr"/>
              <a:r>
                <a:rPr lang="en-US" sz="6450" b="1" dirty="0">
                  <a:solidFill>
                    <a:schemeClr val="accent1"/>
                  </a:solidFill>
                  <a:latin typeface="Consolas"/>
                  <a:ea typeface="Consolas"/>
                  <a:cs typeface="Consolas"/>
                </a:rPr>
                <a:t>0.322</a:t>
              </a:r>
            </a:p>
          </p:txBody>
        </p:sp>
        <p:sp>
          <p:nvSpPr>
            <p:cNvPr id="24" name="TextBox 24"/>
            <p:cNvSpPr txBox="1"/>
            <p:nvPr/>
          </p:nvSpPr>
          <p:spPr>
            <a:xfrm>
              <a:off x="5261991" y="4499610"/>
              <a:ext cx="1668018"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mn-lt"/>
                  <a:ea typeface="+mn-ea"/>
                  <a:cs typeface="+mn-cs"/>
                </a:rPr>
                <a:t>± 0.021 success rate</a:t>
              </a:r>
            </a:p>
          </p:txBody>
        </p:sp>
        <p:sp>
          <p:nvSpPr>
            <p:cNvPr id="25" name="Rectangle 25"/>
            <p:cNvSpPr/>
            <p:nvPr/>
          </p:nvSpPr>
          <p:spPr>
            <a:xfrm>
              <a:off x="4629150" y="4991100"/>
              <a:ext cx="2933700" cy="723900"/>
            </a:xfrm>
            <a:prstGeom prst="roundRect">
              <a:avLst>
                <a:gd name="adj" fmla="val 13158"/>
              </a:avLst>
            </a:prstGeom>
            <a:solidFill>
              <a:srgbClr val="EAEFFC"/>
            </a:solidFill>
            <a:ln>
              <a:noFill/>
            </a:ln>
          </p:spPr>
        </p:sp>
        <p:sp>
          <p:nvSpPr>
            <p:cNvPr id="26" name="TextBox 26"/>
            <p:cNvSpPr txBox="1"/>
            <p:nvPr/>
          </p:nvSpPr>
          <p:spPr>
            <a:xfrm>
              <a:off x="5128812" y="5131118"/>
              <a:ext cx="1934376"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j-lt"/>
                  <a:ea typeface="+mj-ea"/>
                  <a:cs typeface="+mj-cs"/>
                </a:rPr>
                <a:t>Best of all methods</a:t>
              </a:r>
            </a:p>
          </p:txBody>
        </p:sp>
        <p:sp>
          <p:nvSpPr>
            <p:cNvPr id="27" name="TextBox 27"/>
            <p:cNvSpPr txBox="1"/>
            <p:nvPr/>
          </p:nvSpPr>
          <p:spPr>
            <a:xfrm>
              <a:off x="5300944" y="5430202"/>
              <a:ext cx="1590112"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on the harder BD task.</a:t>
              </a:r>
            </a:p>
          </p:txBody>
        </p:sp>
      </p:grpSp>
      <p:grpSp>
        <p:nvGrpSpPr>
          <p:cNvPr id="37" name="Group 37"/>
          <p:cNvGrpSpPr/>
          <p:nvPr/>
        </p:nvGrpSpPr>
        <p:grpSpPr>
          <a:xfrm>
            <a:off x="8077200" y="2724150"/>
            <a:ext cx="3543300" cy="3295650"/>
            <a:chOff x="8077200" y="2724150"/>
            <a:chExt cx="3543300" cy="3295650"/>
          </a:xfrm>
        </p:grpSpPr>
        <p:sp>
          <p:nvSpPr>
            <p:cNvPr id="29" name="Rectangle 29"/>
            <p:cNvSpPr/>
            <p:nvPr/>
          </p:nvSpPr>
          <p:spPr>
            <a:xfrm>
              <a:off x="8077200" y="2724150"/>
              <a:ext cx="3543300" cy="3295650"/>
            </a:xfrm>
            <a:prstGeom prst="roundRect">
              <a:avLst>
                <a:gd name="adj" fmla="val 4046"/>
              </a:avLst>
            </a:prstGeom>
            <a:solidFill>
              <a:srgbClr val="FCEEDF"/>
            </a:solidFill>
            <a:ln w="14288">
              <a:solidFill>
                <a:schemeClr val="accent5"/>
              </a:solidFill>
            </a:ln>
          </p:spPr>
        </p:sp>
        <p:sp>
          <p:nvSpPr>
            <p:cNvPr id="30" name="Rectangle 30"/>
            <p:cNvSpPr/>
            <p:nvPr/>
          </p:nvSpPr>
          <p:spPr>
            <a:xfrm>
              <a:off x="8077200" y="2724150"/>
              <a:ext cx="3543300" cy="76200"/>
            </a:xfrm>
            <a:prstGeom prst="roundRect">
              <a:avLst>
                <a:gd name="adj" fmla="val 50000"/>
              </a:avLst>
            </a:prstGeom>
            <a:solidFill>
              <a:schemeClr val="accent5"/>
            </a:solidFill>
            <a:ln>
              <a:noFill/>
            </a:ln>
          </p:spPr>
        </p:sp>
        <p:sp>
          <p:nvSpPr>
            <p:cNvPr id="31" name="TextBox 31"/>
            <p:cNvSpPr txBox="1"/>
            <p:nvPr/>
          </p:nvSpPr>
          <p:spPr>
            <a:xfrm>
              <a:off x="9478164" y="3277552"/>
              <a:ext cx="741373" cy="205359"/>
            </a:xfrm>
            <a:prstGeom prst="rect">
              <a:avLst/>
            </a:prstGeom>
            <a:noFill/>
            <a:ln>
              <a:noFill/>
            </a:ln>
          </p:spPr>
          <p:txBody>
            <a:bodyPr wrap="none" lIns="0" tIns="0" rIns="0" bIns="0" anchor="t" anchorCtr="0">
              <a:spAutoFit/>
            </a:bodyPr>
            <a:lstStyle/>
            <a:p>
              <a:pPr algn="ctr"/>
              <a:r>
                <a:rPr lang="en-US" sz="1050" b="1" spc="112" dirty="0">
                  <a:solidFill>
                    <a:schemeClr val="accent5"/>
                  </a:solidFill>
                  <a:latin typeface="+mn-lt"/>
                  <a:ea typeface="+mn-ea"/>
                  <a:cs typeface="+mn-cs"/>
                </a:rPr>
                <a:t>ANALOGY</a:t>
              </a:r>
            </a:p>
          </p:txBody>
        </p:sp>
        <p:sp>
          <p:nvSpPr>
            <p:cNvPr id="32" name="TextBox 32"/>
            <p:cNvSpPr txBox="1"/>
            <p:nvPr/>
          </p:nvSpPr>
          <p:spPr>
            <a:xfrm>
              <a:off x="8576193" y="3609022"/>
              <a:ext cx="2545313" cy="1247775"/>
            </a:xfrm>
            <a:prstGeom prst="rect">
              <a:avLst/>
            </a:prstGeom>
            <a:noFill/>
            <a:ln>
              <a:noFill/>
            </a:ln>
          </p:spPr>
          <p:txBody>
            <a:bodyPr wrap="none" lIns="0" tIns="0" rIns="0" bIns="0" anchor="t" anchorCtr="0">
              <a:spAutoFit/>
            </a:bodyPr>
            <a:lstStyle/>
            <a:p>
              <a:pPr algn="ctr"/>
              <a:r>
                <a:rPr lang="en-US" sz="6450" b="1" dirty="0">
                  <a:solidFill>
                    <a:schemeClr val="accent1"/>
                  </a:solidFill>
                  <a:latin typeface="Consolas"/>
                  <a:ea typeface="Consolas"/>
                  <a:cs typeface="Consolas"/>
                </a:rPr>
                <a:t>0.403</a:t>
              </a:r>
            </a:p>
          </p:txBody>
        </p:sp>
        <p:sp>
          <p:nvSpPr>
            <p:cNvPr id="33" name="TextBox 33"/>
            <p:cNvSpPr txBox="1"/>
            <p:nvPr/>
          </p:nvSpPr>
          <p:spPr>
            <a:xfrm>
              <a:off x="8915735" y="4499610"/>
              <a:ext cx="1866229"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mn-lt"/>
                  <a:ea typeface="+mn-ea"/>
                  <a:cs typeface="+mn-cs"/>
                </a:rPr>
                <a:t>± 0.041 vs 0.176 (CPV)</a:t>
              </a:r>
            </a:p>
          </p:txBody>
        </p:sp>
        <p:sp>
          <p:nvSpPr>
            <p:cNvPr id="34" name="Rectangle 34"/>
            <p:cNvSpPr/>
            <p:nvPr/>
          </p:nvSpPr>
          <p:spPr>
            <a:xfrm>
              <a:off x="8382000" y="4991100"/>
              <a:ext cx="2933700" cy="723900"/>
            </a:xfrm>
            <a:prstGeom prst="roundRect">
              <a:avLst>
                <a:gd name="adj" fmla="val 13158"/>
              </a:avLst>
            </a:prstGeom>
            <a:solidFill>
              <a:schemeClr val="lt1"/>
            </a:solidFill>
            <a:ln>
              <a:noFill/>
            </a:ln>
          </p:spPr>
        </p:sp>
        <p:sp>
          <p:nvSpPr>
            <p:cNvPr id="35" name="TextBox 35"/>
            <p:cNvSpPr txBox="1"/>
            <p:nvPr/>
          </p:nvSpPr>
          <p:spPr>
            <a:xfrm>
              <a:off x="8536469" y="5131118"/>
              <a:ext cx="2624762" cy="264033"/>
            </a:xfrm>
            <a:prstGeom prst="rect">
              <a:avLst/>
            </a:prstGeom>
            <a:noFill/>
            <a:ln>
              <a:noFill/>
            </a:ln>
          </p:spPr>
          <p:txBody>
            <a:bodyPr wrap="none" lIns="0" tIns="0" rIns="0" bIns="0" anchor="t" anchorCtr="0">
              <a:spAutoFit/>
            </a:bodyPr>
            <a:lstStyle/>
            <a:p>
              <a:pPr algn="ctr"/>
              <a:r>
                <a:rPr lang="en-US" sz="1350" b="1" dirty="0">
                  <a:solidFill>
                    <a:schemeClr val="accent5"/>
                  </a:solidFill>
                  <a:latin typeface="+mj-lt"/>
                  <a:ea typeface="+mj-ea"/>
                  <a:cs typeface="+mj-cs"/>
                </a:rPr>
                <a:t>≈ 2× the next-best method</a:t>
              </a:r>
            </a:p>
          </p:txBody>
        </p:sp>
        <p:sp>
          <p:nvSpPr>
            <p:cNvPr id="36" name="TextBox 36"/>
            <p:cNvSpPr txBox="1"/>
            <p:nvPr/>
          </p:nvSpPr>
          <p:spPr>
            <a:xfrm>
              <a:off x="8772782" y="5430202"/>
              <a:ext cx="215213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goal inferred from an example.</a:t>
              </a:r>
            </a:p>
          </p:txBody>
        </p:sp>
      </p:grpSp>
      <p:grpSp>
        <p:nvGrpSpPr>
          <p:cNvPr id="40" name="Group 40"/>
          <p:cNvGrpSpPr/>
          <p:nvPr/>
        </p:nvGrpSpPr>
        <p:grpSpPr>
          <a:xfrm>
            <a:off x="566738" y="6597491"/>
            <a:ext cx="11058524" cy="161925"/>
            <a:chOff x="566738" y="6597491"/>
            <a:chExt cx="11058524" cy="161925"/>
          </a:xfrm>
        </p:grpSpPr>
        <p:sp>
          <p:nvSpPr>
            <p:cNvPr id="38" name="TextBox 38"/>
            <p:cNvSpPr txBox="1"/>
            <p:nvPr/>
          </p:nvSpPr>
          <p:spPr>
            <a:xfrm>
              <a:off x="566738" y="6597491"/>
              <a:ext cx="3581251"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Goal-Conditioned Bisimulation · ICML 2022 · VD = Video Distractors</a:t>
              </a:r>
            </a:p>
          </p:txBody>
        </p:sp>
        <p:sp>
          <p:nvSpPr>
            <p:cNvPr id="39" name="TextBox 39"/>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09</a:t>
              </a:r>
            </a:p>
          </p:txBody>
        </p:sp>
      </p:grpSp>
      <p:sp>
        <p:nvSpPr>
          <p:cNvPr id="41" name="cue_s09_c1_some_headline_numbers" title="cue_s09_c1_some_headline_numbers" descr="cue_s09_c1_some_headline_numbers Some headline numbers."/>
          <p:cNvSpPr/>
          <p:nvPr/>
        </p:nvSpPr>
        <p:spPr>
          <a:xfrm>
            <a:off x="571804" y="1523847"/>
            <a:ext cx="11620195"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9_c2_drawer_video_distractors_gcb_reaches" title="cue_s09_c2_drawer_video_distractors_gcb_reaches" descr="cue_s09_c2_drawer_video_distractors_gcb_reaches On Drawer with video distractors, GCB reaches zero point four four eight, best of any method."/>
          <p:cNvSpPr/>
          <p:nvPr/>
        </p:nvSpPr>
        <p:spPr>
          <a:xfrm>
            <a:off x="571804" y="2723997"/>
            <a:ext cx="3655161" cy="32959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9_c3_button_and_drawer_distractors_zero_p" title="cue_s09_c3_button_and_drawer_distractors_zero_p" descr="cue_s09_c3_button_and_drawer_distractors_zero_p On Button-and-Drawer with distractors, zero point three two two."/>
          <p:cNvSpPr/>
          <p:nvPr/>
        </p:nvSpPr>
        <p:spPr>
          <a:xfrm>
            <a:off x="4324502" y="2723997"/>
            <a:ext cx="3655161" cy="32959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9_c4_analogy_zero_point_four_zero" title="cue_s09_c4_analogy_zero_point_four_zero" descr="cue_s09_c4_analogy_zero_point_four_zero On analogy, zero point four zero three versus zero point one seven six for the next best."/>
          <p:cNvSpPr/>
          <p:nvPr/>
        </p:nvSpPr>
        <p:spPr>
          <a:xfrm>
            <a:off x="8077200" y="2723997"/>
            <a:ext cx="3742944" cy="32959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33350" cy="6858000"/>
            </a:xfrm>
            <a:prstGeom prst="rect">
              <a:avLst/>
            </a:prstGeom>
            <a:solidFill>
              <a:schemeClr val="accent1"/>
            </a:solidFill>
            <a:ln>
              <a:noFill/>
            </a:ln>
          </p:spPr>
        </p:sp>
      </p:grpSp>
      <p:grpSp>
        <p:nvGrpSpPr>
          <p:cNvPr id="8" name="Group 8"/>
          <p:cNvGrpSpPr/>
          <p:nvPr/>
        </p:nvGrpSpPr>
        <p:grpSpPr>
          <a:xfrm>
            <a:off x="571500" y="533400"/>
            <a:ext cx="7775323" cy="656939"/>
            <a:chOff x="571500" y="533400"/>
            <a:chExt cx="7775323" cy="656939"/>
          </a:xfrm>
        </p:grpSpPr>
        <p:sp>
          <p:nvSpPr>
            <p:cNvPr id="5" name="Rectangle 5"/>
            <p:cNvSpPr/>
            <p:nvPr/>
          </p:nvSpPr>
          <p:spPr>
            <a:xfrm>
              <a:off x="571500" y="533400"/>
              <a:ext cx="57150" cy="381000"/>
            </a:xfrm>
            <a:prstGeom prst="rect">
              <a:avLst/>
            </a:prstGeom>
            <a:solidFill>
              <a:schemeClr val="accent5"/>
            </a:solidFill>
            <a:ln>
              <a:noFill/>
            </a:ln>
          </p:spPr>
        </p:sp>
        <p:sp>
          <p:nvSpPr>
            <p:cNvPr id="6" name="TextBox 6"/>
            <p:cNvSpPr txBox="1"/>
            <p:nvPr/>
          </p:nvSpPr>
          <p:spPr>
            <a:xfrm>
              <a:off x="787146" y="562928"/>
              <a:ext cx="755967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Point at an example; infer your own goal</a:t>
              </a:r>
            </a:p>
          </p:txBody>
        </p:sp>
        <p:sp>
          <p:nvSpPr>
            <p:cNvPr id="7" name="TextBox 7"/>
            <p:cNvSpPr txBox="1"/>
            <p:nvPr/>
          </p:nvSpPr>
          <p:spPr>
            <a:xfrm>
              <a:off x="795147" y="999649"/>
              <a:ext cx="79470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TAKEAWAY</a:t>
              </a:r>
            </a:p>
          </p:txBody>
        </p:sp>
      </p:grpSp>
      <p:grpSp>
        <p:nvGrpSpPr>
          <p:cNvPr id="13" name="Group 13"/>
          <p:cNvGrpSpPr/>
          <p:nvPr/>
        </p:nvGrpSpPr>
        <p:grpSpPr>
          <a:xfrm>
            <a:off x="571500" y="1390650"/>
            <a:ext cx="11049000" cy="1866900"/>
            <a:chOff x="571500" y="1390650"/>
            <a:chExt cx="11049000" cy="1866900"/>
          </a:xfrm>
        </p:grpSpPr>
        <p:sp>
          <p:nvSpPr>
            <p:cNvPr id="9" name="Rectangle 9"/>
            <p:cNvSpPr/>
            <p:nvPr/>
          </p:nvSpPr>
          <p:spPr>
            <a:xfrm>
              <a:off x="571500" y="1390650"/>
              <a:ext cx="11049000" cy="1866900"/>
            </a:xfrm>
            <a:prstGeom prst="roundRect">
              <a:avLst>
                <a:gd name="adj" fmla="val 6122"/>
              </a:avLst>
            </a:prstGeom>
            <a:solidFill>
              <a:schemeClr val="lt2"/>
            </a:solidFill>
            <a:ln w="14288">
              <a:solidFill>
                <a:schemeClr val="accent4"/>
              </a:solidFill>
            </a:ln>
            <a:effectLst>
              <a:outerShdw blurRad="95250" dist="19050" dir="5400000" algn="ctr" rotWithShape="0">
                <a:srgbClr val="1B2A4A">
                  <a:alpha val="7500"/>
                </a:srgbClr>
              </a:outerShdw>
            </a:effectLst>
          </p:spPr>
        </p:sp>
        <p:sp>
          <p:nvSpPr>
            <p:cNvPr id="10" name="TextBox 10"/>
            <p:cNvSpPr txBox="1"/>
            <p:nvPr/>
          </p:nvSpPr>
          <p:spPr>
            <a:xfrm>
              <a:off x="795147" y="1609249"/>
              <a:ext cx="3075057" cy="190690"/>
            </a:xfrm>
            <a:prstGeom prst="rect">
              <a:avLst/>
            </a:prstGeom>
            <a:noFill/>
            <a:ln>
              <a:noFill/>
            </a:ln>
          </p:spPr>
          <p:txBody>
            <a:bodyPr wrap="none" lIns="0" tIns="0" rIns="0" bIns="0" anchor="t" anchorCtr="0">
              <a:spAutoFit/>
            </a:bodyPr>
            <a:lstStyle/>
            <a:p>
              <a:pPr algn="l"/>
              <a:r>
                <a:rPr lang="en-US" sz="980" b="1" spc="112" dirty="0">
                  <a:solidFill>
                    <a:schemeClr val="accent5"/>
                  </a:solidFill>
                  <a:latin typeface="+mn-lt"/>
                  <a:ea typeface="+mn-ea"/>
                  <a:cs typeface="+mn-cs"/>
                </a:rPr>
                <a:t>ANALOGY ARITHMETIC IN LATENT SPACE</a:t>
              </a:r>
            </a:p>
          </p:txBody>
        </p:sp>
        <p:pic>
          <p:nvPicPr>
            <p:cNvPr id="11" name="Image 11"/>
            <p:cNvPicPr>
              <a:picLocks noChangeAspect="1"/>
            </p:cNvPicPr>
            <p:nvPr/>
          </p:nvPicPr>
          <p:blipFill>
            <a:blip r:embed="rId2"/>
            <a:stretch>
              <a:fillRect/>
            </a:stretch>
          </p:blipFill>
          <p:spPr>
            <a:xfrm>
              <a:off x="4109143" y="1809750"/>
              <a:ext cx="3973714" cy="1066800"/>
            </a:xfrm>
            <a:prstGeom prst="rect">
              <a:avLst/>
            </a:prstGeom>
          </p:spPr>
        </p:pic>
        <p:sp>
          <p:nvSpPr>
            <p:cNvPr id="12" name="TextBox 12"/>
            <p:cNvSpPr txBox="1"/>
            <p:nvPr/>
          </p:nvSpPr>
          <p:spPr>
            <a:xfrm>
              <a:off x="2695785" y="3007995"/>
              <a:ext cx="6800431" cy="176212"/>
            </a:xfrm>
            <a:prstGeom prst="rect">
              <a:avLst/>
            </a:prstGeom>
            <a:noFill/>
            <a:ln>
              <a:noFill/>
            </a:ln>
          </p:spPr>
          <p:txBody>
            <a:bodyPr wrap="none" lIns="0" tIns="0" rIns="0" bIns="0" anchor="t" anchorCtr="0">
              <a:spAutoFit/>
            </a:bodyPr>
            <a:lstStyle/>
            <a:p>
              <a:pPr algn="ctr"/>
              <a:r>
                <a:rPr lang="en-US" sz="900" i="1" dirty="0">
                  <a:solidFill>
                    <a:schemeClr val="dk2"/>
                  </a:solidFill>
                  <a:latin typeface="+mn-lt"/>
                  <a:ea typeface="+mn-ea"/>
                  <a:cs typeface="+mn-cs"/>
                </a:rPr>
                <a:t>ψ(current state) + φ(analogous pair) = ψ(inferred goal) — the rightmost frame is the nearest neighbor in ψ space.</a:t>
              </a:r>
            </a:p>
          </p:txBody>
        </p:sp>
      </p:grpSp>
      <p:grpSp>
        <p:nvGrpSpPr>
          <p:cNvPr id="23" name="Group 23"/>
          <p:cNvGrpSpPr/>
          <p:nvPr/>
        </p:nvGrpSpPr>
        <p:grpSpPr>
          <a:xfrm>
            <a:off x="571500" y="3486150"/>
            <a:ext cx="5410200" cy="2533650"/>
            <a:chOff x="571500" y="3486150"/>
            <a:chExt cx="5410200" cy="2533650"/>
          </a:xfrm>
        </p:grpSpPr>
        <p:sp>
          <p:nvSpPr>
            <p:cNvPr id="14" name="Rectangle 14"/>
            <p:cNvSpPr/>
            <p:nvPr/>
          </p:nvSpPr>
          <p:spPr>
            <a:xfrm>
              <a:off x="571500" y="3486150"/>
              <a:ext cx="5410200" cy="2533650"/>
            </a:xfrm>
            <a:prstGeom prst="roundRect">
              <a:avLst>
                <a:gd name="adj" fmla="val 4511"/>
              </a:avLst>
            </a:prstGeom>
            <a:solidFill>
              <a:schemeClr val="lt1"/>
            </a:solidFill>
            <a:ln w="14288">
              <a:solidFill>
                <a:schemeClr val="accent4"/>
              </a:solidFill>
            </a:ln>
          </p:spPr>
        </p:sp>
        <p:sp>
          <p:nvSpPr>
            <p:cNvPr id="15" name="Rectangle 15"/>
            <p:cNvSpPr/>
            <p:nvPr/>
          </p:nvSpPr>
          <p:spPr>
            <a:xfrm>
              <a:off x="571500" y="3486150"/>
              <a:ext cx="5410200" cy="57150"/>
            </a:xfrm>
            <a:prstGeom prst="roundRect">
              <a:avLst>
                <a:gd name="adj" fmla="val 50000"/>
              </a:avLst>
            </a:prstGeom>
            <a:solidFill>
              <a:schemeClr val="accent2"/>
            </a:solidFill>
            <a:ln>
              <a:noFill/>
            </a:ln>
          </p:spPr>
        </p:sp>
        <p:sp>
          <p:nvSpPr>
            <p:cNvPr id="16" name="TextBox 16"/>
            <p:cNvSpPr txBox="1"/>
            <p:nvPr/>
          </p:nvSpPr>
          <p:spPr>
            <a:xfrm>
              <a:off x="795147" y="3761899"/>
              <a:ext cx="1103931"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THE CORE IDEA</a:t>
              </a:r>
            </a:p>
          </p:txBody>
        </p:sp>
        <p:sp>
          <p:nvSpPr>
            <p:cNvPr id="17" name="TextBox 17"/>
            <p:cNvSpPr txBox="1"/>
            <p:nvPr/>
          </p:nvSpPr>
          <p:spPr>
            <a:xfrm>
              <a:off x="791337" y="4061936"/>
              <a:ext cx="3042306"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Equivalence over tasks,</a:t>
              </a:r>
            </a:p>
          </p:txBody>
        </p:sp>
        <p:sp>
          <p:nvSpPr>
            <p:cNvPr id="18" name="TextBox 18"/>
            <p:cNvSpPr txBox="1"/>
            <p:nvPr/>
          </p:nvSpPr>
          <p:spPr>
            <a:xfrm>
              <a:off x="791337" y="4347686"/>
              <a:ext cx="2727667"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not just over states.</a:t>
              </a:r>
            </a:p>
          </p:txBody>
        </p:sp>
        <p:sp>
          <p:nvSpPr>
            <p:cNvPr id="19" name="TextBox 19"/>
            <p:cNvSpPr txBox="1"/>
            <p:nvPr/>
          </p:nvSpPr>
          <p:spPr>
            <a:xfrm>
              <a:off x="794004" y="4766310"/>
              <a:ext cx="307031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Treating bisimulation as an equivalence</a:t>
              </a:r>
            </a:p>
          </p:txBody>
        </p:sp>
        <p:sp>
          <p:nvSpPr>
            <p:cNvPr id="20" name="TextBox 20"/>
            <p:cNvSpPr txBox="1"/>
            <p:nvPr/>
          </p:nvSpPr>
          <p:spPr>
            <a:xfrm>
              <a:off x="794004" y="4975860"/>
              <a:ext cx="322691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over tasks gives a representation where</a:t>
              </a:r>
            </a:p>
          </p:txBody>
        </p:sp>
        <p:sp>
          <p:nvSpPr>
            <p:cNvPr id="21" name="TextBox 21"/>
            <p:cNvSpPr txBox="1"/>
            <p:nvPr/>
          </p:nvSpPr>
          <p:spPr>
            <a:xfrm>
              <a:off x="794004" y="5185410"/>
              <a:ext cx="289575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analogous tasks line up in one space.</a:t>
              </a:r>
            </a:p>
          </p:txBody>
        </p:sp>
        <p:sp>
          <p:nvSpPr>
            <p:cNvPr id="22" name="TextBox 22"/>
            <p:cNvSpPr txBox="1"/>
            <p:nvPr/>
          </p:nvSpPr>
          <p:spPr>
            <a:xfrm>
              <a:off x="794385" y="5574506"/>
              <a:ext cx="2866107" cy="220028"/>
            </a:xfrm>
            <a:prstGeom prst="rect">
              <a:avLst/>
            </a:prstGeom>
            <a:noFill/>
            <a:ln>
              <a:noFill/>
            </a:ln>
          </p:spPr>
          <p:txBody>
            <a:bodyPr wrap="none" lIns="0" tIns="0" rIns="0" bIns="0" anchor="t" anchorCtr="0">
              <a:spAutoFit/>
            </a:bodyPr>
            <a:lstStyle/>
            <a:p>
              <a:pPr algn="l"/>
              <a:r>
                <a:rPr lang="en-US" sz="1120" i="1" dirty="0">
                  <a:solidFill>
                    <a:schemeClr val="dk2"/>
                  </a:solidFill>
                  <a:latin typeface="+mn-lt"/>
                  <a:ea typeface="+mn-ea"/>
                  <a:cs typeface="+mn-cs"/>
                </a:rPr>
                <a:t>Skills generalize to new, unseen goals.</a:t>
              </a:r>
            </a:p>
          </p:txBody>
        </p:sp>
      </p:grpSp>
      <p:grpSp>
        <p:nvGrpSpPr>
          <p:cNvPr id="33" name="Group 33"/>
          <p:cNvGrpSpPr/>
          <p:nvPr/>
        </p:nvGrpSpPr>
        <p:grpSpPr>
          <a:xfrm>
            <a:off x="6210300" y="3486150"/>
            <a:ext cx="5410200" cy="2533650"/>
            <a:chOff x="6210300" y="3486150"/>
            <a:chExt cx="5410200" cy="2533650"/>
          </a:xfrm>
        </p:grpSpPr>
        <p:sp>
          <p:nvSpPr>
            <p:cNvPr id="24" name="Rectangle 24"/>
            <p:cNvSpPr/>
            <p:nvPr/>
          </p:nvSpPr>
          <p:spPr>
            <a:xfrm>
              <a:off x="6210300" y="3486150"/>
              <a:ext cx="5410200" cy="2533650"/>
            </a:xfrm>
            <a:prstGeom prst="roundRect">
              <a:avLst>
                <a:gd name="adj" fmla="val 4511"/>
              </a:avLst>
            </a:prstGeom>
            <a:solidFill>
              <a:srgbClr val="FCEEDF"/>
            </a:solidFill>
            <a:ln w="14288">
              <a:solidFill>
                <a:schemeClr val="accent5"/>
              </a:solidFill>
            </a:ln>
          </p:spPr>
        </p:sp>
        <p:sp>
          <p:nvSpPr>
            <p:cNvPr id="25" name="Rectangle 25"/>
            <p:cNvSpPr/>
            <p:nvPr/>
          </p:nvSpPr>
          <p:spPr>
            <a:xfrm>
              <a:off x="6210300" y="3486150"/>
              <a:ext cx="5410200" cy="57150"/>
            </a:xfrm>
            <a:prstGeom prst="roundRect">
              <a:avLst>
                <a:gd name="adj" fmla="val 50000"/>
              </a:avLst>
            </a:prstGeom>
            <a:solidFill>
              <a:schemeClr val="accent5"/>
            </a:solidFill>
            <a:ln>
              <a:noFill/>
            </a:ln>
          </p:spPr>
        </p:sp>
        <p:sp>
          <p:nvSpPr>
            <p:cNvPr id="26" name="TextBox 26"/>
            <p:cNvSpPr txBox="1"/>
            <p:nvPr/>
          </p:nvSpPr>
          <p:spPr>
            <a:xfrm>
              <a:off x="6433947" y="3761899"/>
              <a:ext cx="1224372"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WHY IT MATTERS</a:t>
              </a:r>
            </a:p>
          </p:txBody>
        </p:sp>
        <p:sp>
          <p:nvSpPr>
            <p:cNvPr id="27" name="TextBox 27"/>
            <p:cNvSpPr txBox="1"/>
            <p:nvPr/>
          </p:nvSpPr>
          <p:spPr>
            <a:xfrm>
              <a:off x="6430137" y="4061936"/>
              <a:ext cx="3144582"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Goals become composable</a:t>
              </a:r>
            </a:p>
          </p:txBody>
        </p:sp>
        <p:sp>
          <p:nvSpPr>
            <p:cNvPr id="28" name="TextBox 28"/>
            <p:cNvSpPr txBox="1"/>
            <p:nvPr/>
          </p:nvSpPr>
          <p:spPr>
            <a:xfrm>
              <a:off x="6430137" y="4347686"/>
              <a:ext cx="2701979"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j-lt"/>
                  <a:ea typeface="+mj-ea"/>
                  <a:cs typeface="+mj-cs"/>
                </a:rPr>
                <a:t>by simple arithmetic.</a:t>
              </a:r>
            </a:p>
          </p:txBody>
        </p:sp>
        <p:sp>
          <p:nvSpPr>
            <p:cNvPr id="29" name="TextBox 29"/>
            <p:cNvSpPr txBox="1"/>
            <p:nvPr/>
          </p:nvSpPr>
          <p:spPr>
            <a:xfrm>
              <a:off x="6432804" y="4766310"/>
              <a:ext cx="307094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Point a robot at an example task and it</a:t>
              </a:r>
            </a:p>
          </p:txBody>
        </p:sp>
        <p:sp>
          <p:nvSpPr>
            <p:cNvPr id="30" name="TextBox 30"/>
            <p:cNvSpPr txBox="1"/>
            <p:nvPr/>
          </p:nvSpPr>
          <p:spPr>
            <a:xfrm>
              <a:off x="6432804" y="4975860"/>
              <a:ext cx="347731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infers the right goal for its own situation —</a:t>
              </a:r>
            </a:p>
          </p:txBody>
        </p:sp>
        <p:sp>
          <p:nvSpPr>
            <p:cNvPr id="31" name="TextBox 31"/>
            <p:cNvSpPr txBox="1"/>
            <p:nvPr/>
          </p:nvSpPr>
          <p:spPr>
            <a:xfrm>
              <a:off x="6432804" y="5185410"/>
              <a:ext cx="279074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 far more flexible task interface.</a:t>
              </a:r>
            </a:p>
          </p:txBody>
        </p:sp>
        <p:sp>
          <p:nvSpPr>
            <p:cNvPr id="32" name="TextBox 32"/>
            <p:cNvSpPr txBox="1"/>
            <p:nvPr/>
          </p:nvSpPr>
          <p:spPr>
            <a:xfrm>
              <a:off x="6433185" y="5574506"/>
              <a:ext cx="4134074" cy="220028"/>
            </a:xfrm>
            <a:prstGeom prst="rect">
              <a:avLst/>
            </a:prstGeom>
            <a:noFill/>
            <a:ln>
              <a:noFill/>
            </a:ln>
          </p:spPr>
          <p:txBody>
            <a:bodyPr wrap="none" lIns="0" tIns="0" rIns="0" bIns="0" anchor="t" anchorCtr="0">
              <a:spAutoFit/>
            </a:bodyPr>
            <a:lstStyle/>
            <a:p>
              <a:pPr algn="l"/>
              <a:r>
                <a:rPr lang="en-US" sz="1120" i="1" dirty="0">
                  <a:solidFill>
                    <a:srgbClr val="2F9E68"/>
                  </a:solidFill>
                  <a:latin typeface="+mj-lt"/>
                  <a:ea typeface="+mj-ea"/>
                  <a:cs typeface="+mj-cs"/>
                </a:rPr>
                <a:t>Provably sufficient for any state-only reward task.</a:t>
              </a:r>
            </a:p>
          </p:txBody>
        </p:sp>
      </p:grpSp>
      <p:grpSp>
        <p:nvGrpSpPr>
          <p:cNvPr id="36" name="Group 36"/>
          <p:cNvGrpSpPr/>
          <p:nvPr/>
        </p:nvGrpSpPr>
        <p:grpSpPr>
          <a:xfrm>
            <a:off x="566738" y="6597491"/>
            <a:ext cx="11058524" cy="161925"/>
            <a:chOff x="566738" y="6597491"/>
            <a:chExt cx="11058524" cy="161925"/>
          </a:xfrm>
        </p:grpSpPr>
        <p:sp>
          <p:nvSpPr>
            <p:cNvPr id="34" name="TextBox 34"/>
            <p:cNvSpPr txBox="1"/>
            <p:nvPr/>
          </p:nvSpPr>
          <p:spPr>
            <a:xfrm>
              <a:off x="566738" y="6597491"/>
              <a:ext cx="5652722" cy="161925"/>
            </a:xfrm>
            <a:prstGeom prst="rect">
              <a:avLst/>
            </a:prstGeom>
            <a:noFill/>
            <a:ln>
              <a:noFill/>
            </a:ln>
          </p:spPr>
          <p:txBody>
            <a:bodyPr wrap="none" lIns="0" tIns="0" rIns="0" bIns="0" anchor="t" anchorCtr="0">
              <a:spAutoFit/>
            </a:bodyPr>
            <a:lstStyle/>
            <a:p>
              <a:pPr algn="l"/>
              <a:r>
                <a:rPr lang="en-US" sz="820" dirty="0">
                  <a:solidFill>
                    <a:schemeClr val="accent6"/>
                  </a:solidFill>
                  <a:latin typeface="+mn-lt"/>
                  <a:ea typeface="+mn-ea"/>
                  <a:cs typeface="+mn-cs"/>
                </a:rPr>
                <a:t>Bisimulation Makes Analogies in Goal-Conditioned Reinforcement Learning · ICML 2022 · arXiv:2204.13060</a:t>
              </a:r>
            </a:p>
          </p:txBody>
        </p:sp>
        <p:sp>
          <p:nvSpPr>
            <p:cNvPr id="35" name="TextBox 35"/>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6"/>
                  </a:solidFill>
                  <a:latin typeface="+mn-lt"/>
                  <a:ea typeface="+mn-ea"/>
                  <a:cs typeface="+mn-cs"/>
                </a:rPr>
                <a:t>10</a:t>
              </a:r>
            </a:p>
          </p:txBody>
        </p:sp>
      </p:grpSp>
      <p:sp>
        <p:nvSpPr>
          <p:cNvPr id="37" name="cue_s10_c1_takeaway_treating_bisimulation_equiv" title="cue_s10_c1_takeaway_treating_bisimulation_equiv" descr="cue_s10_c1_takeaway_treating_bisimulation_equiv The takeaway: treating bisimulation as an equivalence over tasks, not just states, aligns analogous tasks in one space."/>
          <p:cNvSpPr/>
          <p:nvPr/>
        </p:nvSpPr>
        <p:spPr>
          <a:xfrm>
            <a:off x="571804" y="3485921"/>
            <a:ext cx="5409590" cy="25333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10_c2_because_goals_become_composable_arit" title="cue_s10_c2_because_goals_become_composable_arit" descr="cue_s10_c2_because_goals_become_composable_arit Because goals become composable by arithmetic, you can point a robot at an example and have it infer its own goal, provably sufficient for any state-only reward task."/>
          <p:cNvSpPr/>
          <p:nvPr/>
        </p:nvSpPr>
        <p:spPr>
          <a:xfrm>
            <a:off x="6210604" y="3485921"/>
            <a:ext cx="5409590" cy="25333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gcb_deck">
  <a:themeElements>
    <a:clrScheme name="gcb_deck">
      <a:dk1>
        <a:srgbClr val="17203A"/>
      </a:dk1>
      <a:lt1>
        <a:srgbClr val="FFFFFF"/>
      </a:lt1>
      <a:dk2>
        <a:srgbClr val="566083"/>
      </a:dk2>
      <a:lt2>
        <a:srgbClr val="F4F6FB"/>
      </a:lt2>
      <a:accent1>
        <a:srgbClr val="1B2A4A"/>
      </a:accent1>
      <a:accent2>
        <a:srgbClr val="3B5BDB"/>
      </a:accent2>
      <a:accent3>
        <a:srgbClr val="6C8CF5"/>
      </a:accent3>
      <a:accent4>
        <a:srgbClr val="E2E7F2"/>
      </a:accent4>
      <a:accent5>
        <a:srgbClr val="E8792B"/>
      </a:accent5>
      <a:accent6>
        <a:srgbClr val="99A2BE"/>
      </a:accent6>
      <a:hlink>
        <a:srgbClr val="3B5BDB"/>
      </a:hlink>
      <a:folHlink>
        <a:srgbClr val="6C8CF5"/>
      </a:folHlink>
    </a:clrScheme>
    <a:fontScheme name="gcb_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cb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cb_deck">
  <a:themeElements>
    <a:clrScheme name="gcb_deck">
      <a:dk1>
        <a:srgbClr val="17203A"/>
      </a:dk1>
      <a:lt1>
        <a:srgbClr val="FFFFFF"/>
      </a:lt1>
      <a:dk2>
        <a:srgbClr val="566083"/>
      </a:dk2>
      <a:lt2>
        <a:srgbClr val="F4F6FB"/>
      </a:lt2>
      <a:accent1>
        <a:srgbClr val="1B2A4A"/>
      </a:accent1>
      <a:accent2>
        <a:srgbClr val="3B5BDB"/>
      </a:accent2>
      <a:accent3>
        <a:srgbClr val="6C8CF5"/>
      </a:accent3>
      <a:accent4>
        <a:srgbClr val="E2E7F2"/>
      </a:accent4>
      <a:accent5>
        <a:srgbClr val="E8792B"/>
      </a:accent5>
      <a:accent6>
        <a:srgbClr val="99A2BE"/>
      </a:accent6>
      <a:hlink>
        <a:srgbClr val="3B5BDB"/>
      </a:hlink>
      <a:folHlink>
        <a:srgbClr val="6C8CF5"/>
      </a:folHlink>
    </a:clrScheme>
    <a:fontScheme name="gcb_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cb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2026-07-15T13:23:57Z</dcterms:created>
  <dcterms:modified xsi:type="dcterms:W3CDTF">2026-07-15T13:23:57Z</dcterms:modified>
  <cp:category/>
  <cp:contentStatus/>
</cp:coreProperties>
</file>
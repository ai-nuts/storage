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7af1ba2a62f2d24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381000"/>
            <a:ext cx="57150" cy="5905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69106"/>
            <a:ext cx="40303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7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ICML 2022 · Neuro-Symbolic Language Modeling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1436" y="691515"/>
            <a:ext cx="79592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RetoMaton: Automaton-Augmented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1436" y="1129665"/>
            <a:ext cx="691177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Retrieval for Language 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2485" y="1707356"/>
            <a:ext cx="56307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Uri Alon · Frank F. Xu · Junxian He · S. Sengupta · Dan Roth · Graham Neubig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2866" y="1925002"/>
            <a:ext cx="37789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Carnegie Mellon University · Amazon AWS · AWS AI Labs</a:t>
            </a:r>
          </a:p>
        </p:txBody>
      </p:sp>
      <p:sp>
        <p:nvSpPr>
          <p:cNvPr id="9" name="Rectangle 9"/>
          <p:cNvSpPr/>
          <p:nvPr/>
        </p:nvSpPr>
        <p:spPr>
          <a:xfrm>
            <a:off x="9925050" y="400050"/>
            <a:ext cx="1657350" cy="1828800"/>
          </a:xfrm>
          <a:prstGeom prst="roundRect">
            <a:avLst>
              <a:gd name="adj" fmla="val 6897"/>
            </a:avLst>
          </a:prstGeom>
          <a:solidFill>
            <a:schemeClr val="accent5"/>
          </a:solidFill>
          <a:ln w="13335">
            <a:solidFill>
              <a:srgbClr val="2C3D63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0" y="514350"/>
            <a:ext cx="1428750" cy="1428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747928" y="2082641"/>
            <a:ext cx="20115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Code · github.com/neulab/retomaton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09600" y="2457450"/>
            <a:ext cx="2614612" cy="3390900"/>
            <a:chOff x="609600" y="2457450"/>
            <a:chExt cx="2614612" cy="3390900"/>
          </a:xfrm>
        </p:grpSpPr>
        <p:sp>
          <p:nvSpPr>
            <p:cNvPr id="12" name="Rectangle 12"/>
            <p:cNvSpPr/>
            <p:nvPr/>
          </p:nvSpPr>
          <p:spPr>
            <a:xfrm>
              <a:off x="609600" y="2457450"/>
              <a:ext cx="2614612" cy="339090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4574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rgbClr val="2DD4B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2475" y="2733675"/>
              <a:ext cx="133350" cy="133350"/>
            </a:xfrm>
            <a:prstGeom prst="ellipse">
              <a:avLst/>
            </a:prstGeom>
            <a:solidFill>
              <a:srgbClr val="2DD4B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3742" y="2711768"/>
              <a:ext cx="1290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Retrieval LMs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4956" y="3072051"/>
              <a:ext cx="152378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Sharpen predictions by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956" y="3291126"/>
              <a:ext cx="154670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pulling examples from 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956" y="3510201"/>
              <a:ext cx="162828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huge external datastore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956" y="3729276"/>
              <a:ext cx="9076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at test time.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338" y="5575697"/>
              <a:ext cx="125850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external datastore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229100"/>
              <a:ext cx="2233612" cy="2667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7250" y="4286250"/>
              <a:ext cx="495300" cy="152400"/>
            </a:xfrm>
            <a:prstGeom prst="roundRect">
              <a:avLst>
                <a:gd name="adj" fmla="val 31250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61853" y="4304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61516" y="429672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19221" y="43048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" y="4552950"/>
              <a:ext cx="2233612" cy="2667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57250" y="4610100"/>
              <a:ext cx="495300" cy="152400"/>
            </a:xfrm>
            <a:prstGeom prst="roundRect">
              <a:avLst>
                <a:gd name="adj" fmla="val 31250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853" y="4628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61516" y="462057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19221" y="4628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0100" y="4876800"/>
              <a:ext cx="2233612" cy="2667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57250" y="4933950"/>
              <a:ext cx="495300" cy="152400"/>
            </a:xfrm>
            <a:prstGeom prst="roundRect">
              <a:avLst>
                <a:gd name="adj" fmla="val 31250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61853" y="49525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61516" y="4944428"/>
              <a:ext cx="203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19221" y="495252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395662" y="2457450"/>
            <a:ext cx="2614612" cy="3390900"/>
            <a:chOff x="3395662" y="2457450"/>
            <a:chExt cx="2614612" cy="3390900"/>
          </a:xfrm>
        </p:grpSpPr>
        <p:sp>
          <p:nvSpPr>
            <p:cNvPr id="37" name="Rectangle 37"/>
            <p:cNvSpPr/>
            <p:nvPr/>
          </p:nvSpPr>
          <p:spPr>
            <a:xfrm>
              <a:off x="3395662" y="2457450"/>
              <a:ext cx="2614612" cy="339090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395662" y="24574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538538" y="27336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69804" y="2711768"/>
              <a:ext cx="1008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81019" y="3072051"/>
              <a:ext cx="15644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Builds a weighted finite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81019" y="3291126"/>
              <a:ext cx="162148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automaton on top of the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81019" y="3510201"/>
              <a:ext cx="15195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datastore, a retrieval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581019" y="3729276"/>
              <a:ext cx="78529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automaton.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81400" y="5575697"/>
              <a:ext cx="172354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weighted finite automaton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3738562" y="46101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874375" y="47648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4531995" y="43053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67808" y="44600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210175" y="46101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F5B64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345988" y="47648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176712" y="4591050"/>
              <a:ext cx="393383" cy="190500"/>
            </a:xfrm>
            <a:custGeom>
              <a:avLst/>
              <a:gdLst/>
              <a:ahLst/>
              <a:cxnLst/>
              <a:rect l="l" t="t" r="r" b="b"/>
              <a:pathLst>
                <a:path w="393383" h="190500">
                  <a:moveTo>
                    <a:pt x="0" y="190500"/>
                  </a:moveTo>
                  <a:lnTo>
                    <a:pt x="393383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53" name="Polyline 53"/>
            <p:cNvSpPr/>
            <p:nvPr/>
          </p:nvSpPr>
          <p:spPr>
            <a:xfrm>
              <a:off x="4484370" y="4588192"/>
              <a:ext cx="85725" cy="72390"/>
            </a:xfrm>
            <a:custGeom>
              <a:avLst/>
              <a:gdLst/>
              <a:ahLst/>
              <a:cxnLst/>
              <a:rect l="l" t="t" r="r" b="b"/>
              <a:pathLst>
                <a:path w="85725" h="72390">
                  <a:moveTo>
                    <a:pt x="34290" y="72390"/>
                  </a:moveTo>
                  <a:lnTo>
                    <a:pt x="85725" y="2858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54" name="Line 54"/>
            <p:cNvSpPr/>
            <p:nvPr/>
          </p:nvSpPr>
          <p:spPr>
            <a:xfrm>
              <a:off x="4970145" y="4591050"/>
              <a:ext cx="259080" cy="190500"/>
            </a:xfrm>
            <a:custGeom>
              <a:avLst/>
              <a:gdLst/>
              <a:ahLst/>
              <a:cxnLst/>
              <a:rect l="l" t="t" r="r" b="b"/>
              <a:pathLst>
                <a:path w="259080" h="190500">
                  <a:moveTo>
                    <a:pt x="0" y="0"/>
                  </a:moveTo>
                  <a:lnTo>
                    <a:pt x="259080" y="19050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55" name="Polyline 55"/>
            <p:cNvSpPr/>
            <p:nvPr/>
          </p:nvSpPr>
          <p:spPr>
            <a:xfrm>
              <a:off x="5144452" y="4704398"/>
              <a:ext cx="84772" cy="77153"/>
            </a:xfrm>
            <a:custGeom>
              <a:avLst/>
              <a:gdLst/>
              <a:ahLst/>
              <a:cxnLst/>
              <a:rect l="l" t="t" r="r" b="b"/>
              <a:pathLst>
                <a:path w="84772" h="77153">
                  <a:moveTo>
                    <a:pt x="0" y="64770"/>
                  </a:moveTo>
                  <a:lnTo>
                    <a:pt x="84772" y="77153"/>
                  </a:lnTo>
                  <a:lnTo>
                    <a:pt x="47625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6181725" y="2457450"/>
            <a:ext cx="2614612" cy="3390900"/>
            <a:chOff x="6181725" y="2457450"/>
            <a:chExt cx="2614612" cy="3390900"/>
          </a:xfrm>
        </p:grpSpPr>
        <p:sp>
          <p:nvSpPr>
            <p:cNvPr id="57" name="Rectangle 57"/>
            <p:cNvSpPr/>
            <p:nvPr/>
          </p:nvSpPr>
          <p:spPr>
            <a:xfrm>
              <a:off x="6181725" y="2457450"/>
              <a:ext cx="2614612" cy="339090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81725" y="24574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324600" y="2733675"/>
              <a:ext cx="133350" cy="133350"/>
            </a:xfrm>
            <a:prstGeom prst="ellipse">
              <a:avLst/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5867" y="2711768"/>
              <a:ext cx="1668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Pointers + States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67082" y="3072051"/>
              <a:ext cx="158514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Saves pointers between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67082" y="3291126"/>
              <a:ext cx="159429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consecutive entries and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67082" y="3510201"/>
              <a:ext cx="14107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clusters entries into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67082" y="3729276"/>
              <a:ext cx="127477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automaton states.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67462" y="5575697"/>
              <a:ext cx="126514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pointers · clusters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48425" y="4438650"/>
              <a:ext cx="190500" cy="190500"/>
            </a:xfrm>
            <a:prstGeom prst="ellipse">
              <a:avLst/>
            </a:prstGeom>
            <a:solidFill>
              <a:srgbClr val="2DD4BF"/>
            </a:solidFill>
            <a:ln w="14288">
              <a:solidFill>
                <a:srgbClr val="2DD4BF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6648450" y="45339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68" name="Polyline 68"/>
            <p:cNvSpPr/>
            <p:nvPr/>
          </p:nvSpPr>
          <p:spPr>
            <a:xfrm>
              <a:off x="6916102" y="44938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69" name="Ellipse 69"/>
            <p:cNvSpPr/>
            <p:nvPr/>
          </p:nvSpPr>
          <p:spPr>
            <a:xfrm>
              <a:off x="7000875" y="44386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rgbClr val="2DD4BF"/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7200900" y="45339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71" name="Polyline 71"/>
            <p:cNvSpPr/>
            <p:nvPr/>
          </p:nvSpPr>
          <p:spPr>
            <a:xfrm>
              <a:off x="7468552" y="44938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72" name="Ellipse 72"/>
            <p:cNvSpPr/>
            <p:nvPr/>
          </p:nvSpPr>
          <p:spPr>
            <a:xfrm>
              <a:off x="7553325" y="44386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rgbClr val="2DD4BF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7753350" y="45339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74" name="Polyline 74"/>
            <p:cNvSpPr/>
            <p:nvPr/>
          </p:nvSpPr>
          <p:spPr>
            <a:xfrm>
              <a:off x="8021002" y="44938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75" name="Ellipse 75"/>
            <p:cNvSpPr/>
            <p:nvPr/>
          </p:nvSpPr>
          <p:spPr>
            <a:xfrm>
              <a:off x="8105775" y="4438650"/>
              <a:ext cx="190500" cy="1905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rgbClr val="2DD4BF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6822281" y="4857750"/>
              <a:ext cx="1333500" cy="381000"/>
            </a:xfrm>
            <a:prstGeom prst="ellipse">
              <a:avLst/>
            </a:prstGeom>
            <a:noFill/>
            <a:ln w="14288">
              <a:solidFill>
                <a:srgbClr val="F5B642"/>
              </a:solidFill>
              <a:prstDash val="dash"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199071" y="4998720"/>
              <a:ext cx="578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one state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967788" y="2457450"/>
            <a:ext cx="2614612" cy="3390900"/>
            <a:chOff x="8967788" y="2457450"/>
            <a:chExt cx="2614612" cy="3390900"/>
          </a:xfrm>
        </p:grpSpPr>
        <p:sp>
          <p:nvSpPr>
            <p:cNvPr id="79" name="Rectangle 79"/>
            <p:cNvSpPr/>
            <p:nvPr/>
          </p:nvSpPr>
          <p:spPr>
            <a:xfrm>
              <a:off x="8967788" y="2457450"/>
              <a:ext cx="2614612" cy="3390900"/>
            </a:xfrm>
            <a:prstGeom prst="roundRect">
              <a:avLst>
                <a:gd name="adj" fmla="val 5100"/>
              </a:avLst>
            </a:prstGeom>
            <a:solidFill>
              <a:schemeClr val="accent5"/>
            </a:solidFill>
            <a:ln w="13335">
              <a:solidFill>
                <a:srgbClr val="2C3D63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967788" y="2457450"/>
              <a:ext cx="2614612" cy="47625"/>
            </a:xfrm>
            <a:prstGeom prst="roundRect">
              <a:avLst>
                <a:gd name="adj" fmla="val 4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9110662" y="2733675"/>
              <a:ext cx="133350" cy="13335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41930" y="2711768"/>
              <a:ext cx="979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Result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153144" y="3072051"/>
              <a:ext cx="109117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Up to 83% fewer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153144" y="3291126"/>
              <a:ext cx="18118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nearest-neighbor searches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153144" y="3510201"/>
              <a:ext cx="178464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with no perplexity loss, or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153144" y="3729276"/>
              <a:ext cx="151271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1.85 lower perplexity.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153525" y="5575697"/>
              <a:ext cx="13116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 fewer searches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726984" y="4401502"/>
              <a:ext cx="109717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65994" y="5019199"/>
              <a:ext cx="10191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fewer searches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10530009" y="6513195"/>
            <a:ext cx="10571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arXiv:2201.12431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F8717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646867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Problem: Search Dominates Inference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09600" y="1123950"/>
            <a:ext cx="5372100" cy="2857500"/>
            <a:chOff x="609600" y="1123950"/>
            <a:chExt cx="5372100" cy="2857500"/>
          </a:xfrm>
        </p:grpSpPr>
        <p:sp>
          <p:nvSpPr>
            <p:cNvPr id="7" name="Rectangle 7"/>
            <p:cNvSpPr/>
            <p:nvPr/>
          </p:nvSpPr>
          <p:spPr>
            <a:xfrm>
              <a:off x="609600" y="1123950"/>
              <a:ext cx="53721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123950"/>
              <a:ext cx="57150" cy="2857500"/>
            </a:xfrm>
            <a:prstGeom prst="roundRect">
              <a:avLst>
                <a:gd name="adj" fmla="val 50000"/>
              </a:avLst>
            </a:prstGeom>
            <a:solidFill>
              <a:srgbClr val="2DD4B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1266825"/>
              <a:ext cx="20187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Retrieval-based LM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535" y="1593056"/>
              <a:ext cx="32506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Fetches nearest-neighbor examples from 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535" y="1802606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external datastore and blends them into the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535" y="2012156"/>
              <a:ext cx="3170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prediction. Better quality than a plain LM.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104900" y="2724150"/>
              <a:ext cx="647700" cy="6477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4307" y="297418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790700" y="3048000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</a:ln>
          </p:spPr>
        </p:sp>
        <p:sp>
          <p:nvSpPr>
            <p:cNvPr id="16" name="Polyline 16"/>
            <p:cNvSpPr/>
            <p:nvPr/>
          </p:nvSpPr>
          <p:spPr>
            <a:xfrm>
              <a:off x="2420302" y="3007995"/>
              <a:ext cx="75248" cy="80010"/>
            </a:xfrm>
            <a:custGeom>
              <a:avLst/>
              <a:gdLst/>
              <a:ahLst/>
              <a:cxnLst/>
              <a:rect l="l" t="t" r="r" b="b"/>
              <a:pathLst>
                <a:path w="75248" h="80010">
                  <a:moveTo>
                    <a:pt x="0" y="80010"/>
                  </a:moveTo>
                  <a:lnTo>
                    <a:pt x="75248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  <a:round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95550" y="2762250"/>
              <a:ext cx="1257300" cy="5715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5240">
              <a:solidFill>
                <a:srgbClr val="2DD4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24196" y="2888456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Datastore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19527" y="3103245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752850" y="30480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</a:ln>
          </p:spPr>
        </p:sp>
        <p:sp>
          <p:nvSpPr>
            <p:cNvPr id="21" name="Polyline 21"/>
            <p:cNvSpPr/>
            <p:nvPr/>
          </p:nvSpPr>
          <p:spPr>
            <a:xfrm>
              <a:off x="4401502" y="30079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9FB0CC"/>
              </a:solidFill>
              <a:round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76750" y="2762250"/>
              <a:ext cx="1257300" cy="5715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3335">
              <a:solidFill>
                <a:srgbClr val="2C3D6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814721" y="2888456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blended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97742" y="31032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prediction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297" y="3628549"/>
              <a:ext cx="36620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Accuracy, domain-adaptability and provenance benefits.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10300" y="1123950"/>
            <a:ext cx="5372100" cy="2857500"/>
            <a:chOff x="6210300" y="1123950"/>
            <a:chExt cx="5372100" cy="2857500"/>
          </a:xfrm>
        </p:grpSpPr>
        <p:sp>
          <p:nvSpPr>
            <p:cNvPr id="27" name="Rectangle 27"/>
            <p:cNvSpPr/>
            <p:nvPr/>
          </p:nvSpPr>
          <p:spPr>
            <a:xfrm>
              <a:off x="6210300" y="1123950"/>
              <a:ext cx="53721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10300" y="1123950"/>
              <a:ext cx="57150" cy="285750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0330" y="1266825"/>
              <a:ext cx="17928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The catch is cost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2235" y="1593056"/>
              <a:ext cx="3454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That datastore search can fire at every single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2235" y="1802606"/>
              <a:ext cx="3554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time step, and it is far slower than the model's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52235" y="2012156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own forward pass.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2997" y="2428399"/>
              <a:ext cx="15181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Relative cost per token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57950" y="2667000"/>
              <a:ext cx="914400" cy="2476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62838" y="2741295"/>
              <a:ext cx="10055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LM forward pass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57950" y="3009900"/>
              <a:ext cx="4857750" cy="247650"/>
            </a:xfrm>
            <a:prstGeom prst="roundRect">
              <a:avLst>
                <a:gd name="adj" fmla="val 23077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52470" y="3084195"/>
              <a:ext cx="13536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0D1526"/>
                  </a:solidFill>
                  <a:latin typeface="+mn-lt"/>
                  <a:ea typeface="+mn-ea"/>
                  <a:cs typeface="+mn-cs"/>
                </a:rPr>
                <a:t>kNN datastore search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2997" y="3552349"/>
              <a:ext cx="2679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 runs as often as every time step.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4152900"/>
            <a:ext cx="10972800" cy="1714500"/>
            <a:chOff x="609600" y="4152900"/>
            <a:chExt cx="10972800" cy="1714500"/>
          </a:xfrm>
        </p:grpSpPr>
        <p:sp>
          <p:nvSpPr>
            <p:cNvPr id="40" name="Rectangle 40"/>
            <p:cNvSpPr/>
            <p:nvPr/>
          </p:nvSpPr>
          <p:spPr>
            <a:xfrm>
              <a:off x="609600" y="4152900"/>
              <a:ext cx="10972800" cy="1714500"/>
            </a:xfrm>
            <a:prstGeom prst="roundRect">
              <a:avLst>
                <a:gd name="adj" fmla="val 7778"/>
              </a:avLst>
            </a:prstGeom>
            <a:solidFill>
              <a:schemeClr val="accent6"/>
            </a:solidFill>
            <a:ln w="15240">
              <a:solidFill>
                <a:srgbClr val="F87171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71550" y="4762500"/>
              <a:ext cx="495300" cy="495300"/>
            </a:xfrm>
            <a:prstGeom prst="ellipse">
              <a:avLst/>
            </a:prstGeom>
            <a:noFill/>
            <a:ln w="24765">
              <a:solidFill>
                <a:srgbClr val="F8717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56122" y="4846320"/>
              <a:ext cx="1261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05356" y="4587240"/>
              <a:ext cx="6743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Frequent search is the single most critical bottleneck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708785" y="5022056"/>
              <a:ext cx="66882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It is the dominant computational cost at inference, and it keeps these otherwise powerful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08785" y="5250656"/>
              <a:ext cx="62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retrieval LMs out of practical, deployable settings despite their accuracy benefits.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F5B642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831994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Motivation: A Flat Datastore Throws Away Structure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609600" y="1104900"/>
            <a:ext cx="10972800" cy="886206"/>
            <a:chOff x="609600" y="1104900"/>
            <a:chExt cx="10972800" cy="886206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819150"/>
            </a:xfrm>
            <a:prstGeom prst="roundRect">
              <a:avLst>
                <a:gd name="adj" fmla="val 16279"/>
              </a:avLst>
            </a:prstGeom>
            <a:solidFill>
              <a:schemeClr val="accent6"/>
            </a:solidFill>
            <a:ln w="14288">
              <a:solidFill>
                <a:srgbClr val="F5B64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280160"/>
              <a:ext cx="1332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Key observation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1154" y="1565910"/>
              <a:ext cx="802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kNN-LM treats the datastore as a flat list and searches it token by token, ignoring that consecutive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1154" y="1756410"/>
              <a:ext cx="6482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retrieved entries are highly correlated in time and that nearby keys behave alike.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2095500"/>
            <a:ext cx="5372100" cy="1828800"/>
            <a:chOff x="609600" y="2095500"/>
            <a:chExt cx="5372100" cy="18288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95500"/>
              <a:ext cx="53721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773" y="2262664"/>
              <a:ext cx="2172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 · Temporal correlation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726" y="2549604"/>
              <a:ext cx="323696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If a retrieved entry is useful now, the entry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726" y="2749629"/>
              <a:ext cx="300445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that follows it in the original text is very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726" y="2949654"/>
              <a:ext cx="132433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likely useful next.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19175" y="3457575"/>
              <a:ext cx="247650" cy="247650"/>
            </a:xfrm>
            <a:prstGeom prst="ellipse">
              <a:avLst/>
            </a:prstGeom>
            <a:solidFill>
              <a:srgbClr val="2DD4BF"/>
            </a:solidFill>
            <a:ln w="16192">
              <a:solidFill>
                <a:srgbClr val="2DD4B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7160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285875" y="3581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</a:ln>
          </p:spPr>
        </p:sp>
        <p:sp>
          <p:nvSpPr>
            <p:cNvPr id="20" name="Polyline 20"/>
            <p:cNvSpPr/>
            <p:nvPr/>
          </p:nvSpPr>
          <p:spPr>
            <a:xfrm>
              <a:off x="2163128" y="3541395"/>
              <a:ext cx="75248" cy="80010"/>
            </a:xfrm>
            <a:custGeom>
              <a:avLst/>
              <a:gdLst/>
              <a:ahLst/>
              <a:cxnLst/>
              <a:rect l="l" t="t" r="r" b="b"/>
              <a:pathLst>
                <a:path w="75248" h="80010">
                  <a:moveTo>
                    <a:pt x="0" y="80010"/>
                  </a:moveTo>
                  <a:lnTo>
                    <a:pt x="75248" y="40005"/>
                  </a:ln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  <a:round/>
            </a:ln>
          </p:spPr>
        </p:sp>
        <p:sp>
          <p:nvSpPr>
            <p:cNvPr id="21" name="Ellipse 21"/>
            <p:cNvSpPr/>
            <p:nvPr/>
          </p:nvSpPr>
          <p:spPr>
            <a:xfrm>
              <a:off x="2257425" y="3457575"/>
              <a:ext cx="247650" cy="247650"/>
            </a:xfrm>
            <a:prstGeom prst="ellipse">
              <a:avLst/>
            </a:prstGeom>
            <a:solidFill>
              <a:schemeClr val="accent6"/>
            </a:solidFill>
            <a:ln w="16192">
              <a:solidFill>
                <a:srgbClr val="2DD4B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0985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24125" y="3581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</a:ln>
          </p:spPr>
        </p:sp>
        <p:sp>
          <p:nvSpPr>
            <p:cNvPr id="24" name="Polyline 24"/>
            <p:cNvSpPr/>
            <p:nvPr/>
          </p:nvSpPr>
          <p:spPr>
            <a:xfrm>
              <a:off x="3401378" y="35413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  <a:round/>
            </a:ln>
          </p:spPr>
        </p:sp>
        <p:sp>
          <p:nvSpPr>
            <p:cNvPr id="25" name="Ellipse 25"/>
            <p:cNvSpPr/>
            <p:nvPr/>
          </p:nvSpPr>
          <p:spPr>
            <a:xfrm>
              <a:off x="3495675" y="3457575"/>
              <a:ext cx="247650" cy="247650"/>
            </a:xfrm>
            <a:prstGeom prst="ellipse">
              <a:avLst/>
            </a:prstGeom>
            <a:solidFill>
              <a:schemeClr val="accent6"/>
            </a:solidFill>
            <a:ln w="16192">
              <a:solidFill>
                <a:srgbClr val="2DD4B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4810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762375" y="3581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</a:ln>
          </p:spPr>
        </p:sp>
        <p:sp>
          <p:nvSpPr>
            <p:cNvPr id="28" name="Polyline 28"/>
            <p:cNvSpPr/>
            <p:nvPr/>
          </p:nvSpPr>
          <p:spPr>
            <a:xfrm>
              <a:off x="4639628" y="35413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0955" cap="rnd">
              <a:solidFill>
                <a:srgbClr val="F5B642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4733925" y="3457575"/>
              <a:ext cx="247650" cy="247650"/>
            </a:xfrm>
            <a:prstGeom prst="ellipse">
              <a:avLst/>
            </a:prstGeom>
            <a:solidFill>
              <a:schemeClr val="accent6"/>
            </a:solidFill>
            <a:ln w="16192">
              <a:solidFill>
                <a:srgbClr val="2DD4B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86351" y="353187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e4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10300" y="2095500"/>
            <a:ext cx="5372100" cy="1828800"/>
            <a:chOff x="6210300" y="2095500"/>
            <a:chExt cx="5372100" cy="1828800"/>
          </a:xfrm>
        </p:grpSpPr>
        <p:sp>
          <p:nvSpPr>
            <p:cNvPr id="32" name="Rectangle 32"/>
            <p:cNvSpPr/>
            <p:nvPr/>
          </p:nvSpPr>
          <p:spPr>
            <a:xfrm>
              <a:off x="6210300" y="2095500"/>
              <a:ext cx="5372100" cy="1828800"/>
            </a:xfrm>
            <a:prstGeom prst="roundRect">
              <a:avLst>
                <a:gd name="adj" fmla="val 729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1473" y="2262664"/>
              <a:ext cx="2037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· Key-vector locality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2426" y="2549604"/>
              <a:ext cx="318552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Entries whose key vectors are close tend to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2426" y="2749629"/>
              <a:ext cx="309250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be followed by the same token, so they can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2426" y="2949654"/>
              <a:ext cx="221208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share their outgoing pointers.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00950" y="3505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361872" y="3667125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904672" y="3400425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730365" y="3410902"/>
              <a:ext cx="152400" cy="152400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028498" y="3670935"/>
              <a:ext cx="152400" cy="1524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473315" y="3491865"/>
              <a:ext cx="152400" cy="1524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29400" y="3314700"/>
              <a:ext cx="1409700" cy="495300"/>
            </a:xfrm>
            <a:prstGeom prst="ellipse">
              <a:avLst/>
            </a:prstGeom>
            <a:noFill/>
            <a:ln w="14288">
              <a:solidFill>
                <a:schemeClr val="accent2"/>
              </a:solidFill>
              <a:prstDash val="dash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15297" y="3523774"/>
              <a:ext cx="11111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same next token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4095750"/>
            <a:ext cx="10972800" cy="1771650"/>
            <a:chOff x="609600" y="4095750"/>
            <a:chExt cx="10972800" cy="1771650"/>
          </a:xfrm>
        </p:grpSpPr>
        <p:sp>
          <p:nvSpPr>
            <p:cNvPr id="46" name="Rectangle 46"/>
            <p:cNvSpPr/>
            <p:nvPr/>
          </p:nvSpPr>
          <p:spPr>
            <a:xfrm>
              <a:off x="609600" y="4095750"/>
              <a:ext cx="10972800" cy="1771650"/>
            </a:xfrm>
            <a:prstGeom prst="roundRect">
              <a:avLst>
                <a:gd name="adj" fmla="val 7527"/>
              </a:avLst>
            </a:prstGeom>
            <a:solidFill>
              <a:schemeClr val="accent5"/>
            </a:solidFill>
            <a:ln w="13335">
              <a:solidFill>
                <a:srgbClr val="F8717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0392" y="4254818"/>
              <a:ext cx="4063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Prior work · Adaptive Retrieval (AdaptRet)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344" y="4579858"/>
              <a:ext cx="7336178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Trains an MLP to learn when to skip the search. But on a skip it backs off to the base LM alone,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344" y="4798933"/>
              <a:ext cx="774949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discarding the retrieval distribution exactly where it helps most, in domains where the base is weak.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200150" y="5257800"/>
              <a:ext cx="457200" cy="4572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14307" y="541258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LM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657350" y="5486400"/>
              <a:ext cx="1200150" cy="9525"/>
            </a:xfrm>
            <a:custGeom>
              <a:avLst/>
              <a:gdLst/>
              <a:ahLst/>
              <a:cxnLst/>
              <a:rect l="l" t="t" r="r" b="b"/>
              <a:pathLst>
                <a:path w="1200150" h="9525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noFill/>
            <a:ln w="22860" cap="rnd">
              <a:solidFill>
                <a:srgbClr val="F87171"/>
              </a:solidFill>
              <a:custDash>
                <a:ds d="250000" sp="208333"/>
              </a:custDash>
            </a:ln>
          </p:spPr>
        </p:sp>
        <p:sp>
          <p:nvSpPr>
            <p:cNvPr id="53" name="Polyline 53"/>
            <p:cNvSpPr/>
            <p:nvPr/>
          </p:nvSpPr>
          <p:spPr>
            <a:xfrm>
              <a:off x="2782252" y="54463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87171"/>
              </a:solidFill>
              <a:round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687563" y="5293995"/>
              <a:ext cx="1196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skip = lose retrieval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086100" y="5276850"/>
              <a:ext cx="1428750" cy="419100"/>
            </a:xfrm>
            <a:prstGeom prst="roundRect">
              <a:avLst>
                <a:gd name="adj" fmla="val 20455"/>
              </a:avLst>
            </a:prstGeom>
            <a:noFill/>
            <a:ln w="14288">
              <a:solidFill>
                <a:srgbClr val="F8717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341092" y="5420678"/>
              <a:ext cx="9187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base LM only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7666" y="5430202"/>
              <a:ext cx="528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RetoMaton instead keeps the retrieval signal while still skipping the search.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73588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Contribution: Two Changes Build the Automaton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09600" y="1104900"/>
            <a:ext cx="5372100" cy="1809750"/>
            <a:chOff x="609600" y="1104900"/>
            <a:chExt cx="5372100" cy="18097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53721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10490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7161" y="1255871"/>
              <a:ext cx="19266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Change 1 · Pointers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685" y="1574006"/>
              <a:ext cx="3356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Save a pointer from every entry to the entry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1783556"/>
              <a:ext cx="2732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that came right after it in the text.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511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e1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69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</a:ln>
          </p:spPr>
        </p:sp>
        <p:sp>
          <p:nvSpPr>
            <p:cNvPr id="15" name="Polyline 15"/>
            <p:cNvSpPr/>
            <p:nvPr/>
          </p:nvSpPr>
          <p:spPr>
            <a:xfrm>
              <a:off x="2001202" y="2407920"/>
              <a:ext cx="75248" cy="80010"/>
            </a:xfrm>
            <a:custGeom>
              <a:avLst/>
              <a:gdLst/>
              <a:ahLst/>
              <a:cxnLst/>
              <a:rect l="l" t="t" r="r" b="b"/>
              <a:pathLst>
                <a:path w="75248" h="80010">
                  <a:moveTo>
                    <a:pt x="0" y="80010"/>
                  </a:moveTo>
                  <a:lnTo>
                    <a:pt x="75248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  <a:round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7170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9906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194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</a:ln>
          </p:spPr>
        </p:sp>
        <p:sp>
          <p:nvSpPr>
            <p:cNvPr id="19" name="Polyline 19"/>
            <p:cNvSpPr/>
            <p:nvPr/>
          </p:nvSpPr>
          <p:spPr>
            <a:xfrm>
              <a:off x="3125152" y="2407920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  <a:round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29565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2301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e3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9433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</a:ln>
          </p:spPr>
        </p:sp>
        <p:sp>
          <p:nvSpPr>
            <p:cNvPr id="23" name="Polyline 23"/>
            <p:cNvSpPr/>
            <p:nvPr/>
          </p:nvSpPr>
          <p:spPr>
            <a:xfrm>
              <a:off x="4249102" y="2407920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2860" cap="rnd">
              <a:solidFill>
                <a:srgbClr val="F5B642"/>
              </a:solidFill>
              <a:round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19600" y="2286000"/>
              <a:ext cx="628650" cy="323850"/>
            </a:xfrm>
            <a:prstGeom prst="roundRect">
              <a:avLst>
                <a:gd name="adj" fmla="val 17647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46961" y="23822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e4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10300" y="1104900"/>
            <a:ext cx="5372100" cy="1809750"/>
            <a:chOff x="6210300" y="1104900"/>
            <a:chExt cx="5372100" cy="1809750"/>
          </a:xfrm>
        </p:grpSpPr>
        <p:sp>
          <p:nvSpPr>
            <p:cNvPr id="27" name="Rectangle 27"/>
            <p:cNvSpPr/>
            <p:nvPr/>
          </p:nvSpPr>
          <p:spPr>
            <a:xfrm>
              <a:off x="6210300" y="1104900"/>
              <a:ext cx="5372100" cy="1809750"/>
            </a:xfrm>
            <a:prstGeom prst="roundRect">
              <a:avLst>
                <a:gd name="adj" fmla="val 736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10300" y="1104900"/>
              <a:ext cx="57150" cy="1809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7861" y="1255871"/>
              <a:ext cx="20965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Change 2 · Clustering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9385" y="1574006"/>
              <a:ext cx="3318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 entries with similar key vectors into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385" y="1783556"/>
              <a:ext cx="3441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states; states share their outgoing pointers.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86575" y="22955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038975" y="22955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191375" y="22955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886575" y="2466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038975" y="2466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191375" y="24669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43700" y="2200275"/>
              <a:ext cx="723900" cy="495300"/>
            </a:xfrm>
            <a:prstGeom prst="ellipse">
              <a:avLst/>
            </a:prstGeom>
            <a:noFill/>
            <a:ln w="16192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71626" y="2378154"/>
              <a:ext cx="213138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= one state → shared pointers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9600" y="3086100"/>
            <a:ext cx="7277100" cy="2781300"/>
            <a:chOff x="609600" y="3086100"/>
            <a:chExt cx="7277100" cy="2781300"/>
          </a:xfrm>
        </p:grpSpPr>
        <p:sp>
          <p:nvSpPr>
            <p:cNvPr id="41" name="Rectangle 41"/>
            <p:cNvSpPr/>
            <p:nvPr/>
          </p:nvSpPr>
          <p:spPr>
            <a:xfrm>
              <a:off x="609600" y="3086100"/>
              <a:ext cx="7277100" cy="2781300"/>
            </a:xfrm>
            <a:prstGeom prst="roundRect">
              <a:avLst>
                <a:gd name="adj" fmla="val 4795"/>
              </a:avLst>
            </a:prstGeom>
            <a:solidFill>
              <a:schemeClr val="accent6"/>
            </a:solidFill>
            <a:ln w="1524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0011" y="3256121"/>
              <a:ext cx="38951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Together → a weighted finite automaton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543050" y="4114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812213" y="44029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733800" y="3733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02963" y="40219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790950" y="4838700"/>
              <a:ext cx="609600" cy="6096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F5B64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002963" y="5069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115050" y="4114800"/>
              <a:ext cx="723900" cy="7239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34D39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84213" y="44029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266950" y="4171950"/>
              <a:ext cx="1466850" cy="228600"/>
            </a:xfrm>
            <a:custGeom>
              <a:avLst/>
              <a:gdLst/>
              <a:ahLst/>
              <a:cxnLst/>
              <a:rect l="l" t="t" r="r" b="b"/>
              <a:pathLst>
                <a:path w="1466850" h="228600">
                  <a:moveTo>
                    <a:pt x="0" y="228600"/>
                  </a:moveTo>
                  <a:lnTo>
                    <a:pt x="146685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2" name="Polyline 52"/>
            <p:cNvSpPr/>
            <p:nvPr/>
          </p:nvSpPr>
          <p:spPr>
            <a:xfrm>
              <a:off x="3652838" y="4143375"/>
              <a:ext cx="80962" cy="80010"/>
            </a:xfrm>
            <a:custGeom>
              <a:avLst/>
              <a:gdLst/>
              <a:ahLst/>
              <a:cxnLst/>
              <a:rect l="l" t="t" r="r" b="b"/>
              <a:pathLst>
                <a:path w="80962" h="80010">
                  <a:moveTo>
                    <a:pt x="12383" y="80010"/>
                  </a:moveTo>
                  <a:lnTo>
                    <a:pt x="80962" y="28575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3" name="Line 53"/>
            <p:cNvSpPr/>
            <p:nvPr/>
          </p:nvSpPr>
          <p:spPr>
            <a:xfrm>
              <a:off x="2209800" y="4629150"/>
              <a:ext cx="1581150" cy="438150"/>
            </a:xfrm>
            <a:custGeom>
              <a:avLst/>
              <a:gdLst/>
              <a:ahLst/>
              <a:cxnLst/>
              <a:rect l="l" t="t" r="r" b="b"/>
              <a:pathLst>
                <a:path w="1581150" h="438150">
                  <a:moveTo>
                    <a:pt x="0" y="0"/>
                  </a:moveTo>
                  <a:lnTo>
                    <a:pt x="1581150" y="43815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4" name="Polyline 54"/>
            <p:cNvSpPr/>
            <p:nvPr/>
          </p:nvSpPr>
          <p:spPr>
            <a:xfrm>
              <a:off x="3707130" y="5008245"/>
              <a:ext cx="83820" cy="77153"/>
            </a:xfrm>
            <a:custGeom>
              <a:avLst/>
              <a:gdLst/>
              <a:ahLst/>
              <a:cxnLst/>
              <a:rect l="l" t="t" r="r" b="b"/>
              <a:pathLst>
                <a:path w="83820" h="77153">
                  <a:moveTo>
                    <a:pt x="0" y="77153"/>
                  </a:moveTo>
                  <a:lnTo>
                    <a:pt x="83820" y="59055"/>
                  </a:lnTo>
                  <a:lnTo>
                    <a:pt x="21908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5" name="Line 55"/>
            <p:cNvSpPr/>
            <p:nvPr/>
          </p:nvSpPr>
          <p:spPr>
            <a:xfrm>
              <a:off x="4457700" y="4152900"/>
              <a:ext cx="1657350" cy="247650"/>
            </a:xfrm>
            <a:custGeom>
              <a:avLst/>
              <a:gdLst/>
              <a:ahLst/>
              <a:cxnLst/>
              <a:rect l="l" t="t" r="r" b="b"/>
              <a:pathLst>
                <a:path w="1657350" h="247650">
                  <a:moveTo>
                    <a:pt x="0" y="0"/>
                  </a:moveTo>
                  <a:lnTo>
                    <a:pt x="1657350" y="24765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6" name="Polyline 56"/>
            <p:cNvSpPr/>
            <p:nvPr/>
          </p:nvSpPr>
          <p:spPr>
            <a:xfrm>
              <a:off x="6034088" y="4349115"/>
              <a:ext cx="80962" cy="80010"/>
            </a:xfrm>
            <a:custGeom>
              <a:avLst/>
              <a:gdLst/>
              <a:ahLst/>
              <a:cxnLst/>
              <a:rect l="l" t="t" r="r" b="b"/>
              <a:pathLst>
                <a:path w="80962" h="80010">
                  <a:moveTo>
                    <a:pt x="0" y="80010"/>
                  </a:moveTo>
                  <a:lnTo>
                    <a:pt x="80962" y="51435"/>
                  </a:lnTo>
                  <a:lnTo>
                    <a:pt x="12382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7" name="Line 57"/>
            <p:cNvSpPr/>
            <p:nvPr/>
          </p:nvSpPr>
          <p:spPr>
            <a:xfrm>
              <a:off x="4400550" y="4591050"/>
              <a:ext cx="1771650" cy="495300"/>
            </a:xfrm>
            <a:custGeom>
              <a:avLst/>
              <a:gdLst/>
              <a:ahLst/>
              <a:cxnLst/>
              <a:rect l="l" t="t" r="r" b="b"/>
              <a:pathLst>
                <a:path w="1771650" h="495300">
                  <a:moveTo>
                    <a:pt x="0" y="495300"/>
                  </a:moveTo>
                  <a:lnTo>
                    <a:pt x="177165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58" name="Polyline 58"/>
            <p:cNvSpPr/>
            <p:nvPr/>
          </p:nvSpPr>
          <p:spPr>
            <a:xfrm>
              <a:off x="6088380" y="4572952"/>
              <a:ext cx="83820" cy="77152"/>
            </a:xfrm>
            <a:custGeom>
              <a:avLst/>
              <a:gdLst/>
              <a:ahLst/>
              <a:cxnLst/>
              <a:rect l="l" t="t" r="r" b="b"/>
              <a:pathLst>
                <a:path w="83820" h="77152">
                  <a:moveTo>
                    <a:pt x="21907" y="77152"/>
                  </a:moveTo>
                  <a:lnTo>
                    <a:pt x="83820" y="18097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1916" y="5563552"/>
              <a:ext cx="6301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States are clusters · edges are shared pointers · traversed in parallel with LM inference.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115300" y="3086100"/>
            <a:ext cx="3467100" cy="2781300"/>
            <a:chOff x="8115300" y="3086100"/>
            <a:chExt cx="3467100" cy="2781300"/>
          </a:xfrm>
        </p:grpSpPr>
        <p:sp>
          <p:nvSpPr>
            <p:cNvPr id="61" name="Rectangle 61"/>
            <p:cNvSpPr/>
            <p:nvPr/>
          </p:nvSpPr>
          <p:spPr>
            <a:xfrm>
              <a:off x="8115300" y="3086100"/>
              <a:ext cx="3467100" cy="2781300"/>
            </a:xfrm>
            <a:prstGeom prst="roundRect">
              <a:avLst>
                <a:gd name="adj" fmla="val 4795"/>
              </a:avLst>
            </a:prstGeom>
            <a:solidFill>
              <a:schemeClr val="accent5"/>
            </a:solidFill>
            <a:ln w="14288">
              <a:solidFill>
                <a:srgbClr val="34D39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56092" y="3264218"/>
              <a:ext cx="1717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Fully unsupervised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401050" y="37147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67166" y="3687128"/>
              <a:ext cx="1548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No extra training data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8401050" y="40005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67166" y="3972878"/>
              <a:ext cx="1584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Built from the training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8401050" y="42862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567166" y="4258628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corpus, or a new domain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401050" y="45720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567166" y="4544378"/>
              <a:ext cx="1061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Model-agnostic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8401050" y="48577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67166" y="4830128"/>
              <a:ext cx="15701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Approximates the next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401050" y="514350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567166" y="5115878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nearest neighbors so most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8401050" y="54292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67166" y="5401628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searches are skipped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786495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Method: Traverse the Automaton Alongside the LM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609600" y="1104900"/>
            <a:ext cx="5372100" cy="2266950"/>
            <a:chOff x="609600" y="1104900"/>
            <a:chExt cx="5372100" cy="22669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5372100" cy="22669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392" y="1263968"/>
              <a:ext cx="2778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Entry = (key, value, pointer)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1600200"/>
              <a:ext cx="4267200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1657350"/>
              <a:ext cx="495300" cy="209550"/>
            </a:xfrm>
            <a:prstGeom prst="roundRect">
              <a:avLst>
                <a:gd name="adj" fmla="val 22727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0909" y="17044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8666" y="1696402"/>
              <a:ext cx="619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wᵢ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82708" y="1704499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 successor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2000250"/>
              <a:ext cx="4267200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4400" y="2057400"/>
              <a:ext cx="495300" cy="209550"/>
            </a:xfrm>
            <a:prstGeom prst="roundRect">
              <a:avLst>
                <a:gd name="adj" fmla="val 22727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0909" y="2104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8666" y="2096452"/>
              <a:ext cx="619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wⱼ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2708" y="2104549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 successor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7250" y="2400300"/>
              <a:ext cx="4267200" cy="323850"/>
            </a:xfrm>
            <a:prstGeom prst="roundRect">
              <a:avLst>
                <a:gd name="adj" fmla="val 20588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4400" y="2457450"/>
              <a:ext cx="495300" cy="209550"/>
            </a:xfrm>
            <a:prstGeom prst="roundRect">
              <a:avLst>
                <a:gd name="adj" fmla="val 22727"/>
              </a:avLst>
            </a:prstGeom>
            <a:noFill/>
            <a:ln w="12382">
              <a:solidFill>
                <a:srgbClr val="2DD4B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80909" y="25045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kₗ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8666" y="2496502"/>
              <a:ext cx="6191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 wₗ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82708" y="2504599"/>
              <a:ext cx="813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→ successor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2106" y="2919651"/>
              <a:ext cx="431821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pointer references the entry that followed it in the corpus.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10300" y="1104900"/>
            <a:ext cx="5372100" cy="2266950"/>
            <a:chOff x="6210300" y="1104900"/>
            <a:chExt cx="5372100" cy="2266950"/>
          </a:xfrm>
        </p:grpSpPr>
        <p:sp>
          <p:nvSpPr>
            <p:cNvPr id="26" name="Rectangle 26"/>
            <p:cNvSpPr/>
            <p:nvPr/>
          </p:nvSpPr>
          <p:spPr>
            <a:xfrm>
              <a:off x="6210300" y="1104900"/>
              <a:ext cx="5372100" cy="22669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1092" y="1263968"/>
              <a:ext cx="309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Keep a small set of active states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2426" y="1559004"/>
              <a:ext cx="356708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Close-key entries are clustered into a state;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2426" y="1759029"/>
              <a:ext cx="309983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state inherits all pointers of its members.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67500" y="228600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55534" y="24979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10500" y="228600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98534" y="24979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953500" y="228600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F5B64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41534" y="24979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S₃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239000" y="2571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37" name="Polyline 37"/>
            <p:cNvSpPr/>
            <p:nvPr/>
          </p:nvSpPr>
          <p:spPr>
            <a:xfrm>
              <a:off x="7735252" y="253174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8382000" y="2571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</a:ln>
          </p:spPr>
        </p:sp>
        <p:sp>
          <p:nvSpPr>
            <p:cNvPr id="39" name="Polyline 39"/>
            <p:cNvSpPr/>
            <p:nvPr/>
          </p:nvSpPr>
          <p:spPr>
            <a:xfrm>
              <a:off x="8878252" y="253174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B642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2806" y="3033951"/>
              <a:ext cx="504799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Traversed in parallel with LM inference, visiting a set of states each step.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3543300"/>
            <a:ext cx="5372100" cy="2324100"/>
            <a:chOff x="609600" y="3543300"/>
            <a:chExt cx="5372100" cy="2324100"/>
          </a:xfrm>
        </p:grpSpPr>
        <p:sp>
          <p:nvSpPr>
            <p:cNvPr id="42" name="Rectangle 42"/>
            <p:cNvSpPr/>
            <p:nvPr/>
          </p:nvSpPr>
          <p:spPr>
            <a:xfrm>
              <a:off x="609600" y="35433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6"/>
            </a:solidFill>
            <a:ln w="14288">
              <a:solidFill>
                <a:srgbClr val="F5B64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0392" y="3702368"/>
              <a:ext cx="2949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Move forward = follow pointers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1726" y="4016454"/>
              <a:ext cx="306060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Follow the pointers of entries whose value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1726" y="4216479"/>
              <a:ext cx="346434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matches the generated token. Essentially free.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143000" y="46672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77035" y="48791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1714500" y="4953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 cap="rnd">
              <a:solidFill>
                <a:srgbClr val="34D399"/>
              </a:solidFill>
            </a:ln>
          </p:spPr>
        </p:sp>
        <p:sp>
          <p:nvSpPr>
            <p:cNvPr id="49" name="Polyline 49"/>
            <p:cNvSpPr/>
            <p:nvPr/>
          </p:nvSpPr>
          <p:spPr>
            <a:xfrm>
              <a:off x="3353752" y="49129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34D399"/>
              </a:solidFill>
              <a:round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72068" y="4733449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free transition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3429000" y="46672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17034" y="487918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S′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2106" y="5472351"/>
              <a:ext cx="321671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No search needed while valid transitions remain.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10300" y="3543300"/>
            <a:ext cx="5372100" cy="2324100"/>
            <a:chOff x="6210300" y="3543300"/>
            <a:chExt cx="5372100" cy="2324100"/>
          </a:xfrm>
        </p:grpSpPr>
        <p:sp>
          <p:nvSpPr>
            <p:cNvPr id="55" name="Rectangle 55"/>
            <p:cNvSpPr/>
            <p:nvPr/>
          </p:nvSpPr>
          <p:spPr>
            <a:xfrm>
              <a:off x="6210300" y="35433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5"/>
            </a:solidFill>
            <a:ln w="13335">
              <a:solidFill>
                <a:srgbClr val="F8717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1092" y="3702368"/>
              <a:ext cx="3035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Search only when transitions &lt; 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2426" y="4016454"/>
              <a:ext cx="345961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 full kNN search is triggered, and restarts the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2426" y="4216479"/>
              <a:ext cx="329793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traversal, only when valid onward transitions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52426" y="4416504"/>
              <a:ext cx="171318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drop below threshold τ.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2616" y="4744402"/>
              <a:ext cx="3174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Transition weights are dynamic (hidden-state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52616" y="4944428"/>
              <a:ext cx="3342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distances), interpolated with the base LM by λ: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57950" y="5219700"/>
              <a:ext cx="4857750" cy="323850"/>
            </a:xfrm>
            <a:prstGeom prst="roundRect">
              <a:avLst>
                <a:gd name="adj" fmla="val 23529"/>
              </a:avLst>
            </a:prstGeom>
            <a:solidFill>
              <a:schemeClr val="accent6"/>
            </a:solidFill>
            <a:ln w="9525">
              <a:solidFill>
                <a:srgbClr val="2C3D6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7485" y="5307806"/>
              <a:ext cx="3507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 = λ · p_auto(w | c,S) + (1−λ) · p_LM(w | c)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52997" y="5666899"/>
              <a:ext cx="38621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τ trades accuracy (more searches) against speed (fewer).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2DD4BF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673967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Datasets: In-Domain and Domain Adaptation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609600" y="1104900"/>
            <a:ext cx="10972800" cy="685800"/>
            <a:chOff x="609600" y="1104900"/>
            <a:chExt cx="10972800" cy="68580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6858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3335">
              <a:solidFill>
                <a:srgbClr val="2DD4B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535" y="1288256"/>
              <a:ext cx="1013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Two settings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4654" y="1280160"/>
              <a:ext cx="6288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in-domain language modeling, and cross-domain adaptation to a new law corpus.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1943100"/>
            <a:ext cx="5372100" cy="2324100"/>
            <a:chOff x="609600" y="1943100"/>
            <a:chExt cx="5372100" cy="2324100"/>
          </a:xfrm>
        </p:grpSpPr>
        <p:sp>
          <p:nvSpPr>
            <p:cNvPr id="11" name="Rectangle 11"/>
            <p:cNvSpPr/>
            <p:nvPr/>
          </p:nvSpPr>
          <p:spPr>
            <a:xfrm>
              <a:off x="609600" y="19431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943100"/>
              <a:ext cx="57150" cy="2324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7161" y="2113121"/>
              <a:ext cx="2468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In-domain · WikiText-103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970" y="25193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103M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447" y="2866549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training tokens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03270" y="25193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247M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9747" y="2866549"/>
              <a:ext cx="949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param base LM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2970" y="322421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103M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447" y="3571399"/>
              <a:ext cx="1177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datastore entries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03270" y="3224212"/>
              <a:ext cx="4597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1M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9747" y="35713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clustered states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638" y="4070747"/>
              <a:ext cx="391120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Wikipedia benchmark · 250K val/test tokens · avg cluster ≈ 100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943100"/>
            <a:ext cx="5372100" cy="2324100"/>
            <a:chOff x="6210300" y="1943100"/>
            <a:chExt cx="5372100" cy="2324100"/>
          </a:xfrm>
        </p:grpSpPr>
        <p:sp>
          <p:nvSpPr>
            <p:cNvPr id="24" name="Rectangle 24"/>
            <p:cNvSpPr/>
            <p:nvPr/>
          </p:nvSpPr>
          <p:spPr>
            <a:xfrm>
              <a:off x="6210300" y="1943100"/>
              <a:ext cx="5372100" cy="2324100"/>
            </a:xfrm>
            <a:prstGeom prst="roundRect">
              <a:avLst>
                <a:gd name="adj" fmla="val 5738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10300" y="1943100"/>
              <a:ext cx="57150" cy="2324100"/>
            </a:xfrm>
            <a:prstGeom prst="roundRect">
              <a:avLst>
                <a:gd name="adj" fmla="val 5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07861" y="2113121"/>
              <a:ext cx="2783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Domain adaptation · Law-MT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3670" y="2519362"/>
              <a:ext cx="6445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19M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10147" y="2866549"/>
              <a:ext cx="10765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tokens (English)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3970" y="2519362"/>
              <a:ext cx="8293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656M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10447" y="2866549"/>
              <a:ext cx="9495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param base LM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3670" y="3224212"/>
              <a:ext cx="7621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200K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0147" y="3571399"/>
              <a:ext cx="11049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clustered states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03970" y="32242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≈100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10447" y="3571399"/>
              <a:ext cx="10389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avg cluster size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0338" y="4070747"/>
              <a:ext cx="37977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Law-domain corpus · automaton built for a brand-new domain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4419600"/>
            <a:ext cx="10972800" cy="1447800"/>
            <a:chOff x="609600" y="4419600"/>
            <a:chExt cx="10972800" cy="1447800"/>
          </a:xfrm>
        </p:grpSpPr>
        <p:sp>
          <p:nvSpPr>
            <p:cNvPr id="37" name="Rectangle 37"/>
            <p:cNvSpPr/>
            <p:nvPr/>
          </p:nvSpPr>
          <p:spPr>
            <a:xfrm>
              <a:off x="609600" y="4419600"/>
              <a:ext cx="10972800" cy="1447800"/>
            </a:xfrm>
            <a:prstGeom prst="roundRect">
              <a:avLst>
                <a:gd name="adj" fmla="val 9211"/>
              </a:avLst>
            </a:prstGeom>
            <a:solidFill>
              <a:schemeClr val="accent5"/>
            </a:solidFill>
            <a:ln w="12382">
              <a:solidFill>
                <a:srgbClr val="2C3D6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0773" y="4624864"/>
              <a:ext cx="27597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Baselines compared throughout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250" y="4972050"/>
              <a:ext cx="285750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4288">
              <a:solidFill>
                <a:srgbClr val="F8717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0130" y="5095875"/>
              <a:ext cx="790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kNN-LM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2797" y="5381149"/>
              <a:ext cx="15945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original retrieval LM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905250" y="4972050"/>
              <a:ext cx="285750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4288">
              <a:solidFill>
                <a:srgbClr val="F8717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088130" y="5095875"/>
              <a:ext cx="961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AdaptRet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90797" y="5381149"/>
              <a:ext cx="1932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Adaptive Retrieval (MLP skip)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953250" y="4972050"/>
              <a:ext cx="4629150" cy="628650"/>
            </a:xfrm>
            <a:prstGeom prst="roundRect">
              <a:avLst>
                <a:gd name="adj" fmla="val 15152"/>
              </a:avLst>
            </a:prstGeom>
            <a:solidFill>
              <a:schemeClr val="accent6"/>
            </a:solidFill>
            <a:ln w="14288">
              <a:solidFill>
                <a:srgbClr val="34D3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36130" y="5095875"/>
              <a:ext cx="11209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8797" y="5381149"/>
              <a:ext cx="34664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pointer + cluster automaton over the same datastore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727653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Key Result: Fewer Searches, Lower Perplexity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1104900"/>
            <a:ext cx="10972800" cy="552450"/>
            <a:chOff x="609600" y="1104900"/>
            <a:chExt cx="10972800" cy="5524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chemeClr val="accent6"/>
            </a:solidFill>
            <a:ln w="13335">
              <a:solidFill>
                <a:srgbClr val="34D39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0773" y="1291114"/>
              <a:ext cx="8297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Results are strong in both regimes, matching or beating kNN-LM at a fraction of the search cost.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90658" y="1790700"/>
            <a:ext cx="5491042" cy="2724150"/>
            <a:chOff x="490658" y="1790700"/>
            <a:chExt cx="5491042" cy="2724150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5372100" cy="2724150"/>
            </a:xfrm>
            <a:prstGeom prst="roundRect">
              <a:avLst>
                <a:gd name="adj" fmla="val 4895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2673" y="1957864"/>
              <a:ext cx="11689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WikiText-103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162050" y="23241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162050" y="39243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0976" y="38814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0976" y="23193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64776" y="4307443"/>
              <a:ext cx="20903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Fraction of Saved Searches (FoSS) 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 rot="-5400000">
              <a:off x="490658" y="3043238"/>
              <a:ext cx="5645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Perplexity</a:t>
              </a:r>
            </a:p>
          </p:txBody>
        </p:sp>
        <p:sp>
          <p:nvSpPr>
            <p:cNvPr id="18" name="Polyline 18"/>
            <p:cNvSpPr/>
            <p:nvPr/>
          </p:nvSpPr>
          <p:spPr>
            <a:xfrm>
              <a:off x="1162050" y="2484120"/>
              <a:ext cx="4046220" cy="1232535"/>
            </a:xfrm>
            <a:custGeom>
              <a:avLst/>
              <a:gdLst/>
              <a:ahLst/>
              <a:cxnLst/>
              <a:rect l="l" t="t" r="r" b="b"/>
              <a:pathLst>
                <a:path w="4046220" h="1232535">
                  <a:moveTo>
                    <a:pt x="0" y="1232535"/>
                  </a:moveTo>
                  <a:lnTo>
                    <a:pt x="1798320" y="1087755"/>
                  </a:lnTo>
                  <a:lnTo>
                    <a:pt x="3147060" y="736283"/>
                  </a:lnTo>
                  <a:lnTo>
                    <a:pt x="4046220" y="0"/>
                  </a:lnTo>
                </a:path>
              </a:pathLst>
            </a:custGeom>
            <a:noFill/>
            <a:ln w="26670">
              <a:solidFill>
                <a:srgbClr val="F87171"/>
              </a:solidFill>
              <a:round/>
            </a:ln>
          </p:spPr>
        </p:sp>
        <p:sp>
          <p:nvSpPr>
            <p:cNvPr id="19" name="Ellipse 19"/>
            <p:cNvSpPr/>
            <p:nvPr/>
          </p:nvSpPr>
          <p:spPr>
            <a:xfrm>
              <a:off x="1131570" y="3686175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929890" y="3541395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278630" y="3189923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177790" y="2453640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1162050" y="3540442"/>
              <a:ext cx="4046220" cy="358140"/>
            </a:xfrm>
            <a:custGeom>
              <a:avLst/>
              <a:gdLst/>
              <a:ahLst/>
              <a:cxnLst/>
              <a:rect l="l" t="t" r="r" b="b"/>
              <a:pathLst>
                <a:path w="4046220" h="358140">
                  <a:moveTo>
                    <a:pt x="0" y="358140"/>
                  </a:moveTo>
                  <a:lnTo>
                    <a:pt x="1798320" y="320040"/>
                  </a:lnTo>
                  <a:lnTo>
                    <a:pt x="3147060" y="191453"/>
                  </a:lnTo>
                  <a:lnTo>
                    <a:pt x="3641408" y="176212"/>
                  </a:lnTo>
                  <a:lnTo>
                    <a:pt x="4046220" y="0"/>
                  </a:lnTo>
                </a:path>
              </a:pathLst>
            </a:custGeom>
            <a:noFill/>
            <a:ln w="26670">
              <a:solidFill>
                <a:srgbClr val="34D399"/>
              </a:solidFill>
              <a:round/>
            </a:ln>
          </p:spPr>
        </p:sp>
        <p:sp>
          <p:nvSpPr>
            <p:cNvPr id="24" name="Ellipse 24"/>
            <p:cNvSpPr/>
            <p:nvPr/>
          </p:nvSpPr>
          <p:spPr>
            <a:xfrm>
              <a:off x="1131570" y="3868102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29890" y="3830002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278630" y="3701415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772978" y="3686175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177790" y="3509962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33900" y="22098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00588" y="2168366"/>
              <a:ext cx="413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533900" y="238125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00588" y="2339816"/>
              <a:ext cx="58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388" y="4131945"/>
              <a:ext cx="29655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Matches kNN-LM while skipping 81% of searches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1358" y="1790700"/>
            <a:ext cx="5491042" cy="2724150"/>
            <a:chOff x="6091358" y="1790700"/>
            <a:chExt cx="5491042" cy="2724150"/>
          </a:xfrm>
        </p:grpSpPr>
        <p:sp>
          <p:nvSpPr>
            <p:cNvPr id="35" name="Rectangle 35"/>
            <p:cNvSpPr/>
            <p:nvPr/>
          </p:nvSpPr>
          <p:spPr>
            <a:xfrm>
              <a:off x="6210300" y="1790700"/>
              <a:ext cx="5372100" cy="2724150"/>
            </a:xfrm>
            <a:prstGeom prst="roundRect">
              <a:avLst>
                <a:gd name="adj" fmla="val 4895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3373" y="1957864"/>
              <a:ext cx="2548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Law-MT (domain adaptation)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762750" y="23241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762750" y="39243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11430" cap="rnd">
              <a:solidFill>
                <a:srgbClr val="9FB0C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1676" y="38814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1676" y="2319338"/>
              <a:ext cx="1205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65476" y="4307443"/>
              <a:ext cx="2090348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Fraction of Saved Searches (FoSS) 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 rot="-5400000">
              <a:off x="6091358" y="3043238"/>
              <a:ext cx="5645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Perplexity</a:t>
              </a:r>
            </a:p>
          </p:txBody>
        </p:sp>
        <p:sp>
          <p:nvSpPr>
            <p:cNvPr id="43" name="Polyline 43"/>
            <p:cNvSpPr/>
            <p:nvPr/>
          </p:nvSpPr>
          <p:spPr>
            <a:xfrm>
              <a:off x="6762750" y="2418398"/>
              <a:ext cx="3596640" cy="1285875"/>
            </a:xfrm>
            <a:custGeom>
              <a:avLst/>
              <a:gdLst/>
              <a:ahLst/>
              <a:cxnLst/>
              <a:rect l="l" t="t" r="r" b="b"/>
              <a:pathLst>
                <a:path w="3596640" h="1285875">
                  <a:moveTo>
                    <a:pt x="0" y="1285875"/>
                  </a:moveTo>
                  <a:lnTo>
                    <a:pt x="1348740" y="1129665"/>
                  </a:lnTo>
                  <a:lnTo>
                    <a:pt x="2697480" y="705802"/>
                  </a:lnTo>
                  <a:lnTo>
                    <a:pt x="3596640" y="0"/>
                  </a:lnTo>
                </a:path>
              </a:pathLst>
            </a:custGeom>
            <a:noFill/>
            <a:ln w="26670">
              <a:solidFill>
                <a:srgbClr val="F87171"/>
              </a:solidFill>
              <a:round/>
            </a:ln>
          </p:spPr>
        </p:sp>
        <p:sp>
          <p:nvSpPr>
            <p:cNvPr id="44" name="Ellipse 44"/>
            <p:cNvSpPr/>
            <p:nvPr/>
          </p:nvSpPr>
          <p:spPr>
            <a:xfrm>
              <a:off x="6732270" y="3673792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081010" y="3517582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429750" y="3093720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328910" y="2387918"/>
              <a:ext cx="60960" cy="6096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48" name="Polyline 48"/>
            <p:cNvSpPr/>
            <p:nvPr/>
          </p:nvSpPr>
          <p:spPr>
            <a:xfrm>
              <a:off x="6762750" y="3623310"/>
              <a:ext cx="3596640" cy="255270"/>
            </a:xfrm>
            <a:custGeom>
              <a:avLst/>
              <a:gdLst/>
              <a:ahLst/>
              <a:cxnLst/>
              <a:rect l="l" t="t" r="r" b="b"/>
              <a:pathLst>
                <a:path w="3596640" h="255270">
                  <a:moveTo>
                    <a:pt x="0" y="255270"/>
                  </a:moveTo>
                  <a:lnTo>
                    <a:pt x="1348740" y="216218"/>
                  </a:lnTo>
                  <a:lnTo>
                    <a:pt x="2697480" y="131445"/>
                  </a:lnTo>
                  <a:lnTo>
                    <a:pt x="3596640" y="0"/>
                  </a:lnTo>
                </a:path>
              </a:pathLst>
            </a:custGeom>
            <a:noFill/>
            <a:ln w="26670">
              <a:solidFill>
                <a:srgbClr val="34D399"/>
              </a:solidFill>
              <a:round/>
            </a:ln>
          </p:spPr>
        </p:sp>
        <p:sp>
          <p:nvSpPr>
            <p:cNvPr id="49" name="Ellipse 49"/>
            <p:cNvSpPr/>
            <p:nvPr/>
          </p:nvSpPr>
          <p:spPr>
            <a:xfrm>
              <a:off x="6732270" y="3848100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081010" y="3809048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429750" y="3724275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328910" y="3592830"/>
              <a:ext cx="60960" cy="6096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134600" y="22098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01288" y="2168366"/>
              <a:ext cx="4133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134600" y="238125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01288" y="2339816"/>
              <a:ext cx="5851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RetoMaton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15088" y="4131945"/>
              <a:ext cx="28921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12.34 → 10.49 at FoSS=0; degrades only gently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" y="4667250"/>
            <a:ext cx="10972800" cy="1200150"/>
            <a:chOff x="609600" y="4667250"/>
            <a:chExt cx="10972800" cy="1200150"/>
          </a:xfrm>
        </p:grpSpPr>
        <p:sp>
          <p:nvSpPr>
            <p:cNvPr id="59" name="Rectangle 59"/>
            <p:cNvSpPr/>
            <p:nvPr/>
          </p:nvSpPr>
          <p:spPr>
            <a:xfrm>
              <a:off x="609600" y="4667250"/>
              <a:ext cx="10972800" cy="120015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14288">
              <a:solidFill>
                <a:srgbClr val="34D399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0773" y="4834414"/>
              <a:ext cx="4931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Overall: two ways to spend the automaton's advantage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5796" y="5287328"/>
              <a:ext cx="1017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−1.85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566035" y="53268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lower perplexity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66797" y="5552599"/>
              <a:ext cx="2015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when the search budget is kept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334000" y="514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3335" cap="rnd">
              <a:solidFill>
                <a:srgbClr val="2C3D6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83046" y="5287328"/>
              <a:ext cx="6927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47535" y="5326856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searches saved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48297" y="5552599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with no loss in perplexity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315450" y="51435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3335" cap="rnd">
              <a:solidFill>
                <a:srgbClr val="2C3D6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82138" y="5289947"/>
              <a:ext cx="14276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WikiText 16.65 → 16.08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82138" y="5537597"/>
              <a:ext cx="15324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 ppl rises sharply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F5B642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519035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Ablation: Pointers vs. Clustering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1104900"/>
            <a:ext cx="10972800" cy="533400"/>
            <a:chOff x="609600" y="1104900"/>
            <a:chExt cx="10972800" cy="53340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533400"/>
            </a:xfrm>
            <a:prstGeom prst="roundRect">
              <a:avLst>
                <a:gd name="adj" fmla="val 21429"/>
              </a:avLst>
            </a:prstGeom>
            <a:solidFill>
              <a:schemeClr val="accent6"/>
            </a:solidFill>
            <a:ln w="12382">
              <a:solidFill>
                <a:srgbClr val="F5B64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299210"/>
              <a:ext cx="7879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ablation teases apart the two ingredients that make RetoMaton work: pointers and clustering.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771650"/>
            <a:ext cx="5372100" cy="2012823"/>
            <a:chOff x="609600" y="1771650"/>
            <a:chExt cx="5372100" cy="2012823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72100" cy="1981200"/>
            </a:xfrm>
            <a:prstGeom prst="roundRect">
              <a:avLst>
                <a:gd name="adj" fmla="val 6731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7716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rgbClr val="F5B64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7923" y="1957864"/>
              <a:ext cx="2687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Pointers alone (no clustering)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876" y="2244804"/>
              <a:ext cx="297990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Already beats every baseline and matches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876" y="2444829"/>
              <a:ext cx="299476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kNN-LM. Pointers drive most of the gain.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2208" y="284607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16.12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94916" y="29156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perplexity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95488" y="3122295"/>
              <a:ext cx="669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at FoSS =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3732" y="33737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&gt;60%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95297" y="349519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searches saved at matched perplexity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771650"/>
            <a:ext cx="5372100" cy="2060257"/>
            <a:chOff x="6210300" y="1771650"/>
            <a:chExt cx="5372100" cy="2060257"/>
          </a:xfrm>
        </p:grpSpPr>
        <p:sp>
          <p:nvSpPr>
            <p:cNvPr id="21" name="Rectangle 21"/>
            <p:cNvSpPr/>
            <p:nvPr/>
          </p:nvSpPr>
          <p:spPr>
            <a:xfrm>
              <a:off x="6210300" y="1771650"/>
              <a:ext cx="5372100" cy="1981200"/>
            </a:xfrm>
            <a:prstGeom prst="roundRect">
              <a:avLst>
                <a:gd name="adj" fmla="val 6731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10300" y="1771650"/>
              <a:ext cx="57150" cy="1981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08623" y="1957864"/>
              <a:ext cx="2696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Clustering helps at high saving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09576" y="2244804"/>
              <a:ext cx="328135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Contributes mainly from ≈70% saved searches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9576" y="2444829"/>
              <a:ext cx="309250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onward, enabling longer search-free runs.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3448050"/>
              <a:ext cx="533400" cy="171450"/>
            </a:xfrm>
            <a:prstGeom prst="roundRect">
              <a:avLst>
                <a:gd name="adj" fmla="val 2777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294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81900" y="3295650"/>
              <a:ext cx="533400" cy="323850"/>
            </a:xfrm>
            <a:prstGeom prst="roundRect">
              <a:avLst>
                <a:gd name="adj" fmla="val 147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438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496300" y="3009900"/>
              <a:ext cx="533400" cy="609600"/>
            </a:xfrm>
            <a:prstGeom prst="roundRect">
              <a:avLst>
                <a:gd name="adj" fmla="val 89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582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410700" y="2743200"/>
              <a:ext cx="533400" cy="876300"/>
            </a:xfrm>
            <a:prstGeom prst="roundRect">
              <a:avLst>
                <a:gd name="adj" fmla="val 89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72682" y="365569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22319" y="28174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cluster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19334" y="296989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benefit ↑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3924300"/>
            <a:ext cx="10972800" cy="1943100"/>
            <a:chOff x="609600" y="3924300"/>
            <a:chExt cx="10972800" cy="1943100"/>
          </a:xfrm>
        </p:grpSpPr>
        <p:sp>
          <p:nvSpPr>
            <p:cNvPr id="37" name="Rectangle 37"/>
            <p:cNvSpPr/>
            <p:nvPr/>
          </p:nvSpPr>
          <p:spPr>
            <a:xfrm>
              <a:off x="609600" y="3924300"/>
              <a:ext cx="10972800" cy="1943100"/>
            </a:xfrm>
            <a:prstGeom prst="roundRect">
              <a:avLst>
                <a:gd name="adj" fmla="val 6863"/>
              </a:avLst>
            </a:prstGeom>
            <a:solidFill>
              <a:schemeClr val="accent5"/>
            </a:solidFill>
            <a:ln w="12382">
              <a:solidFill>
                <a:srgbClr val="2C3D6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0773" y="4110514"/>
              <a:ext cx="3388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Clustering granularity (WikiText-103)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250" y="4476750"/>
              <a:ext cx="33147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F8717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9368" y="4679632"/>
              <a:ext cx="952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100K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2416" y="4973002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too coarse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00550" y="4476750"/>
              <a:ext cx="33147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34D3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82668" y="4679632"/>
              <a:ext cx="952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500K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85716" y="49730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good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943850" y="4476750"/>
              <a:ext cx="3314700" cy="685800"/>
            </a:xfrm>
            <a:prstGeom prst="roundRect">
              <a:avLst>
                <a:gd name="adj" fmla="val 13889"/>
              </a:avLst>
            </a:prstGeom>
            <a:solidFill>
              <a:schemeClr val="accent6"/>
            </a:solidFill>
            <a:ln w="14288">
              <a:solidFill>
                <a:srgbClr val="34D39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25968" y="4679632"/>
              <a:ext cx="7362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1M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29016" y="4973002"/>
              <a:ext cx="1620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good (similar to 500K)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1916" y="5449252"/>
              <a:ext cx="5002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cheaper greedy merge wins at FoSS = 0 but degrades as FoSS grows.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43475" y="5457349"/>
              <a:ext cx="3796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98% of val tokens fall in n&gt;1 automaton-continued n-grams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266649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09600" y="1104900"/>
            <a:ext cx="10972800" cy="514350"/>
            <a:chOff x="609600" y="1104900"/>
            <a:chExt cx="10972800" cy="514350"/>
          </a:xfrm>
        </p:grpSpPr>
        <p:sp>
          <p:nvSpPr>
            <p:cNvPr id="7" name="Rectangle 7"/>
            <p:cNvSpPr/>
            <p:nvPr/>
          </p:nvSpPr>
          <p:spPr>
            <a:xfrm>
              <a:off x="609600" y="1104900"/>
              <a:ext cx="10972800" cy="514350"/>
            </a:xfrm>
            <a:prstGeom prst="roundRect">
              <a:avLst>
                <a:gd name="adj" fmla="val 22222"/>
              </a:avLst>
            </a:prstGeom>
            <a:solidFill>
              <a:schemeClr val="accent6"/>
            </a:solidFill>
            <a:ln w="12382">
              <a:solidFill>
                <a:srgbClr val="34D39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154" y="1299210"/>
              <a:ext cx="7869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 to remember: two ways to spend the automaton's savings, and a big domain-adaptation win.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771650"/>
            <a:ext cx="5372100" cy="1866900"/>
            <a:chOff x="609600" y="1771650"/>
            <a:chExt cx="5372100" cy="18669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71650"/>
              <a:ext cx="53721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34D3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1154" y="1965960"/>
              <a:ext cx="1128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Save compute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8200" y="23393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83%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0904" y="2556510"/>
              <a:ext cx="1918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fewer nearest-neighbor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60904" y="2804160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searches, no perplexity loss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106" y="3243501"/>
              <a:ext cx="389212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or lower perplexity by up to 1.85 when the budget is kept.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10300" y="1771650"/>
            <a:ext cx="5372100" cy="1866900"/>
            <a:chOff x="6210300" y="1771650"/>
            <a:chExt cx="5372100" cy="1866900"/>
          </a:xfrm>
        </p:grpSpPr>
        <p:sp>
          <p:nvSpPr>
            <p:cNvPr id="17" name="Rectangle 17"/>
            <p:cNvSpPr/>
            <p:nvPr/>
          </p:nvSpPr>
          <p:spPr>
            <a:xfrm>
              <a:off x="6210300" y="1771650"/>
              <a:ext cx="53721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51854" y="1965960"/>
              <a:ext cx="1095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WikiText-103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38900" y="23393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81%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61604" y="255651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searches skipped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1604" y="2804160"/>
              <a:ext cx="1795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while matching kNN-LM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2806" y="3243501"/>
              <a:ext cx="380374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pointers-only already saves &gt;60% at matched perplexity.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810000"/>
            <a:ext cx="10972800" cy="2057400"/>
            <a:chOff x="609600" y="3810000"/>
            <a:chExt cx="10972800" cy="2057400"/>
          </a:xfrm>
        </p:grpSpPr>
        <p:sp>
          <p:nvSpPr>
            <p:cNvPr id="24" name="Rectangle 24"/>
            <p:cNvSpPr/>
            <p:nvPr/>
          </p:nvSpPr>
          <p:spPr>
            <a:xfrm>
              <a:off x="609600" y="3810000"/>
              <a:ext cx="10972800" cy="2057400"/>
            </a:xfrm>
            <a:prstGeom prst="roundRect">
              <a:avLst>
                <a:gd name="adj" fmla="val 6481"/>
              </a:avLst>
            </a:prstGeom>
            <a:solidFill>
              <a:schemeClr val="accent6"/>
            </a:solidFill>
            <a:ln w="14288">
              <a:solidFill>
                <a:srgbClr val="F5B64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0392" y="4007168"/>
              <a:ext cx="2736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Fine-tuned Law-domain model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0200" y="4570095"/>
              <a:ext cx="125089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87171"/>
                  </a:solidFill>
                  <a:latin typeface="+mn-lt"/>
                  <a:ea typeface="+mn-ea"/>
                  <a:cs typeface="+mn-cs"/>
                </a:rPr>
                <a:t>8.61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4297" y="5152549"/>
              <a:ext cx="1218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base LM perplexity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2857500" y="48196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32385" cap="rnd">
              <a:solidFill>
                <a:srgbClr val="34D399"/>
              </a:solidFill>
            </a:ln>
          </p:spPr>
        </p:sp>
        <p:sp>
          <p:nvSpPr>
            <p:cNvPr id="29" name="Polyline 29"/>
            <p:cNvSpPr/>
            <p:nvPr/>
          </p:nvSpPr>
          <p:spPr>
            <a:xfrm>
              <a:off x="4020502" y="477964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32385" cap="rnd">
              <a:solidFill>
                <a:srgbClr val="34D399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57700" y="4570095"/>
              <a:ext cx="125089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7.10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71797" y="5152549"/>
              <a:ext cx="811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+ RetoMaton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4629150"/>
              <a:ext cx="3143250" cy="495300"/>
            </a:xfrm>
            <a:prstGeom prst="roundRect">
              <a:avLst>
                <a:gd name="adj" fmla="val 19231"/>
              </a:avLst>
            </a:prstGeom>
            <a:noFill/>
            <a:ln w="17145">
              <a:solidFill>
                <a:srgbClr val="34D39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3199" y="4773454"/>
              <a:ext cx="29193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−17.5% relative perplexity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86106" y="5281851"/>
              <a:ext cx="439316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The automaton compounds with fine-tuning, not just base models.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94640" y="43714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Reduces perplexity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3244" y="4371499"/>
              <a:ext cx="8964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by up to 1.85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216298" y="6513195"/>
            <a:ext cx="13708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ICML 2022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19100"/>
            <a:ext cx="57150" cy="32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32485" y="450056"/>
            <a:ext cx="2057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770" y="519112"/>
            <a:ext cx="149619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6" name="Line 6"/>
          <p:cNvSpPr/>
          <p:nvPr/>
        </p:nvSpPr>
        <p:spPr>
          <a:xfrm>
            <a:off x="609600" y="914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1430" cap="rnd">
            <a:solidFill>
              <a:srgbClr val="2C3D63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609600" y="1143000"/>
            <a:ext cx="10972800" cy="1181100"/>
            <a:chOff x="609600" y="1143000"/>
            <a:chExt cx="10972800" cy="1181100"/>
          </a:xfrm>
        </p:grpSpPr>
        <p:sp>
          <p:nvSpPr>
            <p:cNvPr id="7" name="Rectangle 7"/>
            <p:cNvSpPr/>
            <p:nvPr/>
          </p:nvSpPr>
          <p:spPr>
            <a:xfrm>
              <a:off x="609600" y="1143000"/>
              <a:ext cx="10972800" cy="1181100"/>
            </a:xfrm>
            <a:prstGeom prst="roundRect">
              <a:avLst>
                <a:gd name="adj" fmla="val 12903"/>
              </a:avLst>
            </a:prstGeom>
            <a:solidFill>
              <a:schemeClr val="accent6"/>
            </a:solidFill>
            <a:ln w="1524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411605"/>
              <a:ext cx="79269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retrieval datastore has structure worth exploiting.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494" y="1855708"/>
              <a:ext cx="739536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Pointers link consecutive entries and clusters group similar ones, so the model carries retrieval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8494" y="2065258"/>
              <a:ext cx="5141641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forward in time instead of searching from scratch at every token.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514600"/>
            <a:ext cx="5372100" cy="2209800"/>
            <a:chOff x="609600" y="2514600"/>
            <a:chExt cx="5372100" cy="2209800"/>
          </a:xfrm>
        </p:grpSpPr>
        <p:sp>
          <p:nvSpPr>
            <p:cNvPr id="12" name="Rectangle 12"/>
            <p:cNvSpPr/>
            <p:nvPr/>
          </p:nvSpPr>
          <p:spPr>
            <a:xfrm>
              <a:off x="609600" y="2514600"/>
              <a:ext cx="5372100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0773" y="2700814"/>
              <a:ext cx="129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The mechanism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143000" y="33337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2DD4B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9499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DD4B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714500" y="3619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</a:ln>
          </p:spPr>
        </p:sp>
        <p:sp>
          <p:nvSpPr>
            <p:cNvPr id="17" name="Polyline 17"/>
            <p:cNvSpPr/>
            <p:nvPr/>
          </p:nvSpPr>
          <p:spPr>
            <a:xfrm>
              <a:off x="2782252" y="35794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F5B642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63153" y="340804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5B642"/>
                  </a:solidFill>
                  <a:latin typeface="+mn-lt"/>
                  <a:ea typeface="+mn-ea"/>
                  <a:cs typeface="+mn-cs"/>
                </a:rPr>
                <a:t>pointer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857500" y="33337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50463" y="3545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q′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429000" y="3619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4765" cap="rnd">
              <a:solidFill>
                <a:srgbClr val="34D399"/>
              </a:solidFill>
            </a:ln>
          </p:spPr>
        </p:sp>
        <p:sp>
          <p:nvSpPr>
            <p:cNvPr id="22" name="Polyline 22"/>
            <p:cNvSpPr/>
            <p:nvPr/>
          </p:nvSpPr>
          <p:spPr>
            <a:xfrm>
              <a:off x="4496752" y="3579495"/>
              <a:ext cx="75247" cy="80010"/>
            </a:xfrm>
            <a:custGeom>
              <a:avLst/>
              <a:gdLst/>
              <a:ahLst/>
              <a:cxnLst/>
              <a:rect l="l" t="t" r="r" b="b"/>
              <a:pathLst>
                <a:path w="75247" h="80010">
                  <a:moveTo>
                    <a:pt x="0" y="80010"/>
                  </a:moveTo>
                  <a:lnTo>
                    <a:pt x="75247" y="40005"/>
                  </a:lnTo>
                  <a:lnTo>
                    <a:pt x="0" y="0"/>
                  </a:lnTo>
                </a:path>
              </a:pathLst>
            </a:custGeom>
            <a:noFill/>
            <a:ln w="24765" cap="rnd">
              <a:solidFill>
                <a:srgbClr val="34D399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59524" y="3408045"/>
              <a:ext cx="6819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skip search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572000" y="3333750"/>
              <a:ext cx="571500" cy="571500"/>
            </a:xfrm>
            <a:prstGeom prst="ellipse">
              <a:avLst/>
            </a:prstGeom>
            <a:solidFill>
              <a:schemeClr val="accent5"/>
            </a:solidFill>
            <a:ln w="22860">
              <a:solidFill>
                <a:srgbClr val="34D39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64963" y="3545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q″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916" y="4134802"/>
              <a:ext cx="4022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Link consecutive entries · group similar ones into states.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916" y="4363402"/>
              <a:ext cx="3782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A full search fires only when transitions drop below τ.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10300" y="2514600"/>
            <a:ext cx="5372100" cy="2209800"/>
            <a:chOff x="6210300" y="2514600"/>
            <a:chExt cx="5372100" cy="2209800"/>
          </a:xfrm>
        </p:grpSpPr>
        <p:sp>
          <p:nvSpPr>
            <p:cNvPr id="29" name="Rectangle 29"/>
            <p:cNvSpPr/>
            <p:nvPr/>
          </p:nvSpPr>
          <p:spPr>
            <a:xfrm>
              <a:off x="6210300" y="2514600"/>
              <a:ext cx="5372100" cy="2209800"/>
            </a:xfrm>
            <a:prstGeom prst="roundRect">
              <a:avLst>
                <a:gd name="adj" fmla="val 6034"/>
              </a:avLst>
            </a:prstGeom>
            <a:solidFill>
              <a:schemeClr val="accent5"/>
            </a:solidFill>
            <a:ln w="14288">
              <a:solidFill>
                <a:srgbClr val="2C3D6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1473" y="2700814"/>
              <a:ext cx="134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99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6050" y="31051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1976" y="3073479"/>
              <a:ext cx="295814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Unsupervised, works with any base model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6050" y="34099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1976" y="3378279"/>
              <a:ext cx="187203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Transfers across domains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6050" y="37147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61976" y="3683079"/>
              <a:ext cx="315599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Unifies token, chunk and sequence retrieval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6050" y="40195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61976" y="3987879"/>
              <a:ext cx="290187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Cuts the dominant cost of retrieval LMs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96050" y="4324350"/>
              <a:ext cx="76200" cy="76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61976" y="4292679"/>
              <a:ext cx="320924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rgbClr val="9FB0CC"/>
                  </a:solidFill>
                  <a:latin typeface="+mn-lt"/>
                  <a:ea typeface="+mn-ea"/>
                  <a:cs typeface="+mn-cs"/>
                </a:rPr>
                <a:t>Up to 83% fewer searches, or 1.85 lower ppl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09600" y="4914900"/>
            <a:ext cx="10972800" cy="6858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1430">
            <a:solidFill>
              <a:srgbClr val="2C3D63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51535" y="5212556"/>
            <a:ext cx="46364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FB0CC"/>
                </a:solidFill>
                <a:latin typeface="+mn-lt"/>
                <a:ea typeface="+mn-ea"/>
                <a:cs typeface="+mn-cs"/>
              </a:rPr>
              <a:t>RetoMaton · Alon, Xu, He, Sengupta, Roth, Neubig · ICML 2022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40242" y="5220652"/>
            <a:ext cx="21998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github.com/neulab/retomaton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E9EEF8"/>
      </a:dk1>
      <a:lt1>
        <a:srgbClr val="0D1526"/>
      </a:lt1>
      <a:dk2>
        <a:srgbClr val="E9EEF8"/>
      </a:dk2>
      <a:lt2>
        <a:srgbClr val="0D1526"/>
      </a:lt2>
      <a:accent1>
        <a:srgbClr val="4DA3FF"/>
      </a:accent1>
      <a:accent2>
        <a:srgbClr val="4DA3FF"/>
      </a:accent2>
      <a:accent3>
        <a:srgbClr val="4DA3FF"/>
      </a:accent3>
      <a:accent4>
        <a:srgbClr val="8064A2"/>
      </a:accent4>
      <a:accent5>
        <a:srgbClr val="172038"/>
      </a:accent5>
      <a:accent6>
        <a:srgbClr val="1E2B4A"/>
      </a:accent6>
      <a:hlink>
        <a:srgbClr val="4DA3FF"/>
      </a:hlink>
      <a:folHlink>
        <a:srgbClr val="4DA3FF"/>
      </a:folHlink>
    </a:clrScheme>
    <a:fontScheme name="Free Design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2026-07-16T15:51:40Z</dcterms:created>
  <dcterms:modified xsi:type="dcterms:W3CDTF">2026-07-16T15:51:40Z</dcterms:modified>
  <cp:category/>
  <cp:contentStatus/>
</cp:coreProperties>
</file>
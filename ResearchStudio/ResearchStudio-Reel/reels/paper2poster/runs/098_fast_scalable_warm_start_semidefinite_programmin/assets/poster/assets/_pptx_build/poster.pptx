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374852"/>
          </a:xfrm>
          <a:prstGeom prst="roundRect">
            <a:avLst>
              <a:gd name="adj" fmla="val 3251"/>
            </a:avLst>
          </a:prstGeom>
          <a:solidFill>
            <a:srgbClr val="F6E7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548193"/>
            <a:ext cx="16349682" cy="588462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548193"/>
            <a:ext cx="160020" cy="588462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28289" y="5548193"/>
            <a:ext cx="16349682" cy="1317192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5548193"/>
            <a:ext cx="160020" cy="13171924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4691" y="5548193"/>
            <a:ext cx="16349821" cy="1230542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5548193"/>
            <a:ext cx="160020" cy="12305427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1764664"/>
            <a:ext cx="16349682" cy="949549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1764664"/>
            <a:ext cx="160020" cy="9495493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18185467"/>
            <a:ext cx="16349821" cy="548665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18185467"/>
            <a:ext cx="160020" cy="548665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28289" y="19051964"/>
            <a:ext cx="16349682" cy="1101998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28289" y="19051964"/>
            <a:ext cx="160020" cy="1101998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887" y="21592004"/>
            <a:ext cx="16349682" cy="847994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887" y="21592004"/>
            <a:ext cx="160020" cy="847994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04691" y="24003972"/>
            <a:ext cx="16349821" cy="6067980"/>
          </a:xfrm>
          <a:prstGeom prst="rect">
            <a:avLst/>
          </a:prstGeom>
          <a:solidFill>
            <a:srgbClr val="F7EDEE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04691" y="24003972"/>
            <a:ext cx="53340" cy="6067980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8038643" y="8952507"/>
            <a:ext cx="15351224" cy="1437541"/>
          </a:xfrm>
          <a:prstGeom prst="roundRect">
            <a:avLst>
              <a:gd name="adj" fmla="val 15673"/>
            </a:avLst>
          </a:prstGeom>
          <a:solidFill>
            <a:srgbClr val="F8F2F3"/>
          </a:solidFill>
          <a:ln w="8890">
            <a:solidFill>
              <a:srgbClr val="DBB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2241" y="9568001"/>
            <a:ext cx="15351224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2241" y="9568001"/>
            <a:ext cx="124460" cy="1481018"/>
          </a:xfrm>
          <a:prstGeom prst="rect">
            <a:avLst/>
          </a:prstGeom>
          <a:solidFill>
            <a:srgbClr val="8F24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15045" y="16471919"/>
            <a:ext cx="15351363" cy="8963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815045" y="16471919"/>
            <a:ext cx="15351363" cy="11557"/>
          </a:xfrm>
          <a:prstGeom prst="rect">
            <a:avLst/>
          </a:prstGeom>
          <a:solidFill>
            <a:srgbClr val="D8B3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815045" y="19675931"/>
            <a:ext cx="15351363" cy="3666291"/>
          </a:xfrm>
          <a:prstGeom prst="roundRect">
            <a:avLst>
              <a:gd name="adj" fmla="val 1939"/>
            </a:avLst>
          </a:prstGeom>
          <a:gradFill rotWithShape="1" flip="none">
            <a:gsLst>
              <a:gs pos="0">
                <a:srgbClr val="F2E5E7"/>
              </a:gs>
              <a:gs pos="100000">
                <a:srgbClr val="F8F2F3"/>
              </a:gs>
            </a:gsLst>
            <a:lin ang="5400000" scaled="0"/>
          </a:gradFill>
          <a:ln w="8890">
            <a:solidFill>
              <a:srgbClr val="E3C8CD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62241" y="23355280"/>
            <a:ext cx="15351224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62241" y="23355280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08365" y="26046449"/>
            <a:ext cx="15458043" cy="3702824"/>
          </a:xfrm>
          <a:prstGeom prst="roundRect">
            <a:avLst>
              <a:gd name="adj" fmla="val 5634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anning-college-of-information-and-computer-sciences-university-of-massachusetts-amher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5274" y="3677821"/>
            <a:ext cx="3245544" cy="40893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4815045" y="11219318"/>
            <a:ext cx="15351363" cy="4342349"/>
          </a:xfrm>
          <a:prstGeom prst="roundRect">
            <a:avLst>
              <a:gd name="adj" fmla="val 81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15224" y="11219318"/>
            <a:ext cx="15351006" cy="434234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262241" y="18026141"/>
            <a:ext cx="7156866" cy="2853274"/>
          </a:xfrm>
          <a:prstGeom prst="roundRect">
            <a:avLst>
              <a:gd name="adj" fmla="val 7311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56598" y="18026141"/>
            <a:ext cx="7156867" cy="2853274"/>
          </a:xfrm>
          <a:prstGeom prst="roundRect">
            <a:avLst>
              <a:gd name="adj" fmla="val 7311"/>
            </a:avLst>
          </a:prstGeom>
          <a:solidFill>
            <a:srgbClr val="F8F2F3"/>
          </a:solidFill>
          <a:ln w="8890">
            <a:solidFill>
              <a:srgbClr val="8F2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382366" y="19898181"/>
            <a:ext cx="6538178" cy="32692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82366" y="19898181"/>
            <a:ext cx="11557" cy="3269297"/>
          </a:xfrm>
          <a:prstGeom prst="rect">
            <a:avLst/>
          </a:prstGeom>
          <a:solidFill>
            <a:srgbClr val="E3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038643" y="22515314"/>
            <a:ext cx="5339834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3534885" y="22515314"/>
            <a:ext cx="3308608" cy="819824"/>
          </a:xfrm>
          <a:prstGeom prst="roundRect">
            <a:avLst>
              <a:gd name="adj" fmla="val 50000"/>
            </a:avLst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8F2437"/>
                </a:solidFill>
                <a:latin typeface="Arial"/>
              </a:rPr>
              <a:t>n = 16K–3.7M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99902" y="22515314"/>
            <a:ext cx="5454015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038643" y="23491547"/>
            <a:ext cx="298912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n = 136–198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184175" y="23491547"/>
            <a:ext cx="3984526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Entity resolution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325109" y="23491547"/>
            <a:ext cx="2211249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PubMed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692766" y="23491547"/>
            <a:ext cx="1595755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QIAN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444930" y="23491547"/>
            <a:ext cx="3630870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SCAD-zbMATH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51746" y="23511688"/>
            <a:ext cx="147379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102123" y="24671972"/>
            <a:ext cx="15224264" cy="4288314"/>
          </a:xfrm>
          <a:prstGeom prst="roundRect">
            <a:avLst>
              <a:gd name="adj" fmla="val 82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figur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02303" y="24671972"/>
            <a:ext cx="15223904" cy="4288314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34815045" y="9822199"/>
            <a:ext cx="15351363" cy="945118"/>
          </a:xfrm>
          <a:prstGeom prst="rect">
            <a:avLst/>
          </a:prstGeom>
          <a:solidFill>
            <a:srgbClr val="F4E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8038643" y="1053076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038643" y="1259490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038643" y="14659054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038643" y="1672320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8F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815045" y="7225486"/>
            <a:ext cx="7439263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815045" y="7923073"/>
            <a:ext cx="743926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254308" y="7225486"/>
            <a:ext cx="3852426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254308" y="7923073"/>
            <a:ext cx="3852426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106734" y="7225486"/>
            <a:ext cx="4059674" cy="706477"/>
          </a:xfrm>
          <a:prstGeom prst="rect">
            <a:avLst/>
          </a:prstGeom>
          <a:solidFill>
            <a:srgbClr val="F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106734" y="7923073"/>
            <a:ext cx="4059674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815045" y="7931963"/>
            <a:ext cx="74392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815045" y="8868191"/>
            <a:ext cx="743926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254308" y="7931963"/>
            <a:ext cx="38524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254308" y="8868191"/>
            <a:ext cx="3852426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106734" y="7931963"/>
            <a:ext cx="40596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106734" y="8868191"/>
            <a:ext cx="4059674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815045" y="8877081"/>
            <a:ext cx="74392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815045" y="9813309"/>
            <a:ext cx="743926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254308" y="8877081"/>
            <a:ext cx="38524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254308" y="9813309"/>
            <a:ext cx="3852426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106734" y="8877081"/>
            <a:ext cx="40596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6106734" y="9813309"/>
            <a:ext cx="4059674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4815045" y="9822199"/>
            <a:ext cx="74392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815045" y="10758427"/>
            <a:ext cx="7439263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254308" y="9822199"/>
            <a:ext cx="38524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254308" y="10758427"/>
            <a:ext cx="3852426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106734" y="9822199"/>
            <a:ext cx="405967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6106734" y="10758427"/>
            <a:ext cx="4059674" cy="11557"/>
          </a:xfrm>
          <a:prstGeom prst="rect">
            <a:avLst/>
          </a:prstGeom>
          <a:solidFill>
            <a:srgbClr val="EED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15581" y="1007487"/>
            <a:ext cx="43320553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726"/>
              </a:lnSpc>
              <a:spcBef>
                <a:spcPts val="0"/>
              </a:spcBef>
              <a:spcAft>
                <a:spcPts val="0"/>
              </a:spcAft>
            </a:pPr>
            <a:r>
              <a:rPr sz="8079" b="1" spc="-82">
                <a:solidFill>
                  <a:srgbClr val="8F2437"/>
                </a:solidFill>
                <a:latin typeface="Arial"/>
              </a:rPr>
              <a:t>Fast, Scalable, Warm-Start Semidefinite Programming with Spectral Bundling &amp;</a:t>
            </a:r>
          </a:p>
          <a:p>
            <a:pPr algn="l">
              <a:lnSpc>
                <a:spcPts val="8726"/>
              </a:lnSpc>
              <a:spcBef>
                <a:spcPts val="0"/>
              </a:spcBef>
              <a:spcAft>
                <a:spcPts val="0"/>
              </a:spcAft>
            </a:pPr>
            <a:r>
              <a:rPr sz="8079" b="1" spc="-82">
                <a:solidFill>
                  <a:srgbClr val="8F2437"/>
                </a:solidFill>
                <a:latin typeface="Arial"/>
              </a:rPr>
              <a:t>Sketching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15581" y="3489741"/>
            <a:ext cx="43320553" cy="7442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Rico Angell  ·  Andrew McCallum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15581" y="4189968"/>
            <a:ext cx="43320553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Arial"/>
              </a:rPr>
              <a:t>Manning College of Information &amp; Computer Sciences, University of Massachusetts Amherst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62241" y="5936297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Problem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038643" y="5936297"/>
            <a:ext cx="1577794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Method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815045" y="5936297"/>
            <a:ext cx="157780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Key Results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2241" y="7038657"/>
            <a:ext cx="1577794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Classic SDP solvers project onto the PSD cone via a </a:t>
            </a:r>
            <a:r>
              <a:rPr sz="4106" b="1">
                <a:solidFill>
                  <a:srgbClr val="111111"/>
                </a:solidFill>
                <a:latin typeface="Arial"/>
              </a:rPr>
              <a:t>full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eigendecomposition that scales cubically</a:t>
            </a:r>
            <a:r>
              <a:rPr sz="4106" b="0">
                <a:solidFill>
                  <a:srgbClr val="1C1C1C"/>
                </a:solidFill>
                <a:latin typeface="Arial"/>
              </a:rPr>
              <a:t>, so large SDPs 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widely dismissed as </a:t>
            </a:r>
            <a:r>
              <a:rPr sz="4106" b="1">
                <a:solidFill>
                  <a:srgbClr val="111111"/>
                </a:solidFill>
                <a:latin typeface="Arial"/>
              </a:rPr>
              <a:t>intractable at scale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038643" y="7038657"/>
            <a:ext cx="1577794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USBS minimizes a </a:t>
            </a:r>
            <a:r>
              <a:rPr sz="4106" b="1">
                <a:solidFill>
                  <a:srgbClr val="111111"/>
                </a:solidFill>
                <a:latin typeface="Arial"/>
              </a:rPr>
              <a:t>penalized reformulation</a:t>
            </a:r>
            <a:r>
              <a:rPr sz="4106" b="0">
                <a:solidFill>
                  <a:srgbClr val="1C1C1C"/>
                </a:solidFill>
                <a:latin typeface="Arial"/>
              </a:rPr>
              <a:t> of the dual using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proximal bundle method: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62241" y="9568001"/>
            <a:ext cx="15777944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Sketching solvers (CGAL) scale further but need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more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 i="1">
                <a:solidFill>
                  <a:srgbClr val="111111"/>
                </a:solidFill>
                <a:latin typeface="Arial"/>
              </a:rPr>
              <a:t>iterations as size grows</a:t>
            </a:r>
            <a:r>
              <a:rPr sz="4106" b="0" i="1">
                <a:solidFill>
                  <a:srgbClr val="1C1C1C"/>
                </a:solidFill>
                <a:latin typeface="Arial"/>
              </a:rPr>
              <a:t>, and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block warm-starting</a:t>
            </a:r>
            <a:r>
              <a:rPr sz="4106" b="0" i="1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169868" y="9949715"/>
            <a:ext cx="936129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the penalized dual: largest-eigenvalue term + linear term + inequality indicator.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62241" y="12152768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Motivation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62241" y="13437373"/>
            <a:ext cx="1577794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SDPs are rarely solved once: incremental data and mixed-integer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loops pose long sequences of closely related,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nearly-identical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subproblems to solve.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815045" y="16471919"/>
            <a:ext cx="15778083" cy="103081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Margin over CGAL widens with problem size.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815045" y="18573571"/>
            <a:ext cx="1577808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Headline Numbers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038643" y="19440068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Dataset / Benchmark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038643" y="20642302"/>
            <a:ext cx="15777944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Evaluated across </a:t>
            </a:r>
            <a:r>
              <a:rPr sz="4106" b="1">
                <a:solidFill>
                  <a:srgbClr val="111111"/>
                </a:solidFill>
                <a:latin typeface="Arial"/>
              </a:rPr>
              <a:t>three problem families</a:t>
            </a:r>
            <a:r>
              <a:rPr sz="4106" b="0">
                <a:solidFill>
                  <a:srgbClr val="1C1C1C"/>
                </a:solidFill>
                <a:latin typeface="Arial"/>
              </a:rPr>
              <a:t>; each warm start is built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from a slightly smaller, closely related instance.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62241" y="21980108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Contribution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08365" y="24392076"/>
            <a:ext cx="158847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8F2437"/>
                </a:solidFill>
                <a:latin typeface="Arial"/>
              </a:rPr>
              <a:t>Takeaway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08365" y="26046449"/>
            <a:ext cx="15884763" cy="4258247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Large-scale SDP need not be slow or narrow: USBS unifies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equality &amp; inequality constraints, adds optional sketching,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and makes warm-starting </a:t>
            </a:r>
            <a:r>
              <a:rPr sz="4106" b="1" i="1">
                <a:solidFill>
                  <a:srgbClr val="FFFFFF"/>
                </a:solidFill>
                <a:latin typeface="Arial"/>
              </a:rPr>
              <a:t>actually work</a:t>
            </a:r>
            <a:r>
              <a:rPr sz="4106" b="1">
                <a:solidFill>
                  <a:srgbClr val="FFFFFF"/>
                </a:solidFill>
                <a:latin typeface="Arial"/>
              </a:rPr>
              <a:t> — a provably-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correct, pure-JAX solver (CPU/GPU/TPU) for incremental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optimization. Open: github.com/rangell/usbs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000785" y="10673000"/>
            <a:ext cx="14815802" cy="1726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Model.</a:t>
            </a:r>
            <a:r>
              <a:rPr sz="4106" b="0">
                <a:solidFill>
                  <a:srgbClr val="1C1C1C"/>
                </a:solidFill>
                <a:latin typeface="Arial"/>
              </a:rPr>
              <a:t> Build a cheap lower model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over a low-dim subspace of current (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) + past (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) max-eigenvectors.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000708" y="12737147"/>
            <a:ext cx="7512642" cy="1726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Propose.</a:t>
            </a:r>
            <a:r>
              <a:rPr sz="4106" b="0">
                <a:solidFill>
                  <a:srgbClr val="1C1C1C"/>
                </a:solidFill>
                <a:latin typeface="Arial"/>
              </a:rPr>
              <a:t> Take a proximal step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                                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000708" y="14801294"/>
            <a:ext cx="11529143" cy="1726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Accept or refine.</a:t>
            </a:r>
            <a:r>
              <a:rPr sz="4106" b="0">
                <a:solidFill>
                  <a:srgbClr val="1C1C1C"/>
                </a:solidFill>
                <a:latin typeface="Arial"/>
              </a:rPr>
              <a:t> Descent step if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                                 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; else a null step refines the model.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351765" y="15711269"/>
            <a:ext cx="12646118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MaxCut time: USBS solves all 10 graphs; CGAL fails on 7/10 (†).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62222" y="16148962"/>
            <a:ext cx="1577796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Warm-starting is the prize</a:t>
            </a:r>
            <a:r>
              <a:rPr sz="4106" b="0">
                <a:solidFill>
                  <a:srgbClr val="1C1C1C"/>
                </a:solidFill>
                <a:latin typeface="Arial"/>
              </a:rPr>
              <a:t> — but scalable solvers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rarely exploit it.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000785" y="16723201"/>
            <a:ext cx="1481580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Sketch.</a:t>
            </a:r>
            <a:r>
              <a:rPr sz="4106" b="0">
                <a:solidFill>
                  <a:srgbClr val="1C1C1C"/>
                </a:solidFill>
                <a:latin typeface="Arial"/>
              </a:rPr>
              <a:t> Store only a low-rank sketch of the primal matrix →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memory stays bounded, scaling to billions of variables.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49401" y="18026141"/>
            <a:ext cx="800210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8F2437"/>
                </a:solidFill>
                <a:latin typeface="Arial"/>
              </a:rPr>
              <a:t>vs.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51746" y="24358877"/>
            <a:ext cx="1492339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Spectral bundle method for </a:t>
            </a:r>
            <a:r>
              <a:rPr sz="4106" b="1">
                <a:solidFill>
                  <a:srgbClr val="111111"/>
                </a:solidFill>
                <a:latin typeface="Arial"/>
              </a:rPr>
              <a:t>general SDPs</a:t>
            </a:r>
            <a:r>
              <a:rPr sz="4106" b="0">
                <a:solidFill>
                  <a:srgbClr val="1C1C1C"/>
                </a:solidFill>
                <a:latin typeface="Arial"/>
              </a:rPr>
              <a:t> — equality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inequality in one solver.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62222" y="26300509"/>
            <a:ext cx="1577796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Sketching for scale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 optional low-rank sketch bounds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memory at billions of variables.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62222" y="27995443"/>
            <a:ext cx="1577796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Reliable warm-starting</a:t>
            </a:r>
            <a:r>
              <a:rPr sz="4106" b="0">
                <a:solidFill>
                  <a:srgbClr val="1C1C1C"/>
                </a:solidFill>
                <a:latin typeface="Arial"/>
              </a:rPr>
              <a:t> — reuses a previous solution where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scalable solvers cannot.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650789" y="29109888"/>
            <a:ext cx="12490739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QAP best relative gap: USBS beats CGAL, exploits warm starts.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505743" y="18243530"/>
            <a:ext cx="6869957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PRIOR SPECTRAL BUNDLE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00101" y="18243530"/>
            <a:ext cx="6869956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USBS (OURS)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05743" y="18888888"/>
            <a:ext cx="6869957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Equality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or</a:t>
            </a:r>
            <a:r>
              <a:rPr sz="4106" b="0">
                <a:solidFill>
                  <a:srgbClr val="1C1C1C"/>
                </a:solidFill>
                <a:latin typeface="Arial"/>
              </a:rPr>
              <a:t> inequality only;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large-scale solver.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00101" y="18888888"/>
            <a:ext cx="6869956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Both, plus sketching for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scale and warm-starting.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060909" y="20119459"/>
            <a:ext cx="798020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8F2437"/>
                </a:solidFill>
                <a:latin typeface="Arial"/>
              </a:rPr>
              <a:t>500×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60909" y="21494353"/>
            <a:ext cx="798020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than CGAL on a &gt;2B-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variable instance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60909" y="22537261"/>
            <a:ext cx="798020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vs. prior state-of-the-art scalable solver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815045" y="7225486"/>
            <a:ext cx="7662440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METRIC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54308" y="7225486"/>
            <a:ext cx="3967998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CGAL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106734" y="7225486"/>
            <a:ext cx="4181464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USBS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815045" y="7931963"/>
            <a:ext cx="766244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MaxCut solved (≤28 h)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254308" y="7931963"/>
            <a:ext cx="396799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 / 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6106734" y="7931963"/>
            <a:ext cx="418146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10 / 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4815045" y="8877081"/>
            <a:ext cx="766244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&gt;2B-variable instance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2254308" y="8877081"/>
            <a:ext cx="396799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fails (72 h)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106734" y="8877081"/>
            <a:ext cx="4181464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500× faster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4815045" y="9822199"/>
            <a:ext cx="766244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Warm-start speedup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254308" y="9822199"/>
            <a:ext cx="396799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unreliable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106734" y="9822199"/>
            <a:ext cx="418146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&gt;100×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860620" y="19898181"/>
            <a:ext cx="156479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&gt;100×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562361" y="20031531"/>
            <a:ext cx="4488928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warm-start convergence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speedup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3860620" y="21145698"/>
            <a:ext cx="1547768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 /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545831" y="21279048"/>
            <a:ext cx="450595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MaxCut solved (CGAL: 3 /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10)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3860620" y="22496839"/>
            <a:ext cx="1122841" cy="7541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</a:t>
            </a:r>
            <a:r>
              <a:rPr sz="6010" b="1" spc="-42" baseline="30000">
                <a:solidFill>
                  <a:srgbClr val="AE2622"/>
                </a:solidFill>
                <a:latin typeface="Arial"/>
              </a:rPr>
              <a:t>13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133279" y="22740758"/>
            <a:ext cx="407187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decision variables scaled</a:t>
            </a:r>
          </a:p>
        </p:txBody>
      </p:sp>
      <p:pic>
        <p:nvPicPr>
          <p:cNvPr id="131" name="Picture 130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4506" y="9037796"/>
            <a:ext cx="12659499" cy="800100"/>
          </a:xfrm>
          <a:prstGeom prst="rect">
            <a:avLst/>
          </a:prstGeom>
        </p:spPr>
      </p:pic>
      <p:pic>
        <p:nvPicPr>
          <p:cNvPr id="132" name="Picture 131" descr="eq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7965" y="10566320"/>
            <a:ext cx="502701" cy="737870"/>
          </a:xfrm>
          <a:prstGeom prst="rect">
            <a:avLst/>
          </a:prstGeom>
        </p:spPr>
      </p:pic>
      <p:pic>
        <p:nvPicPr>
          <p:cNvPr id="133" name="Picture 132" descr="eq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37033" y="11489352"/>
            <a:ext cx="556042" cy="737870"/>
          </a:xfrm>
          <a:prstGeom prst="rect">
            <a:avLst/>
          </a:prstGeom>
        </p:spPr>
      </p:pic>
      <p:pic>
        <p:nvPicPr>
          <p:cNvPr id="134" name="Picture 133" descr="eq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65278" y="11489352"/>
            <a:ext cx="582712" cy="737870"/>
          </a:xfrm>
          <a:prstGeom prst="rect">
            <a:avLst/>
          </a:prstGeom>
        </p:spPr>
      </p:pic>
      <p:pic>
        <p:nvPicPr>
          <p:cNvPr id="135" name="Picture 134" descr="eq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38643" y="12630467"/>
            <a:ext cx="14839632" cy="1660902"/>
          </a:xfrm>
          <a:prstGeom prst="rect">
            <a:avLst/>
          </a:prstGeom>
        </p:spPr>
      </p:pic>
      <p:pic>
        <p:nvPicPr>
          <p:cNvPr id="136" name="Picture 135" descr="eq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38643" y="14694614"/>
            <a:ext cx="14868108" cy="16609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
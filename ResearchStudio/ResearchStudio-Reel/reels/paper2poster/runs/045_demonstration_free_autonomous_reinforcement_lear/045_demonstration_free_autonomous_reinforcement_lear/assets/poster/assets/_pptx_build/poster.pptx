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1887" y="651887"/>
            <a:ext cx="49902625" cy="441930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1887" y="5026739"/>
            <a:ext cx="49902625" cy="44450"/>
          </a:xfrm>
          <a:prstGeom prst="rect">
            <a:avLst/>
          </a:prstGeom>
          <a:solidFill>
            <a:srgbClr val="3846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1887" y="5592643"/>
            <a:ext cx="10804961" cy="728716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51887" y="5592643"/>
            <a:ext cx="10804961" cy="17780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1883568" y="5592643"/>
            <a:ext cx="13506133" cy="2447930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883568" y="5592643"/>
            <a:ext cx="13506133" cy="17780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816421" y="5592643"/>
            <a:ext cx="13506271" cy="24479309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5816421" y="5592643"/>
            <a:ext cx="13506271" cy="17780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9749412" y="5592643"/>
            <a:ext cx="10804962" cy="517773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9749412" y="5592643"/>
            <a:ext cx="10804962" cy="17780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9749412" y="11102220"/>
            <a:ext cx="10804962" cy="13704769"/>
          </a:xfrm>
          <a:prstGeom prst="rect">
            <a:avLst/>
          </a:prstGeom>
          <a:solidFill>
            <a:srgbClr val="F9EE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9749412" y="11102220"/>
            <a:ext cx="10804962" cy="17780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9749412" y="11102220"/>
            <a:ext cx="53340" cy="13704769"/>
          </a:xfrm>
          <a:prstGeom prst="rect">
            <a:avLst/>
          </a:prstGeom>
          <a:solidFill>
            <a:srgbClr val="3846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1887" y="13211651"/>
            <a:ext cx="10804961" cy="168603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1887" y="13211651"/>
            <a:ext cx="10804961" cy="17780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9749412" y="25138836"/>
            <a:ext cx="10804962" cy="49331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9749412" y="25138836"/>
            <a:ext cx="10804962" cy="17780"/>
          </a:xfrm>
          <a:prstGeom prst="rect">
            <a:avLst/>
          </a:prstGeom>
          <a:solidFill>
            <a:srgbClr val="E6E6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19" name="Picture 18" descr="_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10221" y="1149746"/>
            <a:ext cx="4496117" cy="1517095"/>
          </a:xfrm>
          <a:prstGeom prst="rect">
            <a:avLst/>
          </a:prstGeom>
        </p:spPr>
      </p:pic>
      <p:sp>
        <p:nvSpPr>
          <p:cNvPr id="20" name="Rounded Rectangle 19"/>
          <p:cNvSpPr/>
          <p:nvPr/>
        </p:nvSpPr>
        <p:spPr>
          <a:xfrm>
            <a:off x="39986386" y="6985317"/>
            <a:ext cx="10331014" cy="3632676"/>
          </a:xfrm>
          <a:prstGeom prst="roundRect">
            <a:avLst>
              <a:gd name="adj" fmla="val 1957"/>
            </a:avLst>
          </a:prstGeom>
          <a:gradFill rotWithShape="1" flip="none">
            <a:gsLst>
              <a:gs pos="0">
                <a:srgbClr val="E7E9EB"/>
              </a:gs>
              <a:gs pos="100000">
                <a:srgbClr val="F3F4F5"/>
              </a:gs>
            </a:gsLst>
            <a:lin ang="5400000" scaled="0"/>
          </a:gradFill>
          <a:ln w="8890">
            <a:solidFill>
              <a:srgbClr val="CDD1D6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88861" y="7115472"/>
            <a:ext cx="10331013" cy="215902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88861" y="7115472"/>
            <a:ext cx="124460" cy="2159020"/>
          </a:xfrm>
          <a:prstGeom prst="rect">
            <a:avLst/>
          </a:prstGeom>
          <a:solidFill>
            <a:srgbClr val="3846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6053395" y="10812601"/>
            <a:ext cx="13032323" cy="2632273"/>
          </a:xfrm>
          <a:prstGeom prst="roundRect">
            <a:avLst>
              <a:gd name="adj" fmla="val 50000"/>
            </a:avLst>
          </a:prstGeom>
          <a:solidFill>
            <a:srgbClr val="F6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2120542" y="12954535"/>
            <a:ext cx="13032185" cy="1464628"/>
          </a:xfrm>
          <a:prstGeom prst="roundRect">
            <a:avLst>
              <a:gd name="adj" fmla="val 15383"/>
            </a:avLst>
          </a:prstGeom>
          <a:solidFill>
            <a:srgbClr val="F3F4F5"/>
          </a:solidFill>
          <a:ln w="8890">
            <a:solidFill>
              <a:srgbClr val="BFC4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0039726" y="18416329"/>
            <a:ext cx="10277674" cy="2837021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0039726" y="18416329"/>
            <a:ext cx="124460" cy="2837021"/>
          </a:xfrm>
          <a:prstGeom prst="rect">
            <a:avLst/>
          </a:prstGeom>
          <a:solidFill>
            <a:srgbClr val="38465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6053395" y="24795182"/>
            <a:ext cx="13032323" cy="2239585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6053395" y="24795182"/>
            <a:ext cx="13032323" cy="11557"/>
          </a:xfrm>
          <a:prstGeom prst="rect">
            <a:avLst/>
          </a:prstGeom>
          <a:solidFill>
            <a:srgbClr val="BABEC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29" name="Picture 28" descr="seoul-national-univers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30717" y="3384457"/>
            <a:ext cx="4034393" cy="995667"/>
          </a:xfrm>
          <a:prstGeom prst="rect">
            <a:avLst/>
          </a:prstGeom>
        </p:spPr>
      </p:pic>
      <p:pic>
        <p:nvPicPr>
          <p:cNvPr id="30" name="Picture 29" descr="automation-and-systems-research-institute-asr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02084" y="3384466"/>
            <a:ext cx="988734" cy="995649"/>
          </a:xfrm>
          <a:prstGeom prst="rect">
            <a:avLst/>
          </a:prstGeom>
        </p:spPr>
      </p:pic>
      <p:sp>
        <p:nvSpPr>
          <p:cNvPr id="31" name="Rectangle 30"/>
          <p:cNvSpPr/>
          <p:nvPr/>
        </p:nvSpPr>
        <p:spPr>
          <a:xfrm>
            <a:off x="45742383" y="7207567"/>
            <a:ext cx="4329152" cy="323568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42383" y="7207567"/>
            <a:ext cx="11557" cy="3235682"/>
          </a:xfrm>
          <a:prstGeom prst="rect">
            <a:avLst/>
          </a:prstGeom>
          <a:solidFill>
            <a:srgbClr val="CDD1D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6053395" y="14025086"/>
            <a:ext cx="13032323" cy="8896389"/>
          </a:xfrm>
          <a:prstGeom prst="roundRect">
            <a:avLst>
              <a:gd name="adj" fmla="val 399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figure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53472" y="14025086"/>
            <a:ext cx="13032169" cy="8896389"/>
          </a:xfrm>
          <a:prstGeom prst="rect">
            <a:avLst/>
          </a:prstGeom>
        </p:spPr>
      </p:pic>
      <p:sp>
        <p:nvSpPr>
          <p:cNvPr id="35" name="Rounded Rectangle 34"/>
          <p:cNvSpPr/>
          <p:nvPr/>
        </p:nvSpPr>
        <p:spPr>
          <a:xfrm>
            <a:off x="12518231" y="14820602"/>
            <a:ext cx="12236668" cy="13450431"/>
          </a:xfrm>
          <a:prstGeom prst="roundRect">
            <a:avLst>
              <a:gd name="adj" fmla="val 290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6" name="Picture 35" descr="figure2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518274" y="14820602"/>
            <a:ext cx="12236582" cy="13450431"/>
          </a:xfrm>
          <a:prstGeom prst="rect">
            <a:avLst/>
          </a:prstGeom>
        </p:spPr>
      </p:pic>
      <p:sp>
        <p:nvSpPr>
          <p:cNvPr id="37" name="Rounded Rectangle 36"/>
          <p:cNvSpPr/>
          <p:nvPr/>
        </p:nvSpPr>
        <p:spPr>
          <a:xfrm>
            <a:off x="1101387" y="20523537"/>
            <a:ext cx="9905822" cy="8079482"/>
          </a:xfrm>
          <a:prstGeom prst="roundRect">
            <a:avLst>
              <a:gd name="adj" fmla="val 440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8" name="Picture 37" descr="figure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1387" y="20523569"/>
            <a:ext cx="9905822" cy="8079418"/>
          </a:xfrm>
          <a:prstGeom prst="rect">
            <a:avLst/>
          </a:prstGeom>
        </p:spPr>
      </p:pic>
      <p:sp>
        <p:nvSpPr>
          <p:cNvPr id="39" name="Rectangle 38"/>
          <p:cNvSpPr/>
          <p:nvPr/>
        </p:nvSpPr>
        <p:spPr>
          <a:xfrm>
            <a:off x="26053395" y="7217707"/>
            <a:ext cx="7408703" cy="814408"/>
          </a:xfrm>
          <a:prstGeom prst="rect">
            <a:avLst/>
          </a:prstGeom>
          <a:solidFill>
            <a:srgbClr val="F6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6053395" y="8023225"/>
            <a:ext cx="7408703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3462098" y="7217707"/>
            <a:ext cx="2687697" cy="814408"/>
          </a:xfrm>
          <a:prstGeom prst="rect">
            <a:avLst/>
          </a:prstGeom>
          <a:solidFill>
            <a:srgbClr val="F6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3462098" y="8023225"/>
            <a:ext cx="2687697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149795" y="7217707"/>
            <a:ext cx="2935923" cy="814408"/>
          </a:xfrm>
          <a:prstGeom prst="rect">
            <a:avLst/>
          </a:prstGeom>
          <a:solidFill>
            <a:srgbClr val="F6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6149795" y="8023225"/>
            <a:ext cx="2935923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26053395" y="8032115"/>
            <a:ext cx="7408703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6053395" y="8842077"/>
            <a:ext cx="7408703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33462098" y="8032115"/>
            <a:ext cx="2687697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3462098" y="8842077"/>
            <a:ext cx="2687697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6149795" y="8032115"/>
            <a:ext cx="2935923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6149795" y="8842077"/>
            <a:ext cx="2935923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26053395" y="8850967"/>
            <a:ext cx="7408703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26053395" y="9660929"/>
            <a:ext cx="7408703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33462098" y="8850967"/>
            <a:ext cx="2687697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33462098" y="9660929"/>
            <a:ext cx="2687697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6149795" y="8850967"/>
            <a:ext cx="2935923" cy="81885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6149795" y="9660929"/>
            <a:ext cx="2935923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6053395" y="9669819"/>
            <a:ext cx="7408703" cy="818853"/>
          </a:xfrm>
          <a:prstGeom prst="rect">
            <a:avLst/>
          </a:prstGeom>
          <a:solidFill>
            <a:srgbClr val="F6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6053395" y="10479782"/>
            <a:ext cx="7408703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3462098" y="9669819"/>
            <a:ext cx="2687697" cy="818853"/>
          </a:xfrm>
          <a:prstGeom prst="rect">
            <a:avLst/>
          </a:prstGeom>
          <a:solidFill>
            <a:srgbClr val="F6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3462098" y="10479782"/>
            <a:ext cx="2687697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6149795" y="9669819"/>
            <a:ext cx="2935923" cy="818853"/>
          </a:xfrm>
          <a:prstGeom prst="rect">
            <a:avLst/>
          </a:prstGeom>
          <a:solidFill>
            <a:srgbClr val="F6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6149795" y="10479782"/>
            <a:ext cx="2935923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41773832" y="26152018"/>
            <a:ext cx="3081774" cy="308177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paper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1892365" y="26270551"/>
            <a:ext cx="2844708" cy="2844708"/>
          </a:xfrm>
          <a:prstGeom prst="rect">
            <a:avLst/>
          </a:prstGeom>
        </p:spPr>
      </p:pic>
      <p:sp>
        <p:nvSpPr>
          <p:cNvPr id="65" name="Rounded Rectangle 64"/>
          <p:cNvSpPr/>
          <p:nvPr/>
        </p:nvSpPr>
        <p:spPr>
          <a:xfrm>
            <a:off x="45448180" y="26152018"/>
            <a:ext cx="3081774" cy="308177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8890">
            <a:solidFill>
              <a:srgbClr val="F0F0F0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6" name="Picture 65" descr="cod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5566713" y="26270551"/>
            <a:ext cx="2844708" cy="2844708"/>
          </a:xfrm>
          <a:prstGeom prst="rect">
            <a:avLst/>
          </a:prstGeom>
        </p:spPr>
      </p:pic>
      <p:sp>
        <p:nvSpPr>
          <p:cNvPr id="67" name="Rounded Rectangle 66"/>
          <p:cNvSpPr/>
          <p:nvPr/>
        </p:nvSpPr>
        <p:spPr>
          <a:xfrm>
            <a:off x="42669638" y="29376032"/>
            <a:ext cx="1290022" cy="541596"/>
          </a:xfrm>
          <a:prstGeom prst="roundRect">
            <a:avLst>
              <a:gd name="adj" fmla="val 50000"/>
            </a:avLst>
          </a:prstGeom>
          <a:solidFill>
            <a:srgbClr val="F6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426" b="1">
                <a:solidFill>
                  <a:srgbClr val="38465C"/>
                </a:solidFill>
                <a:latin typeface="Arial"/>
              </a:rPr>
              <a:t>Paper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46390103" y="29376032"/>
            <a:ext cx="1197789" cy="541596"/>
          </a:xfrm>
          <a:prstGeom prst="roundRect">
            <a:avLst>
              <a:gd name="adj" fmla="val 50000"/>
            </a:avLst>
          </a:prstGeom>
          <a:solidFill>
            <a:srgbClr val="F6E7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2426" b="1">
                <a:solidFill>
                  <a:srgbClr val="38465C"/>
                </a:solidFill>
                <a:latin typeface="Arial"/>
              </a:rPr>
              <a:t>Code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315581" y="1007487"/>
            <a:ext cx="43125529" cy="259069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7942"/>
              </a:lnSpc>
              <a:spcBef>
                <a:spcPts val="0"/>
              </a:spcBef>
              <a:spcAft>
                <a:spcPts val="0"/>
              </a:spcAft>
            </a:pPr>
            <a:r>
              <a:rPr sz="7354" b="1" spc="-82">
                <a:solidFill>
                  <a:srgbClr val="111111"/>
                </a:solidFill>
                <a:latin typeface="Arial"/>
              </a:rPr>
              <a:t>Demonstration-free Autonomous Reinforcement Learning via Implicit and Bidirectional</a:t>
            </a:r>
          </a:p>
          <a:p>
            <a:pPr algn="l">
              <a:lnSpc>
                <a:spcPts val="7942"/>
              </a:lnSpc>
              <a:spcBef>
                <a:spcPts val="0"/>
              </a:spcBef>
              <a:spcAft>
                <a:spcPts val="0"/>
              </a:spcAft>
            </a:pPr>
            <a:r>
              <a:rPr sz="7354" b="1" spc="-82">
                <a:solidFill>
                  <a:srgbClr val="111111"/>
                </a:solidFill>
                <a:latin typeface="Arial"/>
              </a:rPr>
              <a:t>Curriculum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315581" y="3489741"/>
            <a:ext cx="43125529" cy="74423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5095"/>
              </a:lnSpc>
              <a:spcBef>
                <a:spcPts val="0"/>
              </a:spcBef>
              <a:spcAft>
                <a:spcPts val="0"/>
              </a:spcAft>
            </a:pPr>
            <a:r>
              <a:rPr sz="3920" b="0">
                <a:solidFill>
                  <a:srgbClr val="1C1C1C"/>
                </a:solidFill>
                <a:latin typeface="Arial"/>
              </a:rPr>
              <a:t>Jigang Kim</a:t>
            </a:r>
            <a:r>
              <a:rPr sz="5487" b="0" baseline="30000">
                <a:solidFill>
                  <a:srgbClr val="1C1C1C"/>
                </a:solidFill>
                <a:latin typeface="Arial"/>
              </a:rPr>
              <a:t>1,2</a:t>
            </a:r>
            <a:r>
              <a:rPr sz="3920" b="0">
                <a:solidFill>
                  <a:srgbClr val="1C1C1C"/>
                </a:solidFill>
                <a:latin typeface="Arial"/>
              </a:rPr>
              <a:t>, Daesol Cho</a:t>
            </a:r>
            <a:r>
              <a:rPr sz="5487" b="0" baseline="30000">
                <a:solidFill>
                  <a:srgbClr val="1C1C1C"/>
                </a:solidFill>
                <a:latin typeface="Arial"/>
              </a:rPr>
              <a:t>1,2</a:t>
            </a:r>
            <a:r>
              <a:rPr sz="3920" b="0">
                <a:solidFill>
                  <a:srgbClr val="1C1C1C"/>
                </a:solidFill>
                <a:latin typeface="Arial"/>
              </a:rPr>
              <a:t>, H. Jin Kim</a:t>
            </a:r>
            <a:r>
              <a:rPr sz="5487" b="0" baseline="30000">
                <a:solidFill>
                  <a:srgbClr val="1C1C1C"/>
                </a:solidFill>
                <a:latin typeface="Arial"/>
              </a:rPr>
              <a:t>1,3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315581" y="4189968"/>
            <a:ext cx="43125529" cy="55334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789"/>
              </a:lnSpc>
              <a:spcBef>
                <a:spcPts val="0"/>
              </a:spcBef>
              <a:spcAft>
                <a:spcPts val="0"/>
              </a:spcAft>
            </a:pPr>
            <a:r>
              <a:rPr sz="2268" b="0" spc="52" baseline="30000">
                <a:solidFill>
                  <a:srgbClr val="5A5A5A"/>
                </a:solidFill>
                <a:latin typeface="Arial"/>
              </a:rPr>
              <a:t>1</a:t>
            </a:r>
            <a:r>
              <a:rPr sz="2613" b="0" spc="52">
                <a:solidFill>
                  <a:srgbClr val="5A5A5A"/>
                </a:solidFill>
                <a:latin typeface="Arial"/>
              </a:rPr>
              <a:t> Seoul National University    </a:t>
            </a:r>
            <a:r>
              <a:rPr sz="3658" b="0" spc="52" baseline="30000">
                <a:solidFill>
                  <a:srgbClr val="5A5A5A"/>
                </a:solidFill>
                <a:latin typeface="Arial"/>
              </a:rPr>
              <a:t>2</a:t>
            </a:r>
            <a:r>
              <a:rPr sz="2613" b="0" spc="52">
                <a:solidFill>
                  <a:srgbClr val="5A5A5A"/>
                </a:solidFill>
                <a:latin typeface="Arial"/>
              </a:rPr>
              <a:t> AI Institute of SNU (AIIS)    </a:t>
            </a:r>
            <a:r>
              <a:rPr sz="3658" b="0" spc="52" baseline="30000">
                <a:solidFill>
                  <a:srgbClr val="5A5A5A"/>
                </a:solidFill>
                <a:latin typeface="Arial"/>
              </a:rPr>
              <a:t>3</a:t>
            </a:r>
            <a:r>
              <a:rPr sz="2613" b="0" spc="52">
                <a:solidFill>
                  <a:srgbClr val="5A5A5A"/>
                </a:solidFill>
                <a:latin typeface="Arial"/>
              </a:rPr>
              <a:t> ASRI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88861" y="5918517"/>
            <a:ext cx="10640943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-28">
                <a:solidFill>
                  <a:srgbClr val="111111"/>
                </a:solidFill>
                <a:latin typeface="Arial"/>
              </a:rPr>
              <a:t>Problem 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2120542" y="5918517"/>
            <a:ext cx="13423150" cy="899667"/>
          </a:xfrm>
          <a:prstGeom prst="rect">
            <a:avLst/>
          </a:prstGeom>
          <a:noFill/>
        </p:spPr>
        <p:txBody>
          <a:bodyPr wrap="non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-28">
                <a:solidFill>
                  <a:srgbClr val="111111"/>
                </a:solidFill>
                <a:latin typeface="Arial"/>
              </a:rPr>
              <a:t>Method 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6053395" y="5918517"/>
            <a:ext cx="13423292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-28">
                <a:solidFill>
                  <a:srgbClr val="111111"/>
                </a:solidFill>
                <a:latin typeface="Arial"/>
              </a:rPr>
              <a:t>Key Results 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39986386" y="5918517"/>
            <a:ext cx="10640944" cy="89966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-28">
                <a:solidFill>
                  <a:srgbClr val="111111"/>
                </a:solidFill>
                <a:latin typeface="Arial"/>
              </a:rPr>
              <a:t>Headline Numbers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88861" y="7115472"/>
            <a:ext cx="10640943" cy="2482873"/>
          </a:xfrm>
          <a:prstGeom prst="rect">
            <a:avLst/>
          </a:prstGeom>
          <a:noFill/>
        </p:spPr>
        <p:txBody>
          <a:bodyPr wrap="non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The goal: learn robotic tasks from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scratch with </a:t>
            </a:r>
            <a:r>
              <a:rPr sz="4106" b="1" i="1">
                <a:solidFill>
                  <a:srgbClr val="111111"/>
                </a:solidFill>
                <a:latin typeface="Arial"/>
              </a:rPr>
              <a:t>no resets</a:t>
            </a:r>
            <a:r>
              <a:rPr sz="4106" b="0" i="1">
                <a:solidFill>
                  <a:srgbClr val="1C1C1C"/>
                </a:solidFill>
                <a:latin typeface="Arial"/>
              </a:rPr>
              <a:t> and </a:t>
            </a:r>
            <a:r>
              <a:rPr sz="4106" b="1" i="1">
                <a:solidFill>
                  <a:srgbClr val="111111"/>
                </a:solidFill>
                <a:latin typeface="Arial"/>
              </a:rPr>
              <a:t>no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 i="1">
                <a:solidFill>
                  <a:srgbClr val="111111"/>
                </a:solidFill>
                <a:latin typeface="Arial"/>
              </a:rPr>
              <a:t>demonstrations</a:t>
            </a:r>
            <a:r>
              <a:rPr sz="4106" b="0" i="1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88861" y="9404647"/>
            <a:ext cx="10640943" cy="34785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Standard RL resets to a fixed initial state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after every episode; real autonomous robots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cannot, so they must learn from one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continual, </a:t>
            </a:r>
            <a:r>
              <a:rPr sz="4106" b="1">
                <a:solidFill>
                  <a:srgbClr val="111111"/>
                </a:solidFill>
                <a:latin typeface="Arial"/>
              </a:rPr>
              <a:t>non-episodic</a:t>
            </a:r>
            <a:r>
              <a:rPr sz="4106" b="0">
                <a:solidFill>
                  <a:srgbClr val="1C1C1C"/>
                </a:solidFill>
                <a:latin typeface="Arial"/>
              </a:rPr>
              <a:t> stream.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26053395" y="10812601"/>
            <a:ext cx="13423292" cy="3027113"/>
          </a:xfrm>
          <a:prstGeom prst="rect">
            <a:avLst/>
          </a:prstGeom>
          <a:noFill/>
        </p:spPr>
        <p:txBody>
          <a:bodyPr wrap="none" lIns="485560" rIns="485560" tIns="281113" bIns="281113">
            <a:spAutoFit/>
          </a:bodyPr>
          <a:lstStyle/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38465C"/>
                </a:solidFill>
                <a:latin typeface="Arial"/>
              </a:rPr>
              <a:t>SOTA success on all 6 environments — beats</a:t>
            </a:r>
          </a:p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38465C"/>
                </a:solidFill>
                <a:latin typeface="Arial"/>
              </a:rPr>
              <a:t>demo-using VaPRL &amp; MEDAL, approaches the</a:t>
            </a:r>
          </a:p>
          <a:p>
            <a:pPr algn="ctr">
              <a:lnSpc>
                <a:spcPts val="5433"/>
              </a:lnSpc>
              <a:spcBef>
                <a:spcPts val="0"/>
              </a:spcBef>
              <a:spcAft>
                <a:spcPts val="0"/>
              </a:spcAft>
            </a:pPr>
            <a:r>
              <a:rPr sz="4024" b="1">
                <a:solidFill>
                  <a:srgbClr val="38465C"/>
                </a:solidFill>
                <a:latin typeface="Arial"/>
              </a:rPr>
              <a:t>episodic oracle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40039726" y="11428095"/>
            <a:ext cx="10586004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-28">
                <a:solidFill>
                  <a:srgbClr val="111111"/>
                </a:solidFill>
                <a:latin typeface="Arial"/>
              </a:rPr>
              <a:t>Takeaway 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40039726" y="12678529"/>
            <a:ext cx="10586004" cy="608745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By pairing a self-fading auxiliary agent with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an optimal-transport bidirectional goal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curriculum, </a:t>
            </a:r>
            <a:r>
              <a:rPr sz="4106" b="1">
                <a:solidFill>
                  <a:srgbClr val="111111"/>
                </a:solidFill>
                <a:latin typeface="Arial"/>
              </a:rPr>
              <a:t>IBC</a:t>
            </a:r>
            <a:r>
              <a:rPr sz="4106" b="0">
                <a:solidFill>
                  <a:srgbClr val="1C1C1C"/>
                </a:solidFill>
                <a:latin typeface="Arial"/>
              </a:rPr>
              <a:t> is the first method to learn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robotic manipulation and locomotion tasks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autonomously — no resets, no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demonstrations — while matching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approaches that rely on expert data.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88861" y="13537525"/>
            <a:ext cx="10640943" cy="899667"/>
          </a:xfrm>
          <a:prstGeom prst="rect">
            <a:avLst/>
          </a:prstGeom>
          <a:noFill/>
        </p:spPr>
        <p:txBody>
          <a:bodyPr wrap="square" lIns="0" rIns="3911600" tIns="0" bIns="0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 spc="-28">
                <a:solidFill>
                  <a:srgbClr val="111111"/>
                </a:solidFill>
                <a:latin typeface="Arial"/>
              </a:rPr>
              <a:t>Motivation 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3779777" y="13969523"/>
            <a:ext cx="10004982" cy="357822"/>
          </a:xfrm>
          <a:prstGeom prst="rect">
            <a:avLst/>
          </a:prstGeom>
          <a:noFill/>
        </p:spPr>
        <p:txBody>
          <a:bodyPr wrap="square" lIns="394289" rIns="394289" tIns="67592" bIns="67592">
            <a:spAutoFit/>
          </a:bodyPr>
          <a:lstStyle/>
          <a:p>
            <a:pPr algn="ctr">
              <a:lnSpc>
                <a:spcPts val="3215"/>
              </a:lnSpc>
              <a:spcBef>
                <a:spcPts val="0"/>
              </a:spcBef>
              <a:spcAft>
                <a:spcPts val="0"/>
              </a:spcAft>
            </a:pPr>
            <a:r>
              <a:rPr sz="4435" b="0">
                <a:solidFill>
                  <a:srgbClr val="1C1C1C"/>
                </a:solidFill>
                <a:latin typeface="Cambria Math"/>
              </a:rPr>
              <a:t>                                                                    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Lipschitz-relaxed objective; 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    </a:t>
            </a:r>
            <a:r>
              <a:rPr sz="2217" b="0" i="1">
                <a:solidFill>
                  <a:srgbClr val="555555"/>
                </a:solidFill>
                <a:latin typeface="Cambria Math"/>
              </a:rPr>
              <a:t> = optimal-transport distance to the target distribution.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0039726" y="18416329"/>
            <a:ext cx="10586004" cy="3262574"/>
          </a:xfrm>
          <a:prstGeom prst="rect">
            <a:avLst/>
          </a:prstGeom>
          <a:noFill/>
        </p:spPr>
        <p:txBody>
          <a:bodyPr wrap="non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First demonstration-free, reset-free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autonomous RL that rivals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demonstration-based methods and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approaches the episodic oracle.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0039726" y="21436984"/>
            <a:ext cx="10586004" cy="34785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Ablations confirm </a:t>
            </a:r>
            <a:r>
              <a:rPr sz="4106" b="1">
                <a:solidFill>
                  <a:srgbClr val="111111"/>
                </a:solidFill>
                <a:latin typeface="Arial"/>
              </a:rPr>
              <a:t>both</a:t>
            </a:r>
            <a:r>
              <a:rPr sz="4106" b="0">
                <a:solidFill>
                  <a:srgbClr val="1C1C1C"/>
                </a:solidFill>
                <a:latin typeface="Arial"/>
              </a:rPr>
              <a:t> components are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necessary. IBC assumes reversible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(ergodic) environments and needs a human-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specified sparse reward.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26053395" y="24795182"/>
            <a:ext cx="13423292" cy="2575522"/>
          </a:xfrm>
          <a:prstGeom prst="rect">
            <a:avLst/>
          </a:prstGeom>
          <a:noFill/>
        </p:spPr>
        <p:txBody>
          <a:bodyPr wrap="square" lIns="0" rIns="0" tIns="215920" bIns="0">
            <a:spAutoFit/>
          </a:bodyPr>
          <a:lstStyle/>
          <a:p>
            <a:pPr algn="l">
              <a:lnSpc>
                <a:spcPts val="5289"/>
              </a:lnSpc>
              <a:spcBef>
                <a:spcPts val="0"/>
              </a:spcBef>
              <a:spcAft>
                <a:spcPts val="0"/>
              </a:spcAft>
            </a:pPr>
            <a:r>
              <a:rPr sz="2946" b="1" spc="176">
                <a:solidFill>
                  <a:srgbClr val="111111"/>
                </a:solidFill>
                <a:latin typeface="Arial"/>
              </a:rPr>
              <a:t>SO WHAT → </a:t>
            </a:r>
            <a:r>
              <a:rPr sz="3778" b="0" i="1">
                <a:solidFill>
                  <a:srgbClr val="1C1C1C"/>
                </a:solidFill>
                <a:latin typeface="Arial"/>
              </a:rPr>
              <a:t>IBC matches oracle-level success with zero demonstrations or resets; demo-based baselines falter where task interactions are sparse (e.g. the Fetch tasks).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6053395" y="27313135"/>
            <a:ext cx="13423292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A </a:t>
            </a:r>
            <a:r>
              <a:rPr sz="4106" b="1">
                <a:solidFill>
                  <a:srgbClr val="111111"/>
                </a:solidFill>
                <a:latin typeface="Arial"/>
              </a:rPr>
              <a:t>demonstration-free</a:t>
            </a:r>
            <a:r>
              <a:rPr sz="4106" b="0">
                <a:solidFill>
                  <a:srgbClr val="1C1C1C"/>
                </a:solidFill>
                <a:latin typeface="Arial"/>
              </a:rPr>
              <a:t> VaPRL performs far worse than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the original — prior methods lean heavily on that extra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data.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12120524" y="6985317"/>
            <a:ext cx="13423169" cy="367407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Two roles alternate: a </a:t>
            </a:r>
            <a:r>
              <a:rPr sz="4106" b="1">
                <a:solidFill>
                  <a:srgbClr val="111111"/>
                </a:solidFill>
                <a:latin typeface="Arial"/>
              </a:rPr>
              <a:t>forward agent</a:t>
            </a:r>
            <a:r>
              <a:rPr sz="4106" b="0">
                <a:solidFill>
                  <a:srgbClr val="1C1C1C"/>
                </a:solidFill>
                <a:latin typeface="Arial"/>
              </a:rPr>
              <a:t> π</a:t>
            </a:r>
            <a:r>
              <a:rPr sz="5749" b="0" baseline="-25000">
                <a:solidFill>
                  <a:srgbClr val="1C1C1C"/>
                </a:solidFill>
                <a:latin typeface="Arial"/>
              </a:rPr>
              <a:t>f</a:t>
            </a:r>
            <a:r>
              <a:rPr sz="4106" b="0">
                <a:solidFill>
                  <a:srgbClr val="1C1C1C"/>
                </a:solidFill>
                <a:latin typeface="Arial"/>
              </a:rPr>
              <a:t> does the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task; an </a:t>
            </a:r>
            <a:r>
              <a:rPr sz="4106" b="1">
                <a:solidFill>
                  <a:srgbClr val="111111"/>
                </a:solidFill>
                <a:latin typeface="Arial"/>
              </a:rPr>
              <a:t>auxiliary agent</a:t>
            </a:r>
            <a:r>
              <a:rPr sz="4106" b="0">
                <a:solidFill>
                  <a:srgbClr val="1C1C1C"/>
                </a:solidFill>
                <a:latin typeface="Arial"/>
              </a:rPr>
              <a:t> π</a:t>
            </a:r>
            <a:r>
              <a:rPr sz="5749" b="0" baseline="-25000">
                <a:solidFill>
                  <a:srgbClr val="1C1C1C"/>
                </a:solidFill>
                <a:latin typeface="Arial"/>
              </a:rPr>
              <a:t>a</a:t>
            </a:r>
            <a:r>
              <a:rPr sz="4106" b="0">
                <a:solidFill>
                  <a:srgbClr val="1C1C1C"/>
                </a:solidFill>
                <a:latin typeface="Arial"/>
              </a:rPr>
              <a:t> resets it toward target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states, firing </a:t>
            </a:r>
            <a:r>
              <a:rPr sz="4106" b="1">
                <a:solidFill>
                  <a:srgbClr val="111111"/>
                </a:solidFill>
                <a:latin typeface="Arial"/>
              </a:rPr>
              <a:t>only on failure</a:t>
            </a:r>
            <a:r>
              <a:rPr sz="4106" b="0">
                <a:solidFill>
                  <a:srgbClr val="1C1C1C"/>
                </a:solidFill>
                <a:latin typeface="Arial"/>
              </a:rPr>
              <a:t> so it fades as an </a:t>
            </a:r>
            <a:r>
              <a:rPr sz="4106" b="0" i="1">
                <a:solidFill>
                  <a:srgbClr val="1C1C1C"/>
                </a:solidFill>
                <a:latin typeface="Arial"/>
              </a:rPr>
              <a:t>implicit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 i="1">
                <a:solidFill>
                  <a:srgbClr val="1C1C1C"/>
                </a:solidFill>
                <a:latin typeface="Arial"/>
              </a:rPr>
              <a:t>curriculum</a:t>
            </a:r>
            <a:r>
              <a:rPr sz="4106" b="0">
                <a:solidFill>
                  <a:srgbClr val="1C1C1C"/>
                </a:solidFill>
                <a:latin typeface="Arial"/>
              </a:rPr>
              <a:t>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2120524" y="10362684"/>
            <a:ext cx="13423169" cy="26089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A </a:t>
            </a:r>
            <a:r>
              <a:rPr sz="4106" b="1">
                <a:solidFill>
                  <a:srgbClr val="111111"/>
                </a:solidFill>
                <a:latin typeface="Arial"/>
              </a:rPr>
              <a:t>bidirectional curriculum</a:t>
            </a:r>
            <a:r>
              <a:rPr sz="4106" b="0">
                <a:solidFill>
                  <a:srgbClr val="1C1C1C"/>
                </a:solidFill>
                <a:latin typeface="Arial"/>
              </a:rPr>
              <a:t> solves a Wasserstein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Barycenter (Min-Cost-Max-Flow) for K forward + K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auxiliary goals.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888842" y="14604325"/>
            <a:ext cx="10640962" cy="347854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Naive reset-free RL is unstable: an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untrained agent wanders to arbitrary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states, so each attempt starts from a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wildly different condition.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888842" y="17811670"/>
            <a:ext cx="10640962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Prior methods still need manual resets,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lucky interactions, or (VaPRL, MEDAL)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demonstrations</a:t>
            </a:r>
            <a:r>
              <a:rPr sz="4106" b="0">
                <a:solidFill>
                  <a:srgbClr val="1C1C1C"/>
                </a:solidFill>
                <a:latin typeface="Arial"/>
              </a:rPr>
              <a:t> to seed their curricula.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26574710" y="23071077"/>
            <a:ext cx="12349383" cy="191786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Evaluation success rate vs. steps: IBC (blue) reaches the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episodic oracle (dashed) while demo-free baselines stay near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zero. Shading = std over 5 seeds.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43664346" y="25464710"/>
            <a:ext cx="3064203" cy="5723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3920"/>
              </a:lnSpc>
              <a:spcBef>
                <a:spcPts val="0"/>
              </a:spcBef>
              <a:spcAft>
                <a:spcPts val="0"/>
              </a:spcAft>
            </a:pPr>
            <a:r>
              <a:rPr sz="3733" b="1" spc="-18">
                <a:solidFill>
                  <a:srgbClr val="38465C"/>
                </a:solidFill>
                <a:latin typeface="Arial"/>
              </a:rPr>
              <a:t>Scan to Read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3007736" y="28420635"/>
            <a:ext cx="11595386" cy="1278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IBC training loop; only forward policy π_f is deployed at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evaluation.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1497687" y="28752621"/>
            <a:ext cx="9386618" cy="1278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Bidirectional curriculum; the auxiliary agent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fades once the agent is capable.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40232250" y="7207567"/>
            <a:ext cx="5084543" cy="1553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38465C"/>
                </a:solidFill>
                <a:latin typeface="Arial"/>
              </a:rPr>
              <a:t>0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0232250" y="8582461"/>
            <a:ext cx="5084543" cy="1199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demonstrations ·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manual resets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40232250" y="9625369"/>
            <a:ext cx="5084543" cy="94056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yet matches episodic oracle</a:t>
            </a:r>
          </a:p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RL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46220637" y="7207567"/>
            <a:ext cx="306749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6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26053395" y="7217707"/>
            <a:ext cx="7630964" cy="93656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38465C"/>
                </a:solidFill>
                <a:latin typeface="Arial"/>
              </a:rPr>
              <a:t>Method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3462098" y="7217707"/>
            <a:ext cx="2768327" cy="93656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38465C"/>
                </a:solidFill>
                <a:latin typeface="Arial"/>
              </a:rPr>
              <a:t>Demos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6149795" y="7217707"/>
            <a:ext cx="3024000" cy="93656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38465C"/>
                </a:solidFill>
                <a:latin typeface="Arial"/>
              </a:rPr>
              <a:t>Resets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6700975" y="7340917"/>
            <a:ext cx="3216291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sparse-reward envs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26053395" y="8032115"/>
            <a:ext cx="7630964" cy="94167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C1C1C"/>
                </a:solidFill>
                <a:latin typeface="Arial"/>
              </a:rPr>
              <a:t>Oracle RL (episodic)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33462098" y="8032115"/>
            <a:ext cx="2768327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0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36149795" y="8032115"/>
            <a:ext cx="3024000" cy="94167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required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6220637" y="8332013"/>
            <a:ext cx="935843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~10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7311746" y="8465363"/>
            <a:ext cx="2842582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target states (vs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thousands)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26053395" y="8850967"/>
            <a:ext cx="7630964" cy="941679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1C1C1C"/>
                </a:solidFill>
                <a:latin typeface="Arial"/>
              </a:rPr>
              <a:t>VaPRL / MEDAL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33462098" y="8850967"/>
            <a:ext cx="2768327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expert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6149795" y="8850967"/>
            <a:ext cx="3024000" cy="941679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0">
                <a:solidFill>
                  <a:srgbClr val="1C1C1C"/>
                </a:solidFill>
                <a:latin typeface="Arial"/>
              </a:rPr>
              <a:t>0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46220637" y="9579530"/>
            <a:ext cx="306749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5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26053395" y="9669819"/>
            <a:ext cx="7630964" cy="941680"/>
          </a:xfrm>
          <a:prstGeom prst="rect">
            <a:avLst/>
          </a:prstGeom>
          <a:noFill/>
        </p:spPr>
        <p:txBody>
          <a:bodyPr wrap="square" lIns="71120" rIns="71120" tIns="53340" bIns="53340">
            <a:spAutoFit/>
          </a:bodyPr>
          <a:lstStyle/>
          <a:p>
            <a:pPr algn="l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38465C"/>
                </a:solidFill>
                <a:latin typeface="Arial"/>
              </a:rPr>
              <a:t>IBC (ours)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33462098" y="9669819"/>
            <a:ext cx="2768327" cy="941680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38465C"/>
                </a:solidFill>
                <a:latin typeface="Arial"/>
              </a:rPr>
              <a:t>0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36149795" y="9669819"/>
            <a:ext cx="3024000" cy="941680"/>
          </a:xfrm>
          <a:prstGeom prst="rect">
            <a:avLst/>
          </a:prstGeom>
          <a:noFill/>
        </p:spPr>
        <p:txBody>
          <a:bodyPr wrap="none" lIns="71120" rIns="71120" tIns="53340" bIns="53340">
            <a:spAutoFit/>
          </a:bodyPr>
          <a:lstStyle/>
          <a:p>
            <a:pPr algn="ctr">
              <a:lnSpc>
                <a:spcPts val="5537"/>
              </a:lnSpc>
              <a:spcBef>
                <a:spcPts val="0"/>
              </a:spcBef>
              <a:spcAft>
                <a:spcPts val="0"/>
              </a:spcAft>
            </a:pPr>
            <a:r>
              <a:rPr sz="3819" b="1">
                <a:solidFill>
                  <a:srgbClr val="38465C"/>
                </a:solidFill>
                <a:latin typeface="Arial"/>
              </a:rPr>
              <a:t>0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46700975" y="9712880"/>
            <a:ext cx="2606511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seeds averaged</a:t>
            </a:r>
          </a:p>
        </p:txBody>
      </p:sp>
      <p:pic>
        <p:nvPicPr>
          <p:cNvPr id="116" name="Picture 115" descr="eq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3854787" y="13039824"/>
            <a:ext cx="9563556" cy="800100"/>
          </a:xfrm>
          <a:prstGeom prst="rect">
            <a:avLst/>
          </a:prstGeom>
        </p:spPr>
      </p:pic>
      <p:pic>
        <p:nvPicPr>
          <p:cNvPr id="117" name="Picture 116" descr="eq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6975038" y="13907293"/>
            <a:ext cx="285035" cy="40005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
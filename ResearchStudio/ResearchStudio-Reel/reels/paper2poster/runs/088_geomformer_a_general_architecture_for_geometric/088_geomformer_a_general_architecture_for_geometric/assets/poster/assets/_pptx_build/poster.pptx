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02405"/>
          </a:xfrm>
          <a:prstGeom prst="roundRect">
            <a:avLst>
              <a:gd name="adj" fmla="val 2961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2114292"/>
            <a:ext cx="3094136" cy="1877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91937" y="2114292"/>
            <a:ext cx="17780" cy="1877456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5975746"/>
            <a:ext cx="10718284" cy="6838355"/>
          </a:xfrm>
          <a:prstGeom prst="roundRect">
            <a:avLst>
              <a:gd name="adj" fmla="val 780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96891" y="5975746"/>
            <a:ext cx="13397785" cy="24096206"/>
          </a:xfrm>
          <a:prstGeom prst="roundRect">
            <a:avLst>
              <a:gd name="adj" fmla="val 39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21396" y="5975746"/>
            <a:ext cx="13397925" cy="6257588"/>
          </a:xfrm>
          <a:prstGeom prst="roundRect">
            <a:avLst>
              <a:gd name="adj" fmla="val 852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446041" y="5975746"/>
            <a:ext cx="11108471" cy="8761373"/>
          </a:xfrm>
          <a:prstGeom prst="roundRect">
            <a:avLst>
              <a:gd name="adj" fmla="val 60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21396" y="12565181"/>
            <a:ext cx="13397925" cy="17506771"/>
          </a:xfrm>
          <a:prstGeom prst="roundRect">
            <a:avLst>
              <a:gd name="adj" fmla="val 398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13145948"/>
            <a:ext cx="10718284" cy="16926004"/>
          </a:xfrm>
          <a:prstGeom prst="roundRect">
            <a:avLst>
              <a:gd name="adj" fmla="val 497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446041" y="15068966"/>
            <a:ext cx="11108471" cy="5891014"/>
          </a:xfrm>
          <a:prstGeom prst="roundRect">
            <a:avLst>
              <a:gd name="adj" fmla="val 905"/>
            </a:avLst>
          </a:prstGeom>
          <a:solidFill>
            <a:srgbClr val="FAFAF7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446041" y="21291827"/>
            <a:ext cx="11108471" cy="8780125"/>
          </a:xfrm>
          <a:prstGeom prst="roundRect">
            <a:avLst>
              <a:gd name="adj" fmla="val 607"/>
            </a:avLst>
          </a:prstGeom>
          <a:solidFill>
            <a:srgbClr val="ECF3EE"/>
          </a:solidFill>
          <a:ln w="8890">
            <a:solidFill>
              <a:srgbClr val="B9C2B9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446041" y="21291827"/>
            <a:ext cx="53340" cy="8780125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6363850"/>
            <a:ext cx="9942076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9991" y="7323970"/>
            <a:ext cx="9942076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84995" y="6363850"/>
            <a:ext cx="12621577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84995" y="7323970"/>
            <a:ext cx="12621577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09500" y="6363850"/>
            <a:ext cx="12621717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09500" y="7323970"/>
            <a:ext cx="12621717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834145" y="6363850"/>
            <a:ext cx="103322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834145" y="7323970"/>
            <a:ext cx="1033226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0947340"/>
            <a:ext cx="9942076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0947340"/>
            <a:ext cx="124460" cy="1481018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834145" y="11966217"/>
            <a:ext cx="10332263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834145" y="11966217"/>
            <a:ext cx="1033226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09500" y="12953285"/>
            <a:ext cx="12621717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09500" y="13913405"/>
            <a:ext cx="12621717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3534052"/>
            <a:ext cx="9942076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4494172"/>
            <a:ext cx="9942076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834145" y="15457070"/>
            <a:ext cx="103322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834145" y="16417190"/>
            <a:ext cx="1033226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834145" y="16755010"/>
            <a:ext cx="10332263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184995" y="18578572"/>
            <a:ext cx="12621577" cy="1650206"/>
          </a:xfrm>
          <a:prstGeom prst="roundRect">
            <a:avLst>
              <a:gd name="adj" fmla="val 13653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878595" y="21679931"/>
            <a:ext cx="1028781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878595" y="22640051"/>
            <a:ext cx="10287813" cy="17780"/>
          </a:xfrm>
          <a:prstGeom prst="rect">
            <a:avLst/>
          </a:prstGeom>
          <a:solidFill>
            <a:srgbClr val="C0CF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009500" y="22630189"/>
            <a:ext cx="12621717" cy="1942187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878595" y="27433845"/>
            <a:ext cx="10287813" cy="2346821"/>
          </a:xfrm>
          <a:prstGeom prst="roundRect">
            <a:avLst>
              <a:gd name="adj" fmla="val 8889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09500" y="28070313"/>
            <a:ext cx="12621717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09500" y="28070313"/>
            <a:ext cx="12621717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peking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9576" y="1166401"/>
            <a:ext cx="1007348" cy="1004558"/>
          </a:xfrm>
          <a:prstGeom prst="rect">
            <a:avLst/>
          </a:prstGeom>
        </p:spPr>
      </p:pic>
      <p:pic>
        <p:nvPicPr>
          <p:cNvPr id="41" name="Picture 40" descr="microsoft-research-ai4sc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898" y="1166401"/>
            <a:ext cx="1007349" cy="100455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5600143" y="2384325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6823" y="2491005"/>
            <a:ext cx="1801614" cy="180161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7875844" y="2384325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2524" y="2491005"/>
            <a:ext cx="1801614" cy="180161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6009500" y="10112930"/>
            <a:ext cx="3099138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OC20 · 460K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265046" y="10112930"/>
            <a:ext cx="4551958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PCQM4Mv2 · 3.37M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973412" y="10112930"/>
            <a:ext cx="4576683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Molecule3D · 2.34M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834145" y="10278506"/>
            <a:ext cx="3270270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365142" y="10278506"/>
            <a:ext cx="3270270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6896139" y="10278506"/>
            <a:ext cx="3270269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6009500" y="11089163"/>
            <a:ext cx="290105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N-body sim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066966" y="11089163"/>
            <a:ext cx="3123585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MD17 forces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590837" y="16977260"/>
            <a:ext cx="4329707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590837" y="16977260"/>
            <a:ext cx="11557" cy="3481824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184995" y="20737869"/>
            <a:ext cx="12621577" cy="7572891"/>
          </a:xfrm>
          <a:prstGeom prst="roundRect">
            <a:avLst>
              <a:gd name="adj" fmla="val 46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5041" y="20737869"/>
            <a:ext cx="12621485" cy="7572891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39991" y="24568487"/>
            <a:ext cx="4452223" cy="4932839"/>
          </a:xfrm>
          <a:prstGeom prst="roundRect">
            <a:avLst>
              <a:gd name="adj" fmla="val 4685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29705" y="24568487"/>
            <a:ext cx="4452362" cy="5121890"/>
          </a:xfrm>
          <a:prstGeom prst="roundRect">
            <a:avLst>
              <a:gd name="adj" fmla="val 4685"/>
            </a:avLst>
          </a:prstGeom>
          <a:solidFill>
            <a:srgbClr val="F2F5F3"/>
          </a:solidFill>
          <a:ln w="889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009500" y="21355585"/>
            <a:ext cx="12621717" cy="945118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009500" y="16868636"/>
            <a:ext cx="6406357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009500" y="17566223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415857" y="16868636"/>
            <a:ext cx="2813962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415857" y="17566223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229819" y="16868636"/>
            <a:ext cx="3401398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229819" y="17566223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009500" y="17575113"/>
            <a:ext cx="640635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009500" y="18511341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415857" y="17575113"/>
            <a:ext cx="281396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415857" y="18511341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229819" y="17575113"/>
            <a:ext cx="34013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229819" y="18511341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009500" y="18520231"/>
            <a:ext cx="640635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009500" y="19456459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415857" y="18520231"/>
            <a:ext cx="281396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415857" y="19456459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229819" y="18520231"/>
            <a:ext cx="34013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229819" y="19456459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009500" y="19465349"/>
            <a:ext cx="640635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009500" y="20401577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415857" y="19465349"/>
            <a:ext cx="281396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415857" y="20401577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229819" y="19465349"/>
            <a:ext cx="34013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229819" y="20401577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6009500" y="20410467"/>
            <a:ext cx="640635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009500" y="21346695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415857" y="20410467"/>
            <a:ext cx="281396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415857" y="21346695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29819" y="20410467"/>
            <a:ext cx="34013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5229819" y="21346695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6009500" y="21355585"/>
            <a:ext cx="640635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6009500" y="22291813"/>
            <a:ext cx="6406357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415857" y="21355585"/>
            <a:ext cx="281396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415857" y="22291813"/>
            <a:ext cx="281396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229819" y="21355585"/>
            <a:ext cx="34013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5229819" y="22291813"/>
            <a:ext cx="340139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78677" y="1031101"/>
            <a:ext cx="40479226" cy="2809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569"/>
              </a:lnSpc>
              <a:spcBef>
                <a:spcPts val="0"/>
              </a:spcBef>
              <a:spcAft>
                <a:spcPts val="0"/>
              </a:spcAft>
            </a:pPr>
            <a:r>
              <a:rPr sz="7651" b="1" spc="-85">
                <a:solidFill>
                  <a:srgbClr val="2D5F3E"/>
                </a:solidFill>
                <a:latin typeface="Arial"/>
              </a:rPr>
              <a:t>GeoMFormer: A General Architecture for Geometric Molecular Representation</a:t>
            </a:r>
          </a:p>
          <a:p>
            <a:pPr algn="ctr">
              <a:lnSpc>
                <a:spcPts val="8569"/>
              </a:lnSpc>
              <a:spcBef>
                <a:spcPts val="0"/>
              </a:spcBef>
              <a:spcAft>
                <a:spcPts val="0"/>
              </a:spcAft>
            </a:pPr>
            <a:r>
              <a:rPr sz="7651" b="1" spc="-85">
                <a:solidFill>
                  <a:srgbClr val="2D5F3E"/>
                </a:solidFill>
                <a:latin typeface="Arial"/>
              </a:rPr>
              <a:t>Learning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78677" y="3746440"/>
            <a:ext cx="40479226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Tianlang Chen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Shengjie Luo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Di He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Shuxin Zheng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Tie-Yan Liu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Liwei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2,4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8677" y="4559458"/>
            <a:ext cx="40479226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School of EECS, Peking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Nat. Key Lab of General AI, Peking University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Microsoft Research AI4Science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Center for ML Research, Peking University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15581" y="2114292"/>
            <a:ext cx="2582617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2D5F3E"/>
                </a:solidFill>
                <a:latin typeface="Arial"/>
              </a:rPr>
              <a:t>ICML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05793" y="3235543"/>
            <a:ext cx="1366781" cy="869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9991" y="6363850"/>
            <a:ext cx="10240338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184995" y="6363850"/>
            <a:ext cx="13000224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009500" y="6363850"/>
            <a:ext cx="13000368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Dataset / Benchmark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834145" y="6363850"/>
            <a:ext cx="10642230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Ablation Study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9991" y="7661790"/>
            <a:ext cx="10240338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Molecular modeling must respect physical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law: predictions stay </a:t>
            </a:r>
            <a:r>
              <a:rPr sz="4106" b="1">
                <a:solidFill>
                  <a:srgbClr val="111111"/>
                </a:solidFill>
                <a:latin typeface="Arial"/>
              </a:rPr>
              <a:t>invariant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to rotation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&amp; translation for scalars (energy),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equivariant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for vectors (forces).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9991" y="10947340"/>
            <a:ext cx="10240338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framework learns both invariant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equivariant features well at once.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834145" y="11966217"/>
            <a:ext cx="10642230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Relative gains from adding both cross-attention modules; each of the four attention blocks contributes.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009500" y="12953285"/>
            <a:ext cx="13000368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9991" y="13534052"/>
            <a:ext cx="10240338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009500" y="14295258"/>
            <a:ext cx="13000368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GeoMFormer sets state-of-the-art or highly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competitive results on every benchmark, invariant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equivariant alike: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834145" y="15457070"/>
            <a:ext cx="10642230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677542" y="19788445"/>
            <a:ext cx="992543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equivariant attention score, summed over the 3-D Query/Key — provably equivariant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878595" y="21679931"/>
            <a:ext cx="10596447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Takeaway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009500" y="22630189"/>
            <a:ext cx="13000368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New SOTA on OC20, Molecule3D, PCQM4Mv2 &amp;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N-body — all at O(n²) cost.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78595" y="23184981"/>
            <a:ext cx="10596447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Two standard Transformer streams —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invariant, one equivariant — bridged by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cross-attention form a single general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architecture that learns both representations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beats specialized geometric models.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78595" y="27433845"/>
            <a:ext cx="10596447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Many prior geometric models are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special cases of GeoMFormer — 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unifying design principle.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009500" y="28070313"/>
            <a:ext cx="13000368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single Transformer wins on both invariant and equivariant tasks at O(n²) complexity.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183827" y="4569876"/>
            <a:ext cx="873034" cy="425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504951" y="4569876"/>
            <a:ext cx="779463" cy="425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09482" y="7661790"/>
            <a:ext cx="1300038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broad suite stressing </a:t>
            </a:r>
            <a:r>
              <a:rPr sz="4106" b="1">
                <a:solidFill>
                  <a:srgbClr val="111111"/>
                </a:solidFill>
                <a:latin typeface="Arial"/>
              </a:rPr>
              <a:t>both</a:t>
            </a:r>
            <a:r>
              <a:rPr sz="4106" b="0">
                <a:solidFill>
                  <a:srgbClr val="1C1C1C"/>
                </a:solidFill>
                <a:latin typeface="Arial"/>
              </a:rPr>
              <a:t> invariant (energy,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HOMO-LUMO gap) and equivariant (structure,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position, force) prediction.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834127" y="7744579"/>
            <a:ext cx="10642249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Removing the cross-attention bridge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degrades every task sharply — it is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heart of the design.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84976" y="7769443"/>
            <a:ext cx="1300024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Two parallel streams.</a:t>
            </a:r>
            <a:r>
              <a:rPr sz="4106" b="0">
                <a:solidFill>
                  <a:srgbClr val="1C1C1C"/>
                </a:solidFill>
                <a:latin typeface="Arial"/>
              </a:rPr>
              <a:t> Every atom carries 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invariant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feature and an </a:t>
            </a:r>
            <a:r>
              <a:rPr sz="4106" b="1">
                <a:solidFill>
                  <a:srgbClr val="111111"/>
                </a:solidFill>
                <a:latin typeface="Arial"/>
              </a:rPr>
              <a:t>equivariant</a:t>
            </a:r>
            <a:r>
              <a:rPr sz="4106" b="0">
                <a:solidFill>
                  <a:srgbClr val="1C1C1C"/>
                </a:solidFill>
                <a:latin typeface="Arial"/>
              </a:rPr>
              <a:t> 3D feature,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each in its own Transformer stream.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184976" y="10220582"/>
            <a:ext cx="1300024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Cross-attention bridge.</a:t>
            </a:r>
            <a:r>
              <a:rPr sz="4106" b="0">
                <a:solidFill>
                  <a:srgbClr val="1C1C1C"/>
                </a:solidFill>
                <a:latin typeface="Arial"/>
              </a:rPr>
              <a:t> Each stream queries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other (Inv←Equ, Equ←Inv), fusing the two kinds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geometric information — the key innovation.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184976" y="12671722"/>
            <a:ext cx="1300024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Equivariance by construction.</a:t>
            </a:r>
            <a:r>
              <a:rPr sz="4106" b="0">
                <a:solidFill>
                  <a:srgbClr val="1C1C1C"/>
                </a:solidFill>
                <a:latin typeface="Arial"/>
              </a:rPr>
              <a:t> Equivariant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attention sums dot products over the 3D Query/Key,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provably preserving equivariance; self-attention +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FFN complete each block.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9972" y="15267324"/>
            <a:ext cx="10240357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Hand-crafted equivariant modules.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Prior geometric nets rely on costly,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specialized operations that scale poorly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or sacrifice expressive power.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184976" y="15879067"/>
            <a:ext cx="1300024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One general framework.</a:t>
            </a:r>
            <a:r>
              <a:rPr sz="4106" b="0">
                <a:solidFill>
                  <a:srgbClr val="1C1C1C"/>
                </a:solidFill>
                <a:latin typeface="Arial"/>
              </a:rPr>
              <a:t> Many prior geometric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models arise as special cases by restricting these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modules.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9972" y="18474670"/>
            <a:ext cx="10240357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Constrained by design.</a:t>
            </a:r>
            <a:r>
              <a:rPr sz="4106" b="0">
                <a:solidFill>
                  <a:srgbClr val="1C1C1C"/>
                </a:solidFill>
                <a:latin typeface="Arial"/>
              </a:rPr>
              <a:t>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equivariance constraint limits available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operations, so architectures grow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complex and hard to scale.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9972" y="21682015"/>
            <a:ext cx="1024035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One model, both jobs.</a:t>
            </a:r>
            <a:r>
              <a:rPr sz="4106" b="0">
                <a:solidFill>
                  <a:srgbClr val="1C1C1C"/>
                </a:solidFill>
                <a:latin typeface="Arial"/>
              </a:rPr>
              <a:t> Real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applications need one network strong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both prediction types.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622508" y="24568487"/>
            <a:ext cx="800209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2D5F3E"/>
                </a:solidFill>
                <a:latin typeface="Arial"/>
              </a:rPr>
              <a:t>vs.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009500" y="25027711"/>
            <a:ext cx="4032954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2D5F3E"/>
                </a:solidFill>
                <a:latin typeface="Arial"/>
              </a:rPr>
              <a:t>10.67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0133488" y="25854481"/>
            <a:ext cx="8752660" cy="2347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OC20 IS2RS ADwT (equivariant) vs 8.36</a:t>
            </a:r>
          </a:p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prior best — also wins at structure</a:t>
            </a:r>
          </a:p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prediction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689919" y="28460362"/>
            <a:ext cx="1196008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GeoMFormer block: parallel invariant / equivariant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Transformer streams bridged by self- and cross-attention.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0042643" y="10434915"/>
            <a:ext cx="29388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+20.8%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573640" y="10434915"/>
            <a:ext cx="29388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+60.8%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104637" y="10434915"/>
            <a:ext cx="29388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/>
              </a:rPr>
              <a:t>+17.5%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042643" y="11337111"/>
            <a:ext cx="2938871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MD17 energy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3573640" y="11337111"/>
            <a:ext cx="2938871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MD17 forces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104637" y="11337111"/>
            <a:ext cx="2938871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N-body MSE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080009" y="17565528"/>
            <a:ext cx="508525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−33.8%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080009" y="18940422"/>
            <a:ext cx="508525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N-body MSE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080009" y="19461876"/>
            <a:ext cx="508525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0.0071 → 0.0047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83493" y="24785875"/>
            <a:ext cx="4084174" cy="1304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PRIOR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GEOMETRIC NETS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773207" y="24785875"/>
            <a:ext cx="4084317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GEOMFORMER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773207" y="25431234"/>
            <a:ext cx="4084317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Standard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blocks;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principle.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83493" y="25998388"/>
            <a:ext cx="408417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Hand-built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equivariant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modules; scale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poorly.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009500" y="16868636"/>
            <a:ext cx="6598547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BENCHMARK (METRIC ↓)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415857" y="16868636"/>
            <a:ext cx="289838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PREV. BEST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229819" y="16868636"/>
            <a:ext cx="350343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GEOMFORMER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069091" y="16977260"/>
            <a:ext cx="168397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0.0734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886540" y="17110610"/>
            <a:ext cx="209502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PCQM4Mv2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009500" y="17575113"/>
            <a:ext cx="659854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OC20 IS2RE · MAE (eV)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415857" y="17575113"/>
            <a:ext cx="289838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0.4410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229819" y="17575113"/>
            <a:ext cx="350343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0.4141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069091" y="18224777"/>
            <a:ext cx="188656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−16.3%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083231" y="18358127"/>
            <a:ext cx="1934067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Molecule3D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6009500" y="18520231"/>
            <a:ext cx="659854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PCQM4Mv2 · Valid MAE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415857" y="18520231"/>
            <a:ext cx="289838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0.0867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229819" y="18520231"/>
            <a:ext cx="350343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0.0734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6009500" y="19465349"/>
            <a:ext cx="659854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Molecule3D · MAE (rand.)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2415857" y="19465349"/>
            <a:ext cx="289838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0.0301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5229819" y="19465349"/>
            <a:ext cx="350343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0.0252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069091" y="19472294"/>
            <a:ext cx="188656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+60.8%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083231" y="19605644"/>
            <a:ext cx="189243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MD17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force (abl.)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6009500" y="20410467"/>
            <a:ext cx="659854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Molecule3D · MAE (scaf.)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2415857" y="20410467"/>
            <a:ext cx="289838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0.1182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229819" y="20410467"/>
            <a:ext cx="350343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0.1045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6009500" y="21355585"/>
            <a:ext cx="659854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N-body · MSE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2415857" y="21355585"/>
            <a:ext cx="289838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0.0071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229819" y="21355585"/>
            <a:ext cx="350343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0.0047</a:t>
            </a:r>
          </a:p>
        </p:txBody>
      </p:sp>
      <p:pic>
        <p:nvPicPr>
          <p:cNvPr id="171" name="Picture 170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2267" y="18777902"/>
            <a:ext cx="7367032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
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6830437"/>
          </a:xfrm>
          <a:prstGeom prst="roundRect">
            <a:avLst>
              <a:gd name="adj" fmla="val 2082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3128307"/>
            <a:ext cx="2978566" cy="18774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6367" y="3128307"/>
            <a:ext cx="17780" cy="1877457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8003778"/>
            <a:ext cx="10804961" cy="6784737"/>
          </a:xfrm>
          <a:prstGeom prst="roundRect">
            <a:avLst>
              <a:gd name="adj" fmla="val 104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3568" y="8003778"/>
            <a:ext cx="13506133" cy="2206817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16421" y="8003778"/>
            <a:ext cx="13506271" cy="2206817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8003778"/>
            <a:ext cx="10804962" cy="8514397"/>
          </a:xfrm>
          <a:prstGeom prst="roundRect">
            <a:avLst>
              <a:gd name="adj" fmla="val 83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5120362"/>
            <a:ext cx="10804961" cy="6929199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16612909"/>
            <a:ext cx="10804962" cy="5645011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22352654"/>
            <a:ext cx="10804962" cy="7719298"/>
          </a:xfrm>
          <a:prstGeom prst="roundRect">
            <a:avLst>
              <a:gd name="adj" fmla="val 921"/>
            </a:avLst>
          </a:prstGeom>
          <a:solidFill>
            <a:srgbClr val="F7F0E8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22352654"/>
            <a:ext cx="53340" cy="7719298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887" y="22381408"/>
            <a:ext cx="10804961" cy="7690544"/>
          </a:xfrm>
          <a:prstGeom prst="roundRect">
            <a:avLst>
              <a:gd name="adj" fmla="val 92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8391882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9245322"/>
            <a:ext cx="1002875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71672" y="8391882"/>
            <a:ext cx="12729925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9245322"/>
            <a:ext cx="12729925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204525" y="8391882"/>
            <a:ext cx="1273006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04525" y="9245322"/>
            <a:ext cx="1273006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8391882"/>
            <a:ext cx="1002875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9245322"/>
            <a:ext cx="1002875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204525" y="12757288"/>
            <a:ext cx="12730063" cy="1942188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2922031"/>
            <a:ext cx="10028753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2922031"/>
            <a:ext cx="124460" cy="1481019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15508466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991" y="16361906"/>
            <a:ext cx="1002875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37516" y="17001013"/>
            <a:ext cx="1002875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37516" y="17854453"/>
            <a:ext cx="1002875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137516" y="18245613"/>
            <a:ext cx="10028754" cy="3632677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271672" y="18993901"/>
            <a:ext cx="12729925" cy="2664222"/>
          </a:xfrm>
          <a:prstGeom prst="roundRect">
            <a:avLst>
              <a:gd name="adj" fmla="val 8456"/>
            </a:avLst>
          </a:prstGeom>
          <a:solidFill>
            <a:srgbClr val="F9F5F1"/>
          </a:solidFill>
          <a:ln w="8890">
            <a:solidFill>
              <a:srgbClr val="E1C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81966" y="22740758"/>
            <a:ext cx="998430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181966" y="23594198"/>
            <a:ext cx="9984304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9991" y="22769512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9991" y="23622952"/>
            <a:ext cx="10028753" cy="711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181966" y="28027114"/>
            <a:ext cx="9984304" cy="1668819"/>
          </a:xfrm>
          <a:prstGeom prst="roundRect">
            <a:avLst>
              <a:gd name="adj" fmla="val 125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204525" y="28062535"/>
            <a:ext cx="12730063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04525" y="28062535"/>
            <a:ext cx="12730063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university-of-california-berke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4848" y="2420459"/>
            <a:ext cx="1658263" cy="524474"/>
          </a:xfrm>
          <a:prstGeom prst="rect">
            <a:avLst/>
          </a:prstGeom>
        </p:spPr>
      </p:pic>
      <p:pic>
        <p:nvPicPr>
          <p:cNvPr id="39" name="Picture 38" descr="oak-ridge-national-labora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085" y="2420451"/>
            <a:ext cx="2174716" cy="524490"/>
          </a:xfrm>
          <a:prstGeom prst="rect">
            <a:avLst/>
          </a:prstGeom>
        </p:spPr>
      </p:pic>
      <p:pic>
        <p:nvPicPr>
          <p:cNvPr id="40" name="Picture 39" descr="university-of-tennessee-knoxvil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1775" y="2420468"/>
            <a:ext cx="784126" cy="524456"/>
          </a:xfrm>
          <a:prstGeom prst="rect">
            <a:avLst/>
          </a:prstGeom>
        </p:spPr>
      </p:pic>
      <p:pic>
        <p:nvPicPr>
          <p:cNvPr id="41" name="Picture 40" descr="university-of-chica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2875" y="2420443"/>
            <a:ext cx="2081372" cy="524506"/>
          </a:xfrm>
          <a:prstGeom prst="rect">
            <a:avLst/>
          </a:prstGeom>
        </p:spPr>
      </p:pic>
      <p:pic>
        <p:nvPicPr>
          <p:cNvPr id="42" name="Picture 41" descr="argonne-national-labora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1221" y="2420448"/>
            <a:ext cx="1928296" cy="524496"/>
          </a:xfrm>
          <a:prstGeom prst="rect">
            <a:avLst/>
          </a:prstGeom>
        </p:spPr>
      </p:pic>
      <p:pic>
        <p:nvPicPr>
          <p:cNvPr id="43" name="Picture 42" descr="us-department-of-energ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4919" y="2420475"/>
            <a:ext cx="525899" cy="52444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2197496" y="315831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04176" y="3264991"/>
            <a:ext cx="1801614" cy="180161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4473197" y="315831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9877" y="3264991"/>
            <a:ext cx="1801614" cy="180161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0137516" y="14538761"/>
            <a:ext cx="3169007" cy="1604923"/>
          </a:xfrm>
          <a:prstGeom prst="roundRect">
            <a:avLst>
              <a:gd name="adj" fmla="val 16248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567250" y="14538761"/>
            <a:ext cx="3169146" cy="1604923"/>
          </a:xfrm>
          <a:prstGeom prst="roundRect">
            <a:avLst>
              <a:gd name="adj" fmla="val 16248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6997123" y="14538761"/>
            <a:ext cx="3169147" cy="1604923"/>
          </a:xfrm>
          <a:prstGeom prst="roundRect">
            <a:avLst>
              <a:gd name="adj" fmla="val 16248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204525" y="15360530"/>
            <a:ext cx="12730063" cy="11303358"/>
          </a:xfrm>
          <a:prstGeom prst="roundRect">
            <a:avLst>
              <a:gd name="adj" fmla="val 31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igure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04559" y="15360530"/>
            <a:ext cx="12729995" cy="11303358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45724187" y="18467863"/>
            <a:ext cx="4196218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4187" y="18467863"/>
            <a:ext cx="11557" cy="3235682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2271672" y="22235001"/>
            <a:ext cx="12729925" cy="5004375"/>
          </a:xfrm>
          <a:prstGeom prst="roundRect">
            <a:avLst>
              <a:gd name="adj" fmla="val 71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figure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71694" y="22235001"/>
            <a:ext cx="12729880" cy="5004375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26204525" y="11407397"/>
            <a:ext cx="12730063" cy="945119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39991" y="24234834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9991" y="26156463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9991" y="28078092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204525" y="9755802"/>
            <a:ext cx="7006292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204525" y="10453389"/>
            <a:ext cx="700629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210817" y="9755802"/>
            <a:ext cx="2978150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210817" y="10453389"/>
            <a:ext cx="2978150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188967" y="9755802"/>
            <a:ext cx="2745621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188967" y="10453389"/>
            <a:ext cx="27456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204525" y="10462279"/>
            <a:ext cx="700629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204525" y="11398507"/>
            <a:ext cx="700629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210817" y="10462279"/>
            <a:ext cx="297815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210817" y="11398507"/>
            <a:ext cx="2978150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188967" y="10462279"/>
            <a:ext cx="274562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188967" y="11398507"/>
            <a:ext cx="27456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204525" y="11407397"/>
            <a:ext cx="700629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204525" y="12343626"/>
            <a:ext cx="700629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210817" y="11407397"/>
            <a:ext cx="2978150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210817" y="12343626"/>
            <a:ext cx="2978150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188967" y="11407397"/>
            <a:ext cx="274562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188967" y="12343626"/>
            <a:ext cx="27456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63107" y="1031101"/>
            <a:ext cx="33789501" cy="2809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716"/>
              </a:lnSpc>
              <a:spcBef>
                <a:spcPts val="0"/>
              </a:spcBef>
              <a:spcAft>
                <a:spcPts val="0"/>
              </a:spcAft>
            </a:pPr>
            <a:r>
              <a:rPr sz="7782" b="1" spc="-85">
                <a:solidFill>
                  <a:srgbClr val="A2521C"/>
                </a:solidFill>
                <a:latin typeface="Arial"/>
              </a:rPr>
              <a:t>Spatial Graph Attention and Curiosity-driven Policy for Antiviral</a:t>
            </a:r>
          </a:p>
          <a:p>
            <a:pPr algn="ctr">
              <a:lnSpc>
                <a:spcPts val="8716"/>
              </a:lnSpc>
              <a:spcBef>
                <a:spcPts val="0"/>
              </a:spcBef>
              <a:spcAft>
                <a:spcPts val="0"/>
              </a:spcAft>
            </a:pPr>
            <a:r>
              <a:rPr sz="7782" b="1" spc="-85">
                <a:solidFill>
                  <a:srgbClr val="A2521C"/>
                </a:solidFill>
                <a:latin typeface="Arial"/>
              </a:rPr>
              <a:t>Drug Discovery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63107" y="3746440"/>
            <a:ext cx="3378950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Yulun Wu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4106" b="0">
                <a:solidFill>
                  <a:srgbClr val="1B2331"/>
                </a:solidFill>
                <a:latin typeface="Arial"/>
              </a:rPr>
              <a:t>, Mikaela Cashman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3,2</a:t>
            </a:r>
            <a:r>
              <a:rPr sz="4106" b="0">
                <a:solidFill>
                  <a:srgbClr val="1B2331"/>
                </a:solidFill>
                <a:latin typeface="Arial"/>
              </a:rPr>
              <a:t>, Nicholas Choma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4,2</a:t>
            </a:r>
            <a:r>
              <a:rPr sz="4106" b="0">
                <a:solidFill>
                  <a:srgbClr val="1B2331"/>
                </a:solidFill>
                <a:latin typeface="Arial"/>
              </a:rPr>
              <a:t>, Érica T. Prates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3,2</a:t>
            </a:r>
            <a:r>
              <a:rPr sz="4106" b="0">
                <a:solidFill>
                  <a:srgbClr val="1B2331"/>
                </a:solidFill>
                <a:latin typeface="Arial"/>
              </a:rPr>
              <a:t>, Verónica Melesse Vergara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5,3</a:t>
            </a:r>
            <a:r>
              <a:rPr sz="4106" b="0">
                <a:solidFill>
                  <a:srgbClr val="1B2331"/>
                </a:solidFill>
                <a:latin typeface="Arial"/>
              </a:rPr>
              <a:t>, Manesh Shah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5</a:t>
            </a:r>
            <a:r>
              <a:rPr sz="4106" b="0">
                <a:solidFill>
                  <a:srgbClr val="1B2331"/>
                </a:solidFill>
                <a:latin typeface="Arial"/>
              </a:rPr>
              <a:t>, Andrew Chen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4,2</a:t>
            </a:r>
            <a:r>
              <a:rPr sz="4106" b="0">
                <a:solidFill>
                  <a:srgbClr val="1B2331"/>
                </a:solidFill>
                <a:latin typeface="Arial"/>
              </a:rPr>
              <a:t>, Austin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Clyde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6</a:t>
            </a:r>
            <a:r>
              <a:rPr sz="4106" b="0">
                <a:solidFill>
                  <a:srgbClr val="1B2331"/>
                </a:solidFill>
                <a:latin typeface="Arial"/>
              </a:rPr>
              <a:t>, Thomas S. Brettin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7</a:t>
            </a:r>
            <a:r>
              <a:rPr sz="4106" b="0">
                <a:solidFill>
                  <a:srgbClr val="1B2331"/>
                </a:solidFill>
                <a:latin typeface="Arial"/>
              </a:rPr>
              <a:t>, Wibe A. de Jong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4,2</a:t>
            </a:r>
            <a:r>
              <a:rPr sz="4106" b="0">
                <a:solidFill>
                  <a:srgbClr val="1B2331"/>
                </a:solidFill>
                <a:latin typeface="Arial"/>
              </a:rPr>
              <a:t>, Neeraj Kumar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8,2</a:t>
            </a:r>
            <a:r>
              <a:rPr sz="4106" b="0">
                <a:solidFill>
                  <a:srgbClr val="1B2331"/>
                </a:solidFill>
                <a:latin typeface="Arial"/>
              </a:rPr>
              <a:t>, Martha S. Head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3,2</a:t>
            </a:r>
            <a:r>
              <a:rPr sz="4106" b="0">
                <a:solidFill>
                  <a:srgbClr val="1B2331"/>
                </a:solidFill>
                <a:latin typeface="Arial"/>
              </a:rPr>
              <a:t>, Rick L. Stevens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6,7</a:t>
            </a:r>
            <a:r>
              <a:rPr sz="4106" b="0">
                <a:solidFill>
                  <a:srgbClr val="1B2331"/>
                </a:solidFill>
                <a:latin typeface="Arial"/>
              </a:rPr>
              <a:t>, Peter Nugent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4,2</a:t>
            </a:r>
            <a:r>
              <a:rPr sz="4106" b="0">
                <a:solidFill>
                  <a:srgbClr val="1B2331"/>
                </a:solidFill>
                <a:latin typeface="Arial"/>
              </a:rPr>
              <a:t>, Daniel A. Jacobson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5,3,2</a:t>
            </a:r>
            <a:r>
              <a:rPr sz="4106" b="0">
                <a:solidFill>
                  <a:srgbClr val="1B2331"/>
                </a:solidFill>
                <a:latin typeface="Arial"/>
              </a:rPr>
              <a:t>,</a:t>
            </a:r>
          </a:p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James B. Brown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1,4,2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63107" y="6071870"/>
            <a:ext cx="33789501" cy="11859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UC Berkeley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National Virtual Biotechnology Lab, US DOE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Oak Ridge Nat. Lab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Lawrence Berkeley Nat. Lab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Univ. of Tennessee, Knoxville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6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Univ. of Chicago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7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Argonne Nat. Lab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8</a:t>
            </a:r>
          </a:p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spc="56">
                <a:solidFill>
                  <a:srgbClr val="55617A"/>
                </a:solidFill>
                <a:latin typeface="Arial"/>
              </a:rPr>
              <a:t>Pacific Northwest Nat. Lab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15581" y="3128307"/>
            <a:ext cx="2463580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A2521C"/>
                </a:solidFill>
                <a:latin typeface="Arial"/>
              </a:rPr>
              <a:t>ICLR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48008" y="4249558"/>
            <a:ext cx="1366781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B2331"/>
                </a:solidFill>
                <a:latin typeface="Arial"/>
              </a:rPr>
              <a:t>2022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8391882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Problem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271672" y="8391882"/>
            <a:ext cx="13111822" cy="1063244"/>
          </a:xfrm>
          <a:prstGeom prst="rect">
            <a:avLst/>
          </a:prstGeom>
          <a:noFill/>
        </p:spPr>
        <p:txBody>
          <a:bodyPr wrap="non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Method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204525" y="8391882"/>
            <a:ext cx="13111964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Key Results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137516" y="8391882"/>
            <a:ext cx="10329616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Ablation Study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91" y="9636482"/>
            <a:ext cx="1032961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Designing molecules that optimize a target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property is hard: chemical space is discrete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vast, and molecular graphs resist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faithful encoding.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204525" y="12757288"/>
            <a:ext cx="13111964" cy="2233516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A2521C"/>
                </a:solidFill>
                <a:latin typeface="Arial"/>
              </a:rPr>
              <a:t>−10.07 best docking vs MolDQN's −8.01  ·  p =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A2521C"/>
                </a:solidFill>
                <a:latin typeface="Arial"/>
              </a:rPr>
              <a:t>8.55×10⁻²⁰⁹ (Welch's t-test)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991" y="12922031"/>
            <a:ext cx="10329615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Vast discrete space; molecular graphs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resist faithful encoding.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15508466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Motivation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137516" y="17001013"/>
            <a:ext cx="10329616" cy="1063244"/>
          </a:xfrm>
          <a:prstGeom prst="rect">
            <a:avLst/>
          </a:prstGeom>
          <a:noFill/>
        </p:spPr>
        <p:txBody>
          <a:bodyPr wrap="square" lIns="0" rIns="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Headline Numbers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353891" y="21217790"/>
            <a:ext cx="10882451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Innovation reward: normalized RND prediction error rewards visiting novel molecular states.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181966" y="22740758"/>
            <a:ext cx="10283833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Takeaway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22769512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Contribution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81966" y="23985358"/>
            <a:ext cx="10283833" cy="43481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encoding 3D structure with spatial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graph attention and rewarding novelty via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RND curiosity, DGAPN generates higher-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affinity, more synthesizable candidates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than prior SOTA generators.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181966" y="28027114"/>
            <a:ext cx="10283833" cy="1919141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Spatial structure + curiosity →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tighter binders and easier synthesis.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204525" y="28062535"/>
            <a:ext cx="13111964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Beats five SOTA generators on binding affinity, with more synthesizable molecules.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781180" y="5343862"/>
            <a:ext cx="87303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102303" y="5343862"/>
            <a:ext cx="77946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137498" y="9636482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Spatial channel.</a:t>
            </a:r>
            <a:r>
              <a:rPr sz="4106" b="0">
                <a:solidFill>
                  <a:srgbClr val="1C1C1C"/>
                </a:solidFill>
                <a:latin typeface="Arial"/>
              </a:rPr>
              <a:t> Spatial convolution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strongly improves supervised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representation learning.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271654" y="9811920"/>
            <a:ext cx="13111841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Fragment MDP.</a:t>
            </a:r>
            <a:r>
              <a:rPr sz="4106" b="0">
                <a:solidFill>
                  <a:srgbClr val="1C1C1C"/>
                </a:solidFill>
                <a:latin typeface="Arial"/>
              </a:rPr>
              <a:t> CReM proposes valid fragment-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swap candidates; an attentional policy picks the next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molecule — every step stays valid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synthesizable.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137498" y="12087621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Curiosity.</a:t>
            </a:r>
            <a:r>
              <a:rPr sz="4106" b="0">
                <a:solidFill>
                  <a:srgbClr val="1C1C1C"/>
                </a:solidFill>
                <a:latin typeface="Arial"/>
              </a:rPr>
              <a:t> Innovation rewards lift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docking; DGAPN even beats a greedy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docking oracle.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271654" y="13019266"/>
            <a:ext cx="13111841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sGAT state encoder.</a:t>
            </a:r>
            <a:r>
              <a:rPr sz="4106" b="0">
                <a:solidFill>
                  <a:srgbClr val="1C1C1C"/>
                </a:solidFill>
                <a:latin typeface="Arial"/>
              </a:rPr>
              <a:t> Self-attends over node/edge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attributes and adds a spatial convolution on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sparsified inverse-distance matrix, fusing chemistry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with geometry.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271654" y="16226611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Curiosity-driven RL.</a:t>
            </a:r>
            <a:r>
              <a:rPr sz="4106" b="0">
                <a:solidFill>
                  <a:srgbClr val="1C1C1C"/>
                </a:solidFill>
                <a:latin typeface="Arial"/>
              </a:rPr>
              <a:t> PPO actor-critic; random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network distillation supplies an innovation reward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driving exploration toward novel states.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9972" y="16761956"/>
            <a:ext cx="10329635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models under-encode molecules,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ignoring bond attributes and 3D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structure, though shape decides binding.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9972" y="19213095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Atom-by-atom action spaces yield long,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unstable trajectories and hard-to-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synthesize molecules.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02133" y="24234834"/>
            <a:ext cx="9338609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sGAT</a:t>
            </a:r>
            <a:r>
              <a:rPr sz="4106" b="0">
                <a:solidFill>
                  <a:srgbClr val="1C1C1C"/>
                </a:solidFill>
                <a:latin typeface="Arial"/>
              </a:rPr>
              <a:t> — self-attention over node &amp;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edge attributes plus 3D structure.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02133" y="26156463"/>
            <a:ext cx="9338609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GAPN</a:t>
            </a:r>
            <a:r>
              <a:rPr sz="4106" b="0">
                <a:solidFill>
                  <a:srgbClr val="1C1C1C"/>
                </a:solidFill>
                <a:latin typeface="Arial"/>
              </a:rPr>
              <a:t> — attentional policy over a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fragment-based action space (PPO).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713755" y="26813490"/>
            <a:ext cx="12062951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QED vs docking score for molecules under each weight ω —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DGAPN keeps strong binders drug-like.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780902" y="27388978"/>
            <a:ext cx="12062807" cy="255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DGAPN in one generation step: CReM proposes candidates,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 shared sGAT encoder feeds graph query/key encoders, the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policy samples the next molecule, and reward combines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evaluation with an RND curiosity score.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02133" y="28078092"/>
            <a:ext cx="9338609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RND curiosity</a:t>
            </a:r>
            <a:r>
              <a:rPr sz="4106" b="0">
                <a:solidFill>
                  <a:srgbClr val="1C1C1C"/>
                </a:solidFill>
                <a:latin typeface="Arial"/>
              </a:rPr>
              <a:t> — innovation rewards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via random network distillation.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346014" y="14695170"/>
            <a:ext cx="2834571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−10.07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775749" y="14695170"/>
            <a:ext cx="2834713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−9.19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205622" y="14695170"/>
            <a:ext cx="2834713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346014" y="15597366"/>
            <a:ext cx="2834571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DGAPN top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775749" y="15597366"/>
            <a:ext cx="2834713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no curiosity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205622" y="15597366"/>
            <a:ext cx="2834713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sGAT runs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383380" y="18467863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−10.07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383380" y="19842757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Best docking score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NSP15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383380" y="20885665"/>
            <a:ext cx="491013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−8.01 for MolDQN (2nd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best)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204525" y="9755802"/>
            <a:ext cx="721648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NSP15 DOCKING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210817" y="9755802"/>
            <a:ext cx="306749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TOP 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188967" y="9755802"/>
            <a:ext cx="2827989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MEAN 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204525" y="10462279"/>
            <a:ext cx="721648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MolDQN (2nd best)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210817" y="10462279"/>
            <a:ext cx="306749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−8.01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6188967" y="10462279"/>
            <a:ext cx="282798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−5.38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204525" y="11407397"/>
            <a:ext cx="7216480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DGAPN (ours)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210817" y="11407397"/>
            <a:ext cx="306749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−10.07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188967" y="11407397"/>
            <a:ext cx="2827989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−6.77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202441" y="18467863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−6.77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737355" y="18601213"/>
            <a:ext cx="224854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mean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docking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202441" y="19715380"/>
            <a:ext cx="133902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10⁻²⁰⁹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684987" y="19848730"/>
            <a:ext cx="191389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significance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202441" y="20839826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0.72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424399" y="20973176"/>
            <a:ext cx="235198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QED (ω = 0.6)</a:t>
            </a:r>
          </a:p>
        </p:txBody>
      </p:sp>
      <p:pic>
        <p:nvPicPr>
          <p:cNvPr id="137" name="Picture 136" descr="eq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7651" y="19079190"/>
            <a:ext cx="10397966" cy="18238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
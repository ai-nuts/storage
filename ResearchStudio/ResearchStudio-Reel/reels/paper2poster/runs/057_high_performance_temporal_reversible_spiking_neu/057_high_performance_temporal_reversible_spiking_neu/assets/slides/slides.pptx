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2024</a:t>
            </a:r>
          </a:p>
        </p:txBody>
      </p:sp>
      <p:sp>
        <p:nvSpPr>
          <p:cNvPr id="3" name="TextBox 3"/>
          <p:cNvSpPr txBox="1"/>
          <p:nvPr/>
        </p:nvSpPr>
        <p:spPr>
          <a:xfrm>
            <a:off x="8039692" y="572452"/>
            <a:ext cx="354804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Peking University · Institute of Automation, CAS</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4741" y="1132046"/>
            <a:ext cx="7801004" cy="572072"/>
          </a:xfrm>
          <a:prstGeom prst="rect">
            <a:avLst/>
          </a:prstGeom>
          <a:noFill/>
          <a:ln>
            <a:noFill/>
          </a:ln>
        </p:spPr>
        <p:txBody>
          <a:bodyPr wrap="none" lIns="0" tIns="0" rIns="0" bIns="0" anchor="t" anchorCtr="0">
            <a:spAutoFit/>
          </a:bodyPr>
          <a:lstStyle/>
          <a:p>
            <a:pPr algn="l"/>
            <a:r>
              <a:rPr lang="en-US" sz="2920" b="1" dirty="0">
                <a:solidFill>
                  <a:srgbClr val="FFFFFF"/>
                </a:solidFill>
                <a:latin typeface="+mn-lt"/>
                <a:ea typeface="+mn-ea"/>
                <a:cs typeface="+mn-cs"/>
              </a:rPr>
              <a:t>High-Performance Temporal Reversible</a:t>
            </a:r>
          </a:p>
        </p:txBody>
      </p:sp>
      <p:sp>
        <p:nvSpPr>
          <p:cNvPr id="6" name="TextBox 6"/>
          <p:cNvSpPr txBox="1"/>
          <p:nvPr/>
        </p:nvSpPr>
        <p:spPr>
          <a:xfrm>
            <a:off x="594741" y="1570196"/>
            <a:ext cx="4856275" cy="572072"/>
          </a:xfrm>
          <a:prstGeom prst="rect">
            <a:avLst/>
          </a:prstGeom>
          <a:noFill/>
          <a:ln>
            <a:noFill/>
          </a:ln>
        </p:spPr>
        <p:txBody>
          <a:bodyPr wrap="none" lIns="0" tIns="0" rIns="0" bIns="0" anchor="t" anchorCtr="0">
            <a:spAutoFit/>
          </a:bodyPr>
          <a:lstStyle/>
          <a:p>
            <a:pPr algn="l"/>
            <a:r>
              <a:rPr lang="en-US" sz="2920" b="1" dirty="0">
                <a:solidFill>
                  <a:schemeClr val="accent2"/>
                </a:solidFill>
                <a:latin typeface="+mn-lt"/>
                <a:ea typeface="+mn-ea"/>
                <a:cs typeface="+mn-cs"/>
              </a:rPr>
              <a:t>Spiking Neural Networks</a:t>
            </a:r>
          </a:p>
        </p:txBody>
      </p:sp>
      <p:sp>
        <p:nvSpPr>
          <p:cNvPr id="7" name="TextBox 7"/>
          <p:cNvSpPr txBox="1"/>
          <p:nvPr/>
        </p:nvSpPr>
        <p:spPr>
          <a:xfrm>
            <a:off x="601218" y="2069782"/>
            <a:ext cx="5132865" cy="322707"/>
          </a:xfrm>
          <a:prstGeom prst="rect">
            <a:avLst/>
          </a:prstGeom>
          <a:noFill/>
          <a:ln>
            <a:noFill/>
          </a:ln>
        </p:spPr>
        <p:txBody>
          <a:bodyPr wrap="none" lIns="0" tIns="0" rIns="0" bIns="0" anchor="t" anchorCtr="0">
            <a:spAutoFit/>
          </a:bodyPr>
          <a:lstStyle/>
          <a:p>
            <a:pPr algn="l"/>
            <a:r>
              <a:rPr lang="en-US" sz="1650" b="1" dirty="0">
                <a:solidFill>
                  <a:srgbClr val="34D3C0"/>
                </a:solidFill>
                <a:latin typeface="+mn-lt"/>
                <a:ea typeface="+mn-ea"/>
                <a:cs typeface="+mn-cs"/>
              </a:rPr>
              <a:t>O(L) Training Memory · O(1) Inference Cost</a:t>
            </a:r>
          </a:p>
        </p:txBody>
      </p:sp>
      <p:sp>
        <p:nvSpPr>
          <p:cNvPr id="8" name="TextBox 8"/>
          <p:cNvSpPr txBox="1"/>
          <p:nvPr/>
        </p:nvSpPr>
        <p:spPr>
          <a:xfrm>
            <a:off x="603885" y="2469356"/>
            <a:ext cx="70082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Jiakui Hu, Man Yao, Xuerui Qiu, ... Guoqi Li — Peking University &amp; Institute of Automation, CAS</a:t>
            </a:r>
          </a:p>
        </p:txBody>
      </p:sp>
      <p:grpSp>
        <p:nvGrpSpPr>
          <p:cNvPr id="16" name="Group 16"/>
          <p:cNvGrpSpPr/>
          <p:nvPr/>
        </p:nvGrpSpPr>
        <p:grpSpPr>
          <a:xfrm>
            <a:off x="609600" y="3009900"/>
            <a:ext cx="3476625" cy="2038350"/>
            <a:chOff x="609600" y="3009900"/>
            <a:chExt cx="3476625" cy="2038350"/>
          </a:xfrm>
        </p:grpSpPr>
        <p:sp>
          <p:nvSpPr>
            <p:cNvPr id="9" name="Rectangle 9"/>
            <p:cNvSpPr/>
            <p:nvPr/>
          </p:nvSpPr>
          <p:spPr>
            <a:xfrm>
              <a:off x="609600" y="3009900"/>
              <a:ext cx="3476625" cy="2038350"/>
            </a:xfrm>
            <a:prstGeom prst="roundRect">
              <a:avLst>
                <a:gd name="adj" fmla="val 6542"/>
              </a:avLst>
            </a:prstGeom>
            <a:solidFill>
              <a:schemeClr val="accent5"/>
            </a:solidFill>
            <a:ln w="14288">
              <a:solidFill>
                <a:srgbClr val="26455F"/>
              </a:solidFill>
            </a:ln>
          </p:spPr>
        </p:sp>
        <p:sp>
          <p:nvSpPr>
            <p:cNvPr id="10" name="Rectangle 10"/>
            <p:cNvSpPr/>
            <p:nvPr/>
          </p:nvSpPr>
          <p:spPr>
            <a:xfrm>
              <a:off x="609600" y="3009900"/>
              <a:ext cx="3476625" cy="57150"/>
            </a:xfrm>
            <a:prstGeom prst="roundRect">
              <a:avLst>
                <a:gd name="adj" fmla="val 50000"/>
              </a:avLst>
            </a:prstGeom>
            <a:solidFill>
              <a:srgbClr val="F2C14E"/>
            </a:solidFill>
            <a:ln>
              <a:noFill/>
            </a:ln>
          </p:spPr>
        </p:sp>
        <p:sp>
          <p:nvSpPr>
            <p:cNvPr id="11" name="TextBox 11"/>
            <p:cNvSpPr txBox="1"/>
            <p:nvPr/>
          </p:nvSpPr>
          <p:spPr>
            <a:xfrm>
              <a:off x="850202" y="3317319"/>
              <a:ext cx="2918707"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The steep cost of spiking nets</a:t>
              </a:r>
            </a:p>
          </p:txBody>
        </p:sp>
        <p:sp>
          <p:nvSpPr>
            <p:cNvPr id="12" name="TextBox 12"/>
            <p:cNvSpPr txBox="1"/>
            <p:nvPr/>
          </p:nvSpPr>
          <p:spPr>
            <a:xfrm>
              <a:off x="851916" y="3677602"/>
              <a:ext cx="30502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Spiking networks promise low-power AI, but</a:t>
              </a:r>
            </a:p>
          </p:txBody>
        </p:sp>
        <p:sp>
          <p:nvSpPr>
            <p:cNvPr id="13" name="TextBox 13"/>
            <p:cNvSpPr txBox="1"/>
            <p:nvPr/>
          </p:nvSpPr>
          <p:spPr>
            <a:xfrm>
              <a:off x="851916" y="3887152"/>
              <a:ext cx="28447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they are simulated over many timesteps:</a:t>
              </a:r>
            </a:p>
          </p:txBody>
        </p:sp>
        <p:sp>
          <p:nvSpPr>
            <p:cNvPr id="14" name="TextBox 14"/>
            <p:cNvSpPr txBox="1"/>
            <p:nvPr/>
          </p:nvSpPr>
          <p:spPr>
            <a:xfrm>
              <a:off x="851916" y="4096702"/>
              <a:ext cx="296085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training memory grows with L times T, and</a:t>
              </a:r>
            </a:p>
          </p:txBody>
        </p:sp>
        <p:sp>
          <p:nvSpPr>
            <p:cNvPr id="15" name="TextBox 15"/>
            <p:cNvSpPr txBox="1"/>
            <p:nvPr/>
          </p:nvSpPr>
          <p:spPr>
            <a:xfrm>
              <a:off x="851916" y="4306252"/>
              <a:ext cx="270340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inference repeats work at every step.</a:t>
              </a:r>
            </a:p>
          </p:txBody>
        </p:sp>
      </p:grpSp>
      <p:grpSp>
        <p:nvGrpSpPr>
          <p:cNvPr id="23" name="Group 23"/>
          <p:cNvGrpSpPr/>
          <p:nvPr/>
        </p:nvGrpSpPr>
        <p:grpSpPr>
          <a:xfrm>
            <a:off x="4352925" y="3009900"/>
            <a:ext cx="3476625" cy="2038350"/>
            <a:chOff x="4352925" y="3009900"/>
            <a:chExt cx="3476625" cy="2038350"/>
          </a:xfrm>
        </p:grpSpPr>
        <p:sp>
          <p:nvSpPr>
            <p:cNvPr id="17" name="Rectangle 17"/>
            <p:cNvSpPr/>
            <p:nvPr/>
          </p:nvSpPr>
          <p:spPr>
            <a:xfrm>
              <a:off x="4352925" y="3009900"/>
              <a:ext cx="3476625" cy="2038350"/>
            </a:xfrm>
            <a:prstGeom prst="roundRect">
              <a:avLst>
                <a:gd name="adj" fmla="val 6542"/>
              </a:avLst>
            </a:prstGeom>
            <a:solidFill>
              <a:schemeClr val="accent5"/>
            </a:solidFill>
            <a:ln w="14288">
              <a:solidFill>
                <a:srgbClr val="26455F"/>
              </a:solidFill>
            </a:ln>
          </p:spPr>
        </p:sp>
        <p:sp>
          <p:nvSpPr>
            <p:cNvPr id="18" name="Rectangle 18"/>
            <p:cNvSpPr/>
            <p:nvPr/>
          </p:nvSpPr>
          <p:spPr>
            <a:xfrm>
              <a:off x="4352925" y="3009900"/>
              <a:ext cx="3476625" cy="57150"/>
            </a:xfrm>
            <a:prstGeom prst="roundRect">
              <a:avLst>
                <a:gd name="adj" fmla="val 50000"/>
              </a:avLst>
            </a:prstGeom>
            <a:solidFill>
              <a:schemeClr val="accent2"/>
            </a:solidFill>
            <a:ln>
              <a:noFill/>
            </a:ln>
          </p:spPr>
        </p:sp>
        <p:sp>
          <p:nvSpPr>
            <p:cNvPr id="19" name="TextBox 19"/>
            <p:cNvSpPr txBox="1"/>
            <p:nvPr/>
          </p:nvSpPr>
          <p:spPr>
            <a:xfrm>
              <a:off x="4593526" y="3317319"/>
              <a:ext cx="913553"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T-RevSNN</a:t>
              </a:r>
            </a:p>
          </p:txBody>
        </p:sp>
        <p:sp>
          <p:nvSpPr>
            <p:cNvPr id="20" name="TextBox 20"/>
            <p:cNvSpPr txBox="1"/>
            <p:nvPr/>
          </p:nvSpPr>
          <p:spPr>
            <a:xfrm>
              <a:off x="4595241" y="3677602"/>
              <a:ext cx="27718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Turn off the temporal dynamics of most</a:t>
              </a:r>
            </a:p>
          </p:txBody>
        </p:sp>
        <p:sp>
          <p:nvSpPr>
            <p:cNvPr id="21" name="TextBox 21"/>
            <p:cNvSpPr txBox="1"/>
            <p:nvPr/>
          </p:nvSpPr>
          <p:spPr>
            <a:xfrm>
              <a:off x="4595241" y="3887152"/>
              <a:ext cx="23853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spiking neurons, and make the few</a:t>
              </a:r>
            </a:p>
          </p:txBody>
        </p:sp>
        <p:sp>
          <p:nvSpPr>
            <p:cNvPr id="22" name="TextBox 22"/>
            <p:cNvSpPr txBox="1"/>
            <p:nvPr/>
          </p:nvSpPr>
          <p:spPr>
            <a:xfrm>
              <a:off x="4595241" y="4096702"/>
              <a:ext cx="30143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remaining temporal connections reversible.</a:t>
              </a:r>
            </a:p>
          </p:txBody>
        </p:sp>
      </p:grpSp>
      <p:grpSp>
        <p:nvGrpSpPr>
          <p:cNvPr id="31" name="Group 31"/>
          <p:cNvGrpSpPr/>
          <p:nvPr/>
        </p:nvGrpSpPr>
        <p:grpSpPr>
          <a:xfrm>
            <a:off x="8096250" y="3009900"/>
            <a:ext cx="3476625" cy="2038350"/>
            <a:chOff x="8096250" y="3009900"/>
            <a:chExt cx="3476625" cy="2038350"/>
          </a:xfrm>
        </p:grpSpPr>
        <p:sp>
          <p:nvSpPr>
            <p:cNvPr id="24" name="Rectangle 24"/>
            <p:cNvSpPr/>
            <p:nvPr/>
          </p:nvSpPr>
          <p:spPr>
            <a:xfrm>
              <a:off x="8096250" y="3009900"/>
              <a:ext cx="3476625" cy="2038350"/>
            </a:xfrm>
            <a:prstGeom prst="roundRect">
              <a:avLst>
                <a:gd name="adj" fmla="val 6542"/>
              </a:avLst>
            </a:prstGeom>
            <a:solidFill>
              <a:schemeClr val="accent5"/>
            </a:solidFill>
            <a:ln w="14288">
              <a:solidFill>
                <a:srgbClr val="26455F"/>
              </a:solidFill>
            </a:ln>
          </p:spPr>
        </p:sp>
        <p:sp>
          <p:nvSpPr>
            <p:cNvPr id="25" name="Rectangle 25"/>
            <p:cNvSpPr/>
            <p:nvPr/>
          </p:nvSpPr>
          <p:spPr>
            <a:xfrm>
              <a:off x="8096250" y="3009900"/>
              <a:ext cx="3476625" cy="57150"/>
            </a:xfrm>
            <a:prstGeom prst="roundRect">
              <a:avLst>
                <a:gd name="adj" fmla="val 50000"/>
              </a:avLst>
            </a:prstGeom>
            <a:solidFill>
              <a:srgbClr val="48C78E"/>
            </a:solidFill>
            <a:ln>
              <a:noFill/>
            </a:ln>
          </p:spPr>
        </p:sp>
        <p:sp>
          <p:nvSpPr>
            <p:cNvPr id="26" name="TextBox 26"/>
            <p:cNvSpPr txBox="1"/>
            <p:nvPr/>
          </p:nvSpPr>
          <p:spPr>
            <a:xfrm>
              <a:off x="8336852" y="3317319"/>
              <a:ext cx="1052093"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The payoff</a:t>
              </a:r>
            </a:p>
          </p:txBody>
        </p:sp>
        <p:sp>
          <p:nvSpPr>
            <p:cNvPr id="27" name="TextBox 27"/>
            <p:cNvSpPr txBox="1"/>
            <p:nvPr/>
          </p:nvSpPr>
          <p:spPr>
            <a:xfrm>
              <a:off x="8338566" y="3677602"/>
              <a:ext cx="28897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O(L) training memory and O(1) inference</a:t>
              </a:r>
            </a:p>
          </p:txBody>
        </p:sp>
        <p:sp>
          <p:nvSpPr>
            <p:cNvPr id="28" name="TextBox 28"/>
            <p:cNvSpPr txBox="1"/>
            <p:nvPr/>
          </p:nvSpPr>
          <p:spPr>
            <a:xfrm>
              <a:off x="8338566" y="3887152"/>
              <a:ext cx="28094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cost, state-of-the-art accuracy among</a:t>
              </a:r>
            </a:p>
          </p:txBody>
        </p:sp>
        <p:sp>
          <p:nvSpPr>
            <p:cNvPr id="29" name="TextBox 29"/>
            <p:cNvSpPr txBox="1"/>
            <p:nvPr/>
          </p:nvSpPr>
          <p:spPr>
            <a:xfrm>
              <a:off x="8338566" y="4096702"/>
              <a:ext cx="279168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CNN-based SNNs on ImageNet, up to 8.6x</a:t>
              </a:r>
            </a:p>
          </p:txBody>
        </p:sp>
        <p:sp>
          <p:nvSpPr>
            <p:cNvPr id="30" name="TextBox 30"/>
            <p:cNvSpPr txBox="1"/>
            <p:nvPr/>
          </p:nvSpPr>
          <p:spPr>
            <a:xfrm>
              <a:off x="8338566" y="4306252"/>
              <a:ext cx="11202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better memory.</a:t>
              </a:r>
            </a:p>
          </p:txBody>
        </p:sp>
      </p:grpSp>
      <p:sp>
        <p:nvSpPr>
          <p:cNvPr id="32" name="Line 32"/>
          <p:cNvSpPr/>
          <p:nvPr/>
        </p:nvSpPr>
        <p:spPr>
          <a:xfrm>
            <a:off x="609600" y="53911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3" name="TextBox 33"/>
          <p:cNvSpPr txBox="1"/>
          <p:nvPr/>
        </p:nvSpPr>
        <p:spPr>
          <a:xfrm>
            <a:off x="604266" y="56207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arXiv:2405.16466</a:t>
            </a:r>
          </a:p>
        </p:txBody>
      </p:sp>
      <p:sp>
        <p:nvSpPr>
          <p:cNvPr id="34" name="TextBox 34"/>
          <p:cNvSpPr txBox="1"/>
          <p:nvPr/>
        </p:nvSpPr>
        <p:spPr>
          <a:xfrm>
            <a:off x="2852166" y="5620702"/>
            <a:ext cx="6256644"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You do not need full temporal dynamics everywhere to build a capable spiking network.</a:t>
            </a:r>
          </a:p>
        </p:txBody>
      </p:sp>
      <p:sp>
        <p:nvSpPr>
          <p:cNvPr id="35" name="TextBox 35"/>
          <p:cNvSpPr txBox="1"/>
          <p:nvPr/>
        </p:nvSpPr>
        <p:spPr>
          <a:xfrm>
            <a:off x="604647" y="6066949"/>
            <a:ext cx="1994149"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github.com/BICLab/T-RevSNN</a:t>
            </a:r>
          </a:p>
        </p:txBody>
      </p:sp>
      <p:sp>
        <p:nvSpPr>
          <p:cNvPr id="36" name="cue_s01_c1_spiking_neural_networks_promise_low" title="cue_s01_c1_spiking_neural_networks_promise_low" descr="cue_s01_c1_spiking_neural_networks_promise_low Spiking Neural Networks promise low-power AI, but training them over many timesteps is expensive in memory, and running them repeats work at inference."/>
          <p:cNvSpPr/>
          <p:nvPr/>
        </p:nvSpPr>
        <p:spPr>
          <a:xfrm>
            <a:off x="609600" y="3009976"/>
            <a:ext cx="347715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1_c2_icml_2024_introduces_t_revsnn_tempor" title="cue_s01_c2_icml_2024_introduces_t_revsnn_tempor" descr="cue_s01_c2_icml_2024_introduces_t_revsnn_tempor This ICML 2024 paper introduces T-RevSNN, a Temporal Reversible architecture that turns off the temporal dynamics of most spiking neurons and makes the few remaining temporal connections reversible."/>
          <p:cNvSpPr/>
          <p:nvPr/>
        </p:nvSpPr>
        <p:spPr>
          <a:xfrm>
            <a:off x="4352544" y="3009976"/>
            <a:ext cx="347715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1_c3_result_memory_1_inference_cost" title="cue_s01_c3_result_memory_1_inference_cost" descr="cue_s01_c3_result_memory_1_inference_cost The result is O(L) training memory and O(1) inference cost, with state-of-the-art accuracy among CNN-based SNNs on ImageNet and up to 8.6 times better memory efficiency, 2.0 times faster training, and 1.6 times lower inference energy."/>
          <p:cNvSpPr/>
          <p:nvPr/>
        </p:nvSpPr>
        <p:spPr>
          <a:xfrm>
            <a:off x="8096707" y="3009976"/>
            <a:ext cx="347715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761884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training-memory and inference-energy dilemma</a:t>
            </a:r>
          </a:p>
        </p:txBody>
      </p:sp>
      <p:grpSp>
        <p:nvGrpSpPr>
          <p:cNvPr id="27" name="Group 27"/>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323537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Appealing, but simulated over time</a:t>
              </a:r>
            </a:p>
          </p:txBody>
        </p:sp>
        <p:sp>
          <p:nvSpPr>
            <p:cNvPr id="8" name="TextBox 8"/>
            <p:cNvSpPr txBox="1"/>
            <p:nvPr/>
          </p:nvSpPr>
          <p:spPr>
            <a:xfrm>
              <a:off x="870585" y="2164556"/>
              <a:ext cx="296713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SNNs promise brain-inspired, low-power</a:t>
              </a:r>
            </a:p>
          </p:txBody>
        </p:sp>
        <p:sp>
          <p:nvSpPr>
            <p:cNvPr id="9" name="TextBox 9"/>
            <p:cNvSpPr txBox="1"/>
            <p:nvPr/>
          </p:nvSpPr>
          <p:spPr>
            <a:xfrm>
              <a:off x="870585" y="2393156"/>
              <a:ext cx="291913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computation. But to work well they are</a:t>
              </a:r>
            </a:p>
          </p:txBody>
        </p:sp>
        <p:sp>
          <p:nvSpPr>
            <p:cNvPr id="10" name="TextBox 10"/>
            <p:cNvSpPr txBox="1"/>
            <p:nvPr/>
          </p:nvSpPr>
          <p:spPr>
            <a:xfrm>
              <a:off x="870585" y="2621756"/>
              <a:ext cx="29590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unfolded over many timesteps, and that</a:t>
              </a:r>
            </a:p>
          </p:txBody>
        </p:sp>
        <p:sp>
          <p:nvSpPr>
            <p:cNvPr id="11" name="TextBox 11"/>
            <p:cNvSpPr txBox="1"/>
            <p:nvPr/>
          </p:nvSpPr>
          <p:spPr>
            <a:xfrm>
              <a:off x="870585" y="2850356"/>
              <a:ext cx="17151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comes at a steep cost.</a:t>
              </a:r>
            </a:p>
          </p:txBody>
        </p:sp>
        <p:sp>
          <p:nvSpPr>
            <p:cNvPr id="12" name="Rectangle 12"/>
            <p:cNvSpPr/>
            <p:nvPr/>
          </p:nvSpPr>
          <p:spPr>
            <a:xfrm>
              <a:off x="876300" y="3352800"/>
              <a:ext cx="3276600" cy="1123950"/>
            </a:xfrm>
            <a:prstGeom prst="roundRect">
              <a:avLst>
                <a:gd name="adj" fmla="val 8475"/>
              </a:avLst>
            </a:prstGeom>
            <a:solidFill>
              <a:schemeClr val="accent6"/>
            </a:solidFill>
            <a:ln w="14288">
              <a:solidFill>
                <a:srgbClr val="26455F"/>
              </a:solidFill>
            </a:ln>
          </p:spPr>
        </p:sp>
        <p:sp>
          <p:nvSpPr>
            <p:cNvPr id="13" name="TextBox 13"/>
            <p:cNvSpPr txBox="1"/>
            <p:nvPr/>
          </p:nvSpPr>
          <p:spPr>
            <a:xfrm>
              <a:off x="1062038" y="3499247"/>
              <a:ext cx="2086809"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one input, unrolled over T steps</a:t>
              </a:r>
            </a:p>
          </p:txBody>
        </p:sp>
        <p:sp>
          <p:nvSpPr>
            <p:cNvPr id="14" name="Ellipse 14"/>
            <p:cNvSpPr/>
            <p:nvPr/>
          </p:nvSpPr>
          <p:spPr>
            <a:xfrm>
              <a:off x="1104900" y="3943350"/>
              <a:ext cx="190500" cy="190500"/>
            </a:xfrm>
            <a:prstGeom prst="ellipse">
              <a:avLst/>
            </a:prstGeom>
            <a:solidFill>
              <a:schemeClr val="accent2"/>
            </a:solidFill>
            <a:ln>
              <a:noFill/>
            </a:ln>
          </p:spPr>
        </p:sp>
        <p:sp>
          <p:nvSpPr>
            <p:cNvPr id="15" name="Ellipse 15"/>
            <p:cNvSpPr/>
            <p:nvPr/>
          </p:nvSpPr>
          <p:spPr>
            <a:xfrm>
              <a:off x="1676400" y="3943350"/>
              <a:ext cx="190500" cy="190500"/>
            </a:xfrm>
            <a:prstGeom prst="ellipse">
              <a:avLst/>
            </a:prstGeom>
            <a:solidFill>
              <a:schemeClr val="accent2"/>
            </a:solidFill>
            <a:ln>
              <a:noFill/>
            </a:ln>
          </p:spPr>
        </p:sp>
        <p:sp>
          <p:nvSpPr>
            <p:cNvPr id="16" name="Ellipse 16"/>
            <p:cNvSpPr/>
            <p:nvPr/>
          </p:nvSpPr>
          <p:spPr>
            <a:xfrm>
              <a:off x="2247900" y="3943350"/>
              <a:ext cx="190500" cy="190500"/>
            </a:xfrm>
            <a:prstGeom prst="ellipse">
              <a:avLst/>
            </a:prstGeom>
            <a:solidFill>
              <a:schemeClr val="accent2"/>
            </a:solidFill>
            <a:ln>
              <a:noFill/>
            </a:ln>
          </p:spPr>
        </p:sp>
        <p:sp>
          <p:nvSpPr>
            <p:cNvPr id="17" name="Ellipse 17"/>
            <p:cNvSpPr/>
            <p:nvPr/>
          </p:nvSpPr>
          <p:spPr>
            <a:xfrm>
              <a:off x="2819400" y="3943350"/>
              <a:ext cx="190500" cy="190500"/>
            </a:xfrm>
            <a:prstGeom prst="ellipse">
              <a:avLst/>
            </a:prstGeom>
            <a:solidFill>
              <a:schemeClr val="accent2"/>
            </a:solidFill>
            <a:ln>
              <a:noFill/>
            </a:ln>
          </p:spPr>
        </p:sp>
        <p:sp>
          <p:nvSpPr>
            <p:cNvPr id="18" name="Line 18"/>
            <p:cNvSpPr/>
            <p:nvPr/>
          </p:nvSpPr>
          <p:spPr>
            <a:xfrm>
              <a:off x="1295400" y="4038600"/>
              <a:ext cx="381000" cy="9525"/>
            </a:xfrm>
            <a:custGeom>
              <a:avLst/>
              <a:gdLst/>
              <a:ahLst/>
              <a:cxnLst/>
              <a:rect l="l" t="t" r="r" b="b"/>
              <a:pathLst>
                <a:path w="381000" h="9525">
                  <a:moveTo>
                    <a:pt x="0" y="0"/>
                  </a:moveTo>
                  <a:lnTo>
                    <a:pt x="381000" y="0"/>
                  </a:lnTo>
                </a:path>
              </a:pathLst>
            </a:custGeom>
            <a:noFill/>
            <a:ln w="19050" cap="rnd">
              <a:solidFill>
                <a:srgbClr val="26455F"/>
              </a:solidFill>
            </a:ln>
          </p:spPr>
        </p:sp>
        <p:sp>
          <p:nvSpPr>
            <p:cNvPr id="19" name="Line 19"/>
            <p:cNvSpPr/>
            <p:nvPr/>
          </p:nvSpPr>
          <p:spPr>
            <a:xfrm>
              <a:off x="1866900" y="4038600"/>
              <a:ext cx="381000" cy="9525"/>
            </a:xfrm>
            <a:custGeom>
              <a:avLst/>
              <a:gdLst/>
              <a:ahLst/>
              <a:cxnLst/>
              <a:rect l="l" t="t" r="r" b="b"/>
              <a:pathLst>
                <a:path w="381000" h="9525">
                  <a:moveTo>
                    <a:pt x="0" y="0"/>
                  </a:moveTo>
                  <a:lnTo>
                    <a:pt x="381000" y="0"/>
                  </a:lnTo>
                </a:path>
              </a:pathLst>
            </a:custGeom>
            <a:noFill/>
            <a:ln w="19050" cap="rnd">
              <a:solidFill>
                <a:srgbClr val="26455F"/>
              </a:solidFill>
            </a:ln>
          </p:spPr>
        </p:sp>
        <p:sp>
          <p:nvSpPr>
            <p:cNvPr id="20" name="Line 20"/>
            <p:cNvSpPr/>
            <p:nvPr/>
          </p:nvSpPr>
          <p:spPr>
            <a:xfrm>
              <a:off x="2438400" y="4038600"/>
              <a:ext cx="381000" cy="9525"/>
            </a:xfrm>
            <a:custGeom>
              <a:avLst/>
              <a:gdLst/>
              <a:ahLst/>
              <a:cxnLst/>
              <a:rect l="l" t="t" r="r" b="b"/>
              <a:pathLst>
                <a:path w="381000" h="9525">
                  <a:moveTo>
                    <a:pt x="0" y="0"/>
                  </a:moveTo>
                  <a:lnTo>
                    <a:pt x="381000" y="0"/>
                  </a:lnTo>
                </a:path>
              </a:pathLst>
            </a:custGeom>
            <a:noFill/>
            <a:ln w="19050" cap="rnd">
              <a:solidFill>
                <a:srgbClr val="26455F"/>
              </a:solidFill>
            </a:ln>
          </p:spPr>
        </p:sp>
        <p:sp>
          <p:nvSpPr>
            <p:cNvPr id="21" name="TextBox 21"/>
            <p:cNvSpPr txBox="1"/>
            <p:nvPr/>
          </p:nvSpPr>
          <p:spPr>
            <a:xfrm>
              <a:off x="1131638" y="4216241"/>
              <a:ext cx="13702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t1</a:t>
              </a:r>
            </a:p>
          </p:txBody>
        </p:sp>
        <p:sp>
          <p:nvSpPr>
            <p:cNvPr id="22" name="TextBox 22"/>
            <p:cNvSpPr txBox="1"/>
            <p:nvPr/>
          </p:nvSpPr>
          <p:spPr>
            <a:xfrm>
              <a:off x="1703138" y="4216241"/>
              <a:ext cx="13702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t2</a:t>
              </a:r>
            </a:p>
          </p:txBody>
        </p:sp>
        <p:sp>
          <p:nvSpPr>
            <p:cNvPr id="23" name="TextBox 23"/>
            <p:cNvSpPr txBox="1"/>
            <p:nvPr/>
          </p:nvSpPr>
          <p:spPr>
            <a:xfrm>
              <a:off x="2274638" y="4216241"/>
              <a:ext cx="13702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t3</a:t>
              </a:r>
            </a:p>
          </p:txBody>
        </p:sp>
        <p:sp>
          <p:nvSpPr>
            <p:cNvPr id="24" name="TextBox 24"/>
            <p:cNvSpPr txBox="1"/>
            <p:nvPr/>
          </p:nvSpPr>
          <p:spPr>
            <a:xfrm>
              <a:off x="2846138" y="4216241"/>
              <a:ext cx="13702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t4</a:t>
              </a:r>
            </a:p>
          </p:txBody>
        </p:sp>
        <p:sp>
          <p:nvSpPr>
            <p:cNvPr id="25" name="TextBox 25"/>
            <p:cNvSpPr txBox="1"/>
            <p:nvPr/>
          </p:nvSpPr>
          <p:spPr>
            <a:xfrm>
              <a:off x="3422904" y="3966210"/>
              <a:ext cx="292067" cy="234696"/>
            </a:xfrm>
            <a:prstGeom prst="rect">
              <a:avLst/>
            </a:prstGeom>
            <a:noFill/>
            <a:ln>
              <a:noFill/>
            </a:ln>
          </p:spPr>
          <p:txBody>
            <a:bodyPr wrap="none" lIns="0" tIns="0" rIns="0" bIns="0" anchor="t" anchorCtr="0">
              <a:spAutoFit/>
            </a:bodyPr>
            <a:lstStyle/>
            <a:p>
              <a:pPr algn="l"/>
              <a:r>
                <a:rPr lang="en-US" sz="1200" b="1" dirty="0">
                  <a:solidFill>
                    <a:schemeClr val="dk2"/>
                  </a:solidFill>
                  <a:latin typeface="+mn-lt"/>
                  <a:ea typeface="+mn-ea"/>
                  <a:cs typeface="+mn-cs"/>
                </a:rPr>
                <a:t>...</a:t>
              </a:r>
            </a:p>
          </p:txBody>
        </p:sp>
        <p:sp>
          <p:nvSpPr>
            <p:cNvPr id="26" name="TextBox 26"/>
            <p:cNvSpPr txBox="1"/>
            <p:nvPr/>
          </p:nvSpPr>
          <p:spPr>
            <a:xfrm>
              <a:off x="871156" y="4748451"/>
              <a:ext cx="2320953"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mn-lt"/>
                  <a:ea typeface="+mn-ea"/>
                  <a:cs typeface="+mn-cs"/>
                </a:rPr>
                <a:t>Cost grows with every timestep.</a:t>
              </a:r>
            </a:p>
          </p:txBody>
        </p:sp>
      </p:grpSp>
      <p:grpSp>
        <p:nvGrpSpPr>
          <p:cNvPr id="35" name="Group 35"/>
          <p:cNvGrpSpPr/>
          <p:nvPr/>
        </p:nvGrpSpPr>
        <p:grpSpPr>
          <a:xfrm>
            <a:off x="4762500" y="1504950"/>
            <a:ext cx="6819900" cy="1143000"/>
            <a:chOff x="4762500" y="1504950"/>
            <a:chExt cx="6819900" cy="1143000"/>
          </a:xfrm>
        </p:grpSpPr>
        <p:sp>
          <p:nvSpPr>
            <p:cNvPr id="28" name="Rectangle 28"/>
            <p:cNvSpPr/>
            <p:nvPr/>
          </p:nvSpPr>
          <p:spPr>
            <a:xfrm>
              <a:off x="4762500" y="1504950"/>
              <a:ext cx="6819900" cy="1143000"/>
            </a:xfrm>
            <a:prstGeom prst="roundRect">
              <a:avLst>
                <a:gd name="adj" fmla="val 11667"/>
              </a:avLst>
            </a:prstGeom>
            <a:solidFill>
              <a:schemeClr val="accent5"/>
            </a:solidFill>
            <a:ln w="14288">
              <a:solidFill>
                <a:srgbClr val="26455F"/>
              </a:solidFill>
            </a:ln>
          </p:spPr>
        </p:sp>
        <p:sp>
          <p:nvSpPr>
            <p:cNvPr id="29" name="Rectangle 29"/>
            <p:cNvSpPr/>
            <p:nvPr/>
          </p:nvSpPr>
          <p:spPr>
            <a:xfrm>
              <a:off x="4762500" y="1504950"/>
              <a:ext cx="57150" cy="1143000"/>
            </a:xfrm>
            <a:prstGeom prst="roundRect">
              <a:avLst>
                <a:gd name="adj" fmla="val 50000"/>
              </a:avLst>
            </a:prstGeom>
            <a:solidFill>
              <a:srgbClr val="F2685C"/>
            </a:solidFill>
            <a:ln>
              <a:noFill/>
            </a:ln>
          </p:spPr>
        </p:sp>
        <p:sp>
          <p:nvSpPr>
            <p:cNvPr id="30" name="TextBox 30"/>
            <p:cNvSpPr txBox="1"/>
            <p:nvPr/>
          </p:nvSpPr>
          <p:spPr>
            <a:xfrm>
              <a:off x="5022914" y="1733312"/>
              <a:ext cx="2270931"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Training: memory blows up</a:t>
              </a:r>
            </a:p>
          </p:txBody>
        </p:sp>
        <p:sp>
          <p:nvSpPr>
            <p:cNvPr id="31" name="TextBox 31"/>
            <p:cNvSpPr txBox="1"/>
            <p:nvPr/>
          </p:nvSpPr>
          <p:spPr>
            <a:xfrm>
              <a:off x="5023676" y="2035254"/>
              <a:ext cx="44330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Memory grows with both the number of layers and the number</a:t>
              </a:r>
            </a:p>
          </p:txBody>
        </p:sp>
        <p:sp>
          <p:nvSpPr>
            <p:cNvPr id="32" name="TextBox 32"/>
            <p:cNvSpPr txBox="1"/>
            <p:nvPr/>
          </p:nvSpPr>
          <p:spPr>
            <a:xfrm>
              <a:off x="5023676" y="2244804"/>
              <a:ext cx="101618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of timesteps.</a:t>
              </a:r>
            </a:p>
          </p:txBody>
        </p:sp>
        <p:sp>
          <p:nvSpPr>
            <p:cNvPr id="33" name="Rectangle 33"/>
            <p:cNvSpPr/>
            <p:nvPr/>
          </p:nvSpPr>
          <p:spPr>
            <a:xfrm>
              <a:off x="8858250" y="1866900"/>
              <a:ext cx="2457450" cy="381000"/>
            </a:xfrm>
            <a:prstGeom prst="roundRect">
              <a:avLst>
                <a:gd name="adj" fmla="val 20000"/>
              </a:avLst>
            </a:prstGeom>
            <a:solidFill>
              <a:schemeClr val="accent6"/>
            </a:solidFill>
            <a:ln w="14288">
              <a:solidFill>
                <a:srgbClr val="26455F"/>
              </a:solidFill>
            </a:ln>
          </p:spPr>
        </p:sp>
        <p:sp>
          <p:nvSpPr>
            <p:cNvPr id="34" name="TextBox 34"/>
            <p:cNvSpPr txBox="1"/>
            <p:nvPr/>
          </p:nvSpPr>
          <p:spPr>
            <a:xfrm>
              <a:off x="9291373" y="1997154"/>
              <a:ext cx="1591205"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Consolas"/>
                  <a:ea typeface="Consolas"/>
                  <a:cs typeface="Consolas"/>
                </a:rPr>
                <a:t>train mem ~ O(L * T)</a:t>
              </a:r>
            </a:p>
          </p:txBody>
        </p:sp>
      </p:grpSp>
      <p:grpSp>
        <p:nvGrpSpPr>
          <p:cNvPr id="43" name="Group 43"/>
          <p:cNvGrpSpPr/>
          <p:nvPr/>
        </p:nvGrpSpPr>
        <p:grpSpPr>
          <a:xfrm>
            <a:off x="4762500" y="2762250"/>
            <a:ext cx="6819900" cy="933497"/>
            <a:chOff x="4762500" y="2762250"/>
            <a:chExt cx="6819900" cy="933497"/>
          </a:xfrm>
        </p:grpSpPr>
        <p:sp>
          <p:nvSpPr>
            <p:cNvPr id="36" name="Rectangle 36"/>
            <p:cNvSpPr/>
            <p:nvPr/>
          </p:nvSpPr>
          <p:spPr>
            <a:xfrm>
              <a:off x="4762500" y="2762250"/>
              <a:ext cx="6819900" cy="914400"/>
            </a:xfrm>
            <a:prstGeom prst="roundRect">
              <a:avLst>
                <a:gd name="adj" fmla="val 14583"/>
              </a:avLst>
            </a:prstGeom>
            <a:solidFill>
              <a:schemeClr val="accent5"/>
            </a:solidFill>
            <a:ln w="14288">
              <a:solidFill>
                <a:srgbClr val="26455F"/>
              </a:solidFill>
            </a:ln>
          </p:spPr>
        </p:sp>
        <p:sp>
          <p:nvSpPr>
            <p:cNvPr id="37" name="Rectangle 37"/>
            <p:cNvSpPr/>
            <p:nvPr/>
          </p:nvSpPr>
          <p:spPr>
            <a:xfrm>
              <a:off x="4762500" y="2762250"/>
              <a:ext cx="57150" cy="914400"/>
            </a:xfrm>
            <a:prstGeom prst="roundRect">
              <a:avLst>
                <a:gd name="adj" fmla="val 50000"/>
              </a:avLst>
            </a:prstGeom>
            <a:solidFill>
              <a:srgbClr val="F2C14E"/>
            </a:solidFill>
            <a:ln>
              <a:noFill/>
            </a:ln>
          </p:spPr>
        </p:sp>
        <p:sp>
          <p:nvSpPr>
            <p:cNvPr id="38" name="TextBox 38"/>
            <p:cNvSpPr txBox="1"/>
            <p:nvPr/>
          </p:nvSpPr>
          <p:spPr>
            <a:xfrm>
              <a:off x="5022914" y="2990612"/>
              <a:ext cx="2741168"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Inference: energy scales with T</a:t>
              </a:r>
            </a:p>
          </p:txBody>
        </p:sp>
        <p:sp>
          <p:nvSpPr>
            <p:cNvPr id="39" name="TextBox 39"/>
            <p:cNvSpPr txBox="1"/>
            <p:nvPr/>
          </p:nvSpPr>
          <p:spPr>
            <a:xfrm>
              <a:off x="5023676" y="3273504"/>
              <a:ext cx="355714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Repeating the input over T steps makes inference</a:t>
              </a:r>
            </a:p>
          </p:txBody>
        </p:sp>
        <p:sp>
          <p:nvSpPr>
            <p:cNvPr id="40" name="TextBox 40"/>
            <p:cNvSpPr txBox="1"/>
            <p:nvPr/>
          </p:nvSpPr>
          <p:spPr>
            <a:xfrm>
              <a:off x="5023676" y="3483054"/>
              <a:ext cx="176240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energy scale with T too.</a:t>
              </a:r>
            </a:p>
          </p:txBody>
        </p:sp>
        <p:sp>
          <p:nvSpPr>
            <p:cNvPr id="41" name="Rectangle 41"/>
            <p:cNvSpPr/>
            <p:nvPr/>
          </p:nvSpPr>
          <p:spPr>
            <a:xfrm>
              <a:off x="9239250" y="3028950"/>
              <a:ext cx="2076450" cy="381000"/>
            </a:xfrm>
            <a:prstGeom prst="roundRect">
              <a:avLst>
                <a:gd name="adj" fmla="val 20000"/>
              </a:avLst>
            </a:prstGeom>
            <a:solidFill>
              <a:schemeClr val="accent6"/>
            </a:solidFill>
            <a:ln w="14288">
              <a:solidFill>
                <a:srgbClr val="26455F"/>
              </a:solidFill>
            </a:ln>
          </p:spPr>
        </p:sp>
        <p:sp>
          <p:nvSpPr>
            <p:cNvPr id="42" name="TextBox 42"/>
            <p:cNvSpPr txBox="1"/>
            <p:nvPr/>
          </p:nvSpPr>
          <p:spPr>
            <a:xfrm>
              <a:off x="9577494" y="3167301"/>
              <a:ext cx="1399962"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infer energy ~ O(T)</a:t>
              </a:r>
            </a:p>
          </p:txBody>
        </p:sp>
      </p:grpSp>
      <p:grpSp>
        <p:nvGrpSpPr>
          <p:cNvPr id="50" name="Group 50"/>
          <p:cNvGrpSpPr/>
          <p:nvPr/>
        </p:nvGrpSpPr>
        <p:grpSpPr>
          <a:xfrm>
            <a:off x="4762500" y="3790950"/>
            <a:ext cx="6819900" cy="1451134"/>
            <a:chOff x="4762500" y="3790950"/>
            <a:chExt cx="6819900" cy="1451134"/>
          </a:xfrm>
        </p:grpSpPr>
        <p:sp>
          <p:nvSpPr>
            <p:cNvPr id="44" name="Rectangle 44"/>
            <p:cNvSpPr/>
            <p:nvPr/>
          </p:nvSpPr>
          <p:spPr>
            <a:xfrm>
              <a:off x="4762500" y="3790950"/>
              <a:ext cx="6819900" cy="1447800"/>
            </a:xfrm>
            <a:prstGeom prst="roundRect">
              <a:avLst>
                <a:gd name="adj" fmla="val 9211"/>
              </a:avLst>
            </a:prstGeom>
            <a:solidFill>
              <a:srgbClr val="2A1720"/>
            </a:solidFill>
            <a:ln w="14288">
              <a:solidFill>
                <a:srgbClr val="F2685C"/>
              </a:solidFill>
            </a:ln>
          </p:spPr>
        </p:sp>
        <p:sp>
          <p:nvSpPr>
            <p:cNvPr id="45" name="Rectangle 45"/>
            <p:cNvSpPr/>
            <p:nvPr/>
          </p:nvSpPr>
          <p:spPr>
            <a:xfrm>
              <a:off x="4762500" y="3790950"/>
              <a:ext cx="57150" cy="1447800"/>
            </a:xfrm>
            <a:prstGeom prst="roundRect">
              <a:avLst>
                <a:gd name="adj" fmla="val 50000"/>
              </a:avLst>
            </a:prstGeom>
            <a:solidFill>
              <a:srgbClr val="F2685C"/>
            </a:solidFill>
            <a:ln>
              <a:noFill/>
            </a:ln>
          </p:spPr>
        </p:sp>
        <p:sp>
          <p:nvSpPr>
            <p:cNvPr id="46" name="TextBox 46"/>
            <p:cNvSpPr txBox="1"/>
            <p:nvPr/>
          </p:nvSpPr>
          <p:spPr>
            <a:xfrm>
              <a:off x="5023104" y="4042410"/>
              <a:ext cx="984506"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The dilemma</a:t>
              </a:r>
            </a:p>
          </p:txBody>
        </p:sp>
        <p:sp>
          <p:nvSpPr>
            <p:cNvPr id="47" name="TextBox 47"/>
            <p:cNvSpPr txBox="1"/>
            <p:nvPr/>
          </p:nvSpPr>
          <p:spPr>
            <a:xfrm>
              <a:off x="5023676" y="4340304"/>
              <a:ext cx="530586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Current training methods can relieve one of these pressures, but not the</a:t>
              </a:r>
            </a:p>
          </p:txBody>
        </p:sp>
        <p:sp>
          <p:nvSpPr>
            <p:cNvPr id="48" name="TextBox 48"/>
            <p:cNvSpPr txBox="1"/>
            <p:nvPr/>
          </p:nvSpPr>
          <p:spPr>
            <a:xfrm>
              <a:off x="5023676" y="4549854"/>
              <a:ext cx="3188999"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other at the same time, leaving SNNs stuck.</a:t>
              </a:r>
            </a:p>
          </p:txBody>
        </p:sp>
        <p:sp>
          <p:nvSpPr>
            <p:cNvPr id="49" name="TextBox 49"/>
            <p:cNvSpPr txBox="1"/>
            <p:nvPr/>
          </p:nvSpPr>
          <p:spPr>
            <a:xfrm>
              <a:off x="5023485" y="5022056"/>
              <a:ext cx="3116010" cy="220028"/>
            </a:xfrm>
            <a:prstGeom prst="rect">
              <a:avLst/>
            </a:prstGeom>
            <a:noFill/>
            <a:ln>
              <a:noFill/>
            </a:ln>
          </p:spPr>
          <p:txBody>
            <a:bodyPr wrap="none" lIns="0" tIns="0" rIns="0" bIns="0" anchor="t" anchorCtr="0">
              <a:spAutoFit/>
            </a:bodyPr>
            <a:lstStyle/>
            <a:p>
              <a:pPr algn="l"/>
              <a:r>
                <a:rPr lang="en-US" sz="1120" b="1" dirty="0">
                  <a:solidFill>
                    <a:srgbClr val="F2685C"/>
                  </a:solidFill>
                  <a:latin typeface="Consolas"/>
                  <a:ea typeface="Consolas"/>
                  <a:cs typeface="Consolas"/>
                </a:rPr>
                <a:t>save memory XOR save energy = pick one</a:t>
              </a:r>
            </a:p>
          </p:txBody>
        </p:sp>
      </p:grpSp>
      <p:sp>
        <p:nvSpPr>
          <p:cNvPr id="51" name="cue_s02_c1_spiking_neural_networks_appealing_be" title="cue_s02_c1_spiking_neural_networks_appealing_be" descr="cue_s02_c1_spiking_neural_networks_appealing_be Spiking Neural Networks are appealing because they promise brain-inspired, low-power computation. But to work well they are simulated over many timesteps, and that comes at a steep cost."/>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2_c2_during_memory_grows_both_number" title="cue_s02_c2_during_memory_grows_both_number" descr="cue_s02_c2_during_memory_grows_both_number During training, memory grows with both the number of layers and the number of timesteps, on the order of L times T."/>
          <p:cNvSpPr/>
          <p:nvPr/>
        </p:nvSpPr>
        <p:spPr>
          <a:xfrm>
            <a:off x="4762195" y="1504645"/>
            <a:ext cx="68202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2_c3_inference_repeating_input_over_steps" title="cue_s02_c3_inference_repeating_input_over_steps" descr="cue_s02_c3_inference_repeating_input_over_steps At inference, repeating the input over T steps makes the energy scale with T as well."/>
          <p:cNvSpPr/>
          <p:nvPr/>
        </p:nvSpPr>
        <p:spPr>
          <a:xfrm>
            <a:off x="4762195" y="2762402"/>
            <a:ext cx="6820204" cy="9333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2_c4_frustrating_part_current_methods_rel" title="cue_s02_c4_frustrating_part_current_methods_rel" descr="cue_s02_c4_frustrating_part_current_methods_rel The frustrating part is that current training methods can relieve one of these pressures but not the other at the same time, leaving SNNs stuck with a training memory and inference energy dilemma."/>
          <p:cNvSpPr/>
          <p:nvPr/>
        </p:nvSpPr>
        <p:spPr>
          <a:xfrm>
            <a:off x="4762195" y="3791102"/>
            <a:ext cx="6820204" cy="1451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13969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Most temporal gradients barely matter</a:t>
            </a:r>
          </a:p>
        </p:txBody>
      </p:sp>
      <p:grpSp>
        <p:nvGrpSpPr>
          <p:cNvPr id="33" name="Group 33"/>
          <p:cNvGrpSpPr/>
          <p:nvPr/>
        </p:nvGrpSpPr>
        <p:grpSpPr>
          <a:xfrm>
            <a:off x="609600" y="1504950"/>
            <a:ext cx="5334000" cy="3733800"/>
            <a:chOff x="609600" y="1504950"/>
            <a:chExt cx="5334000" cy="3733800"/>
          </a:xfrm>
        </p:grpSpPr>
        <p:sp>
          <p:nvSpPr>
            <p:cNvPr id="5" name="Rectangle 5"/>
            <p:cNvSpPr/>
            <p:nvPr/>
          </p:nvSpPr>
          <p:spPr>
            <a:xfrm>
              <a:off x="609600" y="1504950"/>
              <a:ext cx="53340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rgbClr val="34D3C0"/>
            </a:solidFill>
            <a:ln>
              <a:noFill/>
            </a:ln>
          </p:spPr>
        </p:sp>
        <p:sp>
          <p:nvSpPr>
            <p:cNvPr id="7" name="TextBox 7"/>
            <p:cNvSpPr txBox="1"/>
            <p:nvPr/>
          </p:nvSpPr>
          <p:spPr>
            <a:xfrm>
              <a:off x="869442" y="1740218"/>
              <a:ext cx="3091777"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A surprisingly simple observation</a:t>
              </a:r>
            </a:p>
          </p:txBody>
        </p:sp>
        <p:sp>
          <p:nvSpPr>
            <p:cNvPr id="8" name="TextBox 8"/>
            <p:cNvSpPr txBox="1"/>
            <p:nvPr/>
          </p:nvSpPr>
          <p:spPr>
            <a:xfrm>
              <a:off x="870776" y="2073354"/>
              <a:ext cx="377231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Examining the gradients that flow backward through</a:t>
              </a:r>
            </a:p>
          </p:txBody>
        </p:sp>
        <p:sp>
          <p:nvSpPr>
            <p:cNvPr id="9" name="TextBox 9"/>
            <p:cNvSpPr txBox="1"/>
            <p:nvPr/>
          </p:nvSpPr>
          <p:spPr>
            <a:xfrm>
              <a:off x="870776" y="2282904"/>
              <a:ext cx="373813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time, the authors find that for most neurons those</a:t>
              </a:r>
            </a:p>
          </p:txBody>
        </p:sp>
        <p:sp>
          <p:nvSpPr>
            <p:cNvPr id="10" name="TextBox 10"/>
            <p:cNvSpPr txBox="1"/>
            <p:nvPr/>
          </p:nvSpPr>
          <p:spPr>
            <a:xfrm>
              <a:off x="870776" y="2492454"/>
              <a:ext cx="251289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temporal gradients barely matter.</a:t>
              </a:r>
            </a:p>
          </p:txBody>
        </p:sp>
        <p:sp>
          <p:nvSpPr>
            <p:cNvPr id="11" name="TextBox 11"/>
            <p:cNvSpPr txBox="1"/>
            <p:nvPr/>
          </p:nvSpPr>
          <p:spPr>
            <a:xfrm>
              <a:off x="871347" y="3057049"/>
              <a:ext cx="2722558"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Temporal gradient magnitude per neuron</a:t>
              </a:r>
            </a:p>
          </p:txBody>
        </p:sp>
        <p:sp>
          <p:nvSpPr>
            <p:cNvPr id="12" name="Rectangle 12"/>
            <p:cNvSpPr/>
            <p:nvPr/>
          </p:nvSpPr>
          <p:spPr>
            <a:xfrm>
              <a:off x="990600" y="3238500"/>
              <a:ext cx="4781550" cy="1581150"/>
            </a:xfrm>
            <a:prstGeom prst="roundRect">
              <a:avLst>
                <a:gd name="adj" fmla="val 4819"/>
              </a:avLst>
            </a:prstGeom>
            <a:solidFill>
              <a:srgbClr val="0E2334"/>
            </a:solidFill>
            <a:ln w="14288">
              <a:solidFill>
                <a:srgbClr val="26455F"/>
              </a:solidFill>
            </a:ln>
          </p:spPr>
        </p:sp>
        <p:sp>
          <p:nvSpPr>
            <p:cNvPr id="13" name="Rectangle 13"/>
            <p:cNvSpPr/>
            <p:nvPr/>
          </p:nvSpPr>
          <p:spPr>
            <a:xfrm>
              <a:off x="1066800" y="4610100"/>
              <a:ext cx="200025" cy="133350"/>
            </a:xfrm>
            <a:prstGeom prst="roundRect">
              <a:avLst>
                <a:gd name="adj" fmla="val 14286"/>
              </a:avLst>
            </a:prstGeom>
            <a:solidFill>
              <a:srgbClr val="26455F"/>
            </a:solidFill>
            <a:ln>
              <a:noFill/>
            </a:ln>
          </p:spPr>
        </p:sp>
        <p:sp>
          <p:nvSpPr>
            <p:cNvPr id="14" name="Rectangle 14"/>
            <p:cNvSpPr/>
            <p:nvPr/>
          </p:nvSpPr>
          <p:spPr>
            <a:xfrm>
              <a:off x="1323975" y="4638675"/>
              <a:ext cx="200025" cy="104775"/>
            </a:xfrm>
            <a:prstGeom prst="roundRect">
              <a:avLst>
                <a:gd name="adj" fmla="val 18182"/>
              </a:avLst>
            </a:prstGeom>
            <a:solidFill>
              <a:srgbClr val="26455F"/>
            </a:solidFill>
            <a:ln>
              <a:noFill/>
            </a:ln>
          </p:spPr>
        </p:sp>
        <p:sp>
          <p:nvSpPr>
            <p:cNvPr id="15" name="Rectangle 15"/>
            <p:cNvSpPr/>
            <p:nvPr/>
          </p:nvSpPr>
          <p:spPr>
            <a:xfrm>
              <a:off x="1581150" y="4581525"/>
              <a:ext cx="200025" cy="161925"/>
            </a:xfrm>
            <a:prstGeom prst="roundRect">
              <a:avLst>
                <a:gd name="adj" fmla="val 11765"/>
              </a:avLst>
            </a:prstGeom>
            <a:solidFill>
              <a:srgbClr val="26455F"/>
            </a:solidFill>
            <a:ln>
              <a:noFill/>
            </a:ln>
          </p:spPr>
        </p:sp>
        <p:sp>
          <p:nvSpPr>
            <p:cNvPr id="16" name="Rectangle 16"/>
            <p:cNvSpPr/>
            <p:nvPr/>
          </p:nvSpPr>
          <p:spPr>
            <a:xfrm>
              <a:off x="1838325" y="4657725"/>
              <a:ext cx="200025" cy="85725"/>
            </a:xfrm>
            <a:prstGeom prst="roundRect">
              <a:avLst>
                <a:gd name="adj" fmla="val 22222"/>
              </a:avLst>
            </a:prstGeom>
            <a:solidFill>
              <a:srgbClr val="26455F"/>
            </a:solidFill>
            <a:ln>
              <a:noFill/>
            </a:ln>
          </p:spPr>
        </p:sp>
        <p:sp>
          <p:nvSpPr>
            <p:cNvPr id="17" name="Rectangle 17"/>
            <p:cNvSpPr/>
            <p:nvPr/>
          </p:nvSpPr>
          <p:spPr>
            <a:xfrm>
              <a:off x="2095500" y="3533775"/>
              <a:ext cx="200025" cy="1209675"/>
            </a:xfrm>
            <a:prstGeom prst="roundRect">
              <a:avLst>
                <a:gd name="adj" fmla="val 9524"/>
              </a:avLst>
            </a:prstGeom>
            <a:solidFill>
              <a:srgbClr val="34D3C0"/>
            </a:solidFill>
            <a:ln>
              <a:noFill/>
            </a:ln>
          </p:spPr>
        </p:sp>
        <p:sp>
          <p:nvSpPr>
            <p:cNvPr id="18" name="Rectangle 18"/>
            <p:cNvSpPr/>
            <p:nvPr/>
          </p:nvSpPr>
          <p:spPr>
            <a:xfrm>
              <a:off x="2352675" y="4629150"/>
              <a:ext cx="200025" cy="114300"/>
            </a:xfrm>
            <a:prstGeom prst="roundRect">
              <a:avLst>
                <a:gd name="adj" fmla="val 16667"/>
              </a:avLst>
            </a:prstGeom>
            <a:solidFill>
              <a:srgbClr val="26455F"/>
            </a:solidFill>
            <a:ln>
              <a:noFill/>
            </a:ln>
          </p:spPr>
        </p:sp>
        <p:sp>
          <p:nvSpPr>
            <p:cNvPr id="19" name="Rectangle 19"/>
            <p:cNvSpPr/>
            <p:nvPr/>
          </p:nvSpPr>
          <p:spPr>
            <a:xfrm>
              <a:off x="2609850" y="4600575"/>
              <a:ext cx="200025" cy="142875"/>
            </a:xfrm>
            <a:prstGeom prst="roundRect">
              <a:avLst>
                <a:gd name="adj" fmla="val 13333"/>
              </a:avLst>
            </a:prstGeom>
            <a:solidFill>
              <a:srgbClr val="26455F"/>
            </a:solidFill>
            <a:ln>
              <a:noFill/>
            </a:ln>
          </p:spPr>
        </p:sp>
        <p:sp>
          <p:nvSpPr>
            <p:cNvPr id="20" name="Rectangle 20"/>
            <p:cNvSpPr/>
            <p:nvPr/>
          </p:nvSpPr>
          <p:spPr>
            <a:xfrm>
              <a:off x="2867025" y="4667250"/>
              <a:ext cx="200025" cy="76200"/>
            </a:xfrm>
            <a:prstGeom prst="roundRect">
              <a:avLst>
                <a:gd name="adj" fmla="val 25000"/>
              </a:avLst>
            </a:prstGeom>
            <a:solidFill>
              <a:srgbClr val="26455F"/>
            </a:solidFill>
            <a:ln>
              <a:noFill/>
            </a:ln>
          </p:spPr>
        </p:sp>
        <p:sp>
          <p:nvSpPr>
            <p:cNvPr id="21" name="Rectangle 21"/>
            <p:cNvSpPr/>
            <p:nvPr/>
          </p:nvSpPr>
          <p:spPr>
            <a:xfrm>
              <a:off x="3124200" y="4638675"/>
              <a:ext cx="200025" cy="104775"/>
            </a:xfrm>
            <a:prstGeom prst="roundRect">
              <a:avLst>
                <a:gd name="adj" fmla="val 18182"/>
              </a:avLst>
            </a:prstGeom>
            <a:solidFill>
              <a:srgbClr val="26455F"/>
            </a:solidFill>
            <a:ln>
              <a:noFill/>
            </a:ln>
          </p:spPr>
        </p:sp>
        <p:sp>
          <p:nvSpPr>
            <p:cNvPr id="22" name="Rectangle 22"/>
            <p:cNvSpPr/>
            <p:nvPr/>
          </p:nvSpPr>
          <p:spPr>
            <a:xfrm>
              <a:off x="3381375" y="4610100"/>
              <a:ext cx="200025" cy="133350"/>
            </a:xfrm>
            <a:prstGeom prst="roundRect">
              <a:avLst>
                <a:gd name="adj" fmla="val 14286"/>
              </a:avLst>
            </a:prstGeom>
            <a:solidFill>
              <a:srgbClr val="26455F"/>
            </a:solidFill>
            <a:ln>
              <a:noFill/>
            </a:ln>
          </p:spPr>
        </p:sp>
        <p:sp>
          <p:nvSpPr>
            <p:cNvPr id="23" name="Rectangle 23"/>
            <p:cNvSpPr/>
            <p:nvPr/>
          </p:nvSpPr>
          <p:spPr>
            <a:xfrm>
              <a:off x="3638550" y="3638550"/>
              <a:ext cx="200025" cy="1104900"/>
            </a:xfrm>
            <a:prstGeom prst="roundRect">
              <a:avLst>
                <a:gd name="adj" fmla="val 9524"/>
              </a:avLst>
            </a:prstGeom>
            <a:solidFill>
              <a:srgbClr val="34D3C0"/>
            </a:solidFill>
            <a:ln>
              <a:noFill/>
            </a:ln>
          </p:spPr>
        </p:sp>
        <p:sp>
          <p:nvSpPr>
            <p:cNvPr id="24" name="Rectangle 24"/>
            <p:cNvSpPr/>
            <p:nvPr/>
          </p:nvSpPr>
          <p:spPr>
            <a:xfrm>
              <a:off x="3895725" y="4657725"/>
              <a:ext cx="200025" cy="85725"/>
            </a:xfrm>
            <a:prstGeom prst="roundRect">
              <a:avLst>
                <a:gd name="adj" fmla="val 22222"/>
              </a:avLst>
            </a:prstGeom>
            <a:solidFill>
              <a:srgbClr val="26455F"/>
            </a:solidFill>
            <a:ln>
              <a:noFill/>
            </a:ln>
          </p:spPr>
        </p:sp>
        <p:sp>
          <p:nvSpPr>
            <p:cNvPr id="25" name="Rectangle 25"/>
            <p:cNvSpPr/>
            <p:nvPr/>
          </p:nvSpPr>
          <p:spPr>
            <a:xfrm>
              <a:off x="4152900" y="4581525"/>
              <a:ext cx="200025" cy="161925"/>
            </a:xfrm>
            <a:prstGeom prst="roundRect">
              <a:avLst>
                <a:gd name="adj" fmla="val 11765"/>
              </a:avLst>
            </a:prstGeom>
            <a:solidFill>
              <a:srgbClr val="26455F"/>
            </a:solidFill>
            <a:ln>
              <a:noFill/>
            </a:ln>
          </p:spPr>
        </p:sp>
        <p:sp>
          <p:nvSpPr>
            <p:cNvPr id="26" name="Rectangle 26"/>
            <p:cNvSpPr/>
            <p:nvPr/>
          </p:nvSpPr>
          <p:spPr>
            <a:xfrm>
              <a:off x="4410075" y="4629150"/>
              <a:ext cx="200025" cy="114300"/>
            </a:xfrm>
            <a:prstGeom prst="roundRect">
              <a:avLst>
                <a:gd name="adj" fmla="val 16667"/>
              </a:avLst>
            </a:prstGeom>
            <a:solidFill>
              <a:srgbClr val="26455F"/>
            </a:solidFill>
            <a:ln>
              <a:noFill/>
            </a:ln>
          </p:spPr>
        </p:sp>
        <p:sp>
          <p:nvSpPr>
            <p:cNvPr id="27" name="Rectangle 27"/>
            <p:cNvSpPr/>
            <p:nvPr/>
          </p:nvSpPr>
          <p:spPr>
            <a:xfrm>
              <a:off x="4667250" y="4610100"/>
              <a:ext cx="200025" cy="133350"/>
            </a:xfrm>
            <a:prstGeom prst="roundRect">
              <a:avLst>
                <a:gd name="adj" fmla="val 14286"/>
              </a:avLst>
            </a:prstGeom>
            <a:solidFill>
              <a:srgbClr val="26455F"/>
            </a:solidFill>
            <a:ln>
              <a:noFill/>
            </a:ln>
          </p:spPr>
        </p:sp>
        <p:sp>
          <p:nvSpPr>
            <p:cNvPr id="28" name="Rectangle 28"/>
            <p:cNvSpPr/>
            <p:nvPr/>
          </p:nvSpPr>
          <p:spPr>
            <a:xfrm>
              <a:off x="4924425" y="3733800"/>
              <a:ext cx="200025" cy="1009650"/>
            </a:xfrm>
            <a:prstGeom prst="roundRect">
              <a:avLst>
                <a:gd name="adj" fmla="val 9524"/>
              </a:avLst>
            </a:prstGeom>
            <a:solidFill>
              <a:srgbClr val="34D3C0"/>
            </a:solidFill>
            <a:ln>
              <a:noFill/>
            </a:ln>
          </p:spPr>
        </p:sp>
        <p:sp>
          <p:nvSpPr>
            <p:cNvPr id="29" name="Rectangle 29"/>
            <p:cNvSpPr/>
            <p:nvPr/>
          </p:nvSpPr>
          <p:spPr>
            <a:xfrm>
              <a:off x="5181600" y="4638675"/>
              <a:ext cx="200025" cy="104775"/>
            </a:xfrm>
            <a:prstGeom prst="roundRect">
              <a:avLst>
                <a:gd name="adj" fmla="val 18182"/>
              </a:avLst>
            </a:prstGeom>
            <a:solidFill>
              <a:srgbClr val="26455F"/>
            </a:solidFill>
            <a:ln>
              <a:noFill/>
            </a:ln>
          </p:spPr>
        </p:sp>
        <p:sp>
          <p:nvSpPr>
            <p:cNvPr id="30" name="Rectangle 30"/>
            <p:cNvSpPr/>
            <p:nvPr/>
          </p:nvSpPr>
          <p:spPr>
            <a:xfrm>
              <a:off x="5438775" y="4600575"/>
              <a:ext cx="200025" cy="142875"/>
            </a:xfrm>
            <a:prstGeom prst="roundRect">
              <a:avLst>
                <a:gd name="adj" fmla="val 13333"/>
              </a:avLst>
            </a:prstGeom>
            <a:solidFill>
              <a:srgbClr val="26455F"/>
            </a:solidFill>
            <a:ln>
              <a:noFill/>
            </a:ln>
          </p:spPr>
        </p:sp>
        <p:sp>
          <p:nvSpPr>
            <p:cNvPr id="31" name="TextBox 31"/>
            <p:cNvSpPr txBox="1"/>
            <p:nvPr/>
          </p:nvSpPr>
          <p:spPr>
            <a:xfrm>
              <a:off x="1062038" y="4673441"/>
              <a:ext cx="618041" cy="161925"/>
            </a:xfrm>
            <a:prstGeom prst="rect">
              <a:avLst/>
            </a:prstGeom>
            <a:noFill/>
            <a:ln>
              <a:noFill/>
            </a:ln>
          </p:spPr>
          <p:txBody>
            <a:bodyPr wrap="none" lIns="0" tIns="0" rIns="0" bIns="0" anchor="t" anchorCtr="0">
              <a:spAutoFit/>
            </a:bodyPr>
            <a:lstStyle/>
            <a:p>
              <a:pPr algn="l"/>
              <a:r>
                <a:rPr lang="en-US" sz="820" b="1" dirty="0">
                  <a:solidFill>
                    <a:srgbClr val="6E869C"/>
                  </a:solidFill>
                  <a:latin typeface="+mn-lt"/>
                  <a:ea typeface="+mn-ea"/>
                  <a:cs typeface="+mn-cs"/>
                </a:rPr>
                <a:t>neurons -&gt;</a:t>
              </a:r>
            </a:p>
          </p:txBody>
        </p:sp>
        <p:sp>
          <p:nvSpPr>
            <p:cNvPr id="32" name="TextBox 32"/>
            <p:cNvSpPr txBox="1"/>
            <p:nvPr/>
          </p:nvSpPr>
          <p:spPr>
            <a:xfrm>
              <a:off x="871156" y="4958001"/>
              <a:ext cx="3370001"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Only a few positions carry real temporal signal.</a:t>
              </a:r>
            </a:p>
          </p:txBody>
        </p:sp>
      </p:grpSp>
      <p:grpSp>
        <p:nvGrpSpPr>
          <p:cNvPr id="40" name="Group 40"/>
          <p:cNvGrpSpPr/>
          <p:nvPr/>
        </p:nvGrpSpPr>
        <p:grpSpPr>
          <a:xfrm>
            <a:off x="6172200" y="1504950"/>
            <a:ext cx="5410200" cy="1162097"/>
            <a:chOff x="6172200" y="1504950"/>
            <a:chExt cx="5410200" cy="1162097"/>
          </a:xfrm>
        </p:grpSpPr>
        <p:sp>
          <p:nvSpPr>
            <p:cNvPr id="34" name="Rectangle 34"/>
            <p:cNvSpPr/>
            <p:nvPr/>
          </p:nvSpPr>
          <p:spPr>
            <a:xfrm>
              <a:off x="6172200" y="1504950"/>
              <a:ext cx="5410200" cy="1104900"/>
            </a:xfrm>
            <a:prstGeom prst="roundRect">
              <a:avLst>
                <a:gd name="adj" fmla="val 12069"/>
              </a:avLst>
            </a:prstGeom>
            <a:solidFill>
              <a:schemeClr val="accent5"/>
            </a:solidFill>
            <a:ln w="14288">
              <a:solidFill>
                <a:srgbClr val="26455F"/>
              </a:solidFill>
            </a:ln>
          </p:spPr>
        </p:sp>
        <p:sp>
          <p:nvSpPr>
            <p:cNvPr id="35" name="Rectangle 35"/>
            <p:cNvSpPr/>
            <p:nvPr/>
          </p:nvSpPr>
          <p:spPr>
            <a:xfrm>
              <a:off x="6172200" y="1504950"/>
              <a:ext cx="57150" cy="1104900"/>
            </a:xfrm>
            <a:prstGeom prst="roundRect">
              <a:avLst>
                <a:gd name="adj" fmla="val 50000"/>
              </a:avLst>
            </a:prstGeom>
            <a:solidFill>
              <a:schemeClr val="accent2"/>
            </a:solidFill>
            <a:ln>
              <a:noFill/>
            </a:ln>
          </p:spPr>
        </p:sp>
        <p:sp>
          <p:nvSpPr>
            <p:cNvPr id="36" name="TextBox 36"/>
            <p:cNvSpPr txBox="1"/>
            <p:nvPr/>
          </p:nvSpPr>
          <p:spPr>
            <a:xfrm>
              <a:off x="6432804" y="1737360"/>
              <a:ext cx="2876301"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So why pay the full temporal cost?</a:t>
              </a:r>
            </a:p>
          </p:txBody>
        </p:sp>
        <p:sp>
          <p:nvSpPr>
            <p:cNvPr id="37" name="TextBox 37"/>
            <p:cNvSpPr txBox="1"/>
            <p:nvPr/>
          </p:nvSpPr>
          <p:spPr>
            <a:xfrm>
              <a:off x="6433376" y="2035254"/>
              <a:ext cx="391913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If only neurons at a few key positions carry important</a:t>
              </a:r>
            </a:p>
          </p:txBody>
        </p:sp>
        <p:sp>
          <p:nvSpPr>
            <p:cNvPr id="38" name="TextBox 38"/>
            <p:cNvSpPr txBox="1"/>
            <p:nvPr/>
          </p:nvSpPr>
          <p:spPr>
            <a:xfrm>
              <a:off x="6433376" y="2244804"/>
              <a:ext cx="422236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temporal information, most neurons need not pay for it at</a:t>
              </a:r>
            </a:p>
          </p:txBody>
        </p:sp>
        <p:sp>
          <p:nvSpPr>
            <p:cNvPr id="39" name="TextBox 39"/>
            <p:cNvSpPr txBox="1"/>
            <p:nvPr/>
          </p:nvSpPr>
          <p:spPr>
            <a:xfrm>
              <a:off x="6433376" y="2454354"/>
              <a:ext cx="26050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all.</a:t>
              </a:r>
            </a:p>
          </p:txBody>
        </p:sp>
      </p:grpSp>
      <p:grpSp>
        <p:nvGrpSpPr>
          <p:cNvPr id="47" name="Group 47"/>
          <p:cNvGrpSpPr/>
          <p:nvPr/>
        </p:nvGrpSpPr>
        <p:grpSpPr>
          <a:xfrm>
            <a:off x="6172200" y="2724150"/>
            <a:ext cx="5410200" cy="1143000"/>
            <a:chOff x="6172200" y="2724150"/>
            <a:chExt cx="5410200" cy="1143000"/>
          </a:xfrm>
        </p:grpSpPr>
        <p:sp>
          <p:nvSpPr>
            <p:cNvPr id="41" name="Rectangle 41"/>
            <p:cNvSpPr/>
            <p:nvPr/>
          </p:nvSpPr>
          <p:spPr>
            <a:xfrm>
              <a:off x="6172200" y="2724150"/>
              <a:ext cx="5410200" cy="1143000"/>
            </a:xfrm>
            <a:prstGeom prst="roundRect">
              <a:avLst>
                <a:gd name="adj" fmla="val 11667"/>
              </a:avLst>
            </a:prstGeom>
            <a:solidFill>
              <a:schemeClr val="accent5"/>
            </a:solidFill>
            <a:ln w="14288">
              <a:solidFill>
                <a:srgbClr val="26455F"/>
              </a:solidFill>
            </a:ln>
          </p:spPr>
        </p:sp>
        <p:sp>
          <p:nvSpPr>
            <p:cNvPr id="42" name="Rectangle 42"/>
            <p:cNvSpPr/>
            <p:nvPr/>
          </p:nvSpPr>
          <p:spPr>
            <a:xfrm>
              <a:off x="6172200" y="2724150"/>
              <a:ext cx="57150" cy="1143000"/>
            </a:xfrm>
            <a:prstGeom prst="roundRect">
              <a:avLst>
                <a:gd name="adj" fmla="val 50000"/>
              </a:avLst>
            </a:prstGeom>
            <a:solidFill>
              <a:srgbClr val="F2C14E"/>
            </a:solidFill>
            <a:ln>
              <a:noFill/>
            </a:ln>
          </p:spPr>
        </p:sp>
        <p:sp>
          <p:nvSpPr>
            <p:cNvPr id="43" name="TextBox 43"/>
            <p:cNvSpPr txBox="1"/>
            <p:nvPr/>
          </p:nvSpPr>
          <p:spPr>
            <a:xfrm>
              <a:off x="6432804" y="2956560"/>
              <a:ext cx="2460268"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Prior methods each solve half</a:t>
              </a:r>
            </a:p>
          </p:txBody>
        </p:sp>
        <p:sp>
          <p:nvSpPr>
            <p:cNvPr id="44" name="TextBox 44"/>
            <p:cNvSpPr txBox="1"/>
            <p:nvPr/>
          </p:nvSpPr>
          <p:spPr>
            <a:xfrm>
              <a:off x="6433376" y="3235404"/>
              <a:ext cx="405135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Decouple training from the timestep to save memory, or</a:t>
              </a:r>
            </a:p>
          </p:txBody>
        </p:sp>
        <p:sp>
          <p:nvSpPr>
            <p:cNvPr id="45" name="TextBox 45"/>
            <p:cNvSpPr txBox="1"/>
            <p:nvPr/>
          </p:nvSpPr>
          <p:spPr>
            <a:xfrm>
              <a:off x="6433376" y="3444954"/>
              <a:ext cx="384085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shrink inference steps to save energy, but not both.</a:t>
              </a:r>
            </a:p>
          </p:txBody>
        </p:sp>
        <p:sp>
          <p:nvSpPr>
            <p:cNvPr id="46" name="TextBox 46"/>
            <p:cNvSpPr txBox="1"/>
            <p:nvPr/>
          </p:nvSpPr>
          <p:spPr>
            <a:xfrm>
              <a:off x="6433756" y="3643551"/>
              <a:ext cx="2241202" cy="198025"/>
            </a:xfrm>
            <a:prstGeom prst="rect">
              <a:avLst/>
            </a:prstGeom>
            <a:noFill/>
            <a:ln>
              <a:noFill/>
            </a:ln>
          </p:spPr>
          <p:txBody>
            <a:bodyPr wrap="none" lIns="0" tIns="0" rIns="0" bIns="0" anchor="t" anchorCtr="0">
              <a:spAutoFit/>
            </a:bodyPr>
            <a:lstStyle/>
            <a:p>
              <a:pPr algn="l"/>
              <a:r>
                <a:rPr lang="en-US" sz="1010" b="1" dirty="0">
                  <a:solidFill>
                    <a:srgbClr val="F2C14E"/>
                  </a:solidFill>
                  <a:latin typeface="Consolas"/>
                  <a:ea typeface="Consolas"/>
                  <a:cs typeface="Consolas"/>
                </a:rPr>
                <a:t>memory OR energy (never both)</a:t>
              </a:r>
            </a:p>
          </p:txBody>
        </p:sp>
      </p:grpSp>
      <p:grpSp>
        <p:nvGrpSpPr>
          <p:cNvPr id="54" name="Group 54"/>
          <p:cNvGrpSpPr/>
          <p:nvPr/>
        </p:nvGrpSpPr>
        <p:grpSpPr>
          <a:xfrm>
            <a:off x="6172200" y="3981450"/>
            <a:ext cx="5410200" cy="1257300"/>
            <a:chOff x="6172200" y="3981450"/>
            <a:chExt cx="5410200" cy="1257300"/>
          </a:xfrm>
        </p:grpSpPr>
        <p:sp>
          <p:nvSpPr>
            <p:cNvPr id="48" name="Rectangle 48"/>
            <p:cNvSpPr/>
            <p:nvPr/>
          </p:nvSpPr>
          <p:spPr>
            <a:xfrm>
              <a:off x="6172200" y="3981450"/>
              <a:ext cx="5410200" cy="1257300"/>
            </a:xfrm>
            <a:prstGeom prst="roundRect">
              <a:avLst>
                <a:gd name="adj" fmla="val 10606"/>
              </a:avLst>
            </a:prstGeom>
            <a:solidFill>
              <a:srgbClr val="0F2E2B"/>
            </a:solidFill>
            <a:ln w="14288">
              <a:solidFill>
                <a:srgbClr val="48C78E"/>
              </a:solidFill>
            </a:ln>
          </p:spPr>
        </p:sp>
        <p:sp>
          <p:nvSpPr>
            <p:cNvPr id="49" name="Rectangle 49"/>
            <p:cNvSpPr/>
            <p:nvPr/>
          </p:nvSpPr>
          <p:spPr>
            <a:xfrm>
              <a:off x="6172200" y="3981450"/>
              <a:ext cx="57150" cy="1257300"/>
            </a:xfrm>
            <a:prstGeom prst="roundRect">
              <a:avLst>
                <a:gd name="adj" fmla="val 50000"/>
              </a:avLst>
            </a:prstGeom>
            <a:solidFill>
              <a:srgbClr val="48C78E"/>
            </a:solidFill>
            <a:ln>
              <a:noFill/>
            </a:ln>
          </p:spPr>
        </p:sp>
        <p:sp>
          <p:nvSpPr>
            <p:cNvPr id="50" name="TextBox 50"/>
            <p:cNvSpPr txBox="1"/>
            <p:nvPr/>
          </p:nvSpPr>
          <p:spPr>
            <a:xfrm>
              <a:off x="6432804" y="4213860"/>
              <a:ext cx="1807323"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This paper's question</a:t>
              </a:r>
            </a:p>
          </p:txBody>
        </p:sp>
        <p:sp>
          <p:nvSpPr>
            <p:cNvPr id="51" name="TextBox 51"/>
            <p:cNvSpPr txBox="1"/>
            <p:nvPr/>
          </p:nvSpPr>
          <p:spPr>
            <a:xfrm>
              <a:off x="6433376" y="4511754"/>
              <a:ext cx="4234784"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Can both halves, training memory and inference energy, be</a:t>
              </a:r>
            </a:p>
          </p:txBody>
        </p:sp>
        <p:sp>
          <p:nvSpPr>
            <p:cNvPr id="52" name="TextBox 52"/>
            <p:cNvSpPr txBox="1"/>
            <p:nvPr/>
          </p:nvSpPr>
          <p:spPr>
            <a:xfrm>
              <a:off x="6433376" y="4721304"/>
              <a:ext cx="1228956"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solved together?</a:t>
              </a:r>
            </a:p>
          </p:txBody>
        </p:sp>
        <p:sp>
          <p:nvSpPr>
            <p:cNvPr id="53" name="TextBox 53"/>
            <p:cNvSpPr txBox="1"/>
            <p:nvPr/>
          </p:nvSpPr>
          <p:spPr>
            <a:xfrm>
              <a:off x="6433566" y="4973002"/>
              <a:ext cx="2305713"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Consolas"/>
                  <a:ea typeface="Consolas"/>
                  <a:cs typeface="Consolas"/>
                </a:rPr>
                <a:t>memory AND energy -&gt; together</a:t>
              </a:r>
            </a:p>
          </p:txBody>
        </p:sp>
      </p:grpSp>
      <p:sp>
        <p:nvSpPr>
          <p:cNvPr id="55" name="cue_s03_c1_key_insight_behind_work_surprisingly" title="cue_s03_c1_key_insight_behind_work_surprisingly" descr="cue_s03_c1_key_insight_behind_work_surprisingly The key insight behind this work is surprisingly simple. When the authors examined the gradients that flow backward through time in a spiking network, they found that for most neurons those temporal gradients barely matter."/>
          <p:cNvSpPr/>
          <p:nvPr/>
        </p:nvSpPr>
        <p:spPr>
          <a:xfrm>
            <a:off x="609600"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3_c2_only_neurons_few_key_positions" title="cue_s03_c2_only_neurons_few_key_positions" descr="cue_s03_c2_only_neurons_few_key_positions Only the neurons at a few key positions carry temporal information that is actually important. If that is true, then a natural question follows: why pay the full temporal cost for every neuron?"/>
          <p:cNvSpPr/>
          <p:nvPr/>
        </p:nvSpPr>
        <p:spPr>
          <a:xfrm>
            <a:off x="6171590" y="1504645"/>
            <a:ext cx="5409590" cy="116243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3_c3_prior_methods_either_decouple_timest" title="cue_s03_c3_prior_methods_either_decouple_timest" descr="cue_s03_c3_prior_methods_either_decouple_timest Prior methods either decouple training from the timestep to save memory, or shrink the number of inference steps to save energy, but each one solves only half of the problem."/>
          <p:cNvSpPr/>
          <p:nvPr/>
        </p:nvSpPr>
        <p:spPr>
          <a:xfrm>
            <a:off x="6171590" y="2723997"/>
            <a:ext cx="540959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3_c4_asks_whether_both_halves_solved" title="cue_s03_c4_asks_whether_both_halves_solved" descr="cue_s03_c4_asks_whether_both_halves_solved This paper asks whether both halves can be solved together."/>
          <p:cNvSpPr/>
          <p:nvPr/>
        </p:nvSpPr>
        <p:spPr>
          <a:xfrm>
            <a:off x="6171590" y="3981754"/>
            <a:ext cx="540959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574244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architecture, both costs solved</a:t>
            </a:r>
          </a:p>
        </p:txBody>
      </p:sp>
      <p:grpSp>
        <p:nvGrpSpPr>
          <p:cNvPr id="15" name="Group 15"/>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rgbClr val="26455F"/>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993552" y="2211705"/>
              <a:ext cx="184596"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1</a:t>
              </a:r>
            </a:p>
          </p:txBody>
        </p:sp>
        <p:sp>
          <p:nvSpPr>
            <p:cNvPr id="9" name="TextBox 9"/>
            <p:cNvSpPr txBox="1"/>
            <p:nvPr/>
          </p:nvSpPr>
          <p:spPr>
            <a:xfrm>
              <a:off x="831914" y="2857262"/>
              <a:ext cx="1219387"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Turn off most</a:t>
              </a:r>
            </a:p>
          </p:txBody>
        </p:sp>
        <p:sp>
          <p:nvSpPr>
            <p:cNvPr id="10" name="TextBox 10"/>
            <p:cNvSpPr txBox="1"/>
            <p:nvPr/>
          </p:nvSpPr>
          <p:spPr>
            <a:xfrm>
              <a:off x="831914" y="3085862"/>
              <a:ext cx="1590050"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temporal dynamics</a:t>
              </a:r>
            </a:p>
          </p:txBody>
        </p:sp>
        <p:sp>
          <p:nvSpPr>
            <p:cNvPr id="11" name="TextBox 11"/>
            <p:cNvSpPr txBox="1"/>
            <p:nvPr/>
          </p:nvSpPr>
          <p:spPr>
            <a:xfrm>
              <a:off x="832866" y="3468052"/>
              <a:ext cx="215679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Keep temporal dynamics on only</a:t>
              </a:r>
            </a:p>
          </p:txBody>
        </p:sp>
        <p:sp>
          <p:nvSpPr>
            <p:cNvPr id="12" name="TextBox 12"/>
            <p:cNvSpPr txBox="1"/>
            <p:nvPr/>
          </p:nvSpPr>
          <p:spPr>
            <a:xfrm>
              <a:off x="832866" y="3677602"/>
              <a:ext cx="20743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at a few key positions, where</a:t>
              </a:r>
            </a:p>
          </p:txBody>
        </p:sp>
        <p:sp>
          <p:nvSpPr>
            <p:cNvPr id="13" name="TextBox 13"/>
            <p:cNvSpPr txBox="1"/>
            <p:nvPr/>
          </p:nvSpPr>
          <p:spPr>
            <a:xfrm>
              <a:off x="832866" y="3887152"/>
              <a:ext cx="203905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temporal connections are</a:t>
              </a:r>
            </a:p>
          </p:txBody>
        </p:sp>
        <p:sp>
          <p:nvSpPr>
            <p:cNvPr id="14" name="TextBox 14"/>
            <p:cNvSpPr txBox="1"/>
            <p:nvPr/>
          </p:nvSpPr>
          <p:spPr>
            <a:xfrm>
              <a:off x="832866" y="4096702"/>
              <a:ext cx="117681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made reversible.</a:t>
              </a:r>
            </a:p>
          </p:txBody>
        </p:sp>
      </p:grpSp>
      <p:grpSp>
        <p:nvGrpSpPr>
          <p:cNvPr id="27" name="Group 27"/>
          <p:cNvGrpSpPr/>
          <p:nvPr/>
        </p:nvGrpSpPr>
        <p:grpSpPr>
          <a:xfrm>
            <a:off x="3429000" y="1714500"/>
            <a:ext cx="2590800" cy="3543300"/>
            <a:chOff x="3429000" y="1714500"/>
            <a:chExt cx="2590800" cy="3543300"/>
          </a:xfrm>
        </p:grpSpPr>
        <p:sp>
          <p:nvSpPr>
            <p:cNvPr id="16" name="Rectangle 16"/>
            <p:cNvSpPr/>
            <p:nvPr/>
          </p:nvSpPr>
          <p:spPr>
            <a:xfrm>
              <a:off x="3429000" y="1714500"/>
              <a:ext cx="2590800" cy="3543300"/>
            </a:xfrm>
            <a:prstGeom prst="roundRect">
              <a:avLst>
                <a:gd name="adj" fmla="val 5147"/>
              </a:avLst>
            </a:prstGeom>
            <a:solidFill>
              <a:schemeClr val="accent5"/>
            </a:solidFill>
            <a:ln w="14288">
              <a:solidFill>
                <a:srgbClr val="26455F"/>
              </a:solidFill>
            </a:ln>
          </p:spPr>
        </p:sp>
        <p:sp>
          <p:nvSpPr>
            <p:cNvPr id="17" name="Rectangle 17"/>
            <p:cNvSpPr/>
            <p:nvPr/>
          </p:nvSpPr>
          <p:spPr>
            <a:xfrm>
              <a:off x="3429000" y="1714500"/>
              <a:ext cx="2590800" cy="57150"/>
            </a:xfrm>
            <a:prstGeom prst="roundRect">
              <a:avLst>
                <a:gd name="adj" fmla="val 50000"/>
              </a:avLst>
            </a:prstGeom>
            <a:solidFill>
              <a:srgbClr val="34D3C0"/>
            </a:solidFill>
            <a:ln>
              <a:noFill/>
            </a:ln>
          </p:spPr>
        </p:sp>
        <p:sp>
          <p:nvSpPr>
            <p:cNvPr id="18" name="Ellipse 18"/>
            <p:cNvSpPr/>
            <p:nvPr/>
          </p:nvSpPr>
          <p:spPr>
            <a:xfrm>
              <a:off x="3657600" y="2095500"/>
              <a:ext cx="495300" cy="495300"/>
            </a:xfrm>
            <a:prstGeom prst="ellipse">
              <a:avLst/>
            </a:prstGeom>
            <a:noFill/>
            <a:ln w="23812">
              <a:solidFill>
                <a:srgbClr val="34D3C0"/>
              </a:solidFill>
            </a:ln>
          </p:spPr>
        </p:sp>
        <p:sp>
          <p:nvSpPr>
            <p:cNvPr id="19" name="TextBox 19"/>
            <p:cNvSpPr txBox="1"/>
            <p:nvPr/>
          </p:nvSpPr>
          <p:spPr>
            <a:xfrm>
              <a:off x="3812952" y="2211705"/>
              <a:ext cx="184596"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2</a:t>
              </a:r>
            </a:p>
          </p:txBody>
        </p:sp>
        <p:sp>
          <p:nvSpPr>
            <p:cNvPr id="20" name="TextBox 20"/>
            <p:cNvSpPr txBox="1"/>
            <p:nvPr/>
          </p:nvSpPr>
          <p:spPr>
            <a:xfrm>
              <a:off x="3651313" y="2857262"/>
              <a:ext cx="1630149"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Reversible -&gt; O(L)</a:t>
              </a:r>
            </a:p>
          </p:txBody>
        </p:sp>
        <p:sp>
          <p:nvSpPr>
            <p:cNvPr id="21" name="TextBox 21"/>
            <p:cNvSpPr txBox="1"/>
            <p:nvPr/>
          </p:nvSpPr>
          <p:spPr>
            <a:xfrm>
              <a:off x="3651313" y="3085862"/>
              <a:ext cx="661091"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memory</a:t>
              </a:r>
            </a:p>
          </p:txBody>
        </p:sp>
        <p:sp>
          <p:nvSpPr>
            <p:cNvPr id="22" name="TextBox 22"/>
            <p:cNvSpPr txBox="1"/>
            <p:nvPr/>
          </p:nvSpPr>
          <p:spPr>
            <a:xfrm>
              <a:off x="3652266" y="3468052"/>
              <a:ext cx="20928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Reversibility lets the network</a:t>
              </a:r>
            </a:p>
          </p:txBody>
        </p:sp>
        <p:sp>
          <p:nvSpPr>
            <p:cNvPr id="23" name="TextBox 23"/>
            <p:cNvSpPr txBox="1"/>
            <p:nvPr/>
          </p:nvSpPr>
          <p:spPr>
            <a:xfrm>
              <a:off x="3652266" y="3677602"/>
              <a:ext cx="200371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recompute activations in the</a:t>
              </a:r>
            </a:p>
          </p:txBody>
        </p:sp>
        <p:sp>
          <p:nvSpPr>
            <p:cNvPr id="24" name="TextBox 24"/>
            <p:cNvSpPr txBox="1"/>
            <p:nvPr/>
          </p:nvSpPr>
          <p:spPr>
            <a:xfrm>
              <a:off x="3652266" y="3887152"/>
              <a:ext cx="17634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backward pass instead of</a:t>
              </a:r>
            </a:p>
          </p:txBody>
        </p:sp>
        <p:sp>
          <p:nvSpPr>
            <p:cNvPr id="25" name="TextBox 25"/>
            <p:cNvSpPr txBox="1"/>
            <p:nvPr/>
          </p:nvSpPr>
          <p:spPr>
            <a:xfrm>
              <a:off x="3652266" y="4096702"/>
              <a:ext cx="21238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storing them, cutting training</a:t>
              </a:r>
            </a:p>
          </p:txBody>
        </p:sp>
        <p:sp>
          <p:nvSpPr>
            <p:cNvPr id="26" name="TextBox 26"/>
            <p:cNvSpPr txBox="1"/>
            <p:nvPr/>
          </p:nvSpPr>
          <p:spPr>
            <a:xfrm>
              <a:off x="3652266" y="4306252"/>
              <a:ext cx="13660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memory to order L.</a:t>
              </a:r>
            </a:p>
          </p:txBody>
        </p:sp>
      </p:grpSp>
      <p:grpSp>
        <p:nvGrpSpPr>
          <p:cNvPr id="39" name="Group 39"/>
          <p:cNvGrpSpPr/>
          <p:nvPr/>
        </p:nvGrpSpPr>
        <p:grpSpPr>
          <a:xfrm>
            <a:off x="6248400" y="1714500"/>
            <a:ext cx="2590800" cy="3543300"/>
            <a:chOff x="6248400" y="1714500"/>
            <a:chExt cx="2590800" cy="3543300"/>
          </a:xfrm>
        </p:grpSpPr>
        <p:sp>
          <p:nvSpPr>
            <p:cNvPr id="28" name="Rectangle 28"/>
            <p:cNvSpPr/>
            <p:nvPr/>
          </p:nvSpPr>
          <p:spPr>
            <a:xfrm>
              <a:off x="6248400" y="1714500"/>
              <a:ext cx="2590800" cy="3543300"/>
            </a:xfrm>
            <a:prstGeom prst="roundRect">
              <a:avLst>
                <a:gd name="adj" fmla="val 5147"/>
              </a:avLst>
            </a:prstGeom>
            <a:solidFill>
              <a:schemeClr val="accent5"/>
            </a:solidFill>
            <a:ln w="14288">
              <a:solidFill>
                <a:srgbClr val="26455F"/>
              </a:solidFill>
            </a:ln>
          </p:spPr>
        </p:sp>
        <p:sp>
          <p:nvSpPr>
            <p:cNvPr id="29" name="Rectangle 29"/>
            <p:cNvSpPr/>
            <p:nvPr/>
          </p:nvSpPr>
          <p:spPr>
            <a:xfrm>
              <a:off x="6248400" y="1714500"/>
              <a:ext cx="2590800" cy="57150"/>
            </a:xfrm>
            <a:prstGeom prst="roundRect">
              <a:avLst>
                <a:gd name="adj" fmla="val 50000"/>
              </a:avLst>
            </a:prstGeom>
            <a:solidFill>
              <a:srgbClr val="F2C14E"/>
            </a:solidFill>
            <a:ln>
              <a:noFill/>
            </a:ln>
          </p:spPr>
        </p:sp>
        <p:sp>
          <p:nvSpPr>
            <p:cNvPr id="30" name="Ellipse 30"/>
            <p:cNvSpPr/>
            <p:nvPr/>
          </p:nvSpPr>
          <p:spPr>
            <a:xfrm>
              <a:off x="6477000" y="2095500"/>
              <a:ext cx="495300" cy="495300"/>
            </a:xfrm>
            <a:prstGeom prst="ellipse">
              <a:avLst/>
            </a:prstGeom>
            <a:noFill/>
            <a:ln w="23812">
              <a:solidFill>
                <a:srgbClr val="F2C14E"/>
              </a:solidFill>
            </a:ln>
          </p:spPr>
        </p:sp>
        <p:sp>
          <p:nvSpPr>
            <p:cNvPr id="31" name="TextBox 31"/>
            <p:cNvSpPr txBox="1"/>
            <p:nvPr/>
          </p:nvSpPr>
          <p:spPr>
            <a:xfrm>
              <a:off x="6632352" y="2211705"/>
              <a:ext cx="184596" cy="410718"/>
            </a:xfrm>
            <a:prstGeom prst="rect">
              <a:avLst/>
            </a:prstGeom>
            <a:noFill/>
            <a:ln>
              <a:noFill/>
            </a:ln>
          </p:spPr>
          <p:txBody>
            <a:bodyPr wrap="none" lIns="0" tIns="0" rIns="0" bIns="0" anchor="t" anchorCtr="0">
              <a:spAutoFit/>
            </a:bodyPr>
            <a:lstStyle/>
            <a:p>
              <a:pPr algn="ctr"/>
              <a:r>
                <a:rPr lang="en-US" sz="2100" b="1" dirty="0">
                  <a:solidFill>
                    <a:srgbClr val="F2C14E"/>
                  </a:solidFill>
                  <a:latin typeface="+mn-lt"/>
                  <a:ea typeface="+mn-ea"/>
                  <a:cs typeface="+mn-cs"/>
                </a:rPr>
                <a:t>3</a:t>
              </a:r>
            </a:p>
          </p:txBody>
        </p:sp>
        <p:sp>
          <p:nvSpPr>
            <p:cNvPr id="32" name="TextBox 32"/>
            <p:cNvSpPr txBox="1"/>
            <p:nvPr/>
          </p:nvSpPr>
          <p:spPr>
            <a:xfrm>
              <a:off x="6470714" y="2857262"/>
              <a:ext cx="1765656"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Encode once -&gt; O(1)</a:t>
              </a:r>
            </a:p>
          </p:txBody>
        </p:sp>
        <p:sp>
          <p:nvSpPr>
            <p:cNvPr id="33" name="TextBox 33"/>
            <p:cNvSpPr txBox="1"/>
            <p:nvPr/>
          </p:nvSpPr>
          <p:spPr>
            <a:xfrm>
              <a:off x="6470714" y="3085862"/>
              <a:ext cx="836367"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inference</a:t>
              </a:r>
            </a:p>
          </p:txBody>
        </p:sp>
        <p:sp>
          <p:nvSpPr>
            <p:cNvPr id="34" name="TextBox 34"/>
            <p:cNvSpPr txBox="1"/>
            <p:nvPr/>
          </p:nvSpPr>
          <p:spPr>
            <a:xfrm>
              <a:off x="6471666" y="3468052"/>
              <a:ext cx="21286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Encode the image only once and</a:t>
              </a:r>
            </a:p>
          </p:txBody>
        </p:sp>
        <p:sp>
          <p:nvSpPr>
            <p:cNvPr id="35" name="TextBox 35"/>
            <p:cNvSpPr txBox="1"/>
            <p:nvPr/>
          </p:nvSpPr>
          <p:spPr>
            <a:xfrm>
              <a:off x="6471666" y="3677602"/>
              <a:ext cx="18835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split features and network</a:t>
              </a:r>
            </a:p>
          </p:txBody>
        </p:sp>
        <p:sp>
          <p:nvSpPr>
            <p:cNvPr id="36" name="TextBox 36"/>
            <p:cNvSpPr txBox="1"/>
            <p:nvPr/>
          </p:nvSpPr>
          <p:spPr>
            <a:xfrm>
              <a:off x="6471666" y="3887152"/>
              <a:ext cx="222987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into independent sub-networks,</a:t>
              </a:r>
            </a:p>
          </p:txBody>
        </p:sp>
        <p:sp>
          <p:nvSpPr>
            <p:cNvPr id="37" name="TextBox 37"/>
            <p:cNvSpPr txBox="1"/>
            <p:nvPr/>
          </p:nvSpPr>
          <p:spPr>
            <a:xfrm>
              <a:off x="6471666" y="4096702"/>
              <a:ext cx="184116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so inference cost becomes</a:t>
              </a:r>
            </a:p>
          </p:txBody>
        </p:sp>
        <p:sp>
          <p:nvSpPr>
            <p:cNvPr id="38" name="TextBox 38"/>
            <p:cNvSpPr txBox="1"/>
            <p:nvPr/>
          </p:nvSpPr>
          <p:spPr>
            <a:xfrm>
              <a:off x="6471666" y="4306252"/>
              <a:ext cx="71035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constant.</a:t>
              </a:r>
            </a:p>
          </p:txBody>
        </p:sp>
      </p:grpSp>
      <p:grpSp>
        <p:nvGrpSpPr>
          <p:cNvPr id="51" name="Group 51"/>
          <p:cNvGrpSpPr/>
          <p:nvPr/>
        </p:nvGrpSpPr>
        <p:grpSpPr>
          <a:xfrm>
            <a:off x="9067800" y="1714500"/>
            <a:ext cx="2590800" cy="3543300"/>
            <a:chOff x="9067800" y="1714500"/>
            <a:chExt cx="2590800" cy="3543300"/>
          </a:xfrm>
        </p:grpSpPr>
        <p:sp>
          <p:nvSpPr>
            <p:cNvPr id="40" name="Rectangle 40"/>
            <p:cNvSpPr/>
            <p:nvPr/>
          </p:nvSpPr>
          <p:spPr>
            <a:xfrm>
              <a:off x="9067800" y="1714500"/>
              <a:ext cx="2590800" cy="3543300"/>
            </a:xfrm>
            <a:prstGeom prst="roundRect">
              <a:avLst>
                <a:gd name="adj" fmla="val 5147"/>
              </a:avLst>
            </a:prstGeom>
            <a:solidFill>
              <a:schemeClr val="accent5"/>
            </a:solidFill>
            <a:ln w="14288">
              <a:solidFill>
                <a:srgbClr val="26455F"/>
              </a:solidFill>
            </a:ln>
          </p:spPr>
        </p:sp>
        <p:sp>
          <p:nvSpPr>
            <p:cNvPr id="41" name="Rectangle 41"/>
            <p:cNvSpPr/>
            <p:nvPr/>
          </p:nvSpPr>
          <p:spPr>
            <a:xfrm>
              <a:off x="9067800" y="1714500"/>
              <a:ext cx="2590800" cy="57150"/>
            </a:xfrm>
            <a:prstGeom prst="roundRect">
              <a:avLst>
                <a:gd name="adj" fmla="val 50000"/>
              </a:avLst>
            </a:prstGeom>
            <a:solidFill>
              <a:srgbClr val="48C78E"/>
            </a:solidFill>
            <a:ln>
              <a:noFill/>
            </a:ln>
          </p:spPr>
        </p:sp>
        <p:sp>
          <p:nvSpPr>
            <p:cNvPr id="42" name="Ellipse 42"/>
            <p:cNvSpPr/>
            <p:nvPr/>
          </p:nvSpPr>
          <p:spPr>
            <a:xfrm>
              <a:off x="9296400" y="2095500"/>
              <a:ext cx="495300" cy="495300"/>
            </a:xfrm>
            <a:prstGeom prst="ellipse">
              <a:avLst/>
            </a:prstGeom>
            <a:noFill/>
            <a:ln w="23812">
              <a:solidFill>
                <a:srgbClr val="48C78E"/>
              </a:solidFill>
            </a:ln>
          </p:spPr>
        </p:sp>
        <p:sp>
          <p:nvSpPr>
            <p:cNvPr id="43" name="TextBox 43"/>
            <p:cNvSpPr txBox="1"/>
            <p:nvPr/>
          </p:nvSpPr>
          <p:spPr>
            <a:xfrm>
              <a:off x="9451752" y="2211705"/>
              <a:ext cx="184596" cy="410718"/>
            </a:xfrm>
            <a:prstGeom prst="rect">
              <a:avLst/>
            </a:prstGeom>
            <a:noFill/>
            <a:ln>
              <a:noFill/>
            </a:ln>
          </p:spPr>
          <p:txBody>
            <a:bodyPr wrap="none" lIns="0" tIns="0" rIns="0" bIns="0" anchor="t" anchorCtr="0">
              <a:spAutoFit/>
            </a:bodyPr>
            <a:lstStyle/>
            <a:p>
              <a:pPr algn="ctr"/>
              <a:r>
                <a:rPr lang="en-US" sz="2100" b="1" dirty="0">
                  <a:solidFill>
                    <a:srgbClr val="48C78E"/>
                  </a:solidFill>
                  <a:latin typeface="+mn-lt"/>
                  <a:ea typeface="+mn-ea"/>
                  <a:cs typeface="+mn-cs"/>
                </a:rPr>
                <a:t>4</a:t>
              </a:r>
            </a:p>
          </p:txBody>
        </p:sp>
        <p:sp>
          <p:nvSpPr>
            <p:cNvPr id="44" name="TextBox 44"/>
            <p:cNvSpPr txBox="1"/>
            <p:nvPr/>
          </p:nvSpPr>
          <p:spPr>
            <a:xfrm>
              <a:off x="9290114" y="2857262"/>
              <a:ext cx="1441969"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ConvNeXt block +</a:t>
              </a:r>
            </a:p>
          </p:txBody>
        </p:sp>
        <p:sp>
          <p:nvSpPr>
            <p:cNvPr id="45" name="TextBox 45"/>
            <p:cNvSpPr txBox="1"/>
            <p:nvPr/>
          </p:nvSpPr>
          <p:spPr>
            <a:xfrm>
              <a:off x="9290114" y="3085862"/>
              <a:ext cx="1283318"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scaled residual</a:t>
              </a:r>
            </a:p>
          </p:txBody>
        </p:sp>
        <p:sp>
          <p:nvSpPr>
            <p:cNvPr id="46" name="TextBox 46"/>
            <p:cNvSpPr txBox="1"/>
            <p:nvPr/>
          </p:nvSpPr>
          <p:spPr>
            <a:xfrm>
              <a:off x="9291066" y="3468052"/>
              <a:ext cx="195831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Redesign the basic SNN block</a:t>
              </a:r>
            </a:p>
          </p:txBody>
        </p:sp>
        <p:sp>
          <p:nvSpPr>
            <p:cNvPr id="47" name="TextBox 47"/>
            <p:cNvSpPr txBox="1"/>
            <p:nvPr/>
          </p:nvSpPr>
          <p:spPr>
            <a:xfrm>
              <a:off x="9291066" y="3677602"/>
              <a:ext cx="19970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 a ConvNeXt style and add a</a:t>
              </a:r>
            </a:p>
          </p:txBody>
        </p:sp>
        <p:sp>
          <p:nvSpPr>
            <p:cNvPr id="48" name="TextBox 48"/>
            <p:cNvSpPr txBox="1"/>
            <p:nvPr/>
          </p:nvSpPr>
          <p:spPr>
            <a:xfrm>
              <a:off x="9291066" y="3887152"/>
              <a:ext cx="20178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scaled residual so the sparse</a:t>
              </a:r>
            </a:p>
          </p:txBody>
        </p:sp>
        <p:sp>
          <p:nvSpPr>
            <p:cNvPr id="49" name="TextBox 49"/>
            <p:cNvSpPr txBox="1"/>
            <p:nvPr/>
          </p:nvSpPr>
          <p:spPr>
            <a:xfrm>
              <a:off x="9291066" y="4096702"/>
              <a:ext cx="189770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temporal design still trains</a:t>
              </a:r>
            </a:p>
          </p:txBody>
        </p:sp>
        <p:sp>
          <p:nvSpPr>
            <p:cNvPr id="50" name="TextBox 50"/>
            <p:cNvSpPr txBox="1"/>
            <p:nvPr/>
          </p:nvSpPr>
          <p:spPr>
            <a:xfrm>
              <a:off x="9291066" y="4306252"/>
              <a:ext cx="35697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well.</a:t>
              </a:r>
            </a:p>
          </p:txBody>
        </p:sp>
      </p:grpSp>
      <p:sp>
        <p:nvSpPr>
          <p:cNvPr id="52" name="TextBox 52"/>
          <p:cNvSpPr txBox="1"/>
          <p:nvPr/>
        </p:nvSpPr>
        <p:spPr>
          <a:xfrm>
            <a:off x="603694" y="5437108"/>
            <a:ext cx="6977927"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Sparse temporal dynamics + reversibility = low memory and low inference cost at once.</a:t>
            </a:r>
          </a:p>
        </p:txBody>
      </p:sp>
      <p:sp>
        <p:nvSpPr>
          <p:cNvPr id="53" name="cue_s04_c1_their_answer_t_revsnn_temporal_rever" title="cue_s04_c1_their_answer_t_revsnn_temporal_rever" descr="cue_s04_c1_their_answer_t_revsnn_temporal_rever Their answer is T-RevSNN, a Temporal Reversible architecture for spiking networks. The core idea is to turn off the temporal dynamics of most spiking neurons and keep them on only at a few key positions, where the temporal connections are made reversible."/>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4_c2_reversibility_means_network_recomput" title="cue_s04_c2_reversibility_means_network_recomput" descr="cue_s04_c2_reversibility_means_network_recomput Reversibility means the network can recompute activations during the backward pass instead of storing them, which brings training memory down to order L."/>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4_c3_top_they_encode_input_image" title="cue_s04_c3_top_they_encode_input_image" descr="cue_s04_c3_top_they_encode_input_image On top of that, they encode the input image only once and split both the features and the network into independent sub-networks, so inference cost becomes constant, order one."/>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4_c4_make_sparse_temporal_design_actually" title="cue_s04_c4_make_sparse_temporal_design_actually" descr="cue_s04_c4_make_sparse_temporal_design_actually To make this sparse temporal design actually train well, they also redesign the basic SNN block in a ConvNeXt style and add a scaled residual connection."/>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763504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Encode once, split by time, reverse the key links</a:t>
            </a:r>
          </a:p>
        </p:txBody>
      </p:sp>
      <p:grpSp>
        <p:nvGrpSpPr>
          <p:cNvPr id="25" name="Group 25"/>
          <p:cNvGrpSpPr/>
          <p:nvPr/>
        </p:nvGrpSpPr>
        <p:grpSpPr>
          <a:xfrm>
            <a:off x="609600" y="1504950"/>
            <a:ext cx="5410200" cy="1905000"/>
            <a:chOff x="609600" y="1504950"/>
            <a:chExt cx="5410200" cy="1905000"/>
          </a:xfrm>
        </p:grpSpPr>
        <p:sp>
          <p:nvSpPr>
            <p:cNvPr id="5" name="Rectangle 5"/>
            <p:cNvSpPr/>
            <p:nvPr/>
          </p:nvSpPr>
          <p:spPr>
            <a:xfrm>
              <a:off x="609600" y="1504950"/>
              <a:ext cx="5410200" cy="1905000"/>
            </a:xfrm>
            <a:prstGeom prst="roundRect">
              <a:avLst>
                <a:gd name="adj" fmla="val 7000"/>
              </a:avLst>
            </a:prstGeom>
            <a:solidFill>
              <a:schemeClr val="accent5"/>
            </a:solidFill>
            <a:ln w="14288">
              <a:solidFill>
                <a:srgbClr val="26455F"/>
              </a:solidFill>
            </a:ln>
          </p:spPr>
        </p:sp>
        <p:sp>
          <p:nvSpPr>
            <p:cNvPr id="6" name="Rectangle 6"/>
            <p:cNvSpPr/>
            <p:nvPr/>
          </p:nvSpPr>
          <p:spPr>
            <a:xfrm>
              <a:off x="609600" y="1504950"/>
              <a:ext cx="57150" cy="1905000"/>
            </a:xfrm>
            <a:prstGeom prst="roundRect">
              <a:avLst>
                <a:gd name="adj" fmla="val 50000"/>
              </a:avLst>
            </a:prstGeom>
            <a:solidFill>
              <a:schemeClr val="accent2"/>
            </a:solidFill>
            <a:ln>
              <a:noFill/>
            </a:ln>
          </p:spPr>
        </p:sp>
        <p:sp>
          <p:nvSpPr>
            <p:cNvPr id="7" name="TextBox 7"/>
            <p:cNvSpPr txBox="1"/>
            <p:nvPr/>
          </p:nvSpPr>
          <p:spPr>
            <a:xfrm>
              <a:off x="870014" y="1733312"/>
              <a:ext cx="2788192"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Encode once, one group per step</a:t>
              </a:r>
            </a:p>
          </p:txBody>
        </p:sp>
        <p:sp>
          <p:nvSpPr>
            <p:cNvPr id="8" name="TextBox 8"/>
            <p:cNvSpPr txBox="1"/>
            <p:nvPr/>
          </p:nvSpPr>
          <p:spPr>
            <a:xfrm>
              <a:off x="870966" y="2039302"/>
              <a:ext cx="371893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Instead of feeding the same image at every timestep,</a:t>
              </a:r>
            </a:p>
          </p:txBody>
        </p:sp>
        <p:sp>
          <p:nvSpPr>
            <p:cNvPr id="9" name="TextBox 9"/>
            <p:cNvSpPr txBox="1"/>
            <p:nvPr/>
          </p:nvSpPr>
          <p:spPr>
            <a:xfrm>
              <a:off x="870966" y="2239328"/>
              <a:ext cx="393363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T-RevSNN encodes it once and divides the features into T</a:t>
              </a:r>
            </a:p>
          </p:txBody>
        </p:sp>
        <p:sp>
          <p:nvSpPr>
            <p:cNvPr id="10" name="TextBox 10"/>
            <p:cNvSpPr txBox="1"/>
            <p:nvPr/>
          </p:nvSpPr>
          <p:spPr>
            <a:xfrm>
              <a:off x="870966" y="2439352"/>
              <a:ext cx="15372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groups, one per step.</a:t>
              </a:r>
            </a:p>
          </p:txBody>
        </p:sp>
        <p:sp>
          <p:nvSpPr>
            <p:cNvPr id="11" name="Rectangle 11"/>
            <p:cNvSpPr/>
            <p:nvPr/>
          </p:nvSpPr>
          <p:spPr>
            <a:xfrm>
              <a:off x="876300" y="2857500"/>
              <a:ext cx="685800" cy="457200"/>
            </a:xfrm>
            <a:prstGeom prst="roundRect">
              <a:avLst>
                <a:gd name="adj" fmla="val 16667"/>
              </a:avLst>
            </a:prstGeom>
            <a:solidFill>
              <a:schemeClr val="accent6"/>
            </a:solidFill>
            <a:ln w="14288">
              <a:solidFill>
                <a:srgbClr val="26455F"/>
              </a:solidFill>
            </a:ln>
          </p:spPr>
        </p:sp>
        <p:sp>
          <p:nvSpPr>
            <p:cNvPr id="12" name="TextBox 12"/>
            <p:cNvSpPr txBox="1"/>
            <p:nvPr/>
          </p:nvSpPr>
          <p:spPr>
            <a:xfrm>
              <a:off x="1035063" y="3032522"/>
              <a:ext cx="368274"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image</a:t>
              </a:r>
            </a:p>
          </p:txBody>
        </p:sp>
        <p:sp>
          <p:nvSpPr>
            <p:cNvPr id="13" name="TextBox 13"/>
            <p:cNvSpPr txBox="1"/>
            <p:nvPr/>
          </p:nvSpPr>
          <p:spPr>
            <a:xfrm>
              <a:off x="1746504" y="3013710"/>
              <a:ext cx="198775" cy="234696"/>
            </a:xfrm>
            <a:prstGeom prst="rect">
              <a:avLst/>
            </a:prstGeom>
            <a:noFill/>
            <a:ln>
              <a:noFill/>
            </a:ln>
          </p:spPr>
          <p:txBody>
            <a:bodyPr wrap="none" lIns="0" tIns="0" rIns="0" bIns="0" anchor="t" anchorCtr="0">
              <a:spAutoFit/>
            </a:bodyPr>
            <a:lstStyle/>
            <a:p>
              <a:pPr algn="l"/>
              <a:r>
                <a:rPr lang="en-US" sz="1200" b="1" dirty="0">
                  <a:solidFill>
                    <a:schemeClr val="dk2"/>
                  </a:solidFill>
                  <a:latin typeface="+mn-lt"/>
                  <a:ea typeface="+mn-ea"/>
                  <a:cs typeface="+mn-cs"/>
                </a:rPr>
                <a:t>-&gt;</a:t>
              </a:r>
            </a:p>
          </p:txBody>
        </p:sp>
        <p:sp>
          <p:nvSpPr>
            <p:cNvPr id="14" name="Rectangle 14"/>
            <p:cNvSpPr/>
            <p:nvPr/>
          </p:nvSpPr>
          <p:spPr>
            <a:xfrm>
              <a:off x="2000250" y="2857500"/>
              <a:ext cx="819150" cy="457200"/>
            </a:xfrm>
            <a:prstGeom prst="roundRect">
              <a:avLst>
                <a:gd name="adj" fmla="val 16667"/>
              </a:avLst>
            </a:prstGeom>
            <a:solidFill>
              <a:schemeClr val="accent6"/>
            </a:solidFill>
            <a:ln w="14288">
              <a:solidFill>
                <a:schemeClr val="accent2"/>
              </a:solidFill>
            </a:ln>
          </p:spPr>
        </p:sp>
        <p:sp>
          <p:nvSpPr>
            <p:cNvPr id="15" name="TextBox 15"/>
            <p:cNvSpPr txBox="1"/>
            <p:nvPr/>
          </p:nvSpPr>
          <p:spPr>
            <a:xfrm>
              <a:off x="2185827" y="3032522"/>
              <a:ext cx="447996" cy="183356"/>
            </a:xfrm>
            <a:prstGeom prst="rect">
              <a:avLst/>
            </a:prstGeom>
            <a:noFill/>
            <a:ln>
              <a:noFill/>
            </a:ln>
          </p:spPr>
          <p:txBody>
            <a:bodyPr wrap="none" lIns="0" tIns="0" rIns="0" bIns="0" anchor="t" anchorCtr="0">
              <a:spAutoFit/>
            </a:bodyPr>
            <a:lstStyle/>
            <a:p>
              <a:pPr algn="ctr"/>
              <a:r>
                <a:rPr lang="en-US" sz="940" b="1" dirty="0">
                  <a:solidFill>
                    <a:schemeClr val="accent2"/>
                  </a:solidFill>
                  <a:latin typeface="+mn-lt"/>
                  <a:ea typeface="+mn-ea"/>
                  <a:cs typeface="+mn-cs"/>
                </a:rPr>
                <a:t>encode</a:t>
              </a:r>
            </a:p>
          </p:txBody>
        </p:sp>
        <p:sp>
          <p:nvSpPr>
            <p:cNvPr id="16" name="TextBox 16"/>
            <p:cNvSpPr txBox="1"/>
            <p:nvPr/>
          </p:nvSpPr>
          <p:spPr>
            <a:xfrm>
              <a:off x="2908554" y="3013710"/>
              <a:ext cx="198775" cy="234696"/>
            </a:xfrm>
            <a:prstGeom prst="rect">
              <a:avLst/>
            </a:prstGeom>
            <a:noFill/>
            <a:ln>
              <a:noFill/>
            </a:ln>
          </p:spPr>
          <p:txBody>
            <a:bodyPr wrap="none" lIns="0" tIns="0" rIns="0" bIns="0" anchor="t" anchorCtr="0">
              <a:spAutoFit/>
            </a:bodyPr>
            <a:lstStyle/>
            <a:p>
              <a:pPr algn="l"/>
              <a:r>
                <a:rPr lang="en-US" sz="1200" b="1" dirty="0">
                  <a:solidFill>
                    <a:schemeClr val="dk2"/>
                  </a:solidFill>
                  <a:latin typeface="+mn-lt"/>
                  <a:ea typeface="+mn-ea"/>
                  <a:cs typeface="+mn-cs"/>
                </a:rPr>
                <a:t>-&gt;</a:t>
              </a:r>
            </a:p>
          </p:txBody>
        </p:sp>
        <p:sp>
          <p:nvSpPr>
            <p:cNvPr id="17" name="Rectangle 17"/>
            <p:cNvSpPr/>
            <p:nvPr/>
          </p:nvSpPr>
          <p:spPr>
            <a:xfrm>
              <a:off x="3219450" y="2857500"/>
              <a:ext cx="581025" cy="457200"/>
            </a:xfrm>
            <a:prstGeom prst="roundRect">
              <a:avLst>
                <a:gd name="adj" fmla="val 12500"/>
              </a:avLst>
            </a:prstGeom>
            <a:solidFill>
              <a:srgbClr val="0E2334"/>
            </a:solidFill>
            <a:ln w="14288">
              <a:solidFill>
                <a:schemeClr val="accent2"/>
              </a:solidFill>
            </a:ln>
          </p:spPr>
        </p:sp>
        <p:sp>
          <p:nvSpPr>
            <p:cNvPr id="18" name="TextBox 18"/>
            <p:cNvSpPr txBox="1"/>
            <p:nvPr/>
          </p:nvSpPr>
          <p:spPr>
            <a:xfrm>
              <a:off x="3432122" y="3032522"/>
              <a:ext cx="155682" cy="183356"/>
            </a:xfrm>
            <a:prstGeom prst="rect">
              <a:avLst/>
            </a:prstGeom>
            <a:noFill/>
            <a:ln>
              <a:noFill/>
            </a:ln>
          </p:spPr>
          <p:txBody>
            <a:bodyPr wrap="none" lIns="0" tIns="0" rIns="0" bIns="0" anchor="t" anchorCtr="0">
              <a:spAutoFit/>
            </a:bodyPr>
            <a:lstStyle/>
            <a:p>
              <a:pPr algn="ctr"/>
              <a:r>
                <a:rPr lang="en-US" sz="940" b="1" dirty="0">
                  <a:solidFill>
                    <a:schemeClr val="accent2"/>
                  </a:solidFill>
                  <a:latin typeface="+mn-lt"/>
                  <a:ea typeface="+mn-ea"/>
                  <a:cs typeface="+mn-cs"/>
                </a:rPr>
                <a:t>t1</a:t>
              </a:r>
            </a:p>
          </p:txBody>
        </p:sp>
        <p:sp>
          <p:nvSpPr>
            <p:cNvPr id="19" name="Rectangle 19"/>
            <p:cNvSpPr/>
            <p:nvPr/>
          </p:nvSpPr>
          <p:spPr>
            <a:xfrm>
              <a:off x="3857625" y="2857500"/>
              <a:ext cx="581025" cy="457200"/>
            </a:xfrm>
            <a:prstGeom prst="roundRect">
              <a:avLst>
                <a:gd name="adj" fmla="val 12500"/>
              </a:avLst>
            </a:prstGeom>
            <a:solidFill>
              <a:srgbClr val="0E2334"/>
            </a:solidFill>
            <a:ln w="14288">
              <a:solidFill>
                <a:srgbClr val="34D3C0"/>
              </a:solidFill>
            </a:ln>
          </p:spPr>
        </p:sp>
        <p:sp>
          <p:nvSpPr>
            <p:cNvPr id="20" name="TextBox 20"/>
            <p:cNvSpPr txBox="1"/>
            <p:nvPr/>
          </p:nvSpPr>
          <p:spPr>
            <a:xfrm>
              <a:off x="4070297" y="3032522"/>
              <a:ext cx="155682" cy="183356"/>
            </a:xfrm>
            <a:prstGeom prst="rect">
              <a:avLst/>
            </a:prstGeom>
            <a:noFill/>
            <a:ln>
              <a:noFill/>
            </a:ln>
          </p:spPr>
          <p:txBody>
            <a:bodyPr wrap="none" lIns="0" tIns="0" rIns="0" bIns="0" anchor="t" anchorCtr="0">
              <a:spAutoFit/>
            </a:bodyPr>
            <a:lstStyle/>
            <a:p>
              <a:pPr algn="ctr"/>
              <a:r>
                <a:rPr lang="en-US" sz="940" b="1" dirty="0">
                  <a:solidFill>
                    <a:srgbClr val="34D3C0"/>
                  </a:solidFill>
                  <a:latin typeface="+mn-lt"/>
                  <a:ea typeface="+mn-ea"/>
                  <a:cs typeface="+mn-cs"/>
                </a:rPr>
                <a:t>t2</a:t>
              </a:r>
            </a:p>
          </p:txBody>
        </p:sp>
        <p:sp>
          <p:nvSpPr>
            <p:cNvPr id="21" name="Rectangle 21"/>
            <p:cNvSpPr/>
            <p:nvPr/>
          </p:nvSpPr>
          <p:spPr>
            <a:xfrm>
              <a:off x="4495800" y="2857500"/>
              <a:ext cx="581025" cy="457200"/>
            </a:xfrm>
            <a:prstGeom prst="roundRect">
              <a:avLst>
                <a:gd name="adj" fmla="val 12500"/>
              </a:avLst>
            </a:prstGeom>
            <a:solidFill>
              <a:srgbClr val="0E2334"/>
            </a:solidFill>
            <a:ln w="14288">
              <a:solidFill>
                <a:srgbClr val="F2C14E"/>
              </a:solidFill>
            </a:ln>
          </p:spPr>
        </p:sp>
        <p:sp>
          <p:nvSpPr>
            <p:cNvPr id="22" name="TextBox 22"/>
            <p:cNvSpPr txBox="1"/>
            <p:nvPr/>
          </p:nvSpPr>
          <p:spPr>
            <a:xfrm>
              <a:off x="4708472" y="3032522"/>
              <a:ext cx="155682" cy="183356"/>
            </a:xfrm>
            <a:prstGeom prst="rect">
              <a:avLst/>
            </a:prstGeom>
            <a:noFill/>
            <a:ln>
              <a:noFill/>
            </a:ln>
          </p:spPr>
          <p:txBody>
            <a:bodyPr wrap="none" lIns="0" tIns="0" rIns="0" bIns="0" anchor="t" anchorCtr="0">
              <a:spAutoFit/>
            </a:bodyPr>
            <a:lstStyle/>
            <a:p>
              <a:pPr algn="ctr"/>
              <a:r>
                <a:rPr lang="en-US" sz="940" b="1" dirty="0">
                  <a:solidFill>
                    <a:srgbClr val="F2C14E"/>
                  </a:solidFill>
                  <a:latin typeface="+mn-lt"/>
                  <a:ea typeface="+mn-ea"/>
                  <a:cs typeface="+mn-cs"/>
                </a:rPr>
                <a:t>t3</a:t>
              </a:r>
            </a:p>
          </p:txBody>
        </p:sp>
        <p:sp>
          <p:nvSpPr>
            <p:cNvPr id="23" name="Rectangle 23"/>
            <p:cNvSpPr/>
            <p:nvPr/>
          </p:nvSpPr>
          <p:spPr>
            <a:xfrm>
              <a:off x="5133975" y="2857500"/>
              <a:ext cx="581025" cy="457200"/>
            </a:xfrm>
            <a:prstGeom prst="roundRect">
              <a:avLst>
                <a:gd name="adj" fmla="val 12500"/>
              </a:avLst>
            </a:prstGeom>
            <a:solidFill>
              <a:srgbClr val="0E2334"/>
            </a:solidFill>
            <a:ln w="14288">
              <a:solidFill>
                <a:srgbClr val="48C78E"/>
              </a:solidFill>
            </a:ln>
          </p:spPr>
        </p:sp>
        <p:sp>
          <p:nvSpPr>
            <p:cNvPr id="24" name="TextBox 24"/>
            <p:cNvSpPr txBox="1"/>
            <p:nvPr/>
          </p:nvSpPr>
          <p:spPr>
            <a:xfrm>
              <a:off x="5346647" y="3032522"/>
              <a:ext cx="155682" cy="183356"/>
            </a:xfrm>
            <a:prstGeom prst="rect">
              <a:avLst/>
            </a:prstGeom>
            <a:noFill/>
            <a:ln>
              <a:noFill/>
            </a:ln>
          </p:spPr>
          <p:txBody>
            <a:bodyPr wrap="none" lIns="0" tIns="0" rIns="0" bIns="0" anchor="t" anchorCtr="0">
              <a:spAutoFit/>
            </a:bodyPr>
            <a:lstStyle/>
            <a:p>
              <a:pPr algn="ctr"/>
              <a:r>
                <a:rPr lang="en-US" sz="940" b="1" dirty="0">
                  <a:solidFill>
                    <a:srgbClr val="48C78E"/>
                  </a:solidFill>
                  <a:latin typeface="+mn-lt"/>
                  <a:ea typeface="+mn-ea"/>
                  <a:cs typeface="+mn-cs"/>
                </a:rPr>
                <a:t>t4</a:t>
              </a:r>
            </a:p>
          </p:txBody>
        </p:sp>
      </p:grpSp>
      <p:grpSp>
        <p:nvGrpSpPr>
          <p:cNvPr id="33" name="Group 33"/>
          <p:cNvGrpSpPr/>
          <p:nvPr/>
        </p:nvGrpSpPr>
        <p:grpSpPr>
          <a:xfrm>
            <a:off x="609600" y="3562350"/>
            <a:ext cx="5410200" cy="1676400"/>
            <a:chOff x="609600" y="3562350"/>
            <a:chExt cx="5410200" cy="1676400"/>
          </a:xfrm>
        </p:grpSpPr>
        <p:sp>
          <p:nvSpPr>
            <p:cNvPr id="26" name="Rectangle 26"/>
            <p:cNvSpPr/>
            <p:nvPr/>
          </p:nvSpPr>
          <p:spPr>
            <a:xfrm>
              <a:off x="609600" y="3562350"/>
              <a:ext cx="5410200" cy="1676400"/>
            </a:xfrm>
            <a:prstGeom prst="roundRect">
              <a:avLst>
                <a:gd name="adj" fmla="val 7955"/>
              </a:avLst>
            </a:prstGeom>
            <a:solidFill>
              <a:schemeClr val="accent5"/>
            </a:solidFill>
            <a:ln w="14288">
              <a:solidFill>
                <a:srgbClr val="26455F"/>
              </a:solidFill>
            </a:ln>
          </p:spPr>
        </p:sp>
        <p:sp>
          <p:nvSpPr>
            <p:cNvPr id="27" name="Rectangle 27"/>
            <p:cNvSpPr/>
            <p:nvPr/>
          </p:nvSpPr>
          <p:spPr>
            <a:xfrm>
              <a:off x="609600" y="3562350"/>
              <a:ext cx="57150" cy="1676400"/>
            </a:xfrm>
            <a:prstGeom prst="roundRect">
              <a:avLst>
                <a:gd name="adj" fmla="val 50000"/>
              </a:avLst>
            </a:prstGeom>
            <a:solidFill>
              <a:srgbClr val="34D3C0"/>
            </a:solidFill>
            <a:ln>
              <a:noFill/>
            </a:ln>
          </p:spPr>
        </p:sp>
        <p:sp>
          <p:nvSpPr>
            <p:cNvPr id="28" name="TextBox 28"/>
            <p:cNvSpPr txBox="1"/>
            <p:nvPr/>
          </p:nvSpPr>
          <p:spPr>
            <a:xfrm>
              <a:off x="870204" y="3794760"/>
              <a:ext cx="2135360"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Split into T sub-networks</a:t>
              </a:r>
            </a:p>
          </p:txBody>
        </p:sp>
        <p:sp>
          <p:nvSpPr>
            <p:cNvPr id="29" name="TextBox 29"/>
            <p:cNvSpPr txBox="1"/>
            <p:nvPr/>
          </p:nvSpPr>
          <p:spPr>
            <a:xfrm>
              <a:off x="870966" y="4096702"/>
              <a:ext cx="361774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network is split into T sub-networks that share</a:t>
              </a:r>
            </a:p>
          </p:txBody>
        </p:sp>
        <p:sp>
          <p:nvSpPr>
            <p:cNvPr id="30" name="TextBox 30"/>
            <p:cNvSpPr txBox="1"/>
            <p:nvPr/>
          </p:nvSpPr>
          <p:spPr>
            <a:xfrm>
              <a:off x="870966" y="4296728"/>
              <a:ext cx="40603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parameters and exchange temporal information only at the</a:t>
              </a:r>
            </a:p>
          </p:txBody>
        </p:sp>
        <p:sp>
          <p:nvSpPr>
            <p:cNvPr id="31" name="TextBox 31"/>
            <p:cNvSpPr txBox="1"/>
            <p:nvPr/>
          </p:nvSpPr>
          <p:spPr>
            <a:xfrm>
              <a:off x="870966" y="4496752"/>
              <a:ext cx="17280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key, turned-on neurons.</a:t>
              </a:r>
            </a:p>
          </p:txBody>
        </p:sp>
        <p:sp>
          <p:nvSpPr>
            <p:cNvPr id="32" name="TextBox 32"/>
            <p:cNvSpPr txBox="1"/>
            <p:nvPr/>
          </p:nvSpPr>
          <p:spPr>
            <a:xfrm>
              <a:off x="871156" y="4919901"/>
              <a:ext cx="3094000"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Consolas"/>
                  <a:ea typeface="Consolas"/>
                  <a:cs typeface="Consolas"/>
                </a:rPr>
                <a:t>temporal info exchanged only at key neurons</a:t>
              </a:r>
            </a:p>
          </p:txBody>
        </p:sp>
      </p:grpSp>
      <p:grpSp>
        <p:nvGrpSpPr>
          <p:cNvPr id="42" name="Group 42"/>
          <p:cNvGrpSpPr/>
          <p:nvPr/>
        </p:nvGrpSpPr>
        <p:grpSpPr>
          <a:xfrm>
            <a:off x="6248400" y="1504950"/>
            <a:ext cx="5334000" cy="1905000"/>
            <a:chOff x="6248400" y="1504950"/>
            <a:chExt cx="5334000" cy="1905000"/>
          </a:xfrm>
        </p:grpSpPr>
        <p:sp>
          <p:nvSpPr>
            <p:cNvPr id="34" name="Rectangle 34"/>
            <p:cNvSpPr/>
            <p:nvPr/>
          </p:nvSpPr>
          <p:spPr>
            <a:xfrm>
              <a:off x="6248400" y="1504950"/>
              <a:ext cx="5334000" cy="1905000"/>
            </a:xfrm>
            <a:prstGeom prst="roundRect">
              <a:avLst>
                <a:gd name="adj" fmla="val 7000"/>
              </a:avLst>
            </a:prstGeom>
            <a:solidFill>
              <a:schemeClr val="accent5"/>
            </a:solidFill>
            <a:ln w="14288">
              <a:solidFill>
                <a:srgbClr val="26455F"/>
              </a:solidFill>
            </a:ln>
          </p:spPr>
        </p:sp>
        <p:sp>
          <p:nvSpPr>
            <p:cNvPr id="35" name="Rectangle 35"/>
            <p:cNvSpPr/>
            <p:nvPr/>
          </p:nvSpPr>
          <p:spPr>
            <a:xfrm>
              <a:off x="6248400" y="1504950"/>
              <a:ext cx="57150" cy="1905000"/>
            </a:xfrm>
            <a:prstGeom prst="roundRect">
              <a:avLst>
                <a:gd name="adj" fmla="val 50000"/>
              </a:avLst>
            </a:prstGeom>
            <a:solidFill>
              <a:srgbClr val="F2C14E"/>
            </a:solidFill>
            <a:ln>
              <a:noFill/>
            </a:ln>
          </p:spPr>
        </p:sp>
        <p:sp>
          <p:nvSpPr>
            <p:cNvPr id="36" name="TextBox 36"/>
            <p:cNvSpPr txBox="1"/>
            <p:nvPr/>
          </p:nvSpPr>
          <p:spPr>
            <a:xfrm>
              <a:off x="6508814" y="1733312"/>
              <a:ext cx="3120432"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Multi-level temporal-reversible rule</a:t>
              </a:r>
            </a:p>
          </p:txBody>
        </p:sp>
        <p:sp>
          <p:nvSpPr>
            <p:cNvPr id="37" name="TextBox 37"/>
            <p:cNvSpPr txBox="1"/>
            <p:nvPr/>
          </p:nvSpPr>
          <p:spPr>
            <a:xfrm>
              <a:off x="6509766" y="2039302"/>
              <a:ext cx="379656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membrane potential at one timestep can be exactly</a:t>
              </a:r>
            </a:p>
          </p:txBody>
        </p:sp>
        <p:sp>
          <p:nvSpPr>
            <p:cNvPr id="38" name="TextBox 38"/>
            <p:cNvSpPr txBox="1"/>
            <p:nvPr/>
          </p:nvSpPr>
          <p:spPr>
            <a:xfrm>
              <a:off x="6509766" y="2239328"/>
              <a:ext cx="38271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reconstructed from the next timestep's state and the</a:t>
              </a:r>
            </a:p>
          </p:txBody>
        </p:sp>
        <p:sp>
          <p:nvSpPr>
            <p:cNvPr id="39" name="TextBox 39"/>
            <p:cNvSpPr txBox="1"/>
            <p:nvPr/>
          </p:nvSpPr>
          <p:spPr>
            <a:xfrm>
              <a:off x="6509766" y="2439352"/>
              <a:ext cx="114147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incoming spikes.</a:t>
              </a:r>
            </a:p>
          </p:txBody>
        </p:sp>
        <p:sp>
          <p:nvSpPr>
            <p:cNvPr id="40" name="Rectangle 40"/>
            <p:cNvSpPr/>
            <p:nvPr/>
          </p:nvSpPr>
          <p:spPr>
            <a:xfrm>
              <a:off x="6515100" y="2990850"/>
              <a:ext cx="4800600" cy="419100"/>
            </a:xfrm>
            <a:prstGeom prst="roundRect">
              <a:avLst>
                <a:gd name="adj" fmla="val 18182"/>
              </a:avLst>
            </a:prstGeom>
            <a:solidFill>
              <a:schemeClr val="accent6"/>
            </a:solidFill>
            <a:ln w="14288">
              <a:solidFill>
                <a:srgbClr val="26455F"/>
              </a:solidFill>
            </a:ln>
          </p:spPr>
        </p:sp>
        <p:sp>
          <p:nvSpPr>
            <p:cNvPr id="41" name="TextBox 41"/>
            <p:cNvSpPr txBox="1"/>
            <p:nvPr/>
          </p:nvSpPr>
          <p:spPr>
            <a:xfrm>
              <a:off x="7635264" y="3136106"/>
              <a:ext cx="2560271"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u[t] = h( u[t+1], s[t] ) (exact)</a:t>
              </a:r>
            </a:p>
          </p:txBody>
        </p:sp>
      </p:grpSp>
      <p:grpSp>
        <p:nvGrpSpPr>
          <p:cNvPr id="51" name="Group 51"/>
          <p:cNvGrpSpPr/>
          <p:nvPr/>
        </p:nvGrpSpPr>
        <p:grpSpPr>
          <a:xfrm>
            <a:off x="6248400" y="3562350"/>
            <a:ext cx="5334000" cy="1676400"/>
            <a:chOff x="6248400" y="3562350"/>
            <a:chExt cx="5334000" cy="1676400"/>
          </a:xfrm>
        </p:grpSpPr>
        <p:sp>
          <p:nvSpPr>
            <p:cNvPr id="43" name="Rectangle 43"/>
            <p:cNvSpPr/>
            <p:nvPr/>
          </p:nvSpPr>
          <p:spPr>
            <a:xfrm>
              <a:off x="6248400" y="3562350"/>
              <a:ext cx="5334000" cy="1676400"/>
            </a:xfrm>
            <a:prstGeom prst="roundRect">
              <a:avLst>
                <a:gd name="adj" fmla="val 7955"/>
              </a:avLst>
            </a:prstGeom>
            <a:solidFill>
              <a:srgbClr val="0F2E2B"/>
            </a:solidFill>
            <a:ln w="14288">
              <a:solidFill>
                <a:srgbClr val="48C78E"/>
              </a:solidFill>
            </a:ln>
          </p:spPr>
        </p:sp>
        <p:sp>
          <p:nvSpPr>
            <p:cNvPr id="44" name="Rectangle 44"/>
            <p:cNvSpPr/>
            <p:nvPr/>
          </p:nvSpPr>
          <p:spPr>
            <a:xfrm>
              <a:off x="6248400" y="3562350"/>
              <a:ext cx="57150" cy="1676400"/>
            </a:xfrm>
            <a:prstGeom prst="roundRect">
              <a:avLst>
                <a:gd name="adj" fmla="val 50000"/>
              </a:avLst>
            </a:prstGeom>
            <a:solidFill>
              <a:srgbClr val="48C78E"/>
            </a:solidFill>
            <a:ln>
              <a:noFill/>
            </a:ln>
          </p:spPr>
        </p:sp>
        <p:sp>
          <p:nvSpPr>
            <p:cNvPr id="45" name="TextBox 45"/>
            <p:cNvSpPr txBox="1"/>
            <p:nvPr/>
          </p:nvSpPr>
          <p:spPr>
            <a:xfrm>
              <a:off x="6509004" y="3794760"/>
              <a:ext cx="2833596"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Backward needs only the last step</a:t>
              </a:r>
            </a:p>
          </p:txBody>
        </p:sp>
        <p:sp>
          <p:nvSpPr>
            <p:cNvPr id="46" name="TextBox 46"/>
            <p:cNvSpPr txBox="1"/>
            <p:nvPr/>
          </p:nvSpPr>
          <p:spPr>
            <a:xfrm>
              <a:off x="6509766" y="4096702"/>
              <a:ext cx="41005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reversible forward pass means the backward pass stores</a:t>
              </a:r>
            </a:p>
          </p:txBody>
        </p:sp>
        <p:sp>
          <p:nvSpPr>
            <p:cNvPr id="47" name="TextBox 47"/>
            <p:cNvSpPr txBox="1"/>
            <p:nvPr/>
          </p:nvSpPr>
          <p:spPr>
            <a:xfrm>
              <a:off x="6509766" y="4296728"/>
              <a:ext cx="33465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no intermediate activations, only the final-step</a:t>
              </a:r>
            </a:p>
          </p:txBody>
        </p:sp>
        <p:sp>
          <p:nvSpPr>
            <p:cNvPr id="48" name="TextBox 48"/>
            <p:cNvSpPr txBox="1"/>
            <p:nvPr/>
          </p:nvSpPr>
          <p:spPr>
            <a:xfrm>
              <a:off x="6509766" y="4496752"/>
              <a:ext cx="7951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potentials.</a:t>
              </a:r>
            </a:p>
          </p:txBody>
        </p:sp>
        <p:sp>
          <p:nvSpPr>
            <p:cNvPr id="49" name="Rectangle 49"/>
            <p:cNvSpPr/>
            <p:nvPr/>
          </p:nvSpPr>
          <p:spPr>
            <a:xfrm>
              <a:off x="6515100" y="4781550"/>
              <a:ext cx="4800600" cy="419100"/>
            </a:xfrm>
            <a:prstGeom prst="roundRect">
              <a:avLst>
                <a:gd name="adj" fmla="val 18182"/>
              </a:avLst>
            </a:prstGeom>
            <a:solidFill>
              <a:schemeClr val="accent6"/>
            </a:solidFill>
            <a:ln w="14288">
              <a:solidFill>
                <a:srgbClr val="26455F"/>
              </a:solidFill>
            </a:ln>
          </p:spPr>
        </p:sp>
        <p:sp>
          <p:nvSpPr>
            <p:cNvPr id="50" name="TextBox 50"/>
            <p:cNvSpPr txBox="1"/>
            <p:nvPr/>
          </p:nvSpPr>
          <p:spPr>
            <a:xfrm>
              <a:off x="7588194" y="4930854"/>
              <a:ext cx="2654411"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Consolas"/>
                  <a:ea typeface="Consolas"/>
                  <a:cs typeface="Consolas"/>
                </a:rPr>
                <a:t>store u[T] only -&gt; O(L*T) -&gt; O(L)</a:t>
              </a:r>
            </a:p>
          </p:txBody>
        </p:sp>
      </p:grpSp>
      <p:sp>
        <p:nvSpPr>
          <p:cNvPr id="52" name="cue_s05_c1_how_works_practice_instead_feeding" title="cue_s05_c1_how_works_practice_instead_feeding" descr="cue_s05_c1_how_works_practice_instead_feeding Here is how it works in practice. Instead of feeding the same image to the network at every timestep, T-RevSNN encodes the image just once, divides the encoded features into T groups, and gives one group to each timestep."/>
          <p:cNvSpPr/>
          <p:nvPr/>
        </p:nvSpPr>
        <p:spPr>
          <a:xfrm>
            <a:off x="609600" y="1504645"/>
            <a:ext cx="540959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5_c2_whole_network_likewise_split_sub_net" title="cue_s05_c2_whole_network_likewise_split_sub_net" descr="cue_s05_c2_whole_network_likewise_split_sub_net The whole network is likewise split into T sub-networks that share parameters and exchange temporal information only at the key, turned-on neurons."/>
          <p:cNvSpPr/>
          <p:nvPr/>
        </p:nvSpPr>
        <p:spPr>
          <a:xfrm>
            <a:off x="609600" y="3562045"/>
            <a:ext cx="540959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5_c3_those_key_connections_follow_multi_l" title="cue_s05_c3_those_key_connections_follow_multi_l" descr="cue_s05_c3_those_key_connections_follow_multi_l Those key connections follow a multi-level temporal-reversible rule: the membrane potential at one timestep can be exactly reconstructed from the next timestep's state and the incoming spikes."/>
          <p:cNvSpPr/>
          <p:nvPr/>
        </p:nvSpPr>
        <p:spPr>
          <a:xfrm>
            <a:off x="6248399" y="1504645"/>
            <a:ext cx="533400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5_c4_because_forward_pass_reversible_back" title="cue_s05_c4_because_forward_pass_reversible_back" descr="cue_s05_c4_because_forward_pass_reversible_back Because the forward pass is reversible, the backward pass only needs the membrane potentials of the final timestep, so intermediate activations do not have to be stored. That is what collapses the training memory from order L times T down to order L."/>
          <p:cNvSpPr/>
          <p:nvPr/>
        </p:nvSpPr>
        <p:spPr>
          <a:xfrm>
            <a:off x="6248399" y="3562045"/>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847743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Static and neuromorphic vision, measured on real cost</a:t>
            </a:r>
          </a:p>
        </p:txBody>
      </p:sp>
      <p:grpSp>
        <p:nvGrpSpPr>
          <p:cNvPr id="8" name="Group 8"/>
          <p:cNvGrpSpPr/>
          <p:nvPr/>
        </p:nvGrpSpPr>
        <p:grpSpPr>
          <a:xfrm>
            <a:off x="609600" y="1504950"/>
            <a:ext cx="10972800" cy="552450"/>
            <a:chOff x="609600" y="1504950"/>
            <a:chExt cx="10972800" cy="552450"/>
          </a:xfrm>
        </p:grpSpPr>
        <p:sp>
          <p:nvSpPr>
            <p:cNvPr id="5" name="Rectangle 5"/>
            <p:cNvSpPr/>
            <p:nvPr/>
          </p:nvSpPr>
          <p:spPr>
            <a:xfrm>
              <a:off x="609600" y="150495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504950"/>
              <a:ext cx="57150" cy="552450"/>
            </a:xfrm>
            <a:prstGeom prst="roundRect">
              <a:avLst>
                <a:gd name="adj" fmla="val 50000"/>
              </a:avLst>
            </a:prstGeom>
            <a:solidFill>
              <a:schemeClr val="accent2"/>
            </a:solidFill>
            <a:ln>
              <a:noFill/>
            </a:ln>
          </p:spPr>
        </p:sp>
        <p:sp>
          <p:nvSpPr>
            <p:cNvPr id="7" name="TextBox 7"/>
            <p:cNvSpPr txBox="1"/>
            <p:nvPr/>
          </p:nvSpPr>
          <p:spPr>
            <a:xfrm>
              <a:off x="870204" y="1708785"/>
              <a:ext cx="720528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Static images: ImageNet-1K at 224 by 224 resolution, the main large-scale benchmark.</a:t>
              </a:r>
            </a:p>
          </p:txBody>
        </p:sp>
      </p:grpSp>
      <p:grpSp>
        <p:nvGrpSpPr>
          <p:cNvPr id="17" name="Group 17"/>
          <p:cNvGrpSpPr/>
          <p:nvPr/>
        </p:nvGrpSpPr>
        <p:grpSpPr>
          <a:xfrm>
            <a:off x="609600" y="2286000"/>
            <a:ext cx="5334000" cy="1428750"/>
            <a:chOff x="609600" y="2286000"/>
            <a:chExt cx="5334000" cy="1428750"/>
          </a:xfrm>
        </p:grpSpPr>
        <p:sp>
          <p:nvSpPr>
            <p:cNvPr id="9" name="Rectangle 9"/>
            <p:cNvSpPr/>
            <p:nvPr/>
          </p:nvSpPr>
          <p:spPr>
            <a:xfrm>
              <a:off x="609600" y="2286000"/>
              <a:ext cx="5334000" cy="1428750"/>
            </a:xfrm>
            <a:prstGeom prst="roundRect">
              <a:avLst>
                <a:gd name="adj" fmla="val 9333"/>
              </a:avLst>
            </a:prstGeom>
            <a:solidFill>
              <a:schemeClr val="accent5"/>
            </a:solidFill>
            <a:ln w="14288">
              <a:solidFill>
                <a:srgbClr val="26455F"/>
              </a:solidFill>
            </a:ln>
          </p:spPr>
        </p:sp>
        <p:sp>
          <p:nvSpPr>
            <p:cNvPr id="10" name="Rectangle 10"/>
            <p:cNvSpPr/>
            <p:nvPr/>
          </p:nvSpPr>
          <p:spPr>
            <a:xfrm>
              <a:off x="609600" y="2286000"/>
              <a:ext cx="57150" cy="1428750"/>
            </a:xfrm>
            <a:prstGeom prst="roundRect">
              <a:avLst>
                <a:gd name="adj" fmla="val 50000"/>
              </a:avLst>
            </a:prstGeom>
            <a:solidFill>
              <a:srgbClr val="34D3C0"/>
            </a:solidFill>
            <a:ln>
              <a:noFill/>
            </a:ln>
          </p:spPr>
        </p:sp>
        <p:sp>
          <p:nvSpPr>
            <p:cNvPr id="11" name="TextBox 11"/>
            <p:cNvSpPr txBox="1"/>
            <p:nvPr/>
          </p:nvSpPr>
          <p:spPr>
            <a:xfrm>
              <a:off x="869061" y="2532221"/>
              <a:ext cx="2781457" cy="278702"/>
            </a:xfrm>
            <a:prstGeom prst="rect">
              <a:avLst/>
            </a:prstGeom>
            <a:noFill/>
            <a:ln>
              <a:noFill/>
            </a:ln>
          </p:spPr>
          <p:txBody>
            <a:bodyPr wrap="none" lIns="0" tIns="0" rIns="0" bIns="0" anchor="t" anchorCtr="0">
              <a:spAutoFit/>
            </a:bodyPr>
            <a:lstStyle/>
            <a:p>
              <a:pPr algn="l"/>
              <a:r>
                <a:rPr lang="en-US" sz="1420" b="1" dirty="0">
                  <a:solidFill>
                    <a:srgbClr val="34D3C0"/>
                  </a:solidFill>
                  <a:latin typeface="+mn-lt"/>
                  <a:ea typeface="+mn-ea"/>
                  <a:cs typeface="+mn-cs"/>
                </a:rPr>
                <a:t>Event-based / neuromorphic</a:t>
              </a:r>
            </a:p>
          </p:txBody>
        </p:sp>
        <p:sp>
          <p:nvSpPr>
            <p:cNvPr id="12" name="TextBox 12"/>
            <p:cNvSpPr txBox="1"/>
            <p:nvPr/>
          </p:nvSpPr>
          <p:spPr>
            <a:xfrm>
              <a:off x="870776" y="2892504"/>
              <a:ext cx="428589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Spiking, event-driven vision datasets that stress temporal</a:t>
              </a:r>
            </a:p>
          </p:txBody>
        </p:sp>
        <p:sp>
          <p:nvSpPr>
            <p:cNvPr id="13" name="TextBox 13"/>
            <p:cNvSpPr txBox="1"/>
            <p:nvPr/>
          </p:nvSpPr>
          <p:spPr>
            <a:xfrm>
              <a:off x="870776" y="3102054"/>
              <a:ext cx="147840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processing directly.</a:t>
              </a:r>
            </a:p>
          </p:txBody>
        </p:sp>
        <p:sp>
          <p:nvSpPr>
            <p:cNvPr id="14" name="Rectangle 14"/>
            <p:cNvSpPr/>
            <p:nvPr/>
          </p:nvSpPr>
          <p:spPr>
            <a:xfrm>
              <a:off x="876300" y="3333750"/>
              <a:ext cx="4457700" cy="285750"/>
            </a:xfrm>
            <a:prstGeom prst="roundRect">
              <a:avLst>
                <a:gd name="adj" fmla="val 26667"/>
              </a:avLst>
            </a:prstGeom>
            <a:solidFill>
              <a:schemeClr val="accent6"/>
            </a:solidFill>
            <a:ln w="14288">
              <a:solidFill>
                <a:srgbClr val="26455F"/>
              </a:solidFill>
            </a:ln>
          </p:spPr>
        </p:sp>
        <p:sp>
          <p:nvSpPr>
            <p:cNvPr id="15" name="Ellipse 15"/>
            <p:cNvSpPr/>
            <p:nvPr/>
          </p:nvSpPr>
          <p:spPr>
            <a:xfrm>
              <a:off x="1000125" y="3429000"/>
              <a:ext cx="95250" cy="95250"/>
            </a:xfrm>
            <a:prstGeom prst="ellipse">
              <a:avLst/>
            </a:prstGeom>
            <a:solidFill>
              <a:srgbClr val="34D3C0"/>
            </a:solidFill>
            <a:ln>
              <a:noFill/>
            </a:ln>
          </p:spPr>
        </p:sp>
        <p:sp>
          <p:nvSpPr>
            <p:cNvPr id="16" name="TextBox 16"/>
            <p:cNvSpPr txBox="1"/>
            <p:nvPr/>
          </p:nvSpPr>
          <p:spPr>
            <a:xfrm>
              <a:off x="1194626" y="3416379"/>
              <a:ext cx="2313417"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CIFAR10-DVS · DVS128 Gesture</a:t>
              </a:r>
            </a:p>
          </p:txBody>
        </p:sp>
      </p:grpSp>
      <p:grpSp>
        <p:nvGrpSpPr>
          <p:cNvPr id="26" name="Group 26"/>
          <p:cNvGrpSpPr/>
          <p:nvPr/>
        </p:nvGrpSpPr>
        <p:grpSpPr>
          <a:xfrm>
            <a:off x="6248400" y="2286000"/>
            <a:ext cx="5334000" cy="1428750"/>
            <a:chOff x="6248400" y="2286000"/>
            <a:chExt cx="5334000" cy="1428750"/>
          </a:xfrm>
        </p:grpSpPr>
        <p:sp>
          <p:nvSpPr>
            <p:cNvPr id="18" name="Rectangle 18"/>
            <p:cNvSpPr/>
            <p:nvPr/>
          </p:nvSpPr>
          <p:spPr>
            <a:xfrm>
              <a:off x="6248400" y="2286000"/>
              <a:ext cx="5334000" cy="1428750"/>
            </a:xfrm>
            <a:prstGeom prst="roundRect">
              <a:avLst>
                <a:gd name="adj" fmla="val 9333"/>
              </a:avLst>
            </a:prstGeom>
            <a:solidFill>
              <a:schemeClr val="accent5"/>
            </a:solidFill>
            <a:ln w="14288">
              <a:solidFill>
                <a:srgbClr val="26455F"/>
              </a:solidFill>
            </a:ln>
          </p:spPr>
        </p:sp>
        <p:sp>
          <p:nvSpPr>
            <p:cNvPr id="19" name="Rectangle 19"/>
            <p:cNvSpPr/>
            <p:nvPr/>
          </p:nvSpPr>
          <p:spPr>
            <a:xfrm>
              <a:off x="6248400" y="2286000"/>
              <a:ext cx="57150" cy="1428750"/>
            </a:xfrm>
            <a:prstGeom prst="roundRect">
              <a:avLst>
                <a:gd name="adj" fmla="val 50000"/>
              </a:avLst>
            </a:prstGeom>
            <a:solidFill>
              <a:srgbClr val="F2C14E"/>
            </a:solidFill>
            <a:ln>
              <a:noFill/>
            </a:ln>
          </p:spPr>
        </p:sp>
        <p:sp>
          <p:nvSpPr>
            <p:cNvPr id="20" name="TextBox 20"/>
            <p:cNvSpPr txBox="1"/>
            <p:nvPr/>
          </p:nvSpPr>
          <p:spPr>
            <a:xfrm>
              <a:off x="6508623" y="2548414"/>
              <a:ext cx="2534060"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Not just accuracy: real cost</a:t>
              </a:r>
            </a:p>
          </p:txBody>
        </p:sp>
        <p:sp>
          <p:nvSpPr>
            <p:cNvPr id="21" name="TextBox 21"/>
            <p:cNvSpPr txBox="1"/>
            <p:nvPr/>
          </p:nvSpPr>
          <p:spPr>
            <a:xfrm>
              <a:off x="6509576" y="2892504"/>
              <a:ext cx="428029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Peak GPU memory per image and per-epoch time, on six A100</a:t>
              </a:r>
            </a:p>
          </p:txBody>
        </p:sp>
        <p:sp>
          <p:nvSpPr>
            <p:cNvPr id="22" name="TextBox 22"/>
            <p:cNvSpPr txBox="1"/>
            <p:nvPr/>
          </p:nvSpPr>
          <p:spPr>
            <a:xfrm>
              <a:off x="6509576" y="3102054"/>
              <a:ext cx="201399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GPUs under mixed precision.</a:t>
              </a:r>
            </a:p>
          </p:txBody>
        </p:sp>
        <p:sp>
          <p:nvSpPr>
            <p:cNvPr id="23" name="Rectangle 23"/>
            <p:cNvSpPr/>
            <p:nvPr/>
          </p:nvSpPr>
          <p:spPr>
            <a:xfrm>
              <a:off x="6515100" y="3333750"/>
              <a:ext cx="4457700" cy="285750"/>
            </a:xfrm>
            <a:prstGeom prst="roundRect">
              <a:avLst>
                <a:gd name="adj" fmla="val 26667"/>
              </a:avLst>
            </a:prstGeom>
            <a:solidFill>
              <a:schemeClr val="accent6"/>
            </a:solidFill>
            <a:ln w="14288">
              <a:solidFill>
                <a:srgbClr val="26455F"/>
              </a:solidFill>
            </a:ln>
          </p:spPr>
        </p:sp>
        <p:sp>
          <p:nvSpPr>
            <p:cNvPr id="24" name="Ellipse 24"/>
            <p:cNvSpPr/>
            <p:nvPr/>
          </p:nvSpPr>
          <p:spPr>
            <a:xfrm>
              <a:off x="6638925" y="3429000"/>
              <a:ext cx="95250" cy="95250"/>
            </a:xfrm>
            <a:prstGeom prst="ellipse">
              <a:avLst/>
            </a:prstGeom>
            <a:solidFill>
              <a:srgbClr val="F2C14E"/>
            </a:solidFill>
            <a:ln>
              <a:noFill/>
            </a:ln>
          </p:spPr>
        </p:sp>
        <p:sp>
          <p:nvSpPr>
            <p:cNvPr id="25" name="TextBox 25"/>
            <p:cNvSpPr txBox="1"/>
            <p:nvPr/>
          </p:nvSpPr>
          <p:spPr>
            <a:xfrm>
              <a:off x="6833426" y="3416379"/>
              <a:ext cx="241081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6x NVIDIA A100 · mixed precision</a:t>
              </a:r>
            </a:p>
          </p:txBody>
        </p:sp>
      </p:grpSp>
      <p:grpSp>
        <p:nvGrpSpPr>
          <p:cNvPr id="33" name="Group 33"/>
          <p:cNvGrpSpPr/>
          <p:nvPr/>
        </p:nvGrpSpPr>
        <p:grpSpPr>
          <a:xfrm>
            <a:off x="609600" y="3905250"/>
            <a:ext cx="10972800" cy="1333500"/>
            <a:chOff x="609600" y="3905250"/>
            <a:chExt cx="10972800" cy="1333500"/>
          </a:xfrm>
        </p:grpSpPr>
        <p:sp>
          <p:nvSpPr>
            <p:cNvPr id="27" name="Rectangle 27"/>
            <p:cNvSpPr/>
            <p:nvPr/>
          </p:nvSpPr>
          <p:spPr>
            <a:xfrm>
              <a:off x="609600" y="3905250"/>
              <a:ext cx="10972800" cy="1333500"/>
            </a:xfrm>
            <a:prstGeom prst="roundRect">
              <a:avLst>
                <a:gd name="adj" fmla="val 10000"/>
              </a:avLst>
            </a:prstGeom>
            <a:solidFill>
              <a:srgbClr val="2A2417"/>
            </a:solidFill>
            <a:ln w="14288">
              <a:solidFill>
                <a:srgbClr val="F2C14E"/>
              </a:solidFill>
            </a:ln>
          </p:spPr>
        </p:sp>
        <p:sp>
          <p:nvSpPr>
            <p:cNvPr id="28" name="Rectangle 28"/>
            <p:cNvSpPr/>
            <p:nvPr/>
          </p:nvSpPr>
          <p:spPr>
            <a:xfrm>
              <a:off x="609600" y="3905250"/>
              <a:ext cx="57150" cy="1333500"/>
            </a:xfrm>
            <a:prstGeom prst="roundRect">
              <a:avLst>
                <a:gd name="adj" fmla="val 50000"/>
              </a:avLst>
            </a:prstGeom>
            <a:solidFill>
              <a:srgbClr val="F2C14E"/>
            </a:solidFill>
            <a:ln>
              <a:noFill/>
            </a:ln>
          </p:spPr>
        </p:sp>
        <p:sp>
          <p:nvSpPr>
            <p:cNvPr id="29" name="TextBox 29"/>
            <p:cNvSpPr txBox="1"/>
            <p:nvPr/>
          </p:nvSpPr>
          <p:spPr>
            <a:xfrm>
              <a:off x="869823" y="4129564"/>
              <a:ext cx="3728003"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Compared against a broad set of baselines</a:t>
              </a:r>
            </a:p>
          </p:txBody>
        </p:sp>
        <p:sp>
          <p:nvSpPr>
            <p:cNvPr id="30" name="TextBox 30"/>
            <p:cNvSpPr txBox="1"/>
            <p:nvPr/>
          </p:nvSpPr>
          <p:spPr>
            <a:xfrm>
              <a:off x="870776" y="4454604"/>
              <a:ext cx="793243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Spiking ResNets and spiking Transformers, plus training-optimization methods, so the memory and speed gains</a:t>
              </a:r>
            </a:p>
          </p:txBody>
        </p:sp>
        <p:sp>
          <p:nvSpPr>
            <p:cNvPr id="31" name="TextBox 31"/>
            <p:cNvSpPr txBox="1"/>
            <p:nvPr/>
          </p:nvSpPr>
          <p:spPr>
            <a:xfrm>
              <a:off x="870776" y="4673679"/>
              <a:ext cx="2960439"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are measured against strong prior work.</a:t>
              </a:r>
            </a:p>
          </p:txBody>
        </p:sp>
        <p:sp>
          <p:nvSpPr>
            <p:cNvPr id="32" name="TextBox 32"/>
            <p:cNvSpPr txBox="1"/>
            <p:nvPr/>
          </p:nvSpPr>
          <p:spPr>
            <a:xfrm>
              <a:off x="870966" y="4992052"/>
              <a:ext cx="3247984"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Consolas"/>
                  <a:ea typeface="Consolas"/>
                  <a:cs typeface="Consolas"/>
                </a:rPr>
                <a:t>OTTT · SLTT · spatially-reversible S-RevSNN</a:t>
              </a:r>
            </a:p>
          </p:txBody>
        </p:sp>
      </p:grpSp>
      <p:sp>
        <p:nvSpPr>
          <p:cNvPr id="34" name="cue_s06_c1_method_evaluated_both_static_neuromo" title="cue_s06_c1_method_evaluated_both_static_neuromo" descr="cue_s06_c1_method_evaluated_both_static_neuromo The method is evaluated on both static and neuromorphic vision. For static images they use ImageNet-1K at a resolution of 224 by 224."/>
          <p:cNvSpPr/>
          <p:nvPr/>
        </p:nvSpPr>
        <p:spPr>
          <a:xfrm>
            <a:off x="609600" y="1504645"/>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6_c2_event_based_they_cifar10_dvs_dvs128" title="cue_s06_c2_event_based_they_cifar10_dvs_dvs128" descr="cue_s06_c2_event_based_they_cifar10_dvs_dvs128 For event-based data they use CIFAR10-DVS and the DVS128 Gesture dataset."/>
          <p:cNvSpPr/>
          <p:nvPr/>
        </p:nvSpPr>
        <p:spPr>
          <a:xfrm>
            <a:off x="609600" y="228577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6_c3_crucially_they_report_not_just" title="cue_s06_c3_crucially_they_report_not_just" descr="cue_s06_c3_crucially_they_report_not_just Crucially, they report not just accuracy but the real training cost, measuring peak GPU memory per image and per-epoch training time on six NVIDIA A100 GPUs under mixed precision."/>
          <p:cNvSpPr/>
          <p:nvPr/>
        </p:nvSpPr>
        <p:spPr>
          <a:xfrm>
            <a:off x="6248399" y="228577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6_c4_they_compare_against_broad_set" title="cue_s06_c4_they_compare_against_broad_set" descr="cue_s06_c4_they_compare_against_broad_set They compare against a broad set of baselines, including spiking ResNets, spiking Transformers, and other training-optimization methods such as OTTT, SLTT, and the spatially reversible S-RevSNN."/>
          <p:cNvSpPr/>
          <p:nvPr/>
        </p:nvSpPr>
        <p:spPr>
          <a:xfrm>
            <a:off x="609600" y="3904945"/>
            <a:ext cx="109728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731742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State-of-the-art accuracy at the lowest cost</a:t>
            </a:r>
          </a:p>
        </p:txBody>
      </p:sp>
      <p:grpSp>
        <p:nvGrpSpPr>
          <p:cNvPr id="19" name="Group 19"/>
          <p:cNvGrpSpPr/>
          <p:nvPr/>
        </p:nvGrpSpPr>
        <p:grpSpPr>
          <a:xfrm>
            <a:off x="609600" y="1428750"/>
            <a:ext cx="10972800" cy="819150"/>
            <a:chOff x="609600" y="1428750"/>
            <a:chExt cx="10972800" cy="819150"/>
          </a:xfrm>
        </p:grpSpPr>
        <p:sp>
          <p:nvSpPr>
            <p:cNvPr id="5" name="Rectangle 5"/>
            <p:cNvSpPr/>
            <p:nvPr/>
          </p:nvSpPr>
          <p:spPr>
            <a:xfrm>
              <a:off x="609600" y="1428750"/>
              <a:ext cx="10972800" cy="819150"/>
            </a:xfrm>
            <a:prstGeom prst="roundRect">
              <a:avLst>
                <a:gd name="adj" fmla="val 16279"/>
              </a:avLst>
            </a:prstGeom>
            <a:solidFill>
              <a:schemeClr val="accent5"/>
            </a:solidFill>
            <a:ln w="14288">
              <a:solidFill>
                <a:srgbClr val="26455F"/>
              </a:solidFill>
            </a:ln>
          </p:spPr>
        </p:sp>
        <p:sp>
          <p:nvSpPr>
            <p:cNvPr id="6" name="Rectangle 6"/>
            <p:cNvSpPr/>
            <p:nvPr/>
          </p:nvSpPr>
          <p:spPr>
            <a:xfrm>
              <a:off x="609600" y="1428750"/>
              <a:ext cx="57150" cy="819150"/>
            </a:xfrm>
            <a:prstGeom prst="roundRect">
              <a:avLst>
                <a:gd name="adj" fmla="val 50000"/>
              </a:avLst>
            </a:prstGeom>
            <a:solidFill>
              <a:srgbClr val="48C78E"/>
            </a:solidFill>
            <a:ln>
              <a:noFill/>
            </a:ln>
          </p:spPr>
        </p:sp>
        <p:sp>
          <p:nvSpPr>
            <p:cNvPr id="7" name="TextBox 7"/>
            <p:cNvSpPr txBox="1"/>
            <p:nvPr/>
          </p:nvSpPr>
          <p:spPr>
            <a:xfrm>
              <a:off x="870394" y="1608058"/>
              <a:ext cx="2653957"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ImageNet-1K · ~30M params, T=4</a:t>
              </a:r>
            </a:p>
          </p:txBody>
        </p:sp>
        <p:sp>
          <p:nvSpPr>
            <p:cNvPr id="8" name="Rectangle 8"/>
            <p:cNvSpPr/>
            <p:nvPr/>
          </p:nvSpPr>
          <p:spPr>
            <a:xfrm>
              <a:off x="3429000" y="1524000"/>
              <a:ext cx="1866900" cy="628650"/>
            </a:xfrm>
            <a:prstGeom prst="roundRect">
              <a:avLst>
                <a:gd name="adj" fmla="val 15152"/>
              </a:avLst>
            </a:prstGeom>
            <a:solidFill>
              <a:schemeClr val="accent6"/>
            </a:solidFill>
            <a:ln w="14288">
              <a:solidFill>
                <a:srgbClr val="26455F"/>
              </a:solidFill>
            </a:ln>
          </p:spPr>
        </p:sp>
        <p:sp>
          <p:nvSpPr>
            <p:cNvPr id="9" name="TextBox 9"/>
            <p:cNvSpPr txBox="1"/>
            <p:nvPr/>
          </p:nvSpPr>
          <p:spPr>
            <a:xfrm>
              <a:off x="4010055" y="1669732"/>
              <a:ext cx="704790" cy="322707"/>
            </a:xfrm>
            <a:prstGeom prst="rect">
              <a:avLst/>
            </a:prstGeom>
            <a:noFill/>
            <a:ln>
              <a:noFill/>
            </a:ln>
          </p:spPr>
          <p:txBody>
            <a:bodyPr wrap="none" lIns="0" tIns="0" rIns="0" bIns="0" anchor="t" anchorCtr="0">
              <a:spAutoFit/>
            </a:bodyPr>
            <a:lstStyle/>
            <a:p>
              <a:pPr algn="ctr"/>
              <a:r>
                <a:rPr lang="en-US" sz="1650" b="1" dirty="0">
                  <a:solidFill>
                    <a:srgbClr val="48C78E"/>
                  </a:solidFill>
                  <a:latin typeface="+mn-lt"/>
                  <a:ea typeface="+mn-ea"/>
                  <a:cs typeface="+mn-cs"/>
                </a:rPr>
                <a:t>73.2%</a:t>
              </a:r>
            </a:p>
          </p:txBody>
        </p:sp>
        <p:sp>
          <p:nvSpPr>
            <p:cNvPr id="10" name="TextBox 10"/>
            <p:cNvSpPr txBox="1"/>
            <p:nvPr/>
          </p:nvSpPr>
          <p:spPr>
            <a:xfrm>
              <a:off x="3904870" y="1954768"/>
              <a:ext cx="915161"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top-1 accuracy</a:t>
              </a:r>
            </a:p>
          </p:txBody>
        </p:sp>
        <p:sp>
          <p:nvSpPr>
            <p:cNvPr id="11" name="Rectangle 11"/>
            <p:cNvSpPr/>
            <p:nvPr/>
          </p:nvSpPr>
          <p:spPr>
            <a:xfrm>
              <a:off x="5448300" y="1524000"/>
              <a:ext cx="1866900" cy="628650"/>
            </a:xfrm>
            <a:prstGeom prst="roundRect">
              <a:avLst>
                <a:gd name="adj" fmla="val 15152"/>
              </a:avLst>
            </a:prstGeom>
            <a:solidFill>
              <a:schemeClr val="accent6"/>
            </a:solidFill>
            <a:ln w="14288">
              <a:solidFill>
                <a:srgbClr val="26455F"/>
              </a:solidFill>
            </a:ln>
          </p:spPr>
        </p:sp>
        <p:sp>
          <p:nvSpPr>
            <p:cNvPr id="12" name="TextBox 12"/>
            <p:cNvSpPr txBox="1"/>
            <p:nvPr/>
          </p:nvSpPr>
          <p:spPr>
            <a:xfrm>
              <a:off x="5905149" y="1669732"/>
              <a:ext cx="953201" cy="322707"/>
            </a:xfrm>
            <a:prstGeom prst="rect">
              <a:avLst/>
            </a:prstGeom>
            <a:noFill/>
            <a:ln>
              <a:noFill/>
            </a:ln>
          </p:spPr>
          <p:txBody>
            <a:bodyPr wrap="none" lIns="0" tIns="0" rIns="0" bIns="0" anchor="t" anchorCtr="0">
              <a:spAutoFit/>
            </a:bodyPr>
            <a:lstStyle/>
            <a:p>
              <a:pPr algn="ctr"/>
              <a:r>
                <a:rPr lang="en-US" sz="1650" b="1" dirty="0">
                  <a:solidFill>
                    <a:srgbClr val="34D3C0"/>
                  </a:solidFill>
                  <a:latin typeface="+mn-lt"/>
                  <a:ea typeface="+mn-ea"/>
                  <a:cs typeface="+mn-cs"/>
                </a:rPr>
                <a:t>85.7 MB</a:t>
              </a:r>
            </a:p>
          </p:txBody>
        </p:sp>
        <p:sp>
          <p:nvSpPr>
            <p:cNvPr id="13" name="TextBox 13"/>
            <p:cNvSpPr txBox="1"/>
            <p:nvPr/>
          </p:nvSpPr>
          <p:spPr>
            <a:xfrm>
              <a:off x="5918091" y="1954768"/>
              <a:ext cx="927317"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memory / image</a:t>
              </a:r>
            </a:p>
          </p:txBody>
        </p:sp>
        <p:sp>
          <p:nvSpPr>
            <p:cNvPr id="14" name="Rectangle 14"/>
            <p:cNvSpPr/>
            <p:nvPr/>
          </p:nvSpPr>
          <p:spPr>
            <a:xfrm>
              <a:off x="7467600" y="1524000"/>
              <a:ext cx="1866900" cy="628650"/>
            </a:xfrm>
            <a:prstGeom prst="roundRect">
              <a:avLst>
                <a:gd name="adj" fmla="val 15152"/>
              </a:avLst>
            </a:prstGeom>
            <a:solidFill>
              <a:schemeClr val="accent6"/>
            </a:solidFill>
            <a:ln w="14288">
              <a:solidFill>
                <a:srgbClr val="26455F"/>
              </a:solidFill>
            </a:ln>
          </p:spPr>
        </p:sp>
        <p:sp>
          <p:nvSpPr>
            <p:cNvPr id="15" name="TextBox 15"/>
            <p:cNvSpPr txBox="1"/>
            <p:nvPr/>
          </p:nvSpPr>
          <p:spPr>
            <a:xfrm>
              <a:off x="8002944" y="1669732"/>
              <a:ext cx="796211"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n-lt"/>
                  <a:ea typeface="+mn-ea"/>
                  <a:cs typeface="+mn-cs"/>
                </a:rPr>
                <a:t>2.8 mJ</a:t>
              </a:r>
            </a:p>
          </p:txBody>
        </p:sp>
        <p:sp>
          <p:nvSpPr>
            <p:cNvPr id="16" name="TextBox 16"/>
            <p:cNvSpPr txBox="1"/>
            <p:nvPr/>
          </p:nvSpPr>
          <p:spPr>
            <a:xfrm>
              <a:off x="7891806" y="1954768"/>
              <a:ext cx="1018488"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inference energy</a:t>
              </a:r>
            </a:p>
          </p:txBody>
        </p:sp>
        <p:sp>
          <p:nvSpPr>
            <p:cNvPr id="17" name="TextBox 17"/>
            <p:cNvSpPr txBox="1"/>
            <p:nvPr/>
          </p:nvSpPr>
          <p:spPr>
            <a:xfrm>
              <a:off x="9500616" y="1620202"/>
              <a:ext cx="997651"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best-in-class</a:t>
              </a:r>
            </a:p>
          </p:txBody>
        </p:sp>
        <p:sp>
          <p:nvSpPr>
            <p:cNvPr id="18" name="TextBox 18"/>
            <p:cNvSpPr txBox="1"/>
            <p:nvPr/>
          </p:nvSpPr>
          <p:spPr>
            <a:xfrm>
              <a:off x="9501188" y="1860947"/>
              <a:ext cx="954634"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CNN-based SNN</a:t>
              </a:r>
            </a:p>
          </p:txBody>
        </p:sp>
      </p:grpSp>
      <p:grpSp>
        <p:nvGrpSpPr>
          <p:cNvPr id="35" name="Group 35"/>
          <p:cNvGrpSpPr/>
          <p:nvPr/>
        </p:nvGrpSpPr>
        <p:grpSpPr>
          <a:xfrm>
            <a:off x="609600" y="2400300"/>
            <a:ext cx="5334000" cy="2219372"/>
            <a:chOff x="609600" y="2400300"/>
            <a:chExt cx="5334000" cy="2219372"/>
          </a:xfrm>
        </p:grpSpPr>
        <p:sp>
          <p:nvSpPr>
            <p:cNvPr id="20" name="Rectangle 20"/>
            <p:cNvSpPr/>
            <p:nvPr/>
          </p:nvSpPr>
          <p:spPr>
            <a:xfrm>
              <a:off x="609600" y="2400300"/>
              <a:ext cx="5334000" cy="2152650"/>
            </a:xfrm>
            <a:prstGeom prst="roundRect">
              <a:avLst>
                <a:gd name="adj" fmla="val 6195"/>
              </a:avLst>
            </a:prstGeom>
            <a:solidFill>
              <a:schemeClr val="accent5"/>
            </a:solidFill>
            <a:ln w="14288">
              <a:solidFill>
                <a:srgbClr val="26455F"/>
              </a:solidFill>
            </a:ln>
          </p:spPr>
        </p:sp>
        <p:sp>
          <p:nvSpPr>
            <p:cNvPr id="21" name="Rectangle 21"/>
            <p:cNvSpPr/>
            <p:nvPr/>
          </p:nvSpPr>
          <p:spPr>
            <a:xfrm>
              <a:off x="609600" y="2400300"/>
              <a:ext cx="57150" cy="2152650"/>
            </a:xfrm>
            <a:prstGeom prst="roundRect">
              <a:avLst>
                <a:gd name="adj" fmla="val 50000"/>
              </a:avLst>
            </a:prstGeom>
            <a:solidFill>
              <a:srgbClr val="34D3C0"/>
            </a:solidFill>
            <a:ln>
              <a:noFill/>
            </a:ln>
          </p:spPr>
        </p:sp>
        <p:sp>
          <p:nvSpPr>
            <p:cNvPr id="22" name="TextBox 22"/>
            <p:cNvSpPr txBox="1"/>
            <p:nvPr/>
          </p:nvSpPr>
          <p:spPr>
            <a:xfrm>
              <a:off x="870394" y="2636758"/>
              <a:ext cx="3298386"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Best among convolutional spiking ResNets</a:t>
              </a:r>
            </a:p>
          </p:txBody>
        </p:sp>
        <p:sp>
          <p:nvSpPr>
            <p:cNvPr id="23" name="TextBox 23"/>
            <p:cNvSpPr txBox="1"/>
            <p:nvPr/>
          </p:nvSpPr>
          <p:spPr>
            <a:xfrm>
              <a:off x="870776" y="2930604"/>
              <a:ext cx="381639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Highest accuracy in its class, and it arrives with the</a:t>
              </a:r>
            </a:p>
          </p:txBody>
        </p:sp>
        <p:sp>
          <p:nvSpPr>
            <p:cNvPr id="24" name="TextBox 24"/>
            <p:cNvSpPr txBox="1"/>
            <p:nvPr/>
          </p:nvSpPr>
          <p:spPr>
            <a:xfrm>
              <a:off x="870776" y="3140154"/>
              <a:ext cx="388487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lowest training memory, fastest training, and lowest</a:t>
              </a:r>
            </a:p>
          </p:txBody>
        </p:sp>
        <p:sp>
          <p:nvSpPr>
            <p:cNvPr id="25" name="TextBox 25"/>
            <p:cNvSpPr txBox="1"/>
            <p:nvPr/>
          </p:nvSpPr>
          <p:spPr>
            <a:xfrm>
              <a:off x="870776" y="3349704"/>
              <a:ext cx="130966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inference energy.</a:t>
              </a:r>
            </a:p>
          </p:txBody>
        </p:sp>
        <p:sp>
          <p:nvSpPr>
            <p:cNvPr id="26" name="Rectangle 26"/>
            <p:cNvSpPr/>
            <p:nvPr/>
          </p:nvSpPr>
          <p:spPr>
            <a:xfrm>
              <a:off x="876300" y="3733800"/>
              <a:ext cx="4800600" cy="247650"/>
            </a:xfrm>
            <a:prstGeom prst="roundRect">
              <a:avLst>
                <a:gd name="adj" fmla="val 30769"/>
              </a:avLst>
            </a:prstGeom>
            <a:solidFill>
              <a:schemeClr val="accent6"/>
            </a:solidFill>
            <a:ln w="14288">
              <a:solidFill>
                <a:srgbClr val="26455F"/>
              </a:solidFill>
            </a:ln>
          </p:spPr>
        </p:sp>
        <p:sp>
          <p:nvSpPr>
            <p:cNvPr id="27" name="Ellipse 27"/>
            <p:cNvSpPr/>
            <p:nvPr/>
          </p:nvSpPr>
          <p:spPr>
            <a:xfrm>
              <a:off x="1000125" y="3810000"/>
              <a:ext cx="95250" cy="95250"/>
            </a:xfrm>
            <a:prstGeom prst="ellipse">
              <a:avLst/>
            </a:prstGeom>
            <a:solidFill>
              <a:srgbClr val="34D3C0"/>
            </a:solidFill>
            <a:ln>
              <a:noFill/>
            </a:ln>
          </p:spPr>
        </p:sp>
        <p:sp>
          <p:nvSpPr>
            <p:cNvPr id="28" name="TextBox 28"/>
            <p:cNvSpPr txBox="1"/>
            <p:nvPr/>
          </p:nvSpPr>
          <p:spPr>
            <a:xfrm>
              <a:off x="1194626" y="3797379"/>
              <a:ext cx="177518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lowest training memory</a:t>
              </a:r>
            </a:p>
          </p:txBody>
        </p:sp>
        <p:sp>
          <p:nvSpPr>
            <p:cNvPr id="29" name="Rectangle 29"/>
            <p:cNvSpPr/>
            <p:nvPr/>
          </p:nvSpPr>
          <p:spPr>
            <a:xfrm>
              <a:off x="876300" y="4038600"/>
              <a:ext cx="4800600" cy="247650"/>
            </a:xfrm>
            <a:prstGeom prst="roundRect">
              <a:avLst>
                <a:gd name="adj" fmla="val 30769"/>
              </a:avLst>
            </a:prstGeom>
            <a:solidFill>
              <a:schemeClr val="accent6"/>
            </a:solidFill>
            <a:ln w="14288">
              <a:solidFill>
                <a:srgbClr val="26455F"/>
              </a:solidFill>
            </a:ln>
          </p:spPr>
        </p:sp>
        <p:sp>
          <p:nvSpPr>
            <p:cNvPr id="30" name="Ellipse 30"/>
            <p:cNvSpPr/>
            <p:nvPr/>
          </p:nvSpPr>
          <p:spPr>
            <a:xfrm>
              <a:off x="1000125" y="4114800"/>
              <a:ext cx="95250" cy="95250"/>
            </a:xfrm>
            <a:prstGeom prst="ellipse">
              <a:avLst/>
            </a:prstGeom>
            <a:solidFill>
              <a:srgbClr val="34D3C0"/>
            </a:solidFill>
            <a:ln>
              <a:noFill/>
            </a:ln>
          </p:spPr>
        </p:sp>
        <p:sp>
          <p:nvSpPr>
            <p:cNvPr id="31" name="TextBox 31"/>
            <p:cNvSpPr txBox="1"/>
            <p:nvPr/>
          </p:nvSpPr>
          <p:spPr>
            <a:xfrm>
              <a:off x="1194626" y="4102179"/>
              <a:ext cx="1628811"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fastest training time</a:t>
              </a:r>
            </a:p>
          </p:txBody>
        </p:sp>
        <p:sp>
          <p:nvSpPr>
            <p:cNvPr id="32" name="Rectangle 32"/>
            <p:cNvSpPr/>
            <p:nvPr/>
          </p:nvSpPr>
          <p:spPr>
            <a:xfrm>
              <a:off x="876300" y="4343400"/>
              <a:ext cx="4800600" cy="247650"/>
            </a:xfrm>
            <a:prstGeom prst="roundRect">
              <a:avLst>
                <a:gd name="adj" fmla="val 30769"/>
              </a:avLst>
            </a:prstGeom>
            <a:solidFill>
              <a:schemeClr val="accent6"/>
            </a:solidFill>
            <a:ln w="14288">
              <a:solidFill>
                <a:srgbClr val="26455F"/>
              </a:solidFill>
            </a:ln>
          </p:spPr>
        </p:sp>
        <p:sp>
          <p:nvSpPr>
            <p:cNvPr id="33" name="Ellipse 33"/>
            <p:cNvSpPr/>
            <p:nvPr/>
          </p:nvSpPr>
          <p:spPr>
            <a:xfrm>
              <a:off x="1000125" y="4419600"/>
              <a:ext cx="95250" cy="95250"/>
            </a:xfrm>
            <a:prstGeom prst="ellipse">
              <a:avLst/>
            </a:prstGeom>
            <a:solidFill>
              <a:srgbClr val="34D3C0"/>
            </a:solidFill>
            <a:ln>
              <a:noFill/>
            </a:ln>
          </p:spPr>
        </p:sp>
        <p:sp>
          <p:nvSpPr>
            <p:cNvPr id="34" name="TextBox 34"/>
            <p:cNvSpPr txBox="1"/>
            <p:nvPr/>
          </p:nvSpPr>
          <p:spPr>
            <a:xfrm>
              <a:off x="1194626" y="4406979"/>
              <a:ext cx="1836809"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lowest inference energy</a:t>
              </a:r>
            </a:p>
          </p:txBody>
        </p:sp>
      </p:grpSp>
      <p:grpSp>
        <p:nvGrpSpPr>
          <p:cNvPr id="49" name="Group 49"/>
          <p:cNvGrpSpPr/>
          <p:nvPr/>
        </p:nvGrpSpPr>
        <p:grpSpPr>
          <a:xfrm>
            <a:off x="6248400" y="2400300"/>
            <a:ext cx="5334000" cy="2152650"/>
            <a:chOff x="6248400" y="2400300"/>
            <a:chExt cx="5334000" cy="2152650"/>
          </a:xfrm>
        </p:grpSpPr>
        <p:sp>
          <p:nvSpPr>
            <p:cNvPr id="36" name="Rectangle 36"/>
            <p:cNvSpPr/>
            <p:nvPr/>
          </p:nvSpPr>
          <p:spPr>
            <a:xfrm>
              <a:off x="6248400" y="2400300"/>
              <a:ext cx="5334000" cy="2152650"/>
            </a:xfrm>
            <a:prstGeom prst="roundRect">
              <a:avLst>
                <a:gd name="adj" fmla="val 6195"/>
              </a:avLst>
            </a:prstGeom>
            <a:solidFill>
              <a:srgbClr val="2A2417"/>
            </a:solidFill>
            <a:ln w="14288">
              <a:solidFill>
                <a:srgbClr val="F2C14E"/>
              </a:solidFill>
            </a:ln>
          </p:spPr>
        </p:sp>
        <p:sp>
          <p:nvSpPr>
            <p:cNvPr id="37" name="Rectangle 37"/>
            <p:cNvSpPr/>
            <p:nvPr/>
          </p:nvSpPr>
          <p:spPr>
            <a:xfrm>
              <a:off x="6248400" y="2400300"/>
              <a:ext cx="57150" cy="2152650"/>
            </a:xfrm>
            <a:prstGeom prst="roundRect">
              <a:avLst>
                <a:gd name="adj" fmla="val 50000"/>
              </a:avLst>
            </a:prstGeom>
            <a:solidFill>
              <a:srgbClr val="F2C14E"/>
            </a:solidFill>
            <a:ln>
              <a:noFill/>
            </a:ln>
          </p:spPr>
        </p:sp>
        <p:sp>
          <p:nvSpPr>
            <p:cNvPr id="38" name="TextBox 38"/>
            <p:cNvSpPr txBox="1"/>
            <p:nvPr/>
          </p:nvSpPr>
          <p:spPr>
            <a:xfrm>
              <a:off x="6509194" y="2636758"/>
              <a:ext cx="2607729"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vs a leading spiking Transformer</a:t>
              </a:r>
            </a:p>
          </p:txBody>
        </p:sp>
        <p:sp>
          <p:nvSpPr>
            <p:cNvPr id="39" name="TextBox 39"/>
            <p:cNvSpPr txBox="1"/>
            <p:nvPr/>
          </p:nvSpPr>
          <p:spPr>
            <a:xfrm>
              <a:off x="6510147" y="2885599"/>
              <a:ext cx="1312031"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at similar accuracy</a:t>
              </a:r>
            </a:p>
          </p:txBody>
        </p:sp>
        <p:sp>
          <p:nvSpPr>
            <p:cNvPr id="40" name="Rectangle 40"/>
            <p:cNvSpPr/>
            <p:nvPr/>
          </p:nvSpPr>
          <p:spPr>
            <a:xfrm>
              <a:off x="6515100" y="3143250"/>
              <a:ext cx="1581150" cy="990600"/>
            </a:xfrm>
            <a:prstGeom prst="roundRect">
              <a:avLst>
                <a:gd name="adj" fmla="val 11538"/>
              </a:avLst>
            </a:prstGeom>
            <a:solidFill>
              <a:schemeClr val="accent6"/>
            </a:solidFill>
            <a:ln w="14288">
              <a:solidFill>
                <a:srgbClr val="26455F"/>
              </a:solidFill>
            </a:ln>
          </p:spPr>
        </p:sp>
        <p:sp>
          <p:nvSpPr>
            <p:cNvPr id="41" name="TextBox 41"/>
            <p:cNvSpPr txBox="1"/>
            <p:nvPr/>
          </p:nvSpPr>
          <p:spPr>
            <a:xfrm>
              <a:off x="6944401" y="3433762"/>
              <a:ext cx="72254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8.6x</a:t>
              </a:r>
            </a:p>
          </p:txBody>
        </p:sp>
        <p:sp>
          <p:nvSpPr>
            <p:cNvPr id="42" name="TextBox 42"/>
            <p:cNvSpPr txBox="1"/>
            <p:nvPr/>
          </p:nvSpPr>
          <p:spPr>
            <a:xfrm>
              <a:off x="6905624" y="3823097"/>
              <a:ext cx="80010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less memory</a:t>
              </a:r>
            </a:p>
          </p:txBody>
        </p:sp>
        <p:sp>
          <p:nvSpPr>
            <p:cNvPr id="43" name="Rectangle 43"/>
            <p:cNvSpPr/>
            <p:nvPr/>
          </p:nvSpPr>
          <p:spPr>
            <a:xfrm>
              <a:off x="8248650" y="3143250"/>
              <a:ext cx="1581150" cy="990600"/>
            </a:xfrm>
            <a:prstGeom prst="roundRect">
              <a:avLst>
                <a:gd name="adj" fmla="val 11538"/>
              </a:avLst>
            </a:prstGeom>
            <a:solidFill>
              <a:schemeClr val="accent6"/>
            </a:solidFill>
            <a:ln w="14288">
              <a:solidFill>
                <a:srgbClr val="26455F"/>
              </a:solidFill>
            </a:ln>
          </p:spPr>
        </p:sp>
        <p:sp>
          <p:nvSpPr>
            <p:cNvPr id="44" name="TextBox 44"/>
            <p:cNvSpPr txBox="1"/>
            <p:nvPr/>
          </p:nvSpPr>
          <p:spPr>
            <a:xfrm>
              <a:off x="8677951" y="3433762"/>
              <a:ext cx="72254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2.0x</a:t>
              </a:r>
            </a:p>
          </p:txBody>
        </p:sp>
        <p:sp>
          <p:nvSpPr>
            <p:cNvPr id="45" name="TextBox 45"/>
            <p:cNvSpPr txBox="1"/>
            <p:nvPr/>
          </p:nvSpPr>
          <p:spPr>
            <a:xfrm>
              <a:off x="8536200" y="3823097"/>
              <a:ext cx="100605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faster training</a:t>
              </a:r>
            </a:p>
          </p:txBody>
        </p:sp>
        <p:sp>
          <p:nvSpPr>
            <p:cNvPr id="46" name="Rectangle 46"/>
            <p:cNvSpPr/>
            <p:nvPr/>
          </p:nvSpPr>
          <p:spPr>
            <a:xfrm>
              <a:off x="9982200" y="3143250"/>
              <a:ext cx="1581150" cy="990600"/>
            </a:xfrm>
            <a:prstGeom prst="roundRect">
              <a:avLst>
                <a:gd name="adj" fmla="val 11538"/>
              </a:avLst>
            </a:prstGeom>
            <a:solidFill>
              <a:schemeClr val="accent6"/>
            </a:solidFill>
            <a:ln w="14288">
              <a:solidFill>
                <a:srgbClr val="26455F"/>
              </a:solidFill>
            </a:ln>
          </p:spPr>
        </p:sp>
        <p:sp>
          <p:nvSpPr>
            <p:cNvPr id="47" name="TextBox 47"/>
            <p:cNvSpPr txBox="1"/>
            <p:nvPr/>
          </p:nvSpPr>
          <p:spPr>
            <a:xfrm>
              <a:off x="10411501" y="3433762"/>
              <a:ext cx="72254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1.6x</a:t>
              </a:r>
            </a:p>
          </p:txBody>
        </p:sp>
        <p:sp>
          <p:nvSpPr>
            <p:cNvPr id="48" name="TextBox 48"/>
            <p:cNvSpPr txBox="1"/>
            <p:nvPr/>
          </p:nvSpPr>
          <p:spPr>
            <a:xfrm>
              <a:off x="10399298" y="3823097"/>
              <a:ext cx="74695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less energy</a:t>
              </a:r>
            </a:p>
          </p:txBody>
        </p:sp>
      </p:grpSp>
      <p:grpSp>
        <p:nvGrpSpPr>
          <p:cNvPr id="61" name="Group 61"/>
          <p:cNvGrpSpPr/>
          <p:nvPr/>
        </p:nvGrpSpPr>
        <p:grpSpPr>
          <a:xfrm>
            <a:off x="609600" y="4686300"/>
            <a:ext cx="10972800" cy="1104900"/>
            <a:chOff x="609600" y="4686300"/>
            <a:chExt cx="10972800" cy="1104900"/>
          </a:xfrm>
        </p:grpSpPr>
        <p:sp>
          <p:nvSpPr>
            <p:cNvPr id="50" name="Rectangle 50"/>
            <p:cNvSpPr/>
            <p:nvPr/>
          </p:nvSpPr>
          <p:spPr>
            <a:xfrm>
              <a:off x="609600" y="4686300"/>
              <a:ext cx="10972800" cy="1104900"/>
            </a:xfrm>
            <a:prstGeom prst="roundRect">
              <a:avLst>
                <a:gd name="adj" fmla="val 12069"/>
              </a:avLst>
            </a:prstGeom>
            <a:solidFill>
              <a:schemeClr val="accent5"/>
            </a:solidFill>
            <a:ln w="14288">
              <a:solidFill>
                <a:srgbClr val="26455F"/>
              </a:solidFill>
            </a:ln>
          </p:spPr>
        </p:sp>
        <p:sp>
          <p:nvSpPr>
            <p:cNvPr id="51" name="Rectangle 51"/>
            <p:cNvSpPr/>
            <p:nvPr/>
          </p:nvSpPr>
          <p:spPr>
            <a:xfrm>
              <a:off x="609600" y="4686300"/>
              <a:ext cx="57150" cy="1104900"/>
            </a:xfrm>
            <a:prstGeom prst="roundRect">
              <a:avLst>
                <a:gd name="adj" fmla="val 50000"/>
              </a:avLst>
            </a:prstGeom>
            <a:solidFill>
              <a:schemeClr val="accent2"/>
            </a:solidFill>
            <a:ln>
              <a:noFill/>
            </a:ln>
          </p:spPr>
        </p:sp>
        <p:sp>
          <p:nvSpPr>
            <p:cNvPr id="52" name="TextBox 52"/>
            <p:cNvSpPr txBox="1"/>
            <p:nvPr/>
          </p:nvSpPr>
          <p:spPr>
            <a:xfrm>
              <a:off x="870204" y="4880610"/>
              <a:ext cx="1238782"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A lighter model</a:t>
              </a:r>
            </a:p>
          </p:txBody>
        </p:sp>
        <p:sp>
          <p:nvSpPr>
            <p:cNvPr id="53" name="TextBox 53"/>
            <p:cNvSpPr txBox="1"/>
            <p:nvPr/>
          </p:nvSpPr>
          <p:spPr>
            <a:xfrm>
              <a:off x="870776" y="5178504"/>
              <a:ext cx="486594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15 million parameter version still reaches nearly 70 percent top-1</a:t>
              </a:r>
            </a:p>
          </p:txBody>
        </p:sp>
        <p:sp>
          <p:nvSpPr>
            <p:cNvPr id="54" name="TextBox 54"/>
            <p:cNvSpPr txBox="1"/>
            <p:nvPr/>
          </p:nvSpPr>
          <p:spPr>
            <a:xfrm>
              <a:off x="870776" y="5388054"/>
              <a:ext cx="399492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accuracy, at under 60 megabytes of memory per image.</a:t>
              </a:r>
            </a:p>
          </p:txBody>
        </p:sp>
        <p:sp>
          <p:nvSpPr>
            <p:cNvPr id="55" name="Rectangle 55"/>
            <p:cNvSpPr/>
            <p:nvPr/>
          </p:nvSpPr>
          <p:spPr>
            <a:xfrm>
              <a:off x="8953500" y="4819650"/>
              <a:ext cx="1200150" cy="838200"/>
            </a:xfrm>
            <a:prstGeom prst="roundRect">
              <a:avLst>
                <a:gd name="adj" fmla="val 13636"/>
              </a:avLst>
            </a:prstGeom>
            <a:solidFill>
              <a:schemeClr val="accent6"/>
            </a:solidFill>
            <a:ln w="14288">
              <a:solidFill>
                <a:srgbClr val="26455F"/>
              </a:solidFill>
            </a:ln>
          </p:spPr>
        </p:sp>
        <p:sp>
          <p:nvSpPr>
            <p:cNvPr id="56" name="TextBox 56"/>
            <p:cNvSpPr txBox="1"/>
            <p:nvPr/>
          </p:nvSpPr>
          <p:spPr>
            <a:xfrm>
              <a:off x="9160497" y="5110162"/>
              <a:ext cx="786155"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~70%</a:t>
              </a:r>
            </a:p>
          </p:txBody>
        </p:sp>
        <p:sp>
          <p:nvSpPr>
            <p:cNvPr id="57" name="TextBox 57"/>
            <p:cNvSpPr txBox="1"/>
            <p:nvPr/>
          </p:nvSpPr>
          <p:spPr>
            <a:xfrm>
              <a:off x="9170420" y="5499497"/>
              <a:ext cx="76631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15M params</a:t>
              </a:r>
            </a:p>
          </p:txBody>
        </p:sp>
        <p:sp>
          <p:nvSpPr>
            <p:cNvPr id="58" name="Rectangle 58"/>
            <p:cNvSpPr/>
            <p:nvPr/>
          </p:nvSpPr>
          <p:spPr>
            <a:xfrm>
              <a:off x="10306050" y="4819650"/>
              <a:ext cx="1200150" cy="838200"/>
            </a:xfrm>
            <a:prstGeom prst="roundRect">
              <a:avLst>
                <a:gd name="adj" fmla="val 13636"/>
              </a:avLst>
            </a:prstGeom>
            <a:solidFill>
              <a:schemeClr val="accent6"/>
            </a:solidFill>
            <a:ln w="14288">
              <a:solidFill>
                <a:srgbClr val="26455F"/>
              </a:solidFill>
            </a:ln>
          </p:spPr>
        </p:sp>
        <p:sp>
          <p:nvSpPr>
            <p:cNvPr id="59" name="TextBox 59"/>
            <p:cNvSpPr txBox="1"/>
            <p:nvPr/>
          </p:nvSpPr>
          <p:spPr>
            <a:xfrm>
              <a:off x="10348627" y="5110162"/>
              <a:ext cx="1114997"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&lt;60 MB</a:t>
              </a:r>
            </a:p>
          </p:txBody>
        </p:sp>
        <p:sp>
          <p:nvSpPr>
            <p:cNvPr id="60" name="TextBox 60"/>
            <p:cNvSpPr txBox="1"/>
            <p:nvPr/>
          </p:nvSpPr>
          <p:spPr>
            <a:xfrm>
              <a:off x="10592440" y="5499497"/>
              <a:ext cx="62737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per image</a:t>
              </a:r>
            </a:p>
          </p:txBody>
        </p:sp>
      </p:grpSp>
      <p:sp>
        <p:nvSpPr>
          <p:cNvPr id="62" name="TextBox 62"/>
          <p:cNvSpPr txBox="1"/>
          <p:nvPr/>
        </p:nvSpPr>
        <p:spPr>
          <a:xfrm>
            <a:off x="604266" y="6058852"/>
            <a:ext cx="6346067"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Best accuracy, lowest memory, fastest training, lowest energy: all at the same time.</a:t>
            </a:r>
          </a:p>
        </p:txBody>
      </p:sp>
      <p:sp>
        <p:nvSpPr>
          <p:cNvPr id="63" name="cue_s07_c1_results_imagenet_strong_about_30" title="cue_s07_c1_results_imagenet_strong_about_30" descr="cue_s07_c1_results_imagenet_strong_about_30 The results on ImageNet are strong. With about 30 million parameters and four timesteps, T-RevSNN reaches 73.2 percent top-1 accuracy while using only 85.7 megabytes of memory per image and 2.8 millijoules of inference energy."/>
          <p:cNvSpPr/>
          <p:nvPr/>
        </p:nvSpPr>
        <p:spPr>
          <a:xfrm>
            <a:off x="609600" y="1428521"/>
            <a:ext cx="10972800"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7_c2_best_accuracy_among_convolutional_sp" title="cue_s07_c2_best_accuracy_among_convolutional_sp" descr="cue_s07_c2_best_accuracy_among_convolutional_sp That is the best accuracy among convolutional spiking ResNets, and it comes with the lowest training memory, the fastest training time, and the lowest inference energy in its class."/>
          <p:cNvSpPr/>
          <p:nvPr/>
        </p:nvSpPr>
        <p:spPr>
          <a:xfrm>
            <a:off x="609600" y="2400300"/>
            <a:ext cx="5334000" cy="221924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7_c3_compared_against_leading_spiking_tra" title="cue_s07_c3_compared_against_leading_spiking_tra" descr="cue_s07_c3_compared_against_leading_spiking_tra Compared against a leading spiking Transformer at similar accuracy, T-RevSNN uses 8.6 times less memory, trains 2 times faster, and spends 1.6 times less inference energy."/>
          <p:cNvSpPr/>
          <p:nvPr/>
        </p:nvSpPr>
        <p:spPr>
          <a:xfrm>
            <a:off x="6248399" y="2400300"/>
            <a:ext cx="533400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7_c4_lighter_15_million_parameter_version" title="cue_s07_c4_lighter_15_million_parameter_version" descr="cue_s07_c4_lighter_15_million_parameter_version A lighter 15 million parameter version still reaches nearly 70 percent accuracy at under 60 megabytes per image."/>
          <p:cNvSpPr/>
          <p:nvPr/>
        </p:nvSpPr>
        <p:spPr>
          <a:xfrm>
            <a:off x="609600" y="4686071"/>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26482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Each design choice earns its place</a:t>
            </a:r>
          </a:p>
        </p:txBody>
      </p:sp>
      <p:grpSp>
        <p:nvGrpSpPr>
          <p:cNvPr id="22" name="Group 22"/>
          <p:cNvGrpSpPr/>
          <p:nvPr/>
        </p:nvGrpSpPr>
        <p:grpSpPr>
          <a:xfrm>
            <a:off x="609600" y="1504950"/>
            <a:ext cx="5334000" cy="2495550"/>
            <a:chOff x="609600" y="1504950"/>
            <a:chExt cx="5334000" cy="2495550"/>
          </a:xfrm>
        </p:grpSpPr>
        <p:sp>
          <p:nvSpPr>
            <p:cNvPr id="5" name="Rectangle 5"/>
            <p:cNvSpPr/>
            <p:nvPr/>
          </p:nvSpPr>
          <p:spPr>
            <a:xfrm>
              <a:off x="609600" y="1504950"/>
              <a:ext cx="5334000" cy="2495550"/>
            </a:xfrm>
            <a:prstGeom prst="roundRect">
              <a:avLst>
                <a:gd name="adj" fmla="val 5344"/>
              </a:avLst>
            </a:prstGeom>
            <a:solidFill>
              <a:schemeClr val="accent5"/>
            </a:solidFill>
            <a:ln w="14288">
              <a:solidFill>
                <a:srgbClr val="26455F"/>
              </a:solidFill>
            </a:ln>
          </p:spPr>
        </p:sp>
        <p:sp>
          <p:nvSpPr>
            <p:cNvPr id="6" name="Rectangle 6"/>
            <p:cNvSpPr/>
            <p:nvPr/>
          </p:nvSpPr>
          <p:spPr>
            <a:xfrm>
              <a:off x="609600" y="1504950"/>
              <a:ext cx="57150" cy="2495550"/>
            </a:xfrm>
            <a:prstGeom prst="roundRect">
              <a:avLst>
                <a:gd name="adj" fmla="val 50000"/>
              </a:avLst>
            </a:prstGeom>
            <a:solidFill>
              <a:srgbClr val="34D3C0"/>
            </a:solidFill>
            <a:ln>
              <a:noFill/>
            </a:ln>
          </p:spPr>
        </p:sp>
        <p:sp>
          <p:nvSpPr>
            <p:cNvPr id="7" name="TextBox 7"/>
            <p:cNvSpPr txBox="1"/>
            <p:nvPr/>
          </p:nvSpPr>
          <p:spPr>
            <a:xfrm>
              <a:off x="870014" y="1733312"/>
              <a:ext cx="2401506"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Temporal reversibility alone</a:t>
              </a:r>
            </a:p>
          </p:txBody>
        </p:sp>
        <p:sp>
          <p:nvSpPr>
            <p:cNvPr id="8" name="TextBox 8"/>
            <p:cNvSpPr txBox="1"/>
            <p:nvPr/>
          </p:nvSpPr>
          <p:spPr>
            <a:xfrm>
              <a:off x="870966" y="2020252"/>
              <a:ext cx="40995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Adding temporal reversibility to a standard MS-ResNet-34,</a:t>
              </a:r>
            </a:p>
          </p:txBody>
        </p:sp>
        <p:sp>
          <p:nvSpPr>
            <p:cNvPr id="9" name="TextBox 9"/>
            <p:cNvSpPr txBox="1"/>
            <p:nvPr/>
          </p:nvSpPr>
          <p:spPr>
            <a:xfrm>
              <a:off x="870966" y="2220278"/>
              <a:ext cx="30779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at a cost of only about 1.5 accuracy points:</a:t>
              </a:r>
            </a:p>
          </p:txBody>
        </p:sp>
        <p:sp>
          <p:nvSpPr>
            <p:cNvPr id="10" name="TextBox 10"/>
            <p:cNvSpPr txBox="1"/>
            <p:nvPr/>
          </p:nvSpPr>
          <p:spPr>
            <a:xfrm>
              <a:off x="1061847" y="2618899"/>
              <a:ext cx="2986051"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Training memory per image · lower is better</a:t>
              </a:r>
            </a:p>
          </p:txBody>
        </p:sp>
        <p:sp>
          <p:nvSpPr>
            <p:cNvPr id="11" name="Rectangle 11"/>
            <p:cNvSpPr/>
            <p:nvPr/>
          </p:nvSpPr>
          <p:spPr>
            <a:xfrm>
              <a:off x="2857500" y="2857500"/>
              <a:ext cx="2247900" cy="228600"/>
            </a:xfrm>
            <a:prstGeom prst="roundRect">
              <a:avLst>
                <a:gd name="adj" fmla="val 25000"/>
              </a:avLst>
            </a:prstGeom>
            <a:solidFill>
              <a:srgbClr val="0E2334"/>
            </a:solidFill>
            <a:ln w="9525">
              <a:solidFill>
                <a:srgbClr val="26455F"/>
              </a:solidFill>
            </a:ln>
          </p:spPr>
        </p:sp>
        <p:sp>
          <p:nvSpPr>
            <p:cNvPr id="12" name="Rectangle 12"/>
            <p:cNvSpPr/>
            <p:nvPr/>
          </p:nvSpPr>
          <p:spPr>
            <a:xfrm>
              <a:off x="2857500" y="2857500"/>
              <a:ext cx="2247900" cy="228600"/>
            </a:xfrm>
            <a:prstGeom prst="roundRect">
              <a:avLst>
                <a:gd name="adj" fmla="val 25000"/>
              </a:avLst>
            </a:prstGeom>
            <a:solidFill>
              <a:srgbClr val="F2685C"/>
            </a:solidFill>
            <a:ln>
              <a:noFill/>
            </a:ln>
          </p:spPr>
        </p:sp>
        <p:sp>
          <p:nvSpPr>
            <p:cNvPr id="13" name="TextBox 13"/>
            <p:cNvSpPr txBox="1"/>
            <p:nvPr/>
          </p:nvSpPr>
          <p:spPr>
            <a:xfrm>
              <a:off x="2159034" y="2908744"/>
              <a:ext cx="58950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baseline</a:t>
              </a:r>
            </a:p>
          </p:txBody>
        </p:sp>
        <p:sp>
          <p:nvSpPr>
            <p:cNvPr id="14" name="TextBox 14"/>
            <p:cNvSpPr txBox="1"/>
            <p:nvPr/>
          </p:nvSpPr>
          <p:spPr>
            <a:xfrm>
              <a:off x="5195316" y="2908744"/>
              <a:ext cx="520332"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267 MB</a:t>
              </a:r>
            </a:p>
          </p:txBody>
        </p:sp>
        <p:sp>
          <p:nvSpPr>
            <p:cNvPr id="15" name="Rectangle 15"/>
            <p:cNvSpPr/>
            <p:nvPr/>
          </p:nvSpPr>
          <p:spPr>
            <a:xfrm>
              <a:off x="2857500" y="3162300"/>
              <a:ext cx="2247900" cy="228600"/>
            </a:xfrm>
            <a:prstGeom prst="roundRect">
              <a:avLst>
                <a:gd name="adj" fmla="val 25000"/>
              </a:avLst>
            </a:prstGeom>
            <a:solidFill>
              <a:srgbClr val="0E2334"/>
            </a:solidFill>
            <a:ln w="9525">
              <a:solidFill>
                <a:srgbClr val="26455F"/>
              </a:solidFill>
            </a:ln>
          </p:spPr>
        </p:sp>
        <p:sp>
          <p:nvSpPr>
            <p:cNvPr id="16" name="Rectangle 16"/>
            <p:cNvSpPr/>
            <p:nvPr/>
          </p:nvSpPr>
          <p:spPr>
            <a:xfrm>
              <a:off x="2857500" y="3162300"/>
              <a:ext cx="733425" cy="228600"/>
            </a:xfrm>
            <a:prstGeom prst="roundRect">
              <a:avLst>
                <a:gd name="adj" fmla="val 25000"/>
              </a:avLst>
            </a:prstGeom>
            <a:solidFill>
              <a:srgbClr val="34D3C0"/>
            </a:solidFill>
            <a:ln>
              <a:noFill/>
            </a:ln>
          </p:spPr>
        </p:sp>
        <p:sp>
          <p:nvSpPr>
            <p:cNvPr id="17" name="TextBox 17"/>
            <p:cNvSpPr txBox="1"/>
            <p:nvPr/>
          </p:nvSpPr>
          <p:spPr>
            <a:xfrm>
              <a:off x="1869617" y="3213544"/>
              <a:ext cx="87891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 reversible</a:t>
              </a:r>
            </a:p>
          </p:txBody>
        </p:sp>
        <p:sp>
          <p:nvSpPr>
            <p:cNvPr id="18" name="TextBox 18"/>
            <p:cNvSpPr txBox="1"/>
            <p:nvPr/>
          </p:nvSpPr>
          <p:spPr>
            <a:xfrm>
              <a:off x="3680841" y="3213544"/>
              <a:ext cx="434081"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88 MB</a:t>
              </a:r>
            </a:p>
          </p:txBody>
        </p:sp>
        <p:sp>
          <p:nvSpPr>
            <p:cNvPr id="19" name="TextBox 19"/>
            <p:cNvSpPr txBox="1"/>
            <p:nvPr/>
          </p:nvSpPr>
          <p:spPr>
            <a:xfrm>
              <a:off x="870966" y="3620452"/>
              <a:ext cx="869442" cy="205359"/>
            </a:xfrm>
            <a:prstGeom prst="rect">
              <a:avLst/>
            </a:prstGeom>
            <a:noFill/>
            <a:ln>
              <a:noFill/>
            </a:ln>
          </p:spPr>
          <p:txBody>
            <a:bodyPr wrap="none" lIns="0" tIns="0" rIns="0" bIns="0" anchor="t" anchorCtr="0">
              <a:spAutoFit/>
            </a:bodyPr>
            <a:lstStyle/>
            <a:p>
              <a:pPr algn="l"/>
              <a:r>
                <a:rPr lang="en-US" sz="1050" b="1" dirty="0">
                  <a:solidFill>
                    <a:srgbClr val="6E869C"/>
                  </a:solidFill>
                  <a:latin typeface="+mn-lt"/>
                  <a:ea typeface="+mn-ea"/>
                  <a:cs typeface="+mn-cs"/>
                </a:rPr>
                <a:t>Epoch time:</a:t>
              </a:r>
            </a:p>
          </p:txBody>
        </p:sp>
        <p:sp>
          <p:nvSpPr>
            <p:cNvPr id="20" name="TextBox 20"/>
            <p:cNvSpPr txBox="1"/>
            <p:nvPr/>
          </p:nvSpPr>
          <p:spPr>
            <a:xfrm>
              <a:off x="1899285" y="3612356"/>
              <a:ext cx="1491658" cy="220028"/>
            </a:xfrm>
            <a:prstGeom prst="rect">
              <a:avLst/>
            </a:prstGeom>
            <a:noFill/>
            <a:ln>
              <a:noFill/>
            </a:ln>
          </p:spPr>
          <p:txBody>
            <a:bodyPr wrap="none" lIns="0" tIns="0" rIns="0" bIns="0" anchor="t" anchorCtr="0">
              <a:spAutoFit/>
            </a:bodyPr>
            <a:lstStyle/>
            <a:p>
              <a:pPr algn="l"/>
              <a:r>
                <a:rPr lang="en-US" sz="1120" b="1" dirty="0">
                  <a:solidFill>
                    <a:srgbClr val="34D3C0"/>
                  </a:solidFill>
                  <a:latin typeface="Consolas"/>
                  <a:ea typeface="Consolas"/>
                  <a:cs typeface="Consolas"/>
                </a:rPr>
                <a:t>11.2 min -&gt; 7.4 min</a:t>
              </a:r>
            </a:p>
          </p:txBody>
        </p:sp>
        <p:sp>
          <p:nvSpPr>
            <p:cNvPr id="21" name="TextBox 21"/>
            <p:cNvSpPr txBox="1"/>
            <p:nvPr/>
          </p:nvSpPr>
          <p:spPr>
            <a:xfrm>
              <a:off x="4090797" y="3628549"/>
              <a:ext cx="1007279"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(-1.5 acc pts)</a:t>
              </a:r>
            </a:p>
          </p:txBody>
        </p:sp>
      </p:grpSp>
      <p:grpSp>
        <p:nvGrpSpPr>
          <p:cNvPr id="30" name="Group 30"/>
          <p:cNvGrpSpPr/>
          <p:nvPr/>
        </p:nvGrpSpPr>
        <p:grpSpPr>
          <a:xfrm>
            <a:off x="609600" y="4152900"/>
            <a:ext cx="5334000" cy="1085850"/>
            <a:chOff x="609600" y="4152900"/>
            <a:chExt cx="5334000" cy="1085850"/>
          </a:xfrm>
        </p:grpSpPr>
        <p:sp>
          <p:nvSpPr>
            <p:cNvPr id="23" name="Rectangle 23"/>
            <p:cNvSpPr/>
            <p:nvPr/>
          </p:nvSpPr>
          <p:spPr>
            <a:xfrm>
              <a:off x="609600" y="4152900"/>
              <a:ext cx="5334000" cy="1085850"/>
            </a:xfrm>
            <a:prstGeom prst="roundRect">
              <a:avLst>
                <a:gd name="adj" fmla="val 12281"/>
              </a:avLst>
            </a:prstGeom>
            <a:solidFill>
              <a:schemeClr val="accent5"/>
            </a:solidFill>
            <a:ln w="14288">
              <a:solidFill>
                <a:srgbClr val="26455F"/>
              </a:solidFill>
            </a:ln>
          </p:spPr>
        </p:sp>
        <p:sp>
          <p:nvSpPr>
            <p:cNvPr id="24" name="Rectangle 24"/>
            <p:cNvSpPr/>
            <p:nvPr/>
          </p:nvSpPr>
          <p:spPr>
            <a:xfrm>
              <a:off x="609600" y="4152900"/>
              <a:ext cx="57150" cy="1085850"/>
            </a:xfrm>
            <a:prstGeom prst="roundRect">
              <a:avLst>
                <a:gd name="adj" fmla="val 50000"/>
              </a:avLst>
            </a:prstGeom>
            <a:solidFill>
              <a:schemeClr val="accent2"/>
            </a:solidFill>
            <a:ln>
              <a:noFill/>
            </a:ln>
          </p:spPr>
        </p:sp>
        <p:sp>
          <p:nvSpPr>
            <p:cNvPr id="25" name="TextBox 25"/>
            <p:cNvSpPr txBox="1"/>
            <p:nvPr/>
          </p:nvSpPr>
          <p:spPr>
            <a:xfrm>
              <a:off x="870204" y="4366260"/>
              <a:ext cx="2264974"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Multi-level temporal fusion</a:t>
              </a:r>
            </a:p>
          </p:txBody>
        </p:sp>
        <p:sp>
          <p:nvSpPr>
            <p:cNvPr id="26" name="TextBox 26"/>
            <p:cNvSpPr txBox="1"/>
            <p:nvPr/>
          </p:nvSpPr>
          <p:spPr>
            <a:xfrm>
              <a:off x="870966" y="4649152"/>
              <a:ext cx="37045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Fusing temporal information between stages is worth</a:t>
              </a:r>
            </a:p>
          </p:txBody>
        </p:sp>
        <p:sp>
          <p:nvSpPr>
            <p:cNvPr id="27" name="TextBox 27"/>
            <p:cNvSpPr txBox="1"/>
            <p:nvPr/>
          </p:nvSpPr>
          <p:spPr>
            <a:xfrm>
              <a:off x="870966" y="4849178"/>
              <a:ext cx="27528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roughly 1.2 accuracy points on its own.</a:t>
              </a:r>
            </a:p>
          </p:txBody>
        </p:sp>
        <p:sp>
          <p:nvSpPr>
            <p:cNvPr id="28" name="TextBox 28"/>
            <p:cNvSpPr txBox="1"/>
            <p:nvPr/>
          </p:nvSpPr>
          <p:spPr>
            <a:xfrm>
              <a:off x="4565298" y="4418648"/>
              <a:ext cx="626208" cy="381381"/>
            </a:xfrm>
            <a:prstGeom prst="rect">
              <a:avLst/>
            </a:prstGeom>
            <a:noFill/>
            <a:ln>
              <a:noFill/>
            </a:ln>
          </p:spPr>
          <p:txBody>
            <a:bodyPr wrap="none" lIns="0" tIns="0" rIns="0" bIns="0" anchor="t" anchorCtr="0">
              <a:spAutoFit/>
            </a:bodyPr>
            <a:lstStyle/>
            <a:p>
              <a:pPr algn="r"/>
              <a:r>
                <a:rPr lang="en-US" sz="1950" b="1" dirty="0">
                  <a:solidFill>
                    <a:schemeClr val="accent2"/>
                  </a:solidFill>
                  <a:latin typeface="+mn-lt"/>
                  <a:ea typeface="+mn-ea"/>
                  <a:cs typeface="+mn-cs"/>
                </a:rPr>
                <a:t>+1.2</a:t>
              </a:r>
            </a:p>
          </p:txBody>
        </p:sp>
        <p:sp>
          <p:nvSpPr>
            <p:cNvPr id="29" name="TextBox 29"/>
            <p:cNvSpPr txBox="1"/>
            <p:nvPr/>
          </p:nvSpPr>
          <p:spPr>
            <a:xfrm>
              <a:off x="4966931" y="4741545"/>
              <a:ext cx="219431" cy="176212"/>
            </a:xfrm>
            <a:prstGeom prst="rect">
              <a:avLst/>
            </a:prstGeom>
            <a:noFill/>
            <a:ln>
              <a:noFill/>
            </a:ln>
          </p:spPr>
          <p:txBody>
            <a:bodyPr wrap="none" lIns="0" tIns="0" rIns="0" bIns="0" anchor="t" anchorCtr="0">
              <a:spAutoFit/>
            </a:bodyPr>
            <a:lstStyle/>
            <a:p>
              <a:pPr algn="r"/>
              <a:r>
                <a:rPr lang="en-US" sz="900" b="1" dirty="0">
                  <a:solidFill>
                    <a:schemeClr val="dk2"/>
                  </a:solidFill>
                  <a:latin typeface="+mn-lt"/>
                  <a:ea typeface="+mn-ea"/>
                  <a:cs typeface="+mn-cs"/>
                </a:rPr>
                <a:t>pts</a:t>
              </a:r>
            </a:p>
          </p:txBody>
        </p:sp>
      </p:grpSp>
      <p:grpSp>
        <p:nvGrpSpPr>
          <p:cNvPr id="46" name="Group 46"/>
          <p:cNvGrpSpPr/>
          <p:nvPr/>
        </p:nvGrpSpPr>
        <p:grpSpPr>
          <a:xfrm>
            <a:off x="6248400" y="1504950"/>
            <a:ext cx="5334000" cy="1829371"/>
            <a:chOff x="6248400" y="1504950"/>
            <a:chExt cx="5334000" cy="1829371"/>
          </a:xfrm>
        </p:grpSpPr>
        <p:sp>
          <p:nvSpPr>
            <p:cNvPr id="31" name="Rectangle 31"/>
            <p:cNvSpPr/>
            <p:nvPr/>
          </p:nvSpPr>
          <p:spPr>
            <a:xfrm>
              <a:off x="6248400" y="1504950"/>
              <a:ext cx="5334000" cy="1828800"/>
            </a:xfrm>
            <a:prstGeom prst="roundRect">
              <a:avLst>
                <a:gd name="adj" fmla="val 7292"/>
              </a:avLst>
            </a:prstGeom>
            <a:solidFill>
              <a:schemeClr val="accent5"/>
            </a:solidFill>
            <a:ln w="14288">
              <a:solidFill>
                <a:srgbClr val="26455F"/>
              </a:solidFill>
            </a:ln>
          </p:spPr>
        </p:sp>
        <p:sp>
          <p:nvSpPr>
            <p:cNvPr id="32" name="Rectangle 32"/>
            <p:cNvSpPr/>
            <p:nvPr/>
          </p:nvSpPr>
          <p:spPr>
            <a:xfrm>
              <a:off x="6248400" y="1504950"/>
              <a:ext cx="57150" cy="1828800"/>
            </a:xfrm>
            <a:prstGeom prst="roundRect">
              <a:avLst>
                <a:gd name="adj" fmla="val 50000"/>
              </a:avLst>
            </a:prstGeom>
            <a:solidFill>
              <a:srgbClr val="F2C14E"/>
            </a:solidFill>
            <a:ln>
              <a:noFill/>
            </a:ln>
          </p:spPr>
        </p:sp>
        <p:sp>
          <p:nvSpPr>
            <p:cNvPr id="33" name="TextBox 33"/>
            <p:cNvSpPr txBox="1"/>
            <p:nvPr/>
          </p:nvSpPr>
          <p:spPr>
            <a:xfrm>
              <a:off x="6509194" y="1741408"/>
              <a:ext cx="2837196"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Scaled residual speeds convergence</a:t>
              </a:r>
            </a:p>
          </p:txBody>
        </p:sp>
        <p:sp>
          <p:nvSpPr>
            <p:cNvPr id="34" name="TextBox 34"/>
            <p:cNvSpPr txBox="1"/>
            <p:nvPr/>
          </p:nvSpPr>
          <p:spPr>
            <a:xfrm>
              <a:off x="6509766" y="2039302"/>
              <a:ext cx="39943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Varying the number of timesteps trades accuracy against</a:t>
              </a:r>
            </a:p>
          </p:txBody>
        </p:sp>
        <p:sp>
          <p:nvSpPr>
            <p:cNvPr id="35" name="TextBox 35"/>
            <p:cNvSpPr txBox="1"/>
            <p:nvPr/>
          </p:nvSpPr>
          <p:spPr>
            <a:xfrm>
              <a:off x="6509766" y="2239328"/>
              <a:ext cx="391902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cost; the scaled residual reaches 60% accuracy in fewer</a:t>
              </a:r>
            </a:p>
          </p:txBody>
        </p:sp>
        <p:sp>
          <p:nvSpPr>
            <p:cNvPr id="36" name="TextBox 36"/>
            <p:cNvSpPr txBox="1"/>
            <p:nvPr/>
          </p:nvSpPr>
          <p:spPr>
            <a:xfrm>
              <a:off x="6509766" y="2439352"/>
              <a:ext cx="5548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epochs.</a:t>
              </a:r>
            </a:p>
          </p:txBody>
        </p:sp>
        <p:sp>
          <p:nvSpPr>
            <p:cNvPr id="37" name="TextBox 37"/>
            <p:cNvSpPr txBox="1"/>
            <p:nvPr/>
          </p:nvSpPr>
          <p:spPr>
            <a:xfrm>
              <a:off x="6510338" y="2641997"/>
              <a:ext cx="3125325"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epochs to reach 60% accuracy · fewer is better</a:t>
              </a:r>
            </a:p>
          </p:txBody>
        </p:sp>
        <p:sp>
          <p:nvSpPr>
            <p:cNvPr id="38" name="Rectangle 38"/>
            <p:cNvSpPr/>
            <p:nvPr/>
          </p:nvSpPr>
          <p:spPr>
            <a:xfrm>
              <a:off x="7905750" y="2857500"/>
              <a:ext cx="2857500" cy="190500"/>
            </a:xfrm>
            <a:prstGeom prst="roundRect">
              <a:avLst>
                <a:gd name="adj" fmla="val 30000"/>
              </a:avLst>
            </a:prstGeom>
            <a:solidFill>
              <a:srgbClr val="0E2334"/>
            </a:solidFill>
            <a:ln w="9525">
              <a:solidFill>
                <a:srgbClr val="26455F"/>
              </a:solidFill>
            </a:ln>
          </p:spPr>
        </p:sp>
        <p:sp>
          <p:nvSpPr>
            <p:cNvPr id="39" name="Rectangle 39"/>
            <p:cNvSpPr/>
            <p:nvPr/>
          </p:nvSpPr>
          <p:spPr>
            <a:xfrm>
              <a:off x="7905750" y="2857500"/>
              <a:ext cx="2857500" cy="190500"/>
            </a:xfrm>
            <a:prstGeom prst="roundRect">
              <a:avLst>
                <a:gd name="adj" fmla="val 30000"/>
              </a:avLst>
            </a:prstGeom>
            <a:solidFill>
              <a:srgbClr val="F2685C"/>
            </a:solidFill>
            <a:ln>
              <a:noFill/>
            </a:ln>
          </p:spPr>
        </p:sp>
        <p:sp>
          <p:nvSpPr>
            <p:cNvPr id="40" name="TextBox 40"/>
            <p:cNvSpPr txBox="1"/>
            <p:nvPr/>
          </p:nvSpPr>
          <p:spPr>
            <a:xfrm>
              <a:off x="7207284" y="2881312"/>
              <a:ext cx="58950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no scale</a:t>
              </a:r>
            </a:p>
          </p:txBody>
        </p:sp>
        <p:sp>
          <p:nvSpPr>
            <p:cNvPr id="41" name="TextBox 41"/>
            <p:cNvSpPr txBox="1"/>
            <p:nvPr/>
          </p:nvSpPr>
          <p:spPr>
            <a:xfrm>
              <a:off x="10853166" y="2881312"/>
              <a:ext cx="381714"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32 ep</a:t>
              </a:r>
            </a:p>
          </p:txBody>
        </p:sp>
        <p:sp>
          <p:nvSpPr>
            <p:cNvPr id="42" name="Rectangle 42"/>
            <p:cNvSpPr/>
            <p:nvPr/>
          </p:nvSpPr>
          <p:spPr>
            <a:xfrm>
              <a:off x="7905750" y="3105150"/>
              <a:ext cx="2857500" cy="190500"/>
            </a:xfrm>
            <a:prstGeom prst="roundRect">
              <a:avLst>
                <a:gd name="adj" fmla="val 30000"/>
              </a:avLst>
            </a:prstGeom>
            <a:solidFill>
              <a:srgbClr val="0E2334"/>
            </a:solidFill>
            <a:ln w="9525">
              <a:solidFill>
                <a:srgbClr val="26455F"/>
              </a:solidFill>
            </a:ln>
          </p:spPr>
        </p:sp>
        <p:sp>
          <p:nvSpPr>
            <p:cNvPr id="43" name="Rectangle 43"/>
            <p:cNvSpPr/>
            <p:nvPr/>
          </p:nvSpPr>
          <p:spPr>
            <a:xfrm>
              <a:off x="7905750" y="3105150"/>
              <a:ext cx="2228850" cy="190500"/>
            </a:xfrm>
            <a:prstGeom prst="roundRect">
              <a:avLst>
                <a:gd name="adj" fmla="val 30000"/>
              </a:avLst>
            </a:prstGeom>
            <a:solidFill>
              <a:srgbClr val="F2C14E"/>
            </a:solidFill>
            <a:ln>
              <a:noFill/>
            </a:ln>
          </p:spPr>
        </p:sp>
        <p:sp>
          <p:nvSpPr>
            <p:cNvPr id="44" name="TextBox 44"/>
            <p:cNvSpPr txBox="1"/>
            <p:nvPr/>
          </p:nvSpPr>
          <p:spPr>
            <a:xfrm>
              <a:off x="7044023" y="3128962"/>
              <a:ext cx="75276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scaled res</a:t>
              </a:r>
            </a:p>
          </p:txBody>
        </p:sp>
        <p:sp>
          <p:nvSpPr>
            <p:cNvPr id="45" name="TextBox 45"/>
            <p:cNvSpPr txBox="1"/>
            <p:nvPr/>
          </p:nvSpPr>
          <p:spPr>
            <a:xfrm>
              <a:off x="10224516" y="3128962"/>
              <a:ext cx="381714"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25 ep</a:t>
              </a:r>
            </a:p>
          </p:txBody>
        </p:sp>
      </p:grpSp>
      <p:grpSp>
        <p:nvGrpSpPr>
          <p:cNvPr id="55" name="Group 55"/>
          <p:cNvGrpSpPr/>
          <p:nvPr/>
        </p:nvGrpSpPr>
        <p:grpSpPr>
          <a:xfrm>
            <a:off x="6248400" y="3486150"/>
            <a:ext cx="5334000" cy="1752600"/>
            <a:chOff x="6248400" y="3486150"/>
            <a:chExt cx="5334000" cy="1752600"/>
          </a:xfrm>
        </p:grpSpPr>
        <p:sp>
          <p:nvSpPr>
            <p:cNvPr id="47" name="Rectangle 47"/>
            <p:cNvSpPr/>
            <p:nvPr/>
          </p:nvSpPr>
          <p:spPr>
            <a:xfrm>
              <a:off x="6248400" y="3486150"/>
              <a:ext cx="5334000" cy="1752600"/>
            </a:xfrm>
            <a:prstGeom prst="roundRect">
              <a:avLst>
                <a:gd name="adj" fmla="val 7609"/>
              </a:avLst>
            </a:prstGeom>
            <a:solidFill>
              <a:srgbClr val="0F2E2B"/>
            </a:solidFill>
            <a:ln w="14288">
              <a:solidFill>
                <a:srgbClr val="48C78E"/>
              </a:solidFill>
            </a:ln>
          </p:spPr>
        </p:sp>
        <p:sp>
          <p:nvSpPr>
            <p:cNvPr id="48" name="Rectangle 48"/>
            <p:cNvSpPr/>
            <p:nvPr/>
          </p:nvSpPr>
          <p:spPr>
            <a:xfrm>
              <a:off x="6248400" y="3486150"/>
              <a:ext cx="57150" cy="1752600"/>
            </a:xfrm>
            <a:prstGeom prst="roundRect">
              <a:avLst>
                <a:gd name="adj" fmla="val 50000"/>
              </a:avLst>
            </a:prstGeom>
            <a:solidFill>
              <a:srgbClr val="48C78E"/>
            </a:solidFill>
            <a:ln>
              <a:noFill/>
            </a:ln>
          </p:spPr>
        </p:sp>
        <p:sp>
          <p:nvSpPr>
            <p:cNvPr id="49" name="TextBox 49"/>
            <p:cNvSpPr txBox="1"/>
            <p:nvPr/>
          </p:nvSpPr>
          <p:spPr>
            <a:xfrm>
              <a:off x="6509194" y="3722608"/>
              <a:ext cx="2878262"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Temporal and spatial are orthogonal</a:t>
              </a:r>
            </a:p>
          </p:txBody>
        </p:sp>
        <p:sp>
          <p:nvSpPr>
            <p:cNvPr id="50" name="TextBox 50"/>
            <p:cNvSpPr txBox="1"/>
            <p:nvPr/>
          </p:nvSpPr>
          <p:spPr>
            <a:xfrm>
              <a:off x="6509766" y="4020502"/>
              <a:ext cx="374673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Temporal and spatial reversibility are independent and</a:t>
              </a:r>
            </a:p>
          </p:txBody>
        </p:sp>
        <p:sp>
          <p:nvSpPr>
            <p:cNvPr id="51" name="TextBox 51"/>
            <p:cNvSpPr txBox="1"/>
            <p:nvPr/>
          </p:nvSpPr>
          <p:spPr>
            <a:xfrm>
              <a:off x="6509766" y="4220528"/>
              <a:ext cx="353737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can be stacked together for even greater savings.</a:t>
              </a:r>
            </a:p>
          </p:txBody>
        </p:sp>
        <p:sp>
          <p:nvSpPr>
            <p:cNvPr id="52" name="Rectangle 52"/>
            <p:cNvSpPr/>
            <p:nvPr/>
          </p:nvSpPr>
          <p:spPr>
            <a:xfrm>
              <a:off x="6515100" y="4762500"/>
              <a:ext cx="4800600" cy="323850"/>
            </a:xfrm>
            <a:prstGeom prst="roundRect">
              <a:avLst>
                <a:gd name="adj" fmla="val 23529"/>
              </a:avLst>
            </a:prstGeom>
            <a:solidFill>
              <a:schemeClr val="accent6"/>
            </a:solidFill>
            <a:ln w="14288">
              <a:solidFill>
                <a:srgbClr val="26455F"/>
              </a:solidFill>
            </a:ln>
          </p:spPr>
        </p:sp>
        <p:sp>
          <p:nvSpPr>
            <p:cNvPr id="53" name="Ellipse 53"/>
            <p:cNvSpPr/>
            <p:nvPr/>
          </p:nvSpPr>
          <p:spPr>
            <a:xfrm>
              <a:off x="6638925" y="4876800"/>
              <a:ext cx="95250" cy="95250"/>
            </a:xfrm>
            <a:prstGeom prst="ellipse">
              <a:avLst/>
            </a:prstGeom>
            <a:solidFill>
              <a:srgbClr val="48C78E"/>
            </a:solidFill>
            <a:ln>
              <a:noFill/>
            </a:ln>
          </p:spPr>
        </p:sp>
        <p:sp>
          <p:nvSpPr>
            <p:cNvPr id="54" name="TextBox 54"/>
            <p:cNvSpPr txBox="1"/>
            <p:nvPr/>
          </p:nvSpPr>
          <p:spPr>
            <a:xfrm>
              <a:off x="6833426" y="4864179"/>
              <a:ext cx="335442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temporal + spatial reversibility -&gt; stackable</a:t>
              </a:r>
            </a:p>
          </p:txBody>
        </p:sp>
      </p:grpSp>
      <p:sp>
        <p:nvSpPr>
          <p:cNvPr id="56" name="cue_s08_c1_ablations_show_design_choice_earns" title="cue_s08_c1_ablations_show_design_choice_earns" descr="cue_s08_c1_ablations_show_design_choice_earns The ablations show that each design choice earns its place. Simply applying temporal reversibility to a standard MS-ResNet-34 slashes training memory from 267 down to 88 megabytes per image and cuts epoch time from 11.2 to 7.4 minutes, at the cost of only abou"/>
          <p:cNvSpPr/>
          <p:nvPr/>
        </p:nvSpPr>
        <p:spPr>
          <a:xfrm>
            <a:off x="609600" y="1504645"/>
            <a:ext cx="5334000" cy="24956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8_c2_multi_level_temporal_fusion_between" title="cue_s08_c2_multi_level_temporal_fusion_between" descr="cue_s08_c2_multi_level_temporal_fusion_between The multi-level temporal fusion between stages is worth roughly 1.2 points of accuracy on its own."/>
          <p:cNvSpPr/>
          <p:nvPr/>
        </p:nvSpPr>
        <p:spPr>
          <a:xfrm>
            <a:off x="609600" y="4153204"/>
            <a:ext cx="5334000" cy="1085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8_c3_varying_number_timesteps_trades_accu" title="cue_s08_c3_varying_number_timesteps_trades_accu" descr="cue_s08_c3_varying_number_timesteps_trades_accu Varying the number of timesteps trades accuracy against cost, and the scaled residual connection helps the model converge noticeably faster, reaching 60 percent accuracy in 25 epochs instead of 32."/>
          <p:cNvSpPr/>
          <p:nvPr/>
        </p:nvSpPr>
        <p:spPr>
          <a:xfrm>
            <a:off x="6248399" y="1504645"/>
            <a:ext cx="5334000" cy="182971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8_c4_authors_also_confirm_temporal_spatia" title="cue_s08_c4_authors_also_confirm_temporal_spatia" descr="cue_s08_c4_authors_also_confirm_temporal_spatia The authors also confirm that temporal and spatial reversibility are orthogonal and can be stacked together."/>
          <p:cNvSpPr/>
          <p:nvPr/>
        </p:nvSpPr>
        <p:spPr>
          <a:xfrm>
            <a:off x="6248399" y="348592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6747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results in one place</a:t>
            </a:r>
          </a:p>
        </p:txBody>
      </p:sp>
      <p:grpSp>
        <p:nvGrpSpPr>
          <p:cNvPr id="17" name="Group 17"/>
          <p:cNvGrpSpPr/>
          <p:nvPr/>
        </p:nvGrpSpPr>
        <p:grpSpPr>
          <a:xfrm>
            <a:off x="609600" y="1600200"/>
            <a:ext cx="10972800" cy="1733550"/>
            <a:chOff x="609600" y="1600200"/>
            <a:chExt cx="10972800" cy="1733550"/>
          </a:xfrm>
        </p:grpSpPr>
        <p:sp>
          <p:nvSpPr>
            <p:cNvPr id="5" name="Rectangle 5"/>
            <p:cNvSpPr/>
            <p:nvPr/>
          </p:nvSpPr>
          <p:spPr>
            <a:xfrm>
              <a:off x="609600" y="1600200"/>
              <a:ext cx="10972800" cy="1733550"/>
            </a:xfrm>
            <a:prstGeom prst="roundRect">
              <a:avLst>
                <a:gd name="adj" fmla="val 7692"/>
              </a:avLst>
            </a:prstGeom>
            <a:solidFill>
              <a:srgbClr val="2A2417"/>
            </a:solidFill>
            <a:ln w="14288">
              <a:solidFill>
                <a:srgbClr val="F2C14E"/>
              </a:solidFill>
            </a:ln>
          </p:spPr>
        </p:sp>
        <p:sp>
          <p:nvSpPr>
            <p:cNvPr id="6" name="Rectangle 6"/>
            <p:cNvSpPr/>
            <p:nvPr/>
          </p:nvSpPr>
          <p:spPr>
            <a:xfrm>
              <a:off x="609600" y="1600200"/>
              <a:ext cx="57150" cy="1733550"/>
            </a:xfrm>
            <a:prstGeom prst="roundRect">
              <a:avLst>
                <a:gd name="adj" fmla="val 50000"/>
              </a:avLst>
            </a:prstGeom>
            <a:solidFill>
              <a:srgbClr val="F2C14E"/>
            </a:solidFill>
            <a:ln>
              <a:noFill/>
            </a:ln>
          </p:spPr>
        </p:sp>
        <p:sp>
          <p:nvSpPr>
            <p:cNvPr id="7" name="TextBox 7"/>
            <p:cNvSpPr txBox="1"/>
            <p:nvPr/>
          </p:nvSpPr>
          <p:spPr>
            <a:xfrm>
              <a:off x="869823" y="1843564"/>
              <a:ext cx="5121176"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vs a leading spiking Transformer, at comparable accuracy</a:t>
              </a:r>
            </a:p>
          </p:txBody>
        </p:sp>
        <p:sp>
          <p:nvSpPr>
            <p:cNvPr id="8" name="Rectangle 8"/>
            <p:cNvSpPr/>
            <p:nvPr/>
          </p:nvSpPr>
          <p:spPr>
            <a:xfrm>
              <a:off x="1143000" y="2209800"/>
              <a:ext cx="3200400" cy="933450"/>
            </a:xfrm>
            <a:prstGeom prst="roundRect">
              <a:avLst>
                <a:gd name="adj" fmla="val 12245"/>
              </a:avLst>
            </a:prstGeom>
            <a:solidFill>
              <a:schemeClr val="accent6"/>
            </a:solidFill>
            <a:ln w="14288">
              <a:solidFill>
                <a:srgbClr val="26455F"/>
              </a:solidFill>
            </a:ln>
          </p:spPr>
        </p:sp>
        <p:sp>
          <p:nvSpPr>
            <p:cNvPr id="9" name="TextBox 9"/>
            <p:cNvSpPr txBox="1"/>
            <p:nvPr/>
          </p:nvSpPr>
          <p:spPr>
            <a:xfrm>
              <a:off x="2381926" y="2500312"/>
              <a:ext cx="72254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8.6x</a:t>
              </a:r>
            </a:p>
          </p:txBody>
        </p:sp>
        <p:sp>
          <p:nvSpPr>
            <p:cNvPr id="10" name="TextBox 10"/>
            <p:cNvSpPr txBox="1"/>
            <p:nvPr/>
          </p:nvSpPr>
          <p:spPr>
            <a:xfrm>
              <a:off x="1901357" y="2889647"/>
              <a:ext cx="168368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better memory efficiency</a:t>
              </a:r>
            </a:p>
          </p:txBody>
        </p:sp>
        <p:sp>
          <p:nvSpPr>
            <p:cNvPr id="11" name="Rectangle 11"/>
            <p:cNvSpPr/>
            <p:nvPr/>
          </p:nvSpPr>
          <p:spPr>
            <a:xfrm>
              <a:off x="4495800" y="2209800"/>
              <a:ext cx="3200400" cy="933450"/>
            </a:xfrm>
            <a:prstGeom prst="roundRect">
              <a:avLst>
                <a:gd name="adj" fmla="val 12245"/>
              </a:avLst>
            </a:prstGeom>
            <a:solidFill>
              <a:schemeClr val="accent6"/>
            </a:solidFill>
            <a:ln w="14288">
              <a:solidFill>
                <a:srgbClr val="26455F"/>
              </a:solidFill>
            </a:ln>
          </p:spPr>
        </p:sp>
        <p:sp>
          <p:nvSpPr>
            <p:cNvPr id="12" name="TextBox 12"/>
            <p:cNvSpPr txBox="1"/>
            <p:nvPr/>
          </p:nvSpPr>
          <p:spPr>
            <a:xfrm>
              <a:off x="5734726" y="2500312"/>
              <a:ext cx="72254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2.0x</a:t>
              </a:r>
            </a:p>
          </p:txBody>
        </p:sp>
        <p:sp>
          <p:nvSpPr>
            <p:cNvPr id="13" name="TextBox 13"/>
            <p:cNvSpPr txBox="1"/>
            <p:nvPr/>
          </p:nvSpPr>
          <p:spPr>
            <a:xfrm>
              <a:off x="5592975" y="2889647"/>
              <a:ext cx="100605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faster training</a:t>
              </a:r>
            </a:p>
          </p:txBody>
        </p:sp>
        <p:sp>
          <p:nvSpPr>
            <p:cNvPr id="14" name="Rectangle 14"/>
            <p:cNvSpPr/>
            <p:nvPr/>
          </p:nvSpPr>
          <p:spPr>
            <a:xfrm>
              <a:off x="7848600" y="2209800"/>
              <a:ext cx="3200400" cy="933450"/>
            </a:xfrm>
            <a:prstGeom prst="roundRect">
              <a:avLst>
                <a:gd name="adj" fmla="val 12245"/>
              </a:avLst>
            </a:prstGeom>
            <a:solidFill>
              <a:schemeClr val="accent6"/>
            </a:solidFill>
            <a:ln w="14288">
              <a:solidFill>
                <a:srgbClr val="26455F"/>
              </a:solidFill>
            </a:ln>
          </p:spPr>
        </p:sp>
        <p:sp>
          <p:nvSpPr>
            <p:cNvPr id="15" name="TextBox 15"/>
            <p:cNvSpPr txBox="1"/>
            <p:nvPr/>
          </p:nvSpPr>
          <p:spPr>
            <a:xfrm>
              <a:off x="9087526" y="2500312"/>
              <a:ext cx="72254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1.6x</a:t>
              </a:r>
            </a:p>
          </p:txBody>
        </p:sp>
        <p:sp>
          <p:nvSpPr>
            <p:cNvPr id="16" name="TextBox 16"/>
            <p:cNvSpPr txBox="1"/>
            <p:nvPr/>
          </p:nvSpPr>
          <p:spPr>
            <a:xfrm>
              <a:off x="8693322" y="2889647"/>
              <a:ext cx="151095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lower inference energy</a:t>
              </a:r>
            </a:p>
          </p:txBody>
        </p:sp>
      </p:grpSp>
      <p:grpSp>
        <p:nvGrpSpPr>
          <p:cNvPr id="30" name="Group 30"/>
          <p:cNvGrpSpPr/>
          <p:nvPr/>
        </p:nvGrpSpPr>
        <p:grpSpPr>
          <a:xfrm>
            <a:off x="609600" y="3486150"/>
            <a:ext cx="5334000" cy="1752600"/>
            <a:chOff x="609600" y="3486150"/>
            <a:chExt cx="5334000" cy="1752600"/>
          </a:xfrm>
        </p:grpSpPr>
        <p:sp>
          <p:nvSpPr>
            <p:cNvPr id="18" name="Rectangle 18"/>
            <p:cNvSpPr/>
            <p:nvPr/>
          </p:nvSpPr>
          <p:spPr>
            <a:xfrm>
              <a:off x="609600" y="3486150"/>
              <a:ext cx="5334000" cy="1752600"/>
            </a:xfrm>
            <a:prstGeom prst="roundRect">
              <a:avLst>
                <a:gd name="adj" fmla="val 7609"/>
              </a:avLst>
            </a:prstGeom>
            <a:solidFill>
              <a:schemeClr val="accent5"/>
            </a:solidFill>
            <a:ln w="14288">
              <a:solidFill>
                <a:srgbClr val="26455F"/>
              </a:solidFill>
            </a:ln>
          </p:spPr>
        </p:sp>
        <p:sp>
          <p:nvSpPr>
            <p:cNvPr id="19" name="Rectangle 19"/>
            <p:cNvSpPr/>
            <p:nvPr/>
          </p:nvSpPr>
          <p:spPr>
            <a:xfrm>
              <a:off x="609600" y="3486150"/>
              <a:ext cx="57150" cy="1752600"/>
            </a:xfrm>
            <a:prstGeom prst="roundRect">
              <a:avLst>
                <a:gd name="adj" fmla="val 50000"/>
              </a:avLst>
            </a:prstGeom>
            <a:solidFill>
              <a:srgbClr val="48C78E"/>
            </a:solidFill>
            <a:ln>
              <a:noFill/>
            </a:ln>
          </p:spPr>
        </p:sp>
        <p:sp>
          <p:nvSpPr>
            <p:cNvPr id="20" name="TextBox 20"/>
            <p:cNvSpPr txBox="1"/>
            <p:nvPr/>
          </p:nvSpPr>
          <p:spPr>
            <a:xfrm>
              <a:off x="870014" y="3714512"/>
              <a:ext cx="1084067"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ImageNet-1K</a:t>
              </a:r>
            </a:p>
          </p:txBody>
        </p:sp>
        <p:sp>
          <p:nvSpPr>
            <p:cNvPr id="21" name="Rectangle 21"/>
            <p:cNvSpPr/>
            <p:nvPr/>
          </p:nvSpPr>
          <p:spPr>
            <a:xfrm>
              <a:off x="876300" y="4038600"/>
              <a:ext cx="1562100" cy="990600"/>
            </a:xfrm>
            <a:prstGeom prst="roundRect">
              <a:avLst>
                <a:gd name="adj" fmla="val 11538"/>
              </a:avLst>
            </a:prstGeom>
            <a:solidFill>
              <a:schemeClr val="accent6"/>
            </a:solidFill>
            <a:ln w="14288">
              <a:solidFill>
                <a:srgbClr val="26455F"/>
              </a:solidFill>
            </a:ln>
          </p:spPr>
        </p:sp>
        <p:sp>
          <p:nvSpPr>
            <p:cNvPr id="22" name="TextBox 22"/>
            <p:cNvSpPr txBox="1"/>
            <p:nvPr/>
          </p:nvSpPr>
          <p:spPr>
            <a:xfrm>
              <a:off x="1176811" y="4329112"/>
              <a:ext cx="961077"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73.2%</a:t>
              </a:r>
            </a:p>
          </p:txBody>
        </p:sp>
        <p:sp>
          <p:nvSpPr>
            <p:cNvPr id="23" name="TextBox 23"/>
            <p:cNvSpPr txBox="1"/>
            <p:nvPr/>
          </p:nvSpPr>
          <p:spPr>
            <a:xfrm>
              <a:off x="1157647" y="4718447"/>
              <a:ext cx="99940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top-1 accuracy</a:t>
              </a:r>
            </a:p>
          </p:txBody>
        </p:sp>
        <p:sp>
          <p:nvSpPr>
            <p:cNvPr id="24" name="Rectangle 24"/>
            <p:cNvSpPr/>
            <p:nvPr/>
          </p:nvSpPr>
          <p:spPr>
            <a:xfrm>
              <a:off x="2590800" y="4038600"/>
              <a:ext cx="1562100" cy="990600"/>
            </a:xfrm>
            <a:prstGeom prst="roundRect">
              <a:avLst>
                <a:gd name="adj" fmla="val 11538"/>
              </a:avLst>
            </a:prstGeom>
            <a:solidFill>
              <a:schemeClr val="accent6"/>
            </a:solidFill>
            <a:ln w="14288">
              <a:solidFill>
                <a:srgbClr val="26455F"/>
              </a:solidFill>
            </a:ln>
          </p:spPr>
        </p:sp>
        <p:sp>
          <p:nvSpPr>
            <p:cNvPr id="25" name="TextBox 25"/>
            <p:cNvSpPr txBox="1"/>
            <p:nvPr/>
          </p:nvSpPr>
          <p:spPr>
            <a:xfrm>
              <a:off x="2721940" y="4329112"/>
              <a:ext cx="1299820"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85.7 MB</a:t>
              </a:r>
            </a:p>
          </p:txBody>
        </p:sp>
        <p:sp>
          <p:nvSpPr>
            <p:cNvPr id="26" name="TextBox 26"/>
            <p:cNvSpPr txBox="1"/>
            <p:nvPr/>
          </p:nvSpPr>
          <p:spPr>
            <a:xfrm>
              <a:off x="2865503" y="4718447"/>
              <a:ext cx="101269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memory / image</a:t>
              </a:r>
            </a:p>
          </p:txBody>
        </p:sp>
        <p:sp>
          <p:nvSpPr>
            <p:cNvPr id="27" name="Rectangle 27"/>
            <p:cNvSpPr/>
            <p:nvPr/>
          </p:nvSpPr>
          <p:spPr>
            <a:xfrm>
              <a:off x="4305300" y="4038600"/>
              <a:ext cx="1485900" cy="990600"/>
            </a:xfrm>
            <a:prstGeom prst="roundRect">
              <a:avLst>
                <a:gd name="adj" fmla="val 11538"/>
              </a:avLst>
            </a:prstGeom>
            <a:solidFill>
              <a:schemeClr val="accent6"/>
            </a:solidFill>
            <a:ln w="14288">
              <a:solidFill>
                <a:srgbClr val="26455F"/>
              </a:solidFill>
            </a:ln>
          </p:spPr>
        </p:sp>
        <p:sp>
          <p:nvSpPr>
            <p:cNvPr id="28" name="TextBox 28"/>
            <p:cNvSpPr txBox="1"/>
            <p:nvPr/>
          </p:nvSpPr>
          <p:spPr>
            <a:xfrm>
              <a:off x="4505379" y="4329112"/>
              <a:ext cx="1085743"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2.8 mJ</a:t>
              </a:r>
            </a:p>
          </p:txBody>
        </p:sp>
        <p:sp>
          <p:nvSpPr>
            <p:cNvPr id="29" name="TextBox 29"/>
            <p:cNvSpPr txBox="1"/>
            <p:nvPr/>
          </p:nvSpPr>
          <p:spPr>
            <a:xfrm>
              <a:off x="4601695" y="4718447"/>
              <a:ext cx="89311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per inference</a:t>
              </a:r>
            </a:p>
          </p:txBody>
        </p:sp>
      </p:grpSp>
      <p:grpSp>
        <p:nvGrpSpPr>
          <p:cNvPr id="38" name="Group 38"/>
          <p:cNvGrpSpPr/>
          <p:nvPr/>
        </p:nvGrpSpPr>
        <p:grpSpPr>
          <a:xfrm>
            <a:off x="6248400" y="3486150"/>
            <a:ext cx="5334000" cy="1752600"/>
            <a:chOff x="6248400" y="3486150"/>
            <a:chExt cx="5334000" cy="1752600"/>
          </a:xfrm>
        </p:grpSpPr>
        <p:sp>
          <p:nvSpPr>
            <p:cNvPr id="31" name="Rectangle 31"/>
            <p:cNvSpPr/>
            <p:nvPr/>
          </p:nvSpPr>
          <p:spPr>
            <a:xfrm>
              <a:off x="6248400" y="3486150"/>
              <a:ext cx="5334000" cy="1752600"/>
            </a:xfrm>
            <a:prstGeom prst="roundRect">
              <a:avLst>
                <a:gd name="adj" fmla="val 7609"/>
              </a:avLst>
            </a:prstGeom>
            <a:solidFill>
              <a:schemeClr val="accent5"/>
            </a:solidFill>
            <a:ln w="14288">
              <a:solidFill>
                <a:srgbClr val="26455F"/>
              </a:solidFill>
            </a:ln>
          </p:spPr>
        </p:sp>
        <p:sp>
          <p:nvSpPr>
            <p:cNvPr id="32" name="Rectangle 32"/>
            <p:cNvSpPr/>
            <p:nvPr/>
          </p:nvSpPr>
          <p:spPr>
            <a:xfrm>
              <a:off x="6248400" y="3486150"/>
              <a:ext cx="57150" cy="1752600"/>
            </a:xfrm>
            <a:prstGeom prst="roundRect">
              <a:avLst>
                <a:gd name="adj" fmla="val 50000"/>
              </a:avLst>
            </a:prstGeom>
            <a:solidFill>
              <a:schemeClr val="accent2"/>
            </a:solidFill>
            <a:ln>
              <a:noFill/>
            </a:ln>
          </p:spPr>
        </p:sp>
        <p:sp>
          <p:nvSpPr>
            <p:cNvPr id="33" name="TextBox 33"/>
            <p:cNvSpPr txBox="1"/>
            <p:nvPr/>
          </p:nvSpPr>
          <p:spPr>
            <a:xfrm>
              <a:off x="6509194" y="3722608"/>
              <a:ext cx="3329304"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And the complexity that makes it possible</a:t>
              </a:r>
            </a:p>
          </p:txBody>
        </p:sp>
        <p:sp>
          <p:nvSpPr>
            <p:cNvPr id="34" name="Rectangle 34"/>
            <p:cNvSpPr/>
            <p:nvPr/>
          </p:nvSpPr>
          <p:spPr>
            <a:xfrm>
              <a:off x="6515100" y="4114800"/>
              <a:ext cx="4800600" cy="457200"/>
            </a:xfrm>
            <a:prstGeom prst="roundRect">
              <a:avLst>
                <a:gd name="adj" fmla="val 16667"/>
              </a:avLst>
            </a:prstGeom>
            <a:solidFill>
              <a:schemeClr val="accent6"/>
            </a:solidFill>
            <a:ln w="14288">
              <a:solidFill>
                <a:srgbClr val="26455F"/>
              </a:solidFill>
            </a:ln>
          </p:spPr>
        </p:sp>
        <p:sp>
          <p:nvSpPr>
            <p:cNvPr id="35" name="TextBox 35"/>
            <p:cNvSpPr txBox="1"/>
            <p:nvPr/>
          </p:nvSpPr>
          <p:spPr>
            <a:xfrm>
              <a:off x="7931352" y="4271010"/>
              <a:ext cx="1968096"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Consolas"/>
                  <a:ea typeface="Consolas"/>
                  <a:cs typeface="Consolas"/>
                </a:rPr>
                <a:t>training memory = O(L)</a:t>
              </a:r>
            </a:p>
          </p:txBody>
        </p:sp>
        <p:sp>
          <p:nvSpPr>
            <p:cNvPr id="36" name="Rectangle 36"/>
            <p:cNvSpPr/>
            <p:nvPr/>
          </p:nvSpPr>
          <p:spPr>
            <a:xfrm>
              <a:off x="6515100" y="4686300"/>
              <a:ext cx="4800600" cy="457200"/>
            </a:xfrm>
            <a:prstGeom prst="roundRect">
              <a:avLst>
                <a:gd name="adj" fmla="val 16667"/>
              </a:avLst>
            </a:prstGeom>
            <a:solidFill>
              <a:schemeClr val="accent6"/>
            </a:solidFill>
            <a:ln w="14288">
              <a:solidFill>
                <a:srgbClr val="26455F"/>
              </a:solidFill>
            </a:ln>
          </p:spPr>
        </p:sp>
        <p:sp>
          <p:nvSpPr>
            <p:cNvPr id="37" name="TextBox 37"/>
            <p:cNvSpPr txBox="1"/>
            <p:nvPr/>
          </p:nvSpPr>
          <p:spPr>
            <a:xfrm>
              <a:off x="7993904" y="4842510"/>
              <a:ext cx="1842992"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Consolas"/>
                  <a:ea typeface="Consolas"/>
                  <a:cs typeface="Consolas"/>
                </a:rPr>
                <a:t>inference cost = O(1)</a:t>
              </a:r>
            </a:p>
          </p:txBody>
        </p:sp>
      </p:grpSp>
      <p:sp>
        <p:nvSpPr>
          <p:cNvPr id="39" name="cue_s09_c1_summarize_numbers_matter_most_agains" title="cue_s09_c1_summarize_numbers_matter_most_agains" descr="cue_s09_c1_summarize_numbers_matter_most_agains To summarize the numbers that matter most: against a leading spiking Transformer at comparable accuracy, T-RevSNN delivers 8.6 times better memory efficiency, 2 times faster training, and 1.6 times lower inference energy."/>
          <p:cNvSpPr/>
          <p:nvPr/>
        </p:nvSpPr>
        <p:spPr>
          <a:xfrm>
            <a:off x="609600" y="1599971"/>
            <a:ext cx="10972800" cy="17337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9_c2_reaches_73_2_percent_top_1_accuracy" title="cue_s09_c2_reaches_73_2_percent_top_1_accuracy" descr="cue_s09_c2_reaches_73_2_percent_top_1_accuracy It reaches 73.2 percent top-1 accuracy on ImageNet-1K, using just 85.7 megabytes of memory per image and 2.8 millijoules per inference."/>
          <p:cNvSpPr/>
          <p:nvPr/>
        </p:nvSpPr>
        <p:spPr>
          <a:xfrm>
            <a:off x="609600" y="348592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9_c3_achieves_all_order_memory_order" title="cue_s09_c3_achieves_all_order_memory_order" descr="cue_s09_c3_achieves_all_order_memory_order And it achieves all of this with order L training memory and order one inference cost."/>
          <p:cNvSpPr/>
          <p:nvPr/>
        </p:nvSpPr>
        <p:spPr>
          <a:xfrm>
            <a:off x="6248399" y="348592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782559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You don't need full temporal dynamics everywhere</a:t>
            </a:r>
          </a:p>
        </p:txBody>
      </p:sp>
      <p:grpSp>
        <p:nvGrpSpPr>
          <p:cNvPr id="10" name="Group 10"/>
          <p:cNvGrpSpPr/>
          <p:nvPr/>
        </p:nvGrpSpPr>
        <p:grpSpPr>
          <a:xfrm>
            <a:off x="609600" y="1676400"/>
            <a:ext cx="10972800" cy="1104900"/>
            <a:chOff x="609600" y="1676400"/>
            <a:chExt cx="10972800" cy="1104900"/>
          </a:xfrm>
        </p:grpSpPr>
        <p:sp>
          <p:nvSpPr>
            <p:cNvPr id="5" name="Rectangle 5"/>
            <p:cNvSpPr/>
            <p:nvPr/>
          </p:nvSpPr>
          <p:spPr>
            <a:xfrm>
              <a:off x="609600" y="1676400"/>
              <a:ext cx="10972800" cy="1104900"/>
            </a:xfrm>
            <a:prstGeom prst="roundRect">
              <a:avLst>
                <a:gd name="adj" fmla="val 12069"/>
              </a:avLst>
            </a:prstGeom>
            <a:solidFill>
              <a:schemeClr val="accent5"/>
            </a:solidFill>
            <a:ln w="14288">
              <a:solidFill>
                <a:srgbClr val="26455F"/>
              </a:solidFill>
            </a:ln>
          </p:spPr>
        </p:sp>
        <p:sp>
          <p:nvSpPr>
            <p:cNvPr id="6" name="Rectangle 6"/>
            <p:cNvSpPr/>
            <p:nvPr/>
          </p:nvSpPr>
          <p:spPr>
            <a:xfrm>
              <a:off x="609600" y="1676400"/>
              <a:ext cx="57150" cy="1104900"/>
            </a:xfrm>
            <a:prstGeom prst="roundRect">
              <a:avLst>
                <a:gd name="adj" fmla="val 50000"/>
              </a:avLst>
            </a:prstGeom>
            <a:solidFill>
              <a:schemeClr val="accent2"/>
            </a:solidFill>
            <a:ln>
              <a:noFill/>
            </a:ln>
          </p:spPr>
        </p:sp>
        <p:sp>
          <p:nvSpPr>
            <p:cNvPr id="7" name="Ellipse 7"/>
            <p:cNvSpPr/>
            <p:nvPr/>
          </p:nvSpPr>
          <p:spPr>
            <a:xfrm>
              <a:off x="971550" y="2133600"/>
              <a:ext cx="190500" cy="190500"/>
            </a:xfrm>
            <a:prstGeom prst="ellipse">
              <a:avLst/>
            </a:prstGeom>
            <a:solidFill>
              <a:schemeClr val="accent2"/>
            </a:solidFill>
            <a:ln>
              <a:noFill/>
            </a:ln>
          </p:spPr>
        </p:sp>
        <p:sp>
          <p:nvSpPr>
            <p:cNvPr id="8" name="TextBox 8"/>
            <p:cNvSpPr txBox="1"/>
            <p:nvPr/>
          </p:nvSpPr>
          <p:spPr>
            <a:xfrm>
              <a:off x="1421511" y="1960721"/>
              <a:ext cx="200820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Drop the assumption</a:t>
              </a:r>
            </a:p>
          </p:txBody>
        </p:sp>
        <p:sp>
          <p:nvSpPr>
            <p:cNvPr id="9" name="TextBox 9"/>
            <p:cNvSpPr txBox="1"/>
            <p:nvPr/>
          </p:nvSpPr>
          <p:spPr>
            <a:xfrm>
              <a:off x="1423035" y="2297906"/>
              <a:ext cx="666566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You do not need full temporal dynamics at every neuron to build a capable spiking network.</a:t>
              </a:r>
            </a:p>
          </p:txBody>
        </p:sp>
      </p:grpSp>
      <p:grpSp>
        <p:nvGrpSpPr>
          <p:cNvPr id="18" name="Group 18"/>
          <p:cNvGrpSpPr/>
          <p:nvPr/>
        </p:nvGrpSpPr>
        <p:grpSpPr>
          <a:xfrm>
            <a:off x="609600" y="2933700"/>
            <a:ext cx="10972800" cy="1298734"/>
            <a:chOff x="609600" y="2933700"/>
            <a:chExt cx="10972800" cy="1298734"/>
          </a:xfrm>
        </p:grpSpPr>
        <p:sp>
          <p:nvSpPr>
            <p:cNvPr id="11" name="Rectangle 11"/>
            <p:cNvSpPr/>
            <p:nvPr/>
          </p:nvSpPr>
          <p:spPr>
            <a:xfrm>
              <a:off x="609600" y="2933700"/>
              <a:ext cx="10972800" cy="1104900"/>
            </a:xfrm>
            <a:prstGeom prst="roundRect">
              <a:avLst>
                <a:gd name="adj" fmla="val 12069"/>
              </a:avLst>
            </a:prstGeom>
            <a:solidFill>
              <a:schemeClr val="accent5"/>
            </a:solidFill>
            <a:ln w="14288">
              <a:solidFill>
                <a:srgbClr val="26455F"/>
              </a:solidFill>
            </a:ln>
          </p:spPr>
        </p:sp>
        <p:sp>
          <p:nvSpPr>
            <p:cNvPr id="12" name="Rectangle 12"/>
            <p:cNvSpPr/>
            <p:nvPr/>
          </p:nvSpPr>
          <p:spPr>
            <a:xfrm>
              <a:off x="609600" y="2933700"/>
              <a:ext cx="57150" cy="1104900"/>
            </a:xfrm>
            <a:prstGeom prst="roundRect">
              <a:avLst>
                <a:gd name="adj" fmla="val 50000"/>
              </a:avLst>
            </a:prstGeom>
            <a:solidFill>
              <a:srgbClr val="34D3C0"/>
            </a:solidFill>
            <a:ln>
              <a:noFill/>
            </a:ln>
          </p:spPr>
        </p:sp>
        <p:sp>
          <p:nvSpPr>
            <p:cNvPr id="13" name="Ellipse 13"/>
            <p:cNvSpPr/>
            <p:nvPr/>
          </p:nvSpPr>
          <p:spPr>
            <a:xfrm>
              <a:off x="971550" y="3390900"/>
              <a:ext cx="190500" cy="190500"/>
            </a:xfrm>
            <a:prstGeom prst="ellipse">
              <a:avLst/>
            </a:prstGeom>
            <a:solidFill>
              <a:srgbClr val="34D3C0"/>
            </a:solidFill>
            <a:ln>
              <a:noFill/>
            </a:ln>
          </p:spPr>
        </p:sp>
        <p:sp>
          <p:nvSpPr>
            <p:cNvPr id="14" name="TextBox 14"/>
            <p:cNvSpPr txBox="1"/>
            <p:nvPr/>
          </p:nvSpPr>
          <p:spPr>
            <a:xfrm>
              <a:off x="1421511" y="3218021"/>
              <a:ext cx="315307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Switch off most, reverse a few</a:t>
              </a:r>
            </a:p>
          </p:txBody>
        </p:sp>
        <p:sp>
          <p:nvSpPr>
            <p:cNvPr id="15" name="TextBox 15"/>
            <p:cNvSpPr txBox="1"/>
            <p:nvPr/>
          </p:nvSpPr>
          <p:spPr>
            <a:xfrm>
              <a:off x="1423035" y="3555206"/>
              <a:ext cx="677122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Because most temporal gradients are unimportant, turning off most temporal dynamics and</a:t>
              </a:r>
            </a:p>
          </p:txBody>
        </p:sp>
        <p:sp>
          <p:nvSpPr>
            <p:cNvPr id="16" name="TextBox 16"/>
            <p:cNvSpPr txBox="1"/>
            <p:nvPr/>
          </p:nvSpPr>
          <p:spPr>
            <a:xfrm>
              <a:off x="1423035" y="3783806"/>
              <a:ext cx="694074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making the few remaining connections reversible gives O(L) memory and O(1) inference, with</a:t>
              </a:r>
            </a:p>
          </p:txBody>
        </p:sp>
        <p:sp>
          <p:nvSpPr>
            <p:cNvPr id="17" name="TextBox 17"/>
            <p:cNvSpPr txBox="1"/>
            <p:nvPr/>
          </p:nvSpPr>
          <p:spPr>
            <a:xfrm>
              <a:off x="1423035" y="4012406"/>
              <a:ext cx="18433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almost no accuracy loss.</a:t>
              </a:r>
            </a:p>
          </p:txBody>
        </p:sp>
      </p:grpSp>
      <p:grpSp>
        <p:nvGrpSpPr>
          <p:cNvPr id="25" name="Group 25"/>
          <p:cNvGrpSpPr/>
          <p:nvPr/>
        </p:nvGrpSpPr>
        <p:grpSpPr>
          <a:xfrm>
            <a:off x="609600" y="4191000"/>
            <a:ext cx="10972800" cy="1104900"/>
            <a:chOff x="609600" y="4191000"/>
            <a:chExt cx="10972800" cy="1104900"/>
          </a:xfrm>
        </p:grpSpPr>
        <p:sp>
          <p:nvSpPr>
            <p:cNvPr id="19" name="Rectangle 19"/>
            <p:cNvSpPr/>
            <p:nvPr/>
          </p:nvSpPr>
          <p:spPr>
            <a:xfrm>
              <a:off x="609600" y="4191000"/>
              <a:ext cx="10972800" cy="1104900"/>
            </a:xfrm>
            <a:prstGeom prst="roundRect">
              <a:avLst>
                <a:gd name="adj" fmla="val 12069"/>
              </a:avLst>
            </a:prstGeom>
            <a:solidFill>
              <a:schemeClr val="accent5"/>
            </a:solidFill>
            <a:ln w="14288">
              <a:solidFill>
                <a:srgbClr val="26455F"/>
              </a:solidFill>
            </a:ln>
          </p:spPr>
        </p:sp>
        <p:sp>
          <p:nvSpPr>
            <p:cNvPr id="20" name="Rectangle 20"/>
            <p:cNvSpPr/>
            <p:nvPr/>
          </p:nvSpPr>
          <p:spPr>
            <a:xfrm>
              <a:off x="609600" y="4191000"/>
              <a:ext cx="57150" cy="1104900"/>
            </a:xfrm>
            <a:prstGeom prst="roundRect">
              <a:avLst>
                <a:gd name="adj" fmla="val 50000"/>
              </a:avLst>
            </a:prstGeom>
            <a:solidFill>
              <a:srgbClr val="48C78E"/>
            </a:solidFill>
            <a:ln>
              <a:noFill/>
            </a:ln>
          </p:spPr>
        </p:sp>
        <p:sp>
          <p:nvSpPr>
            <p:cNvPr id="21" name="Ellipse 21"/>
            <p:cNvSpPr/>
            <p:nvPr/>
          </p:nvSpPr>
          <p:spPr>
            <a:xfrm>
              <a:off x="971550" y="4648200"/>
              <a:ext cx="190500" cy="190500"/>
            </a:xfrm>
            <a:prstGeom prst="ellipse">
              <a:avLst/>
            </a:prstGeom>
            <a:solidFill>
              <a:srgbClr val="48C78E"/>
            </a:solidFill>
            <a:ln>
              <a:noFill/>
            </a:ln>
          </p:spPr>
        </p:sp>
        <p:sp>
          <p:nvSpPr>
            <p:cNvPr id="22" name="TextBox 22"/>
            <p:cNvSpPr txBox="1"/>
            <p:nvPr/>
          </p:nvSpPr>
          <p:spPr>
            <a:xfrm>
              <a:off x="1421511" y="4475321"/>
              <a:ext cx="356647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path to practical brain-inspired AI</a:t>
              </a:r>
            </a:p>
          </p:txBody>
        </p:sp>
        <p:sp>
          <p:nvSpPr>
            <p:cNvPr id="23" name="TextBox 23"/>
            <p:cNvSpPr txBox="1"/>
            <p:nvPr/>
          </p:nvSpPr>
          <p:spPr>
            <a:xfrm>
              <a:off x="1423035" y="4812506"/>
              <a:ext cx="68960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By removing the memory and training-time bottleneck, T-RevSNN opens a path toward larger,</a:t>
              </a:r>
            </a:p>
          </p:txBody>
        </p:sp>
        <p:sp>
          <p:nvSpPr>
            <p:cNvPr id="24" name="TextBox 24"/>
            <p:cNvSpPr txBox="1"/>
            <p:nvPr/>
          </p:nvSpPr>
          <p:spPr>
            <a:xfrm>
              <a:off x="1423035" y="5041106"/>
              <a:ext cx="404464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more practical, more energy-efficient spiking models.</a:t>
              </a:r>
            </a:p>
          </p:txBody>
        </p:sp>
      </p:grpSp>
      <p:sp>
        <p:nvSpPr>
          <p:cNvPr id="26" name="Line 26"/>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7" name="TextBox 27"/>
          <p:cNvSpPr txBox="1"/>
          <p:nvPr/>
        </p:nvSpPr>
        <p:spPr>
          <a:xfrm>
            <a:off x="603694" y="5894308"/>
            <a:ext cx="5066021"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High-Performance Temporal Reversible Spiking Neural Networks</a:t>
            </a:r>
          </a:p>
        </p:txBody>
      </p:sp>
      <p:sp>
        <p:nvSpPr>
          <p:cNvPr id="28" name="TextBox 28"/>
          <p:cNvSpPr txBox="1"/>
          <p:nvPr/>
        </p:nvSpPr>
        <p:spPr>
          <a:xfrm>
            <a:off x="604456" y="6177201"/>
            <a:ext cx="5913987"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ICML 2024 · Hu, Yao, Qiu, ... Li · arXiv:2405.16466 · github.com/BICLab/T-RevSNN</a:t>
            </a:r>
          </a:p>
        </p:txBody>
      </p:sp>
      <p:sp>
        <p:nvSpPr>
          <p:cNvPr id="29" name="cue_s10_c1_lasting_message_you_not_need" title="cue_s10_c1_lasting_message_you_not_need" descr="cue_s10_c1_lasting_message_you_not_need The lasting message of this paper is that you do not need full temporal dynamics everywhere to build a capable spiking network."/>
          <p:cNvSpPr/>
          <p:nvPr/>
        </p:nvSpPr>
        <p:spPr>
          <a:xfrm>
            <a:off x="609600" y="1676095"/>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10_c2_because_most_temporal_gradients_turn" title="cue_s10_c2_because_most_temporal_gradients_turn" descr="cue_s10_c2_because_most_temporal_gradients_turn Because most temporal gradients turn out to be unimportant, switching off the temporal dynamics of most neurons and making the few remaining connections reversible gives you order L training memory and order one inference cost, with almost no loss in accuracy."/>
          <p:cNvSpPr/>
          <p:nvPr/>
        </p:nvSpPr>
        <p:spPr>
          <a:xfrm>
            <a:off x="609600" y="2933852"/>
            <a:ext cx="10972800" cy="129890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3_removing_memory_training_time_bottle" title="cue_s10_c3_removing_memory_training_time_bottle" descr="cue_s10_c3_removing_memory_training_time_bottle By removing the memory and training-time bottleneck that has held spiking networks back, T-RevSNN opens a path toward larger, more practical, and more energy-efficient brain-inspired models."/>
          <p:cNvSpPr/>
          <p:nvPr/>
        </p:nvSpPr>
        <p:spPr>
          <a:xfrm>
            <a:off x="609600" y="4190923"/>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2026-07-16T09:42:54Z</dcterms:created>
  <dcterms:modified xsi:type="dcterms:W3CDTF">2026-07-16T09:42:54Z</dcterms:modified>
  <cp:category/>
  <cp:contentStatus/>
</cp:coreProperties>
</file>
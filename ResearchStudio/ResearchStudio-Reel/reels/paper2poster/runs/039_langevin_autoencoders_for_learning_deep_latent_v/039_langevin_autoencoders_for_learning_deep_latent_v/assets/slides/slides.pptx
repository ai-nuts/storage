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ae_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ae_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3318e27c9647a3f1.png"/><Relationship Id="rId3" Type="http://schemas.openxmlformats.org/officeDocument/2006/relationships/image" Target="../media/image_dc8b5290d6c85b73.png"/><Relationship Id="rId4" Type="http://schemas.openxmlformats.org/officeDocument/2006/relationships/image" Target="../media/image_e9774b2167286cac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ac51b8dec8b2763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30ddb73a46032d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2ea4faba738ae3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07aa39accc9268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p/>
        </p:txBody>
      </p:sp>
      <p:grpSp>
        <p:nvGrpSpPr>
          <p:cNvPr id="6" name="Group 6"/>
          <p:cNvGrpSpPr/>
          <p:nvPr/>
        </p:nvGrpSpPr>
        <p:grpSpPr>
          <a:xfrm>
            <a:off x="914400" y="762000"/>
            <a:ext cx="1895973" cy="302895"/>
            <a:chOff x="914400" y="762000"/>
            <a:chExt cx="1895973" cy="302895"/>
          </a:xfrm>
        </p:grpSpPr>
        <p:sp>
          <p:nvSpPr>
            <p:cNvPr id="4" name="Rectangle 4"/>
            <p:cNvSpPr/>
            <p:nvPr/>
          </p:nvSpPr>
          <p:spPr>
            <a:xfrm>
              <a:off x="914400" y="762000"/>
              <a:ext cx="20955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30630" y="771525"/>
              <a:ext cx="1579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NeurIPS 2022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6874" y="1389698"/>
            <a:ext cx="6513713" cy="1782127"/>
            <a:chOff x="896874" y="1389698"/>
            <a:chExt cx="6513713" cy="1782127"/>
          </a:xfrm>
        </p:grpSpPr>
        <p:sp>
          <p:nvSpPr>
            <p:cNvPr id="7" name="TextBox 7"/>
            <p:cNvSpPr txBox="1"/>
            <p:nvPr/>
          </p:nvSpPr>
          <p:spPr>
            <a:xfrm>
              <a:off x="896874" y="1389698"/>
              <a:ext cx="585073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Langevin Autoencoders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6874" y="1942148"/>
              <a:ext cx="651371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for Learning Deep Latent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6874" y="2494598"/>
              <a:ext cx="399128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Variable Models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3124200"/>
              <a:ext cx="142875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06018" y="3422332"/>
            <a:ext cx="7465023" cy="608457"/>
            <a:chOff x="906018" y="3422332"/>
            <a:chExt cx="7465023" cy="608457"/>
          </a:xfrm>
        </p:grpSpPr>
        <p:sp>
          <p:nvSpPr>
            <p:cNvPr id="12" name="TextBox 12"/>
            <p:cNvSpPr txBox="1"/>
            <p:nvPr/>
          </p:nvSpPr>
          <p:spPr>
            <a:xfrm>
              <a:off x="906018" y="3422332"/>
              <a:ext cx="74650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Langevin dynamics samples the intractable posteriors of deep latent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018" y="3708082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models accurately, but is slow: a fresh chain for every data point.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4191000"/>
            <a:ext cx="7316245" cy="914400"/>
            <a:chOff x="914400" y="4191000"/>
            <a:chExt cx="7316245" cy="914400"/>
          </a:xfrm>
        </p:grpSpPr>
        <p:sp>
          <p:nvSpPr>
            <p:cNvPr id="15" name="Rectangle 15"/>
            <p:cNvSpPr/>
            <p:nvPr/>
          </p:nvSpPr>
          <p:spPr>
            <a:xfrm>
              <a:off x="914400" y="4191000"/>
              <a:ext cx="6400800" cy="914400"/>
            </a:xfrm>
            <a:prstGeom prst="roundRect">
              <a:avLst>
                <a:gd name="adj" fmla="val 10417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4400" y="4191000"/>
              <a:ext cx="76200" cy="91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91768" y="4412932"/>
              <a:ext cx="63919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Idea: amortize sampling into a shared encoder network.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92149" y="4706779"/>
              <a:ext cx="70384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provably valid MCMC method that beats variational autoencoders.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6399" y="5544979"/>
            <a:ext cx="7572896" cy="561594"/>
            <a:chOff x="906399" y="5544979"/>
            <a:chExt cx="7572896" cy="561594"/>
          </a:xfrm>
        </p:grpSpPr>
        <p:sp>
          <p:nvSpPr>
            <p:cNvPr id="20" name="TextBox 20"/>
            <p:cNvSpPr txBox="1"/>
            <p:nvPr/>
          </p:nvSpPr>
          <p:spPr>
            <a:xfrm>
              <a:off x="906399" y="5544979"/>
              <a:ext cx="75728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Shohei Taniguchi · Yusuke Iwasawa · Wataru Kumagai · Yutaka Matsuo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7161" y="5827871"/>
              <a:ext cx="22122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University of Tokyo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248650" y="1047750"/>
            <a:ext cx="3543300" cy="4171950"/>
            <a:chOff x="8248650" y="1047750"/>
            <a:chExt cx="3543300" cy="4171950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48650" y="1047750"/>
              <a:ext cx="3543300" cy="857250"/>
            </a:xfrm>
            <a:prstGeom prst="rect">
              <a:avLst/>
            </a:prstGeom>
          </p:spPr>
        </p:pic>
        <p:grpSp>
          <p:nvGrpSpPr>
            <p:cNvPr id="27" name="Group 27"/>
            <p:cNvGrpSpPr/>
            <p:nvPr/>
          </p:nvGrpSpPr>
          <p:grpSpPr>
            <a:xfrm>
              <a:off x="8477250" y="3429000"/>
              <a:ext cx="1428750" cy="1790700"/>
              <a:chOff x="8477250" y="3429000"/>
              <a:chExt cx="1428750" cy="17907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477250" y="3429000"/>
                <a:ext cx="1428750" cy="1790700"/>
              </a:xfrm>
              <a:prstGeom prst="roundRect">
                <a:avLst>
                  <a:gd name="adj" fmla="val 5333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20125" y="3562350"/>
                <a:ext cx="1143000" cy="1143000"/>
              </a:xfrm>
              <a:prstGeom prst="rect">
                <a:avLst/>
              </a:prstGeom>
            </p:spPr>
          </p:pic>
          <p:sp>
            <p:nvSpPr>
              <p:cNvPr id="26" name="TextBox 26"/>
              <p:cNvSpPr txBox="1"/>
              <p:nvPr/>
            </p:nvSpPr>
            <p:spPr>
              <a:xfrm>
                <a:off x="8919414" y="4883468"/>
                <a:ext cx="5444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Paper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0096500" y="3429000"/>
              <a:ext cx="1428750" cy="1790700"/>
              <a:chOff x="10096500" y="3429000"/>
              <a:chExt cx="1428750" cy="17907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096500" y="3429000"/>
                <a:ext cx="1428750" cy="1790700"/>
              </a:xfrm>
              <a:prstGeom prst="roundRect">
                <a:avLst>
                  <a:gd name="adj" fmla="val 5333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pic>
            <p:nvPicPr>
              <p:cNvPr id="29" name="Image 2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39375" y="3562350"/>
                <a:ext cx="1143000" cy="1143000"/>
              </a:xfrm>
              <a:prstGeom prst="rect">
                <a:avLst/>
              </a:prstGeom>
            </p:spPr>
          </p:pic>
          <p:sp>
            <p:nvSpPr>
              <p:cNvPr id="30" name="TextBox 30"/>
              <p:cNvSpPr txBox="1"/>
              <p:nvPr/>
            </p:nvSpPr>
            <p:spPr>
              <a:xfrm>
                <a:off x="10591140" y="4883468"/>
                <a:ext cx="4394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Code</a:t>
                </a: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908685" y="6450806"/>
            <a:ext cx="35048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arXiv:2209.07036 · github.com/iShohei220/LAE</a:t>
            </a:r>
          </a:p>
        </p:txBody>
      </p:sp>
      <p:sp>
        <p:nvSpPr>
          <p:cNvPr id="34" name="cue_s01_c1_university_tokyo_neurips_2022_langev" title="cue_s01_c1_university_tokyo_neurips_2022_langev" descr="cue_s01_c1_university_tokyo_neurips_2022_langev From the University of Tokyo, NeurIPS 2022: the Langevin autoencoder."/>
          <p:cNvSpPr/>
          <p:nvPr/>
        </p:nvSpPr>
        <p:spPr>
          <a:xfrm>
            <a:off x="897331" y="1389430"/>
            <a:ext cx="6514185" cy="178239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1_c2_langevin_dynamics_samples_intractabl" title="cue_s01_c2_langevin_dynamics_samples_intractabl" descr="cue_s01_c2_langevin_dynamics_samples_intractabl Langevin dynamics samples the intractable posteriors of deep latent models but is slow, running a fresh chain per data point."/>
          <p:cNvSpPr/>
          <p:nvPr/>
        </p:nvSpPr>
        <p:spPr>
          <a:xfrm>
            <a:off x="905865" y="3422142"/>
            <a:ext cx="7465161" cy="6083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1_c3_authors_amortize_shared_encoder_prov" title="cue_s01_c3_authors_amortize_shared_encoder_prov" descr="cue_s01_c3_authors_amortize_shared_encoder_prov The authors amortize it into a shared encoder, prove it stays valid MCMC, and beat variational autoencoders."/>
          <p:cNvSpPr/>
          <p:nvPr/>
        </p:nvSpPr>
        <p:spPr>
          <a:xfrm>
            <a:off x="914400" y="4190923"/>
            <a:ext cx="6400800" cy="914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01446" y="543878"/>
            <a:ext cx="10382250" cy="498729"/>
            <a:chOff x="901446" y="543878"/>
            <a:chExt cx="10382250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901446" y="543878"/>
              <a:ext cx="7185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Problem: an intractable posterior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4400" y="990600"/>
              <a:ext cx="857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89210" y="632460"/>
              <a:ext cx="12944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spc="75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02 · PROBLEM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1524000"/>
            <a:ext cx="5181600" cy="4476750"/>
            <a:chOff x="914400" y="1524000"/>
            <a:chExt cx="5181600" cy="4476750"/>
          </a:xfrm>
        </p:grpSpPr>
        <p:sp>
          <p:nvSpPr>
            <p:cNvPr id="6" name="Rectangle 6"/>
            <p:cNvSpPr/>
            <p:nvPr/>
          </p:nvSpPr>
          <p:spPr>
            <a:xfrm>
              <a:off x="914400" y="1524000"/>
              <a:ext cx="5181600" cy="4476750"/>
            </a:xfrm>
            <a:prstGeom prst="roundRect">
              <a:avLst>
                <a:gd name="adj" fmla="val 2553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" y="1524000"/>
              <a:ext cx="51816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3485" y="1897856"/>
              <a:ext cx="2689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MAXIMUM-LIKELIHOOD TRAINING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09294" y="2227898"/>
              <a:ext cx="43509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gradient is an expectation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9294" y="2513648"/>
              <a:ext cx="3820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over the latent posterior.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219200" y="3067050"/>
              <a:ext cx="4572000" cy="819150"/>
            </a:xfrm>
            <a:prstGeom prst="roundRect">
              <a:avLst>
                <a:gd name="adj" fmla="val 930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10143" y="3275171"/>
              <a:ext cx="11901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∇θ log p(x) =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29240" y="3549968"/>
              <a:ext cx="2351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E p(z|x) [ ∇θ log p(x,z) 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1199" y="4135279"/>
              <a:ext cx="41597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Deep latent variable models explain data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11199" y="4421029"/>
              <a:ext cx="410683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through hidden variables z. Learning by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1199" y="4706779"/>
              <a:ext cx="44720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maximum likelihood requires averaging over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1199" y="4992529"/>
              <a:ext cx="23876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the posterior p(z | x).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0818" y="5498782"/>
              <a:ext cx="34643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That posterior is intractable.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324600" y="1524000"/>
            <a:ext cx="4953000" cy="4476750"/>
            <a:chOff x="6324600" y="1524000"/>
            <a:chExt cx="4953000" cy="4476750"/>
          </a:xfrm>
        </p:grpSpPr>
        <p:sp>
          <p:nvSpPr>
            <p:cNvPr id="20" name="Rectangle 20"/>
            <p:cNvSpPr/>
            <p:nvPr/>
          </p:nvSpPr>
          <p:spPr>
            <a:xfrm>
              <a:off x="6324600" y="1524000"/>
              <a:ext cx="4953000" cy="4476750"/>
            </a:xfrm>
            <a:prstGeom prst="roundRect">
              <a:avLst>
                <a:gd name="adj" fmla="val 2553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24600" y="1524000"/>
              <a:ext cx="49530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23685" y="1897856"/>
              <a:ext cx="2356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MCMC / LANGEVIN DYNAMICS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9494" y="2227898"/>
              <a:ext cx="277934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Accurate sampling,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9494" y="2513648"/>
              <a:ext cx="26846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but painfully slow.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629400" y="3067050"/>
              <a:ext cx="4343400" cy="1143000"/>
              <a:chOff x="6629400" y="3067050"/>
              <a:chExt cx="4343400" cy="1143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629400" y="3067050"/>
                <a:ext cx="4343400" cy="1143000"/>
              </a:xfrm>
              <a:prstGeom prst="roundRect">
                <a:avLst>
                  <a:gd name="adj" fmla="val 6667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814185" y="3231356"/>
                <a:ext cx="26024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One separate chain per data point: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6953250" y="3638550"/>
                <a:ext cx="190500" cy="19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977101" y="3684270"/>
                <a:ext cx="1427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x₁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7200900" y="3733800"/>
                <a:ext cx="419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9525">
                    <a:moveTo>
                      <a:pt x="0" y="0"/>
                    </a:moveTo>
                    <a:lnTo>
                      <a:pt x="4191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7658100" y="3638550"/>
                <a:ext cx="190500" cy="190500"/>
              </a:xfrm>
              <a:prstGeom prst="ellipse">
                <a:avLst/>
              </a:pr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7886700" y="3733800"/>
                <a:ext cx="419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9525">
                    <a:moveTo>
                      <a:pt x="0" y="0"/>
                    </a:moveTo>
                    <a:lnTo>
                      <a:pt x="4191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  <a:prstDash val="dash"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343900" y="3638550"/>
                <a:ext cx="190500" cy="190500"/>
              </a:xfrm>
              <a:prstGeom prst="ellipse">
                <a:avLst/>
              </a:pr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852535" y="3659981"/>
                <a:ext cx="8557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… × n points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6621399" y="4421029"/>
              <a:ext cx="4453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Traditional Langevin dynamics runs a fresh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21399" y="4706779"/>
              <a:ext cx="422745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chain of iterations for every single data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21399" y="4992529"/>
              <a:ext cx="30150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point, and converges slowly.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21018" y="5498782"/>
              <a:ext cx="38377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Rarely practical for deep models.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08685" y="6488906"/>
            <a:ext cx="28053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Langevin Autoencoders · NeurIPS 2022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49717" y="6488906"/>
            <a:ext cx="4335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2 / 10</a:t>
            </a:r>
          </a:p>
        </p:txBody>
      </p:sp>
      <p:sp>
        <p:nvSpPr>
          <p:cNvPr id="42" name="cue_s02_c1_deep_latent_variable_models_maximum" title="cue_s02_c1_deep_latent_variable_models_maximum" descr="cue_s02_c1_deep_latent_variable_models_maximum Training deep latent variable models by maximum likelihood needs an expectation over the hidden variables' posterior, which is intractable."/>
          <p:cNvSpPr/>
          <p:nvPr/>
        </p:nvSpPr>
        <p:spPr>
          <a:xfrm>
            <a:off x="914400" y="1523847"/>
            <a:ext cx="5181600" cy="44769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2_c2_langevin_dynamics_samples_posterior" title="cue_s02_c2_langevin_dynamics_samples_posterior" descr="cue_s02_c2_langevin_dynamics_samples_posterior Langevin dynamics samples that posterior accurately, but runs a fresh chain of iterations per data point and converges slowly, so it has rarely been practical."/>
          <p:cNvSpPr/>
          <p:nvPr/>
        </p:nvSpPr>
        <p:spPr>
          <a:xfrm>
            <a:off x="6325209" y="1523847"/>
            <a:ext cx="4952390" cy="44769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01446" y="543878"/>
            <a:ext cx="10382250" cy="498729"/>
            <a:chOff x="901446" y="543878"/>
            <a:chExt cx="10382250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901446" y="543878"/>
              <a:ext cx="69640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Motivation: efficiency vs. flexibility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4400" y="990600"/>
              <a:ext cx="857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15256" y="632460"/>
              <a:ext cx="156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spc="75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03 · MOTIVATION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914400" y="1428750"/>
            <a:ext cx="4953000" cy="3390900"/>
          </a:xfrm>
          <a:prstGeom prst="roundRect">
            <a:avLst>
              <a:gd name="adj" fmla="val 3371"/>
            </a:avLst>
          </a:prstGeom>
          <a:solidFill>
            <a:schemeClr val="lt2"/>
          </a:solidFill>
          <a:ln w="14288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1213485" y="1707356"/>
            <a:ext cx="25971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7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VARIATIONAL INFERENCE (VAE)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43000" y="2000250"/>
            <a:ext cx="4495800" cy="1274445"/>
            <a:chOff x="1143000" y="2000250"/>
            <a:chExt cx="4495800" cy="1274445"/>
          </a:xfrm>
        </p:grpSpPr>
        <p:sp>
          <p:nvSpPr>
            <p:cNvPr id="8" name="Rectangle 8"/>
            <p:cNvSpPr/>
            <p:nvPr/>
          </p:nvSpPr>
          <p:spPr>
            <a:xfrm>
              <a:off x="1143000" y="2000250"/>
              <a:ext cx="4495800" cy="1238250"/>
            </a:xfrm>
            <a:prstGeom prst="roundRect">
              <a:avLst>
                <a:gd name="adj" fmla="val 6154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5118" y="2145982"/>
              <a:ext cx="31147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Amortization = efficiency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5880" y="2486025"/>
              <a:ext cx="40403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One shared encoder predicts the latents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5880" y="2733675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for all data points at once, instead of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5880" y="2981325"/>
              <a:ext cx="2357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per-point optimization.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3000" y="3352800"/>
            <a:ext cx="4495800" cy="1274445"/>
            <a:chOff x="1143000" y="3352800"/>
            <a:chExt cx="4495800" cy="1274445"/>
          </a:xfrm>
        </p:grpSpPr>
        <p:sp>
          <p:nvSpPr>
            <p:cNvPr id="14" name="Rectangle 14"/>
            <p:cNvSpPr/>
            <p:nvPr/>
          </p:nvSpPr>
          <p:spPr>
            <a:xfrm>
              <a:off x="1143000" y="3352800"/>
              <a:ext cx="4495800" cy="1257300"/>
            </a:xfrm>
            <a:prstGeom prst="roundRect">
              <a:avLst>
                <a:gd name="adj" fmla="val 6061"/>
              </a:avLst>
            </a:prstGeom>
            <a:solidFill>
              <a:srgbClr val="FEF2F2"/>
            </a:solidFill>
            <a:ln w="14288">
              <a:solidFill>
                <a:srgbClr val="FCA5A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25118" y="3498532"/>
              <a:ext cx="27302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But: limited flexibility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880" y="3838575"/>
              <a:ext cx="3874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VI relies on tractable distributions like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5880" y="4086225"/>
              <a:ext cx="40403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Gaussians, so its approximation power is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5880" y="4333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fundamentally capped.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6324600" y="1428750"/>
            <a:ext cx="4953000" cy="3390900"/>
          </a:xfrm>
          <a:prstGeom prst="roundRect">
            <a:avLst>
              <a:gd name="adj" fmla="val 3371"/>
            </a:avLst>
          </a:prstGeom>
          <a:solidFill>
            <a:schemeClr val="lt2"/>
          </a:solidFill>
          <a:ln w="14288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6623685" y="1707356"/>
            <a:ext cx="1482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75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MCMC / LANGEVIN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553200" y="2000250"/>
            <a:ext cx="4539615" cy="2609850"/>
            <a:chOff x="6553200" y="2000250"/>
            <a:chExt cx="4539615" cy="2609850"/>
          </a:xfrm>
        </p:grpSpPr>
        <p:sp>
          <p:nvSpPr>
            <p:cNvPr id="22" name="Rectangle 22"/>
            <p:cNvSpPr/>
            <p:nvPr/>
          </p:nvSpPr>
          <p:spPr>
            <a:xfrm>
              <a:off x="6553200" y="2000250"/>
              <a:ext cx="4495800" cy="2609850"/>
            </a:xfrm>
            <a:prstGeom prst="roundRect">
              <a:avLst>
                <a:gd name="adj" fmla="val 2920"/>
              </a:avLst>
            </a:prstGeom>
            <a:solidFill>
              <a:srgbClr val="ECFEFF"/>
            </a:solidFill>
            <a:ln w="14288">
              <a:solidFill>
                <a:srgbClr val="67E8F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5318" y="2184082"/>
              <a:ext cx="35957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Flexible, but never amortized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6080" y="2581275"/>
              <a:ext cx="3727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MCMC has no tractability limit: it can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36080" y="2828925"/>
              <a:ext cx="2923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capture any posterior shape.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36080" y="3228975"/>
              <a:ext cx="4128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Yet no one had truly amortized it. Earlier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6080" y="3476625"/>
              <a:ext cx="4356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hybrids only used an encoder to warm-start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36080" y="3724275"/>
              <a:ext cx="4235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sampling, still running one chain per point.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36080" y="4181475"/>
              <a:ext cx="4100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i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Flexibility without amortization’s speed.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4400" y="5029200"/>
            <a:ext cx="10363200" cy="990600"/>
            <a:chOff x="914400" y="5029200"/>
            <a:chExt cx="10363200" cy="990600"/>
          </a:xfrm>
        </p:grpSpPr>
        <p:sp>
          <p:nvSpPr>
            <p:cNvPr id="31" name="Rectangle 31"/>
            <p:cNvSpPr/>
            <p:nvPr/>
          </p:nvSpPr>
          <p:spPr>
            <a:xfrm>
              <a:off x="914400" y="5029200"/>
              <a:ext cx="10363200" cy="990600"/>
            </a:xfrm>
            <a:prstGeom prst="roundRect">
              <a:avLst>
                <a:gd name="adj" fmla="val 115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13104" y="5337810"/>
              <a:ext cx="9411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93C5FD"/>
                  </a:solidFill>
                  <a:latin typeface="+mn-lt"/>
                  <a:ea typeface="+mn-ea"/>
                  <a:cs typeface="+mn-cs"/>
                </a:rPr>
                <a:t>THE GOAL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08913" y="5572601"/>
              <a:ext cx="721209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Amortization’s efficiency + MCMC’s flexibility.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08685" y="6488906"/>
            <a:ext cx="28053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Langevin Autoencoders · NeurIPS 2022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49717" y="6488906"/>
            <a:ext cx="4335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3 / 10</a:t>
            </a:r>
          </a:p>
        </p:txBody>
      </p:sp>
      <p:sp>
        <p:nvSpPr>
          <p:cNvPr id="37" name="cue_s03_c1_variational_inference_dominates_than" title="cue_s03_c1_variational_inference_dominates_than" descr="cue_s03_c1_variational_inference_dominates_than Variational inference dominates thanks to amortization: a shared encoder predicts the latents for all data, like the variational autoencoder."/>
          <p:cNvSpPr/>
          <p:nvPr/>
        </p:nvSpPr>
        <p:spPr>
          <a:xfrm>
            <a:off x="1143609" y="2000478"/>
            <a:ext cx="4496409" cy="12385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ue_s03_c2_but_relies_tractable_gaussians_limit" title="cue_s03_c2_but_relies_tractable_gaussians_limit" descr="cue_s03_c2_but_relies_tractable_gaussians_limit But it relies on tractable Gaussians, limiting accuracy."/>
          <p:cNvSpPr/>
          <p:nvPr/>
        </p:nvSpPr>
        <p:spPr>
          <a:xfrm>
            <a:off x="1143609" y="3352876"/>
            <a:ext cx="4496409" cy="12570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3_c3_mcmc_such_limit_yet_nobody" title="cue_s03_c3_mcmc_such_limit_yet_nobody" descr="cue_s03_c3_mcmc_such_limit_yet_nobody MCMC has no such limit, yet nobody truly amortized it; earlier hybrids only warm-started per-datapoint chains."/>
          <p:cNvSpPr/>
          <p:nvPr/>
        </p:nvSpPr>
        <p:spPr>
          <a:xfrm>
            <a:off x="6553200" y="2000478"/>
            <a:ext cx="4496409" cy="26101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3_c4_goal_amortized_efficiency_mcmc_flexi" title="cue_s03_c4_goal_amortized_efficiency_mcmc_flexi" descr="cue_s03_c4_goal_amortized_efficiency_mcmc_flexi The goal: amortized efficiency with MCMC flexibility."/>
          <p:cNvSpPr/>
          <p:nvPr/>
        </p:nvSpPr>
        <p:spPr>
          <a:xfrm>
            <a:off x="914400" y="5028971"/>
            <a:ext cx="10363200" cy="9902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01446" y="543878"/>
            <a:ext cx="10382250" cy="498729"/>
            <a:chOff x="901446" y="543878"/>
            <a:chExt cx="10382250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901446" y="543878"/>
              <a:ext cx="26002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Contributions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4400" y="990600"/>
              <a:ext cx="857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32620" y="632460"/>
              <a:ext cx="1751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spc="75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04 · CONTRIBUTION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1428750"/>
            <a:ext cx="3429000" cy="495300"/>
            <a:chOff x="914400" y="1428750"/>
            <a:chExt cx="3429000" cy="495300"/>
          </a:xfrm>
        </p:grpSpPr>
        <p:sp>
          <p:nvSpPr>
            <p:cNvPr id="6" name="Rectangle 6"/>
            <p:cNvSpPr/>
            <p:nvPr/>
          </p:nvSpPr>
          <p:spPr>
            <a:xfrm>
              <a:off x="914400" y="1428750"/>
              <a:ext cx="3429000" cy="4953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1768" y="1574482"/>
              <a:ext cx="26480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Two main contributions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2171700"/>
            <a:ext cx="5181600" cy="3848100"/>
            <a:chOff x="914400" y="2171700"/>
            <a:chExt cx="5181600" cy="3848100"/>
          </a:xfrm>
        </p:grpSpPr>
        <p:sp>
          <p:nvSpPr>
            <p:cNvPr id="9" name="Rectangle 9"/>
            <p:cNvSpPr/>
            <p:nvPr/>
          </p:nvSpPr>
          <p:spPr>
            <a:xfrm>
              <a:off x="914400" y="2171700"/>
              <a:ext cx="5181600" cy="3848100"/>
            </a:xfrm>
            <a:prstGeom prst="roundRect">
              <a:avLst>
                <a:gd name="adj" fmla="val 2970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2171700"/>
              <a:ext cx="51816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04900" y="25336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43504" y="2637472"/>
              <a:ext cx="17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4213" y="2486501"/>
              <a:ext cx="29124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Amortized Langevin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4213" y="2791301"/>
              <a:ext cx="242705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Dynamics (ALD)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11199" y="3373279"/>
              <a:ext cx="37543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new MCMC algorithm that removes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1199" y="3659029"/>
              <a:ext cx="45571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per-datapoint sampling iterations entirely,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1199" y="3944779"/>
              <a:ext cx="3330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running Langevin updates on the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1199" y="4230529"/>
              <a:ext cx="34723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parameters of a shared encoder.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219200" y="4762500"/>
              <a:ext cx="4572000" cy="9906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03985" y="4983956"/>
              <a:ext cx="924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GUARANTEE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02080" y="5248275"/>
              <a:ext cx="3666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Proven to keep the true posterior as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02080" y="549592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its stationary distribution.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324600" y="2171700"/>
            <a:ext cx="4953000" cy="3848100"/>
            <a:chOff x="6324600" y="2171700"/>
            <a:chExt cx="4953000" cy="3848100"/>
          </a:xfrm>
        </p:grpSpPr>
        <p:sp>
          <p:nvSpPr>
            <p:cNvPr id="24" name="Rectangle 24"/>
            <p:cNvSpPr/>
            <p:nvPr/>
          </p:nvSpPr>
          <p:spPr>
            <a:xfrm>
              <a:off x="6324600" y="2171700"/>
              <a:ext cx="4953000" cy="3848100"/>
            </a:xfrm>
            <a:prstGeom prst="roundRect">
              <a:avLst>
                <a:gd name="adj" fmla="val 2970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24600" y="2171700"/>
              <a:ext cx="49530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515100" y="25336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3704" y="2637472"/>
              <a:ext cx="17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14413" y="2486501"/>
              <a:ext cx="19325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Langevin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4413" y="2791301"/>
              <a:ext cx="293404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Autoencoder (LAE)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1399" y="3373279"/>
              <a:ext cx="43620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framework for training deep generative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1399" y="3659029"/>
              <a:ext cx="39732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models built on ALD that, remarkably,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21399" y="3944779"/>
              <a:ext cx="40679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amounts to only a small modification of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1399" y="4230529"/>
              <a:ext cx="27917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traditional autoencoder.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29400" y="4762500"/>
              <a:ext cx="4343400" cy="9906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14185" y="4983956"/>
              <a:ext cx="1251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SPECIAL CASES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12280" y="5248275"/>
              <a:ext cx="4046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Ordinary Langevin dynamics and the plain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12280" y="5495925"/>
              <a:ext cx="3165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autoencoder both fall out of it.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08685" y="6488906"/>
            <a:ext cx="28053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Langevin Autoencoders · NeurIPS 2022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849717" y="6488906"/>
            <a:ext cx="4335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4 / 10</a:t>
            </a:r>
          </a:p>
        </p:txBody>
      </p:sp>
      <p:sp>
        <p:nvSpPr>
          <p:cNvPr id="41" name="cue_s04_c1_two_contributions" title="cue_s04_c1_two_contributions" descr="cue_s04_c1_two_contributions Two contributions."/>
          <p:cNvSpPr/>
          <p:nvPr/>
        </p:nvSpPr>
        <p:spPr>
          <a:xfrm>
            <a:off x="914400" y="1428521"/>
            <a:ext cx="3428390" cy="4951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4_c2_first_amortized_langevin_dynamics_mc" title="cue_s04_c2_first_amortized_langevin_dynamics_mc" descr="cue_s04_c2_first_amortized_langevin_dynamics_mc First, amortized Langevin dynamics: an MCMC algorithm that removes per-datapoint iterations by running Langevin updates on a shared encoder's parameters, proven to keep the true posterior stationary."/>
          <p:cNvSpPr/>
          <p:nvPr/>
        </p:nvSpPr>
        <p:spPr>
          <a:xfrm>
            <a:off x="914400" y="2171928"/>
            <a:ext cx="5181600" cy="38480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4_c3_second_langevin_autoencoder_generati" title="cue_s04_c3_second_langevin_autoencoder_generati" descr="cue_s04_c3_second_langevin_autoencoder_generati Second, the Langevin autoencoder, a generative framework built on it that amounts to a small tweak of a standard autoencoder."/>
          <p:cNvSpPr/>
          <p:nvPr/>
        </p:nvSpPr>
        <p:spPr>
          <a:xfrm>
            <a:off x="6325209" y="2171928"/>
            <a:ext cx="4952390" cy="38480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01446" y="543878"/>
            <a:ext cx="10382250" cy="498729"/>
            <a:chOff x="901446" y="543878"/>
            <a:chExt cx="10382250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901446" y="543878"/>
              <a:ext cx="76363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Method: move the noise into the encoder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4400" y="990600"/>
              <a:ext cx="857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098451" y="632460"/>
              <a:ext cx="1185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spc="75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05 · METHOD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3500" y="1257300"/>
            <a:ext cx="9525000" cy="2400300"/>
            <a:chOff x="1333500" y="1257300"/>
            <a:chExt cx="9525000" cy="2400300"/>
          </a:xfrm>
        </p:grpSpPr>
        <p:sp>
          <p:nvSpPr>
            <p:cNvPr id="6" name="Rectangle 6"/>
            <p:cNvSpPr/>
            <p:nvPr/>
          </p:nvSpPr>
          <p:spPr>
            <a:xfrm>
              <a:off x="1333500" y="1257300"/>
              <a:ext cx="9525000" cy="2400300"/>
            </a:xfrm>
            <a:prstGeom prst="roundRect">
              <a:avLst>
                <a:gd name="adj" fmla="val 317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8002" y="1333500"/>
              <a:ext cx="9135996" cy="2247900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1515723" y="3718560"/>
            <a:ext cx="91605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Fig. 1 — From (a) variational inference and (b, c) per-point Langevin to (d) ALD, which updates the encoder itself.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4400" y="4038600"/>
            <a:ext cx="2476500" cy="1981200"/>
            <a:chOff x="914400" y="4038600"/>
            <a:chExt cx="2476500" cy="1981200"/>
          </a:xfrm>
        </p:grpSpPr>
        <p:sp>
          <p:nvSpPr>
            <p:cNvPr id="10" name="Rectangle 10"/>
            <p:cNvSpPr/>
            <p:nvPr/>
          </p:nvSpPr>
          <p:spPr>
            <a:xfrm>
              <a:off x="914400" y="4038600"/>
              <a:ext cx="2476500" cy="1981200"/>
            </a:xfrm>
            <a:prstGeom prst="roundRect">
              <a:avLst>
                <a:gd name="adj" fmla="val 4808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14400" y="403860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566" y="4268152"/>
              <a:ext cx="6969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KEY IDEA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661" y="4532471"/>
              <a:ext cx="19397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Randomness moves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7661" y="4761071"/>
              <a:ext cx="15414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 the encoder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804" y="5128260"/>
              <a:ext cx="1818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Instead of noising each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8804" y="5337810"/>
              <a:ext cx="21743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latent, run Langevin on the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8804" y="5547360"/>
              <a:ext cx="1869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encoder’s parameters.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543300" y="4038600"/>
            <a:ext cx="2476500" cy="1981200"/>
            <a:chOff x="3543300" y="4038600"/>
            <a:chExt cx="2476500" cy="1981200"/>
          </a:xfrm>
        </p:grpSpPr>
        <p:sp>
          <p:nvSpPr>
            <p:cNvPr id="19" name="Rectangle 19"/>
            <p:cNvSpPr/>
            <p:nvPr/>
          </p:nvSpPr>
          <p:spPr>
            <a:xfrm>
              <a:off x="3543300" y="4038600"/>
              <a:ext cx="2476500" cy="1981200"/>
            </a:xfrm>
            <a:prstGeom prst="roundRect">
              <a:avLst>
                <a:gd name="adj" fmla="val 4808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43300" y="403860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28466" y="4268152"/>
              <a:ext cx="172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ENCODER AS SAMPLER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26561" y="4532471"/>
              <a:ext cx="17283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Outputs are the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26561" y="4761071"/>
              <a:ext cx="8203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samples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27704" y="5128260"/>
              <a:ext cx="1892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The encoder maps x → z;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27704" y="5337810"/>
              <a:ext cx="1926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updating its parameters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27704" y="5547360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moves the latents.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72200" y="4038600"/>
            <a:ext cx="2476500" cy="1981200"/>
            <a:chOff x="6172200" y="4038600"/>
            <a:chExt cx="2476500" cy="1981200"/>
          </a:xfrm>
        </p:grpSpPr>
        <p:sp>
          <p:nvSpPr>
            <p:cNvPr id="28" name="Rectangle 28"/>
            <p:cNvSpPr/>
            <p:nvPr/>
          </p:nvSpPr>
          <p:spPr>
            <a:xfrm>
              <a:off x="6172200" y="4038600"/>
              <a:ext cx="2476500" cy="1981200"/>
            </a:xfrm>
            <a:prstGeom prst="roundRect">
              <a:avLst>
                <a:gd name="adj" fmla="val 4808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72200" y="403860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7366" y="4268152"/>
              <a:ext cx="7411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THEOREM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5461" y="4532471"/>
              <a:ext cx="9181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Provable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5461" y="4761071"/>
              <a:ext cx="12975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convergence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6604" y="5128260"/>
              <a:ext cx="2214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fixed feature extractor +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6604" y="5337810"/>
              <a:ext cx="1821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trainable linear layer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6604" y="5547360"/>
              <a:ext cx="1748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wider than the batch.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01100" y="4038600"/>
            <a:ext cx="2476500" cy="1981200"/>
            <a:chOff x="8801100" y="4038600"/>
            <a:chExt cx="2476500" cy="1981200"/>
          </a:xfrm>
        </p:grpSpPr>
        <p:sp>
          <p:nvSpPr>
            <p:cNvPr id="37" name="Rectangle 37"/>
            <p:cNvSpPr/>
            <p:nvPr/>
          </p:nvSpPr>
          <p:spPr>
            <a:xfrm>
              <a:off x="8801100" y="4038600"/>
              <a:ext cx="2476500" cy="1981200"/>
            </a:xfrm>
            <a:prstGeom prst="roundRect">
              <a:avLst>
                <a:gd name="adj" fmla="val 4808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801100" y="403860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86266" y="4268152"/>
              <a:ext cx="948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 PRACTICE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84361" y="4532471"/>
              <a:ext cx="16226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 tiny tweak to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84361" y="4761071"/>
              <a:ext cx="11920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AE loop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85504" y="5128260"/>
              <a:ext cx="2109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few update steps before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85504" y="5337810"/>
              <a:ext cx="1926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each decoder step, with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85504" y="5547360"/>
              <a:ext cx="19860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optional M-H correction.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08685" y="6488906"/>
            <a:ext cx="28053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Langevin Autoencoders · NeurIPS 2022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49717" y="6488906"/>
            <a:ext cx="4335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5 / 10</a:t>
            </a:r>
          </a:p>
        </p:txBody>
      </p:sp>
      <p:sp>
        <p:nvSpPr>
          <p:cNvPr id="48" name="cue_s05_c1_key_idea_move_randomness_latent" title="cue_s05_c1_key_idea_move_randomness_latent" descr="cue_s05_c1_key_idea_move_randomness_latent The key idea: move randomness from latent space to encoder parameters."/>
          <p:cNvSpPr/>
          <p:nvPr/>
        </p:nvSpPr>
        <p:spPr>
          <a:xfrm>
            <a:off x="914400" y="4038676"/>
            <a:ext cx="2476195" cy="19812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5_c2_deterministic_encoder_maps_observati" title="cue_s05_c2_deterministic_encoder_maps_observati" descr="cue_s05_c2_deterministic_encoder_maps_observati A deterministic encoder maps observations to latents, and Langevin dynamics runs on its parameters, whose outputs become posterior samples."/>
          <p:cNvSpPr/>
          <p:nvPr/>
        </p:nvSpPr>
        <p:spPr>
          <a:xfrm>
            <a:off x="3542995" y="4038676"/>
            <a:ext cx="2476195" cy="19812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5_c3_convergence_guaranteed_when_fixed_fe" title="cue_s05_c3_convergence_guaranteed_when_fixed_fe" descr="cue_s05_c3_convergence_guaranteed_when_fixed_fe Convergence is guaranteed when a fixed feature extractor feeds a trainable linear layer exceeding the batch size."/>
          <p:cNvSpPr/>
          <p:nvPr/>
        </p:nvSpPr>
        <p:spPr>
          <a:xfrm>
            <a:off x="6171590" y="4038676"/>
            <a:ext cx="2476195" cy="19812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5_c4_autoencoder_runs_few_steps_before" title="cue_s05_c4_autoencoder_runs_few_steps_before" descr="cue_s05_c4_autoencoder_runs_few_steps_before The autoencoder runs a few steps before each decoder update, with optional Metropolis-Hastings correction."/>
          <p:cNvSpPr/>
          <p:nvPr/>
        </p:nvSpPr>
        <p:spPr>
          <a:xfrm>
            <a:off x="8801404" y="4038676"/>
            <a:ext cx="2476195" cy="19812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01446" y="543878"/>
            <a:ext cx="10382250" cy="498729"/>
            <a:chOff x="901446" y="543878"/>
            <a:chExt cx="10382250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901446" y="543878"/>
              <a:ext cx="35573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How it is evaluated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4400" y="990600"/>
              <a:ext cx="857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806574" y="632460"/>
              <a:ext cx="1477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spc="75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06 · BENCHMARK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1428750"/>
            <a:ext cx="3143250" cy="495300"/>
            <a:chOff x="914400" y="1428750"/>
            <a:chExt cx="3143250" cy="495300"/>
          </a:xfrm>
        </p:grpSpPr>
        <p:sp>
          <p:nvSpPr>
            <p:cNvPr id="6" name="Rectangle 6"/>
            <p:cNvSpPr/>
            <p:nvPr/>
          </p:nvSpPr>
          <p:spPr>
            <a:xfrm>
              <a:off x="914400" y="1428750"/>
              <a:ext cx="3143250" cy="4953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1768" y="1574482"/>
              <a:ext cx="27412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Validation in two stages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4400" y="2171700"/>
            <a:ext cx="5181600" cy="3848100"/>
            <a:chOff x="914400" y="2171700"/>
            <a:chExt cx="5181600" cy="3848100"/>
          </a:xfrm>
        </p:grpSpPr>
        <p:sp>
          <p:nvSpPr>
            <p:cNvPr id="9" name="Rectangle 9"/>
            <p:cNvSpPr/>
            <p:nvPr/>
          </p:nvSpPr>
          <p:spPr>
            <a:xfrm>
              <a:off x="914400" y="2171700"/>
              <a:ext cx="5181600" cy="3848100"/>
            </a:xfrm>
            <a:prstGeom prst="roundRect">
              <a:avLst>
                <a:gd name="adj" fmla="val 2970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2171700"/>
              <a:ext cx="51816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13485" y="2545556"/>
              <a:ext cx="2050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1 · SANITY CHECK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09294" y="2799398"/>
              <a:ext cx="42673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Toy problems, known answers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219200" y="3276600"/>
              <a:ext cx="4572000" cy="1123950"/>
            </a:xfrm>
            <a:prstGeom prst="roundRect">
              <a:avLst>
                <a:gd name="adj" fmla="val 6780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01699" y="3449479"/>
              <a:ext cx="31338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Conjugate bivariate Gaussian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02080" y="3743325"/>
              <a:ext cx="24655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posterior with a known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02080" y="3990975"/>
              <a:ext cx="218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closed-form solution.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219200" y="4552950"/>
              <a:ext cx="4572000" cy="12192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1699" y="4725829"/>
              <a:ext cx="29492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Random-network posterior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02080" y="5019675"/>
              <a:ext cx="3081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 harder, multimodal posterior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02080" y="52673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defined by a randomly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02080" y="55149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initialized neural network.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324600" y="2171700"/>
            <a:ext cx="5086731" cy="3848100"/>
            <a:chOff x="6324600" y="2171700"/>
            <a:chExt cx="5086731" cy="3848100"/>
          </a:xfrm>
        </p:grpSpPr>
        <p:sp>
          <p:nvSpPr>
            <p:cNvPr id="23" name="Rectangle 23"/>
            <p:cNvSpPr/>
            <p:nvPr/>
          </p:nvSpPr>
          <p:spPr>
            <a:xfrm>
              <a:off x="6324600" y="2171700"/>
              <a:ext cx="4953000" cy="3848100"/>
            </a:xfrm>
            <a:prstGeom prst="roundRect">
              <a:avLst>
                <a:gd name="adj" fmla="val 2970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324600" y="2171700"/>
              <a:ext cx="49530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23685" y="2545556"/>
              <a:ext cx="1981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STAGE 2 · REAL IMAGES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9494" y="2799398"/>
              <a:ext cx="34343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Four standard datasets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629400" y="3276600"/>
              <a:ext cx="4343400" cy="1181100"/>
              <a:chOff x="6629400" y="3276600"/>
              <a:chExt cx="4343400" cy="11811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629400" y="3276600"/>
                <a:ext cx="2114550" cy="533400"/>
              </a:xfrm>
              <a:prstGeom prst="roundRect">
                <a:avLst>
                  <a:gd name="adj" fmla="val 14286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360106" y="3439954"/>
                <a:ext cx="65313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MNIST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8858250" y="3276600"/>
                <a:ext cx="2114550" cy="533400"/>
              </a:xfrm>
              <a:prstGeom prst="roundRect">
                <a:avLst>
                  <a:gd name="adj" fmla="val 14286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647950" y="3439954"/>
                <a:ext cx="5351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SVHN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629400" y="3924300"/>
                <a:ext cx="2114550" cy="533400"/>
              </a:xfrm>
              <a:prstGeom prst="roundRect">
                <a:avLst>
                  <a:gd name="adj" fmla="val 14286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189023" y="4087654"/>
                <a:ext cx="99530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CIFAR-10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8858250" y="3924300"/>
                <a:ext cx="2114550" cy="533400"/>
              </a:xfrm>
              <a:prstGeom prst="roundRect">
                <a:avLst>
                  <a:gd name="adj" fmla="val 14286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560513" y="4087654"/>
                <a:ext cx="71002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CelebA</a:t>
                </a:r>
              </a:p>
            </p:txBody>
          </p:sp>
        </p:grpSp>
        <p:sp>
          <p:nvSpPr>
            <p:cNvPr id="36" name="Rectangle 36"/>
            <p:cNvSpPr/>
            <p:nvPr/>
          </p:nvSpPr>
          <p:spPr>
            <a:xfrm>
              <a:off x="6629400" y="4667250"/>
              <a:ext cx="4343400" cy="1104900"/>
            </a:xfrm>
            <a:prstGeom prst="roundRect">
              <a:avLst>
                <a:gd name="adj" fmla="val 689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14185" y="4850606"/>
              <a:ext cx="608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METRIC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12280" y="5095875"/>
              <a:ext cx="37748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Negative ELBO per dimension (lower is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12280" y="5343525"/>
              <a:ext cx="45990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better), over 3 seeds, shared architectures.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08685" y="6488906"/>
            <a:ext cx="28053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Langevin Autoencoders · NeurIPS 2022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49717" y="6488906"/>
            <a:ext cx="4335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6 / 10</a:t>
            </a:r>
          </a:p>
        </p:txBody>
      </p:sp>
      <p:sp>
        <p:nvSpPr>
          <p:cNvPr id="43" name="cue_s06_c1_validation_comes_two_stages" title="cue_s06_c1_validation_comes_two_stages" descr="cue_s06_c1_validation_comes_two_stages Validation comes in two stages."/>
          <p:cNvSpPr/>
          <p:nvPr/>
        </p:nvSpPr>
        <p:spPr>
          <a:xfrm>
            <a:off x="914400" y="1428521"/>
            <a:ext cx="3143097" cy="4951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6_c2_first_toy_problems_known_answers" title="cue_s06_c2_first_toy_problems_known_answers" descr="cue_s06_c2_first_toy_problems_known_answers First, toy problems with known answers: a conjugate bivariate-Gaussian posterior, and a harder posterior from a random network."/>
          <p:cNvSpPr/>
          <p:nvPr/>
        </p:nvSpPr>
        <p:spPr>
          <a:xfrm>
            <a:off x="914400" y="2171928"/>
            <a:ext cx="5181600" cy="38480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6_c3_image_generation_mnist_s_v_h_n_cifar" title="cue_s06_c3_image_generation_mnist_s_v_h_n_cifar" descr="cue_s06_c3_image_generation_mnist_s_v_h_n_cifar Then image generation on MNIST, S-V-H-N, CIFAR-10, and CelebA, with shared architectures, quality measured by negative ELBO per dimension over three seeds."/>
          <p:cNvSpPr/>
          <p:nvPr/>
        </p:nvSpPr>
        <p:spPr>
          <a:xfrm>
            <a:off x="6325209" y="2171928"/>
            <a:ext cx="5086502" cy="38480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01446" y="543878"/>
            <a:ext cx="10382250" cy="498729"/>
            <a:chOff x="901446" y="543878"/>
            <a:chExt cx="10382250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901446" y="543878"/>
              <a:ext cx="80638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Key Result: it captures the true posterior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4400" y="990600"/>
              <a:ext cx="857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77984" y="632460"/>
              <a:ext cx="1505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spc="75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07 · KEY RESULT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28750" y="1238250"/>
            <a:ext cx="9334500" cy="2724150"/>
            <a:chOff x="1428750" y="1238250"/>
            <a:chExt cx="9334500" cy="2724150"/>
          </a:xfrm>
        </p:grpSpPr>
        <p:sp>
          <p:nvSpPr>
            <p:cNvPr id="6" name="Rectangle 6"/>
            <p:cNvSpPr/>
            <p:nvPr/>
          </p:nvSpPr>
          <p:spPr>
            <a:xfrm>
              <a:off x="1428750" y="1238250"/>
              <a:ext cx="9334500" cy="2724150"/>
            </a:xfrm>
            <a:prstGeom prst="roundRect">
              <a:avLst>
                <a:gd name="adj" fmla="val 279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1810" y="1428750"/>
              <a:ext cx="8748380" cy="2362200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1700006" y="4023360"/>
            <a:ext cx="87919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Fig. 3 — Only ALD (right) reproduces the multimodal ground-truth posterior; mean-field and full VI collapse it.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14400" y="4343400"/>
            <a:ext cx="3352800" cy="1676400"/>
            <a:chOff x="914400" y="4343400"/>
            <a:chExt cx="3352800" cy="1676400"/>
          </a:xfrm>
        </p:grpSpPr>
        <p:sp>
          <p:nvSpPr>
            <p:cNvPr id="10" name="Rectangle 10"/>
            <p:cNvSpPr/>
            <p:nvPr/>
          </p:nvSpPr>
          <p:spPr>
            <a:xfrm>
              <a:off x="914400" y="4343400"/>
              <a:ext cx="3352800" cy="1676400"/>
            </a:xfrm>
            <a:prstGeom prst="roundRect">
              <a:avLst>
                <a:gd name="adj" fmla="val 5682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14400" y="4343400"/>
              <a:ext cx="33528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7666" y="4572952"/>
              <a:ext cx="1217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TOY PROBLEMS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4999" y="4821079"/>
              <a:ext cx="22725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Faithful posteriors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5169218"/>
              <a:ext cx="2476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ALD reproduces multimodal,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6142" y="5397818"/>
              <a:ext cx="2667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correlated shapes that mean-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6142" y="5626418"/>
              <a:ext cx="1906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field and full VI miss.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19600" y="4343400"/>
            <a:ext cx="3352800" cy="1676400"/>
            <a:chOff x="4419600" y="4343400"/>
            <a:chExt cx="3352800" cy="1676400"/>
          </a:xfrm>
        </p:grpSpPr>
        <p:sp>
          <p:nvSpPr>
            <p:cNvPr id="18" name="Rectangle 18"/>
            <p:cNvSpPr/>
            <p:nvPr/>
          </p:nvSpPr>
          <p:spPr>
            <a:xfrm>
              <a:off x="4419600" y="4343400"/>
              <a:ext cx="3352800" cy="1676400"/>
            </a:xfrm>
            <a:prstGeom prst="roundRect">
              <a:avLst>
                <a:gd name="adj" fmla="val 5682"/>
              </a:avLst>
            </a:prstGeom>
            <a:solidFill>
              <a:srgbClr val="EFF6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19600" y="4343400"/>
              <a:ext cx="33528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42866" y="4572952"/>
              <a:ext cx="1309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IMAGE DATASETS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0199" y="4821079"/>
              <a:ext cx="25190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Lowest ELBO on all 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1342" y="5169218"/>
              <a:ext cx="2469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LAE beats the VAE, its flow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1342" y="5397818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extension, and the encoder-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1342" y="5626418"/>
              <a:ext cx="2490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initialized Langevin method.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24800" y="4343400"/>
            <a:ext cx="3352800" cy="1680401"/>
            <a:chOff x="7924800" y="4343400"/>
            <a:chExt cx="3352800" cy="1680401"/>
          </a:xfrm>
        </p:grpSpPr>
        <p:sp>
          <p:nvSpPr>
            <p:cNvPr id="26" name="Rectangle 26"/>
            <p:cNvSpPr/>
            <p:nvPr/>
          </p:nvSpPr>
          <p:spPr>
            <a:xfrm>
              <a:off x="7924800" y="4343400"/>
              <a:ext cx="3352800" cy="1676400"/>
            </a:xfrm>
            <a:prstGeom prst="roundRect">
              <a:avLst>
                <a:gd name="adj" fmla="val 568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48066" y="4572952"/>
              <a:ext cx="9613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93C5FD"/>
                  </a:solidFill>
                  <a:latin typeface="+mn-lt"/>
                  <a:ea typeface="+mn-ea"/>
                  <a:cs typeface="+mn-cs"/>
                </a:rPr>
                <a:t>THE LESSON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5399" y="4878229"/>
              <a:ext cx="20644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Better sampling 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5399" y="5163979"/>
              <a:ext cx="163243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better models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6542" y="5531168"/>
              <a:ext cx="2827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DBEAFE"/>
                  </a:solidFill>
                  <a:latin typeface="+mn-lt"/>
                  <a:ea typeface="+mn-ea"/>
                  <a:cs typeface="+mn-cs"/>
                </a:rPr>
                <a:t>More accurate posteriors train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46542" y="5759768"/>
              <a:ext cx="2367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DBEAFE"/>
                  </a:solidFill>
                  <a:latin typeface="+mn-lt"/>
                  <a:ea typeface="+mn-ea"/>
                  <a:cs typeface="+mn-cs"/>
                </a:rPr>
                <a:t>better generative models.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08685" y="6488906"/>
            <a:ext cx="28053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Langevin Autoencoders · NeurIPS 2022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49717" y="6488906"/>
            <a:ext cx="4335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7 / 10</a:t>
            </a:r>
          </a:p>
        </p:txBody>
      </p:sp>
      <p:sp>
        <p:nvSpPr>
          <p:cNvPr id="35" name="cue_s07_c1_toy_problems_amortized_langevin_dyna" title="cue_s07_c1_toy_problems_amortized_langevin_dyna" descr="cue_s07_c1_toy_problems_amortized_langevin_dyna On toy problems, amortized Langevin dynamics reproduces multimodal, correlated posteriors that variational inference misses."/>
          <p:cNvSpPr/>
          <p:nvPr/>
        </p:nvSpPr>
        <p:spPr>
          <a:xfrm>
            <a:off x="914400" y="4343171"/>
            <a:ext cx="335280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7_c2_images_langevin_autoencoder_achieves" title="cue_s07_c2_images_langevin_autoencoder_achieves" descr="cue_s07_c2_images_langevin_autoencoder_achieves On images, the Langevin autoencoder achieves the lowest negative ELBO on all four datasets."/>
          <p:cNvSpPr/>
          <p:nvPr/>
        </p:nvSpPr>
        <p:spPr>
          <a:xfrm>
            <a:off x="4419600" y="4343171"/>
            <a:ext cx="335280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7_c3_lesson_more_accurate_posterior_sampl" title="cue_s07_c3_lesson_more_accurate_posterior_sampl" descr="cue_s07_c3_lesson_more_accurate_posterior_sampl The lesson: more accurate posterior sampling yields better generative models."/>
          <p:cNvSpPr/>
          <p:nvPr/>
        </p:nvSpPr>
        <p:spPr>
          <a:xfrm>
            <a:off x="7924800" y="4343171"/>
            <a:ext cx="3352800" cy="168021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01446" y="543878"/>
            <a:ext cx="10382250" cy="498729"/>
            <a:chOff x="901446" y="543878"/>
            <a:chExt cx="10382250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901446" y="543878"/>
              <a:ext cx="62620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Ablations: what actually matters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4400" y="990600"/>
              <a:ext cx="857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60620" y="632460"/>
              <a:ext cx="1323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spc="75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08 · ABLATION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1390650"/>
            <a:ext cx="2571750" cy="476250"/>
            <a:chOff x="914400" y="1390650"/>
            <a:chExt cx="2571750" cy="476250"/>
          </a:xfrm>
        </p:grpSpPr>
        <p:sp>
          <p:nvSpPr>
            <p:cNvPr id="6" name="Rectangle 6"/>
            <p:cNvSpPr/>
            <p:nvPr/>
          </p:nvSpPr>
          <p:spPr>
            <a:xfrm>
              <a:off x="914400" y="1390650"/>
              <a:ext cx="2571750" cy="47625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1768" y="1526858"/>
              <a:ext cx="15633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Two ablations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714750" y="2000250"/>
            <a:ext cx="7562850" cy="1943100"/>
            <a:chOff x="3714750" y="2000250"/>
            <a:chExt cx="7562850" cy="1943100"/>
          </a:xfrm>
        </p:grpSpPr>
        <p:sp>
          <p:nvSpPr>
            <p:cNvPr id="9" name="Rectangle 9"/>
            <p:cNvSpPr/>
            <p:nvPr/>
          </p:nvSpPr>
          <p:spPr>
            <a:xfrm>
              <a:off x="3714750" y="2000250"/>
              <a:ext cx="7562850" cy="1943100"/>
            </a:xfrm>
            <a:prstGeom prst="roundRect">
              <a:avLst>
                <a:gd name="adj" fmla="val 392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37219" y="2133600"/>
              <a:ext cx="6117913" cy="14287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4457652" y="3688556"/>
              <a:ext cx="60770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Fig. 2 — When d ≥ n the samples match ground truth; at d &lt; n some points collapse.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4400" y="2171700"/>
            <a:ext cx="2571750" cy="3848100"/>
            <a:chOff x="914400" y="2171700"/>
            <a:chExt cx="2571750" cy="3848100"/>
          </a:xfrm>
        </p:grpSpPr>
        <p:sp>
          <p:nvSpPr>
            <p:cNvPr id="13" name="Rectangle 13"/>
            <p:cNvSpPr/>
            <p:nvPr/>
          </p:nvSpPr>
          <p:spPr>
            <a:xfrm>
              <a:off x="914400" y="2171700"/>
              <a:ext cx="2571750" cy="38481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14400" y="2171700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7666" y="2477452"/>
              <a:ext cx="1503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ENCODER CAPACITY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4999" y="2744629"/>
              <a:ext cx="9569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Theory,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4999" y="2992279"/>
              <a:ext cx="11722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confirmed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142" y="3416618"/>
              <a:ext cx="1782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When the last linear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142" y="3645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layer’s width d is at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6142" y="38738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least the batch size n,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6142" y="4102418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samples match the true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6142" y="4331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posterior.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43000" y="4762500"/>
              <a:ext cx="2114550" cy="1009650"/>
            </a:xfrm>
            <a:prstGeom prst="roundRect">
              <a:avLst>
                <a:gd name="adj" fmla="val 7547"/>
              </a:avLst>
            </a:prstGeom>
            <a:solidFill>
              <a:srgbClr val="FEF2F2"/>
            </a:solidFill>
            <a:ln w="14288">
              <a:solidFill>
                <a:srgbClr val="FCA5A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26642" y="4940618"/>
              <a:ext cx="7781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If d &lt; n: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6642" y="5207318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samples for some data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6642" y="543591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points collapse.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714750" y="4191000"/>
            <a:ext cx="7562850" cy="1828800"/>
            <a:chOff x="3714750" y="4191000"/>
            <a:chExt cx="7562850" cy="1828800"/>
          </a:xfrm>
        </p:grpSpPr>
        <p:sp>
          <p:nvSpPr>
            <p:cNvPr id="28" name="Rectangle 28"/>
            <p:cNvSpPr/>
            <p:nvPr/>
          </p:nvSpPr>
          <p:spPr>
            <a:xfrm>
              <a:off x="3714750" y="4191000"/>
              <a:ext cx="7562850" cy="18288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14750" y="4191000"/>
              <a:ext cx="756285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38016" y="4496752"/>
              <a:ext cx="1592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 IMAGE DATASETS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943350" y="4781550"/>
              <a:ext cx="3486150" cy="1047750"/>
            </a:xfrm>
            <a:prstGeom prst="roundRect">
              <a:avLst>
                <a:gd name="adj" fmla="val 727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26230" y="4943475"/>
              <a:ext cx="2472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M–H step is important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26992" y="5245418"/>
              <a:ext cx="3047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The Metropolis–Hastings rejection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26992" y="5474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step stabilizes training.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562850" y="4781550"/>
              <a:ext cx="3486150" cy="1047750"/>
            </a:xfrm>
            <a:prstGeom prst="roundRect">
              <a:avLst>
                <a:gd name="adj" fmla="val 727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45730" y="4943475"/>
              <a:ext cx="27636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Iterations barely matter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46492" y="5245418"/>
              <a:ext cx="2375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As long as it is ≥ 2 — so the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6492" y="547401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experiments use just two steps.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08685" y="6488906"/>
            <a:ext cx="28053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Langevin Autoencoders · NeurIPS 2022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49717" y="6488906"/>
            <a:ext cx="4335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8 / 10</a:t>
            </a:r>
          </a:p>
        </p:txBody>
      </p:sp>
      <p:sp>
        <p:nvSpPr>
          <p:cNvPr id="42" name="cue_s08_c1_two_ablations" title="cue_s08_c1_two_ablations" descr="cue_s08_c1_two_ablations Two ablations."/>
          <p:cNvSpPr/>
          <p:nvPr/>
        </p:nvSpPr>
        <p:spPr>
          <a:xfrm>
            <a:off x="914400" y="1390802"/>
            <a:ext cx="2571292" cy="4759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8_c2_encoder_capacity_confirms_theory_whe" title="cue_s08_c2_encoder_capacity_confirms_theory_whe" descr="cue_s08_c2_encoder_capacity_confirms_theory_whe Encoder capacity confirms the theory: when the final linear layer is at least the batch size, samples match the true posterior; smaller, and some collapse."/>
          <p:cNvSpPr/>
          <p:nvPr/>
        </p:nvSpPr>
        <p:spPr>
          <a:xfrm>
            <a:off x="914400" y="2171928"/>
            <a:ext cx="2571292" cy="38480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8_c3_images_metropolis_hastings_step_stab" title="cue_s08_c3_images_metropolis_hastings_step_stab" descr="cue_s08_c3_images_metropolis_hastings_step_stab On images, the Metropolis-Hastings step stabilizes training, while iteration count barely matters beyond two, so experiments use just two."/>
          <p:cNvSpPr/>
          <p:nvPr/>
        </p:nvSpPr>
        <p:spPr>
          <a:xfrm>
            <a:off x="3714902" y="4190923"/>
            <a:ext cx="7562697" cy="18290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01446" y="543878"/>
            <a:ext cx="10382250" cy="498729"/>
            <a:chOff x="901446" y="543878"/>
            <a:chExt cx="10382250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901446" y="543878"/>
              <a:ext cx="23599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numbers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4400" y="990600"/>
              <a:ext cx="857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31503" y="632460"/>
              <a:ext cx="2152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spc="75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09 · HEADLINE NUMBERS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1333500"/>
            <a:ext cx="3905250" cy="476250"/>
            <a:chOff x="914400" y="1333500"/>
            <a:chExt cx="3905250" cy="476250"/>
          </a:xfrm>
        </p:grpSpPr>
        <p:sp>
          <p:nvSpPr>
            <p:cNvPr id="6" name="Rectangle 6"/>
            <p:cNvSpPr/>
            <p:nvPr/>
          </p:nvSpPr>
          <p:spPr>
            <a:xfrm>
              <a:off x="914400" y="1333500"/>
              <a:ext cx="3905250" cy="47625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1768" y="1469708"/>
              <a:ext cx="35000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Consistent, but modest, gains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08304" y="2042160"/>
            <a:ext cx="6632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Negative ELBO per dimension — lower is better. LAE = Langevin autoencoder (ours).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4400" y="2324100"/>
            <a:ext cx="6096000" cy="438150"/>
            <a:chOff x="914400" y="2324100"/>
            <a:chExt cx="6096000" cy="438150"/>
          </a:xfrm>
        </p:grpSpPr>
        <p:sp>
          <p:nvSpPr>
            <p:cNvPr id="10" name="Rectangle 10"/>
            <p:cNvSpPr/>
            <p:nvPr/>
          </p:nvSpPr>
          <p:spPr>
            <a:xfrm>
              <a:off x="914400" y="2324100"/>
              <a:ext cx="6096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761" y="2456021"/>
              <a:ext cx="793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Dataset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94545" y="245602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BFDBFE"/>
                  </a:solidFill>
                  <a:latin typeface="+mn-lt"/>
                  <a:ea typeface="+mn-ea"/>
                  <a:cs typeface="+mn-cs"/>
                </a:rPr>
                <a:t>VAE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4344" y="2456021"/>
              <a:ext cx="1093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LAE (ours)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2762250"/>
            <a:ext cx="6096000" cy="571500"/>
            <a:chOff x="914400" y="2762250"/>
            <a:chExt cx="6096000" cy="571500"/>
          </a:xfrm>
        </p:grpSpPr>
        <p:sp>
          <p:nvSpPr>
            <p:cNvPr id="15" name="Rectangle 15"/>
            <p:cNvSpPr/>
            <p:nvPr/>
          </p:nvSpPr>
          <p:spPr>
            <a:xfrm>
              <a:off x="914400" y="2762250"/>
              <a:ext cx="6096000" cy="571500"/>
            </a:xfrm>
            <a:prstGeom prst="rect">
              <a:avLst/>
            </a:prstGeom>
            <a:solidFill>
              <a:srgbClr val="FEF9C3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0" y="2762250"/>
              <a:ext cx="1676400" cy="5715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2952750"/>
              <a:ext cx="620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MNIST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91476" y="29527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1.189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2094" y="2952750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1.177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3333750"/>
            <a:ext cx="6096000" cy="1657350"/>
            <a:chOff x="914400" y="3333750"/>
            <a:chExt cx="6096000" cy="1657350"/>
          </a:xfrm>
        </p:grpSpPr>
        <p:grpSp>
          <p:nvGrpSpPr>
            <p:cNvPr id="36" name="Group 36"/>
            <p:cNvGrpSpPr/>
            <p:nvPr/>
          </p:nvGrpSpPr>
          <p:grpSpPr>
            <a:xfrm>
              <a:off x="914400" y="3333750"/>
              <a:ext cx="6096000" cy="1657350"/>
              <a:chOff x="914400" y="3333750"/>
              <a:chExt cx="6096000" cy="16573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14400" y="3333750"/>
                <a:ext cx="6096000" cy="5524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334000" y="3333750"/>
                <a:ext cx="1676400" cy="552450"/>
              </a:xfrm>
              <a:prstGeom prst="rect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35380" y="3514725"/>
                <a:ext cx="9449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CIFAR-10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247007" y="3514725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2"/>
                    </a:solidFill>
                    <a:latin typeface="Consolas"/>
                    <a:ea typeface="Consolas"/>
                    <a:cs typeface="Consolas"/>
                  </a:rPr>
                  <a:t>4.82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50401" y="35147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4.77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914400" y="3886200"/>
                <a:ext cx="6096000" cy="5524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334000" y="3886200"/>
                <a:ext cx="1676400" cy="552450"/>
              </a:xfrm>
              <a:prstGeom prst="rect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135380" y="4067175"/>
                <a:ext cx="6741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CelebA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247007" y="4067175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2"/>
                    </a:solidFill>
                    <a:latin typeface="Consolas"/>
                    <a:ea typeface="Consolas"/>
                    <a:cs typeface="Consolas"/>
                  </a:rPr>
                  <a:t>4.67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950401" y="406717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4.64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14400" y="4438650"/>
                <a:ext cx="6096000" cy="55245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334000" y="4438650"/>
                <a:ext cx="1676400" cy="552450"/>
              </a:xfrm>
              <a:prstGeom prst="rect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135380" y="4619625"/>
                <a:ext cx="5081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SVHN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47007" y="4619625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2"/>
                    </a:solidFill>
                    <a:latin typeface="Consolas"/>
                    <a:ea typeface="Consolas"/>
                    <a:cs typeface="Consolas"/>
                  </a:rPr>
                  <a:t>4.44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950401" y="46196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4.41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7025855" y="2190750"/>
            <a:ext cx="4579189" cy="2800350"/>
            <a:chOff x="7025855" y="2190750"/>
            <a:chExt cx="4579189" cy="2800350"/>
          </a:xfrm>
        </p:grpSpPr>
        <p:sp>
          <p:nvSpPr>
            <p:cNvPr id="38" name="Rectangle 38"/>
            <p:cNvSpPr/>
            <p:nvPr/>
          </p:nvSpPr>
          <p:spPr>
            <a:xfrm>
              <a:off x="7353300" y="2190750"/>
              <a:ext cx="3924300" cy="2800350"/>
            </a:xfrm>
            <a:prstGeom prst="roundRect">
              <a:avLst>
                <a:gd name="adj" fmla="val 340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86084" y="2343150"/>
              <a:ext cx="3458731" cy="2286000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7025855" y="4755356"/>
              <a:ext cx="45791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Fig. 4 — Training ELBO: dropping the M–H step destabilizes it.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14400" y="5200650"/>
            <a:ext cx="10392661" cy="914400"/>
            <a:chOff x="914400" y="5200650"/>
            <a:chExt cx="10392661" cy="914400"/>
          </a:xfrm>
        </p:grpSpPr>
        <p:sp>
          <p:nvSpPr>
            <p:cNvPr id="42" name="Rectangle 42"/>
            <p:cNvSpPr/>
            <p:nvPr/>
          </p:nvSpPr>
          <p:spPr>
            <a:xfrm>
              <a:off x="914400" y="5200650"/>
              <a:ext cx="10363200" cy="914400"/>
            </a:xfrm>
            <a:prstGeom prst="roundRect">
              <a:avLst>
                <a:gd name="adj" fmla="val 125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13485" y="5460206"/>
              <a:ext cx="8884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THE COST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10818" y="5727382"/>
              <a:ext cx="18227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Training is about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34868" y="5727382"/>
              <a:ext cx="1486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CA5A5"/>
                  </a:solidFill>
                  <a:latin typeface="+mn-lt"/>
                  <a:ea typeface="+mn-ea"/>
                  <a:cs typeface="+mn-cs"/>
                </a:rPr>
                <a:t>2.25× slower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40249" y="5735479"/>
              <a:ext cx="62668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than a VAE, but as fast as the encoder-initialized Langevin.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908685" y="6488906"/>
            <a:ext cx="28053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Langevin Autoencoders · NeurIPS 2022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849717" y="6488906"/>
            <a:ext cx="4335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9 / 10</a:t>
            </a:r>
          </a:p>
        </p:txBody>
      </p:sp>
      <p:sp>
        <p:nvSpPr>
          <p:cNvPr id="50" name="cue_s09_c1_gains_consistent_but_modest" title="cue_s09_c1_gains_consistent_but_modest" descr="cue_s09_c1_gains_consistent_but_modest The gains are consistent but modest."/>
          <p:cNvSpPr/>
          <p:nvPr/>
        </p:nvSpPr>
        <p:spPr>
          <a:xfrm>
            <a:off x="914400" y="1333195"/>
            <a:ext cx="3905097" cy="4759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9_c2_mnist_negative_elbo_drops_one" title="cue_s09_c2_mnist_negative_elbo_drops_one" descr="cue_s09_c2_mnist_negative_elbo_drops_one On MNIST, negative ELBO drops to one point one seven seven per dimension, versus one point one eight nine for the VAE."/>
          <p:cNvSpPr/>
          <p:nvPr/>
        </p:nvSpPr>
        <p:spPr>
          <a:xfrm>
            <a:off x="914400" y="2762402"/>
            <a:ext cx="6096000" cy="5712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9_c3_cifar_10_celeba_s_v_h_n_show_similar" title="cue_s09_c3_cifar_10_celeba_s_v_h_n_show_similar" descr="cue_s09_c3_cifar_10_celeba_s_v_h_n_show_similar CIFAR-10, CelebA, and S-V-H-N show similar small improvements."/>
          <p:cNvSpPr/>
          <p:nvPr/>
        </p:nvSpPr>
        <p:spPr>
          <a:xfrm>
            <a:off x="914400" y="3333673"/>
            <a:ext cx="6096000" cy="16575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e_s09_c4_cost_about_two_and_a_quarter_times_s" title="cue_s09_c4_cost_about_two_and_a_quarter_times_s" descr="cue_s09_c4_cost_about_two_and_a_quarter_times_s The cost: about two-and-a-quarter times slower than a VAE, but the same speed as the encoder-initialized Langevin baseline."/>
          <p:cNvSpPr/>
          <p:nvPr/>
        </p:nvSpPr>
        <p:spPr>
          <a:xfrm>
            <a:off x="914400" y="5200421"/>
            <a:ext cx="10392460" cy="914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grpSp>
        <p:nvGrpSpPr>
          <p:cNvPr id="6" name="Group 6"/>
          <p:cNvGrpSpPr/>
          <p:nvPr/>
        </p:nvGrpSpPr>
        <p:grpSpPr>
          <a:xfrm>
            <a:off x="900684" y="622935"/>
            <a:ext cx="10383012" cy="529590"/>
            <a:chOff x="900684" y="622935"/>
            <a:chExt cx="10383012" cy="529590"/>
          </a:xfrm>
        </p:grpSpPr>
        <p:sp>
          <p:nvSpPr>
            <p:cNvPr id="3" name="TextBox 3"/>
            <p:cNvSpPr txBox="1"/>
            <p:nvPr/>
          </p:nvSpPr>
          <p:spPr>
            <a:xfrm>
              <a:off x="900684" y="622935"/>
              <a:ext cx="193207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Takeaway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914400" y="1104900"/>
              <a:ext cx="1143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915815" y="727710"/>
              <a:ext cx="1367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spc="75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10 · TAKEAWAY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4113" y="1572101"/>
            <a:ext cx="10841528" cy="2350294"/>
            <a:chOff x="904113" y="1572101"/>
            <a:chExt cx="10841528" cy="2350294"/>
          </a:xfrm>
        </p:grpSpPr>
        <p:sp>
          <p:nvSpPr>
            <p:cNvPr id="7" name="TextBox 7"/>
            <p:cNvSpPr txBox="1"/>
            <p:nvPr/>
          </p:nvSpPr>
          <p:spPr>
            <a:xfrm>
              <a:off x="904113" y="1572101"/>
              <a:ext cx="108415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Move the Langevin noise from the latents to the encoder’s parameters —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4113" y="1915001"/>
              <a:ext cx="879978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and posterior sampling becomes both efficient and flexible.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2476500"/>
              <a:ext cx="5181600" cy="1428750"/>
            </a:xfrm>
            <a:prstGeom prst="roundRect">
              <a:avLst>
                <a:gd name="adj" fmla="val 8000"/>
              </a:avLst>
            </a:prstGeom>
            <a:solidFill>
              <a:srgbClr val="EFF6F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13485" y="2736056"/>
              <a:ext cx="841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EFFICIENT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0437" y="3033236"/>
              <a:ext cx="324690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Amortized across all data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1580" y="3400425"/>
              <a:ext cx="2859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One shared encoder replaces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1580" y="36290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per-datapoint sampling chains.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324600" y="2476500"/>
              <a:ext cx="4953000" cy="1428750"/>
            </a:xfrm>
            <a:prstGeom prst="roundRect">
              <a:avLst>
                <a:gd name="adj" fmla="val 8000"/>
              </a:avLst>
            </a:prstGeom>
            <a:solidFill>
              <a:srgbClr val="ECFEFF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23685" y="2736056"/>
              <a:ext cx="780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FLEXIBLE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20637" y="3033236"/>
              <a:ext cx="184992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Genuine MCMC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21780" y="3400425"/>
              <a:ext cx="3068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Not a constrained Gaussian — 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21780" y="3629025"/>
              <a:ext cx="3316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can capture any posterior shape.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4400" y="4171950"/>
            <a:ext cx="11343641" cy="1428750"/>
            <a:chOff x="914400" y="4171950"/>
            <a:chExt cx="11343641" cy="1428750"/>
          </a:xfrm>
        </p:grpSpPr>
        <p:sp>
          <p:nvSpPr>
            <p:cNvPr id="20" name="Rectangle 20"/>
            <p:cNvSpPr/>
            <p:nvPr/>
          </p:nvSpPr>
          <p:spPr>
            <a:xfrm>
              <a:off x="914400" y="4171950"/>
              <a:ext cx="10363200" cy="14287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13485" y="4450556"/>
              <a:ext cx="10816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rgbClr val="93C5FD"/>
                  </a:solidFill>
                  <a:latin typeface="+mn-lt"/>
                  <a:ea typeface="+mn-ea"/>
                  <a:cs typeface="+mn-cs"/>
                </a:rPr>
                <a:t>THE RESULT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9294" y="4742498"/>
              <a:ext cx="110487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Provably valid as MCMC. Almost identical to a standard autoencoder in code.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9294" y="5104448"/>
              <a:ext cx="99566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A5F3FC"/>
                  </a:solidFill>
                  <a:latin typeface="+mj-lt"/>
                  <a:ea typeface="+mj-ea"/>
                  <a:cs typeface="+mj-cs"/>
                </a:rPr>
                <a:t>Yet it consistently beats variational autoencoders on test likelihood.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06780" y="5895975"/>
            <a:ext cx="93413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i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In effect: the ordinary autoencoder, reframed as bias-corrected, sampling-based inference.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8685" y="6450806"/>
            <a:ext cx="42853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Langevin Autoencoders · NeurIPS 2022 · arXiv:2209.07036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66791" y="6450806"/>
            <a:ext cx="51652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10 / 10</a:t>
            </a:r>
          </a:p>
        </p:txBody>
      </p:sp>
      <p:sp>
        <p:nvSpPr>
          <p:cNvPr id="28" name="cue_s10_c1_takeaway_elegant_move_langevin_noise" title="cue_s10_c1_takeaway_elegant_move_langevin_noise" descr="cue_s10_c1_takeaway_elegant_move_langevin_noise The takeaway is elegant: move Langevin noise from the latents to the encoder's parameters, and sampling becomes both efficient, amortized across all data, and flexible, genuine MCMC."/>
          <p:cNvSpPr/>
          <p:nvPr/>
        </p:nvSpPr>
        <p:spPr>
          <a:xfrm>
            <a:off x="904646" y="1571853"/>
            <a:ext cx="10841126" cy="235023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ue_s10_c2_provably_valid_looks_almost_like" title="cue_s10_c2_provably_valid_looks_almost_like" descr="cue_s10_c2_provably_valid_looks_almost_like Provably valid, it looks almost like a standard autoencoder yet consistently beats variational autoencoders on test likelihood."/>
          <p:cNvSpPr/>
          <p:nvPr/>
        </p:nvSpPr>
        <p:spPr>
          <a:xfrm>
            <a:off x="914400" y="4171721"/>
            <a:ext cx="103632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ae_deck">
  <a:themeElements>
    <a:clrScheme name="lae_deck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1E3A8A"/>
      </a:accent1>
      <a:accent2>
        <a:srgbClr val="B91C1C"/>
      </a:accent2>
      <a:accent3>
        <a:srgbClr val="0E7490"/>
      </a:accent3>
      <a:accent4>
        <a:srgbClr val="CBD5E1"/>
      </a:accent4>
      <a:accent5>
        <a:srgbClr val="4BACC6"/>
      </a:accent5>
      <a:accent6>
        <a:srgbClr val="F79646"/>
      </a:accent6>
      <a:hlink>
        <a:srgbClr val="B91C1C"/>
      </a:hlink>
      <a:folHlink>
        <a:srgbClr val="0E7490"/>
      </a:folHlink>
    </a:clrScheme>
    <a:fontScheme name="lae_deck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e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2026-07-15T01:46:01Z</dcterms:created>
  <dcterms:modified xsi:type="dcterms:W3CDTF">2026-07-15T01:46:01Z</dcterms:modified>
  <cp:category/>
  <cp:contentStatus/>
</cp:coreProperties>
</file>
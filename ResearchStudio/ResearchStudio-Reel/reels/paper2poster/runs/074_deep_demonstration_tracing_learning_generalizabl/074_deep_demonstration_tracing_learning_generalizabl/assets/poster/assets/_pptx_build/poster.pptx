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22016"/>
          </a:xfrm>
          <a:prstGeom prst="roundRect">
            <a:avLst>
              <a:gd name="adj" fmla="val 2832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195357"/>
            <a:ext cx="10152102" cy="875734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6195357"/>
            <a:ext cx="160020" cy="8757345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30709" y="6195357"/>
            <a:ext cx="15628064" cy="2387659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0709" y="6195357"/>
            <a:ext cx="160020" cy="23876595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285493" y="6195357"/>
            <a:ext cx="12690058" cy="710199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285493" y="6195357"/>
            <a:ext cx="160020" cy="710199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02271" y="6195357"/>
            <a:ext cx="10152241" cy="10425470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402271" y="6195357"/>
            <a:ext cx="160020" cy="1042547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285493" y="13629203"/>
            <a:ext cx="12690058" cy="1644274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85493" y="13629203"/>
            <a:ext cx="160020" cy="16442749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887" y="15284549"/>
            <a:ext cx="10152102" cy="1478740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887" y="15284549"/>
            <a:ext cx="160020" cy="1478740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402271" y="16952674"/>
            <a:ext cx="10152241" cy="603269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02271" y="16952674"/>
            <a:ext cx="160020" cy="6032698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402271" y="23317219"/>
            <a:ext cx="10152241" cy="6754733"/>
          </a:xfrm>
          <a:prstGeom prst="rect">
            <a:avLst/>
          </a:prstGeom>
          <a:solidFill>
            <a:srgbClr val="F6ECF1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402271" y="23317219"/>
            <a:ext cx="53340" cy="675473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1841063" y="11087913"/>
            <a:ext cx="14629606" cy="2141657"/>
          </a:xfrm>
          <a:prstGeom prst="roundRect">
            <a:avLst>
              <a:gd name="adj" fmla="val 10520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2241" y="11727576"/>
            <a:ext cx="9153644" cy="2837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2241" y="11727576"/>
            <a:ext cx="124460" cy="2837022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012625" y="18443138"/>
            <a:ext cx="9153783" cy="4154130"/>
          </a:xfrm>
          <a:prstGeom prst="roundRect">
            <a:avLst>
              <a:gd name="adj" fmla="val 1712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895847" y="20044171"/>
            <a:ext cx="11691600" cy="1942188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905945" y="27337027"/>
            <a:ext cx="9260463" cy="2346821"/>
          </a:xfrm>
          <a:prstGeom prst="roundRect">
            <a:avLst>
              <a:gd name="adj" fmla="val 8889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nanjing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0818" y="3625175"/>
            <a:ext cx="8890000" cy="497840"/>
          </a:xfrm>
          <a:prstGeom prst="rect">
            <a:avLst/>
          </a:prstGeom>
        </p:spPr>
      </p:pic>
      <p:pic>
        <p:nvPicPr>
          <p:cNvPr id="27" name="Picture 26" descr="national-university-of-defense-techn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1186" y="4288876"/>
            <a:ext cx="1722993" cy="497826"/>
          </a:xfrm>
          <a:prstGeom prst="rect">
            <a:avLst/>
          </a:prstGeom>
        </p:spPr>
      </p:pic>
      <p:pic>
        <p:nvPicPr>
          <p:cNvPr id="28" name="Picture 27" descr="nanjing-university-of-science-and-technolog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1153" y="4288869"/>
            <a:ext cx="497840" cy="497840"/>
          </a:xfrm>
          <a:prstGeom prst="rect">
            <a:avLst/>
          </a:prstGeom>
        </p:spPr>
      </p:pic>
      <p:pic>
        <p:nvPicPr>
          <p:cNvPr id="29" name="Picture 28" descr="polixir-technolog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5967" y="4288933"/>
            <a:ext cx="314345" cy="49771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7895847" y="10136961"/>
            <a:ext cx="4033699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Single/Multi-map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85954" y="10136961"/>
            <a:ext cx="3837563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Obstacle / None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025127" y="10596324"/>
            <a:ext cx="9128780" cy="3245128"/>
          </a:xfrm>
          <a:prstGeom prst="roundRect">
            <a:avLst>
              <a:gd name="adj" fmla="val 109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ge8_figur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25231" y="10596324"/>
            <a:ext cx="9128571" cy="324512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7895847" y="11113194"/>
            <a:ext cx="3516551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Coords / None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68806" y="11113194"/>
            <a:ext cx="2892584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Meta-World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617798" y="11113194"/>
            <a:ext cx="223708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Reacher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11292" y="11113194"/>
            <a:ext cx="199024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Pusher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895847" y="12089427"/>
            <a:ext cx="223569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MuJoCo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21363" y="13631009"/>
            <a:ext cx="14268867" cy="15329277"/>
          </a:xfrm>
          <a:prstGeom prst="roundRect">
            <a:avLst>
              <a:gd name="adj" fmla="val 24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ge4_figure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1379" y="13631009"/>
            <a:ext cx="14268835" cy="15329277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6109374" y="18665388"/>
            <a:ext cx="3811170" cy="3757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109374" y="18665388"/>
            <a:ext cx="11557" cy="3757136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908904" y="22705754"/>
            <a:ext cx="11665347" cy="5698629"/>
          </a:xfrm>
          <a:prstGeom prst="roundRect">
            <a:avLst>
              <a:gd name="adj" fmla="val 62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age7_figure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08969" y="22705754"/>
            <a:ext cx="11665218" cy="5698629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288494" y="23135113"/>
            <a:ext cx="9100998" cy="4713367"/>
          </a:xfrm>
          <a:prstGeom prst="roundRect">
            <a:avLst>
              <a:gd name="adj" fmla="val 75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age3_figur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8567" y="23135113"/>
            <a:ext cx="9100852" cy="4713367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1841063" y="768582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41063" y="887722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841063" y="1006861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012625" y="7710130"/>
            <a:ext cx="4928255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012625" y="8407717"/>
            <a:ext cx="49282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940880" y="7710130"/>
            <a:ext cx="4225528" cy="706477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940880" y="8407717"/>
            <a:ext cx="422552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012625" y="8416607"/>
            <a:ext cx="49282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012625" y="9352835"/>
            <a:ext cx="49282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940880" y="8416607"/>
            <a:ext cx="422552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40880" y="9352835"/>
            <a:ext cx="422552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012625" y="9361725"/>
            <a:ext cx="49282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012625" y="10297953"/>
            <a:ext cx="49282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940880" y="9361725"/>
            <a:ext cx="422552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940880" y="10297953"/>
            <a:ext cx="422552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895847" y="15491241"/>
            <a:ext cx="3894098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895847" y="16296759"/>
            <a:ext cx="389409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1789945" y="15491241"/>
            <a:ext cx="1785779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1789945" y="16296759"/>
            <a:ext cx="1785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575724" y="15491241"/>
            <a:ext cx="3004959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575724" y="16296759"/>
            <a:ext cx="30049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80683" y="15491241"/>
            <a:ext cx="3006764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80683" y="16296759"/>
            <a:ext cx="30067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7895847" y="16305649"/>
            <a:ext cx="389409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7895847" y="17115611"/>
            <a:ext cx="389409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789945" y="16305649"/>
            <a:ext cx="178577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789945" y="17115611"/>
            <a:ext cx="1785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575724" y="16305649"/>
            <a:ext cx="300495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575724" y="17115611"/>
            <a:ext cx="30049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580683" y="16305649"/>
            <a:ext cx="300676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580683" y="17115611"/>
            <a:ext cx="30067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895847" y="17124501"/>
            <a:ext cx="3894098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895847" y="17934463"/>
            <a:ext cx="389409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789945" y="17124501"/>
            <a:ext cx="178577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789945" y="17934463"/>
            <a:ext cx="1785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3575724" y="17124501"/>
            <a:ext cx="3004959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3575724" y="17934463"/>
            <a:ext cx="30049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580683" y="17124501"/>
            <a:ext cx="3006764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80683" y="17934463"/>
            <a:ext cx="30067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895847" y="17943353"/>
            <a:ext cx="389409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895847" y="18753316"/>
            <a:ext cx="389409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1789945" y="17943353"/>
            <a:ext cx="178577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789945" y="18753316"/>
            <a:ext cx="1785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575724" y="17943353"/>
            <a:ext cx="300495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3575724" y="18753316"/>
            <a:ext cx="30049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80683" y="17943353"/>
            <a:ext cx="3006764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80683" y="18753316"/>
            <a:ext cx="30067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7895847" y="18762206"/>
            <a:ext cx="3894098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7895847" y="19572168"/>
            <a:ext cx="389409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1789945" y="18762206"/>
            <a:ext cx="1785779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1789945" y="19572168"/>
            <a:ext cx="1785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3575724" y="18762206"/>
            <a:ext cx="3004959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3575724" y="19572168"/>
            <a:ext cx="300495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6580683" y="18762206"/>
            <a:ext cx="3006764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6580683" y="19572168"/>
            <a:ext cx="300676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315581" y="1007487"/>
            <a:ext cx="39495630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191"/>
              </a:lnSpc>
              <a:spcBef>
                <a:spcPts val="0"/>
              </a:spcBef>
              <a:spcAft>
                <a:spcPts val="0"/>
              </a:spcAft>
            </a:pPr>
            <a:r>
              <a:rPr sz="7584" b="1" spc="-82">
                <a:solidFill>
                  <a:srgbClr val="7D2860"/>
                </a:solidFill>
                <a:latin typeface="Arial"/>
              </a:rPr>
              <a:t>Deep Demonstration Tracing: Learning a Generalizable Imitator Policy from a</a:t>
            </a:r>
          </a:p>
          <a:p>
            <a:pPr algn="l">
              <a:lnSpc>
                <a:spcPts val="8191"/>
              </a:lnSpc>
              <a:spcBef>
                <a:spcPts val="0"/>
              </a:spcBef>
              <a:spcAft>
                <a:spcPts val="0"/>
              </a:spcAft>
            </a:pPr>
            <a:r>
              <a:rPr sz="7584" b="1" spc="-82">
                <a:solidFill>
                  <a:srgbClr val="7D2860"/>
                </a:solidFill>
                <a:latin typeface="Arial"/>
              </a:rPr>
              <a:t>Single Demonstration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15581" y="3489741"/>
            <a:ext cx="39495630" cy="14884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Xiong-Hui Chen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1,2,*</a:t>
            </a:r>
            <a:r>
              <a:rPr sz="3920" b="0">
                <a:solidFill>
                  <a:srgbClr val="1B2331"/>
                </a:solidFill>
                <a:latin typeface="Arial"/>
              </a:rPr>
              <a:t>, Junyin Ye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1,2,*</a:t>
            </a:r>
            <a:r>
              <a:rPr sz="3920" b="0">
                <a:solidFill>
                  <a:srgbClr val="1B2331"/>
                </a:solidFill>
                <a:latin typeface="Arial"/>
              </a:rPr>
              <a:t>, Hang Zhao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3,2</a:t>
            </a:r>
            <a:r>
              <a:rPr sz="3920" b="0">
                <a:solidFill>
                  <a:srgbClr val="1B2331"/>
                </a:solidFill>
                <a:latin typeface="Arial"/>
              </a:rPr>
              <a:t>, Yi-Chen Li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920" b="0">
                <a:solidFill>
                  <a:srgbClr val="1B2331"/>
                </a:solidFill>
                <a:latin typeface="Arial"/>
              </a:rPr>
              <a:t>, Xu-Hui Liu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920" b="0">
                <a:solidFill>
                  <a:srgbClr val="1B2331"/>
                </a:solidFill>
                <a:latin typeface="Arial"/>
              </a:rPr>
              <a:t>, Haoran Shi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Yu-Yan Xu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Zhihao Ye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920" b="0">
                <a:solidFill>
                  <a:srgbClr val="1B2331"/>
                </a:solidFill>
                <a:latin typeface="Arial"/>
              </a:rPr>
              <a:t>, Si-Hang Yang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</a:t>
            </a:r>
            <a:r>
              <a:rPr sz="3920" b="0">
                <a:solidFill>
                  <a:srgbClr val="1B2331"/>
                </a:solidFill>
                <a:latin typeface="Arial"/>
              </a:rPr>
              <a:t>, Yang Yu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1,2,†</a:t>
            </a:r>
            <a:r>
              <a:rPr sz="3920" b="0">
                <a:solidFill>
                  <a:srgbClr val="1B2331"/>
                </a:solidFill>
                <a:latin typeface="Arial"/>
              </a:rPr>
              <a:t>, Anqi Huang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4,2</a:t>
            </a:r>
            <a:r>
              <a:rPr sz="3920" b="0">
                <a:solidFill>
                  <a:srgbClr val="1B2331"/>
                </a:solidFill>
                <a:latin typeface="Arial"/>
              </a:rPr>
              <a:t>, Kai Xu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</a:t>
            </a:r>
          </a:p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Zongzhang Zhang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15581" y="4837132"/>
            <a:ext cx="39495630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Nanjing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Polixir Technologies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National University of Defense Technology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Nanjing University of Science and Technology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62241" y="6583461"/>
            <a:ext cx="942825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Problem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841063" y="6583461"/>
            <a:ext cx="1505632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Method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895847" y="6583461"/>
            <a:ext cx="1204234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Dataset / Benchmark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012625" y="6583461"/>
            <a:ext cx="942839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Ablation Study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62241" y="7685821"/>
            <a:ext cx="942825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One-shot imitation learning (OSIL)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learns a task from a single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demonstration, but prior methods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assume deployment matches the demo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fail under unforeseen changes.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62241" y="11727576"/>
            <a:ext cx="9428253" cy="3262575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An obstacle or disturbance after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demo pushes the agent into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unshown states where naive replay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fails.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895847" y="14017307"/>
            <a:ext cx="1204234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Key Results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62241" y="15672653"/>
            <a:ext cx="942825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Motivation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012625" y="17340778"/>
            <a:ext cx="942839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Headline Numbers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895847" y="20044171"/>
            <a:ext cx="12042348" cy="2233516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Best in every setting; only −15% drop under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7D2860"/>
                </a:solidFill>
                <a:latin typeface="Arial"/>
              </a:rPr>
              <a:t>obstacles vs −20/−33/−52% for baselines.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905945" y="23705323"/>
            <a:ext cx="953827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7D2860"/>
                </a:solidFill>
                <a:latin typeface="Arial"/>
              </a:rPr>
              <a:t>Takeaway 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905945" y="24807683"/>
            <a:ext cx="953827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DDT traces one demonstration via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meta-RL-trained transformer to stay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robust under unforeseen changes.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905945" y="27337027"/>
            <a:ext cx="9538276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Trace, don't replay: one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demonstration is enough when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agent detours and rejoins.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803205" y="7685821"/>
            <a:ext cx="14077487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Identify</a:t>
            </a:r>
            <a:r>
              <a:rPr sz="4106" b="0">
                <a:solidFill>
                  <a:srgbClr val="1C1C1C"/>
                </a:solidFill>
                <a:latin typeface="Arial"/>
              </a:rPr>
              <a:t> relevant demo states — attention.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895829" y="7685821"/>
            <a:ext cx="1204236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VPAM</a:t>
            </a:r>
            <a:r>
              <a:rPr sz="4106" b="0">
                <a:solidFill>
                  <a:srgbClr val="1C1C1C"/>
                </a:solidFill>
                <a:latin typeface="Arial"/>
              </a:rPr>
              <a:t> (Valet Parking Assist in Maze): reach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target from local 8-ray × 5-step views; obstacles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are absent from the demo.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803205" y="8877220"/>
            <a:ext cx="14077487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Analyze</a:t>
            </a:r>
            <a:r>
              <a:rPr sz="4106" b="0">
                <a:solidFill>
                  <a:srgbClr val="1C1C1C"/>
                </a:solidFill>
                <a:latin typeface="Arial"/>
              </a:rPr>
              <a:t> the expert there — point-wise mult.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803205" y="10068619"/>
            <a:ext cx="14077487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Trace</a:t>
            </a:r>
            <a:r>
              <a:rPr sz="4106" b="0">
                <a:solidFill>
                  <a:srgbClr val="1C1C1C"/>
                </a:solidFill>
                <a:latin typeface="Arial"/>
              </a:rPr>
              <a:t> back and take the action.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390312" y="13991054"/>
            <a:ext cx="8650362" cy="2557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Left: DDT (orange) learns faster and higher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than its ablated variants. Right: success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scales log-linearly (~2×) with data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model size.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62222" y="16995457"/>
            <a:ext cx="942827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human detours around 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obstacle, then rejoins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demonstrated route — agents need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adaptive </a:t>
            </a:r>
            <a:r>
              <a:rPr sz="4106" b="1">
                <a:solidFill>
                  <a:srgbClr val="111111"/>
                </a:solidFill>
                <a:latin typeface="Arial"/>
              </a:rPr>
              <a:t>tracing</a:t>
            </a:r>
            <a:r>
              <a:rPr sz="4106" b="0">
                <a:solidFill>
                  <a:srgbClr val="1C1C1C"/>
                </a:solidFill>
                <a:latin typeface="Arial"/>
              </a:rPr>
              <a:t>, not blind replay.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62222" y="20202802"/>
            <a:ext cx="942827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OSIL embeds the demo as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context vector and clones actions —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no guarantee in unseen states.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52567" y="27998082"/>
            <a:ext cx="8624037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Humans handle OSIL under unforeseen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change: detour around a temporarily parked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truck, then trace back to the expert path.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375490" y="28553985"/>
            <a:ext cx="11053997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Success rate across VPAM settings: DDT (red) beats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DCRL, CbMRL, and Trans4OSIL in every condition.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797557" y="29109888"/>
            <a:ext cx="11037973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Demonstration transformer (identify → analyze → trace).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258490" y="18665388"/>
            <a:ext cx="440551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0.73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258490" y="20040282"/>
            <a:ext cx="4405517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success under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unforeseen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obstacles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258490" y="21604644"/>
            <a:ext cx="4405517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the strongest baseline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reaches only 0.57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1012625" y="7710130"/>
            <a:ext cx="507610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ABLATED PART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940880" y="7710130"/>
            <a:ext cx="4352293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EFFECT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012625" y="8416607"/>
            <a:ext cx="507610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Std. transformer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5940880" y="8416607"/>
            <a:ext cx="435229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↓ final perf.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012625" y="9361725"/>
            <a:ext cx="5076102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No OSIL reward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940880" y="9361725"/>
            <a:ext cx="435229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↓ learn speed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895847" y="15491241"/>
            <a:ext cx="4010920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1789945" y="15491241"/>
            <a:ext cx="1839352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Train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575724" y="15491241"/>
            <a:ext cx="3095107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Non-Obs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580683" y="15491241"/>
            <a:ext cx="3096966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Obstacle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895847" y="16305649"/>
            <a:ext cx="401092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Trans4OSIL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789945" y="16305649"/>
            <a:ext cx="183935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0.33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575724" y="16305649"/>
            <a:ext cx="309510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0.28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80683" y="16305649"/>
            <a:ext cx="309696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895847" y="17124501"/>
            <a:ext cx="401092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CbMRL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1789945" y="17124501"/>
            <a:ext cx="183935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0.62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575724" y="17124501"/>
            <a:ext cx="309510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0.47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580683" y="17124501"/>
            <a:ext cx="309696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895847" y="17943353"/>
            <a:ext cx="4010920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DCRL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789945" y="17943353"/>
            <a:ext cx="183935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575724" y="17943353"/>
            <a:ext cx="3095107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0.62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580683" y="17943353"/>
            <a:ext cx="3096966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0.57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6587628" y="18665388"/>
            <a:ext cx="142944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−15%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895847" y="18762206"/>
            <a:ext cx="401092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DDT (ours)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1789945" y="18762206"/>
            <a:ext cx="183935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0.86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3575724" y="18762206"/>
            <a:ext cx="309510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0.84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6580683" y="18762206"/>
            <a:ext cx="309696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0.73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8157963" y="18798738"/>
            <a:ext cx="1815458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robustness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drop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587628" y="20004583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0.61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809586" y="20137933"/>
            <a:ext cx="217428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Meta-World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unseen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587628" y="21343917"/>
            <a:ext cx="951437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~2×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7693877" y="21477267"/>
            <a:ext cx="197441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from scaling</a:t>
            </a:r>
          </a:p>
        </p:txBody>
      </p:sp>
      <p:pic>
        <p:nvPicPr>
          <p:cNvPr id="163" name="Picture 162" descr="eq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44169" y="11727576"/>
            <a:ext cx="13823394" cy="862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
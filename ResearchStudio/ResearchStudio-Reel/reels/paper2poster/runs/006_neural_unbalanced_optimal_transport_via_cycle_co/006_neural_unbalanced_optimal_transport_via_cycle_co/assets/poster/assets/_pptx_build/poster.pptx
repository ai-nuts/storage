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588504"/>
          </a:xfrm>
          <a:prstGeom prst="roundRect">
            <a:avLst>
              <a:gd name="adj" fmla="val 3963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761845"/>
            <a:ext cx="10804961" cy="8903057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761845"/>
            <a:ext cx="27439124" cy="14717811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749412" y="4761845"/>
            <a:ext cx="10804962" cy="5823922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10917614"/>
            <a:ext cx="10804962" cy="626745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3996749"/>
            <a:ext cx="10804961" cy="16075203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7516911"/>
            <a:ext cx="10804962" cy="6073259"/>
          </a:xfrm>
          <a:prstGeom prst="roundRect">
            <a:avLst>
              <a:gd name="adj" fmla="val 2732"/>
            </a:avLst>
          </a:prstGeom>
          <a:solidFill>
            <a:srgbClr val="E9F2F3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49412" y="17516911"/>
            <a:ext cx="53340" cy="6073259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3922017"/>
            <a:ext cx="10804962" cy="6149935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487" y="1149732"/>
            <a:ext cx="3475851" cy="151712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9991" y="5149949"/>
            <a:ext cx="10028753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6060201"/>
            <a:ext cx="10028753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271672" y="5149949"/>
            <a:ext cx="26662916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271672" y="6060201"/>
            <a:ext cx="26662916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137516" y="5149949"/>
            <a:ext cx="10028754" cy="17103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37516" y="6842521"/>
            <a:ext cx="10028754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10439777"/>
            <a:ext cx="10028753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0439777"/>
            <a:ext cx="124460" cy="2837021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137516" y="11305718"/>
            <a:ext cx="1002875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12215971"/>
            <a:ext cx="10028754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137516" y="12553791"/>
            <a:ext cx="10028754" cy="4575016"/>
          </a:xfrm>
          <a:prstGeom prst="roundRect">
            <a:avLst>
              <a:gd name="adj" fmla="val 1554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4384853"/>
            <a:ext cx="1002875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15295106"/>
            <a:ext cx="10028753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81966" y="17905015"/>
            <a:ext cx="998430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181966" y="18815268"/>
            <a:ext cx="9984304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0181966" y="19153088"/>
            <a:ext cx="9984304" cy="4380825"/>
          </a:xfrm>
          <a:prstGeom prst="roundRect">
            <a:avLst>
              <a:gd name="adj" fmla="val 4762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883568" y="19811503"/>
            <a:ext cx="13553639" cy="11486853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769054" y="19811503"/>
            <a:ext cx="13553638" cy="11486853"/>
          </a:xfrm>
          <a:prstGeom prst="roundRect">
            <a:avLst>
              <a:gd name="adj" fmla="val 144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th-zuri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0776" y="3093581"/>
            <a:ext cx="4747260" cy="791210"/>
          </a:xfrm>
          <a:prstGeom prst="rect">
            <a:avLst/>
          </a:prstGeom>
        </p:spPr>
      </p:pic>
      <p:pic>
        <p:nvPicPr>
          <p:cNvPr id="31" name="Picture 30" descr="university-of-zu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5010" y="3093592"/>
            <a:ext cx="2310706" cy="791187"/>
          </a:xfrm>
          <a:prstGeom prst="rect">
            <a:avLst/>
          </a:prstGeom>
        </p:spPr>
      </p:pic>
      <p:pic>
        <p:nvPicPr>
          <p:cNvPr id="32" name="Picture 31" descr="microsoft-re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2690" y="3093596"/>
            <a:ext cx="2808128" cy="79117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2271672" y="9347835"/>
            <a:ext cx="26662916" cy="2141656"/>
          </a:xfrm>
          <a:prstGeom prst="roundRect">
            <a:avLst>
              <a:gd name="adj" fmla="val 10520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137516" y="9709685"/>
            <a:ext cx="2335014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25 drugs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628939" y="9709685"/>
            <a:ext cx="3073717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0h · 8h · 24h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859065" y="9709685"/>
            <a:ext cx="1694239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MelA⁺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09712" y="9709685"/>
            <a:ext cx="1694657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Sox9⁺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4187" y="12776041"/>
            <a:ext cx="4196218" cy="4178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4187" y="12776041"/>
            <a:ext cx="11557" cy="4178022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271672" y="20199607"/>
            <a:ext cx="12777430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271672" y="21109860"/>
            <a:ext cx="12777430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157158" y="20199607"/>
            <a:ext cx="12777430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157158" y="21109860"/>
            <a:ext cx="12777430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56382" y="24119681"/>
            <a:ext cx="9995832" cy="2616994"/>
          </a:xfrm>
          <a:prstGeom prst="roundRect">
            <a:avLst>
              <a:gd name="adj" fmla="val 135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67" y="24119681"/>
            <a:ext cx="9995462" cy="2616994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43650177" y="24687530"/>
            <a:ext cx="3003431" cy="5154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50177" y="25185231"/>
            <a:ext cx="3003431" cy="17780"/>
          </a:xfrm>
          <a:prstGeom prst="rect">
            <a:avLst/>
          </a:prstGeom>
          <a:solidFill>
            <a:srgbClr val="CAD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6157158" y="24888805"/>
            <a:ext cx="12777430" cy="1647983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2408078" y="25416371"/>
            <a:ext cx="5487630" cy="3249850"/>
          </a:xfrm>
          <a:prstGeom prst="roundRect">
            <a:avLst>
              <a:gd name="adj" fmla="val 6565"/>
            </a:avLst>
          </a:prstGeom>
          <a:solidFill>
            <a:srgbClr val="E2EFF1"/>
          </a:solidFill>
          <a:ln w="17780">
            <a:solidFill>
              <a:srgbClr val="0F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2271672" y="11890930"/>
            <a:ext cx="26662916" cy="5921435"/>
          </a:xfrm>
          <a:prstGeom prst="roundRect">
            <a:avLst>
              <a:gd name="adj" fmla="val 60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71724" y="11890930"/>
            <a:ext cx="26662813" cy="5921435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2287369" y="25537775"/>
            <a:ext cx="12745898" cy="3537108"/>
          </a:xfrm>
          <a:prstGeom prst="roundRect">
            <a:avLst>
              <a:gd name="adj" fmla="val 100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figure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7527" y="25537775"/>
            <a:ext cx="12745582" cy="3537108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26412745" y="26800432"/>
            <a:ext cx="12266255" cy="2274451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figure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12978" y="26800432"/>
            <a:ext cx="12265789" cy="2274451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2271672" y="6406911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271672" y="7598310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271672" y="24185939"/>
            <a:ext cx="12777430" cy="945118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170951" y="25718631"/>
            <a:ext cx="1425317" cy="488116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50440" y="25718631"/>
            <a:ext cx="1339195" cy="488116"/>
          </a:xfrm>
          <a:prstGeom prst="roundRect">
            <a:avLst>
              <a:gd name="adj" fmla="val 50000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876192" y="26348987"/>
            <a:ext cx="2014974" cy="2014974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pap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94725" y="26467520"/>
            <a:ext cx="1777908" cy="1777908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45412620" y="26348987"/>
            <a:ext cx="2014974" cy="2014974"/>
          </a:xfrm>
          <a:prstGeom prst="roundRect">
            <a:avLst>
              <a:gd name="adj" fmla="val 7647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c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31153" y="26467520"/>
            <a:ext cx="1777908" cy="1777908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2271672" y="21589226"/>
            <a:ext cx="8050729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271672" y="22286813"/>
            <a:ext cx="805072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0322401" y="21589226"/>
            <a:ext cx="2323346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0322401" y="22286813"/>
            <a:ext cx="232334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645747" y="21589226"/>
            <a:ext cx="2403355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2645747" y="22286813"/>
            <a:ext cx="240335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2271672" y="22295703"/>
            <a:ext cx="805072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271672" y="23231931"/>
            <a:ext cx="805072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0322401" y="22295703"/>
            <a:ext cx="232334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0322401" y="23231931"/>
            <a:ext cx="232334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645747" y="22295703"/>
            <a:ext cx="24033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2645747" y="23231931"/>
            <a:ext cx="240335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2271672" y="23240821"/>
            <a:ext cx="805072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2271672" y="24177049"/>
            <a:ext cx="805072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0322401" y="23240821"/>
            <a:ext cx="232334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0322401" y="24177049"/>
            <a:ext cx="232334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645747" y="23240821"/>
            <a:ext cx="24033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645747" y="24177049"/>
            <a:ext cx="240335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2271672" y="24185939"/>
            <a:ext cx="805072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2271672" y="25122167"/>
            <a:ext cx="805072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322401" y="24185939"/>
            <a:ext cx="232334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0322401" y="25122167"/>
            <a:ext cx="232334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645747" y="24185939"/>
            <a:ext cx="240335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645747" y="25122167"/>
            <a:ext cx="240335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15581" y="1007487"/>
            <a:ext cx="38045588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0F6070"/>
                </a:solidFill>
                <a:latin typeface="Arial"/>
              </a:rPr>
              <a:t>Neural Unbalanced Optimal Transport via Cycle-Consistent Semi-Couplings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15581" y="2363350"/>
            <a:ext cx="38045588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Frederike Lübeck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1,3</a:t>
            </a:r>
            <a:r>
              <a:rPr sz="3920" b="0">
                <a:solidFill>
                  <a:srgbClr val="1B2331"/>
                </a:solidFill>
                <a:latin typeface="Arial"/>
              </a:rPr>
              <a:t>, Charlotte Bunne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Gabriele Gut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Jacobo Sarabia del Castillo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Lucas Pelkmans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David Alvarez-Melis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15581" y="3063577"/>
            <a:ext cx="38045588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ETH Zurich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University of Zurich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Microsoft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5149949"/>
            <a:ext cx="10329615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271672" y="5149949"/>
            <a:ext cx="27089636" cy="1067236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137516" y="5149949"/>
            <a:ext cx="10329616" cy="1966904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Dataset / Benchmark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6398021"/>
            <a:ext cx="10329615" cy="43481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Predict how an </a:t>
            </a:r>
            <a:r>
              <a:rPr sz="4106" b="1">
                <a:solidFill>
                  <a:srgbClr val="111111"/>
                </a:solidFill>
                <a:latin typeface="Arial"/>
              </a:rPr>
              <a:t>unpaired</a:t>
            </a:r>
            <a:r>
              <a:rPr sz="4106" b="0">
                <a:solidFill>
                  <a:srgbClr val="1C1C1C"/>
                </a:solidFill>
                <a:latin typeface="Arial"/>
              </a:rPr>
              <a:t> cell population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evolves under a drug when measurement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</a:t>
            </a:r>
            <a:r>
              <a:rPr sz="4106" b="1">
                <a:solidFill>
                  <a:srgbClr val="111111"/>
                </a:solidFill>
                <a:latin typeface="Arial"/>
              </a:rPr>
              <a:t>destructive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same cell can never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 profiled twice, so correspondences must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 inferred from unpaired snapshots.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37516" y="7180341"/>
            <a:ext cx="10329616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Single-cell </a:t>
            </a:r>
            <a:r>
              <a:rPr sz="4106" b="1">
                <a:solidFill>
                  <a:srgbClr val="111111"/>
                </a:solidFill>
                <a:latin typeface="Arial"/>
              </a:rPr>
              <a:t>melanoma drug-response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4i</a:t>
            </a:r>
            <a:r>
              <a:rPr sz="4106" b="0">
                <a:solidFill>
                  <a:srgbClr val="1C1C1C"/>
                </a:solidFill>
                <a:latin typeface="Arial"/>
              </a:rPr>
              <a:t> imaging) + a synthetic imbalance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benchmark.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991" y="10439777"/>
            <a:ext cx="10329615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Classical optimal transport assumes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i="1">
                <a:solidFill>
                  <a:srgbClr val="111111"/>
                </a:solidFill>
                <a:latin typeface="Arial"/>
              </a:rPr>
              <a:t>conserved mass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— it breaks exactly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when cells proliferate or die and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population size shifts.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37516" y="11305718"/>
            <a:ext cx="10329616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39991" y="14384853"/>
            <a:ext cx="10329615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0181966" y="17905015"/>
            <a:ext cx="102838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181966" y="19153088"/>
            <a:ext cx="10283833" cy="5037948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By recasting unbalanced OT through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learnable </a:t>
            </a:r>
            <a:r>
              <a:rPr sz="4106" b="1">
                <a:solidFill>
                  <a:srgbClr val="111111"/>
                </a:solidFill>
                <a:latin typeface="Arial"/>
              </a:rPr>
              <a:t>semi-couplings</a:t>
            </a:r>
            <a:r>
              <a:rPr sz="4106" b="1">
                <a:solidFill>
                  <a:srgbClr val="FFFFFF"/>
                </a:solidFill>
                <a:latin typeface="Arial"/>
              </a:rPr>
              <a:t> and cycle-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consistent training, NubOT jointly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predicts </a:t>
            </a:r>
            <a:r>
              <a:rPr sz="4106" b="1">
                <a:solidFill>
                  <a:srgbClr val="111111"/>
                </a:solidFill>
                <a:latin typeface="Arial"/>
              </a:rPr>
              <a:t>where</a:t>
            </a:r>
            <a:r>
              <a:rPr sz="4106" b="1">
                <a:solidFill>
                  <a:srgbClr val="FFFFFF"/>
                </a:solidFill>
                <a:latin typeface="Arial"/>
              </a:rPr>
              <a:t> cells move and </a:t>
            </a:r>
            <a:r>
              <a:rPr sz="4106" b="1">
                <a:solidFill>
                  <a:srgbClr val="111111"/>
                </a:solidFill>
                <a:latin typeface="Arial"/>
              </a:rPr>
              <a:t>how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their mass grows or dies — while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staying biologically interpretable.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9972" y="16538594"/>
            <a:ext cx="10329635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Drug responses are </a:t>
            </a:r>
            <a:r>
              <a:rPr sz="4106" b="1">
                <a:solidFill>
                  <a:srgbClr val="111111"/>
                </a:solidFill>
                <a:latin typeface="Arial"/>
              </a:rPr>
              <a:t>heterogeneous</a:t>
            </a:r>
            <a:r>
              <a:rPr sz="4106" b="0">
                <a:solidFill>
                  <a:srgbClr val="1C1C1C"/>
                </a:solidFill>
                <a:latin typeface="Arial"/>
              </a:rPr>
              <a:t>: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within one sample some subpopulations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proliferate while others die — aggregate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models miss this.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9972" y="19745940"/>
            <a:ext cx="1032963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neural OT either assumes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balance</a:t>
            </a:r>
            <a:r>
              <a:rPr sz="4106" b="0">
                <a:solidFill>
                  <a:srgbClr val="1C1C1C"/>
                </a:solidFill>
                <a:latin typeface="Arial"/>
              </a:rPr>
              <a:t>, or (SOTA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ubOT GAN</a:t>
            </a:r>
            <a:r>
              <a:rPr sz="4106" b="0">
                <a:solidFill>
                  <a:srgbClr val="1C1C1C"/>
                </a:solidFill>
                <a:latin typeface="Arial"/>
              </a:rPr>
              <a:t>) only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captures the coarse growth trend, not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per-cell reweighting.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271672" y="20199607"/>
            <a:ext cx="13160752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6157158" y="20199607"/>
            <a:ext cx="13160752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Biological Validation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3650177" y="24687530"/>
            <a:ext cx="3093533" cy="5928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Arial"/>
              </a:rPr>
              <a:t>Scan to Read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6157158" y="24888805"/>
            <a:ext cx="13160752" cy="1895180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Recovers real proliferation and death signals, not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superficial fit.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56154" y="26886277"/>
            <a:ext cx="9472033" cy="31964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2 · Synthetic mapping.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Across three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imbalance scenarios (a–c), both methods map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clusters to the right location, but only NubOT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predicts the per-cluster weights (right panels)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needed to match the target.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901639" y="28879581"/>
            <a:ext cx="8755379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F6070"/>
                </a:solidFill>
                <a:latin typeface="Arial"/>
              </a:rPr>
              <a:t>arxiv.org/abs/2209.15621 · github.com/FrederikeLuebeck/nubot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3233815" y="6406911"/>
            <a:ext cx="26127493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Reweight to balance.</a:t>
            </a:r>
            <a:r>
              <a:rPr sz="4106" b="0">
                <a:solidFill>
                  <a:srgbClr val="1C1C1C"/>
                </a:solidFill>
                <a:latin typeface="Arial"/>
              </a:rPr>
              <a:t> Learned fields η, ζ scale source and target into equal-mass proxies μ̃ = η·μ, ν̃ = ζ·ν.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3233815" y="7598310"/>
            <a:ext cx="26127493" cy="18501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Transport &amp; alternate.</a:t>
            </a:r>
            <a:r>
              <a:rPr sz="4106" b="0">
                <a:solidFill>
                  <a:srgbClr val="1C1C1C"/>
                </a:solidFill>
                <a:latin typeface="Arial"/>
              </a:rPr>
              <a:t> Balanced OT via convex </a:t>
            </a:r>
            <a:r>
              <a:rPr sz="4106" b="1">
                <a:solidFill>
                  <a:srgbClr val="111111"/>
                </a:solidFill>
                <a:latin typeface="Arial"/>
              </a:rPr>
              <a:t>ICNN</a:t>
            </a:r>
            <a:r>
              <a:rPr sz="4106" b="0">
                <a:solidFill>
                  <a:srgbClr val="1C1C1C"/>
                </a:solidFill>
                <a:latin typeface="Arial"/>
              </a:rPr>
              <a:t> Monge maps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T</a:t>
            </a:r>
            <a:r>
              <a:rPr sz="4106" b="0">
                <a:solidFill>
                  <a:srgbClr val="1C1C1C"/>
                </a:solidFill>
                <a:latin typeface="Arial"/>
              </a:rPr>
              <a:t> = ∇g,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</a:t>
            </a:r>
            <a:r>
              <a:rPr sz="4106" b="0">
                <a:solidFill>
                  <a:srgbClr val="1C1C1C"/>
                </a:solidFill>
                <a:latin typeface="Arial"/>
              </a:rPr>
              <a:t> = ∇f; alternate Sinkhorn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reweighting with min–max potential updates; new cells map with predicted mass.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0383380" y="12776041"/>
            <a:ext cx="4910137" cy="31079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R =</a:t>
            </a:r>
          </a:p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0.95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0383380" y="15502215"/>
            <a:ext cx="4910137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weight–count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correlation, 8h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0383380" y="16545123"/>
            <a:ext cx="4910137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P = 2.2×10⁻²⁵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338194" y="17961967"/>
            <a:ext cx="24956592" cy="12785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1 · Semi-couplings.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(a) A pair (γ₁, γ₂) solves unbalanced OT — γ₁ where mass leaves μ, γ₂ where it arrives in ν;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subpopulation can vanish. (b) NubOT builds them from reweighting η, ζ and the dual potentials f, g.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157139" y="21450597"/>
            <a:ext cx="13160772" cy="17915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Predicted weights track observed cell-count fractions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per subpopulation at 8h (</a:t>
            </a:r>
            <a:r>
              <a:rPr sz="4353" b="1">
                <a:solidFill>
                  <a:srgbClr val="111111"/>
                </a:solidFill>
                <a:latin typeface="Arial"/>
              </a:rPr>
              <a:t>R = 0.95</a:t>
            </a:r>
            <a:r>
              <a:rPr sz="4106" b="0">
                <a:solidFill>
                  <a:srgbClr val="1C1C1C"/>
                </a:solidFill>
                <a:latin typeface="Arial"/>
              </a:rPr>
              <a:t>).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6157139" y="23190954"/>
            <a:ext cx="1316077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≥ 1</a:t>
            </a:r>
            <a:r>
              <a:rPr sz="4106" b="0">
                <a:solidFill>
                  <a:srgbClr val="1C1C1C"/>
                </a:solidFill>
                <a:latin typeface="Arial"/>
              </a:rPr>
              <a:t> where Ki67 (proliferation) is high, </a:t>
            </a:r>
            <a:r>
              <a:rPr sz="4106" b="1">
                <a:solidFill>
                  <a:srgbClr val="111111"/>
                </a:solidFill>
                <a:latin typeface="Arial"/>
              </a:rPr>
              <a:t>≤ 1</a:t>
            </a:r>
            <a:r>
              <a:rPr sz="4106" b="0">
                <a:solidFill>
                  <a:srgbClr val="1C1C1C"/>
                </a:solidFill>
                <a:latin typeface="Arial"/>
              </a:rPr>
              <a:t> where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ClCasp3 (death) is high.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797155" y="29224485"/>
            <a:ext cx="12077972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3 · Distributional fit.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Weighted kernel MMD per drug at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8h &amp; 24h — NubOT (red) lowest across almost all 25 drugs,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beating every baseline.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6903362" y="29224485"/>
            <a:ext cx="11623429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1" i="1">
                <a:solidFill>
                  <a:srgbClr val="111111"/>
                </a:solidFill>
                <a:latin typeface="Arial"/>
              </a:rPr>
              <a:t>Fig 4 · Ulixertinib.</a:t>
            </a:r>
            <a:r>
              <a:rPr sz="3367" b="0" i="1">
                <a:solidFill>
                  <a:srgbClr val="555555"/>
                </a:solidFill>
                <a:latin typeface="Arial"/>
              </a:rPr>
              <a:t> UMAP by markers &amp; predicted weights: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weights &gt; 1 for proliferating MelA⁺ cells, death in Sox9⁺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cells by 24h.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6202441" y="12776041"/>
            <a:ext cx="61349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6980594" y="12909391"/>
            <a:ext cx="3028005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drug perturbations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6202441" y="14255531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0.44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424399" y="14388881"/>
            <a:ext cx="257088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weight–count R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at 24h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202441" y="15735161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682779" y="15868511"/>
            <a:ext cx="321657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melanoma cell lines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2271672" y="21589226"/>
            <a:ext cx="8292250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METHOD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322401" y="21589226"/>
            <a:ext cx="2393046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FEAT.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2645747" y="21589226"/>
            <a:ext cx="2475455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MASS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271672" y="22295703"/>
            <a:ext cx="8292250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CellOT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0322401" y="22295703"/>
            <a:ext cx="239304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645747" y="22295703"/>
            <a:ext cx="247545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✗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2271672" y="23240821"/>
            <a:ext cx="829225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ubOT GAN </a:t>
            </a:r>
            <a:r>
              <a:rPr sz="3901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(SOTA)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0322401" y="23240821"/>
            <a:ext cx="239304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2645747" y="23240821"/>
            <a:ext cx="247545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~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271672" y="24185939"/>
            <a:ext cx="8292250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NubOT (Ours)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0322401" y="24185939"/>
            <a:ext cx="239304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2645747" y="24185939"/>
            <a:ext cx="2475455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✓</a:t>
            </a:r>
          </a:p>
        </p:txBody>
      </p:sp>
      <p:pic>
        <p:nvPicPr>
          <p:cNvPr id="138" name="Picture 137" descr="eq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4778" y="9987498"/>
            <a:ext cx="25856704" cy="862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
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MuSc is a zero-shot method for industrial anomaly detection and segmentation, with no training, no prompts, and no normal reference images. Its insight: unlabeled test images hold enough cues to score one another. Published at ICLR 2024, it tops MVTec AD and VisA.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Detecting defects is a core vision task, but existing methods are demanding. One-class approaches need a bank of normal images per product; CLIP-based zero-shot methods rely on hand-written prompts. Many factories have neither. The goal: segment anomalies with no training, prompts, or references.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authors make a simple observation. In a batch of unlabeled test images of one product, a normal patch finds many similar patches across the others, because normal appearance repeats. An abnormal patch finds only a few, since defects are rare. That asymmetry is a signal already inside the test set.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MuSc is a training-free, prompt-free pipeline with three pieces. First, local neighborhood aggregation at multiple degrees, representing each patch at several scales to capture tiny and large defects. Second, mutual scoring, where every test image scores every other. Third, re-scoring with a constrained image-level neighborhood that cleans the final decision.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backbone is a frozen vision transformer. Patch tokens from several stages are aggregated at multiple neighborhood degrees to represent defect sizes. In mutual scoring, each patch is scored by its nearest match in every other image, and only the smallest score interval is averaged, sharpening the gap. The image score is refined with a constrained neighborhood graph on class tokens.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MuSc is evaluated on the two most-used industrial benchmarks. MVTec AD spans fifteen categories, ten objects and five textures. VisA covers twelve object categories across three domains. Both mix normal and defective images. Classification uses AUROC and F1-max; segmentation adds pixel-level metrics and per-region overlap.</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Results are striking for a label-free method. On MVTec AD, MuSc reaches ninety-seven point eight percent image AUROC and lifts per-region overlap segmentation by over twenty-one points versus the best prior zero-shot method. On VisA it gains over ten points. It even beats most four-shot methods and rivals full-shot approaches.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Ablations confirm each choice. Combining three aggregation degrees works best: small neighborhoods catch tiny VisA defects, large ones catch big MVTec defects. Averaging the smallest thirty percent interval beats the max or range, lifting AUROC to ninety-seven point eight percent. Re-scoring raises VisA image AUROC from ninety to ninety-two point eight.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headline terms, MuSc reaches ninety-seven point eight percent image AUROC on MVTec AD and ninety-two point eight on VisA, with pixel AUROC of ninety-seven point three and ninety-eight point eight. It adds over twenty-one points on MVTec segmentation, all with no training, prompts, or references.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lasting idea: a set of unlabeled test images can supervise itself. By letting images score one another, repeating normal structure is separated from rare defects, with no training or prompts, giving state-of-the-art zero-shot detection that rivals full-shot methods.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571500"/>
            <a:ext cx="47625" cy="381000"/>
          </a:xfrm>
          <a:prstGeom prst="roundRect">
            <a:avLst>
              <a:gd name="adj" fmla="val 40000"/>
            </a:avLst>
          </a:prstGeom>
          <a:solidFill>
            <a:schemeClr val="accent1"/>
          </a:solidFill>
          <a:ln>
            <a:noFill/>
          </a:ln>
        </p:spPr>
        <p:txBody>
          <a:bodyPr/>
          <a:p/>
        </p:txBody>
      </p:sp>
      <p:sp>
        <p:nvSpPr>
          <p:cNvPr id="3" name="TextBox 3"/>
          <p:cNvSpPr txBox="1"/>
          <p:nvPr/>
        </p:nvSpPr>
        <p:spPr>
          <a:xfrm>
            <a:off x="813435" y="716756"/>
            <a:ext cx="5721655" cy="220028"/>
          </a:xfrm>
          <a:prstGeom prst="rect">
            <a:avLst/>
          </a:prstGeom>
          <a:noFill/>
          <a:ln>
            <a:noFill/>
          </a:ln>
        </p:spPr>
        <p:txBody>
          <a:bodyPr wrap="none" lIns="0" tIns="0" rIns="0" bIns="0" anchor="t" anchorCtr="0">
            <a:spAutoFit/>
          </a:bodyPr>
          <a:lstStyle/>
          <a:p>
            <a:pPr algn="l"/>
            <a:r>
              <a:rPr lang="en-US" sz="1120" spc="225" dirty="0">
                <a:solidFill>
                  <a:schemeClr val="dk2"/>
                </a:solidFill>
                <a:latin typeface="+mn-lt"/>
                <a:ea typeface="+mn-ea"/>
                <a:cs typeface="+mn-cs"/>
              </a:rPr>
              <a:t>ICLR 2024 · ZERO-SHOT INDUSTRIAL ANOMALY DETECTION</a:t>
            </a:r>
          </a:p>
        </p:txBody>
      </p:sp>
      <p:sp>
        <p:nvSpPr>
          <p:cNvPr id="4" name="TextBox 4"/>
          <p:cNvSpPr txBox="1"/>
          <p:nvPr/>
        </p:nvSpPr>
        <p:spPr>
          <a:xfrm>
            <a:off x="571500" y="1539240"/>
            <a:ext cx="2759080" cy="1504950"/>
          </a:xfrm>
          <a:prstGeom prst="rect">
            <a:avLst/>
          </a:prstGeom>
          <a:noFill/>
          <a:ln>
            <a:noFill/>
          </a:ln>
        </p:spPr>
        <p:txBody>
          <a:bodyPr wrap="none" lIns="0" tIns="0" rIns="0" bIns="0" anchor="t" anchorCtr="0">
            <a:spAutoFit/>
          </a:bodyPr>
          <a:lstStyle/>
          <a:p>
            <a:pPr algn="l"/>
            <a:r>
              <a:rPr lang="en-US" sz="7800" b="1" dirty="0">
                <a:solidFill>
                  <a:srgbClr val="FFFFFF"/>
                </a:solidFill>
                <a:latin typeface="+mn-lt"/>
                <a:ea typeface="+mn-ea"/>
                <a:cs typeface="+mn-cs"/>
              </a:rPr>
              <a:t>MuSc</a:t>
            </a:r>
          </a:p>
        </p:txBody>
      </p:sp>
      <p:sp>
        <p:nvSpPr>
          <p:cNvPr id="5" name="Rectangle 5"/>
          <p:cNvSpPr/>
          <p:nvPr/>
        </p:nvSpPr>
        <p:spPr>
          <a:xfrm>
            <a:off x="628650" y="2590800"/>
            <a:ext cx="1790700" cy="57150"/>
          </a:xfrm>
          <a:prstGeom prst="roundRect">
            <a:avLst>
              <a:gd name="adj" fmla="val 50000"/>
            </a:avLst>
          </a:prstGeom>
          <a:solidFill>
            <a:schemeClr val="accent1"/>
          </a:solidFill>
          <a:ln>
            <a:noFill/>
          </a:ln>
        </p:spPr>
        <p:txBody>
          <a:bodyPr/>
          <a:p/>
        </p:txBody>
      </p:sp>
      <p:sp>
        <p:nvSpPr>
          <p:cNvPr id="6" name="TextBox 6"/>
          <p:cNvSpPr txBox="1"/>
          <p:nvPr/>
        </p:nvSpPr>
        <p:spPr>
          <a:xfrm>
            <a:off x="596646" y="2925128"/>
            <a:ext cx="5154211"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Zero-Shot Industrial Anomaly</a:t>
            </a:r>
          </a:p>
        </p:txBody>
      </p:sp>
      <p:sp>
        <p:nvSpPr>
          <p:cNvPr id="7" name="TextBox 7"/>
          <p:cNvSpPr txBox="1"/>
          <p:nvPr/>
        </p:nvSpPr>
        <p:spPr>
          <a:xfrm>
            <a:off x="596646" y="3344228"/>
            <a:ext cx="5238916" cy="498729"/>
          </a:xfrm>
          <a:prstGeom prst="rect">
            <a:avLst/>
          </a:prstGeom>
          <a:noFill/>
          <a:ln>
            <a:noFill/>
          </a:ln>
        </p:spPr>
        <p:txBody>
          <a:bodyPr wrap="none" lIns="0" tIns="0" rIns="0" bIns="0" anchor="t" anchorCtr="0">
            <a:spAutoFit/>
          </a:bodyPr>
          <a:lstStyle/>
          <a:p>
            <a:pPr algn="l"/>
            <a:r>
              <a:rPr lang="en-US" sz="2550" b="1" dirty="0">
                <a:solidFill>
                  <a:schemeClr val="dk1"/>
                </a:solidFill>
                <a:latin typeface="+mn-lt"/>
                <a:ea typeface="+mn-ea"/>
                <a:cs typeface="+mn-cs"/>
              </a:rPr>
              <a:t>Classification &amp; Segmentation</a:t>
            </a:r>
          </a:p>
        </p:txBody>
      </p:sp>
      <p:sp>
        <p:nvSpPr>
          <p:cNvPr id="8" name="TextBox 8"/>
          <p:cNvSpPr txBox="1"/>
          <p:nvPr/>
        </p:nvSpPr>
        <p:spPr>
          <a:xfrm>
            <a:off x="601980" y="3819525"/>
            <a:ext cx="3837571" cy="293370"/>
          </a:xfrm>
          <a:prstGeom prst="rect">
            <a:avLst/>
          </a:prstGeom>
          <a:noFill/>
          <a:ln>
            <a:noFill/>
          </a:ln>
        </p:spPr>
        <p:txBody>
          <a:bodyPr wrap="none" lIns="0" tIns="0" rIns="0" bIns="0" anchor="t" anchorCtr="0">
            <a:spAutoFit/>
          </a:bodyPr>
          <a:lstStyle/>
          <a:p>
            <a:pPr algn="l"/>
            <a:r>
              <a:rPr lang="en-US" sz="1500" dirty="0">
                <a:solidFill>
                  <a:schemeClr val="dk2"/>
                </a:solidFill>
                <a:latin typeface="+mn-lt"/>
                <a:ea typeface="+mn-ea"/>
                <a:cs typeface="+mn-cs"/>
              </a:rPr>
              <a:t>Mutual Scoring of the Unlabeled Images</a:t>
            </a:r>
          </a:p>
        </p:txBody>
      </p:sp>
      <p:sp>
        <p:nvSpPr>
          <p:cNvPr id="9" name="TextBox 9"/>
          <p:cNvSpPr txBox="1"/>
          <p:nvPr/>
        </p:nvSpPr>
        <p:spPr>
          <a:xfrm>
            <a:off x="603885" y="4202906"/>
            <a:ext cx="619611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Xurui Li · Ziming Huang · Feng Xue · Yu Zhou — HUST · Wuhan JingCe · Univ. of Trento</a:t>
            </a:r>
          </a:p>
        </p:txBody>
      </p:sp>
      <p:grpSp>
        <p:nvGrpSpPr>
          <p:cNvPr id="26" name="Group 26"/>
          <p:cNvGrpSpPr/>
          <p:nvPr/>
        </p:nvGrpSpPr>
        <p:grpSpPr>
          <a:xfrm>
            <a:off x="7729347" y="1428750"/>
            <a:ext cx="3072003" cy="2847689"/>
            <a:chOff x="7729347" y="1428750"/>
            <a:chExt cx="3072003" cy="2847689"/>
          </a:xfrm>
        </p:grpSpPr>
        <p:sp>
          <p:nvSpPr>
            <p:cNvPr id="10" name="Line 10"/>
            <p:cNvSpPr/>
            <p:nvPr/>
          </p:nvSpPr>
          <p:spPr>
            <a:xfrm>
              <a:off x="8039100" y="1733550"/>
              <a:ext cx="2457450" cy="1828800"/>
            </a:xfrm>
            <a:custGeom>
              <a:avLst/>
              <a:gdLst/>
              <a:ahLst/>
              <a:cxnLst/>
              <a:rect l="l" t="t" r="r" b="b"/>
              <a:pathLst>
                <a:path w="2457450" h="1828800">
                  <a:moveTo>
                    <a:pt x="0" y="0"/>
                  </a:moveTo>
                  <a:lnTo>
                    <a:pt x="2457450" y="1828800"/>
                  </a:lnTo>
                </a:path>
              </a:pathLst>
            </a:custGeom>
            <a:noFill/>
            <a:ln w="14288">
              <a:solidFill>
                <a:schemeClr val="accent4"/>
              </a:solidFill>
            </a:ln>
          </p:spPr>
        </p:sp>
        <p:sp>
          <p:nvSpPr>
            <p:cNvPr id="11" name="Line 11"/>
            <p:cNvSpPr/>
            <p:nvPr/>
          </p:nvSpPr>
          <p:spPr>
            <a:xfrm>
              <a:off x="8039100" y="1733550"/>
              <a:ext cx="2457450" cy="1828800"/>
            </a:xfrm>
            <a:custGeom>
              <a:avLst/>
              <a:gdLst/>
              <a:ahLst/>
              <a:cxnLst/>
              <a:rect l="l" t="t" r="r" b="b"/>
              <a:pathLst>
                <a:path w="2457450" h="1828800">
                  <a:moveTo>
                    <a:pt x="2457450" y="0"/>
                  </a:moveTo>
                  <a:lnTo>
                    <a:pt x="0" y="1828800"/>
                  </a:lnTo>
                </a:path>
              </a:pathLst>
            </a:custGeom>
            <a:noFill/>
            <a:ln w="14288">
              <a:solidFill>
                <a:schemeClr val="accent4"/>
              </a:solidFill>
            </a:ln>
          </p:spPr>
        </p:sp>
        <p:sp>
          <p:nvSpPr>
            <p:cNvPr id="12" name="Line 12"/>
            <p:cNvSpPr/>
            <p:nvPr/>
          </p:nvSpPr>
          <p:spPr>
            <a:xfrm>
              <a:off x="8039100" y="2647950"/>
              <a:ext cx="2457450" cy="9525"/>
            </a:xfrm>
            <a:custGeom>
              <a:avLst/>
              <a:gdLst/>
              <a:ahLst/>
              <a:cxnLst/>
              <a:rect l="l" t="t" r="r" b="b"/>
              <a:pathLst>
                <a:path w="2457450" h="9525">
                  <a:moveTo>
                    <a:pt x="0" y="0"/>
                  </a:moveTo>
                  <a:lnTo>
                    <a:pt x="2457450" y="0"/>
                  </a:lnTo>
                </a:path>
              </a:pathLst>
            </a:custGeom>
            <a:noFill/>
            <a:ln w="14288">
              <a:solidFill>
                <a:schemeClr val="accent4"/>
              </a:solidFill>
            </a:ln>
          </p:spPr>
        </p:sp>
        <p:sp>
          <p:nvSpPr>
            <p:cNvPr id="13" name="Rectangle 13"/>
            <p:cNvSpPr/>
            <p:nvPr/>
          </p:nvSpPr>
          <p:spPr>
            <a:xfrm>
              <a:off x="7734300" y="1428750"/>
              <a:ext cx="609600" cy="609600"/>
            </a:xfrm>
            <a:prstGeom prst="roundRect">
              <a:avLst>
                <a:gd name="adj" fmla="val 15625"/>
              </a:avLst>
            </a:prstGeom>
            <a:solidFill>
              <a:schemeClr val="accent6"/>
            </a:solidFill>
            <a:ln w="9525">
              <a:solidFill>
                <a:schemeClr val="accent4"/>
              </a:solidFill>
            </a:ln>
          </p:spPr>
        </p:sp>
        <p:sp>
          <p:nvSpPr>
            <p:cNvPr id="14" name="Rectangle 14"/>
            <p:cNvSpPr/>
            <p:nvPr/>
          </p:nvSpPr>
          <p:spPr>
            <a:xfrm>
              <a:off x="8553450" y="1428750"/>
              <a:ext cx="609600" cy="609600"/>
            </a:xfrm>
            <a:prstGeom prst="roundRect">
              <a:avLst>
                <a:gd name="adj" fmla="val 15625"/>
              </a:avLst>
            </a:prstGeom>
            <a:solidFill>
              <a:schemeClr val="accent6"/>
            </a:solidFill>
            <a:ln w="9525">
              <a:solidFill>
                <a:schemeClr val="accent4"/>
              </a:solidFill>
            </a:ln>
          </p:spPr>
        </p:sp>
        <p:sp>
          <p:nvSpPr>
            <p:cNvPr id="15" name="Rectangle 15"/>
            <p:cNvSpPr/>
            <p:nvPr/>
          </p:nvSpPr>
          <p:spPr>
            <a:xfrm>
              <a:off x="9372600" y="1428750"/>
              <a:ext cx="609600" cy="609600"/>
            </a:xfrm>
            <a:prstGeom prst="roundRect">
              <a:avLst>
                <a:gd name="adj" fmla="val 15625"/>
              </a:avLst>
            </a:prstGeom>
            <a:solidFill>
              <a:schemeClr val="accent6"/>
            </a:solidFill>
            <a:ln w="9525">
              <a:solidFill>
                <a:schemeClr val="accent4"/>
              </a:solidFill>
            </a:ln>
          </p:spPr>
        </p:sp>
        <p:sp>
          <p:nvSpPr>
            <p:cNvPr id="16" name="Rectangle 16"/>
            <p:cNvSpPr/>
            <p:nvPr/>
          </p:nvSpPr>
          <p:spPr>
            <a:xfrm>
              <a:off x="10191750" y="1428750"/>
              <a:ext cx="609600" cy="609600"/>
            </a:xfrm>
            <a:prstGeom prst="roundRect">
              <a:avLst>
                <a:gd name="adj" fmla="val 15625"/>
              </a:avLst>
            </a:prstGeom>
            <a:solidFill>
              <a:schemeClr val="accent6"/>
            </a:solidFill>
            <a:ln w="9525">
              <a:solidFill>
                <a:schemeClr val="accent4"/>
              </a:solidFill>
            </a:ln>
          </p:spPr>
        </p:sp>
        <p:sp>
          <p:nvSpPr>
            <p:cNvPr id="17" name="Rectangle 17"/>
            <p:cNvSpPr/>
            <p:nvPr/>
          </p:nvSpPr>
          <p:spPr>
            <a:xfrm>
              <a:off x="7734300" y="2343150"/>
              <a:ext cx="609600" cy="609600"/>
            </a:xfrm>
            <a:prstGeom prst="roundRect">
              <a:avLst>
                <a:gd name="adj" fmla="val 15625"/>
              </a:avLst>
            </a:prstGeom>
            <a:solidFill>
              <a:schemeClr val="accent6"/>
            </a:solidFill>
            <a:ln w="9525">
              <a:solidFill>
                <a:schemeClr val="accent4"/>
              </a:solidFill>
            </a:ln>
          </p:spPr>
        </p:sp>
        <p:sp>
          <p:nvSpPr>
            <p:cNvPr id="18" name="Rectangle 18"/>
            <p:cNvSpPr/>
            <p:nvPr/>
          </p:nvSpPr>
          <p:spPr>
            <a:xfrm>
              <a:off x="8553450" y="2343150"/>
              <a:ext cx="609600" cy="609600"/>
            </a:xfrm>
            <a:prstGeom prst="roundRect">
              <a:avLst>
                <a:gd name="adj" fmla="val 15625"/>
              </a:avLst>
            </a:prstGeom>
            <a:solidFill>
              <a:schemeClr val="accent3"/>
            </a:solidFill>
            <a:ln w="9525">
              <a:solidFill>
                <a:schemeClr val="accent3"/>
              </a:solidFill>
            </a:ln>
          </p:spPr>
        </p:sp>
        <p:sp>
          <p:nvSpPr>
            <p:cNvPr id="19" name="Rectangle 19"/>
            <p:cNvSpPr/>
            <p:nvPr/>
          </p:nvSpPr>
          <p:spPr>
            <a:xfrm>
              <a:off x="9372600" y="2343150"/>
              <a:ext cx="609600" cy="609600"/>
            </a:xfrm>
            <a:prstGeom prst="roundRect">
              <a:avLst>
                <a:gd name="adj" fmla="val 15625"/>
              </a:avLst>
            </a:prstGeom>
            <a:solidFill>
              <a:schemeClr val="accent6"/>
            </a:solidFill>
            <a:ln w="9525">
              <a:solidFill>
                <a:schemeClr val="accent4"/>
              </a:solidFill>
            </a:ln>
          </p:spPr>
        </p:sp>
        <p:sp>
          <p:nvSpPr>
            <p:cNvPr id="20" name="Rectangle 20"/>
            <p:cNvSpPr/>
            <p:nvPr/>
          </p:nvSpPr>
          <p:spPr>
            <a:xfrm>
              <a:off x="10191750" y="2343150"/>
              <a:ext cx="609600" cy="609600"/>
            </a:xfrm>
            <a:prstGeom prst="roundRect">
              <a:avLst>
                <a:gd name="adj" fmla="val 15625"/>
              </a:avLst>
            </a:prstGeom>
            <a:solidFill>
              <a:schemeClr val="accent6"/>
            </a:solidFill>
            <a:ln w="9525">
              <a:solidFill>
                <a:schemeClr val="accent4"/>
              </a:solidFill>
            </a:ln>
          </p:spPr>
        </p:sp>
        <p:sp>
          <p:nvSpPr>
            <p:cNvPr id="21" name="Rectangle 21"/>
            <p:cNvSpPr/>
            <p:nvPr/>
          </p:nvSpPr>
          <p:spPr>
            <a:xfrm>
              <a:off x="7734300" y="3257550"/>
              <a:ext cx="609600" cy="609600"/>
            </a:xfrm>
            <a:prstGeom prst="roundRect">
              <a:avLst>
                <a:gd name="adj" fmla="val 15625"/>
              </a:avLst>
            </a:prstGeom>
            <a:solidFill>
              <a:schemeClr val="accent6"/>
            </a:solidFill>
            <a:ln w="9525">
              <a:solidFill>
                <a:schemeClr val="accent4"/>
              </a:solidFill>
            </a:ln>
          </p:spPr>
        </p:sp>
        <p:sp>
          <p:nvSpPr>
            <p:cNvPr id="22" name="Rectangle 22"/>
            <p:cNvSpPr/>
            <p:nvPr/>
          </p:nvSpPr>
          <p:spPr>
            <a:xfrm>
              <a:off x="8553450" y="3257550"/>
              <a:ext cx="609600" cy="609600"/>
            </a:xfrm>
            <a:prstGeom prst="roundRect">
              <a:avLst>
                <a:gd name="adj" fmla="val 15625"/>
              </a:avLst>
            </a:prstGeom>
            <a:solidFill>
              <a:schemeClr val="accent6"/>
            </a:solidFill>
            <a:ln w="9525">
              <a:solidFill>
                <a:schemeClr val="accent4"/>
              </a:solidFill>
            </a:ln>
          </p:spPr>
        </p:sp>
        <p:sp>
          <p:nvSpPr>
            <p:cNvPr id="23" name="Rectangle 23"/>
            <p:cNvSpPr/>
            <p:nvPr/>
          </p:nvSpPr>
          <p:spPr>
            <a:xfrm>
              <a:off x="9372600" y="3257550"/>
              <a:ext cx="609600" cy="609600"/>
            </a:xfrm>
            <a:prstGeom prst="roundRect">
              <a:avLst>
                <a:gd name="adj" fmla="val 15625"/>
              </a:avLst>
            </a:prstGeom>
            <a:solidFill>
              <a:schemeClr val="accent6"/>
            </a:solidFill>
            <a:ln w="9525">
              <a:solidFill>
                <a:schemeClr val="accent4"/>
              </a:solidFill>
            </a:ln>
          </p:spPr>
        </p:sp>
        <p:sp>
          <p:nvSpPr>
            <p:cNvPr id="24" name="Rectangle 24"/>
            <p:cNvSpPr/>
            <p:nvPr/>
          </p:nvSpPr>
          <p:spPr>
            <a:xfrm>
              <a:off x="10191750" y="3257550"/>
              <a:ext cx="609600" cy="609600"/>
            </a:xfrm>
            <a:prstGeom prst="roundRect">
              <a:avLst>
                <a:gd name="adj" fmla="val 15625"/>
              </a:avLst>
            </a:prstGeom>
            <a:solidFill>
              <a:schemeClr val="accent2"/>
            </a:solidFill>
            <a:ln w="9525">
              <a:solidFill>
                <a:schemeClr val="accent2"/>
              </a:solidFill>
            </a:ln>
          </p:spPr>
        </p:sp>
        <p:sp>
          <p:nvSpPr>
            <p:cNvPr id="25" name="TextBox 25"/>
            <p:cNvSpPr txBox="1"/>
            <p:nvPr/>
          </p:nvSpPr>
          <p:spPr>
            <a:xfrm>
              <a:off x="7729347" y="4085749"/>
              <a:ext cx="299806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normal patches repeat · anomalies stand alone</a:t>
              </a:r>
            </a:p>
          </p:txBody>
        </p:sp>
      </p:grpSp>
      <p:grpSp>
        <p:nvGrpSpPr>
          <p:cNvPr id="32" name="Group 32"/>
          <p:cNvGrpSpPr/>
          <p:nvPr/>
        </p:nvGrpSpPr>
        <p:grpSpPr>
          <a:xfrm>
            <a:off x="609600" y="4762500"/>
            <a:ext cx="3505200" cy="1562100"/>
            <a:chOff x="609600" y="4762500"/>
            <a:chExt cx="3505200" cy="1562100"/>
          </a:xfrm>
        </p:grpSpPr>
        <p:sp>
          <p:nvSpPr>
            <p:cNvPr id="27" name="Rectangle 27"/>
            <p:cNvSpPr/>
            <p:nvPr/>
          </p:nvSpPr>
          <p:spPr>
            <a:xfrm>
              <a:off x="609600" y="4762500"/>
              <a:ext cx="3505200" cy="1562100"/>
            </a:xfrm>
            <a:prstGeom prst="roundRect">
              <a:avLst>
                <a:gd name="adj" fmla="val 8537"/>
              </a:avLst>
            </a:prstGeom>
            <a:solidFill>
              <a:schemeClr val="lt2"/>
            </a:solidFill>
            <a:ln w="9525">
              <a:solidFill>
                <a:schemeClr val="accent4"/>
              </a:solidFill>
            </a:ln>
          </p:spPr>
        </p:sp>
        <p:sp>
          <p:nvSpPr>
            <p:cNvPr id="28" name="Rectangle 28"/>
            <p:cNvSpPr/>
            <p:nvPr/>
          </p:nvSpPr>
          <p:spPr>
            <a:xfrm>
              <a:off x="609600" y="4762500"/>
              <a:ext cx="57150" cy="1562100"/>
            </a:xfrm>
            <a:prstGeom prst="roundRect">
              <a:avLst>
                <a:gd name="adj" fmla="val 50000"/>
              </a:avLst>
            </a:prstGeom>
            <a:solidFill>
              <a:schemeClr val="accent1"/>
            </a:solidFill>
            <a:ln>
              <a:noFill/>
            </a:ln>
          </p:spPr>
        </p:sp>
        <p:sp>
          <p:nvSpPr>
            <p:cNvPr id="29" name="TextBox 29"/>
            <p:cNvSpPr txBox="1"/>
            <p:nvPr/>
          </p:nvSpPr>
          <p:spPr>
            <a:xfrm>
              <a:off x="867918" y="5022532"/>
              <a:ext cx="2461673"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Training-free method</a:t>
              </a:r>
            </a:p>
          </p:txBody>
        </p:sp>
        <p:sp>
          <p:nvSpPr>
            <p:cNvPr id="30" name="TextBox 30"/>
            <p:cNvSpPr txBox="1"/>
            <p:nvPr/>
          </p:nvSpPr>
          <p:spPr>
            <a:xfrm>
              <a:off x="869442" y="5435918"/>
              <a:ext cx="258280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No training, no prompts, and</a:t>
              </a:r>
            </a:p>
          </p:txBody>
        </p:sp>
        <p:sp>
          <p:nvSpPr>
            <p:cNvPr id="31" name="TextBox 31"/>
            <p:cNvSpPr txBox="1"/>
            <p:nvPr/>
          </p:nvSpPr>
          <p:spPr>
            <a:xfrm>
              <a:off x="869442" y="5683568"/>
              <a:ext cx="255803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no normal reference images.</a:t>
              </a:r>
            </a:p>
          </p:txBody>
        </p:sp>
      </p:grpSp>
      <p:grpSp>
        <p:nvGrpSpPr>
          <p:cNvPr id="38" name="Group 38"/>
          <p:cNvGrpSpPr/>
          <p:nvPr/>
        </p:nvGrpSpPr>
        <p:grpSpPr>
          <a:xfrm>
            <a:off x="4343400" y="4762500"/>
            <a:ext cx="3505200" cy="1562100"/>
            <a:chOff x="4343400" y="4762500"/>
            <a:chExt cx="3505200" cy="1562100"/>
          </a:xfrm>
        </p:grpSpPr>
        <p:sp>
          <p:nvSpPr>
            <p:cNvPr id="33" name="Rectangle 33"/>
            <p:cNvSpPr/>
            <p:nvPr/>
          </p:nvSpPr>
          <p:spPr>
            <a:xfrm>
              <a:off x="4343400" y="4762500"/>
              <a:ext cx="3505200" cy="1562100"/>
            </a:xfrm>
            <a:prstGeom prst="roundRect">
              <a:avLst>
                <a:gd name="adj" fmla="val 8537"/>
              </a:avLst>
            </a:prstGeom>
            <a:solidFill>
              <a:schemeClr val="lt2"/>
            </a:solidFill>
            <a:ln w="9525">
              <a:solidFill>
                <a:schemeClr val="accent4"/>
              </a:solidFill>
            </a:ln>
          </p:spPr>
        </p:sp>
        <p:sp>
          <p:nvSpPr>
            <p:cNvPr id="34" name="Rectangle 34"/>
            <p:cNvSpPr/>
            <p:nvPr/>
          </p:nvSpPr>
          <p:spPr>
            <a:xfrm>
              <a:off x="4343400" y="4762500"/>
              <a:ext cx="57150" cy="1562100"/>
            </a:xfrm>
            <a:prstGeom prst="roundRect">
              <a:avLst>
                <a:gd name="adj" fmla="val 50000"/>
              </a:avLst>
            </a:prstGeom>
            <a:solidFill>
              <a:schemeClr val="accent2"/>
            </a:solidFill>
            <a:ln>
              <a:noFill/>
            </a:ln>
          </p:spPr>
        </p:sp>
        <p:sp>
          <p:nvSpPr>
            <p:cNvPr id="35" name="TextBox 35"/>
            <p:cNvSpPr txBox="1"/>
            <p:nvPr/>
          </p:nvSpPr>
          <p:spPr>
            <a:xfrm>
              <a:off x="4601718" y="5022532"/>
              <a:ext cx="2356390"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Self-supervising set</a:t>
              </a:r>
            </a:p>
          </p:txBody>
        </p:sp>
        <p:sp>
          <p:nvSpPr>
            <p:cNvPr id="36" name="TextBox 36"/>
            <p:cNvSpPr txBox="1"/>
            <p:nvPr/>
          </p:nvSpPr>
          <p:spPr>
            <a:xfrm>
              <a:off x="4603242" y="5435918"/>
              <a:ext cx="233656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Unlabeled test images hold</a:t>
              </a:r>
            </a:p>
          </p:txBody>
        </p:sp>
        <p:sp>
          <p:nvSpPr>
            <p:cNvPr id="37" name="TextBox 37"/>
            <p:cNvSpPr txBox="1"/>
            <p:nvPr/>
          </p:nvSpPr>
          <p:spPr>
            <a:xfrm>
              <a:off x="4603242" y="5683568"/>
              <a:ext cx="298511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enough cues to score each other.</a:t>
              </a:r>
            </a:p>
          </p:txBody>
        </p:sp>
      </p:grpSp>
      <p:grpSp>
        <p:nvGrpSpPr>
          <p:cNvPr id="44" name="Group 44"/>
          <p:cNvGrpSpPr/>
          <p:nvPr/>
        </p:nvGrpSpPr>
        <p:grpSpPr>
          <a:xfrm>
            <a:off x="8077200" y="4762500"/>
            <a:ext cx="3505200" cy="1562100"/>
            <a:chOff x="8077200" y="4762500"/>
            <a:chExt cx="3505200" cy="1562100"/>
          </a:xfrm>
        </p:grpSpPr>
        <p:sp>
          <p:nvSpPr>
            <p:cNvPr id="39" name="Rectangle 39"/>
            <p:cNvSpPr/>
            <p:nvPr/>
          </p:nvSpPr>
          <p:spPr>
            <a:xfrm>
              <a:off x="8077200" y="4762500"/>
              <a:ext cx="3505200" cy="1562100"/>
            </a:xfrm>
            <a:prstGeom prst="roundRect">
              <a:avLst>
                <a:gd name="adj" fmla="val 8537"/>
              </a:avLst>
            </a:prstGeom>
            <a:solidFill>
              <a:schemeClr val="lt2"/>
            </a:solidFill>
            <a:ln w="9525">
              <a:solidFill>
                <a:schemeClr val="accent4"/>
              </a:solidFill>
            </a:ln>
          </p:spPr>
        </p:sp>
        <p:sp>
          <p:nvSpPr>
            <p:cNvPr id="40" name="Rectangle 40"/>
            <p:cNvSpPr/>
            <p:nvPr/>
          </p:nvSpPr>
          <p:spPr>
            <a:xfrm>
              <a:off x="8077200" y="4762500"/>
              <a:ext cx="57150" cy="1562100"/>
            </a:xfrm>
            <a:prstGeom prst="roundRect">
              <a:avLst>
                <a:gd name="adj" fmla="val 50000"/>
              </a:avLst>
            </a:prstGeom>
            <a:solidFill>
              <a:srgbClr val="FFB454"/>
            </a:solidFill>
            <a:ln>
              <a:noFill/>
            </a:ln>
          </p:spPr>
        </p:sp>
        <p:sp>
          <p:nvSpPr>
            <p:cNvPr id="41" name="TextBox 41"/>
            <p:cNvSpPr txBox="1"/>
            <p:nvPr/>
          </p:nvSpPr>
          <p:spPr>
            <a:xfrm>
              <a:off x="8335518" y="5022532"/>
              <a:ext cx="2404117"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New state of the art</a:t>
              </a:r>
            </a:p>
          </p:txBody>
        </p:sp>
        <p:sp>
          <p:nvSpPr>
            <p:cNvPr id="42" name="TextBox 42"/>
            <p:cNvSpPr txBox="1"/>
            <p:nvPr/>
          </p:nvSpPr>
          <p:spPr>
            <a:xfrm>
              <a:off x="8337042" y="5435918"/>
              <a:ext cx="273967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Published at ICLR 2024, it tops</a:t>
              </a:r>
            </a:p>
          </p:txBody>
        </p:sp>
        <p:sp>
          <p:nvSpPr>
            <p:cNvPr id="43" name="TextBox 43"/>
            <p:cNvSpPr txBox="1"/>
            <p:nvPr/>
          </p:nvSpPr>
          <p:spPr>
            <a:xfrm>
              <a:off x="8337042" y="5683568"/>
              <a:ext cx="171432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MVTec AD and VisA.</a:t>
              </a:r>
            </a:p>
          </p:txBody>
        </p:sp>
      </p:grpSp>
      <p:sp>
        <p:nvSpPr>
          <p:cNvPr id="45" name="cue_s01_c1_musc_zero_shot_method_industrial_ano" title="cue_s01_c1_musc_zero_shot_method_industrial_ano" descr="cue_s01_c1_musc_zero_shot_method_industrial_ano MuSc is a zero-shot method for industrial anomaly detection and segmentation, with no training, no prompts, and no normal reference images."/>
          <p:cNvSpPr/>
          <p:nvPr/>
        </p:nvSpPr>
        <p:spPr>
          <a:xfrm>
            <a:off x="609600" y="4762195"/>
            <a:ext cx="3505199" cy="15622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1_c2_its_insight_unlabeled_test_images" title="cue_s01_c2_its_insight_unlabeled_test_images" descr="cue_s01_c2_its_insight_unlabeled_test_images Its insight: unlabeled test images hold enough cues to score one another."/>
          <p:cNvSpPr/>
          <p:nvPr/>
        </p:nvSpPr>
        <p:spPr>
          <a:xfrm>
            <a:off x="4344009" y="4762195"/>
            <a:ext cx="3505199" cy="15622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1_c3_published_iclr_2024_tops_mvtec" title="cue_s01_c3_published_iclr_2024_tops_mvtec" descr="cue_s01_c3_published_iclr_2024_tops_mvtec Published at ICLR 2024, it tops MVTec AD and VisA."/>
          <p:cNvSpPr/>
          <p:nvPr/>
        </p:nvSpPr>
        <p:spPr>
          <a:xfrm>
            <a:off x="8077200" y="4762195"/>
            <a:ext cx="3505199" cy="15622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495300"/>
            <a:ext cx="6544898" cy="711517"/>
            <a:chOff x="609600" y="495300"/>
            <a:chExt cx="6544898" cy="711517"/>
          </a:xfrm>
        </p:grpSpPr>
        <p:sp>
          <p:nvSpPr>
            <p:cNvPr id="2" name="Rectangle 2"/>
            <p:cNvSpPr/>
            <p:nvPr/>
          </p:nvSpPr>
          <p:spPr>
            <a:xfrm>
              <a:off x="609600" y="495300"/>
              <a:ext cx="47625" cy="495300"/>
            </a:xfrm>
            <a:prstGeom prst="roundRect">
              <a:avLst>
                <a:gd name="adj" fmla="val 40000"/>
              </a:avLst>
            </a:prstGeom>
            <a:solidFill>
              <a:schemeClr val="accent1"/>
            </a:solidFill>
            <a:ln>
              <a:noFill/>
            </a:ln>
          </p:spPr>
        </p:sp>
        <p:sp>
          <p:nvSpPr>
            <p:cNvPr id="3" name="TextBox 3"/>
            <p:cNvSpPr txBox="1"/>
            <p:nvPr/>
          </p:nvSpPr>
          <p:spPr>
            <a:xfrm>
              <a:off x="813435" y="602456"/>
              <a:ext cx="1281633" cy="220028"/>
            </a:xfrm>
            <a:prstGeom prst="rect">
              <a:avLst/>
            </a:prstGeom>
            <a:noFill/>
            <a:ln>
              <a:noFill/>
            </a:ln>
          </p:spPr>
          <p:txBody>
            <a:bodyPr wrap="none" lIns="0" tIns="0" rIns="0" bIns="0" anchor="t" anchorCtr="0">
              <a:spAutoFit/>
            </a:bodyPr>
            <a:lstStyle/>
            <a:p>
              <a:pPr algn="l"/>
              <a:r>
                <a:rPr lang="en-US" sz="1120" spc="150" dirty="0">
                  <a:solidFill>
                    <a:schemeClr val="dk2"/>
                  </a:solidFill>
                  <a:latin typeface="+mn-lt"/>
                  <a:ea typeface="+mn-ea"/>
                  <a:cs typeface="+mn-cs"/>
                </a:rPr>
                <a:t>02 · PROBLEM</a:t>
              </a:r>
            </a:p>
          </p:txBody>
        </p:sp>
        <p:sp>
          <p:nvSpPr>
            <p:cNvPr id="4" name="TextBox 4"/>
            <p:cNvSpPr txBox="1"/>
            <p:nvPr/>
          </p:nvSpPr>
          <p:spPr>
            <a:xfrm>
              <a:off x="807720" y="766762"/>
              <a:ext cx="6346778"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n-lt"/>
                  <a:ea typeface="+mn-ea"/>
                  <a:cs typeface="+mn-cs"/>
                </a:rPr>
                <a:t>Why zero-shot anomaly detection is hard</a:t>
              </a:r>
            </a:p>
          </p:txBody>
        </p:sp>
      </p:grpSp>
      <p:grpSp>
        <p:nvGrpSpPr>
          <p:cNvPr id="14" name="Group 14"/>
          <p:cNvGrpSpPr/>
          <p:nvPr/>
        </p:nvGrpSpPr>
        <p:grpSpPr>
          <a:xfrm>
            <a:off x="609600" y="1428750"/>
            <a:ext cx="5334000" cy="2381250"/>
            <a:chOff x="609600" y="1428750"/>
            <a:chExt cx="5334000" cy="2381250"/>
          </a:xfrm>
        </p:grpSpPr>
        <p:sp>
          <p:nvSpPr>
            <p:cNvPr id="6" name="Rectangle 6"/>
            <p:cNvSpPr/>
            <p:nvPr/>
          </p:nvSpPr>
          <p:spPr>
            <a:xfrm>
              <a:off x="609600" y="1428750"/>
              <a:ext cx="5334000" cy="2381250"/>
            </a:xfrm>
            <a:prstGeom prst="roundRect">
              <a:avLst>
                <a:gd name="adj" fmla="val 5600"/>
              </a:avLst>
            </a:prstGeom>
            <a:solidFill>
              <a:schemeClr val="lt2"/>
            </a:solidFill>
            <a:ln w="9525">
              <a:solidFill>
                <a:schemeClr val="accent4"/>
              </a:solidFill>
            </a:ln>
          </p:spPr>
        </p:sp>
        <p:sp>
          <p:nvSpPr>
            <p:cNvPr id="7" name="Rectangle 7"/>
            <p:cNvSpPr/>
            <p:nvPr/>
          </p:nvSpPr>
          <p:spPr>
            <a:xfrm>
              <a:off x="609600" y="1428750"/>
              <a:ext cx="57150" cy="2381250"/>
            </a:xfrm>
            <a:prstGeom prst="roundRect">
              <a:avLst>
                <a:gd name="adj" fmla="val 50000"/>
              </a:avLst>
            </a:prstGeom>
            <a:solidFill>
              <a:schemeClr val="accent1"/>
            </a:solidFill>
            <a:ln>
              <a:noFill/>
            </a:ln>
          </p:spPr>
        </p:sp>
        <p:sp>
          <p:nvSpPr>
            <p:cNvPr id="8" name="Rectangle 8"/>
            <p:cNvSpPr/>
            <p:nvPr/>
          </p:nvSpPr>
          <p:spPr>
            <a:xfrm>
              <a:off x="876300" y="1676400"/>
              <a:ext cx="381000" cy="381000"/>
            </a:xfrm>
            <a:prstGeom prst="roundRect">
              <a:avLst>
                <a:gd name="adj" fmla="val 25000"/>
              </a:avLst>
            </a:prstGeom>
            <a:solidFill>
              <a:schemeClr val="accent1"/>
            </a:solidFill>
            <a:ln>
              <a:noFill/>
            </a:ln>
          </p:spPr>
        </p:sp>
        <p:sp>
          <p:nvSpPr>
            <p:cNvPr id="9" name="TextBox 9"/>
            <p:cNvSpPr txBox="1"/>
            <p:nvPr/>
          </p:nvSpPr>
          <p:spPr>
            <a:xfrm>
              <a:off x="1000873" y="1771650"/>
              <a:ext cx="131855" cy="293370"/>
            </a:xfrm>
            <a:prstGeom prst="rect">
              <a:avLst/>
            </a:prstGeom>
            <a:noFill/>
            <a:ln>
              <a:noFill/>
            </a:ln>
          </p:spPr>
          <p:txBody>
            <a:bodyPr wrap="none" lIns="0" tIns="0" rIns="0" bIns="0" anchor="t" anchorCtr="0">
              <a:spAutoFit/>
            </a:bodyPr>
            <a:lstStyle/>
            <a:p>
              <a:pPr algn="ctr"/>
              <a:r>
                <a:rPr lang="en-US" sz="1500" b="1" dirty="0">
                  <a:solidFill>
                    <a:srgbClr val="0E1420"/>
                  </a:solidFill>
                  <a:latin typeface="+mn-lt"/>
                  <a:ea typeface="+mn-ea"/>
                  <a:cs typeface="+mn-cs"/>
                </a:rPr>
                <a:t>1</a:t>
              </a:r>
            </a:p>
          </p:txBody>
        </p:sp>
        <p:sp>
          <p:nvSpPr>
            <p:cNvPr id="10" name="TextBox 10"/>
            <p:cNvSpPr txBox="1"/>
            <p:nvPr/>
          </p:nvSpPr>
          <p:spPr>
            <a:xfrm>
              <a:off x="1382268" y="1764982"/>
              <a:ext cx="3243247"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A core computer-vision task</a:t>
              </a:r>
            </a:p>
          </p:txBody>
        </p:sp>
        <p:sp>
          <p:nvSpPr>
            <p:cNvPr id="11" name="TextBox 11"/>
            <p:cNvSpPr txBox="1"/>
            <p:nvPr/>
          </p:nvSpPr>
          <p:spPr>
            <a:xfrm>
              <a:off x="888111" y="2284571"/>
              <a:ext cx="373873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Detecting product defects is central to</a:t>
              </a:r>
            </a:p>
          </p:txBody>
        </p:sp>
        <p:sp>
          <p:nvSpPr>
            <p:cNvPr id="12" name="TextBox 12"/>
            <p:cNvSpPr txBox="1"/>
            <p:nvPr/>
          </p:nvSpPr>
          <p:spPr>
            <a:xfrm>
              <a:off x="888111" y="2570321"/>
              <a:ext cx="374210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industrial inspection — yet the standard</a:t>
              </a:r>
            </a:p>
          </p:txBody>
        </p:sp>
        <p:sp>
          <p:nvSpPr>
            <p:cNvPr id="13" name="TextBox 13"/>
            <p:cNvSpPr txBox="1"/>
            <p:nvPr/>
          </p:nvSpPr>
          <p:spPr>
            <a:xfrm>
              <a:off x="888111" y="2856071"/>
              <a:ext cx="404796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methods all come with heavy requirements.</a:t>
              </a:r>
            </a:p>
          </p:txBody>
        </p:sp>
      </p:grpSp>
      <p:grpSp>
        <p:nvGrpSpPr>
          <p:cNvPr id="23" name="Group 23"/>
          <p:cNvGrpSpPr/>
          <p:nvPr/>
        </p:nvGrpSpPr>
        <p:grpSpPr>
          <a:xfrm>
            <a:off x="6248400" y="1428750"/>
            <a:ext cx="5334000" cy="2381250"/>
            <a:chOff x="6248400" y="1428750"/>
            <a:chExt cx="5334000" cy="2381250"/>
          </a:xfrm>
        </p:grpSpPr>
        <p:sp>
          <p:nvSpPr>
            <p:cNvPr id="15" name="Rectangle 15"/>
            <p:cNvSpPr/>
            <p:nvPr/>
          </p:nvSpPr>
          <p:spPr>
            <a:xfrm>
              <a:off x="6248400" y="1428750"/>
              <a:ext cx="5334000" cy="2381250"/>
            </a:xfrm>
            <a:prstGeom prst="roundRect">
              <a:avLst>
                <a:gd name="adj" fmla="val 5600"/>
              </a:avLst>
            </a:prstGeom>
            <a:solidFill>
              <a:schemeClr val="lt2"/>
            </a:solidFill>
            <a:ln w="9525">
              <a:solidFill>
                <a:schemeClr val="accent4"/>
              </a:solidFill>
            </a:ln>
          </p:spPr>
        </p:sp>
        <p:sp>
          <p:nvSpPr>
            <p:cNvPr id="16" name="Rectangle 16"/>
            <p:cNvSpPr/>
            <p:nvPr/>
          </p:nvSpPr>
          <p:spPr>
            <a:xfrm>
              <a:off x="6248400" y="1428750"/>
              <a:ext cx="57150" cy="2381250"/>
            </a:xfrm>
            <a:prstGeom prst="roundRect">
              <a:avLst>
                <a:gd name="adj" fmla="val 50000"/>
              </a:avLst>
            </a:prstGeom>
            <a:solidFill>
              <a:srgbClr val="FFB454"/>
            </a:solidFill>
            <a:ln>
              <a:noFill/>
            </a:ln>
          </p:spPr>
        </p:sp>
        <p:sp>
          <p:nvSpPr>
            <p:cNvPr id="17" name="Rectangle 17"/>
            <p:cNvSpPr/>
            <p:nvPr/>
          </p:nvSpPr>
          <p:spPr>
            <a:xfrm>
              <a:off x="6515100" y="1676400"/>
              <a:ext cx="381000" cy="381000"/>
            </a:xfrm>
            <a:prstGeom prst="roundRect">
              <a:avLst>
                <a:gd name="adj" fmla="val 25000"/>
              </a:avLst>
            </a:prstGeom>
            <a:solidFill>
              <a:srgbClr val="FFB454"/>
            </a:solidFill>
            <a:ln>
              <a:noFill/>
            </a:ln>
          </p:spPr>
        </p:sp>
        <p:sp>
          <p:nvSpPr>
            <p:cNvPr id="18" name="TextBox 18"/>
            <p:cNvSpPr txBox="1"/>
            <p:nvPr/>
          </p:nvSpPr>
          <p:spPr>
            <a:xfrm>
              <a:off x="6639673" y="1771650"/>
              <a:ext cx="131855" cy="293370"/>
            </a:xfrm>
            <a:prstGeom prst="rect">
              <a:avLst/>
            </a:prstGeom>
            <a:noFill/>
            <a:ln>
              <a:noFill/>
            </a:ln>
          </p:spPr>
          <p:txBody>
            <a:bodyPr wrap="none" lIns="0" tIns="0" rIns="0" bIns="0" anchor="t" anchorCtr="0">
              <a:spAutoFit/>
            </a:bodyPr>
            <a:lstStyle/>
            <a:p>
              <a:pPr algn="ctr"/>
              <a:r>
                <a:rPr lang="en-US" sz="1500" b="1" dirty="0">
                  <a:solidFill>
                    <a:srgbClr val="0E1420"/>
                  </a:solidFill>
                  <a:latin typeface="+mn-lt"/>
                  <a:ea typeface="+mn-ea"/>
                  <a:cs typeface="+mn-cs"/>
                </a:rPr>
                <a:t>2</a:t>
              </a:r>
            </a:p>
          </p:txBody>
        </p:sp>
        <p:sp>
          <p:nvSpPr>
            <p:cNvPr id="19" name="TextBox 19"/>
            <p:cNvSpPr txBox="1"/>
            <p:nvPr/>
          </p:nvSpPr>
          <p:spPr>
            <a:xfrm>
              <a:off x="7021068" y="1764982"/>
              <a:ext cx="2286201"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Heavy prerequisites</a:t>
              </a:r>
            </a:p>
          </p:txBody>
        </p:sp>
        <p:sp>
          <p:nvSpPr>
            <p:cNvPr id="20" name="TextBox 20"/>
            <p:cNvSpPr txBox="1"/>
            <p:nvPr/>
          </p:nvSpPr>
          <p:spPr>
            <a:xfrm>
              <a:off x="6526911" y="2284571"/>
              <a:ext cx="385402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One-class methods need a bank of normal</a:t>
              </a:r>
            </a:p>
          </p:txBody>
        </p:sp>
        <p:sp>
          <p:nvSpPr>
            <p:cNvPr id="21" name="TextBox 21"/>
            <p:cNvSpPr txBox="1"/>
            <p:nvPr/>
          </p:nvSpPr>
          <p:spPr>
            <a:xfrm>
              <a:off x="6526911" y="2570321"/>
              <a:ext cx="399864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images per product; CLIP-based zero-shot</a:t>
              </a:r>
            </a:p>
          </p:txBody>
        </p:sp>
        <p:sp>
          <p:nvSpPr>
            <p:cNvPr id="22" name="TextBox 22"/>
            <p:cNvSpPr txBox="1"/>
            <p:nvPr/>
          </p:nvSpPr>
          <p:spPr>
            <a:xfrm>
              <a:off x="6526911" y="2856071"/>
              <a:ext cx="373254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methods rely on hand-written prompts.</a:t>
              </a:r>
            </a:p>
          </p:txBody>
        </p:sp>
      </p:grpSp>
      <p:grpSp>
        <p:nvGrpSpPr>
          <p:cNvPr id="32" name="Group 32"/>
          <p:cNvGrpSpPr/>
          <p:nvPr/>
        </p:nvGrpSpPr>
        <p:grpSpPr>
          <a:xfrm>
            <a:off x="609600" y="3981450"/>
            <a:ext cx="5334000" cy="2381250"/>
            <a:chOff x="609600" y="3981450"/>
            <a:chExt cx="5334000" cy="2381250"/>
          </a:xfrm>
        </p:grpSpPr>
        <p:sp>
          <p:nvSpPr>
            <p:cNvPr id="24" name="Rectangle 24"/>
            <p:cNvSpPr/>
            <p:nvPr/>
          </p:nvSpPr>
          <p:spPr>
            <a:xfrm>
              <a:off x="609600" y="3981450"/>
              <a:ext cx="5334000" cy="2381250"/>
            </a:xfrm>
            <a:prstGeom prst="roundRect">
              <a:avLst>
                <a:gd name="adj" fmla="val 5600"/>
              </a:avLst>
            </a:prstGeom>
            <a:solidFill>
              <a:schemeClr val="lt2"/>
            </a:solidFill>
            <a:ln w="9525">
              <a:solidFill>
                <a:schemeClr val="accent4"/>
              </a:solidFill>
            </a:ln>
          </p:spPr>
        </p:sp>
        <p:sp>
          <p:nvSpPr>
            <p:cNvPr id="25" name="Rectangle 25"/>
            <p:cNvSpPr/>
            <p:nvPr/>
          </p:nvSpPr>
          <p:spPr>
            <a:xfrm>
              <a:off x="609600" y="3981450"/>
              <a:ext cx="57150" cy="2381250"/>
            </a:xfrm>
            <a:prstGeom prst="roundRect">
              <a:avLst>
                <a:gd name="adj" fmla="val 50000"/>
              </a:avLst>
            </a:prstGeom>
            <a:solidFill>
              <a:schemeClr val="accent3"/>
            </a:solidFill>
            <a:ln>
              <a:noFill/>
            </a:ln>
          </p:spPr>
        </p:sp>
        <p:sp>
          <p:nvSpPr>
            <p:cNvPr id="26" name="Rectangle 26"/>
            <p:cNvSpPr/>
            <p:nvPr/>
          </p:nvSpPr>
          <p:spPr>
            <a:xfrm>
              <a:off x="876300" y="4229100"/>
              <a:ext cx="381000" cy="381000"/>
            </a:xfrm>
            <a:prstGeom prst="roundRect">
              <a:avLst>
                <a:gd name="adj" fmla="val 25000"/>
              </a:avLst>
            </a:prstGeom>
            <a:solidFill>
              <a:schemeClr val="accent3"/>
            </a:solidFill>
            <a:ln>
              <a:noFill/>
            </a:ln>
          </p:spPr>
        </p:sp>
        <p:sp>
          <p:nvSpPr>
            <p:cNvPr id="27" name="TextBox 27"/>
            <p:cNvSpPr txBox="1"/>
            <p:nvPr/>
          </p:nvSpPr>
          <p:spPr>
            <a:xfrm>
              <a:off x="1000873" y="4324350"/>
              <a:ext cx="131855" cy="293370"/>
            </a:xfrm>
            <a:prstGeom prst="rect">
              <a:avLst/>
            </a:prstGeom>
            <a:noFill/>
            <a:ln>
              <a:noFill/>
            </a:ln>
          </p:spPr>
          <p:txBody>
            <a:bodyPr wrap="none" lIns="0" tIns="0" rIns="0" bIns="0" anchor="t" anchorCtr="0">
              <a:spAutoFit/>
            </a:bodyPr>
            <a:lstStyle/>
            <a:p>
              <a:pPr algn="ctr"/>
              <a:r>
                <a:rPr lang="en-US" sz="1500" b="1" dirty="0">
                  <a:solidFill>
                    <a:srgbClr val="0E1420"/>
                  </a:solidFill>
                  <a:latin typeface="+mn-lt"/>
                  <a:ea typeface="+mn-ea"/>
                  <a:cs typeface="+mn-cs"/>
                </a:rPr>
                <a:t>3</a:t>
              </a:r>
            </a:p>
          </p:txBody>
        </p:sp>
        <p:sp>
          <p:nvSpPr>
            <p:cNvPr id="28" name="TextBox 28"/>
            <p:cNvSpPr txBox="1"/>
            <p:nvPr/>
          </p:nvSpPr>
          <p:spPr>
            <a:xfrm>
              <a:off x="1382268" y="4317682"/>
              <a:ext cx="3137717"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Real factories have neither</a:t>
              </a:r>
            </a:p>
          </p:txBody>
        </p:sp>
        <p:sp>
          <p:nvSpPr>
            <p:cNvPr id="29" name="TextBox 29"/>
            <p:cNvSpPr txBox="1"/>
            <p:nvPr/>
          </p:nvSpPr>
          <p:spPr>
            <a:xfrm>
              <a:off x="888111" y="4837271"/>
              <a:ext cx="340440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On many production lines there is no</a:t>
              </a:r>
            </a:p>
          </p:txBody>
        </p:sp>
        <p:sp>
          <p:nvSpPr>
            <p:cNvPr id="30" name="TextBox 30"/>
            <p:cNvSpPr txBox="1"/>
            <p:nvPr/>
          </p:nvSpPr>
          <p:spPr>
            <a:xfrm>
              <a:off x="888111" y="5123021"/>
              <a:ext cx="352227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curated reference set and no reliable</a:t>
              </a:r>
            </a:p>
          </p:txBody>
        </p:sp>
        <p:sp>
          <p:nvSpPr>
            <p:cNvPr id="31" name="TextBox 31"/>
            <p:cNvSpPr txBox="1"/>
            <p:nvPr/>
          </p:nvSpPr>
          <p:spPr>
            <a:xfrm>
              <a:off x="888111" y="5408771"/>
              <a:ext cx="365608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text prompt to describe every defect.</a:t>
              </a:r>
            </a:p>
          </p:txBody>
        </p:sp>
      </p:grpSp>
      <p:grpSp>
        <p:nvGrpSpPr>
          <p:cNvPr id="41" name="Group 41"/>
          <p:cNvGrpSpPr/>
          <p:nvPr/>
        </p:nvGrpSpPr>
        <p:grpSpPr>
          <a:xfrm>
            <a:off x="6248400" y="3981450"/>
            <a:ext cx="5334000" cy="2381250"/>
            <a:chOff x="6248400" y="3981450"/>
            <a:chExt cx="5334000" cy="2381250"/>
          </a:xfrm>
        </p:grpSpPr>
        <p:sp>
          <p:nvSpPr>
            <p:cNvPr id="33" name="Rectangle 33"/>
            <p:cNvSpPr/>
            <p:nvPr/>
          </p:nvSpPr>
          <p:spPr>
            <a:xfrm>
              <a:off x="6248400" y="3981450"/>
              <a:ext cx="5334000" cy="2381250"/>
            </a:xfrm>
            <a:prstGeom prst="roundRect">
              <a:avLst>
                <a:gd name="adj" fmla="val 5600"/>
              </a:avLst>
            </a:prstGeom>
            <a:solidFill>
              <a:schemeClr val="lt2"/>
            </a:solidFill>
            <a:ln w="9525">
              <a:solidFill>
                <a:schemeClr val="accent4"/>
              </a:solidFill>
            </a:ln>
          </p:spPr>
        </p:sp>
        <p:sp>
          <p:nvSpPr>
            <p:cNvPr id="34" name="Rectangle 34"/>
            <p:cNvSpPr/>
            <p:nvPr/>
          </p:nvSpPr>
          <p:spPr>
            <a:xfrm>
              <a:off x="6248400" y="3981450"/>
              <a:ext cx="57150" cy="2381250"/>
            </a:xfrm>
            <a:prstGeom prst="roundRect">
              <a:avLst>
                <a:gd name="adj" fmla="val 50000"/>
              </a:avLst>
            </a:prstGeom>
            <a:solidFill>
              <a:schemeClr val="accent2"/>
            </a:solidFill>
            <a:ln>
              <a:noFill/>
            </a:ln>
          </p:spPr>
        </p:sp>
        <p:sp>
          <p:nvSpPr>
            <p:cNvPr id="35" name="Rectangle 35"/>
            <p:cNvSpPr/>
            <p:nvPr/>
          </p:nvSpPr>
          <p:spPr>
            <a:xfrm>
              <a:off x="6515100" y="4229100"/>
              <a:ext cx="381000" cy="381000"/>
            </a:xfrm>
            <a:prstGeom prst="roundRect">
              <a:avLst>
                <a:gd name="adj" fmla="val 25000"/>
              </a:avLst>
            </a:prstGeom>
            <a:solidFill>
              <a:schemeClr val="accent2"/>
            </a:solidFill>
            <a:ln>
              <a:noFill/>
            </a:ln>
          </p:spPr>
        </p:sp>
        <p:sp>
          <p:nvSpPr>
            <p:cNvPr id="36" name="TextBox 36"/>
            <p:cNvSpPr txBox="1"/>
            <p:nvPr/>
          </p:nvSpPr>
          <p:spPr>
            <a:xfrm>
              <a:off x="6633080" y="4308158"/>
              <a:ext cx="145040" cy="322707"/>
            </a:xfrm>
            <a:prstGeom prst="rect">
              <a:avLst/>
            </a:prstGeom>
            <a:noFill/>
            <a:ln>
              <a:noFill/>
            </a:ln>
          </p:spPr>
          <p:txBody>
            <a:bodyPr wrap="none" lIns="0" tIns="0" rIns="0" bIns="0" anchor="t" anchorCtr="0">
              <a:spAutoFit/>
            </a:bodyPr>
            <a:lstStyle/>
            <a:p>
              <a:pPr algn="ctr"/>
              <a:r>
                <a:rPr lang="en-US" sz="1650" b="1" dirty="0">
                  <a:solidFill>
                    <a:srgbClr val="0E1420"/>
                  </a:solidFill>
                  <a:latin typeface="+mn-lt"/>
                  <a:ea typeface="+mn-ea"/>
                  <a:cs typeface="+mn-cs"/>
                </a:rPr>
                <a:t>→</a:t>
              </a:r>
            </a:p>
          </p:txBody>
        </p:sp>
        <p:sp>
          <p:nvSpPr>
            <p:cNvPr id="37" name="TextBox 37"/>
            <p:cNvSpPr txBox="1"/>
            <p:nvPr/>
          </p:nvSpPr>
          <p:spPr>
            <a:xfrm>
              <a:off x="7021068" y="4317682"/>
              <a:ext cx="933713"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The goal</a:t>
              </a:r>
            </a:p>
          </p:txBody>
        </p:sp>
        <p:sp>
          <p:nvSpPr>
            <p:cNvPr id="38" name="TextBox 38"/>
            <p:cNvSpPr txBox="1"/>
            <p:nvPr/>
          </p:nvSpPr>
          <p:spPr>
            <a:xfrm>
              <a:off x="6526911" y="4837271"/>
              <a:ext cx="338504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Classify and segment anomalies with</a:t>
              </a:r>
            </a:p>
          </p:txBody>
        </p:sp>
        <p:sp>
          <p:nvSpPr>
            <p:cNvPr id="39" name="TextBox 39"/>
            <p:cNvSpPr txBox="1"/>
            <p:nvPr/>
          </p:nvSpPr>
          <p:spPr>
            <a:xfrm>
              <a:off x="6526911" y="5123021"/>
              <a:ext cx="270984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no training, no prompts, and</a:t>
              </a:r>
            </a:p>
          </p:txBody>
        </p:sp>
        <p:sp>
          <p:nvSpPr>
            <p:cNvPr id="40" name="TextBox 40"/>
            <p:cNvSpPr txBox="1"/>
            <p:nvPr/>
          </p:nvSpPr>
          <p:spPr>
            <a:xfrm>
              <a:off x="6526911" y="5408771"/>
              <a:ext cx="255691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no reference images at all.</a:t>
              </a:r>
            </a:p>
          </p:txBody>
        </p:sp>
      </p:grpSp>
      <p:sp>
        <p:nvSpPr>
          <p:cNvPr id="42" name="cue_s02_c1_detecting_defects_core_vision_task" title="cue_s02_c1_detecting_defects_core_vision_task" descr="cue_s02_c1_detecting_defects_core_vision_task Detecting defects is a core vision task, but existing methods are demanding."/>
          <p:cNvSpPr/>
          <p:nvPr/>
        </p:nvSpPr>
        <p:spPr>
          <a:xfrm>
            <a:off x="609600" y="1428521"/>
            <a:ext cx="5334000"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2_c2_one_class_approaches_need_bank_norma" title="cue_s02_c2_one_class_approaches_need_bank_norma" descr="cue_s02_c2_one_class_approaches_need_bank_norma One-class approaches need a bank of normal images per product; CLIP-based zero-shot methods rely on hand-written prompts."/>
          <p:cNvSpPr/>
          <p:nvPr/>
        </p:nvSpPr>
        <p:spPr>
          <a:xfrm>
            <a:off x="6248399" y="1428521"/>
            <a:ext cx="5334000"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2_c3_many_factories_neither" title="cue_s02_c3_many_factories_neither" descr="cue_s02_c3_many_factories_neither Many factories have neither."/>
          <p:cNvSpPr/>
          <p:nvPr/>
        </p:nvSpPr>
        <p:spPr>
          <a:xfrm>
            <a:off x="609600" y="3981754"/>
            <a:ext cx="5334000"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2_c4_goal_segment_anomalies_prompts_refer" title="cue_s02_c4_goal_segment_anomalies_prompts_refer" descr="cue_s02_c4_goal_segment_anomalies_prompts_refer The goal: segment anomalies with no training, prompts, or references."/>
          <p:cNvSpPr/>
          <p:nvPr/>
        </p:nvSpPr>
        <p:spPr>
          <a:xfrm>
            <a:off x="6248399" y="3981754"/>
            <a:ext cx="5334000"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495300"/>
            <a:ext cx="6019542" cy="711517"/>
            <a:chOff x="609600" y="495300"/>
            <a:chExt cx="6019542" cy="711517"/>
          </a:xfrm>
        </p:grpSpPr>
        <p:sp>
          <p:nvSpPr>
            <p:cNvPr id="2" name="Rectangle 2"/>
            <p:cNvSpPr/>
            <p:nvPr/>
          </p:nvSpPr>
          <p:spPr>
            <a:xfrm>
              <a:off x="609600" y="495300"/>
              <a:ext cx="47625" cy="495300"/>
            </a:xfrm>
            <a:prstGeom prst="roundRect">
              <a:avLst>
                <a:gd name="adj" fmla="val 40000"/>
              </a:avLst>
            </a:prstGeom>
            <a:solidFill>
              <a:schemeClr val="accent2"/>
            </a:solidFill>
            <a:ln>
              <a:noFill/>
            </a:ln>
          </p:spPr>
        </p:sp>
        <p:sp>
          <p:nvSpPr>
            <p:cNvPr id="3" name="TextBox 3"/>
            <p:cNvSpPr txBox="1"/>
            <p:nvPr/>
          </p:nvSpPr>
          <p:spPr>
            <a:xfrm>
              <a:off x="813435" y="602456"/>
              <a:ext cx="1560708" cy="220028"/>
            </a:xfrm>
            <a:prstGeom prst="rect">
              <a:avLst/>
            </a:prstGeom>
            <a:noFill/>
            <a:ln>
              <a:noFill/>
            </a:ln>
          </p:spPr>
          <p:txBody>
            <a:bodyPr wrap="none" lIns="0" tIns="0" rIns="0" bIns="0" anchor="t" anchorCtr="0">
              <a:spAutoFit/>
            </a:bodyPr>
            <a:lstStyle/>
            <a:p>
              <a:pPr algn="l"/>
              <a:r>
                <a:rPr lang="en-US" sz="1120" spc="150" dirty="0">
                  <a:solidFill>
                    <a:schemeClr val="dk2"/>
                  </a:solidFill>
                  <a:latin typeface="+mn-lt"/>
                  <a:ea typeface="+mn-ea"/>
                  <a:cs typeface="+mn-cs"/>
                </a:rPr>
                <a:t>03 · MOTIVATION</a:t>
              </a:r>
            </a:p>
          </p:txBody>
        </p:sp>
        <p:sp>
          <p:nvSpPr>
            <p:cNvPr id="4" name="TextBox 4"/>
            <p:cNvSpPr txBox="1"/>
            <p:nvPr/>
          </p:nvSpPr>
          <p:spPr>
            <a:xfrm>
              <a:off x="807720" y="766762"/>
              <a:ext cx="5821422"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n-lt"/>
                  <a:ea typeface="+mn-ea"/>
                  <a:cs typeface="+mn-cs"/>
                </a:rPr>
                <a:t>A signal already hiding in the test set</a:t>
              </a:r>
            </a:p>
          </p:txBody>
        </p:sp>
      </p:grpSp>
      <p:grpSp>
        <p:nvGrpSpPr>
          <p:cNvPr id="12" name="Group 12"/>
          <p:cNvGrpSpPr/>
          <p:nvPr/>
        </p:nvGrpSpPr>
        <p:grpSpPr>
          <a:xfrm>
            <a:off x="609600" y="1428750"/>
            <a:ext cx="5334000" cy="2381250"/>
            <a:chOff x="609600" y="1428750"/>
            <a:chExt cx="5334000" cy="2381250"/>
          </a:xfrm>
        </p:grpSpPr>
        <p:sp>
          <p:nvSpPr>
            <p:cNvPr id="6" name="Rectangle 6"/>
            <p:cNvSpPr/>
            <p:nvPr/>
          </p:nvSpPr>
          <p:spPr>
            <a:xfrm>
              <a:off x="609600" y="1428750"/>
              <a:ext cx="5334000" cy="2381250"/>
            </a:xfrm>
            <a:prstGeom prst="roundRect">
              <a:avLst>
                <a:gd name="adj" fmla="val 5600"/>
              </a:avLst>
            </a:prstGeom>
            <a:solidFill>
              <a:schemeClr val="lt2"/>
            </a:solidFill>
            <a:ln w="9525">
              <a:solidFill>
                <a:schemeClr val="accent4"/>
              </a:solidFill>
            </a:ln>
          </p:spPr>
        </p:sp>
        <p:sp>
          <p:nvSpPr>
            <p:cNvPr id="7" name="Rectangle 7"/>
            <p:cNvSpPr/>
            <p:nvPr/>
          </p:nvSpPr>
          <p:spPr>
            <a:xfrm>
              <a:off x="609600" y="1428750"/>
              <a:ext cx="57150" cy="2381250"/>
            </a:xfrm>
            <a:prstGeom prst="roundRect">
              <a:avLst>
                <a:gd name="adj" fmla="val 50000"/>
              </a:avLst>
            </a:prstGeom>
            <a:solidFill>
              <a:schemeClr val="accent2"/>
            </a:solidFill>
            <a:ln>
              <a:noFill/>
            </a:ln>
          </p:spPr>
        </p:sp>
        <p:sp>
          <p:nvSpPr>
            <p:cNvPr id="8" name="TextBox 8"/>
            <p:cNvSpPr txBox="1"/>
            <p:nvPr/>
          </p:nvSpPr>
          <p:spPr>
            <a:xfrm>
              <a:off x="886968" y="1726882"/>
              <a:ext cx="2344692"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A simple observation</a:t>
              </a:r>
            </a:p>
          </p:txBody>
        </p:sp>
        <p:sp>
          <p:nvSpPr>
            <p:cNvPr id="9" name="TextBox 9"/>
            <p:cNvSpPr txBox="1"/>
            <p:nvPr/>
          </p:nvSpPr>
          <p:spPr>
            <a:xfrm>
              <a:off x="888111" y="2246471"/>
              <a:ext cx="349975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unlabeled test images themselves</a:t>
              </a:r>
            </a:p>
          </p:txBody>
        </p:sp>
        <p:sp>
          <p:nvSpPr>
            <p:cNvPr id="10" name="TextBox 10"/>
            <p:cNvSpPr txBox="1"/>
            <p:nvPr/>
          </p:nvSpPr>
          <p:spPr>
            <a:xfrm>
              <a:off x="888111" y="2532221"/>
              <a:ext cx="359873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already carry the normal and abnormal</a:t>
              </a:r>
            </a:p>
          </p:txBody>
        </p:sp>
        <p:sp>
          <p:nvSpPr>
            <p:cNvPr id="11" name="TextBox 11"/>
            <p:cNvSpPr txBox="1"/>
            <p:nvPr/>
          </p:nvSpPr>
          <p:spPr>
            <a:xfrm>
              <a:off x="888111" y="2817971"/>
              <a:ext cx="366564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cues we need — no extra data required.</a:t>
              </a:r>
            </a:p>
          </p:txBody>
        </p:sp>
      </p:grpSp>
      <p:grpSp>
        <p:nvGrpSpPr>
          <p:cNvPr id="19" name="Group 19"/>
          <p:cNvGrpSpPr/>
          <p:nvPr/>
        </p:nvGrpSpPr>
        <p:grpSpPr>
          <a:xfrm>
            <a:off x="6248400" y="1428750"/>
            <a:ext cx="5334000" cy="2381250"/>
            <a:chOff x="6248400" y="1428750"/>
            <a:chExt cx="5334000" cy="2381250"/>
          </a:xfrm>
        </p:grpSpPr>
        <p:sp>
          <p:nvSpPr>
            <p:cNvPr id="13" name="Rectangle 13"/>
            <p:cNvSpPr/>
            <p:nvPr/>
          </p:nvSpPr>
          <p:spPr>
            <a:xfrm>
              <a:off x="6248400" y="1428750"/>
              <a:ext cx="5334000" cy="2381250"/>
            </a:xfrm>
            <a:prstGeom prst="roundRect">
              <a:avLst>
                <a:gd name="adj" fmla="val 5600"/>
              </a:avLst>
            </a:prstGeom>
            <a:solidFill>
              <a:schemeClr val="lt2"/>
            </a:solidFill>
            <a:ln w="9525">
              <a:solidFill>
                <a:schemeClr val="accent4"/>
              </a:solidFill>
            </a:ln>
          </p:spPr>
        </p:sp>
        <p:sp>
          <p:nvSpPr>
            <p:cNvPr id="14" name="Rectangle 14"/>
            <p:cNvSpPr/>
            <p:nvPr/>
          </p:nvSpPr>
          <p:spPr>
            <a:xfrm>
              <a:off x="6248400" y="1428750"/>
              <a:ext cx="57150" cy="2381250"/>
            </a:xfrm>
            <a:prstGeom prst="roundRect">
              <a:avLst>
                <a:gd name="adj" fmla="val 50000"/>
              </a:avLst>
            </a:prstGeom>
            <a:solidFill>
              <a:schemeClr val="accent1"/>
            </a:solidFill>
            <a:ln>
              <a:noFill/>
            </a:ln>
          </p:spPr>
        </p:sp>
        <p:sp>
          <p:nvSpPr>
            <p:cNvPr id="15" name="TextBox 15"/>
            <p:cNvSpPr txBox="1"/>
            <p:nvPr/>
          </p:nvSpPr>
          <p:spPr>
            <a:xfrm>
              <a:off x="6525768" y="1726882"/>
              <a:ext cx="3102965"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Normal appearance repeats</a:t>
              </a:r>
            </a:p>
          </p:txBody>
        </p:sp>
        <p:sp>
          <p:nvSpPr>
            <p:cNvPr id="16" name="TextBox 16"/>
            <p:cNvSpPr txBox="1"/>
            <p:nvPr/>
          </p:nvSpPr>
          <p:spPr>
            <a:xfrm>
              <a:off x="6526911" y="2246471"/>
              <a:ext cx="330933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In a batch of one product, a normal</a:t>
              </a:r>
            </a:p>
          </p:txBody>
        </p:sp>
        <p:sp>
          <p:nvSpPr>
            <p:cNvPr id="17" name="TextBox 17"/>
            <p:cNvSpPr txBox="1"/>
            <p:nvPr/>
          </p:nvSpPr>
          <p:spPr>
            <a:xfrm>
              <a:off x="6526911" y="2532221"/>
              <a:ext cx="307304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patch finds many similar patches</a:t>
              </a:r>
            </a:p>
          </p:txBody>
        </p:sp>
        <p:sp>
          <p:nvSpPr>
            <p:cNvPr id="18" name="TextBox 18"/>
            <p:cNvSpPr txBox="1"/>
            <p:nvPr/>
          </p:nvSpPr>
          <p:spPr>
            <a:xfrm>
              <a:off x="6526911" y="2817971"/>
              <a:ext cx="286276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across the other test images.</a:t>
              </a:r>
            </a:p>
          </p:txBody>
        </p:sp>
      </p:grpSp>
      <p:grpSp>
        <p:nvGrpSpPr>
          <p:cNvPr id="26" name="Group 26"/>
          <p:cNvGrpSpPr/>
          <p:nvPr/>
        </p:nvGrpSpPr>
        <p:grpSpPr>
          <a:xfrm>
            <a:off x="609600" y="3981450"/>
            <a:ext cx="5334000" cy="2381250"/>
            <a:chOff x="609600" y="3981450"/>
            <a:chExt cx="5334000" cy="2381250"/>
          </a:xfrm>
        </p:grpSpPr>
        <p:sp>
          <p:nvSpPr>
            <p:cNvPr id="20" name="Rectangle 20"/>
            <p:cNvSpPr/>
            <p:nvPr/>
          </p:nvSpPr>
          <p:spPr>
            <a:xfrm>
              <a:off x="609600" y="3981450"/>
              <a:ext cx="5334000" cy="2381250"/>
            </a:xfrm>
            <a:prstGeom prst="roundRect">
              <a:avLst>
                <a:gd name="adj" fmla="val 5600"/>
              </a:avLst>
            </a:prstGeom>
            <a:solidFill>
              <a:schemeClr val="lt2"/>
            </a:solidFill>
            <a:ln w="9525">
              <a:solidFill>
                <a:schemeClr val="accent4"/>
              </a:solidFill>
            </a:ln>
          </p:spPr>
        </p:sp>
        <p:sp>
          <p:nvSpPr>
            <p:cNvPr id="21" name="Rectangle 21"/>
            <p:cNvSpPr/>
            <p:nvPr/>
          </p:nvSpPr>
          <p:spPr>
            <a:xfrm>
              <a:off x="609600" y="3981450"/>
              <a:ext cx="57150" cy="2381250"/>
            </a:xfrm>
            <a:prstGeom prst="roundRect">
              <a:avLst>
                <a:gd name="adj" fmla="val 50000"/>
              </a:avLst>
            </a:prstGeom>
            <a:solidFill>
              <a:schemeClr val="accent3"/>
            </a:solidFill>
            <a:ln>
              <a:noFill/>
            </a:ln>
          </p:spPr>
        </p:sp>
        <p:sp>
          <p:nvSpPr>
            <p:cNvPr id="22" name="TextBox 22"/>
            <p:cNvSpPr txBox="1"/>
            <p:nvPr/>
          </p:nvSpPr>
          <p:spPr>
            <a:xfrm>
              <a:off x="886968" y="4279582"/>
              <a:ext cx="2146658"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Anomalies are rare</a:t>
              </a:r>
            </a:p>
          </p:txBody>
        </p:sp>
        <p:sp>
          <p:nvSpPr>
            <p:cNvPr id="23" name="TextBox 23"/>
            <p:cNvSpPr txBox="1"/>
            <p:nvPr/>
          </p:nvSpPr>
          <p:spPr>
            <a:xfrm>
              <a:off x="888111" y="4799171"/>
              <a:ext cx="361507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An abnormal patch, by contrast, finds</a:t>
              </a:r>
            </a:p>
          </p:txBody>
        </p:sp>
        <p:sp>
          <p:nvSpPr>
            <p:cNvPr id="24" name="TextBox 24"/>
            <p:cNvSpPr txBox="1"/>
            <p:nvPr/>
          </p:nvSpPr>
          <p:spPr>
            <a:xfrm>
              <a:off x="888111" y="5084921"/>
              <a:ext cx="359873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only a few matches — defects are rare</a:t>
              </a:r>
            </a:p>
          </p:txBody>
        </p:sp>
        <p:sp>
          <p:nvSpPr>
            <p:cNvPr id="25" name="TextBox 25"/>
            <p:cNvSpPr txBox="1"/>
            <p:nvPr/>
          </p:nvSpPr>
          <p:spPr>
            <a:xfrm>
              <a:off x="888111" y="5370671"/>
              <a:ext cx="335978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and idiosyncratic across the batch.</a:t>
              </a:r>
            </a:p>
          </p:txBody>
        </p:sp>
      </p:grpSp>
      <p:grpSp>
        <p:nvGrpSpPr>
          <p:cNvPr id="33" name="Group 33"/>
          <p:cNvGrpSpPr/>
          <p:nvPr/>
        </p:nvGrpSpPr>
        <p:grpSpPr>
          <a:xfrm>
            <a:off x="6248400" y="3981450"/>
            <a:ext cx="5334000" cy="2381250"/>
            <a:chOff x="6248400" y="3981450"/>
            <a:chExt cx="5334000" cy="2381250"/>
          </a:xfrm>
        </p:grpSpPr>
        <p:sp>
          <p:nvSpPr>
            <p:cNvPr id="27" name="Rectangle 27"/>
            <p:cNvSpPr/>
            <p:nvPr/>
          </p:nvSpPr>
          <p:spPr>
            <a:xfrm>
              <a:off x="6248400" y="3981450"/>
              <a:ext cx="5334000" cy="2381250"/>
            </a:xfrm>
            <a:prstGeom prst="roundRect">
              <a:avLst>
                <a:gd name="adj" fmla="val 5600"/>
              </a:avLst>
            </a:prstGeom>
            <a:solidFill>
              <a:schemeClr val="lt2"/>
            </a:solidFill>
            <a:ln w="9525">
              <a:solidFill>
                <a:schemeClr val="accent4"/>
              </a:solidFill>
            </a:ln>
          </p:spPr>
        </p:sp>
        <p:sp>
          <p:nvSpPr>
            <p:cNvPr id="28" name="Rectangle 28"/>
            <p:cNvSpPr/>
            <p:nvPr/>
          </p:nvSpPr>
          <p:spPr>
            <a:xfrm>
              <a:off x="6248400" y="3981450"/>
              <a:ext cx="57150" cy="2381250"/>
            </a:xfrm>
            <a:prstGeom prst="roundRect">
              <a:avLst>
                <a:gd name="adj" fmla="val 50000"/>
              </a:avLst>
            </a:prstGeom>
            <a:solidFill>
              <a:schemeClr val="accent2"/>
            </a:solidFill>
            <a:ln>
              <a:noFill/>
            </a:ln>
          </p:spPr>
        </p:sp>
        <p:sp>
          <p:nvSpPr>
            <p:cNvPr id="29" name="TextBox 29"/>
            <p:cNvSpPr txBox="1"/>
            <p:nvPr/>
          </p:nvSpPr>
          <p:spPr>
            <a:xfrm>
              <a:off x="6525768" y="4279582"/>
              <a:ext cx="1901344"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Free supervision</a:t>
              </a:r>
            </a:p>
          </p:txBody>
        </p:sp>
        <p:sp>
          <p:nvSpPr>
            <p:cNvPr id="30" name="TextBox 30"/>
            <p:cNvSpPr txBox="1"/>
            <p:nvPr/>
          </p:nvSpPr>
          <p:spPr>
            <a:xfrm>
              <a:off x="6526911" y="4799171"/>
              <a:ext cx="390131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That match asymmetry is a discriminative</a:t>
              </a:r>
            </a:p>
          </p:txBody>
        </p:sp>
        <p:sp>
          <p:nvSpPr>
            <p:cNvPr id="31" name="TextBox 31"/>
            <p:cNvSpPr txBox="1"/>
            <p:nvPr/>
          </p:nvSpPr>
          <p:spPr>
            <a:xfrm>
              <a:off x="6526911" y="5084921"/>
              <a:ext cx="343624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signal already sitting inside the test</a:t>
              </a:r>
            </a:p>
          </p:txBody>
        </p:sp>
        <p:sp>
          <p:nvSpPr>
            <p:cNvPr id="32" name="TextBox 32"/>
            <p:cNvSpPr txBox="1"/>
            <p:nvPr/>
          </p:nvSpPr>
          <p:spPr>
            <a:xfrm>
              <a:off x="6526911" y="5370671"/>
              <a:ext cx="311127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set — usable with no labels at all.</a:t>
              </a:r>
            </a:p>
          </p:txBody>
        </p:sp>
      </p:grpSp>
      <p:sp>
        <p:nvSpPr>
          <p:cNvPr id="34" name="cue_s03_c1_authors_make_simple_observation" title="cue_s03_c1_authors_make_simple_observation" descr="cue_s03_c1_authors_make_simple_observation The authors make a simple observation."/>
          <p:cNvSpPr/>
          <p:nvPr/>
        </p:nvSpPr>
        <p:spPr>
          <a:xfrm>
            <a:off x="609600" y="1428521"/>
            <a:ext cx="5334000"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3_c2_batch_unlabeled_test_images_one" title="cue_s03_c2_batch_unlabeled_test_images_one" descr="cue_s03_c2_batch_unlabeled_test_images_one In a batch of unlabeled test images of one product, a normal patch finds many similar patches across the others, because normal appearance repeats."/>
          <p:cNvSpPr/>
          <p:nvPr/>
        </p:nvSpPr>
        <p:spPr>
          <a:xfrm>
            <a:off x="6248399" y="1428521"/>
            <a:ext cx="5334000"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3_c3_abnormal_patch_finds_only_few" title="cue_s03_c3_abnormal_patch_finds_only_few" descr="cue_s03_c3_abnormal_patch_finds_only_few An abnormal patch finds only a few, since defects are rare."/>
          <p:cNvSpPr/>
          <p:nvPr/>
        </p:nvSpPr>
        <p:spPr>
          <a:xfrm>
            <a:off x="609600" y="3981754"/>
            <a:ext cx="5334000"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3_c4_asymmetry_signal_already_inside_test" title="cue_s03_c4_asymmetry_signal_already_inside_test" descr="cue_s03_c4_asymmetry_signal_already_inside_test That asymmetry is a signal already inside the test set."/>
          <p:cNvSpPr/>
          <p:nvPr/>
        </p:nvSpPr>
        <p:spPr>
          <a:xfrm>
            <a:off x="6248399" y="3981754"/>
            <a:ext cx="5334000"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495300"/>
            <a:ext cx="5177265" cy="711517"/>
            <a:chOff x="609600" y="495300"/>
            <a:chExt cx="5177265" cy="711517"/>
          </a:xfrm>
        </p:grpSpPr>
        <p:sp>
          <p:nvSpPr>
            <p:cNvPr id="2" name="Rectangle 2"/>
            <p:cNvSpPr/>
            <p:nvPr/>
          </p:nvSpPr>
          <p:spPr>
            <a:xfrm>
              <a:off x="609600" y="495300"/>
              <a:ext cx="47625" cy="495300"/>
            </a:xfrm>
            <a:prstGeom prst="roundRect">
              <a:avLst>
                <a:gd name="adj" fmla="val 40000"/>
              </a:avLst>
            </a:prstGeom>
            <a:solidFill>
              <a:schemeClr val="accent1"/>
            </a:solidFill>
            <a:ln>
              <a:noFill/>
            </a:ln>
          </p:spPr>
        </p:sp>
        <p:sp>
          <p:nvSpPr>
            <p:cNvPr id="3" name="TextBox 3"/>
            <p:cNvSpPr txBox="1"/>
            <p:nvPr/>
          </p:nvSpPr>
          <p:spPr>
            <a:xfrm>
              <a:off x="813435" y="602456"/>
              <a:ext cx="1746758" cy="220028"/>
            </a:xfrm>
            <a:prstGeom prst="rect">
              <a:avLst/>
            </a:prstGeom>
            <a:noFill/>
            <a:ln>
              <a:noFill/>
            </a:ln>
          </p:spPr>
          <p:txBody>
            <a:bodyPr wrap="none" lIns="0" tIns="0" rIns="0" bIns="0" anchor="t" anchorCtr="0">
              <a:spAutoFit/>
            </a:bodyPr>
            <a:lstStyle/>
            <a:p>
              <a:pPr algn="l"/>
              <a:r>
                <a:rPr lang="en-US" sz="1120" spc="150" dirty="0">
                  <a:solidFill>
                    <a:schemeClr val="dk2"/>
                  </a:solidFill>
                  <a:latin typeface="+mn-lt"/>
                  <a:ea typeface="+mn-ea"/>
                  <a:cs typeface="+mn-cs"/>
                </a:rPr>
                <a:t>04 · CONTRIBUTION</a:t>
              </a:r>
            </a:p>
          </p:txBody>
        </p:sp>
        <p:sp>
          <p:nvSpPr>
            <p:cNvPr id="4" name="TextBox 4"/>
            <p:cNvSpPr txBox="1"/>
            <p:nvPr/>
          </p:nvSpPr>
          <p:spPr>
            <a:xfrm>
              <a:off x="807720" y="766762"/>
              <a:ext cx="497914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n-lt"/>
                  <a:ea typeface="+mn-ea"/>
                  <a:cs typeface="+mn-cs"/>
                </a:rPr>
                <a:t>A three-part zero-shot pipeline</a:t>
              </a:r>
            </a:p>
          </p:txBody>
        </p:sp>
      </p:grpSp>
      <p:grpSp>
        <p:nvGrpSpPr>
          <p:cNvPr id="10" name="Group 10"/>
          <p:cNvGrpSpPr/>
          <p:nvPr/>
        </p:nvGrpSpPr>
        <p:grpSpPr>
          <a:xfrm>
            <a:off x="609600" y="1428750"/>
            <a:ext cx="10953750" cy="1028700"/>
            <a:chOff x="609600" y="1428750"/>
            <a:chExt cx="10953750" cy="1028700"/>
          </a:xfrm>
        </p:grpSpPr>
        <p:sp>
          <p:nvSpPr>
            <p:cNvPr id="6" name="Rectangle 6"/>
            <p:cNvSpPr/>
            <p:nvPr/>
          </p:nvSpPr>
          <p:spPr>
            <a:xfrm>
              <a:off x="609600" y="1428750"/>
              <a:ext cx="10953750" cy="1028700"/>
            </a:xfrm>
            <a:prstGeom prst="roundRect">
              <a:avLst>
                <a:gd name="adj" fmla="val 12963"/>
              </a:avLst>
            </a:prstGeom>
            <a:solidFill>
              <a:schemeClr val="lt2"/>
            </a:solidFill>
            <a:ln w="9525">
              <a:solidFill>
                <a:schemeClr val="accent4"/>
              </a:solidFill>
            </a:ln>
          </p:spPr>
        </p:sp>
        <p:sp>
          <p:nvSpPr>
            <p:cNvPr id="7" name="Rectangle 7"/>
            <p:cNvSpPr/>
            <p:nvPr/>
          </p:nvSpPr>
          <p:spPr>
            <a:xfrm>
              <a:off x="609600" y="1428750"/>
              <a:ext cx="57150" cy="1028700"/>
            </a:xfrm>
            <a:prstGeom prst="roundRect">
              <a:avLst>
                <a:gd name="adj" fmla="val 50000"/>
              </a:avLst>
            </a:prstGeom>
            <a:solidFill>
              <a:schemeClr val="accent2"/>
            </a:solidFill>
            <a:ln>
              <a:noFill/>
            </a:ln>
          </p:spPr>
        </p:sp>
        <p:sp>
          <p:nvSpPr>
            <p:cNvPr id="8" name="TextBox 8"/>
            <p:cNvSpPr txBox="1"/>
            <p:nvPr/>
          </p:nvSpPr>
          <p:spPr>
            <a:xfrm>
              <a:off x="886968" y="1688782"/>
              <a:ext cx="3558186"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Training-free and prompt-free</a:t>
              </a:r>
            </a:p>
          </p:txBody>
        </p:sp>
        <p:sp>
          <p:nvSpPr>
            <p:cNvPr id="9" name="TextBox 9"/>
            <p:cNvSpPr txBox="1"/>
            <p:nvPr/>
          </p:nvSpPr>
          <p:spPr>
            <a:xfrm>
              <a:off x="888111" y="2036921"/>
              <a:ext cx="929938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MuSc is assembled from three modules — needing no training, no prompts, and no reference images.</a:t>
              </a:r>
            </a:p>
          </p:txBody>
        </p:sp>
      </p:grpSp>
      <p:grpSp>
        <p:nvGrpSpPr>
          <p:cNvPr id="21" name="Group 21"/>
          <p:cNvGrpSpPr/>
          <p:nvPr/>
        </p:nvGrpSpPr>
        <p:grpSpPr>
          <a:xfrm>
            <a:off x="609600" y="2705100"/>
            <a:ext cx="3524250" cy="3657600"/>
            <a:chOff x="609600" y="2705100"/>
            <a:chExt cx="3524250" cy="3657600"/>
          </a:xfrm>
        </p:grpSpPr>
        <p:sp>
          <p:nvSpPr>
            <p:cNvPr id="11" name="Rectangle 11"/>
            <p:cNvSpPr/>
            <p:nvPr/>
          </p:nvSpPr>
          <p:spPr>
            <a:xfrm>
              <a:off x="609600" y="2705100"/>
              <a:ext cx="3524250" cy="3657600"/>
            </a:xfrm>
            <a:prstGeom prst="roundRect">
              <a:avLst>
                <a:gd name="adj" fmla="val 3784"/>
              </a:avLst>
            </a:prstGeom>
            <a:solidFill>
              <a:schemeClr val="lt2"/>
            </a:solidFill>
            <a:ln w="9525">
              <a:solidFill>
                <a:schemeClr val="accent4"/>
              </a:solidFill>
            </a:ln>
          </p:spPr>
        </p:sp>
        <p:sp>
          <p:nvSpPr>
            <p:cNvPr id="12" name="Rectangle 12"/>
            <p:cNvSpPr/>
            <p:nvPr/>
          </p:nvSpPr>
          <p:spPr>
            <a:xfrm>
              <a:off x="609600" y="2705100"/>
              <a:ext cx="3524250" cy="571500"/>
            </a:xfrm>
            <a:prstGeom prst="roundRect">
              <a:avLst>
                <a:gd name="adj" fmla="val 23333"/>
              </a:avLst>
            </a:prstGeom>
            <a:solidFill>
              <a:schemeClr val="accent6"/>
            </a:solidFill>
            <a:ln>
              <a:noFill/>
            </a:ln>
          </p:spPr>
        </p:sp>
        <p:sp>
          <p:nvSpPr>
            <p:cNvPr id="13" name="TextBox 13"/>
            <p:cNvSpPr txBox="1"/>
            <p:nvPr/>
          </p:nvSpPr>
          <p:spPr>
            <a:xfrm>
              <a:off x="867156" y="2882265"/>
              <a:ext cx="1268364"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1 · LNAMD</a:t>
              </a:r>
            </a:p>
          </p:txBody>
        </p:sp>
        <p:sp>
          <p:nvSpPr>
            <p:cNvPr id="14" name="TextBox 14"/>
            <p:cNvSpPr txBox="1"/>
            <p:nvPr/>
          </p:nvSpPr>
          <p:spPr>
            <a:xfrm>
              <a:off x="868680" y="3571875"/>
              <a:ext cx="1961742"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Local neighborhood</a:t>
              </a:r>
            </a:p>
          </p:txBody>
        </p:sp>
        <p:sp>
          <p:nvSpPr>
            <p:cNvPr id="15" name="TextBox 15"/>
            <p:cNvSpPr txBox="1"/>
            <p:nvPr/>
          </p:nvSpPr>
          <p:spPr>
            <a:xfrm>
              <a:off x="868680" y="3819525"/>
              <a:ext cx="1244994"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aggregation</a:t>
              </a:r>
            </a:p>
          </p:txBody>
        </p:sp>
        <p:sp>
          <p:nvSpPr>
            <p:cNvPr id="16" name="TextBox 16"/>
            <p:cNvSpPr txBox="1"/>
            <p:nvPr/>
          </p:nvSpPr>
          <p:spPr>
            <a:xfrm>
              <a:off x="869061" y="4284821"/>
              <a:ext cx="213309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Aggregates patches at</a:t>
              </a:r>
            </a:p>
          </p:txBody>
        </p:sp>
        <p:sp>
          <p:nvSpPr>
            <p:cNvPr id="17" name="TextBox 17"/>
            <p:cNvSpPr txBox="1"/>
            <p:nvPr/>
          </p:nvSpPr>
          <p:spPr>
            <a:xfrm>
              <a:off x="869061" y="4532471"/>
              <a:ext cx="239442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multiple degrees, so each</a:t>
              </a:r>
            </a:p>
          </p:txBody>
        </p:sp>
        <p:sp>
          <p:nvSpPr>
            <p:cNvPr id="18" name="TextBox 18"/>
            <p:cNvSpPr txBox="1"/>
            <p:nvPr/>
          </p:nvSpPr>
          <p:spPr>
            <a:xfrm>
              <a:off x="869061" y="4780121"/>
              <a:ext cx="224149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patch is represented at</a:t>
              </a:r>
            </a:p>
          </p:txBody>
        </p:sp>
        <p:sp>
          <p:nvSpPr>
            <p:cNvPr id="19" name="TextBox 19"/>
            <p:cNvSpPr txBox="1"/>
            <p:nvPr/>
          </p:nvSpPr>
          <p:spPr>
            <a:xfrm>
              <a:off x="869061" y="5027771"/>
              <a:ext cx="220326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several spatial scales —</a:t>
              </a:r>
            </a:p>
          </p:txBody>
        </p:sp>
        <p:sp>
          <p:nvSpPr>
            <p:cNvPr id="20" name="TextBox 20"/>
            <p:cNvSpPr txBox="1"/>
            <p:nvPr/>
          </p:nvSpPr>
          <p:spPr>
            <a:xfrm>
              <a:off x="869061" y="5275421"/>
              <a:ext cx="268116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tiny and large defects alike.</a:t>
              </a:r>
            </a:p>
          </p:txBody>
        </p:sp>
      </p:grpSp>
      <p:grpSp>
        <p:nvGrpSpPr>
          <p:cNvPr id="32" name="Group 32"/>
          <p:cNvGrpSpPr/>
          <p:nvPr/>
        </p:nvGrpSpPr>
        <p:grpSpPr>
          <a:xfrm>
            <a:off x="4324350" y="2705100"/>
            <a:ext cx="3524250" cy="3657600"/>
            <a:chOff x="4324350" y="2705100"/>
            <a:chExt cx="3524250" cy="3657600"/>
          </a:xfrm>
        </p:grpSpPr>
        <p:sp>
          <p:nvSpPr>
            <p:cNvPr id="22" name="Rectangle 22"/>
            <p:cNvSpPr/>
            <p:nvPr/>
          </p:nvSpPr>
          <p:spPr>
            <a:xfrm>
              <a:off x="4324350" y="2705100"/>
              <a:ext cx="3524250" cy="3657600"/>
            </a:xfrm>
            <a:prstGeom prst="roundRect">
              <a:avLst>
                <a:gd name="adj" fmla="val 3784"/>
              </a:avLst>
            </a:prstGeom>
            <a:solidFill>
              <a:schemeClr val="lt2"/>
            </a:solidFill>
            <a:ln w="9525">
              <a:solidFill>
                <a:schemeClr val="accent4"/>
              </a:solidFill>
            </a:ln>
          </p:spPr>
        </p:sp>
        <p:sp>
          <p:nvSpPr>
            <p:cNvPr id="23" name="Rectangle 23"/>
            <p:cNvSpPr/>
            <p:nvPr/>
          </p:nvSpPr>
          <p:spPr>
            <a:xfrm>
              <a:off x="4324350" y="2705100"/>
              <a:ext cx="3524250" cy="571500"/>
            </a:xfrm>
            <a:prstGeom prst="roundRect">
              <a:avLst>
                <a:gd name="adj" fmla="val 23333"/>
              </a:avLst>
            </a:prstGeom>
            <a:solidFill>
              <a:schemeClr val="accent6"/>
            </a:solidFill>
            <a:ln>
              <a:noFill/>
            </a:ln>
          </p:spPr>
        </p:sp>
        <p:sp>
          <p:nvSpPr>
            <p:cNvPr id="24" name="TextBox 24"/>
            <p:cNvSpPr txBox="1"/>
            <p:nvPr/>
          </p:nvSpPr>
          <p:spPr>
            <a:xfrm>
              <a:off x="4581906" y="2882265"/>
              <a:ext cx="1026414"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2 · MSM</a:t>
              </a:r>
            </a:p>
          </p:txBody>
        </p:sp>
        <p:sp>
          <p:nvSpPr>
            <p:cNvPr id="25" name="TextBox 25"/>
            <p:cNvSpPr txBox="1"/>
            <p:nvPr/>
          </p:nvSpPr>
          <p:spPr>
            <a:xfrm>
              <a:off x="4583430" y="3571875"/>
              <a:ext cx="1537830"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Mutual scoring</a:t>
              </a:r>
            </a:p>
          </p:txBody>
        </p:sp>
        <p:sp>
          <p:nvSpPr>
            <p:cNvPr id="26" name="TextBox 26"/>
            <p:cNvSpPr txBox="1"/>
            <p:nvPr/>
          </p:nvSpPr>
          <p:spPr>
            <a:xfrm>
              <a:off x="4583430" y="3819525"/>
              <a:ext cx="1096575"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mechanism</a:t>
              </a:r>
            </a:p>
          </p:txBody>
        </p:sp>
        <p:sp>
          <p:nvSpPr>
            <p:cNvPr id="27" name="TextBox 27"/>
            <p:cNvSpPr txBox="1"/>
            <p:nvPr/>
          </p:nvSpPr>
          <p:spPr>
            <a:xfrm>
              <a:off x="4583811" y="4284821"/>
              <a:ext cx="250567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Every unlabeled test image</a:t>
              </a:r>
            </a:p>
          </p:txBody>
        </p:sp>
        <p:sp>
          <p:nvSpPr>
            <p:cNvPr id="28" name="TextBox 28"/>
            <p:cNvSpPr txBox="1"/>
            <p:nvPr/>
          </p:nvSpPr>
          <p:spPr>
            <a:xfrm>
              <a:off x="4583811" y="4532471"/>
              <a:ext cx="244221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assigns anomaly scores to</a:t>
              </a:r>
            </a:p>
          </p:txBody>
        </p:sp>
        <p:sp>
          <p:nvSpPr>
            <p:cNvPr id="29" name="TextBox 29"/>
            <p:cNvSpPr txBox="1"/>
            <p:nvPr/>
          </p:nvSpPr>
          <p:spPr>
            <a:xfrm>
              <a:off x="4583811" y="4780121"/>
              <a:ext cx="254735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every other image, turning</a:t>
              </a:r>
            </a:p>
          </p:txBody>
        </p:sp>
        <p:sp>
          <p:nvSpPr>
            <p:cNvPr id="30" name="TextBox 30"/>
            <p:cNvSpPr txBox="1"/>
            <p:nvPr/>
          </p:nvSpPr>
          <p:spPr>
            <a:xfrm>
              <a:off x="4583811" y="5027771"/>
              <a:ext cx="207901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batch into its own</a:t>
              </a:r>
            </a:p>
          </p:txBody>
        </p:sp>
        <p:sp>
          <p:nvSpPr>
            <p:cNvPr id="31" name="TextBox 31"/>
            <p:cNvSpPr txBox="1"/>
            <p:nvPr/>
          </p:nvSpPr>
          <p:spPr>
            <a:xfrm>
              <a:off x="4583811" y="5275421"/>
              <a:ext cx="177315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supervision signal.</a:t>
              </a:r>
            </a:p>
          </p:txBody>
        </p:sp>
      </p:grpSp>
      <p:grpSp>
        <p:nvGrpSpPr>
          <p:cNvPr id="43" name="Group 43"/>
          <p:cNvGrpSpPr/>
          <p:nvPr/>
        </p:nvGrpSpPr>
        <p:grpSpPr>
          <a:xfrm>
            <a:off x="8039100" y="2705100"/>
            <a:ext cx="3524250" cy="3657600"/>
            <a:chOff x="8039100" y="2705100"/>
            <a:chExt cx="3524250" cy="3657600"/>
          </a:xfrm>
        </p:grpSpPr>
        <p:sp>
          <p:nvSpPr>
            <p:cNvPr id="33" name="Rectangle 33"/>
            <p:cNvSpPr/>
            <p:nvPr/>
          </p:nvSpPr>
          <p:spPr>
            <a:xfrm>
              <a:off x="8039100" y="2705100"/>
              <a:ext cx="3524250" cy="3657600"/>
            </a:xfrm>
            <a:prstGeom prst="roundRect">
              <a:avLst>
                <a:gd name="adj" fmla="val 3784"/>
              </a:avLst>
            </a:prstGeom>
            <a:solidFill>
              <a:schemeClr val="lt2"/>
            </a:solidFill>
            <a:ln w="9525">
              <a:solidFill>
                <a:schemeClr val="accent4"/>
              </a:solidFill>
            </a:ln>
          </p:spPr>
        </p:sp>
        <p:sp>
          <p:nvSpPr>
            <p:cNvPr id="34" name="Rectangle 34"/>
            <p:cNvSpPr/>
            <p:nvPr/>
          </p:nvSpPr>
          <p:spPr>
            <a:xfrm>
              <a:off x="8039100" y="2705100"/>
              <a:ext cx="3524250" cy="571500"/>
            </a:xfrm>
            <a:prstGeom prst="roundRect">
              <a:avLst>
                <a:gd name="adj" fmla="val 23333"/>
              </a:avLst>
            </a:prstGeom>
            <a:solidFill>
              <a:schemeClr val="accent6"/>
            </a:solidFill>
            <a:ln>
              <a:noFill/>
            </a:ln>
          </p:spPr>
        </p:sp>
        <p:sp>
          <p:nvSpPr>
            <p:cNvPr id="35" name="TextBox 35"/>
            <p:cNvSpPr txBox="1"/>
            <p:nvPr/>
          </p:nvSpPr>
          <p:spPr>
            <a:xfrm>
              <a:off x="8296656" y="2882265"/>
              <a:ext cx="1135292" cy="352044"/>
            </a:xfrm>
            <a:prstGeom prst="rect">
              <a:avLst/>
            </a:prstGeom>
            <a:noFill/>
            <a:ln>
              <a:noFill/>
            </a:ln>
          </p:spPr>
          <p:txBody>
            <a:bodyPr wrap="none" lIns="0" tIns="0" rIns="0" bIns="0" anchor="t" anchorCtr="0">
              <a:spAutoFit/>
            </a:bodyPr>
            <a:lstStyle/>
            <a:p>
              <a:pPr algn="l"/>
              <a:r>
                <a:rPr lang="en-US" sz="1800" b="1" dirty="0">
                  <a:solidFill>
                    <a:srgbClr val="FFB454"/>
                  </a:solidFill>
                  <a:latin typeface="+mn-lt"/>
                  <a:ea typeface="+mn-ea"/>
                  <a:cs typeface="+mn-cs"/>
                </a:rPr>
                <a:t>3 · RsCIN</a:t>
              </a:r>
            </a:p>
          </p:txBody>
        </p:sp>
        <p:sp>
          <p:nvSpPr>
            <p:cNvPr id="36" name="TextBox 36"/>
            <p:cNvSpPr txBox="1"/>
            <p:nvPr/>
          </p:nvSpPr>
          <p:spPr>
            <a:xfrm>
              <a:off x="8298180" y="3571875"/>
              <a:ext cx="1835396"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Re-scoring with a</a:t>
              </a:r>
            </a:p>
          </p:txBody>
        </p:sp>
        <p:sp>
          <p:nvSpPr>
            <p:cNvPr id="37" name="TextBox 37"/>
            <p:cNvSpPr txBox="1"/>
            <p:nvPr/>
          </p:nvSpPr>
          <p:spPr>
            <a:xfrm>
              <a:off x="8298180" y="3819525"/>
              <a:ext cx="2654970"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constrained neighborhood</a:t>
              </a:r>
            </a:p>
          </p:txBody>
        </p:sp>
        <p:sp>
          <p:nvSpPr>
            <p:cNvPr id="38" name="TextBox 38"/>
            <p:cNvSpPr txBox="1"/>
            <p:nvPr/>
          </p:nvSpPr>
          <p:spPr>
            <a:xfrm>
              <a:off x="8298561" y="4284821"/>
              <a:ext cx="219028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Refines the image-level</a:t>
              </a:r>
            </a:p>
          </p:txBody>
        </p:sp>
        <p:sp>
          <p:nvSpPr>
            <p:cNvPr id="39" name="TextBox 39"/>
            <p:cNvSpPr txBox="1"/>
            <p:nvPr/>
          </p:nvSpPr>
          <p:spPr>
            <a:xfrm>
              <a:off x="8298561" y="4532471"/>
              <a:ext cx="230840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decision — and drops into</a:t>
              </a:r>
            </a:p>
          </p:txBody>
        </p:sp>
        <p:sp>
          <p:nvSpPr>
            <p:cNvPr id="40" name="TextBox 40"/>
            <p:cNvSpPr txBox="1"/>
            <p:nvPr/>
          </p:nvSpPr>
          <p:spPr>
            <a:xfrm>
              <a:off x="8298561" y="4780121"/>
              <a:ext cx="202166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existing methods as a</a:t>
              </a:r>
            </a:p>
          </p:txBody>
        </p:sp>
        <p:sp>
          <p:nvSpPr>
            <p:cNvPr id="41" name="TextBox 41"/>
            <p:cNvSpPr txBox="1"/>
            <p:nvPr/>
          </p:nvSpPr>
          <p:spPr>
            <a:xfrm>
              <a:off x="8298561" y="5027771"/>
              <a:ext cx="233707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plug-in that boosts them</a:t>
              </a:r>
            </a:p>
          </p:txBody>
        </p:sp>
        <p:sp>
          <p:nvSpPr>
            <p:cNvPr id="42" name="TextBox 42"/>
            <p:cNvSpPr txBox="1"/>
            <p:nvPr/>
          </p:nvSpPr>
          <p:spPr>
            <a:xfrm>
              <a:off x="8298561" y="5275421"/>
              <a:ext cx="43503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too.</a:t>
              </a:r>
            </a:p>
          </p:txBody>
        </p:sp>
      </p:grpSp>
      <p:sp>
        <p:nvSpPr>
          <p:cNvPr id="44" name="cue_s04_c1_musc_training_free_prompt_free_pipel" title="cue_s04_c1_musc_training_free_prompt_free_pipel" descr="cue_s04_c1_musc_training_free_prompt_free_pipel MuSc is a training-free, prompt-free pipeline with three pieces."/>
          <p:cNvSpPr/>
          <p:nvPr/>
        </p:nvSpPr>
        <p:spPr>
          <a:xfrm>
            <a:off x="609600" y="1428521"/>
            <a:ext cx="10953292" cy="10287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4_c2_first_local_neighborhood_aggregation" title="cue_s04_c2_first_local_neighborhood_aggregation" descr="cue_s04_c2_first_local_neighborhood_aggregation First, local neighborhood aggregation at multiple degrees, representing each patch at several scales to capture tiny and large defects."/>
          <p:cNvSpPr/>
          <p:nvPr/>
        </p:nvSpPr>
        <p:spPr>
          <a:xfrm>
            <a:off x="609600" y="2704795"/>
            <a:ext cx="3524707" cy="36573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4_c3_second_mutual_scoring_where_every" title="cue_s04_c3_second_mutual_scoring_where_every" descr="cue_s04_c3_second_mutual_scoring_where_every Second, mutual scoring, where every test image scores every other."/>
          <p:cNvSpPr/>
          <p:nvPr/>
        </p:nvSpPr>
        <p:spPr>
          <a:xfrm>
            <a:off x="4324502" y="2704795"/>
            <a:ext cx="3524707" cy="36573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4_c4_third_re_scoring_constrained_image_l" title="cue_s04_c4_third_re_scoring_constrained_image_l" descr="cue_s04_c4_third_re_scoring_constrained_image_l Third, re-scoring with a constrained image-level neighborhood that cleans the final decision."/>
          <p:cNvSpPr/>
          <p:nvPr/>
        </p:nvSpPr>
        <p:spPr>
          <a:xfrm>
            <a:off x="8039404" y="2704795"/>
            <a:ext cx="3524707" cy="36573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495300"/>
            <a:ext cx="6520683" cy="711517"/>
            <a:chOff x="609600" y="495300"/>
            <a:chExt cx="6520683" cy="711517"/>
          </a:xfrm>
        </p:grpSpPr>
        <p:sp>
          <p:nvSpPr>
            <p:cNvPr id="2" name="Rectangle 2"/>
            <p:cNvSpPr/>
            <p:nvPr/>
          </p:nvSpPr>
          <p:spPr>
            <a:xfrm>
              <a:off x="609600" y="495300"/>
              <a:ext cx="47625" cy="495300"/>
            </a:xfrm>
            <a:prstGeom prst="roundRect">
              <a:avLst>
                <a:gd name="adj" fmla="val 40000"/>
              </a:avLst>
            </a:prstGeom>
            <a:solidFill>
              <a:schemeClr val="accent1"/>
            </a:solidFill>
            <a:ln>
              <a:noFill/>
            </a:ln>
          </p:spPr>
        </p:sp>
        <p:sp>
          <p:nvSpPr>
            <p:cNvPr id="3" name="TextBox 3"/>
            <p:cNvSpPr txBox="1"/>
            <p:nvPr/>
          </p:nvSpPr>
          <p:spPr>
            <a:xfrm>
              <a:off x="813435" y="602456"/>
              <a:ext cx="1172677" cy="220028"/>
            </a:xfrm>
            <a:prstGeom prst="rect">
              <a:avLst/>
            </a:prstGeom>
            <a:noFill/>
            <a:ln>
              <a:noFill/>
            </a:ln>
          </p:spPr>
          <p:txBody>
            <a:bodyPr wrap="none" lIns="0" tIns="0" rIns="0" bIns="0" anchor="t" anchorCtr="0">
              <a:spAutoFit/>
            </a:bodyPr>
            <a:lstStyle/>
            <a:p>
              <a:pPr algn="l"/>
              <a:r>
                <a:rPr lang="en-US" sz="1120" spc="150" dirty="0">
                  <a:solidFill>
                    <a:schemeClr val="dk2"/>
                  </a:solidFill>
                  <a:latin typeface="+mn-lt"/>
                  <a:ea typeface="+mn-ea"/>
                  <a:cs typeface="+mn-cs"/>
                </a:rPr>
                <a:t>05 · METHOD</a:t>
              </a:r>
            </a:p>
          </p:txBody>
        </p:sp>
        <p:sp>
          <p:nvSpPr>
            <p:cNvPr id="4" name="TextBox 4"/>
            <p:cNvSpPr txBox="1"/>
            <p:nvPr/>
          </p:nvSpPr>
          <p:spPr>
            <a:xfrm>
              <a:off x="807720" y="766762"/>
              <a:ext cx="6322563"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n-lt"/>
                  <a:ea typeface="+mn-ea"/>
                  <a:cs typeface="+mn-cs"/>
                </a:rPr>
                <a:t>Frozen ViT → mutual scoring → re-scoring</a:t>
              </a:r>
            </a:p>
          </p:txBody>
        </p:sp>
      </p:grpSp>
      <p:grpSp>
        <p:nvGrpSpPr>
          <p:cNvPr id="9" name="Group 9"/>
          <p:cNvGrpSpPr/>
          <p:nvPr/>
        </p:nvGrpSpPr>
        <p:grpSpPr>
          <a:xfrm>
            <a:off x="3152775" y="3790950"/>
            <a:ext cx="5772150" cy="228600"/>
            <a:chOff x="3152775" y="3790950"/>
            <a:chExt cx="5772150" cy="228600"/>
          </a:xfrm>
        </p:grpSpPr>
        <p:sp>
          <p:nvSpPr>
            <p:cNvPr id="6" name="Polygon 6"/>
            <p:cNvSpPr/>
            <p:nvPr/>
          </p:nvSpPr>
          <p:spPr>
            <a:xfrm>
              <a:off x="3152775" y="3790950"/>
              <a:ext cx="171450" cy="228600"/>
            </a:xfrm>
            <a:custGeom>
              <a:avLst/>
              <a:gdLst/>
              <a:ahLst/>
              <a:cxnLst/>
              <a:rect l="l" t="t" r="r" b="b"/>
              <a:pathLst>
                <a:path w="171450" h="228600">
                  <a:moveTo>
                    <a:pt x="0" y="0"/>
                  </a:moveTo>
                  <a:lnTo>
                    <a:pt x="171450" y="114300"/>
                  </a:lnTo>
                  <a:lnTo>
                    <a:pt x="0" y="228600"/>
                  </a:lnTo>
                  <a:close/>
                </a:path>
              </a:pathLst>
            </a:custGeom>
            <a:solidFill>
              <a:schemeClr val="accent1"/>
            </a:solidFill>
            <a:ln>
              <a:noFill/>
            </a:ln>
          </p:spPr>
        </p:sp>
        <p:sp>
          <p:nvSpPr>
            <p:cNvPr id="7" name="Polygon 7"/>
            <p:cNvSpPr/>
            <p:nvPr/>
          </p:nvSpPr>
          <p:spPr>
            <a:xfrm>
              <a:off x="5953125" y="3790950"/>
              <a:ext cx="171450" cy="228600"/>
            </a:xfrm>
            <a:custGeom>
              <a:avLst/>
              <a:gdLst/>
              <a:ahLst/>
              <a:cxnLst/>
              <a:rect l="l" t="t" r="r" b="b"/>
              <a:pathLst>
                <a:path w="171450" h="228600">
                  <a:moveTo>
                    <a:pt x="0" y="0"/>
                  </a:moveTo>
                  <a:lnTo>
                    <a:pt x="171450" y="114300"/>
                  </a:lnTo>
                  <a:lnTo>
                    <a:pt x="0" y="228600"/>
                  </a:lnTo>
                  <a:close/>
                </a:path>
              </a:pathLst>
            </a:custGeom>
            <a:solidFill>
              <a:schemeClr val="accent2"/>
            </a:solidFill>
            <a:ln>
              <a:noFill/>
            </a:ln>
          </p:spPr>
        </p:sp>
        <p:sp>
          <p:nvSpPr>
            <p:cNvPr id="8" name="Polygon 8"/>
            <p:cNvSpPr/>
            <p:nvPr/>
          </p:nvSpPr>
          <p:spPr>
            <a:xfrm>
              <a:off x="8753475" y="3790950"/>
              <a:ext cx="171450" cy="228600"/>
            </a:xfrm>
            <a:custGeom>
              <a:avLst/>
              <a:gdLst/>
              <a:ahLst/>
              <a:cxnLst/>
              <a:rect l="l" t="t" r="r" b="b"/>
              <a:pathLst>
                <a:path w="171450" h="228600">
                  <a:moveTo>
                    <a:pt x="0" y="0"/>
                  </a:moveTo>
                  <a:lnTo>
                    <a:pt x="171450" y="114300"/>
                  </a:lnTo>
                  <a:lnTo>
                    <a:pt x="0" y="228600"/>
                  </a:lnTo>
                  <a:close/>
                </a:path>
              </a:pathLst>
            </a:custGeom>
            <a:solidFill>
              <a:srgbClr val="FFB454"/>
            </a:solidFill>
            <a:ln>
              <a:noFill/>
            </a:ln>
          </p:spPr>
        </p:sp>
      </p:grpSp>
      <p:grpSp>
        <p:nvGrpSpPr>
          <p:cNvPr id="17" name="Group 17"/>
          <p:cNvGrpSpPr/>
          <p:nvPr/>
        </p:nvGrpSpPr>
        <p:grpSpPr>
          <a:xfrm>
            <a:off x="609600" y="1676400"/>
            <a:ext cx="2476500" cy="4305300"/>
            <a:chOff x="609600" y="1676400"/>
            <a:chExt cx="2476500" cy="4305300"/>
          </a:xfrm>
        </p:grpSpPr>
        <p:sp>
          <p:nvSpPr>
            <p:cNvPr id="10" name="Rectangle 10"/>
            <p:cNvSpPr/>
            <p:nvPr/>
          </p:nvSpPr>
          <p:spPr>
            <a:xfrm>
              <a:off x="609600" y="1676400"/>
              <a:ext cx="2476500" cy="4305300"/>
            </a:xfrm>
            <a:prstGeom prst="roundRect">
              <a:avLst>
                <a:gd name="adj" fmla="val 5385"/>
              </a:avLst>
            </a:prstGeom>
            <a:solidFill>
              <a:schemeClr val="lt2"/>
            </a:solidFill>
            <a:ln w="9525">
              <a:solidFill>
                <a:schemeClr val="accent4"/>
              </a:solidFill>
            </a:ln>
          </p:spPr>
        </p:sp>
        <p:sp>
          <p:nvSpPr>
            <p:cNvPr id="11" name="Rectangle 11"/>
            <p:cNvSpPr/>
            <p:nvPr/>
          </p:nvSpPr>
          <p:spPr>
            <a:xfrm>
              <a:off x="609600" y="1676400"/>
              <a:ext cx="2476500" cy="533400"/>
            </a:xfrm>
            <a:prstGeom prst="roundRect">
              <a:avLst>
                <a:gd name="adj" fmla="val 25000"/>
              </a:avLst>
            </a:prstGeom>
            <a:solidFill>
              <a:schemeClr val="accent6"/>
            </a:solidFill>
            <a:ln>
              <a:noFill/>
            </a:ln>
          </p:spPr>
        </p:sp>
        <p:sp>
          <p:nvSpPr>
            <p:cNvPr id="12" name="TextBox 12"/>
            <p:cNvSpPr txBox="1"/>
            <p:nvPr/>
          </p:nvSpPr>
          <p:spPr>
            <a:xfrm>
              <a:off x="830199" y="1849279"/>
              <a:ext cx="1153744"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Frozen ViT</a:t>
              </a:r>
            </a:p>
          </p:txBody>
        </p:sp>
        <p:sp>
          <p:nvSpPr>
            <p:cNvPr id="13" name="TextBox 13"/>
            <p:cNvSpPr txBox="1"/>
            <p:nvPr/>
          </p:nvSpPr>
          <p:spPr>
            <a:xfrm>
              <a:off x="831342" y="2559368"/>
              <a:ext cx="169126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 pretrained vision</a:t>
              </a:r>
            </a:p>
          </p:txBody>
        </p:sp>
        <p:sp>
          <p:nvSpPr>
            <p:cNvPr id="14" name="TextBox 14"/>
            <p:cNvSpPr txBox="1"/>
            <p:nvPr/>
          </p:nvSpPr>
          <p:spPr>
            <a:xfrm>
              <a:off x="831342" y="2807018"/>
              <a:ext cx="210369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transformer backbone,</a:t>
              </a:r>
            </a:p>
          </p:txBody>
        </p:sp>
        <p:sp>
          <p:nvSpPr>
            <p:cNvPr id="15" name="TextBox 15"/>
            <p:cNvSpPr txBox="1"/>
            <p:nvPr/>
          </p:nvSpPr>
          <p:spPr>
            <a:xfrm>
              <a:off x="831342" y="3054668"/>
              <a:ext cx="176747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used frozen with no</a:t>
              </a:r>
            </a:p>
          </p:txBody>
        </p:sp>
        <p:sp>
          <p:nvSpPr>
            <p:cNvPr id="16" name="TextBox 16"/>
            <p:cNvSpPr txBox="1"/>
            <p:nvPr/>
          </p:nvSpPr>
          <p:spPr>
            <a:xfrm>
              <a:off x="831342" y="3302318"/>
              <a:ext cx="164026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fine-tuning at all.</a:t>
              </a:r>
            </a:p>
          </p:txBody>
        </p:sp>
      </p:grpSp>
      <p:grpSp>
        <p:nvGrpSpPr>
          <p:cNvPr id="26" name="Group 26"/>
          <p:cNvGrpSpPr/>
          <p:nvPr/>
        </p:nvGrpSpPr>
        <p:grpSpPr>
          <a:xfrm>
            <a:off x="3409950" y="1676400"/>
            <a:ext cx="2476500" cy="4305300"/>
            <a:chOff x="3409950" y="1676400"/>
            <a:chExt cx="2476500" cy="4305300"/>
          </a:xfrm>
        </p:grpSpPr>
        <p:sp>
          <p:nvSpPr>
            <p:cNvPr id="18" name="Rectangle 18"/>
            <p:cNvSpPr/>
            <p:nvPr/>
          </p:nvSpPr>
          <p:spPr>
            <a:xfrm>
              <a:off x="3409950" y="1676400"/>
              <a:ext cx="2476500" cy="4305300"/>
            </a:xfrm>
            <a:prstGeom prst="roundRect">
              <a:avLst>
                <a:gd name="adj" fmla="val 5385"/>
              </a:avLst>
            </a:prstGeom>
            <a:solidFill>
              <a:schemeClr val="lt2"/>
            </a:solidFill>
            <a:ln w="9525">
              <a:solidFill>
                <a:schemeClr val="accent4"/>
              </a:solidFill>
            </a:ln>
          </p:spPr>
        </p:sp>
        <p:sp>
          <p:nvSpPr>
            <p:cNvPr id="19" name="Rectangle 19"/>
            <p:cNvSpPr/>
            <p:nvPr/>
          </p:nvSpPr>
          <p:spPr>
            <a:xfrm>
              <a:off x="3409950" y="1676400"/>
              <a:ext cx="2476500" cy="533400"/>
            </a:xfrm>
            <a:prstGeom prst="roundRect">
              <a:avLst>
                <a:gd name="adj" fmla="val 25000"/>
              </a:avLst>
            </a:prstGeom>
            <a:solidFill>
              <a:schemeClr val="accent6"/>
            </a:solidFill>
            <a:ln>
              <a:noFill/>
            </a:ln>
          </p:spPr>
        </p:sp>
        <p:sp>
          <p:nvSpPr>
            <p:cNvPr id="20" name="TextBox 20"/>
            <p:cNvSpPr txBox="1"/>
            <p:nvPr/>
          </p:nvSpPr>
          <p:spPr>
            <a:xfrm>
              <a:off x="3630549" y="1849279"/>
              <a:ext cx="712132"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LNAMD</a:t>
              </a:r>
            </a:p>
          </p:txBody>
        </p:sp>
        <p:sp>
          <p:nvSpPr>
            <p:cNvPr id="21" name="TextBox 21"/>
            <p:cNvSpPr txBox="1"/>
            <p:nvPr/>
          </p:nvSpPr>
          <p:spPr>
            <a:xfrm>
              <a:off x="3631692" y="2559368"/>
              <a:ext cx="166464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Patch tokens from</a:t>
              </a:r>
            </a:p>
          </p:txBody>
        </p:sp>
        <p:sp>
          <p:nvSpPr>
            <p:cNvPr id="22" name="TextBox 22"/>
            <p:cNvSpPr txBox="1"/>
            <p:nvPr/>
          </p:nvSpPr>
          <p:spPr>
            <a:xfrm>
              <a:off x="3631692" y="2807018"/>
              <a:ext cx="167661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several stages are</a:t>
              </a:r>
            </a:p>
          </p:txBody>
        </p:sp>
        <p:sp>
          <p:nvSpPr>
            <p:cNvPr id="23" name="TextBox 23"/>
            <p:cNvSpPr txBox="1"/>
            <p:nvPr/>
          </p:nvSpPr>
          <p:spPr>
            <a:xfrm>
              <a:off x="3631692" y="3054668"/>
              <a:ext cx="202191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aggregated at multiple</a:t>
              </a:r>
            </a:p>
          </p:txBody>
        </p:sp>
        <p:sp>
          <p:nvSpPr>
            <p:cNvPr id="24" name="TextBox 24"/>
            <p:cNvSpPr txBox="1"/>
            <p:nvPr/>
          </p:nvSpPr>
          <p:spPr>
            <a:xfrm>
              <a:off x="3631692" y="3302318"/>
              <a:ext cx="202191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degrees, to represent</a:t>
              </a:r>
            </a:p>
          </p:txBody>
        </p:sp>
        <p:sp>
          <p:nvSpPr>
            <p:cNvPr id="25" name="TextBox 25"/>
            <p:cNvSpPr txBox="1"/>
            <p:nvPr/>
          </p:nvSpPr>
          <p:spPr>
            <a:xfrm>
              <a:off x="3631692" y="3549968"/>
              <a:ext cx="167661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every defect size.</a:t>
              </a:r>
            </a:p>
          </p:txBody>
        </p:sp>
      </p:grpSp>
      <p:grpSp>
        <p:nvGrpSpPr>
          <p:cNvPr id="36" name="Group 36"/>
          <p:cNvGrpSpPr/>
          <p:nvPr/>
        </p:nvGrpSpPr>
        <p:grpSpPr>
          <a:xfrm>
            <a:off x="6210300" y="1676400"/>
            <a:ext cx="2476500" cy="4305300"/>
            <a:chOff x="6210300" y="1676400"/>
            <a:chExt cx="2476500" cy="4305300"/>
          </a:xfrm>
        </p:grpSpPr>
        <p:sp>
          <p:nvSpPr>
            <p:cNvPr id="27" name="Rectangle 27"/>
            <p:cNvSpPr/>
            <p:nvPr/>
          </p:nvSpPr>
          <p:spPr>
            <a:xfrm>
              <a:off x="6210300" y="1676400"/>
              <a:ext cx="2476500" cy="4305300"/>
            </a:xfrm>
            <a:prstGeom prst="roundRect">
              <a:avLst>
                <a:gd name="adj" fmla="val 5385"/>
              </a:avLst>
            </a:prstGeom>
            <a:solidFill>
              <a:schemeClr val="lt2"/>
            </a:solidFill>
            <a:ln w="9525">
              <a:solidFill>
                <a:schemeClr val="accent4"/>
              </a:solidFill>
            </a:ln>
          </p:spPr>
        </p:sp>
        <p:sp>
          <p:nvSpPr>
            <p:cNvPr id="28" name="Rectangle 28"/>
            <p:cNvSpPr/>
            <p:nvPr/>
          </p:nvSpPr>
          <p:spPr>
            <a:xfrm>
              <a:off x="6210300" y="1676400"/>
              <a:ext cx="2476500" cy="533400"/>
            </a:xfrm>
            <a:prstGeom prst="roundRect">
              <a:avLst>
                <a:gd name="adj" fmla="val 25000"/>
              </a:avLst>
            </a:prstGeom>
            <a:solidFill>
              <a:schemeClr val="accent6"/>
            </a:solidFill>
            <a:ln>
              <a:noFill/>
            </a:ln>
          </p:spPr>
        </p:sp>
        <p:sp>
          <p:nvSpPr>
            <p:cNvPr id="29" name="TextBox 29"/>
            <p:cNvSpPr txBox="1"/>
            <p:nvPr/>
          </p:nvSpPr>
          <p:spPr>
            <a:xfrm>
              <a:off x="6430899" y="1849279"/>
              <a:ext cx="1619797" cy="308039"/>
            </a:xfrm>
            <a:prstGeom prst="rect">
              <a:avLst/>
            </a:prstGeom>
            <a:noFill/>
            <a:ln>
              <a:noFill/>
            </a:ln>
          </p:spPr>
          <p:txBody>
            <a:bodyPr wrap="none" lIns="0" tIns="0" rIns="0" bIns="0" anchor="t" anchorCtr="0">
              <a:spAutoFit/>
            </a:bodyPr>
            <a:lstStyle/>
            <a:p>
              <a:pPr algn="l"/>
              <a:r>
                <a:rPr lang="en-US" sz="1580" b="1" dirty="0">
                  <a:solidFill>
                    <a:schemeClr val="accent2"/>
                  </a:solidFill>
                  <a:latin typeface="+mn-lt"/>
                  <a:ea typeface="+mn-ea"/>
                  <a:cs typeface="+mn-cs"/>
                </a:rPr>
                <a:t>Mutual scoring</a:t>
              </a:r>
            </a:p>
          </p:txBody>
        </p:sp>
        <p:sp>
          <p:nvSpPr>
            <p:cNvPr id="30" name="TextBox 30"/>
            <p:cNvSpPr txBox="1"/>
            <p:nvPr/>
          </p:nvSpPr>
          <p:spPr>
            <a:xfrm>
              <a:off x="6432042" y="2559368"/>
              <a:ext cx="183713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Each patch is scored</a:t>
              </a:r>
            </a:p>
          </p:txBody>
        </p:sp>
        <p:sp>
          <p:nvSpPr>
            <p:cNvPr id="31" name="TextBox 31"/>
            <p:cNvSpPr txBox="1"/>
            <p:nvPr/>
          </p:nvSpPr>
          <p:spPr>
            <a:xfrm>
              <a:off x="6432042" y="2807018"/>
              <a:ext cx="186743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by its nearest match</a:t>
              </a:r>
            </a:p>
          </p:txBody>
        </p:sp>
        <p:sp>
          <p:nvSpPr>
            <p:cNvPr id="32" name="TextBox 32"/>
            <p:cNvSpPr txBox="1"/>
            <p:nvPr/>
          </p:nvSpPr>
          <p:spPr>
            <a:xfrm>
              <a:off x="6432042" y="3054668"/>
              <a:ext cx="192195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in every other image;</a:t>
              </a:r>
            </a:p>
          </p:txBody>
        </p:sp>
        <p:sp>
          <p:nvSpPr>
            <p:cNvPr id="33" name="TextBox 33"/>
            <p:cNvSpPr txBox="1"/>
            <p:nvPr/>
          </p:nvSpPr>
          <p:spPr>
            <a:xfrm>
              <a:off x="6432042" y="3302318"/>
              <a:ext cx="207643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only the smallest score</a:t>
              </a:r>
            </a:p>
          </p:txBody>
        </p:sp>
        <p:sp>
          <p:nvSpPr>
            <p:cNvPr id="34" name="TextBox 34"/>
            <p:cNvSpPr txBox="1"/>
            <p:nvPr/>
          </p:nvSpPr>
          <p:spPr>
            <a:xfrm>
              <a:off x="6432042" y="3549968"/>
              <a:ext cx="188560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interval is averaged,</a:t>
              </a:r>
            </a:p>
          </p:txBody>
        </p:sp>
        <p:sp>
          <p:nvSpPr>
            <p:cNvPr id="35" name="TextBox 35"/>
            <p:cNvSpPr txBox="1"/>
            <p:nvPr/>
          </p:nvSpPr>
          <p:spPr>
            <a:xfrm>
              <a:off x="6432042" y="3797618"/>
              <a:ext cx="1776565"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sharpening the gap.</a:t>
              </a:r>
            </a:p>
          </p:txBody>
        </p:sp>
      </p:grpSp>
      <p:grpSp>
        <p:nvGrpSpPr>
          <p:cNvPr id="45" name="Group 45"/>
          <p:cNvGrpSpPr/>
          <p:nvPr/>
        </p:nvGrpSpPr>
        <p:grpSpPr>
          <a:xfrm>
            <a:off x="9010650" y="1676400"/>
            <a:ext cx="2476500" cy="4305300"/>
            <a:chOff x="9010650" y="1676400"/>
            <a:chExt cx="2476500" cy="4305300"/>
          </a:xfrm>
        </p:grpSpPr>
        <p:sp>
          <p:nvSpPr>
            <p:cNvPr id="37" name="Rectangle 37"/>
            <p:cNvSpPr/>
            <p:nvPr/>
          </p:nvSpPr>
          <p:spPr>
            <a:xfrm>
              <a:off x="9010650" y="1676400"/>
              <a:ext cx="2476500" cy="4305300"/>
            </a:xfrm>
            <a:prstGeom prst="roundRect">
              <a:avLst>
                <a:gd name="adj" fmla="val 5385"/>
              </a:avLst>
            </a:prstGeom>
            <a:solidFill>
              <a:schemeClr val="lt2"/>
            </a:solidFill>
            <a:ln w="9525">
              <a:solidFill>
                <a:schemeClr val="accent4"/>
              </a:solidFill>
            </a:ln>
          </p:spPr>
        </p:sp>
        <p:sp>
          <p:nvSpPr>
            <p:cNvPr id="38" name="Rectangle 38"/>
            <p:cNvSpPr/>
            <p:nvPr/>
          </p:nvSpPr>
          <p:spPr>
            <a:xfrm>
              <a:off x="9010650" y="1676400"/>
              <a:ext cx="2476500" cy="533400"/>
            </a:xfrm>
            <a:prstGeom prst="roundRect">
              <a:avLst>
                <a:gd name="adj" fmla="val 25000"/>
              </a:avLst>
            </a:prstGeom>
            <a:solidFill>
              <a:schemeClr val="accent6"/>
            </a:solidFill>
            <a:ln>
              <a:noFill/>
            </a:ln>
          </p:spPr>
        </p:sp>
        <p:sp>
          <p:nvSpPr>
            <p:cNvPr id="39" name="TextBox 39"/>
            <p:cNvSpPr txBox="1"/>
            <p:nvPr/>
          </p:nvSpPr>
          <p:spPr>
            <a:xfrm>
              <a:off x="9231249" y="1849279"/>
              <a:ext cx="1349401" cy="308039"/>
            </a:xfrm>
            <a:prstGeom prst="rect">
              <a:avLst/>
            </a:prstGeom>
            <a:noFill/>
            <a:ln>
              <a:noFill/>
            </a:ln>
          </p:spPr>
          <p:txBody>
            <a:bodyPr wrap="none" lIns="0" tIns="0" rIns="0" bIns="0" anchor="t" anchorCtr="0">
              <a:spAutoFit/>
            </a:bodyPr>
            <a:lstStyle/>
            <a:p>
              <a:pPr algn="l"/>
              <a:r>
                <a:rPr lang="en-US" sz="1580" b="1" dirty="0">
                  <a:solidFill>
                    <a:srgbClr val="FFB454"/>
                  </a:solidFill>
                  <a:latin typeface="+mn-lt"/>
                  <a:ea typeface="+mn-ea"/>
                  <a:cs typeface="+mn-cs"/>
                </a:rPr>
                <a:t>RsCIN refine</a:t>
              </a:r>
            </a:p>
          </p:txBody>
        </p:sp>
        <p:sp>
          <p:nvSpPr>
            <p:cNvPr id="40" name="TextBox 40"/>
            <p:cNvSpPr txBox="1"/>
            <p:nvPr/>
          </p:nvSpPr>
          <p:spPr>
            <a:xfrm>
              <a:off x="9232392" y="2559368"/>
              <a:ext cx="162815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image score is</a:t>
              </a:r>
            </a:p>
          </p:txBody>
        </p:sp>
        <p:sp>
          <p:nvSpPr>
            <p:cNvPr id="41" name="TextBox 41"/>
            <p:cNvSpPr txBox="1"/>
            <p:nvPr/>
          </p:nvSpPr>
          <p:spPr>
            <a:xfrm>
              <a:off x="9232392" y="2807018"/>
              <a:ext cx="126770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refined with a</a:t>
              </a:r>
            </a:p>
          </p:txBody>
        </p:sp>
        <p:sp>
          <p:nvSpPr>
            <p:cNvPr id="42" name="TextBox 42"/>
            <p:cNvSpPr txBox="1"/>
            <p:nvPr/>
          </p:nvSpPr>
          <p:spPr>
            <a:xfrm>
              <a:off x="9232392" y="3054668"/>
              <a:ext cx="197647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constrained neighbor-</a:t>
              </a:r>
            </a:p>
          </p:txBody>
        </p:sp>
        <p:sp>
          <p:nvSpPr>
            <p:cNvPr id="43" name="TextBox 43"/>
            <p:cNvSpPr txBox="1"/>
            <p:nvPr/>
          </p:nvSpPr>
          <p:spPr>
            <a:xfrm>
              <a:off x="9232392" y="3302318"/>
              <a:ext cx="1685696"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hood graph built on</a:t>
              </a:r>
            </a:p>
          </p:txBody>
        </p:sp>
        <p:sp>
          <p:nvSpPr>
            <p:cNvPr id="44" name="TextBox 44"/>
            <p:cNvSpPr txBox="1"/>
            <p:nvPr/>
          </p:nvSpPr>
          <p:spPr>
            <a:xfrm>
              <a:off x="9232392" y="3549968"/>
              <a:ext cx="157665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the class tokens.</a:t>
              </a:r>
            </a:p>
          </p:txBody>
        </p:sp>
      </p:grpSp>
      <p:sp>
        <p:nvSpPr>
          <p:cNvPr id="46" name="cue_s05_c1_backbone_frozen_vision_transformer" title="cue_s05_c1_backbone_frozen_vision_transformer" descr="cue_s05_c1_backbone_frozen_vision_transformer The backbone is a frozen vision transformer."/>
          <p:cNvSpPr/>
          <p:nvPr/>
        </p:nvSpPr>
        <p:spPr>
          <a:xfrm>
            <a:off x="609600" y="1676095"/>
            <a:ext cx="2476195" cy="4305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5_c2_patch_tokens_several_stages_aggregat" title="cue_s05_c2_patch_tokens_several_stages_aggregat" descr="cue_s05_c2_patch_tokens_several_stages_aggregat Patch tokens from several stages are aggregated at multiple neighborhood degrees to represent defect sizes."/>
          <p:cNvSpPr/>
          <p:nvPr/>
        </p:nvSpPr>
        <p:spPr>
          <a:xfrm>
            <a:off x="3410102" y="1676095"/>
            <a:ext cx="2476195" cy="4305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3_mutual_scoring_patch_scored_its" title="cue_s05_c3_mutual_scoring_patch_scored_its" descr="cue_s05_c3_mutual_scoring_patch_scored_its In mutual scoring, each patch is scored by its nearest match in every other image, and only the smallest score interval is averaged, sharpening the gap."/>
          <p:cNvSpPr/>
          <p:nvPr/>
        </p:nvSpPr>
        <p:spPr>
          <a:xfrm>
            <a:off x="6210604" y="1676095"/>
            <a:ext cx="2476195" cy="4305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4_image_score_refined_constrained_neig" title="cue_s05_c4_image_score_refined_constrained_neig" descr="cue_s05_c4_image_score_refined_constrained_neig The image score is refined with a constrained neighborhood graph on class tokens."/>
          <p:cNvSpPr/>
          <p:nvPr/>
        </p:nvSpPr>
        <p:spPr>
          <a:xfrm>
            <a:off x="9011107" y="1676095"/>
            <a:ext cx="2476195" cy="4305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495300"/>
            <a:ext cx="5061797" cy="711517"/>
            <a:chOff x="609600" y="495300"/>
            <a:chExt cx="5061797" cy="711517"/>
          </a:xfrm>
        </p:grpSpPr>
        <p:sp>
          <p:nvSpPr>
            <p:cNvPr id="2" name="Rectangle 2"/>
            <p:cNvSpPr/>
            <p:nvPr/>
          </p:nvSpPr>
          <p:spPr>
            <a:xfrm>
              <a:off x="609600" y="495300"/>
              <a:ext cx="47625" cy="495300"/>
            </a:xfrm>
            <a:prstGeom prst="roundRect">
              <a:avLst>
                <a:gd name="adj" fmla="val 40000"/>
              </a:avLst>
            </a:prstGeom>
            <a:solidFill>
              <a:schemeClr val="accent2"/>
            </a:solidFill>
            <a:ln>
              <a:noFill/>
            </a:ln>
          </p:spPr>
        </p:sp>
        <p:sp>
          <p:nvSpPr>
            <p:cNvPr id="3" name="TextBox 3"/>
            <p:cNvSpPr txBox="1"/>
            <p:nvPr/>
          </p:nvSpPr>
          <p:spPr>
            <a:xfrm>
              <a:off x="813435" y="602456"/>
              <a:ext cx="1576639" cy="220028"/>
            </a:xfrm>
            <a:prstGeom prst="rect">
              <a:avLst/>
            </a:prstGeom>
            <a:noFill/>
            <a:ln>
              <a:noFill/>
            </a:ln>
          </p:spPr>
          <p:txBody>
            <a:bodyPr wrap="none" lIns="0" tIns="0" rIns="0" bIns="0" anchor="t" anchorCtr="0">
              <a:spAutoFit/>
            </a:bodyPr>
            <a:lstStyle/>
            <a:p>
              <a:pPr algn="l"/>
              <a:r>
                <a:rPr lang="en-US" sz="1120" spc="150" dirty="0">
                  <a:solidFill>
                    <a:schemeClr val="dk2"/>
                  </a:solidFill>
                  <a:latin typeface="+mn-lt"/>
                  <a:ea typeface="+mn-ea"/>
                  <a:cs typeface="+mn-cs"/>
                </a:rPr>
                <a:t>06 · BENCHMARKS</a:t>
              </a:r>
            </a:p>
          </p:txBody>
        </p:sp>
        <p:sp>
          <p:nvSpPr>
            <p:cNvPr id="4" name="TextBox 4"/>
            <p:cNvSpPr txBox="1"/>
            <p:nvPr/>
          </p:nvSpPr>
          <p:spPr>
            <a:xfrm>
              <a:off x="807720" y="766762"/>
              <a:ext cx="4863677"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n-lt"/>
                  <a:ea typeface="+mn-ea"/>
                  <a:cs typeface="+mn-cs"/>
                </a:rPr>
                <a:t>Evaluated on MVTec AD and VisA</a:t>
              </a:r>
            </a:p>
          </p:txBody>
        </p:sp>
      </p:grpSp>
      <p:grpSp>
        <p:nvGrpSpPr>
          <p:cNvPr id="10" name="Group 10"/>
          <p:cNvGrpSpPr/>
          <p:nvPr/>
        </p:nvGrpSpPr>
        <p:grpSpPr>
          <a:xfrm>
            <a:off x="609600" y="1428750"/>
            <a:ext cx="10953750" cy="914400"/>
            <a:chOff x="609600" y="1428750"/>
            <a:chExt cx="10953750" cy="914400"/>
          </a:xfrm>
        </p:grpSpPr>
        <p:sp>
          <p:nvSpPr>
            <p:cNvPr id="6" name="Rectangle 6"/>
            <p:cNvSpPr/>
            <p:nvPr/>
          </p:nvSpPr>
          <p:spPr>
            <a:xfrm>
              <a:off x="609600" y="1428750"/>
              <a:ext cx="10953750" cy="914400"/>
            </a:xfrm>
            <a:prstGeom prst="roundRect">
              <a:avLst>
                <a:gd name="adj" fmla="val 14583"/>
              </a:avLst>
            </a:prstGeom>
            <a:solidFill>
              <a:schemeClr val="lt2"/>
            </a:solidFill>
            <a:ln w="9525">
              <a:solidFill>
                <a:schemeClr val="accent4"/>
              </a:solidFill>
            </a:ln>
          </p:spPr>
        </p:sp>
        <p:sp>
          <p:nvSpPr>
            <p:cNvPr id="7" name="Rectangle 7"/>
            <p:cNvSpPr/>
            <p:nvPr/>
          </p:nvSpPr>
          <p:spPr>
            <a:xfrm>
              <a:off x="609600" y="1428750"/>
              <a:ext cx="57150" cy="914400"/>
            </a:xfrm>
            <a:prstGeom prst="roundRect">
              <a:avLst>
                <a:gd name="adj" fmla="val 50000"/>
              </a:avLst>
            </a:prstGeom>
            <a:solidFill>
              <a:schemeClr val="accent2"/>
            </a:solidFill>
            <a:ln>
              <a:noFill/>
            </a:ln>
          </p:spPr>
        </p:sp>
        <p:sp>
          <p:nvSpPr>
            <p:cNvPr id="8" name="TextBox 8"/>
            <p:cNvSpPr txBox="1"/>
            <p:nvPr/>
          </p:nvSpPr>
          <p:spPr>
            <a:xfrm>
              <a:off x="886968" y="1650682"/>
              <a:ext cx="4129092"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Two standard industrial benchmarks</a:t>
              </a:r>
            </a:p>
          </p:txBody>
        </p:sp>
        <p:sp>
          <p:nvSpPr>
            <p:cNvPr id="9" name="TextBox 9"/>
            <p:cNvSpPr txBox="1"/>
            <p:nvPr/>
          </p:nvSpPr>
          <p:spPr>
            <a:xfrm>
              <a:off x="888111" y="1979771"/>
              <a:ext cx="788727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Both benchmarks mix normal and defective test images, at the image and pixel level.</a:t>
              </a:r>
            </a:p>
          </p:txBody>
        </p:sp>
      </p:grpSp>
      <p:grpSp>
        <p:nvGrpSpPr>
          <p:cNvPr id="17" name="Group 17"/>
          <p:cNvGrpSpPr/>
          <p:nvPr/>
        </p:nvGrpSpPr>
        <p:grpSpPr>
          <a:xfrm>
            <a:off x="609600" y="2495550"/>
            <a:ext cx="5391150" cy="2190750"/>
            <a:chOff x="609600" y="2495550"/>
            <a:chExt cx="5391150" cy="2190750"/>
          </a:xfrm>
        </p:grpSpPr>
        <p:sp>
          <p:nvSpPr>
            <p:cNvPr id="11" name="Rectangle 11"/>
            <p:cNvSpPr/>
            <p:nvPr/>
          </p:nvSpPr>
          <p:spPr>
            <a:xfrm>
              <a:off x="609600" y="2495550"/>
              <a:ext cx="5391150" cy="2190750"/>
            </a:xfrm>
            <a:prstGeom prst="roundRect">
              <a:avLst>
                <a:gd name="adj" fmla="val 6087"/>
              </a:avLst>
            </a:prstGeom>
            <a:solidFill>
              <a:schemeClr val="lt2"/>
            </a:solidFill>
            <a:ln w="9525">
              <a:solidFill>
                <a:schemeClr val="accent4"/>
              </a:solidFill>
            </a:ln>
          </p:spPr>
        </p:sp>
        <p:sp>
          <p:nvSpPr>
            <p:cNvPr id="12" name="Rectangle 12"/>
            <p:cNvSpPr/>
            <p:nvPr/>
          </p:nvSpPr>
          <p:spPr>
            <a:xfrm>
              <a:off x="609600" y="2495550"/>
              <a:ext cx="57150" cy="2190750"/>
            </a:xfrm>
            <a:prstGeom prst="roundRect">
              <a:avLst>
                <a:gd name="adj" fmla="val 50000"/>
              </a:avLst>
            </a:prstGeom>
            <a:solidFill>
              <a:schemeClr val="accent1"/>
            </a:solidFill>
            <a:ln>
              <a:noFill/>
            </a:ln>
          </p:spPr>
        </p:sp>
        <p:sp>
          <p:nvSpPr>
            <p:cNvPr id="13" name="TextBox 13"/>
            <p:cNvSpPr txBox="1"/>
            <p:nvPr/>
          </p:nvSpPr>
          <p:spPr>
            <a:xfrm>
              <a:off x="885444" y="2761298"/>
              <a:ext cx="1267299" cy="381381"/>
            </a:xfrm>
            <a:prstGeom prst="rect">
              <a:avLst/>
            </a:prstGeom>
            <a:noFill/>
            <a:ln>
              <a:noFill/>
            </a:ln>
          </p:spPr>
          <p:txBody>
            <a:bodyPr wrap="none" lIns="0" tIns="0" rIns="0" bIns="0" anchor="t" anchorCtr="0">
              <a:spAutoFit/>
            </a:bodyPr>
            <a:lstStyle/>
            <a:p>
              <a:pPr algn="l"/>
              <a:r>
                <a:rPr lang="en-US" sz="1950" b="1" dirty="0">
                  <a:solidFill>
                    <a:schemeClr val="accent1"/>
                  </a:solidFill>
                  <a:latin typeface="+mn-lt"/>
                  <a:ea typeface="+mn-ea"/>
                  <a:cs typeface="+mn-cs"/>
                </a:rPr>
                <a:t>MVTec AD</a:t>
              </a:r>
            </a:p>
          </p:txBody>
        </p:sp>
        <p:sp>
          <p:nvSpPr>
            <p:cNvPr id="14" name="TextBox 14"/>
            <p:cNvSpPr txBox="1"/>
            <p:nvPr/>
          </p:nvSpPr>
          <p:spPr>
            <a:xfrm>
              <a:off x="887730" y="3267075"/>
              <a:ext cx="299370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15 categories — 10 objects and</a:t>
              </a:r>
            </a:p>
          </p:txBody>
        </p:sp>
        <p:sp>
          <p:nvSpPr>
            <p:cNvPr id="15" name="TextBox 15"/>
            <p:cNvSpPr txBox="1"/>
            <p:nvPr/>
          </p:nvSpPr>
          <p:spPr>
            <a:xfrm>
              <a:off x="887730" y="3571875"/>
              <a:ext cx="118643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5 textures.</a:t>
              </a:r>
            </a:p>
          </p:txBody>
        </p:sp>
        <p:sp>
          <p:nvSpPr>
            <p:cNvPr id="16" name="TextBox 16"/>
            <p:cNvSpPr txBox="1"/>
            <p:nvPr/>
          </p:nvSpPr>
          <p:spPr>
            <a:xfrm>
              <a:off x="887730" y="4029075"/>
              <a:ext cx="338371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High-resolution industrial images.</a:t>
              </a:r>
            </a:p>
          </p:txBody>
        </p:sp>
      </p:grpSp>
      <p:grpSp>
        <p:nvGrpSpPr>
          <p:cNvPr id="24" name="Group 24"/>
          <p:cNvGrpSpPr/>
          <p:nvPr/>
        </p:nvGrpSpPr>
        <p:grpSpPr>
          <a:xfrm>
            <a:off x="6172200" y="2495550"/>
            <a:ext cx="5391150" cy="2190750"/>
            <a:chOff x="6172200" y="2495550"/>
            <a:chExt cx="5391150" cy="2190750"/>
          </a:xfrm>
        </p:grpSpPr>
        <p:sp>
          <p:nvSpPr>
            <p:cNvPr id="18" name="Rectangle 18"/>
            <p:cNvSpPr/>
            <p:nvPr/>
          </p:nvSpPr>
          <p:spPr>
            <a:xfrm>
              <a:off x="6172200" y="2495550"/>
              <a:ext cx="5391150" cy="2190750"/>
            </a:xfrm>
            <a:prstGeom prst="roundRect">
              <a:avLst>
                <a:gd name="adj" fmla="val 6087"/>
              </a:avLst>
            </a:prstGeom>
            <a:solidFill>
              <a:schemeClr val="lt2"/>
            </a:solidFill>
            <a:ln w="9525">
              <a:solidFill>
                <a:schemeClr val="accent4"/>
              </a:solidFill>
            </a:ln>
          </p:spPr>
        </p:sp>
        <p:sp>
          <p:nvSpPr>
            <p:cNvPr id="19" name="Rectangle 19"/>
            <p:cNvSpPr/>
            <p:nvPr/>
          </p:nvSpPr>
          <p:spPr>
            <a:xfrm>
              <a:off x="6172200" y="2495550"/>
              <a:ext cx="57150" cy="2190750"/>
            </a:xfrm>
            <a:prstGeom prst="roundRect">
              <a:avLst>
                <a:gd name="adj" fmla="val 50000"/>
              </a:avLst>
            </a:prstGeom>
            <a:solidFill>
              <a:schemeClr val="accent2"/>
            </a:solidFill>
            <a:ln>
              <a:noFill/>
            </a:ln>
          </p:spPr>
        </p:sp>
        <p:sp>
          <p:nvSpPr>
            <p:cNvPr id="20" name="TextBox 20"/>
            <p:cNvSpPr txBox="1"/>
            <p:nvPr/>
          </p:nvSpPr>
          <p:spPr>
            <a:xfrm>
              <a:off x="6448044" y="2761298"/>
              <a:ext cx="572511"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VisA</a:t>
              </a:r>
            </a:p>
          </p:txBody>
        </p:sp>
        <p:sp>
          <p:nvSpPr>
            <p:cNvPr id="21" name="TextBox 21"/>
            <p:cNvSpPr txBox="1"/>
            <p:nvPr/>
          </p:nvSpPr>
          <p:spPr>
            <a:xfrm>
              <a:off x="6450330" y="3267075"/>
              <a:ext cx="214560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12 object categories.</a:t>
              </a:r>
            </a:p>
          </p:txBody>
        </p:sp>
        <p:sp>
          <p:nvSpPr>
            <p:cNvPr id="22" name="TextBox 22"/>
            <p:cNvSpPr txBox="1"/>
            <p:nvPr/>
          </p:nvSpPr>
          <p:spPr>
            <a:xfrm>
              <a:off x="6450330" y="3571875"/>
              <a:ext cx="2970371"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Spread across three domains.</a:t>
              </a:r>
            </a:p>
          </p:txBody>
        </p:sp>
        <p:sp>
          <p:nvSpPr>
            <p:cNvPr id="23" name="TextBox 23"/>
            <p:cNvSpPr txBox="1"/>
            <p:nvPr/>
          </p:nvSpPr>
          <p:spPr>
            <a:xfrm>
              <a:off x="6450330" y="4029075"/>
              <a:ext cx="324303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Normal and anomalous test sets.</a:t>
              </a:r>
            </a:p>
          </p:txBody>
        </p:sp>
      </p:grpSp>
      <p:grpSp>
        <p:nvGrpSpPr>
          <p:cNvPr id="30" name="Group 30"/>
          <p:cNvGrpSpPr/>
          <p:nvPr/>
        </p:nvGrpSpPr>
        <p:grpSpPr>
          <a:xfrm>
            <a:off x="609600" y="4838700"/>
            <a:ext cx="10953750" cy="1428750"/>
            <a:chOff x="609600" y="4838700"/>
            <a:chExt cx="10953750" cy="1428750"/>
          </a:xfrm>
        </p:grpSpPr>
        <p:sp>
          <p:nvSpPr>
            <p:cNvPr id="25" name="Rectangle 25"/>
            <p:cNvSpPr/>
            <p:nvPr/>
          </p:nvSpPr>
          <p:spPr>
            <a:xfrm>
              <a:off x="609600" y="4838700"/>
              <a:ext cx="10953750" cy="1428750"/>
            </a:xfrm>
            <a:prstGeom prst="roundRect">
              <a:avLst>
                <a:gd name="adj" fmla="val 9333"/>
              </a:avLst>
            </a:prstGeom>
            <a:solidFill>
              <a:schemeClr val="lt2"/>
            </a:solidFill>
            <a:ln w="9525">
              <a:solidFill>
                <a:schemeClr val="accent4"/>
              </a:solidFill>
            </a:ln>
          </p:spPr>
        </p:sp>
        <p:sp>
          <p:nvSpPr>
            <p:cNvPr id="26" name="Rectangle 26"/>
            <p:cNvSpPr/>
            <p:nvPr/>
          </p:nvSpPr>
          <p:spPr>
            <a:xfrm>
              <a:off x="609600" y="4838700"/>
              <a:ext cx="57150" cy="1428750"/>
            </a:xfrm>
            <a:prstGeom prst="roundRect">
              <a:avLst>
                <a:gd name="adj" fmla="val 50000"/>
              </a:avLst>
            </a:prstGeom>
            <a:solidFill>
              <a:srgbClr val="FFB454"/>
            </a:solidFill>
            <a:ln>
              <a:noFill/>
            </a:ln>
          </p:spPr>
        </p:sp>
        <p:sp>
          <p:nvSpPr>
            <p:cNvPr id="27" name="TextBox 27"/>
            <p:cNvSpPr txBox="1"/>
            <p:nvPr/>
          </p:nvSpPr>
          <p:spPr>
            <a:xfrm>
              <a:off x="886968" y="5079682"/>
              <a:ext cx="910201"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Metrics</a:t>
              </a:r>
            </a:p>
          </p:txBody>
        </p:sp>
        <p:sp>
          <p:nvSpPr>
            <p:cNvPr id="28" name="TextBox 28"/>
            <p:cNvSpPr txBox="1"/>
            <p:nvPr/>
          </p:nvSpPr>
          <p:spPr>
            <a:xfrm>
              <a:off x="888111" y="5484971"/>
              <a:ext cx="645571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Classification is scored with AUROC, average precision, and F1-max.</a:t>
              </a:r>
            </a:p>
          </p:txBody>
        </p:sp>
        <p:sp>
          <p:nvSpPr>
            <p:cNvPr id="29" name="TextBox 29"/>
            <p:cNvSpPr txBox="1"/>
            <p:nvPr/>
          </p:nvSpPr>
          <p:spPr>
            <a:xfrm>
              <a:off x="888111" y="5789771"/>
              <a:ext cx="769091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Segmentation adds pixel-level AUROC, F1-max, AP, and per-region overlap (PRO).</a:t>
              </a:r>
            </a:p>
          </p:txBody>
        </p:sp>
      </p:grpSp>
      <p:sp>
        <p:nvSpPr>
          <p:cNvPr id="31" name="cue_s06_c1_musc_evaluated_two_most_used_industr" title="cue_s06_c1_musc_evaluated_two_most_used_industr" descr="cue_s06_c1_musc_evaluated_two_most_used_industr MuSc is evaluated on the two most-used industrial benchmarks."/>
          <p:cNvSpPr/>
          <p:nvPr/>
        </p:nvSpPr>
        <p:spPr>
          <a:xfrm>
            <a:off x="609600" y="1428521"/>
            <a:ext cx="10953292"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ue_s06_c2_mvtec_spans_fifteen_categories_ten" title="cue_s06_c2_mvtec_spans_fifteen_categories_ten" descr="cue_s06_c2_mvtec_spans_fifteen_categories_ten MVTec AD spans fifteen categories, ten objects and five textures."/>
          <p:cNvSpPr/>
          <p:nvPr/>
        </p:nvSpPr>
        <p:spPr>
          <a:xfrm>
            <a:off x="609600" y="2495626"/>
            <a:ext cx="5391302"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6_c3_visa_covers_twelve_object_categories" title="cue_s06_c3_visa_covers_twelve_object_categories" descr="cue_s06_c3_visa_covers_twelve_object_categories VisA covers twelve object categories across three domains. Both mix normal and defective images."/>
          <p:cNvSpPr/>
          <p:nvPr/>
        </p:nvSpPr>
        <p:spPr>
          <a:xfrm>
            <a:off x="6171590" y="2495626"/>
            <a:ext cx="5391302" cy="21904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6_c4_classification_auroc_f1_max_segmenta" title="cue_s06_c4_classification_auroc_f1_max_segmenta" descr="cue_s06_c4_classification_auroc_f1_max_segmenta Classification uses AUROC and F1-max; segmentation adds pixel-level metrics and per-region overlap."/>
          <p:cNvSpPr/>
          <p:nvPr/>
        </p:nvSpPr>
        <p:spPr>
          <a:xfrm>
            <a:off x="609600" y="4839004"/>
            <a:ext cx="10953292"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495300"/>
            <a:ext cx="5416765" cy="711517"/>
            <a:chOff x="609600" y="495300"/>
            <a:chExt cx="5416765" cy="711517"/>
          </a:xfrm>
        </p:grpSpPr>
        <p:sp>
          <p:nvSpPr>
            <p:cNvPr id="2" name="Rectangle 2"/>
            <p:cNvSpPr/>
            <p:nvPr/>
          </p:nvSpPr>
          <p:spPr>
            <a:xfrm>
              <a:off x="609600" y="495300"/>
              <a:ext cx="47625" cy="495300"/>
            </a:xfrm>
            <a:prstGeom prst="roundRect">
              <a:avLst>
                <a:gd name="adj" fmla="val 40000"/>
              </a:avLst>
            </a:prstGeom>
            <a:solidFill>
              <a:schemeClr val="accent2"/>
            </a:solidFill>
            <a:ln>
              <a:noFill/>
            </a:ln>
          </p:spPr>
        </p:sp>
        <p:sp>
          <p:nvSpPr>
            <p:cNvPr id="3" name="TextBox 3"/>
            <p:cNvSpPr txBox="1"/>
            <p:nvPr/>
          </p:nvSpPr>
          <p:spPr>
            <a:xfrm>
              <a:off x="813435" y="602456"/>
              <a:ext cx="1613906" cy="220028"/>
            </a:xfrm>
            <a:prstGeom prst="rect">
              <a:avLst/>
            </a:prstGeom>
            <a:noFill/>
            <a:ln>
              <a:noFill/>
            </a:ln>
          </p:spPr>
          <p:txBody>
            <a:bodyPr wrap="none" lIns="0" tIns="0" rIns="0" bIns="0" anchor="t" anchorCtr="0">
              <a:spAutoFit/>
            </a:bodyPr>
            <a:lstStyle/>
            <a:p>
              <a:pPr algn="l"/>
              <a:r>
                <a:rPr lang="en-US" sz="1120" spc="150" dirty="0">
                  <a:solidFill>
                    <a:schemeClr val="dk2"/>
                  </a:solidFill>
                  <a:latin typeface="+mn-lt"/>
                  <a:ea typeface="+mn-ea"/>
                  <a:cs typeface="+mn-cs"/>
                </a:rPr>
                <a:t>07 · KEY RESULTS</a:t>
              </a:r>
            </a:p>
          </p:txBody>
        </p:sp>
        <p:sp>
          <p:nvSpPr>
            <p:cNvPr id="4" name="TextBox 4"/>
            <p:cNvSpPr txBox="1"/>
            <p:nvPr/>
          </p:nvSpPr>
          <p:spPr>
            <a:xfrm>
              <a:off x="807720" y="766762"/>
              <a:ext cx="521864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n-lt"/>
                  <a:ea typeface="+mn-ea"/>
                  <a:cs typeface="+mn-cs"/>
                </a:rPr>
                <a:t>A new zero-shot state of the art</a:t>
              </a:r>
            </a:p>
          </p:txBody>
        </p:sp>
      </p:grpSp>
      <p:grpSp>
        <p:nvGrpSpPr>
          <p:cNvPr id="9" name="Group 9"/>
          <p:cNvGrpSpPr/>
          <p:nvPr/>
        </p:nvGrpSpPr>
        <p:grpSpPr>
          <a:xfrm>
            <a:off x="609600" y="1428750"/>
            <a:ext cx="10953750" cy="819150"/>
            <a:chOff x="609600" y="1428750"/>
            <a:chExt cx="10953750" cy="819150"/>
          </a:xfrm>
        </p:grpSpPr>
        <p:sp>
          <p:nvSpPr>
            <p:cNvPr id="6" name="Rectangle 6"/>
            <p:cNvSpPr/>
            <p:nvPr/>
          </p:nvSpPr>
          <p:spPr>
            <a:xfrm>
              <a:off x="609600" y="1428750"/>
              <a:ext cx="10953750" cy="819150"/>
            </a:xfrm>
            <a:prstGeom prst="roundRect">
              <a:avLst>
                <a:gd name="adj" fmla="val 16279"/>
              </a:avLst>
            </a:prstGeom>
            <a:solidFill>
              <a:schemeClr val="lt2"/>
            </a:solidFill>
            <a:ln w="9525">
              <a:solidFill>
                <a:schemeClr val="accent4"/>
              </a:solidFill>
            </a:ln>
          </p:spPr>
        </p:sp>
        <p:sp>
          <p:nvSpPr>
            <p:cNvPr id="7" name="Rectangle 7"/>
            <p:cNvSpPr/>
            <p:nvPr/>
          </p:nvSpPr>
          <p:spPr>
            <a:xfrm>
              <a:off x="609600" y="1428750"/>
              <a:ext cx="57150" cy="819150"/>
            </a:xfrm>
            <a:prstGeom prst="roundRect">
              <a:avLst>
                <a:gd name="adj" fmla="val 50000"/>
              </a:avLst>
            </a:prstGeom>
            <a:solidFill>
              <a:schemeClr val="accent2"/>
            </a:solidFill>
            <a:ln>
              <a:noFill/>
            </a:ln>
          </p:spPr>
        </p:sp>
        <p:sp>
          <p:nvSpPr>
            <p:cNvPr id="8" name="TextBox 8"/>
            <p:cNvSpPr txBox="1"/>
            <p:nvPr/>
          </p:nvSpPr>
          <p:spPr>
            <a:xfrm>
              <a:off x="886968" y="1755458"/>
              <a:ext cx="6263321"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Striking results for a method that uses no labels at all</a:t>
              </a:r>
            </a:p>
          </p:txBody>
        </p:sp>
      </p:grpSp>
      <p:grpSp>
        <p:nvGrpSpPr>
          <p:cNvPr id="19" name="Group 19"/>
          <p:cNvGrpSpPr/>
          <p:nvPr/>
        </p:nvGrpSpPr>
        <p:grpSpPr>
          <a:xfrm>
            <a:off x="609600" y="2438400"/>
            <a:ext cx="3524250" cy="3829050"/>
            <a:chOff x="609600" y="2438400"/>
            <a:chExt cx="3524250" cy="3829050"/>
          </a:xfrm>
        </p:grpSpPr>
        <p:sp>
          <p:nvSpPr>
            <p:cNvPr id="10" name="Rectangle 10"/>
            <p:cNvSpPr/>
            <p:nvPr/>
          </p:nvSpPr>
          <p:spPr>
            <a:xfrm>
              <a:off x="609600" y="2438400"/>
              <a:ext cx="3524250" cy="3829050"/>
            </a:xfrm>
            <a:prstGeom prst="roundRect">
              <a:avLst>
                <a:gd name="adj" fmla="val 3784"/>
              </a:avLst>
            </a:prstGeom>
            <a:solidFill>
              <a:schemeClr val="lt2"/>
            </a:solidFill>
            <a:ln w="9525">
              <a:solidFill>
                <a:schemeClr val="accent4"/>
              </a:solidFill>
            </a:ln>
          </p:spPr>
        </p:sp>
        <p:sp>
          <p:nvSpPr>
            <p:cNvPr id="11" name="TextBox 11"/>
            <p:cNvSpPr txBox="1"/>
            <p:nvPr/>
          </p:nvSpPr>
          <p:spPr>
            <a:xfrm>
              <a:off x="867918" y="2679382"/>
              <a:ext cx="1072330"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MVTec AD</a:t>
              </a:r>
            </a:p>
          </p:txBody>
        </p:sp>
        <p:sp>
          <p:nvSpPr>
            <p:cNvPr id="12" name="TextBox 12"/>
            <p:cNvSpPr txBox="1"/>
            <p:nvPr/>
          </p:nvSpPr>
          <p:spPr>
            <a:xfrm>
              <a:off x="857250" y="3147060"/>
              <a:ext cx="1789439" cy="819150"/>
            </a:xfrm>
            <a:prstGeom prst="rect">
              <a:avLst/>
            </a:prstGeom>
            <a:noFill/>
            <a:ln>
              <a:noFill/>
            </a:ln>
          </p:spPr>
          <p:txBody>
            <a:bodyPr wrap="none" lIns="0" tIns="0" rIns="0" bIns="0" anchor="t" anchorCtr="0">
              <a:spAutoFit/>
            </a:bodyPr>
            <a:lstStyle/>
            <a:p>
              <a:pPr algn="l"/>
              <a:r>
                <a:rPr lang="en-US" sz="4200" b="1" dirty="0">
                  <a:solidFill>
                    <a:schemeClr val="accent2"/>
                  </a:solidFill>
                  <a:latin typeface="+mn-lt"/>
                  <a:ea typeface="+mn-ea"/>
                  <a:cs typeface="+mn-cs"/>
                </a:rPr>
                <a:t>97.8%</a:t>
              </a:r>
            </a:p>
          </p:txBody>
        </p:sp>
        <p:sp>
          <p:nvSpPr>
            <p:cNvPr id="13" name="TextBox 13"/>
            <p:cNvSpPr txBox="1"/>
            <p:nvPr/>
          </p:nvSpPr>
          <p:spPr>
            <a:xfrm>
              <a:off x="869061" y="3751421"/>
              <a:ext cx="171869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image-level AUROC</a:t>
              </a:r>
            </a:p>
          </p:txBody>
        </p:sp>
        <p:sp>
          <p:nvSpPr>
            <p:cNvPr id="14" name="Line 14"/>
            <p:cNvSpPr/>
            <p:nvPr/>
          </p:nvSpPr>
          <p:spPr>
            <a:xfrm>
              <a:off x="876300" y="4248150"/>
              <a:ext cx="2990850" cy="9525"/>
            </a:xfrm>
            <a:custGeom>
              <a:avLst/>
              <a:gdLst/>
              <a:ahLst/>
              <a:cxnLst/>
              <a:rect l="l" t="t" r="r" b="b"/>
              <a:pathLst>
                <a:path w="2990850" h="9525">
                  <a:moveTo>
                    <a:pt x="0" y="0"/>
                  </a:moveTo>
                  <a:lnTo>
                    <a:pt x="2990850" y="0"/>
                  </a:lnTo>
                </a:path>
              </a:pathLst>
            </a:custGeom>
            <a:noFill/>
            <a:ln w="14288">
              <a:solidFill>
                <a:schemeClr val="accent4"/>
              </a:solidFill>
            </a:ln>
          </p:spPr>
        </p:sp>
        <p:sp>
          <p:nvSpPr>
            <p:cNvPr id="15" name="TextBox 15"/>
            <p:cNvSpPr txBox="1"/>
            <p:nvPr/>
          </p:nvSpPr>
          <p:spPr>
            <a:xfrm>
              <a:off x="861060" y="4552950"/>
              <a:ext cx="1557071" cy="586740"/>
            </a:xfrm>
            <a:prstGeom prst="rect">
              <a:avLst/>
            </a:prstGeom>
            <a:noFill/>
            <a:ln>
              <a:noFill/>
            </a:ln>
          </p:spPr>
          <p:txBody>
            <a:bodyPr wrap="none" lIns="0" tIns="0" rIns="0" bIns="0" anchor="t" anchorCtr="0">
              <a:spAutoFit/>
            </a:bodyPr>
            <a:lstStyle/>
            <a:p>
              <a:pPr algn="l"/>
              <a:r>
                <a:rPr lang="en-US" sz="3000" b="1" dirty="0">
                  <a:solidFill>
                    <a:srgbClr val="FFB454"/>
                  </a:solidFill>
                  <a:latin typeface="+mn-lt"/>
                  <a:ea typeface="+mn-ea"/>
                  <a:cs typeface="+mn-cs"/>
                </a:rPr>
                <a:t>+21 pts</a:t>
              </a:r>
            </a:p>
          </p:txBody>
        </p:sp>
        <p:sp>
          <p:nvSpPr>
            <p:cNvPr id="16" name="TextBox 16"/>
            <p:cNvSpPr txBox="1"/>
            <p:nvPr/>
          </p:nvSpPr>
          <p:spPr>
            <a:xfrm>
              <a:off x="869061" y="5065871"/>
              <a:ext cx="213635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per-region overlap for</a:t>
              </a:r>
            </a:p>
          </p:txBody>
        </p:sp>
        <p:sp>
          <p:nvSpPr>
            <p:cNvPr id="17" name="TextBox 17"/>
            <p:cNvSpPr txBox="1"/>
            <p:nvPr/>
          </p:nvSpPr>
          <p:spPr>
            <a:xfrm>
              <a:off x="869061" y="5313521"/>
              <a:ext cx="222238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segmentation, over the</a:t>
              </a:r>
            </a:p>
          </p:txBody>
        </p:sp>
        <p:sp>
          <p:nvSpPr>
            <p:cNvPr id="18" name="TextBox 18"/>
            <p:cNvSpPr txBox="1"/>
            <p:nvPr/>
          </p:nvSpPr>
          <p:spPr>
            <a:xfrm>
              <a:off x="869061" y="5561171"/>
              <a:ext cx="280542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best prior zero-shot method.</a:t>
              </a:r>
            </a:p>
          </p:txBody>
        </p:sp>
      </p:grpSp>
      <p:grpSp>
        <p:nvGrpSpPr>
          <p:cNvPr id="30" name="Group 30"/>
          <p:cNvGrpSpPr/>
          <p:nvPr/>
        </p:nvGrpSpPr>
        <p:grpSpPr>
          <a:xfrm>
            <a:off x="4324350" y="2438400"/>
            <a:ext cx="3524250" cy="3829050"/>
            <a:chOff x="4324350" y="2438400"/>
            <a:chExt cx="3524250" cy="3829050"/>
          </a:xfrm>
        </p:grpSpPr>
        <p:sp>
          <p:nvSpPr>
            <p:cNvPr id="20" name="Rectangle 20"/>
            <p:cNvSpPr/>
            <p:nvPr/>
          </p:nvSpPr>
          <p:spPr>
            <a:xfrm>
              <a:off x="4324350" y="2438400"/>
              <a:ext cx="3524250" cy="3829050"/>
            </a:xfrm>
            <a:prstGeom prst="roundRect">
              <a:avLst>
                <a:gd name="adj" fmla="val 3784"/>
              </a:avLst>
            </a:prstGeom>
            <a:solidFill>
              <a:schemeClr val="lt2"/>
            </a:solidFill>
            <a:ln w="9525">
              <a:solidFill>
                <a:schemeClr val="accent4"/>
              </a:solidFill>
            </a:ln>
          </p:spPr>
        </p:sp>
        <p:sp>
          <p:nvSpPr>
            <p:cNvPr id="21" name="TextBox 21"/>
            <p:cNvSpPr txBox="1"/>
            <p:nvPr/>
          </p:nvSpPr>
          <p:spPr>
            <a:xfrm>
              <a:off x="4582668" y="2679382"/>
              <a:ext cx="484432"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VisA</a:t>
              </a:r>
            </a:p>
          </p:txBody>
        </p:sp>
        <p:sp>
          <p:nvSpPr>
            <p:cNvPr id="22" name="TextBox 22"/>
            <p:cNvSpPr txBox="1"/>
            <p:nvPr/>
          </p:nvSpPr>
          <p:spPr>
            <a:xfrm>
              <a:off x="4572000" y="3147060"/>
              <a:ext cx="2175327" cy="819150"/>
            </a:xfrm>
            <a:prstGeom prst="rect">
              <a:avLst/>
            </a:prstGeom>
            <a:noFill/>
            <a:ln>
              <a:noFill/>
            </a:ln>
          </p:spPr>
          <p:txBody>
            <a:bodyPr wrap="none" lIns="0" tIns="0" rIns="0" bIns="0" anchor="t" anchorCtr="0">
              <a:spAutoFit/>
            </a:bodyPr>
            <a:lstStyle/>
            <a:p>
              <a:pPr algn="l"/>
              <a:r>
                <a:rPr lang="en-US" sz="4200" b="1" dirty="0">
                  <a:solidFill>
                    <a:schemeClr val="accent2"/>
                  </a:solidFill>
                  <a:latin typeface="+mn-lt"/>
                  <a:ea typeface="+mn-ea"/>
                  <a:cs typeface="+mn-cs"/>
                </a:rPr>
                <a:t>+10 pts</a:t>
              </a:r>
            </a:p>
          </p:txBody>
        </p:sp>
        <p:sp>
          <p:nvSpPr>
            <p:cNvPr id="23" name="TextBox 23"/>
            <p:cNvSpPr txBox="1"/>
            <p:nvPr/>
          </p:nvSpPr>
          <p:spPr>
            <a:xfrm>
              <a:off x="4583811" y="3751421"/>
              <a:ext cx="2289287"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over the best zero-shot</a:t>
              </a:r>
            </a:p>
          </p:txBody>
        </p:sp>
        <p:sp>
          <p:nvSpPr>
            <p:cNvPr id="24" name="Line 24"/>
            <p:cNvSpPr/>
            <p:nvPr/>
          </p:nvSpPr>
          <p:spPr>
            <a:xfrm>
              <a:off x="4591050" y="4248150"/>
              <a:ext cx="2990850" cy="9525"/>
            </a:xfrm>
            <a:custGeom>
              <a:avLst/>
              <a:gdLst/>
              <a:ahLst/>
              <a:cxnLst/>
              <a:rect l="l" t="t" r="r" b="b"/>
              <a:pathLst>
                <a:path w="2990850" h="9525">
                  <a:moveTo>
                    <a:pt x="0" y="0"/>
                  </a:moveTo>
                  <a:lnTo>
                    <a:pt x="2990850" y="0"/>
                  </a:lnTo>
                </a:path>
              </a:pathLst>
            </a:custGeom>
            <a:noFill/>
            <a:ln w="14288">
              <a:solidFill>
                <a:schemeClr val="accent4"/>
              </a:solidFill>
            </a:ln>
          </p:spPr>
        </p:sp>
        <p:sp>
          <p:nvSpPr>
            <p:cNvPr id="25" name="TextBox 25"/>
            <p:cNvSpPr txBox="1"/>
            <p:nvPr/>
          </p:nvSpPr>
          <p:spPr>
            <a:xfrm>
              <a:off x="4583811" y="4608671"/>
              <a:ext cx="130129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Gained in both</a:t>
              </a:r>
            </a:p>
          </p:txBody>
        </p:sp>
        <p:sp>
          <p:nvSpPr>
            <p:cNvPr id="26" name="TextBox 26"/>
            <p:cNvSpPr txBox="1"/>
            <p:nvPr/>
          </p:nvSpPr>
          <p:spPr>
            <a:xfrm>
              <a:off x="4583811" y="4856321"/>
              <a:ext cx="166801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classification and</a:t>
              </a:r>
            </a:p>
          </p:txBody>
        </p:sp>
        <p:sp>
          <p:nvSpPr>
            <p:cNvPr id="27" name="TextBox 27"/>
            <p:cNvSpPr txBox="1"/>
            <p:nvPr/>
          </p:nvSpPr>
          <p:spPr>
            <a:xfrm>
              <a:off x="4583811" y="5103971"/>
              <a:ext cx="212680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segmentation — a large</a:t>
              </a:r>
            </a:p>
          </p:txBody>
        </p:sp>
        <p:sp>
          <p:nvSpPr>
            <p:cNvPr id="28" name="TextBox 28"/>
            <p:cNvSpPr txBox="1"/>
            <p:nvPr/>
          </p:nvSpPr>
          <p:spPr>
            <a:xfrm>
              <a:off x="4583811" y="5351621"/>
              <a:ext cx="154376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jump on a harder</a:t>
              </a:r>
            </a:p>
          </p:txBody>
        </p:sp>
        <p:sp>
          <p:nvSpPr>
            <p:cNvPr id="29" name="TextBox 29"/>
            <p:cNvSpPr txBox="1"/>
            <p:nvPr/>
          </p:nvSpPr>
          <p:spPr>
            <a:xfrm>
              <a:off x="4583811" y="5599271"/>
              <a:ext cx="110409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benchmark.</a:t>
              </a:r>
            </a:p>
          </p:txBody>
        </p:sp>
      </p:grpSp>
      <p:grpSp>
        <p:nvGrpSpPr>
          <p:cNvPr id="41" name="Group 41"/>
          <p:cNvGrpSpPr/>
          <p:nvPr/>
        </p:nvGrpSpPr>
        <p:grpSpPr>
          <a:xfrm>
            <a:off x="8039100" y="2438400"/>
            <a:ext cx="3524250" cy="3829050"/>
            <a:chOff x="8039100" y="2438400"/>
            <a:chExt cx="3524250" cy="3829050"/>
          </a:xfrm>
        </p:grpSpPr>
        <p:sp>
          <p:nvSpPr>
            <p:cNvPr id="31" name="Rectangle 31"/>
            <p:cNvSpPr/>
            <p:nvPr/>
          </p:nvSpPr>
          <p:spPr>
            <a:xfrm>
              <a:off x="8039100" y="2438400"/>
              <a:ext cx="3524250" cy="3829050"/>
            </a:xfrm>
            <a:prstGeom prst="roundRect">
              <a:avLst>
                <a:gd name="adj" fmla="val 3784"/>
              </a:avLst>
            </a:prstGeom>
            <a:solidFill>
              <a:schemeClr val="lt2"/>
            </a:solidFill>
            <a:ln w="9525">
              <a:solidFill>
                <a:schemeClr val="accent4"/>
              </a:solidFill>
            </a:ln>
          </p:spPr>
        </p:sp>
        <p:sp>
          <p:nvSpPr>
            <p:cNvPr id="32" name="TextBox 32"/>
            <p:cNvSpPr txBox="1"/>
            <p:nvPr/>
          </p:nvSpPr>
          <p:spPr>
            <a:xfrm>
              <a:off x="8297418" y="2679382"/>
              <a:ext cx="1681212" cy="322707"/>
            </a:xfrm>
            <a:prstGeom prst="rect">
              <a:avLst/>
            </a:prstGeom>
            <a:noFill/>
            <a:ln>
              <a:noFill/>
            </a:ln>
          </p:spPr>
          <p:txBody>
            <a:bodyPr wrap="none" lIns="0" tIns="0" rIns="0" bIns="0" anchor="t" anchorCtr="0">
              <a:spAutoFit/>
            </a:bodyPr>
            <a:lstStyle/>
            <a:p>
              <a:pPr algn="l"/>
              <a:r>
                <a:rPr lang="en-US" sz="1650" b="1" dirty="0">
                  <a:solidFill>
                    <a:srgbClr val="FFB454"/>
                  </a:solidFill>
                  <a:latin typeface="+mn-lt"/>
                  <a:ea typeface="+mn-ea"/>
                  <a:cs typeface="+mn-cs"/>
                </a:rPr>
                <a:t>Few-shot free</a:t>
              </a:r>
            </a:p>
          </p:txBody>
        </p:sp>
        <p:sp>
          <p:nvSpPr>
            <p:cNvPr id="33" name="TextBox 33"/>
            <p:cNvSpPr txBox="1"/>
            <p:nvPr/>
          </p:nvSpPr>
          <p:spPr>
            <a:xfrm>
              <a:off x="8298561" y="3275171"/>
              <a:ext cx="269731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With zero reference images,</a:t>
              </a:r>
            </a:p>
          </p:txBody>
        </p:sp>
        <p:sp>
          <p:nvSpPr>
            <p:cNvPr id="34" name="TextBox 34"/>
            <p:cNvSpPr txBox="1"/>
            <p:nvPr/>
          </p:nvSpPr>
          <p:spPr>
            <a:xfrm>
              <a:off x="8298561" y="3522821"/>
              <a:ext cx="103069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MuSc still:</a:t>
              </a:r>
            </a:p>
          </p:txBody>
        </p:sp>
        <p:sp>
          <p:nvSpPr>
            <p:cNvPr id="35" name="TextBox 35"/>
            <p:cNvSpPr txBox="1"/>
            <p:nvPr/>
          </p:nvSpPr>
          <p:spPr>
            <a:xfrm>
              <a:off x="8298180" y="4029075"/>
              <a:ext cx="3026416" cy="293370"/>
            </a:xfrm>
            <a:prstGeom prst="rect">
              <a:avLst/>
            </a:prstGeom>
            <a:noFill/>
            <a:ln>
              <a:noFill/>
            </a:ln>
          </p:spPr>
          <p:txBody>
            <a:bodyPr wrap="none" lIns="0" tIns="0" rIns="0" bIns="0" anchor="t" anchorCtr="0">
              <a:spAutoFit/>
            </a:bodyPr>
            <a:lstStyle/>
            <a:p>
              <a:pPr algn="l" marL="170021" indent="-170021">
                <a:buClr>
                  <a:srgbClr val="FFFFFF"/>
                </a:buClr>
                <a:buSzTx/>
                <a:buFontTx/>
                <a:buChar char="•"/>
              </a:pPr>
              <a:r>
                <a:rPr lang="en-US" sz="1500" b="1" dirty="0">
                  <a:solidFill>
                    <a:srgbClr val="FFFFFF"/>
                  </a:solidFill>
                  <a:latin typeface="+mn-lt"/>
                  <a:ea typeface="+mn-ea"/>
                  <a:cs typeface="+mn-cs"/>
                </a:rPr>
                <a:t>beats most 4-shot methods</a:t>
              </a:r>
            </a:p>
          </p:txBody>
        </p:sp>
        <p:sp>
          <p:nvSpPr>
            <p:cNvPr id="36" name="TextBox 36"/>
            <p:cNvSpPr txBox="1"/>
            <p:nvPr/>
          </p:nvSpPr>
          <p:spPr>
            <a:xfrm>
              <a:off x="8298180" y="4467225"/>
              <a:ext cx="2570559" cy="293370"/>
            </a:xfrm>
            <a:prstGeom prst="rect">
              <a:avLst/>
            </a:prstGeom>
            <a:noFill/>
            <a:ln>
              <a:noFill/>
            </a:ln>
          </p:spPr>
          <p:txBody>
            <a:bodyPr wrap="none" lIns="0" tIns="0" rIns="0" bIns="0" anchor="t" anchorCtr="0">
              <a:spAutoFit/>
            </a:bodyPr>
            <a:lstStyle/>
            <a:p>
              <a:pPr algn="l" marL="170021" indent="-170021">
                <a:buClr>
                  <a:srgbClr val="FFFFFF"/>
                </a:buClr>
                <a:buSzTx/>
                <a:buFontTx/>
                <a:buChar char="•"/>
              </a:pPr>
              <a:r>
                <a:rPr lang="en-US" sz="1500" b="1" dirty="0">
                  <a:solidFill>
                    <a:srgbClr val="FFFFFF"/>
                  </a:solidFill>
                  <a:latin typeface="+mn-lt"/>
                  <a:ea typeface="+mn-ea"/>
                  <a:cs typeface="+mn-cs"/>
                </a:rPr>
                <a:t>outperforms a 32-shot</a:t>
              </a:r>
            </a:p>
          </p:txBody>
        </p:sp>
        <p:sp>
          <p:nvSpPr>
            <p:cNvPr id="37" name="TextBox 37"/>
            <p:cNvSpPr txBox="1"/>
            <p:nvPr/>
          </p:nvSpPr>
          <p:spPr>
            <a:xfrm>
              <a:off x="8564880" y="4714875"/>
              <a:ext cx="842143"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baseline</a:t>
              </a:r>
            </a:p>
          </p:txBody>
        </p:sp>
        <p:sp>
          <p:nvSpPr>
            <p:cNvPr id="38" name="TextBox 38"/>
            <p:cNvSpPr txBox="1"/>
            <p:nvPr/>
          </p:nvSpPr>
          <p:spPr>
            <a:xfrm>
              <a:off x="8298180" y="5153025"/>
              <a:ext cx="2708377" cy="293370"/>
            </a:xfrm>
            <a:prstGeom prst="rect">
              <a:avLst/>
            </a:prstGeom>
            <a:noFill/>
            <a:ln>
              <a:noFill/>
            </a:ln>
          </p:spPr>
          <p:txBody>
            <a:bodyPr wrap="none" lIns="0" tIns="0" rIns="0" bIns="0" anchor="t" anchorCtr="0">
              <a:spAutoFit/>
            </a:bodyPr>
            <a:lstStyle/>
            <a:p>
              <a:pPr algn="l" marL="170021" indent="-170021">
                <a:buClr>
                  <a:srgbClr val="FFFFFF"/>
                </a:buClr>
                <a:buSzTx/>
                <a:buFontTx/>
                <a:buChar char="•"/>
              </a:pPr>
              <a:r>
                <a:rPr lang="en-US" sz="1500" b="1" dirty="0">
                  <a:solidFill>
                    <a:srgbClr val="FFFFFF"/>
                  </a:solidFill>
                  <a:latin typeface="+mn-lt"/>
                  <a:ea typeface="+mn-ea"/>
                  <a:cs typeface="+mn-cs"/>
                </a:rPr>
                <a:t>rivals full-shot methods</a:t>
              </a:r>
            </a:p>
          </p:txBody>
        </p:sp>
        <p:sp>
          <p:nvSpPr>
            <p:cNvPr id="39" name="TextBox 39"/>
            <p:cNvSpPr txBox="1"/>
            <p:nvPr/>
          </p:nvSpPr>
          <p:spPr>
            <a:xfrm>
              <a:off x="8565261" y="5408771"/>
              <a:ext cx="249956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that use the entire normal</a:t>
              </a:r>
            </a:p>
          </p:txBody>
        </p:sp>
        <p:sp>
          <p:nvSpPr>
            <p:cNvPr id="40" name="TextBox 40"/>
            <p:cNvSpPr txBox="1"/>
            <p:nvPr/>
          </p:nvSpPr>
          <p:spPr>
            <a:xfrm>
              <a:off x="8565261" y="5656421"/>
              <a:ext cx="123790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training set.</a:t>
              </a:r>
            </a:p>
          </p:txBody>
        </p:sp>
      </p:grpSp>
      <p:sp>
        <p:nvSpPr>
          <p:cNvPr id="42" name="cue_s07_c1_results_striking_label_free_method" title="cue_s07_c1_results_striking_label_free_method" descr="cue_s07_c1_results_striking_label_free_method Results are striking for a label-free method."/>
          <p:cNvSpPr/>
          <p:nvPr/>
        </p:nvSpPr>
        <p:spPr>
          <a:xfrm>
            <a:off x="609600" y="1428521"/>
            <a:ext cx="10953292" cy="8188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7_c2_mvtec_musc_reaches_ninety_seven_poin" title="cue_s07_c2_mvtec_musc_reaches_ninety_seven_poin" descr="cue_s07_c2_mvtec_musc_reaches_ninety_seven_poin On MVTec AD, MuSc reaches ninety-seven point eight percent image AUROC and lifts per-region overlap segmentation by over twenty-one points versus the best prior zero-shot method."/>
          <p:cNvSpPr/>
          <p:nvPr/>
        </p:nvSpPr>
        <p:spPr>
          <a:xfrm>
            <a:off x="609600" y="2438704"/>
            <a:ext cx="3524707" cy="38288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7_c3_visa_gains_over_ten_points" title="cue_s07_c3_visa_gains_over_ten_points" descr="cue_s07_c3_visa_gains_over_ten_points On VisA it gains over ten points."/>
          <p:cNvSpPr/>
          <p:nvPr/>
        </p:nvSpPr>
        <p:spPr>
          <a:xfrm>
            <a:off x="4324502" y="2438704"/>
            <a:ext cx="3524707" cy="38288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7_c4_even_beats_most_four_shot_methods" title="cue_s07_c4_even_beats_most_four_shot_methods" descr="cue_s07_c4_even_beats_most_four_shot_methods It even beats most four-shot methods and rivals full-shot approaches."/>
          <p:cNvSpPr/>
          <p:nvPr/>
        </p:nvSpPr>
        <p:spPr>
          <a:xfrm>
            <a:off x="8039404" y="2438704"/>
            <a:ext cx="3524707" cy="38288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495300"/>
            <a:ext cx="5637857" cy="711517"/>
            <a:chOff x="609600" y="495300"/>
            <a:chExt cx="5637857" cy="711517"/>
          </a:xfrm>
        </p:grpSpPr>
        <p:sp>
          <p:nvSpPr>
            <p:cNvPr id="2" name="Rectangle 2"/>
            <p:cNvSpPr/>
            <p:nvPr/>
          </p:nvSpPr>
          <p:spPr>
            <a:xfrm>
              <a:off x="609600" y="495300"/>
              <a:ext cx="47625" cy="495300"/>
            </a:xfrm>
            <a:prstGeom prst="roundRect">
              <a:avLst>
                <a:gd name="adj" fmla="val 40000"/>
              </a:avLst>
            </a:prstGeom>
            <a:solidFill>
              <a:schemeClr val="accent1"/>
            </a:solidFill>
            <a:ln>
              <a:noFill/>
            </a:ln>
          </p:spPr>
        </p:sp>
        <p:sp>
          <p:nvSpPr>
            <p:cNvPr id="3" name="TextBox 3"/>
            <p:cNvSpPr txBox="1"/>
            <p:nvPr/>
          </p:nvSpPr>
          <p:spPr>
            <a:xfrm>
              <a:off x="813435" y="602456"/>
              <a:ext cx="1427856" cy="220028"/>
            </a:xfrm>
            <a:prstGeom prst="rect">
              <a:avLst/>
            </a:prstGeom>
            <a:noFill/>
            <a:ln>
              <a:noFill/>
            </a:ln>
          </p:spPr>
          <p:txBody>
            <a:bodyPr wrap="none" lIns="0" tIns="0" rIns="0" bIns="0" anchor="t" anchorCtr="0">
              <a:spAutoFit/>
            </a:bodyPr>
            <a:lstStyle/>
            <a:p>
              <a:pPr algn="l"/>
              <a:r>
                <a:rPr lang="en-US" sz="1120" spc="150" dirty="0">
                  <a:solidFill>
                    <a:schemeClr val="dk2"/>
                  </a:solidFill>
                  <a:latin typeface="+mn-lt"/>
                  <a:ea typeface="+mn-ea"/>
                  <a:cs typeface="+mn-cs"/>
                </a:rPr>
                <a:t>08 · ABLATIONS</a:t>
              </a:r>
            </a:p>
          </p:txBody>
        </p:sp>
        <p:sp>
          <p:nvSpPr>
            <p:cNvPr id="4" name="TextBox 4"/>
            <p:cNvSpPr txBox="1"/>
            <p:nvPr/>
          </p:nvSpPr>
          <p:spPr>
            <a:xfrm>
              <a:off x="807720" y="766762"/>
              <a:ext cx="5439737"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n-lt"/>
                  <a:ea typeface="+mn-ea"/>
                  <a:cs typeface="+mn-cs"/>
                </a:rPr>
                <a:t>Every design choice earns its place</a:t>
              </a:r>
            </a:p>
          </p:txBody>
        </p:sp>
      </p:grpSp>
      <p:grpSp>
        <p:nvGrpSpPr>
          <p:cNvPr id="9" name="Group 9"/>
          <p:cNvGrpSpPr/>
          <p:nvPr/>
        </p:nvGrpSpPr>
        <p:grpSpPr>
          <a:xfrm>
            <a:off x="609600" y="1428750"/>
            <a:ext cx="10953750" cy="819150"/>
            <a:chOff x="609600" y="1428750"/>
            <a:chExt cx="10953750" cy="819150"/>
          </a:xfrm>
        </p:grpSpPr>
        <p:sp>
          <p:nvSpPr>
            <p:cNvPr id="6" name="Rectangle 6"/>
            <p:cNvSpPr/>
            <p:nvPr/>
          </p:nvSpPr>
          <p:spPr>
            <a:xfrm>
              <a:off x="609600" y="1428750"/>
              <a:ext cx="10953750" cy="819150"/>
            </a:xfrm>
            <a:prstGeom prst="roundRect">
              <a:avLst>
                <a:gd name="adj" fmla="val 16279"/>
              </a:avLst>
            </a:prstGeom>
            <a:solidFill>
              <a:schemeClr val="lt2"/>
            </a:solidFill>
            <a:ln w="9525">
              <a:solidFill>
                <a:schemeClr val="accent4"/>
              </a:solidFill>
            </a:ln>
          </p:spPr>
        </p:sp>
        <p:sp>
          <p:nvSpPr>
            <p:cNvPr id="7" name="Rectangle 7"/>
            <p:cNvSpPr/>
            <p:nvPr/>
          </p:nvSpPr>
          <p:spPr>
            <a:xfrm>
              <a:off x="609600" y="1428750"/>
              <a:ext cx="57150" cy="819150"/>
            </a:xfrm>
            <a:prstGeom prst="roundRect">
              <a:avLst>
                <a:gd name="adj" fmla="val 50000"/>
              </a:avLst>
            </a:prstGeom>
            <a:solidFill>
              <a:schemeClr val="accent1"/>
            </a:solidFill>
            <a:ln>
              <a:noFill/>
            </a:ln>
          </p:spPr>
        </p:sp>
        <p:sp>
          <p:nvSpPr>
            <p:cNvPr id="8" name="TextBox 8"/>
            <p:cNvSpPr txBox="1"/>
            <p:nvPr/>
          </p:nvSpPr>
          <p:spPr>
            <a:xfrm>
              <a:off x="886968" y="1755458"/>
              <a:ext cx="5201966"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Ablations confirm each design choice pays off</a:t>
              </a:r>
            </a:p>
          </p:txBody>
        </p:sp>
      </p:grpSp>
      <p:grpSp>
        <p:nvGrpSpPr>
          <p:cNvPr id="20" name="Group 20"/>
          <p:cNvGrpSpPr/>
          <p:nvPr/>
        </p:nvGrpSpPr>
        <p:grpSpPr>
          <a:xfrm>
            <a:off x="609600" y="2438400"/>
            <a:ext cx="3524250" cy="3829050"/>
            <a:chOff x="609600" y="2438400"/>
            <a:chExt cx="3524250" cy="3829050"/>
          </a:xfrm>
        </p:grpSpPr>
        <p:sp>
          <p:nvSpPr>
            <p:cNvPr id="10" name="Rectangle 10"/>
            <p:cNvSpPr/>
            <p:nvPr/>
          </p:nvSpPr>
          <p:spPr>
            <a:xfrm>
              <a:off x="609600" y="2438400"/>
              <a:ext cx="3524250" cy="3829050"/>
            </a:xfrm>
            <a:prstGeom prst="roundRect">
              <a:avLst>
                <a:gd name="adj" fmla="val 3784"/>
              </a:avLst>
            </a:prstGeom>
            <a:solidFill>
              <a:schemeClr val="lt2"/>
            </a:solidFill>
            <a:ln w="9525">
              <a:solidFill>
                <a:schemeClr val="accent4"/>
              </a:solidFill>
            </a:ln>
          </p:spPr>
        </p:sp>
        <p:sp>
          <p:nvSpPr>
            <p:cNvPr id="11" name="Rectangle 11"/>
            <p:cNvSpPr/>
            <p:nvPr/>
          </p:nvSpPr>
          <p:spPr>
            <a:xfrm>
              <a:off x="609600" y="2438400"/>
              <a:ext cx="3524250" cy="533400"/>
            </a:xfrm>
            <a:prstGeom prst="roundRect">
              <a:avLst>
                <a:gd name="adj" fmla="val 25000"/>
              </a:avLst>
            </a:prstGeom>
            <a:solidFill>
              <a:schemeClr val="accent6"/>
            </a:solidFill>
            <a:ln>
              <a:noFill/>
            </a:ln>
          </p:spPr>
        </p:sp>
        <p:sp>
          <p:nvSpPr>
            <p:cNvPr id="12" name="TextBox 12"/>
            <p:cNvSpPr txBox="1"/>
            <p:nvPr/>
          </p:nvSpPr>
          <p:spPr>
            <a:xfrm>
              <a:off x="868299" y="2611279"/>
              <a:ext cx="1564280"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n-lt"/>
                  <a:ea typeface="+mn-ea"/>
                  <a:cs typeface="+mn-cs"/>
                </a:rPr>
                <a:t>Three degrees</a:t>
              </a:r>
            </a:p>
          </p:txBody>
        </p:sp>
        <p:sp>
          <p:nvSpPr>
            <p:cNvPr id="13" name="TextBox 13"/>
            <p:cNvSpPr txBox="1"/>
            <p:nvPr/>
          </p:nvSpPr>
          <p:spPr>
            <a:xfrm>
              <a:off x="869061" y="3275171"/>
              <a:ext cx="265846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Combining three aggregation</a:t>
              </a:r>
            </a:p>
          </p:txBody>
        </p:sp>
        <p:sp>
          <p:nvSpPr>
            <p:cNvPr id="14" name="TextBox 14"/>
            <p:cNvSpPr txBox="1"/>
            <p:nvPr/>
          </p:nvSpPr>
          <p:spPr>
            <a:xfrm>
              <a:off x="869061" y="3522821"/>
              <a:ext cx="195475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degrees works best.</a:t>
              </a:r>
            </a:p>
          </p:txBody>
        </p:sp>
        <p:sp>
          <p:nvSpPr>
            <p:cNvPr id="15" name="TextBox 15"/>
            <p:cNvSpPr txBox="1"/>
            <p:nvPr/>
          </p:nvSpPr>
          <p:spPr>
            <a:xfrm>
              <a:off x="869061" y="4037171"/>
              <a:ext cx="244819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Small neighborhoods catch</a:t>
              </a:r>
            </a:p>
          </p:txBody>
        </p:sp>
        <p:sp>
          <p:nvSpPr>
            <p:cNvPr id="16" name="TextBox 16"/>
            <p:cNvSpPr txBox="1"/>
            <p:nvPr/>
          </p:nvSpPr>
          <p:spPr>
            <a:xfrm>
              <a:off x="869061" y="4284821"/>
              <a:ext cx="274176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tiny VisA defects; large ones</a:t>
              </a:r>
            </a:p>
          </p:txBody>
        </p:sp>
        <p:sp>
          <p:nvSpPr>
            <p:cNvPr id="17" name="TextBox 17"/>
            <p:cNvSpPr txBox="1"/>
            <p:nvPr/>
          </p:nvSpPr>
          <p:spPr>
            <a:xfrm>
              <a:off x="869061" y="4532471"/>
              <a:ext cx="240499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catch big MVTec defects.</a:t>
              </a:r>
            </a:p>
          </p:txBody>
        </p:sp>
        <p:sp>
          <p:nvSpPr>
            <p:cNvPr id="18" name="TextBox 18"/>
            <p:cNvSpPr txBox="1"/>
            <p:nvPr/>
          </p:nvSpPr>
          <p:spPr>
            <a:xfrm>
              <a:off x="869061" y="5046821"/>
              <a:ext cx="2199874"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One scale never fits all</a:t>
              </a:r>
            </a:p>
          </p:txBody>
        </p:sp>
        <p:sp>
          <p:nvSpPr>
            <p:cNvPr id="19" name="TextBox 19"/>
            <p:cNvSpPr txBox="1"/>
            <p:nvPr/>
          </p:nvSpPr>
          <p:spPr>
            <a:xfrm>
              <a:off x="869061" y="5294471"/>
              <a:ext cx="1285695"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defect sizes.</a:t>
              </a:r>
            </a:p>
          </p:txBody>
        </p:sp>
      </p:grpSp>
      <p:grpSp>
        <p:nvGrpSpPr>
          <p:cNvPr id="35" name="Group 35"/>
          <p:cNvGrpSpPr/>
          <p:nvPr/>
        </p:nvGrpSpPr>
        <p:grpSpPr>
          <a:xfrm>
            <a:off x="4324350" y="2438400"/>
            <a:ext cx="3524250" cy="3829050"/>
            <a:chOff x="4324350" y="2438400"/>
            <a:chExt cx="3524250" cy="3829050"/>
          </a:xfrm>
        </p:grpSpPr>
        <p:sp>
          <p:nvSpPr>
            <p:cNvPr id="21" name="Rectangle 21"/>
            <p:cNvSpPr/>
            <p:nvPr/>
          </p:nvSpPr>
          <p:spPr>
            <a:xfrm>
              <a:off x="4324350" y="2438400"/>
              <a:ext cx="3524250" cy="3829050"/>
            </a:xfrm>
            <a:prstGeom prst="roundRect">
              <a:avLst>
                <a:gd name="adj" fmla="val 3784"/>
              </a:avLst>
            </a:prstGeom>
            <a:solidFill>
              <a:schemeClr val="lt2"/>
            </a:solidFill>
            <a:ln w="9525">
              <a:solidFill>
                <a:schemeClr val="accent4"/>
              </a:solidFill>
            </a:ln>
          </p:spPr>
        </p:sp>
        <p:sp>
          <p:nvSpPr>
            <p:cNvPr id="22" name="Rectangle 22"/>
            <p:cNvSpPr/>
            <p:nvPr/>
          </p:nvSpPr>
          <p:spPr>
            <a:xfrm>
              <a:off x="4324350" y="2438400"/>
              <a:ext cx="3524250" cy="533400"/>
            </a:xfrm>
            <a:prstGeom prst="roundRect">
              <a:avLst>
                <a:gd name="adj" fmla="val 25000"/>
              </a:avLst>
            </a:prstGeom>
            <a:solidFill>
              <a:schemeClr val="accent6"/>
            </a:solidFill>
            <a:ln>
              <a:noFill/>
            </a:ln>
          </p:spPr>
        </p:sp>
        <p:sp>
          <p:nvSpPr>
            <p:cNvPr id="23" name="TextBox 23"/>
            <p:cNvSpPr txBox="1"/>
            <p:nvPr/>
          </p:nvSpPr>
          <p:spPr>
            <a:xfrm>
              <a:off x="4583049" y="2611279"/>
              <a:ext cx="1367176" cy="308039"/>
            </a:xfrm>
            <a:prstGeom prst="rect">
              <a:avLst/>
            </a:prstGeom>
            <a:noFill/>
            <a:ln>
              <a:noFill/>
            </a:ln>
          </p:spPr>
          <p:txBody>
            <a:bodyPr wrap="none" lIns="0" tIns="0" rIns="0" bIns="0" anchor="t" anchorCtr="0">
              <a:spAutoFit/>
            </a:bodyPr>
            <a:lstStyle/>
            <a:p>
              <a:pPr algn="l"/>
              <a:r>
                <a:rPr lang="en-US" sz="1580" b="1" dirty="0">
                  <a:solidFill>
                    <a:schemeClr val="accent2"/>
                  </a:solidFill>
                  <a:latin typeface="+mn-lt"/>
                  <a:ea typeface="+mn-ea"/>
                  <a:cs typeface="+mn-cs"/>
                </a:rPr>
                <a:t>30% interval</a:t>
              </a:r>
            </a:p>
          </p:txBody>
        </p:sp>
        <p:sp>
          <p:nvSpPr>
            <p:cNvPr id="24" name="TextBox 24"/>
            <p:cNvSpPr txBox="1"/>
            <p:nvPr/>
          </p:nvSpPr>
          <p:spPr>
            <a:xfrm>
              <a:off x="4583811" y="3198971"/>
              <a:ext cx="254493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Averaging the smallest 30%</a:t>
              </a:r>
            </a:p>
          </p:txBody>
        </p:sp>
        <p:sp>
          <p:nvSpPr>
            <p:cNvPr id="25" name="TextBox 25"/>
            <p:cNvSpPr txBox="1"/>
            <p:nvPr/>
          </p:nvSpPr>
          <p:spPr>
            <a:xfrm>
              <a:off x="4583811" y="3446621"/>
              <a:ext cx="270984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interval beats max or range.</a:t>
              </a:r>
            </a:p>
          </p:txBody>
        </p:sp>
        <p:sp>
          <p:nvSpPr>
            <p:cNvPr id="26" name="TextBox 26"/>
            <p:cNvSpPr txBox="1"/>
            <p:nvPr/>
          </p:nvSpPr>
          <p:spPr>
            <a:xfrm>
              <a:off x="4585335" y="3917156"/>
              <a:ext cx="166285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MVTec AD image AUROC</a:t>
              </a:r>
            </a:p>
          </p:txBody>
        </p:sp>
        <p:sp>
          <p:nvSpPr>
            <p:cNvPr id="27" name="Rectangle 27"/>
            <p:cNvSpPr/>
            <p:nvPr/>
          </p:nvSpPr>
          <p:spPr>
            <a:xfrm>
              <a:off x="5219700" y="4248150"/>
              <a:ext cx="1600200" cy="247650"/>
            </a:xfrm>
            <a:prstGeom prst="roundRect">
              <a:avLst>
                <a:gd name="adj" fmla="val 15385"/>
              </a:avLst>
            </a:prstGeom>
            <a:solidFill>
              <a:schemeClr val="accent3"/>
            </a:solidFill>
            <a:ln>
              <a:noFill/>
            </a:ln>
          </p:spPr>
        </p:sp>
        <p:sp>
          <p:nvSpPr>
            <p:cNvPr id="28" name="TextBox 28"/>
            <p:cNvSpPr txBox="1"/>
            <p:nvPr/>
          </p:nvSpPr>
          <p:spPr>
            <a:xfrm>
              <a:off x="4584954" y="4290060"/>
              <a:ext cx="31104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max</a:t>
              </a:r>
            </a:p>
          </p:txBody>
        </p:sp>
        <p:sp>
          <p:nvSpPr>
            <p:cNvPr id="29" name="TextBox 29"/>
            <p:cNvSpPr txBox="1"/>
            <p:nvPr/>
          </p:nvSpPr>
          <p:spPr>
            <a:xfrm>
              <a:off x="6890004" y="4299585"/>
              <a:ext cx="38535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83.8</a:t>
              </a:r>
            </a:p>
          </p:txBody>
        </p:sp>
        <p:sp>
          <p:nvSpPr>
            <p:cNvPr id="30" name="Rectangle 30"/>
            <p:cNvSpPr/>
            <p:nvPr/>
          </p:nvSpPr>
          <p:spPr>
            <a:xfrm>
              <a:off x="5219700" y="4762500"/>
              <a:ext cx="1866900" cy="247650"/>
            </a:xfrm>
            <a:prstGeom prst="roundRect">
              <a:avLst>
                <a:gd name="adj" fmla="val 15385"/>
              </a:avLst>
            </a:prstGeom>
            <a:solidFill>
              <a:schemeClr val="accent2"/>
            </a:solidFill>
            <a:ln>
              <a:noFill/>
            </a:ln>
          </p:spPr>
        </p:sp>
        <p:sp>
          <p:nvSpPr>
            <p:cNvPr id="31" name="TextBox 31"/>
            <p:cNvSpPr txBox="1"/>
            <p:nvPr/>
          </p:nvSpPr>
          <p:spPr>
            <a:xfrm>
              <a:off x="4584954" y="4804410"/>
              <a:ext cx="31104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30%</a:t>
              </a:r>
            </a:p>
          </p:txBody>
        </p:sp>
        <p:sp>
          <p:nvSpPr>
            <p:cNvPr id="32" name="TextBox 32"/>
            <p:cNvSpPr txBox="1"/>
            <p:nvPr/>
          </p:nvSpPr>
          <p:spPr>
            <a:xfrm>
              <a:off x="7156704" y="4813935"/>
              <a:ext cx="38535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97.8</a:t>
              </a:r>
            </a:p>
          </p:txBody>
        </p:sp>
        <p:sp>
          <p:nvSpPr>
            <p:cNvPr id="33" name="TextBox 33"/>
            <p:cNvSpPr txBox="1"/>
            <p:nvPr/>
          </p:nvSpPr>
          <p:spPr>
            <a:xfrm>
              <a:off x="4583811" y="5332571"/>
              <a:ext cx="230645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A +14 point lift from the</a:t>
              </a:r>
            </a:p>
          </p:txBody>
        </p:sp>
        <p:sp>
          <p:nvSpPr>
            <p:cNvPr id="34" name="TextBox 34"/>
            <p:cNvSpPr txBox="1"/>
            <p:nvPr/>
          </p:nvSpPr>
          <p:spPr>
            <a:xfrm>
              <a:off x="4583811" y="5580221"/>
              <a:ext cx="193564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right interval alone.</a:t>
              </a:r>
            </a:p>
          </p:txBody>
        </p:sp>
      </p:grpSp>
      <p:grpSp>
        <p:nvGrpSpPr>
          <p:cNvPr id="47" name="Group 47"/>
          <p:cNvGrpSpPr/>
          <p:nvPr/>
        </p:nvGrpSpPr>
        <p:grpSpPr>
          <a:xfrm>
            <a:off x="8039100" y="2438400"/>
            <a:ext cx="3524250" cy="3829050"/>
            <a:chOff x="8039100" y="2438400"/>
            <a:chExt cx="3524250" cy="3829050"/>
          </a:xfrm>
        </p:grpSpPr>
        <p:sp>
          <p:nvSpPr>
            <p:cNvPr id="36" name="Rectangle 36"/>
            <p:cNvSpPr/>
            <p:nvPr/>
          </p:nvSpPr>
          <p:spPr>
            <a:xfrm>
              <a:off x="8039100" y="2438400"/>
              <a:ext cx="3524250" cy="3829050"/>
            </a:xfrm>
            <a:prstGeom prst="roundRect">
              <a:avLst>
                <a:gd name="adj" fmla="val 3784"/>
              </a:avLst>
            </a:prstGeom>
            <a:solidFill>
              <a:schemeClr val="lt2"/>
            </a:solidFill>
            <a:ln w="9525">
              <a:solidFill>
                <a:schemeClr val="accent4"/>
              </a:solidFill>
            </a:ln>
          </p:spPr>
        </p:sp>
        <p:sp>
          <p:nvSpPr>
            <p:cNvPr id="37" name="Rectangle 37"/>
            <p:cNvSpPr/>
            <p:nvPr/>
          </p:nvSpPr>
          <p:spPr>
            <a:xfrm>
              <a:off x="8039100" y="2438400"/>
              <a:ext cx="3524250" cy="533400"/>
            </a:xfrm>
            <a:prstGeom prst="roundRect">
              <a:avLst>
                <a:gd name="adj" fmla="val 25000"/>
              </a:avLst>
            </a:prstGeom>
            <a:solidFill>
              <a:schemeClr val="accent6"/>
            </a:solidFill>
            <a:ln>
              <a:noFill/>
            </a:ln>
          </p:spPr>
        </p:sp>
        <p:sp>
          <p:nvSpPr>
            <p:cNvPr id="38" name="TextBox 38"/>
            <p:cNvSpPr txBox="1"/>
            <p:nvPr/>
          </p:nvSpPr>
          <p:spPr>
            <a:xfrm>
              <a:off x="8297799" y="2611279"/>
              <a:ext cx="1103529" cy="308039"/>
            </a:xfrm>
            <a:prstGeom prst="rect">
              <a:avLst/>
            </a:prstGeom>
            <a:noFill/>
            <a:ln>
              <a:noFill/>
            </a:ln>
          </p:spPr>
          <p:txBody>
            <a:bodyPr wrap="none" lIns="0" tIns="0" rIns="0" bIns="0" anchor="t" anchorCtr="0">
              <a:spAutoFit/>
            </a:bodyPr>
            <a:lstStyle/>
            <a:p>
              <a:pPr algn="l"/>
              <a:r>
                <a:rPr lang="en-US" sz="1580" b="1" dirty="0">
                  <a:solidFill>
                    <a:srgbClr val="FFB454"/>
                  </a:solidFill>
                  <a:latin typeface="+mn-lt"/>
                  <a:ea typeface="+mn-ea"/>
                  <a:cs typeface="+mn-cs"/>
                </a:rPr>
                <a:t>RsCIN gain</a:t>
              </a:r>
            </a:p>
          </p:txBody>
        </p:sp>
        <p:sp>
          <p:nvSpPr>
            <p:cNvPr id="39" name="TextBox 39"/>
            <p:cNvSpPr txBox="1"/>
            <p:nvPr/>
          </p:nvSpPr>
          <p:spPr>
            <a:xfrm>
              <a:off x="8298561" y="3275171"/>
              <a:ext cx="256316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re-scoring module lifts</a:t>
              </a:r>
            </a:p>
          </p:txBody>
        </p:sp>
        <p:sp>
          <p:nvSpPr>
            <p:cNvPr id="40" name="TextBox 40"/>
            <p:cNvSpPr txBox="1"/>
            <p:nvPr/>
          </p:nvSpPr>
          <p:spPr>
            <a:xfrm>
              <a:off x="8298561" y="3522821"/>
              <a:ext cx="226842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VisA image-level AUROC.</a:t>
              </a:r>
            </a:p>
          </p:txBody>
        </p:sp>
        <p:sp>
          <p:nvSpPr>
            <p:cNvPr id="41" name="TextBox 41"/>
            <p:cNvSpPr txBox="1"/>
            <p:nvPr/>
          </p:nvSpPr>
          <p:spPr>
            <a:xfrm>
              <a:off x="8292846" y="4163378"/>
              <a:ext cx="818887" cy="498729"/>
            </a:xfrm>
            <a:prstGeom prst="rect">
              <a:avLst/>
            </a:prstGeom>
            <a:noFill/>
            <a:ln>
              <a:noFill/>
            </a:ln>
          </p:spPr>
          <p:txBody>
            <a:bodyPr wrap="none" lIns="0" tIns="0" rIns="0" bIns="0" anchor="t" anchorCtr="0">
              <a:spAutoFit/>
            </a:bodyPr>
            <a:lstStyle/>
            <a:p>
              <a:pPr algn="l"/>
              <a:r>
                <a:rPr lang="en-US" sz="2550" b="1" dirty="0">
                  <a:solidFill>
                    <a:schemeClr val="dk2"/>
                  </a:solidFill>
                  <a:latin typeface="+mn-lt"/>
                  <a:ea typeface="+mn-ea"/>
                  <a:cs typeface="+mn-cs"/>
                </a:rPr>
                <a:t>90.0</a:t>
              </a:r>
            </a:p>
          </p:txBody>
        </p:sp>
        <p:sp>
          <p:nvSpPr>
            <p:cNvPr id="42" name="TextBox 42"/>
            <p:cNvSpPr txBox="1"/>
            <p:nvPr/>
          </p:nvSpPr>
          <p:spPr>
            <a:xfrm>
              <a:off x="9304020" y="4195762"/>
              <a:ext cx="189452"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a:t>
              </a:r>
            </a:p>
          </p:txBody>
        </p:sp>
        <p:sp>
          <p:nvSpPr>
            <p:cNvPr id="43" name="TextBox 43"/>
            <p:cNvSpPr txBox="1"/>
            <p:nvPr/>
          </p:nvSpPr>
          <p:spPr>
            <a:xfrm>
              <a:off x="9683496" y="4163378"/>
              <a:ext cx="818887" cy="498729"/>
            </a:xfrm>
            <a:prstGeom prst="rect">
              <a:avLst/>
            </a:prstGeom>
            <a:noFill/>
            <a:ln>
              <a:noFill/>
            </a:ln>
          </p:spPr>
          <p:txBody>
            <a:bodyPr wrap="none" lIns="0" tIns="0" rIns="0" bIns="0" anchor="t" anchorCtr="0">
              <a:spAutoFit/>
            </a:bodyPr>
            <a:lstStyle/>
            <a:p>
              <a:pPr algn="l"/>
              <a:r>
                <a:rPr lang="en-US" sz="2550" b="1" dirty="0">
                  <a:solidFill>
                    <a:schemeClr val="accent2"/>
                  </a:solidFill>
                  <a:latin typeface="+mn-lt"/>
                  <a:ea typeface="+mn-ea"/>
                  <a:cs typeface="+mn-cs"/>
                </a:rPr>
                <a:t>92.8</a:t>
              </a:r>
            </a:p>
          </p:txBody>
        </p:sp>
        <p:sp>
          <p:nvSpPr>
            <p:cNvPr id="44" name="TextBox 44"/>
            <p:cNvSpPr txBox="1"/>
            <p:nvPr/>
          </p:nvSpPr>
          <p:spPr>
            <a:xfrm>
              <a:off x="8298561" y="4894421"/>
              <a:ext cx="2458343"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A clean image-level boost,</a:t>
              </a:r>
            </a:p>
          </p:txBody>
        </p:sp>
        <p:sp>
          <p:nvSpPr>
            <p:cNvPr id="45" name="TextBox 45"/>
            <p:cNvSpPr txBox="1"/>
            <p:nvPr/>
          </p:nvSpPr>
          <p:spPr>
            <a:xfrm>
              <a:off x="8298561" y="5142071"/>
              <a:ext cx="2308403"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and a drop-in plug-in for</a:t>
              </a:r>
            </a:p>
          </p:txBody>
        </p:sp>
        <p:sp>
          <p:nvSpPr>
            <p:cNvPr id="46" name="TextBox 46"/>
            <p:cNvSpPr txBox="1"/>
            <p:nvPr/>
          </p:nvSpPr>
          <p:spPr>
            <a:xfrm>
              <a:off x="8298561" y="5389721"/>
              <a:ext cx="1849618"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other methods too.</a:t>
              </a:r>
            </a:p>
          </p:txBody>
        </p:sp>
      </p:grpSp>
      <p:sp>
        <p:nvSpPr>
          <p:cNvPr id="48" name="cue_s08_c1_ablations_confirm_choice" title="cue_s08_c1_ablations_confirm_choice" descr="cue_s08_c1_ablations_confirm_choice Ablations confirm each choice."/>
          <p:cNvSpPr/>
          <p:nvPr/>
        </p:nvSpPr>
        <p:spPr>
          <a:xfrm>
            <a:off x="609600" y="1428521"/>
            <a:ext cx="10953292" cy="8188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8_c2_combining_three_aggregation_degrees" title="cue_s08_c2_combining_three_aggregation_degrees" descr="cue_s08_c2_combining_three_aggregation_degrees Combining three aggregation degrees works best: small neighborhoods catch tiny VisA defects, large ones catch big MVTec defects."/>
          <p:cNvSpPr/>
          <p:nvPr/>
        </p:nvSpPr>
        <p:spPr>
          <a:xfrm>
            <a:off x="609600" y="2438704"/>
            <a:ext cx="3524707" cy="38288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3_averaging_smallest_thirty_percent_in" title="cue_s08_c3_averaging_smallest_thirty_percent_in" descr="cue_s08_c3_averaging_smallest_thirty_percent_in Averaging the smallest thirty percent interval beats the max or range, lifting AUROC to ninety-seven point eight percent."/>
          <p:cNvSpPr/>
          <p:nvPr/>
        </p:nvSpPr>
        <p:spPr>
          <a:xfrm>
            <a:off x="4324502" y="2438704"/>
            <a:ext cx="3524707" cy="38288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8_c4_re_scoring_raises_visa_image_auroc" title="cue_s08_c4_re_scoring_raises_visa_image_auroc" descr="cue_s08_c4_re_scoring_raises_visa_image_auroc Re-scoring raises VisA image AUROC from ninety to ninety-two point eight."/>
          <p:cNvSpPr/>
          <p:nvPr/>
        </p:nvSpPr>
        <p:spPr>
          <a:xfrm>
            <a:off x="8039404" y="2438704"/>
            <a:ext cx="3524707" cy="38288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495300"/>
            <a:ext cx="3455909" cy="711517"/>
            <a:chOff x="609600" y="495300"/>
            <a:chExt cx="3455909" cy="711517"/>
          </a:xfrm>
        </p:grpSpPr>
        <p:sp>
          <p:nvSpPr>
            <p:cNvPr id="2" name="Rectangle 2"/>
            <p:cNvSpPr/>
            <p:nvPr/>
          </p:nvSpPr>
          <p:spPr>
            <a:xfrm>
              <a:off x="609600" y="495300"/>
              <a:ext cx="47625" cy="495300"/>
            </a:xfrm>
            <a:prstGeom prst="roundRect">
              <a:avLst>
                <a:gd name="adj" fmla="val 40000"/>
              </a:avLst>
            </a:prstGeom>
            <a:solidFill>
              <a:schemeClr val="accent2"/>
            </a:solidFill>
            <a:ln>
              <a:noFill/>
            </a:ln>
          </p:spPr>
        </p:sp>
        <p:sp>
          <p:nvSpPr>
            <p:cNvPr id="3" name="TextBox 3"/>
            <p:cNvSpPr txBox="1"/>
            <p:nvPr/>
          </p:nvSpPr>
          <p:spPr>
            <a:xfrm>
              <a:off x="813435" y="602456"/>
              <a:ext cx="2150720" cy="220028"/>
            </a:xfrm>
            <a:prstGeom prst="rect">
              <a:avLst/>
            </a:prstGeom>
            <a:noFill/>
            <a:ln>
              <a:noFill/>
            </a:ln>
          </p:spPr>
          <p:txBody>
            <a:bodyPr wrap="none" lIns="0" tIns="0" rIns="0" bIns="0" anchor="t" anchorCtr="0">
              <a:spAutoFit/>
            </a:bodyPr>
            <a:lstStyle/>
            <a:p>
              <a:pPr algn="l"/>
              <a:r>
                <a:rPr lang="en-US" sz="1120" spc="150" dirty="0">
                  <a:solidFill>
                    <a:schemeClr val="dk2"/>
                  </a:solidFill>
                  <a:latin typeface="+mn-lt"/>
                  <a:ea typeface="+mn-ea"/>
                  <a:cs typeface="+mn-cs"/>
                </a:rPr>
                <a:t>09 · HEADLINE NUMBERS</a:t>
              </a:r>
            </a:p>
          </p:txBody>
        </p:sp>
        <p:sp>
          <p:nvSpPr>
            <p:cNvPr id="4" name="TextBox 4"/>
            <p:cNvSpPr txBox="1"/>
            <p:nvPr/>
          </p:nvSpPr>
          <p:spPr>
            <a:xfrm>
              <a:off x="807720" y="766762"/>
              <a:ext cx="325778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n-lt"/>
                  <a:ea typeface="+mn-ea"/>
                  <a:cs typeface="+mn-cs"/>
                </a:rPr>
                <a:t>MuSc by the numbers</a:t>
              </a:r>
            </a:p>
          </p:txBody>
        </p:sp>
      </p:grpSp>
      <p:grpSp>
        <p:nvGrpSpPr>
          <p:cNvPr id="25" name="Group 25"/>
          <p:cNvGrpSpPr/>
          <p:nvPr/>
        </p:nvGrpSpPr>
        <p:grpSpPr>
          <a:xfrm>
            <a:off x="609600" y="1428750"/>
            <a:ext cx="10953750" cy="3105150"/>
            <a:chOff x="609600" y="1428750"/>
            <a:chExt cx="10953750" cy="3105150"/>
          </a:xfrm>
        </p:grpSpPr>
        <p:sp>
          <p:nvSpPr>
            <p:cNvPr id="6" name="Rectangle 6"/>
            <p:cNvSpPr/>
            <p:nvPr/>
          </p:nvSpPr>
          <p:spPr>
            <a:xfrm>
              <a:off x="609600" y="1428750"/>
              <a:ext cx="10953750" cy="3105150"/>
            </a:xfrm>
            <a:prstGeom prst="roundRect">
              <a:avLst>
                <a:gd name="adj" fmla="val 4294"/>
              </a:avLst>
            </a:prstGeom>
            <a:solidFill>
              <a:schemeClr val="lt2"/>
            </a:solidFill>
            <a:ln w="9525">
              <a:solidFill>
                <a:schemeClr val="accent4"/>
              </a:solidFill>
            </a:ln>
          </p:spPr>
        </p:sp>
        <p:sp>
          <p:nvSpPr>
            <p:cNvPr id="7" name="Rectangle 7"/>
            <p:cNvSpPr/>
            <p:nvPr/>
          </p:nvSpPr>
          <p:spPr>
            <a:xfrm>
              <a:off x="609600" y="1428750"/>
              <a:ext cx="57150" cy="3105150"/>
            </a:xfrm>
            <a:prstGeom prst="roundRect">
              <a:avLst>
                <a:gd name="adj" fmla="val 50000"/>
              </a:avLst>
            </a:prstGeom>
            <a:solidFill>
              <a:schemeClr val="accent2"/>
            </a:solidFill>
            <a:ln>
              <a:noFill/>
            </a:ln>
          </p:spPr>
        </p:sp>
        <p:sp>
          <p:nvSpPr>
            <p:cNvPr id="8" name="TextBox 8"/>
            <p:cNvSpPr txBox="1"/>
            <p:nvPr/>
          </p:nvSpPr>
          <p:spPr>
            <a:xfrm>
              <a:off x="906780" y="1704975"/>
              <a:ext cx="3351593" cy="293370"/>
            </a:xfrm>
            <a:prstGeom prst="rect">
              <a:avLst/>
            </a:prstGeom>
            <a:noFill/>
            <a:ln>
              <a:noFill/>
            </a:ln>
          </p:spPr>
          <p:txBody>
            <a:bodyPr wrap="none" lIns="0" tIns="0" rIns="0" bIns="0" anchor="t" anchorCtr="0">
              <a:spAutoFit/>
            </a:bodyPr>
            <a:lstStyle/>
            <a:p>
              <a:pPr algn="l"/>
              <a:r>
                <a:rPr lang="en-US" sz="1500" b="1" dirty="0">
                  <a:solidFill>
                    <a:schemeClr val="dk2"/>
                  </a:solidFill>
                  <a:latin typeface="+mn-lt"/>
                  <a:ea typeface="+mn-ea"/>
                  <a:cs typeface="+mn-cs"/>
                </a:rPr>
                <a:t>Zero-shot, no reference images</a:t>
              </a:r>
            </a:p>
          </p:txBody>
        </p:sp>
        <p:sp>
          <p:nvSpPr>
            <p:cNvPr id="9" name="Rectangle 9"/>
            <p:cNvSpPr/>
            <p:nvPr/>
          </p:nvSpPr>
          <p:spPr>
            <a:xfrm>
              <a:off x="914400" y="2095500"/>
              <a:ext cx="2409825" cy="2190750"/>
            </a:xfrm>
            <a:prstGeom prst="roundRect">
              <a:avLst>
                <a:gd name="adj" fmla="val 5217"/>
              </a:avLst>
            </a:prstGeom>
            <a:solidFill>
              <a:schemeClr val="accent6"/>
            </a:solidFill>
            <a:ln>
              <a:noFill/>
            </a:ln>
          </p:spPr>
        </p:sp>
        <p:sp>
          <p:nvSpPr>
            <p:cNvPr id="10" name="TextBox 10"/>
            <p:cNvSpPr txBox="1"/>
            <p:nvPr/>
          </p:nvSpPr>
          <p:spPr>
            <a:xfrm>
              <a:off x="1136142" y="2387918"/>
              <a:ext cx="87736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MVTec AD</a:t>
              </a:r>
            </a:p>
          </p:txBody>
        </p:sp>
        <p:sp>
          <p:nvSpPr>
            <p:cNvPr id="11" name="TextBox 11"/>
            <p:cNvSpPr txBox="1"/>
            <p:nvPr/>
          </p:nvSpPr>
          <p:spPr>
            <a:xfrm>
              <a:off x="1136904" y="2670810"/>
              <a:ext cx="100058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image AUROC</a:t>
              </a:r>
            </a:p>
          </p:txBody>
        </p:sp>
        <p:sp>
          <p:nvSpPr>
            <p:cNvPr id="12" name="TextBox 12"/>
            <p:cNvSpPr txBox="1"/>
            <p:nvPr/>
          </p:nvSpPr>
          <p:spPr>
            <a:xfrm>
              <a:off x="1123950" y="3274695"/>
              <a:ext cx="1664343" cy="762000"/>
            </a:xfrm>
            <a:prstGeom prst="rect">
              <a:avLst/>
            </a:prstGeom>
            <a:noFill/>
            <a:ln>
              <a:noFill/>
            </a:ln>
          </p:spPr>
          <p:txBody>
            <a:bodyPr wrap="none" lIns="0" tIns="0" rIns="0" bIns="0" anchor="t" anchorCtr="0">
              <a:spAutoFit/>
            </a:bodyPr>
            <a:lstStyle/>
            <a:p>
              <a:pPr algn="l"/>
              <a:r>
                <a:rPr lang="en-US" sz="3900" b="1" dirty="0">
                  <a:solidFill>
                    <a:srgbClr val="FFFFFF"/>
                  </a:solidFill>
                  <a:latin typeface="+mn-lt"/>
                  <a:ea typeface="+mn-ea"/>
                  <a:cs typeface="+mn-cs"/>
                </a:rPr>
                <a:t>97.8%</a:t>
              </a:r>
            </a:p>
          </p:txBody>
        </p:sp>
        <p:sp>
          <p:nvSpPr>
            <p:cNvPr id="13" name="Rectangle 13"/>
            <p:cNvSpPr/>
            <p:nvPr/>
          </p:nvSpPr>
          <p:spPr>
            <a:xfrm>
              <a:off x="3552825" y="2095500"/>
              <a:ext cx="2409825" cy="2190750"/>
            </a:xfrm>
            <a:prstGeom prst="roundRect">
              <a:avLst>
                <a:gd name="adj" fmla="val 5217"/>
              </a:avLst>
            </a:prstGeom>
            <a:solidFill>
              <a:schemeClr val="accent6"/>
            </a:solidFill>
            <a:ln>
              <a:noFill/>
            </a:ln>
          </p:spPr>
        </p:sp>
        <p:sp>
          <p:nvSpPr>
            <p:cNvPr id="14" name="TextBox 14"/>
            <p:cNvSpPr txBox="1"/>
            <p:nvPr/>
          </p:nvSpPr>
          <p:spPr>
            <a:xfrm>
              <a:off x="3774567" y="2387918"/>
              <a:ext cx="877361"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MVTec AD</a:t>
              </a:r>
            </a:p>
          </p:txBody>
        </p:sp>
        <p:sp>
          <p:nvSpPr>
            <p:cNvPr id="15" name="TextBox 15"/>
            <p:cNvSpPr txBox="1"/>
            <p:nvPr/>
          </p:nvSpPr>
          <p:spPr>
            <a:xfrm>
              <a:off x="3775329" y="2670810"/>
              <a:ext cx="92583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pixel AUROC</a:t>
              </a:r>
            </a:p>
          </p:txBody>
        </p:sp>
        <p:sp>
          <p:nvSpPr>
            <p:cNvPr id="16" name="TextBox 16"/>
            <p:cNvSpPr txBox="1"/>
            <p:nvPr/>
          </p:nvSpPr>
          <p:spPr>
            <a:xfrm>
              <a:off x="3762375" y="3274695"/>
              <a:ext cx="1664343" cy="762000"/>
            </a:xfrm>
            <a:prstGeom prst="rect">
              <a:avLst/>
            </a:prstGeom>
            <a:noFill/>
            <a:ln>
              <a:noFill/>
            </a:ln>
          </p:spPr>
          <p:txBody>
            <a:bodyPr wrap="none" lIns="0" tIns="0" rIns="0" bIns="0" anchor="t" anchorCtr="0">
              <a:spAutoFit/>
            </a:bodyPr>
            <a:lstStyle/>
            <a:p>
              <a:pPr algn="l"/>
              <a:r>
                <a:rPr lang="en-US" sz="3900" b="1" dirty="0">
                  <a:solidFill>
                    <a:srgbClr val="FFFFFF"/>
                  </a:solidFill>
                  <a:latin typeface="+mn-lt"/>
                  <a:ea typeface="+mn-ea"/>
                  <a:cs typeface="+mn-cs"/>
                </a:rPr>
                <a:t>97.3%</a:t>
              </a:r>
            </a:p>
          </p:txBody>
        </p:sp>
        <p:sp>
          <p:nvSpPr>
            <p:cNvPr id="17" name="Rectangle 17"/>
            <p:cNvSpPr/>
            <p:nvPr/>
          </p:nvSpPr>
          <p:spPr>
            <a:xfrm>
              <a:off x="6191250" y="2095500"/>
              <a:ext cx="2409825" cy="2190750"/>
            </a:xfrm>
            <a:prstGeom prst="roundRect">
              <a:avLst>
                <a:gd name="adj" fmla="val 5217"/>
              </a:avLst>
            </a:prstGeom>
            <a:solidFill>
              <a:schemeClr val="accent6"/>
            </a:solidFill>
            <a:ln>
              <a:noFill/>
            </a:ln>
          </p:spPr>
        </p:sp>
        <p:sp>
          <p:nvSpPr>
            <p:cNvPr id="18" name="TextBox 18"/>
            <p:cNvSpPr txBox="1"/>
            <p:nvPr/>
          </p:nvSpPr>
          <p:spPr>
            <a:xfrm>
              <a:off x="6412992" y="2387918"/>
              <a:ext cx="396354"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VisA</a:t>
              </a:r>
            </a:p>
          </p:txBody>
        </p:sp>
        <p:sp>
          <p:nvSpPr>
            <p:cNvPr id="19" name="TextBox 19"/>
            <p:cNvSpPr txBox="1"/>
            <p:nvPr/>
          </p:nvSpPr>
          <p:spPr>
            <a:xfrm>
              <a:off x="6413754" y="2670810"/>
              <a:ext cx="100058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image AUROC</a:t>
              </a:r>
            </a:p>
          </p:txBody>
        </p:sp>
        <p:sp>
          <p:nvSpPr>
            <p:cNvPr id="20" name="TextBox 20"/>
            <p:cNvSpPr txBox="1"/>
            <p:nvPr/>
          </p:nvSpPr>
          <p:spPr>
            <a:xfrm>
              <a:off x="6400800" y="3274695"/>
              <a:ext cx="1664343" cy="762000"/>
            </a:xfrm>
            <a:prstGeom prst="rect">
              <a:avLst/>
            </a:prstGeom>
            <a:noFill/>
            <a:ln>
              <a:noFill/>
            </a:ln>
          </p:spPr>
          <p:txBody>
            <a:bodyPr wrap="none" lIns="0" tIns="0" rIns="0" bIns="0" anchor="t" anchorCtr="0">
              <a:spAutoFit/>
            </a:bodyPr>
            <a:lstStyle/>
            <a:p>
              <a:pPr algn="l"/>
              <a:r>
                <a:rPr lang="en-US" sz="3900" b="1" dirty="0">
                  <a:solidFill>
                    <a:srgbClr val="FFFFFF"/>
                  </a:solidFill>
                  <a:latin typeface="+mn-lt"/>
                  <a:ea typeface="+mn-ea"/>
                  <a:cs typeface="+mn-cs"/>
                </a:rPr>
                <a:t>92.8%</a:t>
              </a:r>
            </a:p>
          </p:txBody>
        </p:sp>
        <p:sp>
          <p:nvSpPr>
            <p:cNvPr id="21" name="Rectangle 21"/>
            <p:cNvSpPr/>
            <p:nvPr/>
          </p:nvSpPr>
          <p:spPr>
            <a:xfrm>
              <a:off x="8829675" y="2095500"/>
              <a:ext cx="2409825" cy="2190750"/>
            </a:xfrm>
            <a:prstGeom prst="roundRect">
              <a:avLst>
                <a:gd name="adj" fmla="val 5217"/>
              </a:avLst>
            </a:prstGeom>
            <a:solidFill>
              <a:schemeClr val="accent6"/>
            </a:solidFill>
            <a:ln>
              <a:noFill/>
            </a:ln>
          </p:spPr>
        </p:sp>
        <p:sp>
          <p:nvSpPr>
            <p:cNvPr id="22" name="TextBox 22"/>
            <p:cNvSpPr txBox="1"/>
            <p:nvPr/>
          </p:nvSpPr>
          <p:spPr>
            <a:xfrm>
              <a:off x="9051417" y="2387918"/>
              <a:ext cx="396354"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VisA</a:t>
              </a:r>
            </a:p>
          </p:txBody>
        </p:sp>
        <p:sp>
          <p:nvSpPr>
            <p:cNvPr id="23" name="TextBox 23"/>
            <p:cNvSpPr txBox="1"/>
            <p:nvPr/>
          </p:nvSpPr>
          <p:spPr>
            <a:xfrm>
              <a:off x="9052179" y="2670810"/>
              <a:ext cx="92583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pixel AUROC</a:t>
              </a:r>
            </a:p>
          </p:txBody>
        </p:sp>
        <p:sp>
          <p:nvSpPr>
            <p:cNvPr id="24" name="TextBox 24"/>
            <p:cNvSpPr txBox="1"/>
            <p:nvPr/>
          </p:nvSpPr>
          <p:spPr>
            <a:xfrm>
              <a:off x="9039225" y="3274695"/>
              <a:ext cx="1664343" cy="762000"/>
            </a:xfrm>
            <a:prstGeom prst="rect">
              <a:avLst/>
            </a:prstGeom>
            <a:noFill/>
            <a:ln>
              <a:noFill/>
            </a:ln>
          </p:spPr>
          <p:txBody>
            <a:bodyPr wrap="none" lIns="0" tIns="0" rIns="0" bIns="0" anchor="t" anchorCtr="0">
              <a:spAutoFit/>
            </a:bodyPr>
            <a:lstStyle/>
            <a:p>
              <a:pPr algn="l"/>
              <a:r>
                <a:rPr lang="en-US" sz="3900" b="1" dirty="0">
                  <a:solidFill>
                    <a:srgbClr val="FFFFFF"/>
                  </a:solidFill>
                  <a:latin typeface="+mn-lt"/>
                  <a:ea typeface="+mn-ea"/>
                  <a:cs typeface="+mn-cs"/>
                </a:rPr>
                <a:t>98.8%</a:t>
              </a:r>
            </a:p>
          </p:txBody>
        </p:sp>
      </p:grpSp>
      <p:grpSp>
        <p:nvGrpSpPr>
          <p:cNvPr id="32" name="Group 32"/>
          <p:cNvGrpSpPr/>
          <p:nvPr/>
        </p:nvGrpSpPr>
        <p:grpSpPr>
          <a:xfrm>
            <a:off x="609600" y="4762500"/>
            <a:ext cx="10953750" cy="1504950"/>
            <a:chOff x="609600" y="4762500"/>
            <a:chExt cx="10953750" cy="1504950"/>
          </a:xfrm>
        </p:grpSpPr>
        <p:sp>
          <p:nvSpPr>
            <p:cNvPr id="26" name="Rectangle 26"/>
            <p:cNvSpPr/>
            <p:nvPr/>
          </p:nvSpPr>
          <p:spPr>
            <a:xfrm>
              <a:off x="609600" y="4762500"/>
              <a:ext cx="10953750" cy="1504950"/>
            </a:xfrm>
            <a:prstGeom prst="roundRect">
              <a:avLst>
                <a:gd name="adj" fmla="val 8861"/>
              </a:avLst>
            </a:prstGeom>
            <a:solidFill>
              <a:schemeClr val="lt2"/>
            </a:solidFill>
            <a:ln w="9525">
              <a:solidFill>
                <a:schemeClr val="accent4"/>
              </a:solidFill>
            </a:ln>
          </p:spPr>
        </p:sp>
        <p:sp>
          <p:nvSpPr>
            <p:cNvPr id="27" name="Rectangle 27"/>
            <p:cNvSpPr/>
            <p:nvPr/>
          </p:nvSpPr>
          <p:spPr>
            <a:xfrm>
              <a:off x="609600" y="4762500"/>
              <a:ext cx="57150" cy="1504950"/>
            </a:xfrm>
            <a:prstGeom prst="roundRect">
              <a:avLst>
                <a:gd name="adj" fmla="val 50000"/>
              </a:avLst>
            </a:prstGeom>
            <a:solidFill>
              <a:srgbClr val="FFB454"/>
            </a:solidFill>
            <a:ln>
              <a:noFill/>
            </a:ln>
          </p:spPr>
        </p:sp>
        <p:sp>
          <p:nvSpPr>
            <p:cNvPr id="28" name="TextBox 28"/>
            <p:cNvSpPr txBox="1"/>
            <p:nvPr/>
          </p:nvSpPr>
          <p:spPr>
            <a:xfrm>
              <a:off x="899160" y="4933950"/>
              <a:ext cx="1557071" cy="586740"/>
            </a:xfrm>
            <a:prstGeom prst="rect">
              <a:avLst/>
            </a:prstGeom>
            <a:noFill/>
            <a:ln>
              <a:noFill/>
            </a:ln>
          </p:spPr>
          <p:txBody>
            <a:bodyPr wrap="none" lIns="0" tIns="0" rIns="0" bIns="0" anchor="t" anchorCtr="0">
              <a:spAutoFit/>
            </a:bodyPr>
            <a:lstStyle/>
            <a:p>
              <a:pPr algn="l"/>
              <a:r>
                <a:rPr lang="en-US" sz="3000" b="1" dirty="0">
                  <a:solidFill>
                    <a:srgbClr val="FFB454"/>
                  </a:solidFill>
                  <a:latin typeface="+mn-lt"/>
                  <a:ea typeface="+mn-ea"/>
                  <a:cs typeface="+mn-cs"/>
                </a:rPr>
                <a:t>+21 pts</a:t>
              </a:r>
            </a:p>
          </p:txBody>
        </p:sp>
        <p:sp>
          <p:nvSpPr>
            <p:cNvPr id="29" name="TextBox 29"/>
            <p:cNvSpPr txBox="1"/>
            <p:nvPr/>
          </p:nvSpPr>
          <p:spPr>
            <a:xfrm>
              <a:off x="2849880" y="5038725"/>
              <a:ext cx="439086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on MVTec AD segmentation over the previous</a:t>
              </a:r>
            </a:p>
          </p:txBody>
        </p:sp>
        <p:sp>
          <p:nvSpPr>
            <p:cNvPr id="30" name="TextBox 30"/>
            <p:cNvSpPr txBox="1"/>
            <p:nvPr/>
          </p:nvSpPr>
          <p:spPr>
            <a:xfrm>
              <a:off x="2849880" y="5324475"/>
              <a:ext cx="2398014"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best zero-shot method.</a:t>
              </a:r>
            </a:p>
          </p:txBody>
        </p:sp>
        <p:sp>
          <p:nvSpPr>
            <p:cNvPr id="31" name="TextBox 31"/>
            <p:cNvSpPr txBox="1"/>
            <p:nvPr/>
          </p:nvSpPr>
          <p:spPr>
            <a:xfrm>
              <a:off x="907161" y="5827871"/>
              <a:ext cx="704625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All achieved with no training, no prompts, and no normal reference images.</a:t>
              </a:r>
            </a:p>
          </p:txBody>
        </p:sp>
      </p:grpSp>
      <p:sp>
        <p:nvSpPr>
          <p:cNvPr id="33" name="cue_s09_c1_headline_terms_musc_reaches_ninety_s" title="cue_s09_c1_headline_terms_musc_reaches_ninety_s" descr="cue_s09_c1_headline_terms_musc_reaches_ninety_s In headline terms, MuSc reaches ninety-seven point eight percent image AUROC on MVTec AD and ninety-two point eight on VisA, with pixel AUROC of ninety-seven point three and ninety-eight point eight."/>
          <p:cNvSpPr/>
          <p:nvPr/>
        </p:nvSpPr>
        <p:spPr>
          <a:xfrm>
            <a:off x="609600" y="1428521"/>
            <a:ext cx="10953292" cy="31053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9_c2_adds_over_twenty_one_points_mvtec" title="cue_s09_c2_adds_over_twenty_one_points_mvtec" descr="cue_s09_c2_adds_over_twenty_one_points_mvtec It adds over twenty-one points on MVTec segmentation, all with no training, prompts, or references."/>
          <p:cNvSpPr/>
          <p:nvPr/>
        </p:nvSpPr>
        <p:spPr>
          <a:xfrm>
            <a:off x="609600" y="4762195"/>
            <a:ext cx="10953292" cy="15046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09600" y="495300"/>
            <a:ext cx="5924286" cy="711517"/>
            <a:chOff x="609600" y="495300"/>
            <a:chExt cx="5924286" cy="711517"/>
          </a:xfrm>
        </p:grpSpPr>
        <p:sp>
          <p:nvSpPr>
            <p:cNvPr id="2" name="Rectangle 2"/>
            <p:cNvSpPr/>
            <p:nvPr/>
          </p:nvSpPr>
          <p:spPr>
            <a:xfrm>
              <a:off x="609600" y="495300"/>
              <a:ext cx="47625" cy="495300"/>
            </a:xfrm>
            <a:prstGeom prst="roundRect">
              <a:avLst>
                <a:gd name="adj" fmla="val 40000"/>
              </a:avLst>
            </a:prstGeom>
            <a:solidFill>
              <a:schemeClr val="accent2"/>
            </a:solidFill>
            <a:ln>
              <a:noFill/>
            </a:ln>
          </p:spPr>
        </p:sp>
        <p:sp>
          <p:nvSpPr>
            <p:cNvPr id="3" name="TextBox 3"/>
            <p:cNvSpPr txBox="1"/>
            <p:nvPr/>
          </p:nvSpPr>
          <p:spPr>
            <a:xfrm>
              <a:off x="813435" y="602456"/>
              <a:ext cx="1358727" cy="220028"/>
            </a:xfrm>
            <a:prstGeom prst="rect">
              <a:avLst/>
            </a:prstGeom>
            <a:noFill/>
            <a:ln>
              <a:noFill/>
            </a:ln>
          </p:spPr>
          <p:txBody>
            <a:bodyPr wrap="none" lIns="0" tIns="0" rIns="0" bIns="0" anchor="t" anchorCtr="0">
              <a:spAutoFit/>
            </a:bodyPr>
            <a:lstStyle/>
            <a:p>
              <a:pPr algn="l"/>
              <a:r>
                <a:rPr lang="en-US" sz="1120" spc="150" dirty="0">
                  <a:solidFill>
                    <a:schemeClr val="dk2"/>
                  </a:solidFill>
                  <a:latin typeface="+mn-lt"/>
                  <a:ea typeface="+mn-ea"/>
                  <a:cs typeface="+mn-cs"/>
                </a:rPr>
                <a:t>10 · TAKEAWAY</a:t>
              </a:r>
            </a:p>
          </p:txBody>
        </p:sp>
        <p:sp>
          <p:nvSpPr>
            <p:cNvPr id="4" name="TextBox 4"/>
            <p:cNvSpPr txBox="1"/>
            <p:nvPr/>
          </p:nvSpPr>
          <p:spPr>
            <a:xfrm>
              <a:off x="807720" y="766762"/>
              <a:ext cx="5726166"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n-lt"/>
                  <a:ea typeface="+mn-ea"/>
                  <a:cs typeface="+mn-cs"/>
                </a:rPr>
                <a:t>Let the images supervise themselves</a:t>
              </a:r>
            </a:p>
          </p:txBody>
        </p:sp>
      </p:grpSp>
      <p:grpSp>
        <p:nvGrpSpPr>
          <p:cNvPr id="11" name="Group 11"/>
          <p:cNvGrpSpPr/>
          <p:nvPr/>
        </p:nvGrpSpPr>
        <p:grpSpPr>
          <a:xfrm>
            <a:off x="609600" y="1485900"/>
            <a:ext cx="10953750" cy="2171700"/>
            <a:chOff x="609600" y="1485900"/>
            <a:chExt cx="10953750" cy="2171700"/>
          </a:xfrm>
        </p:grpSpPr>
        <p:sp>
          <p:nvSpPr>
            <p:cNvPr id="6" name="Rectangle 6"/>
            <p:cNvSpPr/>
            <p:nvPr/>
          </p:nvSpPr>
          <p:spPr>
            <a:xfrm>
              <a:off x="609600" y="1485900"/>
              <a:ext cx="10953750" cy="2171700"/>
            </a:xfrm>
            <a:prstGeom prst="roundRect">
              <a:avLst>
                <a:gd name="adj" fmla="val 6140"/>
              </a:avLst>
            </a:prstGeom>
            <a:solidFill>
              <a:schemeClr val="lt2"/>
            </a:solidFill>
            <a:ln w="9525">
              <a:solidFill>
                <a:schemeClr val="accent4"/>
              </a:solidFill>
            </a:ln>
          </p:spPr>
        </p:sp>
        <p:sp>
          <p:nvSpPr>
            <p:cNvPr id="7" name="Rectangle 7"/>
            <p:cNvSpPr/>
            <p:nvPr/>
          </p:nvSpPr>
          <p:spPr>
            <a:xfrm>
              <a:off x="609600" y="1485900"/>
              <a:ext cx="57150" cy="2171700"/>
            </a:xfrm>
            <a:prstGeom prst="roundRect">
              <a:avLst>
                <a:gd name="adj" fmla="val 50000"/>
              </a:avLst>
            </a:prstGeom>
            <a:solidFill>
              <a:schemeClr val="accent2"/>
            </a:solidFill>
            <a:ln>
              <a:noFill/>
            </a:ln>
          </p:spPr>
        </p:sp>
        <p:sp>
          <p:nvSpPr>
            <p:cNvPr id="8" name="TextBox 8"/>
            <p:cNvSpPr txBox="1"/>
            <p:nvPr/>
          </p:nvSpPr>
          <p:spPr>
            <a:xfrm>
              <a:off x="907161" y="1865471"/>
              <a:ext cx="1909968" cy="278702"/>
            </a:xfrm>
            <a:prstGeom prst="rect">
              <a:avLst/>
            </a:prstGeom>
            <a:noFill/>
            <a:ln>
              <a:noFill/>
            </a:ln>
          </p:spPr>
          <p:txBody>
            <a:bodyPr wrap="none" lIns="0" tIns="0" rIns="0" bIns="0" anchor="t" anchorCtr="0">
              <a:spAutoFit/>
            </a:bodyPr>
            <a:lstStyle/>
            <a:p>
              <a:pPr algn="l"/>
              <a:r>
                <a:rPr lang="en-US" sz="1420" spc="150" dirty="0">
                  <a:solidFill>
                    <a:schemeClr val="dk2"/>
                  </a:solidFill>
                  <a:latin typeface="+mn-lt"/>
                  <a:ea typeface="+mn-ea"/>
                  <a:cs typeface="+mn-cs"/>
                </a:rPr>
                <a:t>THE LASTING IDEA</a:t>
              </a:r>
            </a:p>
          </p:txBody>
        </p:sp>
        <p:sp>
          <p:nvSpPr>
            <p:cNvPr id="9" name="TextBox 9"/>
            <p:cNvSpPr txBox="1"/>
            <p:nvPr/>
          </p:nvSpPr>
          <p:spPr>
            <a:xfrm>
              <a:off x="899922" y="2283142"/>
              <a:ext cx="5964264" cy="557403"/>
            </a:xfrm>
            <a:prstGeom prst="rect">
              <a:avLst/>
            </a:prstGeom>
            <a:noFill/>
            <a:ln>
              <a:noFill/>
            </a:ln>
          </p:spPr>
          <p:txBody>
            <a:bodyPr wrap="none" lIns="0" tIns="0" rIns="0" bIns="0" anchor="t" anchorCtr="0">
              <a:spAutoFit/>
            </a:bodyPr>
            <a:lstStyle/>
            <a:p>
              <a:pPr algn="l"/>
              <a:r>
                <a:rPr lang="en-US" sz="2850" b="1" dirty="0">
                  <a:solidFill>
                    <a:srgbClr val="FFFFFF"/>
                  </a:solidFill>
                  <a:latin typeface="+mn-lt"/>
                  <a:ea typeface="+mn-ea"/>
                  <a:cs typeface="+mn-cs"/>
                </a:rPr>
                <a:t>A set of unlabeled test images</a:t>
              </a:r>
            </a:p>
          </p:txBody>
        </p:sp>
        <p:sp>
          <p:nvSpPr>
            <p:cNvPr id="10" name="TextBox 10"/>
            <p:cNvSpPr txBox="1"/>
            <p:nvPr/>
          </p:nvSpPr>
          <p:spPr>
            <a:xfrm>
              <a:off x="899922" y="2759392"/>
              <a:ext cx="4178315" cy="557403"/>
            </a:xfrm>
            <a:prstGeom prst="rect">
              <a:avLst/>
            </a:prstGeom>
            <a:noFill/>
            <a:ln>
              <a:noFill/>
            </a:ln>
          </p:spPr>
          <p:txBody>
            <a:bodyPr wrap="none" lIns="0" tIns="0" rIns="0" bIns="0" anchor="t" anchorCtr="0">
              <a:spAutoFit/>
            </a:bodyPr>
            <a:lstStyle/>
            <a:p>
              <a:pPr algn="l"/>
              <a:r>
                <a:rPr lang="en-US" sz="2850" b="1" dirty="0">
                  <a:solidFill>
                    <a:srgbClr val="FFFFFF"/>
                  </a:solidFill>
                  <a:latin typeface="+mn-lt"/>
                  <a:ea typeface="+mn-ea"/>
                  <a:cs typeface="+mn-cs"/>
                </a:rPr>
                <a:t>can supervise itself.</a:t>
              </a:r>
            </a:p>
          </p:txBody>
        </p:sp>
      </p:grpSp>
      <p:grpSp>
        <p:nvGrpSpPr>
          <p:cNvPr id="18" name="Group 18"/>
          <p:cNvGrpSpPr/>
          <p:nvPr/>
        </p:nvGrpSpPr>
        <p:grpSpPr>
          <a:xfrm>
            <a:off x="609600" y="3886200"/>
            <a:ext cx="10953750" cy="1866900"/>
            <a:chOff x="609600" y="3886200"/>
            <a:chExt cx="10953750" cy="1866900"/>
          </a:xfrm>
        </p:grpSpPr>
        <p:sp>
          <p:nvSpPr>
            <p:cNvPr id="12" name="Rectangle 12"/>
            <p:cNvSpPr/>
            <p:nvPr/>
          </p:nvSpPr>
          <p:spPr>
            <a:xfrm>
              <a:off x="609600" y="3886200"/>
              <a:ext cx="10953750" cy="1866900"/>
            </a:xfrm>
            <a:prstGeom prst="roundRect">
              <a:avLst>
                <a:gd name="adj" fmla="val 7143"/>
              </a:avLst>
            </a:prstGeom>
            <a:solidFill>
              <a:schemeClr val="lt2"/>
            </a:solidFill>
            <a:ln w="9525">
              <a:solidFill>
                <a:schemeClr val="accent4"/>
              </a:solidFill>
            </a:ln>
          </p:spPr>
        </p:sp>
        <p:sp>
          <p:nvSpPr>
            <p:cNvPr id="13" name="Rectangle 13"/>
            <p:cNvSpPr/>
            <p:nvPr/>
          </p:nvSpPr>
          <p:spPr>
            <a:xfrm>
              <a:off x="609600" y="3886200"/>
              <a:ext cx="57150" cy="1866900"/>
            </a:xfrm>
            <a:prstGeom prst="roundRect">
              <a:avLst>
                <a:gd name="adj" fmla="val 50000"/>
              </a:avLst>
            </a:prstGeom>
            <a:solidFill>
              <a:schemeClr val="accent1"/>
            </a:solidFill>
            <a:ln>
              <a:noFill/>
            </a:ln>
          </p:spPr>
        </p:sp>
        <p:sp>
          <p:nvSpPr>
            <p:cNvPr id="14" name="TextBox 14"/>
            <p:cNvSpPr txBox="1"/>
            <p:nvPr/>
          </p:nvSpPr>
          <p:spPr>
            <a:xfrm>
              <a:off x="906018" y="4184332"/>
              <a:ext cx="2916601"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Images score one another</a:t>
              </a:r>
            </a:p>
          </p:txBody>
        </p:sp>
        <p:sp>
          <p:nvSpPr>
            <p:cNvPr id="15" name="TextBox 15"/>
            <p:cNvSpPr txBox="1"/>
            <p:nvPr/>
          </p:nvSpPr>
          <p:spPr>
            <a:xfrm>
              <a:off x="906780" y="4581525"/>
              <a:ext cx="8765780"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Repeating normal structure separates from rare defects, with no training or prompts —</a:t>
              </a:r>
            </a:p>
          </p:txBody>
        </p:sp>
        <p:sp>
          <p:nvSpPr>
            <p:cNvPr id="16" name="TextBox 16"/>
            <p:cNvSpPr txBox="1"/>
            <p:nvPr/>
          </p:nvSpPr>
          <p:spPr>
            <a:xfrm>
              <a:off x="906780" y="4867275"/>
              <a:ext cx="8304466"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giving state-of-the-art zero-shot classification and segmentation that even rivals</a:t>
              </a:r>
            </a:p>
          </p:txBody>
        </p:sp>
        <p:sp>
          <p:nvSpPr>
            <p:cNvPr id="17" name="TextBox 17"/>
            <p:cNvSpPr txBox="1"/>
            <p:nvPr/>
          </p:nvSpPr>
          <p:spPr>
            <a:xfrm>
              <a:off x="906780" y="5153025"/>
              <a:ext cx="5598605"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full-shot methods trained on the entire normal dataset.</a:t>
              </a:r>
            </a:p>
          </p:txBody>
        </p:sp>
      </p:grpSp>
      <p:sp>
        <p:nvSpPr>
          <p:cNvPr id="19" name="TextBox 19"/>
          <p:cNvSpPr txBox="1"/>
          <p:nvPr/>
        </p:nvSpPr>
        <p:spPr>
          <a:xfrm>
            <a:off x="603504" y="6195060"/>
            <a:ext cx="3454615"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MuSc · ICLR 2024 — github.com/xrli-U/MuSc</a:t>
            </a:r>
          </a:p>
        </p:txBody>
      </p:sp>
      <p:sp>
        <p:nvSpPr>
          <p:cNvPr id="20" name="cue_s10_c1_lasting_idea_set_unlabeled_test" title="cue_s10_c1_lasting_idea_set_unlabeled_test" descr="cue_s10_c1_lasting_idea_set_unlabeled_test The lasting idea: a set of unlabeled test images can supervise itself."/>
          <p:cNvSpPr/>
          <p:nvPr/>
        </p:nvSpPr>
        <p:spPr>
          <a:xfrm>
            <a:off x="609600" y="1486128"/>
            <a:ext cx="10953292" cy="21719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ue_s10_c2_letting_images_score_one_another" title="cue_s10_c2_letting_images_score_one_another" descr="cue_s10_c2_letting_images_score_one_another By letting images score one another, repeating normal structure is separated from rare defects, with no training or prompts, giving state-of-the-art zero-shot detection that rivals full-shot methods."/>
          <p:cNvSpPr/>
          <p:nvPr/>
        </p:nvSpPr>
        <p:spPr>
          <a:xfrm>
            <a:off x="609600" y="3886428"/>
            <a:ext cx="10953292"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DBE4F0"/>
      </a:dk1>
      <a:lt1>
        <a:srgbClr val="0E1420"/>
      </a:lt1>
      <a:dk2>
        <a:srgbClr val="93A4BD"/>
      </a:dk2>
      <a:lt2>
        <a:srgbClr val="172236"/>
      </a:lt2>
      <a:accent1>
        <a:srgbClr val="4DA3FF"/>
      </a:accent1>
      <a:accent2>
        <a:srgbClr val="37D3A6"/>
      </a:accent2>
      <a:accent3>
        <a:srgbClr val="FF6B6B"/>
      </a:accent3>
      <a:accent4>
        <a:srgbClr val="2B3B57"/>
      </a:accent4>
      <a:accent5>
        <a:srgbClr val="172236"/>
      </a:accent5>
      <a:accent6>
        <a:srgbClr val="1C2942"/>
      </a:accent6>
      <a:hlink>
        <a:srgbClr val="37D3A6"/>
      </a:hlink>
      <a:folHlink>
        <a:srgbClr val="FF6B6B"/>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ck">
  <a:themeElements>
    <a:clrScheme name="deck">
      <a:dk1>
        <a:srgbClr val="DBE4F0"/>
      </a:dk1>
      <a:lt1>
        <a:srgbClr val="0E1420"/>
      </a:lt1>
      <a:dk2>
        <a:srgbClr val="93A4BD"/>
      </a:dk2>
      <a:lt2>
        <a:srgbClr val="172236"/>
      </a:lt2>
      <a:accent1>
        <a:srgbClr val="4DA3FF"/>
      </a:accent1>
      <a:accent2>
        <a:srgbClr val="37D3A6"/>
      </a:accent2>
      <a:accent3>
        <a:srgbClr val="FF6B6B"/>
      </a:accent3>
      <a:accent4>
        <a:srgbClr val="2B3B57"/>
      </a:accent4>
      <a:accent5>
        <a:srgbClr val="172236"/>
      </a:accent5>
      <a:accent6>
        <a:srgbClr val="1C2942"/>
      </a:accent6>
      <a:hlink>
        <a:srgbClr val="37D3A6"/>
      </a:hlink>
      <a:folHlink>
        <a:srgbClr val="FF6B6B"/>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2026-07-15T13:51:44Z</dcterms:created>
  <dcterms:modified xsi:type="dcterms:W3CDTF">2026-07-15T13:51:44Z</dcterms:modified>
  <cp:category/>
  <cp:contentStatus/>
</cp:coreProperties>
</file>
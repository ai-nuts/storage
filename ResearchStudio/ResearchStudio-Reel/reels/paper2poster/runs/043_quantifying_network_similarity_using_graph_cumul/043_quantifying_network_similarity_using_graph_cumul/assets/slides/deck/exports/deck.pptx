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0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054" y="499110"/>
            <a:ext cx="5597530" cy="234696"/>
          </a:xfrm>
          <a:prstGeom prst="rect">
            <a:avLst/>
          </a:prstGeom>
          <a:noFill/>
          <a:ln>
            <a:noFill/>
          </a:ln>
        </p:spPr>
        <p:txBody>
          <a:bodyPr wrap="none" lIns="0" tIns="0" rIns="0" bIns="0" anchor="t" anchorCtr="0">
            <a:spAutoFit/>
          </a:bodyPr>
          <a:lstStyle/>
          <a:p>
            <a:pPr algn="l"/>
            <a:r>
              <a:rPr lang="en-US" sz="1200" b="1" spc="150" dirty="0">
                <a:solidFill>
                  <a:srgbClr val="35D0BA"/>
                </a:solidFill>
                <a:latin typeface="+mn-lt"/>
                <a:ea typeface="+mn-ea"/>
                <a:cs typeface="+mn-cs"/>
              </a:rPr>
              <a:t>JMLR 2023 · UCL · GOOGLE RESEARCH · JOHNS HOPKINS</a:t>
            </a:r>
          </a:p>
        </p:txBody>
      </p:sp>
      <p:sp>
        <p:nvSpPr>
          <p:cNvPr id="4" name="TextBox 4"/>
          <p:cNvSpPr txBox="1"/>
          <p:nvPr/>
        </p:nvSpPr>
        <p:spPr>
          <a:xfrm>
            <a:off x="781050" y="991552"/>
            <a:ext cx="8734846" cy="790575"/>
          </a:xfrm>
          <a:prstGeom prst="rect">
            <a:avLst/>
          </a:prstGeom>
          <a:noFill/>
          <a:ln>
            <a:noFill/>
          </a:ln>
        </p:spPr>
        <p:txBody>
          <a:bodyPr wrap="none" lIns="0" tIns="0" rIns="0" bIns="0" anchor="t" anchorCtr="0">
            <a:spAutoFit/>
          </a:bodyPr>
          <a:lstStyle/>
          <a:p>
            <a:pPr algn="l"/>
            <a:r>
              <a:rPr lang="en-US" sz="4050" b="1" dirty="0">
                <a:solidFill>
                  <a:schemeClr val="dk1"/>
                </a:solidFill>
                <a:latin typeface="+mn-lt"/>
                <a:ea typeface="+mn-ea"/>
                <a:cs typeface="+mn-cs"/>
              </a:rPr>
              <a:t>Quantifying Network Similarity</a:t>
            </a:r>
          </a:p>
        </p:txBody>
      </p:sp>
      <p:sp>
        <p:nvSpPr>
          <p:cNvPr id="5" name="TextBox 5"/>
          <p:cNvSpPr txBox="1"/>
          <p:nvPr/>
        </p:nvSpPr>
        <p:spPr>
          <a:xfrm>
            <a:off x="781050" y="1582102"/>
            <a:ext cx="6228837" cy="790575"/>
          </a:xfrm>
          <a:prstGeom prst="rect">
            <a:avLst/>
          </a:prstGeom>
          <a:noFill/>
          <a:ln>
            <a:noFill/>
          </a:ln>
        </p:spPr>
        <p:txBody>
          <a:bodyPr wrap="none" lIns="0" tIns="0" rIns="0" bIns="0" anchor="t" anchorCtr="0">
            <a:spAutoFit/>
          </a:bodyPr>
          <a:lstStyle/>
          <a:p>
            <a:pPr algn="l"/>
            <a:r>
              <a:rPr lang="en-US" sz="4050" b="1" dirty="0">
                <a:solidFill>
                  <a:schemeClr val="dk1"/>
                </a:solidFill>
                <a:latin typeface="+mn-lt"/>
                <a:ea typeface="+mn-ea"/>
                <a:cs typeface="+mn-cs"/>
              </a:rPr>
              <a:t>using Graph Cumulants</a:t>
            </a:r>
          </a:p>
        </p:txBody>
      </p:sp>
      <p:sp>
        <p:nvSpPr>
          <p:cNvPr id="6" name="TextBox 6"/>
          <p:cNvSpPr txBox="1"/>
          <p:nvPr/>
        </p:nvSpPr>
        <p:spPr>
          <a:xfrm>
            <a:off x="791337" y="2252186"/>
            <a:ext cx="5490381" cy="337376"/>
          </a:xfrm>
          <a:prstGeom prst="rect">
            <a:avLst/>
          </a:prstGeom>
          <a:noFill/>
          <a:ln>
            <a:noFill/>
          </a:ln>
        </p:spPr>
        <p:txBody>
          <a:bodyPr wrap="none" lIns="0" tIns="0" rIns="0" bIns="0" anchor="t" anchorCtr="0">
            <a:spAutoFit/>
          </a:bodyPr>
          <a:lstStyle/>
          <a:p>
            <a:pPr algn="l"/>
            <a:r>
              <a:rPr lang="en-US" sz="1720" dirty="0">
                <a:solidFill>
                  <a:srgbClr val="F5B841"/>
                </a:solidFill>
                <a:latin typeface="+mn-lt"/>
                <a:ea typeface="+mn-ea"/>
                <a:cs typeface="+mn-cs"/>
              </a:rPr>
              <a:t>A stronger, free two-sample test for networks</a:t>
            </a:r>
          </a:p>
        </p:txBody>
      </p:sp>
      <p:sp>
        <p:nvSpPr>
          <p:cNvPr id="7" name="TextBox 7"/>
          <p:cNvSpPr txBox="1"/>
          <p:nvPr/>
        </p:nvSpPr>
        <p:spPr>
          <a:xfrm>
            <a:off x="793623" y="2700814"/>
            <a:ext cx="718134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Gecia Bravo-Hermsdorff · Lee M. Gunderson · Pierre-Andre Maugis · Carey E. Priebe</a:t>
            </a:r>
          </a:p>
        </p:txBody>
      </p:sp>
      <p:grpSp>
        <p:nvGrpSpPr>
          <p:cNvPr id="15" name="Group 15"/>
          <p:cNvGrpSpPr/>
          <p:nvPr/>
        </p:nvGrpSpPr>
        <p:grpSpPr>
          <a:xfrm>
            <a:off x="609600" y="3429000"/>
            <a:ext cx="2652065" cy="2381250"/>
            <a:chOff x="609600" y="3429000"/>
            <a:chExt cx="2652065" cy="2381250"/>
          </a:xfrm>
        </p:grpSpPr>
        <p:sp>
          <p:nvSpPr>
            <p:cNvPr id="8" name="Rectangle 8"/>
            <p:cNvSpPr/>
            <p:nvPr/>
          </p:nvSpPr>
          <p:spPr>
            <a:xfrm>
              <a:off x="609600" y="3429000"/>
              <a:ext cx="2647950" cy="2381250"/>
            </a:xfrm>
            <a:prstGeom prst="roundRect">
              <a:avLst>
                <a:gd name="adj" fmla="val 5600"/>
              </a:avLst>
            </a:prstGeom>
            <a:solidFill>
              <a:schemeClr val="accent5"/>
            </a:solidFill>
            <a:ln w="14288">
              <a:solidFill>
                <a:srgbClr val="1E3A52"/>
              </a:solidFill>
            </a:ln>
          </p:spPr>
        </p:sp>
        <p:sp>
          <p:nvSpPr>
            <p:cNvPr id="9" name="Rectangle 9"/>
            <p:cNvSpPr/>
            <p:nvPr/>
          </p:nvSpPr>
          <p:spPr>
            <a:xfrm>
              <a:off x="609600" y="3429000"/>
              <a:ext cx="2647950" cy="57150"/>
            </a:xfrm>
            <a:prstGeom prst="roundRect">
              <a:avLst>
                <a:gd name="adj" fmla="val 50000"/>
              </a:avLst>
            </a:prstGeom>
            <a:solidFill>
              <a:srgbClr val="4C8DFF"/>
            </a:solidFill>
            <a:ln w="0">
              <a:solidFill>
                <a:srgbClr val="4C8DFF"/>
              </a:solidFill>
            </a:ln>
          </p:spPr>
        </p:sp>
        <p:sp>
          <p:nvSpPr>
            <p:cNvPr id="10" name="TextBox 10"/>
            <p:cNvSpPr txBox="1"/>
            <p:nvPr/>
          </p:nvSpPr>
          <p:spPr>
            <a:xfrm>
              <a:off x="794766" y="3734752"/>
              <a:ext cx="1147343" cy="205359"/>
            </a:xfrm>
            <a:prstGeom prst="rect">
              <a:avLst/>
            </a:prstGeom>
            <a:noFill/>
            <a:ln>
              <a:noFill/>
            </a:ln>
          </p:spPr>
          <p:txBody>
            <a:bodyPr wrap="none" lIns="0" tIns="0" rIns="0" bIns="0" anchor="t" anchorCtr="0">
              <a:spAutoFit/>
            </a:bodyPr>
            <a:lstStyle/>
            <a:p>
              <a:pPr algn="l"/>
              <a:r>
                <a:rPr lang="en-US" sz="1050" b="1" spc="75" dirty="0">
                  <a:solidFill>
                    <a:srgbClr val="4C8DFF"/>
                  </a:solidFill>
                  <a:latin typeface="+mn-lt"/>
                  <a:ea typeface="+mn-ea"/>
                  <a:cs typeface="+mn-cs"/>
                </a:rPr>
                <a:t>THE QUESTION</a:t>
              </a:r>
            </a:p>
          </p:txBody>
        </p:sp>
        <p:sp>
          <p:nvSpPr>
            <p:cNvPr id="11" name="TextBox 11"/>
            <p:cNvSpPr txBox="1"/>
            <p:nvPr/>
          </p:nvSpPr>
          <p:spPr>
            <a:xfrm>
              <a:off x="794004" y="4023360"/>
              <a:ext cx="18833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Were two collections of</a:t>
              </a:r>
            </a:p>
          </p:txBody>
        </p:sp>
        <p:sp>
          <p:nvSpPr>
            <p:cNvPr id="12" name="TextBox 12"/>
            <p:cNvSpPr txBox="1"/>
            <p:nvPr/>
          </p:nvSpPr>
          <p:spPr>
            <a:xfrm>
              <a:off x="794004" y="4251960"/>
              <a:ext cx="246766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networks drawn from the same</a:t>
              </a:r>
            </a:p>
          </p:txBody>
        </p:sp>
        <p:sp>
          <p:nvSpPr>
            <p:cNvPr id="13" name="TextBox 13"/>
            <p:cNvSpPr txBox="1"/>
            <p:nvPr/>
          </p:nvSpPr>
          <p:spPr>
            <a:xfrm>
              <a:off x="794004" y="4480560"/>
              <a:ext cx="2190306"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distribution? Compare them</a:t>
              </a:r>
            </a:p>
          </p:txBody>
        </p:sp>
        <p:sp>
          <p:nvSpPr>
            <p:cNvPr id="14" name="TextBox 14"/>
            <p:cNvSpPr txBox="1"/>
            <p:nvPr/>
          </p:nvSpPr>
          <p:spPr>
            <a:xfrm>
              <a:off x="794004" y="4709160"/>
              <a:ext cx="2063801"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through subgraph counts.</a:t>
              </a:r>
            </a:p>
          </p:txBody>
        </p:sp>
      </p:grpSp>
      <p:grpSp>
        <p:nvGrpSpPr>
          <p:cNvPr id="24" name="Group 24"/>
          <p:cNvGrpSpPr/>
          <p:nvPr/>
        </p:nvGrpSpPr>
        <p:grpSpPr>
          <a:xfrm>
            <a:off x="3429000" y="3429000"/>
            <a:ext cx="2647950" cy="2381250"/>
            <a:chOff x="3429000" y="3429000"/>
            <a:chExt cx="2647950" cy="2381250"/>
          </a:xfrm>
        </p:grpSpPr>
        <p:sp>
          <p:nvSpPr>
            <p:cNvPr id="16" name="Rectangle 16"/>
            <p:cNvSpPr/>
            <p:nvPr/>
          </p:nvSpPr>
          <p:spPr>
            <a:xfrm>
              <a:off x="3429000" y="3429000"/>
              <a:ext cx="2647950" cy="2381250"/>
            </a:xfrm>
            <a:prstGeom prst="roundRect">
              <a:avLst>
                <a:gd name="adj" fmla="val 5600"/>
              </a:avLst>
            </a:prstGeom>
            <a:solidFill>
              <a:schemeClr val="accent5"/>
            </a:solidFill>
            <a:ln w="14288">
              <a:solidFill>
                <a:srgbClr val="1E3A52"/>
              </a:solidFill>
            </a:ln>
          </p:spPr>
        </p:sp>
        <p:sp>
          <p:nvSpPr>
            <p:cNvPr id="17" name="Rectangle 17"/>
            <p:cNvSpPr/>
            <p:nvPr/>
          </p:nvSpPr>
          <p:spPr>
            <a:xfrm>
              <a:off x="3429000" y="3429000"/>
              <a:ext cx="2647950" cy="57150"/>
            </a:xfrm>
            <a:prstGeom prst="roundRect">
              <a:avLst>
                <a:gd name="adj" fmla="val 50000"/>
              </a:avLst>
            </a:prstGeom>
            <a:solidFill>
              <a:srgbClr val="35D0BA"/>
            </a:solidFill>
            <a:ln w="0">
              <a:solidFill>
                <a:srgbClr val="35D0BA"/>
              </a:solidFill>
            </a:ln>
          </p:spPr>
        </p:sp>
        <p:sp>
          <p:nvSpPr>
            <p:cNvPr id="18" name="TextBox 18"/>
            <p:cNvSpPr txBox="1"/>
            <p:nvPr/>
          </p:nvSpPr>
          <p:spPr>
            <a:xfrm>
              <a:off x="3614166" y="3734752"/>
              <a:ext cx="895792" cy="205359"/>
            </a:xfrm>
            <a:prstGeom prst="rect">
              <a:avLst/>
            </a:prstGeom>
            <a:noFill/>
            <a:ln>
              <a:noFill/>
            </a:ln>
          </p:spPr>
          <p:txBody>
            <a:bodyPr wrap="none" lIns="0" tIns="0" rIns="0" bIns="0" anchor="t" anchorCtr="0">
              <a:spAutoFit/>
            </a:bodyPr>
            <a:lstStyle/>
            <a:p>
              <a:pPr algn="l"/>
              <a:r>
                <a:rPr lang="en-US" sz="1050" b="1" spc="75" dirty="0">
                  <a:solidFill>
                    <a:srgbClr val="35D0BA"/>
                  </a:solidFill>
                  <a:latin typeface="+mn-lt"/>
                  <a:ea typeface="+mn-ea"/>
                  <a:cs typeface="+mn-cs"/>
                </a:rPr>
                <a:t>TWO TESTS</a:t>
              </a:r>
            </a:p>
          </p:txBody>
        </p:sp>
        <p:sp>
          <p:nvSpPr>
            <p:cNvPr id="19" name="TextBox 19"/>
            <p:cNvSpPr txBox="1"/>
            <p:nvPr/>
          </p:nvSpPr>
          <p:spPr>
            <a:xfrm>
              <a:off x="3613404" y="4023360"/>
              <a:ext cx="239273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Graph moments (raw subgraph</a:t>
              </a:r>
            </a:p>
          </p:txBody>
        </p:sp>
        <p:sp>
          <p:nvSpPr>
            <p:cNvPr id="20" name="TextBox 20"/>
            <p:cNvSpPr txBox="1"/>
            <p:nvPr/>
          </p:nvSpPr>
          <p:spPr>
            <a:xfrm>
              <a:off x="3613404" y="4251960"/>
              <a:ext cx="1894180"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densities) versus graph</a:t>
              </a:r>
            </a:p>
          </p:txBody>
        </p:sp>
        <p:sp>
          <p:nvSpPr>
            <p:cNvPr id="21" name="TextBox 21"/>
            <p:cNvSpPr txBox="1"/>
            <p:nvPr/>
          </p:nvSpPr>
          <p:spPr>
            <a:xfrm>
              <a:off x="3613404" y="4480560"/>
              <a:ext cx="195879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cumulants — the network</a:t>
              </a:r>
            </a:p>
          </p:txBody>
        </p:sp>
        <p:sp>
          <p:nvSpPr>
            <p:cNvPr id="22" name="TextBox 22"/>
            <p:cNvSpPr txBox="1"/>
            <p:nvPr/>
          </p:nvSpPr>
          <p:spPr>
            <a:xfrm>
              <a:off x="3613404" y="4709160"/>
              <a:ext cx="224149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analogue of mean, variance,</a:t>
              </a:r>
            </a:p>
          </p:txBody>
        </p:sp>
        <p:sp>
          <p:nvSpPr>
            <p:cNvPr id="23" name="TextBox 23"/>
            <p:cNvSpPr txBox="1"/>
            <p:nvPr/>
          </p:nvSpPr>
          <p:spPr>
            <a:xfrm>
              <a:off x="3613404" y="4937760"/>
              <a:ext cx="80375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and skew.</a:t>
              </a:r>
            </a:p>
          </p:txBody>
        </p:sp>
      </p:grpSp>
      <p:grpSp>
        <p:nvGrpSpPr>
          <p:cNvPr id="33" name="Group 33"/>
          <p:cNvGrpSpPr/>
          <p:nvPr/>
        </p:nvGrpSpPr>
        <p:grpSpPr>
          <a:xfrm>
            <a:off x="6248400" y="3429000"/>
            <a:ext cx="2647950" cy="2381250"/>
            <a:chOff x="6248400" y="3429000"/>
            <a:chExt cx="2647950" cy="2381250"/>
          </a:xfrm>
        </p:grpSpPr>
        <p:sp>
          <p:nvSpPr>
            <p:cNvPr id="25" name="Rectangle 25"/>
            <p:cNvSpPr/>
            <p:nvPr/>
          </p:nvSpPr>
          <p:spPr>
            <a:xfrm>
              <a:off x="6248400" y="3429000"/>
              <a:ext cx="2647950" cy="2381250"/>
            </a:xfrm>
            <a:prstGeom prst="roundRect">
              <a:avLst>
                <a:gd name="adj" fmla="val 5600"/>
              </a:avLst>
            </a:prstGeom>
            <a:solidFill>
              <a:schemeClr val="accent5"/>
            </a:solidFill>
            <a:ln w="14288">
              <a:solidFill>
                <a:srgbClr val="1E3A52"/>
              </a:solidFill>
            </a:ln>
          </p:spPr>
        </p:sp>
        <p:sp>
          <p:nvSpPr>
            <p:cNvPr id="26" name="Rectangle 26"/>
            <p:cNvSpPr/>
            <p:nvPr/>
          </p:nvSpPr>
          <p:spPr>
            <a:xfrm>
              <a:off x="6248400" y="3429000"/>
              <a:ext cx="2647950" cy="57150"/>
            </a:xfrm>
            <a:prstGeom prst="roundRect">
              <a:avLst>
                <a:gd name="adj" fmla="val 50000"/>
              </a:avLst>
            </a:prstGeom>
            <a:solidFill>
              <a:srgbClr val="F5B841"/>
            </a:solidFill>
            <a:ln w="0">
              <a:solidFill>
                <a:srgbClr val="F5B841"/>
              </a:solidFill>
            </a:ln>
          </p:spPr>
        </p:sp>
        <p:sp>
          <p:nvSpPr>
            <p:cNvPr id="27" name="TextBox 27"/>
            <p:cNvSpPr txBox="1"/>
            <p:nvPr/>
          </p:nvSpPr>
          <p:spPr>
            <a:xfrm>
              <a:off x="6433566" y="3734752"/>
              <a:ext cx="1084616" cy="205359"/>
            </a:xfrm>
            <a:prstGeom prst="rect">
              <a:avLst/>
            </a:prstGeom>
            <a:noFill/>
            <a:ln>
              <a:noFill/>
            </a:ln>
          </p:spPr>
          <p:txBody>
            <a:bodyPr wrap="none" lIns="0" tIns="0" rIns="0" bIns="0" anchor="t" anchorCtr="0">
              <a:spAutoFit/>
            </a:bodyPr>
            <a:lstStyle/>
            <a:p>
              <a:pPr algn="l"/>
              <a:r>
                <a:rPr lang="en-US" sz="1050" b="1" spc="75" dirty="0">
                  <a:solidFill>
                    <a:srgbClr val="F5B841"/>
                  </a:solidFill>
                  <a:latin typeface="+mn-lt"/>
                  <a:ea typeface="+mn-ea"/>
                  <a:cs typeface="+mn-cs"/>
                </a:rPr>
                <a:t>THE EVIDENCE</a:t>
              </a:r>
            </a:p>
          </p:txBody>
        </p:sp>
        <p:sp>
          <p:nvSpPr>
            <p:cNvPr id="28" name="TextBox 28"/>
            <p:cNvSpPr txBox="1"/>
            <p:nvPr/>
          </p:nvSpPr>
          <p:spPr>
            <a:xfrm>
              <a:off x="6432804" y="4023360"/>
              <a:ext cx="2255083"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Theory, simulation, and real</a:t>
              </a:r>
            </a:p>
          </p:txBody>
        </p:sp>
        <p:sp>
          <p:nvSpPr>
            <p:cNvPr id="29" name="TextBox 29"/>
            <p:cNvSpPr txBox="1"/>
            <p:nvPr/>
          </p:nvSpPr>
          <p:spPr>
            <a:xfrm>
              <a:off x="6432804" y="4251960"/>
              <a:ext cx="208803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gene networks: cumulants</a:t>
              </a:r>
            </a:p>
          </p:txBody>
        </p:sp>
        <p:sp>
          <p:nvSpPr>
            <p:cNvPr id="30" name="TextBox 30"/>
            <p:cNvSpPr txBox="1"/>
            <p:nvPr/>
          </p:nvSpPr>
          <p:spPr>
            <a:xfrm>
              <a:off x="6432804" y="4480560"/>
              <a:ext cx="223342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give markedly higher power,</a:t>
              </a:r>
            </a:p>
          </p:txBody>
        </p:sp>
        <p:sp>
          <p:nvSpPr>
            <p:cNvPr id="31" name="TextBox 31"/>
            <p:cNvSpPr txBox="1"/>
            <p:nvPr/>
          </p:nvSpPr>
          <p:spPr>
            <a:xfrm>
              <a:off x="6432804" y="4709160"/>
              <a:ext cx="224149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at no extra cost, even from</a:t>
              </a:r>
            </a:p>
          </p:txBody>
        </p:sp>
        <p:sp>
          <p:nvSpPr>
            <p:cNvPr id="32" name="TextBox 32"/>
            <p:cNvSpPr txBox="1"/>
            <p:nvPr/>
          </p:nvSpPr>
          <p:spPr>
            <a:xfrm>
              <a:off x="6432804" y="4937760"/>
              <a:ext cx="86029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one graph.</a:t>
              </a:r>
            </a:p>
          </p:txBody>
        </p:sp>
      </p:grpSp>
      <p:grpSp>
        <p:nvGrpSpPr>
          <p:cNvPr id="41" name="Group 41"/>
          <p:cNvGrpSpPr/>
          <p:nvPr/>
        </p:nvGrpSpPr>
        <p:grpSpPr>
          <a:xfrm>
            <a:off x="9067800" y="3429000"/>
            <a:ext cx="2647950" cy="2381250"/>
            <a:chOff x="9067800" y="3429000"/>
            <a:chExt cx="2647950" cy="2381250"/>
          </a:xfrm>
        </p:grpSpPr>
        <p:sp>
          <p:nvSpPr>
            <p:cNvPr id="34" name="Rectangle 34"/>
            <p:cNvSpPr/>
            <p:nvPr/>
          </p:nvSpPr>
          <p:spPr>
            <a:xfrm>
              <a:off x="9067800" y="3429000"/>
              <a:ext cx="2647950" cy="2381250"/>
            </a:xfrm>
            <a:prstGeom prst="roundRect">
              <a:avLst>
                <a:gd name="adj" fmla="val 5600"/>
              </a:avLst>
            </a:prstGeom>
            <a:solidFill>
              <a:schemeClr val="accent5"/>
            </a:solidFill>
            <a:ln w="14288">
              <a:solidFill>
                <a:srgbClr val="1E3A52"/>
              </a:solidFill>
            </a:ln>
          </p:spPr>
        </p:sp>
        <p:sp>
          <p:nvSpPr>
            <p:cNvPr id="35" name="Rectangle 35"/>
            <p:cNvSpPr/>
            <p:nvPr/>
          </p:nvSpPr>
          <p:spPr>
            <a:xfrm>
              <a:off x="9067800" y="3429000"/>
              <a:ext cx="2647950" cy="57150"/>
            </a:xfrm>
            <a:prstGeom prst="roundRect">
              <a:avLst>
                <a:gd name="adj" fmla="val 50000"/>
              </a:avLst>
            </a:prstGeom>
            <a:solidFill>
              <a:srgbClr val="48D597"/>
            </a:solidFill>
            <a:ln w="0">
              <a:solidFill>
                <a:srgbClr val="48D597"/>
              </a:solidFill>
            </a:ln>
          </p:spPr>
        </p:sp>
        <p:sp>
          <p:nvSpPr>
            <p:cNvPr id="36" name="TextBox 36"/>
            <p:cNvSpPr txBox="1"/>
            <p:nvPr/>
          </p:nvSpPr>
          <p:spPr>
            <a:xfrm>
              <a:off x="9252966" y="3734752"/>
              <a:ext cx="890778" cy="205359"/>
            </a:xfrm>
            <a:prstGeom prst="rect">
              <a:avLst/>
            </a:prstGeom>
            <a:noFill/>
            <a:ln>
              <a:noFill/>
            </a:ln>
          </p:spPr>
          <p:txBody>
            <a:bodyPr wrap="none" lIns="0" tIns="0" rIns="0" bIns="0" anchor="t" anchorCtr="0">
              <a:spAutoFit/>
            </a:bodyPr>
            <a:lstStyle/>
            <a:p>
              <a:pPr algn="l"/>
              <a:r>
                <a:rPr lang="en-US" sz="1050" b="1" spc="75" dirty="0">
                  <a:solidFill>
                    <a:srgbClr val="48D597"/>
                  </a:solidFill>
                  <a:latin typeface="+mn-lt"/>
                  <a:ea typeface="+mn-ea"/>
                  <a:cs typeface="+mn-cs"/>
                </a:rPr>
                <a:t>THE ADVICE</a:t>
              </a:r>
            </a:p>
          </p:txBody>
        </p:sp>
        <p:sp>
          <p:nvSpPr>
            <p:cNvPr id="37" name="TextBox 37"/>
            <p:cNvSpPr txBox="1"/>
            <p:nvPr/>
          </p:nvSpPr>
          <p:spPr>
            <a:xfrm>
              <a:off x="9252204" y="4023360"/>
              <a:ext cx="1923549"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Analyzing networks with</a:t>
              </a:r>
            </a:p>
          </p:txBody>
        </p:sp>
        <p:sp>
          <p:nvSpPr>
            <p:cNvPr id="38" name="TextBox 38"/>
            <p:cNvSpPr txBox="1"/>
            <p:nvPr/>
          </p:nvSpPr>
          <p:spPr>
            <a:xfrm>
              <a:off x="9252204" y="4251960"/>
              <a:ext cx="1980242"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motif densities? Convert</a:t>
              </a:r>
            </a:p>
          </p:txBody>
        </p:sp>
        <p:sp>
          <p:nvSpPr>
            <p:cNvPr id="39" name="TextBox 39"/>
            <p:cNvSpPr txBox="1"/>
            <p:nvPr/>
          </p:nvSpPr>
          <p:spPr>
            <a:xfrm>
              <a:off x="9252204" y="4480560"/>
              <a:ext cx="2104187"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them to the corresponding</a:t>
              </a:r>
            </a:p>
          </p:txBody>
        </p:sp>
        <p:sp>
          <p:nvSpPr>
            <p:cNvPr id="40" name="TextBox 40"/>
            <p:cNvSpPr txBox="1"/>
            <p:nvPr/>
          </p:nvSpPr>
          <p:spPr>
            <a:xfrm>
              <a:off x="9252204" y="4709160"/>
              <a:ext cx="2015338" cy="234696"/>
            </a:xfrm>
            <a:prstGeom prst="rect">
              <a:avLst/>
            </a:prstGeom>
            <a:noFill/>
            <a:ln>
              <a:noFill/>
            </a:ln>
          </p:spPr>
          <p:txBody>
            <a:bodyPr wrap="none" lIns="0" tIns="0" rIns="0" bIns="0" anchor="t" anchorCtr="0">
              <a:spAutoFit/>
            </a:bodyPr>
            <a:lstStyle/>
            <a:p>
              <a:pPr algn="l"/>
              <a:r>
                <a:rPr lang="en-US" sz="1200" dirty="0">
                  <a:solidFill>
                    <a:schemeClr val="dk1"/>
                  </a:solidFill>
                  <a:latin typeface="+mn-lt"/>
                  <a:ea typeface="+mn-ea"/>
                  <a:cs typeface="+mn-cs"/>
                </a:rPr>
                <a:t>graph cumulants instead.</a:t>
              </a:r>
            </a:p>
          </p:txBody>
        </p:sp>
      </p:grpSp>
      <p:sp>
        <p:nvSpPr>
          <p:cNvPr id="42" name="TextBox 42"/>
          <p:cNvSpPr txBox="1"/>
          <p:nvPr/>
        </p:nvSpPr>
        <p:spPr>
          <a:xfrm>
            <a:off x="794004" y="6042660"/>
            <a:ext cx="576096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arxiv.org/abs/2107.11403 · Journal of Machine Learning Research, 2023</a:t>
            </a:r>
          </a:p>
        </p:txBody>
      </p:sp>
      <p:sp>
        <p:nvSpPr>
          <p:cNvPr id="43" name="cue_s01_c1_how_tell_whether_two_networks" title="cue_s01_c1_how_tell_whether_two_networks" descr="cue_s01_c1_how_tell_whether_two_networks How can we tell whether two networks were drawn from the same underlying distribution? This paper compares two statistical tests based on subgraph counts."/>
          <p:cNvSpPr/>
          <p:nvPr/>
        </p:nvSpPr>
        <p:spPr>
          <a:xfrm>
            <a:off x="609600" y="3429000"/>
            <a:ext cx="2651760"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1_c2_first_raw_subgraph_densities_graph" title="cue_s01_c2_first_raw_subgraph_densities_graph" descr="cue_s01_c2_first_raw_subgraph_densities_graph The first uses the raw subgraph densities, or graph moments; the second converts them into graph cumulants, a combinatorial analogue of mean, variance, and skew for networks."/>
          <p:cNvSpPr/>
          <p:nvPr/>
        </p:nvSpPr>
        <p:spPr>
          <a:xfrm>
            <a:off x="3428390"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3_through_theory_simulation_real_genet" title="cue_s01_c3_through_theory_simulation_real_genet" descr="cue_s01_c3_through_theory_simulation_real_genet Through theory, simulation, and real genetic-interaction networks, the authors show that graph cumulants deliver markedly higher statistical power, at no extra computational cost, and even work when only a single graph is observed per sample."/>
          <p:cNvSpPr/>
          <p:nvPr/>
        </p:nvSpPr>
        <p:spPr>
          <a:xfrm>
            <a:off x="6248399"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4_their_recommendation_simple_whenever" title="cue_s01_c4_their_recommendation_simple_whenever" descr="cue_s01_c4_their_recommendation_simple_whenever Their recommendation is simple: whenever you analyze networks with subgraph or motif densities, use the corresponding graph cumulants instead."/>
          <p:cNvSpPr/>
          <p:nvPr/>
        </p:nvSpPr>
        <p:spPr>
          <a:xfrm>
            <a:off x="9068409" y="3429000"/>
            <a:ext cx="2648102" cy="23810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85036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PROBLEM</a:t>
            </a:r>
          </a:p>
        </p:txBody>
      </p:sp>
      <p:sp>
        <p:nvSpPr>
          <p:cNvPr id="4" name="TextBox 4"/>
          <p:cNvSpPr txBox="1"/>
          <p:nvPr/>
        </p:nvSpPr>
        <p:spPr>
          <a:xfrm>
            <a:off x="807720" y="614362"/>
            <a:ext cx="675997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Two-sample testing for unlabeled networks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02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6" name="Group 26"/>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00187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Same process, or different?</a:t>
              </a:r>
            </a:p>
          </p:txBody>
        </p:sp>
        <p:sp>
          <p:nvSpPr>
            <p:cNvPr id="10" name="TextBox 10"/>
            <p:cNvSpPr txBox="1"/>
            <p:nvPr/>
          </p:nvSpPr>
          <p:spPr>
            <a:xfrm>
              <a:off x="850773" y="1767364"/>
              <a:ext cx="4912554"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You are handed two collections of networks, each sampled</a:t>
              </a:r>
            </a:p>
          </p:txBody>
        </p:sp>
        <p:sp>
          <p:nvSpPr>
            <p:cNvPr id="11" name="TextBox 11"/>
            <p:cNvSpPr txBox="1"/>
            <p:nvPr/>
          </p:nvSpPr>
          <p:spPr>
            <a:xfrm>
              <a:off x="850773" y="2005489"/>
              <a:ext cx="484367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from some unknown distribution. Were they generated by</a:t>
              </a:r>
            </a:p>
          </p:txBody>
        </p:sp>
        <p:sp>
          <p:nvSpPr>
            <p:cNvPr id="12" name="TextBox 12"/>
            <p:cNvSpPr txBox="1"/>
            <p:nvPr/>
          </p:nvSpPr>
          <p:spPr>
            <a:xfrm>
              <a:off x="850773" y="2243614"/>
              <a:ext cx="334722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the same process or by different ones?</a:t>
              </a:r>
            </a:p>
          </p:txBody>
        </p:sp>
        <p:sp>
          <p:nvSpPr>
            <p:cNvPr id="13" name="Line 13"/>
            <p:cNvSpPr/>
            <p:nvPr/>
          </p:nvSpPr>
          <p:spPr>
            <a:xfrm>
              <a:off x="1581150" y="2952750"/>
              <a:ext cx="171450" cy="304800"/>
            </a:xfrm>
            <a:custGeom>
              <a:avLst/>
              <a:gdLst/>
              <a:ahLst/>
              <a:cxnLst/>
              <a:rect l="l" t="t" r="r" b="b"/>
              <a:pathLst>
                <a:path w="171450" h="304800">
                  <a:moveTo>
                    <a:pt x="171450" y="0"/>
                  </a:moveTo>
                  <a:lnTo>
                    <a:pt x="0" y="304800"/>
                  </a:lnTo>
                </a:path>
              </a:pathLst>
            </a:custGeom>
            <a:noFill/>
            <a:ln w="28575">
              <a:solidFill>
                <a:srgbClr val="4C8DFF"/>
              </a:solidFill>
            </a:ln>
          </p:spPr>
        </p:sp>
        <p:sp>
          <p:nvSpPr>
            <p:cNvPr id="14" name="Line 14"/>
            <p:cNvSpPr/>
            <p:nvPr/>
          </p:nvSpPr>
          <p:spPr>
            <a:xfrm>
              <a:off x="1581150" y="3257550"/>
              <a:ext cx="342900" cy="9525"/>
            </a:xfrm>
            <a:custGeom>
              <a:avLst/>
              <a:gdLst/>
              <a:ahLst/>
              <a:cxnLst/>
              <a:rect l="l" t="t" r="r" b="b"/>
              <a:pathLst>
                <a:path w="342900" h="9525">
                  <a:moveTo>
                    <a:pt x="0" y="0"/>
                  </a:moveTo>
                  <a:lnTo>
                    <a:pt x="342900" y="0"/>
                  </a:lnTo>
                </a:path>
              </a:pathLst>
            </a:custGeom>
            <a:noFill/>
            <a:ln w="28575">
              <a:solidFill>
                <a:srgbClr val="4C8DFF"/>
              </a:solidFill>
            </a:ln>
          </p:spPr>
        </p:sp>
        <p:sp>
          <p:nvSpPr>
            <p:cNvPr id="15" name="Line 15"/>
            <p:cNvSpPr/>
            <p:nvPr/>
          </p:nvSpPr>
          <p:spPr>
            <a:xfrm>
              <a:off x="1752600" y="2952750"/>
              <a:ext cx="171450" cy="304800"/>
            </a:xfrm>
            <a:custGeom>
              <a:avLst/>
              <a:gdLst/>
              <a:ahLst/>
              <a:cxnLst/>
              <a:rect l="l" t="t" r="r" b="b"/>
              <a:pathLst>
                <a:path w="171450" h="304800">
                  <a:moveTo>
                    <a:pt x="171450" y="304800"/>
                  </a:moveTo>
                  <a:lnTo>
                    <a:pt x="0" y="0"/>
                  </a:lnTo>
                </a:path>
              </a:pathLst>
            </a:custGeom>
            <a:noFill/>
            <a:ln w="28575">
              <a:solidFill>
                <a:srgbClr val="4C8DFF"/>
              </a:solidFill>
            </a:ln>
          </p:spPr>
        </p:sp>
        <p:sp>
          <p:nvSpPr>
            <p:cNvPr id="16" name="Ellipse 16"/>
            <p:cNvSpPr/>
            <p:nvPr/>
          </p:nvSpPr>
          <p:spPr>
            <a:xfrm>
              <a:off x="1685925" y="2886075"/>
              <a:ext cx="133350" cy="133350"/>
            </a:xfrm>
            <a:prstGeom prst="ellipse">
              <a:avLst/>
            </a:prstGeom>
            <a:solidFill>
              <a:srgbClr val="35D0BA"/>
            </a:solidFill>
            <a:ln w="19050">
              <a:solidFill>
                <a:srgbClr val="0B1B2B"/>
              </a:solidFill>
            </a:ln>
          </p:spPr>
        </p:sp>
        <p:sp>
          <p:nvSpPr>
            <p:cNvPr id="17" name="Ellipse 17"/>
            <p:cNvSpPr/>
            <p:nvPr/>
          </p:nvSpPr>
          <p:spPr>
            <a:xfrm>
              <a:off x="1514475" y="3190875"/>
              <a:ext cx="133350" cy="133350"/>
            </a:xfrm>
            <a:prstGeom prst="ellipse">
              <a:avLst/>
            </a:prstGeom>
            <a:solidFill>
              <a:srgbClr val="35D0BA"/>
            </a:solidFill>
            <a:ln w="19050">
              <a:solidFill>
                <a:srgbClr val="0B1B2B"/>
              </a:solidFill>
            </a:ln>
          </p:spPr>
        </p:sp>
        <p:sp>
          <p:nvSpPr>
            <p:cNvPr id="18" name="Ellipse 18"/>
            <p:cNvSpPr/>
            <p:nvPr/>
          </p:nvSpPr>
          <p:spPr>
            <a:xfrm>
              <a:off x="1857375" y="3190875"/>
              <a:ext cx="133350" cy="133350"/>
            </a:xfrm>
            <a:prstGeom prst="ellipse">
              <a:avLst/>
            </a:prstGeom>
            <a:solidFill>
              <a:srgbClr val="35D0BA"/>
            </a:solidFill>
            <a:ln w="19050">
              <a:solidFill>
                <a:srgbClr val="0B1B2B"/>
              </a:solidFill>
            </a:ln>
          </p:spPr>
        </p:sp>
        <p:sp>
          <p:nvSpPr>
            <p:cNvPr id="19" name="Line 19"/>
            <p:cNvSpPr/>
            <p:nvPr/>
          </p:nvSpPr>
          <p:spPr>
            <a:xfrm>
              <a:off x="4248150" y="2952750"/>
              <a:ext cx="171450" cy="304800"/>
            </a:xfrm>
            <a:custGeom>
              <a:avLst/>
              <a:gdLst/>
              <a:ahLst/>
              <a:cxnLst/>
              <a:rect l="l" t="t" r="r" b="b"/>
              <a:pathLst>
                <a:path w="171450" h="304800">
                  <a:moveTo>
                    <a:pt x="171450" y="0"/>
                  </a:moveTo>
                  <a:lnTo>
                    <a:pt x="0" y="304800"/>
                  </a:lnTo>
                </a:path>
              </a:pathLst>
            </a:custGeom>
            <a:noFill/>
            <a:ln w="28575">
              <a:solidFill>
                <a:srgbClr val="F5B841"/>
              </a:solidFill>
            </a:ln>
          </p:spPr>
        </p:sp>
        <p:sp>
          <p:nvSpPr>
            <p:cNvPr id="20" name="Line 20"/>
            <p:cNvSpPr/>
            <p:nvPr/>
          </p:nvSpPr>
          <p:spPr>
            <a:xfrm>
              <a:off x="4248150" y="3257550"/>
              <a:ext cx="342900" cy="9525"/>
            </a:xfrm>
            <a:custGeom>
              <a:avLst/>
              <a:gdLst/>
              <a:ahLst/>
              <a:cxnLst/>
              <a:rect l="l" t="t" r="r" b="b"/>
              <a:pathLst>
                <a:path w="342900" h="9525">
                  <a:moveTo>
                    <a:pt x="0" y="0"/>
                  </a:moveTo>
                  <a:lnTo>
                    <a:pt x="342900" y="0"/>
                  </a:lnTo>
                </a:path>
              </a:pathLst>
            </a:custGeom>
            <a:noFill/>
            <a:ln w="28575">
              <a:solidFill>
                <a:srgbClr val="F5B841"/>
              </a:solidFill>
            </a:ln>
          </p:spPr>
        </p:sp>
        <p:sp>
          <p:nvSpPr>
            <p:cNvPr id="21" name="Line 21"/>
            <p:cNvSpPr/>
            <p:nvPr/>
          </p:nvSpPr>
          <p:spPr>
            <a:xfrm>
              <a:off x="4419600" y="2952750"/>
              <a:ext cx="171450" cy="304800"/>
            </a:xfrm>
            <a:custGeom>
              <a:avLst/>
              <a:gdLst/>
              <a:ahLst/>
              <a:cxnLst/>
              <a:rect l="l" t="t" r="r" b="b"/>
              <a:pathLst>
                <a:path w="171450" h="304800">
                  <a:moveTo>
                    <a:pt x="171450" y="304800"/>
                  </a:moveTo>
                  <a:lnTo>
                    <a:pt x="0" y="0"/>
                  </a:lnTo>
                </a:path>
              </a:pathLst>
            </a:custGeom>
            <a:noFill/>
            <a:ln w="28575">
              <a:solidFill>
                <a:srgbClr val="F5B841"/>
              </a:solidFill>
            </a:ln>
          </p:spPr>
        </p:sp>
        <p:sp>
          <p:nvSpPr>
            <p:cNvPr id="22" name="Ellipse 22"/>
            <p:cNvSpPr/>
            <p:nvPr/>
          </p:nvSpPr>
          <p:spPr>
            <a:xfrm>
              <a:off x="4352925" y="2886075"/>
              <a:ext cx="133350" cy="133350"/>
            </a:xfrm>
            <a:prstGeom prst="ellipse">
              <a:avLst/>
            </a:prstGeom>
            <a:solidFill>
              <a:srgbClr val="35D0BA"/>
            </a:solidFill>
            <a:ln w="19050">
              <a:solidFill>
                <a:srgbClr val="0B1B2B"/>
              </a:solidFill>
            </a:ln>
          </p:spPr>
        </p:sp>
        <p:sp>
          <p:nvSpPr>
            <p:cNvPr id="23" name="Ellipse 23"/>
            <p:cNvSpPr/>
            <p:nvPr/>
          </p:nvSpPr>
          <p:spPr>
            <a:xfrm>
              <a:off x="4181475" y="3190875"/>
              <a:ext cx="133350" cy="133350"/>
            </a:xfrm>
            <a:prstGeom prst="ellipse">
              <a:avLst/>
            </a:prstGeom>
            <a:solidFill>
              <a:srgbClr val="35D0BA"/>
            </a:solidFill>
            <a:ln w="19050">
              <a:solidFill>
                <a:srgbClr val="0B1B2B"/>
              </a:solidFill>
            </a:ln>
          </p:spPr>
        </p:sp>
        <p:sp>
          <p:nvSpPr>
            <p:cNvPr id="24" name="Ellipse 24"/>
            <p:cNvSpPr/>
            <p:nvPr/>
          </p:nvSpPr>
          <p:spPr>
            <a:xfrm>
              <a:off x="4524375" y="3190875"/>
              <a:ext cx="133350" cy="133350"/>
            </a:xfrm>
            <a:prstGeom prst="ellipse">
              <a:avLst/>
            </a:prstGeom>
            <a:solidFill>
              <a:srgbClr val="35D0BA"/>
            </a:solidFill>
            <a:ln w="19050">
              <a:solidFill>
                <a:srgbClr val="0B1B2B"/>
              </a:solidFill>
            </a:ln>
          </p:spPr>
        </p:sp>
        <p:sp>
          <p:nvSpPr>
            <p:cNvPr id="25" name="TextBox 25"/>
            <p:cNvSpPr txBox="1"/>
            <p:nvPr/>
          </p:nvSpPr>
          <p:spPr>
            <a:xfrm>
              <a:off x="3042542" y="2957512"/>
              <a:ext cx="468116" cy="440055"/>
            </a:xfrm>
            <a:prstGeom prst="rect">
              <a:avLst/>
            </a:prstGeom>
            <a:noFill/>
            <a:ln>
              <a:noFill/>
            </a:ln>
          </p:spPr>
          <p:txBody>
            <a:bodyPr wrap="none" lIns="0" tIns="0" rIns="0" bIns="0" anchor="t" anchorCtr="0">
              <a:spAutoFit/>
            </a:bodyPr>
            <a:lstStyle/>
            <a:p>
              <a:pPr algn="ctr"/>
              <a:r>
                <a:rPr lang="en-US" sz="2250" b="1" dirty="0">
                  <a:solidFill>
                    <a:srgbClr val="F5B841"/>
                  </a:solidFill>
                  <a:latin typeface="+mn-lt"/>
                  <a:ea typeface="+mn-ea"/>
                  <a:cs typeface="+mn-cs"/>
                </a:rPr>
                <a:t>= ?</a:t>
              </a:r>
            </a:p>
          </p:txBody>
        </p:sp>
      </p:grpSp>
      <p:grpSp>
        <p:nvGrpSpPr>
          <p:cNvPr id="34" name="Group 34"/>
          <p:cNvGrpSpPr/>
          <p:nvPr/>
        </p:nvGrpSpPr>
        <p:grpSpPr>
          <a:xfrm>
            <a:off x="6248400" y="1162050"/>
            <a:ext cx="5334000" cy="2457450"/>
            <a:chOff x="6248400" y="1162050"/>
            <a:chExt cx="5334000" cy="2457450"/>
          </a:xfrm>
        </p:grpSpPr>
        <p:sp>
          <p:nvSpPr>
            <p:cNvPr id="27" name="Rectangle 27"/>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8" name="Rectangle 28"/>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29" name="TextBox 29"/>
            <p:cNvSpPr txBox="1"/>
            <p:nvPr/>
          </p:nvSpPr>
          <p:spPr>
            <a:xfrm>
              <a:off x="6488430" y="1400175"/>
              <a:ext cx="296935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Nodes carry no shared labels</a:t>
              </a:r>
            </a:p>
          </p:txBody>
        </p:sp>
        <p:sp>
          <p:nvSpPr>
            <p:cNvPr id="30" name="TextBox 30"/>
            <p:cNvSpPr txBox="1"/>
            <p:nvPr/>
          </p:nvSpPr>
          <p:spPr>
            <a:xfrm>
              <a:off x="6489573" y="1767364"/>
              <a:ext cx="473785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You cannot match nodes one to one across networks. All</a:t>
              </a:r>
            </a:p>
          </p:txBody>
        </p:sp>
        <p:sp>
          <p:nvSpPr>
            <p:cNvPr id="31" name="TextBox 31"/>
            <p:cNvSpPr txBox="1"/>
            <p:nvPr/>
          </p:nvSpPr>
          <p:spPr>
            <a:xfrm>
              <a:off x="6489573" y="2005489"/>
              <a:ext cx="389862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you can use are the statistics of their edges.</a:t>
              </a:r>
            </a:p>
          </p:txBody>
        </p:sp>
        <p:sp>
          <p:nvSpPr>
            <p:cNvPr id="32" name="Rectangle 32"/>
            <p:cNvSpPr/>
            <p:nvPr/>
          </p:nvSpPr>
          <p:spPr>
            <a:xfrm>
              <a:off x="6496050" y="2838450"/>
              <a:ext cx="4838700" cy="495300"/>
            </a:xfrm>
            <a:prstGeom prst="roundRect">
              <a:avLst>
                <a:gd name="adj" fmla="val 26923"/>
              </a:avLst>
            </a:prstGeom>
            <a:solidFill>
              <a:schemeClr val="accent6"/>
            </a:solidFill>
            <a:ln w="14288">
              <a:solidFill>
                <a:srgbClr val="1E3A52"/>
              </a:solidFill>
            </a:ln>
          </p:spPr>
        </p:sp>
        <p:sp>
          <p:nvSpPr>
            <p:cNvPr id="33" name="TextBox 33"/>
            <p:cNvSpPr txBox="1"/>
            <p:nvPr/>
          </p:nvSpPr>
          <p:spPr>
            <a:xfrm>
              <a:off x="6641973" y="3005614"/>
              <a:ext cx="3486796" cy="249364"/>
            </a:xfrm>
            <a:prstGeom prst="rect">
              <a:avLst/>
            </a:prstGeom>
            <a:noFill/>
            <a:ln>
              <a:noFill/>
            </a:ln>
          </p:spPr>
          <p:txBody>
            <a:bodyPr wrap="none" lIns="0" tIns="0" rIns="0" bIns="0" anchor="t" anchorCtr="0">
              <a:spAutoFit/>
            </a:bodyPr>
            <a:lstStyle/>
            <a:p>
              <a:pPr algn="l"/>
              <a:r>
                <a:rPr lang="en-US" sz="1280" b="1" dirty="0">
                  <a:solidFill>
                    <a:srgbClr val="35D0BA"/>
                  </a:solidFill>
                  <a:latin typeface="Consolas"/>
                  <a:ea typeface="Consolas"/>
                  <a:cs typeface="Consolas"/>
                </a:rPr>
                <a:t>signal = subgraph-count statistics only</a:t>
              </a:r>
            </a:p>
          </p:txBody>
        </p:sp>
      </p:grpSp>
      <p:grpSp>
        <p:nvGrpSpPr>
          <p:cNvPr id="44" name="Group 44"/>
          <p:cNvGrpSpPr/>
          <p:nvPr/>
        </p:nvGrpSpPr>
        <p:grpSpPr>
          <a:xfrm>
            <a:off x="609600" y="3810000"/>
            <a:ext cx="10972800" cy="2457450"/>
            <a:chOff x="609600" y="3810000"/>
            <a:chExt cx="10972800" cy="2457450"/>
          </a:xfrm>
        </p:grpSpPr>
        <p:sp>
          <p:nvSpPr>
            <p:cNvPr id="35" name="Rectangle 35"/>
            <p:cNvSpPr/>
            <p:nvPr/>
          </p:nvSpPr>
          <p:spPr>
            <a:xfrm>
              <a:off x="609600" y="3810000"/>
              <a:ext cx="10972800" cy="2457450"/>
            </a:xfrm>
            <a:prstGeom prst="roundRect">
              <a:avLst>
                <a:gd name="adj" fmla="val 5426"/>
              </a:avLst>
            </a:prstGeom>
            <a:solidFill>
              <a:schemeClr val="accent5"/>
            </a:solidFill>
            <a:ln w="14288">
              <a:solidFill>
                <a:srgbClr val="1E3A52"/>
              </a:solidFill>
            </a:ln>
          </p:spPr>
        </p:sp>
        <p:sp>
          <p:nvSpPr>
            <p:cNvPr id="36" name="Rectangle 36"/>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37" name="TextBox 37"/>
            <p:cNvSpPr txBox="1"/>
            <p:nvPr/>
          </p:nvSpPr>
          <p:spPr>
            <a:xfrm>
              <a:off x="868299" y="4059079"/>
              <a:ext cx="503753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two-sample testing problem for networks</a:t>
              </a:r>
            </a:p>
          </p:txBody>
        </p:sp>
        <p:sp>
          <p:nvSpPr>
            <p:cNvPr id="38" name="TextBox 38"/>
            <p:cNvSpPr txBox="1"/>
            <p:nvPr/>
          </p:nvSpPr>
          <p:spPr>
            <a:xfrm>
              <a:off x="869442" y="4464368"/>
              <a:ext cx="1014237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This deceptively simple question underlies many tasks: deciding whether two distributions of graphs differ, using</a:t>
              </a:r>
            </a:p>
          </p:txBody>
        </p:sp>
        <p:sp>
          <p:nvSpPr>
            <p:cNvPr id="39" name="TextBox 39"/>
            <p:cNvSpPr txBox="1"/>
            <p:nvPr/>
          </p:nvSpPr>
          <p:spPr>
            <a:xfrm>
              <a:off x="869442" y="4712018"/>
              <a:ext cx="370297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only their exchangeable, unlabeled edges.</a:t>
              </a:r>
            </a:p>
          </p:txBody>
        </p:sp>
        <p:sp>
          <p:nvSpPr>
            <p:cNvPr id="40" name="Rectangle 40"/>
            <p:cNvSpPr/>
            <p:nvPr/>
          </p:nvSpPr>
          <p:spPr>
            <a:xfrm>
              <a:off x="876300" y="5619750"/>
              <a:ext cx="2857500" cy="247650"/>
            </a:xfrm>
            <a:prstGeom prst="roundRect">
              <a:avLst>
                <a:gd name="adj" fmla="val 50000"/>
              </a:avLst>
            </a:prstGeom>
            <a:solidFill>
              <a:srgbClr val="4C8DFF"/>
            </a:solidFill>
            <a:ln w="0">
              <a:solidFill>
                <a:srgbClr val="4C8DFF"/>
              </a:solidFill>
            </a:ln>
          </p:spPr>
        </p:sp>
        <p:sp>
          <p:nvSpPr>
            <p:cNvPr id="41" name="TextBox 41"/>
            <p:cNvSpPr txBox="1"/>
            <p:nvPr/>
          </p:nvSpPr>
          <p:spPr>
            <a:xfrm>
              <a:off x="1242234" y="5677852"/>
              <a:ext cx="2125632"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comparing brain connectomes</a:t>
              </a:r>
            </a:p>
          </p:txBody>
        </p:sp>
        <p:sp>
          <p:nvSpPr>
            <p:cNvPr id="42" name="Rectangle 42"/>
            <p:cNvSpPr/>
            <p:nvPr/>
          </p:nvSpPr>
          <p:spPr>
            <a:xfrm>
              <a:off x="3886200" y="5619750"/>
              <a:ext cx="3619500" cy="247650"/>
            </a:xfrm>
            <a:prstGeom prst="roundRect">
              <a:avLst>
                <a:gd name="adj" fmla="val 50000"/>
              </a:avLst>
            </a:prstGeom>
            <a:solidFill>
              <a:srgbClr val="35D0BA"/>
            </a:solidFill>
            <a:ln w="0">
              <a:solidFill>
                <a:srgbClr val="35D0BA"/>
              </a:solidFill>
            </a:ln>
          </p:spPr>
        </p:sp>
        <p:sp>
          <p:nvSpPr>
            <p:cNvPr id="43" name="TextBox 43"/>
            <p:cNvSpPr txBox="1"/>
            <p:nvPr/>
          </p:nvSpPr>
          <p:spPr>
            <a:xfrm>
              <a:off x="4039460" y="5677852"/>
              <a:ext cx="3312981"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distinguishing biological interaction networks</a:t>
              </a:r>
            </a:p>
          </p:txBody>
        </p:sp>
      </p:grpSp>
      <p:sp>
        <p:nvSpPr>
          <p:cNvPr id="45" name="cue_s02_c1_suppose_you_handed_two_collections" title="cue_s02_c1_suppose_you_handed_two_collections" descr="cue_s02_c1_suppose_you_handed_two_collections Suppose you are handed two collections of networks, each sampled from some unknown distribution, and asked a deceptively simple question: were they generated by the same process or by different one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2_nodes_carry_shared_labels_you" title="cue_s02_c2_nodes_carry_shared_labels_you" descr="cue_s02_c2_nodes_carry_shared_labels_you The nodes carry no shared labels, so you cannot match them one to one; all you can use are the statistics of their edge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3_two_sample_testing_problem_networks" title="cue_s02_c3_two_sample_testing_problem_networks" descr="cue_s02_c3_two_sample_testing_problem_networks This is the two-sample testing problem for networks, and it underlies tasks from comparing brain connectomes to distinguishing biological interaction networks."/>
          <p:cNvSpPr/>
          <p:nvPr/>
        </p:nvSpPr>
        <p:spPr>
          <a:xfrm>
            <a:off x="609600" y="3810304"/>
            <a:ext cx="109728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140190"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MOTIVATION</a:t>
            </a:r>
          </a:p>
        </p:txBody>
      </p:sp>
      <p:sp>
        <p:nvSpPr>
          <p:cNvPr id="4" name="TextBox 4"/>
          <p:cNvSpPr txBox="1"/>
          <p:nvPr/>
        </p:nvSpPr>
        <p:spPr>
          <a:xfrm>
            <a:off x="807720" y="614362"/>
            <a:ext cx="529669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Raw motif densities are entangled</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03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0" name="Group 20"/>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30880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Networks summarized by motifs</a:t>
              </a:r>
            </a:p>
          </p:txBody>
        </p:sp>
        <p:sp>
          <p:nvSpPr>
            <p:cNvPr id="10" name="TextBox 10"/>
            <p:cNvSpPr txBox="1"/>
            <p:nvPr/>
          </p:nvSpPr>
          <p:spPr>
            <a:xfrm>
              <a:off x="850773" y="1786414"/>
              <a:ext cx="460201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Analysts routinely characterize a network by counting</a:t>
              </a:r>
            </a:p>
          </p:txBody>
        </p:sp>
        <p:sp>
          <p:nvSpPr>
            <p:cNvPr id="11" name="TextBox 11"/>
            <p:cNvSpPr txBox="1"/>
            <p:nvPr/>
          </p:nvSpPr>
          <p:spPr>
            <a:xfrm>
              <a:off x="850773" y="2024539"/>
              <a:ext cx="4536186"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small substructures — subgraphs, or motifs — such as</a:t>
              </a:r>
            </a:p>
          </p:txBody>
        </p:sp>
        <p:sp>
          <p:nvSpPr>
            <p:cNvPr id="12" name="TextBox 12"/>
            <p:cNvSpPr txBox="1"/>
            <p:nvPr/>
          </p:nvSpPr>
          <p:spPr>
            <a:xfrm>
              <a:off x="850773" y="2262664"/>
              <a:ext cx="2580427"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edges, wedges, and triangles.</a:t>
              </a:r>
            </a:p>
          </p:txBody>
        </p:sp>
        <p:sp>
          <p:nvSpPr>
            <p:cNvPr id="13" name="Line 13"/>
            <p:cNvSpPr/>
            <p:nvPr/>
          </p:nvSpPr>
          <p:spPr>
            <a:xfrm>
              <a:off x="1615440" y="3048000"/>
              <a:ext cx="137160" cy="243840"/>
            </a:xfrm>
            <a:custGeom>
              <a:avLst/>
              <a:gdLst/>
              <a:ahLst/>
              <a:cxnLst/>
              <a:rect l="l" t="t" r="r" b="b"/>
              <a:pathLst>
                <a:path w="137160" h="243840">
                  <a:moveTo>
                    <a:pt x="137160" y="0"/>
                  </a:moveTo>
                  <a:lnTo>
                    <a:pt x="0" y="243840"/>
                  </a:lnTo>
                </a:path>
              </a:pathLst>
            </a:custGeom>
            <a:noFill/>
            <a:ln w="28575">
              <a:solidFill>
                <a:srgbClr val="35D0BA"/>
              </a:solidFill>
            </a:ln>
          </p:spPr>
        </p:sp>
        <p:sp>
          <p:nvSpPr>
            <p:cNvPr id="14" name="Line 14"/>
            <p:cNvSpPr/>
            <p:nvPr/>
          </p:nvSpPr>
          <p:spPr>
            <a:xfrm>
              <a:off x="1615440" y="3291840"/>
              <a:ext cx="274320" cy="9525"/>
            </a:xfrm>
            <a:custGeom>
              <a:avLst/>
              <a:gdLst/>
              <a:ahLst/>
              <a:cxnLst/>
              <a:rect l="l" t="t" r="r" b="b"/>
              <a:pathLst>
                <a:path w="274320" h="9525">
                  <a:moveTo>
                    <a:pt x="0" y="0"/>
                  </a:moveTo>
                  <a:lnTo>
                    <a:pt x="274320" y="0"/>
                  </a:lnTo>
                </a:path>
              </a:pathLst>
            </a:custGeom>
            <a:noFill/>
            <a:ln w="28575">
              <a:solidFill>
                <a:srgbClr val="35D0BA"/>
              </a:solidFill>
            </a:ln>
          </p:spPr>
        </p:sp>
        <p:sp>
          <p:nvSpPr>
            <p:cNvPr id="15" name="Line 15"/>
            <p:cNvSpPr/>
            <p:nvPr/>
          </p:nvSpPr>
          <p:spPr>
            <a:xfrm>
              <a:off x="1752600" y="3048000"/>
              <a:ext cx="137160" cy="243840"/>
            </a:xfrm>
            <a:custGeom>
              <a:avLst/>
              <a:gdLst/>
              <a:ahLst/>
              <a:cxnLst/>
              <a:rect l="l" t="t" r="r" b="b"/>
              <a:pathLst>
                <a:path w="137160" h="243840">
                  <a:moveTo>
                    <a:pt x="137160" y="243840"/>
                  </a:moveTo>
                  <a:lnTo>
                    <a:pt x="0" y="0"/>
                  </a:lnTo>
                </a:path>
              </a:pathLst>
            </a:custGeom>
            <a:noFill/>
            <a:ln w="28575">
              <a:solidFill>
                <a:srgbClr val="35D0BA"/>
              </a:solidFill>
            </a:ln>
          </p:spPr>
        </p:sp>
        <p:sp>
          <p:nvSpPr>
            <p:cNvPr id="16" name="Ellipse 16"/>
            <p:cNvSpPr/>
            <p:nvPr/>
          </p:nvSpPr>
          <p:spPr>
            <a:xfrm>
              <a:off x="1685925" y="2981325"/>
              <a:ext cx="133350" cy="133350"/>
            </a:xfrm>
            <a:prstGeom prst="ellipse">
              <a:avLst/>
            </a:prstGeom>
            <a:solidFill>
              <a:srgbClr val="4C8DFF"/>
            </a:solidFill>
            <a:ln w="19050">
              <a:solidFill>
                <a:srgbClr val="0B1B2B"/>
              </a:solidFill>
            </a:ln>
          </p:spPr>
        </p:sp>
        <p:sp>
          <p:nvSpPr>
            <p:cNvPr id="17" name="Ellipse 17"/>
            <p:cNvSpPr/>
            <p:nvPr/>
          </p:nvSpPr>
          <p:spPr>
            <a:xfrm>
              <a:off x="1548765" y="3225165"/>
              <a:ext cx="133350" cy="133350"/>
            </a:xfrm>
            <a:prstGeom prst="ellipse">
              <a:avLst/>
            </a:prstGeom>
            <a:solidFill>
              <a:srgbClr val="4C8DFF"/>
            </a:solidFill>
            <a:ln w="19050">
              <a:solidFill>
                <a:srgbClr val="0B1B2B"/>
              </a:solidFill>
            </a:ln>
          </p:spPr>
        </p:sp>
        <p:sp>
          <p:nvSpPr>
            <p:cNvPr id="18" name="Ellipse 18"/>
            <p:cNvSpPr/>
            <p:nvPr/>
          </p:nvSpPr>
          <p:spPr>
            <a:xfrm>
              <a:off x="1823085" y="3225165"/>
              <a:ext cx="133350" cy="133350"/>
            </a:xfrm>
            <a:prstGeom prst="ellipse">
              <a:avLst/>
            </a:prstGeom>
            <a:solidFill>
              <a:srgbClr val="4C8DFF"/>
            </a:solidFill>
            <a:ln w="19050">
              <a:solidFill>
                <a:srgbClr val="0B1B2B"/>
              </a:solidFill>
            </a:ln>
          </p:spPr>
        </p:sp>
        <p:sp>
          <p:nvSpPr>
            <p:cNvPr id="19" name="TextBox 19"/>
            <p:cNvSpPr txBox="1"/>
            <p:nvPr/>
          </p:nvSpPr>
          <p:spPr>
            <a:xfrm>
              <a:off x="2509266" y="3144202"/>
              <a:ext cx="1374705"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edge wedge triangle</a:t>
              </a:r>
            </a:p>
          </p:txBody>
        </p:sp>
      </p:grpSp>
      <p:grpSp>
        <p:nvGrpSpPr>
          <p:cNvPr id="31" name="Group 31"/>
          <p:cNvGrpSpPr/>
          <p:nvPr/>
        </p:nvGrpSpPr>
        <p:grpSpPr>
          <a:xfrm>
            <a:off x="6248400" y="1162050"/>
            <a:ext cx="5334000" cy="2457450"/>
            <a:chOff x="6248400" y="1162050"/>
            <a:chExt cx="5334000" cy="2457450"/>
          </a:xfrm>
        </p:grpSpPr>
        <p:sp>
          <p:nvSpPr>
            <p:cNvPr id="21" name="Rectangle 21"/>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2" name="Rectangle 22"/>
            <p:cNvSpPr/>
            <p:nvPr/>
          </p:nvSpPr>
          <p:spPr>
            <a:xfrm>
              <a:off x="6248400" y="1162050"/>
              <a:ext cx="57150" cy="2457450"/>
            </a:xfrm>
            <a:prstGeom prst="roundRect">
              <a:avLst>
                <a:gd name="adj" fmla="val 50000"/>
              </a:avLst>
            </a:prstGeom>
            <a:solidFill>
              <a:srgbClr val="FF6B6B"/>
            </a:solidFill>
            <a:ln w="0">
              <a:solidFill>
                <a:srgbClr val="FF6B6B"/>
              </a:solidFill>
            </a:ln>
          </p:spPr>
        </p:sp>
        <p:sp>
          <p:nvSpPr>
            <p:cNvPr id="23" name="TextBox 23"/>
            <p:cNvSpPr txBox="1"/>
            <p:nvPr/>
          </p:nvSpPr>
          <p:spPr>
            <a:xfrm>
              <a:off x="6488430" y="1400175"/>
              <a:ext cx="344615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But their densities are entangled</a:t>
              </a:r>
            </a:p>
          </p:txBody>
        </p:sp>
        <p:sp>
          <p:nvSpPr>
            <p:cNvPr id="24" name="TextBox 24"/>
            <p:cNvSpPr txBox="1"/>
            <p:nvPr/>
          </p:nvSpPr>
          <p:spPr>
            <a:xfrm>
              <a:off x="6489954" y="1775460"/>
              <a:ext cx="428231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The density of an edge is strongly correlated with the</a:t>
              </a:r>
            </a:p>
          </p:txBody>
        </p:sp>
        <p:sp>
          <p:nvSpPr>
            <p:cNvPr id="25" name="TextBox 25"/>
            <p:cNvSpPr txBox="1"/>
            <p:nvPr/>
          </p:nvSpPr>
          <p:spPr>
            <a:xfrm>
              <a:off x="6489954" y="2004060"/>
              <a:ext cx="3590392"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density of a wedge, and so on across orders.</a:t>
              </a:r>
            </a:p>
          </p:txBody>
        </p:sp>
        <p:sp>
          <p:nvSpPr>
            <p:cNvPr id="26" name="Rectangle 26"/>
            <p:cNvSpPr/>
            <p:nvPr/>
          </p:nvSpPr>
          <p:spPr>
            <a:xfrm>
              <a:off x="6629400" y="2762250"/>
              <a:ext cx="1428750" cy="438150"/>
            </a:xfrm>
            <a:prstGeom prst="roundRect">
              <a:avLst>
                <a:gd name="adj" fmla="val 30435"/>
              </a:avLst>
            </a:prstGeom>
            <a:solidFill>
              <a:schemeClr val="accent6"/>
            </a:solidFill>
            <a:ln w="19050">
              <a:solidFill>
                <a:srgbClr val="4C8DFF"/>
              </a:solidFill>
            </a:ln>
          </p:spPr>
        </p:sp>
        <p:sp>
          <p:nvSpPr>
            <p:cNvPr id="27" name="TextBox 27"/>
            <p:cNvSpPr txBox="1"/>
            <p:nvPr/>
          </p:nvSpPr>
          <p:spPr>
            <a:xfrm>
              <a:off x="6855205" y="2917031"/>
              <a:ext cx="977140"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edge density</a:t>
              </a:r>
            </a:p>
          </p:txBody>
        </p:sp>
        <p:sp>
          <p:nvSpPr>
            <p:cNvPr id="28" name="TextBox 28"/>
            <p:cNvSpPr txBox="1"/>
            <p:nvPr/>
          </p:nvSpPr>
          <p:spPr>
            <a:xfrm>
              <a:off x="8496320" y="2827972"/>
              <a:ext cx="171411" cy="381381"/>
            </a:xfrm>
            <a:prstGeom prst="rect">
              <a:avLst/>
            </a:prstGeom>
            <a:noFill/>
            <a:ln>
              <a:noFill/>
            </a:ln>
          </p:spPr>
          <p:txBody>
            <a:bodyPr wrap="none" lIns="0" tIns="0" rIns="0" bIns="0" anchor="t" anchorCtr="0">
              <a:spAutoFit/>
            </a:bodyPr>
            <a:lstStyle/>
            <a:p>
              <a:pPr algn="ctr"/>
              <a:r>
                <a:rPr lang="en-US" sz="1950" b="1" dirty="0">
                  <a:solidFill>
                    <a:srgbClr val="FF6B6B"/>
                  </a:solidFill>
                  <a:latin typeface="+mn-lt"/>
                  <a:ea typeface="+mn-ea"/>
                  <a:cs typeface="+mn-cs"/>
                </a:rPr>
                <a:t>≈</a:t>
              </a:r>
            </a:p>
          </p:txBody>
        </p:sp>
        <p:sp>
          <p:nvSpPr>
            <p:cNvPr id="29" name="Rectangle 29"/>
            <p:cNvSpPr/>
            <p:nvPr/>
          </p:nvSpPr>
          <p:spPr>
            <a:xfrm>
              <a:off x="9105900" y="2762250"/>
              <a:ext cx="1571625" cy="438150"/>
            </a:xfrm>
            <a:prstGeom prst="roundRect">
              <a:avLst>
                <a:gd name="adj" fmla="val 30435"/>
              </a:avLst>
            </a:prstGeom>
            <a:solidFill>
              <a:schemeClr val="accent6"/>
            </a:solidFill>
            <a:ln w="19050">
              <a:solidFill>
                <a:srgbClr val="F5B841"/>
              </a:solidFill>
            </a:ln>
          </p:spPr>
        </p:sp>
        <p:sp>
          <p:nvSpPr>
            <p:cNvPr id="30" name="TextBox 30"/>
            <p:cNvSpPr txBox="1"/>
            <p:nvPr/>
          </p:nvSpPr>
          <p:spPr>
            <a:xfrm>
              <a:off x="9339013" y="2917031"/>
              <a:ext cx="1095875"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mn-lt"/>
                  <a:ea typeface="+mn-ea"/>
                  <a:cs typeface="+mn-cs"/>
                </a:rPr>
                <a:t>wedge density</a:t>
              </a:r>
            </a:p>
          </p:txBody>
        </p:sp>
      </p:grpSp>
      <p:grpSp>
        <p:nvGrpSpPr>
          <p:cNvPr id="39" name="Group 39"/>
          <p:cNvGrpSpPr/>
          <p:nvPr/>
        </p:nvGrpSpPr>
        <p:grpSpPr>
          <a:xfrm>
            <a:off x="609600" y="3810000"/>
            <a:ext cx="5334000" cy="2457450"/>
            <a:chOff x="609600" y="3810000"/>
            <a:chExt cx="5334000" cy="2457450"/>
          </a:xfrm>
        </p:grpSpPr>
        <p:sp>
          <p:nvSpPr>
            <p:cNvPr id="32" name="Rectangle 32"/>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34" name="TextBox 34"/>
            <p:cNvSpPr txBox="1"/>
            <p:nvPr/>
          </p:nvSpPr>
          <p:spPr>
            <a:xfrm>
              <a:off x="849630" y="4048125"/>
              <a:ext cx="339380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Weak tests, costly workarounds</a:t>
              </a:r>
            </a:p>
          </p:txBody>
        </p:sp>
        <p:sp>
          <p:nvSpPr>
            <p:cNvPr id="35" name="TextBox 35"/>
            <p:cNvSpPr txBox="1"/>
            <p:nvPr/>
          </p:nvSpPr>
          <p:spPr>
            <a:xfrm>
              <a:off x="850773" y="4453414"/>
              <a:ext cx="461076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This redundancy weakens any test built directly on the</a:t>
              </a:r>
            </a:p>
          </p:txBody>
        </p:sp>
        <p:sp>
          <p:nvSpPr>
            <p:cNvPr id="36" name="TextBox 36"/>
            <p:cNvSpPr txBox="1"/>
            <p:nvPr/>
          </p:nvSpPr>
          <p:spPr>
            <a:xfrm>
              <a:off x="850773" y="4701064"/>
              <a:ext cx="4257581"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densities. Many existing methods resort to costly</a:t>
              </a:r>
            </a:p>
          </p:txBody>
        </p:sp>
        <p:sp>
          <p:nvSpPr>
            <p:cNvPr id="37" name="TextBox 37"/>
            <p:cNvSpPr txBox="1"/>
            <p:nvPr/>
          </p:nvSpPr>
          <p:spPr>
            <a:xfrm>
              <a:off x="850773" y="4948714"/>
              <a:ext cx="407093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resampling just to judge whether a difference is</a:t>
              </a:r>
            </a:p>
          </p:txBody>
        </p:sp>
        <p:sp>
          <p:nvSpPr>
            <p:cNvPr id="38" name="TextBox 38"/>
            <p:cNvSpPr txBox="1"/>
            <p:nvPr/>
          </p:nvSpPr>
          <p:spPr>
            <a:xfrm>
              <a:off x="850773" y="5196364"/>
              <a:ext cx="102098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significant.</a:t>
              </a:r>
            </a:p>
          </p:txBody>
        </p:sp>
      </p:grpSp>
      <p:grpSp>
        <p:nvGrpSpPr>
          <p:cNvPr id="48" name="Group 48"/>
          <p:cNvGrpSpPr/>
          <p:nvPr/>
        </p:nvGrpSpPr>
        <p:grpSpPr>
          <a:xfrm>
            <a:off x="6248400" y="3810000"/>
            <a:ext cx="5334000" cy="2457450"/>
            <a:chOff x="6248400" y="3810000"/>
            <a:chExt cx="5334000" cy="2457450"/>
          </a:xfrm>
        </p:grpSpPr>
        <p:sp>
          <p:nvSpPr>
            <p:cNvPr id="40" name="Rectangle 40"/>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1" name="Rectangle 41"/>
            <p:cNvSpPr/>
            <p:nvPr/>
          </p:nvSpPr>
          <p:spPr>
            <a:xfrm>
              <a:off x="6248400" y="3810000"/>
              <a:ext cx="57150" cy="2457450"/>
            </a:xfrm>
            <a:prstGeom prst="roundRect">
              <a:avLst>
                <a:gd name="adj" fmla="val 50000"/>
              </a:avLst>
            </a:prstGeom>
            <a:solidFill>
              <a:srgbClr val="4C8DFF"/>
            </a:solidFill>
            <a:ln w="0">
              <a:solidFill>
                <a:srgbClr val="4C8DFF"/>
              </a:solidFill>
            </a:ln>
          </p:spPr>
        </p:sp>
        <p:sp>
          <p:nvSpPr>
            <p:cNvPr id="42" name="TextBox 42"/>
            <p:cNvSpPr txBox="1"/>
            <p:nvPr/>
          </p:nvSpPr>
          <p:spPr>
            <a:xfrm>
              <a:off x="6488430" y="404812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question</a:t>
              </a:r>
            </a:p>
          </p:txBody>
        </p:sp>
        <p:sp>
          <p:nvSpPr>
            <p:cNvPr id="43" name="TextBox 43"/>
            <p:cNvSpPr txBox="1"/>
            <p:nvPr/>
          </p:nvSpPr>
          <p:spPr>
            <a:xfrm>
              <a:off x="6489192" y="4445318"/>
              <a:ext cx="421826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Is there a better set of coordinates — one that</a:t>
              </a:r>
            </a:p>
          </p:txBody>
        </p:sp>
        <p:sp>
          <p:nvSpPr>
            <p:cNvPr id="44" name="TextBox 44"/>
            <p:cNvSpPr txBox="1"/>
            <p:nvPr/>
          </p:nvSpPr>
          <p:spPr>
            <a:xfrm>
              <a:off x="6489192" y="4702492"/>
              <a:ext cx="47025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removes lower-order redundancy — that makes these</a:t>
              </a:r>
            </a:p>
          </p:txBody>
        </p:sp>
        <p:sp>
          <p:nvSpPr>
            <p:cNvPr id="45" name="TextBox 45"/>
            <p:cNvSpPr txBox="1"/>
            <p:nvPr/>
          </p:nvSpPr>
          <p:spPr>
            <a:xfrm>
              <a:off x="6489192" y="4959668"/>
              <a:ext cx="303055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tests both stronger and cheaper?</a:t>
              </a:r>
            </a:p>
          </p:txBody>
        </p:sp>
        <p:sp>
          <p:nvSpPr>
            <p:cNvPr id="46" name="Rectangle 46"/>
            <p:cNvSpPr/>
            <p:nvPr/>
          </p:nvSpPr>
          <p:spPr>
            <a:xfrm>
              <a:off x="6496050" y="5715000"/>
              <a:ext cx="2667000" cy="247650"/>
            </a:xfrm>
            <a:prstGeom prst="roundRect">
              <a:avLst>
                <a:gd name="adj" fmla="val 50000"/>
              </a:avLst>
            </a:prstGeom>
            <a:solidFill>
              <a:srgbClr val="35D0BA"/>
            </a:solidFill>
            <a:ln w="0">
              <a:solidFill>
                <a:srgbClr val="35D0BA"/>
              </a:solidFill>
            </a:ln>
          </p:spPr>
        </p:sp>
        <p:sp>
          <p:nvSpPr>
            <p:cNvPr id="47" name="TextBox 47"/>
            <p:cNvSpPr txBox="1"/>
            <p:nvPr/>
          </p:nvSpPr>
          <p:spPr>
            <a:xfrm>
              <a:off x="6796418" y="5773102"/>
              <a:ext cx="2066265"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stronger + cheaper, at once</a:t>
              </a:r>
            </a:p>
          </p:txBody>
        </p:sp>
      </p:grpSp>
      <p:sp>
        <p:nvSpPr>
          <p:cNvPr id="49" name="cue_s03_c1_analysts_commonly_summarize_network" title="cue_s03_c1_analysts_commonly_summarize_network" descr="cue_s03_c1_analysts_commonly_summarize_network Analysts commonly summarize a network by counting small substructures, called subgraphs or motif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3_c2_but_raw_densities_these_motifs" title="cue_s03_c2_but_raw_densities_these_motifs" descr="cue_s03_c2_but_raw_densities_these_motifs But the raw densities of these motifs are heavily entangled: the density of an edge is strongly correlated with the density of a wedge, and so on."/>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3_c3_redundancy_weakens_any_test_built" title="cue_s03_c3_redundancy_weakens_any_test_built" descr="cue_s03_c3_redundancy_weakens_any_test_built This redundancy weakens any test built directly on the densities, and many existing methods must resort to costly resampling to judge whether an observed difference is significant."/>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3_c4_authors_ask_whether_better_set" title="cue_s03_c4_authors_ask_whether_better_set" descr="cue_s03_c4_authors_ask_whether_better_set The authors ask whether a better set of coordinates, one that removes lower-order redundancy, can make these tests both stronger and cheaper."/>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333409"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CONTRIBUTION</a:t>
            </a:r>
          </a:p>
        </p:txBody>
      </p:sp>
      <p:sp>
        <p:nvSpPr>
          <p:cNvPr id="4" name="TextBox 4"/>
          <p:cNvSpPr txBox="1"/>
          <p:nvPr/>
        </p:nvSpPr>
        <p:spPr>
          <a:xfrm>
            <a:off x="807720" y="614362"/>
            <a:ext cx="451825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Swap moments for cumulants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04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Ellipse 8"/>
            <p:cNvSpPr/>
            <p:nvPr/>
          </p:nvSpPr>
          <p:spPr>
            <a:xfrm>
              <a:off x="819150" y="1390650"/>
              <a:ext cx="381000" cy="381000"/>
            </a:xfrm>
            <a:prstGeom prst="ellipse">
              <a:avLst/>
            </a:prstGeom>
            <a:solidFill>
              <a:srgbClr val="35D0BA"/>
            </a:solidFill>
            <a:ln>
              <a:noFill/>
            </a:ln>
          </p:spPr>
        </p:sp>
        <p:sp>
          <p:nvSpPr>
            <p:cNvPr id="9" name="TextBox 9"/>
            <p:cNvSpPr txBox="1"/>
            <p:nvPr/>
          </p:nvSpPr>
          <p:spPr>
            <a:xfrm>
              <a:off x="937130" y="14697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1</a:t>
              </a:r>
            </a:p>
          </p:txBody>
        </p:sp>
        <p:sp>
          <p:nvSpPr>
            <p:cNvPr id="10" name="TextBox 10"/>
            <p:cNvSpPr txBox="1"/>
            <p:nvPr/>
          </p:nvSpPr>
          <p:spPr>
            <a:xfrm>
              <a:off x="1344549" y="1477804"/>
              <a:ext cx="162106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drop-in swap</a:t>
              </a:r>
            </a:p>
          </p:txBody>
        </p:sp>
        <p:sp>
          <p:nvSpPr>
            <p:cNvPr id="11" name="Line 11"/>
            <p:cNvSpPr/>
            <p:nvPr/>
          </p:nvSpPr>
          <p:spPr>
            <a:xfrm>
              <a:off x="857250" y="17907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12" name="TextBox 12"/>
            <p:cNvSpPr txBox="1"/>
            <p:nvPr/>
          </p:nvSpPr>
          <p:spPr>
            <a:xfrm>
              <a:off x="851154" y="1965960"/>
              <a:ext cx="448438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The central contribution is a simple, drop-in two-sample</a:t>
              </a:r>
            </a:p>
          </p:txBody>
        </p:sp>
        <p:sp>
          <p:nvSpPr>
            <p:cNvPr id="13" name="TextBox 13"/>
            <p:cNvSpPr txBox="1"/>
            <p:nvPr/>
          </p:nvSpPr>
          <p:spPr>
            <a:xfrm>
              <a:off x="851154" y="2194560"/>
              <a:ext cx="443849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test for networks that swaps graph moments for graph</a:t>
              </a:r>
            </a:p>
          </p:txBody>
        </p:sp>
        <p:sp>
          <p:nvSpPr>
            <p:cNvPr id="14" name="TextBox 14"/>
            <p:cNvSpPr txBox="1"/>
            <p:nvPr/>
          </p:nvSpPr>
          <p:spPr>
            <a:xfrm>
              <a:off x="851154" y="2423160"/>
              <a:ext cx="383270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cumulants — nothing else in the pipeline changes.</a:t>
              </a:r>
            </a:p>
          </p:txBody>
        </p:sp>
      </p:grpSp>
      <p:grpSp>
        <p:nvGrpSpPr>
          <p:cNvPr id="24" name="Group 24"/>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Ellipse 17"/>
            <p:cNvSpPr/>
            <p:nvPr/>
          </p:nvSpPr>
          <p:spPr>
            <a:xfrm>
              <a:off x="6457950" y="1390650"/>
              <a:ext cx="381000" cy="381000"/>
            </a:xfrm>
            <a:prstGeom prst="ellipse">
              <a:avLst/>
            </a:prstGeom>
            <a:solidFill>
              <a:srgbClr val="4C8DFF"/>
            </a:solidFill>
            <a:ln>
              <a:noFill/>
            </a:ln>
          </p:spPr>
        </p:sp>
        <p:sp>
          <p:nvSpPr>
            <p:cNvPr id="18" name="TextBox 18"/>
            <p:cNvSpPr txBox="1"/>
            <p:nvPr/>
          </p:nvSpPr>
          <p:spPr>
            <a:xfrm>
              <a:off x="6575930" y="146970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2</a:t>
              </a:r>
            </a:p>
          </p:txBody>
        </p:sp>
        <p:sp>
          <p:nvSpPr>
            <p:cNvPr id="19" name="TextBox 19"/>
            <p:cNvSpPr txBox="1"/>
            <p:nvPr/>
          </p:nvSpPr>
          <p:spPr>
            <a:xfrm>
              <a:off x="6983349" y="1477804"/>
              <a:ext cx="257049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More power, same cost</a:t>
              </a:r>
            </a:p>
          </p:txBody>
        </p:sp>
        <p:sp>
          <p:nvSpPr>
            <p:cNvPr id="20" name="Line 20"/>
            <p:cNvSpPr/>
            <p:nvPr/>
          </p:nvSpPr>
          <p:spPr>
            <a:xfrm>
              <a:off x="6496050" y="179070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21" name="TextBox 21"/>
            <p:cNvSpPr txBox="1"/>
            <p:nvPr/>
          </p:nvSpPr>
          <p:spPr>
            <a:xfrm>
              <a:off x="6489954" y="1965960"/>
              <a:ext cx="4467870"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Across theory, controlled simulation, and real biological</a:t>
              </a:r>
            </a:p>
          </p:txBody>
        </p:sp>
        <p:sp>
          <p:nvSpPr>
            <p:cNvPr id="22" name="TextBox 22"/>
            <p:cNvSpPr txBox="1"/>
            <p:nvPr/>
          </p:nvSpPr>
          <p:spPr>
            <a:xfrm>
              <a:off x="6489954" y="2194560"/>
              <a:ext cx="439003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networks, this swap consistently increases statistical</a:t>
              </a:r>
            </a:p>
          </p:txBody>
        </p:sp>
        <p:sp>
          <p:nvSpPr>
            <p:cNvPr id="23" name="TextBox 23"/>
            <p:cNvSpPr txBox="1"/>
            <p:nvPr/>
          </p:nvSpPr>
          <p:spPr>
            <a:xfrm>
              <a:off x="6489954" y="2423160"/>
              <a:ext cx="383270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power without changing the computational cost.</a:t>
              </a:r>
            </a:p>
          </p:txBody>
        </p:sp>
      </p:grpSp>
      <p:grpSp>
        <p:nvGrpSpPr>
          <p:cNvPr id="34" name="Group 34"/>
          <p:cNvGrpSpPr/>
          <p:nvPr/>
        </p:nvGrpSpPr>
        <p:grpSpPr>
          <a:xfrm>
            <a:off x="609600" y="3810000"/>
            <a:ext cx="5334000" cy="2457450"/>
            <a:chOff x="609600" y="3810000"/>
            <a:chExt cx="5334000" cy="2457450"/>
          </a:xfrm>
        </p:grpSpPr>
        <p:sp>
          <p:nvSpPr>
            <p:cNvPr id="25" name="Rectangle 25"/>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26" name="Ellipse 26"/>
            <p:cNvSpPr/>
            <p:nvPr/>
          </p:nvSpPr>
          <p:spPr>
            <a:xfrm>
              <a:off x="819150" y="4038600"/>
              <a:ext cx="381000" cy="381000"/>
            </a:xfrm>
            <a:prstGeom prst="ellipse">
              <a:avLst/>
            </a:prstGeom>
            <a:solidFill>
              <a:srgbClr val="F5B841"/>
            </a:solidFill>
            <a:ln>
              <a:noFill/>
            </a:ln>
          </p:spPr>
        </p:sp>
        <p:sp>
          <p:nvSpPr>
            <p:cNvPr id="27" name="TextBox 27"/>
            <p:cNvSpPr txBox="1"/>
            <p:nvPr/>
          </p:nvSpPr>
          <p:spPr>
            <a:xfrm>
              <a:off x="937130" y="411765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3</a:t>
              </a:r>
            </a:p>
          </p:txBody>
        </p:sp>
        <p:sp>
          <p:nvSpPr>
            <p:cNvPr id="28" name="TextBox 28"/>
            <p:cNvSpPr txBox="1"/>
            <p:nvPr/>
          </p:nvSpPr>
          <p:spPr>
            <a:xfrm>
              <a:off x="1344549" y="4125754"/>
              <a:ext cx="270291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Analytic chi-squared null</a:t>
              </a:r>
            </a:p>
          </p:txBody>
        </p:sp>
        <p:sp>
          <p:nvSpPr>
            <p:cNvPr id="29" name="Line 29"/>
            <p:cNvSpPr/>
            <p:nvPr/>
          </p:nvSpPr>
          <p:spPr>
            <a:xfrm>
              <a:off x="857250" y="44386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30" name="TextBox 30"/>
            <p:cNvSpPr txBox="1"/>
            <p:nvPr/>
          </p:nvSpPr>
          <p:spPr>
            <a:xfrm>
              <a:off x="851154" y="4613910"/>
              <a:ext cx="443585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The cumulant test statistic tracks a known chi-squared</a:t>
              </a:r>
            </a:p>
          </p:txBody>
        </p:sp>
        <p:sp>
          <p:nvSpPr>
            <p:cNvPr id="31" name="TextBox 31"/>
            <p:cNvSpPr txBox="1"/>
            <p:nvPr/>
          </p:nvSpPr>
          <p:spPr>
            <a:xfrm>
              <a:off x="851154" y="4842510"/>
              <a:ext cx="4486961"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distribution remarkably well, even with only a handful of</a:t>
              </a:r>
            </a:p>
          </p:txBody>
        </p:sp>
        <p:sp>
          <p:nvSpPr>
            <p:cNvPr id="32" name="TextBox 32"/>
            <p:cNvSpPr txBox="1"/>
            <p:nvPr/>
          </p:nvSpPr>
          <p:spPr>
            <a:xfrm>
              <a:off x="851154" y="5071110"/>
              <a:ext cx="3921557"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graphs, so false-positive rates can be controlled</a:t>
              </a:r>
            </a:p>
          </p:txBody>
        </p:sp>
        <p:sp>
          <p:nvSpPr>
            <p:cNvPr id="33" name="TextBox 33"/>
            <p:cNvSpPr txBox="1"/>
            <p:nvPr/>
          </p:nvSpPr>
          <p:spPr>
            <a:xfrm>
              <a:off x="851154" y="5299710"/>
              <a:ext cx="100568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analytically.</a:t>
              </a:r>
            </a:p>
          </p:txBody>
        </p:sp>
      </p:grpSp>
      <p:grpSp>
        <p:nvGrpSpPr>
          <p:cNvPr id="43" name="Group 43"/>
          <p:cNvGrpSpPr/>
          <p:nvPr/>
        </p:nvGrpSpPr>
        <p:grpSpPr>
          <a:xfrm>
            <a:off x="6248400" y="3810000"/>
            <a:ext cx="5334000" cy="2457450"/>
            <a:chOff x="6248400" y="3810000"/>
            <a:chExt cx="5334000" cy="2457450"/>
          </a:xfrm>
        </p:grpSpPr>
        <p:sp>
          <p:nvSpPr>
            <p:cNvPr id="35" name="Rectangle 35"/>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36" name="Ellipse 36"/>
            <p:cNvSpPr/>
            <p:nvPr/>
          </p:nvSpPr>
          <p:spPr>
            <a:xfrm>
              <a:off x="6457950" y="4038600"/>
              <a:ext cx="381000" cy="381000"/>
            </a:xfrm>
            <a:prstGeom prst="ellipse">
              <a:avLst/>
            </a:prstGeom>
            <a:solidFill>
              <a:srgbClr val="48D597"/>
            </a:solidFill>
            <a:ln>
              <a:noFill/>
            </a:ln>
          </p:spPr>
        </p:sp>
        <p:sp>
          <p:nvSpPr>
            <p:cNvPr id="37" name="TextBox 37"/>
            <p:cNvSpPr txBox="1"/>
            <p:nvPr/>
          </p:nvSpPr>
          <p:spPr>
            <a:xfrm>
              <a:off x="6575930" y="4117658"/>
              <a:ext cx="145040" cy="322707"/>
            </a:xfrm>
            <a:prstGeom prst="rect">
              <a:avLst/>
            </a:prstGeom>
            <a:noFill/>
            <a:ln>
              <a:noFill/>
            </a:ln>
          </p:spPr>
          <p:txBody>
            <a:bodyPr wrap="none" lIns="0" tIns="0" rIns="0" bIns="0" anchor="t" anchorCtr="0">
              <a:spAutoFit/>
            </a:bodyPr>
            <a:lstStyle/>
            <a:p>
              <a:pPr algn="ctr"/>
              <a:r>
                <a:rPr lang="en-US" sz="1650" b="1" dirty="0">
                  <a:solidFill>
                    <a:srgbClr val="08131F"/>
                  </a:solidFill>
                  <a:latin typeface="+mn-lt"/>
                  <a:ea typeface="+mn-ea"/>
                  <a:cs typeface="+mn-cs"/>
                </a:rPr>
                <a:t>4</a:t>
              </a:r>
            </a:p>
          </p:txBody>
        </p:sp>
        <p:sp>
          <p:nvSpPr>
            <p:cNvPr id="38" name="TextBox 38"/>
            <p:cNvSpPr txBox="1"/>
            <p:nvPr/>
          </p:nvSpPr>
          <p:spPr>
            <a:xfrm>
              <a:off x="6983349" y="4125754"/>
              <a:ext cx="279281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Works with a single graph</a:t>
              </a:r>
            </a:p>
          </p:txBody>
        </p:sp>
        <p:sp>
          <p:nvSpPr>
            <p:cNvPr id="39" name="Line 39"/>
            <p:cNvSpPr/>
            <p:nvPr/>
          </p:nvSpPr>
          <p:spPr>
            <a:xfrm>
              <a:off x="6496050" y="4438650"/>
              <a:ext cx="4838700" cy="9525"/>
            </a:xfrm>
            <a:custGeom>
              <a:avLst/>
              <a:gdLst/>
              <a:ahLst/>
              <a:cxnLst/>
              <a:rect l="l" t="t" r="r" b="b"/>
              <a:pathLst>
                <a:path w="4838700" h="9525">
                  <a:moveTo>
                    <a:pt x="0" y="0"/>
                  </a:moveTo>
                  <a:lnTo>
                    <a:pt x="4838700" y="0"/>
                  </a:lnTo>
                </a:path>
              </a:pathLst>
            </a:custGeom>
            <a:noFill/>
            <a:ln w="9525">
              <a:solidFill>
                <a:srgbClr val="1E3A52"/>
              </a:solidFill>
            </a:ln>
          </p:spPr>
        </p:sp>
        <p:sp>
          <p:nvSpPr>
            <p:cNvPr id="40" name="TextBox 40"/>
            <p:cNvSpPr txBox="1"/>
            <p:nvPr/>
          </p:nvSpPr>
          <p:spPr>
            <a:xfrm>
              <a:off x="6489954" y="4613910"/>
              <a:ext cx="438745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Strikingly, the cumulant test even works when just one</a:t>
              </a:r>
            </a:p>
          </p:txBody>
        </p:sp>
        <p:sp>
          <p:nvSpPr>
            <p:cNvPr id="41" name="TextBox 41"/>
            <p:cNvSpPr txBox="1"/>
            <p:nvPr/>
          </p:nvSpPr>
          <p:spPr>
            <a:xfrm>
              <a:off x="6489954" y="4842510"/>
              <a:ext cx="462427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graph is observed per sample — a regime where the moment</a:t>
              </a:r>
            </a:p>
          </p:txBody>
        </p:sp>
        <p:sp>
          <p:nvSpPr>
            <p:cNvPr id="42" name="TextBox 42"/>
            <p:cNvSpPr txBox="1"/>
            <p:nvPr/>
          </p:nvSpPr>
          <p:spPr>
            <a:xfrm>
              <a:off x="6489954" y="5071110"/>
              <a:ext cx="2128418"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test is entirely undefined.</a:t>
              </a:r>
            </a:p>
          </p:txBody>
        </p:sp>
      </p:grpSp>
      <p:sp>
        <p:nvSpPr>
          <p:cNvPr id="44" name="cue_s04_c1_central_contribution_simple_drop_in" title="cue_s04_c1_central_contribution_simple_drop_in" descr="cue_s04_c1_central_contribution_simple_drop_in The paper's central contribution is a simple, drop-in two-sample test for networks that swaps graph moments for graph cumulant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2_theory_controlled_simulation_real_bi" title="cue_s04_c2_theory_controlled_simulation_real_bi" descr="cue_s04_c2_theory_controlled_simulation_real_bi Using theory, controlled simulation, and real biological networks, the authors show this swap consistently increases statistical power without changing the computational cost."/>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3_they_further_show_cumulant_test" title="cue_s04_c3_they_further_show_cumulant_test" descr="cue_s04_c3_they_further_show_cumulant_test They further show that the cumulant test statistic tracks a known chi-squared distribution remarkably well, even with only a handful of graphs, so false-positive rates can be controlled analytically."/>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4_strikingly_cumulant_test_even_works" title="cue_s04_c4_strikingly_cumulant_test_even_works" descr="cue_s04_c4_strikingly_cumulant_test_even_works Strikingly, the cumulant test even works when just one graph is observed per sample, a regime where the moment test is undefined."/>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737025"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METHOD</a:t>
            </a:r>
          </a:p>
        </p:txBody>
      </p:sp>
      <p:sp>
        <p:nvSpPr>
          <p:cNvPr id="4" name="TextBox 4"/>
          <p:cNvSpPr txBox="1"/>
          <p:nvPr/>
        </p:nvSpPr>
        <p:spPr>
          <a:xfrm>
            <a:off x="807720" y="614362"/>
            <a:ext cx="512216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Same recipe, better coordinates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05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2" name="Group 22"/>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84244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shared three-step recipe</a:t>
              </a:r>
            </a:p>
          </p:txBody>
        </p:sp>
        <p:sp>
          <p:nvSpPr>
            <p:cNvPr id="10" name="Rectangle 10"/>
            <p:cNvSpPr/>
            <p:nvPr/>
          </p:nvSpPr>
          <p:spPr>
            <a:xfrm>
              <a:off x="857250" y="2076450"/>
              <a:ext cx="1447800" cy="800100"/>
            </a:xfrm>
            <a:prstGeom prst="roundRect">
              <a:avLst>
                <a:gd name="adj" fmla="val 16667"/>
              </a:avLst>
            </a:prstGeom>
            <a:solidFill>
              <a:schemeClr val="accent6"/>
            </a:solidFill>
            <a:ln w="19050">
              <a:solidFill>
                <a:srgbClr val="4C8DFF"/>
              </a:solidFill>
            </a:ln>
          </p:spPr>
        </p:sp>
        <p:sp>
          <p:nvSpPr>
            <p:cNvPr id="11" name="TextBox 11"/>
            <p:cNvSpPr txBox="1"/>
            <p:nvPr/>
          </p:nvSpPr>
          <p:spPr>
            <a:xfrm>
              <a:off x="1067482" y="2306002"/>
              <a:ext cx="1027335"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1. choose max</a:t>
              </a:r>
            </a:p>
          </p:txBody>
        </p:sp>
        <p:sp>
          <p:nvSpPr>
            <p:cNvPr id="12" name="TextBox 12"/>
            <p:cNvSpPr txBox="1"/>
            <p:nvPr/>
          </p:nvSpPr>
          <p:spPr>
            <a:xfrm>
              <a:off x="1022957" y="2496502"/>
              <a:ext cx="1116386"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subgraph order</a:t>
              </a:r>
            </a:p>
          </p:txBody>
        </p:sp>
        <p:sp>
          <p:nvSpPr>
            <p:cNvPr id="13" name="TextBox 13"/>
            <p:cNvSpPr txBox="1"/>
            <p:nvPr/>
          </p:nvSpPr>
          <p:spPr>
            <a:xfrm>
              <a:off x="2299205" y="2355532"/>
              <a:ext cx="145040" cy="322707"/>
            </a:xfrm>
            <a:prstGeom prst="rect">
              <a:avLst/>
            </a:prstGeom>
            <a:noFill/>
            <a:ln>
              <a:noFill/>
            </a:ln>
          </p:spPr>
          <p:txBody>
            <a:bodyPr wrap="none" lIns="0" tIns="0" rIns="0" bIns="0" anchor="t" anchorCtr="0">
              <a:spAutoFit/>
            </a:bodyPr>
            <a:lstStyle/>
            <a:p>
              <a:pPr algn="ctr"/>
              <a:r>
                <a:rPr lang="en-US" sz="1650" b="1" dirty="0">
                  <a:solidFill>
                    <a:srgbClr val="9DB2C4"/>
                  </a:solidFill>
                  <a:latin typeface="+mn-lt"/>
                  <a:ea typeface="+mn-ea"/>
                  <a:cs typeface="+mn-cs"/>
                </a:rPr>
                <a:t>&gt;</a:t>
              </a:r>
            </a:p>
          </p:txBody>
        </p:sp>
        <p:sp>
          <p:nvSpPr>
            <p:cNvPr id="14" name="Rectangle 14"/>
            <p:cNvSpPr/>
            <p:nvPr/>
          </p:nvSpPr>
          <p:spPr>
            <a:xfrm>
              <a:off x="2438400" y="2076450"/>
              <a:ext cx="1447800" cy="800100"/>
            </a:xfrm>
            <a:prstGeom prst="roundRect">
              <a:avLst>
                <a:gd name="adj" fmla="val 16667"/>
              </a:avLst>
            </a:prstGeom>
            <a:solidFill>
              <a:schemeClr val="accent6"/>
            </a:solidFill>
            <a:ln w="19050">
              <a:solidFill>
                <a:srgbClr val="F5B841"/>
              </a:solidFill>
            </a:ln>
          </p:spPr>
        </p:sp>
        <p:sp>
          <p:nvSpPr>
            <p:cNvPr id="15" name="TextBox 15"/>
            <p:cNvSpPr txBox="1"/>
            <p:nvPr/>
          </p:nvSpPr>
          <p:spPr>
            <a:xfrm>
              <a:off x="2544739" y="2306002"/>
              <a:ext cx="1235121"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2. estimate each</a:t>
              </a:r>
            </a:p>
          </p:txBody>
        </p:sp>
        <p:sp>
          <p:nvSpPr>
            <p:cNvPr id="16" name="TextBox 16"/>
            <p:cNvSpPr txBox="1"/>
            <p:nvPr/>
          </p:nvSpPr>
          <p:spPr>
            <a:xfrm>
              <a:off x="2722842" y="2496502"/>
              <a:ext cx="878917"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distribution</a:t>
              </a:r>
            </a:p>
          </p:txBody>
        </p:sp>
        <p:sp>
          <p:nvSpPr>
            <p:cNvPr id="17" name="TextBox 17"/>
            <p:cNvSpPr txBox="1"/>
            <p:nvPr/>
          </p:nvSpPr>
          <p:spPr>
            <a:xfrm>
              <a:off x="3880355" y="2355532"/>
              <a:ext cx="145040" cy="322707"/>
            </a:xfrm>
            <a:prstGeom prst="rect">
              <a:avLst/>
            </a:prstGeom>
            <a:noFill/>
            <a:ln>
              <a:noFill/>
            </a:ln>
          </p:spPr>
          <p:txBody>
            <a:bodyPr wrap="none" lIns="0" tIns="0" rIns="0" bIns="0" anchor="t" anchorCtr="0">
              <a:spAutoFit/>
            </a:bodyPr>
            <a:lstStyle/>
            <a:p>
              <a:pPr algn="ctr"/>
              <a:r>
                <a:rPr lang="en-US" sz="1650" b="1" dirty="0">
                  <a:solidFill>
                    <a:srgbClr val="9DB2C4"/>
                  </a:solidFill>
                  <a:latin typeface="+mn-lt"/>
                  <a:ea typeface="+mn-ea"/>
                  <a:cs typeface="+mn-cs"/>
                </a:rPr>
                <a:t>&gt;</a:t>
              </a:r>
            </a:p>
          </p:txBody>
        </p:sp>
        <p:sp>
          <p:nvSpPr>
            <p:cNvPr id="18" name="Rectangle 18"/>
            <p:cNvSpPr/>
            <p:nvPr/>
          </p:nvSpPr>
          <p:spPr>
            <a:xfrm>
              <a:off x="4019550" y="2076450"/>
              <a:ext cx="1447800" cy="800100"/>
            </a:xfrm>
            <a:prstGeom prst="roundRect">
              <a:avLst>
                <a:gd name="adj" fmla="val 16667"/>
              </a:avLst>
            </a:prstGeom>
            <a:solidFill>
              <a:schemeClr val="accent6"/>
            </a:solidFill>
            <a:ln w="19050">
              <a:solidFill>
                <a:srgbClr val="35D0BA"/>
              </a:solidFill>
            </a:ln>
          </p:spPr>
        </p:sp>
        <p:sp>
          <p:nvSpPr>
            <p:cNvPr id="19" name="TextBox 19"/>
            <p:cNvSpPr txBox="1"/>
            <p:nvPr/>
          </p:nvSpPr>
          <p:spPr>
            <a:xfrm>
              <a:off x="4188967" y="2306002"/>
              <a:ext cx="1108965"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3. measure the</a:t>
              </a:r>
            </a:p>
          </p:txBody>
        </p:sp>
        <p:sp>
          <p:nvSpPr>
            <p:cNvPr id="20" name="TextBox 20"/>
            <p:cNvSpPr txBox="1"/>
            <p:nvPr/>
          </p:nvSpPr>
          <p:spPr>
            <a:xfrm>
              <a:off x="4430148" y="2496502"/>
              <a:ext cx="626605"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mn-lt"/>
                  <a:ea typeface="+mn-ea"/>
                  <a:cs typeface="+mn-cs"/>
                </a:rPr>
                <a:t>distance</a:t>
              </a:r>
            </a:p>
          </p:txBody>
        </p:sp>
        <p:sp>
          <p:nvSpPr>
            <p:cNvPr id="21" name="TextBox 21"/>
            <p:cNvSpPr txBox="1"/>
            <p:nvPr/>
          </p:nvSpPr>
          <p:spPr>
            <a:xfrm>
              <a:off x="851535" y="3174206"/>
              <a:ext cx="4049718"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Identical for both tests — only the coordinates differ.</a:t>
              </a:r>
            </a:p>
          </p:txBody>
        </p:sp>
      </p:grpSp>
      <p:grpSp>
        <p:nvGrpSpPr>
          <p:cNvPr id="31" name="Group 31"/>
          <p:cNvGrpSpPr/>
          <p:nvPr/>
        </p:nvGrpSpPr>
        <p:grpSpPr>
          <a:xfrm>
            <a:off x="6248400" y="1162050"/>
            <a:ext cx="5334000" cy="2457450"/>
            <a:chOff x="6248400" y="1162050"/>
            <a:chExt cx="5334000" cy="2457450"/>
          </a:xfrm>
        </p:grpSpPr>
        <p:sp>
          <p:nvSpPr>
            <p:cNvPr id="23" name="Rectangle 23"/>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4" name="Rectangle 24"/>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25" name="TextBox 25"/>
            <p:cNvSpPr txBox="1"/>
            <p:nvPr/>
          </p:nvSpPr>
          <p:spPr>
            <a:xfrm>
              <a:off x="6488430" y="1400175"/>
              <a:ext cx="307106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Squared Mahalanobis distance</a:t>
              </a:r>
            </a:p>
          </p:txBody>
        </p:sp>
        <p:sp>
          <p:nvSpPr>
            <p:cNvPr id="26" name="Rectangle 26"/>
            <p:cNvSpPr/>
            <p:nvPr/>
          </p:nvSpPr>
          <p:spPr>
            <a:xfrm>
              <a:off x="6496050" y="1752600"/>
              <a:ext cx="4838700" cy="495300"/>
            </a:xfrm>
            <a:prstGeom prst="roundRect">
              <a:avLst>
                <a:gd name="adj" fmla="val 26923"/>
              </a:avLst>
            </a:prstGeom>
            <a:solidFill>
              <a:schemeClr val="accent6"/>
            </a:solidFill>
            <a:ln w="14288">
              <a:solidFill>
                <a:srgbClr val="1E3A52"/>
              </a:solidFill>
            </a:ln>
          </p:spPr>
        </p:sp>
        <p:sp>
          <p:nvSpPr>
            <p:cNvPr id="27" name="TextBox 27"/>
            <p:cNvSpPr txBox="1"/>
            <p:nvPr/>
          </p:nvSpPr>
          <p:spPr>
            <a:xfrm>
              <a:off x="6642354" y="1927860"/>
              <a:ext cx="4020282" cy="234696"/>
            </a:xfrm>
            <a:prstGeom prst="rect">
              <a:avLst/>
            </a:prstGeom>
            <a:noFill/>
            <a:ln>
              <a:noFill/>
            </a:ln>
          </p:spPr>
          <p:txBody>
            <a:bodyPr wrap="none" lIns="0" tIns="0" rIns="0" bIns="0" anchor="t" anchorCtr="0">
              <a:spAutoFit/>
            </a:bodyPr>
            <a:lstStyle/>
            <a:p>
              <a:pPr algn="l"/>
              <a:r>
                <a:rPr lang="en-US" sz="1200" b="1" dirty="0">
                  <a:solidFill>
                    <a:srgbClr val="35D0BA"/>
                  </a:solidFill>
                  <a:latin typeface="Consolas"/>
                  <a:ea typeface="Consolas"/>
                  <a:cs typeface="Consolas"/>
                </a:rPr>
                <a:t>d^2 = (k_A - k_B)^T (S_A + S_B)^-1 (k_A - k_B)</a:t>
              </a:r>
            </a:p>
          </p:txBody>
        </p:sp>
        <p:sp>
          <p:nvSpPr>
            <p:cNvPr id="28" name="TextBox 28"/>
            <p:cNvSpPr txBox="1"/>
            <p:nvPr/>
          </p:nvSpPr>
          <p:spPr>
            <a:xfrm>
              <a:off x="6489954" y="2366010"/>
              <a:ext cx="399937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It weights differences by an analytically computed</a:t>
              </a:r>
            </a:p>
          </p:txBody>
        </p:sp>
        <p:sp>
          <p:nvSpPr>
            <p:cNvPr id="29" name="TextBox 29"/>
            <p:cNvSpPr txBox="1"/>
            <p:nvPr/>
          </p:nvSpPr>
          <p:spPr>
            <a:xfrm>
              <a:off x="6489954" y="2594610"/>
              <a:ext cx="3838399"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covariance. The only choice: raw graph moments</a:t>
              </a:r>
            </a:p>
          </p:txBody>
        </p:sp>
        <p:sp>
          <p:nvSpPr>
            <p:cNvPr id="30" name="TextBox 30"/>
            <p:cNvSpPr txBox="1"/>
            <p:nvPr/>
          </p:nvSpPr>
          <p:spPr>
            <a:xfrm>
              <a:off x="6489954" y="2823210"/>
              <a:ext cx="4850435"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(injective-homomorphism densities) versus graph cumulants.</a:t>
              </a:r>
            </a:p>
          </p:txBody>
        </p:sp>
      </p:grpSp>
      <p:grpSp>
        <p:nvGrpSpPr>
          <p:cNvPr id="41" name="Group 41"/>
          <p:cNvGrpSpPr/>
          <p:nvPr/>
        </p:nvGrpSpPr>
        <p:grpSpPr>
          <a:xfrm>
            <a:off x="609600" y="3810000"/>
            <a:ext cx="5334000" cy="2457450"/>
            <a:chOff x="609600" y="3810000"/>
            <a:chExt cx="5334000" cy="2457450"/>
          </a:xfrm>
        </p:grpSpPr>
        <p:sp>
          <p:nvSpPr>
            <p:cNvPr id="32" name="Rectangle 32"/>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34" name="TextBox 34"/>
            <p:cNvSpPr txBox="1"/>
            <p:nvPr/>
          </p:nvSpPr>
          <p:spPr>
            <a:xfrm>
              <a:off x="849630" y="4048125"/>
              <a:ext cx="351717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Cumulants via a Mobius transform</a:t>
              </a:r>
            </a:p>
          </p:txBody>
        </p:sp>
        <p:sp>
          <p:nvSpPr>
            <p:cNvPr id="35" name="Rectangle 35"/>
            <p:cNvSpPr/>
            <p:nvPr/>
          </p:nvSpPr>
          <p:spPr>
            <a:xfrm>
              <a:off x="857250" y="4400550"/>
              <a:ext cx="4838700" cy="457200"/>
            </a:xfrm>
            <a:prstGeom prst="roundRect">
              <a:avLst>
                <a:gd name="adj" fmla="val 29167"/>
              </a:avLst>
            </a:prstGeom>
            <a:solidFill>
              <a:schemeClr val="accent6"/>
            </a:solidFill>
            <a:ln w="14288">
              <a:solidFill>
                <a:srgbClr val="1E3A52"/>
              </a:solidFill>
            </a:ln>
          </p:spPr>
        </p:sp>
        <p:sp>
          <p:nvSpPr>
            <p:cNvPr id="36" name="TextBox 36"/>
            <p:cNvSpPr txBox="1"/>
            <p:nvPr/>
          </p:nvSpPr>
          <p:spPr>
            <a:xfrm>
              <a:off x="1003935" y="4564856"/>
              <a:ext cx="3771367" cy="220028"/>
            </a:xfrm>
            <a:prstGeom prst="rect">
              <a:avLst/>
            </a:prstGeom>
            <a:noFill/>
            <a:ln>
              <a:noFill/>
            </a:ln>
          </p:spPr>
          <p:txBody>
            <a:bodyPr wrap="none" lIns="0" tIns="0" rIns="0" bIns="0" anchor="t" anchorCtr="0">
              <a:spAutoFit/>
            </a:bodyPr>
            <a:lstStyle/>
            <a:p>
              <a:pPr algn="l"/>
              <a:r>
                <a:rPr lang="en-US" sz="1120" b="1" dirty="0">
                  <a:solidFill>
                    <a:srgbClr val="F5B841"/>
                  </a:solidFill>
                  <a:latin typeface="Consolas"/>
                  <a:ea typeface="Consolas"/>
                  <a:cs typeface="Consolas"/>
                </a:rPr>
                <a:t>mu_g = sum over partitions pi product_b k_(g_b)</a:t>
              </a:r>
            </a:p>
          </p:txBody>
        </p:sp>
        <p:sp>
          <p:nvSpPr>
            <p:cNvPr id="37" name="TextBox 37"/>
            <p:cNvSpPr txBox="1"/>
            <p:nvPr/>
          </p:nvSpPr>
          <p:spPr>
            <a:xfrm>
              <a:off x="851154" y="4956810"/>
              <a:ext cx="4177069"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A combinatorial sum over all connectivity-respecting</a:t>
              </a:r>
            </a:p>
          </p:txBody>
        </p:sp>
        <p:sp>
          <p:nvSpPr>
            <p:cNvPr id="38" name="TextBox 38"/>
            <p:cNvSpPr txBox="1"/>
            <p:nvPr/>
          </p:nvSpPr>
          <p:spPr>
            <a:xfrm>
              <a:off x="851154" y="5185410"/>
              <a:ext cx="453290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partitions of a subgraph's edges. Cumulants capture the</a:t>
              </a:r>
            </a:p>
          </p:txBody>
        </p:sp>
        <p:sp>
          <p:nvSpPr>
            <p:cNvPr id="39" name="TextBox 39"/>
            <p:cNvSpPr txBox="1"/>
            <p:nvPr/>
          </p:nvSpPr>
          <p:spPr>
            <a:xfrm>
              <a:off x="851154" y="5414010"/>
              <a:ext cx="4567733"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excess propensity of a structure beyond what its smaller</a:t>
              </a:r>
            </a:p>
          </p:txBody>
        </p:sp>
        <p:sp>
          <p:nvSpPr>
            <p:cNvPr id="40" name="TextBox 40"/>
            <p:cNvSpPr txBox="1"/>
            <p:nvPr/>
          </p:nvSpPr>
          <p:spPr>
            <a:xfrm>
              <a:off x="851154" y="5642610"/>
              <a:ext cx="1223772"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pieces predict.</a:t>
              </a:r>
            </a:p>
          </p:txBody>
        </p:sp>
      </p:grpSp>
      <p:grpSp>
        <p:nvGrpSpPr>
          <p:cNvPr id="50" name="Group 50"/>
          <p:cNvGrpSpPr/>
          <p:nvPr/>
        </p:nvGrpSpPr>
        <p:grpSpPr>
          <a:xfrm>
            <a:off x="6248400" y="3810000"/>
            <a:ext cx="5334000" cy="2457450"/>
            <a:chOff x="6248400" y="3810000"/>
            <a:chExt cx="5334000" cy="2457450"/>
          </a:xfrm>
        </p:grpSpPr>
        <p:sp>
          <p:nvSpPr>
            <p:cNvPr id="42" name="Rectangle 42"/>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3" name="Rectangle 43"/>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44" name="TextBox 44"/>
            <p:cNvSpPr txBox="1"/>
            <p:nvPr/>
          </p:nvSpPr>
          <p:spPr>
            <a:xfrm>
              <a:off x="6488430" y="4048125"/>
              <a:ext cx="1718838"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swap is free</a:t>
              </a:r>
            </a:p>
          </p:txBody>
        </p:sp>
        <p:sp>
          <p:nvSpPr>
            <p:cNvPr id="45" name="TextBox 45"/>
            <p:cNvSpPr txBox="1"/>
            <p:nvPr/>
          </p:nvSpPr>
          <p:spPr>
            <a:xfrm>
              <a:off x="6489573" y="4434364"/>
              <a:ext cx="483479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Computing the covariances only needs subgraph counts up</a:t>
              </a:r>
            </a:p>
          </p:txBody>
        </p:sp>
        <p:sp>
          <p:nvSpPr>
            <p:cNvPr id="46" name="TextBox 46"/>
            <p:cNvSpPr txBox="1"/>
            <p:nvPr/>
          </p:nvSpPr>
          <p:spPr>
            <a:xfrm>
              <a:off x="6489573" y="4672489"/>
              <a:ext cx="4826688"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to twice the chosen order. So both tests share the same</a:t>
              </a:r>
            </a:p>
          </p:txBody>
        </p:sp>
        <p:sp>
          <p:nvSpPr>
            <p:cNvPr id="47" name="TextBox 47"/>
            <p:cNvSpPr txBox="1"/>
            <p:nvPr/>
          </p:nvSpPr>
          <p:spPr>
            <a:xfrm>
              <a:off x="6489573" y="4910614"/>
              <a:ext cx="223579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computational complexity.</a:t>
              </a:r>
            </a:p>
          </p:txBody>
        </p:sp>
        <p:sp>
          <p:nvSpPr>
            <p:cNvPr id="48" name="Rectangle 48"/>
            <p:cNvSpPr/>
            <p:nvPr/>
          </p:nvSpPr>
          <p:spPr>
            <a:xfrm>
              <a:off x="6496050" y="5524500"/>
              <a:ext cx="4838700" cy="495300"/>
            </a:xfrm>
            <a:prstGeom prst="roundRect">
              <a:avLst>
                <a:gd name="adj" fmla="val 26923"/>
              </a:avLst>
            </a:prstGeom>
            <a:solidFill>
              <a:schemeClr val="accent6"/>
            </a:solidFill>
            <a:ln w="14288">
              <a:solidFill>
                <a:srgbClr val="1E3A52"/>
              </a:solidFill>
            </a:ln>
          </p:spPr>
        </p:sp>
        <p:sp>
          <p:nvSpPr>
            <p:cNvPr id="49" name="TextBox 49"/>
            <p:cNvSpPr txBox="1"/>
            <p:nvPr/>
          </p:nvSpPr>
          <p:spPr>
            <a:xfrm>
              <a:off x="7190886" y="5691664"/>
              <a:ext cx="3449028" cy="249364"/>
            </a:xfrm>
            <a:prstGeom prst="rect">
              <a:avLst/>
            </a:prstGeom>
            <a:noFill/>
            <a:ln>
              <a:noFill/>
            </a:ln>
          </p:spPr>
          <p:txBody>
            <a:bodyPr wrap="none" lIns="0" tIns="0" rIns="0" bIns="0" anchor="t" anchorCtr="0">
              <a:spAutoFit/>
            </a:bodyPr>
            <a:lstStyle/>
            <a:p>
              <a:pPr algn="ctr"/>
              <a:r>
                <a:rPr lang="en-US" sz="1280" b="1" dirty="0">
                  <a:solidFill>
                    <a:srgbClr val="48D597"/>
                  </a:solidFill>
                  <a:latin typeface="Consolas"/>
                  <a:ea typeface="Consolas"/>
                  <a:cs typeface="Consolas"/>
                </a:rPr>
                <a:t>moments and cumulants : same O(n^w)</a:t>
              </a:r>
            </a:p>
          </p:txBody>
        </p:sp>
      </p:grpSp>
      <p:sp>
        <p:nvSpPr>
          <p:cNvPr id="51" name="cue_s05_c1_both_tests_follow_same_three_step" title="cue_s05_c1_both_tests_follow_same_three_step" descr="cue_s05_c1_both_tests_follow_same_three_step Both tests follow the same three-step recipe: choose a maximum subgraph order, estimate each sample's distribution from its subgraph statistics, and measure the distance between the two estimates."/>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2_distance_squared_mahalanobis_distanc" title="cue_s05_c2_distance_squared_mahalanobis_distanc" descr="cue_s05_c2_distance_squared_mahalanobis_distanc That distance is the squared Mahalanobis distance, which weights differences by an analytically computed covariance matrix. The only difference between the tests is the coordinates: raw graph moments, which are injective-homomorphism subgraph densities, versus"/>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3_cumulants_obtained_moments_combinato" title="cue_s05_c3_cumulants_obtained_moments_combinato" descr="cue_s05_c3_cumulants_obtained_moments_combinato Cumulants are obtained from moments by a combinatorial Möbius transform over all connectivity-respecting partitions of a subgraph's edges, capturing the excess propensity of a structure beyond what its smaller pieces already predict."/>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4_because_computing_covariances_only_n" title="cue_s05_c4_because_computing_covariances_only_n" descr="cue_s05_c4_because_computing_covariances_only_n Because computing the covariances only needs subgraph counts up to twice the chosen order, both tests share the same computational complexity."/>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2093312"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DATASET / BENCHMARK</a:t>
            </a:r>
          </a:p>
        </p:txBody>
      </p:sp>
      <p:sp>
        <p:nvSpPr>
          <p:cNvPr id="4" name="TextBox 4"/>
          <p:cNvSpPr txBox="1"/>
          <p:nvPr/>
        </p:nvSpPr>
        <p:spPr>
          <a:xfrm>
            <a:off x="807720" y="614362"/>
            <a:ext cx="758699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Synthetic block models, then real gene networks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06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313856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controlled competition first</a:t>
              </a:r>
            </a:p>
          </p:txBody>
        </p:sp>
        <p:sp>
          <p:nvSpPr>
            <p:cNvPr id="10" name="TextBox 10"/>
            <p:cNvSpPr txBox="1"/>
            <p:nvPr/>
          </p:nvSpPr>
          <p:spPr>
            <a:xfrm>
              <a:off x="850773" y="1805464"/>
              <a:ext cx="4593902"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To compare the two tests fairly, the authors begin on</a:t>
              </a:r>
            </a:p>
          </p:txBody>
        </p:sp>
        <p:sp>
          <p:nvSpPr>
            <p:cNvPr id="11" name="TextBox 11"/>
            <p:cNvSpPr txBox="1"/>
            <p:nvPr/>
          </p:nvSpPr>
          <p:spPr>
            <a:xfrm>
              <a:off x="850773" y="2053114"/>
              <a:ext cx="482911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synthetic data where the ground-truth distributions are</a:t>
              </a:r>
            </a:p>
          </p:txBody>
        </p:sp>
        <p:sp>
          <p:nvSpPr>
            <p:cNvPr id="12" name="TextBox 12"/>
            <p:cNvSpPr txBox="1"/>
            <p:nvPr/>
          </p:nvSpPr>
          <p:spPr>
            <a:xfrm>
              <a:off x="850773" y="2300764"/>
              <a:ext cx="128807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known exactly.</a:t>
              </a:r>
            </a:p>
          </p:txBody>
        </p:sp>
        <p:sp>
          <p:nvSpPr>
            <p:cNvPr id="13" name="Rectangle 13"/>
            <p:cNvSpPr/>
            <p:nvPr/>
          </p:nvSpPr>
          <p:spPr>
            <a:xfrm>
              <a:off x="857250" y="3028950"/>
              <a:ext cx="2476500" cy="247650"/>
            </a:xfrm>
            <a:prstGeom prst="roundRect">
              <a:avLst>
                <a:gd name="adj" fmla="val 50000"/>
              </a:avLst>
            </a:prstGeom>
            <a:solidFill>
              <a:srgbClr val="35D0BA"/>
            </a:solidFill>
            <a:ln w="0">
              <a:solidFill>
                <a:srgbClr val="35D0BA"/>
              </a:solidFill>
            </a:ln>
          </p:spPr>
        </p:sp>
        <p:sp>
          <p:nvSpPr>
            <p:cNvPr id="14" name="TextBox 14"/>
            <p:cNvSpPr txBox="1"/>
            <p:nvPr/>
          </p:nvSpPr>
          <p:spPr>
            <a:xfrm>
              <a:off x="902818" y="3087052"/>
              <a:ext cx="2385365"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known ground-truth distribution</a:t>
              </a:r>
            </a:p>
          </p:txBody>
        </p:sp>
      </p:grpSp>
      <p:grpSp>
        <p:nvGrpSpPr>
          <p:cNvPr id="46" name="Group 46"/>
          <p:cNvGrpSpPr/>
          <p:nvPr/>
        </p:nvGrpSpPr>
        <p:grpSpPr>
          <a:xfrm>
            <a:off x="6248400" y="1162050"/>
            <a:ext cx="5334000" cy="2457450"/>
            <a:chOff x="6248400" y="1162050"/>
            <a:chExt cx="5334000" cy="2457450"/>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4C8DFF"/>
            </a:solidFill>
            <a:ln w="0">
              <a:solidFill>
                <a:srgbClr val="4C8DFF"/>
              </a:solidFill>
            </a:ln>
          </p:spPr>
        </p:sp>
        <p:sp>
          <p:nvSpPr>
            <p:cNvPr id="18" name="TextBox 18"/>
            <p:cNvSpPr txBox="1"/>
            <p:nvPr/>
          </p:nvSpPr>
          <p:spPr>
            <a:xfrm>
              <a:off x="6488811" y="1389221"/>
              <a:ext cx="341287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Heterogeneous vs assortative SBM</a:t>
              </a:r>
            </a:p>
          </p:txBody>
        </p:sp>
        <p:sp>
          <p:nvSpPr>
            <p:cNvPr id="19" name="TextBox 19"/>
            <p:cNvSpPr txBox="1"/>
            <p:nvPr/>
          </p:nvSpPr>
          <p:spPr>
            <a:xfrm>
              <a:off x="6491097" y="1666399"/>
              <a:ext cx="3235536"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same edge density, so genuinely hard to tell apart</a:t>
              </a:r>
            </a:p>
          </p:txBody>
        </p:sp>
        <p:sp>
          <p:nvSpPr>
            <p:cNvPr id="20" name="Line 20"/>
            <p:cNvSpPr/>
            <p:nvPr/>
          </p:nvSpPr>
          <p:spPr>
            <a:xfrm>
              <a:off x="6962775" y="2762250"/>
              <a:ext cx="523875" cy="190500"/>
            </a:xfrm>
            <a:custGeom>
              <a:avLst/>
              <a:gdLst/>
              <a:ahLst/>
              <a:cxnLst/>
              <a:rect l="l" t="t" r="r" b="b"/>
              <a:pathLst>
                <a:path w="523875" h="190500">
                  <a:moveTo>
                    <a:pt x="523875" y="0"/>
                  </a:moveTo>
                  <a:lnTo>
                    <a:pt x="0" y="190500"/>
                  </a:lnTo>
                </a:path>
              </a:pathLst>
            </a:custGeom>
            <a:noFill/>
            <a:ln w="19050">
              <a:solidFill>
                <a:srgbClr val="9DB2C4"/>
              </a:solidFill>
            </a:ln>
          </p:spPr>
        </p:sp>
        <p:sp>
          <p:nvSpPr>
            <p:cNvPr id="21" name="Line 21"/>
            <p:cNvSpPr/>
            <p:nvPr/>
          </p:nvSpPr>
          <p:spPr>
            <a:xfrm>
              <a:off x="7200900" y="2762250"/>
              <a:ext cx="285750" cy="523875"/>
            </a:xfrm>
            <a:custGeom>
              <a:avLst/>
              <a:gdLst/>
              <a:ahLst/>
              <a:cxnLst/>
              <a:rect l="l" t="t" r="r" b="b"/>
              <a:pathLst>
                <a:path w="285750" h="523875">
                  <a:moveTo>
                    <a:pt x="285750" y="0"/>
                  </a:moveTo>
                  <a:lnTo>
                    <a:pt x="0" y="523875"/>
                  </a:lnTo>
                </a:path>
              </a:pathLst>
            </a:custGeom>
            <a:noFill/>
            <a:ln w="19050">
              <a:solidFill>
                <a:srgbClr val="9DB2C4"/>
              </a:solidFill>
            </a:ln>
          </p:spPr>
        </p:sp>
        <p:sp>
          <p:nvSpPr>
            <p:cNvPr id="22" name="Line 22"/>
            <p:cNvSpPr/>
            <p:nvPr/>
          </p:nvSpPr>
          <p:spPr>
            <a:xfrm>
              <a:off x="7486650" y="2762250"/>
              <a:ext cx="238125" cy="523875"/>
            </a:xfrm>
            <a:custGeom>
              <a:avLst/>
              <a:gdLst/>
              <a:ahLst/>
              <a:cxnLst/>
              <a:rect l="l" t="t" r="r" b="b"/>
              <a:pathLst>
                <a:path w="238125" h="523875">
                  <a:moveTo>
                    <a:pt x="0" y="0"/>
                  </a:moveTo>
                  <a:lnTo>
                    <a:pt x="238125" y="523875"/>
                  </a:lnTo>
                </a:path>
              </a:pathLst>
            </a:custGeom>
            <a:noFill/>
            <a:ln w="19050">
              <a:solidFill>
                <a:srgbClr val="9DB2C4"/>
              </a:solidFill>
            </a:ln>
          </p:spPr>
        </p:sp>
        <p:sp>
          <p:nvSpPr>
            <p:cNvPr id="23" name="Line 23"/>
            <p:cNvSpPr/>
            <p:nvPr/>
          </p:nvSpPr>
          <p:spPr>
            <a:xfrm>
              <a:off x="7486650" y="2762250"/>
              <a:ext cx="523875" cy="190500"/>
            </a:xfrm>
            <a:custGeom>
              <a:avLst/>
              <a:gdLst/>
              <a:ahLst/>
              <a:cxnLst/>
              <a:rect l="l" t="t" r="r" b="b"/>
              <a:pathLst>
                <a:path w="523875" h="190500">
                  <a:moveTo>
                    <a:pt x="0" y="0"/>
                  </a:moveTo>
                  <a:lnTo>
                    <a:pt x="523875" y="190500"/>
                  </a:lnTo>
                </a:path>
              </a:pathLst>
            </a:custGeom>
            <a:noFill/>
            <a:ln w="19050">
              <a:solidFill>
                <a:srgbClr val="9DB2C4"/>
              </a:solidFill>
            </a:ln>
          </p:spPr>
        </p:sp>
        <p:sp>
          <p:nvSpPr>
            <p:cNvPr id="24" name="Line 24"/>
            <p:cNvSpPr/>
            <p:nvPr/>
          </p:nvSpPr>
          <p:spPr>
            <a:xfrm>
              <a:off x="7439025" y="2286000"/>
              <a:ext cx="47625" cy="476250"/>
            </a:xfrm>
            <a:custGeom>
              <a:avLst/>
              <a:gdLst/>
              <a:ahLst/>
              <a:cxnLst/>
              <a:rect l="l" t="t" r="r" b="b"/>
              <a:pathLst>
                <a:path w="47625" h="476250">
                  <a:moveTo>
                    <a:pt x="47625" y="476250"/>
                  </a:moveTo>
                  <a:lnTo>
                    <a:pt x="0" y="0"/>
                  </a:lnTo>
                </a:path>
              </a:pathLst>
            </a:custGeom>
            <a:noFill/>
            <a:ln w="19050">
              <a:solidFill>
                <a:srgbClr val="9DB2C4"/>
              </a:solidFill>
            </a:ln>
          </p:spPr>
        </p:sp>
        <p:sp>
          <p:nvSpPr>
            <p:cNvPr id="25" name="Ellipse 25"/>
            <p:cNvSpPr/>
            <p:nvPr/>
          </p:nvSpPr>
          <p:spPr>
            <a:xfrm>
              <a:off x="6896100" y="2886075"/>
              <a:ext cx="133350" cy="133350"/>
            </a:xfrm>
            <a:prstGeom prst="ellipse">
              <a:avLst/>
            </a:prstGeom>
            <a:solidFill>
              <a:srgbClr val="4C8DFF"/>
            </a:solidFill>
            <a:ln w="19050">
              <a:solidFill>
                <a:srgbClr val="0B1B2B"/>
              </a:solidFill>
            </a:ln>
          </p:spPr>
        </p:sp>
        <p:sp>
          <p:nvSpPr>
            <p:cNvPr id="26" name="Ellipse 26"/>
            <p:cNvSpPr/>
            <p:nvPr/>
          </p:nvSpPr>
          <p:spPr>
            <a:xfrm>
              <a:off x="7134225" y="3219450"/>
              <a:ext cx="133350" cy="133350"/>
            </a:xfrm>
            <a:prstGeom prst="ellipse">
              <a:avLst/>
            </a:prstGeom>
            <a:solidFill>
              <a:srgbClr val="4C8DFF"/>
            </a:solidFill>
            <a:ln w="19050">
              <a:solidFill>
                <a:srgbClr val="0B1B2B"/>
              </a:solidFill>
            </a:ln>
          </p:spPr>
        </p:sp>
        <p:sp>
          <p:nvSpPr>
            <p:cNvPr id="27" name="Ellipse 27"/>
            <p:cNvSpPr/>
            <p:nvPr/>
          </p:nvSpPr>
          <p:spPr>
            <a:xfrm>
              <a:off x="7658100" y="3219450"/>
              <a:ext cx="133350" cy="133350"/>
            </a:xfrm>
            <a:prstGeom prst="ellipse">
              <a:avLst/>
            </a:prstGeom>
            <a:solidFill>
              <a:srgbClr val="4C8DFF"/>
            </a:solidFill>
            <a:ln w="19050">
              <a:solidFill>
                <a:srgbClr val="0B1B2B"/>
              </a:solidFill>
            </a:ln>
          </p:spPr>
        </p:sp>
        <p:sp>
          <p:nvSpPr>
            <p:cNvPr id="28" name="Ellipse 28"/>
            <p:cNvSpPr/>
            <p:nvPr/>
          </p:nvSpPr>
          <p:spPr>
            <a:xfrm>
              <a:off x="7943850" y="2886075"/>
              <a:ext cx="133350" cy="133350"/>
            </a:xfrm>
            <a:prstGeom prst="ellipse">
              <a:avLst/>
            </a:prstGeom>
            <a:solidFill>
              <a:srgbClr val="4C8DFF"/>
            </a:solidFill>
            <a:ln w="19050">
              <a:solidFill>
                <a:srgbClr val="0B1B2B"/>
              </a:solidFill>
            </a:ln>
          </p:spPr>
        </p:sp>
        <p:sp>
          <p:nvSpPr>
            <p:cNvPr id="29" name="Ellipse 29"/>
            <p:cNvSpPr/>
            <p:nvPr/>
          </p:nvSpPr>
          <p:spPr>
            <a:xfrm>
              <a:off x="7372350" y="2219325"/>
              <a:ext cx="133350" cy="133350"/>
            </a:xfrm>
            <a:prstGeom prst="ellipse">
              <a:avLst/>
            </a:prstGeom>
            <a:solidFill>
              <a:srgbClr val="4C8DFF"/>
            </a:solidFill>
            <a:ln w="19050">
              <a:solidFill>
                <a:srgbClr val="0B1B2B"/>
              </a:solidFill>
            </a:ln>
          </p:spPr>
        </p:sp>
        <p:sp>
          <p:nvSpPr>
            <p:cNvPr id="30" name="Ellipse 30"/>
            <p:cNvSpPr/>
            <p:nvPr/>
          </p:nvSpPr>
          <p:spPr>
            <a:xfrm>
              <a:off x="7372350" y="2647950"/>
              <a:ext cx="228600" cy="228600"/>
            </a:xfrm>
            <a:prstGeom prst="ellipse">
              <a:avLst/>
            </a:prstGeom>
            <a:solidFill>
              <a:srgbClr val="F5B841"/>
            </a:solidFill>
            <a:ln w="19050">
              <a:solidFill>
                <a:srgbClr val="0B1B2B"/>
              </a:solidFill>
            </a:ln>
          </p:spPr>
        </p:sp>
        <p:sp>
          <p:nvSpPr>
            <p:cNvPr id="31" name="TextBox 31"/>
            <p:cNvSpPr txBox="1"/>
            <p:nvPr/>
          </p:nvSpPr>
          <p:spPr>
            <a:xfrm>
              <a:off x="6990267" y="3399949"/>
              <a:ext cx="992767" cy="190690"/>
            </a:xfrm>
            <a:prstGeom prst="rect">
              <a:avLst/>
            </a:prstGeom>
            <a:noFill/>
            <a:ln>
              <a:noFill/>
            </a:ln>
          </p:spPr>
          <p:txBody>
            <a:bodyPr wrap="none" lIns="0" tIns="0" rIns="0" bIns="0" anchor="t" anchorCtr="0">
              <a:spAutoFit/>
            </a:bodyPr>
            <a:lstStyle/>
            <a:p>
              <a:pPr algn="ctr"/>
              <a:r>
                <a:rPr lang="en-US" sz="980" dirty="0">
                  <a:solidFill>
                    <a:srgbClr val="9DB2C4"/>
                  </a:solidFill>
                  <a:latin typeface="+mn-lt"/>
                  <a:ea typeface="+mn-ea"/>
                  <a:cs typeface="+mn-cs"/>
                </a:rPr>
                <a:t>uneven degrees</a:t>
              </a:r>
            </a:p>
          </p:txBody>
        </p:sp>
        <p:sp>
          <p:nvSpPr>
            <p:cNvPr id="32" name="Line 32"/>
            <p:cNvSpPr/>
            <p:nvPr/>
          </p:nvSpPr>
          <p:spPr>
            <a:xfrm>
              <a:off x="9677400" y="2476500"/>
              <a:ext cx="190500" cy="285750"/>
            </a:xfrm>
            <a:custGeom>
              <a:avLst/>
              <a:gdLst/>
              <a:ahLst/>
              <a:cxnLst/>
              <a:rect l="l" t="t" r="r" b="b"/>
              <a:pathLst>
                <a:path w="190500" h="285750">
                  <a:moveTo>
                    <a:pt x="0" y="0"/>
                  </a:moveTo>
                  <a:lnTo>
                    <a:pt x="190500" y="285750"/>
                  </a:lnTo>
                </a:path>
              </a:pathLst>
            </a:custGeom>
            <a:noFill/>
            <a:ln w="14288">
              <a:solidFill>
                <a:srgbClr val="9DB2C4"/>
              </a:solidFill>
            </a:ln>
          </p:spPr>
        </p:sp>
        <p:sp>
          <p:nvSpPr>
            <p:cNvPr id="33" name="Line 33"/>
            <p:cNvSpPr/>
            <p:nvPr/>
          </p:nvSpPr>
          <p:spPr>
            <a:xfrm>
              <a:off x="9629775" y="2476500"/>
              <a:ext cx="47625" cy="523875"/>
            </a:xfrm>
            <a:custGeom>
              <a:avLst/>
              <a:gdLst/>
              <a:ahLst/>
              <a:cxnLst/>
              <a:rect l="l" t="t" r="r" b="b"/>
              <a:pathLst>
                <a:path w="47625" h="523875">
                  <a:moveTo>
                    <a:pt x="47625" y="0"/>
                  </a:moveTo>
                  <a:lnTo>
                    <a:pt x="0" y="523875"/>
                  </a:lnTo>
                </a:path>
              </a:pathLst>
            </a:custGeom>
            <a:noFill/>
            <a:ln w="14288">
              <a:solidFill>
                <a:srgbClr val="9DB2C4"/>
              </a:solidFill>
            </a:ln>
          </p:spPr>
        </p:sp>
        <p:sp>
          <p:nvSpPr>
            <p:cNvPr id="34" name="Line 34"/>
            <p:cNvSpPr/>
            <p:nvPr/>
          </p:nvSpPr>
          <p:spPr>
            <a:xfrm>
              <a:off x="9629775" y="2762250"/>
              <a:ext cx="238125" cy="238125"/>
            </a:xfrm>
            <a:custGeom>
              <a:avLst/>
              <a:gdLst/>
              <a:ahLst/>
              <a:cxnLst/>
              <a:rect l="l" t="t" r="r" b="b"/>
              <a:pathLst>
                <a:path w="238125" h="238125">
                  <a:moveTo>
                    <a:pt x="238125" y="0"/>
                  </a:moveTo>
                  <a:lnTo>
                    <a:pt x="0" y="238125"/>
                  </a:lnTo>
                </a:path>
              </a:pathLst>
            </a:custGeom>
            <a:noFill/>
            <a:ln w="14288">
              <a:solidFill>
                <a:srgbClr val="9DB2C4"/>
              </a:solidFill>
            </a:ln>
          </p:spPr>
        </p:sp>
        <p:sp>
          <p:nvSpPr>
            <p:cNvPr id="35" name="Line 35"/>
            <p:cNvSpPr/>
            <p:nvPr/>
          </p:nvSpPr>
          <p:spPr>
            <a:xfrm>
              <a:off x="10267950" y="2524125"/>
              <a:ext cx="171450" cy="285750"/>
            </a:xfrm>
            <a:custGeom>
              <a:avLst/>
              <a:gdLst/>
              <a:ahLst/>
              <a:cxnLst/>
              <a:rect l="l" t="t" r="r" b="b"/>
              <a:pathLst>
                <a:path w="171450" h="285750">
                  <a:moveTo>
                    <a:pt x="171450" y="0"/>
                  </a:moveTo>
                  <a:lnTo>
                    <a:pt x="0" y="285750"/>
                  </a:lnTo>
                </a:path>
              </a:pathLst>
            </a:custGeom>
            <a:noFill/>
            <a:ln w="14288">
              <a:solidFill>
                <a:srgbClr val="9DB2C4"/>
              </a:solidFill>
            </a:ln>
          </p:spPr>
        </p:sp>
        <p:sp>
          <p:nvSpPr>
            <p:cNvPr id="36" name="Line 36"/>
            <p:cNvSpPr/>
            <p:nvPr/>
          </p:nvSpPr>
          <p:spPr>
            <a:xfrm>
              <a:off x="10439400" y="2524125"/>
              <a:ext cx="76200" cy="523875"/>
            </a:xfrm>
            <a:custGeom>
              <a:avLst/>
              <a:gdLst/>
              <a:ahLst/>
              <a:cxnLst/>
              <a:rect l="l" t="t" r="r" b="b"/>
              <a:pathLst>
                <a:path w="76200" h="523875">
                  <a:moveTo>
                    <a:pt x="0" y="0"/>
                  </a:moveTo>
                  <a:lnTo>
                    <a:pt x="76200" y="523875"/>
                  </a:lnTo>
                </a:path>
              </a:pathLst>
            </a:custGeom>
            <a:noFill/>
            <a:ln w="14288">
              <a:solidFill>
                <a:srgbClr val="9DB2C4"/>
              </a:solidFill>
            </a:ln>
          </p:spPr>
        </p:sp>
        <p:sp>
          <p:nvSpPr>
            <p:cNvPr id="37" name="Line 37"/>
            <p:cNvSpPr/>
            <p:nvPr/>
          </p:nvSpPr>
          <p:spPr>
            <a:xfrm>
              <a:off x="10267950" y="2809875"/>
              <a:ext cx="247650" cy="238125"/>
            </a:xfrm>
            <a:custGeom>
              <a:avLst/>
              <a:gdLst/>
              <a:ahLst/>
              <a:cxnLst/>
              <a:rect l="l" t="t" r="r" b="b"/>
              <a:pathLst>
                <a:path w="247650" h="238125">
                  <a:moveTo>
                    <a:pt x="0" y="0"/>
                  </a:moveTo>
                  <a:lnTo>
                    <a:pt x="247650" y="238125"/>
                  </a:lnTo>
                </a:path>
              </a:pathLst>
            </a:custGeom>
            <a:noFill/>
            <a:ln w="14288">
              <a:solidFill>
                <a:srgbClr val="9DB2C4"/>
              </a:solidFill>
            </a:ln>
          </p:spPr>
        </p:sp>
        <p:sp>
          <p:nvSpPr>
            <p:cNvPr id="38" name="Line 38"/>
            <p:cNvSpPr/>
            <p:nvPr/>
          </p:nvSpPr>
          <p:spPr>
            <a:xfrm>
              <a:off x="9867900" y="2762250"/>
              <a:ext cx="400050" cy="47625"/>
            </a:xfrm>
            <a:custGeom>
              <a:avLst/>
              <a:gdLst/>
              <a:ahLst/>
              <a:cxnLst/>
              <a:rect l="l" t="t" r="r" b="b"/>
              <a:pathLst>
                <a:path w="400050" h="47625">
                  <a:moveTo>
                    <a:pt x="0" y="0"/>
                  </a:moveTo>
                  <a:lnTo>
                    <a:pt x="400050" y="47625"/>
                  </a:lnTo>
                </a:path>
              </a:pathLst>
            </a:custGeom>
            <a:noFill/>
            <a:ln w="14288">
              <a:solidFill>
                <a:srgbClr val="1E3A52"/>
              </a:solidFill>
              <a:custDash>
                <a:ds d="200000" sp="200000"/>
              </a:custDash>
            </a:ln>
          </p:spPr>
        </p:sp>
        <p:sp>
          <p:nvSpPr>
            <p:cNvPr id="39" name="Ellipse 39"/>
            <p:cNvSpPr/>
            <p:nvPr/>
          </p:nvSpPr>
          <p:spPr>
            <a:xfrm>
              <a:off x="9610725" y="2409825"/>
              <a:ext cx="133350" cy="133350"/>
            </a:xfrm>
            <a:prstGeom prst="ellipse">
              <a:avLst/>
            </a:prstGeom>
            <a:solidFill>
              <a:srgbClr val="35D0BA"/>
            </a:solidFill>
            <a:ln w="19050">
              <a:solidFill>
                <a:srgbClr val="0B1B2B"/>
              </a:solidFill>
            </a:ln>
          </p:spPr>
        </p:sp>
        <p:sp>
          <p:nvSpPr>
            <p:cNvPr id="40" name="Ellipse 40"/>
            <p:cNvSpPr/>
            <p:nvPr/>
          </p:nvSpPr>
          <p:spPr>
            <a:xfrm>
              <a:off x="9801225" y="2695575"/>
              <a:ext cx="133350" cy="133350"/>
            </a:xfrm>
            <a:prstGeom prst="ellipse">
              <a:avLst/>
            </a:prstGeom>
            <a:solidFill>
              <a:srgbClr val="35D0BA"/>
            </a:solidFill>
            <a:ln w="19050">
              <a:solidFill>
                <a:srgbClr val="0B1B2B"/>
              </a:solidFill>
            </a:ln>
          </p:spPr>
        </p:sp>
        <p:sp>
          <p:nvSpPr>
            <p:cNvPr id="41" name="Ellipse 41"/>
            <p:cNvSpPr/>
            <p:nvPr/>
          </p:nvSpPr>
          <p:spPr>
            <a:xfrm>
              <a:off x="9563100" y="2933700"/>
              <a:ext cx="133350" cy="133350"/>
            </a:xfrm>
            <a:prstGeom prst="ellipse">
              <a:avLst/>
            </a:prstGeom>
            <a:solidFill>
              <a:srgbClr val="35D0BA"/>
            </a:solidFill>
            <a:ln w="19050">
              <a:solidFill>
                <a:srgbClr val="0B1B2B"/>
              </a:solidFill>
            </a:ln>
          </p:spPr>
        </p:sp>
        <p:sp>
          <p:nvSpPr>
            <p:cNvPr id="42" name="Ellipse 42"/>
            <p:cNvSpPr/>
            <p:nvPr/>
          </p:nvSpPr>
          <p:spPr>
            <a:xfrm>
              <a:off x="10372725" y="2457450"/>
              <a:ext cx="133350" cy="133350"/>
            </a:xfrm>
            <a:prstGeom prst="ellipse">
              <a:avLst/>
            </a:prstGeom>
            <a:solidFill>
              <a:srgbClr val="48D597"/>
            </a:solidFill>
            <a:ln w="19050">
              <a:solidFill>
                <a:srgbClr val="0B1B2B"/>
              </a:solidFill>
            </a:ln>
          </p:spPr>
        </p:sp>
        <p:sp>
          <p:nvSpPr>
            <p:cNvPr id="43" name="Ellipse 43"/>
            <p:cNvSpPr/>
            <p:nvPr/>
          </p:nvSpPr>
          <p:spPr>
            <a:xfrm>
              <a:off x="10201275" y="2743200"/>
              <a:ext cx="133350" cy="133350"/>
            </a:xfrm>
            <a:prstGeom prst="ellipse">
              <a:avLst/>
            </a:prstGeom>
            <a:solidFill>
              <a:srgbClr val="48D597"/>
            </a:solidFill>
            <a:ln w="19050">
              <a:solidFill>
                <a:srgbClr val="0B1B2B"/>
              </a:solidFill>
            </a:ln>
          </p:spPr>
        </p:sp>
        <p:sp>
          <p:nvSpPr>
            <p:cNvPr id="44" name="Ellipse 44"/>
            <p:cNvSpPr/>
            <p:nvPr/>
          </p:nvSpPr>
          <p:spPr>
            <a:xfrm>
              <a:off x="10448925" y="2981325"/>
              <a:ext cx="133350" cy="133350"/>
            </a:xfrm>
            <a:prstGeom prst="ellipse">
              <a:avLst/>
            </a:prstGeom>
            <a:solidFill>
              <a:srgbClr val="48D597"/>
            </a:solidFill>
            <a:ln w="19050">
              <a:solidFill>
                <a:srgbClr val="0B1B2B"/>
              </a:solidFill>
            </a:ln>
          </p:spPr>
        </p:sp>
        <p:sp>
          <p:nvSpPr>
            <p:cNvPr id="45" name="TextBox 45"/>
            <p:cNvSpPr txBox="1"/>
            <p:nvPr/>
          </p:nvSpPr>
          <p:spPr>
            <a:xfrm>
              <a:off x="9519140" y="3399949"/>
              <a:ext cx="1078520" cy="190690"/>
            </a:xfrm>
            <a:prstGeom prst="rect">
              <a:avLst/>
            </a:prstGeom>
            <a:noFill/>
            <a:ln>
              <a:noFill/>
            </a:ln>
          </p:spPr>
          <p:txBody>
            <a:bodyPr wrap="none" lIns="0" tIns="0" rIns="0" bIns="0" anchor="t" anchorCtr="0">
              <a:spAutoFit/>
            </a:bodyPr>
            <a:lstStyle/>
            <a:p>
              <a:pPr algn="ctr"/>
              <a:r>
                <a:rPr lang="en-US" sz="980" dirty="0">
                  <a:solidFill>
                    <a:srgbClr val="9DB2C4"/>
                  </a:solidFill>
                  <a:latin typeface="+mn-lt"/>
                  <a:ea typeface="+mn-ea"/>
                  <a:cs typeface="+mn-cs"/>
                </a:rPr>
                <a:t>two communities</a:t>
              </a:r>
            </a:p>
          </p:txBody>
        </p:sp>
      </p:grpSp>
      <p:grpSp>
        <p:nvGrpSpPr>
          <p:cNvPr id="57" name="Group 57"/>
          <p:cNvGrpSpPr/>
          <p:nvPr/>
        </p:nvGrpSpPr>
        <p:grpSpPr>
          <a:xfrm>
            <a:off x="609600" y="3810000"/>
            <a:ext cx="5334000" cy="2457450"/>
            <a:chOff x="609600" y="3810000"/>
            <a:chExt cx="5334000" cy="2457450"/>
          </a:xfrm>
        </p:grpSpPr>
        <p:sp>
          <p:nvSpPr>
            <p:cNvPr id="47" name="Rectangle 47"/>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48" name="Rectangle 48"/>
            <p:cNvSpPr/>
            <p:nvPr/>
          </p:nvSpPr>
          <p:spPr>
            <a:xfrm>
              <a:off x="609600" y="3810000"/>
              <a:ext cx="57150" cy="2457450"/>
            </a:xfrm>
            <a:prstGeom prst="roundRect">
              <a:avLst>
                <a:gd name="adj" fmla="val 50000"/>
              </a:avLst>
            </a:prstGeom>
            <a:solidFill>
              <a:srgbClr val="F5B841"/>
            </a:solidFill>
            <a:ln w="0">
              <a:solidFill>
                <a:srgbClr val="F5B841"/>
              </a:solidFill>
            </a:ln>
          </p:spPr>
        </p:sp>
        <p:sp>
          <p:nvSpPr>
            <p:cNvPr id="49" name="TextBox 49"/>
            <p:cNvSpPr txBox="1"/>
            <p:nvPr/>
          </p:nvSpPr>
          <p:spPr>
            <a:xfrm>
              <a:off x="849630" y="4048125"/>
              <a:ext cx="323443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Sweeping size and sample count</a:t>
              </a:r>
            </a:p>
          </p:txBody>
        </p:sp>
        <p:sp>
          <p:nvSpPr>
            <p:cNvPr id="50" name="Rectangle 50"/>
            <p:cNvSpPr/>
            <p:nvPr/>
          </p:nvSpPr>
          <p:spPr>
            <a:xfrm>
              <a:off x="857250" y="4552950"/>
              <a:ext cx="2343150" cy="800100"/>
            </a:xfrm>
            <a:prstGeom prst="roundRect">
              <a:avLst>
                <a:gd name="adj" fmla="val 16667"/>
              </a:avLst>
            </a:prstGeom>
            <a:solidFill>
              <a:schemeClr val="accent6"/>
            </a:solidFill>
            <a:ln w="14288">
              <a:solidFill>
                <a:srgbClr val="1E3A52"/>
              </a:solidFill>
            </a:ln>
          </p:spPr>
        </p:sp>
        <p:sp>
          <p:nvSpPr>
            <p:cNvPr id="51" name="TextBox 51"/>
            <p:cNvSpPr txBox="1"/>
            <p:nvPr/>
          </p:nvSpPr>
          <p:spPr>
            <a:xfrm>
              <a:off x="1017270" y="4748212"/>
              <a:ext cx="1438137" cy="440055"/>
            </a:xfrm>
            <a:prstGeom prst="rect">
              <a:avLst/>
            </a:prstGeom>
            <a:noFill/>
            <a:ln>
              <a:noFill/>
            </a:ln>
          </p:spPr>
          <p:txBody>
            <a:bodyPr wrap="none" lIns="0" tIns="0" rIns="0" bIns="0" anchor="t" anchorCtr="0">
              <a:spAutoFit/>
            </a:bodyPr>
            <a:lstStyle/>
            <a:p>
              <a:pPr algn="l"/>
              <a:r>
                <a:rPr lang="en-US" sz="2250" b="1" dirty="0">
                  <a:solidFill>
                    <a:srgbClr val="F5B841"/>
                  </a:solidFill>
                  <a:latin typeface="+mn-lt"/>
                  <a:ea typeface="+mn-ea"/>
                  <a:cs typeface="+mn-cs"/>
                </a:rPr>
                <a:t>128 - 256</a:t>
              </a:r>
            </a:p>
          </p:txBody>
        </p:sp>
        <p:sp>
          <p:nvSpPr>
            <p:cNvPr id="52" name="TextBox 52"/>
            <p:cNvSpPr txBox="1"/>
            <p:nvPr/>
          </p:nvSpPr>
          <p:spPr>
            <a:xfrm>
              <a:off x="1023366" y="5106352"/>
              <a:ext cx="1226287"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nodes per graph n</a:t>
              </a:r>
            </a:p>
          </p:txBody>
        </p:sp>
        <p:sp>
          <p:nvSpPr>
            <p:cNvPr id="53" name="Rectangle 53"/>
            <p:cNvSpPr/>
            <p:nvPr/>
          </p:nvSpPr>
          <p:spPr>
            <a:xfrm>
              <a:off x="3352800" y="4552950"/>
              <a:ext cx="2343150" cy="800100"/>
            </a:xfrm>
            <a:prstGeom prst="roundRect">
              <a:avLst>
                <a:gd name="adj" fmla="val 16667"/>
              </a:avLst>
            </a:prstGeom>
            <a:solidFill>
              <a:schemeClr val="accent6"/>
            </a:solidFill>
            <a:ln w="14288">
              <a:solidFill>
                <a:srgbClr val="1E3A52"/>
              </a:solidFill>
            </a:ln>
          </p:spPr>
        </p:sp>
        <p:sp>
          <p:nvSpPr>
            <p:cNvPr id="54" name="TextBox 54"/>
            <p:cNvSpPr txBox="1"/>
            <p:nvPr/>
          </p:nvSpPr>
          <p:spPr>
            <a:xfrm>
              <a:off x="3512820" y="4748212"/>
              <a:ext cx="197782" cy="440055"/>
            </a:xfrm>
            <a:prstGeom prst="rect">
              <a:avLst/>
            </a:prstGeom>
            <a:noFill/>
            <a:ln>
              <a:noFill/>
            </a:ln>
          </p:spPr>
          <p:txBody>
            <a:bodyPr wrap="none" lIns="0" tIns="0" rIns="0" bIns="0" anchor="t" anchorCtr="0">
              <a:spAutoFit/>
            </a:bodyPr>
            <a:lstStyle/>
            <a:p>
              <a:pPr algn="l"/>
              <a:r>
                <a:rPr lang="en-US" sz="2250" b="1" dirty="0">
                  <a:solidFill>
                    <a:srgbClr val="F5B841"/>
                  </a:solidFill>
                  <a:latin typeface="+mn-lt"/>
                  <a:ea typeface="+mn-ea"/>
                  <a:cs typeface="+mn-cs"/>
                </a:rPr>
                <a:t>s</a:t>
              </a:r>
            </a:p>
          </p:txBody>
        </p:sp>
        <p:sp>
          <p:nvSpPr>
            <p:cNvPr id="55" name="TextBox 55"/>
            <p:cNvSpPr txBox="1"/>
            <p:nvPr/>
          </p:nvSpPr>
          <p:spPr>
            <a:xfrm>
              <a:off x="3518916" y="5106352"/>
              <a:ext cx="1805826" cy="205359"/>
            </a:xfrm>
            <a:prstGeom prst="rect">
              <a:avLst/>
            </a:prstGeom>
            <a:noFill/>
            <a:ln>
              <a:noFill/>
            </a:ln>
          </p:spPr>
          <p:txBody>
            <a:bodyPr wrap="none" lIns="0" tIns="0" rIns="0" bIns="0" anchor="t" anchorCtr="0">
              <a:spAutoFit/>
            </a:bodyPr>
            <a:lstStyle/>
            <a:p>
              <a:pPr algn="l"/>
              <a:r>
                <a:rPr lang="en-US" sz="1050" dirty="0">
                  <a:solidFill>
                    <a:srgbClr val="9DB2C4"/>
                  </a:solidFill>
                  <a:latin typeface="+mn-lt"/>
                  <a:ea typeface="+mn-ea"/>
                  <a:cs typeface="+mn-cs"/>
                </a:rPr>
                <a:t>graphs per sample, varied</a:t>
              </a:r>
            </a:p>
          </p:txBody>
        </p:sp>
        <p:sp>
          <p:nvSpPr>
            <p:cNvPr id="56" name="TextBox 56"/>
            <p:cNvSpPr txBox="1"/>
            <p:nvPr/>
          </p:nvSpPr>
          <p:spPr>
            <a:xfrm>
              <a:off x="851535" y="5688806"/>
              <a:ext cx="4110344"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Two graph sizes and a range of sample sizes s per test.</a:t>
              </a:r>
            </a:p>
          </p:txBody>
        </p:sp>
      </p:grpSp>
      <p:grpSp>
        <p:nvGrpSpPr>
          <p:cNvPr id="72" name="Group 72"/>
          <p:cNvGrpSpPr/>
          <p:nvPr/>
        </p:nvGrpSpPr>
        <p:grpSpPr>
          <a:xfrm>
            <a:off x="6248400" y="3810000"/>
            <a:ext cx="5334000" cy="2457450"/>
            <a:chOff x="6248400" y="3810000"/>
            <a:chExt cx="5334000" cy="2457450"/>
          </a:xfrm>
        </p:grpSpPr>
        <p:sp>
          <p:nvSpPr>
            <p:cNvPr id="58" name="Rectangle 58"/>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59" name="Rectangle 59"/>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60" name="TextBox 60"/>
            <p:cNvSpPr txBox="1"/>
            <p:nvPr/>
          </p:nvSpPr>
          <p:spPr>
            <a:xfrm>
              <a:off x="6488811" y="4056221"/>
              <a:ext cx="340296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Real genetic-interaction networks</a:t>
              </a:r>
            </a:p>
          </p:txBody>
        </p:sp>
        <p:sp>
          <p:nvSpPr>
            <p:cNvPr id="61" name="TextBox 61"/>
            <p:cNvSpPr txBox="1"/>
            <p:nvPr/>
          </p:nvSpPr>
          <p:spPr>
            <a:xfrm>
              <a:off x="6489954" y="4423410"/>
              <a:ext cx="4923599"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Gene networks from the FunCoup repository, again matched in</a:t>
              </a:r>
            </a:p>
          </p:txBody>
        </p:sp>
        <p:sp>
          <p:nvSpPr>
            <p:cNvPr id="62" name="TextBox 62"/>
            <p:cNvSpPr txBox="1"/>
            <p:nvPr/>
          </p:nvSpPr>
          <p:spPr>
            <a:xfrm>
              <a:off x="6489954" y="4652010"/>
              <a:ext cx="473735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edge density so that separating them demands higher-order</a:t>
              </a:r>
            </a:p>
          </p:txBody>
        </p:sp>
        <p:sp>
          <p:nvSpPr>
            <p:cNvPr id="63" name="TextBox 63"/>
            <p:cNvSpPr txBox="1"/>
            <p:nvPr/>
          </p:nvSpPr>
          <p:spPr>
            <a:xfrm>
              <a:off x="6489954" y="4880610"/>
              <a:ext cx="900684" cy="234696"/>
            </a:xfrm>
            <a:prstGeom prst="rect">
              <a:avLst/>
            </a:prstGeom>
            <a:noFill/>
            <a:ln>
              <a:noFill/>
            </a:ln>
          </p:spPr>
          <p:txBody>
            <a:bodyPr wrap="none" lIns="0" tIns="0" rIns="0" bIns="0" anchor="t" anchorCtr="0">
              <a:spAutoFit/>
            </a:bodyPr>
            <a:lstStyle/>
            <a:p>
              <a:pPr algn="l"/>
              <a:r>
                <a:rPr lang="en-US" sz="1200" dirty="0">
                  <a:solidFill>
                    <a:srgbClr val="9DB2C4"/>
                  </a:solidFill>
                  <a:latin typeface="+mn-lt"/>
                  <a:ea typeface="+mn-ea"/>
                  <a:cs typeface="+mn-cs"/>
                </a:rPr>
                <a:t>structure.</a:t>
              </a:r>
            </a:p>
          </p:txBody>
        </p:sp>
        <p:sp>
          <p:nvSpPr>
            <p:cNvPr id="64" name="Rectangle 64"/>
            <p:cNvSpPr/>
            <p:nvPr/>
          </p:nvSpPr>
          <p:spPr>
            <a:xfrm>
              <a:off x="6496050" y="5410200"/>
              <a:ext cx="2381250" cy="247650"/>
            </a:xfrm>
            <a:prstGeom prst="roundRect">
              <a:avLst>
                <a:gd name="adj" fmla="val 50000"/>
              </a:avLst>
            </a:prstGeom>
            <a:solidFill>
              <a:srgbClr val="35D0BA"/>
            </a:solidFill>
            <a:ln w="0">
              <a:solidFill>
                <a:srgbClr val="35D0BA"/>
              </a:solidFill>
            </a:ln>
          </p:spPr>
        </p:sp>
        <p:sp>
          <p:nvSpPr>
            <p:cNvPr id="65" name="TextBox 65"/>
            <p:cNvSpPr txBox="1"/>
            <p:nvPr/>
          </p:nvSpPr>
          <p:spPr>
            <a:xfrm>
              <a:off x="6891047" y="5468302"/>
              <a:ext cx="1591256"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Arabidopsis · FunCoup</a:t>
              </a:r>
            </a:p>
          </p:txBody>
        </p:sp>
        <p:sp>
          <p:nvSpPr>
            <p:cNvPr id="66" name="Rectangle 66"/>
            <p:cNvSpPr/>
            <p:nvPr/>
          </p:nvSpPr>
          <p:spPr>
            <a:xfrm>
              <a:off x="9020175" y="5410200"/>
              <a:ext cx="2381250" cy="247650"/>
            </a:xfrm>
            <a:prstGeom prst="roundRect">
              <a:avLst>
                <a:gd name="adj" fmla="val 50000"/>
              </a:avLst>
            </a:prstGeom>
            <a:solidFill>
              <a:srgbClr val="4C8DFF"/>
            </a:solidFill>
            <a:ln w="0">
              <a:solidFill>
                <a:srgbClr val="4C8DFF"/>
              </a:solidFill>
            </a:ln>
          </p:spPr>
        </p:sp>
        <p:sp>
          <p:nvSpPr>
            <p:cNvPr id="67" name="TextBox 67"/>
            <p:cNvSpPr txBox="1"/>
            <p:nvPr/>
          </p:nvSpPr>
          <p:spPr>
            <a:xfrm>
              <a:off x="9607154" y="5468302"/>
              <a:ext cx="1207293"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Mouse · FunCoup</a:t>
              </a:r>
            </a:p>
          </p:txBody>
        </p:sp>
        <p:sp>
          <p:nvSpPr>
            <p:cNvPr id="68" name="Rectangle 68"/>
            <p:cNvSpPr/>
            <p:nvPr/>
          </p:nvSpPr>
          <p:spPr>
            <a:xfrm>
              <a:off x="6496050" y="5791200"/>
              <a:ext cx="2381250" cy="247650"/>
            </a:xfrm>
            <a:prstGeom prst="roundRect">
              <a:avLst>
                <a:gd name="adj" fmla="val 50000"/>
              </a:avLst>
            </a:prstGeom>
            <a:solidFill>
              <a:srgbClr val="F5B841"/>
            </a:solidFill>
            <a:ln w="0">
              <a:solidFill>
                <a:srgbClr val="F5B841"/>
              </a:solidFill>
            </a:ln>
          </p:spPr>
        </p:sp>
        <p:sp>
          <p:nvSpPr>
            <p:cNvPr id="69" name="TextBox 69"/>
            <p:cNvSpPr txBox="1"/>
            <p:nvPr/>
          </p:nvSpPr>
          <p:spPr>
            <a:xfrm>
              <a:off x="7083029" y="5849302"/>
              <a:ext cx="1207293"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Human · FunCoup</a:t>
              </a:r>
            </a:p>
          </p:txBody>
        </p:sp>
        <p:sp>
          <p:nvSpPr>
            <p:cNvPr id="70" name="Rectangle 70"/>
            <p:cNvSpPr/>
            <p:nvPr/>
          </p:nvSpPr>
          <p:spPr>
            <a:xfrm>
              <a:off x="9020175" y="5791200"/>
              <a:ext cx="2381250" cy="247650"/>
            </a:xfrm>
            <a:prstGeom prst="roundRect">
              <a:avLst>
                <a:gd name="adj" fmla="val 50000"/>
              </a:avLst>
            </a:prstGeom>
            <a:solidFill>
              <a:srgbClr val="FF6B6B"/>
            </a:solidFill>
            <a:ln w="0">
              <a:solidFill>
                <a:srgbClr val="FF6B6B"/>
              </a:solidFill>
            </a:ln>
          </p:spPr>
        </p:sp>
        <p:sp>
          <p:nvSpPr>
            <p:cNvPr id="71" name="TextBox 71"/>
            <p:cNvSpPr txBox="1"/>
            <p:nvPr/>
          </p:nvSpPr>
          <p:spPr>
            <a:xfrm>
              <a:off x="9703594" y="5849302"/>
              <a:ext cx="1014411"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Rat · FunCoup</a:t>
              </a:r>
            </a:p>
          </p:txBody>
        </p:sp>
      </p:grpSp>
      <p:sp>
        <p:nvSpPr>
          <p:cNvPr id="73" name="cue_s06_c1_compare_tests_fairly_authors_first" title="cue_s06_c1_compare_tests_fairly_authors_first" descr="cue_s06_c1_compare_tests_fairly_authors_first To compare the tests fairly, the authors first run a controlled competition on synthetic data."/>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6_c2_they_pit_heterogeneous_stochastic_bl" title="cue_s06_c2_they_pit_heterogeneous_stochastic_bl" descr="cue_s06_c2_they_pit_heterogeneous_stochastic_bl They pit a heterogeneous stochastic block model, which has an uneven degree distribution but no communities, against an assortative one, which has communities but even degrees, holding edge density fixed so the two are genuinely hard to tell apart."/>
          <p:cNvSpPr/>
          <p:nvPr/>
        </p:nvSpPr>
        <p:spPr>
          <a:xfrm>
            <a:off x="6248399"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6_c3_they_vary_graph_size_one" title="cue_s06_c3_they_vary_graph_size_one" descr="cue_s06_c3_they_vary_graph_size_one They vary graph size from one hundred twenty-eight to two hundred fifty-six nodes and the number of graphs per sample."/>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6_c4_they_move_real_genetic_interaction_n" title="cue_s06_c4_they_move_real_genetic_interaction_n" descr="cue_s06_c4_they_move_real_genetic_interaction_n They then move to real data: genetic-interaction networks of Arabidopsis, mouse, human, and rat from the FunCoup repository, again matched in edge density so that separating them demands higher-order structure."/>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0816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KEY RESULT</a:t>
            </a:r>
          </a:p>
        </p:txBody>
      </p:sp>
      <p:sp>
        <p:nvSpPr>
          <p:cNvPr id="4" name="TextBox 4"/>
          <p:cNvSpPr txBox="1"/>
          <p:nvPr/>
        </p:nvSpPr>
        <p:spPr>
          <a:xfrm>
            <a:off x="807720" y="614362"/>
            <a:ext cx="636238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Cumulants win on synthetic and real data</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07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5" name="Group 15"/>
          <p:cNvGrpSpPr/>
          <p:nvPr/>
        </p:nvGrpSpPr>
        <p:grpSpPr>
          <a:xfrm>
            <a:off x="609600" y="1162050"/>
            <a:ext cx="5334000" cy="2457450"/>
            <a:chOff x="609600" y="1162050"/>
            <a:chExt cx="5334000" cy="2457450"/>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50263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results are decisive</a:t>
              </a:r>
            </a:p>
          </p:txBody>
        </p:sp>
        <p:sp>
          <p:nvSpPr>
            <p:cNvPr id="10" name="TextBox 10"/>
            <p:cNvSpPr txBox="1"/>
            <p:nvPr/>
          </p:nvSpPr>
          <p:spPr>
            <a:xfrm>
              <a:off x="850392" y="1797368"/>
              <a:ext cx="471780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Across every setting tested, the test built on graph</a:t>
              </a:r>
            </a:p>
          </p:txBody>
        </p:sp>
        <p:sp>
          <p:nvSpPr>
            <p:cNvPr id="11" name="TextBox 11"/>
            <p:cNvSpPr txBox="1"/>
            <p:nvPr/>
          </p:nvSpPr>
          <p:spPr>
            <a:xfrm>
              <a:off x="850392" y="2054542"/>
              <a:ext cx="490244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cumulants matches or beats the moment test — and the</a:t>
              </a:r>
            </a:p>
          </p:txBody>
        </p:sp>
        <p:sp>
          <p:nvSpPr>
            <p:cNvPr id="12" name="TextBox 12"/>
            <p:cNvSpPr txBox="1"/>
            <p:nvPr/>
          </p:nvSpPr>
          <p:spPr>
            <a:xfrm>
              <a:off x="850392" y="2311718"/>
              <a:ext cx="39755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gap grows exactly where testing is hardest.</a:t>
              </a:r>
            </a:p>
          </p:txBody>
        </p:sp>
        <p:sp>
          <p:nvSpPr>
            <p:cNvPr id="13" name="Rectangle 13"/>
            <p:cNvSpPr/>
            <p:nvPr/>
          </p:nvSpPr>
          <p:spPr>
            <a:xfrm>
              <a:off x="857250" y="3067050"/>
              <a:ext cx="2857500" cy="247650"/>
            </a:xfrm>
            <a:prstGeom prst="roundRect">
              <a:avLst>
                <a:gd name="adj" fmla="val 50000"/>
              </a:avLst>
            </a:prstGeom>
            <a:solidFill>
              <a:srgbClr val="35D0BA"/>
            </a:solidFill>
            <a:ln w="0">
              <a:solidFill>
                <a:srgbClr val="35D0BA"/>
              </a:solidFill>
            </a:ln>
          </p:spPr>
        </p:sp>
        <p:sp>
          <p:nvSpPr>
            <p:cNvPr id="14" name="TextBox 14"/>
            <p:cNvSpPr txBox="1"/>
            <p:nvPr/>
          </p:nvSpPr>
          <p:spPr>
            <a:xfrm>
              <a:off x="989425" y="3125152"/>
              <a:ext cx="2593151"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cumulants &gt;= moments, everywhere</a:t>
              </a:r>
            </a:p>
          </p:txBody>
        </p:sp>
      </p:grpSp>
      <p:grpSp>
        <p:nvGrpSpPr>
          <p:cNvPr id="31" name="Group 31"/>
          <p:cNvGrpSpPr/>
          <p:nvPr/>
        </p:nvGrpSpPr>
        <p:grpSpPr>
          <a:xfrm>
            <a:off x="6248400" y="1162050"/>
            <a:ext cx="5334000" cy="2479357"/>
            <a:chOff x="6248400" y="1162050"/>
            <a:chExt cx="5334000" cy="2479357"/>
          </a:xfrm>
        </p:grpSpPr>
        <p:sp>
          <p:nvSpPr>
            <p:cNvPr id="16" name="Rectangle 16"/>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17" name="Rectangle 17"/>
            <p:cNvSpPr/>
            <p:nvPr/>
          </p:nvSpPr>
          <p:spPr>
            <a:xfrm>
              <a:off x="6248400" y="1162050"/>
              <a:ext cx="57150" cy="2457450"/>
            </a:xfrm>
            <a:prstGeom prst="roundRect">
              <a:avLst>
                <a:gd name="adj" fmla="val 50000"/>
              </a:avLst>
            </a:prstGeom>
            <a:solidFill>
              <a:srgbClr val="F5B841"/>
            </a:solidFill>
            <a:ln w="0">
              <a:solidFill>
                <a:srgbClr val="F5B841"/>
              </a:solidFill>
            </a:ln>
          </p:spPr>
        </p:sp>
        <p:sp>
          <p:nvSpPr>
            <p:cNvPr id="18" name="TextBox 18"/>
            <p:cNvSpPr txBox="1"/>
            <p:nvPr/>
          </p:nvSpPr>
          <p:spPr>
            <a:xfrm>
              <a:off x="6488811" y="1389221"/>
              <a:ext cx="3203323"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Higher area under the ROC curve</a:t>
              </a:r>
            </a:p>
          </p:txBody>
        </p:sp>
        <p:sp>
          <p:nvSpPr>
            <p:cNvPr id="19" name="Rectangle 19"/>
            <p:cNvSpPr/>
            <p:nvPr/>
          </p:nvSpPr>
          <p:spPr>
            <a:xfrm>
              <a:off x="6819900" y="1924050"/>
              <a:ext cx="1428750" cy="1428750"/>
            </a:xfrm>
            <a:prstGeom prst="roundRect">
              <a:avLst>
                <a:gd name="adj" fmla="val 4000"/>
              </a:avLst>
            </a:prstGeom>
            <a:solidFill>
              <a:srgbClr val="0C1E30"/>
            </a:solidFill>
            <a:ln w="14288">
              <a:solidFill>
                <a:srgbClr val="1E3A52"/>
              </a:solidFill>
            </a:ln>
          </p:spPr>
        </p:sp>
        <p:sp>
          <p:nvSpPr>
            <p:cNvPr id="20" name="Line 20"/>
            <p:cNvSpPr/>
            <p:nvPr/>
          </p:nvSpPr>
          <p:spPr>
            <a:xfrm>
              <a:off x="6819900" y="1924050"/>
              <a:ext cx="1428750" cy="1428750"/>
            </a:xfrm>
            <a:custGeom>
              <a:avLst/>
              <a:gdLst/>
              <a:ahLst/>
              <a:cxnLst/>
              <a:rect l="l" t="t" r="r" b="b"/>
              <a:pathLst>
                <a:path w="1428750" h="1428750">
                  <a:moveTo>
                    <a:pt x="0" y="1428750"/>
                  </a:moveTo>
                  <a:lnTo>
                    <a:pt x="1428750" y="0"/>
                  </a:lnTo>
                </a:path>
              </a:pathLst>
            </a:custGeom>
            <a:noFill/>
            <a:ln w="14288">
              <a:solidFill>
                <a:srgbClr val="9DB2C4"/>
              </a:solidFill>
              <a:custDash>
                <a:ds d="266667" sp="200000"/>
              </a:custDash>
            </a:ln>
          </p:spPr>
        </p:sp>
        <p:sp>
          <p:nvSpPr>
            <p:cNvPr id="21" name="Polyline 21"/>
            <p:cNvSpPr/>
            <p:nvPr/>
          </p:nvSpPr>
          <p:spPr>
            <a:xfrm>
              <a:off x="6819900" y="1924050"/>
              <a:ext cx="1428750" cy="1428750"/>
            </a:xfrm>
            <a:custGeom>
              <a:avLst/>
              <a:gdLst/>
              <a:ahLst/>
              <a:cxnLst/>
              <a:rect l="l" t="t" r="r" b="b"/>
              <a:pathLst>
                <a:path w="1428750" h="1428750">
                  <a:moveTo>
                    <a:pt x="0" y="1428750"/>
                  </a:moveTo>
                  <a:lnTo>
                    <a:pt x="171450" y="381000"/>
                  </a:lnTo>
                  <a:lnTo>
                    <a:pt x="666750" y="133350"/>
                  </a:lnTo>
                  <a:lnTo>
                    <a:pt x="1428750" y="0"/>
                  </a:lnTo>
                </a:path>
              </a:pathLst>
            </a:custGeom>
            <a:noFill/>
            <a:ln w="28575">
              <a:solidFill>
                <a:srgbClr val="35D0BA"/>
              </a:solidFill>
            </a:ln>
          </p:spPr>
        </p:sp>
        <p:sp>
          <p:nvSpPr>
            <p:cNvPr id="22" name="Polyline 22"/>
            <p:cNvSpPr/>
            <p:nvPr/>
          </p:nvSpPr>
          <p:spPr>
            <a:xfrm>
              <a:off x="6819900" y="1924050"/>
              <a:ext cx="1428750" cy="1428750"/>
            </a:xfrm>
            <a:custGeom>
              <a:avLst/>
              <a:gdLst/>
              <a:ahLst/>
              <a:cxnLst/>
              <a:rect l="l" t="t" r="r" b="b"/>
              <a:pathLst>
                <a:path w="1428750" h="1428750">
                  <a:moveTo>
                    <a:pt x="0" y="1428750"/>
                  </a:moveTo>
                  <a:lnTo>
                    <a:pt x="476250" y="904875"/>
                  </a:lnTo>
                  <a:lnTo>
                    <a:pt x="952500" y="523875"/>
                  </a:lnTo>
                  <a:lnTo>
                    <a:pt x="1428750" y="0"/>
                  </a:lnTo>
                </a:path>
              </a:pathLst>
            </a:custGeom>
            <a:noFill/>
            <a:ln w="28575">
              <a:solidFill>
                <a:srgbClr val="4C8DFF"/>
              </a:solidFill>
            </a:ln>
          </p:spPr>
        </p:sp>
        <p:sp>
          <p:nvSpPr>
            <p:cNvPr id="23" name="TextBox 23"/>
            <p:cNvSpPr txBox="1"/>
            <p:nvPr/>
          </p:nvSpPr>
          <p:spPr>
            <a:xfrm>
              <a:off x="6972186" y="3465195"/>
              <a:ext cx="1124179" cy="176212"/>
            </a:xfrm>
            <a:prstGeom prst="rect">
              <a:avLst/>
            </a:prstGeom>
            <a:noFill/>
            <a:ln>
              <a:noFill/>
            </a:ln>
          </p:spPr>
          <p:txBody>
            <a:bodyPr wrap="none" lIns="0" tIns="0" rIns="0" bIns="0" anchor="t" anchorCtr="0">
              <a:spAutoFit/>
            </a:bodyPr>
            <a:lstStyle/>
            <a:p>
              <a:pPr algn="ctr"/>
              <a:r>
                <a:rPr lang="en-US" sz="900" dirty="0">
                  <a:solidFill>
                    <a:srgbClr val="9DB2C4"/>
                  </a:solidFill>
                  <a:latin typeface="+mn-lt"/>
                  <a:ea typeface="+mn-ea"/>
                  <a:cs typeface="+mn-cs"/>
                </a:rPr>
                <a:t>false positive rate</a:t>
              </a:r>
            </a:p>
          </p:txBody>
        </p:sp>
        <p:sp>
          <p:nvSpPr>
            <p:cNvPr id="24" name="Rectangle 24"/>
            <p:cNvSpPr/>
            <p:nvPr/>
          </p:nvSpPr>
          <p:spPr>
            <a:xfrm>
              <a:off x="8629650" y="2076450"/>
              <a:ext cx="133350" cy="133350"/>
            </a:xfrm>
            <a:prstGeom prst="roundRect">
              <a:avLst>
                <a:gd name="adj" fmla="val 21429"/>
              </a:avLst>
            </a:prstGeom>
            <a:solidFill>
              <a:srgbClr val="35D0BA"/>
            </a:solidFill>
            <a:ln w="0">
              <a:solidFill>
                <a:srgbClr val="35D0BA"/>
              </a:solidFill>
            </a:ln>
          </p:spPr>
        </p:sp>
        <p:sp>
          <p:nvSpPr>
            <p:cNvPr id="25" name="TextBox 25"/>
            <p:cNvSpPr txBox="1"/>
            <p:nvPr/>
          </p:nvSpPr>
          <p:spPr>
            <a:xfrm>
              <a:off x="8833485" y="2069306"/>
              <a:ext cx="787164" cy="220028"/>
            </a:xfrm>
            <a:prstGeom prst="rect">
              <a:avLst/>
            </a:prstGeom>
            <a:noFill/>
            <a:ln>
              <a:noFill/>
            </a:ln>
          </p:spPr>
          <p:txBody>
            <a:bodyPr wrap="none" lIns="0" tIns="0" rIns="0" bIns="0" anchor="t" anchorCtr="0">
              <a:spAutoFit/>
            </a:bodyPr>
            <a:lstStyle/>
            <a:p>
              <a:pPr algn="l"/>
              <a:r>
                <a:rPr lang="en-US" sz="1120" b="1" dirty="0">
                  <a:solidFill>
                    <a:srgbClr val="35D0BA"/>
                  </a:solidFill>
                  <a:latin typeface="+mn-lt"/>
                  <a:ea typeface="+mn-ea"/>
                  <a:cs typeface="+mn-cs"/>
                </a:rPr>
                <a:t>cumulants</a:t>
              </a:r>
            </a:p>
          </p:txBody>
        </p:sp>
        <p:sp>
          <p:nvSpPr>
            <p:cNvPr id="26" name="Rectangle 26"/>
            <p:cNvSpPr/>
            <p:nvPr/>
          </p:nvSpPr>
          <p:spPr>
            <a:xfrm>
              <a:off x="8629650" y="2362200"/>
              <a:ext cx="133350" cy="133350"/>
            </a:xfrm>
            <a:prstGeom prst="roundRect">
              <a:avLst>
                <a:gd name="adj" fmla="val 21429"/>
              </a:avLst>
            </a:prstGeom>
            <a:solidFill>
              <a:srgbClr val="4C8DFF"/>
            </a:solidFill>
            <a:ln w="0">
              <a:solidFill>
                <a:srgbClr val="4C8DFF"/>
              </a:solidFill>
            </a:ln>
          </p:spPr>
        </p:sp>
        <p:sp>
          <p:nvSpPr>
            <p:cNvPr id="27" name="TextBox 27"/>
            <p:cNvSpPr txBox="1"/>
            <p:nvPr/>
          </p:nvSpPr>
          <p:spPr>
            <a:xfrm>
              <a:off x="8833485" y="2355056"/>
              <a:ext cx="684261" cy="220028"/>
            </a:xfrm>
            <a:prstGeom prst="rect">
              <a:avLst/>
            </a:prstGeom>
            <a:noFill/>
            <a:ln>
              <a:noFill/>
            </a:ln>
          </p:spPr>
          <p:txBody>
            <a:bodyPr wrap="none" lIns="0" tIns="0" rIns="0" bIns="0" anchor="t" anchorCtr="0">
              <a:spAutoFit/>
            </a:bodyPr>
            <a:lstStyle/>
            <a:p>
              <a:pPr algn="l"/>
              <a:r>
                <a:rPr lang="en-US" sz="1120" b="1" dirty="0">
                  <a:solidFill>
                    <a:srgbClr val="4C8DFF"/>
                  </a:solidFill>
                  <a:latin typeface="+mn-lt"/>
                  <a:ea typeface="+mn-ea"/>
                  <a:cs typeface="+mn-cs"/>
                </a:rPr>
                <a:t>moments</a:t>
              </a:r>
            </a:p>
          </p:txBody>
        </p:sp>
        <p:sp>
          <p:nvSpPr>
            <p:cNvPr id="28" name="TextBox 28"/>
            <p:cNvSpPr txBox="1"/>
            <p:nvPr/>
          </p:nvSpPr>
          <p:spPr>
            <a:xfrm>
              <a:off x="8624697" y="2733199"/>
              <a:ext cx="1111501"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chance = diagonal</a:t>
              </a:r>
            </a:p>
          </p:txBody>
        </p:sp>
        <p:sp>
          <p:nvSpPr>
            <p:cNvPr id="29" name="TextBox 29"/>
            <p:cNvSpPr txBox="1"/>
            <p:nvPr/>
          </p:nvSpPr>
          <p:spPr>
            <a:xfrm>
              <a:off x="8624697" y="2961799"/>
              <a:ext cx="1399758"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The gap widens as the</a:t>
              </a:r>
            </a:p>
          </p:txBody>
        </p:sp>
        <p:sp>
          <p:nvSpPr>
            <p:cNvPr id="30" name="TextBox 30"/>
            <p:cNvSpPr txBox="1"/>
            <p:nvPr/>
          </p:nvSpPr>
          <p:spPr>
            <a:xfrm>
              <a:off x="8624697" y="3133249"/>
              <a:ext cx="1797525"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graphs per sample s shrink.</a:t>
              </a:r>
            </a:p>
          </p:txBody>
        </p:sp>
      </p:grpSp>
      <p:grpSp>
        <p:nvGrpSpPr>
          <p:cNvPr id="42" name="Group 42"/>
          <p:cNvGrpSpPr/>
          <p:nvPr/>
        </p:nvGrpSpPr>
        <p:grpSpPr>
          <a:xfrm>
            <a:off x="609600" y="3810000"/>
            <a:ext cx="5334000" cy="2457450"/>
            <a:chOff x="609600" y="3810000"/>
            <a:chExt cx="5334000" cy="2457450"/>
          </a:xfrm>
        </p:grpSpPr>
        <p:sp>
          <p:nvSpPr>
            <p:cNvPr id="32" name="Rectangle 32"/>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3" name="Rectangle 33"/>
            <p:cNvSpPr/>
            <p:nvPr/>
          </p:nvSpPr>
          <p:spPr>
            <a:xfrm>
              <a:off x="609600" y="3810000"/>
              <a:ext cx="57150" cy="2457450"/>
            </a:xfrm>
            <a:prstGeom prst="roundRect">
              <a:avLst>
                <a:gd name="adj" fmla="val 50000"/>
              </a:avLst>
            </a:prstGeom>
            <a:solidFill>
              <a:srgbClr val="FF6B6B"/>
            </a:solidFill>
            <a:ln w="0">
              <a:solidFill>
                <a:srgbClr val="FF6B6B"/>
              </a:solidFill>
            </a:ln>
          </p:spPr>
        </p:sp>
        <p:sp>
          <p:nvSpPr>
            <p:cNvPr id="34" name="TextBox 34"/>
            <p:cNvSpPr txBox="1"/>
            <p:nvPr/>
          </p:nvSpPr>
          <p:spPr>
            <a:xfrm>
              <a:off x="849630" y="4048125"/>
              <a:ext cx="308656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 moment test breaks down</a:t>
              </a:r>
            </a:p>
          </p:txBody>
        </p:sp>
        <p:sp>
          <p:nvSpPr>
            <p:cNvPr id="35" name="TextBox 35"/>
            <p:cNvSpPr txBox="1"/>
            <p:nvPr/>
          </p:nvSpPr>
          <p:spPr>
            <a:xfrm>
              <a:off x="852297" y="4333399"/>
              <a:ext cx="3558758"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below four graphs per sample its covariance is singular</a:t>
              </a:r>
            </a:p>
          </p:txBody>
        </p:sp>
        <p:sp>
          <p:nvSpPr>
            <p:cNvPr id="36" name="Rectangle 36"/>
            <p:cNvSpPr/>
            <p:nvPr/>
          </p:nvSpPr>
          <p:spPr>
            <a:xfrm>
              <a:off x="857250" y="4648200"/>
              <a:ext cx="2343150" cy="1143000"/>
            </a:xfrm>
            <a:prstGeom prst="roundRect">
              <a:avLst>
                <a:gd name="adj" fmla="val 11667"/>
              </a:avLst>
            </a:prstGeom>
            <a:solidFill>
              <a:schemeClr val="accent6"/>
            </a:solidFill>
            <a:ln w="14288">
              <a:solidFill>
                <a:srgbClr val="FF6B6B"/>
              </a:solidFill>
            </a:ln>
          </p:spPr>
        </p:sp>
        <p:sp>
          <p:nvSpPr>
            <p:cNvPr id="37" name="TextBox 37"/>
            <p:cNvSpPr txBox="1"/>
            <p:nvPr/>
          </p:nvSpPr>
          <p:spPr>
            <a:xfrm>
              <a:off x="1511248" y="4963478"/>
              <a:ext cx="1035154" cy="498729"/>
            </a:xfrm>
            <a:prstGeom prst="rect">
              <a:avLst/>
            </a:prstGeom>
            <a:noFill/>
            <a:ln>
              <a:noFill/>
            </a:ln>
          </p:spPr>
          <p:txBody>
            <a:bodyPr wrap="none" lIns="0" tIns="0" rIns="0" bIns="0" anchor="t" anchorCtr="0">
              <a:spAutoFit/>
            </a:bodyPr>
            <a:lstStyle/>
            <a:p>
              <a:pPr algn="ctr"/>
              <a:r>
                <a:rPr lang="en-US" sz="2550" b="1" dirty="0">
                  <a:solidFill>
                    <a:srgbClr val="FF6B6B"/>
                  </a:solidFill>
                  <a:latin typeface="+mn-lt"/>
                  <a:ea typeface="+mn-ea"/>
                  <a:cs typeface="+mn-cs"/>
                </a:rPr>
                <a:t>s &gt;= 4</a:t>
              </a:r>
            </a:p>
          </p:txBody>
        </p:sp>
        <p:sp>
          <p:nvSpPr>
            <p:cNvPr id="38" name="TextBox 38"/>
            <p:cNvSpPr txBox="1"/>
            <p:nvPr/>
          </p:nvSpPr>
          <p:spPr>
            <a:xfrm>
              <a:off x="1111777" y="5430202"/>
              <a:ext cx="1834096" cy="205359"/>
            </a:xfrm>
            <a:prstGeom prst="rect">
              <a:avLst/>
            </a:prstGeom>
            <a:noFill/>
            <a:ln>
              <a:noFill/>
            </a:ln>
          </p:spPr>
          <p:txBody>
            <a:bodyPr wrap="none" lIns="0" tIns="0" rIns="0" bIns="0" anchor="t" anchorCtr="0">
              <a:spAutoFit/>
            </a:bodyPr>
            <a:lstStyle/>
            <a:p>
              <a:pPr algn="ctr"/>
              <a:r>
                <a:rPr lang="en-US" sz="1050" dirty="0">
                  <a:solidFill>
                    <a:srgbClr val="9DB2C4"/>
                  </a:solidFill>
                  <a:latin typeface="+mn-lt"/>
                  <a:ea typeface="+mn-ea"/>
                  <a:cs typeface="+mn-cs"/>
                </a:rPr>
                <a:t>moment test to be defined</a:t>
              </a:r>
            </a:p>
          </p:txBody>
        </p:sp>
        <p:sp>
          <p:nvSpPr>
            <p:cNvPr id="39" name="Rectangle 39"/>
            <p:cNvSpPr/>
            <p:nvPr/>
          </p:nvSpPr>
          <p:spPr>
            <a:xfrm>
              <a:off x="3352800" y="4648200"/>
              <a:ext cx="2343150" cy="1143000"/>
            </a:xfrm>
            <a:prstGeom prst="roundRect">
              <a:avLst>
                <a:gd name="adj" fmla="val 11667"/>
              </a:avLst>
            </a:prstGeom>
            <a:solidFill>
              <a:schemeClr val="accent6"/>
            </a:solidFill>
            <a:ln w="14288">
              <a:solidFill>
                <a:srgbClr val="48D597"/>
              </a:solidFill>
            </a:ln>
          </p:spPr>
        </p:sp>
        <p:sp>
          <p:nvSpPr>
            <p:cNvPr id="40" name="TextBox 40"/>
            <p:cNvSpPr txBox="1"/>
            <p:nvPr/>
          </p:nvSpPr>
          <p:spPr>
            <a:xfrm>
              <a:off x="4105920" y="4963478"/>
              <a:ext cx="836909" cy="498729"/>
            </a:xfrm>
            <a:prstGeom prst="rect">
              <a:avLst/>
            </a:prstGeom>
            <a:noFill/>
            <a:ln>
              <a:noFill/>
            </a:ln>
          </p:spPr>
          <p:txBody>
            <a:bodyPr wrap="none" lIns="0" tIns="0" rIns="0" bIns="0" anchor="t" anchorCtr="0">
              <a:spAutoFit/>
            </a:bodyPr>
            <a:lstStyle/>
            <a:p>
              <a:pPr algn="ctr"/>
              <a:r>
                <a:rPr lang="en-US" sz="2550" b="1" dirty="0">
                  <a:solidFill>
                    <a:srgbClr val="48D597"/>
                  </a:solidFill>
                  <a:latin typeface="+mn-lt"/>
                  <a:ea typeface="+mn-ea"/>
                  <a:cs typeface="+mn-cs"/>
                </a:rPr>
                <a:t>s = 1</a:t>
              </a:r>
            </a:p>
          </p:txBody>
        </p:sp>
        <p:sp>
          <p:nvSpPr>
            <p:cNvPr id="41" name="TextBox 41"/>
            <p:cNvSpPr txBox="1"/>
            <p:nvPr/>
          </p:nvSpPr>
          <p:spPr>
            <a:xfrm>
              <a:off x="3642665" y="5430202"/>
              <a:ext cx="1763420" cy="205359"/>
            </a:xfrm>
            <a:prstGeom prst="rect">
              <a:avLst/>
            </a:prstGeom>
            <a:noFill/>
            <a:ln>
              <a:noFill/>
            </a:ln>
          </p:spPr>
          <p:txBody>
            <a:bodyPr wrap="none" lIns="0" tIns="0" rIns="0" bIns="0" anchor="t" anchorCtr="0">
              <a:spAutoFit/>
            </a:bodyPr>
            <a:lstStyle/>
            <a:p>
              <a:pPr algn="ctr"/>
              <a:r>
                <a:rPr lang="en-US" sz="1050" dirty="0">
                  <a:solidFill>
                    <a:srgbClr val="9DB2C4"/>
                  </a:solidFill>
                  <a:latin typeface="+mn-lt"/>
                  <a:ea typeface="+mn-ea"/>
                  <a:cs typeface="+mn-cs"/>
                </a:rPr>
                <a:t>cumulant test still works</a:t>
              </a:r>
            </a:p>
          </p:txBody>
        </p:sp>
      </p:grpSp>
      <p:grpSp>
        <p:nvGrpSpPr>
          <p:cNvPr id="53" name="Group 53"/>
          <p:cNvGrpSpPr/>
          <p:nvPr/>
        </p:nvGrpSpPr>
        <p:grpSpPr>
          <a:xfrm>
            <a:off x="6248400" y="3810000"/>
            <a:ext cx="5334000" cy="2457450"/>
            <a:chOff x="6248400" y="3810000"/>
            <a:chExt cx="5334000" cy="2457450"/>
          </a:xfrm>
        </p:grpSpPr>
        <p:sp>
          <p:nvSpPr>
            <p:cNvPr id="43" name="Rectangle 43"/>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44" name="Rectangle 44"/>
            <p:cNvSpPr/>
            <p:nvPr/>
          </p:nvSpPr>
          <p:spPr>
            <a:xfrm>
              <a:off x="6248400" y="3810000"/>
              <a:ext cx="57150" cy="2457450"/>
            </a:xfrm>
            <a:prstGeom prst="roundRect">
              <a:avLst>
                <a:gd name="adj" fmla="val 50000"/>
              </a:avLst>
            </a:prstGeom>
            <a:solidFill>
              <a:srgbClr val="4C8DFF"/>
            </a:solidFill>
            <a:ln w="0">
              <a:solidFill>
                <a:srgbClr val="4C8DFF"/>
              </a:solidFill>
            </a:ln>
          </p:spPr>
        </p:sp>
        <p:sp>
          <p:nvSpPr>
            <p:cNvPr id="45" name="TextBox 45"/>
            <p:cNvSpPr txBox="1"/>
            <p:nvPr/>
          </p:nvSpPr>
          <p:spPr>
            <a:xfrm>
              <a:off x="6488430" y="4048125"/>
              <a:ext cx="299091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Same story on real networks</a:t>
              </a:r>
            </a:p>
          </p:txBody>
        </p:sp>
        <p:sp>
          <p:nvSpPr>
            <p:cNvPr id="46" name="TextBox 46"/>
            <p:cNvSpPr txBox="1"/>
            <p:nvPr/>
          </p:nvSpPr>
          <p:spPr>
            <a:xfrm>
              <a:off x="6489573" y="4453414"/>
              <a:ext cx="4309345"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With edge density held equal, adding more subgraph</a:t>
              </a:r>
            </a:p>
          </p:txBody>
        </p:sp>
        <p:sp>
          <p:nvSpPr>
            <p:cNvPr id="47" name="TextBox 47"/>
            <p:cNvSpPr txBox="1"/>
            <p:nvPr/>
          </p:nvSpPr>
          <p:spPr>
            <a:xfrm>
              <a:off x="6489573" y="4691539"/>
              <a:ext cx="4501723"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orders steadily sharpens the cumulant test — while it</a:t>
              </a:r>
            </a:p>
          </p:txBody>
        </p:sp>
        <p:sp>
          <p:nvSpPr>
            <p:cNvPr id="48" name="TextBox 48"/>
            <p:cNvSpPr txBox="1"/>
            <p:nvPr/>
          </p:nvSpPr>
          <p:spPr>
            <a:xfrm>
              <a:off x="6489573" y="4929664"/>
              <a:ext cx="4389719" cy="249364"/>
            </a:xfrm>
            <a:prstGeom prst="rect">
              <a:avLst/>
            </a:prstGeom>
            <a:noFill/>
            <a:ln>
              <a:noFill/>
            </a:ln>
          </p:spPr>
          <p:txBody>
            <a:bodyPr wrap="none" lIns="0" tIns="0" rIns="0" bIns="0" anchor="t" anchorCtr="0">
              <a:spAutoFit/>
            </a:bodyPr>
            <a:lstStyle/>
            <a:p>
              <a:pPr algn="l"/>
              <a:r>
                <a:rPr lang="en-US" sz="1280" dirty="0">
                  <a:solidFill>
                    <a:srgbClr val="9DB2C4"/>
                  </a:solidFill>
                  <a:latin typeface="+mn-lt"/>
                  <a:ea typeface="+mn-ea"/>
                  <a:cs typeface="+mn-cs"/>
                </a:rPr>
                <a:t>makes the moment test overfit and perform worse.</a:t>
              </a:r>
            </a:p>
          </p:txBody>
        </p:sp>
        <p:sp>
          <p:nvSpPr>
            <p:cNvPr id="49" name="Rectangle 49"/>
            <p:cNvSpPr/>
            <p:nvPr/>
          </p:nvSpPr>
          <p:spPr>
            <a:xfrm>
              <a:off x="6496050" y="5676900"/>
              <a:ext cx="1905000" cy="247650"/>
            </a:xfrm>
            <a:prstGeom prst="roundRect">
              <a:avLst>
                <a:gd name="adj" fmla="val 50000"/>
              </a:avLst>
            </a:prstGeom>
            <a:solidFill>
              <a:srgbClr val="48D597"/>
            </a:solidFill>
            <a:ln w="0">
              <a:solidFill>
                <a:srgbClr val="48D597"/>
              </a:solidFill>
            </a:ln>
          </p:spPr>
        </p:sp>
        <p:sp>
          <p:nvSpPr>
            <p:cNvPr id="50" name="TextBox 50"/>
            <p:cNvSpPr txBox="1"/>
            <p:nvPr/>
          </p:nvSpPr>
          <p:spPr>
            <a:xfrm>
              <a:off x="6730807" y="5735002"/>
              <a:ext cx="1435486"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cumulants: sharpen</a:t>
              </a:r>
            </a:p>
          </p:txBody>
        </p:sp>
        <p:sp>
          <p:nvSpPr>
            <p:cNvPr id="51" name="Rectangle 51"/>
            <p:cNvSpPr/>
            <p:nvPr/>
          </p:nvSpPr>
          <p:spPr>
            <a:xfrm>
              <a:off x="8496300" y="5676900"/>
              <a:ext cx="1905000" cy="247650"/>
            </a:xfrm>
            <a:prstGeom prst="roundRect">
              <a:avLst>
                <a:gd name="adj" fmla="val 50000"/>
              </a:avLst>
            </a:prstGeom>
            <a:solidFill>
              <a:srgbClr val="FF6B6B"/>
            </a:solidFill>
            <a:ln w="0">
              <a:solidFill>
                <a:srgbClr val="FF6B6B"/>
              </a:solidFill>
            </a:ln>
          </p:spPr>
        </p:sp>
        <p:sp>
          <p:nvSpPr>
            <p:cNvPr id="52" name="TextBox 52"/>
            <p:cNvSpPr txBox="1"/>
            <p:nvPr/>
          </p:nvSpPr>
          <p:spPr>
            <a:xfrm>
              <a:off x="8797845" y="5735002"/>
              <a:ext cx="1301909"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moments: overfit</a:t>
              </a:r>
            </a:p>
          </p:txBody>
        </p:sp>
      </p:grpSp>
      <p:sp>
        <p:nvSpPr>
          <p:cNvPr id="54" name="cue_s07_c1_results_decisive" title="cue_s07_c1_results_decisive" descr="cue_s07_c1_results_decisive The results are decisive."/>
          <p:cNvSpPr/>
          <p:nvPr/>
        </p:nvSpPr>
        <p:spPr>
          <a:xfrm>
            <a:off x="609600" y="1161745"/>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2_synthetic_block_models_test_cumulant" title="cue_s07_c2_synthetic_block_models_test_cumulant" descr="cue_s07_c2_synthetic_block_models_test_cumulant On synthetic block models, the test using cumulants achieves a consistently higher area under the ROC curve than the test using moments, and the advantage widens as the number of graphs per sample shrinks."/>
          <p:cNvSpPr/>
          <p:nvPr/>
        </p:nvSpPr>
        <p:spPr>
          <a:xfrm>
            <a:off x="6248399" y="1161745"/>
            <a:ext cx="5334000" cy="247916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3_moment_test_breaks_down_entirely" title="cue_s07_c3_moment_test_breaks_down_entirely" descr="cue_s07_c3_moment_test_breaks_down_entirely The moment test breaks down entirely below four graphs per sample, where its covariance estimate becomes singular, while the cumulant test keeps working all the way down to a single graph."/>
          <p:cNvSpPr/>
          <p:nvPr/>
        </p:nvSpPr>
        <p:spPr>
          <a:xfrm>
            <a:off x="609600"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4_same_pattern_holds_real_biological" title="cue_s07_c4_same_pattern_holds_real_biological" descr="cue_s07_c4_same_pattern_holds_real_biological The same pattern holds on real biological networks: with edge density held equal, adding more subgraph orders steadily sharpens the cumulant test, whereas it makes the moment test overfit and perform worse."/>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526627"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ABLATION STUDY</a:t>
            </a:r>
          </a:p>
        </p:txBody>
      </p:sp>
      <p:sp>
        <p:nvSpPr>
          <p:cNvPr id="4" name="TextBox 4"/>
          <p:cNvSpPr txBox="1"/>
          <p:nvPr/>
        </p:nvSpPr>
        <p:spPr>
          <a:xfrm>
            <a:off x="807720" y="614362"/>
            <a:ext cx="610816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Sweeping subgraph order r on real data</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08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22" name="Group 22"/>
          <p:cNvGrpSpPr/>
          <p:nvPr/>
        </p:nvGrpSpPr>
        <p:grpSpPr>
          <a:xfrm>
            <a:off x="609600" y="1162050"/>
            <a:ext cx="5334000" cy="2473261"/>
            <a:chOff x="609600" y="1162050"/>
            <a:chExt cx="5334000" cy="2473261"/>
          </a:xfrm>
        </p:grpSpPr>
        <p:sp>
          <p:nvSpPr>
            <p:cNvPr id="7" name="Rectangle 7"/>
            <p:cNvSpPr/>
            <p:nvPr/>
          </p:nvSpPr>
          <p:spPr>
            <a:xfrm>
              <a:off x="609600" y="1162050"/>
              <a:ext cx="5334000" cy="2457450"/>
            </a:xfrm>
            <a:prstGeom prst="roundRect">
              <a:avLst>
                <a:gd name="adj" fmla="val 5426"/>
              </a:avLst>
            </a:prstGeom>
            <a:solidFill>
              <a:schemeClr val="accent5"/>
            </a:solidFill>
            <a:ln w="14288">
              <a:solidFill>
                <a:srgbClr val="1E3A52"/>
              </a:solidFill>
            </a:ln>
          </p:spPr>
        </p:sp>
        <p:sp>
          <p:nvSpPr>
            <p:cNvPr id="8" name="Rectangle 8"/>
            <p:cNvSpPr/>
            <p:nvPr/>
          </p:nvSpPr>
          <p:spPr>
            <a:xfrm>
              <a:off x="609600" y="1162050"/>
              <a:ext cx="57150" cy="2457450"/>
            </a:xfrm>
            <a:prstGeom prst="roundRect">
              <a:avLst>
                <a:gd name="adj" fmla="val 50000"/>
              </a:avLst>
            </a:prstGeom>
            <a:solidFill>
              <a:srgbClr val="35D0BA"/>
            </a:solidFill>
            <a:ln w="0">
              <a:solidFill>
                <a:srgbClr val="35D0BA"/>
              </a:solidFill>
            </a:ln>
          </p:spPr>
        </p:sp>
        <p:sp>
          <p:nvSpPr>
            <p:cNvPr id="9" name="TextBox 9"/>
            <p:cNvSpPr txBox="1"/>
            <p:nvPr/>
          </p:nvSpPr>
          <p:spPr>
            <a:xfrm>
              <a:off x="849630" y="1400175"/>
              <a:ext cx="254787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Order r = 1 (edges only)</a:t>
              </a:r>
            </a:p>
          </p:txBody>
        </p:sp>
        <p:sp>
          <p:nvSpPr>
            <p:cNvPr id="10" name="TextBox 10"/>
            <p:cNvSpPr txBox="1"/>
            <p:nvPr/>
          </p:nvSpPr>
          <p:spPr>
            <a:xfrm>
              <a:off x="852297" y="1704499"/>
              <a:ext cx="3503560"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AUC axis 0.5 (chance) to 1.0 - schematic of the trend</a:t>
              </a:r>
            </a:p>
          </p:txBody>
        </p:sp>
        <p:sp>
          <p:nvSpPr>
            <p:cNvPr id="11" name="Line 11"/>
            <p:cNvSpPr/>
            <p:nvPr/>
          </p:nvSpPr>
          <p:spPr>
            <a:xfrm>
              <a:off x="1276350" y="2114550"/>
              <a:ext cx="9525" cy="1219200"/>
            </a:xfrm>
            <a:custGeom>
              <a:avLst/>
              <a:gdLst/>
              <a:ahLst/>
              <a:cxnLst/>
              <a:rect l="l" t="t" r="r" b="b"/>
              <a:pathLst>
                <a:path w="9525" h="1219200">
                  <a:moveTo>
                    <a:pt x="0" y="0"/>
                  </a:moveTo>
                  <a:lnTo>
                    <a:pt x="0" y="1219200"/>
                  </a:lnTo>
                </a:path>
              </a:pathLst>
            </a:custGeom>
            <a:noFill/>
            <a:ln w="14288">
              <a:solidFill>
                <a:srgbClr val="1E3A52"/>
              </a:solidFill>
            </a:ln>
          </p:spPr>
        </p:sp>
        <p:sp>
          <p:nvSpPr>
            <p:cNvPr id="12" name="Line 12"/>
            <p:cNvSpPr/>
            <p:nvPr/>
          </p:nvSpPr>
          <p:spPr>
            <a:xfrm>
              <a:off x="1276350" y="2114550"/>
              <a:ext cx="4343400" cy="9525"/>
            </a:xfrm>
            <a:custGeom>
              <a:avLst/>
              <a:gdLst/>
              <a:ahLst/>
              <a:cxnLst/>
              <a:rect l="l" t="t" r="r" b="b"/>
              <a:pathLst>
                <a:path w="4343400" h="9525">
                  <a:moveTo>
                    <a:pt x="0" y="0"/>
                  </a:moveTo>
                  <a:lnTo>
                    <a:pt x="4343400" y="0"/>
                  </a:lnTo>
                </a:path>
              </a:pathLst>
            </a:custGeom>
            <a:noFill/>
            <a:ln w="9525">
              <a:solidFill>
                <a:srgbClr val="1E3A52"/>
              </a:solidFill>
              <a:prstDash val="dash"/>
            </a:ln>
          </p:spPr>
        </p:sp>
        <p:sp>
          <p:nvSpPr>
            <p:cNvPr id="13" name="TextBox 13"/>
            <p:cNvSpPr txBox="1"/>
            <p:nvPr/>
          </p:nvSpPr>
          <p:spPr>
            <a:xfrm>
              <a:off x="957377" y="2065020"/>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1.0</a:t>
              </a:r>
            </a:p>
          </p:txBody>
        </p:sp>
        <p:sp>
          <p:nvSpPr>
            <p:cNvPr id="14" name="Line 14"/>
            <p:cNvSpPr/>
            <p:nvPr/>
          </p:nvSpPr>
          <p:spPr>
            <a:xfrm>
              <a:off x="1276350" y="3333750"/>
              <a:ext cx="4343400" cy="9525"/>
            </a:xfrm>
            <a:custGeom>
              <a:avLst/>
              <a:gdLst/>
              <a:ahLst/>
              <a:cxnLst/>
              <a:rect l="l" t="t" r="r" b="b"/>
              <a:pathLst>
                <a:path w="4343400" h="9525">
                  <a:moveTo>
                    <a:pt x="0" y="0"/>
                  </a:moveTo>
                  <a:lnTo>
                    <a:pt x="4343400" y="0"/>
                  </a:lnTo>
                </a:path>
              </a:pathLst>
            </a:custGeom>
            <a:noFill/>
            <a:ln w="14288">
              <a:solidFill>
                <a:srgbClr val="1E3A52"/>
              </a:solidFill>
            </a:ln>
          </p:spPr>
        </p:sp>
        <p:sp>
          <p:nvSpPr>
            <p:cNvPr id="15" name="TextBox 15"/>
            <p:cNvSpPr txBox="1"/>
            <p:nvPr/>
          </p:nvSpPr>
          <p:spPr>
            <a:xfrm>
              <a:off x="957377" y="3274695"/>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0.5</a:t>
              </a:r>
            </a:p>
          </p:txBody>
        </p:sp>
        <p:sp>
          <p:nvSpPr>
            <p:cNvPr id="16" name="Rectangle 16"/>
            <p:cNvSpPr/>
            <p:nvPr/>
          </p:nvSpPr>
          <p:spPr>
            <a:xfrm>
              <a:off x="2038350" y="3279458"/>
              <a:ext cx="1333500" cy="54292"/>
            </a:xfrm>
            <a:prstGeom prst="roundRect">
              <a:avLst>
                <a:gd name="adj" fmla="val 50000"/>
              </a:avLst>
            </a:prstGeom>
            <a:solidFill>
              <a:srgbClr val="4C8DFF"/>
            </a:solidFill>
            <a:ln w="0">
              <a:solidFill>
                <a:srgbClr val="4C8DFF"/>
              </a:solidFill>
            </a:ln>
          </p:spPr>
        </p:sp>
        <p:sp>
          <p:nvSpPr>
            <p:cNvPr id="17" name="TextBox 17"/>
            <p:cNvSpPr txBox="1"/>
            <p:nvPr/>
          </p:nvSpPr>
          <p:spPr>
            <a:xfrm>
              <a:off x="2384377" y="3429952"/>
              <a:ext cx="641447" cy="205359"/>
            </a:xfrm>
            <a:prstGeom prst="rect">
              <a:avLst/>
            </a:prstGeom>
            <a:noFill/>
            <a:ln>
              <a:noFill/>
            </a:ln>
          </p:spPr>
          <p:txBody>
            <a:bodyPr wrap="none" lIns="0" tIns="0" rIns="0" bIns="0" anchor="t" anchorCtr="0">
              <a:spAutoFit/>
            </a:bodyPr>
            <a:lstStyle/>
            <a:p>
              <a:pPr algn="ctr"/>
              <a:r>
                <a:rPr lang="en-US" sz="1050" b="1" dirty="0">
                  <a:solidFill>
                    <a:srgbClr val="4C8DFF"/>
                  </a:solidFill>
                  <a:latin typeface="+mn-lt"/>
                  <a:ea typeface="+mn-ea"/>
                  <a:cs typeface="+mn-cs"/>
                </a:rPr>
                <a:t>moments</a:t>
              </a:r>
            </a:p>
          </p:txBody>
        </p:sp>
        <p:sp>
          <p:nvSpPr>
            <p:cNvPr id="18" name="Rectangle 18"/>
            <p:cNvSpPr/>
            <p:nvPr/>
          </p:nvSpPr>
          <p:spPr>
            <a:xfrm>
              <a:off x="4038600" y="3279458"/>
              <a:ext cx="1333500" cy="54292"/>
            </a:xfrm>
            <a:prstGeom prst="roundRect">
              <a:avLst>
                <a:gd name="adj" fmla="val 50000"/>
              </a:avLst>
            </a:prstGeom>
            <a:solidFill>
              <a:srgbClr val="35D0BA"/>
            </a:solidFill>
            <a:ln w="0">
              <a:solidFill>
                <a:srgbClr val="35D0BA"/>
              </a:solidFill>
            </a:ln>
          </p:spPr>
        </p:sp>
        <p:sp>
          <p:nvSpPr>
            <p:cNvPr id="19" name="TextBox 19"/>
            <p:cNvSpPr txBox="1"/>
            <p:nvPr/>
          </p:nvSpPr>
          <p:spPr>
            <a:xfrm>
              <a:off x="4336391" y="3429952"/>
              <a:ext cx="737919" cy="205359"/>
            </a:xfrm>
            <a:prstGeom prst="rect">
              <a:avLst/>
            </a:prstGeom>
            <a:noFill/>
            <a:ln>
              <a:noFill/>
            </a:ln>
          </p:spPr>
          <p:txBody>
            <a:bodyPr wrap="none" lIns="0" tIns="0" rIns="0" bIns="0" anchor="t" anchorCtr="0">
              <a:spAutoFit/>
            </a:bodyPr>
            <a:lstStyle/>
            <a:p>
              <a:pPr algn="ctr"/>
              <a:r>
                <a:rPr lang="en-US" sz="1050" b="1" dirty="0">
                  <a:solidFill>
                    <a:srgbClr val="35D0BA"/>
                  </a:solidFill>
                  <a:latin typeface="+mn-lt"/>
                  <a:ea typeface="+mn-ea"/>
                  <a:cs typeface="+mn-cs"/>
                </a:rPr>
                <a:t>cumulants</a:t>
              </a:r>
            </a:p>
          </p:txBody>
        </p:sp>
        <p:sp>
          <p:nvSpPr>
            <p:cNvPr id="20" name="TextBox 20"/>
            <p:cNvSpPr txBox="1"/>
            <p:nvPr/>
          </p:nvSpPr>
          <p:spPr>
            <a:xfrm>
              <a:off x="2751153" y="2306002"/>
              <a:ext cx="1812893" cy="205359"/>
            </a:xfrm>
            <a:prstGeom prst="rect">
              <a:avLst/>
            </a:prstGeom>
            <a:noFill/>
            <a:ln>
              <a:noFill/>
            </a:ln>
          </p:spPr>
          <p:txBody>
            <a:bodyPr wrap="none" lIns="0" tIns="0" rIns="0" bIns="0" anchor="t" anchorCtr="0">
              <a:spAutoFit/>
            </a:bodyPr>
            <a:lstStyle/>
            <a:p>
              <a:pPr algn="ctr"/>
              <a:r>
                <a:rPr lang="en-US" sz="1050" dirty="0">
                  <a:solidFill>
                    <a:srgbClr val="FF6B6B"/>
                  </a:solidFill>
                  <a:latin typeface="+mn-lt"/>
                  <a:ea typeface="+mn-ea"/>
                  <a:cs typeface="+mn-cs"/>
                </a:rPr>
                <a:t>neither test can separate</a:t>
              </a:r>
            </a:p>
          </p:txBody>
        </p:sp>
        <p:sp>
          <p:nvSpPr>
            <p:cNvPr id="21" name="TextBox 21"/>
            <p:cNvSpPr txBox="1"/>
            <p:nvPr/>
          </p:nvSpPr>
          <p:spPr>
            <a:xfrm>
              <a:off x="2588600" y="2477452"/>
              <a:ext cx="2138001" cy="205359"/>
            </a:xfrm>
            <a:prstGeom prst="rect">
              <a:avLst/>
            </a:prstGeom>
            <a:noFill/>
            <a:ln>
              <a:noFill/>
            </a:ln>
          </p:spPr>
          <p:txBody>
            <a:bodyPr wrap="none" lIns="0" tIns="0" rIns="0" bIns="0" anchor="t" anchorCtr="0">
              <a:spAutoFit/>
            </a:bodyPr>
            <a:lstStyle/>
            <a:p>
              <a:pPr algn="ctr"/>
              <a:r>
                <a:rPr lang="en-US" sz="1050" dirty="0">
                  <a:solidFill>
                    <a:srgbClr val="FF6B6B"/>
                  </a:solidFill>
                  <a:latin typeface="+mn-lt"/>
                  <a:ea typeface="+mn-ea"/>
                  <a:cs typeface="+mn-cs"/>
                </a:rPr>
                <a:t>the density-matched networks</a:t>
              </a:r>
            </a:p>
          </p:txBody>
        </p:sp>
      </p:grpSp>
      <p:grpSp>
        <p:nvGrpSpPr>
          <p:cNvPr id="36" name="Group 36"/>
          <p:cNvGrpSpPr/>
          <p:nvPr/>
        </p:nvGrpSpPr>
        <p:grpSpPr>
          <a:xfrm>
            <a:off x="6248400" y="1162050"/>
            <a:ext cx="5334000" cy="2473261"/>
            <a:chOff x="6248400" y="1162050"/>
            <a:chExt cx="5334000" cy="2473261"/>
          </a:xfrm>
        </p:grpSpPr>
        <p:sp>
          <p:nvSpPr>
            <p:cNvPr id="23" name="Rectangle 23"/>
            <p:cNvSpPr/>
            <p:nvPr/>
          </p:nvSpPr>
          <p:spPr>
            <a:xfrm>
              <a:off x="6248400" y="1162050"/>
              <a:ext cx="5334000" cy="2457450"/>
            </a:xfrm>
            <a:prstGeom prst="roundRect">
              <a:avLst>
                <a:gd name="adj" fmla="val 5426"/>
              </a:avLst>
            </a:prstGeom>
            <a:solidFill>
              <a:schemeClr val="accent5"/>
            </a:solidFill>
            <a:ln w="14288">
              <a:solidFill>
                <a:srgbClr val="1E3A52"/>
              </a:solidFill>
            </a:ln>
          </p:spPr>
        </p:sp>
        <p:sp>
          <p:nvSpPr>
            <p:cNvPr id="24" name="Rectangle 24"/>
            <p:cNvSpPr/>
            <p:nvPr/>
          </p:nvSpPr>
          <p:spPr>
            <a:xfrm>
              <a:off x="6248400" y="1162050"/>
              <a:ext cx="57150" cy="2457450"/>
            </a:xfrm>
            <a:prstGeom prst="roundRect">
              <a:avLst>
                <a:gd name="adj" fmla="val 50000"/>
              </a:avLst>
            </a:prstGeom>
            <a:solidFill>
              <a:srgbClr val="F5B841"/>
            </a:solidFill>
            <a:ln w="0">
              <a:solidFill>
                <a:srgbClr val="F5B841"/>
              </a:solidFill>
            </a:ln>
          </p:spPr>
        </p:sp>
        <p:sp>
          <p:nvSpPr>
            <p:cNvPr id="25" name="TextBox 25"/>
            <p:cNvSpPr txBox="1"/>
            <p:nvPr/>
          </p:nvSpPr>
          <p:spPr>
            <a:xfrm>
              <a:off x="6488430" y="1400175"/>
              <a:ext cx="264364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Order r = 2 (add wedges)</a:t>
              </a:r>
            </a:p>
          </p:txBody>
        </p:sp>
        <p:sp>
          <p:nvSpPr>
            <p:cNvPr id="26" name="TextBox 26"/>
            <p:cNvSpPr txBox="1"/>
            <p:nvPr/>
          </p:nvSpPr>
          <p:spPr>
            <a:xfrm>
              <a:off x="6491097" y="1704499"/>
              <a:ext cx="2166922"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cumulants already tip the balance</a:t>
              </a:r>
            </a:p>
          </p:txBody>
        </p:sp>
        <p:sp>
          <p:nvSpPr>
            <p:cNvPr id="27" name="Line 27"/>
            <p:cNvSpPr/>
            <p:nvPr/>
          </p:nvSpPr>
          <p:spPr>
            <a:xfrm>
              <a:off x="6915150" y="2114550"/>
              <a:ext cx="9525" cy="1219200"/>
            </a:xfrm>
            <a:custGeom>
              <a:avLst/>
              <a:gdLst/>
              <a:ahLst/>
              <a:cxnLst/>
              <a:rect l="l" t="t" r="r" b="b"/>
              <a:pathLst>
                <a:path w="9525" h="1219200">
                  <a:moveTo>
                    <a:pt x="0" y="0"/>
                  </a:moveTo>
                  <a:lnTo>
                    <a:pt x="0" y="1219200"/>
                  </a:lnTo>
                </a:path>
              </a:pathLst>
            </a:custGeom>
            <a:noFill/>
            <a:ln w="14288">
              <a:solidFill>
                <a:srgbClr val="1E3A52"/>
              </a:solidFill>
            </a:ln>
          </p:spPr>
        </p:sp>
        <p:sp>
          <p:nvSpPr>
            <p:cNvPr id="28" name="Line 28"/>
            <p:cNvSpPr/>
            <p:nvPr/>
          </p:nvSpPr>
          <p:spPr>
            <a:xfrm>
              <a:off x="6915150" y="2114550"/>
              <a:ext cx="4343400" cy="9525"/>
            </a:xfrm>
            <a:custGeom>
              <a:avLst/>
              <a:gdLst/>
              <a:ahLst/>
              <a:cxnLst/>
              <a:rect l="l" t="t" r="r" b="b"/>
              <a:pathLst>
                <a:path w="4343400" h="9525">
                  <a:moveTo>
                    <a:pt x="0" y="0"/>
                  </a:moveTo>
                  <a:lnTo>
                    <a:pt x="4343400" y="0"/>
                  </a:lnTo>
                </a:path>
              </a:pathLst>
            </a:custGeom>
            <a:noFill/>
            <a:ln w="9525">
              <a:solidFill>
                <a:srgbClr val="1E3A52"/>
              </a:solidFill>
              <a:prstDash val="dash"/>
            </a:ln>
          </p:spPr>
        </p:sp>
        <p:sp>
          <p:nvSpPr>
            <p:cNvPr id="29" name="TextBox 29"/>
            <p:cNvSpPr txBox="1"/>
            <p:nvPr/>
          </p:nvSpPr>
          <p:spPr>
            <a:xfrm>
              <a:off x="6596177" y="2065020"/>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1.0</a:t>
              </a:r>
            </a:p>
          </p:txBody>
        </p:sp>
        <p:sp>
          <p:nvSpPr>
            <p:cNvPr id="30" name="Line 30"/>
            <p:cNvSpPr/>
            <p:nvPr/>
          </p:nvSpPr>
          <p:spPr>
            <a:xfrm>
              <a:off x="6915150" y="3333750"/>
              <a:ext cx="4343400" cy="9525"/>
            </a:xfrm>
            <a:custGeom>
              <a:avLst/>
              <a:gdLst/>
              <a:ahLst/>
              <a:cxnLst/>
              <a:rect l="l" t="t" r="r" b="b"/>
              <a:pathLst>
                <a:path w="4343400" h="9525">
                  <a:moveTo>
                    <a:pt x="0" y="0"/>
                  </a:moveTo>
                  <a:lnTo>
                    <a:pt x="4343400" y="0"/>
                  </a:lnTo>
                </a:path>
              </a:pathLst>
            </a:custGeom>
            <a:noFill/>
            <a:ln w="14288">
              <a:solidFill>
                <a:srgbClr val="1E3A52"/>
              </a:solidFill>
            </a:ln>
          </p:spPr>
        </p:sp>
        <p:sp>
          <p:nvSpPr>
            <p:cNvPr id="31" name="TextBox 31"/>
            <p:cNvSpPr txBox="1"/>
            <p:nvPr/>
          </p:nvSpPr>
          <p:spPr>
            <a:xfrm>
              <a:off x="6596177" y="3274695"/>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0.5</a:t>
              </a:r>
            </a:p>
          </p:txBody>
        </p:sp>
        <p:sp>
          <p:nvSpPr>
            <p:cNvPr id="32" name="Rectangle 32"/>
            <p:cNvSpPr/>
            <p:nvPr/>
          </p:nvSpPr>
          <p:spPr>
            <a:xfrm>
              <a:off x="7677150" y="2981325"/>
              <a:ext cx="1333500" cy="352425"/>
            </a:xfrm>
            <a:prstGeom prst="roundRect">
              <a:avLst>
                <a:gd name="adj" fmla="val 13514"/>
              </a:avLst>
            </a:prstGeom>
            <a:solidFill>
              <a:srgbClr val="4C8DFF"/>
            </a:solidFill>
            <a:ln w="0">
              <a:solidFill>
                <a:srgbClr val="4C8DFF"/>
              </a:solidFill>
            </a:ln>
          </p:spPr>
        </p:sp>
        <p:sp>
          <p:nvSpPr>
            <p:cNvPr id="33" name="TextBox 33"/>
            <p:cNvSpPr txBox="1"/>
            <p:nvPr/>
          </p:nvSpPr>
          <p:spPr>
            <a:xfrm>
              <a:off x="8023177" y="3429952"/>
              <a:ext cx="641447" cy="205359"/>
            </a:xfrm>
            <a:prstGeom prst="rect">
              <a:avLst/>
            </a:prstGeom>
            <a:noFill/>
            <a:ln>
              <a:noFill/>
            </a:ln>
          </p:spPr>
          <p:txBody>
            <a:bodyPr wrap="none" lIns="0" tIns="0" rIns="0" bIns="0" anchor="t" anchorCtr="0">
              <a:spAutoFit/>
            </a:bodyPr>
            <a:lstStyle/>
            <a:p>
              <a:pPr algn="ctr"/>
              <a:r>
                <a:rPr lang="en-US" sz="1050" b="1" dirty="0">
                  <a:solidFill>
                    <a:srgbClr val="4C8DFF"/>
                  </a:solidFill>
                  <a:latin typeface="+mn-lt"/>
                  <a:ea typeface="+mn-ea"/>
                  <a:cs typeface="+mn-cs"/>
                </a:rPr>
                <a:t>moments</a:t>
              </a:r>
            </a:p>
          </p:txBody>
        </p:sp>
        <p:sp>
          <p:nvSpPr>
            <p:cNvPr id="34" name="Rectangle 34"/>
            <p:cNvSpPr/>
            <p:nvPr/>
          </p:nvSpPr>
          <p:spPr>
            <a:xfrm>
              <a:off x="9677400" y="2521268"/>
              <a:ext cx="1333500" cy="812482"/>
            </a:xfrm>
            <a:prstGeom prst="roundRect">
              <a:avLst>
                <a:gd name="adj" fmla="val 5862"/>
              </a:avLst>
            </a:prstGeom>
            <a:solidFill>
              <a:srgbClr val="35D0BA"/>
            </a:solidFill>
            <a:ln w="0">
              <a:solidFill>
                <a:srgbClr val="35D0BA"/>
              </a:solidFill>
            </a:ln>
          </p:spPr>
        </p:sp>
        <p:sp>
          <p:nvSpPr>
            <p:cNvPr id="35" name="TextBox 35"/>
            <p:cNvSpPr txBox="1"/>
            <p:nvPr/>
          </p:nvSpPr>
          <p:spPr>
            <a:xfrm>
              <a:off x="9975191" y="3429952"/>
              <a:ext cx="737919" cy="205359"/>
            </a:xfrm>
            <a:prstGeom prst="rect">
              <a:avLst/>
            </a:prstGeom>
            <a:noFill/>
            <a:ln>
              <a:noFill/>
            </a:ln>
          </p:spPr>
          <p:txBody>
            <a:bodyPr wrap="none" lIns="0" tIns="0" rIns="0" bIns="0" anchor="t" anchorCtr="0">
              <a:spAutoFit/>
            </a:bodyPr>
            <a:lstStyle/>
            <a:p>
              <a:pPr algn="ctr"/>
              <a:r>
                <a:rPr lang="en-US" sz="1050" b="1" dirty="0">
                  <a:solidFill>
                    <a:srgbClr val="35D0BA"/>
                  </a:solidFill>
                  <a:latin typeface="+mn-lt"/>
                  <a:ea typeface="+mn-ea"/>
                  <a:cs typeface="+mn-cs"/>
                </a:rPr>
                <a:t>cumulants</a:t>
              </a:r>
            </a:p>
          </p:txBody>
        </p:sp>
      </p:grpSp>
      <p:grpSp>
        <p:nvGrpSpPr>
          <p:cNvPr id="50" name="Group 50"/>
          <p:cNvGrpSpPr/>
          <p:nvPr/>
        </p:nvGrpSpPr>
        <p:grpSpPr>
          <a:xfrm>
            <a:off x="609600" y="3810000"/>
            <a:ext cx="5334000" cy="2473261"/>
            <a:chOff x="609600" y="3810000"/>
            <a:chExt cx="5334000" cy="2473261"/>
          </a:xfrm>
        </p:grpSpPr>
        <p:sp>
          <p:nvSpPr>
            <p:cNvPr id="37" name="Rectangle 37"/>
            <p:cNvSpPr/>
            <p:nvPr/>
          </p:nvSpPr>
          <p:spPr>
            <a:xfrm>
              <a:off x="609600" y="3810000"/>
              <a:ext cx="5334000" cy="2457450"/>
            </a:xfrm>
            <a:prstGeom prst="roundRect">
              <a:avLst>
                <a:gd name="adj" fmla="val 5426"/>
              </a:avLst>
            </a:prstGeom>
            <a:solidFill>
              <a:schemeClr val="accent5"/>
            </a:solidFill>
            <a:ln w="14288">
              <a:solidFill>
                <a:srgbClr val="1E3A52"/>
              </a:solidFill>
            </a:ln>
          </p:spPr>
        </p:sp>
        <p:sp>
          <p:nvSpPr>
            <p:cNvPr id="38" name="Rectangle 38"/>
            <p:cNvSpPr/>
            <p:nvPr/>
          </p:nvSpPr>
          <p:spPr>
            <a:xfrm>
              <a:off x="609600" y="3810000"/>
              <a:ext cx="57150" cy="2457450"/>
            </a:xfrm>
            <a:prstGeom prst="roundRect">
              <a:avLst>
                <a:gd name="adj" fmla="val 50000"/>
              </a:avLst>
            </a:prstGeom>
            <a:solidFill>
              <a:srgbClr val="4C8DFF"/>
            </a:solidFill>
            <a:ln w="0">
              <a:solidFill>
                <a:srgbClr val="4C8DFF"/>
              </a:solidFill>
            </a:ln>
          </p:spPr>
        </p:sp>
        <p:sp>
          <p:nvSpPr>
            <p:cNvPr id="39" name="TextBox 39"/>
            <p:cNvSpPr txBox="1"/>
            <p:nvPr/>
          </p:nvSpPr>
          <p:spPr>
            <a:xfrm>
              <a:off x="849630" y="4048125"/>
              <a:ext cx="284406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Order r = 3 (add triangles)</a:t>
              </a:r>
            </a:p>
          </p:txBody>
        </p:sp>
        <p:sp>
          <p:nvSpPr>
            <p:cNvPr id="40" name="TextBox 40"/>
            <p:cNvSpPr txBox="1"/>
            <p:nvPr/>
          </p:nvSpPr>
          <p:spPr>
            <a:xfrm>
              <a:off x="852297" y="4352449"/>
              <a:ext cx="3908367" cy="190690"/>
            </a:xfrm>
            <a:prstGeom prst="rect">
              <a:avLst/>
            </a:prstGeom>
            <a:noFill/>
            <a:ln>
              <a:noFill/>
            </a:ln>
          </p:spPr>
          <p:txBody>
            <a:bodyPr wrap="none" lIns="0" tIns="0" rIns="0" bIns="0" anchor="t" anchorCtr="0">
              <a:spAutoFit/>
            </a:bodyPr>
            <a:lstStyle/>
            <a:p>
              <a:pPr algn="l"/>
              <a:r>
                <a:rPr lang="en-US" sz="980" dirty="0">
                  <a:solidFill>
                    <a:srgbClr val="9DB2C4"/>
                  </a:solidFill>
                  <a:latin typeface="+mn-lt"/>
                  <a:ea typeface="+mn-ea"/>
                  <a:cs typeface="+mn-cs"/>
                </a:rPr>
                <a:t>cumulants pull further ahead; moments overfit and slip back</a:t>
              </a:r>
            </a:p>
          </p:txBody>
        </p:sp>
        <p:sp>
          <p:nvSpPr>
            <p:cNvPr id="41" name="Line 41"/>
            <p:cNvSpPr/>
            <p:nvPr/>
          </p:nvSpPr>
          <p:spPr>
            <a:xfrm>
              <a:off x="1276350" y="4762500"/>
              <a:ext cx="9525" cy="1219200"/>
            </a:xfrm>
            <a:custGeom>
              <a:avLst/>
              <a:gdLst/>
              <a:ahLst/>
              <a:cxnLst/>
              <a:rect l="l" t="t" r="r" b="b"/>
              <a:pathLst>
                <a:path w="9525" h="1219200">
                  <a:moveTo>
                    <a:pt x="0" y="0"/>
                  </a:moveTo>
                  <a:lnTo>
                    <a:pt x="0" y="1219200"/>
                  </a:lnTo>
                </a:path>
              </a:pathLst>
            </a:custGeom>
            <a:noFill/>
            <a:ln w="14288">
              <a:solidFill>
                <a:srgbClr val="1E3A52"/>
              </a:solidFill>
            </a:ln>
          </p:spPr>
        </p:sp>
        <p:sp>
          <p:nvSpPr>
            <p:cNvPr id="42" name="Line 42"/>
            <p:cNvSpPr/>
            <p:nvPr/>
          </p:nvSpPr>
          <p:spPr>
            <a:xfrm>
              <a:off x="1276350" y="4762500"/>
              <a:ext cx="4343400" cy="9525"/>
            </a:xfrm>
            <a:custGeom>
              <a:avLst/>
              <a:gdLst/>
              <a:ahLst/>
              <a:cxnLst/>
              <a:rect l="l" t="t" r="r" b="b"/>
              <a:pathLst>
                <a:path w="4343400" h="9525">
                  <a:moveTo>
                    <a:pt x="0" y="0"/>
                  </a:moveTo>
                  <a:lnTo>
                    <a:pt x="4343400" y="0"/>
                  </a:lnTo>
                </a:path>
              </a:pathLst>
            </a:custGeom>
            <a:noFill/>
            <a:ln w="9525">
              <a:solidFill>
                <a:srgbClr val="1E3A52"/>
              </a:solidFill>
              <a:prstDash val="dash"/>
            </a:ln>
          </p:spPr>
        </p:sp>
        <p:sp>
          <p:nvSpPr>
            <p:cNvPr id="43" name="TextBox 43"/>
            <p:cNvSpPr txBox="1"/>
            <p:nvPr/>
          </p:nvSpPr>
          <p:spPr>
            <a:xfrm>
              <a:off x="957377" y="4712970"/>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1.0</a:t>
              </a:r>
            </a:p>
          </p:txBody>
        </p:sp>
        <p:sp>
          <p:nvSpPr>
            <p:cNvPr id="44" name="Line 44"/>
            <p:cNvSpPr/>
            <p:nvPr/>
          </p:nvSpPr>
          <p:spPr>
            <a:xfrm>
              <a:off x="1276350" y="5981700"/>
              <a:ext cx="4343400" cy="9525"/>
            </a:xfrm>
            <a:custGeom>
              <a:avLst/>
              <a:gdLst/>
              <a:ahLst/>
              <a:cxnLst/>
              <a:rect l="l" t="t" r="r" b="b"/>
              <a:pathLst>
                <a:path w="4343400" h="9525">
                  <a:moveTo>
                    <a:pt x="0" y="0"/>
                  </a:moveTo>
                  <a:lnTo>
                    <a:pt x="4343400" y="0"/>
                  </a:lnTo>
                </a:path>
              </a:pathLst>
            </a:custGeom>
            <a:noFill/>
            <a:ln w="14288">
              <a:solidFill>
                <a:srgbClr val="1E3A52"/>
              </a:solidFill>
            </a:ln>
          </p:spPr>
        </p:sp>
        <p:sp>
          <p:nvSpPr>
            <p:cNvPr id="45" name="TextBox 45"/>
            <p:cNvSpPr txBox="1"/>
            <p:nvPr/>
          </p:nvSpPr>
          <p:spPr>
            <a:xfrm>
              <a:off x="957377" y="5922645"/>
              <a:ext cx="209436" cy="176212"/>
            </a:xfrm>
            <a:prstGeom prst="rect">
              <a:avLst/>
            </a:prstGeom>
            <a:noFill/>
            <a:ln>
              <a:noFill/>
            </a:ln>
          </p:spPr>
          <p:txBody>
            <a:bodyPr wrap="none" lIns="0" tIns="0" rIns="0" bIns="0" anchor="t" anchorCtr="0">
              <a:spAutoFit/>
            </a:bodyPr>
            <a:lstStyle/>
            <a:p>
              <a:pPr algn="r"/>
              <a:r>
                <a:rPr lang="en-US" sz="900" dirty="0">
                  <a:solidFill>
                    <a:srgbClr val="9DB2C4"/>
                  </a:solidFill>
                  <a:latin typeface="+mn-lt"/>
                  <a:ea typeface="+mn-ea"/>
                  <a:cs typeface="+mn-cs"/>
                </a:rPr>
                <a:t>0.5</a:t>
              </a:r>
            </a:p>
          </p:txBody>
        </p:sp>
        <p:sp>
          <p:nvSpPr>
            <p:cNvPr id="46" name="Rectangle 46"/>
            <p:cNvSpPr/>
            <p:nvPr/>
          </p:nvSpPr>
          <p:spPr>
            <a:xfrm>
              <a:off x="2038350" y="5818822"/>
              <a:ext cx="1333500" cy="162878"/>
            </a:xfrm>
            <a:prstGeom prst="roundRect">
              <a:avLst>
                <a:gd name="adj" fmla="val 29240"/>
              </a:avLst>
            </a:prstGeom>
            <a:solidFill>
              <a:srgbClr val="4C8DFF"/>
            </a:solidFill>
            <a:ln w="0">
              <a:solidFill>
                <a:srgbClr val="4C8DFF"/>
              </a:solidFill>
            </a:ln>
          </p:spPr>
        </p:sp>
        <p:sp>
          <p:nvSpPr>
            <p:cNvPr id="47" name="TextBox 47"/>
            <p:cNvSpPr txBox="1"/>
            <p:nvPr/>
          </p:nvSpPr>
          <p:spPr>
            <a:xfrm>
              <a:off x="2384377" y="6077902"/>
              <a:ext cx="641447" cy="205359"/>
            </a:xfrm>
            <a:prstGeom prst="rect">
              <a:avLst/>
            </a:prstGeom>
            <a:noFill/>
            <a:ln>
              <a:noFill/>
            </a:ln>
          </p:spPr>
          <p:txBody>
            <a:bodyPr wrap="none" lIns="0" tIns="0" rIns="0" bIns="0" anchor="t" anchorCtr="0">
              <a:spAutoFit/>
            </a:bodyPr>
            <a:lstStyle/>
            <a:p>
              <a:pPr algn="ctr"/>
              <a:r>
                <a:rPr lang="en-US" sz="1050" b="1" dirty="0">
                  <a:solidFill>
                    <a:srgbClr val="4C8DFF"/>
                  </a:solidFill>
                  <a:latin typeface="+mn-lt"/>
                  <a:ea typeface="+mn-ea"/>
                  <a:cs typeface="+mn-cs"/>
                </a:rPr>
                <a:t>moments</a:t>
              </a:r>
            </a:p>
          </p:txBody>
        </p:sp>
        <p:sp>
          <p:nvSpPr>
            <p:cNvPr id="48" name="Rectangle 48"/>
            <p:cNvSpPr/>
            <p:nvPr/>
          </p:nvSpPr>
          <p:spPr>
            <a:xfrm>
              <a:off x="4038600" y="4897755"/>
              <a:ext cx="1333500" cy="1083945"/>
            </a:xfrm>
            <a:prstGeom prst="roundRect">
              <a:avLst>
                <a:gd name="adj" fmla="val 4394"/>
              </a:avLst>
            </a:prstGeom>
            <a:solidFill>
              <a:srgbClr val="35D0BA"/>
            </a:solidFill>
            <a:ln w="0">
              <a:solidFill>
                <a:srgbClr val="35D0BA"/>
              </a:solidFill>
            </a:ln>
          </p:spPr>
        </p:sp>
        <p:sp>
          <p:nvSpPr>
            <p:cNvPr id="49" name="TextBox 49"/>
            <p:cNvSpPr txBox="1"/>
            <p:nvPr/>
          </p:nvSpPr>
          <p:spPr>
            <a:xfrm>
              <a:off x="4336391" y="6077902"/>
              <a:ext cx="737919" cy="205359"/>
            </a:xfrm>
            <a:prstGeom prst="rect">
              <a:avLst/>
            </a:prstGeom>
            <a:noFill/>
            <a:ln>
              <a:noFill/>
            </a:ln>
          </p:spPr>
          <p:txBody>
            <a:bodyPr wrap="none" lIns="0" tIns="0" rIns="0" bIns="0" anchor="t" anchorCtr="0">
              <a:spAutoFit/>
            </a:bodyPr>
            <a:lstStyle/>
            <a:p>
              <a:pPr algn="ctr"/>
              <a:r>
                <a:rPr lang="en-US" sz="1050" b="1" dirty="0">
                  <a:solidFill>
                    <a:srgbClr val="35D0BA"/>
                  </a:solidFill>
                  <a:latin typeface="+mn-lt"/>
                  <a:ea typeface="+mn-ea"/>
                  <a:cs typeface="+mn-cs"/>
                </a:rPr>
                <a:t>cumulants</a:t>
              </a:r>
            </a:p>
          </p:txBody>
        </p:sp>
      </p:grpSp>
      <p:grpSp>
        <p:nvGrpSpPr>
          <p:cNvPr id="60" name="Group 60"/>
          <p:cNvGrpSpPr/>
          <p:nvPr/>
        </p:nvGrpSpPr>
        <p:grpSpPr>
          <a:xfrm>
            <a:off x="6248400" y="3810000"/>
            <a:ext cx="5334000" cy="2457450"/>
            <a:chOff x="6248400" y="3810000"/>
            <a:chExt cx="5334000" cy="2457450"/>
          </a:xfrm>
        </p:grpSpPr>
        <p:sp>
          <p:nvSpPr>
            <p:cNvPr id="51" name="Rectangle 51"/>
            <p:cNvSpPr/>
            <p:nvPr/>
          </p:nvSpPr>
          <p:spPr>
            <a:xfrm>
              <a:off x="6248400" y="3810000"/>
              <a:ext cx="5334000" cy="2457450"/>
            </a:xfrm>
            <a:prstGeom prst="roundRect">
              <a:avLst>
                <a:gd name="adj" fmla="val 5426"/>
              </a:avLst>
            </a:prstGeom>
            <a:solidFill>
              <a:schemeClr val="accent5"/>
            </a:solidFill>
            <a:ln w="14288">
              <a:solidFill>
                <a:srgbClr val="1E3A52"/>
              </a:solidFill>
            </a:ln>
          </p:spPr>
        </p:sp>
        <p:sp>
          <p:nvSpPr>
            <p:cNvPr id="52" name="Rectangle 52"/>
            <p:cNvSpPr/>
            <p:nvPr/>
          </p:nvSpPr>
          <p:spPr>
            <a:xfrm>
              <a:off x="6248400" y="3810000"/>
              <a:ext cx="57150" cy="2457450"/>
            </a:xfrm>
            <a:prstGeom prst="roundRect">
              <a:avLst>
                <a:gd name="adj" fmla="val 50000"/>
              </a:avLst>
            </a:prstGeom>
            <a:solidFill>
              <a:srgbClr val="48D597"/>
            </a:solidFill>
            <a:ln w="0">
              <a:solidFill>
                <a:srgbClr val="48D597"/>
              </a:solidFill>
            </a:ln>
          </p:spPr>
        </p:sp>
        <p:sp>
          <p:nvSpPr>
            <p:cNvPr id="53" name="TextBox 53"/>
            <p:cNvSpPr txBox="1"/>
            <p:nvPr/>
          </p:nvSpPr>
          <p:spPr>
            <a:xfrm>
              <a:off x="6488430" y="4048125"/>
              <a:ext cx="308596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 robust, qualitative feature</a:t>
              </a:r>
            </a:p>
          </p:txBody>
        </p:sp>
        <p:sp>
          <p:nvSpPr>
            <p:cNvPr id="54" name="TextBox 54"/>
            <p:cNvSpPr txBox="1"/>
            <p:nvPr/>
          </p:nvSpPr>
          <p:spPr>
            <a:xfrm>
              <a:off x="6489192" y="4445318"/>
              <a:ext cx="47087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Sweeping the block-model parameters and the sample</a:t>
              </a:r>
            </a:p>
          </p:txBody>
        </p:sp>
        <p:sp>
          <p:nvSpPr>
            <p:cNvPr id="55" name="TextBox 55"/>
            <p:cNvSpPr txBox="1"/>
            <p:nvPr/>
          </p:nvSpPr>
          <p:spPr>
            <a:xfrm>
              <a:off x="6489192" y="4702492"/>
              <a:ext cx="43572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size confirms the advantage is not a quirk of one</a:t>
              </a:r>
            </a:p>
          </p:txBody>
        </p:sp>
        <p:sp>
          <p:nvSpPr>
            <p:cNvPr id="56" name="TextBox 56"/>
            <p:cNvSpPr txBox="1"/>
            <p:nvPr/>
          </p:nvSpPr>
          <p:spPr>
            <a:xfrm>
              <a:off x="6489192" y="4959668"/>
              <a:ext cx="462074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setting, but a stable, qualitative property of using</a:t>
              </a:r>
            </a:p>
          </p:txBody>
        </p:sp>
        <p:sp>
          <p:nvSpPr>
            <p:cNvPr id="57" name="TextBox 57"/>
            <p:cNvSpPr txBox="1"/>
            <p:nvPr/>
          </p:nvSpPr>
          <p:spPr>
            <a:xfrm>
              <a:off x="6489192" y="5216842"/>
              <a:ext cx="10041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cumulants.</a:t>
              </a:r>
            </a:p>
          </p:txBody>
        </p:sp>
        <p:sp>
          <p:nvSpPr>
            <p:cNvPr id="58" name="Rectangle 58"/>
            <p:cNvSpPr/>
            <p:nvPr/>
          </p:nvSpPr>
          <p:spPr>
            <a:xfrm>
              <a:off x="6496050" y="5734050"/>
              <a:ext cx="2857500" cy="247650"/>
            </a:xfrm>
            <a:prstGeom prst="roundRect">
              <a:avLst>
                <a:gd name="adj" fmla="val 50000"/>
              </a:avLst>
            </a:prstGeom>
            <a:solidFill>
              <a:srgbClr val="48D597"/>
            </a:solidFill>
            <a:ln w="0">
              <a:solidFill>
                <a:srgbClr val="48D597"/>
              </a:solidFill>
            </a:ln>
          </p:spPr>
        </p:sp>
        <p:sp>
          <p:nvSpPr>
            <p:cNvPr id="59" name="TextBox 59"/>
            <p:cNvSpPr txBox="1"/>
            <p:nvPr/>
          </p:nvSpPr>
          <p:spPr>
            <a:xfrm>
              <a:off x="6735828" y="5792152"/>
              <a:ext cx="2377944" cy="205359"/>
            </a:xfrm>
            <a:prstGeom prst="rect">
              <a:avLst/>
            </a:prstGeom>
            <a:noFill/>
            <a:ln>
              <a:noFill/>
            </a:ln>
          </p:spPr>
          <p:txBody>
            <a:bodyPr wrap="none" lIns="0" tIns="0" rIns="0" bIns="0" anchor="t" anchorCtr="0">
              <a:spAutoFit/>
            </a:bodyPr>
            <a:lstStyle/>
            <a:p>
              <a:pPr algn="ctr"/>
              <a:r>
                <a:rPr lang="en-US" sz="1050" b="1" dirty="0">
                  <a:solidFill>
                    <a:srgbClr val="08131F"/>
                  </a:solidFill>
                  <a:latin typeface="+mn-lt"/>
                  <a:ea typeface="+mn-ea"/>
                  <a:cs typeface="+mn-cs"/>
                </a:rPr>
                <a:t>holds across every regime swept</a:t>
              </a:r>
            </a:p>
          </p:txBody>
        </p:sp>
      </p:grpSp>
      <p:sp>
        <p:nvSpPr>
          <p:cNvPr id="61" name="cue_s08_c1_clean_ablation_over_subgraph_order" title="cue_s08_c1_clean_ablation_over_subgraph_order" descr="cue_s08_c1_clean_ablation_over_subgraph_order A clean ablation over subgraph order tells the story on real data. Using only single edges, at order one, neither test can separate the density-matched networks, exactly as expected."/>
          <p:cNvSpPr/>
          <p:nvPr/>
        </p:nvSpPr>
        <p:spPr>
          <a:xfrm>
            <a:off x="609600" y="1161745"/>
            <a:ext cx="5334000" cy="24729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ue_s08_c2_adding_two_edge_subgraphs_already_ti" title="cue_s08_c2_adding_two_edge_subgraphs_already_ti" descr="cue_s08_c2_adding_two_edge_subgraphs_already_ti Adding two-edge subgraphs already tips the balance in favor of cumulants."/>
          <p:cNvSpPr/>
          <p:nvPr/>
        </p:nvSpPr>
        <p:spPr>
          <a:xfrm>
            <a:off x="6248399" y="1161745"/>
            <a:ext cx="5334000" cy="24729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cue_s08_c3_adding_three_edge_subgraphs_pushes_c" title="cue_s08_c3_adding_three_edge_subgraphs_pushes_c" descr="cue_s08_c3_adding_three_edge_subgraphs_pushes_c Adding three-edge subgraphs pushes the cumulant test further ahead, while the moment test starts to overfit and slip backward."/>
          <p:cNvSpPr/>
          <p:nvPr/>
        </p:nvSpPr>
        <p:spPr>
          <a:xfrm>
            <a:off x="609600" y="3810304"/>
            <a:ext cx="5334000" cy="247299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8_c4_sweeping_block_model_parameters_samp" title="cue_s08_c4_sweeping_block_model_parameters_samp" descr="cue_s08_c4_sweeping_block_model_parameters_samp Sweeping the block-model parameters and the sample size confirms this advantage is not a quirk of one setting but a robust, qualitative feature."/>
          <p:cNvSpPr/>
          <p:nvPr/>
        </p:nvSpPr>
        <p:spPr>
          <a:xfrm>
            <a:off x="6248399" y="3810304"/>
            <a:ext cx="5334000"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1753301"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HEADLINE NUMBERS</a:t>
            </a:r>
          </a:p>
        </p:txBody>
      </p:sp>
      <p:sp>
        <p:nvSpPr>
          <p:cNvPr id="4" name="TextBox 4"/>
          <p:cNvSpPr txBox="1"/>
          <p:nvPr/>
        </p:nvSpPr>
        <p:spPr>
          <a:xfrm>
            <a:off x="807720" y="614362"/>
            <a:ext cx="423178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four numbers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09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6" name="Group 16"/>
          <p:cNvGrpSpPr/>
          <p:nvPr/>
        </p:nvGrpSpPr>
        <p:grpSpPr>
          <a:xfrm>
            <a:off x="609600" y="1333500"/>
            <a:ext cx="2600325" cy="4476750"/>
            <a:chOff x="609600" y="1333500"/>
            <a:chExt cx="2600325" cy="4476750"/>
          </a:xfrm>
        </p:grpSpPr>
        <p:sp>
          <p:nvSpPr>
            <p:cNvPr id="7" name="Rectangle 7"/>
            <p:cNvSpPr/>
            <p:nvPr/>
          </p:nvSpPr>
          <p:spPr>
            <a:xfrm>
              <a:off x="609600" y="1333500"/>
              <a:ext cx="2600325" cy="4476750"/>
            </a:xfrm>
            <a:prstGeom prst="roundRect">
              <a:avLst>
                <a:gd name="adj" fmla="val 5128"/>
              </a:avLst>
            </a:prstGeom>
            <a:solidFill>
              <a:schemeClr val="accent5"/>
            </a:solidFill>
            <a:ln w="14288">
              <a:solidFill>
                <a:srgbClr val="1E3A52"/>
              </a:solidFill>
            </a:ln>
          </p:spPr>
        </p:sp>
        <p:sp>
          <p:nvSpPr>
            <p:cNvPr id="8" name="Rectangle 8"/>
            <p:cNvSpPr/>
            <p:nvPr/>
          </p:nvSpPr>
          <p:spPr>
            <a:xfrm>
              <a:off x="609600" y="1333500"/>
              <a:ext cx="2600325" cy="76200"/>
            </a:xfrm>
            <a:prstGeom prst="roundRect">
              <a:avLst>
                <a:gd name="adj" fmla="val 50000"/>
              </a:avLst>
            </a:prstGeom>
            <a:solidFill>
              <a:srgbClr val="FF6B6B"/>
            </a:solidFill>
            <a:ln w="0">
              <a:solidFill>
                <a:srgbClr val="FF6B6B"/>
              </a:solidFill>
            </a:ln>
          </p:spPr>
        </p:sp>
        <p:sp>
          <p:nvSpPr>
            <p:cNvPr id="9" name="TextBox 9"/>
            <p:cNvSpPr txBox="1"/>
            <p:nvPr/>
          </p:nvSpPr>
          <p:spPr>
            <a:xfrm>
              <a:off x="777573" y="2452688"/>
              <a:ext cx="2264378" cy="733425"/>
            </a:xfrm>
            <a:prstGeom prst="rect">
              <a:avLst/>
            </a:prstGeom>
            <a:noFill/>
            <a:ln>
              <a:noFill/>
            </a:ln>
          </p:spPr>
          <p:txBody>
            <a:bodyPr wrap="none" lIns="0" tIns="0" rIns="0" bIns="0" anchor="t" anchorCtr="0">
              <a:spAutoFit/>
            </a:bodyPr>
            <a:lstStyle/>
            <a:p>
              <a:pPr algn="ctr"/>
              <a:r>
                <a:rPr lang="en-US" sz="3750" b="1" dirty="0">
                  <a:solidFill>
                    <a:srgbClr val="FF6B6B"/>
                  </a:solidFill>
                  <a:latin typeface="+mn-lt"/>
                  <a:ea typeface="+mn-ea"/>
                  <a:cs typeface="+mn-cs"/>
                </a:rPr>
                <a:t>s: 4 -&gt; 1</a:t>
              </a:r>
            </a:p>
          </p:txBody>
        </p:sp>
        <p:sp>
          <p:nvSpPr>
            <p:cNvPr id="10" name="Line 10"/>
            <p:cNvSpPr/>
            <p:nvPr/>
          </p:nvSpPr>
          <p:spPr>
            <a:xfrm>
              <a:off x="876300" y="3200400"/>
              <a:ext cx="2066925" cy="9525"/>
            </a:xfrm>
            <a:custGeom>
              <a:avLst/>
              <a:gdLst/>
              <a:ahLst/>
              <a:cxnLst/>
              <a:rect l="l" t="t" r="r" b="b"/>
              <a:pathLst>
                <a:path w="2066925" h="9525">
                  <a:moveTo>
                    <a:pt x="0" y="0"/>
                  </a:moveTo>
                  <a:lnTo>
                    <a:pt x="2066925" y="0"/>
                  </a:lnTo>
                </a:path>
              </a:pathLst>
            </a:custGeom>
            <a:noFill/>
            <a:ln w="9525">
              <a:solidFill>
                <a:srgbClr val="1E3A52"/>
              </a:solidFill>
            </a:ln>
          </p:spPr>
        </p:sp>
        <p:sp>
          <p:nvSpPr>
            <p:cNvPr id="11" name="TextBox 11"/>
            <p:cNvSpPr txBox="1"/>
            <p:nvPr/>
          </p:nvSpPr>
          <p:spPr>
            <a:xfrm>
              <a:off x="850773" y="3481864"/>
              <a:ext cx="219025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moment test needs at</a:t>
              </a:r>
            </a:p>
          </p:txBody>
        </p:sp>
        <p:sp>
          <p:nvSpPr>
            <p:cNvPr id="12" name="TextBox 12"/>
            <p:cNvSpPr txBox="1"/>
            <p:nvPr/>
          </p:nvSpPr>
          <p:spPr>
            <a:xfrm>
              <a:off x="850773" y="3729514"/>
              <a:ext cx="183086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least four graphs per</a:t>
              </a:r>
            </a:p>
          </p:txBody>
        </p:sp>
        <p:sp>
          <p:nvSpPr>
            <p:cNvPr id="13" name="TextBox 13"/>
            <p:cNvSpPr txBox="1"/>
            <p:nvPr/>
          </p:nvSpPr>
          <p:spPr>
            <a:xfrm>
              <a:off x="850773" y="3977164"/>
              <a:ext cx="1822247"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sample to be defined;</a:t>
              </a:r>
            </a:p>
          </p:txBody>
        </p:sp>
        <p:sp>
          <p:nvSpPr>
            <p:cNvPr id="14" name="TextBox 14"/>
            <p:cNvSpPr txBox="1"/>
            <p:nvPr/>
          </p:nvSpPr>
          <p:spPr>
            <a:xfrm>
              <a:off x="850773" y="4224814"/>
              <a:ext cx="208933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cumulant test works</a:t>
              </a:r>
            </a:p>
          </p:txBody>
        </p:sp>
        <p:sp>
          <p:nvSpPr>
            <p:cNvPr id="15" name="TextBox 15"/>
            <p:cNvSpPr txBox="1"/>
            <p:nvPr/>
          </p:nvSpPr>
          <p:spPr>
            <a:xfrm>
              <a:off x="850773" y="4472464"/>
              <a:ext cx="166716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with as few as one.</a:t>
              </a:r>
            </a:p>
          </p:txBody>
        </p:sp>
      </p:grpSp>
      <p:grpSp>
        <p:nvGrpSpPr>
          <p:cNvPr id="27" name="Group 27"/>
          <p:cNvGrpSpPr/>
          <p:nvPr/>
        </p:nvGrpSpPr>
        <p:grpSpPr>
          <a:xfrm>
            <a:off x="3400425" y="1333500"/>
            <a:ext cx="2600325" cy="4476750"/>
            <a:chOff x="3400425" y="1333500"/>
            <a:chExt cx="2600325" cy="4476750"/>
          </a:xfrm>
        </p:grpSpPr>
        <p:sp>
          <p:nvSpPr>
            <p:cNvPr id="17" name="Rectangle 17"/>
            <p:cNvSpPr/>
            <p:nvPr/>
          </p:nvSpPr>
          <p:spPr>
            <a:xfrm>
              <a:off x="3400425" y="1333500"/>
              <a:ext cx="2600325" cy="4476750"/>
            </a:xfrm>
            <a:prstGeom prst="roundRect">
              <a:avLst>
                <a:gd name="adj" fmla="val 5128"/>
              </a:avLst>
            </a:prstGeom>
            <a:solidFill>
              <a:schemeClr val="accent5"/>
            </a:solidFill>
            <a:ln w="14288">
              <a:solidFill>
                <a:srgbClr val="1E3A52"/>
              </a:solidFill>
            </a:ln>
          </p:spPr>
        </p:sp>
        <p:sp>
          <p:nvSpPr>
            <p:cNvPr id="18" name="Rectangle 18"/>
            <p:cNvSpPr/>
            <p:nvPr/>
          </p:nvSpPr>
          <p:spPr>
            <a:xfrm>
              <a:off x="3400425" y="1333500"/>
              <a:ext cx="2600325" cy="76200"/>
            </a:xfrm>
            <a:prstGeom prst="roundRect">
              <a:avLst>
                <a:gd name="adj" fmla="val 50000"/>
              </a:avLst>
            </a:prstGeom>
            <a:solidFill>
              <a:srgbClr val="48D597"/>
            </a:solidFill>
            <a:ln w="0">
              <a:solidFill>
                <a:srgbClr val="48D597"/>
              </a:solidFill>
            </a:ln>
          </p:spPr>
        </p:sp>
        <p:sp>
          <p:nvSpPr>
            <p:cNvPr id="19" name="TextBox 19"/>
            <p:cNvSpPr txBox="1"/>
            <p:nvPr/>
          </p:nvSpPr>
          <p:spPr>
            <a:xfrm>
              <a:off x="4098465" y="2452688"/>
              <a:ext cx="1204246" cy="733425"/>
            </a:xfrm>
            <a:prstGeom prst="rect">
              <a:avLst/>
            </a:prstGeom>
            <a:noFill/>
            <a:ln>
              <a:noFill/>
            </a:ln>
          </p:spPr>
          <p:txBody>
            <a:bodyPr wrap="none" lIns="0" tIns="0" rIns="0" bIns="0" anchor="t" anchorCtr="0">
              <a:spAutoFit/>
            </a:bodyPr>
            <a:lstStyle/>
            <a:p>
              <a:pPr algn="ctr"/>
              <a:r>
                <a:rPr lang="en-US" sz="3750" b="1" dirty="0">
                  <a:solidFill>
                    <a:srgbClr val="48D597"/>
                  </a:solidFill>
                  <a:latin typeface="+mn-lt"/>
                  <a:ea typeface="+mn-ea"/>
                  <a:cs typeface="+mn-cs"/>
                </a:rPr>
                <a:t>free</a:t>
              </a:r>
            </a:p>
          </p:txBody>
        </p:sp>
        <p:sp>
          <p:nvSpPr>
            <p:cNvPr id="20" name="Line 20"/>
            <p:cNvSpPr/>
            <p:nvPr/>
          </p:nvSpPr>
          <p:spPr>
            <a:xfrm>
              <a:off x="3667125" y="3200400"/>
              <a:ext cx="2066925" cy="9525"/>
            </a:xfrm>
            <a:custGeom>
              <a:avLst/>
              <a:gdLst/>
              <a:ahLst/>
              <a:cxnLst/>
              <a:rect l="l" t="t" r="r" b="b"/>
              <a:pathLst>
                <a:path w="2066925" h="9525">
                  <a:moveTo>
                    <a:pt x="0" y="0"/>
                  </a:moveTo>
                  <a:lnTo>
                    <a:pt x="2066925" y="0"/>
                  </a:lnTo>
                </a:path>
              </a:pathLst>
            </a:custGeom>
            <a:noFill/>
            <a:ln w="9525">
              <a:solidFill>
                <a:srgbClr val="1E3A52"/>
              </a:solidFill>
            </a:ln>
          </p:spPr>
        </p:sp>
        <p:sp>
          <p:nvSpPr>
            <p:cNvPr id="21" name="TextBox 21"/>
            <p:cNvSpPr txBox="1"/>
            <p:nvPr/>
          </p:nvSpPr>
          <p:spPr>
            <a:xfrm>
              <a:off x="3641598" y="3481864"/>
              <a:ext cx="163843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Both use connected</a:t>
              </a:r>
            </a:p>
          </p:txBody>
        </p:sp>
        <p:sp>
          <p:nvSpPr>
            <p:cNvPr id="22" name="TextBox 22"/>
            <p:cNvSpPr txBox="1"/>
            <p:nvPr/>
          </p:nvSpPr>
          <p:spPr>
            <a:xfrm>
              <a:off x="3641598" y="3729514"/>
              <a:ext cx="187394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subgraphs up to three</a:t>
              </a:r>
            </a:p>
          </p:txBody>
        </p:sp>
        <p:sp>
          <p:nvSpPr>
            <p:cNvPr id="23" name="TextBox 23"/>
            <p:cNvSpPr txBox="1"/>
            <p:nvPr/>
          </p:nvSpPr>
          <p:spPr>
            <a:xfrm>
              <a:off x="3641598" y="3977164"/>
              <a:ext cx="214964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edges and share the same</a:t>
              </a:r>
            </a:p>
          </p:txBody>
        </p:sp>
        <p:sp>
          <p:nvSpPr>
            <p:cNvPr id="24" name="TextBox 24"/>
            <p:cNvSpPr txBox="1"/>
            <p:nvPr/>
          </p:nvSpPr>
          <p:spPr>
            <a:xfrm>
              <a:off x="3641598" y="4224814"/>
              <a:ext cx="194150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O(n^w) complexity, so</a:t>
              </a:r>
            </a:p>
          </p:txBody>
        </p:sp>
        <p:sp>
          <p:nvSpPr>
            <p:cNvPr id="25" name="TextBox 25"/>
            <p:cNvSpPr txBox="1"/>
            <p:nvPr/>
          </p:nvSpPr>
          <p:spPr>
            <a:xfrm>
              <a:off x="3641598" y="4472464"/>
              <a:ext cx="190840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the extra power costs</a:t>
              </a:r>
            </a:p>
          </p:txBody>
        </p:sp>
        <p:sp>
          <p:nvSpPr>
            <p:cNvPr id="26" name="TextBox 26"/>
            <p:cNvSpPr txBox="1"/>
            <p:nvPr/>
          </p:nvSpPr>
          <p:spPr>
            <a:xfrm>
              <a:off x="3641598" y="4720114"/>
              <a:ext cx="728055"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nothing.</a:t>
              </a:r>
            </a:p>
          </p:txBody>
        </p:sp>
      </p:grpSp>
      <p:grpSp>
        <p:nvGrpSpPr>
          <p:cNvPr id="39" name="Group 39"/>
          <p:cNvGrpSpPr/>
          <p:nvPr/>
        </p:nvGrpSpPr>
        <p:grpSpPr>
          <a:xfrm>
            <a:off x="6067687" y="1333500"/>
            <a:ext cx="2847451" cy="4476750"/>
            <a:chOff x="6067687" y="1333500"/>
            <a:chExt cx="2847451" cy="4476750"/>
          </a:xfrm>
        </p:grpSpPr>
        <p:sp>
          <p:nvSpPr>
            <p:cNvPr id="28" name="Rectangle 28"/>
            <p:cNvSpPr/>
            <p:nvPr/>
          </p:nvSpPr>
          <p:spPr>
            <a:xfrm>
              <a:off x="6191250" y="1333500"/>
              <a:ext cx="2600325" cy="4476750"/>
            </a:xfrm>
            <a:prstGeom prst="roundRect">
              <a:avLst>
                <a:gd name="adj" fmla="val 5128"/>
              </a:avLst>
            </a:prstGeom>
            <a:solidFill>
              <a:schemeClr val="accent5"/>
            </a:solidFill>
            <a:ln w="14288">
              <a:solidFill>
                <a:srgbClr val="1E3A52"/>
              </a:solidFill>
            </a:ln>
          </p:spPr>
        </p:sp>
        <p:sp>
          <p:nvSpPr>
            <p:cNvPr id="29" name="Rectangle 29"/>
            <p:cNvSpPr/>
            <p:nvPr/>
          </p:nvSpPr>
          <p:spPr>
            <a:xfrm>
              <a:off x="6191250" y="1333500"/>
              <a:ext cx="2600325" cy="76200"/>
            </a:xfrm>
            <a:prstGeom prst="roundRect">
              <a:avLst>
                <a:gd name="adj" fmla="val 50000"/>
              </a:avLst>
            </a:prstGeom>
            <a:solidFill>
              <a:srgbClr val="35D0BA"/>
            </a:solidFill>
            <a:ln w="0">
              <a:solidFill>
                <a:srgbClr val="35D0BA"/>
              </a:solidFill>
            </a:ln>
          </p:spPr>
        </p:sp>
        <p:sp>
          <p:nvSpPr>
            <p:cNvPr id="30" name="TextBox 30"/>
            <p:cNvSpPr txBox="1"/>
            <p:nvPr/>
          </p:nvSpPr>
          <p:spPr>
            <a:xfrm>
              <a:off x="6067687" y="2452688"/>
              <a:ext cx="2847451" cy="733425"/>
            </a:xfrm>
            <a:prstGeom prst="rect">
              <a:avLst/>
            </a:prstGeom>
            <a:noFill/>
            <a:ln>
              <a:noFill/>
            </a:ln>
          </p:spPr>
          <p:txBody>
            <a:bodyPr wrap="none" lIns="0" tIns="0" rIns="0" bIns="0" anchor="t" anchorCtr="0">
              <a:spAutoFit/>
            </a:bodyPr>
            <a:lstStyle/>
            <a:p>
              <a:pPr algn="ctr"/>
              <a:r>
                <a:rPr lang="en-US" sz="3750" b="1" dirty="0">
                  <a:solidFill>
                    <a:srgbClr val="35D0BA"/>
                  </a:solidFill>
                  <a:latin typeface="+mn-lt"/>
                  <a:ea typeface="+mn-ea"/>
                  <a:cs typeface="+mn-cs"/>
                </a:rPr>
                <a:t>chi^2, 5 df</a:t>
              </a:r>
            </a:p>
          </p:txBody>
        </p:sp>
        <p:sp>
          <p:nvSpPr>
            <p:cNvPr id="31" name="Line 31"/>
            <p:cNvSpPr/>
            <p:nvPr/>
          </p:nvSpPr>
          <p:spPr>
            <a:xfrm>
              <a:off x="6457950" y="3200400"/>
              <a:ext cx="2066925" cy="9525"/>
            </a:xfrm>
            <a:custGeom>
              <a:avLst/>
              <a:gdLst/>
              <a:ahLst/>
              <a:cxnLst/>
              <a:rect l="l" t="t" r="r" b="b"/>
              <a:pathLst>
                <a:path w="2066925" h="9525">
                  <a:moveTo>
                    <a:pt x="0" y="0"/>
                  </a:moveTo>
                  <a:lnTo>
                    <a:pt x="2066925" y="0"/>
                  </a:lnTo>
                </a:path>
              </a:pathLst>
            </a:custGeom>
            <a:noFill/>
            <a:ln w="9525">
              <a:solidFill>
                <a:srgbClr val="1E3A52"/>
              </a:solidFill>
            </a:ln>
          </p:spPr>
        </p:sp>
        <p:sp>
          <p:nvSpPr>
            <p:cNvPr id="32" name="TextBox 32"/>
            <p:cNvSpPr txBox="1"/>
            <p:nvPr/>
          </p:nvSpPr>
          <p:spPr>
            <a:xfrm>
              <a:off x="6432423" y="3481864"/>
              <a:ext cx="160422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Under the null, the</a:t>
              </a:r>
            </a:p>
          </p:txBody>
        </p:sp>
        <p:sp>
          <p:nvSpPr>
            <p:cNvPr id="33" name="TextBox 33"/>
            <p:cNvSpPr txBox="1"/>
            <p:nvPr/>
          </p:nvSpPr>
          <p:spPr>
            <a:xfrm>
              <a:off x="6432423" y="3729514"/>
              <a:ext cx="2011792"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cumulant statistic hugs</a:t>
              </a:r>
            </a:p>
          </p:txBody>
        </p:sp>
        <p:sp>
          <p:nvSpPr>
            <p:cNvPr id="34" name="TextBox 34"/>
            <p:cNvSpPr txBox="1"/>
            <p:nvPr/>
          </p:nvSpPr>
          <p:spPr>
            <a:xfrm>
              <a:off x="6432423" y="3977164"/>
              <a:ext cx="1968713"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a chi-squared with five</a:t>
              </a:r>
            </a:p>
          </p:txBody>
        </p:sp>
        <p:sp>
          <p:nvSpPr>
            <p:cNvPr id="35" name="TextBox 35"/>
            <p:cNvSpPr txBox="1"/>
            <p:nvPr/>
          </p:nvSpPr>
          <p:spPr>
            <a:xfrm>
              <a:off x="6432423" y="4224814"/>
              <a:ext cx="209794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degrees of freedom even</a:t>
              </a:r>
            </a:p>
          </p:txBody>
        </p:sp>
        <p:sp>
          <p:nvSpPr>
            <p:cNvPr id="36" name="TextBox 36"/>
            <p:cNvSpPr txBox="1"/>
            <p:nvPr/>
          </p:nvSpPr>
          <p:spPr>
            <a:xfrm>
              <a:off x="6432423" y="4472464"/>
              <a:ext cx="1908404"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for small samples; the</a:t>
              </a:r>
            </a:p>
          </p:txBody>
        </p:sp>
        <p:sp>
          <p:nvSpPr>
            <p:cNvPr id="37" name="TextBox 37"/>
            <p:cNvSpPr txBox="1"/>
            <p:nvPr/>
          </p:nvSpPr>
          <p:spPr>
            <a:xfrm>
              <a:off x="6432423" y="4720114"/>
              <a:ext cx="205487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moment statistic visibly</a:t>
              </a:r>
            </a:p>
          </p:txBody>
        </p:sp>
        <p:sp>
          <p:nvSpPr>
            <p:cNvPr id="38" name="TextBox 38"/>
            <p:cNvSpPr txBox="1"/>
            <p:nvPr/>
          </p:nvSpPr>
          <p:spPr>
            <a:xfrm>
              <a:off x="6432423" y="4967764"/>
              <a:ext cx="82282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deviates.</a:t>
              </a:r>
            </a:p>
          </p:txBody>
        </p:sp>
      </p:grpSp>
      <p:grpSp>
        <p:nvGrpSpPr>
          <p:cNvPr id="50" name="Group 50"/>
          <p:cNvGrpSpPr/>
          <p:nvPr/>
        </p:nvGrpSpPr>
        <p:grpSpPr>
          <a:xfrm>
            <a:off x="8982075" y="1333500"/>
            <a:ext cx="2600325" cy="4476750"/>
            <a:chOff x="8982075" y="1333500"/>
            <a:chExt cx="2600325" cy="4476750"/>
          </a:xfrm>
        </p:grpSpPr>
        <p:sp>
          <p:nvSpPr>
            <p:cNvPr id="40" name="Rectangle 40"/>
            <p:cNvSpPr/>
            <p:nvPr/>
          </p:nvSpPr>
          <p:spPr>
            <a:xfrm>
              <a:off x="8982075" y="1333500"/>
              <a:ext cx="2600325" cy="4476750"/>
            </a:xfrm>
            <a:prstGeom prst="roundRect">
              <a:avLst>
                <a:gd name="adj" fmla="val 5128"/>
              </a:avLst>
            </a:prstGeom>
            <a:solidFill>
              <a:schemeClr val="accent5"/>
            </a:solidFill>
            <a:ln w="14288">
              <a:solidFill>
                <a:srgbClr val="1E3A52"/>
              </a:solidFill>
            </a:ln>
          </p:spPr>
        </p:sp>
        <p:sp>
          <p:nvSpPr>
            <p:cNvPr id="41" name="Rectangle 41"/>
            <p:cNvSpPr/>
            <p:nvPr/>
          </p:nvSpPr>
          <p:spPr>
            <a:xfrm>
              <a:off x="8982075" y="1333500"/>
              <a:ext cx="2600325" cy="76200"/>
            </a:xfrm>
            <a:prstGeom prst="roundRect">
              <a:avLst>
                <a:gd name="adj" fmla="val 50000"/>
              </a:avLst>
            </a:prstGeom>
            <a:solidFill>
              <a:srgbClr val="F5B841"/>
            </a:solidFill>
            <a:ln w="0">
              <a:solidFill>
                <a:srgbClr val="F5B841"/>
              </a:solidFill>
            </a:ln>
          </p:spPr>
        </p:sp>
        <p:sp>
          <p:nvSpPr>
            <p:cNvPr id="42" name="TextBox 42"/>
            <p:cNvSpPr txBox="1"/>
            <p:nvPr/>
          </p:nvSpPr>
          <p:spPr>
            <a:xfrm>
              <a:off x="9083790" y="2452688"/>
              <a:ext cx="2396895" cy="733425"/>
            </a:xfrm>
            <a:prstGeom prst="rect">
              <a:avLst/>
            </a:prstGeom>
            <a:noFill/>
            <a:ln>
              <a:noFill/>
            </a:ln>
          </p:spPr>
          <p:txBody>
            <a:bodyPr wrap="none" lIns="0" tIns="0" rIns="0" bIns="0" anchor="t" anchorCtr="0">
              <a:spAutoFit/>
            </a:bodyPr>
            <a:lstStyle/>
            <a:p>
              <a:pPr algn="ctr"/>
              <a:r>
                <a:rPr lang="en-US" sz="3750" b="1" dirty="0">
                  <a:solidFill>
                    <a:srgbClr val="F5B841"/>
                  </a:solidFill>
                  <a:latin typeface="+mn-lt"/>
                  <a:ea typeface="+mn-ea"/>
                  <a:cs typeface="+mn-cs"/>
                </a:rPr>
                <a:t>11k - 16k</a:t>
              </a:r>
            </a:p>
          </p:txBody>
        </p:sp>
        <p:sp>
          <p:nvSpPr>
            <p:cNvPr id="43" name="Line 43"/>
            <p:cNvSpPr/>
            <p:nvPr/>
          </p:nvSpPr>
          <p:spPr>
            <a:xfrm>
              <a:off x="9248775" y="3200400"/>
              <a:ext cx="2066925" cy="9525"/>
            </a:xfrm>
            <a:custGeom>
              <a:avLst/>
              <a:gdLst/>
              <a:ahLst/>
              <a:cxnLst/>
              <a:rect l="l" t="t" r="r" b="b"/>
              <a:pathLst>
                <a:path w="2066925" h="9525">
                  <a:moveTo>
                    <a:pt x="0" y="0"/>
                  </a:moveTo>
                  <a:lnTo>
                    <a:pt x="2066925" y="0"/>
                  </a:lnTo>
                </a:path>
              </a:pathLst>
            </a:custGeom>
            <a:noFill/>
            <a:ln w="9525">
              <a:solidFill>
                <a:srgbClr val="1E3A52"/>
              </a:solidFill>
            </a:ln>
          </p:spPr>
        </p:sp>
        <p:sp>
          <p:nvSpPr>
            <p:cNvPr id="44" name="TextBox 44"/>
            <p:cNvSpPr txBox="1"/>
            <p:nvPr/>
          </p:nvSpPr>
          <p:spPr>
            <a:xfrm>
              <a:off x="9223248" y="3481864"/>
              <a:ext cx="162978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Real gene networks</a:t>
              </a:r>
            </a:p>
          </p:txBody>
        </p:sp>
        <p:sp>
          <p:nvSpPr>
            <p:cNvPr id="45" name="TextBox 45"/>
            <p:cNvSpPr txBox="1"/>
            <p:nvPr/>
          </p:nvSpPr>
          <p:spPr>
            <a:xfrm>
              <a:off x="9223248" y="3729514"/>
              <a:ext cx="2115180"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tested span about eleven</a:t>
              </a:r>
            </a:p>
          </p:txBody>
        </p:sp>
        <p:sp>
          <p:nvSpPr>
            <p:cNvPr id="46" name="TextBox 46"/>
            <p:cNvSpPr txBox="1"/>
            <p:nvPr/>
          </p:nvSpPr>
          <p:spPr>
            <a:xfrm>
              <a:off x="9223248" y="3977164"/>
              <a:ext cx="1684396"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to sixteen thousand</a:t>
              </a:r>
            </a:p>
          </p:txBody>
        </p:sp>
        <p:sp>
          <p:nvSpPr>
            <p:cNvPr id="47" name="TextBox 47"/>
            <p:cNvSpPr txBox="1"/>
            <p:nvPr/>
          </p:nvSpPr>
          <p:spPr>
            <a:xfrm>
              <a:off x="9223248" y="4224814"/>
              <a:ext cx="1873941"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nodes and hundreds of</a:t>
              </a:r>
            </a:p>
          </p:txBody>
        </p:sp>
        <p:sp>
          <p:nvSpPr>
            <p:cNvPr id="48" name="TextBox 48"/>
            <p:cNvSpPr txBox="1"/>
            <p:nvPr/>
          </p:nvSpPr>
          <p:spPr>
            <a:xfrm>
              <a:off x="9223248" y="4472464"/>
              <a:ext cx="1977329"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thousands of edges, all</a:t>
              </a:r>
            </a:p>
          </p:txBody>
        </p:sp>
        <p:sp>
          <p:nvSpPr>
            <p:cNvPr id="49" name="TextBox 49"/>
            <p:cNvSpPr txBox="1"/>
            <p:nvPr/>
          </p:nvSpPr>
          <p:spPr>
            <a:xfrm>
              <a:off x="9223248" y="4720114"/>
              <a:ext cx="1520698" cy="249364"/>
            </a:xfrm>
            <a:prstGeom prst="rect">
              <a:avLst/>
            </a:prstGeom>
            <a:noFill/>
            <a:ln>
              <a:noFill/>
            </a:ln>
          </p:spPr>
          <p:txBody>
            <a:bodyPr wrap="none" lIns="0" tIns="0" rIns="0" bIns="0" anchor="t" anchorCtr="0">
              <a:spAutoFit/>
            </a:bodyPr>
            <a:lstStyle/>
            <a:p>
              <a:pPr algn="l"/>
              <a:r>
                <a:rPr lang="en-US" sz="1280" dirty="0">
                  <a:solidFill>
                    <a:schemeClr val="dk1"/>
                  </a:solidFill>
                  <a:latin typeface="+mn-lt"/>
                  <a:ea typeface="+mn-ea"/>
                  <a:cs typeface="+mn-cs"/>
                </a:rPr>
                <a:t>density-matched.</a:t>
              </a:r>
            </a:p>
          </p:txBody>
        </p:sp>
      </p:grpSp>
      <p:sp>
        <p:nvSpPr>
          <p:cNvPr id="51" name="cue_s09_c1_few_numbers_capture_impact_moment" title="cue_s09_c1_few_numbers_capture_impact_moment" descr="cue_s09_c1_few_numbers_capture_impact_moment A few numbers capture the impact. The moment test needs at least four graphs per sample just to be defined; the cumulant test works with as few as one."/>
          <p:cNvSpPr/>
          <p:nvPr/>
        </p:nvSpPr>
        <p:spPr>
          <a:xfrm>
            <a:off x="609600" y="1333195"/>
            <a:ext cx="2600553"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2_both_connected_subgraphs_three_edges" title="cue_s09_c2_both_connected_subgraphs_three_edges" descr="cue_s09_c2_both_connected_subgraphs_three_edges Both use connected subgraphs up to three edges and share the same order-n-to-the-omega computational complexity, so the gain is free."/>
          <p:cNvSpPr/>
          <p:nvPr/>
        </p:nvSpPr>
        <p:spPr>
          <a:xfrm>
            <a:off x="3400348" y="1333195"/>
            <a:ext cx="2600553"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9_c3_under_null_hypothesis_cumulant_stati" title="cue_s09_c3_under_null_hypothesis_cumulant_stati" descr="cue_s09_c3_under_null_hypothesis_cumulant_stati And under the null hypothesis, the cumulant statistic hugs a chi-squared distribution with five degrees of freedom even for small samples, where the moment statistic visibly deviates."/>
          <p:cNvSpPr/>
          <p:nvPr/>
        </p:nvSpPr>
        <p:spPr>
          <a:xfrm>
            <a:off x="6067958" y="1333195"/>
            <a:ext cx="2848051"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9_c4_real_networks_tested_range_about" title="cue_s09_c4_real_networks_tested_range_about" descr="cue_s09_c4_real_networks_tested_range_about The real networks tested range from about eleven thousand to sixteen thousand nodes and hundreds of thousands of edges, all matched in density."/>
          <p:cNvSpPr/>
          <p:nvPr/>
        </p:nvSpPr>
        <p:spPr>
          <a:xfrm>
            <a:off x="8981846" y="1333195"/>
            <a:ext cx="2600553" cy="4476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19100"/>
            <a:ext cx="57150" cy="381000"/>
          </a:xfrm>
          <a:prstGeom prst="roundRect">
            <a:avLst>
              <a:gd name="adj" fmla="val 50000"/>
            </a:avLst>
          </a:prstGeom>
          <a:solidFill>
            <a:srgbClr val="35D0BA"/>
          </a:solidFill>
          <a:ln w="0">
            <a:solidFill>
              <a:srgbClr val="35D0BA"/>
            </a:solidFill>
          </a:ln>
        </p:spPr>
        <p:txBody>
          <a:bodyPr/>
          <a:p/>
        </p:txBody>
      </p:sp>
      <p:sp>
        <p:nvSpPr>
          <p:cNvPr id="3" name="TextBox 3"/>
          <p:cNvSpPr txBox="1"/>
          <p:nvPr/>
        </p:nvSpPr>
        <p:spPr>
          <a:xfrm>
            <a:off x="813435" y="469106"/>
            <a:ext cx="930244" cy="220028"/>
          </a:xfrm>
          <a:prstGeom prst="rect">
            <a:avLst/>
          </a:prstGeom>
          <a:noFill/>
          <a:ln>
            <a:noFill/>
          </a:ln>
        </p:spPr>
        <p:txBody>
          <a:bodyPr wrap="none" lIns="0" tIns="0" rIns="0" bIns="0" anchor="t" anchorCtr="0">
            <a:spAutoFit/>
          </a:bodyPr>
          <a:lstStyle/>
          <a:p>
            <a:pPr algn="l"/>
            <a:r>
              <a:rPr lang="en-US" sz="1120" b="1" spc="150" dirty="0">
                <a:solidFill>
                  <a:srgbClr val="35D0BA"/>
                </a:solidFill>
                <a:latin typeface="+mn-lt"/>
                <a:ea typeface="+mn-ea"/>
                <a:cs typeface="+mn-cs"/>
              </a:rPr>
              <a:t>TAKEAWAY</a:t>
            </a:r>
          </a:p>
        </p:txBody>
      </p:sp>
      <p:sp>
        <p:nvSpPr>
          <p:cNvPr id="4" name="TextBox 4"/>
          <p:cNvSpPr txBox="1"/>
          <p:nvPr/>
        </p:nvSpPr>
        <p:spPr>
          <a:xfrm>
            <a:off x="807720" y="614362"/>
            <a:ext cx="318193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Use graph cumulants</a:t>
            </a:r>
          </a:p>
        </p:txBody>
      </p:sp>
      <p:sp>
        <p:nvSpPr>
          <p:cNvPr id="5" name="TextBox 5"/>
          <p:cNvSpPr txBox="1"/>
          <p:nvPr/>
        </p:nvSpPr>
        <p:spPr>
          <a:xfrm>
            <a:off x="11046336" y="526256"/>
            <a:ext cx="541779" cy="220028"/>
          </a:xfrm>
          <a:prstGeom prst="rect">
            <a:avLst/>
          </a:prstGeom>
          <a:noFill/>
          <a:ln>
            <a:noFill/>
          </a:ln>
        </p:spPr>
        <p:txBody>
          <a:bodyPr wrap="none" lIns="0" tIns="0" rIns="0" bIns="0" anchor="t" anchorCtr="0">
            <a:spAutoFit/>
          </a:bodyPr>
          <a:lstStyle/>
          <a:p>
            <a:pPr algn="r"/>
            <a:r>
              <a:rPr lang="en-US" sz="1120" b="1" dirty="0">
                <a:solidFill>
                  <a:srgbClr val="9DB2C4"/>
                </a:solidFill>
                <a:latin typeface="+mn-lt"/>
                <a:ea typeface="+mn-ea"/>
                <a:cs typeface="+mn-cs"/>
              </a:rPr>
              <a:t>10 / 10</a:t>
            </a:r>
          </a:p>
        </p:txBody>
      </p:sp>
      <p:sp>
        <p:nvSpPr>
          <p:cNvPr id="6" name="Line 6"/>
          <p:cNvSpPr/>
          <p:nvPr/>
        </p:nvSpPr>
        <p:spPr>
          <a:xfrm>
            <a:off x="609600" y="990600"/>
            <a:ext cx="10972800" cy="9525"/>
          </a:xfrm>
          <a:custGeom>
            <a:avLst/>
            <a:gdLst/>
            <a:ahLst/>
            <a:cxnLst/>
            <a:rect l="l" t="t" r="r" b="b"/>
            <a:pathLst>
              <a:path w="10972800" h="9525">
                <a:moveTo>
                  <a:pt x="0" y="0"/>
                </a:moveTo>
                <a:lnTo>
                  <a:pt x="10972800" y="0"/>
                </a:lnTo>
              </a:path>
            </a:pathLst>
          </a:custGeom>
          <a:noFill/>
          <a:ln w="14288">
            <a:solidFill>
              <a:srgbClr val="1E3A52"/>
            </a:solidFill>
          </a:ln>
        </p:spPr>
        <p:txBody>
          <a:bodyPr/>
          <a:p/>
        </p:txBody>
      </p:sp>
      <p:grpSp>
        <p:nvGrpSpPr>
          <p:cNvPr id="10" name="Group 10"/>
          <p:cNvGrpSpPr/>
          <p:nvPr/>
        </p:nvGrpSpPr>
        <p:grpSpPr>
          <a:xfrm>
            <a:off x="609600" y="1162050"/>
            <a:ext cx="10972800" cy="666750"/>
            <a:chOff x="609600" y="1162050"/>
            <a:chExt cx="10972800" cy="666750"/>
          </a:xfrm>
        </p:grpSpPr>
        <p:sp>
          <p:nvSpPr>
            <p:cNvPr id="7" name="Rectangle 7"/>
            <p:cNvSpPr/>
            <p:nvPr/>
          </p:nvSpPr>
          <p:spPr>
            <a:xfrm>
              <a:off x="609600" y="1162050"/>
              <a:ext cx="10972800" cy="666750"/>
            </a:xfrm>
            <a:prstGeom prst="roundRect">
              <a:avLst>
                <a:gd name="adj" fmla="val 20000"/>
              </a:avLst>
            </a:prstGeom>
            <a:solidFill>
              <a:schemeClr val="accent5"/>
            </a:solidFill>
            <a:ln w="14288">
              <a:solidFill>
                <a:srgbClr val="1E3A52"/>
              </a:solidFill>
            </a:ln>
          </p:spPr>
        </p:sp>
        <p:sp>
          <p:nvSpPr>
            <p:cNvPr id="8" name="Rectangle 8"/>
            <p:cNvSpPr/>
            <p:nvPr/>
          </p:nvSpPr>
          <p:spPr>
            <a:xfrm>
              <a:off x="609600" y="1162050"/>
              <a:ext cx="57150" cy="666750"/>
            </a:xfrm>
            <a:prstGeom prst="roundRect">
              <a:avLst>
                <a:gd name="adj" fmla="val 50000"/>
              </a:avLst>
            </a:prstGeom>
            <a:solidFill>
              <a:srgbClr val="35D0BA"/>
            </a:solidFill>
            <a:ln w="0">
              <a:solidFill>
                <a:srgbClr val="35D0BA"/>
              </a:solidFill>
            </a:ln>
          </p:spPr>
        </p:sp>
        <p:sp>
          <p:nvSpPr>
            <p:cNvPr id="9" name="TextBox 9"/>
            <p:cNvSpPr txBox="1"/>
            <p:nvPr/>
          </p:nvSpPr>
          <p:spPr>
            <a:xfrm>
              <a:off x="868299" y="1411129"/>
              <a:ext cx="662332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The bottom line is a practical one - and it costs you nothing.</a:t>
              </a:r>
            </a:p>
          </p:txBody>
        </p:sp>
      </p:grpSp>
      <p:grpSp>
        <p:nvGrpSpPr>
          <p:cNvPr id="22" name="Group 22"/>
          <p:cNvGrpSpPr/>
          <p:nvPr/>
        </p:nvGrpSpPr>
        <p:grpSpPr>
          <a:xfrm>
            <a:off x="609600" y="2038350"/>
            <a:ext cx="3505200" cy="3810000"/>
            <a:chOff x="609600" y="2038350"/>
            <a:chExt cx="3505200" cy="3810000"/>
          </a:xfrm>
        </p:grpSpPr>
        <p:sp>
          <p:nvSpPr>
            <p:cNvPr id="11" name="Rectangle 11"/>
            <p:cNvSpPr/>
            <p:nvPr/>
          </p:nvSpPr>
          <p:spPr>
            <a:xfrm>
              <a:off x="609600" y="2038350"/>
              <a:ext cx="3505200" cy="3810000"/>
            </a:xfrm>
            <a:prstGeom prst="roundRect">
              <a:avLst>
                <a:gd name="adj" fmla="val 3804"/>
              </a:avLst>
            </a:prstGeom>
            <a:solidFill>
              <a:schemeClr val="accent5"/>
            </a:solidFill>
            <a:ln w="14288">
              <a:solidFill>
                <a:srgbClr val="1E3A52"/>
              </a:solidFill>
            </a:ln>
          </p:spPr>
        </p:sp>
        <p:sp>
          <p:nvSpPr>
            <p:cNvPr id="12" name="Rectangle 12"/>
            <p:cNvSpPr/>
            <p:nvPr/>
          </p:nvSpPr>
          <p:spPr>
            <a:xfrm>
              <a:off x="609600" y="2038350"/>
              <a:ext cx="3505200" cy="76200"/>
            </a:xfrm>
            <a:prstGeom prst="roundRect">
              <a:avLst>
                <a:gd name="adj" fmla="val 50000"/>
              </a:avLst>
            </a:prstGeom>
            <a:solidFill>
              <a:srgbClr val="35D0BA"/>
            </a:solidFill>
            <a:ln w="0">
              <a:solidFill>
                <a:srgbClr val="35D0BA"/>
              </a:solidFill>
            </a:ln>
          </p:spPr>
        </p:sp>
        <p:sp>
          <p:nvSpPr>
            <p:cNvPr id="13" name="Ellipse 13"/>
            <p:cNvSpPr/>
            <p:nvPr/>
          </p:nvSpPr>
          <p:spPr>
            <a:xfrm>
              <a:off x="838200" y="2419350"/>
              <a:ext cx="342900" cy="342900"/>
            </a:xfrm>
            <a:prstGeom prst="ellipse">
              <a:avLst/>
            </a:prstGeom>
            <a:solidFill>
              <a:srgbClr val="35D0BA"/>
            </a:solidFill>
            <a:ln>
              <a:noFill/>
            </a:ln>
          </p:spPr>
        </p:sp>
        <p:sp>
          <p:nvSpPr>
            <p:cNvPr id="14" name="TextBox 14"/>
            <p:cNvSpPr txBox="1"/>
            <p:nvPr/>
          </p:nvSpPr>
          <p:spPr>
            <a:xfrm>
              <a:off x="943723" y="249555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1</a:t>
              </a:r>
            </a:p>
          </p:txBody>
        </p:sp>
        <p:sp>
          <p:nvSpPr>
            <p:cNvPr id="15" name="TextBox 15"/>
            <p:cNvSpPr txBox="1"/>
            <p:nvPr/>
          </p:nvSpPr>
          <p:spPr>
            <a:xfrm>
              <a:off x="1306449" y="2363629"/>
              <a:ext cx="225637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Convert densities to</a:t>
              </a:r>
            </a:p>
          </p:txBody>
        </p:sp>
        <p:sp>
          <p:nvSpPr>
            <p:cNvPr id="16" name="TextBox 16"/>
            <p:cNvSpPr txBox="1"/>
            <p:nvPr/>
          </p:nvSpPr>
          <p:spPr>
            <a:xfrm>
              <a:off x="1306449" y="2620804"/>
              <a:ext cx="111034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cumulants</a:t>
              </a:r>
            </a:p>
          </p:txBody>
        </p:sp>
        <p:sp>
          <p:nvSpPr>
            <p:cNvPr id="17" name="TextBox 17"/>
            <p:cNvSpPr txBox="1"/>
            <p:nvPr/>
          </p:nvSpPr>
          <p:spPr>
            <a:xfrm>
              <a:off x="926592" y="3321368"/>
              <a:ext cx="280945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Whenever you analyze networks</a:t>
              </a:r>
            </a:p>
          </p:txBody>
        </p:sp>
        <p:sp>
          <p:nvSpPr>
            <p:cNvPr id="18" name="TextBox 18"/>
            <p:cNvSpPr txBox="1"/>
            <p:nvPr/>
          </p:nvSpPr>
          <p:spPr>
            <a:xfrm>
              <a:off x="926592" y="3578542"/>
              <a:ext cx="236721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through subgraph or motif</a:t>
              </a:r>
            </a:p>
          </p:txBody>
        </p:sp>
        <p:sp>
          <p:nvSpPr>
            <p:cNvPr id="19" name="TextBox 19"/>
            <p:cNvSpPr txBox="1"/>
            <p:nvPr/>
          </p:nvSpPr>
          <p:spPr>
            <a:xfrm>
              <a:off x="926592" y="3835718"/>
              <a:ext cx="2739771"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densities, take one extra step</a:t>
              </a:r>
            </a:p>
          </p:txBody>
        </p:sp>
        <p:sp>
          <p:nvSpPr>
            <p:cNvPr id="20" name="TextBox 20"/>
            <p:cNvSpPr txBox="1"/>
            <p:nvPr/>
          </p:nvSpPr>
          <p:spPr>
            <a:xfrm>
              <a:off x="926592" y="4092892"/>
              <a:ext cx="2321776"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and convert them into the</a:t>
              </a:r>
            </a:p>
          </p:txBody>
        </p:sp>
        <p:sp>
          <p:nvSpPr>
            <p:cNvPr id="21" name="TextBox 21"/>
            <p:cNvSpPr txBox="1"/>
            <p:nvPr/>
          </p:nvSpPr>
          <p:spPr>
            <a:xfrm>
              <a:off x="926592" y="4350068"/>
              <a:ext cx="2866987"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corresponding graph cumulants.</a:t>
              </a:r>
            </a:p>
          </p:txBody>
        </p:sp>
      </p:grpSp>
      <p:grpSp>
        <p:nvGrpSpPr>
          <p:cNvPr id="36" name="Group 36"/>
          <p:cNvGrpSpPr/>
          <p:nvPr/>
        </p:nvGrpSpPr>
        <p:grpSpPr>
          <a:xfrm>
            <a:off x="4343400" y="2038350"/>
            <a:ext cx="3505200" cy="3810000"/>
            <a:chOff x="4343400" y="2038350"/>
            <a:chExt cx="3505200" cy="3810000"/>
          </a:xfrm>
        </p:grpSpPr>
        <p:sp>
          <p:nvSpPr>
            <p:cNvPr id="23" name="Rectangle 23"/>
            <p:cNvSpPr/>
            <p:nvPr/>
          </p:nvSpPr>
          <p:spPr>
            <a:xfrm>
              <a:off x="4343400" y="2038350"/>
              <a:ext cx="3505200" cy="3810000"/>
            </a:xfrm>
            <a:prstGeom prst="roundRect">
              <a:avLst>
                <a:gd name="adj" fmla="val 3804"/>
              </a:avLst>
            </a:prstGeom>
            <a:solidFill>
              <a:schemeClr val="accent5"/>
            </a:solidFill>
            <a:ln w="14288">
              <a:solidFill>
                <a:srgbClr val="1E3A52"/>
              </a:solidFill>
            </a:ln>
          </p:spPr>
        </p:sp>
        <p:sp>
          <p:nvSpPr>
            <p:cNvPr id="24" name="Rectangle 24"/>
            <p:cNvSpPr/>
            <p:nvPr/>
          </p:nvSpPr>
          <p:spPr>
            <a:xfrm>
              <a:off x="4343400" y="2038350"/>
              <a:ext cx="3505200" cy="76200"/>
            </a:xfrm>
            <a:prstGeom prst="roundRect">
              <a:avLst>
                <a:gd name="adj" fmla="val 50000"/>
              </a:avLst>
            </a:prstGeom>
            <a:solidFill>
              <a:srgbClr val="48D597"/>
            </a:solidFill>
            <a:ln w="0">
              <a:solidFill>
                <a:srgbClr val="48D597"/>
              </a:solidFill>
            </a:ln>
          </p:spPr>
        </p:sp>
        <p:sp>
          <p:nvSpPr>
            <p:cNvPr id="25" name="Ellipse 25"/>
            <p:cNvSpPr/>
            <p:nvPr/>
          </p:nvSpPr>
          <p:spPr>
            <a:xfrm>
              <a:off x="4572000" y="2419350"/>
              <a:ext cx="342900" cy="342900"/>
            </a:xfrm>
            <a:prstGeom prst="ellipse">
              <a:avLst/>
            </a:prstGeom>
            <a:solidFill>
              <a:srgbClr val="48D597"/>
            </a:solidFill>
            <a:ln>
              <a:noFill/>
            </a:ln>
          </p:spPr>
        </p:sp>
        <p:sp>
          <p:nvSpPr>
            <p:cNvPr id="26" name="TextBox 26"/>
            <p:cNvSpPr txBox="1"/>
            <p:nvPr/>
          </p:nvSpPr>
          <p:spPr>
            <a:xfrm>
              <a:off x="4677523" y="249555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2</a:t>
              </a:r>
            </a:p>
          </p:txBody>
        </p:sp>
        <p:sp>
          <p:nvSpPr>
            <p:cNvPr id="27" name="TextBox 27"/>
            <p:cNvSpPr txBox="1"/>
            <p:nvPr/>
          </p:nvSpPr>
          <p:spPr>
            <a:xfrm>
              <a:off x="5040249" y="2363629"/>
              <a:ext cx="217880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Gain power for free</a:t>
              </a:r>
            </a:p>
          </p:txBody>
        </p:sp>
        <p:sp>
          <p:nvSpPr>
            <p:cNvPr id="28" name="TextBox 28"/>
            <p:cNvSpPr txBox="1"/>
            <p:nvPr/>
          </p:nvSpPr>
          <p:spPr>
            <a:xfrm>
              <a:off x="4660392" y="3321368"/>
              <a:ext cx="1646016"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You lose nothing in</a:t>
              </a:r>
            </a:p>
          </p:txBody>
        </p:sp>
        <p:sp>
          <p:nvSpPr>
            <p:cNvPr id="29" name="TextBox 29"/>
            <p:cNvSpPr txBox="1"/>
            <p:nvPr/>
          </p:nvSpPr>
          <p:spPr>
            <a:xfrm>
              <a:off x="4660392" y="3578542"/>
              <a:ext cx="2576208"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computational cost, but gain</a:t>
              </a:r>
            </a:p>
          </p:txBody>
        </p:sp>
        <p:sp>
          <p:nvSpPr>
            <p:cNvPr id="30" name="TextBox 30"/>
            <p:cNvSpPr txBox="1"/>
            <p:nvPr/>
          </p:nvSpPr>
          <p:spPr>
            <a:xfrm>
              <a:off x="4660392" y="3835718"/>
              <a:ext cx="2294515"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sharply higher statistical</a:t>
              </a:r>
            </a:p>
          </p:txBody>
        </p:sp>
        <p:sp>
          <p:nvSpPr>
            <p:cNvPr id="31" name="TextBox 31"/>
            <p:cNvSpPr txBox="1"/>
            <p:nvPr/>
          </p:nvSpPr>
          <p:spPr>
            <a:xfrm>
              <a:off x="4660392" y="4092892"/>
              <a:ext cx="199464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power, a trustworthy</a:t>
              </a:r>
            </a:p>
          </p:txBody>
        </p:sp>
        <p:sp>
          <p:nvSpPr>
            <p:cNvPr id="32" name="TextBox 32"/>
            <p:cNvSpPr txBox="1"/>
            <p:nvPr/>
          </p:nvSpPr>
          <p:spPr>
            <a:xfrm>
              <a:off x="4660392" y="4350068"/>
              <a:ext cx="178565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chi-squared null for</a:t>
              </a:r>
            </a:p>
          </p:txBody>
        </p:sp>
        <p:sp>
          <p:nvSpPr>
            <p:cNvPr id="33" name="TextBox 33"/>
            <p:cNvSpPr txBox="1"/>
            <p:nvPr/>
          </p:nvSpPr>
          <p:spPr>
            <a:xfrm>
              <a:off x="4660392" y="4607242"/>
              <a:ext cx="233995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controlling error, and the</a:t>
              </a:r>
            </a:p>
          </p:txBody>
        </p:sp>
        <p:sp>
          <p:nvSpPr>
            <p:cNvPr id="34" name="TextBox 34"/>
            <p:cNvSpPr txBox="1"/>
            <p:nvPr/>
          </p:nvSpPr>
          <p:spPr>
            <a:xfrm>
              <a:off x="4660392" y="4864418"/>
              <a:ext cx="2458079"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ability to test even a single</a:t>
              </a:r>
            </a:p>
          </p:txBody>
        </p:sp>
        <p:sp>
          <p:nvSpPr>
            <p:cNvPr id="35" name="TextBox 35"/>
            <p:cNvSpPr txBox="1"/>
            <p:nvPr/>
          </p:nvSpPr>
          <p:spPr>
            <a:xfrm>
              <a:off x="4660392" y="5121592"/>
              <a:ext cx="146761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observed graph.</a:t>
              </a:r>
            </a:p>
          </p:txBody>
        </p:sp>
      </p:grpSp>
      <p:grpSp>
        <p:nvGrpSpPr>
          <p:cNvPr id="48" name="Group 48"/>
          <p:cNvGrpSpPr/>
          <p:nvPr/>
        </p:nvGrpSpPr>
        <p:grpSpPr>
          <a:xfrm>
            <a:off x="8077200" y="2038350"/>
            <a:ext cx="3505200" cy="3810000"/>
            <a:chOff x="8077200" y="2038350"/>
            <a:chExt cx="3505200" cy="3810000"/>
          </a:xfrm>
        </p:grpSpPr>
        <p:sp>
          <p:nvSpPr>
            <p:cNvPr id="37" name="Rectangle 37"/>
            <p:cNvSpPr/>
            <p:nvPr/>
          </p:nvSpPr>
          <p:spPr>
            <a:xfrm>
              <a:off x="8077200" y="2038350"/>
              <a:ext cx="3505200" cy="3810000"/>
            </a:xfrm>
            <a:prstGeom prst="roundRect">
              <a:avLst>
                <a:gd name="adj" fmla="val 3804"/>
              </a:avLst>
            </a:prstGeom>
            <a:solidFill>
              <a:schemeClr val="accent5"/>
            </a:solidFill>
            <a:ln w="14288">
              <a:solidFill>
                <a:srgbClr val="1E3A52"/>
              </a:solidFill>
            </a:ln>
          </p:spPr>
        </p:sp>
        <p:sp>
          <p:nvSpPr>
            <p:cNvPr id="38" name="Rectangle 38"/>
            <p:cNvSpPr/>
            <p:nvPr/>
          </p:nvSpPr>
          <p:spPr>
            <a:xfrm>
              <a:off x="8077200" y="2038350"/>
              <a:ext cx="3505200" cy="76200"/>
            </a:xfrm>
            <a:prstGeom prst="roundRect">
              <a:avLst>
                <a:gd name="adj" fmla="val 50000"/>
              </a:avLst>
            </a:prstGeom>
            <a:solidFill>
              <a:srgbClr val="F5B841"/>
            </a:solidFill>
            <a:ln w="0">
              <a:solidFill>
                <a:srgbClr val="F5B841"/>
              </a:solidFill>
            </a:ln>
          </p:spPr>
        </p:sp>
        <p:sp>
          <p:nvSpPr>
            <p:cNvPr id="39" name="Ellipse 39"/>
            <p:cNvSpPr/>
            <p:nvPr/>
          </p:nvSpPr>
          <p:spPr>
            <a:xfrm>
              <a:off x="8305800" y="2419350"/>
              <a:ext cx="342900" cy="342900"/>
            </a:xfrm>
            <a:prstGeom prst="ellipse">
              <a:avLst/>
            </a:prstGeom>
            <a:solidFill>
              <a:srgbClr val="F5B841"/>
            </a:solidFill>
            <a:ln>
              <a:noFill/>
            </a:ln>
          </p:spPr>
        </p:sp>
        <p:sp>
          <p:nvSpPr>
            <p:cNvPr id="40" name="TextBox 40"/>
            <p:cNvSpPr txBox="1"/>
            <p:nvPr/>
          </p:nvSpPr>
          <p:spPr>
            <a:xfrm>
              <a:off x="8411323" y="2495550"/>
              <a:ext cx="131855" cy="293370"/>
            </a:xfrm>
            <a:prstGeom prst="rect">
              <a:avLst/>
            </a:prstGeom>
            <a:noFill/>
            <a:ln>
              <a:noFill/>
            </a:ln>
          </p:spPr>
          <p:txBody>
            <a:bodyPr wrap="none" lIns="0" tIns="0" rIns="0" bIns="0" anchor="t" anchorCtr="0">
              <a:spAutoFit/>
            </a:bodyPr>
            <a:lstStyle/>
            <a:p>
              <a:pPr algn="ctr"/>
              <a:r>
                <a:rPr lang="en-US" sz="1500" b="1" dirty="0">
                  <a:solidFill>
                    <a:srgbClr val="08131F"/>
                  </a:solidFill>
                  <a:latin typeface="+mn-lt"/>
                  <a:ea typeface="+mn-ea"/>
                  <a:cs typeface="+mn-cs"/>
                </a:rPr>
                <a:t>3</a:t>
              </a:r>
            </a:p>
          </p:txBody>
        </p:sp>
        <p:sp>
          <p:nvSpPr>
            <p:cNvPr id="41" name="TextBox 41"/>
            <p:cNvSpPr txBox="1"/>
            <p:nvPr/>
          </p:nvSpPr>
          <p:spPr>
            <a:xfrm>
              <a:off x="8774049" y="2363629"/>
              <a:ext cx="254720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 more natural feature</a:t>
              </a:r>
            </a:p>
          </p:txBody>
        </p:sp>
        <p:sp>
          <p:nvSpPr>
            <p:cNvPr id="42" name="TextBox 42"/>
            <p:cNvSpPr txBox="1"/>
            <p:nvPr/>
          </p:nvSpPr>
          <p:spPr>
            <a:xfrm>
              <a:off x="8774049" y="2620804"/>
              <a:ext cx="38450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set</a:t>
              </a:r>
            </a:p>
          </p:txBody>
        </p:sp>
        <p:sp>
          <p:nvSpPr>
            <p:cNvPr id="43" name="TextBox 43"/>
            <p:cNvSpPr txBox="1"/>
            <p:nvPr/>
          </p:nvSpPr>
          <p:spPr>
            <a:xfrm>
              <a:off x="8394192" y="3321368"/>
              <a:ext cx="217339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Graph cumulants offer a</a:t>
              </a:r>
            </a:p>
          </p:txBody>
        </p:sp>
        <p:sp>
          <p:nvSpPr>
            <p:cNvPr id="44" name="TextBox 44"/>
            <p:cNvSpPr txBox="1"/>
            <p:nvPr/>
          </p:nvSpPr>
          <p:spPr>
            <a:xfrm>
              <a:off x="8394192" y="3578542"/>
              <a:ext cx="2685250"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principled, more natural first</a:t>
              </a:r>
            </a:p>
          </p:txBody>
        </p:sp>
        <p:sp>
          <p:nvSpPr>
            <p:cNvPr id="45" name="TextBox 45"/>
            <p:cNvSpPr txBox="1"/>
            <p:nvPr/>
          </p:nvSpPr>
          <p:spPr>
            <a:xfrm>
              <a:off x="8394192" y="3835718"/>
              <a:ext cx="2876074"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layer of features for comparing</a:t>
              </a:r>
            </a:p>
          </p:txBody>
        </p:sp>
        <p:sp>
          <p:nvSpPr>
            <p:cNvPr id="46" name="TextBox 46"/>
            <p:cNvSpPr txBox="1"/>
            <p:nvPr/>
          </p:nvSpPr>
          <p:spPr>
            <a:xfrm>
              <a:off x="8394192" y="4092892"/>
              <a:ext cx="198556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the local structure of</a:t>
              </a:r>
            </a:p>
          </p:txBody>
        </p:sp>
        <p:sp>
          <p:nvSpPr>
            <p:cNvPr id="47" name="TextBox 47"/>
            <p:cNvSpPr txBox="1"/>
            <p:nvPr/>
          </p:nvSpPr>
          <p:spPr>
            <a:xfrm>
              <a:off x="8394192" y="4350068"/>
              <a:ext cx="949662" cy="264033"/>
            </a:xfrm>
            <a:prstGeom prst="rect">
              <a:avLst/>
            </a:prstGeom>
            <a:noFill/>
            <a:ln>
              <a:noFill/>
            </a:ln>
          </p:spPr>
          <p:txBody>
            <a:bodyPr wrap="none" lIns="0" tIns="0" rIns="0" bIns="0" anchor="t" anchorCtr="0">
              <a:spAutoFit/>
            </a:bodyPr>
            <a:lstStyle/>
            <a:p>
              <a:pPr algn="l"/>
              <a:r>
                <a:rPr lang="en-US" sz="1350" dirty="0">
                  <a:solidFill>
                    <a:srgbClr val="9DB2C4"/>
                  </a:solidFill>
                  <a:latin typeface="+mn-lt"/>
                  <a:ea typeface="+mn-ea"/>
                  <a:cs typeface="+mn-cs"/>
                </a:rPr>
                <a:t>networks.</a:t>
              </a:r>
            </a:p>
          </p:txBody>
        </p:sp>
      </p:grpSp>
      <p:sp>
        <p:nvSpPr>
          <p:cNvPr id="49" name="TextBox 49"/>
          <p:cNvSpPr txBox="1"/>
          <p:nvPr/>
        </p:nvSpPr>
        <p:spPr>
          <a:xfrm>
            <a:off x="603885" y="6165056"/>
            <a:ext cx="7049644" cy="220028"/>
          </a:xfrm>
          <a:prstGeom prst="rect">
            <a:avLst/>
          </a:prstGeom>
          <a:noFill/>
          <a:ln>
            <a:noFill/>
          </a:ln>
        </p:spPr>
        <p:txBody>
          <a:bodyPr wrap="none" lIns="0" tIns="0" rIns="0" bIns="0" anchor="t" anchorCtr="0">
            <a:spAutoFit/>
          </a:bodyPr>
          <a:lstStyle/>
          <a:p>
            <a:pPr algn="l"/>
            <a:r>
              <a:rPr lang="en-US" sz="1120" dirty="0">
                <a:solidFill>
                  <a:srgbClr val="9DB2C4"/>
                </a:solidFill>
                <a:latin typeface="+mn-lt"/>
                <a:ea typeface="+mn-ea"/>
                <a:cs typeface="+mn-cs"/>
              </a:rPr>
              <a:t>Quantifying Network Similarity using Graph Cumulants · JMLR 2023 · arxiv.org/abs/2107.11403</a:t>
            </a:r>
          </a:p>
        </p:txBody>
      </p:sp>
      <p:sp>
        <p:nvSpPr>
          <p:cNvPr id="50" name="cue_s10_c1_bottom_line_practical_one" title="cue_s10_c1_bottom_line_practical_one" descr="cue_s10_c1_bottom_line_practical_one The bottom line is a practical one."/>
          <p:cNvSpPr/>
          <p:nvPr/>
        </p:nvSpPr>
        <p:spPr>
          <a:xfrm>
            <a:off x="609600" y="1161745"/>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10_c2_whenever_you_find_yourself_analyzing" title="cue_s10_c2_whenever_you_find_yourself_analyzing" descr="cue_s10_c2_whenever_you_find_yourself_analyzing Whenever you find yourself analyzing networks through subgraph or motif densities, take one extra step and convert them into graph cumulants."/>
          <p:cNvSpPr/>
          <p:nvPr/>
        </p:nvSpPr>
        <p:spPr>
          <a:xfrm>
            <a:off x="609600" y="2038197"/>
            <a:ext cx="3505199" cy="38103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10_c3_you_lose_nothing_computational_cost" title="cue_s10_c3_you_lose_nothing_computational_cost" descr="cue_s10_c3_you_lose_nothing_computational_cost You lose nothing in computational cost, but you gain sharply higher statistical power, a trustworthy chi-squared null distribution for controlling error rates, and the ability to draw conclusions even from a single observed network."/>
          <p:cNvSpPr/>
          <p:nvPr/>
        </p:nvSpPr>
        <p:spPr>
          <a:xfrm>
            <a:off x="4344009" y="2038197"/>
            <a:ext cx="3505199" cy="38103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10_c4_short_graph_cumulants_offer_principl" title="cue_s10_c4_short_graph_cumulants_offer_principl" descr="cue_s10_c4_short_graph_cumulants_offer_principl In short, graph cumulants offer a principled, more natural first layer of features for comparing the local structure of networks."/>
          <p:cNvSpPr/>
          <p:nvPr/>
        </p:nvSpPr>
        <p:spPr>
          <a:xfrm>
            <a:off x="8077200" y="2038197"/>
            <a:ext cx="3505199" cy="38103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8F0F7"/>
      </a:dk1>
      <a:lt1>
        <a:srgbClr val="0B1B2B"/>
      </a:lt1>
      <a:dk2>
        <a:srgbClr val="E8F0F7"/>
      </a:dk2>
      <a:lt2>
        <a:srgbClr val="0B1B2B"/>
      </a:lt2>
      <a:accent1>
        <a:srgbClr val="4F81BD"/>
      </a:accent1>
      <a:accent2>
        <a:srgbClr val="C0504D"/>
      </a:accent2>
      <a:accent3>
        <a:srgbClr val="9BBB59"/>
      </a:accent3>
      <a:accent4>
        <a:srgbClr val="8064A2"/>
      </a:accent4>
      <a:accent5>
        <a:srgbClr val="10263B"/>
      </a:accent5>
      <a:accent6>
        <a:srgbClr val="12314A"/>
      </a:accent6>
      <a:hlink>
        <a:srgbClr val="0000FF"/>
      </a:hlink>
      <a:folHlink>
        <a:srgbClr val="800080"/>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2026-07-16T12:09:03Z</dcterms:created>
  <dcterms:modified xsi:type="dcterms:W3CDTF">2026-07-16T12:09:03Z</dcterms:modified>
  <cp:category/>
  <cp:contentStatus/>
</cp:coreProperties>
</file>
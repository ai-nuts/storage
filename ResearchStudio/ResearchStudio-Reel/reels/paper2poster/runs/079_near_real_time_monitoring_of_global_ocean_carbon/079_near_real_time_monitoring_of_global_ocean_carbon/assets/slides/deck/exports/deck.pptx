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7467600" y="1428750"/>
            <a:ext cx="4114800" cy="2857500"/>
          </a:xfrm>
          <a:prstGeom prst="roundRect">
            <a:avLst>
              <a:gd name="adj" fmla="val 6667"/>
            </a:avLst>
          </a:prstGeom>
          <a:solidFill>
            <a:schemeClr val="lt2"/>
          </a:solidFill>
          <a:ln w="9525">
            <a:solidFill>
              <a:schemeClr val="accent4"/>
            </a:solidFill>
          </a:ln>
        </p:spPr>
        <p:txBody>
          <a:bodyPr/>
          <a:p/>
        </p:txBody>
      </p:sp>
      <p:sp>
        <p:nvSpPr>
          <p:cNvPr id="3" name="TextBox 3"/>
          <p:cNvSpPr txBox="1"/>
          <p:nvPr/>
        </p:nvSpPr>
        <p:spPr>
          <a:xfrm>
            <a:off x="7767447" y="1704499"/>
            <a:ext cx="2141159" cy="190690"/>
          </a:xfrm>
          <a:prstGeom prst="rect">
            <a:avLst/>
          </a:prstGeom>
          <a:noFill/>
          <a:ln>
            <a:noFill/>
          </a:ln>
        </p:spPr>
        <p:txBody>
          <a:bodyPr wrap="none" lIns="0" tIns="0" rIns="0" bIns="0" anchor="t" anchorCtr="0">
            <a:spAutoFit/>
          </a:bodyPr>
          <a:lstStyle/>
          <a:p>
            <a:pPr algn="l"/>
            <a:r>
              <a:rPr lang="en-US" sz="980" b="1" spc="150" dirty="0">
                <a:solidFill>
                  <a:srgbClr val="5F7A93"/>
                </a:solidFill>
                <a:latin typeface="+mn-lt"/>
                <a:ea typeface="+mn-ea"/>
                <a:cs typeface="+mn-cs"/>
              </a:rPr>
              <a:t>GRIDDED OCEAN CO2 FLUX</a:t>
            </a:r>
          </a:p>
        </p:txBody>
      </p:sp>
      <p:sp>
        <p:nvSpPr>
          <p:cNvPr id="4" name="Rectangle 4"/>
          <p:cNvSpPr/>
          <p:nvPr/>
        </p:nvSpPr>
        <p:spPr>
          <a:xfrm>
            <a:off x="7772400" y="1981200"/>
            <a:ext cx="228600" cy="209550"/>
          </a:xfrm>
          <a:prstGeom prst="roundRect">
            <a:avLst>
              <a:gd name="adj" fmla="val 13636"/>
            </a:avLst>
          </a:prstGeom>
          <a:solidFill>
            <a:schemeClr val="accent2">
              <a:alpha val="60000"/>
            </a:schemeClr>
          </a:solidFill>
          <a:ln>
            <a:noFill/>
          </a:ln>
        </p:spPr>
        <p:txBody>
          <a:bodyPr/>
          <a:p/>
        </p:txBody>
      </p:sp>
      <p:sp>
        <p:nvSpPr>
          <p:cNvPr id="5" name="Rectangle 5"/>
          <p:cNvSpPr/>
          <p:nvPr/>
        </p:nvSpPr>
        <p:spPr>
          <a:xfrm>
            <a:off x="8029575" y="1981200"/>
            <a:ext cx="228600" cy="209550"/>
          </a:xfrm>
          <a:prstGeom prst="roundRect">
            <a:avLst>
              <a:gd name="adj" fmla="val 13636"/>
            </a:avLst>
          </a:prstGeom>
          <a:solidFill>
            <a:schemeClr val="accent2">
              <a:alpha val="72000"/>
            </a:schemeClr>
          </a:solidFill>
          <a:ln>
            <a:noFill/>
          </a:ln>
        </p:spPr>
        <p:txBody>
          <a:bodyPr/>
          <a:p/>
        </p:txBody>
      </p:sp>
      <p:sp>
        <p:nvSpPr>
          <p:cNvPr id="6" name="Rectangle 6"/>
          <p:cNvSpPr/>
          <p:nvPr/>
        </p:nvSpPr>
        <p:spPr>
          <a:xfrm>
            <a:off x="8286750" y="1981200"/>
            <a:ext cx="228600" cy="209550"/>
          </a:xfrm>
          <a:prstGeom prst="roundRect">
            <a:avLst>
              <a:gd name="adj" fmla="val 13636"/>
            </a:avLst>
          </a:prstGeom>
          <a:solidFill>
            <a:schemeClr val="accent1">
              <a:alpha val="81000"/>
            </a:schemeClr>
          </a:solidFill>
          <a:ln>
            <a:noFill/>
          </a:ln>
        </p:spPr>
        <p:txBody>
          <a:bodyPr/>
          <a:p/>
        </p:txBody>
      </p:sp>
      <p:sp>
        <p:nvSpPr>
          <p:cNvPr id="7" name="Rectangle 7"/>
          <p:cNvSpPr/>
          <p:nvPr/>
        </p:nvSpPr>
        <p:spPr>
          <a:xfrm>
            <a:off x="8543925" y="1981200"/>
            <a:ext cx="228600" cy="209550"/>
          </a:xfrm>
          <a:prstGeom prst="roundRect">
            <a:avLst>
              <a:gd name="adj" fmla="val 13636"/>
            </a:avLst>
          </a:prstGeom>
          <a:solidFill>
            <a:schemeClr val="accent1">
              <a:alpha val="84000"/>
            </a:schemeClr>
          </a:solidFill>
          <a:ln>
            <a:noFill/>
          </a:ln>
        </p:spPr>
        <p:txBody>
          <a:bodyPr/>
          <a:p/>
        </p:txBody>
      </p:sp>
      <p:sp>
        <p:nvSpPr>
          <p:cNvPr id="8" name="Rectangle 8"/>
          <p:cNvSpPr/>
          <p:nvPr/>
        </p:nvSpPr>
        <p:spPr>
          <a:xfrm>
            <a:off x="8801100" y="1981200"/>
            <a:ext cx="228600" cy="209550"/>
          </a:xfrm>
          <a:prstGeom prst="roundRect">
            <a:avLst>
              <a:gd name="adj" fmla="val 13636"/>
            </a:avLst>
          </a:prstGeom>
          <a:solidFill>
            <a:schemeClr val="accent1">
              <a:alpha val="79000"/>
            </a:schemeClr>
          </a:solidFill>
          <a:ln>
            <a:noFill/>
          </a:ln>
        </p:spPr>
        <p:txBody>
          <a:bodyPr/>
          <a:p/>
        </p:txBody>
      </p:sp>
      <p:sp>
        <p:nvSpPr>
          <p:cNvPr id="9" name="Rectangle 9"/>
          <p:cNvSpPr/>
          <p:nvPr/>
        </p:nvSpPr>
        <p:spPr>
          <a:xfrm>
            <a:off x="9058275" y="1981200"/>
            <a:ext cx="228600" cy="209550"/>
          </a:xfrm>
          <a:prstGeom prst="roundRect">
            <a:avLst>
              <a:gd name="adj" fmla="val 13636"/>
            </a:avLst>
          </a:prstGeom>
          <a:solidFill>
            <a:schemeClr val="accent2">
              <a:alpha val="69000"/>
            </a:schemeClr>
          </a:solidFill>
          <a:ln>
            <a:noFill/>
          </a:ln>
        </p:spPr>
        <p:txBody>
          <a:bodyPr/>
          <a:p/>
        </p:txBody>
      </p:sp>
      <p:sp>
        <p:nvSpPr>
          <p:cNvPr id="10" name="Rectangle 10"/>
          <p:cNvSpPr/>
          <p:nvPr/>
        </p:nvSpPr>
        <p:spPr>
          <a:xfrm>
            <a:off x="9315450" y="1981200"/>
            <a:ext cx="228600" cy="209550"/>
          </a:xfrm>
          <a:prstGeom prst="roundRect">
            <a:avLst>
              <a:gd name="adj" fmla="val 13636"/>
            </a:avLst>
          </a:prstGeom>
          <a:solidFill>
            <a:srgbClr val="FBBF24">
              <a:alpha val="56000"/>
            </a:srgbClr>
          </a:solidFill>
          <a:ln>
            <a:noFill/>
          </a:ln>
        </p:spPr>
        <p:txBody>
          <a:bodyPr/>
          <a:p/>
        </p:txBody>
      </p:sp>
      <p:sp>
        <p:nvSpPr>
          <p:cNvPr id="11" name="Rectangle 11"/>
          <p:cNvSpPr/>
          <p:nvPr/>
        </p:nvSpPr>
        <p:spPr>
          <a:xfrm>
            <a:off x="9572625" y="1981200"/>
            <a:ext cx="228600" cy="209550"/>
          </a:xfrm>
          <a:prstGeom prst="roundRect">
            <a:avLst>
              <a:gd name="adj" fmla="val 13636"/>
            </a:avLst>
          </a:prstGeom>
          <a:solidFill>
            <a:srgbClr val="F87171">
              <a:alpha val="44000"/>
            </a:srgbClr>
          </a:solidFill>
          <a:ln>
            <a:noFill/>
          </a:ln>
        </p:spPr>
        <p:txBody>
          <a:bodyPr/>
          <a:p/>
        </p:txBody>
      </p:sp>
      <p:sp>
        <p:nvSpPr>
          <p:cNvPr id="12" name="Rectangle 12"/>
          <p:cNvSpPr/>
          <p:nvPr/>
        </p:nvSpPr>
        <p:spPr>
          <a:xfrm>
            <a:off x="9829800" y="1981200"/>
            <a:ext cx="228600" cy="209550"/>
          </a:xfrm>
          <a:prstGeom prst="roundRect">
            <a:avLst>
              <a:gd name="adj" fmla="val 13636"/>
            </a:avLst>
          </a:prstGeom>
          <a:solidFill>
            <a:srgbClr val="F87171">
              <a:alpha val="37000"/>
            </a:srgbClr>
          </a:solidFill>
          <a:ln>
            <a:noFill/>
          </a:ln>
        </p:spPr>
        <p:txBody>
          <a:bodyPr/>
          <a:p/>
        </p:txBody>
      </p:sp>
      <p:sp>
        <p:nvSpPr>
          <p:cNvPr id="13" name="Rectangle 13"/>
          <p:cNvSpPr/>
          <p:nvPr/>
        </p:nvSpPr>
        <p:spPr>
          <a:xfrm>
            <a:off x="10086975" y="1981200"/>
            <a:ext cx="228600" cy="209550"/>
          </a:xfrm>
          <a:prstGeom prst="roundRect">
            <a:avLst>
              <a:gd name="adj" fmla="val 13636"/>
            </a:avLst>
          </a:prstGeom>
          <a:solidFill>
            <a:srgbClr val="F87171">
              <a:alpha val="37000"/>
            </a:srgbClr>
          </a:solidFill>
          <a:ln>
            <a:noFill/>
          </a:ln>
        </p:spPr>
        <p:txBody>
          <a:bodyPr/>
          <a:p/>
        </p:txBody>
      </p:sp>
      <p:sp>
        <p:nvSpPr>
          <p:cNvPr id="14" name="Rectangle 14"/>
          <p:cNvSpPr/>
          <p:nvPr/>
        </p:nvSpPr>
        <p:spPr>
          <a:xfrm>
            <a:off x="10344150" y="1981200"/>
            <a:ext cx="228600" cy="209550"/>
          </a:xfrm>
          <a:prstGeom prst="roundRect">
            <a:avLst>
              <a:gd name="adj" fmla="val 13636"/>
            </a:avLst>
          </a:prstGeom>
          <a:solidFill>
            <a:srgbClr val="F87171">
              <a:alpha val="43000"/>
            </a:srgbClr>
          </a:solidFill>
          <a:ln>
            <a:noFill/>
          </a:ln>
        </p:spPr>
        <p:txBody>
          <a:bodyPr/>
          <a:p/>
        </p:txBody>
      </p:sp>
      <p:sp>
        <p:nvSpPr>
          <p:cNvPr id="15" name="Rectangle 15"/>
          <p:cNvSpPr/>
          <p:nvPr/>
        </p:nvSpPr>
        <p:spPr>
          <a:xfrm>
            <a:off x="10601325" y="1981200"/>
            <a:ext cx="228600" cy="209550"/>
          </a:xfrm>
          <a:prstGeom prst="roundRect">
            <a:avLst>
              <a:gd name="adj" fmla="val 13636"/>
            </a:avLst>
          </a:prstGeom>
          <a:solidFill>
            <a:srgbClr val="FBBF24">
              <a:alpha val="54000"/>
            </a:srgbClr>
          </a:solidFill>
          <a:ln>
            <a:noFill/>
          </a:ln>
        </p:spPr>
        <p:txBody>
          <a:bodyPr/>
          <a:p/>
        </p:txBody>
      </p:sp>
      <p:sp>
        <p:nvSpPr>
          <p:cNvPr id="16" name="Rectangle 16"/>
          <p:cNvSpPr/>
          <p:nvPr/>
        </p:nvSpPr>
        <p:spPr>
          <a:xfrm>
            <a:off x="10858500" y="1981200"/>
            <a:ext cx="228600" cy="209550"/>
          </a:xfrm>
          <a:prstGeom prst="roundRect">
            <a:avLst>
              <a:gd name="adj" fmla="val 13636"/>
            </a:avLst>
          </a:prstGeom>
          <a:solidFill>
            <a:schemeClr val="accent2">
              <a:alpha val="67000"/>
            </a:schemeClr>
          </a:solidFill>
          <a:ln>
            <a:noFill/>
          </a:ln>
        </p:spPr>
        <p:txBody>
          <a:bodyPr/>
          <a:p/>
        </p:txBody>
      </p:sp>
      <p:sp>
        <p:nvSpPr>
          <p:cNvPr id="17" name="Rectangle 17"/>
          <p:cNvSpPr/>
          <p:nvPr/>
        </p:nvSpPr>
        <p:spPr>
          <a:xfrm>
            <a:off x="11115675" y="1981200"/>
            <a:ext cx="228600" cy="209550"/>
          </a:xfrm>
          <a:prstGeom prst="roundRect">
            <a:avLst>
              <a:gd name="adj" fmla="val 13636"/>
            </a:avLst>
          </a:prstGeom>
          <a:solidFill>
            <a:schemeClr val="accent1">
              <a:alpha val="78000"/>
            </a:schemeClr>
          </a:solidFill>
          <a:ln>
            <a:noFill/>
          </a:ln>
        </p:spPr>
        <p:txBody>
          <a:bodyPr/>
          <a:p/>
        </p:txBody>
      </p:sp>
      <p:sp>
        <p:nvSpPr>
          <p:cNvPr id="18" name="Rectangle 18"/>
          <p:cNvSpPr/>
          <p:nvPr/>
        </p:nvSpPr>
        <p:spPr>
          <a:xfrm>
            <a:off x="7772400" y="2219325"/>
            <a:ext cx="228600" cy="209550"/>
          </a:xfrm>
          <a:prstGeom prst="roundRect">
            <a:avLst>
              <a:gd name="adj" fmla="val 13636"/>
            </a:avLst>
          </a:prstGeom>
          <a:solidFill>
            <a:schemeClr val="accent2">
              <a:alpha val="69000"/>
            </a:schemeClr>
          </a:solidFill>
          <a:ln>
            <a:noFill/>
          </a:ln>
        </p:spPr>
        <p:txBody>
          <a:bodyPr/>
          <a:p/>
        </p:txBody>
      </p:sp>
      <p:sp>
        <p:nvSpPr>
          <p:cNvPr id="19" name="Rectangle 19"/>
          <p:cNvSpPr/>
          <p:nvPr/>
        </p:nvSpPr>
        <p:spPr>
          <a:xfrm>
            <a:off x="8029575" y="2219325"/>
            <a:ext cx="228600" cy="209550"/>
          </a:xfrm>
          <a:prstGeom prst="roundRect">
            <a:avLst>
              <a:gd name="adj" fmla="val 13636"/>
            </a:avLst>
          </a:prstGeom>
          <a:solidFill>
            <a:schemeClr val="accent1">
              <a:alpha val="79000"/>
            </a:schemeClr>
          </a:solidFill>
          <a:ln>
            <a:noFill/>
          </a:ln>
        </p:spPr>
        <p:txBody>
          <a:bodyPr/>
          <a:p/>
        </p:txBody>
      </p:sp>
      <p:sp>
        <p:nvSpPr>
          <p:cNvPr id="20" name="Rectangle 20"/>
          <p:cNvSpPr/>
          <p:nvPr/>
        </p:nvSpPr>
        <p:spPr>
          <a:xfrm>
            <a:off x="8286750" y="2219325"/>
            <a:ext cx="228600" cy="209550"/>
          </a:xfrm>
          <a:prstGeom prst="roundRect">
            <a:avLst>
              <a:gd name="adj" fmla="val 13636"/>
            </a:avLst>
          </a:prstGeom>
          <a:solidFill>
            <a:schemeClr val="accent1">
              <a:alpha val="83000"/>
            </a:schemeClr>
          </a:solidFill>
          <a:ln>
            <a:noFill/>
          </a:ln>
        </p:spPr>
        <p:txBody>
          <a:bodyPr/>
          <a:p/>
        </p:txBody>
      </p:sp>
      <p:sp>
        <p:nvSpPr>
          <p:cNvPr id="21" name="Rectangle 21"/>
          <p:cNvSpPr/>
          <p:nvPr/>
        </p:nvSpPr>
        <p:spPr>
          <a:xfrm>
            <a:off x="8543925" y="2219325"/>
            <a:ext cx="228600" cy="209550"/>
          </a:xfrm>
          <a:prstGeom prst="roundRect">
            <a:avLst>
              <a:gd name="adj" fmla="val 13636"/>
            </a:avLst>
          </a:prstGeom>
          <a:solidFill>
            <a:schemeClr val="accent1">
              <a:alpha val="80000"/>
            </a:schemeClr>
          </a:solidFill>
          <a:ln>
            <a:noFill/>
          </a:ln>
        </p:spPr>
        <p:txBody>
          <a:bodyPr/>
          <a:p/>
        </p:txBody>
      </p:sp>
      <p:sp>
        <p:nvSpPr>
          <p:cNvPr id="22" name="Rectangle 22"/>
          <p:cNvSpPr/>
          <p:nvPr/>
        </p:nvSpPr>
        <p:spPr>
          <a:xfrm>
            <a:off x="8801100" y="2219325"/>
            <a:ext cx="228600" cy="209550"/>
          </a:xfrm>
          <a:prstGeom prst="roundRect">
            <a:avLst>
              <a:gd name="adj" fmla="val 13636"/>
            </a:avLst>
          </a:prstGeom>
          <a:solidFill>
            <a:schemeClr val="accent2">
              <a:alpha val="72000"/>
            </a:schemeClr>
          </a:solidFill>
          <a:ln>
            <a:noFill/>
          </a:ln>
        </p:spPr>
        <p:txBody>
          <a:bodyPr/>
          <a:p/>
        </p:txBody>
      </p:sp>
      <p:sp>
        <p:nvSpPr>
          <p:cNvPr id="23" name="Rectangle 23"/>
          <p:cNvSpPr/>
          <p:nvPr/>
        </p:nvSpPr>
        <p:spPr>
          <a:xfrm>
            <a:off x="9058275" y="2219325"/>
            <a:ext cx="228600" cy="209550"/>
          </a:xfrm>
          <a:prstGeom prst="roundRect">
            <a:avLst>
              <a:gd name="adj" fmla="val 13636"/>
            </a:avLst>
          </a:prstGeom>
          <a:solidFill>
            <a:srgbClr val="FBBF24">
              <a:alpha val="60000"/>
            </a:srgbClr>
          </a:solidFill>
          <a:ln>
            <a:noFill/>
          </a:ln>
        </p:spPr>
        <p:txBody>
          <a:bodyPr/>
          <a:p/>
        </p:txBody>
      </p:sp>
      <p:sp>
        <p:nvSpPr>
          <p:cNvPr id="24" name="Rectangle 24"/>
          <p:cNvSpPr/>
          <p:nvPr/>
        </p:nvSpPr>
        <p:spPr>
          <a:xfrm>
            <a:off x="9315450" y="2219325"/>
            <a:ext cx="228600" cy="209550"/>
          </a:xfrm>
          <a:prstGeom prst="roundRect">
            <a:avLst>
              <a:gd name="adj" fmla="val 13636"/>
            </a:avLst>
          </a:prstGeom>
          <a:solidFill>
            <a:srgbClr val="FBBF24">
              <a:alpha val="48000"/>
            </a:srgbClr>
          </a:solidFill>
          <a:ln>
            <a:noFill/>
          </a:ln>
        </p:spPr>
        <p:txBody>
          <a:bodyPr/>
          <a:p/>
        </p:txBody>
      </p:sp>
      <p:sp>
        <p:nvSpPr>
          <p:cNvPr id="25" name="Rectangle 25"/>
          <p:cNvSpPr/>
          <p:nvPr/>
        </p:nvSpPr>
        <p:spPr>
          <a:xfrm>
            <a:off x="9572625" y="2219325"/>
            <a:ext cx="228600" cy="209550"/>
          </a:xfrm>
          <a:prstGeom prst="roundRect">
            <a:avLst>
              <a:gd name="adj" fmla="val 13636"/>
            </a:avLst>
          </a:prstGeom>
          <a:solidFill>
            <a:srgbClr val="F87171">
              <a:alpha val="39000"/>
            </a:srgbClr>
          </a:solidFill>
          <a:ln>
            <a:noFill/>
          </a:ln>
        </p:spPr>
        <p:txBody>
          <a:bodyPr/>
          <a:p/>
        </p:txBody>
      </p:sp>
      <p:sp>
        <p:nvSpPr>
          <p:cNvPr id="26" name="Rectangle 26"/>
          <p:cNvSpPr/>
          <p:nvPr/>
        </p:nvSpPr>
        <p:spPr>
          <a:xfrm>
            <a:off x="9829800" y="2219325"/>
            <a:ext cx="228600" cy="209550"/>
          </a:xfrm>
          <a:prstGeom prst="roundRect">
            <a:avLst>
              <a:gd name="adj" fmla="val 13636"/>
            </a:avLst>
          </a:prstGeom>
          <a:solidFill>
            <a:srgbClr val="F87171">
              <a:alpha val="37000"/>
            </a:srgbClr>
          </a:solidFill>
          <a:ln>
            <a:noFill/>
          </a:ln>
        </p:spPr>
        <p:txBody>
          <a:bodyPr/>
          <a:p/>
        </p:txBody>
      </p:sp>
      <p:sp>
        <p:nvSpPr>
          <p:cNvPr id="27" name="Rectangle 27"/>
          <p:cNvSpPr/>
          <p:nvPr/>
        </p:nvSpPr>
        <p:spPr>
          <a:xfrm>
            <a:off x="10086975" y="2219325"/>
            <a:ext cx="228600" cy="209550"/>
          </a:xfrm>
          <a:prstGeom prst="roundRect">
            <a:avLst>
              <a:gd name="adj" fmla="val 13636"/>
            </a:avLst>
          </a:prstGeom>
          <a:solidFill>
            <a:srgbClr val="F87171">
              <a:alpha val="41000"/>
            </a:srgbClr>
          </a:solidFill>
          <a:ln>
            <a:noFill/>
          </a:ln>
        </p:spPr>
        <p:txBody>
          <a:bodyPr/>
          <a:p/>
        </p:txBody>
      </p:sp>
      <p:sp>
        <p:nvSpPr>
          <p:cNvPr id="28" name="Rectangle 28"/>
          <p:cNvSpPr/>
          <p:nvPr/>
        </p:nvSpPr>
        <p:spPr>
          <a:xfrm>
            <a:off x="10344150" y="2219325"/>
            <a:ext cx="228600" cy="209550"/>
          </a:xfrm>
          <a:prstGeom prst="roundRect">
            <a:avLst>
              <a:gd name="adj" fmla="val 13636"/>
            </a:avLst>
          </a:prstGeom>
          <a:solidFill>
            <a:srgbClr val="FBBF24">
              <a:alpha val="51000"/>
            </a:srgbClr>
          </a:solidFill>
          <a:ln>
            <a:noFill/>
          </a:ln>
        </p:spPr>
        <p:txBody>
          <a:bodyPr/>
          <a:p/>
        </p:txBody>
      </p:sp>
      <p:sp>
        <p:nvSpPr>
          <p:cNvPr id="29" name="Rectangle 29"/>
          <p:cNvSpPr/>
          <p:nvPr/>
        </p:nvSpPr>
        <p:spPr>
          <a:xfrm>
            <a:off x="10601325" y="2219325"/>
            <a:ext cx="228600" cy="209550"/>
          </a:xfrm>
          <a:prstGeom prst="roundRect">
            <a:avLst>
              <a:gd name="adj" fmla="val 13636"/>
            </a:avLst>
          </a:prstGeom>
          <a:solidFill>
            <a:schemeClr val="accent2">
              <a:alpha val="64000"/>
            </a:schemeClr>
          </a:solidFill>
          <a:ln>
            <a:noFill/>
          </a:ln>
        </p:spPr>
        <p:txBody>
          <a:bodyPr/>
          <a:p/>
        </p:txBody>
      </p:sp>
      <p:sp>
        <p:nvSpPr>
          <p:cNvPr id="30" name="Rectangle 30"/>
          <p:cNvSpPr/>
          <p:nvPr/>
        </p:nvSpPr>
        <p:spPr>
          <a:xfrm>
            <a:off x="10858500" y="2219325"/>
            <a:ext cx="228600" cy="209550"/>
          </a:xfrm>
          <a:prstGeom prst="roundRect">
            <a:avLst>
              <a:gd name="adj" fmla="val 13636"/>
            </a:avLst>
          </a:prstGeom>
          <a:solidFill>
            <a:schemeClr val="accent1">
              <a:alpha val="75000"/>
            </a:schemeClr>
          </a:solidFill>
          <a:ln>
            <a:noFill/>
          </a:ln>
        </p:spPr>
        <p:txBody>
          <a:bodyPr/>
          <a:p/>
        </p:txBody>
      </p:sp>
      <p:sp>
        <p:nvSpPr>
          <p:cNvPr id="31" name="Rectangle 31"/>
          <p:cNvSpPr/>
          <p:nvPr/>
        </p:nvSpPr>
        <p:spPr>
          <a:xfrm>
            <a:off x="11115675" y="2219325"/>
            <a:ext cx="228600" cy="209550"/>
          </a:xfrm>
          <a:prstGeom prst="roundRect">
            <a:avLst>
              <a:gd name="adj" fmla="val 13636"/>
            </a:avLst>
          </a:prstGeom>
          <a:solidFill>
            <a:schemeClr val="accent1">
              <a:alpha val="82000"/>
            </a:schemeClr>
          </a:solidFill>
          <a:ln>
            <a:noFill/>
          </a:ln>
        </p:spPr>
        <p:txBody>
          <a:bodyPr/>
          <a:p/>
        </p:txBody>
      </p:sp>
      <p:sp>
        <p:nvSpPr>
          <p:cNvPr id="32" name="Rectangle 32"/>
          <p:cNvSpPr/>
          <p:nvPr/>
        </p:nvSpPr>
        <p:spPr>
          <a:xfrm>
            <a:off x="7772400" y="2457450"/>
            <a:ext cx="228600" cy="209550"/>
          </a:xfrm>
          <a:prstGeom prst="roundRect">
            <a:avLst>
              <a:gd name="adj" fmla="val 13636"/>
            </a:avLst>
          </a:prstGeom>
          <a:solidFill>
            <a:schemeClr val="accent2">
              <a:alpha val="68000"/>
            </a:schemeClr>
          </a:solidFill>
          <a:ln>
            <a:noFill/>
          </a:ln>
        </p:spPr>
        <p:txBody>
          <a:bodyPr/>
          <a:p/>
        </p:txBody>
      </p:sp>
      <p:sp>
        <p:nvSpPr>
          <p:cNvPr id="33" name="Rectangle 33"/>
          <p:cNvSpPr/>
          <p:nvPr/>
        </p:nvSpPr>
        <p:spPr>
          <a:xfrm>
            <a:off x="8029575" y="2457450"/>
            <a:ext cx="228600" cy="209550"/>
          </a:xfrm>
          <a:prstGeom prst="roundRect">
            <a:avLst>
              <a:gd name="adj" fmla="val 13636"/>
            </a:avLst>
          </a:prstGeom>
          <a:solidFill>
            <a:schemeClr val="accent2">
              <a:alpha val="71000"/>
            </a:schemeClr>
          </a:solidFill>
          <a:ln>
            <a:noFill/>
          </a:ln>
        </p:spPr>
        <p:txBody>
          <a:bodyPr/>
          <a:p/>
        </p:txBody>
      </p:sp>
      <p:sp>
        <p:nvSpPr>
          <p:cNvPr id="34" name="Rectangle 34"/>
          <p:cNvSpPr/>
          <p:nvPr/>
        </p:nvSpPr>
        <p:spPr>
          <a:xfrm>
            <a:off x="8286750" y="2457450"/>
            <a:ext cx="228600" cy="209550"/>
          </a:xfrm>
          <a:prstGeom prst="roundRect">
            <a:avLst>
              <a:gd name="adj" fmla="val 13636"/>
            </a:avLst>
          </a:prstGeom>
          <a:solidFill>
            <a:schemeClr val="accent2">
              <a:alpha val="71000"/>
            </a:schemeClr>
          </a:solidFill>
          <a:ln>
            <a:noFill/>
          </a:ln>
        </p:spPr>
        <p:txBody>
          <a:bodyPr/>
          <a:p/>
        </p:txBody>
      </p:sp>
      <p:sp>
        <p:nvSpPr>
          <p:cNvPr id="35" name="Rectangle 35"/>
          <p:cNvSpPr/>
          <p:nvPr/>
        </p:nvSpPr>
        <p:spPr>
          <a:xfrm>
            <a:off x="8543925" y="2457450"/>
            <a:ext cx="228600" cy="209550"/>
          </a:xfrm>
          <a:prstGeom prst="roundRect">
            <a:avLst>
              <a:gd name="adj" fmla="val 13636"/>
            </a:avLst>
          </a:prstGeom>
          <a:solidFill>
            <a:schemeClr val="accent2">
              <a:alpha val="67000"/>
            </a:schemeClr>
          </a:solidFill>
          <a:ln>
            <a:noFill/>
          </a:ln>
        </p:spPr>
        <p:txBody>
          <a:bodyPr/>
          <a:p/>
        </p:txBody>
      </p:sp>
      <p:sp>
        <p:nvSpPr>
          <p:cNvPr id="36" name="Rectangle 36"/>
          <p:cNvSpPr/>
          <p:nvPr/>
        </p:nvSpPr>
        <p:spPr>
          <a:xfrm>
            <a:off x="8801100" y="2457450"/>
            <a:ext cx="228600" cy="209550"/>
          </a:xfrm>
          <a:prstGeom prst="roundRect">
            <a:avLst>
              <a:gd name="adj" fmla="val 13636"/>
            </a:avLst>
          </a:prstGeom>
          <a:solidFill>
            <a:schemeClr val="accent2">
              <a:alpha val="62000"/>
            </a:schemeClr>
          </a:solidFill>
          <a:ln>
            <a:noFill/>
          </a:ln>
        </p:spPr>
        <p:txBody>
          <a:bodyPr/>
          <a:p/>
        </p:txBody>
      </p:sp>
      <p:sp>
        <p:nvSpPr>
          <p:cNvPr id="37" name="Rectangle 37"/>
          <p:cNvSpPr/>
          <p:nvPr/>
        </p:nvSpPr>
        <p:spPr>
          <a:xfrm>
            <a:off x="9058275" y="2457450"/>
            <a:ext cx="228600" cy="209550"/>
          </a:xfrm>
          <a:prstGeom prst="roundRect">
            <a:avLst>
              <a:gd name="adj" fmla="val 13636"/>
            </a:avLst>
          </a:prstGeom>
          <a:solidFill>
            <a:srgbClr val="FBBF24">
              <a:alpha val="55000"/>
            </a:srgbClr>
          </a:solidFill>
          <a:ln>
            <a:noFill/>
          </a:ln>
        </p:spPr>
        <p:txBody>
          <a:bodyPr/>
          <a:p/>
        </p:txBody>
      </p:sp>
      <p:sp>
        <p:nvSpPr>
          <p:cNvPr id="38" name="Rectangle 38"/>
          <p:cNvSpPr/>
          <p:nvPr/>
        </p:nvSpPr>
        <p:spPr>
          <a:xfrm>
            <a:off x="9315450" y="2457450"/>
            <a:ext cx="228600" cy="209550"/>
          </a:xfrm>
          <a:prstGeom prst="roundRect">
            <a:avLst>
              <a:gd name="adj" fmla="val 13636"/>
            </a:avLst>
          </a:prstGeom>
          <a:solidFill>
            <a:srgbClr val="FBBF24">
              <a:alpha val="51000"/>
            </a:srgbClr>
          </a:solidFill>
          <a:ln>
            <a:noFill/>
          </a:ln>
        </p:spPr>
        <p:txBody>
          <a:bodyPr/>
          <a:p/>
        </p:txBody>
      </p:sp>
      <p:sp>
        <p:nvSpPr>
          <p:cNvPr id="39" name="Rectangle 39"/>
          <p:cNvSpPr/>
          <p:nvPr/>
        </p:nvSpPr>
        <p:spPr>
          <a:xfrm>
            <a:off x="9572625" y="2457450"/>
            <a:ext cx="228600" cy="209550"/>
          </a:xfrm>
          <a:prstGeom prst="roundRect">
            <a:avLst>
              <a:gd name="adj" fmla="val 13636"/>
            </a:avLst>
          </a:prstGeom>
          <a:solidFill>
            <a:srgbClr val="FBBF24">
              <a:alpha val="49000"/>
            </a:srgbClr>
          </a:solidFill>
          <a:ln>
            <a:noFill/>
          </a:ln>
        </p:spPr>
        <p:txBody>
          <a:bodyPr/>
          <a:p/>
        </p:txBody>
      </p:sp>
      <p:sp>
        <p:nvSpPr>
          <p:cNvPr id="40" name="Rectangle 40"/>
          <p:cNvSpPr/>
          <p:nvPr/>
        </p:nvSpPr>
        <p:spPr>
          <a:xfrm>
            <a:off x="9829800" y="2457450"/>
            <a:ext cx="228600" cy="209550"/>
          </a:xfrm>
          <a:prstGeom prst="roundRect">
            <a:avLst>
              <a:gd name="adj" fmla="val 13636"/>
            </a:avLst>
          </a:prstGeom>
          <a:solidFill>
            <a:srgbClr val="FBBF24">
              <a:alpha val="50000"/>
            </a:srgbClr>
          </a:solidFill>
          <a:ln>
            <a:noFill/>
          </a:ln>
        </p:spPr>
        <p:txBody>
          <a:bodyPr/>
          <a:p/>
        </p:txBody>
      </p:sp>
      <p:sp>
        <p:nvSpPr>
          <p:cNvPr id="41" name="Rectangle 41"/>
          <p:cNvSpPr/>
          <p:nvPr/>
        </p:nvSpPr>
        <p:spPr>
          <a:xfrm>
            <a:off x="10086975" y="2457450"/>
            <a:ext cx="228600" cy="209550"/>
          </a:xfrm>
          <a:prstGeom prst="roundRect">
            <a:avLst>
              <a:gd name="adj" fmla="val 13636"/>
            </a:avLst>
          </a:prstGeom>
          <a:solidFill>
            <a:srgbClr val="FBBF24">
              <a:alpha val="54000"/>
            </a:srgbClr>
          </a:solidFill>
          <a:ln>
            <a:noFill/>
          </a:ln>
        </p:spPr>
        <p:txBody>
          <a:bodyPr/>
          <a:p/>
        </p:txBody>
      </p:sp>
      <p:sp>
        <p:nvSpPr>
          <p:cNvPr id="42" name="Rectangle 42"/>
          <p:cNvSpPr/>
          <p:nvPr/>
        </p:nvSpPr>
        <p:spPr>
          <a:xfrm>
            <a:off x="10344150" y="2457450"/>
            <a:ext cx="228600" cy="209550"/>
          </a:xfrm>
          <a:prstGeom prst="roundRect">
            <a:avLst>
              <a:gd name="adj" fmla="val 13636"/>
            </a:avLst>
          </a:prstGeom>
          <a:solidFill>
            <a:schemeClr val="accent2">
              <a:alpha val="60000"/>
            </a:schemeClr>
          </a:solidFill>
          <a:ln>
            <a:noFill/>
          </a:ln>
        </p:spPr>
        <p:txBody>
          <a:bodyPr/>
          <a:p/>
        </p:txBody>
      </p:sp>
      <p:sp>
        <p:nvSpPr>
          <p:cNvPr id="43" name="Rectangle 43"/>
          <p:cNvSpPr/>
          <p:nvPr/>
        </p:nvSpPr>
        <p:spPr>
          <a:xfrm>
            <a:off x="10601325" y="2457450"/>
            <a:ext cx="228600" cy="209550"/>
          </a:xfrm>
          <a:prstGeom prst="roundRect">
            <a:avLst>
              <a:gd name="adj" fmla="val 13636"/>
            </a:avLst>
          </a:prstGeom>
          <a:solidFill>
            <a:schemeClr val="accent2">
              <a:alpha val="66000"/>
            </a:schemeClr>
          </a:solidFill>
          <a:ln>
            <a:noFill/>
          </a:ln>
        </p:spPr>
        <p:txBody>
          <a:bodyPr/>
          <a:p/>
        </p:txBody>
      </p:sp>
      <p:sp>
        <p:nvSpPr>
          <p:cNvPr id="44" name="Rectangle 44"/>
          <p:cNvSpPr/>
          <p:nvPr/>
        </p:nvSpPr>
        <p:spPr>
          <a:xfrm>
            <a:off x="10858500" y="2457450"/>
            <a:ext cx="228600" cy="209550"/>
          </a:xfrm>
          <a:prstGeom prst="roundRect">
            <a:avLst>
              <a:gd name="adj" fmla="val 13636"/>
            </a:avLst>
          </a:prstGeom>
          <a:solidFill>
            <a:schemeClr val="accent2">
              <a:alpha val="70000"/>
            </a:schemeClr>
          </a:solidFill>
          <a:ln>
            <a:noFill/>
          </a:ln>
        </p:spPr>
        <p:txBody>
          <a:bodyPr/>
          <a:p/>
        </p:txBody>
      </p:sp>
      <p:sp>
        <p:nvSpPr>
          <p:cNvPr id="45" name="Rectangle 45"/>
          <p:cNvSpPr/>
          <p:nvPr/>
        </p:nvSpPr>
        <p:spPr>
          <a:xfrm>
            <a:off x="11115675" y="2457450"/>
            <a:ext cx="228600" cy="209550"/>
          </a:xfrm>
          <a:prstGeom prst="roundRect">
            <a:avLst>
              <a:gd name="adj" fmla="val 13636"/>
            </a:avLst>
          </a:prstGeom>
          <a:solidFill>
            <a:schemeClr val="accent2">
              <a:alpha val="71000"/>
            </a:schemeClr>
          </a:solidFill>
          <a:ln>
            <a:noFill/>
          </a:ln>
        </p:spPr>
        <p:txBody>
          <a:bodyPr/>
          <a:p/>
        </p:txBody>
      </p:sp>
      <p:sp>
        <p:nvSpPr>
          <p:cNvPr id="46" name="Rectangle 46"/>
          <p:cNvSpPr/>
          <p:nvPr/>
        </p:nvSpPr>
        <p:spPr>
          <a:xfrm>
            <a:off x="7772400" y="2695575"/>
            <a:ext cx="228600" cy="209550"/>
          </a:xfrm>
          <a:prstGeom prst="roundRect">
            <a:avLst>
              <a:gd name="adj" fmla="val 13636"/>
            </a:avLst>
          </a:prstGeom>
          <a:solidFill>
            <a:srgbClr val="FBBF24">
              <a:alpha val="55000"/>
            </a:srgbClr>
          </a:solidFill>
          <a:ln>
            <a:noFill/>
          </a:ln>
        </p:spPr>
        <p:txBody>
          <a:bodyPr/>
          <a:p/>
        </p:txBody>
      </p:sp>
      <p:sp>
        <p:nvSpPr>
          <p:cNvPr id="47" name="Rectangle 47"/>
          <p:cNvSpPr/>
          <p:nvPr/>
        </p:nvSpPr>
        <p:spPr>
          <a:xfrm>
            <a:off x="8029575" y="2695575"/>
            <a:ext cx="228600" cy="209550"/>
          </a:xfrm>
          <a:prstGeom prst="roundRect">
            <a:avLst>
              <a:gd name="adj" fmla="val 13636"/>
            </a:avLst>
          </a:prstGeom>
          <a:solidFill>
            <a:srgbClr val="FBBF24">
              <a:alpha val="54000"/>
            </a:srgbClr>
          </a:solidFill>
          <a:ln>
            <a:noFill/>
          </a:ln>
        </p:spPr>
        <p:txBody>
          <a:bodyPr/>
          <a:p/>
        </p:txBody>
      </p:sp>
      <p:sp>
        <p:nvSpPr>
          <p:cNvPr id="48" name="Rectangle 48"/>
          <p:cNvSpPr/>
          <p:nvPr/>
        </p:nvSpPr>
        <p:spPr>
          <a:xfrm>
            <a:off x="8286750" y="2695575"/>
            <a:ext cx="228600" cy="209550"/>
          </a:xfrm>
          <a:prstGeom prst="roundRect">
            <a:avLst>
              <a:gd name="adj" fmla="val 13636"/>
            </a:avLst>
          </a:prstGeom>
          <a:solidFill>
            <a:srgbClr val="FBBF24">
              <a:alpha val="56000"/>
            </a:srgbClr>
          </a:solidFill>
          <a:ln>
            <a:noFill/>
          </a:ln>
        </p:spPr>
        <p:txBody>
          <a:bodyPr/>
          <a:p/>
        </p:txBody>
      </p:sp>
      <p:sp>
        <p:nvSpPr>
          <p:cNvPr id="49" name="Rectangle 49"/>
          <p:cNvSpPr/>
          <p:nvPr/>
        </p:nvSpPr>
        <p:spPr>
          <a:xfrm>
            <a:off x="8543925" y="2695575"/>
            <a:ext cx="228600" cy="209550"/>
          </a:xfrm>
          <a:prstGeom prst="roundRect">
            <a:avLst>
              <a:gd name="adj" fmla="val 13636"/>
            </a:avLst>
          </a:prstGeom>
          <a:solidFill>
            <a:srgbClr val="FBBF24">
              <a:alpha val="57999"/>
            </a:srgbClr>
          </a:solidFill>
          <a:ln>
            <a:noFill/>
          </a:ln>
        </p:spPr>
        <p:txBody>
          <a:bodyPr/>
          <a:p/>
        </p:txBody>
      </p:sp>
      <p:sp>
        <p:nvSpPr>
          <p:cNvPr id="50" name="Rectangle 50"/>
          <p:cNvSpPr/>
          <p:nvPr/>
        </p:nvSpPr>
        <p:spPr>
          <a:xfrm>
            <a:off x="8801100" y="2695575"/>
            <a:ext cx="228600" cy="209550"/>
          </a:xfrm>
          <a:prstGeom prst="roundRect">
            <a:avLst>
              <a:gd name="adj" fmla="val 13636"/>
            </a:avLst>
          </a:prstGeom>
          <a:solidFill>
            <a:schemeClr val="accent2">
              <a:alpha val="61000"/>
            </a:schemeClr>
          </a:solidFill>
          <a:ln>
            <a:noFill/>
          </a:ln>
        </p:spPr>
        <p:txBody>
          <a:bodyPr/>
          <a:p/>
        </p:txBody>
      </p:sp>
      <p:sp>
        <p:nvSpPr>
          <p:cNvPr id="51" name="Rectangle 51"/>
          <p:cNvSpPr/>
          <p:nvPr/>
        </p:nvSpPr>
        <p:spPr>
          <a:xfrm>
            <a:off x="9058275" y="2695575"/>
            <a:ext cx="228600" cy="209550"/>
          </a:xfrm>
          <a:prstGeom prst="roundRect">
            <a:avLst>
              <a:gd name="adj" fmla="val 13636"/>
            </a:avLst>
          </a:prstGeom>
          <a:solidFill>
            <a:schemeClr val="accent2">
              <a:alpha val="64000"/>
            </a:schemeClr>
          </a:solidFill>
          <a:ln>
            <a:noFill/>
          </a:ln>
        </p:spPr>
        <p:txBody>
          <a:bodyPr/>
          <a:p/>
        </p:txBody>
      </p:sp>
      <p:sp>
        <p:nvSpPr>
          <p:cNvPr id="52" name="Rectangle 52"/>
          <p:cNvSpPr/>
          <p:nvPr/>
        </p:nvSpPr>
        <p:spPr>
          <a:xfrm>
            <a:off x="9315450" y="2695575"/>
            <a:ext cx="228600" cy="209550"/>
          </a:xfrm>
          <a:prstGeom prst="roundRect">
            <a:avLst>
              <a:gd name="adj" fmla="val 13636"/>
            </a:avLst>
          </a:prstGeom>
          <a:solidFill>
            <a:schemeClr val="accent2">
              <a:alpha val="66000"/>
            </a:schemeClr>
          </a:solidFill>
          <a:ln>
            <a:noFill/>
          </a:ln>
        </p:spPr>
        <p:txBody>
          <a:bodyPr/>
          <a:p/>
        </p:txBody>
      </p:sp>
      <p:sp>
        <p:nvSpPr>
          <p:cNvPr id="53" name="Rectangle 53"/>
          <p:cNvSpPr/>
          <p:nvPr/>
        </p:nvSpPr>
        <p:spPr>
          <a:xfrm>
            <a:off x="9572625" y="2695575"/>
            <a:ext cx="228600" cy="209550"/>
          </a:xfrm>
          <a:prstGeom prst="roundRect">
            <a:avLst>
              <a:gd name="adj" fmla="val 13636"/>
            </a:avLst>
          </a:prstGeom>
          <a:solidFill>
            <a:schemeClr val="accent2">
              <a:alpha val="65000"/>
            </a:schemeClr>
          </a:solidFill>
          <a:ln>
            <a:noFill/>
          </a:ln>
        </p:spPr>
        <p:txBody>
          <a:bodyPr/>
          <a:p/>
        </p:txBody>
      </p:sp>
      <p:sp>
        <p:nvSpPr>
          <p:cNvPr id="54" name="Rectangle 54"/>
          <p:cNvSpPr/>
          <p:nvPr/>
        </p:nvSpPr>
        <p:spPr>
          <a:xfrm>
            <a:off x="9829800" y="2695575"/>
            <a:ext cx="228600" cy="209550"/>
          </a:xfrm>
          <a:prstGeom prst="roundRect">
            <a:avLst>
              <a:gd name="adj" fmla="val 13636"/>
            </a:avLst>
          </a:prstGeom>
          <a:solidFill>
            <a:schemeClr val="accent2">
              <a:alpha val="64000"/>
            </a:schemeClr>
          </a:solidFill>
          <a:ln>
            <a:noFill/>
          </a:ln>
        </p:spPr>
        <p:txBody>
          <a:bodyPr/>
          <a:p/>
        </p:txBody>
      </p:sp>
      <p:sp>
        <p:nvSpPr>
          <p:cNvPr id="55" name="Rectangle 55"/>
          <p:cNvSpPr/>
          <p:nvPr/>
        </p:nvSpPr>
        <p:spPr>
          <a:xfrm>
            <a:off x="10086975" y="2695575"/>
            <a:ext cx="228600" cy="209550"/>
          </a:xfrm>
          <a:prstGeom prst="roundRect">
            <a:avLst>
              <a:gd name="adj" fmla="val 13636"/>
            </a:avLst>
          </a:prstGeom>
          <a:solidFill>
            <a:schemeClr val="accent2">
              <a:alpha val="61000"/>
            </a:schemeClr>
          </a:solidFill>
          <a:ln>
            <a:noFill/>
          </a:ln>
        </p:spPr>
        <p:txBody>
          <a:bodyPr/>
          <a:p/>
        </p:txBody>
      </p:sp>
      <p:sp>
        <p:nvSpPr>
          <p:cNvPr id="56" name="Rectangle 56"/>
          <p:cNvSpPr/>
          <p:nvPr/>
        </p:nvSpPr>
        <p:spPr>
          <a:xfrm>
            <a:off x="10344150" y="2695575"/>
            <a:ext cx="228600" cy="209550"/>
          </a:xfrm>
          <a:prstGeom prst="roundRect">
            <a:avLst>
              <a:gd name="adj" fmla="val 13636"/>
            </a:avLst>
          </a:prstGeom>
          <a:solidFill>
            <a:srgbClr val="FBBF24">
              <a:alpha val="57999"/>
            </a:srgbClr>
          </a:solidFill>
          <a:ln>
            <a:noFill/>
          </a:ln>
        </p:spPr>
        <p:txBody>
          <a:bodyPr/>
          <a:p/>
        </p:txBody>
      </p:sp>
      <p:sp>
        <p:nvSpPr>
          <p:cNvPr id="57" name="Rectangle 57"/>
          <p:cNvSpPr/>
          <p:nvPr/>
        </p:nvSpPr>
        <p:spPr>
          <a:xfrm>
            <a:off x="10601325" y="2695575"/>
            <a:ext cx="228600" cy="209550"/>
          </a:xfrm>
          <a:prstGeom prst="roundRect">
            <a:avLst>
              <a:gd name="adj" fmla="val 13636"/>
            </a:avLst>
          </a:prstGeom>
          <a:solidFill>
            <a:srgbClr val="FBBF24">
              <a:alpha val="55000"/>
            </a:srgbClr>
          </a:solidFill>
          <a:ln>
            <a:noFill/>
          </a:ln>
        </p:spPr>
        <p:txBody>
          <a:bodyPr/>
          <a:p/>
        </p:txBody>
      </p:sp>
      <p:sp>
        <p:nvSpPr>
          <p:cNvPr id="58" name="Rectangle 58"/>
          <p:cNvSpPr/>
          <p:nvPr/>
        </p:nvSpPr>
        <p:spPr>
          <a:xfrm>
            <a:off x="10858500" y="2695575"/>
            <a:ext cx="228600" cy="209550"/>
          </a:xfrm>
          <a:prstGeom prst="roundRect">
            <a:avLst>
              <a:gd name="adj" fmla="val 13636"/>
            </a:avLst>
          </a:prstGeom>
          <a:solidFill>
            <a:srgbClr val="FBBF24">
              <a:alpha val="54000"/>
            </a:srgbClr>
          </a:solidFill>
          <a:ln>
            <a:noFill/>
          </a:ln>
        </p:spPr>
        <p:txBody>
          <a:bodyPr/>
          <a:p/>
        </p:txBody>
      </p:sp>
      <p:sp>
        <p:nvSpPr>
          <p:cNvPr id="59" name="Rectangle 59"/>
          <p:cNvSpPr/>
          <p:nvPr/>
        </p:nvSpPr>
        <p:spPr>
          <a:xfrm>
            <a:off x="11115675" y="2695575"/>
            <a:ext cx="228600" cy="209550"/>
          </a:xfrm>
          <a:prstGeom prst="roundRect">
            <a:avLst>
              <a:gd name="adj" fmla="val 13636"/>
            </a:avLst>
          </a:prstGeom>
          <a:solidFill>
            <a:srgbClr val="FBBF24">
              <a:alpha val="55000"/>
            </a:srgbClr>
          </a:solidFill>
          <a:ln>
            <a:noFill/>
          </a:ln>
        </p:spPr>
        <p:txBody>
          <a:bodyPr/>
          <a:p/>
        </p:txBody>
      </p:sp>
      <p:sp>
        <p:nvSpPr>
          <p:cNvPr id="60" name="Rectangle 60"/>
          <p:cNvSpPr/>
          <p:nvPr/>
        </p:nvSpPr>
        <p:spPr>
          <a:xfrm>
            <a:off x="7772400" y="2933700"/>
            <a:ext cx="228600" cy="209550"/>
          </a:xfrm>
          <a:prstGeom prst="roundRect">
            <a:avLst>
              <a:gd name="adj" fmla="val 13636"/>
            </a:avLst>
          </a:prstGeom>
          <a:solidFill>
            <a:srgbClr val="F87171">
              <a:alpha val="40000"/>
            </a:srgbClr>
          </a:solidFill>
          <a:ln>
            <a:noFill/>
          </a:ln>
        </p:spPr>
        <p:txBody>
          <a:bodyPr/>
          <a:p/>
        </p:txBody>
      </p:sp>
      <p:sp>
        <p:nvSpPr>
          <p:cNvPr id="61" name="Rectangle 61"/>
          <p:cNvSpPr/>
          <p:nvPr/>
        </p:nvSpPr>
        <p:spPr>
          <a:xfrm>
            <a:off x="8029575" y="2933700"/>
            <a:ext cx="228600" cy="209550"/>
          </a:xfrm>
          <a:prstGeom prst="roundRect">
            <a:avLst>
              <a:gd name="adj" fmla="val 13636"/>
            </a:avLst>
          </a:prstGeom>
          <a:solidFill>
            <a:srgbClr val="F87171">
              <a:alpha val="43000"/>
            </a:srgbClr>
          </a:solidFill>
          <a:ln>
            <a:noFill/>
          </a:ln>
        </p:spPr>
        <p:txBody>
          <a:bodyPr/>
          <a:p/>
        </p:txBody>
      </p:sp>
      <p:sp>
        <p:nvSpPr>
          <p:cNvPr id="62" name="Rectangle 62"/>
          <p:cNvSpPr/>
          <p:nvPr/>
        </p:nvSpPr>
        <p:spPr>
          <a:xfrm>
            <a:off x="8286750" y="2933700"/>
            <a:ext cx="228600" cy="209550"/>
          </a:xfrm>
          <a:prstGeom prst="roundRect">
            <a:avLst>
              <a:gd name="adj" fmla="val 13636"/>
            </a:avLst>
          </a:prstGeom>
          <a:solidFill>
            <a:srgbClr val="FBBF24">
              <a:alpha val="51000"/>
            </a:srgbClr>
          </a:solidFill>
          <a:ln>
            <a:noFill/>
          </a:ln>
        </p:spPr>
        <p:txBody>
          <a:bodyPr/>
          <a:p/>
        </p:txBody>
      </p:sp>
      <p:sp>
        <p:nvSpPr>
          <p:cNvPr id="63" name="Rectangle 63"/>
          <p:cNvSpPr/>
          <p:nvPr/>
        </p:nvSpPr>
        <p:spPr>
          <a:xfrm>
            <a:off x="8543925" y="2933700"/>
            <a:ext cx="228600" cy="209550"/>
          </a:xfrm>
          <a:prstGeom prst="roundRect">
            <a:avLst>
              <a:gd name="adj" fmla="val 13636"/>
            </a:avLst>
          </a:prstGeom>
          <a:solidFill>
            <a:schemeClr val="accent2">
              <a:alpha val="62000"/>
            </a:schemeClr>
          </a:solidFill>
          <a:ln>
            <a:noFill/>
          </a:ln>
        </p:spPr>
        <p:txBody>
          <a:bodyPr/>
          <a:p/>
        </p:txBody>
      </p:sp>
      <p:sp>
        <p:nvSpPr>
          <p:cNvPr id="64" name="Rectangle 64"/>
          <p:cNvSpPr/>
          <p:nvPr/>
        </p:nvSpPr>
        <p:spPr>
          <a:xfrm>
            <a:off x="8801100" y="2933700"/>
            <a:ext cx="228600" cy="209550"/>
          </a:xfrm>
          <a:prstGeom prst="roundRect">
            <a:avLst>
              <a:gd name="adj" fmla="val 13636"/>
            </a:avLst>
          </a:prstGeom>
          <a:solidFill>
            <a:schemeClr val="accent2">
              <a:alpha val="72000"/>
            </a:schemeClr>
          </a:solidFill>
          <a:ln>
            <a:noFill/>
          </a:ln>
        </p:spPr>
        <p:txBody>
          <a:bodyPr/>
          <a:p/>
        </p:txBody>
      </p:sp>
      <p:sp>
        <p:nvSpPr>
          <p:cNvPr id="65" name="Rectangle 65"/>
          <p:cNvSpPr/>
          <p:nvPr/>
        </p:nvSpPr>
        <p:spPr>
          <a:xfrm>
            <a:off x="9058275" y="2933700"/>
            <a:ext cx="228600" cy="209550"/>
          </a:xfrm>
          <a:prstGeom prst="roundRect">
            <a:avLst>
              <a:gd name="adj" fmla="val 13636"/>
            </a:avLst>
          </a:prstGeom>
          <a:solidFill>
            <a:schemeClr val="accent1">
              <a:alpha val="79000"/>
            </a:schemeClr>
          </a:solidFill>
          <a:ln>
            <a:noFill/>
          </a:ln>
        </p:spPr>
        <p:txBody>
          <a:bodyPr/>
          <a:p/>
        </p:txBody>
      </p:sp>
      <p:sp>
        <p:nvSpPr>
          <p:cNvPr id="66" name="Rectangle 66"/>
          <p:cNvSpPr/>
          <p:nvPr/>
        </p:nvSpPr>
        <p:spPr>
          <a:xfrm>
            <a:off x="9315450" y="2933700"/>
            <a:ext cx="228600" cy="209550"/>
          </a:xfrm>
          <a:prstGeom prst="roundRect">
            <a:avLst>
              <a:gd name="adj" fmla="val 13636"/>
            </a:avLst>
          </a:prstGeom>
          <a:solidFill>
            <a:schemeClr val="accent1">
              <a:alpha val="80000"/>
            </a:schemeClr>
          </a:solidFill>
          <a:ln>
            <a:noFill/>
          </a:ln>
        </p:spPr>
        <p:txBody>
          <a:bodyPr/>
          <a:p/>
        </p:txBody>
      </p:sp>
      <p:sp>
        <p:nvSpPr>
          <p:cNvPr id="67" name="Rectangle 67"/>
          <p:cNvSpPr/>
          <p:nvPr/>
        </p:nvSpPr>
        <p:spPr>
          <a:xfrm>
            <a:off x="9572625" y="2933700"/>
            <a:ext cx="228600" cy="209550"/>
          </a:xfrm>
          <a:prstGeom prst="roundRect">
            <a:avLst>
              <a:gd name="adj" fmla="val 13636"/>
            </a:avLst>
          </a:prstGeom>
          <a:solidFill>
            <a:schemeClr val="accent1">
              <a:alpha val="75000"/>
            </a:schemeClr>
          </a:solidFill>
          <a:ln>
            <a:noFill/>
          </a:ln>
        </p:spPr>
        <p:txBody>
          <a:bodyPr/>
          <a:p/>
        </p:txBody>
      </p:sp>
      <p:sp>
        <p:nvSpPr>
          <p:cNvPr id="68" name="Rectangle 68"/>
          <p:cNvSpPr/>
          <p:nvPr/>
        </p:nvSpPr>
        <p:spPr>
          <a:xfrm>
            <a:off x="9829800" y="2933700"/>
            <a:ext cx="228600" cy="209550"/>
          </a:xfrm>
          <a:prstGeom prst="roundRect">
            <a:avLst>
              <a:gd name="adj" fmla="val 13636"/>
            </a:avLst>
          </a:prstGeom>
          <a:solidFill>
            <a:schemeClr val="accent2">
              <a:alpha val="66000"/>
            </a:schemeClr>
          </a:solidFill>
          <a:ln>
            <a:noFill/>
          </a:ln>
        </p:spPr>
        <p:txBody>
          <a:bodyPr/>
          <a:p/>
        </p:txBody>
      </p:sp>
      <p:sp>
        <p:nvSpPr>
          <p:cNvPr id="69" name="Rectangle 69"/>
          <p:cNvSpPr/>
          <p:nvPr/>
        </p:nvSpPr>
        <p:spPr>
          <a:xfrm>
            <a:off x="10086975" y="2933700"/>
            <a:ext cx="228600" cy="209550"/>
          </a:xfrm>
          <a:prstGeom prst="roundRect">
            <a:avLst>
              <a:gd name="adj" fmla="val 13636"/>
            </a:avLst>
          </a:prstGeom>
          <a:solidFill>
            <a:srgbClr val="FBBF24">
              <a:alpha val="55000"/>
            </a:srgbClr>
          </a:solidFill>
          <a:ln>
            <a:noFill/>
          </a:ln>
        </p:spPr>
        <p:txBody>
          <a:bodyPr/>
          <a:p/>
        </p:txBody>
      </p:sp>
      <p:sp>
        <p:nvSpPr>
          <p:cNvPr id="70" name="Rectangle 70"/>
          <p:cNvSpPr/>
          <p:nvPr/>
        </p:nvSpPr>
        <p:spPr>
          <a:xfrm>
            <a:off x="10344150" y="2933700"/>
            <a:ext cx="228600" cy="209550"/>
          </a:xfrm>
          <a:prstGeom prst="roundRect">
            <a:avLst>
              <a:gd name="adj" fmla="val 13636"/>
            </a:avLst>
          </a:prstGeom>
          <a:solidFill>
            <a:srgbClr val="F87171">
              <a:alpha val="45000"/>
            </a:srgbClr>
          </a:solidFill>
          <a:ln>
            <a:noFill/>
          </a:ln>
        </p:spPr>
        <p:txBody>
          <a:bodyPr/>
          <a:p/>
        </p:txBody>
      </p:sp>
      <p:sp>
        <p:nvSpPr>
          <p:cNvPr id="71" name="Rectangle 71"/>
          <p:cNvSpPr/>
          <p:nvPr/>
        </p:nvSpPr>
        <p:spPr>
          <a:xfrm>
            <a:off x="10601325" y="2933700"/>
            <a:ext cx="228600" cy="209550"/>
          </a:xfrm>
          <a:prstGeom prst="roundRect">
            <a:avLst>
              <a:gd name="adj" fmla="val 13636"/>
            </a:avLst>
          </a:prstGeom>
          <a:solidFill>
            <a:srgbClr val="F87171">
              <a:alpha val="40000"/>
            </a:srgbClr>
          </a:solidFill>
          <a:ln>
            <a:noFill/>
          </a:ln>
        </p:spPr>
        <p:txBody>
          <a:bodyPr/>
          <a:p/>
        </p:txBody>
      </p:sp>
      <p:sp>
        <p:nvSpPr>
          <p:cNvPr id="72" name="Rectangle 72"/>
          <p:cNvSpPr/>
          <p:nvPr/>
        </p:nvSpPr>
        <p:spPr>
          <a:xfrm>
            <a:off x="10858500" y="2933700"/>
            <a:ext cx="228600" cy="209550"/>
          </a:xfrm>
          <a:prstGeom prst="roundRect">
            <a:avLst>
              <a:gd name="adj" fmla="val 13636"/>
            </a:avLst>
          </a:prstGeom>
          <a:solidFill>
            <a:srgbClr val="F87171">
              <a:alpha val="41000"/>
            </a:srgbClr>
          </a:solidFill>
          <a:ln>
            <a:noFill/>
          </a:ln>
        </p:spPr>
        <p:txBody>
          <a:bodyPr/>
          <a:p/>
        </p:txBody>
      </p:sp>
      <p:sp>
        <p:nvSpPr>
          <p:cNvPr id="73" name="Rectangle 73"/>
          <p:cNvSpPr/>
          <p:nvPr/>
        </p:nvSpPr>
        <p:spPr>
          <a:xfrm>
            <a:off x="11115675" y="2933700"/>
            <a:ext cx="228600" cy="209550"/>
          </a:xfrm>
          <a:prstGeom prst="roundRect">
            <a:avLst>
              <a:gd name="adj" fmla="val 13636"/>
            </a:avLst>
          </a:prstGeom>
          <a:solidFill>
            <a:srgbClr val="F87171">
              <a:alpha val="47000"/>
            </a:srgbClr>
          </a:solidFill>
          <a:ln>
            <a:noFill/>
          </a:ln>
        </p:spPr>
        <p:txBody>
          <a:bodyPr/>
          <a:p/>
        </p:txBody>
      </p:sp>
      <p:sp>
        <p:nvSpPr>
          <p:cNvPr id="74" name="Rectangle 74"/>
          <p:cNvSpPr/>
          <p:nvPr/>
        </p:nvSpPr>
        <p:spPr>
          <a:xfrm>
            <a:off x="7772400" y="3171825"/>
            <a:ext cx="228600" cy="209550"/>
          </a:xfrm>
          <a:prstGeom prst="roundRect">
            <a:avLst>
              <a:gd name="adj" fmla="val 13636"/>
            </a:avLst>
          </a:prstGeom>
          <a:solidFill>
            <a:srgbClr val="F87171">
              <a:alpha val="37000"/>
            </a:srgbClr>
          </a:solidFill>
          <a:ln>
            <a:noFill/>
          </a:ln>
        </p:spPr>
        <p:txBody>
          <a:bodyPr/>
          <a:p/>
        </p:txBody>
      </p:sp>
      <p:sp>
        <p:nvSpPr>
          <p:cNvPr id="75" name="Rectangle 75"/>
          <p:cNvSpPr/>
          <p:nvPr/>
        </p:nvSpPr>
        <p:spPr>
          <a:xfrm>
            <a:off x="8029575" y="3171825"/>
            <a:ext cx="228600" cy="209550"/>
          </a:xfrm>
          <a:prstGeom prst="roundRect">
            <a:avLst>
              <a:gd name="adj" fmla="val 13636"/>
            </a:avLst>
          </a:prstGeom>
          <a:solidFill>
            <a:srgbClr val="F87171">
              <a:alpha val="46000"/>
            </a:srgbClr>
          </a:solidFill>
          <a:ln>
            <a:noFill/>
          </a:ln>
        </p:spPr>
        <p:txBody>
          <a:bodyPr/>
          <a:p/>
        </p:txBody>
      </p:sp>
      <p:sp>
        <p:nvSpPr>
          <p:cNvPr id="76" name="Rectangle 76"/>
          <p:cNvSpPr/>
          <p:nvPr/>
        </p:nvSpPr>
        <p:spPr>
          <a:xfrm>
            <a:off x="8286750" y="3171825"/>
            <a:ext cx="228600" cy="209550"/>
          </a:xfrm>
          <a:prstGeom prst="roundRect">
            <a:avLst>
              <a:gd name="adj" fmla="val 13636"/>
            </a:avLst>
          </a:prstGeom>
          <a:solidFill>
            <a:srgbClr val="FBBF24">
              <a:alpha val="59000"/>
            </a:srgbClr>
          </a:solidFill>
          <a:ln>
            <a:noFill/>
          </a:ln>
        </p:spPr>
        <p:txBody>
          <a:bodyPr/>
          <a:p/>
        </p:txBody>
      </p:sp>
      <p:sp>
        <p:nvSpPr>
          <p:cNvPr id="77" name="Rectangle 77"/>
          <p:cNvSpPr/>
          <p:nvPr/>
        </p:nvSpPr>
        <p:spPr>
          <a:xfrm>
            <a:off x="8543925" y="3171825"/>
            <a:ext cx="228600" cy="209550"/>
          </a:xfrm>
          <a:prstGeom prst="roundRect">
            <a:avLst>
              <a:gd name="adj" fmla="val 13636"/>
            </a:avLst>
          </a:prstGeom>
          <a:solidFill>
            <a:schemeClr val="accent2">
              <a:alpha val="72000"/>
            </a:schemeClr>
          </a:solidFill>
          <a:ln>
            <a:noFill/>
          </a:ln>
        </p:spPr>
        <p:txBody>
          <a:bodyPr/>
          <a:p/>
        </p:txBody>
      </p:sp>
      <p:sp>
        <p:nvSpPr>
          <p:cNvPr id="78" name="Rectangle 78"/>
          <p:cNvSpPr/>
          <p:nvPr/>
        </p:nvSpPr>
        <p:spPr>
          <a:xfrm>
            <a:off x="8801100" y="3171825"/>
            <a:ext cx="228600" cy="209550"/>
          </a:xfrm>
          <a:prstGeom prst="roundRect">
            <a:avLst>
              <a:gd name="adj" fmla="val 13636"/>
            </a:avLst>
          </a:prstGeom>
          <a:solidFill>
            <a:schemeClr val="accent1">
              <a:alpha val="82000"/>
            </a:schemeClr>
          </a:solidFill>
          <a:ln>
            <a:noFill/>
          </a:ln>
        </p:spPr>
        <p:txBody>
          <a:bodyPr/>
          <a:p/>
        </p:txBody>
      </p:sp>
      <p:sp>
        <p:nvSpPr>
          <p:cNvPr id="79" name="Rectangle 79"/>
          <p:cNvSpPr/>
          <p:nvPr/>
        </p:nvSpPr>
        <p:spPr>
          <a:xfrm>
            <a:off x="9058275" y="3171825"/>
            <a:ext cx="228600" cy="209550"/>
          </a:xfrm>
          <a:prstGeom prst="roundRect">
            <a:avLst>
              <a:gd name="adj" fmla="val 13636"/>
            </a:avLst>
          </a:prstGeom>
          <a:solidFill>
            <a:schemeClr val="accent1">
              <a:alpha val="85000"/>
            </a:schemeClr>
          </a:solidFill>
          <a:ln>
            <a:noFill/>
          </a:ln>
        </p:spPr>
        <p:txBody>
          <a:bodyPr/>
          <a:p/>
        </p:txBody>
      </p:sp>
      <p:sp>
        <p:nvSpPr>
          <p:cNvPr id="80" name="Rectangle 80"/>
          <p:cNvSpPr/>
          <p:nvPr/>
        </p:nvSpPr>
        <p:spPr>
          <a:xfrm>
            <a:off x="9315450" y="3171825"/>
            <a:ext cx="228600" cy="209550"/>
          </a:xfrm>
          <a:prstGeom prst="roundRect">
            <a:avLst>
              <a:gd name="adj" fmla="val 13636"/>
            </a:avLst>
          </a:prstGeom>
          <a:solidFill>
            <a:schemeClr val="accent1">
              <a:alpha val="81000"/>
            </a:schemeClr>
          </a:solidFill>
          <a:ln>
            <a:noFill/>
          </a:ln>
        </p:spPr>
        <p:txBody>
          <a:bodyPr/>
          <a:p/>
        </p:txBody>
      </p:sp>
      <p:sp>
        <p:nvSpPr>
          <p:cNvPr id="81" name="Rectangle 81"/>
          <p:cNvSpPr/>
          <p:nvPr/>
        </p:nvSpPr>
        <p:spPr>
          <a:xfrm>
            <a:off x="9572625" y="3171825"/>
            <a:ext cx="228600" cy="209550"/>
          </a:xfrm>
          <a:prstGeom prst="roundRect">
            <a:avLst>
              <a:gd name="adj" fmla="val 13636"/>
            </a:avLst>
          </a:prstGeom>
          <a:solidFill>
            <a:schemeClr val="accent2">
              <a:alpha val="70000"/>
            </a:schemeClr>
          </a:solidFill>
          <a:ln>
            <a:noFill/>
          </a:ln>
        </p:spPr>
        <p:txBody>
          <a:bodyPr/>
          <a:p/>
        </p:txBody>
      </p:sp>
      <p:sp>
        <p:nvSpPr>
          <p:cNvPr id="82" name="Rectangle 82"/>
          <p:cNvSpPr/>
          <p:nvPr/>
        </p:nvSpPr>
        <p:spPr>
          <a:xfrm>
            <a:off x="9829800" y="3171825"/>
            <a:ext cx="228600" cy="209550"/>
          </a:xfrm>
          <a:prstGeom prst="roundRect">
            <a:avLst>
              <a:gd name="adj" fmla="val 13636"/>
            </a:avLst>
          </a:prstGeom>
          <a:solidFill>
            <a:srgbClr val="FBBF24">
              <a:alpha val="56999"/>
            </a:srgbClr>
          </a:solidFill>
          <a:ln>
            <a:noFill/>
          </a:ln>
        </p:spPr>
        <p:txBody>
          <a:bodyPr/>
          <a:p/>
        </p:txBody>
      </p:sp>
      <p:sp>
        <p:nvSpPr>
          <p:cNvPr id="83" name="Rectangle 83"/>
          <p:cNvSpPr/>
          <p:nvPr/>
        </p:nvSpPr>
        <p:spPr>
          <a:xfrm>
            <a:off x="10086975" y="3171825"/>
            <a:ext cx="228600" cy="209550"/>
          </a:xfrm>
          <a:prstGeom prst="roundRect">
            <a:avLst>
              <a:gd name="adj" fmla="val 13636"/>
            </a:avLst>
          </a:prstGeom>
          <a:solidFill>
            <a:srgbClr val="F87171">
              <a:alpha val="45000"/>
            </a:srgbClr>
          </a:solidFill>
          <a:ln>
            <a:noFill/>
          </a:ln>
        </p:spPr>
        <p:txBody>
          <a:bodyPr/>
          <a:p/>
        </p:txBody>
      </p:sp>
      <p:sp>
        <p:nvSpPr>
          <p:cNvPr id="84" name="Rectangle 84"/>
          <p:cNvSpPr/>
          <p:nvPr/>
        </p:nvSpPr>
        <p:spPr>
          <a:xfrm>
            <a:off x="10344150" y="3171825"/>
            <a:ext cx="228600" cy="209550"/>
          </a:xfrm>
          <a:prstGeom prst="roundRect">
            <a:avLst>
              <a:gd name="adj" fmla="val 13636"/>
            </a:avLst>
          </a:prstGeom>
          <a:solidFill>
            <a:srgbClr val="F87171">
              <a:alpha val="37000"/>
            </a:srgbClr>
          </a:solidFill>
          <a:ln>
            <a:noFill/>
          </a:ln>
        </p:spPr>
        <p:txBody>
          <a:bodyPr/>
          <a:p/>
        </p:txBody>
      </p:sp>
      <p:sp>
        <p:nvSpPr>
          <p:cNvPr id="85" name="Rectangle 85"/>
          <p:cNvSpPr/>
          <p:nvPr/>
        </p:nvSpPr>
        <p:spPr>
          <a:xfrm>
            <a:off x="10601325" y="3171825"/>
            <a:ext cx="228600" cy="209550"/>
          </a:xfrm>
          <a:prstGeom prst="roundRect">
            <a:avLst>
              <a:gd name="adj" fmla="val 13636"/>
            </a:avLst>
          </a:prstGeom>
          <a:solidFill>
            <a:srgbClr val="F87171">
              <a:alpha val="36000"/>
            </a:srgbClr>
          </a:solidFill>
          <a:ln>
            <a:noFill/>
          </a:ln>
        </p:spPr>
        <p:txBody>
          <a:bodyPr/>
          <a:p/>
        </p:txBody>
      </p:sp>
      <p:sp>
        <p:nvSpPr>
          <p:cNvPr id="86" name="Rectangle 86"/>
          <p:cNvSpPr/>
          <p:nvPr/>
        </p:nvSpPr>
        <p:spPr>
          <a:xfrm>
            <a:off x="10858500" y="3171825"/>
            <a:ext cx="228600" cy="209550"/>
          </a:xfrm>
          <a:prstGeom prst="roundRect">
            <a:avLst>
              <a:gd name="adj" fmla="val 13636"/>
            </a:avLst>
          </a:prstGeom>
          <a:solidFill>
            <a:srgbClr val="F87171">
              <a:alpha val="42000"/>
            </a:srgbClr>
          </a:solidFill>
          <a:ln>
            <a:noFill/>
          </a:ln>
        </p:spPr>
        <p:txBody>
          <a:bodyPr/>
          <a:p/>
        </p:txBody>
      </p:sp>
      <p:sp>
        <p:nvSpPr>
          <p:cNvPr id="87" name="Rectangle 87"/>
          <p:cNvSpPr/>
          <p:nvPr/>
        </p:nvSpPr>
        <p:spPr>
          <a:xfrm>
            <a:off x="11115675" y="3171825"/>
            <a:ext cx="228600" cy="209550"/>
          </a:xfrm>
          <a:prstGeom prst="roundRect">
            <a:avLst>
              <a:gd name="adj" fmla="val 13636"/>
            </a:avLst>
          </a:prstGeom>
          <a:solidFill>
            <a:srgbClr val="FBBF24">
              <a:alpha val="53000"/>
            </a:srgbClr>
          </a:solidFill>
          <a:ln>
            <a:noFill/>
          </a:ln>
        </p:spPr>
        <p:txBody>
          <a:bodyPr/>
          <a:p/>
        </p:txBody>
      </p:sp>
      <p:sp>
        <p:nvSpPr>
          <p:cNvPr id="88" name="TextBox 88"/>
          <p:cNvSpPr txBox="1"/>
          <p:nvPr/>
        </p:nvSpPr>
        <p:spPr>
          <a:xfrm>
            <a:off x="7767638" y="3484245"/>
            <a:ext cx="429337" cy="176212"/>
          </a:xfrm>
          <a:prstGeom prst="rect">
            <a:avLst/>
          </a:prstGeom>
          <a:noFill/>
          <a:ln>
            <a:noFill/>
          </a:ln>
        </p:spPr>
        <p:txBody>
          <a:bodyPr wrap="none" lIns="0" tIns="0" rIns="0" bIns="0" anchor="t" anchorCtr="0">
            <a:spAutoFit/>
          </a:bodyPr>
          <a:lstStyle/>
          <a:p>
            <a:pPr algn="l"/>
            <a:r>
              <a:rPr lang="en-US" sz="900" b="1" dirty="0">
                <a:solidFill>
                  <a:srgbClr val="F87171"/>
                </a:solidFill>
                <a:latin typeface="+mn-lt"/>
                <a:ea typeface="+mn-ea"/>
                <a:cs typeface="+mn-cs"/>
              </a:rPr>
              <a:t>source</a:t>
            </a:r>
          </a:p>
        </p:txBody>
      </p:sp>
      <p:sp>
        <p:nvSpPr>
          <p:cNvPr id="89" name="TextBox 89"/>
          <p:cNvSpPr txBox="1"/>
          <p:nvPr/>
        </p:nvSpPr>
        <p:spPr>
          <a:xfrm>
            <a:off x="11024766" y="3484245"/>
            <a:ext cx="257596" cy="176212"/>
          </a:xfrm>
          <a:prstGeom prst="rect">
            <a:avLst/>
          </a:prstGeom>
          <a:noFill/>
          <a:ln>
            <a:noFill/>
          </a:ln>
        </p:spPr>
        <p:txBody>
          <a:bodyPr wrap="none" lIns="0" tIns="0" rIns="0" bIns="0" anchor="t" anchorCtr="0">
            <a:spAutoFit/>
          </a:bodyPr>
          <a:lstStyle/>
          <a:p>
            <a:pPr algn="r"/>
            <a:r>
              <a:rPr lang="en-US" sz="900" b="1" dirty="0">
                <a:solidFill>
                  <a:schemeClr val="accent1"/>
                </a:solidFill>
                <a:latin typeface="+mn-lt"/>
                <a:ea typeface="+mn-ea"/>
                <a:cs typeface="+mn-cs"/>
              </a:rPr>
              <a:t>sink</a:t>
            </a:r>
          </a:p>
        </p:txBody>
      </p:sp>
      <p:sp>
        <p:nvSpPr>
          <p:cNvPr id="90" name="TextBox 90"/>
          <p:cNvSpPr txBox="1"/>
          <p:nvPr/>
        </p:nvSpPr>
        <p:spPr>
          <a:xfrm>
            <a:off x="7767638" y="3674745"/>
            <a:ext cx="2274660" cy="176212"/>
          </a:xfrm>
          <a:prstGeom prst="rect">
            <a:avLst/>
          </a:prstGeom>
          <a:noFill/>
          <a:ln>
            <a:noFill/>
          </a:ln>
        </p:spPr>
        <p:txBody>
          <a:bodyPr wrap="none" lIns="0" tIns="0" rIns="0" bIns="0" anchor="t" anchorCtr="0">
            <a:spAutoFit/>
          </a:bodyPr>
          <a:lstStyle/>
          <a:p>
            <a:pPr algn="l"/>
            <a:r>
              <a:rPr lang="en-US" sz="900" dirty="0">
                <a:solidFill>
                  <a:srgbClr val="5F7A93"/>
                </a:solidFill>
                <a:latin typeface="+mn-lt"/>
                <a:ea typeface="+mn-ea"/>
                <a:cs typeface="+mn-cs"/>
              </a:rPr>
              <a:t>monthly gridded · Jan 2022 to Jul 2023</a:t>
            </a:r>
          </a:p>
        </p:txBody>
      </p:sp>
      <p:grpSp>
        <p:nvGrpSpPr>
          <p:cNvPr id="97" name="Group 97"/>
          <p:cNvGrpSpPr/>
          <p:nvPr/>
        </p:nvGrpSpPr>
        <p:grpSpPr>
          <a:xfrm>
            <a:off x="590550" y="1410652"/>
            <a:ext cx="7332132" cy="2212849"/>
            <a:chOff x="590550" y="1410652"/>
            <a:chExt cx="7332132" cy="2212849"/>
          </a:xfrm>
        </p:grpSpPr>
        <p:sp>
          <p:nvSpPr>
            <p:cNvPr id="91" name="Rectangle 91"/>
            <p:cNvSpPr/>
            <p:nvPr/>
          </p:nvSpPr>
          <p:spPr>
            <a:xfrm>
              <a:off x="609600" y="1428750"/>
              <a:ext cx="323850" cy="57150"/>
            </a:xfrm>
            <a:prstGeom prst="roundRect">
              <a:avLst>
                <a:gd name="adj" fmla="val 50000"/>
              </a:avLst>
            </a:prstGeom>
            <a:solidFill>
              <a:schemeClr val="accent1"/>
            </a:solidFill>
            <a:ln>
              <a:noFill/>
            </a:ln>
          </p:spPr>
        </p:sp>
        <p:sp>
          <p:nvSpPr>
            <p:cNvPr id="92" name="TextBox 92"/>
            <p:cNvSpPr txBox="1"/>
            <p:nvPr/>
          </p:nvSpPr>
          <p:spPr>
            <a:xfrm>
              <a:off x="1023366" y="1410652"/>
              <a:ext cx="3925433" cy="205359"/>
            </a:xfrm>
            <a:prstGeom prst="rect">
              <a:avLst/>
            </a:prstGeom>
            <a:noFill/>
            <a:ln>
              <a:noFill/>
            </a:ln>
          </p:spPr>
          <p:txBody>
            <a:bodyPr wrap="none" lIns="0" tIns="0" rIns="0" bIns="0" anchor="t" anchorCtr="0">
              <a:spAutoFit/>
            </a:bodyPr>
            <a:lstStyle/>
            <a:p>
              <a:pPr algn="l"/>
              <a:r>
                <a:rPr lang="en-US" sz="1050" b="1" spc="112" dirty="0">
                  <a:solidFill>
                    <a:schemeClr val="accent1"/>
                  </a:solidFill>
                  <a:latin typeface="+mn-lt"/>
                  <a:ea typeface="+mn-ea"/>
                  <a:cs typeface="+mn-cs"/>
                </a:rPr>
                <a:t>TSINGHUA · MICROSOFT RESEARCH · ICLR 2024</a:t>
              </a:r>
            </a:p>
          </p:txBody>
        </p:sp>
        <p:sp>
          <p:nvSpPr>
            <p:cNvPr id="93" name="TextBox 93"/>
            <p:cNvSpPr txBox="1"/>
            <p:nvPr/>
          </p:nvSpPr>
          <p:spPr>
            <a:xfrm>
              <a:off x="590550" y="1863090"/>
              <a:ext cx="7332132" cy="933450"/>
            </a:xfrm>
            <a:prstGeom prst="rect">
              <a:avLst/>
            </a:prstGeom>
            <a:noFill/>
            <a:ln>
              <a:noFill/>
            </a:ln>
          </p:spPr>
          <p:txBody>
            <a:bodyPr wrap="none" lIns="0" tIns="0" rIns="0" bIns="0" anchor="t" anchorCtr="0">
              <a:spAutoFit/>
            </a:bodyPr>
            <a:lstStyle/>
            <a:p>
              <a:pPr algn="l"/>
              <a:r>
                <a:rPr lang="en-US" sz="4800" b="1" dirty="0">
                  <a:solidFill>
                    <a:schemeClr val="dk1"/>
                  </a:solidFill>
                  <a:latin typeface="+mn-lt"/>
                  <a:ea typeface="+mn-ea"/>
                  <a:cs typeface="+mn-cs"/>
                </a:rPr>
                <a:t>Carbon Monitor Ocean</a:t>
              </a:r>
            </a:p>
          </p:txBody>
        </p:sp>
        <p:sp>
          <p:nvSpPr>
            <p:cNvPr id="94" name="TextBox 94"/>
            <p:cNvSpPr txBox="1"/>
            <p:nvPr/>
          </p:nvSpPr>
          <p:spPr>
            <a:xfrm>
              <a:off x="600456" y="2663190"/>
              <a:ext cx="721446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Near-real-time monitoring of the global ocean carbon sink</a:t>
              </a:r>
            </a:p>
          </p:txBody>
        </p:sp>
        <p:sp>
          <p:nvSpPr>
            <p:cNvPr id="95" name="TextBox 95"/>
            <p:cNvSpPr txBox="1"/>
            <p:nvPr/>
          </p:nvSpPr>
          <p:spPr>
            <a:xfrm>
              <a:off x="602742" y="3130868"/>
              <a:ext cx="58174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ocean absorbs a large share of our carbon emissions, yet the</a:t>
              </a:r>
            </a:p>
          </p:txBody>
        </p:sp>
        <p:sp>
          <p:nvSpPr>
            <p:cNvPr id="96" name="TextBox 96"/>
            <p:cNvSpPr txBox="1"/>
            <p:nvPr/>
          </p:nvSpPr>
          <p:spPr>
            <a:xfrm>
              <a:off x="602742" y="3359468"/>
              <a:ext cx="583838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official picture of its uptake always lags reality by about a year.</a:t>
              </a:r>
            </a:p>
          </p:txBody>
        </p:sp>
      </p:grpSp>
      <p:sp>
        <p:nvSpPr>
          <p:cNvPr id="98" name="TextBox 98"/>
          <p:cNvSpPr txBox="1"/>
          <p:nvPr/>
        </p:nvSpPr>
        <p:spPr>
          <a:xfrm>
            <a:off x="604266" y="3791902"/>
            <a:ext cx="4770164" cy="205359"/>
          </a:xfrm>
          <a:prstGeom prst="rect">
            <a:avLst/>
          </a:prstGeom>
          <a:noFill/>
          <a:ln>
            <a:noFill/>
          </a:ln>
        </p:spPr>
        <p:txBody>
          <a:bodyPr wrap="none" lIns="0" tIns="0" rIns="0" bIns="0" anchor="t" anchorCtr="0">
            <a:spAutoFit/>
          </a:bodyPr>
          <a:lstStyle/>
          <a:p>
            <a:pPr algn="l"/>
            <a:r>
              <a:rPr lang="en-US" sz="1050" b="1" dirty="0">
                <a:solidFill>
                  <a:srgbClr val="5F7A93"/>
                </a:solidFill>
                <a:latin typeface="+mn-lt"/>
                <a:ea typeface="+mn-ea"/>
                <a:cs typeface="+mn-cs"/>
              </a:rPr>
              <a:t>Ke, Gui, Cao, Wang, Ciais, Friedlingstein, Liu · arXiv:2312.01637</a:t>
            </a:r>
          </a:p>
        </p:txBody>
      </p:sp>
      <p:grpSp>
        <p:nvGrpSpPr>
          <p:cNvPr id="105" name="Group 105"/>
          <p:cNvGrpSpPr/>
          <p:nvPr/>
        </p:nvGrpSpPr>
        <p:grpSpPr>
          <a:xfrm>
            <a:off x="609600" y="4476750"/>
            <a:ext cx="5362575" cy="2038350"/>
            <a:chOff x="609600" y="4476750"/>
            <a:chExt cx="5362575" cy="2038350"/>
          </a:xfrm>
        </p:grpSpPr>
        <p:sp>
          <p:nvSpPr>
            <p:cNvPr id="99" name="Rectangle 99"/>
            <p:cNvSpPr/>
            <p:nvPr/>
          </p:nvSpPr>
          <p:spPr>
            <a:xfrm>
              <a:off x="609600" y="4476750"/>
              <a:ext cx="5362575" cy="2038350"/>
            </a:xfrm>
            <a:prstGeom prst="roundRect">
              <a:avLst>
                <a:gd name="adj" fmla="val 7477"/>
              </a:avLst>
            </a:prstGeom>
            <a:solidFill>
              <a:schemeClr val="lt2"/>
            </a:solidFill>
            <a:ln w="9525">
              <a:solidFill>
                <a:schemeClr val="accent4"/>
              </a:solidFill>
            </a:ln>
          </p:spPr>
        </p:sp>
        <p:sp>
          <p:nvSpPr>
            <p:cNvPr id="100" name="Rectangle 100"/>
            <p:cNvSpPr/>
            <p:nvPr/>
          </p:nvSpPr>
          <p:spPr>
            <a:xfrm>
              <a:off x="609600" y="4648200"/>
              <a:ext cx="47625" cy="1695450"/>
            </a:xfrm>
            <a:prstGeom prst="roundRect">
              <a:avLst>
                <a:gd name="adj" fmla="val 50000"/>
              </a:avLst>
            </a:prstGeom>
            <a:solidFill>
              <a:schemeClr val="accent1"/>
            </a:solidFill>
            <a:ln>
              <a:noFill/>
            </a:ln>
          </p:spPr>
        </p:sp>
        <p:sp>
          <p:nvSpPr>
            <p:cNvPr id="101" name="TextBox 101"/>
            <p:cNvSpPr txBox="1"/>
            <p:nvPr/>
          </p:nvSpPr>
          <p:spPr>
            <a:xfrm>
              <a:off x="833247" y="4714399"/>
              <a:ext cx="1072183"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DATASET</a:t>
              </a:r>
            </a:p>
          </p:txBody>
        </p:sp>
        <p:sp>
          <p:nvSpPr>
            <p:cNvPr id="102" name="TextBox 102"/>
            <p:cNvSpPr txBox="1"/>
            <p:nvPr/>
          </p:nvSpPr>
          <p:spPr>
            <a:xfrm>
              <a:off x="829056" y="4968240"/>
              <a:ext cx="116083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CMO-NRT</a:t>
              </a:r>
            </a:p>
          </p:txBody>
        </p:sp>
        <p:sp>
          <p:nvSpPr>
            <p:cNvPr id="103" name="TextBox 103"/>
            <p:cNvSpPr txBox="1"/>
            <p:nvPr/>
          </p:nvSpPr>
          <p:spPr>
            <a:xfrm>
              <a:off x="832676" y="5311854"/>
              <a:ext cx="33765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near-real-time, monthly, gridded dataset of</a:t>
              </a:r>
            </a:p>
          </p:txBody>
        </p:sp>
        <p:sp>
          <p:nvSpPr>
            <p:cNvPr id="104" name="TextBox 104"/>
            <p:cNvSpPr txBox="1"/>
            <p:nvPr/>
          </p:nvSpPr>
          <p:spPr>
            <a:xfrm>
              <a:off x="832676" y="5502354"/>
              <a:ext cx="330856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surface-ocean CO2 fugacity and air-sea flux.</a:t>
              </a:r>
            </a:p>
          </p:txBody>
        </p:sp>
      </p:grpSp>
      <p:grpSp>
        <p:nvGrpSpPr>
          <p:cNvPr id="112" name="Group 112"/>
          <p:cNvGrpSpPr/>
          <p:nvPr/>
        </p:nvGrpSpPr>
        <p:grpSpPr>
          <a:xfrm>
            <a:off x="6219825" y="4476750"/>
            <a:ext cx="5362575" cy="2038350"/>
            <a:chOff x="6219825" y="4476750"/>
            <a:chExt cx="5362575" cy="2038350"/>
          </a:xfrm>
        </p:grpSpPr>
        <p:sp>
          <p:nvSpPr>
            <p:cNvPr id="106" name="Rectangle 106"/>
            <p:cNvSpPr/>
            <p:nvPr/>
          </p:nvSpPr>
          <p:spPr>
            <a:xfrm>
              <a:off x="6219825" y="4476750"/>
              <a:ext cx="5362575" cy="2038350"/>
            </a:xfrm>
            <a:prstGeom prst="roundRect">
              <a:avLst>
                <a:gd name="adj" fmla="val 7477"/>
              </a:avLst>
            </a:prstGeom>
            <a:solidFill>
              <a:schemeClr val="lt2"/>
            </a:solidFill>
            <a:ln w="9525">
              <a:solidFill>
                <a:schemeClr val="accent4"/>
              </a:solidFill>
            </a:ln>
          </p:spPr>
        </p:sp>
        <p:sp>
          <p:nvSpPr>
            <p:cNvPr id="107" name="Rectangle 107"/>
            <p:cNvSpPr/>
            <p:nvPr/>
          </p:nvSpPr>
          <p:spPr>
            <a:xfrm>
              <a:off x="6219825" y="4648200"/>
              <a:ext cx="47625" cy="1695450"/>
            </a:xfrm>
            <a:prstGeom prst="roundRect">
              <a:avLst>
                <a:gd name="adj" fmla="val 50000"/>
              </a:avLst>
            </a:prstGeom>
            <a:solidFill>
              <a:schemeClr val="accent2"/>
            </a:solidFill>
            <a:ln>
              <a:noFill/>
            </a:ln>
          </p:spPr>
        </p:sp>
        <p:sp>
          <p:nvSpPr>
            <p:cNvPr id="108" name="TextBox 108"/>
            <p:cNvSpPr txBox="1"/>
            <p:nvPr/>
          </p:nvSpPr>
          <p:spPr>
            <a:xfrm>
              <a:off x="6443472" y="4714399"/>
              <a:ext cx="1028892"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METHOD</a:t>
              </a:r>
            </a:p>
          </p:txBody>
        </p:sp>
        <p:sp>
          <p:nvSpPr>
            <p:cNvPr id="109" name="TextBox 109"/>
            <p:cNvSpPr txBox="1"/>
            <p:nvPr/>
          </p:nvSpPr>
          <p:spPr>
            <a:xfrm>
              <a:off x="6439281" y="4968240"/>
              <a:ext cx="278075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CNN + semi-supervised</a:t>
              </a:r>
            </a:p>
          </p:txBody>
        </p:sp>
        <p:sp>
          <p:nvSpPr>
            <p:cNvPr id="110" name="TextBox 110"/>
            <p:cNvSpPr txBox="1"/>
            <p:nvPr/>
          </p:nvSpPr>
          <p:spPr>
            <a:xfrm>
              <a:off x="6442900" y="5311854"/>
              <a:ext cx="38680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Updates 10 biogeochemical models and 8 data products</a:t>
              </a:r>
            </a:p>
          </p:txBody>
        </p:sp>
        <p:sp>
          <p:nvSpPr>
            <p:cNvPr id="111" name="TextBox 111"/>
            <p:cNvSpPr txBox="1"/>
            <p:nvPr/>
          </p:nvSpPr>
          <p:spPr>
            <a:xfrm>
              <a:off x="6442900" y="5502354"/>
              <a:ext cx="162514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 the present month.</a:t>
              </a:r>
            </a:p>
          </p:txBody>
        </p:sp>
      </p:grpSp>
      <p:sp>
        <p:nvSpPr>
          <p:cNvPr id="113" name="cue_s01_c1_ocean_absorbs_large_share_humanity" title="cue_s01_c1_ocean_absorbs_large_share_humanity" descr="cue_s01_c1_ocean_absorbs_large_share_humanity The ocean absorbs a large share of humanity's carbon emissions, yet our official picture of how much it takes up always lags reality by about a year."/>
          <p:cNvSpPr/>
          <p:nvPr/>
        </p:nvSpPr>
        <p:spPr>
          <a:xfrm>
            <a:off x="590092" y="1410690"/>
            <a:ext cx="7332268" cy="2213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ue_s01_c2_work_introduces_carbon_monitor_ocean" title="cue_s01_c2_work_introduces_carbon_monitor_ocean" descr="cue_s01_c2_work_introduces_carbon_monitor_ocean This work introduces Carbon Monitor Ocean, or CMO-NRT, a near-real-time, monthly, gridded dataset of global surface ocean fugacity of CO2 and air-sea CO2 flux."/>
          <p:cNvSpPr/>
          <p:nvPr/>
        </p:nvSpPr>
        <p:spPr>
          <a:xfrm>
            <a:off x="609600" y="4476902"/>
            <a:ext cx="5362041"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ue_s01_c3_convolutional_neural_networks_semi_s" title="cue_s01_c3_convolutional_neural_networks_semi_s" descr="cue_s01_c3_convolutional_neural_networks_semi_s By using convolutional neural networks and semi-supervised learning to update the estimates from ten ocean biogeochemical models and eight data products, the authors extend the global carbon budget to the present month, giving scientists and policymakers a far"/>
          <p:cNvSpPr/>
          <p:nvPr/>
        </p:nvSpPr>
        <p:spPr>
          <a:xfrm>
            <a:off x="6220358" y="4476902"/>
            <a:ext cx="5362041"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882792"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PROBLEM</a:t>
            </a:r>
          </a:p>
        </p:txBody>
      </p:sp>
      <p:sp>
        <p:nvSpPr>
          <p:cNvPr id="5" name="TextBox 5"/>
          <p:cNvSpPr txBox="1"/>
          <p:nvPr/>
        </p:nvSpPr>
        <p:spPr>
          <a:xfrm>
            <a:off x="596646" y="715328"/>
            <a:ext cx="874297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Our picture of the ocean sink is always a year old</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02 / 10</a:t>
            </a:r>
          </a:p>
        </p:txBody>
      </p:sp>
      <p:grpSp>
        <p:nvGrpSpPr>
          <p:cNvPr id="13" name="Group 13"/>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15374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A CLIMATE BUFFER</a:t>
              </a:r>
            </a:p>
          </p:txBody>
        </p:sp>
        <p:sp>
          <p:nvSpPr>
            <p:cNvPr id="10" name="TextBox 10"/>
            <p:cNvSpPr txBox="1"/>
            <p:nvPr/>
          </p:nvSpPr>
          <p:spPr>
            <a:xfrm>
              <a:off x="851344" y="2008108"/>
              <a:ext cx="301537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ocean is one of the largest buffers</a:t>
              </a:r>
            </a:p>
          </p:txBody>
        </p:sp>
        <p:sp>
          <p:nvSpPr>
            <p:cNvPr id="11" name="TextBox 11"/>
            <p:cNvSpPr txBox="1"/>
            <p:nvPr/>
          </p:nvSpPr>
          <p:spPr>
            <a:xfrm>
              <a:off x="851344" y="2217658"/>
              <a:ext cx="304910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against climate change, soaking up a big</a:t>
              </a:r>
            </a:p>
          </p:txBody>
        </p:sp>
        <p:sp>
          <p:nvSpPr>
            <p:cNvPr id="12" name="TextBox 12"/>
            <p:cNvSpPr txBox="1"/>
            <p:nvPr/>
          </p:nvSpPr>
          <p:spPr>
            <a:xfrm>
              <a:off x="851344" y="2427208"/>
              <a:ext cx="224907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fraction of the CO2 we emit.</a:t>
              </a:r>
            </a:p>
          </p:txBody>
        </p:sp>
      </p:grpSp>
      <p:grpSp>
        <p:nvGrpSpPr>
          <p:cNvPr id="28" name="Group 28"/>
          <p:cNvGrpSpPr/>
          <p:nvPr/>
        </p:nvGrpSpPr>
        <p:grpSpPr>
          <a:xfrm>
            <a:off x="6219825" y="1428750"/>
            <a:ext cx="5362575" cy="2419350"/>
            <a:chOff x="6219825" y="1428750"/>
            <a:chExt cx="5362575" cy="2419350"/>
          </a:xfrm>
        </p:grpSpPr>
        <p:sp>
          <p:nvSpPr>
            <p:cNvPr id="14" name="Rectangle 14"/>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5" name="Rectangle 15"/>
            <p:cNvSpPr/>
            <p:nvPr/>
          </p:nvSpPr>
          <p:spPr>
            <a:xfrm>
              <a:off x="6219825" y="1600200"/>
              <a:ext cx="47625" cy="2076450"/>
            </a:xfrm>
            <a:prstGeom prst="roundRect">
              <a:avLst>
                <a:gd name="adj" fmla="val 50000"/>
              </a:avLst>
            </a:prstGeom>
            <a:solidFill>
              <a:srgbClr val="F87171"/>
            </a:solidFill>
            <a:ln>
              <a:noFill/>
            </a:ln>
          </p:spPr>
        </p:sp>
        <p:sp>
          <p:nvSpPr>
            <p:cNvPr id="16" name="TextBox 16"/>
            <p:cNvSpPr txBox="1"/>
            <p:nvPr/>
          </p:nvSpPr>
          <p:spPr>
            <a:xfrm>
              <a:off x="6462522" y="1704499"/>
              <a:ext cx="1268538"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ALWAYS BEHIND</a:t>
              </a:r>
            </a:p>
          </p:txBody>
        </p:sp>
        <p:sp>
          <p:nvSpPr>
            <p:cNvPr id="17" name="TextBox 17"/>
            <p:cNvSpPr txBox="1"/>
            <p:nvPr/>
          </p:nvSpPr>
          <p:spPr>
            <a:xfrm>
              <a:off x="6449949" y="1913572"/>
              <a:ext cx="1254204"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~1 yr</a:t>
              </a:r>
            </a:p>
          </p:txBody>
        </p:sp>
        <p:sp>
          <p:nvSpPr>
            <p:cNvPr id="18" name="TextBox 18"/>
            <p:cNvSpPr txBox="1"/>
            <p:nvPr/>
          </p:nvSpPr>
          <p:spPr>
            <a:xfrm>
              <a:off x="6462141" y="2420302"/>
              <a:ext cx="275606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lag of the annual Global Carbon Budget</a:t>
              </a:r>
            </a:p>
          </p:txBody>
        </p:sp>
        <p:sp>
          <p:nvSpPr>
            <p:cNvPr id="19" name="TextBox 19"/>
            <p:cNvSpPr txBox="1"/>
            <p:nvPr/>
          </p:nvSpPr>
          <p:spPr>
            <a:xfrm>
              <a:off x="6462712" y="2931795"/>
              <a:ext cx="2208140" cy="176212"/>
            </a:xfrm>
            <a:prstGeom prst="rect">
              <a:avLst/>
            </a:prstGeom>
            <a:noFill/>
            <a:ln>
              <a:noFill/>
            </a:ln>
          </p:spPr>
          <p:txBody>
            <a:bodyPr wrap="none" lIns="0" tIns="0" rIns="0" bIns="0" anchor="t" anchorCtr="0">
              <a:spAutoFit/>
            </a:bodyPr>
            <a:lstStyle/>
            <a:p>
              <a:pPr algn="l"/>
              <a:r>
                <a:rPr lang="en-US" sz="900" b="1" dirty="0">
                  <a:solidFill>
                    <a:srgbClr val="5F7A93"/>
                  </a:solidFill>
                  <a:latin typeface="+mn-lt"/>
                  <a:ea typeface="+mn-ea"/>
                  <a:cs typeface="+mn-cs"/>
                </a:rPr>
                <a:t>Reporting latency of the ocean sink</a:t>
              </a:r>
            </a:p>
          </p:txBody>
        </p:sp>
        <p:sp>
          <p:nvSpPr>
            <p:cNvPr id="20" name="TextBox 20"/>
            <p:cNvSpPr txBox="1"/>
            <p:nvPr/>
          </p:nvSpPr>
          <p:spPr>
            <a:xfrm>
              <a:off x="6461950" y="3130629"/>
              <a:ext cx="800792"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Annual GCB</a:t>
              </a:r>
            </a:p>
          </p:txBody>
        </p:sp>
        <p:sp>
          <p:nvSpPr>
            <p:cNvPr id="21" name="Rectangle 21"/>
            <p:cNvSpPr/>
            <p:nvPr/>
          </p:nvSpPr>
          <p:spPr>
            <a:xfrm>
              <a:off x="7724775" y="3105150"/>
              <a:ext cx="2981325" cy="190500"/>
            </a:xfrm>
            <a:prstGeom prst="roundRect">
              <a:avLst>
                <a:gd name="adj" fmla="val 50000"/>
              </a:avLst>
            </a:prstGeom>
            <a:solidFill>
              <a:srgbClr val="1C374F"/>
            </a:solidFill>
            <a:ln>
              <a:noFill/>
            </a:ln>
          </p:spPr>
        </p:sp>
        <p:sp>
          <p:nvSpPr>
            <p:cNvPr id="22" name="Rectangle 22"/>
            <p:cNvSpPr/>
            <p:nvPr/>
          </p:nvSpPr>
          <p:spPr>
            <a:xfrm>
              <a:off x="7724775" y="3105150"/>
              <a:ext cx="2981325" cy="190500"/>
            </a:xfrm>
            <a:prstGeom prst="roundRect">
              <a:avLst>
                <a:gd name="adj" fmla="val 50000"/>
              </a:avLst>
            </a:prstGeom>
            <a:solidFill>
              <a:srgbClr val="F87171"/>
            </a:solidFill>
            <a:ln>
              <a:noFill/>
            </a:ln>
          </p:spPr>
        </p:sp>
        <p:sp>
          <p:nvSpPr>
            <p:cNvPr id="23" name="TextBox 23"/>
            <p:cNvSpPr txBox="1"/>
            <p:nvPr/>
          </p:nvSpPr>
          <p:spPr>
            <a:xfrm>
              <a:off x="10795445" y="3122533"/>
              <a:ext cx="45452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12 mo</a:t>
              </a:r>
            </a:p>
          </p:txBody>
        </p:sp>
        <p:sp>
          <p:nvSpPr>
            <p:cNvPr id="24" name="TextBox 24"/>
            <p:cNvSpPr txBox="1"/>
            <p:nvPr/>
          </p:nvSpPr>
          <p:spPr>
            <a:xfrm>
              <a:off x="6461950" y="3435429"/>
              <a:ext cx="702922"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CMO-NRT</a:t>
              </a:r>
            </a:p>
          </p:txBody>
        </p:sp>
        <p:sp>
          <p:nvSpPr>
            <p:cNvPr id="25" name="Rectangle 25"/>
            <p:cNvSpPr/>
            <p:nvPr/>
          </p:nvSpPr>
          <p:spPr>
            <a:xfrm>
              <a:off x="7724775" y="3409950"/>
              <a:ext cx="2981325" cy="190500"/>
            </a:xfrm>
            <a:prstGeom prst="roundRect">
              <a:avLst>
                <a:gd name="adj" fmla="val 50000"/>
              </a:avLst>
            </a:prstGeom>
            <a:solidFill>
              <a:srgbClr val="1C374F"/>
            </a:solidFill>
            <a:ln>
              <a:noFill/>
            </a:ln>
          </p:spPr>
        </p:sp>
        <p:sp>
          <p:nvSpPr>
            <p:cNvPr id="26" name="Rectangle 26"/>
            <p:cNvSpPr/>
            <p:nvPr/>
          </p:nvSpPr>
          <p:spPr>
            <a:xfrm>
              <a:off x="7724775" y="3409950"/>
              <a:ext cx="248602" cy="190500"/>
            </a:xfrm>
            <a:prstGeom prst="roundRect">
              <a:avLst>
                <a:gd name="adj" fmla="val 50000"/>
              </a:avLst>
            </a:prstGeom>
            <a:solidFill>
              <a:schemeClr val="accent2"/>
            </a:solidFill>
            <a:ln>
              <a:noFill/>
            </a:ln>
          </p:spPr>
        </p:sp>
        <p:sp>
          <p:nvSpPr>
            <p:cNvPr id="27" name="TextBox 27"/>
            <p:cNvSpPr txBox="1"/>
            <p:nvPr/>
          </p:nvSpPr>
          <p:spPr>
            <a:xfrm>
              <a:off x="8062563" y="3427333"/>
              <a:ext cx="364340"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1 mo</a:t>
              </a:r>
            </a:p>
          </p:txBody>
        </p:sp>
      </p:grpSp>
      <p:grpSp>
        <p:nvGrpSpPr>
          <p:cNvPr id="35" name="Group 35"/>
          <p:cNvGrpSpPr/>
          <p:nvPr/>
        </p:nvGrpSpPr>
        <p:grpSpPr>
          <a:xfrm>
            <a:off x="609600" y="4095750"/>
            <a:ext cx="5362575" cy="2419350"/>
            <a:chOff x="609600" y="4095750"/>
            <a:chExt cx="5362575" cy="2419350"/>
          </a:xfrm>
        </p:grpSpPr>
        <p:sp>
          <p:nvSpPr>
            <p:cNvPr id="29" name="Rectangle 29"/>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30" name="Rectangle 30"/>
            <p:cNvSpPr/>
            <p:nvPr/>
          </p:nvSpPr>
          <p:spPr>
            <a:xfrm>
              <a:off x="609600" y="4267200"/>
              <a:ext cx="47625" cy="2076450"/>
            </a:xfrm>
            <a:prstGeom prst="roundRect">
              <a:avLst>
                <a:gd name="adj" fmla="val 50000"/>
              </a:avLst>
            </a:prstGeom>
            <a:solidFill>
              <a:srgbClr val="FBBF24"/>
            </a:solidFill>
            <a:ln>
              <a:noFill/>
            </a:ln>
          </p:spPr>
        </p:sp>
        <p:sp>
          <p:nvSpPr>
            <p:cNvPr id="31" name="TextBox 31"/>
            <p:cNvSpPr txBox="1"/>
            <p:nvPr/>
          </p:nvSpPr>
          <p:spPr>
            <a:xfrm>
              <a:off x="852297" y="4371499"/>
              <a:ext cx="1530139"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WE CANNOT SEE IT</a:t>
              </a:r>
            </a:p>
          </p:txBody>
        </p:sp>
        <p:sp>
          <p:nvSpPr>
            <p:cNvPr id="32" name="TextBox 32"/>
            <p:cNvSpPr txBox="1"/>
            <p:nvPr/>
          </p:nvSpPr>
          <p:spPr>
            <a:xfrm>
              <a:off x="851344" y="4675108"/>
              <a:ext cx="276597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When the ocean's uptake shifts, we</a:t>
              </a:r>
            </a:p>
          </p:txBody>
        </p:sp>
        <p:sp>
          <p:nvSpPr>
            <p:cNvPr id="33" name="TextBox 33"/>
            <p:cNvSpPr txBox="1"/>
            <p:nvPr/>
          </p:nvSpPr>
          <p:spPr>
            <a:xfrm>
              <a:off x="851344" y="4884658"/>
              <a:ext cx="296322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simply cannot see the change until long</a:t>
              </a:r>
            </a:p>
          </p:txBody>
        </p:sp>
        <p:sp>
          <p:nvSpPr>
            <p:cNvPr id="34" name="TextBox 34"/>
            <p:cNvSpPr txBox="1"/>
            <p:nvPr/>
          </p:nvSpPr>
          <p:spPr>
            <a:xfrm>
              <a:off x="851344" y="5094208"/>
              <a:ext cx="122204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after the fact.</a:t>
              </a:r>
            </a:p>
          </p:txBody>
        </p:sp>
      </p:grpSp>
      <p:grpSp>
        <p:nvGrpSpPr>
          <p:cNvPr id="42" name="Group 42"/>
          <p:cNvGrpSpPr/>
          <p:nvPr/>
        </p:nvGrpSpPr>
        <p:grpSpPr>
          <a:xfrm>
            <a:off x="6219825" y="4095750"/>
            <a:ext cx="5362575" cy="2419350"/>
            <a:chOff x="6219825" y="4095750"/>
            <a:chExt cx="5362575" cy="2419350"/>
          </a:xfrm>
        </p:grpSpPr>
        <p:sp>
          <p:nvSpPr>
            <p:cNvPr id="36" name="Rectangle 36"/>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7" name="Rectangle 37"/>
            <p:cNvSpPr/>
            <p:nvPr/>
          </p:nvSpPr>
          <p:spPr>
            <a:xfrm>
              <a:off x="6219825" y="4267200"/>
              <a:ext cx="47625" cy="2076450"/>
            </a:xfrm>
            <a:prstGeom prst="roundRect">
              <a:avLst>
                <a:gd name="adj" fmla="val 50000"/>
              </a:avLst>
            </a:prstGeom>
            <a:solidFill>
              <a:srgbClr val="F87171"/>
            </a:solidFill>
            <a:ln>
              <a:noFill/>
            </a:ln>
          </p:spPr>
        </p:sp>
        <p:sp>
          <p:nvSpPr>
            <p:cNvPr id="38" name="TextBox 38"/>
            <p:cNvSpPr txBox="1"/>
            <p:nvPr/>
          </p:nvSpPr>
          <p:spPr>
            <a:xfrm>
              <a:off x="6462522" y="4371499"/>
              <a:ext cx="1064865"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WHY THE LAG</a:t>
              </a:r>
            </a:p>
          </p:txBody>
        </p:sp>
        <p:sp>
          <p:nvSpPr>
            <p:cNvPr id="39" name="TextBox 39"/>
            <p:cNvSpPr txBox="1"/>
            <p:nvPr/>
          </p:nvSpPr>
          <p:spPr>
            <a:xfrm>
              <a:off x="6461570" y="4675108"/>
              <a:ext cx="324130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Biogeochemical models are computationally</a:t>
              </a:r>
            </a:p>
          </p:txBody>
        </p:sp>
        <p:sp>
          <p:nvSpPr>
            <p:cNvPr id="40" name="TextBox 40"/>
            <p:cNvSpPr txBox="1"/>
            <p:nvPr/>
          </p:nvSpPr>
          <p:spPr>
            <a:xfrm>
              <a:off x="6461570" y="4884658"/>
              <a:ext cx="333800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heavy, and the surface-ocean observations</a:t>
              </a:r>
            </a:p>
          </p:txBody>
        </p:sp>
        <p:sp>
          <p:nvSpPr>
            <p:cNvPr id="41" name="TextBox 41"/>
            <p:cNvSpPr txBox="1"/>
            <p:nvPr/>
          </p:nvSpPr>
          <p:spPr>
            <a:xfrm>
              <a:off x="6461570" y="5094208"/>
              <a:ext cx="282267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they rely on are themselves delayed.</a:t>
              </a:r>
            </a:p>
          </p:txBody>
        </p:sp>
      </p:grpSp>
      <p:sp>
        <p:nvSpPr>
          <p:cNvPr id="43" name="cue_s02_c1_ocean_one_largest_buffers_against" title="cue_s02_c1_ocean_one_largest_buffers_against" descr="cue_s02_c1_ocean_one_largest_buffers_against The ocean is one of the largest buffers against climate change, soaking up a big fraction of the carbon dioxide we emit."/>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2_but_our_best_official_accounting" title="cue_s02_c2_but_our_best_official_accounting" descr="cue_s02_c2_but_our_best_official_accounting But our best official accounting of how much it absorbs, the annual Global Carbon Budget, always trails reality by about a year."/>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3_means_when_ocean_uptake_shifts" title="cue_s02_c3_means_when_ocean_uptake_shifts" descr="cue_s02_c3_means_when_ocean_uptake_shifts That means when the ocean's uptake shifts, we simply cannot see it until long after the fact."/>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4_lag_baked_biogeochemical_models_comp" title="cue_s02_c4_lag_baked_biogeochemical_models_comp" descr="cue_s02_c4_lag_baked_biogeochemical_models_comp This lag is baked in: the biogeochemical models are computationally heavy, and the surface-ocean observations they rely on are themselves delayed by roughly a year."/>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188836"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MOTIVATION</a:t>
            </a:r>
          </a:p>
        </p:txBody>
      </p:sp>
      <p:sp>
        <p:nvSpPr>
          <p:cNvPr id="5" name="TextBox 5"/>
          <p:cNvSpPr txBox="1"/>
          <p:nvPr/>
        </p:nvSpPr>
        <p:spPr>
          <a:xfrm>
            <a:off x="596646" y="715328"/>
            <a:ext cx="724756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Policy needs the sink now, not a year ago</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03 / 10</a:t>
            </a:r>
          </a:p>
        </p:txBody>
      </p:sp>
      <p:grpSp>
        <p:nvGrpSpPr>
          <p:cNvPr id="14" name="Group 14"/>
          <p:cNvGrpSpPr/>
          <p:nvPr/>
        </p:nvGrpSpPr>
        <p:grpSpPr>
          <a:xfrm>
            <a:off x="609600" y="1428750"/>
            <a:ext cx="3492500" cy="5086350"/>
            <a:chOff x="609600" y="1428750"/>
            <a:chExt cx="3492500" cy="5086350"/>
          </a:xfrm>
        </p:grpSpPr>
        <p:sp>
          <p:nvSpPr>
            <p:cNvPr id="7" name="Rectangle 7"/>
            <p:cNvSpPr/>
            <p:nvPr/>
          </p:nvSpPr>
          <p:spPr>
            <a:xfrm>
              <a:off x="609600" y="1428750"/>
              <a:ext cx="3492500" cy="5086350"/>
            </a:xfrm>
            <a:prstGeom prst="roundRect">
              <a:avLst>
                <a:gd name="adj" fmla="val 4364"/>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1"/>
            </a:solidFill>
            <a:ln>
              <a:noFill/>
            </a:ln>
          </p:spPr>
        </p:sp>
        <p:sp>
          <p:nvSpPr>
            <p:cNvPr id="9" name="TextBox 9"/>
            <p:cNvSpPr txBox="1"/>
            <p:nvPr/>
          </p:nvSpPr>
          <p:spPr>
            <a:xfrm>
              <a:off x="852297" y="1704499"/>
              <a:ext cx="1472211"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PARIS STOCKTAKE</a:t>
              </a:r>
            </a:p>
          </p:txBody>
        </p:sp>
        <p:sp>
          <p:nvSpPr>
            <p:cNvPr id="10" name="TextBox 10"/>
            <p:cNvSpPr txBox="1"/>
            <p:nvPr/>
          </p:nvSpPr>
          <p:spPr>
            <a:xfrm>
              <a:off x="851344" y="2008108"/>
              <a:ext cx="234385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As countries move through the</a:t>
              </a:r>
            </a:p>
          </p:txBody>
        </p:sp>
        <p:sp>
          <p:nvSpPr>
            <p:cNvPr id="11" name="TextBox 11"/>
            <p:cNvSpPr txBox="1"/>
            <p:nvPr/>
          </p:nvSpPr>
          <p:spPr>
            <a:xfrm>
              <a:off x="851344" y="2217658"/>
              <a:ext cx="235419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global stocktake, they need to</a:t>
              </a:r>
            </a:p>
          </p:txBody>
        </p:sp>
        <p:sp>
          <p:nvSpPr>
            <p:cNvPr id="12" name="TextBox 12"/>
            <p:cNvSpPr txBox="1"/>
            <p:nvPr/>
          </p:nvSpPr>
          <p:spPr>
            <a:xfrm>
              <a:off x="851344" y="2427208"/>
              <a:ext cx="237762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know where the carbon is going</a:t>
              </a:r>
            </a:p>
          </p:txBody>
        </p:sp>
        <p:sp>
          <p:nvSpPr>
            <p:cNvPr id="13" name="TextBox 13"/>
            <p:cNvSpPr txBox="1"/>
            <p:nvPr/>
          </p:nvSpPr>
          <p:spPr>
            <a:xfrm>
              <a:off x="851344" y="2636758"/>
              <a:ext cx="82383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right now.</a:t>
              </a:r>
            </a:p>
          </p:txBody>
        </p:sp>
      </p:grpSp>
      <p:grpSp>
        <p:nvGrpSpPr>
          <p:cNvPr id="22" name="Group 22"/>
          <p:cNvGrpSpPr/>
          <p:nvPr/>
        </p:nvGrpSpPr>
        <p:grpSpPr>
          <a:xfrm>
            <a:off x="4349750" y="1428750"/>
            <a:ext cx="3492500" cy="5086350"/>
            <a:chOff x="4349750" y="1428750"/>
            <a:chExt cx="3492500" cy="5086350"/>
          </a:xfrm>
        </p:grpSpPr>
        <p:sp>
          <p:nvSpPr>
            <p:cNvPr id="15" name="Rectangle 15"/>
            <p:cNvSpPr/>
            <p:nvPr/>
          </p:nvSpPr>
          <p:spPr>
            <a:xfrm>
              <a:off x="4349750" y="1428750"/>
              <a:ext cx="3492500" cy="5086350"/>
            </a:xfrm>
            <a:prstGeom prst="roundRect">
              <a:avLst>
                <a:gd name="adj" fmla="val 4364"/>
              </a:avLst>
            </a:prstGeom>
            <a:solidFill>
              <a:schemeClr val="lt2"/>
            </a:solidFill>
            <a:ln w="9525">
              <a:solidFill>
                <a:schemeClr val="accent4"/>
              </a:solidFill>
            </a:ln>
          </p:spPr>
        </p:sp>
        <p:sp>
          <p:nvSpPr>
            <p:cNvPr id="16" name="Rectangle 16"/>
            <p:cNvSpPr/>
            <p:nvPr/>
          </p:nvSpPr>
          <p:spPr>
            <a:xfrm>
              <a:off x="4349750" y="1600200"/>
              <a:ext cx="47625" cy="4743450"/>
            </a:xfrm>
            <a:prstGeom prst="roundRect">
              <a:avLst>
                <a:gd name="adj" fmla="val 50000"/>
              </a:avLst>
            </a:prstGeom>
            <a:solidFill>
              <a:srgbClr val="FBBF24"/>
            </a:solidFill>
            <a:ln>
              <a:noFill/>
            </a:ln>
          </p:spPr>
        </p:sp>
        <p:sp>
          <p:nvSpPr>
            <p:cNvPr id="17" name="TextBox 17"/>
            <p:cNvSpPr txBox="1"/>
            <p:nvPr/>
          </p:nvSpPr>
          <p:spPr>
            <a:xfrm>
              <a:off x="4592447" y="1704499"/>
              <a:ext cx="1981395"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TRUSTED BUT BACKWARD</a:t>
              </a:r>
            </a:p>
          </p:txBody>
        </p:sp>
        <p:sp>
          <p:nvSpPr>
            <p:cNvPr id="18" name="TextBox 18"/>
            <p:cNvSpPr txBox="1"/>
            <p:nvPr/>
          </p:nvSpPr>
          <p:spPr>
            <a:xfrm>
              <a:off x="4591494" y="2008108"/>
              <a:ext cx="270281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Existing databases of ocean carbon</a:t>
              </a:r>
            </a:p>
          </p:txBody>
        </p:sp>
        <p:sp>
          <p:nvSpPr>
            <p:cNvPr id="19" name="TextBox 19"/>
            <p:cNvSpPr txBox="1"/>
            <p:nvPr/>
          </p:nvSpPr>
          <p:spPr>
            <a:xfrm>
              <a:off x="4591494" y="2217658"/>
              <a:ext cx="175298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fluxes are detailed and</a:t>
              </a:r>
            </a:p>
          </p:txBody>
        </p:sp>
        <p:sp>
          <p:nvSpPr>
            <p:cNvPr id="20" name="TextBox 20"/>
            <p:cNvSpPr txBox="1"/>
            <p:nvPr/>
          </p:nvSpPr>
          <p:spPr>
            <a:xfrm>
              <a:off x="4591494" y="2427208"/>
              <a:ext cx="250255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trustworthy, but always looking</a:t>
              </a:r>
            </a:p>
          </p:txBody>
        </p:sp>
        <p:sp>
          <p:nvSpPr>
            <p:cNvPr id="21" name="TextBox 21"/>
            <p:cNvSpPr txBox="1"/>
            <p:nvPr/>
          </p:nvSpPr>
          <p:spPr>
            <a:xfrm>
              <a:off x="4591494" y="2636758"/>
              <a:ext cx="137820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backward in time.</a:t>
              </a:r>
            </a:p>
          </p:txBody>
        </p:sp>
      </p:grpSp>
      <p:grpSp>
        <p:nvGrpSpPr>
          <p:cNvPr id="30" name="Group 30"/>
          <p:cNvGrpSpPr/>
          <p:nvPr/>
        </p:nvGrpSpPr>
        <p:grpSpPr>
          <a:xfrm>
            <a:off x="8089900" y="1428750"/>
            <a:ext cx="3492500" cy="5086350"/>
            <a:chOff x="8089900" y="1428750"/>
            <a:chExt cx="3492500" cy="5086350"/>
          </a:xfrm>
        </p:grpSpPr>
        <p:sp>
          <p:nvSpPr>
            <p:cNvPr id="23" name="Rectangle 23"/>
            <p:cNvSpPr/>
            <p:nvPr/>
          </p:nvSpPr>
          <p:spPr>
            <a:xfrm>
              <a:off x="8089900" y="1428750"/>
              <a:ext cx="3492500" cy="5086350"/>
            </a:xfrm>
            <a:prstGeom prst="roundRect">
              <a:avLst>
                <a:gd name="adj" fmla="val 4364"/>
              </a:avLst>
            </a:prstGeom>
            <a:solidFill>
              <a:schemeClr val="lt2"/>
            </a:solidFill>
            <a:ln w="9525">
              <a:solidFill>
                <a:schemeClr val="accent4"/>
              </a:solidFill>
            </a:ln>
          </p:spPr>
        </p:sp>
        <p:sp>
          <p:nvSpPr>
            <p:cNvPr id="24" name="Rectangle 24"/>
            <p:cNvSpPr/>
            <p:nvPr/>
          </p:nvSpPr>
          <p:spPr>
            <a:xfrm>
              <a:off x="8089900" y="1600200"/>
              <a:ext cx="47625" cy="4743450"/>
            </a:xfrm>
            <a:prstGeom prst="roundRect">
              <a:avLst>
                <a:gd name="adj" fmla="val 50000"/>
              </a:avLst>
            </a:prstGeom>
            <a:solidFill>
              <a:schemeClr val="accent2"/>
            </a:solidFill>
            <a:ln>
              <a:noFill/>
            </a:ln>
          </p:spPr>
        </p:sp>
        <p:sp>
          <p:nvSpPr>
            <p:cNvPr id="25" name="TextBox 25"/>
            <p:cNvSpPr txBox="1"/>
            <p:nvPr/>
          </p:nvSpPr>
          <p:spPr>
            <a:xfrm>
              <a:off x="8332597" y="1704499"/>
              <a:ext cx="156611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MISSING PIECE</a:t>
              </a:r>
            </a:p>
          </p:txBody>
        </p:sp>
        <p:sp>
          <p:nvSpPr>
            <p:cNvPr id="26" name="TextBox 26"/>
            <p:cNvSpPr txBox="1"/>
            <p:nvPr/>
          </p:nvSpPr>
          <p:spPr>
            <a:xfrm>
              <a:off x="8331644" y="2008108"/>
              <a:ext cx="239863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Bring that same rigor up to the</a:t>
              </a:r>
            </a:p>
          </p:txBody>
        </p:sp>
        <p:sp>
          <p:nvSpPr>
            <p:cNvPr id="27" name="TextBox 27"/>
            <p:cNvSpPr txBox="1"/>
            <p:nvPr/>
          </p:nvSpPr>
          <p:spPr>
            <a:xfrm>
              <a:off x="8331644" y="2217658"/>
              <a:ext cx="255720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present month, so scientists and</a:t>
              </a:r>
            </a:p>
          </p:txBody>
        </p:sp>
        <p:sp>
          <p:nvSpPr>
            <p:cNvPr id="28" name="TextBox 28"/>
            <p:cNvSpPr txBox="1"/>
            <p:nvPr/>
          </p:nvSpPr>
          <p:spPr>
            <a:xfrm>
              <a:off x="8331644" y="2427208"/>
              <a:ext cx="247131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policymakers can respond as the</a:t>
              </a:r>
            </a:p>
          </p:txBody>
        </p:sp>
        <p:sp>
          <p:nvSpPr>
            <p:cNvPr id="29" name="TextBox 29"/>
            <p:cNvSpPr txBox="1"/>
            <p:nvPr/>
          </p:nvSpPr>
          <p:spPr>
            <a:xfrm>
              <a:off x="8331644" y="2636758"/>
              <a:ext cx="105027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sink changes.</a:t>
              </a:r>
            </a:p>
          </p:txBody>
        </p:sp>
      </p:grpSp>
      <p:sp>
        <p:nvSpPr>
          <p:cNvPr id="31" name="cue_s03_c1_countries_move_through_global_stockt" title="cue_s03_c1_countries_move_through_global_stockt" descr="cue_s03_c1_countries_move_through_global_stockt As countries move through the global stocktake under the Paris Agreement, they need to know where the carbon is going right now, not a year ago."/>
          <p:cNvSpPr/>
          <p:nvPr/>
        </p:nvSpPr>
        <p:spPr>
          <a:xfrm>
            <a:off x="609600"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3_c2_existing_databases_ocean_carbon_flux" title="cue_s03_c2_existing_databases_ocean_carbon_flux" descr="cue_s03_c2_existing_databases_ocean_carbon_flux The existing databases of ocean carbon fluxes are detailed and trustworthy, but they are always looking backward in time."/>
          <p:cNvSpPr/>
          <p:nvPr/>
        </p:nvSpPr>
        <p:spPr>
          <a:xfrm>
            <a:off x="4350105"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3_c3_what_missing_way_bring_same" title="cue_s03_c3_what_missing_way_bring_same" descr="cue_s03_c3_what_missing_way_bring_same What is missing is a way to bring that same rigor up to the present month, so that policymakers and scientists can respond to changes in the ocean sink as they happen."/>
          <p:cNvSpPr/>
          <p:nvPr/>
        </p:nvSpPr>
        <p:spPr>
          <a:xfrm>
            <a:off x="8089392"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392865"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CONTRIBUTION</a:t>
            </a:r>
          </a:p>
        </p:txBody>
      </p:sp>
      <p:sp>
        <p:nvSpPr>
          <p:cNvPr id="5" name="TextBox 5"/>
          <p:cNvSpPr txBox="1"/>
          <p:nvPr/>
        </p:nvSpPr>
        <p:spPr>
          <a:xfrm>
            <a:off x="596646" y="715328"/>
            <a:ext cx="829987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Carbon Monitor Ocean, updated to the present</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04 / 10</a:t>
            </a:r>
          </a:p>
        </p:txBody>
      </p:sp>
      <p:grpSp>
        <p:nvGrpSpPr>
          <p:cNvPr id="15" name="Group 15"/>
          <p:cNvGrpSpPr/>
          <p:nvPr/>
        </p:nvGrpSpPr>
        <p:grpSpPr>
          <a:xfrm>
            <a:off x="609600" y="1428750"/>
            <a:ext cx="3687889" cy="5086350"/>
            <a:chOff x="609600" y="1428750"/>
            <a:chExt cx="3687889" cy="5086350"/>
          </a:xfrm>
        </p:grpSpPr>
        <p:sp>
          <p:nvSpPr>
            <p:cNvPr id="7" name="Rectangle 7"/>
            <p:cNvSpPr/>
            <p:nvPr/>
          </p:nvSpPr>
          <p:spPr>
            <a:xfrm>
              <a:off x="609600" y="1428750"/>
              <a:ext cx="3492500" cy="5086350"/>
            </a:xfrm>
            <a:prstGeom prst="roundRect">
              <a:avLst>
                <a:gd name="adj" fmla="val 4364"/>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1"/>
            </a:solidFill>
            <a:ln>
              <a:noFill/>
            </a:ln>
          </p:spPr>
        </p:sp>
        <p:sp>
          <p:nvSpPr>
            <p:cNvPr id="9" name="Ellipse 9"/>
            <p:cNvSpPr/>
            <p:nvPr/>
          </p:nvSpPr>
          <p:spPr>
            <a:xfrm>
              <a:off x="819150" y="1638300"/>
              <a:ext cx="381000" cy="381000"/>
            </a:xfrm>
            <a:prstGeom prst="ellipse">
              <a:avLst/>
            </a:prstGeom>
            <a:noFill/>
            <a:ln w="19050">
              <a:solidFill>
                <a:schemeClr val="accent1"/>
              </a:solidFill>
            </a:ln>
          </p:spPr>
        </p:sp>
        <p:sp>
          <p:nvSpPr>
            <p:cNvPr id="10" name="TextBox 10"/>
            <p:cNvSpPr txBox="1"/>
            <p:nvPr/>
          </p:nvSpPr>
          <p:spPr>
            <a:xfrm>
              <a:off x="937130"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a:t>
              </a:r>
            </a:p>
          </p:txBody>
        </p:sp>
        <p:sp>
          <p:nvSpPr>
            <p:cNvPr id="11" name="TextBox 11"/>
            <p:cNvSpPr txBox="1"/>
            <p:nvPr/>
          </p:nvSpPr>
          <p:spPr>
            <a:xfrm>
              <a:off x="1347597" y="1666399"/>
              <a:ext cx="1072183"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DATASET</a:t>
              </a:r>
            </a:p>
          </p:txBody>
        </p:sp>
        <p:sp>
          <p:nvSpPr>
            <p:cNvPr id="12" name="TextBox 12"/>
            <p:cNvSpPr txBox="1"/>
            <p:nvPr/>
          </p:nvSpPr>
          <p:spPr>
            <a:xfrm>
              <a:off x="1346644" y="1893808"/>
              <a:ext cx="2946403"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CMO-NRT: a near-real-time, monthly,</a:t>
              </a:r>
            </a:p>
          </p:txBody>
        </p:sp>
        <p:sp>
          <p:nvSpPr>
            <p:cNvPr id="13" name="TextBox 13"/>
            <p:cNvSpPr txBox="1"/>
            <p:nvPr/>
          </p:nvSpPr>
          <p:spPr>
            <a:xfrm>
              <a:off x="1346644" y="2112883"/>
              <a:ext cx="2950845"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gridded dataset of surface-ocean CO2</a:t>
              </a:r>
            </a:p>
          </p:txBody>
        </p:sp>
        <p:sp>
          <p:nvSpPr>
            <p:cNvPr id="14" name="TextBox 14"/>
            <p:cNvSpPr txBox="1"/>
            <p:nvPr/>
          </p:nvSpPr>
          <p:spPr>
            <a:xfrm>
              <a:off x="1346644" y="2331958"/>
              <a:ext cx="201064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fugacity and air-sea flux.</a:t>
              </a:r>
            </a:p>
          </p:txBody>
        </p:sp>
      </p:grpSp>
      <p:grpSp>
        <p:nvGrpSpPr>
          <p:cNvPr id="24" name="Group 24"/>
          <p:cNvGrpSpPr/>
          <p:nvPr/>
        </p:nvGrpSpPr>
        <p:grpSpPr>
          <a:xfrm>
            <a:off x="4349750" y="1428750"/>
            <a:ext cx="3973497" cy="5086350"/>
            <a:chOff x="4349750" y="1428750"/>
            <a:chExt cx="3973497" cy="5086350"/>
          </a:xfrm>
        </p:grpSpPr>
        <p:sp>
          <p:nvSpPr>
            <p:cNvPr id="16" name="Rectangle 16"/>
            <p:cNvSpPr/>
            <p:nvPr/>
          </p:nvSpPr>
          <p:spPr>
            <a:xfrm>
              <a:off x="4349750" y="1428750"/>
              <a:ext cx="3492500" cy="5086350"/>
            </a:xfrm>
            <a:prstGeom prst="roundRect">
              <a:avLst>
                <a:gd name="adj" fmla="val 4364"/>
              </a:avLst>
            </a:prstGeom>
            <a:solidFill>
              <a:schemeClr val="lt2"/>
            </a:solidFill>
            <a:ln w="9525">
              <a:solidFill>
                <a:schemeClr val="accent4"/>
              </a:solidFill>
            </a:ln>
          </p:spPr>
        </p:sp>
        <p:sp>
          <p:nvSpPr>
            <p:cNvPr id="17" name="Rectangle 17"/>
            <p:cNvSpPr/>
            <p:nvPr/>
          </p:nvSpPr>
          <p:spPr>
            <a:xfrm>
              <a:off x="4349750" y="1600200"/>
              <a:ext cx="47625" cy="4743450"/>
            </a:xfrm>
            <a:prstGeom prst="roundRect">
              <a:avLst>
                <a:gd name="adj" fmla="val 50000"/>
              </a:avLst>
            </a:prstGeom>
            <a:solidFill>
              <a:schemeClr val="accent2"/>
            </a:solidFill>
            <a:ln>
              <a:noFill/>
            </a:ln>
          </p:spPr>
        </p:sp>
        <p:sp>
          <p:nvSpPr>
            <p:cNvPr id="18" name="Ellipse 18"/>
            <p:cNvSpPr/>
            <p:nvPr/>
          </p:nvSpPr>
          <p:spPr>
            <a:xfrm>
              <a:off x="4559300" y="1638300"/>
              <a:ext cx="381000" cy="381000"/>
            </a:xfrm>
            <a:prstGeom prst="ellipse">
              <a:avLst/>
            </a:prstGeom>
            <a:noFill/>
            <a:ln w="19050">
              <a:solidFill>
                <a:schemeClr val="accent2"/>
              </a:solidFill>
            </a:ln>
          </p:spPr>
        </p:sp>
        <p:sp>
          <p:nvSpPr>
            <p:cNvPr id="19" name="TextBox 19"/>
            <p:cNvSpPr txBox="1"/>
            <p:nvPr/>
          </p:nvSpPr>
          <p:spPr>
            <a:xfrm>
              <a:off x="4677280"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2</a:t>
              </a:r>
            </a:p>
          </p:txBody>
        </p:sp>
        <p:sp>
          <p:nvSpPr>
            <p:cNvPr id="20" name="TextBox 20"/>
            <p:cNvSpPr txBox="1"/>
            <p:nvPr/>
          </p:nvSpPr>
          <p:spPr>
            <a:xfrm>
              <a:off x="5087747" y="1666399"/>
              <a:ext cx="1879558"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UPDATE, NOT REPLACE</a:t>
              </a:r>
            </a:p>
          </p:txBody>
        </p:sp>
        <p:sp>
          <p:nvSpPr>
            <p:cNvPr id="21" name="TextBox 21"/>
            <p:cNvSpPr txBox="1"/>
            <p:nvPr/>
          </p:nvSpPr>
          <p:spPr>
            <a:xfrm>
              <a:off x="5086795" y="1893808"/>
              <a:ext cx="3218566"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Extends all 10 biogeochemical models and 8</a:t>
              </a:r>
            </a:p>
          </p:txBody>
        </p:sp>
        <p:sp>
          <p:nvSpPr>
            <p:cNvPr id="22" name="TextBox 22"/>
            <p:cNvSpPr txBox="1"/>
            <p:nvPr/>
          </p:nvSpPr>
          <p:spPr>
            <a:xfrm>
              <a:off x="5086795" y="2112883"/>
              <a:ext cx="323645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data products of the Global Carbon Budget</a:t>
              </a:r>
            </a:p>
          </p:txBody>
        </p:sp>
        <p:sp>
          <p:nvSpPr>
            <p:cNvPr id="23" name="TextBox 23"/>
            <p:cNvSpPr txBox="1"/>
            <p:nvPr/>
          </p:nvSpPr>
          <p:spPr>
            <a:xfrm>
              <a:off x="5086795" y="2331958"/>
              <a:ext cx="2580630"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2022 into a real-time framework.</a:t>
              </a:r>
            </a:p>
          </p:txBody>
        </p:sp>
      </p:grpSp>
      <p:grpSp>
        <p:nvGrpSpPr>
          <p:cNvPr id="32" name="Group 32"/>
          <p:cNvGrpSpPr/>
          <p:nvPr/>
        </p:nvGrpSpPr>
        <p:grpSpPr>
          <a:xfrm>
            <a:off x="8089900" y="1428750"/>
            <a:ext cx="3572847" cy="5086350"/>
            <a:chOff x="8089900" y="1428750"/>
            <a:chExt cx="3572847" cy="5086350"/>
          </a:xfrm>
        </p:grpSpPr>
        <p:sp>
          <p:nvSpPr>
            <p:cNvPr id="25" name="Rectangle 25"/>
            <p:cNvSpPr/>
            <p:nvPr/>
          </p:nvSpPr>
          <p:spPr>
            <a:xfrm>
              <a:off x="8089900" y="1428750"/>
              <a:ext cx="3492500" cy="5086350"/>
            </a:xfrm>
            <a:prstGeom prst="roundRect">
              <a:avLst>
                <a:gd name="adj" fmla="val 4364"/>
              </a:avLst>
            </a:prstGeom>
            <a:solidFill>
              <a:schemeClr val="lt2"/>
            </a:solidFill>
            <a:ln w="9525">
              <a:solidFill>
                <a:schemeClr val="accent4"/>
              </a:solidFill>
            </a:ln>
          </p:spPr>
        </p:sp>
        <p:sp>
          <p:nvSpPr>
            <p:cNvPr id="26" name="Rectangle 26"/>
            <p:cNvSpPr/>
            <p:nvPr/>
          </p:nvSpPr>
          <p:spPr>
            <a:xfrm>
              <a:off x="8089900" y="1600200"/>
              <a:ext cx="47625" cy="4743450"/>
            </a:xfrm>
            <a:prstGeom prst="roundRect">
              <a:avLst>
                <a:gd name="adj" fmla="val 50000"/>
              </a:avLst>
            </a:prstGeom>
            <a:solidFill>
              <a:srgbClr val="FBBF24"/>
            </a:solidFill>
            <a:ln>
              <a:noFill/>
            </a:ln>
          </p:spPr>
        </p:sp>
        <p:sp>
          <p:nvSpPr>
            <p:cNvPr id="27" name="Ellipse 27"/>
            <p:cNvSpPr/>
            <p:nvPr/>
          </p:nvSpPr>
          <p:spPr>
            <a:xfrm>
              <a:off x="8299450" y="1638300"/>
              <a:ext cx="381000" cy="381000"/>
            </a:xfrm>
            <a:prstGeom prst="ellipse">
              <a:avLst/>
            </a:prstGeom>
            <a:noFill/>
            <a:ln w="19050">
              <a:solidFill>
                <a:srgbClr val="FBBF24"/>
              </a:solidFill>
            </a:ln>
          </p:spPr>
        </p:sp>
        <p:sp>
          <p:nvSpPr>
            <p:cNvPr id="28" name="TextBox 28"/>
            <p:cNvSpPr txBox="1"/>
            <p:nvPr/>
          </p:nvSpPr>
          <p:spPr>
            <a:xfrm>
              <a:off x="8417430" y="1717358"/>
              <a:ext cx="145040" cy="322707"/>
            </a:xfrm>
            <a:prstGeom prst="rect">
              <a:avLst/>
            </a:prstGeom>
            <a:noFill/>
            <a:ln>
              <a:noFill/>
            </a:ln>
          </p:spPr>
          <p:txBody>
            <a:bodyPr wrap="none" lIns="0" tIns="0" rIns="0" bIns="0" anchor="t" anchorCtr="0">
              <a:spAutoFit/>
            </a:bodyPr>
            <a:lstStyle/>
            <a:p>
              <a:pPr algn="ctr"/>
              <a:r>
                <a:rPr lang="en-US" sz="1650" b="1" dirty="0">
                  <a:solidFill>
                    <a:srgbClr val="FBBF24"/>
                  </a:solidFill>
                  <a:latin typeface="+mn-lt"/>
                  <a:ea typeface="+mn-ea"/>
                  <a:cs typeface="+mn-cs"/>
                </a:rPr>
                <a:t>3</a:t>
              </a:r>
            </a:p>
          </p:txBody>
        </p:sp>
        <p:sp>
          <p:nvSpPr>
            <p:cNvPr id="29" name="TextBox 29"/>
            <p:cNvSpPr txBox="1"/>
            <p:nvPr/>
          </p:nvSpPr>
          <p:spPr>
            <a:xfrm>
              <a:off x="8827897" y="1666399"/>
              <a:ext cx="1203292"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OPEN RELEASE</a:t>
              </a:r>
            </a:p>
          </p:txBody>
        </p:sp>
        <p:sp>
          <p:nvSpPr>
            <p:cNvPr id="30" name="TextBox 30"/>
            <p:cNvSpPr txBox="1"/>
            <p:nvPr/>
          </p:nvSpPr>
          <p:spPr>
            <a:xfrm>
              <a:off x="8826944" y="1893808"/>
              <a:ext cx="2835803"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Dataset and code released openly, on</a:t>
              </a:r>
            </a:p>
          </p:txBody>
        </p:sp>
        <p:sp>
          <p:nvSpPr>
            <p:cNvPr id="31" name="TextBox 31"/>
            <p:cNvSpPr txBox="1"/>
            <p:nvPr/>
          </p:nvSpPr>
          <p:spPr>
            <a:xfrm>
              <a:off x="8826944" y="2112883"/>
              <a:ext cx="2827980"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Figshare and on the project website.</a:t>
              </a:r>
            </a:p>
          </p:txBody>
        </p:sp>
      </p:grpSp>
      <p:sp>
        <p:nvSpPr>
          <p:cNvPr id="33" name="cue_s04_c1_core_contribution_carbon_monitor_oce" title="cue_s04_c1_core_contribution_carbon_monitor_oce" descr="cue_s04_c1_core_contribution_carbon_monitor_oce The core contribution is Carbon Monitor Ocean, or CMO-NRT: a near-real-time, monthly, gridded dataset of global surface ocean carbon dioxide fugacity and air-sea flux, together with the machine-learning framework that generates it."/>
          <p:cNvSpPr/>
          <p:nvPr/>
        </p:nvSpPr>
        <p:spPr>
          <a:xfrm>
            <a:off x="609600"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4_c2_rather_replace_trusted_community_mod" title="cue_s04_c2_rather_replace_trusted_community_mod" descr="cue_s04_c2_rather_replace_trusted_community_mod Rather than replace the trusted community models, it updates all ten ocean biogeochemical models and eight data products from the Global Carbon Budget 2022 into a near-real-time framework."/>
          <p:cNvSpPr/>
          <p:nvPr/>
        </p:nvSpPr>
        <p:spPr>
          <a:xfrm>
            <a:off x="4350105"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3_dataset_code_released_openly_figshar" title="cue_s04_c3_dataset_code_released_openly_figshar" descr="cue_s04_c3_dataset_code_released_openly_figshar The dataset and the code are released openly, on Figshare and on the project website."/>
          <p:cNvSpPr/>
          <p:nvPr/>
        </p:nvSpPr>
        <p:spPr>
          <a:xfrm>
            <a:off x="8089392" y="1428521"/>
            <a:ext cx="3572256"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76405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METHOD</a:t>
            </a:r>
          </a:p>
        </p:txBody>
      </p:sp>
      <p:sp>
        <p:nvSpPr>
          <p:cNvPr id="5" name="TextBox 5"/>
          <p:cNvSpPr txBox="1"/>
          <p:nvPr/>
        </p:nvSpPr>
        <p:spPr>
          <a:xfrm>
            <a:off x="596646" y="715328"/>
            <a:ext cx="798556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Learn each model from observable predictors</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05 / 10</a:t>
            </a:r>
          </a:p>
        </p:txBody>
      </p:sp>
      <p:grpSp>
        <p:nvGrpSpPr>
          <p:cNvPr id="16" name="Group 16"/>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Ellipse 9"/>
            <p:cNvSpPr/>
            <p:nvPr/>
          </p:nvSpPr>
          <p:spPr>
            <a:xfrm>
              <a:off x="819150" y="1638300"/>
              <a:ext cx="381000" cy="381000"/>
            </a:xfrm>
            <a:prstGeom prst="ellipse">
              <a:avLst/>
            </a:prstGeom>
            <a:noFill/>
            <a:ln w="19050">
              <a:solidFill>
                <a:schemeClr val="accent1"/>
              </a:solidFill>
            </a:ln>
          </p:spPr>
        </p:sp>
        <p:sp>
          <p:nvSpPr>
            <p:cNvPr id="10" name="TextBox 10"/>
            <p:cNvSpPr txBox="1"/>
            <p:nvPr/>
          </p:nvSpPr>
          <p:spPr>
            <a:xfrm>
              <a:off x="937130"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a:t>
              </a:r>
            </a:p>
          </p:txBody>
        </p:sp>
        <p:sp>
          <p:nvSpPr>
            <p:cNvPr id="11" name="TextBox 11"/>
            <p:cNvSpPr txBox="1"/>
            <p:nvPr/>
          </p:nvSpPr>
          <p:spPr>
            <a:xfrm>
              <a:off x="1347597" y="1666399"/>
              <a:ext cx="17118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TARGETS AND INPUTS</a:t>
              </a:r>
            </a:p>
          </p:txBody>
        </p:sp>
        <p:sp>
          <p:nvSpPr>
            <p:cNvPr id="12" name="TextBox 12"/>
            <p:cNvSpPr txBox="1"/>
            <p:nvPr/>
          </p:nvSpPr>
          <p:spPr>
            <a:xfrm>
              <a:off x="1346644" y="1893808"/>
              <a:ext cx="3288637"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 neural network reproduces each model or</a:t>
              </a:r>
            </a:p>
          </p:txBody>
        </p:sp>
        <p:sp>
          <p:nvSpPr>
            <p:cNvPr id="13" name="TextBox 13"/>
            <p:cNvSpPr txBox="1"/>
            <p:nvPr/>
          </p:nvSpPr>
          <p:spPr>
            <a:xfrm>
              <a:off x="1346644" y="2112883"/>
              <a:ext cx="315841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product from year, month, lat, lon and 9</a:t>
              </a:r>
            </a:p>
          </p:txBody>
        </p:sp>
        <p:sp>
          <p:nvSpPr>
            <p:cNvPr id="14" name="TextBox 14"/>
            <p:cNvSpPr txBox="1"/>
            <p:nvPr/>
          </p:nvSpPr>
          <p:spPr>
            <a:xfrm>
              <a:off x="1346644" y="2331958"/>
              <a:ext cx="3017648"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environmental variables (SST, salinity,</a:t>
              </a:r>
            </a:p>
          </p:txBody>
        </p:sp>
        <p:sp>
          <p:nvSpPr>
            <p:cNvPr id="15" name="TextBox 15"/>
            <p:cNvSpPr txBox="1"/>
            <p:nvPr/>
          </p:nvSpPr>
          <p:spPr>
            <a:xfrm>
              <a:off x="1346644" y="2551033"/>
              <a:ext cx="1479707"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chlorophyll, wind).</a:t>
              </a:r>
            </a:p>
          </p:txBody>
        </p:sp>
      </p:grpSp>
      <p:grpSp>
        <p:nvGrpSpPr>
          <p:cNvPr id="40" name="Group 40"/>
          <p:cNvGrpSpPr/>
          <p:nvPr/>
        </p:nvGrpSpPr>
        <p:grpSpPr>
          <a:xfrm>
            <a:off x="6219825" y="1428750"/>
            <a:ext cx="5362575" cy="2419350"/>
            <a:chOff x="6219825" y="1428750"/>
            <a:chExt cx="5362575" cy="2419350"/>
          </a:xfrm>
        </p:grpSpPr>
        <p:sp>
          <p:nvSpPr>
            <p:cNvPr id="17" name="Rectangle 17"/>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8" name="Rectangle 18"/>
            <p:cNvSpPr/>
            <p:nvPr/>
          </p:nvSpPr>
          <p:spPr>
            <a:xfrm>
              <a:off x="6219825" y="1600200"/>
              <a:ext cx="47625" cy="2076450"/>
            </a:xfrm>
            <a:prstGeom prst="roundRect">
              <a:avLst>
                <a:gd name="adj" fmla="val 50000"/>
              </a:avLst>
            </a:prstGeom>
            <a:solidFill>
              <a:schemeClr val="accent1"/>
            </a:solidFill>
            <a:ln>
              <a:noFill/>
            </a:ln>
          </p:spPr>
        </p:sp>
        <p:sp>
          <p:nvSpPr>
            <p:cNvPr id="19" name="Ellipse 19"/>
            <p:cNvSpPr/>
            <p:nvPr/>
          </p:nvSpPr>
          <p:spPr>
            <a:xfrm>
              <a:off x="6429375" y="1638300"/>
              <a:ext cx="381000" cy="381000"/>
            </a:xfrm>
            <a:prstGeom prst="ellipse">
              <a:avLst/>
            </a:prstGeom>
            <a:noFill/>
            <a:ln w="19050">
              <a:solidFill>
                <a:schemeClr val="accent1"/>
              </a:solidFill>
            </a:ln>
          </p:spPr>
        </p:sp>
        <p:sp>
          <p:nvSpPr>
            <p:cNvPr id="20" name="TextBox 20"/>
            <p:cNvSpPr txBox="1"/>
            <p:nvPr/>
          </p:nvSpPr>
          <p:spPr>
            <a:xfrm>
              <a:off x="6547355"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a:t>
              </a:r>
            </a:p>
          </p:txBody>
        </p:sp>
        <p:sp>
          <p:nvSpPr>
            <p:cNvPr id="21" name="TextBox 21"/>
            <p:cNvSpPr txBox="1"/>
            <p:nvPr/>
          </p:nvSpPr>
          <p:spPr>
            <a:xfrm>
              <a:off x="6957822" y="1666399"/>
              <a:ext cx="180699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PATCH AND CONVOLVE</a:t>
              </a:r>
            </a:p>
          </p:txBody>
        </p:sp>
        <p:sp>
          <p:nvSpPr>
            <p:cNvPr id="22" name="TextBox 22"/>
            <p:cNvSpPr txBox="1"/>
            <p:nvPr/>
          </p:nvSpPr>
          <p:spPr>
            <a:xfrm>
              <a:off x="6956870" y="1893808"/>
              <a:ext cx="2758150"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Global grids are cut into small 18x18</a:t>
              </a:r>
            </a:p>
          </p:txBody>
        </p:sp>
        <p:sp>
          <p:nvSpPr>
            <p:cNvPr id="23" name="TextBox 23"/>
            <p:cNvSpPr txBox="1"/>
            <p:nvPr/>
          </p:nvSpPr>
          <p:spPr>
            <a:xfrm>
              <a:off x="6956870" y="2112883"/>
              <a:ext cx="2689941"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patches, then fed through stacked</a:t>
              </a:r>
            </a:p>
          </p:txBody>
        </p:sp>
        <p:sp>
          <p:nvSpPr>
            <p:cNvPr id="24" name="TextBox 24"/>
            <p:cNvSpPr txBox="1"/>
            <p:nvPr/>
          </p:nvSpPr>
          <p:spPr>
            <a:xfrm>
              <a:off x="6956870" y="2331958"/>
              <a:ext cx="2408855"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convolutional and linear layers.</a:t>
              </a:r>
            </a:p>
          </p:txBody>
        </p:sp>
        <p:sp>
          <p:nvSpPr>
            <p:cNvPr id="25" name="TextBox 25"/>
            <p:cNvSpPr txBox="1"/>
            <p:nvPr/>
          </p:nvSpPr>
          <p:spPr>
            <a:xfrm>
              <a:off x="6462712" y="3027045"/>
              <a:ext cx="1179911" cy="176212"/>
            </a:xfrm>
            <a:prstGeom prst="rect">
              <a:avLst/>
            </a:prstGeom>
            <a:noFill/>
            <a:ln>
              <a:noFill/>
            </a:ln>
          </p:spPr>
          <p:txBody>
            <a:bodyPr wrap="none" lIns="0" tIns="0" rIns="0" bIns="0" anchor="t" anchorCtr="0">
              <a:spAutoFit/>
            </a:bodyPr>
            <a:lstStyle/>
            <a:p>
              <a:pPr algn="l"/>
              <a:r>
                <a:rPr lang="en-US" sz="900" b="1" dirty="0">
                  <a:solidFill>
                    <a:srgbClr val="5F7A93"/>
                  </a:solidFill>
                  <a:latin typeface="+mn-lt"/>
                  <a:ea typeface="+mn-ea"/>
                  <a:cs typeface="+mn-cs"/>
                </a:rPr>
                <a:t>conv + linear stack</a:t>
              </a:r>
            </a:p>
          </p:txBody>
        </p:sp>
        <p:sp>
          <p:nvSpPr>
            <p:cNvPr id="26" name="Rectangle 26"/>
            <p:cNvSpPr/>
            <p:nvPr/>
          </p:nvSpPr>
          <p:spPr>
            <a:xfrm>
              <a:off x="6467475" y="3238500"/>
              <a:ext cx="495300" cy="285750"/>
            </a:xfrm>
            <a:prstGeom prst="roundRect">
              <a:avLst>
                <a:gd name="adj" fmla="val 20000"/>
              </a:avLst>
            </a:prstGeom>
            <a:solidFill>
              <a:srgbClr val="1C374F"/>
            </a:solidFill>
            <a:ln w="14288">
              <a:solidFill>
                <a:schemeClr val="dk2"/>
              </a:solidFill>
            </a:ln>
          </p:spPr>
        </p:sp>
        <p:sp>
          <p:nvSpPr>
            <p:cNvPr id="27" name="TextBox 27"/>
            <p:cNvSpPr txBox="1"/>
            <p:nvPr/>
          </p:nvSpPr>
          <p:spPr>
            <a:xfrm>
              <a:off x="6665874" y="3307556"/>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9</a:t>
              </a:r>
            </a:p>
          </p:txBody>
        </p:sp>
        <p:sp>
          <p:nvSpPr>
            <p:cNvPr id="28" name="Line 28"/>
            <p:cNvSpPr/>
            <p:nvPr/>
          </p:nvSpPr>
          <p:spPr>
            <a:xfrm>
              <a:off x="6962775" y="3381375"/>
              <a:ext cx="381000" cy="9525"/>
            </a:xfrm>
            <a:custGeom>
              <a:avLst/>
              <a:gdLst/>
              <a:ahLst/>
              <a:cxnLst/>
              <a:rect l="l" t="t" r="r" b="b"/>
              <a:pathLst>
                <a:path w="381000" h="9525">
                  <a:moveTo>
                    <a:pt x="0" y="0"/>
                  </a:moveTo>
                  <a:lnTo>
                    <a:pt x="381000" y="0"/>
                  </a:lnTo>
                </a:path>
              </a:pathLst>
            </a:custGeom>
            <a:noFill/>
            <a:ln w="14288">
              <a:solidFill>
                <a:srgbClr val="5F7A93"/>
              </a:solidFill>
            </a:ln>
          </p:spPr>
        </p:sp>
        <p:sp>
          <p:nvSpPr>
            <p:cNvPr id="29" name="Polygon 29"/>
            <p:cNvSpPr/>
            <p:nvPr/>
          </p:nvSpPr>
          <p:spPr>
            <a:xfrm>
              <a:off x="7277100" y="3343275"/>
              <a:ext cx="66675" cy="76200"/>
            </a:xfrm>
            <a:custGeom>
              <a:avLst/>
              <a:gdLst/>
              <a:ahLst/>
              <a:cxnLst/>
              <a:rect l="l" t="t" r="r" b="b"/>
              <a:pathLst>
                <a:path w="66675" h="76200">
                  <a:moveTo>
                    <a:pt x="66675" y="38100"/>
                  </a:moveTo>
                  <a:lnTo>
                    <a:pt x="0" y="0"/>
                  </a:lnTo>
                  <a:lnTo>
                    <a:pt x="0" y="76200"/>
                  </a:lnTo>
                  <a:close/>
                </a:path>
              </a:pathLst>
            </a:custGeom>
            <a:solidFill>
              <a:srgbClr val="5F7A93"/>
            </a:solidFill>
            <a:ln>
              <a:noFill/>
            </a:ln>
          </p:spPr>
        </p:sp>
        <p:sp>
          <p:nvSpPr>
            <p:cNvPr id="30" name="Rectangle 30"/>
            <p:cNvSpPr/>
            <p:nvPr/>
          </p:nvSpPr>
          <p:spPr>
            <a:xfrm>
              <a:off x="7343775" y="3238500"/>
              <a:ext cx="495300" cy="285750"/>
            </a:xfrm>
            <a:prstGeom prst="roundRect">
              <a:avLst>
                <a:gd name="adj" fmla="val 20000"/>
              </a:avLst>
            </a:prstGeom>
            <a:solidFill>
              <a:srgbClr val="1C374F"/>
            </a:solidFill>
            <a:ln w="14288">
              <a:solidFill>
                <a:schemeClr val="accent1"/>
              </a:solidFill>
            </a:ln>
          </p:spPr>
        </p:sp>
        <p:sp>
          <p:nvSpPr>
            <p:cNvPr id="31" name="TextBox 31"/>
            <p:cNvSpPr txBox="1"/>
            <p:nvPr/>
          </p:nvSpPr>
          <p:spPr>
            <a:xfrm>
              <a:off x="7498638" y="3307556"/>
              <a:ext cx="185574"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64</a:t>
              </a:r>
            </a:p>
          </p:txBody>
        </p:sp>
        <p:sp>
          <p:nvSpPr>
            <p:cNvPr id="32" name="Line 32"/>
            <p:cNvSpPr/>
            <p:nvPr/>
          </p:nvSpPr>
          <p:spPr>
            <a:xfrm>
              <a:off x="7839075" y="3381375"/>
              <a:ext cx="381000" cy="9525"/>
            </a:xfrm>
            <a:custGeom>
              <a:avLst/>
              <a:gdLst/>
              <a:ahLst/>
              <a:cxnLst/>
              <a:rect l="l" t="t" r="r" b="b"/>
              <a:pathLst>
                <a:path w="381000" h="9525">
                  <a:moveTo>
                    <a:pt x="0" y="0"/>
                  </a:moveTo>
                  <a:lnTo>
                    <a:pt x="381000" y="0"/>
                  </a:lnTo>
                </a:path>
              </a:pathLst>
            </a:custGeom>
            <a:noFill/>
            <a:ln w="14288">
              <a:solidFill>
                <a:srgbClr val="5F7A93"/>
              </a:solidFill>
            </a:ln>
          </p:spPr>
        </p:sp>
        <p:sp>
          <p:nvSpPr>
            <p:cNvPr id="33" name="Polygon 33"/>
            <p:cNvSpPr/>
            <p:nvPr/>
          </p:nvSpPr>
          <p:spPr>
            <a:xfrm>
              <a:off x="8153400" y="3343275"/>
              <a:ext cx="66675" cy="76200"/>
            </a:xfrm>
            <a:custGeom>
              <a:avLst/>
              <a:gdLst/>
              <a:ahLst/>
              <a:cxnLst/>
              <a:rect l="l" t="t" r="r" b="b"/>
              <a:pathLst>
                <a:path w="66675" h="76200">
                  <a:moveTo>
                    <a:pt x="66675" y="38100"/>
                  </a:moveTo>
                  <a:lnTo>
                    <a:pt x="0" y="0"/>
                  </a:lnTo>
                  <a:lnTo>
                    <a:pt x="0" y="76200"/>
                  </a:lnTo>
                  <a:close/>
                </a:path>
              </a:pathLst>
            </a:custGeom>
            <a:solidFill>
              <a:srgbClr val="5F7A93"/>
            </a:solidFill>
            <a:ln>
              <a:noFill/>
            </a:ln>
          </p:spPr>
        </p:sp>
        <p:sp>
          <p:nvSpPr>
            <p:cNvPr id="34" name="Rectangle 34"/>
            <p:cNvSpPr/>
            <p:nvPr/>
          </p:nvSpPr>
          <p:spPr>
            <a:xfrm>
              <a:off x="8220075" y="3238500"/>
              <a:ext cx="495300" cy="285750"/>
            </a:xfrm>
            <a:prstGeom prst="roundRect">
              <a:avLst>
                <a:gd name="adj" fmla="val 20000"/>
              </a:avLst>
            </a:prstGeom>
            <a:solidFill>
              <a:srgbClr val="1C374F"/>
            </a:solidFill>
            <a:ln w="14288">
              <a:solidFill>
                <a:schemeClr val="accent1"/>
              </a:solidFill>
            </a:ln>
          </p:spPr>
        </p:sp>
        <p:sp>
          <p:nvSpPr>
            <p:cNvPr id="35" name="TextBox 35"/>
            <p:cNvSpPr txBox="1"/>
            <p:nvPr/>
          </p:nvSpPr>
          <p:spPr>
            <a:xfrm>
              <a:off x="8374938" y="3307556"/>
              <a:ext cx="185574"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64</a:t>
              </a:r>
            </a:p>
          </p:txBody>
        </p:sp>
        <p:sp>
          <p:nvSpPr>
            <p:cNvPr id="36" name="Line 36"/>
            <p:cNvSpPr/>
            <p:nvPr/>
          </p:nvSpPr>
          <p:spPr>
            <a:xfrm>
              <a:off x="8715375" y="3381375"/>
              <a:ext cx="381000" cy="9525"/>
            </a:xfrm>
            <a:custGeom>
              <a:avLst/>
              <a:gdLst/>
              <a:ahLst/>
              <a:cxnLst/>
              <a:rect l="l" t="t" r="r" b="b"/>
              <a:pathLst>
                <a:path w="381000" h="9525">
                  <a:moveTo>
                    <a:pt x="0" y="0"/>
                  </a:moveTo>
                  <a:lnTo>
                    <a:pt x="381000" y="0"/>
                  </a:lnTo>
                </a:path>
              </a:pathLst>
            </a:custGeom>
            <a:noFill/>
            <a:ln w="14288">
              <a:solidFill>
                <a:srgbClr val="5F7A93"/>
              </a:solidFill>
            </a:ln>
          </p:spPr>
        </p:sp>
        <p:sp>
          <p:nvSpPr>
            <p:cNvPr id="37" name="Polygon 37"/>
            <p:cNvSpPr/>
            <p:nvPr/>
          </p:nvSpPr>
          <p:spPr>
            <a:xfrm>
              <a:off x="9029700" y="3343275"/>
              <a:ext cx="66675" cy="76200"/>
            </a:xfrm>
            <a:custGeom>
              <a:avLst/>
              <a:gdLst/>
              <a:ahLst/>
              <a:cxnLst/>
              <a:rect l="l" t="t" r="r" b="b"/>
              <a:pathLst>
                <a:path w="66675" h="76200">
                  <a:moveTo>
                    <a:pt x="66675" y="38100"/>
                  </a:moveTo>
                  <a:lnTo>
                    <a:pt x="0" y="0"/>
                  </a:lnTo>
                  <a:lnTo>
                    <a:pt x="0" y="76200"/>
                  </a:lnTo>
                  <a:close/>
                </a:path>
              </a:pathLst>
            </a:custGeom>
            <a:solidFill>
              <a:srgbClr val="5F7A93"/>
            </a:solidFill>
            <a:ln>
              <a:noFill/>
            </a:ln>
          </p:spPr>
        </p:sp>
        <p:sp>
          <p:nvSpPr>
            <p:cNvPr id="38" name="Rectangle 38"/>
            <p:cNvSpPr/>
            <p:nvPr/>
          </p:nvSpPr>
          <p:spPr>
            <a:xfrm>
              <a:off x="9096375" y="3238500"/>
              <a:ext cx="495300" cy="285750"/>
            </a:xfrm>
            <a:prstGeom prst="roundRect">
              <a:avLst>
                <a:gd name="adj" fmla="val 20000"/>
              </a:avLst>
            </a:prstGeom>
            <a:solidFill>
              <a:srgbClr val="1C374F"/>
            </a:solidFill>
            <a:ln w="14288">
              <a:solidFill>
                <a:schemeClr val="accent2"/>
              </a:solidFill>
            </a:ln>
          </p:spPr>
        </p:sp>
        <p:sp>
          <p:nvSpPr>
            <p:cNvPr id="39" name="TextBox 39"/>
            <p:cNvSpPr txBox="1"/>
            <p:nvPr/>
          </p:nvSpPr>
          <p:spPr>
            <a:xfrm>
              <a:off x="9294774" y="3307556"/>
              <a:ext cx="98502"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1</a:t>
              </a:r>
            </a:p>
          </p:txBody>
        </p:sp>
      </p:grpSp>
      <p:grpSp>
        <p:nvGrpSpPr>
          <p:cNvPr id="53" name="Group 53"/>
          <p:cNvGrpSpPr/>
          <p:nvPr/>
        </p:nvGrpSpPr>
        <p:grpSpPr>
          <a:xfrm>
            <a:off x="609600" y="4095750"/>
            <a:ext cx="5362575" cy="2419350"/>
            <a:chOff x="609600" y="4095750"/>
            <a:chExt cx="5362575" cy="2419350"/>
          </a:xfrm>
        </p:grpSpPr>
        <p:sp>
          <p:nvSpPr>
            <p:cNvPr id="41" name="Rectangle 41"/>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42" name="Rectangle 42"/>
            <p:cNvSpPr/>
            <p:nvPr/>
          </p:nvSpPr>
          <p:spPr>
            <a:xfrm>
              <a:off x="609600" y="4267200"/>
              <a:ext cx="47625" cy="2076450"/>
            </a:xfrm>
            <a:prstGeom prst="roundRect">
              <a:avLst>
                <a:gd name="adj" fmla="val 50000"/>
              </a:avLst>
            </a:prstGeom>
            <a:solidFill>
              <a:schemeClr val="accent2"/>
            </a:solidFill>
            <a:ln>
              <a:noFill/>
            </a:ln>
          </p:spPr>
        </p:sp>
        <p:sp>
          <p:nvSpPr>
            <p:cNvPr id="43" name="Ellipse 43"/>
            <p:cNvSpPr/>
            <p:nvPr/>
          </p:nvSpPr>
          <p:spPr>
            <a:xfrm>
              <a:off x="819150" y="4305300"/>
              <a:ext cx="381000" cy="381000"/>
            </a:xfrm>
            <a:prstGeom prst="ellipse">
              <a:avLst/>
            </a:prstGeom>
            <a:noFill/>
            <a:ln w="19050">
              <a:solidFill>
                <a:schemeClr val="accent2"/>
              </a:solidFill>
            </a:ln>
          </p:spPr>
        </p:sp>
        <p:sp>
          <p:nvSpPr>
            <p:cNvPr id="44" name="TextBox 44"/>
            <p:cNvSpPr txBox="1"/>
            <p:nvPr/>
          </p:nvSpPr>
          <p:spPr>
            <a:xfrm>
              <a:off x="937130" y="4384358"/>
              <a:ext cx="145040"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3</a:t>
              </a:r>
            </a:p>
          </p:txBody>
        </p:sp>
        <p:sp>
          <p:nvSpPr>
            <p:cNvPr id="45" name="TextBox 45"/>
            <p:cNvSpPr txBox="1"/>
            <p:nvPr/>
          </p:nvSpPr>
          <p:spPr>
            <a:xfrm>
              <a:off x="1347597" y="4333399"/>
              <a:ext cx="147221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SEMI-SUPERVISED</a:t>
              </a:r>
            </a:p>
          </p:txBody>
        </p:sp>
        <p:sp>
          <p:nvSpPr>
            <p:cNvPr id="46" name="TextBox 46"/>
            <p:cNvSpPr txBox="1"/>
            <p:nvPr/>
          </p:nvSpPr>
          <p:spPr>
            <a:xfrm>
              <a:off x="1346644" y="4560808"/>
              <a:ext cx="3327451"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 supervised error on labeled points plus an</a:t>
              </a:r>
            </a:p>
          </p:txBody>
        </p:sp>
        <p:sp>
          <p:nvSpPr>
            <p:cNvPr id="47" name="TextBox 47"/>
            <p:cNvSpPr txBox="1"/>
            <p:nvPr/>
          </p:nvSpPr>
          <p:spPr>
            <a:xfrm>
              <a:off x="1346644" y="4779883"/>
              <a:ext cx="325992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unsupervised consistency loss that forces</a:t>
              </a:r>
            </a:p>
          </p:txBody>
        </p:sp>
        <p:sp>
          <p:nvSpPr>
            <p:cNvPr id="48" name="TextBox 48"/>
            <p:cNvSpPr txBox="1"/>
            <p:nvPr/>
          </p:nvSpPr>
          <p:spPr>
            <a:xfrm>
              <a:off x="1346644" y="4998958"/>
              <a:ext cx="311937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agreement between 10% and 30% feature</a:t>
              </a:r>
            </a:p>
          </p:txBody>
        </p:sp>
        <p:sp>
          <p:nvSpPr>
            <p:cNvPr id="49" name="TextBox 49"/>
            <p:cNvSpPr txBox="1"/>
            <p:nvPr/>
          </p:nvSpPr>
          <p:spPr>
            <a:xfrm>
              <a:off x="1346644" y="5218033"/>
              <a:ext cx="69110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masking.</a:t>
              </a:r>
            </a:p>
          </p:txBody>
        </p:sp>
        <p:sp>
          <p:nvSpPr>
            <p:cNvPr id="50" name="Rectangle 50"/>
            <p:cNvSpPr/>
            <p:nvPr/>
          </p:nvSpPr>
          <p:spPr>
            <a:xfrm>
              <a:off x="857250" y="5791200"/>
              <a:ext cx="4867275" cy="495300"/>
            </a:xfrm>
            <a:prstGeom prst="roundRect">
              <a:avLst>
                <a:gd name="adj" fmla="val 15385"/>
              </a:avLst>
            </a:prstGeom>
            <a:solidFill>
              <a:srgbClr val="1C374F"/>
            </a:solidFill>
            <a:ln w="9525">
              <a:solidFill>
                <a:schemeClr val="accent4"/>
              </a:solidFill>
            </a:ln>
          </p:spPr>
        </p:sp>
        <p:sp>
          <p:nvSpPr>
            <p:cNvPr id="51" name="TextBox 51"/>
            <p:cNvSpPr txBox="1"/>
            <p:nvPr/>
          </p:nvSpPr>
          <p:spPr>
            <a:xfrm>
              <a:off x="1002030" y="5934075"/>
              <a:ext cx="177035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L = w * L_u + L_s</a:t>
              </a:r>
            </a:p>
          </p:txBody>
        </p:sp>
        <p:sp>
          <p:nvSpPr>
            <p:cNvPr id="52" name="TextBox 52"/>
            <p:cNvSpPr txBox="1"/>
            <p:nvPr/>
          </p:nvSpPr>
          <p:spPr>
            <a:xfrm>
              <a:off x="4167729" y="5970270"/>
              <a:ext cx="1561559" cy="176212"/>
            </a:xfrm>
            <a:prstGeom prst="rect">
              <a:avLst/>
            </a:prstGeom>
            <a:noFill/>
            <a:ln>
              <a:noFill/>
            </a:ln>
          </p:spPr>
          <p:txBody>
            <a:bodyPr wrap="none" lIns="0" tIns="0" rIns="0" bIns="0" anchor="t" anchorCtr="0">
              <a:spAutoFit/>
            </a:bodyPr>
            <a:lstStyle/>
            <a:p>
              <a:pPr algn="r"/>
              <a:r>
                <a:rPr lang="en-US" sz="900" b="1" dirty="0">
                  <a:solidFill>
                    <a:srgbClr val="5F7A93"/>
                  </a:solidFill>
                  <a:latin typeface="+mn-lt"/>
                  <a:ea typeface="+mn-ea"/>
                  <a:cs typeface="+mn-cs"/>
                </a:rPr>
                <a:t>supervised + consistency</a:t>
              </a:r>
            </a:p>
          </p:txBody>
        </p:sp>
      </p:grpSp>
      <p:grpSp>
        <p:nvGrpSpPr>
          <p:cNvPr id="61" name="Group 61"/>
          <p:cNvGrpSpPr/>
          <p:nvPr/>
        </p:nvGrpSpPr>
        <p:grpSpPr>
          <a:xfrm>
            <a:off x="6219825" y="4095750"/>
            <a:ext cx="5362575" cy="2419350"/>
            <a:chOff x="6219825" y="4095750"/>
            <a:chExt cx="5362575" cy="2419350"/>
          </a:xfrm>
        </p:grpSpPr>
        <p:sp>
          <p:nvSpPr>
            <p:cNvPr id="54" name="Rectangle 54"/>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55" name="Rectangle 55"/>
            <p:cNvSpPr/>
            <p:nvPr/>
          </p:nvSpPr>
          <p:spPr>
            <a:xfrm>
              <a:off x="6219825" y="4267200"/>
              <a:ext cx="47625" cy="2076450"/>
            </a:xfrm>
            <a:prstGeom prst="roundRect">
              <a:avLst>
                <a:gd name="adj" fmla="val 50000"/>
              </a:avLst>
            </a:prstGeom>
            <a:solidFill>
              <a:srgbClr val="FBBF24"/>
            </a:solidFill>
            <a:ln>
              <a:noFill/>
            </a:ln>
          </p:spPr>
        </p:sp>
        <p:sp>
          <p:nvSpPr>
            <p:cNvPr id="56" name="Ellipse 56"/>
            <p:cNvSpPr/>
            <p:nvPr/>
          </p:nvSpPr>
          <p:spPr>
            <a:xfrm>
              <a:off x="6429375" y="4305300"/>
              <a:ext cx="381000" cy="381000"/>
            </a:xfrm>
            <a:prstGeom prst="ellipse">
              <a:avLst/>
            </a:prstGeom>
            <a:noFill/>
            <a:ln w="19050">
              <a:solidFill>
                <a:srgbClr val="FBBF24"/>
              </a:solidFill>
            </a:ln>
          </p:spPr>
        </p:sp>
        <p:sp>
          <p:nvSpPr>
            <p:cNvPr id="57" name="TextBox 57"/>
            <p:cNvSpPr txBox="1"/>
            <p:nvPr/>
          </p:nvSpPr>
          <p:spPr>
            <a:xfrm>
              <a:off x="6547355" y="4384358"/>
              <a:ext cx="145040" cy="322707"/>
            </a:xfrm>
            <a:prstGeom prst="rect">
              <a:avLst/>
            </a:prstGeom>
            <a:noFill/>
            <a:ln>
              <a:noFill/>
            </a:ln>
          </p:spPr>
          <p:txBody>
            <a:bodyPr wrap="none" lIns="0" tIns="0" rIns="0" bIns="0" anchor="t" anchorCtr="0">
              <a:spAutoFit/>
            </a:bodyPr>
            <a:lstStyle/>
            <a:p>
              <a:pPr algn="ctr"/>
              <a:r>
                <a:rPr lang="en-US" sz="1650" b="1" dirty="0">
                  <a:solidFill>
                    <a:srgbClr val="FBBF24"/>
                  </a:solidFill>
                  <a:latin typeface="+mn-lt"/>
                  <a:ea typeface="+mn-ea"/>
                  <a:cs typeface="+mn-cs"/>
                </a:rPr>
                <a:t>4</a:t>
              </a:r>
            </a:p>
          </p:txBody>
        </p:sp>
        <p:sp>
          <p:nvSpPr>
            <p:cNvPr id="58" name="TextBox 58"/>
            <p:cNvSpPr txBox="1"/>
            <p:nvPr/>
          </p:nvSpPr>
          <p:spPr>
            <a:xfrm>
              <a:off x="6957822" y="4333399"/>
              <a:ext cx="1130729"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MORE STABLE</a:t>
              </a:r>
            </a:p>
          </p:txBody>
        </p:sp>
        <p:sp>
          <p:nvSpPr>
            <p:cNvPr id="59" name="TextBox 59"/>
            <p:cNvSpPr txBox="1"/>
            <p:nvPr/>
          </p:nvSpPr>
          <p:spPr>
            <a:xfrm>
              <a:off x="6956870" y="4560808"/>
              <a:ext cx="3187120"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Combining the two losses makes the model</a:t>
              </a:r>
            </a:p>
          </p:txBody>
        </p:sp>
        <p:sp>
          <p:nvSpPr>
            <p:cNvPr id="60" name="TextBox 60"/>
            <p:cNvSpPr txBox="1"/>
            <p:nvPr/>
          </p:nvSpPr>
          <p:spPr>
            <a:xfrm>
              <a:off x="6956870" y="4779883"/>
              <a:ext cx="172175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markedly more stable.</a:t>
              </a:r>
            </a:p>
          </p:txBody>
        </p:sp>
      </p:grpSp>
      <p:sp>
        <p:nvSpPr>
          <p:cNvPr id="62" name="cue_s05_c1_method_treats_biogeochemical_product" title="cue_s05_c1_method_treats_biogeochemical_product" descr="cue_s05_c1_method_treats_biogeochemical_product The method treats each biogeochemical model or data product as a target that a neural network learns to reproduce from observable predictors: year, month, latitude, longitude, and nine environmental variables like sea-surface temperature, salinity, chlorophyll"/>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2_global_grids_cut_small_eighteen_by_e" title="cue_s05_c2_global_grids_cut_small_eighteen_by_e" descr="cue_s05_c2_global_grids_cut_small_eighteen_by_e Global grids are cut into small eighteen-by-eighteen patches and fed through stacked convolutional and linear layers."/>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5_c3_clever_part_semi_supervised_learning" title="cue_s05_c3_clever_part_semi_supervised_learning" descr="cue_s05_c3_clever_part_semi_supervised_learning The clever part is semi-supervised learning: alongside a standard supervised error on labeled points, the model adds an unsupervised consistency loss that forces its predictions to agree when ten percent versus thirty percent of the input features are masked."/>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5_c4_combining_two_losses_makes_markedly" title="cue_s05_c4_combining_two_losses_makes_markedly" descr="cue_s05_c4_combining_two_losses_makes_markedly Combining the two losses makes the model markedly more stable."/>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242808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DATASET AND BENCHMARK</a:t>
            </a:r>
          </a:p>
        </p:txBody>
      </p:sp>
      <p:sp>
        <p:nvSpPr>
          <p:cNvPr id="5" name="TextBox 5"/>
          <p:cNvSpPr txBox="1"/>
          <p:nvPr/>
        </p:nvSpPr>
        <p:spPr>
          <a:xfrm>
            <a:off x="596646" y="715328"/>
            <a:ext cx="759018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Monthly gridded maps, updating 18 sources</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06 / 10</a:t>
            </a:r>
          </a:p>
        </p:txBody>
      </p:sp>
      <p:grpSp>
        <p:nvGrpSpPr>
          <p:cNvPr id="16" name="Group 16"/>
          <p:cNvGrpSpPr/>
          <p:nvPr/>
        </p:nvGrpSpPr>
        <p:grpSpPr>
          <a:xfrm>
            <a:off x="609600" y="1428750"/>
            <a:ext cx="5362575" cy="5086350"/>
            <a:chOff x="609600" y="1428750"/>
            <a:chExt cx="5362575" cy="5086350"/>
          </a:xfrm>
        </p:grpSpPr>
        <p:sp>
          <p:nvSpPr>
            <p:cNvPr id="7" name="Rectangle 7"/>
            <p:cNvSpPr/>
            <p:nvPr/>
          </p:nvSpPr>
          <p:spPr>
            <a:xfrm>
              <a:off x="609600" y="1428750"/>
              <a:ext cx="5362575" cy="5086350"/>
            </a:xfrm>
            <a:prstGeom prst="roundRect">
              <a:avLst>
                <a:gd name="adj" fmla="val 2996"/>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1"/>
            </a:solidFill>
            <a:ln>
              <a:noFill/>
            </a:ln>
          </p:spPr>
        </p:sp>
        <p:sp>
          <p:nvSpPr>
            <p:cNvPr id="9" name="TextBox 9"/>
            <p:cNvSpPr txBox="1"/>
            <p:nvPr/>
          </p:nvSpPr>
          <p:spPr>
            <a:xfrm>
              <a:off x="852297" y="1704499"/>
              <a:ext cx="1101456"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PRODUCT</a:t>
              </a:r>
            </a:p>
          </p:txBody>
        </p:sp>
        <p:sp>
          <p:nvSpPr>
            <p:cNvPr id="10" name="TextBox 10"/>
            <p:cNvSpPr txBox="1"/>
            <p:nvPr/>
          </p:nvSpPr>
          <p:spPr>
            <a:xfrm>
              <a:off x="839724" y="1913572"/>
              <a:ext cx="1351737"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18 mo</a:t>
              </a:r>
            </a:p>
          </p:txBody>
        </p:sp>
        <p:sp>
          <p:nvSpPr>
            <p:cNvPr id="11" name="TextBox 11"/>
            <p:cNvSpPr txBox="1"/>
            <p:nvPr/>
          </p:nvSpPr>
          <p:spPr>
            <a:xfrm>
              <a:off x="851916" y="2420302"/>
              <a:ext cx="286750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Jan 2022 to Jul 2023, monthly &amp; gridded</a:t>
              </a:r>
            </a:p>
          </p:txBody>
        </p:sp>
        <p:sp>
          <p:nvSpPr>
            <p:cNvPr id="12" name="TextBox 12"/>
            <p:cNvSpPr txBox="1"/>
            <p:nvPr/>
          </p:nvSpPr>
          <p:spPr>
            <a:xfrm>
              <a:off x="851344" y="2636758"/>
              <a:ext cx="357289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Global surface-ocean CO2 fugacity and air-sea</a:t>
              </a:r>
            </a:p>
          </p:txBody>
        </p:sp>
        <p:sp>
          <p:nvSpPr>
            <p:cNvPr id="13" name="TextBox 13"/>
            <p:cNvSpPr txBox="1"/>
            <p:nvPr/>
          </p:nvSpPr>
          <p:spPr>
            <a:xfrm>
              <a:off x="851344" y="2846308"/>
              <a:ext cx="309595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flux, built by updating 10 biogeochemical</a:t>
              </a:r>
            </a:p>
          </p:txBody>
        </p:sp>
        <p:sp>
          <p:nvSpPr>
            <p:cNvPr id="14" name="TextBox 14"/>
            <p:cNvSpPr txBox="1"/>
            <p:nvPr/>
          </p:nvSpPr>
          <p:spPr>
            <a:xfrm>
              <a:off x="851344" y="3055858"/>
              <a:ext cx="309358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models and 8 data products of the Global</a:t>
              </a:r>
            </a:p>
          </p:txBody>
        </p:sp>
        <p:sp>
          <p:nvSpPr>
            <p:cNvPr id="15" name="TextBox 15"/>
            <p:cNvSpPr txBox="1"/>
            <p:nvPr/>
          </p:nvSpPr>
          <p:spPr>
            <a:xfrm>
              <a:off x="851344" y="3265408"/>
              <a:ext cx="158025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Carbon Budget 2022.</a:t>
              </a:r>
            </a:p>
          </p:txBody>
        </p:sp>
      </p:grpSp>
      <p:grpSp>
        <p:nvGrpSpPr>
          <p:cNvPr id="24" name="Group 24"/>
          <p:cNvGrpSpPr/>
          <p:nvPr/>
        </p:nvGrpSpPr>
        <p:grpSpPr>
          <a:xfrm>
            <a:off x="6219825" y="1428750"/>
            <a:ext cx="5362575" cy="5086350"/>
            <a:chOff x="6219825" y="1428750"/>
            <a:chExt cx="5362575" cy="5086350"/>
          </a:xfrm>
        </p:grpSpPr>
        <p:sp>
          <p:nvSpPr>
            <p:cNvPr id="17" name="Rectangle 17"/>
            <p:cNvSpPr/>
            <p:nvPr/>
          </p:nvSpPr>
          <p:spPr>
            <a:xfrm>
              <a:off x="6219825" y="1428750"/>
              <a:ext cx="5362575" cy="5086350"/>
            </a:xfrm>
            <a:prstGeom prst="roundRect">
              <a:avLst>
                <a:gd name="adj" fmla="val 2996"/>
              </a:avLst>
            </a:prstGeom>
            <a:solidFill>
              <a:schemeClr val="lt2"/>
            </a:solidFill>
            <a:ln w="9525">
              <a:solidFill>
                <a:schemeClr val="accent4"/>
              </a:solidFill>
            </a:ln>
          </p:spPr>
        </p:sp>
        <p:sp>
          <p:nvSpPr>
            <p:cNvPr id="18" name="Rectangle 18"/>
            <p:cNvSpPr/>
            <p:nvPr/>
          </p:nvSpPr>
          <p:spPr>
            <a:xfrm>
              <a:off x="6219825" y="1600200"/>
              <a:ext cx="47625" cy="4743450"/>
            </a:xfrm>
            <a:prstGeom prst="roundRect">
              <a:avLst>
                <a:gd name="adj" fmla="val 50000"/>
              </a:avLst>
            </a:prstGeom>
            <a:solidFill>
              <a:schemeClr val="accent2"/>
            </a:solidFill>
            <a:ln>
              <a:noFill/>
            </a:ln>
          </p:spPr>
        </p:sp>
        <p:sp>
          <p:nvSpPr>
            <p:cNvPr id="19" name="TextBox 19"/>
            <p:cNvSpPr txBox="1"/>
            <p:nvPr/>
          </p:nvSpPr>
          <p:spPr>
            <a:xfrm>
              <a:off x="6462522" y="1704499"/>
              <a:ext cx="933755"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INPUTS</a:t>
              </a:r>
            </a:p>
          </p:txBody>
        </p:sp>
        <p:sp>
          <p:nvSpPr>
            <p:cNvPr id="20" name="TextBox 20"/>
            <p:cNvSpPr txBox="1"/>
            <p:nvPr/>
          </p:nvSpPr>
          <p:spPr>
            <a:xfrm>
              <a:off x="6461570" y="2008108"/>
              <a:ext cx="262459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Satellite and reanalysis products:</a:t>
              </a:r>
            </a:p>
          </p:txBody>
        </p:sp>
        <p:sp>
          <p:nvSpPr>
            <p:cNvPr id="21" name="TextBox 21"/>
            <p:cNvSpPr txBox="1"/>
            <p:nvPr/>
          </p:nvSpPr>
          <p:spPr>
            <a:xfrm>
              <a:off x="6461570" y="2217658"/>
              <a:ext cx="368155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chlorophyll, sea-surface temperature, sea ice,</a:t>
              </a:r>
            </a:p>
          </p:txBody>
        </p:sp>
        <p:sp>
          <p:nvSpPr>
            <p:cNvPr id="22" name="TextBox 22"/>
            <p:cNvSpPr txBox="1"/>
            <p:nvPr/>
          </p:nvSpPr>
          <p:spPr>
            <a:xfrm>
              <a:off x="6461570" y="2427208"/>
              <a:ext cx="316622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mixed-layer depth, salinity, sea-surface</a:t>
              </a:r>
            </a:p>
          </p:txBody>
        </p:sp>
        <p:sp>
          <p:nvSpPr>
            <p:cNvPr id="23" name="TextBox 23"/>
            <p:cNvSpPr txBox="1"/>
            <p:nvPr/>
          </p:nvSpPr>
          <p:spPr>
            <a:xfrm>
              <a:off x="6461570" y="2636758"/>
              <a:ext cx="208092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height, pressure and wind.</a:t>
              </a:r>
            </a:p>
          </p:txBody>
        </p:sp>
      </p:grpSp>
      <p:sp>
        <p:nvSpPr>
          <p:cNvPr id="25" name="cue_s06_c1_resulting_dataset_delivers_monthly_g" title="cue_s06_c1_resulting_dataset_delivers_monthly_g" descr="cue_s06_c1_resulting_dataset_delivers_monthly_g The resulting dataset delivers monthly, gridded maps of global surface-ocean carbon dioxide fugacity and air-sea flux, spanning January 2022 through July 2023, built by updating the ten ocean biogeochemical models and eight data products of the Global Carbon B"/>
          <p:cNvSpPr/>
          <p:nvPr/>
        </p:nvSpPr>
        <p:spPr>
          <a:xfrm>
            <a:off x="609600"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06_c2_its_inputs_draw_satellite_reanalysis" title="cue_s06_c2_its_inputs_draw_satellite_reanalysis" descr="cue_s06_c2_its_inputs_draw_satellite_reanalysis Its inputs draw on satellite and reanalysis products for chlorophyll, temperature, sea ice, mixed-layer depth, salinity, sea-surface height, pressure and wind, and the whole dataset is published openly on Figshare and refreshed on the project website."/>
          <p:cNvSpPr/>
          <p:nvPr/>
        </p:nvSpPr>
        <p:spPr>
          <a:xfrm>
            <a:off x="6220358"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13029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KEY RESULT</a:t>
            </a:r>
          </a:p>
        </p:txBody>
      </p:sp>
      <p:sp>
        <p:nvSpPr>
          <p:cNvPr id="5" name="TextBox 5"/>
          <p:cNvSpPr txBox="1"/>
          <p:nvPr/>
        </p:nvSpPr>
        <p:spPr>
          <a:xfrm>
            <a:off x="596646" y="715328"/>
            <a:ext cx="728164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Predictions track the originals faithfully</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07 / 10</a:t>
            </a:r>
          </a:p>
        </p:txBody>
      </p:sp>
      <p:grpSp>
        <p:nvGrpSpPr>
          <p:cNvPr id="14" name="Group 14"/>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1305129"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HELD-OUT TEST</a:t>
              </a:r>
            </a:p>
          </p:txBody>
        </p:sp>
        <p:sp>
          <p:nvSpPr>
            <p:cNvPr id="10" name="TextBox 10"/>
            <p:cNvSpPr txBox="1"/>
            <p:nvPr/>
          </p:nvSpPr>
          <p:spPr>
            <a:xfrm>
              <a:off x="851344" y="2008108"/>
              <a:ext cx="320292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authors held out the most recent two</a:t>
              </a:r>
            </a:p>
          </p:txBody>
        </p:sp>
        <p:sp>
          <p:nvSpPr>
            <p:cNvPr id="11" name="TextBox 11"/>
            <p:cNvSpPr txBox="1"/>
            <p:nvPr/>
          </p:nvSpPr>
          <p:spPr>
            <a:xfrm>
              <a:off x="851344" y="2217658"/>
              <a:ext cx="264309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years of every model and product,</a:t>
              </a:r>
            </a:p>
          </p:txBody>
        </p:sp>
        <p:sp>
          <p:nvSpPr>
            <p:cNvPr id="12" name="TextBox 12"/>
            <p:cNvSpPr txBox="1"/>
            <p:nvPr/>
          </p:nvSpPr>
          <p:spPr>
            <a:xfrm>
              <a:off x="851344" y="2427208"/>
              <a:ext cx="301006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trained on earlier data, then predicted</a:t>
              </a:r>
            </a:p>
          </p:txBody>
        </p:sp>
        <p:sp>
          <p:nvSpPr>
            <p:cNvPr id="13" name="TextBox 13"/>
            <p:cNvSpPr txBox="1"/>
            <p:nvPr/>
          </p:nvSpPr>
          <p:spPr>
            <a:xfrm>
              <a:off x="851344" y="2636758"/>
              <a:ext cx="156559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withheld period.</a:t>
              </a:r>
            </a:p>
          </p:txBody>
        </p:sp>
      </p:grpSp>
      <p:grpSp>
        <p:nvGrpSpPr>
          <p:cNvPr id="34" name="Group 34"/>
          <p:cNvGrpSpPr/>
          <p:nvPr/>
        </p:nvGrpSpPr>
        <p:grpSpPr>
          <a:xfrm>
            <a:off x="6219825" y="1428750"/>
            <a:ext cx="5362575" cy="2419350"/>
            <a:chOff x="6219825" y="1428750"/>
            <a:chExt cx="5362575" cy="2419350"/>
          </a:xfrm>
        </p:grpSpPr>
        <p:sp>
          <p:nvSpPr>
            <p:cNvPr id="15" name="Rectangle 15"/>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6" name="Rectangle 16"/>
            <p:cNvSpPr/>
            <p:nvPr/>
          </p:nvSpPr>
          <p:spPr>
            <a:xfrm>
              <a:off x="6219825" y="1600200"/>
              <a:ext cx="47625" cy="2076450"/>
            </a:xfrm>
            <a:prstGeom prst="roundRect">
              <a:avLst>
                <a:gd name="adj" fmla="val 50000"/>
              </a:avLst>
            </a:prstGeom>
            <a:solidFill>
              <a:schemeClr val="accent2"/>
            </a:solidFill>
            <a:ln>
              <a:noFill/>
            </a:ln>
          </p:spPr>
        </p:sp>
        <p:sp>
          <p:nvSpPr>
            <p:cNvPr id="17" name="TextBox 17"/>
            <p:cNvSpPr txBox="1"/>
            <p:nvPr/>
          </p:nvSpPr>
          <p:spPr>
            <a:xfrm>
              <a:off x="6462522" y="1704499"/>
              <a:ext cx="1639912"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STRONG AGREEMENT</a:t>
              </a:r>
            </a:p>
          </p:txBody>
        </p:sp>
        <p:sp>
          <p:nvSpPr>
            <p:cNvPr id="18" name="TextBox 18"/>
            <p:cNvSpPr txBox="1"/>
            <p:nvPr/>
          </p:nvSpPr>
          <p:spPr>
            <a:xfrm>
              <a:off x="6461570" y="2008108"/>
              <a:ext cx="316456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For most of the 10 models and 8 products</a:t>
              </a:r>
            </a:p>
          </p:txBody>
        </p:sp>
        <p:sp>
          <p:nvSpPr>
            <p:cNvPr id="19" name="TextBox 19"/>
            <p:cNvSpPr txBox="1"/>
            <p:nvPr/>
          </p:nvSpPr>
          <p:spPr>
            <a:xfrm>
              <a:off x="6461570" y="2217658"/>
              <a:ext cx="283563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correlation exceeds R squared of</a:t>
              </a:r>
            </a:p>
          </p:txBody>
        </p:sp>
        <p:sp>
          <p:nvSpPr>
            <p:cNvPr id="20" name="TextBox 20"/>
            <p:cNvSpPr txBox="1"/>
            <p:nvPr/>
          </p:nvSpPr>
          <p:spPr>
            <a:xfrm>
              <a:off x="6461570" y="2427208"/>
              <a:ext cx="308814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0.9; global aggregates stay above 0.85.</a:t>
              </a:r>
            </a:p>
          </p:txBody>
        </p:sp>
        <p:sp>
          <p:nvSpPr>
            <p:cNvPr id="21" name="TextBox 21"/>
            <p:cNvSpPr txBox="1"/>
            <p:nvPr/>
          </p:nvSpPr>
          <p:spPr>
            <a:xfrm>
              <a:off x="6462712" y="2569845"/>
              <a:ext cx="2854674" cy="176212"/>
            </a:xfrm>
            <a:prstGeom prst="rect">
              <a:avLst/>
            </a:prstGeom>
            <a:noFill/>
            <a:ln>
              <a:noFill/>
            </a:ln>
          </p:spPr>
          <p:txBody>
            <a:bodyPr wrap="none" lIns="0" tIns="0" rIns="0" bIns="0" anchor="t" anchorCtr="0">
              <a:spAutoFit/>
            </a:bodyPr>
            <a:lstStyle/>
            <a:p>
              <a:pPr algn="l"/>
              <a:r>
                <a:rPr lang="en-US" sz="900" b="1" dirty="0">
                  <a:solidFill>
                    <a:srgbClr val="5F7A93"/>
                  </a:solidFill>
                  <a:latin typeface="+mn-lt"/>
                  <a:ea typeface="+mn-ea"/>
                  <a:cs typeface="+mn-cs"/>
                </a:rPr>
                <a:t>Prediction vs original correlation (R squared)</a:t>
              </a:r>
            </a:p>
          </p:txBody>
        </p:sp>
        <p:sp>
          <p:nvSpPr>
            <p:cNvPr id="22" name="TextBox 22"/>
            <p:cNvSpPr txBox="1"/>
            <p:nvPr/>
          </p:nvSpPr>
          <p:spPr>
            <a:xfrm>
              <a:off x="6461950" y="2784554"/>
              <a:ext cx="908934"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Best GOBMs</a:t>
              </a:r>
            </a:p>
          </p:txBody>
        </p:sp>
        <p:sp>
          <p:nvSpPr>
            <p:cNvPr id="23" name="Rectangle 23"/>
            <p:cNvSpPr/>
            <p:nvPr/>
          </p:nvSpPr>
          <p:spPr>
            <a:xfrm>
              <a:off x="7724775" y="2743200"/>
              <a:ext cx="2981325" cy="222250"/>
            </a:xfrm>
            <a:prstGeom prst="roundRect">
              <a:avLst>
                <a:gd name="adj" fmla="val 50000"/>
              </a:avLst>
            </a:prstGeom>
            <a:solidFill>
              <a:srgbClr val="1C374F"/>
            </a:solidFill>
            <a:ln>
              <a:noFill/>
            </a:ln>
          </p:spPr>
        </p:sp>
        <p:sp>
          <p:nvSpPr>
            <p:cNvPr id="24" name="Rectangle 24"/>
            <p:cNvSpPr/>
            <p:nvPr/>
          </p:nvSpPr>
          <p:spPr>
            <a:xfrm>
              <a:off x="7724775" y="2743200"/>
              <a:ext cx="2891790" cy="222250"/>
            </a:xfrm>
            <a:prstGeom prst="roundRect">
              <a:avLst>
                <a:gd name="adj" fmla="val 50000"/>
              </a:avLst>
            </a:prstGeom>
            <a:solidFill>
              <a:schemeClr val="accent2"/>
            </a:solidFill>
            <a:ln>
              <a:noFill/>
            </a:ln>
          </p:spPr>
        </p:sp>
        <p:sp>
          <p:nvSpPr>
            <p:cNvPr id="25" name="TextBox 25"/>
            <p:cNvSpPr txBox="1"/>
            <p:nvPr/>
          </p:nvSpPr>
          <p:spPr>
            <a:xfrm>
              <a:off x="10706005" y="2776458"/>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0.97</a:t>
              </a:r>
            </a:p>
          </p:txBody>
        </p:sp>
        <p:sp>
          <p:nvSpPr>
            <p:cNvPr id="26" name="TextBox 26"/>
            <p:cNvSpPr txBox="1"/>
            <p:nvPr/>
          </p:nvSpPr>
          <p:spPr>
            <a:xfrm>
              <a:off x="6461950" y="3121104"/>
              <a:ext cx="1025417"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Most sources</a:t>
              </a:r>
            </a:p>
          </p:txBody>
        </p:sp>
        <p:sp>
          <p:nvSpPr>
            <p:cNvPr id="27" name="Rectangle 27"/>
            <p:cNvSpPr/>
            <p:nvPr/>
          </p:nvSpPr>
          <p:spPr>
            <a:xfrm>
              <a:off x="7724775" y="3079750"/>
              <a:ext cx="2981325" cy="222250"/>
            </a:xfrm>
            <a:prstGeom prst="roundRect">
              <a:avLst>
                <a:gd name="adj" fmla="val 50000"/>
              </a:avLst>
            </a:prstGeom>
            <a:solidFill>
              <a:srgbClr val="1C374F"/>
            </a:solidFill>
            <a:ln>
              <a:noFill/>
            </a:ln>
          </p:spPr>
        </p:sp>
        <p:sp>
          <p:nvSpPr>
            <p:cNvPr id="28" name="Rectangle 28"/>
            <p:cNvSpPr/>
            <p:nvPr/>
          </p:nvSpPr>
          <p:spPr>
            <a:xfrm>
              <a:off x="7724775" y="3079750"/>
              <a:ext cx="2683192" cy="222250"/>
            </a:xfrm>
            <a:prstGeom prst="roundRect">
              <a:avLst>
                <a:gd name="adj" fmla="val 50000"/>
              </a:avLst>
            </a:prstGeom>
            <a:solidFill>
              <a:schemeClr val="accent1"/>
            </a:solidFill>
            <a:ln>
              <a:noFill/>
            </a:ln>
          </p:spPr>
        </p:sp>
        <p:sp>
          <p:nvSpPr>
            <p:cNvPr id="29" name="TextBox 29"/>
            <p:cNvSpPr txBox="1"/>
            <p:nvPr/>
          </p:nvSpPr>
          <p:spPr>
            <a:xfrm>
              <a:off x="10497312" y="3113008"/>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0.90</a:t>
              </a:r>
            </a:p>
          </p:txBody>
        </p:sp>
        <p:sp>
          <p:nvSpPr>
            <p:cNvPr id="30" name="TextBox 30"/>
            <p:cNvSpPr txBox="1"/>
            <p:nvPr/>
          </p:nvSpPr>
          <p:spPr>
            <a:xfrm>
              <a:off x="6461950" y="3457654"/>
              <a:ext cx="1256014"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Global aggregate</a:t>
              </a:r>
            </a:p>
          </p:txBody>
        </p:sp>
        <p:sp>
          <p:nvSpPr>
            <p:cNvPr id="31" name="Rectangle 31"/>
            <p:cNvSpPr/>
            <p:nvPr/>
          </p:nvSpPr>
          <p:spPr>
            <a:xfrm>
              <a:off x="7724775" y="3416300"/>
              <a:ext cx="2981325" cy="222250"/>
            </a:xfrm>
            <a:prstGeom prst="roundRect">
              <a:avLst>
                <a:gd name="adj" fmla="val 50000"/>
              </a:avLst>
            </a:prstGeom>
            <a:solidFill>
              <a:srgbClr val="1C374F"/>
            </a:solidFill>
            <a:ln>
              <a:noFill/>
            </a:ln>
          </p:spPr>
        </p:sp>
        <p:sp>
          <p:nvSpPr>
            <p:cNvPr id="32" name="Rectangle 32"/>
            <p:cNvSpPr/>
            <p:nvPr/>
          </p:nvSpPr>
          <p:spPr>
            <a:xfrm>
              <a:off x="7724775" y="3416300"/>
              <a:ext cx="2534602" cy="222250"/>
            </a:xfrm>
            <a:prstGeom prst="roundRect">
              <a:avLst>
                <a:gd name="adj" fmla="val 50000"/>
              </a:avLst>
            </a:prstGeom>
            <a:solidFill>
              <a:schemeClr val="accent1"/>
            </a:solidFill>
            <a:ln>
              <a:noFill/>
            </a:ln>
          </p:spPr>
        </p:sp>
        <p:sp>
          <p:nvSpPr>
            <p:cNvPr id="33" name="TextBox 33"/>
            <p:cNvSpPr txBox="1"/>
            <p:nvPr/>
          </p:nvSpPr>
          <p:spPr>
            <a:xfrm>
              <a:off x="10348246" y="3449558"/>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0.85</a:t>
              </a:r>
            </a:p>
          </p:txBody>
        </p:sp>
      </p:grpSp>
      <p:grpSp>
        <p:nvGrpSpPr>
          <p:cNvPr id="42" name="Group 42"/>
          <p:cNvGrpSpPr/>
          <p:nvPr/>
        </p:nvGrpSpPr>
        <p:grpSpPr>
          <a:xfrm>
            <a:off x="609600" y="4095750"/>
            <a:ext cx="5362575" cy="2419350"/>
            <a:chOff x="609600" y="4095750"/>
            <a:chExt cx="5362575" cy="2419350"/>
          </a:xfrm>
        </p:grpSpPr>
        <p:sp>
          <p:nvSpPr>
            <p:cNvPr id="35" name="Rectangle 35"/>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36" name="Rectangle 36"/>
            <p:cNvSpPr/>
            <p:nvPr/>
          </p:nvSpPr>
          <p:spPr>
            <a:xfrm>
              <a:off x="609600" y="4267200"/>
              <a:ext cx="47625" cy="2076450"/>
            </a:xfrm>
            <a:prstGeom prst="roundRect">
              <a:avLst>
                <a:gd name="adj" fmla="val 50000"/>
              </a:avLst>
            </a:prstGeom>
            <a:solidFill>
              <a:srgbClr val="FBBF24"/>
            </a:solidFill>
            <a:ln>
              <a:noFill/>
            </a:ln>
          </p:spPr>
        </p:sp>
        <p:sp>
          <p:nvSpPr>
            <p:cNvPr id="37" name="TextBox 37"/>
            <p:cNvSpPr txBox="1"/>
            <p:nvPr/>
          </p:nvSpPr>
          <p:spPr>
            <a:xfrm>
              <a:off x="852297" y="4371499"/>
              <a:ext cx="795327"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TINY BIAS</a:t>
              </a:r>
            </a:p>
          </p:txBody>
        </p:sp>
        <p:sp>
          <p:nvSpPr>
            <p:cNvPr id="38" name="TextBox 38"/>
            <p:cNvSpPr txBox="1"/>
            <p:nvPr/>
          </p:nvSpPr>
          <p:spPr>
            <a:xfrm>
              <a:off x="851344" y="4675108"/>
              <a:ext cx="296046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On global averages the predictions run</a:t>
              </a:r>
            </a:p>
          </p:txBody>
        </p:sp>
        <p:sp>
          <p:nvSpPr>
            <p:cNvPr id="39" name="TextBox 39"/>
            <p:cNvSpPr txBox="1"/>
            <p:nvPr/>
          </p:nvSpPr>
          <p:spPr>
            <a:xfrm>
              <a:off x="851344" y="4884658"/>
              <a:ext cx="217461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just slightly high, with most</a:t>
              </a:r>
            </a:p>
          </p:txBody>
        </p:sp>
        <p:sp>
          <p:nvSpPr>
            <p:cNvPr id="40" name="TextBox 40"/>
            <p:cNvSpPr txBox="1"/>
            <p:nvPr/>
          </p:nvSpPr>
          <p:spPr>
            <a:xfrm>
              <a:off x="851344" y="5094208"/>
              <a:ext cx="204188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differences smaller than 3</a:t>
              </a:r>
            </a:p>
          </p:txBody>
        </p:sp>
        <p:sp>
          <p:nvSpPr>
            <p:cNvPr id="41" name="TextBox 41"/>
            <p:cNvSpPr txBox="1"/>
            <p:nvPr/>
          </p:nvSpPr>
          <p:spPr>
            <a:xfrm>
              <a:off x="851344" y="5303758"/>
              <a:ext cx="149532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microatmospheres.</a:t>
              </a:r>
            </a:p>
          </p:txBody>
        </p:sp>
      </p:grpSp>
      <p:sp>
        <p:nvSpPr>
          <p:cNvPr id="43" name="cue_s07_c1_test_approach_authors_held_out" title="cue_s07_c1_test_approach_authors_held_out" descr="cue_s07_c1_test_approach_authors_held_out To test the approach, the authors held out the most recent two years of every model and product, trained only on earlier data, and then predicted the withheld period."/>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2_predictions_track_originals_remarkab" title="cue_s07_c2_predictions_track_originals_remarkab" descr="cue_s07_c2_predictions_track_originals_remarkab The predictions track the originals remarkably well: for most of the ten models and eight products, the correlation exceeds an R-squared of point nine, and even the global monthly aggregates mostly stay above point eight five."/>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3_global_averages_predictions_run_just" title="cue_s07_c3_global_averages_predictions_run_just" descr="cue_s07_c3_global_averages_predictions_run_just On global averages the predictions run just slightly high, with most differences smaller than three microatmospheres."/>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59689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ABLATION STUDY</a:t>
            </a:r>
          </a:p>
        </p:txBody>
      </p:sp>
      <p:sp>
        <p:nvSpPr>
          <p:cNvPr id="5" name="TextBox 5"/>
          <p:cNvSpPr txBox="1"/>
          <p:nvPr/>
        </p:nvSpPr>
        <p:spPr>
          <a:xfrm>
            <a:off x="596646" y="715328"/>
            <a:ext cx="849001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Models reproduce more faithfully than products</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08 / 10</a:t>
            </a:r>
          </a:p>
        </p:txBody>
      </p:sp>
      <p:grpSp>
        <p:nvGrpSpPr>
          <p:cNvPr id="31" name="Group 31"/>
          <p:cNvGrpSpPr/>
          <p:nvPr/>
        </p:nvGrpSpPr>
        <p:grpSpPr>
          <a:xfrm>
            <a:off x="609600" y="1428750"/>
            <a:ext cx="5362575" cy="5086350"/>
            <a:chOff x="609600" y="1428750"/>
            <a:chExt cx="5362575" cy="5086350"/>
          </a:xfrm>
        </p:grpSpPr>
        <p:sp>
          <p:nvSpPr>
            <p:cNvPr id="7" name="Rectangle 7"/>
            <p:cNvSpPr/>
            <p:nvPr/>
          </p:nvSpPr>
          <p:spPr>
            <a:xfrm>
              <a:off x="609600" y="1428750"/>
              <a:ext cx="5362575" cy="5086350"/>
            </a:xfrm>
            <a:prstGeom prst="roundRect">
              <a:avLst>
                <a:gd name="adj" fmla="val 2996"/>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2"/>
            </a:solidFill>
            <a:ln>
              <a:noFill/>
            </a:ln>
          </p:spPr>
        </p:sp>
        <p:sp>
          <p:nvSpPr>
            <p:cNvPr id="9" name="TextBox 9"/>
            <p:cNvSpPr txBox="1"/>
            <p:nvPr/>
          </p:nvSpPr>
          <p:spPr>
            <a:xfrm>
              <a:off x="852297" y="1704499"/>
              <a:ext cx="145819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MODEL BY MODEL</a:t>
              </a:r>
            </a:p>
          </p:txBody>
        </p:sp>
        <p:sp>
          <p:nvSpPr>
            <p:cNvPr id="10" name="TextBox 10"/>
            <p:cNvSpPr txBox="1"/>
            <p:nvPr/>
          </p:nvSpPr>
          <p:spPr>
            <a:xfrm>
              <a:off x="851344" y="2008108"/>
              <a:ext cx="289789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Biogeochemical models are reproduced</a:t>
              </a:r>
            </a:p>
          </p:txBody>
        </p:sp>
        <p:sp>
          <p:nvSpPr>
            <p:cNvPr id="11" name="TextBox 11"/>
            <p:cNvSpPr txBox="1"/>
            <p:nvPr/>
          </p:nvSpPr>
          <p:spPr>
            <a:xfrm>
              <a:off x="851344" y="2217658"/>
              <a:ext cx="313237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most faithfully, several above R squared</a:t>
              </a:r>
            </a:p>
          </p:txBody>
        </p:sp>
        <p:sp>
          <p:nvSpPr>
            <p:cNvPr id="12" name="TextBox 12"/>
            <p:cNvSpPr txBox="1"/>
            <p:nvPr/>
          </p:nvSpPr>
          <p:spPr>
            <a:xfrm>
              <a:off x="851344" y="2427208"/>
              <a:ext cx="290856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0.95; a few data products are noisier</a:t>
              </a:r>
            </a:p>
          </p:txBody>
        </p:sp>
        <p:sp>
          <p:nvSpPr>
            <p:cNvPr id="13" name="TextBox 13"/>
            <p:cNvSpPr txBox="1"/>
            <p:nvPr/>
          </p:nvSpPr>
          <p:spPr>
            <a:xfrm>
              <a:off x="851344" y="2636758"/>
              <a:ext cx="199503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and scatter from the fit.</a:t>
              </a:r>
            </a:p>
          </p:txBody>
        </p:sp>
        <p:sp>
          <p:nvSpPr>
            <p:cNvPr id="14" name="TextBox 14"/>
            <p:cNvSpPr txBox="1"/>
            <p:nvPr/>
          </p:nvSpPr>
          <p:spPr>
            <a:xfrm>
              <a:off x="852488" y="4912995"/>
              <a:ext cx="2722137" cy="176212"/>
            </a:xfrm>
            <a:prstGeom prst="rect">
              <a:avLst/>
            </a:prstGeom>
            <a:noFill/>
            <a:ln>
              <a:noFill/>
            </a:ln>
          </p:spPr>
          <p:txBody>
            <a:bodyPr wrap="none" lIns="0" tIns="0" rIns="0" bIns="0" anchor="t" anchorCtr="0">
              <a:spAutoFit/>
            </a:bodyPr>
            <a:lstStyle/>
            <a:p>
              <a:pPr algn="l"/>
              <a:r>
                <a:rPr lang="en-US" sz="900" b="1" dirty="0">
                  <a:solidFill>
                    <a:srgbClr val="5F7A93"/>
                  </a:solidFill>
                  <a:latin typeface="+mn-lt"/>
                  <a:ea typeface="+mn-ea"/>
                  <a:cs typeface="+mn-cs"/>
                </a:rPr>
                <a:t>Per-source R squared (models vs products)</a:t>
              </a:r>
            </a:p>
          </p:txBody>
        </p:sp>
        <p:sp>
          <p:nvSpPr>
            <p:cNvPr id="15" name="TextBox 15"/>
            <p:cNvSpPr txBox="1"/>
            <p:nvPr/>
          </p:nvSpPr>
          <p:spPr>
            <a:xfrm>
              <a:off x="851726" y="5126117"/>
              <a:ext cx="930833"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MRI-ESM2-1</a:t>
              </a:r>
            </a:p>
          </p:txBody>
        </p:sp>
        <p:sp>
          <p:nvSpPr>
            <p:cNvPr id="16" name="Rectangle 16"/>
            <p:cNvSpPr/>
            <p:nvPr/>
          </p:nvSpPr>
          <p:spPr>
            <a:xfrm>
              <a:off x="2114550" y="5086350"/>
              <a:ext cx="2981325" cy="219075"/>
            </a:xfrm>
            <a:prstGeom prst="roundRect">
              <a:avLst>
                <a:gd name="adj" fmla="val 50000"/>
              </a:avLst>
            </a:prstGeom>
            <a:solidFill>
              <a:srgbClr val="1C374F"/>
            </a:solidFill>
            <a:ln>
              <a:noFill/>
            </a:ln>
          </p:spPr>
        </p:sp>
        <p:sp>
          <p:nvSpPr>
            <p:cNvPr id="17" name="Rectangle 17"/>
            <p:cNvSpPr/>
            <p:nvPr/>
          </p:nvSpPr>
          <p:spPr>
            <a:xfrm>
              <a:off x="2114550" y="5086350"/>
              <a:ext cx="2891790" cy="219075"/>
            </a:xfrm>
            <a:prstGeom prst="roundRect">
              <a:avLst>
                <a:gd name="adj" fmla="val 50000"/>
              </a:avLst>
            </a:prstGeom>
            <a:solidFill>
              <a:schemeClr val="accent2"/>
            </a:solidFill>
            <a:ln>
              <a:noFill/>
            </a:ln>
          </p:spPr>
        </p:sp>
        <p:sp>
          <p:nvSpPr>
            <p:cNvPr id="18" name="TextBox 18"/>
            <p:cNvSpPr txBox="1"/>
            <p:nvPr/>
          </p:nvSpPr>
          <p:spPr>
            <a:xfrm>
              <a:off x="5095780" y="5118021"/>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0.97</a:t>
              </a:r>
            </a:p>
          </p:txBody>
        </p:sp>
        <p:sp>
          <p:nvSpPr>
            <p:cNvPr id="19" name="TextBox 19"/>
            <p:cNvSpPr txBox="1"/>
            <p:nvPr/>
          </p:nvSpPr>
          <p:spPr>
            <a:xfrm>
              <a:off x="851726" y="5459492"/>
              <a:ext cx="491290"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CESM2</a:t>
              </a:r>
            </a:p>
          </p:txBody>
        </p:sp>
        <p:sp>
          <p:nvSpPr>
            <p:cNvPr id="20" name="Rectangle 20"/>
            <p:cNvSpPr/>
            <p:nvPr/>
          </p:nvSpPr>
          <p:spPr>
            <a:xfrm>
              <a:off x="2114550" y="5419725"/>
              <a:ext cx="2981325" cy="219075"/>
            </a:xfrm>
            <a:prstGeom prst="roundRect">
              <a:avLst>
                <a:gd name="adj" fmla="val 50000"/>
              </a:avLst>
            </a:prstGeom>
            <a:solidFill>
              <a:srgbClr val="1C374F"/>
            </a:solidFill>
            <a:ln>
              <a:noFill/>
            </a:ln>
          </p:spPr>
        </p:sp>
        <p:sp>
          <p:nvSpPr>
            <p:cNvPr id="21" name="Rectangle 21"/>
            <p:cNvSpPr/>
            <p:nvPr/>
          </p:nvSpPr>
          <p:spPr>
            <a:xfrm>
              <a:off x="2114550" y="5419725"/>
              <a:ext cx="2862262" cy="219075"/>
            </a:xfrm>
            <a:prstGeom prst="roundRect">
              <a:avLst>
                <a:gd name="adj" fmla="val 50000"/>
              </a:avLst>
            </a:prstGeom>
            <a:solidFill>
              <a:schemeClr val="accent2"/>
            </a:solidFill>
            <a:ln>
              <a:noFill/>
            </a:ln>
          </p:spPr>
        </p:sp>
        <p:sp>
          <p:nvSpPr>
            <p:cNvPr id="22" name="TextBox 22"/>
            <p:cNvSpPr txBox="1"/>
            <p:nvPr/>
          </p:nvSpPr>
          <p:spPr>
            <a:xfrm>
              <a:off x="5065966" y="5451396"/>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0.96</a:t>
              </a:r>
            </a:p>
          </p:txBody>
        </p:sp>
        <p:sp>
          <p:nvSpPr>
            <p:cNvPr id="23" name="TextBox 23"/>
            <p:cNvSpPr txBox="1"/>
            <p:nvPr/>
          </p:nvSpPr>
          <p:spPr>
            <a:xfrm>
              <a:off x="851726" y="5792867"/>
              <a:ext cx="1032943"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UOEX-Watson</a:t>
              </a:r>
            </a:p>
          </p:txBody>
        </p:sp>
        <p:sp>
          <p:nvSpPr>
            <p:cNvPr id="24" name="Rectangle 24"/>
            <p:cNvSpPr/>
            <p:nvPr/>
          </p:nvSpPr>
          <p:spPr>
            <a:xfrm>
              <a:off x="2114550" y="5753100"/>
              <a:ext cx="2981325" cy="219075"/>
            </a:xfrm>
            <a:prstGeom prst="roundRect">
              <a:avLst>
                <a:gd name="adj" fmla="val 50000"/>
              </a:avLst>
            </a:prstGeom>
            <a:solidFill>
              <a:srgbClr val="1C374F"/>
            </a:solidFill>
            <a:ln>
              <a:noFill/>
            </a:ln>
          </p:spPr>
        </p:sp>
        <p:sp>
          <p:nvSpPr>
            <p:cNvPr id="25" name="Rectangle 25"/>
            <p:cNvSpPr/>
            <p:nvPr/>
          </p:nvSpPr>
          <p:spPr>
            <a:xfrm>
              <a:off x="2114550" y="5753100"/>
              <a:ext cx="2385060" cy="219075"/>
            </a:xfrm>
            <a:prstGeom prst="roundRect">
              <a:avLst>
                <a:gd name="adj" fmla="val 50000"/>
              </a:avLst>
            </a:prstGeom>
            <a:solidFill>
              <a:srgbClr val="FBBF24"/>
            </a:solidFill>
            <a:ln>
              <a:noFill/>
            </a:ln>
          </p:spPr>
        </p:sp>
        <p:sp>
          <p:nvSpPr>
            <p:cNvPr id="26" name="TextBox 26"/>
            <p:cNvSpPr txBox="1"/>
            <p:nvPr/>
          </p:nvSpPr>
          <p:spPr>
            <a:xfrm>
              <a:off x="4588954" y="5784771"/>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0.80</a:t>
              </a:r>
            </a:p>
          </p:txBody>
        </p:sp>
        <p:sp>
          <p:nvSpPr>
            <p:cNvPr id="27" name="TextBox 27"/>
            <p:cNvSpPr txBox="1"/>
            <p:nvPr/>
          </p:nvSpPr>
          <p:spPr>
            <a:xfrm>
              <a:off x="851726" y="6126242"/>
              <a:ext cx="963392"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MPI-SOMFFN</a:t>
              </a:r>
            </a:p>
          </p:txBody>
        </p:sp>
        <p:sp>
          <p:nvSpPr>
            <p:cNvPr id="28" name="Rectangle 28"/>
            <p:cNvSpPr/>
            <p:nvPr/>
          </p:nvSpPr>
          <p:spPr>
            <a:xfrm>
              <a:off x="2114550" y="6086475"/>
              <a:ext cx="2981325" cy="219075"/>
            </a:xfrm>
            <a:prstGeom prst="roundRect">
              <a:avLst>
                <a:gd name="adj" fmla="val 50000"/>
              </a:avLst>
            </a:prstGeom>
            <a:solidFill>
              <a:srgbClr val="1C374F"/>
            </a:solidFill>
            <a:ln>
              <a:noFill/>
            </a:ln>
          </p:spPr>
        </p:sp>
        <p:sp>
          <p:nvSpPr>
            <p:cNvPr id="29" name="Rectangle 29"/>
            <p:cNvSpPr/>
            <p:nvPr/>
          </p:nvSpPr>
          <p:spPr>
            <a:xfrm>
              <a:off x="2114550" y="6086475"/>
              <a:ext cx="1580198" cy="219075"/>
            </a:xfrm>
            <a:prstGeom prst="roundRect">
              <a:avLst>
                <a:gd name="adj" fmla="val 50000"/>
              </a:avLst>
            </a:prstGeom>
            <a:solidFill>
              <a:srgbClr val="F87171"/>
            </a:solidFill>
            <a:ln>
              <a:noFill/>
            </a:ln>
          </p:spPr>
        </p:sp>
        <p:sp>
          <p:nvSpPr>
            <p:cNvPr id="30" name="TextBox 30"/>
            <p:cNvSpPr txBox="1"/>
            <p:nvPr/>
          </p:nvSpPr>
          <p:spPr>
            <a:xfrm>
              <a:off x="3783997" y="6118146"/>
              <a:ext cx="3725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0.53</a:t>
              </a:r>
            </a:p>
          </p:txBody>
        </p:sp>
      </p:grpSp>
      <p:grpSp>
        <p:nvGrpSpPr>
          <p:cNvPr id="39" name="Group 39"/>
          <p:cNvGrpSpPr/>
          <p:nvPr/>
        </p:nvGrpSpPr>
        <p:grpSpPr>
          <a:xfrm>
            <a:off x="6219825" y="1428750"/>
            <a:ext cx="5362575" cy="5086350"/>
            <a:chOff x="6219825" y="1428750"/>
            <a:chExt cx="5362575" cy="5086350"/>
          </a:xfrm>
        </p:grpSpPr>
        <p:sp>
          <p:nvSpPr>
            <p:cNvPr id="32" name="Rectangle 32"/>
            <p:cNvSpPr/>
            <p:nvPr/>
          </p:nvSpPr>
          <p:spPr>
            <a:xfrm>
              <a:off x="6219825" y="1428750"/>
              <a:ext cx="5362575" cy="5086350"/>
            </a:xfrm>
            <a:prstGeom prst="roundRect">
              <a:avLst>
                <a:gd name="adj" fmla="val 2996"/>
              </a:avLst>
            </a:prstGeom>
            <a:solidFill>
              <a:schemeClr val="lt2"/>
            </a:solidFill>
            <a:ln w="9525">
              <a:solidFill>
                <a:schemeClr val="accent4"/>
              </a:solidFill>
            </a:ln>
          </p:spPr>
        </p:sp>
        <p:sp>
          <p:nvSpPr>
            <p:cNvPr id="33" name="Rectangle 33"/>
            <p:cNvSpPr/>
            <p:nvPr/>
          </p:nvSpPr>
          <p:spPr>
            <a:xfrm>
              <a:off x="6219825" y="1600200"/>
              <a:ext cx="47625" cy="4743450"/>
            </a:xfrm>
            <a:prstGeom prst="roundRect">
              <a:avLst>
                <a:gd name="adj" fmla="val 50000"/>
              </a:avLst>
            </a:prstGeom>
            <a:solidFill>
              <a:schemeClr val="accent1"/>
            </a:solidFill>
            <a:ln>
              <a:noFill/>
            </a:ln>
          </p:spPr>
        </p:sp>
        <p:sp>
          <p:nvSpPr>
            <p:cNvPr id="34" name="TextBox 34"/>
            <p:cNvSpPr txBox="1"/>
            <p:nvPr/>
          </p:nvSpPr>
          <p:spPr>
            <a:xfrm>
              <a:off x="6462522" y="1704499"/>
              <a:ext cx="1500866"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WHERE IT DIFFERS</a:t>
              </a:r>
            </a:p>
          </p:txBody>
        </p:sp>
        <p:sp>
          <p:nvSpPr>
            <p:cNvPr id="35" name="TextBox 35"/>
            <p:cNvSpPr txBox="1"/>
            <p:nvPr/>
          </p:nvSpPr>
          <p:spPr>
            <a:xfrm>
              <a:off x="6461570" y="2008108"/>
              <a:ext cx="246846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Spatial difference maps confirm</a:t>
              </a:r>
            </a:p>
          </p:txBody>
        </p:sp>
        <p:sp>
          <p:nvSpPr>
            <p:cNvPr id="36" name="TextBox 36"/>
            <p:cNvSpPr txBox="1"/>
            <p:nvPr/>
          </p:nvSpPr>
          <p:spPr>
            <a:xfrm>
              <a:off x="6461570" y="2217658"/>
              <a:ext cx="301787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agreement is broadly uniform, with the</a:t>
              </a:r>
            </a:p>
          </p:txBody>
        </p:sp>
        <p:sp>
          <p:nvSpPr>
            <p:cNvPr id="37" name="TextBox 37"/>
            <p:cNvSpPr txBox="1"/>
            <p:nvPr/>
          </p:nvSpPr>
          <p:spPr>
            <a:xfrm>
              <a:off x="6461570" y="2427208"/>
              <a:ext cx="263241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largest residual gaps in the Arctic</a:t>
              </a:r>
            </a:p>
          </p:txBody>
        </p:sp>
        <p:sp>
          <p:nvSpPr>
            <p:cNvPr id="38" name="TextBox 38"/>
            <p:cNvSpPr txBox="1"/>
            <p:nvPr/>
          </p:nvSpPr>
          <p:spPr>
            <a:xfrm>
              <a:off x="6461570" y="2636758"/>
              <a:ext cx="257533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Ocean and the equatorial Pacific.</a:t>
              </a:r>
            </a:p>
          </p:txBody>
        </p:sp>
      </p:grpSp>
      <p:sp>
        <p:nvSpPr>
          <p:cNvPr id="40" name="cue_s08_c1_looking_reveals_clear_pattern_biogeo" title="cue_s08_c1_looking_reveals_clear_pattern_biogeo" descr="cue_s08_c1_looking_reveals_clear_pattern_biogeo Looking model by model reveals a clear pattern: the biogeochemical models are reproduced most faithfully and consistently, with several exceeding an R-squared of point nine five, while a few data products are noisier and occasionally scatter away from the fit"/>
          <p:cNvSpPr/>
          <p:nvPr/>
        </p:nvSpPr>
        <p:spPr>
          <a:xfrm>
            <a:off x="609600"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2_spatial_maps_differences_confirm_agr" title="cue_s08_c2_spatial_maps_differences_confirm_agr" descr="cue_s08_c2_spatial_maps_differences_confirm_agr Spatial maps of the differences confirm that agreement is broadly uniform across the globe, with the largest residual gaps concentrated in the Arctic Ocean and the equatorial Pacific."/>
          <p:cNvSpPr/>
          <p:nvPr/>
        </p:nvSpPr>
        <p:spPr>
          <a:xfrm>
            <a:off x="6220358"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83437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HEADLINE NUMBERS</a:t>
            </a:r>
          </a:p>
        </p:txBody>
      </p:sp>
      <p:sp>
        <p:nvSpPr>
          <p:cNvPr id="5" name="TextBox 5"/>
          <p:cNvSpPr txBox="1"/>
          <p:nvPr/>
        </p:nvSpPr>
        <p:spPr>
          <a:xfrm>
            <a:off x="596646" y="715328"/>
            <a:ext cx="447193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numbers that matter</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09 / 10</a:t>
            </a:r>
          </a:p>
        </p:txBody>
      </p:sp>
      <p:grpSp>
        <p:nvGrpSpPr>
          <p:cNvPr id="12" name="Group 12"/>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10355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AT A GLANCE</a:t>
              </a:r>
            </a:p>
          </p:txBody>
        </p:sp>
        <p:sp>
          <p:nvSpPr>
            <p:cNvPr id="10" name="TextBox 10"/>
            <p:cNvSpPr txBox="1"/>
            <p:nvPr/>
          </p:nvSpPr>
          <p:spPr>
            <a:xfrm>
              <a:off x="851344" y="2008108"/>
              <a:ext cx="308560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Four figures that capture the impact of</a:t>
              </a:r>
            </a:p>
          </p:txBody>
        </p:sp>
        <p:sp>
          <p:nvSpPr>
            <p:cNvPr id="11" name="TextBox 11"/>
            <p:cNvSpPr txBox="1"/>
            <p:nvPr/>
          </p:nvSpPr>
          <p:spPr>
            <a:xfrm>
              <a:off x="851344" y="2217658"/>
              <a:ext cx="177729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Carbon Monitor Ocean.</a:t>
              </a:r>
            </a:p>
          </p:txBody>
        </p:sp>
      </p:grpSp>
      <p:grpSp>
        <p:nvGrpSpPr>
          <p:cNvPr id="20" name="Group 20"/>
          <p:cNvGrpSpPr/>
          <p:nvPr/>
        </p:nvGrpSpPr>
        <p:grpSpPr>
          <a:xfrm>
            <a:off x="6219825" y="1428750"/>
            <a:ext cx="5362575" cy="2419350"/>
            <a:chOff x="6219825" y="1428750"/>
            <a:chExt cx="5362575" cy="2419350"/>
          </a:xfrm>
        </p:grpSpPr>
        <p:sp>
          <p:nvSpPr>
            <p:cNvPr id="13" name="Rectangle 13"/>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4" name="Rectangle 14"/>
            <p:cNvSpPr/>
            <p:nvPr/>
          </p:nvSpPr>
          <p:spPr>
            <a:xfrm>
              <a:off x="6219825" y="1600200"/>
              <a:ext cx="47625" cy="2076450"/>
            </a:xfrm>
            <a:prstGeom prst="roundRect">
              <a:avLst>
                <a:gd name="adj" fmla="val 50000"/>
              </a:avLst>
            </a:prstGeom>
            <a:solidFill>
              <a:schemeClr val="accent2"/>
            </a:solidFill>
            <a:ln>
              <a:noFill/>
            </a:ln>
          </p:spPr>
        </p:sp>
        <p:sp>
          <p:nvSpPr>
            <p:cNvPr id="15" name="TextBox 15"/>
            <p:cNvSpPr txBox="1"/>
            <p:nvPr/>
          </p:nvSpPr>
          <p:spPr>
            <a:xfrm>
              <a:off x="6462522" y="1704499"/>
              <a:ext cx="171247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LATENCY COLLAPSED</a:t>
              </a:r>
            </a:p>
          </p:txBody>
        </p:sp>
        <p:sp>
          <p:nvSpPr>
            <p:cNvPr id="16" name="TextBox 16"/>
            <p:cNvSpPr txBox="1"/>
            <p:nvPr/>
          </p:nvSpPr>
          <p:spPr>
            <a:xfrm>
              <a:off x="6449949" y="1913572"/>
              <a:ext cx="2863486"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1 yr to 1 mo</a:t>
              </a:r>
            </a:p>
          </p:txBody>
        </p:sp>
        <p:sp>
          <p:nvSpPr>
            <p:cNvPr id="17" name="TextBox 17"/>
            <p:cNvSpPr txBox="1"/>
            <p:nvPr/>
          </p:nvSpPr>
          <p:spPr>
            <a:xfrm>
              <a:off x="6462141" y="2420302"/>
              <a:ext cx="269732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near-real-time, Jan 2022 to Jul 2023</a:t>
              </a:r>
            </a:p>
          </p:txBody>
        </p:sp>
        <p:sp>
          <p:nvSpPr>
            <p:cNvPr id="18" name="TextBox 18"/>
            <p:cNvSpPr txBox="1"/>
            <p:nvPr/>
          </p:nvSpPr>
          <p:spPr>
            <a:xfrm>
              <a:off x="6461570" y="2636758"/>
              <a:ext cx="299972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reporting delay drops from about a</a:t>
              </a:r>
            </a:p>
          </p:txBody>
        </p:sp>
        <p:sp>
          <p:nvSpPr>
            <p:cNvPr id="19" name="TextBox 19"/>
            <p:cNvSpPr txBox="1"/>
            <p:nvPr/>
          </p:nvSpPr>
          <p:spPr>
            <a:xfrm>
              <a:off x="6461570" y="2846308"/>
              <a:ext cx="130012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year to monthly.</a:t>
              </a:r>
            </a:p>
          </p:txBody>
        </p:sp>
      </p:grpSp>
      <p:grpSp>
        <p:nvGrpSpPr>
          <p:cNvPr id="28" name="Group 28"/>
          <p:cNvGrpSpPr/>
          <p:nvPr/>
        </p:nvGrpSpPr>
        <p:grpSpPr>
          <a:xfrm>
            <a:off x="609600" y="4095750"/>
            <a:ext cx="5362575" cy="2419350"/>
            <a:chOff x="609600" y="4095750"/>
            <a:chExt cx="5362575" cy="2419350"/>
          </a:xfrm>
        </p:grpSpPr>
        <p:sp>
          <p:nvSpPr>
            <p:cNvPr id="21" name="Rectangle 21"/>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22" name="Rectangle 22"/>
            <p:cNvSpPr/>
            <p:nvPr/>
          </p:nvSpPr>
          <p:spPr>
            <a:xfrm>
              <a:off x="609600" y="4267200"/>
              <a:ext cx="47625" cy="2076450"/>
            </a:xfrm>
            <a:prstGeom prst="roundRect">
              <a:avLst>
                <a:gd name="adj" fmla="val 50000"/>
              </a:avLst>
            </a:prstGeom>
            <a:solidFill>
              <a:schemeClr val="accent1"/>
            </a:solidFill>
            <a:ln>
              <a:noFill/>
            </a:ln>
          </p:spPr>
        </p:sp>
        <p:sp>
          <p:nvSpPr>
            <p:cNvPr id="23" name="TextBox 23"/>
            <p:cNvSpPr txBox="1"/>
            <p:nvPr/>
          </p:nvSpPr>
          <p:spPr>
            <a:xfrm>
              <a:off x="852297" y="4371499"/>
              <a:ext cx="963028"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VALIDATION</a:t>
              </a:r>
            </a:p>
          </p:txBody>
        </p:sp>
        <p:sp>
          <p:nvSpPr>
            <p:cNvPr id="24" name="TextBox 24"/>
            <p:cNvSpPr txBox="1"/>
            <p:nvPr/>
          </p:nvSpPr>
          <p:spPr>
            <a:xfrm>
              <a:off x="839724" y="4580572"/>
              <a:ext cx="2044583"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R2 &gt; 0.9</a:t>
              </a:r>
            </a:p>
          </p:txBody>
        </p:sp>
        <p:sp>
          <p:nvSpPr>
            <p:cNvPr id="25" name="TextBox 25"/>
            <p:cNvSpPr txBox="1"/>
            <p:nvPr/>
          </p:nvSpPr>
          <p:spPr>
            <a:xfrm>
              <a:off x="851916" y="5087302"/>
              <a:ext cx="304582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for most of 18 sources; aggregate &gt; 0.85</a:t>
              </a:r>
            </a:p>
          </p:txBody>
        </p:sp>
        <p:sp>
          <p:nvSpPr>
            <p:cNvPr id="26" name="TextBox 26"/>
            <p:cNvSpPr txBox="1"/>
            <p:nvPr/>
          </p:nvSpPr>
          <p:spPr>
            <a:xfrm>
              <a:off x="851344" y="5303758"/>
              <a:ext cx="307748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Global monthly differences mostly under</a:t>
              </a:r>
            </a:p>
          </p:txBody>
        </p:sp>
        <p:sp>
          <p:nvSpPr>
            <p:cNvPr id="27" name="TextBox 27"/>
            <p:cNvSpPr txBox="1"/>
            <p:nvPr/>
          </p:nvSpPr>
          <p:spPr>
            <a:xfrm>
              <a:off x="851344" y="5513308"/>
              <a:ext cx="162805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3 microatmospheres.</a:t>
              </a:r>
            </a:p>
          </p:txBody>
        </p:sp>
      </p:grpSp>
      <p:grpSp>
        <p:nvGrpSpPr>
          <p:cNvPr id="36" name="Group 36"/>
          <p:cNvGrpSpPr/>
          <p:nvPr/>
        </p:nvGrpSpPr>
        <p:grpSpPr>
          <a:xfrm>
            <a:off x="6219825" y="4095750"/>
            <a:ext cx="5362575" cy="2419350"/>
            <a:chOff x="6219825" y="4095750"/>
            <a:chExt cx="5362575" cy="2419350"/>
          </a:xfrm>
        </p:grpSpPr>
        <p:sp>
          <p:nvSpPr>
            <p:cNvPr id="29" name="Rectangle 29"/>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0" name="Rectangle 30"/>
            <p:cNvSpPr/>
            <p:nvPr/>
          </p:nvSpPr>
          <p:spPr>
            <a:xfrm>
              <a:off x="6219825" y="4267200"/>
              <a:ext cx="47625" cy="2076450"/>
            </a:xfrm>
            <a:prstGeom prst="roundRect">
              <a:avLst>
                <a:gd name="adj" fmla="val 50000"/>
              </a:avLst>
            </a:prstGeom>
            <a:solidFill>
              <a:srgbClr val="FBBF24"/>
            </a:solidFill>
            <a:ln>
              <a:noFill/>
            </a:ln>
          </p:spPr>
        </p:sp>
        <p:sp>
          <p:nvSpPr>
            <p:cNvPr id="31" name="TextBox 31"/>
            <p:cNvSpPr txBox="1"/>
            <p:nvPr/>
          </p:nvSpPr>
          <p:spPr>
            <a:xfrm>
              <a:off x="6462522" y="4371499"/>
              <a:ext cx="1960592"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AUXILIARY xCO2 MODEL</a:t>
              </a:r>
            </a:p>
          </p:txBody>
        </p:sp>
        <p:sp>
          <p:nvSpPr>
            <p:cNvPr id="32" name="TextBox 32"/>
            <p:cNvSpPr txBox="1"/>
            <p:nvPr/>
          </p:nvSpPr>
          <p:spPr>
            <a:xfrm>
              <a:off x="6449949" y="4580572"/>
              <a:ext cx="1107906"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1.74</a:t>
              </a:r>
            </a:p>
          </p:txBody>
        </p:sp>
        <p:sp>
          <p:nvSpPr>
            <p:cNvPr id="33" name="TextBox 33"/>
            <p:cNvSpPr txBox="1"/>
            <p:nvPr/>
          </p:nvSpPr>
          <p:spPr>
            <a:xfrm>
              <a:off x="6462141" y="5087302"/>
              <a:ext cx="305114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near-real-time xCO2 RMSE (~0.5% error)</a:t>
              </a:r>
            </a:p>
          </p:txBody>
        </p:sp>
        <p:sp>
          <p:nvSpPr>
            <p:cNvPr id="34" name="TextBox 34"/>
            <p:cNvSpPr txBox="1"/>
            <p:nvPr/>
          </p:nvSpPr>
          <p:spPr>
            <a:xfrm>
              <a:off x="6461570" y="5303758"/>
              <a:ext cx="273703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atmospheric CO2 model is highly</a:t>
              </a:r>
            </a:p>
          </p:txBody>
        </p:sp>
        <p:sp>
          <p:nvSpPr>
            <p:cNvPr id="35" name="TextBox 35"/>
            <p:cNvSpPr txBox="1"/>
            <p:nvPr/>
          </p:nvSpPr>
          <p:spPr>
            <a:xfrm>
              <a:off x="6461570" y="5513308"/>
              <a:ext cx="108930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accurate too.</a:t>
              </a:r>
            </a:p>
          </p:txBody>
        </p:sp>
      </p:grpSp>
      <p:sp>
        <p:nvSpPr>
          <p:cNvPr id="37" name="cue_s09_c1_few_numbers_capture_impact" title="cue_s09_c1_few_numbers_capture_impact" descr="cue_s09_c1_few_numbers_capture_impact A few numbers capture the impact."/>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2_method_collapses_roughly_one_year_re" title="cue_s09_c2_method_collapses_roughly_one_year_re" descr="cue_s09_c2_method_collapses_roughly_one_year_re The method collapses the roughly one-year reporting delay down to monthly, near-real-time coverage, here spanning January 2022 through July 2023."/>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3_validation_correlations_exceed_r_squ" title="cue_s09_c3_validation_correlations_exceed_r_squ" descr="cue_s09_c3_validation_correlations_exceed_r_squ Validation correlations exceed an R-squared of point nine for most of the eighteen source estimates, global aggregates stay above point eight five, and global monthly differences are mostly under three microatmospheres."/>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4_even_auxiliary_near_real_time_atmosp" title="cue_s09_c4_even_auxiliary_near_real_time_atmosp" descr="cue_s09_c4_even_auxiliary_near_real_time_atmosp Even the auxiliary near-real-time atmospheric carbon dioxide model achieves a root-mean-square error of just one point seven four, about a half-percent error."/>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968079"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TAKEAWAY</a:t>
            </a:r>
          </a:p>
        </p:txBody>
      </p:sp>
      <p:sp>
        <p:nvSpPr>
          <p:cNvPr id="5" name="TextBox 5"/>
          <p:cNvSpPr txBox="1"/>
          <p:nvPr/>
        </p:nvSpPr>
        <p:spPr>
          <a:xfrm>
            <a:off x="596646" y="715328"/>
            <a:ext cx="809488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once year-delayed sink, now near-real-time</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5F7A93"/>
                </a:solidFill>
                <a:latin typeface="+mn-lt"/>
                <a:ea typeface="+mn-ea"/>
                <a:cs typeface="+mn-cs"/>
              </a:rPr>
              <a:t>10 / 10</a:t>
            </a:r>
          </a:p>
        </p:txBody>
      </p:sp>
      <p:grpSp>
        <p:nvGrpSpPr>
          <p:cNvPr id="14" name="Group 14"/>
          <p:cNvGrpSpPr/>
          <p:nvPr/>
        </p:nvGrpSpPr>
        <p:grpSpPr>
          <a:xfrm>
            <a:off x="609600" y="1428750"/>
            <a:ext cx="5362575" cy="5086350"/>
            <a:chOff x="609600" y="1428750"/>
            <a:chExt cx="5362575" cy="5086350"/>
          </a:xfrm>
        </p:grpSpPr>
        <p:sp>
          <p:nvSpPr>
            <p:cNvPr id="7" name="Rectangle 7"/>
            <p:cNvSpPr/>
            <p:nvPr/>
          </p:nvSpPr>
          <p:spPr>
            <a:xfrm>
              <a:off x="609600" y="1428750"/>
              <a:ext cx="5362575" cy="5086350"/>
            </a:xfrm>
            <a:prstGeom prst="roundRect">
              <a:avLst>
                <a:gd name="adj" fmla="val 2996"/>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1"/>
            </a:solidFill>
            <a:ln>
              <a:noFill/>
            </a:ln>
          </p:spPr>
        </p:sp>
        <p:sp>
          <p:nvSpPr>
            <p:cNvPr id="9" name="TextBox 9"/>
            <p:cNvSpPr txBox="1"/>
            <p:nvPr/>
          </p:nvSpPr>
          <p:spPr>
            <a:xfrm>
              <a:off x="852297" y="1704499"/>
              <a:ext cx="730081"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IDEA</a:t>
              </a:r>
            </a:p>
          </p:txBody>
        </p:sp>
        <p:sp>
          <p:nvSpPr>
            <p:cNvPr id="10" name="TextBox 10"/>
            <p:cNvSpPr txBox="1"/>
            <p:nvPr/>
          </p:nvSpPr>
          <p:spPr>
            <a:xfrm>
              <a:off x="851344" y="2008108"/>
              <a:ext cx="27337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Pairing convolutional networks with</a:t>
              </a:r>
            </a:p>
          </p:txBody>
        </p:sp>
        <p:sp>
          <p:nvSpPr>
            <p:cNvPr id="11" name="TextBox 11"/>
            <p:cNvSpPr txBox="1"/>
            <p:nvPr/>
          </p:nvSpPr>
          <p:spPr>
            <a:xfrm>
              <a:off x="851344" y="2217658"/>
              <a:ext cx="333800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semi-supervised learning to update trusted</a:t>
              </a:r>
            </a:p>
          </p:txBody>
        </p:sp>
        <p:sp>
          <p:nvSpPr>
            <p:cNvPr id="12" name="TextBox 12"/>
            <p:cNvSpPr txBox="1"/>
            <p:nvPr/>
          </p:nvSpPr>
          <p:spPr>
            <a:xfrm>
              <a:off x="851344" y="2427208"/>
              <a:ext cx="325992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models turns a year-delayed picture into a</a:t>
              </a:r>
            </a:p>
          </p:txBody>
        </p:sp>
        <p:sp>
          <p:nvSpPr>
            <p:cNvPr id="13" name="TextBox 13"/>
            <p:cNvSpPr txBox="1"/>
            <p:nvPr/>
          </p:nvSpPr>
          <p:spPr>
            <a:xfrm>
              <a:off x="851344" y="2636758"/>
              <a:ext cx="331457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near-real-time, monthly, gridded monitor.</a:t>
              </a:r>
            </a:p>
          </p:txBody>
        </p:sp>
      </p:grpSp>
      <p:grpSp>
        <p:nvGrpSpPr>
          <p:cNvPr id="22" name="Group 22"/>
          <p:cNvGrpSpPr/>
          <p:nvPr/>
        </p:nvGrpSpPr>
        <p:grpSpPr>
          <a:xfrm>
            <a:off x="6219825" y="1428750"/>
            <a:ext cx="5362575" cy="5086350"/>
            <a:chOff x="6219825" y="1428750"/>
            <a:chExt cx="5362575" cy="5086350"/>
          </a:xfrm>
        </p:grpSpPr>
        <p:sp>
          <p:nvSpPr>
            <p:cNvPr id="15" name="Rectangle 15"/>
            <p:cNvSpPr/>
            <p:nvPr/>
          </p:nvSpPr>
          <p:spPr>
            <a:xfrm>
              <a:off x="6219825" y="1428750"/>
              <a:ext cx="5362575" cy="5086350"/>
            </a:xfrm>
            <a:prstGeom prst="roundRect">
              <a:avLst>
                <a:gd name="adj" fmla="val 2996"/>
              </a:avLst>
            </a:prstGeom>
            <a:solidFill>
              <a:schemeClr val="lt2"/>
            </a:solidFill>
            <a:ln w="9525">
              <a:solidFill>
                <a:schemeClr val="accent4"/>
              </a:solidFill>
            </a:ln>
          </p:spPr>
        </p:sp>
        <p:sp>
          <p:nvSpPr>
            <p:cNvPr id="16" name="Rectangle 16"/>
            <p:cNvSpPr/>
            <p:nvPr/>
          </p:nvSpPr>
          <p:spPr>
            <a:xfrm>
              <a:off x="6219825" y="1600200"/>
              <a:ext cx="47625" cy="4743450"/>
            </a:xfrm>
            <a:prstGeom prst="roundRect">
              <a:avLst>
                <a:gd name="adj" fmla="val 50000"/>
              </a:avLst>
            </a:prstGeom>
            <a:solidFill>
              <a:schemeClr val="accent2"/>
            </a:solidFill>
            <a:ln>
              <a:noFill/>
            </a:ln>
          </p:spPr>
        </p:sp>
        <p:sp>
          <p:nvSpPr>
            <p:cNvPr id="17" name="TextBox 17"/>
            <p:cNvSpPr txBox="1"/>
            <p:nvPr/>
          </p:nvSpPr>
          <p:spPr>
            <a:xfrm>
              <a:off x="6462522" y="1704499"/>
              <a:ext cx="136305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WHY IT MATTERS</a:t>
              </a:r>
            </a:p>
          </p:txBody>
        </p:sp>
        <p:sp>
          <p:nvSpPr>
            <p:cNvPr id="18" name="TextBox 18"/>
            <p:cNvSpPr txBox="1"/>
            <p:nvPr/>
          </p:nvSpPr>
          <p:spPr>
            <a:xfrm>
              <a:off x="6461570" y="2008108"/>
              <a:ext cx="318682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It gives scientists and policymakers a far</a:t>
              </a:r>
            </a:p>
          </p:txBody>
        </p:sp>
        <p:sp>
          <p:nvSpPr>
            <p:cNvPr id="19" name="TextBox 19"/>
            <p:cNvSpPr txBox="1"/>
            <p:nvPr/>
          </p:nvSpPr>
          <p:spPr>
            <a:xfrm>
              <a:off x="6461570" y="2217658"/>
              <a:ext cx="347854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timelier, spatially detailed constraint on how</a:t>
              </a:r>
            </a:p>
          </p:txBody>
        </p:sp>
        <p:sp>
          <p:nvSpPr>
            <p:cNvPr id="20" name="TextBox 20"/>
            <p:cNvSpPr txBox="1"/>
            <p:nvPr/>
          </p:nvSpPr>
          <p:spPr>
            <a:xfrm>
              <a:off x="6461570" y="2427208"/>
              <a:ext cx="359566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much carbon the ocean is taking up, right when</a:t>
              </a:r>
            </a:p>
          </p:txBody>
        </p:sp>
        <p:sp>
          <p:nvSpPr>
            <p:cNvPr id="21" name="TextBox 21"/>
            <p:cNvSpPr txBox="1"/>
            <p:nvPr/>
          </p:nvSpPr>
          <p:spPr>
            <a:xfrm>
              <a:off x="6461570" y="2636758"/>
              <a:ext cx="101123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they need it.</a:t>
              </a:r>
            </a:p>
          </p:txBody>
        </p:sp>
      </p:grpSp>
      <p:sp>
        <p:nvSpPr>
          <p:cNvPr id="23" name="cue_s10_c1_takeaway_simple_pairing_convolutiona" title="cue_s10_c1_takeaway_simple_pairing_convolutiona" descr="cue_s10_c1_takeaway_simple_pairing_convolutiona The takeaway is simple: by pairing convolutional networks with semi-supervised learning to update trusted models and data products, Carbon Monitor Ocean turns a once year-delayed picture of the global ocean carbon sink into a near-real-time, monthly, gridded m"/>
          <p:cNvSpPr/>
          <p:nvPr/>
        </p:nvSpPr>
        <p:spPr>
          <a:xfrm>
            <a:off x="609600"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ue_s10_c2_gives_scientists_policymakers_far_ti" title="cue_s10_c2_gives_scientists_policymakers_far_ti" descr="cue_s10_c2_gives_scientists_policymakers_far_ti That gives scientists and policymakers a far timelier and spatially detailed constraint on how much carbon the ocean is taking up, right when they need it for the carbon budget and climate decisions."/>
          <p:cNvSpPr/>
          <p:nvPr/>
        </p:nvSpPr>
        <p:spPr>
          <a:xfrm>
            <a:off x="6220358" y="1428521"/>
            <a:ext cx="5362041"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8F1FA"/>
      </a:dk1>
      <a:lt1>
        <a:srgbClr val="0B1A2A"/>
      </a:lt1>
      <a:dk2>
        <a:srgbClr val="9DB6CC"/>
      </a:dk2>
      <a:lt2>
        <a:srgbClr val="12283D"/>
      </a:lt2>
      <a:accent1>
        <a:srgbClr val="38BDF8"/>
      </a:accent1>
      <a:accent2>
        <a:srgbClr val="34D399"/>
      </a:accent2>
      <a:accent3>
        <a:srgbClr val="34D399"/>
      </a:accent3>
      <a:accent4>
        <a:srgbClr val="244461"/>
      </a:accent4>
      <a:accent5>
        <a:srgbClr val="12283D"/>
      </a:accent5>
      <a:accent6>
        <a:srgbClr val="12283D"/>
      </a:accent6>
      <a:hlink>
        <a:srgbClr val="34D399"/>
      </a:hlink>
      <a:folHlink>
        <a:srgbClr val="34D399"/>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2026-07-16T13:38:36Z</dcterms:created>
  <dcterms:modified xsi:type="dcterms:W3CDTF">2026-07-16T13:38:36Z</dcterms:modified>
  <cp:category/>
  <cp:contentStatus/>
</cp:coreProperties>
</file>
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176077"/>
          </a:xfrm>
          <a:prstGeom prst="roundRect">
            <a:avLst>
              <a:gd name="adj" fmla="val 3406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1801197"/>
            <a:ext cx="4571404" cy="18774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69205" y="1801197"/>
            <a:ext cx="17780" cy="1877457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5349418"/>
            <a:ext cx="10198774" cy="8218805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77381" y="5349418"/>
            <a:ext cx="15476379" cy="24722534"/>
          </a:xfrm>
          <a:prstGeom prst="roundRect">
            <a:avLst>
              <a:gd name="adj" fmla="val 45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80480" y="5349418"/>
            <a:ext cx="12748399" cy="8213110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355599" y="5349418"/>
            <a:ext cx="10198913" cy="5839480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355599" y="11520745"/>
            <a:ext cx="10198913" cy="632148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80480" y="13894375"/>
            <a:ext cx="12748399" cy="16177577"/>
          </a:xfrm>
          <a:prstGeom prst="roundRect">
            <a:avLst>
              <a:gd name="adj" fmla="val 557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887" y="13900070"/>
            <a:ext cx="10198774" cy="16171882"/>
          </a:xfrm>
          <a:prstGeom prst="roundRect">
            <a:avLst>
              <a:gd name="adj" fmla="val 697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55599" y="18174077"/>
            <a:ext cx="10198913" cy="11897875"/>
          </a:xfrm>
          <a:prstGeom prst="roundRect">
            <a:avLst>
              <a:gd name="adj" fmla="val 697"/>
            </a:avLst>
          </a:prstGeom>
          <a:solidFill>
            <a:srgbClr val="F6ECF1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355599" y="18174077"/>
            <a:ext cx="53340" cy="11897875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5737522"/>
            <a:ext cx="9422566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6590962"/>
            <a:ext cx="9422566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65485" y="5737522"/>
            <a:ext cx="14700171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65485" y="6590962"/>
            <a:ext cx="14700171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568584" y="5737522"/>
            <a:ext cx="11972191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8584" y="6590962"/>
            <a:ext cx="11972191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743703" y="5737522"/>
            <a:ext cx="9422705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743703" y="6590962"/>
            <a:ext cx="9422705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743703" y="6991012"/>
            <a:ext cx="9422705" cy="3878818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1023877"/>
            <a:ext cx="9422566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1023877"/>
            <a:ext cx="124460" cy="21590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665485" y="11806753"/>
            <a:ext cx="14700171" cy="2571016"/>
          </a:xfrm>
          <a:prstGeom prst="roundRect">
            <a:avLst>
              <a:gd name="adj" fmla="val 8763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743703" y="11908849"/>
            <a:ext cx="9422705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743703" y="12762289"/>
            <a:ext cx="9422705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568584" y="14282479"/>
            <a:ext cx="11972191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568584" y="15135919"/>
            <a:ext cx="11972191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14288174"/>
            <a:ext cx="9422566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5141614"/>
            <a:ext cx="9422566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743703" y="14857273"/>
            <a:ext cx="9422705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743703" y="14857273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788153" y="18562181"/>
            <a:ext cx="9378255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788153" y="19415621"/>
            <a:ext cx="9378255" cy="711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788153" y="20231695"/>
            <a:ext cx="9378255" cy="4380825"/>
          </a:xfrm>
          <a:prstGeom prst="roundRect">
            <a:avLst>
              <a:gd name="adj" fmla="val 4762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9991" y="26007695"/>
            <a:ext cx="9422566" cy="3681987"/>
          </a:xfrm>
          <a:prstGeom prst="roundRect">
            <a:avLst>
              <a:gd name="adj" fmla="val 5665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yonsei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7450" y="1031105"/>
            <a:ext cx="3274993" cy="648961"/>
          </a:xfrm>
          <a:prstGeom prst="rect">
            <a:avLst/>
          </a:prstGeom>
        </p:spPr>
      </p:pic>
      <p:pic>
        <p:nvPicPr>
          <p:cNvPr id="39" name="Picture 38" descr="massachusetts-institute-of-techn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9417" y="1031103"/>
            <a:ext cx="1211401" cy="64896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6521647" y="1893431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8327" y="2000111"/>
            <a:ext cx="1801614" cy="180161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27568584" y="7116861"/>
            <a:ext cx="2457946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CIFAR-10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82939" y="7116861"/>
            <a:ext cx="3713380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Fashion-MNIST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52728" y="7116861"/>
            <a:ext cx="2195552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ViT-Tiny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404688" y="7116861"/>
            <a:ext cx="220347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PiT-Tiny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91025" y="7213262"/>
            <a:ext cx="3929519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991025" y="7213262"/>
            <a:ext cx="11557" cy="3481824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7568584" y="8093094"/>
            <a:ext cx="211345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VGG-16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838451" y="8093094"/>
            <a:ext cx="3581281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|C| = 10 clients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576140" y="8093094"/>
            <a:ext cx="4723646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cut after embedding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665485" y="14963120"/>
            <a:ext cx="14700171" cy="4768373"/>
          </a:xfrm>
          <a:prstGeom prst="roundRect">
            <a:avLst>
              <a:gd name="adj" fmla="val 74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5698" y="14963120"/>
            <a:ext cx="14699745" cy="4768373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41233209" y="15013682"/>
            <a:ext cx="1978719" cy="638690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ROBUST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575390" y="20148907"/>
            <a:ext cx="11958440" cy="7699573"/>
          </a:xfrm>
          <a:prstGeom prst="roundRect">
            <a:avLst>
              <a:gd name="adj" fmla="val 46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75442" y="20148907"/>
            <a:ext cx="11958336" cy="7699573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1665485" y="21455459"/>
            <a:ext cx="14700171" cy="6842383"/>
          </a:xfrm>
          <a:prstGeom prst="roundRect">
            <a:avLst>
              <a:gd name="adj" fmla="val 51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figur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5527" y="21455459"/>
            <a:ext cx="14700087" cy="6842383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27568584" y="18531205"/>
            <a:ext cx="11972191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568584" y="15934491"/>
            <a:ext cx="5529024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568584" y="16632078"/>
            <a:ext cx="5529024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097608" y="15934491"/>
            <a:ext cx="2220556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097608" y="16632078"/>
            <a:ext cx="22205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318164" y="15934491"/>
            <a:ext cx="2220555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318164" y="16632078"/>
            <a:ext cx="2220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538719" y="15934491"/>
            <a:ext cx="2002056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538719" y="16632078"/>
            <a:ext cx="20020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568584" y="16640968"/>
            <a:ext cx="552902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568584" y="17577196"/>
            <a:ext cx="5529024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097608" y="16640968"/>
            <a:ext cx="22205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097608" y="17577196"/>
            <a:ext cx="22205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318164" y="16640968"/>
            <a:ext cx="22205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318164" y="17577196"/>
            <a:ext cx="2220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7538719" y="16640968"/>
            <a:ext cx="20020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538719" y="17577196"/>
            <a:ext cx="20020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568584" y="17586086"/>
            <a:ext cx="5529024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568584" y="18522315"/>
            <a:ext cx="5529024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097608" y="17586086"/>
            <a:ext cx="222055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097608" y="18522315"/>
            <a:ext cx="22205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318164" y="17586086"/>
            <a:ext cx="222055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318164" y="18522315"/>
            <a:ext cx="2220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7538719" y="17586086"/>
            <a:ext cx="200205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538719" y="18522315"/>
            <a:ext cx="20020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568584" y="18531205"/>
            <a:ext cx="552902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568584" y="19467433"/>
            <a:ext cx="5529024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3097608" y="18531205"/>
            <a:ext cx="22205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3097608" y="19467433"/>
            <a:ext cx="22205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5318164" y="18531205"/>
            <a:ext cx="22205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5318164" y="19467433"/>
            <a:ext cx="2220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7538719" y="18531205"/>
            <a:ext cx="20020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538719" y="19467433"/>
            <a:ext cx="200205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55945" y="1328638"/>
            <a:ext cx="38569265" cy="1404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7D2860"/>
                </a:solidFill>
                <a:latin typeface="Arial"/>
              </a:rPr>
              <a:t>Differentially Private CutMix for Split Learning with Vision Transformer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55945" y="2822575"/>
            <a:ext cx="38569265" cy="869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Seungeun Oh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Sihun Baek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Hyelin Nam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Seong-Lyun Kim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Jihong Park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Praneeth Vepakomma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Ramesh Raskar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Mehdi Bennis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55945" y="3635593"/>
            <a:ext cx="38569265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Yonsei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Deakin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Massachusetts Institute of Technology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Oulu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15581" y="1801197"/>
            <a:ext cx="4104203" cy="1199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7D2860"/>
                </a:solidFill>
                <a:latin typeface="Arial"/>
              </a:rPr>
              <a:t>NeurIPS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44358" y="2922448"/>
            <a:ext cx="136678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1B2331"/>
                </a:solidFill>
                <a:latin typeface="Arial"/>
              </a:rPr>
              <a:t>2022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91" y="5737522"/>
            <a:ext cx="9705242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665485" y="5737522"/>
            <a:ext cx="15126891" cy="1063244"/>
          </a:xfrm>
          <a:prstGeom prst="rect">
            <a:avLst/>
          </a:prstGeom>
          <a:noFill/>
        </p:spPr>
        <p:txBody>
          <a:bodyPr wrap="non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568584" y="5737522"/>
            <a:ext cx="12331356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Dataset / Benchmark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743703" y="5737522"/>
            <a:ext cx="9705386" cy="1063244"/>
          </a:xfrm>
          <a:prstGeom prst="rect">
            <a:avLst/>
          </a:prstGeom>
          <a:noFill/>
        </p:spPr>
        <p:txBody>
          <a:bodyPr wrap="square" lIns="0" rIns="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91" y="6982122"/>
            <a:ext cx="9705242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 split learning with a Vision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Transformer, the cut-layer </a:t>
            </a:r>
            <a:r>
              <a:rPr sz="4106" b="1">
                <a:solidFill>
                  <a:srgbClr val="111111"/>
                </a:solidFill>
                <a:latin typeface="Arial"/>
              </a:rPr>
              <a:t>smashed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data</a:t>
            </a:r>
            <a:r>
              <a:rPr sz="4106" b="0">
                <a:solidFill>
                  <a:srgbClr val="1C1C1C"/>
                </a:solidFill>
                <a:latin typeface="Arial"/>
              </a:rPr>
              <a:t> barely differs from the raw input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pooling, no convolution — </a:t>
            </a:r>
            <a:r>
              <a:rPr sz="4106" b="1">
                <a:solidFill>
                  <a:srgbClr val="111111"/>
                </a:solidFill>
                <a:latin typeface="Arial"/>
              </a:rPr>
              <a:t>leaking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privacy</a:t>
            </a:r>
            <a:r>
              <a:rPr sz="4106" b="0">
                <a:solidFill>
                  <a:srgbClr val="1C1C1C"/>
                </a:solidFill>
                <a:latin typeface="Arial"/>
              </a:rPr>
              <a:t> and inflating cost.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568584" y="9047658"/>
            <a:ext cx="12331356" cy="4445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PiT-Tiny inserts a pooling layer, bridging pure ViT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CNN; the cut-layer sits right after patch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embedding. Standalone, SL and SplitFed 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baselines. RDP computed at patch size N = 64,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sensitivity Δ = 0.2, uniform λ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 = 1/n, order α = 2.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9991" y="11023877"/>
            <a:ext cx="9705242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 pooling, no convolution: a ViT's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smashed data barely distorts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input, so it leaks like the raw image.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743703" y="11908849"/>
            <a:ext cx="9705386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Ablation Study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944367" y="13937436"/>
            <a:ext cx="838653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Tinos"/>
              </a:rPr>
              <a:t>Randomized inter-client CutMix provably tightens the Rényi-DP budget.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568584" y="14282479"/>
            <a:ext cx="12331356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9991" y="14288174"/>
            <a:ext cx="9705242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788153" y="18562181"/>
            <a:ext cx="9659602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788153" y="20231695"/>
            <a:ext cx="9659602" cy="5037948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For Vision Transformers, DP-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CutMixSL breaks the privacy–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accuracy trade-off: mixing noisy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masked patches across clients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both tightens the DP guarantee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and</a:t>
            </a:r>
            <a:r>
              <a:rPr sz="4106" b="1">
                <a:solidFill>
                  <a:srgbClr val="FFFFFF"/>
                </a:solidFill>
                <a:latin typeface="Arial"/>
              </a:rPr>
              <a:t> improves accuracy.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788153" y="25037434"/>
            <a:ext cx="9659602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Patch-level, global-attention ViT makes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patch CutMix work where it would hurt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CNN — a privacy regularizer for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transformer era, with the privacy gain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provably bounded by a Mixup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counterpart.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9991" y="26007695"/>
            <a:ext cx="9705242" cy="4234285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Global self-attention makes ViT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robust to noise on part of the image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— ideal for Cutout / CutMix-style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regularization, so masking whole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patches costs little accuracy.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105331" y="4078982"/>
            <a:ext cx="873034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665467" y="7166034"/>
            <a:ext cx="15126909" cy="19347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mixer</a:t>
            </a:r>
            <a:r>
              <a:rPr sz="4106" b="0">
                <a:solidFill>
                  <a:srgbClr val="1C1C1C"/>
                </a:solidFill>
                <a:latin typeface="Arial"/>
              </a:rPr>
              <a:t> shares a pseudorandom binary mask M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 (Dirichlet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ratios λ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, Σλ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 = 1) to each client.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665467" y="9030989"/>
            <a:ext cx="15126909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Clients mask smashed data (</a:t>
            </a:r>
            <a:r>
              <a:rPr sz="4106" b="1">
                <a:solidFill>
                  <a:srgbClr val="111111"/>
                </a:solidFill>
                <a:latin typeface="Arial"/>
              </a:rPr>
              <a:t>Cutout</a:t>
            </a:r>
            <a:r>
              <a:rPr sz="4106" b="0">
                <a:solidFill>
                  <a:srgbClr val="1C1C1C"/>
                </a:solidFill>
                <a:latin typeface="Arial"/>
              </a:rPr>
              <a:t>) and add Gaussian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noise; the server sums complementary patches → </a:t>
            </a:r>
            <a:r>
              <a:rPr sz="4106" b="1">
                <a:solidFill>
                  <a:srgbClr val="111111"/>
                </a:solidFill>
                <a:latin typeface="Arial"/>
              </a:rPr>
              <a:t>DP-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CutMix</a:t>
            </a:r>
            <a:r>
              <a:rPr sz="4106" b="0">
                <a:solidFill>
                  <a:srgbClr val="1C1C1C"/>
                </a:solidFill>
                <a:latin typeface="Arial"/>
              </a:rPr>
              <a:t>, then propagates as in vanilla SL.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743685" y="13157894"/>
            <a:ext cx="970540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DP-CutMixSL</a:t>
            </a:r>
            <a:r>
              <a:rPr sz="4106" b="0">
                <a:solidFill>
                  <a:srgbClr val="1C1C1C"/>
                </a:solidFill>
                <a:latin typeface="Arial"/>
              </a:rPr>
              <a:t> wins accuracy 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almost every noise level.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233209" y="15860871"/>
            <a:ext cx="8825198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Recon. MSE: Cutout &gt; Patch CutMix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&gt; Mixup — 8× harder to invert.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972" y="15959216"/>
            <a:ext cx="970526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ViT is displacing CNN in vision, so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privacy-preserving distributed training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must be rethought for pooling-free,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patch-level transformer architectures.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9972" y="19166562"/>
            <a:ext cx="970526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Its cut-layer output barely distorts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input, so regularizing smashed data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works as well as regularizing the raw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image — but leaks privacy.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253475" y="19881095"/>
            <a:ext cx="13929773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DP-CutMixSL: a shared mask → Gaussian-DP Cutout at clients → the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server stitches surviving patches into DP-CutMix smashed data.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9972" y="22373907"/>
            <a:ext cx="970526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Three ViT traits — low distortion,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noise-robust attention, and patch-level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operation — point to a single </a:t>
            </a:r>
            <a:r>
              <a:rPr sz="4106" b="1">
                <a:solidFill>
                  <a:srgbClr val="111111"/>
                </a:solidFill>
                <a:latin typeface="Arial"/>
              </a:rPr>
              <a:t>patch-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scale regularizer</a:t>
            </a:r>
            <a:r>
              <a:rPr sz="4106" b="0">
                <a:solidFill>
                  <a:srgbClr val="1C1C1C"/>
                </a:solidFill>
                <a:latin typeface="Arial"/>
              </a:rPr>
              <a:t> across clients.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8053784" y="27998082"/>
            <a:ext cx="11331701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Accuracy &amp; RDP ε vs. noise variance (CIFAR-10): DP-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CutMixSL leads accuracy at nearly every level, at a tighter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privacy budget than DP-SL.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253475" y="28447444"/>
            <a:ext cx="13929773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Interpolation schemes on raw images vs. smashed data: patch-level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Cutout, Patch CutMix, CutMix, Mixup.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989567" y="7540803"/>
            <a:ext cx="456060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73.77%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989567" y="8915697"/>
            <a:ext cx="4560609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Top-1 · CIFAR-10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ViT-Tiny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989567" y="9958605"/>
            <a:ext cx="4560609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+16.56 pp over plain SL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469280" y="7213262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71.26%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468280" y="7346612"/>
            <a:ext cx="149583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PiT-Tiny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top-1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469280" y="8460779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89.75%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468280" y="8594129"/>
            <a:ext cx="149583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F-MNIST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· ViT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469280" y="9708296"/>
            <a:ext cx="951437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~8×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575529" y="9841646"/>
            <a:ext cx="2415365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harder to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invert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568584" y="15934491"/>
            <a:ext cx="5694894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CIFAR-10 TOP-1 (|C|=10)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097608" y="15934491"/>
            <a:ext cx="228717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VIT-TINY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318164" y="15934491"/>
            <a:ext cx="2287171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PIT-TINY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538719" y="15934491"/>
            <a:ext cx="2062117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VGG-16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568584" y="16640968"/>
            <a:ext cx="569489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097608" y="16640968"/>
            <a:ext cx="228717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57.21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318164" y="16640968"/>
            <a:ext cx="228717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52.28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7538719" y="16640968"/>
            <a:ext cx="206211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62.62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568584" y="17586086"/>
            <a:ext cx="5694894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SplitFed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097608" y="17586086"/>
            <a:ext cx="2287172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67.88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318164" y="17586086"/>
            <a:ext cx="2287171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55.63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538719" y="17586086"/>
            <a:ext cx="2062117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63.98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568584" y="18531205"/>
            <a:ext cx="569489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CutMixSL (ours)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097608" y="18531205"/>
            <a:ext cx="228717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73.77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318164" y="18531205"/>
            <a:ext cx="228717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71.26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538719" y="18531205"/>
            <a:ext cx="206211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67.53</a:t>
            </a:r>
          </a:p>
        </p:txBody>
      </p:sp>
      <p:pic>
        <p:nvPicPr>
          <p:cNvPr id="147" name="Picture 146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8591" y="12446416"/>
            <a:ext cx="13893959" cy="883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
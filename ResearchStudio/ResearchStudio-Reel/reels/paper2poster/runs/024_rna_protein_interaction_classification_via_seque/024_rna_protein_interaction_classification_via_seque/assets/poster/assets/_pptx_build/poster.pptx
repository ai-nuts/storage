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03442"/>
          </a:xfrm>
          <a:prstGeom prst="roundRect">
            <a:avLst>
              <a:gd name="adj" fmla="val 3383"/>
            </a:avLst>
          </a:prstGeom>
          <a:solidFill>
            <a:srgbClr val="E2EF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376783"/>
            <a:ext cx="10804961" cy="24695169"/>
          </a:xfrm>
          <a:prstGeom prst="roundRect">
            <a:avLst>
              <a:gd name="adj" fmla="val 493"/>
            </a:avLst>
          </a:prstGeom>
          <a:solidFill>
            <a:srgbClr val="FAFAF7"/>
          </a:solidFill>
          <a:ln w="8890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3568" y="5376783"/>
            <a:ext cx="13506133" cy="5797947"/>
          </a:xfrm>
          <a:prstGeom prst="roundRect">
            <a:avLst>
              <a:gd name="adj" fmla="val 919"/>
            </a:avLst>
          </a:prstGeom>
          <a:solidFill>
            <a:srgbClr val="FAFAF7"/>
          </a:solidFill>
          <a:ln w="8890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816421" y="5376783"/>
            <a:ext cx="13506271" cy="16772096"/>
          </a:xfrm>
          <a:prstGeom prst="roundRect">
            <a:avLst>
              <a:gd name="adj" fmla="val 394"/>
            </a:avLst>
          </a:prstGeom>
          <a:solidFill>
            <a:srgbClr val="FAFAF7"/>
          </a:solidFill>
          <a:ln w="8890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49412" y="5376783"/>
            <a:ext cx="10804962" cy="5646817"/>
          </a:xfrm>
          <a:prstGeom prst="roundRect">
            <a:avLst>
              <a:gd name="adj" fmla="val 944"/>
            </a:avLst>
          </a:prstGeom>
          <a:solidFill>
            <a:srgbClr val="FAFAF7"/>
          </a:solidFill>
          <a:ln w="8890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49412" y="11272520"/>
            <a:ext cx="10804962" cy="13591976"/>
          </a:xfrm>
          <a:prstGeom prst="roundRect">
            <a:avLst>
              <a:gd name="adj" fmla="val 493"/>
            </a:avLst>
          </a:prstGeom>
          <a:solidFill>
            <a:srgbClr val="E9F2F3"/>
          </a:solidFill>
          <a:ln w="8890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749412" y="11272520"/>
            <a:ext cx="53340" cy="13591976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3568" y="11423650"/>
            <a:ext cx="13506133" cy="8337014"/>
          </a:xfrm>
          <a:prstGeom prst="roundRect">
            <a:avLst>
              <a:gd name="adj" fmla="val 639"/>
            </a:avLst>
          </a:prstGeom>
          <a:solidFill>
            <a:srgbClr val="FAFAF7"/>
          </a:solidFill>
          <a:ln w="8890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883568" y="20009584"/>
            <a:ext cx="13506133" cy="10062368"/>
          </a:xfrm>
          <a:prstGeom prst="roundRect">
            <a:avLst>
              <a:gd name="adj" fmla="val 530"/>
            </a:avLst>
          </a:prstGeom>
          <a:solidFill>
            <a:srgbClr val="FAFAF7"/>
          </a:solidFill>
          <a:ln w="8890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816421" y="22397799"/>
            <a:ext cx="13506271" cy="7674153"/>
          </a:xfrm>
          <a:prstGeom prst="roundRect">
            <a:avLst>
              <a:gd name="adj" fmla="val 695"/>
            </a:avLst>
          </a:prstGeom>
          <a:solidFill>
            <a:srgbClr val="FAFAF7"/>
          </a:solidFill>
          <a:ln w="8890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749412" y="25113416"/>
            <a:ext cx="10804962" cy="4958536"/>
          </a:xfrm>
          <a:prstGeom prst="roundRect">
            <a:avLst>
              <a:gd name="adj" fmla="val 1075"/>
            </a:avLst>
          </a:prstGeom>
          <a:solidFill>
            <a:srgbClr val="FAFAF7"/>
          </a:solidFill>
          <a:ln w="8890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niversity-of-freibu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956" y="1559361"/>
            <a:ext cx="1111250" cy="1111250"/>
          </a:xfrm>
          <a:prstGeom prst="rect">
            <a:avLst/>
          </a:prstGeom>
        </p:spPr>
      </p:pic>
      <p:pic>
        <p:nvPicPr>
          <p:cNvPr id="14" name="Picture 13" descr="_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6355" y="1805383"/>
            <a:ext cx="6526649" cy="1896449"/>
          </a:xfrm>
          <a:prstGeom prst="rect">
            <a:avLst/>
          </a:prstGeom>
        </p:spPr>
      </p:pic>
      <p:pic>
        <p:nvPicPr>
          <p:cNvPr id="15" name="Picture 14" descr="ellis-institute-t-bing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983" y="2836470"/>
            <a:ext cx="11339195" cy="1111241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2271672" y="5622647"/>
            <a:ext cx="12729925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271672" y="6582767"/>
            <a:ext cx="12729925" cy="17780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9991" y="5764887"/>
            <a:ext cx="10028753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9991" y="6725007"/>
            <a:ext cx="10028753" cy="17780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204525" y="5764887"/>
            <a:ext cx="12730063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204525" y="6725007"/>
            <a:ext cx="12730063" cy="17780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137516" y="5764887"/>
            <a:ext cx="10028754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137516" y="6725007"/>
            <a:ext cx="10028754" cy="17780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137516" y="7062827"/>
            <a:ext cx="10028754" cy="3632676"/>
          </a:xfrm>
          <a:prstGeom prst="roundRect">
            <a:avLst>
              <a:gd name="adj" fmla="val 1957"/>
            </a:avLst>
          </a:prstGeom>
          <a:gradFill rotWithShape="1" flip="none">
            <a:gsLst>
              <a:gs pos="0">
                <a:srgbClr val="E2ECEE"/>
              </a:gs>
              <a:gs pos="100000">
                <a:srgbClr val="F1F5F6"/>
              </a:gs>
            </a:gsLst>
            <a:lin ang="5400000" scaled="0"/>
          </a:gradFill>
          <a:ln w="8890">
            <a:solidFill>
              <a:srgbClr val="C3D7DB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9991" y="7594560"/>
            <a:ext cx="10028753" cy="1455321"/>
          </a:xfrm>
          <a:prstGeom prst="roundRect">
            <a:avLst>
              <a:gd name="adj" fmla="val 15481"/>
            </a:avLst>
          </a:prstGeom>
          <a:solidFill>
            <a:srgbClr val="F1F5F6"/>
          </a:solidFill>
          <a:ln w="8890">
            <a:solidFill>
              <a:srgbClr val="B2C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271672" y="9449931"/>
            <a:ext cx="12729925" cy="14810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271672" y="9449931"/>
            <a:ext cx="124460" cy="1481018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181966" y="11660624"/>
            <a:ext cx="9984304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181966" y="12620744"/>
            <a:ext cx="9984304" cy="17780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271672" y="11669514"/>
            <a:ext cx="12729925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271672" y="12629634"/>
            <a:ext cx="12729925" cy="17780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0181966" y="13152060"/>
            <a:ext cx="9984304" cy="4380825"/>
          </a:xfrm>
          <a:prstGeom prst="roundRect">
            <a:avLst>
              <a:gd name="adj" fmla="val 4762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0181966" y="17726382"/>
            <a:ext cx="9984304" cy="3428623"/>
          </a:xfrm>
          <a:prstGeom prst="roundRect">
            <a:avLst>
              <a:gd name="adj" fmla="val 5324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181966" y="17726382"/>
            <a:ext cx="124460" cy="3428623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271672" y="17869733"/>
            <a:ext cx="12729925" cy="1647984"/>
          </a:xfrm>
          <a:prstGeom prst="roundRect">
            <a:avLst>
              <a:gd name="adj" fmla="val 12659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271672" y="20255448"/>
            <a:ext cx="12729925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271672" y="21215568"/>
            <a:ext cx="12729925" cy="17780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204525" y="22785903"/>
            <a:ext cx="12730063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204525" y="23746023"/>
            <a:ext cx="12730063" cy="17780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204525" y="27875984"/>
            <a:ext cx="12730063" cy="15679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6204525" y="27875984"/>
            <a:ext cx="12730063" cy="11557"/>
          </a:xfrm>
          <a:prstGeom prst="rect">
            <a:avLst/>
          </a:prstGeom>
          <a:solidFill>
            <a:srgbClr val="AB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816281" y="7285077"/>
            <a:ext cx="4104124" cy="323568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816281" y="7285077"/>
            <a:ext cx="11557" cy="3235682"/>
          </a:xfrm>
          <a:prstGeom prst="rect">
            <a:avLst/>
          </a:prstGeom>
          <a:solidFill>
            <a:srgbClr val="C3D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6332874" y="7553721"/>
            <a:ext cx="12473226" cy="12371686"/>
          </a:xfrm>
          <a:prstGeom prst="roundRect">
            <a:avLst>
              <a:gd name="adj" fmla="val 28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page5_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2894" y="7553721"/>
            <a:ext cx="12473185" cy="12371686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1039991" y="9842341"/>
            <a:ext cx="10028753" cy="18456334"/>
          </a:xfrm>
          <a:prstGeom prst="roundRect">
            <a:avLst>
              <a:gd name="adj" fmla="val 354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page17_figur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003" y="9842341"/>
            <a:ext cx="10028728" cy="18456334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40671472" y="17882790"/>
            <a:ext cx="1473795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FIRST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650177" y="25501520"/>
            <a:ext cx="3003431" cy="515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650177" y="25999221"/>
            <a:ext cx="3003431" cy="17780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2271672" y="29009875"/>
            <a:ext cx="2408496" cy="819825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RNAInter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836576" y="29009875"/>
            <a:ext cx="1571030" cy="819825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NCBI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6564014" y="29009875"/>
            <a:ext cx="2088178" cy="819825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UniProt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808600" y="29009875"/>
            <a:ext cx="2335014" cy="819825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Ensembl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1300023" y="29009875"/>
            <a:ext cx="1596033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Rfam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052464" y="29009875"/>
            <a:ext cx="1571446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Pfam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204525" y="26803488"/>
            <a:ext cx="12730063" cy="945119"/>
          </a:xfrm>
          <a:prstGeom prst="rect">
            <a:avLst/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6204525" y="24206775"/>
            <a:ext cx="8003222" cy="706477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6204525" y="24904362"/>
            <a:ext cx="8003222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4207747" y="24206775"/>
            <a:ext cx="2363351" cy="706477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207747" y="24904362"/>
            <a:ext cx="2363351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6571098" y="24206775"/>
            <a:ext cx="2363490" cy="706477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571098" y="24904362"/>
            <a:ext cx="2363490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6204525" y="24913252"/>
            <a:ext cx="800322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6204525" y="25849480"/>
            <a:ext cx="8003222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4207747" y="24913252"/>
            <a:ext cx="236335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4207747" y="25849480"/>
            <a:ext cx="2363351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6571098" y="24913252"/>
            <a:ext cx="236349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6571098" y="25849480"/>
            <a:ext cx="2363490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6204525" y="25858370"/>
            <a:ext cx="800322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6204525" y="26794598"/>
            <a:ext cx="8003222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4207747" y="25858370"/>
            <a:ext cx="236335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4207747" y="26794598"/>
            <a:ext cx="2363351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6571098" y="25858370"/>
            <a:ext cx="236349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6571098" y="26794598"/>
            <a:ext cx="2363490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2010806" y="26206608"/>
            <a:ext cx="2844800" cy="2844800"/>
          </a:xfrm>
          <a:prstGeom prst="roundRect">
            <a:avLst>
              <a:gd name="adj" fmla="val 5416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pap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29339" y="26325141"/>
            <a:ext cx="2607734" cy="2607734"/>
          </a:xfrm>
          <a:prstGeom prst="rect">
            <a:avLst/>
          </a:prstGeom>
        </p:spPr>
      </p:pic>
      <p:sp>
        <p:nvSpPr>
          <p:cNvPr id="78" name="Rounded Rectangle 77"/>
          <p:cNvSpPr/>
          <p:nvPr/>
        </p:nvSpPr>
        <p:spPr>
          <a:xfrm>
            <a:off x="45448180" y="26206608"/>
            <a:ext cx="2844800" cy="2844800"/>
          </a:xfrm>
          <a:prstGeom prst="roundRect">
            <a:avLst>
              <a:gd name="adj" fmla="val 5416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66713" y="26325141"/>
            <a:ext cx="2607734" cy="2607734"/>
          </a:xfrm>
          <a:prstGeom prst="rect">
            <a:avLst/>
          </a:prstGeom>
        </p:spPr>
      </p:pic>
      <p:sp>
        <p:nvSpPr>
          <p:cNvPr id="80" name="Rectangle 79"/>
          <p:cNvSpPr/>
          <p:nvPr/>
        </p:nvSpPr>
        <p:spPr>
          <a:xfrm>
            <a:off x="26204525" y="26803488"/>
            <a:ext cx="8003222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6204525" y="27739717"/>
            <a:ext cx="8003222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4207747" y="26803488"/>
            <a:ext cx="2363351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4207747" y="27739717"/>
            <a:ext cx="2363351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6571098" y="26803488"/>
            <a:ext cx="2363490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6571098" y="27739717"/>
            <a:ext cx="2363490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42788125" y="29193648"/>
            <a:ext cx="1290022" cy="541596"/>
          </a:xfrm>
          <a:prstGeom prst="roundRect">
            <a:avLst>
              <a:gd name="adj" fmla="val 50000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0F6070"/>
                </a:solidFill>
                <a:latin typeface="Arial"/>
              </a:rPr>
              <a:t>Paper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6091038" y="29193648"/>
            <a:ext cx="1559084" cy="541596"/>
          </a:xfrm>
          <a:prstGeom prst="roundRect">
            <a:avLst>
              <a:gd name="adj" fmla="val 50000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0F6070"/>
                </a:solidFill>
                <a:latin typeface="Arial"/>
              </a:rPr>
              <a:t>Dataset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09"/>
              </a:lnSpc>
              <a:spcBef>
                <a:spcPts val="0"/>
              </a:spcBef>
              <a:spcAft>
                <a:spcPts val="0"/>
              </a:spcAft>
            </a:pPr>
            <a:r>
              <a:rPr sz="6918" b="1" spc="-78">
                <a:solidFill>
                  <a:srgbClr val="0F6070"/>
                </a:solidFill>
                <a:latin typeface="Arial"/>
              </a:rPr>
              <a:t>RNA-Protein Interaction Classification via Sequence</a:t>
            </a:r>
          </a:p>
          <a:p>
            <a:pPr algn="ctr">
              <a:lnSpc>
                <a:spcPts val="7609"/>
              </a:lnSpc>
              <a:spcBef>
                <a:spcPts val="0"/>
              </a:spcBef>
              <a:spcAft>
                <a:spcPts val="0"/>
              </a:spcAft>
            </a:pPr>
            <a:r>
              <a:rPr sz="6918" b="1" spc="-78">
                <a:solidFill>
                  <a:srgbClr val="0F6070"/>
                </a:solidFill>
                <a:latin typeface="Arial"/>
              </a:rPr>
              <a:t>Embeddings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Dominika Matus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Frederic Runge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Jörg K.H. Franke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Lars Gerne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Michael Uhl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Frank Hutter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1,2</a:t>
            </a:r>
            <a:r>
              <a:rPr sz="3733" b="0">
                <a:solidFill>
                  <a:srgbClr val="1B2331"/>
                </a:solidFill>
                <a:latin typeface="Arial"/>
              </a:rPr>
              <a:t>, Rolf Backofen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University of Freiburg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ELLIS Institute Tübingen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271672" y="5622647"/>
            <a:ext cx="13111822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Problem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39991" y="5764887"/>
            <a:ext cx="10329615" cy="1124585"/>
          </a:xfrm>
          <a:prstGeom prst="rect">
            <a:avLst/>
          </a:prstGeom>
          <a:noFill/>
        </p:spPr>
        <p:txBody>
          <a:bodyPr wrap="non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Method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6204525" y="5764887"/>
            <a:ext cx="13111964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Key Results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137516" y="5764887"/>
            <a:ext cx="10329616" cy="1124585"/>
          </a:xfrm>
          <a:prstGeom prst="rect">
            <a:avLst/>
          </a:prstGeom>
          <a:noFill/>
        </p:spPr>
        <p:txBody>
          <a:bodyPr wrap="square" lIns="0" rIns="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Headline Numbers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271672" y="6920587"/>
            <a:ext cx="1311182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Predicting whether an ncRNA and protein interact </a:t>
            </a:r>
            <a:r>
              <a:rPr sz="4106" b="1">
                <a:solidFill>
                  <a:srgbClr val="111111"/>
                </a:solidFill>
                <a:latin typeface="Arial"/>
              </a:rPr>
              <a:t>from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sequence alone</a:t>
            </a:r>
            <a:r>
              <a:rPr sz="4106" b="0">
                <a:solidFill>
                  <a:srgbClr val="1C1C1C"/>
                </a:solidFill>
                <a:latin typeface="Arial"/>
              </a:rPr>
              <a:t> is largely unsolved: most methods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are protein-specific and need a dataset per protein.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529357" y="8609548"/>
            <a:ext cx="9321377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Tinos"/>
              </a:rPr>
              <a:t>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Tinos"/>
              </a:rPr>
              <a:t> </a:t>
            </a:r>
            <a:r>
              <a:rPr sz="2217" b="0" i="1">
                <a:solidFill>
                  <a:srgbClr val="555555"/>
                </a:solidFill>
                <a:latin typeface="Tinos"/>
              </a:rPr>
              <a:t>RNA-FM + ESM-2 embeddings → symmetric encoders → sigmoid over latent </a:t>
            </a:r>
            <a:r>
              <a:rPr sz="2217" b="1" i="1">
                <a:solidFill>
                  <a:srgbClr val="111111"/>
                </a:solidFill>
                <a:latin typeface="Tinos"/>
              </a:rPr>
              <a:t>h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271672" y="9449931"/>
            <a:ext cx="13111822" cy="1703170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Datasets exist for only a few hundred of the ~2,000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human RNA-binding proteins.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0181966" y="11660624"/>
            <a:ext cx="10283833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Takeaway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271672" y="11669514"/>
            <a:ext cx="13111822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Motivation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0181966" y="13152060"/>
            <a:ext cx="10283833" cy="5037948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Feeding RNA + protein foundation-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model embeddings into a compact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attention classifier yields the first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strong sequence-only predictor that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generalizes across unseen RNA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families.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271672" y="17869733"/>
            <a:ext cx="13111822" cy="1895181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0F6070"/>
                </a:solidFill>
                <a:latin typeface="Arial"/>
              </a:rPr>
              <a:t>Meta-learning across interaction types remains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0F6070"/>
                </a:solidFill>
                <a:latin typeface="Arial"/>
              </a:rPr>
              <a:t>largely unexplored.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271672" y="20255448"/>
            <a:ext cx="13111822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Dataset / Benchmark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181966" y="21348501"/>
            <a:ext cx="10283833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released </a:t>
            </a:r>
            <a:r>
              <a:rPr sz="4106" b="1">
                <a:solidFill>
                  <a:srgbClr val="111111"/>
                </a:solidFill>
                <a:latin typeface="Arial"/>
              </a:rPr>
              <a:t>RNAInterAct</a:t>
            </a:r>
            <a:r>
              <a:rPr sz="4106" b="0">
                <a:solidFill>
                  <a:srgbClr val="1C1C1C"/>
                </a:solidFill>
                <a:latin typeface="Arial"/>
              </a:rPr>
              <a:t> dataset, split to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remove homology bias, gives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community a fair benchmark for further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progress.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6204525" y="22785903"/>
            <a:ext cx="13111964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Ablation Study 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6204525" y="27875984"/>
            <a:ext cx="13111964" cy="1803168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Replace either embedding and the model collapses to a negative-only classifier — both are essential.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271654" y="12967454"/>
            <a:ext cx="13111841" cy="26089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</a:t>
            </a:r>
            <a:r>
              <a:rPr sz="4106" b="1">
                <a:solidFill>
                  <a:srgbClr val="111111"/>
                </a:solidFill>
                <a:latin typeface="Arial"/>
              </a:rPr>
              <a:t>sequence-only</a:t>
            </a:r>
            <a:r>
              <a:rPr sz="4106" b="0">
                <a:solidFill>
                  <a:srgbClr val="1C1C1C"/>
                </a:solidFill>
                <a:latin typeface="Arial"/>
              </a:rPr>
              <a:t> classifier across diverse RNA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protein types unlocks the vast interaction space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without per-protein data.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271654" y="15418593"/>
            <a:ext cx="13111841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Foundation models trained on massive unlabeled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corpora inject </a:t>
            </a:r>
            <a:r>
              <a:rPr sz="4106" b="1">
                <a:solidFill>
                  <a:srgbClr val="111111"/>
                </a:solidFill>
                <a:latin typeface="Arial"/>
              </a:rPr>
              <a:t>structural and functional priors</a:t>
            </a:r>
            <a:r>
              <a:rPr sz="4106" b="0">
                <a:solidFill>
                  <a:srgbClr val="1C1C1C"/>
                </a:solidFill>
                <a:latin typeface="Arial"/>
              </a:rPr>
              <a:t> that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are otherwise unavailable for RNAs at scale.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0671472" y="18729979"/>
            <a:ext cx="940364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general, sequence-only ncRNA-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protein interaction predictor that needs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no per-protein training data.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6831825" y="20075009"/>
            <a:ext cx="11819582" cy="1917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ROC on held-out TSfam: AUC 0.70 vs 0.48 (XRPI) and 0.50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(IPMiner), which sit at chance. RPIembeddor generalizes to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unseen RNA families.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271654" y="21983025"/>
            <a:ext cx="13111841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From </a:t>
            </a:r>
            <a:r>
              <a:rPr sz="4106" b="1">
                <a:solidFill>
                  <a:srgbClr val="111111"/>
                </a:solidFill>
                <a:latin typeface="Arial"/>
              </a:rPr>
              <a:t>RNAInter</a:t>
            </a:r>
            <a:r>
              <a:rPr sz="4106" b="0">
                <a:solidFill>
                  <a:srgbClr val="1C1C1C"/>
                </a:solidFill>
                <a:latin typeface="Arial"/>
              </a:rPr>
              <a:t> (&gt;47M interactions); sequences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recovered via NCBI, UniProt and Ensembl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annotated with Rfam and Pfam.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271654" y="24434165"/>
            <a:ext cx="13111841" cy="26089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122,217</a:t>
            </a:r>
            <a:r>
              <a:rPr sz="4106" b="0">
                <a:solidFill>
                  <a:srgbClr val="1C1C1C"/>
                </a:solidFill>
                <a:latin typeface="Arial"/>
              </a:rPr>
              <a:t> interactions (1:2 pos:neg) with </a:t>
            </a:r>
            <a:r>
              <a:rPr sz="4106" b="1">
                <a:solidFill>
                  <a:srgbClr val="111111"/>
                </a:solidFill>
                <a:latin typeface="Arial"/>
              </a:rPr>
              <a:t>realistic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negatives</a:t>
            </a:r>
            <a:r>
              <a:rPr sz="4106" b="0">
                <a:solidFill>
                  <a:srgbClr val="1C1C1C"/>
                </a:solidFill>
                <a:latin typeface="Arial"/>
              </a:rPr>
              <a:t>, split by RNA family so no family is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shared between train and test.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3650177" y="25501520"/>
            <a:ext cx="3093533" cy="5928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0F6070"/>
                </a:solidFill>
                <a:latin typeface="Arial"/>
              </a:rPr>
              <a:t>Scan to Read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271654" y="26885304"/>
            <a:ext cx="13111841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Splits by family: TRinter </a:t>
            </a:r>
            <a:r>
              <a:rPr sz="4106" b="1">
                <a:solidFill>
                  <a:srgbClr val="111111"/>
                </a:solidFill>
                <a:latin typeface="Arial"/>
              </a:rPr>
              <a:t>109,214</a:t>
            </a:r>
            <a:r>
              <a:rPr sz="4106" b="0">
                <a:solidFill>
                  <a:srgbClr val="1C1C1C"/>
                </a:solidFill>
                <a:latin typeface="Arial"/>
              </a:rPr>
              <a:t> · TSfam </a:t>
            </a:r>
            <a:r>
              <a:rPr sz="4106" b="1">
                <a:solidFill>
                  <a:srgbClr val="111111"/>
                </a:solidFill>
                <a:latin typeface="Arial"/>
              </a:rPr>
              <a:t>13,003</a:t>
            </a:r>
            <a:r>
              <a:rPr sz="4106" b="0">
                <a:solidFill>
                  <a:srgbClr val="1C1C1C"/>
                </a:solidFill>
                <a:latin typeface="Arial"/>
              </a:rPr>
              <a:t> ·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external RPI2825.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441152" y="28448277"/>
            <a:ext cx="9503223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RPIembeddor architecture — dual embeddings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→ encoders → sigmoid. 1.4M parameters.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0383380" y="7285077"/>
            <a:ext cx="5004995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0F6070"/>
                </a:solidFill>
                <a:latin typeface="Arial"/>
              </a:rPr>
              <a:t>0.70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0383380" y="8659971"/>
            <a:ext cx="5004995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ROC AUC on unseen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RNA families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0383380" y="9702879"/>
            <a:ext cx="5004995" cy="940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vs 0.48–0.50 (chance)</a:t>
            </a:r>
          </a:p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baselines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6294536" y="7285077"/>
            <a:ext cx="137722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0.586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7814170" y="7418427"/>
            <a:ext cx="2110333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F1 on TSfam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294536" y="8450500"/>
            <a:ext cx="132013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122K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7758746" y="8583850"/>
            <a:ext cx="1873117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interactions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6294536" y="9616062"/>
            <a:ext cx="1225995" cy="6269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1.4M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7667346" y="9749412"/>
            <a:ext cx="232065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model params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6204525" y="24206775"/>
            <a:ext cx="8243318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EMBEDDINGS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4207747" y="24206775"/>
            <a:ext cx="2434251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F1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6571098" y="24206775"/>
            <a:ext cx="2434394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ACC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6204525" y="24913252"/>
            <a:ext cx="824331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Random RNA-FM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4207747" y="24913252"/>
            <a:ext cx="243425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6571098" y="24913252"/>
            <a:ext cx="243439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0.624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6204525" y="25858370"/>
            <a:ext cx="824331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Random ESM-2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4207747" y="25858370"/>
            <a:ext cx="243425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6571098" y="25858370"/>
            <a:ext cx="243439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0.624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6204525" y="26803488"/>
            <a:ext cx="8243318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Full (RNA-FM + ESM-2)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4207747" y="26803488"/>
            <a:ext cx="2434251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0.605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6571098" y="26803488"/>
            <a:ext cx="2434394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0.678</a:t>
            </a:r>
          </a:p>
        </p:txBody>
      </p:sp>
      <p:pic>
        <p:nvPicPr>
          <p:cNvPr id="136" name="Picture 135" descr="eq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09074" y="7697628"/>
            <a:ext cx="4690586" cy="800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
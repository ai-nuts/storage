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1289266"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NeurIPS 2023</a:t>
            </a:r>
          </a:p>
        </p:txBody>
      </p:sp>
      <p:sp>
        <p:nvSpPr>
          <p:cNvPr id="3" name="TextBox 3"/>
          <p:cNvSpPr txBox="1"/>
          <p:nvPr/>
        </p:nvSpPr>
        <p:spPr>
          <a:xfrm>
            <a:off x="7834364" y="576501"/>
            <a:ext cx="3753180"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Wuhan U. · Sun Yat-Sen U. · U. Florida · ChanceFocus</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6646" y="1153478"/>
            <a:ext cx="8387919" cy="498729"/>
          </a:xfrm>
          <a:prstGeom prst="rect">
            <a:avLst/>
          </a:prstGeom>
          <a:noFill/>
          <a:ln>
            <a:noFill/>
          </a:ln>
        </p:spPr>
        <p:txBody>
          <a:bodyPr wrap="none" lIns="0" tIns="0" rIns="0" bIns="0" anchor="t" anchorCtr="0">
            <a:spAutoFit/>
          </a:bodyPr>
          <a:lstStyle/>
          <a:p>
            <a:pPr algn="l"/>
            <a:r>
              <a:rPr lang="en-US" sz="2550" b="1" dirty="0">
                <a:solidFill>
                  <a:srgbClr val="FFFFFF"/>
                </a:solidFill>
                <a:latin typeface="+mn-lt"/>
                <a:ea typeface="+mn-ea"/>
                <a:cs typeface="+mn-cs"/>
              </a:rPr>
              <a:t>PIXIU: A Comprehensive Benchmark, Instruction</a:t>
            </a:r>
          </a:p>
        </p:txBody>
      </p:sp>
      <p:sp>
        <p:nvSpPr>
          <p:cNvPr id="6" name="TextBox 6"/>
          <p:cNvSpPr txBox="1"/>
          <p:nvPr/>
        </p:nvSpPr>
        <p:spPr>
          <a:xfrm>
            <a:off x="596646" y="1553528"/>
            <a:ext cx="7765470"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mn-lt"/>
                <a:ea typeface="+mn-ea"/>
                <a:cs typeface="+mn-cs"/>
              </a:rPr>
              <a:t>Dataset &amp; Large Language Model for Finance</a:t>
            </a:r>
          </a:p>
        </p:txBody>
      </p:sp>
      <p:sp>
        <p:nvSpPr>
          <p:cNvPr id="7" name="TextBox 7"/>
          <p:cNvSpPr txBox="1"/>
          <p:nvPr/>
        </p:nvSpPr>
        <p:spPr>
          <a:xfrm>
            <a:off x="602361" y="2055971"/>
            <a:ext cx="7280920" cy="278702"/>
          </a:xfrm>
          <a:prstGeom prst="rect">
            <a:avLst/>
          </a:prstGeom>
          <a:noFill/>
          <a:ln>
            <a:noFill/>
          </a:ln>
        </p:spPr>
        <p:txBody>
          <a:bodyPr wrap="none" lIns="0" tIns="0" rIns="0" bIns="0" anchor="t" anchorCtr="0">
            <a:spAutoFit/>
          </a:bodyPr>
          <a:lstStyle/>
          <a:p>
            <a:pPr algn="l"/>
            <a:r>
              <a:rPr lang="en-US" sz="1420" b="1" dirty="0">
                <a:solidFill>
                  <a:srgbClr val="34D3C0"/>
                </a:solidFill>
                <a:latin typeface="+mn-lt"/>
                <a:ea typeface="+mn-ea"/>
                <a:cs typeface="+mn-cs"/>
              </a:rPr>
              <a:t>The first fully open triad for financial AI: dataset, model, and benchmark</a:t>
            </a:r>
          </a:p>
        </p:txBody>
      </p:sp>
      <p:sp>
        <p:nvSpPr>
          <p:cNvPr id="8" name="TextBox 8"/>
          <p:cNvSpPr txBox="1"/>
          <p:nvPr/>
        </p:nvSpPr>
        <p:spPr>
          <a:xfrm>
            <a:off x="604266" y="2458402"/>
            <a:ext cx="65653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Qianqian Xie · Weiguang Han · Xiao Zhang · Yanzhao Lai · Min Peng · A. Lopez-Lira · Jimin Huang</a:t>
            </a:r>
          </a:p>
        </p:txBody>
      </p:sp>
      <p:grpSp>
        <p:nvGrpSpPr>
          <p:cNvPr id="14" name="Group 14"/>
          <p:cNvGrpSpPr/>
          <p:nvPr/>
        </p:nvGrpSpPr>
        <p:grpSpPr>
          <a:xfrm>
            <a:off x="609600" y="2895600"/>
            <a:ext cx="5334000" cy="1123950"/>
            <a:chOff x="609600" y="2895600"/>
            <a:chExt cx="5334000" cy="1123950"/>
          </a:xfrm>
        </p:grpSpPr>
        <p:sp>
          <p:nvSpPr>
            <p:cNvPr id="9" name="Rectangle 9"/>
            <p:cNvSpPr/>
            <p:nvPr/>
          </p:nvSpPr>
          <p:spPr>
            <a:xfrm>
              <a:off x="609600" y="2895600"/>
              <a:ext cx="5334000" cy="1123950"/>
            </a:xfrm>
            <a:prstGeom prst="roundRect">
              <a:avLst>
                <a:gd name="adj" fmla="val 11864"/>
              </a:avLst>
            </a:prstGeom>
            <a:solidFill>
              <a:schemeClr val="accent5"/>
            </a:solidFill>
            <a:ln w="14288">
              <a:solidFill>
                <a:srgbClr val="26455F"/>
              </a:solidFill>
            </a:ln>
          </p:spPr>
        </p:sp>
        <p:sp>
          <p:nvSpPr>
            <p:cNvPr id="10" name="Rectangle 10"/>
            <p:cNvSpPr/>
            <p:nvPr/>
          </p:nvSpPr>
          <p:spPr>
            <a:xfrm>
              <a:off x="609600" y="2895600"/>
              <a:ext cx="57150" cy="1123950"/>
            </a:xfrm>
            <a:prstGeom prst="roundRect">
              <a:avLst>
                <a:gd name="adj" fmla="val 50000"/>
              </a:avLst>
            </a:prstGeom>
            <a:solidFill>
              <a:schemeClr val="accent2"/>
            </a:solidFill>
            <a:ln>
              <a:noFill/>
            </a:ln>
          </p:spPr>
        </p:sp>
        <p:sp>
          <p:nvSpPr>
            <p:cNvPr id="11" name="TextBox 11"/>
            <p:cNvSpPr txBox="1"/>
            <p:nvPr/>
          </p:nvSpPr>
          <p:spPr>
            <a:xfrm>
              <a:off x="869442" y="3092768"/>
              <a:ext cx="293906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PIXIU · open-source financial AI</a:t>
              </a:r>
            </a:p>
          </p:txBody>
        </p:sp>
        <p:sp>
          <p:nvSpPr>
            <p:cNvPr id="12" name="TextBox 12"/>
            <p:cNvSpPr txBox="1"/>
            <p:nvPr/>
          </p:nvSpPr>
          <p:spPr>
            <a:xfrm>
              <a:off x="870966" y="3372802"/>
              <a:ext cx="442535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comprehensive open-source framework for financial artificial</a:t>
              </a:r>
            </a:p>
          </p:txBody>
        </p:sp>
        <p:sp>
          <p:nvSpPr>
            <p:cNvPr id="13" name="TextBox 13"/>
            <p:cNvSpPr txBox="1"/>
            <p:nvPr/>
          </p:nvSpPr>
          <p:spPr>
            <a:xfrm>
              <a:off x="870966" y="3572828"/>
              <a:ext cx="28234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intelligence, presented at NeurIPS 2023.</a:t>
              </a:r>
            </a:p>
          </p:txBody>
        </p:sp>
      </p:grpSp>
      <p:grpSp>
        <p:nvGrpSpPr>
          <p:cNvPr id="20" name="Group 20"/>
          <p:cNvGrpSpPr/>
          <p:nvPr/>
        </p:nvGrpSpPr>
        <p:grpSpPr>
          <a:xfrm>
            <a:off x="6248400" y="2895600"/>
            <a:ext cx="5334000" cy="1123950"/>
            <a:chOff x="6248400" y="2895600"/>
            <a:chExt cx="5334000" cy="1123950"/>
          </a:xfrm>
        </p:grpSpPr>
        <p:sp>
          <p:nvSpPr>
            <p:cNvPr id="15" name="Rectangle 15"/>
            <p:cNvSpPr/>
            <p:nvPr/>
          </p:nvSpPr>
          <p:spPr>
            <a:xfrm>
              <a:off x="6248400" y="2895600"/>
              <a:ext cx="5334000" cy="1123950"/>
            </a:xfrm>
            <a:prstGeom prst="roundRect">
              <a:avLst>
                <a:gd name="adj" fmla="val 11864"/>
              </a:avLst>
            </a:prstGeom>
            <a:solidFill>
              <a:schemeClr val="accent5"/>
            </a:solidFill>
            <a:ln w="14288">
              <a:solidFill>
                <a:srgbClr val="26455F"/>
              </a:solidFill>
            </a:ln>
          </p:spPr>
        </p:sp>
        <p:sp>
          <p:nvSpPr>
            <p:cNvPr id="16" name="Rectangle 16"/>
            <p:cNvSpPr/>
            <p:nvPr/>
          </p:nvSpPr>
          <p:spPr>
            <a:xfrm>
              <a:off x="6248400" y="2895600"/>
              <a:ext cx="57150" cy="1123950"/>
            </a:xfrm>
            <a:prstGeom prst="roundRect">
              <a:avLst>
                <a:gd name="adj" fmla="val 50000"/>
              </a:avLst>
            </a:prstGeom>
            <a:solidFill>
              <a:srgbClr val="F2C14E"/>
            </a:solidFill>
            <a:ln>
              <a:noFill/>
            </a:ln>
          </p:spPr>
        </p:sp>
        <p:sp>
          <p:nvSpPr>
            <p:cNvPr id="17" name="TextBox 17"/>
            <p:cNvSpPr txBox="1"/>
            <p:nvPr/>
          </p:nvSpPr>
          <p:spPr>
            <a:xfrm>
              <a:off x="6508242" y="3092768"/>
              <a:ext cx="222604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Three gaps before PIXIU</a:t>
              </a:r>
            </a:p>
          </p:txBody>
        </p:sp>
        <p:sp>
          <p:nvSpPr>
            <p:cNvPr id="18" name="TextBox 18"/>
            <p:cNvSpPr txBox="1"/>
            <p:nvPr/>
          </p:nvSpPr>
          <p:spPr>
            <a:xfrm>
              <a:off x="6509766" y="3372802"/>
              <a:ext cx="447413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No openly released financial LLM, no financial instruction-tuning</a:t>
              </a:r>
            </a:p>
          </p:txBody>
        </p:sp>
        <p:sp>
          <p:nvSpPr>
            <p:cNvPr id="19" name="TextBox 19"/>
            <p:cNvSpPr txBox="1"/>
            <p:nvPr/>
          </p:nvSpPr>
          <p:spPr>
            <a:xfrm>
              <a:off x="6509766" y="3572828"/>
              <a:ext cx="30285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data, and no holistic evaluation benchmark.</a:t>
              </a:r>
            </a:p>
          </p:txBody>
        </p:sp>
      </p:grpSp>
      <p:grpSp>
        <p:nvGrpSpPr>
          <p:cNvPr id="26" name="Group 26"/>
          <p:cNvGrpSpPr/>
          <p:nvPr/>
        </p:nvGrpSpPr>
        <p:grpSpPr>
          <a:xfrm>
            <a:off x="609600" y="4229100"/>
            <a:ext cx="5334000" cy="1123950"/>
            <a:chOff x="609600" y="4229100"/>
            <a:chExt cx="5334000" cy="1123950"/>
          </a:xfrm>
        </p:grpSpPr>
        <p:sp>
          <p:nvSpPr>
            <p:cNvPr id="21" name="Rectangle 21"/>
            <p:cNvSpPr/>
            <p:nvPr/>
          </p:nvSpPr>
          <p:spPr>
            <a:xfrm>
              <a:off x="609600" y="4229100"/>
              <a:ext cx="5334000" cy="1123950"/>
            </a:xfrm>
            <a:prstGeom prst="roundRect">
              <a:avLst>
                <a:gd name="adj" fmla="val 11864"/>
              </a:avLst>
            </a:prstGeom>
            <a:solidFill>
              <a:schemeClr val="accent5"/>
            </a:solidFill>
            <a:ln w="14288">
              <a:solidFill>
                <a:srgbClr val="26455F"/>
              </a:solidFill>
            </a:ln>
          </p:spPr>
        </p:sp>
        <p:sp>
          <p:nvSpPr>
            <p:cNvPr id="22" name="Rectangle 22"/>
            <p:cNvSpPr/>
            <p:nvPr/>
          </p:nvSpPr>
          <p:spPr>
            <a:xfrm>
              <a:off x="609600" y="4229100"/>
              <a:ext cx="57150" cy="1123950"/>
            </a:xfrm>
            <a:prstGeom prst="roundRect">
              <a:avLst>
                <a:gd name="adj" fmla="val 50000"/>
              </a:avLst>
            </a:prstGeom>
            <a:solidFill>
              <a:srgbClr val="34D3C0"/>
            </a:solidFill>
            <a:ln>
              <a:noFill/>
            </a:ln>
          </p:spPr>
        </p:sp>
        <p:sp>
          <p:nvSpPr>
            <p:cNvPr id="23" name="TextBox 23"/>
            <p:cNvSpPr txBox="1"/>
            <p:nvPr/>
          </p:nvSpPr>
          <p:spPr>
            <a:xfrm>
              <a:off x="869442" y="4426268"/>
              <a:ext cx="184338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FIT · FinMA · FLARE</a:t>
              </a:r>
            </a:p>
          </p:txBody>
        </p:sp>
        <p:sp>
          <p:nvSpPr>
            <p:cNvPr id="24" name="TextBox 24"/>
            <p:cNvSpPr txBox="1"/>
            <p:nvPr/>
          </p:nvSpPr>
          <p:spPr>
            <a:xfrm>
              <a:off x="870966" y="4706302"/>
              <a:ext cx="35053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136K-sample instruction dataset, the first open</a:t>
              </a:r>
            </a:p>
          </p:txBody>
        </p:sp>
        <p:sp>
          <p:nvSpPr>
            <p:cNvPr id="25" name="TextBox 25"/>
            <p:cNvSpPr txBox="1"/>
            <p:nvPr/>
          </p:nvSpPr>
          <p:spPr>
            <a:xfrm>
              <a:off x="870966" y="4906328"/>
              <a:ext cx="42863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instruction-following financial LLM, and a unified benchmark.</a:t>
              </a:r>
            </a:p>
          </p:txBody>
        </p:sp>
      </p:grpSp>
      <p:grpSp>
        <p:nvGrpSpPr>
          <p:cNvPr id="32" name="Group 32"/>
          <p:cNvGrpSpPr/>
          <p:nvPr/>
        </p:nvGrpSpPr>
        <p:grpSpPr>
          <a:xfrm>
            <a:off x="6248400" y="4229100"/>
            <a:ext cx="5334000" cy="1123950"/>
            <a:chOff x="6248400" y="4229100"/>
            <a:chExt cx="5334000" cy="1123950"/>
          </a:xfrm>
        </p:grpSpPr>
        <p:sp>
          <p:nvSpPr>
            <p:cNvPr id="27" name="Rectangle 27"/>
            <p:cNvSpPr/>
            <p:nvPr/>
          </p:nvSpPr>
          <p:spPr>
            <a:xfrm>
              <a:off x="6248400" y="4229100"/>
              <a:ext cx="5334000" cy="1123950"/>
            </a:xfrm>
            <a:prstGeom prst="roundRect">
              <a:avLst>
                <a:gd name="adj" fmla="val 11864"/>
              </a:avLst>
            </a:prstGeom>
            <a:solidFill>
              <a:schemeClr val="accent5"/>
            </a:solidFill>
            <a:ln w="14288">
              <a:solidFill>
                <a:srgbClr val="26455F"/>
              </a:solidFill>
            </a:ln>
          </p:spPr>
        </p:sp>
        <p:sp>
          <p:nvSpPr>
            <p:cNvPr id="28" name="Rectangle 28"/>
            <p:cNvSpPr/>
            <p:nvPr/>
          </p:nvSpPr>
          <p:spPr>
            <a:xfrm>
              <a:off x="6248400" y="4229100"/>
              <a:ext cx="57150" cy="1123950"/>
            </a:xfrm>
            <a:prstGeom prst="roundRect">
              <a:avLst>
                <a:gd name="adj" fmla="val 50000"/>
              </a:avLst>
            </a:prstGeom>
            <a:solidFill>
              <a:srgbClr val="48C78E"/>
            </a:solidFill>
            <a:ln>
              <a:noFill/>
            </a:ln>
          </p:spPr>
        </p:sp>
        <p:sp>
          <p:nvSpPr>
            <p:cNvPr id="29" name="TextBox 29"/>
            <p:cNvSpPr txBox="1"/>
            <p:nvPr/>
          </p:nvSpPr>
          <p:spPr>
            <a:xfrm>
              <a:off x="6508242" y="4426268"/>
              <a:ext cx="151774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Built in the open</a:t>
              </a:r>
            </a:p>
          </p:txBody>
        </p:sp>
        <p:sp>
          <p:nvSpPr>
            <p:cNvPr id="30" name="TextBox 30"/>
            <p:cNvSpPr txBox="1"/>
            <p:nvPr/>
          </p:nvSpPr>
          <p:spPr>
            <a:xfrm>
              <a:off x="6509766" y="4706302"/>
              <a:ext cx="426317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Together they let the community build, compare, and advance</a:t>
              </a:r>
            </a:p>
          </p:txBody>
        </p:sp>
        <p:sp>
          <p:nvSpPr>
            <p:cNvPr id="31" name="TextBox 31"/>
            <p:cNvSpPr txBox="1"/>
            <p:nvPr/>
          </p:nvSpPr>
          <p:spPr>
            <a:xfrm>
              <a:off x="6509766" y="4906328"/>
              <a:ext cx="24627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financial LLMs entirely in the open.</a:t>
              </a:r>
            </a:p>
          </p:txBody>
        </p:sp>
      </p:grpSp>
      <p:sp>
        <p:nvSpPr>
          <p:cNvPr id="33" name="Line 33"/>
          <p:cNvSpPr/>
          <p:nvPr/>
        </p:nvSpPr>
        <p:spPr>
          <a:xfrm>
            <a:off x="609600" y="58674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4" name="TextBox 34"/>
          <p:cNvSpPr txBox="1"/>
          <p:nvPr/>
        </p:nvSpPr>
        <p:spPr>
          <a:xfrm>
            <a:off x="604266" y="60779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arXiv:2306.05443</a:t>
            </a:r>
          </a:p>
        </p:txBody>
      </p:sp>
      <p:sp>
        <p:nvSpPr>
          <p:cNvPr id="35" name="TextBox 35"/>
          <p:cNvSpPr txBox="1"/>
          <p:nvPr/>
        </p:nvSpPr>
        <p:spPr>
          <a:xfrm>
            <a:off x="2852166" y="6077902"/>
            <a:ext cx="5351394"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github.com/chancefocus/PIXIU — open data, open model, open benchmark.</a:t>
            </a:r>
          </a:p>
        </p:txBody>
      </p:sp>
      <p:sp>
        <p:nvSpPr>
          <p:cNvPr id="36" name="cue_s01_c1_pixiu_comprehensive_open_source_fram" title="cue_s01_c1_pixiu_comprehensive_open_source_fram" descr="cue_s01_c1_pixiu_comprehensive_open_source_fram This is PIXIU, a comprehensive open-source framework for financial artificial intelligence, published at NeurIPS 2023."/>
          <p:cNvSpPr/>
          <p:nvPr/>
        </p:nvSpPr>
        <p:spPr>
          <a:xfrm>
            <a:off x="609600" y="2895447"/>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1_c2_financial_language_highly_technical" title="cue_s01_c2_financial_language_highly_technical" descr="cue_s01_c2_financial_language_highly_technical Financial language is highly technical, yet before PIXIU there were no openly released financial large language models, no financial instruction tuning data, and no holistic evaluation benchmark. PIXIU fills all three gaps at once."/>
          <p:cNvSpPr/>
          <p:nvPr/>
        </p:nvSpPr>
        <p:spPr>
          <a:xfrm>
            <a:off x="6248399" y="2895447"/>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1_c3_contributes_fit_first_multi_task_mul" title="cue_s01_c3_contributes_fit_first_multi_task_mul" descr="cue_s01_c3_contributes_fit_first_multi_task_mul It contributes FIT, the first multi-task, multi-modal financial instruction dataset with one hundred and thirty-six thousand samples; FinMA, the first openly released instruction-following financial large language model built by fine-tuning LLaMA; and FLARE, a"/>
          <p:cNvSpPr/>
          <p:nvPr/>
        </p:nvSpPr>
        <p:spPr>
          <a:xfrm>
            <a:off x="609600" y="4229328"/>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1_c4_together_they_let_community_build" title="cue_s01_c4_together_they_let_community_build" descr="cue_s01_c4_together_they_let_community_build Together they let the community build, compare, and advance financial LLMs in the open."/>
          <p:cNvSpPr/>
          <p:nvPr/>
        </p:nvSpPr>
        <p:spPr>
          <a:xfrm>
            <a:off x="6248399" y="4229328"/>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578938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No open resources for financial LLMs</a:t>
            </a:r>
          </a:p>
        </p:txBody>
      </p:sp>
      <p:grpSp>
        <p:nvGrpSpPr>
          <p:cNvPr id="18" name="Group 18"/>
          <p:cNvGrpSpPr/>
          <p:nvPr/>
        </p:nvGrpSpPr>
        <p:grpSpPr>
          <a:xfrm>
            <a:off x="609600" y="1504950"/>
            <a:ext cx="4160499" cy="3733800"/>
            <a:chOff x="609600" y="1504950"/>
            <a:chExt cx="4160499"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264373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Finance needs domain models</a:t>
              </a:r>
            </a:p>
          </p:txBody>
        </p:sp>
        <p:sp>
          <p:nvSpPr>
            <p:cNvPr id="8" name="TextBox 8"/>
            <p:cNvSpPr txBox="1"/>
            <p:nvPr/>
          </p:nvSpPr>
          <p:spPr>
            <a:xfrm>
              <a:off x="870585" y="2164556"/>
              <a:ext cx="300035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FinTech has advanced fast with NLP, but</a:t>
              </a:r>
            </a:p>
          </p:txBody>
        </p:sp>
        <p:sp>
          <p:nvSpPr>
            <p:cNvPr id="9" name="TextBox 9"/>
            <p:cNvSpPr txBox="1"/>
            <p:nvPr/>
          </p:nvSpPr>
          <p:spPr>
            <a:xfrm>
              <a:off x="870585" y="2393156"/>
              <a:ext cx="287614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highly technical nature of financial</a:t>
              </a:r>
            </a:p>
          </p:txBody>
        </p:sp>
        <p:sp>
          <p:nvSpPr>
            <p:cNvPr id="10" name="TextBox 10"/>
            <p:cNvSpPr txBox="1"/>
            <p:nvPr/>
          </p:nvSpPr>
          <p:spPr>
            <a:xfrm>
              <a:off x="870585" y="2621756"/>
              <a:ext cx="282337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text demands domain-specific models.</a:t>
              </a:r>
            </a:p>
          </p:txBody>
        </p:sp>
        <p:sp>
          <p:nvSpPr>
            <p:cNvPr id="11" name="Rectangle 11"/>
            <p:cNvSpPr/>
            <p:nvPr/>
          </p:nvSpPr>
          <p:spPr>
            <a:xfrm>
              <a:off x="876300" y="3352800"/>
              <a:ext cx="3048000" cy="1428750"/>
            </a:xfrm>
            <a:prstGeom prst="roundRect">
              <a:avLst>
                <a:gd name="adj" fmla="val 6667"/>
              </a:avLst>
            </a:prstGeom>
            <a:solidFill>
              <a:schemeClr val="accent6"/>
            </a:solidFill>
            <a:ln w="14288">
              <a:solidFill>
                <a:srgbClr val="26455F"/>
              </a:solidFill>
            </a:ln>
          </p:spPr>
        </p:sp>
        <p:sp>
          <p:nvSpPr>
            <p:cNvPr id="12" name="TextBox 12"/>
            <p:cNvSpPr txBox="1"/>
            <p:nvPr/>
          </p:nvSpPr>
          <p:spPr>
            <a:xfrm>
              <a:off x="1061847" y="3552349"/>
              <a:ext cx="824453"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General LLM</a:t>
              </a:r>
            </a:p>
          </p:txBody>
        </p:sp>
        <p:sp>
          <p:nvSpPr>
            <p:cNvPr id="13" name="TextBox 13"/>
            <p:cNvSpPr txBox="1"/>
            <p:nvPr/>
          </p:nvSpPr>
          <p:spPr>
            <a:xfrm>
              <a:off x="1061847" y="3838099"/>
              <a:ext cx="81466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generic text</a:t>
              </a:r>
            </a:p>
          </p:txBody>
        </p:sp>
        <p:sp>
          <p:nvSpPr>
            <p:cNvPr id="14" name="TextBox 14"/>
            <p:cNvSpPr txBox="1"/>
            <p:nvPr/>
          </p:nvSpPr>
          <p:spPr>
            <a:xfrm>
              <a:off x="2391918" y="3479482"/>
              <a:ext cx="273316" cy="322707"/>
            </a:xfrm>
            <a:prstGeom prst="rect">
              <a:avLst/>
            </a:prstGeom>
            <a:noFill/>
            <a:ln>
              <a:noFill/>
            </a:ln>
          </p:spPr>
          <p:txBody>
            <a:bodyPr wrap="none" lIns="0" tIns="0" rIns="0" bIns="0" anchor="t" anchorCtr="0">
              <a:spAutoFit/>
            </a:bodyPr>
            <a:lstStyle/>
            <a:p>
              <a:pPr algn="l"/>
              <a:r>
                <a:rPr lang="en-US" sz="1650" b="1" dirty="0">
                  <a:solidFill>
                    <a:srgbClr val="F2C14E"/>
                  </a:solidFill>
                  <a:latin typeface="+mn-lt"/>
                  <a:ea typeface="+mn-ea"/>
                  <a:cs typeface="+mn-cs"/>
                </a:rPr>
                <a:t>-&gt;</a:t>
              </a:r>
            </a:p>
          </p:txBody>
        </p:sp>
        <p:sp>
          <p:nvSpPr>
            <p:cNvPr id="15" name="TextBox 15"/>
            <p:cNvSpPr txBox="1"/>
            <p:nvPr/>
          </p:nvSpPr>
          <p:spPr>
            <a:xfrm>
              <a:off x="2852547" y="3552349"/>
              <a:ext cx="906130"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Financial LLM</a:t>
              </a:r>
            </a:p>
          </p:txBody>
        </p:sp>
        <p:sp>
          <p:nvSpPr>
            <p:cNvPr id="16" name="TextBox 16"/>
            <p:cNvSpPr txBox="1"/>
            <p:nvPr/>
          </p:nvSpPr>
          <p:spPr>
            <a:xfrm>
              <a:off x="2852738" y="3842147"/>
              <a:ext cx="1635600"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reports · filings · tickers</a:t>
              </a:r>
            </a:p>
          </p:txBody>
        </p:sp>
        <p:sp>
          <p:nvSpPr>
            <p:cNvPr id="17" name="TextBox 17"/>
            <p:cNvSpPr txBox="1"/>
            <p:nvPr/>
          </p:nvSpPr>
          <p:spPr>
            <a:xfrm>
              <a:off x="1062038" y="4375547"/>
              <a:ext cx="3708061" cy="183356"/>
            </a:xfrm>
            <a:prstGeom prst="rect">
              <a:avLst/>
            </a:prstGeom>
            <a:noFill/>
            <a:ln>
              <a:noFill/>
            </a:ln>
          </p:spPr>
          <p:txBody>
            <a:bodyPr wrap="none" lIns="0" tIns="0" rIns="0" bIns="0" anchor="t" anchorCtr="0">
              <a:spAutoFit/>
            </a:bodyPr>
            <a:lstStyle/>
            <a:p>
              <a:pPr algn="l"/>
              <a:r>
                <a:rPr lang="en-US" sz="940" b="1" dirty="0">
                  <a:solidFill>
                    <a:srgbClr val="34D3C0"/>
                  </a:solidFill>
                  <a:latin typeface="+mn-lt"/>
                  <a:ea typeface="+mn-ea"/>
                  <a:cs typeface="+mn-cs"/>
                </a:rPr>
                <a:t>Jargon, numbers, and time-series break generic models.</a:t>
              </a:r>
            </a:p>
          </p:txBody>
        </p:sp>
      </p:grpSp>
      <p:grpSp>
        <p:nvGrpSpPr>
          <p:cNvPr id="24" name="Group 24"/>
          <p:cNvGrpSpPr/>
          <p:nvPr/>
        </p:nvGrpSpPr>
        <p:grpSpPr>
          <a:xfrm>
            <a:off x="4762500" y="1504950"/>
            <a:ext cx="6819900" cy="1047750"/>
            <a:chOff x="4762500" y="1504950"/>
            <a:chExt cx="6819900" cy="1047750"/>
          </a:xfrm>
        </p:grpSpPr>
        <p:sp>
          <p:nvSpPr>
            <p:cNvPr id="19" name="Rectangle 19"/>
            <p:cNvSpPr/>
            <p:nvPr/>
          </p:nvSpPr>
          <p:spPr>
            <a:xfrm>
              <a:off x="4762500" y="1504950"/>
              <a:ext cx="6819900" cy="1047750"/>
            </a:xfrm>
            <a:prstGeom prst="roundRect">
              <a:avLst>
                <a:gd name="adj" fmla="val 12727"/>
              </a:avLst>
            </a:prstGeom>
            <a:solidFill>
              <a:schemeClr val="accent5"/>
            </a:solidFill>
            <a:ln w="14288">
              <a:solidFill>
                <a:srgbClr val="26455F"/>
              </a:solidFill>
            </a:ln>
          </p:spPr>
        </p:sp>
        <p:sp>
          <p:nvSpPr>
            <p:cNvPr id="20" name="Rectangle 20"/>
            <p:cNvSpPr/>
            <p:nvPr/>
          </p:nvSpPr>
          <p:spPr>
            <a:xfrm>
              <a:off x="4762500" y="1504950"/>
              <a:ext cx="57150" cy="1047750"/>
            </a:xfrm>
            <a:prstGeom prst="roundRect">
              <a:avLst>
                <a:gd name="adj" fmla="val 50000"/>
              </a:avLst>
            </a:prstGeom>
            <a:solidFill>
              <a:srgbClr val="F2C14E"/>
            </a:solidFill>
            <a:ln>
              <a:noFill/>
            </a:ln>
          </p:spPr>
        </p:sp>
        <p:sp>
          <p:nvSpPr>
            <p:cNvPr id="21" name="TextBox 21"/>
            <p:cNvSpPr txBox="1"/>
            <p:nvPr/>
          </p:nvSpPr>
          <p:spPr>
            <a:xfrm>
              <a:off x="5023104" y="1737360"/>
              <a:ext cx="2841542"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Existing financial models are small</a:t>
              </a:r>
            </a:p>
          </p:txBody>
        </p:sp>
        <p:sp>
          <p:nvSpPr>
            <p:cNvPr id="22" name="TextBox 22"/>
            <p:cNvSpPr txBox="1"/>
            <p:nvPr/>
          </p:nvSpPr>
          <p:spPr>
            <a:xfrm>
              <a:off x="5023676" y="2035254"/>
              <a:ext cx="513121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finBERT and FLANG stay below one billion parameters, which limits their</a:t>
              </a:r>
            </a:p>
          </p:txBody>
        </p:sp>
        <p:sp>
          <p:nvSpPr>
            <p:cNvPr id="23" name="TextBox 23"/>
            <p:cNvSpPr txBox="1"/>
            <p:nvPr/>
          </p:nvSpPr>
          <p:spPr>
            <a:xfrm>
              <a:off x="5023676" y="2244804"/>
              <a:ext cx="274033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generalization to new financial tasks.</a:t>
              </a:r>
            </a:p>
          </p:txBody>
        </p:sp>
      </p:grpSp>
      <p:grpSp>
        <p:nvGrpSpPr>
          <p:cNvPr id="30" name="Group 30"/>
          <p:cNvGrpSpPr/>
          <p:nvPr/>
        </p:nvGrpSpPr>
        <p:grpSpPr>
          <a:xfrm>
            <a:off x="4762500" y="2686050"/>
            <a:ext cx="6819900" cy="1047750"/>
            <a:chOff x="4762500" y="2686050"/>
            <a:chExt cx="6819900" cy="1047750"/>
          </a:xfrm>
        </p:grpSpPr>
        <p:sp>
          <p:nvSpPr>
            <p:cNvPr id="25" name="Rectangle 25"/>
            <p:cNvSpPr/>
            <p:nvPr/>
          </p:nvSpPr>
          <p:spPr>
            <a:xfrm>
              <a:off x="4762500" y="2686050"/>
              <a:ext cx="6819900" cy="1047750"/>
            </a:xfrm>
            <a:prstGeom prst="roundRect">
              <a:avLst>
                <a:gd name="adj" fmla="val 12727"/>
              </a:avLst>
            </a:prstGeom>
            <a:solidFill>
              <a:schemeClr val="accent5"/>
            </a:solidFill>
            <a:ln w="14288">
              <a:solidFill>
                <a:srgbClr val="26455F"/>
              </a:solidFill>
            </a:ln>
          </p:spPr>
        </p:sp>
        <p:sp>
          <p:nvSpPr>
            <p:cNvPr id="26" name="Rectangle 26"/>
            <p:cNvSpPr/>
            <p:nvPr/>
          </p:nvSpPr>
          <p:spPr>
            <a:xfrm>
              <a:off x="4762500" y="2686050"/>
              <a:ext cx="57150" cy="1047750"/>
            </a:xfrm>
            <a:prstGeom prst="roundRect">
              <a:avLst>
                <a:gd name="adj" fmla="val 50000"/>
              </a:avLst>
            </a:prstGeom>
            <a:solidFill>
              <a:srgbClr val="F2685C"/>
            </a:solidFill>
            <a:ln>
              <a:noFill/>
            </a:ln>
          </p:spPr>
        </p:sp>
        <p:sp>
          <p:nvSpPr>
            <p:cNvPr id="27" name="TextBox 27"/>
            <p:cNvSpPr txBox="1"/>
            <p:nvPr/>
          </p:nvSpPr>
          <p:spPr>
            <a:xfrm>
              <a:off x="5023104" y="2918460"/>
              <a:ext cx="2900269"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BloombergGPT is a closed 50B model</a:t>
              </a:r>
            </a:p>
          </p:txBody>
        </p:sp>
        <p:sp>
          <p:nvSpPr>
            <p:cNvPr id="28" name="TextBox 28"/>
            <p:cNvSpPr txBox="1"/>
            <p:nvPr/>
          </p:nvSpPr>
          <p:spPr>
            <a:xfrm>
              <a:off x="5023676" y="3216354"/>
              <a:ext cx="523226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one large financial model releases neither weights nor training data,</a:t>
              </a:r>
            </a:p>
          </p:txBody>
        </p:sp>
        <p:sp>
          <p:nvSpPr>
            <p:cNvPr id="29" name="TextBox 29"/>
            <p:cNvSpPr txBox="1"/>
            <p:nvPr/>
          </p:nvSpPr>
          <p:spPr>
            <a:xfrm>
              <a:off x="5023676" y="3425904"/>
              <a:ext cx="254224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and it is not instruction-following.</a:t>
              </a:r>
            </a:p>
          </p:txBody>
        </p:sp>
      </p:grpSp>
      <p:grpSp>
        <p:nvGrpSpPr>
          <p:cNvPr id="37" name="Group 37"/>
          <p:cNvGrpSpPr/>
          <p:nvPr/>
        </p:nvGrpSpPr>
        <p:grpSpPr>
          <a:xfrm>
            <a:off x="4762500" y="3867150"/>
            <a:ext cx="6819900" cy="1371647"/>
            <a:chOff x="4762500" y="3867150"/>
            <a:chExt cx="6819900" cy="1371647"/>
          </a:xfrm>
        </p:grpSpPr>
        <p:sp>
          <p:nvSpPr>
            <p:cNvPr id="31" name="Rectangle 31"/>
            <p:cNvSpPr/>
            <p:nvPr/>
          </p:nvSpPr>
          <p:spPr>
            <a:xfrm>
              <a:off x="4762500" y="3867150"/>
              <a:ext cx="6819900" cy="1371600"/>
            </a:xfrm>
            <a:prstGeom prst="roundRect">
              <a:avLst>
                <a:gd name="adj" fmla="val 9722"/>
              </a:avLst>
            </a:prstGeom>
            <a:solidFill>
              <a:srgbClr val="2A1720"/>
            </a:solidFill>
            <a:ln w="14288">
              <a:solidFill>
                <a:srgbClr val="F2685C"/>
              </a:solidFill>
            </a:ln>
          </p:spPr>
        </p:sp>
        <p:sp>
          <p:nvSpPr>
            <p:cNvPr id="32" name="Rectangle 32"/>
            <p:cNvSpPr/>
            <p:nvPr/>
          </p:nvSpPr>
          <p:spPr>
            <a:xfrm>
              <a:off x="4762500" y="3867150"/>
              <a:ext cx="57150" cy="1371600"/>
            </a:xfrm>
            <a:prstGeom prst="roundRect">
              <a:avLst>
                <a:gd name="adj" fmla="val 50000"/>
              </a:avLst>
            </a:prstGeom>
            <a:solidFill>
              <a:srgbClr val="F2685C"/>
            </a:solidFill>
            <a:ln>
              <a:noFill/>
            </a:ln>
          </p:spPr>
        </p:sp>
        <p:sp>
          <p:nvSpPr>
            <p:cNvPr id="33" name="TextBox 33"/>
            <p:cNvSpPr txBox="1"/>
            <p:nvPr/>
          </p:nvSpPr>
          <p:spPr>
            <a:xfrm>
              <a:off x="5023104" y="4118610"/>
              <a:ext cx="1052738"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The core gap</a:t>
              </a:r>
            </a:p>
          </p:txBody>
        </p:sp>
        <p:sp>
          <p:nvSpPr>
            <p:cNvPr id="34" name="TextBox 34"/>
            <p:cNvSpPr txBox="1"/>
            <p:nvPr/>
          </p:nvSpPr>
          <p:spPr>
            <a:xfrm>
              <a:off x="5023676" y="4416504"/>
              <a:ext cx="530562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No open financial instruction datasets and no standardized benchmark for</a:t>
              </a:r>
            </a:p>
          </p:txBody>
        </p:sp>
        <p:sp>
          <p:nvSpPr>
            <p:cNvPr id="35" name="TextBox 35"/>
            <p:cNvSpPr txBox="1"/>
            <p:nvPr/>
          </p:nvSpPr>
          <p:spPr>
            <a:xfrm>
              <a:off x="5023676" y="4626054"/>
              <a:ext cx="3062420"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comprehensively assessing financial LLMs.</a:t>
              </a:r>
            </a:p>
          </p:txBody>
        </p:sp>
        <p:sp>
          <p:nvSpPr>
            <p:cNvPr id="36" name="TextBox 36"/>
            <p:cNvSpPr txBox="1"/>
            <p:nvPr/>
          </p:nvSpPr>
          <p:spPr>
            <a:xfrm>
              <a:off x="5023676" y="5026104"/>
              <a:ext cx="3716495" cy="212693"/>
            </a:xfrm>
            <a:prstGeom prst="rect">
              <a:avLst/>
            </a:prstGeom>
            <a:noFill/>
            <a:ln>
              <a:noFill/>
            </a:ln>
          </p:spPr>
          <p:txBody>
            <a:bodyPr wrap="none" lIns="0" tIns="0" rIns="0" bIns="0" anchor="t" anchorCtr="0">
              <a:spAutoFit/>
            </a:bodyPr>
            <a:lstStyle/>
            <a:p>
              <a:pPr algn="l"/>
              <a:r>
                <a:rPr lang="en-US" sz="1090" b="1" dirty="0">
                  <a:solidFill>
                    <a:srgbClr val="F2685C"/>
                  </a:solidFill>
                  <a:latin typeface="Consolas"/>
                  <a:ea typeface="Consolas"/>
                  <a:cs typeface="Consolas"/>
                </a:rPr>
                <a:t>no open data · no open model · no open benchmark</a:t>
              </a:r>
            </a:p>
          </p:txBody>
        </p:sp>
      </p:grpSp>
      <p:sp>
        <p:nvSpPr>
          <p:cNvPr id="38" name="cue_s02_c1_financial_technology_advanced_rapidl" title="cue_s02_c1_financial_technology_advanced_rapidl" descr="cue_s02_c1_financial_technology_advanced_rapidl Financial technology has advanced rapidly with NLP, but the highly technical nature of financial text demands domain-specific models."/>
          <p:cNvSpPr/>
          <p:nvPr/>
        </p:nvSpPr>
        <p:spPr>
          <a:xfrm>
            <a:off x="609600" y="1504645"/>
            <a:ext cx="415991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2_c2_existing_financial_pre_trained_model" title="cue_s02_c2_existing_financial_pre_trained_model" descr="cue_s02_c2_existing_financial_pre_trained_model Existing financial pre-trained models like finBERT and FLANG are small, below one billion parameters, limiting their generalization."/>
          <p:cNvSpPr/>
          <p:nvPr/>
        </p:nvSpPr>
        <p:spPr>
          <a:xfrm>
            <a:off x="4762195" y="1504645"/>
            <a:ext cx="6820204" cy="1047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2_c3_one_large_financial_fifty_billion_pa" title="cue_s02_c3_one_large_financial_fifty_billion_pa" descr="cue_s02_c3_one_large_financial_fifty_billion_pa The one large financial model, the fifty-billion-parameter BloombergGPT, is proprietary: neither its weights nor its training data are released, and it is not instruction-following."/>
          <p:cNvSpPr/>
          <p:nvPr/>
        </p:nvSpPr>
        <p:spPr>
          <a:xfrm>
            <a:off x="4762195" y="2686278"/>
            <a:ext cx="6820204" cy="1047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2_c4_critically_open_financial_instructio" title="cue_s02_c4_critically_open_financial_instructio" descr="cue_s02_c4_critically_open_financial_instructio Critically, there are no open financial instruction datasets and no standardized benchmarks for comprehensively assessing financial LLMs. This leaves the research community without the resources needed to push financial AI forward in the open."/>
          <p:cNvSpPr/>
          <p:nvPr/>
        </p:nvSpPr>
        <p:spPr>
          <a:xfrm>
            <a:off x="4762195" y="3867226"/>
            <a:ext cx="6820204" cy="13716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474458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gaps hold financial AI back</a:t>
            </a:r>
          </a:p>
        </p:txBody>
      </p:sp>
      <p:grpSp>
        <p:nvGrpSpPr>
          <p:cNvPr id="19" name="Group 19"/>
          <p:cNvGrpSpPr/>
          <p:nvPr/>
        </p:nvGrpSpPr>
        <p:grpSpPr>
          <a:xfrm>
            <a:off x="609600" y="1504950"/>
            <a:ext cx="5334000" cy="3733800"/>
            <a:chOff x="609600" y="1504950"/>
            <a:chExt cx="5334000" cy="3733800"/>
          </a:xfrm>
        </p:grpSpPr>
        <p:sp>
          <p:nvSpPr>
            <p:cNvPr id="5" name="Rectangle 5"/>
            <p:cNvSpPr/>
            <p:nvPr/>
          </p:nvSpPr>
          <p:spPr>
            <a:xfrm>
              <a:off x="609600" y="1504950"/>
              <a:ext cx="53340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rgbClr val="34D3C0"/>
            </a:solidFill>
            <a:ln>
              <a:noFill/>
            </a:ln>
          </p:spPr>
        </p:sp>
        <p:sp>
          <p:nvSpPr>
            <p:cNvPr id="7" name="TextBox 7"/>
            <p:cNvSpPr txBox="1"/>
            <p:nvPr/>
          </p:nvSpPr>
          <p:spPr>
            <a:xfrm>
              <a:off x="869442" y="1740218"/>
              <a:ext cx="3006611" cy="264033"/>
            </a:xfrm>
            <a:prstGeom prst="rect">
              <a:avLst/>
            </a:prstGeom>
            <a:noFill/>
            <a:ln>
              <a:noFill/>
            </a:ln>
          </p:spPr>
          <p:txBody>
            <a:bodyPr wrap="none" lIns="0" tIns="0" rIns="0" bIns="0" anchor="t" anchorCtr="0">
              <a:spAutoFit/>
            </a:bodyPr>
            <a:lstStyle/>
            <a:p>
              <a:pPr algn="l"/>
              <a:r>
                <a:rPr lang="en-US" sz="1350" b="1" dirty="0">
                  <a:solidFill>
                    <a:srgbClr val="34D3C0"/>
                  </a:solidFill>
                  <a:latin typeface="+mn-lt"/>
                  <a:ea typeface="+mn-ea"/>
                  <a:cs typeface="+mn-cs"/>
                </a:rPr>
                <a:t>Gap 1 · no financial instructions</a:t>
              </a:r>
            </a:p>
          </p:txBody>
        </p:sp>
        <p:sp>
          <p:nvSpPr>
            <p:cNvPr id="8" name="TextBox 8"/>
            <p:cNvSpPr txBox="1"/>
            <p:nvPr/>
          </p:nvSpPr>
          <p:spPr>
            <a:xfrm>
              <a:off x="870776" y="2073354"/>
              <a:ext cx="319995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Instruction tuning is essential for a model's</a:t>
              </a:r>
            </a:p>
          </p:txBody>
        </p:sp>
        <p:sp>
          <p:nvSpPr>
            <p:cNvPr id="9" name="TextBox 9"/>
            <p:cNvSpPr txBox="1"/>
            <p:nvPr/>
          </p:nvSpPr>
          <p:spPr>
            <a:xfrm>
              <a:off x="870776" y="2282904"/>
              <a:ext cx="337129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zero-shot ability on downstream tasks, yet no</a:t>
              </a:r>
            </a:p>
          </p:txBody>
        </p:sp>
        <p:sp>
          <p:nvSpPr>
            <p:cNvPr id="10" name="TextBox 10"/>
            <p:cNvSpPr txBox="1"/>
            <p:nvPr/>
          </p:nvSpPr>
          <p:spPr>
            <a:xfrm>
              <a:off x="870776" y="2492454"/>
              <a:ext cx="329059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financial instruction data exists to enable it.</a:t>
              </a:r>
            </a:p>
          </p:txBody>
        </p:sp>
        <p:sp>
          <p:nvSpPr>
            <p:cNvPr id="11" name="Rectangle 11"/>
            <p:cNvSpPr/>
            <p:nvPr/>
          </p:nvSpPr>
          <p:spPr>
            <a:xfrm>
              <a:off x="876300" y="3219450"/>
              <a:ext cx="4800600" cy="819150"/>
            </a:xfrm>
            <a:prstGeom prst="roundRect">
              <a:avLst>
                <a:gd name="adj" fmla="val 11628"/>
              </a:avLst>
            </a:prstGeom>
            <a:solidFill>
              <a:schemeClr val="accent6"/>
            </a:solidFill>
            <a:ln w="14288">
              <a:solidFill>
                <a:srgbClr val="26455F"/>
              </a:solidFill>
            </a:ln>
          </p:spPr>
        </p:sp>
        <p:sp>
          <p:nvSpPr>
            <p:cNvPr id="12" name="TextBox 12"/>
            <p:cNvSpPr txBox="1"/>
            <p:nvPr/>
          </p:nvSpPr>
          <p:spPr>
            <a:xfrm>
              <a:off x="1061656" y="3395901"/>
              <a:ext cx="1280891"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mn-lt"/>
                  <a:ea typeface="+mn-ea"/>
                  <a:cs typeface="+mn-cs"/>
                </a:rPr>
                <a:t>instruction tuning</a:t>
              </a:r>
            </a:p>
          </p:txBody>
        </p:sp>
        <p:sp>
          <p:nvSpPr>
            <p:cNvPr id="13" name="TextBox 13"/>
            <p:cNvSpPr txBox="1"/>
            <p:nvPr/>
          </p:nvSpPr>
          <p:spPr>
            <a:xfrm>
              <a:off x="1061847" y="3647599"/>
              <a:ext cx="215373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stronger zero-shot on new tasks</a:t>
              </a:r>
            </a:p>
          </p:txBody>
        </p:sp>
        <p:sp>
          <p:nvSpPr>
            <p:cNvPr id="14" name="TextBox 14"/>
            <p:cNvSpPr txBox="1"/>
            <p:nvPr/>
          </p:nvSpPr>
          <p:spPr>
            <a:xfrm>
              <a:off x="4771956" y="3391852"/>
              <a:ext cx="567378" cy="205359"/>
            </a:xfrm>
            <a:prstGeom prst="rect">
              <a:avLst/>
            </a:prstGeom>
            <a:noFill/>
            <a:ln>
              <a:noFill/>
            </a:ln>
          </p:spPr>
          <p:txBody>
            <a:bodyPr wrap="none" lIns="0" tIns="0" rIns="0" bIns="0" anchor="t" anchorCtr="0">
              <a:spAutoFit/>
            </a:bodyPr>
            <a:lstStyle/>
            <a:p>
              <a:pPr algn="r"/>
              <a:r>
                <a:rPr lang="en-US" sz="1050" b="1" dirty="0">
                  <a:solidFill>
                    <a:srgbClr val="F2685C"/>
                  </a:solidFill>
                  <a:latin typeface="+mn-lt"/>
                  <a:ea typeface="+mn-ea"/>
                  <a:cs typeface="+mn-cs"/>
                </a:rPr>
                <a:t>MISSING</a:t>
              </a:r>
            </a:p>
          </p:txBody>
        </p:sp>
        <p:sp>
          <p:nvSpPr>
            <p:cNvPr id="15" name="Rectangle 15"/>
            <p:cNvSpPr/>
            <p:nvPr/>
          </p:nvSpPr>
          <p:spPr>
            <a:xfrm>
              <a:off x="876300" y="4191000"/>
              <a:ext cx="4800600" cy="857250"/>
            </a:xfrm>
            <a:prstGeom prst="roundRect">
              <a:avLst>
                <a:gd name="adj" fmla="val 11111"/>
              </a:avLst>
            </a:prstGeom>
            <a:solidFill>
              <a:schemeClr val="accent6"/>
            </a:solidFill>
            <a:ln w="14288">
              <a:solidFill>
                <a:srgbClr val="26455F"/>
              </a:solidFill>
            </a:ln>
          </p:spPr>
        </p:sp>
        <p:sp>
          <p:nvSpPr>
            <p:cNvPr id="16" name="TextBox 16"/>
            <p:cNvSpPr txBox="1"/>
            <p:nvPr/>
          </p:nvSpPr>
          <p:spPr>
            <a:xfrm>
              <a:off x="1061656" y="4367451"/>
              <a:ext cx="650084"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The prize</a:t>
              </a:r>
            </a:p>
          </p:txBody>
        </p:sp>
        <p:sp>
          <p:nvSpPr>
            <p:cNvPr id="17" name="TextBox 17"/>
            <p:cNvSpPr txBox="1"/>
            <p:nvPr/>
          </p:nvSpPr>
          <p:spPr>
            <a:xfrm>
              <a:off x="1061656" y="4596051"/>
              <a:ext cx="359696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Open instruction data would unlock financial LLMs for</a:t>
              </a:r>
            </a:p>
          </p:txBody>
        </p:sp>
        <p:sp>
          <p:nvSpPr>
            <p:cNvPr id="18" name="TextBox 18"/>
            <p:cNvSpPr txBox="1"/>
            <p:nvPr/>
          </p:nvSpPr>
          <p:spPr>
            <a:xfrm>
              <a:off x="1061656" y="4786551"/>
              <a:ext cx="68332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everyone.</a:t>
              </a:r>
            </a:p>
          </p:txBody>
        </p:sp>
      </p:grpSp>
      <p:grpSp>
        <p:nvGrpSpPr>
          <p:cNvPr id="25" name="Group 25"/>
          <p:cNvGrpSpPr/>
          <p:nvPr/>
        </p:nvGrpSpPr>
        <p:grpSpPr>
          <a:xfrm>
            <a:off x="6172200" y="1504950"/>
            <a:ext cx="5410200" cy="1104900"/>
            <a:chOff x="6172200" y="1504950"/>
            <a:chExt cx="5410200" cy="1104900"/>
          </a:xfrm>
        </p:grpSpPr>
        <p:sp>
          <p:nvSpPr>
            <p:cNvPr id="20" name="Rectangle 20"/>
            <p:cNvSpPr/>
            <p:nvPr/>
          </p:nvSpPr>
          <p:spPr>
            <a:xfrm>
              <a:off x="6172200" y="1504950"/>
              <a:ext cx="5410200" cy="1104900"/>
            </a:xfrm>
            <a:prstGeom prst="roundRect">
              <a:avLst>
                <a:gd name="adj" fmla="val 12069"/>
              </a:avLst>
            </a:prstGeom>
            <a:solidFill>
              <a:schemeClr val="accent5"/>
            </a:solidFill>
            <a:ln w="14288">
              <a:solidFill>
                <a:srgbClr val="26455F"/>
              </a:solidFill>
            </a:ln>
          </p:spPr>
        </p:sp>
        <p:sp>
          <p:nvSpPr>
            <p:cNvPr id="21" name="Rectangle 21"/>
            <p:cNvSpPr/>
            <p:nvPr/>
          </p:nvSpPr>
          <p:spPr>
            <a:xfrm>
              <a:off x="6172200" y="1504950"/>
              <a:ext cx="57150" cy="1104900"/>
            </a:xfrm>
            <a:prstGeom prst="roundRect">
              <a:avLst>
                <a:gd name="adj" fmla="val 50000"/>
              </a:avLst>
            </a:prstGeom>
            <a:solidFill>
              <a:srgbClr val="F2C14E"/>
            </a:solidFill>
            <a:ln>
              <a:noFill/>
            </a:ln>
          </p:spPr>
        </p:sp>
        <p:sp>
          <p:nvSpPr>
            <p:cNvPr id="22" name="TextBox 22"/>
            <p:cNvSpPr txBox="1"/>
            <p:nvPr/>
          </p:nvSpPr>
          <p:spPr>
            <a:xfrm>
              <a:off x="6432804" y="1737360"/>
              <a:ext cx="2379464"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Gap 2 · NLP-only benchmarks</a:t>
              </a:r>
            </a:p>
          </p:txBody>
        </p:sp>
        <p:sp>
          <p:nvSpPr>
            <p:cNvPr id="23" name="TextBox 23"/>
            <p:cNvSpPr txBox="1"/>
            <p:nvPr/>
          </p:nvSpPr>
          <p:spPr>
            <a:xfrm>
              <a:off x="6433376" y="2035254"/>
              <a:ext cx="386441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Existing financial benchmarks such as FLUE cover only</a:t>
              </a:r>
            </a:p>
          </p:txBody>
        </p:sp>
        <p:sp>
          <p:nvSpPr>
            <p:cNvPr id="24" name="TextBox 24"/>
            <p:cNvSpPr txBox="1"/>
            <p:nvPr/>
          </p:nvSpPr>
          <p:spPr>
            <a:xfrm>
              <a:off x="6433376" y="2244804"/>
              <a:ext cx="253490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natural language processing tasks.</a:t>
              </a:r>
            </a:p>
          </p:txBody>
        </p:sp>
      </p:grpSp>
      <p:grpSp>
        <p:nvGrpSpPr>
          <p:cNvPr id="31" name="Group 31"/>
          <p:cNvGrpSpPr/>
          <p:nvPr/>
        </p:nvGrpSpPr>
        <p:grpSpPr>
          <a:xfrm>
            <a:off x="6172200" y="2724150"/>
            <a:ext cx="5410200" cy="1143000"/>
            <a:chOff x="6172200" y="2724150"/>
            <a:chExt cx="5410200" cy="1143000"/>
          </a:xfrm>
        </p:grpSpPr>
        <p:sp>
          <p:nvSpPr>
            <p:cNvPr id="26" name="Rectangle 26"/>
            <p:cNvSpPr/>
            <p:nvPr/>
          </p:nvSpPr>
          <p:spPr>
            <a:xfrm>
              <a:off x="6172200" y="2724150"/>
              <a:ext cx="5410200" cy="1143000"/>
            </a:xfrm>
            <a:prstGeom prst="roundRect">
              <a:avLst>
                <a:gd name="adj" fmla="val 11667"/>
              </a:avLst>
            </a:prstGeom>
            <a:solidFill>
              <a:schemeClr val="accent5"/>
            </a:solidFill>
            <a:ln w="14288">
              <a:solidFill>
                <a:srgbClr val="26455F"/>
              </a:solidFill>
            </a:ln>
          </p:spPr>
        </p:sp>
        <p:sp>
          <p:nvSpPr>
            <p:cNvPr id="27" name="Rectangle 27"/>
            <p:cNvSpPr/>
            <p:nvPr/>
          </p:nvSpPr>
          <p:spPr>
            <a:xfrm>
              <a:off x="6172200" y="2724150"/>
              <a:ext cx="57150" cy="1143000"/>
            </a:xfrm>
            <a:prstGeom prst="roundRect">
              <a:avLst>
                <a:gd name="adj" fmla="val 50000"/>
              </a:avLst>
            </a:prstGeom>
            <a:solidFill>
              <a:srgbClr val="F2685C"/>
            </a:solidFill>
            <a:ln>
              <a:noFill/>
            </a:ln>
          </p:spPr>
        </p:sp>
        <p:sp>
          <p:nvSpPr>
            <p:cNvPr id="28" name="TextBox 28"/>
            <p:cNvSpPr txBox="1"/>
            <p:nvPr/>
          </p:nvSpPr>
          <p:spPr>
            <a:xfrm>
              <a:off x="6432804" y="2956560"/>
              <a:ext cx="2620959"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They ignore financial prediction</a:t>
              </a:r>
            </a:p>
          </p:txBody>
        </p:sp>
        <p:sp>
          <p:nvSpPr>
            <p:cNvPr id="29" name="TextBox 29"/>
            <p:cNvSpPr txBox="1"/>
            <p:nvPr/>
          </p:nvSpPr>
          <p:spPr>
            <a:xfrm>
              <a:off x="6433376" y="3254454"/>
              <a:ext cx="407318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Tasks like stock movement prediction need both text and</a:t>
              </a:r>
            </a:p>
          </p:txBody>
        </p:sp>
        <p:sp>
          <p:nvSpPr>
            <p:cNvPr id="30" name="TextBox 30"/>
            <p:cNvSpPr txBox="1"/>
            <p:nvPr/>
          </p:nvSpPr>
          <p:spPr>
            <a:xfrm>
              <a:off x="6433376" y="3464004"/>
              <a:ext cx="431774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time-series data, and are far closer to real-world finance.</a:t>
              </a:r>
            </a:p>
          </p:txBody>
        </p:sp>
      </p:grpSp>
      <p:grpSp>
        <p:nvGrpSpPr>
          <p:cNvPr id="38" name="Group 38"/>
          <p:cNvGrpSpPr/>
          <p:nvPr/>
        </p:nvGrpSpPr>
        <p:grpSpPr>
          <a:xfrm>
            <a:off x="6172200" y="3981450"/>
            <a:ext cx="5410200" cy="1257300"/>
            <a:chOff x="6172200" y="3981450"/>
            <a:chExt cx="5410200" cy="1257300"/>
          </a:xfrm>
        </p:grpSpPr>
        <p:sp>
          <p:nvSpPr>
            <p:cNvPr id="32" name="Rectangle 32"/>
            <p:cNvSpPr/>
            <p:nvPr/>
          </p:nvSpPr>
          <p:spPr>
            <a:xfrm>
              <a:off x="6172200" y="3981450"/>
              <a:ext cx="5410200" cy="1257300"/>
            </a:xfrm>
            <a:prstGeom prst="roundRect">
              <a:avLst>
                <a:gd name="adj" fmla="val 10606"/>
              </a:avLst>
            </a:prstGeom>
            <a:solidFill>
              <a:srgbClr val="0F2E2B"/>
            </a:solidFill>
            <a:ln w="14288">
              <a:solidFill>
                <a:srgbClr val="48C78E"/>
              </a:solidFill>
            </a:ln>
          </p:spPr>
        </p:sp>
        <p:sp>
          <p:nvSpPr>
            <p:cNvPr id="33" name="Rectangle 33"/>
            <p:cNvSpPr/>
            <p:nvPr/>
          </p:nvSpPr>
          <p:spPr>
            <a:xfrm>
              <a:off x="6172200" y="3981450"/>
              <a:ext cx="57150" cy="1257300"/>
            </a:xfrm>
            <a:prstGeom prst="roundRect">
              <a:avLst>
                <a:gd name="adj" fmla="val 50000"/>
              </a:avLst>
            </a:prstGeom>
            <a:solidFill>
              <a:srgbClr val="48C78E"/>
            </a:solidFill>
            <a:ln>
              <a:noFill/>
            </a:ln>
          </p:spPr>
        </p:sp>
        <p:sp>
          <p:nvSpPr>
            <p:cNvPr id="34" name="TextBox 34"/>
            <p:cNvSpPr txBox="1"/>
            <p:nvPr/>
          </p:nvSpPr>
          <p:spPr>
            <a:xfrm>
              <a:off x="6432804" y="4213860"/>
              <a:ext cx="1836959"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PIXIU closes both gaps</a:t>
              </a:r>
            </a:p>
          </p:txBody>
        </p:sp>
        <p:sp>
          <p:nvSpPr>
            <p:cNvPr id="35" name="TextBox 35"/>
            <p:cNvSpPr txBox="1"/>
            <p:nvPr/>
          </p:nvSpPr>
          <p:spPr>
            <a:xfrm>
              <a:off x="6433376" y="4511754"/>
              <a:ext cx="4411079"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Open resources, multi-task coverage, multi-modal data, and</a:t>
              </a:r>
            </a:p>
          </p:txBody>
        </p:sp>
        <p:sp>
          <p:nvSpPr>
            <p:cNvPr id="36" name="TextBox 36"/>
            <p:cNvSpPr txBox="1"/>
            <p:nvPr/>
          </p:nvSpPr>
          <p:spPr>
            <a:xfrm>
              <a:off x="6433376" y="4721304"/>
              <a:ext cx="1720521"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greater task diversity.</a:t>
              </a:r>
            </a:p>
          </p:txBody>
        </p:sp>
        <p:sp>
          <p:nvSpPr>
            <p:cNvPr id="37" name="TextBox 37"/>
            <p:cNvSpPr txBox="1"/>
            <p:nvPr/>
          </p:nvSpPr>
          <p:spPr>
            <a:xfrm>
              <a:off x="6433566" y="5030152"/>
              <a:ext cx="2296314"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Consolas"/>
                  <a:ea typeface="Consolas"/>
                  <a:cs typeface="Consolas"/>
                </a:rPr>
                <a:t>open · multi-task · multi-modal</a:t>
              </a:r>
            </a:p>
          </p:txBody>
        </p:sp>
      </p:grpSp>
      <p:sp>
        <p:nvSpPr>
          <p:cNvPr id="39" name="cue_s03_c1_two_gaps_motivate_work_first" title="cue_s03_c1_two_gaps_motivate_work_first" descr="cue_s03_c1_two_gaps_motivate_work_first Two gaps motivate this work. First, instruction tuning has proven essential for improving a model's zero-shot ability on downstream tasks, yet no financial instruction data exists to enable it."/>
          <p:cNvSpPr/>
          <p:nvPr/>
        </p:nvSpPr>
        <p:spPr>
          <a:xfrm>
            <a:off x="609600"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3_c2_second_existing_financial_benchmarks" title="cue_s03_c2_second_existing_financial_benchmarks" descr="cue_s03_c2_second_existing_financial_benchmarks Second, existing financial benchmarks such as FLUE cover only natural language processing tasks."/>
          <p:cNvSpPr/>
          <p:nvPr/>
        </p:nvSpPr>
        <p:spPr>
          <a:xfrm>
            <a:off x="6171590" y="1504645"/>
            <a:ext cx="540959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3_c3_they_ignore_financial_prediction_tas" title="cue_s03_c3_they_ignore_financial_prediction_tas" descr="cue_s03_c3_they_ignore_financial_prediction_tas They ignore financial prediction tasks like stock movement prediction, which require exploiting both text and time-series data and are far more aligned with real-world financial scenarios."/>
          <p:cNvSpPr/>
          <p:nvPr/>
        </p:nvSpPr>
        <p:spPr>
          <a:xfrm>
            <a:off x="6171590" y="2723997"/>
            <a:ext cx="540959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3_c4_pixiu_built_close_both_gaps" title="cue_s03_c4_pixiu_built_close_both_gaps" descr="cue_s03_c4_pixiu_built_close_both_gaps PIXIU is built to close both gaps with open resources, multi-task coverage, multi-modal data, and greater task diversity."/>
          <p:cNvSpPr/>
          <p:nvPr/>
        </p:nvSpPr>
        <p:spPr>
          <a:xfrm>
            <a:off x="6171590" y="3981754"/>
            <a:ext cx="540959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294261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Four contributions</a:t>
            </a:r>
          </a:p>
        </p:txBody>
      </p:sp>
      <p:grpSp>
        <p:nvGrpSpPr>
          <p:cNvPr id="15" name="Group 15"/>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rgbClr val="26455F"/>
              </a:solidFill>
            </a:ln>
          </p:spPr>
        </p:sp>
        <p:sp>
          <p:nvSpPr>
            <p:cNvPr id="6" name="Rectangle 6"/>
            <p:cNvSpPr/>
            <p:nvPr/>
          </p:nvSpPr>
          <p:spPr>
            <a:xfrm>
              <a:off x="609600" y="17145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993552" y="2211705"/>
              <a:ext cx="184596"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1</a:t>
              </a:r>
            </a:p>
          </p:txBody>
        </p:sp>
        <p:sp>
          <p:nvSpPr>
            <p:cNvPr id="9" name="TextBox 9"/>
            <p:cNvSpPr txBox="1"/>
            <p:nvPr/>
          </p:nvSpPr>
          <p:spPr>
            <a:xfrm>
              <a:off x="831532" y="2849166"/>
              <a:ext cx="1058479"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FIT dataset</a:t>
              </a:r>
            </a:p>
          </p:txBody>
        </p:sp>
        <p:sp>
          <p:nvSpPr>
            <p:cNvPr id="10" name="TextBox 10"/>
            <p:cNvSpPr txBox="1"/>
            <p:nvPr/>
          </p:nvSpPr>
          <p:spPr>
            <a:xfrm>
              <a:off x="832866" y="3220402"/>
              <a:ext cx="149979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first multi-task,</a:t>
              </a:r>
            </a:p>
          </p:txBody>
        </p:sp>
        <p:sp>
          <p:nvSpPr>
            <p:cNvPr id="11" name="TextBox 11"/>
            <p:cNvSpPr txBox="1"/>
            <p:nvPr/>
          </p:nvSpPr>
          <p:spPr>
            <a:xfrm>
              <a:off x="832866" y="3429952"/>
              <a:ext cx="14524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multi-modal financial</a:t>
              </a:r>
            </a:p>
          </p:txBody>
        </p:sp>
        <p:sp>
          <p:nvSpPr>
            <p:cNvPr id="12" name="TextBox 12"/>
            <p:cNvSpPr txBox="1"/>
            <p:nvPr/>
          </p:nvSpPr>
          <p:spPr>
            <a:xfrm>
              <a:off x="832866" y="3639502"/>
              <a:ext cx="17775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instruction dataset: five</a:t>
              </a:r>
            </a:p>
          </p:txBody>
        </p:sp>
        <p:sp>
          <p:nvSpPr>
            <p:cNvPr id="13" name="TextBox 13"/>
            <p:cNvSpPr txBox="1"/>
            <p:nvPr/>
          </p:nvSpPr>
          <p:spPr>
            <a:xfrm>
              <a:off x="832866" y="3849052"/>
              <a:ext cx="18965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tasks, nine datasets, 136K</a:t>
              </a:r>
            </a:p>
          </p:txBody>
        </p:sp>
        <p:sp>
          <p:nvSpPr>
            <p:cNvPr id="14" name="TextBox 14"/>
            <p:cNvSpPr txBox="1"/>
            <p:nvPr/>
          </p:nvSpPr>
          <p:spPr>
            <a:xfrm>
              <a:off x="832866" y="4058602"/>
              <a:ext cx="6255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samples.</a:t>
              </a:r>
            </a:p>
          </p:txBody>
        </p:sp>
      </p:grpSp>
      <p:grpSp>
        <p:nvGrpSpPr>
          <p:cNvPr id="25" name="Group 25"/>
          <p:cNvGrpSpPr/>
          <p:nvPr/>
        </p:nvGrpSpPr>
        <p:grpSpPr>
          <a:xfrm>
            <a:off x="3429000" y="1714500"/>
            <a:ext cx="2590800" cy="3543300"/>
            <a:chOff x="3429000" y="1714500"/>
            <a:chExt cx="2590800" cy="3543300"/>
          </a:xfrm>
        </p:grpSpPr>
        <p:sp>
          <p:nvSpPr>
            <p:cNvPr id="16" name="Rectangle 16"/>
            <p:cNvSpPr/>
            <p:nvPr/>
          </p:nvSpPr>
          <p:spPr>
            <a:xfrm>
              <a:off x="3429000" y="1714500"/>
              <a:ext cx="2590800" cy="3543300"/>
            </a:xfrm>
            <a:prstGeom prst="roundRect">
              <a:avLst>
                <a:gd name="adj" fmla="val 5147"/>
              </a:avLst>
            </a:prstGeom>
            <a:solidFill>
              <a:schemeClr val="accent5"/>
            </a:solidFill>
            <a:ln w="14288">
              <a:solidFill>
                <a:srgbClr val="26455F"/>
              </a:solidFill>
            </a:ln>
          </p:spPr>
        </p:sp>
        <p:sp>
          <p:nvSpPr>
            <p:cNvPr id="17" name="Rectangle 17"/>
            <p:cNvSpPr/>
            <p:nvPr/>
          </p:nvSpPr>
          <p:spPr>
            <a:xfrm>
              <a:off x="3429000" y="1714500"/>
              <a:ext cx="2590800" cy="57150"/>
            </a:xfrm>
            <a:prstGeom prst="roundRect">
              <a:avLst>
                <a:gd name="adj" fmla="val 50000"/>
              </a:avLst>
            </a:prstGeom>
            <a:solidFill>
              <a:srgbClr val="34D3C0"/>
            </a:solidFill>
            <a:ln>
              <a:noFill/>
            </a:ln>
          </p:spPr>
        </p:sp>
        <p:sp>
          <p:nvSpPr>
            <p:cNvPr id="18" name="Ellipse 18"/>
            <p:cNvSpPr/>
            <p:nvPr/>
          </p:nvSpPr>
          <p:spPr>
            <a:xfrm>
              <a:off x="3657600" y="2095500"/>
              <a:ext cx="495300" cy="495300"/>
            </a:xfrm>
            <a:prstGeom prst="ellipse">
              <a:avLst/>
            </a:prstGeom>
            <a:noFill/>
            <a:ln w="23812">
              <a:solidFill>
                <a:srgbClr val="34D3C0"/>
              </a:solidFill>
            </a:ln>
          </p:spPr>
        </p:sp>
        <p:sp>
          <p:nvSpPr>
            <p:cNvPr id="19" name="TextBox 19"/>
            <p:cNvSpPr txBox="1"/>
            <p:nvPr/>
          </p:nvSpPr>
          <p:spPr>
            <a:xfrm>
              <a:off x="3812952" y="2211705"/>
              <a:ext cx="184596" cy="410718"/>
            </a:xfrm>
            <a:prstGeom prst="rect">
              <a:avLst/>
            </a:prstGeom>
            <a:noFill/>
            <a:ln>
              <a:noFill/>
            </a:ln>
          </p:spPr>
          <p:txBody>
            <a:bodyPr wrap="none" lIns="0" tIns="0" rIns="0" bIns="0" anchor="t" anchorCtr="0">
              <a:spAutoFit/>
            </a:bodyPr>
            <a:lstStyle/>
            <a:p>
              <a:pPr algn="ctr"/>
              <a:r>
                <a:rPr lang="en-US" sz="2100" b="1" dirty="0">
                  <a:solidFill>
                    <a:srgbClr val="34D3C0"/>
                  </a:solidFill>
                  <a:latin typeface="+mn-lt"/>
                  <a:ea typeface="+mn-ea"/>
                  <a:cs typeface="+mn-cs"/>
                </a:rPr>
                <a:t>2</a:t>
              </a:r>
            </a:p>
          </p:txBody>
        </p:sp>
        <p:sp>
          <p:nvSpPr>
            <p:cNvPr id="20" name="TextBox 20"/>
            <p:cNvSpPr txBox="1"/>
            <p:nvPr/>
          </p:nvSpPr>
          <p:spPr>
            <a:xfrm>
              <a:off x="3650932" y="2849166"/>
              <a:ext cx="1562423"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FLARE benchmark</a:t>
              </a:r>
            </a:p>
          </p:txBody>
        </p:sp>
        <p:sp>
          <p:nvSpPr>
            <p:cNvPr id="21" name="TextBox 21"/>
            <p:cNvSpPr txBox="1"/>
            <p:nvPr/>
          </p:nvSpPr>
          <p:spPr>
            <a:xfrm>
              <a:off x="3652266" y="3220402"/>
              <a:ext cx="21637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first evaluation benchmark</a:t>
              </a:r>
            </a:p>
          </p:txBody>
        </p:sp>
        <p:sp>
          <p:nvSpPr>
            <p:cNvPr id="22" name="TextBox 22"/>
            <p:cNvSpPr txBox="1"/>
            <p:nvPr/>
          </p:nvSpPr>
          <p:spPr>
            <a:xfrm>
              <a:off x="3652266" y="3429952"/>
              <a:ext cx="15867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spanning both financial</a:t>
              </a:r>
            </a:p>
          </p:txBody>
        </p:sp>
        <p:sp>
          <p:nvSpPr>
            <p:cNvPr id="23" name="TextBox 23"/>
            <p:cNvSpPr txBox="1"/>
            <p:nvPr/>
          </p:nvSpPr>
          <p:spPr>
            <a:xfrm>
              <a:off x="3652266" y="3639502"/>
              <a:ext cx="18906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language understanding and</a:t>
              </a:r>
            </a:p>
          </p:txBody>
        </p:sp>
        <p:sp>
          <p:nvSpPr>
            <p:cNvPr id="24" name="TextBox 24"/>
            <p:cNvSpPr txBox="1"/>
            <p:nvPr/>
          </p:nvSpPr>
          <p:spPr>
            <a:xfrm>
              <a:off x="3652266" y="3849052"/>
              <a:ext cx="143124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financial prediction.</a:t>
              </a:r>
            </a:p>
          </p:txBody>
        </p:sp>
      </p:grpSp>
      <p:grpSp>
        <p:nvGrpSpPr>
          <p:cNvPr id="36" name="Group 36"/>
          <p:cNvGrpSpPr/>
          <p:nvPr/>
        </p:nvGrpSpPr>
        <p:grpSpPr>
          <a:xfrm>
            <a:off x="6248400" y="1714500"/>
            <a:ext cx="2590800" cy="3543300"/>
            <a:chOff x="6248400" y="1714500"/>
            <a:chExt cx="2590800" cy="3543300"/>
          </a:xfrm>
        </p:grpSpPr>
        <p:sp>
          <p:nvSpPr>
            <p:cNvPr id="26" name="Rectangle 26"/>
            <p:cNvSpPr/>
            <p:nvPr/>
          </p:nvSpPr>
          <p:spPr>
            <a:xfrm>
              <a:off x="6248400" y="1714500"/>
              <a:ext cx="2590800" cy="3543300"/>
            </a:xfrm>
            <a:prstGeom prst="roundRect">
              <a:avLst>
                <a:gd name="adj" fmla="val 5147"/>
              </a:avLst>
            </a:prstGeom>
            <a:solidFill>
              <a:schemeClr val="accent5"/>
            </a:solidFill>
            <a:ln w="14288">
              <a:solidFill>
                <a:srgbClr val="26455F"/>
              </a:solidFill>
            </a:ln>
          </p:spPr>
        </p:sp>
        <p:sp>
          <p:nvSpPr>
            <p:cNvPr id="27" name="Rectangle 27"/>
            <p:cNvSpPr/>
            <p:nvPr/>
          </p:nvSpPr>
          <p:spPr>
            <a:xfrm>
              <a:off x="6248400" y="1714500"/>
              <a:ext cx="2590800" cy="57150"/>
            </a:xfrm>
            <a:prstGeom prst="roundRect">
              <a:avLst>
                <a:gd name="adj" fmla="val 50000"/>
              </a:avLst>
            </a:prstGeom>
            <a:solidFill>
              <a:srgbClr val="F2C14E"/>
            </a:solidFill>
            <a:ln>
              <a:noFill/>
            </a:ln>
          </p:spPr>
        </p:sp>
        <p:sp>
          <p:nvSpPr>
            <p:cNvPr id="28" name="Ellipse 28"/>
            <p:cNvSpPr/>
            <p:nvPr/>
          </p:nvSpPr>
          <p:spPr>
            <a:xfrm>
              <a:off x="6477000" y="2095500"/>
              <a:ext cx="495300" cy="495300"/>
            </a:xfrm>
            <a:prstGeom prst="ellipse">
              <a:avLst/>
            </a:prstGeom>
            <a:noFill/>
            <a:ln w="23812">
              <a:solidFill>
                <a:srgbClr val="F2C14E"/>
              </a:solidFill>
            </a:ln>
          </p:spPr>
        </p:sp>
        <p:sp>
          <p:nvSpPr>
            <p:cNvPr id="29" name="TextBox 29"/>
            <p:cNvSpPr txBox="1"/>
            <p:nvPr/>
          </p:nvSpPr>
          <p:spPr>
            <a:xfrm>
              <a:off x="6632352" y="2211705"/>
              <a:ext cx="184596" cy="410718"/>
            </a:xfrm>
            <a:prstGeom prst="rect">
              <a:avLst/>
            </a:prstGeom>
            <a:noFill/>
            <a:ln>
              <a:noFill/>
            </a:ln>
          </p:spPr>
          <p:txBody>
            <a:bodyPr wrap="none" lIns="0" tIns="0" rIns="0" bIns="0" anchor="t" anchorCtr="0">
              <a:spAutoFit/>
            </a:bodyPr>
            <a:lstStyle/>
            <a:p>
              <a:pPr algn="ctr"/>
              <a:r>
                <a:rPr lang="en-US" sz="2100" b="1" dirty="0">
                  <a:solidFill>
                    <a:srgbClr val="F2C14E"/>
                  </a:solidFill>
                  <a:latin typeface="+mn-lt"/>
                  <a:ea typeface="+mn-ea"/>
                  <a:cs typeface="+mn-cs"/>
                </a:rPr>
                <a:t>3</a:t>
              </a:r>
            </a:p>
          </p:txBody>
        </p:sp>
        <p:sp>
          <p:nvSpPr>
            <p:cNvPr id="30" name="TextBox 30"/>
            <p:cNvSpPr txBox="1"/>
            <p:nvPr/>
          </p:nvSpPr>
          <p:spPr>
            <a:xfrm>
              <a:off x="6470332" y="2849166"/>
              <a:ext cx="1086726"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FinMA model</a:t>
              </a:r>
            </a:p>
          </p:txBody>
        </p:sp>
        <p:sp>
          <p:nvSpPr>
            <p:cNvPr id="31" name="TextBox 31"/>
            <p:cNvSpPr txBox="1"/>
            <p:nvPr/>
          </p:nvSpPr>
          <p:spPr>
            <a:xfrm>
              <a:off x="6471666" y="3220402"/>
              <a:ext cx="17466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first openly released</a:t>
              </a:r>
            </a:p>
          </p:txBody>
        </p:sp>
        <p:sp>
          <p:nvSpPr>
            <p:cNvPr id="32" name="TextBox 32"/>
            <p:cNvSpPr txBox="1"/>
            <p:nvPr/>
          </p:nvSpPr>
          <p:spPr>
            <a:xfrm>
              <a:off x="6471666" y="3429952"/>
              <a:ext cx="149485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instruction-following</a:t>
              </a:r>
            </a:p>
          </p:txBody>
        </p:sp>
        <p:sp>
          <p:nvSpPr>
            <p:cNvPr id="33" name="TextBox 33"/>
            <p:cNvSpPr txBox="1"/>
            <p:nvPr/>
          </p:nvSpPr>
          <p:spPr>
            <a:xfrm>
              <a:off x="6471666" y="3639502"/>
              <a:ext cx="20294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financial LLM, reaching SOTA</a:t>
              </a:r>
            </a:p>
          </p:txBody>
        </p:sp>
        <p:sp>
          <p:nvSpPr>
            <p:cNvPr id="34" name="TextBox 34"/>
            <p:cNvSpPr txBox="1"/>
            <p:nvPr/>
          </p:nvSpPr>
          <p:spPr>
            <a:xfrm>
              <a:off x="6471666" y="3849052"/>
              <a:ext cx="187021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 three NLP tasks and one</a:t>
              </a:r>
            </a:p>
          </p:txBody>
        </p:sp>
        <p:sp>
          <p:nvSpPr>
            <p:cNvPr id="35" name="TextBox 35"/>
            <p:cNvSpPr txBox="1"/>
            <p:nvPr/>
          </p:nvSpPr>
          <p:spPr>
            <a:xfrm>
              <a:off x="6471666" y="4058602"/>
              <a:ext cx="114854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prediction task.</a:t>
              </a:r>
            </a:p>
          </p:txBody>
        </p:sp>
      </p:grpSp>
      <p:grpSp>
        <p:nvGrpSpPr>
          <p:cNvPr id="47" name="Group 47"/>
          <p:cNvGrpSpPr/>
          <p:nvPr/>
        </p:nvGrpSpPr>
        <p:grpSpPr>
          <a:xfrm>
            <a:off x="9067800" y="1714500"/>
            <a:ext cx="2590800" cy="3543300"/>
            <a:chOff x="9067800" y="1714500"/>
            <a:chExt cx="2590800" cy="3543300"/>
          </a:xfrm>
        </p:grpSpPr>
        <p:sp>
          <p:nvSpPr>
            <p:cNvPr id="37" name="Rectangle 37"/>
            <p:cNvSpPr/>
            <p:nvPr/>
          </p:nvSpPr>
          <p:spPr>
            <a:xfrm>
              <a:off x="9067800" y="1714500"/>
              <a:ext cx="2590800" cy="3543300"/>
            </a:xfrm>
            <a:prstGeom prst="roundRect">
              <a:avLst>
                <a:gd name="adj" fmla="val 5147"/>
              </a:avLst>
            </a:prstGeom>
            <a:solidFill>
              <a:schemeClr val="accent5"/>
            </a:solidFill>
            <a:ln w="14288">
              <a:solidFill>
                <a:srgbClr val="26455F"/>
              </a:solidFill>
            </a:ln>
          </p:spPr>
        </p:sp>
        <p:sp>
          <p:nvSpPr>
            <p:cNvPr id="38" name="Rectangle 38"/>
            <p:cNvSpPr/>
            <p:nvPr/>
          </p:nvSpPr>
          <p:spPr>
            <a:xfrm>
              <a:off x="9067800" y="1714500"/>
              <a:ext cx="2590800" cy="57150"/>
            </a:xfrm>
            <a:prstGeom prst="roundRect">
              <a:avLst>
                <a:gd name="adj" fmla="val 50000"/>
              </a:avLst>
            </a:prstGeom>
            <a:solidFill>
              <a:srgbClr val="48C78E"/>
            </a:solidFill>
            <a:ln>
              <a:noFill/>
            </a:ln>
          </p:spPr>
        </p:sp>
        <p:sp>
          <p:nvSpPr>
            <p:cNvPr id="39" name="Ellipse 39"/>
            <p:cNvSpPr/>
            <p:nvPr/>
          </p:nvSpPr>
          <p:spPr>
            <a:xfrm>
              <a:off x="9296400" y="2095500"/>
              <a:ext cx="495300" cy="495300"/>
            </a:xfrm>
            <a:prstGeom prst="ellipse">
              <a:avLst/>
            </a:prstGeom>
            <a:noFill/>
            <a:ln w="23812">
              <a:solidFill>
                <a:srgbClr val="48C78E"/>
              </a:solidFill>
            </a:ln>
          </p:spPr>
        </p:sp>
        <p:sp>
          <p:nvSpPr>
            <p:cNvPr id="40" name="TextBox 40"/>
            <p:cNvSpPr txBox="1"/>
            <p:nvPr/>
          </p:nvSpPr>
          <p:spPr>
            <a:xfrm>
              <a:off x="9451752" y="2211705"/>
              <a:ext cx="184596" cy="410718"/>
            </a:xfrm>
            <a:prstGeom prst="rect">
              <a:avLst/>
            </a:prstGeom>
            <a:noFill/>
            <a:ln>
              <a:noFill/>
            </a:ln>
          </p:spPr>
          <p:txBody>
            <a:bodyPr wrap="none" lIns="0" tIns="0" rIns="0" bIns="0" anchor="t" anchorCtr="0">
              <a:spAutoFit/>
            </a:bodyPr>
            <a:lstStyle/>
            <a:p>
              <a:pPr algn="ctr"/>
              <a:r>
                <a:rPr lang="en-US" sz="2100" b="1" dirty="0">
                  <a:solidFill>
                    <a:srgbClr val="48C78E"/>
                  </a:solidFill>
                  <a:latin typeface="+mn-lt"/>
                  <a:ea typeface="+mn-ea"/>
                  <a:cs typeface="+mn-cs"/>
                </a:rPr>
                <a:t>4</a:t>
              </a:r>
            </a:p>
          </p:txBody>
        </p:sp>
        <p:sp>
          <p:nvSpPr>
            <p:cNvPr id="41" name="TextBox 41"/>
            <p:cNvSpPr txBox="1"/>
            <p:nvPr/>
          </p:nvSpPr>
          <p:spPr>
            <a:xfrm>
              <a:off x="9289732" y="2849166"/>
              <a:ext cx="123191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Benchmarking</a:t>
              </a:r>
            </a:p>
          </p:txBody>
        </p:sp>
        <p:sp>
          <p:nvSpPr>
            <p:cNvPr id="42" name="TextBox 42"/>
            <p:cNvSpPr txBox="1"/>
            <p:nvPr/>
          </p:nvSpPr>
          <p:spPr>
            <a:xfrm>
              <a:off x="9289732" y="3096816"/>
              <a:ext cx="522552"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study</a:t>
              </a:r>
            </a:p>
          </p:txBody>
        </p:sp>
        <p:sp>
          <p:nvSpPr>
            <p:cNvPr id="43" name="TextBox 43"/>
            <p:cNvSpPr txBox="1"/>
            <p:nvPr/>
          </p:nvSpPr>
          <p:spPr>
            <a:xfrm>
              <a:off x="9291066" y="3468052"/>
              <a:ext cx="18100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Benchmarks FinMA against</a:t>
              </a:r>
            </a:p>
          </p:txBody>
        </p:sp>
        <p:sp>
          <p:nvSpPr>
            <p:cNvPr id="44" name="TextBox 44"/>
            <p:cNvSpPr txBox="1"/>
            <p:nvPr/>
          </p:nvSpPr>
          <p:spPr>
            <a:xfrm>
              <a:off x="9291066" y="3677602"/>
              <a:ext cx="20599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existing LLMs, revealing both</a:t>
              </a:r>
            </a:p>
          </p:txBody>
        </p:sp>
        <p:sp>
          <p:nvSpPr>
            <p:cNvPr id="45" name="TextBox 45"/>
            <p:cNvSpPr txBox="1"/>
            <p:nvPr/>
          </p:nvSpPr>
          <p:spPr>
            <a:xfrm>
              <a:off x="9291066" y="3887152"/>
              <a:ext cx="18270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its superiority and its key</a:t>
              </a:r>
            </a:p>
          </p:txBody>
        </p:sp>
        <p:sp>
          <p:nvSpPr>
            <p:cNvPr id="46" name="TextBox 46"/>
            <p:cNvSpPr txBox="1"/>
            <p:nvPr/>
          </p:nvSpPr>
          <p:spPr>
            <a:xfrm>
              <a:off x="9291066" y="4096702"/>
              <a:ext cx="16574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limitations for finance.</a:t>
              </a:r>
            </a:p>
          </p:txBody>
        </p:sp>
      </p:grpSp>
      <p:sp>
        <p:nvSpPr>
          <p:cNvPr id="48" name="TextBox 48"/>
          <p:cNvSpPr txBox="1"/>
          <p:nvPr/>
        </p:nvSpPr>
        <p:spPr>
          <a:xfrm>
            <a:off x="603694" y="5437108"/>
            <a:ext cx="6978278"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One dataset, one benchmark, one open model — and the study that ties them together.</a:t>
            </a:r>
          </a:p>
        </p:txBody>
      </p:sp>
      <p:sp>
        <p:nvSpPr>
          <p:cNvPr id="49" name="cue_s04_c1_pixiu_makes_four_contributions_first" title="cue_s04_c1_pixiu_makes_four_contributions_first" descr="cue_s04_c1_pixiu_makes_four_contributions_first PIXIU makes four contributions. First, it introduces FIT, the first multi-task and multi-modal instruction tuning dataset for finance, covering five tasks and nine datasets with one hundred thirty-six thousand samples."/>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4_c2_second_introduces_flare_first_evalua" title="cue_s04_c2_second_introduces_flare_first_evalua" descr="cue_s04_c2_second_introduces_flare_first_evalua Second, it introduces FLARE, the first evaluation benchmark that includes both financial language understanding and financial prediction."/>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4_c3_third_introduces_finma_first_openly" title="cue_s04_c3_third_introduces_finma_first_openly" descr="cue_s04_c3_third_introduces_finma_first_openly Third, it introduces FinMA, the first openly released, instruction-following financial large language model, achieving state-of-the-art on three financial NLP tasks and one prediction task."/>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4_c4_fourth_benchmarks_finma_against_exis" title="cue_s04_c4_fourth_benchmarks_finma_against_exis" descr="cue_s04_c4_fourth_benchmarks_finma_against_exis Fourth, it benchmarks FinMA against existing LLMs, revealing both their superiority and their key limitations for finance."/>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558348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Gather, instruction-tune, evaluate</a:t>
            </a:r>
          </a:p>
        </p:txBody>
      </p:sp>
      <p:grpSp>
        <p:nvGrpSpPr>
          <p:cNvPr id="16" name="Group 16"/>
          <p:cNvGrpSpPr/>
          <p:nvPr/>
        </p:nvGrpSpPr>
        <p:grpSpPr>
          <a:xfrm>
            <a:off x="609600" y="1504950"/>
            <a:ext cx="5410200" cy="1905000"/>
            <a:chOff x="609600" y="1504950"/>
            <a:chExt cx="5410200" cy="1905000"/>
          </a:xfrm>
        </p:grpSpPr>
        <p:sp>
          <p:nvSpPr>
            <p:cNvPr id="5" name="Rectangle 5"/>
            <p:cNvSpPr/>
            <p:nvPr/>
          </p:nvSpPr>
          <p:spPr>
            <a:xfrm>
              <a:off x="609600" y="1504950"/>
              <a:ext cx="5410200" cy="1905000"/>
            </a:xfrm>
            <a:prstGeom prst="roundRect">
              <a:avLst>
                <a:gd name="adj" fmla="val 7000"/>
              </a:avLst>
            </a:prstGeom>
            <a:solidFill>
              <a:schemeClr val="accent5"/>
            </a:solidFill>
            <a:ln w="14288">
              <a:solidFill>
                <a:srgbClr val="26455F"/>
              </a:solidFill>
            </a:ln>
          </p:spPr>
        </p:sp>
        <p:sp>
          <p:nvSpPr>
            <p:cNvPr id="6" name="Rectangle 6"/>
            <p:cNvSpPr/>
            <p:nvPr/>
          </p:nvSpPr>
          <p:spPr>
            <a:xfrm>
              <a:off x="609600" y="1504950"/>
              <a:ext cx="57150" cy="1905000"/>
            </a:xfrm>
            <a:prstGeom prst="roundRect">
              <a:avLst>
                <a:gd name="adj" fmla="val 50000"/>
              </a:avLst>
            </a:prstGeom>
            <a:solidFill>
              <a:schemeClr val="accent2"/>
            </a:solidFill>
            <a:ln>
              <a:noFill/>
            </a:ln>
          </p:spPr>
        </p:sp>
        <p:sp>
          <p:nvSpPr>
            <p:cNvPr id="7" name="TextBox 7"/>
            <p:cNvSpPr txBox="1"/>
            <p:nvPr/>
          </p:nvSpPr>
          <p:spPr>
            <a:xfrm>
              <a:off x="870014" y="1733312"/>
              <a:ext cx="2306729"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Stage 1 · gather open data</a:t>
              </a:r>
            </a:p>
          </p:txBody>
        </p:sp>
        <p:sp>
          <p:nvSpPr>
            <p:cNvPr id="8" name="TextBox 8"/>
            <p:cNvSpPr txBox="1"/>
            <p:nvPr/>
          </p:nvSpPr>
          <p:spPr>
            <a:xfrm>
              <a:off x="870966" y="2039302"/>
              <a:ext cx="38317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Collect open-released data across five financial tasks.</a:t>
              </a:r>
            </a:p>
          </p:txBody>
        </p:sp>
        <p:sp>
          <p:nvSpPr>
            <p:cNvPr id="9" name="Rectangle 9"/>
            <p:cNvSpPr/>
            <p:nvPr/>
          </p:nvSpPr>
          <p:spPr>
            <a:xfrm>
              <a:off x="876300" y="2419350"/>
              <a:ext cx="4876800" cy="285750"/>
            </a:xfrm>
            <a:prstGeom prst="roundRect">
              <a:avLst>
                <a:gd name="adj" fmla="val 26667"/>
              </a:avLst>
            </a:prstGeom>
            <a:solidFill>
              <a:schemeClr val="accent6"/>
            </a:solidFill>
            <a:ln w="14288">
              <a:solidFill>
                <a:srgbClr val="26455F"/>
              </a:solidFill>
            </a:ln>
          </p:spPr>
        </p:sp>
        <p:sp>
          <p:nvSpPr>
            <p:cNvPr id="10" name="Ellipse 10"/>
            <p:cNvSpPr/>
            <p:nvPr/>
          </p:nvSpPr>
          <p:spPr>
            <a:xfrm>
              <a:off x="1000125" y="2514600"/>
              <a:ext cx="95250" cy="95250"/>
            </a:xfrm>
            <a:prstGeom prst="ellipse">
              <a:avLst/>
            </a:prstGeom>
            <a:solidFill>
              <a:schemeClr val="accent2"/>
            </a:solidFill>
            <a:ln>
              <a:noFill/>
            </a:ln>
          </p:spPr>
        </p:sp>
        <p:sp>
          <p:nvSpPr>
            <p:cNvPr id="11" name="TextBox 11"/>
            <p:cNvSpPr txBox="1"/>
            <p:nvPr/>
          </p:nvSpPr>
          <p:spPr>
            <a:xfrm>
              <a:off x="1194626" y="2501979"/>
              <a:ext cx="200327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Sentiment · Headline · NER</a:t>
              </a:r>
            </a:p>
          </p:txBody>
        </p:sp>
        <p:sp>
          <p:nvSpPr>
            <p:cNvPr id="12" name="Rectangle 12"/>
            <p:cNvSpPr/>
            <p:nvPr/>
          </p:nvSpPr>
          <p:spPr>
            <a:xfrm>
              <a:off x="876300" y="2781300"/>
              <a:ext cx="4876800" cy="285750"/>
            </a:xfrm>
            <a:prstGeom prst="roundRect">
              <a:avLst>
                <a:gd name="adj" fmla="val 26667"/>
              </a:avLst>
            </a:prstGeom>
            <a:solidFill>
              <a:schemeClr val="accent6"/>
            </a:solidFill>
            <a:ln w="14288">
              <a:solidFill>
                <a:srgbClr val="26455F"/>
              </a:solidFill>
            </a:ln>
          </p:spPr>
        </p:sp>
        <p:sp>
          <p:nvSpPr>
            <p:cNvPr id="13" name="Ellipse 13"/>
            <p:cNvSpPr/>
            <p:nvPr/>
          </p:nvSpPr>
          <p:spPr>
            <a:xfrm>
              <a:off x="1000125" y="2876550"/>
              <a:ext cx="95250" cy="95250"/>
            </a:xfrm>
            <a:prstGeom prst="ellipse">
              <a:avLst/>
            </a:prstGeom>
            <a:solidFill>
              <a:schemeClr val="accent2"/>
            </a:solidFill>
            <a:ln>
              <a:noFill/>
            </a:ln>
          </p:spPr>
        </p:sp>
        <p:sp>
          <p:nvSpPr>
            <p:cNvPr id="14" name="TextBox 14"/>
            <p:cNvSpPr txBox="1"/>
            <p:nvPr/>
          </p:nvSpPr>
          <p:spPr>
            <a:xfrm>
              <a:off x="1194626" y="2863929"/>
              <a:ext cx="3696080"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Question answering · Stock movement prediction</a:t>
              </a:r>
            </a:p>
          </p:txBody>
        </p:sp>
        <p:sp>
          <p:nvSpPr>
            <p:cNvPr id="15" name="TextBox 15"/>
            <p:cNvSpPr txBox="1"/>
            <p:nvPr/>
          </p:nvSpPr>
          <p:spPr>
            <a:xfrm>
              <a:off x="871156" y="3129201"/>
              <a:ext cx="3263286"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Five tasks span text, tables, and time series.</a:t>
              </a:r>
            </a:p>
          </p:txBody>
        </p:sp>
      </p:grpSp>
      <p:grpSp>
        <p:nvGrpSpPr>
          <p:cNvPr id="23" name="Group 23"/>
          <p:cNvGrpSpPr/>
          <p:nvPr/>
        </p:nvGrpSpPr>
        <p:grpSpPr>
          <a:xfrm>
            <a:off x="609600" y="3562350"/>
            <a:ext cx="5410200" cy="1676400"/>
            <a:chOff x="609600" y="3562350"/>
            <a:chExt cx="5410200" cy="1676400"/>
          </a:xfrm>
        </p:grpSpPr>
        <p:sp>
          <p:nvSpPr>
            <p:cNvPr id="17" name="Rectangle 17"/>
            <p:cNvSpPr/>
            <p:nvPr/>
          </p:nvSpPr>
          <p:spPr>
            <a:xfrm>
              <a:off x="609600" y="3562350"/>
              <a:ext cx="5410200" cy="1676400"/>
            </a:xfrm>
            <a:prstGeom prst="roundRect">
              <a:avLst>
                <a:gd name="adj" fmla="val 7955"/>
              </a:avLst>
            </a:prstGeom>
            <a:solidFill>
              <a:srgbClr val="0F2E2B"/>
            </a:solidFill>
            <a:ln w="14288">
              <a:solidFill>
                <a:srgbClr val="34D3C0"/>
              </a:solidFill>
            </a:ln>
          </p:spPr>
        </p:sp>
        <p:sp>
          <p:nvSpPr>
            <p:cNvPr id="18" name="Rectangle 18"/>
            <p:cNvSpPr/>
            <p:nvPr/>
          </p:nvSpPr>
          <p:spPr>
            <a:xfrm>
              <a:off x="609600" y="3562350"/>
              <a:ext cx="57150" cy="1676400"/>
            </a:xfrm>
            <a:prstGeom prst="roundRect">
              <a:avLst>
                <a:gd name="adj" fmla="val 50000"/>
              </a:avLst>
            </a:prstGeom>
            <a:solidFill>
              <a:srgbClr val="34D3C0"/>
            </a:solidFill>
            <a:ln>
              <a:noFill/>
            </a:ln>
          </p:spPr>
        </p:sp>
        <p:sp>
          <p:nvSpPr>
            <p:cNvPr id="19" name="TextBox 19"/>
            <p:cNvSpPr txBox="1"/>
            <p:nvPr/>
          </p:nvSpPr>
          <p:spPr>
            <a:xfrm>
              <a:off x="870204" y="3794760"/>
              <a:ext cx="2689881"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Stage 1b · build FIT instructions</a:t>
              </a:r>
            </a:p>
          </p:txBody>
        </p:sp>
        <p:sp>
          <p:nvSpPr>
            <p:cNvPr id="20" name="TextBox 20"/>
            <p:cNvSpPr txBox="1"/>
            <p:nvPr/>
          </p:nvSpPr>
          <p:spPr>
            <a:xfrm>
              <a:off x="870966" y="4096702"/>
              <a:ext cx="40013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Domain experts write diverse task-specific instructions,</a:t>
              </a:r>
            </a:p>
          </p:txBody>
        </p:sp>
        <p:sp>
          <p:nvSpPr>
            <p:cNvPr id="21" name="TextBox 21"/>
            <p:cNvSpPr txBox="1"/>
            <p:nvPr/>
          </p:nvSpPr>
          <p:spPr>
            <a:xfrm>
              <a:off x="870966" y="4296728"/>
              <a:ext cx="403276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assembled with the data samples to form the FIT dataset.</a:t>
              </a:r>
            </a:p>
          </p:txBody>
        </p:sp>
        <p:sp>
          <p:nvSpPr>
            <p:cNvPr id="22" name="TextBox 22"/>
            <p:cNvSpPr txBox="1"/>
            <p:nvPr/>
          </p:nvSpPr>
          <p:spPr>
            <a:xfrm>
              <a:off x="870966" y="4782502"/>
              <a:ext cx="3305560"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Consolas"/>
                  <a:ea typeface="Consolas"/>
                  <a:cs typeface="Consolas"/>
                </a:rPr>
                <a:t>multi-modal: text + tables + historical prices</a:t>
              </a:r>
            </a:p>
          </p:txBody>
        </p:sp>
      </p:grpSp>
      <p:grpSp>
        <p:nvGrpSpPr>
          <p:cNvPr id="33" name="Group 33"/>
          <p:cNvGrpSpPr/>
          <p:nvPr/>
        </p:nvGrpSpPr>
        <p:grpSpPr>
          <a:xfrm>
            <a:off x="6248400" y="1504950"/>
            <a:ext cx="5334000" cy="1905000"/>
            <a:chOff x="6248400" y="1504950"/>
            <a:chExt cx="5334000" cy="1905000"/>
          </a:xfrm>
        </p:grpSpPr>
        <p:sp>
          <p:nvSpPr>
            <p:cNvPr id="24" name="Rectangle 24"/>
            <p:cNvSpPr/>
            <p:nvPr/>
          </p:nvSpPr>
          <p:spPr>
            <a:xfrm>
              <a:off x="6248400" y="1504950"/>
              <a:ext cx="5334000" cy="1905000"/>
            </a:xfrm>
            <a:prstGeom prst="roundRect">
              <a:avLst>
                <a:gd name="adj" fmla="val 7000"/>
              </a:avLst>
            </a:prstGeom>
            <a:solidFill>
              <a:schemeClr val="accent5"/>
            </a:solidFill>
            <a:ln w="14288">
              <a:solidFill>
                <a:srgbClr val="26455F"/>
              </a:solidFill>
            </a:ln>
          </p:spPr>
        </p:sp>
        <p:sp>
          <p:nvSpPr>
            <p:cNvPr id="25" name="Rectangle 25"/>
            <p:cNvSpPr/>
            <p:nvPr/>
          </p:nvSpPr>
          <p:spPr>
            <a:xfrm>
              <a:off x="6248400" y="1504950"/>
              <a:ext cx="57150" cy="1905000"/>
            </a:xfrm>
            <a:prstGeom prst="roundRect">
              <a:avLst>
                <a:gd name="adj" fmla="val 50000"/>
              </a:avLst>
            </a:prstGeom>
            <a:solidFill>
              <a:srgbClr val="F2C14E"/>
            </a:solidFill>
            <a:ln>
              <a:noFill/>
            </a:ln>
          </p:spPr>
        </p:sp>
        <p:sp>
          <p:nvSpPr>
            <p:cNvPr id="26" name="TextBox 26"/>
            <p:cNvSpPr txBox="1"/>
            <p:nvPr/>
          </p:nvSpPr>
          <p:spPr>
            <a:xfrm>
              <a:off x="6508814" y="1733312"/>
              <a:ext cx="2273568"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Stage 2 · fine-tune LLaMA</a:t>
              </a:r>
            </a:p>
          </p:txBody>
        </p:sp>
        <p:sp>
          <p:nvSpPr>
            <p:cNvPr id="27" name="TextBox 27"/>
            <p:cNvSpPr txBox="1"/>
            <p:nvPr/>
          </p:nvSpPr>
          <p:spPr>
            <a:xfrm>
              <a:off x="6509766" y="2039302"/>
              <a:ext cx="378270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LLaMA checkpoints at 7B and 30B are fine-tuned on FIT</a:t>
              </a:r>
            </a:p>
          </p:txBody>
        </p:sp>
        <p:sp>
          <p:nvSpPr>
            <p:cNvPr id="28" name="TextBox 28"/>
            <p:cNvSpPr txBox="1"/>
            <p:nvPr/>
          </p:nvSpPr>
          <p:spPr>
            <a:xfrm>
              <a:off x="6509766" y="2239328"/>
              <a:ext cx="24701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with multi-task instruction tuning.</a:t>
              </a:r>
            </a:p>
          </p:txBody>
        </p:sp>
        <p:sp>
          <p:nvSpPr>
            <p:cNvPr id="29" name="TextBox 29"/>
            <p:cNvSpPr txBox="1"/>
            <p:nvPr/>
          </p:nvSpPr>
          <p:spPr>
            <a:xfrm>
              <a:off x="6509385" y="2736056"/>
              <a:ext cx="1198288"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LLaMA 7B / 30B</a:t>
              </a:r>
            </a:p>
          </p:txBody>
        </p:sp>
        <p:sp>
          <p:nvSpPr>
            <p:cNvPr id="30" name="TextBox 30"/>
            <p:cNvSpPr txBox="1"/>
            <p:nvPr/>
          </p:nvSpPr>
          <p:spPr>
            <a:xfrm>
              <a:off x="8622792" y="2711768"/>
              <a:ext cx="749648" cy="264033"/>
            </a:xfrm>
            <a:prstGeom prst="rect">
              <a:avLst/>
            </a:prstGeom>
            <a:noFill/>
            <a:ln>
              <a:noFill/>
            </a:ln>
          </p:spPr>
          <p:txBody>
            <a:bodyPr wrap="none" lIns="0" tIns="0" rIns="0" bIns="0" anchor="t" anchorCtr="0">
              <a:spAutoFit/>
            </a:bodyPr>
            <a:lstStyle/>
            <a:p>
              <a:pPr algn="l"/>
              <a:r>
                <a:rPr lang="en-US" sz="1350" b="1" dirty="0">
                  <a:solidFill>
                    <a:srgbClr val="F2C14E"/>
                  </a:solidFill>
                  <a:latin typeface="+mn-lt"/>
                  <a:ea typeface="+mn-ea"/>
                  <a:cs typeface="+mn-cs"/>
                </a:rPr>
                <a:t>+ FIT -&gt;</a:t>
              </a:r>
            </a:p>
          </p:txBody>
        </p:sp>
        <p:sp>
          <p:nvSpPr>
            <p:cNvPr id="31" name="TextBox 31"/>
            <p:cNvSpPr txBox="1"/>
            <p:nvPr/>
          </p:nvSpPr>
          <p:spPr>
            <a:xfrm>
              <a:off x="9670542" y="2711768"/>
              <a:ext cx="546439" cy="264033"/>
            </a:xfrm>
            <a:prstGeom prst="rect">
              <a:avLst/>
            </a:prstGeom>
            <a:noFill/>
            <a:ln>
              <a:noFill/>
            </a:ln>
          </p:spPr>
          <p:txBody>
            <a:bodyPr wrap="none" lIns="0" tIns="0" rIns="0" bIns="0" anchor="t" anchorCtr="0">
              <a:spAutoFit/>
            </a:bodyPr>
            <a:lstStyle/>
            <a:p>
              <a:pPr algn="l"/>
              <a:r>
                <a:rPr lang="en-US" sz="1350" b="1" dirty="0">
                  <a:solidFill>
                    <a:srgbClr val="F2C14E"/>
                  </a:solidFill>
                  <a:latin typeface="+mn-lt"/>
                  <a:ea typeface="+mn-ea"/>
                  <a:cs typeface="+mn-cs"/>
                </a:rPr>
                <a:t>FinMA</a:t>
              </a:r>
            </a:p>
          </p:txBody>
        </p:sp>
        <p:sp>
          <p:nvSpPr>
            <p:cNvPr id="32" name="TextBox 32"/>
            <p:cNvSpPr txBox="1"/>
            <p:nvPr/>
          </p:nvSpPr>
          <p:spPr>
            <a:xfrm>
              <a:off x="6509956" y="3091101"/>
              <a:ext cx="1671643"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The FinMA model family.</a:t>
              </a:r>
            </a:p>
          </p:txBody>
        </p:sp>
      </p:grpSp>
      <p:grpSp>
        <p:nvGrpSpPr>
          <p:cNvPr id="40" name="Group 40"/>
          <p:cNvGrpSpPr/>
          <p:nvPr/>
        </p:nvGrpSpPr>
        <p:grpSpPr>
          <a:xfrm>
            <a:off x="6248400" y="3562350"/>
            <a:ext cx="5334000" cy="1676400"/>
            <a:chOff x="6248400" y="3562350"/>
            <a:chExt cx="5334000" cy="1676400"/>
          </a:xfrm>
        </p:grpSpPr>
        <p:sp>
          <p:nvSpPr>
            <p:cNvPr id="34" name="Rectangle 34"/>
            <p:cNvSpPr/>
            <p:nvPr/>
          </p:nvSpPr>
          <p:spPr>
            <a:xfrm>
              <a:off x="6248400" y="3562350"/>
              <a:ext cx="5334000" cy="1676400"/>
            </a:xfrm>
            <a:prstGeom prst="roundRect">
              <a:avLst>
                <a:gd name="adj" fmla="val 7955"/>
              </a:avLst>
            </a:prstGeom>
            <a:solidFill>
              <a:schemeClr val="accent5"/>
            </a:solidFill>
            <a:ln w="14288">
              <a:solidFill>
                <a:srgbClr val="26455F"/>
              </a:solidFill>
            </a:ln>
          </p:spPr>
        </p:sp>
        <p:sp>
          <p:nvSpPr>
            <p:cNvPr id="35" name="Rectangle 35"/>
            <p:cNvSpPr/>
            <p:nvPr/>
          </p:nvSpPr>
          <p:spPr>
            <a:xfrm>
              <a:off x="6248400" y="3562350"/>
              <a:ext cx="57150" cy="1676400"/>
            </a:xfrm>
            <a:prstGeom prst="roundRect">
              <a:avLst>
                <a:gd name="adj" fmla="val 50000"/>
              </a:avLst>
            </a:prstGeom>
            <a:solidFill>
              <a:srgbClr val="48C78E"/>
            </a:solidFill>
            <a:ln>
              <a:noFill/>
            </a:ln>
          </p:spPr>
        </p:sp>
        <p:sp>
          <p:nvSpPr>
            <p:cNvPr id="36" name="TextBox 36"/>
            <p:cNvSpPr txBox="1"/>
            <p:nvPr/>
          </p:nvSpPr>
          <p:spPr>
            <a:xfrm>
              <a:off x="6509004" y="3794760"/>
              <a:ext cx="2315088"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Stage 3 · evaluate on FLARE</a:t>
              </a:r>
            </a:p>
          </p:txBody>
        </p:sp>
        <p:sp>
          <p:nvSpPr>
            <p:cNvPr id="37" name="TextBox 37"/>
            <p:cNvSpPr txBox="1"/>
            <p:nvPr/>
          </p:nvSpPr>
          <p:spPr>
            <a:xfrm>
              <a:off x="6509766" y="4096702"/>
              <a:ext cx="39659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FinMA and other LLMs are scored on FLARE, which unifies</a:t>
              </a:r>
            </a:p>
          </p:txBody>
        </p:sp>
        <p:sp>
          <p:nvSpPr>
            <p:cNvPr id="38" name="TextBox 38"/>
            <p:cNvSpPr txBox="1"/>
            <p:nvPr/>
          </p:nvSpPr>
          <p:spPr>
            <a:xfrm>
              <a:off x="6509766" y="4296728"/>
              <a:ext cx="27670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financial language and prediction tasks.</a:t>
              </a:r>
            </a:p>
          </p:txBody>
        </p:sp>
        <p:sp>
          <p:nvSpPr>
            <p:cNvPr id="39" name="TextBox 39"/>
            <p:cNvSpPr txBox="1"/>
            <p:nvPr/>
          </p:nvSpPr>
          <p:spPr>
            <a:xfrm>
              <a:off x="6509956" y="4786551"/>
              <a:ext cx="3647443"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Consolas"/>
                  <a:ea typeface="Consolas"/>
                  <a:cs typeface="Consolas"/>
                </a:rPr>
                <a:t>4 NLP tasks / 6 datasets + 1 prediction / 3 datasets</a:t>
              </a:r>
            </a:p>
          </p:txBody>
        </p:sp>
      </p:grpSp>
      <p:sp>
        <p:nvSpPr>
          <p:cNvPr id="41" name="cue_s05_c1_method_three_stages_first_pixiu" title="cue_s05_c1_method_three_stages_first_pixiu" descr="cue_s05_c1_method_three_stages_first_pixiu The method has three stages. First, PIXIU gathers open-released data across five financial tasks: sentiment analysis, news headline classification, named entity recognition, question answering, and stock movement prediction."/>
          <p:cNvSpPr/>
          <p:nvPr/>
        </p:nvSpPr>
        <p:spPr>
          <a:xfrm>
            <a:off x="609600" y="1504645"/>
            <a:ext cx="540959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5_c2_domain_experts_write_diverse_task_sp" title="cue_s05_c2_domain_experts_write_diverse_task_sp" descr="cue_s05_c2_domain_experts_write_diverse_task_sp Domain experts write diverse task-specific instructions for each task, which are assembled with the data samples to form the FIT instruction dataset. This data is multi-modal, spanning text, tables from financial reports, and historical stock prices as time se"/>
          <p:cNvSpPr/>
          <p:nvPr/>
        </p:nvSpPr>
        <p:spPr>
          <a:xfrm>
            <a:off x="609600" y="3562045"/>
            <a:ext cx="540959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5_c3_second_llama_checkpoints_seven_thirt" title="cue_s05_c3_second_llama_checkpoints_seven_thirt" descr="cue_s05_c3_second_llama_checkpoints_seven_thirt Second, LLaMA checkpoints at seven and thirty billion parameters are fine-tuned on FIT with multi-task instruction tuning, producing the FinMA model family."/>
          <p:cNvSpPr/>
          <p:nvPr/>
        </p:nvSpPr>
        <p:spPr>
          <a:xfrm>
            <a:off x="6248399" y="1504645"/>
            <a:ext cx="533400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5_c4_third_finma_other_llms_evaluated" title="cue_s05_c4_third_finma_other_llms_evaluated" descr="cue_s05_c4_third_finma_other_llms_evaluated Third, FinMA and other LLMs are evaluated on the FLARE benchmark, which unifies four financial NLP tasks with six datasets and one prediction task with three datasets."/>
          <p:cNvSpPr/>
          <p:nvPr/>
        </p:nvSpPr>
        <p:spPr>
          <a:xfrm>
            <a:off x="6248399" y="3562045"/>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489605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FIT to train, FLARE to evaluate</a:t>
            </a:r>
          </a:p>
        </p:txBody>
      </p:sp>
      <p:grpSp>
        <p:nvGrpSpPr>
          <p:cNvPr id="17" name="Group 17"/>
          <p:cNvGrpSpPr/>
          <p:nvPr/>
        </p:nvGrpSpPr>
        <p:grpSpPr>
          <a:xfrm>
            <a:off x="609600" y="1504950"/>
            <a:ext cx="5334000" cy="1428750"/>
            <a:chOff x="609600" y="1504950"/>
            <a:chExt cx="5334000" cy="1428750"/>
          </a:xfrm>
        </p:grpSpPr>
        <p:sp>
          <p:nvSpPr>
            <p:cNvPr id="5" name="Rectangle 5"/>
            <p:cNvSpPr/>
            <p:nvPr/>
          </p:nvSpPr>
          <p:spPr>
            <a:xfrm>
              <a:off x="609600" y="1504950"/>
              <a:ext cx="53340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504950"/>
              <a:ext cx="57150" cy="1428750"/>
            </a:xfrm>
            <a:prstGeom prst="roundRect">
              <a:avLst>
                <a:gd name="adj" fmla="val 50000"/>
              </a:avLst>
            </a:prstGeom>
            <a:solidFill>
              <a:schemeClr val="accent2"/>
            </a:solidFill>
            <a:ln>
              <a:noFill/>
            </a:ln>
          </p:spPr>
        </p:sp>
        <p:sp>
          <p:nvSpPr>
            <p:cNvPr id="7" name="TextBox 7"/>
            <p:cNvSpPr txBox="1"/>
            <p:nvPr/>
          </p:nvSpPr>
          <p:spPr>
            <a:xfrm>
              <a:off x="869442" y="1721168"/>
              <a:ext cx="2217200"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FIT · instruction tuning</a:t>
              </a:r>
            </a:p>
          </p:txBody>
        </p:sp>
        <p:sp>
          <p:nvSpPr>
            <p:cNvPr id="8" name="Rectangle 8"/>
            <p:cNvSpPr/>
            <p:nvPr/>
          </p:nvSpPr>
          <p:spPr>
            <a:xfrm>
              <a:off x="876300" y="2038350"/>
              <a:ext cx="1428750" cy="723900"/>
            </a:xfrm>
            <a:prstGeom prst="roundRect">
              <a:avLst>
                <a:gd name="adj" fmla="val 15789"/>
              </a:avLst>
            </a:prstGeom>
            <a:solidFill>
              <a:schemeClr val="accent6"/>
            </a:solidFill>
            <a:ln w="14288">
              <a:solidFill>
                <a:srgbClr val="26455F"/>
              </a:solidFill>
            </a:ln>
          </p:spPr>
        </p:sp>
        <p:sp>
          <p:nvSpPr>
            <p:cNvPr id="9" name="TextBox 9"/>
            <p:cNvSpPr txBox="1"/>
            <p:nvPr/>
          </p:nvSpPr>
          <p:spPr>
            <a:xfrm>
              <a:off x="1209599" y="2328862"/>
              <a:ext cx="76215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136K</a:t>
              </a:r>
            </a:p>
          </p:txBody>
        </p:sp>
        <p:sp>
          <p:nvSpPr>
            <p:cNvPr id="10" name="TextBox 10"/>
            <p:cNvSpPr txBox="1"/>
            <p:nvPr/>
          </p:nvSpPr>
          <p:spPr>
            <a:xfrm>
              <a:off x="1333460" y="2718197"/>
              <a:ext cx="51443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samples</a:t>
              </a:r>
            </a:p>
          </p:txBody>
        </p:sp>
        <p:sp>
          <p:nvSpPr>
            <p:cNvPr id="11" name="Rectangle 11"/>
            <p:cNvSpPr/>
            <p:nvPr/>
          </p:nvSpPr>
          <p:spPr>
            <a:xfrm>
              <a:off x="2457450" y="2038350"/>
              <a:ext cx="1333500" cy="723900"/>
            </a:xfrm>
            <a:prstGeom prst="roundRect">
              <a:avLst>
                <a:gd name="adj" fmla="val 15789"/>
              </a:avLst>
            </a:prstGeom>
            <a:solidFill>
              <a:schemeClr val="accent6"/>
            </a:solidFill>
            <a:ln w="14288">
              <a:solidFill>
                <a:srgbClr val="26455F"/>
              </a:solidFill>
            </a:ln>
          </p:spPr>
        </p:sp>
        <p:sp>
          <p:nvSpPr>
            <p:cNvPr id="12" name="TextBox 12"/>
            <p:cNvSpPr txBox="1"/>
            <p:nvPr/>
          </p:nvSpPr>
          <p:spPr>
            <a:xfrm>
              <a:off x="3025309" y="2328862"/>
              <a:ext cx="19778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5</a:t>
              </a:r>
            </a:p>
          </p:txBody>
        </p:sp>
        <p:sp>
          <p:nvSpPr>
            <p:cNvPr id="13" name="TextBox 13"/>
            <p:cNvSpPr txBox="1"/>
            <p:nvPr/>
          </p:nvSpPr>
          <p:spPr>
            <a:xfrm>
              <a:off x="2936741" y="2718197"/>
              <a:ext cx="37491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tasks</a:t>
              </a:r>
            </a:p>
          </p:txBody>
        </p:sp>
        <p:sp>
          <p:nvSpPr>
            <p:cNvPr id="14" name="Rectangle 14"/>
            <p:cNvSpPr/>
            <p:nvPr/>
          </p:nvSpPr>
          <p:spPr>
            <a:xfrm>
              <a:off x="3962400" y="2038350"/>
              <a:ext cx="1333500" cy="723900"/>
            </a:xfrm>
            <a:prstGeom prst="roundRect">
              <a:avLst>
                <a:gd name="adj" fmla="val 15789"/>
              </a:avLst>
            </a:prstGeom>
            <a:solidFill>
              <a:schemeClr val="accent6"/>
            </a:solidFill>
            <a:ln w="14288">
              <a:solidFill>
                <a:srgbClr val="26455F"/>
              </a:solidFill>
            </a:ln>
          </p:spPr>
        </p:sp>
        <p:sp>
          <p:nvSpPr>
            <p:cNvPr id="15" name="TextBox 15"/>
            <p:cNvSpPr txBox="1"/>
            <p:nvPr/>
          </p:nvSpPr>
          <p:spPr>
            <a:xfrm>
              <a:off x="4530259" y="2328862"/>
              <a:ext cx="19778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9</a:t>
              </a:r>
            </a:p>
          </p:txBody>
        </p:sp>
        <p:sp>
          <p:nvSpPr>
            <p:cNvPr id="16" name="TextBox 16"/>
            <p:cNvSpPr txBox="1"/>
            <p:nvPr/>
          </p:nvSpPr>
          <p:spPr>
            <a:xfrm>
              <a:off x="4332074" y="2718197"/>
              <a:ext cx="59415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datasets</a:t>
              </a:r>
            </a:p>
          </p:txBody>
        </p:sp>
      </p:grpSp>
      <p:grpSp>
        <p:nvGrpSpPr>
          <p:cNvPr id="30" name="Group 30"/>
          <p:cNvGrpSpPr/>
          <p:nvPr/>
        </p:nvGrpSpPr>
        <p:grpSpPr>
          <a:xfrm>
            <a:off x="6248400" y="1504950"/>
            <a:ext cx="5334000" cy="1428750"/>
            <a:chOff x="6248400" y="1504950"/>
            <a:chExt cx="5334000" cy="1428750"/>
          </a:xfrm>
        </p:grpSpPr>
        <p:sp>
          <p:nvSpPr>
            <p:cNvPr id="18" name="Rectangle 18"/>
            <p:cNvSpPr/>
            <p:nvPr/>
          </p:nvSpPr>
          <p:spPr>
            <a:xfrm>
              <a:off x="6248400" y="1504950"/>
              <a:ext cx="5334000" cy="1428750"/>
            </a:xfrm>
            <a:prstGeom prst="roundRect">
              <a:avLst>
                <a:gd name="adj" fmla="val 9333"/>
              </a:avLst>
            </a:prstGeom>
            <a:solidFill>
              <a:schemeClr val="accent5"/>
            </a:solidFill>
            <a:ln w="14288">
              <a:solidFill>
                <a:srgbClr val="26455F"/>
              </a:solidFill>
            </a:ln>
          </p:spPr>
        </p:sp>
        <p:sp>
          <p:nvSpPr>
            <p:cNvPr id="19" name="Rectangle 19"/>
            <p:cNvSpPr/>
            <p:nvPr/>
          </p:nvSpPr>
          <p:spPr>
            <a:xfrm>
              <a:off x="6248400" y="1504950"/>
              <a:ext cx="57150" cy="1428750"/>
            </a:xfrm>
            <a:prstGeom prst="roundRect">
              <a:avLst>
                <a:gd name="adj" fmla="val 50000"/>
              </a:avLst>
            </a:prstGeom>
            <a:solidFill>
              <a:srgbClr val="34D3C0"/>
            </a:solidFill>
            <a:ln>
              <a:noFill/>
            </a:ln>
          </p:spPr>
        </p:sp>
        <p:sp>
          <p:nvSpPr>
            <p:cNvPr id="20" name="TextBox 20"/>
            <p:cNvSpPr txBox="1"/>
            <p:nvPr/>
          </p:nvSpPr>
          <p:spPr>
            <a:xfrm>
              <a:off x="6508242" y="1721168"/>
              <a:ext cx="1744092" cy="264033"/>
            </a:xfrm>
            <a:prstGeom prst="rect">
              <a:avLst/>
            </a:prstGeom>
            <a:noFill/>
            <a:ln>
              <a:noFill/>
            </a:ln>
          </p:spPr>
          <p:txBody>
            <a:bodyPr wrap="none" lIns="0" tIns="0" rIns="0" bIns="0" anchor="t" anchorCtr="0">
              <a:spAutoFit/>
            </a:bodyPr>
            <a:lstStyle/>
            <a:p>
              <a:pPr algn="l"/>
              <a:r>
                <a:rPr lang="en-US" sz="1350" b="1" dirty="0">
                  <a:solidFill>
                    <a:srgbClr val="34D3C0"/>
                  </a:solidFill>
                  <a:latin typeface="+mn-lt"/>
                  <a:ea typeface="+mn-ea"/>
                  <a:cs typeface="+mn-cs"/>
                </a:rPr>
                <a:t>FLARE · evaluation</a:t>
              </a:r>
            </a:p>
          </p:txBody>
        </p:sp>
        <p:sp>
          <p:nvSpPr>
            <p:cNvPr id="21" name="Rectangle 21"/>
            <p:cNvSpPr/>
            <p:nvPr/>
          </p:nvSpPr>
          <p:spPr>
            <a:xfrm>
              <a:off x="6515100" y="2038350"/>
              <a:ext cx="1676400" cy="723900"/>
            </a:xfrm>
            <a:prstGeom prst="roundRect">
              <a:avLst>
                <a:gd name="adj" fmla="val 15789"/>
              </a:avLst>
            </a:prstGeom>
            <a:solidFill>
              <a:schemeClr val="accent6"/>
            </a:solidFill>
            <a:ln w="14288">
              <a:solidFill>
                <a:srgbClr val="26455F"/>
              </a:solidFill>
            </a:ln>
          </p:spPr>
        </p:sp>
        <p:sp>
          <p:nvSpPr>
            <p:cNvPr id="22" name="TextBox 22"/>
            <p:cNvSpPr txBox="1"/>
            <p:nvPr/>
          </p:nvSpPr>
          <p:spPr>
            <a:xfrm>
              <a:off x="6921817" y="2328862"/>
              <a:ext cx="862965"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4 NLP</a:t>
              </a:r>
            </a:p>
          </p:txBody>
        </p:sp>
        <p:sp>
          <p:nvSpPr>
            <p:cNvPr id="23" name="TextBox 23"/>
            <p:cNvSpPr txBox="1"/>
            <p:nvPr/>
          </p:nvSpPr>
          <p:spPr>
            <a:xfrm>
              <a:off x="6999754" y="2718197"/>
              <a:ext cx="70709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6 datasets</a:t>
              </a:r>
            </a:p>
          </p:txBody>
        </p:sp>
        <p:sp>
          <p:nvSpPr>
            <p:cNvPr id="24" name="Rectangle 24"/>
            <p:cNvSpPr/>
            <p:nvPr/>
          </p:nvSpPr>
          <p:spPr>
            <a:xfrm>
              <a:off x="8343900" y="2038350"/>
              <a:ext cx="1524000" cy="723900"/>
            </a:xfrm>
            <a:prstGeom prst="roundRect">
              <a:avLst>
                <a:gd name="adj" fmla="val 15789"/>
              </a:avLst>
            </a:prstGeom>
            <a:solidFill>
              <a:schemeClr val="accent6"/>
            </a:solidFill>
            <a:ln w="14288">
              <a:solidFill>
                <a:srgbClr val="26455F"/>
              </a:solidFill>
            </a:ln>
          </p:spPr>
        </p:sp>
        <p:sp>
          <p:nvSpPr>
            <p:cNvPr id="25" name="TextBox 25"/>
            <p:cNvSpPr txBox="1"/>
            <p:nvPr/>
          </p:nvSpPr>
          <p:spPr>
            <a:xfrm>
              <a:off x="8521998" y="2328862"/>
              <a:ext cx="1167803"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1 pred.</a:t>
              </a:r>
            </a:p>
          </p:txBody>
        </p:sp>
        <p:sp>
          <p:nvSpPr>
            <p:cNvPr id="26" name="TextBox 26"/>
            <p:cNvSpPr txBox="1"/>
            <p:nvPr/>
          </p:nvSpPr>
          <p:spPr>
            <a:xfrm>
              <a:off x="8752354" y="2718197"/>
              <a:ext cx="70709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3 datasets</a:t>
              </a:r>
            </a:p>
          </p:txBody>
        </p:sp>
        <p:sp>
          <p:nvSpPr>
            <p:cNvPr id="27" name="Rectangle 27"/>
            <p:cNvSpPr/>
            <p:nvPr/>
          </p:nvSpPr>
          <p:spPr>
            <a:xfrm>
              <a:off x="10020300" y="2038350"/>
              <a:ext cx="1333500" cy="723900"/>
            </a:xfrm>
            <a:prstGeom prst="roundRect">
              <a:avLst>
                <a:gd name="adj" fmla="val 15789"/>
              </a:avLst>
            </a:prstGeom>
            <a:solidFill>
              <a:schemeClr val="accent6"/>
            </a:solidFill>
            <a:ln w="14288">
              <a:solidFill>
                <a:srgbClr val="26455F"/>
              </a:solidFill>
            </a:ln>
          </p:spPr>
        </p:sp>
        <p:sp>
          <p:nvSpPr>
            <p:cNvPr id="28" name="TextBox 28"/>
            <p:cNvSpPr txBox="1"/>
            <p:nvPr/>
          </p:nvSpPr>
          <p:spPr>
            <a:xfrm>
              <a:off x="10588159" y="2328862"/>
              <a:ext cx="197782"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5</a:t>
              </a:r>
            </a:p>
          </p:txBody>
        </p:sp>
        <p:sp>
          <p:nvSpPr>
            <p:cNvPr id="29" name="TextBox 29"/>
            <p:cNvSpPr txBox="1"/>
            <p:nvPr/>
          </p:nvSpPr>
          <p:spPr>
            <a:xfrm>
              <a:off x="10333504" y="2718197"/>
              <a:ext cx="70709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task types</a:t>
              </a:r>
            </a:p>
          </p:txBody>
        </p:sp>
      </p:grpSp>
      <p:grpSp>
        <p:nvGrpSpPr>
          <p:cNvPr id="46" name="Group 46"/>
          <p:cNvGrpSpPr/>
          <p:nvPr/>
        </p:nvGrpSpPr>
        <p:grpSpPr>
          <a:xfrm>
            <a:off x="609600" y="3105150"/>
            <a:ext cx="10972800" cy="1428750"/>
            <a:chOff x="609600" y="3105150"/>
            <a:chExt cx="10972800" cy="1428750"/>
          </a:xfrm>
        </p:grpSpPr>
        <p:sp>
          <p:nvSpPr>
            <p:cNvPr id="31" name="Rectangle 31"/>
            <p:cNvSpPr/>
            <p:nvPr/>
          </p:nvSpPr>
          <p:spPr>
            <a:xfrm>
              <a:off x="609600" y="3105150"/>
              <a:ext cx="10972800" cy="1428750"/>
            </a:xfrm>
            <a:prstGeom prst="roundRect">
              <a:avLst>
                <a:gd name="adj" fmla="val 9333"/>
              </a:avLst>
            </a:prstGeom>
            <a:solidFill>
              <a:schemeClr val="accent5"/>
            </a:solidFill>
            <a:ln w="14288">
              <a:solidFill>
                <a:srgbClr val="26455F"/>
              </a:solidFill>
            </a:ln>
          </p:spPr>
        </p:sp>
        <p:sp>
          <p:nvSpPr>
            <p:cNvPr id="32" name="Rectangle 32"/>
            <p:cNvSpPr/>
            <p:nvPr/>
          </p:nvSpPr>
          <p:spPr>
            <a:xfrm>
              <a:off x="609600" y="3105150"/>
              <a:ext cx="57150" cy="1428750"/>
            </a:xfrm>
            <a:prstGeom prst="roundRect">
              <a:avLst>
                <a:gd name="adj" fmla="val 50000"/>
              </a:avLst>
            </a:prstGeom>
            <a:solidFill>
              <a:schemeClr val="accent2"/>
            </a:solidFill>
            <a:ln>
              <a:noFill/>
            </a:ln>
          </p:spPr>
        </p:sp>
        <p:sp>
          <p:nvSpPr>
            <p:cNvPr id="33" name="TextBox 33"/>
            <p:cNvSpPr txBox="1"/>
            <p:nvPr/>
          </p:nvSpPr>
          <p:spPr>
            <a:xfrm>
              <a:off x="870204" y="3299460"/>
              <a:ext cx="208714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Tasks and their datasets</a:t>
              </a:r>
            </a:p>
          </p:txBody>
        </p:sp>
        <p:sp>
          <p:nvSpPr>
            <p:cNvPr id="34" name="Rectangle 34"/>
            <p:cNvSpPr/>
            <p:nvPr/>
          </p:nvSpPr>
          <p:spPr>
            <a:xfrm>
              <a:off x="876300" y="3600450"/>
              <a:ext cx="5143500" cy="285750"/>
            </a:xfrm>
            <a:prstGeom prst="roundRect">
              <a:avLst>
                <a:gd name="adj" fmla="val 26667"/>
              </a:avLst>
            </a:prstGeom>
            <a:solidFill>
              <a:schemeClr val="accent6"/>
            </a:solidFill>
            <a:ln w="14288">
              <a:solidFill>
                <a:srgbClr val="26455F"/>
              </a:solidFill>
            </a:ln>
          </p:spPr>
        </p:sp>
        <p:sp>
          <p:nvSpPr>
            <p:cNvPr id="35" name="Ellipse 35"/>
            <p:cNvSpPr/>
            <p:nvPr/>
          </p:nvSpPr>
          <p:spPr>
            <a:xfrm>
              <a:off x="1000125" y="3695700"/>
              <a:ext cx="95250" cy="95250"/>
            </a:xfrm>
            <a:prstGeom prst="ellipse">
              <a:avLst/>
            </a:prstGeom>
            <a:solidFill>
              <a:schemeClr val="accent2"/>
            </a:solidFill>
            <a:ln>
              <a:noFill/>
            </a:ln>
          </p:spPr>
        </p:sp>
        <p:sp>
          <p:nvSpPr>
            <p:cNvPr id="36" name="TextBox 36"/>
            <p:cNvSpPr txBox="1"/>
            <p:nvPr/>
          </p:nvSpPr>
          <p:spPr>
            <a:xfrm>
              <a:off x="1194626" y="3683079"/>
              <a:ext cx="329505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Sentiment: Financial Phrase Bank · FiQA-SA</a:t>
              </a:r>
            </a:p>
          </p:txBody>
        </p:sp>
        <p:sp>
          <p:nvSpPr>
            <p:cNvPr id="37" name="Rectangle 37"/>
            <p:cNvSpPr/>
            <p:nvPr/>
          </p:nvSpPr>
          <p:spPr>
            <a:xfrm>
              <a:off x="6172200" y="3600450"/>
              <a:ext cx="5143500" cy="285750"/>
            </a:xfrm>
            <a:prstGeom prst="roundRect">
              <a:avLst>
                <a:gd name="adj" fmla="val 26667"/>
              </a:avLst>
            </a:prstGeom>
            <a:solidFill>
              <a:schemeClr val="accent6"/>
            </a:solidFill>
            <a:ln w="14288">
              <a:solidFill>
                <a:srgbClr val="26455F"/>
              </a:solidFill>
            </a:ln>
          </p:spPr>
        </p:sp>
        <p:sp>
          <p:nvSpPr>
            <p:cNvPr id="38" name="Ellipse 38"/>
            <p:cNvSpPr/>
            <p:nvPr/>
          </p:nvSpPr>
          <p:spPr>
            <a:xfrm>
              <a:off x="6296025" y="3695700"/>
              <a:ext cx="95250" cy="95250"/>
            </a:xfrm>
            <a:prstGeom prst="ellipse">
              <a:avLst/>
            </a:prstGeom>
            <a:solidFill>
              <a:srgbClr val="F2C14E"/>
            </a:solidFill>
            <a:ln>
              <a:noFill/>
            </a:ln>
          </p:spPr>
        </p:sp>
        <p:sp>
          <p:nvSpPr>
            <p:cNvPr id="39" name="TextBox 39"/>
            <p:cNvSpPr txBox="1"/>
            <p:nvPr/>
          </p:nvSpPr>
          <p:spPr>
            <a:xfrm>
              <a:off x="6490526" y="3683079"/>
              <a:ext cx="243138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Headline classification: Headline</a:t>
              </a:r>
            </a:p>
          </p:txBody>
        </p:sp>
        <p:sp>
          <p:nvSpPr>
            <p:cNvPr id="40" name="Rectangle 40"/>
            <p:cNvSpPr/>
            <p:nvPr/>
          </p:nvSpPr>
          <p:spPr>
            <a:xfrm>
              <a:off x="876300" y="3962400"/>
              <a:ext cx="5143500" cy="285750"/>
            </a:xfrm>
            <a:prstGeom prst="roundRect">
              <a:avLst>
                <a:gd name="adj" fmla="val 26667"/>
              </a:avLst>
            </a:prstGeom>
            <a:solidFill>
              <a:schemeClr val="accent6"/>
            </a:solidFill>
            <a:ln w="14288">
              <a:solidFill>
                <a:srgbClr val="26455F"/>
              </a:solidFill>
            </a:ln>
          </p:spPr>
        </p:sp>
        <p:sp>
          <p:nvSpPr>
            <p:cNvPr id="41" name="Ellipse 41"/>
            <p:cNvSpPr/>
            <p:nvPr/>
          </p:nvSpPr>
          <p:spPr>
            <a:xfrm>
              <a:off x="1000125" y="4057650"/>
              <a:ext cx="95250" cy="95250"/>
            </a:xfrm>
            <a:prstGeom prst="ellipse">
              <a:avLst/>
            </a:prstGeom>
            <a:solidFill>
              <a:srgbClr val="34D3C0"/>
            </a:solidFill>
            <a:ln>
              <a:noFill/>
            </a:ln>
          </p:spPr>
        </p:sp>
        <p:sp>
          <p:nvSpPr>
            <p:cNvPr id="42" name="TextBox 42"/>
            <p:cNvSpPr txBox="1"/>
            <p:nvPr/>
          </p:nvSpPr>
          <p:spPr>
            <a:xfrm>
              <a:off x="1194626" y="4045029"/>
              <a:ext cx="328770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NER: financial NER · QA: FinQA · ConvFinQA</a:t>
              </a:r>
            </a:p>
          </p:txBody>
        </p:sp>
        <p:sp>
          <p:nvSpPr>
            <p:cNvPr id="43" name="Rectangle 43"/>
            <p:cNvSpPr/>
            <p:nvPr/>
          </p:nvSpPr>
          <p:spPr>
            <a:xfrm>
              <a:off x="6172200" y="3962400"/>
              <a:ext cx="5143500" cy="285750"/>
            </a:xfrm>
            <a:prstGeom prst="roundRect">
              <a:avLst>
                <a:gd name="adj" fmla="val 26667"/>
              </a:avLst>
            </a:prstGeom>
            <a:solidFill>
              <a:schemeClr val="accent6"/>
            </a:solidFill>
            <a:ln w="14288">
              <a:solidFill>
                <a:srgbClr val="26455F"/>
              </a:solidFill>
            </a:ln>
          </p:spPr>
        </p:sp>
        <p:sp>
          <p:nvSpPr>
            <p:cNvPr id="44" name="Ellipse 44"/>
            <p:cNvSpPr/>
            <p:nvPr/>
          </p:nvSpPr>
          <p:spPr>
            <a:xfrm>
              <a:off x="6296025" y="4057650"/>
              <a:ext cx="95250" cy="95250"/>
            </a:xfrm>
            <a:prstGeom prst="ellipse">
              <a:avLst/>
            </a:prstGeom>
            <a:solidFill>
              <a:srgbClr val="48C78E"/>
            </a:solidFill>
            <a:ln>
              <a:noFill/>
            </a:ln>
          </p:spPr>
        </p:sp>
        <p:sp>
          <p:nvSpPr>
            <p:cNvPr id="45" name="TextBox 45"/>
            <p:cNvSpPr txBox="1"/>
            <p:nvPr/>
          </p:nvSpPr>
          <p:spPr>
            <a:xfrm>
              <a:off x="6490526" y="4045029"/>
              <a:ext cx="3424516"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Stock movement: BigData22 · ACL18 · CIKM18</a:t>
              </a:r>
            </a:p>
          </p:txBody>
        </p:sp>
      </p:grpSp>
      <p:grpSp>
        <p:nvGrpSpPr>
          <p:cNvPr id="50" name="Group 50"/>
          <p:cNvGrpSpPr/>
          <p:nvPr/>
        </p:nvGrpSpPr>
        <p:grpSpPr>
          <a:xfrm>
            <a:off x="609600" y="4705350"/>
            <a:ext cx="10972800" cy="552450"/>
            <a:chOff x="609600" y="4705350"/>
            <a:chExt cx="10972800" cy="552450"/>
          </a:xfrm>
        </p:grpSpPr>
        <p:sp>
          <p:nvSpPr>
            <p:cNvPr id="47" name="Rectangle 47"/>
            <p:cNvSpPr/>
            <p:nvPr/>
          </p:nvSpPr>
          <p:spPr>
            <a:xfrm>
              <a:off x="609600" y="4705350"/>
              <a:ext cx="10972800" cy="552450"/>
            </a:xfrm>
            <a:prstGeom prst="roundRect">
              <a:avLst>
                <a:gd name="adj" fmla="val 24138"/>
              </a:avLst>
            </a:prstGeom>
            <a:solidFill>
              <a:srgbClr val="2A2417"/>
            </a:solidFill>
            <a:ln w="14288">
              <a:solidFill>
                <a:srgbClr val="F2C14E"/>
              </a:solidFill>
            </a:ln>
          </p:spPr>
        </p:sp>
        <p:sp>
          <p:nvSpPr>
            <p:cNvPr id="48" name="Rectangle 48"/>
            <p:cNvSpPr/>
            <p:nvPr/>
          </p:nvSpPr>
          <p:spPr>
            <a:xfrm>
              <a:off x="609600" y="4705350"/>
              <a:ext cx="57150" cy="552450"/>
            </a:xfrm>
            <a:prstGeom prst="roundRect">
              <a:avLst>
                <a:gd name="adj" fmla="val 50000"/>
              </a:avLst>
            </a:prstGeom>
            <a:solidFill>
              <a:srgbClr val="F2C14E"/>
            </a:solidFill>
            <a:ln>
              <a:noFill/>
            </a:ln>
          </p:spPr>
        </p:sp>
        <p:sp>
          <p:nvSpPr>
            <p:cNvPr id="49" name="TextBox 49"/>
            <p:cNvSpPr txBox="1"/>
            <p:nvPr/>
          </p:nvSpPr>
          <p:spPr>
            <a:xfrm>
              <a:off x="870776" y="4930854"/>
              <a:ext cx="9740279"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Each task uses its standard metric: weighted F1 · entity-level F1 · exact-match accuracy · Matthews correlation (prediction).</a:t>
              </a:r>
            </a:p>
          </p:txBody>
        </p:sp>
      </p:grpSp>
      <p:sp>
        <p:nvSpPr>
          <p:cNvPr id="51" name="cue_s06_c1_fit_financial_instruction_tuning_dat" title="cue_s06_c1_fit_financial_instruction_tuning_dat" descr="cue_s06_c1_fit_financial_instruction_tuning_dat FIT, the financial instruction tuning dataset, contains one hundred thirty-six thousand instruction samples across five tasks and nine datasets."/>
          <p:cNvSpPr/>
          <p:nvPr/>
        </p:nvSpPr>
        <p:spPr>
          <a:xfrm>
            <a:off x="609600"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2_flare_evaluation_benchmark_covers_fo" title="cue_s06_c2_flare_evaluation_benchmark_covers_fo" descr="cue_s06_c2_flare_evaluation_benchmark_covers_fo The FLARE evaluation benchmark covers four financial NLP tasks with six datasets and one financial prediction task with three datasets."/>
          <p:cNvSpPr/>
          <p:nvPr/>
        </p:nvSpPr>
        <p:spPr>
          <a:xfrm>
            <a:off x="6248399"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6_c3_sentiment_analysis_financial_phrase" title="cue_s06_c3_sentiment_analysis_financial_phrase" descr="cue_s06_c3_sentiment_analysis_financial_phrase Sentiment analysis uses the Financial Phrase Bank and FiQA-SA, news headline classification uses the Headline dataset, named entity recognition uses a financial NER dataset, question answering uses FinQA and ConvFinQA, and stock movement prediction uses BigDat"/>
          <p:cNvSpPr/>
          <p:nvPr/>
        </p:nvSpPr>
        <p:spPr>
          <a:xfrm>
            <a:off x="609600" y="3105302"/>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6_c4_task_scored_its_standard_metric" title="cue_s06_c4_task_scored_its_standard_metric" descr="cue_s06_c4_task_scored_its_standard_metric Each task is scored with its standard metric, such as weighted F1, entity-level F1, exact-match accuracy, and the Matthews correlation coefficient for prediction."/>
          <p:cNvSpPr/>
          <p:nvPr/>
        </p:nvSpPr>
        <p:spPr>
          <a:xfrm>
            <a:off x="609600" y="4705273"/>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46977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FinMA beats far larger models</a:t>
            </a:r>
          </a:p>
        </p:txBody>
      </p:sp>
      <p:grpSp>
        <p:nvGrpSpPr>
          <p:cNvPr id="8" name="Group 8"/>
          <p:cNvGrpSpPr/>
          <p:nvPr/>
        </p:nvGrpSpPr>
        <p:grpSpPr>
          <a:xfrm>
            <a:off x="609600" y="1428750"/>
            <a:ext cx="10972800" cy="476250"/>
            <a:chOff x="609600" y="1428750"/>
            <a:chExt cx="10972800" cy="476250"/>
          </a:xfrm>
        </p:grpSpPr>
        <p:sp>
          <p:nvSpPr>
            <p:cNvPr id="5" name="Rectangle 5"/>
            <p:cNvSpPr/>
            <p:nvPr/>
          </p:nvSpPr>
          <p:spPr>
            <a:xfrm>
              <a:off x="609600" y="1428750"/>
              <a:ext cx="10972800" cy="476250"/>
            </a:xfrm>
            <a:prstGeom prst="roundRect">
              <a:avLst>
                <a:gd name="adj" fmla="val 28000"/>
              </a:avLst>
            </a:prstGeom>
            <a:solidFill>
              <a:schemeClr val="accent5"/>
            </a:solidFill>
            <a:ln w="14288">
              <a:solidFill>
                <a:srgbClr val="26455F"/>
              </a:solidFill>
            </a:ln>
          </p:spPr>
        </p:sp>
        <p:sp>
          <p:nvSpPr>
            <p:cNvPr id="6" name="Rectangle 6"/>
            <p:cNvSpPr/>
            <p:nvPr/>
          </p:nvSpPr>
          <p:spPr>
            <a:xfrm>
              <a:off x="609600" y="1428750"/>
              <a:ext cx="57150" cy="476250"/>
            </a:xfrm>
            <a:prstGeom prst="roundRect">
              <a:avLst>
                <a:gd name="adj" fmla="val 50000"/>
              </a:avLst>
            </a:prstGeom>
            <a:solidFill>
              <a:srgbClr val="48C78E"/>
            </a:solidFill>
            <a:ln>
              <a:noFill/>
            </a:ln>
          </p:spPr>
        </p:sp>
        <p:sp>
          <p:nvSpPr>
            <p:cNvPr id="7" name="TextBox 7"/>
            <p:cNvSpPr txBox="1"/>
            <p:nvPr/>
          </p:nvSpPr>
          <p:spPr>
            <a:xfrm>
              <a:off x="870014" y="1599962"/>
              <a:ext cx="8226161"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On FLARE, fine-tuned FinMA significantly outperforms other LLMs on most financial NLP tasks.</a:t>
              </a:r>
            </a:p>
          </p:txBody>
        </p:sp>
      </p:grpSp>
      <p:grpSp>
        <p:nvGrpSpPr>
          <p:cNvPr id="26" name="Group 26"/>
          <p:cNvGrpSpPr/>
          <p:nvPr/>
        </p:nvGrpSpPr>
        <p:grpSpPr>
          <a:xfrm>
            <a:off x="609600" y="2038350"/>
            <a:ext cx="5334000" cy="2514600"/>
            <a:chOff x="609600" y="2038350"/>
            <a:chExt cx="5334000" cy="2514600"/>
          </a:xfrm>
        </p:grpSpPr>
        <p:sp>
          <p:nvSpPr>
            <p:cNvPr id="9" name="Rectangle 9"/>
            <p:cNvSpPr/>
            <p:nvPr/>
          </p:nvSpPr>
          <p:spPr>
            <a:xfrm>
              <a:off x="609600" y="2038350"/>
              <a:ext cx="5334000" cy="2514600"/>
            </a:xfrm>
            <a:prstGeom prst="roundRect">
              <a:avLst>
                <a:gd name="adj" fmla="val 5303"/>
              </a:avLst>
            </a:prstGeom>
            <a:solidFill>
              <a:schemeClr val="accent5"/>
            </a:solidFill>
            <a:ln w="14288">
              <a:solidFill>
                <a:srgbClr val="26455F"/>
              </a:solidFill>
            </a:ln>
          </p:spPr>
        </p:sp>
        <p:sp>
          <p:nvSpPr>
            <p:cNvPr id="10" name="Rectangle 10"/>
            <p:cNvSpPr/>
            <p:nvPr/>
          </p:nvSpPr>
          <p:spPr>
            <a:xfrm>
              <a:off x="609600" y="2038350"/>
              <a:ext cx="57150" cy="2514600"/>
            </a:xfrm>
            <a:prstGeom prst="roundRect">
              <a:avLst>
                <a:gd name="adj" fmla="val 50000"/>
              </a:avLst>
            </a:prstGeom>
            <a:solidFill>
              <a:srgbClr val="34D3C0"/>
            </a:solidFill>
            <a:ln>
              <a:noFill/>
            </a:ln>
          </p:spPr>
        </p:sp>
        <p:sp>
          <p:nvSpPr>
            <p:cNvPr id="11" name="TextBox 11"/>
            <p:cNvSpPr txBox="1"/>
            <p:nvPr/>
          </p:nvSpPr>
          <p:spPr>
            <a:xfrm>
              <a:off x="870204" y="2251710"/>
              <a:ext cx="2953268"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Financial Phrase Bank · weighted F1</a:t>
              </a:r>
            </a:p>
          </p:txBody>
        </p:sp>
        <p:sp>
          <p:nvSpPr>
            <p:cNvPr id="12" name="Rectangle 12"/>
            <p:cNvSpPr/>
            <p:nvPr/>
          </p:nvSpPr>
          <p:spPr>
            <a:xfrm>
              <a:off x="3048000" y="2647950"/>
              <a:ext cx="2190750" cy="285750"/>
            </a:xfrm>
            <a:prstGeom prst="roundRect">
              <a:avLst>
                <a:gd name="adj" fmla="val 20000"/>
              </a:avLst>
            </a:prstGeom>
            <a:solidFill>
              <a:srgbClr val="0E2334"/>
            </a:solidFill>
            <a:ln w="9525">
              <a:solidFill>
                <a:srgbClr val="26455F"/>
              </a:solidFill>
            </a:ln>
          </p:spPr>
        </p:sp>
        <p:sp>
          <p:nvSpPr>
            <p:cNvPr id="13" name="Rectangle 13"/>
            <p:cNvSpPr/>
            <p:nvPr/>
          </p:nvSpPr>
          <p:spPr>
            <a:xfrm>
              <a:off x="3048000" y="2647950"/>
              <a:ext cx="1238250" cy="285750"/>
            </a:xfrm>
            <a:prstGeom prst="roundRect">
              <a:avLst>
                <a:gd name="adj" fmla="val 20000"/>
              </a:avLst>
            </a:prstGeom>
            <a:solidFill>
              <a:srgbClr val="F2685C"/>
            </a:solidFill>
            <a:ln>
              <a:noFill/>
            </a:ln>
          </p:spPr>
        </p:sp>
        <p:sp>
          <p:nvSpPr>
            <p:cNvPr id="14" name="TextBox 14"/>
            <p:cNvSpPr txBox="1"/>
            <p:nvPr/>
          </p:nvSpPr>
          <p:spPr>
            <a:xfrm>
              <a:off x="1937882" y="2740343"/>
              <a:ext cx="100115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BloombergGPT</a:t>
              </a:r>
            </a:p>
          </p:txBody>
        </p:sp>
        <p:sp>
          <p:nvSpPr>
            <p:cNvPr id="15" name="TextBox 15"/>
            <p:cNvSpPr txBox="1"/>
            <p:nvPr/>
          </p:nvSpPr>
          <p:spPr>
            <a:xfrm>
              <a:off x="4376166" y="2740343"/>
              <a:ext cx="337189"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0.51</a:t>
              </a:r>
            </a:p>
          </p:txBody>
        </p:sp>
        <p:sp>
          <p:nvSpPr>
            <p:cNvPr id="16" name="Rectangle 16"/>
            <p:cNvSpPr/>
            <p:nvPr/>
          </p:nvSpPr>
          <p:spPr>
            <a:xfrm>
              <a:off x="3048000" y="3105150"/>
              <a:ext cx="2190750" cy="285750"/>
            </a:xfrm>
            <a:prstGeom prst="roundRect">
              <a:avLst>
                <a:gd name="adj" fmla="val 20000"/>
              </a:avLst>
            </a:prstGeom>
            <a:solidFill>
              <a:srgbClr val="0E2334"/>
            </a:solidFill>
            <a:ln w="9525">
              <a:solidFill>
                <a:srgbClr val="26455F"/>
              </a:solidFill>
            </a:ln>
          </p:spPr>
        </p:sp>
        <p:sp>
          <p:nvSpPr>
            <p:cNvPr id="17" name="Rectangle 17"/>
            <p:cNvSpPr/>
            <p:nvPr/>
          </p:nvSpPr>
          <p:spPr>
            <a:xfrm>
              <a:off x="3048000" y="3105150"/>
              <a:ext cx="1895475" cy="285750"/>
            </a:xfrm>
            <a:prstGeom prst="roundRect">
              <a:avLst>
                <a:gd name="adj" fmla="val 20000"/>
              </a:avLst>
            </a:prstGeom>
            <a:solidFill>
              <a:srgbClr val="F2C14E"/>
            </a:solidFill>
            <a:ln>
              <a:noFill/>
            </a:ln>
          </p:spPr>
        </p:sp>
        <p:sp>
          <p:nvSpPr>
            <p:cNvPr id="18" name="TextBox 18"/>
            <p:cNvSpPr txBox="1"/>
            <p:nvPr/>
          </p:nvSpPr>
          <p:spPr>
            <a:xfrm>
              <a:off x="2497112" y="3197543"/>
              <a:ext cx="44192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GPT-4</a:t>
              </a:r>
            </a:p>
          </p:txBody>
        </p:sp>
        <p:sp>
          <p:nvSpPr>
            <p:cNvPr id="19" name="TextBox 19"/>
            <p:cNvSpPr txBox="1"/>
            <p:nvPr/>
          </p:nvSpPr>
          <p:spPr>
            <a:xfrm>
              <a:off x="5033391" y="3197543"/>
              <a:ext cx="337189"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0.78</a:t>
              </a:r>
            </a:p>
          </p:txBody>
        </p:sp>
        <p:sp>
          <p:nvSpPr>
            <p:cNvPr id="20" name="Rectangle 20"/>
            <p:cNvSpPr/>
            <p:nvPr/>
          </p:nvSpPr>
          <p:spPr>
            <a:xfrm>
              <a:off x="3048000" y="3562350"/>
              <a:ext cx="2190750" cy="285750"/>
            </a:xfrm>
            <a:prstGeom prst="roundRect">
              <a:avLst>
                <a:gd name="adj" fmla="val 20000"/>
              </a:avLst>
            </a:prstGeom>
            <a:solidFill>
              <a:srgbClr val="0E2334"/>
            </a:solidFill>
            <a:ln w="9525">
              <a:solidFill>
                <a:srgbClr val="26455F"/>
              </a:solidFill>
            </a:ln>
          </p:spPr>
        </p:sp>
        <p:sp>
          <p:nvSpPr>
            <p:cNvPr id="21" name="Rectangle 21"/>
            <p:cNvSpPr/>
            <p:nvPr/>
          </p:nvSpPr>
          <p:spPr>
            <a:xfrm>
              <a:off x="3048000" y="3562350"/>
              <a:ext cx="2133600" cy="285750"/>
            </a:xfrm>
            <a:prstGeom prst="roundRect">
              <a:avLst>
                <a:gd name="adj" fmla="val 20000"/>
              </a:avLst>
            </a:prstGeom>
            <a:solidFill>
              <a:srgbClr val="48C78E"/>
            </a:solidFill>
            <a:ln>
              <a:noFill/>
            </a:ln>
          </p:spPr>
        </p:sp>
        <p:sp>
          <p:nvSpPr>
            <p:cNvPr id="22" name="TextBox 22"/>
            <p:cNvSpPr txBox="1"/>
            <p:nvPr/>
          </p:nvSpPr>
          <p:spPr>
            <a:xfrm>
              <a:off x="2173672" y="3654743"/>
              <a:ext cx="76536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FinMA-30B</a:t>
              </a:r>
            </a:p>
          </p:txBody>
        </p:sp>
        <p:sp>
          <p:nvSpPr>
            <p:cNvPr id="23" name="TextBox 23"/>
            <p:cNvSpPr txBox="1"/>
            <p:nvPr/>
          </p:nvSpPr>
          <p:spPr>
            <a:xfrm>
              <a:off x="5271516" y="3654743"/>
              <a:ext cx="33718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0.88</a:t>
              </a:r>
            </a:p>
          </p:txBody>
        </p:sp>
        <p:sp>
          <p:nvSpPr>
            <p:cNvPr id="24" name="Rectangle 24"/>
            <p:cNvSpPr/>
            <p:nvPr/>
          </p:nvSpPr>
          <p:spPr>
            <a:xfrm>
              <a:off x="876300" y="3981450"/>
              <a:ext cx="4800600" cy="419100"/>
            </a:xfrm>
            <a:prstGeom prst="roundRect">
              <a:avLst>
                <a:gd name="adj" fmla="val 22727"/>
              </a:avLst>
            </a:prstGeom>
            <a:solidFill>
              <a:srgbClr val="0F2E2B"/>
            </a:solidFill>
            <a:ln w="14288">
              <a:solidFill>
                <a:srgbClr val="34D3C0"/>
              </a:solidFill>
            </a:ln>
          </p:spPr>
        </p:sp>
        <p:sp>
          <p:nvSpPr>
            <p:cNvPr id="25" name="TextBox 25"/>
            <p:cNvSpPr txBox="1"/>
            <p:nvPr/>
          </p:nvSpPr>
          <p:spPr>
            <a:xfrm>
              <a:off x="1061466" y="4134802"/>
              <a:ext cx="3894215"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FinMA-30B: +10% F1 vs GPT-4, +37% vs BloombergGPT</a:t>
              </a:r>
            </a:p>
          </p:txBody>
        </p:sp>
      </p:grpSp>
      <p:grpSp>
        <p:nvGrpSpPr>
          <p:cNvPr id="33" name="Group 33"/>
          <p:cNvGrpSpPr/>
          <p:nvPr/>
        </p:nvGrpSpPr>
        <p:grpSpPr>
          <a:xfrm>
            <a:off x="6248400" y="2038350"/>
            <a:ext cx="5334000" cy="1219200"/>
            <a:chOff x="6248400" y="2038350"/>
            <a:chExt cx="5334000" cy="1219200"/>
          </a:xfrm>
        </p:grpSpPr>
        <p:sp>
          <p:nvSpPr>
            <p:cNvPr id="27" name="Rectangle 27"/>
            <p:cNvSpPr/>
            <p:nvPr/>
          </p:nvSpPr>
          <p:spPr>
            <a:xfrm>
              <a:off x="6248400" y="2038350"/>
              <a:ext cx="5334000" cy="1219200"/>
            </a:xfrm>
            <a:prstGeom prst="roundRect">
              <a:avLst>
                <a:gd name="adj" fmla="val 10938"/>
              </a:avLst>
            </a:prstGeom>
            <a:solidFill>
              <a:schemeClr val="accent5"/>
            </a:solidFill>
            <a:ln w="14288">
              <a:solidFill>
                <a:srgbClr val="26455F"/>
              </a:solidFill>
            </a:ln>
          </p:spPr>
        </p:sp>
        <p:sp>
          <p:nvSpPr>
            <p:cNvPr id="28" name="Rectangle 28"/>
            <p:cNvSpPr/>
            <p:nvPr/>
          </p:nvSpPr>
          <p:spPr>
            <a:xfrm>
              <a:off x="6248400" y="2038350"/>
              <a:ext cx="57150" cy="1219200"/>
            </a:xfrm>
            <a:prstGeom prst="roundRect">
              <a:avLst>
                <a:gd name="adj" fmla="val 50000"/>
              </a:avLst>
            </a:prstGeom>
            <a:solidFill>
              <a:srgbClr val="F2C14E"/>
            </a:solidFill>
            <a:ln>
              <a:noFill/>
            </a:ln>
          </p:spPr>
        </p:sp>
        <p:sp>
          <p:nvSpPr>
            <p:cNvPr id="29" name="TextBox 29"/>
            <p:cNvSpPr txBox="1"/>
            <p:nvPr/>
          </p:nvSpPr>
          <p:spPr>
            <a:xfrm>
              <a:off x="6509004" y="2270760"/>
              <a:ext cx="2369527"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Limitation · quantitative QA</a:t>
              </a:r>
            </a:p>
          </p:txBody>
        </p:sp>
        <p:sp>
          <p:nvSpPr>
            <p:cNvPr id="30" name="TextBox 30"/>
            <p:cNvSpPr txBox="1"/>
            <p:nvPr/>
          </p:nvSpPr>
          <p:spPr>
            <a:xfrm>
              <a:off x="6509766" y="2572702"/>
              <a:ext cx="40179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FinMA underperforms on question answering that demands</a:t>
              </a:r>
            </a:p>
          </p:txBody>
        </p:sp>
        <p:sp>
          <p:nvSpPr>
            <p:cNvPr id="31" name="TextBox 31"/>
            <p:cNvSpPr txBox="1"/>
            <p:nvPr/>
          </p:nvSpPr>
          <p:spPr>
            <a:xfrm>
              <a:off x="6509766" y="2782252"/>
              <a:ext cx="410788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quantitative reasoning, inherited from LLaMA's weak math</a:t>
              </a:r>
            </a:p>
          </p:txBody>
        </p:sp>
        <p:sp>
          <p:nvSpPr>
            <p:cNvPr id="32" name="TextBox 32"/>
            <p:cNvSpPr txBox="1"/>
            <p:nvPr/>
          </p:nvSpPr>
          <p:spPr>
            <a:xfrm>
              <a:off x="6509766" y="2991802"/>
              <a:ext cx="52659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ability.</a:t>
              </a:r>
            </a:p>
          </p:txBody>
        </p:sp>
      </p:grpSp>
      <p:grpSp>
        <p:nvGrpSpPr>
          <p:cNvPr id="39" name="Group 39"/>
          <p:cNvGrpSpPr/>
          <p:nvPr/>
        </p:nvGrpSpPr>
        <p:grpSpPr>
          <a:xfrm>
            <a:off x="6248400" y="3409950"/>
            <a:ext cx="5334000" cy="1143000"/>
            <a:chOff x="6248400" y="3409950"/>
            <a:chExt cx="5334000" cy="1143000"/>
          </a:xfrm>
        </p:grpSpPr>
        <p:sp>
          <p:nvSpPr>
            <p:cNvPr id="34" name="Rectangle 34"/>
            <p:cNvSpPr/>
            <p:nvPr/>
          </p:nvSpPr>
          <p:spPr>
            <a:xfrm>
              <a:off x="6248400" y="3409950"/>
              <a:ext cx="5334000" cy="1143000"/>
            </a:xfrm>
            <a:prstGeom prst="roundRect">
              <a:avLst>
                <a:gd name="adj" fmla="val 11667"/>
              </a:avLst>
            </a:prstGeom>
            <a:solidFill>
              <a:srgbClr val="2A1720"/>
            </a:solidFill>
            <a:ln w="14288">
              <a:solidFill>
                <a:srgbClr val="F2685C"/>
              </a:solidFill>
            </a:ln>
          </p:spPr>
        </p:sp>
        <p:sp>
          <p:nvSpPr>
            <p:cNvPr id="35" name="Rectangle 35"/>
            <p:cNvSpPr/>
            <p:nvPr/>
          </p:nvSpPr>
          <p:spPr>
            <a:xfrm>
              <a:off x="6248400" y="3409950"/>
              <a:ext cx="57150" cy="1143000"/>
            </a:xfrm>
            <a:prstGeom prst="roundRect">
              <a:avLst>
                <a:gd name="adj" fmla="val 50000"/>
              </a:avLst>
            </a:prstGeom>
            <a:solidFill>
              <a:srgbClr val="F2685C"/>
            </a:solidFill>
            <a:ln>
              <a:noFill/>
            </a:ln>
          </p:spPr>
        </p:sp>
        <p:sp>
          <p:nvSpPr>
            <p:cNvPr id="36" name="TextBox 36"/>
            <p:cNvSpPr txBox="1"/>
            <p:nvPr/>
          </p:nvSpPr>
          <p:spPr>
            <a:xfrm>
              <a:off x="6509004" y="3642360"/>
              <a:ext cx="2791105"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Open challenge · stock prediction</a:t>
              </a:r>
            </a:p>
          </p:txBody>
        </p:sp>
        <p:sp>
          <p:nvSpPr>
            <p:cNvPr id="37" name="TextBox 37"/>
            <p:cNvSpPr txBox="1"/>
            <p:nvPr/>
          </p:nvSpPr>
          <p:spPr>
            <a:xfrm>
              <a:off x="6509766" y="3944302"/>
              <a:ext cx="402987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Across all models, stock movement prediction stays hard,</a:t>
              </a:r>
            </a:p>
          </p:txBody>
        </p:sp>
        <p:sp>
          <p:nvSpPr>
            <p:cNvPr id="38" name="TextBox 38"/>
            <p:cNvSpPr txBox="1"/>
            <p:nvPr/>
          </p:nvSpPr>
          <p:spPr>
            <a:xfrm>
              <a:off x="6509766" y="4153852"/>
              <a:ext cx="250551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leaving clear room for future work.</a:t>
              </a:r>
            </a:p>
          </p:txBody>
        </p:sp>
      </p:grpSp>
      <p:sp>
        <p:nvSpPr>
          <p:cNvPr id="40" name="TextBox 40"/>
          <p:cNvSpPr txBox="1"/>
          <p:nvPr/>
        </p:nvSpPr>
        <p:spPr>
          <a:xfrm>
            <a:off x="604076" y="4702254"/>
            <a:ext cx="6248278"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Tailoring an open LLM to finance via instruction tuning pays off on language tasks.</a:t>
            </a:r>
          </a:p>
        </p:txBody>
      </p:sp>
      <p:sp>
        <p:nvSpPr>
          <p:cNvPr id="41" name="TextBox 41"/>
          <p:cNvSpPr txBox="1"/>
          <p:nvPr/>
        </p:nvSpPr>
        <p:spPr>
          <a:xfrm>
            <a:off x="604647" y="5038249"/>
            <a:ext cx="6246468"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Higher is better on the Financial Phrase Bank sentiment benchmark; values are weighted F1.</a:t>
            </a:r>
          </a:p>
        </p:txBody>
      </p:sp>
      <p:sp>
        <p:nvSpPr>
          <p:cNvPr id="42" name="cue_s07_c1_flare_benchmark_fine_tuned_finma_mod" title="cue_s07_c1_flare_benchmark_fine_tuned_finma_mod" descr="cue_s07_c1_flare_benchmark_fine_tuned_finma_mod On the FLARE benchmark, the fine-tuned FinMA models significantly outperform other large language models on most financial NLP tasks, including sentiment analysis, headline classification, and named entity recognition."/>
          <p:cNvSpPr/>
          <p:nvPr/>
        </p:nvSpPr>
        <p:spPr>
          <a:xfrm>
            <a:off x="609600" y="1428521"/>
            <a:ext cx="10972800" cy="4759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7_c2_example_financial_phrase_bank_sentim" title="cue_s07_c2_example_financial_phrase_bank_sentim" descr="cue_s07_c2_example_financial_phrase_bank_sentim For example, on the Financial Phrase Bank sentiment dataset, FinMA-30B outperforms GPT-4 by ten percent F1 and BloombergGPT by thirty-seven percent F1. This demonstrates the value of tailoring LLMs to the financial domain through instruction tuning."/>
          <p:cNvSpPr/>
          <p:nvPr/>
        </p:nvSpPr>
        <p:spPr>
          <a:xfrm>
            <a:off x="609600" y="2038197"/>
            <a:ext cx="533400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7_c3_however_finma_underperforms_question" title="cue_s07_c3_however_finma_underperforms_question" descr="cue_s07_c3_however_finma_underperforms_question However, FinMA underperforms on question answering tasks that demand quantitative reasoning, a limitation inherited from LLaMA's weak mathematical ability."/>
          <p:cNvSpPr/>
          <p:nvPr/>
        </p:nvSpPr>
        <p:spPr>
          <a:xfrm>
            <a:off x="6248399" y="2038197"/>
            <a:ext cx="5334000"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7_c4_across_all_models_stock_movement" title="cue_s07_c4_across_all_models_stock_movement" descr="cue_s07_c4_across_all_models_stock_movement And across all models, stock movement prediction remains challenging, leaving clear room for future improvement."/>
          <p:cNvSpPr/>
          <p:nvPr/>
        </p:nvSpPr>
        <p:spPr>
          <a:xfrm>
            <a:off x="6248399" y="3409797"/>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461300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Data diversity over raw scale</a:t>
            </a:r>
          </a:p>
        </p:txBody>
      </p:sp>
      <p:grpSp>
        <p:nvGrpSpPr>
          <p:cNvPr id="10" name="Group 10"/>
          <p:cNvGrpSpPr/>
          <p:nvPr/>
        </p:nvGrpSpPr>
        <p:grpSpPr>
          <a:xfrm>
            <a:off x="609600" y="1504950"/>
            <a:ext cx="5334000" cy="952547"/>
            <a:chOff x="609600" y="1504950"/>
            <a:chExt cx="5334000" cy="952547"/>
          </a:xfrm>
        </p:grpSpPr>
        <p:sp>
          <p:nvSpPr>
            <p:cNvPr id="5" name="Rectangle 5"/>
            <p:cNvSpPr/>
            <p:nvPr/>
          </p:nvSpPr>
          <p:spPr>
            <a:xfrm>
              <a:off x="609600" y="1504950"/>
              <a:ext cx="5334000" cy="914400"/>
            </a:xfrm>
            <a:prstGeom prst="roundRect">
              <a:avLst>
                <a:gd name="adj" fmla="val 14583"/>
              </a:avLst>
            </a:prstGeom>
            <a:solidFill>
              <a:schemeClr val="accent5"/>
            </a:solidFill>
            <a:ln w="14288">
              <a:solidFill>
                <a:srgbClr val="26455F"/>
              </a:solidFill>
            </a:ln>
          </p:spPr>
        </p:sp>
        <p:sp>
          <p:nvSpPr>
            <p:cNvPr id="6" name="Rectangle 6"/>
            <p:cNvSpPr/>
            <p:nvPr/>
          </p:nvSpPr>
          <p:spPr>
            <a:xfrm>
              <a:off x="609600" y="1504950"/>
              <a:ext cx="57150" cy="914400"/>
            </a:xfrm>
            <a:prstGeom prst="roundRect">
              <a:avLst>
                <a:gd name="adj" fmla="val 50000"/>
              </a:avLst>
            </a:prstGeom>
            <a:solidFill>
              <a:schemeClr val="accent2"/>
            </a:solidFill>
            <a:ln>
              <a:noFill/>
            </a:ln>
          </p:spPr>
        </p:sp>
        <p:sp>
          <p:nvSpPr>
            <p:cNvPr id="7" name="TextBox 7"/>
            <p:cNvSpPr txBox="1"/>
            <p:nvPr/>
          </p:nvSpPr>
          <p:spPr>
            <a:xfrm>
              <a:off x="870014" y="1733312"/>
              <a:ext cx="2182792"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Comparing model variants</a:t>
              </a:r>
            </a:p>
          </p:txBody>
        </p:sp>
        <p:sp>
          <p:nvSpPr>
            <p:cNvPr id="8" name="TextBox 8"/>
            <p:cNvSpPr txBox="1"/>
            <p:nvPr/>
          </p:nvSpPr>
          <p:spPr>
            <a:xfrm>
              <a:off x="870776" y="2035254"/>
              <a:ext cx="377243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How much does parameter count actually help across</a:t>
              </a:r>
            </a:p>
          </p:txBody>
        </p:sp>
        <p:sp>
          <p:nvSpPr>
            <p:cNvPr id="9" name="TextBox 9"/>
            <p:cNvSpPr txBox="1"/>
            <p:nvPr/>
          </p:nvSpPr>
          <p:spPr>
            <a:xfrm>
              <a:off x="870776" y="2244804"/>
              <a:ext cx="115558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financial tasks?</a:t>
              </a:r>
            </a:p>
          </p:txBody>
        </p:sp>
      </p:grpSp>
      <p:grpSp>
        <p:nvGrpSpPr>
          <p:cNvPr id="26" name="Group 26"/>
          <p:cNvGrpSpPr/>
          <p:nvPr/>
        </p:nvGrpSpPr>
        <p:grpSpPr>
          <a:xfrm>
            <a:off x="609600" y="2571750"/>
            <a:ext cx="5334000" cy="2667000"/>
            <a:chOff x="609600" y="2571750"/>
            <a:chExt cx="5334000" cy="2667000"/>
          </a:xfrm>
        </p:grpSpPr>
        <p:sp>
          <p:nvSpPr>
            <p:cNvPr id="11" name="Rectangle 11"/>
            <p:cNvSpPr/>
            <p:nvPr/>
          </p:nvSpPr>
          <p:spPr>
            <a:xfrm>
              <a:off x="609600" y="2571750"/>
              <a:ext cx="5334000" cy="2667000"/>
            </a:xfrm>
            <a:prstGeom prst="roundRect">
              <a:avLst>
                <a:gd name="adj" fmla="val 5000"/>
              </a:avLst>
            </a:prstGeom>
            <a:solidFill>
              <a:schemeClr val="accent5"/>
            </a:solidFill>
            <a:ln w="14288">
              <a:solidFill>
                <a:srgbClr val="26455F"/>
              </a:solidFill>
            </a:ln>
          </p:spPr>
        </p:sp>
        <p:sp>
          <p:nvSpPr>
            <p:cNvPr id="12" name="Rectangle 12"/>
            <p:cNvSpPr/>
            <p:nvPr/>
          </p:nvSpPr>
          <p:spPr>
            <a:xfrm>
              <a:off x="609600" y="2571750"/>
              <a:ext cx="57150" cy="2667000"/>
            </a:xfrm>
            <a:prstGeom prst="roundRect">
              <a:avLst>
                <a:gd name="adj" fmla="val 50000"/>
              </a:avLst>
            </a:prstGeom>
            <a:solidFill>
              <a:srgbClr val="34D3C0"/>
            </a:solidFill>
            <a:ln>
              <a:noFill/>
            </a:ln>
          </p:spPr>
        </p:sp>
        <p:sp>
          <p:nvSpPr>
            <p:cNvPr id="13" name="TextBox 13"/>
            <p:cNvSpPr txBox="1"/>
            <p:nvPr/>
          </p:nvSpPr>
          <p:spPr>
            <a:xfrm>
              <a:off x="870394" y="2789158"/>
              <a:ext cx="2820202"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30B vs 7B · most NLP &amp; stock tasks</a:t>
              </a:r>
            </a:p>
          </p:txBody>
        </p:sp>
        <p:sp>
          <p:nvSpPr>
            <p:cNvPr id="14" name="Rectangle 14"/>
            <p:cNvSpPr/>
            <p:nvPr/>
          </p:nvSpPr>
          <p:spPr>
            <a:xfrm>
              <a:off x="2857500" y="3200400"/>
              <a:ext cx="2286000" cy="285750"/>
            </a:xfrm>
            <a:prstGeom prst="roundRect">
              <a:avLst>
                <a:gd name="adj" fmla="val 20000"/>
              </a:avLst>
            </a:prstGeom>
            <a:solidFill>
              <a:srgbClr val="0E2334"/>
            </a:solidFill>
            <a:ln w="9525">
              <a:solidFill>
                <a:srgbClr val="26455F"/>
              </a:solidFill>
            </a:ln>
          </p:spPr>
        </p:sp>
        <p:sp>
          <p:nvSpPr>
            <p:cNvPr id="15" name="Rectangle 15"/>
            <p:cNvSpPr/>
            <p:nvPr/>
          </p:nvSpPr>
          <p:spPr>
            <a:xfrm>
              <a:off x="2857500" y="3200400"/>
              <a:ext cx="2171700" cy="285750"/>
            </a:xfrm>
            <a:prstGeom prst="roundRect">
              <a:avLst>
                <a:gd name="adj" fmla="val 20000"/>
              </a:avLst>
            </a:prstGeom>
            <a:solidFill>
              <a:schemeClr val="accent2"/>
            </a:solidFill>
            <a:ln>
              <a:noFill/>
            </a:ln>
          </p:spPr>
        </p:sp>
        <p:sp>
          <p:nvSpPr>
            <p:cNvPr id="16" name="TextBox 16"/>
            <p:cNvSpPr txBox="1"/>
            <p:nvPr/>
          </p:nvSpPr>
          <p:spPr>
            <a:xfrm>
              <a:off x="2067882" y="3292793"/>
              <a:ext cx="68065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FinMA-7B</a:t>
              </a:r>
            </a:p>
          </p:txBody>
        </p:sp>
        <p:sp>
          <p:nvSpPr>
            <p:cNvPr id="17" name="TextBox 17"/>
            <p:cNvSpPr txBox="1"/>
            <p:nvPr/>
          </p:nvSpPr>
          <p:spPr>
            <a:xfrm>
              <a:off x="5119116" y="3292793"/>
              <a:ext cx="50044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similar</a:t>
              </a:r>
            </a:p>
          </p:txBody>
        </p:sp>
        <p:sp>
          <p:nvSpPr>
            <p:cNvPr id="18" name="Rectangle 18"/>
            <p:cNvSpPr/>
            <p:nvPr/>
          </p:nvSpPr>
          <p:spPr>
            <a:xfrm>
              <a:off x="2857500" y="3657600"/>
              <a:ext cx="2286000" cy="285750"/>
            </a:xfrm>
            <a:prstGeom prst="roundRect">
              <a:avLst>
                <a:gd name="adj" fmla="val 20000"/>
              </a:avLst>
            </a:prstGeom>
            <a:solidFill>
              <a:srgbClr val="0E2334"/>
            </a:solidFill>
            <a:ln w="9525">
              <a:solidFill>
                <a:srgbClr val="26455F"/>
              </a:solidFill>
            </a:ln>
          </p:spPr>
        </p:sp>
        <p:sp>
          <p:nvSpPr>
            <p:cNvPr id="19" name="Rectangle 19"/>
            <p:cNvSpPr/>
            <p:nvPr/>
          </p:nvSpPr>
          <p:spPr>
            <a:xfrm>
              <a:off x="2857500" y="3657600"/>
              <a:ext cx="2171700" cy="285750"/>
            </a:xfrm>
            <a:prstGeom prst="roundRect">
              <a:avLst>
                <a:gd name="adj" fmla="val 20000"/>
              </a:avLst>
            </a:prstGeom>
            <a:solidFill>
              <a:srgbClr val="34D3C0"/>
            </a:solidFill>
            <a:ln>
              <a:noFill/>
            </a:ln>
          </p:spPr>
        </p:sp>
        <p:sp>
          <p:nvSpPr>
            <p:cNvPr id="20" name="TextBox 20"/>
            <p:cNvSpPr txBox="1"/>
            <p:nvPr/>
          </p:nvSpPr>
          <p:spPr>
            <a:xfrm>
              <a:off x="1983172" y="3749993"/>
              <a:ext cx="76536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FinMA-30B</a:t>
              </a:r>
            </a:p>
          </p:txBody>
        </p:sp>
        <p:sp>
          <p:nvSpPr>
            <p:cNvPr id="21" name="TextBox 21"/>
            <p:cNvSpPr txBox="1"/>
            <p:nvPr/>
          </p:nvSpPr>
          <p:spPr>
            <a:xfrm>
              <a:off x="5119116" y="3749993"/>
              <a:ext cx="500449"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similar</a:t>
              </a:r>
            </a:p>
          </p:txBody>
        </p:sp>
        <p:sp>
          <p:nvSpPr>
            <p:cNvPr id="22" name="Rectangle 22"/>
            <p:cNvSpPr/>
            <p:nvPr/>
          </p:nvSpPr>
          <p:spPr>
            <a:xfrm>
              <a:off x="876300" y="4095750"/>
              <a:ext cx="4800600" cy="952500"/>
            </a:xfrm>
            <a:prstGeom prst="roundRect">
              <a:avLst>
                <a:gd name="adj" fmla="val 10000"/>
              </a:avLst>
            </a:prstGeom>
            <a:solidFill>
              <a:schemeClr val="accent6"/>
            </a:solidFill>
            <a:ln w="14288">
              <a:solidFill>
                <a:srgbClr val="26455F"/>
              </a:solidFill>
            </a:ln>
          </p:spPr>
        </p:sp>
        <p:sp>
          <p:nvSpPr>
            <p:cNvPr id="23" name="TextBox 23"/>
            <p:cNvSpPr txBox="1"/>
            <p:nvPr/>
          </p:nvSpPr>
          <p:spPr>
            <a:xfrm>
              <a:off x="1061656" y="4272201"/>
              <a:ext cx="2192010" cy="198025"/>
            </a:xfrm>
            <a:prstGeom prst="rect">
              <a:avLst/>
            </a:prstGeom>
            <a:noFill/>
            <a:ln>
              <a:noFill/>
            </a:ln>
          </p:spPr>
          <p:txBody>
            <a:bodyPr wrap="none" lIns="0" tIns="0" rIns="0" bIns="0" anchor="t" anchorCtr="0">
              <a:spAutoFit/>
            </a:bodyPr>
            <a:lstStyle/>
            <a:p>
              <a:pPr algn="l"/>
              <a:r>
                <a:rPr lang="en-US" sz="1010" b="1" dirty="0">
                  <a:solidFill>
                    <a:srgbClr val="F2C14E"/>
                  </a:solidFill>
                  <a:latin typeface="+mn-lt"/>
                  <a:ea typeface="+mn-ea"/>
                  <a:cs typeface="+mn-cs"/>
                </a:rPr>
                <a:t>Scaling barely moves the needle</a:t>
              </a:r>
            </a:p>
          </p:txBody>
        </p:sp>
        <p:sp>
          <p:nvSpPr>
            <p:cNvPr id="24" name="TextBox 24"/>
            <p:cNvSpPr txBox="1"/>
            <p:nvPr/>
          </p:nvSpPr>
          <p:spPr>
            <a:xfrm>
              <a:off x="1061656" y="4500801"/>
              <a:ext cx="377418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Instruction-data quality and diversity matter more than</a:t>
              </a:r>
            </a:p>
          </p:txBody>
        </p:sp>
        <p:sp>
          <p:nvSpPr>
            <p:cNvPr id="25" name="TextBox 25"/>
            <p:cNvSpPr txBox="1"/>
            <p:nvPr/>
          </p:nvSpPr>
          <p:spPr>
            <a:xfrm>
              <a:off x="1061656" y="4691301"/>
              <a:ext cx="161468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sheer parameter count.</a:t>
              </a:r>
            </a:p>
          </p:txBody>
        </p:sp>
      </p:grpSp>
      <p:grpSp>
        <p:nvGrpSpPr>
          <p:cNvPr id="34" name="Group 34"/>
          <p:cNvGrpSpPr/>
          <p:nvPr/>
        </p:nvGrpSpPr>
        <p:grpSpPr>
          <a:xfrm>
            <a:off x="6248400" y="1504950"/>
            <a:ext cx="5334000" cy="1714500"/>
            <a:chOff x="6248400" y="1504950"/>
            <a:chExt cx="5334000" cy="1714500"/>
          </a:xfrm>
        </p:grpSpPr>
        <p:sp>
          <p:nvSpPr>
            <p:cNvPr id="27" name="Rectangle 27"/>
            <p:cNvSpPr/>
            <p:nvPr/>
          </p:nvSpPr>
          <p:spPr>
            <a:xfrm>
              <a:off x="6248400" y="1504950"/>
              <a:ext cx="5334000" cy="1714500"/>
            </a:xfrm>
            <a:prstGeom prst="roundRect">
              <a:avLst>
                <a:gd name="adj" fmla="val 7778"/>
              </a:avLst>
            </a:prstGeom>
            <a:solidFill>
              <a:schemeClr val="accent5"/>
            </a:solidFill>
            <a:ln w="14288">
              <a:solidFill>
                <a:srgbClr val="26455F"/>
              </a:solidFill>
            </a:ln>
          </p:spPr>
        </p:sp>
        <p:sp>
          <p:nvSpPr>
            <p:cNvPr id="28" name="Rectangle 28"/>
            <p:cNvSpPr/>
            <p:nvPr/>
          </p:nvSpPr>
          <p:spPr>
            <a:xfrm>
              <a:off x="6248400" y="1504950"/>
              <a:ext cx="57150" cy="1714500"/>
            </a:xfrm>
            <a:prstGeom prst="roundRect">
              <a:avLst>
                <a:gd name="adj" fmla="val 50000"/>
              </a:avLst>
            </a:prstGeom>
            <a:solidFill>
              <a:srgbClr val="F2C14E"/>
            </a:solidFill>
            <a:ln>
              <a:noFill/>
            </a:ln>
          </p:spPr>
        </p:sp>
        <p:sp>
          <p:nvSpPr>
            <p:cNvPr id="29" name="TextBox 29"/>
            <p:cNvSpPr txBox="1"/>
            <p:nvPr/>
          </p:nvSpPr>
          <p:spPr>
            <a:xfrm>
              <a:off x="6508814" y="1733312"/>
              <a:ext cx="1858750"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Where scale does help</a:t>
              </a:r>
            </a:p>
          </p:txBody>
        </p:sp>
        <p:sp>
          <p:nvSpPr>
            <p:cNvPr id="30" name="TextBox 30"/>
            <p:cNvSpPr txBox="1"/>
            <p:nvPr/>
          </p:nvSpPr>
          <p:spPr>
            <a:xfrm>
              <a:off x="6509576" y="2035254"/>
              <a:ext cx="392638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On complex quantitative QA like ConvFinQA, the larger</a:t>
              </a:r>
            </a:p>
          </p:txBody>
        </p:sp>
        <p:sp>
          <p:nvSpPr>
            <p:cNvPr id="31" name="TextBox 31"/>
            <p:cNvSpPr txBox="1"/>
            <p:nvPr/>
          </p:nvSpPr>
          <p:spPr>
            <a:xfrm>
              <a:off x="6509576" y="2244804"/>
              <a:ext cx="417719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model improves, mirroring LLaMA's better math at scale.</a:t>
              </a:r>
            </a:p>
          </p:txBody>
        </p:sp>
        <p:sp>
          <p:nvSpPr>
            <p:cNvPr id="32" name="Rectangle 32"/>
            <p:cNvSpPr/>
            <p:nvPr/>
          </p:nvSpPr>
          <p:spPr>
            <a:xfrm>
              <a:off x="6515100" y="2762250"/>
              <a:ext cx="4800600" cy="323850"/>
            </a:xfrm>
            <a:prstGeom prst="roundRect">
              <a:avLst>
                <a:gd name="adj" fmla="val 23529"/>
              </a:avLst>
            </a:prstGeom>
            <a:solidFill>
              <a:schemeClr val="accent6"/>
            </a:solidFill>
            <a:ln w="14288">
              <a:solidFill>
                <a:srgbClr val="26455F"/>
              </a:solidFill>
            </a:ln>
          </p:spPr>
        </p:sp>
        <p:sp>
          <p:nvSpPr>
            <p:cNvPr id="33" name="TextBox 33"/>
            <p:cNvSpPr txBox="1"/>
            <p:nvPr/>
          </p:nvSpPr>
          <p:spPr>
            <a:xfrm>
              <a:off x="7400639" y="2854404"/>
              <a:ext cx="3029523" cy="212693"/>
            </a:xfrm>
            <a:prstGeom prst="rect">
              <a:avLst/>
            </a:prstGeom>
            <a:noFill/>
            <a:ln>
              <a:noFill/>
            </a:ln>
          </p:spPr>
          <p:txBody>
            <a:bodyPr wrap="none" lIns="0" tIns="0" rIns="0" bIns="0" anchor="t" anchorCtr="0">
              <a:spAutoFit/>
            </a:bodyPr>
            <a:lstStyle/>
            <a:p>
              <a:pPr algn="ctr"/>
              <a:r>
                <a:rPr lang="en-US" sz="1090" b="1" dirty="0">
                  <a:solidFill>
                    <a:srgbClr val="F2C14E"/>
                  </a:solidFill>
                  <a:latin typeface="Consolas"/>
                  <a:ea typeface="Consolas"/>
                  <a:cs typeface="Consolas"/>
                </a:rPr>
                <a:t>ConvFinQA: 30B &gt; 7B (still trails GPT-4)</a:t>
              </a:r>
            </a:p>
          </p:txBody>
        </p:sp>
      </p:grpSp>
      <p:grpSp>
        <p:nvGrpSpPr>
          <p:cNvPr id="44" name="Group 44"/>
          <p:cNvGrpSpPr/>
          <p:nvPr/>
        </p:nvGrpSpPr>
        <p:grpSpPr>
          <a:xfrm>
            <a:off x="6248400" y="3371850"/>
            <a:ext cx="5334000" cy="1866900"/>
            <a:chOff x="6248400" y="3371850"/>
            <a:chExt cx="5334000" cy="1866900"/>
          </a:xfrm>
        </p:grpSpPr>
        <p:sp>
          <p:nvSpPr>
            <p:cNvPr id="35" name="Rectangle 35"/>
            <p:cNvSpPr/>
            <p:nvPr/>
          </p:nvSpPr>
          <p:spPr>
            <a:xfrm>
              <a:off x="6248400" y="3371850"/>
              <a:ext cx="5334000" cy="1866900"/>
            </a:xfrm>
            <a:prstGeom prst="roundRect">
              <a:avLst>
                <a:gd name="adj" fmla="val 7143"/>
              </a:avLst>
            </a:prstGeom>
            <a:solidFill>
              <a:srgbClr val="0F2E2B"/>
            </a:solidFill>
            <a:ln w="14288">
              <a:solidFill>
                <a:srgbClr val="48C78E"/>
              </a:solidFill>
            </a:ln>
          </p:spPr>
        </p:sp>
        <p:sp>
          <p:nvSpPr>
            <p:cNvPr id="36" name="Rectangle 36"/>
            <p:cNvSpPr/>
            <p:nvPr/>
          </p:nvSpPr>
          <p:spPr>
            <a:xfrm>
              <a:off x="6248400" y="3371850"/>
              <a:ext cx="57150" cy="1866900"/>
            </a:xfrm>
            <a:prstGeom prst="roundRect">
              <a:avLst>
                <a:gd name="adj" fmla="val 50000"/>
              </a:avLst>
            </a:prstGeom>
            <a:solidFill>
              <a:srgbClr val="48C78E"/>
            </a:solidFill>
            <a:ln>
              <a:noFill/>
            </a:ln>
          </p:spPr>
        </p:sp>
        <p:sp>
          <p:nvSpPr>
            <p:cNvPr id="37" name="TextBox 37"/>
            <p:cNvSpPr txBox="1"/>
            <p:nvPr/>
          </p:nvSpPr>
          <p:spPr>
            <a:xfrm>
              <a:off x="6508814" y="3600212"/>
              <a:ext cx="2200364"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Task-specific tuning wins</a:t>
              </a:r>
            </a:p>
          </p:txBody>
        </p:sp>
        <p:sp>
          <p:nvSpPr>
            <p:cNvPr id="38" name="TextBox 38"/>
            <p:cNvSpPr txBox="1"/>
            <p:nvPr/>
          </p:nvSpPr>
          <p:spPr>
            <a:xfrm>
              <a:off x="6509576" y="3921204"/>
              <a:ext cx="3833419"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FinMA-7B-full, fine-tuned on both NLP and prediction</a:t>
              </a:r>
            </a:p>
          </p:txBody>
        </p:sp>
        <p:sp>
          <p:nvSpPr>
            <p:cNvPr id="39" name="TextBox 39"/>
            <p:cNvSpPr txBox="1"/>
            <p:nvPr/>
          </p:nvSpPr>
          <p:spPr>
            <a:xfrm>
              <a:off x="6509576" y="4130754"/>
              <a:ext cx="337285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tasks, is the best of all models on ACL18 stock</a:t>
              </a:r>
            </a:p>
          </p:txBody>
        </p:sp>
        <p:sp>
          <p:nvSpPr>
            <p:cNvPr id="40" name="TextBox 40"/>
            <p:cNvSpPr txBox="1"/>
            <p:nvPr/>
          </p:nvSpPr>
          <p:spPr>
            <a:xfrm>
              <a:off x="6509576" y="4340304"/>
              <a:ext cx="82543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prediction.</a:t>
              </a:r>
            </a:p>
          </p:txBody>
        </p:sp>
        <p:sp>
          <p:nvSpPr>
            <p:cNvPr id="41" name="Rectangle 41"/>
            <p:cNvSpPr/>
            <p:nvPr/>
          </p:nvSpPr>
          <p:spPr>
            <a:xfrm>
              <a:off x="6515100" y="4705350"/>
              <a:ext cx="4800600" cy="323850"/>
            </a:xfrm>
            <a:prstGeom prst="roundRect">
              <a:avLst>
                <a:gd name="adj" fmla="val 23529"/>
              </a:avLst>
            </a:prstGeom>
            <a:solidFill>
              <a:schemeClr val="accent6"/>
            </a:solidFill>
            <a:ln w="14288">
              <a:solidFill>
                <a:srgbClr val="26455F"/>
              </a:solidFill>
            </a:ln>
          </p:spPr>
        </p:sp>
        <p:sp>
          <p:nvSpPr>
            <p:cNvPr id="42" name="Ellipse 42"/>
            <p:cNvSpPr/>
            <p:nvPr/>
          </p:nvSpPr>
          <p:spPr>
            <a:xfrm>
              <a:off x="6638925" y="4819650"/>
              <a:ext cx="95250" cy="95250"/>
            </a:xfrm>
            <a:prstGeom prst="ellipse">
              <a:avLst/>
            </a:prstGeom>
            <a:solidFill>
              <a:srgbClr val="48C78E"/>
            </a:solidFill>
            <a:ln>
              <a:noFill/>
            </a:ln>
          </p:spPr>
        </p:sp>
        <p:sp>
          <p:nvSpPr>
            <p:cNvPr id="43" name="TextBox 43"/>
            <p:cNvSpPr txBox="1"/>
            <p:nvPr/>
          </p:nvSpPr>
          <p:spPr>
            <a:xfrm>
              <a:off x="6833426" y="4807029"/>
              <a:ext cx="223524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Best on ACL18: FinMA-7B-full</a:t>
              </a:r>
            </a:p>
          </p:txBody>
        </p:sp>
      </p:grpSp>
      <p:sp>
        <p:nvSpPr>
          <p:cNvPr id="45" name="cue_s08_c1_comparing_variants_revealing" title="cue_s08_c1_comparing_variants_revealing" descr="cue_s08_c1_comparing_variants_revealing Comparing model variants is revealing."/>
          <p:cNvSpPr/>
          <p:nvPr/>
        </p:nvSpPr>
        <p:spPr>
          <a:xfrm>
            <a:off x="609600" y="1504645"/>
            <a:ext cx="5334000"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8_c2_finma_30b_shows_significantly_better" title="cue_s08_c2_finma_30b_shows_significantly_better" descr="cue_s08_c2_finma_30b_shows_significantly_better FinMA-30B shows no significantly better performance than FinMA-7B on most NLP tasks or on stock movement prediction, indicating that the quality and diversity of the instruction data matter more than sheer parameter count."/>
          <p:cNvSpPr/>
          <p:nvPr/>
        </p:nvSpPr>
        <p:spPr>
          <a:xfrm>
            <a:off x="609600" y="2571750"/>
            <a:ext cx="5334000" cy="26670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8_c3_scale_does_help_complex_quantitative" title="cue_s08_c3_scale_does_help_complex_quantitative" descr="cue_s08_c3_scale_does_help_complex_quantitative Scale does help on complex quantitative question answering like ConvFinQA, mirroring LLaMA's improved math ability at larger sizes, though it still trails GPT-4."/>
          <p:cNvSpPr/>
          <p:nvPr/>
        </p:nvSpPr>
        <p:spPr>
          <a:xfrm>
            <a:off x="6248399" y="15046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4_notably_finma_7b_full_fine_tuned_bot" title="cue_s08_c4_notably_finma_7b_full_fine_tuned_bot" descr="cue_s08_c4_notably_finma_7b_full_fine_tuned_bot Notably, FinMA-7B-full, fine-tuned on both NLP and prediction tasks, achieves the best performance among all models on the ACL18 stock prediction dataset, highlighting the promise of task-specific instruction tuning for financial prediction."/>
          <p:cNvSpPr/>
          <p:nvPr/>
        </p:nvSpPr>
        <p:spPr>
          <a:xfrm>
            <a:off x="6248399" y="3372078"/>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6747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results in one place</a:t>
            </a:r>
          </a:p>
        </p:txBody>
      </p:sp>
      <p:grpSp>
        <p:nvGrpSpPr>
          <p:cNvPr id="17" name="Group 17"/>
          <p:cNvGrpSpPr/>
          <p:nvPr/>
        </p:nvGrpSpPr>
        <p:grpSpPr>
          <a:xfrm>
            <a:off x="609600" y="1600200"/>
            <a:ext cx="5334000" cy="1752600"/>
            <a:chOff x="609600" y="1600200"/>
            <a:chExt cx="5334000" cy="1752600"/>
          </a:xfrm>
        </p:grpSpPr>
        <p:sp>
          <p:nvSpPr>
            <p:cNvPr id="5" name="Rectangle 5"/>
            <p:cNvSpPr/>
            <p:nvPr/>
          </p:nvSpPr>
          <p:spPr>
            <a:xfrm>
              <a:off x="609600" y="1600200"/>
              <a:ext cx="5334000" cy="1752600"/>
            </a:xfrm>
            <a:prstGeom prst="roundRect">
              <a:avLst>
                <a:gd name="adj" fmla="val 7609"/>
              </a:avLst>
            </a:prstGeom>
            <a:solidFill>
              <a:schemeClr val="accent5"/>
            </a:solidFill>
            <a:ln w="14288">
              <a:solidFill>
                <a:srgbClr val="26455F"/>
              </a:solidFill>
            </a:ln>
          </p:spPr>
        </p:sp>
        <p:sp>
          <p:nvSpPr>
            <p:cNvPr id="6" name="Rectangle 6"/>
            <p:cNvSpPr/>
            <p:nvPr/>
          </p:nvSpPr>
          <p:spPr>
            <a:xfrm>
              <a:off x="609600" y="1600200"/>
              <a:ext cx="57150" cy="1752600"/>
            </a:xfrm>
            <a:prstGeom prst="roundRect">
              <a:avLst>
                <a:gd name="adj" fmla="val 50000"/>
              </a:avLst>
            </a:prstGeom>
            <a:solidFill>
              <a:schemeClr val="accent2"/>
            </a:solidFill>
            <a:ln>
              <a:noFill/>
            </a:ln>
          </p:spPr>
        </p:sp>
        <p:sp>
          <p:nvSpPr>
            <p:cNvPr id="7" name="TextBox 7"/>
            <p:cNvSpPr txBox="1"/>
            <p:nvPr/>
          </p:nvSpPr>
          <p:spPr>
            <a:xfrm>
              <a:off x="870014" y="1847612"/>
              <a:ext cx="2177057"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FIT · instruction dataset</a:t>
              </a:r>
            </a:p>
          </p:txBody>
        </p:sp>
        <p:sp>
          <p:nvSpPr>
            <p:cNvPr id="8" name="Rectangle 8"/>
            <p:cNvSpPr/>
            <p:nvPr/>
          </p:nvSpPr>
          <p:spPr>
            <a:xfrm>
              <a:off x="876300" y="2171700"/>
              <a:ext cx="1524000" cy="838200"/>
            </a:xfrm>
            <a:prstGeom prst="roundRect">
              <a:avLst>
                <a:gd name="adj" fmla="val 13636"/>
              </a:avLst>
            </a:prstGeom>
            <a:solidFill>
              <a:schemeClr val="accent6"/>
            </a:solidFill>
            <a:ln w="14288">
              <a:solidFill>
                <a:srgbClr val="26455F"/>
              </a:solidFill>
            </a:ln>
          </p:spPr>
        </p:sp>
        <p:sp>
          <p:nvSpPr>
            <p:cNvPr id="9" name="TextBox 9"/>
            <p:cNvSpPr txBox="1"/>
            <p:nvPr/>
          </p:nvSpPr>
          <p:spPr>
            <a:xfrm>
              <a:off x="1257224" y="2462212"/>
              <a:ext cx="76215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136K</a:t>
              </a:r>
            </a:p>
          </p:txBody>
        </p:sp>
        <p:sp>
          <p:nvSpPr>
            <p:cNvPr id="10" name="TextBox 10"/>
            <p:cNvSpPr txBox="1"/>
            <p:nvPr/>
          </p:nvSpPr>
          <p:spPr>
            <a:xfrm>
              <a:off x="1381085" y="2851547"/>
              <a:ext cx="51443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samples</a:t>
              </a:r>
            </a:p>
          </p:txBody>
        </p:sp>
        <p:sp>
          <p:nvSpPr>
            <p:cNvPr id="11" name="Rectangle 11"/>
            <p:cNvSpPr/>
            <p:nvPr/>
          </p:nvSpPr>
          <p:spPr>
            <a:xfrm>
              <a:off x="2552700" y="2171700"/>
              <a:ext cx="1428750" cy="838200"/>
            </a:xfrm>
            <a:prstGeom prst="roundRect">
              <a:avLst>
                <a:gd name="adj" fmla="val 13636"/>
              </a:avLst>
            </a:prstGeom>
            <a:solidFill>
              <a:schemeClr val="accent6"/>
            </a:solidFill>
            <a:ln w="14288">
              <a:solidFill>
                <a:srgbClr val="26455F"/>
              </a:solidFill>
            </a:ln>
          </p:spPr>
        </p:sp>
        <p:sp>
          <p:nvSpPr>
            <p:cNvPr id="12" name="TextBox 12"/>
            <p:cNvSpPr txBox="1"/>
            <p:nvPr/>
          </p:nvSpPr>
          <p:spPr>
            <a:xfrm>
              <a:off x="3168184" y="2462212"/>
              <a:ext cx="19778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5</a:t>
              </a:r>
            </a:p>
          </p:txBody>
        </p:sp>
        <p:sp>
          <p:nvSpPr>
            <p:cNvPr id="13" name="TextBox 13"/>
            <p:cNvSpPr txBox="1"/>
            <p:nvPr/>
          </p:nvSpPr>
          <p:spPr>
            <a:xfrm>
              <a:off x="3079616" y="2851547"/>
              <a:ext cx="37491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tasks</a:t>
              </a:r>
            </a:p>
          </p:txBody>
        </p:sp>
        <p:sp>
          <p:nvSpPr>
            <p:cNvPr id="14" name="Rectangle 14"/>
            <p:cNvSpPr/>
            <p:nvPr/>
          </p:nvSpPr>
          <p:spPr>
            <a:xfrm>
              <a:off x="4133850" y="2171700"/>
              <a:ext cx="1428750" cy="838200"/>
            </a:xfrm>
            <a:prstGeom prst="roundRect">
              <a:avLst>
                <a:gd name="adj" fmla="val 13636"/>
              </a:avLst>
            </a:prstGeom>
            <a:solidFill>
              <a:schemeClr val="accent6"/>
            </a:solidFill>
            <a:ln w="14288">
              <a:solidFill>
                <a:srgbClr val="26455F"/>
              </a:solidFill>
            </a:ln>
          </p:spPr>
        </p:sp>
        <p:sp>
          <p:nvSpPr>
            <p:cNvPr id="15" name="TextBox 15"/>
            <p:cNvSpPr txBox="1"/>
            <p:nvPr/>
          </p:nvSpPr>
          <p:spPr>
            <a:xfrm>
              <a:off x="4749334" y="2462212"/>
              <a:ext cx="19778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9</a:t>
              </a:r>
            </a:p>
          </p:txBody>
        </p:sp>
        <p:sp>
          <p:nvSpPr>
            <p:cNvPr id="16" name="TextBox 16"/>
            <p:cNvSpPr txBox="1"/>
            <p:nvPr/>
          </p:nvSpPr>
          <p:spPr>
            <a:xfrm>
              <a:off x="4551149" y="2851547"/>
              <a:ext cx="59415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datasets</a:t>
              </a:r>
            </a:p>
          </p:txBody>
        </p:sp>
      </p:grpSp>
      <p:grpSp>
        <p:nvGrpSpPr>
          <p:cNvPr id="27" name="Group 27"/>
          <p:cNvGrpSpPr/>
          <p:nvPr/>
        </p:nvGrpSpPr>
        <p:grpSpPr>
          <a:xfrm>
            <a:off x="6248400" y="1600200"/>
            <a:ext cx="5334000" cy="1752600"/>
            <a:chOff x="6248400" y="1600200"/>
            <a:chExt cx="5334000" cy="1752600"/>
          </a:xfrm>
        </p:grpSpPr>
        <p:sp>
          <p:nvSpPr>
            <p:cNvPr id="18" name="Rectangle 18"/>
            <p:cNvSpPr/>
            <p:nvPr/>
          </p:nvSpPr>
          <p:spPr>
            <a:xfrm>
              <a:off x="6248400" y="1600200"/>
              <a:ext cx="5334000" cy="1752600"/>
            </a:xfrm>
            <a:prstGeom prst="roundRect">
              <a:avLst>
                <a:gd name="adj" fmla="val 7609"/>
              </a:avLst>
            </a:prstGeom>
            <a:solidFill>
              <a:schemeClr val="accent5"/>
            </a:solidFill>
            <a:ln w="14288">
              <a:solidFill>
                <a:srgbClr val="26455F"/>
              </a:solidFill>
            </a:ln>
          </p:spPr>
        </p:sp>
        <p:sp>
          <p:nvSpPr>
            <p:cNvPr id="19" name="Rectangle 19"/>
            <p:cNvSpPr/>
            <p:nvPr/>
          </p:nvSpPr>
          <p:spPr>
            <a:xfrm>
              <a:off x="6248400" y="1600200"/>
              <a:ext cx="57150" cy="1752600"/>
            </a:xfrm>
            <a:prstGeom prst="roundRect">
              <a:avLst>
                <a:gd name="adj" fmla="val 50000"/>
              </a:avLst>
            </a:prstGeom>
            <a:solidFill>
              <a:srgbClr val="34D3C0"/>
            </a:solidFill>
            <a:ln>
              <a:noFill/>
            </a:ln>
          </p:spPr>
        </p:sp>
        <p:sp>
          <p:nvSpPr>
            <p:cNvPr id="20" name="TextBox 20"/>
            <p:cNvSpPr txBox="1"/>
            <p:nvPr/>
          </p:nvSpPr>
          <p:spPr>
            <a:xfrm>
              <a:off x="6508814" y="1847612"/>
              <a:ext cx="2378789"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FinMA · built on open LLaMA</a:t>
              </a:r>
            </a:p>
          </p:txBody>
        </p:sp>
        <p:sp>
          <p:nvSpPr>
            <p:cNvPr id="21" name="Rectangle 21"/>
            <p:cNvSpPr/>
            <p:nvPr/>
          </p:nvSpPr>
          <p:spPr>
            <a:xfrm>
              <a:off x="6515100" y="2171700"/>
              <a:ext cx="2381250" cy="838200"/>
            </a:xfrm>
            <a:prstGeom prst="roundRect">
              <a:avLst>
                <a:gd name="adj" fmla="val 13636"/>
              </a:avLst>
            </a:prstGeom>
            <a:solidFill>
              <a:schemeClr val="accent6"/>
            </a:solidFill>
            <a:ln w="14288">
              <a:solidFill>
                <a:srgbClr val="26455F"/>
              </a:solidFill>
            </a:ln>
          </p:spPr>
        </p:sp>
        <p:sp>
          <p:nvSpPr>
            <p:cNvPr id="22" name="TextBox 22"/>
            <p:cNvSpPr txBox="1"/>
            <p:nvPr/>
          </p:nvSpPr>
          <p:spPr>
            <a:xfrm>
              <a:off x="7509472" y="2462212"/>
              <a:ext cx="392506"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7B</a:t>
              </a:r>
            </a:p>
          </p:txBody>
        </p:sp>
        <p:sp>
          <p:nvSpPr>
            <p:cNvPr id="23" name="TextBox 23"/>
            <p:cNvSpPr txBox="1"/>
            <p:nvPr/>
          </p:nvSpPr>
          <p:spPr>
            <a:xfrm>
              <a:off x="7401065" y="2851547"/>
              <a:ext cx="60932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FinMA-7B</a:t>
              </a:r>
            </a:p>
          </p:txBody>
        </p:sp>
        <p:sp>
          <p:nvSpPr>
            <p:cNvPr id="24" name="Rectangle 24"/>
            <p:cNvSpPr/>
            <p:nvPr/>
          </p:nvSpPr>
          <p:spPr>
            <a:xfrm>
              <a:off x="9163050" y="2171700"/>
              <a:ext cx="2381250" cy="838200"/>
            </a:xfrm>
            <a:prstGeom prst="roundRect">
              <a:avLst>
                <a:gd name="adj" fmla="val 13636"/>
              </a:avLst>
            </a:prstGeom>
            <a:solidFill>
              <a:schemeClr val="accent6"/>
            </a:solidFill>
            <a:ln w="14288">
              <a:solidFill>
                <a:srgbClr val="26455F"/>
              </a:solidFill>
            </a:ln>
          </p:spPr>
        </p:sp>
        <p:sp>
          <p:nvSpPr>
            <p:cNvPr id="25" name="TextBox 25"/>
            <p:cNvSpPr txBox="1"/>
            <p:nvPr/>
          </p:nvSpPr>
          <p:spPr>
            <a:xfrm>
              <a:off x="10065010" y="2462212"/>
              <a:ext cx="577329"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30B</a:t>
              </a:r>
            </a:p>
          </p:txBody>
        </p:sp>
        <p:sp>
          <p:nvSpPr>
            <p:cNvPr id="26" name="TextBox 26"/>
            <p:cNvSpPr txBox="1"/>
            <p:nvPr/>
          </p:nvSpPr>
          <p:spPr>
            <a:xfrm>
              <a:off x="10011097" y="2851547"/>
              <a:ext cx="68515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FinMA-30B</a:t>
              </a:r>
            </a:p>
          </p:txBody>
        </p:sp>
      </p:grpSp>
      <p:grpSp>
        <p:nvGrpSpPr>
          <p:cNvPr id="38" name="Group 38"/>
          <p:cNvGrpSpPr/>
          <p:nvPr/>
        </p:nvGrpSpPr>
        <p:grpSpPr>
          <a:xfrm>
            <a:off x="609600" y="3524250"/>
            <a:ext cx="5334000" cy="1752600"/>
            <a:chOff x="609600" y="3524250"/>
            <a:chExt cx="5334000" cy="1752600"/>
          </a:xfrm>
        </p:grpSpPr>
        <p:sp>
          <p:nvSpPr>
            <p:cNvPr id="28" name="Rectangle 28"/>
            <p:cNvSpPr/>
            <p:nvPr/>
          </p:nvSpPr>
          <p:spPr>
            <a:xfrm>
              <a:off x="609600" y="3524250"/>
              <a:ext cx="5334000" cy="1752600"/>
            </a:xfrm>
            <a:prstGeom prst="roundRect">
              <a:avLst>
                <a:gd name="adj" fmla="val 7609"/>
              </a:avLst>
            </a:prstGeom>
            <a:solidFill>
              <a:srgbClr val="0F2E2B"/>
            </a:solidFill>
            <a:ln w="14288">
              <a:solidFill>
                <a:srgbClr val="48C78E"/>
              </a:solidFill>
            </a:ln>
          </p:spPr>
        </p:sp>
        <p:sp>
          <p:nvSpPr>
            <p:cNvPr id="29" name="Rectangle 29"/>
            <p:cNvSpPr/>
            <p:nvPr/>
          </p:nvSpPr>
          <p:spPr>
            <a:xfrm>
              <a:off x="609600" y="3524250"/>
              <a:ext cx="57150" cy="1752600"/>
            </a:xfrm>
            <a:prstGeom prst="roundRect">
              <a:avLst>
                <a:gd name="adj" fmla="val 50000"/>
              </a:avLst>
            </a:prstGeom>
            <a:solidFill>
              <a:srgbClr val="48C78E"/>
            </a:solidFill>
            <a:ln>
              <a:noFill/>
            </a:ln>
          </p:spPr>
        </p:sp>
        <p:sp>
          <p:nvSpPr>
            <p:cNvPr id="30" name="TextBox 30"/>
            <p:cNvSpPr txBox="1"/>
            <p:nvPr/>
          </p:nvSpPr>
          <p:spPr>
            <a:xfrm>
              <a:off x="870394" y="3779758"/>
              <a:ext cx="2854851"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Financial Phrase Bank · weighted F1</a:t>
              </a:r>
            </a:p>
          </p:txBody>
        </p:sp>
        <p:sp>
          <p:nvSpPr>
            <p:cNvPr id="31" name="Rectangle 31"/>
            <p:cNvSpPr/>
            <p:nvPr/>
          </p:nvSpPr>
          <p:spPr>
            <a:xfrm>
              <a:off x="876300" y="4095750"/>
              <a:ext cx="2381250" cy="838200"/>
            </a:xfrm>
            <a:prstGeom prst="roundRect">
              <a:avLst>
                <a:gd name="adj" fmla="val 13636"/>
              </a:avLst>
            </a:prstGeom>
            <a:solidFill>
              <a:schemeClr val="accent6"/>
            </a:solidFill>
            <a:ln w="14288">
              <a:solidFill>
                <a:srgbClr val="26455F"/>
              </a:solidFill>
            </a:ln>
          </p:spPr>
        </p:sp>
        <p:sp>
          <p:nvSpPr>
            <p:cNvPr id="32" name="TextBox 32"/>
            <p:cNvSpPr txBox="1"/>
            <p:nvPr/>
          </p:nvSpPr>
          <p:spPr>
            <a:xfrm>
              <a:off x="1673847" y="4386262"/>
              <a:ext cx="786155"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+10%</a:t>
              </a:r>
            </a:p>
          </p:txBody>
        </p:sp>
        <p:sp>
          <p:nvSpPr>
            <p:cNvPr id="33" name="TextBox 33"/>
            <p:cNvSpPr txBox="1"/>
            <p:nvPr/>
          </p:nvSpPr>
          <p:spPr>
            <a:xfrm>
              <a:off x="1679535" y="4775597"/>
              <a:ext cx="77478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F1 vs GPT-4</a:t>
              </a:r>
            </a:p>
          </p:txBody>
        </p:sp>
        <p:sp>
          <p:nvSpPr>
            <p:cNvPr id="34" name="Rectangle 34"/>
            <p:cNvSpPr/>
            <p:nvPr/>
          </p:nvSpPr>
          <p:spPr>
            <a:xfrm>
              <a:off x="3524250" y="4095750"/>
              <a:ext cx="2381250" cy="838200"/>
            </a:xfrm>
            <a:prstGeom prst="roundRect">
              <a:avLst>
                <a:gd name="adj" fmla="val 13636"/>
              </a:avLst>
            </a:prstGeom>
            <a:solidFill>
              <a:schemeClr val="accent6"/>
            </a:solidFill>
            <a:ln w="14288">
              <a:solidFill>
                <a:srgbClr val="26455F"/>
              </a:solidFill>
            </a:ln>
          </p:spPr>
        </p:sp>
        <p:sp>
          <p:nvSpPr>
            <p:cNvPr id="35" name="TextBox 35"/>
            <p:cNvSpPr txBox="1"/>
            <p:nvPr/>
          </p:nvSpPr>
          <p:spPr>
            <a:xfrm>
              <a:off x="4321797" y="4386262"/>
              <a:ext cx="786155"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+37%</a:t>
              </a:r>
            </a:p>
          </p:txBody>
        </p:sp>
        <p:sp>
          <p:nvSpPr>
            <p:cNvPr id="36" name="TextBox 36"/>
            <p:cNvSpPr txBox="1"/>
            <p:nvPr/>
          </p:nvSpPr>
          <p:spPr>
            <a:xfrm>
              <a:off x="4193737" y="4775597"/>
              <a:ext cx="1042275"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F1 vs Bloomberg</a:t>
              </a:r>
            </a:p>
          </p:txBody>
        </p:sp>
        <p:sp>
          <p:nvSpPr>
            <p:cNvPr id="37" name="TextBox 37"/>
            <p:cNvSpPr txBox="1"/>
            <p:nvPr/>
          </p:nvSpPr>
          <p:spPr>
            <a:xfrm>
              <a:off x="871347" y="5057299"/>
              <a:ext cx="2977397"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FinMA-30B reaches about 0.88 weighted F1.</a:t>
              </a:r>
            </a:p>
          </p:txBody>
        </p:sp>
      </p:grpSp>
      <p:grpSp>
        <p:nvGrpSpPr>
          <p:cNvPr id="49" name="Group 49"/>
          <p:cNvGrpSpPr/>
          <p:nvPr/>
        </p:nvGrpSpPr>
        <p:grpSpPr>
          <a:xfrm>
            <a:off x="6248400" y="3524250"/>
            <a:ext cx="5334000" cy="1752600"/>
            <a:chOff x="6248400" y="3524250"/>
            <a:chExt cx="5334000" cy="1752600"/>
          </a:xfrm>
        </p:grpSpPr>
        <p:sp>
          <p:nvSpPr>
            <p:cNvPr id="39" name="Rectangle 39"/>
            <p:cNvSpPr/>
            <p:nvPr/>
          </p:nvSpPr>
          <p:spPr>
            <a:xfrm>
              <a:off x="6248400" y="3524250"/>
              <a:ext cx="5334000" cy="1752600"/>
            </a:xfrm>
            <a:prstGeom prst="roundRect">
              <a:avLst>
                <a:gd name="adj" fmla="val 7609"/>
              </a:avLst>
            </a:prstGeom>
            <a:solidFill>
              <a:schemeClr val="accent5"/>
            </a:solidFill>
            <a:ln w="14288">
              <a:solidFill>
                <a:srgbClr val="26455F"/>
              </a:solidFill>
            </a:ln>
          </p:spPr>
        </p:sp>
        <p:sp>
          <p:nvSpPr>
            <p:cNvPr id="40" name="Rectangle 40"/>
            <p:cNvSpPr/>
            <p:nvPr/>
          </p:nvSpPr>
          <p:spPr>
            <a:xfrm>
              <a:off x="6248400" y="3524250"/>
              <a:ext cx="57150" cy="1752600"/>
            </a:xfrm>
            <a:prstGeom prst="roundRect">
              <a:avLst>
                <a:gd name="adj" fmla="val 50000"/>
              </a:avLst>
            </a:prstGeom>
            <a:solidFill>
              <a:srgbClr val="F2C14E"/>
            </a:solidFill>
            <a:ln>
              <a:noFill/>
            </a:ln>
          </p:spPr>
        </p:sp>
        <p:sp>
          <p:nvSpPr>
            <p:cNvPr id="41" name="TextBox 41"/>
            <p:cNvSpPr txBox="1"/>
            <p:nvPr/>
          </p:nvSpPr>
          <p:spPr>
            <a:xfrm>
              <a:off x="6508814" y="3771662"/>
              <a:ext cx="2463954"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State of the art · fully open</a:t>
              </a:r>
            </a:p>
          </p:txBody>
        </p:sp>
        <p:sp>
          <p:nvSpPr>
            <p:cNvPr id="42" name="Rectangle 42"/>
            <p:cNvSpPr/>
            <p:nvPr/>
          </p:nvSpPr>
          <p:spPr>
            <a:xfrm>
              <a:off x="6515100" y="4095750"/>
              <a:ext cx="2381250" cy="838200"/>
            </a:xfrm>
            <a:prstGeom prst="roundRect">
              <a:avLst>
                <a:gd name="adj" fmla="val 13636"/>
              </a:avLst>
            </a:prstGeom>
            <a:solidFill>
              <a:schemeClr val="accent6"/>
            </a:solidFill>
            <a:ln w="14288">
              <a:solidFill>
                <a:srgbClr val="26455F"/>
              </a:solidFill>
            </a:ln>
          </p:spPr>
        </p:sp>
        <p:sp>
          <p:nvSpPr>
            <p:cNvPr id="43" name="TextBox 43"/>
            <p:cNvSpPr txBox="1"/>
            <p:nvPr/>
          </p:nvSpPr>
          <p:spPr>
            <a:xfrm>
              <a:off x="7606834" y="4386262"/>
              <a:ext cx="197782"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3</a:t>
              </a:r>
            </a:p>
          </p:txBody>
        </p:sp>
        <p:sp>
          <p:nvSpPr>
            <p:cNvPr id="44" name="TextBox 44"/>
            <p:cNvSpPr txBox="1"/>
            <p:nvPr/>
          </p:nvSpPr>
          <p:spPr>
            <a:xfrm>
              <a:off x="7193111" y="4775597"/>
              <a:ext cx="102522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SOTA NLP tasks</a:t>
              </a:r>
            </a:p>
          </p:txBody>
        </p:sp>
        <p:sp>
          <p:nvSpPr>
            <p:cNvPr id="45" name="Rectangle 45"/>
            <p:cNvSpPr/>
            <p:nvPr/>
          </p:nvSpPr>
          <p:spPr>
            <a:xfrm>
              <a:off x="9163050" y="4095750"/>
              <a:ext cx="2381250" cy="838200"/>
            </a:xfrm>
            <a:prstGeom prst="roundRect">
              <a:avLst>
                <a:gd name="adj" fmla="val 13636"/>
              </a:avLst>
            </a:prstGeom>
            <a:solidFill>
              <a:schemeClr val="accent6"/>
            </a:solidFill>
            <a:ln w="14288">
              <a:solidFill>
                <a:srgbClr val="26455F"/>
              </a:solidFill>
            </a:ln>
          </p:spPr>
        </p:sp>
        <p:sp>
          <p:nvSpPr>
            <p:cNvPr id="46" name="TextBox 46"/>
            <p:cNvSpPr txBox="1"/>
            <p:nvPr/>
          </p:nvSpPr>
          <p:spPr>
            <a:xfrm>
              <a:off x="10254784" y="4386262"/>
              <a:ext cx="197782"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1</a:t>
              </a:r>
            </a:p>
          </p:txBody>
        </p:sp>
        <p:sp>
          <p:nvSpPr>
            <p:cNvPr id="47" name="TextBox 47"/>
            <p:cNvSpPr txBox="1"/>
            <p:nvPr/>
          </p:nvSpPr>
          <p:spPr>
            <a:xfrm>
              <a:off x="9829090" y="4775597"/>
              <a:ext cx="104917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SOTA prediction</a:t>
              </a:r>
            </a:p>
          </p:txBody>
        </p:sp>
        <p:sp>
          <p:nvSpPr>
            <p:cNvPr id="48" name="TextBox 48"/>
            <p:cNvSpPr txBox="1"/>
            <p:nvPr/>
          </p:nvSpPr>
          <p:spPr>
            <a:xfrm>
              <a:off x="6510147" y="5057299"/>
              <a:ext cx="2944170"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All achieved while being fully open-sourced.</a:t>
              </a:r>
            </a:p>
          </p:txBody>
        </p:sp>
      </p:grpSp>
      <p:sp>
        <p:nvSpPr>
          <p:cNvPr id="50" name="cue_s09_c1_few_numbers_capture_pixiu_impact" title="cue_s09_c1_few_numbers_capture_pixiu_impact" descr="cue_s09_c1_few_numbers_capture_pixiu_impact A few numbers capture PIXIU's impact. The FIT instruction dataset holds one hundred thirty-six thousand samples across five tasks and nine datasets."/>
          <p:cNvSpPr/>
          <p:nvPr/>
        </p:nvSpPr>
        <p:spPr>
          <a:xfrm>
            <a:off x="609600" y="1599971"/>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9_c2_finma_built_open_llama_seven" title="cue_s09_c2_finma_built_open_llama_seven" descr="cue_s09_c2_finma_built_open_llama_seven FinMA is built on the open LLaMA model at seven and thirty billion parameters."/>
          <p:cNvSpPr/>
          <p:nvPr/>
        </p:nvSpPr>
        <p:spPr>
          <a:xfrm>
            <a:off x="6248399" y="1599971"/>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9_c3_financial_phrase_bank_sentiment_task" title="cue_s09_c3_financial_phrase_bank_sentiment_task" descr="cue_s09_c3_financial_phrase_bank_sentiment_task On the Financial Phrase Bank sentiment task, FinMA-30B exceeds GPT-4 by ten percent F1 and BloombergGPT by thirty-seven percent F1, reaching a weighted F1 around zero point eight eight."/>
          <p:cNvSpPr/>
          <p:nvPr/>
        </p:nvSpPr>
        <p:spPr>
          <a:xfrm>
            <a:off x="609600" y="3524326"/>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9_c4_finma_achieves_state_of_the_art_thre" title="cue_s09_c4_finma_achieves_state_of_the_art_thre" descr="cue_s09_c4_finma_achieves_state_of_the_art_thre FinMA achieves state-of-the-art on three financial NLP tasks and one financial prediction dataset, all while being fully open-sourced."/>
          <p:cNvSpPr/>
          <p:nvPr/>
        </p:nvSpPr>
        <p:spPr>
          <a:xfrm>
            <a:off x="6248399" y="3524326"/>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594920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Open resources move finance forward</a:t>
            </a:r>
          </a:p>
        </p:txBody>
      </p:sp>
      <p:grpSp>
        <p:nvGrpSpPr>
          <p:cNvPr id="10" name="Group 10"/>
          <p:cNvGrpSpPr/>
          <p:nvPr/>
        </p:nvGrpSpPr>
        <p:grpSpPr>
          <a:xfrm>
            <a:off x="609600" y="1676400"/>
            <a:ext cx="10972800" cy="1104900"/>
            <a:chOff x="609600" y="1676400"/>
            <a:chExt cx="10972800" cy="1104900"/>
          </a:xfrm>
        </p:grpSpPr>
        <p:sp>
          <p:nvSpPr>
            <p:cNvPr id="5" name="Rectangle 5"/>
            <p:cNvSpPr/>
            <p:nvPr/>
          </p:nvSpPr>
          <p:spPr>
            <a:xfrm>
              <a:off x="609600" y="1676400"/>
              <a:ext cx="10972800" cy="1104900"/>
            </a:xfrm>
            <a:prstGeom prst="roundRect">
              <a:avLst>
                <a:gd name="adj" fmla="val 12069"/>
              </a:avLst>
            </a:prstGeom>
            <a:solidFill>
              <a:schemeClr val="accent5"/>
            </a:solidFill>
            <a:ln w="14288">
              <a:solidFill>
                <a:srgbClr val="26455F"/>
              </a:solidFill>
            </a:ln>
          </p:spPr>
        </p:sp>
        <p:sp>
          <p:nvSpPr>
            <p:cNvPr id="6" name="Rectangle 6"/>
            <p:cNvSpPr/>
            <p:nvPr/>
          </p:nvSpPr>
          <p:spPr>
            <a:xfrm>
              <a:off x="609600" y="1676400"/>
              <a:ext cx="57150" cy="1104900"/>
            </a:xfrm>
            <a:prstGeom prst="roundRect">
              <a:avLst>
                <a:gd name="adj" fmla="val 50000"/>
              </a:avLst>
            </a:prstGeom>
            <a:solidFill>
              <a:schemeClr val="accent2"/>
            </a:solidFill>
            <a:ln>
              <a:noFill/>
            </a:ln>
          </p:spPr>
        </p:sp>
        <p:sp>
          <p:nvSpPr>
            <p:cNvPr id="7" name="Ellipse 7"/>
            <p:cNvSpPr/>
            <p:nvPr/>
          </p:nvSpPr>
          <p:spPr>
            <a:xfrm>
              <a:off x="971550" y="2133600"/>
              <a:ext cx="190500" cy="190500"/>
            </a:xfrm>
            <a:prstGeom prst="ellipse">
              <a:avLst/>
            </a:prstGeom>
            <a:solidFill>
              <a:schemeClr val="accent2"/>
            </a:solidFill>
            <a:ln>
              <a:noFill/>
            </a:ln>
          </p:spPr>
        </p:sp>
        <p:sp>
          <p:nvSpPr>
            <p:cNvPr id="8" name="TextBox 8"/>
            <p:cNvSpPr txBox="1"/>
            <p:nvPr/>
          </p:nvSpPr>
          <p:spPr>
            <a:xfrm>
              <a:off x="1421511" y="1960721"/>
              <a:ext cx="177739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simple takeaway</a:t>
              </a:r>
            </a:p>
          </p:txBody>
        </p:sp>
        <p:sp>
          <p:nvSpPr>
            <p:cNvPr id="9" name="TextBox 9"/>
            <p:cNvSpPr txBox="1"/>
            <p:nvPr/>
          </p:nvSpPr>
          <p:spPr>
            <a:xfrm>
              <a:off x="1422844" y="2293858"/>
              <a:ext cx="568518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PIXIU gives the financial AI community open resources it never had before.</a:t>
              </a:r>
            </a:p>
          </p:txBody>
        </p:sp>
      </p:grpSp>
      <p:grpSp>
        <p:nvGrpSpPr>
          <p:cNvPr id="17" name="Group 17"/>
          <p:cNvGrpSpPr/>
          <p:nvPr/>
        </p:nvGrpSpPr>
        <p:grpSpPr>
          <a:xfrm>
            <a:off x="609600" y="2933700"/>
            <a:ext cx="10972800" cy="1104900"/>
            <a:chOff x="609600" y="2933700"/>
            <a:chExt cx="10972800" cy="1104900"/>
          </a:xfrm>
        </p:grpSpPr>
        <p:sp>
          <p:nvSpPr>
            <p:cNvPr id="11" name="Rectangle 11"/>
            <p:cNvSpPr/>
            <p:nvPr/>
          </p:nvSpPr>
          <p:spPr>
            <a:xfrm>
              <a:off x="609600" y="2933700"/>
              <a:ext cx="10972800" cy="1104900"/>
            </a:xfrm>
            <a:prstGeom prst="roundRect">
              <a:avLst>
                <a:gd name="adj" fmla="val 12069"/>
              </a:avLst>
            </a:prstGeom>
            <a:solidFill>
              <a:schemeClr val="accent5"/>
            </a:solidFill>
            <a:ln w="14288">
              <a:solidFill>
                <a:srgbClr val="26455F"/>
              </a:solidFill>
            </a:ln>
          </p:spPr>
        </p:sp>
        <p:sp>
          <p:nvSpPr>
            <p:cNvPr id="12" name="Rectangle 12"/>
            <p:cNvSpPr/>
            <p:nvPr/>
          </p:nvSpPr>
          <p:spPr>
            <a:xfrm>
              <a:off x="609600" y="2933700"/>
              <a:ext cx="57150" cy="1104900"/>
            </a:xfrm>
            <a:prstGeom prst="roundRect">
              <a:avLst>
                <a:gd name="adj" fmla="val 50000"/>
              </a:avLst>
            </a:prstGeom>
            <a:solidFill>
              <a:srgbClr val="34D3C0"/>
            </a:solidFill>
            <a:ln>
              <a:noFill/>
            </a:ln>
          </p:spPr>
        </p:sp>
        <p:sp>
          <p:nvSpPr>
            <p:cNvPr id="13" name="Ellipse 13"/>
            <p:cNvSpPr/>
            <p:nvPr/>
          </p:nvSpPr>
          <p:spPr>
            <a:xfrm>
              <a:off x="971550" y="3390900"/>
              <a:ext cx="190500" cy="190500"/>
            </a:xfrm>
            <a:prstGeom prst="ellipse">
              <a:avLst/>
            </a:prstGeom>
            <a:solidFill>
              <a:srgbClr val="34D3C0"/>
            </a:solidFill>
            <a:ln>
              <a:noFill/>
            </a:ln>
          </p:spPr>
        </p:sp>
        <p:sp>
          <p:nvSpPr>
            <p:cNvPr id="14" name="TextBox 14"/>
            <p:cNvSpPr txBox="1"/>
            <p:nvPr/>
          </p:nvSpPr>
          <p:spPr>
            <a:xfrm>
              <a:off x="1421511" y="3218021"/>
              <a:ext cx="248966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first fully open triad</a:t>
              </a:r>
            </a:p>
          </p:txBody>
        </p:sp>
        <p:sp>
          <p:nvSpPr>
            <p:cNvPr id="15" name="TextBox 15"/>
            <p:cNvSpPr txBox="1"/>
            <p:nvPr/>
          </p:nvSpPr>
          <p:spPr>
            <a:xfrm>
              <a:off x="1422844" y="3551158"/>
              <a:ext cx="666154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An instruction-following financial LLM (FinMA), a large multi-task instruction dataset</a:t>
              </a:r>
            </a:p>
          </p:txBody>
        </p:sp>
        <p:sp>
          <p:nvSpPr>
            <p:cNvPr id="16" name="TextBox 16"/>
            <p:cNvSpPr txBox="1"/>
            <p:nvPr/>
          </p:nvSpPr>
          <p:spPr>
            <a:xfrm>
              <a:off x="1422844" y="3779758"/>
              <a:ext cx="317583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(FIT), and a holistic benchmark (FLARE).</a:t>
              </a:r>
            </a:p>
          </p:txBody>
        </p:sp>
      </p:grpSp>
      <p:grpSp>
        <p:nvGrpSpPr>
          <p:cNvPr id="25" name="Group 25"/>
          <p:cNvGrpSpPr/>
          <p:nvPr/>
        </p:nvGrpSpPr>
        <p:grpSpPr>
          <a:xfrm>
            <a:off x="609600" y="4191000"/>
            <a:ext cx="10972800" cy="1302020"/>
            <a:chOff x="609600" y="4191000"/>
            <a:chExt cx="10972800" cy="1302020"/>
          </a:xfrm>
        </p:grpSpPr>
        <p:sp>
          <p:nvSpPr>
            <p:cNvPr id="18" name="Rectangle 18"/>
            <p:cNvSpPr/>
            <p:nvPr/>
          </p:nvSpPr>
          <p:spPr>
            <a:xfrm>
              <a:off x="609600" y="4191000"/>
              <a:ext cx="10972800" cy="1104900"/>
            </a:xfrm>
            <a:prstGeom prst="roundRect">
              <a:avLst>
                <a:gd name="adj" fmla="val 12069"/>
              </a:avLst>
            </a:prstGeom>
            <a:solidFill>
              <a:schemeClr val="accent5"/>
            </a:solidFill>
            <a:ln w="14288">
              <a:solidFill>
                <a:srgbClr val="26455F"/>
              </a:solidFill>
            </a:ln>
          </p:spPr>
        </p:sp>
        <p:sp>
          <p:nvSpPr>
            <p:cNvPr id="19" name="Rectangle 19"/>
            <p:cNvSpPr/>
            <p:nvPr/>
          </p:nvSpPr>
          <p:spPr>
            <a:xfrm>
              <a:off x="609600" y="4191000"/>
              <a:ext cx="57150" cy="1104900"/>
            </a:xfrm>
            <a:prstGeom prst="roundRect">
              <a:avLst>
                <a:gd name="adj" fmla="val 50000"/>
              </a:avLst>
            </a:prstGeom>
            <a:solidFill>
              <a:srgbClr val="48C78E"/>
            </a:solidFill>
            <a:ln>
              <a:noFill/>
            </a:ln>
          </p:spPr>
        </p:sp>
        <p:sp>
          <p:nvSpPr>
            <p:cNvPr id="20" name="Ellipse 20"/>
            <p:cNvSpPr/>
            <p:nvPr/>
          </p:nvSpPr>
          <p:spPr>
            <a:xfrm>
              <a:off x="971550" y="4648200"/>
              <a:ext cx="190500" cy="190500"/>
            </a:xfrm>
            <a:prstGeom prst="ellipse">
              <a:avLst/>
            </a:prstGeom>
            <a:solidFill>
              <a:srgbClr val="48C78E"/>
            </a:solidFill>
            <a:ln>
              <a:noFill/>
            </a:ln>
          </p:spPr>
        </p:sp>
        <p:sp>
          <p:nvSpPr>
            <p:cNvPr id="21" name="TextBox 21"/>
            <p:cNvSpPr txBox="1"/>
            <p:nvPr/>
          </p:nvSpPr>
          <p:spPr>
            <a:xfrm>
              <a:off x="1421511" y="4475321"/>
              <a:ext cx="284151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Small, open, and competitive</a:t>
              </a:r>
            </a:p>
          </p:txBody>
        </p:sp>
        <p:sp>
          <p:nvSpPr>
            <p:cNvPr id="22" name="TextBox 22"/>
            <p:cNvSpPr txBox="1"/>
            <p:nvPr/>
          </p:nvSpPr>
          <p:spPr>
            <a:xfrm>
              <a:off x="1422844" y="4808458"/>
              <a:ext cx="634904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Careful domain instruction tuning lets a relatively small open model beat far larger</a:t>
              </a:r>
            </a:p>
          </p:txBody>
        </p:sp>
        <p:sp>
          <p:nvSpPr>
            <p:cNvPr id="23" name="TextBox 23"/>
            <p:cNvSpPr txBox="1"/>
            <p:nvPr/>
          </p:nvSpPr>
          <p:spPr>
            <a:xfrm>
              <a:off x="1422844" y="5037058"/>
              <a:ext cx="677350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general systems on financial language, while quantitative reasoning and stock prediction</a:t>
              </a:r>
            </a:p>
          </p:txBody>
        </p:sp>
        <p:sp>
          <p:nvSpPr>
            <p:cNvPr id="24" name="TextBox 24"/>
            <p:cNvSpPr txBox="1"/>
            <p:nvPr/>
          </p:nvSpPr>
          <p:spPr>
            <a:xfrm>
              <a:off x="1422844" y="5265658"/>
              <a:ext cx="182325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remain open challenges.</a:t>
              </a:r>
            </a:p>
          </p:txBody>
        </p:sp>
      </p:grpSp>
      <p:sp>
        <p:nvSpPr>
          <p:cNvPr id="26" name="Line 26"/>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7" name="TextBox 27"/>
          <p:cNvSpPr txBox="1"/>
          <p:nvPr/>
        </p:nvSpPr>
        <p:spPr>
          <a:xfrm>
            <a:off x="603694" y="5894308"/>
            <a:ext cx="7386487"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PIXIU: A Comprehensive Benchmark, Instruction Dataset &amp; Large Language Model for Finance</a:t>
            </a:r>
          </a:p>
        </p:txBody>
      </p:sp>
      <p:sp>
        <p:nvSpPr>
          <p:cNvPr id="28" name="TextBox 28"/>
          <p:cNvSpPr txBox="1"/>
          <p:nvPr/>
        </p:nvSpPr>
        <p:spPr>
          <a:xfrm>
            <a:off x="604456" y="6177201"/>
            <a:ext cx="5432476"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NeurIPS 2023 · Xie et al. · arXiv:2306.05443 · github.com/chancefocus/PIXIU</a:t>
            </a:r>
          </a:p>
        </p:txBody>
      </p:sp>
      <p:sp>
        <p:nvSpPr>
          <p:cNvPr id="29" name="cue_s10_c1_takeaway_simple" title="cue_s10_c1_takeaway_simple" descr="cue_s10_c1_takeaway_simple The takeaway is simple."/>
          <p:cNvSpPr/>
          <p:nvPr/>
        </p:nvSpPr>
        <p:spPr>
          <a:xfrm>
            <a:off x="609600" y="1676095"/>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10_c2_pixiu_provides_financial_community_i" title="cue_s10_c2_pixiu_provides_financial_community_i" descr="cue_s10_c2_pixiu_provides_financial_community_i PIXIU provides the financial AI community with its first fully open triad: an instruction-following financial large language model, a large multi-task instruction dataset, and a holistic evaluation benchmark."/>
          <p:cNvSpPr/>
          <p:nvPr/>
        </p:nvSpPr>
        <p:spPr>
          <a:xfrm>
            <a:off x="609600" y="2933852"/>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10_c3_shows_careful_domain_instruction_tun" title="cue_s10_c3_shows_careful_domain_instruction_tun" descr="cue_s10_c3_shows_careful_domain_instruction_tun It shows that careful domain instruction tuning can let a relatively small open model beat far larger general-purpose systems on financial language tasks, while honestly exposing quantitative reasoning and stock movement prediction as the field's remaining ope"/>
          <p:cNvSpPr/>
          <p:nvPr/>
        </p:nvSpPr>
        <p:spPr>
          <a:xfrm>
            <a:off x="609600" y="4190923"/>
            <a:ext cx="10972800" cy="130233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2026-07-16T05:55:39Z</dcterms:created>
  <dcterms:modified xsi:type="dcterms:W3CDTF">2026-07-16T05:55:39Z</dcterms:modified>
  <cp:category/>
  <cp:contentStatus/>
</cp:coreProperties>
</file>
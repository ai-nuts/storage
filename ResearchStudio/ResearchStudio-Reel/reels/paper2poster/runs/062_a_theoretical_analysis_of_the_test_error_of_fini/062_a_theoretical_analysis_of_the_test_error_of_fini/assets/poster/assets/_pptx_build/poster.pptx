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6349682" cy="6120904"/>
          </a:xfrm>
          <a:prstGeom prst="roundRect">
            <a:avLst>
              <a:gd name="adj" fmla="val 1936"/>
            </a:avLst>
          </a:prstGeom>
          <a:solidFill>
            <a:srgbClr val="FFFFFF"/>
          </a:solidFill>
          <a:ln w="3556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376783"/>
            <a:ext cx="16349682" cy="24695169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3556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376783"/>
            <a:ext cx="16349821" cy="9899015"/>
          </a:xfrm>
          <a:prstGeom prst="roundRect">
            <a:avLst>
              <a:gd name="adj" fmla="val 1197"/>
            </a:avLst>
          </a:prstGeom>
          <a:solidFill>
            <a:srgbClr val="FFFFFF"/>
          </a:solidFill>
          <a:ln w="3556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1805781"/>
            <a:ext cx="16349682" cy="5647372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3556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5583892"/>
            <a:ext cx="16349821" cy="4975066"/>
          </a:xfrm>
          <a:prstGeom prst="roundRect">
            <a:avLst>
              <a:gd name="adj" fmla="val 2382"/>
            </a:avLst>
          </a:prstGeom>
          <a:solidFill>
            <a:srgbClr val="FFFFFF"/>
          </a:solidFill>
          <a:ln w="3556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7761247"/>
            <a:ext cx="16349682" cy="12310705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556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0867052"/>
            <a:ext cx="16349821" cy="9204900"/>
          </a:xfrm>
          <a:prstGeom prst="roundRect">
            <a:avLst>
              <a:gd name="adj" fmla="val 1287"/>
            </a:avLst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0867052"/>
            <a:ext cx="16349821" cy="3556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518952" y="20867052"/>
            <a:ext cx="35560" cy="920490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20867052"/>
            <a:ext cx="53340" cy="920490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university-of-ba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2319" y="1301563"/>
            <a:ext cx="4291648" cy="1369036"/>
          </a:xfrm>
          <a:prstGeom prst="rect">
            <a:avLst/>
          </a:prstGeom>
        </p:spPr>
      </p:pic>
      <p:pic>
        <p:nvPicPr>
          <p:cNvPr id="15" name="Picture 14" descr="mcmaster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0941" y="1301583"/>
            <a:ext cx="2500034" cy="1368996"/>
          </a:xfrm>
          <a:prstGeom prst="rect">
            <a:avLst/>
          </a:prstGeom>
        </p:spPr>
      </p:pic>
      <p:pic>
        <p:nvPicPr>
          <p:cNvPr id="16" name="Picture 15" descr="unidistance-sui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7950" y="1301551"/>
            <a:ext cx="3829089" cy="1369060"/>
          </a:xfrm>
          <a:prstGeom prst="rect">
            <a:avLst/>
          </a:prstGeom>
        </p:spPr>
      </p:pic>
      <p:pic>
        <p:nvPicPr>
          <p:cNvPr id="17" name="Picture 16" descr="_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pic>
        <p:nvPicPr>
          <p:cNvPr id="18" name="Picture 17" descr="vector-instit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5942" y="2836467"/>
            <a:ext cx="6467614" cy="136905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04189" y="5042019"/>
            <a:ext cx="284493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12830" y="5042019"/>
            <a:ext cx="258046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46444" y="5042019"/>
            <a:ext cx="386631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3047" y="9100859"/>
            <a:ext cx="15567362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3047" y="9100859"/>
            <a:ext cx="124460" cy="21590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08388" y="11471017"/>
            <a:ext cx="343654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819449" y="14065646"/>
            <a:ext cx="15567362" cy="3116223"/>
          </a:xfrm>
          <a:prstGeom prst="roundRect">
            <a:avLst>
              <a:gd name="adj" fmla="val 7230"/>
            </a:avLst>
          </a:prstGeom>
          <a:solidFill>
            <a:srgbClr val="F3F3F3"/>
          </a:solidFill>
          <a:ln w="8890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541122" y="15249128"/>
            <a:ext cx="5676960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595851" y="16022419"/>
            <a:ext cx="15567501" cy="4240252"/>
          </a:xfrm>
          <a:prstGeom prst="roundRect">
            <a:avLst>
              <a:gd name="adj" fmla="val 1677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8890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518" y="17426483"/>
            <a:ext cx="402828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773359" y="20532288"/>
            <a:ext cx="3230265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3047" y="25958661"/>
            <a:ext cx="15567362" cy="3681988"/>
          </a:xfrm>
          <a:prstGeom prst="roundRect">
            <a:avLst>
              <a:gd name="adj" fmla="val 5665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613631" y="26248975"/>
            <a:ext cx="15549721" cy="3271242"/>
          </a:xfrm>
          <a:prstGeom prst="roundRect">
            <a:avLst>
              <a:gd name="adj" fmla="val 1087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613631" y="26248975"/>
            <a:ext cx="35560" cy="3271242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595851" y="6076037"/>
            <a:ext cx="15567501" cy="6749177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5949" y="6076037"/>
            <a:ext cx="15567306" cy="6749177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200510" y="16244669"/>
            <a:ext cx="4716978" cy="38432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00510" y="16244669"/>
            <a:ext cx="11557" cy="3843258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3047" y="16390381"/>
            <a:ext cx="4994374" cy="819825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Last-layer fine-tuning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3829" y="16390381"/>
            <a:ext cx="4280118" cy="819825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Few-shot learning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30356" y="16390381"/>
            <a:ext cx="3887291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Ridgeless λ → 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819449" y="19434373"/>
            <a:ext cx="5015210" cy="1604923"/>
          </a:xfrm>
          <a:prstGeom prst="roundRect">
            <a:avLst>
              <a:gd name="adj" fmla="val 16248"/>
            </a:avLst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3095386" y="19434373"/>
            <a:ext cx="5015349" cy="1604923"/>
          </a:xfrm>
          <a:prstGeom prst="roundRect">
            <a:avLst>
              <a:gd name="adj" fmla="val 16248"/>
            </a:avLst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371462" y="19434373"/>
            <a:ext cx="5015349" cy="1604923"/>
          </a:xfrm>
          <a:prstGeom prst="roundRect">
            <a:avLst>
              <a:gd name="adj" fmla="val 16248"/>
            </a:avLst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7941409" y="21300023"/>
            <a:ext cx="15323304" cy="6640413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ure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41409" y="21300047"/>
            <a:ext cx="15323304" cy="664036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43047" y="18199774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3047" y="20851633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3047" y="23503493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98161" y="14427914"/>
            <a:ext cx="773455" cy="715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44"/>
              </a:lnSpc>
              <a:spcBef>
                <a:spcPts val="0"/>
              </a:spcBef>
              <a:spcAft>
                <a:spcPts val="0"/>
              </a:spcAft>
            </a:pPr>
            <a:r>
              <a:rPr sz="7494" b="1" spc="-78">
                <a:solidFill>
                  <a:srgbClr val="34373B"/>
                </a:solidFill>
                <a:latin typeface="Arial"/>
              </a:rPr>
              <a:t>A Theoretical Analysis of the Test Error of Finite-</a:t>
            </a:r>
          </a:p>
          <a:p>
            <a:pPr algn="ctr">
              <a:lnSpc>
                <a:spcPts val="8244"/>
              </a:lnSpc>
              <a:spcBef>
                <a:spcPts val="0"/>
              </a:spcBef>
              <a:spcAft>
                <a:spcPts val="0"/>
              </a:spcAft>
            </a:pPr>
            <a:r>
              <a:rPr sz="7494" b="1" spc="-78">
                <a:solidFill>
                  <a:srgbClr val="34373B"/>
                </a:solidFill>
                <a:latin typeface="Arial"/>
              </a:rPr>
              <a:t>Rank Kernel Ridge Regression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Tin Sum Cheng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Aurélien Lucchi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Ivan Dokmanić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Anastasis Kratsios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2,3</a:t>
            </a:r>
            <a:r>
              <a:rPr sz="3733" b="0">
                <a:solidFill>
                  <a:srgbClr val="1B2331"/>
                </a:solidFill>
                <a:latin typeface="Arial"/>
              </a:rPr>
              <a:t>, David Belius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University of Basel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McMaster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Vector Institute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UniDistance Suisse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4189" y="5042019"/>
            <a:ext cx="293028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312830" y="5042019"/>
            <a:ext cx="2657874" cy="851745"/>
          </a:xfrm>
          <a:prstGeom prst="rect">
            <a:avLst/>
          </a:prstGeom>
          <a:noFill/>
        </p:spPr>
        <p:txBody>
          <a:bodyPr wrap="non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46444" y="5042019"/>
            <a:ext cx="3982305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3047" y="5815310"/>
            <a:ext cx="1599408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Classical statistical-learning guarantees give </a:t>
            </a:r>
            <a:r>
              <a:rPr sz="4106" b="1">
                <a:solidFill>
                  <a:srgbClr val="111111"/>
                </a:solidFill>
                <a:latin typeface="Arial"/>
              </a:rPr>
              <a:t>loose, often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vacuous</a:t>
            </a:r>
            <a:r>
              <a:rPr sz="4106" b="0">
                <a:solidFill>
                  <a:srgbClr val="1C1C1C"/>
                </a:solidFill>
                <a:latin typeface="Arial"/>
              </a:rPr>
              <a:t> bounds on the test error of finite-rank kernel ridge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regression (KRR) — worst in the </a:t>
            </a:r>
            <a:r>
              <a:rPr sz="4106" b="1">
                <a:solidFill>
                  <a:srgbClr val="111111"/>
                </a:solidFill>
                <a:latin typeface="Arial"/>
              </a:rPr>
              <a:t>ridgeless</a:t>
            </a:r>
            <a:r>
              <a:rPr sz="4106" b="0">
                <a:solidFill>
                  <a:srgbClr val="1C1C1C"/>
                </a:solidFill>
                <a:latin typeface="Arial"/>
              </a:rPr>
              <a:t> limit, and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no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matching lower bound</a:t>
            </a:r>
            <a:r>
              <a:rPr sz="4106" b="0">
                <a:solidFill>
                  <a:srgbClr val="1C1C1C"/>
                </a:solidFill>
                <a:latin typeface="Arial"/>
              </a:rPr>
              <a:t> to prove any upper bound is actually tight.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047" y="9100859"/>
            <a:ext cx="15994082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last-layer fine-tuning kernel is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exactly finite-rank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precisely the regime where existing bounds are loosest, one-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sided, and often vacuous as regularization vanishes.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08388" y="11471017"/>
            <a:ext cx="35396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46508" y="14427914"/>
            <a:ext cx="11858498" cy="3018487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 ·  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Test error splits into bias + variance; the sharp variance term scales as σ²·2M/N in the regime N &gt; M.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41122" y="15249128"/>
            <a:ext cx="5847268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819449" y="17392868"/>
            <a:ext cx="15994082" cy="2347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1C1C1C"/>
                </a:solidFill>
                <a:latin typeface="Arial"/>
              </a:rPr>
              <a:t>Validated on two controlled finite-rank kernels — the truncated NTK</a:t>
            </a:r>
          </a:p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1C1C1C"/>
                </a:solidFill>
                <a:latin typeface="Arial"/>
              </a:rPr>
              <a:t>(</a:t>
            </a:r>
            <a:r>
              <a:rPr sz="369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tNTK</a:t>
            </a:r>
            <a:r>
              <a:rPr sz="3696" b="0">
                <a:solidFill>
                  <a:srgbClr val="1C1C1C"/>
                </a:solidFill>
                <a:latin typeface="Arial"/>
              </a:rPr>
              <a:t>) and a low-rank kernel (</a:t>
            </a:r>
            <a:r>
              <a:rPr sz="369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LK</a:t>
            </a:r>
            <a:r>
              <a:rPr sz="3696" b="0">
                <a:solidFill>
                  <a:srgbClr val="1C1C1C"/>
                </a:solidFill>
                <a:latin typeface="Arial"/>
              </a:rPr>
              <a:t>) — where the spectrum and target</a:t>
            </a:r>
          </a:p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1C1C1C"/>
                </a:solidFill>
                <a:latin typeface="Arial"/>
              </a:rPr>
              <a:t>decomposition are known exactly: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518" y="17426483"/>
            <a:ext cx="4149129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Contribution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773359" y="20532288"/>
            <a:ext cx="3327172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613631" y="21305579"/>
            <a:ext cx="15976441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Finite-rank KRR — the model behind </a:t>
            </a:r>
            <a:r>
              <a:rPr sz="4106" b="1">
                <a:solidFill>
                  <a:srgbClr val="111111"/>
                </a:solidFill>
                <a:latin typeface="Arial"/>
              </a:rPr>
              <a:t>last-layer fine-tuning</a:t>
            </a:r>
            <a:r>
              <a:rPr sz="4106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admits </a:t>
            </a:r>
            <a:r>
              <a:rPr sz="4106" b="1">
                <a:solidFill>
                  <a:srgbClr val="111111"/>
                </a:solidFill>
                <a:latin typeface="Arial"/>
              </a:rPr>
              <a:t>sharp two-sided</a:t>
            </a:r>
            <a:r>
              <a:rPr sz="4106" b="0">
                <a:solidFill>
                  <a:srgbClr val="1C1C1C"/>
                </a:solidFill>
                <a:latin typeface="Arial"/>
              </a:rPr>
              <a:t> non-asymptotic test-error bounds that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stay tight for </a:t>
            </a:r>
            <a:r>
              <a:rPr sz="4106" b="1">
                <a:solidFill>
                  <a:srgbClr val="111111"/>
                </a:solidFill>
                <a:latin typeface="Arial"/>
              </a:rPr>
              <a:t>any</a:t>
            </a:r>
            <a:r>
              <a:rPr sz="4106" b="0">
                <a:solidFill>
                  <a:srgbClr val="1C1C1C"/>
                </a:solidFill>
                <a:latin typeface="Arial"/>
              </a:rPr>
              <a:t> ridge, including ridgeless. In that limit the bias is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controlled solely by the finite-rank error and the variance solely by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noise level: a far more honest generalization certificate than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earlier one-sided or asymptotic results.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3047" y="25958661"/>
            <a:ext cx="15994082" cy="4234286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Technical key: analysing the target in the </a:t>
            </a:r>
            <a:r>
              <a:rPr sz="4106" b="1">
                <a:solidFill>
                  <a:srgbClr val="111111"/>
                </a:solidFill>
                <a:latin typeface="Arial"/>
              </a:rPr>
              <a:t>L²ρ eigenfunction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basis</a:t>
            </a:r>
            <a:r>
              <a:rPr sz="4106" b="0">
                <a:solidFill>
                  <a:srgbClr val="34373B"/>
                </a:solidFill>
                <a:latin typeface="Arial"/>
              </a:rPr>
              <a:t> decouples the kernel spectrum from sampling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randomness, giving sharper constants than the classical RKHS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basis, and a bound that stays tight for any ridge λ including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ridgeless limit.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13631" y="26248975"/>
            <a:ext cx="15976441" cy="3761928"/>
          </a:xfrm>
          <a:prstGeom prst="rect">
            <a:avLst/>
          </a:prstGeom>
          <a:noFill/>
        </p:spPr>
        <p:txBody>
          <a:bodyPr wrap="none" lIns="408892" rIns="408892" tIns="255558" bIns="255558">
            <a:spAutoFit/>
          </a:bodyPr>
          <a:lstStyle/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4373B"/>
                </a:solidFill>
                <a:latin typeface="Arial"/>
              </a:rPr>
              <a:t>Analysing the target in the L²ρ eigenfunction basis —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4373B"/>
                </a:solidFill>
                <a:latin typeface="Arial"/>
              </a:rPr>
              <a:t>decoupling the spectrum from sampling noise — is the key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4373B"/>
                </a:solidFill>
                <a:latin typeface="Arial"/>
              </a:rPr>
              <a:t>move, and a template other finite-rank analyses can reuse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4373B"/>
                </a:solidFill>
                <a:latin typeface="Arial"/>
              </a:rPr>
              <a:t>for sharper, two-sided guarantees.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819431" y="5815310"/>
            <a:ext cx="15994100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Decompose the test error with the classical </a:t>
            </a:r>
            <a:r>
              <a:rPr sz="4106" b="1">
                <a:solidFill>
                  <a:srgbClr val="111111"/>
                </a:solidFill>
                <a:latin typeface="Arial"/>
              </a:rPr>
              <a:t>bias–variance split</a:t>
            </a:r>
            <a:r>
              <a:rPr sz="4106" b="0">
                <a:solidFill>
                  <a:srgbClr val="1C1C1C"/>
                </a:solidFill>
                <a:latin typeface="Arial"/>
              </a:rPr>
              <a:t>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then bound each part with </a:t>
            </a:r>
            <a:r>
              <a:rPr sz="4106" b="1">
                <a:solidFill>
                  <a:srgbClr val="111111"/>
                </a:solidFill>
                <a:latin typeface="Arial"/>
              </a:rPr>
              <a:t>high probability</a:t>
            </a:r>
            <a:r>
              <a:rPr sz="4106" b="0">
                <a:solidFill>
                  <a:srgbClr val="1C1C1C"/>
                </a:solidFill>
                <a:latin typeface="Arial"/>
              </a:rPr>
              <a:t> — for any ridge λ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chosen independently of N, including λ → 0.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819431" y="8266449"/>
            <a:ext cx="15994100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Key tools: sub-Gaussian </a:t>
            </a:r>
            <a:r>
              <a:rPr sz="4106" b="1">
                <a:solidFill>
                  <a:srgbClr val="111111"/>
                </a:solidFill>
                <a:latin typeface="Arial"/>
              </a:rPr>
              <a:t>covariance concentration</a:t>
            </a:r>
            <a:r>
              <a:rPr sz="4106" b="0">
                <a:solidFill>
                  <a:srgbClr val="1C1C1C"/>
                </a:solidFill>
                <a:latin typeface="Arial"/>
              </a:rPr>
              <a:t> +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Neumann-series</a:t>
            </a:r>
            <a:r>
              <a:rPr sz="4106" b="0">
                <a:solidFill>
                  <a:srgbClr val="1C1C1C"/>
                </a:solidFill>
                <a:latin typeface="Arial"/>
              </a:rPr>
              <a:t> expansion of the matrix inverse, analysed in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L²ρ eigenfunction basis</a:t>
            </a:r>
            <a:r>
              <a:rPr sz="4106" b="0">
                <a:solidFill>
                  <a:srgbClr val="1C1C1C"/>
                </a:solidFill>
                <a:latin typeface="Arial"/>
              </a:rPr>
              <a:t> to decouple spectrum from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sampling noise.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819431" y="11473795"/>
            <a:ext cx="15994100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Delivers a </a:t>
            </a:r>
            <a:r>
              <a:rPr sz="4106" b="1">
                <a:solidFill>
                  <a:srgbClr val="111111"/>
                </a:solidFill>
                <a:latin typeface="Arial"/>
              </a:rPr>
              <a:t>matching lower bound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first for finite-rank KRR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that provably meets the upper bound as N grows and stays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sharp in the ridgeless limit.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3028" y="12244308"/>
            <a:ext cx="1599410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Finite-rank kernels arise in </a:t>
            </a:r>
            <a:r>
              <a:rPr sz="4106" b="1">
                <a:solidFill>
                  <a:srgbClr val="111111"/>
                </a:solidFill>
                <a:latin typeface="Arial"/>
              </a:rPr>
              <a:t>last-layer fine-tuning</a:t>
            </a:r>
            <a:r>
              <a:rPr sz="4106" b="0">
                <a:solidFill>
                  <a:srgbClr val="1C1C1C"/>
                </a:solidFill>
                <a:latin typeface="Arial"/>
              </a:rPr>
              <a:t>: with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backbone frozen and only the head trained, the induced kernel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has rank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M</a:t>
            </a:r>
            <a:r>
              <a:rPr sz="4106" b="0">
                <a:solidFill>
                  <a:srgbClr val="1C1C1C"/>
                </a:solidFill>
                <a:latin typeface="Arial"/>
              </a:rPr>
              <a:t> far below the sample size 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218568" y="12974816"/>
            <a:ext cx="14748788" cy="2010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Ours (green) sits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≈7 nats below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Bach's (blue) —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≈10</a:t>
            </a:r>
            <a:r>
              <a:rPr sz="4714" b="1" i="1" baseline="30000">
                <a:solidFill>
                  <a:srgbClr val="111111"/>
                </a:solidFill>
                <a:latin typeface="Arial"/>
              </a:rPr>
              <a:t>3</a:t>
            </a:r>
            <a:r>
              <a:rPr sz="3367" b="1" i="1">
                <a:solidFill>
                  <a:srgbClr val="111111"/>
                </a:solidFill>
                <a:latin typeface="Arial"/>
              </a:rPr>
              <a:t>× tighter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— tracking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true error, for varying N (left) and inverse ridge 1/λ (right). Natural-log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scale.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3028" y="14695447"/>
            <a:ext cx="15994101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analyses are </a:t>
            </a:r>
            <a:r>
              <a:rPr sz="4106" b="1">
                <a:solidFill>
                  <a:srgbClr val="111111"/>
                </a:solidFill>
                <a:latin typeface="Arial"/>
              </a:rPr>
              <a:t>asymptotic</a:t>
            </a:r>
            <a:r>
              <a:rPr sz="4106" b="0">
                <a:solidFill>
                  <a:srgbClr val="1C1C1C"/>
                </a:solidFill>
                <a:latin typeface="Arial"/>
              </a:rPr>
              <a:t>, assume a </a:t>
            </a:r>
            <a:r>
              <a:rPr sz="4106" b="1">
                <a:solidFill>
                  <a:srgbClr val="111111"/>
                </a:solidFill>
                <a:latin typeface="Arial"/>
              </a:rPr>
              <a:t>fixed ridge</a:t>
            </a:r>
            <a:r>
              <a:rPr sz="4106" b="0">
                <a:solidFill>
                  <a:srgbClr val="1C1C1C"/>
                </a:solidFill>
                <a:latin typeface="Arial"/>
              </a:rPr>
              <a:t>, or bound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only the </a:t>
            </a:r>
            <a:r>
              <a:rPr sz="4106" b="1">
                <a:solidFill>
                  <a:srgbClr val="111111"/>
                </a:solidFill>
                <a:latin typeface="Arial"/>
              </a:rPr>
              <a:t>expected</a:t>
            </a:r>
            <a:r>
              <a:rPr sz="4106" b="0">
                <a:solidFill>
                  <a:srgbClr val="1C1C1C"/>
                </a:solidFill>
                <a:latin typeface="Arial"/>
              </a:rPr>
              <a:t> error — none certify a single run.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05189" y="18199774"/>
            <a:ext cx="15031940" cy="26898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Non-vacuous ridgeless bounds.</a:t>
            </a:r>
            <a:r>
              <a:rPr sz="4106" b="0">
                <a:solidFill>
                  <a:srgbClr val="1C1C1C"/>
                </a:solidFill>
                <a:latin typeface="Arial"/>
              </a:rPr>
              <a:t> Sharp high-probability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upper bounds that keep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improving</a:t>
            </a:r>
            <a:r>
              <a:rPr sz="4106" b="0">
                <a:solidFill>
                  <a:srgbClr val="1C1C1C"/>
                </a:solidFill>
                <a:latin typeface="Arial"/>
              </a:rPr>
              <a:t> as λ → 0, valid for any ridge in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under-parameterized regime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 &gt; M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05189" y="20851633"/>
            <a:ext cx="15031940" cy="26898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Matching lower bound.</a:t>
            </a:r>
            <a:r>
              <a:rPr sz="4106" b="0">
                <a:solidFill>
                  <a:srgbClr val="1C1C1C"/>
                </a:solidFill>
                <a:latin typeface="Arial"/>
              </a:rPr>
              <a:t> The first high-probability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lower</a:t>
            </a:r>
            <a:r>
              <a:rPr sz="4106" b="0">
                <a:solidFill>
                  <a:srgbClr val="1C1C1C"/>
                </a:solidFill>
                <a:latin typeface="Arial"/>
              </a:rPr>
              <a:t> bound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for finite-rank KRR — provably meeting the upper bound as 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grows, so the bounds are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tight</a:t>
            </a:r>
            <a:r>
              <a:rPr sz="4106" b="0">
                <a:solidFill>
                  <a:srgbClr val="1C1C1C"/>
                </a:solidFill>
                <a:latin typeface="Arial"/>
              </a:rPr>
              <a:t>, not just a safe envelope.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05189" y="23503493"/>
            <a:ext cx="15031940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Empirical validation.</a:t>
            </a:r>
            <a:r>
              <a:rPr sz="4106" b="0">
                <a:solidFill>
                  <a:srgbClr val="1C1C1C"/>
                </a:solidFill>
                <a:latin typeface="Arial"/>
              </a:rPr>
              <a:t> A dramatic improvement over the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closest prior bound (Bach's), confirmed on the tNTK and LK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kernels across the full range of 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554402" y="28090038"/>
            <a:ext cx="14520236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Our upper (u.b.) and lower (l.b.) bounds sandwich the measured test error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across N, on both the tNTK and LK kernels — and converge together as 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grows.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841715" y="16809184"/>
            <a:ext cx="10078665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4373B"/>
                </a:solidFill>
                <a:latin typeface="Arial"/>
              </a:rPr>
              <a:t>10×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841715" y="18184078"/>
            <a:ext cx="10078665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error decay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841715" y="18705532"/>
            <a:ext cx="10078665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log N / N decay vs. the O(√(log N / N)) Rademacher rate —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and the confidence itself sharpens as N grows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27947" y="19590781"/>
            <a:ext cx="4736160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4373B"/>
                </a:solidFill>
                <a:latin typeface="Arial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303884" y="19590781"/>
            <a:ext cx="473630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4373B"/>
                </a:solidFill>
                <a:latin typeface="Arial"/>
              </a:rPr>
              <a:t>10–200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79960" y="19590781"/>
            <a:ext cx="473630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4373B"/>
                </a:solidFill>
                <a:latin typeface="Arial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027947" y="20492977"/>
            <a:ext cx="4736160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kernels: tNTK, LK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303884" y="20492977"/>
            <a:ext cx="473630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sample size 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579960" y="20492977"/>
            <a:ext cx="473630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random trials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678764" y="16244669"/>
            <a:ext cx="178870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≥1−2/N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97893" y="16378019"/>
            <a:ext cx="225970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success prob.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678764" y="17065466"/>
            <a:ext cx="79491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33050" y="17198816"/>
            <a:ext cx="268792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two-sided bound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678764" y="17886263"/>
            <a:ext cx="2060543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σ²·2M/N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861815" y="18019613"/>
            <a:ext cx="211734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variance rate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678764" y="18707060"/>
            <a:ext cx="1485245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N &gt; 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303273" y="18840410"/>
            <a:ext cx="219875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under-param.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678764" y="19527857"/>
            <a:ext cx="116948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λ→0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996707" y="19661207"/>
            <a:ext cx="164892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stays tight</a:t>
            </a:r>
          </a:p>
        </p:txBody>
      </p:sp>
      <p:pic>
        <p:nvPicPr>
          <p:cNvPr id="95" name="Picture 94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7873" y="14312344"/>
            <a:ext cx="6750288" cy="800100"/>
          </a:xfrm>
          <a:prstGeom prst="rect">
            <a:avLst/>
          </a:prstGeom>
        </p:spPr>
      </p:pic>
      <p:pic>
        <p:nvPicPr>
          <p:cNvPr id="96" name="Picture 95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02633" y="14312344"/>
            <a:ext cx="8255754" cy="21144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
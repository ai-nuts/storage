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deck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deck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22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1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05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0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9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85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a:solidFill>
            <a:schemeClr val="tx1"/>
          </a:solidFill>
          <a:latin typeface="+mn-lt"/>
          <a:ea typeface="+mn-ea"/>
          <a:cs typeface="+mn-cs"/>
        </a:defRPr>
      </a:lvl9pPr>
    </p:bodyStyle>
    <p:otherStyle>
      <a:defPPr>
        <a:defRPr lang="en-US"/>
      </a:defPPr>
      <a:lvl1pPr marL="0" algn="l" defTabSz="457200" rtl="0" eaLnBrk="1" latinLnBrk="0" hangingPunct="1">
        <a:defRPr sz="1100" kern="1200">
          <a:solidFill>
            <a:schemeClr val="tx1"/>
          </a:solidFill>
          <a:latin typeface="+mn-lt"/>
          <a:ea typeface="+mn-ea"/>
          <a:cs typeface="+mn-cs"/>
        </a:defRPr>
      </a:lvl1pPr>
      <a:lvl2pPr marL="457200" algn="l" defTabSz="457200" rtl="0" eaLnBrk="1" latinLnBrk="0" hangingPunct="1">
        <a:defRPr sz="1050" kern="1200">
          <a:solidFill>
            <a:schemeClr val="tx1"/>
          </a:solidFill>
          <a:latin typeface="+mn-lt"/>
          <a:ea typeface="+mn-ea"/>
          <a:cs typeface="+mn-cs"/>
        </a:defRPr>
      </a:lvl2pPr>
      <a:lvl3pPr marL="914400" algn="l" defTabSz="457200" rtl="0" eaLnBrk="1" latinLnBrk="0" hangingPunct="1">
        <a:defRPr sz="1000" kern="1200">
          <a:solidFill>
            <a:schemeClr val="tx1"/>
          </a:solidFill>
          <a:latin typeface="+mn-lt"/>
          <a:ea typeface="+mn-ea"/>
          <a:cs typeface="+mn-cs"/>
        </a:defRPr>
      </a:lvl3pPr>
      <a:lvl4pPr marL="1371600" algn="l" defTabSz="457200" rtl="0" eaLnBrk="1" latinLnBrk="0" hangingPunct="1">
        <a:defRPr sz="900" kern="1200">
          <a:solidFill>
            <a:schemeClr val="tx1"/>
          </a:solidFill>
          <a:latin typeface="+mn-lt"/>
          <a:ea typeface="+mn-ea"/>
          <a:cs typeface="+mn-cs"/>
        </a:defRPr>
      </a:lvl4pPr>
      <a:lvl5pPr marL="1828800" algn="l" defTabSz="457200" rtl="0" eaLnBrk="1" latinLnBrk="0" hangingPunct="1">
        <a:defRPr sz="850" kern="1200">
          <a:solidFill>
            <a:schemeClr val="tx1"/>
          </a:solidFill>
          <a:latin typeface="+mn-lt"/>
          <a:ea typeface="+mn-ea"/>
          <a:cs typeface="+mn-cs"/>
        </a:defRPr>
      </a:lvl5pPr>
      <a:lvl6pPr marL="2286000" algn="l" defTabSz="457200" rtl="0" eaLnBrk="1" latinLnBrk="0" hangingPunct="1">
        <a:defRPr sz="800" kern="1200">
          <a:solidFill>
            <a:schemeClr val="tx1"/>
          </a:solidFill>
          <a:latin typeface="+mn-lt"/>
          <a:ea typeface="+mn-ea"/>
          <a:cs typeface="+mn-cs"/>
        </a:defRPr>
      </a:lvl6pPr>
      <a:lvl7pPr marL="2743200" algn="l" defTabSz="457200" rtl="0" eaLnBrk="1" latinLnBrk="0" hangingPunct="1">
        <a:defRPr sz="800" kern="1200">
          <a:solidFill>
            <a:schemeClr val="tx1"/>
          </a:solidFill>
          <a:latin typeface="+mn-lt"/>
          <a:ea typeface="+mn-ea"/>
          <a:cs typeface="+mn-cs"/>
        </a:defRPr>
      </a:lvl7pPr>
      <a:lvl8pPr marL="3200400" algn="l" defTabSz="457200" rtl="0" eaLnBrk="1" latinLnBrk="0" hangingPunct="1">
        <a:defRPr sz="800" kern="1200">
          <a:solidFill>
            <a:schemeClr val="tx1"/>
          </a:solidFill>
          <a:latin typeface="+mn-lt"/>
          <a:ea typeface="+mn-ea"/>
          <a:cs typeface="+mn-cs"/>
        </a:defRPr>
      </a:lvl8pPr>
      <a:lvl9pPr marL="3657600" algn="l" defTabSz="457200" rtl="0" eaLnBrk="1" latinLnBrk="0" hangingPunct="1">
        <a:defRPr sz="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604266" y="572452"/>
            <a:ext cx="964547" cy="205359"/>
          </a:xfrm>
          <a:prstGeom prst="rect">
            <a:avLst/>
          </a:prstGeom>
          <a:noFill/>
          <a:ln>
            <a:noFill/>
          </a:ln>
        </p:spPr>
        <p:txBody>
          <a:bodyPr wrap="none" lIns="0" tIns="0" rIns="0" bIns="0" anchor="t" anchorCtr="0">
            <a:spAutoFit/>
          </a:bodyPr>
          <a:lstStyle/>
          <a:p>
            <a:pPr algn="l"/>
            <a:r>
              <a:rPr lang="en-US" sz="1050" b="1" spc="225" dirty="0">
                <a:solidFill>
                  <a:schemeClr val="accent2"/>
                </a:solidFill>
                <a:latin typeface="+mn-lt"/>
                <a:ea typeface="+mn-ea"/>
                <a:cs typeface="+mn-cs"/>
              </a:rPr>
              <a:t>ICLR 2024</a:t>
            </a:r>
          </a:p>
        </p:txBody>
      </p:sp>
      <p:sp>
        <p:nvSpPr>
          <p:cNvPr id="3" name="TextBox 3"/>
          <p:cNvSpPr txBox="1"/>
          <p:nvPr/>
        </p:nvSpPr>
        <p:spPr>
          <a:xfrm>
            <a:off x="6661680" y="576501"/>
            <a:ext cx="4925863" cy="198025"/>
          </a:xfrm>
          <a:prstGeom prst="rect">
            <a:avLst/>
          </a:prstGeom>
          <a:noFill/>
          <a:ln>
            <a:noFill/>
          </a:ln>
        </p:spPr>
        <p:txBody>
          <a:bodyPr wrap="none" lIns="0" tIns="0" rIns="0" bIns="0" anchor="t" anchorCtr="0">
            <a:spAutoFit/>
          </a:bodyPr>
          <a:lstStyle/>
          <a:p>
            <a:pPr algn="r"/>
            <a:r>
              <a:rPr lang="en-US" sz="1010" b="1" dirty="0">
                <a:solidFill>
                  <a:schemeClr val="dk2"/>
                </a:solidFill>
                <a:latin typeface="+mn-lt"/>
                <a:ea typeface="+mn-ea"/>
                <a:cs typeface="+mn-cs"/>
              </a:rPr>
              <a:t>University of Freiburg · ELLIS Institute Tuebingen · Sequence-only RPI</a:t>
            </a:r>
          </a:p>
        </p:txBody>
      </p:sp>
      <p:sp>
        <p:nvSpPr>
          <p:cNvPr id="4" name="Line 4"/>
          <p:cNvSpPr/>
          <p:nvPr/>
        </p:nvSpPr>
        <p:spPr>
          <a:xfrm>
            <a:off x="609600" y="838200"/>
            <a:ext cx="10972800" cy="9525"/>
          </a:xfrm>
          <a:custGeom>
            <a:avLst/>
            <a:gdLst/>
            <a:ahLst/>
            <a:cxnLst/>
            <a:rect l="l" t="t" r="r" b="b"/>
            <a:pathLst>
              <a:path w="10972800" h="9525">
                <a:moveTo>
                  <a:pt x="0" y="0"/>
                </a:moveTo>
                <a:lnTo>
                  <a:pt x="10972800" y="0"/>
                </a:lnTo>
              </a:path>
            </a:pathLst>
          </a:custGeom>
          <a:noFill/>
          <a:ln w="9525" cap="rnd">
            <a:solidFill>
              <a:srgbClr val="26455F"/>
            </a:solidFill>
          </a:ln>
        </p:spPr>
        <p:txBody>
          <a:bodyPr/>
          <a:p/>
        </p:txBody>
      </p:sp>
      <p:sp>
        <p:nvSpPr>
          <p:cNvPr id="5" name="TextBox 5"/>
          <p:cNvSpPr txBox="1"/>
          <p:nvPr/>
        </p:nvSpPr>
        <p:spPr>
          <a:xfrm>
            <a:off x="593598" y="1088708"/>
            <a:ext cx="8416600" cy="616077"/>
          </a:xfrm>
          <a:prstGeom prst="rect">
            <a:avLst/>
          </a:prstGeom>
          <a:noFill/>
          <a:ln>
            <a:noFill/>
          </a:ln>
        </p:spPr>
        <p:txBody>
          <a:bodyPr wrap="none" lIns="0" tIns="0" rIns="0" bIns="0" anchor="t" anchorCtr="0">
            <a:spAutoFit/>
          </a:bodyPr>
          <a:lstStyle/>
          <a:p>
            <a:pPr algn="l"/>
            <a:r>
              <a:rPr lang="en-US" sz="3150" b="1" dirty="0">
                <a:solidFill>
                  <a:srgbClr val="FFFFFF"/>
                </a:solidFill>
                <a:latin typeface="+mn-lt"/>
                <a:ea typeface="+mn-ea"/>
                <a:cs typeface="+mn-cs"/>
              </a:rPr>
              <a:t>RNA-Protein Interaction Classification</a:t>
            </a:r>
          </a:p>
        </p:txBody>
      </p:sp>
      <p:sp>
        <p:nvSpPr>
          <p:cNvPr id="6" name="TextBox 6"/>
          <p:cNvSpPr txBox="1"/>
          <p:nvPr/>
        </p:nvSpPr>
        <p:spPr>
          <a:xfrm>
            <a:off x="600456" y="1691640"/>
            <a:ext cx="6707706" cy="352044"/>
          </a:xfrm>
          <a:prstGeom prst="rect">
            <a:avLst/>
          </a:prstGeom>
          <a:noFill/>
          <a:ln>
            <a:noFill/>
          </a:ln>
        </p:spPr>
        <p:txBody>
          <a:bodyPr wrap="none" lIns="0" tIns="0" rIns="0" bIns="0" anchor="t" anchorCtr="0">
            <a:spAutoFit/>
          </a:bodyPr>
          <a:lstStyle/>
          <a:p>
            <a:pPr algn="l"/>
            <a:r>
              <a:rPr lang="en-US" sz="1800" b="1" dirty="0">
                <a:solidFill>
                  <a:schemeClr val="accent2"/>
                </a:solidFill>
                <a:latin typeface="+mn-lt"/>
                <a:ea typeface="+mn-ea"/>
                <a:cs typeface="+mn-cs"/>
              </a:rPr>
              <a:t>via Sequence Embeddings — RPIembeddor + RNAInterAct</a:t>
            </a:r>
          </a:p>
        </p:txBody>
      </p:sp>
      <p:sp>
        <p:nvSpPr>
          <p:cNvPr id="7" name="Polyline 7"/>
          <p:cNvSpPr/>
          <p:nvPr/>
        </p:nvSpPr>
        <p:spPr>
          <a:xfrm>
            <a:off x="9010650" y="1266825"/>
            <a:ext cx="2247900" cy="133144"/>
          </a:xfrm>
          <a:custGeom>
            <a:avLst/>
            <a:gdLst/>
            <a:ahLst/>
            <a:cxnLst/>
            <a:rect l="l" t="t" r="r" b="b"/>
            <a:pathLst>
              <a:path w="2247900" h="133144">
                <a:moveTo>
                  <a:pt x="0" y="66675"/>
                </a:moveTo>
                <a:lnTo>
                  <a:pt x="56197" y="82240"/>
                </a:lnTo>
                <a:lnTo>
                  <a:pt x="112395" y="96945"/>
                </a:lnTo>
                <a:lnTo>
                  <a:pt x="168593" y="109977"/>
                </a:lnTo>
                <a:lnTo>
                  <a:pt x="224790" y="120616"/>
                </a:lnTo>
                <a:lnTo>
                  <a:pt x="280988" y="128275"/>
                </a:lnTo>
                <a:lnTo>
                  <a:pt x="337185" y="132529"/>
                </a:lnTo>
                <a:lnTo>
                  <a:pt x="393382" y="133144"/>
                </a:lnTo>
                <a:lnTo>
                  <a:pt x="449580" y="130087"/>
                </a:lnTo>
                <a:lnTo>
                  <a:pt x="505778" y="123525"/>
                </a:lnTo>
                <a:lnTo>
                  <a:pt x="561975" y="113821"/>
                </a:lnTo>
                <a:lnTo>
                  <a:pt x="618172" y="101513"/>
                </a:lnTo>
                <a:lnTo>
                  <a:pt x="674370" y="87279"/>
                </a:lnTo>
                <a:lnTo>
                  <a:pt x="730568" y="71906"/>
                </a:lnTo>
                <a:lnTo>
                  <a:pt x="786765" y="56245"/>
                </a:lnTo>
                <a:lnTo>
                  <a:pt x="842962" y="41160"/>
                </a:lnTo>
                <a:lnTo>
                  <a:pt x="899160" y="27484"/>
                </a:lnTo>
                <a:lnTo>
                  <a:pt x="955357" y="15975"/>
                </a:lnTo>
                <a:lnTo>
                  <a:pt x="1011555" y="7267"/>
                </a:lnTo>
                <a:lnTo>
                  <a:pt x="1067752" y="1842"/>
                </a:lnTo>
                <a:lnTo>
                  <a:pt x="1123950" y="0"/>
                </a:lnTo>
                <a:lnTo>
                  <a:pt x="1180148" y="1842"/>
                </a:lnTo>
                <a:lnTo>
                  <a:pt x="1236345" y="7267"/>
                </a:lnTo>
                <a:lnTo>
                  <a:pt x="1292543" y="15975"/>
                </a:lnTo>
                <a:lnTo>
                  <a:pt x="1348740" y="27484"/>
                </a:lnTo>
                <a:lnTo>
                  <a:pt x="1404938" y="41160"/>
                </a:lnTo>
                <a:lnTo>
                  <a:pt x="1461135" y="56245"/>
                </a:lnTo>
                <a:lnTo>
                  <a:pt x="1517332" y="71906"/>
                </a:lnTo>
                <a:lnTo>
                  <a:pt x="1573530" y="87279"/>
                </a:lnTo>
                <a:lnTo>
                  <a:pt x="1629727" y="101513"/>
                </a:lnTo>
                <a:lnTo>
                  <a:pt x="1685925" y="113821"/>
                </a:lnTo>
                <a:lnTo>
                  <a:pt x="1742123" y="123525"/>
                </a:lnTo>
                <a:lnTo>
                  <a:pt x="1798320" y="130087"/>
                </a:lnTo>
                <a:lnTo>
                  <a:pt x="1854518" y="133144"/>
                </a:lnTo>
                <a:lnTo>
                  <a:pt x="1910715" y="132529"/>
                </a:lnTo>
                <a:lnTo>
                  <a:pt x="1966912" y="128275"/>
                </a:lnTo>
                <a:lnTo>
                  <a:pt x="2023110" y="120616"/>
                </a:lnTo>
                <a:lnTo>
                  <a:pt x="2079307" y="109977"/>
                </a:lnTo>
                <a:lnTo>
                  <a:pt x="2135505" y="96945"/>
                </a:lnTo>
                <a:lnTo>
                  <a:pt x="2191702" y="82240"/>
                </a:lnTo>
                <a:lnTo>
                  <a:pt x="2247900" y="66675"/>
                </a:lnTo>
              </a:path>
            </a:pathLst>
          </a:custGeom>
          <a:noFill/>
          <a:ln w="24765" cap="rnd">
            <a:solidFill>
              <a:srgbClr val="34D3C0"/>
            </a:solidFill>
            <a:round/>
          </a:ln>
        </p:spPr>
        <p:txBody>
          <a:bodyPr/>
          <a:p/>
        </p:txBody>
      </p:sp>
      <p:sp>
        <p:nvSpPr>
          <p:cNvPr id="8" name="Ellipse 8"/>
          <p:cNvSpPr/>
          <p:nvPr/>
        </p:nvSpPr>
        <p:spPr>
          <a:xfrm>
            <a:off x="9106006" y="1337310"/>
            <a:ext cx="59055" cy="59055"/>
          </a:xfrm>
          <a:prstGeom prst="ellipse">
            <a:avLst/>
          </a:prstGeom>
          <a:solidFill>
            <a:srgbClr val="34D3C0"/>
          </a:solidFill>
          <a:ln>
            <a:noFill/>
          </a:ln>
        </p:spPr>
        <p:txBody>
          <a:bodyPr/>
          <a:p/>
        </p:txBody>
      </p:sp>
      <p:sp>
        <p:nvSpPr>
          <p:cNvPr id="9" name="Ellipse 9"/>
          <p:cNvSpPr/>
          <p:nvPr/>
        </p:nvSpPr>
        <p:spPr>
          <a:xfrm>
            <a:off x="9355772" y="1370648"/>
            <a:ext cx="59055" cy="59055"/>
          </a:xfrm>
          <a:prstGeom prst="ellipse">
            <a:avLst/>
          </a:prstGeom>
          <a:solidFill>
            <a:srgbClr val="34D3C0"/>
          </a:solidFill>
          <a:ln>
            <a:noFill/>
          </a:ln>
        </p:spPr>
        <p:txBody>
          <a:bodyPr/>
          <a:p/>
        </p:txBody>
      </p:sp>
      <p:sp>
        <p:nvSpPr>
          <p:cNvPr id="10" name="Ellipse 10"/>
          <p:cNvSpPr/>
          <p:nvPr/>
        </p:nvSpPr>
        <p:spPr>
          <a:xfrm>
            <a:off x="9605539" y="1337310"/>
            <a:ext cx="59055" cy="59055"/>
          </a:xfrm>
          <a:prstGeom prst="ellipse">
            <a:avLst/>
          </a:prstGeom>
          <a:solidFill>
            <a:srgbClr val="34D3C0"/>
          </a:solidFill>
          <a:ln>
            <a:noFill/>
          </a:ln>
        </p:spPr>
        <p:txBody>
          <a:bodyPr/>
          <a:p/>
        </p:txBody>
      </p:sp>
      <p:sp>
        <p:nvSpPr>
          <p:cNvPr id="11" name="Ellipse 11"/>
          <p:cNvSpPr/>
          <p:nvPr/>
        </p:nvSpPr>
        <p:spPr>
          <a:xfrm>
            <a:off x="9855306" y="1270635"/>
            <a:ext cx="59055" cy="59055"/>
          </a:xfrm>
          <a:prstGeom prst="ellipse">
            <a:avLst/>
          </a:prstGeom>
          <a:solidFill>
            <a:srgbClr val="34D3C0"/>
          </a:solidFill>
          <a:ln>
            <a:noFill/>
          </a:ln>
        </p:spPr>
        <p:txBody>
          <a:bodyPr/>
          <a:p/>
        </p:txBody>
      </p:sp>
      <p:sp>
        <p:nvSpPr>
          <p:cNvPr id="12" name="Ellipse 12"/>
          <p:cNvSpPr/>
          <p:nvPr/>
        </p:nvSpPr>
        <p:spPr>
          <a:xfrm>
            <a:off x="10105072" y="1237298"/>
            <a:ext cx="59055" cy="59055"/>
          </a:xfrm>
          <a:prstGeom prst="ellipse">
            <a:avLst/>
          </a:prstGeom>
          <a:solidFill>
            <a:srgbClr val="34D3C0"/>
          </a:solidFill>
          <a:ln>
            <a:noFill/>
          </a:ln>
        </p:spPr>
        <p:txBody>
          <a:bodyPr/>
          <a:p/>
        </p:txBody>
      </p:sp>
      <p:sp>
        <p:nvSpPr>
          <p:cNvPr id="13" name="Ellipse 13"/>
          <p:cNvSpPr/>
          <p:nvPr/>
        </p:nvSpPr>
        <p:spPr>
          <a:xfrm>
            <a:off x="10354839" y="1270635"/>
            <a:ext cx="59055" cy="59055"/>
          </a:xfrm>
          <a:prstGeom prst="ellipse">
            <a:avLst/>
          </a:prstGeom>
          <a:solidFill>
            <a:srgbClr val="34D3C0"/>
          </a:solidFill>
          <a:ln>
            <a:noFill/>
          </a:ln>
        </p:spPr>
        <p:txBody>
          <a:bodyPr/>
          <a:p/>
        </p:txBody>
      </p:sp>
      <p:sp>
        <p:nvSpPr>
          <p:cNvPr id="14" name="Ellipse 14"/>
          <p:cNvSpPr/>
          <p:nvPr/>
        </p:nvSpPr>
        <p:spPr>
          <a:xfrm>
            <a:off x="10604606" y="1337310"/>
            <a:ext cx="59055" cy="59055"/>
          </a:xfrm>
          <a:prstGeom prst="ellipse">
            <a:avLst/>
          </a:prstGeom>
          <a:solidFill>
            <a:srgbClr val="34D3C0"/>
          </a:solidFill>
          <a:ln>
            <a:noFill/>
          </a:ln>
        </p:spPr>
        <p:txBody>
          <a:bodyPr/>
          <a:p/>
        </p:txBody>
      </p:sp>
      <p:sp>
        <p:nvSpPr>
          <p:cNvPr id="15" name="Ellipse 15"/>
          <p:cNvSpPr/>
          <p:nvPr/>
        </p:nvSpPr>
        <p:spPr>
          <a:xfrm>
            <a:off x="10854373" y="1370648"/>
            <a:ext cx="59055" cy="59055"/>
          </a:xfrm>
          <a:prstGeom prst="ellipse">
            <a:avLst/>
          </a:prstGeom>
          <a:solidFill>
            <a:srgbClr val="34D3C0"/>
          </a:solidFill>
          <a:ln>
            <a:noFill/>
          </a:ln>
        </p:spPr>
        <p:txBody>
          <a:bodyPr/>
          <a:p/>
        </p:txBody>
      </p:sp>
      <p:sp>
        <p:nvSpPr>
          <p:cNvPr id="16" name="Ellipse 16"/>
          <p:cNvSpPr/>
          <p:nvPr/>
        </p:nvSpPr>
        <p:spPr>
          <a:xfrm>
            <a:off x="11104139" y="1337310"/>
            <a:ext cx="59055" cy="59055"/>
          </a:xfrm>
          <a:prstGeom prst="ellipse">
            <a:avLst/>
          </a:prstGeom>
          <a:solidFill>
            <a:srgbClr val="34D3C0"/>
          </a:solidFill>
          <a:ln>
            <a:noFill/>
          </a:ln>
        </p:spPr>
        <p:txBody>
          <a:bodyPr/>
          <a:p/>
        </p:txBody>
      </p:sp>
      <p:sp>
        <p:nvSpPr>
          <p:cNvPr id="17" name="Polyline 17"/>
          <p:cNvSpPr/>
          <p:nvPr/>
        </p:nvSpPr>
        <p:spPr>
          <a:xfrm>
            <a:off x="9010650" y="1638300"/>
            <a:ext cx="2247900" cy="152400"/>
          </a:xfrm>
          <a:custGeom>
            <a:avLst/>
            <a:gdLst/>
            <a:ahLst/>
            <a:cxnLst/>
            <a:rect l="l" t="t" r="r" b="b"/>
            <a:pathLst>
              <a:path w="2247900" h="152400">
                <a:moveTo>
                  <a:pt x="0" y="0"/>
                </a:moveTo>
                <a:lnTo>
                  <a:pt x="374650" y="152400"/>
                </a:lnTo>
                <a:lnTo>
                  <a:pt x="749300" y="0"/>
                </a:lnTo>
                <a:lnTo>
                  <a:pt x="1123950" y="152400"/>
                </a:lnTo>
                <a:lnTo>
                  <a:pt x="1498600" y="0"/>
                </a:lnTo>
                <a:lnTo>
                  <a:pt x="1873250" y="152400"/>
                </a:lnTo>
                <a:lnTo>
                  <a:pt x="2247900" y="0"/>
                </a:lnTo>
              </a:path>
            </a:pathLst>
          </a:custGeom>
          <a:noFill/>
          <a:ln w="24765" cap="rnd">
            <a:solidFill>
              <a:schemeClr val="accent2"/>
            </a:solidFill>
            <a:round/>
          </a:ln>
        </p:spPr>
        <p:txBody>
          <a:bodyPr/>
          <a:p/>
        </p:txBody>
      </p:sp>
      <p:sp>
        <p:nvSpPr>
          <p:cNvPr id="18" name="Ellipse 18"/>
          <p:cNvSpPr/>
          <p:nvPr/>
        </p:nvSpPr>
        <p:spPr>
          <a:xfrm>
            <a:off x="8968740" y="1596390"/>
            <a:ext cx="83820" cy="83820"/>
          </a:xfrm>
          <a:prstGeom prst="ellipse">
            <a:avLst/>
          </a:prstGeom>
          <a:solidFill>
            <a:schemeClr val="accent6"/>
          </a:solidFill>
          <a:ln w="19050">
            <a:solidFill>
              <a:schemeClr val="accent2"/>
            </a:solidFill>
          </a:ln>
        </p:spPr>
        <p:txBody>
          <a:bodyPr/>
          <a:p/>
        </p:txBody>
      </p:sp>
      <p:sp>
        <p:nvSpPr>
          <p:cNvPr id="19" name="Ellipse 19"/>
          <p:cNvSpPr/>
          <p:nvPr/>
        </p:nvSpPr>
        <p:spPr>
          <a:xfrm>
            <a:off x="9343390" y="1748790"/>
            <a:ext cx="83820" cy="83820"/>
          </a:xfrm>
          <a:prstGeom prst="ellipse">
            <a:avLst/>
          </a:prstGeom>
          <a:solidFill>
            <a:schemeClr val="accent6"/>
          </a:solidFill>
          <a:ln w="19050">
            <a:solidFill>
              <a:schemeClr val="accent2"/>
            </a:solidFill>
          </a:ln>
        </p:spPr>
        <p:txBody>
          <a:bodyPr/>
          <a:p/>
        </p:txBody>
      </p:sp>
      <p:sp>
        <p:nvSpPr>
          <p:cNvPr id="20" name="Ellipse 20"/>
          <p:cNvSpPr/>
          <p:nvPr/>
        </p:nvSpPr>
        <p:spPr>
          <a:xfrm>
            <a:off x="9718040" y="1596390"/>
            <a:ext cx="83820" cy="83820"/>
          </a:xfrm>
          <a:prstGeom prst="ellipse">
            <a:avLst/>
          </a:prstGeom>
          <a:solidFill>
            <a:schemeClr val="accent6"/>
          </a:solidFill>
          <a:ln w="19050">
            <a:solidFill>
              <a:schemeClr val="accent2"/>
            </a:solidFill>
          </a:ln>
        </p:spPr>
        <p:txBody>
          <a:bodyPr/>
          <a:p/>
        </p:txBody>
      </p:sp>
      <p:sp>
        <p:nvSpPr>
          <p:cNvPr id="21" name="Ellipse 21"/>
          <p:cNvSpPr/>
          <p:nvPr/>
        </p:nvSpPr>
        <p:spPr>
          <a:xfrm>
            <a:off x="10092690" y="1748790"/>
            <a:ext cx="83820" cy="83820"/>
          </a:xfrm>
          <a:prstGeom prst="ellipse">
            <a:avLst/>
          </a:prstGeom>
          <a:solidFill>
            <a:schemeClr val="accent6"/>
          </a:solidFill>
          <a:ln w="19050">
            <a:solidFill>
              <a:schemeClr val="accent2"/>
            </a:solidFill>
          </a:ln>
        </p:spPr>
        <p:txBody>
          <a:bodyPr/>
          <a:p/>
        </p:txBody>
      </p:sp>
      <p:sp>
        <p:nvSpPr>
          <p:cNvPr id="22" name="Ellipse 22"/>
          <p:cNvSpPr/>
          <p:nvPr/>
        </p:nvSpPr>
        <p:spPr>
          <a:xfrm>
            <a:off x="10467340" y="1596390"/>
            <a:ext cx="83820" cy="83820"/>
          </a:xfrm>
          <a:prstGeom prst="ellipse">
            <a:avLst/>
          </a:prstGeom>
          <a:solidFill>
            <a:schemeClr val="accent6"/>
          </a:solidFill>
          <a:ln w="19050">
            <a:solidFill>
              <a:schemeClr val="accent2"/>
            </a:solidFill>
          </a:ln>
        </p:spPr>
        <p:txBody>
          <a:bodyPr/>
          <a:p/>
        </p:txBody>
      </p:sp>
      <p:sp>
        <p:nvSpPr>
          <p:cNvPr id="23" name="Ellipse 23"/>
          <p:cNvSpPr/>
          <p:nvPr/>
        </p:nvSpPr>
        <p:spPr>
          <a:xfrm>
            <a:off x="10841990" y="1748790"/>
            <a:ext cx="83820" cy="83820"/>
          </a:xfrm>
          <a:prstGeom prst="ellipse">
            <a:avLst/>
          </a:prstGeom>
          <a:solidFill>
            <a:schemeClr val="accent6"/>
          </a:solidFill>
          <a:ln w="19050">
            <a:solidFill>
              <a:schemeClr val="accent2"/>
            </a:solidFill>
          </a:ln>
        </p:spPr>
        <p:txBody>
          <a:bodyPr/>
          <a:p/>
        </p:txBody>
      </p:sp>
      <p:sp>
        <p:nvSpPr>
          <p:cNvPr id="24" name="Ellipse 24"/>
          <p:cNvSpPr/>
          <p:nvPr/>
        </p:nvSpPr>
        <p:spPr>
          <a:xfrm>
            <a:off x="11216640" y="1596390"/>
            <a:ext cx="83820" cy="83820"/>
          </a:xfrm>
          <a:prstGeom prst="ellipse">
            <a:avLst/>
          </a:prstGeom>
          <a:solidFill>
            <a:schemeClr val="accent6"/>
          </a:solidFill>
          <a:ln w="19050">
            <a:solidFill>
              <a:schemeClr val="accent2"/>
            </a:solidFill>
          </a:ln>
        </p:spPr>
        <p:txBody>
          <a:bodyPr/>
          <a:p/>
        </p:txBody>
      </p:sp>
      <p:sp>
        <p:nvSpPr>
          <p:cNvPr id="25" name="Line 25"/>
          <p:cNvSpPr/>
          <p:nvPr/>
        </p:nvSpPr>
        <p:spPr>
          <a:xfrm>
            <a:off x="10134600" y="1409700"/>
            <a:ext cx="9525" cy="228600"/>
          </a:xfrm>
          <a:custGeom>
            <a:avLst/>
            <a:gdLst/>
            <a:ahLst/>
            <a:cxnLst/>
            <a:rect l="l" t="t" r="r" b="b"/>
            <a:pathLst>
              <a:path w="9525" h="228600">
                <a:moveTo>
                  <a:pt x="0" y="0"/>
                </a:moveTo>
                <a:lnTo>
                  <a:pt x="0" y="228600"/>
                </a:lnTo>
              </a:path>
            </a:pathLst>
          </a:custGeom>
          <a:noFill/>
          <a:ln w="20955" cap="rnd">
            <a:solidFill>
              <a:srgbClr val="F2C14E"/>
            </a:solidFill>
            <a:custDash>
              <a:ds d="136364" sp="136364"/>
            </a:custDash>
          </a:ln>
        </p:spPr>
        <p:txBody>
          <a:bodyPr/>
          <a:p/>
        </p:txBody>
      </p:sp>
      <p:sp>
        <p:nvSpPr>
          <p:cNvPr id="26" name="Ellipse 26"/>
          <p:cNvSpPr/>
          <p:nvPr/>
        </p:nvSpPr>
        <p:spPr>
          <a:xfrm>
            <a:off x="10096500" y="1485900"/>
            <a:ext cx="76200" cy="76200"/>
          </a:xfrm>
          <a:prstGeom prst="ellipse">
            <a:avLst/>
          </a:prstGeom>
          <a:solidFill>
            <a:srgbClr val="F2C14E"/>
          </a:solidFill>
          <a:ln>
            <a:noFill/>
          </a:ln>
        </p:spPr>
        <p:txBody>
          <a:bodyPr/>
          <a:p/>
        </p:txBody>
      </p:sp>
      <p:sp>
        <p:nvSpPr>
          <p:cNvPr id="27" name="TextBox 27"/>
          <p:cNvSpPr txBox="1"/>
          <p:nvPr/>
        </p:nvSpPr>
        <p:spPr>
          <a:xfrm>
            <a:off x="9308379" y="1941195"/>
            <a:ext cx="1652442" cy="176212"/>
          </a:xfrm>
          <a:prstGeom prst="rect">
            <a:avLst/>
          </a:prstGeom>
          <a:noFill/>
          <a:ln>
            <a:noFill/>
          </a:ln>
        </p:spPr>
        <p:txBody>
          <a:bodyPr wrap="none" lIns="0" tIns="0" rIns="0" bIns="0" anchor="t" anchorCtr="0">
            <a:spAutoFit/>
          </a:bodyPr>
          <a:lstStyle/>
          <a:p>
            <a:pPr algn="ctr"/>
            <a:r>
              <a:rPr lang="en-US" sz="900" b="1" dirty="0">
                <a:solidFill>
                  <a:srgbClr val="6E869C"/>
                </a:solidFill>
                <a:latin typeface="+mn-lt"/>
                <a:ea typeface="+mn-ea"/>
                <a:cs typeface="+mn-cs"/>
              </a:rPr>
              <a:t>RNA x protein -&gt; interact?</a:t>
            </a:r>
          </a:p>
        </p:txBody>
      </p:sp>
      <p:sp>
        <p:nvSpPr>
          <p:cNvPr id="28" name="TextBox 28"/>
          <p:cNvSpPr txBox="1"/>
          <p:nvPr/>
        </p:nvSpPr>
        <p:spPr>
          <a:xfrm>
            <a:off x="604076" y="2130504"/>
            <a:ext cx="5647872"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D. Matus · F. Runge · J. Franke · L. Gerne · M. Uhl · F. Hutter · R. Backofen</a:t>
            </a:r>
          </a:p>
        </p:txBody>
      </p:sp>
      <p:grpSp>
        <p:nvGrpSpPr>
          <p:cNvPr id="39" name="Group 39"/>
          <p:cNvGrpSpPr/>
          <p:nvPr/>
        </p:nvGrpSpPr>
        <p:grpSpPr>
          <a:xfrm>
            <a:off x="609600" y="2819400"/>
            <a:ext cx="3552825" cy="2209800"/>
            <a:chOff x="609600" y="2819400"/>
            <a:chExt cx="3552825" cy="2209800"/>
          </a:xfrm>
        </p:grpSpPr>
        <p:sp>
          <p:nvSpPr>
            <p:cNvPr id="29" name="Rectangle 29"/>
            <p:cNvSpPr/>
            <p:nvPr/>
          </p:nvSpPr>
          <p:spPr>
            <a:xfrm>
              <a:off x="609600" y="2819400"/>
              <a:ext cx="3552825" cy="2209800"/>
            </a:xfrm>
            <a:prstGeom prst="roundRect">
              <a:avLst>
                <a:gd name="adj" fmla="val 6034"/>
              </a:avLst>
            </a:prstGeom>
            <a:solidFill>
              <a:schemeClr val="accent5"/>
            </a:solidFill>
            <a:ln w="14288">
              <a:solidFill>
                <a:srgbClr val="26455F"/>
              </a:solidFill>
            </a:ln>
          </p:spPr>
        </p:sp>
        <p:sp>
          <p:nvSpPr>
            <p:cNvPr id="30" name="Rectangle 30"/>
            <p:cNvSpPr/>
            <p:nvPr/>
          </p:nvSpPr>
          <p:spPr>
            <a:xfrm>
              <a:off x="609600" y="2819400"/>
              <a:ext cx="3552825" cy="57150"/>
            </a:xfrm>
            <a:prstGeom prst="roundRect">
              <a:avLst>
                <a:gd name="adj" fmla="val 50000"/>
              </a:avLst>
            </a:prstGeom>
            <a:solidFill>
              <a:srgbClr val="F2685C"/>
            </a:solidFill>
            <a:ln>
              <a:noFill/>
            </a:ln>
          </p:spPr>
        </p:sp>
        <p:sp>
          <p:nvSpPr>
            <p:cNvPr id="31" name="TextBox 31"/>
            <p:cNvSpPr txBox="1"/>
            <p:nvPr/>
          </p:nvSpPr>
          <p:spPr>
            <a:xfrm>
              <a:off x="831342" y="3130868"/>
              <a:ext cx="1527788"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Slow to measure</a:t>
              </a:r>
            </a:p>
          </p:txBody>
        </p:sp>
        <p:sp>
          <p:nvSpPr>
            <p:cNvPr id="32" name="TextBox 32"/>
            <p:cNvSpPr txBox="1"/>
            <p:nvPr/>
          </p:nvSpPr>
          <p:spPr>
            <a:xfrm>
              <a:off x="833056" y="3491151"/>
              <a:ext cx="3198247"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RNA-protein interactions drive gene regulation,</a:t>
              </a:r>
            </a:p>
          </p:txBody>
        </p:sp>
        <p:sp>
          <p:nvSpPr>
            <p:cNvPr id="33" name="TextBox 33"/>
            <p:cNvSpPr txBox="1"/>
            <p:nvPr/>
          </p:nvSpPr>
          <p:spPr>
            <a:xfrm>
              <a:off x="833056" y="3681651"/>
              <a:ext cx="3246283"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but measuring them in the lab is slow and costly,</a:t>
              </a:r>
            </a:p>
          </p:txBody>
        </p:sp>
        <p:sp>
          <p:nvSpPr>
            <p:cNvPr id="34" name="TextBox 34"/>
            <p:cNvSpPr txBox="1"/>
            <p:nvPr/>
          </p:nvSpPr>
          <p:spPr>
            <a:xfrm>
              <a:off x="833056" y="3872151"/>
              <a:ext cx="2505267"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and existing predictors lean on small,</a:t>
              </a:r>
            </a:p>
          </p:txBody>
        </p:sp>
        <p:sp>
          <p:nvSpPr>
            <p:cNvPr id="35" name="TextBox 35"/>
            <p:cNvSpPr txBox="1"/>
            <p:nvPr/>
          </p:nvSpPr>
          <p:spPr>
            <a:xfrm>
              <a:off x="833056" y="4062651"/>
              <a:ext cx="1818637"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protein-specific datasets.</a:t>
              </a:r>
            </a:p>
          </p:txBody>
        </p:sp>
        <p:sp>
          <p:nvSpPr>
            <p:cNvPr id="36" name="Rectangle 36"/>
            <p:cNvSpPr/>
            <p:nvPr/>
          </p:nvSpPr>
          <p:spPr>
            <a:xfrm>
              <a:off x="838200" y="4610100"/>
              <a:ext cx="3095625" cy="285750"/>
            </a:xfrm>
            <a:prstGeom prst="roundRect">
              <a:avLst>
                <a:gd name="adj" fmla="val 26667"/>
              </a:avLst>
            </a:prstGeom>
            <a:solidFill>
              <a:schemeClr val="accent6"/>
            </a:solidFill>
            <a:ln w="14288">
              <a:solidFill>
                <a:srgbClr val="26455F"/>
              </a:solidFill>
            </a:ln>
          </p:spPr>
        </p:sp>
        <p:sp>
          <p:nvSpPr>
            <p:cNvPr id="37" name="Ellipse 37"/>
            <p:cNvSpPr/>
            <p:nvPr/>
          </p:nvSpPr>
          <p:spPr>
            <a:xfrm>
              <a:off x="962025" y="4705350"/>
              <a:ext cx="95250" cy="95250"/>
            </a:xfrm>
            <a:prstGeom prst="ellipse">
              <a:avLst/>
            </a:prstGeom>
            <a:solidFill>
              <a:srgbClr val="F2685C"/>
            </a:solidFill>
            <a:ln>
              <a:noFill/>
            </a:ln>
          </p:spPr>
        </p:sp>
        <p:sp>
          <p:nvSpPr>
            <p:cNvPr id="38" name="TextBox 38"/>
            <p:cNvSpPr txBox="1"/>
            <p:nvPr/>
          </p:nvSpPr>
          <p:spPr>
            <a:xfrm>
              <a:off x="1156526" y="4692729"/>
              <a:ext cx="696672" cy="212693"/>
            </a:xfrm>
            <a:prstGeom prst="rect">
              <a:avLst/>
            </a:prstGeom>
            <a:noFill/>
            <a:ln>
              <a:noFill/>
            </a:ln>
          </p:spPr>
          <p:txBody>
            <a:bodyPr wrap="none" lIns="0" tIns="0" rIns="0" bIns="0" anchor="t" anchorCtr="0">
              <a:spAutoFit/>
            </a:bodyPr>
            <a:lstStyle/>
            <a:p>
              <a:pPr algn="l"/>
              <a:r>
                <a:rPr lang="en-US" sz="1090" b="1" dirty="0">
                  <a:solidFill>
                    <a:schemeClr val="dk1"/>
                  </a:solidFill>
                  <a:latin typeface="+mn-lt"/>
                  <a:ea typeface="+mn-ea"/>
                  <a:cs typeface="+mn-cs"/>
                </a:rPr>
                <a:t>lab assay</a:t>
              </a:r>
            </a:p>
          </p:txBody>
        </p:sp>
      </p:grpSp>
      <p:grpSp>
        <p:nvGrpSpPr>
          <p:cNvPr id="50" name="Group 50"/>
          <p:cNvGrpSpPr/>
          <p:nvPr/>
        </p:nvGrpSpPr>
        <p:grpSpPr>
          <a:xfrm>
            <a:off x="4333875" y="2819400"/>
            <a:ext cx="3552825" cy="2209800"/>
            <a:chOff x="4333875" y="2819400"/>
            <a:chExt cx="3552825" cy="2209800"/>
          </a:xfrm>
        </p:grpSpPr>
        <p:sp>
          <p:nvSpPr>
            <p:cNvPr id="40" name="Rectangle 40"/>
            <p:cNvSpPr/>
            <p:nvPr/>
          </p:nvSpPr>
          <p:spPr>
            <a:xfrm>
              <a:off x="4333875" y="2819400"/>
              <a:ext cx="3552825" cy="2209800"/>
            </a:xfrm>
            <a:prstGeom prst="roundRect">
              <a:avLst>
                <a:gd name="adj" fmla="val 6034"/>
              </a:avLst>
            </a:prstGeom>
            <a:solidFill>
              <a:schemeClr val="accent5"/>
            </a:solidFill>
            <a:ln w="14288">
              <a:solidFill>
                <a:srgbClr val="26455F"/>
              </a:solidFill>
            </a:ln>
          </p:spPr>
        </p:sp>
        <p:sp>
          <p:nvSpPr>
            <p:cNvPr id="41" name="Rectangle 41"/>
            <p:cNvSpPr/>
            <p:nvPr/>
          </p:nvSpPr>
          <p:spPr>
            <a:xfrm>
              <a:off x="4333875" y="2819400"/>
              <a:ext cx="3552825" cy="57150"/>
            </a:xfrm>
            <a:prstGeom prst="roundRect">
              <a:avLst>
                <a:gd name="adj" fmla="val 50000"/>
              </a:avLst>
            </a:prstGeom>
            <a:solidFill>
              <a:schemeClr val="accent2"/>
            </a:solidFill>
            <a:ln>
              <a:noFill/>
            </a:ln>
          </p:spPr>
        </p:sp>
        <p:sp>
          <p:nvSpPr>
            <p:cNvPr id="42" name="TextBox 42"/>
            <p:cNvSpPr txBox="1"/>
            <p:nvPr/>
          </p:nvSpPr>
          <p:spPr>
            <a:xfrm>
              <a:off x="4555617" y="3130868"/>
              <a:ext cx="1814713"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A dataset + a model</a:t>
              </a:r>
            </a:p>
          </p:txBody>
        </p:sp>
        <p:sp>
          <p:nvSpPr>
            <p:cNvPr id="43" name="TextBox 43"/>
            <p:cNvSpPr txBox="1"/>
            <p:nvPr/>
          </p:nvSpPr>
          <p:spPr>
            <a:xfrm>
              <a:off x="4557332" y="3491151"/>
              <a:ext cx="3239478"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This work releases RNAInterAct, a large curated</a:t>
              </a:r>
            </a:p>
          </p:txBody>
        </p:sp>
        <p:sp>
          <p:nvSpPr>
            <p:cNvPr id="44" name="TextBox 44"/>
            <p:cNvSpPr txBox="1"/>
            <p:nvPr/>
          </p:nvSpPr>
          <p:spPr>
            <a:xfrm>
              <a:off x="4557332" y="3681651"/>
              <a:ext cx="3233061"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set of non-coding RNA-protein interactions, and</a:t>
              </a:r>
            </a:p>
          </p:txBody>
        </p:sp>
        <p:sp>
          <p:nvSpPr>
            <p:cNvPr id="45" name="TextBox 45"/>
            <p:cNvSpPr txBox="1"/>
            <p:nvPr/>
          </p:nvSpPr>
          <p:spPr>
            <a:xfrm>
              <a:off x="4557332" y="3872151"/>
              <a:ext cx="3212230"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RPIembeddor, a transformer that classifies any</a:t>
              </a:r>
            </a:p>
          </p:txBody>
        </p:sp>
        <p:sp>
          <p:nvSpPr>
            <p:cNvPr id="46" name="TextBox 46"/>
            <p:cNvSpPr txBox="1"/>
            <p:nvPr/>
          </p:nvSpPr>
          <p:spPr>
            <a:xfrm>
              <a:off x="4557332" y="4062651"/>
              <a:ext cx="2580454"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RNA-protein pair from sequence alone.</a:t>
              </a:r>
            </a:p>
          </p:txBody>
        </p:sp>
        <p:sp>
          <p:nvSpPr>
            <p:cNvPr id="47" name="Rectangle 47"/>
            <p:cNvSpPr/>
            <p:nvPr/>
          </p:nvSpPr>
          <p:spPr>
            <a:xfrm>
              <a:off x="4562475" y="4610100"/>
              <a:ext cx="3095625" cy="285750"/>
            </a:xfrm>
            <a:prstGeom prst="roundRect">
              <a:avLst>
                <a:gd name="adj" fmla="val 26667"/>
              </a:avLst>
            </a:prstGeom>
            <a:solidFill>
              <a:schemeClr val="accent6"/>
            </a:solidFill>
            <a:ln w="14288">
              <a:solidFill>
                <a:srgbClr val="26455F"/>
              </a:solidFill>
            </a:ln>
          </p:spPr>
        </p:sp>
        <p:sp>
          <p:nvSpPr>
            <p:cNvPr id="48" name="Ellipse 48"/>
            <p:cNvSpPr/>
            <p:nvPr/>
          </p:nvSpPr>
          <p:spPr>
            <a:xfrm>
              <a:off x="4686300" y="4705350"/>
              <a:ext cx="95250" cy="95250"/>
            </a:xfrm>
            <a:prstGeom prst="ellipse">
              <a:avLst/>
            </a:prstGeom>
            <a:solidFill>
              <a:schemeClr val="accent2"/>
            </a:solidFill>
            <a:ln>
              <a:noFill/>
            </a:ln>
          </p:spPr>
        </p:sp>
        <p:sp>
          <p:nvSpPr>
            <p:cNvPr id="49" name="TextBox 49"/>
            <p:cNvSpPr txBox="1"/>
            <p:nvPr/>
          </p:nvSpPr>
          <p:spPr>
            <a:xfrm>
              <a:off x="4880800" y="4692729"/>
              <a:ext cx="2047357" cy="212693"/>
            </a:xfrm>
            <a:prstGeom prst="rect">
              <a:avLst/>
            </a:prstGeom>
            <a:noFill/>
            <a:ln>
              <a:noFill/>
            </a:ln>
          </p:spPr>
          <p:txBody>
            <a:bodyPr wrap="none" lIns="0" tIns="0" rIns="0" bIns="0" anchor="t" anchorCtr="0">
              <a:spAutoFit/>
            </a:bodyPr>
            <a:lstStyle/>
            <a:p>
              <a:pPr algn="l"/>
              <a:r>
                <a:rPr lang="en-US" sz="1090" b="1" dirty="0">
                  <a:solidFill>
                    <a:schemeClr val="dk1"/>
                  </a:solidFill>
                  <a:latin typeface="+mn-lt"/>
                  <a:ea typeface="+mn-ea"/>
                  <a:cs typeface="+mn-cs"/>
                </a:rPr>
                <a:t>RNAInterAct + RPIembeddor</a:t>
              </a:r>
            </a:p>
          </p:txBody>
        </p:sp>
      </p:grpSp>
      <p:grpSp>
        <p:nvGrpSpPr>
          <p:cNvPr id="61" name="Group 61"/>
          <p:cNvGrpSpPr/>
          <p:nvPr/>
        </p:nvGrpSpPr>
        <p:grpSpPr>
          <a:xfrm>
            <a:off x="8058150" y="2819400"/>
            <a:ext cx="3686738" cy="2209800"/>
            <a:chOff x="8058150" y="2819400"/>
            <a:chExt cx="3686738" cy="2209800"/>
          </a:xfrm>
        </p:grpSpPr>
        <p:sp>
          <p:nvSpPr>
            <p:cNvPr id="51" name="Rectangle 51"/>
            <p:cNvSpPr/>
            <p:nvPr/>
          </p:nvSpPr>
          <p:spPr>
            <a:xfrm>
              <a:off x="8058150" y="2819400"/>
              <a:ext cx="3552825" cy="2209800"/>
            </a:xfrm>
            <a:prstGeom prst="roundRect">
              <a:avLst>
                <a:gd name="adj" fmla="val 6034"/>
              </a:avLst>
            </a:prstGeom>
            <a:solidFill>
              <a:schemeClr val="accent5"/>
            </a:solidFill>
            <a:ln w="14288">
              <a:solidFill>
                <a:srgbClr val="26455F"/>
              </a:solidFill>
            </a:ln>
          </p:spPr>
        </p:sp>
        <p:sp>
          <p:nvSpPr>
            <p:cNvPr id="52" name="Rectangle 52"/>
            <p:cNvSpPr/>
            <p:nvPr/>
          </p:nvSpPr>
          <p:spPr>
            <a:xfrm>
              <a:off x="8058150" y="2819400"/>
              <a:ext cx="3552825" cy="57150"/>
            </a:xfrm>
            <a:prstGeom prst="roundRect">
              <a:avLst>
                <a:gd name="adj" fmla="val 50000"/>
              </a:avLst>
            </a:prstGeom>
            <a:solidFill>
              <a:srgbClr val="48C78E"/>
            </a:solidFill>
            <a:ln>
              <a:noFill/>
            </a:ln>
          </p:spPr>
        </p:sp>
        <p:sp>
          <p:nvSpPr>
            <p:cNvPr id="53" name="TextBox 53"/>
            <p:cNvSpPr txBox="1"/>
            <p:nvPr/>
          </p:nvSpPr>
          <p:spPr>
            <a:xfrm>
              <a:off x="8279892" y="3130868"/>
              <a:ext cx="2109462"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Two foundation models</a:t>
              </a:r>
            </a:p>
          </p:txBody>
        </p:sp>
        <p:sp>
          <p:nvSpPr>
            <p:cNvPr id="54" name="TextBox 54"/>
            <p:cNvSpPr txBox="1"/>
            <p:nvPr/>
          </p:nvSpPr>
          <p:spPr>
            <a:xfrm>
              <a:off x="8281606" y="3491151"/>
              <a:ext cx="3463282"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Feeding embeddings from RNA-FM for RNA and ESM-2</a:t>
              </a:r>
            </a:p>
          </p:txBody>
        </p:sp>
        <p:sp>
          <p:nvSpPr>
            <p:cNvPr id="55" name="TextBox 55"/>
            <p:cNvSpPr txBox="1"/>
            <p:nvPr/>
          </p:nvSpPr>
          <p:spPr>
            <a:xfrm>
              <a:off x="8281606" y="3681651"/>
              <a:ext cx="3402644"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for proteins into an attention network beats prior</a:t>
              </a:r>
            </a:p>
          </p:txBody>
        </p:sp>
        <p:sp>
          <p:nvSpPr>
            <p:cNvPr id="56" name="TextBox 56"/>
            <p:cNvSpPr txBox="1"/>
            <p:nvPr/>
          </p:nvSpPr>
          <p:spPr>
            <a:xfrm>
              <a:off x="8281606" y="3872151"/>
              <a:ext cx="3124170"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state of the art and generalizes to unseen RNA</a:t>
              </a:r>
            </a:p>
          </p:txBody>
        </p:sp>
        <p:sp>
          <p:nvSpPr>
            <p:cNvPr id="57" name="TextBox 57"/>
            <p:cNvSpPr txBox="1"/>
            <p:nvPr/>
          </p:nvSpPr>
          <p:spPr>
            <a:xfrm>
              <a:off x="8281606" y="4062651"/>
              <a:ext cx="608538"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families.</a:t>
              </a:r>
            </a:p>
          </p:txBody>
        </p:sp>
        <p:sp>
          <p:nvSpPr>
            <p:cNvPr id="58" name="Rectangle 58"/>
            <p:cNvSpPr/>
            <p:nvPr/>
          </p:nvSpPr>
          <p:spPr>
            <a:xfrm>
              <a:off x="8286750" y="4610100"/>
              <a:ext cx="3095625" cy="285750"/>
            </a:xfrm>
            <a:prstGeom prst="roundRect">
              <a:avLst>
                <a:gd name="adj" fmla="val 26667"/>
              </a:avLst>
            </a:prstGeom>
            <a:solidFill>
              <a:schemeClr val="accent6"/>
            </a:solidFill>
            <a:ln w="14288">
              <a:solidFill>
                <a:srgbClr val="26455F"/>
              </a:solidFill>
            </a:ln>
          </p:spPr>
        </p:sp>
        <p:sp>
          <p:nvSpPr>
            <p:cNvPr id="59" name="Ellipse 59"/>
            <p:cNvSpPr/>
            <p:nvPr/>
          </p:nvSpPr>
          <p:spPr>
            <a:xfrm>
              <a:off x="8410575" y="4705350"/>
              <a:ext cx="95250" cy="95250"/>
            </a:xfrm>
            <a:prstGeom prst="ellipse">
              <a:avLst/>
            </a:prstGeom>
            <a:solidFill>
              <a:srgbClr val="48C78E"/>
            </a:solidFill>
            <a:ln>
              <a:noFill/>
            </a:ln>
          </p:spPr>
        </p:sp>
        <p:sp>
          <p:nvSpPr>
            <p:cNvPr id="60" name="TextBox 60"/>
            <p:cNvSpPr txBox="1"/>
            <p:nvPr/>
          </p:nvSpPr>
          <p:spPr>
            <a:xfrm>
              <a:off x="8605076" y="4692729"/>
              <a:ext cx="1248281" cy="212693"/>
            </a:xfrm>
            <a:prstGeom prst="rect">
              <a:avLst/>
            </a:prstGeom>
            <a:noFill/>
            <a:ln>
              <a:noFill/>
            </a:ln>
          </p:spPr>
          <p:txBody>
            <a:bodyPr wrap="none" lIns="0" tIns="0" rIns="0" bIns="0" anchor="t" anchorCtr="0">
              <a:spAutoFit/>
            </a:bodyPr>
            <a:lstStyle/>
            <a:p>
              <a:pPr algn="l"/>
              <a:r>
                <a:rPr lang="en-US" sz="1090" b="1" dirty="0">
                  <a:solidFill>
                    <a:schemeClr val="dk1"/>
                  </a:solidFill>
                  <a:latin typeface="+mn-lt"/>
                  <a:ea typeface="+mn-ea"/>
                  <a:cs typeface="+mn-cs"/>
                </a:rPr>
                <a:t>RNA-FM + ESM-2</a:t>
              </a:r>
            </a:p>
          </p:txBody>
        </p:sp>
      </p:grpSp>
      <p:sp>
        <p:nvSpPr>
          <p:cNvPr id="62" name="Line 62"/>
          <p:cNvSpPr/>
          <p:nvPr/>
        </p:nvSpPr>
        <p:spPr>
          <a:xfrm>
            <a:off x="609600" y="5334000"/>
            <a:ext cx="10972800" cy="9525"/>
          </a:xfrm>
          <a:custGeom>
            <a:avLst/>
            <a:gdLst/>
            <a:ahLst/>
            <a:cxnLst/>
            <a:rect l="l" t="t" r="r" b="b"/>
            <a:pathLst>
              <a:path w="10972800" h="9525">
                <a:moveTo>
                  <a:pt x="0" y="0"/>
                </a:moveTo>
                <a:lnTo>
                  <a:pt x="10972800" y="0"/>
                </a:lnTo>
              </a:path>
            </a:pathLst>
          </a:custGeom>
          <a:noFill/>
          <a:ln w="9525" cap="rnd">
            <a:solidFill>
              <a:srgbClr val="26455F"/>
            </a:solidFill>
          </a:ln>
        </p:spPr>
        <p:txBody>
          <a:bodyPr/>
          <a:p/>
        </p:txBody>
      </p:sp>
      <p:sp>
        <p:nvSpPr>
          <p:cNvPr id="63" name="TextBox 63"/>
          <p:cNvSpPr txBox="1"/>
          <p:nvPr/>
        </p:nvSpPr>
        <p:spPr>
          <a:xfrm>
            <a:off x="604456" y="5567601"/>
            <a:ext cx="3472326" cy="198025"/>
          </a:xfrm>
          <a:prstGeom prst="rect">
            <a:avLst/>
          </a:prstGeom>
          <a:noFill/>
          <a:ln>
            <a:noFill/>
          </a:ln>
        </p:spPr>
        <p:txBody>
          <a:bodyPr wrap="none" lIns="0" tIns="0" rIns="0" bIns="0" anchor="t" anchorCtr="0">
            <a:spAutoFit/>
          </a:bodyPr>
          <a:lstStyle/>
          <a:p>
            <a:pPr algn="l"/>
            <a:r>
              <a:rPr lang="en-US" sz="1010" b="1" dirty="0">
                <a:solidFill>
                  <a:schemeClr val="accent2"/>
                </a:solidFill>
                <a:latin typeface="+mn-lt"/>
                <a:ea typeface="+mn-ea"/>
                <a:cs typeface="+mn-cs"/>
              </a:rPr>
              <a:t>biorxiv.org/content/10.1101/2024.11.08.622607</a:t>
            </a:r>
          </a:p>
        </p:txBody>
      </p:sp>
      <p:sp>
        <p:nvSpPr>
          <p:cNvPr id="64" name="TextBox 64"/>
          <p:cNvSpPr txBox="1"/>
          <p:nvPr/>
        </p:nvSpPr>
        <p:spPr>
          <a:xfrm>
            <a:off x="7148667" y="5563552"/>
            <a:ext cx="4439067"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Decide if any RNA and protein interact, from sequence alone.</a:t>
            </a:r>
          </a:p>
        </p:txBody>
      </p:sp>
      <p:sp>
        <p:nvSpPr>
          <p:cNvPr id="65" name="cue_s01_c1_rna_protein_interactions_drive_gene" title="cue_s01_c1_rna_protein_interactions_drive_gene" descr="cue_s01_c1_rna_protein_interactions_drive_gene RNA-protein interactions drive gene regulation, yet measuring them in the lab is slow and costly, and existing predictors lean on small, protein-specific datasets."/>
          <p:cNvSpPr/>
          <p:nvPr/>
        </p:nvSpPr>
        <p:spPr>
          <a:xfrm>
            <a:off x="609600" y="2819323"/>
            <a:ext cx="3552748" cy="22096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cue_s01_c2_work_introduces_rnainteract_large_cu" title="cue_s01_c2_work_introduces_rnainteract_large_cu" descr="cue_s01_c2_work_introduces_rnainteract_large_cu This work introduces RNAInterAct, a large curated dataset of non-coding RNA-protein interactions, and RPIembeddor, a transformer model that classifies whether any RNA and protein interact using only their sequences."/>
          <p:cNvSpPr/>
          <p:nvPr/>
        </p:nvSpPr>
        <p:spPr>
          <a:xfrm>
            <a:off x="4334256" y="2819323"/>
            <a:ext cx="3552748" cy="22096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cue_s01_c3_feeding_embeddings_two_foundation_mo" title="cue_s01_c3_feeding_embeddings_two_foundation_mo" descr="cue_s01_c3_feeding_embeddings_two_foundation_mo By feeding embeddings from two foundation models, RNA-FM for RNA and ESM-2 for proteins, into an attention-based network, RPIembeddor outperforms prior state-of-the-art methods and generalizes to unseen RNA families and data distributions."/>
          <p:cNvSpPr/>
          <p:nvPr/>
        </p:nvSpPr>
        <p:spPr>
          <a:xfrm>
            <a:off x="8057692" y="2819323"/>
            <a:ext cx="3686860" cy="22096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882792"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PROBLEM</a:t>
            </a:r>
          </a:p>
        </p:txBody>
      </p:sp>
      <p:sp>
        <p:nvSpPr>
          <p:cNvPr id="4" name="TextBox 4"/>
          <p:cNvSpPr txBox="1"/>
          <p:nvPr/>
        </p:nvSpPr>
        <p:spPr>
          <a:xfrm>
            <a:off x="598170" y="804862"/>
            <a:ext cx="6457653"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No general predictor from sequence alone</a:t>
            </a:r>
          </a:p>
        </p:txBody>
      </p:sp>
      <p:grpSp>
        <p:nvGrpSpPr>
          <p:cNvPr id="35" name="Group 35"/>
          <p:cNvGrpSpPr/>
          <p:nvPr/>
        </p:nvGrpSpPr>
        <p:grpSpPr>
          <a:xfrm>
            <a:off x="609600" y="1504950"/>
            <a:ext cx="3848100" cy="3733800"/>
            <a:chOff x="609600" y="1504950"/>
            <a:chExt cx="3848100" cy="3733800"/>
          </a:xfrm>
        </p:grpSpPr>
        <p:sp>
          <p:nvSpPr>
            <p:cNvPr id="5" name="Rectangle 5"/>
            <p:cNvSpPr/>
            <p:nvPr/>
          </p:nvSpPr>
          <p:spPr>
            <a:xfrm>
              <a:off x="609600" y="1504950"/>
              <a:ext cx="3848100" cy="3733800"/>
            </a:xfrm>
            <a:prstGeom prst="roundRect">
              <a:avLst>
                <a:gd name="adj" fmla="val 3571"/>
              </a:avLst>
            </a:prstGeom>
            <a:solidFill>
              <a:schemeClr val="accent5"/>
            </a:solidFill>
            <a:ln w="14288">
              <a:solidFill>
                <a:srgbClr val="26455F"/>
              </a:solidFill>
            </a:ln>
          </p:spPr>
        </p:sp>
        <p:sp>
          <p:nvSpPr>
            <p:cNvPr id="6" name="Rectangle 6"/>
            <p:cNvSpPr/>
            <p:nvPr/>
          </p:nvSpPr>
          <p:spPr>
            <a:xfrm>
              <a:off x="609600" y="1504950"/>
              <a:ext cx="57150" cy="3733800"/>
            </a:xfrm>
            <a:prstGeom prst="roundRect">
              <a:avLst>
                <a:gd name="adj" fmla="val 50000"/>
              </a:avLst>
            </a:prstGeom>
            <a:solidFill>
              <a:schemeClr val="accent2"/>
            </a:solidFill>
            <a:ln>
              <a:noFill/>
            </a:ln>
          </p:spPr>
        </p:sp>
        <p:sp>
          <p:nvSpPr>
            <p:cNvPr id="7" name="TextBox 7"/>
            <p:cNvSpPr txBox="1"/>
            <p:nvPr/>
          </p:nvSpPr>
          <p:spPr>
            <a:xfrm>
              <a:off x="869442" y="1778318"/>
              <a:ext cx="2675326"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ncRNAs act through proteins</a:t>
              </a:r>
            </a:p>
          </p:txBody>
        </p:sp>
        <p:sp>
          <p:nvSpPr>
            <p:cNvPr id="8" name="TextBox 8"/>
            <p:cNvSpPr txBox="1"/>
            <p:nvPr/>
          </p:nvSpPr>
          <p:spPr>
            <a:xfrm>
              <a:off x="870776" y="2168604"/>
              <a:ext cx="2935213"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Non-coding RNAs regulate the cell largely</a:t>
              </a:r>
            </a:p>
          </p:txBody>
        </p:sp>
        <p:sp>
          <p:nvSpPr>
            <p:cNvPr id="9" name="TextBox 9"/>
            <p:cNvSpPr txBox="1"/>
            <p:nvPr/>
          </p:nvSpPr>
          <p:spPr>
            <a:xfrm>
              <a:off x="870776" y="2387679"/>
              <a:ext cx="3019133"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through their interactions with proteins,</a:t>
              </a:r>
            </a:p>
          </p:txBody>
        </p:sp>
        <p:sp>
          <p:nvSpPr>
            <p:cNvPr id="10" name="TextBox 10"/>
            <p:cNvSpPr txBox="1"/>
            <p:nvPr/>
          </p:nvSpPr>
          <p:spPr>
            <a:xfrm>
              <a:off x="870776" y="2606754"/>
              <a:ext cx="2241433"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but mapping these interactions</a:t>
              </a:r>
            </a:p>
          </p:txBody>
        </p:sp>
        <p:sp>
          <p:nvSpPr>
            <p:cNvPr id="11" name="TextBox 11"/>
            <p:cNvSpPr txBox="1"/>
            <p:nvPr/>
          </p:nvSpPr>
          <p:spPr>
            <a:xfrm>
              <a:off x="870776" y="2825829"/>
              <a:ext cx="2446863"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experimentally is slow and costly.</a:t>
              </a:r>
            </a:p>
          </p:txBody>
        </p:sp>
        <p:sp>
          <p:nvSpPr>
            <p:cNvPr id="12" name="Rectangle 12"/>
            <p:cNvSpPr/>
            <p:nvPr/>
          </p:nvSpPr>
          <p:spPr>
            <a:xfrm>
              <a:off x="876300" y="3390900"/>
              <a:ext cx="3276600" cy="1428750"/>
            </a:xfrm>
            <a:prstGeom prst="roundRect">
              <a:avLst>
                <a:gd name="adj" fmla="val 6667"/>
              </a:avLst>
            </a:prstGeom>
            <a:solidFill>
              <a:schemeClr val="accent6"/>
            </a:solidFill>
            <a:ln w="14288">
              <a:solidFill>
                <a:srgbClr val="26455F"/>
              </a:solidFill>
            </a:ln>
          </p:spPr>
        </p:sp>
        <p:sp>
          <p:nvSpPr>
            <p:cNvPr id="13" name="TextBox 13"/>
            <p:cNvSpPr txBox="1"/>
            <p:nvPr/>
          </p:nvSpPr>
          <p:spPr>
            <a:xfrm>
              <a:off x="1062038" y="3556397"/>
              <a:ext cx="1762972" cy="183356"/>
            </a:xfrm>
            <a:prstGeom prst="rect">
              <a:avLst/>
            </a:prstGeom>
            <a:noFill/>
            <a:ln>
              <a:noFill/>
            </a:ln>
          </p:spPr>
          <p:txBody>
            <a:bodyPr wrap="none" lIns="0" tIns="0" rIns="0" bIns="0" anchor="t" anchorCtr="0">
              <a:spAutoFit/>
            </a:bodyPr>
            <a:lstStyle/>
            <a:p>
              <a:pPr algn="l"/>
              <a:r>
                <a:rPr lang="en-US" sz="940" b="1" dirty="0">
                  <a:solidFill>
                    <a:srgbClr val="6E869C"/>
                  </a:solidFill>
                  <a:latin typeface="+mn-lt"/>
                  <a:ea typeface="+mn-ea"/>
                  <a:cs typeface="+mn-cs"/>
                </a:rPr>
                <a:t>an RNA-protein binding pair</a:t>
              </a:r>
            </a:p>
          </p:txBody>
        </p:sp>
        <p:sp>
          <p:nvSpPr>
            <p:cNvPr id="14" name="Polyline 14"/>
            <p:cNvSpPr/>
            <p:nvPr/>
          </p:nvSpPr>
          <p:spPr>
            <a:xfrm>
              <a:off x="1066800" y="3933825"/>
              <a:ext cx="2895600" cy="133144"/>
            </a:xfrm>
            <a:custGeom>
              <a:avLst/>
              <a:gdLst/>
              <a:ahLst/>
              <a:cxnLst/>
              <a:rect l="l" t="t" r="r" b="b"/>
              <a:pathLst>
                <a:path w="2895600" h="133144">
                  <a:moveTo>
                    <a:pt x="0" y="66675"/>
                  </a:moveTo>
                  <a:lnTo>
                    <a:pt x="72390" y="82240"/>
                  </a:lnTo>
                  <a:lnTo>
                    <a:pt x="144780" y="96945"/>
                  </a:lnTo>
                  <a:lnTo>
                    <a:pt x="217170" y="109977"/>
                  </a:lnTo>
                  <a:lnTo>
                    <a:pt x="289560" y="120616"/>
                  </a:lnTo>
                  <a:lnTo>
                    <a:pt x="361950" y="128275"/>
                  </a:lnTo>
                  <a:lnTo>
                    <a:pt x="434340" y="132529"/>
                  </a:lnTo>
                  <a:lnTo>
                    <a:pt x="506730" y="133144"/>
                  </a:lnTo>
                  <a:lnTo>
                    <a:pt x="579120" y="130087"/>
                  </a:lnTo>
                  <a:lnTo>
                    <a:pt x="651510" y="123525"/>
                  </a:lnTo>
                  <a:lnTo>
                    <a:pt x="723900" y="113821"/>
                  </a:lnTo>
                  <a:lnTo>
                    <a:pt x="796290" y="101513"/>
                  </a:lnTo>
                  <a:lnTo>
                    <a:pt x="868680" y="87279"/>
                  </a:lnTo>
                  <a:lnTo>
                    <a:pt x="941070" y="71906"/>
                  </a:lnTo>
                  <a:lnTo>
                    <a:pt x="1013460" y="56245"/>
                  </a:lnTo>
                  <a:lnTo>
                    <a:pt x="1085850" y="41160"/>
                  </a:lnTo>
                  <a:lnTo>
                    <a:pt x="1158240" y="27484"/>
                  </a:lnTo>
                  <a:lnTo>
                    <a:pt x="1230630" y="15975"/>
                  </a:lnTo>
                  <a:lnTo>
                    <a:pt x="1303020" y="7267"/>
                  </a:lnTo>
                  <a:lnTo>
                    <a:pt x="1375410" y="1842"/>
                  </a:lnTo>
                  <a:lnTo>
                    <a:pt x="1447800" y="0"/>
                  </a:lnTo>
                  <a:lnTo>
                    <a:pt x="1520190" y="1842"/>
                  </a:lnTo>
                  <a:lnTo>
                    <a:pt x="1592580" y="7267"/>
                  </a:lnTo>
                  <a:lnTo>
                    <a:pt x="1664970" y="15975"/>
                  </a:lnTo>
                  <a:lnTo>
                    <a:pt x="1737360" y="27484"/>
                  </a:lnTo>
                  <a:lnTo>
                    <a:pt x="1809750" y="41160"/>
                  </a:lnTo>
                  <a:lnTo>
                    <a:pt x="1882140" y="56245"/>
                  </a:lnTo>
                  <a:lnTo>
                    <a:pt x="1954530" y="71906"/>
                  </a:lnTo>
                  <a:lnTo>
                    <a:pt x="2026920" y="87279"/>
                  </a:lnTo>
                  <a:lnTo>
                    <a:pt x="2099310" y="101513"/>
                  </a:lnTo>
                  <a:lnTo>
                    <a:pt x="2171700" y="113821"/>
                  </a:lnTo>
                  <a:lnTo>
                    <a:pt x="2244090" y="123525"/>
                  </a:lnTo>
                  <a:lnTo>
                    <a:pt x="2316480" y="130087"/>
                  </a:lnTo>
                  <a:lnTo>
                    <a:pt x="2388870" y="133144"/>
                  </a:lnTo>
                  <a:lnTo>
                    <a:pt x="2461260" y="132529"/>
                  </a:lnTo>
                  <a:lnTo>
                    <a:pt x="2533650" y="128275"/>
                  </a:lnTo>
                  <a:lnTo>
                    <a:pt x="2606040" y="120616"/>
                  </a:lnTo>
                  <a:lnTo>
                    <a:pt x="2678430" y="109977"/>
                  </a:lnTo>
                  <a:lnTo>
                    <a:pt x="2750820" y="96945"/>
                  </a:lnTo>
                  <a:lnTo>
                    <a:pt x="2823210" y="82240"/>
                  </a:lnTo>
                  <a:lnTo>
                    <a:pt x="2895600" y="66675"/>
                  </a:lnTo>
                </a:path>
              </a:pathLst>
            </a:custGeom>
            <a:noFill/>
            <a:ln w="24765" cap="rnd">
              <a:solidFill>
                <a:srgbClr val="34D3C0"/>
              </a:solidFill>
              <a:round/>
            </a:ln>
          </p:spPr>
        </p:sp>
        <p:sp>
          <p:nvSpPr>
            <p:cNvPr id="15" name="Ellipse 15"/>
            <p:cNvSpPr/>
            <p:nvPr/>
          </p:nvSpPr>
          <p:spPr>
            <a:xfrm>
              <a:off x="1198139" y="4004310"/>
              <a:ext cx="59055" cy="59055"/>
            </a:xfrm>
            <a:prstGeom prst="ellipse">
              <a:avLst/>
            </a:prstGeom>
            <a:solidFill>
              <a:srgbClr val="34D3C0"/>
            </a:solidFill>
            <a:ln>
              <a:noFill/>
            </a:ln>
          </p:spPr>
        </p:sp>
        <p:sp>
          <p:nvSpPr>
            <p:cNvPr id="16" name="Ellipse 16"/>
            <p:cNvSpPr/>
            <p:nvPr/>
          </p:nvSpPr>
          <p:spPr>
            <a:xfrm>
              <a:off x="1519872" y="4037648"/>
              <a:ext cx="59055" cy="59055"/>
            </a:xfrm>
            <a:prstGeom prst="ellipse">
              <a:avLst/>
            </a:prstGeom>
            <a:solidFill>
              <a:srgbClr val="34D3C0"/>
            </a:solidFill>
            <a:ln>
              <a:noFill/>
            </a:ln>
          </p:spPr>
        </p:sp>
        <p:sp>
          <p:nvSpPr>
            <p:cNvPr id="17" name="Ellipse 17"/>
            <p:cNvSpPr/>
            <p:nvPr/>
          </p:nvSpPr>
          <p:spPr>
            <a:xfrm>
              <a:off x="1841606" y="4004310"/>
              <a:ext cx="59055" cy="59055"/>
            </a:xfrm>
            <a:prstGeom prst="ellipse">
              <a:avLst/>
            </a:prstGeom>
            <a:solidFill>
              <a:srgbClr val="34D3C0"/>
            </a:solidFill>
            <a:ln>
              <a:noFill/>
            </a:ln>
          </p:spPr>
        </p:sp>
        <p:sp>
          <p:nvSpPr>
            <p:cNvPr id="18" name="Ellipse 18"/>
            <p:cNvSpPr/>
            <p:nvPr/>
          </p:nvSpPr>
          <p:spPr>
            <a:xfrm>
              <a:off x="2163339" y="3937635"/>
              <a:ext cx="59055" cy="59055"/>
            </a:xfrm>
            <a:prstGeom prst="ellipse">
              <a:avLst/>
            </a:prstGeom>
            <a:solidFill>
              <a:srgbClr val="34D3C0"/>
            </a:solidFill>
            <a:ln>
              <a:noFill/>
            </a:ln>
          </p:spPr>
        </p:sp>
        <p:sp>
          <p:nvSpPr>
            <p:cNvPr id="19" name="Ellipse 19"/>
            <p:cNvSpPr/>
            <p:nvPr/>
          </p:nvSpPr>
          <p:spPr>
            <a:xfrm>
              <a:off x="2485072" y="3904298"/>
              <a:ext cx="59055" cy="59055"/>
            </a:xfrm>
            <a:prstGeom prst="ellipse">
              <a:avLst/>
            </a:prstGeom>
            <a:solidFill>
              <a:srgbClr val="34D3C0"/>
            </a:solidFill>
            <a:ln>
              <a:noFill/>
            </a:ln>
          </p:spPr>
        </p:sp>
        <p:sp>
          <p:nvSpPr>
            <p:cNvPr id="20" name="Ellipse 20"/>
            <p:cNvSpPr/>
            <p:nvPr/>
          </p:nvSpPr>
          <p:spPr>
            <a:xfrm>
              <a:off x="2806806" y="3937635"/>
              <a:ext cx="59055" cy="59055"/>
            </a:xfrm>
            <a:prstGeom prst="ellipse">
              <a:avLst/>
            </a:prstGeom>
            <a:solidFill>
              <a:srgbClr val="34D3C0"/>
            </a:solidFill>
            <a:ln>
              <a:noFill/>
            </a:ln>
          </p:spPr>
        </p:sp>
        <p:sp>
          <p:nvSpPr>
            <p:cNvPr id="21" name="Ellipse 21"/>
            <p:cNvSpPr/>
            <p:nvPr/>
          </p:nvSpPr>
          <p:spPr>
            <a:xfrm>
              <a:off x="3128539" y="4004310"/>
              <a:ext cx="59055" cy="59055"/>
            </a:xfrm>
            <a:prstGeom prst="ellipse">
              <a:avLst/>
            </a:prstGeom>
            <a:solidFill>
              <a:srgbClr val="34D3C0"/>
            </a:solidFill>
            <a:ln>
              <a:noFill/>
            </a:ln>
          </p:spPr>
        </p:sp>
        <p:sp>
          <p:nvSpPr>
            <p:cNvPr id="22" name="Ellipse 22"/>
            <p:cNvSpPr/>
            <p:nvPr/>
          </p:nvSpPr>
          <p:spPr>
            <a:xfrm>
              <a:off x="3450272" y="4037648"/>
              <a:ext cx="59055" cy="59055"/>
            </a:xfrm>
            <a:prstGeom prst="ellipse">
              <a:avLst/>
            </a:prstGeom>
            <a:solidFill>
              <a:srgbClr val="34D3C0"/>
            </a:solidFill>
            <a:ln>
              <a:noFill/>
            </a:ln>
          </p:spPr>
        </p:sp>
        <p:sp>
          <p:nvSpPr>
            <p:cNvPr id="23" name="Ellipse 23"/>
            <p:cNvSpPr/>
            <p:nvPr/>
          </p:nvSpPr>
          <p:spPr>
            <a:xfrm>
              <a:off x="3772006" y="4004310"/>
              <a:ext cx="59055" cy="59055"/>
            </a:xfrm>
            <a:prstGeom prst="ellipse">
              <a:avLst/>
            </a:prstGeom>
            <a:solidFill>
              <a:srgbClr val="34D3C0"/>
            </a:solidFill>
            <a:ln>
              <a:noFill/>
            </a:ln>
          </p:spPr>
        </p:sp>
        <p:sp>
          <p:nvSpPr>
            <p:cNvPr id="24" name="Polyline 24"/>
            <p:cNvSpPr/>
            <p:nvPr/>
          </p:nvSpPr>
          <p:spPr>
            <a:xfrm>
              <a:off x="1066800" y="4305300"/>
              <a:ext cx="2895600" cy="152400"/>
            </a:xfrm>
            <a:custGeom>
              <a:avLst/>
              <a:gdLst/>
              <a:ahLst/>
              <a:cxnLst/>
              <a:rect l="l" t="t" r="r" b="b"/>
              <a:pathLst>
                <a:path w="2895600" h="152400">
                  <a:moveTo>
                    <a:pt x="0" y="0"/>
                  </a:moveTo>
                  <a:lnTo>
                    <a:pt x="482600" y="152400"/>
                  </a:lnTo>
                  <a:lnTo>
                    <a:pt x="965200" y="0"/>
                  </a:lnTo>
                  <a:lnTo>
                    <a:pt x="1447800" y="152400"/>
                  </a:lnTo>
                  <a:lnTo>
                    <a:pt x="1930400" y="0"/>
                  </a:lnTo>
                  <a:lnTo>
                    <a:pt x="2413000" y="152400"/>
                  </a:lnTo>
                  <a:lnTo>
                    <a:pt x="2895600" y="0"/>
                  </a:lnTo>
                </a:path>
              </a:pathLst>
            </a:custGeom>
            <a:noFill/>
            <a:ln w="24765" cap="rnd">
              <a:solidFill>
                <a:schemeClr val="accent2"/>
              </a:solidFill>
              <a:round/>
            </a:ln>
          </p:spPr>
        </p:sp>
        <p:sp>
          <p:nvSpPr>
            <p:cNvPr id="25" name="Ellipse 25"/>
            <p:cNvSpPr/>
            <p:nvPr/>
          </p:nvSpPr>
          <p:spPr>
            <a:xfrm>
              <a:off x="1024890" y="4263390"/>
              <a:ext cx="83820" cy="83820"/>
            </a:xfrm>
            <a:prstGeom prst="ellipse">
              <a:avLst/>
            </a:prstGeom>
            <a:solidFill>
              <a:schemeClr val="accent6"/>
            </a:solidFill>
            <a:ln w="19050">
              <a:solidFill>
                <a:schemeClr val="accent2"/>
              </a:solidFill>
            </a:ln>
          </p:spPr>
        </p:sp>
        <p:sp>
          <p:nvSpPr>
            <p:cNvPr id="26" name="Ellipse 26"/>
            <p:cNvSpPr/>
            <p:nvPr/>
          </p:nvSpPr>
          <p:spPr>
            <a:xfrm>
              <a:off x="1507490" y="4415790"/>
              <a:ext cx="83820" cy="83820"/>
            </a:xfrm>
            <a:prstGeom prst="ellipse">
              <a:avLst/>
            </a:prstGeom>
            <a:solidFill>
              <a:schemeClr val="accent6"/>
            </a:solidFill>
            <a:ln w="19050">
              <a:solidFill>
                <a:schemeClr val="accent2"/>
              </a:solidFill>
            </a:ln>
          </p:spPr>
        </p:sp>
        <p:sp>
          <p:nvSpPr>
            <p:cNvPr id="27" name="Ellipse 27"/>
            <p:cNvSpPr/>
            <p:nvPr/>
          </p:nvSpPr>
          <p:spPr>
            <a:xfrm>
              <a:off x="1990090" y="4263390"/>
              <a:ext cx="83820" cy="83820"/>
            </a:xfrm>
            <a:prstGeom prst="ellipse">
              <a:avLst/>
            </a:prstGeom>
            <a:solidFill>
              <a:schemeClr val="accent6"/>
            </a:solidFill>
            <a:ln w="19050">
              <a:solidFill>
                <a:schemeClr val="accent2"/>
              </a:solidFill>
            </a:ln>
          </p:spPr>
        </p:sp>
        <p:sp>
          <p:nvSpPr>
            <p:cNvPr id="28" name="Ellipse 28"/>
            <p:cNvSpPr/>
            <p:nvPr/>
          </p:nvSpPr>
          <p:spPr>
            <a:xfrm>
              <a:off x="2472690" y="4415790"/>
              <a:ext cx="83820" cy="83820"/>
            </a:xfrm>
            <a:prstGeom prst="ellipse">
              <a:avLst/>
            </a:prstGeom>
            <a:solidFill>
              <a:schemeClr val="accent6"/>
            </a:solidFill>
            <a:ln w="19050">
              <a:solidFill>
                <a:schemeClr val="accent2"/>
              </a:solidFill>
            </a:ln>
          </p:spPr>
        </p:sp>
        <p:sp>
          <p:nvSpPr>
            <p:cNvPr id="29" name="Ellipse 29"/>
            <p:cNvSpPr/>
            <p:nvPr/>
          </p:nvSpPr>
          <p:spPr>
            <a:xfrm>
              <a:off x="2955290" y="4263390"/>
              <a:ext cx="83820" cy="83820"/>
            </a:xfrm>
            <a:prstGeom prst="ellipse">
              <a:avLst/>
            </a:prstGeom>
            <a:solidFill>
              <a:schemeClr val="accent6"/>
            </a:solidFill>
            <a:ln w="19050">
              <a:solidFill>
                <a:schemeClr val="accent2"/>
              </a:solidFill>
            </a:ln>
          </p:spPr>
        </p:sp>
        <p:sp>
          <p:nvSpPr>
            <p:cNvPr id="30" name="Ellipse 30"/>
            <p:cNvSpPr/>
            <p:nvPr/>
          </p:nvSpPr>
          <p:spPr>
            <a:xfrm>
              <a:off x="3437890" y="4415790"/>
              <a:ext cx="83820" cy="83820"/>
            </a:xfrm>
            <a:prstGeom prst="ellipse">
              <a:avLst/>
            </a:prstGeom>
            <a:solidFill>
              <a:schemeClr val="accent6"/>
            </a:solidFill>
            <a:ln w="19050">
              <a:solidFill>
                <a:schemeClr val="accent2"/>
              </a:solidFill>
            </a:ln>
          </p:spPr>
        </p:sp>
        <p:sp>
          <p:nvSpPr>
            <p:cNvPr id="31" name="Ellipse 31"/>
            <p:cNvSpPr/>
            <p:nvPr/>
          </p:nvSpPr>
          <p:spPr>
            <a:xfrm>
              <a:off x="3920490" y="4263390"/>
              <a:ext cx="83820" cy="83820"/>
            </a:xfrm>
            <a:prstGeom prst="ellipse">
              <a:avLst/>
            </a:prstGeom>
            <a:solidFill>
              <a:schemeClr val="accent6"/>
            </a:solidFill>
            <a:ln w="19050">
              <a:solidFill>
                <a:schemeClr val="accent2"/>
              </a:solidFill>
            </a:ln>
          </p:spPr>
        </p:sp>
        <p:sp>
          <p:nvSpPr>
            <p:cNvPr id="32" name="Line 32"/>
            <p:cNvSpPr/>
            <p:nvPr/>
          </p:nvSpPr>
          <p:spPr>
            <a:xfrm>
              <a:off x="2514600" y="4076700"/>
              <a:ext cx="9525" cy="228600"/>
            </a:xfrm>
            <a:custGeom>
              <a:avLst/>
              <a:gdLst/>
              <a:ahLst/>
              <a:cxnLst/>
              <a:rect l="l" t="t" r="r" b="b"/>
              <a:pathLst>
                <a:path w="9525" h="228600">
                  <a:moveTo>
                    <a:pt x="0" y="0"/>
                  </a:moveTo>
                  <a:lnTo>
                    <a:pt x="0" y="228600"/>
                  </a:lnTo>
                </a:path>
              </a:pathLst>
            </a:custGeom>
            <a:noFill/>
            <a:ln w="20955" cap="rnd">
              <a:solidFill>
                <a:srgbClr val="F2C14E"/>
              </a:solidFill>
              <a:custDash>
                <a:ds d="136364" sp="136364"/>
              </a:custDash>
            </a:ln>
          </p:spPr>
        </p:sp>
        <p:sp>
          <p:nvSpPr>
            <p:cNvPr id="33" name="Ellipse 33"/>
            <p:cNvSpPr/>
            <p:nvPr/>
          </p:nvSpPr>
          <p:spPr>
            <a:xfrm>
              <a:off x="2476500" y="4152900"/>
              <a:ext cx="76200" cy="76200"/>
            </a:xfrm>
            <a:prstGeom prst="ellipse">
              <a:avLst/>
            </a:prstGeom>
            <a:solidFill>
              <a:srgbClr val="F2C14E"/>
            </a:solidFill>
            <a:ln>
              <a:noFill/>
            </a:ln>
          </p:spPr>
        </p:sp>
        <p:sp>
          <p:nvSpPr>
            <p:cNvPr id="34" name="TextBox 34"/>
            <p:cNvSpPr txBox="1"/>
            <p:nvPr/>
          </p:nvSpPr>
          <p:spPr>
            <a:xfrm>
              <a:off x="1472664" y="4688443"/>
              <a:ext cx="1702872" cy="169069"/>
            </a:xfrm>
            <a:prstGeom prst="rect">
              <a:avLst/>
            </a:prstGeom>
            <a:noFill/>
            <a:ln>
              <a:noFill/>
            </a:ln>
          </p:spPr>
          <p:txBody>
            <a:bodyPr wrap="none" lIns="0" tIns="0" rIns="0" bIns="0" anchor="t" anchorCtr="0">
              <a:spAutoFit/>
            </a:bodyPr>
            <a:lstStyle/>
            <a:p>
              <a:pPr algn="ctr"/>
              <a:r>
                <a:rPr lang="en-US" sz="860" b="1" dirty="0">
                  <a:solidFill>
                    <a:srgbClr val="6E869C"/>
                  </a:solidFill>
                  <a:latin typeface="+mn-lt"/>
                  <a:ea typeface="+mn-ea"/>
                  <a:cs typeface="+mn-cs"/>
                </a:rPr>
                <a:t>SELEX / CLIP-seq: expensive</a:t>
              </a:r>
            </a:p>
          </p:txBody>
        </p:sp>
      </p:grpSp>
      <p:grpSp>
        <p:nvGrpSpPr>
          <p:cNvPr id="45" name="Group 45"/>
          <p:cNvGrpSpPr/>
          <p:nvPr/>
        </p:nvGrpSpPr>
        <p:grpSpPr>
          <a:xfrm>
            <a:off x="4762500" y="1504950"/>
            <a:ext cx="6819900" cy="1428750"/>
            <a:chOff x="4762500" y="1504950"/>
            <a:chExt cx="6819900" cy="1428750"/>
          </a:xfrm>
        </p:grpSpPr>
        <p:sp>
          <p:nvSpPr>
            <p:cNvPr id="36" name="Rectangle 36"/>
            <p:cNvSpPr/>
            <p:nvPr/>
          </p:nvSpPr>
          <p:spPr>
            <a:xfrm>
              <a:off x="4762500" y="1504950"/>
              <a:ext cx="6819900" cy="1428750"/>
            </a:xfrm>
            <a:prstGeom prst="roundRect">
              <a:avLst>
                <a:gd name="adj" fmla="val 9333"/>
              </a:avLst>
            </a:prstGeom>
            <a:solidFill>
              <a:schemeClr val="accent5"/>
            </a:solidFill>
            <a:ln w="14288">
              <a:solidFill>
                <a:srgbClr val="26455F"/>
              </a:solidFill>
            </a:ln>
          </p:spPr>
        </p:sp>
        <p:sp>
          <p:nvSpPr>
            <p:cNvPr id="37" name="Rectangle 37"/>
            <p:cNvSpPr/>
            <p:nvPr/>
          </p:nvSpPr>
          <p:spPr>
            <a:xfrm>
              <a:off x="4762500" y="1504950"/>
              <a:ext cx="57150" cy="1428750"/>
            </a:xfrm>
            <a:prstGeom prst="roundRect">
              <a:avLst>
                <a:gd name="adj" fmla="val 50000"/>
              </a:avLst>
            </a:prstGeom>
            <a:solidFill>
              <a:srgbClr val="F2685C"/>
            </a:solidFill>
            <a:ln>
              <a:noFill/>
            </a:ln>
          </p:spPr>
        </p:sp>
        <p:sp>
          <p:nvSpPr>
            <p:cNvPr id="38" name="TextBox 38"/>
            <p:cNvSpPr txBox="1"/>
            <p:nvPr/>
          </p:nvSpPr>
          <p:spPr>
            <a:xfrm>
              <a:off x="5022914" y="1733312"/>
              <a:ext cx="2490036" cy="242030"/>
            </a:xfrm>
            <a:prstGeom prst="rect">
              <a:avLst/>
            </a:prstGeom>
            <a:noFill/>
            <a:ln>
              <a:noFill/>
            </a:ln>
          </p:spPr>
          <p:txBody>
            <a:bodyPr wrap="none" lIns="0" tIns="0" rIns="0" bIns="0" anchor="t" anchorCtr="0">
              <a:spAutoFit/>
            </a:bodyPr>
            <a:lstStyle/>
            <a:p>
              <a:pPr algn="l"/>
              <a:r>
                <a:rPr lang="en-US" sz="1240" b="1" dirty="0">
                  <a:solidFill>
                    <a:srgbClr val="F2685C"/>
                  </a:solidFill>
                  <a:latin typeface="+mn-lt"/>
                  <a:ea typeface="+mn-ea"/>
                  <a:cs typeface="+mn-cs"/>
                </a:rPr>
                <a:t>Today: one model per protein</a:t>
              </a:r>
            </a:p>
          </p:txBody>
        </p:sp>
        <p:sp>
          <p:nvSpPr>
            <p:cNvPr id="39" name="TextBox 39"/>
            <p:cNvSpPr txBox="1"/>
            <p:nvPr/>
          </p:nvSpPr>
          <p:spPr>
            <a:xfrm>
              <a:off x="5023866" y="2039302"/>
              <a:ext cx="418506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Most computational predictors sidestep the general problem</a:t>
              </a:r>
            </a:p>
          </p:txBody>
        </p:sp>
        <p:sp>
          <p:nvSpPr>
            <p:cNvPr id="40" name="TextBox 40"/>
            <p:cNvSpPr txBox="1"/>
            <p:nvPr/>
          </p:nvSpPr>
          <p:spPr>
            <a:xfrm>
              <a:off x="5023866" y="2239328"/>
              <a:ext cx="4081577"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by training a separate model for each protein, which needs</a:t>
              </a:r>
            </a:p>
          </p:txBody>
        </p:sp>
        <p:sp>
          <p:nvSpPr>
            <p:cNvPr id="41" name="TextBox 41"/>
            <p:cNvSpPr txBox="1"/>
            <p:nvPr/>
          </p:nvSpPr>
          <p:spPr>
            <a:xfrm>
              <a:off x="5023866" y="2439352"/>
              <a:ext cx="374940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 large interaction dataset for that specific protein.</a:t>
              </a:r>
            </a:p>
          </p:txBody>
        </p:sp>
        <p:sp>
          <p:nvSpPr>
            <p:cNvPr id="42" name="Rectangle 42"/>
            <p:cNvSpPr/>
            <p:nvPr/>
          </p:nvSpPr>
          <p:spPr>
            <a:xfrm>
              <a:off x="5029200" y="2647950"/>
              <a:ext cx="6286500" cy="247650"/>
            </a:xfrm>
            <a:prstGeom prst="roundRect">
              <a:avLst>
                <a:gd name="adj" fmla="val 30769"/>
              </a:avLst>
            </a:prstGeom>
            <a:solidFill>
              <a:schemeClr val="accent6"/>
            </a:solidFill>
            <a:ln w="14288">
              <a:solidFill>
                <a:srgbClr val="26455F"/>
              </a:solidFill>
            </a:ln>
          </p:spPr>
        </p:sp>
        <p:sp>
          <p:nvSpPr>
            <p:cNvPr id="43" name="Ellipse 43"/>
            <p:cNvSpPr/>
            <p:nvPr/>
          </p:nvSpPr>
          <p:spPr>
            <a:xfrm>
              <a:off x="5153025" y="2724150"/>
              <a:ext cx="95250" cy="95250"/>
            </a:xfrm>
            <a:prstGeom prst="ellipse">
              <a:avLst/>
            </a:prstGeom>
            <a:solidFill>
              <a:srgbClr val="F2685C"/>
            </a:solidFill>
            <a:ln>
              <a:noFill/>
            </a:ln>
          </p:spPr>
        </p:sp>
        <p:sp>
          <p:nvSpPr>
            <p:cNvPr id="44" name="TextBox 44"/>
            <p:cNvSpPr txBox="1"/>
            <p:nvPr/>
          </p:nvSpPr>
          <p:spPr>
            <a:xfrm>
              <a:off x="5347526" y="2711529"/>
              <a:ext cx="3373694" cy="212693"/>
            </a:xfrm>
            <a:prstGeom prst="rect">
              <a:avLst/>
            </a:prstGeom>
            <a:noFill/>
            <a:ln>
              <a:noFill/>
            </a:ln>
          </p:spPr>
          <p:txBody>
            <a:bodyPr wrap="none" lIns="0" tIns="0" rIns="0" bIns="0" anchor="t" anchorCtr="0">
              <a:spAutoFit/>
            </a:bodyPr>
            <a:lstStyle/>
            <a:p>
              <a:pPr algn="l"/>
              <a:r>
                <a:rPr lang="en-US" sz="1090" b="1" dirty="0">
                  <a:solidFill>
                    <a:schemeClr val="dk1"/>
                  </a:solidFill>
                  <a:latin typeface="+mn-lt"/>
                  <a:ea typeface="+mn-ea"/>
                  <a:cs typeface="+mn-cs"/>
                </a:rPr>
                <a:t>protein A -&gt; model A protein B -&gt; model B ...</a:t>
              </a:r>
            </a:p>
          </p:txBody>
        </p:sp>
      </p:grpSp>
      <p:grpSp>
        <p:nvGrpSpPr>
          <p:cNvPr id="51" name="Group 51"/>
          <p:cNvGrpSpPr/>
          <p:nvPr/>
        </p:nvGrpSpPr>
        <p:grpSpPr>
          <a:xfrm>
            <a:off x="4762500" y="3086100"/>
            <a:ext cx="6819900" cy="990600"/>
            <a:chOff x="4762500" y="3086100"/>
            <a:chExt cx="6819900" cy="990600"/>
          </a:xfrm>
        </p:grpSpPr>
        <p:sp>
          <p:nvSpPr>
            <p:cNvPr id="46" name="Rectangle 46"/>
            <p:cNvSpPr/>
            <p:nvPr/>
          </p:nvSpPr>
          <p:spPr>
            <a:xfrm>
              <a:off x="4762500" y="3086100"/>
              <a:ext cx="6819900" cy="990600"/>
            </a:xfrm>
            <a:prstGeom prst="roundRect">
              <a:avLst>
                <a:gd name="adj" fmla="val 13462"/>
              </a:avLst>
            </a:prstGeom>
            <a:solidFill>
              <a:srgbClr val="2A2417"/>
            </a:solidFill>
            <a:ln w="14288">
              <a:solidFill>
                <a:srgbClr val="F2C14E"/>
              </a:solidFill>
            </a:ln>
          </p:spPr>
        </p:sp>
        <p:sp>
          <p:nvSpPr>
            <p:cNvPr id="47" name="Rectangle 47"/>
            <p:cNvSpPr/>
            <p:nvPr/>
          </p:nvSpPr>
          <p:spPr>
            <a:xfrm>
              <a:off x="4762500" y="3086100"/>
              <a:ext cx="57150" cy="990600"/>
            </a:xfrm>
            <a:prstGeom prst="roundRect">
              <a:avLst>
                <a:gd name="adj" fmla="val 50000"/>
              </a:avLst>
            </a:prstGeom>
            <a:solidFill>
              <a:srgbClr val="F2C14E"/>
            </a:solidFill>
            <a:ln>
              <a:noFill/>
            </a:ln>
          </p:spPr>
        </p:sp>
        <p:sp>
          <p:nvSpPr>
            <p:cNvPr id="48" name="TextBox 48"/>
            <p:cNvSpPr txBox="1"/>
            <p:nvPr/>
          </p:nvSpPr>
          <p:spPr>
            <a:xfrm>
              <a:off x="5023104" y="3318510"/>
              <a:ext cx="2596272" cy="234696"/>
            </a:xfrm>
            <a:prstGeom prst="rect">
              <a:avLst/>
            </a:prstGeom>
            <a:noFill/>
            <a:ln>
              <a:noFill/>
            </a:ln>
          </p:spPr>
          <p:txBody>
            <a:bodyPr wrap="none" lIns="0" tIns="0" rIns="0" bIns="0" anchor="t" anchorCtr="0">
              <a:spAutoFit/>
            </a:bodyPr>
            <a:lstStyle/>
            <a:p>
              <a:pPr algn="l"/>
              <a:r>
                <a:rPr lang="en-US" sz="1200" b="1" dirty="0">
                  <a:solidFill>
                    <a:srgbClr val="F2C14E"/>
                  </a:solidFill>
                  <a:latin typeface="+mn-lt"/>
                  <a:ea typeface="+mn-ea"/>
                  <a:cs typeface="+mn-cs"/>
                </a:rPr>
                <a:t>Data covers only a few hundred</a:t>
              </a:r>
            </a:p>
          </p:txBody>
        </p:sp>
        <p:sp>
          <p:nvSpPr>
            <p:cNvPr id="49" name="TextBox 49"/>
            <p:cNvSpPr txBox="1"/>
            <p:nvPr/>
          </p:nvSpPr>
          <p:spPr>
            <a:xfrm>
              <a:off x="5023676" y="3616404"/>
              <a:ext cx="5173846" cy="212693"/>
            </a:xfrm>
            <a:prstGeom prst="rect">
              <a:avLst/>
            </a:prstGeom>
            <a:noFill/>
            <a:ln>
              <a:noFill/>
            </a:ln>
          </p:spPr>
          <p:txBody>
            <a:bodyPr wrap="none" lIns="0" tIns="0" rIns="0" bIns="0" anchor="t" anchorCtr="0">
              <a:spAutoFit/>
            </a:bodyPr>
            <a:lstStyle/>
            <a:p>
              <a:pPr algn="l"/>
              <a:r>
                <a:rPr lang="en-US" sz="1090" dirty="0">
                  <a:solidFill>
                    <a:schemeClr val="dk1"/>
                  </a:solidFill>
                  <a:latin typeface="+mn-lt"/>
                  <a:ea typeface="+mn-ea"/>
                  <a:cs typeface="+mn-cs"/>
                </a:rPr>
                <a:t>Such datasets exist for only a few hundred of the roughly two thousand</a:t>
              </a:r>
            </a:p>
          </p:txBody>
        </p:sp>
        <p:sp>
          <p:nvSpPr>
            <p:cNvPr id="50" name="TextBox 50"/>
            <p:cNvSpPr txBox="1"/>
            <p:nvPr/>
          </p:nvSpPr>
          <p:spPr>
            <a:xfrm>
              <a:off x="5023676" y="3825954"/>
              <a:ext cx="2050953" cy="212693"/>
            </a:xfrm>
            <a:prstGeom prst="rect">
              <a:avLst/>
            </a:prstGeom>
            <a:noFill/>
            <a:ln>
              <a:noFill/>
            </a:ln>
          </p:spPr>
          <p:txBody>
            <a:bodyPr wrap="none" lIns="0" tIns="0" rIns="0" bIns="0" anchor="t" anchorCtr="0">
              <a:spAutoFit/>
            </a:bodyPr>
            <a:lstStyle/>
            <a:p>
              <a:pPr algn="l"/>
              <a:r>
                <a:rPr lang="en-US" sz="1090" dirty="0">
                  <a:solidFill>
                    <a:schemeClr val="dk1"/>
                  </a:solidFill>
                  <a:latin typeface="+mn-lt"/>
                  <a:ea typeface="+mn-ea"/>
                  <a:cs typeface="+mn-cs"/>
                </a:rPr>
                <a:t>human RNA-binding proteins.</a:t>
              </a:r>
            </a:p>
          </p:txBody>
        </p:sp>
      </p:grpSp>
      <p:grpSp>
        <p:nvGrpSpPr>
          <p:cNvPr id="57" name="Group 57"/>
          <p:cNvGrpSpPr/>
          <p:nvPr/>
        </p:nvGrpSpPr>
        <p:grpSpPr>
          <a:xfrm>
            <a:off x="4762500" y="4229100"/>
            <a:ext cx="6819900" cy="1009650"/>
            <a:chOff x="4762500" y="4229100"/>
            <a:chExt cx="6819900" cy="1009650"/>
          </a:xfrm>
        </p:grpSpPr>
        <p:sp>
          <p:nvSpPr>
            <p:cNvPr id="52" name="Rectangle 52"/>
            <p:cNvSpPr/>
            <p:nvPr/>
          </p:nvSpPr>
          <p:spPr>
            <a:xfrm>
              <a:off x="4762500" y="4229100"/>
              <a:ext cx="6819900" cy="1009650"/>
            </a:xfrm>
            <a:prstGeom prst="roundRect">
              <a:avLst>
                <a:gd name="adj" fmla="val 13208"/>
              </a:avLst>
            </a:prstGeom>
            <a:solidFill>
              <a:schemeClr val="accent5"/>
            </a:solidFill>
            <a:ln w="14288">
              <a:solidFill>
                <a:srgbClr val="26455F"/>
              </a:solidFill>
            </a:ln>
          </p:spPr>
        </p:sp>
        <p:sp>
          <p:nvSpPr>
            <p:cNvPr id="53" name="Rectangle 53"/>
            <p:cNvSpPr/>
            <p:nvPr/>
          </p:nvSpPr>
          <p:spPr>
            <a:xfrm>
              <a:off x="4762500" y="4229100"/>
              <a:ext cx="57150" cy="1009650"/>
            </a:xfrm>
            <a:prstGeom prst="roundRect">
              <a:avLst>
                <a:gd name="adj" fmla="val 50000"/>
              </a:avLst>
            </a:prstGeom>
            <a:solidFill>
              <a:srgbClr val="34D3C0"/>
            </a:solidFill>
            <a:ln>
              <a:noFill/>
            </a:ln>
          </p:spPr>
        </p:sp>
        <p:sp>
          <p:nvSpPr>
            <p:cNvPr id="54" name="TextBox 54"/>
            <p:cNvSpPr txBox="1"/>
            <p:nvPr/>
          </p:nvSpPr>
          <p:spPr>
            <a:xfrm>
              <a:off x="5023104" y="4461510"/>
              <a:ext cx="3215390" cy="234696"/>
            </a:xfrm>
            <a:prstGeom prst="rect">
              <a:avLst/>
            </a:prstGeom>
            <a:noFill/>
            <a:ln>
              <a:noFill/>
            </a:ln>
          </p:spPr>
          <p:txBody>
            <a:bodyPr wrap="none" lIns="0" tIns="0" rIns="0" bIns="0" anchor="t" anchorCtr="0">
              <a:spAutoFit/>
            </a:bodyPr>
            <a:lstStyle/>
            <a:p>
              <a:pPr algn="l"/>
              <a:r>
                <a:rPr lang="en-US" sz="1200" b="1" dirty="0">
                  <a:solidFill>
                    <a:srgbClr val="34D3C0"/>
                  </a:solidFill>
                  <a:latin typeface="+mn-lt"/>
                  <a:ea typeface="+mn-ea"/>
                  <a:cs typeface="+mn-cs"/>
                </a:rPr>
                <a:t>Missing: decide any pair, any sequence</a:t>
              </a:r>
            </a:p>
          </p:txBody>
        </p:sp>
        <p:sp>
          <p:nvSpPr>
            <p:cNvPr id="55" name="TextBox 55"/>
            <p:cNvSpPr txBox="1"/>
            <p:nvPr/>
          </p:nvSpPr>
          <p:spPr>
            <a:xfrm>
              <a:off x="5023676" y="4759404"/>
              <a:ext cx="5116001"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What is missing is a method that decides, for any RNA and protein pair,</a:t>
              </a:r>
            </a:p>
          </p:txBody>
        </p:sp>
        <p:sp>
          <p:nvSpPr>
            <p:cNvPr id="56" name="TextBox 56"/>
            <p:cNvSpPr txBox="1"/>
            <p:nvPr/>
          </p:nvSpPr>
          <p:spPr>
            <a:xfrm>
              <a:off x="5023676" y="4968954"/>
              <a:ext cx="4156335"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whether they interact using nothing but their sequences.</a:t>
              </a:r>
            </a:p>
          </p:txBody>
        </p:sp>
      </p:grpSp>
      <p:sp>
        <p:nvSpPr>
          <p:cNvPr id="58" name="cue_s02_c1_non_coding_rnas_regulate_cell_largel" title="cue_s02_c1_non_coding_rnas_regulate_cell_largel" descr="cue_s02_c1_non_coding_rnas_regulate_cell_largel Non-coding RNAs regulate the cell largely through their interactions with proteins, but mapping these interactions experimentally is slow and costly."/>
          <p:cNvSpPr/>
          <p:nvPr/>
        </p:nvSpPr>
        <p:spPr>
          <a:xfrm>
            <a:off x="609600" y="1504645"/>
            <a:ext cx="3847795" cy="37334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cue_s02_c2_most_computational_predictors_sidest" title="cue_s02_c2_most_computational_predictors_sidest" descr="cue_s02_c2_most_computational_predictors_sidest Most computational predictors sidestep the general problem by training one model per protein, which requires a large interaction dataset for that specific protein."/>
          <p:cNvSpPr/>
          <p:nvPr/>
        </p:nvSpPr>
        <p:spPr>
          <a:xfrm>
            <a:off x="4762195" y="1504645"/>
            <a:ext cx="6820204"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cue_s02_c3_such_datasets_exist_only_few" title="cue_s02_c3_such_datasets_exist_only_few" descr="cue_s02_c3_such_datasets_exist_only_few Such datasets exist for only a few hundred of the roughly two thousand human RNA-binding proteins."/>
          <p:cNvSpPr/>
          <p:nvPr/>
        </p:nvSpPr>
        <p:spPr>
          <a:xfrm>
            <a:off x="4762195" y="3086100"/>
            <a:ext cx="6820204" cy="9902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cue_s02_c4_what_missing_method_decides_any" title="cue_s02_c4_what_missing_method_decides_any" descr="cue_s02_c4_what_missing_method_decides_any What is missing is a method that decides, for any given RNA and protein pair, whether they interact using nothing but their sequences."/>
          <p:cNvSpPr/>
          <p:nvPr/>
        </p:nvSpPr>
        <p:spPr>
          <a:xfrm>
            <a:off x="4762195" y="4229328"/>
            <a:ext cx="6820204" cy="10094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188836"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MOTIVATION</a:t>
            </a:r>
          </a:p>
        </p:txBody>
      </p:sp>
      <p:sp>
        <p:nvSpPr>
          <p:cNvPr id="4" name="TextBox 4"/>
          <p:cNvSpPr txBox="1"/>
          <p:nvPr/>
        </p:nvSpPr>
        <p:spPr>
          <a:xfrm>
            <a:off x="598170" y="804862"/>
            <a:ext cx="7507642"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Learn across tasks, stand on foundation models</a:t>
            </a:r>
          </a:p>
        </p:txBody>
      </p:sp>
      <p:grpSp>
        <p:nvGrpSpPr>
          <p:cNvPr id="17" name="Group 17"/>
          <p:cNvGrpSpPr/>
          <p:nvPr/>
        </p:nvGrpSpPr>
        <p:grpSpPr>
          <a:xfrm>
            <a:off x="609600" y="1504950"/>
            <a:ext cx="5334000" cy="1828800"/>
            <a:chOff x="609600" y="1504950"/>
            <a:chExt cx="5334000" cy="1828800"/>
          </a:xfrm>
        </p:grpSpPr>
        <p:sp>
          <p:nvSpPr>
            <p:cNvPr id="5" name="Rectangle 5"/>
            <p:cNvSpPr/>
            <p:nvPr/>
          </p:nvSpPr>
          <p:spPr>
            <a:xfrm>
              <a:off x="609600" y="1504950"/>
              <a:ext cx="5334000" cy="1828800"/>
            </a:xfrm>
            <a:prstGeom prst="roundRect">
              <a:avLst>
                <a:gd name="adj" fmla="val 7292"/>
              </a:avLst>
            </a:prstGeom>
            <a:solidFill>
              <a:schemeClr val="accent5"/>
            </a:solidFill>
            <a:ln w="14288">
              <a:solidFill>
                <a:srgbClr val="26455F"/>
              </a:solidFill>
            </a:ln>
          </p:spPr>
        </p:sp>
        <p:sp>
          <p:nvSpPr>
            <p:cNvPr id="6" name="Rectangle 6"/>
            <p:cNvSpPr/>
            <p:nvPr/>
          </p:nvSpPr>
          <p:spPr>
            <a:xfrm>
              <a:off x="609600" y="1504950"/>
              <a:ext cx="57150" cy="1828800"/>
            </a:xfrm>
            <a:prstGeom prst="roundRect">
              <a:avLst>
                <a:gd name="adj" fmla="val 50000"/>
              </a:avLst>
            </a:prstGeom>
            <a:solidFill>
              <a:schemeClr val="accent2"/>
            </a:solidFill>
            <a:ln>
              <a:noFill/>
            </a:ln>
          </p:spPr>
        </p:sp>
        <p:sp>
          <p:nvSpPr>
            <p:cNvPr id="7" name="TextBox 7"/>
            <p:cNvSpPr txBox="1"/>
            <p:nvPr/>
          </p:nvSpPr>
          <p:spPr>
            <a:xfrm>
              <a:off x="870014" y="1733312"/>
              <a:ext cx="2043033" cy="242030"/>
            </a:xfrm>
            <a:prstGeom prst="rect">
              <a:avLst/>
            </a:prstGeom>
            <a:noFill/>
            <a:ln>
              <a:noFill/>
            </a:ln>
          </p:spPr>
          <p:txBody>
            <a:bodyPr wrap="none" lIns="0" tIns="0" rIns="0" bIns="0" anchor="t" anchorCtr="0">
              <a:spAutoFit/>
            </a:bodyPr>
            <a:lstStyle/>
            <a:p>
              <a:pPr algn="l"/>
              <a:r>
                <a:rPr lang="en-US" sz="1240" b="1" dirty="0">
                  <a:solidFill>
                    <a:schemeClr val="accent2"/>
                  </a:solidFill>
                  <a:latin typeface="+mn-lt"/>
                  <a:ea typeface="+mn-ea"/>
                  <a:cs typeface="+mn-cs"/>
                </a:rPr>
                <a:t>Two ideas point the way</a:t>
              </a:r>
            </a:p>
          </p:txBody>
        </p:sp>
        <p:sp>
          <p:nvSpPr>
            <p:cNvPr id="8" name="TextBox 8"/>
            <p:cNvSpPr txBox="1"/>
            <p:nvPr/>
          </p:nvSpPr>
          <p:spPr>
            <a:xfrm>
              <a:off x="870966" y="2039302"/>
              <a:ext cx="4001467"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Recent progress suggests two useful ideas that together</a:t>
              </a:r>
            </a:p>
          </p:txBody>
        </p:sp>
        <p:sp>
          <p:nvSpPr>
            <p:cNvPr id="9" name="TextBox 9"/>
            <p:cNvSpPr txBox="1"/>
            <p:nvPr/>
          </p:nvSpPr>
          <p:spPr>
            <a:xfrm>
              <a:off x="870966" y="2239328"/>
              <a:ext cx="3869924"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enable a broad, sequence-only predictor of RNA-protein</a:t>
              </a:r>
            </a:p>
          </p:txBody>
        </p:sp>
        <p:sp>
          <p:nvSpPr>
            <p:cNvPr id="10" name="TextBox 10"/>
            <p:cNvSpPr txBox="1"/>
            <p:nvPr/>
          </p:nvSpPr>
          <p:spPr>
            <a:xfrm>
              <a:off x="870966" y="2439352"/>
              <a:ext cx="87290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interaction.</a:t>
              </a:r>
            </a:p>
          </p:txBody>
        </p:sp>
        <p:sp>
          <p:nvSpPr>
            <p:cNvPr id="11" name="Rectangle 11"/>
            <p:cNvSpPr/>
            <p:nvPr/>
          </p:nvSpPr>
          <p:spPr>
            <a:xfrm>
              <a:off x="876300" y="2857500"/>
              <a:ext cx="2362200" cy="323850"/>
            </a:xfrm>
            <a:prstGeom prst="roundRect">
              <a:avLst>
                <a:gd name="adj" fmla="val 23529"/>
              </a:avLst>
            </a:prstGeom>
            <a:solidFill>
              <a:schemeClr val="accent6"/>
            </a:solidFill>
            <a:ln w="14288">
              <a:solidFill>
                <a:srgbClr val="26455F"/>
              </a:solidFill>
            </a:ln>
          </p:spPr>
        </p:sp>
        <p:sp>
          <p:nvSpPr>
            <p:cNvPr id="12" name="Ellipse 12"/>
            <p:cNvSpPr/>
            <p:nvPr/>
          </p:nvSpPr>
          <p:spPr>
            <a:xfrm>
              <a:off x="1000125" y="2971800"/>
              <a:ext cx="95250" cy="95250"/>
            </a:xfrm>
            <a:prstGeom prst="ellipse">
              <a:avLst/>
            </a:prstGeom>
            <a:solidFill>
              <a:srgbClr val="34D3C0"/>
            </a:solidFill>
            <a:ln>
              <a:noFill/>
            </a:ln>
          </p:spPr>
        </p:sp>
        <p:sp>
          <p:nvSpPr>
            <p:cNvPr id="13" name="TextBox 13"/>
            <p:cNvSpPr txBox="1"/>
            <p:nvPr/>
          </p:nvSpPr>
          <p:spPr>
            <a:xfrm>
              <a:off x="1194626" y="2959179"/>
              <a:ext cx="2399174" cy="212693"/>
            </a:xfrm>
            <a:prstGeom prst="rect">
              <a:avLst/>
            </a:prstGeom>
            <a:noFill/>
            <a:ln>
              <a:noFill/>
            </a:ln>
          </p:spPr>
          <p:txBody>
            <a:bodyPr wrap="none" lIns="0" tIns="0" rIns="0" bIns="0" anchor="t" anchorCtr="0">
              <a:spAutoFit/>
            </a:bodyPr>
            <a:lstStyle/>
            <a:p>
              <a:pPr algn="l"/>
              <a:r>
                <a:rPr lang="en-US" sz="1090" b="1" dirty="0">
                  <a:solidFill>
                    <a:schemeClr val="dk1"/>
                  </a:solidFill>
                  <a:latin typeface="+mn-lt"/>
                  <a:ea typeface="+mn-ea"/>
                  <a:cs typeface="+mn-cs"/>
                </a:rPr>
                <a:t>idea 1: learn across many tasks</a:t>
              </a:r>
            </a:p>
          </p:txBody>
        </p:sp>
        <p:sp>
          <p:nvSpPr>
            <p:cNvPr id="14" name="Rectangle 14"/>
            <p:cNvSpPr/>
            <p:nvPr/>
          </p:nvSpPr>
          <p:spPr>
            <a:xfrm>
              <a:off x="3314700" y="2857500"/>
              <a:ext cx="2362200" cy="323850"/>
            </a:xfrm>
            <a:prstGeom prst="roundRect">
              <a:avLst>
                <a:gd name="adj" fmla="val 23529"/>
              </a:avLst>
            </a:prstGeom>
            <a:solidFill>
              <a:schemeClr val="accent6"/>
            </a:solidFill>
            <a:ln w="14288">
              <a:solidFill>
                <a:srgbClr val="26455F"/>
              </a:solidFill>
            </a:ln>
          </p:spPr>
        </p:sp>
        <p:sp>
          <p:nvSpPr>
            <p:cNvPr id="15" name="Ellipse 15"/>
            <p:cNvSpPr/>
            <p:nvPr/>
          </p:nvSpPr>
          <p:spPr>
            <a:xfrm>
              <a:off x="3438525" y="2971800"/>
              <a:ext cx="95250" cy="95250"/>
            </a:xfrm>
            <a:prstGeom prst="ellipse">
              <a:avLst/>
            </a:prstGeom>
            <a:solidFill>
              <a:srgbClr val="48C78E"/>
            </a:solidFill>
            <a:ln>
              <a:noFill/>
            </a:ln>
          </p:spPr>
        </p:sp>
        <p:sp>
          <p:nvSpPr>
            <p:cNvPr id="16" name="TextBox 16"/>
            <p:cNvSpPr txBox="1"/>
            <p:nvPr/>
          </p:nvSpPr>
          <p:spPr>
            <a:xfrm>
              <a:off x="3633026" y="2959179"/>
              <a:ext cx="1929253" cy="212693"/>
            </a:xfrm>
            <a:prstGeom prst="rect">
              <a:avLst/>
            </a:prstGeom>
            <a:noFill/>
            <a:ln>
              <a:noFill/>
            </a:ln>
          </p:spPr>
          <p:txBody>
            <a:bodyPr wrap="none" lIns="0" tIns="0" rIns="0" bIns="0" anchor="t" anchorCtr="0">
              <a:spAutoFit/>
            </a:bodyPr>
            <a:lstStyle/>
            <a:p>
              <a:pPr algn="l"/>
              <a:r>
                <a:rPr lang="en-US" sz="1090" b="1" dirty="0">
                  <a:solidFill>
                    <a:schemeClr val="dk1"/>
                  </a:solidFill>
                  <a:latin typeface="+mn-lt"/>
                  <a:ea typeface="+mn-ea"/>
                  <a:cs typeface="+mn-cs"/>
                </a:rPr>
                <a:t>idea 2: foundation models</a:t>
              </a:r>
            </a:p>
          </p:txBody>
        </p:sp>
      </p:grpSp>
      <p:grpSp>
        <p:nvGrpSpPr>
          <p:cNvPr id="27" name="Group 27"/>
          <p:cNvGrpSpPr/>
          <p:nvPr/>
        </p:nvGrpSpPr>
        <p:grpSpPr>
          <a:xfrm>
            <a:off x="609600" y="3486150"/>
            <a:ext cx="5334000" cy="1752600"/>
            <a:chOff x="609600" y="3486150"/>
            <a:chExt cx="5334000" cy="1752600"/>
          </a:xfrm>
        </p:grpSpPr>
        <p:sp>
          <p:nvSpPr>
            <p:cNvPr id="18" name="Rectangle 18"/>
            <p:cNvSpPr/>
            <p:nvPr/>
          </p:nvSpPr>
          <p:spPr>
            <a:xfrm>
              <a:off x="609600" y="3486150"/>
              <a:ext cx="5334000" cy="1752600"/>
            </a:xfrm>
            <a:prstGeom prst="roundRect">
              <a:avLst>
                <a:gd name="adj" fmla="val 7609"/>
              </a:avLst>
            </a:prstGeom>
            <a:solidFill>
              <a:srgbClr val="0F2E2B"/>
            </a:solidFill>
            <a:ln w="14288">
              <a:solidFill>
                <a:srgbClr val="34D3C0"/>
              </a:solidFill>
            </a:ln>
          </p:spPr>
        </p:sp>
        <p:sp>
          <p:nvSpPr>
            <p:cNvPr id="19" name="Rectangle 19"/>
            <p:cNvSpPr/>
            <p:nvPr/>
          </p:nvSpPr>
          <p:spPr>
            <a:xfrm>
              <a:off x="609600" y="3486150"/>
              <a:ext cx="57150" cy="1752600"/>
            </a:xfrm>
            <a:prstGeom prst="roundRect">
              <a:avLst>
                <a:gd name="adj" fmla="val 50000"/>
              </a:avLst>
            </a:prstGeom>
            <a:solidFill>
              <a:srgbClr val="34D3C0"/>
            </a:solidFill>
            <a:ln>
              <a:noFill/>
            </a:ln>
          </p:spPr>
        </p:sp>
        <p:sp>
          <p:nvSpPr>
            <p:cNvPr id="20" name="TextBox 20"/>
            <p:cNvSpPr txBox="1"/>
            <p:nvPr/>
          </p:nvSpPr>
          <p:spPr>
            <a:xfrm>
              <a:off x="870204" y="3718560"/>
              <a:ext cx="2070417" cy="234696"/>
            </a:xfrm>
            <a:prstGeom prst="rect">
              <a:avLst/>
            </a:prstGeom>
            <a:noFill/>
            <a:ln>
              <a:noFill/>
            </a:ln>
          </p:spPr>
          <p:txBody>
            <a:bodyPr wrap="none" lIns="0" tIns="0" rIns="0" bIns="0" anchor="t" anchorCtr="0">
              <a:spAutoFit/>
            </a:bodyPr>
            <a:lstStyle/>
            <a:p>
              <a:pPr algn="l"/>
              <a:r>
                <a:rPr lang="en-US" sz="1200" b="1" dirty="0">
                  <a:solidFill>
                    <a:srgbClr val="34D3C0"/>
                  </a:solidFill>
                  <a:latin typeface="+mn-lt"/>
                  <a:ea typeface="+mn-ea"/>
                  <a:cs typeface="+mn-cs"/>
                </a:rPr>
                <a:t>Learn across many tasks</a:t>
              </a:r>
            </a:p>
          </p:txBody>
        </p:sp>
        <p:sp>
          <p:nvSpPr>
            <p:cNvPr id="21" name="TextBox 21"/>
            <p:cNvSpPr txBox="1"/>
            <p:nvPr/>
          </p:nvSpPr>
          <p:spPr>
            <a:xfrm>
              <a:off x="870966" y="4020502"/>
              <a:ext cx="3888451"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Learning across many interaction types at once, rather</a:t>
              </a:r>
            </a:p>
          </p:txBody>
        </p:sp>
        <p:sp>
          <p:nvSpPr>
            <p:cNvPr id="22" name="TextBox 22"/>
            <p:cNvSpPr txBox="1"/>
            <p:nvPr/>
          </p:nvSpPr>
          <p:spPr>
            <a:xfrm>
              <a:off x="870966" y="4220528"/>
              <a:ext cx="3855415"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than one protein at a time, helps precisely when labeled</a:t>
              </a:r>
            </a:p>
          </p:txBody>
        </p:sp>
        <p:sp>
          <p:nvSpPr>
            <p:cNvPr id="23" name="TextBox 23"/>
            <p:cNvSpPr txBox="1"/>
            <p:nvPr/>
          </p:nvSpPr>
          <p:spPr>
            <a:xfrm>
              <a:off x="870966" y="4420552"/>
              <a:ext cx="1070801"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data is scarce.</a:t>
              </a:r>
            </a:p>
          </p:txBody>
        </p:sp>
        <p:sp>
          <p:nvSpPr>
            <p:cNvPr id="24" name="Rectangle 24"/>
            <p:cNvSpPr/>
            <p:nvPr/>
          </p:nvSpPr>
          <p:spPr>
            <a:xfrm>
              <a:off x="876300" y="4800600"/>
              <a:ext cx="4457700" cy="285750"/>
            </a:xfrm>
            <a:prstGeom prst="roundRect">
              <a:avLst>
                <a:gd name="adj" fmla="val 26667"/>
              </a:avLst>
            </a:prstGeom>
            <a:solidFill>
              <a:schemeClr val="accent6"/>
            </a:solidFill>
            <a:ln w="14288">
              <a:solidFill>
                <a:srgbClr val="26455F"/>
              </a:solidFill>
            </a:ln>
          </p:spPr>
        </p:sp>
        <p:sp>
          <p:nvSpPr>
            <p:cNvPr id="25" name="Ellipse 25"/>
            <p:cNvSpPr/>
            <p:nvPr/>
          </p:nvSpPr>
          <p:spPr>
            <a:xfrm>
              <a:off x="1000125" y="4895850"/>
              <a:ext cx="95250" cy="95250"/>
            </a:xfrm>
            <a:prstGeom prst="ellipse">
              <a:avLst/>
            </a:prstGeom>
            <a:solidFill>
              <a:srgbClr val="34D3C0"/>
            </a:solidFill>
            <a:ln>
              <a:noFill/>
            </a:ln>
          </p:spPr>
        </p:sp>
        <p:sp>
          <p:nvSpPr>
            <p:cNvPr id="26" name="TextBox 26"/>
            <p:cNvSpPr txBox="1"/>
            <p:nvPr/>
          </p:nvSpPr>
          <p:spPr>
            <a:xfrm>
              <a:off x="1194626" y="4883229"/>
              <a:ext cx="2599469" cy="212693"/>
            </a:xfrm>
            <a:prstGeom prst="rect">
              <a:avLst/>
            </a:prstGeom>
            <a:noFill/>
            <a:ln>
              <a:noFill/>
            </a:ln>
          </p:spPr>
          <p:txBody>
            <a:bodyPr wrap="none" lIns="0" tIns="0" rIns="0" bIns="0" anchor="t" anchorCtr="0">
              <a:spAutoFit/>
            </a:bodyPr>
            <a:lstStyle/>
            <a:p>
              <a:pPr algn="l"/>
              <a:r>
                <a:rPr lang="en-US" sz="1090" b="1" dirty="0">
                  <a:solidFill>
                    <a:schemeClr val="dk1"/>
                  </a:solidFill>
                  <a:latin typeface="+mn-lt"/>
                  <a:ea typeface="+mn-ea"/>
                  <a:cs typeface="+mn-cs"/>
                </a:rPr>
                <a:t>many proteins -&gt; one shared model</a:t>
              </a:r>
            </a:p>
          </p:txBody>
        </p:sp>
      </p:grpSp>
      <p:grpSp>
        <p:nvGrpSpPr>
          <p:cNvPr id="35" name="Group 35"/>
          <p:cNvGrpSpPr/>
          <p:nvPr/>
        </p:nvGrpSpPr>
        <p:grpSpPr>
          <a:xfrm>
            <a:off x="6172200" y="1504950"/>
            <a:ext cx="5410200" cy="1828800"/>
            <a:chOff x="6172200" y="1504950"/>
            <a:chExt cx="5410200" cy="1828800"/>
          </a:xfrm>
        </p:grpSpPr>
        <p:sp>
          <p:nvSpPr>
            <p:cNvPr id="28" name="Rectangle 28"/>
            <p:cNvSpPr/>
            <p:nvPr/>
          </p:nvSpPr>
          <p:spPr>
            <a:xfrm>
              <a:off x="6172200" y="1504950"/>
              <a:ext cx="5410200" cy="1828800"/>
            </a:xfrm>
            <a:prstGeom prst="roundRect">
              <a:avLst>
                <a:gd name="adj" fmla="val 7292"/>
              </a:avLst>
            </a:prstGeom>
            <a:solidFill>
              <a:schemeClr val="accent5"/>
            </a:solidFill>
            <a:ln w="14288">
              <a:solidFill>
                <a:srgbClr val="26455F"/>
              </a:solidFill>
            </a:ln>
          </p:spPr>
        </p:sp>
        <p:sp>
          <p:nvSpPr>
            <p:cNvPr id="29" name="Rectangle 29"/>
            <p:cNvSpPr/>
            <p:nvPr/>
          </p:nvSpPr>
          <p:spPr>
            <a:xfrm>
              <a:off x="6172200" y="1504950"/>
              <a:ext cx="57150" cy="1828800"/>
            </a:xfrm>
            <a:prstGeom prst="roundRect">
              <a:avLst>
                <a:gd name="adj" fmla="val 50000"/>
              </a:avLst>
            </a:prstGeom>
            <a:solidFill>
              <a:srgbClr val="48C78E"/>
            </a:solidFill>
            <a:ln>
              <a:noFill/>
            </a:ln>
          </p:spPr>
        </p:sp>
        <p:sp>
          <p:nvSpPr>
            <p:cNvPr id="30" name="TextBox 30"/>
            <p:cNvSpPr txBox="1"/>
            <p:nvPr/>
          </p:nvSpPr>
          <p:spPr>
            <a:xfrm>
              <a:off x="6432614" y="1733312"/>
              <a:ext cx="2734831" cy="242030"/>
            </a:xfrm>
            <a:prstGeom prst="rect">
              <a:avLst/>
            </a:prstGeom>
            <a:noFill/>
            <a:ln>
              <a:noFill/>
            </a:ln>
          </p:spPr>
          <p:txBody>
            <a:bodyPr wrap="none" lIns="0" tIns="0" rIns="0" bIns="0" anchor="t" anchorCtr="0">
              <a:spAutoFit/>
            </a:bodyPr>
            <a:lstStyle/>
            <a:p>
              <a:pPr algn="l"/>
              <a:r>
                <a:rPr lang="en-US" sz="1240" b="1" dirty="0">
                  <a:solidFill>
                    <a:srgbClr val="48C78E"/>
                  </a:solidFill>
                  <a:latin typeface="+mn-lt"/>
                  <a:ea typeface="+mn-ea"/>
                  <a:cs typeface="+mn-cs"/>
                </a:rPr>
                <a:t>Foundation models expose signal</a:t>
              </a:r>
            </a:p>
          </p:txBody>
        </p:sp>
        <p:sp>
          <p:nvSpPr>
            <p:cNvPr id="31" name="TextBox 31"/>
            <p:cNvSpPr txBox="1"/>
            <p:nvPr/>
          </p:nvSpPr>
          <p:spPr>
            <a:xfrm>
              <a:off x="6433566" y="2039302"/>
              <a:ext cx="371135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Foundation models trained on huge unlabeled biological</a:t>
              </a:r>
            </a:p>
          </p:txBody>
        </p:sp>
        <p:sp>
          <p:nvSpPr>
            <p:cNvPr id="32" name="TextBox 32"/>
            <p:cNvSpPr txBox="1"/>
            <p:nvPr/>
          </p:nvSpPr>
          <p:spPr>
            <a:xfrm>
              <a:off x="6433566" y="2239328"/>
              <a:ext cx="3742334"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corpora capture structural and functional signal that</a:t>
              </a:r>
            </a:p>
          </p:txBody>
        </p:sp>
        <p:sp>
          <p:nvSpPr>
            <p:cNvPr id="33" name="TextBox 33"/>
            <p:cNvSpPr txBox="1"/>
            <p:nvPr/>
          </p:nvSpPr>
          <p:spPr>
            <a:xfrm>
              <a:off x="6433566" y="2439352"/>
              <a:ext cx="2668067"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raw sequences do not expose directly.</a:t>
              </a:r>
            </a:p>
          </p:txBody>
        </p:sp>
        <p:sp>
          <p:nvSpPr>
            <p:cNvPr id="34" name="TextBox 34"/>
            <p:cNvSpPr txBox="1"/>
            <p:nvPr/>
          </p:nvSpPr>
          <p:spPr>
            <a:xfrm>
              <a:off x="6433756" y="2919651"/>
              <a:ext cx="2624947" cy="198025"/>
            </a:xfrm>
            <a:prstGeom prst="rect">
              <a:avLst/>
            </a:prstGeom>
            <a:noFill/>
            <a:ln>
              <a:noFill/>
            </a:ln>
          </p:spPr>
          <p:txBody>
            <a:bodyPr wrap="none" lIns="0" tIns="0" rIns="0" bIns="0" anchor="t" anchorCtr="0">
              <a:spAutoFit/>
            </a:bodyPr>
            <a:lstStyle/>
            <a:p>
              <a:pPr algn="l"/>
              <a:r>
                <a:rPr lang="en-US" sz="1010" b="1" dirty="0">
                  <a:solidFill>
                    <a:srgbClr val="48C78E"/>
                  </a:solidFill>
                  <a:latin typeface="Consolas"/>
                  <a:ea typeface="Consolas"/>
                  <a:cs typeface="Consolas"/>
                </a:rPr>
                <a:t>AUGC... -&gt; RNA-FM -&gt; rich embedding</a:t>
              </a:r>
            </a:p>
          </p:txBody>
        </p:sp>
      </p:grpSp>
      <p:grpSp>
        <p:nvGrpSpPr>
          <p:cNvPr id="43" name="Group 43"/>
          <p:cNvGrpSpPr/>
          <p:nvPr/>
        </p:nvGrpSpPr>
        <p:grpSpPr>
          <a:xfrm>
            <a:off x="6172200" y="3486150"/>
            <a:ext cx="5410200" cy="1752600"/>
            <a:chOff x="6172200" y="3486150"/>
            <a:chExt cx="5410200" cy="1752600"/>
          </a:xfrm>
        </p:grpSpPr>
        <p:sp>
          <p:nvSpPr>
            <p:cNvPr id="36" name="Rectangle 36"/>
            <p:cNvSpPr/>
            <p:nvPr/>
          </p:nvSpPr>
          <p:spPr>
            <a:xfrm>
              <a:off x="6172200" y="3486150"/>
              <a:ext cx="5410200" cy="1752600"/>
            </a:xfrm>
            <a:prstGeom prst="roundRect">
              <a:avLst>
                <a:gd name="adj" fmla="val 7609"/>
              </a:avLst>
            </a:prstGeom>
            <a:solidFill>
              <a:srgbClr val="2A2417"/>
            </a:solidFill>
            <a:ln w="14288">
              <a:solidFill>
                <a:srgbClr val="F2C14E"/>
              </a:solidFill>
            </a:ln>
          </p:spPr>
        </p:sp>
        <p:sp>
          <p:nvSpPr>
            <p:cNvPr id="37" name="Rectangle 37"/>
            <p:cNvSpPr/>
            <p:nvPr/>
          </p:nvSpPr>
          <p:spPr>
            <a:xfrm>
              <a:off x="6172200" y="3486150"/>
              <a:ext cx="57150" cy="1752600"/>
            </a:xfrm>
            <a:prstGeom prst="roundRect">
              <a:avLst>
                <a:gd name="adj" fmla="val 50000"/>
              </a:avLst>
            </a:prstGeom>
            <a:solidFill>
              <a:srgbClr val="F2C14E"/>
            </a:solidFill>
            <a:ln>
              <a:noFill/>
            </a:ln>
          </p:spPr>
        </p:sp>
        <p:sp>
          <p:nvSpPr>
            <p:cNvPr id="38" name="TextBox 38"/>
            <p:cNvSpPr txBox="1"/>
            <p:nvPr/>
          </p:nvSpPr>
          <p:spPr>
            <a:xfrm>
              <a:off x="6432804" y="3718560"/>
              <a:ext cx="3113620" cy="234696"/>
            </a:xfrm>
            <a:prstGeom prst="rect">
              <a:avLst/>
            </a:prstGeom>
            <a:noFill/>
            <a:ln>
              <a:noFill/>
            </a:ln>
          </p:spPr>
          <p:txBody>
            <a:bodyPr wrap="none" lIns="0" tIns="0" rIns="0" bIns="0" anchor="t" anchorCtr="0">
              <a:spAutoFit/>
            </a:bodyPr>
            <a:lstStyle/>
            <a:p>
              <a:pPr algn="l"/>
              <a:r>
                <a:rPr lang="en-US" sz="1200" b="1" dirty="0">
                  <a:solidFill>
                    <a:srgbClr val="F2C14E"/>
                  </a:solidFill>
                  <a:latin typeface="+mn-lt"/>
                  <a:ea typeface="+mn-ea"/>
                  <a:cs typeface="+mn-cs"/>
                </a:rPr>
                <a:t>Combine: general rules, unseen types</a:t>
              </a:r>
            </a:p>
          </p:txBody>
        </p:sp>
        <p:sp>
          <p:nvSpPr>
            <p:cNvPr id="39" name="TextBox 39"/>
            <p:cNvSpPr txBox="1"/>
            <p:nvPr/>
          </p:nvSpPr>
          <p:spPr>
            <a:xfrm>
              <a:off x="6433566" y="4020502"/>
              <a:ext cx="3506743"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Combined, a single model can learn general rules of</a:t>
              </a:r>
            </a:p>
          </p:txBody>
        </p:sp>
        <p:sp>
          <p:nvSpPr>
            <p:cNvPr id="40" name="TextBox 40"/>
            <p:cNvSpPr txBox="1"/>
            <p:nvPr/>
          </p:nvSpPr>
          <p:spPr>
            <a:xfrm>
              <a:off x="6433566" y="4220528"/>
              <a:ext cx="4031856"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RNA-protein binding and apply them to interaction types it</a:t>
              </a:r>
            </a:p>
          </p:txBody>
        </p:sp>
        <p:sp>
          <p:nvSpPr>
            <p:cNvPr id="41" name="TextBox 41"/>
            <p:cNvSpPr txBox="1"/>
            <p:nvPr/>
          </p:nvSpPr>
          <p:spPr>
            <a:xfrm>
              <a:off x="6433566" y="4420552"/>
              <a:ext cx="1106138"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has never seen.</a:t>
              </a:r>
            </a:p>
          </p:txBody>
        </p:sp>
        <p:sp>
          <p:nvSpPr>
            <p:cNvPr id="42" name="TextBox 42"/>
            <p:cNvSpPr txBox="1"/>
            <p:nvPr/>
          </p:nvSpPr>
          <p:spPr>
            <a:xfrm>
              <a:off x="6433756" y="4862751"/>
              <a:ext cx="3043999" cy="198025"/>
            </a:xfrm>
            <a:prstGeom prst="rect">
              <a:avLst/>
            </a:prstGeom>
            <a:noFill/>
            <a:ln>
              <a:noFill/>
            </a:ln>
          </p:spPr>
          <p:txBody>
            <a:bodyPr wrap="none" lIns="0" tIns="0" rIns="0" bIns="0" anchor="t" anchorCtr="0">
              <a:spAutoFit/>
            </a:bodyPr>
            <a:lstStyle/>
            <a:p>
              <a:pPr algn="l"/>
              <a:r>
                <a:rPr lang="en-US" sz="1010" b="1" dirty="0">
                  <a:solidFill>
                    <a:srgbClr val="F2C14E"/>
                  </a:solidFill>
                  <a:latin typeface="Consolas"/>
                  <a:ea typeface="Consolas"/>
                  <a:cs typeface="Consolas"/>
                </a:rPr>
                <a:t>general binding rules -&gt; unseen RNA families</a:t>
              </a:r>
            </a:p>
          </p:txBody>
        </p:sp>
      </p:grpSp>
      <p:sp>
        <p:nvSpPr>
          <p:cNvPr id="44" name="cue_s03_c1_recent_progress_shows_two_useful" title="cue_s03_c1_recent_progress_shows_two_useful" descr="cue_s03_c1_recent_progress_shows_two_useful Recent progress shows two useful ideas."/>
          <p:cNvSpPr/>
          <p:nvPr/>
        </p:nvSpPr>
        <p:spPr>
          <a:xfrm>
            <a:off x="609600" y="1504645"/>
            <a:ext cx="5334000" cy="18290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cue_s03_c2_first_learning_across_many_tasks" title="cue_s03_c2_first_learning_across_many_tasks" descr="cue_s03_c2_first_learning_across_many_tasks First, learning across many tasks, rather than one protein at a time, can help when labeled data is scarce."/>
          <p:cNvSpPr/>
          <p:nvPr/>
        </p:nvSpPr>
        <p:spPr>
          <a:xfrm>
            <a:off x="609600" y="3485921"/>
            <a:ext cx="5334000" cy="17529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ue_s03_c3_second_foundation_models_trained_hug" title="cue_s03_c3_second_foundation_models_trained_hug" descr="cue_s03_c3_second_foundation_models_trained_hug Second, foundation models trained on huge unlabeled biological corpora capture structural and functional signal that raw sequences do not expose directly."/>
          <p:cNvSpPr/>
          <p:nvPr/>
        </p:nvSpPr>
        <p:spPr>
          <a:xfrm>
            <a:off x="6171590" y="1504645"/>
            <a:ext cx="5409590" cy="18290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cue_s03_c4_combining_these_ideas_single_could" title="cue_s03_c4_combining_these_ideas_single_could" descr="cue_s03_c4_combining_these_ideas_single_could Combining these ideas, a single model could learn general rules of RNA-protein binding and apply them to interaction types it has never seen, which is exactly what a broad, sequence-only predictor needs."/>
          <p:cNvSpPr/>
          <p:nvPr/>
        </p:nvSpPr>
        <p:spPr>
          <a:xfrm>
            <a:off x="6171590" y="3485921"/>
            <a:ext cx="5409590" cy="17529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392865"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CONTRIBUTION</a:t>
            </a:r>
          </a:p>
        </p:txBody>
      </p:sp>
      <p:sp>
        <p:nvSpPr>
          <p:cNvPr id="4" name="TextBox 4"/>
          <p:cNvSpPr txBox="1"/>
          <p:nvPr/>
        </p:nvSpPr>
        <p:spPr>
          <a:xfrm>
            <a:off x="598170" y="804862"/>
            <a:ext cx="5504612"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A dataset, a model, and an ablation</a:t>
            </a:r>
          </a:p>
        </p:txBody>
      </p:sp>
      <p:grpSp>
        <p:nvGrpSpPr>
          <p:cNvPr id="15" name="Group 15"/>
          <p:cNvGrpSpPr/>
          <p:nvPr/>
        </p:nvGrpSpPr>
        <p:grpSpPr>
          <a:xfrm>
            <a:off x="609600" y="1714500"/>
            <a:ext cx="2590800" cy="3543300"/>
            <a:chOff x="609600" y="1714500"/>
            <a:chExt cx="2590800" cy="3543300"/>
          </a:xfrm>
        </p:grpSpPr>
        <p:sp>
          <p:nvSpPr>
            <p:cNvPr id="5" name="Rectangle 5"/>
            <p:cNvSpPr/>
            <p:nvPr/>
          </p:nvSpPr>
          <p:spPr>
            <a:xfrm>
              <a:off x="609600" y="1714500"/>
              <a:ext cx="2590800" cy="3543300"/>
            </a:xfrm>
            <a:prstGeom prst="roundRect">
              <a:avLst>
                <a:gd name="adj" fmla="val 5147"/>
              </a:avLst>
            </a:prstGeom>
            <a:solidFill>
              <a:schemeClr val="accent5"/>
            </a:solidFill>
            <a:ln w="14288">
              <a:solidFill>
                <a:srgbClr val="26455F"/>
              </a:solidFill>
            </a:ln>
          </p:spPr>
        </p:sp>
        <p:sp>
          <p:nvSpPr>
            <p:cNvPr id="6" name="Rectangle 6"/>
            <p:cNvSpPr/>
            <p:nvPr/>
          </p:nvSpPr>
          <p:spPr>
            <a:xfrm>
              <a:off x="609600" y="1714500"/>
              <a:ext cx="2590800" cy="57150"/>
            </a:xfrm>
            <a:prstGeom prst="roundRect">
              <a:avLst>
                <a:gd name="adj" fmla="val 50000"/>
              </a:avLst>
            </a:prstGeom>
            <a:solidFill>
              <a:schemeClr val="accent2"/>
            </a:solidFill>
            <a:ln>
              <a:noFill/>
            </a:ln>
          </p:spPr>
        </p:sp>
        <p:sp>
          <p:nvSpPr>
            <p:cNvPr id="7" name="Ellipse 7"/>
            <p:cNvSpPr/>
            <p:nvPr/>
          </p:nvSpPr>
          <p:spPr>
            <a:xfrm>
              <a:off x="838200" y="2095500"/>
              <a:ext cx="495300" cy="495300"/>
            </a:xfrm>
            <a:prstGeom prst="ellipse">
              <a:avLst/>
            </a:prstGeom>
            <a:noFill/>
            <a:ln w="23812">
              <a:solidFill>
                <a:schemeClr val="accent2"/>
              </a:solidFill>
            </a:ln>
          </p:spPr>
        </p:sp>
        <p:sp>
          <p:nvSpPr>
            <p:cNvPr id="8" name="TextBox 8"/>
            <p:cNvSpPr txBox="1"/>
            <p:nvPr/>
          </p:nvSpPr>
          <p:spPr>
            <a:xfrm>
              <a:off x="974039" y="2273618"/>
              <a:ext cx="223622" cy="264033"/>
            </a:xfrm>
            <a:prstGeom prst="rect">
              <a:avLst/>
            </a:prstGeom>
            <a:noFill/>
            <a:ln>
              <a:noFill/>
            </a:ln>
          </p:spPr>
          <p:txBody>
            <a:bodyPr wrap="none" lIns="0" tIns="0" rIns="0" bIns="0" anchor="t" anchorCtr="0">
              <a:spAutoFit/>
            </a:bodyPr>
            <a:lstStyle/>
            <a:p>
              <a:pPr algn="ctr"/>
              <a:r>
                <a:rPr lang="en-US" sz="1350" b="1" dirty="0">
                  <a:solidFill>
                    <a:schemeClr val="accent2"/>
                  </a:solidFill>
                  <a:latin typeface="+mn-lt"/>
                  <a:ea typeface="+mn-ea"/>
                  <a:cs typeface="+mn-cs"/>
                </a:rPr>
                <a:t>3x</a:t>
              </a:r>
            </a:p>
          </p:txBody>
        </p:sp>
        <p:sp>
          <p:nvSpPr>
            <p:cNvPr id="9" name="TextBox 9"/>
            <p:cNvSpPr txBox="1"/>
            <p:nvPr/>
          </p:nvSpPr>
          <p:spPr>
            <a:xfrm>
              <a:off x="831532" y="2849166"/>
              <a:ext cx="528317" cy="256699"/>
            </a:xfrm>
            <a:prstGeom prst="rect">
              <a:avLst/>
            </a:prstGeom>
            <a:noFill/>
            <a:ln>
              <a:noFill/>
            </a:ln>
          </p:spPr>
          <p:txBody>
            <a:bodyPr wrap="none" lIns="0" tIns="0" rIns="0" bIns="0" anchor="t" anchorCtr="0">
              <a:spAutoFit/>
            </a:bodyPr>
            <a:lstStyle/>
            <a:p>
              <a:pPr algn="l"/>
              <a:r>
                <a:rPr lang="en-US" sz="1310" b="1" dirty="0">
                  <a:solidFill>
                    <a:schemeClr val="dk1"/>
                  </a:solidFill>
                  <a:latin typeface="+mn-lt"/>
                  <a:ea typeface="+mn-ea"/>
                  <a:cs typeface="+mn-cs"/>
                </a:rPr>
                <a:t>Three</a:t>
              </a:r>
            </a:p>
          </p:txBody>
        </p:sp>
        <p:sp>
          <p:nvSpPr>
            <p:cNvPr id="10" name="TextBox 10"/>
            <p:cNvSpPr txBox="1"/>
            <p:nvPr/>
          </p:nvSpPr>
          <p:spPr>
            <a:xfrm>
              <a:off x="831532" y="3096816"/>
              <a:ext cx="1244714" cy="256699"/>
            </a:xfrm>
            <a:prstGeom prst="rect">
              <a:avLst/>
            </a:prstGeom>
            <a:noFill/>
            <a:ln>
              <a:noFill/>
            </a:ln>
          </p:spPr>
          <p:txBody>
            <a:bodyPr wrap="none" lIns="0" tIns="0" rIns="0" bIns="0" anchor="t" anchorCtr="0">
              <a:spAutoFit/>
            </a:bodyPr>
            <a:lstStyle/>
            <a:p>
              <a:pPr algn="l"/>
              <a:r>
                <a:rPr lang="en-US" sz="1310" b="1" dirty="0">
                  <a:solidFill>
                    <a:schemeClr val="dk1"/>
                  </a:solidFill>
                  <a:latin typeface="+mn-lt"/>
                  <a:ea typeface="+mn-ea"/>
                  <a:cs typeface="+mn-cs"/>
                </a:rPr>
                <a:t>contributions</a:t>
              </a:r>
            </a:p>
          </p:txBody>
        </p:sp>
        <p:sp>
          <p:nvSpPr>
            <p:cNvPr id="11" name="TextBox 11"/>
            <p:cNvSpPr txBox="1"/>
            <p:nvPr/>
          </p:nvSpPr>
          <p:spPr>
            <a:xfrm>
              <a:off x="832866" y="3487102"/>
              <a:ext cx="180381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One curated dataset, one</a:t>
              </a:r>
            </a:p>
          </p:txBody>
        </p:sp>
        <p:sp>
          <p:nvSpPr>
            <p:cNvPr id="12" name="TextBox 12"/>
            <p:cNvSpPr txBox="1"/>
            <p:nvPr/>
          </p:nvSpPr>
          <p:spPr>
            <a:xfrm>
              <a:off x="832866" y="3696652"/>
              <a:ext cx="2053190"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sequence-only classifier, and</a:t>
              </a:r>
            </a:p>
          </p:txBody>
        </p:sp>
        <p:sp>
          <p:nvSpPr>
            <p:cNvPr id="13" name="TextBox 13"/>
            <p:cNvSpPr txBox="1"/>
            <p:nvPr/>
          </p:nvSpPr>
          <p:spPr>
            <a:xfrm>
              <a:off x="832866" y="3906202"/>
              <a:ext cx="2116798"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an ablation that pins down why</a:t>
              </a:r>
            </a:p>
          </p:txBody>
        </p:sp>
        <p:sp>
          <p:nvSpPr>
            <p:cNvPr id="14" name="TextBox 14"/>
            <p:cNvSpPr txBox="1"/>
            <p:nvPr/>
          </p:nvSpPr>
          <p:spPr>
            <a:xfrm>
              <a:off x="832866" y="4115752"/>
              <a:ext cx="667950"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it works.</a:t>
              </a:r>
            </a:p>
          </p:txBody>
        </p:sp>
      </p:grpSp>
      <p:grpSp>
        <p:nvGrpSpPr>
          <p:cNvPr id="26" name="Group 26"/>
          <p:cNvGrpSpPr/>
          <p:nvPr/>
        </p:nvGrpSpPr>
        <p:grpSpPr>
          <a:xfrm>
            <a:off x="3429000" y="1714500"/>
            <a:ext cx="2590800" cy="3543300"/>
            <a:chOff x="3429000" y="1714500"/>
            <a:chExt cx="2590800" cy="3543300"/>
          </a:xfrm>
        </p:grpSpPr>
        <p:sp>
          <p:nvSpPr>
            <p:cNvPr id="16" name="Rectangle 16"/>
            <p:cNvSpPr/>
            <p:nvPr/>
          </p:nvSpPr>
          <p:spPr>
            <a:xfrm>
              <a:off x="3429000" y="1714500"/>
              <a:ext cx="2590800" cy="3543300"/>
            </a:xfrm>
            <a:prstGeom prst="roundRect">
              <a:avLst>
                <a:gd name="adj" fmla="val 5147"/>
              </a:avLst>
            </a:prstGeom>
            <a:solidFill>
              <a:schemeClr val="accent5"/>
            </a:solidFill>
            <a:ln w="14288">
              <a:solidFill>
                <a:srgbClr val="26455F"/>
              </a:solidFill>
            </a:ln>
          </p:spPr>
        </p:sp>
        <p:sp>
          <p:nvSpPr>
            <p:cNvPr id="17" name="Rectangle 17"/>
            <p:cNvSpPr/>
            <p:nvPr/>
          </p:nvSpPr>
          <p:spPr>
            <a:xfrm>
              <a:off x="3429000" y="1714500"/>
              <a:ext cx="2590800" cy="57150"/>
            </a:xfrm>
            <a:prstGeom prst="roundRect">
              <a:avLst>
                <a:gd name="adj" fmla="val 50000"/>
              </a:avLst>
            </a:prstGeom>
            <a:solidFill>
              <a:srgbClr val="34D3C0"/>
            </a:solidFill>
            <a:ln>
              <a:noFill/>
            </a:ln>
          </p:spPr>
        </p:sp>
        <p:sp>
          <p:nvSpPr>
            <p:cNvPr id="18" name="Ellipse 18"/>
            <p:cNvSpPr/>
            <p:nvPr/>
          </p:nvSpPr>
          <p:spPr>
            <a:xfrm>
              <a:off x="3657600" y="2095500"/>
              <a:ext cx="495300" cy="495300"/>
            </a:xfrm>
            <a:prstGeom prst="ellipse">
              <a:avLst/>
            </a:prstGeom>
            <a:noFill/>
            <a:ln w="23812">
              <a:solidFill>
                <a:srgbClr val="34D3C0"/>
              </a:solidFill>
            </a:ln>
          </p:spPr>
        </p:sp>
        <p:sp>
          <p:nvSpPr>
            <p:cNvPr id="19" name="TextBox 19"/>
            <p:cNvSpPr txBox="1"/>
            <p:nvPr/>
          </p:nvSpPr>
          <p:spPr>
            <a:xfrm>
              <a:off x="3793629" y="2281714"/>
              <a:ext cx="223242" cy="249364"/>
            </a:xfrm>
            <a:prstGeom prst="rect">
              <a:avLst/>
            </a:prstGeom>
            <a:noFill/>
            <a:ln>
              <a:noFill/>
            </a:ln>
          </p:spPr>
          <p:txBody>
            <a:bodyPr wrap="none" lIns="0" tIns="0" rIns="0" bIns="0" anchor="t" anchorCtr="0">
              <a:spAutoFit/>
            </a:bodyPr>
            <a:lstStyle/>
            <a:p>
              <a:pPr algn="ctr"/>
              <a:r>
                <a:rPr lang="en-US" sz="1280" b="1" dirty="0">
                  <a:solidFill>
                    <a:srgbClr val="34D3C0"/>
                  </a:solidFill>
                  <a:latin typeface="+mn-lt"/>
                  <a:ea typeface="+mn-ea"/>
                  <a:cs typeface="+mn-cs"/>
                </a:rPr>
                <a:t>DB</a:t>
              </a:r>
            </a:p>
          </p:txBody>
        </p:sp>
        <p:sp>
          <p:nvSpPr>
            <p:cNvPr id="20" name="TextBox 20"/>
            <p:cNvSpPr txBox="1"/>
            <p:nvPr/>
          </p:nvSpPr>
          <p:spPr>
            <a:xfrm>
              <a:off x="3650932" y="2849166"/>
              <a:ext cx="1276396" cy="256699"/>
            </a:xfrm>
            <a:prstGeom prst="rect">
              <a:avLst/>
            </a:prstGeom>
            <a:noFill/>
            <a:ln>
              <a:noFill/>
            </a:ln>
          </p:spPr>
          <p:txBody>
            <a:bodyPr wrap="none" lIns="0" tIns="0" rIns="0" bIns="0" anchor="t" anchorCtr="0">
              <a:spAutoFit/>
            </a:bodyPr>
            <a:lstStyle/>
            <a:p>
              <a:pPr algn="l"/>
              <a:r>
                <a:rPr lang="en-US" sz="1310" b="1" dirty="0">
                  <a:solidFill>
                    <a:schemeClr val="dk1"/>
                  </a:solidFill>
                  <a:latin typeface="+mn-lt"/>
                  <a:ea typeface="+mn-ea"/>
                  <a:cs typeface="+mn-cs"/>
                </a:rPr>
                <a:t>1 RNAInterAct</a:t>
              </a:r>
            </a:p>
          </p:txBody>
        </p:sp>
        <p:sp>
          <p:nvSpPr>
            <p:cNvPr id="21" name="TextBox 21"/>
            <p:cNvSpPr txBox="1"/>
            <p:nvPr/>
          </p:nvSpPr>
          <p:spPr>
            <a:xfrm>
              <a:off x="3652266" y="3239452"/>
              <a:ext cx="1662068"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An extensive dataset of</a:t>
              </a:r>
            </a:p>
          </p:txBody>
        </p:sp>
        <p:sp>
          <p:nvSpPr>
            <p:cNvPr id="22" name="TextBox 22"/>
            <p:cNvSpPr txBox="1"/>
            <p:nvPr/>
          </p:nvSpPr>
          <p:spPr>
            <a:xfrm>
              <a:off x="3652266" y="3449002"/>
              <a:ext cx="1629340"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non-coding RNA-protein</a:t>
              </a:r>
            </a:p>
          </p:txBody>
        </p:sp>
        <p:sp>
          <p:nvSpPr>
            <p:cNvPr id="23" name="TextBox 23"/>
            <p:cNvSpPr txBox="1"/>
            <p:nvPr/>
          </p:nvSpPr>
          <p:spPr>
            <a:xfrm>
              <a:off x="3652266" y="3658552"/>
              <a:ext cx="2177220"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interactions from the RNAInter</a:t>
              </a:r>
            </a:p>
          </p:txBody>
        </p:sp>
        <p:sp>
          <p:nvSpPr>
            <p:cNvPr id="24" name="TextBox 24"/>
            <p:cNvSpPr txBox="1"/>
            <p:nvPr/>
          </p:nvSpPr>
          <p:spPr>
            <a:xfrm>
              <a:off x="3652266" y="3868102"/>
              <a:ext cx="1685677"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database, enriched with</a:t>
              </a:r>
            </a:p>
          </p:txBody>
        </p:sp>
        <p:sp>
          <p:nvSpPr>
            <p:cNvPr id="25" name="TextBox 25"/>
            <p:cNvSpPr txBox="1"/>
            <p:nvPr/>
          </p:nvSpPr>
          <p:spPr>
            <a:xfrm>
              <a:off x="3652266" y="4077652"/>
              <a:ext cx="216627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carefully generated negatives.</a:t>
              </a:r>
            </a:p>
          </p:txBody>
        </p:sp>
      </p:grpSp>
      <p:grpSp>
        <p:nvGrpSpPr>
          <p:cNvPr id="37" name="Group 37"/>
          <p:cNvGrpSpPr/>
          <p:nvPr/>
        </p:nvGrpSpPr>
        <p:grpSpPr>
          <a:xfrm>
            <a:off x="6248400" y="1714500"/>
            <a:ext cx="2590800" cy="3543300"/>
            <a:chOff x="6248400" y="1714500"/>
            <a:chExt cx="2590800" cy="3543300"/>
          </a:xfrm>
        </p:grpSpPr>
        <p:sp>
          <p:nvSpPr>
            <p:cNvPr id="27" name="Rectangle 27"/>
            <p:cNvSpPr/>
            <p:nvPr/>
          </p:nvSpPr>
          <p:spPr>
            <a:xfrm>
              <a:off x="6248400" y="1714500"/>
              <a:ext cx="2590800" cy="3543300"/>
            </a:xfrm>
            <a:prstGeom prst="roundRect">
              <a:avLst>
                <a:gd name="adj" fmla="val 5147"/>
              </a:avLst>
            </a:prstGeom>
            <a:solidFill>
              <a:schemeClr val="accent5"/>
            </a:solidFill>
            <a:ln w="14288">
              <a:solidFill>
                <a:srgbClr val="26455F"/>
              </a:solidFill>
            </a:ln>
          </p:spPr>
        </p:sp>
        <p:sp>
          <p:nvSpPr>
            <p:cNvPr id="28" name="Rectangle 28"/>
            <p:cNvSpPr/>
            <p:nvPr/>
          </p:nvSpPr>
          <p:spPr>
            <a:xfrm>
              <a:off x="6248400" y="1714500"/>
              <a:ext cx="2590800" cy="57150"/>
            </a:xfrm>
            <a:prstGeom prst="roundRect">
              <a:avLst>
                <a:gd name="adj" fmla="val 50000"/>
              </a:avLst>
            </a:prstGeom>
            <a:solidFill>
              <a:srgbClr val="48C78E"/>
            </a:solidFill>
            <a:ln>
              <a:noFill/>
            </a:ln>
          </p:spPr>
        </p:sp>
        <p:sp>
          <p:nvSpPr>
            <p:cNvPr id="29" name="Ellipse 29"/>
            <p:cNvSpPr/>
            <p:nvPr/>
          </p:nvSpPr>
          <p:spPr>
            <a:xfrm>
              <a:off x="6477000" y="2095500"/>
              <a:ext cx="495300" cy="495300"/>
            </a:xfrm>
            <a:prstGeom prst="ellipse">
              <a:avLst/>
            </a:prstGeom>
            <a:noFill/>
            <a:ln w="23812">
              <a:solidFill>
                <a:srgbClr val="48C78E"/>
              </a:solidFill>
            </a:ln>
          </p:spPr>
        </p:sp>
        <p:sp>
          <p:nvSpPr>
            <p:cNvPr id="30" name="TextBox 30"/>
            <p:cNvSpPr txBox="1"/>
            <p:nvPr/>
          </p:nvSpPr>
          <p:spPr>
            <a:xfrm>
              <a:off x="6551451" y="2273618"/>
              <a:ext cx="346398" cy="264033"/>
            </a:xfrm>
            <a:prstGeom prst="rect">
              <a:avLst/>
            </a:prstGeom>
            <a:noFill/>
            <a:ln>
              <a:noFill/>
            </a:ln>
          </p:spPr>
          <p:txBody>
            <a:bodyPr wrap="none" lIns="0" tIns="0" rIns="0" bIns="0" anchor="t" anchorCtr="0">
              <a:spAutoFit/>
            </a:bodyPr>
            <a:lstStyle/>
            <a:p>
              <a:pPr algn="ctr"/>
              <a:r>
                <a:rPr lang="en-US" sz="1350" b="1" dirty="0">
                  <a:solidFill>
                    <a:srgbClr val="48C78E"/>
                  </a:solidFill>
                  <a:latin typeface="+mn-lt"/>
                  <a:ea typeface="+mn-ea"/>
                  <a:cs typeface="+mn-cs"/>
                </a:rPr>
                <a:t>NET</a:t>
              </a:r>
            </a:p>
          </p:txBody>
        </p:sp>
        <p:sp>
          <p:nvSpPr>
            <p:cNvPr id="31" name="TextBox 31"/>
            <p:cNvSpPr txBox="1"/>
            <p:nvPr/>
          </p:nvSpPr>
          <p:spPr>
            <a:xfrm>
              <a:off x="6470332" y="2849166"/>
              <a:ext cx="1301329" cy="256699"/>
            </a:xfrm>
            <a:prstGeom prst="rect">
              <a:avLst/>
            </a:prstGeom>
            <a:noFill/>
            <a:ln>
              <a:noFill/>
            </a:ln>
          </p:spPr>
          <p:txBody>
            <a:bodyPr wrap="none" lIns="0" tIns="0" rIns="0" bIns="0" anchor="t" anchorCtr="0">
              <a:spAutoFit/>
            </a:bodyPr>
            <a:lstStyle/>
            <a:p>
              <a:pPr algn="l"/>
              <a:r>
                <a:rPr lang="en-US" sz="1310" b="1" dirty="0">
                  <a:solidFill>
                    <a:schemeClr val="dk1"/>
                  </a:solidFill>
                  <a:latin typeface="+mn-lt"/>
                  <a:ea typeface="+mn-ea"/>
                  <a:cs typeface="+mn-cs"/>
                </a:rPr>
                <a:t>2 RPIembeddor</a:t>
              </a:r>
            </a:p>
          </p:txBody>
        </p:sp>
        <p:sp>
          <p:nvSpPr>
            <p:cNvPr id="32" name="TextBox 32"/>
            <p:cNvSpPr txBox="1"/>
            <p:nvPr/>
          </p:nvSpPr>
          <p:spPr>
            <a:xfrm>
              <a:off x="6471666" y="3239452"/>
              <a:ext cx="2085968"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 transformer that classifies</a:t>
              </a:r>
            </a:p>
          </p:txBody>
        </p:sp>
        <p:sp>
          <p:nvSpPr>
            <p:cNvPr id="33" name="TextBox 33"/>
            <p:cNvSpPr txBox="1"/>
            <p:nvPr/>
          </p:nvSpPr>
          <p:spPr>
            <a:xfrm>
              <a:off x="6471666" y="3449002"/>
              <a:ext cx="1918907"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interactions from sequence</a:t>
              </a:r>
            </a:p>
          </p:txBody>
        </p:sp>
        <p:sp>
          <p:nvSpPr>
            <p:cNvPr id="34" name="TextBox 34"/>
            <p:cNvSpPr txBox="1"/>
            <p:nvPr/>
          </p:nvSpPr>
          <p:spPr>
            <a:xfrm>
              <a:off x="6471666" y="3658552"/>
              <a:ext cx="2003717"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embeddings, beating existing</a:t>
              </a:r>
            </a:p>
          </p:txBody>
        </p:sp>
        <p:sp>
          <p:nvSpPr>
            <p:cNvPr id="35" name="TextBox 35"/>
            <p:cNvSpPr txBox="1"/>
            <p:nvPr/>
          </p:nvSpPr>
          <p:spPr>
            <a:xfrm>
              <a:off x="6471666" y="3868102"/>
              <a:ext cx="181996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tools while generalizing to</a:t>
              </a:r>
            </a:p>
          </p:txBody>
        </p:sp>
        <p:sp>
          <p:nvSpPr>
            <p:cNvPr id="36" name="TextBox 36"/>
            <p:cNvSpPr txBox="1"/>
            <p:nvPr/>
          </p:nvSpPr>
          <p:spPr>
            <a:xfrm>
              <a:off x="6471666" y="4077652"/>
              <a:ext cx="703288"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new data.</a:t>
              </a:r>
            </a:p>
          </p:txBody>
        </p:sp>
      </p:grpSp>
      <p:grpSp>
        <p:nvGrpSpPr>
          <p:cNvPr id="48" name="Group 48"/>
          <p:cNvGrpSpPr/>
          <p:nvPr/>
        </p:nvGrpSpPr>
        <p:grpSpPr>
          <a:xfrm>
            <a:off x="9067800" y="1714500"/>
            <a:ext cx="2590800" cy="3543300"/>
            <a:chOff x="9067800" y="1714500"/>
            <a:chExt cx="2590800" cy="3543300"/>
          </a:xfrm>
        </p:grpSpPr>
        <p:sp>
          <p:nvSpPr>
            <p:cNvPr id="38" name="Rectangle 38"/>
            <p:cNvSpPr/>
            <p:nvPr/>
          </p:nvSpPr>
          <p:spPr>
            <a:xfrm>
              <a:off x="9067800" y="1714500"/>
              <a:ext cx="2590800" cy="3543300"/>
            </a:xfrm>
            <a:prstGeom prst="roundRect">
              <a:avLst>
                <a:gd name="adj" fmla="val 5147"/>
              </a:avLst>
            </a:prstGeom>
            <a:solidFill>
              <a:schemeClr val="accent5"/>
            </a:solidFill>
            <a:ln w="14288">
              <a:solidFill>
                <a:srgbClr val="26455F"/>
              </a:solidFill>
            </a:ln>
          </p:spPr>
        </p:sp>
        <p:sp>
          <p:nvSpPr>
            <p:cNvPr id="39" name="Rectangle 39"/>
            <p:cNvSpPr/>
            <p:nvPr/>
          </p:nvSpPr>
          <p:spPr>
            <a:xfrm>
              <a:off x="9067800" y="1714500"/>
              <a:ext cx="2590800" cy="57150"/>
            </a:xfrm>
            <a:prstGeom prst="roundRect">
              <a:avLst>
                <a:gd name="adj" fmla="val 50000"/>
              </a:avLst>
            </a:prstGeom>
            <a:solidFill>
              <a:srgbClr val="F2C14E"/>
            </a:solidFill>
            <a:ln>
              <a:noFill/>
            </a:ln>
          </p:spPr>
        </p:sp>
        <p:sp>
          <p:nvSpPr>
            <p:cNvPr id="40" name="Ellipse 40"/>
            <p:cNvSpPr/>
            <p:nvPr/>
          </p:nvSpPr>
          <p:spPr>
            <a:xfrm>
              <a:off x="9296400" y="2095500"/>
              <a:ext cx="495300" cy="495300"/>
            </a:xfrm>
            <a:prstGeom prst="ellipse">
              <a:avLst/>
            </a:prstGeom>
            <a:noFill/>
            <a:ln w="23812">
              <a:solidFill>
                <a:srgbClr val="F2C14E"/>
              </a:solidFill>
            </a:ln>
          </p:spPr>
        </p:sp>
        <p:sp>
          <p:nvSpPr>
            <p:cNvPr id="41" name="TextBox 41"/>
            <p:cNvSpPr txBox="1"/>
            <p:nvPr/>
          </p:nvSpPr>
          <p:spPr>
            <a:xfrm>
              <a:off x="9379762" y="2273618"/>
              <a:ext cx="328575" cy="264033"/>
            </a:xfrm>
            <a:prstGeom prst="rect">
              <a:avLst/>
            </a:prstGeom>
            <a:noFill/>
            <a:ln>
              <a:noFill/>
            </a:ln>
          </p:spPr>
          <p:txBody>
            <a:bodyPr wrap="none" lIns="0" tIns="0" rIns="0" bIns="0" anchor="t" anchorCtr="0">
              <a:spAutoFit/>
            </a:bodyPr>
            <a:lstStyle/>
            <a:p>
              <a:pPr algn="ctr"/>
              <a:r>
                <a:rPr lang="en-US" sz="1350" b="1" dirty="0">
                  <a:solidFill>
                    <a:srgbClr val="F2C14E"/>
                  </a:solidFill>
                  <a:latin typeface="+mn-lt"/>
                  <a:ea typeface="+mn-ea"/>
                  <a:cs typeface="+mn-cs"/>
                </a:rPr>
                <a:t>+/-</a:t>
              </a:r>
            </a:p>
          </p:txBody>
        </p:sp>
        <p:sp>
          <p:nvSpPr>
            <p:cNvPr id="42" name="TextBox 42"/>
            <p:cNvSpPr txBox="1"/>
            <p:nvPr/>
          </p:nvSpPr>
          <p:spPr>
            <a:xfrm>
              <a:off x="9289732" y="2849166"/>
              <a:ext cx="899115" cy="256699"/>
            </a:xfrm>
            <a:prstGeom prst="rect">
              <a:avLst/>
            </a:prstGeom>
            <a:noFill/>
            <a:ln>
              <a:noFill/>
            </a:ln>
          </p:spPr>
          <p:txBody>
            <a:bodyPr wrap="none" lIns="0" tIns="0" rIns="0" bIns="0" anchor="t" anchorCtr="0">
              <a:spAutoFit/>
            </a:bodyPr>
            <a:lstStyle/>
            <a:p>
              <a:pPr algn="l"/>
              <a:r>
                <a:rPr lang="en-US" sz="1310" b="1" dirty="0">
                  <a:solidFill>
                    <a:schemeClr val="dk1"/>
                  </a:solidFill>
                  <a:latin typeface="+mn-lt"/>
                  <a:ea typeface="+mn-ea"/>
                  <a:cs typeface="+mn-cs"/>
                </a:rPr>
                <a:t>3 Ablation</a:t>
              </a:r>
            </a:p>
          </p:txBody>
        </p:sp>
        <p:sp>
          <p:nvSpPr>
            <p:cNvPr id="43" name="TextBox 43"/>
            <p:cNvSpPr txBox="1"/>
            <p:nvPr/>
          </p:nvSpPr>
          <p:spPr>
            <a:xfrm>
              <a:off x="9291066" y="3239452"/>
              <a:ext cx="1174793"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It shows the two</a:t>
              </a:r>
            </a:p>
          </p:txBody>
        </p:sp>
        <p:sp>
          <p:nvSpPr>
            <p:cNvPr id="44" name="TextBox 44"/>
            <p:cNvSpPr txBox="1"/>
            <p:nvPr/>
          </p:nvSpPr>
          <p:spPr>
            <a:xfrm>
              <a:off x="9291066" y="3449002"/>
              <a:ext cx="2024920"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foundation-model embeddings</a:t>
              </a:r>
            </a:p>
          </p:txBody>
        </p:sp>
        <p:sp>
          <p:nvSpPr>
            <p:cNvPr id="45" name="TextBox 45"/>
            <p:cNvSpPr txBox="1"/>
            <p:nvPr/>
          </p:nvSpPr>
          <p:spPr>
            <a:xfrm>
              <a:off x="9291066" y="3658552"/>
              <a:ext cx="1975447"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are not optional add-ons but</a:t>
              </a:r>
            </a:p>
          </p:txBody>
        </p:sp>
        <p:sp>
          <p:nvSpPr>
            <p:cNvPr id="46" name="TextBox 46"/>
            <p:cNvSpPr txBox="1"/>
            <p:nvPr/>
          </p:nvSpPr>
          <p:spPr>
            <a:xfrm>
              <a:off x="9291066" y="3868102"/>
              <a:ext cx="1650340"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the core of the model's</a:t>
              </a:r>
            </a:p>
          </p:txBody>
        </p:sp>
        <p:sp>
          <p:nvSpPr>
            <p:cNvPr id="47" name="TextBox 47"/>
            <p:cNvSpPr txBox="1"/>
            <p:nvPr/>
          </p:nvSpPr>
          <p:spPr>
            <a:xfrm>
              <a:off x="9291066" y="4077652"/>
              <a:ext cx="131816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ability to classify.</a:t>
              </a:r>
            </a:p>
          </p:txBody>
        </p:sp>
      </p:grpSp>
      <p:sp>
        <p:nvSpPr>
          <p:cNvPr id="49" name="TextBox 49"/>
          <p:cNvSpPr txBox="1"/>
          <p:nvPr/>
        </p:nvSpPr>
        <p:spPr>
          <a:xfrm>
            <a:off x="603694" y="5456158"/>
            <a:ext cx="7019037" cy="227362"/>
          </a:xfrm>
          <a:prstGeom prst="rect">
            <a:avLst/>
          </a:prstGeom>
          <a:noFill/>
          <a:ln>
            <a:noFill/>
          </a:ln>
        </p:spPr>
        <p:txBody>
          <a:bodyPr wrap="none" lIns="0" tIns="0" rIns="0" bIns="0" anchor="t" anchorCtr="0">
            <a:spAutoFit/>
          </a:bodyPr>
          <a:lstStyle/>
          <a:p>
            <a:pPr algn="l"/>
            <a:r>
              <a:rPr lang="en-US" sz="1160" b="1" dirty="0">
                <a:solidFill>
                  <a:srgbClr val="34D3C0"/>
                </a:solidFill>
                <a:latin typeface="+mn-lt"/>
                <a:ea typeface="+mn-ea"/>
                <a:cs typeface="+mn-cs"/>
              </a:rPr>
              <a:t>Build the benchmark, build the model, and prove the embeddings are what make it work.</a:t>
            </a:r>
          </a:p>
        </p:txBody>
      </p:sp>
      <p:sp>
        <p:nvSpPr>
          <p:cNvPr id="50" name="cue_s04_c1_work_makes_three_contributions" title="cue_s04_c1_work_makes_three_contributions" descr="cue_s04_c1_work_makes_three_contributions The work makes three contributions."/>
          <p:cNvSpPr/>
          <p:nvPr/>
        </p:nvSpPr>
        <p:spPr>
          <a:xfrm>
            <a:off x="609600" y="1714500"/>
            <a:ext cx="2590800" cy="35435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cue_s04_c2_builds_rnainteract_extensive_dataset" title="cue_s04_c2_builds_rnainteract_extensive_dataset" descr="cue_s04_c2_builds_rnainteract_extensive_dataset It builds RNAInterAct, an extensive dataset of non-coding RNA-protein interactions derived from the RNAInter database and enriched with carefully generated negatives."/>
          <p:cNvSpPr/>
          <p:nvPr/>
        </p:nvSpPr>
        <p:spPr>
          <a:xfrm>
            <a:off x="3428390" y="1714500"/>
            <a:ext cx="2590800" cy="35435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cue_s04_c3_introduces_rpiembeddor_transformer_c" title="cue_s04_c3_introduces_rpiembeddor_transformer_c" descr="cue_s04_c3_introduces_rpiembeddor_transformer_c It introduces RPIembeddor, a transformer that classifies interactions from sequence embeddings and beats existing tools while generalizing to new data."/>
          <p:cNvSpPr/>
          <p:nvPr/>
        </p:nvSpPr>
        <p:spPr>
          <a:xfrm>
            <a:off x="6248399" y="1714500"/>
            <a:ext cx="2590800" cy="35435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cue_s04_c4_through_ablation_study_shows_two" title="cue_s04_c4_through_ablation_study_shows_two" descr="cue_s04_c4_through_ablation_study_shows_two And through an ablation study it shows that the two foundation-model embeddings are not optional add-ons but the core of the model's ability to classify correctly."/>
          <p:cNvSpPr/>
          <p:nvPr/>
        </p:nvSpPr>
        <p:spPr>
          <a:xfrm>
            <a:off x="9068409" y="1714500"/>
            <a:ext cx="2590800" cy="35435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764050"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METHOD</a:t>
            </a:r>
          </a:p>
        </p:txBody>
      </p:sp>
      <p:sp>
        <p:nvSpPr>
          <p:cNvPr id="4" name="TextBox 4"/>
          <p:cNvSpPr txBox="1"/>
          <p:nvPr/>
        </p:nvSpPr>
        <p:spPr>
          <a:xfrm>
            <a:off x="598170" y="804862"/>
            <a:ext cx="8509281"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Two embeddings, symmetric attention, one probability</a:t>
            </a:r>
          </a:p>
        </p:txBody>
      </p:sp>
      <p:grpSp>
        <p:nvGrpSpPr>
          <p:cNvPr id="13" name="Group 13"/>
          <p:cNvGrpSpPr/>
          <p:nvPr/>
        </p:nvGrpSpPr>
        <p:grpSpPr>
          <a:xfrm>
            <a:off x="609600" y="1504950"/>
            <a:ext cx="5410200" cy="1943100"/>
            <a:chOff x="609600" y="1504950"/>
            <a:chExt cx="5410200" cy="1943100"/>
          </a:xfrm>
        </p:grpSpPr>
        <p:sp>
          <p:nvSpPr>
            <p:cNvPr id="5" name="Rectangle 5"/>
            <p:cNvSpPr/>
            <p:nvPr/>
          </p:nvSpPr>
          <p:spPr>
            <a:xfrm>
              <a:off x="609600" y="1504950"/>
              <a:ext cx="5410200" cy="1943100"/>
            </a:xfrm>
            <a:prstGeom prst="roundRect">
              <a:avLst>
                <a:gd name="adj" fmla="val 6863"/>
              </a:avLst>
            </a:prstGeom>
            <a:solidFill>
              <a:schemeClr val="accent5"/>
            </a:solidFill>
            <a:ln w="14288">
              <a:solidFill>
                <a:srgbClr val="26455F"/>
              </a:solidFill>
            </a:ln>
          </p:spPr>
        </p:sp>
        <p:sp>
          <p:nvSpPr>
            <p:cNvPr id="6" name="Rectangle 6"/>
            <p:cNvSpPr/>
            <p:nvPr/>
          </p:nvSpPr>
          <p:spPr>
            <a:xfrm>
              <a:off x="609600" y="1504950"/>
              <a:ext cx="57150" cy="1943100"/>
            </a:xfrm>
            <a:prstGeom prst="roundRect">
              <a:avLst>
                <a:gd name="adj" fmla="val 50000"/>
              </a:avLst>
            </a:prstGeom>
            <a:solidFill>
              <a:schemeClr val="accent2"/>
            </a:solidFill>
            <a:ln>
              <a:noFill/>
            </a:ln>
          </p:spPr>
        </p:sp>
        <p:sp>
          <p:nvSpPr>
            <p:cNvPr id="7" name="TextBox 7"/>
            <p:cNvSpPr txBox="1"/>
            <p:nvPr/>
          </p:nvSpPr>
          <p:spPr>
            <a:xfrm>
              <a:off x="870014" y="1733312"/>
              <a:ext cx="2936805" cy="242030"/>
            </a:xfrm>
            <a:prstGeom prst="rect">
              <a:avLst/>
            </a:prstGeom>
            <a:noFill/>
            <a:ln>
              <a:noFill/>
            </a:ln>
          </p:spPr>
          <p:txBody>
            <a:bodyPr wrap="none" lIns="0" tIns="0" rIns="0" bIns="0" anchor="t" anchorCtr="0">
              <a:spAutoFit/>
            </a:bodyPr>
            <a:lstStyle/>
            <a:p>
              <a:pPr algn="l"/>
              <a:r>
                <a:rPr lang="en-US" sz="1240" b="1" dirty="0">
                  <a:solidFill>
                    <a:schemeClr val="accent2"/>
                  </a:solidFill>
                  <a:latin typeface="+mn-lt"/>
                  <a:ea typeface="+mn-ea"/>
                  <a:cs typeface="+mn-cs"/>
                </a:rPr>
                <a:t>Embed with two foundation models</a:t>
              </a:r>
            </a:p>
          </p:txBody>
        </p:sp>
        <p:sp>
          <p:nvSpPr>
            <p:cNvPr id="8" name="TextBox 8"/>
            <p:cNvSpPr txBox="1"/>
            <p:nvPr/>
          </p:nvSpPr>
          <p:spPr>
            <a:xfrm>
              <a:off x="871156" y="2024301"/>
              <a:ext cx="3863518"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RNA sequences are embedded with RNA-FM, trained on 23M</a:t>
              </a:r>
            </a:p>
          </p:txBody>
        </p:sp>
        <p:sp>
          <p:nvSpPr>
            <p:cNvPr id="9" name="TextBox 9"/>
            <p:cNvSpPr txBox="1"/>
            <p:nvPr/>
          </p:nvSpPr>
          <p:spPr>
            <a:xfrm>
              <a:off x="871156" y="2214801"/>
              <a:ext cx="4131827"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non-coding RNAs; proteins with ESM-2, which predicts folding</a:t>
              </a:r>
            </a:p>
          </p:txBody>
        </p:sp>
        <p:sp>
          <p:nvSpPr>
            <p:cNvPr id="10" name="TextBox 10"/>
            <p:cNvSpPr txBox="1"/>
            <p:nvPr/>
          </p:nvSpPr>
          <p:spPr>
            <a:xfrm>
              <a:off x="871156" y="2405301"/>
              <a:ext cx="2552855"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without multiple sequence alignments.</a:t>
              </a:r>
            </a:p>
          </p:txBody>
        </p:sp>
        <p:sp>
          <p:nvSpPr>
            <p:cNvPr id="11" name="Rectangle 11"/>
            <p:cNvSpPr/>
            <p:nvPr/>
          </p:nvSpPr>
          <p:spPr>
            <a:xfrm>
              <a:off x="876300" y="2895600"/>
              <a:ext cx="4876800" cy="419100"/>
            </a:xfrm>
            <a:prstGeom prst="roundRect">
              <a:avLst>
                <a:gd name="adj" fmla="val 18182"/>
              </a:avLst>
            </a:prstGeom>
            <a:solidFill>
              <a:schemeClr val="accent6"/>
            </a:solidFill>
            <a:ln w="14288">
              <a:solidFill>
                <a:srgbClr val="26455F"/>
              </a:solidFill>
            </a:ln>
          </p:spPr>
        </p:sp>
        <p:sp>
          <p:nvSpPr>
            <p:cNvPr id="12" name="TextBox 12"/>
            <p:cNvSpPr txBox="1"/>
            <p:nvPr/>
          </p:nvSpPr>
          <p:spPr>
            <a:xfrm>
              <a:off x="1892920" y="3057049"/>
              <a:ext cx="2843561" cy="190690"/>
            </a:xfrm>
            <a:prstGeom prst="rect">
              <a:avLst/>
            </a:prstGeom>
            <a:noFill/>
            <a:ln>
              <a:noFill/>
            </a:ln>
          </p:spPr>
          <p:txBody>
            <a:bodyPr wrap="none" lIns="0" tIns="0" rIns="0" bIns="0" anchor="t" anchorCtr="0">
              <a:spAutoFit/>
            </a:bodyPr>
            <a:lstStyle/>
            <a:p>
              <a:pPr algn="ctr"/>
              <a:r>
                <a:rPr lang="en-US" sz="980" b="1" dirty="0">
                  <a:solidFill>
                    <a:schemeClr val="dk1"/>
                  </a:solidFill>
                  <a:latin typeface="Consolas"/>
                  <a:ea typeface="Consolas"/>
                  <a:cs typeface="Consolas"/>
                </a:rPr>
                <a:t>RNA -&gt; RNA-FM; protein -&gt; ESM-2 (150M)</a:t>
              </a:r>
            </a:p>
          </p:txBody>
        </p:sp>
      </p:grpSp>
      <p:grpSp>
        <p:nvGrpSpPr>
          <p:cNvPr id="22" name="Group 22"/>
          <p:cNvGrpSpPr/>
          <p:nvPr/>
        </p:nvGrpSpPr>
        <p:grpSpPr>
          <a:xfrm>
            <a:off x="609600" y="3600450"/>
            <a:ext cx="5410200" cy="1638300"/>
            <a:chOff x="609600" y="3600450"/>
            <a:chExt cx="5410200" cy="1638300"/>
          </a:xfrm>
        </p:grpSpPr>
        <p:sp>
          <p:nvSpPr>
            <p:cNvPr id="14" name="Rectangle 14"/>
            <p:cNvSpPr/>
            <p:nvPr/>
          </p:nvSpPr>
          <p:spPr>
            <a:xfrm>
              <a:off x="609600" y="3600450"/>
              <a:ext cx="5410200" cy="1638300"/>
            </a:xfrm>
            <a:prstGeom prst="roundRect">
              <a:avLst>
                <a:gd name="adj" fmla="val 8140"/>
              </a:avLst>
            </a:prstGeom>
            <a:solidFill>
              <a:srgbClr val="0F2E2B"/>
            </a:solidFill>
            <a:ln w="14288">
              <a:solidFill>
                <a:srgbClr val="34D3C0"/>
              </a:solidFill>
            </a:ln>
          </p:spPr>
        </p:sp>
        <p:sp>
          <p:nvSpPr>
            <p:cNvPr id="15" name="Rectangle 15"/>
            <p:cNvSpPr/>
            <p:nvPr/>
          </p:nvSpPr>
          <p:spPr>
            <a:xfrm>
              <a:off x="609600" y="3600450"/>
              <a:ext cx="57150" cy="1638300"/>
            </a:xfrm>
            <a:prstGeom prst="roundRect">
              <a:avLst>
                <a:gd name="adj" fmla="val 50000"/>
              </a:avLst>
            </a:prstGeom>
            <a:solidFill>
              <a:srgbClr val="34D3C0"/>
            </a:solidFill>
            <a:ln>
              <a:noFill/>
            </a:ln>
          </p:spPr>
        </p:sp>
        <p:sp>
          <p:nvSpPr>
            <p:cNvPr id="16" name="TextBox 16"/>
            <p:cNvSpPr txBox="1"/>
            <p:nvPr/>
          </p:nvSpPr>
          <p:spPr>
            <a:xfrm>
              <a:off x="870204" y="3832860"/>
              <a:ext cx="2604547" cy="234696"/>
            </a:xfrm>
            <a:prstGeom prst="rect">
              <a:avLst/>
            </a:prstGeom>
            <a:noFill/>
            <a:ln>
              <a:noFill/>
            </a:ln>
          </p:spPr>
          <p:txBody>
            <a:bodyPr wrap="none" lIns="0" tIns="0" rIns="0" bIns="0" anchor="t" anchorCtr="0">
              <a:spAutoFit/>
            </a:bodyPr>
            <a:lstStyle/>
            <a:p>
              <a:pPr algn="l"/>
              <a:r>
                <a:rPr lang="en-US" sz="1200" b="1" dirty="0">
                  <a:solidFill>
                    <a:srgbClr val="34D3C0"/>
                  </a:solidFill>
                  <a:latin typeface="+mn-lt"/>
                  <a:ea typeface="+mn-ea"/>
                  <a:cs typeface="+mn-cs"/>
                </a:rPr>
                <a:t>Normalize both to a shared size</a:t>
              </a:r>
            </a:p>
          </p:txBody>
        </p:sp>
        <p:sp>
          <p:nvSpPr>
            <p:cNvPr id="17" name="TextBox 17"/>
            <p:cNvSpPr txBox="1"/>
            <p:nvPr/>
          </p:nvSpPr>
          <p:spPr>
            <a:xfrm>
              <a:off x="871156" y="4119801"/>
              <a:ext cx="3641967"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Both produce embeddings of size N by 640. Two parallel</a:t>
              </a:r>
            </a:p>
          </p:txBody>
        </p:sp>
        <p:sp>
          <p:nvSpPr>
            <p:cNvPr id="18" name="TextBox 18"/>
            <p:cNvSpPr txBox="1"/>
            <p:nvPr/>
          </p:nvSpPr>
          <p:spPr>
            <a:xfrm>
              <a:off x="871156" y="4310301"/>
              <a:ext cx="3579400"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feed-forward layers normalize their sizes before the</a:t>
              </a:r>
            </a:p>
          </p:txBody>
        </p:sp>
        <p:sp>
          <p:nvSpPr>
            <p:cNvPr id="19" name="TextBox 19"/>
            <p:cNvSpPr txBox="1"/>
            <p:nvPr/>
          </p:nvSpPr>
          <p:spPr>
            <a:xfrm>
              <a:off x="871156" y="4500801"/>
              <a:ext cx="683320"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encoders.</a:t>
              </a:r>
            </a:p>
          </p:txBody>
        </p:sp>
        <p:sp>
          <p:nvSpPr>
            <p:cNvPr id="20" name="Rectangle 20"/>
            <p:cNvSpPr/>
            <p:nvPr/>
          </p:nvSpPr>
          <p:spPr>
            <a:xfrm>
              <a:off x="876300" y="4819650"/>
              <a:ext cx="4876800" cy="419100"/>
            </a:xfrm>
            <a:prstGeom prst="roundRect">
              <a:avLst>
                <a:gd name="adj" fmla="val 18182"/>
              </a:avLst>
            </a:prstGeom>
            <a:solidFill>
              <a:schemeClr val="accent6"/>
            </a:solidFill>
            <a:ln w="14288">
              <a:solidFill>
                <a:srgbClr val="26455F"/>
              </a:solidFill>
            </a:ln>
          </p:spPr>
        </p:sp>
        <p:sp>
          <p:nvSpPr>
            <p:cNvPr id="21" name="TextBox 21"/>
            <p:cNvSpPr txBox="1"/>
            <p:nvPr/>
          </p:nvSpPr>
          <p:spPr>
            <a:xfrm>
              <a:off x="1946156" y="4981099"/>
              <a:ext cx="2737089" cy="190690"/>
            </a:xfrm>
            <a:prstGeom prst="rect">
              <a:avLst/>
            </a:prstGeom>
            <a:noFill/>
            <a:ln>
              <a:noFill/>
            </a:ln>
          </p:spPr>
          <p:txBody>
            <a:bodyPr wrap="none" lIns="0" tIns="0" rIns="0" bIns="0" anchor="t" anchorCtr="0">
              <a:spAutoFit/>
            </a:bodyPr>
            <a:lstStyle/>
            <a:p>
              <a:pPr algn="ctr"/>
              <a:r>
                <a:rPr lang="en-US" sz="980" b="1" dirty="0">
                  <a:solidFill>
                    <a:schemeClr val="dk1"/>
                  </a:solidFill>
                  <a:latin typeface="Consolas"/>
                  <a:ea typeface="Consolas"/>
                  <a:cs typeface="Consolas"/>
                </a:rPr>
                <a:t>RNA-FM, ESM-2 -&gt; [N x 640] -&gt; FF norm</a:t>
              </a:r>
            </a:p>
          </p:txBody>
        </p:sp>
      </p:grpSp>
      <p:grpSp>
        <p:nvGrpSpPr>
          <p:cNvPr id="31" name="Group 31"/>
          <p:cNvGrpSpPr/>
          <p:nvPr/>
        </p:nvGrpSpPr>
        <p:grpSpPr>
          <a:xfrm>
            <a:off x="6248400" y="1504950"/>
            <a:ext cx="5334000" cy="1943100"/>
            <a:chOff x="6248400" y="1504950"/>
            <a:chExt cx="5334000" cy="1943100"/>
          </a:xfrm>
        </p:grpSpPr>
        <p:sp>
          <p:nvSpPr>
            <p:cNvPr id="23" name="Rectangle 23"/>
            <p:cNvSpPr/>
            <p:nvPr/>
          </p:nvSpPr>
          <p:spPr>
            <a:xfrm>
              <a:off x="6248400" y="1504950"/>
              <a:ext cx="5334000" cy="1943100"/>
            </a:xfrm>
            <a:prstGeom prst="roundRect">
              <a:avLst>
                <a:gd name="adj" fmla="val 6863"/>
              </a:avLst>
            </a:prstGeom>
            <a:solidFill>
              <a:schemeClr val="accent5"/>
            </a:solidFill>
            <a:ln w="14288">
              <a:solidFill>
                <a:srgbClr val="26455F"/>
              </a:solidFill>
            </a:ln>
          </p:spPr>
        </p:sp>
        <p:sp>
          <p:nvSpPr>
            <p:cNvPr id="24" name="Rectangle 24"/>
            <p:cNvSpPr/>
            <p:nvPr/>
          </p:nvSpPr>
          <p:spPr>
            <a:xfrm>
              <a:off x="6248400" y="1504950"/>
              <a:ext cx="57150" cy="1943100"/>
            </a:xfrm>
            <a:prstGeom prst="roundRect">
              <a:avLst>
                <a:gd name="adj" fmla="val 50000"/>
              </a:avLst>
            </a:prstGeom>
            <a:solidFill>
              <a:srgbClr val="F2C14E"/>
            </a:solidFill>
            <a:ln>
              <a:noFill/>
            </a:ln>
          </p:spPr>
        </p:sp>
        <p:sp>
          <p:nvSpPr>
            <p:cNvPr id="25" name="TextBox 25"/>
            <p:cNvSpPr txBox="1"/>
            <p:nvPr/>
          </p:nvSpPr>
          <p:spPr>
            <a:xfrm>
              <a:off x="6508814" y="1733312"/>
              <a:ext cx="2375585" cy="242030"/>
            </a:xfrm>
            <a:prstGeom prst="rect">
              <a:avLst/>
            </a:prstGeom>
            <a:noFill/>
            <a:ln>
              <a:noFill/>
            </a:ln>
          </p:spPr>
          <p:txBody>
            <a:bodyPr wrap="none" lIns="0" tIns="0" rIns="0" bIns="0" anchor="t" anchorCtr="0">
              <a:spAutoFit/>
            </a:bodyPr>
            <a:lstStyle/>
            <a:p>
              <a:pPr algn="l"/>
              <a:r>
                <a:rPr lang="en-US" sz="1240" b="1" dirty="0">
                  <a:solidFill>
                    <a:srgbClr val="F2C14E"/>
                  </a:solidFill>
                  <a:latin typeface="+mn-lt"/>
                  <a:ea typeface="+mn-ea"/>
                  <a:cs typeface="+mn-cs"/>
                </a:rPr>
                <a:t>Process both symmetrically</a:t>
              </a:r>
            </a:p>
          </p:txBody>
        </p:sp>
        <p:sp>
          <p:nvSpPr>
            <p:cNvPr id="26" name="TextBox 26"/>
            <p:cNvSpPr txBox="1"/>
            <p:nvPr/>
          </p:nvSpPr>
          <p:spPr>
            <a:xfrm>
              <a:off x="6509956" y="2024301"/>
              <a:ext cx="3678948"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Encoder layers process the RNA and protein embeddings</a:t>
              </a:r>
            </a:p>
          </p:txBody>
        </p:sp>
        <p:sp>
          <p:nvSpPr>
            <p:cNvPr id="27" name="TextBox 27"/>
            <p:cNvSpPr txBox="1"/>
            <p:nvPr/>
          </p:nvSpPr>
          <p:spPr>
            <a:xfrm>
              <a:off x="6509956" y="2214801"/>
              <a:ext cx="3960105"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symmetrically, so attention can focus on the parts of each</a:t>
              </a:r>
            </a:p>
          </p:txBody>
        </p:sp>
        <p:sp>
          <p:nvSpPr>
            <p:cNvPr id="28" name="TextBox 28"/>
            <p:cNvSpPr txBox="1"/>
            <p:nvPr/>
          </p:nvSpPr>
          <p:spPr>
            <a:xfrm>
              <a:off x="6509956" y="2405301"/>
              <a:ext cx="3769752"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sequence most relevant to interaction and each modality</a:t>
              </a:r>
            </a:p>
          </p:txBody>
        </p:sp>
        <p:sp>
          <p:nvSpPr>
            <p:cNvPr id="29" name="TextBox 29"/>
            <p:cNvSpPr txBox="1"/>
            <p:nvPr/>
          </p:nvSpPr>
          <p:spPr>
            <a:xfrm>
              <a:off x="6509956" y="2595801"/>
              <a:ext cx="1335957"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has equal influence.</a:t>
              </a:r>
            </a:p>
          </p:txBody>
        </p:sp>
        <p:sp>
          <p:nvSpPr>
            <p:cNvPr id="30" name="TextBox 30"/>
            <p:cNvSpPr txBox="1"/>
            <p:nvPr/>
          </p:nvSpPr>
          <p:spPr>
            <a:xfrm>
              <a:off x="6509956" y="3091101"/>
              <a:ext cx="2844849" cy="198025"/>
            </a:xfrm>
            <a:prstGeom prst="rect">
              <a:avLst/>
            </a:prstGeom>
            <a:noFill/>
            <a:ln>
              <a:noFill/>
            </a:ln>
          </p:spPr>
          <p:txBody>
            <a:bodyPr wrap="none" lIns="0" tIns="0" rIns="0" bIns="0" anchor="t" anchorCtr="0">
              <a:spAutoFit/>
            </a:bodyPr>
            <a:lstStyle/>
            <a:p>
              <a:pPr algn="l"/>
              <a:r>
                <a:rPr lang="en-US" sz="1010" b="1" dirty="0">
                  <a:solidFill>
                    <a:srgbClr val="F2C14E"/>
                  </a:solidFill>
                  <a:latin typeface="Consolas"/>
                  <a:ea typeface="Consolas"/>
                  <a:cs typeface="Consolas"/>
                </a:rPr>
                <a:t>attention over RNA &lt;-&gt; protein positions</a:t>
              </a:r>
            </a:p>
          </p:txBody>
        </p:sp>
      </p:grpSp>
      <p:grpSp>
        <p:nvGrpSpPr>
          <p:cNvPr id="40" name="Group 40"/>
          <p:cNvGrpSpPr/>
          <p:nvPr/>
        </p:nvGrpSpPr>
        <p:grpSpPr>
          <a:xfrm>
            <a:off x="6248400" y="3600450"/>
            <a:ext cx="5334000" cy="1676400"/>
            <a:chOff x="6248400" y="3600450"/>
            <a:chExt cx="5334000" cy="1676400"/>
          </a:xfrm>
        </p:grpSpPr>
        <p:sp>
          <p:nvSpPr>
            <p:cNvPr id="32" name="Rectangle 32"/>
            <p:cNvSpPr/>
            <p:nvPr/>
          </p:nvSpPr>
          <p:spPr>
            <a:xfrm>
              <a:off x="6248400" y="3600450"/>
              <a:ext cx="5334000" cy="1638300"/>
            </a:xfrm>
            <a:prstGeom prst="roundRect">
              <a:avLst>
                <a:gd name="adj" fmla="val 8140"/>
              </a:avLst>
            </a:prstGeom>
            <a:solidFill>
              <a:schemeClr val="accent5"/>
            </a:solidFill>
            <a:ln w="14288">
              <a:solidFill>
                <a:srgbClr val="26455F"/>
              </a:solidFill>
            </a:ln>
          </p:spPr>
        </p:sp>
        <p:sp>
          <p:nvSpPr>
            <p:cNvPr id="33" name="Rectangle 33"/>
            <p:cNvSpPr/>
            <p:nvPr/>
          </p:nvSpPr>
          <p:spPr>
            <a:xfrm>
              <a:off x="6248400" y="3600450"/>
              <a:ext cx="57150" cy="1638300"/>
            </a:xfrm>
            <a:prstGeom prst="roundRect">
              <a:avLst>
                <a:gd name="adj" fmla="val 50000"/>
              </a:avLst>
            </a:prstGeom>
            <a:solidFill>
              <a:srgbClr val="48C78E"/>
            </a:solidFill>
            <a:ln>
              <a:noFill/>
            </a:ln>
          </p:spPr>
        </p:sp>
        <p:sp>
          <p:nvSpPr>
            <p:cNvPr id="34" name="TextBox 34"/>
            <p:cNvSpPr txBox="1"/>
            <p:nvPr/>
          </p:nvSpPr>
          <p:spPr>
            <a:xfrm>
              <a:off x="6509004" y="3832860"/>
              <a:ext cx="2782814" cy="234696"/>
            </a:xfrm>
            <a:prstGeom prst="rect">
              <a:avLst/>
            </a:prstGeom>
            <a:noFill/>
            <a:ln>
              <a:noFill/>
            </a:ln>
          </p:spPr>
          <p:txBody>
            <a:bodyPr wrap="none" lIns="0" tIns="0" rIns="0" bIns="0" anchor="t" anchorCtr="0">
              <a:spAutoFit/>
            </a:bodyPr>
            <a:lstStyle/>
            <a:p>
              <a:pPr algn="l"/>
              <a:r>
                <a:rPr lang="en-US" sz="1200" b="1" dirty="0">
                  <a:solidFill>
                    <a:srgbClr val="48C78E"/>
                  </a:solidFill>
                  <a:latin typeface="+mn-lt"/>
                  <a:ea typeface="+mn-ea"/>
                  <a:cs typeface="+mn-cs"/>
                </a:rPr>
                <a:t>Concatenate, then a sigmoid head</a:t>
              </a:r>
            </a:p>
          </p:txBody>
        </p:sp>
        <p:sp>
          <p:nvSpPr>
            <p:cNvPr id="35" name="TextBox 35"/>
            <p:cNvSpPr txBox="1"/>
            <p:nvPr/>
          </p:nvSpPr>
          <p:spPr>
            <a:xfrm>
              <a:off x="6509956" y="4119801"/>
              <a:ext cx="3923831"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Latent representations are concatenated, passed through</a:t>
              </a:r>
            </a:p>
          </p:txBody>
        </p:sp>
        <p:sp>
          <p:nvSpPr>
            <p:cNvPr id="36" name="TextBox 36"/>
            <p:cNvSpPr txBox="1"/>
            <p:nvPr/>
          </p:nvSpPr>
          <p:spPr>
            <a:xfrm>
              <a:off x="6509956" y="4310301"/>
              <a:ext cx="3504618"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feed-forward layers, and a linear layer with sigmoid</a:t>
              </a:r>
            </a:p>
          </p:txBody>
        </p:sp>
        <p:sp>
          <p:nvSpPr>
            <p:cNvPr id="37" name="TextBox 37"/>
            <p:cNvSpPr txBox="1"/>
            <p:nvPr/>
          </p:nvSpPr>
          <p:spPr>
            <a:xfrm>
              <a:off x="6509956" y="4500801"/>
              <a:ext cx="4037766"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outputs the interaction probability. Just 1.4M parameters.</a:t>
              </a:r>
            </a:p>
          </p:txBody>
        </p:sp>
        <p:sp>
          <p:nvSpPr>
            <p:cNvPr id="38" name="Rectangle 38"/>
            <p:cNvSpPr/>
            <p:nvPr/>
          </p:nvSpPr>
          <p:spPr>
            <a:xfrm>
              <a:off x="6515100" y="4857750"/>
              <a:ext cx="4800600" cy="419100"/>
            </a:xfrm>
            <a:prstGeom prst="roundRect">
              <a:avLst>
                <a:gd name="adj" fmla="val 18182"/>
              </a:avLst>
            </a:prstGeom>
            <a:solidFill>
              <a:schemeClr val="accent6"/>
            </a:solidFill>
            <a:ln w="14288">
              <a:solidFill>
                <a:srgbClr val="26455F"/>
              </a:solidFill>
            </a:ln>
          </p:spPr>
        </p:sp>
        <p:sp>
          <p:nvSpPr>
            <p:cNvPr id="39" name="TextBox 39"/>
            <p:cNvSpPr txBox="1"/>
            <p:nvPr/>
          </p:nvSpPr>
          <p:spPr>
            <a:xfrm>
              <a:off x="7743012" y="5019199"/>
              <a:ext cx="2344776" cy="190690"/>
            </a:xfrm>
            <a:prstGeom prst="rect">
              <a:avLst/>
            </a:prstGeom>
            <a:noFill/>
            <a:ln>
              <a:noFill/>
            </a:ln>
          </p:spPr>
          <p:txBody>
            <a:bodyPr wrap="none" lIns="0" tIns="0" rIns="0" bIns="0" anchor="t" anchorCtr="0">
              <a:spAutoFit/>
            </a:bodyPr>
            <a:lstStyle/>
            <a:p>
              <a:pPr algn="ctr"/>
              <a:r>
                <a:rPr lang="en-US" sz="980" b="1" dirty="0">
                  <a:solidFill>
                    <a:schemeClr val="dk1"/>
                  </a:solidFill>
                  <a:latin typeface="Consolas"/>
                  <a:ea typeface="Consolas"/>
                  <a:cs typeface="Consolas"/>
                </a:rPr>
                <a:t>p = sigmoid(W h + b) | 1.4M params</a:t>
              </a:r>
            </a:p>
          </p:txBody>
        </p:sp>
      </p:grpSp>
      <p:sp>
        <p:nvSpPr>
          <p:cNvPr id="41" name="cue_s05_c1_rpiembeddor_turns_sequences_knowledg" title="cue_s05_c1_rpiembeddor_turns_sequences_knowledg" descr="cue_s05_c1_rpiembeddor_turns_sequences_knowledg RPIembeddor turns sequences into knowledge by leaning on two pre-trained foundation models."/>
          <p:cNvSpPr/>
          <p:nvPr/>
        </p:nvSpPr>
        <p:spPr>
          <a:xfrm>
            <a:off x="609600" y="1504645"/>
            <a:ext cx="5409590" cy="19428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cue_s05_c2_rna_sequences_embedded_rna_fm_traine" title="cue_s05_c2_rna_sequences_embedded_rna_fm_traine" descr="cue_s05_c2_rna_sequences_embedded_rna_fm_traine RNA sequences are embedded with RNA-FM, trained on twenty-three million non-coding RNAs, and protein sequences with ESM-2, which predicts folding without multiple sequence alignments. Both produce embeddings of size N by six hundred forty."/>
          <p:cNvSpPr/>
          <p:nvPr/>
        </p:nvSpPr>
        <p:spPr>
          <a:xfrm>
            <a:off x="609600" y="3600450"/>
            <a:ext cx="5409590" cy="163837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cue_s05_c3_two_parallel_feed_forward_layers_nor" title="cue_s05_c3_two_parallel_feed_forward_layers_nor" descr="cue_s05_c3_two_parallel_feed_forward_layers_nor Two parallel feed-forward layers normalize their sizes, and encoder layers process the RNA and protein embeddings symmetrically so attention can focus on the parts of each sequence most relevant to interaction."/>
          <p:cNvSpPr/>
          <p:nvPr/>
        </p:nvSpPr>
        <p:spPr>
          <a:xfrm>
            <a:off x="6248399" y="1504645"/>
            <a:ext cx="5334000" cy="19428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cue_s05_c4_latent_representations_concatenated" title="cue_s05_c4_latent_representations_concatenated" descr="cue_s05_c4_latent_representations_concatenated The latent representations are concatenated and passed through further feed-forward layers, ending in a linear layer with a sigmoid that outputs the probability of interaction. The whole model has just one-point-four million parameters."/>
          <p:cNvSpPr/>
          <p:nvPr/>
        </p:nvSpPr>
        <p:spPr>
          <a:xfrm>
            <a:off x="6248399" y="3600450"/>
            <a:ext cx="5334000" cy="16760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2190604"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DATASET / BENCHMARK</a:t>
            </a:r>
          </a:p>
        </p:txBody>
      </p:sp>
      <p:sp>
        <p:nvSpPr>
          <p:cNvPr id="4" name="TextBox 4"/>
          <p:cNvSpPr txBox="1"/>
          <p:nvPr/>
        </p:nvSpPr>
        <p:spPr>
          <a:xfrm>
            <a:off x="598170" y="804862"/>
            <a:ext cx="5960312"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RNAInterAct: curated, homology-split</a:t>
            </a:r>
          </a:p>
        </p:txBody>
      </p:sp>
      <p:grpSp>
        <p:nvGrpSpPr>
          <p:cNvPr id="22" name="Group 22"/>
          <p:cNvGrpSpPr/>
          <p:nvPr/>
        </p:nvGrpSpPr>
        <p:grpSpPr>
          <a:xfrm>
            <a:off x="609600" y="1504950"/>
            <a:ext cx="10972800" cy="1257300"/>
            <a:chOff x="609600" y="1504950"/>
            <a:chExt cx="10972800" cy="1257300"/>
          </a:xfrm>
        </p:grpSpPr>
        <p:sp>
          <p:nvSpPr>
            <p:cNvPr id="5" name="Rectangle 5"/>
            <p:cNvSpPr/>
            <p:nvPr/>
          </p:nvSpPr>
          <p:spPr>
            <a:xfrm>
              <a:off x="609600" y="1504950"/>
              <a:ext cx="10972800" cy="1257300"/>
            </a:xfrm>
            <a:prstGeom prst="roundRect">
              <a:avLst>
                <a:gd name="adj" fmla="val 10606"/>
              </a:avLst>
            </a:prstGeom>
            <a:solidFill>
              <a:schemeClr val="accent5"/>
            </a:solidFill>
            <a:ln w="14288">
              <a:solidFill>
                <a:srgbClr val="26455F"/>
              </a:solidFill>
            </a:ln>
          </p:spPr>
        </p:sp>
        <p:sp>
          <p:nvSpPr>
            <p:cNvPr id="6" name="Rectangle 6"/>
            <p:cNvSpPr/>
            <p:nvPr/>
          </p:nvSpPr>
          <p:spPr>
            <a:xfrm>
              <a:off x="609600" y="1504950"/>
              <a:ext cx="57150" cy="1257300"/>
            </a:xfrm>
            <a:prstGeom prst="roundRect">
              <a:avLst>
                <a:gd name="adj" fmla="val 50000"/>
              </a:avLst>
            </a:prstGeom>
            <a:solidFill>
              <a:schemeClr val="accent2"/>
            </a:solidFill>
            <a:ln>
              <a:noFill/>
            </a:ln>
          </p:spPr>
        </p:sp>
        <p:sp>
          <p:nvSpPr>
            <p:cNvPr id="7" name="TextBox 7"/>
            <p:cNvSpPr txBox="1"/>
            <p:nvPr/>
          </p:nvSpPr>
          <p:spPr>
            <a:xfrm>
              <a:off x="870204" y="1718310"/>
              <a:ext cx="4543343"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Built from RNAInter, sequences and families recovered</a:t>
              </a:r>
            </a:p>
          </p:txBody>
        </p:sp>
        <p:sp>
          <p:nvSpPr>
            <p:cNvPr id="8" name="Rectangle 8"/>
            <p:cNvSpPr/>
            <p:nvPr/>
          </p:nvSpPr>
          <p:spPr>
            <a:xfrm>
              <a:off x="1066800" y="2114550"/>
              <a:ext cx="1866900" cy="495300"/>
            </a:xfrm>
            <a:prstGeom prst="roundRect">
              <a:avLst>
                <a:gd name="adj" fmla="val 19231"/>
              </a:avLst>
            </a:prstGeom>
            <a:solidFill>
              <a:schemeClr val="accent6"/>
            </a:solidFill>
            <a:ln w="14288">
              <a:solidFill>
                <a:schemeClr val="accent2"/>
              </a:solidFill>
            </a:ln>
          </p:spPr>
        </p:sp>
        <p:sp>
          <p:nvSpPr>
            <p:cNvPr id="9" name="Rectangle 9"/>
            <p:cNvSpPr/>
            <p:nvPr/>
          </p:nvSpPr>
          <p:spPr>
            <a:xfrm>
              <a:off x="1066800" y="2114550"/>
              <a:ext cx="47625" cy="495300"/>
            </a:xfrm>
            <a:prstGeom prst="roundRect">
              <a:avLst>
                <a:gd name="adj" fmla="val 40000"/>
              </a:avLst>
            </a:prstGeom>
            <a:solidFill>
              <a:schemeClr val="accent2"/>
            </a:solidFill>
            <a:ln>
              <a:noFill/>
            </a:ln>
          </p:spPr>
        </p:sp>
        <p:sp>
          <p:nvSpPr>
            <p:cNvPr id="10" name="TextBox 10"/>
            <p:cNvSpPr txBox="1"/>
            <p:nvPr/>
          </p:nvSpPr>
          <p:spPr>
            <a:xfrm>
              <a:off x="1214056" y="2233851"/>
              <a:ext cx="619528" cy="198025"/>
            </a:xfrm>
            <a:prstGeom prst="rect">
              <a:avLst/>
            </a:prstGeom>
            <a:noFill/>
            <a:ln>
              <a:noFill/>
            </a:ln>
          </p:spPr>
          <p:txBody>
            <a:bodyPr wrap="none" lIns="0" tIns="0" rIns="0" bIns="0" anchor="t" anchorCtr="0">
              <a:spAutoFit/>
            </a:bodyPr>
            <a:lstStyle/>
            <a:p>
              <a:pPr algn="l"/>
              <a:r>
                <a:rPr lang="en-US" sz="1010" b="1" dirty="0">
                  <a:solidFill>
                    <a:schemeClr val="dk1"/>
                  </a:solidFill>
                  <a:latin typeface="+mn-lt"/>
                  <a:ea typeface="+mn-ea"/>
                  <a:cs typeface="+mn-cs"/>
                </a:rPr>
                <a:t>RNAInter</a:t>
              </a:r>
            </a:p>
          </p:txBody>
        </p:sp>
        <p:sp>
          <p:nvSpPr>
            <p:cNvPr id="11" name="TextBox 11"/>
            <p:cNvSpPr txBox="1"/>
            <p:nvPr/>
          </p:nvSpPr>
          <p:spPr>
            <a:xfrm>
              <a:off x="1214438" y="2421493"/>
              <a:ext cx="1016777" cy="169069"/>
            </a:xfrm>
            <a:prstGeom prst="rect">
              <a:avLst/>
            </a:prstGeom>
            <a:noFill/>
            <a:ln>
              <a:noFill/>
            </a:ln>
          </p:spPr>
          <p:txBody>
            <a:bodyPr wrap="none" lIns="0" tIns="0" rIns="0" bIns="0" anchor="t" anchorCtr="0">
              <a:spAutoFit/>
            </a:bodyPr>
            <a:lstStyle/>
            <a:p>
              <a:pPr algn="l"/>
              <a:r>
                <a:rPr lang="en-US" sz="860" b="1" dirty="0">
                  <a:solidFill>
                    <a:srgbClr val="6E869C"/>
                  </a:solidFill>
                  <a:latin typeface="+mn-lt"/>
                  <a:ea typeface="+mn-ea"/>
                  <a:cs typeface="+mn-cs"/>
                </a:rPr>
                <a:t>47M interactions</a:t>
              </a:r>
            </a:p>
          </p:txBody>
        </p:sp>
        <p:sp>
          <p:nvSpPr>
            <p:cNvPr id="12" name="TextBox 12"/>
            <p:cNvSpPr txBox="1"/>
            <p:nvPr/>
          </p:nvSpPr>
          <p:spPr>
            <a:xfrm>
              <a:off x="2911342" y="2203132"/>
              <a:ext cx="273316" cy="322707"/>
            </a:xfrm>
            <a:prstGeom prst="rect">
              <a:avLst/>
            </a:prstGeom>
            <a:noFill/>
            <a:ln>
              <a:noFill/>
            </a:ln>
          </p:spPr>
          <p:txBody>
            <a:bodyPr wrap="none" lIns="0" tIns="0" rIns="0" bIns="0" anchor="t" anchorCtr="0">
              <a:spAutoFit/>
            </a:bodyPr>
            <a:lstStyle/>
            <a:p>
              <a:pPr algn="ctr"/>
              <a:r>
                <a:rPr lang="en-US" sz="1650" b="1" dirty="0">
                  <a:solidFill>
                    <a:schemeClr val="dk2"/>
                  </a:solidFill>
                  <a:latin typeface="+mn-lt"/>
                  <a:ea typeface="+mn-ea"/>
                  <a:cs typeface="+mn-cs"/>
                </a:rPr>
                <a:t>-&gt;</a:t>
              </a:r>
            </a:p>
          </p:txBody>
        </p:sp>
        <p:sp>
          <p:nvSpPr>
            <p:cNvPr id="13" name="Rectangle 13"/>
            <p:cNvSpPr/>
            <p:nvPr/>
          </p:nvSpPr>
          <p:spPr>
            <a:xfrm>
              <a:off x="3314700" y="2114550"/>
              <a:ext cx="1866900" cy="495300"/>
            </a:xfrm>
            <a:prstGeom prst="roundRect">
              <a:avLst>
                <a:gd name="adj" fmla="val 19231"/>
              </a:avLst>
            </a:prstGeom>
            <a:solidFill>
              <a:schemeClr val="accent6"/>
            </a:solidFill>
            <a:ln w="14288">
              <a:solidFill>
                <a:srgbClr val="34D3C0"/>
              </a:solidFill>
            </a:ln>
          </p:spPr>
        </p:sp>
        <p:sp>
          <p:nvSpPr>
            <p:cNvPr id="14" name="Rectangle 14"/>
            <p:cNvSpPr/>
            <p:nvPr/>
          </p:nvSpPr>
          <p:spPr>
            <a:xfrm>
              <a:off x="3314700" y="2114550"/>
              <a:ext cx="47625" cy="495300"/>
            </a:xfrm>
            <a:prstGeom prst="roundRect">
              <a:avLst>
                <a:gd name="adj" fmla="val 40000"/>
              </a:avLst>
            </a:prstGeom>
            <a:solidFill>
              <a:srgbClr val="34D3C0"/>
            </a:solidFill>
            <a:ln>
              <a:noFill/>
            </a:ln>
          </p:spPr>
        </p:sp>
        <p:sp>
          <p:nvSpPr>
            <p:cNvPr id="15" name="TextBox 15"/>
            <p:cNvSpPr txBox="1"/>
            <p:nvPr/>
          </p:nvSpPr>
          <p:spPr>
            <a:xfrm>
              <a:off x="3461956" y="2233851"/>
              <a:ext cx="1710105" cy="198025"/>
            </a:xfrm>
            <a:prstGeom prst="rect">
              <a:avLst/>
            </a:prstGeom>
            <a:noFill/>
            <a:ln>
              <a:noFill/>
            </a:ln>
          </p:spPr>
          <p:txBody>
            <a:bodyPr wrap="none" lIns="0" tIns="0" rIns="0" bIns="0" anchor="t" anchorCtr="0">
              <a:spAutoFit/>
            </a:bodyPr>
            <a:lstStyle/>
            <a:p>
              <a:pPr algn="l"/>
              <a:r>
                <a:rPr lang="en-US" sz="1010" b="1" dirty="0">
                  <a:solidFill>
                    <a:schemeClr val="dk1"/>
                  </a:solidFill>
                  <a:latin typeface="+mn-lt"/>
                  <a:ea typeface="+mn-ea"/>
                  <a:cs typeface="+mn-cs"/>
                </a:rPr>
                <a:t>NCBI / UniProt / Ensembl</a:t>
              </a:r>
            </a:p>
          </p:txBody>
        </p:sp>
        <p:sp>
          <p:nvSpPr>
            <p:cNvPr id="16" name="TextBox 16"/>
            <p:cNvSpPr txBox="1"/>
            <p:nvPr/>
          </p:nvSpPr>
          <p:spPr>
            <a:xfrm>
              <a:off x="3462338" y="2421493"/>
              <a:ext cx="611256" cy="169069"/>
            </a:xfrm>
            <a:prstGeom prst="rect">
              <a:avLst/>
            </a:prstGeom>
            <a:noFill/>
            <a:ln>
              <a:noFill/>
            </a:ln>
          </p:spPr>
          <p:txBody>
            <a:bodyPr wrap="none" lIns="0" tIns="0" rIns="0" bIns="0" anchor="t" anchorCtr="0">
              <a:spAutoFit/>
            </a:bodyPr>
            <a:lstStyle/>
            <a:p>
              <a:pPr algn="l"/>
              <a:r>
                <a:rPr lang="en-US" sz="860" b="1" dirty="0">
                  <a:solidFill>
                    <a:srgbClr val="6E869C"/>
                  </a:solidFill>
                  <a:latin typeface="+mn-lt"/>
                  <a:ea typeface="+mn-ea"/>
                  <a:cs typeface="+mn-cs"/>
                </a:rPr>
                <a:t>sequences</a:t>
              </a:r>
            </a:p>
          </p:txBody>
        </p:sp>
        <p:sp>
          <p:nvSpPr>
            <p:cNvPr id="17" name="TextBox 17"/>
            <p:cNvSpPr txBox="1"/>
            <p:nvPr/>
          </p:nvSpPr>
          <p:spPr>
            <a:xfrm>
              <a:off x="5883142" y="2203132"/>
              <a:ext cx="273316" cy="322707"/>
            </a:xfrm>
            <a:prstGeom prst="rect">
              <a:avLst/>
            </a:prstGeom>
            <a:noFill/>
            <a:ln>
              <a:noFill/>
            </a:ln>
          </p:spPr>
          <p:txBody>
            <a:bodyPr wrap="none" lIns="0" tIns="0" rIns="0" bIns="0" anchor="t" anchorCtr="0">
              <a:spAutoFit/>
            </a:bodyPr>
            <a:lstStyle/>
            <a:p>
              <a:pPr algn="ctr"/>
              <a:r>
                <a:rPr lang="en-US" sz="1650" b="1" dirty="0">
                  <a:solidFill>
                    <a:schemeClr val="dk2"/>
                  </a:solidFill>
                  <a:latin typeface="+mn-lt"/>
                  <a:ea typeface="+mn-ea"/>
                  <a:cs typeface="+mn-cs"/>
                </a:rPr>
                <a:t>-&gt;</a:t>
              </a:r>
            </a:p>
          </p:txBody>
        </p:sp>
        <p:sp>
          <p:nvSpPr>
            <p:cNvPr id="18" name="Rectangle 18"/>
            <p:cNvSpPr/>
            <p:nvPr/>
          </p:nvSpPr>
          <p:spPr>
            <a:xfrm>
              <a:off x="6286500" y="2114550"/>
              <a:ext cx="2209800" cy="495300"/>
            </a:xfrm>
            <a:prstGeom prst="roundRect">
              <a:avLst>
                <a:gd name="adj" fmla="val 19231"/>
              </a:avLst>
            </a:prstGeom>
            <a:solidFill>
              <a:schemeClr val="accent6"/>
            </a:solidFill>
            <a:ln w="14288">
              <a:solidFill>
                <a:srgbClr val="48C78E"/>
              </a:solidFill>
            </a:ln>
          </p:spPr>
        </p:sp>
        <p:sp>
          <p:nvSpPr>
            <p:cNvPr id="19" name="Rectangle 19"/>
            <p:cNvSpPr/>
            <p:nvPr/>
          </p:nvSpPr>
          <p:spPr>
            <a:xfrm>
              <a:off x="6286500" y="2114550"/>
              <a:ext cx="47625" cy="495300"/>
            </a:xfrm>
            <a:prstGeom prst="roundRect">
              <a:avLst>
                <a:gd name="adj" fmla="val 40000"/>
              </a:avLst>
            </a:prstGeom>
            <a:solidFill>
              <a:srgbClr val="48C78E"/>
            </a:solidFill>
            <a:ln>
              <a:noFill/>
            </a:ln>
          </p:spPr>
        </p:sp>
        <p:sp>
          <p:nvSpPr>
            <p:cNvPr id="20" name="TextBox 20"/>
            <p:cNvSpPr txBox="1"/>
            <p:nvPr/>
          </p:nvSpPr>
          <p:spPr>
            <a:xfrm>
              <a:off x="6433756" y="2233851"/>
              <a:ext cx="871756" cy="198025"/>
            </a:xfrm>
            <a:prstGeom prst="rect">
              <a:avLst/>
            </a:prstGeom>
            <a:noFill/>
            <a:ln>
              <a:noFill/>
            </a:ln>
          </p:spPr>
          <p:txBody>
            <a:bodyPr wrap="none" lIns="0" tIns="0" rIns="0" bIns="0" anchor="t" anchorCtr="0">
              <a:spAutoFit/>
            </a:bodyPr>
            <a:lstStyle/>
            <a:p>
              <a:pPr algn="l"/>
              <a:r>
                <a:rPr lang="en-US" sz="1010" b="1" dirty="0">
                  <a:solidFill>
                    <a:schemeClr val="dk1"/>
                  </a:solidFill>
                  <a:latin typeface="+mn-lt"/>
                  <a:ea typeface="+mn-ea"/>
                  <a:cs typeface="+mn-cs"/>
                </a:rPr>
                <a:t>Rfam / Pfam</a:t>
              </a:r>
            </a:p>
          </p:txBody>
        </p:sp>
        <p:sp>
          <p:nvSpPr>
            <p:cNvPr id="21" name="TextBox 21"/>
            <p:cNvSpPr txBox="1"/>
            <p:nvPr/>
          </p:nvSpPr>
          <p:spPr>
            <a:xfrm>
              <a:off x="6434138" y="2421493"/>
              <a:ext cx="921239" cy="169069"/>
            </a:xfrm>
            <a:prstGeom prst="rect">
              <a:avLst/>
            </a:prstGeom>
            <a:noFill/>
            <a:ln>
              <a:noFill/>
            </a:ln>
          </p:spPr>
          <p:txBody>
            <a:bodyPr wrap="none" lIns="0" tIns="0" rIns="0" bIns="0" anchor="t" anchorCtr="0">
              <a:spAutoFit/>
            </a:bodyPr>
            <a:lstStyle/>
            <a:p>
              <a:pPr algn="l"/>
              <a:r>
                <a:rPr lang="en-US" sz="860" b="1" dirty="0">
                  <a:solidFill>
                    <a:srgbClr val="6E869C"/>
                  </a:solidFill>
                  <a:latin typeface="+mn-lt"/>
                  <a:ea typeface="+mn-ea"/>
                  <a:cs typeface="+mn-cs"/>
                </a:rPr>
                <a:t>families + clans</a:t>
              </a:r>
            </a:p>
          </p:txBody>
        </p:sp>
      </p:grpSp>
      <p:grpSp>
        <p:nvGrpSpPr>
          <p:cNvPr id="29" name="Group 29"/>
          <p:cNvGrpSpPr/>
          <p:nvPr/>
        </p:nvGrpSpPr>
        <p:grpSpPr>
          <a:xfrm>
            <a:off x="609600" y="2914650"/>
            <a:ext cx="5334000" cy="1333500"/>
            <a:chOff x="609600" y="2914650"/>
            <a:chExt cx="5334000" cy="1333500"/>
          </a:xfrm>
        </p:grpSpPr>
        <p:sp>
          <p:nvSpPr>
            <p:cNvPr id="23" name="Rectangle 23"/>
            <p:cNvSpPr/>
            <p:nvPr/>
          </p:nvSpPr>
          <p:spPr>
            <a:xfrm>
              <a:off x="609600" y="2914650"/>
              <a:ext cx="5334000" cy="1333500"/>
            </a:xfrm>
            <a:prstGeom prst="roundRect">
              <a:avLst>
                <a:gd name="adj" fmla="val 10000"/>
              </a:avLst>
            </a:prstGeom>
            <a:solidFill>
              <a:schemeClr val="accent5"/>
            </a:solidFill>
            <a:ln w="14288">
              <a:solidFill>
                <a:srgbClr val="26455F"/>
              </a:solidFill>
            </a:ln>
          </p:spPr>
        </p:sp>
        <p:sp>
          <p:nvSpPr>
            <p:cNvPr id="24" name="Rectangle 24"/>
            <p:cNvSpPr/>
            <p:nvPr/>
          </p:nvSpPr>
          <p:spPr>
            <a:xfrm>
              <a:off x="609600" y="2914650"/>
              <a:ext cx="57150" cy="1333500"/>
            </a:xfrm>
            <a:prstGeom prst="roundRect">
              <a:avLst>
                <a:gd name="adj" fmla="val 50000"/>
              </a:avLst>
            </a:prstGeom>
            <a:solidFill>
              <a:srgbClr val="48C78E"/>
            </a:solidFill>
            <a:ln>
              <a:noFill/>
            </a:ln>
          </p:spPr>
        </p:sp>
        <p:sp>
          <p:nvSpPr>
            <p:cNvPr id="25" name="TextBox 25"/>
            <p:cNvSpPr txBox="1"/>
            <p:nvPr/>
          </p:nvSpPr>
          <p:spPr>
            <a:xfrm>
              <a:off x="870014" y="3123962"/>
              <a:ext cx="2795758" cy="242030"/>
            </a:xfrm>
            <a:prstGeom prst="rect">
              <a:avLst/>
            </a:prstGeom>
            <a:noFill/>
            <a:ln>
              <a:noFill/>
            </a:ln>
          </p:spPr>
          <p:txBody>
            <a:bodyPr wrap="none" lIns="0" tIns="0" rIns="0" bIns="0" anchor="t" anchorCtr="0">
              <a:spAutoFit/>
            </a:bodyPr>
            <a:lstStyle/>
            <a:p>
              <a:pPr algn="l"/>
              <a:r>
                <a:rPr lang="en-US" sz="1240" b="1" dirty="0">
                  <a:solidFill>
                    <a:srgbClr val="48C78E"/>
                  </a:solidFill>
                  <a:latin typeface="+mn-lt"/>
                  <a:ea typeface="+mn-ea"/>
                  <a:cs typeface="+mn-cs"/>
                </a:rPr>
                <a:t>Biologically meaningful negatives</a:t>
              </a:r>
            </a:p>
          </p:txBody>
        </p:sp>
        <p:sp>
          <p:nvSpPr>
            <p:cNvPr id="26" name="TextBox 26"/>
            <p:cNvSpPr txBox="1"/>
            <p:nvPr/>
          </p:nvSpPr>
          <p:spPr>
            <a:xfrm>
              <a:off x="870966" y="3429952"/>
              <a:ext cx="366211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Family and clan annotations let the authors generate</a:t>
              </a:r>
            </a:p>
          </p:txBody>
        </p:sp>
        <p:sp>
          <p:nvSpPr>
            <p:cNvPr id="27" name="TextBox 27"/>
            <p:cNvSpPr txBox="1"/>
            <p:nvPr/>
          </p:nvSpPr>
          <p:spPr>
            <a:xfrm>
              <a:off x="870966" y="3629978"/>
              <a:ext cx="3600983"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negatives that are biologically plausible rather than</a:t>
              </a:r>
            </a:p>
          </p:txBody>
        </p:sp>
        <p:sp>
          <p:nvSpPr>
            <p:cNvPr id="28" name="TextBox 28"/>
            <p:cNvSpPr txBox="1"/>
            <p:nvPr/>
          </p:nvSpPr>
          <p:spPr>
            <a:xfrm>
              <a:off x="870966" y="3830002"/>
              <a:ext cx="583140"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random.</a:t>
              </a:r>
            </a:p>
          </p:txBody>
        </p:sp>
      </p:grpSp>
      <p:grpSp>
        <p:nvGrpSpPr>
          <p:cNvPr id="42" name="Group 42"/>
          <p:cNvGrpSpPr/>
          <p:nvPr/>
        </p:nvGrpSpPr>
        <p:grpSpPr>
          <a:xfrm>
            <a:off x="6248400" y="2914650"/>
            <a:ext cx="5334000" cy="1333500"/>
            <a:chOff x="6248400" y="2914650"/>
            <a:chExt cx="5334000" cy="1333500"/>
          </a:xfrm>
        </p:grpSpPr>
        <p:sp>
          <p:nvSpPr>
            <p:cNvPr id="30" name="Rectangle 30"/>
            <p:cNvSpPr/>
            <p:nvPr/>
          </p:nvSpPr>
          <p:spPr>
            <a:xfrm>
              <a:off x="6248400" y="2914650"/>
              <a:ext cx="5334000" cy="1333500"/>
            </a:xfrm>
            <a:prstGeom prst="roundRect">
              <a:avLst>
                <a:gd name="adj" fmla="val 10000"/>
              </a:avLst>
            </a:prstGeom>
            <a:solidFill>
              <a:schemeClr val="accent5"/>
            </a:solidFill>
            <a:ln w="14288">
              <a:solidFill>
                <a:srgbClr val="26455F"/>
              </a:solidFill>
            </a:ln>
          </p:spPr>
        </p:sp>
        <p:sp>
          <p:nvSpPr>
            <p:cNvPr id="31" name="Rectangle 31"/>
            <p:cNvSpPr/>
            <p:nvPr/>
          </p:nvSpPr>
          <p:spPr>
            <a:xfrm>
              <a:off x="6248400" y="2914650"/>
              <a:ext cx="57150" cy="1333500"/>
            </a:xfrm>
            <a:prstGeom prst="roundRect">
              <a:avLst>
                <a:gd name="adj" fmla="val 50000"/>
              </a:avLst>
            </a:prstGeom>
            <a:solidFill>
              <a:srgbClr val="34D3C0"/>
            </a:solidFill>
            <a:ln>
              <a:noFill/>
            </a:ln>
          </p:spPr>
        </p:sp>
        <p:sp>
          <p:nvSpPr>
            <p:cNvPr id="32" name="TextBox 32"/>
            <p:cNvSpPr txBox="1"/>
            <p:nvPr/>
          </p:nvSpPr>
          <p:spPr>
            <a:xfrm>
              <a:off x="6508814" y="3123962"/>
              <a:ext cx="1809144" cy="242030"/>
            </a:xfrm>
            <a:prstGeom prst="rect">
              <a:avLst/>
            </a:prstGeom>
            <a:noFill/>
            <a:ln>
              <a:noFill/>
            </a:ln>
          </p:spPr>
          <p:txBody>
            <a:bodyPr wrap="none" lIns="0" tIns="0" rIns="0" bIns="0" anchor="t" anchorCtr="0">
              <a:spAutoFit/>
            </a:bodyPr>
            <a:lstStyle/>
            <a:p>
              <a:pPr algn="l"/>
              <a:r>
                <a:rPr lang="en-US" sz="1240" b="1" dirty="0">
                  <a:solidFill>
                    <a:srgbClr val="34D3C0"/>
                  </a:solidFill>
                  <a:latin typeface="+mn-lt"/>
                  <a:ea typeface="+mn-ea"/>
                  <a:cs typeface="+mn-cs"/>
                </a:rPr>
                <a:t>122,217 interactions</a:t>
              </a:r>
            </a:p>
          </p:txBody>
        </p:sp>
        <p:sp>
          <p:nvSpPr>
            <p:cNvPr id="33" name="Rectangle 33"/>
            <p:cNvSpPr/>
            <p:nvPr/>
          </p:nvSpPr>
          <p:spPr>
            <a:xfrm>
              <a:off x="6515100" y="3467100"/>
              <a:ext cx="1562100" cy="685800"/>
            </a:xfrm>
            <a:prstGeom prst="roundRect">
              <a:avLst>
                <a:gd name="adj" fmla="val 16667"/>
              </a:avLst>
            </a:prstGeom>
            <a:solidFill>
              <a:schemeClr val="accent6"/>
            </a:solidFill>
            <a:ln w="14288">
              <a:solidFill>
                <a:srgbClr val="26455F"/>
              </a:solidFill>
            </a:ln>
          </p:spPr>
        </p:sp>
        <p:sp>
          <p:nvSpPr>
            <p:cNvPr id="34" name="TextBox 34"/>
            <p:cNvSpPr txBox="1"/>
            <p:nvPr/>
          </p:nvSpPr>
          <p:spPr>
            <a:xfrm>
              <a:off x="6984535" y="3625520"/>
              <a:ext cx="623231" cy="359085"/>
            </a:xfrm>
            <a:prstGeom prst="rect">
              <a:avLst/>
            </a:prstGeom>
            <a:noFill/>
            <a:ln>
              <a:noFill/>
            </a:ln>
          </p:spPr>
          <p:txBody>
            <a:bodyPr wrap="none" lIns="0" tIns="0" rIns="0" bIns="0" anchor="t" anchorCtr="0">
              <a:spAutoFit/>
            </a:bodyPr>
            <a:lstStyle/>
            <a:p>
              <a:pPr algn="ctr"/>
              <a:r>
                <a:rPr lang="en-US" sz="1840" b="1" dirty="0">
                  <a:solidFill>
                    <a:srgbClr val="34D3C0"/>
                  </a:solidFill>
                  <a:latin typeface="+mn-lt"/>
                  <a:ea typeface="+mn-ea"/>
                  <a:cs typeface="+mn-cs"/>
                </a:rPr>
                <a:t>122K</a:t>
              </a:r>
            </a:p>
          </p:txBody>
        </p:sp>
        <p:sp>
          <p:nvSpPr>
            <p:cNvPr id="35" name="TextBox 35"/>
            <p:cNvSpPr txBox="1"/>
            <p:nvPr/>
          </p:nvSpPr>
          <p:spPr>
            <a:xfrm>
              <a:off x="6886134" y="3914537"/>
              <a:ext cx="820032"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interactions</a:t>
              </a:r>
            </a:p>
          </p:txBody>
        </p:sp>
        <p:sp>
          <p:nvSpPr>
            <p:cNvPr id="36" name="Rectangle 36"/>
            <p:cNvSpPr/>
            <p:nvPr/>
          </p:nvSpPr>
          <p:spPr>
            <a:xfrm>
              <a:off x="8229600" y="3467100"/>
              <a:ext cx="1562100" cy="685800"/>
            </a:xfrm>
            <a:prstGeom prst="roundRect">
              <a:avLst>
                <a:gd name="adj" fmla="val 16667"/>
              </a:avLst>
            </a:prstGeom>
            <a:solidFill>
              <a:schemeClr val="accent6"/>
            </a:solidFill>
            <a:ln w="14288">
              <a:solidFill>
                <a:srgbClr val="26455F"/>
              </a:solidFill>
            </a:ln>
          </p:spPr>
        </p:sp>
        <p:sp>
          <p:nvSpPr>
            <p:cNvPr id="37" name="TextBox 37"/>
            <p:cNvSpPr txBox="1"/>
            <p:nvPr/>
          </p:nvSpPr>
          <p:spPr>
            <a:xfrm>
              <a:off x="8786752" y="3625520"/>
              <a:ext cx="447795" cy="359085"/>
            </a:xfrm>
            <a:prstGeom prst="rect">
              <a:avLst/>
            </a:prstGeom>
            <a:noFill/>
            <a:ln>
              <a:noFill/>
            </a:ln>
          </p:spPr>
          <p:txBody>
            <a:bodyPr wrap="none" lIns="0" tIns="0" rIns="0" bIns="0" anchor="t" anchorCtr="0">
              <a:spAutoFit/>
            </a:bodyPr>
            <a:lstStyle/>
            <a:p>
              <a:pPr algn="ctr"/>
              <a:r>
                <a:rPr lang="en-US" sz="1840" b="1" dirty="0">
                  <a:solidFill>
                    <a:schemeClr val="accent2"/>
                  </a:solidFill>
                  <a:latin typeface="+mn-lt"/>
                  <a:ea typeface="+mn-ea"/>
                  <a:cs typeface="+mn-cs"/>
                </a:rPr>
                <a:t>1:2</a:t>
              </a:r>
            </a:p>
          </p:txBody>
        </p:sp>
        <p:sp>
          <p:nvSpPr>
            <p:cNvPr id="38" name="TextBox 38"/>
            <p:cNvSpPr txBox="1"/>
            <p:nvPr/>
          </p:nvSpPr>
          <p:spPr>
            <a:xfrm>
              <a:off x="8710252" y="3914537"/>
              <a:ext cx="600796"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pos : neg</a:t>
              </a:r>
            </a:p>
          </p:txBody>
        </p:sp>
        <p:sp>
          <p:nvSpPr>
            <p:cNvPr id="39" name="Rectangle 39"/>
            <p:cNvSpPr/>
            <p:nvPr/>
          </p:nvSpPr>
          <p:spPr>
            <a:xfrm>
              <a:off x="9944100" y="3467100"/>
              <a:ext cx="1371600" cy="685800"/>
            </a:xfrm>
            <a:prstGeom prst="roundRect">
              <a:avLst>
                <a:gd name="adj" fmla="val 16667"/>
              </a:avLst>
            </a:prstGeom>
            <a:solidFill>
              <a:schemeClr val="accent6"/>
            </a:solidFill>
            <a:ln w="14288">
              <a:solidFill>
                <a:srgbClr val="26455F"/>
              </a:solidFill>
            </a:ln>
          </p:spPr>
        </p:sp>
        <p:sp>
          <p:nvSpPr>
            <p:cNvPr id="40" name="TextBox 40"/>
            <p:cNvSpPr txBox="1"/>
            <p:nvPr/>
          </p:nvSpPr>
          <p:spPr>
            <a:xfrm>
              <a:off x="10406002" y="3625520"/>
              <a:ext cx="447795" cy="359085"/>
            </a:xfrm>
            <a:prstGeom prst="rect">
              <a:avLst/>
            </a:prstGeom>
            <a:noFill/>
            <a:ln>
              <a:noFill/>
            </a:ln>
          </p:spPr>
          <p:txBody>
            <a:bodyPr wrap="none" lIns="0" tIns="0" rIns="0" bIns="0" anchor="t" anchorCtr="0">
              <a:spAutoFit/>
            </a:bodyPr>
            <a:lstStyle/>
            <a:p>
              <a:pPr algn="ctr"/>
              <a:r>
                <a:rPr lang="en-US" sz="1840" b="1" dirty="0">
                  <a:solidFill>
                    <a:srgbClr val="48C78E"/>
                  </a:solidFill>
                  <a:latin typeface="+mn-lt"/>
                  <a:ea typeface="+mn-ea"/>
                  <a:cs typeface="+mn-cs"/>
                </a:rPr>
                <a:t>976</a:t>
              </a:r>
            </a:p>
          </p:txBody>
        </p:sp>
        <p:sp>
          <p:nvSpPr>
            <p:cNvPr id="41" name="TextBox 41"/>
            <p:cNvSpPr txBox="1"/>
            <p:nvPr/>
          </p:nvSpPr>
          <p:spPr>
            <a:xfrm>
              <a:off x="10233866" y="3914537"/>
              <a:ext cx="792067"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RNA families</a:t>
              </a:r>
            </a:p>
          </p:txBody>
        </p:sp>
      </p:grpSp>
      <p:grpSp>
        <p:nvGrpSpPr>
          <p:cNvPr id="48" name="Group 48"/>
          <p:cNvGrpSpPr/>
          <p:nvPr/>
        </p:nvGrpSpPr>
        <p:grpSpPr>
          <a:xfrm>
            <a:off x="609600" y="4400550"/>
            <a:ext cx="10972800" cy="838200"/>
            <a:chOff x="609600" y="4400550"/>
            <a:chExt cx="10972800" cy="838200"/>
          </a:xfrm>
        </p:grpSpPr>
        <p:sp>
          <p:nvSpPr>
            <p:cNvPr id="43" name="Rectangle 43"/>
            <p:cNvSpPr/>
            <p:nvPr/>
          </p:nvSpPr>
          <p:spPr>
            <a:xfrm>
              <a:off x="609600" y="4400550"/>
              <a:ext cx="10972800" cy="838200"/>
            </a:xfrm>
            <a:prstGeom prst="roundRect">
              <a:avLst>
                <a:gd name="adj" fmla="val 15909"/>
              </a:avLst>
            </a:prstGeom>
            <a:solidFill>
              <a:srgbClr val="2A2417"/>
            </a:solidFill>
            <a:ln w="14288">
              <a:solidFill>
                <a:srgbClr val="F2C14E"/>
              </a:solidFill>
            </a:ln>
          </p:spPr>
        </p:sp>
        <p:sp>
          <p:nvSpPr>
            <p:cNvPr id="44" name="Rectangle 44"/>
            <p:cNvSpPr/>
            <p:nvPr/>
          </p:nvSpPr>
          <p:spPr>
            <a:xfrm>
              <a:off x="609600" y="4400550"/>
              <a:ext cx="57150" cy="838200"/>
            </a:xfrm>
            <a:prstGeom prst="roundRect">
              <a:avLst>
                <a:gd name="adj" fmla="val 50000"/>
              </a:avLst>
            </a:prstGeom>
            <a:solidFill>
              <a:srgbClr val="F2C14E"/>
            </a:solidFill>
            <a:ln>
              <a:noFill/>
            </a:ln>
          </p:spPr>
        </p:sp>
        <p:sp>
          <p:nvSpPr>
            <p:cNvPr id="45" name="TextBox 45"/>
            <p:cNvSpPr txBox="1"/>
            <p:nvPr/>
          </p:nvSpPr>
          <p:spPr>
            <a:xfrm>
              <a:off x="870204" y="4613910"/>
              <a:ext cx="1543183" cy="234696"/>
            </a:xfrm>
            <a:prstGeom prst="rect">
              <a:avLst/>
            </a:prstGeom>
            <a:noFill/>
            <a:ln>
              <a:noFill/>
            </a:ln>
          </p:spPr>
          <p:txBody>
            <a:bodyPr wrap="none" lIns="0" tIns="0" rIns="0" bIns="0" anchor="t" anchorCtr="0">
              <a:spAutoFit/>
            </a:bodyPr>
            <a:lstStyle/>
            <a:p>
              <a:pPr algn="l"/>
              <a:r>
                <a:rPr lang="en-US" sz="1200" b="1" dirty="0">
                  <a:solidFill>
                    <a:srgbClr val="F2C14E"/>
                  </a:solidFill>
                  <a:latin typeface="+mn-lt"/>
                  <a:ea typeface="+mn-ea"/>
                  <a:cs typeface="+mn-cs"/>
                </a:rPr>
                <a:t>Split by RNA family</a:t>
              </a:r>
            </a:p>
          </p:txBody>
        </p:sp>
        <p:sp>
          <p:nvSpPr>
            <p:cNvPr id="46" name="TextBox 46"/>
            <p:cNvSpPr txBox="1"/>
            <p:nvPr/>
          </p:nvSpPr>
          <p:spPr>
            <a:xfrm>
              <a:off x="2852166" y="4630102"/>
              <a:ext cx="7502031"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No family appears in both train and test (TRinter / TSfam), and models are also tested on external RPI2825,</a:t>
              </a:r>
            </a:p>
          </p:txBody>
        </p:sp>
        <p:sp>
          <p:nvSpPr>
            <p:cNvPr id="47" name="TextBox 47"/>
            <p:cNvSpPr txBox="1"/>
            <p:nvPr/>
          </p:nvSpPr>
          <p:spPr>
            <a:xfrm>
              <a:off x="2852166" y="4849178"/>
              <a:ext cx="4244130"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so the benchmark rewards generalization, not memorization.</a:t>
              </a:r>
            </a:p>
          </p:txBody>
        </p:sp>
      </p:grpSp>
      <p:sp>
        <p:nvSpPr>
          <p:cNvPr id="49" name="cue_s06_c1_dataset_backbone_study_starting_rnai" title="cue_s06_c1_dataset_backbone_study_starting_rnai" descr="cue_s06_c1_dataset_backbone_study_starting_rnai The dataset is the backbone of the study. Starting from RNAInter, with over forty-seven million RNA interactions, the authors recover sequences by cross-referencing NCBI, UniProt and Ensembl, and assign RNA families from Rfam and protein clans from Pfam."/>
          <p:cNvSpPr/>
          <p:nvPr/>
        </p:nvSpPr>
        <p:spPr>
          <a:xfrm>
            <a:off x="609600" y="1504645"/>
            <a:ext cx="10972800" cy="12570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cue_s06_c2_those_annotations_let_them_generate" title="cue_s06_c2_those_annotations_let_them_generate" descr="cue_s06_c2_those_annotations_let_them_generate Those annotations let them generate negatives that are biologically meaningful rather than random."/>
          <p:cNvSpPr/>
          <p:nvPr/>
        </p:nvSpPr>
        <p:spPr>
          <a:xfrm>
            <a:off x="609600" y="2914650"/>
            <a:ext cx="5334000" cy="13331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cue_s06_c3_final_rnainteract_set_holds_about" title="cue_s06_c3_final_rnainteract_set_holds_about" descr="cue_s06_c3_final_rnainteract_set_holds_about The final RNAInterAct set holds about one hundred twenty-two thousand interactions at a one-to-two positive-to-negative ratio. Crucially, it is split by RNA family, so no family appears in both training and testing."/>
          <p:cNvSpPr/>
          <p:nvPr/>
        </p:nvSpPr>
        <p:spPr>
          <a:xfrm>
            <a:off x="6248399" y="2914650"/>
            <a:ext cx="5334000" cy="13331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cue_s06_c4_homology_aware_split_plus_evaluation" title="cue_s06_c4_homology_aware_split_plus_evaluation" descr="cue_s06_c4_homology_aware_split_plus_evaluation This homology-aware split, plus evaluation on the external RPI2825 dataset, tests true generalization instead of memorization."/>
          <p:cNvSpPr/>
          <p:nvPr/>
        </p:nvSpPr>
        <p:spPr>
          <a:xfrm>
            <a:off x="609600" y="4400778"/>
            <a:ext cx="10972800" cy="8380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130290"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KEY RESULT</a:t>
            </a:r>
          </a:p>
        </p:txBody>
      </p:sp>
      <p:sp>
        <p:nvSpPr>
          <p:cNvPr id="4" name="TextBox 4"/>
          <p:cNvSpPr txBox="1"/>
          <p:nvPr/>
        </p:nvSpPr>
        <p:spPr>
          <a:xfrm>
            <a:off x="598170" y="804862"/>
            <a:ext cx="5868900"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Real signal where baselines hit chance</a:t>
            </a:r>
          </a:p>
        </p:txBody>
      </p:sp>
      <p:grpSp>
        <p:nvGrpSpPr>
          <p:cNvPr id="25" name="Group 25"/>
          <p:cNvGrpSpPr/>
          <p:nvPr/>
        </p:nvGrpSpPr>
        <p:grpSpPr>
          <a:xfrm>
            <a:off x="609600" y="1447800"/>
            <a:ext cx="10972800" cy="1333500"/>
            <a:chOff x="609600" y="1447800"/>
            <a:chExt cx="10972800" cy="1333500"/>
          </a:xfrm>
        </p:grpSpPr>
        <p:sp>
          <p:nvSpPr>
            <p:cNvPr id="5" name="Rectangle 5"/>
            <p:cNvSpPr/>
            <p:nvPr/>
          </p:nvSpPr>
          <p:spPr>
            <a:xfrm>
              <a:off x="609600" y="1447800"/>
              <a:ext cx="10972800" cy="1333500"/>
            </a:xfrm>
            <a:prstGeom prst="roundRect">
              <a:avLst>
                <a:gd name="adj" fmla="val 10000"/>
              </a:avLst>
            </a:prstGeom>
            <a:solidFill>
              <a:srgbClr val="0F2E2B"/>
            </a:solidFill>
            <a:ln w="14288">
              <a:solidFill>
                <a:srgbClr val="48C78E"/>
              </a:solidFill>
            </a:ln>
          </p:spPr>
        </p:sp>
        <p:sp>
          <p:nvSpPr>
            <p:cNvPr id="6" name="Rectangle 6"/>
            <p:cNvSpPr/>
            <p:nvPr/>
          </p:nvSpPr>
          <p:spPr>
            <a:xfrm>
              <a:off x="609600" y="1447800"/>
              <a:ext cx="57150" cy="1333500"/>
            </a:xfrm>
            <a:prstGeom prst="roundRect">
              <a:avLst>
                <a:gd name="adj" fmla="val 50000"/>
              </a:avLst>
            </a:prstGeom>
            <a:solidFill>
              <a:srgbClr val="48C78E"/>
            </a:solidFill>
            <a:ln>
              <a:noFill/>
            </a:ln>
          </p:spPr>
        </p:sp>
        <p:sp>
          <p:nvSpPr>
            <p:cNvPr id="7" name="TextBox 7"/>
            <p:cNvSpPr txBox="1"/>
            <p:nvPr/>
          </p:nvSpPr>
          <p:spPr>
            <a:xfrm>
              <a:off x="870014" y="1657112"/>
              <a:ext cx="4193930" cy="242030"/>
            </a:xfrm>
            <a:prstGeom prst="rect">
              <a:avLst/>
            </a:prstGeom>
            <a:noFill/>
            <a:ln>
              <a:noFill/>
            </a:ln>
          </p:spPr>
          <p:txBody>
            <a:bodyPr wrap="none" lIns="0" tIns="0" rIns="0" bIns="0" anchor="t" anchorCtr="0">
              <a:spAutoFit/>
            </a:bodyPr>
            <a:lstStyle/>
            <a:p>
              <a:pPr algn="l"/>
              <a:r>
                <a:rPr lang="en-US" sz="1240" b="1" dirty="0">
                  <a:solidFill>
                    <a:srgbClr val="48C78E"/>
                  </a:solidFill>
                  <a:latin typeface="+mn-lt"/>
                  <a:ea typeface="+mn-ea"/>
                  <a:cs typeface="+mn-cs"/>
                </a:rPr>
                <a:t>On TSfam, where no RNA family overlaps training</a:t>
              </a:r>
            </a:p>
          </p:txBody>
        </p:sp>
        <p:sp>
          <p:nvSpPr>
            <p:cNvPr id="8" name="Rectangle 8"/>
            <p:cNvSpPr/>
            <p:nvPr/>
          </p:nvSpPr>
          <p:spPr>
            <a:xfrm>
              <a:off x="876300" y="1943100"/>
              <a:ext cx="2095500" cy="704850"/>
            </a:xfrm>
            <a:prstGeom prst="roundRect">
              <a:avLst>
                <a:gd name="adj" fmla="val 16216"/>
              </a:avLst>
            </a:prstGeom>
            <a:solidFill>
              <a:schemeClr val="accent6"/>
            </a:solidFill>
            <a:ln w="14288">
              <a:solidFill>
                <a:srgbClr val="26455F"/>
              </a:solidFill>
            </a:ln>
          </p:spPr>
        </p:sp>
        <p:sp>
          <p:nvSpPr>
            <p:cNvPr id="9" name="TextBox 9"/>
            <p:cNvSpPr txBox="1"/>
            <p:nvPr/>
          </p:nvSpPr>
          <p:spPr>
            <a:xfrm>
              <a:off x="1547128" y="2105920"/>
              <a:ext cx="753844" cy="369059"/>
            </a:xfrm>
            <a:prstGeom prst="rect">
              <a:avLst/>
            </a:prstGeom>
            <a:noFill/>
            <a:ln>
              <a:noFill/>
            </a:ln>
          </p:spPr>
          <p:txBody>
            <a:bodyPr wrap="none" lIns="0" tIns="0" rIns="0" bIns="0" anchor="t" anchorCtr="0">
              <a:spAutoFit/>
            </a:bodyPr>
            <a:lstStyle/>
            <a:p>
              <a:pPr algn="ctr"/>
              <a:r>
                <a:rPr lang="en-US" sz="1890" b="1" dirty="0">
                  <a:solidFill>
                    <a:srgbClr val="48C78E"/>
                  </a:solidFill>
                  <a:latin typeface="+mn-lt"/>
                  <a:ea typeface="+mn-ea"/>
                  <a:cs typeface="+mn-cs"/>
                </a:rPr>
                <a:t>0.586</a:t>
              </a:r>
            </a:p>
          </p:txBody>
        </p:sp>
        <p:sp>
          <p:nvSpPr>
            <p:cNvPr id="10" name="TextBox 10"/>
            <p:cNvSpPr txBox="1"/>
            <p:nvPr/>
          </p:nvSpPr>
          <p:spPr>
            <a:xfrm>
              <a:off x="1529178" y="2405777"/>
              <a:ext cx="789744"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F1 on TSfam</a:t>
              </a:r>
            </a:p>
          </p:txBody>
        </p:sp>
        <p:sp>
          <p:nvSpPr>
            <p:cNvPr id="11" name="Rectangle 11"/>
            <p:cNvSpPr/>
            <p:nvPr/>
          </p:nvSpPr>
          <p:spPr>
            <a:xfrm>
              <a:off x="3162300" y="1943100"/>
              <a:ext cx="2095500" cy="704850"/>
            </a:xfrm>
            <a:prstGeom prst="roundRect">
              <a:avLst>
                <a:gd name="adj" fmla="val 16216"/>
              </a:avLst>
            </a:prstGeom>
            <a:solidFill>
              <a:schemeClr val="accent6"/>
            </a:solidFill>
            <a:ln w="14288">
              <a:solidFill>
                <a:srgbClr val="26455F"/>
              </a:solidFill>
            </a:ln>
          </p:spPr>
        </p:sp>
        <p:sp>
          <p:nvSpPr>
            <p:cNvPr id="12" name="TextBox 12"/>
            <p:cNvSpPr txBox="1"/>
            <p:nvPr/>
          </p:nvSpPr>
          <p:spPr>
            <a:xfrm>
              <a:off x="3833128" y="2105920"/>
              <a:ext cx="753844" cy="369059"/>
            </a:xfrm>
            <a:prstGeom prst="rect">
              <a:avLst/>
            </a:prstGeom>
            <a:noFill/>
            <a:ln>
              <a:noFill/>
            </a:ln>
          </p:spPr>
          <p:txBody>
            <a:bodyPr wrap="none" lIns="0" tIns="0" rIns="0" bIns="0" anchor="t" anchorCtr="0">
              <a:spAutoFit/>
            </a:bodyPr>
            <a:lstStyle/>
            <a:p>
              <a:pPr algn="ctr"/>
              <a:r>
                <a:rPr lang="en-US" sz="1890" b="1" dirty="0">
                  <a:solidFill>
                    <a:srgbClr val="34D3C0"/>
                  </a:solidFill>
                  <a:latin typeface="+mn-lt"/>
                  <a:ea typeface="+mn-ea"/>
                  <a:cs typeface="+mn-cs"/>
                </a:rPr>
                <a:t>0.667</a:t>
              </a:r>
            </a:p>
          </p:txBody>
        </p:sp>
        <p:sp>
          <p:nvSpPr>
            <p:cNvPr id="13" name="TextBox 13"/>
            <p:cNvSpPr txBox="1"/>
            <p:nvPr/>
          </p:nvSpPr>
          <p:spPr>
            <a:xfrm>
              <a:off x="3912974" y="2405777"/>
              <a:ext cx="594153"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accuracy</a:t>
              </a:r>
            </a:p>
          </p:txBody>
        </p:sp>
        <p:sp>
          <p:nvSpPr>
            <p:cNvPr id="14" name="Rectangle 14"/>
            <p:cNvSpPr/>
            <p:nvPr/>
          </p:nvSpPr>
          <p:spPr>
            <a:xfrm>
              <a:off x="5486400" y="1943100"/>
              <a:ext cx="2857500" cy="704850"/>
            </a:xfrm>
            <a:prstGeom prst="roundRect">
              <a:avLst>
                <a:gd name="adj" fmla="val 10811"/>
              </a:avLst>
            </a:prstGeom>
            <a:solidFill>
              <a:srgbClr val="0E2334"/>
            </a:solidFill>
            <a:ln w="14288">
              <a:solidFill>
                <a:srgbClr val="26455F"/>
              </a:solidFill>
            </a:ln>
          </p:spPr>
        </p:sp>
        <p:sp>
          <p:nvSpPr>
            <p:cNvPr id="15" name="Line 15"/>
            <p:cNvSpPr/>
            <p:nvPr/>
          </p:nvSpPr>
          <p:spPr>
            <a:xfrm>
              <a:off x="5638800" y="2495550"/>
              <a:ext cx="2590800" cy="9525"/>
            </a:xfrm>
            <a:custGeom>
              <a:avLst/>
              <a:gdLst/>
              <a:ahLst/>
              <a:cxnLst/>
              <a:rect l="l" t="t" r="r" b="b"/>
              <a:pathLst>
                <a:path w="2590800" h="9525">
                  <a:moveTo>
                    <a:pt x="0" y="0"/>
                  </a:moveTo>
                  <a:lnTo>
                    <a:pt x="2590800" y="0"/>
                  </a:lnTo>
                </a:path>
              </a:pathLst>
            </a:custGeom>
            <a:noFill/>
            <a:ln w="11430" cap="rnd">
              <a:solidFill>
                <a:srgbClr val="26455F"/>
              </a:solidFill>
            </a:ln>
          </p:spPr>
        </p:sp>
        <p:sp>
          <p:nvSpPr>
            <p:cNvPr id="16" name="Line 16"/>
            <p:cNvSpPr/>
            <p:nvPr/>
          </p:nvSpPr>
          <p:spPr>
            <a:xfrm>
              <a:off x="5638800" y="2076450"/>
              <a:ext cx="9525" cy="419100"/>
            </a:xfrm>
            <a:custGeom>
              <a:avLst/>
              <a:gdLst/>
              <a:ahLst/>
              <a:cxnLst/>
              <a:rect l="l" t="t" r="r" b="b"/>
              <a:pathLst>
                <a:path w="9525" h="419100">
                  <a:moveTo>
                    <a:pt x="0" y="419100"/>
                  </a:moveTo>
                  <a:lnTo>
                    <a:pt x="0" y="0"/>
                  </a:lnTo>
                </a:path>
              </a:pathLst>
            </a:custGeom>
            <a:noFill/>
            <a:ln w="11430" cap="rnd">
              <a:solidFill>
                <a:srgbClr val="26455F"/>
              </a:solidFill>
            </a:ln>
          </p:spPr>
        </p:sp>
        <p:sp>
          <p:nvSpPr>
            <p:cNvPr id="17" name="Line 17"/>
            <p:cNvSpPr/>
            <p:nvPr/>
          </p:nvSpPr>
          <p:spPr>
            <a:xfrm>
              <a:off x="5638800" y="2076450"/>
              <a:ext cx="2590800" cy="419100"/>
            </a:xfrm>
            <a:custGeom>
              <a:avLst/>
              <a:gdLst/>
              <a:ahLst/>
              <a:cxnLst/>
              <a:rect l="l" t="t" r="r" b="b"/>
              <a:pathLst>
                <a:path w="2590800" h="419100">
                  <a:moveTo>
                    <a:pt x="0" y="419100"/>
                  </a:moveTo>
                  <a:lnTo>
                    <a:pt x="2590800" y="0"/>
                  </a:lnTo>
                </a:path>
              </a:pathLst>
            </a:custGeom>
            <a:noFill/>
            <a:ln w="17145" cap="rnd">
              <a:solidFill>
                <a:srgbClr val="F2685C"/>
              </a:solidFill>
              <a:prstDash val="dash"/>
            </a:ln>
          </p:spPr>
        </p:sp>
        <p:sp>
          <p:nvSpPr>
            <p:cNvPr id="18" name="Polyline 18"/>
            <p:cNvSpPr/>
            <p:nvPr/>
          </p:nvSpPr>
          <p:spPr>
            <a:xfrm>
              <a:off x="5638800" y="2076450"/>
              <a:ext cx="2590800" cy="419100"/>
            </a:xfrm>
            <a:custGeom>
              <a:avLst/>
              <a:gdLst/>
              <a:ahLst/>
              <a:cxnLst/>
              <a:rect l="l" t="t" r="r" b="b"/>
              <a:pathLst>
                <a:path w="2590800" h="419100">
                  <a:moveTo>
                    <a:pt x="0" y="419100"/>
                  </a:moveTo>
                  <a:lnTo>
                    <a:pt x="129540" y="380183"/>
                  </a:lnTo>
                  <a:lnTo>
                    <a:pt x="259080" y="343067"/>
                  </a:lnTo>
                  <a:lnTo>
                    <a:pt x="388620" y="307761"/>
                  </a:lnTo>
                  <a:lnTo>
                    <a:pt x="518160" y="274277"/>
                  </a:lnTo>
                  <a:lnTo>
                    <a:pt x="647700" y="242624"/>
                  </a:lnTo>
                  <a:lnTo>
                    <a:pt x="777240" y="212816"/>
                  </a:lnTo>
                  <a:lnTo>
                    <a:pt x="906780" y="184864"/>
                  </a:lnTo>
                  <a:lnTo>
                    <a:pt x="1036320" y="158783"/>
                  </a:lnTo>
                  <a:lnTo>
                    <a:pt x="1165860" y="134588"/>
                  </a:lnTo>
                  <a:lnTo>
                    <a:pt x="1295400" y="112295"/>
                  </a:lnTo>
                  <a:lnTo>
                    <a:pt x="1424940" y="91922"/>
                  </a:lnTo>
                  <a:lnTo>
                    <a:pt x="1554480" y="73491"/>
                  </a:lnTo>
                  <a:lnTo>
                    <a:pt x="1684020" y="57023"/>
                  </a:lnTo>
                  <a:lnTo>
                    <a:pt x="1813560" y="42545"/>
                  </a:lnTo>
                  <a:lnTo>
                    <a:pt x="1943100" y="30089"/>
                  </a:lnTo>
                  <a:lnTo>
                    <a:pt x="2072640" y="19691"/>
                  </a:lnTo>
                  <a:lnTo>
                    <a:pt x="2202180" y="11400"/>
                  </a:lnTo>
                  <a:lnTo>
                    <a:pt x="2331720" y="5276"/>
                  </a:lnTo>
                  <a:lnTo>
                    <a:pt x="2461260" y="1414"/>
                  </a:lnTo>
                  <a:lnTo>
                    <a:pt x="2590800" y="0"/>
                  </a:lnTo>
                </a:path>
              </a:pathLst>
            </a:custGeom>
            <a:noFill/>
            <a:ln w="24765" cap="rnd">
              <a:solidFill>
                <a:srgbClr val="48C78E"/>
              </a:solidFill>
              <a:round/>
            </a:ln>
          </p:spPr>
        </p:sp>
        <p:sp>
          <p:nvSpPr>
            <p:cNvPr id="19" name="TextBox 19"/>
            <p:cNvSpPr txBox="1"/>
            <p:nvPr/>
          </p:nvSpPr>
          <p:spPr>
            <a:xfrm>
              <a:off x="7781030" y="2029539"/>
              <a:ext cx="434282" cy="154781"/>
            </a:xfrm>
            <a:prstGeom prst="rect">
              <a:avLst/>
            </a:prstGeom>
            <a:noFill/>
            <a:ln>
              <a:noFill/>
            </a:ln>
          </p:spPr>
          <p:txBody>
            <a:bodyPr wrap="none" lIns="0" tIns="0" rIns="0" bIns="0" anchor="t" anchorCtr="0">
              <a:spAutoFit/>
            </a:bodyPr>
            <a:lstStyle/>
            <a:p>
              <a:pPr algn="r"/>
              <a:r>
                <a:rPr lang="en-US" sz="790" b="1" dirty="0">
                  <a:solidFill>
                    <a:srgbClr val="48C78E"/>
                  </a:solidFill>
                  <a:latin typeface="+mn-lt"/>
                  <a:ea typeface="+mn-ea"/>
                  <a:cs typeface="+mn-cs"/>
                </a:rPr>
                <a:t>AUC .70</a:t>
              </a:r>
            </a:p>
          </p:txBody>
        </p:sp>
        <p:sp>
          <p:nvSpPr>
            <p:cNvPr id="20" name="TextBox 20"/>
            <p:cNvSpPr txBox="1"/>
            <p:nvPr/>
          </p:nvSpPr>
          <p:spPr>
            <a:xfrm>
              <a:off x="7837285" y="2372439"/>
              <a:ext cx="378027" cy="154781"/>
            </a:xfrm>
            <a:prstGeom prst="rect">
              <a:avLst/>
            </a:prstGeom>
            <a:noFill/>
            <a:ln>
              <a:noFill/>
            </a:ln>
          </p:spPr>
          <p:txBody>
            <a:bodyPr wrap="none" lIns="0" tIns="0" rIns="0" bIns="0" anchor="t" anchorCtr="0">
              <a:spAutoFit/>
            </a:bodyPr>
            <a:lstStyle/>
            <a:p>
              <a:pPr algn="r"/>
              <a:r>
                <a:rPr lang="en-US" sz="790" b="1" dirty="0">
                  <a:solidFill>
                    <a:srgbClr val="F2685C"/>
                  </a:solidFill>
                  <a:latin typeface="+mn-lt"/>
                  <a:ea typeface="+mn-ea"/>
                  <a:cs typeface="+mn-cs"/>
                </a:rPr>
                <a:t>chance</a:t>
              </a:r>
            </a:p>
          </p:txBody>
        </p:sp>
        <p:sp>
          <p:nvSpPr>
            <p:cNvPr id="21" name="TextBox 21"/>
            <p:cNvSpPr txBox="1"/>
            <p:nvPr/>
          </p:nvSpPr>
          <p:spPr>
            <a:xfrm>
              <a:off x="5653088" y="2538412"/>
              <a:ext cx="351168" cy="147638"/>
            </a:xfrm>
            <a:prstGeom prst="rect">
              <a:avLst/>
            </a:prstGeom>
            <a:noFill/>
            <a:ln>
              <a:noFill/>
            </a:ln>
          </p:spPr>
          <p:txBody>
            <a:bodyPr wrap="none" lIns="0" tIns="0" rIns="0" bIns="0" anchor="t" anchorCtr="0">
              <a:spAutoFit/>
            </a:bodyPr>
            <a:lstStyle/>
            <a:p>
              <a:pPr algn="l"/>
              <a:r>
                <a:rPr lang="en-US" sz="750" b="1" dirty="0">
                  <a:solidFill>
                    <a:srgbClr val="6E869C"/>
                  </a:solidFill>
                  <a:latin typeface="+mn-lt"/>
                  <a:ea typeface="+mn-ea"/>
                  <a:cs typeface="+mn-cs"/>
                </a:rPr>
                <a:t>FPR -&gt;</a:t>
              </a:r>
            </a:p>
          </p:txBody>
        </p:sp>
        <p:sp>
          <p:nvSpPr>
            <p:cNvPr id="22" name="Rectangle 22"/>
            <p:cNvSpPr/>
            <p:nvPr/>
          </p:nvSpPr>
          <p:spPr>
            <a:xfrm>
              <a:off x="8572500" y="1943100"/>
              <a:ext cx="2857500" cy="704850"/>
            </a:xfrm>
            <a:prstGeom prst="roundRect">
              <a:avLst>
                <a:gd name="adj" fmla="val 16216"/>
              </a:avLst>
            </a:prstGeom>
            <a:solidFill>
              <a:schemeClr val="accent6"/>
            </a:solidFill>
            <a:ln w="14288">
              <a:solidFill>
                <a:srgbClr val="26455F"/>
              </a:solidFill>
            </a:ln>
          </p:spPr>
        </p:sp>
        <p:sp>
          <p:nvSpPr>
            <p:cNvPr id="23" name="TextBox 23"/>
            <p:cNvSpPr txBox="1"/>
            <p:nvPr/>
          </p:nvSpPr>
          <p:spPr>
            <a:xfrm>
              <a:off x="8758047" y="2104549"/>
              <a:ext cx="1696517"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Best of all methods on the</a:t>
              </a:r>
            </a:p>
          </p:txBody>
        </p:sp>
        <p:sp>
          <p:nvSpPr>
            <p:cNvPr id="24" name="TextBox 24"/>
            <p:cNvSpPr txBox="1"/>
            <p:nvPr/>
          </p:nvSpPr>
          <p:spPr>
            <a:xfrm>
              <a:off x="8758047" y="2295049"/>
              <a:ext cx="1969031"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homology-separated test set.</a:t>
              </a:r>
            </a:p>
          </p:txBody>
        </p:sp>
      </p:grpSp>
      <p:grpSp>
        <p:nvGrpSpPr>
          <p:cNvPr id="43" name="Group 43"/>
          <p:cNvGrpSpPr/>
          <p:nvPr/>
        </p:nvGrpSpPr>
        <p:grpSpPr>
          <a:xfrm>
            <a:off x="609600" y="2933700"/>
            <a:ext cx="5334000" cy="2000250"/>
            <a:chOff x="609600" y="2933700"/>
            <a:chExt cx="5334000" cy="2000250"/>
          </a:xfrm>
        </p:grpSpPr>
        <p:sp>
          <p:nvSpPr>
            <p:cNvPr id="26" name="Rectangle 26"/>
            <p:cNvSpPr/>
            <p:nvPr/>
          </p:nvSpPr>
          <p:spPr>
            <a:xfrm>
              <a:off x="609600" y="2933700"/>
              <a:ext cx="5334000" cy="2000250"/>
            </a:xfrm>
            <a:prstGeom prst="roundRect">
              <a:avLst>
                <a:gd name="adj" fmla="val 6667"/>
              </a:avLst>
            </a:prstGeom>
            <a:solidFill>
              <a:schemeClr val="accent5"/>
            </a:solidFill>
            <a:ln w="14288">
              <a:solidFill>
                <a:srgbClr val="26455F"/>
              </a:solidFill>
            </a:ln>
          </p:spPr>
        </p:sp>
        <p:sp>
          <p:nvSpPr>
            <p:cNvPr id="27" name="Rectangle 27"/>
            <p:cNvSpPr/>
            <p:nvPr/>
          </p:nvSpPr>
          <p:spPr>
            <a:xfrm>
              <a:off x="609600" y="2933700"/>
              <a:ext cx="57150" cy="2000250"/>
            </a:xfrm>
            <a:prstGeom prst="roundRect">
              <a:avLst>
                <a:gd name="adj" fmla="val 50000"/>
              </a:avLst>
            </a:prstGeom>
            <a:solidFill>
              <a:schemeClr val="accent2"/>
            </a:solidFill>
            <a:ln>
              <a:noFill/>
            </a:ln>
          </p:spPr>
        </p:sp>
        <p:sp>
          <p:nvSpPr>
            <p:cNvPr id="28" name="TextBox 28"/>
            <p:cNvSpPr txBox="1"/>
            <p:nvPr/>
          </p:nvSpPr>
          <p:spPr>
            <a:xfrm>
              <a:off x="870204" y="3147060"/>
              <a:ext cx="2627428" cy="234696"/>
            </a:xfrm>
            <a:prstGeom prst="rect">
              <a:avLst/>
            </a:prstGeom>
            <a:noFill/>
            <a:ln>
              <a:noFill/>
            </a:ln>
          </p:spPr>
          <p:txBody>
            <a:bodyPr wrap="none" lIns="0" tIns="0" rIns="0" bIns="0" anchor="t" anchorCtr="0">
              <a:spAutoFit/>
            </a:bodyPr>
            <a:lstStyle/>
            <a:p>
              <a:pPr algn="l"/>
              <a:r>
                <a:rPr lang="en-US" sz="1200" b="1" dirty="0">
                  <a:solidFill>
                    <a:schemeClr val="accent2"/>
                  </a:solidFill>
                  <a:latin typeface="+mn-lt"/>
                  <a:ea typeface="+mn-ea"/>
                  <a:cs typeface="+mn-cs"/>
                </a:rPr>
                <a:t>AUC 0.70 vs baselines at chance</a:t>
              </a:r>
            </a:p>
          </p:txBody>
        </p:sp>
        <p:sp>
          <p:nvSpPr>
            <p:cNvPr id="29" name="TextBox 29"/>
            <p:cNvSpPr txBox="1"/>
            <p:nvPr/>
          </p:nvSpPr>
          <p:spPr>
            <a:xfrm>
              <a:off x="871156" y="3434001"/>
              <a:ext cx="3485451"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Its ROC area under the curve is 0.70, while XRPI and</a:t>
              </a:r>
            </a:p>
          </p:txBody>
        </p:sp>
        <p:sp>
          <p:nvSpPr>
            <p:cNvPr id="30" name="TextBox 30"/>
            <p:cNvSpPr txBox="1"/>
            <p:nvPr/>
          </p:nvSpPr>
          <p:spPr>
            <a:xfrm>
              <a:off x="871156" y="3624501"/>
              <a:ext cx="3277123"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IPMiner sit at 0.48 and 0.50, essentially chance.</a:t>
              </a:r>
            </a:p>
          </p:txBody>
        </p:sp>
        <p:sp>
          <p:nvSpPr>
            <p:cNvPr id="31" name="Rectangle 31"/>
            <p:cNvSpPr/>
            <p:nvPr/>
          </p:nvSpPr>
          <p:spPr>
            <a:xfrm>
              <a:off x="2857500" y="4076700"/>
              <a:ext cx="2381250" cy="209550"/>
            </a:xfrm>
            <a:prstGeom prst="roundRect">
              <a:avLst>
                <a:gd name="adj" fmla="val 27273"/>
              </a:avLst>
            </a:prstGeom>
            <a:solidFill>
              <a:srgbClr val="0E2334"/>
            </a:solidFill>
            <a:ln w="9525">
              <a:solidFill>
                <a:srgbClr val="26455F"/>
              </a:solidFill>
            </a:ln>
          </p:spPr>
        </p:sp>
        <p:sp>
          <p:nvSpPr>
            <p:cNvPr id="32" name="Rectangle 32"/>
            <p:cNvSpPr/>
            <p:nvPr/>
          </p:nvSpPr>
          <p:spPr>
            <a:xfrm>
              <a:off x="2857500" y="4076700"/>
              <a:ext cx="1666875" cy="209550"/>
            </a:xfrm>
            <a:prstGeom prst="roundRect">
              <a:avLst>
                <a:gd name="adj" fmla="val 27273"/>
              </a:avLst>
            </a:prstGeom>
            <a:solidFill>
              <a:srgbClr val="48C78E"/>
            </a:solidFill>
            <a:ln>
              <a:noFill/>
            </a:ln>
          </p:spPr>
        </p:sp>
        <p:sp>
          <p:nvSpPr>
            <p:cNvPr id="33" name="TextBox 33"/>
            <p:cNvSpPr txBox="1"/>
            <p:nvPr/>
          </p:nvSpPr>
          <p:spPr>
            <a:xfrm>
              <a:off x="1833608" y="4129088"/>
              <a:ext cx="914926"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RPIembeddor</a:t>
              </a:r>
            </a:p>
          </p:txBody>
        </p:sp>
        <p:sp>
          <p:nvSpPr>
            <p:cNvPr id="34" name="TextBox 34"/>
            <p:cNvSpPr txBox="1"/>
            <p:nvPr/>
          </p:nvSpPr>
          <p:spPr>
            <a:xfrm>
              <a:off x="4614291" y="4129088"/>
              <a:ext cx="337189" cy="205359"/>
            </a:xfrm>
            <a:prstGeom prst="rect">
              <a:avLst/>
            </a:prstGeom>
            <a:noFill/>
            <a:ln>
              <a:noFill/>
            </a:ln>
          </p:spPr>
          <p:txBody>
            <a:bodyPr wrap="none" lIns="0" tIns="0" rIns="0" bIns="0" anchor="t" anchorCtr="0">
              <a:spAutoFit/>
            </a:bodyPr>
            <a:lstStyle/>
            <a:p>
              <a:pPr algn="l"/>
              <a:r>
                <a:rPr lang="en-US" sz="1050" b="1" dirty="0">
                  <a:solidFill>
                    <a:srgbClr val="48C78E"/>
                  </a:solidFill>
                  <a:latin typeface="+mn-lt"/>
                  <a:ea typeface="+mn-ea"/>
                  <a:cs typeface="+mn-cs"/>
                </a:rPr>
                <a:t>0.70</a:t>
              </a:r>
            </a:p>
          </p:txBody>
        </p:sp>
        <p:sp>
          <p:nvSpPr>
            <p:cNvPr id="35" name="Rectangle 35"/>
            <p:cNvSpPr/>
            <p:nvPr/>
          </p:nvSpPr>
          <p:spPr>
            <a:xfrm>
              <a:off x="2857500" y="4343400"/>
              <a:ext cx="2381250" cy="209550"/>
            </a:xfrm>
            <a:prstGeom prst="roundRect">
              <a:avLst>
                <a:gd name="adj" fmla="val 27273"/>
              </a:avLst>
            </a:prstGeom>
            <a:solidFill>
              <a:srgbClr val="0E2334"/>
            </a:solidFill>
            <a:ln w="9525">
              <a:solidFill>
                <a:srgbClr val="26455F"/>
              </a:solidFill>
            </a:ln>
          </p:spPr>
        </p:sp>
        <p:sp>
          <p:nvSpPr>
            <p:cNvPr id="36" name="Rectangle 36"/>
            <p:cNvSpPr/>
            <p:nvPr/>
          </p:nvSpPr>
          <p:spPr>
            <a:xfrm>
              <a:off x="2857500" y="4343400"/>
              <a:ext cx="1190625" cy="209550"/>
            </a:xfrm>
            <a:prstGeom prst="roundRect">
              <a:avLst>
                <a:gd name="adj" fmla="val 27273"/>
              </a:avLst>
            </a:prstGeom>
            <a:solidFill>
              <a:srgbClr val="F2C14E"/>
            </a:solidFill>
            <a:ln>
              <a:noFill/>
            </a:ln>
          </p:spPr>
        </p:sp>
        <p:sp>
          <p:nvSpPr>
            <p:cNvPr id="37" name="TextBox 37"/>
            <p:cNvSpPr txBox="1"/>
            <p:nvPr/>
          </p:nvSpPr>
          <p:spPr>
            <a:xfrm>
              <a:off x="2198199" y="4395788"/>
              <a:ext cx="550335"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IPMiner</a:t>
              </a:r>
            </a:p>
          </p:txBody>
        </p:sp>
        <p:sp>
          <p:nvSpPr>
            <p:cNvPr id="38" name="TextBox 38"/>
            <p:cNvSpPr txBox="1"/>
            <p:nvPr/>
          </p:nvSpPr>
          <p:spPr>
            <a:xfrm>
              <a:off x="4138041" y="4395788"/>
              <a:ext cx="337189" cy="205359"/>
            </a:xfrm>
            <a:prstGeom prst="rect">
              <a:avLst/>
            </a:prstGeom>
            <a:noFill/>
            <a:ln>
              <a:noFill/>
            </a:ln>
          </p:spPr>
          <p:txBody>
            <a:bodyPr wrap="none" lIns="0" tIns="0" rIns="0" bIns="0" anchor="t" anchorCtr="0">
              <a:spAutoFit/>
            </a:bodyPr>
            <a:lstStyle/>
            <a:p>
              <a:pPr algn="l"/>
              <a:r>
                <a:rPr lang="en-US" sz="1050" b="1" dirty="0">
                  <a:solidFill>
                    <a:srgbClr val="F2C14E"/>
                  </a:solidFill>
                  <a:latin typeface="+mn-lt"/>
                  <a:ea typeface="+mn-ea"/>
                  <a:cs typeface="+mn-cs"/>
                </a:rPr>
                <a:t>0.50</a:t>
              </a:r>
            </a:p>
          </p:txBody>
        </p:sp>
        <p:sp>
          <p:nvSpPr>
            <p:cNvPr id="39" name="Rectangle 39"/>
            <p:cNvSpPr/>
            <p:nvPr/>
          </p:nvSpPr>
          <p:spPr>
            <a:xfrm>
              <a:off x="2857500" y="4610100"/>
              <a:ext cx="2381250" cy="209550"/>
            </a:xfrm>
            <a:prstGeom prst="roundRect">
              <a:avLst>
                <a:gd name="adj" fmla="val 27273"/>
              </a:avLst>
            </a:prstGeom>
            <a:solidFill>
              <a:srgbClr val="0E2334"/>
            </a:solidFill>
            <a:ln w="9525">
              <a:solidFill>
                <a:srgbClr val="26455F"/>
              </a:solidFill>
            </a:ln>
          </p:spPr>
        </p:sp>
        <p:sp>
          <p:nvSpPr>
            <p:cNvPr id="40" name="Rectangle 40"/>
            <p:cNvSpPr/>
            <p:nvPr/>
          </p:nvSpPr>
          <p:spPr>
            <a:xfrm>
              <a:off x="2857500" y="4610100"/>
              <a:ext cx="1143000" cy="209550"/>
            </a:xfrm>
            <a:prstGeom prst="roundRect">
              <a:avLst>
                <a:gd name="adj" fmla="val 27273"/>
              </a:avLst>
            </a:prstGeom>
            <a:solidFill>
              <a:srgbClr val="F2685C"/>
            </a:solidFill>
            <a:ln>
              <a:noFill/>
            </a:ln>
          </p:spPr>
        </p:sp>
        <p:sp>
          <p:nvSpPr>
            <p:cNvPr id="41" name="TextBox 41"/>
            <p:cNvSpPr txBox="1"/>
            <p:nvPr/>
          </p:nvSpPr>
          <p:spPr>
            <a:xfrm>
              <a:off x="2432068" y="4662488"/>
              <a:ext cx="316466"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XRPI</a:t>
              </a:r>
            </a:p>
          </p:txBody>
        </p:sp>
        <p:sp>
          <p:nvSpPr>
            <p:cNvPr id="42" name="TextBox 42"/>
            <p:cNvSpPr txBox="1"/>
            <p:nvPr/>
          </p:nvSpPr>
          <p:spPr>
            <a:xfrm>
              <a:off x="4090416" y="4662488"/>
              <a:ext cx="337189" cy="205359"/>
            </a:xfrm>
            <a:prstGeom prst="rect">
              <a:avLst/>
            </a:prstGeom>
            <a:noFill/>
            <a:ln>
              <a:noFill/>
            </a:ln>
          </p:spPr>
          <p:txBody>
            <a:bodyPr wrap="none" lIns="0" tIns="0" rIns="0" bIns="0" anchor="t" anchorCtr="0">
              <a:spAutoFit/>
            </a:bodyPr>
            <a:lstStyle/>
            <a:p>
              <a:pPr algn="l"/>
              <a:r>
                <a:rPr lang="en-US" sz="1050" b="1" dirty="0">
                  <a:solidFill>
                    <a:srgbClr val="F2685C"/>
                  </a:solidFill>
                  <a:latin typeface="+mn-lt"/>
                  <a:ea typeface="+mn-ea"/>
                  <a:cs typeface="+mn-cs"/>
                </a:rPr>
                <a:t>0.48</a:t>
              </a:r>
            </a:p>
          </p:txBody>
        </p:sp>
      </p:grpSp>
      <p:grpSp>
        <p:nvGrpSpPr>
          <p:cNvPr id="59" name="Group 59"/>
          <p:cNvGrpSpPr/>
          <p:nvPr/>
        </p:nvGrpSpPr>
        <p:grpSpPr>
          <a:xfrm>
            <a:off x="6248400" y="2933700"/>
            <a:ext cx="5334000" cy="2000250"/>
            <a:chOff x="6248400" y="2933700"/>
            <a:chExt cx="5334000" cy="2000250"/>
          </a:xfrm>
        </p:grpSpPr>
        <p:sp>
          <p:nvSpPr>
            <p:cNvPr id="44" name="Rectangle 44"/>
            <p:cNvSpPr/>
            <p:nvPr/>
          </p:nvSpPr>
          <p:spPr>
            <a:xfrm>
              <a:off x="6248400" y="2933700"/>
              <a:ext cx="5334000" cy="2000250"/>
            </a:xfrm>
            <a:prstGeom prst="roundRect">
              <a:avLst>
                <a:gd name="adj" fmla="val 6667"/>
              </a:avLst>
            </a:prstGeom>
            <a:solidFill>
              <a:schemeClr val="accent5"/>
            </a:solidFill>
            <a:ln w="14288">
              <a:solidFill>
                <a:srgbClr val="26455F"/>
              </a:solidFill>
            </a:ln>
          </p:spPr>
        </p:sp>
        <p:sp>
          <p:nvSpPr>
            <p:cNvPr id="45" name="Rectangle 45"/>
            <p:cNvSpPr/>
            <p:nvPr/>
          </p:nvSpPr>
          <p:spPr>
            <a:xfrm>
              <a:off x="6248400" y="2933700"/>
              <a:ext cx="57150" cy="2000250"/>
            </a:xfrm>
            <a:prstGeom prst="roundRect">
              <a:avLst>
                <a:gd name="adj" fmla="val 50000"/>
              </a:avLst>
            </a:prstGeom>
            <a:solidFill>
              <a:srgbClr val="F2C14E"/>
            </a:solidFill>
            <a:ln>
              <a:noFill/>
            </a:ln>
          </p:spPr>
        </p:sp>
        <p:sp>
          <p:nvSpPr>
            <p:cNvPr id="46" name="TextBox 46"/>
            <p:cNvSpPr txBox="1"/>
            <p:nvPr/>
          </p:nvSpPr>
          <p:spPr>
            <a:xfrm>
              <a:off x="6509004" y="3147060"/>
              <a:ext cx="3079445" cy="234696"/>
            </a:xfrm>
            <a:prstGeom prst="rect">
              <a:avLst/>
            </a:prstGeom>
            <a:noFill/>
            <a:ln>
              <a:noFill/>
            </a:ln>
          </p:spPr>
          <p:txBody>
            <a:bodyPr wrap="none" lIns="0" tIns="0" rIns="0" bIns="0" anchor="t" anchorCtr="0">
              <a:spAutoFit/>
            </a:bodyPr>
            <a:lstStyle/>
            <a:p>
              <a:pPr algn="l"/>
              <a:r>
                <a:rPr lang="en-US" sz="1200" b="1" dirty="0">
                  <a:solidFill>
                    <a:srgbClr val="F2C14E"/>
                  </a:solidFill>
                  <a:latin typeface="+mn-lt"/>
                  <a:ea typeface="+mn-ea"/>
                  <a:cs typeface="+mn-cs"/>
                </a:rPr>
                <a:t>Concretely, it separates the classes</a:t>
              </a:r>
            </a:p>
          </p:txBody>
        </p:sp>
        <p:sp>
          <p:nvSpPr>
            <p:cNvPr id="47" name="TextBox 47"/>
            <p:cNvSpPr txBox="1"/>
            <p:nvPr/>
          </p:nvSpPr>
          <p:spPr>
            <a:xfrm>
              <a:off x="6509956" y="3434001"/>
              <a:ext cx="3382909"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RPIembeddor correctly labels nearly 3,000 positive</a:t>
              </a:r>
            </a:p>
          </p:txBody>
        </p:sp>
        <p:sp>
          <p:nvSpPr>
            <p:cNvPr id="48" name="TextBox 48"/>
            <p:cNvSpPr txBox="1"/>
            <p:nvPr/>
          </p:nvSpPr>
          <p:spPr>
            <a:xfrm>
              <a:off x="6509956" y="3624501"/>
              <a:ext cx="3531743"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interactions and over 5,000 negatives, whereas XRPI</a:t>
              </a:r>
            </a:p>
          </p:txBody>
        </p:sp>
        <p:sp>
          <p:nvSpPr>
            <p:cNvPr id="49" name="TextBox 49"/>
            <p:cNvSpPr txBox="1"/>
            <p:nvPr/>
          </p:nvSpPr>
          <p:spPr>
            <a:xfrm>
              <a:off x="6509956" y="3815001"/>
              <a:ext cx="2872376"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predicts almost everything as interacting.</a:t>
              </a:r>
            </a:p>
          </p:txBody>
        </p:sp>
        <p:sp>
          <p:nvSpPr>
            <p:cNvPr id="50" name="Rectangle 50"/>
            <p:cNvSpPr/>
            <p:nvPr/>
          </p:nvSpPr>
          <p:spPr>
            <a:xfrm>
              <a:off x="6515100" y="4305300"/>
              <a:ext cx="1562100" cy="552450"/>
            </a:xfrm>
            <a:prstGeom prst="roundRect">
              <a:avLst>
                <a:gd name="adj" fmla="val 20690"/>
              </a:avLst>
            </a:prstGeom>
            <a:solidFill>
              <a:schemeClr val="accent6"/>
            </a:solidFill>
            <a:ln w="14288">
              <a:solidFill>
                <a:srgbClr val="26455F"/>
              </a:solidFill>
            </a:ln>
          </p:spPr>
        </p:sp>
        <p:sp>
          <p:nvSpPr>
            <p:cNvPr id="51" name="TextBox 51"/>
            <p:cNvSpPr txBox="1"/>
            <p:nvPr/>
          </p:nvSpPr>
          <p:spPr>
            <a:xfrm>
              <a:off x="7000987" y="4432916"/>
              <a:ext cx="590325" cy="289263"/>
            </a:xfrm>
            <a:prstGeom prst="rect">
              <a:avLst/>
            </a:prstGeom>
            <a:noFill/>
            <a:ln>
              <a:noFill/>
            </a:ln>
          </p:spPr>
          <p:txBody>
            <a:bodyPr wrap="none" lIns="0" tIns="0" rIns="0" bIns="0" anchor="t" anchorCtr="0">
              <a:spAutoFit/>
            </a:bodyPr>
            <a:lstStyle/>
            <a:p>
              <a:pPr algn="ctr"/>
              <a:r>
                <a:rPr lang="en-US" sz="1480" b="1" dirty="0">
                  <a:solidFill>
                    <a:srgbClr val="48C78E"/>
                  </a:solidFill>
                  <a:latin typeface="+mn-lt"/>
                  <a:ea typeface="+mn-ea"/>
                  <a:cs typeface="+mn-cs"/>
                </a:rPr>
                <a:t>2,971</a:t>
              </a:r>
            </a:p>
          </p:txBody>
        </p:sp>
        <p:sp>
          <p:nvSpPr>
            <p:cNvPr id="52" name="TextBox 52"/>
            <p:cNvSpPr txBox="1"/>
            <p:nvPr/>
          </p:nvSpPr>
          <p:spPr>
            <a:xfrm>
              <a:off x="6829664" y="4646057"/>
              <a:ext cx="932971"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true positives</a:t>
              </a:r>
            </a:p>
          </p:txBody>
        </p:sp>
        <p:sp>
          <p:nvSpPr>
            <p:cNvPr id="53" name="Rectangle 53"/>
            <p:cNvSpPr/>
            <p:nvPr/>
          </p:nvSpPr>
          <p:spPr>
            <a:xfrm>
              <a:off x="8229600" y="4305300"/>
              <a:ext cx="1562100" cy="552450"/>
            </a:xfrm>
            <a:prstGeom prst="roundRect">
              <a:avLst>
                <a:gd name="adj" fmla="val 20690"/>
              </a:avLst>
            </a:prstGeom>
            <a:solidFill>
              <a:schemeClr val="accent6"/>
            </a:solidFill>
            <a:ln w="14288">
              <a:solidFill>
                <a:srgbClr val="26455F"/>
              </a:solidFill>
            </a:ln>
          </p:spPr>
        </p:sp>
        <p:sp>
          <p:nvSpPr>
            <p:cNvPr id="54" name="TextBox 54"/>
            <p:cNvSpPr txBox="1"/>
            <p:nvPr/>
          </p:nvSpPr>
          <p:spPr>
            <a:xfrm>
              <a:off x="8715487" y="4432916"/>
              <a:ext cx="590325" cy="289263"/>
            </a:xfrm>
            <a:prstGeom prst="rect">
              <a:avLst/>
            </a:prstGeom>
            <a:noFill/>
            <a:ln>
              <a:noFill/>
            </a:ln>
          </p:spPr>
          <p:txBody>
            <a:bodyPr wrap="none" lIns="0" tIns="0" rIns="0" bIns="0" anchor="t" anchorCtr="0">
              <a:spAutoFit/>
            </a:bodyPr>
            <a:lstStyle/>
            <a:p>
              <a:pPr algn="ctr"/>
              <a:r>
                <a:rPr lang="en-US" sz="1480" b="1" dirty="0">
                  <a:solidFill>
                    <a:srgbClr val="34D3C0"/>
                  </a:solidFill>
                  <a:latin typeface="+mn-lt"/>
                  <a:ea typeface="+mn-ea"/>
                  <a:cs typeface="+mn-cs"/>
                </a:rPr>
                <a:t>5,586</a:t>
              </a:r>
            </a:p>
          </p:txBody>
        </p:sp>
        <p:sp>
          <p:nvSpPr>
            <p:cNvPr id="55" name="TextBox 55"/>
            <p:cNvSpPr txBox="1"/>
            <p:nvPr/>
          </p:nvSpPr>
          <p:spPr>
            <a:xfrm>
              <a:off x="8527556" y="4646057"/>
              <a:ext cx="966189"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true negatives</a:t>
              </a:r>
            </a:p>
          </p:txBody>
        </p:sp>
        <p:sp>
          <p:nvSpPr>
            <p:cNvPr id="56" name="Rectangle 56"/>
            <p:cNvSpPr/>
            <p:nvPr/>
          </p:nvSpPr>
          <p:spPr>
            <a:xfrm>
              <a:off x="9944100" y="4305300"/>
              <a:ext cx="1371600" cy="552450"/>
            </a:xfrm>
            <a:prstGeom prst="roundRect">
              <a:avLst>
                <a:gd name="adj" fmla="val 20690"/>
              </a:avLst>
            </a:prstGeom>
            <a:solidFill>
              <a:schemeClr val="accent6"/>
            </a:solidFill>
            <a:ln w="14288">
              <a:solidFill>
                <a:srgbClr val="26455F"/>
              </a:solidFill>
            </a:ln>
          </p:spPr>
        </p:sp>
        <p:sp>
          <p:nvSpPr>
            <p:cNvPr id="57" name="TextBox 57"/>
            <p:cNvSpPr txBox="1"/>
            <p:nvPr/>
          </p:nvSpPr>
          <p:spPr>
            <a:xfrm>
              <a:off x="10371347" y="4432916"/>
              <a:ext cx="517105" cy="289263"/>
            </a:xfrm>
            <a:prstGeom prst="rect">
              <a:avLst/>
            </a:prstGeom>
            <a:noFill/>
            <a:ln>
              <a:noFill/>
            </a:ln>
          </p:spPr>
          <p:txBody>
            <a:bodyPr wrap="none" lIns="0" tIns="0" rIns="0" bIns="0" anchor="t" anchorCtr="0">
              <a:spAutoFit/>
            </a:bodyPr>
            <a:lstStyle/>
            <a:p>
              <a:pPr algn="ctr"/>
              <a:r>
                <a:rPr lang="en-US" sz="1480" b="1" dirty="0">
                  <a:solidFill>
                    <a:srgbClr val="F2685C"/>
                  </a:solidFill>
                  <a:latin typeface="+mn-lt"/>
                  <a:ea typeface="+mn-ea"/>
                  <a:cs typeface="+mn-cs"/>
                </a:rPr>
                <a:t>~91%</a:t>
              </a:r>
            </a:p>
          </p:txBody>
        </p:sp>
        <p:sp>
          <p:nvSpPr>
            <p:cNvPr id="58" name="TextBox 58"/>
            <p:cNvSpPr txBox="1"/>
            <p:nvPr/>
          </p:nvSpPr>
          <p:spPr>
            <a:xfrm>
              <a:off x="10244678" y="4646057"/>
              <a:ext cx="770444"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XRPI all-pos</a:t>
              </a:r>
            </a:p>
          </p:txBody>
        </p:sp>
      </p:grpSp>
      <p:grpSp>
        <p:nvGrpSpPr>
          <p:cNvPr id="65" name="Group 65"/>
          <p:cNvGrpSpPr/>
          <p:nvPr/>
        </p:nvGrpSpPr>
        <p:grpSpPr>
          <a:xfrm>
            <a:off x="609600" y="5086350"/>
            <a:ext cx="10972800" cy="609600"/>
            <a:chOff x="609600" y="5086350"/>
            <a:chExt cx="10972800" cy="609600"/>
          </a:xfrm>
        </p:grpSpPr>
        <p:sp>
          <p:nvSpPr>
            <p:cNvPr id="60" name="Rectangle 60"/>
            <p:cNvSpPr/>
            <p:nvPr/>
          </p:nvSpPr>
          <p:spPr>
            <a:xfrm>
              <a:off x="609600" y="5086350"/>
              <a:ext cx="10972800" cy="609600"/>
            </a:xfrm>
            <a:prstGeom prst="roundRect">
              <a:avLst>
                <a:gd name="adj" fmla="val 21875"/>
              </a:avLst>
            </a:prstGeom>
            <a:solidFill>
              <a:srgbClr val="2A2417"/>
            </a:solidFill>
            <a:ln w="14288">
              <a:solidFill>
                <a:srgbClr val="F2C14E"/>
              </a:solidFill>
            </a:ln>
          </p:spPr>
        </p:sp>
        <p:sp>
          <p:nvSpPr>
            <p:cNvPr id="61" name="Rectangle 61"/>
            <p:cNvSpPr/>
            <p:nvPr/>
          </p:nvSpPr>
          <p:spPr>
            <a:xfrm>
              <a:off x="609600" y="5086350"/>
              <a:ext cx="57150" cy="609600"/>
            </a:xfrm>
            <a:prstGeom prst="roundRect">
              <a:avLst>
                <a:gd name="adj" fmla="val 50000"/>
              </a:avLst>
            </a:prstGeom>
            <a:solidFill>
              <a:srgbClr val="F2C14E"/>
            </a:solidFill>
            <a:ln>
              <a:noFill/>
            </a:ln>
          </p:spPr>
        </p:sp>
        <p:sp>
          <p:nvSpPr>
            <p:cNvPr id="62" name="TextBox 62"/>
            <p:cNvSpPr txBox="1"/>
            <p:nvPr/>
          </p:nvSpPr>
          <p:spPr>
            <a:xfrm>
              <a:off x="870394" y="5227558"/>
              <a:ext cx="926980" cy="227362"/>
            </a:xfrm>
            <a:prstGeom prst="rect">
              <a:avLst/>
            </a:prstGeom>
            <a:noFill/>
            <a:ln>
              <a:noFill/>
            </a:ln>
          </p:spPr>
          <p:txBody>
            <a:bodyPr wrap="none" lIns="0" tIns="0" rIns="0" bIns="0" anchor="t" anchorCtr="0">
              <a:spAutoFit/>
            </a:bodyPr>
            <a:lstStyle/>
            <a:p>
              <a:pPr algn="l"/>
              <a:r>
                <a:rPr lang="en-US" sz="1160" b="1" dirty="0">
                  <a:solidFill>
                    <a:srgbClr val="F2C14E"/>
                  </a:solidFill>
                  <a:latin typeface="+mn-lt"/>
                  <a:ea typeface="+mn-ea"/>
                  <a:cs typeface="+mn-cs"/>
                </a:rPr>
                <a:t>The verdict</a:t>
              </a:r>
            </a:p>
          </p:txBody>
        </p:sp>
        <p:sp>
          <p:nvSpPr>
            <p:cNvPr id="63" name="TextBox 63"/>
            <p:cNvSpPr txBox="1"/>
            <p:nvPr/>
          </p:nvSpPr>
          <p:spPr>
            <a:xfrm>
              <a:off x="1995106" y="5243751"/>
              <a:ext cx="5310974" cy="198025"/>
            </a:xfrm>
            <a:prstGeom prst="rect">
              <a:avLst/>
            </a:prstGeom>
            <a:noFill/>
            <a:ln>
              <a:noFill/>
            </a:ln>
          </p:spPr>
          <p:txBody>
            <a:bodyPr wrap="none" lIns="0" tIns="0" rIns="0" bIns="0" anchor="t" anchorCtr="0">
              <a:spAutoFit/>
            </a:bodyPr>
            <a:lstStyle/>
            <a:p>
              <a:pPr algn="l"/>
              <a:r>
                <a:rPr lang="en-US" sz="1010" b="1" dirty="0">
                  <a:solidFill>
                    <a:schemeClr val="dk1"/>
                  </a:solidFill>
                  <a:latin typeface="+mn-lt"/>
                  <a:ea typeface="+mn-ea"/>
                  <a:cs typeface="+mn-cs"/>
                </a:rPr>
                <a:t>The model clearly learns real signal that generalizes to unseen RNA families,</a:t>
              </a:r>
            </a:p>
          </p:txBody>
        </p:sp>
        <p:sp>
          <p:nvSpPr>
            <p:cNvPr id="64" name="TextBox 64"/>
            <p:cNvSpPr txBox="1"/>
            <p:nvPr/>
          </p:nvSpPr>
          <p:spPr>
            <a:xfrm>
              <a:off x="1995106" y="5453301"/>
              <a:ext cx="3522294" cy="198025"/>
            </a:xfrm>
            <a:prstGeom prst="rect">
              <a:avLst/>
            </a:prstGeom>
            <a:noFill/>
            <a:ln>
              <a:noFill/>
            </a:ln>
          </p:spPr>
          <p:txBody>
            <a:bodyPr wrap="none" lIns="0" tIns="0" rIns="0" bIns="0" anchor="t" anchorCtr="0">
              <a:spAutoFit/>
            </a:bodyPr>
            <a:lstStyle/>
            <a:p>
              <a:pPr algn="l"/>
              <a:r>
                <a:rPr lang="en-US" sz="1010" b="1" dirty="0">
                  <a:solidFill>
                    <a:schemeClr val="dk2"/>
                  </a:solidFill>
                  <a:latin typeface="+mn-lt"/>
                  <a:ea typeface="+mn-ea"/>
                  <a:cs typeface="+mn-cs"/>
                </a:rPr>
                <a:t>rather than memorizing the families it trained on.</a:t>
              </a:r>
            </a:p>
          </p:txBody>
        </p:sp>
      </p:grpSp>
      <p:sp>
        <p:nvSpPr>
          <p:cNvPr id="66" name="cue_s07_c1_hardest_test_tsfam_where_rna" title="cue_s07_c1_hardest_test_tsfam_where_rna" descr="cue_s07_c1_hardest_test_tsfam_where_rna On the hardest test, TSfam, where no RNA family overlaps with training, RPIembeddor reaches an F1 score of about zero-point-five-nine and an accuracy of about zero-point-six-seven."/>
          <p:cNvSpPr/>
          <p:nvPr/>
        </p:nvSpPr>
        <p:spPr>
          <a:xfrm>
            <a:off x="609600" y="1447723"/>
            <a:ext cx="10972800" cy="13331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cue_s07_c2_its_roc_area_under_curve" title="cue_s07_c2_its_roc_area_under_curve" descr="cue_s07_c2_its_roc_area_under_curve Its ROC area under the curve is zero-point-seven-zero, while the competing tools XRPI and IPMiner sit at zero-point-four-eight and zero-point-five-zero, essentially chance."/>
          <p:cNvSpPr/>
          <p:nvPr/>
        </p:nvSpPr>
        <p:spPr>
          <a:xfrm>
            <a:off x="609600" y="2933852"/>
            <a:ext cx="5334000" cy="200047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cue_s07_c3_concrete_terms_rpiembeddor_correctly" title="cue_s07_c3_concrete_terms_rpiembeddor_correctly" descr="cue_s07_c3_concrete_terms_rpiembeddor_correctly In concrete terms, RPIembeddor correctly labels nearly three thousand of the positive interactions and over five thousand of the negatives, whereas XRPI simply predicts almost everything as interacting."/>
          <p:cNvSpPr/>
          <p:nvPr/>
        </p:nvSpPr>
        <p:spPr>
          <a:xfrm>
            <a:off x="6248399" y="2933852"/>
            <a:ext cx="5334000" cy="200047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cue_s07_c4_clearly_learns_real_signal_generaliz" title="cue_s07_c4_clearly_learns_real_signal_generaliz" descr="cue_s07_c4_clearly_learns_real_signal_generaliz The model clearly learns real signal that generalizes to unseen RNA families."/>
          <p:cNvSpPr/>
          <p:nvPr/>
        </p:nvSpPr>
        <p:spPr>
          <a:xfrm>
            <a:off x="609600" y="5086578"/>
            <a:ext cx="10972800" cy="60967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596894"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ABLATION STUDY</a:t>
            </a:r>
          </a:p>
        </p:txBody>
      </p:sp>
      <p:sp>
        <p:nvSpPr>
          <p:cNvPr id="4" name="TextBox 4"/>
          <p:cNvSpPr txBox="1"/>
          <p:nvPr/>
        </p:nvSpPr>
        <p:spPr>
          <a:xfrm>
            <a:off x="598170" y="804862"/>
            <a:ext cx="4756444"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Both embeddings are the model</a:t>
            </a:r>
          </a:p>
        </p:txBody>
      </p:sp>
      <p:grpSp>
        <p:nvGrpSpPr>
          <p:cNvPr id="12" name="Group 12"/>
          <p:cNvGrpSpPr/>
          <p:nvPr/>
        </p:nvGrpSpPr>
        <p:grpSpPr>
          <a:xfrm>
            <a:off x="609600" y="1504950"/>
            <a:ext cx="5334000" cy="1428750"/>
            <a:chOff x="609600" y="1504950"/>
            <a:chExt cx="5334000" cy="1428750"/>
          </a:xfrm>
        </p:grpSpPr>
        <p:sp>
          <p:nvSpPr>
            <p:cNvPr id="5" name="Rectangle 5"/>
            <p:cNvSpPr/>
            <p:nvPr/>
          </p:nvSpPr>
          <p:spPr>
            <a:xfrm>
              <a:off x="609600" y="1504950"/>
              <a:ext cx="5334000" cy="1428750"/>
            </a:xfrm>
            <a:prstGeom prst="roundRect">
              <a:avLst>
                <a:gd name="adj" fmla="val 9333"/>
              </a:avLst>
            </a:prstGeom>
            <a:solidFill>
              <a:schemeClr val="accent5"/>
            </a:solidFill>
            <a:ln w="14288">
              <a:solidFill>
                <a:srgbClr val="26455F"/>
              </a:solidFill>
            </a:ln>
          </p:spPr>
        </p:sp>
        <p:sp>
          <p:nvSpPr>
            <p:cNvPr id="6" name="Rectangle 6"/>
            <p:cNvSpPr/>
            <p:nvPr/>
          </p:nvSpPr>
          <p:spPr>
            <a:xfrm>
              <a:off x="609600" y="1504950"/>
              <a:ext cx="57150" cy="1428750"/>
            </a:xfrm>
            <a:prstGeom prst="roundRect">
              <a:avLst>
                <a:gd name="adj" fmla="val 50000"/>
              </a:avLst>
            </a:prstGeom>
            <a:solidFill>
              <a:schemeClr val="accent2"/>
            </a:solidFill>
            <a:ln>
              <a:noFill/>
            </a:ln>
          </p:spPr>
        </p:sp>
        <p:sp>
          <p:nvSpPr>
            <p:cNvPr id="7" name="TextBox 7"/>
            <p:cNvSpPr txBox="1"/>
            <p:nvPr/>
          </p:nvSpPr>
          <p:spPr>
            <a:xfrm>
              <a:off x="870014" y="1733312"/>
              <a:ext cx="2130617" cy="242030"/>
            </a:xfrm>
            <a:prstGeom prst="rect">
              <a:avLst/>
            </a:prstGeom>
            <a:noFill/>
            <a:ln>
              <a:noFill/>
            </a:ln>
          </p:spPr>
          <p:txBody>
            <a:bodyPr wrap="none" lIns="0" tIns="0" rIns="0" bIns="0" anchor="t" anchorCtr="0">
              <a:spAutoFit/>
            </a:bodyPr>
            <a:lstStyle/>
            <a:p>
              <a:pPr algn="l"/>
              <a:r>
                <a:rPr lang="en-US" sz="1240" b="1" dirty="0">
                  <a:solidFill>
                    <a:schemeClr val="accent2"/>
                  </a:solidFill>
                  <a:latin typeface="+mn-lt"/>
                  <a:ea typeface="+mn-ea"/>
                  <a:cs typeface="+mn-cs"/>
                </a:rPr>
                <a:t>Swap the embeddings out</a:t>
              </a:r>
            </a:p>
          </p:txBody>
        </p:sp>
        <p:sp>
          <p:nvSpPr>
            <p:cNvPr id="8" name="TextBox 8"/>
            <p:cNvSpPr txBox="1"/>
            <p:nvPr/>
          </p:nvSpPr>
          <p:spPr>
            <a:xfrm>
              <a:off x="870966" y="2039302"/>
              <a:ext cx="386036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To test whether the two embeddings really matter, the</a:t>
              </a:r>
            </a:p>
          </p:txBody>
        </p:sp>
        <p:sp>
          <p:nvSpPr>
            <p:cNvPr id="9" name="TextBox 9"/>
            <p:cNvSpPr txBox="1"/>
            <p:nvPr/>
          </p:nvSpPr>
          <p:spPr>
            <a:xfrm>
              <a:off x="870966" y="2239328"/>
              <a:ext cx="386251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authors retrain after replacing the RNA embedding, the</a:t>
              </a:r>
            </a:p>
          </p:txBody>
        </p:sp>
        <p:sp>
          <p:nvSpPr>
            <p:cNvPr id="10" name="TextBox 10"/>
            <p:cNvSpPr txBox="1"/>
            <p:nvPr/>
          </p:nvSpPr>
          <p:spPr>
            <a:xfrm>
              <a:off x="870966" y="2439352"/>
              <a:ext cx="3629254"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protein embedding, or both, with random vectors or</a:t>
              </a:r>
            </a:p>
          </p:txBody>
        </p:sp>
        <p:sp>
          <p:nvSpPr>
            <p:cNvPr id="11" name="TextBox 11"/>
            <p:cNvSpPr txBox="1"/>
            <p:nvPr/>
          </p:nvSpPr>
          <p:spPr>
            <a:xfrm>
              <a:off x="870966" y="2639378"/>
              <a:ext cx="1339367"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one-hot encodings.</a:t>
              </a:r>
            </a:p>
          </p:txBody>
        </p:sp>
      </p:grpSp>
      <p:grpSp>
        <p:nvGrpSpPr>
          <p:cNvPr id="27" name="Group 27"/>
          <p:cNvGrpSpPr/>
          <p:nvPr/>
        </p:nvGrpSpPr>
        <p:grpSpPr>
          <a:xfrm>
            <a:off x="609600" y="3086100"/>
            <a:ext cx="5334000" cy="2152650"/>
            <a:chOff x="609600" y="3086100"/>
            <a:chExt cx="5334000" cy="2152650"/>
          </a:xfrm>
        </p:grpSpPr>
        <p:sp>
          <p:nvSpPr>
            <p:cNvPr id="13" name="Rectangle 13"/>
            <p:cNvSpPr/>
            <p:nvPr/>
          </p:nvSpPr>
          <p:spPr>
            <a:xfrm>
              <a:off x="609600" y="3086100"/>
              <a:ext cx="5334000" cy="2152650"/>
            </a:xfrm>
            <a:prstGeom prst="roundRect">
              <a:avLst>
                <a:gd name="adj" fmla="val 6195"/>
              </a:avLst>
            </a:prstGeom>
            <a:solidFill>
              <a:srgbClr val="2A1A1A"/>
            </a:solidFill>
            <a:ln w="14288">
              <a:solidFill>
                <a:srgbClr val="F2685C"/>
              </a:solidFill>
            </a:ln>
          </p:spPr>
        </p:sp>
        <p:sp>
          <p:nvSpPr>
            <p:cNvPr id="14" name="Rectangle 14"/>
            <p:cNvSpPr/>
            <p:nvPr/>
          </p:nvSpPr>
          <p:spPr>
            <a:xfrm>
              <a:off x="609600" y="3086100"/>
              <a:ext cx="57150" cy="2152650"/>
            </a:xfrm>
            <a:prstGeom prst="roundRect">
              <a:avLst>
                <a:gd name="adj" fmla="val 50000"/>
              </a:avLst>
            </a:prstGeom>
            <a:solidFill>
              <a:srgbClr val="F2685C"/>
            </a:solidFill>
            <a:ln>
              <a:noFill/>
            </a:ln>
          </p:spPr>
        </p:sp>
        <p:sp>
          <p:nvSpPr>
            <p:cNvPr id="15" name="TextBox 15"/>
            <p:cNvSpPr txBox="1"/>
            <p:nvPr/>
          </p:nvSpPr>
          <p:spPr>
            <a:xfrm>
              <a:off x="870014" y="3314462"/>
              <a:ext cx="2016097" cy="242030"/>
            </a:xfrm>
            <a:prstGeom prst="rect">
              <a:avLst/>
            </a:prstGeom>
            <a:noFill/>
            <a:ln>
              <a:noFill/>
            </a:ln>
          </p:spPr>
          <p:txBody>
            <a:bodyPr wrap="none" lIns="0" tIns="0" rIns="0" bIns="0" anchor="t" anchorCtr="0">
              <a:spAutoFit/>
            </a:bodyPr>
            <a:lstStyle/>
            <a:p>
              <a:pPr algn="l"/>
              <a:r>
                <a:rPr lang="en-US" sz="1240" b="1" dirty="0">
                  <a:solidFill>
                    <a:srgbClr val="F2685C"/>
                  </a:solidFill>
                  <a:latin typeface="+mn-lt"/>
                  <a:ea typeface="+mn-ea"/>
                  <a:cs typeface="+mn-cs"/>
                </a:rPr>
                <a:t>Every variant collapses</a:t>
              </a:r>
            </a:p>
          </p:txBody>
        </p:sp>
        <p:sp>
          <p:nvSpPr>
            <p:cNvPr id="16" name="TextBox 16"/>
            <p:cNvSpPr txBox="1"/>
            <p:nvPr/>
          </p:nvSpPr>
          <p:spPr>
            <a:xfrm>
              <a:off x="870966" y="3620452"/>
              <a:ext cx="3888557"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In every one of these variants the model stops working,</a:t>
              </a:r>
            </a:p>
          </p:txBody>
        </p:sp>
        <p:sp>
          <p:nvSpPr>
            <p:cNvPr id="17" name="TextBox 17"/>
            <p:cNvSpPr txBox="1"/>
            <p:nvPr/>
          </p:nvSpPr>
          <p:spPr>
            <a:xfrm>
              <a:off x="870966" y="3820478"/>
              <a:ext cx="3803640"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predicting only the negative class: F1 falls to zero and</a:t>
              </a:r>
            </a:p>
          </p:txBody>
        </p:sp>
        <p:sp>
          <p:nvSpPr>
            <p:cNvPr id="18" name="TextBox 18"/>
            <p:cNvSpPr txBox="1"/>
            <p:nvPr/>
          </p:nvSpPr>
          <p:spPr>
            <a:xfrm>
              <a:off x="870966" y="4020502"/>
              <a:ext cx="3650456"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accuracy merely reflects the fraction of negatives.</a:t>
              </a:r>
            </a:p>
          </p:txBody>
        </p:sp>
        <p:sp>
          <p:nvSpPr>
            <p:cNvPr id="19" name="Rectangle 19"/>
            <p:cNvSpPr/>
            <p:nvPr/>
          </p:nvSpPr>
          <p:spPr>
            <a:xfrm>
              <a:off x="2857500" y="4495800"/>
              <a:ext cx="2381250" cy="228600"/>
            </a:xfrm>
            <a:prstGeom prst="roundRect">
              <a:avLst>
                <a:gd name="adj" fmla="val 25000"/>
              </a:avLst>
            </a:prstGeom>
            <a:solidFill>
              <a:srgbClr val="0E2334"/>
            </a:solidFill>
            <a:ln w="9525">
              <a:solidFill>
                <a:srgbClr val="26455F"/>
              </a:solidFill>
            </a:ln>
          </p:spPr>
        </p:sp>
        <p:sp>
          <p:nvSpPr>
            <p:cNvPr id="20" name="Rectangle 20"/>
            <p:cNvSpPr/>
            <p:nvPr/>
          </p:nvSpPr>
          <p:spPr>
            <a:xfrm>
              <a:off x="2857500" y="4495800"/>
              <a:ext cx="19050" cy="228600"/>
            </a:xfrm>
            <a:prstGeom prst="roundRect">
              <a:avLst>
                <a:gd name="adj" fmla="val 50000"/>
              </a:avLst>
            </a:prstGeom>
            <a:solidFill>
              <a:srgbClr val="F2685C"/>
            </a:solidFill>
            <a:ln>
              <a:noFill/>
            </a:ln>
          </p:spPr>
        </p:sp>
        <p:sp>
          <p:nvSpPr>
            <p:cNvPr id="21" name="TextBox 21"/>
            <p:cNvSpPr txBox="1"/>
            <p:nvPr/>
          </p:nvSpPr>
          <p:spPr>
            <a:xfrm>
              <a:off x="1826107" y="4561522"/>
              <a:ext cx="922427"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F1 (ablated)</a:t>
              </a:r>
            </a:p>
          </p:txBody>
        </p:sp>
        <p:sp>
          <p:nvSpPr>
            <p:cNvPr id="22" name="TextBox 22"/>
            <p:cNvSpPr txBox="1"/>
            <p:nvPr/>
          </p:nvSpPr>
          <p:spPr>
            <a:xfrm>
              <a:off x="2966466" y="4561522"/>
              <a:ext cx="337189" cy="205359"/>
            </a:xfrm>
            <a:prstGeom prst="rect">
              <a:avLst/>
            </a:prstGeom>
            <a:noFill/>
            <a:ln>
              <a:noFill/>
            </a:ln>
          </p:spPr>
          <p:txBody>
            <a:bodyPr wrap="none" lIns="0" tIns="0" rIns="0" bIns="0" anchor="t" anchorCtr="0">
              <a:spAutoFit/>
            </a:bodyPr>
            <a:lstStyle/>
            <a:p>
              <a:pPr algn="l"/>
              <a:r>
                <a:rPr lang="en-US" sz="1050" b="1" dirty="0">
                  <a:solidFill>
                    <a:srgbClr val="F2685C"/>
                  </a:solidFill>
                  <a:latin typeface="+mn-lt"/>
                  <a:ea typeface="+mn-ea"/>
                  <a:cs typeface="+mn-cs"/>
                </a:rPr>
                <a:t>0.00</a:t>
              </a:r>
            </a:p>
          </p:txBody>
        </p:sp>
        <p:sp>
          <p:nvSpPr>
            <p:cNvPr id="23" name="Rectangle 23"/>
            <p:cNvSpPr/>
            <p:nvPr/>
          </p:nvSpPr>
          <p:spPr>
            <a:xfrm>
              <a:off x="2857500" y="4819650"/>
              <a:ext cx="2381250" cy="228600"/>
            </a:xfrm>
            <a:prstGeom prst="roundRect">
              <a:avLst>
                <a:gd name="adj" fmla="val 25000"/>
              </a:avLst>
            </a:prstGeom>
            <a:solidFill>
              <a:srgbClr val="0E2334"/>
            </a:solidFill>
            <a:ln w="9525">
              <a:solidFill>
                <a:srgbClr val="26455F"/>
              </a:solidFill>
            </a:ln>
          </p:spPr>
        </p:sp>
        <p:sp>
          <p:nvSpPr>
            <p:cNvPr id="24" name="Rectangle 24"/>
            <p:cNvSpPr/>
            <p:nvPr/>
          </p:nvSpPr>
          <p:spPr>
            <a:xfrm>
              <a:off x="2857500" y="4819650"/>
              <a:ext cx="1485900" cy="228600"/>
            </a:xfrm>
            <a:prstGeom prst="roundRect">
              <a:avLst>
                <a:gd name="adj" fmla="val 25000"/>
              </a:avLst>
            </a:prstGeom>
            <a:solidFill>
              <a:srgbClr val="F2C14E"/>
            </a:solidFill>
            <a:ln>
              <a:noFill/>
            </a:ln>
          </p:spPr>
        </p:sp>
        <p:sp>
          <p:nvSpPr>
            <p:cNvPr id="25" name="TextBox 25"/>
            <p:cNvSpPr txBox="1"/>
            <p:nvPr/>
          </p:nvSpPr>
          <p:spPr>
            <a:xfrm>
              <a:off x="2084824" y="4885372"/>
              <a:ext cx="663710"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accuracy</a:t>
              </a:r>
            </a:p>
          </p:txBody>
        </p:sp>
        <p:sp>
          <p:nvSpPr>
            <p:cNvPr id="26" name="TextBox 26"/>
            <p:cNvSpPr txBox="1"/>
            <p:nvPr/>
          </p:nvSpPr>
          <p:spPr>
            <a:xfrm>
              <a:off x="4433316" y="4885372"/>
              <a:ext cx="1205437" cy="205359"/>
            </a:xfrm>
            <a:prstGeom prst="rect">
              <a:avLst/>
            </a:prstGeom>
            <a:noFill/>
            <a:ln>
              <a:noFill/>
            </a:ln>
          </p:spPr>
          <p:txBody>
            <a:bodyPr wrap="none" lIns="0" tIns="0" rIns="0" bIns="0" anchor="t" anchorCtr="0">
              <a:spAutoFit/>
            </a:bodyPr>
            <a:lstStyle/>
            <a:p>
              <a:pPr algn="l"/>
              <a:r>
                <a:rPr lang="en-US" sz="1050" b="1" dirty="0">
                  <a:solidFill>
                    <a:srgbClr val="F2C14E"/>
                  </a:solidFill>
                  <a:latin typeface="+mn-lt"/>
                  <a:ea typeface="+mn-ea"/>
                  <a:cs typeface="+mn-cs"/>
                </a:rPr>
                <a:t>0.624 = neg frac</a:t>
              </a:r>
            </a:p>
          </p:txBody>
        </p:sp>
      </p:grpSp>
      <p:grpSp>
        <p:nvGrpSpPr>
          <p:cNvPr id="37" name="Group 37"/>
          <p:cNvGrpSpPr/>
          <p:nvPr/>
        </p:nvGrpSpPr>
        <p:grpSpPr>
          <a:xfrm>
            <a:off x="6248400" y="1504950"/>
            <a:ext cx="5334000" cy="1428750"/>
            <a:chOff x="6248400" y="1504950"/>
            <a:chExt cx="5334000" cy="1428750"/>
          </a:xfrm>
        </p:grpSpPr>
        <p:sp>
          <p:nvSpPr>
            <p:cNvPr id="28" name="Rectangle 28"/>
            <p:cNvSpPr/>
            <p:nvPr/>
          </p:nvSpPr>
          <p:spPr>
            <a:xfrm>
              <a:off x="6248400" y="1504950"/>
              <a:ext cx="5334000" cy="1428750"/>
            </a:xfrm>
            <a:prstGeom prst="roundRect">
              <a:avLst>
                <a:gd name="adj" fmla="val 9333"/>
              </a:avLst>
            </a:prstGeom>
            <a:solidFill>
              <a:srgbClr val="0F2E2B"/>
            </a:solidFill>
            <a:ln w="14288">
              <a:solidFill>
                <a:srgbClr val="48C78E"/>
              </a:solidFill>
            </a:ln>
          </p:spPr>
        </p:sp>
        <p:sp>
          <p:nvSpPr>
            <p:cNvPr id="29" name="Rectangle 29"/>
            <p:cNvSpPr/>
            <p:nvPr/>
          </p:nvSpPr>
          <p:spPr>
            <a:xfrm>
              <a:off x="6248400" y="1504950"/>
              <a:ext cx="57150" cy="1428750"/>
            </a:xfrm>
            <a:prstGeom prst="roundRect">
              <a:avLst>
                <a:gd name="adj" fmla="val 50000"/>
              </a:avLst>
            </a:prstGeom>
            <a:solidFill>
              <a:srgbClr val="48C78E"/>
            </a:solidFill>
            <a:ln>
              <a:noFill/>
            </a:ln>
          </p:spPr>
        </p:sp>
        <p:sp>
          <p:nvSpPr>
            <p:cNvPr id="30" name="TextBox 30"/>
            <p:cNvSpPr txBox="1"/>
            <p:nvPr/>
          </p:nvSpPr>
          <p:spPr>
            <a:xfrm>
              <a:off x="6509004" y="1737360"/>
              <a:ext cx="2315980" cy="234696"/>
            </a:xfrm>
            <a:prstGeom prst="rect">
              <a:avLst/>
            </a:prstGeom>
            <a:noFill/>
            <a:ln>
              <a:noFill/>
            </a:ln>
          </p:spPr>
          <p:txBody>
            <a:bodyPr wrap="none" lIns="0" tIns="0" rIns="0" bIns="0" anchor="t" anchorCtr="0">
              <a:spAutoFit/>
            </a:bodyPr>
            <a:lstStyle/>
            <a:p>
              <a:pPr algn="l"/>
              <a:r>
                <a:rPr lang="en-US" sz="1200" b="1" dirty="0">
                  <a:solidFill>
                    <a:srgbClr val="48C78E"/>
                  </a:solidFill>
                  <a:latin typeface="+mn-lt"/>
                  <a:ea typeface="+mn-ea"/>
                  <a:cs typeface="+mn-cs"/>
                </a:rPr>
                <a:t>Only both together classify</a:t>
              </a:r>
            </a:p>
          </p:txBody>
        </p:sp>
        <p:sp>
          <p:nvSpPr>
            <p:cNvPr id="31" name="TextBox 31"/>
            <p:cNvSpPr txBox="1"/>
            <p:nvPr/>
          </p:nvSpPr>
          <p:spPr>
            <a:xfrm>
              <a:off x="6509766" y="2039302"/>
              <a:ext cx="3733800"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Only when both the RNA-FM and ESM-2 embeddings are</a:t>
              </a:r>
            </a:p>
          </p:txBody>
        </p:sp>
        <p:sp>
          <p:nvSpPr>
            <p:cNvPr id="32" name="TextBox 32"/>
            <p:cNvSpPr txBox="1"/>
            <p:nvPr/>
          </p:nvSpPr>
          <p:spPr>
            <a:xfrm>
              <a:off x="6509766" y="2239328"/>
              <a:ext cx="3818529"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present does the model classify correctly, at F1 0.605</a:t>
              </a:r>
            </a:p>
          </p:txBody>
        </p:sp>
        <p:sp>
          <p:nvSpPr>
            <p:cNvPr id="33" name="TextBox 33"/>
            <p:cNvSpPr txBox="1"/>
            <p:nvPr/>
          </p:nvSpPr>
          <p:spPr>
            <a:xfrm>
              <a:off x="6509766" y="2439352"/>
              <a:ext cx="1417110"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and accuracy 0.678.</a:t>
              </a:r>
            </a:p>
          </p:txBody>
        </p:sp>
        <p:sp>
          <p:nvSpPr>
            <p:cNvPr id="34" name="Rectangle 34"/>
            <p:cNvSpPr/>
            <p:nvPr/>
          </p:nvSpPr>
          <p:spPr>
            <a:xfrm>
              <a:off x="6515100" y="2552700"/>
              <a:ext cx="4800600" cy="266700"/>
            </a:xfrm>
            <a:prstGeom prst="roundRect">
              <a:avLst>
                <a:gd name="adj" fmla="val 28571"/>
              </a:avLst>
            </a:prstGeom>
            <a:solidFill>
              <a:schemeClr val="accent6"/>
            </a:solidFill>
            <a:ln w="14288">
              <a:solidFill>
                <a:srgbClr val="26455F"/>
              </a:solidFill>
            </a:ln>
          </p:spPr>
        </p:sp>
        <p:sp>
          <p:nvSpPr>
            <p:cNvPr id="35" name="Ellipse 35"/>
            <p:cNvSpPr/>
            <p:nvPr/>
          </p:nvSpPr>
          <p:spPr>
            <a:xfrm>
              <a:off x="6638925" y="2638425"/>
              <a:ext cx="95250" cy="95250"/>
            </a:xfrm>
            <a:prstGeom prst="ellipse">
              <a:avLst/>
            </a:prstGeom>
            <a:solidFill>
              <a:srgbClr val="48C78E"/>
            </a:solidFill>
            <a:ln>
              <a:noFill/>
            </a:ln>
          </p:spPr>
        </p:sp>
        <p:sp>
          <p:nvSpPr>
            <p:cNvPr id="36" name="TextBox 36"/>
            <p:cNvSpPr txBox="1"/>
            <p:nvPr/>
          </p:nvSpPr>
          <p:spPr>
            <a:xfrm>
              <a:off x="6833426" y="2625804"/>
              <a:ext cx="3110888" cy="212693"/>
            </a:xfrm>
            <a:prstGeom prst="rect">
              <a:avLst/>
            </a:prstGeom>
            <a:noFill/>
            <a:ln>
              <a:noFill/>
            </a:ln>
          </p:spPr>
          <p:txBody>
            <a:bodyPr wrap="none" lIns="0" tIns="0" rIns="0" bIns="0" anchor="t" anchorCtr="0">
              <a:spAutoFit/>
            </a:bodyPr>
            <a:lstStyle/>
            <a:p>
              <a:pPr algn="l"/>
              <a:r>
                <a:rPr lang="en-US" sz="1090" b="1" dirty="0">
                  <a:solidFill>
                    <a:schemeClr val="dk1"/>
                  </a:solidFill>
                  <a:latin typeface="+mn-lt"/>
                  <a:ea typeface="+mn-ea"/>
                  <a:cs typeface="+mn-cs"/>
                </a:rPr>
                <a:t>RNA-FM + ESM-2 -&gt; F1 0.605 / acc 0.678</a:t>
              </a:r>
            </a:p>
          </p:txBody>
        </p:sp>
      </p:grpSp>
      <p:grpSp>
        <p:nvGrpSpPr>
          <p:cNvPr id="50" name="Group 50"/>
          <p:cNvGrpSpPr/>
          <p:nvPr/>
        </p:nvGrpSpPr>
        <p:grpSpPr>
          <a:xfrm>
            <a:off x="6248400" y="3086100"/>
            <a:ext cx="5334000" cy="2152650"/>
            <a:chOff x="6248400" y="3086100"/>
            <a:chExt cx="5334000" cy="2152650"/>
          </a:xfrm>
        </p:grpSpPr>
        <p:sp>
          <p:nvSpPr>
            <p:cNvPr id="38" name="Rectangle 38"/>
            <p:cNvSpPr/>
            <p:nvPr/>
          </p:nvSpPr>
          <p:spPr>
            <a:xfrm>
              <a:off x="6248400" y="3086100"/>
              <a:ext cx="5334000" cy="2152650"/>
            </a:xfrm>
            <a:prstGeom prst="roundRect">
              <a:avLst>
                <a:gd name="adj" fmla="val 6195"/>
              </a:avLst>
            </a:prstGeom>
            <a:solidFill>
              <a:schemeClr val="accent5"/>
            </a:solidFill>
            <a:ln w="14288">
              <a:solidFill>
                <a:srgbClr val="26455F"/>
              </a:solidFill>
            </a:ln>
          </p:spPr>
        </p:sp>
        <p:sp>
          <p:nvSpPr>
            <p:cNvPr id="39" name="Rectangle 39"/>
            <p:cNvSpPr/>
            <p:nvPr/>
          </p:nvSpPr>
          <p:spPr>
            <a:xfrm>
              <a:off x="6248400" y="3086100"/>
              <a:ext cx="57150" cy="2152650"/>
            </a:xfrm>
            <a:prstGeom prst="roundRect">
              <a:avLst>
                <a:gd name="adj" fmla="val 50000"/>
              </a:avLst>
            </a:prstGeom>
            <a:solidFill>
              <a:srgbClr val="34D3C0"/>
            </a:solidFill>
            <a:ln>
              <a:noFill/>
            </a:ln>
          </p:spPr>
        </p:sp>
        <p:sp>
          <p:nvSpPr>
            <p:cNvPr id="40" name="TextBox 40"/>
            <p:cNvSpPr txBox="1"/>
            <p:nvPr/>
          </p:nvSpPr>
          <p:spPr>
            <a:xfrm>
              <a:off x="6508814" y="3314462"/>
              <a:ext cx="2735035" cy="242030"/>
            </a:xfrm>
            <a:prstGeom prst="rect">
              <a:avLst/>
            </a:prstGeom>
            <a:noFill/>
            <a:ln>
              <a:noFill/>
            </a:ln>
          </p:spPr>
          <p:txBody>
            <a:bodyPr wrap="none" lIns="0" tIns="0" rIns="0" bIns="0" anchor="t" anchorCtr="0">
              <a:spAutoFit/>
            </a:bodyPr>
            <a:lstStyle/>
            <a:p>
              <a:pPr algn="l"/>
              <a:r>
                <a:rPr lang="en-US" sz="1240" b="1" dirty="0">
                  <a:solidFill>
                    <a:srgbClr val="34D3C0"/>
                  </a:solidFill>
                  <a:latin typeface="+mn-lt"/>
                  <a:ea typeface="+mn-ea"/>
                  <a:cs typeface="+mn-cs"/>
                </a:rPr>
                <a:t>The embeddings carry the signal</a:t>
              </a:r>
            </a:p>
          </p:txBody>
        </p:sp>
        <p:sp>
          <p:nvSpPr>
            <p:cNvPr id="41" name="TextBox 41"/>
            <p:cNvSpPr txBox="1"/>
            <p:nvPr/>
          </p:nvSpPr>
          <p:spPr>
            <a:xfrm>
              <a:off x="6509766" y="3620452"/>
              <a:ext cx="398731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This confirms the foundation-model embeddings carry the</a:t>
              </a:r>
            </a:p>
          </p:txBody>
        </p:sp>
        <p:sp>
          <p:nvSpPr>
            <p:cNvPr id="42" name="TextBox 42"/>
            <p:cNvSpPr txBox="1"/>
            <p:nvPr/>
          </p:nvSpPr>
          <p:spPr>
            <a:xfrm>
              <a:off x="6509766" y="3820478"/>
              <a:ext cx="3848348"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structural and functional information the task depends</a:t>
              </a:r>
            </a:p>
          </p:txBody>
        </p:sp>
        <p:sp>
          <p:nvSpPr>
            <p:cNvPr id="43" name="TextBox 43"/>
            <p:cNvSpPr txBox="1"/>
            <p:nvPr/>
          </p:nvSpPr>
          <p:spPr>
            <a:xfrm>
              <a:off x="6509766" y="4020502"/>
              <a:ext cx="2837688"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on; neither can be dropped or simplified.</a:t>
              </a:r>
            </a:p>
          </p:txBody>
        </p:sp>
        <p:sp>
          <p:nvSpPr>
            <p:cNvPr id="44" name="Rectangle 44"/>
            <p:cNvSpPr/>
            <p:nvPr/>
          </p:nvSpPr>
          <p:spPr>
            <a:xfrm>
              <a:off x="6515100" y="4457700"/>
              <a:ext cx="4800600" cy="285750"/>
            </a:xfrm>
            <a:prstGeom prst="roundRect">
              <a:avLst>
                <a:gd name="adj" fmla="val 26667"/>
              </a:avLst>
            </a:prstGeom>
            <a:solidFill>
              <a:schemeClr val="accent6"/>
            </a:solidFill>
            <a:ln w="14288">
              <a:solidFill>
                <a:srgbClr val="26455F"/>
              </a:solidFill>
            </a:ln>
          </p:spPr>
        </p:sp>
        <p:sp>
          <p:nvSpPr>
            <p:cNvPr id="45" name="Ellipse 45"/>
            <p:cNvSpPr/>
            <p:nvPr/>
          </p:nvSpPr>
          <p:spPr>
            <a:xfrm>
              <a:off x="6638925" y="4552950"/>
              <a:ext cx="95250" cy="95250"/>
            </a:xfrm>
            <a:prstGeom prst="ellipse">
              <a:avLst/>
            </a:prstGeom>
            <a:solidFill>
              <a:srgbClr val="F2685C"/>
            </a:solidFill>
            <a:ln>
              <a:noFill/>
            </a:ln>
          </p:spPr>
        </p:sp>
        <p:sp>
          <p:nvSpPr>
            <p:cNvPr id="46" name="TextBox 46"/>
            <p:cNvSpPr txBox="1"/>
            <p:nvPr/>
          </p:nvSpPr>
          <p:spPr>
            <a:xfrm>
              <a:off x="6833426" y="4540329"/>
              <a:ext cx="2853688" cy="212693"/>
            </a:xfrm>
            <a:prstGeom prst="rect">
              <a:avLst/>
            </a:prstGeom>
            <a:noFill/>
            <a:ln>
              <a:noFill/>
            </a:ln>
          </p:spPr>
          <p:txBody>
            <a:bodyPr wrap="none" lIns="0" tIns="0" rIns="0" bIns="0" anchor="t" anchorCtr="0">
              <a:spAutoFit/>
            </a:bodyPr>
            <a:lstStyle/>
            <a:p>
              <a:pPr algn="l"/>
              <a:r>
                <a:rPr lang="en-US" sz="1090" b="1" dirty="0">
                  <a:solidFill>
                    <a:schemeClr val="dk1"/>
                  </a:solidFill>
                  <a:latin typeface="+mn-lt"/>
                  <a:ea typeface="+mn-ea"/>
                  <a:cs typeface="+mn-cs"/>
                </a:rPr>
                <a:t>random / one-hot -&gt; breaks the model</a:t>
              </a:r>
            </a:p>
          </p:txBody>
        </p:sp>
        <p:sp>
          <p:nvSpPr>
            <p:cNvPr id="47" name="Rectangle 47"/>
            <p:cNvSpPr/>
            <p:nvPr/>
          </p:nvSpPr>
          <p:spPr>
            <a:xfrm>
              <a:off x="6515100" y="4819650"/>
              <a:ext cx="4800600" cy="285750"/>
            </a:xfrm>
            <a:prstGeom prst="roundRect">
              <a:avLst>
                <a:gd name="adj" fmla="val 26667"/>
              </a:avLst>
            </a:prstGeom>
            <a:solidFill>
              <a:schemeClr val="accent6"/>
            </a:solidFill>
            <a:ln w="14288">
              <a:solidFill>
                <a:srgbClr val="26455F"/>
              </a:solidFill>
            </a:ln>
          </p:spPr>
        </p:sp>
        <p:sp>
          <p:nvSpPr>
            <p:cNvPr id="48" name="Ellipse 48"/>
            <p:cNvSpPr/>
            <p:nvPr/>
          </p:nvSpPr>
          <p:spPr>
            <a:xfrm>
              <a:off x="6638925" y="4914900"/>
              <a:ext cx="95250" cy="95250"/>
            </a:xfrm>
            <a:prstGeom prst="ellipse">
              <a:avLst/>
            </a:prstGeom>
            <a:solidFill>
              <a:srgbClr val="34D3C0"/>
            </a:solidFill>
            <a:ln>
              <a:noFill/>
            </a:ln>
          </p:spPr>
        </p:sp>
        <p:sp>
          <p:nvSpPr>
            <p:cNvPr id="49" name="TextBox 49"/>
            <p:cNvSpPr txBox="1"/>
            <p:nvPr/>
          </p:nvSpPr>
          <p:spPr>
            <a:xfrm>
              <a:off x="6833426" y="4902279"/>
              <a:ext cx="3208871" cy="212693"/>
            </a:xfrm>
            <a:prstGeom prst="rect">
              <a:avLst/>
            </a:prstGeom>
            <a:noFill/>
            <a:ln>
              <a:noFill/>
            </a:ln>
          </p:spPr>
          <p:txBody>
            <a:bodyPr wrap="none" lIns="0" tIns="0" rIns="0" bIns="0" anchor="t" anchorCtr="0">
              <a:spAutoFit/>
            </a:bodyPr>
            <a:lstStyle/>
            <a:p>
              <a:pPr algn="l"/>
              <a:r>
                <a:rPr lang="en-US" sz="1090" b="1" dirty="0">
                  <a:solidFill>
                    <a:schemeClr val="dk1"/>
                  </a:solidFill>
                  <a:latin typeface="+mn-lt"/>
                  <a:ea typeface="+mn-ea"/>
                  <a:cs typeface="+mn-cs"/>
                </a:rPr>
                <a:t>RNA-FM + ESM-2 -&gt; essential, not add-ons</a:t>
              </a:r>
            </a:p>
          </p:txBody>
        </p:sp>
      </p:grpSp>
      <p:sp>
        <p:nvSpPr>
          <p:cNvPr id="51" name="cue_s08_c1_test_whether_two_embeddings_really" title="cue_s08_c1_test_whether_two_embeddings_really" descr="cue_s08_c1_test_whether_two_embeddings_really To test whether the two embeddings really matter, the authors retrain the model after swapping out the RNA embedding, the protein embedding, or both, for random vectors or one-hot encodings."/>
          <p:cNvSpPr/>
          <p:nvPr/>
        </p:nvSpPr>
        <p:spPr>
          <a:xfrm>
            <a:off x="609600" y="1504645"/>
            <a:ext cx="5334000"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cue_s08_c2_every_one_these_variants_stops" title="cue_s08_c2_every_one_these_variants_stops" descr="cue_s08_c2_every_one_these_variants_stops In every one of these variants the model stops working, predicting only the negative class, so its F1 score falls to zero and its accuracy merely reflects the fraction of negatives in the data."/>
          <p:cNvSpPr/>
          <p:nvPr/>
        </p:nvSpPr>
        <p:spPr>
          <a:xfrm>
            <a:off x="609600" y="3086100"/>
            <a:ext cx="5334000" cy="21527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cue_s08_c3_only_when_both_rna_fm_esm_2" title="cue_s08_c3_only_when_both_rna_fm_esm_2" descr="cue_s08_c3_only_when_both_rna_fm_esm_2 Only when both the RNA-FM and ESM-2 embeddings are present does the model classify correctly."/>
          <p:cNvSpPr/>
          <p:nvPr/>
        </p:nvSpPr>
        <p:spPr>
          <a:xfrm>
            <a:off x="6248399" y="1504645"/>
            <a:ext cx="5334000"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cue_s08_c4_confirms_foundation_model_embeddings" title="cue_s08_c4_confirms_foundation_model_embeddings" descr="cue_s08_c4_confirms_foundation_model_embeddings This confirms that the foundation-model embeddings carry the structural and functional information the task depends on."/>
          <p:cNvSpPr/>
          <p:nvPr/>
        </p:nvSpPr>
        <p:spPr>
          <a:xfrm>
            <a:off x="6248399" y="3086100"/>
            <a:ext cx="5334000" cy="21527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834378"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HEADLINE NUMBERS</a:t>
            </a:r>
          </a:p>
        </p:txBody>
      </p:sp>
      <p:sp>
        <p:nvSpPr>
          <p:cNvPr id="4" name="TextBox 4"/>
          <p:cNvSpPr txBox="1"/>
          <p:nvPr/>
        </p:nvSpPr>
        <p:spPr>
          <a:xfrm>
            <a:off x="598170" y="804862"/>
            <a:ext cx="3563618"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The impact in one place</a:t>
            </a:r>
          </a:p>
        </p:txBody>
      </p:sp>
      <p:grpSp>
        <p:nvGrpSpPr>
          <p:cNvPr id="17" name="Group 17"/>
          <p:cNvGrpSpPr/>
          <p:nvPr/>
        </p:nvGrpSpPr>
        <p:grpSpPr>
          <a:xfrm>
            <a:off x="609600" y="1581150"/>
            <a:ext cx="10972800" cy="1257300"/>
            <a:chOff x="609600" y="1581150"/>
            <a:chExt cx="10972800" cy="1257300"/>
          </a:xfrm>
        </p:grpSpPr>
        <p:sp>
          <p:nvSpPr>
            <p:cNvPr id="5" name="Rectangle 5"/>
            <p:cNvSpPr/>
            <p:nvPr/>
          </p:nvSpPr>
          <p:spPr>
            <a:xfrm>
              <a:off x="609600" y="1581150"/>
              <a:ext cx="10972800" cy="1257300"/>
            </a:xfrm>
            <a:prstGeom prst="roundRect">
              <a:avLst>
                <a:gd name="adj" fmla="val 10606"/>
              </a:avLst>
            </a:prstGeom>
            <a:solidFill>
              <a:schemeClr val="accent5"/>
            </a:solidFill>
            <a:ln w="14288">
              <a:solidFill>
                <a:srgbClr val="26455F"/>
              </a:solidFill>
            </a:ln>
          </p:spPr>
        </p:sp>
        <p:sp>
          <p:nvSpPr>
            <p:cNvPr id="6" name="Rectangle 6"/>
            <p:cNvSpPr/>
            <p:nvPr/>
          </p:nvSpPr>
          <p:spPr>
            <a:xfrm>
              <a:off x="609600" y="1581150"/>
              <a:ext cx="57150" cy="1257300"/>
            </a:xfrm>
            <a:prstGeom prst="roundRect">
              <a:avLst>
                <a:gd name="adj" fmla="val 50000"/>
              </a:avLst>
            </a:prstGeom>
            <a:solidFill>
              <a:srgbClr val="48C78E"/>
            </a:solidFill>
            <a:ln>
              <a:noFill/>
            </a:ln>
          </p:spPr>
        </p:sp>
        <p:sp>
          <p:nvSpPr>
            <p:cNvPr id="7" name="TextBox 7"/>
            <p:cNvSpPr txBox="1"/>
            <p:nvPr/>
          </p:nvSpPr>
          <p:spPr>
            <a:xfrm>
              <a:off x="870014" y="1790462"/>
              <a:ext cx="3861802" cy="242030"/>
            </a:xfrm>
            <a:prstGeom prst="rect">
              <a:avLst/>
            </a:prstGeom>
            <a:noFill/>
            <a:ln>
              <a:noFill/>
            </a:ln>
          </p:spPr>
          <p:txBody>
            <a:bodyPr wrap="none" lIns="0" tIns="0" rIns="0" bIns="0" anchor="t" anchorCtr="0">
              <a:spAutoFit/>
            </a:bodyPr>
            <a:lstStyle/>
            <a:p>
              <a:pPr algn="l"/>
              <a:r>
                <a:rPr lang="en-US" sz="1240" b="1" dirty="0">
                  <a:solidFill>
                    <a:srgbClr val="48C78E"/>
                  </a:solidFill>
                  <a:latin typeface="+mn-lt"/>
                  <a:ea typeface="+mn-ea"/>
                  <a:cs typeface="+mn-cs"/>
                </a:rPr>
                <a:t>ROC AUC on the homology-separated test set</a:t>
              </a:r>
            </a:p>
          </p:txBody>
        </p:sp>
        <p:sp>
          <p:nvSpPr>
            <p:cNvPr id="8" name="Rectangle 8"/>
            <p:cNvSpPr/>
            <p:nvPr/>
          </p:nvSpPr>
          <p:spPr>
            <a:xfrm>
              <a:off x="876300" y="2095500"/>
              <a:ext cx="2381250" cy="628650"/>
            </a:xfrm>
            <a:prstGeom prst="roundRect">
              <a:avLst>
                <a:gd name="adj" fmla="val 18182"/>
              </a:avLst>
            </a:prstGeom>
            <a:solidFill>
              <a:schemeClr val="accent6"/>
            </a:solidFill>
            <a:ln w="14288">
              <a:solidFill>
                <a:srgbClr val="26455F"/>
              </a:solidFill>
            </a:ln>
          </p:spPr>
        </p:sp>
        <p:sp>
          <p:nvSpPr>
            <p:cNvPr id="9" name="TextBox 9"/>
            <p:cNvSpPr txBox="1"/>
            <p:nvPr/>
          </p:nvSpPr>
          <p:spPr>
            <a:xfrm>
              <a:off x="1797159" y="2240718"/>
              <a:ext cx="539533" cy="329161"/>
            </a:xfrm>
            <a:prstGeom prst="rect">
              <a:avLst/>
            </a:prstGeom>
            <a:noFill/>
            <a:ln>
              <a:noFill/>
            </a:ln>
          </p:spPr>
          <p:txBody>
            <a:bodyPr wrap="none" lIns="0" tIns="0" rIns="0" bIns="0" anchor="t" anchorCtr="0">
              <a:spAutoFit/>
            </a:bodyPr>
            <a:lstStyle/>
            <a:p>
              <a:pPr algn="ctr"/>
              <a:r>
                <a:rPr lang="en-US" sz="1680" b="1" dirty="0">
                  <a:solidFill>
                    <a:srgbClr val="48C78E"/>
                  </a:solidFill>
                  <a:latin typeface="+mn-lt"/>
                  <a:ea typeface="+mn-ea"/>
                  <a:cs typeface="+mn-cs"/>
                </a:rPr>
                <a:t>0.70</a:t>
              </a:r>
            </a:p>
          </p:txBody>
        </p:sp>
        <p:sp>
          <p:nvSpPr>
            <p:cNvPr id="10" name="TextBox 10"/>
            <p:cNvSpPr txBox="1"/>
            <p:nvPr/>
          </p:nvSpPr>
          <p:spPr>
            <a:xfrm>
              <a:off x="1521192" y="2497217"/>
              <a:ext cx="1091466"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RPIembeddor AUC</a:t>
              </a:r>
            </a:p>
          </p:txBody>
        </p:sp>
        <p:sp>
          <p:nvSpPr>
            <p:cNvPr id="11" name="Rectangle 11"/>
            <p:cNvSpPr/>
            <p:nvPr/>
          </p:nvSpPr>
          <p:spPr>
            <a:xfrm>
              <a:off x="3429000" y="2095500"/>
              <a:ext cx="2381250" cy="628650"/>
            </a:xfrm>
            <a:prstGeom prst="roundRect">
              <a:avLst>
                <a:gd name="adj" fmla="val 18182"/>
              </a:avLst>
            </a:prstGeom>
            <a:solidFill>
              <a:schemeClr val="accent6"/>
            </a:solidFill>
            <a:ln w="14288">
              <a:solidFill>
                <a:srgbClr val="26455F"/>
              </a:solidFill>
            </a:ln>
          </p:spPr>
        </p:sp>
        <p:sp>
          <p:nvSpPr>
            <p:cNvPr id="12" name="TextBox 12"/>
            <p:cNvSpPr txBox="1"/>
            <p:nvPr/>
          </p:nvSpPr>
          <p:spPr>
            <a:xfrm>
              <a:off x="4349859" y="2240718"/>
              <a:ext cx="539533" cy="329161"/>
            </a:xfrm>
            <a:prstGeom prst="rect">
              <a:avLst/>
            </a:prstGeom>
            <a:noFill/>
            <a:ln>
              <a:noFill/>
            </a:ln>
          </p:spPr>
          <p:txBody>
            <a:bodyPr wrap="none" lIns="0" tIns="0" rIns="0" bIns="0" anchor="t" anchorCtr="0">
              <a:spAutoFit/>
            </a:bodyPr>
            <a:lstStyle/>
            <a:p>
              <a:pPr algn="ctr"/>
              <a:r>
                <a:rPr lang="en-US" sz="1680" b="1" dirty="0">
                  <a:solidFill>
                    <a:srgbClr val="F2685C"/>
                  </a:solidFill>
                  <a:latin typeface="+mn-lt"/>
                  <a:ea typeface="+mn-ea"/>
                  <a:cs typeface="+mn-cs"/>
                </a:rPr>
                <a:t>0.50</a:t>
              </a:r>
            </a:p>
          </p:txBody>
        </p:sp>
        <p:sp>
          <p:nvSpPr>
            <p:cNvPr id="13" name="TextBox 13"/>
            <p:cNvSpPr txBox="1"/>
            <p:nvPr/>
          </p:nvSpPr>
          <p:spPr>
            <a:xfrm>
              <a:off x="4086704" y="2497217"/>
              <a:ext cx="1065841"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best competitor</a:t>
              </a:r>
            </a:p>
          </p:txBody>
        </p:sp>
        <p:sp>
          <p:nvSpPr>
            <p:cNvPr id="14" name="Rectangle 14"/>
            <p:cNvSpPr/>
            <p:nvPr/>
          </p:nvSpPr>
          <p:spPr>
            <a:xfrm>
              <a:off x="6000750" y="2095500"/>
              <a:ext cx="5581650" cy="628650"/>
            </a:xfrm>
            <a:prstGeom prst="roundRect">
              <a:avLst>
                <a:gd name="adj" fmla="val 18182"/>
              </a:avLst>
            </a:prstGeom>
            <a:solidFill>
              <a:schemeClr val="accent6"/>
            </a:solidFill>
            <a:ln w="14288">
              <a:solidFill>
                <a:srgbClr val="26455F"/>
              </a:solidFill>
            </a:ln>
          </p:spPr>
        </p:sp>
        <p:sp>
          <p:nvSpPr>
            <p:cNvPr id="15" name="TextBox 15"/>
            <p:cNvSpPr txBox="1"/>
            <p:nvPr/>
          </p:nvSpPr>
          <p:spPr>
            <a:xfrm>
              <a:off x="6186106" y="2252901"/>
              <a:ext cx="4562461"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Real generalization to unseen RNA families, where prior tools land at</a:t>
              </a:r>
            </a:p>
          </p:txBody>
        </p:sp>
        <p:sp>
          <p:nvSpPr>
            <p:cNvPr id="16" name="TextBox 16"/>
            <p:cNvSpPr txBox="1"/>
            <p:nvPr/>
          </p:nvSpPr>
          <p:spPr>
            <a:xfrm>
              <a:off x="6186106" y="2443401"/>
              <a:ext cx="533757"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chance.</a:t>
              </a:r>
            </a:p>
          </p:txBody>
        </p:sp>
      </p:grpSp>
      <p:grpSp>
        <p:nvGrpSpPr>
          <p:cNvPr id="27" name="Group 27"/>
          <p:cNvGrpSpPr/>
          <p:nvPr/>
        </p:nvGrpSpPr>
        <p:grpSpPr>
          <a:xfrm>
            <a:off x="609600" y="2990850"/>
            <a:ext cx="5334000" cy="1428750"/>
            <a:chOff x="609600" y="2990850"/>
            <a:chExt cx="5334000" cy="1428750"/>
          </a:xfrm>
        </p:grpSpPr>
        <p:sp>
          <p:nvSpPr>
            <p:cNvPr id="18" name="Rectangle 18"/>
            <p:cNvSpPr/>
            <p:nvPr/>
          </p:nvSpPr>
          <p:spPr>
            <a:xfrm>
              <a:off x="609600" y="2990850"/>
              <a:ext cx="5334000" cy="1428750"/>
            </a:xfrm>
            <a:prstGeom prst="roundRect">
              <a:avLst>
                <a:gd name="adj" fmla="val 9333"/>
              </a:avLst>
            </a:prstGeom>
            <a:solidFill>
              <a:srgbClr val="0F2E2B"/>
            </a:solidFill>
            <a:ln w="14288">
              <a:solidFill>
                <a:srgbClr val="48C78E"/>
              </a:solidFill>
            </a:ln>
          </p:spPr>
        </p:sp>
        <p:sp>
          <p:nvSpPr>
            <p:cNvPr id="19" name="Rectangle 19"/>
            <p:cNvSpPr/>
            <p:nvPr/>
          </p:nvSpPr>
          <p:spPr>
            <a:xfrm>
              <a:off x="609600" y="2990850"/>
              <a:ext cx="57150" cy="1428750"/>
            </a:xfrm>
            <a:prstGeom prst="roundRect">
              <a:avLst>
                <a:gd name="adj" fmla="val 50000"/>
              </a:avLst>
            </a:prstGeom>
            <a:solidFill>
              <a:srgbClr val="48C78E"/>
            </a:solidFill>
            <a:ln>
              <a:noFill/>
            </a:ln>
          </p:spPr>
        </p:sp>
        <p:sp>
          <p:nvSpPr>
            <p:cNvPr id="20" name="TextBox 20"/>
            <p:cNvSpPr txBox="1"/>
            <p:nvPr/>
          </p:nvSpPr>
          <p:spPr>
            <a:xfrm>
              <a:off x="870014" y="3219212"/>
              <a:ext cx="1821856" cy="242030"/>
            </a:xfrm>
            <a:prstGeom prst="rect">
              <a:avLst/>
            </a:prstGeom>
            <a:noFill/>
            <a:ln>
              <a:noFill/>
            </a:ln>
          </p:spPr>
          <p:txBody>
            <a:bodyPr wrap="none" lIns="0" tIns="0" rIns="0" bIns="0" anchor="t" anchorCtr="0">
              <a:spAutoFit/>
            </a:bodyPr>
            <a:lstStyle/>
            <a:p>
              <a:pPr algn="l"/>
              <a:r>
                <a:rPr lang="en-US" sz="1240" b="1" dirty="0">
                  <a:solidFill>
                    <a:srgbClr val="48C78E"/>
                  </a:solidFill>
                  <a:latin typeface="+mn-lt"/>
                  <a:ea typeface="+mn-ea"/>
                  <a:cs typeface="+mn-cs"/>
                </a:rPr>
                <a:t>Best F1 and accuracy</a:t>
              </a:r>
            </a:p>
          </p:txBody>
        </p:sp>
        <p:sp>
          <p:nvSpPr>
            <p:cNvPr id="21" name="Rectangle 21"/>
            <p:cNvSpPr/>
            <p:nvPr/>
          </p:nvSpPr>
          <p:spPr>
            <a:xfrm>
              <a:off x="876300" y="3505200"/>
              <a:ext cx="2095500" cy="762000"/>
            </a:xfrm>
            <a:prstGeom prst="roundRect">
              <a:avLst>
                <a:gd name="adj" fmla="val 15000"/>
              </a:avLst>
            </a:prstGeom>
            <a:solidFill>
              <a:schemeClr val="accent6"/>
            </a:solidFill>
            <a:ln w="14288">
              <a:solidFill>
                <a:srgbClr val="26455F"/>
              </a:solidFill>
            </a:ln>
          </p:spPr>
        </p:sp>
        <p:sp>
          <p:nvSpPr>
            <p:cNvPr id="22" name="TextBox 22"/>
            <p:cNvSpPr txBox="1"/>
            <p:nvPr/>
          </p:nvSpPr>
          <p:spPr>
            <a:xfrm>
              <a:off x="1517197" y="3681222"/>
              <a:ext cx="813706" cy="398983"/>
            </a:xfrm>
            <a:prstGeom prst="rect">
              <a:avLst/>
            </a:prstGeom>
            <a:noFill/>
            <a:ln>
              <a:noFill/>
            </a:ln>
          </p:spPr>
          <p:txBody>
            <a:bodyPr wrap="none" lIns="0" tIns="0" rIns="0" bIns="0" anchor="t" anchorCtr="0">
              <a:spAutoFit/>
            </a:bodyPr>
            <a:lstStyle/>
            <a:p>
              <a:pPr algn="ctr"/>
              <a:r>
                <a:rPr lang="en-US" sz="2040" b="1" dirty="0">
                  <a:solidFill>
                    <a:srgbClr val="48C78E"/>
                  </a:solidFill>
                  <a:latin typeface="+mn-lt"/>
                  <a:ea typeface="+mn-ea"/>
                  <a:cs typeface="+mn-cs"/>
                </a:rPr>
                <a:t>0.586</a:t>
              </a:r>
            </a:p>
          </p:txBody>
        </p:sp>
        <p:sp>
          <p:nvSpPr>
            <p:cNvPr id="23" name="TextBox 23"/>
            <p:cNvSpPr txBox="1"/>
            <p:nvPr/>
          </p:nvSpPr>
          <p:spPr>
            <a:xfrm>
              <a:off x="1529178" y="4013597"/>
              <a:ext cx="789744"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F1 on TSfam</a:t>
              </a:r>
            </a:p>
          </p:txBody>
        </p:sp>
        <p:sp>
          <p:nvSpPr>
            <p:cNvPr id="24" name="Rectangle 24"/>
            <p:cNvSpPr/>
            <p:nvPr/>
          </p:nvSpPr>
          <p:spPr>
            <a:xfrm>
              <a:off x="3162300" y="3505200"/>
              <a:ext cx="2171700" cy="762000"/>
            </a:xfrm>
            <a:prstGeom prst="roundRect">
              <a:avLst>
                <a:gd name="adj" fmla="val 15000"/>
              </a:avLst>
            </a:prstGeom>
            <a:solidFill>
              <a:schemeClr val="accent6"/>
            </a:solidFill>
            <a:ln w="14288">
              <a:solidFill>
                <a:srgbClr val="26455F"/>
              </a:solidFill>
            </a:ln>
          </p:spPr>
        </p:sp>
        <p:sp>
          <p:nvSpPr>
            <p:cNvPr id="25" name="TextBox 25"/>
            <p:cNvSpPr txBox="1"/>
            <p:nvPr/>
          </p:nvSpPr>
          <p:spPr>
            <a:xfrm>
              <a:off x="3841297" y="3681222"/>
              <a:ext cx="813706" cy="398983"/>
            </a:xfrm>
            <a:prstGeom prst="rect">
              <a:avLst/>
            </a:prstGeom>
            <a:noFill/>
            <a:ln>
              <a:noFill/>
            </a:ln>
          </p:spPr>
          <p:txBody>
            <a:bodyPr wrap="none" lIns="0" tIns="0" rIns="0" bIns="0" anchor="t" anchorCtr="0">
              <a:spAutoFit/>
            </a:bodyPr>
            <a:lstStyle/>
            <a:p>
              <a:pPr algn="ctr"/>
              <a:r>
                <a:rPr lang="en-US" sz="2040" b="1" dirty="0">
                  <a:solidFill>
                    <a:srgbClr val="34D3C0"/>
                  </a:solidFill>
                  <a:latin typeface="+mn-lt"/>
                  <a:ea typeface="+mn-ea"/>
                  <a:cs typeface="+mn-cs"/>
                </a:rPr>
                <a:t>0.667</a:t>
              </a:r>
            </a:p>
          </p:txBody>
        </p:sp>
        <p:sp>
          <p:nvSpPr>
            <p:cNvPr id="26" name="TextBox 26"/>
            <p:cNvSpPr txBox="1"/>
            <p:nvPr/>
          </p:nvSpPr>
          <p:spPr>
            <a:xfrm>
              <a:off x="3951074" y="4013597"/>
              <a:ext cx="594153"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accuracy</a:t>
              </a:r>
            </a:p>
          </p:txBody>
        </p:sp>
      </p:grpSp>
      <p:grpSp>
        <p:nvGrpSpPr>
          <p:cNvPr id="37" name="Group 37"/>
          <p:cNvGrpSpPr/>
          <p:nvPr/>
        </p:nvGrpSpPr>
        <p:grpSpPr>
          <a:xfrm>
            <a:off x="6248400" y="2990850"/>
            <a:ext cx="5334000" cy="1428750"/>
            <a:chOff x="6248400" y="2990850"/>
            <a:chExt cx="5334000" cy="1428750"/>
          </a:xfrm>
        </p:grpSpPr>
        <p:sp>
          <p:nvSpPr>
            <p:cNvPr id="28" name="Rectangle 28"/>
            <p:cNvSpPr/>
            <p:nvPr/>
          </p:nvSpPr>
          <p:spPr>
            <a:xfrm>
              <a:off x="6248400" y="2990850"/>
              <a:ext cx="5334000" cy="1428750"/>
            </a:xfrm>
            <a:prstGeom prst="roundRect">
              <a:avLst>
                <a:gd name="adj" fmla="val 9333"/>
              </a:avLst>
            </a:prstGeom>
            <a:solidFill>
              <a:schemeClr val="accent5"/>
            </a:solidFill>
            <a:ln w="14288">
              <a:solidFill>
                <a:srgbClr val="26455F"/>
              </a:solidFill>
            </a:ln>
          </p:spPr>
        </p:sp>
        <p:sp>
          <p:nvSpPr>
            <p:cNvPr id="29" name="Rectangle 29"/>
            <p:cNvSpPr/>
            <p:nvPr/>
          </p:nvSpPr>
          <p:spPr>
            <a:xfrm>
              <a:off x="6248400" y="2990850"/>
              <a:ext cx="57150" cy="1428750"/>
            </a:xfrm>
            <a:prstGeom prst="roundRect">
              <a:avLst>
                <a:gd name="adj" fmla="val 50000"/>
              </a:avLst>
            </a:prstGeom>
            <a:solidFill>
              <a:schemeClr val="accent2"/>
            </a:solidFill>
            <a:ln>
              <a:noFill/>
            </a:ln>
          </p:spPr>
        </p:sp>
        <p:sp>
          <p:nvSpPr>
            <p:cNvPr id="30" name="TextBox 30"/>
            <p:cNvSpPr txBox="1"/>
            <p:nvPr/>
          </p:nvSpPr>
          <p:spPr>
            <a:xfrm>
              <a:off x="6508814" y="3219212"/>
              <a:ext cx="1546603" cy="242030"/>
            </a:xfrm>
            <a:prstGeom prst="rect">
              <a:avLst/>
            </a:prstGeom>
            <a:noFill/>
            <a:ln>
              <a:noFill/>
            </a:ln>
          </p:spPr>
          <p:txBody>
            <a:bodyPr wrap="none" lIns="0" tIns="0" rIns="0" bIns="0" anchor="t" anchorCtr="0">
              <a:spAutoFit/>
            </a:bodyPr>
            <a:lstStyle/>
            <a:p>
              <a:pPr algn="l"/>
              <a:r>
                <a:rPr lang="en-US" sz="1240" b="1" dirty="0">
                  <a:solidFill>
                    <a:schemeClr val="accent2"/>
                  </a:solidFill>
                  <a:latin typeface="+mn-lt"/>
                  <a:ea typeface="+mn-ea"/>
                  <a:cs typeface="+mn-cs"/>
                </a:rPr>
                <a:t>RNAInterAct scale</a:t>
              </a:r>
            </a:p>
          </p:txBody>
        </p:sp>
        <p:sp>
          <p:nvSpPr>
            <p:cNvPr id="31" name="Rectangle 31"/>
            <p:cNvSpPr/>
            <p:nvPr/>
          </p:nvSpPr>
          <p:spPr>
            <a:xfrm>
              <a:off x="6515100" y="3505200"/>
              <a:ext cx="2381250" cy="762000"/>
            </a:xfrm>
            <a:prstGeom prst="roundRect">
              <a:avLst>
                <a:gd name="adj" fmla="val 15000"/>
              </a:avLst>
            </a:prstGeom>
            <a:solidFill>
              <a:schemeClr val="accent6"/>
            </a:solidFill>
            <a:ln w="14288">
              <a:solidFill>
                <a:srgbClr val="26455F"/>
              </a:solidFill>
            </a:ln>
          </p:spPr>
        </p:sp>
        <p:sp>
          <p:nvSpPr>
            <p:cNvPr id="32" name="TextBox 32"/>
            <p:cNvSpPr txBox="1"/>
            <p:nvPr/>
          </p:nvSpPr>
          <p:spPr>
            <a:xfrm>
              <a:off x="7360216" y="3681222"/>
              <a:ext cx="691018" cy="398983"/>
            </a:xfrm>
            <a:prstGeom prst="rect">
              <a:avLst/>
            </a:prstGeom>
            <a:noFill/>
            <a:ln>
              <a:noFill/>
            </a:ln>
          </p:spPr>
          <p:txBody>
            <a:bodyPr wrap="none" lIns="0" tIns="0" rIns="0" bIns="0" anchor="t" anchorCtr="0">
              <a:spAutoFit/>
            </a:bodyPr>
            <a:lstStyle/>
            <a:p>
              <a:pPr algn="ctr"/>
              <a:r>
                <a:rPr lang="en-US" sz="2040" b="1" dirty="0">
                  <a:solidFill>
                    <a:schemeClr val="accent2"/>
                  </a:solidFill>
                  <a:latin typeface="+mn-lt"/>
                  <a:ea typeface="+mn-ea"/>
                  <a:cs typeface="+mn-cs"/>
                </a:rPr>
                <a:t>122K</a:t>
              </a:r>
            </a:p>
          </p:txBody>
        </p:sp>
        <p:sp>
          <p:nvSpPr>
            <p:cNvPr id="33" name="TextBox 33"/>
            <p:cNvSpPr txBox="1"/>
            <p:nvPr/>
          </p:nvSpPr>
          <p:spPr>
            <a:xfrm>
              <a:off x="7295709" y="4013597"/>
              <a:ext cx="820032"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interactions</a:t>
              </a:r>
            </a:p>
          </p:txBody>
        </p:sp>
        <p:sp>
          <p:nvSpPr>
            <p:cNvPr id="34" name="Rectangle 34"/>
            <p:cNvSpPr/>
            <p:nvPr/>
          </p:nvSpPr>
          <p:spPr>
            <a:xfrm>
              <a:off x="9124950" y="3505200"/>
              <a:ext cx="2381250" cy="762000"/>
            </a:xfrm>
            <a:prstGeom prst="roundRect">
              <a:avLst>
                <a:gd name="adj" fmla="val 15000"/>
              </a:avLst>
            </a:prstGeom>
            <a:solidFill>
              <a:schemeClr val="accent6"/>
            </a:solidFill>
            <a:ln w="14288">
              <a:solidFill>
                <a:srgbClr val="26455F"/>
              </a:solidFill>
            </a:ln>
          </p:spPr>
        </p:sp>
        <p:sp>
          <p:nvSpPr>
            <p:cNvPr id="35" name="TextBox 35"/>
            <p:cNvSpPr txBox="1"/>
            <p:nvPr/>
          </p:nvSpPr>
          <p:spPr>
            <a:xfrm>
              <a:off x="10067318" y="3681222"/>
              <a:ext cx="496514" cy="398983"/>
            </a:xfrm>
            <a:prstGeom prst="rect">
              <a:avLst/>
            </a:prstGeom>
            <a:noFill/>
            <a:ln>
              <a:noFill/>
            </a:ln>
          </p:spPr>
          <p:txBody>
            <a:bodyPr wrap="none" lIns="0" tIns="0" rIns="0" bIns="0" anchor="t" anchorCtr="0">
              <a:spAutoFit/>
            </a:bodyPr>
            <a:lstStyle/>
            <a:p>
              <a:pPr algn="ctr"/>
              <a:r>
                <a:rPr lang="en-US" sz="2040" b="1" dirty="0">
                  <a:solidFill>
                    <a:srgbClr val="34D3C0"/>
                  </a:solidFill>
                  <a:latin typeface="+mn-lt"/>
                  <a:ea typeface="+mn-ea"/>
                  <a:cs typeface="+mn-cs"/>
                </a:rPr>
                <a:t>976</a:t>
              </a:r>
            </a:p>
          </p:txBody>
        </p:sp>
        <p:sp>
          <p:nvSpPr>
            <p:cNvPr id="36" name="TextBox 36"/>
            <p:cNvSpPr txBox="1"/>
            <p:nvPr/>
          </p:nvSpPr>
          <p:spPr>
            <a:xfrm>
              <a:off x="9919541" y="4013597"/>
              <a:ext cx="792067"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RNA families</a:t>
              </a:r>
            </a:p>
          </p:txBody>
        </p:sp>
      </p:grpSp>
      <p:grpSp>
        <p:nvGrpSpPr>
          <p:cNvPr id="44" name="Group 44"/>
          <p:cNvGrpSpPr/>
          <p:nvPr/>
        </p:nvGrpSpPr>
        <p:grpSpPr>
          <a:xfrm>
            <a:off x="609600" y="4572000"/>
            <a:ext cx="10972800" cy="666750"/>
            <a:chOff x="609600" y="4572000"/>
            <a:chExt cx="10972800" cy="666750"/>
          </a:xfrm>
        </p:grpSpPr>
        <p:sp>
          <p:nvSpPr>
            <p:cNvPr id="38" name="Rectangle 38"/>
            <p:cNvSpPr/>
            <p:nvPr/>
          </p:nvSpPr>
          <p:spPr>
            <a:xfrm>
              <a:off x="609600" y="4572000"/>
              <a:ext cx="10972800" cy="666750"/>
            </a:xfrm>
            <a:prstGeom prst="roundRect">
              <a:avLst>
                <a:gd name="adj" fmla="val 20000"/>
              </a:avLst>
            </a:prstGeom>
            <a:solidFill>
              <a:srgbClr val="2A2417"/>
            </a:solidFill>
            <a:ln w="14288">
              <a:solidFill>
                <a:srgbClr val="F2C14E"/>
              </a:solidFill>
            </a:ln>
          </p:spPr>
        </p:sp>
        <p:sp>
          <p:nvSpPr>
            <p:cNvPr id="39" name="Rectangle 39"/>
            <p:cNvSpPr/>
            <p:nvPr/>
          </p:nvSpPr>
          <p:spPr>
            <a:xfrm>
              <a:off x="609600" y="4572000"/>
              <a:ext cx="57150" cy="666750"/>
            </a:xfrm>
            <a:prstGeom prst="roundRect">
              <a:avLst>
                <a:gd name="adj" fmla="val 50000"/>
              </a:avLst>
            </a:prstGeom>
            <a:solidFill>
              <a:srgbClr val="F2C14E"/>
            </a:solidFill>
            <a:ln>
              <a:noFill/>
            </a:ln>
          </p:spPr>
        </p:sp>
        <p:sp>
          <p:nvSpPr>
            <p:cNvPr id="40" name="TextBox 40"/>
            <p:cNvSpPr txBox="1"/>
            <p:nvPr/>
          </p:nvSpPr>
          <p:spPr>
            <a:xfrm>
              <a:off x="870394" y="4732258"/>
              <a:ext cx="2542622" cy="227362"/>
            </a:xfrm>
            <a:prstGeom prst="rect">
              <a:avLst/>
            </a:prstGeom>
            <a:noFill/>
            <a:ln>
              <a:noFill/>
            </a:ln>
          </p:spPr>
          <p:txBody>
            <a:bodyPr wrap="none" lIns="0" tIns="0" rIns="0" bIns="0" anchor="t" anchorCtr="0">
              <a:spAutoFit/>
            </a:bodyPr>
            <a:lstStyle/>
            <a:p>
              <a:pPr algn="l"/>
              <a:r>
                <a:rPr lang="en-US" sz="1160" b="1" dirty="0">
                  <a:solidFill>
                    <a:srgbClr val="F2C14E"/>
                  </a:solidFill>
                  <a:latin typeface="+mn-lt"/>
                  <a:ea typeface="+mn-ea"/>
                  <a:cs typeface="+mn-cs"/>
                </a:rPr>
                <a:t>A compact model, big backbones</a:t>
              </a:r>
            </a:p>
          </p:txBody>
        </p:sp>
        <p:sp>
          <p:nvSpPr>
            <p:cNvPr id="41" name="TextBox 41"/>
            <p:cNvSpPr txBox="1"/>
            <p:nvPr/>
          </p:nvSpPr>
          <p:spPr>
            <a:xfrm>
              <a:off x="871156" y="4977051"/>
              <a:ext cx="4797732" cy="198025"/>
            </a:xfrm>
            <a:prstGeom prst="rect">
              <a:avLst/>
            </a:prstGeom>
            <a:noFill/>
            <a:ln>
              <a:noFill/>
            </a:ln>
          </p:spPr>
          <p:txBody>
            <a:bodyPr wrap="none" lIns="0" tIns="0" rIns="0" bIns="0" anchor="t" anchorCtr="0">
              <a:spAutoFit/>
            </a:bodyPr>
            <a:lstStyle/>
            <a:p>
              <a:pPr algn="l"/>
              <a:r>
                <a:rPr lang="en-US" sz="1010" b="1" dirty="0">
                  <a:solidFill>
                    <a:schemeClr val="dk2"/>
                  </a:solidFill>
                  <a:latin typeface="+mn-lt"/>
                  <a:ea typeface="+mn-ea"/>
                  <a:cs typeface="+mn-cs"/>
                </a:rPr>
                <a:t>All of it runs in a small attention network on two foundation models.</a:t>
              </a:r>
            </a:p>
          </p:txBody>
        </p:sp>
        <p:sp>
          <p:nvSpPr>
            <p:cNvPr id="42" name="Rectangle 42"/>
            <p:cNvSpPr/>
            <p:nvPr/>
          </p:nvSpPr>
          <p:spPr>
            <a:xfrm>
              <a:off x="7543800" y="4686300"/>
              <a:ext cx="4038600" cy="438150"/>
            </a:xfrm>
            <a:prstGeom prst="roundRect">
              <a:avLst>
                <a:gd name="adj" fmla="val 17391"/>
              </a:avLst>
            </a:prstGeom>
            <a:solidFill>
              <a:schemeClr val="accent6"/>
            </a:solidFill>
            <a:ln w="14288">
              <a:solidFill>
                <a:srgbClr val="26455F"/>
              </a:solidFill>
            </a:ln>
          </p:spPr>
        </p:sp>
        <p:sp>
          <p:nvSpPr>
            <p:cNvPr id="43" name="TextBox 43"/>
            <p:cNvSpPr txBox="1"/>
            <p:nvPr/>
          </p:nvSpPr>
          <p:spPr>
            <a:xfrm>
              <a:off x="8429841" y="4849178"/>
              <a:ext cx="2266518" cy="205359"/>
            </a:xfrm>
            <a:prstGeom prst="rect">
              <a:avLst/>
            </a:prstGeom>
            <a:noFill/>
            <a:ln>
              <a:noFill/>
            </a:ln>
          </p:spPr>
          <p:txBody>
            <a:bodyPr wrap="none" lIns="0" tIns="0" rIns="0" bIns="0" anchor="t" anchorCtr="0">
              <a:spAutoFit/>
            </a:bodyPr>
            <a:lstStyle/>
            <a:p>
              <a:pPr algn="ctr"/>
              <a:r>
                <a:rPr lang="en-US" sz="1050" b="1" dirty="0">
                  <a:solidFill>
                    <a:schemeClr val="dk1"/>
                  </a:solidFill>
                  <a:latin typeface="Consolas"/>
                  <a:ea typeface="Consolas"/>
                  <a:cs typeface="Consolas"/>
                </a:rPr>
                <a:t>1.4M params | RNA-FM + ESM-2</a:t>
              </a:r>
            </a:p>
          </p:txBody>
        </p:sp>
      </p:grpSp>
      <p:sp>
        <p:nvSpPr>
          <p:cNvPr id="45" name="cue_s09_c1_few_numbers_capture_impact_rpiembedd" title="cue_s09_c1_few_numbers_capture_impact_rpiembedd" descr="cue_s09_c1_few_numbers_capture_impact_rpiembedd A few numbers capture the impact. RPIembeddor scores a ROC area under the curve of zero-point-seven-zero on the homology-separated test set, where the best competitor manages only zero-point-five-zero."/>
          <p:cNvSpPr/>
          <p:nvPr/>
        </p:nvSpPr>
        <p:spPr>
          <a:xfrm>
            <a:off x="609600" y="1581454"/>
            <a:ext cx="10972800" cy="12570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ue_s09_c2_its_1_zero_point_five_nine_accuracy" title="cue_s09_c2_its_1_zero_point_five_nine_accuracy" descr="cue_s09_c2_its_1_zero_point_five_nine_accuracy Its F1 of zero-point-five-nine and accuracy of zero-point-six-seven lead all methods."/>
          <p:cNvSpPr/>
          <p:nvPr/>
        </p:nvSpPr>
        <p:spPr>
          <a:xfrm>
            <a:off x="609600" y="2990773"/>
            <a:ext cx="5334000"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cue_s09_c3_rnainteract_dataset_contributes_over" title="cue_s09_c3_rnainteract_dataset_contributes_over" descr="cue_s09_c3_rnainteract_dataset_contributes_over The RNAInterAct dataset contributes over one hundred twenty-two thousand interactions spanning nine hundred seventy-six RNA families."/>
          <p:cNvSpPr/>
          <p:nvPr/>
        </p:nvSpPr>
        <p:spPr>
          <a:xfrm>
            <a:off x="6248399" y="2990773"/>
            <a:ext cx="5334000"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cue_s09_c4_all_runs_compact_one_point_four_mill" title="cue_s09_c4_all_runs_compact_one_point_four_mill" descr="cue_s09_c4_all_runs_compact_one_point_four_mill And all of this runs in a compact one-point-four-million-parameter model powered by the RNA-FM and ESM-2 foundation models."/>
          <p:cNvSpPr/>
          <p:nvPr/>
        </p:nvSpPr>
        <p:spPr>
          <a:xfrm>
            <a:off x="609600" y="4572228"/>
            <a:ext cx="10972800" cy="6665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968079"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TAKEAWAY</a:t>
            </a:r>
          </a:p>
        </p:txBody>
      </p:sp>
      <p:sp>
        <p:nvSpPr>
          <p:cNvPr id="4" name="TextBox 4"/>
          <p:cNvSpPr txBox="1"/>
          <p:nvPr/>
        </p:nvSpPr>
        <p:spPr>
          <a:xfrm>
            <a:off x="598170" y="804862"/>
            <a:ext cx="6473887"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Sequence-only, general, and reproducible</a:t>
            </a:r>
          </a:p>
        </p:txBody>
      </p:sp>
      <p:grpSp>
        <p:nvGrpSpPr>
          <p:cNvPr id="11" name="Group 11"/>
          <p:cNvGrpSpPr/>
          <p:nvPr/>
        </p:nvGrpSpPr>
        <p:grpSpPr>
          <a:xfrm>
            <a:off x="609600" y="1619250"/>
            <a:ext cx="10972800" cy="873061"/>
            <a:chOff x="609600" y="1619250"/>
            <a:chExt cx="10972800" cy="873061"/>
          </a:xfrm>
        </p:grpSpPr>
        <p:sp>
          <p:nvSpPr>
            <p:cNvPr id="5" name="Rectangle 5"/>
            <p:cNvSpPr/>
            <p:nvPr/>
          </p:nvSpPr>
          <p:spPr>
            <a:xfrm>
              <a:off x="609600" y="1619250"/>
              <a:ext cx="10972800" cy="819150"/>
            </a:xfrm>
            <a:prstGeom prst="roundRect">
              <a:avLst>
                <a:gd name="adj" fmla="val 16279"/>
              </a:avLst>
            </a:prstGeom>
            <a:solidFill>
              <a:schemeClr val="accent5"/>
            </a:solidFill>
            <a:ln w="14288">
              <a:solidFill>
                <a:srgbClr val="26455F"/>
              </a:solidFill>
            </a:ln>
          </p:spPr>
        </p:sp>
        <p:sp>
          <p:nvSpPr>
            <p:cNvPr id="6" name="Rectangle 6"/>
            <p:cNvSpPr/>
            <p:nvPr/>
          </p:nvSpPr>
          <p:spPr>
            <a:xfrm>
              <a:off x="609600" y="1619250"/>
              <a:ext cx="57150" cy="819150"/>
            </a:xfrm>
            <a:prstGeom prst="roundRect">
              <a:avLst>
                <a:gd name="adj" fmla="val 50000"/>
              </a:avLst>
            </a:prstGeom>
            <a:solidFill>
              <a:schemeClr val="accent2"/>
            </a:solidFill>
            <a:ln>
              <a:noFill/>
            </a:ln>
          </p:spPr>
        </p:sp>
        <p:sp>
          <p:nvSpPr>
            <p:cNvPr id="7" name="Ellipse 7"/>
            <p:cNvSpPr/>
            <p:nvPr/>
          </p:nvSpPr>
          <p:spPr>
            <a:xfrm>
              <a:off x="942975" y="1943100"/>
              <a:ext cx="171450" cy="171450"/>
            </a:xfrm>
            <a:prstGeom prst="ellipse">
              <a:avLst/>
            </a:prstGeom>
            <a:solidFill>
              <a:schemeClr val="accent2"/>
            </a:solidFill>
            <a:ln>
              <a:noFill/>
            </a:ln>
          </p:spPr>
        </p:sp>
        <p:sp>
          <p:nvSpPr>
            <p:cNvPr id="8" name="TextBox 8"/>
            <p:cNvSpPr txBox="1"/>
            <p:nvPr/>
          </p:nvSpPr>
          <p:spPr>
            <a:xfrm>
              <a:off x="1326832" y="1801416"/>
              <a:ext cx="2861239" cy="256699"/>
            </a:xfrm>
            <a:prstGeom prst="rect">
              <a:avLst/>
            </a:prstGeom>
            <a:noFill/>
            <a:ln>
              <a:noFill/>
            </a:ln>
          </p:spPr>
          <p:txBody>
            <a:bodyPr wrap="none" lIns="0" tIns="0" rIns="0" bIns="0" anchor="t" anchorCtr="0">
              <a:spAutoFit/>
            </a:bodyPr>
            <a:lstStyle/>
            <a:p>
              <a:pPr algn="l"/>
              <a:r>
                <a:rPr lang="en-US" sz="1310" b="1" dirty="0">
                  <a:solidFill>
                    <a:schemeClr val="dk1"/>
                  </a:solidFill>
                  <a:latin typeface="+mn-lt"/>
                  <a:ea typeface="+mn-ea"/>
                  <a:cs typeface="+mn-cs"/>
                </a:rPr>
                <a:t>General prediction is achievable</a:t>
              </a:r>
            </a:p>
          </p:txBody>
        </p:sp>
        <p:sp>
          <p:nvSpPr>
            <p:cNvPr id="9" name="TextBox 9"/>
            <p:cNvSpPr txBox="1"/>
            <p:nvPr/>
          </p:nvSpPr>
          <p:spPr>
            <a:xfrm>
              <a:off x="1328166" y="2096452"/>
              <a:ext cx="759844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General RNA-protein interaction prediction from sequence alone is achievable when you stand on the shoulders</a:t>
              </a:r>
            </a:p>
          </p:txBody>
        </p:sp>
        <p:sp>
          <p:nvSpPr>
            <p:cNvPr id="10" name="TextBox 10"/>
            <p:cNvSpPr txBox="1"/>
            <p:nvPr/>
          </p:nvSpPr>
          <p:spPr>
            <a:xfrm>
              <a:off x="1328166" y="2286952"/>
              <a:ext cx="153019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of foundation models.</a:t>
              </a:r>
            </a:p>
          </p:txBody>
        </p:sp>
      </p:grpSp>
      <p:grpSp>
        <p:nvGrpSpPr>
          <p:cNvPr id="18" name="Group 18"/>
          <p:cNvGrpSpPr/>
          <p:nvPr/>
        </p:nvGrpSpPr>
        <p:grpSpPr>
          <a:xfrm>
            <a:off x="609600" y="2552700"/>
            <a:ext cx="10972800" cy="873061"/>
            <a:chOff x="609600" y="2552700"/>
            <a:chExt cx="10972800" cy="873061"/>
          </a:xfrm>
        </p:grpSpPr>
        <p:sp>
          <p:nvSpPr>
            <p:cNvPr id="12" name="Rectangle 12"/>
            <p:cNvSpPr/>
            <p:nvPr/>
          </p:nvSpPr>
          <p:spPr>
            <a:xfrm>
              <a:off x="609600" y="2552700"/>
              <a:ext cx="10972800" cy="819150"/>
            </a:xfrm>
            <a:prstGeom prst="roundRect">
              <a:avLst>
                <a:gd name="adj" fmla="val 16279"/>
              </a:avLst>
            </a:prstGeom>
            <a:solidFill>
              <a:schemeClr val="accent5"/>
            </a:solidFill>
            <a:ln w="14288">
              <a:solidFill>
                <a:srgbClr val="26455F"/>
              </a:solidFill>
            </a:ln>
          </p:spPr>
        </p:sp>
        <p:sp>
          <p:nvSpPr>
            <p:cNvPr id="13" name="Rectangle 13"/>
            <p:cNvSpPr/>
            <p:nvPr/>
          </p:nvSpPr>
          <p:spPr>
            <a:xfrm>
              <a:off x="609600" y="2552700"/>
              <a:ext cx="57150" cy="819150"/>
            </a:xfrm>
            <a:prstGeom prst="roundRect">
              <a:avLst>
                <a:gd name="adj" fmla="val 50000"/>
              </a:avLst>
            </a:prstGeom>
            <a:solidFill>
              <a:srgbClr val="48C78E"/>
            </a:solidFill>
            <a:ln>
              <a:noFill/>
            </a:ln>
          </p:spPr>
        </p:sp>
        <p:sp>
          <p:nvSpPr>
            <p:cNvPr id="14" name="Ellipse 14"/>
            <p:cNvSpPr/>
            <p:nvPr/>
          </p:nvSpPr>
          <p:spPr>
            <a:xfrm>
              <a:off x="942975" y="2876550"/>
              <a:ext cx="171450" cy="171450"/>
            </a:xfrm>
            <a:prstGeom prst="ellipse">
              <a:avLst/>
            </a:prstGeom>
            <a:solidFill>
              <a:srgbClr val="48C78E"/>
            </a:solidFill>
            <a:ln>
              <a:noFill/>
            </a:ln>
          </p:spPr>
        </p:sp>
        <p:sp>
          <p:nvSpPr>
            <p:cNvPr id="15" name="TextBox 15"/>
            <p:cNvSpPr txBox="1"/>
            <p:nvPr/>
          </p:nvSpPr>
          <p:spPr>
            <a:xfrm>
              <a:off x="1326832" y="2734866"/>
              <a:ext cx="2435500" cy="256699"/>
            </a:xfrm>
            <a:prstGeom prst="rect">
              <a:avLst/>
            </a:prstGeom>
            <a:noFill/>
            <a:ln>
              <a:noFill/>
            </a:ln>
          </p:spPr>
          <p:txBody>
            <a:bodyPr wrap="none" lIns="0" tIns="0" rIns="0" bIns="0" anchor="t" anchorCtr="0">
              <a:spAutoFit/>
            </a:bodyPr>
            <a:lstStyle/>
            <a:p>
              <a:pPr algn="l"/>
              <a:r>
                <a:rPr lang="en-US" sz="1310" b="1" dirty="0">
                  <a:solidFill>
                    <a:schemeClr val="dk1"/>
                  </a:solidFill>
                  <a:latin typeface="+mn-lt"/>
                  <a:ea typeface="+mn-ea"/>
                  <a:cs typeface="+mn-cs"/>
                </a:rPr>
                <a:t>Small net beats specialists</a:t>
              </a:r>
            </a:p>
          </p:txBody>
        </p:sp>
        <p:sp>
          <p:nvSpPr>
            <p:cNvPr id="16" name="TextBox 16"/>
            <p:cNvSpPr txBox="1"/>
            <p:nvPr/>
          </p:nvSpPr>
          <p:spPr>
            <a:xfrm>
              <a:off x="1328166" y="3029902"/>
              <a:ext cx="779443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 compact attention network fed RNA-FM and ESM-2 embeddings outperforms specialized tools and, unlike them,</a:t>
              </a:r>
            </a:p>
          </p:txBody>
        </p:sp>
        <p:sp>
          <p:nvSpPr>
            <p:cNvPr id="17" name="TextBox 17"/>
            <p:cNvSpPr txBox="1"/>
            <p:nvPr/>
          </p:nvSpPr>
          <p:spPr>
            <a:xfrm>
              <a:off x="1328166" y="3220402"/>
              <a:ext cx="316978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generalizes to RNA families it has never seen.</a:t>
              </a:r>
            </a:p>
          </p:txBody>
        </p:sp>
      </p:grpSp>
      <p:grpSp>
        <p:nvGrpSpPr>
          <p:cNvPr id="25" name="Group 25"/>
          <p:cNvGrpSpPr/>
          <p:nvPr/>
        </p:nvGrpSpPr>
        <p:grpSpPr>
          <a:xfrm>
            <a:off x="609600" y="3486150"/>
            <a:ext cx="10972800" cy="873061"/>
            <a:chOff x="609600" y="3486150"/>
            <a:chExt cx="10972800" cy="873061"/>
          </a:xfrm>
        </p:grpSpPr>
        <p:sp>
          <p:nvSpPr>
            <p:cNvPr id="19" name="Rectangle 19"/>
            <p:cNvSpPr/>
            <p:nvPr/>
          </p:nvSpPr>
          <p:spPr>
            <a:xfrm>
              <a:off x="609600" y="3486150"/>
              <a:ext cx="10972800" cy="819150"/>
            </a:xfrm>
            <a:prstGeom prst="roundRect">
              <a:avLst>
                <a:gd name="adj" fmla="val 16279"/>
              </a:avLst>
            </a:prstGeom>
            <a:solidFill>
              <a:schemeClr val="accent5"/>
            </a:solidFill>
            <a:ln w="14288">
              <a:solidFill>
                <a:srgbClr val="26455F"/>
              </a:solidFill>
            </a:ln>
          </p:spPr>
        </p:sp>
        <p:sp>
          <p:nvSpPr>
            <p:cNvPr id="20" name="Rectangle 20"/>
            <p:cNvSpPr/>
            <p:nvPr/>
          </p:nvSpPr>
          <p:spPr>
            <a:xfrm>
              <a:off x="609600" y="3486150"/>
              <a:ext cx="57150" cy="819150"/>
            </a:xfrm>
            <a:prstGeom prst="roundRect">
              <a:avLst>
                <a:gd name="adj" fmla="val 50000"/>
              </a:avLst>
            </a:prstGeom>
            <a:solidFill>
              <a:srgbClr val="34D3C0"/>
            </a:solidFill>
            <a:ln>
              <a:noFill/>
            </a:ln>
          </p:spPr>
        </p:sp>
        <p:sp>
          <p:nvSpPr>
            <p:cNvPr id="21" name="Ellipse 21"/>
            <p:cNvSpPr/>
            <p:nvPr/>
          </p:nvSpPr>
          <p:spPr>
            <a:xfrm>
              <a:off x="942975" y="3810000"/>
              <a:ext cx="171450" cy="171450"/>
            </a:xfrm>
            <a:prstGeom prst="ellipse">
              <a:avLst/>
            </a:prstGeom>
            <a:solidFill>
              <a:srgbClr val="34D3C0"/>
            </a:solidFill>
            <a:ln>
              <a:noFill/>
            </a:ln>
          </p:spPr>
        </p:sp>
        <p:sp>
          <p:nvSpPr>
            <p:cNvPr id="22" name="TextBox 22"/>
            <p:cNvSpPr txBox="1"/>
            <p:nvPr/>
          </p:nvSpPr>
          <p:spPr>
            <a:xfrm>
              <a:off x="1326832" y="3668316"/>
              <a:ext cx="3158543" cy="256699"/>
            </a:xfrm>
            <a:prstGeom prst="rect">
              <a:avLst/>
            </a:prstGeom>
            <a:noFill/>
            <a:ln>
              <a:noFill/>
            </a:ln>
          </p:spPr>
          <p:txBody>
            <a:bodyPr wrap="none" lIns="0" tIns="0" rIns="0" bIns="0" anchor="t" anchorCtr="0">
              <a:spAutoFit/>
            </a:bodyPr>
            <a:lstStyle/>
            <a:p>
              <a:pPr algn="l"/>
              <a:r>
                <a:rPr lang="en-US" sz="1310" b="1" dirty="0">
                  <a:solidFill>
                    <a:schemeClr val="dk1"/>
                  </a:solidFill>
                  <a:latin typeface="+mn-lt"/>
                  <a:ea typeface="+mn-ea"/>
                  <a:cs typeface="+mn-cs"/>
                </a:rPr>
                <a:t>A fair, homology-aware benchmark</a:t>
              </a:r>
            </a:p>
          </p:txBody>
        </p:sp>
        <p:sp>
          <p:nvSpPr>
            <p:cNvPr id="23" name="TextBox 23"/>
            <p:cNvSpPr txBox="1"/>
            <p:nvPr/>
          </p:nvSpPr>
          <p:spPr>
            <a:xfrm>
              <a:off x="1328166" y="3963352"/>
              <a:ext cx="752408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The companion RNAInterAct dataset, split to remove homology bias, gives the community a fair benchmark to</a:t>
              </a:r>
            </a:p>
          </p:txBody>
        </p:sp>
        <p:sp>
          <p:nvSpPr>
            <p:cNvPr id="24" name="TextBox 24"/>
            <p:cNvSpPr txBox="1"/>
            <p:nvPr/>
          </p:nvSpPr>
          <p:spPr>
            <a:xfrm>
              <a:off x="1328166" y="4153852"/>
              <a:ext cx="169274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drive further progress.</a:t>
              </a:r>
            </a:p>
          </p:txBody>
        </p:sp>
      </p:grpSp>
      <p:grpSp>
        <p:nvGrpSpPr>
          <p:cNvPr id="32" name="Group 32"/>
          <p:cNvGrpSpPr/>
          <p:nvPr/>
        </p:nvGrpSpPr>
        <p:grpSpPr>
          <a:xfrm>
            <a:off x="609600" y="4419600"/>
            <a:ext cx="10972800" cy="873061"/>
            <a:chOff x="609600" y="4419600"/>
            <a:chExt cx="10972800" cy="873061"/>
          </a:xfrm>
        </p:grpSpPr>
        <p:sp>
          <p:nvSpPr>
            <p:cNvPr id="26" name="Rectangle 26"/>
            <p:cNvSpPr/>
            <p:nvPr/>
          </p:nvSpPr>
          <p:spPr>
            <a:xfrm>
              <a:off x="609600" y="4419600"/>
              <a:ext cx="10972800" cy="819150"/>
            </a:xfrm>
            <a:prstGeom prst="roundRect">
              <a:avLst>
                <a:gd name="adj" fmla="val 16279"/>
              </a:avLst>
            </a:prstGeom>
            <a:solidFill>
              <a:schemeClr val="accent5"/>
            </a:solidFill>
            <a:ln w="14288">
              <a:solidFill>
                <a:srgbClr val="26455F"/>
              </a:solidFill>
            </a:ln>
          </p:spPr>
        </p:sp>
        <p:sp>
          <p:nvSpPr>
            <p:cNvPr id="27" name="Rectangle 27"/>
            <p:cNvSpPr/>
            <p:nvPr/>
          </p:nvSpPr>
          <p:spPr>
            <a:xfrm>
              <a:off x="609600" y="4419600"/>
              <a:ext cx="57150" cy="819150"/>
            </a:xfrm>
            <a:prstGeom prst="roundRect">
              <a:avLst>
                <a:gd name="adj" fmla="val 50000"/>
              </a:avLst>
            </a:prstGeom>
            <a:solidFill>
              <a:srgbClr val="F2C14E"/>
            </a:solidFill>
            <a:ln>
              <a:noFill/>
            </a:ln>
          </p:spPr>
        </p:sp>
        <p:sp>
          <p:nvSpPr>
            <p:cNvPr id="28" name="Ellipse 28"/>
            <p:cNvSpPr/>
            <p:nvPr/>
          </p:nvSpPr>
          <p:spPr>
            <a:xfrm>
              <a:off x="942975" y="4743450"/>
              <a:ext cx="171450" cy="171450"/>
            </a:xfrm>
            <a:prstGeom prst="ellipse">
              <a:avLst/>
            </a:prstGeom>
            <a:solidFill>
              <a:srgbClr val="F2C14E"/>
            </a:solidFill>
            <a:ln>
              <a:noFill/>
            </a:ln>
          </p:spPr>
        </p:sp>
        <p:sp>
          <p:nvSpPr>
            <p:cNvPr id="29" name="TextBox 29"/>
            <p:cNvSpPr txBox="1"/>
            <p:nvPr/>
          </p:nvSpPr>
          <p:spPr>
            <a:xfrm>
              <a:off x="1326832" y="4601766"/>
              <a:ext cx="3491608" cy="256699"/>
            </a:xfrm>
            <a:prstGeom prst="rect">
              <a:avLst/>
            </a:prstGeom>
            <a:noFill/>
            <a:ln>
              <a:noFill/>
            </a:ln>
          </p:spPr>
          <p:txBody>
            <a:bodyPr wrap="none" lIns="0" tIns="0" rIns="0" bIns="0" anchor="t" anchorCtr="0">
              <a:spAutoFit/>
            </a:bodyPr>
            <a:lstStyle/>
            <a:p>
              <a:pPr algn="l"/>
              <a:r>
                <a:rPr lang="en-US" sz="1310" b="1" dirty="0">
                  <a:solidFill>
                    <a:schemeClr val="dk1"/>
                  </a:solidFill>
                  <a:latin typeface="+mn-lt"/>
                  <a:ea typeface="+mn-ea"/>
                  <a:cs typeface="+mn-cs"/>
                </a:rPr>
                <a:t>Both embeddings, then structure next</a:t>
              </a:r>
            </a:p>
          </p:txBody>
        </p:sp>
        <p:sp>
          <p:nvSpPr>
            <p:cNvPr id="30" name="TextBox 30"/>
            <p:cNvSpPr txBox="1"/>
            <p:nvPr/>
          </p:nvSpPr>
          <p:spPr>
            <a:xfrm>
              <a:off x="1328166" y="4896802"/>
              <a:ext cx="776868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Both embeddings are essential, and the authors point toward adding RNA-structure models and longer sequences</a:t>
              </a:r>
            </a:p>
          </p:txBody>
        </p:sp>
        <p:sp>
          <p:nvSpPr>
            <p:cNvPr id="31" name="TextBox 31"/>
            <p:cNvSpPr txBox="1"/>
            <p:nvPr/>
          </p:nvSpPr>
          <p:spPr>
            <a:xfrm>
              <a:off x="1328166" y="5087302"/>
              <a:ext cx="399383"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next.</a:t>
              </a:r>
            </a:p>
          </p:txBody>
        </p:sp>
      </p:grpSp>
      <p:sp>
        <p:nvSpPr>
          <p:cNvPr id="33" name="Line 33"/>
          <p:cNvSpPr/>
          <p:nvPr/>
        </p:nvSpPr>
        <p:spPr>
          <a:xfrm>
            <a:off x="609600" y="5562600"/>
            <a:ext cx="10972800" cy="9525"/>
          </a:xfrm>
          <a:custGeom>
            <a:avLst/>
            <a:gdLst/>
            <a:ahLst/>
            <a:cxnLst/>
            <a:rect l="l" t="t" r="r" b="b"/>
            <a:pathLst>
              <a:path w="10972800" h="9525">
                <a:moveTo>
                  <a:pt x="0" y="0"/>
                </a:moveTo>
                <a:lnTo>
                  <a:pt x="10972800" y="0"/>
                </a:lnTo>
              </a:path>
            </a:pathLst>
          </a:custGeom>
          <a:noFill/>
          <a:ln w="9525" cap="rnd">
            <a:solidFill>
              <a:srgbClr val="26455F"/>
            </a:solidFill>
          </a:ln>
        </p:spPr>
        <p:txBody>
          <a:bodyPr/>
          <a:p/>
        </p:txBody>
      </p:sp>
      <p:sp>
        <p:nvSpPr>
          <p:cNvPr id="34" name="Polyline 34"/>
          <p:cNvSpPr/>
          <p:nvPr/>
        </p:nvSpPr>
        <p:spPr>
          <a:xfrm>
            <a:off x="609600" y="5648325"/>
            <a:ext cx="1905000" cy="133144"/>
          </a:xfrm>
          <a:custGeom>
            <a:avLst/>
            <a:gdLst/>
            <a:ahLst/>
            <a:cxnLst/>
            <a:rect l="l" t="t" r="r" b="b"/>
            <a:pathLst>
              <a:path w="1905000" h="133144">
                <a:moveTo>
                  <a:pt x="0" y="66675"/>
                </a:moveTo>
                <a:lnTo>
                  <a:pt x="47625" y="82240"/>
                </a:lnTo>
                <a:lnTo>
                  <a:pt x="95250" y="96945"/>
                </a:lnTo>
                <a:lnTo>
                  <a:pt x="142875" y="109977"/>
                </a:lnTo>
                <a:lnTo>
                  <a:pt x="190500" y="120616"/>
                </a:lnTo>
                <a:lnTo>
                  <a:pt x="238125" y="128275"/>
                </a:lnTo>
                <a:lnTo>
                  <a:pt x="285750" y="132529"/>
                </a:lnTo>
                <a:lnTo>
                  <a:pt x="333375" y="133144"/>
                </a:lnTo>
                <a:lnTo>
                  <a:pt x="381000" y="130087"/>
                </a:lnTo>
                <a:lnTo>
                  <a:pt x="428625" y="123525"/>
                </a:lnTo>
                <a:lnTo>
                  <a:pt x="476250" y="113821"/>
                </a:lnTo>
                <a:lnTo>
                  <a:pt x="523875" y="101513"/>
                </a:lnTo>
                <a:lnTo>
                  <a:pt x="571500" y="87279"/>
                </a:lnTo>
                <a:lnTo>
                  <a:pt x="619125" y="71906"/>
                </a:lnTo>
                <a:lnTo>
                  <a:pt x="666750" y="56245"/>
                </a:lnTo>
                <a:lnTo>
                  <a:pt x="714375" y="41160"/>
                </a:lnTo>
                <a:lnTo>
                  <a:pt x="762000" y="27484"/>
                </a:lnTo>
                <a:lnTo>
                  <a:pt x="809625" y="15975"/>
                </a:lnTo>
                <a:lnTo>
                  <a:pt x="857250" y="7267"/>
                </a:lnTo>
                <a:lnTo>
                  <a:pt x="904875" y="1842"/>
                </a:lnTo>
                <a:lnTo>
                  <a:pt x="952500" y="0"/>
                </a:lnTo>
                <a:lnTo>
                  <a:pt x="1000125" y="1842"/>
                </a:lnTo>
                <a:lnTo>
                  <a:pt x="1047750" y="7267"/>
                </a:lnTo>
                <a:lnTo>
                  <a:pt x="1095375" y="15975"/>
                </a:lnTo>
                <a:lnTo>
                  <a:pt x="1143000" y="27484"/>
                </a:lnTo>
                <a:lnTo>
                  <a:pt x="1190625" y="41160"/>
                </a:lnTo>
                <a:lnTo>
                  <a:pt x="1238250" y="56245"/>
                </a:lnTo>
                <a:lnTo>
                  <a:pt x="1285875" y="71906"/>
                </a:lnTo>
                <a:lnTo>
                  <a:pt x="1333500" y="87279"/>
                </a:lnTo>
                <a:lnTo>
                  <a:pt x="1381125" y="101513"/>
                </a:lnTo>
                <a:lnTo>
                  <a:pt x="1428750" y="113821"/>
                </a:lnTo>
                <a:lnTo>
                  <a:pt x="1476375" y="123525"/>
                </a:lnTo>
                <a:lnTo>
                  <a:pt x="1524000" y="130087"/>
                </a:lnTo>
                <a:lnTo>
                  <a:pt x="1571625" y="133144"/>
                </a:lnTo>
                <a:lnTo>
                  <a:pt x="1619250" y="132529"/>
                </a:lnTo>
                <a:lnTo>
                  <a:pt x="1666875" y="128275"/>
                </a:lnTo>
                <a:lnTo>
                  <a:pt x="1714500" y="120616"/>
                </a:lnTo>
                <a:lnTo>
                  <a:pt x="1762125" y="109977"/>
                </a:lnTo>
                <a:lnTo>
                  <a:pt x="1809750" y="96945"/>
                </a:lnTo>
                <a:lnTo>
                  <a:pt x="1857375" y="82240"/>
                </a:lnTo>
                <a:lnTo>
                  <a:pt x="1905000" y="66675"/>
                </a:lnTo>
              </a:path>
            </a:pathLst>
          </a:custGeom>
          <a:noFill/>
          <a:ln w="24765" cap="rnd">
            <a:solidFill>
              <a:srgbClr val="34D3C0"/>
            </a:solidFill>
            <a:round/>
          </a:ln>
        </p:spPr>
        <p:txBody>
          <a:bodyPr/>
          <a:p/>
        </p:txBody>
      </p:sp>
      <p:sp>
        <p:nvSpPr>
          <p:cNvPr id="35" name="Ellipse 35"/>
          <p:cNvSpPr/>
          <p:nvPr/>
        </p:nvSpPr>
        <p:spPr>
          <a:xfrm>
            <a:off x="685906" y="5718810"/>
            <a:ext cx="59055" cy="59055"/>
          </a:xfrm>
          <a:prstGeom prst="ellipse">
            <a:avLst/>
          </a:prstGeom>
          <a:solidFill>
            <a:srgbClr val="34D3C0"/>
          </a:solidFill>
          <a:ln>
            <a:noFill/>
          </a:ln>
        </p:spPr>
        <p:txBody>
          <a:bodyPr/>
          <a:p/>
        </p:txBody>
      </p:sp>
      <p:sp>
        <p:nvSpPr>
          <p:cNvPr id="36" name="Ellipse 36"/>
          <p:cNvSpPr/>
          <p:nvPr/>
        </p:nvSpPr>
        <p:spPr>
          <a:xfrm>
            <a:off x="897572" y="5752148"/>
            <a:ext cx="59055" cy="59055"/>
          </a:xfrm>
          <a:prstGeom prst="ellipse">
            <a:avLst/>
          </a:prstGeom>
          <a:solidFill>
            <a:srgbClr val="34D3C0"/>
          </a:solidFill>
          <a:ln>
            <a:noFill/>
          </a:ln>
        </p:spPr>
        <p:txBody>
          <a:bodyPr/>
          <a:p/>
        </p:txBody>
      </p:sp>
      <p:sp>
        <p:nvSpPr>
          <p:cNvPr id="37" name="Ellipse 37"/>
          <p:cNvSpPr/>
          <p:nvPr/>
        </p:nvSpPr>
        <p:spPr>
          <a:xfrm>
            <a:off x="1109239" y="5718810"/>
            <a:ext cx="59055" cy="59055"/>
          </a:xfrm>
          <a:prstGeom prst="ellipse">
            <a:avLst/>
          </a:prstGeom>
          <a:solidFill>
            <a:srgbClr val="34D3C0"/>
          </a:solidFill>
          <a:ln>
            <a:noFill/>
          </a:ln>
        </p:spPr>
        <p:txBody>
          <a:bodyPr/>
          <a:p/>
        </p:txBody>
      </p:sp>
      <p:sp>
        <p:nvSpPr>
          <p:cNvPr id="38" name="Ellipse 38"/>
          <p:cNvSpPr/>
          <p:nvPr/>
        </p:nvSpPr>
        <p:spPr>
          <a:xfrm>
            <a:off x="1320906" y="5652135"/>
            <a:ext cx="59055" cy="59055"/>
          </a:xfrm>
          <a:prstGeom prst="ellipse">
            <a:avLst/>
          </a:prstGeom>
          <a:solidFill>
            <a:srgbClr val="34D3C0"/>
          </a:solidFill>
          <a:ln>
            <a:noFill/>
          </a:ln>
        </p:spPr>
        <p:txBody>
          <a:bodyPr/>
          <a:p/>
        </p:txBody>
      </p:sp>
      <p:sp>
        <p:nvSpPr>
          <p:cNvPr id="39" name="Ellipse 39"/>
          <p:cNvSpPr/>
          <p:nvPr/>
        </p:nvSpPr>
        <p:spPr>
          <a:xfrm>
            <a:off x="1532572" y="5618798"/>
            <a:ext cx="59055" cy="59055"/>
          </a:xfrm>
          <a:prstGeom prst="ellipse">
            <a:avLst/>
          </a:prstGeom>
          <a:solidFill>
            <a:srgbClr val="34D3C0"/>
          </a:solidFill>
          <a:ln>
            <a:noFill/>
          </a:ln>
        </p:spPr>
        <p:txBody>
          <a:bodyPr/>
          <a:p/>
        </p:txBody>
      </p:sp>
      <p:sp>
        <p:nvSpPr>
          <p:cNvPr id="40" name="Ellipse 40"/>
          <p:cNvSpPr/>
          <p:nvPr/>
        </p:nvSpPr>
        <p:spPr>
          <a:xfrm>
            <a:off x="1744239" y="5652135"/>
            <a:ext cx="59055" cy="59055"/>
          </a:xfrm>
          <a:prstGeom prst="ellipse">
            <a:avLst/>
          </a:prstGeom>
          <a:solidFill>
            <a:srgbClr val="34D3C0"/>
          </a:solidFill>
          <a:ln>
            <a:noFill/>
          </a:ln>
        </p:spPr>
        <p:txBody>
          <a:bodyPr/>
          <a:p/>
        </p:txBody>
      </p:sp>
      <p:sp>
        <p:nvSpPr>
          <p:cNvPr id="41" name="Ellipse 41"/>
          <p:cNvSpPr/>
          <p:nvPr/>
        </p:nvSpPr>
        <p:spPr>
          <a:xfrm>
            <a:off x="1955906" y="5718810"/>
            <a:ext cx="59055" cy="59055"/>
          </a:xfrm>
          <a:prstGeom prst="ellipse">
            <a:avLst/>
          </a:prstGeom>
          <a:solidFill>
            <a:srgbClr val="34D3C0"/>
          </a:solidFill>
          <a:ln>
            <a:noFill/>
          </a:ln>
        </p:spPr>
        <p:txBody>
          <a:bodyPr/>
          <a:p/>
        </p:txBody>
      </p:sp>
      <p:sp>
        <p:nvSpPr>
          <p:cNvPr id="42" name="Ellipse 42"/>
          <p:cNvSpPr/>
          <p:nvPr/>
        </p:nvSpPr>
        <p:spPr>
          <a:xfrm>
            <a:off x="2167573" y="5752148"/>
            <a:ext cx="59055" cy="59055"/>
          </a:xfrm>
          <a:prstGeom prst="ellipse">
            <a:avLst/>
          </a:prstGeom>
          <a:solidFill>
            <a:srgbClr val="34D3C0"/>
          </a:solidFill>
          <a:ln>
            <a:noFill/>
          </a:ln>
        </p:spPr>
        <p:txBody>
          <a:bodyPr/>
          <a:p/>
        </p:txBody>
      </p:sp>
      <p:sp>
        <p:nvSpPr>
          <p:cNvPr id="43" name="Ellipse 43"/>
          <p:cNvSpPr/>
          <p:nvPr/>
        </p:nvSpPr>
        <p:spPr>
          <a:xfrm>
            <a:off x="2379239" y="5718810"/>
            <a:ext cx="59055" cy="59055"/>
          </a:xfrm>
          <a:prstGeom prst="ellipse">
            <a:avLst/>
          </a:prstGeom>
          <a:solidFill>
            <a:srgbClr val="34D3C0"/>
          </a:solidFill>
          <a:ln>
            <a:noFill/>
          </a:ln>
        </p:spPr>
        <p:txBody>
          <a:bodyPr/>
          <a:p/>
        </p:txBody>
      </p:sp>
      <p:sp>
        <p:nvSpPr>
          <p:cNvPr id="44" name="Polyline 44"/>
          <p:cNvSpPr/>
          <p:nvPr/>
        </p:nvSpPr>
        <p:spPr>
          <a:xfrm>
            <a:off x="609600" y="6019800"/>
            <a:ext cx="1905000" cy="152400"/>
          </a:xfrm>
          <a:custGeom>
            <a:avLst/>
            <a:gdLst/>
            <a:ahLst/>
            <a:cxnLst/>
            <a:rect l="l" t="t" r="r" b="b"/>
            <a:pathLst>
              <a:path w="1905000" h="152400">
                <a:moveTo>
                  <a:pt x="0" y="0"/>
                </a:moveTo>
                <a:lnTo>
                  <a:pt x="317500" y="152400"/>
                </a:lnTo>
                <a:lnTo>
                  <a:pt x="635000" y="0"/>
                </a:lnTo>
                <a:lnTo>
                  <a:pt x="952500" y="152400"/>
                </a:lnTo>
                <a:lnTo>
                  <a:pt x="1270000" y="0"/>
                </a:lnTo>
                <a:lnTo>
                  <a:pt x="1587500" y="152400"/>
                </a:lnTo>
                <a:lnTo>
                  <a:pt x="1905000" y="0"/>
                </a:lnTo>
              </a:path>
            </a:pathLst>
          </a:custGeom>
          <a:noFill/>
          <a:ln w="24765" cap="rnd">
            <a:solidFill>
              <a:schemeClr val="accent2"/>
            </a:solidFill>
            <a:round/>
          </a:ln>
        </p:spPr>
        <p:txBody>
          <a:bodyPr/>
          <a:p/>
        </p:txBody>
      </p:sp>
      <p:sp>
        <p:nvSpPr>
          <p:cNvPr id="45" name="Ellipse 45"/>
          <p:cNvSpPr/>
          <p:nvPr/>
        </p:nvSpPr>
        <p:spPr>
          <a:xfrm>
            <a:off x="567690" y="5977890"/>
            <a:ext cx="83820" cy="83820"/>
          </a:xfrm>
          <a:prstGeom prst="ellipse">
            <a:avLst/>
          </a:prstGeom>
          <a:solidFill>
            <a:schemeClr val="accent6"/>
          </a:solidFill>
          <a:ln w="19050">
            <a:solidFill>
              <a:schemeClr val="accent2"/>
            </a:solidFill>
          </a:ln>
        </p:spPr>
        <p:txBody>
          <a:bodyPr/>
          <a:p/>
        </p:txBody>
      </p:sp>
      <p:sp>
        <p:nvSpPr>
          <p:cNvPr id="46" name="Ellipse 46"/>
          <p:cNvSpPr/>
          <p:nvPr/>
        </p:nvSpPr>
        <p:spPr>
          <a:xfrm>
            <a:off x="885190" y="6130290"/>
            <a:ext cx="83820" cy="83820"/>
          </a:xfrm>
          <a:prstGeom prst="ellipse">
            <a:avLst/>
          </a:prstGeom>
          <a:solidFill>
            <a:schemeClr val="accent6"/>
          </a:solidFill>
          <a:ln w="19050">
            <a:solidFill>
              <a:schemeClr val="accent2"/>
            </a:solidFill>
          </a:ln>
        </p:spPr>
        <p:txBody>
          <a:bodyPr/>
          <a:p/>
        </p:txBody>
      </p:sp>
      <p:sp>
        <p:nvSpPr>
          <p:cNvPr id="47" name="Ellipse 47"/>
          <p:cNvSpPr/>
          <p:nvPr/>
        </p:nvSpPr>
        <p:spPr>
          <a:xfrm>
            <a:off x="1202690" y="5977890"/>
            <a:ext cx="83820" cy="83820"/>
          </a:xfrm>
          <a:prstGeom prst="ellipse">
            <a:avLst/>
          </a:prstGeom>
          <a:solidFill>
            <a:schemeClr val="accent6"/>
          </a:solidFill>
          <a:ln w="19050">
            <a:solidFill>
              <a:schemeClr val="accent2"/>
            </a:solidFill>
          </a:ln>
        </p:spPr>
        <p:txBody>
          <a:bodyPr/>
          <a:p/>
        </p:txBody>
      </p:sp>
      <p:sp>
        <p:nvSpPr>
          <p:cNvPr id="48" name="Ellipse 48"/>
          <p:cNvSpPr/>
          <p:nvPr/>
        </p:nvSpPr>
        <p:spPr>
          <a:xfrm>
            <a:off x="1520190" y="6130290"/>
            <a:ext cx="83820" cy="83820"/>
          </a:xfrm>
          <a:prstGeom prst="ellipse">
            <a:avLst/>
          </a:prstGeom>
          <a:solidFill>
            <a:schemeClr val="accent6"/>
          </a:solidFill>
          <a:ln w="19050">
            <a:solidFill>
              <a:schemeClr val="accent2"/>
            </a:solidFill>
          </a:ln>
        </p:spPr>
        <p:txBody>
          <a:bodyPr/>
          <a:p/>
        </p:txBody>
      </p:sp>
      <p:sp>
        <p:nvSpPr>
          <p:cNvPr id="49" name="Ellipse 49"/>
          <p:cNvSpPr/>
          <p:nvPr/>
        </p:nvSpPr>
        <p:spPr>
          <a:xfrm>
            <a:off x="1837690" y="5977890"/>
            <a:ext cx="83820" cy="83820"/>
          </a:xfrm>
          <a:prstGeom prst="ellipse">
            <a:avLst/>
          </a:prstGeom>
          <a:solidFill>
            <a:schemeClr val="accent6"/>
          </a:solidFill>
          <a:ln w="19050">
            <a:solidFill>
              <a:schemeClr val="accent2"/>
            </a:solidFill>
          </a:ln>
        </p:spPr>
        <p:txBody>
          <a:bodyPr/>
          <a:p/>
        </p:txBody>
      </p:sp>
      <p:sp>
        <p:nvSpPr>
          <p:cNvPr id="50" name="Ellipse 50"/>
          <p:cNvSpPr/>
          <p:nvPr/>
        </p:nvSpPr>
        <p:spPr>
          <a:xfrm>
            <a:off x="2155190" y="6130290"/>
            <a:ext cx="83820" cy="83820"/>
          </a:xfrm>
          <a:prstGeom prst="ellipse">
            <a:avLst/>
          </a:prstGeom>
          <a:solidFill>
            <a:schemeClr val="accent6"/>
          </a:solidFill>
          <a:ln w="19050">
            <a:solidFill>
              <a:schemeClr val="accent2"/>
            </a:solidFill>
          </a:ln>
        </p:spPr>
        <p:txBody>
          <a:bodyPr/>
          <a:p/>
        </p:txBody>
      </p:sp>
      <p:sp>
        <p:nvSpPr>
          <p:cNvPr id="51" name="Ellipse 51"/>
          <p:cNvSpPr/>
          <p:nvPr/>
        </p:nvSpPr>
        <p:spPr>
          <a:xfrm>
            <a:off x="2472690" y="5977890"/>
            <a:ext cx="83820" cy="83820"/>
          </a:xfrm>
          <a:prstGeom prst="ellipse">
            <a:avLst/>
          </a:prstGeom>
          <a:solidFill>
            <a:schemeClr val="accent6"/>
          </a:solidFill>
          <a:ln w="19050">
            <a:solidFill>
              <a:schemeClr val="accent2"/>
            </a:solidFill>
          </a:ln>
        </p:spPr>
        <p:txBody>
          <a:bodyPr/>
          <a:p/>
        </p:txBody>
      </p:sp>
      <p:sp>
        <p:nvSpPr>
          <p:cNvPr id="52" name="Line 52"/>
          <p:cNvSpPr/>
          <p:nvPr/>
        </p:nvSpPr>
        <p:spPr>
          <a:xfrm>
            <a:off x="1562100" y="5791200"/>
            <a:ext cx="9525" cy="228600"/>
          </a:xfrm>
          <a:custGeom>
            <a:avLst/>
            <a:gdLst/>
            <a:ahLst/>
            <a:cxnLst/>
            <a:rect l="l" t="t" r="r" b="b"/>
            <a:pathLst>
              <a:path w="9525" h="228600">
                <a:moveTo>
                  <a:pt x="0" y="0"/>
                </a:moveTo>
                <a:lnTo>
                  <a:pt x="0" y="228600"/>
                </a:lnTo>
              </a:path>
            </a:pathLst>
          </a:custGeom>
          <a:noFill/>
          <a:ln w="20955" cap="rnd">
            <a:solidFill>
              <a:srgbClr val="F2C14E"/>
            </a:solidFill>
            <a:custDash>
              <a:ds d="136364" sp="136364"/>
            </a:custDash>
          </a:ln>
        </p:spPr>
        <p:txBody>
          <a:bodyPr/>
          <a:p/>
        </p:txBody>
      </p:sp>
      <p:sp>
        <p:nvSpPr>
          <p:cNvPr id="53" name="Ellipse 53"/>
          <p:cNvSpPr/>
          <p:nvPr/>
        </p:nvSpPr>
        <p:spPr>
          <a:xfrm>
            <a:off x="1524000" y="5867400"/>
            <a:ext cx="76200" cy="76200"/>
          </a:xfrm>
          <a:prstGeom prst="ellipse">
            <a:avLst/>
          </a:prstGeom>
          <a:solidFill>
            <a:srgbClr val="F2C14E"/>
          </a:solidFill>
          <a:ln>
            <a:noFill/>
          </a:ln>
        </p:spPr>
        <p:txBody>
          <a:bodyPr/>
          <a:p/>
        </p:txBody>
      </p:sp>
      <p:sp>
        <p:nvSpPr>
          <p:cNvPr id="54" name="TextBox 54"/>
          <p:cNvSpPr txBox="1"/>
          <p:nvPr/>
        </p:nvSpPr>
        <p:spPr>
          <a:xfrm>
            <a:off x="5726530" y="5830252"/>
            <a:ext cx="5861204"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RPIembeddor · RNAInterAct · RNA-Protein Interaction from Sequence · ICLR 2024</a:t>
            </a:r>
          </a:p>
        </p:txBody>
      </p:sp>
      <p:sp>
        <p:nvSpPr>
          <p:cNvPr id="55" name="cue_s10_c1_lasting_message_general_rna_protein" title="cue_s10_c1_lasting_message_general_rna_protein" descr="cue_s10_c1_lasting_message_general_rna_protein The lasting message is that general RNA-protein interaction prediction from sequence alone is achievable when you stand on the shoulders of foundation models."/>
          <p:cNvSpPr/>
          <p:nvPr/>
        </p:nvSpPr>
        <p:spPr>
          <a:xfrm>
            <a:off x="609600" y="1619173"/>
            <a:ext cx="10972800" cy="8730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cue_s10_c2_compact_attention_network_fed_rna_fm" title="cue_s10_c2_compact_attention_network_fed_rna_fm" descr="cue_s10_c2_compact_attention_network_fed_rna_fm A compact attention network fed with RNA-FM and ESM-2 embeddings outperforms specialized tools and, unlike them, generalizes to RNA families it has never seen."/>
          <p:cNvSpPr/>
          <p:nvPr/>
        </p:nvSpPr>
        <p:spPr>
          <a:xfrm>
            <a:off x="609600" y="2552547"/>
            <a:ext cx="10972800" cy="8730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cue_s10_c3_companion_rnainteract_dataset_split" title="cue_s10_c3_companion_rnainteract_dataset_split" descr="cue_s10_c3_companion_rnainteract_dataset_split The companion RNAInterAct dataset, split to remove homology bias, gives the community a fair benchmark."/>
          <p:cNvSpPr/>
          <p:nvPr/>
        </p:nvSpPr>
        <p:spPr>
          <a:xfrm>
            <a:off x="609600" y="3485921"/>
            <a:ext cx="10972800" cy="8730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cue_s10_c4_both_embeddings_essential_authors_po" title="cue_s10_c4_both_embeddings_essential_authors_po" descr="cue_s10_c4_both_embeddings_essential_authors_po Both embeddings are essential, and the authors point toward adding RNA-structure models and longer sequences next."/>
          <p:cNvSpPr/>
          <p:nvPr/>
        </p:nvSpPr>
        <p:spPr>
          <a:xfrm>
            <a:off x="609600" y="4419295"/>
            <a:ext cx="10972800" cy="8730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deck">
  <a:themeElements>
    <a:clrScheme name="deck">
      <a:dk1>
        <a:srgbClr val="EAF2FB"/>
      </a:dk1>
      <a:lt1>
        <a:srgbClr val="0B1B2B"/>
      </a:lt1>
      <a:dk2>
        <a:srgbClr val="9DB3C8"/>
      </a:dk2>
      <a:lt2>
        <a:srgbClr val="0B1B2B"/>
      </a:lt2>
      <a:accent1>
        <a:srgbClr val="4C9BE8"/>
      </a:accent1>
      <a:accent2>
        <a:srgbClr val="4C9BE8"/>
      </a:accent2>
      <a:accent3>
        <a:srgbClr val="4C9BE8"/>
      </a:accent3>
      <a:accent4>
        <a:srgbClr val="8064A2"/>
      </a:accent4>
      <a:accent5>
        <a:srgbClr val="12293D"/>
      </a:accent5>
      <a:accent6>
        <a:srgbClr val="16324A"/>
      </a:accent6>
      <a:hlink>
        <a:srgbClr val="4C9BE8"/>
      </a:hlink>
      <a:folHlink>
        <a:srgbClr val="4C9BE8"/>
      </a:folHlink>
    </a:clrScheme>
    <a:fontScheme name="deck">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c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2026-07-16T09:59:44Z</dcterms:created>
  <dcterms:modified xsi:type="dcterms:W3CDTF">2026-07-16T09:59:44Z</dcterms:modified>
  <cp:category/>
  <cp:contentStatus/>
</cp:coreProperties>
</file>
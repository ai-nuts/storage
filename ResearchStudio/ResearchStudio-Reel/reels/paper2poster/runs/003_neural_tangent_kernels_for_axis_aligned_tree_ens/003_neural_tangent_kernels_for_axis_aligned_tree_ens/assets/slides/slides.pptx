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ntk_tree_video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ntk_tree_video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5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1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50" kern="1200">
          <a:solidFill>
            <a:schemeClr val="tx1"/>
          </a:solidFill>
          <a:latin typeface="+mn-lt"/>
          <a:ea typeface="+mn-ea"/>
          <a:cs typeface="+mn-cs"/>
        </a:defRPr>
      </a:lvl1pPr>
      <a:lvl2pPr marL="457200" algn="l" defTabSz="457200" rtl="0" eaLnBrk="1" latinLnBrk="0" hangingPunct="1">
        <a:defRPr sz="125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100" kern="1200">
          <a:solidFill>
            <a:schemeClr val="tx1"/>
          </a:solidFill>
          <a:latin typeface="+mn-lt"/>
          <a:ea typeface="+mn-ea"/>
          <a:cs typeface="+mn-cs"/>
        </a:defRPr>
      </a:lvl4pPr>
      <a:lvl5pPr marL="1828800" algn="l" defTabSz="457200" rtl="0" eaLnBrk="1" latinLnBrk="0" hangingPunct="1">
        <a:defRPr sz="1000" kern="1200">
          <a:solidFill>
            <a:schemeClr val="tx1"/>
          </a:solidFill>
          <a:latin typeface="+mn-lt"/>
          <a:ea typeface="+mn-ea"/>
          <a:cs typeface="+mn-cs"/>
        </a:defRPr>
      </a:lvl5pPr>
      <a:lvl6pPr marL="2286000" algn="l" defTabSz="457200" rtl="0" eaLnBrk="1" latinLnBrk="0" hangingPunct="1">
        <a:defRPr sz="950" kern="1200">
          <a:solidFill>
            <a:schemeClr val="tx1"/>
          </a:solidFill>
          <a:latin typeface="+mn-lt"/>
          <a:ea typeface="+mn-ea"/>
          <a:cs typeface="+mn-cs"/>
        </a:defRPr>
      </a:lvl6pPr>
      <a:lvl7pPr marL="2743200" algn="l" defTabSz="457200" rtl="0" eaLnBrk="1" latinLnBrk="0" hangingPunct="1">
        <a:defRPr sz="85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f0559cdfe5aab5c9.jpg"/><Relationship Id="rId3" Type="http://schemas.openxmlformats.org/officeDocument/2006/relationships/image" Target="../media/image_3a9ae8ae56f5bd56.png"/><Relationship Id="rId4" Type="http://schemas.openxmlformats.org/officeDocument/2006/relationships/image" Target="../media/image_412ce5139cd4a19c.png"/><Relationship Id="rId5" Type="http://schemas.openxmlformats.org/officeDocument/2006/relationships/image" Target="../media/image_3e059316cd78671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2eea60264c25f69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ccc1dc3e669ea66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95250" cy="6858000"/>
            </a:xfrm>
            <a:prstGeom prst="rect">
              <a:avLst/>
            </a:prstGeom>
            <a:solidFill>
              <a:schemeClr val="accent1"/>
            </a:solidFill>
            <a:ln>
              <a:noFill/>
            </a:ln>
          </p:spPr>
        </p:sp>
      </p:grpSp>
      <p:grpSp>
        <p:nvGrpSpPr>
          <p:cNvPr id="7" name="Group 7"/>
          <p:cNvGrpSpPr/>
          <p:nvPr/>
        </p:nvGrpSpPr>
        <p:grpSpPr>
          <a:xfrm>
            <a:off x="604647" y="666750"/>
            <a:ext cx="4718547" cy="447389"/>
            <a:chOff x="604647" y="666750"/>
            <a:chExt cx="4718547" cy="447389"/>
          </a:xfrm>
        </p:grpSpPr>
        <p:sp>
          <p:nvSpPr>
            <p:cNvPr id="5" name="Rectangle 5"/>
            <p:cNvSpPr/>
            <p:nvPr/>
          </p:nvSpPr>
          <p:spPr>
            <a:xfrm>
              <a:off x="609600" y="666750"/>
              <a:ext cx="609600" cy="38100"/>
            </a:xfrm>
            <a:prstGeom prst="rect">
              <a:avLst/>
            </a:prstGeom>
            <a:solidFill>
              <a:schemeClr val="accent2"/>
            </a:solidFill>
            <a:ln>
              <a:noFill/>
            </a:ln>
          </p:spPr>
        </p:sp>
        <p:sp>
          <p:nvSpPr>
            <p:cNvPr id="6" name="TextBox 6"/>
            <p:cNvSpPr txBox="1"/>
            <p:nvPr/>
          </p:nvSpPr>
          <p:spPr>
            <a:xfrm>
              <a:off x="604647" y="923449"/>
              <a:ext cx="4718547" cy="190690"/>
            </a:xfrm>
            <a:prstGeom prst="rect">
              <a:avLst/>
            </a:prstGeom>
            <a:noFill/>
            <a:ln>
              <a:noFill/>
            </a:ln>
          </p:spPr>
          <p:txBody>
            <a:bodyPr wrap="none" lIns="0" tIns="0" rIns="0" bIns="0" anchor="t" anchorCtr="0">
              <a:spAutoFit/>
            </a:bodyPr>
            <a:lstStyle/>
            <a:p>
              <a:pPr algn="l"/>
              <a:r>
                <a:rPr lang="en-US" sz="980" b="1" spc="188" dirty="0">
                  <a:solidFill>
                    <a:schemeClr val="accent2"/>
                  </a:solidFill>
                  <a:latin typeface="+mn-lt"/>
                  <a:ea typeface="+mn-ea"/>
                  <a:cs typeface="+mn-cs"/>
                </a:rPr>
                <a:t>PAPER · DEEP READ · ICLR 2022 · arXiv:2109.04983</a:t>
              </a:r>
            </a:p>
          </p:txBody>
        </p:sp>
      </p:grpSp>
      <p:grpSp>
        <p:nvGrpSpPr>
          <p:cNvPr id="13" name="Group 13"/>
          <p:cNvGrpSpPr/>
          <p:nvPr/>
        </p:nvGrpSpPr>
        <p:grpSpPr>
          <a:xfrm>
            <a:off x="594360" y="1314450"/>
            <a:ext cx="6149245" cy="1723739"/>
            <a:chOff x="594360" y="1314450"/>
            <a:chExt cx="6149245" cy="1723739"/>
          </a:xfrm>
        </p:grpSpPr>
        <p:sp>
          <p:nvSpPr>
            <p:cNvPr id="8" name="TextBox 8"/>
            <p:cNvSpPr txBox="1"/>
            <p:nvPr/>
          </p:nvSpPr>
          <p:spPr>
            <a:xfrm>
              <a:off x="594360" y="1314450"/>
              <a:ext cx="5163762"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Neural Tangent Kernels</a:t>
              </a:r>
            </a:p>
          </p:txBody>
        </p:sp>
        <p:sp>
          <p:nvSpPr>
            <p:cNvPr id="9" name="TextBox 9"/>
            <p:cNvSpPr txBox="1"/>
            <p:nvPr/>
          </p:nvSpPr>
          <p:spPr>
            <a:xfrm>
              <a:off x="594360" y="1714500"/>
              <a:ext cx="6149245"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for Infinite Tree Ensembles</a:t>
              </a:r>
            </a:p>
          </p:txBody>
        </p:sp>
        <p:sp>
          <p:nvSpPr>
            <p:cNvPr id="10" name="TextBox 10"/>
            <p:cNvSpPr txBox="1"/>
            <p:nvPr/>
          </p:nvSpPr>
          <p:spPr>
            <a:xfrm>
              <a:off x="602742" y="2235518"/>
              <a:ext cx="4876835" cy="264033"/>
            </a:xfrm>
            <a:prstGeom prst="rect">
              <a:avLst/>
            </a:prstGeom>
            <a:noFill/>
            <a:ln>
              <a:noFill/>
            </a:ln>
          </p:spPr>
          <p:txBody>
            <a:bodyPr wrap="none" lIns="0" tIns="0" rIns="0" bIns="0" anchor="t" anchorCtr="0">
              <a:spAutoFit/>
            </a:bodyPr>
            <a:lstStyle/>
            <a:p>
              <a:pPr algn="l"/>
              <a:r>
                <a:rPr lang="en-US" sz="1350" i="1" dirty="0">
                  <a:solidFill>
                    <a:schemeClr val="dk2"/>
                  </a:solidFill>
                  <a:latin typeface="+mj-lt"/>
                  <a:ea typeface="+mj-ea"/>
                  <a:cs typeface="+mj-cs"/>
                </a:rPr>
                <a:t>A closed-form kernel for infinitely many soft trees</a:t>
              </a:r>
            </a:p>
          </p:txBody>
        </p:sp>
        <p:sp>
          <p:nvSpPr>
            <p:cNvPr id="11" name="TextBox 11"/>
            <p:cNvSpPr txBox="1"/>
            <p:nvPr/>
          </p:nvSpPr>
          <p:spPr>
            <a:xfrm>
              <a:off x="603885" y="2602706"/>
              <a:ext cx="2478668"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Ryuichi Kanoh · Mahito Sugiyama</a:t>
              </a:r>
            </a:p>
          </p:txBody>
        </p:sp>
        <p:sp>
          <p:nvSpPr>
            <p:cNvPr id="12" name="TextBox 12"/>
            <p:cNvSpPr txBox="1"/>
            <p:nvPr/>
          </p:nvSpPr>
          <p:spPr>
            <a:xfrm>
              <a:off x="604647" y="2847499"/>
              <a:ext cx="2906234"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National Institute of Informatics · SOKENDAI</a:t>
              </a:r>
            </a:p>
          </p:txBody>
        </p:sp>
      </p:grpSp>
      <p:grpSp>
        <p:nvGrpSpPr>
          <p:cNvPr id="19" name="Group 19"/>
          <p:cNvGrpSpPr/>
          <p:nvPr/>
        </p:nvGrpSpPr>
        <p:grpSpPr>
          <a:xfrm>
            <a:off x="609600" y="3238500"/>
            <a:ext cx="5715000" cy="914400"/>
            <a:chOff x="609600" y="3238500"/>
            <a:chExt cx="5715000" cy="914400"/>
          </a:xfrm>
        </p:grpSpPr>
        <p:sp>
          <p:nvSpPr>
            <p:cNvPr id="14" name="Rectangle 14"/>
            <p:cNvSpPr/>
            <p:nvPr/>
          </p:nvSpPr>
          <p:spPr>
            <a:xfrm>
              <a:off x="609600" y="3238500"/>
              <a:ext cx="5715000" cy="914400"/>
            </a:xfrm>
            <a:prstGeom prst="roundRect">
              <a:avLst>
                <a:gd name="adj" fmla="val 10417"/>
              </a:avLst>
            </a:prstGeom>
            <a:solidFill>
              <a:schemeClr val="lt1"/>
            </a:solidFill>
            <a:ln w="14288">
              <a:solidFill>
                <a:schemeClr val="accent4"/>
              </a:solidFill>
            </a:ln>
            <a:effectLst>
              <a:outerShdw blurRad="76200" dist="28575" dir="5400000" algn="ctr" rotWithShape="0">
                <a:srgbClr val="0B2E52">
                  <a:alpha val="6000"/>
                </a:srgbClr>
              </a:outerShdw>
            </a:effectLst>
          </p:spPr>
        </p:sp>
        <p:sp>
          <p:nvSpPr>
            <p:cNvPr id="15" name="Rectangle 15"/>
            <p:cNvSpPr/>
            <p:nvPr/>
          </p:nvSpPr>
          <p:spPr>
            <a:xfrm>
              <a:off x="609600" y="3238500"/>
              <a:ext cx="57150" cy="914400"/>
            </a:xfrm>
            <a:prstGeom prst="roundRect">
              <a:avLst>
                <a:gd name="adj" fmla="val 50000"/>
              </a:avLst>
            </a:prstGeom>
            <a:solidFill>
              <a:srgbClr val="C0392B"/>
            </a:solidFill>
            <a:ln>
              <a:noFill/>
            </a:ln>
          </p:spPr>
        </p:sp>
        <p:sp>
          <p:nvSpPr>
            <p:cNvPr id="16" name="TextBox 16"/>
            <p:cNvSpPr txBox="1"/>
            <p:nvPr/>
          </p:nvSpPr>
          <p:spPr>
            <a:xfrm>
              <a:off x="833247" y="3418999"/>
              <a:ext cx="632405" cy="190690"/>
            </a:xfrm>
            <a:prstGeom prst="rect">
              <a:avLst/>
            </a:prstGeom>
            <a:noFill/>
            <a:ln>
              <a:noFill/>
            </a:ln>
          </p:spPr>
          <p:txBody>
            <a:bodyPr wrap="none" lIns="0" tIns="0" rIns="0" bIns="0" anchor="t" anchorCtr="0">
              <a:spAutoFit/>
            </a:bodyPr>
            <a:lstStyle/>
            <a:p>
              <a:pPr algn="l"/>
              <a:r>
                <a:rPr lang="en-US" sz="980" b="1" spc="112" dirty="0">
                  <a:solidFill>
                    <a:srgbClr val="C0392B"/>
                  </a:solidFill>
                  <a:latin typeface="+mn-lt"/>
                  <a:ea typeface="+mn-ea"/>
                  <a:cs typeface="+mn-cs"/>
                </a:rPr>
                <a:t>THE GAP</a:t>
              </a:r>
            </a:p>
          </p:txBody>
        </p:sp>
        <p:sp>
          <p:nvSpPr>
            <p:cNvPr id="17" name="TextBox 17"/>
            <p:cNvSpPr txBox="1"/>
            <p:nvPr/>
          </p:nvSpPr>
          <p:spPr>
            <a:xfrm>
              <a:off x="830961" y="3637121"/>
              <a:ext cx="4589937"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j-lt"/>
                  <a:ea typeface="+mj-ea"/>
                  <a:cs typeface="+mj-cs"/>
                </a:rPr>
                <a:t>Soft trees rival neural nets on tabular data</a:t>
              </a:r>
            </a:p>
          </p:txBody>
        </p:sp>
        <p:sp>
          <p:nvSpPr>
            <p:cNvPr id="18" name="TextBox 18"/>
            <p:cNvSpPr txBox="1"/>
            <p:nvPr/>
          </p:nvSpPr>
          <p:spPr>
            <a:xfrm>
              <a:off x="832485" y="3898106"/>
              <a:ext cx="521314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gradient-trained decision trees, yet their training has lacked theory.</a:t>
              </a:r>
            </a:p>
          </p:txBody>
        </p:sp>
      </p:grpSp>
      <p:grpSp>
        <p:nvGrpSpPr>
          <p:cNvPr id="25" name="Group 25"/>
          <p:cNvGrpSpPr/>
          <p:nvPr/>
        </p:nvGrpSpPr>
        <p:grpSpPr>
          <a:xfrm>
            <a:off x="609600" y="4267200"/>
            <a:ext cx="5745119" cy="914400"/>
            <a:chOff x="609600" y="4267200"/>
            <a:chExt cx="5745119" cy="914400"/>
          </a:xfrm>
        </p:grpSpPr>
        <p:sp>
          <p:nvSpPr>
            <p:cNvPr id="20" name="Rectangle 20"/>
            <p:cNvSpPr/>
            <p:nvPr/>
          </p:nvSpPr>
          <p:spPr>
            <a:xfrm>
              <a:off x="609600" y="4267200"/>
              <a:ext cx="5715000" cy="914400"/>
            </a:xfrm>
            <a:prstGeom prst="roundRect">
              <a:avLst>
                <a:gd name="adj" fmla="val 10417"/>
              </a:avLst>
            </a:prstGeom>
            <a:solidFill>
              <a:schemeClr val="accent6"/>
            </a:solidFill>
            <a:ln w="14288">
              <a:solidFill>
                <a:schemeClr val="accent2"/>
              </a:solidFill>
            </a:ln>
            <a:effectLst>
              <a:outerShdw blurRad="76200" dist="28575" dir="5400000" algn="ctr" rotWithShape="0">
                <a:srgbClr val="0B2E52">
                  <a:alpha val="6000"/>
                </a:srgbClr>
              </a:outerShdw>
            </a:effectLst>
          </p:spPr>
        </p:sp>
        <p:sp>
          <p:nvSpPr>
            <p:cNvPr id="21" name="Rectangle 21"/>
            <p:cNvSpPr/>
            <p:nvPr/>
          </p:nvSpPr>
          <p:spPr>
            <a:xfrm>
              <a:off x="609600" y="4267200"/>
              <a:ext cx="57150" cy="914400"/>
            </a:xfrm>
            <a:prstGeom prst="roundRect">
              <a:avLst>
                <a:gd name="adj" fmla="val 50000"/>
              </a:avLst>
            </a:prstGeom>
            <a:solidFill>
              <a:schemeClr val="accent2"/>
            </a:solidFill>
            <a:ln>
              <a:noFill/>
            </a:ln>
          </p:spPr>
        </p:sp>
        <p:sp>
          <p:nvSpPr>
            <p:cNvPr id="22" name="TextBox 22"/>
            <p:cNvSpPr txBox="1"/>
            <p:nvPr/>
          </p:nvSpPr>
          <p:spPr>
            <a:xfrm>
              <a:off x="833247" y="4447699"/>
              <a:ext cx="787383"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THE TOOL</a:t>
              </a:r>
            </a:p>
          </p:txBody>
        </p:sp>
        <p:sp>
          <p:nvSpPr>
            <p:cNvPr id="23" name="TextBox 23"/>
            <p:cNvSpPr txBox="1"/>
            <p:nvPr/>
          </p:nvSpPr>
          <p:spPr>
            <a:xfrm>
              <a:off x="830961" y="4665821"/>
              <a:ext cx="4212750"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j-lt"/>
                  <a:ea typeface="+mj-ea"/>
                  <a:cs typeface="+mj-cs"/>
                </a:rPr>
                <a:t>The Tree Neural Tangent Kernel (TNTK)</a:t>
              </a:r>
            </a:p>
          </p:txBody>
        </p:sp>
        <p:sp>
          <p:nvSpPr>
            <p:cNvPr id="24" name="TextBox 24"/>
            <p:cNvSpPr txBox="1"/>
            <p:nvPr/>
          </p:nvSpPr>
          <p:spPr>
            <a:xfrm>
              <a:off x="832485" y="4926806"/>
              <a:ext cx="552223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 closed-form kernel describing an ensemble of infinitely many soft trees.</a:t>
              </a:r>
            </a:p>
          </p:txBody>
        </p:sp>
      </p:grpSp>
      <p:grpSp>
        <p:nvGrpSpPr>
          <p:cNvPr id="31" name="Group 31"/>
          <p:cNvGrpSpPr/>
          <p:nvPr/>
        </p:nvGrpSpPr>
        <p:grpSpPr>
          <a:xfrm>
            <a:off x="609600" y="5295900"/>
            <a:ext cx="6197443" cy="990600"/>
            <a:chOff x="609600" y="5295900"/>
            <a:chExt cx="6197443" cy="990600"/>
          </a:xfrm>
        </p:grpSpPr>
        <p:sp>
          <p:nvSpPr>
            <p:cNvPr id="26" name="Rectangle 26"/>
            <p:cNvSpPr/>
            <p:nvPr/>
          </p:nvSpPr>
          <p:spPr>
            <a:xfrm>
              <a:off x="609600" y="5295900"/>
              <a:ext cx="5715000" cy="990600"/>
            </a:xfrm>
            <a:prstGeom prst="roundRect">
              <a:avLst>
                <a:gd name="adj" fmla="val 9615"/>
              </a:avLst>
            </a:prstGeom>
            <a:solidFill>
              <a:schemeClr val="lt1"/>
            </a:solidFill>
            <a:ln w="14288">
              <a:solidFill>
                <a:schemeClr val="accent4"/>
              </a:solidFill>
            </a:ln>
            <a:effectLst>
              <a:outerShdw blurRad="76200" dist="28575" dir="5400000" algn="ctr" rotWithShape="0">
                <a:srgbClr val="0B2E52">
                  <a:alpha val="6000"/>
                </a:srgbClr>
              </a:outerShdw>
            </a:effectLst>
          </p:spPr>
        </p:sp>
        <p:sp>
          <p:nvSpPr>
            <p:cNvPr id="27" name="Rectangle 27"/>
            <p:cNvSpPr/>
            <p:nvPr/>
          </p:nvSpPr>
          <p:spPr>
            <a:xfrm>
              <a:off x="609600" y="5295900"/>
              <a:ext cx="57150" cy="990600"/>
            </a:xfrm>
            <a:prstGeom prst="roundRect">
              <a:avLst>
                <a:gd name="adj" fmla="val 50000"/>
              </a:avLst>
            </a:prstGeom>
            <a:solidFill>
              <a:schemeClr val="accent1"/>
            </a:solidFill>
            <a:ln>
              <a:noFill/>
            </a:ln>
          </p:spPr>
        </p:sp>
        <p:sp>
          <p:nvSpPr>
            <p:cNvPr id="28" name="TextBox 28"/>
            <p:cNvSpPr txBox="1"/>
            <p:nvPr/>
          </p:nvSpPr>
          <p:spPr>
            <a:xfrm>
              <a:off x="833247" y="5476399"/>
              <a:ext cx="950973" cy="190690"/>
            </a:xfrm>
            <a:prstGeom prst="rect">
              <a:avLst/>
            </a:prstGeom>
            <a:noFill/>
            <a:ln>
              <a:noFill/>
            </a:ln>
          </p:spPr>
          <p:txBody>
            <a:bodyPr wrap="none" lIns="0" tIns="0" rIns="0" bIns="0" anchor="t" anchorCtr="0">
              <a:spAutoFit/>
            </a:bodyPr>
            <a:lstStyle/>
            <a:p>
              <a:pPr algn="l"/>
              <a:r>
                <a:rPr lang="en-US" sz="980" b="1" spc="112" dirty="0">
                  <a:solidFill>
                    <a:schemeClr val="accent1"/>
                  </a:solidFill>
                  <a:latin typeface="+mn-lt"/>
                  <a:ea typeface="+mn-ea"/>
                  <a:cs typeface="+mn-cs"/>
                </a:rPr>
                <a:t>THE PAYOFF</a:t>
              </a:r>
            </a:p>
          </p:txBody>
        </p:sp>
        <p:sp>
          <p:nvSpPr>
            <p:cNvPr id="29" name="TextBox 29"/>
            <p:cNvSpPr txBox="1"/>
            <p:nvPr/>
          </p:nvSpPr>
          <p:spPr>
            <a:xfrm>
              <a:off x="830961" y="5694521"/>
              <a:ext cx="4506091"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j-lt"/>
                  <a:ea typeface="+mj-ea"/>
                  <a:cs typeface="+mj-cs"/>
                </a:rPr>
                <a:t>Global convergence · deep-tree degeneracy</a:t>
              </a:r>
            </a:p>
          </p:txBody>
        </p:sp>
        <p:sp>
          <p:nvSpPr>
            <p:cNvPr id="30" name="TextBox 30"/>
            <p:cNvSpPr txBox="1"/>
            <p:nvPr/>
          </p:nvSpPr>
          <p:spPr>
            <a:xfrm>
              <a:off x="832485" y="5955506"/>
              <a:ext cx="597455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one theory for many soft-tree behaviours, validated on 90 real-world datasets.</a:t>
              </a:r>
            </a:p>
          </p:txBody>
        </p:sp>
      </p:grpSp>
      <p:grpSp>
        <p:nvGrpSpPr>
          <p:cNvPr id="35" name="Group 35"/>
          <p:cNvGrpSpPr/>
          <p:nvPr/>
        </p:nvGrpSpPr>
        <p:grpSpPr>
          <a:xfrm>
            <a:off x="6667500" y="1428750"/>
            <a:ext cx="4914900" cy="2438400"/>
            <a:chOff x="6667500" y="1428750"/>
            <a:chExt cx="4914900" cy="2438400"/>
          </a:xfrm>
        </p:grpSpPr>
        <p:sp>
          <p:nvSpPr>
            <p:cNvPr id="32" name="Rectangle 32"/>
            <p:cNvSpPr/>
            <p:nvPr/>
          </p:nvSpPr>
          <p:spPr>
            <a:xfrm>
              <a:off x="6667500" y="1428750"/>
              <a:ext cx="4914900" cy="2438400"/>
            </a:xfrm>
            <a:prstGeom prst="roundRect">
              <a:avLst>
                <a:gd name="adj" fmla="val 4688"/>
              </a:avLst>
            </a:prstGeom>
            <a:solidFill>
              <a:schemeClr val="lt1"/>
            </a:solidFill>
            <a:ln w="14288">
              <a:solidFill>
                <a:schemeClr val="accent4"/>
              </a:solidFill>
            </a:ln>
            <a:effectLst>
              <a:outerShdw blurRad="76200" dist="28575" dir="5400000" algn="ctr" rotWithShape="0">
                <a:srgbClr val="0B2E52">
                  <a:alpha val="6000"/>
                </a:srgbClr>
              </a:outerShdw>
            </a:effectLst>
          </p:spPr>
        </p:sp>
        <p:sp>
          <p:nvSpPr>
            <p:cNvPr id="33" name="TextBox 33"/>
            <p:cNvSpPr txBox="1"/>
            <p:nvPr/>
          </p:nvSpPr>
          <p:spPr>
            <a:xfrm>
              <a:off x="6891147" y="1647349"/>
              <a:ext cx="2531764"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AN ENSEMBLE OF M SOFT TREES</a:t>
              </a:r>
            </a:p>
          </p:txBody>
        </p:sp>
        <p:pic>
          <p:nvPicPr>
            <p:cNvPr id="34" name="Image 34"/>
            <p:cNvPicPr>
              <a:picLocks noChangeAspect="1"/>
            </p:cNvPicPr>
            <p:nvPr/>
          </p:nvPicPr>
          <p:blipFill>
            <a:blip r:embed="rId2"/>
            <a:stretch>
              <a:fillRect/>
            </a:stretch>
          </p:blipFill>
          <p:spPr>
            <a:xfrm>
              <a:off x="6877050" y="1866900"/>
              <a:ext cx="4495800" cy="1790700"/>
            </a:xfrm>
            <a:prstGeom prst="rect">
              <a:avLst/>
            </a:prstGeom>
          </p:spPr>
        </p:pic>
      </p:grpSp>
      <p:grpSp>
        <p:nvGrpSpPr>
          <p:cNvPr id="39" name="Group 39"/>
          <p:cNvGrpSpPr/>
          <p:nvPr/>
        </p:nvGrpSpPr>
        <p:grpSpPr>
          <a:xfrm>
            <a:off x="6667500" y="4000500"/>
            <a:ext cx="4914900" cy="902017"/>
            <a:chOff x="6667500" y="4000500"/>
            <a:chExt cx="4914900" cy="902017"/>
          </a:xfrm>
        </p:grpSpPr>
        <p:sp>
          <p:nvSpPr>
            <p:cNvPr id="36" name="Rectangle 36"/>
            <p:cNvSpPr/>
            <p:nvPr/>
          </p:nvSpPr>
          <p:spPr>
            <a:xfrm>
              <a:off x="6667500" y="4000500"/>
              <a:ext cx="4914900" cy="857250"/>
            </a:xfrm>
            <a:prstGeom prst="roundRect">
              <a:avLst>
                <a:gd name="adj" fmla="val 13333"/>
              </a:avLst>
            </a:prstGeom>
            <a:solidFill>
              <a:schemeClr val="accent1"/>
            </a:solidFill>
            <a:ln>
              <a:noFill/>
            </a:ln>
            <a:effectLst>
              <a:outerShdw blurRad="76200" dist="28575" dir="5400000" algn="ctr" rotWithShape="0">
                <a:srgbClr val="0B2E52">
                  <a:alpha val="6000"/>
                </a:srgbClr>
              </a:outerShdw>
            </a:effectLst>
          </p:spPr>
        </p:sp>
        <p:sp>
          <p:nvSpPr>
            <p:cNvPr id="37" name="TextBox 37"/>
            <p:cNvSpPr txBox="1"/>
            <p:nvPr/>
          </p:nvSpPr>
          <p:spPr>
            <a:xfrm>
              <a:off x="6891147" y="4238149"/>
              <a:ext cx="2671764" cy="190690"/>
            </a:xfrm>
            <a:prstGeom prst="rect">
              <a:avLst/>
            </a:prstGeom>
            <a:noFill/>
            <a:ln>
              <a:noFill/>
            </a:ln>
          </p:spPr>
          <p:txBody>
            <a:bodyPr wrap="none" lIns="0" tIns="0" rIns="0" bIns="0" anchor="t" anchorCtr="0">
              <a:spAutoFit/>
            </a:bodyPr>
            <a:lstStyle/>
            <a:p>
              <a:pPr algn="l"/>
              <a:r>
                <a:rPr lang="en-US" sz="980" b="1" spc="90" dirty="0">
                  <a:solidFill>
                    <a:schemeClr val="accent3"/>
                  </a:solidFill>
                  <a:latin typeface="+mn-lt"/>
                  <a:ea typeface="+mn-ea"/>
                  <a:cs typeface="+mn-cs"/>
                </a:rPr>
                <a:t>COST INDEPENDENT OF TREE DEPTH</a:t>
              </a:r>
            </a:p>
          </p:txBody>
        </p:sp>
        <p:sp>
          <p:nvSpPr>
            <p:cNvPr id="38" name="TextBox 38"/>
            <p:cNvSpPr txBox="1"/>
            <p:nvPr/>
          </p:nvSpPr>
          <p:spPr>
            <a:xfrm>
              <a:off x="6884670" y="4462462"/>
              <a:ext cx="3415241"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mj-lt"/>
                  <a:ea typeface="+mj-ea"/>
                  <a:cs typeface="+mj-cs"/>
                </a:rPr>
                <a:t>90 datasets</a:t>
              </a:r>
              <a:r>
                <a:rPr lang="en-US" sz="1280" b="1" dirty="0">
                  <a:solidFill>
                    <a:srgbClr val="DBE3EE"/>
                  </a:solidFill>
                  <a:latin typeface="+mn-lt"/>
                  <a:ea typeface="+mn-ea"/>
                  <a:cs typeface="+mn-cs"/>
                </a:rPr>
                <a:t xml:space="preserve"> · depths 1 – 29</a:t>
              </a:r>
            </a:p>
          </p:txBody>
        </p:sp>
      </p:grpSp>
      <p:grpSp>
        <p:nvGrpSpPr>
          <p:cNvPr id="49" name="Group 49"/>
          <p:cNvGrpSpPr/>
          <p:nvPr/>
        </p:nvGrpSpPr>
        <p:grpSpPr>
          <a:xfrm>
            <a:off x="6667500" y="4991100"/>
            <a:ext cx="4914900" cy="1276350"/>
            <a:chOff x="6667500" y="4991100"/>
            <a:chExt cx="4914900" cy="1276350"/>
          </a:xfrm>
        </p:grpSpPr>
        <p:sp>
          <p:nvSpPr>
            <p:cNvPr id="40" name="Rectangle 40"/>
            <p:cNvSpPr/>
            <p:nvPr/>
          </p:nvSpPr>
          <p:spPr>
            <a:xfrm>
              <a:off x="6667500" y="4991100"/>
              <a:ext cx="1619250" cy="1276350"/>
            </a:xfrm>
            <a:prstGeom prst="roundRect">
              <a:avLst>
                <a:gd name="adj" fmla="val 7463"/>
              </a:avLst>
            </a:prstGeom>
            <a:solidFill>
              <a:schemeClr val="lt1"/>
            </a:solidFill>
            <a:ln w="14288">
              <a:solidFill>
                <a:schemeClr val="accent4"/>
              </a:solidFill>
            </a:ln>
          </p:spPr>
        </p:sp>
        <p:pic>
          <p:nvPicPr>
            <p:cNvPr id="41" name="Image 41"/>
            <p:cNvPicPr>
              <a:picLocks noChangeAspect="1"/>
            </p:cNvPicPr>
            <p:nvPr/>
          </p:nvPicPr>
          <p:blipFill>
            <a:blip r:embed="rId3"/>
            <a:stretch>
              <a:fillRect/>
            </a:stretch>
          </p:blipFill>
          <p:spPr>
            <a:xfrm>
              <a:off x="6819900" y="5143500"/>
              <a:ext cx="971550" cy="971550"/>
            </a:xfrm>
            <a:prstGeom prst="rect">
              <a:avLst/>
            </a:prstGeom>
          </p:spPr>
        </p:pic>
        <p:sp>
          <p:nvSpPr>
            <p:cNvPr id="42" name="TextBox 42"/>
            <p:cNvSpPr txBox="1"/>
            <p:nvPr/>
          </p:nvSpPr>
          <p:spPr>
            <a:xfrm>
              <a:off x="7881747" y="5285899"/>
              <a:ext cx="395159" cy="190690"/>
            </a:xfrm>
            <a:prstGeom prst="rect">
              <a:avLst/>
            </a:prstGeom>
            <a:noFill/>
            <a:ln>
              <a:noFill/>
            </a:ln>
          </p:spPr>
          <p:txBody>
            <a:bodyPr wrap="none" lIns="0" tIns="0" rIns="0" bIns="0" anchor="t" anchorCtr="0">
              <a:spAutoFit/>
            </a:bodyPr>
            <a:lstStyle/>
            <a:p>
              <a:pPr algn="l"/>
              <a:r>
                <a:rPr lang="en-US" sz="980" b="1" dirty="0">
                  <a:solidFill>
                    <a:schemeClr val="accent1"/>
                  </a:solidFill>
                  <a:latin typeface="+mn-lt"/>
                  <a:ea typeface="+mn-ea"/>
                  <a:cs typeface="+mn-cs"/>
                </a:rPr>
                <a:t>Paper</a:t>
              </a:r>
            </a:p>
          </p:txBody>
        </p:sp>
        <p:sp>
          <p:nvSpPr>
            <p:cNvPr id="43" name="TextBox 43"/>
            <p:cNvSpPr txBox="1"/>
            <p:nvPr/>
          </p:nvSpPr>
          <p:spPr>
            <a:xfrm>
              <a:off x="7881938" y="5511641"/>
              <a:ext cx="288620" cy="161925"/>
            </a:xfrm>
            <a:prstGeom prst="rect">
              <a:avLst/>
            </a:prstGeom>
            <a:noFill/>
            <a:ln>
              <a:noFill/>
            </a:ln>
          </p:spPr>
          <p:txBody>
            <a:bodyPr wrap="none" lIns="0" tIns="0" rIns="0" bIns="0" anchor="t" anchorCtr="0">
              <a:spAutoFit/>
            </a:bodyPr>
            <a:lstStyle/>
            <a:p>
              <a:pPr algn="l"/>
              <a:r>
                <a:rPr lang="en-US" sz="820" dirty="0">
                  <a:solidFill>
                    <a:schemeClr val="dk2"/>
                  </a:solidFill>
                  <a:latin typeface="+mn-lt"/>
                  <a:ea typeface="+mn-ea"/>
                  <a:cs typeface="+mn-cs"/>
                </a:rPr>
                <a:t>arXiv</a:t>
              </a:r>
            </a:p>
          </p:txBody>
        </p:sp>
        <p:sp>
          <p:nvSpPr>
            <p:cNvPr id="44" name="TextBox 44"/>
            <p:cNvSpPr txBox="1"/>
            <p:nvPr/>
          </p:nvSpPr>
          <p:spPr>
            <a:xfrm>
              <a:off x="7881938" y="5664041"/>
              <a:ext cx="616661" cy="161925"/>
            </a:xfrm>
            <a:prstGeom prst="rect">
              <a:avLst/>
            </a:prstGeom>
            <a:noFill/>
            <a:ln>
              <a:noFill/>
            </a:ln>
          </p:spPr>
          <p:txBody>
            <a:bodyPr wrap="none" lIns="0" tIns="0" rIns="0" bIns="0" anchor="t" anchorCtr="0">
              <a:spAutoFit/>
            </a:bodyPr>
            <a:lstStyle/>
            <a:p>
              <a:pPr algn="l"/>
              <a:r>
                <a:rPr lang="en-US" sz="820" dirty="0">
                  <a:solidFill>
                    <a:schemeClr val="dk2"/>
                  </a:solidFill>
                  <a:latin typeface="+mn-lt"/>
                  <a:ea typeface="+mn-ea"/>
                  <a:cs typeface="+mn-cs"/>
                </a:rPr>
                <a:t>2109.04983</a:t>
              </a:r>
            </a:p>
          </p:txBody>
        </p:sp>
        <p:sp>
          <p:nvSpPr>
            <p:cNvPr id="45" name="Rectangle 45"/>
            <p:cNvSpPr/>
            <p:nvPr/>
          </p:nvSpPr>
          <p:spPr>
            <a:xfrm>
              <a:off x="8439150" y="4991100"/>
              <a:ext cx="3143250" cy="1276350"/>
            </a:xfrm>
            <a:prstGeom prst="roundRect">
              <a:avLst>
                <a:gd name="adj" fmla="val 7463"/>
              </a:avLst>
            </a:prstGeom>
            <a:solidFill>
              <a:schemeClr val="lt2"/>
            </a:solidFill>
            <a:ln w="14288">
              <a:solidFill>
                <a:schemeClr val="accent4"/>
              </a:solidFill>
            </a:ln>
          </p:spPr>
        </p:sp>
        <p:sp>
          <p:nvSpPr>
            <p:cNvPr id="46" name="TextBox 46"/>
            <p:cNvSpPr txBox="1"/>
            <p:nvPr/>
          </p:nvSpPr>
          <p:spPr>
            <a:xfrm>
              <a:off x="8624888" y="5160645"/>
              <a:ext cx="963564" cy="176212"/>
            </a:xfrm>
            <a:prstGeom prst="rect">
              <a:avLst/>
            </a:prstGeom>
            <a:noFill/>
            <a:ln>
              <a:noFill/>
            </a:ln>
          </p:spPr>
          <p:txBody>
            <a:bodyPr wrap="none" lIns="0" tIns="0" rIns="0" bIns="0" anchor="t" anchorCtr="0">
              <a:spAutoFit/>
            </a:bodyPr>
            <a:lstStyle/>
            <a:p>
              <a:pPr algn="l"/>
              <a:r>
                <a:rPr lang="en-US" sz="900" b="1" spc="90" dirty="0">
                  <a:solidFill>
                    <a:schemeClr val="accent5"/>
                  </a:solidFill>
                  <a:latin typeface="+mn-lt"/>
                  <a:ea typeface="+mn-ea"/>
                  <a:cs typeface="+mn-cs"/>
                </a:rPr>
                <a:t>AFFILIATIONS</a:t>
              </a:r>
            </a:p>
          </p:txBody>
        </p:sp>
        <p:pic>
          <p:nvPicPr>
            <p:cNvPr id="47" name="Image 47"/>
            <p:cNvPicPr>
              <a:picLocks noChangeAspect="1"/>
            </p:cNvPicPr>
            <p:nvPr/>
          </p:nvPicPr>
          <p:blipFill>
            <a:blip r:embed="rId4"/>
            <a:stretch>
              <a:fillRect/>
            </a:stretch>
          </p:blipFill>
          <p:spPr>
            <a:xfrm>
              <a:off x="8629650" y="5410200"/>
              <a:ext cx="914400" cy="600075"/>
            </a:xfrm>
            <a:prstGeom prst="rect">
              <a:avLst/>
            </a:prstGeom>
          </p:spPr>
        </p:pic>
        <p:pic>
          <p:nvPicPr>
            <p:cNvPr id="48" name="Image 48"/>
            <p:cNvPicPr>
              <a:picLocks noChangeAspect="1"/>
            </p:cNvPicPr>
            <p:nvPr/>
          </p:nvPicPr>
          <p:blipFill>
            <a:blip r:embed="rId5"/>
            <a:stretch>
              <a:fillRect/>
            </a:stretch>
          </p:blipFill>
          <p:spPr>
            <a:xfrm>
              <a:off x="9914404" y="5581650"/>
              <a:ext cx="1411941" cy="400050"/>
            </a:xfrm>
            <a:prstGeom prst="rect">
              <a:avLst/>
            </a:prstGeom>
          </p:spPr>
        </p:pic>
      </p:grpSp>
      <p:sp>
        <p:nvSpPr>
          <p:cNvPr id="50" name="TextBox 50"/>
          <p:cNvSpPr txBox="1"/>
          <p:nvPr/>
        </p:nvSpPr>
        <p:spPr>
          <a:xfrm>
            <a:off x="11207836" y="6578441"/>
            <a:ext cx="379326"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01 / 10</a:t>
            </a:r>
          </a:p>
        </p:txBody>
      </p:sp>
      <p:sp>
        <p:nvSpPr>
          <p:cNvPr id="51" name="cue_s01_c1_soft_tree_ensembles_gradient_trained" title="cue_s01_c1_soft_tree_ensembles_gradient_trained" descr="cue_s01_c1_soft_tree_ensembles_gradient_trained Soft tree ensembles are gradient-trained decision trees that rival neural networks on tabular data, yet their training has lacked theory."/>
          <p:cNvSpPr/>
          <p:nvPr/>
        </p:nvSpPr>
        <p:spPr>
          <a:xfrm>
            <a:off x="609600" y="3238347"/>
            <a:ext cx="5715609" cy="9141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1_c2_iclr_2022_introduces_tree_neural" title="cue_s01_c2_iclr_2022_introduces_tree_neural" descr="cue_s01_c2_iclr_2022_introduces_tree_neural This ICLR 2022 paper introduces the Tree Neural Tangent Kernel, or TNTK, describing an ensemble of infinitely many soft trees."/>
          <p:cNvSpPr/>
          <p:nvPr/>
        </p:nvSpPr>
        <p:spPr>
          <a:xfrm>
            <a:off x="609600" y="4267047"/>
            <a:ext cx="5744870" cy="9141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1_c3_authors_prove_global_convergence_sho" title="cue_s01_c3_authors_prove_global_convergence_sho" descr="cue_s01_c3_authors_prove_global_convergence_sho With it, the authors prove global training convergence, show oblivious trees match ordinary ones, and reveal that very deep trees degenerate into a flat kernel, all validated on ninety datasets."/>
          <p:cNvSpPr/>
          <p:nvPr/>
        </p:nvSpPr>
        <p:spPr>
          <a:xfrm>
            <a:off x="609600" y="5295747"/>
            <a:ext cx="6197193" cy="9902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609600" y="533400"/>
            <a:ext cx="7107420" cy="675989"/>
            <a:chOff x="609600" y="533400"/>
            <a:chExt cx="7107420" cy="675989"/>
          </a:xfrm>
        </p:grpSpPr>
        <p:sp>
          <p:nvSpPr>
            <p:cNvPr id="2" name="Rectangle 2"/>
            <p:cNvSpPr/>
            <p:nvPr/>
          </p:nvSpPr>
          <p:spPr>
            <a:xfrm>
              <a:off x="609600" y="533400"/>
              <a:ext cx="57150" cy="381000"/>
            </a:xfrm>
            <a:prstGeom prst="rect">
              <a:avLst/>
            </a:prstGeom>
            <a:solidFill>
              <a:schemeClr val="accent2"/>
            </a:solidFill>
            <a:ln>
              <a:noFill/>
            </a:ln>
          </p:spPr>
        </p:sp>
        <p:sp>
          <p:nvSpPr>
            <p:cNvPr id="3" name="TextBox 3"/>
            <p:cNvSpPr txBox="1"/>
            <p:nvPr/>
          </p:nvSpPr>
          <p:spPr>
            <a:xfrm>
              <a:off x="825246" y="562928"/>
              <a:ext cx="6891774"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Powerful soft trees, missing theory</a:t>
              </a:r>
            </a:p>
          </p:txBody>
        </p:sp>
        <p:sp>
          <p:nvSpPr>
            <p:cNvPr id="4" name="TextBox 4"/>
            <p:cNvSpPr txBox="1"/>
            <p:nvPr/>
          </p:nvSpPr>
          <p:spPr>
            <a:xfrm>
              <a:off x="833247" y="1018699"/>
              <a:ext cx="4409169"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PROBLEM · WHY SOFT TREE ENSEMBLES NEED A THEORY</a:t>
              </a:r>
            </a:p>
          </p:txBody>
        </p:sp>
      </p:grpSp>
      <p:grpSp>
        <p:nvGrpSpPr>
          <p:cNvPr id="14" name="Group 14"/>
          <p:cNvGrpSpPr/>
          <p:nvPr/>
        </p:nvGrpSpPr>
        <p:grpSpPr>
          <a:xfrm>
            <a:off x="609600" y="1428750"/>
            <a:ext cx="5353050" cy="2038350"/>
            <a:chOff x="609600" y="1428750"/>
            <a:chExt cx="5353050" cy="2038350"/>
          </a:xfrm>
        </p:grpSpPr>
        <p:sp>
          <p:nvSpPr>
            <p:cNvPr id="6" name="Rectangle 6"/>
            <p:cNvSpPr/>
            <p:nvPr/>
          </p:nvSpPr>
          <p:spPr>
            <a:xfrm>
              <a:off x="609600" y="1428750"/>
              <a:ext cx="5353050" cy="2038350"/>
            </a:xfrm>
            <a:prstGeom prst="roundRect">
              <a:avLst>
                <a:gd name="adj" fmla="val 4673"/>
              </a:avLst>
            </a:prstGeom>
            <a:solidFill>
              <a:schemeClr val="lt1"/>
            </a:solidFill>
            <a:ln w="14288">
              <a:solidFill>
                <a:schemeClr val="accent4"/>
              </a:solidFill>
            </a:ln>
            <a:effectLst>
              <a:outerShdw blurRad="76200" dist="28575" dir="5400000" algn="ctr" rotWithShape="0">
                <a:srgbClr val="0B2E52">
                  <a:alpha val="6000"/>
                </a:srgbClr>
              </a:outerShdw>
            </a:effectLst>
          </p:spPr>
        </p:sp>
        <p:sp>
          <p:nvSpPr>
            <p:cNvPr id="7" name="Rectangle 7"/>
            <p:cNvSpPr/>
            <p:nvPr/>
          </p:nvSpPr>
          <p:spPr>
            <a:xfrm>
              <a:off x="609600" y="1428750"/>
              <a:ext cx="57150" cy="2038350"/>
            </a:xfrm>
            <a:prstGeom prst="roundRect">
              <a:avLst>
                <a:gd name="adj" fmla="val 50000"/>
              </a:avLst>
            </a:prstGeom>
            <a:solidFill>
              <a:schemeClr val="accent1"/>
            </a:solidFill>
            <a:ln>
              <a:noFill/>
            </a:ln>
          </p:spPr>
        </p:sp>
        <p:sp>
          <p:nvSpPr>
            <p:cNvPr id="8" name="TextBox 8"/>
            <p:cNvSpPr txBox="1"/>
            <p:nvPr/>
          </p:nvSpPr>
          <p:spPr>
            <a:xfrm>
              <a:off x="833247" y="1647349"/>
              <a:ext cx="1919862" cy="190690"/>
            </a:xfrm>
            <a:prstGeom prst="rect">
              <a:avLst/>
            </a:prstGeom>
            <a:noFill/>
            <a:ln>
              <a:noFill/>
            </a:ln>
          </p:spPr>
          <p:txBody>
            <a:bodyPr wrap="none" lIns="0" tIns="0" rIns="0" bIns="0" anchor="t" anchorCtr="0">
              <a:spAutoFit/>
            </a:bodyPr>
            <a:lstStyle/>
            <a:p>
              <a:pPr algn="l"/>
              <a:r>
                <a:rPr lang="en-US" sz="980" b="1" spc="90" dirty="0">
                  <a:solidFill>
                    <a:schemeClr val="accent1"/>
                  </a:solidFill>
                  <a:latin typeface="+mn-lt"/>
                  <a:ea typeface="+mn-ea"/>
                  <a:cs typeface="+mn-cs"/>
                </a:rPr>
                <a:t>TWO DOMINANT FAMILIES</a:t>
              </a:r>
            </a:p>
          </p:txBody>
        </p:sp>
        <p:sp>
          <p:nvSpPr>
            <p:cNvPr id="9" name="TextBox 9"/>
            <p:cNvSpPr txBox="1"/>
            <p:nvPr/>
          </p:nvSpPr>
          <p:spPr>
            <a:xfrm>
              <a:off x="830199" y="1887379"/>
              <a:ext cx="2535188"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Trees and neural nets</a:t>
              </a:r>
            </a:p>
          </p:txBody>
        </p:sp>
        <p:sp>
          <p:nvSpPr>
            <p:cNvPr id="10" name="TextBox 10"/>
            <p:cNvSpPr txBox="1"/>
            <p:nvPr/>
          </p:nvSpPr>
          <p:spPr>
            <a:xfrm>
              <a:off x="832104" y="2270760"/>
              <a:ext cx="3749417"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Tree ensembles and neural networks are two of</a:t>
              </a:r>
            </a:p>
          </p:txBody>
        </p:sp>
        <p:sp>
          <p:nvSpPr>
            <p:cNvPr id="11" name="TextBox 11"/>
            <p:cNvSpPr txBox="1"/>
            <p:nvPr/>
          </p:nvSpPr>
          <p:spPr>
            <a:xfrm>
              <a:off x="832104" y="2499360"/>
              <a:ext cx="3655009"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the most widely used model families in machine</a:t>
              </a:r>
            </a:p>
          </p:txBody>
        </p:sp>
        <p:sp>
          <p:nvSpPr>
            <p:cNvPr id="12" name="TextBox 12"/>
            <p:cNvSpPr txBox="1"/>
            <p:nvPr/>
          </p:nvSpPr>
          <p:spPr>
            <a:xfrm>
              <a:off x="832104" y="2727960"/>
              <a:ext cx="1223772"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learning today.</a:t>
              </a:r>
            </a:p>
          </p:txBody>
        </p:sp>
        <p:sp>
          <p:nvSpPr>
            <p:cNvPr id="13" name="TextBox 13"/>
            <p:cNvSpPr txBox="1"/>
            <p:nvPr/>
          </p:nvSpPr>
          <p:spPr>
            <a:xfrm>
              <a:off x="832866" y="3125152"/>
              <a:ext cx="1881530" cy="205359"/>
            </a:xfrm>
            <a:prstGeom prst="rect">
              <a:avLst/>
            </a:prstGeom>
            <a:noFill/>
            <a:ln>
              <a:noFill/>
            </a:ln>
          </p:spPr>
          <p:txBody>
            <a:bodyPr wrap="none" lIns="0" tIns="0" rIns="0" bIns="0" anchor="t" anchorCtr="0">
              <a:spAutoFit/>
            </a:bodyPr>
            <a:lstStyle/>
            <a:p>
              <a:pPr algn="l"/>
              <a:r>
                <a:rPr lang="en-US" sz="1050" i="1" dirty="0">
                  <a:solidFill>
                    <a:schemeClr val="accent5"/>
                  </a:solidFill>
                  <a:latin typeface="+mn-lt"/>
                  <a:ea typeface="+mn-ea"/>
                  <a:cs typeface="+mn-cs"/>
                </a:rPr>
                <a:t>This work bridges the two.</a:t>
              </a:r>
            </a:p>
          </p:txBody>
        </p:sp>
      </p:grpSp>
      <p:grpSp>
        <p:nvGrpSpPr>
          <p:cNvPr id="23" name="Group 23"/>
          <p:cNvGrpSpPr/>
          <p:nvPr/>
        </p:nvGrpSpPr>
        <p:grpSpPr>
          <a:xfrm>
            <a:off x="6229350" y="1428750"/>
            <a:ext cx="5353050" cy="2038350"/>
            <a:chOff x="6229350" y="1428750"/>
            <a:chExt cx="5353050" cy="2038350"/>
          </a:xfrm>
        </p:grpSpPr>
        <p:sp>
          <p:nvSpPr>
            <p:cNvPr id="15" name="Rectangle 15"/>
            <p:cNvSpPr/>
            <p:nvPr/>
          </p:nvSpPr>
          <p:spPr>
            <a:xfrm>
              <a:off x="6229350" y="1428750"/>
              <a:ext cx="5353050" cy="2038350"/>
            </a:xfrm>
            <a:prstGeom prst="roundRect">
              <a:avLst>
                <a:gd name="adj" fmla="val 4673"/>
              </a:avLst>
            </a:prstGeom>
            <a:solidFill>
              <a:schemeClr val="lt1"/>
            </a:solidFill>
            <a:ln w="14288">
              <a:solidFill>
                <a:schemeClr val="accent4"/>
              </a:solidFill>
            </a:ln>
            <a:effectLst>
              <a:outerShdw blurRad="76200" dist="28575" dir="5400000" algn="ctr" rotWithShape="0">
                <a:srgbClr val="0B2E52">
                  <a:alpha val="6000"/>
                </a:srgbClr>
              </a:outerShdw>
            </a:effectLst>
          </p:spPr>
        </p:sp>
        <p:sp>
          <p:nvSpPr>
            <p:cNvPr id="16" name="Rectangle 16"/>
            <p:cNvSpPr/>
            <p:nvPr/>
          </p:nvSpPr>
          <p:spPr>
            <a:xfrm>
              <a:off x="6229350" y="1428750"/>
              <a:ext cx="57150" cy="2038350"/>
            </a:xfrm>
            <a:prstGeom prst="roundRect">
              <a:avLst>
                <a:gd name="adj" fmla="val 50000"/>
              </a:avLst>
            </a:prstGeom>
            <a:solidFill>
              <a:schemeClr val="accent2"/>
            </a:solidFill>
            <a:ln>
              <a:noFill/>
            </a:ln>
          </p:spPr>
        </p:sp>
        <p:sp>
          <p:nvSpPr>
            <p:cNvPr id="17" name="TextBox 17"/>
            <p:cNvSpPr txBox="1"/>
            <p:nvPr/>
          </p:nvSpPr>
          <p:spPr>
            <a:xfrm>
              <a:off x="6452997" y="1647349"/>
              <a:ext cx="1645438" cy="190690"/>
            </a:xfrm>
            <a:prstGeom prst="rect">
              <a:avLst/>
            </a:prstGeom>
            <a:noFill/>
            <a:ln>
              <a:noFill/>
            </a:ln>
          </p:spPr>
          <p:txBody>
            <a:bodyPr wrap="none" lIns="0" tIns="0" rIns="0" bIns="0" anchor="t" anchorCtr="0">
              <a:spAutoFit/>
            </a:bodyPr>
            <a:lstStyle/>
            <a:p>
              <a:pPr algn="l"/>
              <a:r>
                <a:rPr lang="en-US" sz="980" b="1" spc="90" dirty="0">
                  <a:solidFill>
                    <a:schemeClr val="accent2"/>
                  </a:solidFill>
                  <a:latin typeface="+mn-lt"/>
                  <a:ea typeface="+mn-ea"/>
                  <a:cs typeface="+mn-cs"/>
                </a:rPr>
                <a:t>WHAT IS A SOFT TREE</a:t>
              </a:r>
            </a:p>
          </p:txBody>
        </p:sp>
        <p:sp>
          <p:nvSpPr>
            <p:cNvPr id="18" name="TextBox 18"/>
            <p:cNvSpPr txBox="1"/>
            <p:nvPr/>
          </p:nvSpPr>
          <p:spPr>
            <a:xfrm>
              <a:off x="6449949" y="1887379"/>
              <a:ext cx="3404397"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Differentiable splitting rules</a:t>
              </a:r>
            </a:p>
          </p:txBody>
        </p:sp>
        <p:sp>
          <p:nvSpPr>
            <p:cNvPr id="19" name="TextBox 19"/>
            <p:cNvSpPr txBox="1"/>
            <p:nvPr/>
          </p:nvSpPr>
          <p:spPr>
            <a:xfrm>
              <a:off x="6451854" y="2270760"/>
              <a:ext cx="3644118"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A decision tree whose splitting rules are made</a:t>
              </a:r>
            </a:p>
          </p:txBody>
        </p:sp>
        <p:sp>
          <p:nvSpPr>
            <p:cNvPr id="20" name="TextBox 20"/>
            <p:cNvSpPr txBox="1"/>
            <p:nvPr/>
          </p:nvSpPr>
          <p:spPr>
            <a:xfrm>
              <a:off x="6451854" y="2499360"/>
              <a:ext cx="3501542"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differentiable, so the whole model trains by</a:t>
              </a:r>
            </a:p>
          </p:txBody>
        </p:sp>
        <p:sp>
          <p:nvSpPr>
            <p:cNvPr id="21" name="TextBox 21"/>
            <p:cNvSpPr txBox="1"/>
            <p:nvPr/>
          </p:nvSpPr>
          <p:spPr>
            <a:xfrm>
              <a:off x="6451854" y="2727960"/>
              <a:ext cx="3461156"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gradient descent instead of greedy search.</a:t>
              </a:r>
            </a:p>
          </p:txBody>
        </p:sp>
        <p:sp>
          <p:nvSpPr>
            <p:cNvPr id="22" name="TextBox 22"/>
            <p:cNvSpPr txBox="1"/>
            <p:nvPr/>
          </p:nvSpPr>
          <p:spPr>
            <a:xfrm>
              <a:off x="6452616" y="3125152"/>
              <a:ext cx="3111261" cy="205359"/>
            </a:xfrm>
            <a:prstGeom prst="rect">
              <a:avLst/>
            </a:prstGeom>
            <a:noFill/>
            <a:ln>
              <a:noFill/>
            </a:ln>
          </p:spPr>
          <p:txBody>
            <a:bodyPr wrap="none" lIns="0" tIns="0" rIns="0" bIns="0" anchor="t" anchorCtr="0">
              <a:spAutoFit/>
            </a:bodyPr>
            <a:lstStyle/>
            <a:p>
              <a:pPr algn="l"/>
              <a:r>
                <a:rPr lang="en-US" sz="1050" i="1" dirty="0">
                  <a:solidFill>
                    <a:schemeClr val="accent5"/>
                  </a:solidFill>
                  <a:latin typeface="+mn-lt"/>
                  <a:ea typeface="+mn-ea"/>
                  <a:cs typeface="+mn-cs"/>
                </a:rPr>
                <a:t>End-to-end learnable, like a neural network.</a:t>
              </a:r>
            </a:p>
          </p:txBody>
        </p:sp>
      </p:grpSp>
      <p:grpSp>
        <p:nvGrpSpPr>
          <p:cNvPr id="32" name="Group 32"/>
          <p:cNvGrpSpPr/>
          <p:nvPr/>
        </p:nvGrpSpPr>
        <p:grpSpPr>
          <a:xfrm>
            <a:off x="609600" y="3676650"/>
            <a:ext cx="5353050" cy="2038350"/>
            <a:chOff x="609600" y="3676650"/>
            <a:chExt cx="5353050" cy="2038350"/>
          </a:xfrm>
        </p:grpSpPr>
        <p:sp>
          <p:nvSpPr>
            <p:cNvPr id="24" name="Rectangle 24"/>
            <p:cNvSpPr/>
            <p:nvPr/>
          </p:nvSpPr>
          <p:spPr>
            <a:xfrm>
              <a:off x="609600" y="3676650"/>
              <a:ext cx="5353050" cy="2038350"/>
            </a:xfrm>
            <a:prstGeom prst="roundRect">
              <a:avLst>
                <a:gd name="adj" fmla="val 4673"/>
              </a:avLst>
            </a:prstGeom>
            <a:solidFill>
              <a:schemeClr val="lt1"/>
            </a:solidFill>
            <a:ln w="14288">
              <a:solidFill>
                <a:schemeClr val="accent4"/>
              </a:solidFill>
            </a:ln>
            <a:effectLst>
              <a:outerShdw blurRad="76200" dist="28575" dir="5400000" algn="ctr" rotWithShape="0">
                <a:srgbClr val="0B2E52">
                  <a:alpha val="6000"/>
                </a:srgbClr>
              </a:outerShdw>
            </a:effectLst>
          </p:spPr>
        </p:sp>
        <p:sp>
          <p:nvSpPr>
            <p:cNvPr id="25" name="Rectangle 25"/>
            <p:cNvSpPr/>
            <p:nvPr/>
          </p:nvSpPr>
          <p:spPr>
            <a:xfrm>
              <a:off x="609600" y="3676650"/>
              <a:ext cx="57150" cy="2038350"/>
            </a:xfrm>
            <a:prstGeom prst="roundRect">
              <a:avLst>
                <a:gd name="adj" fmla="val 50000"/>
              </a:avLst>
            </a:prstGeom>
            <a:solidFill>
              <a:srgbClr val="1F7A46"/>
            </a:solidFill>
            <a:ln>
              <a:noFill/>
            </a:ln>
          </p:spPr>
        </p:sp>
        <p:sp>
          <p:nvSpPr>
            <p:cNvPr id="26" name="TextBox 26"/>
            <p:cNvSpPr txBox="1"/>
            <p:nvPr/>
          </p:nvSpPr>
          <p:spPr>
            <a:xfrm>
              <a:off x="833247" y="3895249"/>
              <a:ext cx="1317973" cy="190690"/>
            </a:xfrm>
            <a:prstGeom prst="rect">
              <a:avLst/>
            </a:prstGeom>
            <a:noFill/>
            <a:ln>
              <a:noFill/>
            </a:ln>
          </p:spPr>
          <p:txBody>
            <a:bodyPr wrap="none" lIns="0" tIns="0" rIns="0" bIns="0" anchor="t" anchorCtr="0">
              <a:spAutoFit/>
            </a:bodyPr>
            <a:lstStyle/>
            <a:p>
              <a:pPr algn="l"/>
              <a:r>
                <a:rPr lang="en-US" sz="980" b="1" spc="90" dirty="0">
                  <a:solidFill>
                    <a:srgbClr val="1F7A46"/>
                  </a:solidFill>
                  <a:latin typeface="+mn-lt"/>
                  <a:ea typeface="+mn-ea"/>
                  <a:cs typeface="+mn-cs"/>
                </a:rPr>
                <a:t>THEY WORK WELL</a:t>
              </a:r>
            </a:p>
          </p:txBody>
        </p:sp>
        <p:sp>
          <p:nvSpPr>
            <p:cNvPr id="27" name="TextBox 27"/>
            <p:cNvSpPr txBox="1"/>
            <p:nvPr/>
          </p:nvSpPr>
          <p:spPr>
            <a:xfrm>
              <a:off x="830199" y="4135279"/>
              <a:ext cx="2664879"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Strong on tabular data</a:t>
              </a:r>
            </a:p>
          </p:txBody>
        </p:sp>
        <p:sp>
          <p:nvSpPr>
            <p:cNvPr id="28" name="TextBox 28"/>
            <p:cNvSpPr txBox="1"/>
            <p:nvPr/>
          </p:nvSpPr>
          <p:spPr>
            <a:xfrm>
              <a:off x="832104" y="4518660"/>
              <a:ext cx="3733239"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Ensembles of soft trees excel on tabular data.</a:t>
              </a:r>
            </a:p>
          </p:txBody>
        </p:sp>
        <p:sp>
          <p:nvSpPr>
            <p:cNvPr id="29" name="TextBox 29"/>
            <p:cNvSpPr txBox="1"/>
            <p:nvPr/>
          </p:nvSpPr>
          <p:spPr>
            <a:xfrm>
              <a:off x="832104" y="4747260"/>
              <a:ext cx="378149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Practitioners rely on hard-won training tricks:</a:t>
              </a:r>
            </a:p>
          </p:txBody>
        </p:sp>
        <p:sp>
          <p:nvSpPr>
            <p:cNvPr id="30" name="TextBox 30"/>
            <p:cNvSpPr txBox="1"/>
            <p:nvPr/>
          </p:nvSpPr>
          <p:spPr>
            <a:xfrm>
              <a:off x="832485" y="5060156"/>
              <a:ext cx="2861066"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parameter sharing · split hardness ·</a:t>
              </a:r>
            </a:p>
          </p:txBody>
        </p:sp>
        <p:sp>
          <p:nvSpPr>
            <p:cNvPr id="31" name="TextBox 31"/>
            <p:cNvSpPr txBox="1"/>
            <p:nvPr/>
          </p:nvSpPr>
          <p:spPr>
            <a:xfrm>
              <a:off x="832485" y="5288756"/>
              <a:ext cx="1792453"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over-parameterization</a:t>
              </a:r>
            </a:p>
          </p:txBody>
        </p:sp>
      </p:grpSp>
      <p:grpSp>
        <p:nvGrpSpPr>
          <p:cNvPr id="40" name="Group 40"/>
          <p:cNvGrpSpPr/>
          <p:nvPr/>
        </p:nvGrpSpPr>
        <p:grpSpPr>
          <a:xfrm>
            <a:off x="6229350" y="3676650"/>
            <a:ext cx="5353050" cy="2038350"/>
            <a:chOff x="6229350" y="3676650"/>
            <a:chExt cx="5353050" cy="2038350"/>
          </a:xfrm>
        </p:grpSpPr>
        <p:sp>
          <p:nvSpPr>
            <p:cNvPr id="33" name="Rectangle 33"/>
            <p:cNvSpPr/>
            <p:nvPr/>
          </p:nvSpPr>
          <p:spPr>
            <a:xfrm>
              <a:off x="6229350" y="3676650"/>
              <a:ext cx="5353050" cy="2038350"/>
            </a:xfrm>
            <a:prstGeom prst="roundRect">
              <a:avLst>
                <a:gd name="adj" fmla="val 4673"/>
              </a:avLst>
            </a:prstGeom>
            <a:solidFill>
              <a:schemeClr val="accent6"/>
            </a:solidFill>
            <a:ln w="14288">
              <a:solidFill>
                <a:schemeClr val="accent2"/>
              </a:solidFill>
            </a:ln>
            <a:effectLst>
              <a:outerShdw blurRad="76200" dist="28575" dir="5400000" algn="ctr" rotWithShape="0">
                <a:srgbClr val="0B2E52">
                  <a:alpha val="6000"/>
                </a:srgbClr>
              </a:outerShdw>
            </a:effectLst>
          </p:spPr>
        </p:sp>
        <p:sp>
          <p:nvSpPr>
            <p:cNvPr id="34" name="Rectangle 34"/>
            <p:cNvSpPr/>
            <p:nvPr/>
          </p:nvSpPr>
          <p:spPr>
            <a:xfrm>
              <a:off x="6229350" y="3676650"/>
              <a:ext cx="57150" cy="2038350"/>
            </a:xfrm>
            <a:prstGeom prst="roundRect">
              <a:avLst>
                <a:gd name="adj" fmla="val 50000"/>
              </a:avLst>
            </a:prstGeom>
            <a:solidFill>
              <a:srgbClr val="C0392B"/>
            </a:solidFill>
            <a:ln>
              <a:noFill/>
            </a:ln>
          </p:spPr>
        </p:sp>
        <p:sp>
          <p:nvSpPr>
            <p:cNvPr id="35" name="TextBox 35"/>
            <p:cNvSpPr txBox="1"/>
            <p:nvPr/>
          </p:nvSpPr>
          <p:spPr>
            <a:xfrm>
              <a:off x="6452997" y="3895249"/>
              <a:ext cx="1195398" cy="190690"/>
            </a:xfrm>
            <a:prstGeom prst="rect">
              <a:avLst/>
            </a:prstGeom>
            <a:noFill/>
            <a:ln>
              <a:noFill/>
            </a:ln>
          </p:spPr>
          <p:txBody>
            <a:bodyPr wrap="none" lIns="0" tIns="0" rIns="0" bIns="0" anchor="t" anchorCtr="0">
              <a:spAutoFit/>
            </a:bodyPr>
            <a:lstStyle/>
            <a:p>
              <a:pPr algn="l"/>
              <a:r>
                <a:rPr lang="en-US" sz="980" b="1" spc="90" dirty="0">
                  <a:solidFill>
                    <a:srgbClr val="C0392B"/>
                  </a:solidFill>
                  <a:latin typeface="+mn-lt"/>
                  <a:ea typeface="+mn-ea"/>
                  <a:cs typeface="+mn-cs"/>
                </a:rPr>
                <a:t>BUT NO THEORY</a:t>
              </a:r>
            </a:p>
          </p:txBody>
        </p:sp>
        <p:sp>
          <p:nvSpPr>
            <p:cNvPr id="36" name="TextBox 36"/>
            <p:cNvSpPr txBox="1"/>
            <p:nvPr/>
          </p:nvSpPr>
          <p:spPr>
            <a:xfrm>
              <a:off x="6449949" y="4135279"/>
              <a:ext cx="2174795"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Why do they work?</a:t>
              </a:r>
            </a:p>
          </p:txBody>
        </p:sp>
        <p:sp>
          <p:nvSpPr>
            <p:cNvPr id="37" name="TextBox 37"/>
            <p:cNvSpPr txBox="1"/>
            <p:nvPr/>
          </p:nvSpPr>
          <p:spPr>
            <a:xfrm>
              <a:off x="6451854" y="4518660"/>
              <a:ext cx="3846342"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Yet almost no theory explains why these models,</a:t>
              </a:r>
            </a:p>
          </p:txBody>
        </p:sp>
        <p:sp>
          <p:nvSpPr>
            <p:cNvPr id="38" name="TextBox 38"/>
            <p:cNvSpPr txBox="1"/>
            <p:nvPr/>
          </p:nvSpPr>
          <p:spPr>
            <a:xfrm>
              <a:off x="6451854" y="4747260"/>
              <a:ext cx="3057296"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or their training tricks, work so well.</a:t>
              </a:r>
            </a:p>
          </p:txBody>
        </p:sp>
        <p:sp>
          <p:nvSpPr>
            <p:cNvPr id="39" name="TextBox 39"/>
            <p:cNvSpPr txBox="1"/>
            <p:nvPr/>
          </p:nvSpPr>
          <p:spPr>
            <a:xfrm>
              <a:off x="6451092" y="5150168"/>
              <a:ext cx="2519012"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j-lt"/>
                  <a:ea typeface="+mj-ea"/>
                  <a:cs typeface="+mj-cs"/>
                </a:rPr>
                <a:t>This paper fills that gap.</a:t>
              </a:r>
            </a:p>
          </p:txBody>
        </p:sp>
      </p:grpSp>
      <p:sp>
        <p:nvSpPr>
          <p:cNvPr id="41" name="TextBox 41"/>
          <p:cNvSpPr txBox="1"/>
          <p:nvPr/>
        </p:nvSpPr>
        <p:spPr>
          <a:xfrm>
            <a:off x="11207836" y="6578441"/>
            <a:ext cx="379326"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02 / 10</a:t>
            </a:r>
          </a:p>
        </p:txBody>
      </p:sp>
      <p:sp>
        <p:nvSpPr>
          <p:cNvPr id="42" name="cue_s02_c1_tree_ensembles_neural_networks_two" title="cue_s02_c1_tree_ensembles_neural_networks_two" descr="cue_s02_c1_tree_ensembles_neural_networks_two Tree ensembles and neural networks are two of the most widely used model families."/>
          <p:cNvSpPr/>
          <p:nvPr/>
        </p:nvSpPr>
        <p:spPr>
          <a:xfrm>
            <a:off x="609600" y="1428521"/>
            <a:ext cx="5353507"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2_c2_soft_tree_decision_tree_whose" title="cue_s02_c2_soft_tree_decision_tree_whose" descr="cue_s02_c2_soft_tree_decision_tree_whose A soft tree is a decision tree whose splitting rules are made differentiable, so the whole model trains by gradient descent instead of greedy search."/>
          <p:cNvSpPr/>
          <p:nvPr/>
        </p:nvSpPr>
        <p:spPr>
          <a:xfrm>
            <a:off x="6228892" y="1428521"/>
            <a:ext cx="5353507"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2_c3_ensembles_soft_trees_excel_tabular" title="cue_s02_c3_ensembles_soft_trees_excel_tabular" descr="cue_s02_c3_ensembles_soft_trees_excel_tabular Ensembles of soft trees excel on tabular data, and practitioners rely on tricks like parameter sharing, adjusting split hardness, and over-parameterization."/>
          <p:cNvSpPr/>
          <p:nvPr/>
        </p:nvSpPr>
        <p:spPr>
          <a:xfrm>
            <a:off x="609600" y="3676573"/>
            <a:ext cx="5353507"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2_c4_yet_almost_theory_explains_why" title="cue_s02_c4_yet_almost_theory_explains_why" descr="cue_s02_c4_yet_almost_theory_explains_why Yet almost no theory explains why they work. This paper fills that gap."/>
          <p:cNvSpPr/>
          <p:nvPr/>
        </p:nvSpPr>
        <p:spPr>
          <a:xfrm>
            <a:off x="6228892" y="3676573"/>
            <a:ext cx="5353507"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609600" y="533400"/>
            <a:ext cx="6882206" cy="675989"/>
            <a:chOff x="609600" y="533400"/>
            <a:chExt cx="6882206" cy="675989"/>
          </a:xfrm>
        </p:grpSpPr>
        <p:sp>
          <p:nvSpPr>
            <p:cNvPr id="2" name="Rectangle 2"/>
            <p:cNvSpPr/>
            <p:nvPr/>
          </p:nvSpPr>
          <p:spPr>
            <a:xfrm>
              <a:off x="609600" y="533400"/>
              <a:ext cx="57150" cy="381000"/>
            </a:xfrm>
            <a:prstGeom prst="rect">
              <a:avLst/>
            </a:prstGeom>
            <a:solidFill>
              <a:schemeClr val="accent2"/>
            </a:solidFill>
            <a:ln>
              <a:noFill/>
            </a:ln>
          </p:spPr>
        </p:sp>
        <p:sp>
          <p:nvSpPr>
            <p:cNvPr id="3" name="TextBox 3"/>
            <p:cNvSpPr txBox="1"/>
            <p:nvPr/>
          </p:nvSpPr>
          <p:spPr>
            <a:xfrm>
              <a:off x="825246" y="562928"/>
              <a:ext cx="6666560"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The NTK lens, never aimed at trees</a:t>
              </a:r>
            </a:p>
          </p:txBody>
        </p:sp>
        <p:sp>
          <p:nvSpPr>
            <p:cNvPr id="4" name="TextBox 4"/>
            <p:cNvSpPr txBox="1"/>
            <p:nvPr/>
          </p:nvSpPr>
          <p:spPr>
            <a:xfrm>
              <a:off x="833247" y="1018699"/>
              <a:ext cx="4708371"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MOTIVATION · A KERNEL FOR INFINITELY MANY SOFT TREES</a:t>
              </a:r>
            </a:p>
          </p:txBody>
        </p:sp>
      </p:grpSp>
      <p:grpSp>
        <p:nvGrpSpPr>
          <p:cNvPr id="16" name="Group 16"/>
          <p:cNvGrpSpPr/>
          <p:nvPr/>
        </p:nvGrpSpPr>
        <p:grpSpPr>
          <a:xfrm>
            <a:off x="609600" y="1428750"/>
            <a:ext cx="5353050" cy="2038350"/>
            <a:chOff x="609600" y="1428750"/>
            <a:chExt cx="5353050" cy="2038350"/>
          </a:xfrm>
        </p:grpSpPr>
        <p:sp>
          <p:nvSpPr>
            <p:cNvPr id="6" name="Rectangle 6"/>
            <p:cNvSpPr/>
            <p:nvPr/>
          </p:nvSpPr>
          <p:spPr>
            <a:xfrm>
              <a:off x="609600" y="1428750"/>
              <a:ext cx="5353050" cy="2038350"/>
            </a:xfrm>
            <a:prstGeom prst="roundRect">
              <a:avLst>
                <a:gd name="adj" fmla="val 4673"/>
              </a:avLst>
            </a:prstGeom>
            <a:solidFill>
              <a:schemeClr val="lt1"/>
            </a:solidFill>
            <a:ln w="14288">
              <a:solidFill>
                <a:schemeClr val="accent4"/>
              </a:solidFill>
            </a:ln>
            <a:effectLst>
              <a:outerShdw blurRad="76200" dist="28575" dir="5400000" algn="ctr" rotWithShape="0">
                <a:srgbClr val="0B2E52">
                  <a:alpha val="6000"/>
                </a:srgbClr>
              </a:outerShdw>
            </a:effectLst>
          </p:spPr>
        </p:sp>
        <p:sp>
          <p:nvSpPr>
            <p:cNvPr id="7" name="Rectangle 7"/>
            <p:cNvSpPr/>
            <p:nvPr/>
          </p:nvSpPr>
          <p:spPr>
            <a:xfrm>
              <a:off x="609600" y="1428750"/>
              <a:ext cx="57150" cy="2038350"/>
            </a:xfrm>
            <a:prstGeom prst="roundRect">
              <a:avLst>
                <a:gd name="adj" fmla="val 50000"/>
              </a:avLst>
            </a:prstGeom>
            <a:solidFill>
              <a:schemeClr val="accent1"/>
            </a:solidFill>
            <a:ln>
              <a:noFill/>
            </a:ln>
          </p:spPr>
        </p:sp>
        <p:sp>
          <p:nvSpPr>
            <p:cNvPr id="8" name="TextBox 8"/>
            <p:cNvSpPr txBox="1"/>
            <p:nvPr/>
          </p:nvSpPr>
          <p:spPr>
            <a:xfrm>
              <a:off x="1118997" y="1666399"/>
              <a:ext cx="613629" cy="190690"/>
            </a:xfrm>
            <a:prstGeom prst="rect">
              <a:avLst/>
            </a:prstGeom>
            <a:noFill/>
            <a:ln>
              <a:noFill/>
            </a:ln>
          </p:spPr>
          <p:txBody>
            <a:bodyPr wrap="none" lIns="0" tIns="0" rIns="0" bIns="0" anchor="t" anchorCtr="0">
              <a:spAutoFit/>
            </a:bodyPr>
            <a:lstStyle/>
            <a:p>
              <a:pPr algn="l"/>
              <a:r>
                <a:rPr lang="en-US" sz="980" b="1" spc="90" dirty="0">
                  <a:solidFill>
                    <a:schemeClr val="accent2"/>
                  </a:solidFill>
                  <a:latin typeface="+mn-lt"/>
                  <a:ea typeface="+mn-ea"/>
                  <a:cs typeface="+mn-cs"/>
                </a:rPr>
                <a:t>THE NTK</a:t>
              </a:r>
            </a:p>
          </p:txBody>
        </p:sp>
        <p:sp>
          <p:nvSpPr>
            <p:cNvPr id="9" name="Ellipse 9"/>
            <p:cNvSpPr/>
            <p:nvPr/>
          </p:nvSpPr>
          <p:spPr>
            <a:xfrm>
              <a:off x="809625" y="1600200"/>
              <a:ext cx="247650" cy="247650"/>
            </a:xfrm>
            <a:prstGeom prst="ellipse">
              <a:avLst/>
            </a:prstGeom>
            <a:solidFill>
              <a:schemeClr val="accent1"/>
            </a:solidFill>
            <a:ln>
              <a:noFill/>
            </a:ln>
          </p:spPr>
        </p:sp>
        <p:sp>
          <p:nvSpPr>
            <p:cNvPr id="10" name="TextBox 10"/>
            <p:cNvSpPr txBox="1"/>
            <p:nvPr/>
          </p:nvSpPr>
          <p:spPr>
            <a:xfrm>
              <a:off x="884991" y="1658302"/>
              <a:ext cx="96919"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Georgia"/>
                  <a:ea typeface="Georgia"/>
                  <a:cs typeface="Georgia"/>
                </a:rPr>
                <a:t>1</a:t>
              </a:r>
            </a:p>
          </p:txBody>
        </p:sp>
        <p:sp>
          <p:nvSpPr>
            <p:cNvPr id="11" name="TextBox 11"/>
            <p:cNvSpPr txBox="1"/>
            <p:nvPr/>
          </p:nvSpPr>
          <p:spPr>
            <a:xfrm>
              <a:off x="830199" y="1925479"/>
              <a:ext cx="3455085"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A tool for infinite-width nets</a:t>
              </a:r>
            </a:p>
          </p:txBody>
        </p:sp>
        <p:sp>
          <p:nvSpPr>
            <p:cNvPr id="12" name="TextBox 12"/>
            <p:cNvSpPr txBox="1"/>
            <p:nvPr/>
          </p:nvSpPr>
          <p:spPr>
            <a:xfrm>
              <a:off x="832104" y="2308860"/>
              <a:ext cx="3870579"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The Neural Tangent Kernel has become a powerful</a:t>
              </a:r>
            </a:p>
          </p:txBody>
        </p:sp>
        <p:sp>
          <p:nvSpPr>
            <p:cNvPr id="13" name="TextBox 13"/>
            <p:cNvSpPr txBox="1"/>
            <p:nvPr/>
          </p:nvSpPr>
          <p:spPr>
            <a:xfrm>
              <a:off x="832104" y="2537460"/>
              <a:ext cx="353385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tool for understanding neural networks with</a:t>
              </a:r>
            </a:p>
          </p:txBody>
        </p:sp>
        <p:sp>
          <p:nvSpPr>
            <p:cNvPr id="14" name="TextBox 14"/>
            <p:cNvSpPr txBox="1"/>
            <p:nvPr/>
          </p:nvSpPr>
          <p:spPr>
            <a:xfrm>
              <a:off x="832104" y="2766060"/>
              <a:ext cx="229804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infinitely many hidden nodes.</a:t>
              </a:r>
            </a:p>
          </p:txBody>
        </p:sp>
        <p:sp>
          <p:nvSpPr>
            <p:cNvPr id="15" name="TextBox 15"/>
            <p:cNvSpPr txBox="1"/>
            <p:nvPr/>
          </p:nvSpPr>
          <p:spPr>
            <a:xfrm>
              <a:off x="832866" y="3163252"/>
              <a:ext cx="2948313" cy="205359"/>
            </a:xfrm>
            <a:prstGeom prst="rect">
              <a:avLst/>
            </a:prstGeom>
            <a:noFill/>
            <a:ln>
              <a:noFill/>
            </a:ln>
          </p:spPr>
          <p:txBody>
            <a:bodyPr wrap="none" lIns="0" tIns="0" rIns="0" bIns="0" anchor="t" anchorCtr="0">
              <a:spAutoFit/>
            </a:bodyPr>
            <a:lstStyle/>
            <a:p>
              <a:pPr algn="l"/>
              <a:r>
                <a:rPr lang="en-US" sz="1050" i="1" dirty="0">
                  <a:solidFill>
                    <a:schemeClr val="accent5"/>
                  </a:solidFill>
                  <a:latin typeface="+mn-lt"/>
                  <a:ea typeface="+mn-ea"/>
                  <a:cs typeface="+mn-cs"/>
                </a:rPr>
                <a:t>Training becomes exact kernel regression.</a:t>
              </a:r>
            </a:p>
          </p:txBody>
        </p:sp>
      </p:grpSp>
      <p:grpSp>
        <p:nvGrpSpPr>
          <p:cNvPr id="27" name="Group 27"/>
          <p:cNvGrpSpPr/>
          <p:nvPr/>
        </p:nvGrpSpPr>
        <p:grpSpPr>
          <a:xfrm>
            <a:off x="6229350" y="1428750"/>
            <a:ext cx="5353050" cy="2038350"/>
            <a:chOff x="6229350" y="1428750"/>
            <a:chExt cx="5353050" cy="2038350"/>
          </a:xfrm>
        </p:grpSpPr>
        <p:sp>
          <p:nvSpPr>
            <p:cNvPr id="17" name="Rectangle 17"/>
            <p:cNvSpPr/>
            <p:nvPr/>
          </p:nvSpPr>
          <p:spPr>
            <a:xfrm>
              <a:off x="6229350" y="1428750"/>
              <a:ext cx="5353050" cy="2038350"/>
            </a:xfrm>
            <a:prstGeom prst="roundRect">
              <a:avLst>
                <a:gd name="adj" fmla="val 4673"/>
              </a:avLst>
            </a:prstGeom>
            <a:solidFill>
              <a:schemeClr val="lt1"/>
            </a:solidFill>
            <a:ln w="14288">
              <a:solidFill>
                <a:schemeClr val="accent4"/>
              </a:solidFill>
            </a:ln>
            <a:effectLst>
              <a:outerShdw blurRad="76200" dist="28575" dir="5400000" algn="ctr" rotWithShape="0">
                <a:srgbClr val="0B2E52">
                  <a:alpha val="6000"/>
                </a:srgbClr>
              </a:outerShdw>
            </a:effectLst>
          </p:spPr>
        </p:sp>
        <p:sp>
          <p:nvSpPr>
            <p:cNvPr id="18" name="Rectangle 18"/>
            <p:cNvSpPr/>
            <p:nvPr/>
          </p:nvSpPr>
          <p:spPr>
            <a:xfrm>
              <a:off x="6229350" y="1428750"/>
              <a:ext cx="57150" cy="2038350"/>
            </a:xfrm>
            <a:prstGeom prst="roundRect">
              <a:avLst>
                <a:gd name="adj" fmla="val 50000"/>
              </a:avLst>
            </a:prstGeom>
            <a:solidFill>
              <a:schemeClr val="accent2"/>
            </a:solidFill>
            <a:ln>
              <a:noFill/>
            </a:ln>
          </p:spPr>
        </p:sp>
        <p:sp>
          <p:nvSpPr>
            <p:cNvPr id="19" name="TextBox 19"/>
            <p:cNvSpPr txBox="1"/>
            <p:nvPr/>
          </p:nvSpPr>
          <p:spPr>
            <a:xfrm>
              <a:off x="6738747" y="1666399"/>
              <a:ext cx="1632637" cy="190690"/>
            </a:xfrm>
            <a:prstGeom prst="rect">
              <a:avLst/>
            </a:prstGeom>
            <a:noFill/>
            <a:ln>
              <a:noFill/>
            </a:ln>
          </p:spPr>
          <p:txBody>
            <a:bodyPr wrap="none" lIns="0" tIns="0" rIns="0" bIns="0" anchor="t" anchorCtr="0">
              <a:spAutoFit/>
            </a:bodyPr>
            <a:lstStyle/>
            <a:p>
              <a:pPr algn="l"/>
              <a:r>
                <a:rPr lang="en-US" sz="980" b="1" spc="90" dirty="0">
                  <a:solidFill>
                    <a:schemeClr val="accent2"/>
                  </a:solidFill>
                  <a:latin typeface="+mn-lt"/>
                  <a:ea typeface="+mn-ea"/>
                  <a:cs typeface="+mn-cs"/>
                </a:rPr>
                <a:t>MANY ARCHITECTURES</a:t>
              </a:r>
            </a:p>
          </p:txBody>
        </p:sp>
        <p:sp>
          <p:nvSpPr>
            <p:cNvPr id="20" name="Ellipse 20"/>
            <p:cNvSpPr/>
            <p:nvPr/>
          </p:nvSpPr>
          <p:spPr>
            <a:xfrm>
              <a:off x="6429375" y="1600200"/>
              <a:ext cx="247650" cy="247650"/>
            </a:xfrm>
            <a:prstGeom prst="ellipse">
              <a:avLst/>
            </a:prstGeom>
            <a:solidFill>
              <a:schemeClr val="accent2"/>
            </a:solidFill>
            <a:ln>
              <a:noFill/>
            </a:ln>
          </p:spPr>
        </p:sp>
        <p:sp>
          <p:nvSpPr>
            <p:cNvPr id="21" name="TextBox 21"/>
            <p:cNvSpPr txBox="1"/>
            <p:nvPr/>
          </p:nvSpPr>
          <p:spPr>
            <a:xfrm>
              <a:off x="6504741" y="1658302"/>
              <a:ext cx="96919"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Georgia"/>
                  <a:ea typeface="Georgia"/>
                  <a:cs typeface="Georgia"/>
                </a:rPr>
                <a:t>2</a:t>
              </a:r>
            </a:p>
          </p:txBody>
        </p:sp>
        <p:sp>
          <p:nvSpPr>
            <p:cNvPr id="22" name="TextBox 22"/>
            <p:cNvSpPr txBox="1"/>
            <p:nvPr/>
          </p:nvSpPr>
          <p:spPr>
            <a:xfrm>
              <a:off x="6449949" y="1925479"/>
              <a:ext cx="3301549"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One kernel per architecture</a:t>
              </a:r>
            </a:p>
          </p:txBody>
        </p:sp>
        <p:sp>
          <p:nvSpPr>
            <p:cNvPr id="23" name="TextBox 23"/>
            <p:cNvSpPr txBox="1"/>
            <p:nvPr/>
          </p:nvSpPr>
          <p:spPr>
            <a:xfrm>
              <a:off x="6451854" y="2308860"/>
              <a:ext cx="3870469"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It has been derived for multi-layer perceptrons,</a:t>
              </a:r>
            </a:p>
          </p:txBody>
        </p:sp>
        <p:sp>
          <p:nvSpPr>
            <p:cNvPr id="24" name="TextBox 24"/>
            <p:cNvSpPr txBox="1"/>
            <p:nvPr/>
          </p:nvSpPr>
          <p:spPr>
            <a:xfrm>
              <a:off x="6451854" y="2537460"/>
              <a:ext cx="3606546"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convolutional networks, and many more, each</a:t>
              </a:r>
            </a:p>
          </p:txBody>
        </p:sp>
        <p:sp>
          <p:nvSpPr>
            <p:cNvPr id="25" name="TextBox 25"/>
            <p:cNvSpPr txBox="1"/>
            <p:nvPr/>
          </p:nvSpPr>
          <p:spPr>
            <a:xfrm>
              <a:off x="6451854" y="2766060"/>
              <a:ext cx="2532278"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yielding its own distinct kernel.</a:t>
              </a:r>
            </a:p>
          </p:txBody>
        </p:sp>
        <p:sp>
          <p:nvSpPr>
            <p:cNvPr id="26" name="TextBox 26"/>
            <p:cNvSpPr txBox="1"/>
            <p:nvPr/>
          </p:nvSpPr>
          <p:spPr>
            <a:xfrm>
              <a:off x="6452616" y="3163252"/>
              <a:ext cx="2524382" cy="205359"/>
            </a:xfrm>
            <a:prstGeom prst="rect">
              <a:avLst/>
            </a:prstGeom>
            <a:noFill/>
            <a:ln>
              <a:noFill/>
            </a:ln>
          </p:spPr>
          <p:txBody>
            <a:bodyPr wrap="none" lIns="0" tIns="0" rIns="0" bIns="0" anchor="t" anchorCtr="0">
              <a:spAutoFit/>
            </a:bodyPr>
            <a:lstStyle/>
            <a:p>
              <a:pPr algn="l"/>
              <a:r>
                <a:rPr lang="en-US" sz="1050" i="1" dirty="0">
                  <a:solidFill>
                    <a:schemeClr val="accent5"/>
                  </a:solidFill>
                  <a:latin typeface="+mn-lt"/>
                  <a:ea typeface="+mn-ea"/>
                  <a:cs typeface="+mn-cs"/>
                </a:rPr>
                <a:t>The architecture shapes the kernel.</a:t>
              </a:r>
            </a:p>
          </p:txBody>
        </p:sp>
      </p:grpSp>
      <p:grpSp>
        <p:nvGrpSpPr>
          <p:cNvPr id="38" name="Group 38"/>
          <p:cNvGrpSpPr/>
          <p:nvPr/>
        </p:nvGrpSpPr>
        <p:grpSpPr>
          <a:xfrm>
            <a:off x="609600" y="3676650"/>
            <a:ext cx="5353050" cy="2038350"/>
            <a:chOff x="609600" y="3676650"/>
            <a:chExt cx="5353050" cy="2038350"/>
          </a:xfrm>
        </p:grpSpPr>
        <p:sp>
          <p:nvSpPr>
            <p:cNvPr id="28" name="Rectangle 28"/>
            <p:cNvSpPr/>
            <p:nvPr/>
          </p:nvSpPr>
          <p:spPr>
            <a:xfrm>
              <a:off x="609600" y="3676650"/>
              <a:ext cx="5353050" cy="2038350"/>
            </a:xfrm>
            <a:prstGeom prst="roundRect">
              <a:avLst>
                <a:gd name="adj" fmla="val 4673"/>
              </a:avLst>
            </a:prstGeom>
            <a:solidFill>
              <a:schemeClr val="accent6"/>
            </a:solidFill>
            <a:ln w="14288">
              <a:solidFill>
                <a:schemeClr val="accent2"/>
              </a:solidFill>
            </a:ln>
            <a:effectLst>
              <a:outerShdw blurRad="76200" dist="28575" dir="5400000" algn="ctr" rotWithShape="0">
                <a:srgbClr val="0B2E52">
                  <a:alpha val="6000"/>
                </a:srgbClr>
              </a:outerShdw>
            </a:effectLst>
          </p:spPr>
        </p:sp>
        <p:sp>
          <p:nvSpPr>
            <p:cNvPr id="29" name="Rectangle 29"/>
            <p:cNvSpPr/>
            <p:nvPr/>
          </p:nvSpPr>
          <p:spPr>
            <a:xfrm>
              <a:off x="609600" y="3676650"/>
              <a:ext cx="57150" cy="2038350"/>
            </a:xfrm>
            <a:prstGeom prst="roundRect">
              <a:avLst>
                <a:gd name="adj" fmla="val 50000"/>
              </a:avLst>
            </a:prstGeom>
            <a:solidFill>
              <a:srgbClr val="C0392B"/>
            </a:solidFill>
            <a:ln>
              <a:noFill/>
            </a:ln>
          </p:spPr>
        </p:sp>
        <p:sp>
          <p:nvSpPr>
            <p:cNvPr id="30" name="TextBox 30"/>
            <p:cNvSpPr txBox="1"/>
            <p:nvPr/>
          </p:nvSpPr>
          <p:spPr>
            <a:xfrm>
              <a:off x="1118997" y="3914299"/>
              <a:ext cx="1429561" cy="190690"/>
            </a:xfrm>
            <a:prstGeom prst="rect">
              <a:avLst/>
            </a:prstGeom>
            <a:noFill/>
            <a:ln>
              <a:noFill/>
            </a:ln>
          </p:spPr>
          <p:txBody>
            <a:bodyPr wrap="none" lIns="0" tIns="0" rIns="0" bIns="0" anchor="t" anchorCtr="0">
              <a:spAutoFit/>
            </a:bodyPr>
            <a:lstStyle/>
            <a:p>
              <a:pPr algn="l"/>
              <a:r>
                <a:rPr lang="en-US" sz="980" b="1" spc="90" dirty="0">
                  <a:solidFill>
                    <a:srgbClr val="C0392B"/>
                  </a:solidFill>
                  <a:latin typeface="+mn-lt"/>
                  <a:ea typeface="+mn-ea"/>
                  <a:cs typeface="+mn-cs"/>
                </a:rPr>
                <a:t>THE MISSING PIECE</a:t>
              </a:r>
            </a:p>
          </p:txBody>
        </p:sp>
        <p:sp>
          <p:nvSpPr>
            <p:cNvPr id="31" name="Ellipse 31"/>
            <p:cNvSpPr/>
            <p:nvPr/>
          </p:nvSpPr>
          <p:spPr>
            <a:xfrm>
              <a:off x="809625" y="3848100"/>
              <a:ext cx="247650" cy="247650"/>
            </a:xfrm>
            <a:prstGeom prst="ellipse">
              <a:avLst/>
            </a:prstGeom>
            <a:solidFill>
              <a:srgbClr val="C0392B"/>
            </a:solidFill>
            <a:ln>
              <a:noFill/>
            </a:ln>
          </p:spPr>
        </p:sp>
        <p:sp>
          <p:nvSpPr>
            <p:cNvPr id="32" name="TextBox 32"/>
            <p:cNvSpPr txBox="1"/>
            <p:nvPr/>
          </p:nvSpPr>
          <p:spPr>
            <a:xfrm>
              <a:off x="884991" y="3906202"/>
              <a:ext cx="96919"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Georgia"/>
                  <a:ea typeface="Georgia"/>
                  <a:cs typeface="Georgia"/>
                </a:rPr>
                <a:t>3</a:t>
              </a:r>
            </a:p>
          </p:txBody>
        </p:sp>
        <p:sp>
          <p:nvSpPr>
            <p:cNvPr id="33" name="TextBox 33"/>
            <p:cNvSpPr txBox="1"/>
            <p:nvPr/>
          </p:nvSpPr>
          <p:spPr>
            <a:xfrm>
              <a:off x="830199" y="4192429"/>
              <a:ext cx="3135222"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No NTK for tree ensembles</a:t>
              </a:r>
            </a:p>
          </p:txBody>
        </p:sp>
        <p:sp>
          <p:nvSpPr>
            <p:cNvPr id="34" name="TextBox 34"/>
            <p:cNvSpPr txBox="1"/>
            <p:nvPr/>
          </p:nvSpPr>
          <p:spPr>
            <a:xfrm>
              <a:off x="832104" y="4594860"/>
              <a:ext cx="3612045"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Despite this breadth, no one had ever derived</a:t>
              </a:r>
            </a:p>
          </p:txBody>
        </p:sp>
        <p:sp>
          <p:nvSpPr>
            <p:cNvPr id="35" name="TextBox 35"/>
            <p:cNvSpPr txBox="1"/>
            <p:nvPr/>
          </p:nvSpPr>
          <p:spPr>
            <a:xfrm>
              <a:off x="832104" y="4823460"/>
              <a:ext cx="338861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a Neural Tangent Kernel for an ensemble of</a:t>
              </a:r>
            </a:p>
          </p:txBody>
        </p:sp>
        <p:sp>
          <p:nvSpPr>
            <p:cNvPr id="36" name="TextBox 36"/>
            <p:cNvSpPr txBox="1"/>
            <p:nvPr/>
          </p:nvSpPr>
          <p:spPr>
            <a:xfrm>
              <a:off x="832104" y="5052060"/>
              <a:ext cx="545287"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trees.</a:t>
              </a:r>
            </a:p>
          </p:txBody>
        </p:sp>
        <p:sp>
          <p:nvSpPr>
            <p:cNvPr id="37" name="TextBox 37"/>
            <p:cNvSpPr txBox="1"/>
            <p:nvPr/>
          </p:nvSpPr>
          <p:spPr>
            <a:xfrm>
              <a:off x="832866" y="5411152"/>
              <a:ext cx="2100316" cy="205359"/>
            </a:xfrm>
            <a:prstGeom prst="rect">
              <a:avLst/>
            </a:prstGeom>
            <a:noFill/>
            <a:ln>
              <a:noFill/>
            </a:ln>
          </p:spPr>
          <p:txBody>
            <a:bodyPr wrap="none" lIns="0" tIns="0" rIns="0" bIns="0" anchor="t" anchorCtr="0">
              <a:spAutoFit/>
            </a:bodyPr>
            <a:lstStyle/>
            <a:p>
              <a:pPr algn="l"/>
              <a:r>
                <a:rPr lang="en-US" sz="1050" i="1" dirty="0">
                  <a:solidFill>
                    <a:schemeClr val="accent5"/>
                  </a:solidFill>
                  <a:latin typeface="+mn-lt"/>
                  <a:ea typeface="+mn-ea"/>
                  <a:cs typeface="+mn-cs"/>
                </a:rPr>
                <a:t>Trees fell outside the theory.</a:t>
              </a:r>
            </a:p>
          </p:txBody>
        </p:sp>
      </p:grpSp>
      <p:grpSp>
        <p:nvGrpSpPr>
          <p:cNvPr id="49" name="Group 49"/>
          <p:cNvGrpSpPr/>
          <p:nvPr/>
        </p:nvGrpSpPr>
        <p:grpSpPr>
          <a:xfrm>
            <a:off x="6229350" y="3676650"/>
            <a:ext cx="5353050" cy="2038350"/>
            <a:chOff x="6229350" y="3676650"/>
            <a:chExt cx="5353050" cy="2038350"/>
          </a:xfrm>
        </p:grpSpPr>
        <p:sp>
          <p:nvSpPr>
            <p:cNvPr id="39" name="Rectangle 39"/>
            <p:cNvSpPr/>
            <p:nvPr/>
          </p:nvSpPr>
          <p:spPr>
            <a:xfrm>
              <a:off x="6229350" y="3676650"/>
              <a:ext cx="5353050" cy="2038350"/>
            </a:xfrm>
            <a:prstGeom prst="roundRect">
              <a:avLst>
                <a:gd name="adj" fmla="val 4673"/>
              </a:avLst>
            </a:prstGeom>
            <a:solidFill>
              <a:schemeClr val="accent1"/>
            </a:solidFill>
            <a:ln>
              <a:noFill/>
            </a:ln>
            <a:effectLst>
              <a:outerShdw blurRad="76200" dist="28575" dir="5400000" algn="ctr" rotWithShape="0">
                <a:srgbClr val="0B2E52">
                  <a:alpha val="6000"/>
                </a:srgbClr>
              </a:outerShdw>
            </a:effectLst>
          </p:spPr>
        </p:sp>
        <p:sp>
          <p:nvSpPr>
            <p:cNvPr id="40" name="Rectangle 40"/>
            <p:cNvSpPr/>
            <p:nvPr/>
          </p:nvSpPr>
          <p:spPr>
            <a:xfrm>
              <a:off x="6229350" y="3676650"/>
              <a:ext cx="57150" cy="2038350"/>
            </a:xfrm>
            <a:prstGeom prst="roundRect">
              <a:avLst>
                <a:gd name="adj" fmla="val 50000"/>
              </a:avLst>
            </a:prstGeom>
            <a:solidFill>
              <a:schemeClr val="accent3"/>
            </a:solidFill>
            <a:ln>
              <a:noFill/>
            </a:ln>
          </p:spPr>
        </p:sp>
        <p:sp>
          <p:nvSpPr>
            <p:cNvPr id="41" name="TextBox 41"/>
            <p:cNvSpPr txBox="1"/>
            <p:nvPr/>
          </p:nvSpPr>
          <p:spPr>
            <a:xfrm>
              <a:off x="6738747" y="3914299"/>
              <a:ext cx="913656" cy="190690"/>
            </a:xfrm>
            <a:prstGeom prst="rect">
              <a:avLst/>
            </a:prstGeom>
            <a:noFill/>
            <a:ln>
              <a:noFill/>
            </a:ln>
          </p:spPr>
          <p:txBody>
            <a:bodyPr wrap="none" lIns="0" tIns="0" rIns="0" bIns="0" anchor="t" anchorCtr="0">
              <a:spAutoFit/>
            </a:bodyPr>
            <a:lstStyle/>
            <a:p>
              <a:pPr algn="l"/>
              <a:r>
                <a:rPr lang="en-US" sz="980" b="1" spc="90" dirty="0">
                  <a:solidFill>
                    <a:schemeClr val="accent3"/>
                  </a:solidFill>
                  <a:latin typeface="+mn-lt"/>
                  <a:ea typeface="+mn-ea"/>
                  <a:cs typeface="+mn-cs"/>
                </a:rPr>
                <a:t>THE INSIGHT</a:t>
              </a:r>
            </a:p>
          </p:txBody>
        </p:sp>
        <p:sp>
          <p:nvSpPr>
            <p:cNvPr id="42" name="Ellipse 42"/>
            <p:cNvSpPr/>
            <p:nvPr/>
          </p:nvSpPr>
          <p:spPr>
            <a:xfrm>
              <a:off x="6429375" y="3848100"/>
              <a:ext cx="247650" cy="247650"/>
            </a:xfrm>
            <a:prstGeom prst="ellipse">
              <a:avLst/>
            </a:prstGeom>
            <a:solidFill>
              <a:schemeClr val="accent3"/>
            </a:solidFill>
            <a:ln>
              <a:noFill/>
            </a:ln>
          </p:spPr>
        </p:sp>
        <p:sp>
          <p:nvSpPr>
            <p:cNvPr id="43" name="TextBox 43"/>
            <p:cNvSpPr txBox="1"/>
            <p:nvPr/>
          </p:nvSpPr>
          <p:spPr>
            <a:xfrm>
              <a:off x="6504741" y="3906202"/>
              <a:ext cx="96919" cy="205359"/>
            </a:xfrm>
            <a:prstGeom prst="rect">
              <a:avLst/>
            </a:prstGeom>
            <a:noFill/>
            <a:ln>
              <a:noFill/>
            </a:ln>
          </p:spPr>
          <p:txBody>
            <a:bodyPr wrap="none" lIns="0" tIns="0" rIns="0" bIns="0" anchor="t" anchorCtr="0">
              <a:spAutoFit/>
            </a:bodyPr>
            <a:lstStyle/>
            <a:p>
              <a:pPr algn="ctr"/>
              <a:r>
                <a:rPr lang="en-US" sz="1050" b="1" dirty="0">
                  <a:solidFill>
                    <a:schemeClr val="accent1"/>
                  </a:solidFill>
                  <a:latin typeface="Georgia"/>
                  <a:ea typeface="Georgia"/>
                  <a:cs typeface="Georgia"/>
                </a:rPr>
                <a:t>4</a:t>
              </a:r>
            </a:p>
          </p:txBody>
        </p:sp>
        <p:sp>
          <p:nvSpPr>
            <p:cNvPr id="44" name="TextBox 44"/>
            <p:cNvSpPr txBox="1"/>
            <p:nvPr/>
          </p:nvSpPr>
          <p:spPr>
            <a:xfrm>
              <a:off x="6449949" y="4192429"/>
              <a:ext cx="4305796" cy="308039"/>
            </a:xfrm>
            <a:prstGeom prst="rect">
              <a:avLst/>
            </a:prstGeom>
            <a:noFill/>
            <a:ln>
              <a:noFill/>
            </a:ln>
          </p:spPr>
          <p:txBody>
            <a:bodyPr wrap="none" lIns="0" tIns="0" rIns="0" bIns="0" anchor="t" anchorCtr="0">
              <a:spAutoFit/>
            </a:bodyPr>
            <a:lstStyle/>
            <a:p>
              <a:pPr algn="l"/>
              <a:r>
                <a:rPr lang="en-US" sz="1580" b="1" dirty="0">
                  <a:solidFill>
                    <a:srgbClr val="FFFFFF"/>
                  </a:solidFill>
                  <a:latin typeface="+mj-lt"/>
                  <a:ea typeface="+mj-ea"/>
                  <a:cs typeface="+mj-cs"/>
                </a:rPr>
                <a:t>Soft trees are the natural next step</a:t>
              </a:r>
            </a:p>
          </p:txBody>
        </p:sp>
        <p:sp>
          <p:nvSpPr>
            <p:cNvPr id="45" name="TextBox 45"/>
            <p:cNvSpPr txBox="1"/>
            <p:nvPr/>
          </p:nvSpPr>
          <p:spPr>
            <a:xfrm>
              <a:off x="6451854" y="4594860"/>
              <a:ext cx="3652076" cy="234696"/>
            </a:xfrm>
            <a:prstGeom prst="rect">
              <a:avLst/>
            </a:prstGeom>
            <a:noFill/>
            <a:ln>
              <a:noFill/>
            </a:ln>
          </p:spPr>
          <p:txBody>
            <a:bodyPr wrap="none" lIns="0" tIns="0" rIns="0" bIns="0" anchor="t" anchorCtr="0">
              <a:spAutoFit/>
            </a:bodyPr>
            <a:lstStyle/>
            <a:p>
              <a:pPr algn="l"/>
              <a:r>
                <a:rPr lang="en-US" sz="1200" dirty="0">
                  <a:solidFill>
                    <a:srgbClr val="DBE3EE"/>
                  </a:solidFill>
                  <a:latin typeface="+mn-lt"/>
                  <a:ea typeface="+mn-ea"/>
                  <a:cs typeface="+mn-cs"/>
                </a:rPr>
                <a:t>Because soft trees inherit characteristics of</a:t>
              </a:r>
            </a:p>
          </p:txBody>
        </p:sp>
        <p:sp>
          <p:nvSpPr>
            <p:cNvPr id="46" name="TextBox 46"/>
            <p:cNvSpPr txBox="1"/>
            <p:nvPr/>
          </p:nvSpPr>
          <p:spPr>
            <a:xfrm>
              <a:off x="6451854" y="4823460"/>
              <a:ext cx="3445912" cy="234696"/>
            </a:xfrm>
            <a:prstGeom prst="rect">
              <a:avLst/>
            </a:prstGeom>
            <a:noFill/>
            <a:ln>
              <a:noFill/>
            </a:ln>
          </p:spPr>
          <p:txBody>
            <a:bodyPr wrap="none" lIns="0" tIns="0" rIns="0" bIns="0" anchor="t" anchorCtr="0">
              <a:spAutoFit/>
            </a:bodyPr>
            <a:lstStyle/>
            <a:p>
              <a:pPr algn="l"/>
              <a:r>
                <a:rPr lang="en-US" sz="1200" dirty="0">
                  <a:solidFill>
                    <a:srgbClr val="DBE3EE"/>
                  </a:solidFill>
                  <a:latin typeface="+mn-lt"/>
                  <a:ea typeface="+mn-ea"/>
                  <a:cs typeface="+mn-cs"/>
                </a:rPr>
                <a:t>neural networks, the NTK framework is the</a:t>
              </a:r>
            </a:p>
          </p:txBody>
        </p:sp>
        <p:sp>
          <p:nvSpPr>
            <p:cNvPr id="47" name="TextBox 47"/>
            <p:cNvSpPr txBox="1"/>
            <p:nvPr/>
          </p:nvSpPr>
          <p:spPr>
            <a:xfrm>
              <a:off x="6451854" y="5052060"/>
              <a:ext cx="1797253" cy="234696"/>
            </a:xfrm>
            <a:prstGeom prst="rect">
              <a:avLst/>
            </a:prstGeom>
            <a:noFill/>
            <a:ln>
              <a:noFill/>
            </a:ln>
          </p:spPr>
          <p:txBody>
            <a:bodyPr wrap="none" lIns="0" tIns="0" rIns="0" bIns="0" anchor="t" anchorCtr="0">
              <a:spAutoFit/>
            </a:bodyPr>
            <a:lstStyle/>
            <a:p>
              <a:pPr algn="l"/>
              <a:r>
                <a:rPr lang="en-US" sz="1200" dirty="0">
                  <a:solidFill>
                    <a:srgbClr val="DBE3EE"/>
                  </a:solidFill>
                  <a:latin typeface="+mn-lt"/>
                  <a:ea typeface="+mn-ea"/>
                  <a:cs typeface="+mn-cs"/>
                </a:rPr>
                <a:t>natural lens for them.</a:t>
              </a:r>
            </a:p>
          </p:txBody>
        </p:sp>
        <p:sp>
          <p:nvSpPr>
            <p:cNvPr id="48" name="TextBox 48"/>
            <p:cNvSpPr txBox="1"/>
            <p:nvPr/>
          </p:nvSpPr>
          <p:spPr>
            <a:xfrm>
              <a:off x="6452616" y="5411152"/>
              <a:ext cx="4051099" cy="205359"/>
            </a:xfrm>
            <a:prstGeom prst="rect">
              <a:avLst/>
            </a:prstGeom>
            <a:noFill/>
            <a:ln>
              <a:noFill/>
            </a:ln>
          </p:spPr>
          <p:txBody>
            <a:bodyPr wrap="none" lIns="0" tIns="0" rIns="0" bIns="0" anchor="t" anchorCtr="0">
              <a:spAutoFit/>
            </a:bodyPr>
            <a:lstStyle/>
            <a:p>
              <a:pPr algn="l"/>
              <a:r>
                <a:rPr lang="en-US" sz="1050" i="1" dirty="0">
                  <a:solidFill>
                    <a:schemeClr val="accent3"/>
                  </a:solidFill>
                  <a:latin typeface="+mn-lt"/>
                  <a:ea typeface="+mn-ea"/>
                  <a:cs typeface="+mn-cs"/>
                </a:rPr>
                <a:t>Goal: a closed-form kernel for infinitely many soft trees.</a:t>
              </a:r>
            </a:p>
          </p:txBody>
        </p:sp>
      </p:grpSp>
      <p:sp>
        <p:nvSpPr>
          <p:cNvPr id="50" name="TextBox 50"/>
          <p:cNvSpPr txBox="1"/>
          <p:nvPr/>
        </p:nvSpPr>
        <p:spPr>
          <a:xfrm>
            <a:off x="11207836" y="6578441"/>
            <a:ext cx="379326"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03 / 10</a:t>
            </a:r>
          </a:p>
        </p:txBody>
      </p:sp>
      <p:sp>
        <p:nvSpPr>
          <p:cNvPr id="51" name="cue_s03_c1_neural_tangent_kernel_become_powerfu" title="cue_s03_c1_neural_tangent_kernel_become_powerfu" descr="cue_s03_c1_neural_tangent_kernel_become_powerfu The Neural Tangent Kernel has become a powerful tool for understanding neural networks with infinitely many hidden nodes."/>
          <p:cNvSpPr/>
          <p:nvPr/>
        </p:nvSpPr>
        <p:spPr>
          <a:xfrm>
            <a:off x="609600" y="1428521"/>
            <a:ext cx="5353507"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3_c2_been_derived_multi_layer_perceptrons" title="cue_s03_c2_been_derived_multi_layer_perceptrons" descr="cue_s03_c2_been_derived_multi_layer_perceptrons It has been derived for multi-layer perceptrons, convolutional networks, and more, each yielding its own distinct kernel."/>
          <p:cNvSpPr/>
          <p:nvPr/>
        </p:nvSpPr>
        <p:spPr>
          <a:xfrm>
            <a:off x="6228892" y="1428521"/>
            <a:ext cx="5353507"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3_c3_but_one_had_derived_ntk" title="cue_s03_c3_but_one_had_derived_ntk" descr="cue_s03_c3_but_one_had_derived_ntk But no one had derived an NTK for tree ensembles."/>
          <p:cNvSpPr/>
          <p:nvPr/>
        </p:nvSpPr>
        <p:spPr>
          <a:xfrm>
            <a:off x="609600" y="3676573"/>
            <a:ext cx="5353507"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3_c4_because_soft_trees_inherit_character" title="cue_s03_c4_because_soft_trees_inherit_character" descr="cue_s03_c4_because_soft_trees_inherit_character Because soft trees inherit characteristics of neural networks, the authors saw the NTK framework as the natural lens, seeking a closed-form kernel for infinitely many soft trees."/>
          <p:cNvSpPr/>
          <p:nvPr/>
        </p:nvSpPr>
        <p:spPr>
          <a:xfrm>
            <a:off x="6228892" y="3676573"/>
            <a:ext cx="5353507"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609600" y="533400"/>
            <a:ext cx="6078148" cy="675989"/>
            <a:chOff x="609600" y="533400"/>
            <a:chExt cx="6078148" cy="675989"/>
          </a:xfrm>
        </p:grpSpPr>
        <p:sp>
          <p:nvSpPr>
            <p:cNvPr id="2" name="Rectangle 2"/>
            <p:cNvSpPr/>
            <p:nvPr/>
          </p:nvSpPr>
          <p:spPr>
            <a:xfrm>
              <a:off x="609600" y="533400"/>
              <a:ext cx="57150" cy="381000"/>
            </a:xfrm>
            <a:prstGeom prst="rect">
              <a:avLst/>
            </a:prstGeom>
            <a:solidFill>
              <a:schemeClr val="accent2"/>
            </a:solidFill>
            <a:ln>
              <a:noFill/>
            </a:ln>
          </p:spPr>
        </p:sp>
        <p:sp>
          <p:nvSpPr>
            <p:cNvPr id="3" name="TextBox 3"/>
            <p:cNvSpPr txBox="1"/>
            <p:nvPr/>
          </p:nvSpPr>
          <p:spPr>
            <a:xfrm>
              <a:off x="825246" y="562928"/>
              <a:ext cx="5862502"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One kernel, four contributions</a:t>
              </a:r>
            </a:p>
          </p:txBody>
        </p:sp>
        <p:sp>
          <p:nvSpPr>
            <p:cNvPr id="4" name="TextBox 4"/>
            <p:cNvSpPr txBox="1"/>
            <p:nvPr/>
          </p:nvSpPr>
          <p:spPr>
            <a:xfrm>
              <a:off x="833247" y="1018699"/>
              <a:ext cx="3357034"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CONTRIBUTION · WHAT THE TNTK DELIVERS</a:t>
              </a:r>
            </a:p>
          </p:txBody>
        </p:sp>
      </p:grpSp>
      <p:grpSp>
        <p:nvGrpSpPr>
          <p:cNvPr id="13" name="Group 13"/>
          <p:cNvGrpSpPr/>
          <p:nvPr/>
        </p:nvGrpSpPr>
        <p:grpSpPr>
          <a:xfrm>
            <a:off x="609600" y="1428750"/>
            <a:ext cx="3429000" cy="1714500"/>
            <a:chOff x="609600" y="1428750"/>
            <a:chExt cx="3429000" cy="1714500"/>
          </a:xfrm>
        </p:grpSpPr>
        <p:sp>
          <p:nvSpPr>
            <p:cNvPr id="6" name="Rectangle 6"/>
            <p:cNvSpPr/>
            <p:nvPr/>
          </p:nvSpPr>
          <p:spPr>
            <a:xfrm>
              <a:off x="609600" y="1428750"/>
              <a:ext cx="3429000" cy="1714500"/>
            </a:xfrm>
            <a:prstGeom prst="roundRect">
              <a:avLst>
                <a:gd name="adj" fmla="val 5556"/>
              </a:avLst>
            </a:prstGeom>
            <a:solidFill>
              <a:schemeClr val="accent1"/>
            </a:solidFill>
            <a:ln>
              <a:noFill/>
            </a:ln>
            <a:effectLst>
              <a:outerShdw blurRad="76200" dist="28575" dir="5400000" algn="ctr" rotWithShape="0">
                <a:srgbClr val="0B2E52">
                  <a:alpha val="6000"/>
                </a:srgbClr>
              </a:outerShdw>
            </a:effectLst>
          </p:spPr>
        </p:sp>
        <p:sp>
          <p:nvSpPr>
            <p:cNvPr id="7" name="Rectangle 7"/>
            <p:cNvSpPr/>
            <p:nvPr/>
          </p:nvSpPr>
          <p:spPr>
            <a:xfrm>
              <a:off x="609600" y="1428750"/>
              <a:ext cx="57150" cy="1714500"/>
            </a:xfrm>
            <a:prstGeom prst="roundRect">
              <a:avLst>
                <a:gd name="adj" fmla="val 50000"/>
              </a:avLst>
            </a:prstGeom>
            <a:solidFill>
              <a:schemeClr val="accent3"/>
            </a:solidFill>
            <a:ln>
              <a:noFill/>
            </a:ln>
          </p:spPr>
        </p:sp>
        <p:sp>
          <p:nvSpPr>
            <p:cNvPr id="8" name="TextBox 8"/>
            <p:cNvSpPr txBox="1"/>
            <p:nvPr/>
          </p:nvSpPr>
          <p:spPr>
            <a:xfrm>
              <a:off x="833247" y="1685449"/>
              <a:ext cx="950248" cy="190690"/>
            </a:xfrm>
            <a:prstGeom prst="rect">
              <a:avLst/>
            </a:prstGeom>
            <a:noFill/>
            <a:ln>
              <a:noFill/>
            </a:ln>
          </p:spPr>
          <p:txBody>
            <a:bodyPr wrap="none" lIns="0" tIns="0" rIns="0" bIns="0" anchor="t" anchorCtr="0">
              <a:spAutoFit/>
            </a:bodyPr>
            <a:lstStyle/>
            <a:p>
              <a:pPr algn="l"/>
              <a:r>
                <a:rPr lang="en-US" sz="980" b="1" spc="90" dirty="0">
                  <a:solidFill>
                    <a:schemeClr val="accent3"/>
                  </a:solidFill>
                  <a:latin typeface="+mn-lt"/>
                  <a:ea typeface="+mn-ea"/>
                  <a:cs typeface="+mn-cs"/>
                </a:rPr>
                <a:t>AT A GLANCE</a:t>
              </a:r>
            </a:p>
          </p:txBody>
        </p:sp>
        <p:sp>
          <p:nvSpPr>
            <p:cNvPr id="9" name="TextBox 9"/>
            <p:cNvSpPr txBox="1"/>
            <p:nvPr/>
          </p:nvSpPr>
          <p:spPr>
            <a:xfrm>
              <a:off x="819150" y="1895475"/>
              <a:ext cx="407746" cy="876300"/>
            </a:xfrm>
            <a:prstGeom prst="rect">
              <a:avLst/>
            </a:prstGeom>
            <a:noFill/>
            <a:ln>
              <a:noFill/>
            </a:ln>
          </p:spPr>
          <p:txBody>
            <a:bodyPr wrap="none" lIns="0" tIns="0" rIns="0" bIns="0" anchor="t" anchorCtr="0">
              <a:spAutoFit/>
            </a:bodyPr>
            <a:lstStyle/>
            <a:p>
              <a:pPr algn="l"/>
              <a:r>
                <a:rPr lang="en-US" sz="4500" b="1" dirty="0">
                  <a:solidFill>
                    <a:srgbClr val="FFFFFF"/>
                  </a:solidFill>
                  <a:latin typeface="+mj-lt"/>
                  <a:ea typeface="+mj-ea"/>
                  <a:cs typeface="+mj-cs"/>
                </a:rPr>
                <a:t>4</a:t>
              </a:r>
            </a:p>
          </p:txBody>
        </p:sp>
        <p:sp>
          <p:nvSpPr>
            <p:cNvPr id="10" name="TextBox 10"/>
            <p:cNvSpPr txBox="1"/>
            <p:nvPr/>
          </p:nvSpPr>
          <p:spPr>
            <a:xfrm>
              <a:off x="1515618" y="2203132"/>
              <a:ext cx="1655529"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j-lt"/>
                  <a:ea typeface="+mj-ea"/>
                  <a:cs typeface="+mj-cs"/>
                </a:rPr>
                <a:t>contributions</a:t>
              </a:r>
            </a:p>
          </p:txBody>
        </p:sp>
        <p:sp>
          <p:nvSpPr>
            <p:cNvPr id="11" name="TextBox 11"/>
            <p:cNvSpPr txBox="1"/>
            <p:nvPr/>
          </p:nvSpPr>
          <p:spPr>
            <a:xfrm>
              <a:off x="832485" y="2640806"/>
              <a:ext cx="2225276" cy="220028"/>
            </a:xfrm>
            <a:prstGeom prst="rect">
              <a:avLst/>
            </a:prstGeom>
            <a:noFill/>
            <a:ln>
              <a:noFill/>
            </a:ln>
          </p:spPr>
          <p:txBody>
            <a:bodyPr wrap="none" lIns="0" tIns="0" rIns="0" bIns="0" anchor="t" anchorCtr="0">
              <a:spAutoFit/>
            </a:bodyPr>
            <a:lstStyle/>
            <a:p>
              <a:pPr algn="l"/>
              <a:r>
                <a:rPr lang="en-US" sz="1120" dirty="0">
                  <a:solidFill>
                    <a:srgbClr val="DBE3EE"/>
                  </a:solidFill>
                  <a:latin typeface="+mn-lt"/>
                  <a:ea typeface="+mn-ea"/>
                  <a:cs typeface="+mn-cs"/>
                </a:rPr>
                <a:t>The paper makes four distinct</a:t>
              </a:r>
            </a:p>
          </p:txBody>
        </p:sp>
        <p:sp>
          <p:nvSpPr>
            <p:cNvPr id="12" name="TextBox 12"/>
            <p:cNvSpPr txBox="1"/>
            <p:nvPr/>
          </p:nvSpPr>
          <p:spPr>
            <a:xfrm>
              <a:off x="832485" y="2850356"/>
              <a:ext cx="1979036" cy="220028"/>
            </a:xfrm>
            <a:prstGeom prst="rect">
              <a:avLst/>
            </a:prstGeom>
            <a:noFill/>
            <a:ln>
              <a:noFill/>
            </a:ln>
          </p:spPr>
          <p:txBody>
            <a:bodyPr wrap="none" lIns="0" tIns="0" rIns="0" bIns="0" anchor="t" anchorCtr="0">
              <a:spAutoFit/>
            </a:bodyPr>
            <a:lstStyle/>
            <a:p>
              <a:pPr algn="l"/>
              <a:r>
                <a:rPr lang="en-US" sz="1120" dirty="0">
                  <a:solidFill>
                    <a:srgbClr val="DBE3EE"/>
                  </a:solidFill>
                  <a:latin typeface="+mn-lt"/>
                  <a:ea typeface="+mn-ea"/>
                  <a:cs typeface="+mn-cs"/>
                </a:rPr>
                <a:t>theoretical contributions.</a:t>
              </a:r>
            </a:p>
          </p:txBody>
        </p:sp>
      </p:grpSp>
      <p:grpSp>
        <p:nvGrpSpPr>
          <p:cNvPr id="21" name="Group 21"/>
          <p:cNvGrpSpPr/>
          <p:nvPr/>
        </p:nvGrpSpPr>
        <p:grpSpPr>
          <a:xfrm>
            <a:off x="4267200" y="1428750"/>
            <a:ext cx="7315200" cy="1714500"/>
            <a:chOff x="4267200" y="1428750"/>
            <a:chExt cx="7315200" cy="1714500"/>
          </a:xfrm>
        </p:grpSpPr>
        <p:sp>
          <p:nvSpPr>
            <p:cNvPr id="14" name="Rectangle 14"/>
            <p:cNvSpPr/>
            <p:nvPr/>
          </p:nvSpPr>
          <p:spPr>
            <a:xfrm>
              <a:off x="4267200" y="1428750"/>
              <a:ext cx="7315200" cy="1714500"/>
            </a:xfrm>
            <a:prstGeom prst="roundRect">
              <a:avLst>
                <a:gd name="adj" fmla="val 5556"/>
              </a:avLst>
            </a:prstGeom>
            <a:solidFill>
              <a:schemeClr val="lt1"/>
            </a:solidFill>
            <a:ln w="14288">
              <a:solidFill>
                <a:schemeClr val="accent4"/>
              </a:solidFill>
            </a:ln>
            <a:effectLst>
              <a:outerShdw blurRad="76200" dist="28575" dir="5400000" algn="ctr" rotWithShape="0">
                <a:srgbClr val="0B2E52">
                  <a:alpha val="6000"/>
                </a:srgbClr>
              </a:outerShdw>
            </a:effectLst>
          </p:spPr>
        </p:sp>
        <p:sp>
          <p:nvSpPr>
            <p:cNvPr id="15" name="Rectangle 15"/>
            <p:cNvSpPr/>
            <p:nvPr/>
          </p:nvSpPr>
          <p:spPr>
            <a:xfrm>
              <a:off x="4267200" y="1428750"/>
              <a:ext cx="57150" cy="1714500"/>
            </a:xfrm>
            <a:prstGeom prst="roundRect">
              <a:avLst>
                <a:gd name="adj" fmla="val 50000"/>
              </a:avLst>
            </a:prstGeom>
            <a:solidFill>
              <a:schemeClr val="accent2"/>
            </a:solidFill>
            <a:ln>
              <a:noFill/>
            </a:ln>
          </p:spPr>
        </p:sp>
        <p:sp>
          <p:nvSpPr>
            <p:cNvPr id="16" name="TextBox 16"/>
            <p:cNvSpPr txBox="1"/>
            <p:nvPr/>
          </p:nvSpPr>
          <p:spPr>
            <a:xfrm>
              <a:off x="4490847" y="1647349"/>
              <a:ext cx="3588316" cy="190690"/>
            </a:xfrm>
            <a:prstGeom prst="rect">
              <a:avLst/>
            </a:prstGeom>
            <a:noFill/>
            <a:ln>
              <a:noFill/>
            </a:ln>
          </p:spPr>
          <p:txBody>
            <a:bodyPr wrap="none" lIns="0" tIns="0" rIns="0" bIns="0" anchor="t" anchorCtr="0">
              <a:spAutoFit/>
            </a:bodyPr>
            <a:lstStyle/>
            <a:p>
              <a:pPr algn="l"/>
              <a:r>
                <a:rPr lang="en-US" sz="980" b="1" spc="90" dirty="0">
                  <a:solidFill>
                    <a:schemeClr val="accent2"/>
                  </a:solidFill>
                  <a:latin typeface="+mn-lt"/>
                  <a:ea typeface="+mn-ea"/>
                  <a:cs typeface="+mn-cs"/>
                </a:rPr>
                <a:t>1 · DERIVE THE KERNEL &amp; PROVE CONVERGENCE</a:t>
              </a:r>
            </a:p>
          </p:txBody>
        </p:sp>
        <p:sp>
          <p:nvSpPr>
            <p:cNvPr id="17" name="TextBox 17"/>
            <p:cNvSpPr txBox="1"/>
            <p:nvPr/>
          </p:nvSpPr>
          <p:spPr>
            <a:xfrm>
              <a:off x="4488180" y="1876425"/>
              <a:ext cx="5563533"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j-lt"/>
                  <a:ea typeface="+mj-ea"/>
                  <a:cs typeface="+mj-cs"/>
                </a:rPr>
                <a:t>The TNTK for infinitely many perfect binary trees</a:t>
              </a:r>
            </a:p>
          </p:txBody>
        </p:sp>
        <p:sp>
          <p:nvSpPr>
            <p:cNvPr id="18" name="TextBox 18"/>
            <p:cNvSpPr txBox="1"/>
            <p:nvPr/>
          </p:nvSpPr>
          <p:spPr>
            <a:xfrm>
              <a:off x="4489704" y="2213610"/>
              <a:ext cx="655178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Derived at initialization for trees of arbitrary depth, the kernel stays essentially</a:t>
              </a:r>
            </a:p>
          </p:txBody>
        </p:sp>
        <p:sp>
          <p:nvSpPr>
            <p:cNvPr id="19" name="TextBox 19"/>
            <p:cNvSpPr txBox="1"/>
            <p:nvPr/>
          </p:nvSpPr>
          <p:spPr>
            <a:xfrm>
              <a:off x="4489704" y="2442210"/>
              <a:ext cx="6091456"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constant during training. That lets learning be analyzed as kernel regression</a:t>
              </a:r>
            </a:p>
          </p:txBody>
        </p:sp>
        <p:sp>
          <p:nvSpPr>
            <p:cNvPr id="20" name="TextBox 20"/>
            <p:cNvSpPr txBox="1"/>
            <p:nvPr/>
          </p:nvSpPr>
          <p:spPr>
            <a:xfrm>
              <a:off x="4489704" y="2670810"/>
              <a:ext cx="3251149"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and yields a proof of global convergence.</a:t>
              </a:r>
            </a:p>
          </p:txBody>
        </p:sp>
      </p:grpSp>
      <p:grpSp>
        <p:nvGrpSpPr>
          <p:cNvPr id="29" name="Group 29"/>
          <p:cNvGrpSpPr/>
          <p:nvPr/>
        </p:nvGrpSpPr>
        <p:grpSpPr>
          <a:xfrm>
            <a:off x="609600" y="3352800"/>
            <a:ext cx="5353050" cy="2362200"/>
            <a:chOff x="609600" y="3352800"/>
            <a:chExt cx="5353050" cy="2362200"/>
          </a:xfrm>
        </p:grpSpPr>
        <p:sp>
          <p:nvSpPr>
            <p:cNvPr id="22" name="Rectangle 22"/>
            <p:cNvSpPr/>
            <p:nvPr/>
          </p:nvSpPr>
          <p:spPr>
            <a:xfrm>
              <a:off x="609600" y="3352800"/>
              <a:ext cx="5353050" cy="2362200"/>
            </a:xfrm>
            <a:prstGeom prst="roundRect">
              <a:avLst>
                <a:gd name="adj" fmla="val 4032"/>
              </a:avLst>
            </a:prstGeom>
            <a:solidFill>
              <a:schemeClr val="lt1"/>
            </a:solidFill>
            <a:ln w="14288">
              <a:solidFill>
                <a:schemeClr val="accent4"/>
              </a:solidFill>
            </a:ln>
            <a:effectLst>
              <a:outerShdw blurRad="76200" dist="28575" dir="5400000" algn="ctr" rotWithShape="0">
                <a:srgbClr val="0B2E52">
                  <a:alpha val="6000"/>
                </a:srgbClr>
              </a:outerShdw>
            </a:effectLst>
          </p:spPr>
        </p:sp>
        <p:sp>
          <p:nvSpPr>
            <p:cNvPr id="23" name="Rectangle 23"/>
            <p:cNvSpPr/>
            <p:nvPr/>
          </p:nvSpPr>
          <p:spPr>
            <a:xfrm>
              <a:off x="609600" y="3352800"/>
              <a:ext cx="57150" cy="2362200"/>
            </a:xfrm>
            <a:prstGeom prst="roundRect">
              <a:avLst>
                <a:gd name="adj" fmla="val 50000"/>
              </a:avLst>
            </a:prstGeom>
            <a:solidFill>
              <a:schemeClr val="accent1"/>
            </a:solidFill>
            <a:ln>
              <a:noFill/>
            </a:ln>
          </p:spPr>
        </p:sp>
        <p:sp>
          <p:nvSpPr>
            <p:cNvPr id="24" name="TextBox 24"/>
            <p:cNvSpPr txBox="1"/>
            <p:nvPr/>
          </p:nvSpPr>
          <p:spPr>
            <a:xfrm>
              <a:off x="833247" y="3571399"/>
              <a:ext cx="2563825" cy="190690"/>
            </a:xfrm>
            <a:prstGeom prst="rect">
              <a:avLst/>
            </a:prstGeom>
            <a:noFill/>
            <a:ln>
              <a:noFill/>
            </a:ln>
          </p:spPr>
          <p:txBody>
            <a:bodyPr wrap="none" lIns="0" tIns="0" rIns="0" bIns="0" anchor="t" anchorCtr="0">
              <a:spAutoFit/>
            </a:bodyPr>
            <a:lstStyle/>
            <a:p>
              <a:pPr algn="l"/>
              <a:r>
                <a:rPr lang="en-US" sz="980" b="1" spc="90" dirty="0">
                  <a:solidFill>
                    <a:schemeClr val="accent1"/>
                  </a:solidFill>
                  <a:latin typeface="+mn-lt"/>
                  <a:ea typeface="+mn-ea"/>
                  <a:cs typeface="+mn-cs"/>
                </a:rPr>
                <a:t>2 · OBLIVIOUS EQUALS ORDINARY</a:t>
              </a:r>
            </a:p>
          </p:txBody>
        </p:sp>
        <p:sp>
          <p:nvSpPr>
            <p:cNvPr id="25" name="TextBox 25"/>
            <p:cNvSpPr txBox="1"/>
            <p:nvPr/>
          </p:nvSpPr>
          <p:spPr>
            <a:xfrm>
              <a:off x="830580" y="3819525"/>
              <a:ext cx="3627120"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j-lt"/>
                  <a:ea typeface="+mj-ea"/>
                  <a:cs typeface="+mj-cs"/>
                </a:rPr>
                <a:t>Parameter sharing costs nothing</a:t>
              </a:r>
            </a:p>
          </p:txBody>
        </p:sp>
        <p:sp>
          <p:nvSpPr>
            <p:cNvPr id="26" name="TextBox 26"/>
            <p:cNvSpPr txBox="1"/>
            <p:nvPr/>
          </p:nvSpPr>
          <p:spPr>
            <a:xfrm>
              <a:off x="832104" y="4175760"/>
              <a:ext cx="377303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Oblivious ensembles share splitting rules within</a:t>
              </a:r>
            </a:p>
          </p:txBody>
        </p:sp>
        <p:sp>
          <p:nvSpPr>
            <p:cNvPr id="27" name="TextBox 27"/>
            <p:cNvSpPr txBox="1"/>
            <p:nvPr/>
          </p:nvSpPr>
          <p:spPr>
            <a:xfrm>
              <a:off x="832104" y="4404360"/>
              <a:ext cx="459172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each depth, as in NODE, yet converge to the same kernel.</a:t>
              </a:r>
            </a:p>
          </p:txBody>
        </p:sp>
        <p:pic>
          <p:nvPicPr>
            <p:cNvPr id="28" name="Image 28"/>
            <p:cNvPicPr>
              <a:picLocks noChangeAspect="1"/>
            </p:cNvPicPr>
            <p:nvPr/>
          </p:nvPicPr>
          <p:blipFill>
            <a:blip r:embed="rId2"/>
            <a:stretch>
              <a:fillRect/>
            </a:stretch>
          </p:blipFill>
          <p:spPr>
            <a:xfrm>
              <a:off x="1246645" y="4667250"/>
              <a:ext cx="3945610" cy="990600"/>
            </a:xfrm>
            <a:prstGeom prst="rect">
              <a:avLst/>
            </a:prstGeom>
          </p:spPr>
        </p:pic>
      </p:grpSp>
      <p:grpSp>
        <p:nvGrpSpPr>
          <p:cNvPr id="39" name="Group 39"/>
          <p:cNvGrpSpPr/>
          <p:nvPr/>
        </p:nvGrpSpPr>
        <p:grpSpPr>
          <a:xfrm>
            <a:off x="6229350" y="3352800"/>
            <a:ext cx="5353050" cy="2362200"/>
            <a:chOff x="6229350" y="3352800"/>
            <a:chExt cx="5353050" cy="2362200"/>
          </a:xfrm>
        </p:grpSpPr>
        <p:sp>
          <p:nvSpPr>
            <p:cNvPr id="30" name="Rectangle 30"/>
            <p:cNvSpPr/>
            <p:nvPr/>
          </p:nvSpPr>
          <p:spPr>
            <a:xfrm>
              <a:off x="6229350" y="3352800"/>
              <a:ext cx="5353050" cy="2362200"/>
            </a:xfrm>
            <a:prstGeom prst="roundRect">
              <a:avLst>
                <a:gd name="adj" fmla="val 4032"/>
              </a:avLst>
            </a:prstGeom>
            <a:solidFill>
              <a:schemeClr val="accent6"/>
            </a:solidFill>
            <a:ln w="14288">
              <a:solidFill>
                <a:schemeClr val="accent2"/>
              </a:solidFill>
            </a:ln>
            <a:effectLst>
              <a:outerShdw blurRad="76200" dist="28575" dir="5400000" algn="ctr" rotWithShape="0">
                <a:srgbClr val="0B2E52">
                  <a:alpha val="6000"/>
                </a:srgbClr>
              </a:outerShdw>
            </a:effectLst>
          </p:spPr>
        </p:sp>
        <p:sp>
          <p:nvSpPr>
            <p:cNvPr id="31" name="Rectangle 31"/>
            <p:cNvSpPr/>
            <p:nvPr/>
          </p:nvSpPr>
          <p:spPr>
            <a:xfrm>
              <a:off x="6229350" y="3352800"/>
              <a:ext cx="57150" cy="2362200"/>
            </a:xfrm>
            <a:prstGeom prst="roundRect">
              <a:avLst>
                <a:gd name="adj" fmla="val 50000"/>
              </a:avLst>
            </a:prstGeom>
            <a:solidFill>
              <a:srgbClr val="C0392B"/>
            </a:solidFill>
            <a:ln>
              <a:noFill/>
            </a:ln>
          </p:spPr>
        </p:sp>
        <p:sp>
          <p:nvSpPr>
            <p:cNvPr id="32" name="TextBox 32"/>
            <p:cNvSpPr txBox="1"/>
            <p:nvPr/>
          </p:nvSpPr>
          <p:spPr>
            <a:xfrm>
              <a:off x="6452997" y="3571399"/>
              <a:ext cx="2390022" cy="190690"/>
            </a:xfrm>
            <a:prstGeom prst="rect">
              <a:avLst/>
            </a:prstGeom>
            <a:noFill/>
            <a:ln>
              <a:noFill/>
            </a:ln>
          </p:spPr>
          <p:txBody>
            <a:bodyPr wrap="none" lIns="0" tIns="0" rIns="0" bIns="0" anchor="t" anchorCtr="0">
              <a:spAutoFit/>
            </a:bodyPr>
            <a:lstStyle/>
            <a:p>
              <a:pPr algn="l"/>
              <a:r>
                <a:rPr lang="en-US" sz="980" b="1" spc="90" dirty="0">
                  <a:solidFill>
                    <a:srgbClr val="C0392B"/>
                  </a:solidFill>
                  <a:latin typeface="+mn-lt"/>
                  <a:ea typeface="+mn-ea"/>
                  <a:cs typeface="+mn-cs"/>
                </a:rPr>
                <a:t>3 &amp; 4 · SHAPE AND DEGENERACY</a:t>
              </a:r>
            </a:p>
          </p:txBody>
        </p:sp>
        <p:sp>
          <p:nvSpPr>
            <p:cNvPr id="33" name="TextBox 33"/>
            <p:cNvSpPr txBox="1"/>
            <p:nvPr/>
          </p:nvSpPr>
          <p:spPr>
            <a:xfrm>
              <a:off x="6450330" y="3819525"/>
              <a:ext cx="2888108"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j-lt"/>
                  <a:ea typeface="+mj-ea"/>
                  <a:cs typeface="+mj-cs"/>
                </a:rPr>
                <a:t>From linear to degenerate</a:t>
              </a:r>
            </a:p>
          </p:txBody>
        </p:sp>
        <p:sp>
          <p:nvSpPr>
            <p:cNvPr id="34" name="TextBox 34"/>
            <p:cNvSpPr txBox="1"/>
            <p:nvPr/>
          </p:nvSpPr>
          <p:spPr>
            <a:xfrm>
              <a:off x="6451854" y="4175760"/>
              <a:ext cx="3684968"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Third,</a:t>
              </a:r>
              <a:r>
                <a:rPr lang="en-US" sz="1200" dirty="0">
                  <a:solidFill>
                    <a:schemeClr val="dk2"/>
                  </a:solidFill>
                  <a:latin typeface="+mn-lt"/>
                  <a:ea typeface="+mn-ea"/>
                  <a:cs typeface="+mn-cs"/>
                </a:rPr>
                <a:t xml:space="preserve"> it characterizes the decision function:</a:t>
              </a:r>
            </a:p>
          </p:txBody>
        </p:sp>
        <p:sp>
          <p:nvSpPr>
            <p:cNvPr id="35" name="TextBox 35"/>
            <p:cNvSpPr txBox="1"/>
            <p:nvPr/>
          </p:nvSpPr>
          <p:spPr>
            <a:xfrm>
              <a:off x="6451854" y="4404360"/>
              <a:ext cx="3202686"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nearly linear in the basic case, and more</a:t>
              </a:r>
            </a:p>
          </p:txBody>
        </p:sp>
        <p:sp>
          <p:nvSpPr>
            <p:cNvPr id="36" name="TextBox 36"/>
            <p:cNvSpPr txBox="1"/>
            <p:nvPr/>
          </p:nvSpPr>
          <p:spPr>
            <a:xfrm>
              <a:off x="6451854" y="4632960"/>
              <a:ext cx="2879598"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nonlinear as splits are made harder.</a:t>
              </a:r>
            </a:p>
          </p:txBody>
        </p:sp>
        <p:sp>
          <p:nvSpPr>
            <p:cNvPr id="37" name="TextBox 37"/>
            <p:cNvSpPr txBox="1"/>
            <p:nvPr/>
          </p:nvSpPr>
          <p:spPr>
            <a:xfrm>
              <a:off x="6451854" y="4975860"/>
              <a:ext cx="3619074" cy="234696"/>
            </a:xfrm>
            <a:prstGeom prst="rect">
              <a:avLst/>
            </a:prstGeom>
            <a:noFill/>
            <a:ln>
              <a:noFill/>
            </a:ln>
          </p:spPr>
          <p:txBody>
            <a:bodyPr wrap="none" lIns="0" tIns="0" rIns="0" bIns="0" anchor="t" anchorCtr="0">
              <a:spAutoFit/>
            </a:bodyPr>
            <a:lstStyle/>
            <a:p>
              <a:pPr algn="l"/>
              <a:r>
                <a:rPr lang="en-US" sz="1200" b="1" dirty="0">
                  <a:solidFill>
                    <a:srgbClr val="C0392B"/>
                  </a:solidFill>
                  <a:latin typeface="+mn-lt"/>
                  <a:ea typeface="+mn-ea"/>
                  <a:cs typeface="+mn-cs"/>
                </a:rPr>
                <a:t>Fourth,</a:t>
              </a:r>
              <a:r>
                <a:rPr lang="en-US" sz="1200" dirty="0">
                  <a:solidFill>
                    <a:schemeClr val="dk2"/>
                  </a:solidFill>
                  <a:latin typeface="+mn-lt"/>
                  <a:ea typeface="+mn-ea"/>
                  <a:cs typeface="+mn-cs"/>
                </a:rPr>
                <a:t xml:space="preserve"> it uncovers a degeneracy where very</a:t>
              </a:r>
            </a:p>
          </p:txBody>
        </p:sp>
        <p:sp>
          <p:nvSpPr>
            <p:cNvPr id="38" name="TextBox 38"/>
            <p:cNvSpPr txBox="1"/>
            <p:nvPr/>
          </p:nvSpPr>
          <p:spPr>
            <a:xfrm>
              <a:off x="6451854" y="5204460"/>
              <a:ext cx="3865016"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deep trees flatten the kernel to near-constant.</a:t>
              </a:r>
            </a:p>
          </p:txBody>
        </p:sp>
      </p:grpSp>
      <p:sp>
        <p:nvSpPr>
          <p:cNvPr id="40" name="TextBox 40"/>
          <p:cNvSpPr txBox="1"/>
          <p:nvPr/>
        </p:nvSpPr>
        <p:spPr>
          <a:xfrm>
            <a:off x="11207836" y="6578441"/>
            <a:ext cx="379326"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04 / 10</a:t>
            </a:r>
          </a:p>
        </p:txBody>
      </p:sp>
      <p:sp>
        <p:nvSpPr>
          <p:cNvPr id="41" name="cue_s04_c1_makes_four_contributions" title="cue_s04_c1_makes_four_contributions" descr="cue_s04_c1_makes_four_contributions The paper makes four contributions."/>
          <p:cNvSpPr/>
          <p:nvPr/>
        </p:nvSpPr>
        <p:spPr>
          <a:xfrm>
            <a:off x="609600" y="1428521"/>
            <a:ext cx="3428390" cy="1714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4_c2_first_derives_tree_neural_tangent" title="cue_s04_c2_first_derives_tree_neural_tangent" descr="cue_s04_c2_first_derives_tree_neural_tangent First, it derives the Tree Neural Tangent Kernel at initialization for infinitely many perfect binary trees of arbitrary depth, and proves the kernel stays essentially constant during training, enabling analysis as kernel regression and a proof of global conve"/>
          <p:cNvSpPr/>
          <p:nvPr/>
        </p:nvSpPr>
        <p:spPr>
          <a:xfrm>
            <a:off x="4267200" y="1428521"/>
            <a:ext cx="7315200" cy="1714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4_c3_second_shows_oblivious_ensembles_whi" title="cue_s04_c3_second_shows_oblivious_ensembles_whi" descr="cue_s04_c3_second_shows_oblivious_ensembles_whi Second, it shows oblivious ensembles, which share splitting rules within each depth as in NODE, converge to the very same kernel."/>
          <p:cNvSpPr/>
          <p:nvPr/>
        </p:nvSpPr>
        <p:spPr>
          <a:xfrm>
            <a:off x="609600" y="3352876"/>
            <a:ext cx="5353507" cy="23618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4_c4_third_characterizes_decision_functio" title="cue_s04_c4_third_characterizes_decision_functio" descr="cue_s04_c4_third_characterizes_decision_functio Third, it characterizes the decision function, nearly linear in the basic case and more nonlinear as splits harden. Fourth, it uncovers a degeneracy where deep trees flatten the kernel."/>
          <p:cNvSpPr/>
          <p:nvPr/>
        </p:nvSpPr>
        <p:spPr>
          <a:xfrm>
            <a:off x="6228892" y="3352876"/>
            <a:ext cx="5353507" cy="23618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609600" y="533400"/>
            <a:ext cx="8021486" cy="675989"/>
            <a:chOff x="609600" y="533400"/>
            <a:chExt cx="8021486" cy="675989"/>
          </a:xfrm>
        </p:grpSpPr>
        <p:sp>
          <p:nvSpPr>
            <p:cNvPr id="2" name="Rectangle 2"/>
            <p:cNvSpPr/>
            <p:nvPr/>
          </p:nvSpPr>
          <p:spPr>
            <a:xfrm>
              <a:off x="609600" y="533400"/>
              <a:ext cx="57150" cy="381000"/>
            </a:xfrm>
            <a:prstGeom prst="rect">
              <a:avLst/>
            </a:prstGeom>
            <a:solidFill>
              <a:schemeClr val="accent2"/>
            </a:solidFill>
            <a:ln>
              <a:noFill/>
            </a:ln>
          </p:spPr>
        </p:sp>
        <p:sp>
          <p:nvSpPr>
            <p:cNvPr id="3" name="TextBox 3"/>
            <p:cNvSpPr txBox="1"/>
            <p:nvPr/>
          </p:nvSpPr>
          <p:spPr>
            <a:xfrm>
              <a:off x="825246" y="562928"/>
              <a:ext cx="7805840"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Take the trees to infinity, in closed form</a:t>
              </a:r>
            </a:p>
          </p:txBody>
        </p:sp>
        <p:sp>
          <p:nvSpPr>
            <p:cNvPr id="4" name="TextBox 4"/>
            <p:cNvSpPr txBox="1"/>
            <p:nvPr/>
          </p:nvSpPr>
          <p:spPr>
            <a:xfrm>
              <a:off x="833247" y="1018699"/>
              <a:ext cx="4351917"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METHOD · DERIVING THE TREE NEURAL TANGENT KERNEL</a:t>
              </a:r>
            </a:p>
          </p:txBody>
        </p:sp>
      </p:grpSp>
      <p:grpSp>
        <p:nvGrpSpPr>
          <p:cNvPr id="13" name="Group 13"/>
          <p:cNvGrpSpPr/>
          <p:nvPr/>
        </p:nvGrpSpPr>
        <p:grpSpPr>
          <a:xfrm>
            <a:off x="609600" y="1428750"/>
            <a:ext cx="5353050" cy="2038350"/>
            <a:chOff x="609600" y="1428750"/>
            <a:chExt cx="5353050" cy="2038350"/>
          </a:xfrm>
        </p:grpSpPr>
        <p:sp>
          <p:nvSpPr>
            <p:cNvPr id="6" name="Rectangle 6"/>
            <p:cNvSpPr/>
            <p:nvPr/>
          </p:nvSpPr>
          <p:spPr>
            <a:xfrm>
              <a:off x="609600" y="1428750"/>
              <a:ext cx="5353050" cy="2038350"/>
            </a:xfrm>
            <a:prstGeom prst="roundRect">
              <a:avLst>
                <a:gd name="adj" fmla="val 4673"/>
              </a:avLst>
            </a:prstGeom>
            <a:solidFill>
              <a:schemeClr val="accent1"/>
            </a:solidFill>
            <a:ln>
              <a:noFill/>
            </a:ln>
            <a:effectLst>
              <a:outerShdw blurRad="76200" dist="28575" dir="5400000" algn="ctr" rotWithShape="0">
                <a:srgbClr val="0B2E52">
                  <a:alpha val="6000"/>
                </a:srgbClr>
              </a:outerShdw>
            </a:effectLst>
          </p:spPr>
        </p:sp>
        <p:sp>
          <p:nvSpPr>
            <p:cNvPr id="7" name="Rectangle 7"/>
            <p:cNvSpPr/>
            <p:nvPr/>
          </p:nvSpPr>
          <p:spPr>
            <a:xfrm>
              <a:off x="609600" y="1428750"/>
              <a:ext cx="57150" cy="2038350"/>
            </a:xfrm>
            <a:prstGeom prst="roundRect">
              <a:avLst>
                <a:gd name="adj" fmla="val 50000"/>
              </a:avLst>
            </a:prstGeom>
            <a:solidFill>
              <a:schemeClr val="accent3"/>
            </a:solidFill>
            <a:ln>
              <a:noFill/>
            </a:ln>
          </p:spPr>
        </p:sp>
        <p:sp>
          <p:nvSpPr>
            <p:cNvPr id="8" name="TextBox 8"/>
            <p:cNvSpPr txBox="1"/>
            <p:nvPr/>
          </p:nvSpPr>
          <p:spPr>
            <a:xfrm>
              <a:off x="833247" y="1666399"/>
              <a:ext cx="2196099" cy="190690"/>
            </a:xfrm>
            <a:prstGeom prst="rect">
              <a:avLst/>
            </a:prstGeom>
            <a:noFill/>
            <a:ln>
              <a:noFill/>
            </a:ln>
          </p:spPr>
          <p:txBody>
            <a:bodyPr wrap="none" lIns="0" tIns="0" rIns="0" bIns="0" anchor="t" anchorCtr="0">
              <a:spAutoFit/>
            </a:bodyPr>
            <a:lstStyle/>
            <a:p>
              <a:pPr algn="l"/>
              <a:r>
                <a:rPr lang="en-US" sz="980" b="1" spc="90" dirty="0">
                  <a:solidFill>
                    <a:schemeClr val="accent3"/>
                  </a:solidFill>
                  <a:latin typeface="+mn-lt"/>
                  <a:ea typeface="+mn-ea"/>
                  <a:cs typeface="+mn-cs"/>
                </a:rPr>
                <a:t>STEP 1 · INFINITE ENSEMBLE</a:t>
              </a:r>
            </a:p>
          </p:txBody>
        </p:sp>
        <p:sp>
          <p:nvSpPr>
            <p:cNvPr id="9" name="TextBox 9"/>
            <p:cNvSpPr txBox="1"/>
            <p:nvPr/>
          </p:nvSpPr>
          <p:spPr>
            <a:xfrm>
              <a:off x="819150" y="2017395"/>
              <a:ext cx="1770957" cy="762000"/>
            </a:xfrm>
            <a:prstGeom prst="rect">
              <a:avLst/>
            </a:prstGeom>
            <a:noFill/>
            <a:ln>
              <a:noFill/>
            </a:ln>
          </p:spPr>
          <p:txBody>
            <a:bodyPr wrap="none" lIns="0" tIns="0" rIns="0" bIns="0" anchor="t" anchorCtr="0">
              <a:spAutoFit/>
            </a:bodyPr>
            <a:lstStyle/>
            <a:p>
              <a:pPr algn="l"/>
              <a:r>
                <a:rPr lang="en-US" sz="3900" b="1" dirty="0">
                  <a:solidFill>
                    <a:srgbClr val="FFFFFF"/>
                  </a:solidFill>
                  <a:latin typeface="+mj-lt"/>
                  <a:ea typeface="+mj-ea"/>
                  <a:cs typeface="+mj-cs"/>
                </a:rPr>
                <a:t>M → ∞</a:t>
              </a:r>
            </a:p>
          </p:txBody>
        </p:sp>
        <p:sp>
          <p:nvSpPr>
            <p:cNvPr id="10" name="TextBox 10"/>
            <p:cNvSpPr txBox="1"/>
            <p:nvPr/>
          </p:nvSpPr>
          <p:spPr>
            <a:xfrm>
              <a:off x="832104" y="2727960"/>
              <a:ext cx="3442626" cy="234696"/>
            </a:xfrm>
            <a:prstGeom prst="rect">
              <a:avLst/>
            </a:prstGeom>
            <a:noFill/>
            <a:ln>
              <a:noFill/>
            </a:ln>
          </p:spPr>
          <p:txBody>
            <a:bodyPr wrap="none" lIns="0" tIns="0" rIns="0" bIns="0" anchor="t" anchorCtr="0">
              <a:spAutoFit/>
            </a:bodyPr>
            <a:lstStyle/>
            <a:p>
              <a:pPr algn="l"/>
              <a:r>
                <a:rPr lang="en-US" sz="1200" dirty="0">
                  <a:solidFill>
                    <a:srgbClr val="DBE3EE"/>
                  </a:solidFill>
                  <a:latin typeface="+mn-lt"/>
                  <a:ea typeface="+mn-ea"/>
                  <a:cs typeface="+mn-cs"/>
                </a:rPr>
                <a:t>The method takes the number of soft trees</a:t>
              </a:r>
            </a:p>
          </p:txBody>
        </p:sp>
        <p:sp>
          <p:nvSpPr>
            <p:cNvPr id="11" name="TextBox 11"/>
            <p:cNvSpPr txBox="1"/>
            <p:nvPr/>
          </p:nvSpPr>
          <p:spPr>
            <a:xfrm>
              <a:off x="832104" y="2956560"/>
              <a:ext cx="2168804" cy="234696"/>
            </a:xfrm>
            <a:prstGeom prst="rect">
              <a:avLst/>
            </a:prstGeom>
            <a:noFill/>
            <a:ln>
              <a:noFill/>
            </a:ln>
          </p:spPr>
          <p:txBody>
            <a:bodyPr wrap="none" lIns="0" tIns="0" rIns="0" bIns="0" anchor="t" anchorCtr="0">
              <a:spAutoFit/>
            </a:bodyPr>
            <a:lstStyle/>
            <a:p>
              <a:pPr algn="l"/>
              <a:r>
                <a:rPr lang="en-US" sz="1200" dirty="0">
                  <a:solidFill>
                    <a:srgbClr val="DBE3EE"/>
                  </a:solidFill>
                  <a:latin typeface="+mn-lt"/>
                  <a:ea typeface="+mn-ea"/>
                  <a:cs typeface="+mn-cs"/>
                </a:rPr>
                <a:t>in the ensemble to infinity.</a:t>
              </a:r>
            </a:p>
          </p:txBody>
        </p:sp>
        <p:sp>
          <p:nvSpPr>
            <p:cNvPr id="12" name="TextBox 12"/>
            <p:cNvSpPr txBox="1"/>
            <p:nvPr/>
          </p:nvSpPr>
          <p:spPr>
            <a:xfrm>
              <a:off x="832866" y="3239452"/>
              <a:ext cx="3422048" cy="205359"/>
            </a:xfrm>
            <a:prstGeom prst="rect">
              <a:avLst/>
            </a:prstGeom>
            <a:noFill/>
            <a:ln>
              <a:noFill/>
            </a:ln>
          </p:spPr>
          <p:txBody>
            <a:bodyPr wrap="none" lIns="0" tIns="0" rIns="0" bIns="0" anchor="t" anchorCtr="0">
              <a:spAutoFit/>
            </a:bodyPr>
            <a:lstStyle/>
            <a:p>
              <a:pPr algn="l"/>
              <a:r>
                <a:rPr lang="en-US" sz="1050" i="1" dirty="0">
                  <a:solidFill>
                    <a:schemeClr val="accent3"/>
                  </a:solidFill>
                  <a:latin typeface="+mn-lt"/>
                  <a:ea typeface="+mn-ea"/>
                  <a:cs typeface="+mn-cs"/>
                </a:rPr>
                <a:t>The randomness averages out into a fixed kernel.</a:t>
              </a:r>
            </a:p>
          </p:txBody>
        </p:sp>
      </p:grpSp>
      <p:grpSp>
        <p:nvGrpSpPr>
          <p:cNvPr id="23" name="Group 23"/>
          <p:cNvGrpSpPr/>
          <p:nvPr/>
        </p:nvGrpSpPr>
        <p:grpSpPr>
          <a:xfrm>
            <a:off x="6229350" y="1428750"/>
            <a:ext cx="5353050" cy="2067306"/>
            <a:chOff x="6229350" y="1428750"/>
            <a:chExt cx="5353050" cy="2067306"/>
          </a:xfrm>
        </p:grpSpPr>
        <p:sp>
          <p:nvSpPr>
            <p:cNvPr id="14" name="Rectangle 14"/>
            <p:cNvSpPr/>
            <p:nvPr/>
          </p:nvSpPr>
          <p:spPr>
            <a:xfrm>
              <a:off x="6229350" y="1428750"/>
              <a:ext cx="5353050" cy="2038350"/>
            </a:xfrm>
            <a:prstGeom prst="roundRect">
              <a:avLst>
                <a:gd name="adj" fmla="val 4673"/>
              </a:avLst>
            </a:prstGeom>
            <a:solidFill>
              <a:schemeClr val="lt1"/>
            </a:solidFill>
            <a:ln w="14288">
              <a:solidFill>
                <a:schemeClr val="accent4"/>
              </a:solidFill>
            </a:ln>
            <a:effectLst>
              <a:outerShdw blurRad="76200" dist="28575" dir="5400000" algn="ctr" rotWithShape="0">
                <a:srgbClr val="0B2E52">
                  <a:alpha val="6000"/>
                </a:srgbClr>
              </a:outerShdw>
            </a:effectLst>
          </p:spPr>
        </p:sp>
        <p:sp>
          <p:nvSpPr>
            <p:cNvPr id="15" name="Rectangle 15"/>
            <p:cNvSpPr/>
            <p:nvPr/>
          </p:nvSpPr>
          <p:spPr>
            <a:xfrm>
              <a:off x="6229350" y="1428750"/>
              <a:ext cx="57150" cy="2038350"/>
            </a:xfrm>
            <a:prstGeom prst="roundRect">
              <a:avLst>
                <a:gd name="adj" fmla="val 50000"/>
              </a:avLst>
            </a:prstGeom>
            <a:solidFill>
              <a:schemeClr val="accent2"/>
            </a:solidFill>
            <a:ln>
              <a:noFill/>
            </a:ln>
          </p:spPr>
        </p:sp>
        <p:sp>
          <p:nvSpPr>
            <p:cNvPr id="16" name="TextBox 16"/>
            <p:cNvSpPr txBox="1"/>
            <p:nvPr/>
          </p:nvSpPr>
          <p:spPr>
            <a:xfrm>
              <a:off x="6452997" y="1666399"/>
              <a:ext cx="2626020" cy="190690"/>
            </a:xfrm>
            <a:prstGeom prst="rect">
              <a:avLst/>
            </a:prstGeom>
            <a:noFill/>
            <a:ln>
              <a:noFill/>
            </a:ln>
          </p:spPr>
          <p:txBody>
            <a:bodyPr wrap="none" lIns="0" tIns="0" rIns="0" bIns="0" anchor="t" anchorCtr="0">
              <a:spAutoFit/>
            </a:bodyPr>
            <a:lstStyle/>
            <a:p>
              <a:pPr algn="l"/>
              <a:r>
                <a:rPr lang="en-US" sz="980" b="1" spc="90" dirty="0">
                  <a:solidFill>
                    <a:schemeClr val="accent2"/>
                  </a:solidFill>
                  <a:latin typeface="+mn-lt"/>
                  <a:ea typeface="+mn-ea"/>
                  <a:cs typeface="+mn-cs"/>
                </a:rPr>
                <a:t>STEP 2 · A DETERMINISTIC KERNEL</a:t>
              </a:r>
            </a:p>
          </p:txBody>
        </p:sp>
        <p:sp>
          <p:nvSpPr>
            <p:cNvPr id="17" name="TextBox 17"/>
            <p:cNvSpPr txBox="1"/>
            <p:nvPr/>
          </p:nvSpPr>
          <p:spPr>
            <a:xfrm>
              <a:off x="6450330" y="1914525"/>
              <a:ext cx="2697061"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j-lt"/>
                  <a:ea typeface="+mj-ea"/>
                  <a:cs typeface="+mj-cs"/>
                </a:rPr>
                <a:t>Two interpretable parts</a:t>
              </a:r>
            </a:p>
          </p:txBody>
        </p:sp>
        <p:sp>
          <p:nvSpPr>
            <p:cNvPr id="18" name="Rectangle 18"/>
            <p:cNvSpPr/>
            <p:nvPr/>
          </p:nvSpPr>
          <p:spPr>
            <a:xfrm>
              <a:off x="6457950" y="2228850"/>
              <a:ext cx="4895850" cy="438150"/>
            </a:xfrm>
            <a:prstGeom prst="roundRect">
              <a:avLst>
                <a:gd name="adj" fmla="val 17391"/>
              </a:avLst>
            </a:prstGeom>
            <a:solidFill>
              <a:schemeClr val="lt2"/>
            </a:solidFill>
            <a:ln w="9525">
              <a:solidFill>
                <a:schemeClr val="accent4"/>
              </a:solidFill>
            </a:ln>
          </p:spPr>
        </p:sp>
        <p:sp>
          <p:nvSpPr>
            <p:cNvPr id="19" name="TextBox 19"/>
            <p:cNvSpPr txBox="1"/>
            <p:nvPr/>
          </p:nvSpPr>
          <p:spPr>
            <a:xfrm>
              <a:off x="6602730" y="2343150"/>
              <a:ext cx="2319282"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Georgia"/>
                  <a:ea typeface="Georgia"/>
                  <a:cs typeface="Georgia"/>
                </a:rPr>
                <a:t>Θ(d) = Θsplit + Θleaf</a:t>
              </a:r>
            </a:p>
          </p:txBody>
        </p:sp>
        <p:sp>
          <p:nvSpPr>
            <p:cNvPr id="20" name="TextBox 20"/>
            <p:cNvSpPr txBox="1"/>
            <p:nvPr/>
          </p:nvSpPr>
          <p:spPr>
            <a:xfrm>
              <a:off x="6451854" y="2804160"/>
              <a:ext cx="3652647"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For perfect binary soft trees of depth d, the</a:t>
              </a:r>
            </a:p>
          </p:txBody>
        </p:sp>
        <p:sp>
          <p:nvSpPr>
            <p:cNvPr id="21" name="TextBox 21"/>
            <p:cNvSpPr txBox="1"/>
            <p:nvPr/>
          </p:nvSpPr>
          <p:spPr>
            <a:xfrm>
              <a:off x="6451854" y="3032760"/>
              <a:ext cx="3743858"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kernel splits into a contribution from the inner</a:t>
              </a:r>
            </a:p>
          </p:txBody>
        </p:sp>
        <p:sp>
          <p:nvSpPr>
            <p:cNvPr id="22" name="TextBox 22"/>
            <p:cNvSpPr txBox="1"/>
            <p:nvPr/>
          </p:nvSpPr>
          <p:spPr>
            <a:xfrm>
              <a:off x="6451854" y="3261360"/>
              <a:ext cx="3194609"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splitting nodes and one from the leaves.</a:t>
              </a:r>
            </a:p>
          </p:txBody>
        </p:sp>
      </p:grpSp>
      <p:grpSp>
        <p:nvGrpSpPr>
          <p:cNvPr id="33" name="Group 33"/>
          <p:cNvGrpSpPr/>
          <p:nvPr/>
        </p:nvGrpSpPr>
        <p:grpSpPr>
          <a:xfrm>
            <a:off x="609600" y="3676650"/>
            <a:ext cx="5353050" cy="2038350"/>
            <a:chOff x="609600" y="3676650"/>
            <a:chExt cx="5353050" cy="2038350"/>
          </a:xfrm>
        </p:grpSpPr>
        <p:sp>
          <p:nvSpPr>
            <p:cNvPr id="24" name="Rectangle 24"/>
            <p:cNvSpPr/>
            <p:nvPr/>
          </p:nvSpPr>
          <p:spPr>
            <a:xfrm>
              <a:off x="609600" y="3676650"/>
              <a:ext cx="5353050" cy="2038350"/>
            </a:xfrm>
            <a:prstGeom prst="roundRect">
              <a:avLst>
                <a:gd name="adj" fmla="val 4673"/>
              </a:avLst>
            </a:prstGeom>
            <a:solidFill>
              <a:schemeClr val="lt1"/>
            </a:solidFill>
            <a:ln w="14288">
              <a:solidFill>
                <a:schemeClr val="accent4"/>
              </a:solidFill>
            </a:ln>
            <a:effectLst>
              <a:outerShdw blurRad="76200" dist="28575" dir="5400000" algn="ctr" rotWithShape="0">
                <a:srgbClr val="0B2E52">
                  <a:alpha val="6000"/>
                </a:srgbClr>
              </a:outerShdw>
            </a:effectLst>
          </p:spPr>
        </p:sp>
        <p:sp>
          <p:nvSpPr>
            <p:cNvPr id="25" name="Rectangle 25"/>
            <p:cNvSpPr/>
            <p:nvPr/>
          </p:nvSpPr>
          <p:spPr>
            <a:xfrm>
              <a:off x="609600" y="3676650"/>
              <a:ext cx="57150" cy="2038350"/>
            </a:xfrm>
            <a:prstGeom prst="roundRect">
              <a:avLst>
                <a:gd name="adj" fmla="val 50000"/>
              </a:avLst>
            </a:prstGeom>
            <a:solidFill>
              <a:schemeClr val="accent1"/>
            </a:solidFill>
            <a:ln>
              <a:noFill/>
            </a:ln>
          </p:spPr>
        </p:sp>
        <p:sp>
          <p:nvSpPr>
            <p:cNvPr id="26" name="TextBox 26"/>
            <p:cNvSpPr txBox="1"/>
            <p:nvPr/>
          </p:nvSpPr>
          <p:spPr>
            <a:xfrm>
              <a:off x="833247" y="3895249"/>
              <a:ext cx="2421130" cy="190690"/>
            </a:xfrm>
            <a:prstGeom prst="rect">
              <a:avLst/>
            </a:prstGeom>
            <a:noFill/>
            <a:ln>
              <a:noFill/>
            </a:ln>
          </p:spPr>
          <p:txBody>
            <a:bodyPr wrap="none" lIns="0" tIns="0" rIns="0" bIns="0" anchor="t" anchorCtr="0">
              <a:spAutoFit/>
            </a:bodyPr>
            <a:lstStyle/>
            <a:p>
              <a:pPr algn="l"/>
              <a:r>
                <a:rPr lang="en-US" sz="980" b="1" spc="90" dirty="0">
                  <a:solidFill>
                    <a:schemeClr val="accent1"/>
                  </a:solidFill>
                  <a:latin typeface="+mn-lt"/>
                  <a:ea typeface="+mn-ea"/>
                  <a:cs typeface="+mn-cs"/>
                </a:rPr>
                <a:t>STEP 3 · CLOSED-FORM SPLITS</a:t>
              </a:r>
            </a:p>
          </p:txBody>
        </p:sp>
        <p:sp>
          <p:nvSpPr>
            <p:cNvPr id="27" name="TextBox 27"/>
            <p:cNvSpPr txBox="1"/>
            <p:nvPr/>
          </p:nvSpPr>
          <p:spPr>
            <a:xfrm>
              <a:off x="830580" y="4143375"/>
              <a:ext cx="4401763"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j-lt"/>
                  <a:ea typeface="+mj-ea"/>
                  <a:cs typeface="+mj-cs"/>
                </a:rPr>
                <a:t>A scaled error function, sharpened by α</a:t>
              </a:r>
            </a:p>
          </p:txBody>
        </p:sp>
        <p:sp>
          <p:nvSpPr>
            <p:cNvPr id="28" name="TextBox 28"/>
            <p:cNvSpPr txBox="1"/>
            <p:nvPr/>
          </p:nvSpPr>
          <p:spPr>
            <a:xfrm>
              <a:off x="832104" y="4518660"/>
              <a:ext cx="3490849"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Each soft split is a scaled error function, a</a:t>
              </a:r>
            </a:p>
          </p:txBody>
        </p:sp>
        <p:sp>
          <p:nvSpPr>
            <p:cNvPr id="29" name="TextBox 29"/>
            <p:cNvSpPr txBox="1"/>
            <p:nvPr/>
          </p:nvSpPr>
          <p:spPr>
            <a:xfrm>
              <a:off x="832104" y="4747260"/>
              <a:ext cx="3614623"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smooth sigmoid whose sharpness is set by the</a:t>
              </a:r>
            </a:p>
          </p:txBody>
        </p:sp>
        <p:sp>
          <p:nvSpPr>
            <p:cNvPr id="30" name="TextBox 30"/>
            <p:cNvSpPr txBox="1"/>
            <p:nvPr/>
          </p:nvSpPr>
          <p:spPr>
            <a:xfrm>
              <a:off x="832104" y="4975860"/>
              <a:ext cx="341804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scaling parameter α. Its expectations have</a:t>
              </a:r>
            </a:p>
          </p:txBody>
        </p:sp>
        <p:sp>
          <p:nvSpPr>
            <p:cNvPr id="31" name="TextBox 31"/>
            <p:cNvSpPr txBox="1"/>
            <p:nvPr/>
          </p:nvSpPr>
          <p:spPr>
            <a:xfrm>
              <a:off x="832104" y="5204460"/>
              <a:ext cx="3638855"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closed forms, so the whole kernel is analytic.</a:t>
              </a:r>
            </a:p>
          </p:txBody>
        </p:sp>
        <p:sp>
          <p:nvSpPr>
            <p:cNvPr id="32" name="TextBox 32"/>
            <p:cNvSpPr txBox="1"/>
            <p:nvPr/>
          </p:nvSpPr>
          <p:spPr>
            <a:xfrm>
              <a:off x="832866" y="5487352"/>
              <a:ext cx="3139437" cy="205359"/>
            </a:xfrm>
            <a:prstGeom prst="rect">
              <a:avLst/>
            </a:prstGeom>
            <a:noFill/>
            <a:ln>
              <a:noFill/>
            </a:ln>
          </p:spPr>
          <p:txBody>
            <a:bodyPr wrap="none" lIns="0" tIns="0" rIns="0" bIns="0" anchor="t" anchorCtr="0">
              <a:spAutoFit/>
            </a:bodyPr>
            <a:lstStyle/>
            <a:p>
              <a:pPr algn="l"/>
              <a:r>
                <a:rPr lang="en-US" sz="1050" i="1" dirty="0">
                  <a:solidFill>
                    <a:schemeClr val="accent5"/>
                  </a:solidFill>
                  <a:latin typeface="+mn-lt"/>
                  <a:ea typeface="+mn-ea"/>
                  <a:cs typeface="+mn-cs"/>
                </a:rPr>
                <a:t>Larger α means harder, more decisive splits.</a:t>
              </a:r>
            </a:p>
          </p:txBody>
        </p:sp>
      </p:grpSp>
      <p:grpSp>
        <p:nvGrpSpPr>
          <p:cNvPr id="43" name="Group 43"/>
          <p:cNvGrpSpPr/>
          <p:nvPr/>
        </p:nvGrpSpPr>
        <p:grpSpPr>
          <a:xfrm>
            <a:off x="6229350" y="3676650"/>
            <a:ext cx="5353050" cy="2038350"/>
            <a:chOff x="6229350" y="3676650"/>
            <a:chExt cx="5353050" cy="2038350"/>
          </a:xfrm>
        </p:grpSpPr>
        <p:sp>
          <p:nvSpPr>
            <p:cNvPr id="34" name="Rectangle 34"/>
            <p:cNvSpPr/>
            <p:nvPr/>
          </p:nvSpPr>
          <p:spPr>
            <a:xfrm>
              <a:off x="6229350" y="3676650"/>
              <a:ext cx="5353050" cy="2038350"/>
            </a:xfrm>
            <a:prstGeom prst="roundRect">
              <a:avLst>
                <a:gd name="adj" fmla="val 4673"/>
              </a:avLst>
            </a:prstGeom>
            <a:solidFill>
              <a:schemeClr val="accent6"/>
            </a:solidFill>
            <a:ln w="14288">
              <a:solidFill>
                <a:schemeClr val="accent2"/>
              </a:solidFill>
            </a:ln>
            <a:effectLst>
              <a:outerShdw blurRad="76200" dist="28575" dir="5400000" algn="ctr" rotWithShape="0">
                <a:srgbClr val="0B2E52">
                  <a:alpha val="6000"/>
                </a:srgbClr>
              </a:outerShdw>
            </a:effectLst>
          </p:spPr>
        </p:sp>
        <p:sp>
          <p:nvSpPr>
            <p:cNvPr id="35" name="Rectangle 35"/>
            <p:cNvSpPr/>
            <p:nvPr/>
          </p:nvSpPr>
          <p:spPr>
            <a:xfrm>
              <a:off x="6229350" y="3676650"/>
              <a:ext cx="57150" cy="2038350"/>
            </a:xfrm>
            <a:prstGeom prst="roundRect">
              <a:avLst>
                <a:gd name="adj" fmla="val 50000"/>
              </a:avLst>
            </a:prstGeom>
            <a:solidFill>
              <a:srgbClr val="1F7A46"/>
            </a:solidFill>
            <a:ln>
              <a:noFill/>
            </a:ln>
          </p:spPr>
        </p:sp>
        <p:sp>
          <p:nvSpPr>
            <p:cNvPr id="36" name="TextBox 36"/>
            <p:cNvSpPr txBox="1"/>
            <p:nvPr/>
          </p:nvSpPr>
          <p:spPr>
            <a:xfrm>
              <a:off x="6452997" y="3895249"/>
              <a:ext cx="2311356" cy="190690"/>
            </a:xfrm>
            <a:prstGeom prst="rect">
              <a:avLst/>
            </a:prstGeom>
            <a:noFill/>
            <a:ln>
              <a:noFill/>
            </a:ln>
          </p:spPr>
          <p:txBody>
            <a:bodyPr wrap="none" lIns="0" tIns="0" rIns="0" bIns="0" anchor="t" anchorCtr="0">
              <a:spAutoFit/>
            </a:bodyPr>
            <a:lstStyle/>
            <a:p>
              <a:pPr algn="l"/>
              <a:r>
                <a:rPr lang="en-US" sz="980" b="1" spc="90" dirty="0">
                  <a:solidFill>
                    <a:srgbClr val="1F7A46"/>
                  </a:solidFill>
                  <a:latin typeface="+mn-lt"/>
                  <a:ea typeface="+mn-ea"/>
                  <a:cs typeface="+mn-cs"/>
                </a:rPr>
                <a:t>STEP 4 · WHY IT IS POWERFUL</a:t>
              </a:r>
            </a:p>
          </p:txBody>
        </p:sp>
        <p:sp>
          <p:nvSpPr>
            <p:cNvPr id="37" name="TextBox 37"/>
            <p:cNvSpPr txBox="1"/>
            <p:nvPr/>
          </p:nvSpPr>
          <p:spPr>
            <a:xfrm>
              <a:off x="6450330" y="4143375"/>
              <a:ext cx="4457250"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j-lt"/>
                  <a:ea typeface="+mj-ea"/>
                  <a:cs typeface="+mj-cs"/>
                </a:rPr>
                <a:t>Constant, positive definite, depth-free</a:t>
              </a:r>
            </a:p>
          </p:txBody>
        </p:sp>
        <p:sp>
          <p:nvSpPr>
            <p:cNvPr id="38" name="TextBox 38"/>
            <p:cNvSpPr txBox="1"/>
            <p:nvPr/>
          </p:nvSpPr>
          <p:spPr>
            <a:xfrm>
              <a:off x="6451854" y="4518660"/>
              <a:ext cx="3837982"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The kernel stays constant and positive definite,</a:t>
              </a:r>
            </a:p>
          </p:txBody>
        </p:sp>
        <p:sp>
          <p:nvSpPr>
            <p:cNvPr id="39" name="TextBox 39"/>
            <p:cNvSpPr txBox="1"/>
            <p:nvPr/>
          </p:nvSpPr>
          <p:spPr>
            <a:xfrm>
              <a:off x="6451854" y="4747260"/>
              <a:ext cx="3598469"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so training reduces to kernel regression with</a:t>
              </a:r>
            </a:p>
          </p:txBody>
        </p:sp>
        <p:sp>
          <p:nvSpPr>
            <p:cNvPr id="40" name="TextBox 40"/>
            <p:cNvSpPr txBox="1"/>
            <p:nvPr/>
          </p:nvSpPr>
          <p:spPr>
            <a:xfrm>
              <a:off x="6451854" y="4975860"/>
              <a:ext cx="3684563"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guaranteed global convergence. The formula is</a:t>
              </a:r>
            </a:p>
          </p:txBody>
        </p:sp>
        <p:sp>
          <p:nvSpPr>
            <p:cNvPr id="41" name="TextBox 41"/>
            <p:cNvSpPr txBox="1"/>
            <p:nvPr/>
          </p:nvSpPr>
          <p:spPr>
            <a:xfrm>
              <a:off x="6451854" y="5204460"/>
              <a:ext cx="2944216"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not recursive in depth, so its cost is</a:t>
              </a:r>
            </a:p>
          </p:txBody>
        </p:sp>
        <p:sp>
          <p:nvSpPr>
            <p:cNvPr id="42" name="TextBox 42"/>
            <p:cNvSpPr txBox="1"/>
            <p:nvPr/>
          </p:nvSpPr>
          <p:spPr>
            <a:xfrm>
              <a:off x="6451854" y="5433060"/>
              <a:ext cx="2268154" cy="234696"/>
            </a:xfrm>
            <a:prstGeom prst="rect">
              <a:avLst/>
            </a:prstGeom>
            <a:noFill/>
            <a:ln>
              <a:noFill/>
            </a:ln>
          </p:spPr>
          <p:txBody>
            <a:bodyPr wrap="none" lIns="0" tIns="0" rIns="0" bIns="0" anchor="t" anchorCtr="0">
              <a:spAutoFit/>
            </a:bodyPr>
            <a:lstStyle/>
            <a:p>
              <a:pPr algn="l"/>
              <a:r>
                <a:rPr lang="en-US" sz="1200" b="1" dirty="0">
                  <a:solidFill>
                    <a:srgbClr val="1F7A46"/>
                  </a:solidFill>
                  <a:latin typeface="+mn-lt"/>
                  <a:ea typeface="+mn-ea"/>
                  <a:cs typeface="+mn-cs"/>
                </a:rPr>
                <a:t>independent of tree depth.</a:t>
              </a:r>
            </a:p>
          </p:txBody>
        </p:sp>
      </p:grpSp>
      <p:sp>
        <p:nvSpPr>
          <p:cNvPr id="44" name="TextBox 44"/>
          <p:cNvSpPr txBox="1"/>
          <p:nvPr/>
        </p:nvSpPr>
        <p:spPr>
          <a:xfrm>
            <a:off x="11207836" y="6578441"/>
            <a:ext cx="379326"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05 / 10</a:t>
            </a:r>
          </a:p>
        </p:txBody>
      </p:sp>
      <p:sp>
        <p:nvSpPr>
          <p:cNvPr id="45" name="cue_s05_c1_method_takes_number_trees_infinity" title="cue_s05_c1_method_takes_number_trees_infinity" descr="cue_s05_c1_method_takes_number_trees_infinity The method takes the number of trees to infinity."/>
          <p:cNvSpPr/>
          <p:nvPr/>
        </p:nvSpPr>
        <p:spPr>
          <a:xfrm>
            <a:off x="609600" y="1428521"/>
            <a:ext cx="5353507"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5_c2_perfect_binary_soft_trees_depth" title="cue_s05_c2_perfect_binary_soft_trees_depth" descr="cue_s05_c2_perfect_binary_soft_trees_depth For perfect binary soft trees of depth d, the authors prove the Tree Neural Tangent Kernel converges to a deterministic kernel with two parts: one from the inner splitting nodes and one from the leaves."/>
          <p:cNvSpPr/>
          <p:nvPr/>
        </p:nvSpPr>
        <p:spPr>
          <a:xfrm>
            <a:off x="6228892" y="1428521"/>
            <a:ext cx="5353507" cy="206700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5_c3_soft_split_scaled_error_function" title="cue_s05_c3_soft_split_scaled_error_function" descr="cue_s05_c3_soft_split_scaled_error_function The soft split uses a scaled error function, a smooth sigmoid whose sharpness is set by alpha, and its expectations have closed forms, so the kernel is analytic."/>
          <p:cNvSpPr/>
          <p:nvPr/>
        </p:nvSpPr>
        <p:spPr>
          <a:xfrm>
            <a:off x="609600" y="3676573"/>
            <a:ext cx="5353507"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5_c4_because_kernel_stays_constant_positi" title="cue_s05_c4_because_kernel_stays_constant_positi" descr="cue_s05_c4_because_kernel_stays_constant_positi Because the kernel stays constant and positive definite, training reduces to kernel regression with global convergence, and the formula is not recursive in depth, so its cost is depth-independent."/>
          <p:cNvSpPr/>
          <p:nvPr/>
        </p:nvSpPr>
        <p:spPr>
          <a:xfrm>
            <a:off x="6228892" y="3676573"/>
            <a:ext cx="5353507"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609600" y="533400"/>
            <a:ext cx="7335937" cy="675989"/>
            <a:chOff x="609600" y="533400"/>
            <a:chExt cx="7335937" cy="675989"/>
          </a:xfrm>
        </p:grpSpPr>
        <p:sp>
          <p:nvSpPr>
            <p:cNvPr id="2" name="Rectangle 2"/>
            <p:cNvSpPr/>
            <p:nvPr/>
          </p:nvSpPr>
          <p:spPr>
            <a:xfrm>
              <a:off x="609600" y="533400"/>
              <a:ext cx="57150" cy="381000"/>
            </a:xfrm>
            <a:prstGeom prst="rect">
              <a:avLst/>
            </a:prstGeom>
            <a:solidFill>
              <a:schemeClr val="accent2"/>
            </a:solidFill>
            <a:ln>
              <a:noFill/>
            </a:ln>
          </p:spPr>
        </p:sp>
        <p:sp>
          <p:nvSpPr>
            <p:cNvPr id="3" name="TextBox 3"/>
            <p:cNvSpPr txBox="1"/>
            <p:nvPr/>
          </p:nvSpPr>
          <p:spPr>
            <a:xfrm>
              <a:off x="825246" y="562928"/>
              <a:ext cx="7120291"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Ninety datasets and a cost benchmark</a:t>
              </a:r>
            </a:p>
          </p:txBody>
        </p:sp>
        <p:sp>
          <p:nvSpPr>
            <p:cNvPr id="4" name="TextBox 4"/>
            <p:cNvSpPr txBox="1"/>
            <p:nvPr/>
          </p:nvSpPr>
          <p:spPr>
            <a:xfrm>
              <a:off x="833247" y="1018699"/>
              <a:ext cx="3966191"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DATASETS &amp; SETUP · HOW THE TNTK IS EVALUATED</a:t>
              </a:r>
            </a:p>
          </p:txBody>
        </p:sp>
      </p:grpSp>
      <p:grpSp>
        <p:nvGrpSpPr>
          <p:cNvPr id="13" name="Group 13"/>
          <p:cNvGrpSpPr/>
          <p:nvPr/>
        </p:nvGrpSpPr>
        <p:grpSpPr>
          <a:xfrm>
            <a:off x="609600" y="1428750"/>
            <a:ext cx="3429000" cy="1714500"/>
            <a:chOff x="609600" y="1428750"/>
            <a:chExt cx="3429000" cy="1714500"/>
          </a:xfrm>
        </p:grpSpPr>
        <p:sp>
          <p:nvSpPr>
            <p:cNvPr id="6" name="Rectangle 6"/>
            <p:cNvSpPr/>
            <p:nvPr/>
          </p:nvSpPr>
          <p:spPr>
            <a:xfrm>
              <a:off x="609600" y="1428750"/>
              <a:ext cx="3429000" cy="1714500"/>
            </a:xfrm>
            <a:prstGeom prst="roundRect">
              <a:avLst>
                <a:gd name="adj" fmla="val 5556"/>
              </a:avLst>
            </a:prstGeom>
            <a:solidFill>
              <a:schemeClr val="accent1"/>
            </a:solidFill>
            <a:ln>
              <a:noFill/>
            </a:ln>
            <a:effectLst>
              <a:outerShdw blurRad="76200" dist="28575" dir="5400000" algn="ctr" rotWithShape="0">
                <a:srgbClr val="0B2E52">
                  <a:alpha val="6000"/>
                </a:srgbClr>
              </a:outerShdw>
            </a:effectLst>
          </p:spPr>
        </p:sp>
        <p:sp>
          <p:nvSpPr>
            <p:cNvPr id="7" name="Rectangle 7"/>
            <p:cNvSpPr/>
            <p:nvPr/>
          </p:nvSpPr>
          <p:spPr>
            <a:xfrm>
              <a:off x="609600" y="1428750"/>
              <a:ext cx="57150" cy="1714500"/>
            </a:xfrm>
            <a:prstGeom prst="roundRect">
              <a:avLst>
                <a:gd name="adj" fmla="val 50000"/>
              </a:avLst>
            </a:prstGeom>
            <a:solidFill>
              <a:schemeClr val="accent3"/>
            </a:solidFill>
            <a:ln>
              <a:noFill/>
            </a:ln>
          </p:spPr>
        </p:sp>
        <p:sp>
          <p:nvSpPr>
            <p:cNvPr id="8" name="TextBox 8"/>
            <p:cNvSpPr txBox="1"/>
            <p:nvPr/>
          </p:nvSpPr>
          <p:spPr>
            <a:xfrm>
              <a:off x="833247" y="1666399"/>
              <a:ext cx="1043550" cy="190690"/>
            </a:xfrm>
            <a:prstGeom prst="rect">
              <a:avLst/>
            </a:prstGeom>
            <a:noFill/>
            <a:ln>
              <a:noFill/>
            </a:ln>
          </p:spPr>
          <p:txBody>
            <a:bodyPr wrap="none" lIns="0" tIns="0" rIns="0" bIns="0" anchor="t" anchorCtr="0">
              <a:spAutoFit/>
            </a:bodyPr>
            <a:lstStyle/>
            <a:p>
              <a:pPr algn="l"/>
              <a:r>
                <a:rPr lang="en-US" sz="980" b="1" spc="90" dirty="0">
                  <a:solidFill>
                    <a:schemeClr val="accent3"/>
                  </a:solidFill>
                  <a:latin typeface="+mn-lt"/>
                  <a:ea typeface="+mn-ea"/>
                  <a:cs typeface="+mn-cs"/>
                </a:rPr>
                <a:t>STUDY DESIGN</a:t>
              </a:r>
            </a:p>
          </p:txBody>
        </p:sp>
        <p:sp>
          <p:nvSpPr>
            <p:cNvPr id="9" name="TextBox 9"/>
            <p:cNvSpPr txBox="1"/>
            <p:nvPr/>
          </p:nvSpPr>
          <p:spPr>
            <a:xfrm>
              <a:off x="819150" y="1946910"/>
              <a:ext cx="383103" cy="819150"/>
            </a:xfrm>
            <a:prstGeom prst="rect">
              <a:avLst/>
            </a:prstGeom>
            <a:noFill/>
            <a:ln>
              <a:noFill/>
            </a:ln>
          </p:spPr>
          <p:txBody>
            <a:bodyPr wrap="none" lIns="0" tIns="0" rIns="0" bIns="0" anchor="t" anchorCtr="0">
              <a:spAutoFit/>
            </a:bodyPr>
            <a:lstStyle/>
            <a:p>
              <a:pPr algn="l"/>
              <a:r>
                <a:rPr lang="en-US" sz="4200" b="1" dirty="0">
                  <a:solidFill>
                    <a:srgbClr val="FFFFFF"/>
                  </a:solidFill>
                  <a:latin typeface="+mj-lt"/>
                  <a:ea typeface="+mj-ea"/>
                  <a:cs typeface="+mj-cs"/>
                </a:rPr>
                <a:t>2</a:t>
              </a:r>
            </a:p>
          </p:txBody>
        </p:sp>
        <p:sp>
          <p:nvSpPr>
            <p:cNvPr id="10" name="TextBox 10"/>
            <p:cNvSpPr txBox="1"/>
            <p:nvPr/>
          </p:nvSpPr>
          <p:spPr>
            <a:xfrm>
              <a:off x="1439418" y="2222182"/>
              <a:ext cx="1593921"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j-lt"/>
                  <a:ea typeface="+mj-ea"/>
                  <a:cs typeface="+mj-cs"/>
                </a:rPr>
                <a:t>kinds of data</a:t>
              </a:r>
            </a:p>
          </p:txBody>
        </p:sp>
        <p:sp>
          <p:nvSpPr>
            <p:cNvPr id="11" name="TextBox 11"/>
            <p:cNvSpPr txBox="1"/>
            <p:nvPr/>
          </p:nvSpPr>
          <p:spPr>
            <a:xfrm>
              <a:off x="832485" y="2659856"/>
              <a:ext cx="2225276" cy="220028"/>
            </a:xfrm>
            <a:prstGeom prst="rect">
              <a:avLst/>
            </a:prstGeom>
            <a:noFill/>
            <a:ln>
              <a:noFill/>
            </a:ln>
          </p:spPr>
          <p:txBody>
            <a:bodyPr wrap="none" lIns="0" tIns="0" rIns="0" bIns="0" anchor="t" anchorCtr="0">
              <a:spAutoFit/>
            </a:bodyPr>
            <a:lstStyle/>
            <a:p>
              <a:pPr algn="l"/>
              <a:r>
                <a:rPr lang="en-US" sz="1120" dirty="0">
                  <a:solidFill>
                    <a:srgbClr val="DBE3EE"/>
                  </a:solidFill>
                  <a:latin typeface="+mn-lt"/>
                  <a:ea typeface="+mn-ea"/>
                  <a:cs typeface="+mn-cs"/>
                </a:rPr>
                <a:t>One track for generalization,</a:t>
              </a:r>
            </a:p>
          </p:txBody>
        </p:sp>
        <p:sp>
          <p:nvSpPr>
            <p:cNvPr id="12" name="TextBox 12"/>
            <p:cNvSpPr txBox="1"/>
            <p:nvPr/>
          </p:nvSpPr>
          <p:spPr>
            <a:xfrm>
              <a:off x="832485" y="2869406"/>
              <a:ext cx="2092117" cy="220028"/>
            </a:xfrm>
            <a:prstGeom prst="rect">
              <a:avLst/>
            </a:prstGeom>
            <a:noFill/>
            <a:ln>
              <a:noFill/>
            </a:ln>
          </p:spPr>
          <p:txBody>
            <a:bodyPr wrap="none" lIns="0" tIns="0" rIns="0" bIns="0" anchor="t" anchorCtr="0">
              <a:spAutoFit/>
            </a:bodyPr>
            <a:lstStyle/>
            <a:p>
              <a:pPr algn="l"/>
              <a:r>
                <a:rPr lang="en-US" sz="1120" dirty="0">
                  <a:solidFill>
                    <a:srgbClr val="DBE3EE"/>
                  </a:solidFill>
                  <a:latin typeface="+mn-lt"/>
                  <a:ea typeface="+mn-ea"/>
                  <a:cs typeface="+mn-cs"/>
                </a:rPr>
                <a:t>one for computational cost.</a:t>
              </a:r>
            </a:p>
          </p:txBody>
        </p:sp>
      </p:grpSp>
      <p:grpSp>
        <p:nvGrpSpPr>
          <p:cNvPr id="24" name="Group 24"/>
          <p:cNvGrpSpPr/>
          <p:nvPr/>
        </p:nvGrpSpPr>
        <p:grpSpPr>
          <a:xfrm>
            <a:off x="4267200" y="1428750"/>
            <a:ext cx="7315200" cy="1714500"/>
            <a:chOff x="4267200" y="1428750"/>
            <a:chExt cx="7315200" cy="1714500"/>
          </a:xfrm>
        </p:grpSpPr>
        <p:sp>
          <p:nvSpPr>
            <p:cNvPr id="14" name="Rectangle 14"/>
            <p:cNvSpPr/>
            <p:nvPr/>
          </p:nvSpPr>
          <p:spPr>
            <a:xfrm>
              <a:off x="4267200" y="1428750"/>
              <a:ext cx="7315200" cy="1714500"/>
            </a:xfrm>
            <a:prstGeom prst="roundRect">
              <a:avLst>
                <a:gd name="adj" fmla="val 5556"/>
              </a:avLst>
            </a:prstGeom>
            <a:solidFill>
              <a:schemeClr val="lt1"/>
            </a:solidFill>
            <a:ln w="14288">
              <a:solidFill>
                <a:schemeClr val="accent4"/>
              </a:solidFill>
            </a:ln>
            <a:effectLst>
              <a:outerShdw blurRad="76200" dist="28575" dir="5400000" algn="ctr" rotWithShape="0">
                <a:srgbClr val="0B2E52">
                  <a:alpha val="6000"/>
                </a:srgbClr>
              </a:outerShdw>
            </a:effectLst>
          </p:spPr>
        </p:sp>
        <p:sp>
          <p:nvSpPr>
            <p:cNvPr id="15" name="Rectangle 15"/>
            <p:cNvSpPr/>
            <p:nvPr/>
          </p:nvSpPr>
          <p:spPr>
            <a:xfrm>
              <a:off x="4267200" y="1428750"/>
              <a:ext cx="57150" cy="1714500"/>
            </a:xfrm>
            <a:prstGeom prst="roundRect">
              <a:avLst>
                <a:gd name="adj" fmla="val 50000"/>
              </a:avLst>
            </a:prstGeom>
            <a:solidFill>
              <a:schemeClr val="accent2"/>
            </a:solidFill>
            <a:ln>
              <a:noFill/>
            </a:ln>
          </p:spPr>
        </p:sp>
        <p:sp>
          <p:nvSpPr>
            <p:cNvPr id="16" name="TextBox 16"/>
            <p:cNvSpPr txBox="1"/>
            <p:nvPr/>
          </p:nvSpPr>
          <p:spPr>
            <a:xfrm>
              <a:off x="4490847" y="1647349"/>
              <a:ext cx="3504167" cy="190690"/>
            </a:xfrm>
            <a:prstGeom prst="rect">
              <a:avLst/>
            </a:prstGeom>
            <a:noFill/>
            <a:ln>
              <a:noFill/>
            </a:ln>
          </p:spPr>
          <p:txBody>
            <a:bodyPr wrap="none" lIns="0" tIns="0" rIns="0" bIns="0" anchor="t" anchorCtr="0">
              <a:spAutoFit/>
            </a:bodyPr>
            <a:lstStyle/>
            <a:p>
              <a:pPr algn="l"/>
              <a:r>
                <a:rPr lang="en-US" sz="980" b="1" spc="90" dirty="0">
                  <a:solidFill>
                    <a:schemeClr val="accent2"/>
                  </a:solidFill>
                  <a:latin typeface="+mn-lt"/>
                  <a:ea typeface="+mn-ea"/>
                  <a:cs typeface="+mn-cs"/>
                </a:rPr>
                <a:t>GENERALIZATION · 90 REAL-WORLD DATASETS</a:t>
              </a:r>
            </a:p>
          </p:txBody>
        </p:sp>
        <p:sp>
          <p:nvSpPr>
            <p:cNvPr id="17" name="TextBox 17"/>
            <p:cNvSpPr txBox="1"/>
            <p:nvPr/>
          </p:nvSpPr>
          <p:spPr>
            <a:xfrm>
              <a:off x="4488180" y="1895475"/>
              <a:ext cx="4747832"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j-lt"/>
                  <a:ea typeface="+mj-ea"/>
                  <a:cs typeface="+mj-cs"/>
                </a:rPr>
                <a:t>Kernel regression, three kernels compared</a:t>
              </a:r>
            </a:p>
          </p:txBody>
        </p:sp>
        <p:sp>
          <p:nvSpPr>
            <p:cNvPr id="18" name="TextBox 18"/>
            <p:cNvSpPr txBox="1"/>
            <p:nvPr/>
          </p:nvSpPr>
          <p:spPr>
            <a:xfrm>
              <a:off x="4489704" y="2251710"/>
              <a:ext cx="581463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The authors run kernel regression with the Tree NTK on ninety real-world</a:t>
              </a:r>
            </a:p>
          </p:txBody>
        </p:sp>
        <p:sp>
          <p:nvSpPr>
            <p:cNvPr id="19" name="TextBox 19"/>
            <p:cNvSpPr txBox="1"/>
            <p:nvPr/>
          </p:nvSpPr>
          <p:spPr>
            <a:xfrm>
              <a:off x="4489704" y="2480310"/>
              <a:ext cx="367116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datasets, comparing it against two baselines.</a:t>
              </a:r>
            </a:p>
          </p:txBody>
        </p:sp>
        <p:sp>
          <p:nvSpPr>
            <p:cNvPr id="20" name="Rectangle 20"/>
            <p:cNvSpPr/>
            <p:nvPr/>
          </p:nvSpPr>
          <p:spPr>
            <a:xfrm>
              <a:off x="4495800" y="2762250"/>
              <a:ext cx="3429000" cy="266700"/>
            </a:xfrm>
            <a:prstGeom prst="roundRect">
              <a:avLst>
                <a:gd name="adj" fmla="val 21429"/>
              </a:avLst>
            </a:prstGeom>
            <a:solidFill>
              <a:schemeClr val="accent6"/>
            </a:solidFill>
            <a:ln>
              <a:noFill/>
            </a:ln>
          </p:spPr>
        </p:sp>
        <p:sp>
          <p:nvSpPr>
            <p:cNvPr id="21" name="TextBox 21"/>
            <p:cNvSpPr txBox="1"/>
            <p:nvPr/>
          </p:nvSpPr>
          <p:spPr>
            <a:xfrm>
              <a:off x="4623816" y="2829878"/>
              <a:ext cx="2293476" cy="205359"/>
            </a:xfrm>
            <a:prstGeom prst="rect">
              <a:avLst/>
            </a:prstGeom>
            <a:noFill/>
            <a:ln>
              <a:noFill/>
            </a:ln>
          </p:spPr>
          <p:txBody>
            <a:bodyPr wrap="none" lIns="0" tIns="0" rIns="0" bIns="0" anchor="t" anchorCtr="0">
              <a:spAutoFit/>
            </a:bodyPr>
            <a:lstStyle/>
            <a:p>
              <a:pPr algn="l"/>
              <a:r>
                <a:rPr lang="en-US" sz="1050" b="1" dirty="0">
                  <a:solidFill>
                    <a:schemeClr val="accent1"/>
                  </a:solidFill>
                  <a:latin typeface="+mn-lt"/>
                  <a:ea typeface="+mn-ea"/>
                  <a:cs typeface="+mn-cs"/>
                </a:rPr>
                <a:t>Infinite-width MLP-induced NTK</a:t>
              </a:r>
            </a:p>
          </p:txBody>
        </p:sp>
        <p:sp>
          <p:nvSpPr>
            <p:cNvPr id="22" name="Rectangle 22"/>
            <p:cNvSpPr/>
            <p:nvPr/>
          </p:nvSpPr>
          <p:spPr>
            <a:xfrm>
              <a:off x="8039100" y="2762250"/>
              <a:ext cx="2095500" cy="266700"/>
            </a:xfrm>
            <a:prstGeom prst="roundRect">
              <a:avLst>
                <a:gd name="adj" fmla="val 21429"/>
              </a:avLst>
            </a:prstGeom>
            <a:solidFill>
              <a:schemeClr val="lt2"/>
            </a:solidFill>
            <a:ln w="9525">
              <a:solidFill>
                <a:schemeClr val="accent4"/>
              </a:solidFill>
            </a:ln>
          </p:spPr>
        </p:sp>
        <p:sp>
          <p:nvSpPr>
            <p:cNvPr id="23" name="TextBox 23"/>
            <p:cNvSpPr txBox="1"/>
            <p:nvPr/>
          </p:nvSpPr>
          <p:spPr>
            <a:xfrm>
              <a:off x="8167116" y="2829878"/>
              <a:ext cx="1312656"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Classic RBF kernel</a:t>
              </a:r>
            </a:p>
          </p:txBody>
        </p:sp>
      </p:grpSp>
      <p:grpSp>
        <p:nvGrpSpPr>
          <p:cNvPr id="37" name="Group 37"/>
          <p:cNvGrpSpPr/>
          <p:nvPr/>
        </p:nvGrpSpPr>
        <p:grpSpPr>
          <a:xfrm>
            <a:off x="609600" y="3352800"/>
            <a:ext cx="5353050" cy="2362200"/>
            <a:chOff x="609600" y="3352800"/>
            <a:chExt cx="5353050" cy="2362200"/>
          </a:xfrm>
        </p:grpSpPr>
        <p:sp>
          <p:nvSpPr>
            <p:cNvPr id="25" name="Rectangle 25"/>
            <p:cNvSpPr/>
            <p:nvPr/>
          </p:nvSpPr>
          <p:spPr>
            <a:xfrm>
              <a:off x="609600" y="3352800"/>
              <a:ext cx="5353050" cy="2362200"/>
            </a:xfrm>
            <a:prstGeom prst="roundRect">
              <a:avLst>
                <a:gd name="adj" fmla="val 4032"/>
              </a:avLst>
            </a:prstGeom>
            <a:solidFill>
              <a:schemeClr val="lt1"/>
            </a:solidFill>
            <a:ln w="14288">
              <a:solidFill>
                <a:schemeClr val="accent4"/>
              </a:solidFill>
            </a:ln>
            <a:effectLst>
              <a:outerShdw blurRad="76200" dist="28575" dir="5400000" algn="ctr" rotWithShape="0">
                <a:srgbClr val="0B2E52">
                  <a:alpha val="6000"/>
                </a:srgbClr>
              </a:outerShdw>
            </a:effectLst>
          </p:spPr>
        </p:sp>
        <p:sp>
          <p:nvSpPr>
            <p:cNvPr id="26" name="Rectangle 26"/>
            <p:cNvSpPr/>
            <p:nvPr/>
          </p:nvSpPr>
          <p:spPr>
            <a:xfrm>
              <a:off x="609600" y="3352800"/>
              <a:ext cx="57150" cy="2362200"/>
            </a:xfrm>
            <a:prstGeom prst="roundRect">
              <a:avLst>
                <a:gd name="adj" fmla="val 50000"/>
              </a:avLst>
            </a:prstGeom>
            <a:solidFill>
              <a:schemeClr val="accent1"/>
            </a:solidFill>
            <a:ln>
              <a:noFill/>
            </a:ln>
          </p:spPr>
        </p:sp>
        <p:sp>
          <p:nvSpPr>
            <p:cNvPr id="27" name="TextBox 27"/>
            <p:cNvSpPr txBox="1"/>
            <p:nvPr/>
          </p:nvSpPr>
          <p:spPr>
            <a:xfrm>
              <a:off x="833247" y="3571399"/>
              <a:ext cx="1978408" cy="190690"/>
            </a:xfrm>
            <a:prstGeom prst="rect">
              <a:avLst/>
            </a:prstGeom>
            <a:noFill/>
            <a:ln>
              <a:noFill/>
            </a:ln>
          </p:spPr>
          <p:txBody>
            <a:bodyPr wrap="none" lIns="0" tIns="0" rIns="0" bIns="0" anchor="t" anchorCtr="0">
              <a:spAutoFit/>
            </a:bodyPr>
            <a:lstStyle/>
            <a:p>
              <a:pPr algn="l"/>
              <a:r>
                <a:rPr lang="en-US" sz="980" b="1" spc="90" dirty="0">
                  <a:solidFill>
                    <a:schemeClr val="accent1"/>
                  </a:solidFill>
                  <a:latin typeface="+mn-lt"/>
                  <a:ea typeface="+mn-ea"/>
                  <a:cs typeface="+mn-cs"/>
                </a:rPr>
                <a:t>HYPERPARAMETER SWEEPS</a:t>
              </a:r>
            </a:p>
          </p:txBody>
        </p:sp>
        <p:sp>
          <p:nvSpPr>
            <p:cNvPr id="28" name="TextBox 28"/>
            <p:cNvSpPr txBox="1"/>
            <p:nvPr/>
          </p:nvSpPr>
          <p:spPr>
            <a:xfrm>
              <a:off x="830580" y="3819525"/>
              <a:ext cx="2776271"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j-lt"/>
                  <a:ea typeface="+mj-ea"/>
                  <a:cs typeface="+mj-cs"/>
                </a:rPr>
                <a:t>Depth and split-hardness</a:t>
              </a:r>
            </a:p>
          </p:txBody>
        </p:sp>
        <p:sp>
          <p:nvSpPr>
            <p:cNvPr id="29" name="Rectangle 29"/>
            <p:cNvSpPr/>
            <p:nvPr/>
          </p:nvSpPr>
          <p:spPr>
            <a:xfrm>
              <a:off x="838200" y="4152900"/>
              <a:ext cx="2362200" cy="914400"/>
            </a:xfrm>
            <a:prstGeom prst="roundRect">
              <a:avLst>
                <a:gd name="adj" fmla="val 8333"/>
              </a:avLst>
            </a:prstGeom>
            <a:solidFill>
              <a:schemeClr val="lt2"/>
            </a:solidFill>
            <a:ln w="9525">
              <a:solidFill>
                <a:schemeClr val="accent4"/>
              </a:solidFill>
            </a:ln>
          </p:spPr>
        </p:sp>
        <p:sp>
          <p:nvSpPr>
            <p:cNvPr id="30" name="TextBox 30"/>
            <p:cNvSpPr txBox="1"/>
            <p:nvPr/>
          </p:nvSpPr>
          <p:spPr>
            <a:xfrm>
              <a:off x="1061847" y="4333399"/>
              <a:ext cx="874334"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TREE DEPTH</a:t>
              </a:r>
            </a:p>
          </p:txBody>
        </p:sp>
        <p:sp>
          <p:nvSpPr>
            <p:cNvPr id="31" name="TextBox 31"/>
            <p:cNvSpPr txBox="1"/>
            <p:nvPr/>
          </p:nvSpPr>
          <p:spPr>
            <a:xfrm>
              <a:off x="1053846" y="4582478"/>
              <a:ext cx="1092281"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Georgia"/>
                  <a:ea typeface="Georgia"/>
                  <a:cs typeface="Georgia"/>
                </a:rPr>
                <a:t>1 – 29</a:t>
              </a:r>
            </a:p>
          </p:txBody>
        </p:sp>
        <p:sp>
          <p:nvSpPr>
            <p:cNvPr id="32" name="Rectangle 32"/>
            <p:cNvSpPr/>
            <p:nvPr/>
          </p:nvSpPr>
          <p:spPr>
            <a:xfrm>
              <a:off x="3371850" y="4152900"/>
              <a:ext cx="2362200" cy="914400"/>
            </a:xfrm>
            <a:prstGeom prst="roundRect">
              <a:avLst>
                <a:gd name="adj" fmla="val 8333"/>
              </a:avLst>
            </a:prstGeom>
            <a:solidFill>
              <a:schemeClr val="lt2"/>
            </a:solidFill>
            <a:ln w="9525">
              <a:solidFill>
                <a:schemeClr val="accent4"/>
              </a:solidFill>
            </a:ln>
          </p:spPr>
        </p:sp>
        <p:sp>
          <p:nvSpPr>
            <p:cNvPr id="33" name="TextBox 33"/>
            <p:cNvSpPr txBox="1"/>
            <p:nvPr/>
          </p:nvSpPr>
          <p:spPr>
            <a:xfrm>
              <a:off x="3595497" y="4333399"/>
              <a:ext cx="1202418"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SPLIT HARDNESS</a:t>
              </a:r>
            </a:p>
          </p:txBody>
        </p:sp>
        <p:sp>
          <p:nvSpPr>
            <p:cNvPr id="34" name="TextBox 34"/>
            <p:cNvSpPr txBox="1"/>
            <p:nvPr/>
          </p:nvSpPr>
          <p:spPr>
            <a:xfrm>
              <a:off x="3587496" y="4582478"/>
              <a:ext cx="1473129"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Georgia"/>
                  <a:ea typeface="Georgia"/>
                  <a:cs typeface="Georgia"/>
                </a:rPr>
                <a:t>α swept</a:t>
              </a:r>
            </a:p>
          </p:txBody>
        </p:sp>
        <p:sp>
          <p:nvSpPr>
            <p:cNvPr id="35" name="TextBox 35"/>
            <p:cNvSpPr txBox="1"/>
            <p:nvPr/>
          </p:nvSpPr>
          <p:spPr>
            <a:xfrm>
              <a:off x="832104" y="5223510"/>
              <a:ext cx="3765906"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Depth is tuned from one up to twenty-nine, and</a:t>
              </a:r>
            </a:p>
          </p:txBody>
        </p:sp>
        <p:sp>
          <p:nvSpPr>
            <p:cNvPr id="36" name="TextBox 36"/>
            <p:cNvSpPr txBox="1"/>
            <p:nvPr/>
          </p:nvSpPr>
          <p:spPr>
            <a:xfrm>
              <a:off x="832104" y="5452110"/>
              <a:ext cx="2508047"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α is swept across a wide range.</a:t>
              </a:r>
            </a:p>
          </p:txBody>
        </p:sp>
      </p:grpSp>
      <p:grpSp>
        <p:nvGrpSpPr>
          <p:cNvPr id="50" name="Group 50"/>
          <p:cNvGrpSpPr/>
          <p:nvPr/>
        </p:nvGrpSpPr>
        <p:grpSpPr>
          <a:xfrm>
            <a:off x="6229350" y="3352800"/>
            <a:ext cx="5353050" cy="2362200"/>
            <a:chOff x="6229350" y="3352800"/>
            <a:chExt cx="5353050" cy="2362200"/>
          </a:xfrm>
        </p:grpSpPr>
        <p:sp>
          <p:nvSpPr>
            <p:cNvPr id="38" name="Rectangle 38"/>
            <p:cNvSpPr/>
            <p:nvPr/>
          </p:nvSpPr>
          <p:spPr>
            <a:xfrm>
              <a:off x="6229350" y="3352800"/>
              <a:ext cx="5353050" cy="2362200"/>
            </a:xfrm>
            <a:prstGeom prst="roundRect">
              <a:avLst>
                <a:gd name="adj" fmla="val 4032"/>
              </a:avLst>
            </a:prstGeom>
            <a:solidFill>
              <a:schemeClr val="accent6"/>
            </a:solidFill>
            <a:ln w="14288">
              <a:solidFill>
                <a:schemeClr val="accent2"/>
              </a:solidFill>
            </a:ln>
            <a:effectLst>
              <a:outerShdw blurRad="76200" dist="28575" dir="5400000" algn="ctr" rotWithShape="0">
                <a:srgbClr val="0B2E52">
                  <a:alpha val="6000"/>
                </a:srgbClr>
              </a:outerShdw>
            </a:effectLst>
          </p:spPr>
        </p:sp>
        <p:sp>
          <p:nvSpPr>
            <p:cNvPr id="39" name="Rectangle 39"/>
            <p:cNvSpPr/>
            <p:nvPr/>
          </p:nvSpPr>
          <p:spPr>
            <a:xfrm>
              <a:off x="6229350" y="3352800"/>
              <a:ext cx="57150" cy="2362200"/>
            </a:xfrm>
            <a:prstGeom prst="roundRect">
              <a:avLst>
                <a:gd name="adj" fmla="val 50000"/>
              </a:avLst>
            </a:prstGeom>
            <a:solidFill>
              <a:srgbClr val="1F7A46"/>
            </a:solidFill>
            <a:ln>
              <a:noFill/>
            </a:ln>
          </p:spPr>
        </p:sp>
        <p:sp>
          <p:nvSpPr>
            <p:cNvPr id="40" name="TextBox 40"/>
            <p:cNvSpPr txBox="1"/>
            <p:nvPr/>
          </p:nvSpPr>
          <p:spPr>
            <a:xfrm>
              <a:off x="6452997" y="3571399"/>
              <a:ext cx="3160230" cy="190690"/>
            </a:xfrm>
            <a:prstGeom prst="rect">
              <a:avLst/>
            </a:prstGeom>
            <a:noFill/>
            <a:ln>
              <a:noFill/>
            </a:ln>
          </p:spPr>
          <p:txBody>
            <a:bodyPr wrap="none" lIns="0" tIns="0" rIns="0" bIns="0" anchor="t" anchorCtr="0">
              <a:spAutoFit/>
            </a:bodyPr>
            <a:lstStyle/>
            <a:p>
              <a:pPr algn="l"/>
              <a:r>
                <a:rPr lang="en-US" sz="980" b="1" spc="90" dirty="0">
                  <a:solidFill>
                    <a:srgbClr val="1F7A46"/>
                  </a:solidFill>
                  <a:latin typeface="+mn-lt"/>
                  <a:ea typeface="+mn-ea"/>
                  <a:cs typeface="+mn-cs"/>
                </a:rPr>
                <a:t>COMPUTATIONAL COST · SYNTHETIC DATA</a:t>
              </a:r>
            </a:p>
          </p:txBody>
        </p:sp>
        <p:sp>
          <p:nvSpPr>
            <p:cNvPr id="41" name="TextBox 41"/>
            <p:cNvSpPr txBox="1"/>
            <p:nvPr/>
          </p:nvSpPr>
          <p:spPr>
            <a:xfrm>
              <a:off x="6450330" y="3819525"/>
              <a:ext cx="3313006"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j-lt"/>
                  <a:ea typeface="+mj-ea"/>
                  <a:cs typeface="+mj-cs"/>
                </a:rPr>
                <a:t>A controlled timing benchmark</a:t>
              </a:r>
            </a:p>
          </p:txBody>
        </p:sp>
        <p:sp>
          <p:nvSpPr>
            <p:cNvPr id="42" name="Rectangle 42"/>
            <p:cNvSpPr/>
            <p:nvPr/>
          </p:nvSpPr>
          <p:spPr>
            <a:xfrm>
              <a:off x="6457950" y="4152900"/>
              <a:ext cx="2362200" cy="914400"/>
            </a:xfrm>
            <a:prstGeom prst="roundRect">
              <a:avLst>
                <a:gd name="adj" fmla="val 8333"/>
              </a:avLst>
            </a:prstGeom>
            <a:solidFill>
              <a:schemeClr val="lt1"/>
            </a:solidFill>
            <a:ln w="9525">
              <a:solidFill>
                <a:schemeClr val="accent4"/>
              </a:solidFill>
            </a:ln>
          </p:spPr>
        </p:sp>
        <p:sp>
          <p:nvSpPr>
            <p:cNvPr id="43" name="TextBox 43"/>
            <p:cNvSpPr txBox="1"/>
            <p:nvPr/>
          </p:nvSpPr>
          <p:spPr>
            <a:xfrm>
              <a:off x="6681597" y="4333399"/>
              <a:ext cx="666692"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SAMPLES</a:t>
              </a:r>
            </a:p>
          </p:txBody>
        </p:sp>
        <p:sp>
          <p:nvSpPr>
            <p:cNvPr id="44" name="TextBox 44"/>
            <p:cNvSpPr txBox="1"/>
            <p:nvPr/>
          </p:nvSpPr>
          <p:spPr>
            <a:xfrm>
              <a:off x="6673596" y="4582478"/>
              <a:ext cx="654307"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Georgia"/>
                  <a:ea typeface="Georgia"/>
                  <a:cs typeface="Georgia"/>
                </a:rPr>
                <a:t>300</a:t>
              </a:r>
            </a:p>
          </p:txBody>
        </p:sp>
        <p:sp>
          <p:nvSpPr>
            <p:cNvPr id="45" name="Rectangle 45"/>
            <p:cNvSpPr/>
            <p:nvPr/>
          </p:nvSpPr>
          <p:spPr>
            <a:xfrm>
              <a:off x="8991600" y="4152900"/>
              <a:ext cx="2362200" cy="914400"/>
            </a:xfrm>
            <a:prstGeom prst="roundRect">
              <a:avLst>
                <a:gd name="adj" fmla="val 8333"/>
              </a:avLst>
            </a:prstGeom>
            <a:solidFill>
              <a:schemeClr val="lt1"/>
            </a:solidFill>
            <a:ln w="9525">
              <a:solidFill>
                <a:schemeClr val="accent4"/>
              </a:solidFill>
            </a:ln>
          </p:spPr>
        </p:sp>
        <p:sp>
          <p:nvSpPr>
            <p:cNvPr id="46" name="TextBox 46"/>
            <p:cNvSpPr txBox="1"/>
            <p:nvPr/>
          </p:nvSpPr>
          <p:spPr>
            <a:xfrm>
              <a:off x="9215247" y="4333399"/>
              <a:ext cx="1475924"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GAUSSIAN FEATURES</a:t>
              </a:r>
            </a:p>
          </p:txBody>
        </p:sp>
        <p:sp>
          <p:nvSpPr>
            <p:cNvPr id="47" name="TextBox 47"/>
            <p:cNvSpPr txBox="1"/>
            <p:nvPr/>
          </p:nvSpPr>
          <p:spPr>
            <a:xfrm>
              <a:off x="9207246" y="4582478"/>
              <a:ext cx="444840"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Georgia"/>
                  <a:ea typeface="Georgia"/>
                  <a:cs typeface="Georgia"/>
                </a:rPr>
                <a:t>10</a:t>
              </a:r>
            </a:p>
          </p:txBody>
        </p:sp>
        <p:sp>
          <p:nvSpPr>
            <p:cNvPr id="48" name="TextBox 48"/>
            <p:cNvSpPr txBox="1"/>
            <p:nvPr/>
          </p:nvSpPr>
          <p:spPr>
            <a:xfrm>
              <a:off x="6451854" y="5223510"/>
              <a:ext cx="3378443"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Cost is measured on a synthetic set of 300</a:t>
              </a:r>
            </a:p>
          </p:txBody>
        </p:sp>
        <p:sp>
          <p:nvSpPr>
            <p:cNvPr id="49" name="TextBox 49"/>
            <p:cNvSpPr txBox="1"/>
            <p:nvPr/>
          </p:nvSpPr>
          <p:spPr>
            <a:xfrm>
              <a:off x="6451854" y="5452110"/>
              <a:ext cx="2909286"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samples with ten Gaussian features.</a:t>
              </a:r>
            </a:p>
          </p:txBody>
        </p:sp>
      </p:grpSp>
      <p:sp>
        <p:nvSpPr>
          <p:cNvPr id="51" name="TextBox 51"/>
          <p:cNvSpPr txBox="1"/>
          <p:nvPr/>
        </p:nvSpPr>
        <p:spPr>
          <a:xfrm>
            <a:off x="11207836" y="6578441"/>
            <a:ext cx="379326"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06 / 10</a:t>
            </a:r>
          </a:p>
        </p:txBody>
      </p:sp>
      <p:sp>
        <p:nvSpPr>
          <p:cNvPr id="52" name="cue_s06_c1_empirical_study_two_kinds" title="cue_s06_c1_empirical_study_two_kinds" descr="cue_s06_c1_empirical_study_two_kinds The empirical study uses two kinds of data."/>
          <p:cNvSpPr/>
          <p:nvPr/>
        </p:nvSpPr>
        <p:spPr>
          <a:xfrm>
            <a:off x="609600" y="1428521"/>
            <a:ext cx="3428390" cy="1714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6_c2_generalization_authors_run_kernel_re" title="cue_s06_c2_generalization_authors_run_kernel_re" descr="cue_s06_c2_generalization_authors_run_kernel_re For generalization, the authors run kernel regression with the Tree NTK on ninety real-world datasets, comparing against the kernel of an infinitely wide multi-layer perceptron and the classic radial basis function kernel."/>
          <p:cNvSpPr/>
          <p:nvPr/>
        </p:nvSpPr>
        <p:spPr>
          <a:xfrm>
            <a:off x="4267200" y="1428521"/>
            <a:ext cx="7315200" cy="1714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6_c3_tree_depth_tuned_one_twenty_nine" title="cue_s06_c3_tree_depth_tuned_one_twenty_nine" descr="cue_s06_c3_tree_depth_tuned_one_twenty_nine Tree depth is tuned from one up to twenty-nine, and the split-hardness parameter alpha is swept widely."/>
          <p:cNvSpPr/>
          <p:nvPr/>
        </p:nvSpPr>
        <p:spPr>
          <a:xfrm>
            <a:off x="609600" y="3352876"/>
            <a:ext cx="5353507" cy="23618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6_c4_measuring_computational_cost_they_sy" title="cue_s06_c4_measuring_computational_cost_they_sy" descr="cue_s06_c4_measuring_computational_cost_they_sy For measuring computational cost, they use a synthetic dataset of three hundred samples with ten Gaussian features."/>
          <p:cNvSpPr/>
          <p:nvPr/>
        </p:nvSpPr>
        <p:spPr>
          <a:xfrm>
            <a:off x="6228892" y="3352876"/>
            <a:ext cx="5353507" cy="23618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609600" y="533400"/>
            <a:ext cx="5718107" cy="675989"/>
            <a:chOff x="609600" y="533400"/>
            <a:chExt cx="5718107" cy="675989"/>
          </a:xfrm>
        </p:grpSpPr>
        <p:sp>
          <p:nvSpPr>
            <p:cNvPr id="2" name="Rectangle 2"/>
            <p:cNvSpPr/>
            <p:nvPr/>
          </p:nvSpPr>
          <p:spPr>
            <a:xfrm>
              <a:off x="609600" y="533400"/>
              <a:ext cx="57150" cy="381000"/>
            </a:xfrm>
            <a:prstGeom prst="rect">
              <a:avLst/>
            </a:prstGeom>
            <a:solidFill>
              <a:schemeClr val="accent2"/>
            </a:solidFill>
            <a:ln>
              <a:noFill/>
            </a:ln>
          </p:spPr>
        </p:sp>
        <p:sp>
          <p:nvSpPr>
            <p:cNvPr id="3" name="TextBox 3"/>
            <p:cNvSpPr txBox="1"/>
            <p:nvPr/>
          </p:nvSpPr>
          <p:spPr>
            <a:xfrm>
              <a:off x="825246" y="562928"/>
              <a:ext cx="5328531"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Every prediction, confirmed</a:t>
              </a:r>
            </a:p>
          </p:txBody>
        </p:sp>
        <p:sp>
          <p:nvSpPr>
            <p:cNvPr id="4" name="TextBox 4"/>
            <p:cNvSpPr txBox="1"/>
            <p:nvPr/>
          </p:nvSpPr>
          <p:spPr>
            <a:xfrm>
              <a:off x="833247" y="1018699"/>
              <a:ext cx="5494460"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KEY RESULT · ACCURACY OVER 90 DATASETS &amp; KERNEL COMPUTE TIME</a:t>
              </a:r>
            </a:p>
          </p:txBody>
        </p:sp>
      </p:grpSp>
      <p:grpSp>
        <p:nvGrpSpPr>
          <p:cNvPr id="16" name="Group 16"/>
          <p:cNvGrpSpPr/>
          <p:nvPr/>
        </p:nvGrpSpPr>
        <p:grpSpPr>
          <a:xfrm>
            <a:off x="609600" y="1428750"/>
            <a:ext cx="5353050" cy="4286250"/>
            <a:chOff x="609600" y="1428750"/>
            <a:chExt cx="5353050" cy="4286250"/>
          </a:xfrm>
        </p:grpSpPr>
        <p:sp>
          <p:nvSpPr>
            <p:cNvPr id="6" name="Rectangle 6"/>
            <p:cNvSpPr/>
            <p:nvPr/>
          </p:nvSpPr>
          <p:spPr>
            <a:xfrm>
              <a:off x="609600" y="1428750"/>
              <a:ext cx="5353050" cy="4286250"/>
            </a:xfrm>
            <a:prstGeom prst="roundRect">
              <a:avLst>
                <a:gd name="adj" fmla="val 2667"/>
              </a:avLst>
            </a:prstGeom>
            <a:solidFill>
              <a:schemeClr val="lt1"/>
            </a:solidFill>
            <a:ln w="14288">
              <a:solidFill>
                <a:schemeClr val="accent4"/>
              </a:solidFill>
            </a:ln>
            <a:effectLst>
              <a:outerShdw blurRad="76200" dist="28575" dir="5400000" algn="ctr" rotWithShape="0">
                <a:srgbClr val="0B2E52">
                  <a:alpha val="6000"/>
                </a:srgbClr>
              </a:outerShdw>
            </a:effectLst>
          </p:spPr>
        </p:sp>
        <p:sp>
          <p:nvSpPr>
            <p:cNvPr id="7" name="Rectangle 7"/>
            <p:cNvSpPr/>
            <p:nvPr/>
          </p:nvSpPr>
          <p:spPr>
            <a:xfrm>
              <a:off x="609600" y="1428750"/>
              <a:ext cx="57150" cy="4286250"/>
            </a:xfrm>
            <a:prstGeom prst="roundRect">
              <a:avLst>
                <a:gd name="adj" fmla="val 50000"/>
              </a:avLst>
            </a:prstGeom>
            <a:solidFill>
              <a:schemeClr val="accent2"/>
            </a:solidFill>
            <a:ln>
              <a:noFill/>
            </a:ln>
          </p:spPr>
        </p:sp>
        <p:sp>
          <p:nvSpPr>
            <p:cNvPr id="8" name="TextBox 8"/>
            <p:cNvSpPr txBox="1"/>
            <p:nvPr/>
          </p:nvSpPr>
          <p:spPr>
            <a:xfrm>
              <a:off x="909447" y="1685449"/>
              <a:ext cx="1453350" cy="190690"/>
            </a:xfrm>
            <a:prstGeom prst="rect">
              <a:avLst/>
            </a:prstGeom>
            <a:noFill/>
            <a:ln>
              <a:noFill/>
            </a:ln>
          </p:spPr>
          <p:txBody>
            <a:bodyPr wrap="none" lIns="0" tIns="0" rIns="0" bIns="0" anchor="t" anchorCtr="0">
              <a:spAutoFit/>
            </a:bodyPr>
            <a:lstStyle/>
            <a:p>
              <a:pPr algn="l"/>
              <a:r>
                <a:rPr lang="en-US" sz="980" b="1" spc="90" dirty="0">
                  <a:solidFill>
                    <a:schemeClr val="accent2"/>
                  </a:solidFill>
                  <a:latin typeface="+mn-lt"/>
                  <a:ea typeface="+mn-ea"/>
                  <a:cs typeface="+mn-cs"/>
                </a:rPr>
                <a:t>DEPTH DEGENERACY</a:t>
              </a:r>
            </a:p>
          </p:txBody>
        </p:sp>
        <p:sp>
          <p:nvSpPr>
            <p:cNvPr id="9" name="TextBox 9"/>
            <p:cNvSpPr txBox="1"/>
            <p:nvPr/>
          </p:nvSpPr>
          <p:spPr>
            <a:xfrm>
              <a:off x="906399" y="1887379"/>
              <a:ext cx="3585984"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Deeper first helps, then hurts</a:t>
              </a:r>
            </a:p>
          </p:txBody>
        </p:sp>
        <p:sp>
          <p:nvSpPr>
            <p:cNvPr id="10" name="Rectangle 10"/>
            <p:cNvSpPr/>
            <p:nvPr/>
          </p:nvSpPr>
          <p:spPr>
            <a:xfrm>
              <a:off x="914400" y="2228850"/>
              <a:ext cx="4743450" cy="2400300"/>
            </a:xfrm>
            <a:prstGeom prst="roundRect">
              <a:avLst>
                <a:gd name="adj" fmla="val 3175"/>
              </a:avLst>
            </a:prstGeom>
            <a:solidFill>
              <a:schemeClr val="lt2"/>
            </a:solidFill>
            <a:ln w="9525">
              <a:solidFill>
                <a:schemeClr val="accent4"/>
              </a:solidFill>
            </a:ln>
          </p:spPr>
        </p:sp>
        <p:pic>
          <p:nvPicPr>
            <p:cNvPr id="11" name="Image 11"/>
            <p:cNvPicPr>
              <a:picLocks noChangeAspect="1"/>
            </p:cNvPicPr>
            <p:nvPr/>
          </p:nvPicPr>
          <p:blipFill>
            <a:blip r:embed="rId2"/>
            <a:stretch>
              <a:fillRect/>
            </a:stretch>
          </p:blipFill>
          <p:spPr>
            <a:xfrm>
              <a:off x="1009650" y="2328628"/>
              <a:ext cx="4552950" cy="2010243"/>
            </a:xfrm>
            <a:prstGeom prst="rect">
              <a:avLst/>
            </a:prstGeom>
          </p:spPr>
        </p:pic>
        <p:sp>
          <p:nvSpPr>
            <p:cNvPr id="12" name="TextBox 12"/>
            <p:cNvSpPr txBox="1"/>
            <p:nvPr/>
          </p:nvSpPr>
          <p:spPr>
            <a:xfrm>
              <a:off x="865844" y="4436745"/>
              <a:ext cx="4840563" cy="176212"/>
            </a:xfrm>
            <a:prstGeom prst="rect">
              <a:avLst/>
            </a:prstGeom>
            <a:noFill/>
            <a:ln>
              <a:noFill/>
            </a:ln>
          </p:spPr>
          <p:txBody>
            <a:bodyPr wrap="none" lIns="0" tIns="0" rIns="0" bIns="0" anchor="t" anchorCtr="0">
              <a:spAutoFit/>
            </a:bodyPr>
            <a:lstStyle/>
            <a:p>
              <a:pPr algn="ctr"/>
              <a:r>
                <a:rPr lang="en-US" sz="900" i="1" dirty="0">
                  <a:solidFill>
                    <a:schemeClr val="dk2"/>
                  </a:solidFill>
                  <a:latin typeface="+mn-lt"/>
                  <a:ea typeface="+mn-ea"/>
                  <a:cs typeface="+mn-cs"/>
                </a:rPr>
                <a:t>Left: averaged accuracy over 90 datasets vs depth. Right: kernel compute time.</a:t>
              </a:r>
            </a:p>
          </p:txBody>
        </p:sp>
        <p:sp>
          <p:nvSpPr>
            <p:cNvPr id="13" name="TextBox 13"/>
            <p:cNvSpPr txBox="1"/>
            <p:nvPr/>
          </p:nvSpPr>
          <p:spPr>
            <a:xfrm>
              <a:off x="908304" y="4804410"/>
              <a:ext cx="3716919"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Making trees deeper first improves then hurts</a:t>
              </a:r>
            </a:p>
          </p:txBody>
        </p:sp>
        <p:sp>
          <p:nvSpPr>
            <p:cNvPr id="14" name="TextBox 14"/>
            <p:cNvSpPr txBox="1"/>
            <p:nvPr/>
          </p:nvSpPr>
          <p:spPr>
            <a:xfrm>
              <a:off x="908304" y="5033010"/>
              <a:ext cx="3590392"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accuracy, exactly the degeneracy the theory</a:t>
              </a:r>
            </a:p>
          </p:txBody>
        </p:sp>
        <p:sp>
          <p:nvSpPr>
            <p:cNvPr id="15" name="TextBox 15"/>
            <p:cNvSpPr txBox="1"/>
            <p:nvPr/>
          </p:nvSpPr>
          <p:spPr>
            <a:xfrm>
              <a:off x="908304" y="5261610"/>
              <a:ext cx="2879598"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predicted for very deep soft trees.</a:t>
              </a:r>
            </a:p>
          </p:txBody>
        </p:sp>
      </p:grpSp>
      <p:grpSp>
        <p:nvGrpSpPr>
          <p:cNvPr id="24" name="Group 24"/>
          <p:cNvGrpSpPr/>
          <p:nvPr/>
        </p:nvGrpSpPr>
        <p:grpSpPr>
          <a:xfrm>
            <a:off x="6229350" y="1428750"/>
            <a:ext cx="5353050" cy="1355884"/>
            <a:chOff x="6229350" y="1428750"/>
            <a:chExt cx="5353050" cy="1355884"/>
          </a:xfrm>
        </p:grpSpPr>
        <p:sp>
          <p:nvSpPr>
            <p:cNvPr id="17" name="Rectangle 17"/>
            <p:cNvSpPr/>
            <p:nvPr/>
          </p:nvSpPr>
          <p:spPr>
            <a:xfrm>
              <a:off x="6229350" y="1428750"/>
              <a:ext cx="5353050" cy="1333500"/>
            </a:xfrm>
            <a:prstGeom prst="roundRect">
              <a:avLst>
                <a:gd name="adj" fmla="val 7143"/>
              </a:avLst>
            </a:prstGeom>
            <a:solidFill>
              <a:schemeClr val="lt1"/>
            </a:solidFill>
            <a:ln w="14288">
              <a:solidFill>
                <a:schemeClr val="accent4"/>
              </a:solidFill>
            </a:ln>
            <a:effectLst>
              <a:outerShdw blurRad="76200" dist="28575" dir="5400000" algn="ctr" rotWithShape="0">
                <a:srgbClr val="0B2E52">
                  <a:alpha val="6000"/>
                </a:srgbClr>
              </a:outerShdw>
            </a:effectLst>
          </p:spPr>
        </p:sp>
        <p:sp>
          <p:nvSpPr>
            <p:cNvPr id="18" name="Rectangle 18"/>
            <p:cNvSpPr/>
            <p:nvPr/>
          </p:nvSpPr>
          <p:spPr>
            <a:xfrm>
              <a:off x="6229350" y="1428750"/>
              <a:ext cx="57150" cy="1333500"/>
            </a:xfrm>
            <a:prstGeom prst="roundRect">
              <a:avLst>
                <a:gd name="adj" fmla="val 50000"/>
              </a:avLst>
            </a:prstGeom>
            <a:solidFill>
              <a:schemeClr val="accent1"/>
            </a:solidFill>
            <a:ln>
              <a:noFill/>
            </a:ln>
          </p:spPr>
        </p:sp>
        <p:sp>
          <p:nvSpPr>
            <p:cNvPr id="19" name="TextBox 19"/>
            <p:cNvSpPr txBox="1"/>
            <p:nvPr/>
          </p:nvSpPr>
          <p:spPr>
            <a:xfrm>
              <a:off x="6452997" y="1628299"/>
              <a:ext cx="1504578" cy="190690"/>
            </a:xfrm>
            <a:prstGeom prst="rect">
              <a:avLst/>
            </a:prstGeom>
            <a:noFill/>
            <a:ln>
              <a:noFill/>
            </a:ln>
          </p:spPr>
          <p:txBody>
            <a:bodyPr wrap="none" lIns="0" tIns="0" rIns="0" bIns="0" anchor="t" anchorCtr="0">
              <a:spAutoFit/>
            </a:bodyPr>
            <a:lstStyle/>
            <a:p>
              <a:pPr algn="l"/>
              <a:r>
                <a:rPr lang="en-US" sz="980" b="1" spc="90" dirty="0">
                  <a:solidFill>
                    <a:schemeClr val="accent1"/>
                  </a:solidFill>
                  <a:latin typeface="+mn-lt"/>
                  <a:ea typeface="+mn-ea"/>
                  <a:cs typeface="+mn-cs"/>
                </a:rPr>
                <a:t>THEORY CONFIRMED</a:t>
              </a:r>
            </a:p>
          </p:txBody>
        </p:sp>
        <p:sp>
          <p:nvSpPr>
            <p:cNvPr id="20" name="TextBox 20"/>
            <p:cNvSpPr txBox="1"/>
            <p:nvPr/>
          </p:nvSpPr>
          <p:spPr>
            <a:xfrm>
              <a:off x="6450711" y="1846421"/>
              <a:ext cx="3413310"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j-lt"/>
                  <a:ea typeface="+mj-ea"/>
                  <a:cs typeface="+mj-cs"/>
                </a:rPr>
                <a:t>Convergence and dynamics match</a:t>
              </a:r>
            </a:p>
          </p:txBody>
        </p:sp>
        <p:sp>
          <p:nvSpPr>
            <p:cNvPr id="21" name="TextBox 21"/>
            <p:cNvSpPr txBox="1"/>
            <p:nvPr/>
          </p:nvSpPr>
          <p:spPr>
            <a:xfrm>
              <a:off x="6452235" y="2145506"/>
              <a:ext cx="380109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As the number of trees grows, the empirical kernel</a:t>
              </a:r>
            </a:p>
          </p:txBody>
        </p:sp>
        <p:sp>
          <p:nvSpPr>
            <p:cNvPr id="22" name="TextBox 22"/>
            <p:cNvSpPr txBox="1"/>
            <p:nvPr/>
          </p:nvSpPr>
          <p:spPr>
            <a:xfrm>
              <a:off x="6452235" y="2355056"/>
              <a:ext cx="391480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converges to the closed-form Tree NTK, and training</a:t>
              </a:r>
            </a:p>
          </p:txBody>
        </p:sp>
        <p:sp>
          <p:nvSpPr>
            <p:cNvPr id="23" name="TextBox 23"/>
            <p:cNvSpPr txBox="1"/>
            <p:nvPr/>
          </p:nvSpPr>
          <p:spPr>
            <a:xfrm>
              <a:off x="6452235" y="2564606"/>
              <a:ext cx="371294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dynamics match the kernel-regression prediction.</a:t>
              </a:r>
            </a:p>
          </p:txBody>
        </p:sp>
      </p:grpSp>
      <p:grpSp>
        <p:nvGrpSpPr>
          <p:cNvPr id="31" name="Group 31"/>
          <p:cNvGrpSpPr/>
          <p:nvPr/>
        </p:nvGrpSpPr>
        <p:grpSpPr>
          <a:xfrm>
            <a:off x="6229350" y="2876550"/>
            <a:ext cx="5353050" cy="1333500"/>
            <a:chOff x="6229350" y="2876550"/>
            <a:chExt cx="5353050" cy="1333500"/>
          </a:xfrm>
        </p:grpSpPr>
        <p:sp>
          <p:nvSpPr>
            <p:cNvPr id="25" name="Rectangle 25"/>
            <p:cNvSpPr/>
            <p:nvPr/>
          </p:nvSpPr>
          <p:spPr>
            <a:xfrm>
              <a:off x="6229350" y="2876550"/>
              <a:ext cx="5353050" cy="1333500"/>
            </a:xfrm>
            <a:prstGeom prst="roundRect">
              <a:avLst>
                <a:gd name="adj" fmla="val 7143"/>
              </a:avLst>
            </a:prstGeom>
            <a:solidFill>
              <a:schemeClr val="lt1"/>
            </a:solidFill>
            <a:ln w="14288">
              <a:solidFill>
                <a:schemeClr val="accent4"/>
              </a:solidFill>
            </a:ln>
            <a:effectLst>
              <a:outerShdw blurRad="76200" dist="28575" dir="5400000" algn="ctr" rotWithShape="0">
                <a:srgbClr val="0B2E52">
                  <a:alpha val="6000"/>
                </a:srgbClr>
              </a:outerShdw>
            </a:effectLst>
          </p:spPr>
        </p:sp>
        <p:sp>
          <p:nvSpPr>
            <p:cNvPr id="26" name="Rectangle 26"/>
            <p:cNvSpPr/>
            <p:nvPr/>
          </p:nvSpPr>
          <p:spPr>
            <a:xfrm>
              <a:off x="6229350" y="2876550"/>
              <a:ext cx="57150" cy="1333500"/>
            </a:xfrm>
            <a:prstGeom prst="roundRect">
              <a:avLst>
                <a:gd name="adj" fmla="val 50000"/>
              </a:avLst>
            </a:prstGeom>
            <a:solidFill>
              <a:schemeClr val="accent2"/>
            </a:solidFill>
            <a:ln>
              <a:noFill/>
            </a:ln>
          </p:spPr>
        </p:sp>
        <p:sp>
          <p:nvSpPr>
            <p:cNvPr id="27" name="TextBox 27"/>
            <p:cNvSpPr txBox="1"/>
            <p:nvPr/>
          </p:nvSpPr>
          <p:spPr>
            <a:xfrm>
              <a:off x="6452997" y="3076099"/>
              <a:ext cx="3087048" cy="190690"/>
            </a:xfrm>
            <a:prstGeom prst="rect">
              <a:avLst/>
            </a:prstGeom>
            <a:noFill/>
            <a:ln>
              <a:noFill/>
            </a:ln>
          </p:spPr>
          <p:txBody>
            <a:bodyPr wrap="none" lIns="0" tIns="0" rIns="0" bIns="0" anchor="t" anchorCtr="0">
              <a:spAutoFit/>
            </a:bodyPr>
            <a:lstStyle/>
            <a:p>
              <a:pPr algn="l"/>
              <a:r>
                <a:rPr lang="en-US" sz="980" b="1" spc="90" dirty="0">
                  <a:solidFill>
                    <a:schemeClr val="accent2"/>
                  </a:solidFill>
                  <a:latin typeface="+mn-lt"/>
                  <a:ea typeface="+mn-ea"/>
                  <a:cs typeface="+mn-cs"/>
                </a:rPr>
                <a:t>WHERE TREES WIN · &gt; 30% OF DATASETS</a:t>
              </a:r>
            </a:p>
          </p:txBody>
        </p:sp>
        <p:sp>
          <p:nvSpPr>
            <p:cNvPr id="28" name="TextBox 28"/>
            <p:cNvSpPr txBox="1"/>
            <p:nvPr/>
          </p:nvSpPr>
          <p:spPr>
            <a:xfrm>
              <a:off x="6450711" y="3332321"/>
              <a:ext cx="3337648"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j-lt"/>
                  <a:ea typeface="+mj-ea"/>
                  <a:cs typeface="+mj-cs"/>
                </a:rPr>
                <a:t>The MLP kernel wins on average</a:t>
              </a:r>
            </a:p>
          </p:txBody>
        </p:sp>
        <p:sp>
          <p:nvSpPr>
            <p:cNvPr id="29" name="TextBox 29"/>
            <p:cNvSpPr txBox="1"/>
            <p:nvPr/>
          </p:nvSpPr>
          <p:spPr>
            <a:xfrm>
              <a:off x="6452235" y="3650456"/>
              <a:ext cx="397679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but the tree kernel is better on more than 30% of the</a:t>
              </a:r>
            </a:p>
          </p:txBody>
        </p:sp>
        <p:sp>
          <p:nvSpPr>
            <p:cNvPr id="30" name="TextBox 30"/>
            <p:cNvSpPr txBox="1"/>
            <p:nvPr/>
          </p:nvSpPr>
          <p:spPr>
            <a:xfrm>
              <a:off x="6452235" y="3860006"/>
              <a:ext cx="418788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datasets, wherever the tree inductive bias fits better.</a:t>
              </a:r>
            </a:p>
          </p:txBody>
        </p:sp>
      </p:grpSp>
      <p:grpSp>
        <p:nvGrpSpPr>
          <p:cNvPr id="39" name="Group 39"/>
          <p:cNvGrpSpPr/>
          <p:nvPr/>
        </p:nvGrpSpPr>
        <p:grpSpPr>
          <a:xfrm>
            <a:off x="6229350" y="4324350"/>
            <a:ext cx="5353050" cy="1413034"/>
            <a:chOff x="6229350" y="4324350"/>
            <a:chExt cx="5353050" cy="1413034"/>
          </a:xfrm>
        </p:grpSpPr>
        <p:sp>
          <p:nvSpPr>
            <p:cNvPr id="32" name="Rectangle 32"/>
            <p:cNvSpPr/>
            <p:nvPr/>
          </p:nvSpPr>
          <p:spPr>
            <a:xfrm>
              <a:off x="6229350" y="4324350"/>
              <a:ext cx="5353050" cy="1390650"/>
            </a:xfrm>
            <a:prstGeom prst="roundRect">
              <a:avLst>
                <a:gd name="adj" fmla="val 6849"/>
              </a:avLst>
            </a:prstGeom>
            <a:solidFill>
              <a:schemeClr val="accent1"/>
            </a:solidFill>
            <a:ln>
              <a:noFill/>
            </a:ln>
            <a:effectLst>
              <a:outerShdw blurRad="76200" dist="28575" dir="5400000" algn="ctr" rotWithShape="0">
                <a:srgbClr val="0B2E52">
                  <a:alpha val="6000"/>
                </a:srgbClr>
              </a:outerShdw>
            </a:effectLst>
          </p:spPr>
        </p:sp>
        <p:sp>
          <p:nvSpPr>
            <p:cNvPr id="33" name="Rectangle 33"/>
            <p:cNvSpPr/>
            <p:nvPr/>
          </p:nvSpPr>
          <p:spPr>
            <a:xfrm>
              <a:off x="6229350" y="4324350"/>
              <a:ext cx="57150" cy="1390650"/>
            </a:xfrm>
            <a:prstGeom prst="roundRect">
              <a:avLst>
                <a:gd name="adj" fmla="val 50000"/>
              </a:avLst>
            </a:prstGeom>
            <a:solidFill>
              <a:schemeClr val="accent3"/>
            </a:solidFill>
            <a:ln>
              <a:noFill/>
            </a:ln>
          </p:spPr>
        </p:sp>
        <p:sp>
          <p:nvSpPr>
            <p:cNvPr id="34" name="TextBox 34"/>
            <p:cNvSpPr txBox="1"/>
            <p:nvPr/>
          </p:nvSpPr>
          <p:spPr>
            <a:xfrm>
              <a:off x="6452997" y="4523899"/>
              <a:ext cx="3176702" cy="190690"/>
            </a:xfrm>
            <a:prstGeom prst="rect">
              <a:avLst/>
            </a:prstGeom>
            <a:noFill/>
            <a:ln>
              <a:noFill/>
            </a:ln>
          </p:spPr>
          <p:txBody>
            <a:bodyPr wrap="none" lIns="0" tIns="0" rIns="0" bIns="0" anchor="t" anchorCtr="0">
              <a:spAutoFit/>
            </a:bodyPr>
            <a:lstStyle/>
            <a:p>
              <a:pPr algn="l"/>
              <a:r>
                <a:rPr lang="en-US" sz="980" b="1" spc="90" dirty="0">
                  <a:solidFill>
                    <a:schemeClr val="accent3"/>
                  </a:solidFill>
                  <a:latin typeface="+mn-lt"/>
                  <a:ea typeface="+mn-ea"/>
                  <a:cs typeface="+mn-cs"/>
                </a:rPr>
                <a:t>CONSTANT-COST COMPUTE · DEPTH-FREE</a:t>
              </a:r>
            </a:p>
          </p:txBody>
        </p:sp>
        <p:sp>
          <p:nvSpPr>
            <p:cNvPr id="35" name="TextBox 35"/>
            <p:cNvSpPr txBox="1"/>
            <p:nvPr/>
          </p:nvSpPr>
          <p:spPr>
            <a:xfrm>
              <a:off x="6450711" y="4799171"/>
              <a:ext cx="3276417" cy="278702"/>
            </a:xfrm>
            <a:prstGeom prst="rect">
              <a:avLst/>
            </a:prstGeom>
            <a:noFill/>
            <a:ln>
              <a:noFill/>
            </a:ln>
          </p:spPr>
          <p:txBody>
            <a:bodyPr wrap="none" lIns="0" tIns="0" rIns="0" bIns="0" anchor="t" anchorCtr="0">
              <a:spAutoFit/>
            </a:bodyPr>
            <a:lstStyle/>
            <a:p>
              <a:pPr algn="l"/>
              <a:r>
                <a:rPr lang="en-US" sz="1420" b="1" dirty="0">
                  <a:solidFill>
                    <a:srgbClr val="FFFFFF"/>
                  </a:solidFill>
                  <a:latin typeface="+mj-lt"/>
                  <a:ea typeface="+mj-ea"/>
                  <a:cs typeface="+mj-cs"/>
                </a:rPr>
                <a:t>Far faster as trees get deeper</a:t>
              </a:r>
            </a:p>
          </p:txBody>
        </p:sp>
        <p:sp>
          <p:nvSpPr>
            <p:cNvPr id="36" name="TextBox 36"/>
            <p:cNvSpPr txBox="1"/>
            <p:nvPr/>
          </p:nvSpPr>
          <p:spPr>
            <a:xfrm>
              <a:off x="6452235" y="5098256"/>
              <a:ext cx="4095124" cy="220028"/>
            </a:xfrm>
            <a:prstGeom prst="rect">
              <a:avLst/>
            </a:prstGeom>
            <a:noFill/>
            <a:ln>
              <a:noFill/>
            </a:ln>
          </p:spPr>
          <p:txBody>
            <a:bodyPr wrap="none" lIns="0" tIns="0" rIns="0" bIns="0" anchor="t" anchorCtr="0">
              <a:spAutoFit/>
            </a:bodyPr>
            <a:lstStyle/>
            <a:p>
              <a:pPr algn="l"/>
              <a:r>
                <a:rPr lang="en-US" sz="1120" dirty="0">
                  <a:solidFill>
                    <a:srgbClr val="DBE3EE"/>
                  </a:solidFill>
                  <a:latin typeface="+mn-lt"/>
                  <a:ea typeface="+mn-ea"/>
                  <a:cs typeface="+mn-cs"/>
                </a:rPr>
                <a:t>Because the tree kernel's cost never grows with depth</a:t>
              </a:r>
            </a:p>
          </p:txBody>
        </p:sp>
        <p:sp>
          <p:nvSpPr>
            <p:cNvPr id="37" name="TextBox 37"/>
            <p:cNvSpPr txBox="1"/>
            <p:nvPr/>
          </p:nvSpPr>
          <p:spPr>
            <a:xfrm>
              <a:off x="6452235" y="5307806"/>
              <a:ext cx="4150187" cy="220028"/>
            </a:xfrm>
            <a:prstGeom prst="rect">
              <a:avLst/>
            </a:prstGeom>
            <a:noFill/>
            <a:ln>
              <a:noFill/>
            </a:ln>
          </p:spPr>
          <p:txBody>
            <a:bodyPr wrap="none" lIns="0" tIns="0" rIns="0" bIns="0" anchor="t" anchorCtr="0">
              <a:spAutoFit/>
            </a:bodyPr>
            <a:lstStyle/>
            <a:p>
              <a:pPr algn="l"/>
              <a:r>
                <a:rPr lang="en-US" sz="1120" dirty="0">
                  <a:solidFill>
                    <a:srgbClr val="DBE3EE"/>
                  </a:solidFill>
                  <a:latin typeface="+mn-lt"/>
                  <a:ea typeface="+mn-ea"/>
                  <a:cs typeface="+mn-cs"/>
                </a:rPr>
                <a:t>(right panel), it is dramatically faster to compute than</a:t>
              </a:r>
            </a:p>
          </p:txBody>
        </p:sp>
        <p:sp>
          <p:nvSpPr>
            <p:cNvPr id="38" name="TextBox 38"/>
            <p:cNvSpPr txBox="1"/>
            <p:nvPr/>
          </p:nvSpPr>
          <p:spPr>
            <a:xfrm>
              <a:off x="6452235" y="5517356"/>
              <a:ext cx="2612893" cy="220028"/>
            </a:xfrm>
            <a:prstGeom prst="rect">
              <a:avLst/>
            </a:prstGeom>
            <a:noFill/>
            <a:ln>
              <a:noFill/>
            </a:ln>
          </p:spPr>
          <p:txBody>
            <a:bodyPr wrap="none" lIns="0" tIns="0" rIns="0" bIns="0" anchor="t" anchorCtr="0">
              <a:spAutoFit/>
            </a:bodyPr>
            <a:lstStyle/>
            <a:p>
              <a:pPr algn="l"/>
              <a:r>
                <a:rPr lang="en-US" sz="1120" dirty="0">
                  <a:solidFill>
                    <a:srgbClr val="DBE3EE"/>
                  </a:solidFill>
                  <a:latin typeface="+mn-lt"/>
                  <a:ea typeface="+mn-ea"/>
                  <a:cs typeface="+mn-cs"/>
                </a:rPr>
                <a:t>the MLP kernel as depth increases.</a:t>
              </a:r>
            </a:p>
          </p:txBody>
        </p:sp>
      </p:grpSp>
      <p:sp>
        <p:nvSpPr>
          <p:cNvPr id="40" name="TextBox 40"/>
          <p:cNvSpPr txBox="1"/>
          <p:nvPr/>
        </p:nvSpPr>
        <p:spPr>
          <a:xfrm>
            <a:off x="11207836" y="6578441"/>
            <a:ext cx="379326"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07 / 10</a:t>
            </a:r>
          </a:p>
        </p:txBody>
      </p:sp>
      <p:sp>
        <p:nvSpPr>
          <p:cNvPr id="41" name="cue_s07_c1_experiments_confirm_every_prediction" title="cue_s07_c1_experiments_confirm_every_prediction" descr="cue_s07_c1_experiments_confirm_every_prediction The experiments confirm every prediction. As the number of trees grows, the empirical kernel converges to the closed-form Tree NTK, and training dynamics match kernel regression."/>
          <p:cNvSpPr/>
          <p:nvPr/>
        </p:nvSpPr>
        <p:spPr>
          <a:xfrm>
            <a:off x="6228892" y="1428521"/>
            <a:ext cx="5353507" cy="13558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7_c2_making_trees_deeper_first_improves" title="cue_s07_c2_making_trees_deeper_first_improves" descr="cue_s07_c2_making_trees_deeper_first_improves Making trees deeper first improves then hurts accuracy, exactly the predicted degeneracy."/>
          <p:cNvSpPr/>
          <p:nvPr/>
        </p:nvSpPr>
        <p:spPr>
          <a:xfrm>
            <a:off x="609600" y="1428521"/>
            <a:ext cx="5353507" cy="42862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7_c3_ninety_datasets_multi_layer_perceptr" title="cue_s07_c3_ninety_datasets_multi_layer_perceptr" descr="cue_s07_c3_ninety_datasets_multi_layer_perceptr On the ninety datasets the multi-layer perceptron kernel wins on average, but the tree kernel is better on more than thirty percent of them, where the tree inductive bias fits."/>
          <p:cNvSpPr/>
          <p:nvPr/>
        </p:nvSpPr>
        <p:spPr>
          <a:xfrm>
            <a:off x="6228892" y="2876245"/>
            <a:ext cx="5353507" cy="13331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7_c4_because_its_cost_never_grows" title="cue_s07_c4_because_its_cost_never_grows" descr="cue_s07_c4_because_its_cost_never_grows And because its cost never grows with depth, it is far faster to compute."/>
          <p:cNvSpPr/>
          <p:nvPr/>
        </p:nvSpPr>
        <p:spPr>
          <a:xfrm>
            <a:off x="6228892" y="4324654"/>
            <a:ext cx="5353507" cy="141274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609600" y="533400"/>
            <a:ext cx="5640239" cy="675989"/>
            <a:chOff x="609600" y="533400"/>
            <a:chExt cx="5640239" cy="675989"/>
          </a:xfrm>
        </p:grpSpPr>
        <p:sp>
          <p:nvSpPr>
            <p:cNvPr id="2" name="Rectangle 2"/>
            <p:cNvSpPr/>
            <p:nvPr/>
          </p:nvSpPr>
          <p:spPr>
            <a:xfrm>
              <a:off x="609600" y="533400"/>
              <a:ext cx="57150" cy="381000"/>
            </a:xfrm>
            <a:prstGeom prst="rect">
              <a:avLst/>
            </a:prstGeom>
            <a:solidFill>
              <a:schemeClr val="accent2"/>
            </a:solidFill>
            <a:ln>
              <a:noFill/>
            </a:ln>
          </p:spPr>
        </p:sp>
        <p:sp>
          <p:nvSpPr>
            <p:cNvPr id="3" name="TextBox 3"/>
            <p:cNvSpPr txBox="1"/>
            <p:nvPr/>
          </p:nvSpPr>
          <p:spPr>
            <a:xfrm>
              <a:off x="825246" y="562928"/>
              <a:ext cx="5424593"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Harder splits win more often</a:t>
              </a:r>
            </a:p>
          </p:txBody>
        </p:sp>
        <p:sp>
          <p:nvSpPr>
            <p:cNvPr id="4" name="TextBox 4"/>
            <p:cNvSpPr txBox="1"/>
            <p:nvPr/>
          </p:nvSpPr>
          <p:spPr>
            <a:xfrm>
              <a:off x="833247" y="1018699"/>
              <a:ext cx="5332164"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ABLATION STUDY · SPLIT HARDNESS, DEPTH, AND OBLIVIOUS TREES</a:t>
              </a:r>
            </a:p>
          </p:txBody>
        </p:sp>
      </p:grpSp>
      <p:grpSp>
        <p:nvGrpSpPr>
          <p:cNvPr id="25" name="Group 25"/>
          <p:cNvGrpSpPr/>
          <p:nvPr/>
        </p:nvGrpSpPr>
        <p:grpSpPr>
          <a:xfrm>
            <a:off x="609600" y="1428750"/>
            <a:ext cx="5353050" cy="4286250"/>
            <a:chOff x="609600" y="1428750"/>
            <a:chExt cx="5353050" cy="4286250"/>
          </a:xfrm>
        </p:grpSpPr>
        <p:sp>
          <p:nvSpPr>
            <p:cNvPr id="6" name="Rectangle 6"/>
            <p:cNvSpPr/>
            <p:nvPr/>
          </p:nvSpPr>
          <p:spPr>
            <a:xfrm>
              <a:off x="609600" y="1428750"/>
              <a:ext cx="5353050" cy="4286250"/>
            </a:xfrm>
            <a:prstGeom prst="roundRect">
              <a:avLst>
                <a:gd name="adj" fmla="val 2667"/>
              </a:avLst>
            </a:prstGeom>
            <a:solidFill>
              <a:schemeClr val="lt1"/>
            </a:solidFill>
            <a:ln w="14288">
              <a:solidFill>
                <a:schemeClr val="accent4"/>
              </a:solidFill>
            </a:ln>
            <a:effectLst>
              <a:outerShdw blurRad="76200" dist="28575" dir="5400000" algn="ctr" rotWithShape="0">
                <a:srgbClr val="0B2E52">
                  <a:alpha val="6000"/>
                </a:srgbClr>
              </a:outerShdw>
            </a:effectLst>
          </p:spPr>
        </p:sp>
        <p:sp>
          <p:nvSpPr>
            <p:cNvPr id="7" name="Rectangle 7"/>
            <p:cNvSpPr/>
            <p:nvPr/>
          </p:nvSpPr>
          <p:spPr>
            <a:xfrm>
              <a:off x="609600" y="1428750"/>
              <a:ext cx="57150" cy="4286250"/>
            </a:xfrm>
            <a:prstGeom prst="roundRect">
              <a:avLst>
                <a:gd name="adj" fmla="val 50000"/>
              </a:avLst>
            </a:prstGeom>
            <a:solidFill>
              <a:schemeClr val="accent2"/>
            </a:solidFill>
            <a:ln>
              <a:noFill/>
            </a:ln>
          </p:spPr>
        </p:sp>
        <p:sp>
          <p:nvSpPr>
            <p:cNvPr id="8" name="TextBox 8"/>
            <p:cNvSpPr txBox="1"/>
            <p:nvPr/>
          </p:nvSpPr>
          <p:spPr>
            <a:xfrm>
              <a:off x="909447" y="1685449"/>
              <a:ext cx="3497529" cy="190690"/>
            </a:xfrm>
            <a:prstGeom prst="rect">
              <a:avLst/>
            </a:prstGeom>
            <a:noFill/>
            <a:ln>
              <a:noFill/>
            </a:ln>
          </p:spPr>
          <p:txBody>
            <a:bodyPr wrap="none" lIns="0" tIns="0" rIns="0" bIns="0" anchor="t" anchorCtr="0">
              <a:spAutoFit/>
            </a:bodyPr>
            <a:lstStyle/>
            <a:p>
              <a:pPr algn="l"/>
              <a:r>
                <a:rPr lang="en-US" sz="980" b="1" spc="90" dirty="0">
                  <a:solidFill>
                    <a:schemeClr val="accent2"/>
                  </a:solidFill>
                  <a:latin typeface="+mn-lt"/>
                  <a:ea typeface="+mn-ea"/>
                  <a:cs typeface="+mn-cs"/>
                </a:rPr>
                <a:t>SPLIT HARDNESS α → WIN RATE vs MLP KERNEL</a:t>
              </a:r>
            </a:p>
          </p:txBody>
        </p:sp>
        <p:sp>
          <p:nvSpPr>
            <p:cNvPr id="9" name="TextBox 9"/>
            <p:cNvSpPr txBox="1"/>
            <p:nvPr/>
          </p:nvSpPr>
          <p:spPr>
            <a:xfrm>
              <a:off x="906399" y="1887379"/>
              <a:ext cx="3881048"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Harder splits, more dataset wins</a:t>
              </a:r>
            </a:p>
          </p:txBody>
        </p:sp>
        <p:sp>
          <p:nvSpPr>
            <p:cNvPr id="10" name="Line 10"/>
            <p:cNvSpPr/>
            <p:nvPr/>
          </p:nvSpPr>
          <p:spPr>
            <a:xfrm>
              <a:off x="1066800" y="4476750"/>
              <a:ext cx="4533900" cy="9525"/>
            </a:xfrm>
            <a:custGeom>
              <a:avLst/>
              <a:gdLst/>
              <a:ahLst/>
              <a:cxnLst/>
              <a:rect l="l" t="t" r="r" b="b"/>
              <a:pathLst>
                <a:path w="4533900" h="9525">
                  <a:moveTo>
                    <a:pt x="0" y="0"/>
                  </a:moveTo>
                  <a:lnTo>
                    <a:pt x="4533900" y="0"/>
                  </a:lnTo>
                </a:path>
              </a:pathLst>
            </a:custGeom>
            <a:noFill/>
            <a:ln w="14288">
              <a:solidFill>
                <a:schemeClr val="accent4"/>
              </a:solidFill>
            </a:ln>
          </p:spPr>
        </p:sp>
        <p:sp>
          <p:nvSpPr>
            <p:cNvPr id="11" name="Line 11"/>
            <p:cNvSpPr/>
            <p:nvPr/>
          </p:nvSpPr>
          <p:spPr>
            <a:xfrm>
              <a:off x="1066800" y="3819525"/>
              <a:ext cx="4533900" cy="9525"/>
            </a:xfrm>
            <a:custGeom>
              <a:avLst/>
              <a:gdLst/>
              <a:ahLst/>
              <a:cxnLst/>
              <a:rect l="l" t="t" r="r" b="b"/>
              <a:pathLst>
                <a:path w="4533900" h="9525">
                  <a:moveTo>
                    <a:pt x="0" y="0"/>
                  </a:moveTo>
                  <a:lnTo>
                    <a:pt x="4533900" y="0"/>
                  </a:lnTo>
                </a:path>
              </a:pathLst>
            </a:custGeom>
            <a:noFill/>
            <a:ln w="14288">
              <a:solidFill>
                <a:srgbClr val="C0392B"/>
              </a:solidFill>
              <a:custDash>
                <a:ds d="400000" sp="333333"/>
              </a:custDash>
            </a:ln>
          </p:spPr>
        </p:sp>
        <p:sp>
          <p:nvSpPr>
            <p:cNvPr id="12" name="TextBox 12"/>
            <p:cNvSpPr txBox="1"/>
            <p:nvPr/>
          </p:nvSpPr>
          <p:spPr>
            <a:xfrm>
              <a:off x="4915150" y="3666649"/>
              <a:ext cx="690503" cy="190690"/>
            </a:xfrm>
            <a:prstGeom prst="rect">
              <a:avLst/>
            </a:prstGeom>
            <a:noFill/>
            <a:ln>
              <a:noFill/>
            </a:ln>
          </p:spPr>
          <p:txBody>
            <a:bodyPr wrap="none" lIns="0" tIns="0" rIns="0" bIns="0" anchor="t" anchorCtr="0">
              <a:spAutoFit/>
            </a:bodyPr>
            <a:lstStyle/>
            <a:p>
              <a:pPr algn="r"/>
              <a:r>
                <a:rPr lang="en-US" sz="980" b="1" dirty="0">
                  <a:solidFill>
                    <a:srgbClr val="C0392B"/>
                  </a:solidFill>
                  <a:latin typeface="+mn-lt"/>
                  <a:ea typeface="+mn-ea"/>
                  <a:cs typeface="+mn-cs"/>
                </a:rPr>
                <a:t>RBF ≈ 12%</a:t>
              </a:r>
            </a:p>
          </p:txBody>
        </p:sp>
        <p:sp>
          <p:nvSpPr>
            <p:cNvPr id="13" name="Rectangle 13"/>
            <p:cNvSpPr/>
            <p:nvPr/>
          </p:nvSpPr>
          <p:spPr>
            <a:xfrm>
              <a:off x="1428750" y="3714750"/>
              <a:ext cx="762000" cy="762000"/>
            </a:xfrm>
            <a:prstGeom prst="rect">
              <a:avLst/>
            </a:prstGeom>
            <a:solidFill>
              <a:schemeClr val="accent3"/>
            </a:solidFill>
            <a:ln>
              <a:noFill/>
            </a:ln>
          </p:spPr>
        </p:sp>
        <p:sp>
          <p:nvSpPr>
            <p:cNvPr id="14" name="TextBox 14"/>
            <p:cNvSpPr txBox="1"/>
            <p:nvPr/>
          </p:nvSpPr>
          <p:spPr>
            <a:xfrm>
              <a:off x="1606337" y="3484721"/>
              <a:ext cx="406826" cy="278702"/>
            </a:xfrm>
            <a:prstGeom prst="rect">
              <a:avLst/>
            </a:prstGeom>
            <a:noFill/>
            <a:ln>
              <a:noFill/>
            </a:ln>
          </p:spPr>
          <p:txBody>
            <a:bodyPr wrap="none" lIns="0" tIns="0" rIns="0" bIns="0" anchor="t" anchorCtr="0">
              <a:spAutoFit/>
            </a:bodyPr>
            <a:lstStyle/>
            <a:p>
              <a:pPr algn="ctr"/>
              <a:r>
                <a:rPr lang="en-US" sz="1420" b="1" dirty="0">
                  <a:solidFill>
                    <a:schemeClr val="accent1"/>
                  </a:solidFill>
                  <a:latin typeface="Georgia"/>
                  <a:ea typeface="Georgia"/>
                  <a:cs typeface="Georgia"/>
                </a:rPr>
                <a:t>14%</a:t>
              </a:r>
            </a:p>
          </p:txBody>
        </p:sp>
        <p:sp>
          <p:nvSpPr>
            <p:cNvPr id="15" name="TextBox 15"/>
            <p:cNvSpPr txBox="1"/>
            <p:nvPr/>
          </p:nvSpPr>
          <p:spPr>
            <a:xfrm>
              <a:off x="1588856" y="4553902"/>
              <a:ext cx="441789"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soft α</a:t>
              </a:r>
            </a:p>
          </p:txBody>
        </p:sp>
        <p:sp>
          <p:nvSpPr>
            <p:cNvPr id="16" name="Rectangle 16"/>
            <p:cNvSpPr/>
            <p:nvPr/>
          </p:nvSpPr>
          <p:spPr>
            <a:xfrm>
              <a:off x="2571750" y="3162300"/>
              <a:ext cx="762000" cy="1314450"/>
            </a:xfrm>
            <a:prstGeom prst="rect">
              <a:avLst/>
            </a:prstGeom>
            <a:solidFill>
              <a:schemeClr val="accent2"/>
            </a:solidFill>
            <a:ln>
              <a:noFill/>
            </a:ln>
          </p:spPr>
        </p:sp>
        <p:sp>
          <p:nvSpPr>
            <p:cNvPr id="17" name="TextBox 17"/>
            <p:cNvSpPr txBox="1"/>
            <p:nvPr/>
          </p:nvSpPr>
          <p:spPr>
            <a:xfrm>
              <a:off x="2749337" y="2932271"/>
              <a:ext cx="406826" cy="278702"/>
            </a:xfrm>
            <a:prstGeom prst="rect">
              <a:avLst/>
            </a:prstGeom>
            <a:noFill/>
            <a:ln>
              <a:noFill/>
            </a:ln>
          </p:spPr>
          <p:txBody>
            <a:bodyPr wrap="none" lIns="0" tIns="0" rIns="0" bIns="0" anchor="t" anchorCtr="0">
              <a:spAutoFit/>
            </a:bodyPr>
            <a:lstStyle/>
            <a:p>
              <a:pPr algn="ctr"/>
              <a:r>
                <a:rPr lang="en-US" sz="1420" b="1" dirty="0">
                  <a:solidFill>
                    <a:schemeClr val="accent1"/>
                  </a:solidFill>
                  <a:latin typeface="Georgia"/>
                  <a:ea typeface="Georgia"/>
                  <a:cs typeface="Georgia"/>
                </a:rPr>
                <a:t>24%</a:t>
              </a:r>
            </a:p>
          </p:txBody>
        </p:sp>
        <p:sp>
          <p:nvSpPr>
            <p:cNvPr id="18" name="TextBox 18"/>
            <p:cNvSpPr txBox="1"/>
            <p:nvPr/>
          </p:nvSpPr>
          <p:spPr>
            <a:xfrm>
              <a:off x="2643511" y="4553902"/>
              <a:ext cx="618477"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medium α</a:t>
              </a:r>
            </a:p>
          </p:txBody>
        </p:sp>
        <p:sp>
          <p:nvSpPr>
            <p:cNvPr id="19" name="Rectangle 19"/>
            <p:cNvSpPr/>
            <p:nvPr/>
          </p:nvSpPr>
          <p:spPr>
            <a:xfrm>
              <a:off x="3714750" y="2562225"/>
              <a:ext cx="762000" cy="1914525"/>
            </a:xfrm>
            <a:prstGeom prst="rect">
              <a:avLst/>
            </a:prstGeom>
            <a:solidFill>
              <a:schemeClr val="accent1"/>
            </a:solidFill>
            <a:ln>
              <a:noFill/>
            </a:ln>
          </p:spPr>
        </p:sp>
        <p:sp>
          <p:nvSpPr>
            <p:cNvPr id="20" name="TextBox 20"/>
            <p:cNvSpPr txBox="1"/>
            <p:nvPr/>
          </p:nvSpPr>
          <p:spPr>
            <a:xfrm>
              <a:off x="3892337" y="2332196"/>
              <a:ext cx="406826" cy="278702"/>
            </a:xfrm>
            <a:prstGeom prst="rect">
              <a:avLst/>
            </a:prstGeom>
            <a:noFill/>
            <a:ln>
              <a:noFill/>
            </a:ln>
          </p:spPr>
          <p:txBody>
            <a:bodyPr wrap="none" lIns="0" tIns="0" rIns="0" bIns="0" anchor="t" anchorCtr="0">
              <a:spAutoFit/>
            </a:bodyPr>
            <a:lstStyle/>
            <a:p>
              <a:pPr algn="ctr"/>
              <a:r>
                <a:rPr lang="en-US" sz="1420" b="1" dirty="0">
                  <a:solidFill>
                    <a:schemeClr val="accent1"/>
                  </a:solidFill>
                  <a:latin typeface="Georgia"/>
                  <a:ea typeface="Georgia"/>
                  <a:cs typeface="Georgia"/>
                </a:rPr>
                <a:t>35%</a:t>
              </a:r>
            </a:p>
          </p:txBody>
        </p:sp>
        <p:sp>
          <p:nvSpPr>
            <p:cNvPr id="21" name="TextBox 21"/>
            <p:cNvSpPr txBox="1"/>
            <p:nvPr/>
          </p:nvSpPr>
          <p:spPr>
            <a:xfrm>
              <a:off x="3874856" y="4553902"/>
              <a:ext cx="441789"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hard α</a:t>
              </a:r>
            </a:p>
          </p:txBody>
        </p:sp>
        <p:sp>
          <p:nvSpPr>
            <p:cNvPr id="22" name="TextBox 22"/>
            <p:cNvSpPr txBox="1"/>
            <p:nvPr/>
          </p:nvSpPr>
          <p:spPr>
            <a:xfrm>
              <a:off x="908304" y="4975860"/>
              <a:ext cx="416949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Dataset-wise win rate against the MLP kernel climbs</a:t>
              </a:r>
            </a:p>
          </p:txBody>
        </p:sp>
        <p:sp>
          <p:nvSpPr>
            <p:cNvPr id="23" name="TextBox 23"/>
            <p:cNvSpPr txBox="1"/>
            <p:nvPr/>
          </p:nvSpPr>
          <p:spPr>
            <a:xfrm>
              <a:off x="908304" y="5204460"/>
              <a:ext cx="4204259"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from about 14% for soft splits to nearly 35% for the</a:t>
              </a:r>
            </a:p>
          </p:txBody>
        </p:sp>
        <p:sp>
          <p:nvSpPr>
            <p:cNvPr id="24" name="TextBox 24"/>
            <p:cNvSpPr txBox="1"/>
            <p:nvPr/>
          </p:nvSpPr>
          <p:spPr>
            <a:xfrm>
              <a:off x="908304" y="5433060"/>
              <a:ext cx="286389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hardest, all above the RBF baseline.</a:t>
              </a:r>
            </a:p>
          </p:txBody>
        </p:sp>
      </p:grpSp>
      <p:grpSp>
        <p:nvGrpSpPr>
          <p:cNvPr id="31" name="Group 31"/>
          <p:cNvGrpSpPr/>
          <p:nvPr/>
        </p:nvGrpSpPr>
        <p:grpSpPr>
          <a:xfrm>
            <a:off x="6229350" y="1428750"/>
            <a:ext cx="5353050" cy="1162050"/>
            <a:chOff x="6229350" y="1428750"/>
            <a:chExt cx="5353050" cy="1162050"/>
          </a:xfrm>
        </p:grpSpPr>
        <p:sp>
          <p:nvSpPr>
            <p:cNvPr id="26" name="Rectangle 26"/>
            <p:cNvSpPr/>
            <p:nvPr/>
          </p:nvSpPr>
          <p:spPr>
            <a:xfrm>
              <a:off x="6229350" y="1428750"/>
              <a:ext cx="5353050" cy="1162050"/>
            </a:xfrm>
            <a:prstGeom prst="roundRect">
              <a:avLst>
                <a:gd name="adj" fmla="val 8197"/>
              </a:avLst>
            </a:prstGeom>
            <a:solidFill>
              <a:schemeClr val="accent1"/>
            </a:solidFill>
            <a:ln>
              <a:noFill/>
            </a:ln>
            <a:effectLst>
              <a:outerShdw blurRad="76200" dist="28575" dir="5400000" algn="ctr" rotWithShape="0">
                <a:srgbClr val="0B2E52">
                  <a:alpha val="6000"/>
                </a:srgbClr>
              </a:outerShdw>
            </a:effectLst>
          </p:spPr>
        </p:sp>
        <p:sp>
          <p:nvSpPr>
            <p:cNvPr id="27" name="Rectangle 27"/>
            <p:cNvSpPr/>
            <p:nvPr/>
          </p:nvSpPr>
          <p:spPr>
            <a:xfrm>
              <a:off x="6229350" y="1428750"/>
              <a:ext cx="57150" cy="1162050"/>
            </a:xfrm>
            <a:prstGeom prst="roundRect">
              <a:avLst>
                <a:gd name="adj" fmla="val 50000"/>
              </a:avLst>
            </a:prstGeom>
            <a:solidFill>
              <a:schemeClr val="accent3"/>
            </a:solidFill>
            <a:ln>
              <a:noFill/>
            </a:ln>
          </p:spPr>
        </p:sp>
        <p:sp>
          <p:nvSpPr>
            <p:cNvPr id="28" name="TextBox 28"/>
            <p:cNvSpPr txBox="1"/>
            <p:nvPr/>
          </p:nvSpPr>
          <p:spPr>
            <a:xfrm>
              <a:off x="6452997" y="1628299"/>
              <a:ext cx="1934499" cy="190690"/>
            </a:xfrm>
            <a:prstGeom prst="rect">
              <a:avLst/>
            </a:prstGeom>
            <a:noFill/>
            <a:ln>
              <a:noFill/>
            </a:ln>
          </p:spPr>
          <p:txBody>
            <a:bodyPr wrap="none" lIns="0" tIns="0" rIns="0" bIns="0" anchor="t" anchorCtr="0">
              <a:spAutoFit/>
            </a:bodyPr>
            <a:lstStyle/>
            <a:p>
              <a:pPr algn="l"/>
              <a:r>
                <a:rPr lang="en-US" sz="980" b="1" spc="90" dirty="0">
                  <a:solidFill>
                    <a:schemeClr val="accent3"/>
                  </a:solidFill>
                  <a:latin typeface="+mn-lt"/>
                  <a:ea typeface="+mn-ea"/>
                  <a:cs typeface="+mn-cs"/>
                </a:rPr>
                <a:t>TWO CENTRAL ABLATIONS</a:t>
              </a:r>
            </a:p>
          </p:txBody>
        </p:sp>
        <p:sp>
          <p:nvSpPr>
            <p:cNvPr id="29" name="TextBox 29"/>
            <p:cNvSpPr txBox="1"/>
            <p:nvPr/>
          </p:nvSpPr>
          <p:spPr>
            <a:xfrm>
              <a:off x="6449568" y="1936432"/>
              <a:ext cx="3338659"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j-lt"/>
                  <a:ea typeface="+mj-ea"/>
                  <a:cs typeface="+mj-cs"/>
                </a:rPr>
                <a:t>Split hardness · tree depth</a:t>
              </a:r>
            </a:p>
          </p:txBody>
        </p:sp>
        <p:sp>
          <p:nvSpPr>
            <p:cNvPr id="30" name="TextBox 30"/>
            <p:cNvSpPr txBox="1"/>
            <p:nvPr/>
          </p:nvSpPr>
          <p:spPr>
            <a:xfrm>
              <a:off x="6452235" y="2259806"/>
              <a:ext cx="4027074" cy="220028"/>
            </a:xfrm>
            <a:prstGeom prst="rect">
              <a:avLst/>
            </a:prstGeom>
            <a:noFill/>
            <a:ln>
              <a:noFill/>
            </a:ln>
          </p:spPr>
          <p:txBody>
            <a:bodyPr wrap="none" lIns="0" tIns="0" rIns="0" bIns="0" anchor="t" anchorCtr="0">
              <a:spAutoFit/>
            </a:bodyPr>
            <a:lstStyle/>
            <a:p>
              <a:pPr algn="l"/>
              <a:r>
                <a:rPr lang="en-US" sz="1120" dirty="0">
                  <a:solidFill>
                    <a:srgbClr val="DBE3EE"/>
                  </a:solidFill>
                  <a:latin typeface="+mn-lt"/>
                  <a:ea typeface="+mn-ea"/>
                  <a:cs typeface="+mn-cs"/>
                </a:rPr>
                <a:t>Plus an empirical check of the oblivious-tree theorem.</a:t>
              </a:r>
            </a:p>
          </p:txBody>
        </p:sp>
      </p:grpSp>
      <p:grpSp>
        <p:nvGrpSpPr>
          <p:cNvPr id="38" name="Group 38"/>
          <p:cNvGrpSpPr/>
          <p:nvPr/>
        </p:nvGrpSpPr>
        <p:grpSpPr>
          <a:xfrm>
            <a:off x="6229350" y="2705100"/>
            <a:ext cx="5353050" cy="1165384"/>
            <a:chOff x="6229350" y="2705100"/>
            <a:chExt cx="5353050" cy="1165384"/>
          </a:xfrm>
        </p:grpSpPr>
        <p:sp>
          <p:nvSpPr>
            <p:cNvPr id="32" name="Rectangle 32"/>
            <p:cNvSpPr/>
            <p:nvPr/>
          </p:nvSpPr>
          <p:spPr>
            <a:xfrm>
              <a:off x="6229350" y="2705100"/>
              <a:ext cx="5353050" cy="1162050"/>
            </a:xfrm>
            <a:prstGeom prst="roundRect">
              <a:avLst>
                <a:gd name="adj" fmla="val 8197"/>
              </a:avLst>
            </a:prstGeom>
            <a:solidFill>
              <a:schemeClr val="lt1"/>
            </a:solidFill>
            <a:ln w="14288">
              <a:solidFill>
                <a:schemeClr val="accent4"/>
              </a:solidFill>
            </a:ln>
            <a:effectLst>
              <a:outerShdw blurRad="76200" dist="28575" dir="5400000" algn="ctr" rotWithShape="0">
                <a:srgbClr val="0B2E52">
                  <a:alpha val="6000"/>
                </a:srgbClr>
              </a:outerShdw>
            </a:effectLst>
          </p:spPr>
        </p:sp>
        <p:sp>
          <p:nvSpPr>
            <p:cNvPr id="33" name="Rectangle 33"/>
            <p:cNvSpPr/>
            <p:nvPr/>
          </p:nvSpPr>
          <p:spPr>
            <a:xfrm>
              <a:off x="6229350" y="2705100"/>
              <a:ext cx="57150" cy="1162050"/>
            </a:xfrm>
            <a:prstGeom prst="roundRect">
              <a:avLst>
                <a:gd name="adj" fmla="val 50000"/>
              </a:avLst>
            </a:prstGeom>
            <a:solidFill>
              <a:schemeClr val="accent2"/>
            </a:solidFill>
            <a:ln>
              <a:noFill/>
            </a:ln>
          </p:spPr>
        </p:sp>
        <p:sp>
          <p:nvSpPr>
            <p:cNvPr id="34" name="TextBox 34"/>
            <p:cNvSpPr txBox="1"/>
            <p:nvPr/>
          </p:nvSpPr>
          <p:spPr>
            <a:xfrm>
              <a:off x="6452997" y="2904649"/>
              <a:ext cx="1016112" cy="190690"/>
            </a:xfrm>
            <a:prstGeom prst="rect">
              <a:avLst/>
            </a:prstGeom>
            <a:noFill/>
            <a:ln>
              <a:noFill/>
            </a:ln>
          </p:spPr>
          <p:txBody>
            <a:bodyPr wrap="none" lIns="0" tIns="0" rIns="0" bIns="0" anchor="t" anchorCtr="0">
              <a:spAutoFit/>
            </a:bodyPr>
            <a:lstStyle/>
            <a:p>
              <a:pPr algn="l"/>
              <a:r>
                <a:rPr lang="en-US" sz="980" b="1" spc="90" dirty="0">
                  <a:solidFill>
                    <a:schemeClr val="accent2"/>
                  </a:solidFill>
                  <a:latin typeface="+mn-lt"/>
                  <a:ea typeface="+mn-ea"/>
                  <a:cs typeface="+mn-cs"/>
                </a:rPr>
                <a:t>DEPTH SWEEP</a:t>
              </a:r>
            </a:p>
          </p:txBody>
        </p:sp>
        <p:sp>
          <p:nvSpPr>
            <p:cNvPr id="35" name="TextBox 35"/>
            <p:cNvSpPr txBox="1"/>
            <p:nvPr/>
          </p:nvSpPr>
          <p:spPr>
            <a:xfrm>
              <a:off x="6450711" y="3141821"/>
              <a:ext cx="2554551"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j-lt"/>
                  <a:ea typeface="+mj-ea"/>
                  <a:cs typeface="+mj-cs"/>
                </a:rPr>
                <a:t>Degeneracy, reproduced</a:t>
              </a:r>
            </a:p>
          </p:txBody>
        </p:sp>
        <p:sp>
          <p:nvSpPr>
            <p:cNvPr id="36" name="TextBox 36"/>
            <p:cNvSpPr txBox="1"/>
            <p:nvPr/>
          </p:nvSpPr>
          <p:spPr>
            <a:xfrm>
              <a:off x="6452235" y="3440906"/>
              <a:ext cx="409500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Sweeping tree depth reproduces the degeneracy story:</a:t>
              </a:r>
            </a:p>
          </p:txBody>
        </p:sp>
        <p:sp>
          <p:nvSpPr>
            <p:cNvPr id="37" name="TextBox 37"/>
            <p:cNvSpPr txBox="1"/>
            <p:nvPr/>
          </p:nvSpPr>
          <p:spPr>
            <a:xfrm>
              <a:off x="6452235" y="3650456"/>
              <a:ext cx="418788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accuracy first improves, then declines as trees deepen.</a:t>
              </a:r>
            </a:p>
          </p:txBody>
        </p:sp>
      </p:grpSp>
      <p:grpSp>
        <p:nvGrpSpPr>
          <p:cNvPr id="47" name="Group 47"/>
          <p:cNvGrpSpPr/>
          <p:nvPr/>
        </p:nvGrpSpPr>
        <p:grpSpPr>
          <a:xfrm>
            <a:off x="6229350" y="3981450"/>
            <a:ext cx="5353050" cy="1733550"/>
            <a:chOff x="6229350" y="3981450"/>
            <a:chExt cx="5353050" cy="1733550"/>
          </a:xfrm>
        </p:grpSpPr>
        <p:sp>
          <p:nvSpPr>
            <p:cNvPr id="39" name="Rectangle 39"/>
            <p:cNvSpPr/>
            <p:nvPr/>
          </p:nvSpPr>
          <p:spPr>
            <a:xfrm>
              <a:off x="6229350" y="3981450"/>
              <a:ext cx="5353050" cy="1733550"/>
            </a:xfrm>
            <a:prstGeom prst="roundRect">
              <a:avLst>
                <a:gd name="adj" fmla="val 5495"/>
              </a:avLst>
            </a:prstGeom>
            <a:solidFill>
              <a:schemeClr val="accent6"/>
            </a:solidFill>
            <a:ln w="14288">
              <a:solidFill>
                <a:schemeClr val="accent2"/>
              </a:solidFill>
            </a:ln>
            <a:effectLst>
              <a:outerShdw blurRad="76200" dist="28575" dir="5400000" algn="ctr" rotWithShape="0">
                <a:srgbClr val="0B2E52">
                  <a:alpha val="6000"/>
                </a:srgbClr>
              </a:outerShdw>
            </a:effectLst>
          </p:spPr>
        </p:sp>
        <p:sp>
          <p:nvSpPr>
            <p:cNvPr id="40" name="Rectangle 40"/>
            <p:cNvSpPr/>
            <p:nvPr/>
          </p:nvSpPr>
          <p:spPr>
            <a:xfrm>
              <a:off x="6229350" y="3981450"/>
              <a:ext cx="57150" cy="1733550"/>
            </a:xfrm>
            <a:prstGeom prst="roundRect">
              <a:avLst>
                <a:gd name="adj" fmla="val 50000"/>
              </a:avLst>
            </a:prstGeom>
            <a:solidFill>
              <a:srgbClr val="1F7A46"/>
            </a:solidFill>
            <a:ln>
              <a:noFill/>
            </a:ln>
          </p:spPr>
        </p:sp>
        <p:sp>
          <p:nvSpPr>
            <p:cNvPr id="41" name="TextBox 41"/>
            <p:cNvSpPr txBox="1"/>
            <p:nvPr/>
          </p:nvSpPr>
          <p:spPr>
            <a:xfrm>
              <a:off x="6452997" y="4180999"/>
              <a:ext cx="2470523" cy="190690"/>
            </a:xfrm>
            <a:prstGeom prst="rect">
              <a:avLst/>
            </a:prstGeom>
            <a:noFill/>
            <a:ln>
              <a:noFill/>
            </a:ln>
          </p:spPr>
          <p:txBody>
            <a:bodyPr wrap="none" lIns="0" tIns="0" rIns="0" bIns="0" anchor="t" anchorCtr="0">
              <a:spAutoFit/>
            </a:bodyPr>
            <a:lstStyle/>
            <a:p>
              <a:pPr algn="l"/>
              <a:r>
                <a:rPr lang="en-US" sz="980" b="1" spc="90" dirty="0">
                  <a:solidFill>
                    <a:srgbClr val="1F7A46"/>
                  </a:solidFill>
                  <a:latin typeface="+mn-lt"/>
                  <a:ea typeface="+mn-ea"/>
                  <a:cs typeface="+mn-cs"/>
                </a:rPr>
                <a:t>OBLIVIOUS THEOREM · VERIFIED</a:t>
              </a:r>
            </a:p>
          </p:txBody>
        </p:sp>
        <p:sp>
          <p:nvSpPr>
            <p:cNvPr id="42" name="TextBox 42"/>
            <p:cNvSpPr txBox="1"/>
            <p:nvPr/>
          </p:nvSpPr>
          <p:spPr>
            <a:xfrm>
              <a:off x="6450711" y="4418171"/>
              <a:ext cx="2838927"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j-lt"/>
                  <a:ea typeface="+mj-ea"/>
                  <a:cs typeface="+mj-cs"/>
                </a:rPr>
                <a:t>Oblivious matches ordinary</a:t>
              </a:r>
            </a:p>
          </p:txBody>
        </p:sp>
        <p:sp>
          <p:nvSpPr>
            <p:cNvPr id="43" name="TextBox 43"/>
            <p:cNvSpPr txBox="1"/>
            <p:nvPr/>
          </p:nvSpPr>
          <p:spPr>
            <a:xfrm>
              <a:off x="6452235" y="4717256"/>
              <a:ext cx="404195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authors verify empirically that oblivious trees, as</a:t>
              </a:r>
            </a:p>
          </p:txBody>
        </p:sp>
        <p:sp>
          <p:nvSpPr>
            <p:cNvPr id="44" name="TextBox 44"/>
            <p:cNvSpPr txBox="1"/>
            <p:nvPr/>
          </p:nvSpPr>
          <p:spPr>
            <a:xfrm>
              <a:off x="6452235" y="4926806"/>
              <a:ext cx="373443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used by the NODE model, induce the same kernel as</a:t>
              </a:r>
            </a:p>
          </p:txBody>
        </p:sp>
        <p:sp>
          <p:nvSpPr>
            <p:cNvPr id="45" name="TextBox 45"/>
            <p:cNvSpPr txBox="1"/>
            <p:nvPr/>
          </p:nvSpPr>
          <p:spPr>
            <a:xfrm>
              <a:off x="6452235" y="5136356"/>
              <a:ext cx="299676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ordinary soft trees in the infinite limit.</a:t>
              </a:r>
            </a:p>
          </p:txBody>
        </p:sp>
        <p:sp>
          <p:nvSpPr>
            <p:cNvPr id="46" name="TextBox 46"/>
            <p:cNvSpPr txBox="1"/>
            <p:nvPr/>
          </p:nvSpPr>
          <p:spPr>
            <a:xfrm>
              <a:off x="6452616" y="5430202"/>
              <a:ext cx="3542018" cy="205359"/>
            </a:xfrm>
            <a:prstGeom prst="rect">
              <a:avLst/>
            </a:prstGeom>
            <a:noFill/>
            <a:ln>
              <a:noFill/>
            </a:ln>
          </p:spPr>
          <p:txBody>
            <a:bodyPr wrap="none" lIns="0" tIns="0" rIns="0" bIns="0" anchor="t" anchorCtr="0">
              <a:spAutoFit/>
            </a:bodyPr>
            <a:lstStyle/>
            <a:p>
              <a:pPr algn="l"/>
              <a:r>
                <a:rPr lang="en-US" sz="1050" i="1" dirty="0">
                  <a:solidFill>
                    <a:srgbClr val="1F7A46"/>
                  </a:solidFill>
                  <a:latin typeface="+mn-lt"/>
                  <a:ea typeface="+mn-ea"/>
                  <a:cs typeface="+mn-cs"/>
                </a:rPr>
                <a:t>Parameter sharing is free in the infinite ensemble.</a:t>
              </a:r>
            </a:p>
          </p:txBody>
        </p:sp>
      </p:grpSp>
      <p:sp>
        <p:nvSpPr>
          <p:cNvPr id="48" name="TextBox 48"/>
          <p:cNvSpPr txBox="1"/>
          <p:nvPr/>
        </p:nvSpPr>
        <p:spPr>
          <a:xfrm>
            <a:off x="11207836" y="6578441"/>
            <a:ext cx="379326"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08 / 10</a:t>
            </a:r>
          </a:p>
        </p:txBody>
      </p:sp>
      <p:sp>
        <p:nvSpPr>
          <p:cNvPr id="49" name="cue_s08_c1_two_ablations_central" title="cue_s08_c1_two_ablations_central" descr="cue_s08_c1_two_ablations_central Two ablations are central."/>
          <p:cNvSpPr/>
          <p:nvPr/>
        </p:nvSpPr>
        <p:spPr>
          <a:xfrm>
            <a:off x="6228892" y="1428521"/>
            <a:ext cx="5353507" cy="11617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8_c2_sweeping_split_hardness_parameter_al" title="cue_s08_c2_sweeping_split_hardness_parameter_al" descr="cue_s08_c2_sweeping_split_hardness_parameter_al Sweeping the split-hardness parameter alpha shows harder splits give better dataset-wise win rates against the MLP kernel, climbing from about fourteen percent when splits are soft to nearly thirty-five percent at the hardest, all above the radial basis functi"/>
          <p:cNvSpPr/>
          <p:nvPr/>
        </p:nvSpPr>
        <p:spPr>
          <a:xfrm>
            <a:off x="609600" y="1428521"/>
            <a:ext cx="5353507" cy="42862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8_c3_sweeping_tree_depth_reproduces_degen" title="cue_s08_c3_sweeping_tree_depth_reproduces_degen" descr="cue_s08_c3_sweeping_tree_depth_reproduces_degen Sweeping tree depth reproduces the degeneracy story."/>
          <p:cNvSpPr/>
          <p:nvPr/>
        </p:nvSpPr>
        <p:spPr>
          <a:xfrm>
            <a:off x="6228892" y="2704795"/>
            <a:ext cx="5353507" cy="116517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8_c4_authors_also_verify_empirically_obli" title="cue_s08_c4_authors_also_verify_empirically_obli" descr="cue_s08_c4_authors_also_verify_empirically_obli The authors also verify empirically that oblivious trees, as used by NODE, induce the same kernel as ordinary soft trees."/>
          <p:cNvSpPr/>
          <p:nvPr/>
        </p:nvSpPr>
        <p:spPr>
          <a:xfrm>
            <a:off x="6228892" y="3981754"/>
            <a:ext cx="5353507" cy="17337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609600" y="533400"/>
            <a:ext cx="4984540" cy="675989"/>
            <a:chOff x="609600" y="533400"/>
            <a:chExt cx="4984540" cy="675989"/>
          </a:xfrm>
        </p:grpSpPr>
        <p:sp>
          <p:nvSpPr>
            <p:cNvPr id="2" name="Rectangle 2"/>
            <p:cNvSpPr/>
            <p:nvPr/>
          </p:nvSpPr>
          <p:spPr>
            <a:xfrm>
              <a:off x="609600" y="533400"/>
              <a:ext cx="57150" cy="381000"/>
            </a:xfrm>
            <a:prstGeom prst="rect">
              <a:avLst/>
            </a:prstGeom>
            <a:solidFill>
              <a:schemeClr val="accent2"/>
            </a:solidFill>
            <a:ln>
              <a:noFill/>
            </a:ln>
          </p:spPr>
        </p:sp>
        <p:sp>
          <p:nvSpPr>
            <p:cNvPr id="3" name="TextBox 3"/>
            <p:cNvSpPr txBox="1"/>
            <p:nvPr/>
          </p:nvSpPr>
          <p:spPr>
            <a:xfrm>
              <a:off x="825246" y="562928"/>
              <a:ext cx="3956799"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The headline numbers</a:t>
              </a:r>
            </a:p>
          </p:txBody>
        </p:sp>
        <p:sp>
          <p:nvSpPr>
            <p:cNvPr id="4" name="TextBox 4"/>
            <p:cNvSpPr txBox="1"/>
            <p:nvPr/>
          </p:nvSpPr>
          <p:spPr>
            <a:xfrm>
              <a:off x="833247" y="1018699"/>
              <a:ext cx="4760893"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RESULTS AT A GLANCE · WIN RATE, COST, AND DEPTH RANGE</a:t>
              </a:r>
            </a:p>
          </p:txBody>
        </p:sp>
      </p:grpSp>
      <p:grpSp>
        <p:nvGrpSpPr>
          <p:cNvPr id="13" name="Group 13"/>
          <p:cNvGrpSpPr/>
          <p:nvPr/>
        </p:nvGrpSpPr>
        <p:grpSpPr>
          <a:xfrm>
            <a:off x="609600" y="1428750"/>
            <a:ext cx="3429000" cy="1774984"/>
            <a:chOff x="609600" y="1428750"/>
            <a:chExt cx="3429000" cy="1774984"/>
          </a:xfrm>
        </p:grpSpPr>
        <p:sp>
          <p:nvSpPr>
            <p:cNvPr id="6" name="Rectangle 6"/>
            <p:cNvSpPr/>
            <p:nvPr/>
          </p:nvSpPr>
          <p:spPr>
            <a:xfrm>
              <a:off x="609600" y="1428750"/>
              <a:ext cx="3429000" cy="1714500"/>
            </a:xfrm>
            <a:prstGeom prst="roundRect">
              <a:avLst>
                <a:gd name="adj" fmla="val 6667"/>
              </a:avLst>
            </a:prstGeom>
            <a:solidFill>
              <a:schemeClr val="accent1"/>
            </a:solidFill>
            <a:ln>
              <a:noFill/>
            </a:ln>
            <a:effectLst>
              <a:outerShdw blurRad="76200" dist="28575" dir="5400000" algn="ctr" rotWithShape="0">
                <a:srgbClr val="0B2E52">
                  <a:alpha val="6000"/>
                </a:srgbClr>
              </a:outerShdw>
            </a:effectLst>
          </p:spPr>
        </p:sp>
        <p:sp>
          <p:nvSpPr>
            <p:cNvPr id="7" name="Rectangle 7"/>
            <p:cNvSpPr/>
            <p:nvPr/>
          </p:nvSpPr>
          <p:spPr>
            <a:xfrm>
              <a:off x="609600" y="1428750"/>
              <a:ext cx="57150" cy="1714500"/>
            </a:xfrm>
            <a:prstGeom prst="roundRect">
              <a:avLst>
                <a:gd name="adj" fmla="val 50000"/>
              </a:avLst>
            </a:prstGeom>
            <a:solidFill>
              <a:schemeClr val="accent3"/>
            </a:solidFill>
            <a:ln>
              <a:noFill/>
            </a:ln>
          </p:spPr>
        </p:sp>
        <p:sp>
          <p:nvSpPr>
            <p:cNvPr id="8" name="TextBox 8"/>
            <p:cNvSpPr txBox="1"/>
            <p:nvPr/>
          </p:nvSpPr>
          <p:spPr>
            <a:xfrm>
              <a:off x="833247" y="1666399"/>
              <a:ext cx="1242956" cy="190690"/>
            </a:xfrm>
            <a:prstGeom prst="rect">
              <a:avLst/>
            </a:prstGeom>
            <a:noFill/>
            <a:ln>
              <a:noFill/>
            </a:ln>
          </p:spPr>
          <p:txBody>
            <a:bodyPr wrap="none" lIns="0" tIns="0" rIns="0" bIns="0" anchor="t" anchorCtr="0">
              <a:spAutoFit/>
            </a:bodyPr>
            <a:lstStyle/>
            <a:p>
              <a:pPr algn="l"/>
              <a:r>
                <a:rPr lang="en-US" sz="980" b="1" spc="90" dirty="0">
                  <a:solidFill>
                    <a:schemeClr val="accent3"/>
                  </a:solidFill>
                  <a:latin typeface="+mn-lt"/>
                  <a:ea typeface="+mn-ea"/>
                  <a:cs typeface="+mn-cs"/>
                </a:rPr>
                <a:t>IMPACT IN BRIEF</a:t>
              </a:r>
            </a:p>
          </p:txBody>
        </p:sp>
        <p:sp>
          <p:nvSpPr>
            <p:cNvPr id="9" name="TextBox 9"/>
            <p:cNvSpPr txBox="1"/>
            <p:nvPr/>
          </p:nvSpPr>
          <p:spPr>
            <a:xfrm>
              <a:off x="828294" y="2056448"/>
              <a:ext cx="2113026" cy="381381"/>
            </a:xfrm>
            <a:prstGeom prst="rect">
              <a:avLst/>
            </a:prstGeom>
            <a:noFill/>
            <a:ln>
              <a:noFill/>
            </a:ln>
          </p:spPr>
          <p:txBody>
            <a:bodyPr wrap="none" lIns="0" tIns="0" rIns="0" bIns="0" anchor="t" anchorCtr="0">
              <a:spAutoFit/>
            </a:bodyPr>
            <a:lstStyle/>
            <a:p>
              <a:pPr algn="l"/>
              <a:r>
                <a:rPr lang="en-US" sz="1950" b="1" dirty="0">
                  <a:solidFill>
                    <a:srgbClr val="FFFFFF"/>
                  </a:solidFill>
                  <a:latin typeface="+mj-lt"/>
                  <a:ea typeface="+mj-ea"/>
                  <a:cs typeface="+mj-cs"/>
                </a:rPr>
                <a:t>A few numbers</a:t>
              </a:r>
            </a:p>
          </p:txBody>
        </p:sp>
        <p:sp>
          <p:nvSpPr>
            <p:cNvPr id="10" name="TextBox 10"/>
            <p:cNvSpPr txBox="1"/>
            <p:nvPr/>
          </p:nvSpPr>
          <p:spPr>
            <a:xfrm>
              <a:off x="828294" y="2361248"/>
              <a:ext cx="2742872" cy="381381"/>
            </a:xfrm>
            <a:prstGeom prst="rect">
              <a:avLst/>
            </a:prstGeom>
            <a:noFill/>
            <a:ln>
              <a:noFill/>
            </a:ln>
          </p:spPr>
          <p:txBody>
            <a:bodyPr wrap="none" lIns="0" tIns="0" rIns="0" bIns="0" anchor="t" anchorCtr="0">
              <a:spAutoFit/>
            </a:bodyPr>
            <a:lstStyle/>
            <a:p>
              <a:pPr algn="l"/>
              <a:r>
                <a:rPr lang="en-US" sz="1950" b="1" dirty="0">
                  <a:solidFill>
                    <a:srgbClr val="FFFFFF"/>
                  </a:solidFill>
                  <a:latin typeface="+mj-lt"/>
                  <a:ea typeface="+mj-ea"/>
                  <a:cs typeface="+mj-cs"/>
                </a:rPr>
                <a:t>capture the impact</a:t>
              </a:r>
            </a:p>
          </p:txBody>
        </p:sp>
        <p:sp>
          <p:nvSpPr>
            <p:cNvPr id="11" name="TextBox 11"/>
            <p:cNvSpPr txBox="1"/>
            <p:nvPr/>
          </p:nvSpPr>
          <p:spPr>
            <a:xfrm>
              <a:off x="832485" y="2793206"/>
              <a:ext cx="2451950" cy="220028"/>
            </a:xfrm>
            <a:prstGeom prst="rect">
              <a:avLst/>
            </a:prstGeom>
            <a:noFill/>
            <a:ln>
              <a:noFill/>
            </a:ln>
          </p:spPr>
          <p:txBody>
            <a:bodyPr wrap="none" lIns="0" tIns="0" rIns="0" bIns="0" anchor="t" anchorCtr="0">
              <a:spAutoFit/>
            </a:bodyPr>
            <a:lstStyle/>
            <a:p>
              <a:pPr algn="l"/>
              <a:r>
                <a:rPr lang="en-US" sz="1120" dirty="0">
                  <a:solidFill>
                    <a:srgbClr val="DBE3EE"/>
                  </a:solidFill>
                  <a:latin typeface="+mn-lt"/>
                  <a:ea typeface="+mn-ea"/>
                  <a:cs typeface="+mn-cs"/>
                </a:rPr>
                <a:t>Where trees win, how cheap they</a:t>
              </a:r>
            </a:p>
          </p:txBody>
        </p:sp>
        <p:sp>
          <p:nvSpPr>
            <p:cNvPr id="12" name="TextBox 12"/>
            <p:cNvSpPr txBox="1"/>
            <p:nvPr/>
          </p:nvSpPr>
          <p:spPr>
            <a:xfrm>
              <a:off x="832485" y="2983706"/>
              <a:ext cx="2137349" cy="220028"/>
            </a:xfrm>
            <a:prstGeom prst="rect">
              <a:avLst/>
            </a:prstGeom>
            <a:noFill/>
            <a:ln>
              <a:noFill/>
            </a:ln>
          </p:spPr>
          <p:txBody>
            <a:bodyPr wrap="none" lIns="0" tIns="0" rIns="0" bIns="0" anchor="t" anchorCtr="0">
              <a:spAutoFit/>
            </a:bodyPr>
            <a:lstStyle/>
            <a:p>
              <a:pPr algn="l"/>
              <a:r>
                <a:rPr lang="en-US" sz="1120" dirty="0">
                  <a:solidFill>
                    <a:srgbClr val="DBE3EE"/>
                  </a:solidFill>
                  <a:latin typeface="+mn-lt"/>
                  <a:ea typeface="+mn-ea"/>
                  <a:cs typeface="+mn-cs"/>
                </a:rPr>
                <a:t>are, and how far they scale.</a:t>
              </a:r>
            </a:p>
          </p:txBody>
        </p:sp>
      </p:grpSp>
      <p:grpSp>
        <p:nvGrpSpPr>
          <p:cNvPr id="25" name="Group 25"/>
          <p:cNvGrpSpPr/>
          <p:nvPr/>
        </p:nvGrpSpPr>
        <p:grpSpPr>
          <a:xfrm>
            <a:off x="4267200" y="1428750"/>
            <a:ext cx="7315200" cy="1714500"/>
            <a:chOff x="4267200" y="1428750"/>
            <a:chExt cx="7315200" cy="1714500"/>
          </a:xfrm>
        </p:grpSpPr>
        <p:sp>
          <p:nvSpPr>
            <p:cNvPr id="14" name="Rectangle 14"/>
            <p:cNvSpPr/>
            <p:nvPr/>
          </p:nvSpPr>
          <p:spPr>
            <a:xfrm>
              <a:off x="4267200" y="1428750"/>
              <a:ext cx="7315200" cy="1714500"/>
            </a:xfrm>
            <a:prstGeom prst="roundRect">
              <a:avLst>
                <a:gd name="adj" fmla="val 6667"/>
              </a:avLst>
            </a:prstGeom>
            <a:solidFill>
              <a:schemeClr val="lt1"/>
            </a:solidFill>
            <a:ln w="14288">
              <a:solidFill>
                <a:schemeClr val="accent4"/>
              </a:solidFill>
            </a:ln>
            <a:effectLst>
              <a:outerShdw blurRad="76200" dist="28575" dir="5400000" algn="ctr" rotWithShape="0">
                <a:srgbClr val="0B2E52">
                  <a:alpha val="6000"/>
                </a:srgbClr>
              </a:outerShdw>
            </a:effectLst>
          </p:spPr>
        </p:sp>
        <p:sp>
          <p:nvSpPr>
            <p:cNvPr id="15" name="Rectangle 15"/>
            <p:cNvSpPr/>
            <p:nvPr/>
          </p:nvSpPr>
          <p:spPr>
            <a:xfrm>
              <a:off x="4267200" y="1428750"/>
              <a:ext cx="57150" cy="1714500"/>
            </a:xfrm>
            <a:prstGeom prst="roundRect">
              <a:avLst>
                <a:gd name="adj" fmla="val 50000"/>
              </a:avLst>
            </a:prstGeom>
            <a:solidFill>
              <a:schemeClr val="accent2"/>
            </a:solidFill>
            <a:ln>
              <a:noFill/>
            </a:ln>
          </p:spPr>
        </p:sp>
        <p:sp>
          <p:nvSpPr>
            <p:cNvPr id="16" name="TextBox 16"/>
            <p:cNvSpPr txBox="1"/>
            <p:nvPr/>
          </p:nvSpPr>
          <p:spPr>
            <a:xfrm>
              <a:off x="4490847" y="1647349"/>
              <a:ext cx="4314914" cy="190690"/>
            </a:xfrm>
            <a:prstGeom prst="rect">
              <a:avLst/>
            </a:prstGeom>
            <a:noFill/>
            <a:ln>
              <a:noFill/>
            </a:ln>
          </p:spPr>
          <p:txBody>
            <a:bodyPr wrap="none" lIns="0" tIns="0" rIns="0" bIns="0" anchor="t" anchorCtr="0">
              <a:spAutoFit/>
            </a:bodyPr>
            <a:lstStyle/>
            <a:p>
              <a:pPr algn="l"/>
              <a:r>
                <a:rPr lang="en-US" sz="980" b="1" spc="90" dirty="0">
                  <a:solidFill>
                    <a:schemeClr val="accent2"/>
                  </a:solidFill>
                  <a:latin typeface="+mn-lt"/>
                  <a:ea typeface="+mn-ea"/>
                  <a:cs typeface="+mn-cs"/>
                </a:rPr>
                <a:t>DATASET-WISE WIN RATE vs MLP KERNEL (90 DATASETS)</a:t>
              </a:r>
            </a:p>
          </p:txBody>
        </p:sp>
        <p:sp>
          <p:nvSpPr>
            <p:cNvPr id="17" name="TextBox 17"/>
            <p:cNvSpPr txBox="1"/>
            <p:nvPr/>
          </p:nvSpPr>
          <p:spPr>
            <a:xfrm>
              <a:off x="4476750" y="1971675"/>
              <a:ext cx="1852727" cy="876300"/>
            </a:xfrm>
            <a:prstGeom prst="rect">
              <a:avLst/>
            </a:prstGeom>
            <a:noFill/>
            <a:ln>
              <a:noFill/>
            </a:ln>
          </p:spPr>
          <p:txBody>
            <a:bodyPr wrap="none" lIns="0" tIns="0" rIns="0" bIns="0" anchor="t" anchorCtr="0">
              <a:spAutoFit/>
            </a:bodyPr>
            <a:lstStyle/>
            <a:p>
              <a:pPr algn="l"/>
              <a:r>
                <a:rPr lang="en-US" sz="4500" b="1" dirty="0">
                  <a:solidFill>
                    <a:schemeClr val="accent1"/>
                  </a:solidFill>
                  <a:latin typeface="Georgia"/>
                  <a:ea typeface="Georgia"/>
                  <a:cs typeface="Georgia"/>
                </a:rPr>
                <a:t>&gt; 30%</a:t>
              </a:r>
            </a:p>
          </p:txBody>
        </p:sp>
        <p:sp>
          <p:nvSpPr>
            <p:cNvPr id="18" name="TextBox 18"/>
            <p:cNvSpPr txBox="1"/>
            <p:nvPr/>
          </p:nvSpPr>
          <p:spPr>
            <a:xfrm>
              <a:off x="6661404" y="2156460"/>
              <a:ext cx="2790749"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of datasets favor the tree kernel,</a:t>
              </a:r>
            </a:p>
          </p:txBody>
        </p:sp>
        <p:sp>
          <p:nvSpPr>
            <p:cNvPr id="19" name="TextBox 19"/>
            <p:cNvSpPr txBox="1"/>
            <p:nvPr/>
          </p:nvSpPr>
          <p:spPr>
            <a:xfrm>
              <a:off x="6661404" y="2385060"/>
              <a:ext cx="3089605"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peaking near 35% when splits are hard.</a:t>
              </a:r>
            </a:p>
          </p:txBody>
        </p:sp>
        <p:sp>
          <p:nvSpPr>
            <p:cNvPr id="20" name="Line 20"/>
            <p:cNvSpPr/>
            <p:nvPr/>
          </p:nvSpPr>
          <p:spPr>
            <a:xfrm>
              <a:off x="4495800" y="2647950"/>
              <a:ext cx="6858000" cy="9525"/>
            </a:xfrm>
            <a:custGeom>
              <a:avLst/>
              <a:gdLst/>
              <a:ahLst/>
              <a:cxnLst/>
              <a:rect l="l" t="t" r="r" b="b"/>
              <a:pathLst>
                <a:path w="6858000" h="9525">
                  <a:moveTo>
                    <a:pt x="0" y="0"/>
                  </a:moveTo>
                  <a:lnTo>
                    <a:pt x="6858000" y="0"/>
                  </a:lnTo>
                </a:path>
              </a:pathLst>
            </a:custGeom>
            <a:noFill/>
            <a:ln w="9525">
              <a:solidFill>
                <a:schemeClr val="accent4"/>
              </a:solidFill>
            </a:ln>
          </p:spPr>
        </p:sp>
        <p:sp>
          <p:nvSpPr>
            <p:cNvPr id="21" name="TextBox 21"/>
            <p:cNvSpPr txBox="1"/>
            <p:nvPr/>
          </p:nvSpPr>
          <p:spPr>
            <a:xfrm>
              <a:off x="4487418" y="2755582"/>
              <a:ext cx="682127"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Georgia"/>
                  <a:ea typeface="Georgia"/>
                  <a:cs typeface="Georgia"/>
                </a:rPr>
                <a:t>≈ 35%</a:t>
              </a:r>
            </a:p>
          </p:txBody>
        </p:sp>
        <p:sp>
          <p:nvSpPr>
            <p:cNvPr id="22" name="TextBox 22"/>
            <p:cNvSpPr txBox="1"/>
            <p:nvPr/>
          </p:nvSpPr>
          <p:spPr>
            <a:xfrm>
              <a:off x="5328285" y="2812256"/>
              <a:ext cx="135332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peak (hard splits)</a:t>
              </a:r>
            </a:p>
          </p:txBody>
        </p:sp>
        <p:sp>
          <p:nvSpPr>
            <p:cNvPr id="23" name="TextBox 23"/>
            <p:cNvSpPr txBox="1"/>
            <p:nvPr/>
          </p:nvSpPr>
          <p:spPr>
            <a:xfrm>
              <a:off x="7230618" y="2755582"/>
              <a:ext cx="682127" cy="322707"/>
            </a:xfrm>
            <a:prstGeom prst="rect">
              <a:avLst/>
            </a:prstGeom>
            <a:noFill/>
            <a:ln>
              <a:noFill/>
            </a:ln>
          </p:spPr>
          <p:txBody>
            <a:bodyPr wrap="none" lIns="0" tIns="0" rIns="0" bIns="0" anchor="t" anchorCtr="0">
              <a:spAutoFit/>
            </a:bodyPr>
            <a:lstStyle/>
            <a:p>
              <a:pPr algn="l"/>
              <a:r>
                <a:rPr lang="en-US" sz="1650" b="1" dirty="0">
                  <a:solidFill>
                    <a:srgbClr val="C0392B"/>
                  </a:solidFill>
                  <a:latin typeface="Georgia"/>
                  <a:ea typeface="Georgia"/>
                  <a:cs typeface="Georgia"/>
                </a:rPr>
                <a:t>&lt; 12%</a:t>
              </a:r>
            </a:p>
          </p:txBody>
        </p:sp>
        <p:sp>
          <p:nvSpPr>
            <p:cNvPr id="24" name="TextBox 24"/>
            <p:cNvSpPr txBox="1"/>
            <p:nvPr/>
          </p:nvSpPr>
          <p:spPr>
            <a:xfrm>
              <a:off x="8090535" y="2812256"/>
              <a:ext cx="141241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RBF kernel baseline</a:t>
              </a:r>
            </a:p>
          </p:txBody>
        </p:sp>
      </p:grpSp>
      <p:grpSp>
        <p:nvGrpSpPr>
          <p:cNvPr id="35" name="Group 35"/>
          <p:cNvGrpSpPr/>
          <p:nvPr/>
        </p:nvGrpSpPr>
        <p:grpSpPr>
          <a:xfrm>
            <a:off x="609600" y="3352800"/>
            <a:ext cx="5353050" cy="2362200"/>
            <a:chOff x="609600" y="3352800"/>
            <a:chExt cx="5353050" cy="2362200"/>
          </a:xfrm>
        </p:grpSpPr>
        <p:sp>
          <p:nvSpPr>
            <p:cNvPr id="26" name="Rectangle 26"/>
            <p:cNvSpPr/>
            <p:nvPr/>
          </p:nvSpPr>
          <p:spPr>
            <a:xfrm>
              <a:off x="609600" y="3352800"/>
              <a:ext cx="5353050" cy="2362200"/>
            </a:xfrm>
            <a:prstGeom prst="roundRect">
              <a:avLst>
                <a:gd name="adj" fmla="val 4839"/>
              </a:avLst>
            </a:prstGeom>
            <a:solidFill>
              <a:schemeClr val="accent6"/>
            </a:solidFill>
            <a:ln w="14288">
              <a:solidFill>
                <a:schemeClr val="accent2"/>
              </a:solidFill>
            </a:ln>
            <a:effectLst>
              <a:outerShdw blurRad="76200" dist="28575" dir="5400000" algn="ctr" rotWithShape="0">
                <a:srgbClr val="0B2E52">
                  <a:alpha val="6000"/>
                </a:srgbClr>
              </a:outerShdw>
            </a:effectLst>
          </p:spPr>
        </p:sp>
        <p:sp>
          <p:nvSpPr>
            <p:cNvPr id="27" name="Rectangle 27"/>
            <p:cNvSpPr/>
            <p:nvPr/>
          </p:nvSpPr>
          <p:spPr>
            <a:xfrm>
              <a:off x="609600" y="3352800"/>
              <a:ext cx="57150" cy="2362200"/>
            </a:xfrm>
            <a:prstGeom prst="roundRect">
              <a:avLst>
                <a:gd name="adj" fmla="val 50000"/>
              </a:avLst>
            </a:prstGeom>
            <a:solidFill>
              <a:srgbClr val="1F7A46"/>
            </a:solidFill>
            <a:ln>
              <a:noFill/>
            </a:ln>
          </p:spPr>
        </p:sp>
        <p:sp>
          <p:nvSpPr>
            <p:cNvPr id="28" name="TextBox 28"/>
            <p:cNvSpPr txBox="1"/>
            <p:nvPr/>
          </p:nvSpPr>
          <p:spPr>
            <a:xfrm>
              <a:off x="833247" y="3571399"/>
              <a:ext cx="1923043" cy="190690"/>
            </a:xfrm>
            <a:prstGeom prst="rect">
              <a:avLst/>
            </a:prstGeom>
            <a:noFill/>
            <a:ln>
              <a:noFill/>
            </a:ln>
          </p:spPr>
          <p:txBody>
            <a:bodyPr wrap="none" lIns="0" tIns="0" rIns="0" bIns="0" anchor="t" anchorCtr="0">
              <a:spAutoFit/>
            </a:bodyPr>
            <a:lstStyle/>
            <a:p>
              <a:pPr algn="l"/>
              <a:r>
                <a:rPr lang="en-US" sz="980" b="1" spc="90" dirty="0">
                  <a:solidFill>
                    <a:srgbClr val="1F7A46"/>
                  </a:solidFill>
                  <a:latin typeface="+mn-lt"/>
                  <a:ea typeface="+mn-ea"/>
                  <a:cs typeface="+mn-cs"/>
                </a:rPr>
                <a:t>COMPUTE COST vs DEPTH</a:t>
              </a:r>
            </a:p>
          </p:txBody>
        </p:sp>
        <p:sp>
          <p:nvSpPr>
            <p:cNvPr id="29" name="TextBox 29"/>
            <p:cNvSpPr txBox="1"/>
            <p:nvPr/>
          </p:nvSpPr>
          <p:spPr>
            <a:xfrm>
              <a:off x="821436" y="3949065"/>
              <a:ext cx="1469868"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Georgia"/>
                  <a:ea typeface="Georgia"/>
                  <a:cs typeface="Georgia"/>
                </a:rPr>
                <a:t>O(1)</a:t>
              </a:r>
            </a:p>
          </p:txBody>
        </p:sp>
        <p:sp>
          <p:nvSpPr>
            <p:cNvPr id="30" name="TextBox 30"/>
            <p:cNvSpPr txBox="1"/>
            <p:nvPr/>
          </p:nvSpPr>
          <p:spPr>
            <a:xfrm>
              <a:off x="2279523" y="4167664"/>
              <a:ext cx="1115761"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in tree depth</a:t>
              </a:r>
            </a:p>
          </p:txBody>
        </p:sp>
        <p:sp>
          <p:nvSpPr>
            <p:cNvPr id="31" name="TextBox 31"/>
            <p:cNvSpPr txBox="1"/>
            <p:nvPr/>
          </p:nvSpPr>
          <p:spPr>
            <a:xfrm>
              <a:off x="830580" y="4600575"/>
              <a:ext cx="2899419"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j-lt"/>
                  <a:ea typeface="+mj-ea"/>
                  <a:cs typeface="+mj-cs"/>
                </a:rPr>
                <a:t>Cost independent of depth</a:t>
              </a:r>
            </a:p>
          </p:txBody>
        </p:sp>
        <p:sp>
          <p:nvSpPr>
            <p:cNvPr id="32" name="TextBox 32"/>
            <p:cNvSpPr txBox="1"/>
            <p:nvPr/>
          </p:nvSpPr>
          <p:spPr>
            <a:xfrm>
              <a:off x="832104" y="4956810"/>
              <a:ext cx="4258437"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The tree kernel's cost does not grow with tree depth</a:t>
              </a:r>
            </a:p>
          </p:txBody>
        </p:sp>
        <p:sp>
          <p:nvSpPr>
            <p:cNvPr id="33" name="TextBox 33"/>
            <p:cNvSpPr txBox="1"/>
            <p:nvPr/>
          </p:nvSpPr>
          <p:spPr>
            <a:xfrm>
              <a:off x="832104" y="5185410"/>
              <a:ext cx="422849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at all, while the multi-layer perceptron kernel scales</a:t>
              </a:r>
            </a:p>
          </p:txBody>
        </p:sp>
        <p:sp>
          <p:nvSpPr>
            <p:cNvPr id="34" name="TextBox 34"/>
            <p:cNvSpPr txBox="1"/>
            <p:nvPr/>
          </p:nvSpPr>
          <p:spPr>
            <a:xfrm>
              <a:off x="832104" y="5414010"/>
              <a:ext cx="1579169"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linearly with depth.</a:t>
              </a:r>
            </a:p>
          </p:txBody>
        </p:sp>
      </p:grpSp>
      <p:grpSp>
        <p:nvGrpSpPr>
          <p:cNvPr id="44" name="Group 44"/>
          <p:cNvGrpSpPr/>
          <p:nvPr/>
        </p:nvGrpSpPr>
        <p:grpSpPr>
          <a:xfrm>
            <a:off x="6229350" y="3352800"/>
            <a:ext cx="5353050" cy="2362200"/>
            <a:chOff x="6229350" y="3352800"/>
            <a:chExt cx="5353050" cy="2362200"/>
          </a:xfrm>
        </p:grpSpPr>
        <p:sp>
          <p:nvSpPr>
            <p:cNvPr id="36" name="Rectangle 36"/>
            <p:cNvSpPr/>
            <p:nvPr/>
          </p:nvSpPr>
          <p:spPr>
            <a:xfrm>
              <a:off x="6229350" y="3352800"/>
              <a:ext cx="5353050" cy="2362200"/>
            </a:xfrm>
            <a:prstGeom prst="roundRect">
              <a:avLst>
                <a:gd name="adj" fmla="val 4839"/>
              </a:avLst>
            </a:prstGeom>
            <a:solidFill>
              <a:schemeClr val="lt1"/>
            </a:solidFill>
            <a:ln w="14288">
              <a:solidFill>
                <a:schemeClr val="accent4"/>
              </a:solidFill>
            </a:ln>
            <a:effectLst>
              <a:outerShdw blurRad="76200" dist="28575" dir="5400000" algn="ctr" rotWithShape="0">
                <a:srgbClr val="0B2E52">
                  <a:alpha val="6000"/>
                </a:srgbClr>
              </a:outerShdw>
            </a:effectLst>
          </p:spPr>
        </p:sp>
        <p:sp>
          <p:nvSpPr>
            <p:cNvPr id="37" name="Rectangle 37"/>
            <p:cNvSpPr/>
            <p:nvPr/>
          </p:nvSpPr>
          <p:spPr>
            <a:xfrm>
              <a:off x="6229350" y="3352800"/>
              <a:ext cx="57150" cy="2362200"/>
            </a:xfrm>
            <a:prstGeom prst="roundRect">
              <a:avLst>
                <a:gd name="adj" fmla="val 50000"/>
              </a:avLst>
            </a:prstGeom>
            <a:solidFill>
              <a:schemeClr val="accent1"/>
            </a:solidFill>
            <a:ln>
              <a:noFill/>
            </a:ln>
          </p:spPr>
        </p:sp>
        <p:sp>
          <p:nvSpPr>
            <p:cNvPr id="38" name="TextBox 38"/>
            <p:cNvSpPr txBox="1"/>
            <p:nvPr/>
          </p:nvSpPr>
          <p:spPr>
            <a:xfrm>
              <a:off x="6452997" y="3571399"/>
              <a:ext cx="1660075" cy="190690"/>
            </a:xfrm>
            <a:prstGeom prst="rect">
              <a:avLst/>
            </a:prstGeom>
            <a:noFill/>
            <a:ln>
              <a:noFill/>
            </a:ln>
          </p:spPr>
          <p:txBody>
            <a:bodyPr wrap="none" lIns="0" tIns="0" rIns="0" bIns="0" anchor="t" anchorCtr="0">
              <a:spAutoFit/>
            </a:bodyPr>
            <a:lstStyle/>
            <a:p>
              <a:pPr algn="l"/>
              <a:r>
                <a:rPr lang="en-US" sz="980" b="1" spc="90" dirty="0">
                  <a:solidFill>
                    <a:schemeClr val="accent2"/>
                  </a:solidFill>
                  <a:latin typeface="+mn-lt"/>
                  <a:ea typeface="+mn-ea"/>
                  <a:cs typeface="+mn-cs"/>
                </a:rPr>
                <a:t>DEPTH RANGE STUDIED</a:t>
              </a:r>
            </a:p>
          </p:txBody>
        </p:sp>
        <p:sp>
          <p:nvSpPr>
            <p:cNvPr id="39" name="TextBox 39"/>
            <p:cNvSpPr txBox="1"/>
            <p:nvPr/>
          </p:nvSpPr>
          <p:spPr>
            <a:xfrm>
              <a:off x="6438900" y="3819525"/>
              <a:ext cx="1919935" cy="876300"/>
            </a:xfrm>
            <a:prstGeom prst="rect">
              <a:avLst/>
            </a:prstGeom>
            <a:noFill/>
            <a:ln>
              <a:noFill/>
            </a:ln>
          </p:spPr>
          <p:txBody>
            <a:bodyPr wrap="none" lIns="0" tIns="0" rIns="0" bIns="0" anchor="t" anchorCtr="0">
              <a:spAutoFit/>
            </a:bodyPr>
            <a:lstStyle/>
            <a:p>
              <a:pPr algn="l"/>
              <a:r>
                <a:rPr lang="en-US" sz="4500" b="1" dirty="0">
                  <a:solidFill>
                    <a:schemeClr val="accent1"/>
                  </a:solidFill>
                  <a:latin typeface="Georgia"/>
                  <a:ea typeface="Georgia"/>
                  <a:cs typeface="Georgia"/>
                </a:rPr>
                <a:t>1 – 29</a:t>
              </a:r>
            </a:p>
          </p:txBody>
        </p:sp>
        <p:sp>
          <p:nvSpPr>
            <p:cNvPr id="40" name="TextBox 40"/>
            <p:cNvSpPr txBox="1"/>
            <p:nvPr/>
          </p:nvSpPr>
          <p:spPr>
            <a:xfrm>
              <a:off x="6450330" y="4600575"/>
              <a:ext cx="3002585"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j-lt"/>
                  <a:ea typeface="+mj-ea"/>
                  <a:cs typeface="+mj-cs"/>
                </a:rPr>
                <a:t>A wide sweep of tree depth</a:t>
              </a:r>
            </a:p>
          </p:txBody>
        </p:sp>
        <p:sp>
          <p:nvSpPr>
            <p:cNvPr id="41" name="TextBox 41"/>
            <p:cNvSpPr txBox="1"/>
            <p:nvPr/>
          </p:nvSpPr>
          <p:spPr>
            <a:xfrm>
              <a:off x="6451854" y="4956810"/>
              <a:ext cx="4250216"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Experiments span tree depths from one all the way up</a:t>
              </a:r>
            </a:p>
          </p:txBody>
        </p:sp>
        <p:sp>
          <p:nvSpPr>
            <p:cNvPr id="42" name="TextBox 42"/>
            <p:cNvSpPr txBox="1"/>
            <p:nvPr/>
          </p:nvSpPr>
          <p:spPr>
            <a:xfrm>
              <a:off x="6451854" y="5185410"/>
              <a:ext cx="447888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to twenty-nine, tracing the full accuracy-versus-depth</a:t>
              </a:r>
            </a:p>
          </p:txBody>
        </p:sp>
        <p:sp>
          <p:nvSpPr>
            <p:cNvPr id="43" name="TextBox 43"/>
            <p:cNvSpPr txBox="1"/>
            <p:nvPr/>
          </p:nvSpPr>
          <p:spPr>
            <a:xfrm>
              <a:off x="6451854" y="5414010"/>
              <a:ext cx="1482242"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degeneracy curve.</a:t>
              </a:r>
            </a:p>
          </p:txBody>
        </p:sp>
      </p:grpSp>
      <p:sp>
        <p:nvSpPr>
          <p:cNvPr id="45" name="TextBox 45"/>
          <p:cNvSpPr txBox="1"/>
          <p:nvPr/>
        </p:nvSpPr>
        <p:spPr>
          <a:xfrm>
            <a:off x="11207836" y="6578441"/>
            <a:ext cx="379326"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09 / 10</a:t>
            </a:r>
          </a:p>
        </p:txBody>
      </p:sp>
      <p:sp>
        <p:nvSpPr>
          <p:cNvPr id="46" name="cue_s09_c1_few_numbers_capture_impact" title="cue_s09_c1_few_numbers_capture_impact" descr="cue_s09_c1_few_numbers_capture_impact A few numbers capture the impact."/>
          <p:cNvSpPr/>
          <p:nvPr/>
        </p:nvSpPr>
        <p:spPr>
          <a:xfrm>
            <a:off x="609600" y="1428521"/>
            <a:ext cx="3428390" cy="17748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9_c2_across_ninety_real_world_datasets_tr" title="cue_s09_c2_across_ninety_real_world_datasets_tr" descr="cue_s09_c2_across_ninety_real_world_datasets_tr Across ninety real-world datasets, the tree kernel beats the multi-layer perceptron kernel on more than thirty percent, peaking near thirty-five percent when splits are hard, versus under twelve percent for the radial basis function kernel."/>
          <p:cNvSpPr/>
          <p:nvPr/>
        </p:nvSpPr>
        <p:spPr>
          <a:xfrm>
            <a:off x="4267200" y="1428521"/>
            <a:ext cx="7315200" cy="1714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9_c3_most_striking_tree_kernel_cost" title="cue_s09_c3_most_striking_tree_kernel_cost" descr="cue_s09_c3_most_striking_tree_kernel_cost Most striking, the tree kernel's cost is independent of tree depth, while the MLP kernel scales linearly."/>
          <p:cNvSpPr/>
          <p:nvPr/>
        </p:nvSpPr>
        <p:spPr>
          <a:xfrm>
            <a:off x="609600" y="3352876"/>
            <a:ext cx="5353507" cy="23618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9_c4_depths_studied_span_one_twenty_nine" title="cue_s09_c4_depths_studied_span_one_twenty_nine" descr="cue_s09_c4_depths_studied_span_one_twenty_nine The depths studied span one to twenty-nine."/>
          <p:cNvSpPr/>
          <p:nvPr/>
        </p:nvSpPr>
        <p:spPr>
          <a:xfrm>
            <a:off x="6228892" y="3352876"/>
            <a:ext cx="5353507" cy="23618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95250" cy="6858000"/>
            </a:xfrm>
            <a:prstGeom prst="rect">
              <a:avLst/>
            </a:prstGeom>
            <a:solidFill>
              <a:schemeClr val="accent1"/>
            </a:solidFill>
            <a:ln>
              <a:noFill/>
            </a:ln>
          </p:spPr>
        </p:sp>
      </p:grpSp>
      <p:grpSp>
        <p:nvGrpSpPr>
          <p:cNvPr id="8" name="Group 8"/>
          <p:cNvGrpSpPr/>
          <p:nvPr/>
        </p:nvGrpSpPr>
        <p:grpSpPr>
          <a:xfrm>
            <a:off x="609600" y="533400"/>
            <a:ext cx="6228914" cy="675989"/>
            <a:chOff x="609600" y="533400"/>
            <a:chExt cx="6228914" cy="675989"/>
          </a:xfrm>
        </p:grpSpPr>
        <p:sp>
          <p:nvSpPr>
            <p:cNvPr id="5" name="Rectangle 5"/>
            <p:cNvSpPr/>
            <p:nvPr/>
          </p:nvSpPr>
          <p:spPr>
            <a:xfrm>
              <a:off x="609600" y="533400"/>
              <a:ext cx="57150" cy="381000"/>
            </a:xfrm>
            <a:prstGeom prst="rect">
              <a:avLst/>
            </a:prstGeom>
            <a:solidFill>
              <a:schemeClr val="accent2"/>
            </a:solidFill>
            <a:ln>
              <a:noFill/>
            </a:ln>
          </p:spPr>
        </p:sp>
        <p:sp>
          <p:nvSpPr>
            <p:cNvPr id="6" name="TextBox 6"/>
            <p:cNvSpPr txBox="1"/>
            <p:nvPr/>
          </p:nvSpPr>
          <p:spPr>
            <a:xfrm>
              <a:off x="825246" y="562928"/>
              <a:ext cx="6013268"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The NTK lens now reaches trees</a:t>
              </a:r>
            </a:p>
          </p:txBody>
        </p:sp>
        <p:sp>
          <p:nvSpPr>
            <p:cNvPr id="7" name="TextBox 7"/>
            <p:cNvSpPr txBox="1"/>
            <p:nvPr/>
          </p:nvSpPr>
          <p:spPr>
            <a:xfrm>
              <a:off x="833247" y="1018699"/>
              <a:ext cx="4824168"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TAKEAWAY · ONE THEORY FOR MANY SOFT-TREE BEHAVIOURS</a:t>
              </a:r>
            </a:p>
          </p:txBody>
        </p:sp>
      </p:grpSp>
      <p:grpSp>
        <p:nvGrpSpPr>
          <p:cNvPr id="17" name="Group 17"/>
          <p:cNvGrpSpPr/>
          <p:nvPr/>
        </p:nvGrpSpPr>
        <p:grpSpPr>
          <a:xfrm>
            <a:off x="609600" y="1428750"/>
            <a:ext cx="5353050" cy="2190750"/>
            <a:chOff x="609600" y="1428750"/>
            <a:chExt cx="5353050" cy="2190750"/>
          </a:xfrm>
        </p:grpSpPr>
        <p:sp>
          <p:nvSpPr>
            <p:cNvPr id="9" name="Rectangle 9"/>
            <p:cNvSpPr/>
            <p:nvPr/>
          </p:nvSpPr>
          <p:spPr>
            <a:xfrm>
              <a:off x="609600" y="1428750"/>
              <a:ext cx="5353050" cy="2190750"/>
            </a:xfrm>
            <a:prstGeom prst="roundRect">
              <a:avLst>
                <a:gd name="adj" fmla="val 5217"/>
              </a:avLst>
            </a:prstGeom>
            <a:solidFill>
              <a:schemeClr val="accent1"/>
            </a:solidFill>
            <a:ln>
              <a:noFill/>
            </a:ln>
            <a:effectLst>
              <a:outerShdw blurRad="76200" dist="28575" dir="5400000" algn="ctr" rotWithShape="0">
                <a:srgbClr val="0B2E52">
                  <a:alpha val="6000"/>
                </a:srgbClr>
              </a:outerShdw>
            </a:effectLst>
          </p:spPr>
        </p:sp>
        <p:sp>
          <p:nvSpPr>
            <p:cNvPr id="10" name="Rectangle 10"/>
            <p:cNvSpPr/>
            <p:nvPr/>
          </p:nvSpPr>
          <p:spPr>
            <a:xfrm>
              <a:off x="609600" y="1428750"/>
              <a:ext cx="57150" cy="2190750"/>
            </a:xfrm>
            <a:prstGeom prst="roundRect">
              <a:avLst>
                <a:gd name="adj" fmla="val 50000"/>
              </a:avLst>
            </a:prstGeom>
            <a:solidFill>
              <a:schemeClr val="accent3"/>
            </a:solidFill>
            <a:ln>
              <a:noFill/>
            </a:ln>
          </p:spPr>
        </p:sp>
        <p:sp>
          <p:nvSpPr>
            <p:cNvPr id="11" name="TextBox 11"/>
            <p:cNvSpPr txBox="1"/>
            <p:nvPr/>
          </p:nvSpPr>
          <p:spPr>
            <a:xfrm>
              <a:off x="833247" y="1685449"/>
              <a:ext cx="970367" cy="190690"/>
            </a:xfrm>
            <a:prstGeom prst="rect">
              <a:avLst/>
            </a:prstGeom>
            <a:noFill/>
            <a:ln>
              <a:noFill/>
            </a:ln>
          </p:spPr>
          <p:txBody>
            <a:bodyPr wrap="none" lIns="0" tIns="0" rIns="0" bIns="0" anchor="t" anchorCtr="0">
              <a:spAutoFit/>
            </a:bodyPr>
            <a:lstStyle/>
            <a:p>
              <a:pPr algn="l"/>
              <a:r>
                <a:rPr lang="en-US" sz="980" b="1" spc="90" dirty="0">
                  <a:solidFill>
                    <a:schemeClr val="accent3"/>
                  </a:solidFill>
                  <a:latin typeface="+mn-lt"/>
                  <a:ea typeface="+mn-ea"/>
                  <a:cs typeface="+mn-cs"/>
                </a:rPr>
                <a:t>THE BIG IDEA</a:t>
              </a:r>
            </a:p>
          </p:txBody>
        </p:sp>
        <p:sp>
          <p:nvSpPr>
            <p:cNvPr id="12" name="TextBox 12"/>
            <p:cNvSpPr txBox="1"/>
            <p:nvPr/>
          </p:nvSpPr>
          <p:spPr>
            <a:xfrm>
              <a:off x="827913" y="2010251"/>
              <a:ext cx="3898778" cy="396050"/>
            </a:xfrm>
            <a:prstGeom prst="rect">
              <a:avLst/>
            </a:prstGeom>
            <a:noFill/>
            <a:ln>
              <a:noFill/>
            </a:ln>
          </p:spPr>
          <p:txBody>
            <a:bodyPr wrap="none" lIns="0" tIns="0" rIns="0" bIns="0" anchor="t" anchorCtr="0">
              <a:spAutoFit/>
            </a:bodyPr>
            <a:lstStyle/>
            <a:p>
              <a:pPr algn="l"/>
              <a:r>
                <a:rPr lang="en-US" sz="2020" b="1" dirty="0">
                  <a:solidFill>
                    <a:srgbClr val="FFFFFF"/>
                  </a:solidFill>
                  <a:latin typeface="+mj-lt"/>
                  <a:ea typeface="+mj-ea"/>
                  <a:cs typeface="+mj-cs"/>
                </a:rPr>
                <a:t>The NTK framework, once</a:t>
              </a:r>
            </a:p>
          </p:txBody>
        </p:sp>
        <p:sp>
          <p:nvSpPr>
            <p:cNvPr id="13" name="TextBox 13"/>
            <p:cNvSpPr txBox="1"/>
            <p:nvPr/>
          </p:nvSpPr>
          <p:spPr>
            <a:xfrm>
              <a:off x="827913" y="2334101"/>
              <a:ext cx="3852050" cy="396050"/>
            </a:xfrm>
            <a:prstGeom prst="rect">
              <a:avLst/>
            </a:prstGeom>
            <a:noFill/>
            <a:ln>
              <a:noFill/>
            </a:ln>
          </p:spPr>
          <p:txBody>
            <a:bodyPr wrap="none" lIns="0" tIns="0" rIns="0" bIns="0" anchor="t" anchorCtr="0">
              <a:spAutoFit/>
            </a:bodyPr>
            <a:lstStyle/>
            <a:p>
              <a:pPr algn="l"/>
              <a:r>
                <a:rPr lang="en-US" sz="2020" b="1" dirty="0">
                  <a:solidFill>
                    <a:srgbClr val="FFFFFF"/>
                  </a:solidFill>
                  <a:latin typeface="+mj-lt"/>
                  <a:ea typeface="+mj-ea"/>
                  <a:cs typeface="+mj-cs"/>
                </a:rPr>
                <a:t>only for neural networks,</a:t>
              </a:r>
            </a:p>
          </p:txBody>
        </p:sp>
        <p:sp>
          <p:nvSpPr>
            <p:cNvPr id="14" name="TextBox 14"/>
            <p:cNvSpPr txBox="1"/>
            <p:nvPr/>
          </p:nvSpPr>
          <p:spPr>
            <a:xfrm>
              <a:off x="827913" y="2657951"/>
              <a:ext cx="3188330" cy="396050"/>
            </a:xfrm>
            <a:prstGeom prst="rect">
              <a:avLst/>
            </a:prstGeom>
            <a:noFill/>
            <a:ln>
              <a:noFill/>
            </a:ln>
          </p:spPr>
          <p:txBody>
            <a:bodyPr wrap="none" lIns="0" tIns="0" rIns="0" bIns="0" anchor="t" anchorCtr="0">
              <a:spAutoFit/>
            </a:bodyPr>
            <a:lstStyle/>
            <a:p>
              <a:pPr algn="l"/>
              <a:r>
                <a:rPr lang="en-US" sz="2020" b="1" dirty="0">
                  <a:solidFill>
                    <a:schemeClr val="accent3"/>
                  </a:solidFill>
                  <a:latin typeface="+mj-lt"/>
                  <a:ea typeface="+mj-ea"/>
                  <a:cs typeface="+mj-cs"/>
                </a:rPr>
                <a:t>now applies to trees.</a:t>
              </a:r>
            </a:p>
          </p:txBody>
        </p:sp>
        <p:sp>
          <p:nvSpPr>
            <p:cNvPr id="15" name="TextBox 15"/>
            <p:cNvSpPr txBox="1"/>
            <p:nvPr/>
          </p:nvSpPr>
          <p:spPr>
            <a:xfrm>
              <a:off x="832104" y="3147060"/>
              <a:ext cx="3544511" cy="234696"/>
            </a:xfrm>
            <a:prstGeom prst="rect">
              <a:avLst/>
            </a:prstGeom>
            <a:noFill/>
            <a:ln>
              <a:noFill/>
            </a:ln>
          </p:spPr>
          <p:txBody>
            <a:bodyPr wrap="none" lIns="0" tIns="0" rIns="0" bIns="0" anchor="t" anchorCtr="0">
              <a:spAutoFit/>
            </a:bodyPr>
            <a:lstStyle/>
            <a:p>
              <a:pPr algn="l"/>
              <a:r>
                <a:rPr lang="en-US" sz="1200" dirty="0">
                  <a:solidFill>
                    <a:srgbClr val="DBE3EE"/>
                  </a:solidFill>
                  <a:latin typeface="+mn-lt"/>
                  <a:ea typeface="+mn-ea"/>
                  <a:cs typeface="+mn-cs"/>
                </a:rPr>
                <a:t>The Tree NTK carries kernel theory into soft</a:t>
              </a:r>
            </a:p>
          </p:txBody>
        </p:sp>
        <p:sp>
          <p:nvSpPr>
            <p:cNvPr id="16" name="TextBox 16"/>
            <p:cNvSpPr txBox="1"/>
            <p:nvPr/>
          </p:nvSpPr>
          <p:spPr>
            <a:xfrm>
              <a:off x="832104" y="3356610"/>
              <a:ext cx="2774594" cy="234696"/>
            </a:xfrm>
            <a:prstGeom prst="rect">
              <a:avLst/>
            </a:prstGeom>
            <a:noFill/>
            <a:ln>
              <a:noFill/>
            </a:ln>
          </p:spPr>
          <p:txBody>
            <a:bodyPr wrap="none" lIns="0" tIns="0" rIns="0" bIns="0" anchor="t" anchorCtr="0">
              <a:spAutoFit/>
            </a:bodyPr>
            <a:lstStyle/>
            <a:p>
              <a:pPr algn="l"/>
              <a:r>
                <a:rPr lang="en-US" sz="1200" dirty="0">
                  <a:solidFill>
                    <a:srgbClr val="DBE3EE"/>
                  </a:solidFill>
                  <a:latin typeface="+mn-lt"/>
                  <a:ea typeface="+mn-ea"/>
                  <a:cs typeface="+mn-cs"/>
                </a:rPr>
                <a:t>tree ensembles for the first time.</a:t>
              </a:r>
            </a:p>
          </p:txBody>
        </p:sp>
      </p:grpSp>
      <p:grpSp>
        <p:nvGrpSpPr>
          <p:cNvPr id="26" name="Group 26"/>
          <p:cNvGrpSpPr/>
          <p:nvPr/>
        </p:nvGrpSpPr>
        <p:grpSpPr>
          <a:xfrm>
            <a:off x="609600" y="3810000"/>
            <a:ext cx="5353050" cy="1905000"/>
            <a:chOff x="609600" y="3810000"/>
            <a:chExt cx="5353050" cy="1905000"/>
          </a:xfrm>
        </p:grpSpPr>
        <p:sp>
          <p:nvSpPr>
            <p:cNvPr id="18" name="Rectangle 18"/>
            <p:cNvSpPr/>
            <p:nvPr/>
          </p:nvSpPr>
          <p:spPr>
            <a:xfrm>
              <a:off x="609600" y="3810000"/>
              <a:ext cx="5353050" cy="1905000"/>
            </a:xfrm>
            <a:prstGeom prst="roundRect">
              <a:avLst>
                <a:gd name="adj" fmla="val 6000"/>
              </a:avLst>
            </a:prstGeom>
            <a:solidFill>
              <a:schemeClr val="accent6"/>
            </a:solidFill>
            <a:ln w="14288">
              <a:solidFill>
                <a:schemeClr val="accent2"/>
              </a:solidFill>
            </a:ln>
            <a:effectLst>
              <a:outerShdw blurRad="76200" dist="28575" dir="5400000" algn="ctr" rotWithShape="0">
                <a:srgbClr val="0B2E52">
                  <a:alpha val="6000"/>
                </a:srgbClr>
              </a:outerShdw>
            </a:effectLst>
          </p:spPr>
        </p:sp>
        <p:sp>
          <p:nvSpPr>
            <p:cNvPr id="19" name="Rectangle 19"/>
            <p:cNvSpPr/>
            <p:nvPr/>
          </p:nvSpPr>
          <p:spPr>
            <a:xfrm>
              <a:off x="609600" y="3810000"/>
              <a:ext cx="57150" cy="1905000"/>
            </a:xfrm>
            <a:prstGeom prst="roundRect">
              <a:avLst>
                <a:gd name="adj" fmla="val 50000"/>
              </a:avLst>
            </a:prstGeom>
            <a:solidFill>
              <a:srgbClr val="1F7A46"/>
            </a:solidFill>
            <a:ln>
              <a:noFill/>
            </a:ln>
          </p:spPr>
        </p:sp>
        <p:sp>
          <p:nvSpPr>
            <p:cNvPr id="20" name="TextBox 20"/>
            <p:cNvSpPr txBox="1"/>
            <p:nvPr/>
          </p:nvSpPr>
          <p:spPr>
            <a:xfrm>
              <a:off x="833247" y="4028599"/>
              <a:ext cx="1932664" cy="190690"/>
            </a:xfrm>
            <a:prstGeom prst="rect">
              <a:avLst/>
            </a:prstGeom>
            <a:noFill/>
            <a:ln>
              <a:noFill/>
            </a:ln>
          </p:spPr>
          <p:txBody>
            <a:bodyPr wrap="none" lIns="0" tIns="0" rIns="0" bIns="0" anchor="t" anchorCtr="0">
              <a:spAutoFit/>
            </a:bodyPr>
            <a:lstStyle/>
            <a:p>
              <a:pPr algn="l"/>
              <a:r>
                <a:rPr lang="en-US" sz="980" b="1" spc="90" dirty="0">
                  <a:solidFill>
                    <a:srgbClr val="1F7A46"/>
                  </a:solidFill>
                  <a:latin typeface="+mn-lt"/>
                  <a:ea typeface="+mn-ea"/>
                  <a:cs typeface="+mn-cs"/>
                </a:rPr>
                <a:t>AND A PRACTICAL PAYOFF</a:t>
              </a:r>
            </a:p>
          </p:txBody>
        </p:sp>
        <p:sp>
          <p:nvSpPr>
            <p:cNvPr id="21" name="TextBox 21"/>
            <p:cNvSpPr txBox="1"/>
            <p:nvPr/>
          </p:nvSpPr>
          <p:spPr>
            <a:xfrm>
              <a:off x="829818" y="4317682"/>
              <a:ext cx="3192421"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j-lt"/>
                  <a:ea typeface="+mj-ea"/>
                  <a:cs typeface="+mj-cs"/>
                </a:rPr>
                <a:t>A fast, depth-free kernel</a:t>
              </a:r>
            </a:p>
          </p:txBody>
        </p:sp>
        <p:sp>
          <p:nvSpPr>
            <p:cNvPr id="22" name="TextBox 22"/>
            <p:cNvSpPr txBox="1"/>
            <p:nvPr/>
          </p:nvSpPr>
          <p:spPr>
            <a:xfrm>
              <a:off x="832104" y="4728210"/>
              <a:ext cx="3757099"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It also delivers a practical kernel whose cost is</a:t>
              </a:r>
            </a:p>
          </p:txBody>
        </p:sp>
        <p:sp>
          <p:nvSpPr>
            <p:cNvPr id="23" name="TextBox 23"/>
            <p:cNvSpPr txBox="1"/>
            <p:nvPr/>
          </p:nvSpPr>
          <p:spPr>
            <a:xfrm>
              <a:off x="832104" y="4956810"/>
              <a:ext cx="3372307"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independent of depth, an attractive, fast</a:t>
              </a:r>
            </a:p>
          </p:txBody>
        </p:sp>
        <p:sp>
          <p:nvSpPr>
            <p:cNvPr id="24" name="TextBox 24"/>
            <p:cNvSpPr txBox="1"/>
            <p:nvPr/>
          </p:nvSpPr>
          <p:spPr>
            <a:xfrm>
              <a:off x="832104" y="5185410"/>
              <a:ext cx="370374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alternative to the MLP kernel on tabular data.</a:t>
              </a:r>
            </a:p>
          </p:txBody>
        </p:sp>
        <p:sp>
          <p:nvSpPr>
            <p:cNvPr id="25" name="TextBox 25"/>
            <p:cNvSpPr txBox="1"/>
            <p:nvPr/>
          </p:nvSpPr>
          <p:spPr>
            <a:xfrm>
              <a:off x="832866" y="5487352"/>
              <a:ext cx="3242501" cy="205359"/>
            </a:xfrm>
            <a:prstGeom prst="rect">
              <a:avLst/>
            </a:prstGeom>
            <a:noFill/>
            <a:ln>
              <a:noFill/>
            </a:ln>
          </p:spPr>
          <p:txBody>
            <a:bodyPr wrap="none" lIns="0" tIns="0" rIns="0" bIns="0" anchor="t" anchorCtr="0">
              <a:spAutoFit/>
            </a:bodyPr>
            <a:lstStyle/>
            <a:p>
              <a:pPr algn="l"/>
              <a:r>
                <a:rPr lang="en-US" sz="1050" i="1" dirty="0">
                  <a:solidFill>
                    <a:schemeClr val="accent5"/>
                  </a:solidFill>
                  <a:latin typeface="+mn-lt"/>
                  <a:ea typeface="+mn-ea"/>
                  <a:cs typeface="+mn-cs"/>
                </a:rPr>
                <a:t>Read the paper · arXiv:2109.04983 · ICLR 2022</a:t>
              </a:r>
            </a:p>
          </p:txBody>
        </p:sp>
      </p:grpSp>
      <p:grpSp>
        <p:nvGrpSpPr>
          <p:cNvPr id="43" name="Group 43"/>
          <p:cNvGrpSpPr/>
          <p:nvPr/>
        </p:nvGrpSpPr>
        <p:grpSpPr>
          <a:xfrm>
            <a:off x="6229350" y="1428750"/>
            <a:ext cx="5353050" cy="4286250"/>
            <a:chOff x="6229350" y="1428750"/>
            <a:chExt cx="5353050" cy="4286250"/>
          </a:xfrm>
        </p:grpSpPr>
        <p:sp>
          <p:nvSpPr>
            <p:cNvPr id="27" name="Rectangle 27"/>
            <p:cNvSpPr/>
            <p:nvPr/>
          </p:nvSpPr>
          <p:spPr>
            <a:xfrm>
              <a:off x="6229350" y="1428750"/>
              <a:ext cx="5353050" cy="4286250"/>
            </a:xfrm>
            <a:prstGeom prst="roundRect">
              <a:avLst>
                <a:gd name="adj" fmla="val 2667"/>
              </a:avLst>
            </a:prstGeom>
            <a:solidFill>
              <a:schemeClr val="lt1"/>
            </a:solidFill>
            <a:ln w="14288">
              <a:solidFill>
                <a:schemeClr val="accent4"/>
              </a:solidFill>
            </a:ln>
            <a:effectLst>
              <a:outerShdw blurRad="76200" dist="28575" dir="5400000" algn="ctr" rotWithShape="0">
                <a:srgbClr val="0B2E52">
                  <a:alpha val="6000"/>
                </a:srgbClr>
              </a:outerShdw>
            </a:effectLst>
          </p:spPr>
        </p:sp>
        <p:sp>
          <p:nvSpPr>
            <p:cNvPr id="28" name="Rectangle 28"/>
            <p:cNvSpPr/>
            <p:nvPr/>
          </p:nvSpPr>
          <p:spPr>
            <a:xfrm>
              <a:off x="6229350" y="1428750"/>
              <a:ext cx="57150" cy="4286250"/>
            </a:xfrm>
            <a:prstGeom prst="roundRect">
              <a:avLst>
                <a:gd name="adj" fmla="val 50000"/>
              </a:avLst>
            </a:prstGeom>
            <a:solidFill>
              <a:schemeClr val="accent2"/>
            </a:solidFill>
            <a:ln>
              <a:noFill/>
            </a:ln>
          </p:spPr>
        </p:sp>
        <p:sp>
          <p:nvSpPr>
            <p:cNvPr id="29" name="TextBox 29"/>
            <p:cNvSpPr txBox="1"/>
            <p:nvPr/>
          </p:nvSpPr>
          <p:spPr>
            <a:xfrm>
              <a:off x="6529197" y="1666399"/>
              <a:ext cx="3403546" cy="190690"/>
            </a:xfrm>
            <a:prstGeom prst="rect">
              <a:avLst/>
            </a:prstGeom>
            <a:noFill/>
            <a:ln>
              <a:noFill/>
            </a:ln>
          </p:spPr>
          <p:txBody>
            <a:bodyPr wrap="none" lIns="0" tIns="0" rIns="0" bIns="0" anchor="t" anchorCtr="0">
              <a:spAutoFit/>
            </a:bodyPr>
            <a:lstStyle/>
            <a:p>
              <a:pPr algn="l"/>
              <a:r>
                <a:rPr lang="en-US" sz="980" b="1" spc="90" dirty="0">
                  <a:solidFill>
                    <a:schemeClr val="accent2"/>
                  </a:solidFill>
                  <a:latin typeface="+mn-lt"/>
                  <a:ea typeface="+mn-ea"/>
                  <a:cs typeface="+mn-cs"/>
                </a:rPr>
                <a:t>ONE THEORY · FOUR BEHAVIOURS EXPLAINED</a:t>
              </a:r>
            </a:p>
          </p:txBody>
        </p:sp>
        <p:sp>
          <p:nvSpPr>
            <p:cNvPr id="30" name="TextBox 30"/>
            <p:cNvSpPr txBox="1"/>
            <p:nvPr/>
          </p:nvSpPr>
          <p:spPr>
            <a:xfrm>
              <a:off x="6526149" y="1887379"/>
              <a:ext cx="3201900"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The Tree NTK explains it all</a:t>
              </a:r>
            </a:p>
          </p:txBody>
        </p:sp>
        <p:sp>
          <p:nvSpPr>
            <p:cNvPr id="31" name="Rectangle 31"/>
            <p:cNvSpPr/>
            <p:nvPr/>
          </p:nvSpPr>
          <p:spPr>
            <a:xfrm>
              <a:off x="6534150" y="2286000"/>
              <a:ext cx="4743450" cy="723900"/>
            </a:xfrm>
            <a:prstGeom prst="roundRect">
              <a:avLst>
                <a:gd name="adj" fmla="val 10526"/>
              </a:avLst>
            </a:prstGeom>
            <a:solidFill>
              <a:schemeClr val="lt2"/>
            </a:solidFill>
            <a:ln w="9525">
              <a:solidFill>
                <a:schemeClr val="accent4"/>
              </a:solidFill>
            </a:ln>
          </p:spPr>
        </p:sp>
        <p:sp>
          <p:nvSpPr>
            <p:cNvPr id="32" name="TextBox 32"/>
            <p:cNvSpPr txBox="1"/>
            <p:nvPr/>
          </p:nvSpPr>
          <p:spPr>
            <a:xfrm>
              <a:off x="6698742" y="2426018"/>
              <a:ext cx="3023347"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Georgia"/>
                  <a:ea typeface="Georgia"/>
                  <a:cs typeface="Georgia"/>
                </a:rPr>
                <a:t>1 · Training converges globally</a:t>
              </a:r>
            </a:p>
          </p:txBody>
        </p:sp>
        <p:sp>
          <p:nvSpPr>
            <p:cNvPr id="33" name="TextBox 33"/>
            <p:cNvSpPr txBox="1"/>
            <p:nvPr/>
          </p:nvSpPr>
          <p:spPr>
            <a:xfrm>
              <a:off x="6699885" y="2717006"/>
              <a:ext cx="399187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constant, positive-definite kernel guarantees it.</a:t>
              </a:r>
            </a:p>
          </p:txBody>
        </p:sp>
        <p:sp>
          <p:nvSpPr>
            <p:cNvPr id="34" name="Rectangle 34"/>
            <p:cNvSpPr/>
            <p:nvPr/>
          </p:nvSpPr>
          <p:spPr>
            <a:xfrm>
              <a:off x="6534150" y="3105150"/>
              <a:ext cx="4743450" cy="723900"/>
            </a:xfrm>
            <a:prstGeom prst="roundRect">
              <a:avLst>
                <a:gd name="adj" fmla="val 10526"/>
              </a:avLst>
            </a:prstGeom>
            <a:solidFill>
              <a:schemeClr val="lt2"/>
            </a:solidFill>
            <a:ln w="9525">
              <a:solidFill>
                <a:schemeClr val="accent4"/>
              </a:solidFill>
            </a:ln>
          </p:spPr>
        </p:sp>
        <p:sp>
          <p:nvSpPr>
            <p:cNvPr id="35" name="TextBox 35"/>
            <p:cNvSpPr txBox="1"/>
            <p:nvPr/>
          </p:nvSpPr>
          <p:spPr>
            <a:xfrm>
              <a:off x="6698742" y="3245168"/>
              <a:ext cx="3457418"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Georgia"/>
                  <a:ea typeface="Georgia"/>
                  <a:cs typeface="Georgia"/>
                </a:rPr>
                <a:t>2 · Oblivious sharing costs nothing</a:t>
              </a:r>
            </a:p>
          </p:txBody>
        </p:sp>
        <p:sp>
          <p:nvSpPr>
            <p:cNvPr id="36" name="TextBox 36"/>
            <p:cNvSpPr txBox="1"/>
            <p:nvPr/>
          </p:nvSpPr>
          <p:spPr>
            <a:xfrm>
              <a:off x="6699885" y="3536156"/>
              <a:ext cx="383356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it induces the very same kernel in the infinite limit.</a:t>
              </a:r>
            </a:p>
          </p:txBody>
        </p:sp>
        <p:sp>
          <p:nvSpPr>
            <p:cNvPr id="37" name="Rectangle 37"/>
            <p:cNvSpPr/>
            <p:nvPr/>
          </p:nvSpPr>
          <p:spPr>
            <a:xfrm>
              <a:off x="6534150" y="3924300"/>
              <a:ext cx="4743450" cy="723900"/>
            </a:xfrm>
            <a:prstGeom prst="roundRect">
              <a:avLst>
                <a:gd name="adj" fmla="val 10526"/>
              </a:avLst>
            </a:prstGeom>
            <a:solidFill>
              <a:schemeClr val="lt2"/>
            </a:solidFill>
            <a:ln w="9525">
              <a:solidFill>
                <a:schemeClr val="accent4"/>
              </a:solidFill>
            </a:ln>
          </p:spPr>
        </p:sp>
        <p:sp>
          <p:nvSpPr>
            <p:cNvPr id="38" name="TextBox 38"/>
            <p:cNvSpPr txBox="1"/>
            <p:nvPr/>
          </p:nvSpPr>
          <p:spPr>
            <a:xfrm>
              <a:off x="6698742" y="4064318"/>
              <a:ext cx="2613430"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Georgia"/>
                  <a:ea typeface="Georgia"/>
                  <a:cs typeface="Georgia"/>
                </a:rPr>
                <a:t>3 · Deep trees degenerate</a:t>
              </a:r>
            </a:p>
          </p:txBody>
        </p:sp>
        <p:sp>
          <p:nvSpPr>
            <p:cNvPr id="39" name="TextBox 39"/>
            <p:cNvSpPr txBox="1"/>
            <p:nvPr/>
          </p:nvSpPr>
          <p:spPr>
            <a:xfrm>
              <a:off x="6699885" y="4355306"/>
              <a:ext cx="398433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very deep trees flatten the kernel to near-constant.</a:t>
              </a:r>
            </a:p>
          </p:txBody>
        </p:sp>
        <p:sp>
          <p:nvSpPr>
            <p:cNvPr id="40" name="Rectangle 40"/>
            <p:cNvSpPr/>
            <p:nvPr/>
          </p:nvSpPr>
          <p:spPr>
            <a:xfrm>
              <a:off x="6534150" y="4743450"/>
              <a:ext cx="4743450" cy="723900"/>
            </a:xfrm>
            <a:prstGeom prst="roundRect">
              <a:avLst>
                <a:gd name="adj" fmla="val 10526"/>
              </a:avLst>
            </a:prstGeom>
            <a:solidFill>
              <a:schemeClr val="accent6"/>
            </a:solidFill>
            <a:ln w="9525">
              <a:solidFill>
                <a:schemeClr val="accent2"/>
              </a:solidFill>
            </a:ln>
          </p:spPr>
        </p:sp>
        <p:sp>
          <p:nvSpPr>
            <p:cNvPr id="41" name="TextBox 41"/>
            <p:cNvSpPr txBox="1"/>
            <p:nvPr/>
          </p:nvSpPr>
          <p:spPr>
            <a:xfrm>
              <a:off x="6698742" y="4883468"/>
              <a:ext cx="2128485"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Georgia"/>
                  <a:ea typeface="Georgia"/>
                  <a:cs typeface="Georgia"/>
                </a:rPr>
                <a:t>4 · Harder splits help</a:t>
              </a:r>
            </a:p>
          </p:txBody>
        </p:sp>
        <p:sp>
          <p:nvSpPr>
            <p:cNvPr id="42" name="TextBox 42"/>
            <p:cNvSpPr txBox="1"/>
            <p:nvPr/>
          </p:nvSpPr>
          <p:spPr>
            <a:xfrm>
              <a:off x="6699885" y="5174456"/>
              <a:ext cx="408233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sharper splitting yields a more useful nonlinear kernel.</a:t>
              </a:r>
            </a:p>
          </p:txBody>
        </p:sp>
      </p:grpSp>
      <p:sp>
        <p:nvSpPr>
          <p:cNvPr id="44" name="TextBox 44"/>
          <p:cNvSpPr txBox="1"/>
          <p:nvPr/>
        </p:nvSpPr>
        <p:spPr>
          <a:xfrm>
            <a:off x="11207836" y="6578441"/>
            <a:ext cx="379326"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10 / 10</a:t>
            </a:r>
          </a:p>
        </p:txBody>
      </p:sp>
      <p:sp>
        <p:nvSpPr>
          <p:cNvPr id="45" name="cue_s10_c1_lasting_takeaway_neural_tangent_kern" title="cue_s10_c1_lasting_takeaway_neural_tangent_kern" descr="cue_s10_c1_lasting_takeaway_neural_tangent_kern The lasting takeaway is that the neural tangent kernel framework, once used only for neural networks, applies to tree models."/>
          <p:cNvSpPr/>
          <p:nvPr/>
        </p:nvSpPr>
        <p:spPr>
          <a:xfrm>
            <a:off x="609600" y="1428521"/>
            <a:ext cx="5353507" cy="21904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10_c2_resulting_tree_ntk_explains_many" title="cue_s10_c2_resulting_tree_ntk_explains_many" descr="cue_s10_c2_resulting_tree_ntk_explains_many The resulting Tree NTK explains many soft-tree behaviors from one theory: training converges globally, oblivious sharing costs nothing in the limit, deep trees degenerate into a nearly constant kernel, and harder splits yield a more useful nonlinear kernel."/>
          <p:cNvSpPr/>
          <p:nvPr/>
        </p:nvSpPr>
        <p:spPr>
          <a:xfrm>
            <a:off x="6228892" y="1428521"/>
            <a:ext cx="5353507" cy="42862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10_c3_also_delivers_fast_kernel_whose" title="cue_s10_c3_also_delivers_fast_kernel_whose" descr="cue_s10_c3_also_delivers_fast_kernel_whose It also delivers a fast kernel whose cost is independent of depth."/>
          <p:cNvSpPr/>
          <p:nvPr/>
        </p:nvSpPr>
        <p:spPr>
          <a:xfrm>
            <a:off x="609600" y="3810304"/>
            <a:ext cx="5353507"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ntk_tree_video">
  <a:themeElements>
    <a:clrScheme name="ntk_tree_video">
      <a:dk1>
        <a:srgbClr val="12202E"/>
      </a:dk1>
      <a:lt1>
        <a:srgbClr val="FFFFFF"/>
      </a:lt1>
      <a:dk2>
        <a:srgbClr val="46586A"/>
      </a:dk2>
      <a:lt2>
        <a:srgbClr val="F4F7FB"/>
      </a:lt2>
      <a:accent1>
        <a:srgbClr val="0B2E52"/>
      </a:accent1>
      <a:accent2>
        <a:srgbClr val="2C6FE0"/>
      </a:accent2>
      <a:accent3>
        <a:srgbClr val="6FA5EC"/>
      </a:accent3>
      <a:accent4>
        <a:srgbClr val="DBE3EE"/>
      </a:accent4>
      <a:accent5>
        <a:srgbClr val="93A2B2"/>
      </a:accent5>
      <a:accent6>
        <a:srgbClr val="E9F1FC"/>
      </a:accent6>
      <a:hlink>
        <a:srgbClr val="2C6FE0"/>
      </a:hlink>
      <a:folHlink>
        <a:srgbClr val="6FA5EC"/>
      </a:folHlink>
    </a:clrScheme>
    <a:fontScheme name="ntk_tree_video">
      <a:majorFont>
        <a:latin typeface="Georgia"/>
        <a:ea typeface="Microsoft YaHei"/>
        <a:cs typeface="Georgia"/>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tk_tree_vide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2026-07-15T07:38:59Z</dcterms:created>
  <dcterms:modified xsi:type="dcterms:W3CDTF">2026-07-15T07:38:59Z</dcterms:modified>
  <cp:category/>
  <cp:contentStatus/>
</cp:coreProperties>
</file>
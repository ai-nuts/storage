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2478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855329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421233"/>
            <a:ext cx="16349682" cy="63488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5421233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5421233"/>
            <a:ext cx="16349682" cy="24650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428289" y="5421233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5421233"/>
            <a:ext cx="16349821" cy="13259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5421233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2101929"/>
            <a:ext cx="16349682" cy="179700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2101929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19012376"/>
            <a:ext cx="16349821" cy="4248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19012376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3592809"/>
            <a:ext cx="16349821" cy="6479143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4691" y="23592809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4691" y="23592809"/>
            <a:ext cx="53340" cy="6479143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university-college-lond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047" y="1388933"/>
            <a:ext cx="2262921" cy="2729210"/>
          </a:xfrm>
          <a:prstGeom prst="rect">
            <a:avLst/>
          </a:prstGeom>
        </p:spPr>
      </p:pic>
      <p:pic>
        <p:nvPicPr>
          <p:cNvPr id="18" name="Picture 17" descr="alan-turing-instit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942" y="1388937"/>
            <a:ext cx="6493173" cy="2729202"/>
          </a:xfrm>
          <a:prstGeom prst="rect">
            <a:avLst/>
          </a:prstGeom>
        </p:spPr>
      </p:pic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6355" y="1805383"/>
            <a:ext cx="6526649" cy="189644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88861" y="10099456"/>
            <a:ext cx="1587573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861" y="10099456"/>
            <a:ext cx="124460" cy="1481019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665263" y="13842702"/>
            <a:ext cx="15875734" cy="2609354"/>
          </a:xfrm>
          <a:prstGeom prst="roundRect">
            <a:avLst>
              <a:gd name="adj" fmla="val 8634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441665" y="16806128"/>
            <a:ext cx="1587587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441665" y="16806128"/>
            <a:ext cx="15875873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8861" y="17817921"/>
            <a:ext cx="15875734" cy="1647984"/>
          </a:xfrm>
          <a:prstGeom prst="roundRect">
            <a:avLst>
              <a:gd name="adj" fmla="val 1265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441665" y="20405050"/>
            <a:ext cx="15875873" cy="2702282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495005" y="28271033"/>
            <a:ext cx="15822533" cy="1668820"/>
          </a:xfrm>
          <a:prstGeom prst="roundRect">
            <a:avLst>
              <a:gd name="adj" fmla="val 125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441665" y="10686196"/>
            <a:ext cx="15875873" cy="4807962"/>
          </a:xfrm>
          <a:prstGeom prst="roundRect">
            <a:avLst>
              <a:gd name="adj" fmla="val 73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age6_figur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803" y="10686196"/>
            <a:ext cx="15875598" cy="480796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7665263" y="17090191"/>
            <a:ext cx="15875734" cy="4605159"/>
          </a:xfrm>
          <a:prstGeom prst="roundRect">
            <a:avLst>
              <a:gd name="adj" fmla="val 77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age3_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65290" y="17090191"/>
            <a:ext cx="15875680" cy="460515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88861" y="19815254"/>
            <a:ext cx="15875734" cy="8617744"/>
          </a:xfrm>
          <a:prstGeom prst="roundRect">
            <a:avLst>
              <a:gd name="adj" fmla="val 41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ge2_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43" y="19815254"/>
            <a:ext cx="15875569" cy="861774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68648" y="20627300"/>
            <a:ext cx="3103026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968648" y="20627300"/>
            <a:ext cx="11557" cy="2305288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665263" y="24100651"/>
            <a:ext cx="15875734" cy="3642538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ge4_figure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65459" y="24100651"/>
            <a:ext cx="15875342" cy="364253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34441665" y="9443263"/>
            <a:ext cx="15875873" cy="945118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441665" y="6846550"/>
            <a:ext cx="9227542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441665" y="7544137"/>
            <a:ext cx="922754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669207" y="6846550"/>
            <a:ext cx="3324027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669207" y="7544137"/>
            <a:ext cx="332402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993234" y="6846550"/>
            <a:ext cx="3324304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993234" y="7544137"/>
            <a:ext cx="332430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41665" y="7553027"/>
            <a:ext cx="922754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441665" y="8489255"/>
            <a:ext cx="922754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669207" y="7553027"/>
            <a:ext cx="332402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669207" y="8489255"/>
            <a:ext cx="332402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993234" y="7553027"/>
            <a:ext cx="332430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993234" y="8489255"/>
            <a:ext cx="332430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441665" y="8498145"/>
            <a:ext cx="922754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441665" y="9434373"/>
            <a:ext cx="922754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669207" y="8498145"/>
            <a:ext cx="332402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69207" y="9434373"/>
            <a:ext cx="332402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993234" y="8498145"/>
            <a:ext cx="332430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993234" y="9434373"/>
            <a:ext cx="332430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441665" y="9443263"/>
            <a:ext cx="922754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441665" y="10379491"/>
            <a:ext cx="922754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669207" y="9443263"/>
            <a:ext cx="332402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669207" y="10379491"/>
            <a:ext cx="332402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993234" y="9443263"/>
            <a:ext cx="332430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993234" y="10379491"/>
            <a:ext cx="332430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111111"/>
                </a:solidFill>
                <a:latin typeface="Arial"/>
              </a:rPr>
              <a:t>StyleMorph: Disentangled 3D-Aware Image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111111"/>
                </a:solidFill>
                <a:latin typeface="Arial"/>
              </a:rPr>
              <a:t>Synthesis with a 3D Morphable StyleGAN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Eric-Tuan Le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Edward Bartrum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733" b="0">
                <a:solidFill>
                  <a:srgbClr val="1C1C1C"/>
                </a:solidFill>
                <a:latin typeface="Arial"/>
              </a:rPr>
              <a:t>, Iasonas Kokkinos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University College London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2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Alan Turing Institute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8861" y="5747107"/>
            <a:ext cx="163024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665263" y="5747107"/>
            <a:ext cx="1630245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441665" y="5747107"/>
            <a:ext cx="1630259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8861" y="6813907"/>
            <a:ext cx="1630245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Existing 3D-aware GANs render high-quality images but </a:t>
            </a:r>
            <a:r>
              <a:rPr sz="4106" b="1">
                <a:solidFill>
                  <a:srgbClr val="111111"/>
                </a:solidFill>
                <a:latin typeface="Arial"/>
              </a:rPr>
              <a:t>entangle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geometry with appearance</a:t>
            </a:r>
            <a:r>
              <a:rPr sz="4106" b="0">
                <a:solidFill>
                  <a:srgbClr val="1C1C1C"/>
                </a:solidFill>
                <a:latin typeface="Arial"/>
              </a:rPr>
              <a:t> — shape, camera pose, object texture,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background cannot be controlled independently during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synthesis.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8861" y="10099456"/>
            <a:ext cx="1630245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Edit one factor and it bleeds into the others: the hybrid design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fuses geometry and appearance.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8861" y="12427803"/>
            <a:ext cx="163024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876373" y="15970190"/>
            <a:ext cx="11796977" cy="422518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A shape-code-driven offset field g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s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warps each world-space ray into deformation-free template space.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441665" y="16806128"/>
            <a:ext cx="1630259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Disentanglement costs no quality: StyleMorph rivals the best non-disentangled 3D-GANs while adding four-way control.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8861" y="17817921"/>
            <a:ext cx="1630245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Classical 3DMM: 3D scans, faces only. StyleMorph: 2D images,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any category.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441665" y="19338250"/>
            <a:ext cx="1630259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495005" y="23918683"/>
            <a:ext cx="1624925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495005" y="24985483"/>
            <a:ext cx="1624925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morphing a learned 3D template into a geometric TOCS map that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conditions a StyleGAN renderer, StyleMorph achieves state-of-the-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art synthesis with fully disentangled control over shape, pose,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appearance — all from 2D images alone.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495005" y="28271033"/>
            <a:ext cx="16249253" cy="1919142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An unsupervised 3D morphable model for general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categories — VFX-style control, no 3D supervision.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665245" y="7050603"/>
            <a:ext cx="1630247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Morphable Renderer</a:t>
            </a:r>
            <a:r>
              <a:rPr sz="4106" b="0">
                <a:solidFill>
                  <a:srgbClr val="1C1C1C"/>
                </a:solidFill>
                <a:latin typeface="Arial"/>
              </a:rPr>
              <a:t> warps camera rays into a canonical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template space via a SIREN deformation field, integrating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template coordinates into a low-res </a:t>
            </a:r>
            <a:r>
              <a:rPr sz="4106" b="1">
                <a:solidFill>
                  <a:srgbClr val="111111"/>
                </a:solidFill>
                <a:latin typeface="Arial"/>
              </a:rPr>
              <a:t>2D TOCS map</a:t>
            </a:r>
            <a:r>
              <a:rPr sz="4106" b="0">
                <a:solidFill>
                  <a:srgbClr val="1C1C1C"/>
                </a:solidFill>
                <a:latin typeface="Arial"/>
              </a:rPr>
              <a:t> that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bottlenecks all geometric variation (shape, pose, projection).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665245" y="10257948"/>
            <a:ext cx="1630247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TOCS map plus separate </a:t>
            </a:r>
            <a:r>
              <a:rPr sz="4106" b="1">
                <a:solidFill>
                  <a:srgbClr val="111111"/>
                </a:solidFill>
                <a:latin typeface="Arial"/>
              </a:rPr>
              <a:t>foreground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background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appearance codes condition a StyleGAN2 </a:t>
            </a:r>
            <a:r>
              <a:rPr sz="4106" b="1">
                <a:solidFill>
                  <a:srgbClr val="111111"/>
                </a:solidFill>
                <a:latin typeface="Arial"/>
              </a:rPr>
              <a:t>deferred neural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renderer</a:t>
            </a:r>
            <a:r>
              <a:rPr sz="4106" b="0">
                <a:solidFill>
                  <a:srgbClr val="1C1C1C"/>
                </a:solidFill>
                <a:latin typeface="Arial"/>
              </a:rPr>
              <a:t>, which synthesizes and alpha-composites the final high-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resolution image.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8842" y="13583225"/>
            <a:ext cx="1630247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3D morphable models give creators clean, separate dials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pose, shape, and appearance — but classically need </a:t>
            </a:r>
            <a:r>
              <a:rPr sz="4106" b="1">
                <a:solidFill>
                  <a:srgbClr val="111111"/>
                </a:solidFill>
                <a:latin typeface="Arial"/>
              </a:rPr>
              <a:t>3D scans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and manual alignment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076745" y="15643760"/>
            <a:ext cx="15032434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Disentangled appearance control from a source sample (yellow) over shape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(green), foreground (blue) and background (red).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8842" y="16034365"/>
            <a:ext cx="1630247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Bringing that control to 3D-aware GANs </a:t>
            </a:r>
            <a:r>
              <a:rPr sz="4106" b="1">
                <a:solidFill>
                  <a:srgbClr val="111111"/>
                </a:solidFill>
                <a:latin typeface="Arial"/>
              </a:rPr>
              <a:t>without any 3D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supervision</a:t>
            </a:r>
            <a:r>
              <a:rPr sz="4106" b="0">
                <a:solidFill>
                  <a:srgbClr val="1C1C1C"/>
                </a:solidFill>
                <a:latin typeface="Arial"/>
              </a:rPr>
              <a:t> unlocks editable synthesis far beyond human faces.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300342" y="21844952"/>
            <a:ext cx="15032296" cy="20015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Overview: geometric modelling (template shape, deformation z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s</a:t>
            </a:r>
            <a:r>
              <a:rPr sz="3367" b="0" i="1">
                <a:solidFill>
                  <a:srgbClr val="555555"/>
                </a:solidFill>
                <a:latin typeface="Arial"/>
              </a:rPr>
              <a:t>, pose φ,θ,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projection) yields a 2D TOCS map that, with foreground/background codes,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conditions the Deferred Neural Renderer.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300342" y="27892791"/>
            <a:ext cx="15032296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Morphable renderer: a 3D deformation field warps camera rays into template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coordinates, where occupancy and appearance are modelled in 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deformation-free frame.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3940" y="28582600"/>
            <a:ext cx="15032295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Disentangled control: from a synthesized sample we change one factor at 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time — pose, shape, foreground, background — then compound all.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687529" y="20627300"/>
            <a:ext cx="1205865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8465C"/>
                </a:solidFill>
                <a:latin typeface="Arial"/>
              </a:rPr>
              <a:t>7.91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687529" y="22002194"/>
            <a:ext cx="12058659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FFHQ FID · 256²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687529" y="22523648"/>
            <a:ext cx="12058659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28.18 for Disentangled3D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441665" y="6846550"/>
            <a:ext cx="950436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 (FID ↓, 256²)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669207" y="6846550"/>
            <a:ext cx="3423747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FFHQ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993234" y="6846550"/>
            <a:ext cx="3424033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CATS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441665" y="7553027"/>
            <a:ext cx="95043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Disentangled3D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669207" y="7553027"/>
            <a:ext cx="342374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28.18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993234" y="7553027"/>
            <a:ext cx="342403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441665" y="8498145"/>
            <a:ext cx="95043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GIRAFFE-HD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669207" y="8498145"/>
            <a:ext cx="342374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11.93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993234" y="8498145"/>
            <a:ext cx="342403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12.36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441665" y="9443263"/>
            <a:ext cx="95043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StyleMorph (Ours)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669207" y="9443263"/>
            <a:ext cx="342374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7.91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993234" y="9443263"/>
            <a:ext cx="342403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4.29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446902" y="20627300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4.29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668860" y="20760650"/>
            <a:ext cx="144489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Cats FID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446902" y="21482546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3.49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668860" y="21615896"/>
            <a:ext cx="140397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Wild FID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446902" y="22337930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927240" y="22471280"/>
            <a:ext cx="109923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factors</a:t>
            </a:r>
          </a:p>
        </p:txBody>
      </p:sp>
      <p:pic>
        <p:nvPicPr>
          <p:cNvPr id="108" name="Picture 107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68369" y="14482365"/>
            <a:ext cx="15069522" cy="880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
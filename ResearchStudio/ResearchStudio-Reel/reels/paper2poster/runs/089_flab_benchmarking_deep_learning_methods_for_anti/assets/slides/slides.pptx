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Free Desig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Free Desig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0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9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8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100" kern="1200">
          <a:solidFill>
            <a:schemeClr val="tx1"/>
          </a:solidFill>
          <a:latin typeface="+mn-lt"/>
          <a:ea typeface="+mn-ea"/>
          <a:cs typeface="+mn-cs"/>
        </a:defRPr>
      </a:lvl1pPr>
      <a:lvl2pPr marL="457200" algn="l" defTabSz="457200" rtl="0" eaLnBrk="1" latinLnBrk="0" hangingPunct="1">
        <a:defRPr sz="1050" kern="1200">
          <a:solidFill>
            <a:schemeClr val="tx1"/>
          </a:solidFill>
          <a:latin typeface="+mn-lt"/>
          <a:ea typeface="+mn-ea"/>
          <a:cs typeface="+mn-cs"/>
        </a:defRPr>
      </a:lvl2pPr>
      <a:lvl3pPr marL="914400" algn="l" defTabSz="457200" rtl="0" eaLnBrk="1" latinLnBrk="0" hangingPunct="1">
        <a:defRPr sz="1000" kern="1200">
          <a:solidFill>
            <a:schemeClr val="tx1"/>
          </a:solidFill>
          <a:latin typeface="+mn-lt"/>
          <a:ea typeface="+mn-ea"/>
          <a:cs typeface="+mn-cs"/>
        </a:defRPr>
      </a:lvl3pPr>
      <a:lvl4pPr marL="1371600" algn="l" defTabSz="457200" rtl="0" eaLnBrk="1" latinLnBrk="0" hangingPunct="1">
        <a:defRPr sz="900" kern="1200">
          <a:solidFill>
            <a:schemeClr val="tx1"/>
          </a:solidFill>
          <a:latin typeface="+mn-lt"/>
          <a:ea typeface="+mn-ea"/>
          <a:cs typeface="+mn-cs"/>
        </a:defRPr>
      </a:lvl4pPr>
      <a:lvl5pPr marL="1828800" algn="l" defTabSz="457200" rtl="0" eaLnBrk="1" latinLnBrk="0" hangingPunct="1">
        <a:defRPr sz="85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grpSp>
        <p:nvGrpSpPr>
          <p:cNvPr id="6" name="Group 6"/>
          <p:cNvGrpSpPr/>
          <p:nvPr/>
        </p:nvGrpSpPr>
        <p:grpSpPr>
          <a:xfrm>
            <a:off x="685800" y="773906"/>
            <a:ext cx="7649044" cy="512350"/>
            <a:chOff x="685800" y="773906"/>
            <a:chExt cx="7649044" cy="512350"/>
          </a:xfrm>
        </p:grpSpPr>
        <p:sp>
          <p:nvSpPr>
            <p:cNvPr id="3" name="Rectangle 3"/>
            <p:cNvSpPr/>
            <p:nvPr/>
          </p:nvSpPr>
          <p:spPr>
            <a:xfrm>
              <a:off x="685800" y="781050"/>
              <a:ext cx="57150" cy="285750"/>
            </a:xfrm>
            <a:prstGeom prst="roundRect">
              <a:avLst>
                <a:gd name="adj" fmla="val 41667"/>
              </a:avLst>
            </a:prstGeom>
            <a:solidFill>
              <a:schemeClr val="accent2"/>
            </a:solidFill>
            <a:ln>
              <a:noFill/>
            </a:ln>
          </p:spPr>
        </p:sp>
        <p:sp>
          <p:nvSpPr>
            <p:cNvPr id="4" name="TextBox 4"/>
            <p:cNvSpPr txBox="1"/>
            <p:nvPr/>
          </p:nvSpPr>
          <p:spPr>
            <a:xfrm>
              <a:off x="870585" y="773906"/>
              <a:ext cx="5095543" cy="220028"/>
            </a:xfrm>
            <a:prstGeom prst="rect">
              <a:avLst/>
            </a:prstGeom>
            <a:noFill/>
            <a:ln>
              <a:noFill/>
            </a:ln>
          </p:spPr>
          <p:txBody>
            <a:bodyPr wrap="none" lIns="0" tIns="0" rIns="0" bIns="0" anchor="t" anchorCtr="0">
              <a:spAutoFit/>
            </a:bodyPr>
            <a:lstStyle/>
            <a:p>
              <a:pPr algn="l"/>
              <a:r>
                <a:rPr lang="en-US" sz="1120" b="1" spc="188" dirty="0">
                  <a:solidFill>
                    <a:schemeClr val="accent2"/>
                  </a:solidFill>
                  <a:latin typeface="+mn-lt"/>
                  <a:ea typeface="+mn-ea"/>
                  <a:cs typeface="+mn-cs"/>
                </a:rPr>
                <a:t>MACHINE LEARNING · THERAPEUTIC ANTIBODY DESIGN</a:t>
              </a:r>
            </a:p>
          </p:txBody>
        </p:sp>
        <p:sp>
          <p:nvSpPr>
            <p:cNvPr id="5" name="TextBox 5"/>
            <p:cNvSpPr txBox="1"/>
            <p:nvPr/>
          </p:nvSpPr>
          <p:spPr>
            <a:xfrm>
              <a:off x="870204" y="1051560"/>
              <a:ext cx="746464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Machine learning can accelerate antibody design only if models can read the fitness landscape.</a:t>
              </a:r>
            </a:p>
          </p:txBody>
        </p:sp>
      </p:grpSp>
      <p:sp>
        <p:nvSpPr>
          <p:cNvPr id="7" name="TextBox 7"/>
          <p:cNvSpPr txBox="1"/>
          <p:nvPr/>
        </p:nvSpPr>
        <p:spPr>
          <a:xfrm>
            <a:off x="666750" y="1332548"/>
            <a:ext cx="1642761" cy="962025"/>
          </a:xfrm>
          <a:prstGeom prst="rect">
            <a:avLst/>
          </a:prstGeom>
          <a:noFill/>
          <a:ln>
            <a:noFill/>
          </a:ln>
        </p:spPr>
        <p:txBody>
          <a:bodyPr wrap="none" lIns="0" tIns="0" rIns="0" bIns="0" anchor="t" anchorCtr="0">
            <a:spAutoFit/>
          </a:bodyPr>
          <a:lstStyle/>
          <a:p>
            <a:pPr algn="l"/>
            <a:r>
              <a:rPr lang="en-US" sz="4950" b="1" dirty="0">
                <a:solidFill>
                  <a:schemeClr val="dk1"/>
                </a:solidFill>
                <a:latin typeface="+mn-lt"/>
                <a:ea typeface="+mn-ea"/>
                <a:cs typeface="+mn-cs"/>
              </a:rPr>
              <a:t>FLAb</a:t>
            </a:r>
          </a:p>
        </p:txBody>
      </p:sp>
      <p:sp>
        <p:nvSpPr>
          <p:cNvPr id="8" name="TextBox 8"/>
          <p:cNvSpPr txBox="1"/>
          <p:nvPr/>
        </p:nvSpPr>
        <p:spPr>
          <a:xfrm>
            <a:off x="2371344" y="1637348"/>
            <a:ext cx="4791625" cy="381381"/>
          </a:xfrm>
          <a:prstGeom prst="rect">
            <a:avLst/>
          </a:prstGeom>
          <a:noFill/>
          <a:ln>
            <a:noFill/>
          </a:ln>
        </p:spPr>
        <p:txBody>
          <a:bodyPr wrap="none" lIns="0" tIns="0" rIns="0" bIns="0" anchor="t" anchorCtr="0">
            <a:spAutoFit/>
          </a:bodyPr>
          <a:lstStyle/>
          <a:p>
            <a:pPr algn="l"/>
            <a:r>
              <a:rPr lang="en-US" sz="1950" dirty="0">
                <a:solidFill>
                  <a:schemeClr val="dk2"/>
                </a:solidFill>
                <a:latin typeface="+mn-lt"/>
                <a:ea typeface="+mn-ea"/>
                <a:cs typeface="+mn-cs"/>
              </a:rPr>
              <a:t>The Fitness Landscape for Antibodies</a:t>
            </a:r>
          </a:p>
        </p:txBody>
      </p:sp>
      <p:sp>
        <p:nvSpPr>
          <p:cNvPr id="9" name="TextBox 9"/>
          <p:cNvSpPr txBox="1"/>
          <p:nvPr/>
        </p:nvSpPr>
        <p:spPr>
          <a:xfrm>
            <a:off x="678561" y="2113121"/>
            <a:ext cx="6367092" cy="278702"/>
          </a:xfrm>
          <a:prstGeom prst="rect">
            <a:avLst/>
          </a:prstGeom>
          <a:noFill/>
          <a:ln>
            <a:noFill/>
          </a:ln>
        </p:spPr>
        <p:txBody>
          <a:bodyPr wrap="none" lIns="0" tIns="0" rIns="0" bIns="0" anchor="t" anchorCtr="0">
            <a:spAutoFit/>
          </a:bodyPr>
          <a:lstStyle/>
          <a:p>
            <a:pPr algn="l"/>
            <a:r>
              <a:rPr lang="en-US" sz="1420" dirty="0">
                <a:solidFill>
                  <a:srgbClr val="6E85AC"/>
                </a:solidFill>
                <a:latin typeface="+mn-lt"/>
                <a:ea typeface="+mn-ea"/>
                <a:cs typeface="+mn-cs"/>
              </a:rPr>
              <a:t>Benchmarking deep learning methods for antibody fitness prediction</a:t>
            </a:r>
          </a:p>
        </p:txBody>
      </p:sp>
      <p:grpSp>
        <p:nvGrpSpPr>
          <p:cNvPr id="16" name="Group 16"/>
          <p:cNvGrpSpPr/>
          <p:nvPr/>
        </p:nvGrpSpPr>
        <p:grpSpPr>
          <a:xfrm>
            <a:off x="685800" y="2552700"/>
            <a:ext cx="5715000" cy="1219200"/>
            <a:chOff x="685800" y="2552700"/>
            <a:chExt cx="5715000" cy="1219200"/>
          </a:xfrm>
        </p:grpSpPr>
        <p:sp>
          <p:nvSpPr>
            <p:cNvPr id="10" name="Rectangle 10"/>
            <p:cNvSpPr/>
            <p:nvPr/>
          </p:nvSpPr>
          <p:spPr>
            <a:xfrm>
              <a:off x="685800" y="2552700"/>
              <a:ext cx="5715000" cy="1219200"/>
            </a:xfrm>
            <a:prstGeom prst="roundRect">
              <a:avLst>
                <a:gd name="adj" fmla="val 12500"/>
              </a:avLst>
            </a:prstGeom>
            <a:solidFill>
              <a:schemeClr val="accent5"/>
            </a:solidFill>
            <a:ln w="11430">
              <a:solidFill>
                <a:schemeClr val="accent4"/>
              </a:solidFill>
            </a:ln>
          </p:spPr>
        </p:sp>
        <p:sp>
          <p:nvSpPr>
            <p:cNvPr id="11" name="Rectangle 11"/>
            <p:cNvSpPr/>
            <p:nvPr/>
          </p:nvSpPr>
          <p:spPr>
            <a:xfrm>
              <a:off x="876300" y="2781300"/>
              <a:ext cx="57150" cy="762000"/>
            </a:xfrm>
            <a:prstGeom prst="roundRect">
              <a:avLst>
                <a:gd name="adj" fmla="val 41667"/>
              </a:avLst>
            </a:prstGeom>
            <a:solidFill>
              <a:srgbClr val="37DCC0"/>
            </a:solidFill>
            <a:ln>
              <a:noFill/>
            </a:ln>
          </p:spPr>
        </p:sp>
        <p:sp>
          <p:nvSpPr>
            <p:cNvPr id="12" name="TextBox 12"/>
            <p:cNvSpPr txBox="1"/>
            <p:nvPr/>
          </p:nvSpPr>
          <p:spPr>
            <a:xfrm>
              <a:off x="1055370" y="2671762"/>
              <a:ext cx="752251" cy="440055"/>
            </a:xfrm>
            <a:prstGeom prst="rect">
              <a:avLst/>
            </a:prstGeom>
            <a:noFill/>
            <a:ln>
              <a:noFill/>
            </a:ln>
          </p:spPr>
          <p:txBody>
            <a:bodyPr wrap="none" lIns="0" tIns="0" rIns="0" bIns="0" anchor="t" anchorCtr="0">
              <a:spAutoFit/>
            </a:bodyPr>
            <a:lstStyle/>
            <a:p>
              <a:pPr algn="l"/>
              <a:r>
                <a:rPr lang="en-US" sz="2250" b="1" dirty="0">
                  <a:solidFill>
                    <a:srgbClr val="37DCC0"/>
                  </a:solidFill>
                  <a:latin typeface="+mn-lt"/>
                  <a:ea typeface="+mn-ea"/>
                  <a:cs typeface="+mn-cs"/>
                </a:rPr>
                <a:t>FLAb</a:t>
              </a:r>
            </a:p>
          </p:txBody>
        </p:sp>
        <p:sp>
          <p:nvSpPr>
            <p:cNvPr id="13" name="TextBox 13"/>
            <p:cNvSpPr txBox="1"/>
            <p:nvPr/>
          </p:nvSpPr>
          <p:spPr>
            <a:xfrm>
              <a:off x="1898904" y="2785110"/>
              <a:ext cx="2759084"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Fitness Landscape for Antibodies</a:t>
              </a:r>
            </a:p>
          </p:txBody>
        </p:sp>
        <p:sp>
          <p:nvSpPr>
            <p:cNvPr id="14" name="TextBox 14"/>
            <p:cNvSpPr txBox="1"/>
            <p:nvPr/>
          </p:nvSpPr>
          <p:spPr>
            <a:xfrm>
              <a:off x="1061085" y="3098006"/>
              <a:ext cx="377054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largest therapeutic antibody design benchmark</a:t>
              </a:r>
            </a:p>
          </p:txBody>
        </p:sp>
        <p:sp>
          <p:nvSpPr>
            <p:cNvPr id="15" name="TextBox 15"/>
            <p:cNvSpPr txBox="1"/>
            <p:nvPr/>
          </p:nvSpPr>
          <p:spPr>
            <a:xfrm>
              <a:off x="1061085" y="3307556"/>
              <a:ext cx="408233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assembled to date, released openly for the community.</a:t>
              </a:r>
            </a:p>
          </p:txBody>
        </p:sp>
      </p:grpSp>
      <p:grpSp>
        <p:nvGrpSpPr>
          <p:cNvPr id="22" name="Group 22"/>
          <p:cNvGrpSpPr/>
          <p:nvPr/>
        </p:nvGrpSpPr>
        <p:grpSpPr>
          <a:xfrm>
            <a:off x="6781800" y="2552700"/>
            <a:ext cx="4724400" cy="1219200"/>
            <a:chOff x="6781800" y="2552700"/>
            <a:chExt cx="4724400" cy="1219200"/>
          </a:xfrm>
        </p:grpSpPr>
        <p:sp>
          <p:nvSpPr>
            <p:cNvPr id="17" name="Rectangle 17"/>
            <p:cNvSpPr/>
            <p:nvPr/>
          </p:nvSpPr>
          <p:spPr>
            <a:xfrm>
              <a:off x="6781800" y="2552700"/>
              <a:ext cx="4724400" cy="1219200"/>
            </a:xfrm>
            <a:prstGeom prst="roundRect">
              <a:avLst>
                <a:gd name="adj" fmla="val 12500"/>
              </a:avLst>
            </a:prstGeom>
            <a:solidFill>
              <a:schemeClr val="accent6"/>
            </a:solidFill>
            <a:ln w="13335">
              <a:solidFill>
                <a:schemeClr val="accent2"/>
              </a:solidFill>
            </a:ln>
          </p:spPr>
        </p:sp>
        <p:sp>
          <p:nvSpPr>
            <p:cNvPr id="18" name="TextBox 18"/>
            <p:cNvSpPr txBox="1"/>
            <p:nvPr/>
          </p:nvSpPr>
          <p:spPr>
            <a:xfrm>
              <a:off x="6991350" y="2646045"/>
              <a:ext cx="1857287" cy="762000"/>
            </a:xfrm>
            <a:prstGeom prst="rect">
              <a:avLst/>
            </a:prstGeom>
            <a:noFill/>
            <a:ln>
              <a:noFill/>
            </a:ln>
          </p:spPr>
          <p:txBody>
            <a:bodyPr wrap="none" lIns="0" tIns="0" rIns="0" bIns="0" anchor="t" anchorCtr="0">
              <a:spAutoFit/>
            </a:bodyPr>
            <a:lstStyle/>
            <a:p>
              <a:pPr algn="l"/>
              <a:r>
                <a:rPr lang="en-US" sz="3900" b="1" dirty="0">
                  <a:gradFill>
                    <a:gsLst>
                      <a:gs pos="0">
                        <a:srgbClr val="F7B84B"/>
                      </a:gs>
                      <a:gs pos="100000">
                        <a:srgbClr val="E8892E"/>
                      </a:gs>
                    </a:gsLst>
                    <a:lin ang="2700000" scaled="1"/>
                  </a:gradFill>
                  <a:latin typeface="+mn-lt"/>
                  <a:ea typeface="+mn-ea"/>
                  <a:cs typeface="+mn-cs"/>
                </a:rPr>
                <a:t>13,384</a:t>
              </a:r>
            </a:p>
          </p:txBody>
        </p:sp>
        <p:sp>
          <p:nvSpPr>
            <p:cNvPr id="19" name="TextBox 19"/>
            <p:cNvSpPr txBox="1"/>
            <p:nvPr/>
          </p:nvSpPr>
          <p:spPr>
            <a:xfrm>
              <a:off x="8585835" y="2793206"/>
              <a:ext cx="96130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experimental</a:t>
              </a:r>
            </a:p>
          </p:txBody>
        </p:sp>
        <p:sp>
          <p:nvSpPr>
            <p:cNvPr id="20" name="TextBox 20"/>
            <p:cNvSpPr txBox="1"/>
            <p:nvPr/>
          </p:nvSpPr>
          <p:spPr>
            <a:xfrm>
              <a:off x="8585835" y="3002756"/>
              <a:ext cx="1737043"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fitness measurements</a:t>
              </a:r>
            </a:p>
          </p:txBody>
        </p:sp>
        <p:sp>
          <p:nvSpPr>
            <p:cNvPr id="21" name="TextBox 21"/>
            <p:cNvSpPr txBox="1"/>
            <p:nvPr/>
          </p:nvSpPr>
          <p:spPr>
            <a:xfrm>
              <a:off x="7004876" y="3368754"/>
              <a:ext cx="3523125"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6 developability properties · 6 models vs Rosetta</a:t>
              </a:r>
            </a:p>
          </p:txBody>
        </p:sp>
      </p:grpSp>
      <p:grpSp>
        <p:nvGrpSpPr>
          <p:cNvPr id="26" name="Group 26"/>
          <p:cNvGrpSpPr/>
          <p:nvPr/>
        </p:nvGrpSpPr>
        <p:grpSpPr>
          <a:xfrm>
            <a:off x="685800" y="3943350"/>
            <a:ext cx="10820400" cy="552450"/>
            <a:chOff x="685800" y="3943350"/>
            <a:chExt cx="10820400" cy="552450"/>
          </a:xfrm>
        </p:grpSpPr>
        <p:sp>
          <p:nvSpPr>
            <p:cNvPr id="23" name="Rectangle 23"/>
            <p:cNvSpPr/>
            <p:nvPr/>
          </p:nvSpPr>
          <p:spPr>
            <a:xfrm>
              <a:off x="685800" y="3943350"/>
              <a:ext cx="10820400" cy="552450"/>
            </a:xfrm>
            <a:prstGeom prst="roundRect">
              <a:avLst>
                <a:gd name="adj" fmla="val 24138"/>
              </a:avLst>
            </a:prstGeom>
            <a:solidFill>
              <a:schemeClr val="accent5"/>
            </a:solidFill>
            <a:ln w="11430">
              <a:solidFill>
                <a:srgbClr val="F7B84B"/>
              </a:solidFill>
            </a:ln>
          </p:spPr>
        </p:sp>
        <p:sp>
          <p:nvSpPr>
            <p:cNvPr id="24" name="Rectangle 24"/>
            <p:cNvSpPr/>
            <p:nvPr/>
          </p:nvSpPr>
          <p:spPr>
            <a:xfrm>
              <a:off x="876300" y="4114800"/>
              <a:ext cx="47625" cy="209550"/>
            </a:xfrm>
            <a:prstGeom prst="roundRect">
              <a:avLst>
                <a:gd name="adj" fmla="val 50000"/>
              </a:avLst>
            </a:prstGeom>
            <a:solidFill>
              <a:srgbClr val="F7B84B"/>
            </a:solidFill>
            <a:ln>
              <a:noFill/>
            </a:ln>
          </p:spPr>
        </p:sp>
        <p:sp>
          <p:nvSpPr>
            <p:cNvPr id="25" name="TextBox 25"/>
            <p:cNvSpPr txBox="1"/>
            <p:nvPr/>
          </p:nvSpPr>
          <p:spPr>
            <a:xfrm>
              <a:off x="1079944" y="4160758"/>
              <a:ext cx="9830639"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Headline finding: no single model correlates well with all six properties, and performance swings sharply across datasets.</a:t>
              </a:r>
            </a:p>
          </p:txBody>
        </p:sp>
      </p:grpSp>
      <p:sp>
        <p:nvSpPr>
          <p:cNvPr id="27" name="Line 27"/>
          <p:cNvSpPr/>
          <p:nvPr/>
        </p:nvSpPr>
        <p:spPr>
          <a:xfrm>
            <a:off x="685800" y="4876800"/>
            <a:ext cx="10820400" cy="9525"/>
          </a:xfrm>
          <a:custGeom>
            <a:avLst/>
            <a:gdLst/>
            <a:ahLst/>
            <a:cxnLst/>
            <a:rect l="l" t="t" r="r" b="b"/>
            <a:pathLst>
              <a:path w="10820400" h="9525">
                <a:moveTo>
                  <a:pt x="0" y="0"/>
                </a:moveTo>
                <a:lnTo>
                  <a:pt x="10820400" y="0"/>
                </a:lnTo>
              </a:path>
            </a:pathLst>
          </a:custGeom>
          <a:noFill/>
          <a:ln w="11430">
            <a:solidFill>
              <a:schemeClr val="accent4"/>
            </a:solidFill>
          </a:ln>
        </p:spPr>
        <p:txBody>
          <a:bodyPr/>
          <a:p/>
        </p:txBody>
      </p:sp>
      <p:sp>
        <p:nvSpPr>
          <p:cNvPr id="28" name="TextBox 28"/>
          <p:cNvSpPr txBox="1"/>
          <p:nvPr/>
        </p:nvSpPr>
        <p:spPr>
          <a:xfrm>
            <a:off x="677799" y="5068729"/>
            <a:ext cx="5690653"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Michael Chungyoun · Jeffrey Ruffolo · Jeffrey Gray</a:t>
            </a:r>
          </a:p>
        </p:txBody>
      </p:sp>
      <p:sp>
        <p:nvSpPr>
          <p:cNvPr id="29" name="TextBox 29"/>
          <p:cNvSpPr txBox="1"/>
          <p:nvPr/>
        </p:nvSpPr>
        <p:spPr>
          <a:xfrm>
            <a:off x="680085" y="5384006"/>
            <a:ext cx="182709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Johns Hopkins University</a:t>
            </a:r>
          </a:p>
        </p:txBody>
      </p:sp>
      <p:sp>
        <p:nvSpPr>
          <p:cNvPr id="30" name="TextBox 30"/>
          <p:cNvSpPr txBox="1"/>
          <p:nvPr/>
        </p:nvSpPr>
        <p:spPr>
          <a:xfrm>
            <a:off x="680466" y="5715952"/>
            <a:ext cx="5499816" cy="205359"/>
          </a:xfrm>
          <a:prstGeom prst="rect">
            <a:avLst/>
          </a:prstGeom>
          <a:noFill/>
          <a:ln>
            <a:noFill/>
          </a:ln>
        </p:spPr>
        <p:txBody>
          <a:bodyPr wrap="none" lIns="0" tIns="0" rIns="0" bIns="0" anchor="t" anchorCtr="0">
            <a:spAutoFit/>
          </a:bodyPr>
          <a:lstStyle/>
          <a:p>
            <a:pPr algn="l"/>
            <a:r>
              <a:rPr lang="en-US" sz="1050" b="1" spc="90" dirty="0">
                <a:solidFill>
                  <a:schemeClr val="accent2"/>
                </a:solidFill>
                <a:latin typeface="+mn-lt"/>
                <a:ea typeface="+mn-ea"/>
                <a:cs typeface="+mn-cs"/>
              </a:rPr>
              <a:t>NeurIPS 2023 · Machine Learning for Structural Biology Workshop</a:t>
            </a:r>
          </a:p>
        </p:txBody>
      </p:sp>
      <p:sp>
        <p:nvSpPr>
          <p:cNvPr id="31" name="TextBox 31"/>
          <p:cNvSpPr txBox="1"/>
          <p:nvPr/>
        </p:nvSpPr>
        <p:spPr>
          <a:xfrm>
            <a:off x="680466" y="5963602"/>
            <a:ext cx="5379321" cy="205359"/>
          </a:xfrm>
          <a:prstGeom prst="rect">
            <a:avLst/>
          </a:prstGeom>
          <a:noFill/>
          <a:ln>
            <a:noFill/>
          </a:ln>
        </p:spPr>
        <p:txBody>
          <a:bodyPr wrap="none" lIns="0" tIns="0" rIns="0" bIns="0" anchor="t" anchorCtr="0">
            <a:spAutoFit/>
          </a:bodyPr>
          <a:lstStyle/>
          <a:p>
            <a:pPr algn="l"/>
            <a:r>
              <a:rPr lang="en-US" sz="1050" dirty="0">
                <a:solidFill>
                  <a:srgbClr val="6E85AC"/>
                </a:solidFill>
                <a:latin typeface="Consolas"/>
                <a:ea typeface="Consolas"/>
                <a:cs typeface="Consolas"/>
              </a:rPr>
              <a:t>biorxiv.org/content/10.1101/2024.01.13.575504 · github.com/Graylab/FLAb</a:t>
            </a:r>
          </a:p>
        </p:txBody>
      </p:sp>
      <p:sp>
        <p:nvSpPr>
          <p:cNvPr id="32" name="cue_s01_c1_machine_learning_promises_accelerate" title="cue_s01_c1_machine_learning_promises_accelerate" descr="cue_s01_c1_machine_learning_promises_accelerate Machine learning promises to accelerate therapeutic antibody design, but only if models can accurately read the sequence-to-function fitness landscape."/>
          <p:cNvSpPr/>
          <p:nvPr/>
        </p:nvSpPr>
        <p:spPr>
          <a:xfrm>
            <a:off x="870508" y="773582"/>
            <a:ext cx="5095036" cy="22014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ue_s01_c2_introduces_flab_fitness_landscape_an" title="cue_s01_c2_introduces_flab_fitness_landscape_an" descr="cue_s01_c2_introduces_flab_fitness_landscape_an This paper introduces FLAb, the Fitness Landscape for Antibodies, the largest therapeutic antibody benchmark to date."/>
          <p:cNvSpPr/>
          <p:nvPr/>
        </p:nvSpPr>
        <p:spPr>
          <a:xfrm>
            <a:off x="686409" y="2552547"/>
            <a:ext cx="5715609" cy="12193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1_c3_gathers_experimental_measurements_si" title="cue_s01_c3_gathers_experimental_measurements_si" descr="cue_s01_c3_gathers_experimental_measurements_si It gathers experimental measurements for six developability properties and uses them to stress-test six widely used deep learning protein models against physics-based Rosetta."/>
          <p:cNvSpPr/>
          <p:nvPr/>
        </p:nvSpPr>
        <p:spPr>
          <a:xfrm>
            <a:off x="6782409" y="2552547"/>
            <a:ext cx="4724400" cy="12193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1_c4_headline_finding_sobering_single_cor" title="cue_s01_c4_headline_finding_sobering_single_cor" descr="cue_s01_c4_headline_finding_sobering_single_cor The headline finding is sobering: no single model correlates well with all six properties, and performance swings sharply across datasets of the same property, revealing how far the field still has to go."/>
          <p:cNvSpPr/>
          <p:nvPr/>
        </p:nvSpPr>
        <p:spPr>
          <a:xfrm>
            <a:off x="686409" y="3943349"/>
            <a:ext cx="108204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914370"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PROBLEM</a:t>
            </a:r>
          </a:p>
        </p:txBody>
      </p:sp>
      <p:sp>
        <p:nvSpPr>
          <p:cNvPr id="5" name="TextBox 5"/>
          <p:cNvSpPr txBox="1"/>
          <p:nvPr/>
        </p:nvSpPr>
        <p:spPr>
          <a:xfrm>
            <a:off x="518160" y="781050"/>
            <a:ext cx="9627987"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No systematic benchmark for antibody fitness</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02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2" name="Group 12"/>
          <p:cNvGrpSpPr/>
          <p:nvPr/>
        </p:nvGrpSpPr>
        <p:grpSpPr>
          <a:xfrm>
            <a:off x="533400" y="1524000"/>
            <a:ext cx="11125200" cy="876300"/>
            <a:chOff x="533400" y="1524000"/>
            <a:chExt cx="11125200" cy="876300"/>
          </a:xfrm>
        </p:grpSpPr>
        <p:sp>
          <p:nvSpPr>
            <p:cNvPr id="8" name="Rectangle 8"/>
            <p:cNvSpPr/>
            <p:nvPr/>
          </p:nvSpPr>
          <p:spPr>
            <a:xfrm>
              <a:off x="533400" y="1524000"/>
              <a:ext cx="11125200" cy="876300"/>
            </a:xfrm>
            <a:prstGeom prst="roundRect">
              <a:avLst>
                <a:gd name="adj" fmla="val 15217"/>
              </a:avLst>
            </a:prstGeom>
            <a:solidFill>
              <a:schemeClr val="accent5"/>
            </a:solidFill>
            <a:ln w="11430">
              <a:solidFill>
                <a:schemeClr val="accent4"/>
              </a:solidFill>
            </a:ln>
          </p:spPr>
        </p:sp>
        <p:sp>
          <p:nvSpPr>
            <p:cNvPr id="9" name="Rectangle 9"/>
            <p:cNvSpPr/>
            <p:nvPr/>
          </p:nvSpPr>
          <p:spPr>
            <a:xfrm>
              <a:off x="723900" y="1733550"/>
              <a:ext cx="47625" cy="457200"/>
            </a:xfrm>
            <a:prstGeom prst="roundRect">
              <a:avLst>
                <a:gd name="adj" fmla="val 50000"/>
              </a:avLst>
            </a:prstGeom>
            <a:solidFill>
              <a:schemeClr val="accent2"/>
            </a:solidFill>
            <a:ln>
              <a:noFill/>
            </a:ln>
          </p:spPr>
        </p:sp>
        <p:sp>
          <p:nvSpPr>
            <p:cNvPr id="10" name="TextBox 10"/>
            <p:cNvSpPr txBox="1"/>
            <p:nvPr/>
          </p:nvSpPr>
          <p:spPr>
            <a:xfrm>
              <a:off x="906780" y="1724025"/>
              <a:ext cx="825922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Machine learning speeds antibody design only if models truly understand fitness</a:t>
              </a:r>
            </a:p>
          </p:txBody>
        </p:sp>
        <p:sp>
          <p:nvSpPr>
            <p:cNvPr id="11" name="TextBox 11"/>
            <p:cNvSpPr txBox="1"/>
            <p:nvPr/>
          </p:nvSpPr>
          <p:spPr>
            <a:xfrm>
              <a:off x="908685" y="2031206"/>
              <a:ext cx="718075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what makes an antibody good — yet there is no principled way to test whether a model captures it</a:t>
              </a:r>
            </a:p>
          </p:txBody>
        </p:sp>
      </p:grpSp>
      <p:grpSp>
        <p:nvGrpSpPr>
          <p:cNvPr id="23" name="Group 23"/>
          <p:cNvGrpSpPr/>
          <p:nvPr/>
        </p:nvGrpSpPr>
        <p:grpSpPr>
          <a:xfrm>
            <a:off x="533400" y="2590800"/>
            <a:ext cx="3556000" cy="2857500"/>
            <a:chOff x="533400" y="2590800"/>
            <a:chExt cx="3556000" cy="2857500"/>
          </a:xfrm>
        </p:grpSpPr>
        <p:sp>
          <p:nvSpPr>
            <p:cNvPr id="13" name="Rectangle 13"/>
            <p:cNvSpPr/>
            <p:nvPr/>
          </p:nvSpPr>
          <p:spPr>
            <a:xfrm>
              <a:off x="533400" y="2590800"/>
              <a:ext cx="3556000" cy="2857500"/>
            </a:xfrm>
            <a:prstGeom prst="roundRect">
              <a:avLst>
                <a:gd name="adj" fmla="val 4667"/>
              </a:avLst>
            </a:prstGeom>
            <a:solidFill>
              <a:schemeClr val="accent5"/>
            </a:solidFill>
            <a:ln w="11430">
              <a:solidFill>
                <a:schemeClr val="accent4"/>
              </a:solidFill>
            </a:ln>
          </p:spPr>
        </p:sp>
        <p:sp>
          <p:nvSpPr>
            <p:cNvPr id="14" name="Rectangle 14"/>
            <p:cNvSpPr/>
            <p:nvPr/>
          </p:nvSpPr>
          <p:spPr>
            <a:xfrm>
              <a:off x="742950" y="2838450"/>
              <a:ext cx="47625" cy="285750"/>
            </a:xfrm>
            <a:prstGeom prst="roundRect">
              <a:avLst>
                <a:gd name="adj" fmla="val 50000"/>
              </a:avLst>
            </a:prstGeom>
            <a:solidFill>
              <a:srgbClr val="F2708A"/>
            </a:solidFill>
            <a:ln>
              <a:noFill/>
            </a:ln>
          </p:spPr>
        </p:sp>
        <p:sp>
          <p:nvSpPr>
            <p:cNvPr id="15" name="TextBox 15"/>
            <p:cNvSpPr txBox="1"/>
            <p:nvPr/>
          </p:nvSpPr>
          <p:spPr>
            <a:xfrm>
              <a:off x="736092" y="3207068"/>
              <a:ext cx="2548095"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Benchmarks skip antibodies</a:t>
              </a:r>
            </a:p>
          </p:txBody>
        </p:sp>
        <p:sp>
          <p:nvSpPr>
            <p:cNvPr id="16" name="TextBox 16"/>
            <p:cNvSpPr txBox="1"/>
            <p:nvPr/>
          </p:nvSpPr>
          <p:spPr>
            <a:xfrm>
              <a:off x="737235" y="3536156"/>
              <a:ext cx="189340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major protein fitness</a:t>
              </a:r>
            </a:p>
          </p:txBody>
        </p:sp>
        <p:sp>
          <p:nvSpPr>
            <p:cNvPr id="17" name="TextBox 17"/>
            <p:cNvSpPr txBox="1"/>
            <p:nvPr/>
          </p:nvSpPr>
          <p:spPr>
            <a:xfrm>
              <a:off x="737235" y="3736181"/>
              <a:ext cx="246905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benchmarks either leave antibody</a:t>
              </a:r>
            </a:p>
          </p:txBody>
        </p:sp>
        <p:sp>
          <p:nvSpPr>
            <p:cNvPr id="18" name="TextBox 18"/>
            <p:cNvSpPr txBox="1"/>
            <p:nvPr/>
          </p:nvSpPr>
          <p:spPr>
            <a:xfrm>
              <a:off x="737235" y="3936206"/>
              <a:ext cx="237104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data out entirely or include only</a:t>
              </a:r>
            </a:p>
          </p:txBody>
        </p:sp>
        <p:sp>
          <p:nvSpPr>
            <p:cNvPr id="19" name="TextBox 19"/>
            <p:cNvSpPr txBox="1"/>
            <p:nvPr/>
          </p:nvSpPr>
          <p:spPr>
            <a:xfrm>
              <a:off x="737235" y="4136231"/>
              <a:ext cx="64468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sliver.</a:t>
              </a:r>
            </a:p>
          </p:txBody>
        </p:sp>
        <p:sp>
          <p:nvSpPr>
            <p:cNvPr id="20" name="Rectangle 20"/>
            <p:cNvSpPr/>
            <p:nvPr/>
          </p:nvSpPr>
          <p:spPr>
            <a:xfrm>
              <a:off x="742950" y="4457700"/>
              <a:ext cx="3136900" cy="723900"/>
            </a:xfrm>
            <a:prstGeom prst="roundRect">
              <a:avLst>
                <a:gd name="adj" fmla="val 15789"/>
              </a:avLst>
            </a:prstGeom>
            <a:solidFill>
              <a:srgbClr val="301B27"/>
            </a:solidFill>
            <a:ln w="11430">
              <a:solidFill>
                <a:srgbClr val="F2708A"/>
              </a:solidFill>
            </a:ln>
          </p:spPr>
        </p:sp>
        <p:sp>
          <p:nvSpPr>
            <p:cNvPr id="21" name="TextBox 21"/>
            <p:cNvSpPr txBox="1"/>
            <p:nvPr/>
          </p:nvSpPr>
          <p:spPr>
            <a:xfrm>
              <a:off x="888873" y="4662964"/>
              <a:ext cx="1666579" cy="249364"/>
            </a:xfrm>
            <a:prstGeom prst="rect">
              <a:avLst/>
            </a:prstGeom>
            <a:noFill/>
            <a:ln>
              <a:noFill/>
            </a:ln>
          </p:spPr>
          <p:txBody>
            <a:bodyPr wrap="none" lIns="0" tIns="0" rIns="0" bIns="0" anchor="t" anchorCtr="0">
              <a:spAutoFit/>
            </a:bodyPr>
            <a:lstStyle/>
            <a:p>
              <a:pPr algn="l"/>
              <a:r>
                <a:rPr lang="en-US" sz="1280" b="1" dirty="0">
                  <a:solidFill>
                    <a:srgbClr val="F2708A"/>
                  </a:solidFill>
                  <a:latin typeface="+mn-lt"/>
                  <a:ea typeface="+mn-ea"/>
                  <a:cs typeface="+mn-cs"/>
                </a:rPr>
                <a:t>CAFA · TAPE · FLIP</a:t>
              </a:r>
            </a:p>
          </p:txBody>
        </p:sp>
        <p:sp>
          <p:nvSpPr>
            <p:cNvPr id="22" name="TextBox 22"/>
            <p:cNvSpPr txBox="1"/>
            <p:nvPr/>
          </p:nvSpPr>
          <p:spPr>
            <a:xfrm>
              <a:off x="890397" y="4923949"/>
              <a:ext cx="192285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little to no antibody coverage</a:t>
              </a:r>
            </a:p>
          </p:txBody>
        </p:sp>
      </p:grpSp>
      <p:grpSp>
        <p:nvGrpSpPr>
          <p:cNvPr id="34" name="Group 34"/>
          <p:cNvGrpSpPr/>
          <p:nvPr/>
        </p:nvGrpSpPr>
        <p:grpSpPr>
          <a:xfrm>
            <a:off x="4318000" y="2590800"/>
            <a:ext cx="3556000" cy="2857500"/>
            <a:chOff x="4318000" y="2590800"/>
            <a:chExt cx="3556000" cy="2857500"/>
          </a:xfrm>
        </p:grpSpPr>
        <p:sp>
          <p:nvSpPr>
            <p:cNvPr id="24" name="Rectangle 24"/>
            <p:cNvSpPr/>
            <p:nvPr/>
          </p:nvSpPr>
          <p:spPr>
            <a:xfrm>
              <a:off x="4318000" y="2590800"/>
              <a:ext cx="3556000" cy="2857500"/>
            </a:xfrm>
            <a:prstGeom prst="roundRect">
              <a:avLst>
                <a:gd name="adj" fmla="val 4667"/>
              </a:avLst>
            </a:prstGeom>
            <a:solidFill>
              <a:schemeClr val="accent5"/>
            </a:solidFill>
            <a:ln w="11430">
              <a:solidFill>
                <a:schemeClr val="accent4"/>
              </a:solidFill>
            </a:ln>
          </p:spPr>
        </p:sp>
        <p:sp>
          <p:nvSpPr>
            <p:cNvPr id="25" name="Rectangle 25"/>
            <p:cNvSpPr/>
            <p:nvPr/>
          </p:nvSpPr>
          <p:spPr>
            <a:xfrm>
              <a:off x="4527550" y="2838450"/>
              <a:ext cx="47625" cy="285750"/>
            </a:xfrm>
            <a:prstGeom prst="roundRect">
              <a:avLst>
                <a:gd name="adj" fmla="val 50000"/>
              </a:avLst>
            </a:prstGeom>
            <a:solidFill>
              <a:srgbClr val="F7B84B"/>
            </a:solidFill>
            <a:ln>
              <a:noFill/>
            </a:ln>
          </p:spPr>
        </p:sp>
        <p:sp>
          <p:nvSpPr>
            <p:cNvPr id="26" name="TextBox 26"/>
            <p:cNvSpPr txBox="1"/>
            <p:nvPr/>
          </p:nvSpPr>
          <p:spPr>
            <a:xfrm>
              <a:off x="4520692" y="3207068"/>
              <a:ext cx="177514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No principled check</a:t>
              </a:r>
            </a:p>
          </p:txBody>
        </p:sp>
        <p:sp>
          <p:nvSpPr>
            <p:cNvPr id="27" name="TextBox 27"/>
            <p:cNvSpPr txBox="1"/>
            <p:nvPr/>
          </p:nvSpPr>
          <p:spPr>
            <a:xfrm>
              <a:off x="4521835" y="3536156"/>
              <a:ext cx="270783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Researchers have no systematic way</a:t>
              </a:r>
            </a:p>
          </p:txBody>
        </p:sp>
        <p:sp>
          <p:nvSpPr>
            <p:cNvPr id="28" name="TextBox 28"/>
            <p:cNvSpPr txBox="1"/>
            <p:nvPr/>
          </p:nvSpPr>
          <p:spPr>
            <a:xfrm>
              <a:off x="4521835" y="3736181"/>
              <a:ext cx="247659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to verify whether a deep learning</a:t>
              </a:r>
            </a:p>
          </p:txBody>
        </p:sp>
        <p:sp>
          <p:nvSpPr>
            <p:cNvPr id="29" name="TextBox 29"/>
            <p:cNvSpPr txBox="1"/>
            <p:nvPr/>
          </p:nvSpPr>
          <p:spPr>
            <a:xfrm>
              <a:off x="4521835" y="3936206"/>
              <a:ext cx="243135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model actually captures antibody</a:t>
              </a:r>
            </a:p>
          </p:txBody>
        </p:sp>
        <p:sp>
          <p:nvSpPr>
            <p:cNvPr id="30" name="TextBox 30"/>
            <p:cNvSpPr txBox="1"/>
            <p:nvPr/>
          </p:nvSpPr>
          <p:spPr>
            <a:xfrm>
              <a:off x="4521835" y="4136231"/>
              <a:ext cx="63714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fitness.</a:t>
              </a:r>
            </a:p>
          </p:txBody>
        </p:sp>
        <p:sp>
          <p:nvSpPr>
            <p:cNvPr id="31" name="Rectangle 31"/>
            <p:cNvSpPr/>
            <p:nvPr/>
          </p:nvSpPr>
          <p:spPr>
            <a:xfrm>
              <a:off x="4527550" y="4533900"/>
              <a:ext cx="3136900" cy="647700"/>
            </a:xfrm>
            <a:prstGeom prst="roundRect">
              <a:avLst>
                <a:gd name="adj" fmla="val 17647"/>
              </a:avLst>
            </a:prstGeom>
            <a:solidFill>
              <a:srgbClr val="332A18"/>
            </a:solidFill>
            <a:ln w="11430">
              <a:solidFill>
                <a:srgbClr val="F7B84B"/>
              </a:solidFill>
            </a:ln>
          </p:spPr>
        </p:sp>
        <p:sp>
          <p:nvSpPr>
            <p:cNvPr id="32" name="TextBox 32"/>
            <p:cNvSpPr txBox="1"/>
            <p:nvPr/>
          </p:nvSpPr>
          <p:spPr>
            <a:xfrm>
              <a:off x="4673854" y="4728210"/>
              <a:ext cx="1657518" cy="234696"/>
            </a:xfrm>
            <a:prstGeom prst="rect">
              <a:avLst/>
            </a:prstGeom>
            <a:noFill/>
            <a:ln>
              <a:noFill/>
            </a:ln>
          </p:spPr>
          <p:txBody>
            <a:bodyPr wrap="none" lIns="0" tIns="0" rIns="0" bIns="0" anchor="t" anchorCtr="0">
              <a:spAutoFit/>
            </a:bodyPr>
            <a:lstStyle/>
            <a:p>
              <a:pPr algn="l"/>
              <a:r>
                <a:rPr lang="en-US" sz="1200" b="1" dirty="0">
                  <a:solidFill>
                    <a:srgbClr val="F7B84B"/>
                  </a:solidFill>
                  <a:latin typeface="+mn-lt"/>
                  <a:ea typeface="+mn-ea"/>
                  <a:cs typeface="+mn-cs"/>
                </a:rPr>
                <a:t>no shared yardstick</a:t>
              </a:r>
            </a:p>
          </p:txBody>
        </p:sp>
        <p:sp>
          <p:nvSpPr>
            <p:cNvPr id="33" name="TextBox 33"/>
            <p:cNvSpPr txBox="1"/>
            <p:nvPr/>
          </p:nvSpPr>
          <p:spPr>
            <a:xfrm>
              <a:off x="4674997" y="4962049"/>
              <a:ext cx="128300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for antibody models</a:t>
              </a:r>
            </a:p>
          </p:txBody>
        </p:sp>
      </p:grpSp>
      <p:grpSp>
        <p:nvGrpSpPr>
          <p:cNvPr id="45" name="Group 45"/>
          <p:cNvGrpSpPr/>
          <p:nvPr/>
        </p:nvGrpSpPr>
        <p:grpSpPr>
          <a:xfrm>
            <a:off x="8102600" y="2590800"/>
            <a:ext cx="3556000" cy="2857500"/>
            <a:chOff x="8102600" y="2590800"/>
            <a:chExt cx="3556000" cy="2857500"/>
          </a:xfrm>
        </p:grpSpPr>
        <p:sp>
          <p:nvSpPr>
            <p:cNvPr id="35" name="Rectangle 35"/>
            <p:cNvSpPr/>
            <p:nvPr/>
          </p:nvSpPr>
          <p:spPr>
            <a:xfrm>
              <a:off x="8102600" y="2590800"/>
              <a:ext cx="3556000" cy="2857500"/>
            </a:xfrm>
            <a:prstGeom prst="roundRect">
              <a:avLst>
                <a:gd name="adj" fmla="val 4667"/>
              </a:avLst>
            </a:prstGeom>
            <a:solidFill>
              <a:schemeClr val="accent5"/>
            </a:solidFill>
            <a:ln w="11430">
              <a:solidFill>
                <a:schemeClr val="accent4"/>
              </a:solidFill>
            </a:ln>
          </p:spPr>
        </p:sp>
        <p:sp>
          <p:nvSpPr>
            <p:cNvPr id="36" name="Rectangle 36"/>
            <p:cNvSpPr/>
            <p:nvPr/>
          </p:nvSpPr>
          <p:spPr>
            <a:xfrm>
              <a:off x="8312150" y="2838450"/>
              <a:ext cx="47625" cy="285750"/>
            </a:xfrm>
            <a:prstGeom prst="roundRect">
              <a:avLst>
                <a:gd name="adj" fmla="val 50000"/>
              </a:avLst>
            </a:prstGeom>
            <a:solidFill>
              <a:schemeClr val="accent2"/>
            </a:solidFill>
            <a:ln>
              <a:noFill/>
            </a:ln>
          </p:spPr>
        </p:sp>
        <p:sp>
          <p:nvSpPr>
            <p:cNvPr id="37" name="TextBox 37"/>
            <p:cNvSpPr txBox="1"/>
            <p:nvPr/>
          </p:nvSpPr>
          <p:spPr>
            <a:xfrm>
              <a:off x="8305292" y="3207068"/>
              <a:ext cx="1966240"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Weak proxies persist</a:t>
              </a:r>
            </a:p>
          </p:txBody>
        </p:sp>
        <p:sp>
          <p:nvSpPr>
            <p:cNvPr id="38" name="TextBox 38"/>
            <p:cNvSpPr txBox="1"/>
            <p:nvPr/>
          </p:nvSpPr>
          <p:spPr>
            <a:xfrm>
              <a:off x="8306435" y="3536156"/>
              <a:ext cx="220997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field falls back on proxies</a:t>
              </a:r>
            </a:p>
          </p:txBody>
        </p:sp>
        <p:sp>
          <p:nvSpPr>
            <p:cNvPr id="39" name="TextBox 39"/>
            <p:cNvSpPr txBox="1"/>
            <p:nvPr/>
          </p:nvSpPr>
          <p:spPr>
            <a:xfrm>
              <a:off x="8306435" y="3736181"/>
              <a:ext cx="227304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like native sequence recovery,</a:t>
              </a:r>
            </a:p>
          </p:txBody>
        </p:sp>
        <p:sp>
          <p:nvSpPr>
            <p:cNvPr id="40" name="TextBox 40"/>
            <p:cNvSpPr txBox="1"/>
            <p:nvPr/>
          </p:nvSpPr>
          <p:spPr>
            <a:xfrm>
              <a:off x="8306435" y="3936206"/>
              <a:ext cx="194134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which say little about real</a:t>
              </a:r>
            </a:p>
          </p:txBody>
        </p:sp>
        <p:sp>
          <p:nvSpPr>
            <p:cNvPr id="41" name="TextBox 41"/>
            <p:cNvSpPr txBox="1"/>
            <p:nvPr/>
          </p:nvSpPr>
          <p:spPr>
            <a:xfrm>
              <a:off x="8306435" y="4136231"/>
              <a:ext cx="168502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therapeutic potential.</a:t>
              </a:r>
            </a:p>
          </p:txBody>
        </p:sp>
        <p:sp>
          <p:nvSpPr>
            <p:cNvPr id="42" name="Rectangle 42"/>
            <p:cNvSpPr/>
            <p:nvPr/>
          </p:nvSpPr>
          <p:spPr>
            <a:xfrm>
              <a:off x="8312150" y="4533900"/>
              <a:ext cx="3136900" cy="647700"/>
            </a:xfrm>
            <a:prstGeom prst="roundRect">
              <a:avLst>
                <a:gd name="adj" fmla="val 17647"/>
              </a:avLst>
            </a:prstGeom>
            <a:solidFill>
              <a:srgbClr val="16283F"/>
            </a:solidFill>
            <a:ln w="11430">
              <a:solidFill>
                <a:schemeClr val="accent2"/>
              </a:solidFill>
            </a:ln>
          </p:spPr>
        </p:sp>
        <p:sp>
          <p:nvSpPr>
            <p:cNvPr id="43" name="TextBox 43"/>
            <p:cNvSpPr txBox="1"/>
            <p:nvPr/>
          </p:nvSpPr>
          <p:spPr>
            <a:xfrm>
              <a:off x="8458454" y="4728210"/>
              <a:ext cx="1555745"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sequence recovery</a:t>
              </a:r>
            </a:p>
          </p:txBody>
        </p:sp>
        <p:sp>
          <p:nvSpPr>
            <p:cNvPr id="44" name="TextBox 44"/>
            <p:cNvSpPr txBox="1"/>
            <p:nvPr/>
          </p:nvSpPr>
          <p:spPr>
            <a:xfrm>
              <a:off x="8459597" y="4962049"/>
              <a:ext cx="15468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not therapeutic fitness</a:t>
              </a:r>
            </a:p>
          </p:txBody>
        </p:sp>
      </p:grpSp>
      <p:sp>
        <p:nvSpPr>
          <p:cNvPr id="46" name="cue_s02_c1_machine_learning_only_speed_antibody" title="cue_s02_c1_machine_learning_only_speed_antibody" descr="cue_s02_c1_machine_learning_only_speed_antibody Machine learning can only speed up antibody design if models truly understand what makes an antibody good."/>
          <p:cNvSpPr/>
          <p:nvPr/>
        </p:nvSpPr>
        <p:spPr>
          <a:xfrm>
            <a:off x="532790" y="1523847"/>
            <a:ext cx="11125200"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2_c2_yet_major_protein_fitness_benchmarks" title="cue_s02_c2_yet_major_protein_fitness_benchmarks" descr="cue_s02_c2_yet_major_protein_fitness_benchmarks Yet the major protein fitness benchmarks, like CAFA, TAPE, and FLIP, either leave antibody data out entirely or include only a sliver of it."/>
          <p:cNvSpPr/>
          <p:nvPr/>
        </p:nvSpPr>
        <p:spPr>
          <a:xfrm>
            <a:off x="532790" y="2590952"/>
            <a:ext cx="3556406"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2_c3_leaves_researchers_principled_way_ch" title="cue_s02_c3_leaves_researchers_principled_way_ch" descr="cue_s02_c3_leaves_researchers_principled_way_ch That leaves researchers with no principled way to check whether a deep learning model actually captures antibody fitness."/>
          <p:cNvSpPr/>
          <p:nvPr/>
        </p:nvSpPr>
        <p:spPr>
          <a:xfrm>
            <a:off x="4318406" y="2590952"/>
            <a:ext cx="3556406"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2_c4_today_field_often_falls_back" title="cue_s02_c4_today_field_often_falls_back" descr="cue_s02_c4_today_field_often_falls_back Today the field often falls back on weak proxies such as native sequence recovery, which say little about real therapeutic potential."/>
          <p:cNvSpPr/>
          <p:nvPr/>
        </p:nvSpPr>
        <p:spPr>
          <a:xfrm>
            <a:off x="8102803" y="2590952"/>
            <a:ext cx="3556406"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236202"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MOTIVATION</a:t>
            </a:r>
          </a:p>
        </p:txBody>
      </p:sp>
      <p:sp>
        <p:nvSpPr>
          <p:cNvPr id="5" name="TextBox 5"/>
          <p:cNvSpPr txBox="1"/>
          <p:nvPr/>
        </p:nvSpPr>
        <p:spPr>
          <a:xfrm>
            <a:off x="518160" y="781050"/>
            <a:ext cx="9012922"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Antibodies must satisfy competing demands</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03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23" name="Group 23"/>
          <p:cNvGrpSpPr/>
          <p:nvPr/>
        </p:nvGrpSpPr>
        <p:grpSpPr>
          <a:xfrm>
            <a:off x="533400" y="1524000"/>
            <a:ext cx="5867400" cy="1600200"/>
            <a:chOff x="533400" y="1524000"/>
            <a:chExt cx="5867400" cy="1600200"/>
          </a:xfrm>
        </p:grpSpPr>
        <p:sp>
          <p:nvSpPr>
            <p:cNvPr id="8" name="Rectangle 8"/>
            <p:cNvSpPr/>
            <p:nvPr/>
          </p:nvSpPr>
          <p:spPr>
            <a:xfrm>
              <a:off x="533400" y="1524000"/>
              <a:ext cx="5867400" cy="1600200"/>
            </a:xfrm>
            <a:prstGeom prst="roundRect">
              <a:avLst>
                <a:gd name="adj" fmla="val 8333"/>
              </a:avLst>
            </a:prstGeom>
            <a:solidFill>
              <a:schemeClr val="accent5"/>
            </a:solidFill>
            <a:ln w="11430">
              <a:solidFill>
                <a:schemeClr val="accent4"/>
              </a:solidFill>
            </a:ln>
          </p:spPr>
        </p:sp>
        <p:sp>
          <p:nvSpPr>
            <p:cNvPr id="9" name="Rectangle 9"/>
            <p:cNvSpPr/>
            <p:nvPr/>
          </p:nvSpPr>
          <p:spPr>
            <a:xfrm>
              <a:off x="723900" y="1733550"/>
              <a:ext cx="47625" cy="285750"/>
            </a:xfrm>
            <a:prstGeom prst="roundRect">
              <a:avLst>
                <a:gd name="adj" fmla="val 50000"/>
              </a:avLst>
            </a:prstGeom>
            <a:solidFill>
              <a:schemeClr val="accent2"/>
            </a:solidFill>
            <a:ln>
              <a:noFill/>
            </a:ln>
          </p:spPr>
        </p:sp>
        <p:sp>
          <p:nvSpPr>
            <p:cNvPr id="10" name="TextBox 10"/>
            <p:cNvSpPr txBox="1"/>
            <p:nvPr/>
          </p:nvSpPr>
          <p:spPr>
            <a:xfrm>
              <a:off x="907923" y="1767364"/>
              <a:ext cx="520269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A therapeutic antibody must satisfy many demands at once</a:t>
              </a:r>
            </a:p>
          </p:txBody>
        </p:sp>
        <p:sp>
          <p:nvSpPr>
            <p:cNvPr id="11" name="Rectangle 11"/>
            <p:cNvSpPr/>
            <p:nvPr/>
          </p:nvSpPr>
          <p:spPr>
            <a:xfrm>
              <a:off x="914400" y="2152650"/>
              <a:ext cx="1727200" cy="381000"/>
            </a:xfrm>
            <a:prstGeom prst="roundRect">
              <a:avLst>
                <a:gd name="adj" fmla="val 25000"/>
              </a:avLst>
            </a:prstGeom>
            <a:solidFill>
              <a:schemeClr val="accent6"/>
            </a:solidFill>
            <a:ln w="10478">
              <a:solidFill>
                <a:schemeClr val="accent2"/>
              </a:solidFill>
            </a:ln>
          </p:spPr>
        </p:sp>
        <p:sp>
          <p:nvSpPr>
            <p:cNvPr id="12" name="TextBox 12"/>
            <p:cNvSpPr txBox="1"/>
            <p:nvPr/>
          </p:nvSpPr>
          <p:spPr>
            <a:xfrm>
              <a:off x="1321390" y="2277428"/>
              <a:ext cx="913221"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mn-lt"/>
                  <a:ea typeface="+mn-ea"/>
                  <a:cs typeface="+mn-cs"/>
                </a:rPr>
                <a:t>Express well</a:t>
              </a:r>
            </a:p>
          </p:txBody>
        </p:sp>
        <p:sp>
          <p:nvSpPr>
            <p:cNvPr id="13" name="Rectangle 13"/>
            <p:cNvSpPr/>
            <p:nvPr/>
          </p:nvSpPr>
          <p:spPr>
            <a:xfrm>
              <a:off x="2794000" y="2152650"/>
              <a:ext cx="1727200" cy="381000"/>
            </a:xfrm>
            <a:prstGeom prst="roundRect">
              <a:avLst>
                <a:gd name="adj" fmla="val 25000"/>
              </a:avLst>
            </a:prstGeom>
            <a:solidFill>
              <a:schemeClr val="accent6"/>
            </a:solidFill>
            <a:ln w="10478">
              <a:solidFill>
                <a:srgbClr val="37DCC0"/>
              </a:solidFill>
            </a:ln>
          </p:spPr>
        </p:sp>
        <p:sp>
          <p:nvSpPr>
            <p:cNvPr id="14" name="TextBox 14"/>
            <p:cNvSpPr txBox="1"/>
            <p:nvPr/>
          </p:nvSpPr>
          <p:spPr>
            <a:xfrm>
              <a:off x="3238073" y="2277428"/>
              <a:ext cx="839054"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mn-lt"/>
                  <a:ea typeface="+mn-ea"/>
                  <a:cs typeface="+mn-cs"/>
                </a:rPr>
                <a:t>Stay stable</a:t>
              </a:r>
            </a:p>
          </p:txBody>
        </p:sp>
        <p:sp>
          <p:nvSpPr>
            <p:cNvPr id="15" name="Rectangle 15"/>
            <p:cNvSpPr/>
            <p:nvPr/>
          </p:nvSpPr>
          <p:spPr>
            <a:xfrm>
              <a:off x="4673600" y="2152650"/>
              <a:ext cx="1727200" cy="381000"/>
            </a:xfrm>
            <a:prstGeom prst="roundRect">
              <a:avLst>
                <a:gd name="adj" fmla="val 25000"/>
              </a:avLst>
            </a:prstGeom>
            <a:solidFill>
              <a:schemeClr val="accent6"/>
            </a:solidFill>
            <a:ln w="10478">
              <a:solidFill>
                <a:srgbClr val="F7B84B"/>
              </a:solidFill>
            </a:ln>
          </p:spPr>
        </p:sp>
        <p:sp>
          <p:nvSpPr>
            <p:cNvPr id="16" name="TextBox 16"/>
            <p:cNvSpPr txBox="1"/>
            <p:nvPr/>
          </p:nvSpPr>
          <p:spPr>
            <a:xfrm>
              <a:off x="4824531" y="2277428"/>
              <a:ext cx="1425339"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mn-lt"/>
                  <a:ea typeface="+mn-ea"/>
                  <a:cs typeface="+mn-cs"/>
                </a:rPr>
                <a:t>Low immunogenicity</a:t>
              </a:r>
            </a:p>
          </p:txBody>
        </p:sp>
        <p:sp>
          <p:nvSpPr>
            <p:cNvPr id="17" name="Rectangle 17"/>
            <p:cNvSpPr/>
            <p:nvPr/>
          </p:nvSpPr>
          <p:spPr>
            <a:xfrm>
              <a:off x="914400" y="2667000"/>
              <a:ext cx="1727200" cy="381000"/>
            </a:xfrm>
            <a:prstGeom prst="roundRect">
              <a:avLst>
                <a:gd name="adj" fmla="val 25000"/>
              </a:avLst>
            </a:prstGeom>
            <a:solidFill>
              <a:schemeClr val="accent6"/>
            </a:solidFill>
            <a:ln w="10478">
              <a:solidFill>
                <a:srgbClr val="57D9A3"/>
              </a:solidFill>
            </a:ln>
          </p:spPr>
        </p:sp>
        <p:sp>
          <p:nvSpPr>
            <p:cNvPr id="18" name="TextBox 18"/>
            <p:cNvSpPr txBox="1"/>
            <p:nvPr/>
          </p:nvSpPr>
          <p:spPr>
            <a:xfrm>
              <a:off x="1354956" y="2791778"/>
              <a:ext cx="846089"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mn-lt"/>
                  <a:ea typeface="+mn-ea"/>
                  <a:cs typeface="+mn-cs"/>
                </a:rPr>
                <a:t>Bind tightly</a:t>
              </a:r>
            </a:p>
          </p:txBody>
        </p:sp>
        <p:sp>
          <p:nvSpPr>
            <p:cNvPr id="19" name="Rectangle 19"/>
            <p:cNvSpPr/>
            <p:nvPr/>
          </p:nvSpPr>
          <p:spPr>
            <a:xfrm>
              <a:off x="2794000" y="2667000"/>
              <a:ext cx="1727200" cy="381000"/>
            </a:xfrm>
            <a:prstGeom prst="roundRect">
              <a:avLst>
                <a:gd name="adj" fmla="val 25000"/>
              </a:avLst>
            </a:prstGeom>
            <a:solidFill>
              <a:schemeClr val="accent6"/>
            </a:solidFill>
            <a:ln w="10478">
              <a:solidFill>
                <a:srgbClr val="F2708A"/>
              </a:solidFill>
            </a:ln>
          </p:spPr>
        </p:sp>
        <p:sp>
          <p:nvSpPr>
            <p:cNvPr id="20" name="TextBox 20"/>
            <p:cNvSpPr txBox="1"/>
            <p:nvPr/>
          </p:nvSpPr>
          <p:spPr>
            <a:xfrm>
              <a:off x="2970990" y="2791778"/>
              <a:ext cx="1373219"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mn-lt"/>
                  <a:ea typeface="+mn-ea"/>
                  <a:cs typeface="+mn-cs"/>
                </a:rPr>
                <a:t>Resist aggregation</a:t>
              </a:r>
            </a:p>
          </p:txBody>
        </p:sp>
        <p:sp>
          <p:nvSpPr>
            <p:cNvPr id="21" name="Rectangle 21"/>
            <p:cNvSpPr/>
            <p:nvPr/>
          </p:nvSpPr>
          <p:spPr>
            <a:xfrm>
              <a:off x="4673600" y="2667000"/>
              <a:ext cx="1727200" cy="381000"/>
            </a:xfrm>
            <a:prstGeom prst="roundRect">
              <a:avLst>
                <a:gd name="adj" fmla="val 25000"/>
              </a:avLst>
            </a:prstGeom>
            <a:solidFill>
              <a:schemeClr val="accent6"/>
            </a:solidFill>
            <a:ln w="10478">
              <a:solidFill>
                <a:srgbClr val="B98CF0"/>
              </a:solidFill>
            </a:ln>
          </p:spPr>
        </p:sp>
        <p:sp>
          <p:nvSpPr>
            <p:cNvPr id="22" name="TextBox 22"/>
            <p:cNvSpPr txBox="1"/>
            <p:nvPr/>
          </p:nvSpPr>
          <p:spPr>
            <a:xfrm>
              <a:off x="4806170" y="2791778"/>
              <a:ext cx="1462060"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mn-lt"/>
                  <a:ea typeface="+mn-ea"/>
                  <a:cs typeface="+mn-cs"/>
                </a:rPr>
                <a:t>Avoid polyreactivity</a:t>
              </a:r>
            </a:p>
          </p:txBody>
        </p:sp>
      </p:grpSp>
      <p:grpSp>
        <p:nvGrpSpPr>
          <p:cNvPr id="29" name="Group 29"/>
          <p:cNvGrpSpPr/>
          <p:nvPr/>
        </p:nvGrpSpPr>
        <p:grpSpPr>
          <a:xfrm>
            <a:off x="533400" y="3314700"/>
            <a:ext cx="5867400" cy="1143000"/>
            <a:chOff x="533400" y="3314700"/>
            <a:chExt cx="5867400" cy="1143000"/>
          </a:xfrm>
        </p:grpSpPr>
        <p:sp>
          <p:nvSpPr>
            <p:cNvPr id="24" name="Rectangle 24"/>
            <p:cNvSpPr/>
            <p:nvPr/>
          </p:nvSpPr>
          <p:spPr>
            <a:xfrm>
              <a:off x="533400" y="3314700"/>
              <a:ext cx="5867400" cy="1143000"/>
            </a:xfrm>
            <a:prstGeom prst="roundRect">
              <a:avLst>
                <a:gd name="adj" fmla="val 11667"/>
              </a:avLst>
            </a:prstGeom>
            <a:solidFill>
              <a:schemeClr val="accent6"/>
            </a:solidFill>
            <a:ln w="11430">
              <a:solidFill>
                <a:srgbClr val="F2708A"/>
              </a:solidFill>
            </a:ln>
          </p:spPr>
        </p:sp>
        <p:sp>
          <p:nvSpPr>
            <p:cNvPr id="25" name="Rectangle 25"/>
            <p:cNvSpPr/>
            <p:nvPr/>
          </p:nvSpPr>
          <p:spPr>
            <a:xfrm>
              <a:off x="723900" y="3543300"/>
              <a:ext cx="47625" cy="685800"/>
            </a:xfrm>
            <a:prstGeom prst="roundRect">
              <a:avLst>
                <a:gd name="adj" fmla="val 50000"/>
              </a:avLst>
            </a:prstGeom>
            <a:solidFill>
              <a:srgbClr val="F2708A"/>
            </a:solidFill>
            <a:ln>
              <a:noFill/>
            </a:ln>
          </p:spPr>
        </p:sp>
        <p:sp>
          <p:nvSpPr>
            <p:cNvPr id="26" name="TextBox 26"/>
            <p:cNvSpPr txBox="1"/>
            <p:nvPr/>
          </p:nvSpPr>
          <p:spPr>
            <a:xfrm>
              <a:off x="907542" y="3588068"/>
              <a:ext cx="3788582"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These properties pull against each other</a:t>
              </a:r>
            </a:p>
          </p:txBody>
        </p:sp>
        <p:sp>
          <p:nvSpPr>
            <p:cNvPr id="27" name="TextBox 27"/>
            <p:cNvSpPr txBox="1"/>
            <p:nvPr/>
          </p:nvSpPr>
          <p:spPr>
            <a:xfrm>
              <a:off x="908876" y="3883104"/>
              <a:ext cx="462338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Improving one can hurt another, so no single objective describes</a:t>
              </a:r>
            </a:p>
          </p:txBody>
        </p:sp>
        <p:sp>
          <p:nvSpPr>
            <p:cNvPr id="28" name="TextBox 28"/>
            <p:cNvSpPr txBox="1"/>
            <p:nvPr/>
          </p:nvSpPr>
          <p:spPr>
            <a:xfrm>
              <a:off x="908876" y="4083129"/>
              <a:ext cx="296043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what makes a good therapeutic antibody.</a:t>
              </a:r>
            </a:p>
          </p:txBody>
        </p:sp>
      </p:grpSp>
      <p:grpSp>
        <p:nvGrpSpPr>
          <p:cNvPr id="38" name="Group 38"/>
          <p:cNvGrpSpPr/>
          <p:nvPr/>
        </p:nvGrpSpPr>
        <p:grpSpPr>
          <a:xfrm>
            <a:off x="6629400" y="1524000"/>
            <a:ext cx="5029200" cy="1600200"/>
            <a:chOff x="6629400" y="1524000"/>
            <a:chExt cx="5029200" cy="1600200"/>
          </a:xfrm>
        </p:grpSpPr>
        <p:sp>
          <p:nvSpPr>
            <p:cNvPr id="30" name="Rectangle 30"/>
            <p:cNvSpPr/>
            <p:nvPr/>
          </p:nvSpPr>
          <p:spPr>
            <a:xfrm>
              <a:off x="6629400" y="1524000"/>
              <a:ext cx="5029200" cy="1600200"/>
            </a:xfrm>
            <a:prstGeom prst="roundRect">
              <a:avLst>
                <a:gd name="adj" fmla="val 8333"/>
              </a:avLst>
            </a:prstGeom>
            <a:solidFill>
              <a:schemeClr val="accent6"/>
            </a:solidFill>
            <a:ln w="12382">
              <a:solidFill>
                <a:srgbClr val="57D9A3"/>
              </a:solidFill>
            </a:ln>
          </p:spPr>
        </p:sp>
        <p:sp>
          <p:nvSpPr>
            <p:cNvPr id="31" name="Rectangle 31"/>
            <p:cNvSpPr/>
            <p:nvPr/>
          </p:nvSpPr>
          <p:spPr>
            <a:xfrm>
              <a:off x="6819900" y="1733550"/>
              <a:ext cx="47625" cy="285750"/>
            </a:xfrm>
            <a:prstGeom prst="roundRect">
              <a:avLst>
                <a:gd name="adj" fmla="val 50000"/>
              </a:avLst>
            </a:prstGeom>
            <a:solidFill>
              <a:srgbClr val="57D9A3"/>
            </a:solidFill>
            <a:ln>
              <a:noFill/>
            </a:ln>
          </p:spPr>
        </p:sp>
        <p:sp>
          <p:nvSpPr>
            <p:cNvPr id="32" name="TextBox 32"/>
            <p:cNvSpPr txBox="1"/>
            <p:nvPr/>
          </p:nvSpPr>
          <p:spPr>
            <a:xfrm>
              <a:off x="7004304" y="1775460"/>
              <a:ext cx="3274186" cy="234696"/>
            </a:xfrm>
            <a:prstGeom prst="rect">
              <a:avLst/>
            </a:prstGeom>
            <a:noFill/>
            <a:ln>
              <a:noFill/>
            </a:ln>
          </p:spPr>
          <p:txBody>
            <a:bodyPr wrap="none" lIns="0" tIns="0" rIns="0" bIns="0" anchor="t" anchorCtr="0">
              <a:spAutoFit/>
            </a:bodyPr>
            <a:lstStyle/>
            <a:p>
              <a:pPr algn="l"/>
              <a:r>
                <a:rPr lang="en-US" sz="1200" b="1" dirty="0">
                  <a:solidFill>
                    <a:srgbClr val="57D9A3"/>
                  </a:solidFill>
                  <a:latin typeface="+mn-lt"/>
                  <a:ea typeface="+mn-ea"/>
                  <a:cs typeface="+mn-cs"/>
                </a:rPr>
                <a:t>A reliable model could replace screening</a:t>
              </a:r>
            </a:p>
          </p:txBody>
        </p:sp>
        <p:sp>
          <p:nvSpPr>
            <p:cNvPr id="33" name="TextBox 33"/>
            <p:cNvSpPr txBox="1"/>
            <p:nvPr/>
          </p:nvSpPr>
          <p:spPr>
            <a:xfrm>
              <a:off x="6814376" y="2092404"/>
              <a:ext cx="299460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If a model scored candidates across all of</a:t>
              </a:r>
            </a:p>
          </p:txBody>
        </p:sp>
        <p:sp>
          <p:nvSpPr>
            <p:cNvPr id="34" name="TextBox 34"/>
            <p:cNvSpPr txBox="1"/>
            <p:nvPr/>
          </p:nvSpPr>
          <p:spPr>
            <a:xfrm>
              <a:off x="6814376" y="2292429"/>
              <a:ext cx="278435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these axes, it could stand in for slow,</a:t>
              </a:r>
            </a:p>
          </p:txBody>
        </p:sp>
        <p:sp>
          <p:nvSpPr>
            <p:cNvPr id="35" name="TextBox 35"/>
            <p:cNvSpPr txBox="1"/>
            <p:nvPr/>
          </p:nvSpPr>
          <p:spPr>
            <a:xfrm>
              <a:off x="6814376" y="2492454"/>
              <a:ext cx="211670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expensive wet-lab screening.</a:t>
              </a:r>
            </a:p>
          </p:txBody>
        </p:sp>
        <p:sp>
          <p:nvSpPr>
            <p:cNvPr id="36" name="Rectangle 36"/>
            <p:cNvSpPr/>
            <p:nvPr/>
          </p:nvSpPr>
          <p:spPr>
            <a:xfrm>
              <a:off x="6819900" y="2743200"/>
              <a:ext cx="4648200" cy="285750"/>
            </a:xfrm>
            <a:prstGeom prst="roundRect">
              <a:avLst>
                <a:gd name="adj" fmla="val 26667"/>
              </a:avLst>
            </a:prstGeom>
            <a:solidFill>
              <a:schemeClr val="lt2"/>
            </a:solidFill>
            <a:ln>
              <a:noFill/>
            </a:ln>
          </p:spPr>
        </p:sp>
        <p:sp>
          <p:nvSpPr>
            <p:cNvPr id="37" name="TextBox 37"/>
            <p:cNvSpPr txBox="1"/>
            <p:nvPr/>
          </p:nvSpPr>
          <p:spPr>
            <a:xfrm>
              <a:off x="6948106" y="2824401"/>
              <a:ext cx="3165383" cy="198025"/>
            </a:xfrm>
            <a:prstGeom prst="rect">
              <a:avLst/>
            </a:prstGeom>
            <a:noFill/>
            <a:ln>
              <a:noFill/>
            </a:ln>
          </p:spPr>
          <p:txBody>
            <a:bodyPr wrap="none" lIns="0" tIns="0" rIns="0" bIns="0" anchor="t" anchorCtr="0">
              <a:spAutoFit/>
            </a:bodyPr>
            <a:lstStyle/>
            <a:p>
              <a:pPr algn="l"/>
              <a:r>
                <a:rPr lang="en-US" sz="1010" b="1" dirty="0">
                  <a:solidFill>
                    <a:srgbClr val="57D9A3"/>
                  </a:solidFill>
                  <a:latin typeface="+mn-lt"/>
                  <a:ea typeface="+mn-ea"/>
                  <a:cs typeface="+mn-cs"/>
                </a:rPr>
                <a:t>in silico scoring → fewer wet-lab experiments</a:t>
              </a:r>
            </a:p>
          </p:txBody>
        </p:sp>
      </p:grpSp>
      <p:grpSp>
        <p:nvGrpSpPr>
          <p:cNvPr id="45" name="Group 45"/>
          <p:cNvGrpSpPr/>
          <p:nvPr/>
        </p:nvGrpSpPr>
        <p:grpSpPr>
          <a:xfrm>
            <a:off x="6629400" y="3314700"/>
            <a:ext cx="5029200" cy="1181147"/>
            <a:chOff x="6629400" y="3314700"/>
            <a:chExt cx="5029200" cy="1181147"/>
          </a:xfrm>
        </p:grpSpPr>
        <p:sp>
          <p:nvSpPr>
            <p:cNvPr id="39" name="Rectangle 39"/>
            <p:cNvSpPr/>
            <p:nvPr/>
          </p:nvSpPr>
          <p:spPr>
            <a:xfrm>
              <a:off x="6629400" y="3314700"/>
              <a:ext cx="5029200" cy="1143000"/>
            </a:xfrm>
            <a:prstGeom prst="roundRect">
              <a:avLst>
                <a:gd name="adj" fmla="val 11667"/>
              </a:avLst>
            </a:prstGeom>
            <a:solidFill>
              <a:schemeClr val="accent5"/>
            </a:solidFill>
            <a:ln w="11430">
              <a:solidFill>
                <a:schemeClr val="accent2"/>
              </a:solidFill>
            </a:ln>
          </p:spPr>
        </p:sp>
        <p:sp>
          <p:nvSpPr>
            <p:cNvPr id="40" name="Rectangle 40"/>
            <p:cNvSpPr/>
            <p:nvPr/>
          </p:nvSpPr>
          <p:spPr>
            <a:xfrm>
              <a:off x="6819900" y="3543300"/>
              <a:ext cx="47625" cy="285750"/>
            </a:xfrm>
            <a:prstGeom prst="roundRect">
              <a:avLst>
                <a:gd name="adj" fmla="val 50000"/>
              </a:avLst>
            </a:prstGeom>
            <a:solidFill>
              <a:schemeClr val="accent2"/>
            </a:solidFill>
            <a:ln>
              <a:noFill/>
            </a:ln>
          </p:spPr>
        </p:sp>
        <p:sp>
          <p:nvSpPr>
            <p:cNvPr id="41" name="TextBox 41"/>
            <p:cNvSpPr txBox="1"/>
            <p:nvPr/>
          </p:nvSpPr>
          <p:spPr>
            <a:xfrm>
              <a:off x="7004304" y="3585210"/>
              <a:ext cx="2926874"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The field needs a shared benchmark</a:t>
              </a:r>
            </a:p>
          </p:txBody>
        </p:sp>
        <p:sp>
          <p:nvSpPr>
            <p:cNvPr id="42" name="TextBox 42"/>
            <p:cNvSpPr txBox="1"/>
            <p:nvPr/>
          </p:nvSpPr>
          <p:spPr>
            <a:xfrm>
              <a:off x="6814376" y="3883104"/>
              <a:ext cx="345699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As new antibody design methods keep appearing,</a:t>
              </a:r>
            </a:p>
          </p:txBody>
        </p:sp>
        <p:sp>
          <p:nvSpPr>
            <p:cNvPr id="43" name="TextBox 43"/>
            <p:cNvSpPr txBox="1"/>
            <p:nvPr/>
          </p:nvSpPr>
          <p:spPr>
            <a:xfrm>
              <a:off x="6814376" y="4083129"/>
              <a:ext cx="325391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one antibody-focused benchmark is needed to</a:t>
              </a:r>
            </a:p>
          </p:txBody>
        </p:sp>
        <p:sp>
          <p:nvSpPr>
            <p:cNvPr id="44" name="TextBox 44"/>
            <p:cNvSpPr txBox="1"/>
            <p:nvPr/>
          </p:nvSpPr>
          <p:spPr>
            <a:xfrm>
              <a:off x="6814376" y="4283154"/>
              <a:ext cx="130966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judge them fairly.</a:t>
              </a:r>
            </a:p>
          </p:txBody>
        </p:sp>
      </p:grpSp>
      <p:sp>
        <p:nvSpPr>
          <p:cNvPr id="46" name="cue_s03_c1_therapeutic_antibody_satisfy_many_de" title="cue_s03_c1_therapeutic_antibody_satisfy_many_de" descr="cue_s03_c1_therapeutic_antibody_satisfy_many_de A therapeutic antibody has to satisfy many demands at once: it must express well, stay stable, avoid triggering an immune response, bind its target tightly, resist aggregation, and steer clear of sticking to the wrong things."/>
          <p:cNvSpPr/>
          <p:nvPr/>
        </p:nvSpPr>
        <p:spPr>
          <a:xfrm>
            <a:off x="532790" y="1523847"/>
            <a:ext cx="5868009"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3_c2_these_properties_often_pull_against" title="cue_s03_c2_these_properties_often_pull_against" descr="cue_s03_c2_these_properties_often_pull_against These properties often pull against each other, so improving one can hurt another."/>
          <p:cNvSpPr/>
          <p:nvPr/>
        </p:nvSpPr>
        <p:spPr>
          <a:xfrm>
            <a:off x="532790" y="3314471"/>
            <a:ext cx="5868009"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3_c3_could_reliably_score_candidates_acro" title="cue_s03_c3_could_reliably_score_candidates_acro" descr="cue_s03_c3_could_reliably_score_candidates_acro If a model could reliably score candidates across all of these axes, it could replace slow and expensive wet-lab screening."/>
          <p:cNvSpPr/>
          <p:nvPr/>
        </p:nvSpPr>
        <p:spPr>
          <a:xfrm>
            <a:off x="6628790" y="1523847"/>
            <a:ext cx="5029200"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3_c4_new_antibody_design_methods_keep" title="cue_s03_c4_new_antibody_design_methods_keep" descr="cue_s03_c4_new_antibody_design_methods_keep As new antibody design methods keep appearing, the field needs one shared, antibody-focused benchmark to judge them fairly."/>
          <p:cNvSpPr/>
          <p:nvPr/>
        </p:nvSpPr>
        <p:spPr>
          <a:xfrm>
            <a:off x="6628790" y="3314471"/>
            <a:ext cx="5029200" cy="11809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450757"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CONTRIBUTION</a:t>
            </a:r>
          </a:p>
        </p:txBody>
      </p:sp>
      <p:sp>
        <p:nvSpPr>
          <p:cNvPr id="5" name="TextBox 5"/>
          <p:cNvSpPr txBox="1"/>
          <p:nvPr/>
        </p:nvSpPr>
        <p:spPr>
          <a:xfrm>
            <a:off x="518160" y="781050"/>
            <a:ext cx="3943969"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What FLAb delivers</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04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4" name="Group 14"/>
          <p:cNvGrpSpPr/>
          <p:nvPr/>
        </p:nvGrpSpPr>
        <p:grpSpPr>
          <a:xfrm>
            <a:off x="533400" y="1524000"/>
            <a:ext cx="5448300" cy="1638300"/>
            <a:chOff x="533400" y="1524000"/>
            <a:chExt cx="5448300" cy="1638300"/>
          </a:xfrm>
        </p:grpSpPr>
        <p:sp>
          <p:nvSpPr>
            <p:cNvPr id="8" name="Rectangle 8"/>
            <p:cNvSpPr/>
            <p:nvPr/>
          </p:nvSpPr>
          <p:spPr>
            <a:xfrm>
              <a:off x="533400" y="1524000"/>
              <a:ext cx="5448300" cy="1638300"/>
            </a:xfrm>
            <a:prstGeom prst="roundRect">
              <a:avLst>
                <a:gd name="adj" fmla="val 8140"/>
              </a:avLst>
            </a:prstGeom>
            <a:solidFill>
              <a:schemeClr val="accent5"/>
            </a:solidFill>
            <a:ln w="11430">
              <a:solidFill>
                <a:schemeClr val="accent4"/>
              </a:solidFill>
            </a:ln>
          </p:spPr>
        </p:sp>
        <p:sp>
          <p:nvSpPr>
            <p:cNvPr id="9" name="Rectangle 9"/>
            <p:cNvSpPr/>
            <p:nvPr/>
          </p:nvSpPr>
          <p:spPr>
            <a:xfrm>
              <a:off x="762000" y="1790700"/>
              <a:ext cx="47625" cy="323850"/>
            </a:xfrm>
            <a:prstGeom prst="roundRect">
              <a:avLst>
                <a:gd name="adj" fmla="val 50000"/>
              </a:avLst>
            </a:prstGeom>
            <a:solidFill>
              <a:schemeClr val="accent2"/>
            </a:solidFill>
            <a:ln>
              <a:noFill/>
            </a:ln>
          </p:spPr>
        </p:sp>
        <p:sp>
          <p:nvSpPr>
            <p:cNvPr id="10" name="TextBox 10"/>
            <p:cNvSpPr txBox="1"/>
            <p:nvPr/>
          </p:nvSpPr>
          <p:spPr>
            <a:xfrm>
              <a:off x="5271402" y="1714500"/>
              <a:ext cx="496938" cy="586740"/>
            </a:xfrm>
            <a:prstGeom prst="rect">
              <a:avLst/>
            </a:prstGeom>
            <a:noFill/>
            <a:ln>
              <a:noFill/>
            </a:ln>
          </p:spPr>
          <p:txBody>
            <a:bodyPr wrap="none" lIns="0" tIns="0" rIns="0" bIns="0" anchor="t" anchorCtr="0">
              <a:spAutoFit/>
            </a:bodyPr>
            <a:lstStyle/>
            <a:p>
              <a:pPr algn="r"/>
              <a:r>
                <a:rPr lang="en-US" sz="3000" b="1" dirty="0">
                  <a:solidFill>
                    <a:schemeClr val="accent2">
                      <a:alphaMod val="55000"/>
                    </a:schemeClr>
                  </a:solidFill>
                  <a:latin typeface="Consolas"/>
                  <a:ea typeface="Consolas"/>
                  <a:cs typeface="Consolas"/>
                </a:rPr>
                <a:t>01</a:t>
              </a:r>
            </a:p>
          </p:txBody>
        </p:sp>
        <p:sp>
          <p:nvSpPr>
            <p:cNvPr id="11" name="TextBox 11"/>
            <p:cNvSpPr txBox="1"/>
            <p:nvPr/>
          </p:nvSpPr>
          <p:spPr>
            <a:xfrm>
              <a:off x="944499" y="1830229"/>
              <a:ext cx="2190354"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The FLAb benchmark</a:t>
              </a:r>
            </a:p>
          </p:txBody>
        </p:sp>
        <p:sp>
          <p:nvSpPr>
            <p:cNvPr id="12" name="TextBox 12"/>
            <p:cNvSpPr txBox="1"/>
            <p:nvPr/>
          </p:nvSpPr>
          <p:spPr>
            <a:xfrm>
              <a:off x="946785" y="2221706"/>
              <a:ext cx="377054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largest therapeutic antibody design benchmark</a:t>
              </a:r>
            </a:p>
          </p:txBody>
        </p:sp>
        <p:sp>
          <p:nvSpPr>
            <p:cNvPr id="13" name="TextBox 13"/>
            <p:cNvSpPr txBox="1"/>
            <p:nvPr/>
          </p:nvSpPr>
          <p:spPr>
            <a:xfrm>
              <a:off x="946785" y="2421731"/>
              <a:ext cx="353955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assembled so far, built to fill the antibody gap.</a:t>
              </a:r>
            </a:p>
          </p:txBody>
        </p:sp>
      </p:grpSp>
      <p:grpSp>
        <p:nvGrpSpPr>
          <p:cNvPr id="21" name="Group 21"/>
          <p:cNvGrpSpPr/>
          <p:nvPr/>
        </p:nvGrpSpPr>
        <p:grpSpPr>
          <a:xfrm>
            <a:off x="6210300" y="1524000"/>
            <a:ext cx="5448300" cy="1638300"/>
            <a:chOff x="6210300" y="1524000"/>
            <a:chExt cx="5448300" cy="1638300"/>
          </a:xfrm>
        </p:grpSpPr>
        <p:sp>
          <p:nvSpPr>
            <p:cNvPr id="15" name="Rectangle 15"/>
            <p:cNvSpPr/>
            <p:nvPr/>
          </p:nvSpPr>
          <p:spPr>
            <a:xfrm>
              <a:off x="6210300" y="1524000"/>
              <a:ext cx="5448300" cy="1638300"/>
            </a:xfrm>
            <a:prstGeom prst="roundRect">
              <a:avLst>
                <a:gd name="adj" fmla="val 8140"/>
              </a:avLst>
            </a:prstGeom>
            <a:solidFill>
              <a:schemeClr val="accent5"/>
            </a:solidFill>
            <a:ln w="11430">
              <a:solidFill>
                <a:schemeClr val="accent4"/>
              </a:solidFill>
            </a:ln>
          </p:spPr>
        </p:sp>
        <p:sp>
          <p:nvSpPr>
            <p:cNvPr id="16" name="Rectangle 16"/>
            <p:cNvSpPr/>
            <p:nvPr/>
          </p:nvSpPr>
          <p:spPr>
            <a:xfrm>
              <a:off x="6438900" y="1790700"/>
              <a:ext cx="47625" cy="323850"/>
            </a:xfrm>
            <a:prstGeom prst="roundRect">
              <a:avLst>
                <a:gd name="adj" fmla="val 50000"/>
              </a:avLst>
            </a:prstGeom>
            <a:solidFill>
              <a:srgbClr val="37DCC0"/>
            </a:solidFill>
            <a:ln>
              <a:noFill/>
            </a:ln>
          </p:spPr>
        </p:sp>
        <p:sp>
          <p:nvSpPr>
            <p:cNvPr id="17" name="TextBox 17"/>
            <p:cNvSpPr txBox="1"/>
            <p:nvPr/>
          </p:nvSpPr>
          <p:spPr>
            <a:xfrm>
              <a:off x="10948302" y="1714500"/>
              <a:ext cx="496938" cy="586740"/>
            </a:xfrm>
            <a:prstGeom prst="rect">
              <a:avLst/>
            </a:prstGeom>
            <a:noFill/>
            <a:ln>
              <a:noFill/>
            </a:ln>
          </p:spPr>
          <p:txBody>
            <a:bodyPr wrap="none" lIns="0" tIns="0" rIns="0" bIns="0" anchor="t" anchorCtr="0">
              <a:spAutoFit/>
            </a:bodyPr>
            <a:lstStyle/>
            <a:p>
              <a:pPr algn="r"/>
              <a:r>
                <a:rPr lang="en-US" sz="3000" b="1" dirty="0">
                  <a:solidFill>
                    <a:srgbClr val="37DCC0">
                      <a:alphaMod val="55000"/>
                    </a:srgbClr>
                  </a:solidFill>
                  <a:latin typeface="Consolas"/>
                  <a:ea typeface="Consolas"/>
                  <a:cs typeface="Consolas"/>
                </a:rPr>
                <a:t>02</a:t>
              </a:r>
            </a:p>
          </p:txBody>
        </p:sp>
        <p:sp>
          <p:nvSpPr>
            <p:cNvPr id="18" name="TextBox 18"/>
            <p:cNvSpPr txBox="1"/>
            <p:nvPr/>
          </p:nvSpPr>
          <p:spPr>
            <a:xfrm>
              <a:off x="6621399" y="1830229"/>
              <a:ext cx="3343687"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17 landscapes, 13,384 metrics</a:t>
              </a:r>
            </a:p>
          </p:txBody>
        </p:sp>
        <p:sp>
          <p:nvSpPr>
            <p:cNvPr id="19" name="TextBox 19"/>
            <p:cNvSpPr txBox="1"/>
            <p:nvPr/>
          </p:nvSpPr>
          <p:spPr>
            <a:xfrm>
              <a:off x="6623685" y="2221706"/>
              <a:ext cx="420790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Curates seventeen mutational landscapes with more than</a:t>
              </a:r>
            </a:p>
          </p:txBody>
        </p:sp>
        <p:sp>
          <p:nvSpPr>
            <p:cNvPr id="20" name="TextBox 20"/>
            <p:cNvSpPr txBox="1"/>
            <p:nvPr/>
          </p:nvSpPr>
          <p:spPr>
            <a:xfrm>
              <a:off x="6623685" y="2421731"/>
              <a:ext cx="411249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thirteen thousand experimental fitness measurements.</a:t>
              </a:r>
            </a:p>
          </p:txBody>
        </p:sp>
      </p:grpSp>
      <p:grpSp>
        <p:nvGrpSpPr>
          <p:cNvPr id="28" name="Group 28"/>
          <p:cNvGrpSpPr/>
          <p:nvPr/>
        </p:nvGrpSpPr>
        <p:grpSpPr>
          <a:xfrm>
            <a:off x="533400" y="3371850"/>
            <a:ext cx="5448300" cy="1638300"/>
            <a:chOff x="533400" y="3371850"/>
            <a:chExt cx="5448300" cy="1638300"/>
          </a:xfrm>
        </p:grpSpPr>
        <p:sp>
          <p:nvSpPr>
            <p:cNvPr id="22" name="Rectangle 22"/>
            <p:cNvSpPr/>
            <p:nvPr/>
          </p:nvSpPr>
          <p:spPr>
            <a:xfrm>
              <a:off x="533400" y="3371850"/>
              <a:ext cx="5448300" cy="1638300"/>
            </a:xfrm>
            <a:prstGeom prst="roundRect">
              <a:avLst>
                <a:gd name="adj" fmla="val 8140"/>
              </a:avLst>
            </a:prstGeom>
            <a:solidFill>
              <a:schemeClr val="accent5"/>
            </a:solidFill>
            <a:ln w="11430">
              <a:solidFill>
                <a:schemeClr val="accent4"/>
              </a:solidFill>
            </a:ln>
          </p:spPr>
        </p:sp>
        <p:sp>
          <p:nvSpPr>
            <p:cNvPr id="23" name="Rectangle 23"/>
            <p:cNvSpPr/>
            <p:nvPr/>
          </p:nvSpPr>
          <p:spPr>
            <a:xfrm>
              <a:off x="762000" y="3638550"/>
              <a:ext cx="47625" cy="323850"/>
            </a:xfrm>
            <a:prstGeom prst="roundRect">
              <a:avLst>
                <a:gd name="adj" fmla="val 50000"/>
              </a:avLst>
            </a:prstGeom>
            <a:solidFill>
              <a:srgbClr val="57D9A3"/>
            </a:solidFill>
            <a:ln>
              <a:noFill/>
            </a:ln>
          </p:spPr>
        </p:sp>
        <p:sp>
          <p:nvSpPr>
            <p:cNvPr id="24" name="TextBox 24"/>
            <p:cNvSpPr txBox="1"/>
            <p:nvPr/>
          </p:nvSpPr>
          <p:spPr>
            <a:xfrm>
              <a:off x="5271402" y="3562350"/>
              <a:ext cx="496938" cy="586740"/>
            </a:xfrm>
            <a:prstGeom prst="rect">
              <a:avLst/>
            </a:prstGeom>
            <a:noFill/>
            <a:ln>
              <a:noFill/>
            </a:ln>
          </p:spPr>
          <p:txBody>
            <a:bodyPr wrap="none" lIns="0" tIns="0" rIns="0" bIns="0" anchor="t" anchorCtr="0">
              <a:spAutoFit/>
            </a:bodyPr>
            <a:lstStyle/>
            <a:p>
              <a:pPr algn="r"/>
              <a:r>
                <a:rPr lang="en-US" sz="3000" b="1" dirty="0">
                  <a:solidFill>
                    <a:srgbClr val="57D9A3">
                      <a:alphaMod val="55000"/>
                    </a:srgbClr>
                  </a:solidFill>
                  <a:latin typeface="Consolas"/>
                  <a:ea typeface="Consolas"/>
                  <a:cs typeface="Consolas"/>
                </a:rPr>
                <a:t>03</a:t>
              </a:r>
            </a:p>
          </p:txBody>
        </p:sp>
        <p:sp>
          <p:nvSpPr>
            <p:cNvPr id="25" name="TextBox 25"/>
            <p:cNvSpPr txBox="1"/>
            <p:nvPr/>
          </p:nvSpPr>
          <p:spPr>
            <a:xfrm>
              <a:off x="944499" y="3678079"/>
              <a:ext cx="2499370"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Six models vs. Rosetta</a:t>
              </a:r>
            </a:p>
          </p:txBody>
        </p:sp>
        <p:sp>
          <p:nvSpPr>
            <p:cNvPr id="26" name="TextBox 26"/>
            <p:cNvSpPr txBox="1"/>
            <p:nvPr/>
          </p:nvSpPr>
          <p:spPr>
            <a:xfrm>
              <a:off x="946785" y="4069556"/>
              <a:ext cx="406449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Evaluates six widely adopted pretrained protein models</a:t>
              </a:r>
            </a:p>
          </p:txBody>
        </p:sp>
        <p:sp>
          <p:nvSpPr>
            <p:cNvPr id="27" name="TextBox 27"/>
            <p:cNvSpPr txBox="1"/>
            <p:nvPr/>
          </p:nvSpPr>
          <p:spPr>
            <a:xfrm>
              <a:off x="946785" y="4269581"/>
              <a:ext cx="341673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and compares them to physics-based Rosetta.</a:t>
              </a:r>
            </a:p>
          </p:txBody>
        </p:sp>
      </p:grpSp>
      <p:grpSp>
        <p:nvGrpSpPr>
          <p:cNvPr id="35" name="Group 35"/>
          <p:cNvGrpSpPr/>
          <p:nvPr/>
        </p:nvGrpSpPr>
        <p:grpSpPr>
          <a:xfrm>
            <a:off x="6210300" y="3371850"/>
            <a:ext cx="5448300" cy="1638300"/>
            <a:chOff x="6210300" y="3371850"/>
            <a:chExt cx="5448300" cy="1638300"/>
          </a:xfrm>
        </p:grpSpPr>
        <p:sp>
          <p:nvSpPr>
            <p:cNvPr id="29" name="Rectangle 29"/>
            <p:cNvSpPr/>
            <p:nvPr/>
          </p:nvSpPr>
          <p:spPr>
            <a:xfrm>
              <a:off x="6210300" y="3371850"/>
              <a:ext cx="5448300" cy="1638300"/>
            </a:xfrm>
            <a:prstGeom prst="roundRect">
              <a:avLst>
                <a:gd name="adj" fmla="val 8140"/>
              </a:avLst>
            </a:prstGeom>
            <a:solidFill>
              <a:schemeClr val="accent5"/>
            </a:solidFill>
            <a:ln w="11430">
              <a:solidFill>
                <a:schemeClr val="accent4"/>
              </a:solidFill>
            </a:ln>
          </p:spPr>
        </p:sp>
        <p:sp>
          <p:nvSpPr>
            <p:cNvPr id="30" name="Rectangle 30"/>
            <p:cNvSpPr/>
            <p:nvPr/>
          </p:nvSpPr>
          <p:spPr>
            <a:xfrm>
              <a:off x="6438900" y="3638550"/>
              <a:ext cx="47625" cy="323850"/>
            </a:xfrm>
            <a:prstGeom prst="roundRect">
              <a:avLst>
                <a:gd name="adj" fmla="val 50000"/>
              </a:avLst>
            </a:prstGeom>
            <a:solidFill>
              <a:srgbClr val="F7B84B"/>
            </a:solidFill>
            <a:ln>
              <a:noFill/>
            </a:ln>
          </p:spPr>
        </p:sp>
        <p:sp>
          <p:nvSpPr>
            <p:cNvPr id="31" name="TextBox 31"/>
            <p:cNvSpPr txBox="1"/>
            <p:nvPr/>
          </p:nvSpPr>
          <p:spPr>
            <a:xfrm>
              <a:off x="10948302" y="3562350"/>
              <a:ext cx="496938" cy="586740"/>
            </a:xfrm>
            <a:prstGeom prst="rect">
              <a:avLst/>
            </a:prstGeom>
            <a:noFill/>
            <a:ln>
              <a:noFill/>
            </a:ln>
          </p:spPr>
          <p:txBody>
            <a:bodyPr wrap="none" lIns="0" tIns="0" rIns="0" bIns="0" anchor="t" anchorCtr="0">
              <a:spAutoFit/>
            </a:bodyPr>
            <a:lstStyle/>
            <a:p>
              <a:pPr algn="r"/>
              <a:r>
                <a:rPr lang="en-US" sz="3000" b="1" dirty="0">
                  <a:solidFill>
                    <a:srgbClr val="F7B84B">
                      <a:alphaMod val="55000"/>
                    </a:srgbClr>
                  </a:solidFill>
                  <a:latin typeface="Consolas"/>
                  <a:ea typeface="Consolas"/>
                  <a:cs typeface="Consolas"/>
                </a:rPr>
                <a:t>04</a:t>
              </a:r>
            </a:p>
          </p:txBody>
        </p:sp>
        <p:sp>
          <p:nvSpPr>
            <p:cNvPr id="32" name="TextBox 32"/>
            <p:cNvSpPr txBox="1"/>
            <p:nvPr/>
          </p:nvSpPr>
          <p:spPr>
            <a:xfrm>
              <a:off x="6621399" y="3678079"/>
              <a:ext cx="2156896"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Open, growing data</a:t>
              </a:r>
            </a:p>
          </p:txBody>
        </p:sp>
        <p:sp>
          <p:nvSpPr>
            <p:cNvPr id="33" name="TextBox 33"/>
            <p:cNvSpPr txBox="1"/>
            <p:nvPr/>
          </p:nvSpPr>
          <p:spPr>
            <a:xfrm>
              <a:off x="6623685" y="4069556"/>
              <a:ext cx="404220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All FLAb data are released openly so the community can</a:t>
              </a:r>
            </a:p>
          </p:txBody>
        </p:sp>
        <p:sp>
          <p:nvSpPr>
            <p:cNvPr id="34" name="TextBox 34"/>
            <p:cNvSpPr txBox="1"/>
            <p:nvPr/>
          </p:nvSpPr>
          <p:spPr>
            <a:xfrm>
              <a:off x="6623685" y="4269581"/>
              <a:ext cx="229566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keep expanding the benchmark.</a:t>
              </a:r>
            </a:p>
          </p:txBody>
        </p:sp>
      </p:grpSp>
      <p:sp>
        <p:nvSpPr>
          <p:cNvPr id="36" name="cue_s04_c1_fill_gap_authors_build_flab" title="cue_s04_c1_fill_gap_authors_build_flab" descr="cue_s04_c1_fill_gap_authors_build_flab To fill this gap, the authors build FLAb, the Fitness Landscape for Antibodies, the largest therapeutic antibody design benchmark assembled so far."/>
          <p:cNvSpPr/>
          <p:nvPr/>
        </p:nvSpPr>
        <p:spPr>
          <a:xfrm>
            <a:off x="532790" y="1523847"/>
            <a:ext cx="5448604"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4_c2_curates_seventeen_mutational_landsca" title="cue_s04_c2_curates_seventeen_mutational_landsca" descr="cue_s04_c2_curates_seventeen_mutational_landsca It curates seventeen mutational landscapes with more than thirteen thousand experimental fitness measurements, spanning six developability properties."/>
          <p:cNvSpPr/>
          <p:nvPr/>
        </p:nvSpPr>
        <p:spPr>
          <a:xfrm>
            <a:off x="6210604" y="1523847"/>
            <a:ext cx="5448604"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4_c3_benchmark_they_evaluate_six_widely" title="cue_s04_c3_benchmark_they_evaluate_six_widely" descr="cue_s04_c3_benchmark_they_evaluate_six_widely Using this benchmark, they evaluate six widely adopted pretrained protein models and compare them to physics-based Rosetta."/>
          <p:cNvSpPr/>
          <p:nvPr/>
        </p:nvSpPr>
        <p:spPr>
          <a:xfrm>
            <a:off x="532790" y="3372078"/>
            <a:ext cx="5448604"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4_c4_just_importantly_all_flab_released" title="cue_s04_c4_just_importantly_all_flab_released" descr="cue_s04_c4_just_importantly_all_flab_released Just as importantly, all of the FLAb data are released openly so the community can keep expanding it."/>
          <p:cNvSpPr/>
          <p:nvPr/>
        </p:nvSpPr>
        <p:spPr>
          <a:xfrm>
            <a:off x="6210604" y="3372078"/>
            <a:ext cx="5448604"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790365"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METHOD</a:t>
            </a:r>
          </a:p>
        </p:txBody>
      </p:sp>
      <p:sp>
        <p:nvSpPr>
          <p:cNvPr id="5" name="TextBox 5"/>
          <p:cNvSpPr txBox="1"/>
          <p:nvPr/>
        </p:nvSpPr>
        <p:spPr>
          <a:xfrm>
            <a:off x="518160" y="781050"/>
            <a:ext cx="8185852"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Perplexity as an antibody fitness score</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05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1" name="Group 11"/>
          <p:cNvGrpSpPr/>
          <p:nvPr/>
        </p:nvGrpSpPr>
        <p:grpSpPr>
          <a:xfrm>
            <a:off x="533400" y="1524000"/>
            <a:ext cx="11125200" cy="1104900"/>
            <a:chOff x="533400" y="1524000"/>
            <a:chExt cx="11125200" cy="1104900"/>
          </a:xfrm>
        </p:grpSpPr>
        <p:sp>
          <p:nvSpPr>
            <p:cNvPr id="8" name="Rectangle 8"/>
            <p:cNvSpPr/>
            <p:nvPr/>
          </p:nvSpPr>
          <p:spPr>
            <a:xfrm>
              <a:off x="533400" y="1524000"/>
              <a:ext cx="11125200" cy="1104900"/>
            </a:xfrm>
            <a:prstGeom prst="roundRect">
              <a:avLst>
                <a:gd name="adj" fmla="val 12069"/>
              </a:avLst>
            </a:prstGeom>
            <a:solidFill>
              <a:schemeClr val="accent6"/>
            </a:solidFill>
            <a:ln w="12382">
              <a:solidFill>
                <a:schemeClr val="accent2"/>
              </a:solidFill>
            </a:ln>
          </p:spPr>
        </p:sp>
        <p:sp>
          <p:nvSpPr>
            <p:cNvPr id="9" name="TextBox 9"/>
            <p:cNvSpPr txBox="1"/>
            <p:nvPr/>
          </p:nvSpPr>
          <p:spPr>
            <a:xfrm>
              <a:off x="718185" y="1688306"/>
              <a:ext cx="7014151"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Score each antibody by model perplexity, averaged over all heavy- and light-chain residues</a:t>
              </a:r>
            </a:p>
          </p:txBody>
        </p:sp>
        <p:sp>
          <p:nvSpPr>
            <p:cNvPr id="10" name="TextBox 10"/>
            <p:cNvSpPr txBox="1"/>
            <p:nvPr/>
          </p:nvSpPr>
          <p:spPr>
            <a:xfrm>
              <a:off x="713994" y="2075498"/>
              <a:ext cx="5945953"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Consolas"/>
                  <a:ea typeface="Consolas"/>
                  <a:cs typeface="Consolas"/>
                </a:rPr>
                <a:t>PPL(s) = exp( - 1/N Sum_i log p(x_i | x_&lt;i) )</a:t>
              </a:r>
            </a:p>
          </p:txBody>
        </p:sp>
      </p:grpSp>
      <p:grpSp>
        <p:nvGrpSpPr>
          <p:cNvPr id="20" name="Group 20"/>
          <p:cNvGrpSpPr/>
          <p:nvPr/>
        </p:nvGrpSpPr>
        <p:grpSpPr>
          <a:xfrm>
            <a:off x="533400" y="2838450"/>
            <a:ext cx="3568700" cy="2038350"/>
            <a:chOff x="533400" y="2838450"/>
            <a:chExt cx="3568700" cy="2038350"/>
          </a:xfrm>
        </p:grpSpPr>
        <p:sp>
          <p:nvSpPr>
            <p:cNvPr id="12" name="Rectangle 12"/>
            <p:cNvSpPr/>
            <p:nvPr/>
          </p:nvSpPr>
          <p:spPr>
            <a:xfrm>
              <a:off x="533400" y="2838450"/>
              <a:ext cx="3568700" cy="2038350"/>
            </a:xfrm>
            <a:prstGeom prst="roundRect">
              <a:avLst>
                <a:gd name="adj" fmla="val 6542"/>
              </a:avLst>
            </a:prstGeom>
            <a:solidFill>
              <a:schemeClr val="accent5"/>
            </a:solidFill>
            <a:ln w="11430">
              <a:solidFill>
                <a:schemeClr val="accent4"/>
              </a:solidFill>
            </a:ln>
          </p:spPr>
        </p:sp>
        <p:sp>
          <p:nvSpPr>
            <p:cNvPr id="13" name="TextBox 13"/>
            <p:cNvSpPr txBox="1"/>
            <p:nvPr/>
          </p:nvSpPr>
          <p:spPr>
            <a:xfrm>
              <a:off x="736854" y="3089910"/>
              <a:ext cx="2460748"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1 Low perplexity = confidence</a:t>
              </a:r>
            </a:p>
          </p:txBody>
        </p:sp>
        <p:sp>
          <p:nvSpPr>
            <p:cNvPr id="14" name="TextBox 14"/>
            <p:cNvSpPr txBox="1"/>
            <p:nvPr/>
          </p:nvSpPr>
          <p:spPr>
            <a:xfrm>
              <a:off x="737616" y="3391852"/>
              <a:ext cx="254547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Perplexity measures how surprised a</a:t>
              </a:r>
            </a:p>
          </p:txBody>
        </p:sp>
        <p:sp>
          <p:nvSpPr>
            <p:cNvPr id="15" name="TextBox 15"/>
            <p:cNvSpPr txBox="1"/>
            <p:nvPr/>
          </p:nvSpPr>
          <p:spPr>
            <a:xfrm>
              <a:off x="737616" y="3591878"/>
              <a:ext cx="211468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model is. A well-behaved model</a:t>
              </a:r>
            </a:p>
          </p:txBody>
        </p:sp>
        <p:sp>
          <p:nvSpPr>
            <p:cNvPr id="16" name="TextBox 16"/>
            <p:cNvSpPr txBox="1"/>
            <p:nvPr/>
          </p:nvSpPr>
          <p:spPr>
            <a:xfrm>
              <a:off x="737616" y="3791902"/>
              <a:ext cx="177755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should be confident about</a:t>
              </a:r>
            </a:p>
          </p:txBody>
        </p:sp>
        <p:sp>
          <p:nvSpPr>
            <p:cNvPr id="17" name="TextBox 17"/>
            <p:cNvSpPr txBox="1"/>
            <p:nvPr/>
          </p:nvSpPr>
          <p:spPr>
            <a:xfrm>
              <a:off x="737616" y="3991928"/>
              <a:ext cx="169981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high-fitness antibodies.</a:t>
              </a:r>
            </a:p>
          </p:txBody>
        </p:sp>
        <p:sp>
          <p:nvSpPr>
            <p:cNvPr id="18" name="Rectangle 18"/>
            <p:cNvSpPr/>
            <p:nvPr/>
          </p:nvSpPr>
          <p:spPr>
            <a:xfrm>
              <a:off x="742950" y="4381500"/>
              <a:ext cx="3149600" cy="323850"/>
            </a:xfrm>
            <a:prstGeom prst="roundRect">
              <a:avLst>
                <a:gd name="adj" fmla="val 26471"/>
              </a:avLst>
            </a:prstGeom>
            <a:solidFill>
              <a:schemeClr val="lt2"/>
            </a:solidFill>
            <a:ln>
              <a:noFill/>
            </a:ln>
          </p:spPr>
        </p:sp>
        <p:sp>
          <p:nvSpPr>
            <p:cNvPr id="19" name="TextBox 19"/>
            <p:cNvSpPr txBox="1"/>
            <p:nvPr/>
          </p:nvSpPr>
          <p:spPr>
            <a:xfrm>
              <a:off x="871156" y="4481751"/>
              <a:ext cx="1690107" cy="198025"/>
            </a:xfrm>
            <a:prstGeom prst="rect">
              <a:avLst/>
            </a:prstGeom>
            <a:noFill/>
            <a:ln>
              <a:noFill/>
            </a:ln>
          </p:spPr>
          <p:txBody>
            <a:bodyPr wrap="none" lIns="0" tIns="0" rIns="0" bIns="0" anchor="t" anchorCtr="0">
              <a:spAutoFit/>
            </a:bodyPr>
            <a:lstStyle/>
            <a:p>
              <a:pPr algn="l"/>
              <a:r>
                <a:rPr lang="en-US" sz="1010" b="1" dirty="0">
                  <a:solidFill>
                    <a:srgbClr val="37DCC0"/>
                  </a:solidFill>
                  <a:latin typeface="Consolas"/>
                  <a:ea typeface="Consolas"/>
                  <a:cs typeface="Consolas"/>
                </a:rPr>
                <a:t>low PPL &lt;-&gt; high fitness</a:t>
              </a:r>
            </a:p>
          </p:txBody>
        </p:sp>
      </p:grpSp>
      <p:grpSp>
        <p:nvGrpSpPr>
          <p:cNvPr id="29" name="Group 29"/>
          <p:cNvGrpSpPr/>
          <p:nvPr/>
        </p:nvGrpSpPr>
        <p:grpSpPr>
          <a:xfrm>
            <a:off x="4311650" y="2838450"/>
            <a:ext cx="3568700" cy="2038350"/>
            <a:chOff x="4311650" y="2838450"/>
            <a:chExt cx="3568700" cy="2038350"/>
          </a:xfrm>
        </p:grpSpPr>
        <p:sp>
          <p:nvSpPr>
            <p:cNvPr id="21" name="Rectangle 21"/>
            <p:cNvSpPr/>
            <p:nvPr/>
          </p:nvSpPr>
          <p:spPr>
            <a:xfrm>
              <a:off x="4311650" y="2838450"/>
              <a:ext cx="3568700" cy="2038350"/>
            </a:xfrm>
            <a:prstGeom prst="roundRect">
              <a:avLst>
                <a:gd name="adj" fmla="val 6542"/>
              </a:avLst>
            </a:prstGeom>
            <a:solidFill>
              <a:schemeClr val="accent5"/>
            </a:solidFill>
            <a:ln w="11430">
              <a:solidFill>
                <a:schemeClr val="accent4"/>
              </a:solidFill>
            </a:ln>
          </p:spPr>
        </p:sp>
        <p:sp>
          <p:nvSpPr>
            <p:cNvPr id="22" name="TextBox 22"/>
            <p:cNvSpPr txBox="1"/>
            <p:nvPr/>
          </p:nvSpPr>
          <p:spPr>
            <a:xfrm>
              <a:off x="4515104" y="3089910"/>
              <a:ext cx="2036397"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2 Correlate with fitness</a:t>
              </a:r>
            </a:p>
          </p:txBody>
        </p:sp>
        <p:sp>
          <p:nvSpPr>
            <p:cNvPr id="23" name="TextBox 23"/>
            <p:cNvSpPr txBox="1"/>
            <p:nvPr/>
          </p:nvSpPr>
          <p:spPr>
            <a:xfrm>
              <a:off x="4515866" y="3391852"/>
              <a:ext cx="248174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Correlate model scores against real</a:t>
              </a:r>
            </a:p>
          </p:txBody>
        </p:sp>
        <p:sp>
          <p:nvSpPr>
            <p:cNvPr id="24" name="TextBox 24"/>
            <p:cNvSpPr txBox="1"/>
            <p:nvPr/>
          </p:nvSpPr>
          <p:spPr>
            <a:xfrm>
              <a:off x="4515866" y="3591878"/>
              <a:ext cx="227935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experimental fitness using three</a:t>
              </a:r>
            </a:p>
          </p:txBody>
        </p:sp>
        <p:sp>
          <p:nvSpPr>
            <p:cNvPr id="25" name="TextBox 25"/>
            <p:cNvSpPr txBox="1"/>
            <p:nvPr/>
          </p:nvSpPr>
          <p:spPr>
            <a:xfrm>
              <a:off x="4515866" y="3791902"/>
              <a:ext cx="95065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coefficients:</a:t>
              </a:r>
            </a:p>
          </p:txBody>
        </p:sp>
        <p:sp>
          <p:nvSpPr>
            <p:cNvPr id="26" name="Rectangle 26"/>
            <p:cNvSpPr/>
            <p:nvPr/>
          </p:nvSpPr>
          <p:spPr>
            <a:xfrm>
              <a:off x="4521200" y="4171950"/>
              <a:ext cx="3149600" cy="533400"/>
            </a:xfrm>
            <a:prstGeom prst="roundRect">
              <a:avLst>
                <a:gd name="adj" fmla="val 16071"/>
              </a:avLst>
            </a:prstGeom>
            <a:solidFill>
              <a:schemeClr val="lt2"/>
            </a:solidFill>
            <a:ln>
              <a:noFill/>
            </a:ln>
          </p:spPr>
        </p:sp>
        <p:sp>
          <p:nvSpPr>
            <p:cNvPr id="27" name="TextBox 27"/>
            <p:cNvSpPr txBox="1"/>
            <p:nvPr/>
          </p:nvSpPr>
          <p:spPr>
            <a:xfrm>
              <a:off x="4649406" y="4291251"/>
              <a:ext cx="1791115"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Consolas"/>
                  <a:ea typeface="Consolas"/>
                  <a:cs typeface="Consolas"/>
                </a:rPr>
                <a:t>Pearson r · Spearman rho</a:t>
              </a:r>
            </a:p>
          </p:txBody>
        </p:sp>
        <p:sp>
          <p:nvSpPr>
            <p:cNvPr id="28" name="TextBox 28"/>
            <p:cNvSpPr txBox="1"/>
            <p:nvPr/>
          </p:nvSpPr>
          <p:spPr>
            <a:xfrm>
              <a:off x="4649406" y="4481751"/>
              <a:ext cx="771222"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Consolas"/>
                  <a:ea typeface="Consolas"/>
                  <a:cs typeface="Consolas"/>
                </a:rPr>
                <a:t>Kendall tau</a:t>
              </a:r>
            </a:p>
          </p:txBody>
        </p:sp>
      </p:grpSp>
      <p:grpSp>
        <p:nvGrpSpPr>
          <p:cNvPr id="37" name="Group 37"/>
          <p:cNvGrpSpPr/>
          <p:nvPr/>
        </p:nvGrpSpPr>
        <p:grpSpPr>
          <a:xfrm>
            <a:off x="8089900" y="2838450"/>
            <a:ext cx="3568700" cy="2038350"/>
            <a:chOff x="8089900" y="2838450"/>
            <a:chExt cx="3568700" cy="2038350"/>
          </a:xfrm>
        </p:grpSpPr>
        <p:sp>
          <p:nvSpPr>
            <p:cNvPr id="30" name="Rectangle 30"/>
            <p:cNvSpPr/>
            <p:nvPr/>
          </p:nvSpPr>
          <p:spPr>
            <a:xfrm>
              <a:off x="8089900" y="2838450"/>
              <a:ext cx="3568700" cy="2038350"/>
            </a:xfrm>
            <a:prstGeom prst="roundRect">
              <a:avLst>
                <a:gd name="adj" fmla="val 6542"/>
              </a:avLst>
            </a:prstGeom>
            <a:solidFill>
              <a:schemeClr val="accent5"/>
            </a:solidFill>
            <a:ln w="11430">
              <a:solidFill>
                <a:schemeClr val="accent4"/>
              </a:solidFill>
            </a:ln>
          </p:spPr>
        </p:sp>
        <p:sp>
          <p:nvSpPr>
            <p:cNvPr id="31" name="TextBox 31"/>
            <p:cNvSpPr txBox="1"/>
            <p:nvPr/>
          </p:nvSpPr>
          <p:spPr>
            <a:xfrm>
              <a:off x="8293354" y="3089910"/>
              <a:ext cx="2129953"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3 Models used as released</a:t>
              </a:r>
            </a:p>
          </p:txBody>
        </p:sp>
        <p:sp>
          <p:nvSpPr>
            <p:cNvPr id="32" name="TextBox 32"/>
            <p:cNvSpPr txBox="1"/>
            <p:nvPr/>
          </p:nvSpPr>
          <p:spPr>
            <a:xfrm>
              <a:off x="8294116" y="3391852"/>
              <a:ext cx="222498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No additional fine-tuning. Three</a:t>
              </a:r>
            </a:p>
          </p:txBody>
        </p:sp>
        <p:sp>
          <p:nvSpPr>
            <p:cNvPr id="33" name="TextBox 33"/>
            <p:cNvSpPr txBox="1"/>
            <p:nvPr/>
          </p:nvSpPr>
          <p:spPr>
            <a:xfrm>
              <a:off x="8294116" y="3591878"/>
              <a:ext cx="246310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architecture families are compared</a:t>
              </a:r>
            </a:p>
          </p:txBody>
        </p:sp>
        <p:sp>
          <p:nvSpPr>
            <p:cNvPr id="34" name="TextBox 34"/>
            <p:cNvSpPr txBox="1"/>
            <p:nvPr/>
          </p:nvSpPr>
          <p:spPr>
            <a:xfrm>
              <a:off x="8294116" y="3791902"/>
              <a:ext cx="146658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exactly as published:</a:t>
              </a:r>
            </a:p>
          </p:txBody>
        </p:sp>
        <p:sp>
          <p:nvSpPr>
            <p:cNvPr id="35" name="Rectangle 35"/>
            <p:cNvSpPr/>
            <p:nvPr/>
          </p:nvSpPr>
          <p:spPr>
            <a:xfrm>
              <a:off x="8299450" y="4286250"/>
              <a:ext cx="3149600" cy="419100"/>
            </a:xfrm>
            <a:prstGeom prst="roundRect">
              <a:avLst>
                <a:gd name="adj" fmla="val 20455"/>
              </a:avLst>
            </a:prstGeom>
            <a:solidFill>
              <a:srgbClr val="14261F"/>
            </a:solidFill>
            <a:ln w="10478">
              <a:solidFill>
                <a:srgbClr val="57D9A3"/>
              </a:solidFill>
            </a:ln>
          </p:spPr>
        </p:sp>
        <p:sp>
          <p:nvSpPr>
            <p:cNvPr id="36" name="TextBox 36"/>
            <p:cNvSpPr txBox="1"/>
            <p:nvPr/>
          </p:nvSpPr>
          <p:spPr>
            <a:xfrm>
              <a:off x="8428038" y="4451747"/>
              <a:ext cx="2334749" cy="183356"/>
            </a:xfrm>
            <a:prstGeom prst="rect">
              <a:avLst/>
            </a:prstGeom>
            <a:noFill/>
            <a:ln>
              <a:noFill/>
            </a:ln>
          </p:spPr>
          <p:txBody>
            <a:bodyPr wrap="none" lIns="0" tIns="0" rIns="0" bIns="0" anchor="t" anchorCtr="0">
              <a:spAutoFit/>
            </a:bodyPr>
            <a:lstStyle/>
            <a:p>
              <a:pPr algn="l"/>
              <a:r>
                <a:rPr lang="en-US" sz="940" b="1" dirty="0">
                  <a:solidFill>
                    <a:srgbClr val="57D9A3"/>
                  </a:solidFill>
                  <a:latin typeface="Consolas"/>
                  <a:ea typeface="Consolas"/>
                  <a:cs typeface="Consolas"/>
                </a:rPr>
                <a:t>decoder · encoder · inverse-folding</a:t>
              </a:r>
            </a:p>
          </p:txBody>
        </p:sp>
      </p:grpSp>
      <p:sp>
        <p:nvSpPr>
          <p:cNvPr id="38" name="cue_s05_c1_core_idea_simple_every_antibody" title="cue_s05_c1_core_idea_simple_every_antibody" descr="cue_s05_c1_core_idea_simple_every_antibody The core idea is simple. Every antibody sequence, or its structure, is fed to a model, and the model reports a perplexity score averaged over all residues in the heavy and light chains."/>
          <p:cNvSpPr/>
          <p:nvPr/>
        </p:nvSpPr>
        <p:spPr>
          <a:xfrm>
            <a:off x="532790" y="1523847"/>
            <a:ext cx="111252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5_c2_perplexity_measures_how_surprised_se" title="cue_s05_c2_perplexity_measures_how_surprised_se" descr="cue_s05_c2_perplexity_measures_how_surprised_se Perplexity measures how surprised the model is by the sequence, so a well-behaved model should be confident, meaning low perplexity, about high-fitness antibodies."/>
          <p:cNvSpPr/>
          <p:nvPr/>
        </p:nvSpPr>
        <p:spPr>
          <a:xfrm>
            <a:off x="532790" y="2838526"/>
            <a:ext cx="3568598"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5_c3_authors_correlate_these_scores_again" title="cue_s05_c3_authors_correlate_these_scores_again" descr="cue_s05_c3_authors_correlate_these_scores_again The authors then correlate these scores against real experimental fitness using three coefficients: Pearson for linear trends, Spearman for monotonic trends, and Kendall tau for ordinal agreement."/>
          <p:cNvSpPr/>
          <p:nvPr/>
        </p:nvSpPr>
        <p:spPr>
          <a:xfrm>
            <a:off x="4311091" y="2838526"/>
            <a:ext cx="3568598"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5_c4_crucially_models_used_exactly_releas" title="cue_s05_c4_crucially_models_used_exactly_releas" descr="cue_s05_c4_crucially_models_used_exactly_releas Crucially, the models are used exactly as released, with no additional fine-tuning, across decoder-only, encoder-only, and inverse-folding architectures."/>
          <p:cNvSpPr/>
          <p:nvPr/>
        </p:nvSpPr>
        <p:spPr>
          <a:xfrm>
            <a:off x="8089392" y="2838526"/>
            <a:ext cx="3568598"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128924"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BENCHMARK</a:t>
            </a:r>
          </a:p>
        </p:txBody>
      </p:sp>
      <p:sp>
        <p:nvSpPr>
          <p:cNvPr id="5" name="TextBox 5"/>
          <p:cNvSpPr txBox="1"/>
          <p:nvPr/>
        </p:nvSpPr>
        <p:spPr>
          <a:xfrm>
            <a:off x="518160" y="781050"/>
            <a:ext cx="8037187"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Seventeen antibody fitness landscapes</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06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1" name="Group 11"/>
          <p:cNvGrpSpPr/>
          <p:nvPr/>
        </p:nvGrpSpPr>
        <p:grpSpPr>
          <a:xfrm>
            <a:off x="533400" y="1524000"/>
            <a:ext cx="11125200" cy="628650"/>
            <a:chOff x="533400" y="1524000"/>
            <a:chExt cx="11125200" cy="628650"/>
          </a:xfrm>
        </p:grpSpPr>
        <p:sp>
          <p:nvSpPr>
            <p:cNvPr id="8" name="Rectangle 8"/>
            <p:cNvSpPr/>
            <p:nvPr/>
          </p:nvSpPr>
          <p:spPr>
            <a:xfrm>
              <a:off x="533400" y="1524000"/>
              <a:ext cx="11125200" cy="628650"/>
            </a:xfrm>
            <a:prstGeom prst="roundRect">
              <a:avLst>
                <a:gd name="adj" fmla="val 21212"/>
              </a:avLst>
            </a:prstGeom>
            <a:solidFill>
              <a:schemeClr val="accent5"/>
            </a:solidFill>
            <a:ln w="11430">
              <a:solidFill>
                <a:schemeClr val="accent4"/>
              </a:solidFill>
            </a:ln>
          </p:spPr>
        </p:sp>
        <p:sp>
          <p:nvSpPr>
            <p:cNvPr id="9" name="Rectangle 9"/>
            <p:cNvSpPr/>
            <p:nvPr/>
          </p:nvSpPr>
          <p:spPr>
            <a:xfrm>
              <a:off x="723900" y="1695450"/>
              <a:ext cx="47625" cy="285750"/>
            </a:xfrm>
            <a:prstGeom prst="roundRect">
              <a:avLst>
                <a:gd name="adj" fmla="val 50000"/>
              </a:avLst>
            </a:prstGeom>
            <a:solidFill>
              <a:srgbClr val="37DCC0"/>
            </a:solidFill>
            <a:ln>
              <a:noFill/>
            </a:ln>
          </p:spPr>
        </p:sp>
        <p:sp>
          <p:nvSpPr>
            <p:cNvPr id="10" name="TextBox 10"/>
            <p:cNvSpPr txBox="1"/>
            <p:nvPr/>
          </p:nvSpPr>
          <p:spPr>
            <a:xfrm>
              <a:off x="907542" y="1778318"/>
              <a:ext cx="8600789"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17 mutational landscapes from distinct antibody families · 8 studies · 13,384 measurements</a:t>
              </a:r>
            </a:p>
          </p:txBody>
        </p:sp>
      </p:grpSp>
      <p:grpSp>
        <p:nvGrpSpPr>
          <p:cNvPr id="33" name="Group 33"/>
          <p:cNvGrpSpPr/>
          <p:nvPr/>
        </p:nvGrpSpPr>
        <p:grpSpPr>
          <a:xfrm>
            <a:off x="533400" y="2343150"/>
            <a:ext cx="5676900" cy="2857500"/>
            <a:chOff x="533400" y="2343150"/>
            <a:chExt cx="5676900" cy="2857500"/>
          </a:xfrm>
        </p:grpSpPr>
        <p:sp>
          <p:nvSpPr>
            <p:cNvPr id="12" name="Rectangle 12"/>
            <p:cNvSpPr/>
            <p:nvPr/>
          </p:nvSpPr>
          <p:spPr>
            <a:xfrm>
              <a:off x="533400" y="2343150"/>
              <a:ext cx="5676900" cy="2857500"/>
            </a:xfrm>
            <a:prstGeom prst="roundRect">
              <a:avLst>
                <a:gd name="adj" fmla="val 4667"/>
              </a:avLst>
            </a:prstGeom>
            <a:solidFill>
              <a:schemeClr val="accent5"/>
            </a:solidFill>
            <a:ln w="11430">
              <a:solidFill>
                <a:schemeClr val="accent4"/>
              </a:solidFill>
            </a:ln>
          </p:spPr>
        </p:sp>
        <p:sp>
          <p:nvSpPr>
            <p:cNvPr id="13" name="Rectangle 13"/>
            <p:cNvSpPr/>
            <p:nvPr/>
          </p:nvSpPr>
          <p:spPr>
            <a:xfrm>
              <a:off x="723900" y="2571750"/>
              <a:ext cx="47625" cy="266700"/>
            </a:xfrm>
            <a:prstGeom prst="roundRect">
              <a:avLst>
                <a:gd name="adj" fmla="val 50000"/>
              </a:avLst>
            </a:prstGeom>
            <a:solidFill>
              <a:schemeClr val="accent2"/>
            </a:solidFill>
            <a:ln>
              <a:noFill/>
            </a:ln>
          </p:spPr>
        </p:sp>
        <p:sp>
          <p:nvSpPr>
            <p:cNvPr id="14" name="TextBox 14"/>
            <p:cNvSpPr txBox="1"/>
            <p:nvPr/>
          </p:nvSpPr>
          <p:spPr>
            <a:xfrm>
              <a:off x="888492" y="2616518"/>
              <a:ext cx="2681289"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Six developability properties</a:t>
              </a:r>
            </a:p>
          </p:txBody>
        </p:sp>
        <p:sp>
          <p:nvSpPr>
            <p:cNvPr id="15" name="Rectangle 15"/>
            <p:cNvSpPr/>
            <p:nvPr/>
          </p:nvSpPr>
          <p:spPr>
            <a:xfrm>
              <a:off x="723900" y="3048000"/>
              <a:ext cx="2552700" cy="552450"/>
            </a:xfrm>
            <a:prstGeom prst="roundRect">
              <a:avLst>
                <a:gd name="adj" fmla="val 17241"/>
              </a:avLst>
            </a:prstGeom>
            <a:solidFill>
              <a:schemeClr val="accent6"/>
            </a:solidFill>
            <a:ln w="10478">
              <a:solidFill>
                <a:schemeClr val="accent2"/>
              </a:solidFill>
            </a:ln>
          </p:spPr>
        </p:sp>
        <p:sp>
          <p:nvSpPr>
            <p:cNvPr id="16" name="Rectangle 16"/>
            <p:cNvSpPr/>
            <p:nvPr/>
          </p:nvSpPr>
          <p:spPr>
            <a:xfrm>
              <a:off x="857250" y="3200400"/>
              <a:ext cx="47625" cy="247650"/>
            </a:xfrm>
            <a:prstGeom prst="roundRect">
              <a:avLst>
                <a:gd name="adj" fmla="val 50000"/>
              </a:avLst>
            </a:prstGeom>
            <a:solidFill>
              <a:schemeClr val="accent2"/>
            </a:solidFill>
            <a:ln>
              <a:noFill/>
            </a:ln>
          </p:spPr>
        </p:sp>
        <p:sp>
          <p:nvSpPr>
            <p:cNvPr id="17" name="TextBox 17"/>
            <p:cNvSpPr txBox="1"/>
            <p:nvPr/>
          </p:nvSpPr>
          <p:spPr>
            <a:xfrm>
              <a:off x="1003744" y="3255883"/>
              <a:ext cx="877511"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Expression</a:t>
              </a:r>
            </a:p>
          </p:txBody>
        </p:sp>
        <p:sp>
          <p:nvSpPr>
            <p:cNvPr id="18" name="Rectangle 18"/>
            <p:cNvSpPr/>
            <p:nvPr/>
          </p:nvSpPr>
          <p:spPr>
            <a:xfrm>
              <a:off x="3467100" y="3048000"/>
              <a:ext cx="2552700" cy="552450"/>
            </a:xfrm>
            <a:prstGeom prst="roundRect">
              <a:avLst>
                <a:gd name="adj" fmla="val 17241"/>
              </a:avLst>
            </a:prstGeom>
            <a:solidFill>
              <a:schemeClr val="accent6"/>
            </a:solidFill>
            <a:ln w="10478">
              <a:solidFill>
                <a:srgbClr val="37DCC0"/>
              </a:solidFill>
            </a:ln>
          </p:spPr>
        </p:sp>
        <p:sp>
          <p:nvSpPr>
            <p:cNvPr id="19" name="Rectangle 19"/>
            <p:cNvSpPr/>
            <p:nvPr/>
          </p:nvSpPr>
          <p:spPr>
            <a:xfrm>
              <a:off x="3600450" y="3200400"/>
              <a:ext cx="47625" cy="247650"/>
            </a:xfrm>
            <a:prstGeom prst="roundRect">
              <a:avLst>
                <a:gd name="adj" fmla="val 50000"/>
              </a:avLst>
            </a:prstGeom>
            <a:solidFill>
              <a:srgbClr val="37DCC0"/>
            </a:solidFill>
            <a:ln>
              <a:noFill/>
            </a:ln>
          </p:spPr>
        </p:sp>
        <p:sp>
          <p:nvSpPr>
            <p:cNvPr id="20" name="TextBox 20"/>
            <p:cNvSpPr txBox="1"/>
            <p:nvPr/>
          </p:nvSpPr>
          <p:spPr>
            <a:xfrm>
              <a:off x="3746944" y="3255883"/>
              <a:ext cx="1279122"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Thermostability</a:t>
              </a:r>
            </a:p>
          </p:txBody>
        </p:sp>
        <p:sp>
          <p:nvSpPr>
            <p:cNvPr id="21" name="Rectangle 21"/>
            <p:cNvSpPr/>
            <p:nvPr/>
          </p:nvSpPr>
          <p:spPr>
            <a:xfrm>
              <a:off x="723900" y="3733800"/>
              <a:ext cx="2552700" cy="552450"/>
            </a:xfrm>
            <a:prstGeom prst="roundRect">
              <a:avLst>
                <a:gd name="adj" fmla="val 17241"/>
              </a:avLst>
            </a:prstGeom>
            <a:solidFill>
              <a:schemeClr val="accent6"/>
            </a:solidFill>
            <a:ln w="10478">
              <a:solidFill>
                <a:srgbClr val="F7B84B"/>
              </a:solidFill>
            </a:ln>
          </p:spPr>
        </p:sp>
        <p:sp>
          <p:nvSpPr>
            <p:cNvPr id="22" name="Rectangle 22"/>
            <p:cNvSpPr/>
            <p:nvPr/>
          </p:nvSpPr>
          <p:spPr>
            <a:xfrm>
              <a:off x="857250" y="3886200"/>
              <a:ext cx="47625" cy="247650"/>
            </a:xfrm>
            <a:prstGeom prst="roundRect">
              <a:avLst>
                <a:gd name="adj" fmla="val 50000"/>
              </a:avLst>
            </a:prstGeom>
            <a:solidFill>
              <a:srgbClr val="F7B84B"/>
            </a:solidFill>
            <a:ln>
              <a:noFill/>
            </a:ln>
          </p:spPr>
        </p:sp>
        <p:sp>
          <p:nvSpPr>
            <p:cNvPr id="23" name="TextBox 23"/>
            <p:cNvSpPr txBox="1"/>
            <p:nvPr/>
          </p:nvSpPr>
          <p:spPr>
            <a:xfrm>
              <a:off x="1003744" y="3941683"/>
              <a:ext cx="1221842"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Immunogenicity</a:t>
              </a:r>
            </a:p>
          </p:txBody>
        </p:sp>
        <p:sp>
          <p:nvSpPr>
            <p:cNvPr id="24" name="Rectangle 24"/>
            <p:cNvSpPr/>
            <p:nvPr/>
          </p:nvSpPr>
          <p:spPr>
            <a:xfrm>
              <a:off x="3467100" y="3733800"/>
              <a:ext cx="2552700" cy="552450"/>
            </a:xfrm>
            <a:prstGeom prst="roundRect">
              <a:avLst>
                <a:gd name="adj" fmla="val 17241"/>
              </a:avLst>
            </a:prstGeom>
            <a:solidFill>
              <a:schemeClr val="accent6"/>
            </a:solidFill>
            <a:ln w="10478">
              <a:solidFill>
                <a:srgbClr val="57D9A3"/>
              </a:solidFill>
            </a:ln>
          </p:spPr>
        </p:sp>
        <p:sp>
          <p:nvSpPr>
            <p:cNvPr id="25" name="Rectangle 25"/>
            <p:cNvSpPr/>
            <p:nvPr/>
          </p:nvSpPr>
          <p:spPr>
            <a:xfrm>
              <a:off x="3600450" y="3886200"/>
              <a:ext cx="47625" cy="247650"/>
            </a:xfrm>
            <a:prstGeom prst="roundRect">
              <a:avLst>
                <a:gd name="adj" fmla="val 50000"/>
              </a:avLst>
            </a:prstGeom>
            <a:solidFill>
              <a:srgbClr val="57D9A3"/>
            </a:solidFill>
            <a:ln>
              <a:noFill/>
            </a:ln>
          </p:spPr>
        </p:sp>
        <p:sp>
          <p:nvSpPr>
            <p:cNvPr id="26" name="TextBox 26"/>
            <p:cNvSpPr txBox="1"/>
            <p:nvPr/>
          </p:nvSpPr>
          <p:spPr>
            <a:xfrm>
              <a:off x="3746944" y="3941683"/>
              <a:ext cx="967714"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Aggregation</a:t>
              </a:r>
            </a:p>
          </p:txBody>
        </p:sp>
        <p:sp>
          <p:nvSpPr>
            <p:cNvPr id="27" name="Rectangle 27"/>
            <p:cNvSpPr/>
            <p:nvPr/>
          </p:nvSpPr>
          <p:spPr>
            <a:xfrm>
              <a:off x="723900" y="4419600"/>
              <a:ext cx="2552700" cy="552450"/>
            </a:xfrm>
            <a:prstGeom prst="roundRect">
              <a:avLst>
                <a:gd name="adj" fmla="val 17241"/>
              </a:avLst>
            </a:prstGeom>
            <a:solidFill>
              <a:schemeClr val="accent6"/>
            </a:solidFill>
            <a:ln w="10478">
              <a:solidFill>
                <a:srgbClr val="F2708A"/>
              </a:solidFill>
            </a:ln>
          </p:spPr>
        </p:sp>
        <p:sp>
          <p:nvSpPr>
            <p:cNvPr id="28" name="Rectangle 28"/>
            <p:cNvSpPr/>
            <p:nvPr/>
          </p:nvSpPr>
          <p:spPr>
            <a:xfrm>
              <a:off x="857250" y="4572000"/>
              <a:ext cx="47625" cy="247650"/>
            </a:xfrm>
            <a:prstGeom prst="roundRect">
              <a:avLst>
                <a:gd name="adj" fmla="val 50000"/>
              </a:avLst>
            </a:prstGeom>
            <a:solidFill>
              <a:srgbClr val="F2708A"/>
            </a:solidFill>
            <a:ln>
              <a:noFill/>
            </a:ln>
          </p:spPr>
        </p:sp>
        <p:sp>
          <p:nvSpPr>
            <p:cNvPr id="29" name="TextBox 29"/>
            <p:cNvSpPr txBox="1"/>
            <p:nvPr/>
          </p:nvSpPr>
          <p:spPr>
            <a:xfrm>
              <a:off x="1003744" y="4627483"/>
              <a:ext cx="1155990"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Polyreactivity</a:t>
              </a:r>
            </a:p>
          </p:txBody>
        </p:sp>
        <p:sp>
          <p:nvSpPr>
            <p:cNvPr id="30" name="Rectangle 30"/>
            <p:cNvSpPr/>
            <p:nvPr/>
          </p:nvSpPr>
          <p:spPr>
            <a:xfrm>
              <a:off x="3467100" y="4419600"/>
              <a:ext cx="2552700" cy="552450"/>
            </a:xfrm>
            <a:prstGeom prst="roundRect">
              <a:avLst>
                <a:gd name="adj" fmla="val 17241"/>
              </a:avLst>
            </a:prstGeom>
            <a:solidFill>
              <a:schemeClr val="accent6"/>
            </a:solidFill>
            <a:ln w="10478">
              <a:solidFill>
                <a:srgbClr val="B98CF0"/>
              </a:solidFill>
            </a:ln>
          </p:spPr>
        </p:sp>
        <p:sp>
          <p:nvSpPr>
            <p:cNvPr id="31" name="Rectangle 31"/>
            <p:cNvSpPr/>
            <p:nvPr/>
          </p:nvSpPr>
          <p:spPr>
            <a:xfrm>
              <a:off x="3600450" y="4572000"/>
              <a:ext cx="47625" cy="247650"/>
            </a:xfrm>
            <a:prstGeom prst="roundRect">
              <a:avLst>
                <a:gd name="adj" fmla="val 50000"/>
              </a:avLst>
            </a:prstGeom>
            <a:solidFill>
              <a:srgbClr val="B98CF0"/>
            </a:solidFill>
            <a:ln>
              <a:noFill/>
            </a:ln>
          </p:spPr>
        </p:sp>
        <p:sp>
          <p:nvSpPr>
            <p:cNvPr id="32" name="TextBox 32"/>
            <p:cNvSpPr txBox="1"/>
            <p:nvPr/>
          </p:nvSpPr>
          <p:spPr>
            <a:xfrm>
              <a:off x="3746944" y="4627483"/>
              <a:ext cx="1254435"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Binding affinity</a:t>
              </a:r>
            </a:p>
          </p:txBody>
        </p:sp>
      </p:grpSp>
      <p:grpSp>
        <p:nvGrpSpPr>
          <p:cNvPr id="43" name="Group 43"/>
          <p:cNvGrpSpPr/>
          <p:nvPr/>
        </p:nvGrpSpPr>
        <p:grpSpPr>
          <a:xfrm>
            <a:off x="6438900" y="2343150"/>
            <a:ext cx="5219700" cy="1314450"/>
            <a:chOff x="6438900" y="2343150"/>
            <a:chExt cx="5219700" cy="1314450"/>
          </a:xfrm>
        </p:grpSpPr>
        <p:sp>
          <p:nvSpPr>
            <p:cNvPr id="34" name="Rectangle 34"/>
            <p:cNvSpPr/>
            <p:nvPr/>
          </p:nvSpPr>
          <p:spPr>
            <a:xfrm>
              <a:off x="6438900" y="2343150"/>
              <a:ext cx="5219700" cy="1314450"/>
            </a:xfrm>
            <a:prstGeom prst="roundRect">
              <a:avLst>
                <a:gd name="adj" fmla="val 10145"/>
              </a:avLst>
            </a:prstGeom>
            <a:solidFill>
              <a:schemeClr val="accent5"/>
            </a:solidFill>
            <a:ln w="11430">
              <a:solidFill>
                <a:schemeClr val="accent4"/>
              </a:solidFill>
            </a:ln>
          </p:spPr>
        </p:sp>
        <p:sp>
          <p:nvSpPr>
            <p:cNvPr id="35" name="Rectangle 35"/>
            <p:cNvSpPr/>
            <p:nvPr/>
          </p:nvSpPr>
          <p:spPr>
            <a:xfrm>
              <a:off x="6629400" y="2552700"/>
              <a:ext cx="47625" cy="266700"/>
            </a:xfrm>
            <a:prstGeom prst="roundRect">
              <a:avLst>
                <a:gd name="adj" fmla="val 50000"/>
              </a:avLst>
            </a:prstGeom>
            <a:solidFill>
              <a:srgbClr val="F7B84B"/>
            </a:solidFill>
            <a:ln>
              <a:noFill/>
            </a:ln>
          </p:spPr>
        </p:sp>
        <p:sp>
          <p:nvSpPr>
            <p:cNvPr id="36" name="TextBox 36"/>
            <p:cNvSpPr txBox="1"/>
            <p:nvPr/>
          </p:nvSpPr>
          <p:spPr>
            <a:xfrm>
              <a:off x="6794754" y="2613660"/>
              <a:ext cx="2290710" cy="234696"/>
            </a:xfrm>
            <a:prstGeom prst="rect">
              <a:avLst/>
            </a:prstGeom>
            <a:noFill/>
            <a:ln>
              <a:noFill/>
            </a:ln>
          </p:spPr>
          <p:txBody>
            <a:bodyPr wrap="none" lIns="0" tIns="0" rIns="0" bIns="0" anchor="t" anchorCtr="0">
              <a:spAutoFit/>
            </a:bodyPr>
            <a:lstStyle/>
            <a:p>
              <a:pPr algn="l"/>
              <a:r>
                <a:rPr lang="en-US" sz="1200" b="1" dirty="0">
                  <a:solidFill>
                    <a:srgbClr val="F7B84B"/>
                  </a:solidFill>
                  <a:latin typeface="+mn-lt"/>
                  <a:ea typeface="+mn-ea"/>
                  <a:cs typeface="+mn-cs"/>
                </a:rPr>
                <a:t>Each grounded in a real unit</a:t>
              </a:r>
            </a:p>
          </p:txBody>
        </p:sp>
        <p:sp>
          <p:nvSpPr>
            <p:cNvPr id="37" name="TextBox 37"/>
            <p:cNvSpPr txBox="1"/>
            <p:nvPr/>
          </p:nvSpPr>
          <p:spPr>
            <a:xfrm>
              <a:off x="6643116" y="2896552"/>
              <a:ext cx="794276"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Expression</a:t>
              </a:r>
            </a:p>
          </p:txBody>
        </p:sp>
        <p:sp>
          <p:nvSpPr>
            <p:cNvPr id="38" name="TextBox 38"/>
            <p:cNvSpPr txBox="1"/>
            <p:nvPr/>
          </p:nvSpPr>
          <p:spPr>
            <a:xfrm>
              <a:off x="10999686" y="2896552"/>
              <a:ext cx="454698" cy="205359"/>
            </a:xfrm>
            <a:prstGeom prst="rect">
              <a:avLst/>
            </a:prstGeom>
            <a:noFill/>
            <a:ln>
              <a:noFill/>
            </a:ln>
          </p:spPr>
          <p:txBody>
            <a:bodyPr wrap="none" lIns="0" tIns="0" rIns="0" bIns="0" anchor="t" anchorCtr="0">
              <a:spAutoFit/>
            </a:bodyPr>
            <a:lstStyle/>
            <a:p>
              <a:pPr algn="r"/>
              <a:r>
                <a:rPr lang="en-US" sz="1050" b="1" dirty="0">
                  <a:solidFill>
                    <a:schemeClr val="dk1"/>
                  </a:solidFill>
                  <a:latin typeface="Consolas"/>
                  <a:ea typeface="Consolas"/>
                  <a:cs typeface="Consolas"/>
                </a:rPr>
                <a:t>ug/mL</a:t>
              </a:r>
            </a:p>
          </p:txBody>
        </p:sp>
        <p:sp>
          <p:nvSpPr>
            <p:cNvPr id="39" name="TextBox 39"/>
            <p:cNvSpPr txBox="1"/>
            <p:nvPr/>
          </p:nvSpPr>
          <p:spPr>
            <a:xfrm>
              <a:off x="6643116" y="3125152"/>
              <a:ext cx="1157803"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Thermostability</a:t>
              </a:r>
            </a:p>
          </p:txBody>
        </p:sp>
        <p:sp>
          <p:nvSpPr>
            <p:cNvPr id="40" name="TextBox 40"/>
            <p:cNvSpPr txBox="1"/>
            <p:nvPr/>
          </p:nvSpPr>
          <p:spPr>
            <a:xfrm>
              <a:off x="10273557" y="3125152"/>
              <a:ext cx="1180827" cy="205359"/>
            </a:xfrm>
            <a:prstGeom prst="rect">
              <a:avLst/>
            </a:prstGeom>
            <a:noFill/>
            <a:ln>
              <a:noFill/>
            </a:ln>
          </p:spPr>
          <p:txBody>
            <a:bodyPr wrap="none" lIns="0" tIns="0" rIns="0" bIns="0" anchor="t" anchorCtr="0">
              <a:spAutoFit/>
            </a:bodyPr>
            <a:lstStyle/>
            <a:p>
              <a:pPr algn="r"/>
              <a:r>
                <a:rPr lang="en-US" sz="1050" b="1" dirty="0">
                  <a:solidFill>
                    <a:schemeClr val="dk1"/>
                  </a:solidFill>
                  <a:latin typeface="Consolas"/>
                  <a:ea typeface="Consolas"/>
                  <a:cs typeface="Consolas"/>
                </a:rPr>
                <a:t>melting temp Tm</a:t>
              </a:r>
            </a:p>
          </p:txBody>
        </p:sp>
        <p:sp>
          <p:nvSpPr>
            <p:cNvPr id="41" name="TextBox 41"/>
            <p:cNvSpPr txBox="1"/>
            <p:nvPr/>
          </p:nvSpPr>
          <p:spPr>
            <a:xfrm>
              <a:off x="6643116" y="3353752"/>
              <a:ext cx="511891"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Binding</a:t>
              </a:r>
            </a:p>
          </p:txBody>
        </p:sp>
        <p:sp>
          <p:nvSpPr>
            <p:cNvPr id="42" name="TextBox 42"/>
            <p:cNvSpPr txBox="1"/>
            <p:nvPr/>
          </p:nvSpPr>
          <p:spPr>
            <a:xfrm>
              <a:off x="9578937" y="3353752"/>
              <a:ext cx="1875447" cy="205359"/>
            </a:xfrm>
            <a:prstGeom prst="rect">
              <a:avLst/>
            </a:prstGeom>
            <a:noFill/>
            <a:ln>
              <a:noFill/>
            </a:ln>
          </p:spPr>
          <p:txBody>
            <a:bodyPr wrap="none" lIns="0" tIns="0" rIns="0" bIns="0" anchor="t" anchorCtr="0">
              <a:spAutoFit/>
            </a:bodyPr>
            <a:lstStyle/>
            <a:p>
              <a:pPr algn="r"/>
              <a:r>
                <a:rPr lang="en-US" sz="1050" b="1" dirty="0">
                  <a:solidFill>
                    <a:schemeClr val="dk1"/>
                  </a:solidFill>
                  <a:latin typeface="Consolas"/>
                  <a:ea typeface="Consolas"/>
                  <a:cs typeface="Consolas"/>
                </a:rPr>
                <a:t>dissociation constant K_D</a:t>
              </a:r>
            </a:p>
          </p:txBody>
        </p:sp>
      </p:grpSp>
      <p:grpSp>
        <p:nvGrpSpPr>
          <p:cNvPr id="50" name="Group 50"/>
          <p:cNvGrpSpPr/>
          <p:nvPr/>
        </p:nvGrpSpPr>
        <p:grpSpPr>
          <a:xfrm>
            <a:off x="6438900" y="3848100"/>
            <a:ext cx="5219700" cy="1352550"/>
            <a:chOff x="6438900" y="3848100"/>
            <a:chExt cx="5219700" cy="1352550"/>
          </a:xfrm>
        </p:grpSpPr>
        <p:sp>
          <p:nvSpPr>
            <p:cNvPr id="44" name="Rectangle 44"/>
            <p:cNvSpPr/>
            <p:nvPr/>
          </p:nvSpPr>
          <p:spPr>
            <a:xfrm>
              <a:off x="6438900" y="3848100"/>
              <a:ext cx="5219700" cy="1352550"/>
            </a:xfrm>
            <a:prstGeom prst="roundRect">
              <a:avLst>
                <a:gd name="adj" fmla="val 9859"/>
              </a:avLst>
            </a:prstGeom>
            <a:solidFill>
              <a:schemeClr val="accent6"/>
            </a:solidFill>
            <a:ln w="12382">
              <a:solidFill>
                <a:srgbClr val="37DCC0"/>
              </a:solidFill>
            </a:ln>
          </p:spPr>
        </p:sp>
        <p:sp>
          <p:nvSpPr>
            <p:cNvPr id="45" name="Rectangle 45"/>
            <p:cNvSpPr/>
            <p:nvPr/>
          </p:nvSpPr>
          <p:spPr>
            <a:xfrm>
              <a:off x="6629400" y="4057650"/>
              <a:ext cx="47625" cy="285750"/>
            </a:xfrm>
            <a:prstGeom prst="roundRect">
              <a:avLst>
                <a:gd name="adj" fmla="val 50000"/>
              </a:avLst>
            </a:prstGeom>
            <a:solidFill>
              <a:srgbClr val="37DCC0"/>
            </a:solidFill>
            <a:ln>
              <a:noFill/>
            </a:ln>
          </p:spPr>
        </p:sp>
        <p:sp>
          <p:nvSpPr>
            <p:cNvPr id="46" name="TextBox 46"/>
            <p:cNvSpPr txBox="1"/>
            <p:nvPr/>
          </p:nvSpPr>
          <p:spPr>
            <a:xfrm>
              <a:off x="6813804" y="4118610"/>
              <a:ext cx="2290262" cy="234696"/>
            </a:xfrm>
            <a:prstGeom prst="rect">
              <a:avLst/>
            </a:prstGeom>
            <a:noFill/>
            <a:ln>
              <a:noFill/>
            </a:ln>
          </p:spPr>
          <p:txBody>
            <a:bodyPr wrap="none" lIns="0" tIns="0" rIns="0" bIns="0" anchor="t" anchorCtr="0">
              <a:spAutoFit/>
            </a:bodyPr>
            <a:lstStyle/>
            <a:p>
              <a:pPr algn="l"/>
              <a:r>
                <a:rPr lang="en-US" sz="1200" b="1" dirty="0">
                  <a:solidFill>
                    <a:srgbClr val="37DCC0"/>
                  </a:solidFill>
                  <a:latin typeface="+mn-lt"/>
                  <a:ea typeface="+mn-ea"/>
                  <a:cs typeface="+mn-cs"/>
                </a:rPr>
                <a:t>Built to test generalization</a:t>
              </a:r>
            </a:p>
          </p:txBody>
        </p:sp>
        <p:sp>
          <p:nvSpPr>
            <p:cNvPr id="47" name="TextBox 47"/>
            <p:cNvSpPr txBox="1"/>
            <p:nvPr/>
          </p:nvSpPr>
          <p:spPr>
            <a:xfrm>
              <a:off x="6643116" y="4420552"/>
              <a:ext cx="254509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This diversity is what lets FLAb test</a:t>
              </a:r>
            </a:p>
          </p:txBody>
        </p:sp>
        <p:sp>
          <p:nvSpPr>
            <p:cNvPr id="48" name="TextBox 48"/>
            <p:cNvSpPr txBox="1"/>
            <p:nvPr/>
          </p:nvSpPr>
          <p:spPr>
            <a:xfrm>
              <a:off x="6643116" y="4620578"/>
              <a:ext cx="273874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whether a model generalizes across the</a:t>
              </a:r>
            </a:p>
          </p:txBody>
        </p:sp>
        <p:sp>
          <p:nvSpPr>
            <p:cNvPr id="49" name="TextBox 49"/>
            <p:cNvSpPr txBox="1"/>
            <p:nvPr/>
          </p:nvSpPr>
          <p:spPr>
            <a:xfrm>
              <a:off x="6643116" y="4820602"/>
              <a:ext cx="231468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many facets of antibody fitness.</a:t>
              </a:r>
            </a:p>
          </p:txBody>
        </p:sp>
      </p:grpSp>
      <p:sp>
        <p:nvSpPr>
          <p:cNvPr id="51" name="cue_s06_c1_flab_pulls_together_seventeen_mutati" title="cue_s06_c1_flab_pulls_together_seventeen_mutati" descr="cue_s06_c1_flab_pulls_together_seventeen_mutati FLAb pulls together seventeen mutational landscapes from distinct antibody families, drawn from eight separate studies, adding up to more than thirteen thousand fitness measurements."/>
          <p:cNvSpPr/>
          <p:nvPr/>
        </p:nvSpPr>
        <p:spPr>
          <a:xfrm>
            <a:off x="532790" y="1523847"/>
            <a:ext cx="11125200" cy="6288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6_c2_together_they_cover_six_developabili" title="cue_s06_c2_together_they_cover_six_developabili" descr="cue_s06_c2_together_they_cover_six_developabili Together they cover the six developability properties that define a therapeutic antibody: expression, thermostability, immunogenicity, aggregation, polyreactivity, and binding affinity."/>
          <p:cNvSpPr/>
          <p:nvPr/>
        </p:nvSpPr>
        <p:spPr>
          <a:xfrm>
            <a:off x="532790" y="2343378"/>
            <a:ext cx="5676595"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6_c3_property_grounded_its_own_real" title="cue_s06_c3_property_grounded_its_own_real" descr="cue_s06_c3_property_grounded_its_own_real Each property is grounded in its own real experimental unit, from micrograms per milliliter for expression to melting temperature for stability and dissociation constants for binding."/>
          <p:cNvSpPr/>
          <p:nvPr/>
        </p:nvSpPr>
        <p:spPr>
          <a:xfrm>
            <a:off x="6438595" y="2343378"/>
            <a:ext cx="5219395" cy="13146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6_c4_diversity_what_lets_flab_test" title="cue_s06_c4_diversity_what_lets_flab_test" descr="cue_s06_c4_diversity_what_lets_flab_test This diversity is what lets FLAb test whether a model generalizes across the many facets of antibody fitness."/>
          <p:cNvSpPr/>
          <p:nvPr/>
        </p:nvSpPr>
        <p:spPr>
          <a:xfrm>
            <a:off x="6438595" y="3848023"/>
            <a:ext cx="5219395" cy="13523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177656"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KEY RESULT</a:t>
            </a:r>
          </a:p>
        </p:txBody>
      </p:sp>
      <p:sp>
        <p:nvSpPr>
          <p:cNvPr id="5" name="TextBox 5"/>
          <p:cNvSpPr txBox="1"/>
          <p:nvPr/>
        </p:nvSpPr>
        <p:spPr>
          <a:xfrm>
            <a:off x="518160" y="781050"/>
            <a:ext cx="6469429"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No model wins across the board</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07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0" name="Group 10"/>
          <p:cNvGrpSpPr/>
          <p:nvPr/>
        </p:nvGrpSpPr>
        <p:grpSpPr>
          <a:xfrm>
            <a:off x="533400" y="1524000"/>
            <a:ext cx="11125200" cy="552450"/>
            <a:chOff x="533400" y="1524000"/>
            <a:chExt cx="11125200" cy="552450"/>
          </a:xfrm>
        </p:grpSpPr>
        <p:sp>
          <p:nvSpPr>
            <p:cNvPr id="8" name="Rectangle 8"/>
            <p:cNvSpPr/>
            <p:nvPr/>
          </p:nvSpPr>
          <p:spPr>
            <a:xfrm>
              <a:off x="533400" y="1524000"/>
              <a:ext cx="11125200" cy="552450"/>
            </a:xfrm>
            <a:prstGeom prst="roundRect">
              <a:avLst>
                <a:gd name="adj" fmla="val 20690"/>
              </a:avLst>
            </a:prstGeom>
            <a:solidFill>
              <a:schemeClr val="accent6"/>
            </a:solidFill>
            <a:ln w="11430">
              <a:solidFill>
                <a:srgbClr val="F7B84B"/>
              </a:solidFill>
            </a:ln>
          </p:spPr>
        </p:sp>
        <p:sp>
          <p:nvSpPr>
            <p:cNvPr id="9" name="TextBox 9"/>
            <p:cNvSpPr txBox="1"/>
            <p:nvPr/>
          </p:nvSpPr>
          <p:spPr>
            <a:xfrm>
              <a:off x="717042" y="1730692"/>
              <a:ext cx="6183556"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The headline result is a reality check for antibody fitness models.</a:t>
              </a:r>
            </a:p>
          </p:txBody>
        </p:sp>
      </p:grpSp>
      <p:grpSp>
        <p:nvGrpSpPr>
          <p:cNvPr id="32" name="Group 32"/>
          <p:cNvGrpSpPr/>
          <p:nvPr/>
        </p:nvGrpSpPr>
        <p:grpSpPr>
          <a:xfrm>
            <a:off x="533400" y="2286000"/>
            <a:ext cx="6372638" cy="2819400"/>
            <a:chOff x="533400" y="2286000"/>
            <a:chExt cx="6372638" cy="2819400"/>
          </a:xfrm>
        </p:grpSpPr>
        <p:sp>
          <p:nvSpPr>
            <p:cNvPr id="11" name="Rectangle 11"/>
            <p:cNvSpPr/>
            <p:nvPr/>
          </p:nvSpPr>
          <p:spPr>
            <a:xfrm>
              <a:off x="533400" y="2286000"/>
              <a:ext cx="5676900" cy="2819400"/>
            </a:xfrm>
            <a:prstGeom prst="roundRect">
              <a:avLst>
                <a:gd name="adj" fmla="val 4730"/>
              </a:avLst>
            </a:prstGeom>
            <a:solidFill>
              <a:schemeClr val="accent5"/>
            </a:solidFill>
            <a:ln w="11430">
              <a:solidFill>
                <a:schemeClr val="accent4"/>
              </a:solidFill>
            </a:ln>
          </p:spPr>
        </p:sp>
        <p:sp>
          <p:nvSpPr>
            <p:cNvPr id="12" name="TextBox 12"/>
            <p:cNvSpPr txBox="1"/>
            <p:nvPr/>
          </p:nvSpPr>
          <p:spPr>
            <a:xfrm>
              <a:off x="755523" y="2529364"/>
              <a:ext cx="3166872"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Correlation swings across datasets</a:t>
              </a:r>
            </a:p>
          </p:txBody>
        </p:sp>
        <p:sp>
          <p:nvSpPr>
            <p:cNvPr id="13" name="TextBox 13"/>
            <p:cNvSpPr txBox="1"/>
            <p:nvPr/>
          </p:nvSpPr>
          <p:spPr>
            <a:xfrm>
              <a:off x="5647426" y="2561749"/>
              <a:ext cx="339227" cy="190690"/>
            </a:xfrm>
            <a:prstGeom prst="rect">
              <a:avLst/>
            </a:prstGeom>
            <a:noFill/>
            <a:ln>
              <a:noFill/>
            </a:ln>
          </p:spPr>
          <p:txBody>
            <a:bodyPr wrap="none" lIns="0" tIns="0" rIns="0" bIns="0" anchor="t" anchorCtr="0">
              <a:spAutoFit/>
            </a:bodyPr>
            <a:lstStyle/>
            <a:p>
              <a:pPr algn="r"/>
              <a:r>
                <a:rPr lang="en-US" sz="980" b="1" dirty="0">
                  <a:solidFill>
                    <a:srgbClr val="6E85AC"/>
                  </a:solidFill>
                  <a:latin typeface="Consolas"/>
                  <a:ea typeface="Consolas"/>
                  <a:cs typeface="Consolas"/>
                </a:rPr>
                <a:t>|PCC|</a:t>
              </a:r>
            </a:p>
          </p:txBody>
        </p:sp>
        <p:sp>
          <p:nvSpPr>
            <p:cNvPr id="14" name="Line 14"/>
            <p:cNvSpPr/>
            <p:nvPr/>
          </p:nvSpPr>
          <p:spPr>
            <a:xfrm>
              <a:off x="914400" y="4381500"/>
              <a:ext cx="4914900" cy="9525"/>
            </a:xfrm>
            <a:custGeom>
              <a:avLst/>
              <a:gdLst/>
              <a:ahLst/>
              <a:cxnLst/>
              <a:rect l="l" t="t" r="r" b="b"/>
              <a:pathLst>
                <a:path w="4914900" h="9525">
                  <a:moveTo>
                    <a:pt x="0" y="0"/>
                  </a:moveTo>
                  <a:lnTo>
                    <a:pt x="4914900" y="0"/>
                  </a:lnTo>
                </a:path>
              </a:pathLst>
            </a:custGeom>
            <a:noFill/>
            <a:ln w="11430">
              <a:solidFill>
                <a:srgbClr val="6E85AC"/>
              </a:solidFill>
            </a:ln>
          </p:spPr>
        </p:sp>
        <p:sp>
          <p:nvSpPr>
            <p:cNvPr id="15" name="Line 15"/>
            <p:cNvSpPr/>
            <p:nvPr/>
          </p:nvSpPr>
          <p:spPr>
            <a:xfrm>
              <a:off x="914400" y="3524250"/>
              <a:ext cx="4914900" cy="9525"/>
            </a:xfrm>
            <a:custGeom>
              <a:avLst/>
              <a:gdLst/>
              <a:ahLst/>
              <a:cxnLst/>
              <a:rect l="l" t="t" r="r" b="b"/>
              <a:pathLst>
                <a:path w="4914900" h="9525">
                  <a:moveTo>
                    <a:pt x="0" y="0"/>
                  </a:moveTo>
                  <a:lnTo>
                    <a:pt x="4914900" y="0"/>
                  </a:lnTo>
                </a:path>
              </a:pathLst>
            </a:custGeom>
            <a:noFill/>
            <a:ln w="9525">
              <a:solidFill>
                <a:srgbClr val="37DCC0"/>
              </a:solidFill>
              <a:custDash>
                <a:ds d="500000" sp="400000"/>
              </a:custDash>
            </a:ln>
          </p:spPr>
        </p:sp>
        <p:sp>
          <p:nvSpPr>
            <p:cNvPr id="16" name="TextBox 16"/>
            <p:cNvSpPr txBox="1"/>
            <p:nvPr/>
          </p:nvSpPr>
          <p:spPr>
            <a:xfrm>
              <a:off x="5623960" y="3373993"/>
              <a:ext cx="210102" cy="169069"/>
            </a:xfrm>
            <a:prstGeom prst="rect">
              <a:avLst/>
            </a:prstGeom>
            <a:noFill/>
            <a:ln>
              <a:noFill/>
            </a:ln>
          </p:spPr>
          <p:txBody>
            <a:bodyPr wrap="none" lIns="0" tIns="0" rIns="0" bIns="0" anchor="t" anchorCtr="0">
              <a:spAutoFit/>
            </a:bodyPr>
            <a:lstStyle/>
            <a:p>
              <a:pPr algn="r"/>
              <a:r>
                <a:rPr lang="en-US" sz="860" b="1" dirty="0">
                  <a:solidFill>
                    <a:srgbClr val="37DCC0"/>
                  </a:solidFill>
                  <a:latin typeface="+mn-lt"/>
                  <a:ea typeface="+mn-ea"/>
                  <a:cs typeface="+mn-cs"/>
                </a:rPr>
                <a:t>0.6</a:t>
              </a:r>
            </a:p>
          </p:txBody>
        </p:sp>
        <p:sp>
          <p:nvSpPr>
            <p:cNvPr id="17" name="Rectangle 17"/>
            <p:cNvSpPr/>
            <p:nvPr/>
          </p:nvSpPr>
          <p:spPr>
            <a:xfrm>
              <a:off x="1046049" y="3181350"/>
              <a:ext cx="438830" cy="1200150"/>
            </a:xfrm>
            <a:prstGeom prst="roundRect">
              <a:avLst>
                <a:gd name="adj" fmla="val 8682"/>
              </a:avLst>
            </a:prstGeom>
            <a:solidFill>
              <a:srgbClr val="57D9A3"/>
            </a:solidFill>
            <a:ln>
              <a:noFill/>
            </a:ln>
          </p:spPr>
        </p:sp>
        <p:sp>
          <p:nvSpPr>
            <p:cNvPr id="18" name="TextBox 18"/>
            <p:cNvSpPr txBox="1"/>
            <p:nvPr/>
          </p:nvSpPr>
          <p:spPr>
            <a:xfrm>
              <a:off x="1193344" y="4444841"/>
              <a:ext cx="144241" cy="161925"/>
            </a:xfrm>
            <a:prstGeom prst="rect">
              <a:avLst/>
            </a:prstGeom>
            <a:noFill/>
            <a:ln>
              <a:noFill/>
            </a:ln>
          </p:spPr>
          <p:txBody>
            <a:bodyPr wrap="none" lIns="0" tIns="0" rIns="0" bIns="0" anchor="t" anchorCtr="0">
              <a:spAutoFit/>
            </a:bodyPr>
            <a:lstStyle/>
            <a:p>
              <a:pPr algn="ctr"/>
              <a:r>
                <a:rPr lang="en-US" sz="820" b="1" dirty="0">
                  <a:solidFill>
                    <a:srgbClr val="6E85AC"/>
                  </a:solidFill>
                  <a:latin typeface="+mn-lt"/>
                  <a:ea typeface="+mn-ea"/>
                  <a:cs typeface="+mn-cs"/>
                </a:rPr>
                <a:t>D1</a:t>
              </a:r>
            </a:p>
          </p:txBody>
        </p:sp>
        <p:sp>
          <p:nvSpPr>
            <p:cNvPr id="19" name="Rectangle 19"/>
            <p:cNvSpPr/>
            <p:nvPr/>
          </p:nvSpPr>
          <p:spPr>
            <a:xfrm>
              <a:off x="1748178" y="3938588"/>
              <a:ext cx="438830" cy="442912"/>
            </a:xfrm>
            <a:prstGeom prst="roundRect">
              <a:avLst>
                <a:gd name="adj" fmla="val 8682"/>
              </a:avLst>
            </a:prstGeom>
            <a:solidFill>
              <a:srgbClr val="F2708A"/>
            </a:solidFill>
            <a:ln>
              <a:noFill/>
            </a:ln>
          </p:spPr>
        </p:sp>
        <p:sp>
          <p:nvSpPr>
            <p:cNvPr id="20" name="TextBox 20"/>
            <p:cNvSpPr txBox="1"/>
            <p:nvPr/>
          </p:nvSpPr>
          <p:spPr>
            <a:xfrm>
              <a:off x="1895473" y="4444841"/>
              <a:ext cx="144241" cy="161925"/>
            </a:xfrm>
            <a:prstGeom prst="rect">
              <a:avLst/>
            </a:prstGeom>
            <a:noFill/>
            <a:ln>
              <a:noFill/>
            </a:ln>
          </p:spPr>
          <p:txBody>
            <a:bodyPr wrap="none" lIns="0" tIns="0" rIns="0" bIns="0" anchor="t" anchorCtr="0">
              <a:spAutoFit/>
            </a:bodyPr>
            <a:lstStyle/>
            <a:p>
              <a:pPr algn="ctr"/>
              <a:r>
                <a:rPr lang="en-US" sz="820" b="1" dirty="0">
                  <a:solidFill>
                    <a:srgbClr val="6E85AC"/>
                  </a:solidFill>
                  <a:latin typeface="+mn-lt"/>
                  <a:ea typeface="+mn-ea"/>
                  <a:cs typeface="+mn-cs"/>
                </a:rPr>
                <a:t>D2</a:t>
              </a:r>
            </a:p>
          </p:txBody>
        </p:sp>
        <p:sp>
          <p:nvSpPr>
            <p:cNvPr id="21" name="Rectangle 21"/>
            <p:cNvSpPr/>
            <p:nvPr/>
          </p:nvSpPr>
          <p:spPr>
            <a:xfrm>
              <a:off x="2450306" y="3352800"/>
              <a:ext cx="438830" cy="1028700"/>
            </a:xfrm>
            <a:prstGeom prst="roundRect">
              <a:avLst>
                <a:gd name="adj" fmla="val 8682"/>
              </a:avLst>
            </a:prstGeom>
            <a:solidFill>
              <a:srgbClr val="57D9A3"/>
            </a:solidFill>
            <a:ln>
              <a:noFill/>
            </a:ln>
          </p:spPr>
        </p:sp>
        <p:sp>
          <p:nvSpPr>
            <p:cNvPr id="22" name="TextBox 22"/>
            <p:cNvSpPr txBox="1"/>
            <p:nvPr/>
          </p:nvSpPr>
          <p:spPr>
            <a:xfrm>
              <a:off x="2597601" y="4444841"/>
              <a:ext cx="144241" cy="161925"/>
            </a:xfrm>
            <a:prstGeom prst="rect">
              <a:avLst/>
            </a:prstGeom>
            <a:noFill/>
            <a:ln>
              <a:noFill/>
            </a:ln>
          </p:spPr>
          <p:txBody>
            <a:bodyPr wrap="none" lIns="0" tIns="0" rIns="0" bIns="0" anchor="t" anchorCtr="0">
              <a:spAutoFit/>
            </a:bodyPr>
            <a:lstStyle/>
            <a:p>
              <a:pPr algn="ctr"/>
              <a:r>
                <a:rPr lang="en-US" sz="820" b="1" dirty="0">
                  <a:solidFill>
                    <a:srgbClr val="6E85AC"/>
                  </a:solidFill>
                  <a:latin typeface="+mn-lt"/>
                  <a:ea typeface="+mn-ea"/>
                  <a:cs typeface="+mn-cs"/>
                </a:rPr>
                <a:t>D3</a:t>
              </a:r>
            </a:p>
          </p:txBody>
        </p:sp>
        <p:sp>
          <p:nvSpPr>
            <p:cNvPr id="23" name="Rectangle 23"/>
            <p:cNvSpPr/>
            <p:nvPr/>
          </p:nvSpPr>
          <p:spPr>
            <a:xfrm>
              <a:off x="3152435" y="4124325"/>
              <a:ext cx="438830" cy="257175"/>
            </a:xfrm>
            <a:prstGeom prst="roundRect">
              <a:avLst>
                <a:gd name="adj" fmla="val 14815"/>
              </a:avLst>
            </a:prstGeom>
            <a:solidFill>
              <a:srgbClr val="F2708A"/>
            </a:solidFill>
            <a:ln>
              <a:noFill/>
            </a:ln>
          </p:spPr>
        </p:sp>
        <p:sp>
          <p:nvSpPr>
            <p:cNvPr id="24" name="TextBox 24"/>
            <p:cNvSpPr txBox="1"/>
            <p:nvPr/>
          </p:nvSpPr>
          <p:spPr>
            <a:xfrm>
              <a:off x="3299730" y="4444841"/>
              <a:ext cx="144241" cy="161925"/>
            </a:xfrm>
            <a:prstGeom prst="rect">
              <a:avLst/>
            </a:prstGeom>
            <a:noFill/>
            <a:ln>
              <a:noFill/>
            </a:ln>
          </p:spPr>
          <p:txBody>
            <a:bodyPr wrap="none" lIns="0" tIns="0" rIns="0" bIns="0" anchor="t" anchorCtr="0">
              <a:spAutoFit/>
            </a:bodyPr>
            <a:lstStyle/>
            <a:p>
              <a:pPr algn="ctr"/>
              <a:r>
                <a:rPr lang="en-US" sz="820" b="1" dirty="0">
                  <a:solidFill>
                    <a:srgbClr val="6E85AC"/>
                  </a:solidFill>
                  <a:latin typeface="+mn-lt"/>
                  <a:ea typeface="+mn-ea"/>
                  <a:cs typeface="+mn-cs"/>
                </a:rPr>
                <a:t>D4</a:t>
              </a:r>
            </a:p>
          </p:txBody>
        </p:sp>
        <p:sp>
          <p:nvSpPr>
            <p:cNvPr id="25" name="Rectangle 25"/>
            <p:cNvSpPr/>
            <p:nvPr/>
          </p:nvSpPr>
          <p:spPr>
            <a:xfrm>
              <a:off x="3854563" y="3481388"/>
              <a:ext cx="438830" cy="900112"/>
            </a:xfrm>
            <a:prstGeom prst="roundRect">
              <a:avLst>
                <a:gd name="adj" fmla="val 8682"/>
              </a:avLst>
            </a:prstGeom>
            <a:solidFill>
              <a:srgbClr val="57D9A3"/>
            </a:solidFill>
            <a:ln>
              <a:noFill/>
            </a:ln>
          </p:spPr>
        </p:sp>
        <p:sp>
          <p:nvSpPr>
            <p:cNvPr id="26" name="TextBox 26"/>
            <p:cNvSpPr txBox="1"/>
            <p:nvPr/>
          </p:nvSpPr>
          <p:spPr>
            <a:xfrm>
              <a:off x="4001858" y="4444841"/>
              <a:ext cx="144241" cy="161925"/>
            </a:xfrm>
            <a:prstGeom prst="rect">
              <a:avLst/>
            </a:prstGeom>
            <a:noFill/>
            <a:ln>
              <a:noFill/>
            </a:ln>
          </p:spPr>
          <p:txBody>
            <a:bodyPr wrap="none" lIns="0" tIns="0" rIns="0" bIns="0" anchor="t" anchorCtr="0">
              <a:spAutoFit/>
            </a:bodyPr>
            <a:lstStyle/>
            <a:p>
              <a:pPr algn="ctr"/>
              <a:r>
                <a:rPr lang="en-US" sz="820" b="1" dirty="0">
                  <a:solidFill>
                    <a:srgbClr val="6E85AC"/>
                  </a:solidFill>
                  <a:latin typeface="+mn-lt"/>
                  <a:ea typeface="+mn-ea"/>
                  <a:cs typeface="+mn-cs"/>
                </a:rPr>
                <a:t>D5</a:t>
              </a:r>
            </a:p>
          </p:txBody>
        </p:sp>
        <p:sp>
          <p:nvSpPr>
            <p:cNvPr id="27" name="Rectangle 27"/>
            <p:cNvSpPr/>
            <p:nvPr/>
          </p:nvSpPr>
          <p:spPr>
            <a:xfrm>
              <a:off x="4556692" y="3781425"/>
              <a:ext cx="438830" cy="600075"/>
            </a:xfrm>
            <a:prstGeom prst="roundRect">
              <a:avLst>
                <a:gd name="adj" fmla="val 8682"/>
              </a:avLst>
            </a:prstGeom>
            <a:solidFill>
              <a:srgbClr val="F7B84B"/>
            </a:solidFill>
            <a:ln>
              <a:noFill/>
            </a:ln>
          </p:spPr>
        </p:sp>
        <p:sp>
          <p:nvSpPr>
            <p:cNvPr id="28" name="TextBox 28"/>
            <p:cNvSpPr txBox="1"/>
            <p:nvPr/>
          </p:nvSpPr>
          <p:spPr>
            <a:xfrm>
              <a:off x="4703987" y="4444841"/>
              <a:ext cx="144241" cy="161925"/>
            </a:xfrm>
            <a:prstGeom prst="rect">
              <a:avLst/>
            </a:prstGeom>
            <a:noFill/>
            <a:ln>
              <a:noFill/>
            </a:ln>
          </p:spPr>
          <p:txBody>
            <a:bodyPr wrap="none" lIns="0" tIns="0" rIns="0" bIns="0" anchor="t" anchorCtr="0">
              <a:spAutoFit/>
            </a:bodyPr>
            <a:lstStyle/>
            <a:p>
              <a:pPr algn="ctr"/>
              <a:r>
                <a:rPr lang="en-US" sz="820" b="1" dirty="0">
                  <a:solidFill>
                    <a:srgbClr val="6E85AC"/>
                  </a:solidFill>
                  <a:latin typeface="+mn-lt"/>
                  <a:ea typeface="+mn-ea"/>
                  <a:cs typeface="+mn-cs"/>
                </a:rPr>
                <a:t>D6</a:t>
              </a:r>
            </a:p>
          </p:txBody>
        </p:sp>
        <p:sp>
          <p:nvSpPr>
            <p:cNvPr id="29" name="Rectangle 29"/>
            <p:cNvSpPr/>
            <p:nvPr/>
          </p:nvSpPr>
          <p:spPr>
            <a:xfrm>
              <a:off x="5258821" y="3281362"/>
              <a:ext cx="438830" cy="1100138"/>
            </a:xfrm>
            <a:prstGeom prst="roundRect">
              <a:avLst>
                <a:gd name="adj" fmla="val 8682"/>
              </a:avLst>
            </a:prstGeom>
            <a:solidFill>
              <a:srgbClr val="57D9A3"/>
            </a:solidFill>
            <a:ln>
              <a:noFill/>
            </a:ln>
          </p:spPr>
        </p:sp>
        <p:sp>
          <p:nvSpPr>
            <p:cNvPr id="30" name="TextBox 30"/>
            <p:cNvSpPr txBox="1"/>
            <p:nvPr/>
          </p:nvSpPr>
          <p:spPr>
            <a:xfrm>
              <a:off x="5406115" y="4444841"/>
              <a:ext cx="144241" cy="161925"/>
            </a:xfrm>
            <a:prstGeom prst="rect">
              <a:avLst/>
            </a:prstGeom>
            <a:noFill/>
            <a:ln>
              <a:noFill/>
            </a:ln>
          </p:spPr>
          <p:txBody>
            <a:bodyPr wrap="none" lIns="0" tIns="0" rIns="0" bIns="0" anchor="t" anchorCtr="0">
              <a:spAutoFit/>
            </a:bodyPr>
            <a:lstStyle/>
            <a:p>
              <a:pPr algn="ctr"/>
              <a:r>
                <a:rPr lang="en-US" sz="820" b="1" dirty="0">
                  <a:solidFill>
                    <a:srgbClr val="6E85AC"/>
                  </a:solidFill>
                  <a:latin typeface="+mn-lt"/>
                  <a:ea typeface="+mn-ea"/>
                  <a:cs typeface="+mn-cs"/>
                </a:rPr>
                <a:t>D7</a:t>
              </a:r>
            </a:p>
          </p:txBody>
        </p:sp>
        <p:sp>
          <p:nvSpPr>
            <p:cNvPr id="31" name="TextBox 31"/>
            <p:cNvSpPr txBox="1"/>
            <p:nvPr/>
          </p:nvSpPr>
          <p:spPr>
            <a:xfrm>
              <a:off x="757047" y="4847749"/>
              <a:ext cx="6148991"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No model correlates well with all six properties; even one property swings dataset to dataset.</a:t>
              </a:r>
            </a:p>
          </p:txBody>
        </p:sp>
      </p:grpSp>
      <p:grpSp>
        <p:nvGrpSpPr>
          <p:cNvPr id="38" name="Group 38"/>
          <p:cNvGrpSpPr/>
          <p:nvPr/>
        </p:nvGrpSpPr>
        <p:grpSpPr>
          <a:xfrm>
            <a:off x="6438900" y="2286000"/>
            <a:ext cx="5219700" cy="1314450"/>
            <a:chOff x="6438900" y="2286000"/>
            <a:chExt cx="5219700" cy="1314450"/>
          </a:xfrm>
        </p:grpSpPr>
        <p:sp>
          <p:nvSpPr>
            <p:cNvPr id="33" name="Rectangle 33"/>
            <p:cNvSpPr/>
            <p:nvPr/>
          </p:nvSpPr>
          <p:spPr>
            <a:xfrm>
              <a:off x="6438900" y="2286000"/>
              <a:ext cx="5219700" cy="1314450"/>
            </a:xfrm>
            <a:prstGeom prst="roundRect">
              <a:avLst>
                <a:gd name="adj" fmla="val 10145"/>
              </a:avLst>
            </a:prstGeom>
            <a:solidFill>
              <a:schemeClr val="accent6"/>
            </a:solidFill>
            <a:ln w="13335">
              <a:solidFill>
                <a:schemeClr val="accent2"/>
              </a:solidFill>
            </a:ln>
          </p:spPr>
        </p:sp>
        <p:sp>
          <p:nvSpPr>
            <p:cNvPr id="34" name="TextBox 34"/>
            <p:cNvSpPr txBox="1"/>
            <p:nvPr/>
          </p:nvSpPr>
          <p:spPr>
            <a:xfrm>
              <a:off x="6662547" y="2542699"/>
              <a:ext cx="1682262"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Most frequent winner</a:t>
              </a:r>
            </a:p>
          </p:txBody>
        </p:sp>
        <p:sp>
          <p:nvSpPr>
            <p:cNvPr id="35" name="TextBox 35"/>
            <p:cNvSpPr txBox="1"/>
            <p:nvPr/>
          </p:nvSpPr>
          <p:spPr>
            <a:xfrm>
              <a:off x="6659118" y="2850832"/>
              <a:ext cx="1639047"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ProGen2-Small</a:t>
              </a:r>
            </a:p>
          </p:txBody>
        </p:sp>
        <p:sp>
          <p:nvSpPr>
            <p:cNvPr id="36" name="TextBox 36"/>
            <p:cNvSpPr txBox="1"/>
            <p:nvPr/>
          </p:nvSpPr>
          <p:spPr>
            <a:xfrm>
              <a:off x="6661785" y="3155156"/>
              <a:ext cx="1372923" cy="220028"/>
            </a:xfrm>
            <a:prstGeom prst="rect">
              <a:avLst/>
            </a:prstGeom>
            <a:noFill/>
            <a:ln>
              <a:noFill/>
            </a:ln>
          </p:spPr>
          <p:txBody>
            <a:bodyPr wrap="none" lIns="0" tIns="0" rIns="0" bIns="0" anchor="t" anchorCtr="0">
              <a:spAutoFit/>
            </a:bodyPr>
            <a:lstStyle/>
            <a:p>
              <a:pPr algn="l"/>
              <a:r>
                <a:rPr lang="en-US" sz="1120" b="1" dirty="0">
                  <a:solidFill>
                    <a:srgbClr val="37DCC0"/>
                  </a:solidFill>
                  <a:latin typeface="+mn-lt"/>
                  <a:ea typeface="+mn-ea"/>
                  <a:cs typeface="+mn-cs"/>
                </a:rPr>
                <a:t>top on 7 datasets</a:t>
              </a:r>
            </a:p>
          </p:txBody>
        </p:sp>
        <p:sp>
          <p:nvSpPr>
            <p:cNvPr id="37" name="TextBox 37"/>
            <p:cNvSpPr txBox="1"/>
            <p:nvPr/>
          </p:nvSpPr>
          <p:spPr>
            <a:xfrm>
              <a:off x="6662738" y="3384947"/>
              <a:ext cx="2453252"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Medium, OAS, ESM-IF, Rosetta tie at 6</a:t>
              </a:r>
            </a:p>
          </p:txBody>
        </p:sp>
      </p:grpSp>
      <p:grpSp>
        <p:nvGrpSpPr>
          <p:cNvPr id="45" name="Group 45"/>
          <p:cNvGrpSpPr/>
          <p:nvPr/>
        </p:nvGrpSpPr>
        <p:grpSpPr>
          <a:xfrm>
            <a:off x="6438900" y="3790950"/>
            <a:ext cx="5219700" cy="1314450"/>
            <a:chOff x="6438900" y="3790950"/>
            <a:chExt cx="5219700" cy="1314450"/>
          </a:xfrm>
        </p:grpSpPr>
        <p:sp>
          <p:nvSpPr>
            <p:cNvPr id="39" name="Rectangle 39"/>
            <p:cNvSpPr/>
            <p:nvPr/>
          </p:nvSpPr>
          <p:spPr>
            <a:xfrm>
              <a:off x="6438900" y="3790950"/>
              <a:ext cx="5219700" cy="1314450"/>
            </a:xfrm>
            <a:prstGeom prst="roundRect">
              <a:avLst>
                <a:gd name="adj" fmla="val 10145"/>
              </a:avLst>
            </a:prstGeom>
            <a:solidFill>
              <a:schemeClr val="accent5"/>
            </a:solidFill>
            <a:ln w="11430">
              <a:solidFill>
                <a:schemeClr val="accent4"/>
              </a:solidFill>
            </a:ln>
          </p:spPr>
        </p:sp>
        <p:sp>
          <p:nvSpPr>
            <p:cNvPr id="40" name="Rectangle 40"/>
            <p:cNvSpPr/>
            <p:nvPr/>
          </p:nvSpPr>
          <p:spPr>
            <a:xfrm>
              <a:off x="6648450" y="4000500"/>
              <a:ext cx="47625" cy="285750"/>
            </a:xfrm>
            <a:prstGeom prst="roundRect">
              <a:avLst>
                <a:gd name="adj" fmla="val 50000"/>
              </a:avLst>
            </a:prstGeom>
            <a:solidFill>
              <a:srgbClr val="57D9A3"/>
            </a:solidFill>
            <a:ln>
              <a:noFill/>
            </a:ln>
          </p:spPr>
        </p:sp>
        <p:sp>
          <p:nvSpPr>
            <p:cNvPr id="41" name="TextBox 41"/>
            <p:cNvSpPr txBox="1"/>
            <p:nvPr/>
          </p:nvSpPr>
          <p:spPr>
            <a:xfrm>
              <a:off x="6832854" y="4061460"/>
              <a:ext cx="2171924"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Sequence beats structure</a:t>
              </a:r>
            </a:p>
          </p:txBody>
        </p:sp>
        <p:sp>
          <p:nvSpPr>
            <p:cNvPr id="42" name="TextBox 42"/>
            <p:cNvSpPr txBox="1"/>
            <p:nvPr/>
          </p:nvSpPr>
          <p:spPr>
            <a:xfrm>
              <a:off x="6643116" y="4363402"/>
              <a:ext cx="316761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Sequence-based models beat structure-based</a:t>
              </a:r>
            </a:p>
          </p:txBody>
        </p:sp>
        <p:sp>
          <p:nvSpPr>
            <p:cNvPr id="43" name="TextBox 43"/>
            <p:cNvSpPr txBox="1"/>
            <p:nvPr/>
          </p:nvSpPr>
          <p:spPr>
            <a:xfrm>
              <a:off x="6643116" y="4563428"/>
              <a:ext cx="266806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ones across every landscape, with the</a:t>
              </a:r>
            </a:p>
          </p:txBody>
        </p:sp>
        <p:sp>
          <p:nvSpPr>
            <p:cNvPr id="44" name="TextBox 44"/>
            <p:cNvSpPr txBox="1"/>
            <p:nvPr/>
          </p:nvSpPr>
          <p:spPr>
            <a:xfrm>
              <a:off x="6643116" y="4763452"/>
              <a:ext cx="220160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biggest gap on thermostability.</a:t>
              </a:r>
            </a:p>
          </p:txBody>
        </p:sp>
      </p:grpSp>
      <p:sp>
        <p:nvSpPr>
          <p:cNvPr id="46" name="cue_s07_c1_headline_result_reality_check" title="cue_s07_c1_headline_result_reality_check" descr="cue_s07_c1_headline_result_reality_check The headline result is a reality check."/>
          <p:cNvSpPr/>
          <p:nvPr/>
        </p:nvSpPr>
        <p:spPr>
          <a:xfrm>
            <a:off x="532790" y="1523847"/>
            <a:ext cx="111252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7_c2_correlates_well_all_six_properties" title="cue_s07_c2_correlates_well_all_six_properties" descr="cue_s07_c2_correlates_well_all_six_properties No model correlates well with all six properties, and even for a single property, performance swings widely from one dataset to another."/>
          <p:cNvSpPr/>
          <p:nvPr/>
        </p:nvSpPr>
        <p:spPr>
          <a:xfrm>
            <a:off x="532790" y="2285771"/>
            <a:ext cx="5676595" cy="28193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7_c3_progen2_small_most_frequent_winner_c" title="cue_s07_c3_progen2_small_most_frequent_winner_c" descr="cue_s07_c3_progen2_small_most_frequent_winner_c ProGen2-Small was the most frequent winner, coming out on top for seven datasets, while ProGen2-Medium, ProGen2-OAS, ESM-IF, and Rosetta energy tied just behind at six each."/>
          <p:cNvSpPr/>
          <p:nvPr/>
        </p:nvSpPr>
        <p:spPr>
          <a:xfrm>
            <a:off x="6438595" y="2285771"/>
            <a:ext cx="5219395" cy="13146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7_c4_notably_sequence_based_models_averag" title="cue_s07_c4_notably_sequence_based_models_averag" descr="cue_s07_c4_notably_sequence_based_models_averag Notably, sequence-based models on average beat structure-based ones across every landscape, with the biggest gap on thermostability, suggesting that raw sequence signal still carries most of the predictive power here."/>
          <p:cNvSpPr/>
          <p:nvPr/>
        </p:nvSpPr>
        <p:spPr>
          <a:xfrm>
            <a:off x="6438595" y="3791102"/>
            <a:ext cx="5219395" cy="13146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963101"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ABLATION</a:t>
            </a:r>
          </a:p>
        </p:txBody>
      </p:sp>
      <p:sp>
        <p:nvSpPr>
          <p:cNvPr id="5" name="TextBox 5"/>
          <p:cNvSpPr txBox="1"/>
          <p:nvPr/>
        </p:nvSpPr>
        <p:spPr>
          <a:xfrm>
            <a:off x="518160" y="781050"/>
            <a:ext cx="7041011"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What actually drives performance</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08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23" name="Group 23"/>
          <p:cNvGrpSpPr/>
          <p:nvPr/>
        </p:nvGrpSpPr>
        <p:grpSpPr>
          <a:xfrm>
            <a:off x="533400" y="1524000"/>
            <a:ext cx="5676900" cy="2819400"/>
            <a:chOff x="533400" y="1524000"/>
            <a:chExt cx="5676900" cy="2819400"/>
          </a:xfrm>
        </p:grpSpPr>
        <p:sp>
          <p:nvSpPr>
            <p:cNvPr id="8" name="Rectangle 8"/>
            <p:cNvSpPr/>
            <p:nvPr/>
          </p:nvSpPr>
          <p:spPr>
            <a:xfrm>
              <a:off x="533400" y="1524000"/>
              <a:ext cx="5676900" cy="2819400"/>
            </a:xfrm>
            <a:prstGeom prst="roundRect">
              <a:avLst>
                <a:gd name="adj" fmla="val 4730"/>
              </a:avLst>
            </a:prstGeom>
            <a:solidFill>
              <a:schemeClr val="accent5"/>
            </a:solidFill>
            <a:ln w="11430">
              <a:solidFill>
                <a:schemeClr val="accent4"/>
              </a:solidFill>
            </a:ln>
          </p:spPr>
        </p:sp>
        <p:sp>
          <p:nvSpPr>
            <p:cNvPr id="9" name="Rectangle 9"/>
            <p:cNvSpPr/>
            <p:nvPr/>
          </p:nvSpPr>
          <p:spPr>
            <a:xfrm>
              <a:off x="742950" y="1752600"/>
              <a:ext cx="47625" cy="266700"/>
            </a:xfrm>
            <a:prstGeom prst="roundRect">
              <a:avLst>
                <a:gd name="adj" fmla="val 50000"/>
              </a:avLst>
            </a:prstGeom>
            <a:solidFill>
              <a:schemeClr val="accent2"/>
            </a:solidFill>
            <a:ln>
              <a:noFill/>
            </a:ln>
          </p:spPr>
        </p:sp>
        <p:sp>
          <p:nvSpPr>
            <p:cNvPr id="10" name="TextBox 10"/>
            <p:cNvSpPr txBox="1"/>
            <p:nvPr/>
          </p:nvSpPr>
          <p:spPr>
            <a:xfrm>
              <a:off x="907542" y="1797368"/>
              <a:ext cx="3760479"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Parameter count &gt; architecture or data</a:t>
              </a:r>
            </a:p>
          </p:txBody>
        </p:sp>
        <p:sp>
          <p:nvSpPr>
            <p:cNvPr id="11" name="TextBox 11"/>
            <p:cNvSpPr txBox="1"/>
            <p:nvPr/>
          </p:nvSpPr>
          <p:spPr>
            <a:xfrm>
              <a:off x="756476" y="2130504"/>
              <a:ext cx="420126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Encoder-only AntiBERTy and decoder-only IgLM, trained on</a:t>
              </a:r>
            </a:p>
          </p:txBody>
        </p:sp>
        <p:sp>
          <p:nvSpPr>
            <p:cNvPr id="12" name="TextBox 12"/>
            <p:cNvSpPr txBox="1"/>
            <p:nvPr/>
          </p:nvSpPr>
          <p:spPr>
            <a:xfrm>
              <a:off x="756476" y="2330529"/>
              <a:ext cx="360422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same 558M antibody sequences, behave almost</a:t>
              </a:r>
            </a:p>
          </p:txBody>
        </p:sp>
        <p:sp>
          <p:nvSpPr>
            <p:cNvPr id="13" name="TextBox 13"/>
            <p:cNvSpPr txBox="1"/>
            <p:nvPr/>
          </p:nvSpPr>
          <p:spPr>
            <a:xfrm>
              <a:off x="756476" y="2530554"/>
              <a:ext cx="83276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identically.</a:t>
              </a:r>
            </a:p>
          </p:txBody>
        </p:sp>
        <p:sp>
          <p:nvSpPr>
            <p:cNvPr id="14" name="Rectangle 14"/>
            <p:cNvSpPr/>
            <p:nvPr/>
          </p:nvSpPr>
          <p:spPr>
            <a:xfrm>
              <a:off x="762000" y="2933700"/>
              <a:ext cx="2419350" cy="876300"/>
            </a:xfrm>
            <a:prstGeom prst="roundRect">
              <a:avLst>
                <a:gd name="adj" fmla="val 13043"/>
              </a:avLst>
            </a:prstGeom>
            <a:solidFill>
              <a:schemeClr val="accent6"/>
            </a:solidFill>
            <a:ln w="11430">
              <a:solidFill>
                <a:srgbClr val="37DCC0"/>
              </a:solidFill>
            </a:ln>
          </p:spPr>
        </p:sp>
        <p:sp>
          <p:nvSpPr>
            <p:cNvPr id="15" name="TextBox 15"/>
            <p:cNvSpPr txBox="1"/>
            <p:nvPr/>
          </p:nvSpPr>
          <p:spPr>
            <a:xfrm>
              <a:off x="1526644" y="3119914"/>
              <a:ext cx="890063" cy="249364"/>
            </a:xfrm>
            <a:prstGeom prst="rect">
              <a:avLst/>
            </a:prstGeom>
            <a:noFill/>
            <a:ln>
              <a:noFill/>
            </a:ln>
          </p:spPr>
          <p:txBody>
            <a:bodyPr wrap="none" lIns="0" tIns="0" rIns="0" bIns="0" anchor="t" anchorCtr="0">
              <a:spAutoFit/>
            </a:bodyPr>
            <a:lstStyle/>
            <a:p>
              <a:pPr algn="ctr"/>
              <a:r>
                <a:rPr lang="en-US" sz="1280" b="1" dirty="0">
                  <a:solidFill>
                    <a:schemeClr val="dk1"/>
                  </a:solidFill>
                  <a:latin typeface="+mn-lt"/>
                  <a:ea typeface="+mn-ea"/>
                  <a:cs typeface="+mn-cs"/>
                </a:rPr>
                <a:t>AntiBERTy</a:t>
              </a:r>
            </a:p>
          </p:txBody>
        </p:sp>
        <p:sp>
          <p:nvSpPr>
            <p:cNvPr id="16" name="TextBox 16"/>
            <p:cNvSpPr txBox="1"/>
            <p:nvPr/>
          </p:nvSpPr>
          <p:spPr>
            <a:xfrm>
              <a:off x="1547852" y="3361849"/>
              <a:ext cx="847646"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encoder-only</a:t>
              </a:r>
            </a:p>
          </p:txBody>
        </p:sp>
        <p:sp>
          <p:nvSpPr>
            <p:cNvPr id="17" name="TextBox 17"/>
            <p:cNvSpPr txBox="1"/>
            <p:nvPr/>
          </p:nvSpPr>
          <p:spPr>
            <a:xfrm>
              <a:off x="1485290" y="3575447"/>
              <a:ext cx="972769" cy="183356"/>
            </a:xfrm>
            <a:prstGeom prst="rect">
              <a:avLst/>
            </a:prstGeom>
            <a:noFill/>
            <a:ln>
              <a:noFill/>
            </a:ln>
          </p:spPr>
          <p:txBody>
            <a:bodyPr wrap="none" lIns="0" tIns="0" rIns="0" bIns="0" anchor="t" anchorCtr="0">
              <a:spAutoFit/>
            </a:bodyPr>
            <a:lstStyle/>
            <a:p>
              <a:pPr algn="ctr"/>
              <a:r>
                <a:rPr lang="en-US" sz="940" b="1" dirty="0">
                  <a:solidFill>
                    <a:srgbClr val="37DCC0"/>
                  </a:solidFill>
                  <a:latin typeface="+mn-lt"/>
                  <a:ea typeface="+mn-ea"/>
                  <a:cs typeface="+mn-cs"/>
                </a:rPr>
                <a:t>558M OAS seqs</a:t>
              </a:r>
            </a:p>
          </p:txBody>
        </p:sp>
        <p:sp>
          <p:nvSpPr>
            <p:cNvPr id="18" name="TextBox 18"/>
            <p:cNvSpPr txBox="1"/>
            <p:nvPr/>
          </p:nvSpPr>
          <p:spPr>
            <a:xfrm>
              <a:off x="3259774" y="3153728"/>
              <a:ext cx="224153" cy="498729"/>
            </a:xfrm>
            <a:prstGeom prst="rect">
              <a:avLst/>
            </a:prstGeom>
            <a:noFill/>
            <a:ln>
              <a:noFill/>
            </a:ln>
          </p:spPr>
          <p:txBody>
            <a:bodyPr wrap="none" lIns="0" tIns="0" rIns="0" bIns="0" anchor="t" anchorCtr="0">
              <a:spAutoFit/>
            </a:bodyPr>
            <a:lstStyle/>
            <a:p>
              <a:pPr algn="ctr"/>
              <a:r>
                <a:rPr lang="en-US" sz="2550" b="1" dirty="0">
                  <a:solidFill>
                    <a:srgbClr val="F7B84B"/>
                  </a:solidFill>
                  <a:latin typeface="+mn-lt"/>
                  <a:ea typeface="+mn-ea"/>
                  <a:cs typeface="+mn-cs"/>
                </a:rPr>
                <a:t>≈</a:t>
              </a:r>
            </a:p>
          </p:txBody>
        </p:sp>
        <p:sp>
          <p:nvSpPr>
            <p:cNvPr id="19" name="Rectangle 19"/>
            <p:cNvSpPr/>
            <p:nvPr/>
          </p:nvSpPr>
          <p:spPr>
            <a:xfrm>
              <a:off x="3562350" y="2933700"/>
              <a:ext cx="2419350" cy="876300"/>
            </a:xfrm>
            <a:prstGeom prst="roundRect">
              <a:avLst>
                <a:gd name="adj" fmla="val 13043"/>
              </a:avLst>
            </a:prstGeom>
            <a:solidFill>
              <a:schemeClr val="accent6"/>
            </a:solidFill>
            <a:ln w="11430">
              <a:solidFill>
                <a:srgbClr val="37DCC0"/>
              </a:solidFill>
            </a:ln>
          </p:spPr>
        </p:sp>
        <p:sp>
          <p:nvSpPr>
            <p:cNvPr id="20" name="TextBox 20"/>
            <p:cNvSpPr txBox="1"/>
            <p:nvPr/>
          </p:nvSpPr>
          <p:spPr>
            <a:xfrm>
              <a:off x="4562792" y="3119914"/>
              <a:ext cx="418466" cy="249364"/>
            </a:xfrm>
            <a:prstGeom prst="rect">
              <a:avLst/>
            </a:prstGeom>
            <a:noFill/>
            <a:ln>
              <a:noFill/>
            </a:ln>
          </p:spPr>
          <p:txBody>
            <a:bodyPr wrap="none" lIns="0" tIns="0" rIns="0" bIns="0" anchor="t" anchorCtr="0">
              <a:spAutoFit/>
            </a:bodyPr>
            <a:lstStyle/>
            <a:p>
              <a:pPr algn="ctr"/>
              <a:r>
                <a:rPr lang="en-US" sz="1280" b="1" dirty="0">
                  <a:solidFill>
                    <a:schemeClr val="dk1"/>
                  </a:solidFill>
                  <a:latin typeface="+mn-lt"/>
                  <a:ea typeface="+mn-ea"/>
                  <a:cs typeface="+mn-cs"/>
                </a:rPr>
                <a:t>IgLM</a:t>
              </a:r>
            </a:p>
          </p:txBody>
        </p:sp>
        <p:sp>
          <p:nvSpPr>
            <p:cNvPr id="21" name="TextBox 21"/>
            <p:cNvSpPr txBox="1"/>
            <p:nvPr/>
          </p:nvSpPr>
          <p:spPr>
            <a:xfrm>
              <a:off x="4348202" y="3361849"/>
              <a:ext cx="847646"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decoder-only</a:t>
              </a:r>
            </a:p>
          </p:txBody>
        </p:sp>
        <p:sp>
          <p:nvSpPr>
            <p:cNvPr id="22" name="TextBox 22"/>
            <p:cNvSpPr txBox="1"/>
            <p:nvPr/>
          </p:nvSpPr>
          <p:spPr>
            <a:xfrm>
              <a:off x="4285640" y="3575447"/>
              <a:ext cx="972769" cy="183356"/>
            </a:xfrm>
            <a:prstGeom prst="rect">
              <a:avLst/>
            </a:prstGeom>
            <a:noFill/>
            <a:ln>
              <a:noFill/>
            </a:ln>
          </p:spPr>
          <p:txBody>
            <a:bodyPr wrap="none" lIns="0" tIns="0" rIns="0" bIns="0" anchor="t" anchorCtr="0">
              <a:spAutoFit/>
            </a:bodyPr>
            <a:lstStyle/>
            <a:p>
              <a:pPr algn="ctr"/>
              <a:r>
                <a:rPr lang="en-US" sz="940" b="1" dirty="0">
                  <a:solidFill>
                    <a:srgbClr val="37DCC0"/>
                  </a:solidFill>
                  <a:latin typeface="+mn-lt"/>
                  <a:ea typeface="+mn-ea"/>
                  <a:cs typeface="+mn-cs"/>
                </a:rPr>
                <a:t>558M OAS seqs</a:t>
              </a:r>
            </a:p>
          </p:txBody>
        </p:sp>
      </p:grpSp>
      <p:grpSp>
        <p:nvGrpSpPr>
          <p:cNvPr id="28" name="Group 28"/>
          <p:cNvGrpSpPr/>
          <p:nvPr/>
        </p:nvGrpSpPr>
        <p:grpSpPr>
          <a:xfrm>
            <a:off x="6438900" y="1524000"/>
            <a:ext cx="5219700" cy="863600"/>
            <a:chOff x="6438900" y="1524000"/>
            <a:chExt cx="5219700" cy="863600"/>
          </a:xfrm>
        </p:grpSpPr>
        <p:sp>
          <p:nvSpPr>
            <p:cNvPr id="24" name="Rectangle 24"/>
            <p:cNvSpPr/>
            <p:nvPr/>
          </p:nvSpPr>
          <p:spPr>
            <a:xfrm>
              <a:off x="6438900" y="1524000"/>
              <a:ext cx="5219700" cy="863600"/>
            </a:xfrm>
            <a:prstGeom prst="roundRect">
              <a:avLst>
                <a:gd name="adj" fmla="val 15441"/>
              </a:avLst>
            </a:prstGeom>
            <a:solidFill>
              <a:schemeClr val="accent5"/>
            </a:solidFill>
            <a:ln w="11430">
              <a:solidFill>
                <a:schemeClr val="accent4"/>
              </a:solidFill>
            </a:ln>
          </p:spPr>
        </p:sp>
        <p:sp>
          <p:nvSpPr>
            <p:cNvPr id="25" name="TextBox 25"/>
            <p:cNvSpPr txBox="1"/>
            <p:nvPr/>
          </p:nvSpPr>
          <p:spPr>
            <a:xfrm>
              <a:off x="6623876" y="1711404"/>
              <a:ext cx="2496459" cy="212693"/>
            </a:xfrm>
            <a:prstGeom prst="rect">
              <a:avLst/>
            </a:prstGeom>
            <a:noFill/>
            <a:ln>
              <a:noFill/>
            </a:ln>
          </p:spPr>
          <p:txBody>
            <a:bodyPr wrap="none" lIns="0" tIns="0" rIns="0" bIns="0" anchor="t" anchorCtr="0">
              <a:spAutoFit/>
            </a:bodyPr>
            <a:lstStyle/>
            <a:p>
              <a:pPr algn="l"/>
              <a:r>
                <a:rPr lang="en-US" sz="1090" b="1" dirty="0">
                  <a:solidFill>
                    <a:schemeClr val="accent2"/>
                  </a:solidFill>
                  <a:latin typeface="+mn-lt"/>
                  <a:ea typeface="+mn-ea"/>
                  <a:cs typeface="+mn-cs"/>
                </a:rPr>
                <a:t>Scaling helps only two properties</a:t>
              </a:r>
            </a:p>
          </p:txBody>
        </p:sp>
        <p:sp>
          <p:nvSpPr>
            <p:cNvPr id="26" name="TextBox 26"/>
            <p:cNvSpPr txBox="1"/>
            <p:nvPr/>
          </p:nvSpPr>
          <p:spPr>
            <a:xfrm>
              <a:off x="6624447" y="1952149"/>
              <a:ext cx="232476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ProGen2 151M -&gt; 6.4B improved only</a:t>
              </a:r>
            </a:p>
          </p:txBody>
        </p:sp>
        <p:sp>
          <p:nvSpPr>
            <p:cNvPr id="27" name="TextBox 27"/>
            <p:cNvSpPr txBox="1"/>
            <p:nvPr/>
          </p:nvSpPr>
          <p:spPr>
            <a:xfrm>
              <a:off x="6624447" y="2152174"/>
              <a:ext cx="231204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polyreactivity and thermostability.</a:t>
              </a:r>
            </a:p>
          </p:txBody>
        </p:sp>
      </p:grpSp>
      <p:grpSp>
        <p:nvGrpSpPr>
          <p:cNvPr id="34" name="Group 34"/>
          <p:cNvGrpSpPr/>
          <p:nvPr/>
        </p:nvGrpSpPr>
        <p:grpSpPr>
          <a:xfrm>
            <a:off x="6438900" y="2501900"/>
            <a:ext cx="5219700" cy="1018889"/>
            <a:chOff x="6438900" y="2501900"/>
            <a:chExt cx="5219700" cy="1018889"/>
          </a:xfrm>
        </p:grpSpPr>
        <p:sp>
          <p:nvSpPr>
            <p:cNvPr id="29" name="Rectangle 29"/>
            <p:cNvSpPr/>
            <p:nvPr/>
          </p:nvSpPr>
          <p:spPr>
            <a:xfrm>
              <a:off x="6438900" y="2501900"/>
              <a:ext cx="5219700" cy="863600"/>
            </a:xfrm>
            <a:prstGeom prst="roundRect">
              <a:avLst>
                <a:gd name="adj" fmla="val 15441"/>
              </a:avLst>
            </a:prstGeom>
            <a:solidFill>
              <a:schemeClr val="accent6"/>
            </a:solidFill>
            <a:ln w="11430">
              <a:solidFill>
                <a:srgbClr val="F2708A"/>
              </a:solidFill>
            </a:ln>
          </p:spPr>
        </p:sp>
        <p:sp>
          <p:nvSpPr>
            <p:cNvPr id="30" name="TextBox 30"/>
            <p:cNvSpPr txBox="1"/>
            <p:nvPr/>
          </p:nvSpPr>
          <p:spPr>
            <a:xfrm>
              <a:off x="6623876" y="2689304"/>
              <a:ext cx="1517981" cy="212693"/>
            </a:xfrm>
            <a:prstGeom prst="rect">
              <a:avLst/>
            </a:prstGeom>
            <a:noFill/>
            <a:ln>
              <a:noFill/>
            </a:ln>
          </p:spPr>
          <p:txBody>
            <a:bodyPr wrap="none" lIns="0" tIns="0" rIns="0" bIns="0" anchor="t" anchorCtr="0">
              <a:spAutoFit/>
            </a:bodyPr>
            <a:lstStyle/>
            <a:p>
              <a:pPr algn="l"/>
              <a:r>
                <a:rPr lang="en-US" sz="1090" b="1" dirty="0">
                  <a:solidFill>
                    <a:srgbClr val="F2708A"/>
                  </a:solidFill>
                  <a:latin typeface="+mn-lt"/>
                  <a:ea typeface="+mn-ea"/>
                  <a:cs typeface="+mn-cs"/>
                </a:rPr>
                <a:t>An evolutionary bias</a:t>
              </a:r>
            </a:p>
          </p:txBody>
        </p:sp>
        <p:sp>
          <p:nvSpPr>
            <p:cNvPr id="31" name="TextBox 31"/>
            <p:cNvSpPr txBox="1"/>
            <p:nvPr/>
          </p:nvSpPr>
          <p:spPr>
            <a:xfrm>
              <a:off x="6624447" y="2930049"/>
              <a:ext cx="312780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Language models rank wild-type golimumab above</a:t>
              </a:r>
            </a:p>
          </p:txBody>
        </p:sp>
        <p:sp>
          <p:nvSpPr>
            <p:cNvPr id="32" name="TextBox 32"/>
            <p:cNvSpPr txBox="1"/>
            <p:nvPr/>
          </p:nvSpPr>
          <p:spPr>
            <a:xfrm>
              <a:off x="6624447" y="3130074"/>
              <a:ext cx="318737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more thermostable mutants; Rosetta ranks them</a:t>
              </a:r>
            </a:p>
          </p:txBody>
        </p:sp>
        <p:sp>
          <p:nvSpPr>
            <p:cNvPr id="33" name="TextBox 33"/>
            <p:cNvSpPr txBox="1"/>
            <p:nvPr/>
          </p:nvSpPr>
          <p:spPr>
            <a:xfrm>
              <a:off x="6624447" y="3330099"/>
              <a:ext cx="41228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right.</a:t>
              </a:r>
            </a:p>
          </p:txBody>
        </p:sp>
      </p:grpSp>
      <p:grpSp>
        <p:nvGrpSpPr>
          <p:cNvPr id="40" name="Group 40"/>
          <p:cNvGrpSpPr/>
          <p:nvPr/>
        </p:nvGrpSpPr>
        <p:grpSpPr>
          <a:xfrm>
            <a:off x="6438900" y="3479800"/>
            <a:ext cx="5219700" cy="895064"/>
            <a:chOff x="6438900" y="3479800"/>
            <a:chExt cx="5219700" cy="895064"/>
          </a:xfrm>
        </p:grpSpPr>
        <p:sp>
          <p:nvSpPr>
            <p:cNvPr id="35" name="Rectangle 35"/>
            <p:cNvSpPr/>
            <p:nvPr/>
          </p:nvSpPr>
          <p:spPr>
            <a:xfrm>
              <a:off x="6438900" y="3479800"/>
              <a:ext cx="5219700" cy="863600"/>
            </a:xfrm>
            <a:prstGeom prst="roundRect">
              <a:avLst>
                <a:gd name="adj" fmla="val 15441"/>
              </a:avLst>
            </a:prstGeom>
            <a:solidFill>
              <a:schemeClr val="accent5"/>
            </a:solidFill>
            <a:ln w="11430">
              <a:solidFill>
                <a:srgbClr val="F7B84B"/>
              </a:solidFill>
            </a:ln>
          </p:spPr>
        </p:sp>
        <p:sp>
          <p:nvSpPr>
            <p:cNvPr id="36" name="Rectangle 36"/>
            <p:cNvSpPr/>
            <p:nvPr/>
          </p:nvSpPr>
          <p:spPr>
            <a:xfrm>
              <a:off x="6629400" y="3689350"/>
              <a:ext cx="47625" cy="228600"/>
            </a:xfrm>
            <a:prstGeom prst="roundRect">
              <a:avLst>
                <a:gd name="adj" fmla="val 50000"/>
              </a:avLst>
            </a:prstGeom>
            <a:solidFill>
              <a:srgbClr val="F7B84B"/>
            </a:solidFill>
            <a:ln>
              <a:noFill/>
            </a:ln>
          </p:spPr>
        </p:sp>
        <p:sp>
          <p:nvSpPr>
            <p:cNvPr id="37" name="TextBox 37"/>
            <p:cNvSpPr txBox="1"/>
            <p:nvPr/>
          </p:nvSpPr>
          <p:spPr>
            <a:xfrm>
              <a:off x="6795135" y="3739356"/>
              <a:ext cx="1876395" cy="220028"/>
            </a:xfrm>
            <a:prstGeom prst="rect">
              <a:avLst/>
            </a:prstGeom>
            <a:noFill/>
            <a:ln>
              <a:noFill/>
            </a:ln>
          </p:spPr>
          <p:txBody>
            <a:bodyPr wrap="none" lIns="0" tIns="0" rIns="0" bIns="0" anchor="t" anchorCtr="0">
              <a:spAutoFit/>
            </a:bodyPr>
            <a:lstStyle/>
            <a:p>
              <a:pPr algn="l"/>
              <a:r>
                <a:rPr lang="en-US" sz="1120" b="1" dirty="0">
                  <a:solidFill>
                    <a:srgbClr val="F7B84B"/>
                  </a:solidFill>
                  <a:latin typeface="+mn-lt"/>
                  <a:ea typeface="+mn-ea"/>
                  <a:cs typeface="+mn-cs"/>
                </a:rPr>
                <a:t>Likelihood is not fitness</a:t>
              </a:r>
            </a:p>
          </p:txBody>
        </p:sp>
        <p:sp>
          <p:nvSpPr>
            <p:cNvPr id="38" name="TextBox 38"/>
            <p:cNvSpPr txBox="1"/>
            <p:nvPr/>
          </p:nvSpPr>
          <p:spPr>
            <a:xfrm>
              <a:off x="6624447" y="3984149"/>
              <a:ext cx="277770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Evolutionary likelihood and physical fitness</a:t>
              </a:r>
            </a:p>
          </p:txBody>
        </p:sp>
        <p:sp>
          <p:nvSpPr>
            <p:cNvPr id="39" name="TextBox 39"/>
            <p:cNvSpPr txBox="1"/>
            <p:nvPr/>
          </p:nvSpPr>
          <p:spPr>
            <a:xfrm>
              <a:off x="6624447" y="4184174"/>
              <a:ext cx="154026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are not the same thing.</a:t>
              </a:r>
            </a:p>
          </p:txBody>
        </p:sp>
      </p:grpSp>
      <p:sp>
        <p:nvSpPr>
          <p:cNvPr id="41" name="cue_s08_c1_digging_what_drives_performance_auth" title="cue_s08_c1_digging_what_drives_performance_auth" descr="cue_s08_c1_digging_what_drives_performance_auth Digging into what drives performance, the authors find that parameter count matters more than architecture or training data. Encoder-only AntiBERTy and decoder-only IgLM, both trained on the same five hundred fifty eight million antibody sequences, behave almo"/>
          <p:cNvSpPr/>
          <p:nvPr/>
        </p:nvSpPr>
        <p:spPr>
          <a:xfrm>
            <a:off x="532790" y="1523847"/>
            <a:ext cx="5676595" cy="28193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8_c2_scaling_progen2_one_hundred_fifty" title="cue_s08_c2_scaling_progen2_one_hundred_fifty" descr="cue_s08_c2_scaling_progen2_one_hundred_fifty Scaling ProGen2 from one hundred fifty million up to over six billion parameters helped only two properties, polyreactivity and thermostability."/>
          <p:cNvSpPr/>
          <p:nvPr/>
        </p:nvSpPr>
        <p:spPr>
          <a:xfrm>
            <a:off x="6438595" y="1523847"/>
            <a:ext cx="5219395" cy="86342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8_c3_they_also_uncover_evolutionary_bias" title="cue_s08_c3_they_also_uncover_evolutionary_bias" descr="cue_s08_c3_they_also_uncover_evolutionary_bias They also uncover an evolutionary bias: several language models rank the wild-type golimumab antibody as fitter than mutants that are actually more thermostable, while physics-based Rosetta gets the ranking right."/>
          <p:cNvSpPr/>
          <p:nvPr/>
        </p:nvSpPr>
        <p:spPr>
          <a:xfrm>
            <a:off x="6438595" y="2501798"/>
            <a:ext cx="5219395" cy="101909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8_c4_reminder_evolutionary_likelihood_phy" title="cue_s08_c4_reminder_evolutionary_likelihood_phy" descr="cue_s08_c4_reminder_evolutionary_likelihood_phy It's a reminder that evolutionary likelihood and physical fitness are not the same thing."/>
          <p:cNvSpPr/>
          <p:nvPr/>
        </p:nvSpPr>
        <p:spPr>
          <a:xfrm>
            <a:off x="6438595" y="3479749"/>
            <a:ext cx="5219395" cy="894969"/>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665311"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BY THE NUMBERS</a:t>
            </a:r>
          </a:p>
        </p:txBody>
      </p:sp>
      <p:sp>
        <p:nvSpPr>
          <p:cNvPr id="5" name="TextBox 5"/>
          <p:cNvSpPr txBox="1"/>
          <p:nvPr/>
        </p:nvSpPr>
        <p:spPr>
          <a:xfrm>
            <a:off x="518160" y="781050"/>
            <a:ext cx="4752270"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The scope and the gaps</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09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1" name="Group 11"/>
          <p:cNvGrpSpPr/>
          <p:nvPr/>
        </p:nvGrpSpPr>
        <p:grpSpPr>
          <a:xfrm>
            <a:off x="533400" y="1524000"/>
            <a:ext cx="11125200" cy="495300"/>
            <a:chOff x="533400" y="1524000"/>
            <a:chExt cx="11125200" cy="495300"/>
          </a:xfrm>
        </p:grpSpPr>
        <p:sp>
          <p:nvSpPr>
            <p:cNvPr id="8" name="Rectangle 8"/>
            <p:cNvSpPr/>
            <p:nvPr/>
          </p:nvSpPr>
          <p:spPr>
            <a:xfrm>
              <a:off x="533400" y="1524000"/>
              <a:ext cx="11125200" cy="495300"/>
            </a:xfrm>
            <a:prstGeom prst="roundRect">
              <a:avLst>
                <a:gd name="adj" fmla="val 26923"/>
              </a:avLst>
            </a:prstGeom>
            <a:solidFill>
              <a:schemeClr val="accent5"/>
            </a:solidFill>
            <a:ln w="11430">
              <a:solidFill>
                <a:schemeClr val="accent4"/>
              </a:solidFill>
            </a:ln>
          </p:spPr>
        </p:sp>
        <p:sp>
          <p:nvSpPr>
            <p:cNvPr id="9" name="Rectangle 9"/>
            <p:cNvSpPr/>
            <p:nvPr/>
          </p:nvSpPr>
          <p:spPr>
            <a:xfrm>
              <a:off x="723900" y="1666875"/>
              <a:ext cx="47625" cy="228600"/>
            </a:xfrm>
            <a:prstGeom prst="roundRect">
              <a:avLst>
                <a:gd name="adj" fmla="val 50000"/>
              </a:avLst>
            </a:prstGeom>
            <a:solidFill>
              <a:srgbClr val="F7B84B"/>
            </a:solidFill>
            <a:ln>
              <a:noFill/>
            </a:ln>
          </p:spPr>
        </p:sp>
        <p:sp>
          <p:nvSpPr>
            <p:cNvPr id="10" name="TextBox 10"/>
            <p:cNvSpPr txBox="1"/>
            <p:nvPr/>
          </p:nvSpPr>
          <p:spPr>
            <a:xfrm>
              <a:off x="907542" y="1702118"/>
              <a:ext cx="5850614"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A few numbers capture both the scope of FLAb and its findings</a:t>
              </a:r>
            </a:p>
          </p:txBody>
        </p:sp>
      </p:grpSp>
      <p:grpSp>
        <p:nvGrpSpPr>
          <p:cNvPr id="28" name="Group 28"/>
          <p:cNvGrpSpPr/>
          <p:nvPr/>
        </p:nvGrpSpPr>
        <p:grpSpPr>
          <a:xfrm>
            <a:off x="533400" y="2209800"/>
            <a:ext cx="11125200" cy="1428750"/>
            <a:chOff x="533400" y="2209800"/>
            <a:chExt cx="11125200" cy="1428750"/>
          </a:xfrm>
        </p:grpSpPr>
        <p:sp>
          <p:nvSpPr>
            <p:cNvPr id="12" name="Rectangle 12"/>
            <p:cNvSpPr/>
            <p:nvPr/>
          </p:nvSpPr>
          <p:spPr>
            <a:xfrm>
              <a:off x="533400" y="2209800"/>
              <a:ext cx="2638425" cy="1428750"/>
            </a:xfrm>
            <a:prstGeom prst="roundRect">
              <a:avLst>
                <a:gd name="adj" fmla="val 9333"/>
              </a:avLst>
            </a:prstGeom>
            <a:solidFill>
              <a:schemeClr val="accent5"/>
            </a:solidFill>
            <a:ln w="11430">
              <a:solidFill>
                <a:schemeClr val="accent4"/>
              </a:solidFill>
            </a:ln>
          </p:spPr>
        </p:sp>
        <p:sp>
          <p:nvSpPr>
            <p:cNvPr id="13" name="Rectangle 13"/>
            <p:cNvSpPr/>
            <p:nvPr/>
          </p:nvSpPr>
          <p:spPr>
            <a:xfrm>
              <a:off x="742950" y="2438400"/>
              <a:ext cx="47625" cy="228600"/>
            </a:xfrm>
            <a:prstGeom prst="roundRect">
              <a:avLst>
                <a:gd name="adj" fmla="val 50000"/>
              </a:avLst>
            </a:prstGeom>
            <a:solidFill>
              <a:srgbClr val="F7B84B"/>
            </a:solidFill>
            <a:ln>
              <a:noFill/>
            </a:ln>
          </p:spPr>
        </p:sp>
        <p:sp>
          <p:nvSpPr>
            <p:cNvPr id="14" name="TextBox 14"/>
            <p:cNvSpPr txBox="1"/>
            <p:nvPr/>
          </p:nvSpPr>
          <p:spPr>
            <a:xfrm>
              <a:off x="994700" y="2735580"/>
              <a:ext cx="1715826" cy="704088"/>
            </a:xfrm>
            <a:prstGeom prst="rect">
              <a:avLst/>
            </a:prstGeom>
            <a:noFill/>
            <a:ln>
              <a:noFill/>
            </a:ln>
          </p:spPr>
          <p:txBody>
            <a:bodyPr wrap="none" lIns="0" tIns="0" rIns="0" bIns="0" anchor="t" anchorCtr="0">
              <a:spAutoFit/>
            </a:bodyPr>
            <a:lstStyle/>
            <a:p>
              <a:pPr algn="ctr"/>
              <a:r>
                <a:rPr lang="en-US" sz="3600" b="1" dirty="0">
                  <a:solidFill>
                    <a:srgbClr val="F7B84B"/>
                  </a:solidFill>
                  <a:latin typeface="+mn-lt"/>
                  <a:ea typeface="+mn-ea"/>
                  <a:cs typeface="+mn-cs"/>
                </a:rPr>
                <a:t>13,384</a:t>
              </a:r>
            </a:p>
          </p:txBody>
        </p:sp>
        <p:sp>
          <p:nvSpPr>
            <p:cNvPr id="15" name="TextBox 15"/>
            <p:cNvSpPr txBox="1"/>
            <p:nvPr/>
          </p:nvSpPr>
          <p:spPr>
            <a:xfrm>
              <a:off x="1069402" y="3300651"/>
              <a:ext cx="1566420" cy="198025"/>
            </a:xfrm>
            <a:prstGeom prst="rect">
              <a:avLst/>
            </a:prstGeom>
            <a:noFill/>
            <a:ln>
              <a:noFill/>
            </a:ln>
          </p:spPr>
          <p:txBody>
            <a:bodyPr wrap="none" lIns="0" tIns="0" rIns="0" bIns="0" anchor="t" anchorCtr="0">
              <a:spAutoFit/>
            </a:bodyPr>
            <a:lstStyle/>
            <a:p>
              <a:pPr algn="ctr"/>
              <a:r>
                <a:rPr lang="en-US" sz="1010" b="1" dirty="0">
                  <a:solidFill>
                    <a:schemeClr val="dk2"/>
                  </a:solidFill>
                  <a:latin typeface="+mn-lt"/>
                  <a:ea typeface="+mn-ea"/>
                  <a:cs typeface="+mn-cs"/>
                </a:rPr>
                <a:t>fitness measurements</a:t>
              </a:r>
            </a:p>
          </p:txBody>
        </p:sp>
        <p:sp>
          <p:nvSpPr>
            <p:cNvPr id="16" name="Rectangle 16"/>
            <p:cNvSpPr/>
            <p:nvPr/>
          </p:nvSpPr>
          <p:spPr>
            <a:xfrm>
              <a:off x="3362325" y="2209800"/>
              <a:ext cx="2638425" cy="1428750"/>
            </a:xfrm>
            <a:prstGeom prst="roundRect">
              <a:avLst>
                <a:gd name="adj" fmla="val 9333"/>
              </a:avLst>
            </a:prstGeom>
            <a:solidFill>
              <a:schemeClr val="accent5"/>
            </a:solidFill>
            <a:ln w="11430">
              <a:solidFill>
                <a:schemeClr val="accent4"/>
              </a:solidFill>
            </a:ln>
          </p:spPr>
        </p:sp>
        <p:sp>
          <p:nvSpPr>
            <p:cNvPr id="17" name="Rectangle 17"/>
            <p:cNvSpPr/>
            <p:nvPr/>
          </p:nvSpPr>
          <p:spPr>
            <a:xfrm>
              <a:off x="3571875" y="2438400"/>
              <a:ext cx="47625" cy="228600"/>
            </a:xfrm>
            <a:prstGeom prst="roundRect">
              <a:avLst>
                <a:gd name="adj" fmla="val 50000"/>
              </a:avLst>
            </a:prstGeom>
            <a:solidFill>
              <a:schemeClr val="accent2"/>
            </a:solidFill>
            <a:ln>
              <a:noFill/>
            </a:ln>
          </p:spPr>
        </p:sp>
        <p:sp>
          <p:nvSpPr>
            <p:cNvPr id="18" name="TextBox 18"/>
            <p:cNvSpPr txBox="1"/>
            <p:nvPr/>
          </p:nvSpPr>
          <p:spPr>
            <a:xfrm>
              <a:off x="4383375" y="2735580"/>
              <a:ext cx="596326" cy="704088"/>
            </a:xfrm>
            <a:prstGeom prst="rect">
              <a:avLst/>
            </a:prstGeom>
            <a:noFill/>
            <a:ln>
              <a:noFill/>
            </a:ln>
          </p:spPr>
          <p:txBody>
            <a:bodyPr wrap="none" lIns="0" tIns="0" rIns="0" bIns="0" anchor="t" anchorCtr="0">
              <a:spAutoFit/>
            </a:bodyPr>
            <a:lstStyle/>
            <a:p>
              <a:pPr algn="ctr"/>
              <a:r>
                <a:rPr lang="en-US" sz="3600" b="1" dirty="0">
                  <a:solidFill>
                    <a:schemeClr val="accent2"/>
                  </a:solidFill>
                  <a:latin typeface="+mn-lt"/>
                  <a:ea typeface="+mn-ea"/>
                  <a:cs typeface="+mn-cs"/>
                </a:rPr>
                <a:t>17</a:t>
              </a:r>
            </a:p>
          </p:txBody>
        </p:sp>
        <p:sp>
          <p:nvSpPr>
            <p:cNvPr id="19" name="TextBox 19"/>
            <p:cNvSpPr txBox="1"/>
            <p:nvPr/>
          </p:nvSpPr>
          <p:spPr>
            <a:xfrm>
              <a:off x="3909035" y="3300651"/>
              <a:ext cx="1545005" cy="198025"/>
            </a:xfrm>
            <a:prstGeom prst="rect">
              <a:avLst/>
            </a:prstGeom>
            <a:noFill/>
            <a:ln>
              <a:noFill/>
            </a:ln>
          </p:spPr>
          <p:txBody>
            <a:bodyPr wrap="none" lIns="0" tIns="0" rIns="0" bIns="0" anchor="t" anchorCtr="0">
              <a:spAutoFit/>
            </a:bodyPr>
            <a:lstStyle/>
            <a:p>
              <a:pPr algn="ctr"/>
              <a:r>
                <a:rPr lang="en-US" sz="1010" b="1" dirty="0">
                  <a:solidFill>
                    <a:schemeClr val="dk2"/>
                  </a:solidFill>
                  <a:latin typeface="+mn-lt"/>
                  <a:ea typeface="+mn-ea"/>
                  <a:cs typeface="+mn-cs"/>
                </a:rPr>
                <a:t>mutational landscapes</a:t>
              </a:r>
            </a:p>
          </p:txBody>
        </p:sp>
        <p:sp>
          <p:nvSpPr>
            <p:cNvPr id="20" name="Rectangle 20"/>
            <p:cNvSpPr/>
            <p:nvPr/>
          </p:nvSpPr>
          <p:spPr>
            <a:xfrm>
              <a:off x="6191250" y="2209800"/>
              <a:ext cx="2638425" cy="1428750"/>
            </a:xfrm>
            <a:prstGeom prst="roundRect">
              <a:avLst>
                <a:gd name="adj" fmla="val 9333"/>
              </a:avLst>
            </a:prstGeom>
            <a:solidFill>
              <a:schemeClr val="accent5"/>
            </a:solidFill>
            <a:ln w="11430">
              <a:solidFill>
                <a:schemeClr val="accent4"/>
              </a:solidFill>
            </a:ln>
          </p:spPr>
        </p:sp>
        <p:sp>
          <p:nvSpPr>
            <p:cNvPr id="21" name="Rectangle 21"/>
            <p:cNvSpPr/>
            <p:nvPr/>
          </p:nvSpPr>
          <p:spPr>
            <a:xfrm>
              <a:off x="6400800" y="2438400"/>
              <a:ext cx="47625" cy="228600"/>
            </a:xfrm>
            <a:prstGeom prst="roundRect">
              <a:avLst>
                <a:gd name="adj" fmla="val 50000"/>
              </a:avLst>
            </a:prstGeom>
            <a:solidFill>
              <a:srgbClr val="37DCC0"/>
            </a:solidFill>
            <a:ln>
              <a:noFill/>
            </a:ln>
          </p:spPr>
        </p:sp>
        <p:sp>
          <p:nvSpPr>
            <p:cNvPr id="22" name="TextBox 22"/>
            <p:cNvSpPr txBox="1"/>
            <p:nvPr/>
          </p:nvSpPr>
          <p:spPr>
            <a:xfrm>
              <a:off x="7352237" y="2735580"/>
              <a:ext cx="316451" cy="704088"/>
            </a:xfrm>
            <a:prstGeom prst="rect">
              <a:avLst/>
            </a:prstGeom>
            <a:noFill/>
            <a:ln>
              <a:noFill/>
            </a:ln>
          </p:spPr>
          <p:txBody>
            <a:bodyPr wrap="none" lIns="0" tIns="0" rIns="0" bIns="0" anchor="t" anchorCtr="0">
              <a:spAutoFit/>
            </a:bodyPr>
            <a:lstStyle/>
            <a:p>
              <a:pPr algn="ctr"/>
              <a:r>
                <a:rPr lang="en-US" sz="3600" b="1" dirty="0">
                  <a:solidFill>
                    <a:srgbClr val="37DCC0"/>
                  </a:solidFill>
                  <a:latin typeface="+mn-lt"/>
                  <a:ea typeface="+mn-ea"/>
                  <a:cs typeface="+mn-cs"/>
                </a:rPr>
                <a:t>6</a:t>
              </a:r>
            </a:p>
          </p:txBody>
        </p:sp>
        <p:sp>
          <p:nvSpPr>
            <p:cNvPr id="23" name="TextBox 23"/>
            <p:cNvSpPr txBox="1"/>
            <p:nvPr/>
          </p:nvSpPr>
          <p:spPr>
            <a:xfrm>
              <a:off x="6630886" y="3300651"/>
              <a:ext cx="1759152" cy="198025"/>
            </a:xfrm>
            <a:prstGeom prst="rect">
              <a:avLst/>
            </a:prstGeom>
            <a:noFill/>
            <a:ln>
              <a:noFill/>
            </a:ln>
          </p:spPr>
          <p:txBody>
            <a:bodyPr wrap="none" lIns="0" tIns="0" rIns="0" bIns="0" anchor="t" anchorCtr="0">
              <a:spAutoFit/>
            </a:bodyPr>
            <a:lstStyle/>
            <a:p>
              <a:pPr algn="ctr"/>
              <a:r>
                <a:rPr lang="en-US" sz="1010" b="1" dirty="0">
                  <a:solidFill>
                    <a:schemeClr val="dk2"/>
                  </a:solidFill>
                  <a:latin typeface="+mn-lt"/>
                  <a:ea typeface="+mn-ea"/>
                  <a:cs typeface="+mn-cs"/>
                </a:rPr>
                <a:t>developability properties</a:t>
              </a:r>
            </a:p>
          </p:txBody>
        </p:sp>
        <p:sp>
          <p:nvSpPr>
            <p:cNvPr id="24" name="Rectangle 24"/>
            <p:cNvSpPr/>
            <p:nvPr/>
          </p:nvSpPr>
          <p:spPr>
            <a:xfrm>
              <a:off x="9020175" y="2209800"/>
              <a:ext cx="2638425" cy="1428750"/>
            </a:xfrm>
            <a:prstGeom prst="roundRect">
              <a:avLst>
                <a:gd name="adj" fmla="val 9333"/>
              </a:avLst>
            </a:prstGeom>
            <a:solidFill>
              <a:schemeClr val="accent5"/>
            </a:solidFill>
            <a:ln w="11430">
              <a:solidFill>
                <a:schemeClr val="accent4"/>
              </a:solidFill>
            </a:ln>
          </p:spPr>
        </p:sp>
        <p:sp>
          <p:nvSpPr>
            <p:cNvPr id="25" name="Rectangle 25"/>
            <p:cNvSpPr/>
            <p:nvPr/>
          </p:nvSpPr>
          <p:spPr>
            <a:xfrm>
              <a:off x="9229725" y="2438400"/>
              <a:ext cx="47625" cy="228600"/>
            </a:xfrm>
            <a:prstGeom prst="roundRect">
              <a:avLst>
                <a:gd name="adj" fmla="val 50000"/>
              </a:avLst>
            </a:prstGeom>
            <a:solidFill>
              <a:srgbClr val="57D9A3"/>
            </a:solidFill>
            <a:ln>
              <a:noFill/>
            </a:ln>
          </p:spPr>
        </p:sp>
        <p:sp>
          <p:nvSpPr>
            <p:cNvPr id="26" name="TextBox 26"/>
            <p:cNvSpPr txBox="1"/>
            <p:nvPr/>
          </p:nvSpPr>
          <p:spPr>
            <a:xfrm>
              <a:off x="10181162" y="2735580"/>
              <a:ext cx="316451" cy="704088"/>
            </a:xfrm>
            <a:prstGeom prst="rect">
              <a:avLst/>
            </a:prstGeom>
            <a:noFill/>
            <a:ln>
              <a:noFill/>
            </a:ln>
          </p:spPr>
          <p:txBody>
            <a:bodyPr wrap="none" lIns="0" tIns="0" rIns="0" bIns="0" anchor="t" anchorCtr="0">
              <a:spAutoFit/>
            </a:bodyPr>
            <a:lstStyle/>
            <a:p>
              <a:pPr algn="ctr"/>
              <a:r>
                <a:rPr lang="en-US" sz="3600" b="1" dirty="0">
                  <a:solidFill>
                    <a:srgbClr val="57D9A3"/>
                  </a:solidFill>
                  <a:latin typeface="+mn-lt"/>
                  <a:ea typeface="+mn-ea"/>
                  <a:cs typeface="+mn-cs"/>
                </a:rPr>
                <a:t>6</a:t>
              </a:r>
            </a:p>
          </p:txBody>
        </p:sp>
        <p:sp>
          <p:nvSpPr>
            <p:cNvPr id="27" name="TextBox 27"/>
            <p:cNvSpPr txBox="1"/>
            <p:nvPr/>
          </p:nvSpPr>
          <p:spPr>
            <a:xfrm>
              <a:off x="9703710" y="3300651"/>
              <a:ext cx="1271356" cy="198025"/>
            </a:xfrm>
            <a:prstGeom prst="rect">
              <a:avLst/>
            </a:prstGeom>
            <a:noFill/>
            <a:ln>
              <a:noFill/>
            </a:ln>
          </p:spPr>
          <p:txBody>
            <a:bodyPr wrap="none" lIns="0" tIns="0" rIns="0" bIns="0" anchor="t" anchorCtr="0">
              <a:spAutoFit/>
            </a:bodyPr>
            <a:lstStyle/>
            <a:p>
              <a:pPr algn="ctr"/>
              <a:r>
                <a:rPr lang="en-US" sz="1010" b="1" dirty="0">
                  <a:solidFill>
                    <a:schemeClr val="dk2"/>
                  </a:solidFill>
                  <a:latin typeface="+mn-lt"/>
                  <a:ea typeface="+mn-ea"/>
                  <a:cs typeface="+mn-cs"/>
                </a:rPr>
                <a:t>models vs Rosetta</a:t>
              </a:r>
            </a:p>
          </p:txBody>
        </p:sp>
      </p:grpSp>
      <p:grpSp>
        <p:nvGrpSpPr>
          <p:cNvPr id="35" name="Group 35"/>
          <p:cNvGrpSpPr/>
          <p:nvPr/>
        </p:nvGrpSpPr>
        <p:grpSpPr>
          <a:xfrm>
            <a:off x="533400" y="3867150"/>
            <a:ext cx="5562600" cy="1428750"/>
            <a:chOff x="533400" y="3867150"/>
            <a:chExt cx="5562600" cy="1428750"/>
          </a:xfrm>
        </p:grpSpPr>
        <p:sp>
          <p:nvSpPr>
            <p:cNvPr id="29" name="Rectangle 29"/>
            <p:cNvSpPr/>
            <p:nvPr/>
          </p:nvSpPr>
          <p:spPr>
            <a:xfrm>
              <a:off x="533400" y="3867150"/>
              <a:ext cx="5562600" cy="1428750"/>
            </a:xfrm>
            <a:prstGeom prst="roundRect">
              <a:avLst>
                <a:gd name="adj" fmla="val 9333"/>
              </a:avLst>
            </a:prstGeom>
            <a:solidFill>
              <a:schemeClr val="accent6"/>
            </a:solidFill>
            <a:ln w="12382">
              <a:solidFill>
                <a:srgbClr val="57D9A3"/>
              </a:solidFill>
            </a:ln>
          </p:spPr>
        </p:sp>
        <p:sp>
          <p:nvSpPr>
            <p:cNvPr id="30" name="TextBox 30"/>
            <p:cNvSpPr txBox="1"/>
            <p:nvPr/>
          </p:nvSpPr>
          <p:spPr>
            <a:xfrm>
              <a:off x="717994" y="4084558"/>
              <a:ext cx="3853813" cy="227362"/>
            </a:xfrm>
            <a:prstGeom prst="rect">
              <a:avLst/>
            </a:prstGeom>
            <a:noFill/>
            <a:ln>
              <a:noFill/>
            </a:ln>
          </p:spPr>
          <p:txBody>
            <a:bodyPr wrap="none" lIns="0" tIns="0" rIns="0" bIns="0" anchor="t" anchorCtr="0">
              <a:spAutoFit/>
            </a:bodyPr>
            <a:lstStyle/>
            <a:p>
              <a:pPr algn="l"/>
              <a:r>
                <a:rPr lang="en-US" sz="1160" b="1" dirty="0">
                  <a:solidFill>
                    <a:srgbClr val="57D9A3"/>
                  </a:solidFill>
                  <a:latin typeface="+mn-lt"/>
                  <a:ea typeface="+mn-ea"/>
                  <a:cs typeface="+mn-cs"/>
                </a:rPr>
                <a:t>Intrinsic properties are captured; extrinsic lag</a:t>
              </a:r>
            </a:p>
          </p:txBody>
        </p:sp>
        <p:sp>
          <p:nvSpPr>
            <p:cNvPr id="31" name="TextBox 31"/>
            <p:cNvSpPr txBox="1"/>
            <p:nvPr/>
          </p:nvSpPr>
          <p:spPr>
            <a:xfrm>
              <a:off x="713994" y="4380548"/>
              <a:ext cx="1490556"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Consolas"/>
                  <a:ea typeface="Consolas"/>
                  <a:cs typeface="Consolas"/>
                </a:rPr>
                <a:t>|PCC| &gt; 0.6</a:t>
              </a:r>
            </a:p>
          </p:txBody>
        </p:sp>
        <p:sp>
          <p:nvSpPr>
            <p:cNvPr id="32" name="TextBox 32"/>
            <p:cNvSpPr txBox="1"/>
            <p:nvPr/>
          </p:nvSpPr>
          <p:spPr>
            <a:xfrm>
              <a:off x="2280856" y="4424601"/>
              <a:ext cx="133595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intrinsic properties</a:t>
              </a:r>
            </a:p>
          </p:txBody>
        </p:sp>
        <p:sp>
          <p:nvSpPr>
            <p:cNvPr id="33" name="TextBox 33"/>
            <p:cNvSpPr txBox="1"/>
            <p:nvPr/>
          </p:nvSpPr>
          <p:spPr>
            <a:xfrm>
              <a:off x="2281238" y="4627245"/>
              <a:ext cx="1832953" cy="176212"/>
            </a:xfrm>
            <a:prstGeom prst="rect">
              <a:avLst/>
            </a:prstGeom>
            <a:noFill/>
            <a:ln>
              <a:noFill/>
            </a:ln>
          </p:spPr>
          <p:txBody>
            <a:bodyPr wrap="none" lIns="0" tIns="0" rIns="0" bIns="0" anchor="t" anchorCtr="0">
              <a:spAutoFit/>
            </a:bodyPr>
            <a:lstStyle/>
            <a:p>
              <a:pPr algn="l"/>
              <a:r>
                <a:rPr lang="en-US" sz="900" dirty="0">
                  <a:solidFill>
                    <a:srgbClr val="6E85AC"/>
                  </a:solidFill>
                  <a:latin typeface="+mn-lt"/>
                  <a:ea typeface="+mn-ea"/>
                  <a:cs typeface="+mn-cs"/>
                </a:rPr>
                <a:t>(driven by the antibody itself)</a:t>
              </a:r>
            </a:p>
          </p:txBody>
        </p:sp>
        <p:sp>
          <p:nvSpPr>
            <p:cNvPr id="34" name="TextBox 34"/>
            <p:cNvSpPr txBox="1"/>
            <p:nvPr/>
          </p:nvSpPr>
          <p:spPr>
            <a:xfrm>
              <a:off x="718947" y="4904899"/>
              <a:ext cx="4511935" cy="190690"/>
            </a:xfrm>
            <a:prstGeom prst="rect">
              <a:avLst/>
            </a:prstGeom>
            <a:noFill/>
            <a:ln>
              <a:noFill/>
            </a:ln>
          </p:spPr>
          <p:txBody>
            <a:bodyPr wrap="none" lIns="0" tIns="0" rIns="0" bIns="0" anchor="t" anchorCtr="0">
              <a:spAutoFit/>
            </a:bodyPr>
            <a:lstStyle/>
            <a:p>
              <a:pPr algn="l"/>
              <a:r>
                <a:rPr lang="en-US" sz="980" b="1" dirty="0">
                  <a:solidFill>
                    <a:srgbClr val="F7B84B"/>
                  </a:solidFill>
                  <a:latin typeface="+mn-lt"/>
                  <a:ea typeface="+mn-ea"/>
                  <a:cs typeface="+mn-cs"/>
                </a:rPr>
                <a:t>extrinsic: binding &lt; 0.4 · expression &lt; 0.42 · immunogenicity &lt; 0.5</a:t>
              </a:r>
            </a:p>
          </p:txBody>
        </p:sp>
      </p:grpSp>
      <p:grpSp>
        <p:nvGrpSpPr>
          <p:cNvPr id="43" name="Group 43"/>
          <p:cNvGrpSpPr/>
          <p:nvPr/>
        </p:nvGrpSpPr>
        <p:grpSpPr>
          <a:xfrm>
            <a:off x="6324600" y="3867150"/>
            <a:ext cx="5334000" cy="1428750"/>
            <a:chOff x="6324600" y="3867150"/>
            <a:chExt cx="5334000" cy="1428750"/>
          </a:xfrm>
        </p:grpSpPr>
        <p:sp>
          <p:nvSpPr>
            <p:cNvPr id="36" name="Rectangle 36"/>
            <p:cNvSpPr/>
            <p:nvPr/>
          </p:nvSpPr>
          <p:spPr>
            <a:xfrm>
              <a:off x="6324600" y="3867150"/>
              <a:ext cx="5334000" cy="1428750"/>
            </a:xfrm>
            <a:prstGeom prst="roundRect">
              <a:avLst>
                <a:gd name="adj" fmla="val 9333"/>
              </a:avLst>
            </a:prstGeom>
            <a:solidFill>
              <a:schemeClr val="accent6"/>
            </a:solidFill>
            <a:ln w="12382">
              <a:solidFill>
                <a:schemeClr val="accent2"/>
              </a:solidFill>
            </a:ln>
          </p:spPr>
        </p:sp>
        <p:sp>
          <p:nvSpPr>
            <p:cNvPr id="37" name="TextBox 37"/>
            <p:cNvSpPr txBox="1"/>
            <p:nvPr/>
          </p:nvSpPr>
          <p:spPr>
            <a:xfrm>
              <a:off x="6528626" y="4073604"/>
              <a:ext cx="2612239" cy="212693"/>
            </a:xfrm>
            <a:prstGeom prst="rect">
              <a:avLst/>
            </a:prstGeom>
            <a:noFill/>
            <a:ln>
              <a:noFill/>
            </a:ln>
          </p:spPr>
          <p:txBody>
            <a:bodyPr wrap="none" lIns="0" tIns="0" rIns="0" bIns="0" anchor="t" anchorCtr="0">
              <a:spAutoFit/>
            </a:bodyPr>
            <a:lstStyle/>
            <a:p>
              <a:pPr algn="l"/>
              <a:r>
                <a:rPr lang="en-US" sz="1090" b="1" dirty="0">
                  <a:solidFill>
                    <a:schemeClr val="accent2"/>
                  </a:solidFill>
                  <a:latin typeface="+mn-lt"/>
                  <a:ea typeface="+mn-ea"/>
                  <a:cs typeface="+mn-cs"/>
                </a:rPr>
                <a:t>Within a family vs. across families</a:t>
              </a:r>
            </a:p>
          </p:txBody>
        </p:sp>
        <p:sp>
          <p:nvSpPr>
            <p:cNvPr id="38" name="TextBox 38"/>
            <p:cNvSpPr txBox="1"/>
            <p:nvPr/>
          </p:nvSpPr>
          <p:spPr>
            <a:xfrm>
              <a:off x="6517386" y="4387215"/>
              <a:ext cx="1059736" cy="645414"/>
            </a:xfrm>
            <a:prstGeom prst="rect">
              <a:avLst/>
            </a:prstGeom>
            <a:noFill/>
            <a:ln>
              <a:noFill/>
            </a:ln>
          </p:spPr>
          <p:txBody>
            <a:bodyPr wrap="none" lIns="0" tIns="0" rIns="0" bIns="0" anchor="t" anchorCtr="0">
              <a:spAutoFit/>
            </a:bodyPr>
            <a:lstStyle/>
            <a:p>
              <a:pPr algn="l"/>
              <a:r>
                <a:rPr lang="en-US" sz="3300" b="1" dirty="0">
                  <a:solidFill>
                    <a:srgbClr val="57D9A3"/>
                  </a:solidFill>
                  <a:latin typeface="+mn-lt"/>
                  <a:ea typeface="+mn-ea"/>
                  <a:cs typeface="+mn-cs"/>
                </a:rPr>
                <a:t>0.77</a:t>
              </a:r>
            </a:p>
          </p:txBody>
        </p:sp>
        <p:sp>
          <p:nvSpPr>
            <p:cNvPr id="39" name="TextBox 39"/>
            <p:cNvSpPr txBox="1"/>
            <p:nvPr/>
          </p:nvSpPr>
          <p:spPr>
            <a:xfrm>
              <a:off x="7652956" y="4577001"/>
              <a:ext cx="68332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within one</a:t>
              </a:r>
            </a:p>
          </p:txBody>
        </p:sp>
        <p:sp>
          <p:nvSpPr>
            <p:cNvPr id="40" name="TextBox 40"/>
            <p:cNvSpPr txBox="1"/>
            <p:nvPr/>
          </p:nvSpPr>
          <p:spPr>
            <a:xfrm>
              <a:off x="7652956" y="4767501"/>
              <a:ext cx="41818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family</a:t>
              </a:r>
            </a:p>
          </p:txBody>
        </p:sp>
        <p:sp>
          <p:nvSpPr>
            <p:cNvPr id="41" name="TextBox 41"/>
            <p:cNvSpPr txBox="1"/>
            <p:nvPr/>
          </p:nvSpPr>
          <p:spPr>
            <a:xfrm>
              <a:off x="10406078" y="4387215"/>
              <a:ext cx="1059736" cy="645414"/>
            </a:xfrm>
            <a:prstGeom prst="rect">
              <a:avLst/>
            </a:prstGeom>
            <a:noFill/>
            <a:ln>
              <a:noFill/>
            </a:ln>
          </p:spPr>
          <p:txBody>
            <a:bodyPr wrap="none" lIns="0" tIns="0" rIns="0" bIns="0" anchor="t" anchorCtr="0">
              <a:spAutoFit/>
            </a:bodyPr>
            <a:lstStyle/>
            <a:p>
              <a:pPr algn="r"/>
              <a:r>
                <a:rPr lang="en-US" sz="3300" b="1" dirty="0">
                  <a:solidFill>
                    <a:srgbClr val="F2708A"/>
                  </a:solidFill>
                  <a:latin typeface="+mn-lt"/>
                  <a:ea typeface="+mn-ea"/>
                  <a:cs typeface="+mn-cs"/>
                </a:rPr>
                <a:t>0.12</a:t>
              </a:r>
            </a:p>
          </p:txBody>
        </p:sp>
        <p:sp>
          <p:nvSpPr>
            <p:cNvPr id="42" name="TextBox 42"/>
            <p:cNvSpPr txBox="1"/>
            <p:nvPr/>
          </p:nvSpPr>
          <p:spPr>
            <a:xfrm>
              <a:off x="10461236" y="4904899"/>
              <a:ext cx="992767" cy="190690"/>
            </a:xfrm>
            <a:prstGeom prst="rect">
              <a:avLst/>
            </a:prstGeom>
            <a:noFill/>
            <a:ln>
              <a:noFill/>
            </a:ln>
          </p:spPr>
          <p:txBody>
            <a:bodyPr wrap="none" lIns="0" tIns="0" rIns="0" bIns="0" anchor="t" anchorCtr="0">
              <a:spAutoFit/>
            </a:bodyPr>
            <a:lstStyle/>
            <a:p>
              <a:pPr algn="r"/>
              <a:r>
                <a:rPr lang="en-US" sz="980" dirty="0">
                  <a:solidFill>
                    <a:schemeClr val="dk2"/>
                  </a:solidFill>
                  <a:latin typeface="+mn-lt"/>
                  <a:ea typeface="+mn-ea"/>
                  <a:cs typeface="+mn-cs"/>
                </a:rPr>
                <a:t>across families</a:t>
              </a:r>
            </a:p>
          </p:txBody>
        </p:sp>
      </p:grpSp>
      <p:sp>
        <p:nvSpPr>
          <p:cNvPr id="44" name="cue_s09_c1_few_numbers_capture_scope_findings" title="cue_s09_c1_few_numbers_capture_scope_findings" descr="cue_s09_c1_few_numbers_capture_scope_findings A few numbers capture the scope and the findings."/>
          <p:cNvSpPr/>
          <p:nvPr/>
        </p:nvSpPr>
        <p:spPr>
          <a:xfrm>
            <a:off x="532790" y="1523847"/>
            <a:ext cx="11125200" cy="4951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9_c2_flab_spans_thirteen_thousand_three" title="cue_s09_c2_flab_spans_thirteen_thousand_three" descr="cue_s09_c2_flab_spans_thirteen_thousand_three FLAb spans thirteen thousand three hundred eighty four fitness measurements across seventeen mutational landscapes and six developability properties, testing six deep learning models against Rosetta."/>
          <p:cNvSpPr/>
          <p:nvPr/>
        </p:nvSpPr>
        <p:spPr>
          <a:xfrm>
            <a:off x="532790" y="2209647"/>
            <a:ext cx="111252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9_c3_intrinsic_properties_ones_driven_ant" title="cue_s09_c3_intrinsic_properties_ones_driven_ant" descr="cue_s09_c3_intrinsic_properties_ones_driven_ant Intrinsic properties, the ones driven by the antibody itself, reach an average absolute correlation above zero point six, while extrinsic properties lag well behind, with binding under zero point four, expression under zero point four two, and immunogenicity u"/>
          <p:cNvSpPr/>
          <p:nvPr/>
        </p:nvSpPr>
        <p:spPr>
          <a:xfrm>
            <a:off x="532790" y="3867226"/>
            <a:ext cx="556199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9_c4_models_far_better_telling_apart" title="cue_s09_c4_models_far_better_telling_apart" descr="cue_s09_c4_models_far_better_telling_apart And models are far better at telling apart mutants within one family, at zero point seven seven, than across different families, at just zero point one two."/>
          <p:cNvSpPr/>
          <p:nvPr/>
        </p:nvSpPr>
        <p:spPr>
          <a:xfrm>
            <a:off x="6325209" y="3867226"/>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004920"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TAKEAWAY</a:t>
            </a:r>
          </a:p>
        </p:txBody>
      </p:sp>
      <p:sp>
        <p:nvSpPr>
          <p:cNvPr id="5" name="TextBox 5"/>
          <p:cNvSpPr txBox="1"/>
          <p:nvPr/>
        </p:nvSpPr>
        <p:spPr>
          <a:xfrm>
            <a:off x="518160" y="781050"/>
            <a:ext cx="8378336"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Not there yet, but a clear path forward</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10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2" name="Group 12"/>
          <p:cNvGrpSpPr/>
          <p:nvPr/>
        </p:nvGrpSpPr>
        <p:grpSpPr>
          <a:xfrm>
            <a:off x="533400" y="1524000"/>
            <a:ext cx="11125200" cy="914400"/>
            <a:chOff x="533400" y="1524000"/>
            <a:chExt cx="11125200" cy="914400"/>
          </a:xfrm>
        </p:grpSpPr>
        <p:sp>
          <p:nvSpPr>
            <p:cNvPr id="8" name="Rectangle 8"/>
            <p:cNvSpPr/>
            <p:nvPr/>
          </p:nvSpPr>
          <p:spPr>
            <a:xfrm>
              <a:off x="533400" y="1524000"/>
              <a:ext cx="11125200" cy="914400"/>
            </a:xfrm>
            <a:prstGeom prst="roundRect">
              <a:avLst>
                <a:gd name="adj" fmla="val 14583"/>
              </a:avLst>
            </a:prstGeom>
            <a:solidFill>
              <a:schemeClr val="accent6"/>
            </a:solidFill>
            <a:ln w="12382">
              <a:solidFill>
                <a:srgbClr val="F2708A"/>
              </a:solidFill>
            </a:ln>
          </p:spPr>
        </p:sp>
        <p:sp>
          <p:nvSpPr>
            <p:cNvPr id="9" name="Rectangle 9"/>
            <p:cNvSpPr/>
            <p:nvPr/>
          </p:nvSpPr>
          <p:spPr>
            <a:xfrm>
              <a:off x="723900" y="1733550"/>
              <a:ext cx="47625" cy="495300"/>
            </a:xfrm>
            <a:prstGeom prst="roundRect">
              <a:avLst>
                <a:gd name="adj" fmla="val 50000"/>
              </a:avLst>
            </a:prstGeom>
            <a:solidFill>
              <a:srgbClr val="F2708A"/>
            </a:solidFill>
            <a:ln>
              <a:noFill/>
            </a:ln>
          </p:spPr>
        </p:sp>
        <p:sp>
          <p:nvSpPr>
            <p:cNvPr id="10" name="TextBox 10"/>
            <p:cNvSpPr txBox="1"/>
            <p:nvPr/>
          </p:nvSpPr>
          <p:spPr>
            <a:xfrm>
              <a:off x="906780" y="1781175"/>
              <a:ext cx="757005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No current model reliably predicts antibody fitness across all properties</a:t>
              </a:r>
            </a:p>
          </p:txBody>
        </p:sp>
        <p:sp>
          <p:nvSpPr>
            <p:cNvPr id="11" name="TextBox 11"/>
            <p:cNvSpPr txBox="1"/>
            <p:nvPr/>
          </p:nvSpPr>
          <p:spPr>
            <a:xfrm>
              <a:off x="908685" y="2107406"/>
              <a:ext cx="595194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so we cannot yet trust deep learning to filter therapeutic candidates on its own</a:t>
              </a:r>
            </a:p>
          </p:txBody>
        </p:sp>
      </p:grpSp>
      <p:grpSp>
        <p:nvGrpSpPr>
          <p:cNvPr id="17" name="Group 17"/>
          <p:cNvGrpSpPr/>
          <p:nvPr/>
        </p:nvGrpSpPr>
        <p:grpSpPr>
          <a:xfrm>
            <a:off x="533400" y="2628900"/>
            <a:ext cx="11125200" cy="876300"/>
            <a:chOff x="533400" y="2628900"/>
            <a:chExt cx="11125200" cy="876300"/>
          </a:xfrm>
        </p:grpSpPr>
        <p:sp>
          <p:nvSpPr>
            <p:cNvPr id="13" name="Rectangle 13"/>
            <p:cNvSpPr/>
            <p:nvPr/>
          </p:nvSpPr>
          <p:spPr>
            <a:xfrm>
              <a:off x="533400" y="2628900"/>
              <a:ext cx="11125200" cy="876300"/>
            </a:xfrm>
            <a:prstGeom prst="roundRect">
              <a:avLst>
                <a:gd name="adj" fmla="val 15217"/>
              </a:avLst>
            </a:prstGeom>
            <a:solidFill>
              <a:schemeClr val="accent6"/>
            </a:solidFill>
            <a:ln w="11430">
              <a:solidFill>
                <a:srgbClr val="57D9A3"/>
              </a:solidFill>
            </a:ln>
          </p:spPr>
        </p:sp>
        <p:sp>
          <p:nvSpPr>
            <p:cNvPr id="14" name="Rectangle 14"/>
            <p:cNvSpPr/>
            <p:nvPr/>
          </p:nvSpPr>
          <p:spPr>
            <a:xfrm>
              <a:off x="723900" y="2838450"/>
              <a:ext cx="47625" cy="457200"/>
            </a:xfrm>
            <a:prstGeom prst="roundRect">
              <a:avLst>
                <a:gd name="adj" fmla="val 50000"/>
              </a:avLst>
            </a:prstGeom>
            <a:solidFill>
              <a:srgbClr val="57D9A3"/>
            </a:solidFill>
            <a:ln>
              <a:noFill/>
            </a:ln>
          </p:spPr>
        </p:sp>
        <p:sp>
          <p:nvSpPr>
            <p:cNvPr id="15" name="TextBox 15"/>
            <p:cNvSpPr txBox="1"/>
            <p:nvPr/>
          </p:nvSpPr>
          <p:spPr>
            <a:xfrm>
              <a:off x="908114" y="2895362"/>
              <a:ext cx="7739274"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The good news: intrinsic properties are already captured reasonably well, which points to</a:t>
              </a:r>
            </a:p>
          </p:txBody>
        </p:sp>
        <p:sp>
          <p:nvSpPr>
            <p:cNvPr id="16" name="TextBox 16"/>
            <p:cNvSpPr txBox="1"/>
            <p:nvPr/>
          </p:nvSpPr>
          <p:spPr>
            <a:xfrm>
              <a:off x="908114" y="3143012"/>
              <a:ext cx="2922142"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the hardest remaining challenges.</a:t>
              </a:r>
            </a:p>
          </p:txBody>
        </p:sp>
      </p:grpSp>
      <p:grpSp>
        <p:nvGrpSpPr>
          <p:cNvPr id="32" name="Group 32"/>
          <p:cNvGrpSpPr/>
          <p:nvPr/>
        </p:nvGrpSpPr>
        <p:grpSpPr>
          <a:xfrm>
            <a:off x="533400" y="3695700"/>
            <a:ext cx="11125200" cy="1409700"/>
            <a:chOff x="533400" y="3695700"/>
            <a:chExt cx="11125200" cy="1409700"/>
          </a:xfrm>
        </p:grpSpPr>
        <p:sp>
          <p:nvSpPr>
            <p:cNvPr id="18" name="Rectangle 18"/>
            <p:cNvSpPr/>
            <p:nvPr/>
          </p:nvSpPr>
          <p:spPr>
            <a:xfrm>
              <a:off x="533400" y="3695700"/>
              <a:ext cx="3556000" cy="1409700"/>
            </a:xfrm>
            <a:prstGeom prst="roundRect">
              <a:avLst>
                <a:gd name="adj" fmla="val 9459"/>
              </a:avLst>
            </a:prstGeom>
            <a:solidFill>
              <a:schemeClr val="accent5"/>
            </a:solidFill>
            <a:ln w="11430">
              <a:solidFill>
                <a:schemeClr val="accent4"/>
              </a:solidFill>
            </a:ln>
          </p:spPr>
        </p:sp>
        <p:sp>
          <p:nvSpPr>
            <p:cNvPr id="19" name="Rectangle 19"/>
            <p:cNvSpPr/>
            <p:nvPr/>
          </p:nvSpPr>
          <p:spPr>
            <a:xfrm>
              <a:off x="742950" y="3943350"/>
              <a:ext cx="47625" cy="285750"/>
            </a:xfrm>
            <a:prstGeom prst="roundRect">
              <a:avLst>
                <a:gd name="adj" fmla="val 50000"/>
              </a:avLst>
            </a:prstGeom>
            <a:solidFill>
              <a:schemeClr val="accent2"/>
            </a:solidFill>
            <a:ln>
              <a:noFill/>
            </a:ln>
          </p:spPr>
        </p:sp>
        <p:sp>
          <p:nvSpPr>
            <p:cNvPr id="20" name="TextBox 20"/>
            <p:cNvSpPr txBox="1"/>
            <p:nvPr/>
          </p:nvSpPr>
          <p:spPr>
            <a:xfrm>
              <a:off x="736473" y="4243864"/>
              <a:ext cx="1267255"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Add structure</a:t>
              </a:r>
            </a:p>
          </p:txBody>
        </p:sp>
        <p:sp>
          <p:nvSpPr>
            <p:cNvPr id="21" name="TextBox 21"/>
            <p:cNvSpPr txBox="1"/>
            <p:nvPr/>
          </p:nvSpPr>
          <p:spPr>
            <a:xfrm>
              <a:off x="737616" y="4534852"/>
              <a:ext cx="207439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enrich models with structural</a:t>
              </a:r>
            </a:p>
          </p:txBody>
        </p:sp>
        <p:sp>
          <p:nvSpPr>
            <p:cNvPr id="22" name="TextBox 22"/>
            <p:cNvSpPr txBox="1"/>
            <p:nvPr/>
          </p:nvSpPr>
          <p:spPr>
            <a:xfrm>
              <a:off x="737616" y="4734878"/>
              <a:ext cx="82343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information</a:t>
              </a:r>
            </a:p>
          </p:txBody>
        </p:sp>
        <p:sp>
          <p:nvSpPr>
            <p:cNvPr id="23" name="Rectangle 23"/>
            <p:cNvSpPr/>
            <p:nvPr/>
          </p:nvSpPr>
          <p:spPr>
            <a:xfrm>
              <a:off x="4318000" y="3695700"/>
              <a:ext cx="3556000" cy="1409700"/>
            </a:xfrm>
            <a:prstGeom prst="roundRect">
              <a:avLst>
                <a:gd name="adj" fmla="val 9459"/>
              </a:avLst>
            </a:prstGeom>
            <a:solidFill>
              <a:schemeClr val="accent5"/>
            </a:solidFill>
            <a:ln w="11430">
              <a:solidFill>
                <a:schemeClr val="accent4"/>
              </a:solidFill>
            </a:ln>
          </p:spPr>
        </p:sp>
        <p:sp>
          <p:nvSpPr>
            <p:cNvPr id="24" name="Rectangle 24"/>
            <p:cNvSpPr/>
            <p:nvPr/>
          </p:nvSpPr>
          <p:spPr>
            <a:xfrm>
              <a:off x="4527550" y="3943350"/>
              <a:ext cx="47625" cy="285750"/>
            </a:xfrm>
            <a:prstGeom prst="roundRect">
              <a:avLst>
                <a:gd name="adj" fmla="val 50000"/>
              </a:avLst>
            </a:prstGeom>
            <a:solidFill>
              <a:srgbClr val="37DCC0"/>
            </a:solidFill>
            <a:ln>
              <a:noFill/>
            </a:ln>
          </p:spPr>
        </p:sp>
        <p:sp>
          <p:nvSpPr>
            <p:cNvPr id="25" name="TextBox 25"/>
            <p:cNvSpPr txBox="1"/>
            <p:nvPr/>
          </p:nvSpPr>
          <p:spPr>
            <a:xfrm>
              <a:off x="4521073" y="4243864"/>
              <a:ext cx="188273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Add antigen + physics</a:t>
              </a:r>
            </a:p>
          </p:txBody>
        </p:sp>
        <p:sp>
          <p:nvSpPr>
            <p:cNvPr id="26" name="TextBox 26"/>
            <p:cNvSpPr txBox="1"/>
            <p:nvPr/>
          </p:nvSpPr>
          <p:spPr>
            <a:xfrm>
              <a:off x="4522216" y="4534852"/>
              <a:ext cx="239950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antigen context and physics-based</a:t>
              </a:r>
            </a:p>
          </p:txBody>
        </p:sp>
        <p:sp>
          <p:nvSpPr>
            <p:cNvPr id="27" name="TextBox 27"/>
            <p:cNvSpPr txBox="1"/>
            <p:nvPr/>
          </p:nvSpPr>
          <p:spPr>
            <a:xfrm>
              <a:off x="4522216" y="4734878"/>
              <a:ext cx="44178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priors</a:t>
              </a:r>
            </a:p>
          </p:txBody>
        </p:sp>
        <p:sp>
          <p:nvSpPr>
            <p:cNvPr id="28" name="Rectangle 28"/>
            <p:cNvSpPr/>
            <p:nvPr/>
          </p:nvSpPr>
          <p:spPr>
            <a:xfrm>
              <a:off x="8102600" y="3695700"/>
              <a:ext cx="3556000" cy="1409700"/>
            </a:xfrm>
            <a:prstGeom prst="roundRect">
              <a:avLst>
                <a:gd name="adj" fmla="val 9459"/>
              </a:avLst>
            </a:prstGeom>
            <a:solidFill>
              <a:schemeClr val="accent5"/>
            </a:solidFill>
            <a:ln w="11430">
              <a:solidFill>
                <a:schemeClr val="accent4"/>
              </a:solidFill>
            </a:ln>
          </p:spPr>
        </p:sp>
        <p:sp>
          <p:nvSpPr>
            <p:cNvPr id="29" name="Rectangle 29"/>
            <p:cNvSpPr/>
            <p:nvPr/>
          </p:nvSpPr>
          <p:spPr>
            <a:xfrm>
              <a:off x="8312150" y="3943350"/>
              <a:ext cx="47625" cy="285750"/>
            </a:xfrm>
            <a:prstGeom prst="roundRect">
              <a:avLst>
                <a:gd name="adj" fmla="val 50000"/>
              </a:avLst>
            </a:prstGeom>
            <a:solidFill>
              <a:srgbClr val="57D9A3"/>
            </a:solidFill>
            <a:ln>
              <a:noFill/>
            </a:ln>
          </p:spPr>
        </p:sp>
        <p:sp>
          <p:nvSpPr>
            <p:cNvPr id="30" name="TextBox 30"/>
            <p:cNvSpPr txBox="1"/>
            <p:nvPr/>
          </p:nvSpPr>
          <p:spPr>
            <a:xfrm>
              <a:off x="8305673" y="4243864"/>
              <a:ext cx="1358146"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Grow open data</a:t>
              </a:r>
            </a:p>
          </p:txBody>
        </p:sp>
        <p:sp>
          <p:nvSpPr>
            <p:cNvPr id="31" name="TextBox 31"/>
            <p:cNvSpPr txBox="1"/>
            <p:nvPr/>
          </p:nvSpPr>
          <p:spPr>
            <a:xfrm>
              <a:off x="8306816" y="4534852"/>
              <a:ext cx="234239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keep expanding datasets like FLAb</a:t>
              </a:r>
            </a:p>
          </p:txBody>
        </p:sp>
      </p:grpSp>
      <p:sp>
        <p:nvSpPr>
          <p:cNvPr id="33" name="Line 33"/>
          <p:cNvSpPr/>
          <p:nvPr/>
        </p:nvSpPr>
        <p:spPr>
          <a:xfrm>
            <a:off x="533400" y="537210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sp>
        <p:nvSpPr>
          <p:cNvPr id="34" name="TextBox 34"/>
          <p:cNvSpPr txBox="1"/>
          <p:nvPr/>
        </p:nvSpPr>
        <p:spPr>
          <a:xfrm>
            <a:off x="527685" y="5517356"/>
            <a:ext cx="461515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Open antibody fitness benchmark, released for the community</a:t>
            </a:r>
          </a:p>
        </p:txBody>
      </p:sp>
      <p:sp>
        <p:nvSpPr>
          <p:cNvPr id="35" name="TextBox 35"/>
          <p:cNvSpPr txBox="1"/>
          <p:nvPr/>
        </p:nvSpPr>
        <p:spPr>
          <a:xfrm>
            <a:off x="9799546" y="5525452"/>
            <a:ext cx="1864388" cy="205359"/>
          </a:xfrm>
          <a:prstGeom prst="rect">
            <a:avLst/>
          </a:prstGeom>
          <a:noFill/>
          <a:ln>
            <a:noFill/>
          </a:ln>
        </p:spPr>
        <p:txBody>
          <a:bodyPr wrap="none" lIns="0" tIns="0" rIns="0" bIns="0" anchor="t" anchorCtr="0">
            <a:spAutoFit/>
          </a:bodyPr>
          <a:lstStyle/>
          <a:p>
            <a:pPr algn="r"/>
            <a:r>
              <a:rPr lang="en-US" sz="1050" b="1" dirty="0">
                <a:solidFill>
                  <a:schemeClr val="accent2"/>
                </a:solidFill>
                <a:latin typeface="Consolas"/>
                <a:ea typeface="Consolas"/>
                <a:cs typeface="Consolas"/>
              </a:rPr>
              <a:t>github.com/Graylab/FLAb</a:t>
            </a:r>
          </a:p>
        </p:txBody>
      </p:sp>
      <p:sp>
        <p:nvSpPr>
          <p:cNvPr id="36" name="cue_s10_c1_takeaway_honest_useful_current_deep" title="cue_s10_c1_takeaway_honest_useful_current_deep" descr="cue_s10_c1_takeaway_honest_useful_current_deep The takeaway is honest and useful: no current deep learning model reliably predicts antibody fitness across all developability properties, so we are not yet at the point of trusting these models to filter therapeutic candidates on their own."/>
          <p:cNvSpPr/>
          <p:nvPr/>
        </p:nvSpPr>
        <p:spPr>
          <a:xfrm>
            <a:off x="532790" y="1523847"/>
            <a:ext cx="11125200" cy="9141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10_c2_good_news_intrinsic_properties_alrea" title="cue_s10_c2_good_news_intrinsic_properties_alrea" descr="cue_s10_c2_good_news_intrinsic_properties_alrea The good news is that intrinsic properties are already captured reasonably well, which points toward the hardest remaining challenges."/>
          <p:cNvSpPr/>
          <p:nvPr/>
        </p:nvSpPr>
        <p:spPr>
          <a:xfrm>
            <a:off x="532790" y="2628671"/>
            <a:ext cx="11125200"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10_c3_authors_argue_most_promising_path" title="cue_s10_c3_authors_argue_most_promising_path" descr="cue_s10_c3_authors_argue_most_promising_path The authors argue the most promising path forward is to enrich these models with structural information, antigen context, and physics-based priors, and to keep growing open antibody fitness datasets like FLAb."/>
          <p:cNvSpPr/>
          <p:nvPr/>
        </p:nvSpPr>
        <p:spPr>
          <a:xfrm>
            <a:off x="532790" y="3695776"/>
            <a:ext cx="11125200" cy="14100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Free Design">
  <a:themeElements>
    <a:clrScheme name="Free Design">
      <a:dk1>
        <a:srgbClr val="EAF1FB"/>
      </a:dk1>
      <a:lt1>
        <a:srgbClr val="0B1220"/>
      </a:lt1>
      <a:dk2>
        <a:srgbClr val="A6BADB"/>
      </a:dk2>
      <a:lt2>
        <a:srgbClr val="0E1A30"/>
      </a:lt2>
      <a:accent1>
        <a:srgbClr val="4F9DF7"/>
      </a:accent1>
      <a:accent2>
        <a:srgbClr val="4F9DF7"/>
      </a:accent2>
      <a:accent3>
        <a:srgbClr val="4F9DF7"/>
      </a:accent3>
      <a:accent4>
        <a:srgbClr val="2B4068"/>
      </a:accent4>
      <a:accent5>
        <a:srgbClr val="14223C"/>
      </a:accent5>
      <a:accent6>
        <a:srgbClr val="1A2B49"/>
      </a:accent6>
      <a:hlink>
        <a:srgbClr val="4F9DF7"/>
      </a:hlink>
      <a:folHlink>
        <a:srgbClr val="4F9DF7"/>
      </a:folHlink>
    </a:clrScheme>
    <a:fontScheme name="Free Desig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ree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2026-07-16T04:43:01Z</dcterms:created>
  <dcterms:modified xsi:type="dcterms:W3CDTF">2026-07-16T04:43:01Z</dcterms:modified>
  <cp:category/>
  <cp:contentStatus/>
</cp:coreProperties>
</file>
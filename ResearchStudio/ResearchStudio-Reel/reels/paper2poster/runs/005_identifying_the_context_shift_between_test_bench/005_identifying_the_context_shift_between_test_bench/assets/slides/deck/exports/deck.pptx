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deck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deck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225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1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1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05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9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8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8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8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800" kern="1200">
          <a:solidFill>
            <a:schemeClr val="tx1"/>
          </a:solidFill>
          <a:latin typeface="+mn-lt"/>
          <a:ea typeface="+mn-ea"/>
          <a:cs typeface="+mn-cs"/>
        </a:defRPr>
      </a:lvl9pPr>
    </p:bodyStyle>
    <p:otherStyle>
      <a:defPPr>
        <a:defRPr lang="en-US"/>
      </a:defPPr>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100" kern="1200">
          <a:solidFill>
            <a:schemeClr val="tx1"/>
          </a:solidFill>
          <a:latin typeface="+mn-lt"/>
          <a:ea typeface="+mn-ea"/>
          <a:cs typeface="+mn-cs"/>
        </a:defRPr>
      </a:lvl2pPr>
      <a:lvl3pPr marL="914400" algn="l" defTabSz="457200" rtl="0" eaLnBrk="1" latinLnBrk="0" hangingPunct="1">
        <a:defRPr sz="1050" kern="1200">
          <a:solidFill>
            <a:schemeClr val="tx1"/>
          </a:solidFill>
          <a:latin typeface="+mn-lt"/>
          <a:ea typeface="+mn-ea"/>
          <a:cs typeface="+mn-cs"/>
        </a:defRPr>
      </a:lvl3pPr>
      <a:lvl4pPr marL="1371600" algn="l" defTabSz="457200" rtl="0" eaLnBrk="1" latinLnBrk="0" hangingPunct="1">
        <a:defRPr sz="1000" kern="1200">
          <a:solidFill>
            <a:schemeClr val="tx1"/>
          </a:solidFill>
          <a:latin typeface="+mn-lt"/>
          <a:ea typeface="+mn-ea"/>
          <a:cs typeface="+mn-cs"/>
        </a:defRPr>
      </a:lvl4pPr>
      <a:lvl5pPr marL="1828800" algn="l" defTabSz="457200" rtl="0" eaLnBrk="1" latinLnBrk="0" hangingPunct="1">
        <a:defRPr sz="900" kern="1200">
          <a:solidFill>
            <a:schemeClr val="tx1"/>
          </a:solidFill>
          <a:latin typeface="+mn-lt"/>
          <a:ea typeface="+mn-ea"/>
          <a:cs typeface="+mn-cs"/>
        </a:defRPr>
      </a:lvl5pPr>
      <a:lvl6pPr marL="2286000" algn="l" defTabSz="457200" rtl="0" eaLnBrk="1" latinLnBrk="0" hangingPunct="1">
        <a:defRPr sz="800" kern="1200">
          <a:solidFill>
            <a:schemeClr val="tx1"/>
          </a:solidFill>
          <a:latin typeface="+mn-lt"/>
          <a:ea typeface="+mn-ea"/>
          <a:cs typeface="+mn-cs"/>
        </a:defRPr>
      </a:lvl6pPr>
      <a:lvl7pPr marL="2743200" algn="l" defTabSz="457200" rtl="0" eaLnBrk="1" latinLnBrk="0" hangingPunct="1">
        <a:defRPr sz="800" kern="1200">
          <a:solidFill>
            <a:schemeClr val="tx1"/>
          </a:solidFill>
          <a:latin typeface="+mn-lt"/>
          <a:ea typeface="+mn-ea"/>
          <a:cs typeface="+mn-cs"/>
        </a:defRPr>
      </a:lvl7pPr>
      <a:lvl8pPr marL="3200400" algn="l" defTabSz="457200" rtl="0" eaLnBrk="1" latinLnBrk="0" hangingPunct="1">
        <a:defRPr sz="800" kern="1200">
          <a:solidFill>
            <a:schemeClr val="tx1"/>
          </a:solidFill>
          <a:latin typeface="+mn-lt"/>
          <a:ea typeface="+mn-ea"/>
          <a:cs typeface="+mn-cs"/>
        </a:defRPr>
      </a:lvl8pPr>
      <a:lvl9pPr marL="3657600" algn="l" defTabSz="457200" rtl="0" eaLnBrk="1" latinLnBrk="0" hangingPunct="1">
        <a:defRPr sz="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chemeClr val="lt1"/>
            </a:solidFill>
            <a:ln>
              <a:noFill/>
            </a:ln>
          </p:spPr>
        </p:sp>
        <p:sp>
          <p:nvSpPr>
            <p:cNvPr id="3" name="Rectangle 3"/>
            <p:cNvSpPr/>
            <p:nvPr/>
          </p:nvSpPr>
          <p:spPr>
            <a:xfrm>
              <a:off x="0" y="0"/>
              <a:ext cx="133350" cy="6858000"/>
            </a:xfrm>
            <a:prstGeom prst="rect">
              <a:avLst/>
            </a:prstGeom>
            <a:solidFill>
              <a:schemeClr val="accent1"/>
            </a:solidFill>
            <a:ln>
              <a:noFill/>
            </a:ln>
          </p:spPr>
        </p:sp>
      </p:grpSp>
      <p:grpSp>
        <p:nvGrpSpPr>
          <p:cNvPr id="7" name="Group 7"/>
          <p:cNvGrpSpPr/>
          <p:nvPr/>
        </p:nvGrpSpPr>
        <p:grpSpPr>
          <a:xfrm>
            <a:off x="680847" y="762000"/>
            <a:ext cx="4182488" cy="390239"/>
            <a:chOff x="680847" y="762000"/>
            <a:chExt cx="4182488" cy="390239"/>
          </a:xfrm>
        </p:grpSpPr>
        <p:sp>
          <p:nvSpPr>
            <p:cNvPr id="5" name="Rectangle 5"/>
            <p:cNvSpPr/>
            <p:nvPr/>
          </p:nvSpPr>
          <p:spPr>
            <a:xfrm>
              <a:off x="685800" y="762000"/>
              <a:ext cx="438150" cy="38100"/>
            </a:xfrm>
            <a:prstGeom prst="rect">
              <a:avLst/>
            </a:prstGeom>
            <a:solidFill>
              <a:schemeClr val="accent2"/>
            </a:solidFill>
            <a:ln>
              <a:noFill/>
            </a:ln>
          </p:spPr>
        </p:sp>
        <p:sp>
          <p:nvSpPr>
            <p:cNvPr id="6" name="TextBox 6"/>
            <p:cNvSpPr txBox="1"/>
            <p:nvPr/>
          </p:nvSpPr>
          <p:spPr>
            <a:xfrm>
              <a:off x="680847" y="961549"/>
              <a:ext cx="4182488" cy="190690"/>
            </a:xfrm>
            <a:prstGeom prst="rect">
              <a:avLst/>
            </a:prstGeom>
            <a:noFill/>
            <a:ln>
              <a:noFill/>
            </a:ln>
          </p:spPr>
          <p:txBody>
            <a:bodyPr wrap="none" lIns="0" tIns="0" rIns="0" bIns="0" anchor="t" anchorCtr="0">
              <a:spAutoFit/>
            </a:bodyPr>
            <a:lstStyle/>
            <a:p>
              <a:pPr algn="l"/>
              <a:r>
                <a:rPr lang="en-US" sz="980" b="1" spc="188" dirty="0">
                  <a:solidFill>
                    <a:schemeClr val="accent2"/>
                  </a:solidFill>
                  <a:latin typeface="+mn-lt"/>
                  <a:ea typeface="+mn-ea"/>
                  <a:cs typeface="+mn-cs"/>
                </a:rPr>
                <a:t>PERSPECTIVE · MACHINE LEARNING ROBUSTNESS</a:t>
              </a:r>
            </a:p>
          </p:txBody>
        </p:sp>
      </p:grpSp>
      <p:grpSp>
        <p:nvGrpSpPr>
          <p:cNvPr id="12" name="Group 12"/>
          <p:cNvGrpSpPr/>
          <p:nvPr/>
        </p:nvGrpSpPr>
        <p:grpSpPr>
          <a:xfrm>
            <a:off x="667512" y="1287780"/>
            <a:ext cx="4046220" cy="2052637"/>
            <a:chOff x="667512" y="1287780"/>
            <a:chExt cx="4046220" cy="2052637"/>
          </a:xfrm>
        </p:grpSpPr>
        <p:sp>
          <p:nvSpPr>
            <p:cNvPr id="8" name="TextBox 8"/>
            <p:cNvSpPr txBox="1"/>
            <p:nvPr/>
          </p:nvSpPr>
          <p:spPr>
            <a:xfrm>
              <a:off x="667512" y="1287780"/>
              <a:ext cx="3994328" cy="704088"/>
            </a:xfrm>
            <a:prstGeom prst="rect">
              <a:avLst/>
            </a:prstGeom>
            <a:noFill/>
            <a:ln>
              <a:noFill/>
            </a:ln>
          </p:spPr>
          <p:txBody>
            <a:bodyPr wrap="none" lIns="0" tIns="0" rIns="0" bIns="0" anchor="t" anchorCtr="0">
              <a:spAutoFit/>
            </a:bodyPr>
            <a:lstStyle/>
            <a:p>
              <a:pPr algn="l"/>
              <a:r>
                <a:rPr lang="en-US" sz="3600" b="1" dirty="0">
                  <a:solidFill>
                    <a:schemeClr val="accent1"/>
                  </a:solidFill>
                  <a:latin typeface="Georgia"/>
                  <a:ea typeface="Georgia"/>
                  <a:cs typeface="Georgia"/>
                </a:rPr>
                <a:t>Identifying the</a:t>
              </a:r>
            </a:p>
          </p:txBody>
        </p:sp>
        <p:sp>
          <p:nvSpPr>
            <p:cNvPr id="9" name="TextBox 9"/>
            <p:cNvSpPr txBox="1"/>
            <p:nvPr/>
          </p:nvSpPr>
          <p:spPr>
            <a:xfrm>
              <a:off x="667512" y="1840230"/>
              <a:ext cx="3739759" cy="704088"/>
            </a:xfrm>
            <a:prstGeom prst="rect">
              <a:avLst/>
            </a:prstGeom>
            <a:noFill/>
            <a:ln>
              <a:noFill/>
            </a:ln>
          </p:spPr>
          <p:txBody>
            <a:bodyPr wrap="none" lIns="0" tIns="0" rIns="0" bIns="0" anchor="t" anchorCtr="0">
              <a:spAutoFit/>
            </a:bodyPr>
            <a:lstStyle/>
            <a:p>
              <a:pPr algn="l"/>
              <a:r>
                <a:rPr lang="en-US" sz="3600" b="1" dirty="0">
                  <a:solidFill>
                    <a:schemeClr val="accent1"/>
                  </a:solidFill>
                  <a:latin typeface="Georgia"/>
                  <a:ea typeface="Georgia"/>
                  <a:cs typeface="Georgia"/>
                </a:rPr>
                <a:t>Context Shift</a:t>
              </a:r>
            </a:p>
          </p:txBody>
        </p:sp>
        <p:sp>
          <p:nvSpPr>
            <p:cNvPr id="10" name="TextBox 10"/>
            <p:cNvSpPr txBox="1"/>
            <p:nvPr/>
          </p:nvSpPr>
          <p:spPr>
            <a:xfrm>
              <a:off x="674370" y="2538412"/>
              <a:ext cx="4039362" cy="440055"/>
            </a:xfrm>
            <a:prstGeom prst="rect">
              <a:avLst/>
            </a:prstGeom>
            <a:noFill/>
            <a:ln>
              <a:noFill/>
            </a:ln>
          </p:spPr>
          <p:txBody>
            <a:bodyPr wrap="none" lIns="0" tIns="0" rIns="0" bIns="0" anchor="t" anchorCtr="0">
              <a:spAutoFit/>
            </a:bodyPr>
            <a:lstStyle/>
            <a:p>
              <a:pPr algn="l"/>
              <a:r>
                <a:rPr lang="en-US" sz="2250" dirty="0">
                  <a:solidFill>
                    <a:schemeClr val="dk2"/>
                  </a:solidFill>
                  <a:latin typeface="Georgia"/>
                  <a:ea typeface="Georgia"/>
                  <a:cs typeface="Georgia"/>
                </a:rPr>
                <a:t>between test benchmarks</a:t>
              </a:r>
            </a:p>
          </p:txBody>
        </p:sp>
        <p:sp>
          <p:nvSpPr>
            <p:cNvPr id="11" name="TextBox 11"/>
            <p:cNvSpPr txBox="1"/>
            <p:nvPr/>
          </p:nvSpPr>
          <p:spPr>
            <a:xfrm>
              <a:off x="674370" y="2900362"/>
              <a:ext cx="3127248" cy="440055"/>
            </a:xfrm>
            <a:prstGeom prst="rect">
              <a:avLst/>
            </a:prstGeom>
            <a:noFill/>
            <a:ln>
              <a:noFill/>
            </a:ln>
          </p:spPr>
          <p:txBody>
            <a:bodyPr wrap="none" lIns="0" tIns="0" rIns="0" bIns="0" anchor="t" anchorCtr="0">
              <a:spAutoFit/>
            </a:bodyPr>
            <a:lstStyle/>
            <a:p>
              <a:pPr algn="l"/>
              <a:r>
                <a:rPr lang="en-US" sz="2250" dirty="0">
                  <a:solidFill>
                    <a:schemeClr val="dk2"/>
                  </a:solidFill>
                  <a:latin typeface="Georgia"/>
                  <a:ea typeface="Georgia"/>
                  <a:cs typeface="Georgia"/>
                </a:rPr>
                <a:t>and production data</a:t>
              </a:r>
            </a:p>
          </p:txBody>
        </p:sp>
      </p:grpSp>
      <p:grpSp>
        <p:nvGrpSpPr>
          <p:cNvPr id="19" name="Group 19"/>
          <p:cNvGrpSpPr/>
          <p:nvPr/>
        </p:nvGrpSpPr>
        <p:grpSpPr>
          <a:xfrm>
            <a:off x="685800" y="3733800"/>
            <a:ext cx="5295900" cy="1219200"/>
            <a:chOff x="685800" y="3733800"/>
            <a:chExt cx="5295900" cy="1219200"/>
          </a:xfrm>
        </p:grpSpPr>
        <p:sp>
          <p:nvSpPr>
            <p:cNvPr id="13" name="Rectangle 13"/>
            <p:cNvSpPr/>
            <p:nvPr/>
          </p:nvSpPr>
          <p:spPr>
            <a:xfrm>
              <a:off x="685800" y="3733800"/>
              <a:ext cx="5295900" cy="1219200"/>
            </a:xfrm>
            <a:prstGeom prst="roundRect">
              <a:avLst>
                <a:gd name="adj" fmla="val 9375"/>
              </a:avLst>
            </a:prstGeom>
            <a:solidFill>
              <a:schemeClr val="accent5"/>
            </a:solidFill>
            <a:ln w="14288">
              <a:solidFill>
                <a:schemeClr val="accent4"/>
              </a:solidFill>
            </a:ln>
          </p:spPr>
        </p:sp>
        <p:sp>
          <p:nvSpPr>
            <p:cNvPr id="14" name="Rectangle 14"/>
            <p:cNvSpPr/>
            <p:nvPr/>
          </p:nvSpPr>
          <p:spPr>
            <a:xfrm>
              <a:off x="685800" y="3733800"/>
              <a:ext cx="57150" cy="1219200"/>
            </a:xfrm>
            <a:prstGeom prst="roundRect">
              <a:avLst>
                <a:gd name="adj" fmla="val 50000"/>
              </a:avLst>
            </a:prstGeom>
            <a:solidFill>
              <a:schemeClr val="accent2"/>
            </a:solidFill>
            <a:ln>
              <a:noFill/>
            </a:ln>
          </p:spPr>
        </p:sp>
        <p:sp>
          <p:nvSpPr>
            <p:cNvPr id="15" name="TextBox 15"/>
            <p:cNvSpPr txBox="1"/>
            <p:nvPr/>
          </p:nvSpPr>
          <p:spPr>
            <a:xfrm>
              <a:off x="947547" y="3952399"/>
              <a:ext cx="601838" cy="190690"/>
            </a:xfrm>
            <a:prstGeom prst="rect">
              <a:avLst/>
            </a:prstGeom>
            <a:noFill/>
            <a:ln>
              <a:noFill/>
            </a:ln>
          </p:spPr>
          <p:txBody>
            <a:bodyPr wrap="none" lIns="0" tIns="0" rIns="0" bIns="0" anchor="t" anchorCtr="0">
              <a:spAutoFit/>
            </a:bodyPr>
            <a:lstStyle/>
            <a:p>
              <a:pPr algn="l"/>
              <a:r>
                <a:rPr lang="en-US" sz="980" b="1" spc="112" dirty="0">
                  <a:solidFill>
                    <a:schemeClr val="dk2"/>
                  </a:solidFill>
                  <a:latin typeface="+mn-lt"/>
                  <a:ea typeface="+mn-ea"/>
                  <a:cs typeface="+mn-cs"/>
                </a:rPr>
                <a:t>AUTHOR</a:t>
              </a:r>
            </a:p>
          </p:txBody>
        </p:sp>
        <p:sp>
          <p:nvSpPr>
            <p:cNvPr id="16" name="TextBox 16"/>
            <p:cNvSpPr txBox="1"/>
            <p:nvPr/>
          </p:nvSpPr>
          <p:spPr>
            <a:xfrm>
              <a:off x="943356" y="4168140"/>
              <a:ext cx="1903615" cy="352044"/>
            </a:xfrm>
            <a:prstGeom prst="rect">
              <a:avLst/>
            </a:prstGeom>
            <a:noFill/>
            <a:ln>
              <a:noFill/>
            </a:ln>
          </p:spPr>
          <p:txBody>
            <a:bodyPr wrap="none" lIns="0" tIns="0" rIns="0" bIns="0" anchor="t" anchorCtr="0">
              <a:spAutoFit/>
            </a:bodyPr>
            <a:lstStyle/>
            <a:p>
              <a:pPr algn="l"/>
              <a:r>
                <a:rPr lang="en-US" sz="1800" b="1" dirty="0">
                  <a:solidFill>
                    <a:schemeClr val="accent1"/>
                  </a:solidFill>
                  <a:latin typeface="Georgia"/>
                  <a:ea typeface="Georgia"/>
                  <a:cs typeface="Georgia"/>
                </a:rPr>
                <a:t>Matthew Groh</a:t>
              </a:r>
            </a:p>
          </p:txBody>
        </p:sp>
        <p:sp>
          <p:nvSpPr>
            <p:cNvPr id="17" name="TextBox 17"/>
            <p:cNvSpPr txBox="1"/>
            <p:nvPr/>
          </p:nvSpPr>
          <p:spPr>
            <a:xfrm>
              <a:off x="946785" y="4507706"/>
              <a:ext cx="2188921"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MIT Media Lab · groh@mit.edu</a:t>
              </a:r>
            </a:p>
          </p:txBody>
        </p:sp>
        <p:sp>
          <p:nvSpPr>
            <p:cNvPr id="18" name="TextBox 18"/>
            <p:cNvSpPr txBox="1"/>
            <p:nvPr/>
          </p:nvSpPr>
          <p:spPr>
            <a:xfrm>
              <a:off x="947166" y="4725352"/>
              <a:ext cx="1711787" cy="205359"/>
            </a:xfrm>
            <a:prstGeom prst="rect">
              <a:avLst/>
            </a:prstGeom>
            <a:noFill/>
            <a:ln>
              <a:noFill/>
            </a:ln>
          </p:spPr>
          <p:txBody>
            <a:bodyPr wrap="none" lIns="0" tIns="0" rIns="0" bIns="0" anchor="t" anchorCtr="0">
              <a:spAutoFit/>
            </a:bodyPr>
            <a:lstStyle/>
            <a:p>
              <a:pPr algn="l"/>
              <a:r>
                <a:rPr lang="en-US" sz="1050" dirty="0">
                  <a:solidFill>
                    <a:srgbClr val="94A3B8"/>
                  </a:solidFill>
                  <a:latin typeface="+mn-lt"/>
                  <a:ea typeface="+mn-ea"/>
                  <a:cs typeface="+mn-cs"/>
                </a:rPr>
                <a:t>arXiv:2207.01059 · 2022</a:t>
              </a:r>
            </a:p>
          </p:txBody>
        </p:sp>
      </p:grpSp>
      <p:grpSp>
        <p:nvGrpSpPr>
          <p:cNvPr id="23" name="Group 23"/>
          <p:cNvGrpSpPr/>
          <p:nvPr/>
        </p:nvGrpSpPr>
        <p:grpSpPr>
          <a:xfrm>
            <a:off x="678561" y="5381149"/>
            <a:ext cx="3867645" cy="763524"/>
            <a:chOff x="678561" y="5381149"/>
            <a:chExt cx="3867645" cy="763524"/>
          </a:xfrm>
        </p:grpSpPr>
        <p:sp>
          <p:nvSpPr>
            <p:cNvPr id="20" name="TextBox 20"/>
            <p:cNvSpPr txBox="1"/>
            <p:nvPr/>
          </p:nvSpPr>
          <p:spPr>
            <a:xfrm>
              <a:off x="680847" y="5381149"/>
              <a:ext cx="1143836" cy="190690"/>
            </a:xfrm>
            <a:prstGeom prst="rect">
              <a:avLst/>
            </a:prstGeom>
            <a:noFill/>
            <a:ln>
              <a:noFill/>
            </a:ln>
          </p:spPr>
          <p:txBody>
            <a:bodyPr wrap="none" lIns="0" tIns="0" rIns="0" bIns="0" anchor="t" anchorCtr="0">
              <a:spAutoFit/>
            </a:bodyPr>
            <a:lstStyle/>
            <a:p>
              <a:pPr algn="l"/>
              <a:r>
                <a:rPr lang="en-US" sz="980" b="1" spc="112" dirty="0">
                  <a:solidFill>
                    <a:schemeClr val="accent1"/>
                  </a:solidFill>
                  <a:latin typeface="+mn-lt"/>
                  <a:ea typeface="+mn-ea"/>
                  <a:cs typeface="+mn-cs"/>
                </a:rPr>
                <a:t>THE ARGUMENT</a:t>
              </a:r>
            </a:p>
          </p:txBody>
        </p:sp>
        <p:sp>
          <p:nvSpPr>
            <p:cNvPr id="21" name="TextBox 21"/>
            <p:cNvSpPr txBox="1"/>
            <p:nvPr/>
          </p:nvSpPr>
          <p:spPr>
            <a:xfrm>
              <a:off x="678561" y="5618321"/>
              <a:ext cx="3867645" cy="278702"/>
            </a:xfrm>
            <a:prstGeom prst="rect">
              <a:avLst/>
            </a:prstGeom>
            <a:noFill/>
            <a:ln>
              <a:noFill/>
            </a:ln>
          </p:spPr>
          <p:txBody>
            <a:bodyPr wrap="none" lIns="0" tIns="0" rIns="0" bIns="0" anchor="t" anchorCtr="0">
              <a:spAutoFit/>
            </a:bodyPr>
            <a:lstStyle/>
            <a:p>
              <a:pPr algn="l"/>
              <a:r>
                <a:rPr lang="en-US" sz="1420" i="1" dirty="0">
                  <a:solidFill>
                    <a:schemeClr val="dk1"/>
                  </a:solidFill>
                  <a:latin typeface="Georgia"/>
                  <a:ea typeface="Georgia"/>
                  <a:cs typeface="Georgia"/>
                </a:rPr>
                <a:t>Distribution shift names the symptom.</a:t>
              </a:r>
            </a:p>
          </p:txBody>
        </p:sp>
        <p:sp>
          <p:nvSpPr>
            <p:cNvPr id="22" name="TextBox 22"/>
            <p:cNvSpPr txBox="1"/>
            <p:nvPr/>
          </p:nvSpPr>
          <p:spPr>
            <a:xfrm>
              <a:off x="678561" y="5865971"/>
              <a:ext cx="3161829" cy="278702"/>
            </a:xfrm>
            <a:prstGeom prst="rect">
              <a:avLst/>
            </a:prstGeom>
            <a:noFill/>
            <a:ln>
              <a:noFill/>
            </a:ln>
          </p:spPr>
          <p:txBody>
            <a:bodyPr wrap="none" lIns="0" tIns="0" rIns="0" bIns="0" anchor="t" anchorCtr="0">
              <a:spAutoFit/>
            </a:bodyPr>
            <a:lstStyle/>
            <a:p>
              <a:pPr algn="l"/>
              <a:r>
                <a:rPr lang="en-US" sz="1420" i="1" dirty="0">
                  <a:solidFill>
                    <a:schemeClr val="dk1"/>
                  </a:solidFill>
                  <a:latin typeface="Georgia"/>
                  <a:ea typeface="Georgia"/>
                  <a:cs typeface="Georgia"/>
                </a:rPr>
                <a:t>Context shift names the cause.</a:t>
              </a:r>
            </a:p>
          </p:txBody>
        </p:sp>
      </p:grpSp>
      <p:grpSp>
        <p:nvGrpSpPr>
          <p:cNvPr id="30" name="Group 30"/>
          <p:cNvGrpSpPr/>
          <p:nvPr/>
        </p:nvGrpSpPr>
        <p:grpSpPr>
          <a:xfrm>
            <a:off x="6477000" y="762000"/>
            <a:ext cx="5029200" cy="1428750"/>
            <a:chOff x="6477000" y="762000"/>
            <a:chExt cx="5029200" cy="1428750"/>
          </a:xfrm>
        </p:grpSpPr>
        <p:sp>
          <p:nvSpPr>
            <p:cNvPr id="24" name="Rectangle 24"/>
            <p:cNvSpPr/>
            <p:nvPr/>
          </p:nvSpPr>
          <p:spPr>
            <a:xfrm>
              <a:off x="6477000" y="762000"/>
              <a:ext cx="5029200" cy="1428750"/>
            </a:xfrm>
            <a:prstGeom prst="roundRect">
              <a:avLst>
                <a:gd name="adj" fmla="val 8000"/>
              </a:avLst>
            </a:prstGeom>
            <a:solidFill>
              <a:schemeClr val="lt1"/>
            </a:solidFill>
            <a:ln w="14288">
              <a:solidFill>
                <a:schemeClr val="accent4"/>
              </a:solidFill>
            </a:ln>
          </p:spPr>
        </p:sp>
        <p:sp>
          <p:nvSpPr>
            <p:cNvPr id="25" name="Rectangle 25"/>
            <p:cNvSpPr/>
            <p:nvPr/>
          </p:nvSpPr>
          <p:spPr>
            <a:xfrm>
              <a:off x="6477000" y="762000"/>
              <a:ext cx="57150" cy="1428750"/>
            </a:xfrm>
            <a:prstGeom prst="roundRect">
              <a:avLst>
                <a:gd name="adj" fmla="val 50000"/>
              </a:avLst>
            </a:prstGeom>
            <a:solidFill>
              <a:srgbClr val="C2410C"/>
            </a:solidFill>
            <a:ln>
              <a:noFill/>
            </a:ln>
          </p:spPr>
        </p:sp>
        <p:sp>
          <p:nvSpPr>
            <p:cNvPr id="26" name="TextBox 26"/>
            <p:cNvSpPr txBox="1"/>
            <p:nvPr/>
          </p:nvSpPr>
          <p:spPr>
            <a:xfrm>
              <a:off x="6738747" y="999649"/>
              <a:ext cx="632405" cy="190690"/>
            </a:xfrm>
            <a:prstGeom prst="rect">
              <a:avLst/>
            </a:prstGeom>
            <a:noFill/>
            <a:ln>
              <a:noFill/>
            </a:ln>
          </p:spPr>
          <p:txBody>
            <a:bodyPr wrap="none" lIns="0" tIns="0" rIns="0" bIns="0" anchor="t" anchorCtr="0">
              <a:spAutoFit/>
            </a:bodyPr>
            <a:lstStyle/>
            <a:p>
              <a:pPr algn="l"/>
              <a:r>
                <a:rPr lang="en-US" sz="980" b="1" spc="112" dirty="0">
                  <a:solidFill>
                    <a:srgbClr val="C2410C"/>
                  </a:solidFill>
                  <a:latin typeface="+mn-lt"/>
                  <a:ea typeface="+mn-ea"/>
                  <a:cs typeface="+mn-cs"/>
                </a:rPr>
                <a:t>THE GAP</a:t>
              </a:r>
            </a:p>
          </p:txBody>
        </p:sp>
        <p:sp>
          <p:nvSpPr>
            <p:cNvPr id="27" name="TextBox 27"/>
            <p:cNvSpPr txBox="1"/>
            <p:nvPr/>
          </p:nvSpPr>
          <p:spPr>
            <a:xfrm>
              <a:off x="6737223" y="1291114"/>
              <a:ext cx="2965076"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Models look excellent on benchmark</a:t>
              </a:r>
            </a:p>
          </p:txBody>
        </p:sp>
        <p:sp>
          <p:nvSpPr>
            <p:cNvPr id="28" name="TextBox 28"/>
            <p:cNvSpPr txBox="1"/>
            <p:nvPr/>
          </p:nvSpPr>
          <p:spPr>
            <a:xfrm>
              <a:off x="6737223" y="1538764"/>
              <a:ext cx="3278297"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datasets, then break the moment they</a:t>
              </a:r>
            </a:p>
          </p:txBody>
        </p:sp>
        <p:sp>
          <p:nvSpPr>
            <p:cNvPr id="29" name="TextBox 29"/>
            <p:cNvSpPr txBox="1"/>
            <p:nvPr/>
          </p:nvSpPr>
          <p:spPr>
            <a:xfrm>
              <a:off x="6737223" y="1786414"/>
              <a:ext cx="2123796"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hit real production data.</a:t>
              </a:r>
            </a:p>
          </p:txBody>
        </p:sp>
      </p:grpSp>
      <p:grpSp>
        <p:nvGrpSpPr>
          <p:cNvPr id="37" name="Group 37"/>
          <p:cNvGrpSpPr/>
          <p:nvPr/>
        </p:nvGrpSpPr>
        <p:grpSpPr>
          <a:xfrm>
            <a:off x="6477000" y="2362200"/>
            <a:ext cx="5029200" cy="1428750"/>
            <a:chOff x="6477000" y="2362200"/>
            <a:chExt cx="5029200" cy="1428750"/>
          </a:xfrm>
        </p:grpSpPr>
        <p:sp>
          <p:nvSpPr>
            <p:cNvPr id="31" name="Rectangle 31"/>
            <p:cNvSpPr/>
            <p:nvPr/>
          </p:nvSpPr>
          <p:spPr>
            <a:xfrm>
              <a:off x="6477000" y="2362200"/>
              <a:ext cx="5029200" cy="1428750"/>
            </a:xfrm>
            <a:prstGeom prst="roundRect">
              <a:avLst>
                <a:gd name="adj" fmla="val 8000"/>
              </a:avLst>
            </a:prstGeom>
            <a:solidFill>
              <a:schemeClr val="lt1"/>
            </a:solidFill>
            <a:ln w="14288">
              <a:solidFill>
                <a:schemeClr val="accent4"/>
              </a:solidFill>
            </a:ln>
          </p:spPr>
        </p:sp>
        <p:sp>
          <p:nvSpPr>
            <p:cNvPr id="32" name="Rectangle 32"/>
            <p:cNvSpPr/>
            <p:nvPr/>
          </p:nvSpPr>
          <p:spPr>
            <a:xfrm>
              <a:off x="6477000" y="2362200"/>
              <a:ext cx="57150" cy="1428750"/>
            </a:xfrm>
            <a:prstGeom prst="roundRect">
              <a:avLst>
                <a:gd name="adj" fmla="val 50000"/>
              </a:avLst>
            </a:prstGeom>
            <a:solidFill>
              <a:srgbClr val="94A3B8"/>
            </a:solidFill>
            <a:ln>
              <a:noFill/>
            </a:ln>
          </p:spPr>
        </p:sp>
        <p:sp>
          <p:nvSpPr>
            <p:cNvPr id="33" name="TextBox 33"/>
            <p:cNvSpPr txBox="1"/>
            <p:nvPr/>
          </p:nvSpPr>
          <p:spPr>
            <a:xfrm>
              <a:off x="6738747" y="2599849"/>
              <a:ext cx="2116765" cy="190690"/>
            </a:xfrm>
            <a:prstGeom prst="rect">
              <a:avLst/>
            </a:prstGeom>
            <a:noFill/>
            <a:ln>
              <a:noFill/>
            </a:ln>
          </p:spPr>
          <p:txBody>
            <a:bodyPr wrap="none" lIns="0" tIns="0" rIns="0" bIns="0" anchor="t" anchorCtr="0">
              <a:spAutoFit/>
            </a:bodyPr>
            <a:lstStyle/>
            <a:p>
              <a:pPr algn="l"/>
              <a:r>
                <a:rPr lang="en-US" sz="980" b="1" spc="112" dirty="0">
                  <a:solidFill>
                    <a:schemeClr val="dk2"/>
                  </a:solidFill>
                  <a:latin typeface="+mn-lt"/>
                  <a:ea typeface="+mn-ea"/>
                  <a:cs typeface="+mn-cs"/>
                </a:rPr>
                <a:t>WHY THE OLD FRAME FAILS</a:t>
              </a:r>
            </a:p>
          </p:txBody>
        </p:sp>
        <p:sp>
          <p:nvSpPr>
            <p:cNvPr id="34" name="TextBox 34"/>
            <p:cNvSpPr txBox="1"/>
            <p:nvPr/>
          </p:nvSpPr>
          <p:spPr>
            <a:xfrm>
              <a:off x="6737223" y="2891314"/>
              <a:ext cx="3171702"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Distribution shift only measures that</a:t>
              </a:r>
            </a:p>
          </p:txBody>
        </p:sp>
        <p:sp>
          <p:nvSpPr>
            <p:cNvPr id="35" name="TextBox 35"/>
            <p:cNvSpPr txBox="1"/>
            <p:nvPr/>
          </p:nvSpPr>
          <p:spPr>
            <a:xfrm>
              <a:off x="6737223" y="3138964"/>
              <a:ext cx="2982533"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two datasets differ. It never tells</a:t>
              </a:r>
            </a:p>
          </p:txBody>
        </p:sp>
        <p:sp>
          <p:nvSpPr>
            <p:cNvPr id="36" name="TextBox 36"/>
            <p:cNvSpPr txBox="1"/>
            <p:nvPr/>
          </p:nvSpPr>
          <p:spPr>
            <a:xfrm>
              <a:off x="6737223" y="3386614"/>
              <a:ext cx="762518"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you why.</a:t>
              </a:r>
            </a:p>
          </p:txBody>
        </p:sp>
      </p:grpSp>
      <p:grpSp>
        <p:nvGrpSpPr>
          <p:cNvPr id="46" name="Group 46"/>
          <p:cNvGrpSpPr/>
          <p:nvPr/>
        </p:nvGrpSpPr>
        <p:grpSpPr>
          <a:xfrm>
            <a:off x="6477000" y="3962400"/>
            <a:ext cx="5029200" cy="2133600"/>
            <a:chOff x="6477000" y="3962400"/>
            <a:chExt cx="5029200" cy="2133600"/>
          </a:xfrm>
        </p:grpSpPr>
        <p:sp>
          <p:nvSpPr>
            <p:cNvPr id="38" name="Rectangle 38"/>
            <p:cNvSpPr/>
            <p:nvPr/>
          </p:nvSpPr>
          <p:spPr>
            <a:xfrm>
              <a:off x="6477000" y="3962400"/>
              <a:ext cx="5029200" cy="2133600"/>
            </a:xfrm>
            <a:prstGeom prst="roundRect">
              <a:avLst>
                <a:gd name="adj" fmla="val 5357"/>
              </a:avLst>
            </a:prstGeom>
            <a:solidFill>
              <a:schemeClr val="accent1"/>
            </a:solidFill>
            <a:ln w="14288">
              <a:solidFill>
                <a:schemeClr val="accent1"/>
              </a:solidFill>
            </a:ln>
          </p:spPr>
        </p:sp>
        <p:sp>
          <p:nvSpPr>
            <p:cNvPr id="39" name="Rectangle 39"/>
            <p:cNvSpPr/>
            <p:nvPr/>
          </p:nvSpPr>
          <p:spPr>
            <a:xfrm>
              <a:off x="6477000" y="3962400"/>
              <a:ext cx="57150" cy="2133600"/>
            </a:xfrm>
            <a:prstGeom prst="roundRect">
              <a:avLst>
                <a:gd name="adj" fmla="val 50000"/>
              </a:avLst>
            </a:prstGeom>
            <a:solidFill>
              <a:schemeClr val="accent2"/>
            </a:solidFill>
            <a:ln>
              <a:noFill/>
            </a:ln>
          </p:spPr>
        </p:sp>
        <p:sp>
          <p:nvSpPr>
            <p:cNvPr id="40" name="TextBox 40"/>
            <p:cNvSpPr txBox="1"/>
            <p:nvPr/>
          </p:nvSpPr>
          <p:spPr>
            <a:xfrm>
              <a:off x="6738747" y="4200049"/>
              <a:ext cx="1107245" cy="190690"/>
            </a:xfrm>
            <a:prstGeom prst="rect">
              <a:avLst/>
            </a:prstGeom>
            <a:noFill/>
            <a:ln>
              <a:noFill/>
            </a:ln>
          </p:spPr>
          <p:txBody>
            <a:bodyPr wrap="none" lIns="0" tIns="0" rIns="0" bIns="0" anchor="t" anchorCtr="0">
              <a:spAutoFit/>
            </a:bodyPr>
            <a:lstStyle/>
            <a:p>
              <a:pPr algn="l"/>
              <a:r>
                <a:rPr lang="en-US" sz="980" b="1" spc="112" dirty="0">
                  <a:solidFill>
                    <a:schemeClr val="accent2"/>
                  </a:solidFill>
                  <a:latin typeface="+mn-lt"/>
                  <a:ea typeface="+mn-ea"/>
                  <a:cs typeface="+mn-cs"/>
                </a:rPr>
                <a:t>THE NEW LENS</a:t>
              </a:r>
            </a:p>
          </p:txBody>
        </p:sp>
        <p:sp>
          <p:nvSpPr>
            <p:cNvPr id="41" name="TextBox 41"/>
            <p:cNvSpPr txBox="1"/>
            <p:nvPr/>
          </p:nvSpPr>
          <p:spPr>
            <a:xfrm>
              <a:off x="6728460" y="4495800"/>
              <a:ext cx="3116466" cy="586740"/>
            </a:xfrm>
            <a:prstGeom prst="rect">
              <a:avLst/>
            </a:prstGeom>
            <a:noFill/>
            <a:ln>
              <a:noFill/>
            </a:ln>
          </p:spPr>
          <p:txBody>
            <a:bodyPr wrap="none" lIns="0" tIns="0" rIns="0" bIns="0" anchor="t" anchorCtr="0">
              <a:spAutoFit/>
            </a:bodyPr>
            <a:lstStyle/>
            <a:p>
              <a:pPr algn="l"/>
              <a:r>
                <a:rPr lang="en-US" sz="3000" b="1" dirty="0">
                  <a:solidFill>
                    <a:srgbClr val="FFFFFF"/>
                  </a:solidFill>
                  <a:latin typeface="Georgia"/>
                  <a:ea typeface="Georgia"/>
                  <a:cs typeface="Georgia"/>
                </a:rPr>
                <a:t>Context Shift</a:t>
              </a:r>
            </a:p>
          </p:txBody>
        </p:sp>
        <p:sp>
          <p:nvSpPr>
            <p:cNvPr id="42" name="TextBox 42"/>
            <p:cNvSpPr txBox="1"/>
            <p:nvPr/>
          </p:nvSpPr>
          <p:spPr>
            <a:xfrm>
              <a:off x="6737604" y="5090160"/>
              <a:ext cx="3054275" cy="234696"/>
            </a:xfrm>
            <a:prstGeom prst="rect">
              <a:avLst/>
            </a:prstGeom>
            <a:noFill/>
            <a:ln>
              <a:noFill/>
            </a:ln>
          </p:spPr>
          <p:txBody>
            <a:bodyPr wrap="none" lIns="0" tIns="0" rIns="0" bIns="0" anchor="t" anchorCtr="0">
              <a:spAutoFit/>
            </a:bodyPr>
            <a:lstStyle/>
            <a:p>
              <a:pPr algn="l"/>
              <a:r>
                <a:rPr lang="en-US" sz="1200" dirty="0">
                  <a:solidFill>
                    <a:srgbClr val="EEF2F9"/>
                  </a:solidFill>
                  <a:latin typeface="+mn-lt"/>
                  <a:ea typeface="+mn-ea"/>
                  <a:cs typeface="+mn-cs"/>
                </a:rPr>
                <a:t>The semantically meaningful changes in</a:t>
              </a:r>
            </a:p>
          </p:txBody>
        </p:sp>
        <p:sp>
          <p:nvSpPr>
            <p:cNvPr id="43" name="TextBox 43"/>
            <p:cNvSpPr txBox="1"/>
            <p:nvPr/>
          </p:nvSpPr>
          <p:spPr>
            <a:xfrm>
              <a:off x="6737604" y="5318760"/>
              <a:ext cx="2645359" cy="234696"/>
            </a:xfrm>
            <a:prstGeom prst="rect">
              <a:avLst/>
            </a:prstGeom>
            <a:noFill/>
            <a:ln>
              <a:noFill/>
            </a:ln>
          </p:spPr>
          <p:txBody>
            <a:bodyPr wrap="none" lIns="0" tIns="0" rIns="0" bIns="0" anchor="t" anchorCtr="0">
              <a:spAutoFit/>
            </a:bodyPr>
            <a:lstStyle/>
            <a:p>
              <a:pPr algn="l"/>
              <a:r>
                <a:rPr lang="en-US" sz="1200" dirty="0">
                  <a:solidFill>
                    <a:srgbClr val="EEF2F9"/>
                  </a:solidFill>
                  <a:latin typeface="+mn-lt"/>
                  <a:ea typeface="+mn-ea"/>
                  <a:cs typeface="+mn-cs"/>
                </a:rPr>
                <a:t>how data are created, collected,</a:t>
              </a:r>
            </a:p>
          </p:txBody>
        </p:sp>
        <p:sp>
          <p:nvSpPr>
            <p:cNvPr id="44" name="TextBox 44"/>
            <p:cNvSpPr txBox="1"/>
            <p:nvPr/>
          </p:nvSpPr>
          <p:spPr>
            <a:xfrm>
              <a:off x="6737604" y="5547360"/>
              <a:ext cx="2863444" cy="234696"/>
            </a:xfrm>
            <a:prstGeom prst="rect">
              <a:avLst/>
            </a:prstGeom>
            <a:noFill/>
            <a:ln>
              <a:noFill/>
            </a:ln>
          </p:spPr>
          <p:txBody>
            <a:bodyPr wrap="none" lIns="0" tIns="0" rIns="0" bIns="0" anchor="t" anchorCtr="0">
              <a:spAutoFit/>
            </a:bodyPr>
            <a:lstStyle/>
            <a:p>
              <a:pPr algn="l"/>
              <a:r>
                <a:rPr lang="en-US" sz="1200" dirty="0">
                  <a:solidFill>
                    <a:srgbClr val="EEF2F9"/>
                  </a:solidFill>
                  <a:latin typeface="+mn-lt"/>
                  <a:ea typeface="+mn-ea"/>
                  <a:cs typeface="+mn-cs"/>
                </a:rPr>
                <a:t>and curated: the upstream cause of</a:t>
              </a:r>
            </a:p>
          </p:txBody>
        </p:sp>
        <p:sp>
          <p:nvSpPr>
            <p:cNvPr id="45" name="TextBox 45"/>
            <p:cNvSpPr txBox="1"/>
            <p:nvPr/>
          </p:nvSpPr>
          <p:spPr>
            <a:xfrm>
              <a:off x="6737604" y="5775960"/>
              <a:ext cx="1869948" cy="234696"/>
            </a:xfrm>
            <a:prstGeom prst="rect">
              <a:avLst/>
            </a:prstGeom>
            <a:noFill/>
            <a:ln>
              <a:noFill/>
            </a:ln>
          </p:spPr>
          <p:txBody>
            <a:bodyPr wrap="none" lIns="0" tIns="0" rIns="0" bIns="0" anchor="t" anchorCtr="0">
              <a:spAutoFit/>
            </a:bodyPr>
            <a:lstStyle/>
            <a:p>
              <a:pPr algn="l"/>
              <a:r>
                <a:rPr lang="en-US" sz="1200" dirty="0">
                  <a:solidFill>
                    <a:srgbClr val="EEF2F9"/>
                  </a:solidFill>
                  <a:latin typeface="+mn-lt"/>
                  <a:ea typeface="+mn-ea"/>
                  <a:cs typeface="+mn-cs"/>
                </a:rPr>
                <a:t>the shifts we measure.</a:t>
              </a:r>
            </a:p>
          </p:txBody>
        </p:sp>
      </p:grpSp>
      <p:sp>
        <p:nvSpPr>
          <p:cNvPr id="47" name="TextBox 47"/>
          <p:cNvSpPr txBox="1"/>
          <p:nvPr/>
        </p:nvSpPr>
        <p:spPr>
          <a:xfrm>
            <a:off x="11380010" y="6597491"/>
            <a:ext cx="130952" cy="161925"/>
          </a:xfrm>
          <a:prstGeom prst="rect">
            <a:avLst/>
          </a:prstGeom>
          <a:noFill/>
          <a:ln>
            <a:noFill/>
          </a:ln>
        </p:spPr>
        <p:txBody>
          <a:bodyPr wrap="none" lIns="0" tIns="0" rIns="0" bIns="0" anchor="t" anchorCtr="0">
            <a:spAutoFit/>
          </a:bodyPr>
          <a:lstStyle/>
          <a:p>
            <a:pPr algn="r"/>
            <a:r>
              <a:rPr lang="en-US" sz="820" dirty="0">
                <a:solidFill>
                  <a:srgbClr val="94A3B8"/>
                </a:solidFill>
                <a:latin typeface="+mn-lt"/>
                <a:ea typeface="+mn-ea"/>
                <a:cs typeface="+mn-cs"/>
              </a:rPr>
              <a:t>01</a:t>
            </a:r>
          </a:p>
        </p:txBody>
      </p:sp>
      <p:sp>
        <p:nvSpPr>
          <p:cNvPr id="48" name="cue_s01_c1_machine_learning_models_often_look" title="cue_s01_c1_machine_learning_models_often_look" descr="cue_s01_c1_machine_learning_models_often_look Machine learning models often look excellent on benchmark datasets, then break the moment they hit real production data."/>
          <p:cNvSpPr/>
          <p:nvPr/>
        </p:nvSpPr>
        <p:spPr>
          <a:xfrm>
            <a:off x="6476390" y="761923"/>
            <a:ext cx="5029200" cy="14285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cue_s01_c2_matthew_groh_mit_media_lab" title="cue_s01_c2_matthew_groh_mit_media_lab" descr="cue_s01_c2_matthew_groh_mit_media_lab This paper by Matthew Groh at the MIT Media Lab argues that the usual explanation, distribution shift, is the wrong frame."/>
          <p:cNvSpPr/>
          <p:nvPr/>
        </p:nvSpPr>
        <p:spPr>
          <a:xfrm>
            <a:off x="686409" y="3733495"/>
            <a:ext cx="5296204" cy="121935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cue_s01_c3_distribution_shift_only_measures_two" title="cue_s01_c3_distribution_shift_only_measures_two" descr="cue_s01_c3_distribution_shift_only_measures_two Distribution shift only measures that two datasets differ; it never tells you why."/>
          <p:cNvSpPr/>
          <p:nvPr/>
        </p:nvSpPr>
        <p:spPr>
          <a:xfrm>
            <a:off x="6476390" y="2361895"/>
            <a:ext cx="5029200" cy="14285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cue_s01_c4_groh_introduces_context_shift_semant" title="cue_s01_c4_groh_introduces_context_shift_semant" descr="cue_s01_c4_groh_introduces_context_shift_semant Groh introduces context shift, the semantically meaningful changes in how data are created, collected, and curated that actually drive those failures, and lays out three concrete ways to address it: leaning on human intuition and expert knowledge, building dyn"/>
          <p:cNvSpPr/>
          <p:nvPr/>
        </p:nvSpPr>
        <p:spPr>
          <a:xfrm>
            <a:off x="6476390" y="3962552"/>
            <a:ext cx="5029200" cy="2133523"/>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609600" y="552450"/>
            <a:ext cx="9373252" cy="656939"/>
            <a:chOff x="609600" y="552450"/>
            <a:chExt cx="9373252" cy="656939"/>
          </a:xfrm>
        </p:grpSpPr>
        <p:sp>
          <p:nvSpPr>
            <p:cNvPr id="2" name="Rectangle 2"/>
            <p:cNvSpPr/>
            <p:nvPr/>
          </p:nvSpPr>
          <p:spPr>
            <a:xfrm>
              <a:off x="609600" y="552450"/>
              <a:ext cx="57150" cy="400050"/>
            </a:xfrm>
            <a:prstGeom prst="rect">
              <a:avLst/>
            </a:prstGeom>
            <a:solidFill>
              <a:schemeClr val="accent2"/>
            </a:solidFill>
            <a:ln>
              <a:noFill/>
            </a:ln>
          </p:spPr>
        </p:sp>
        <p:sp>
          <p:nvSpPr>
            <p:cNvPr id="3" name="TextBox 3"/>
            <p:cNvSpPr txBox="1"/>
            <p:nvPr/>
          </p:nvSpPr>
          <p:spPr>
            <a:xfrm>
              <a:off x="826770" y="614362"/>
              <a:ext cx="9156082" cy="440055"/>
            </a:xfrm>
            <a:prstGeom prst="rect">
              <a:avLst/>
            </a:prstGeom>
            <a:noFill/>
            <a:ln>
              <a:noFill/>
            </a:ln>
          </p:spPr>
          <p:txBody>
            <a:bodyPr wrap="none" lIns="0" tIns="0" rIns="0" bIns="0" anchor="t" anchorCtr="0">
              <a:spAutoFit/>
            </a:bodyPr>
            <a:lstStyle/>
            <a:p>
              <a:pPr algn="l"/>
              <a:r>
                <a:rPr lang="en-US" sz="2250" b="1" dirty="0">
                  <a:solidFill>
                    <a:schemeClr val="accent1"/>
                  </a:solidFill>
                  <a:latin typeface="Georgia"/>
                  <a:ea typeface="Georgia"/>
                  <a:cs typeface="Georgia"/>
                </a:rPr>
                <a:t>A static benchmark cannot stand in for a dynamic world</a:t>
              </a:r>
            </a:p>
          </p:txBody>
        </p:sp>
        <p:sp>
          <p:nvSpPr>
            <p:cNvPr id="4" name="TextBox 4"/>
            <p:cNvSpPr txBox="1"/>
            <p:nvPr/>
          </p:nvSpPr>
          <p:spPr>
            <a:xfrm>
              <a:off x="833247" y="1018699"/>
              <a:ext cx="4438442" cy="190690"/>
            </a:xfrm>
            <a:prstGeom prst="rect">
              <a:avLst/>
            </a:prstGeom>
            <a:noFill/>
            <a:ln>
              <a:noFill/>
            </a:ln>
          </p:spPr>
          <p:txBody>
            <a:bodyPr wrap="none" lIns="0" tIns="0" rIns="0" bIns="0" anchor="t" anchorCtr="0">
              <a:spAutoFit/>
            </a:bodyPr>
            <a:lstStyle/>
            <a:p>
              <a:pPr algn="l"/>
              <a:r>
                <a:rPr lang="en-US" sz="980" b="1" spc="112" dirty="0">
                  <a:solidFill>
                    <a:schemeClr val="dk2"/>
                  </a:solidFill>
                  <a:latin typeface="+mn-lt"/>
                  <a:ea typeface="+mn-ea"/>
                  <a:cs typeface="+mn-cs"/>
                </a:rPr>
                <a:t>THE PROBLEM · WHY STRONG SCORES DO NOT TRANSFER</a:t>
              </a:r>
            </a:p>
          </p:txBody>
        </p:sp>
      </p:grpSp>
      <p:grpSp>
        <p:nvGrpSpPr>
          <p:cNvPr id="15" name="Group 15"/>
          <p:cNvGrpSpPr/>
          <p:nvPr/>
        </p:nvGrpSpPr>
        <p:grpSpPr>
          <a:xfrm>
            <a:off x="609600" y="1428750"/>
            <a:ext cx="5372100" cy="2219325"/>
            <a:chOff x="609600" y="1428750"/>
            <a:chExt cx="5372100" cy="2219325"/>
          </a:xfrm>
        </p:grpSpPr>
        <p:sp>
          <p:nvSpPr>
            <p:cNvPr id="6" name="Rectangle 6"/>
            <p:cNvSpPr/>
            <p:nvPr/>
          </p:nvSpPr>
          <p:spPr>
            <a:xfrm>
              <a:off x="609600" y="1428750"/>
              <a:ext cx="5372100" cy="2219325"/>
            </a:xfrm>
            <a:prstGeom prst="roundRect">
              <a:avLst>
                <a:gd name="adj" fmla="val 5150"/>
              </a:avLst>
            </a:prstGeom>
            <a:solidFill>
              <a:schemeClr val="accent5"/>
            </a:solidFill>
            <a:ln w="14288">
              <a:solidFill>
                <a:schemeClr val="accent4"/>
              </a:solidFill>
            </a:ln>
          </p:spPr>
        </p:sp>
        <p:sp>
          <p:nvSpPr>
            <p:cNvPr id="7" name="Rectangle 7"/>
            <p:cNvSpPr/>
            <p:nvPr/>
          </p:nvSpPr>
          <p:spPr>
            <a:xfrm>
              <a:off x="609600" y="1428750"/>
              <a:ext cx="57150" cy="2219325"/>
            </a:xfrm>
            <a:prstGeom prst="roundRect">
              <a:avLst>
                <a:gd name="adj" fmla="val 50000"/>
              </a:avLst>
            </a:prstGeom>
            <a:solidFill>
              <a:schemeClr val="accent2"/>
            </a:solidFill>
            <a:ln>
              <a:noFill/>
            </a:ln>
          </p:spPr>
        </p:sp>
        <p:sp>
          <p:nvSpPr>
            <p:cNvPr id="8" name="TextBox 8"/>
            <p:cNvSpPr txBox="1"/>
            <p:nvPr/>
          </p:nvSpPr>
          <p:spPr>
            <a:xfrm>
              <a:off x="871347" y="1666399"/>
              <a:ext cx="2308334" cy="190690"/>
            </a:xfrm>
            <a:prstGeom prst="rect">
              <a:avLst/>
            </a:prstGeom>
            <a:noFill/>
            <a:ln>
              <a:noFill/>
            </a:ln>
          </p:spPr>
          <p:txBody>
            <a:bodyPr wrap="none" lIns="0" tIns="0" rIns="0" bIns="0" anchor="t" anchorCtr="0">
              <a:spAutoFit/>
            </a:bodyPr>
            <a:lstStyle/>
            <a:p>
              <a:pPr algn="l"/>
              <a:r>
                <a:rPr lang="en-US" sz="980" b="1" spc="112" dirty="0">
                  <a:solidFill>
                    <a:schemeClr val="accent2"/>
                  </a:solidFill>
                  <a:latin typeface="+mn-lt"/>
                  <a:ea typeface="+mn-ea"/>
                  <a:cs typeface="+mn-cs"/>
                </a:rPr>
                <a:t>TWO ROLES OF A BENCHMARK</a:t>
              </a:r>
            </a:p>
          </p:txBody>
        </p:sp>
        <p:sp>
          <p:nvSpPr>
            <p:cNvPr id="9" name="TextBox 9"/>
            <p:cNvSpPr txBox="1"/>
            <p:nvPr/>
          </p:nvSpPr>
          <p:spPr>
            <a:xfrm>
              <a:off x="869061" y="1960721"/>
              <a:ext cx="3627073" cy="278702"/>
            </a:xfrm>
            <a:prstGeom prst="rect">
              <a:avLst/>
            </a:prstGeom>
            <a:noFill/>
            <a:ln>
              <a:noFill/>
            </a:ln>
          </p:spPr>
          <p:txBody>
            <a:bodyPr wrap="none" lIns="0" tIns="0" rIns="0" bIns="0" anchor="t" anchorCtr="0">
              <a:spAutoFit/>
            </a:bodyPr>
            <a:lstStyle/>
            <a:p>
              <a:pPr algn="l"/>
              <a:r>
                <a:rPr lang="en-US" sz="1420" b="1" dirty="0">
                  <a:solidFill>
                    <a:schemeClr val="accent1"/>
                  </a:solidFill>
                  <a:latin typeface="Georgia"/>
                  <a:ea typeface="Georgia"/>
                  <a:cs typeface="Georgia"/>
                </a:rPr>
                <a:t>Compare methods, model the world</a:t>
              </a:r>
            </a:p>
          </p:txBody>
        </p:sp>
        <p:sp>
          <p:nvSpPr>
            <p:cNvPr id="10" name="TextBox 10"/>
            <p:cNvSpPr txBox="1"/>
            <p:nvPr/>
          </p:nvSpPr>
          <p:spPr>
            <a:xfrm>
              <a:off x="870204" y="2308860"/>
              <a:ext cx="3078866"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A benchmark lets researchers compare</a:t>
              </a:r>
            </a:p>
          </p:txBody>
        </p:sp>
        <p:sp>
          <p:nvSpPr>
            <p:cNvPr id="11" name="TextBox 11"/>
            <p:cNvSpPr txBox="1"/>
            <p:nvPr/>
          </p:nvSpPr>
          <p:spPr>
            <a:xfrm>
              <a:off x="870204" y="2537460"/>
              <a:ext cx="2653436"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methods, and also stands in as an</a:t>
              </a:r>
            </a:p>
          </p:txBody>
        </p:sp>
        <p:sp>
          <p:nvSpPr>
            <p:cNvPr id="12" name="TextBox 12"/>
            <p:cNvSpPr txBox="1"/>
            <p:nvPr/>
          </p:nvSpPr>
          <p:spPr>
            <a:xfrm>
              <a:off x="870204" y="2766060"/>
              <a:ext cx="2766517"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imperfect model of the real world.</a:t>
              </a:r>
            </a:p>
          </p:txBody>
        </p:sp>
        <p:sp>
          <p:nvSpPr>
            <p:cNvPr id="13" name="TextBox 13"/>
            <p:cNvSpPr txBox="1"/>
            <p:nvPr/>
          </p:nvSpPr>
          <p:spPr>
            <a:xfrm>
              <a:off x="870585" y="3155156"/>
              <a:ext cx="3092504"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One static set cannot capture a dynamic,</a:t>
              </a:r>
            </a:p>
          </p:txBody>
        </p:sp>
        <p:sp>
          <p:nvSpPr>
            <p:cNvPr id="14" name="TextBox 14"/>
            <p:cNvSpPr txBox="1"/>
            <p:nvPr/>
          </p:nvSpPr>
          <p:spPr>
            <a:xfrm>
              <a:off x="870585" y="3364706"/>
              <a:ext cx="2016730"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high-dimensional real task.</a:t>
              </a:r>
            </a:p>
          </p:txBody>
        </p:sp>
      </p:grpSp>
      <p:grpSp>
        <p:nvGrpSpPr>
          <p:cNvPr id="24" name="Group 24"/>
          <p:cNvGrpSpPr/>
          <p:nvPr/>
        </p:nvGrpSpPr>
        <p:grpSpPr>
          <a:xfrm>
            <a:off x="6210300" y="1428750"/>
            <a:ext cx="5372100" cy="2219325"/>
            <a:chOff x="6210300" y="1428750"/>
            <a:chExt cx="5372100" cy="2219325"/>
          </a:xfrm>
        </p:grpSpPr>
        <p:sp>
          <p:nvSpPr>
            <p:cNvPr id="16" name="Rectangle 16"/>
            <p:cNvSpPr/>
            <p:nvPr/>
          </p:nvSpPr>
          <p:spPr>
            <a:xfrm>
              <a:off x="6210300" y="1428750"/>
              <a:ext cx="5372100" cy="2219325"/>
            </a:xfrm>
            <a:prstGeom prst="roundRect">
              <a:avLst>
                <a:gd name="adj" fmla="val 5150"/>
              </a:avLst>
            </a:prstGeom>
            <a:solidFill>
              <a:schemeClr val="lt1"/>
            </a:solidFill>
            <a:ln w="14288">
              <a:solidFill>
                <a:schemeClr val="accent4"/>
              </a:solidFill>
            </a:ln>
          </p:spPr>
        </p:sp>
        <p:sp>
          <p:nvSpPr>
            <p:cNvPr id="17" name="Rectangle 17"/>
            <p:cNvSpPr/>
            <p:nvPr/>
          </p:nvSpPr>
          <p:spPr>
            <a:xfrm>
              <a:off x="6210300" y="1428750"/>
              <a:ext cx="57150" cy="2219325"/>
            </a:xfrm>
            <a:prstGeom prst="roundRect">
              <a:avLst>
                <a:gd name="adj" fmla="val 50000"/>
              </a:avLst>
            </a:prstGeom>
            <a:solidFill>
              <a:srgbClr val="C2410C"/>
            </a:solidFill>
            <a:ln>
              <a:noFill/>
            </a:ln>
          </p:spPr>
        </p:sp>
        <p:sp>
          <p:nvSpPr>
            <p:cNvPr id="18" name="TextBox 18"/>
            <p:cNvSpPr txBox="1"/>
            <p:nvPr/>
          </p:nvSpPr>
          <p:spPr>
            <a:xfrm>
              <a:off x="6472047" y="1666399"/>
              <a:ext cx="1907971" cy="190690"/>
            </a:xfrm>
            <a:prstGeom prst="rect">
              <a:avLst/>
            </a:prstGeom>
            <a:noFill/>
            <a:ln>
              <a:noFill/>
            </a:ln>
          </p:spPr>
          <p:txBody>
            <a:bodyPr wrap="none" lIns="0" tIns="0" rIns="0" bIns="0" anchor="t" anchorCtr="0">
              <a:spAutoFit/>
            </a:bodyPr>
            <a:lstStyle/>
            <a:p>
              <a:pPr algn="l"/>
              <a:r>
                <a:rPr lang="en-US" sz="980" b="1" spc="112" dirty="0">
                  <a:solidFill>
                    <a:srgbClr val="C2410C"/>
                  </a:solidFill>
                  <a:latin typeface="+mn-lt"/>
                  <a:ea typeface="+mn-ea"/>
                  <a:cs typeface="+mn-cs"/>
                </a:rPr>
                <a:t>HUMAN-LEVEL ON PAPER</a:t>
              </a:r>
            </a:p>
          </p:txBody>
        </p:sp>
        <p:sp>
          <p:nvSpPr>
            <p:cNvPr id="19" name="TextBox 19"/>
            <p:cNvSpPr txBox="1"/>
            <p:nvPr/>
          </p:nvSpPr>
          <p:spPr>
            <a:xfrm>
              <a:off x="6469761" y="1960721"/>
              <a:ext cx="1864420" cy="278702"/>
            </a:xfrm>
            <a:prstGeom prst="rect">
              <a:avLst/>
            </a:prstGeom>
            <a:noFill/>
            <a:ln>
              <a:noFill/>
            </a:ln>
          </p:spPr>
          <p:txBody>
            <a:bodyPr wrap="none" lIns="0" tIns="0" rIns="0" bIns="0" anchor="t" anchorCtr="0">
              <a:spAutoFit/>
            </a:bodyPr>
            <a:lstStyle/>
            <a:p>
              <a:pPr algn="l"/>
              <a:r>
                <a:rPr lang="en-US" sz="1420" b="1" dirty="0">
                  <a:solidFill>
                    <a:schemeClr val="accent1"/>
                  </a:solidFill>
                  <a:latin typeface="Georgia"/>
                  <a:ea typeface="Georgia"/>
                  <a:cs typeface="Georgia"/>
                </a:rPr>
                <a:t>Errors in the wild</a:t>
              </a:r>
            </a:p>
          </p:txBody>
        </p:sp>
        <p:sp>
          <p:nvSpPr>
            <p:cNvPr id="20" name="TextBox 20"/>
            <p:cNvSpPr txBox="1"/>
            <p:nvPr/>
          </p:nvSpPr>
          <p:spPr>
            <a:xfrm>
              <a:off x="6470904" y="2308860"/>
              <a:ext cx="3079040"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Models that match or beat human-level</a:t>
              </a:r>
            </a:p>
          </p:txBody>
        </p:sp>
        <p:sp>
          <p:nvSpPr>
            <p:cNvPr id="21" name="TextBox 21"/>
            <p:cNvSpPr txBox="1"/>
            <p:nvPr/>
          </p:nvSpPr>
          <p:spPr>
            <a:xfrm>
              <a:off x="6470904" y="2537460"/>
              <a:ext cx="3049219"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accuracy on a benchmark routinely err</a:t>
              </a:r>
            </a:p>
          </p:txBody>
        </p:sp>
        <p:sp>
          <p:nvSpPr>
            <p:cNvPr id="22" name="TextBox 22"/>
            <p:cNvSpPr txBox="1"/>
            <p:nvPr/>
          </p:nvSpPr>
          <p:spPr>
            <a:xfrm>
              <a:off x="6470904" y="2766060"/>
              <a:ext cx="3202686"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on out-of-distribution and adversarially</a:t>
              </a:r>
            </a:p>
          </p:txBody>
        </p:sp>
        <p:sp>
          <p:nvSpPr>
            <p:cNvPr id="23" name="TextBox 23"/>
            <p:cNvSpPr txBox="1"/>
            <p:nvPr/>
          </p:nvSpPr>
          <p:spPr>
            <a:xfrm>
              <a:off x="6470904" y="2994660"/>
              <a:ext cx="2201113"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perturbed production data.</a:t>
              </a:r>
            </a:p>
          </p:txBody>
        </p:sp>
      </p:grpSp>
      <p:grpSp>
        <p:nvGrpSpPr>
          <p:cNvPr id="37" name="Group 37"/>
          <p:cNvGrpSpPr/>
          <p:nvPr/>
        </p:nvGrpSpPr>
        <p:grpSpPr>
          <a:xfrm>
            <a:off x="609600" y="3838575"/>
            <a:ext cx="5372100" cy="2219325"/>
            <a:chOff x="609600" y="3838575"/>
            <a:chExt cx="5372100" cy="2219325"/>
          </a:xfrm>
        </p:grpSpPr>
        <p:sp>
          <p:nvSpPr>
            <p:cNvPr id="25" name="Rectangle 25"/>
            <p:cNvSpPr/>
            <p:nvPr/>
          </p:nvSpPr>
          <p:spPr>
            <a:xfrm>
              <a:off x="609600" y="3838575"/>
              <a:ext cx="5372100" cy="2219325"/>
            </a:xfrm>
            <a:prstGeom prst="roundRect">
              <a:avLst>
                <a:gd name="adj" fmla="val 5150"/>
              </a:avLst>
            </a:prstGeom>
            <a:solidFill>
              <a:schemeClr val="lt1"/>
            </a:solidFill>
            <a:ln w="14288">
              <a:solidFill>
                <a:schemeClr val="accent4"/>
              </a:solidFill>
            </a:ln>
          </p:spPr>
        </p:sp>
        <p:sp>
          <p:nvSpPr>
            <p:cNvPr id="26" name="Rectangle 26"/>
            <p:cNvSpPr/>
            <p:nvPr/>
          </p:nvSpPr>
          <p:spPr>
            <a:xfrm>
              <a:off x="609600" y="3838575"/>
              <a:ext cx="57150" cy="2219325"/>
            </a:xfrm>
            <a:prstGeom prst="roundRect">
              <a:avLst>
                <a:gd name="adj" fmla="val 50000"/>
              </a:avLst>
            </a:prstGeom>
            <a:solidFill>
              <a:srgbClr val="94A3B8"/>
            </a:solidFill>
            <a:ln>
              <a:noFill/>
            </a:ln>
          </p:spPr>
        </p:sp>
        <p:sp>
          <p:nvSpPr>
            <p:cNvPr id="27" name="TextBox 27"/>
            <p:cNvSpPr txBox="1"/>
            <p:nvPr/>
          </p:nvSpPr>
          <p:spPr>
            <a:xfrm>
              <a:off x="871347" y="4076224"/>
              <a:ext cx="2533059" cy="190690"/>
            </a:xfrm>
            <a:prstGeom prst="rect">
              <a:avLst/>
            </a:prstGeom>
            <a:noFill/>
            <a:ln>
              <a:noFill/>
            </a:ln>
          </p:spPr>
          <p:txBody>
            <a:bodyPr wrap="none" lIns="0" tIns="0" rIns="0" bIns="0" anchor="t" anchorCtr="0">
              <a:spAutoFit/>
            </a:bodyPr>
            <a:lstStyle/>
            <a:p>
              <a:pPr algn="l"/>
              <a:r>
                <a:rPr lang="en-US" sz="980" b="1" spc="112" dirty="0">
                  <a:solidFill>
                    <a:schemeClr val="dk2"/>
                  </a:solidFill>
                  <a:latin typeface="+mn-lt"/>
                  <a:ea typeface="+mn-ea"/>
                  <a:cs typeface="+mn-cs"/>
                </a:rPr>
                <a:t>THE FIELD'S NAME FOR THE GAP</a:t>
              </a:r>
            </a:p>
          </p:txBody>
        </p:sp>
        <p:sp>
          <p:nvSpPr>
            <p:cNvPr id="28" name="TextBox 28"/>
            <p:cNvSpPr txBox="1"/>
            <p:nvPr/>
          </p:nvSpPr>
          <p:spPr>
            <a:xfrm>
              <a:off x="869061" y="4370546"/>
              <a:ext cx="1872092" cy="278702"/>
            </a:xfrm>
            <a:prstGeom prst="rect">
              <a:avLst/>
            </a:prstGeom>
            <a:noFill/>
            <a:ln>
              <a:noFill/>
            </a:ln>
          </p:spPr>
          <p:txBody>
            <a:bodyPr wrap="none" lIns="0" tIns="0" rIns="0" bIns="0" anchor="t" anchorCtr="0">
              <a:spAutoFit/>
            </a:bodyPr>
            <a:lstStyle/>
            <a:p>
              <a:pPr algn="l"/>
              <a:r>
                <a:rPr lang="en-US" sz="1420" b="1" dirty="0">
                  <a:solidFill>
                    <a:schemeClr val="accent1"/>
                  </a:solidFill>
                  <a:latin typeface="Georgia"/>
                  <a:ea typeface="Georgia"/>
                  <a:cs typeface="Georgia"/>
                </a:rPr>
                <a:t>Distribution shift</a:t>
              </a:r>
            </a:p>
          </p:txBody>
        </p:sp>
        <p:sp>
          <p:nvSpPr>
            <p:cNvPr id="29" name="TextBox 29"/>
            <p:cNvSpPr txBox="1"/>
            <p:nvPr/>
          </p:nvSpPr>
          <p:spPr>
            <a:xfrm>
              <a:off x="870204" y="4718685"/>
              <a:ext cx="2408248"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The field describes this gap as</a:t>
              </a:r>
            </a:p>
          </p:txBody>
        </p:sp>
        <p:sp>
          <p:nvSpPr>
            <p:cNvPr id="30" name="TextBox 30"/>
            <p:cNvSpPr txBox="1"/>
            <p:nvPr/>
          </p:nvSpPr>
          <p:spPr>
            <a:xfrm>
              <a:off x="870204" y="4947285"/>
              <a:ext cx="3146146"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distribution shift, with subcategories:</a:t>
              </a:r>
            </a:p>
          </p:txBody>
        </p:sp>
        <p:sp>
          <p:nvSpPr>
            <p:cNvPr id="31" name="Rectangle 31"/>
            <p:cNvSpPr/>
            <p:nvPr/>
          </p:nvSpPr>
          <p:spPr>
            <a:xfrm>
              <a:off x="876300" y="5257800"/>
              <a:ext cx="1428750" cy="285750"/>
            </a:xfrm>
            <a:prstGeom prst="roundRect">
              <a:avLst>
                <a:gd name="adj" fmla="val 50000"/>
              </a:avLst>
            </a:prstGeom>
            <a:solidFill>
              <a:schemeClr val="accent6"/>
            </a:solidFill>
            <a:ln>
              <a:noFill/>
            </a:ln>
          </p:spPr>
        </p:sp>
        <p:sp>
          <p:nvSpPr>
            <p:cNvPr id="32" name="TextBox 32"/>
            <p:cNvSpPr txBox="1"/>
            <p:nvPr/>
          </p:nvSpPr>
          <p:spPr>
            <a:xfrm>
              <a:off x="985266" y="5334952"/>
              <a:ext cx="1070801" cy="205359"/>
            </a:xfrm>
            <a:prstGeom prst="rect">
              <a:avLst/>
            </a:prstGeom>
            <a:noFill/>
            <a:ln>
              <a:noFill/>
            </a:ln>
          </p:spPr>
          <p:txBody>
            <a:bodyPr wrap="none" lIns="0" tIns="0" rIns="0" bIns="0" anchor="t" anchorCtr="0">
              <a:spAutoFit/>
            </a:bodyPr>
            <a:lstStyle/>
            <a:p>
              <a:pPr algn="l"/>
              <a:r>
                <a:rPr lang="en-US" sz="1050" dirty="0">
                  <a:solidFill>
                    <a:schemeClr val="accent1"/>
                  </a:solidFill>
                  <a:latin typeface="+mn-lt"/>
                  <a:ea typeface="+mn-ea"/>
                  <a:cs typeface="+mn-cs"/>
                </a:rPr>
                <a:t>covariate shift</a:t>
              </a:r>
            </a:p>
          </p:txBody>
        </p:sp>
        <p:sp>
          <p:nvSpPr>
            <p:cNvPr id="33" name="Rectangle 33"/>
            <p:cNvSpPr/>
            <p:nvPr/>
          </p:nvSpPr>
          <p:spPr>
            <a:xfrm>
              <a:off x="2438400" y="5257800"/>
              <a:ext cx="1333500" cy="285750"/>
            </a:xfrm>
            <a:prstGeom prst="roundRect">
              <a:avLst>
                <a:gd name="adj" fmla="val 50000"/>
              </a:avLst>
            </a:prstGeom>
            <a:solidFill>
              <a:schemeClr val="accent6"/>
            </a:solidFill>
            <a:ln>
              <a:noFill/>
            </a:ln>
          </p:spPr>
        </p:sp>
        <p:sp>
          <p:nvSpPr>
            <p:cNvPr id="34" name="TextBox 34"/>
            <p:cNvSpPr txBox="1"/>
            <p:nvPr/>
          </p:nvSpPr>
          <p:spPr>
            <a:xfrm>
              <a:off x="2547366" y="5334952"/>
              <a:ext cx="1155611" cy="205359"/>
            </a:xfrm>
            <a:prstGeom prst="rect">
              <a:avLst/>
            </a:prstGeom>
            <a:noFill/>
            <a:ln>
              <a:noFill/>
            </a:ln>
          </p:spPr>
          <p:txBody>
            <a:bodyPr wrap="none" lIns="0" tIns="0" rIns="0" bIns="0" anchor="t" anchorCtr="0">
              <a:spAutoFit/>
            </a:bodyPr>
            <a:lstStyle/>
            <a:p>
              <a:pPr algn="l"/>
              <a:r>
                <a:rPr lang="en-US" sz="1050" dirty="0">
                  <a:solidFill>
                    <a:schemeClr val="accent1"/>
                  </a:solidFill>
                  <a:latin typeface="+mn-lt"/>
                  <a:ea typeface="+mn-ea"/>
                  <a:cs typeface="+mn-cs"/>
                </a:rPr>
                <a:t>prior probability</a:t>
              </a:r>
            </a:p>
          </p:txBody>
        </p:sp>
        <p:sp>
          <p:nvSpPr>
            <p:cNvPr id="35" name="Rectangle 35"/>
            <p:cNvSpPr/>
            <p:nvPr/>
          </p:nvSpPr>
          <p:spPr>
            <a:xfrm>
              <a:off x="3905250" y="5257800"/>
              <a:ext cx="1143000" cy="285750"/>
            </a:xfrm>
            <a:prstGeom prst="roundRect">
              <a:avLst>
                <a:gd name="adj" fmla="val 50000"/>
              </a:avLst>
            </a:prstGeom>
            <a:solidFill>
              <a:schemeClr val="accent6"/>
            </a:solidFill>
            <a:ln>
              <a:noFill/>
            </a:ln>
          </p:spPr>
        </p:sp>
        <p:sp>
          <p:nvSpPr>
            <p:cNvPr id="36" name="TextBox 36"/>
            <p:cNvSpPr txBox="1"/>
            <p:nvPr/>
          </p:nvSpPr>
          <p:spPr>
            <a:xfrm>
              <a:off x="4014216" y="5334952"/>
              <a:ext cx="950652" cy="205359"/>
            </a:xfrm>
            <a:prstGeom prst="rect">
              <a:avLst/>
            </a:prstGeom>
            <a:noFill/>
            <a:ln>
              <a:noFill/>
            </a:ln>
          </p:spPr>
          <p:txBody>
            <a:bodyPr wrap="none" lIns="0" tIns="0" rIns="0" bIns="0" anchor="t" anchorCtr="0">
              <a:spAutoFit/>
            </a:bodyPr>
            <a:lstStyle/>
            <a:p>
              <a:pPr algn="l"/>
              <a:r>
                <a:rPr lang="en-US" sz="1050" dirty="0">
                  <a:solidFill>
                    <a:schemeClr val="accent1"/>
                  </a:solidFill>
                  <a:latin typeface="+mn-lt"/>
                  <a:ea typeface="+mn-ea"/>
                  <a:cs typeface="+mn-cs"/>
                </a:rPr>
                <a:t>concept shift</a:t>
              </a:r>
            </a:p>
          </p:txBody>
        </p:sp>
      </p:grpSp>
      <p:grpSp>
        <p:nvGrpSpPr>
          <p:cNvPr id="47" name="Group 47"/>
          <p:cNvGrpSpPr/>
          <p:nvPr/>
        </p:nvGrpSpPr>
        <p:grpSpPr>
          <a:xfrm>
            <a:off x="6210300" y="3838575"/>
            <a:ext cx="5372100" cy="2219325"/>
            <a:chOff x="6210300" y="3838575"/>
            <a:chExt cx="5372100" cy="2219325"/>
          </a:xfrm>
        </p:grpSpPr>
        <p:sp>
          <p:nvSpPr>
            <p:cNvPr id="38" name="Rectangle 38"/>
            <p:cNvSpPr/>
            <p:nvPr/>
          </p:nvSpPr>
          <p:spPr>
            <a:xfrm>
              <a:off x="6210300" y="3838575"/>
              <a:ext cx="5372100" cy="2219325"/>
            </a:xfrm>
            <a:prstGeom prst="roundRect">
              <a:avLst>
                <a:gd name="adj" fmla="val 5150"/>
              </a:avLst>
            </a:prstGeom>
            <a:solidFill>
              <a:schemeClr val="accent1"/>
            </a:solidFill>
            <a:ln w="14288">
              <a:solidFill>
                <a:schemeClr val="accent1"/>
              </a:solidFill>
            </a:ln>
          </p:spPr>
        </p:sp>
        <p:sp>
          <p:nvSpPr>
            <p:cNvPr id="39" name="Rectangle 39"/>
            <p:cNvSpPr/>
            <p:nvPr/>
          </p:nvSpPr>
          <p:spPr>
            <a:xfrm>
              <a:off x="6210300" y="3838575"/>
              <a:ext cx="57150" cy="2219325"/>
            </a:xfrm>
            <a:prstGeom prst="roundRect">
              <a:avLst>
                <a:gd name="adj" fmla="val 50000"/>
              </a:avLst>
            </a:prstGeom>
            <a:solidFill>
              <a:schemeClr val="accent2"/>
            </a:solidFill>
            <a:ln>
              <a:noFill/>
            </a:ln>
          </p:spPr>
        </p:sp>
        <p:sp>
          <p:nvSpPr>
            <p:cNvPr id="40" name="TextBox 40"/>
            <p:cNvSpPr txBox="1"/>
            <p:nvPr/>
          </p:nvSpPr>
          <p:spPr>
            <a:xfrm>
              <a:off x="6472047" y="4076224"/>
              <a:ext cx="1136518" cy="190690"/>
            </a:xfrm>
            <a:prstGeom prst="rect">
              <a:avLst/>
            </a:prstGeom>
            <a:noFill/>
            <a:ln>
              <a:noFill/>
            </a:ln>
          </p:spPr>
          <p:txBody>
            <a:bodyPr wrap="none" lIns="0" tIns="0" rIns="0" bIns="0" anchor="t" anchorCtr="0">
              <a:spAutoFit/>
            </a:bodyPr>
            <a:lstStyle/>
            <a:p>
              <a:pPr algn="l"/>
              <a:r>
                <a:rPr lang="en-US" sz="980" b="1" spc="112" dirty="0">
                  <a:solidFill>
                    <a:schemeClr val="accent2"/>
                  </a:solidFill>
                  <a:latin typeface="+mn-lt"/>
                  <a:ea typeface="+mn-ea"/>
                  <a:cs typeface="+mn-cs"/>
                </a:rPr>
                <a:t>THE MISMATCH</a:t>
              </a:r>
            </a:p>
          </p:txBody>
        </p:sp>
        <p:sp>
          <p:nvSpPr>
            <p:cNvPr id="41" name="TextBox 41"/>
            <p:cNvSpPr txBox="1"/>
            <p:nvPr/>
          </p:nvSpPr>
          <p:spPr>
            <a:xfrm>
              <a:off x="6469761" y="4370546"/>
              <a:ext cx="2788937" cy="278702"/>
            </a:xfrm>
            <a:prstGeom prst="rect">
              <a:avLst/>
            </a:prstGeom>
            <a:noFill/>
            <a:ln>
              <a:noFill/>
            </a:ln>
          </p:spPr>
          <p:txBody>
            <a:bodyPr wrap="none" lIns="0" tIns="0" rIns="0" bIns="0" anchor="t" anchorCtr="0">
              <a:spAutoFit/>
            </a:bodyPr>
            <a:lstStyle/>
            <a:p>
              <a:pPr algn="l"/>
              <a:r>
                <a:rPr lang="en-US" sz="1420" b="1" dirty="0">
                  <a:solidFill>
                    <a:srgbClr val="FFFFFF"/>
                  </a:solidFill>
                  <a:latin typeface="Georgia"/>
                  <a:ea typeface="Georgia"/>
                  <a:cs typeface="Georgia"/>
                </a:rPr>
                <a:t>Over- and under-specified</a:t>
              </a:r>
            </a:p>
          </p:txBody>
        </p:sp>
        <p:sp>
          <p:nvSpPr>
            <p:cNvPr id="42" name="TextBox 42"/>
            <p:cNvSpPr txBox="1"/>
            <p:nvPr/>
          </p:nvSpPr>
          <p:spPr>
            <a:xfrm>
              <a:off x="6470904" y="4718685"/>
              <a:ext cx="3207846" cy="234696"/>
            </a:xfrm>
            <a:prstGeom prst="rect">
              <a:avLst/>
            </a:prstGeom>
            <a:noFill/>
            <a:ln>
              <a:noFill/>
            </a:ln>
          </p:spPr>
          <p:txBody>
            <a:bodyPr wrap="none" lIns="0" tIns="0" rIns="0" bIns="0" anchor="t" anchorCtr="0">
              <a:spAutoFit/>
            </a:bodyPr>
            <a:lstStyle/>
            <a:p>
              <a:pPr algn="l"/>
              <a:r>
                <a:rPr lang="en-US" sz="1200" dirty="0">
                  <a:solidFill>
                    <a:srgbClr val="EEF2F9"/>
                  </a:solidFill>
                  <a:latin typeface="+mn-lt"/>
                  <a:ea typeface="+mn-ea"/>
                  <a:cs typeface="+mn-cs"/>
                </a:rPr>
                <a:t>These definitions are over-specified for</a:t>
              </a:r>
            </a:p>
          </p:txBody>
        </p:sp>
        <p:sp>
          <p:nvSpPr>
            <p:cNvPr id="43" name="TextBox 43"/>
            <p:cNvSpPr txBox="1"/>
            <p:nvPr/>
          </p:nvSpPr>
          <p:spPr>
            <a:xfrm>
              <a:off x="6470904" y="4947285"/>
              <a:ext cx="2621128" cy="234696"/>
            </a:xfrm>
            <a:prstGeom prst="rect">
              <a:avLst/>
            </a:prstGeom>
            <a:noFill/>
            <a:ln>
              <a:noFill/>
            </a:ln>
          </p:spPr>
          <p:txBody>
            <a:bodyPr wrap="none" lIns="0" tIns="0" rIns="0" bIns="0" anchor="t" anchorCtr="0">
              <a:spAutoFit/>
            </a:bodyPr>
            <a:lstStyle/>
            <a:p>
              <a:pPr algn="l"/>
              <a:r>
                <a:rPr lang="en-US" sz="1200" dirty="0">
                  <a:solidFill>
                    <a:srgbClr val="EEF2F9"/>
                  </a:solidFill>
                  <a:latin typeface="+mn-lt"/>
                  <a:ea typeface="+mn-ea"/>
                  <a:cs typeface="+mn-cs"/>
                </a:rPr>
                <a:t>comparing two data samples, and</a:t>
              </a:r>
            </a:p>
          </p:txBody>
        </p:sp>
        <p:sp>
          <p:nvSpPr>
            <p:cNvPr id="44" name="TextBox 44"/>
            <p:cNvSpPr txBox="1"/>
            <p:nvPr/>
          </p:nvSpPr>
          <p:spPr>
            <a:xfrm>
              <a:off x="6470904" y="5175885"/>
              <a:ext cx="2750363" cy="234696"/>
            </a:xfrm>
            <a:prstGeom prst="rect">
              <a:avLst/>
            </a:prstGeom>
            <a:noFill/>
            <a:ln>
              <a:noFill/>
            </a:ln>
          </p:spPr>
          <p:txBody>
            <a:bodyPr wrap="none" lIns="0" tIns="0" rIns="0" bIns="0" anchor="t" anchorCtr="0">
              <a:spAutoFit/>
            </a:bodyPr>
            <a:lstStyle/>
            <a:p>
              <a:pPr algn="l"/>
              <a:r>
                <a:rPr lang="en-US" sz="1200" dirty="0">
                  <a:solidFill>
                    <a:srgbClr val="EEF2F9"/>
                  </a:solidFill>
                  <a:latin typeface="+mn-lt"/>
                  <a:ea typeface="+mn-ea"/>
                  <a:cs typeface="+mn-cs"/>
                </a:rPr>
                <a:t>under-specified for evaluating the</a:t>
              </a:r>
            </a:p>
          </p:txBody>
        </p:sp>
        <p:sp>
          <p:nvSpPr>
            <p:cNvPr id="45" name="TextBox 45"/>
            <p:cNvSpPr txBox="1"/>
            <p:nvPr/>
          </p:nvSpPr>
          <p:spPr>
            <a:xfrm>
              <a:off x="6470904" y="5404485"/>
              <a:ext cx="3057296" cy="234696"/>
            </a:xfrm>
            <a:prstGeom prst="rect">
              <a:avLst/>
            </a:prstGeom>
            <a:noFill/>
            <a:ln>
              <a:noFill/>
            </a:ln>
          </p:spPr>
          <p:txBody>
            <a:bodyPr wrap="none" lIns="0" tIns="0" rIns="0" bIns="0" anchor="t" anchorCtr="0">
              <a:spAutoFit/>
            </a:bodyPr>
            <a:lstStyle/>
            <a:p>
              <a:pPr algn="l"/>
              <a:r>
                <a:rPr lang="en-US" sz="1200" dirty="0">
                  <a:solidFill>
                    <a:srgbClr val="EEF2F9"/>
                  </a:solidFill>
                  <a:latin typeface="+mn-lt"/>
                  <a:ea typeface="+mn-ea"/>
                  <a:cs typeface="+mn-cs"/>
                </a:rPr>
                <a:t>data-generating process that actually</a:t>
              </a:r>
            </a:p>
          </p:txBody>
        </p:sp>
        <p:sp>
          <p:nvSpPr>
            <p:cNvPr id="46" name="TextBox 46"/>
            <p:cNvSpPr txBox="1"/>
            <p:nvPr/>
          </p:nvSpPr>
          <p:spPr>
            <a:xfrm>
              <a:off x="6470904" y="5633085"/>
              <a:ext cx="1692250" cy="234696"/>
            </a:xfrm>
            <a:prstGeom prst="rect">
              <a:avLst/>
            </a:prstGeom>
            <a:noFill/>
            <a:ln>
              <a:noFill/>
            </a:ln>
          </p:spPr>
          <p:txBody>
            <a:bodyPr wrap="none" lIns="0" tIns="0" rIns="0" bIns="0" anchor="t" anchorCtr="0">
              <a:spAutoFit/>
            </a:bodyPr>
            <a:lstStyle/>
            <a:p>
              <a:pPr algn="l"/>
              <a:r>
                <a:rPr lang="en-US" sz="1200" dirty="0">
                  <a:solidFill>
                    <a:srgbClr val="EEF2F9"/>
                  </a:solidFill>
                  <a:latin typeface="+mn-lt"/>
                  <a:ea typeface="+mn-ea"/>
                  <a:cs typeface="+mn-cs"/>
                </a:rPr>
                <a:t>drives the mismatch.</a:t>
              </a:r>
            </a:p>
          </p:txBody>
        </p:sp>
      </p:grpSp>
      <p:grpSp>
        <p:nvGrpSpPr>
          <p:cNvPr id="50" name="Group 50"/>
          <p:cNvGrpSpPr/>
          <p:nvPr/>
        </p:nvGrpSpPr>
        <p:grpSpPr>
          <a:xfrm>
            <a:off x="604838" y="6597491"/>
            <a:ext cx="10982324" cy="161925"/>
            <a:chOff x="604838" y="6597491"/>
            <a:chExt cx="10982324" cy="161925"/>
          </a:xfrm>
        </p:grpSpPr>
        <p:sp>
          <p:nvSpPr>
            <p:cNvPr id="48" name="TextBox 48"/>
            <p:cNvSpPr txBox="1"/>
            <p:nvPr/>
          </p:nvSpPr>
          <p:spPr>
            <a:xfrm>
              <a:off x="604838" y="6597491"/>
              <a:ext cx="2239516" cy="161925"/>
            </a:xfrm>
            <a:prstGeom prst="rect">
              <a:avLst/>
            </a:prstGeom>
            <a:noFill/>
            <a:ln>
              <a:noFill/>
            </a:ln>
          </p:spPr>
          <p:txBody>
            <a:bodyPr wrap="none" lIns="0" tIns="0" rIns="0" bIns="0" anchor="t" anchorCtr="0">
              <a:spAutoFit/>
            </a:bodyPr>
            <a:lstStyle/>
            <a:p>
              <a:pPr algn="l"/>
              <a:r>
                <a:rPr lang="en-US" sz="820" dirty="0">
                  <a:solidFill>
                    <a:srgbClr val="94A3B8"/>
                  </a:solidFill>
                  <a:latin typeface="+mn-lt"/>
                  <a:ea typeface="+mn-ea"/>
                  <a:cs typeface="+mn-cs"/>
                </a:rPr>
                <a:t>Groh 2022 · Identifying the Context Shift</a:t>
              </a:r>
            </a:p>
          </p:txBody>
        </p:sp>
        <p:sp>
          <p:nvSpPr>
            <p:cNvPr id="49" name="TextBox 49"/>
            <p:cNvSpPr txBox="1"/>
            <p:nvPr/>
          </p:nvSpPr>
          <p:spPr>
            <a:xfrm>
              <a:off x="11456210" y="6597491"/>
              <a:ext cx="130952" cy="161925"/>
            </a:xfrm>
            <a:prstGeom prst="rect">
              <a:avLst/>
            </a:prstGeom>
            <a:noFill/>
            <a:ln>
              <a:noFill/>
            </a:ln>
          </p:spPr>
          <p:txBody>
            <a:bodyPr wrap="none" lIns="0" tIns="0" rIns="0" bIns="0" anchor="t" anchorCtr="0">
              <a:spAutoFit/>
            </a:bodyPr>
            <a:lstStyle/>
            <a:p>
              <a:pPr algn="r"/>
              <a:r>
                <a:rPr lang="en-US" sz="820" dirty="0">
                  <a:solidFill>
                    <a:srgbClr val="94A3B8"/>
                  </a:solidFill>
                  <a:latin typeface="+mn-lt"/>
                  <a:ea typeface="+mn-ea"/>
                  <a:cs typeface="+mn-cs"/>
                </a:rPr>
                <a:t>02</a:t>
              </a:r>
            </a:p>
          </p:txBody>
        </p:sp>
      </p:grpSp>
      <p:sp>
        <p:nvSpPr>
          <p:cNvPr id="51" name="cue_s02_c1_benchmark_datasets_play_two_roles" title="cue_s02_c1_benchmark_datasets_play_two_roles" descr="cue_s02_c1_benchmark_datasets_play_two_roles Benchmark datasets play two roles: they let researchers compare methods, and they stand in as an imperfect model of the real world. The trouble is that a single static benchmark can never fully capture the dynamic, high-dimensional complexity of real tasks."/>
          <p:cNvSpPr/>
          <p:nvPr/>
        </p:nvSpPr>
        <p:spPr>
          <a:xfrm>
            <a:off x="609600" y="1428521"/>
            <a:ext cx="5371795" cy="221924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cue_s02_c2_models_appear_match_beat_human_level" title="cue_s02_c2_models_appear_match_beat_human_level" descr="cue_s02_c2_models_appear_match_beat_human_level So models that appear to match or beat human-level accuracy on a benchmark routinely err on out-of-distribution and adversarially perturbed production data."/>
          <p:cNvSpPr/>
          <p:nvPr/>
        </p:nvSpPr>
        <p:spPr>
          <a:xfrm>
            <a:off x="6210604" y="1428521"/>
            <a:ext cx="5371795" cy="221924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cue_s02_c3_field_describes_gap_distribution_shi" title="cue_s02_c3_field_describes_gap_distribution_shi" descr="cue_s02_c3_field_describes_gap_distribution_shi The field describes this gap as distribution shift, with subcategories like covariate shift, prior probability shift, and concept shift."/>
          <p:cNvSpPr/>
          <p:nvPr/>
        </p:nvSpPr>
        <p:spPr>
          <a:xfrm>
            <a:off x="609600" y="3838422"/>
            <a:ext cx="5371795" cy="221924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cue_s02_c4_but_these_definitions_over_specified" title="cue_s02_c4_but_these_definitions_over_specified" descr="cue_s02_c4_but_these_definitions_over_specified But these definitions are over-specified for comparing two data samples and under-specified for evaluating the data-generating process that actually drives the mismatch."/>
          <p:cNvSpPr/>
          <p:nvPr/>
        </p:nvSpPr>
        <p:spPr>
          <a:xfrm>
            <a:off x="6210604" y="3838422"/>
            <a:ext cx="5371795" cy="221924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609600" y="552450"/>
            <a:ext cx="7423428" cy="656939"/>
            <a:chOff x="609600" y="552450"/>
            <a:chExt cx="7423428" cy="656939"/>
          </a:xfrm>
        </p:grpSpPr>
        <p:sp>
          <p:nvSpPr>
            <p:cNvPr id="2" name="Rectangle 2"/>
            <p:cNvSpPr/>
            <p:nvPr/>
          </p:nvSpPr>
          <p:spPr>
            <a:xfrm>
              <a:off x="609600" y="552450"/>
              <a:ext cx="57150" cy="400050"/>
            </a:xfrm>
            <a:prstGeom prst="rect">
              <a:avLst/>
            </a:prstGeom>
            <a:solidFill>
              <a:schemeClr val="accent2"/>
            </a:solidFill>
            <a:ln>
              <a:noFill/>
            </a:ln>
          </p:spPr>
        </p:sp>
        <p:sp>
          <p:nvSpPr>
            <p:cNvPr id="3" name="TextBox 3"/>
            <p:cNvSpPr txBox="1"/>
            <p:nvPr/>
          </p:nvSpPr>
          <p:spPr>
            <a:xfrm>
              <a:off x="826770" y="614362"/>
              <a:ext cx="7206258" cy="440055"/>
            </a:xfrm>
            <a:prstGeom prst="rect">
              <a:avLst/>
            </a:prstGeom>
            <a:noFill/>
            <a:ln>
              <a:noFill/>
            </a:ln>
          </p:spPr>
          <p:txBody>
            <a:bodyPr wrap="none" lIns="0" tIns="0" rIns="0" bIns="0" anchor="t" anchorCtr="0">
              <a:spAutoFit/>
            </a:bodyPr>
            <a:lstStyle/>
            <a:p>
              <a:pPr algn="l"/>
              <a:r>
                <a:rPr lang="en-US" sz="2250" b="1" dirty="0">
                  <a:solidFill>
                    <a:schemeClr val="accent1"/>
                  </a:solidFill>
                  <a:latin typeface="Georgia"/>
                  <a:ea typeface="Georgia"/>
                  <a:cs typeface="Georgia"/>
                </a:rPr>
                <a:t>A booming vocabulary that misses the cause</a:t>
              </a:r>
            </a:p>
          </p:txBody>
        </p:sp>
        <p:sp>
          <p:nvSpPr>
            <p:cNvPr id="4" name="TextBox 4"/>
            <p:cNvSpPr txBox="1"/>
            <p:nvPr/>
          </p:nvSpPr>
          <p:spPr>
            <a:xfrm>
              <a:off x="833247" y="1018699"/>
              <a:ext cx="5183210" cy="190690"/>
            </a:xfrm>
            <a:prstGeom prst="rect">
              <a:avLst/>
            </a:prstGeom>
            <a:noFill/>
            <a:ln>
              <a:noFill/>
            </a:ln>
          </p:spPr>
          <p:txBody>
            <a:bodyPr wrap="none" lIns="0" tIns="0" rIns="0" bIns="0" anchor="t" anchorCtr="0">
              <a:spAutoFit/>
            </a:bodyPr>
            <a:lstStyle/>
            <a:p>
              <a:pPr algn="l"/>
              <a:r>
                <a:rPr lang="en-US" sz="980" b="1" spc="112" dirty="0">
                  <a:solidFill>
                    <a:schemeClr val="dk2"/>
                  </a:solidFill>
                  <a:latin typeface="+mn-lt"/>
                  <a:ea typeface="+mn-ea"/>
                  <a:cs typeface="+mn-cs"/>
                </a:rPr>
                <a:t>MOTIVATION · THE DIFFERENCE IS A SYMPTOM, NOT THE DISEASE</a:t>
              </a:r>
            </a:p>
          </p:txBody>
        </p:sp>
      </p:grpSp>
      <p:grpSp>
        <p:nvGrpSpPr>
          <p:cNvPr id="13" name="Group 13"/>
          <p:cNvGrpSpPr/>
          <p:nvPr/>
        </p:nvGrpSpPr>
        <p:grpSpPr>
          <a:xfrm>
            <a:off x="609600" y="1428750"/>
            <a:ext cx="4953000" cy="1428750"/>
            <a:chOff x="609600" y="1428750"/>
            <a:chExt cx="4953000" cy="1428750"/>
          </a:xfrm>
        </p:grpSpPr>
        <p:sp>
          <p:nvSpPr>
            <p:cNvPr id="6" name="Rectangle 6"/>
            <p:cNvSpPr/>
            <p:nvPr/>
          </p:nvSpPr>
          <p:spPr>
            <a:xfrm>
              <a:off x="609600" y="1428750"/>
              <a:ext cx="4953000" cy="1428750"/>
            </a:xfrm>
            <a:prstGeom prst="roundRect">
              <a:avLst>
                <a:gd name="adj" fmla="val 8000"/>
              </a:avLst>
            </a:prstGeom>
            <a:solidFill>
              <a:schemeClr val="lt1"/>
            </a:solidFill>
            <a:ln w="14288">
              <a:solidFill>
                <a:schemeClr val="accent4"/>
              </a:solidFill>
            </a:ln>
          </p:spPr>
        </p:sp>
        <p:sp>
          <p:nvSpPr>
            <p:cNvPr id="7" name="Rectangle 7"/>
            <p:cNvSpPr/>
            <p:nvPr/>
          </p:nvSpPr>
          <p:spPr>
            <a:xfrm>
              <a:off x="609600" y="1428750"/>
              <a:ext cx="57150" cy="1428750"/>
            </a:xfrm>
            <a:prstGeom prst="roundRect">
              <a:avLst>
                <a:gd name="adj" fmla="val 50000"/>
              </a:avLst>
            </a:prstGeom>
            <a:solidFill>
              <a:srgbClr val="94A3B8"/>
            </a:solidFill>
            <a:ln>
              <a:noFill/>
            </a:ln>
          </p:spPr>
        </p:sp>
        <p:sp>
          <p:nvSpPr>
            <p:cNvPr id="8" name="TextBox 8"/>
            <p:cNvSpPr txBox="1"/>
            <p:nvPr/>
          </p:nvSpPr>
          <p:spPr>
            <a:xfrm>
              <a:off x="871347" y="1647349"/>
              <a:ext cx="972928" cy="190690"/>
            </a:xfrm>
            <a:prstGeom prst="rect">
              <a:avLst/>
            </a:prstGeom>
            <a:noFill/>
            <a:ln>
              <a:noFill/>
            </a:ln>
          </p:spPr>
          <p:txBody>
            <a:bodyPr wrap="none" lIns="0" tIns="0" rIns="0" bIns="0" anchor="t" anchorCtr="0">
              <a:spAutoFit/>
            </a:bodyPr>
            <a:lstStyle/>
            <a:p>
              <a:pPr algn="l"/>
              <a:r>
                <a:rPr lang="en-US" sz="980" b="1" spc="112" dirty="0">
                  <a:solidFill>
                    <a:schemeClr val="dk2"/>
                  </a:solidFill>
                  <a:latin typeface="+mn-lt"/>
                  <a:ea typeface="+mn-ea"/>
                  <a:cs typeface="+mn-cs"/>
                </a:rPr>
                <a:t>PRIOR WORK</a:t>
              </a:r>
            </a:p>
          </p:txBody>
        </p:sp>
        <p:sp>
          <p:nvSpPr>
            <p:cNvPr id="9" name="TextBox 9"/>
            <p:cNvSpPr txBox="1"/>
            <p:nvPr/>
          </p:nvSpPr>
          <p:spPr>
            <a:xfrm>
              <a:off x="870204" y="1927860"/>
              <a:ext cx="3022225"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Robustness is treated as a difference</a:t>
              </a:r>
            </a:p>
          </p:txBody>
        </p:sp>
        <p:sp>
          <p:nvSpPr>
            <p:cNvPr id="10" name="TextBox 10"/>
            <p:cNvSpPr txBox="1"/>
            <p:nvPr/>
          </p:nvSpPr>
          <p:spPr>
            <a:xfrm>
              <a:off x="870204" y="2156460"/>
              <a:ext cx="2944216"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between two distributions, while the</a:t>
              </a:r>
            </a:p>
          </p:txBody>
        </p:sp>
        <p:sp>
          <p:nvSpPr>
            <p:cNvPr id="11" name="TextBox 11"/>
            <p:cNvSpPr txBox="1"/>
            <p:nvPr/>
          </p:nvSpPr>
          <p:spPr>
            <a:xfrm>
              <a:off x="870204" y="2385060"/>
              <a:ext cx="2790749"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reasons behind that difference are</a:t>
              </a:r>
            </a:p>
          </p:txBody>
        </p:sp>
        <p:sp>
          <p:nvSpPr>
            <p:cNvPr id="12" name="TextBox 12"/>
            <p:cNvSpPr txBox="1"/>
            <p:nvPr/>
          </p:nvSpPr>
          <p:spPr>
            <a:xfrm>
              <a:off x="870204" y="2613660"/>
              <a:ext cx="1037996"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disregarded.</a:t>
              </a:r>
            </a:p>
          </p:txBody>
        </p:sp>
      </p:grpSp>
      <p:grpSp>
        <p:nvGrpSpPr>
          <p:cNvPr id="21" name="Group 21"/>
          <p:cNvGrpSpPr/>
          <p:nvPr/>
        </p:nvGrpSpPr>
        <p:grpSpPr>
          <a:xfrm>
            <a:off x="609600" y="3028950"/>
            <a:ext cx="4953000" cy="1428750"/>
            <a:chOff x="609600" y="3028950"/>
            <a:chExt cx="4953000" cy="1428750"/>
          </a:xfrm>
        </p:grpSpPr>
        <p:sp>
          <p:nvSpPr>
            <p:cNvPr id="14" name="Rectangle 14"/>
            <p:cNvSpPr/>
            <p:nvPr/>
          </p:nvSpPr>
          <p:spPr>
            <a:xfrm>
              <a:off x="609600" y="3028950"/>
              <a:ext cx="4953000" cy="1428750"/>
            </a:xfrm>
            <a:prstGeom prst="roundRect">
              <a:avLst>
                <a:gd name="adj" fmla="val 8000"/>
              </a:avLst>
            </a:prstGeom>
            <a:solidFill>
              <a:schemeClr val="accent1"/>
            </a:solidFill>
            <a:ln w="14288">
              <a:solidFill>
                <a:schemeClr val="accent1"/>
              </a:solidFill>
            </a:ln>
          </p:spPr>
        </p:sp>
        <p:sp>
          <p:nvSpPr>
            <p:cNvPr id="15" name="Rectangle 15"/>
            <p:cNvSpPr/>
            <p:nvPr/>
          </p:nvSpPr>
          <p:spPr>
            <a:xfrm>
              <a:off x="609600" y="3028950"/>
              <a:ext cx="57150" cy="1428750"/>
            </a:xfrm>
            <a:prstGeom prst="roundRect">
              <a:avLst>
                <a:gd name="adj" fmla="val 50000"/>
              </a:avLst>
            </a:prstGeom>
            <a:solidFill>
              <a:srgbClr val="C2410C"/>
            </a:solidFill>
            <a:ln>
              <a:noFill/>
            </a:ln>
          </p:spPr>
        </p:sp>
        <p:sp>
          <p:nvSpPr>
            <p:cNvPr id="16" name="TextBox 16"/>
            <p:cNvSpPr txBox="1"/>
            <p:nvPr/>
          </p:nvSpPr>
          <p:spPr>
            <a:xfrm>
              <a:off x="871347" y="3247549"/>
              <a:ext cx="1707789" cy="190690"/>
            </a:xfrm>
            <a:prstGeom prst="rect">
              <a:avLst/>
            </a:prstGeom>
            <a:noFill/>
            <a:ln>
              <a:noFill/>
            </a:ln>
          </p:spPr>
          <p:txBody>
            <a:bodyPr wrap="none" lIns="0" tIns="0" rIns="0" bIns="0" anchor="t" anchorCtr="0">
              <a:spAutoFit/>
            </a:bodyPr>
            <a:lstStyle/>
            <a:p>
              <a:pPr algn="l"/>
              <a:r>
                <a:rPr lang="en-US" sz="980" b="1" spc="112" dirty="0">
                  <a:solidFill>
                    <a:schemeClr val="accent2"/>
                  </a:solidFill>
                  <a:latin typeface="+mn-lt"/>
                  <a:ea typeface="+mn-ea"/>
                  <a:cs typeface="+mn-cs"/>
                </a:rPr>
                <a:t>SYMPTOM VS DISEASE</a:t>
              </a:r>
            </a:p>
          </p:txBody>
        </p:sp>
        <p:sp>
          <p:nvSpPr>
            <p:cNvPr id="17" name="TextBox 17"/>
            <p:cNvSpPr txBox="1"/>
            <p:nvPr/>
          </p:nvSpPr>
          <p:spPr>
            <a:xfrm>
              <a:off x="870204" y="3528060"/>
              <a:ext cx="2901381" cy="234696"/>
            </a:xfrm>
            <a:prstGeom prst="rect">
              <a:avLst/>
            </a:prstGeom>
            <a:noFill/>
            <a:ln>
              <a:noFill/>
            </a:ln>
          </p:spPr>
          <p:txBody>
            <a:bodyPr wrap="none" lIns="0" tIns="0" rIns="0" bIns="0" anchor="t" anchorCtr="0">
              <a:spAutoFit/>
            </a:bodyPr>
            <a:lstStyle/>
            <a:p>
              <a:pPr algn="l"/>
              <a:r>
                <a:rPr lang="en-US" sz="1200" dirty="0">
                  <a:solidFill>
                    <a:srgbClr val="FFFFFF"/>
                  </a:solidFill>
                  <a:latin typeface="+mn-lt"/>
                  <a:ea typeface="+mn-ea"/>
                  <a:cs typeface="+mn-cs"/>
                </a:rPr>
                <a:t>The difference is merely a symptom.</a:t>
              </a:r>
            </a:p>
          </p:txBody>
        </p:sp>
        <p:sp>
          <p:nvSpPr>
            <p:cNvPr id="18" name="TextBox 18"/>
            <p:cNvSpPr txBox="1"/>
            <p:nvPr/>
          </p:nvSpPr>
          <p:spPr>
            <a:xfrm>
              <a:off x="870204" y="3756660"/>
              <a:ext cx="3111408" cy="234696"/>
            </a:xfrm>
            <a:prstGeom prst="rect">
              <a:avLst/>
            </a:prstGeom>
            <a:noFill/>
            <a:ln>
              <a:noFill/>
            </a:ln>
          </p:spPr>
          <p:txBody>
            <a:bodyPr wrap="none" lIns="0" tIns="0" rIns="0" bIns="0" anchor="t" anchorCtr="0">
              <a:spAutoFit/>
            </a:bodyPr>
            <a:lstStyle/>
            <a:p>
              <a:pPr algn="l"/>
              <a:r>
                <a:rPr lang="en-US" sz="1200" dirty="0">
                  <a:solidFill>
                    <a:srgbClr val="FFFFFF"/>
                  </a:solidFill>
                  <a:latin typeface="+mn-lt"/>
                  <a:ea typeface="+mn-ea"/>
                  <a:cs typeface="+mn-cs"/>
                </a:rPr>
                <a:t>The disease is in how data are created,</a:t>
              </a:r>
            </a:p>
          </p:txBody>
        </p:sp>
        <p:sp>
          <p:nvSpPr>
            <p:cNvPr id="19" name="TextBox 19"/>
            <p:cNvSpPr txBox="1"/>
            <p:nvPr/>
          </p:nvSpPr>
          <p:spPr>
            <a:xfrm>
              <a:off x="870204" y="3985260"/>
              <a:ext cx="3000756" cy="234696"/>
            </a:xfrm>
            <a:prstGeom prst="rect">
              <a:avLst/>
            </a:prstGeom>
            <a:noFill/>
            <a:ln>
              <a:noFill/>
            </a:ln>
          </p:spPr>
          <p:txBody>
            <a:bodyPr wrap="none" lIns="0" tIns="0" rIns="0" bIns="0" anchor="t" anchorCtr="0">
              <a:spAutoFit/>
            </a:bodyPr>
            <a:lstStyle/>
            <a:p>
              <a:pPr algn="l"/>
              <a:r>
                <a:rPr lang="en-US" sz="1200" dirty="0">
                  <a:solidFill>
                    <a:srgbClr val="FFFFFF"/>
                  </a:solidFill>
                  <a:latin typeface="+mn-lt"/>
                  <a:ea typeface="+mn-ea"/>
                  <a:cs typeface="+mn-cs"/>
                </a:rPr>
                <a:t>collected, and curated: the upstream</a:t>
              </a:r>
            </a:p>
          </p:txBody>
        </p:sp>
        <p:sp>
          <p:nvSpPr>
            <p:cNvPr id="20" name="TextBox 20"/>
            <p:cNvSpPr txBox="1"/>
            <p:nvPr/>
          </p:nvSpPr>
          <p:spPr>
            <a:xfrm>
              <a:off x="870204" y="4213860"/>
              <a:ext cx="2516124" cy="234696"/>
            </a:xfrm>
            <a:prstGeom prst="rect">
              <a:avLst/>
            </a:prstGeom>
            <a:noFill/>
            <a:ln>
              <a:noFill/>
            </a:ln>
          </p:spPr>
          <p:txBody>
            <a:bodyPr wrap="none" lIns="0" tIns="0" rIns="0" bIns="0" anchor="t" anchorCtr="0">
              <a:spAutoFit/>
            </a:bodyPr>
            <a:lstStyle/>
            <a:p>
              <a:pPr algn="l"/>
              <a:r>
                <a:rPr lang="en-US" sz="1200" dirty="0">
                  <a:solidFill>
                    <a:srgbClr val="FFFFFF"/>
                  </a:solidFill>
                  <a:latin typeface="+mn-lt"/>
                  <a:ea typeface="+mn-ea"/>
                  <a:cs typeface="+mn-cs"/>
                </a:rPr>
                <a:t>process that produced the gap.</a:t>
              </a:r>
            </a:p>
          </p:txBody>
        </p:sp>
      </p:grpSp>
      <p:grpSp>
        <p:nvGrpSpPr>
          <p:cNvPr id="29" name="Group 29"/>
          <p:cNvGrpSpPr/>
          <p:nvPr/>
        </p:nvGrpSpPr>
        <p:grpSpPr>
          <a:xfrm>
            <a:off x="609600" y="4629150"/>
            <a:ext cx="4953000" cy="1428750"/>
            <a:chOff x="609600" y="4629150"/>
            <a:chExt cx="4953000" cy="1428750"/>
          </a:xfrm>
        </p:grpSpPr>
        <p:sp>
          <p:nvSpPr>
            <p:cNvPr id="22" name="Rectangle 22"/>
            <p:cNvSpPr/>
            <p:nvPr/>
          </p:nvSpPr>
          <p:spPr>
            <a:xfrm>
              <a:off x="609600" y="4629150"/>
              <a:ext cx="4953000" cy="1428750"/>
            </a:xfrm>
            <a:prstGeom prst="roundRect">
              <a:avLst>
                <a:gd name="adj" fmla="val 8000"/>
              </a:avLst>
            </a:prstGeom>
            <a:solidFill>
              <a:schemeClr val="accent5"/>
            </a:solidFill>
            <a:ln w="14288">
              <a:solidFill>
                <a:schemeClr val="accent4"/>
              </a:solidFill>
            </a:ln>
          </p:spPr>
        </p:sp>
        <p:sp>
          <p:nvSpPr>
            <p:cNvPr id="23" name="Rectangle 23"/>
            <p:cNvSpPr/>
            <p:nvPr/>
          </p:nvSpPr>
          <p:spPr>
            <a:xfrm>
              <a:off x="609600" y="4629150"/>
              <a:ext cx="57150" cy="1428750"/>
            </a:xfrm>
            <a:prstGeom prst="roundRect">
              <a:avLst>
                <a:gd name="adj" fmla="val 50000"/>
              </a:avLst>
            </a:prstGeom>
            <a:solidFill>
              <a:schemeClr val="accent2"/>
            </a:solidFill>
            <a:ln>
              <a:noFill/>
            </a:ln>
          </p:spPr>
        </p:sp>
        <p:sp>
          <p:nvSpPr>
            <p:cNvPr id="24" name="TextBox 24"/>
            <p:cNvSpPr txBox="1"/>
            <p:nvPr/>
          </p:nvSpPr>
          <p:spPr>
            <a:xfrm>
              <a:off x="871347" y="4847749"/>
              <a:ext cx="1678516" cy="190690"/>
            </a:xfrm>
            <a:prstGeom prst="rect">
              <a:avLst/>
            </a:prstGeom>
            <a:noFill/>
            <a:ln>
              <a:noFill/>
            </a:ln>
          </p:spPr>
          <p:txBody>
            <a:bodyPr wrap="none" lIns="0" tIns="0" rIns="0" bIns="0" anchor="t" anchorCtr="0">
              <a:spAutoFit/>
            </a:bodyPr>
            <a:lstStyle/>
            <a:p>
              <a:pPr algn="l"/>
              <a:r>
                <a:rPr lang="en-US" sz="980" b="1" spc="112" dirty="0">
                  <a:solidFill>
                    <a:schemeClr val="accent2"/>
                  </a:solidFill>
                  <a:latin typeface="+mn-lt"/>
                  <a:ea typeface="+mn-ea"/>
                  <a:cs typeface="+mn-cs"/>
                </a:rPr>
                <a:t>DESPITE THE VOLUME</a:t>
              </a:r>
            </a:p>
          </p:txBody>
        </p:sp>
        <p:sp>
          <p:nvSpPr>
            <p:cNvPr id="25" name="TextBox 25"/>
            <p:cNvSpPr txBox="1"/>
            <p:nvPr/>
          </p:nvSpPr>
          <p:spPr>
            <a:xfrm>
              <a:off x="870204" y="5128260"/>
              <a:ext cx="3159454"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The vocabulary stays tangled and rarely</a:t>
              </a:r>
            </a:p>
          </p:txBody>
        </p:sp>
        <p:sp>
          <p:nvSpPr>
            <p:cNvPr id="26" name="TextBox 26"/>
            <p:cNvSpPr txBox="1"/>
            <p:nvPr/>
          </p:nvSpPr>
          <p:spPr>
            <a:xfrm>
              <a:off x="870204" y="5356860"/>
              <a:ext cx="3436925"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points practitioners toward the upstream,</a:t>
              </a:r>
            </a:p>
          </p:txBody>
        </p:sp>
        <p:sp>
          <p:nvSpPr>
            <p:cNvPr id="27" name="TextBox 27"/>
            <p:cNvSpPr txBox="1"/>
            <p:nvPr/>
          </p:nvSpPr>
          <p:spPr>
            <a:xfrm>
              <a:off x="870204" y="5585460"/>
              <a:ext cx="3267304"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semantically meaningful factors they can</a:t>
              </a:r>
            </a:p>
          </p:txBody>
        </p:sp>
        <p:sp>
          <p:nvSpPr>
            <p:cNvPr id="28" name="TextBox 28"/>
            <p:cNvSpPr txBox="1"/>
            <p:nvPr/>
          </p:nvSpPr>
          <p:spPr>
            <a:xfrm>
              <a:off x="870204" y="5814060"/>
              <a:ext cx="1764944"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actually intervene on.</a:t>
              </a:r>
            </a:p>
          </p:txBody>
        </p:sp>
      </p:grpSp>
      <p:grpSp>
        <p:nvGrpSpPr>
          <p:cNvPr id="48" name="Group 48"/>
          <p:cNvGrpSpPr/>
          <p:nvPr/>
        </p:nvGrpSpPr>
        <p:grpSpPr>
          <a:xfrm>
            <a:off x="5791200" y="1428750"/>
            <a:ext cx="5791200" cy="4629150"/>
            <a:chOff x="5791200" y="1428750"/>
            <a:chExt cx="5791200" cy="4629150"/>
          </a:xfrm>
        </p:grpSpPr>
        <p:sp>
          <p:nvSpPr>
            <p:cNvPr id="30" name="Rectangle 30"/>
            <p:cNvSpPr/>
            <p:nvPr/>
          </p:nvSpPr>
          <p:spPr>
            <a:xfrm>
              <a:off x="5791200" y="1428750"/>
              <a:ext cx="5791200" cy="4629150"/>
            </a:xfrm>
            <a:prstGeom prst="roundRect">
              <a:avLst>
                <a:gd name="adj" fmla="val 2469"/>
              </a:avLst>
            </a:prstGeom>
            <a:solidFill>
              <a:schemeClr val="lt1"/>
            </a:solidFill>
            <a:ln w="14288">
              <a:solidFill>
                <a:schemeClr val="accent4"/>
              </a:solidFill>
            </a:ln>
          </p:spPr>
        </p:sp>
        <p:sp>
          <p:nvSpPr>
            <p:cNvPr id="31" name="Rectangle 31"/>
            <p:cNvSpPr/>
            <p:nvPr/>
          </p:nvSpPr>
          <p:spPr>
            <a:xfrm>
              <a:off x="5791200" y="1428750"/>
              <a:ext cx="57150" cy="4629150"/>
            </a:xfrm>
            <a:prstGeom prst="roundRect">
              <a:avLst>
                <a:gd name="adj" fmla="val 50000"/>
              </a:avLst>
            </a:prstGeom>
            <a:solidFill>
              <a:schemeClr val="accent2"/>
            </a:solidFill>
            <a:ln>
              <a:noFill/>
            </a:ln>
          </p:spPr>
        </p:sp>
        <p:sp>
          <p:nvSpPr>
            <p:cNvPr id="32" name="TextBox 32"/>
            <p:cNvSpPr txBox="1"/>
            <p:nvPr/>
          </p:nvSpPr>
          <p:spPr>
            <a:xfrm>
              <a:off x="6052947" y="1666399"/>
              <a:ext cx="3742760" cy="190690"/>
            </a:xfrm>
            <a:prstGeom prst="rect">
              <a:avLst/>
            </a:prstGeom>
            <a:noFill/>
            <a:ln>
              <a:noFill/>
            </a:ln>
          </p:spPr>
          <p:txBody>
            <a:bodyPr wrap="none" lIns="0" tIns="0" rIns="0" bIns="0" anchor="t" anchorCtr="0">
              <a:spAutoFit/>
            </a:bodyPr>
            <a:lstStyle/>
            <a:p>
              <a:pPr algn="l"/>
              <a:r>
                <a:rPr lang="en-US" sz="980" b="1" spc="112" dirty="0">
                  <a:solidFill>
                    <a:schemeClr val="accent2"/>
                  </a:solidFill>
                  <a:latin typeface="+mn-lt"/>
                  <a:ea typeface="+mn-ea"/>
                  <a:cs typeface="+mn-cs"/>
                </a:rPr>
                <a:t>FIGURE 1 · GOOGLE SCHOLAR PAPERS PER YEAR</a:t>
              </a:r>
            </a:p>
          </p:txBody>
        </p:sp>
        <p:sp>
          <p:nvSpPr>
            <p:cNvPr id="33" name="TextBox 33"/>
            <p:cNvSpPr txBox="1"/>
            <p:nvPr/>
          </p:nvSpPr>
          <p:spPr>
            <a:xfrm>
              <a:off x="6050661" y="1903571"/>
              <a:ext cx="4418623" cy="278702"/>
            </a:xfrm>
            <a:prstGeom prst="rect">
              <a:avLst/>
            </a:prstGeom>
            <a:noFill/>
            <a:ln>
              <a:noFill/>
            </a:ln>
          </p:spPr>
          <p:txBody>
            <a:bodyPr wrap="none" lIns="0" tIns="0" rIns="0" bIns="0" anchor="t" anchorCtr="0">
              <a:spAutoFit/>
            </a:bodyPr>
            <a:lstStyle/>
            <a:p>
              <a:pPr algn="l"/>
              <a:r>
                <a:rPr lang="en-US" sz="1420" b="1" dirty="0">
                  <a:solidFill>
                    <a:schemeClr val="accent1"/>
                  </a:solidFill>
                  <a:latin typeface="Georgia"/>
                  <a:ea typeface="Georgia"/>
                  <a:cs typeface="Georgia"/>
                </a:rPr>
                <a:t>Interest in distribution shift has exploded</a:t>
              </a:r>
            </a:p>
          </p:txBody>
        </p:sp>
        <p:sp>
          <p:nvSpPr>
            <p:cNvPr id="34" name="Line 34"/>
            <p:cNvSpPr/>
            <p:nvPr/>
          </p:nvSpPr>
          <p:spPr>
            <a:xfrm>
              <a:off x="6477000" y="2286000"/>
              <a:ext cx="9525" cy="3048000"/>
            </a:xfrm>
            <a:custGeom>
              <a:avLst/>
              <a:gdLst/>
              <a:ahLst/>
              <a:cxnLst/>
              <a:rect l="l" t="t" r="r" b="b"/>
              <a:pathLst>
                <a:path w="9525" h="3048000">
                  <a:moveTo>
                    <a:pt x="0" y="0"/>
                  </a:moveTo>
                  <a:lnTo>
                    <a:pt x="0" y="3048000"/>
                  </a:lnTo>
                </a:path>
              </a:pathLst>
            </a:custGeom>
            <a:noFill/>
            <a:ln w="14288">
              <a:solidFill>
                <a:srgbClr val="94A3B8"/>
              </a:solidFill>
            </a:ln>
          </p:spPr>
        </p:sp>
        <p:sp>
          <p:nvSpPr>
            <p:cNvPr id="35" name="Line 35"/>
            <p:cNvSpPr/>
            <p:nvPr/>
          </p:nvSpPr>
          <p:spPr>
            <a:xfrm>
              <a:off x="6477000" y="5334000"/>
              <a:ext cx="4762500" cy="9525"/>
            </a:xfrm>
            <a:custGeom>
              <a:avLst/>
              <a:gdLst/>
              <a:ahLst/>
              <a:cxnLst/>
              <a:rect l="l" t="t" r="r" b="b"/>
              <a:pathLst>
                <a:path w="4762500" h="9525">
                  <a:moveTo>
                    <a:pt x="0" y="0"/>
                  </a:moveTo>
                  <a:lnTo>
                    <a:pt x="4762500" y="0"/>
                  </a:lnTo>
                </a:path>
              </a:pathLst>
            </a:custGeom>
            <a:noFill/>
            <a:ln w="14288">
              <a:solidFill>
                <a:srgbClr val="94A3B8"/>
              </a:solidFill>
            </a:ln>
          </p:spPr>
        </p:sp>
        <p:sp>
          <p:nvSpPr>
            <p:cNvPr id="36" name="Line 36"/>
            <p:cNvSpPr/>
            <p:nvPr/>
          </p:nvSpPr>
          <p:spPr>
            <a:xfrm>
              <a:off x="6477000" y="2857500"/>
              <a:ext cx="4762500" cy="9525"/>
            </a:xfrm>
            <a:custGeom>
              <a:avLst/>
              <a:gdLst/>
              <a:ahLst/>
              <a:cxnLst/>
              <a:rect l="l" t="t" r="r" b="b"/>
              <a:pathLst>
                <a:path w="4762500" h="9525">
                  <a:moveTo>
                    <a:pt x="0" y="0"/>
                  </a:moveTo>
                  <a:lnTo>
                    <a:pt x="4762500" y="0"/>
                  </a:lnTo>
                </a:path>
              </a:pathLst>
            </a:custGeom>
            <a:noFill/>
            <a:ln w="9525">
              <a:solidFill>
                <a:schemeClr val="accent4"/>
              </a:solidFill>
            </a:ln>
          </p:spPr>
        </p:sp>
        <p:sp>
          <p:nvSpPr>
            <p:cNvPr id="37" name="Line 37"/>
            <p:cNvSpPr/>
            <p:nvPr/>
          </p:nvSpPr>
          <p:spPr>
            <a:xfrm>
              <a:off x="6477000" y="4000500"/>
              <a:ext cx="4762500" cy="9525"/>
            </a:xfrm>
            <a:custGeom>
              <a:avLst/>
              <a:gdLst/>
              <a:ahLst/>
              <a:cxnLst/>
              <a:rect l="l" t="t" r="r" b="b"/>
              <a:pathLst>
                <a:path w="4762500" h="9525">
                  <a:moveTo>
                    <a:pt x="0" y="0"/>
                  </a:moveTo>
                  <a:lnTo>
                    <a:pt x="4762500" y="0"/>
                  </a:lnTo>
                </a:path>
              </a:pathLst>
            </a:custGeom>
            <a:noFill/>
            <a:ln w="9525">
              <a:solidFill>
                <a:schemeClr val="accent4"/>
              </a:solidFill>
            </a:ln>
          </p:spPr>
        </p:sp>
        <p:sp>
          <p:nvSpPr>
            <p:cNvPr id="38" name="TextBox 38"/>
            <p:cNvSpPr txBox="1"/>
            <p:nvPr/>
          </p:nvSpPr>
          <p:spPr>
            <a:xfrm>
              <a:off x="6262764" y="2236470"/>
              <a:ext cx="142799" cy="176212"/>
            </a:xfrm>
            <a:prstGeom prst="rect">
              <a:avLst/>
            </a:prstGeom>
            <a:noFill/>
            <a:ln>
              <a:noFill/>
            </a:ln>
          </p:spPr>
          <p:txBody>
            <a:bodyPr wrap="none" lIns="0" tIns="0" rIns="0" bIns="0" anchor="t" anchorCtr="0">
              <a:spAutoFit/>
            </a:bodyPr>
            <a:lstStyle/>
            <a:p>
              <a:pPr algn="r"/>
              <a:r>
                <a:rPr lang="en-US" sz="900" dirty="0">
                  <a:solidFill>
                    <a:srgbClr val="94A3B8"/>
                  </a:solidFill>
                  <a:latin typeface="+mn-lt"/>
                  <a:ea typeface="+mn-ea"/>
                  <a:cs typeface="+mn-cs"/>
                </a:rPr>
                <a:t>9k</a:t>
              </a:r>
            </a:p>
          </p:txBody>
        </p:sp>
        <p:sp>
          <p:nvSpPr>
            <p:cNvPr id="39" name="TextBox 39"/>
            <p:cNvSpPr txBox="1"/>
            <p:nvPr/>
          </p:nvSpPr>
          <p:spPr>
            <a:xfrm>
              <a:off x="6262764" y="3941445"/>
              <a:ext cx="142799" cy="176212"/>
            </a:xfrm>
            <a:prstGeom prst="rect">
              <a:avLst/>
            </a:prstGeom>
            <a:noFill/>
            <a:ln>
              <a:noFill/>
            </a:ln>
          </p:spPr>
          <p:txBody>
            <a:bodyPr wrap="none" lIns="0" tIns="0" rIns="0" bIns="0" anchor="t" anchorCtr="0">
              <a:spAutoFit/>
            </a:bodyPr>
            <a:lstStyle/>
            <a:p>
              <a:pPr algn="r"/>
              <a:r>
                <a:rPr lang="en-US" sz="900" dirty="0">
                  <a:solidFill>
                    <a:srgbClr val="94A3B8"/>
                  </a:solidFill>
                  <a:latin typeface="+mn-lt"/>
                  <a:ea typeface="+mn-ea"/>
                  <a:cs typeface="+mn-cs"/>
                </a:rPr>
                <a:t>3k</a:t>
              </a:r>
            </a:p>
          </p:txBody>
        </p:sp>
        <p:sp>
          <p:nvSpPr>
            <p:cNvPr id="40" name="TextBox 40"/>
            <p:cNvSpPr txBox="1"/>
            <p:nvPr/>
          </p:nvSpPr>
          <p:spPr>
            <a:xfrm>
              <a:off x="6329401" y="5284470"/>
              <a:ext cx="76162" cy="176212"/>
            </a:xfrm>
            <a:prstGeom prst="rect">
              <a:avLst/>
            </a:prstGeom>
            <a:noFill/>
            <a:ln>
              <a:noFill/>
            </a:ln>
          </p:spPr>
          <p:txBody>
            <a:bodyPr wrap="none" lIns="0" tIns="0" rIns="0" bIns="0" anchor="t" anchorCtr="0">
              <a:spAutoFit/>
            </a:bodyPr>
            <a:lstStyle/>
            <a:p>
              <a:pPr algn="r"/>
              <a:r>
                <a:rPr lang="en-US" sz="900" dirty="0">
                  <a:solidFill>
                    <a:srgbClr val="94A3B8"/>
                  </a:solidFill>
                  <a:latin typeface="+mn-lt"/>
                  <a:ea typeface="+mn-ea"/>
                  <a:cs typeface="+mn-cs"/>
                </a:rPr>
                <a:t>0</a:t>
              </a:r>
            </a:p>
          </p:txBody>
        </p:sp>
        <p:sp>
          <p:nvSpPr>
            <p:cNvPr id="41" name="TextBox 41"/>
            <p:cNvSpPr txBox="1"/>
            <p:nvPr/>
          </p:nvSpPr>
          <p:spPr>
            <a:xfrm>
              <a:off x="6472238" y="5465445"/>
              <a:ext cx="276073" cy="176212"/>
            </a:xfrm>
            <a:prstGeom prst="rect">
              <a:avLst/>
            </a:prstGeom>
            <a:noFill/>
            <a:ln>
              <a:noFill/>
            </a:ln>
          </p:spPr>
          <p:txBody>
            <a:bodyPr wrap="none" lIns="0" tIns="0" rIns="0" bIns="0" anchor="t" anchorCtr="0">
              <a:spAutoFit/>
            </a:bodyPr>
            <a:lstStyle/>
            <a:p>
              <a:pPr algn="l"/>
              <a:r>
                <a:rPr lang="en-US" sz="900" dirty="0">
                  <a:solidFill>
                    <a:srgbClr val="94A3B8"/>
                  </a:solidFill>
                  <a:latin typeface="+mn-lt"/>
                  <a:ea typeface="+mn-ea"/>
                  <a:cs typeface="+mn-cs"/>
                </a:rPr>
                <a:t>2012</a:t>
              </a:r>
            </a:p>
          </p:txBody>
        </p:sp>
        <p:sp>
          <p:nvSpPr>
            <p:cNvPr id="42" name="TextBox 42"/>
            <p:cNvSpPr txBox="1"/>
            <p:nvPr/>
          </p:nvSpPr>
          <p:spPr>
            <a:xfrm>
              <a:off x="10968190" y="5465445"/>
              <a:ext cx="276073" cy="176212"/>
            </a:xfrm>
            <a:prstGeom prst="rect">
              <a:avLst/>
            </a:prstGeom>
            <a:noFill/>
            <a:ln>
              <a:noFill/>
            </a:ln>
          </p:spPr>
          <p:txBody>
            <a:bodyPr wrap="none" lIns="0" tIns="0" rIns="0" bIns="0" anchor="t" anchorCtr="0">
              <a:spAutoFit/>
            </a:bodyPr>
            <a:lstStyle/>
            <a:p>
              <a:pPr algn="r"/>
              <a:r>
                <a:rPr lang="en-US" sz="900" dirty="0">
                  <a:solidFill>
                    <a:srgbClr val="94A3B8"/>
                  </a:solidFill>
                  <a:latin typeface="+mn-lt"/>
                  <a:ea typeface="+mn-ea"/>
                  <a:cs typeface="+mn-cs"/>
                </a:rPr>
                <a:t>2021</a:t>
              </a:r>
            </a:p>
          </p:txBody>
        </p:sp>
        <p:sp>
          <p:nvSpPr>
            <p:cNvPr id="43" name="Polygon 43"/>
            <p:cNvSpPr/>
            <p:nvPr/>
          </p:nvSpPr>
          <p:spPr>
            <a:xfrm>
              <a:off x="6477000" y="2286000"/>
              <a:ext cx="4762500" cy="3048000"/>
            </a:xfrm>
            <a:custGeom>
              <a:avLst/>
              <a:gdLst/>
              <a:ahLst/>
              <a:cxnLst/>
              <a:rect l="l" t="t" r="r" b="b"/>
              <a:pathLst>
                <a:path w="4762500" h="3048000">
                  <a:moveTo>
                    <a:pt x="0" y="2981325"/>
                  </a:moveTo>
                  <a:lnTo>
                    <a:pt x="533400" y="2914650"/>
                  </a:lnTo>
                  <a:lnTo>
                    <a:pt x="1057275" y="2809875"/>
                  </a:lnTo>
                  <a:lnTo>
                    <a:pt x="1590675" y="2676525"/>
                  </a:lnTo>
                  <a:lnTo>
                    <a:pt x="2114550" y="2476500"/>
                  </a:lnTo>
                  <a:lnTo>
                    <a:pt x="2647950" y="2171700"/>
                  </a:lnTo>
                  <a:lnTo>
                    <a:pt x="3171825" y="1724025"/>
                  </a:lnTo>
                  <a:lnTo>
                    <a:pt x="3705225" y="1152525"/>
                  </a:lnTo>
                  <a:lnTo>
                    <a:pt x="4229100" y="571500"/>
                  </a:lnTo>
                  <a:lnTo>
                    <a:pt x="4762500" y="0"/>
                  </a:lnTo>
                  <a:lnTo>
                    <a:pt x="4762500" y="3048000"/>
                  </a:lnTo>
                  <a:lnTo>
                    <a:pt x="0" y="3048000"/>
                  </a:lnTo>
                  <a:close/>
                </a:path>
              </a:pathLst>
            </a:custGeom>
            <a:solidFill>
              <a:schemeClr val="accent2">
                <a:alpha val="10000"/>
              </a:schemeClr>
            </a:solidFill>
            <a:ln>
              <a:noFill/>
            </a:ln>
          </p:spPr>
        </p:sp>
        <p:sp>
          <p:nvSpPr>
            <p:cNvPr id="44" name="Polyline 44"/>
            <p:cNvSpPr/>
            <p:nvPr/>
          </p:nvSpPr>
          <p:spPr>
            <a:xfrm>
              <a:off x="6477000" y="2286000"/>
              <a:ext cx="4762500" cy="2981325"/>
            </a:xfrm>
            <a:custGeom>
              <a:avLst/>
              <a:gdLst/>
              <a:ahLst/>
              <a:cxnLst/>
              <a:rect l="l" t="t" r="r" b="b"/>
              <a:pathLst>
                <a:path w="4762500" h="2981325">
                  <a:moveTo>
                    <a:pt x="0" y="2981325"/>
                  </a:moveTo>
                  <a:lnTo>
                    <a:pt x="533400" y="2914650"/>
                  </a:lnTo>
                  <a:lnTo>
                    <a:pt x="1057275" y="2809875"/>
                  </a:lnTo>
                  <a:lnTo>
                    <a:pt x="1590675" y="2676525"/>
                  </a:lnTo>
                  <a:lnTo>
                    <a:pt x="2114550" y="2476500"/>
                  </a:lnTo>
                  <a:lnTo>
                    <a:pt x="2647950" y="2171700"/>
                  </a:lnTo>
                  <a:lnTo>
                    <a:pt x="3171825" y="1724025"/>
                  </a:lnTo>
                  <a:lnTo>
                    <a:pt x="3705225" y="1152525"/>
                  </a:lnTo>
                  <a:lnTo>
                    <a:pt x="4229100" y="571500"/>
                  </a:lnTo>
                  <a:lnTo>
                    <a:pt x="4762500" y="0"/>
                  </a:lnTo>
                </a:path>
              </a:pathLst>
            </a:custGeom>
            <a:noFill/>
            <a:ln w="28575">
              <a:solidFill>
                <a:schemeClr val="accent2"/>
              </a:solidFill>
            </a:ln>
          </p:spPr>
        </p:sp>
        <p:sp>
          <p:nvSpPr>
            <p:cNvPr id="45" name="Ellipse 45"/>
            <p:cNvSpPr/>
            <p:nvPr/>
          </p:nvSpPr>
          <p:spPr>
            <a:xfrm>
              <a:off x="11182350" y="2228850"/>
              <a:ext cx="114300" cy="114300"/>
            </a:xfrm>
            <a:prstGeom prst="ellipse">
              <a:avLst/>
            </a:prstGeom>
            <a:solidFill>
              <a:srgbClr val="C2410C"/>
            </a:solidFill>
            <a:ln>
              <a:noFill/>
            </a:ln>
          </p:spPr>
        </p:sp>
        <p:sp>
          <p:nvSpPr>
            <p:cNvPr id="46" name="TextBox 46"/>
            <p:cNvSpPr txBox="1"/>
            <p:nvPr/>
          </p:nvSpPr>
          <p:spPr>
            <a:xfrm>
              <a:off x="8958511" y="2050256"/>
              <a:ext cx="2172404" cy="220028"/>
            </a:xfrm>
            <a:prstGeom prst="rect">
              <a:avLst/>
            </a:prstGeom>
            <a:noFill/>
            <a:ln>
              <a:noFill/>
            </a:ln>
          </p:spPr>
          <p:txBody>
            <a:bodyPr wrap="none" lIns="0" tIns="0" rIns="0" bIns="0" anchor="t" anchorCtr="0">
              <a:spAutoFit/>
            </a:bodyPr>
            <a:lstStyle/>
            <a:p>
              <a:pPr algn="r"/>
              <a:r>
                <a:rPr lang="en-US" sz="1120" b="1" dirty="0">
                  <a:solidFill>
                    <a:srgbClr val="C2410C"/>
                  </a:solidFill>
                  <a:latin typeface="+mn-lt"/>
                  <a:ea typeface="+mn-ea"/>
                  <a:cs typeface="+mn-cs"/>
                </a:rPr>
                <a:t>covariate shift ≈ 9,000 / yr</a:t>
              </a:r>
            </a:p>
          </p:txBody>
        </p:sp>
        <p:sp>
          <p:nvSpPr>
            <p:cNvPr id="47" name="TextBox 47"/>
            <p:cNvSpPr txBox="1"/>
            <p:nvPr/>
          </p:nvSpPr>
          <p:spPr>
            <a:xfrm>
              <a:off x="6052566" y="5792152"/>
              <a:ext cx="5337639"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Covariate-shift papers alone climbed toward nine thousand per year by 2021.</a:t>
              </a:r>
            </a:p>
          </p:txBody>
        </p:sp>
      </p:grpSp>
      <p:grpSp>
        <p:nvGrpSpPr>
          <p:cNvPr id="51" name="Group 51"/>
          <p:cNvGrpSpPr/>
          <p:nvPr/>
        </p:nvGrpSpPr>
        <p:grpSpPr>
          <a:xfrm>
            <a:off x="604838" y="6597491"/>
            <a:ext cx="10982324" cy="161925"/>
            <a:chOff x="604838" y="6597491"/>
            <a:chExt cx="10982324" cy="161925"/>
          </a:xfrm>
        </p:grpSpPr>
        <p:sp>
          <p:nvSpPr>
            <p:cNvPr id="49" name="TextBox 49"/>
            <p:cNvSpPr txBox="1"/>
            <p:nvPr/>
          </p:nvSpPr>
          <p:spPr>
            <a:xfrm>
              <a:off x="604838" y="6597491"/>
              <a:ext cx="1097996" cy="161925"/>
            </a:xfrm>
            <a:prstGeom prst="rect">
              <a:avLst/>
            </a:prstGeom>
            <a:noFill/>
            <a:ln>
              <a:noFill/>
            </a:ln>
          </p:spPr>
          <p:txBody>
            <a:bodyPr wrap="none" lIns="0" tIns="0" rIns="0" bIns="0" anchor="t" anchorCtr="0">
              <a:spAutoFit/>
            </a:bodyPr>
            <a:lstStyle/>
            <a:p>
              <a:pPr algn="l"/>
              <a:r>
                <a:rPr lang="en-US" sz="820" dirty="0">
                  <a:solidFill>
                    <a:srgbClr val="94A3B8"/>
                  </a:solidFill>
                  <a:latin typeface="+mn-lt"/>
                  <a:ea typeface="+mn-ea"/>
                  <a:cs typeface="+mn-cs"/>
                </a:rPr>
                <a:t>Groh 2022 · Figure 1</a:t>
              </a:r>
            </a:p>
          </p:txBody>
        </p:sp>
        <p:sp>
          <p:nvSpPr>
            <p:cNvPr id="50" name="TextBox 50"/>
            <p:cNvSpPr txBox="1"/>
            <p:nvPr/>
          </p:nvSpPr>
          <p:spPr>
            <a:xfrm>
              <a:off x="11456210" y="6597491"/>
              <a:ext cx="130952" cy="161925"/>
            </a:xfrm>
            <a:prstGeom prst="rect">
              <a:avLst/>
            </a:prstGeom>
            <a:noFill/>
            <a:ln>
              <a:noFill/>
            </a:ln>
          </p:spPr>
          <p:txBody>
            <a:bodyPr wrap="none" lIns="0" tIns="0" rIns="0" bIns="0" anchor="t" anchorCtr="0">
              <a:spAutoFit/>
            </a:bodyPr>
            <a:lstStyle/>
            <a:p>
              <a:pPr algn="r"/>
              <a:r>
                <a:rPr lang="en-US" sz="820" dirty="0">
                  <a:solidFill>
                    <a:srgbClr val="94A3B8"/>
                  </a:solidFill>
                  <a:latin typeface="+mn-lt"/>
                  <a:ea typeface="+mn-ea"/>
                  <a:cs typeface="+mn-cs"/>
                </a:rPr>
                <a:t>03</a:t>
              </a:r>
            </a:p>
          </p:txBody>
        </p:sp>
      </p:grpSp>
      <p:sp>
        <p:nvSpPr>
          <p:cNvPr id="52" name="cue_s03_c1_prior_work_treats_robustness_differe" title="cue_s03_c1_prior_work_treats_robustness_differe" descr="cue_s03_c1_prior_work_treats_robustness_differe Prior work treats robustness as a difference between two distributions while disregarding the reasons behind that difference."/>
          <p:cNvSpPr/>
          <p:nvPr/>
        </p:nvSpPr>
        <p:spPr>
          <a:xfrm>
            <a:off x="609600" y="1428521"/>
            <a:ext cx="4952390" cy="14285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cue_s03_c2_but_difference_merely_symptom_diseas" title="cue_s03_c2_but_difference_merely_symptom_diseas" descr="cue_s03_c2_but_difference_merely_symptom_diseas But the difference is merely a symptom; the disease is in how data are created, collected, and curated."/>
          <p:cNvSpPr/>
          <p:nvPr/>
        </p:nvSpPr>
        <p:spPr>
          <a:xfrm>
            <a:off x="609600" y="3029178"/>
            <a:ext cx="4952390" cy="14285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cue_s03_c3_figure_1_shows_interest_distribution" title="cue_s03_c3_figure_1_shows_interest_distribution" descr="cue_s03_c3_figure_1_shows_interest_distribution As Figure 1 shows, interest in distribution shift terminology has grown enormously over the last decade, with covariate shift papers alone climbing toward nine thousand per year by 2021."/>
          <p:cNvSpPr/>
          <p:nvPr/>
        </p:nvSpPr>
        <p:spPr>
          <a:xfrm>
            <a:off x="5791200" y="1428521"/>
            <a:ext cx="5791200" cy="4629150"/>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cue_s03_c4_despite_volume_vocabulary_stays_tang" title="cue_s03_c4_despite_volume_vocabulary_stays_tang" descr="cue_s03_c4_despite_volume_vocabulary_stays_tang Despite this volume, the vocabulary stays tangled and rarely points practitioners toward the upstream, semantically meaningful factors they can actually intervene on."/>
          <p:cNvSpPr/>
          <p:nvPr/>
        </p:nvSpPr>
        <p:spPr>
          <a:xfrm>
            <a:off x="609600" y="4629150"/>
            <a:ext cx="4952390" cy="14285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609600" y="552450"/>
            <a:ext cx="6970689" cy="656939"/>
            <a:chOff x="609600" y="552450"/>
            <a:chExt cx="6970689" cy="656939"/>
          </a:xfrm>
        </p:grpSpPr>
        <p:sp>
          <p:nvSpPr>
            <p:cNvPr id="2" name="Rectangle 2"/>
            <p:cNvSpPr/>
            <p:nvPr/>
          </p:nvSpPr>
          <p:spPr>
            <a:xfrm>
              <a:off x="609600" y="552450"/>
              <a:ext cx="57150" cy="400050"/>
            </a:xfrm>
            <a:prstGeom prst="rect">
              <a:avLst/>
            </a:prstGeom>
            <a:solidFill>
              <a:schemeClr val="accent2"/>
            </a:solidFill>
            <a:ln>
              <a:noFill/>
            </a:ln>
          </p:spPr>
        </p:sp>
        <p:sp>
          <p:nvSpPr>
            <p:cNvPr id="3" name="TextBox 3"/>
            <p:cNvSpPr txBox="1"/>
            <p:nvPr/>
          </p:nvSpPr>
          <p:spPr>
            <a:xfrm>
              <a:off x="826770" y="614362"/>
              <a:ext cx="6753519" cy="440055"/>
            </a:xfrm>
            <a:prstGeom prst="rect">
              <a:avLst/>
            </a:prstGeom>
            <a:noFill/>
            <a:ln>
              <a:noFill/>
            </a:ln>
          </p:spPr>
          <p:txBody>
            <a:bodyPr wrap="none" lIns="0" tIns="0" rIns="0" bIns="0" anchor="t" anchorCtr="0">
              <a:spAutoFit/>
            </a:bodyPr>
            <a:lstStyle/>
            <a:p>
              <a:pPr algn="l"/>
              <a:r>
                <a:rPr lang="en-US" sz="2250" b="1" dirty="0">
                  <a:solidFill>
                    <a:schemeClr val="accent1"/>
                  </a:solidFill>
                  <a:latin typeface="Georgia"/>
                  <a:ea typeface="Georgia"/>
                  <a:cs typeface="Georgia"/>
                </a:rPr>
                <a:t>Reframing the problem, then acting on it</a:t>
              </a:r>
            </a:p>
          </p:txBody>
        </p:sp>
        <p:sp>
          <p:nvSpPr>
            <p:cNvPr id="4" name="TextBox 4"/>
            <p:cNvSpPr txBox="1"/>
            <p:nvPr/>
          </p:nvSpPr>
          <p:spPr>
            <a:xfrm>
              <a:off x="833247" y="1018699"/>
              <a:ext cx="5262417" cy="190690"/>
            </a:xfrm>
            <a:prstGeom prst="rect">
              <a:avLst/>
            </a:prstGeom>
            <a:noFill/>
            <a:ln>
              <a:noFill/>
            </a:ln>
          </p:spPr>
          <p:txBody>
            <a:bodyPr wrap="none" lIns="0" tIns="0" rIns="0" bIns="0" anchor="t" anchorCtr="0">
              <a:spAutoFit/>
            </a:bodyPr>
            <a:lstStyle/>
            <a:p>
              <a:pPr algn="l"/>
              <a:r>
                <a:rPr lang="en-US" sz="980" b="1" spc="112" dirty="0">
                  <a:solidFill>
                    <a:schemeClr val="dk2"/>
                  </a:solidFill>
                  <a:latin typeface="+mn-lt"/>
                  <a:ea typeface="+mn-ea"/>
                  <a:cs typeface="+mn-cs"/>
                </a:rPr>
                <a:t>CONTRIBUTION · ONE CONCEPT, THREE METHODS, THREE DOMAINS</a:t>
              </a:r>
            </a:p>
          </p:txBody>
        </p:sp>
      </p:grpSp>
      <p:grpSp>
        <p:nvGrpSpPr>
          <p:cNvPr id="11" name="Group 11"/>
          <p:cNvGrpSpPr/>
          <p:nvPr/>
        </p:nvGrpSpPr>
        <p:grpSpPr>
          <a:xfrm>
            <a:off x="609600" y="1428750"/>
            <a:ext cx="10972800" cy="990600"/>
            <a:chOff x="609600" y="1428750"/>
            <a:chExt cx="10972800" cy="990600"/>
          </a:xfrm>
        </p:grpSpPr>
        <p:sp>
          <p:nvSpPr>
            <p:cNvPr id="6" name="Rectangle 6"/>
            <p:cNvSpPr/>
            <p:nvPr/>
          </p:nvSpPr>
          <p:spPr>
            <a:xfrm>
              <a:off x="609600" y="1428750"/>
              <a:ext cx="10972800" cy="990600"/>
            </a:xfrm>
            <a:prstGeom prst="roundRect">
              <a:avLst>
                <a:gd name="adj" fmla="val 11538"/>
              </a:avLst>
            </a:prstGeom>
            <a:solidFill>
              <a:schemeClr val="accent5"/>
            </a:solidFill>
            <a:ln w="14288">
              <a:solidFill>
                <a:schemeClr val="accent4"/>
              </a:solidFill>
            </a:ln>
          </p:spPr>
        </p:sp>
        <p:sp>
          <p:nvSpPr>
            <p:cNvPr id="7" name="Rectangle 7"/>
            <p:cNvSpPr/>
            <p:nvPr/>
          </p:nvSpPr>
          <p:spPr>
            <a:xfrm>
              <a:off x="609600" y="1428750"/>
              <a:ext cx="57150" cy="990600"/>
            </a:xfrm>
            <a:prstGeom prst="roundRect">
              <a:avLst>
                <a:gd name="adj" fmla="val 50000"/>
              </a:avLst>
            </a:prstGeom>
            <a:solidFill>
              <a:srgbClr val="94A3B8"/>
            </a:solidFill>
            <a:ln>
              <a:noFill/>
            </a:ln>
          </p:spPr>
        </p:sp>
        <p:sp>
          <p:nvSpPr>
            <p:cNvPr id="8" name="TextBox 8"/>
            <p:cNvSpPr txBox="1"/>
            <p:nvPr/>
          </p:nvSpPr>
          <p:spPr>
            <a:xfrm>
              <a:off x="871347" y="1647349"/>
              <a:ext cx="1716402" cy="190690"/>
            </a:xfrm>
            <a:prstGeom prst="rect">
              <a:avLst/>
            </a:prstGeom>
            <a:noFill/>
            <a:ln>
              <a:noFill/>
            </a:ln>
          </p:spPr>
          <p:txBody>
            <a:bodyPr wrap="none" lIns="0" tIns="0" rIns="0" bIns="0" anchor="t" anchorCtr="0">
              <a:spAutoFit/>
            </a:bodyPr>
            <a:lstStyle/>
            <a:p>
              <a:pPr algn="l"/>
              <a:r>
                <a:rPr lang="en-US" sz="980" b="1" spc="112" dirty="0">
                  <a:solidFill>
                    <a:schemeClr val="dk2"/>
                  </a:solidFill>
                  <a:latin typeface="+mn-lt"/>
                  <a:ea typeface="+mn-ea"/>
                  <a:cs typeface="+mn-cs"/>
                </a:rPr>
                <a:t>A PERSPECTIVE PAPER</a:t>
              </a:r>
            </a:p>
          </p:txBody>
        </p:sp>
        <p:sp>
          <p:nvSpPr>
            <p:cNvPr id="9" name="TextBox 9"/>
            <p:cNvSpPr txBox="1"/>
            <p:nvPr/>
          </p:nvSpPr>
          <p:spPr>
            <a:xfrm>
              <a:off x="868680" y="1895475"/>
              <a:ext cx="8871042" cy="293370"/>
            </a:xfrm>
            <a:prstGeom prst="rect">
              <a:avLst/>
            </a:prstGeom>
            <a:noFill/>
            <a:ln>
              <a:noFill/>
            </a:ln>
          </p:spPr>
          <p:txBody>
            <a:bodyPr wrap="none" lIns="0" tIns="0" rIns="0" bIns="0" anchor="t" anchorCtr="0">
              <a:spAutoFit/>
            </a:bodyPr>
            <a:lstStyle/>
            <a:p>
              <a:pPr algn="l"/>
              <a:r>
                <a:rPr lang="en-US" sz="1500" b="1" dirty="0">
                  <a:solidFill>
                    <a:schemeClr val="accent1"/>
                  </a:solidFill>
                  <a:latin typeface="Georgia"/>
                  <a:ea typeface="Georgia"/>
                  <a:cs typeface="Georgia"/>
                </a:rPr>
                <a:t>This paper reframes the robustness problem rather than proposing a new model.</a:t>
              </a:r>
            </a:p>
          </p:txBody>
        </p:sp>
        <p:sp>
          <p:nvSpPr>
            <p:cNvPr id="10" name="TextBox 10"/>
            <p:cNvSpPr txBox="1"/>
            <p:nvPr/>
          </p:nvSpPr>
          <p:spPr>
            <a:xfrm>
              <a:off x="870585" y="2183606"/>
              <a:ext cx="8015157"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It changes the question from how far two distributions differ to why the data-generating process changed.</a:t>
              </a:r>
            </a:p>
          </p:txBody>
        </p:sp>
      </p:grpSp>
      <p:grpSp>
        <p:nvGrpSpPr>
          <p:cNvPr id="25" name="Group 25"/>
          <p:cNvGrpSpPr/>
          <p:nvPr/>
        </p:nvGrpSpPr>
        <p:grpSpPr>
          <a:xfrm>
            <a:off x="609600" y="2571750"/>
            <a:ext cx="5334000" cy="3486150"/>
            <a:chOff x="609600" y="2571750"/>
            <a:chExt cx="5334000" cy="3486150"/>
          </a:xfrm>
        </p:grpSpPr>
        <p:sp>
          <p:nvSpPr>
            <p:cNvPr id="12" name="Rectangle 12"/>
            <p:cNvSpPr/>
            <p:nvPr/>
          </p:nvSpPr>
          <p:spPr>
            <a:xfrm>
              <a:off x="609600" y="2571750"/>
              <a:ext cx="5334000" cy="3486150"/>
            </a:xfrm>
            <a:prstGeom prst="roundRect">
              <a:avLst>
                <a:gd name="adj" fmla="val 3279"/>
              </a:avLst>
            </a:prstGeom>
            <a:solidFill>
              <a:schemeClr val="accent1"/>
            </a:solidFill>
            <a:ln w="14288">
              <a:solidFill>
                <a:schemeClr val="accent1"/>
              </a:solidFill>
            </a:ln>
          </p:spPr>
        </p:sp>
        <p:sp>
          <p:nvSpPr>
            <p:cNvPr id="13" name="Rectangle 13"/>
            <p:cNvSpPr/>
            <p:nvPr/>
          </p:nvSpPr>
          <p:spPr>
            <a:xfrm>
              <a:off x="609600" y="2571750"/>
              <a:ext cx="57150" cy="3486150"/>
            </a:xfrm>
            <a:prstGeom prst="roundRect">
              <a:avLst>
                <a:gd name="adj" fmla="val 50000"/>
              </a:avLst>
            </a:prstGeom>
            <a:solidFill>
              <a:schemeClr val="accent2"/>
            </a:solidFill>
            <a:ln>
              <a:noFill/>
            </a:ln>
          </p:spPr>
        </p:sp>
        <p:sp>
          <p:nvSpPr>
            <p:cNvPr id="14" name="TextBox 14"/>
            <p:cNvSpPr txBox="1"/>
            <p:nvPr/>
          </p:nvSpPr>
          <p:spPr>
            <a:xfrm>
              <a:off x="871347" y="2809399"/>
              <a:ext cx="1871380" cy="190690"/>
            </a:xfrm>
            <a:prstGeom prst="rect">
              <a:avLst/>
            </a:prstGeom>
            <a:noFill/>
            <a:ln>
              <a:noFill/>
            </a:ln>
          </p:spPr>
          <p:txBody>
            <a:bodyPr wrap="none" lIns="0" tIns="0" rIns="0" bIns="0" anchor="t" anchorCtr="0">
              <a:spAutoFit/>
            </a:bodyPr>
            <a:lstStyle/>
            <a:p>
              <a:pPr algn="l"/>
              <a:r>
                <a:rPr lang="en-US" sz="980" b="1" spc="112" dirty="0">
                  <a:solidFill>
                    <a:schemeClr val="accent2"/>
                  </a:solidFill>
                  <a:latin typeface="+mn-lt"/>
                  <a:ea typeface="+mn-ea"/>
                  <a:cs typeface="+mn-cs"/>
                </a:rPr>
                <a:t>CENTRAL CONTRIBUTION</a:t>
              </a:r>
            </a:p>
          </p:txBody>
        </p:sp>
        <p:sp>
          <p:nvSpPr>
            <p:cNvPr id="15" name="TextBox 15"/>
            <p:cNvSpPr txBox="1"/>
            <p:nvPr/>
          </p:nvSpPr>
          <p:spPr>
            <a:xfrm>
              <a:off x="862584" y="3061335"/>
              <a:ext cx="2804819" cy="528066"/>
            </a:xfrm>
            <a:prstGeom prst="rect">
              <a:avLst/>
            </a:prstGeom>
            <a:noFill/>
            <a:ln>
              <a:noFill/>
            </a:ln>
          </p:spPr>
          <p:txBody>
            <a:bodyPr wrap="none" lIns="0" tIns="0" rIns="0" bIns="0" anchor="t" anchorCtr="0">
              <a:spAutoFit/>
            </a:bodyPr>
            <a:lstStyle/>
            <a:p>
              <a:pPr algn="l"/>
              <a:r>
                <a:rPr lang="en-US" sz="2700" b="1" dirty="0">
                  <a:solidFill>
                    <a:srgbClr val="FFFFFF"/>
                  </a:solidFill>
                  <a:latin typeface="Georgia"/>
                  <a:ea typeface="Georgia"/>
                  <a:cs typeface="Georgia"/>
                </a:rPr>
                <a:t>Context Shift</a:t>
              </a:r>
            </a:p>
          </p:txBody>
        </p:sp>
        <p:sp>
          <p:nvSpPr>
            <p:cNvPr id="16" name="TextBox 16"/>
            <p:cNvSpPr txBox="1"/>
            <p:nvPr/>
          </p:nvSpPr>
          <p:spPr>
            <a:xfrm>
              <a:off x="870204" y="3566160"/>
              <a:ext cx="2989700" cy="234696"/>
            </a:xfrm>
            <a:prstGeom prst="rect">
              <a:avLst/>
            </a:prstGeom>
            <a:noFill/>
            <a:ln>
              <a:noFill/>
            </a:ln>
          </p:spPr>
          <p:txBody>
            <a:bodyPr wrap="none" lIns="0" tIns="0" rIns="0" bIns="0" anchor="t" anchorCtr="0">
              <a:spAutoFit/>
            </a:bodyPr>
            <a:lstStyle/>
            <a:p>
              <a:pPr algn="l"/>
              <a:r>
                <a:rPr lang="en-US" sz="1200" dirty="0">
                  <a:solidFill>
                    <a:srgbClr val="EEF2F9"/>
                  </a:solidFill>
                  <a:latin typeface="+mn-lt"/>
                  <a:ea typeface="+mn-ea"/>
                  <a:cs typeface="+mn-cs"/>
                </a:rPr>
                <a:t>The semantically meaningful upstream</a:t>
              </a:r>
            </a:p>
          </p:txBody>
        </p:sp>
        <p:sp>
          <p:nvSpPr>
            <p:cNvPr id="17" name="TextBox 17"/>
            <p:cNvSpPr txBox="1"/>
            <p:nvPr/>
          </p:nvSpPr>
          <p:spPr>
            <a:xfrm>
              <a:off x="870204" y="3794760"/>
              <a:ext cx="2798826" cy="234696"/>
            </a:xfrm>
            <a:prstGeom prst="rect">
              <a:avLst/>
            </a:prstGeom>
            <a:noFill/>
            <a:ln>
              <a:noFill/>
            </a:ln>
          </p:spPr>
          <p:txBody>
            <a:bodyPr wrap="none" lIns="0" tIns="0" rIns="0" bIns="0" anchor="t" anchorCtr="0">
              <a:spAutoFit/>
            </a:bodyPr>
            <a:lstStyle/>
            <a:p>
              <a:pPr algn="l"/>
              <a:r>
                <a:rPr lang="en-US" sz="1200" dirty="0">
                  <a:solidFill>
                    <a:srgbClr val="EEF2F9"/>
                  </a:solidFill>
                  <a:latin typeface="+mn-lt"/>
                  <a:ea typeface="+mn-ea"/>
                  <a:cs typeface="+mn-cs"/>
                </a:rPr>
                <a:t>factors that drive the distribution</a:t>
              </a:r>
            </a:p>
          </p:txBody>
        </p:sp>
        <p:sp>
          <p:nvSpPr>
            <p:cNvPr id="18" name="TextBox 18"/>
            <p:cNvSpPr txBox="1"/>
            <p:nvPr/>
          </p:nvSpPr>
          <p:spPr>
            <a:xfrm>
              <a:off x="870204" y="4023360"/>
              <a:ext cx="1522628" cy="234696"/>
            </a:xfrm>
            <a:prstGeom prst="rect">
              <a:avLst/>
            </a:prstGeom>
            <a:noFill/>
            <a:ln>
              <a:noFill/>
            </a:ln>
          </p:spPr>
          <p:txBody>
            <a:bodyPr wrap="none" lIns="0" tIns="0" rIns="0" bIns="0" anchor="t" anchorCtr="0">
              <a:spAutoFit/>
            </a:bodyPr>
            <a:lstStyle/>
            <a:p>
              <a:pPr algn="l"/>
              <a:r>
                <a:rPr lang="en-US" sz="1200" dirty="0">
                  <a:solidFill>
                    <a:srgbClr val="EEF2F9"/>
                  </a:solidFill>
                  <a:latin typeface="+mn-lt"/>
                  <a:ea typeface="+mn-ea"/>
                  <a:cs typeface="+mn-cs"/>
                </a:rPr>
                <a:t>shifts we observe:</a:t>
              </a:r>
            </a:p>
          </p:txBody>
        </p:sp>
        <p:sp>
          <p:nvSpPr>
            <p:cNvPr id="19" name="Rectangle 19"/>
            <p:cNvSpPr/>
            <p:nvPr/>
          </p:nvSpPr>
          <p:spPr>
            <a:xfrm>
              <a:off x="876300" y="4362450"/>
              <a:ext cx="4191000" cy="438150"/>
            </a:xfrm>
            <a:prstGeom prst="roundRect">
              <a:avLst>
                <a:gd name="adj" fmla="val 17391"/>
              </a:avLst>
            </a:prstGeom>
            <a:solidFill>
              <a:srgbClr val="1F3350"/>
            </a:solidFill>
            <a:ln>
              <a:noFill/>
            </a:ln>
          </p:spPr>
        </p:sp>
        <p:sp>
          <p:nvSpPr>
            <p:cNvPr id="20" name="TextBox 20"/>
            <p:cNvSpPr txBox="1"/>
            <p:nvPr/>
          </p:nvSpPr>
          <p:spPr>
            <a:xfrm>
              <a:off x="1022604" y="4509135"/>
              <a:ext cx="2045204" cy="234696"/>
            </a:xfrm>
            <a:prstGeom prst="rect">
              <a:avLst/>
            </a:prstGeom>
            <a:noFill/>
            <a:ln>
              <a:noFill/>
            </a:ln>
          </p:spPr>
          <p:txBody>
            <a:bodyPr wrap="none" lIns="0" tIns="0" rIns="0" bIns="0" anchor="t" anchorCtr="0">
              <a:spAutoFit/>
            </a:bodyPr>
            <a:lstStyle/>
            <a:p>
              <a:pPr algn="l"/>
              <a:r>
                <a:rPr lang="en-US" sz="1200" b="1" dirty="0">
                  <a:solidFill>
                    <a:srgbClr val="FFFFFF"/>
                  </a:solidFill>
                  <a:latin typeface="+mn-lt"/>
                  <a:ea typeface="+mn-ea"/>
                  <a:cs typeface="+mn-cs"/>
                </a:rPr>
                <a:t>1 · Sample selection bias</a:t>
              </a:r>
            </a:p>
          </p:txBody>
        </p:sp>
        <p:sp>
          <p:nvSpPr>
            <p:cNvPr id="21" name="Rectangle 21"/>
            <p:cNvSpPr/>
            <p:nvPr/>
          </p:nvSpPr>
          <p:spPr>
            <a:xfrm>
              <a:off x="876300" y="4895850"/>
              <a:ext cx="4191000" cy="438150"/>
            </a:xfrm>
            <a:prstGeom prst="roundRect">
              <a:avLst>
                <a:gd name="adj" fmla="val 17391"/>
              </a:avLst>
            </a:prstGeom>
            <a:solidFill>
              <a:srgbClr val="1F3350"/>
            </a:solidFill>
            <a:ln>
              <a:noFill/>
            </a:ln>
          </p:spPr>
        </p:sp>
        <p:sp>
          <p:nvSpPr>
            <p:cNvPr id="22" name="TextBox 22"/>
            <p:cNvSpPr txBox="1"/>
            <p:nvPr/>
          </p:nvSpPr>
          <p:spPr>
            <a:xfrm>
              <a:off x="1022604" y="5042535"/>
              <a:ext cx="2375729" cy="234696"/>
            </a:xfrm>
            <a:prstGeom prst="rect">
              <a:avLst/>
            </a:prstGeom>
            <a:noFill/>
            <a:ln>
              <a:noFill/>
            </a:ln>
          </p:spPr>
          <p:txBody>
            <a:bodyPr wrap="none" lIns="0" tIns="0" rIns="0" bIns="0" anchor="t" anchorCtr="0">
              <a:spAutoFit/>
            </a:bodyPr>
            <a:lstStyle/>
            <a:p>
              <a:pPr algn="l"/>
              <a:r>
                <a:rPr lang="en-US" sz="1200" b="1" dirty="0">
                  <a:solidFill>
                    <a:srgbClr val="FFFFFF"/>
                  </a:solidFill>
                  <a:latin typeface="+mn-lt"/>
                  <a:ea typeface="+mn-ea"/>
                  <a:cs typeface="+mn-cs"/>
                </a:rPr>
                <a:t>2 · Adversarial perturbation</a:t>
              </a:r>
            </a:p>
          </p:txBody>
        </p:sp>
        <p:sp>
          <p:nvSpPr>
            <p:cNvPr id="23" name="Rectangle 23"/>
            <p:cNvSpPr/>
            <p:nvPr/>
          </p:nvSpPr>
          <p:spPr>
            <a:xfrm>
              <a:off x="876300" y="5429250"/>
              <a:ext cx="4191000" cy="438150"/>
            </a:xfrm>
            <a:prstGeom prst="roundRect">
              <a:avLst>
                <a:gd name="adj" fmla="val 17391"/>
              </a:avLst>
            </a:prstGeom>
            <a:solidFill>
              <a:srgbClr val="1F3350"/>
            </a:solidFill>
            <a:ln>
              <a:noFill/>
            </a:ln>
          </p:spPr>
        </p:sp>
        <p:sp>
          <p:nvSpPr>
            <p:cNvPr id="24" name="TextBox 24"/>
            <p:cNvSpPr txBox="1"/>
            <p:nvPr/>
          </p:nvSpPr>
          <p:spPr>
            <a:xfrm>
              <a:off x="1022604" y="5575935"/>
              <a:ext cx="1714805" cy="234696"/>
            </a:xfrm>
            <a:prstGeom prst="rect">
              <a:avLst/>
            </a:prstGeom>
            <a:noFill/>
            <a:ln>
              <a:noFill/>
            </a:ln>
          </p:spPr>
          <p:txBody>
            <a:bodyPr wrap="none" lIns="0" tIns="0" rIns="0" bIns="0" anchor="t" anchorCtr="0">
              <a:spAutoFit/>
            </a:bodyPr>
            <a:lstStyle/>
            <a:p>
              <a:pPr algn="l"/>
              <a:r>
                <a:rPr lang="en-US" sz="1200" b="1" dirty="0">
                  <a:solidFill>
                    <a:srgbClr val="FFFFFF"/>
                  </a:solidFill>
                  <a:latin typeface="+mn-lt"/>
                  <a:ea typeface="+mn-ea"/>
                  <a:cs typeface="+mn-cs"/>
                </a:rPr>
                <a:t>3 · Non-stationarity</a:t>
              </a:r>
            </a:p>
          </p:txBody>
        </p:sp>
      </p:grpSp>
      <p:grpSp>
        <p:nvGrpSpPr>
          <p:cNvPr id="41" name="Group 41"/>
          <p:cNvGrpSpPr/>
          <p:nvPr/>
        </p:nvGrpSpPr>
        <p:grpSpPr>
          <a:xfrm>
            <a:off x="6172200" y="2571750"/>
            <a:ext cx="5410200" cy="3486150"/>
            <a:chOff x="6172200" y="2571750"/>
            <a:chExt cx="5410200" cy="3486150"/>
          </a:xfrm>
        </p:grpSpPr>
        <p:sp>
          <p:nvSpPr>
            <p:cNvPr id="26" name="Rectangle 26"/>
            <p:cNvSpPr/>
            <p:nvPr/>
          </p:nvSpPr>
          <p:spPr>
            <a:xfrm>
              <a:off x="6172200" y="2571750"/>
              <a:ext cx="5410200" cy="3486150"/>
            </a:xfrm>
            <a:prstGeom prst="roundRect">
              <a:avLst>
                <a:gd name="adj" fmla="val 3279"/>
              </a:avLst>
            </a:prstGeom>
            <a:solidFill>
              <a:schemeClr val="lt1"/>
            </a:solidFill>
            <a:ln w="14288">
              <a:solidFill>
                <a:schemeClr val="accent4"/>
              </a:solidFill>
            </a:ln>
          </p:spPr>
        </p:sp>
        <p:sp>
          <p:nvSpPr>
            <p:cNvPr id="27" name="Rectangle 27"/>
            <p:cNvSpPr/>
            <p:nvPr/>
          </p:nvSpPr>
          <p:spPr>
            <a:xfrm>
              <a:off x="6172200" y="2571750"/>
              <a:ext cx="57150" cy="3486150"/>
            </a:xfrm>
            <a:prstGeom prst="roundRect">
              <a:avLst>
                <a:gd name="adj" fmla="val 50000"/>
              </a:avLst>
            </a:prstGeom>
            <a:solidFill>
              <a:srgbClr val="0E9F9A"/>
            </a:solidFill>
            <a:ln>
              <a:noFill/>
            </a:ln>
          </p:spPr>
        </p:sp>
        <p:sp>
          <p:nvSpPr>
            <p:cNvPr id="28" name="TextBox 28"/>
            <p:cNvSpPr txBox="1"/>
            <p:nvPr/>
          </p:nvSpPr>
          <p:spPr>
            <a:xfrm>
              <a:off x="6433947" y="2809399"/>
              <a:ext cx="1953175" cy="190690"/>
            </a:xfrm>
            <a:prstGeom prst="rect">
              <a:avLst/>
            </a:prstGeom>
            <a:noFill/>
            <a:ln>
              <a:noFill/>
            </a:ln>
          </p:spPr>
          <p:txBody>
            <a:bodyPr wrap="none" lIns="0" tIns="0" rIns="0" bIns="0" anchor="t" anchorCtr="0">
              <a:spAutoFit/>
            </a:bodyPr>
            <a:lstStyle/>
            <a:p>
              <a:pPr algn="l"/>
              <a:r>
                <a:rPr lang="en-US" sz="980" b="1" spc="112" dirty="0">
                  <a:solidFill>
                    <a:srgbClr val="0E9F9A"/>
                  </a:solidFill>
                  <a:latin typeface="+mn-lt"/>
                  <a:ea typeface="+mn-ea"/>
                  <a:cs typeface="+mn-cs"/>
                </a:rPr>
                <a:t>ON TOP OF THE FRAMING</a:t>
              </a:r>
            </a:p>
          </p:txBody>
        </p:sp>
        <p:sp>
          <p:nvSpPr>
            <p:cNvPr id="29" name="TextBox 29"/>
            <p:cNvSpPr txBox="1"/>
            <p:nvPr/>
          </p:nvSpPr>
          <p:spPr>
            <a:xfrm>
              <a:off x="6431661" y="3084671"/>
              <a:ext cx="3265723" cy="278702"/>
            </a:xfrm>
            <a:prstGeom prst="rect">
              <a:avLst/>
            </a:prstGeom>
            <a:noFill/>
            <a:ln>
              <a:noFill/>
            </a:ln>
          </p:spPr>
          <p:txBody>
            <a:bodyPr wrap="none" lIns="0" tIns="0" rIns="0" bIns="0" anchor="t" anchorCtr="0">
              <a:spAutoFit/>
            </a:bodyPr>
            <a:lstStyle/>
            <a:p>
              <a:pPr algn="l"/>
              <a:r>
                <a:rPr lang="en-US" sz="1420" b="1" dirty="0">
                  <a:solidFill>
                    <a:schemeClr val="accent1"/>
                  </a:solidFill>
                  <a:latin typeface="Georgia"/>
                  <a:ea typeface="Georgia"/>
                  <a:cs typeface="Georgia"/>
                </a:rPr>
                <a:t>Three methods to close the gap</a:t>
              </a:r>
            </a:p>
          </p:txBody>
        </p:sp>
        <p:sp>
          <p:nvSpPr>
            <p:cNvPr id="30" name="TextBox 30"/>
            <p:cNvSpPr txBox="1"/>
            <p:nvPr/>
          </p:nvSpPr>
          <p:spPr>
            <a:xfrm>
              <a:off x="6432804" y="3413760"/>
              <a:ext cx="3232604"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1 · Human intuition and expert knowledge</a:t>
              </a:r>
            </a:p>
          </p:txBody>
        </p:sp>
        <p:sp>
          <p:nvSpPr>
            <p:cNvPr id="31" name="TextBox 31"/>
            <p:cNvSpPr txBox="1"/>
            <p:nvPr/>
          </p:nvSpPr>
          <p:spPr>
            <a:xfrm>
              <a:off x="6432804" y="3661410"/>
              <a:ext cx="2013204"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2 · Dynamic benchmarking</a:t>
              </a:r>
            </a:p>
          </p:txBody>
        </p:sp>
        <p:sp>
          <p:nvSpPr>
            <p:cNvPr id="32" name="TextBox 32"/>
            <p:cNvSpPr txBox="1"/>
            <p:nvPr/>
          </p:nvSpPr>
          <p:spPr>
            <a:xfrm>
              <a:off x="6432804" y="3909060"/>
              <a:ext cx="2440627"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3 · Clarifying model limitations</a:t>
              </a:r>
            </a:p>
          </p:txBody>
        </p:sp>
        <p:sp>
          <p:nvSpPr>
            <p:cNvPr id="33" name="Line 33"/>
            <p:cNvSpPr/>
            <p:nvPr/>
          </p:nvSpPr>
          <p:spPr>
            <a:xfrm>
              <a:off x="6438900" y="4248150"/>
              <a:ext cx="4876800" cy="9525"/>
            </a:xfrm>
            <a:custGeom>
              <a:avLst/>
              <a:gdLst/>
              <a:ahLst/>
              <a:cxnLst/>
              <a:rect l="l" t="t" r="r" b="b"/>
              <a:pathLst>
                <a:path w="4876800" h="9525">
                  <a:moveTo>
                    <a:pt x="0" y="0"/>
                  </a:moveTo>
                  <a:lnTo>
                    <a:pt x="4876800" y="0"/>
                  </a:lnTo>
                </a:path>
              </a:pathLst>
            </a:custGeom>
            <a:noFill/>
            <a:ln w="9525">
              <a:solidFill>
                <a:schemeClr val="accent4"/>
              </a:solidFill>
            </a:ln>
          </p:spPr>
        </p:sp>
        <p:sp>
          <p:nvSpPr>
            <p:cNvPr id="34" name="TextBox 34"/>
            <p:cNvSpPr txBox="1"/>
            <p:nvPr/>
          </p:nvSpPr>
          <p:spPr>
            <a:xfrm>
              <a:off x="6431661" y="4399121"/>
              <a:ext cx="2923486" cy="278702"/>
            </a:xfrm>
            <a:prstGeom prst="rect">
              <a:avLst/>
            </a:prstGeom>
            <a:noFill/>
            <a:ln>
              <a:noFill/>
            </a:ln>
          </p:spPr>
          <p:txBody>
            <a:bodyPr wrap="none" lIns="0" tIns="0" rIns="0" bIns="0" anchor="t" anchorCtr="0">
              <a:spAutoFit/>
            </a:bodyPr>
            <a:lstStyle/>
            <a:p>
              <a:pPr algn="l"/>
              <a:r>
                <a:rPr lang="en-US" sz="1420" b="1" dirty="0">
                  <a:solidFill>
                    <a:schemeClr val="accent1"/>
                  </a:solidFill>
                  <a:latin typeface="Georgia"/>
                  <a:ea typeface="Georgia"/>
                  <a:cs typeface="Georgia"/>
                </a:rPr>
                <a:t>Illustrated in three domains</a:t>
              </a:r>
            </a:p>
          </p:txBody>
        </p:sp>
        <p:sp>
          <p:nvSpPr>
            <p:cNvPr id="35" name="Rectangle 35"/>
            <p:cNvSpPr/>
            <p:nvPr/>
          </p:nvSpPr>
          <p:spPr>
            <a:xfrm>
              <a:off x="6438900" y="4724400"/>
              <a:ext cx="4876800" cy="381000"/>
            </a:xfrm>
            <a:prstGeom prst="roundRect">
              <a:avLst>
                <a:gd name="adj" fmla="val 20000"/>
              </a:avLst>
            </a:prstGeom>
            <a:solidFill>
              <a:schemeClr val="accent6"/>
            </a:solidFill>
            <a:ln>
              <a:noFill/>
            </a:ln>
          </p:spPr>
        </p:sp>
        <p:sp>
          <p:nvSpPr>
            <p:cNvPr id="36" name="TextBox 36"/>
            <p:cNvSpPr txBox="1"/>
            <p:nvPr/>
          </p:nvSpPr>
          <p:spPr>
            <a:xfrm>
              <a:off x="6585585" y="4841081"/>
              <a:ext cx="2156915" cy="220028"/>
            </a:xfrm>
            <a:prstGeom prst="rect">
              <a:avLst/>
            </a:prstGeom>
            <a:noFill/>
            <a:ln>
              <a:noFill/>
            </a:ln>
          </p:spPr>
          <p:txBody>
            <a:bodyPr wrap="none" lIns="0" tIns="0" rIns="0" bIns="0" anchor="t" anchorCtr="0">
              <a:spAutoFit/>
            </a:bodyPr>
            <a:lstStyle/>
            <a:p>
              <a:pPr algn="l"/>
              <a:r>
                <a:rPr lang="en-US" sz="1120" dirty="0">
                  <a:solidFill>
                    <a:schemeClr val="accent1"/>
                  </a:solidFill>
                  <a:latin typeface="+mn-lt"/>
                  <a:ea typeface="+mn-ea"/>
                  <a:cs typeface="+mn-cs"/>
                </a:rPr>
                <a:t>Facial expression recognition</a:t>
              </a:r>
            </a:p>
          </p:txBody>
        </p:sp>
        <p:sp>
          <p:nvSpPr>
            <p:cNvPr id="37" name="Rectangle 37"/>
            <p:cNvSpPr/>
            <p:nvPr/>
          </p:nvSpPr>
          <p:spPr>
            <a:xfrm>
              <a:off x="6438900" y="5181600"/>
              <a:ext cx="4876800" cy="381000"/>
            </a:xfrm>
            <a:prstGeom prst="roundRect">
              <a:avLst>
                <a:gd name="adj" fmla="val 20000"/>
              </a:avLst>
            </a:prstGeom>
            <a:solidFill>
              <a:schemeClr val="accent6"/>
            </a:solidFill>
            <a:ln>
              <a:noFill/>
            </a:ln>
          </p:spPr>
        </p:sp>
        <p:sp>
          <p:nvSpPr>
            <p:cNvPr id="38" name="TextBox 38"/>
            <p:cNvSpPr txBox="1"/>
            <p:nvPr/>
          </p:nvSpPr>
          <p:spPr>
            <a:xfrm>
              <a:off x="6585585" y="5298281"/>
              <a:ext cx="1433428" cy="220028"/>
            </a:xfrm>
            <a:prstGeom prst="rect">
              <a:avLst/>
            </a:prstGeom>
            <a:noFill/>
            <a:ln>
              <a:noFill/>
            </a:ln>
          </p:spPr>
          <p:txBody>
            <a:bodyPr wrap="none" lIns="0" tIns="0" rIns="0" bIns="0" anchor="t" anchorCtr="0">
              <a:spAutoFit/>
            </a:bodyPr>
            <a:lstStyle/>
            <a:p>
              <a:pPr algn="l"/>
              <a:r>
                <a:rPr lang="en-US" sz="1120" dirty="0">
                  <a:solidFill>
                    <a:schemeClr val="accent1"/>
                  </a:solidFill>
                  <a:latin typeface="+mn-lt"/>
                  <a:ea typeface="+mn-ea"/>
                  <a:cs typeface="+mn-cs"/>
                </a:rPr>
                <a:t>Deepfake detection</a:t>
              </a:r>
            </a:p>
          </p:txBody>
        </p:sp>
        <p:sp>
          <p:nvSpPr>
            <p:cNvPr id="39" name="Rectangle 39"/>
            <p:cNvSpPr/>
            <p:nvPr/>
          </p:nvSpPr>
          <p:spPr>
            <a:xfrm>
              <a:off x="6438900" y="5638800"/>
              <a:ext cx="4876800" cy="381000"/>
            </a:xfrm>
            <a:prstGeom prst="roundRect">
              <a:avLst>
                <a:gd name="adj" fmla="val 20000"/>
              </a:avLst>
            </a:prstGeom>
            <a:solidFill>
              <a:schemeClr val="accent6"/>
            </a:solidFill>
            <a:ln>
              <a:noFill/>
            </a:ln>
          </p:spPr>
        </p:sp>
        <p:sp>
          <p:nvSpPr>
            <p:cNvPr id="40" name="TextBox 40"/>
            <p:cNvSpPr txBox="1"/>
            <p:nvPr/>
          </p:nvSpPr>
          <p:spPr>
            <a:xfrm>
              <a:off x="6585585" y="5755481"/>
              <a:ext cx="1267285" cy="220028"/>
            </a:xfrm>
            <a:prstGeom prst="rect">
              <a:avLst/>
            </a:prstGeom>
            <a:noFill/>
            <a:ln>
              <a:noFill/>
            </a:ln>
          </p:spPr>
          <p:txBody>
            <a:bodyPr wrap="none" lIns="0" tIns="0" rIns="0" bIns="0" anchor="t" anchorCtr="0">
              <a:spAutoFit/>
            </a:bodyPr>
            <a:lstStyle/>
            <a:p>
              <a:pPr algn="l"/>
              <a:r>
                <a:rPr lang="en-US" sz="1120" dirty="0">
                  <a:solidFill>
                    <a:schemeClr val="accent1"/>
                  </a:solidFill>
                  <a:latin typeface="+mn-lt"/>
                  <a:ea typeface="+mn-ea"/>
                  <a:cs typeface="+mn-cs"/>
                </a:rPr>
                <a:t>Medical diagnosis</a:t>
              </a:r>
            </a:p>
          </p:txBody>
        </p:sp>
      </p:grpSp>
      <p:grpSp>
        <p:nvGrpSpPr>
          <p:cNvPr id="44" name="Group 44"/>
          <p:cNvGrpSpPr/>
          <p:nvPr/>
        </p:nvGrpSpPr>
        <p:grpSpPr>
          <a:xfrm>
            <a:off x="604838" y="6597491"/>
            <a:ext cx="10982324" cy="161925"/>
            <a:chOff x="604838" y="6597491"/>
            <a:chExt cx="10982324" cy="161925"/>
          </a:xfrm>
        </p:grpSpPr>
        <p:sp>
          <p:nvSpPr>
            <p:cNvPr id="42" name="TextBox 42"/>
            <p:cNvSpPr txBox="1"/>
            <p:nvPr/>
          </p:nvSpPr>
          <p:spPr>
            <a:xfrm>
              <a:off x="604838" y="6597491"/>
              <a:ext cx="1338000" cy="161925"/>
            </a:xfrm>
            <a:prstGeom prst="rect">
              <a:avLst/>
            </a:prstGeom>
            <a:noFill/>
            <a:ln>
              <a:noFill/>
            </a:ln>
          </p:spPr>
          <p:txBody>
            <a:bodyPr wrap="none" lIns="0" tIns="0" rIns="0" bIns="0" anchor="t" anchorCtr="0">
              <a:spAutoFit/>
            </a:bodyPr>
            <a:lstStyle/>
            <a:p>
              <a:pPr algn="l"/>
              <a:r>
                <a:rPr lang="en-US" sz="820" dirty="0">
                  <a:solidFill>
                    <a:srgbClr val="94A3B8"/>
                  </a:solidFill>
                  <a:latin typeface="+mn-lt"/>
                  <a:ea typeface="+mn-ea"/>
                  <a:cs typeface="+mn-cs"/>
                </a:rPr>
                <a:t>Groh 2022 · Contribution</a:t>
              </a:r>
            </a:p>
          </p:txBody>
        </p:sp>
        <p:sp>
          <p:nvSpPr>
            <p:cNvPr id="43" name="TextBox 43"/>
            <p:cNvSpPr txBox="1"/>
            <p:nvPr/>
          </p:nvSpPr>
          <p:spPr>
            <a:xfrm>
              <a:off x="11456210" y="6597491"/>
              <a:ext cx="130952" cy="161925"/>
            </a:xfrm>
            <a:prstGeom prst="rect">
              <a:avLst/>
            </a:prstGeom>
            <a:noFill/>
            <a:ln>
              <a:noFill/>
            </a:ln>
          </p:spPr>
          <p:txBody>
            <a:bodyPr wrap="none" lIns="0" tIns="0" rIns="0" bIns="0" anchor="t" anchorCtr="0">
              <a:spAutoFit/>
            </a:bodyPr>
            <a:lstStyle/>
            <a:p>
              <a:pPr algn="r"/>
              <a:r>
                <a:rPr lang="en-US" sz="820" dirty="0">
                  <a:solidFill>
                    <a:srgbClr val="94A3B8"/>
                  </a:solidFill>
                  <a:latin typeface="+mn-lt"/>
                  <a:ea typeface="+mn-ea"/>
                  <a:cs typeface="+mn-cs"/>
                </a:rPr>
                <a:t>04</a:t>
              </a:r>
            </a:p>
          </p:txBody>
        </p:sp>
      </p:grpSp>
      <p:sp>
        <p:nvSpPr>
          <p:cNvPr id="45" name="cue_s04_c1_perspective_reframes_robustness_prob" title="cue_s04_c1_perspective_reframes_robustness_prob" descr="cue_s04_c1_perspective_reframes_robustness_prob This is a perspective paper that reframes the robustness problem."/>
          <p:cNvSpPr/>
          <p:nvPr/>
        </p:nvSpPr>
        <p:spPr>
          <a:xfrm>
            <a:off x="609600" y="1428521"/>
            <a:ext cx="10972800" cy="99029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cue_s04_c2_its_central_contribution_concept_con" title="cue_s04_c2_its_central_contribution_concept_con" descr="cue_s04_c2_its_central_contribution_concept_con Its central contribution is the concept of context shift, which describes the semantically meaningful upstream factors, sample selection bias, adversarial perturbation, and non-stationarity, that drive the distribution shifts we observe."/>
          <p:cNvSpPr/>
          <p:nvPr/>
        </p:nvSpPr>
        <p:spPr>
          <a:xfrm>
            <a:off x="609600" y="2571750"/>
            <a:ext cx="5334000" cy="34859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cue_s04_c3_top_framing_groh_identifies_three" title="cue_s04_c3_top_framing_groh_identifies_three" descr="cue_s04_c3_top_framing_groh_identifies_three On top of that framing, Groh identifies three practical methods for closing the benchmark-to-production gap, and illustrates all of them through three recurring case-study domains: facial expression recognition, deepfake detection, and medical diagnosis."/>
          <p:cNvSpPr/>
          <p:nvPr/>
        </p:nvSpPr>
        <p:spPr>
          <a:xfrm>
            <a:off x="6171590" y="2571750"/>
            <a:ext cx="5409590" cy="34859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609600" y="552450"/>
            <a:ext cx="7375204" cy="656939"/>
            <a:chOff x="609600" y="552450"/>
            <a:chExt cx="7375204" cy="656939"/>
          </a:xfrm>
        </p:grpSpPr>
        <p:sp>
          <p:nvSpPr>
            <p:cNvPr id="2" name="Rectangle 2"/>
            <p:cNvSpPr/>
            <p:nvPr/>
          </p:nvSpPr>
          <p:spPr>
            <a:xfrm>
              <a:off x="609600" y="552450"/>
              <a:ext cx="57150" cy="400050"/>
            </a:xfrm>
            <a:prstGeom prst="rect">
              <a:avLst/>
            </a:prstGeom>
            <a:solidFill>
              <a:schemeClr val="accent2"/>
            </a:solidFill>
            <a:ln>
              <a:noFill/>
            </a:ln>
          </p:spPr>
        </p:sp>
        <p:sp>
          <p:nvSpPr>
            <p:cNvPr id="3" name="TextBox 3"/>
            <p:cNvSpPr txBox="1"/>
            <p:nvPr/>
          </p:nvSpPr>
          <p:spPr>
            <a:xfrm>
              <a:off x="826770" y="614362"/>
              <a:ext cx="7158034" cy="440055"/>
            </a:xfrm>
            <a:prstGeom prst="rect">
              <a:avLst/>
            </a:prstGeom>
            <a:noFill/>
            <a:ln>
              <a:noFill/>
            </a:ln>
          </p:spPr>
          <p:txBody>
            <a:bodyPr wrap="none" lIns="0" tIns="0" rIns="0" bIns="0" anchor="t" anchorCtr="0">
              <a:spAutoFit/>
            </a:bodyPr>
            <a:lstStyle/>
            <a:p>
              <a:pPr algn="l"/>
              <a:r>
                <a:rPr lang="en-US" sz="2250" b="1" dirty="0">
                  <a:solidFill>
                    <a:schemeClr val="accent1"/>
                  </a:solidFill>
                  <a:latin typeface="Georgia"/>
                  <a:ea typeface="Georgia"/>
                  <a:cs typeface="Georgia"/>
                </a:rPr>
                <a:t>Reason about the process, not just the gap</a:t>
              </a:r>
            </a:p>
          </p:txBody>
        </p:sp>
        <p:sp>
          <p:nvSpPr>
            <p:cNvPr id="4" name="TextBox 4"/>
            <p:cNvSpPr txBox="1"/>
            <p:nvPr/>
          </p:nvSpPr>
          <p:spPr>
            <a:xfrm>
              <a:off x="833247" y="1018699"/>
              <a:ext cx="3875783" cy="190690"/>
            </a:xfrm>
            <a:prstGeom prst="rect">
              <a:avLst/>
            </a:prstGeom>
            <a:noFill/>
            <a:ln>
              <a:noFill/>
            </a:ln>
          </p:spPr>
          <p:txBody>
            <a:bodyPr wrap="none" lIns="0" tIns="0" rIns="0" bIns="0" anchor="t" anchorCtr="0">
              <a:spAutoFit/>
            </a:bodyPr>
            <a:lstStyle/>
            <a:p>
              <a:pPr algn="l"/>
              <a:r>
                <a:rPr lang="en-US" sz="980" b="1" spc="112" dirty="0">
                  <a:solidFill>
                    <a:schemeClr val="dk2"/>
                  </a:solidFill>
                  <a:latin typeface="+mn-lt"/>
                  <a:ea typeface="+mn-ea"/>
                  <a:cs typeface="+mn-cs"/>
                </a:rPr>
                <a:t>METHOD · THREE DRIVERS AND THREE RESPONSES</a:t>
              </a:r>
            </a:p>
          </p:txBody>
        </p:sp>
      </p:grpSp>
      <p:grpSp>
        <p:nvGrpSpPr>
          <p:cNvPr id="10" name="Group 10"/>
          <p:cNvGrpSpPr/>
          <p:nvPr/>
        </p:nvGrpSpPr>
        <p:grpSpPr>
          <a:xfrm>
            <a:off x="609600" y="1428750"/>
            <a:ext cx="10972800" cy="800100"/>
            <a:chOff x="609600" y="1428750"/>
            <a:chExt cx="10972800" cy="800100"/>
          </a:xfrm>
        </p:grpSpPr>
        <p:sp>
          <p:nvSpPr>
            <p:cNvPr id="6" name="Rectangle 6"/>
            <p:cNvSpPr/>
            <p:nvPr/>
          </p:nvSpPr>
          <p:spPr>
            <a:xfrm>
              <a:off x="609600" y="1428750"/>
              <a:ext cx="10972800" cy="800100"/>
            </a:xfrm>
            <a:prstGeom prst="roundRect">
              <a:avLst>
                <a:gd name="adj" fmla="val 14286"/>
              </a:avLst>
            </a:prstGeom>
            <a:solidFill>
              <a:schemeClr val="accent1"/>
            </a:solidFill>
            <a:ln w="14288">
              <a:solidFill>
                <a:schemeClr val="accent1"/>
              </a:solidFill>
            </a:ln>
          </p:spPr>
        </p:sp>
        <p:sp>
          <p:nvSpPr>
            <p:cNvPr id="7" name="Rectangle 7"/>
            <p:cNvSpPr/>
            <p:nvPr/>
          </p:nvSpPr>
          <p:spPr>
            <a:xfrm>
              <a:off x="609600" y="1428750"/>
              <a:ext cx="57150" cy="800100"/>
            </a:xfrm>
            <a:prstGeom prst="roundRect">
              <a:avLst>
                <a:gd name="adj" fmla="val 50000"/>
              </a:avLst>
            </a:prstGeom>
            <a:solidFill>
              <a:schemeClr val="accent2"/>
            </a:solidFill>
            <a:ln>
              <a:noFill/>
            </a:ln>
          </p:spPr>
        </p:sp>
        <p:sp>
          <p:nvSpPr>
            <p:cNvPr id="8" name="TextBox 8"/>
            <p:cNvSpPr txBox="1"/>
            <p:nvPr/>
          </p:nvSpPr>
          <p:spPr>
            <a:xfrm>
              <a:off x="871347" y="1628299"/>
              <a:ext cx="877790" cy="190690"/>
            </a:xfrm>
            <a:prstGeom prst="rect">
              <a:avLst/>
            </a:prstGeom>
            <a:noFill/>
            <a:ln>
              <a:noFill/>
            </a:ln>
          </p:spPr>
          <p:txBody>
            <a:bodyPr wrap="none" lIns="0" tIns="0" rIns="0" bIns="0" anchor="t" anchorCtr="0">
              <a:spAutoFit/>
            </a:bodyPr>
            <a:lstStyle/>
            <a:p>
              <a:pPr algn="l"/>
              <a:r>
                <a:rPr lang="en-US" sz="980" b="1" spc="112" dirty="0">
                  <a:solidFill>
                    <a:schemeClr val="accent2"/>
                  </a:solidFill>
                  <a:latin typeface="+mn-lt"/>
                  <a:ea typeface="+mn-ea"/>
                  <a:cs typeface="+mn-cs"/>
                </a:rPr>
                <a:t>DEFINITION</a:t>
              </a:r>
            </a:p>
          </p:txBody>
        </p:sp>
        <p:sp>
          <p:nvSpPr>
            <p:cNvPr id="9" name="TextBox 9"/>
            <p:cNvSpPr txBox="1"/>
            <p:nvPr/>
          </p:nvSpPr>
          <p:spPr>
            <a:xfrm>
              <a:off x="868680" y="1876425"/>
              <a:ext cx="9721275" cy="293370"/>
            </a:xfrm>
            <a:prstGeom prst="rect">
              <a:avLst/>
            </a:prstGeom>
            <a:noFill/>
            <a:ln>
              <a:noFill/>
            </a:ln>
          </p:spPr>
          <p:txBody>
            <a:bodyPr wrap="none" lIns="0" tIns="0" rIns="0" bIns="0" anchor="t" anchorCtr="0">
              <a:spAutoFit/>
            </a:bodyPr>
            <a:lstStyle/>
            <a:p>
              <a:pPr algn="l"/>
              <a:r>
                <a:rPr lang="en-US" sz="1500" b="1" dirty="0">
                  <a:solidFill>
                    <a:srgbClr val="FFFFFF"/>
                  </a:solidFill>
                  <a:latin typeface="Georgia"/>
                  <a:ea typeface="Georgia"/>
                  <a:cs typeface="Georgia"/>
                </a:rPr>
                <a:t>Context = the semantically meaningful upstream factors that drive a distribution shift.</a:t>
              </a:r>
            </a:p>
          </p:txBody>
        </p:sp>
      </p:grpSp>
      <p:grpSp>
        <p:nvGrpSpPr>
          <p:cNvPr id="26" name="Group 26"/>
          <p:cNvGrpSpPr/>
          <p:nvPr/>
        </p:nvGrpSpPr>
        <p:grpSpPr>
          <a:xfrm>
            <a:off x="609600" y="2381250"/>
            <a:ext cx="5334000" cy="3676650"/>
            <a:chOff x="609600" y="2381250"/>
            <a:chExt cx="5334000" cy="3676650"/>
          </a:xfrm>
        </p:grpSpPr>
        <p:sp>
          <p:nvSpPr>
            <p:cNvPr id="11" name="Rectangle 11"/>
            <p:cNvSpPr/>
            <p:nvPr/>
          </p:nvSpPr>
          <p:spPr>
            <a:xfrm>
              <a:off x="609600" y="2381250"/>
              <a:ext cx="5334000" cy="3676650"/>
            </a:xfrm>
            <a:prstGeom prst="roundRect">
              <a:avLst>
                <a:gd name="adj" fmla="val 3109"/>
              </a:avLst>
            </a:prstGeom>
            <a:solidFill>
              <a:schemeClr val="lt1"/>
            </a:solidFill>
            <a:ln w="14288">
              <a:solidFill>
                <a:schemeClr val="accent4"/>
              </a:solidFill>
            </a:ln>
          </p:spPr>
        </p:sp>
        <p:sp>
          <p:nvSpPr>
            <p:cNvPr id="12" name="Rectangle 12"/>
            <p:cNvSpPr/>
            <p:nvPr/>
          </p:nvSpPr>
          <p:spPr>
            <a:xfrm>
              <a:off x="609600" y="2381250"/>
              <a:ext cx="57150" cy="3676650"/>
            </a:xfrm>
            <a:prstGeom prst="roundRect">
              <a:avLst>
                <a:gd name="adj" fmla="val 50000"/>
              </a:avLst>
            </a:prstGeom>
            <a:solidFill>
              <a:srgbClr val="C2410C"/>
            </a:solidFill>
            <a:ln>
              <a:noFill/>
            </a:ln>
          </p:spPr>
        </p:sp>
        <p:sp>
          <p:nvSpPr>
            <p:cNvPr id="13" name="TextBox 13"/>
            <p:cNvSpPr txBox="1"/>
            <p:nvPr/>
          </p:nvSpPr>
          <p:spPr>
            <a:xfrm>
              <a:off x="871347" y="2618899"/>
              <a:ext cx="3371670" cy="190690"/>
            </a:xfrm>
            <a:prstGeom prst="rect">
              <a:avLst/>
            </a:prstGeom>
            <a:noFill/>
            <a:ln>
              <a:noFill/>
            </a:ln>
          </p:spPr>
          <p:txBody>
            <a:bodyPr wrap="none" lIns="0" tIns="0" rIns="0" bIns="0" anchor="t" anchorCtr="0">
              <a:spAutoFit/>
            </a:bodyPr>
            <a:lstStyle/>
            <a:p>
              <a:pPr algn="l"/>
              <a:r>
                <a:rPr lang="en-US" sz="980" b="1" spc="112" dirty="0">
                  <a:solidFill>
                    <a:srgbClr val="C2410C"/>
                  </a:solidFill>
                  <a:latin typeface="+mn-lt"/>
                  <a:ea typeface="+mn-ea"/>
                  <a:cs typeface="+mn-cs"/>
                </a:rPr>
                <a:t>THREE PROCESSES BEHIND THE DIFFERENCE</a:t>
              </a:r>
            </a:p>
          </p:txBody>
        </p:sp>
        <p:sp>
          <p:nvSpPr>
            <p:cNvPr id="14" name="Rectangle 14"/>
            <p:cNvSpPr/>
            <p:nvPr/>
          </p:nvSpPr>
          <p:spPr>
            <a:xfrm>
              <a:off x="876300" y="2895600"/>
              <a:ext cx="4800600" cy="952500"/>
            </a:xfrm>
            <a:prstGeom prst="roundRect">
              <a:avLst>
                <a:gd name="adj" fmla="val 8000"/>
              </a:avLst>
            </a:prstGeom>
            <a:solidFill>
              <a:schemeClr val="accent5"/>
            </a:solidFill>
            <a:ln>
              <a:noFill/>
            </a:ln>
          </p:spPr>
        </p:sp>
        <p:sp>
          <p:nvSpPr>
            <p:cNvPr id="15" name="TextBox 15"/>
            <p:cNvSpPr txBox="1"/>
            <p:nvPr/>
          </p:nvSpPr>
          <p:spPr>
            <a:xfrm>
              <a:off x="1021842" y="3016568"/>
              <a:ext cx="2103682" cy="264033"/>
            </a:xfrm>
            <a:prstGeom prst="rect">
              <a:avLst/>
            </a:prstGeom>
            <a:noFill/>
            <a:ln>
              <a:noFill/>
            </a:ln>
          </p:spPr>
          <p:txBody>
            <a:bodyPr wrap="none" lIns="0" tIns="0" rIns="0" bIns="0" anchor="t" anchorCtr="0">
              <a:spAutoFit/>
            </a:bodyPr>
            <a:lstStyle/>
            <a:p>
              <a:pPr algn="l"/>
              <a:r>
                <a:rPr lang="en-US" sz="1350" b="1" dirty="0">
                  <a:solidFill>
                    <a:schemeClr val="accent1"/>
                  </a:solidFill>
                  <a:latin typeface="Georgia"/>
                  <a:ea typeface="Georgia"/>
                  <a:cs typeface="Georgia"/>
                </a:rPr>
                <a:t>Sample selection bias</a:t>
              </a:r>
            </a:p>
          </p:txBody>
        </p:sp>
        <p:sp>
          <p:nvSpPr>
            <p:cNvPr id="16" name="TextBox 16"/>
            <p:cNvSpPr txBox="1"/>
            <p:nvPr/>
          </p:nvSpPr>
          <p:spPr>
            <a:xfrm>
              <a:off x="1022985" y="3288506"/>
              <a:ext cx="3024700" cy="220028"/>
            </a:xfrm>
            <a:prstGeom prst="rect">
              <a:avLst/>
            </a:prstGeom>
            <a:noFill/>
            <a:ln>
              <a:noFill/>
            </a:ln>
          </p:spPr>
          <p:txBody>
            <a:bodyPr wrap="none" lIns="0" tIns="0" rIns="0" bIns="0" anchor="t" anchorCtr="0">
              <a:spAutoFit/>
            </a:bodyPr>
            <a:lstStyle/>
            <a:p>
              <a:pPr algn="l"/>
              <a:r>
                <a:rPr lang="en-US" sz="1120" dirty="0">
                  <a:solidFill>
                    <a:schemeClr val="dk1"/>
                  </a:solidFill>
                  <a:latin typeface="+mn-lt"/>
                  <a:ea typeface="+mn-ea"/>
                  <a:cs typeface="+mn-cs"/>
                </a:rPr>
                <a:t>A new dataset drawn from a demographic</a:t>
              </a:r>
            </a:p>
          </p:txBody>
        </p:sp>
        <p:sp>
          <p:nvSpPr>
            <p:cNvPr id="17" name="TextBox 17"/>
            <p:cNvSpPr txBox="1"/>
            <p:nvPr/>
          </p:nvSpPr>
          <p:spPr>
            <a:xfrm>
              <a:off x="1022985" y="3498056"/>
              <a:ext cx="1843339" cy="220028"/>
            </a:xfrm>
            <a:prstGeom prst="rect">
              <a:avLst/>
            </a:prstGeom>
            <a:noFill/>
            <a:ln>
              <a:noFill/>
            </a:ln>
          </p:spPr>
          <p:txBody>
            <a:bodyPr wrap="none" lIns="0" tIns="0" rIns="0" bIns="0" anchor="t" anchorCtr="0">
              <a:spAutoFit/>
            </a:bodyPr>
            <a:lstStyle/>
            <a:p>
              <a:pPr algn="l"/>
              <a:r>
                <a:rPr lang="en-US" sz="1120" dirty="0">
                  <a:solidFill>
                    <a:schemeClr val="dk1"/>
                  </a:solidFill>
                  <a:latin typeface="+mn-lt"/>
                  <a:ea typeface="+mn-ea"/>
                  <a:cs typeface="+mn-cs"/>
                </a:rPr>
                <a:t>absent from the old one.</a:t>
              </a:r>
            </a:p>
          </p:txBody>
        </p:sp>
        <p:sp>
          <p:nvSpPr>
            <p:cNvPr id="18" name="Rectangle 18"/>
            <p:cNvSpPr/>
            <p:nvPr/>
          </p:nvSpPr>
          <p:spPr>
            <a:xfrm>
              <a:off x="876300" y="3943350"/>
              <a:ext cx="4800600" cy="952500"/>
            </a:xfrm>
            <a:prstGeom prst="roundRect">
              <a:avLst>
                <a:gd name="adj" fmla="val 8000"/>
              </a:avLst>
            </a:prstGeom>
            <a:solidFill>
              <a:schemeClr val="accent5"/>
            </a:solidFill>
            <a:ln>
              <a:noFill/>
            </a:ln>
          </p:spPr>
        </p:sp>
        <p:sp>
          <p:nvSpPr>
            <p:cNvPr id="19" name="TextBox 19"/>
            <p:cNvSpPr txBox="1"/>
            <p:nvPr/>
          </p:nvSpPr>
          <p:spPr>
            <a:xfrm>
              <a:off x="1021842" y="4064318"/>
              <a:ext cx="2607390" cy="264033"/>
            </a:xfrm>
            <a:prstGeom prst="rect">
              <a:avLst/>
            </a:prstGeom>
            <a:noFill/>
            <a:ln>
              <a:noFill/>
            </a:ln>
          </p:spPr>
          <p:txBody>
            <a:bodyPr wrap="none" lIns="0" tIns="0" rIns="0" bIns="0" anchor="t" anchorCtr="0">
              <a:spAutoFit/>
            </a:bodyPr>
            <a:lstStyle/>
            <a:p>
              <a:pPr algn="l"/>
              <a:r>
                <a:rPr lang="en-US" sz="1350" b="1" dirty="0">
                  <a:solidFill>
                    <a:schemeClr val="accent1"/>
                  </a:solidFill>
                  <a:latin typeface="Georgia"/>
                  <a:ea typeface="Georgia"/>
                  <a:cs typeface="Georgia"/>
                </a:rPr>
                <a:t>Adversarial perturbations</a:t>
              </a:r>
            </a:p>
          </p:txBody>
        </p:sp>
        <p:sp>
          <p:nvSpPr>
            <p:cNvPr id="20" name="TextBox 20"/>
            <p:cNvSpPr txBox="1"/>
            <p:nvPr/>
          </p:nvSpPr>
          <p:spPr>
            <a:xfrm>
              <a:off x="1022985" y="4336256"/>
              <a:ext cx="2571577" cy="220028"/>
            </a:xfrm>
            <a:prstGeom prst="rect">
              <a:avLst/>
            </a:prstGeom>
            <a:noFill/>
            <a:ln>
              <a:noFill/>
            </a:ln>
          </p:spPr>
          <p:txBody>
            <a:bodyPr wrap="none" lIns="0" tIns="0" rIns="0" bIns="0" anchor="t" anchorCtr="0">
              <a:spAutoFit/>
            </a:bodyPr>
            <a:lstStyle/>
            <a:p>
              <a:pPr algn="l"/>
              <a:r>
                <a:rPr lang="en-US" sz="1120" dirty="0">
                  <a:solidFill>
                    <a:schemeClr val="dk1"/>
                  </a:solidFill>
                  <a:latin typeface="+mn-lt"/>
                  <a:ea typeface="+mn-ea"/>
                  <a:cs typeface="+mn-cs"/>
                </a:rPr>
                <a:t>Imperceptible noise injections that</a:t>
              </a:r>
            </a:p>
          </p:txBody>
        </p:sp>
        <p:sp>
          <p:nvSpPr>
            <p:cNvPr id="21" name="TextBox 21"/>
            <p:cNvSpPr txBox="1"/>
            <p:nvPr/>
          </p:nvSpPr>
          <p:spPr>
            <a:xfrm>
              <a:off x="1022985" y="4545806"/>
              <a:ext cx="1715181" cy="220028"/>
            </a:xfrm>
            <a:prstGeom prst="rect">
              <a:avLst/>
            </a:prstGeom>
            <a:noFill/>
            <a:ln>
              <a:noFill/>
            </a:ln>
          </p:spPr>
          <p:txBody>
            <a:bodyPr wrap="none" lIns="0" tIns="0" rIns="0" bIns="0" anchor="t" anchorCtr="0">
              <a:spAutoFit/>
            </a:bodyPr>
            <a:lstStyle/>
            <a:p>
              <a:pPr algn="l"/>
              <a:r>
                <a:rPr lang="en-US" sz="1120" dirty="0">
                  <a:solidFill>
                    <a:schemeClr val="dk1"/>
                  </a:solidFill>
                  <a:latin typeface="+mn-lt"/>
                  <a:ea typeface="+mn-ea"/>
                  <a:cs typeface="+mn-cs"/>
                </a:rPr>
                <a:t>change model behavior.</a:t>
              </a:r>
            </a:p>
          </p:txBody>
        </p:sp>
        <p:sp>
          <p:nvSpPr>
            <p:cNvPr id="22" name="Rectangle 22"/>
            <p:cNvSpPr/>
            <p:nvPr/>
          </p:nvSpPr>
          <p:spPr>
            <a:xfrm>
              <a:off x="876300" y="4991100"/>
              <a:ext cx="4800600" cy="952500"/>
            </a:xfrm>
            <a:prstGeom prst="roundRect">
              <a:avLst>
                <a:gd name="adj" fmla="val 8000"/>
              </a:avLst>
            </a:prstGeom>
            <a:solidFill>
              <a:schemeClr val="accent5"/>
            </a:solidFill>
            <a:ln>
              <a:noFill/>
            </a:ln>
          </p:spPr>
        </p:sp>
        <p:sp>
          <p:nvSpPr>
            <p:cNvPr id="23" name="TextBox 23"/>
            <p:cNvSpPr txBox="1"/>
            <p:nvPr/>
          </p:nvSpPr>
          <p:spPr>
            <a:xfrm>
              <a:off x="1021842" y="5112068"/>
              <a:ext cx="1711112" cy="264033"/>
            </a:xfrm>
            <a:prstGeom prst="rect">
              <a:avLst/>
            </a:prstGeom>
            <a:noFill/>
            <a:ln>
              <a:noFill/>
            </a:ln>
          </p:spPr>
          <p:txBody>
            <a:bodyPr wrap="none" lIns="0" tIns="0" rIns="0" bIns="0" anchor="t" anchorCtr="0">
              <a:spAutoFit/>
            </a:bodyPr>
            <a:lstStyle/>
            <a:p>
              <a:pPr algn="l"/>
              <a:r>
                <a:rPr lang="en-US" sz="1350" b="1" dirty="0">
                  <a:solidFill>
                    <a:schemeClr val="accent1"/>
                  </a:solidFill>
                  <a:latin typeface="Georgia"/>
                  <a:ea typeface="Georgia"/>
                  <a:cs typeface="Georgia"/>
                </a:rPr>
                <a:t>Non-stationarity</a:t>
              </a:r>
            </a:p>
          </p:txBody>
        </p:sp>
        <p:sp>
          <p:nvSpPr>
            <p:cNvPr id="24" name="TextBox 24"/>
            <p:cNvSpPr txBox="1"/>
            <p:nvPr/>
          </p:nvSpPr>
          <p:spPr>
            <a:xfrm>
              <a:off x="1022985" y="5384006"/>
              <a:ext cx="2949347" cy="220028"/>
            </a:xfrm>
            <a:prstGeom prst="rect">
              <a:avLst/>
            </a:prstGeom>
            <a:noFill/>
            <a:ln>
              <a:noFill/>
            </a:ln>
          </p:spPr>
          <p:txBody>
            <a:bodyPr wrap="none" lIns="0" tIns="0" rIns="0" bIns="0" anchor="t" anchorCtr="0">
              <a:spAutoFit/>
            </a:bodyPr>
            <a:lstStyle/>
            <a:p>
              <a:pPr algn="l"/>
              <a:r>
                <a:rPr lang="en-US" sz="1120" dirty="0">
                  <a:solidFill>
                    <a:schemeClr val="dk1"/>
                  </a:solidFill>
                  <a:latin typeface="+mn-lt"/>
                  <a:ea typeface="+mn-ea"/>
                  <a:cs typeface="+mn-cs"/>
                </a:rPr>
                <a:t>The world moves on: smartphones after</a:t>
              </a:r>
            </a:p>
          </p:txBody>
        </p:sp>
        <p:sp>
          <p:nvSpPr>
            <p:cNvPr id="25" name="TextBox 25"/>
            <p:cNvSpPr txBox="1"/>
            <p:nvPr/>
          </p:nvSpPr>
          <p:spPr>
            <a:xfrm>
              <a:off x="1022985" y="5593556"/>
              <a:ext cx="2732908" cy="220028"/>
            </a:xfrm>
            <a:prstGeom prst="rect">
              <a:avLst/>
            </a:prstGeom>
            <a:noFill/>
            <a:ln>
              <a:noFill/>
            </a:ln>
          </p:spPr>
          <p:txBody>
            <a:bodyPr wrap="none" lIns="0" tIns="0" rIns="0" bIns="0" anchor="t" anchorCtr="0">
              <a:spAutoFit/>
            </a:bodyPr>
            <a:lstStyle/>
            <a:p>
              <a:pPr algn="l"/>
              <a:r>
                <a:rPr lang="en-US" sz="1120" dirty="0">
                  <a:solidFill>
                    <a:schemeClr val="dk1"/>
                  </a:solidFill>
                  <a:latin typeface="+mn-lt"/>
                  <a:ea typeface="+mn-ea"/>
                  <a:cs typeface="+mn-cs"/>
                </a:rPr>
                <a:t>2018 versus flip phones before 2010.</a:t>
              </a:r>
            </a:p>
          </p:txBody>
        </p:sp>
      </p:grpSp>
      <p:grpSp>
        <p:nvGrpSpPr>
          <p:cNvPr id="34" name="Group 34"/>
          <p:cNvGrpSpPr/>
          <p:nvPr/>
        </p:nvGrpSpPr>
        <p:grpSpPr>
          <a:xfrm>
            <a:off x="6172200" y="2381250"/>
            <a:ext cx="5410200" cy="1733550"/>
            <a:chOff x="6172200" y="2381250"/>
            <a:chExt cx="5410200" cy="1733550"/>
          </a:xfrm>
        </p:grpSpPr>
        <p:sp>
          <p:nvSpPr>
            <p:cNvPr id="27" name="Rectangle 27"/>
            <p:cNvSpPr/>
            <p:nvPr/>
          </p:nvSpPr>
          <p:spPr>
            <a:xfrm>
              <a:off x="6172200" y="2381250"/>
              <a:ext cx="5410200" cy="1733550"/>
            </a:xfrm>
            <a:prstGeom prst="roundRect">
              <a:avLst>
                <a:gd name="adj" fmla="val 6593"/>
              </a:avLst>
            </a:prstGeom>
            <a:solidFill>
              <a:schemeClr val="accent5"/>
            </a:solidFill>
            <a:ln w="14288">
              <a:solidFill>
                <a:schemeClr val="accent4"/>
              </a:solidFill>
            </a:ln>
          </p:spPr>
        </p:sp>
        <p:sp>
          <p:nvSpPr>
            <p:cNvPr id="28" name="Rectangle 28"/>
            <p:cNvSpPr/>
            <p:nvPr/>
          </p:nvSpPr>
          <p:spPr>
            <a:xfrm>
              <a:off x="6172200" y="2381250"/>
              <a:ext cx="57150" cy="1733550"/>
            </a:xfrm>
            <a:prstGeom prst="roundRect">
              <a:avLst>
                <a:gd name="adj" fmla="val 50000"/>
              </a:avLst>
            </a:prstGeom>
            <a:solidFill>
              <a:schemeClr val="accent2"/>
            </a:solidFill>
            <a:ln>
              <a:noFill/>
            </a:ln>
          </p:spPr>
        </p:sp>
        <p:sp>
          <p:nvSpPr>
            <p:cNvPr id="29" name="TextBox 29"/>
            <p:cNvSpPr txBox="1"/>
            <p:nvPr/>
          </p:nvSpPr>
          <p:spPr>
            <a:xfrm>
              <a:off x="6433947" y="2618899"/>
              <a:ext cx="2362150" cy="190690"/>
            </a:xfrm>
            <a:prstGeom prst="rect">
              <a:avLst/>
            </a:prstGeom>
            <a:noFill/>
            <a:ln>
              <a:noFill/>
            </a:ln>
          </p:spPr>
          <p:txBody>
            <a:bodyPr wrap="none" lIns="0" tIns="0" rIns="0" bIns="0" anchor="t" anchorCtr="0">
              <a:spAutoFit/>
            </a:bodyPr>
            <a:lstStyle/>
            <a:p>
              <a:pPr algn="l"/>
              <a:r>
                <a:rPr lang="en-US" sz="980" b="1" spc="112" dirty="0">
                  <a:solidFill>
                    <a:schemeClr val="accent2"/>
                  </a:solidFill>
                  <a:latin typeface="+mn-lt"/>
                  <a:ea typeface="+mn-ea"/>
                  <a:cs typeface="+mn-cs"/>
                </a:rPr>
                <a:t>METHOD 1 · HUMAN INTUITION</a:t>
              </a:r>
            </a:p>
          </p:txBody>
        </p:sp>
        <p:sp>
          <p:nvSpPr>
            <p:cNvPr id="30" name="TextBox 30"/>
            <p:cNvSpPr txBox="1"/>
            <p:nvPr/>
          </p:nvSpPr>
          <p:spPr>
            <a:xfrm>
              <a:off x="6431661" y="2894171"/>
              <a:ext cx="4207361" cy="278702"/>
            </a:xfrm>
            <a:prstGeom prst="rect">
              <a:avLst/>
            </a:prstGeom>
            <a:noFill/>
            <a:ln>
              <a:noFill/>
            </a:ln>
          </p:spPr>
          <p:txBody>
            <a:bodyPr wrap="none" lIns="0" tIns="0" rIns="0" bIns="0" anchor="t" anchorCtr="0">
              <a:spAutoFit/>
            </a:bodyPr>
            <a:lstStyle/>
            <a:p>
              <a:pPr algn="l"/>
              <a:r>
                <a:rPr lang="en-US" sz="1420" b="1" dirty="0">
                  <a:solidFill>
                    <a:schemeClr val="accent1"/>
                  </a:solidFill>
                  <a:latin typeface="Georgia"/>
                  <a:ea typeface="Georgia"/>
                  <a:cs typeface="Georgia"/>
                </a:rPr>
                <a:t>Expert knowledge finds failure features</a:t>
              </a:r>
            </a:p>
          </p:txBody>
        </p:sp>
        <p:sp>
          <p:nvSpPr>
            <p:cNvPr id="31" name="TextBox 31"/>
            <p:cNvSpPr txBox="1"/>
            <p:nvPr/>
          </p:nvSpPr>
          <p:spPr>
            <a:xfrm>
              <a:off x="6432804" y="3242310"/>
              <a:ext cx="3272568"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Human intuition and expert knowledge can</a:t>
              </a:r>
            </a:p>
          </p:txBody>
        </p:sp>
        <p:sp>
          <p:nvSpPr>
            <p:cNvPr id="32" name="TextBox 32"/>
            <p:cNvSpPr txBox="1"/>
            <p:nvPr/>
          </p:nvSpPr>
          <p:spPr>
            <a:xfrm>
              <a:off x="6432804" y="3470910"/>
              <a:ext cx="2871521"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identify the semantically meaningful</a:t>
              </a:r>
            </a:p>
          </p:txBody>
        </p:sp>
        <p:sp>
          <p:nvSpPr>
            <p:cNvPr id="33" name="TextBox 33"/>
            <p:cNvSpPr txBox="1"/>
            <p:nvPr/>
          </p:nvSpPr>
          <p:spPr>
            <a:xfrm>
              <a:off x="6432804" y="3699510"/>
              <a:ext cx="3420770"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features on which models are likely to fail.</a:t>
              </a:r>
            </a:p>
          </p:txBody>
        </p:sp>
      </p:grpSp>
      <p:grpSp>
        <p:nvGrpSpPr>
          <p:cNvPr id="43" name="Group 43"/>
          <p:cNvGrpSpPr/>
          <p:nvPr/>
        </p:nvGrpSpPr>
        <p:grpSpPr>
          <a:xfrm>
            <a:off x="6172200" y="4324350"/>
            <a:ext cx="5410200" cy="1762506"/>
            <a:chOff x="6172200" y="4324350"/>
            <a:chExt cx="5410200" cy="1762506"/>
          </a:xfrm>
        </p:grpSpPr>
        <p:sp>
          <p:nvSpPr>
            <p:cNvPr id="35" name="Rectangle 35"/>
            <p:cNvSpPr/>
            <p:nvPr/>
          </p:nvSpPr>
          <p:spPr>
            <a:xfrm>
              <a:off x="6172200" y="4324350"/>
              <a:ext cx="5410200" cy="1733550"/>
            </a:xfrm>
            <a:prstGeom prst="roundRect">
              <a:avLst>
                <a:gd name="adj" fmla="val 6593"/>
              </a:avLst>
            </a:prstGeom>
            <a:solidFill>
              <a:schemeClr val="lt1"/>
            </a:solidFill>
            <a:ln w="14288">
              <a:solidFill>
                <a:schemeClr val="accent4"/>
              </a:solidFill>
            </a:ln>
          </p:spPr>
        </p:sp>
        <p:sp>
          <p:nvSpPr>
            <p:cNvPr id="36" name="Rectangle 36"/>
            <p:cNvSpPr/>
            <p:nvPr/>
          </p:nvSpPr>
          <p:spPr>
            <a:xfrm>
              <a:off x="6172200" y="4324350"/>
              <a:ext cx="57150" cy="1733550"/>
            </a:xfrm>
            <a:prstGeom prst="roundRect">
              <a:avLst>
                <a:gd name="adj" fmla="val 50000"/>
              </a:avLst>
            </a:prstGeom>
            <a:solidFill>
              <a:srgbClr val="0E9F9A"/>
            </a:solidFill>
            <a:ln>
              <a:noFill/>
            </a:ln>
          </p:spPr>
        </p:sp>
        <p:sp>
          <p:nvSpPr>
            <p:cNvPr id="37" name="TextBox 37"/>
            <p:cNvSpPr txBox="1"/>
            <p:nvPr/>
          </p:nvSpPr>
          <p:spPr>
            <a:xfrm>
              <a:off x="6433947" y="4561999"/>
              <a:ext cx="2904149" cy="190690"/>
            </a:xfrm>
            <a:prstGeom prst="rect">
              <a:avLst/>
            </a:prstGeom>
            <a:noFill/>
            <a:ln>
              <a:noFill/>
            </a:ln>
          </p:spPr>
          <p:txBody>
            <a:bodyPr wrap="none" lIns="0" tIns="0" rIns="0" bIns="0" anchor="t" anchorCtr="0">
              <a:spAutoFit/>
            </a:bodyPr>
            <a:lstStyle/>
            <a:p>
              <a:pPr algn="l"/>
              <a:r>
                <a:rPr lang="en-US" sz="980" b="1" spc="112" dirty="0">
                  <a:solidFill>
                    <a:srgbClr val="0E9F9A"/>
                  </a:solidFill>
                  <a:latin typeface="+mn-lt"/>
                  <a:ea typeface="+mn-ea"/>
                  <a:cs typeface="+mn-cs"/>
                </a:rPr>
                <a:t>METHODS 2 &amp; 3 · DYNAMIC + HONEST</a:t>
              </a:r>
            </a:p>
          </p:txBody>
        </p:sp>
        <p:sp>
          <p:nvSpPr>
            <p:cNvPr id="38" name="TextBox 38"/>
            <p:cNvSpPr txBox="1"/>
            <p:nvPr/>
          </p:nvSpPr>
          <p:spPr>
            <a:xfrm>
              <a:off x="6431661" y="4837271"/>
              <a:ext cx="3626057" cy="278702"/>
            </a:xfrm>
            <a:prstGeom prst="rect">
              <a:avLst/>
            </a:prstGeom>
            <a:noFill/>
            <a:ln>
              <a:noFill/>
            </a:ln>
          </p:spPr>
          <p:txBody>
            <a:bodyPr wrap="none" lIns="0" tIns="0" rIns="0" bIns="0" anchor="t" anchorCtr="0">
              <a:spAutoFit/>
            </a:bodyPr>
            <a:lstStyle/>
            <a:p>
              <a:pPr algn="l"/>
              <a:r>
                <a:rPr lang="en-US" sz="1420" b="1" dirty="0">
                  <a:solidFill>
                    <a:schemeClr val="accent1"/>
                  </a:solidFill>
                  <a:latin typeface="Georgia"/>
                  <a:ea typeface="Georgia"/>
                  <a:cs typeface="Georgia"/>
                </a:rPr>
                <a:t>Test the process, state the limits</a:t>
              </a:r>
            </a:p>
          </p:txBody>
        </p:sp>
        <p:sp>
          <p:nvSpPr>
            <p:cNvPr id="39" name="TextBox 39"/>
            <p:cNvSpPr txBox="1"/>
            <p:nvPr/>
          </p:nvSpPr>
          <p:spPr>
            <a:xfrm>
              <a:off x="6432804" y="5185410"/>
              <a:ext cx="2908945"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Dynamic benchmarking runs continual</a:t>
              </a:r>
            </a:p>
          </p:txBody>
        </p:sp>
        <p:sp>
          <p:nvSpPr>
            <p:cNvPr id="40" name="TextBox 40"/>
            <p:cNvSpPr txBox="1"/>
            <p:nvPr/>
          </p:nvSpPr>
          <p:spPr>
            <a:xfrm>
              <a:off x="6432804" y="5414010"/>
              <a:ext cx="3073451"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evaluation against a quality-controlled</a:t>
              </a:r>
            </a:p>
          </p:txBody>
        </p:sp>
        <p:sp>
          <p:nvSpPr>
            <p:cNvPr id="41" name="TextBox 41"/>
            <p:cNvSpPr txBox="1"/>
            <p:nvPr/>
          </p:nvSpPr>
          <p:spPr>
            <a:xfrm>
              <a:off x="6432804" y="5642610"/>
              <a:ext cx="3089605"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process (corroborated accuracy), and</a:t>
              </a:r>
            </a:p>
          </p:txBody>
        </p:sp>
        <p:sp>
          <p:nvSpPr>
            <p:cNvPr id="42" name="TextBox 42"/>
            <p:cNvSpPr txBox="1"/>
            <p:nvPr/>
          </p:nvSpPr>
          <p:spPr>
            <a:xfrm>
              <a:off x="6432804" y="5852160"/>
              <a:ext cx="3445002"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authors clarify where behavior is unknown.</a:t>
              </a:r>
            </a:p>
          </p:txBody>
        </p:sp>
      </p:grpSp>
      <p:grpSp>
        <p:nvGrpSpPr>
          <p:cNvPr id="46" name="Group 46"/>
          <p:cNvGrpSpPr/>
          <p:nvPr/>
        </p:nvGrpSpPr>
        <p:grpSpPr>
          <a:xfrm>
            <a:off x="604838" y="6597491"/>
            <a:ext cx="10982324" cy="161925"/>
            <a:chOff x="604838" y="6597491"/>
            <a:chExt cx="10982324" cy="161925"/>
          </a:xfrm>
        </p:grpSpPr>
        <p:sp>
          <p:nvSpPr>
            <p:cNvPr id="44" name="TextBox 44"/>
            <p:cNvSpPr txBox="1"/>
            <p:nvPr/>
          </p:nvSpPr>
          <p:spPr>
            <a:xfrm>
              <a:off x="604838" y="6597491"/>
              <a:ext cx="1053341" cy="161925"/>
            </a:xfrm>
            <a:prstGeom prst="rect">
              <a:avLst/>
            </a:prstGeom>
            <a:noFill/>
            <a:ln>
              <a:noFill/>
            </a:ln>
          </p:spPr>
          <p:txBody>
            <a:bodyPr wrap="none" lIns="0" tIns="0" rIns="0" bIns="0" anchor="t" anchorCtr="0">
              <a:spAutoFit/>
            </a:bodyPr>
            <a:lstStyle/>
            <a:p>
              <a:pPr algn="l"/>
              <a:r>
                <a:rPr lang="en-US" sz="820" dirty="0">
                  <a:solidFill>
                    <a:srgbClr val="94A3B8"/>
                  </a:solidFill>
                  <a:latin typeface="+mn-lt"/>
                  <a:ea typeface="+mn-ea"/>
                  <a:cs typeface="+mn-cs"/>
                </a:rPr>
                <a:t>Groh 2022 · Method</a:t>
              </a:r>
            </a:p>
          </p:txBody>
        </p:sp>
        <p:sp>
          <p:nvSpPr>
            <p:cNvPr id="45" name="TextBox 45"/>
            <p:cNvSpPr txBox="1"/>
            <p:nvPr/>
          </p:nvSpPr>
          <p:spPr>
            <a:xfrm>
              <a:off x="11456210" y="6597491"/>
              <a:ext cx="130952" cy="161925"/>
            </a:xfrm>
            <a:prstGeom prst="rect">
              <a:avLst/>
            </a:prstGeom>
            <a:noFill/>
            <a:ln>
              <a:noFill/>
            </a:ln>
          </p:spPr>
          <p:txBody>
            <a:bodyPr wrap="none" lIns="0" tIns="0" rIns="0" bIns="0" anchor="t" anchorCtr="0">
              <a:spAutoFit/>
            </a:bodyPr>
            <a:lstStyle/>
            <a:p>
              <a:pPr algn="r"/>
              <a:r>
                <a:rPr lang="en-US" sz="820" dirty="0">
                  <a:solidFill>
                    <a:srgbClr val="94A3B8"/>
                  </a:solidFill>
                  <a:latin typeface="+mn-lt"/>
                  <a:ea typeface="+mn-ea"/>
                  <a:cs typeface="+mn-cs"/>
                </a:rPr>
                <a:t>05</a:t>
              </a:r>
            </a:p>
          </p:txBody>
        </p:sp>
      </p:grpSp>
      <p:sp>
        <p:nvSpPr>
          <p:cNvPr id="47" name="cue_s05_c1_context_refers_semantically_meaningf" title="cue_s05_c1_context_refers_semantically_meaningf" descr="cue_s05_c1_context_refers_semantically_meaningf Context refers to the semantically meaningful upstream factors that drive a distribution shift."/>
          <p:cNvSpPr/>
          <p:nvPr/>
        </p:nvSpPr>
        <p:spPr>
          <a:xfrm>
            <a:off x="609600" y="1428521"/>
            <a:ext cx="10972800" cy="8003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cue_s05_c2_rather_fixating_difference_between_t" title="cue_s05_c2_rather_fixating_difference_between_t" descr="cue_s05_c2_rather_fixating_difference_between_t Rather than fixating on the difference between two distributions, Groh asks researchers to reason about the three processes that generate that difference: sample selection bias, for example a new dataset drawn from a demographic absent from the old one; advers"/>
          <p:cNvSpPr/>
          <p:nvPr/>
        </p:nvSpPr>
        <p:spPr>
          <a:xfrm>
            <a:off x="609600" y="2381097"/>
            <a:ext cx="5334000" cy="3676573"/>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cue_s05_c3_three_methods_follow_first_human" title="cue_s05_c3_three_methods_follow_first_human" descr="cue_s05_c3_three_methods_follow_first_human Three methods follow. First, human intuition and expert knowledge can identify the semantically meaningful features on which models are likely to fail."/>
          <p:cNvSpPr/>
          <p:nvPr/>
        </p:nvSpPr>
        <p:spPr>
          <a:xfrm>
            <a:off x="6171590" y="2381097"/>
            <a:ext cx="5409590" cy="173370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cue_s05_c4_second_dynamic_benchmarking_replaces" title="cue_s05_c4_second_dynamic_benchmarking_replaces" descr="cue_s05_c4_second_dynamic_benchmarking_replaces Second, dynamic benchmarking replaces a single static test set with continual evaluation against a well-specified, quality-controlled data-generation process, producing corroborated accuracy, the distribution of scores across many benchmarks. Third, authors sh"/>
          <p:cNvSpPr/>
          <p:nvPr/>
        </p:nvSpPr>
        <p:spPr>
          <a:xfrm>
            <a:off x="6171590" y="4324654"/>
            <a:ext cx="5409590" cy="1762506"/>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609600" y="552450"/>
            <a:ext cx="9220387" cy="656939"/>
            <a:chOff x="609600" y="552450"/>
            <a:chExt cx="9220387" cy="656939"/>
          </a:xfrm>
        </p:grpSpPr>
        <p:sp>
          <p:nvSpPr>
            <p:cNvPr id="2" name="Rectangle 2"/>
            <p:cNvSpPr/>
            <p:nvPr/>
          </p:nvSpPr>
          <p:spPr>
            <a:xfrm>
              <a:off x="609600" y="552450"/>
              <a:ext cx="57150" cy="400050"/>
            </a:xfrm>
            <a:prstGeom prst="rect">
              <a:avLst/>
            </a:prstGeom>
            <a:solidFill>
              <a:schemeClr val="accent2"/>
            </a:solidFill>
            <a:ln>
              <a:noFill/>
            </a:ln>
          </p:spPr>
        </p:sp>
        <p:sp>
          <p:nvSpPr>
            <p:cNvPr id="3" name="TextBox 3"/>
            <p:cNvSpPr txBox="1"/>
            <p:nvPr/>
          </p:nvSpPr>
          <p:spPr>
            <a:xfrm>
              <a:off x="826770" y="614362"/>
              <a:ext cx="9003217" cy="440055"/>
            </a:xfrm>
            <a:prstGeom prst="rect">
              <a:avLst/>
            </a:prstGeom>
            <a:noFill/>
            <a:ln>
              <a:noFill/>
            </a:ln>
          </p:spPr>
          <p:txBody>
            <a:bodyPr wrap="none" lIns="0" tIns="0" rIns="0" bIns="0" anchor="t" anchorCtr="0">
              <a:spAutoFit/>
            </a:bodyPr>
            <a:lstStyle/>
            <a:p>
              <a:pPr algn="l"/>
              <a:r>
                <a:rPr lang="en-US" sz="2250" b="1" dirty="0">
                  <a:solidFill>
                    <a:schemeClr val="accent1"/>
                  </a:solidFill>
                  <a:latin typeface="Georgia"/>
                  <a:ea typeface="Georgia"/>
                  <a:cs typeface="Georgia"/>
                </a:rPr>
                <a:t>Dissecting existing benchmarks, not building a new one</a:t>
              </a:r>
            </a:p>
          </p:txBody>
        </p:sp>
        <p:sp>
          <p:nvSpPr>
            <p:cNvPr id="4" name="TextBox 4"/>
            <p:cNvSpPr txBox="1"/>
            <p:nvPr/>
          </p:nvSpPr>
          <p:spPr>
            <a:xfrm>
              <a:off x="833247" y="1018699"/>
              <a:ext cx="3779351" cy="190690"/>
            </a:xfrm>
            <a:prstGeom prst="rect">
              <a:avLst/>
            </a:prstGeom>
            <a:noFill/>
            <a:ln>
              <a:noFill/>
            </a:ln>
          </p:spPr>
          <p:txBody>
            <a:bodyPr wrap="none" lIns="0" tIns="0" rIns="0" bIns="0" anchor="t" anchorCtr="0">
              <a:spAutoFit/>
            </a:bodyPr>
            <a:lstStyle/>
            <a:p>
              <a:pPr algn="l"/>
              <a:r>
                <a:rPr lang="en-US" sz="980" b="1" spc="112" dirty="0">
                  <a:solidFill>
                    <a:schemeClr val="dk2"/>
                  </a:solidFill>
                  <a:latin typeface="+mn-lt"/>
                  <a:ea typeface="+mn-ea"/>
                  <a:cs typeface="+mn-cs"/>
                </a:rPr>
                <a:t>BENCHMARKS · THREE DOMAINS UNDER THE LENS</a:t>
              </a:r>
            </a:p>
          </p:txBody>
        </p:sp>
      </p:grpSp>
      <p:grpSp>
        <p:nvGrpSpPr>
          <p:cNvPr id="20" name="Group 20"/>
          <p:cNvGrpSpPr/>
          <p:nvPr/>
        </p:nvGrpSpPr>
        <p:grpSpPr>
          <a:xfrm>
            <a:off x="609600" y="1428750"/>
            <a:ext cx="3514725" cy="3276600"/>
            <a:chOff x="609600" y="1428750"/>
            <a:chExt cx="3514725" cy="3276600"/>
          </a:xfrm>
        </p:grpSpPr>
        <p:sp>
          <p:nvSpPr>
            <p:cNvPr id="6" name="Rectangle 6"/>
            <p:cNvSpPr/>
            <p:nvPr/>
          </p:nvSpPr>
          <p:spPr>
            <a:xfrm>
              <a:off x="609600" y="1428750"/>
              <a:ext cx="3514725" cy="3276600"/>
            </a:xfrm>
            <a:prstGeom prst="roundRect">
              <a:avLst>
                <a:gd name="adj" fmla="val 3488"/>
              </a:avLst>
            </a:prstGeom>
            <a:solidFill>
              <a:schemeClr val="lt1"/>
            </a:solidFill>
            <a:ln w="14288">
              <a:solidFill>
                <a:schemeClr val="accent4"/>
              </a:solidFill>
            </a:ln>
          </p:spPr>
        </p:sp>
        <p:sp>
          <p:nvSpPr>
            <p:cNvPr id="7" name="Rectangle 7"/>
            <p:cNvSpPr/>
            <p:nvPr/>
          </p:nvSpPr>
          <p:spPr>
            <a:xfrm>
              <a:off x="609600" y="1428750"/>
              <a:ext cx="57150" cy="3276600"/>
            </a:xfrm>
            <a:prstGeom prst="roundRect">
              <a:avLst>
                <a:gd name="adj" fmla="val 50000"/>
              </a:avLst>
            </a:prstGeom>
            <a:solidFill>
              <a:schemeClr val="accent2"/>
            </a:solidFill>
            <a:ln>
              <a:noFill/>
            </a:ln>
          </p:spPr>
        </p:sp>
        <p:sp>
          <p:nvSpPr>
            <p:cNvPr id="8" name="TextBox 8"/>
            <p:cNvSpPr txBox="1"/>
            <p:nvPr/>
          </p:nvSpPr>
          <p:spPr>
            <a:xfrm>
              <a:off x="852297" y="1666399"/>
              <a:ext cx="1502743" cy="190690"/>
            </a:xfrm>
            <a:prstGeom prst="rect">
              <a:avLst/>
            </a:prstGeom>
            <a:noFill/>
            <a:ln>
              <a:noFill/>
            </a:ln>
          </p:spPr>
          <p:txBody>
            <a:bodyPr wrap="none" lIns="0" tIns="0" rIns="0" bIns="0" anchor="t" anchorCtr="0">
              <a:spAutoFit/>
            </a:bodyPr>
            <a:lstStyle/>
            <a:p>
              <a:pPr algn="l"/>
              <a:r>
                <a:rPr lang="en-US" sz="980" b="1" spc="90" dirty="0">
                  <a:solidFill>
                    <a:schemeClr val="accent2"/>
                  </a:solidFill>
                  <a:latin typeface="+mn-lt"/>
                  <a:ea typeface="+mn-ea"/>
                  <a:cs typeface="+mn-cs"/>
                </a:rPr>
                <a:t>FACIAL EXPRESSION</a:t>
              </a:r>
            </a:p>
          </p:txBody>
        </p:sp>
        <p:sp>
          <p:nvSpPr>
            <p:cNvPr id="9" name="TextBox 9"/>
            <p:cNvSpPr txBox="1"/>
            <p:nvPr/>
          </p:nvSpPr>
          <p:spPr>
            <a:xfrm>
              <a:off x="844296" y="1896428"/>
              <a:ext cx="235374" cy="498729"/>
            </a:xfrm>
            <a:prstGeom prst="rect">
              <a:avLst/>
            </a:prstGeom>
            <a:noFill/>
            <a:ln>
              <a:noFill/>
            </a:ln>
          </p:spPr>
          <p:txBody>
            <a:bodyPr wrap="none" lIns="0" tIns="0" rIns="0" bIns="0" anchor="t" anchorCtr="0">
              <a:spAutoFit/>
            </a:bodyPr>
            <a:lstStyle/>
            <a:p>
              <a:pPr algn="l"/>
              <a:r>
                <a:rPr lang="en-US" sz="2550" b="1" dirty="0">
                  <a:solidFill>
                    <a:schemeClr val="accent1"/>
                  </a:solidFill>
                  <a:latin typeface="Georgia"/>
                  <a:ea typeface="Georgia"/>
                  <a:cs typeface="Georgia"/>
                </a:rPr>
                <a:t>7</a:t>
              </a:r>
            </a:p>
          </p:txBody>
        </p:sp>
        <p:sp>
          <p:nvSpPr>
            <p:cNvPr id="10" name="TextBox 10"/>
            <p:cNvSpPr txBox="1"/>
            <p:nvPr/>
          </p:nvSpPr>
          <p:spPr>
            <a:xfrm>
              <a:off x="1213104" y="2042160"/>
              <a:ext cx="1684172"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benchmarks examined</a:t>
              </a:r>
            </a:p>
          </p:txBody>
        </p:sp>
        <p:sp>
          <p:nvSpPr>
            <p:cNvPr id="11" name="TextBox 11"/>
            <p:cNvSpPr txBox="1"/>
            <p:nvPr/>
          </p:nvSpPr>
          <p:spPr>
            <a:xfrm>
              <a:off x="851535" y="2412206"/>
              <a:ext cx="2406035" cy="220028"/>
            </a:xfrm>
            <a:prstGeom prst="rect">
              <a:avLst/>
            </a:prstGeom>
            <a:noFill/>
            <a:ln>
              <a:noFill/>
            </a:ln>
          </p:spPr>
          <p:txBody>
            <a:bodyPr wrap="none" lIns="0" tIns="0" rIns="0" bIns="0" anchor="t" anchorCtr="0">
              <a:spAutoFit/>
            </a:bodyPr>
            <a:lstStyle/>
            <a:p>
              <a:pPr algn="l"/>
              <a:r>
                <a:rPr lang="en-US" sz="1120" dirty="0">
                  <a:solidFill>
                    <a:schemeClr val="dk1"/>
                  </a:solidFill>
                  <a:latin typeface="+mn-lt"/>
                  <a:ea typeface="+mn-ea"/>
                  <a:cs typeface="+mn-cs"/>
                </a:rPr>
                <a:t>The paper dissects existing sets</a:t>
              </a:r>
            </a:p>
          </p:txBody>
        </p:sp>
        <p:sp>
          <p:nvSpPr>
            <p:cNvPr id="12" name="TextBox 12"/>
            <p:cNvSpPr txBox="1"/>
            <p:nvPr/>
          </p:nvSpPr>
          <p:spPr>
            <a:xfrm>
              <a:off x="851535" y="2621756"/>
              <a:ext cx="2220275" cy="220028"/>
            </a:xfrm>
            <a:prstGeom prst="rect">
              <a:avLst/>
            </a:prstGeom>
            <a:noFill/>
            <a:ln>
              <a:noFill/>
            </a:ln>
          </p:spPr>
          <p:txBody>
            <a:bodyPr wrap="none" lIns="0" tIns="0" rIns="0" bIns="0" anchor="t" anchorCtr="0">
              <a:spAutoFit/>
            </a:bodyPr>
            <a:lstStyle/>
            <a:p>
              <a:pPr algn="l"/>
              <a:r>
                <a:rPr lang="en-US" sz="1120" dirty="0">
                  <a:solidFill>
                    <a:schemeClr val="dk1"/>
                  </a:solidFill>
                  <a:latin typeface="+mn-lt"/>
                  <a:ea typeface="+mn-ea"/>
                  <a:cs typeface="+mn-cs"/>
                </a:rPr>
                <a:t>rather than adding a new one.</a:t>
              </a:r>
            </a:p>
          </p:txBody>
        </p:sp>
        <p:sp>
          <p:nvSpPr>
            <p:cNvPr id="13" name="Rectangle 13"/>
            <p:cNvSpPr/>
            <p:nvPr/>
          </p:nvSpPr>
          <p:spPr>
            <a:xfrm>
              <a:off x="857250" y="2933700"/>
              <a:ext cx="3019425" cy="323850"/>
            </a:xfrm>
            <a:prstGeom prst="roundRect">
              <a:avLst>
                <a:gd name="adj" fmla="val 23529"/>
              </a:avLst>
            </a:prstGeom>
            <a:solidFill>
              <a:schemeClr val="accent5"/>
            </a:solidFill>
            <a:ln>
              <a:noFill/>
            </a:ln>
          </p:spPr>
        </p:sp>
        <p:sp>
          <p:nvSpPr>
            <p:cNvPr id="14" name="TextBox 14"/>
            <p:cNvSpPr txBox="1"/>
            <p:nvPr/>
          </p:nvSpPr>
          <p:spPr>
            <a:xfrm>
              <a:off x="984885" y="3031331"/>
              <a:ext cx="863732" cy="220028"/>
            </a:xfrm>
            <a:prstGeom prst="rect">
              <a:avLst/>
            </a:prstGeom>
            <a:noFill/>
            <a:ln>
              <a:noFill/>
            </a:ln>
          </p:spPr>
          <p:txBody>
            <a:bodyPr wrap="none" lIns="0" tIns="0" rIns="0" bIns="0" anchor="t" anchorCtr="0">
              <a:spAutoFit/>
            </a:bodyPr>
            <a:lstStyle/>
            <a:p>
              <a:pPr algn="l"/>
              <a:r>
                <a:rPr lang="en-US" sz="1120" dirty="0">
                  <a:solidFill>
                    <a:schemeClr val="accent1"/>
                  </a:solidFill>
                  <a:latin typeface="+mn-lt"/>
                  <a:ea typeface="+mn-ea"/>
                  <a:cs typeface="+mn-cs"/>
                </a:rPr>
                <a:t>SFEW · MMI</a:t>
              </a:r>
            </a:p>
          </p:txBody>
        </p:sp>
        <p:sp>
          <p:nvSpPr>
            <p:cNvPr id="15" name="Rectangle 15"/>
            <p:cNvSpPr/>
            <p:nvPr/>
          </p:nvSpPr>
          <p:spPr>
            <a:xfrm>
              <a:off x="857250" y="3333750"/>
              <a:ext cx="3019425" cy="323850"/>
            </a:xfrm>
            <a:prstGeom prst="roundRect">
              <a:avLst>
                <a:gd name="adj" fmla="val 23529"/>
              </a:avLst>
            </a:prstGeom>
            <a:solidFill>
              <a:schemeClr val="accent5"/>
            </a:solidFill>
            <a:ln>
              <a:noFill/>
            </a:ln>
          </p:spPr>
        </p:sp>
        <p:sp>
          <p:nvSpPr>
            <p:cNvPr id="16" name="TextBox 16"/>
            <p:cNvSpPr txBox="1"/>
            <p:nvPr/>
          </p:nvSpPr>
          <p:spPr>
            <a:xfrm>
              <a:off x="984885" y="3431381"/>
              <a:ext cx="1036781" cy="220028"/>
            </a:xfrm>
            <a:prstGeom prst="rect">
              <a:avLst/>
            </a:prstGeom>
            <a:noFill/>
            <a:ln>
              <a:noFill/>
            </a:ln>
          </p:spPr>
          <p:txBody>
            <a:bodyPr wrap="none" lIns="0" tIns="0" rIns="0" bIns="0" anchor="t" anchorCtr="0">
              <a:spAutoFit/>
            </a:bodyPr>
            <a:lstStyle/>
            <a:p>
              <a:pPr algn="l"/>
              <a:r>
                <a:rPr lang="en-US" sz="1120" dirty="0">
                  <a:solidFill>
                    <a:schemeClr val="accent1"/>
                  </a:solidFill>
                  <a:latin typeface="+mn-lt"/>
                  <a:ea typeface="+mn-ea"/>
                  <a:cs typeface="+mn-cs"/>
                </a:rPr>
                <a:t>CK+ · MultiPie</a:t>
              </a:r>
            </a:p>
          </p:txBody>
        </p:sp>
        <p:sp>
          <p:nvSpPr>
            <p:cNvPr id="17" name="TextBox 17"/>
            <p:cNvSpPr txBox="1"/>
            <p:nvPr/>
          </p:nvSpPr>
          <p:spPr>
            <a:xfrm>
              <a:off x="851535" y="3840956"/>
              <a:ext cx="2081911"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Accuracy swings wildly from</a:t>
              </a:r>
            </a:p>
          </p:txBody>
        </p:sp>
        <p:sp>
          <p:nvSpPr>
            <p:cNvPr id="18" name="TextBox 18"/>
            <p:cNvSpPr txBox="1"/>
            <p:nvPr/>
          </p:nvSpPr>
          <p:spPr>
            <a:xfrm>
              <a:off x="851535" y="4050506"/>
              <a:ext cx="2046884"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one benchmark to the next,</a:t>
              </a:r>
            </a:p>
          </p:txBody>
        </p:sp>
        <p:sp>
          <p:nvSpPr>
            <p:cNvPr id="19" name="TextBox 19"/>
            <p:cNvSpPr txBox="1"/>
            <p:nvPr/>
          </p:nvSpPr>
          <p:spPr>
            <a:xfrm>
              <a:off x="851535" y="4260056"/>
              <a:ext cx="1805645"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as the next slides show.</a:t>
              </a:r>
            </a:p>
          </p:txBody>
        </p:sp>
      </p:grpSp>
      <p:grpSp>
        <p:nvGrpSpPr>
          <p:cNvPr id="33" name="Group 33"/>
          <p:cNvGrpSpPr/>
          <p:nvPr/>
        </p:nvGrpSpPr>
        <p:grpSpPr>
          <a:xfrm>
            <a:off x="4333875" y="1428750"/>
            <a:ext cx="3514725" cy="3276600"/>
            <a:chOff x="4333875" y="1428750"/>
            <a:chExt cx="3514725" cy="3276600"/>
          </a:xfrm>
        </p:grpSpPr>
        <p:sp>
          <p:nvSpPr>
            <p:cNvPr id="21" name="Rectangle 21"/>
            <p:cNvSpPr/>
            <p:nvPr/>
          </p:nvSpPr>
          <p:spPr>
            <a:xfrm>
              <a:off x="4333875" y="1428750"/>
              <a:ext cx="3514725" cy="3276600"/>
            </a:xfrm>
            <a:prstGeom prst="roundRect">
              <a:avLst>
                <a:gd name="adj" fmla="val 3488"/>
              </a:avLst>
            </a:prstGeom>
            <a:solidFill>
              <a:schemeClr val="accent1"/>
            </a:solidFill>
            <a:ln w="14288">
              <a:solidFill>
                <a:schemeClr val="accent1"/>
              </a:solidFill>
            </a:ln>
          </p:spPr>
        </p:sp>
        <p:sp>
          <p:nvSpPr>
            <p:cNvPr id="22" name="Rectangle 22"/>
            <p:cNvSpPr/>
            <p:nvPr/>
          </p:nvSpPr>
          <p:spPr>
            <a:xfrm>
              <a:off x="4333875" y="1428750"/>
              <a:ext cx="57150" cy="3276600"/>
            </a:xfrm>
            <a:prstGeom prst="roundRect">
              <a:avLst>
                <a:gd name="adj" fmla="val 50000"/>
              </a:avLst>
            </a:prstGeom>
            <a:solidFill>
              <a:srgbClr val="C2410C"/>
            </a:solidFill>
            <a:ln>
              <a:noFill/>
            </a:ln>
          </p:spPr>
        </p:sp>
        <p:sp>
          <p:nvSpPr>
            <p:cNvPr id="23" name="TextBox 23"/>
            <p:cNvSpPr txBox="1"/>
            <p:nvPr/>
          </p:nvSpPr>
          <p:spPr>
            <a:xfrm>
              <a:off x="4576572" y="1666399"/>
              <a:ext cx="1632637" cy="190690"/>
            </a:xfrm>
            <a:prstGeom prst="rect">
              <a:avLst/>
            </a:prstGeom>
            <a:noFill/>
            <a:ln>
              <a:noFill/>
            </a:ln>
          </p:spPr>
          <p:txBody>
            <a:bodyPr wrap="none" lIns="0" tIns="0" rIns="0" bIns="0" anchor="t" anchorCtr="0">
              <a:spAutoFit/>
            </a:bodyPr>
            <a:lstStyle/>
            <a:p>
              <a:pPr algn="l"/>
              <a:r>
                <a:rPr lang="en-US" sz="980" b="1" spc="90" dirty="0">
                  <a:solidFill>
                    <a:schemeClr val="accent2"/>
                  </a:solidFill>
                  <a:latin typeface="+mn-lt"/>
                  <a:ea typeface="+mn-ea"/>
                  <a:cs typeface="+mn-cs"/>
                </a:rPr>
                <a:t>DEEPFAKE DETECTION</a:t>
              </a:r>
            </a:p>
          </p:txBody>
        </p:sp>
        <p:sp>
          <p:nvSpPr>
            <p:cNvPr id="24" name="TextBox 24"/>
            <p:cNvSpPr txBox="1"/>
            <p:nvPr/>
          </p:nvSpPr>
          <p:spPr>
            <a:xfrm>
              <a:off x="4573143" y="1955482"/>
              <a:ext cx="675086" cy="322707"/>
            </a:xfrm>
            <a:prstGeom prst="rect">
              <a:avLst/>
            </a:prstGeom>
            <a:noFill/>
            <a:ln>
              <a:noFill/>
            </a:ln>
          </p:spPr>
          <p:txBody>
            <a:bodyPr wrap="none" lIns="0" tIns="0" rIns="0" bIns="0" anchor="t" anchorCtr="0">
              <a:spAutoFit/>
            </a:bodyPr>
            <a:lstStyle/>
            <a:p>
              <a:pPr algn="l"/>
              <a:r>
                <a:rPr lang="en-US" sz="1650" b="1" dirty="0">
                  <a:solidFill>
                    <a:srgbClr val="FFFFFF"/>
                  </a:solidFill>
                  <a:latin typeface="Georgia"/>
                  <a:ea typeface="Georgia"/>
                  <a:cs typeface="Georgia"/>
                </a:rPr>
                <a:t>DFDC</a:t>
              </a:r>
            </a:p>
          </p:txBody>
        </p:sp>
        <p:sp>
          <p:nvSpPr>
            <p:cNvPr id="25" name="TextBox 25"/>
            <p:cNvSpPr txBox="1"/>
            <p:nvPr/>
          </p:nvSpPr>
          <p:spPr>
            <a:xfrm>
              <a:off x="4575810" y="2259806"/>
              <a:ext cx="2067008" cy="220028"/>
            </a:xfrm>
            <a:prstGeom prst="rect">
              <a:avLst/>
            </a:prstGeom>
            <a:noFill/>
            <a:ln>
              <a:noFill/>
            </a:ln>
          </p:spPr>
          <p:txBody>
            <a:bodyPr wrap="none" lIns="0" tIns="0" rIns="0" bIns="0" anchor="t" anchorCtr="0">
              <a:spAutoFit/>
            </a:bodyPr>
            <a:lstStyle/>
            <a:p>
              <a:pPr algn="l"/>
              <a:r>
                <a:rPr lang="en-US" sz="1120" dirty="0">
                  <a:solidFill>
                    <a:srgbClr val="EEF2F9"/>
                  </a:solidFill>
                  <a:latin typeface="+mn-lt"/>
                  <a:ea typeface="+mn-ea"/>
                  <a:cs typeface="+mn-cs"/>
                </a:rPr>
                <a:t>The largest dataset to date</a:t>
              </a:r>
            </a:p>
          </p:txBody>
        </p:sp>
        <p:sp>
          <p:nvSpPr>
            <p:cNvPr id="26" name="Rectangle 26"/>
            <p:cNvSpPr/>
            <p:nvPr/>
          </p:nvSpPr>
          <p:spPr>
            <a:xfrm>
              <a:off x="4581525" y="2590800"/>
              <a:ext cx="3019425" cy="819150"/>
            </a:xfrm>
            <a:prstGeom prst="roundRect">
              <a:avLst>
                <a:gd name="adj" fmla="val 9302"/>
              </a:avLst>
            </a:prstGeom>
            <a:solidFill>
              <a:srgbClr val="1F3350"/>
            </a:solidFill>
            <a:ln>
              <a:noFill/>
            </a:ln>
          </p:spPr>
        </p:sp>
        <p:sp>
          <p:nvSpPr>
            <p:cNvPr id="27" name="TextBox 27"/>
            <p:cNvSpPr txBox="1"/>
            <p:nvPr/>
          </p:nvSpPr>
          <p:spPr>
            <a:xfrm>
              <a:off x="4722495" y="2767012"/>
              <a:ext cx="1316622" cy="440055"/>
            </a:xfrm>
            <a:prstGeom prst="rect">
              <a:avLst/>
            </a:prstGeom>
            <a:noFill/>
            <a:ln>
              <a:noFill/>
            </a:ln>
          </p:spPr>
          <p:txBody>
            <a:bodyPr wrap="none" lIns="0" tIns="0" rIns="0" bIns="0" anchor="t" anchorCtr="0">
              <a:spAutoFit/>
            </a:bodyPr>
            <a:lstStyle/>
            <a:p>
              <a:pPr algn="l"/>
              <a:r>
                <a:rPr lang="en-US" sz="2250" b="1" dirty="0">
                  <a:solidFill>
                    <a:srgbClr val="FFFFFF"/>
                  </a:solidFill>
                  <a:latin typeface="Georgia"/>
                  <a:ea typeface="Georgia"/>
                  <a:cs typeface="Georgia"/>
                </a:rPr>
                <a:t>128,154</a:t>
              </a:r>
            </a:p>
          </p:txBody>
        </p:sp>
        <p:sp>
          <p:nvSpPr>
            <p:cNvPr id="28" name="TextBox 28"/>
            <p:cNvSpPr txBox="1"/>
            <p:nvPr/>
          </p:nvSpPr>
          <p:spPr>
            <a:xfrm>
              <a:off x="4728210" y="3136106"/>
              <a:ext cx="471292" cy="220028"/>
            </a:xfrm>
            <a:prstGeom prst="rect">
              <a:avLst/>
            </a:prstGeom>
            <a:noFill/>
            <a:ln>
              <a:noFill/>
            </a:ln>
          </p:spPr>
          <p:txBody>
            <a:bodyPr wrap="none" lIns="0" tIns="0" rIns="0" bIns="0" anchor="t" anchorCtr="0">
              <a:spAutoFit/>
            </a:bodyPr>
            <a:lstStyle/>
            <a:p>
              <a:pPr algn="l"/>
              <a:r>
                <a:rPr lang="en-US" sz="1120" dirty="0">
                  <a:solidFill>
                    <a:srgbClr val="EEF2F9"/>
                  </a:solidFill>
                  <a:latin typeface="+mn-lt"/>
                  <a:ea typeface="+mn-ea"/>
                  <a:cs typeface="+mn-cs"/>
                </a:rPr>
                <a:t>videos</a:t>
              </a:r>
            </a:p>
          </p:txBody>
        </p:sp>
        <p:sp>
          <p:nvSpPr>
            <p:cNvPr id="29" name="Rectangle 29"/>
            <p:cNvSpPr/>
            <p:nvPr/>
          </p:nvSpPr>
          <p:spPr>
            <a:xfrm>
              <a:off x="4581525" y="3486150"/>
              <a:ext cx="3019425" cy="819150"/>
            </a:xfrm>
            <a:prstGeom prst="roundRect">
              <a:avLst>
                <a:gd name="adj" fmla="val 9302"/>
              </a:avLst>
            </a:prstGeom>
            <a:solidFill>
              <a:srgbClr val="1F3350"/>
            </a:solidFill>
            <a:ln>
              <a:noFill/>
            </a:ln>
          </p:spPr>
        </p:sp>
        <p:sp>
          <p:nvSpPr>
            <p:cNvPr id="30" name="TextBox 30"/>
            <p:cNvSpPr txBox="1"/>
            <p:nvPr/>
          </p:nvSpPr>
          <p:spPr>
            <a:xfrm>
              <a:off x="4722495" y="3662362"/>
              <a:ext cx="577329" cy="440055"/>
            </a:xfrm>
            <a:prstGeom prst="rect">
              <a:avLst/>
            </a:prstGeom>
            <a:noFill/>
            <a:ln>
              <a:noFill/>
            </a:ln>
          </p:spPr>
          <p:txBody>
            <a:bodyPr wrap="none" lIns="0" tIns="0" rIns="0" bIns="0" anchor="t" anchorCtr="0">
              <a:spAutoFit/>
            </a:bodyPr>
            <a:lstStyle/>
            <a:p>
              <a:pPr algn="l"/>
              <a:r>
                <a:rPr lang="en-US" sz="2250" b="1" dirty="0">
                  <a:solidFill>
                    <a:srgbClr val="FFFFFF"/>
                  </a:solidFill>
                  <a:latin typeface="Georgia"/>
                  <a:ea typeface="Georgia"/>
                  <a:cs typeface="Georgia"/>
                </a:rPr>
                <a:t>960</a:t>
              </a:r>
            </a:p>
          </p:txBody>
        </p:sp>
        <p:sp>
          <p:nvSpPr>
            <p:cNvPr id="31" name="TextBox 31"/>
            <p:cNvSpPr txBox="1"/>
            <p:nvPr/>
          </p:nvSpPr>
          <p:spPr>
            <a:xfrm>
              <a:off x="4728210" y="4031456"/>
              <a:ext cx="1345783" cy="220028"/>
            </a:xfrm>
            <a:prstGeom prst="rect">
              <a:avLst/>
            </a:prstGeom>
            <a:noFill/>
            <a:ln>
              <a:noFill/>
            </a:ln>
          </p:spPr>
          <p:txBody>
            <a:bodyPr wrap="none" lIns="0" tIns="0" rIns="0" bIns="0" anchor="t" anchorCtr="0">
              <a:spAutoFit/>
            </a:bodyPr>
            <a:lstStyle/>
            <a:p>
              <a:pPr algn="l"/>
              <a:r>
                <a:rPr lang="en-US" sz="1120" dirty="0">
                  <a:solidFill>
                    <a:srgbClr val="EEF2F9"/>
                  </a:solidFill>
                  <a:latin typeface="+mn-lt"/>
                  <a:ea typeface="+mn-ea"/>
                  <a:cs typeface="+mn-cs"/>
                </a:rPr>
                <a:t>consenting actors</a:t>
              </a:r>
            </a:p>
          </p:txBody>
        </p:sp>
        <p:sp>
          <p:nvSpPr>
            <p:cNvPr id="32" name="TextBox 32"/>
            <p:cNvSpPr txBox="1"/>
            <p:nvPr/>
          </p:nvSpPr>
          <p:spPr>
            <a:xfrm>
              <a:off x="4576191" y="4458652"/>
              <a:ext cx="2397426" cy="205359"/>
            </a:xfrm>
            <a:prstGeom prst="rect">
              <a:avLst/>
            </a:prstGeom>
            <a:noFill/>
            <a:ln>
              <a:noFill/>
            </a:ln>
          </p:spPr>
          <p:txBody>
            <a:bodyPr wrap="none" lIns="0" tIns="0" rIns="0" bIns="0" anchor="t" anchorCtr="0">
              <a:spAutoFit/>
            </a:bodyPr>
            <a:lstStyle/>
            <a:p>
              <a:pPr algn="l"/>
              <a:r>
                <a:rPr lang="en-US" sz="1050" dirty="0">
                  <a:solidFill>
                    <a:srgbClr val="94A3B8"/>
                  </a:solidFill>
                  <a:latin typeface="+mn-lt"/>
                  <a:ea typeface="+mn-ea"/>
                  <a:cs typeface="+mn-cs"/>
                </a:rPr>
                <a:t>A high-context real-world target.</a:t>
              </a:r>
            </a:p>
          </p:txBody>
        </p:sp>
      </p:grpSp>
      <p:grpSp>
        <p:nvGrpSpPr>
          <p:cNvPr id="46" name="Group 46"/>
          <p:cNvGrpSpPr/>
          <p:nvPr/>
        </p:nvGrpSpPr>
        <p:grpSpPr>
          <a:xfrm>
            <a:off x="8058150" y="1428750"/>
            <a:ext cx="3524250" cy="3276600"/>
            <a:chOff x="8058150" y="1428750"/>
            <a:chExt cx="3524250" cy="3276600"/>
          </a:xfrm>
        </p:grpSpPr>
        <p:sp>
          <p:nvSpPr>
            <p:cNvPr id="34" name="Rectangle 34"/>
            <p:cNvSpPr/>
            <p:nvPr/>
          </p:nvSpPr>
          <p:spPr>
            <a:xfrm>
              <a:off x="8058150" y="1428750"/>
              <a:ext cx="3524250" cy="3276600"/>
            </a:xfrm>
            <a:prstGeom prst="roundRect">
              <a:avLst>
                <a:gd name="adj" fmla="val 3488"/>
              </a:avLst>
            </a:prstGeom>
            <a:solidFill>
              <a:schemeClr val="lt1"/>
            </a:solidFill>
            <a:ln w="14288">
              <a:solidFill>
                <a:schemeClr val="accent4"/>
              </a:solidFill>
            </a:ln>
          </p:spPr>
        </p:sp>
        <p:sp>
          <p:nvSpPr>
            <p:cNvPr id="35" name="Rectangle 35"/>
            <p:cNvSpPr/>
            <p:nvPr/>
          </p:nvSpPr>
          <p:spPr>
            <a:xfrm>
              <a:off x="8058150" y="1428750"/>
              <a:ext cx="57150" cy="3276600"/>
            </a:xfrm>
            <a:prstGeom prst="roundRect">
              <a:avLst>
                <a:gd name="adj" fmla="val 50000"/>
              </a:avLst>
            </a:prstGeom>
            <a:solidFill>
              <a:srgbClr val="0E9F9A"/>
            </a:solidFill>
            <a:ln>
              <a:noFill/>
            </a:ln>
          </p:spPr>
        </p:sp>
        <p:sp>
          <p:nvSpPr>
            <p:cNvPr id="36" name="TextBox 36"/>
            <p:cNvSpPr txBox="1"/>
            <p:nvPr/>
          </p:nvSpPr>
          <p:spPr>
            <a:xfrm>
              <a:off x="8300847" y="1666399"/>
              <a:ext cx="1495425" cy="190690"/>
            </a:xfrm>
            <a:prstGeom prst="rect">
              <a:avLst/>
            </a:prstGeom>
            <a:noFill/>
            <a:ln>
              <a:noFill/>
            </a:ln>
          </p:spPr>
          <p:txBody>
            <a:bodyPr wrap="none" lIns="0" tIns="0" rIns="0" bIns="0" anchor="t" anchorCtr="0">
              <a:spAutoFit/>
            </a:bodyPr>
            <a:lstStyle/>
            <a:p>
              <a:pPr algn="l"/>
              <a:r>
                <a:rPr lang="en-US" sz="980" b="1" spc="90" dirty="0">
                  <a:solidFill>
                    <a:srgbClr val="0E9F9A"/>
                  </a:solidFill>
                  <a:latin typeface="+mn-lt"/>
                  <a:ea typeface="+mn-ea"/>
                  <a:cs typeface="+mn-cs"/>
                </a:rPr>
                <a:t>MEDICAL DIAGNOSIS</a:t>
              </a:r>
            </a:p>
          </p:txBody>
        </p:sp>
        <p:sp>
          <p:nvSpPr>
            <p:cNvPr id="37" name="TextBox 37"/>
            <p:cNvSpPr txBox="1"/>
            <p:nvPr/>
          </p:nvSpPr>
          <p:spPr>
            <a:xfrm>
              <a:off x="8298180" y="1971675"/>
              <a:ext cx="1821706" cy="293370"/>
            </a:xfrm>
            <a:prstGeom prst="rect">
              <a:avLst/>
            </a:prstGeom>
            <a:noFill/>
            <a:ln>
              <a:noFill/>
            </a:ln>
          </p:spPr>
          <p:txBody>
            <a:bodyPr wrap="none" lIns="0" tIns="0" rIns="0" bIns="0" anchor="t" anchorCtr="0">
              <a:spAutoFit/>
            </a:bodyPr>
            <a:lstStyle/>
            <a:p>
              <a:pPr algn="l"/>
              <a:r>
                <a:rPr lang="en-US" sz="1500" b="1" dirty="0">
                  <a:solidFill>
                    <a:schemeClr val="accent1"/>
                  </a:solidFill>
                  <a:latin typeface="Georgia"/>
                  <a:ea typeface="Georgia"/>
                  <a:cs typeface="Georgia"/>
                </a:rPr>
                <a:t>Teledermatology</a:t>
              </a:r>
            </a:p>
          </p:txBody>
        </p:sp>
        <p:sp>
          <p:nvSpPr>
            <p:cNvPr id="38" name="TextBox 38"/>
            <p:cNvSpPr txBox="1"/>
            <p:nvPr/>
          </p:nvSpPr>
          <p:spPr>
            <a:xfrm>
              <a:off x="8300085" y="2278856"/>
              <a:ext cx="2172589" cy="220028"/>
            </a:xfrm>
            <a:prstGeom prst="rect">
              <a:avLst/>
            </a:prstGeom>
            <a:noFill/>
            <a:ln>
              <a:noFill/>
            </a:ln>
          </p:spPr>
          <p:txBody>
            <a:bodyPr wrap="none" lIns="0" tIns="0" rIns="0" bIns="0" anchor="t" anchorCtr="0">
              <a:spAutoFit/>
            </a:bodyPr>
            <a:lstStyle/>
            <a:p>
              <a:pPr algn="l"/>
              <a:r>
                <a:rPr lang="en-US" sz="1120" dirty="0">
                  <a:solidFill>
                    <a:schemeClr val="dk1"/>
                  </a:solidFill>
                  <a:latin typeface="+mn-lt"/>
                  <a:ea typeface="+mn-ea"/>
                  <a:cs typeface="+mn-cs"/>
                </a:rPr>
                <a:t>Store-and-forward diagnosis</a:t>
              </a:r>
            </a:p>
          </p:txBody>
        </p:sp>
        <p:sp>
          <p:nvSpPr>
            <p:cNvPr id="39" name="TextBox 39"/>
            <p:cNvSpPr txBox="1"/>
            <p:nvPr/>
          </p:nvSpPr>
          <p:spPr>
            <a:xfrm>
              <a:off x="8300085" y="2488406"/>
              <a:ext cx="2114733" cy="220028"/>
            </a:xfrm>
            <a:prstGeom prst="rect">
              <a:avLst/>
            </a:prstGeom>
            <a:noFill/>
            <a:ln>
              <a:noFill/>
            </a:ln>
          </p:spPr>
          <p:txBody>
            <a:bodyPr wrap="none" lIns="0" tIns="0" rIns="0" bIns="0" anchor="t" anchorCtr="0">
              <a:spAutoFit/>
            </a:bodyPr>
            <a:lstStyle/>
            <a:p>
              <a:pPr algn="l"/>
              <a:r>
                <a:rPr lang="en-US" sz="1120" dirty="0">
                  <a:solidFill>
                    <a:schemeClr val="dk1"/>
                  </a:solidFill>
                  <a:latin typeface="+mn-lt"/>
                  <a:ea typeface="+mn-ea"/>
                  <a:cs typeface="+mn-cs"/>
                </a:rPr>
                <a:t>from submitted skin images.</a:t>
              </a:r>
            </a:p>
          </p:txBody>
        </p:sp>
        <p:sp>
          <p:nvSpPr>
            <p:cNvPr id="40" name="Rectangle 40"/>
            <p:cNvSpPr/>
            <p:nvPr/>
          </p:nvSpPr>
          <p:spPr>
            <a:xfrm>
              <a:off x="8305800" y="2819400"/>
              <a:ext cx="3028950" cy="666750"/>
            </a:xfrm>
            <a:prstGeom prst="roundRect">
              <a:avLst>
                <a:gd name="adj" fmla="val 11429"/>
              </a:avLst>
            </a:prstGeom>
            <a:solidFill>
              <a:schemeClr val="accent5"/>
            </a:solidFill>
            <a:ln>
              <a:noFill/>
            </a:ln>
          </p:spPr>
        </p:sp>
        <p:sp>
          <p:nvSpPr>
            <p:cNvPr id="41" name="TextBox 41"/>
            <p:cNvSpPr txBox="1"/>
            <p:nvPr/>
          </p:nvSpPr>
          <p:spPr>
            <a:xfrm>
              <a:off x="8451723" y="2948464"/>
              <a:ext cx="1950604" cy="249364"/>
            </a:xfrm>
            <a:prstGeom prst="rect">
              <a:avLst/>
            </a:prstGeom>
            <a:noFill/>
            <a:ln>
              <a:noFill/>
            </a:ln>
          </p:spPr>
          <p:txBody>
            <a:bodyPr wrap="none" lIns="0" tIns="0" rIns="0" bIns="0" anchor="t" anchorCtr="0">
              <a:spAutoFit/>
            </a:bodyPr>
            <a:lstStyle/>
            <a:p>
              <a:pPr algn="l"/>
              <a:r>
                <a:rPr lang="en-US" sz="1280" b="1" dirty="0">
                  <a:solidFill>
                    <a:schemeClr val="accent1"/>
                  </a:solidFill>
                  <a:latin typeface="Georgia"/>
                  <a:ea typeface="Georgia"/>
                  <a:cs typeface="Georgia"/>
                </a:rPr>
                <a:t>Diverse Dermatology</a:t>
              </a:r>
            </a:p>
          </p:txBody>
        </p:sp>
        <p:sp>
          <p:nvSpPr>
            <p:cNvPr id="42" name="TextBox 42"/>
            <p:cNvSpPr txBox="1"/>
            <p:nvPr/>
          </p:nvSpPr>
          <p:spPr>
            <a:xfrm>
              <a:off x="8451723" y="3177064"/>
              <a:ext cx="1279687" cy="249364"/>
            </a:xfrm>
            <a:prstGeom prst="rect">
              <a:avLst/>
            </a:prstGeom>
            <a:noFill/>
            <a:ln>
              <a:noFill/>
            </a:ln>
          </p:spPr>
          <p:txBody>
            <a:bodyPr wrap="none" lIns="0" tIns="0" rIns="0" bIns="0" anchor="t" anchorCtr="0">
              <a:spAutoFit/>
            </a:bodyPr>
            <a:lstStyle/>
            <a:p>
              <a:pPr algn="l"/>
              <a:r>
                <a:rPr lang="en-US" sz="1280" b="1" dirty="0">
                  <a:solidFill>
                    <a:schemeClr val="accent1"/>
                  </a:solidFill>
                  <a:latin typeface="Georgia"/>
                  <a:ea typeface="Georgia"/>
                  <a:cs typeface="Georgia"/>
                </a:rPr>
                <a:t>Images (DDI)</a:t>
              </a:r>
            </a:p>
          </p:txBody>
        </p:sp>
        <p:sp>
          <p:nvSpPr>
            <p:cNvPr id="43" name="TextBox 43"/>
            <p:cNvSpPr txBox="1"/>
            <p:nvPr/>
          </p:nvSpPr>
          <p:spPr>
            <a:xfrm>
              <a:off x="8300085" y="3688556"/>
              <a:ext cx="2029447"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Skin-tone coverage is thin,</a:t>
              </a:r>
            </a:p>
          </p:txBody>
        </p:sp>
        <p:sp>
          <p:nvSpPr>
            <p:cNvPr id="44" name="TextBox 44"/>
            <p:cNvSpPr txBox="1"/>
            <p:nvPr/>
          </p:nvSpPr>
          <p:spPr>
            <a:xfrm>
              <a:off x="8300085" y="3898106"/>
              <a:ext cx="1881033"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so systematic errors can</a:t>
              </a:r>
            </a:p>
          </p:txBody>
        </p:sp>
        <p:sp>
          <p:nvSpPr>
            <p:cNvPr id="45" name="TextBox 45"/>
            <p:cNvSpPr txBox="1"/>
            <p:nvPr/>
          </p:nvSpPr>
          <p:spPr>
            <a:xfrm>
              <a:off x="8300085" y="4107656"/>
              <a:ext cx="1368400"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hide in plain sight.</a:t>
              </a:r>
            </a:p>
          </p:txBody>
        </p:sp>
      </p:grpSp>
      <p:grpSp>
        <p:nvGrpSpPr>
          <p:cNvPr id="52" name="Group 52"/>
          <p:cNvGrpSpPr/>
          <p:nvPr/>
        </p:nvGrpSpPr>
        <p:grpSpPr>
          <a:xfrm>
            <a:off x="609600" y="4876800"/>
            <a:ext cx="10972800" cy="1181100"/>
            <a:chOff x="609600" y="4876800"/>
            <a:chExt cx="10972800" cy="1181100"/>
          </a:xfrm>
        </p:grpSpPr>
        <p:sp>
          <p:nvSpPr>
            <p:cNvPr id="47" name="Rectangle 47"/>
            <p:cNvSpPr/>
            <p:nvPr/>
          </p:nvSpPr>
          <p:spPr>
            <a:xfrm>
              <a:off x="609600" y="4876800"/>
              <a:ext cx="10972800" cy="1181100"/>
            </a:xfrm>
            <a:prstGeom prst="roundRect">
              <a:avLst>
                <a:gd name="adj" fmla="val 9677"/>
              </a:avLst>
            </a:prstGeom>
            <a:solidFill>
              <a:schemeClr val="accent5"/>
            </a:solidFill>
            <a:ln w="14288">
              <a:solidFill>
                <a:schemeClr val="accent4"/>
              </a:solidFill>
            </a:ln>
          </p:spPr>
        </p:sp>
        <p:sp>
          <p:nvSpPr>
            <p:cNvPr id="48" name="Rectangle 48"/>
            <p:cNvSpPr/>
            <p:nvPr/>
          </p:nvSpPr>
          <p:spPr>
            <a:xfrm>
              <a:off x="609600" y="4876800"/>
              <a:ext cx="57150" cy="1181100"/>
            </a:xfrm>
            <a:prstGeom prst="roundRect">
              <a:avLst>
                <a:gd name="adj" fmla="val 50000"/>
              </a:avLst>
            </a:prstGeom>
            <a:solidFill>
              <a:schemeClr val="accent2"/>
            </a:solidFill>
            <a:ln>
              <a:noFill/>
            </a:ln>
          </p:spPr>
        </p:sp>
        <p:sp>
          <p:nvSpPr>
            <p:cNvPr id="49" name="TextBox 49"/>
            <p:cNvSpPr txBox="1"/>
            <p:nvPr/>
          </p:nvSpPr>
          <p:spPr>
            <a:xfrm>
              <a:off x="871347" y="5095399"/>
              <a:ext cx="3309241" cy="190690"/>
            </a:xfrm>
            <a:prstGeom prst="rect">
              <a:avLst/>
            </a:prstGeom>
            <a:noFill/>
            <a:ln>
              <a:noFill/>
            </a:ln>
          </p:spPr>
          <p:txBody>
            <a:bodyPr wrap="none" lIns="0" tIns="0" rIns="0" bIns="0" anchor="t" anchorCtr="0">
              <a:spAutoFit/>
            </a:bodyPr>
            <a:lstStyle/>
            <a:p>
              <a:pPr algn="l"/>
              <a:r>
                <a:rPr lang="en-US" sz="980" b="1" spc="112" dirty="0">
                  <a:solidFill>
                    <a:schemeClr val="accent2"/>
                  </a:solidFill>
                  <a:latin typeface="+mn-lt"/>
                  <a:ea typeface="+mn-ea"/>
                  <a:cs typeface="+mn-cs"/>
                </a:rPr>
                <a:t>CONTEXT-AWARE BENCHMARKS AS MODELS</a:t>
              </a:r>
            </a:p>
          </p:txBody>
        </p:sp>
        <p:sp>
          <p:nvSpPr>
            <p:cNvPr id="50" name="TextBox 50"/>
            <p:cNvSpPr txBox="1"/>
            <p:nvPr/>
          </p:nvSpPr>
          <p:spPr>
            <a:xfrm>
              <a:off x="869061" y="5370671"/>
              <a:ext cx="7221183" cy="278702"/>
            </a:xfrm>
            <a:prstGeom prst="rect">
              <a:avLst/>
            </a:prstGeom>
            <a:noFill/>
            <a:ln>
              <a:noFill/>
            </a:ln>
          </p:spPr>
          <p:txBody>
            <a:bodyPr wrap="none" lIns="0" tIns="0" rIns="0" bIns="0" anchor="t" anchorCtr="0">
              <a:spAutoFit/>
            </a:bodyPr>
            <a:lstStyle/>
            <a:p>
              <a:pPr algn="l"/>
              <a:r>
                <a:rPr lang="en-US" sz="1420" b="1" dirty="0">
                  <a:solidFill>
                    <a:schemeClr val="accent1"/>
                  </a:solidFill>
                  <a:latin typeface="Georgia"/>
                  <a:ea typeface="Georgia"/>
                  <a:cs typeface="Georgia"/>
                </a:rPr>
                <a:t>BREEDS · WILDS · Dynabench capture the data-generation process,</a:t>
              </a:r>
            </a:p>
          </p:txBody>
        </p:sp>
        <p:sp>
          <p:nvSpPr>
            <p:cNvPr id="51" name="TextBox 51"/>
            <p:cNvSpPr txBox="1"/>
            <p:nvPr/>
          </p:nvSpPr>
          <p:spPr>
            <a:xfrm>
              <a:off x="870204" y="5661660"/>
              <a:ext cx="5868162"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holding it up as a model for evaluation instead of a single static snapshot.</a:t>
              </a:r>
            </a:p>
          </p:txBody>
        </p:sp>
      </p:grpSp>
      <p:grpSp>
        <p:nvGrpSpPr>
          <p:cNvPr id="55" name="Group 55"/>
          <p:cNvGrpSpPr/>
          <p:nvPr/>
        </p:nvGrpSpPr>
        <p:grpSpPr>
          <a:xfrm>
            <a:off x="604838" y="6597491"/>
            <a:ext cx="10982324" cy="161925"/>
            <a:chOff x="604838" y="6597491"/>
            <a:chExt cx="10982324" cy="161925"/>
          </a:xfrm>
        </p:grpSpPr>
        <p:sp>
          <p:nvSpPr>
            <p:cNvPr id="53" name="TextBox 53"/>
            <p:cNvSpPr txBox="1"/>
            <p:nvPr/>
          </p:nvSpPr>
          <p:spPr>
            <a:xfrm>
              <a:off x="604838" y="6597491"/>
              <a:ext cx="1294821" cy="161925"/>
            </a:xfrm>
            <a:prstGeom prst="rect">
              <a:avLst/>
            </a:prstGeom>
            <a:noFill/>
            <a:ln>
              <a:noFill/>
            </a:ln>
          </p:spPr>
          <p:txBody>
            <a:bodyPr wrap="none" lIns="0" tIns="0" rIns="0" bIns="0" anchor="t" anchorCtr="0">
              <a:spAutoFit/>
            </a:bodyPr>
            <a:lstStyle/>
            <a:p>
              <a:pPr algn="l"/>
              <a:r>
                <a:rPr lang="en-US" sz="820" dirty="0">
                  <a:solidFill>
                    <a:srgbClr val="94A3B8"/>
                  </a:solidFill>
                  <a:latin typeface="+mn-lt"/>
                  <a:ea typeface="+mn-ea"/>
                  <a:cs typeface="+mn-cs"/>
                </a:rPr>
                <a:t>Groh 2022 · Benchmarks</a:t>
              </a:r>
            </a:p>
          </p:txBody>
        </p:sp>
        <p:sp>
          <p:nvSpPr>
            <p:cNvPr id="54" name="TextBox 54"/>
            <p:cNvSpPr txBox="1"/>
            <p:nvPr/>
          </p:nvSpPr>
          <p:spPr>
            <a:xfrm>
              <a:off x="11456210" y="6597491"/>
              <a:ext cx="130952" cy="161925"/>
            </a:xfrm>
            <a:prstGeom prst="rect">
              <a:avLst/>
            </a:prstGeom>
            <a:noFill/>
            <a:ln>
              <a:noFill/>
            </a:ln>
          </p:spPr>
          <p:txBody>
            <a:bodyPr wrap="none" lIns="0" tIns="0" rIns="0" bIns="0" anchor="t" anchorCtr="0">
              <a:spAutoFit/>
            </a:bodyPr>
            <a:lstStyle/>
            <a:p>
              <a:pPr algn="r"/>
              <a:r>
                <a:rPr lang="en-US" sz="820" dirty="0">
                  <a:solidFill>
                    <a:srgbClr val="94A3B8"/>
                  </a:solidFill>
                  <a:latin typeface="+mn-lt"/>
                  <a:ea typeface="+mn-ea"/>
                  <a:cs typeface="+mn-cs"/>
                </a:rPr>
                <a:t>06</a:t>
              </a:r>
            </a:p>
          </p:txBody>
        </p:sp>
      </p:grpSp>
      <p:sp>
        <p:nvSpPr>
          <p:cNvPr id="56" name="cue_s06_c1_rather_introducing_new_dataset_disse" title="cue_s06_c1_rather_introducing_new_dataset_disse" descr="cue_s06_c1_rather_introducing_new_dataset_disse Rather than introducing a new dataset, the paper dissects existing benchmarks across three domains. In facial expression recognition it examines seven benchmarks, from SFEW and MMI to CK+ and MultiPie."/>
          <p:cNvSpPr/>
          <p:nvPr/>
        </p:nvSpPr>
        <p:spPr>
          <a:xfrm>
            <a:off x="609600" y="1428521"/>
            <a:ext cx="3514953" cy="327675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cue_s06_c2_deepfake_detection_centers_dfdc_data" title="cue_s06_c2_deepfake_detection_centers_dfdc_data" descr="cue_s06_c2_deepfake_detection_centers_dfdc_data In deepfake detection it centers on the DFDC dataset, the largest to date, with over one hundred twenty-eight thousand videos from nine hundred sixty consenting actors."/>
          <p:cNvSpPr/>
          <p:nvPr/>
        </p:nvSpPr>
        <p:spPr>
          <a:xfrm>
            <a:off x="4334256" y="1428521"/>
            <a:ext cx="3514953" cy="327675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cue_s06_c3_medical_diagnosis_looks_store_and_fo" title="cue_s06_c3_medical_diagnosis_looks_store_and_fo" descr="cue_s06_c3_medical_diagnosis_looks_store_and_fo In medical diagnosis it looks at store-and-forward teledermatology and the Diverse Dermatology Images dataset."/>
          <p:cNvSpPr/>
          <p:nvPr/>
        </p:nvSpPr>
        <p:spPr>
          <a:xfrm>
            <a:off x="8057692" y="1428521"/>
            <a:ext cx="3524707" cy="327675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cue_s06_c4_throughout_holds_context_aware_bench" title="cue_s06_c4_throughout_holds_context_aware_bench" descr="cue_s06_c4_throughout_holds_context_aware_bench Throughout, it holds up context-aware benchmarks like BREEDS, WILDS, and Dynabench as models for capturing the data-generation process instead of a single static snapshot."/>
          <p:cNvSpPr/>
          <p:nvPr/>
        </p:nvSpPr>
        <p:spPr>
          <a:xfrm>
            <a:off x="609600" y="4876723"/>
            <a:ext cx="10972800" cy="118094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609600" y="552450"/>
            <a:ext cx="8397859" cy="656939"/>
            <a:chOff x="609600" y="552450"/>
            <a:chExt cx="8397859" cy="656939"/>
          </a:xfrm>
        </p:grpSpPr>
        <p:sp>
          <p:nvSpPr>
            <p:cNvPr id="2" name="Rectangle 2"/>
            <p:cNvSpPr/>
            <p:nvPr/>
          </p:nvSpPr>
          <p:spPr>
            <a:xfrm>
              <a:off x="609600" y="552450"/>
              <a:ext cx="57150" cy="400050"/>
            </a:xfrm>
            <a:prstGeom prst="rect">
              <a:avLst/>
            </a:prstGeom>
            <a:solidFill>
              <a:schemeClr val="accent2"/>
            </a:solidFill>
            <a:ln>
              <a:noFill/>
            </a:ln>
          </p:spPr>
        </p:sp>
        <p:sp>
          <p:nvSpPr>
            <p:cNvPr id="3" name="TextBox 3"/>
            <p:cNvSpPr txBox="1"/>
            <p:nvPr/>
          </p:nvSpPr>
          <p:spPr>
            <a:xfrm>
              <a:off x="826770" y="614362"/>
              <a:ext cx="8180689" cy="440055"/>
            </a:xfrm>
            <a:prstGeom prst="rect">
              <a:avLst/>
            </a:prstGeom>
            <a:noFill/>
            <a:ln>
              <a:noFill/>
            </a:ln>
          </p:spPr>
          <p:txBody>
            <a:bodyPr wrap="none" lIns="0" tIns="0" rIns="0" bIns="0" anchor="t" anchorCtr="0">
              <a:spAutoFit/>
            </a:bodyPr>
            <a:lstStyle/>
            <a:p>
              <a:pPr algn="l"/>
              <a:r>
                <a:rPr lang="en-US" sz="2250" b="1" dirty="0">
                  <a:solidFill>
                    <a:schemeClr val="accent1"/>
                  </a:solidFill>
                  <a:latin typeface="Georgia"/>
                  <a:ea typeface="Georgia"/>
                  <a:cs typeface="Georgia"/>
                </a:rPr>
                <a:t>The benchmark you pick decides the story you tell</a:t>
              </a:r>
            </a:p>
          </p:txBody>
        </p:sp>
        <p:sp>
          <p:nvSpPr>
            <p:cNvPr id="4" name="TextBox 4"/>
            <p:cNvSpPr txBox="1"/>
            <p:nvPr/>
          </p:nvSpPr>
          <p:spPr>
            <a:xfrm>
              <a:off x="833247" y="1018699"/>
              <a:ext cx="4122463" cy="190690"/>
            </a:xfrm>
            <a:prstGeom prst="rect">
              <a:avLst/>
            </a:prstGeom>
            <a:noFill/>
            <a:ln>
              <a:noFill/>
            </a:ln>
          </p:spPr>
          <p:txBody>
            <a:bodyPr wrap="none" lIns="0" tIns="0" rIns="0" bIns="0" anchor="t" anchorCtr="0">
              <a:spAutoFit/>
            </a:bodyPr>
            <a:lstStyle/>
            <a:p>
              <a:pPr algn="l"/>
              <a:r>
                <a:rPr lang="en-US" sz="980" b="1" spc="112" dirty="0">
                  <a:solidFill>
                    <a:schemeClr val="dk2"/>
                  </a:solidFill>
                  <a:latin typeface="+mn-lt"/>
                  <a:ea typeface="+mn-ea"/>
                  <a:cs typeface="+mn-cs"/>
                </a:rPr>
                <a:t>KEY RESULT · ACCURACY SWINGS WITH THE TEST SET</a:t>
              </a:r>
            </a:p>
          </p:txBody>
        </p:sp>
      </p:grpSp>
      <p:grpSp>
        <p:nvGrpSpPr>
          <p:cNvPr id="21" name="Group 21"/>
          <p:cNvGrpSpPr/>
          <p:nvPr/>
        </p:nvGrpSpPr>
        <p:grpSpPr>
          <a:xfrm>
            <a:off x="609600" y="1428750"/>
            <a:ext cx="5334000" cy="4644961"/>
            <a:chOff x="609600" y="1428750"/>
            <a:chExt cx="5334000" cy="4644961"/>
          </a:xfrm>
        </p:grpSpPr>
        <p:sp>
          <p:nvSpPr>
            <p:cNvPr id="6" name="Rectangle 6"/>
            <p:cNvSpPr/>
            <p:nvPr/>
          </p:nvSpPr>
          <p:spPr>
            <a:xfrm>
              <a:off x="609600" y="1428750"/>
              <a:ext cx="5334000" cy="4629150"/>
            </a:xfrm>
            <a:prstGeom prst="roundRect">
              <a:avLst>
                <a:gd name="adj" fmla="val 2469"/>
              </a:avLst>
            </a:prstGeom>
            <a:solidFill>
              <a:schemeClr val="lt1"/>
            </a:solidFill>
            <a:ln w="14288">
              <a:solidFill>
                <a:schemeClr val="accent4"/>
              </a:solidFill>
            </a:ln>
          </p:spPr>
        </p:sp>
        <p:sp>
          <p:nvSpPr>
            <p:cNvPr id="7" name="Rectangle 7"/>
            <p:cNvSpPr/>
            <p:nvPr/>
          </p:nvSpPr>
          <p:spPr>
            <a:xfrm>
              <a:off x="609600" y="1428750"/>
              <a:ext cx="57150" cy="4629150"/>
            </a:xfrm>
            <a:prstGeom prst="roundRect">
              <a:avLst>
                <a:gd name="adj" fmla="val 50000"/>
              </a:avLst>
            </a:prstGeom>
            <a:solidFill>
              <a:schemeClr val="accent2"/>
            </a:solidFill>
            <a:ln>
              <a:noFill/>
            </a:ln>
          </p:spPr>
        </p:sp>
        <p:sp>
          <p:nvSpPr>
            <p:cNvPr id="8" name="TextBox 8"/>
            <p:cNvSpPr txBox="1"/>
            <p:nvPr/>
          </p:nvSpPr>
          <p:spPr>
            <a:xfrm>
              <a:off x="871347" y="1666399"/>
              <a:ext cx="3383426" cy="190690"/>
            </a:xfrm>
            <a:prstGeom prst="rect">
              <a:avLst/>
            </a:prstGeom>
            <a:noFill/>
            <a:ln>
              <a:noFill/>
            </a:ln>
          </p:spPr>
          <p:txBody>
            <a:bodyPr wrap="none" lIns="0" tIns="0" rIns="0" bIns="0" anchor="t" anchorCtr="0">
              <a:spAutoFit/>
            </a:bodyPr>
            <a:lstStyle/>
            <a:p>
              <a:pPr algn="l"/>
              <a:r>
                <a:rPr lang="en-US" sz="980" b="1" spc="90" dirty="0">
                  <a:solidFill>
                    <a:schemeClr val="accent2"/>
                  </a:solidFill>
                  <a:latin typeface="+mn-lt"/>
                  <a:ea typeface="+mn-ea"/>
                  <a:cs typeface="+mn-cs"/>
                </a:rPr>
                <a:t>ONE FACIAL-EXPRESSION MODEL (ALEXNET)</a:t>
              </a:r>
            </a:p>
          </p:txBody>
        </p:sp>
        <p:sp>
          <p:nvSpPr>
            <p:cNvPr id="9" name="TextBox 9"/>
            <p:cNvSpPr txBox="1"/>
            <p:nvPr/>
          </p:nvSpPr>
          <p:spPr>
            <a:xfrm>
              <a:off x="869061" y="1903571"/>
              <a:ext cx="3992928" cy="278702"/>
            </a:xfrm>
            <a:prstGeom prst="rect">
              <a:avLst/>
            </a:prstGeom>
            <a:noFill/>
            <a:ln>
              <a:noFill/>
            </a:ln>
          </p:spPr>
          <p:txBody>
            <a:bodyPr wrap="none" lIns="0" tIns="0" rIns="0" bIns="0" anchor="t" anchorCtr="0">
              <a:spAutoFit/>
            </a:bodyPr>
            <a:lstStyle/>
            <a:p>
              <a:pPr algn="l"/>
              <a:r>
                <a:rPr lang="en-US" sz="1420" b="1" dirty="0">
                  <a:solidFill>
                    <a:schemeClr val="accent1"/>
                  </a:solidFill>
                  <a:latin typeface="Georgia"/>
                  <a:ea typeface="Georgia"/>
                  <a:cs typeface="Georgia"/>
                </a:rPr>
                <a:t>Same model, 48.6% to 94.8% accuracy</a:t>
              </a:r>
            </a:p>
          </p:txBody>
        </p:sp>
        <p:sp>
          <p:nvSpPr>
            <p:cNvPr id="10" name="Line 10"/>
            <p:cNvSpPr/>
            <p:nvPr/>
          </p:nvSpPr>
          <p:spPr>
            <a:xfrm>
              <a:off x="952500" y="5524500"/>
              <a:ext cx="4724400" cy="9525"/>
            </a:xfrm>
            <a:custGeom>
              <a:avLst/>
              <a:gdLst/>
              <a:ahLst/>
              <a:cxnLst/>
              <a:rect l="l" t="t" r="r" b="b"/>
              <a:pathLst>
                <a:path w="4724400" h="9525">
                  <a:moveTo>
                    <a:pt x="0" y="0"/>
                  </a:moveTo>
                  <a:lnTo>
                    <a:pt x="4724400" y="0"/>
                  </a:lnTo>
                </a:path>
              </a:pathLst>
            </a:custGeom>
            <a:noFill/>
            <a:ln w="14288">
              <a:solidFill>
                <a:srgbClr val="94A3B8"/>
              </a:solidFill>
            </a:ln>
          </p:spPr>
        </p:sp>
        <p:sp>
          <p:nvSpPr>
            <p:cNvPr id="11" name="Rectangle 11"/>
            <p:cNvSpPr/>
            <p:nvPr/>
          </p:nvSpPr>
          <p:spPr>
            <a:xfrm>
              <a:off x="1143000" y="5114925"/>
              <a:ext cx="914400" cy="409575"/>
            </a:xfrm>
            <a:prstGeom prst="rect">
              <a:avLst/>
            </a:prstGeom>
            <a:solidFill>
              <a:srgbClr val="94A3B8"/>
            </a:solidFill>
            <a:ln>
              <a:noFill/>
            </a:ln>
          </p:spPr>
        </p:sp>
        <p:sp>
          <p:nvSpPr>
            <p:cNvPr id="12" name="TextBox 12"/>
            <p:cNvSpPr txBox="1"/>
            <p:nvPr/>
          </p:nvSpPr>
          <p:spPr>
            <a:xfrm>
              <a:off x="1295945" y="4873942"/>
              <a:ext cx="608510" cy="264033"/>
            </a:xfrm>
            <a:prstGeom prst="rect">
              <a:avLst/>
            </a:prstGeom>
            <a:noFill/>
            <a:ln>
              <a:noFill/>
            </a:ln>
          </p:spPr>
          <p:txBody>
            <a:bodyPr wrap="none" lIns="0" tIns="0" rIns="0" bIns="0" anchor="t" anchorCtr="0">
              <a:spAutoFit/>
            </a:bodyPr>
            <a:lstStyle/>
            <a:p>
              <a:pPr algn="ctr"/>
              <a:r>
                <a:rPr lang="en-US" sz="1350" b="1" dirty="0">
                  <a:solidFill>
                    <a:schemeClr val="dk2"/>
                  </a:solidFill>
                  <a:latin typeface="Georgia"/>
                  <a:ea typeface="Georgia"/>
                  <a:cs typeface="Georgia"/>
                </a:rPr>
                <a:t>14.2%</a:t>
              </a:r>
            </a:p>
          </p:txBody>
        </p:sp>
        <p:sp>
          <p:nvSpPr>
            <p:cNvPr id="13" name="TextBox 13"/>
            <p:cNvSpPr txBox="1"/>
            <p:nvPr/>
          </p:nvSpPr>
          <p:spPr>
            <a:xfrm>
              <a:off x="1345168" y="5601652"/>
              <a:ext cx="510064" cy="205359"/>
            </a:xfrm>
            <a:prstGeom prst="rect">
              <a:avLst/>
            </a:prstGeom>
            <a:noFill/>
            <a:ln>
              <a:noFill/>
            </a:ln>
          </p:spPr>
          <p:txBody>
            <a:bodyPr wrap="none" lIns="0" tIns="0" rIns="0" bIns="0" anchor="t" anchorCtr="0">
              <a:spAutoFit/>
            </a:bodyPr>
            <a:lstStyle/>
            <a:p>
              <a:pPr algn="ctr"/>
              <a:r>
                <a:rPr lang="en-US" sz="1050" dirty="0">
                  <a:solidFill>
                    <a:schemeClr val="dk2"/>
                  </a:solidFill>
                  <a:latin typeface="+mn-lt"/>
                  <a:ea typeface="+mn-ea"/>
                  <a:cs typeface="+mn-cs"/>
                </a:rPr>
                <a:t>Random</a:t>
              </a:r>
            </a:p>
          </p:txBody>
        </p:sp>
        <p:sp>
          <p:nvSpPr>
            <p:cNvPr id="14" name="Rectangle 14"/>
            <p:cNvSpPr/>
            <p:nvPr/>
          </p:nvSpPr>
          <p:spPr>
            <a:xfrm>
              <a:off x="2476500" y="4133850"/>
              <a:ext cx="914400" cy="1390650"/>
            </a:xfrm>
            <a:prstGeom prst="rect">
              <a:avLst/>
            </a:prstGeom>
            <a:solidFill>
              <a:srgbClr val="C2410C"/>
            </a:solidFill>
            <a:ln>
              <a:noFill/>
            </a:ln>
          </p:spPr>
        </p:sp>
        <p:sp>
          <p:nvSpPr>
            <p:cNvPr id="15" name="TextBox 15"/>
            <p:cNvSpPr txBox="1"/>
            <p:nvPr/>
          </p:nvSpPr>
          <p:spPr>
            <a:xfrm>
              <a:off x="2629445" y="3892868"/>
              <a:ext cx="608510" cy="264033"/>
            </a:xfrm>
            <a:prstGeom prst="rect">
              <a:avLst/>
            </a:prstGeom>
            <a:noFill/>
            <a:ln>
              <a:noFill/>
            </a:ln>
          </p:spPr>
          <p:txBody>
            <a:bodyPr wrap="none" lIns="0" tIns="0" rIns="0" bIns="0" anchor="t" anchorCtr="0">
              <a:spAutoFit/>
            </a:bodyPr>
            <a:lstStyle/>
            <a:p>
              <a:pPr algn="ctr"/>
              <a:r>
                <a:rPr lang="en-US" sz="1350" b="1" dirty="0">
                  <a:solidFill>
                    <a:srgbClr val="C2410C"/>
                  </a:solidFill>
                  <a:latin typeface="Georgia"/>
                  <a:ea typeface="Georgia"/>
                  <a:cs typeface="Georgia"/>
                </a:rPr>
                <a:t>48.6%</a:t>
              </a:r>
            </a:p>
          </p:txBody>
        </p:sp>
        <p:sp>
          <p:nvSpPr>
            <p:cNvPr id="16" name="TextBox 16"/>
            <p:cNvSpPr txBox="1"/>
            <p:nvPr/>
          </p:nvSpPr>
          <p:spPr>
            <a:xfrm>
              <a:off x="2439305" y="5601652"/>
              <a:ext cx="988790" cy="205359"/>
            </a:xfrm>
            <a:prstGeom prst="rect">
              <a:avLst/>
            </a:prstGeom>
            <a:noFill/>
            <a:ln>
              <a:noFill/>
            </a:ln>
          </p:spPr>
          <p:txBody>
            <a:bodyPr wrap="none" lIns="0" tIns="0" rIns="0" bIns="0" anchor="t" anchorCtr="0">
              <a:spAutoFit/>
            </a:bodyPr>
            <a:lstStyle/>
            <a:p>
              <a:pPr algn="ctr"/>
              <a:r>
                <a:rPr lang="en-US" sz="1050" dirty="0">
                  <a:solidFill>
                    <a:schemeClr val="dk2"/>
                  </a:solidFill>
                  <a:latin typeface="+mn-lt"/>
                  <a:ea typeface="+mn-ea"/>
                  <a:cs typeface="+mn-cs"/>
                </a:rPr>
                <a:t>SFEW (worst)</a:t>
              </a:r>
            </a:p>
          </p:txBody>
        </p:sp>
        <p:sp>
          <p:nvSpPr>
            <p:cNvPr id="17" name="Rectangle 17"/>
            <p:cNvSpPr/>
            <p:nvPr/>
          </p:nvSpPr>
          <p:spPr>
            <a:xfrm>
              <a:off x="3810000" y="2819400"/>
              <a:ext cx="914400" cy="2705100"/>
            </a:xfrm>
            <a:prstGeom prst="rect">
              <a:avLst/>
            </a:prstGeom>
            <a:solidFill>
              <a:schemeClr val="accent2"/>
            </a:solidFill>
            <a:ln>
              <a:noFill/>
            </a:ln>
          </p:spPr>
        </p:sp>
        <p:sp>
          <p:nvSpPr>
            <p:cNvPr id="18" name="TextBox 18"/>
            <p:cNvSpPr txBox="1"/>
            <p:nvPr/>
          </p:nvSpPr>
          <p:spPr>
            <a:xfrm>
              <a:off x="3962945" y="2578418"/>
              <a:ext cx="608510" cy="264033"/>
            </a:xfrm>
            <a:prstGeom prst="rect">
              <a:avLst/>
            </a:prstGeom>
            <a:noFill/>
            <a:ln>
              <a:noFill/>
            </a:ln>
          </p:spPr>
          <p:txBody>
            <a:bodyPr wrap="none" lIns="0" tIns="0" rIns="0" bIns="0" anchor="t" anchorCtr="0">
              <a:spAutoFit/>
            </a:bodyPr>
            <a:lstStyle/>
            <a:p>
              <a:pPr algn="ctr"/>
              <a:r>
                <a:rPr lang="en-US" sz="1350" b="1" dirty="0">
                  <a:solidFill>
                    <a:schemeClr val="accent2"/>
                  </a:solidFill>
                  <a:latin typeface="Georgia"/>
                  <a:ea typeface="Georgia"/>
                  <a:cs typeface="Georgia"/>
                </a:rPr>
                <a:t>94.8%</a:t>
              </a:r>
            </a:p>
          </p:txBody>
        </p:sp>
        <p:sp>
          <p:nvSpPr>
            <p:cNvPr id="19" name="TextBox 19"/>
            <p:cNvSpPr txBox="1"/>
            <p:nvPr/>
          </p:nvSpPr>
          <p:spPr>
            <a:xfrm>
              <a:off x="3730366" y="5601652"/>
              <a:ext cx="1073668" cy="205359"/>
            </a:xfrm>
            <a:prstGeom prst="rect">
              <a:avLst/>
            </a:prstGeom>
            <a:noFill/>
            <a:ln>
              <a:noFill/>
            </a:ln>
          </p:spPr>
          <p:txBody>
            <a:bodyPr wrap="none" lIns="0" tIns="0" rIns="0" bIns="0" anchor="t" anchorCtr="0">
              <a:spAutoFit/>
            </a:bodyPr>
            <a:lstStyle/>
            <a:p>
              <a:pPr algn="ctr"/>
              <a:r>
                <a:rPr lang="en-US" sz="1050" dirty="0">
                  <a:solidFill>
                    <a:schemeClr val="dk2"/>
                  </a:solidFill>
                  <a:latin typeface="+mn-lt"/>
                  <a:ea typeface="+mn-ea"/>
                  <a:cs typeface="+mn-cs"/>
                </a:rPr>
                <a:t>MultiPie (best)</a:t>
              </a:r>
            </a:p>
          </p:txBody>
        </p:sp>
        <p:sp>
          <p:nvSpPr>
            <p:cNvPr id="20" name="TextBox 20"/>
            <p:cNvSpPr txBox="1"/>
            <p:nvPr/>
          </p:nvSpPr>
          <p:spPr>
            <a:xfrm>
              <a:off x="870966" y="5868352"/>
              <a:ext cx="4821640"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A 46-point swing across seven benchmarks for a single trained model.</a:t>
              </a:r>
            </a:p>
          </p:txBody>
        </p:sp>
      </p:grpSp>
      <p:grpSp>
        <p:nvGrpSpPr>
          <p:cNvPr id="28" name="Group 28"/>
          <p:cNvGrpSpPr/>
          <p:nvPr/>
        </p:nvGrpSpPr>
        <p:grpSpPr>
          <a:xfrm>
            <a:off x="6172200" y="1428750"/>
            <a:ext cx="5410200" cy="1428750"/>
            <a:chOff x="6172200" y="1428750"/>
            <a:chExt cx="5410200" cy="1428750"/>
          </a:xfrm>
        </p:grpSpPr>
        <p:sp>
          <p:nvSpPr>
            <p:cNvPr id="22" name="Rectangle 22"/>
            <p:cNvSpPr/>
            <p:nvPr/>
          </p:nvSpPr>
          <p:spPr>
            <a:xfrm>
              <a:off x="6172200" y="1428750"/>
              <a:ext cx="5410200" cy="1428750"/>
            </a:xfrm>
            <a:prstGeom prst="roundRect">
              <a:avLst>
                <a:gd name="adj" fmla="val 8000"/>
              </a:avLst>
            </a:prstGeom>
            <a:solidFill>
              <a:schemeClr val="accent5"/>
            </a:solidFill>
            <a:ln w="14288">
              <a:solidFill>
                <a:schemeClr val="accent4"/>
              </a:solidFill>
            </a:ln>
          </p:spPr>
        </p:sp>
        <p:sp>
          <p:nvSpPr>
            <p:cNvPr id="23" name="Rectangle 23"/>
            <p:cNvSpPr/>
            <p:nvPr/>
          </p:nvSpPr>
          <p:spPr>
            <a:xfrm>
              <a:off x="6172200" y="1428750"/>
              <a:ext cx="57150" cy="1428750"/>
            </a:xfrm>
            <a:prstGeom prst="roundRect">
              <a:avLst>
                <a:gd name="adj" fmla="val 50000"/>
              </a:avLst>
            </a:prstGeom>
            <a:solidFill>
              <a:srgbClr val="C2410C"/>
            </a:solidFill>
            <a:ln>
              <a:noFill/>
            </a:ln>
          </p:spPr>
        </p:sp>
        <p:sp>
          <p:nvSpPr>
            <p:cNvPr id="24" name="TextBox 24"/>
            <p:cNvSpPr txBox="1"/>
            <p:nvPr/>
          </p:nvSpPr>
          <p:spPr>
            <a:xfrm>
              <a:off x="6433947" y="1647349"/>
              <a:ext cx="2033284" cy="190690"/>
            </a:xfrm>
            <a:prstGeom prst="rect">
              <a:avLst/>
            </a:prstGeom>
            <a:noFill/>
            <a:ln>
              <a:noFill/>
            </a:ln>
          </p:spPr>
          <p:txBody>
            <a:bodyPr wrap="none" lIns="0" tIns="0" rIns="0" bIns="0" anchor="t" anchorCtr="0">
              <a:spAutoFit/>
            </a:bodyPr>
            <a:lstStyle/>
            <a:p>
              <a:pPr algn="l"/>
              <a:r>
                <a:rPr lang="en-US" sz="980" b="1" spc="90" dirty="0">
                  <a:solidFill>
                    <a:srgbClr val="C2410C"/>
                  </a:solidFill>
                  <a:latin typeface="+mn-lt"/>
                  <a:ea typeface="+mn-ea"/>
                  <a:cs typeface="+mn-cs"/>
                </a:rPr>
                <a:t>THE PATTERN GENERALIZES</a:t>
              </a:r>
            </a:p>
          </p:txBody>
        </p:sp>
        <p:sp>
          <p:nvSpPr>
            <p:cNvPr id="25" name="TextBox 25"/>
            <p:cNvSpPr txBox="1"/>
            <p:nvPr/>
          </p:nvSpPr>
          <p:spPr>
            <a:xfrm>
              <a:off x="6432804" y="1927860"/>
              <a:ext cx="3072505"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Faithfully recreating the ImageNet and</a:t>
              </a:r>
            </a:p>
          </p:txBody>
        </p:sp>
        <p:sp>
          <p:nvSpPr>
            <p:cNvPr id="26" name="TextBox 26"/>
            <p:cNvSpPr txBox="1"/>
            <p:nvPr/>
          </p:nvSpPr>
          <p:spPr>
            <a:xfrm>
              <a:off x="6432804" y="2156460"/>
              <a:ext cx="3307227"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CIFAR-10 test sets cut state-of-the-art</a:t>
              </a:r>
            </a:p>
          </p:txBody>
        </p:sp>
        <p:sp>
          <p:nvSpPr>
            <p:cNvPr id="27" name="TextBox 27"/>
            <p:cNvSpPr txBox="1"/>
            <p:nvPr/>
          </p:nvSpPr>
          <p:spPr>
            <a:xfrm>
              <a:off x="6432804" y="2385060"/>
              <a:ext cx="2298040"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accuracy by 3 to 15 percent.</a:t>
              </a:r>
            </a:p>
          </p:txBody>
        </p:sp>
      </p:grpSp>
      <p:grpSp>
        <p:nvGrpSpPr>
          <p:cNvPr id="36" name="Group 36"/>
          <p:cNvGrpSpPr/>
          <p:nvPr/>
        </p:nvGrpSpPr>
        <p:grpSpPr>
          <a:xfrm>
            <a:off x="6172200" y="3028950"/>
            <a:ext cx="5410200" cy="1428750"/>
            <a:chOff x="6172200" y="3028950"/>
            <a:chExt cx="5410200" cy="1428750"/>
          </a:xfrm>
        </p:grpSpPr>
        <p:sp>
          <p:nvSpPr>
            <p:cNvPr id="29" name="Rectangle 29"/>
            <p:cNvSpPr/>
            <p:nvPr/>
          </p:nvSpPr>
          <p:spPr>
            <a:xfrm>
              <a:off x="6172200" y="3028950"/>
              <a:ext cx="5410200" cy="1428750"/>
            </a:xfrm>
            <a:prstGeom prst="roundRect">
              <a:avLst>
                <a:gd name="adj" fmla="val 8000"/>
              </a:avLst>
            </a:prstGeom>
            <a:solidFill>
              <a:schemeClr val="accent1"/>
            </a:solidFill>
            <a:ln w="14288">
              <a:solidFill>
                <a:schemeClr val="accent1"/>
              </a:solidFill>
            </a:ln>
          </p:spPr>
        </p:sp>
        <p:sp>
          <p:nvSpPr>
            <p:cNvPr id="30" name="Rectangle 30"/>
            <p:cNvSpPr/>
            <p:nvPr/>
          </p:nvSpPr>
          <p:spPr>
            <a:xfrm>
              <a:off x="6172200" y="3028950"/>
              <a:ext cx="57150" cy="1428750"/>
            </a:xfrm>
            <a:prstGeom prst="roundRect">
              <a:avLst>
                <a:gd name="adj" fmla="val 50000"/>
              </a:avLst>
            </a:prstGeom>
            <a:solidFill>
              <a:schemeClr val="accent2"/>
            </a:solidFill>
            <a:ln>
              <a:noFill/>
            </a:ln>
          </p:spPr>
        </p:sp>
        <p:sp>
          <p:nvSpPr>
            <p:cNvPr id="31" name="TextBox 31"/>
            <p:cNvSpPr txBox="1"/>
            <p:nvPr/>
          </p:nvSpPr>
          <p:spPr>
            <a:xfrm>
              <a:off x="6433947" y="3247549"/>
              <a:ext cx="3617589" cy="190690"/>
            </a:xfrm>
            <a:prstGeom prst="rect">
              <a:avLst/>
            </a:prstGeom>
            <a:noFill/>
            <a:ln>
              <a:noFill/>
            </a:ln>
          </p:spPr>
          <p:txBody>
            <a:bodyPr wrap="none" lIns="0" tIns="0" rIns="0" bIns="0" anchor="t" anchorCtr="0">
              <a:spAutoFit/>
            </a:bodyPr>
            <a:lstStyle/>
            <a:p>
              <a:pPr algn="l"/>
              <a:r>
                <a:rPr lang="en-US" sz="980" b="1" spc="90" dirty="0">
                  <a:solidFill>
                    <a:schemeClr val="accent2"/>
                  </a:solidFill>
                  <a:latin typeface="+mn-lt"/>
                  <a:ea typeface="+mn-ea"/>
                  <a:cs typeface="+mn-cs"/>
                </a:rPr>
                <a:t>DEEPFAKE DETECTION FAILS WHERE IT MATTERS</a:t>
              </a:r>
            </a:p>
          </p:txBody>
        </p:sp>
        <p:sp>
          <p:nvSpPr>
            <p:cNvPr id="32" name="TextBox 32"/>
            <p:cNvSpPr txBox="1"/>
            <p:nvPr/>
          </p:nvSpPr>
          <p:spPr>
            <a:xfrm>
              <a:off x="6432804" y="3528060"/>
              <a:ext cx="3223663" cy="234696"/>
            </a:xfrm>
            <a:prstGeom prst="rect">
              <a:avLst/>
            </a:prstGeom>
            <a:noFill/>
            <a:ln>
              <a:noFill/>
            </a:ln>
          </p:spPr>
          <p:txBody>
            <a:bodyPr wrap="none" lIns="0" tIns="0" rIns="0" bIns="0" anchor="t" anchorCtr="0">
              <a:spAutoFit/>
            </a:bodyPr>
            <a:lstStyle/>
            <a:p>
              <a:pPr algn="l"/>
              <a:r>
                <a:rPr lang="en-US" sz="1200" dirty="0">
                  <a:solidFill>
                    <a:srgbClr val="FFFFFF"/>
                  </a:solidFill>
                  <a:latin typeface="+mn-lt"/>
                  <a:ea typeface="+mn-ea"/>
                  <a:cs typeface="+mn-cs"/>
                </a:rPr>
                <a:t>A leading DFDC detector gave only 2% and</a:t>
              </a:r>
            </a:p>
          </p:txBody>
        </p:sp>
        <p:sp>
          <p:nvSpPr>
            <p:cNvPr id="33" name="TextBox 33"/>
            <p:cNvSpPr txBox="1"/>
            <p:nvPr/>
          </p:nvSpPr>
          <p:spPr>
            <a:xfrm>
              <a:off x="6432804" y="3756660"/>
              <a:ext cx="2928061" cy="234696"/>
            </a:xfrm>
            <a:prstGeom prst="rect">
              <a:avLst/>
            </a:prstGeom>
            <a:noFill/>
            <a:ln>
              <a:noFill/>
            </a:ln>
          </p:spPr>
          <p:txBody>
            <a:bodyPr wrap="none" lIns="0" tIns="0" rIns="0" bIns="0" anchor="t" anchorCtr="0">
              <a:spAutoFit/>
            </a:bodyPr>
            <a:lstStyle/>
            <a:p>
              <a:pPr algn="l"/>
              <a:r>
                <a:rPr lang="en-US" sz="1200" dirty="0">
                  <a:solidFill>
                    <a:srgbClr val="FFFFFF"/>
                  </a:solidFill>
                  <a:latin typeface="+mn-lt"/>
                  <a:ea typeface="+mn-ea"/>
                  <a:cs typeface="+mn-cs"/>
                </a:rPr>
                <a:t>8% likelihood to genuine deepfakes of</a:t>
              </a:r>
            </a:p>
          </p:txBody>
        </p:sp>
        <p:sp>
          <p:nvSpPr>
            <p:cNvPr id="34" name="TextBox 34"/>
            <p:cNvSpPr txBox="1"/>
            <p:nvPr/>
          </p:nvSpPr>
          <p:spPr>
            <a:xfrm>
              <a:off x="6432804" y="3985260"/>
              <a:ext cx="3119514" cy="234696"/>
            </a:xfrm>
            <a:prstGeom prst="rect">
              <a:avLst/>
            </a:prstGeom>
            <a:noFill/>
            <a:ln>
              <a:noFill/>
            </a:ln>
          </p:spPr>
          <p:txBody>
            <a:bodyPr wrap="none" lIns="0" tIns="0" rIns="0" bIns="0" anchor="t" anchorCtr="0">
              <a:spAutoFit/>
            </a:bodyPr>
            <a:lstStyle/>
            <a:p>
              <a:pPr algn="l"/>
              <a:r>
                <a:rPr lang="en-US" sz="1200" dirty="0">
                  <a:solidFill>
                    <a:srgbClr val="FFFFFF"/>
                  </a:solidFill>
                  <a:latin typeface="+mn-lt"/>
                  <a:ea typeface="+mn-ea"/>
                  <a:cs typeface="+mn-cs"/>
                </a:rPr>
                <a:t>Kim Jong-un and Vladimir Putin: exactly</a:t>
              </a:r>
            </a:p>
          </p:txBody>
        </p:sp>
        <p:sp>
          <p:nvSpPr>
            <p:cNvPr id="35" name="TextBox 35"/>
            <p:cNvSpPr txBox="1"/>
            <p:nvPr/>
          </p:nvSpPr>
          <p:spPr>
            <a:xfrm>
              <a:off x="6432804" y="4213860"/>
              <a:ext cx="3000756" cy="234696"/>
            </a:xfrm>
            <a:prstGeom prst="rect">
              <a:avLst/>
            </a:prstGeom>
            <a:noFill/>
            <a:ln>
              <a:noFill/>
            </a:ln>
          </p:spPr>
          <p:txBody>
            <a:bodyPr wrap="none" lIns="0" tIns="0" rIns="0" bIns="0" anchor="t" anchorCtr="0">
              <a:spAutoFit/>
            </a:bodyPr>
            <a:lstStyle/>
            <a:p>
              <a:pPr algn="l"/>
              <a:r>
                <a:rPr lang="en-US" sz="1200" dirty="0">
                  <a:solidFill>
                    <a:srgbClr val="FFFFFF"/>
                  </a:solidFill>
                  <a:latin typeface="+mn-lt"/>
                  <a:ea typeface="+mn-ea"/>
                  <a:cs typeface="+mn-cs"/>
                </a:rPr>
                <a:t>the high-context videos that matter.</a:t>
              </a:r>
            </a:p>
          </p:txBody>
        </p:sp>
      </p:grpSp>
      <p:grpSp>
        <p:nvGrpSpPr>
          <p:cNvPr id="44" name="Group 44"/>
          <p:cNvGrpSpPr/>
          <p:nvPr/>
        </p:nvGrpSpPr>
        <p:grpSpPr>
          <a:xfrm>
            <a:off x="6172200" y="4629150"/>
            <a:ext cx="5410200" cy="1428750"/>
            <a:chOff x="6172200" y="4629150"/>
            <a:chExt cx="5410200" cy="1428750"/>
          </a:xfrm>
        </p:grpSpPr>
        <p:sp>
          <p:nvSpPr>
            <p:cNvPr id="37" name="Rectangle 37"/>
            <p:cNvSpPr/>
            <p:nvPr/>
          </p:nvSpPr>
          <p:spPr>
            <a:xfrm>
              <a:off x="6172200" y="4629150"/>
              <a:ext cx="5410200" cy="1428750"/>
            </a:xfrm>
            <a:prstGeom prst="roundRect">
              <a:avLst>
                <a:gd name="adj" fmla="val 8000"/>
              </a:avLst>
            </a:prstGeom>
            <a:solidFill>
              <a:schemeClr val="lt1"/>
            </a:solidFill>
            <a:ln w="14288">
              <a:solidFill>
                <a:schemeClr val="accent4"/>
              </a:solidFill>
            </a:ln>
          </p:spPr>
        </p:sp>
        <p:sp>
          <p:nvSpPr>
            <p:cNvPr id="38" name="Rectangle 38"/>
            <p:cNvSpPr/>
            <p:nvPr/>
          </p:nvSpPr>
          <p:spPr>
            <a:xfrm>
              <a:off x="6172200" y="4629150"/>
              <a:ext cx="57150" cy="1428750"/>
            </a:xfrm>
            <a:prstGeom prst="roundRect">
              <a:avLst>
                <a:gd name="adj" fmla="val 50000"/>
              </a:avLst>
            </a:prstGeom>
            <a:solidFill>
              <a:srgbClr val="0E9F9A"/>
            </a:solidFill>
            <a:ln>
              <a:noFill/>
            </a:ln>
          </p:spPr>
        </p:sp>
        <p:sp>
          <p:nvSpPr>
            <p:cNvPr id="39" name="TextBox 39"/>
            <p:cNvSpPr txBox="1"/>
            <p:nvPr/>
          </p:nvSpPr>
          <p:spPr>
            <a:xfrm>
              <a:off x="6433947" y="4847749"/>
              <a:ext cx="1111249" cy="190690"/>
            </a:xfrm>
            <a:prstGeom prst="rect">
              <a:avLst/>
            </a:prstGeom>
            <a:noFill/>
            <a:ln>
              <a:noFill/>
            </a:ln>
          </p:spPr>
          <p:txBody>
            <a:bodyPr wrap="none" lIns="0" tIns="0" rIns="0" bIns="0" anchor="t" anchorCtr="0">
              <a:spAutoFit/>
            </a:bodyPr>
            <a:lstStyle/>
            <a:p>
              <a:pPr algn="l"/>
              <a:r>
                <a:rPr lang="en-US" sz="980" b="1" spc="90" dirty="0">
                  <a:solidFill>
                    <a:srgbClr val="0E9F9A"/>
                  </a:solidFill>
                  <a:latin typeface="+mn-lt"/>
                  <a:ea typeface="+mn-ea"/>
                  <a:cs typeface="+mn-cs"/>
                </a:rPr>
                <a:t>DERMATOLOGY</a:t>
              </a:r>
            </a:p>
          </p:txBody>
        </p:sp>
        <p:sp>
          <p:nvSpPr>
            <p:cNvPr id="40" name="TextBox 40"/>
            <p:cNvSpPr txBox="1"/>
            <p:nvPr/>
          </p:nvSpPr>
          <p:spPr>
            <a:xfrm>
              <a:off x="6432804" y="5128260"/>
              <a:ext cx="3240207"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Benchmarks that barely include dark skin</a:t>
              </a:r>
            </a:p>
          </p:txBody>
        </p:sp>
        <p:sp>
          <p:nvSpPr>
            <p:cNvPr id="41" name="TextBox 41"/>
            <p:cNvSpPr txBox="1"/>
            <p:nvPr/>
          </p:nvSpPr>
          <p:spPr>
            <a:xfrm>
              <a:off x="6432804" y="5356860"/>
              <a:ext cx="3251149"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let systematic errors hide in plain sight,</a:t>
              </a:r>
            </a:p>
          </p:txBody>
        </p:sp>
        <p:sp>
          <p:nvSpPr>
            <p:cNvPr id="42" name="TextBox 42"/>
            <p:cNvSpPr txBox="1"/>
            <p:nvPr/>
          </p:nvSpPr>
          <p:spPr>
            <a:xfrm>
              <a:off x="6432804" y="5585460"/>
              <a:ext cx="2782672"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unmeasured by the test set that is</a:t>
              </a:r>
            </a:p>
          </p:txBody>
        </p:sp>
        <p:sp>
          <p:nvSpPr>
            <p:cNvPr id="43" name="TextBox 43"/>
            <p:cNvSpPr txBox="1"/>
            <p:nvPr/>
          </p:nvSpPr>
          <p:spPr>
            <a:xfrm>
              <a:off x="6432804" y="5814060"/>
              <a:ext cx="1966874"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supposed to catch them.</a:t>
              </a:r>
            </a:p>
          </p:txBody>
        </p:sp>
      </p:grpSp>
      <p:grpSp>
        <p:nvGrpSpPr>
          <p:cNvPr id="47" name="Group 47"/>
          <p:cNvGrpSpPr/>
          <p:nvPr/>
        </p:nvGrpSpPr>
        <p:grpSpPr>
          <a:xfrm>
            <a:off x="604838" y="6597491"/>
            <a:ext cx="10982324" cy="161925"/>
            <a:chOff x="604838" y="6597491"/>
            <a:chExt cx="10982324" cy="161925"/>
          </a:xfrm>
        </p:grpSpPr>
        <p:sp>
          <p:nvSpPr>
            <p:cNvPr id="45" name="TextBox 45"/>
            <p:cNvSpPr txBox="1"/>
            <p:nvPr/>
          </p:nvSpPr>
          <p:spPr>
            <a:xfrm>
              <a:off x="604838" y="6597491"/>
              <a:ext cx="1222884" cy="161925"/>
            </a:xfrm>
            <a:prstGeom prst="rect">
              <a:avLst/>
            </a:prstGeom>
            <a:noFill/>
            <a:ln>
              <a:noFill/>
            </a:ln>
          </p:spPr>
          <p:txBody>
            <a:bodyPr wrap="none" lIns="0" tIns="0" rIns="0" bIns="0" anchor="t" anchorCtr="0">
              <a:spAutoFit/>
            </a:bodyPr>
            <a:lstStyle/>
            <a:p>
              <a:pPr algn="l"/>
              <a:r>
                <a:rPr lang="en-US" sz="820" dirty="0">
                  <a:solidFill>
                    <a:srgbClr val="94A3B8"/>
                  </a:solidFill>
                  <a:latin typeface="+mn-lt"/>
                  <a:ea typeface="+mn-ea"/>
                  <a:cs typeface="+mn-cs"/>
                </a:rPr>
                <a:t>Groh 2022 · Key Result</a:t>
              </a:r>
            </a:p>
          </p:txBody>
        </p:sp>
        <p:sp>
          <p:nvSpPr>
            <p:cNvPr id="46" name="TextBox 46"/>
            <p:cNvSpPr txBox="1"/>
            <p:nvPr/>
          </p:nvSpPr>
          <p:spPr>
            <a:xfrm>
              <a:off x="11456210" y="6597491"/>
              <a:ext cx="130952" cy="161925"/>
            </a:xfrm>
            <a:prstGeom prst="rect">
              <a:avLst/>
            </a:prstGeom>
            <a:noFill/>
            <a:ln>
              <a:noFill/>
            </a:ln>
          </p:spPr>
          <p:txBody>
            <a:bodyPr wrap="none" lIns="0" tIns="0" rIns="0" bIns="0" anchor="t" anchorCtr="0">
              <a:spAutoFit/>
            </a:bodyPr>
            <a:lstStyle/>
            <a:p>
              <a:pPr algn="r"/>
              <a:r>
                <a:rPr lang="en-US" sz="820" dirty="0">
                  <a:solidFill>
                    <a:srgbClr val="94A3B8"/>
                  </a:solidFill>
                  <a:latin typeface="+mn-lt"/>
                  <a:ea typeface="+mn-ea"/>
                  <a:cs typeface="+mn-cs"/>
                </a:rPr>
                <a:t>07</a:t>
              </a:r>
            </a:p>
          </p:txBody>
        </p:sp>
      </p:grpSp>
      <p:sp>
        <p:nvSpPr>
          <p:cNvPr id="48" name="cue_s07_c1_headline_evidence_how_wildly_perform" title="cue_s07_c1_headline_evidence_how_wildly_perform" descr="cue_s07_c1_headline_evidence_how_wildly_perform The headline evidence is how wildly performance swings with the benchmark. One facial expression model, built on AlexNet, ranges from just 48.6 percent accuracy on SFEW to 94.8 percent on MultiPie, against a random baseline of 14.2 percent, so which benchmark"/>
          <p:cNvSpPr/>
          <p:nvPr/>
        </p:nvSpPr>
        <p:spPr>
          <a:xfrm>
            <a:off x="609600" y="1428521"/>
            <a:ext cx="5334000" cy="4644923"/>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cue_s07_c2_pattern_generalizes_when_researchers" title="cue_s07_c2_pattern_generalizes_when_researchers" descr="cue_s07_c2_pattern_generalizes_when_researchers The pattern generalizes: when researchers faithfully recreated the ImageNet and CIFAR-10 test sets, state-of-the-art accuracy fell by three to fifteen percent."/>
          <p:cNvSpPr/>
          <p:nvPr/>
        </p:nvSpPr>
        <p:spPr>
          <a:xfrm>
            <a:off x="6171590" y="1428521"/>
            <a:ext cx="5409590" cy="14285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cue_s07_c3_leading_dfdc_deepfake_detector_assig" title="cue_s07_c3_leading_dfdc_deepfake_detector_assig" descr="cue_s07_c3_leading_dfdc_deepfake_detector_assig And a leading DFDC deepfake detector assigned only two and eight percent likelihood to genuine deepfakes of Kim Jong-un and Vladimir Putin, precisely the high-context videos that matter in the real world."/>
          <p:cNvSpPr/>
          <p:nvPr/>
        </p:nvSpPr>
        <p:spPr>
          <a:xfrm>
            <a:off x="6171590" y="3029178"/>
            <a:ext cx="5409590" cy="14285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cue_s07_c4_dermatology_benchmarks_barely_includ" title="cue_s07_c4_dermatology_benchmarks_barely_includ" descr="cue_s07_c4_dermatology_benchmarks_barely_includ In dermatology, benchmarks that barely include dark skin let systematic errors hide in plain sight."/>
          <p:cNvSpPr/>
          <p:nvPr/>
        </p:nvSpPr>
        <p:spPr>
          <a:xfrm>
            <a:off x="6171590" y="4629150"/>
            <a:ext cx="5409590" cy="14285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609600" y="552450"/>
            <a:ext cx="6752156" cy="656939"/>
            <a:chOff x="609600" y="552450"/>
            <a:chExt cx="6752156" cy="656939"/>
          </a:xfrm>
        </p:grpSpPr>
        <p:sp>
          <p:nvSpPr>
            <p:cNvPr id="2" name="Rectangle 2"/>
            <p:cNvSpPr/>
            <p:nvPr/>
          </p:nvSpPr>
          <p:spPr>
            <a:xfrm>
              <a:off x="609600" y="552450"/>
              <a:ext cx="57150" cy="400050"/>
            </a:xfrm>
            <a:prstGeom prst="rect">
              <a:avLst/>
            </a:prstGeom>
            <a:solidFill>
              <a:schemeClr val="accent2"/>
            </a:solidFill>
            <a:ln>
              <a:noFill/>
            </a:ln>
          </p:spPr>
        </p:sp>
        <p:sp>
          <p:nvSpPr>
            <p:cNvPr id="3" name="TextBox 3"/>
            <p:cNvSpPr txBox="1"/>
            <p:nvPr/>
          </p:nvSpPr>
          <p:spPr>
            <a:xfrm>
              <a:off x="826770" y="614362"/>
              <a:ext cx="6534986" cy="440055"/>
            </a:xfrm>
            <a:prstGeom prst="rect">
              <a:avLst/>
            </a:prstGeom>
            <a:noFill/>
            <a:ln>
              <a:noFill/>
            </a:ln>
          </p:spPr>
          <p:txBody>
            <a:bodyPr wrap="none" lIns="0" tIns="0" rIns="0" bIns="0" anchor="t" anchorCtr="0">
              <a:spAutoFit/>
            </a:bodyPr>
            <a:lstStyle/>
            <a:p>
              <a:pPr algn="l"/>
              <a:r>
                <a:rPr lang="en-US" sz="2250" b="1" dirty="0">
                  <a:solidFill>
                    <a:schemeClr val="accent1"/>
                  </a:solidFill>
                  <a:latin typeface="Georgia"/>
                  <a:ea typeface="Georgia"/>
                  <a:cs typeface="Georgia"/>
                </a:rPr>
                <a:t>Five numbers that anchor the argument</a:t>
              </a:r>
            </a:p>
          </p:txBody>
        </p:sp>
        <p:sp>
          <p:nvSpPr>
            <p:cNvPr id="4" name="TextBox 4"/>
            <p:cNvSpPr txBox="1"/>
            <p:nvPr/>
          </p:nvSpPr>
          <p:spPr>
            <a:xfrm>
              <a:off x="833247" y="1018699"/>
              <a:ext cx="4032055" cy="190690"/>
            </a:xfrm>
            <a:prstGeom prst="rect">
              <a:avLst/>
            </a:prstGeom>
            <a:noFill/>
            <a:ln>
              <a:noFill/>
            </a:ln>
          </p:spPr>
          <p:txBody>
            <a:bodyPr wrap="none" lIns="0" tIns="0" rIns="0" bIns="0" anchor="t" anchorCtr="0">
              <a:spAutoFit/>
            </a:bodyPr>
            <a:lstStyle/>
            <a:p>
              <a:pPr algn="l"/>
              <a:r>
                <a:rPr lang="en-US" sz="980" b="1" spc="112" dirty="0">
                  <a:solidFill>
                    <a:schemeClr val="dk2"/>
                  </a:solidFill>
                  <a:latin typeface="+mn-lt"/>
                  <a:ea typeface="+mn-ea"/>
                  <a:cs typeface="+mn-cs"/>
                </a:rPr>
                <a:t>HEADLINE NUMBERS · CONTEXT DECIDES THE SCORE</a:t>
              </a:r>
            </a:p>
          </p:txBody>
        </p:sp>
      </p:grpSp>
      <p:grpSp>
        <p:nvGrpSpPr>
          <p:cNvPr id="12" name="Group 12"/>
          <p:cNvGrpSpPr/>
          <p:nvPr/>
        </p:nvGrpSpPr>
        <p:grpSpPr>
          <a:xfrm>
            <a:off x="609600" y="1428750"/>
            <a:ext cx="5372100" cy="1905000"/>
            <a:chOff x="609600" y="1428750"/>
            <a:chExt cx="5372100" cy="1905000"/>
          </a:xfrm>
        </p:grpSpPr>
        <p:sp>
          <p:nvSpPr>
            <p:cNvPr id="6" name="Rectangle 6"/>
            <p:cNvSpPr/>
            <p:nvPr/>
          </p:nvSpPr>
          <p:spPr>
            <a:xfrm>
              <a:off x="609600" y="1428750"/>
              <a:ext cx="5372100" cy="1905000"/>
            </a:xfrm>
            <a:prstGeom prst="roundRect">
              <a:avLst>
                <a:gd name="adj" fmla="val 6000"/>
              </a:avLst>
            </a:prstGeom>
            <a:solidFill>
              <a:schemeClr val="lt1"/>
            </a:solidFill>
            <a:ln w="14288">
              <a:solidFill>
                <a:schemeClr val="accent4"/>
              </a:solidFill>
            </a:ln>
          </p:spPr>
        </p:sp>
        <p:sp>
          <p:nvSpPr>
            <p:cNvPr id="7" name="Rectangle 7"/>
            <p:cNvSpPr/>
            <p:nvPr/>
          </p:nvSpPr>
          <p:spPr>
            <a:xfrm>
              <a:off x="609600" y="1428750"/>
              <a:ext cx="57150" cy="1905000"/>
            </a:xfrm>
            <a:prstGeom prst="roundRect">
              <a:avLst>
                <a:gd name="adj" fmla="val 50000"/>
              </a:avLst>
            </a:prstGeom>
            <a:solidFill>
              <a:schemeClr val="accent2"/>
            </a:solidFill>
            <a:ln>
              <a:noFill/>
            </a:ln>
          </p:spPr>
        </p:sp>
        <p:sp>
          <p:nvSpPr>
            <p:cNvPr id="8" name="TextBox 8"/>
            <p:cNvSpPr txBox="1"/>
            <p:nvPr/>
          </p:nvSpPr>
          <p:spPr>
            <a:xfrm>
              <a:off x="871347" y="1666399"/>
              <a:ext cx="2523586" cy="190690"/>
            </a:xfrm>
            <a:prstGeom prst="rect">
              <a:avLst/>
            </a:prstGeom>
            <a:noFill/>
            <a:ln>
              <a:noFill/>
            </a:ln>
          </p:spPr>
          <p:txBody>
            <a:bodyPr wrap="none" lIns="0" tIns="0" rIns="0" bIns="0" anchor="t" anchorCtr="0">
              <a:spAutoFit/>
            </a:bodyPr>
            <a:lstStyle/>
            <a:p>
              <a:pPr algn="l"/>
              <a:r>
                <a:rPr lang="en-US" sz="980" b="1" spc="90" dirty="0">
                  <a:solidFill>
                    <a:schemeClr val="accent2"/>
                  </a:solidFill>
                  <a:latin typeface="+mn-lt"/>
                  <a:ea typeface="+mn-ea"/>
                  <a:cs typeface="+mn-cs"/>
                </a:rPr>
                <a:t>ONE MODEL, SEVEN BENCHMARKS</a:t>
              </a:r>
            </a:p>
          </p:txBody>
        </p:sp>
        <p:sp>
          <p:nvSpPr>
            <p:cNvPr id="9" name="TextBox 9"/>
            <p:cNvSpPr txBox="1"/>
            <p:nvPr/>
          </p:nvSpPr>
          <p:spPr>
            <a:xfrm>
              <a:off x="858774" y="2065972"/>
              <a:ext cx="3281218" cy="674751"/>
            </a:xfrm>
            <a:prstGeom prst="rect">
              <a:avLst/>
            </a:prstGeom>
            <a:noFill/>
            <a:ln>
              <a:noFill/>
            </a:ln>
          </p:spPr>
          <p:txBody>
            <a:bodyPr wrap="none" lIns="0" tIns="0" rIns="0" bIns="0" anchor="t" anchorCtr="0">
              <a:spAutoFit/>
            </a:bodyPr>
            <a:lstStyle/>
            <a:p>
              <a:pPr algn="l"/>
              <a:r>
                <a:rPr lang="en-US" sz="3450" b="1" dirty="0">
                  <a:solidFill>
                    <a:schemeClr val="accent1"/>
                  </a:solidFill>
                  <a:latin typeface="Georgia"/>
                  <a:ea typeface="Georgia"/>
                  <a:cs typeface="Georgia"/>
                </a:rPr>
                <a:t>48.6 → 94.8%</a:t>
              </a:r>
            </a:p>
          </p:txBody>
        </p:sp>
        <p:sp>
          <p:nvSpPr>
            <p:cNvPr id="10" name="TextBox 10"/>
            <p:cNvSpPr txBox="1"/>
            <p:nvPr/>
          </p:nvSpPr>
          <p:spPr>
            <a:xfrm>
              <a:off x="870204" y="2651760"/>
              <a:ext cx="3611763"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Accuracy range for a single facial-expression</a:t>
              </a:r>
            </a:p>
          </p:txBody>
        </p:sp>
        <p:sp>
          <p:nvSpPr>
            <p:cNvPr id="11" name="TextBox 11"/>
            <p:cNvSpPr txBox="1"/>
            <p:nvPr/>
          </p:nvSpPr>
          <p:spPr>
            <a:xfrm>
              <a:off x="870204" y="2880360"/>
              <a:ext cx="3210763"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model, against a 14.2% random baseline.</a:t>
              </a:r>
            </a:p>
          </p:txBody>
        </p:sp>
      </p:grpSp>
      <p:grpSp>
        <p:nvGrpSpPr>
          <p:cNvPr id="19" name="Group 19"/>
          <p:cNvGrpSpPr/>
          <p:nvPr/>
        </p:nvGrpSpPr>
        <p:grpSpPr>
          <a:xfrm>
            <a:off x="6210300" y="1428750"/>
            <a:ext cx="5372100" cy="1905000"/>
            <a:chOff x="6210300" y="1428750"/>
            <a:chExt cx="5372100" cy="1905000"/>
          </a:xfrm>
        </p:grpSpPr>
        <p:sp>
          <p:nvSpPr>
            <p:cNvPr id="13" name="Rectangle 13"/>
            <p:cNvSpPr/>
            <p:nvPr/>
          </p:nvSpPr>
          <p:spPr>
            <a:xfrm>
              <a:off x="6210300" y="1428750"/>
              <a:ext cx="5372100" cy="1905000"/>
            </a:xfrm>
            <a:prstGeom prst="roundRect">
              <a:avLst>
                <a:gd name="adj" fmla="val 6000"/>
              </a:avLst>
            </a:prstGeom>
            <a:solidFill>
              <a:schemeClr val="lt1"/>
            </a:solidFill>
            <a:ln w="14288">
              <a:solidFill>
                <a:schemeClr val="accent4"/>
              </a:solidFill>
            </a:ln>
          </p:spPr>
        </p:sp>
        <p:sp>
          <p:nvSpPr>
            <p:cNvPr id="14" name="Rectangle 14"/>
            <p:cNvSpPr/>
            <p:nvPr/>
          </p:nvSpPr>
          <p:spPr>
            <a:xfrm>
              <a:off x="6210300" y="1428750"/>
              <a:ext cx="57150" cy="1905000"/>
            </a:xfrm>
            <a:prstGeom prst="roundRect">
              <a:avLst>
                <a:gd name="adj" fmla="val 50000"/>
              </a:avLst>
            </a:prstGeom>
            <a:solidFill>
              <a:srgbClr val="C2410C"/>
            </a:solidFill>
            <a:ln>
              <a:noFill/>
            </a:ln>
          </p:spPr>
        </p:sp>
        <p:sp>
          <p:nvSpPr>
            <p:cNvPr id="15" name="TextBox 15"/>
            <p:cNvSpPr txBox="1"/>
            <p:nvPr/>
          </p:nvSpPr>
          <p:spPr>
            <a:xfrm>
              <a:off x="6472047" y="1666399"/>
              <a:ext cx="1696666" cy="190690"/>
            </a:xfrm>
            <a:prstGeom prst="rect">
              <a:avLst/>
            </a:prstGeom>
            <a:noFill/>
            <a:ln>
              <a:noFill/>
            </a:ln>
          </p:spPr>
          <p:txBody>
            <a:bodyPr wrap="none" lIns="0" tIns="0" rIns="0" bIns="0" anchor="t" anchorCtr="0">
              <a:spAutoFit/>
            </a:bodyPr>
            <a:lstStyle/>
            <a:p>
              <a:pPr algn="l"/>
              <a:r>
                <a:rPr lang="en-US" sz="980" b="1" spc="90" dirty="0">
                  <a:solidFill>
                    <a:srgbClr val="C2410C"/>
                  </a:solidFill>
                  <a:latin typeface="+mn-lt"/>
                  <a:ea typeface="+mn-ea"/>
                  <a:cs typeface="+mn-cs"/>
                </a:rPr>
                <a:t>RECREATED TEST SETS</a:t>
              </a:r>
            </a:p>
          </p:txBody>
        </p:sp>
        <p:sp>
          <p:nvSpPr>
            <p:cNvPr id="16" name="TextBox 16"/>
            <p:cNvSpPr txBox="1"/>
            <p:nvPr/>
          </p:nvSpPr>
          <p:spPr>
            <a:xfrm>
              <a:off x="6459474" y="2065972"/>
              <a:ext cx="2147636" cy="674751"/>
            </a:xfrm>
            <a:prstGeom prst="rect">
              <a:avLst/>
            </a:prstGeom>
            <a:noFill/>
            <a:ln>
              <a:noFill/>
            </a:ln>
          </p:spPr>
          <p:txBody>
            <a:bodyPr wrap="none" lIns="0" tIns="0" rIns="0" bIns="0" anchor="t" anchorCtr="0">
              <a:spAutoFit/>
            </a:bodyPr>
            <a:lstStyle/>
            <a:p>
              <a:pPr algn="l"/>
              <a:r>
                <a:rPr lang="en-US" sz="3450" b="1" dirty="0">
                  <a:solidFill>
                    <a:schemeClr val="accent1"/>
                  </a:solidFill>
                  <a:latin typeface="Georgia"/>
                  <a:ea typeface="Georgia"/>
                  <a:cs typeface="Georgia"/>
                </a:rPr>
                <a:t>3 to 15%</a:t>
              </a:r>
            </a:p>
          </p:txBody>
        </p:sp>
        <p:sp>
          <p:nvSpPr>
            <p:cNvPr id="17" name="TextBox 17"/>
            <p:cNvSpPr txBox="1"/>
            <p:nvPr/>
          </p:nvSpPr>
          <p:spPr>
            <a:xfrm>
              <a:off x="6470904" y="2651760"/>
              <a:ext cx="3830164"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Drop in state-of-the-art accuracy on faithfully</a:t>
              </a:r>
            </a:p>
          </p:txBody>
        </p:sp>
        <p:sp>
          <p:nvSpPr>
            <p:cNvPr id="18" name="TextBox 18"/>
            <p:cNvSpPr txBox="1"/>
            <p:nvPr/>
          </p:nvSpPr>
          <p:spPr>
            <a:xfrm>
              <a:off x="6470904" y="2880360"/>
              <a:ext cx="3535264"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recreated ImageNet and CIFAR-10 test sets.</a:t>
              </a:r>
            </a:p>
          </p:txBody>
        </p:sp>
      </p:grpSp>
      <p:grpSp>
        <p:nvGrpSpPr>
          <p:cNvPr id="26" name="Group 26"/>
          <p:cNvGrpSpPr/>
          <p:nvPr/>
        </p:nvGrpSpPr>
        <p:grpSpPr>
          <a:xfrm>
            <a:off x="609600" y="3467100"/>
            <a:ext cx="5372100" cy="1905000"/>
            <a:chOff x="609600" y="3467100"/>
            <a:chExt cx="5372100" cy="1905000"/>
          </a:xfrm>
        </p:grpSpPr>
        <p:sp>
          <p:nvSpPr>
            <p:cNvPr id="20" name="Rectangle 20"/>
            <p:cNvSpPr/>
            <p:nvPr/>
          </p:nvSpPr>
          <p:spPr>
            <a:xfrm>
              <a:off x="609600" y="3467100"/>
              <a:ext cx="5372100" cy="1905000"/>
            </a:xfrm>
            <a:prstGeom prst="roundRect">
              <a:avLst>
                <a:gd name="adj" fmla="val 6000"/>
              </a:avLst>
            </a:prstGeom>
            <a:solidFill>
              <a:schemeClr val="accent1"/>
            </a:solidFill>
            <a:ln w="14288">
              <a:solidFill>
                <a:schemeClr val="accent1"/>
              </a:solidFill>
            </a:ln>
          </p:spPr>
        </p:sp>
        <p:sp>
          <p:nvSpPr>
            <p:cNvPr id="21" name="Rectangle 21"/>
            <p:cNvSpPr/>
            <p:nvPr/>
          </p:nvSpPr>
          <p:spPr>
            <a:xfrm>
              <a:off x="609600" y="3467100"/>
              <a:ext cx="57150" cy="1905000"/>
            </a:xfrm>
            <a:prstGeom prst="roundRect">
              <a:avLst>
                <a:gd name="adj" fmla="val 50000"/>
              </a:avLst>
            </a:prstGeom>
            <a:solidFill>
              <a:schemeClr val="accent2"/>
            </a:solidFill>
            <a:ln>
              <a:noFill/>
            </a:ln>
          </p:spPr>
        </p:sp>
        <p:sp>
          <p:nvSpPr>
            <p:cNvPr id="22" name="TextBox 22"/>
            <p:cNvSpPr txBox="1"/>
            <p:nvPr/>
          </p:nvSpPr>
          <p:spPr>
            <a:xfrm>
              <a:off x="871347" y="3704749"/>
              <a:ext cx="3174867" cy="190690"/>
            </a:xfrm>
            <a:prstGeom prst="rect">
              <a:avLst/>
            </a:prstGeom>
            <a:noFill/>
            <a:ln>
              <a:noFill/>
            </a:ln>
          </p:spPr>
          <p:txBody>
            <a:bodyPr wrap="none" lIns="0" tIns="0" rIns="0" bIns="0" anchor="t" anchorCtr="0">
              <a:spAutoFit/>
            </a:bodyPr>
            <a:lstStyle/>
            <a:p>
              <a:pPr algn="l"/>
              <a:r>
                <a:rPr lang="en-US" sz="980" b="1" spc="90" dirty="0">
                  <a:solidFill>
                    <a:schemeClr val="accent2"/>
                  </a:solidFill>
                  <a:latin typeface="+mn-lt"/>
                  <a:ea typeface="+mn-ea"/>
                  <a:cs typeface="+mn-cs"/>
                </a:rPr>
                <a:t>DEEPFAKE DETECTOR ON REAL DEEPFAKES</a:t>
              </a:r>
            </a:p>
          </p:txBody>
        </p:sp>
        <p:sp>
          <p:nvSpPr>
            <p:cNvPr id="23" name="TextBox 23"/>
            <p:cNvSpPr txBox="1"/>
            <p:nvPr/>
          </p:nvSpPr>
          <p:spPr>
            <a:xfrm>
              <a:off x="858774" y="4104322"/>
              <a:ext cx="1967294" cy="674751"/>
            </a:xfrm>
            <a:prstGeom prst="rect">
              <a:avLst/>
            </a:prstGeom>
            <a:noFill/>
            <a:ln>
              <a:noFill/>
            </a:ln>
          </p:spPr>
          <p:txBody>
            <a:bodyPr wrap="none" lIns="0" tIns="0" rIns="0" bIns="0" anchor="t" anchorCtr="0">
              <a:spAutoFit/>
            </a:bodyPr>
            <a:lstStyle/>
            <a:p>
              <a:pPr algn="l"/>
              <a:r>
                <a:rPr lang="en-US" sz="3450" b="1" dirty="0">
                  <a:solidFill>
                    <a:srgbClr val="FFFFFF"/>
                  </a:solidFill>
                  <a:latin typeface="Georgia"/>
                  <a:ea typeface="Georgia"/>
                  <a:cs typeface="Georgia"/>
                </a:rPr>
                <a:t>2% &amp; 8%</a:t>
              </a:r>
            </a:p>
          </p:txBody>
        </p:sp>
        <p:sp>
          <p:nvSpPr>
            <p:cNvPr id="24" name="TextBox 24"/>
            <p:cNvSpPr txBox="1"/>
            <p:nvPr/>
          </p:nvSpPr>
          <p:spPr>
            <a:xfrm>
              <a:off x="870204" y="4690110"/>
              <a:ext cx="3579278" cy="234696"/>
            </a:xfrm>
            <a:prstGeom prst="rect">
              <a:avLst/>
            </a:prstGeom>
            <a:noFill/>
            <a:ln>
              <a:noFill/>
            </a:ln>
          </p:spPr>
          <p:txBody>
            <a:bodyPr wrap="none" lIns="0" tIns="0" rIns="0" bIns="0" anchor="t" anchorCtr="0">
              <a:spAutoFit/>
            </a:bodyPr>
            <a:lstStyle/>
            <a:p>
              <a:pPr algn="l"/>
              <a:r>
                <a:rPr lang="en-US" sz="1200" dirty="0">
                  <a:solidFill>
                    <a:srgbClr val="EEF2F9"/>
                  </a:solidFill>
                  <a:latin typeface="+mn-lt"/>
                  <a:ea typeface="+mn-ea"/>
                  <a:cs typeface="+mn-cs"/>
                </a:rPr>
                <a:t>Likelihood a leading detector assigned to real</a:t>
              </a:r>
            </a:p>
          </p:txBody>
        </p:sp>
        <p:sp>
          <p:nvSpPr>
            <p:cNvPr id="25" name="TextBox 25"/>
            <p:cNvSpPr txBox="1"/>
            <p:nvPr/>
          </p:nvSpPr>
          <p:spPr>
            <a:xfrm>
              <a:off x="870204" y="4918710"/>
              <a:ext cx="2588819" cy="234696"/>
            </a:xfrm>
            <a:prstGeom prst="rect">
              <a:avLst/>
            </a:prstGeom>
            <a:noFill/>
            <a:ln>
              <a:noFill/>
            </a:ln>
          </p:spPr>
          <p:txBody>
            <a:bodyPr wrap="none" lIns="0" tIns="0" rIns="0" bIns="0" anchor="t" anchorCtr="0">
              <a:spAutoFit/>
            </a:bodyPr>
            <a:lstStyle/>
            <a:p>
              <a:pPr algn="l"/>
              <a:r>
                <a:rPr lang="en-US" sz="1200" dirty="0">
                  <a:solidFill>
                    <a:srgbClr val="EEF2F9"/>
                  </a:solidFill>
                  <a:latin typeface="+mn-lt"/>
                  <a:ea typeface="+mn-ea"/>
                  <a:cs typeface="+mn-cs"/>
                </a:rPr>
                <a:t>deepfakes of two world leaders.</a:t>
              </a:r>
            </a:p>
          </p:txBody>
        </p:sp>
      </p:grpSp>
      <p:grpSp>
        <p:nvGrpSpPr>
          <p:cNvPr id="33" name="Group 33"/>
          <p:cNvGrpSpPr/>
          <p:nvPr/>
        </p:nvGrpSpPr>
        <p:grpSpPr>
          <a:xfrm>
            <a:off x="6210300" y="3467100"/>
            <a:ext cx="5372100" cy="1905000"/>
            <a:chOff x="6210300" y="3467100"/>
            <a:chExt cx="5372100" cy="1905000"/>
          </a:xfrm>
        </p:grpSpPr>
        <p:sp>
          <p:nvSpPr>
            <p:cNvPr id="27" name="Rectangle 27"/>
            <p:cNvSpPr/>
            <p:nvPr/>
          </p:nvSpPr>
          <p:spPr>
            <a:xfrm>
              <a:off x="6210300" y="3467100"/>
              <a:ext cx="5372100" cy="1905000"/>
            </a:xfrm>
            <a:prstGeom prst="roundRect">
              <a:avLst>
                <a:gd name="adj" fmla="val 6000"/>
              </a:avLst>
            </a:prstGeom>
            <a:solidFill>
              <a:schemeClr val="lt1"/>
            </a:solidFill>
            <a:ln w="14288">
              <a:solidFill>
                <a:schemeClr val="accent4"/>
              </a:solidFill>
            </a:ln>
          </p:spPr>
        </p:sp>
        <p:sp>
          <p:nvSpPr>
            <p:cNvPr id="28" name="Rectangle 28"/>
            <p:cNvSpPr/>
            <p:nvPr/>
          </p:nvSpPr>
          <p:spPr>
            <a:xfrm>
              <a:off x="6210300" y="3467100"/>
              <a:ext cx="57150" cy="1905000"/>
            </a:xfrm>
            <a:prstGeom prst="roundRect">
              <a:avLst>
                <a:gd name="adj" fmla="val 50000"/>
              </a:avLst>
            </a:prstGeom>
            <a:solidFill>
              <a:srgbClr val="0E9F9A"/>
            </a:solidFill>
            <a:ln>
              <a:noFill/>
            </a:ln>
          </p:spPr>
        </p:sp>
        <p:sp>
          <p:nvSpPr>
            <p:cNvPr id="29" name="TextBox 29"/>
            <p:cNvSpPr txBox="1"/>
            <p:nvPr/>
          </p:nvSpPr>
          <p:spPr>
            <a:xfrm>
              <a:off x="6472047" y="3704749"/>
              <a:ext cx="1943652" cy="190690"/>
            </a:xfrm>
            <a:prstGeom prst="rect">
              <a:avLst/>
            </a:prstGeom>
            <a:noFill/>
            <a:ln>
              <a:noFill/>
            </a:ln>
          </p:spPr>
          <p:txBody>
            <a:bodyPr wrap="none" lIns="0" tIns="0" rIns="0" bIns="0" anchor="t" anchorCtr="0">
              <a:spAutoFit/>
            </a:bodyPr>
            <a:lstStyle/>
            <a:p>
              <a:pPr algn="l"/>
              <a:r>
                <a:rPr lang="en-US" sz="980" b="1" spc="90" dirty="0">
                  <a:solidFill>
                    <a:srgbClr val="0E9F9A"/>
                  </a:solidFill>
                  <a:latin typeface="+mn-lt"/>
                  <a:ea typeface="+mn-ea"/>
                  <a:cs typeface="+mn-cs"/>
                </a:rPr>
                <a:t>DERMATOLOGY COVERAGE</a:t>
              </a:r>
            </a:p>
          </p:txBody>
        </p:sp>
        <p:sp>
          <p:nvSpPr>
            <p:cNvPr id="30" name="TextBox 30"/>
            <p:cNvSpPr txBox="1"/>
            <p:nvPr/>
          </p:nvSpPr>
          <p:spPr>
            <a:xfrm>
              <a:off x="6459474" y="4104322"/>
              <a:ext cx="1271687" cy="674751"/>
            </a:xfrm>
            <a:prstGeom prst="rect">
              <a:avLst/>
            </a:prstGeom>
            <a:noFill/>
            <a:ln>
              <a:noFill/>
            </a:ln>
          </p:spPr>
          <p:txBody>
            <a:bodyPr wrap="none" lIns="0" tIns="0" rIns="0" bIns="0" anchor="t" anchorCtr="0">
              <a:spAutoFit/>
            </a:bodyPr>
            <a:lstStyle/>
            <a:p>
              <a:pPr algn="l"/>
              <a:r>
                <a:rPr lang="en-US" sz="3450" b="1" dirty="0">
                  <a:solidFill>
                    <a:schemeClr val="accent1"/>
                  </a:solidFill>
                  <a:latin typeface="Georgia"/>
                  <a:ea typeface="Georgia"/>
                  <a:cs typeface="Georgia"/>
                </a:rPr>
                <a:t>2.7%</a:t>
              </a:r>
            </a:p>
          </p:txBody>
        </p:sp>
        <p:sp>
          <p:nvSpPr>
            <p:cNvPr id="31" name="TextBox 31"/>
            <p:cNvSpPr txBox="1"/>
            <p:nvPr/>
          </p:nvSpPr>
          <p:spPr>
            <a:xfrm>
              <a:off x="6470904" y="4690110"/>
              <a:ext cx="3563658"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Share of the second-darkest skin type in one</a:t>
              </a:r>
            </a:p>
          </p:txBody>
        </p:sp>
        <p:sp>
          <p:nvSpPr>
            <p:cNvPr id="32" name="TextBox 32"/>
            <p:cNvSpPr txBox="1"/>
            <p:nvPr/>
          </p:nvSpPr>
          <p:spPr>
            <a:xfrm>
              <a:off x="6470904" y="4918710"/>
              <a:ext cx="3848862"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benchmark, with a single person of the darkest.</a:t>
              </a:r>
            </a:p>
          </p:txBody>
        </p:sp>
      </p:grpSp>
      <p:grpSp>
        <p:nvGrpSpPr>
          <p:cNvPr id="37" name="Group 37"/>
          <p:cNvGrpSpPr/>
          <p:nvPr/>
        </p:nvGrpSpPr>
        <p:grpSpPr>
          <a:xfrm>
            <a:off x="609600" y="5505450"/>
            <a:ext cx="10972800" cy="552450"/>
            <a:chOff x="609600" y="5505450"/>
            <a:chExt cx="10972800" cy="552450"/>
          </a:xfrm>
        </p:grpSpPr>
        <p:sp>
          <p:nvSpPr>
            <p:cNvPr id="34" name="Rectangle 34"/>
            <p:cNvSpPr/>
            <p:nvPr/>
          </p:nvSpPr>
          <p:spPr>
            <a:xfrm>
              <a:off x="609600" y="5505450"/>
              <a:ext cx="10972800" cy="552450"/>
            </a:xfrm>
            <a:prstGeom prst="roundRect">
              <a:avLst>
                <a:gd name="adj" fmla="val 17241"/>
              </a:avLst>
            </a:prstGeom>
            <a:solidFill>
              <a:schemeClr val="accent5"/>
            </a:solidFill>
            <a:ln w="14288">
              <a:solidFill>
                <a:schemeClr val="accent4"/>
              </a:solidFill>
            </a:ln>
          </p:spPr>
        </p:sp>
        <p:sp>
          <p:nvSpPr>
            <p:cNvPr id="35" name="Rectangle 35"/>
            <p:cNvSpPr/>
            <p:nvPr/>
          </p:nvSpPr>
          <p:spPr>
            <a:xfrm>
              <a:off x="609600" y="5505450"/>
              <a:ext cx="57150" cy="552450"/>
            </a:xfrm>
            <a:prstGeom prst="roundRect">
              <a:avLst>
                <a:gd name="adj" fmla="val 50000"/>
              </a:avLst>
            </a:prstGeom>
            <a:solidFill>
              <a:srgbClr val="C2410C"/>
            </a:solidFill>
            <a:ln>
              <a:noFill/>
            </a:ln>
          </p:spPr>
        </p:sp>
        <p:sp>
          <p:nvSpPr>
            <p:cNvPr id="36" name="TextBox 36"/>
            <p:cNvSpPr txBox="1"/>
            <p:nvPr/>
          </p:nvSpPr>
          <p:spPr>
            <a:xfrm>
              <a:off x="870204" y="5709285"/>
              <a:ext cx="8859122" cy="234696"/>
            </a:xfrm>
            <a:prstGeom prst="rect">
              <a:avLst/>
            </a:prstGeom>
            <a:noFill/>
            <a:ln>
              <a:noFill/>
            </a:ln>
          </p:spPr>
          <p:txBody>
            <a:bodyPr wrap="none" lIns="0" tIns="0" rIns="0" bIns="0" anchor="t" anchorCtr="0">
              <a:spAutoFit/>
            </a:bodyPr>
            <a:lstStyle/>
            <a:p>
              <a:pPr algn="l"/>
              <a:r>
                <a:rPr lang="en-US" sz="1200" b="1" dirty="0">
                  <a:solidFill>
                    <a:schemeClr val="accent1"/>
                  </a:solidFill>
                  <a:latin typeface="+mn-lt"/>
                  <a:ea typeface="+mn-ea"/>
                  <a:cs typeface="+mn-cs"/>
                </a:rPr>
                <a:t>DFDC benchmark scale: 128,154 videos from 960 consenting actors, the largest deepfake dataset to date.</a:t>
              </a:r>
            </a:p>
          </p:txBody>
        </p:sp>
      </p:grpSp>
      <p:grpSp>
        <p:nvGrpSpPr>
          <p:cNvPr id="40" name="Group 40"/>
          <p:cNvGrpSpPr/>
          <p:nvPr/>
        </p:nvGrpSpPr>
        <p:grpSpPr>
          <a:xfrm>
            <a:off x="604838" y="6597491"/>
            <a:ext cx="10982324" cy="161925"/>
            <a:chOff x="604838" y="6597491"/>
            <a:chExt cx="10982324" cy="161925"/>
          </a:xfrm>
        </p:grpSpPr>
        <p:sp>
          <p:nvSpPr>
            <p:cNvPr id="38" name="TextBox 38"/>
            <p:cNvSpPr txBox="1"/>
            <p:nvPr/>
          </p:nvSpPr>
          <p:spPr>
            <a:xfrm>
              <a:off x="604838" y="6597491"/>
              <a:ext cx="1579912" cy="161925"/>
            </a:xfrm>
            <a:prstGeom prst="rect">
              <a:avLst/>
            </a:prstGeom>
            <a:noFill/>
            <a:ln>
              <a:noFill/>
            </a:ln>
          </p:spPr>
          <p:txBody>
            <a:bodyPr wrap="none" lIns="0" tIns="0" rIns="0" bIns="0" anchor="t" anchorCtr="0">
              <a:spAutoFit/>
            </a:bodyPr>
            <a:lstStyle/>
            <a:p>
              <a:pPr algn="l"/>
              <a:r>
                <a:rPr lang="en-US" sz="820" dirty="0">
                  <a:solidFill>
                    <a:srgbClr val="94A3B8"/>
                  </a:solidFill>
                  <a:latin typeface="+mn-lt"/>
                  <a:ea typeface="+mn-ea"/>
                  <a:cs typeface="+mn-cs"/>
                </a:rPr>
                <a:t>Groh 2022 · Headline Numbers</a:t>
              </a:r>
            </a:p>
          </p:txBody>
        </p:sp>
        <p:sp>
          <p:nvSpPr>
            <p:cNvPr id="39" name="TextBox 39"/>
            <p:cNvSpPr txBox="1"/>
            <p:nvPr/>
          </p:nvSpPr>
          <p:spPr>
            <a:xfrm>
              <a:off x="11456210" y="6597491"/>
              <a:ext cx="130952" cy="161925"/>
            </a:xfrm>
            <a:prstGeom prst="rect">
              <a:avLst/>
            </a:prstGeom>
            <a:noFill/>
            <a:ln>
              <a:noFill/>
            </a:ln>
          </p:spPr>
          <p:txBody>
            <a:bodyPr wrap="none" lIns="0" tIns="0" rIns="0" bIns="0" anchor="t" anchorCtr="0">
              <a:spAutoFit/>
            </a:bodyPr>
            <a:lstStyle/>
            <a:p>
              <a:pPr algn="r"/>
              <a:r>
                <a:rPr lang="en-US" sz="820" dirty="0">
                  <a:solidFill>
                    <a:srgbClr val="94A3B8"/>
                  </a:solidFill>
                  <a:latin typeface="+mn-lt"/>
                  <a:ea typeface="+mn-ea"/>
                  <a:cs typeface="+mn-cs"/>
                </a:rPr>
                <a:t>08</a:t>
              </a:r>
            </a:p>
          </p:txBody>
        </p:sp>
      </p:grpSp>
      <p:sp>
        <p:nvSpPr>
          <p:cNvPr id="41" name="cue_s08_c1_few_numbers_anchor_argument_single" title="cue_s08_c1_few_numbers_anchor_argument_single" descr="cue_s08_c1_few_numbers_anchor_argument_single A few numbers anchor the argument. A single facial expression model spans 48.6 to 94.8 percent accuracy across seven benchmarks, next to a 14.2 percent random baseline."/>
          <p:cNvSpPr/>
          <p:nvPr/>
        </p:nvSpPr>
        <p:spPr>
          <a:xfrm>
            <a:off x="609600" y="1428521"/>
            <a:ext cx="5371795" cy="190515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cue_s08_c2_faithfully_recreated_imagenet_cifar" title="cue_s08_c2_faithfully_recreated_imagenet_cifar" descr="cue_s08_c2_faithfully_recreated_imagenet_cifar Faithfully recreated ImageNet and CIFAR-10 test sets cut state-of-the-art accuracy by three to fifteen percent."/>
          <p:cNvSpPr/>
          <p:nvPr/>
        </p:nvSpPr>
        <p:spPr>
          <a:xfrm>
            <a:off x="6210604" y="1428521"/>
            <a:ext cx="5371795" cy="190515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cue_s08_c3_leading_deepfake_detector_gave_only" title="cue_s08_c3_leading_deepfake_detector_gave_only" descr="cue_s08_c3_leading_deepfake_detector_gave_only A leading deepfake detector gave only two and eight percent likelihood to real deepfakes of world leaders. The DFDC benchmark holds 128,154 videos from 960 actors."/>
          <p:cNvSpPr/>
          <p:nvPr/>
        </p:nvSpPr>
        <p:spPr>
          <a:xfrm>
            <a:off x="609600" y="3467404"/>
            <a:ext cx="5371795" cy="190515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cue_s08_c4_one_dermatology_benchmark_included_j" title="cue_s08_c4_one_dermatology_benchmark_included_j" descr="cue_s08_c4_one_dermatology_benchmark_included_j And one dermatology benchmark included just 2.7 percent of the second-darkest skin type, and a single person of the darkest."/>
          <p:cNvSpPr/>
          <p:nvPr/>
        </p:nvSpPr>
        <p:spPr>
          <a:xfrm>
            <a:off x="6210604" y="3467404"/>
            <a:ext cx="5371795" cy="190515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chemeClr val="lt1"/>
            </a:solidFill>
            <a:ln>
              <a:noFill/>
            </a:ln>
          </p:spPr>
        </p:sp>
        <p:sp>
          <p:nvSpPr>
            <p:cNvPr id="3" name="Rectangle 3"/>
            <p:cNvSpPr/>
            <p:nvPr/>
          </p:nvSpPr>
          <p:spPr>
            <a:xfrm>
              <a:off x="0" y="0"/>
              <a:ext cx="133350" cy="6858000"/>
            </a:xfrm>
            <a:prstGeom prst="rect">
              <a:avLst/>
            </a:prstGeom>
            <a:solidFill>
              <a:schemeClr val="accent1"/>
            </a:solidFill>
            <a:ln>
              <a:noFill/>
            </a:ln>
          </p:spPr>
        </p:sp>
      </p:grpSp>
      <p:grpSp>
        <p:nvGrpSpPr>
          <p:cNvPr id="8" name="Group 8"/>
          <p:cNvGrpSpPr/>
          <p:nvPr/>
        </p:nvGrpSpPr>
        <p:grpSpPr>
          <a:xfrm>
            <a:off x="674370" y="552450"/>
            <a:ext cx="8074574" cy="733139"/>
            <a:chOff x="674370" y="552450"/>
            <a:chExt cx="8074574" cy="733139"/>
          </a:xfrm>
        </p:grpSpPr>
        <p:sp>
          <p:nvSpPr>
            <p:cNvPr id="5" name="Rectangle 5"/>
            <p:cNvSpPr/>
            <p:nvPr/>
          </p:nvSpPr>
          <p:spPr>
            <a:xfrm>
              <a:off x="685800" y="552450"/>
              <a:ext cx="438150" cy="38100"/>
            </a:xfrm>
            <a:prstGeom prst="rect">
              <a:avLst/>
            </a:prstGeom>
            <a:solidFill>
              <a:schemeClr val="accent2"/>
            </a:solidFill>
            <a:ln>
              <a:noFill/>
            </a:ln>
          </p:spPr>
        </p:sp>
        <p:sp>
          <p:nvSpPr>
            <p:cNvPr id="6" name="TextBox 6"/>
            <p:cNvSpPr txBox="1"/>
            <p:nvPr/>
          </p:nvSpPr>
          <p:spPr>
            <a:xfrm>
              <a:off x="674370" y="690562"/>
              <a:ext cx="8074574" cy="440055"/>
            </a:xfrm>
            <a:prstGeom prst="rect">
              <a:avLst/>
            </a:prstGeom>
            <a:noFill/>
            <a:ln>
              <a:noFill/>
            </a:ln>
          </p:spPr>
          <p:txBody>
            <a:bodyPr wrap="none" lIns="0" tIns="0" rIns="0" bIns="0" anchor="t" anchorCtr="0">
              <a:spAutoFit/>
            </a:bodyPr>
            <a:lstStyle/>
            <a:p>
              <a:pPr algn="l"/>
              <a:r>
                <a:rPr lang="en-US" sz="2250" b="1" dirty="0">
                  <a:solidFill>
                    <a:schemeClr val="accent1"/>
                  </a:solidFill>
                  <a:latin typeface="Georgia"/>
                  <a:ea typeface="Georgia"/>
                  <a:cs typeface="Georgia"/>
                </a:rPr>
                <a:t>Stop measuring distance. Start naming context.</a:t>
              </a:r>
            </a:p>
          </p:txBody>
        </p:sp>
        <p:sp>
          <p:nvSpPr>
            <p:cNvPr id="7" name="TextBox 7"/>
            <p:cNvSpPr txBox="1"/>
            <p:nvPr/>
          </p:nvSpPr>
          <p:spPr>
            <a:xfrm>
              <a:off x="680847" y="1094899"/>
              <a:ext cx="2912761" cy="190690"/>
            </a:xfrm>
            <a:prstGeom prst="rect">
              <a:avLst/>
            </a:prstGeom>
            <a:noFill/>
            <a:ln>
              <a:noFill/>
            </a:ln>
          </p:spPr>
          <p:txBody>
            <a:bodyPr wrap="none" lIns="0" tIns="0" rIns="0" bIns="0" anchor="t" anchorCtr="0">
              <a:spAutoFit/>
            </a:bodyPr>
            <a:lstStyle/>
            <a:p>
              <a:pPr algn="l"/>
              <a:r>
                <a:rPr lang="en-US" sz="980" b="1" spc="112" dirty="0">
                  <a:solidFill>
                    <a:schemeClr val="dk2"/>
                  </a:solidFill>
                  <a:latin typeface="+mn-lt"/>
                  <a:ea typeface="+mn-ea"/>
                  <a:cs typeface="+mn-cs"/>
                </a:rPr>
                <a:t>TAKEAWAY · A SHIFT IN PERSPECTIVE</a:t>
              </a:r>
            </a:p>
          </p:txBody>
        </p:sp>
      </p:grpSp>
      <p:grpSp>
        <p:nvGrpSpPr>
          <p:cNvPr id="15" name="Group 15"/>
          <p:cNvGrpSpPr/>
          <p:nvPr/>
        </p:nvGrpSpPr>
        <p:grpSpPr>
          <a:xfrm>
            <a:off x="685800" y="1504950"/>
            <a:ext cx="10820400" cy="1428750"/>
            <a:chOff x="685800" y="1504950"/>
            <a:chExt cx="10820400" cy="1428750"/>
          </a:xfrm>
        </p:grpSpPr>
        <p:sp>
          <p:nvSpPr>
            <p:cNvPr id="9" name="Rectangle 9"/>
            <p:cNvSpPr/>
            <p:nvPr/>
          </p:nvSpPr>
          <p:spPr>
            <a:xfrm>
              <a:off x="685800" y="1504950"/>
              <a:ext cx="10820400" cy="1428750"/>
            </a:xfrm>
            <a:prstGeom prst="roundRect">
              <a:avLst>
                <a:gd name="adj" fmla="val 8000"/>
              </a:avLst>
            </a:prstGeom>
            <a:solidFill>
              <a:schemeClr val="accent1"/>
            </a:solidFill>
            <a:ln w="14288">
              <a:solidFill>
                <a:schemeClr val="accent1"/>
              </a:solidFill>
            </a:ln>
          </p:spPr>
        </p:sp>
        <p:sp>
          <p:nvSpPr>
            <p:cNvPr id="10" name="Rectangle 10"/>
            <p:cNvSpPr/>
            <p:nvPr/>
          </p:nvSpPr>
          <p:spPr>
            <a:xfrm>
              <a:off x="685800" y="1504950"/>
              <a:ext cx="57150" cy="1428750"/>
            </a:xfrm>
            <a:prstGeom prst="roundRect">
              <a:avLst>
                <a:gd name="adj" fmla="val 50000"/>
              </a:avLst>
            </a:prstGeom>
            <a:solidFill>
              <a:schemeClr val="accent2"/>
            </a:solidFill>
            <a:ln>
              <a:noFill/>
            </a:ln>
          </p:spPr>
        </p:sp>
        <p:sp>
          <p:nvSpPr>
            <p:cNvPr id="11" name="TextBox 11"/>
            <p:cNvSpPr txBox="1"/>
            <p:nvPr/>
          </p:nvSpPr>
          <p:spPr>
            <a:xfrm>
              <a:off x="947547" y="1723549"/>
              <a:ext cx="1745675" cy="190690"/>
            </a:xfrm>
            <a:prstGeom prst="rect">
              <a:avLst/>
            </a:prstGeom>
            <a:noFill/>
            <a:ln>
              <a:noFill/>
            </a:ln>
          </p:spPr>
          <p:txBody>
            <a:bodyPr wrap="none" lIns="0" tIns="0" rIns="0" bIns="0" anchor="t" anchorCtr="0">
              <a:spAutoFit/>
            </a:bodyPr>
            <a:lstStyle/>
            <a:p>
              <a:pPr algn="l"/>
              <a:r>
                <a:rPr lang="en-US" sz="980" b="1" spc="112" dirty="0">
                  <a:solidFill>
                    <a:schemeClr val="accent2"/>
                  </a:solidFill>
                  <a:latin typeface="+mn-lt"/>
                  <a:ea typeface="+mn-ea"/>
                  <a:cs typeface="+mn-cs"/>
                </a:rPr>
                <a:t>THE LASTING MESSAGE</a:t>
              </a:r>
            </a:p>
          </p:txBody>
        </p:sp>
        <p:sp>
          <p:nvSpPr>
            <p:cNvPr id="12" name="TextBox 12"/>
            <p:cNvSpPr txBox="1"/>
            <p:nvPr/>
          </p:nvSpPr>
          <p:spPr>
            <a:xfrm>
              <a:off x="944118" y="1993582"/>
              <a:ext cx="8857613" cy="322707"/>
            </a:xfrm>
            <a:prstGeom prst="rect">
              <a:avLst/>
            </a:prstGeom>
            <a:noFill/>
            <a:ln>
              <a:noFill/>
            </a:ln>
          </p:spPr>
          <p:txBody>
            <a:bodyPr wrap="none" lIns="0" tIns="0" rIns="0" bIns="0" anchor="t" anchorCtr="0">
              <a:spAutoFit/>
            </a:bodyPr>
            <a:lstStyle/>
            <a:p>
              <a:pPr algn="l"/>
              <a:r>
                <a:rPr lang="en-US" sz="1650" b="1" dirty="0">
                  <a:solidFill>
                    <a:srgbClr val="FFFFFF"/>
                  </a:solidFill>
                  <a:latin typeface="Georgia"/>
                  <a:ea typeface="Georgia"/>
                  <a:cs typeface="Georgia"/>
                </a:rPr>
                <a:t>Stop treating the benchmark-to-production gap as a statistical distance</a:t>
              </a:r>
            </a:p>
          </p:txBody>
        </p:sp>
        <p:sp>
          <p:nvSpPr>
            <p:cNvPr id="13" name="TextBox 13"/>
            <p:cNvSpPr txBox="1"/>
            <p:nvPr/>
          </p:nvSpPr>
          <p:spPr>
            <a:xfrm>
              <a:off x="944118" y="2279332"/>
              <a:ext cx="2838397" cy="322707"/>
            </a:xfrm>
            <a:prstGeom prst="rect">
              <a:avLst/>
            </a:prstGeom>
            <a:noFill/>
            <a:ln>
              <a:noFill/>
            </a:ln>
          </p:spPr>
          <p:txBody>
            <a:bodyPr wrap="none" lIns="0" tIns="0" rIns="0" bIns="0" anchor="t" anchorCtr="0">
              <a:spAutoFit/>
            </a:bodyPr>
            <a:lstStyle/>
            <a:p>
              <a:pPr algn="l"/>
              <a:r>
                <a:rPr lang="en-US" sz="1650" b="1" dirty="0">
                  <a:solidFill>
                    <a:srgbClr val="FFFFFF"/>
                  </a:solidFill>
                  <a:latin typeface="Georgia"/>
                  <a:ea typeface="Georgia"/>
                  <a:cs typeface="Georgia"/>
                </a:rPr>
                <a:t>between two datasets.</a:t>
              </a:r>
            </a:p>
          </p:txBody>
        </p:sp>
        <p:sp>
          <p:nvSpPr>
            <p:cNvPr id="14" name="TextBox 14"/>
            <p:cNvSpPr txBox="1"/>
            <p:nvPr/>
          </p:nvSpPr>
          <p:spPr>
            <a:xfrm>
              <a:off x="946404" y="2632710"/>
              <a:ext cx="7174065" cy="234696"/>
            </a:xfrm>
            <a:prstGeom prst="rect">
              <a:avLst/>
            </a:prstGeom>
            <a:noFill/>
            <a:ln>
              <a:noFill/>
            </a:ln>
          </p:spPr>
          <p:txBody>
            <a:bodyPr wrap="none" lIns="0" tIns="0" rIns="0" bIns="0" anchor="t" anchorCtr="0">
              <a:spAutoFit/>
            </a:bodyPr>
            <a:lstStyle/>
            <a:p>
              <a:pPr algn="l"/>
              <a:r>
                <a:rPr lang="en-US" sz="1200" dirty="0">
                  <a:solidFill>
                    <a:srgbClr val="EEF2F9"/>
                  </a:solidFill>
                  <a:latin typeface="+mn-lt"/>
                  <a:ea typeface="+mn-ea"/>
                  <a:cs typeface="+mn-cs"/>
                </a:rPr>
                <a:t>Treat it as context shift: the semantically meaningful changes in how data are generated.</a:t>
              </a:r>
            </a:p>
          </p:txBody>
        </p:sp>
      </p:grpSp>
      <p:grpSp>
        <p:nvGrpSpPr>
          <p:cNvPr id="31" name="Group 31"/>
          <p:cNvGrpSpPr/>
          <p:nvPr/>
        </p:nvGrpSpPr>
        <p:grpSpPr>
          <a:xfrm>
            <a:off x="685800" y="3105150"/>
            <a:ext cx="10820400" cy="1524000"/>
            <a:chOff x="685800" y="3105150"/>
            <a:chExt cx="10820400" cy="1524000"/>
          </a:xfrm>
        </p:grpSpPr>
        <p:sp>
          <p:nvSpPr>
            <p:cNvPr id="16" name="Rectangle 16"/>
            <p:cNvSpPr/>
            <p:nvPr/>
          </p:nvSpPr>
          <p:spPr>
            <a:xfrm>
              <a:off x="685800" y="3105150"/>
              <a:ext cx="10820400" cy="1524000"/>
            </a:xfrm>
            <a:prstGeom prst="roundRect">
              <a:avLst>
                <a:gd name="adj" fmla="val 7500"/>
              </a:avLst>
            </a:prstGeom>
            <a:solidFill>
              <a:schemeClr val="lt1"/>
            </a:solidFill>
            <a:ln w="14288">
              <a:solidFill>
                <a:schemeClr val="accent4"/>
              </a:solidFill>
            </a:ln>
          </p:spPr>
        </p:sp>
        <p:sp>
          <p:nvSpPr>
            <p:cNvPr id="17" name="Rectangle 17"/>
            <p:cNvSpPr/>
            <p:nvPr/>
          </p:nvSpPr>
          <p:spPr>
            <a:xfrm>
              <a:off x="685800" y="3105150"/>
              <a:ext cx="57150" cy="1524000"/>
            </a:xfrm>
            <a:prstGeom prst="roundRect">
              <a:avLst>
                <a:gd name="adj" fmla="val 50000"/>
              </a:avLst>
            </a:prstGeom>
            <a:solidFill>
              <a:schemeClr val="accent2"/>
            </a:solidFill>
            <a:ln>
              <a:noFill/>
            </a:ln>
          </p:spPr>
        </p:sp>
        <p:sp>
          <p:nvSpPr>
            <p:cNvPr id="18" name="TextBox 18"/>
            <p:cNvSpPr txBox="1"/>
            <p:nvPr/>
          </p:nvSpPr>
          <p:spPr>
            <a:xfrm>
              <a:off x="947547" y="3323749"/>
              <a:ext cx="2183923" cy="190690"/>
            </a:xfrm>
            <a:prstGeom prst="rect">
              <a:avLst/>
            </a:prstGeom>
            <a:noFill/>
            <a:ln>
              <a:noFill/>
            </a:ln>
          </p:spPr>
          <p:txBody>
            <a:bodyPr wrap="none" lIns="0" tIns="0" rIns="0" bIns="0" anchor="t" anchorCtr="0">
              <a:spAutoFit/>
            </a:bodyPr>
            <a:lstStyle/>
            <a:p>
              <a:pPr algn="l"/>
              <a:r>
                <a:rPr lang="en-US" sz="980" b="1" spc="112" dirty="0">
                  <a:solidFill>
                    <a:schemeClr val="accent2"/>
                  </a:solidFill>
                  <a:latin typeface="+mn-lt"/>
                  <a:ea typeface="+mn-ea"/>
                  <a:cs typeface="+mn-cs"/>
                </a:rPr>
                <a:t>THREE WAYS TO ADDRESS IT</a:t>
              </a:r>
            </a:p>
          </p:txBody>
        </p:sp>
        <p:sp>
          <p:nvSpPr>
            <p:cNvPr id="19" name="Rectangle 19"/>
            <p:cNvSpPr/>
            <p:nvPr/>
          </p:nvSpPr>
          <p:spPr>
            <a:xfrm>
              <a:off x="952500" y="3600450"/>
              <a:ext cx="3352800" cy="857250"/>
            </a:xfrm>
            <a:prstGeom prst="roundRect">
              <a:avLst>
                <a:gd name="adj" fmla="val 8889"/>
              </a:avLst>
            </a:prstGeom>
            <a:solidFill>
              <a:schemeClr val="accent5"/>
            </a:solidFill>
            <a:ln>
              <a:noFill/>
            </a:ln>
          </p:spPr>
        </p:sp>
        <p:sp>
          <p:nvSpPr>
            <p:cNvPr id="20" name="TextBox 20"/>
            <p:cNvSpPr txBox="1"/>
            <p:nvPr/>
          </p:nvSpPr>
          <p:spPr>
            <a:xfrm>
              <a:off x="1117473" y="3729514"/>
              <a:ext cx="1788938" cy="249364"/>
            </a:xfrm>
            <a:prstGeom prst="rect">
              <a:avLst/>
            </a:prstGeom>
            <a:noFill/>
            <a:ln>
              <a:noFill/>
            </a:ln>
          </p:spPr>
          <p:txBody>
            <a:bodyPr wrap="none" lIns="0" tIns="0" rIns="0" bIns="0" anchor="t" anchorCtr="0">
              <a:spAutoFit/>
            </a:bodyPr>
            <a:lstStyle/>
            <a:p>
              <a:pPr algn="l"/>
              <a:r>
                <a:rPr lang="en-US" sz="1280" b="1" dirty="0">
                  <a:solidFill>
                    <a:schemeClr val="accent1"/>
                  </a:solidFill>
                  <a:latin typeface="Georgia"/>
                  <a:ea typeface="Georgia"/>
                  <a:cs typeface="Georgia"/>
                </a:rPr>
                <a:t>1 · Human intuition</a:t>
              </a:r>
            </a:p>
          </p:txBody>
        </p:sp>
        <p:sp>
          <p:nvSpPr>
            <p:cNvPr id="21" name="TextBox 21"/>
            <p:cNvSpPr txBox="1"/>
            <p:nvPr/>
          </p:nvSpPr>
          <p:spPr>
            <a:xfrm>
              <a:off x="1118616" y="3982402"/>
              <a:ext cx="1810244" cy="205359"/>
            </a:xfrm>
            <a:prstGeom prst="rect">
              <a:avLst/>
            </a:prstGeom>
            <a:noFill/>
            <a:ln>
              <a:noFill/>
            </a:ln>
          </p:spPr>
          <p:txBody>
            <a:bodyPr wrap="none" lIns="0" tIns="0" rIns="0" bIns="0" anchor="t" anchorCtr="0">
              <a:spAutoFit/>
            </a:bodyPr>
            <a:lstStyle/>
            <a:p>
              <a:pPr algn="l"/>
              <a:r>
                <a:rPr lang="en-US" sz="1050" dirty="0">
                  <a:solidFill>
                    <a:schemeClr val="dk1"/>
                  </a:solidFill>
                  <a:latin typeface="+mn-lt"/>
                  <a:ea typeface="+mn-ea"/>
                  <a:cs typeface="+mn-cs"/>
                </a:rPr>
                <a:t>Pair machine learning with</a:t>
              </a:r>
            </a:p>
          </p:txBody>
        </p:sp>
        <p:sp>
          <p:nvSpPr>
            <p:cNvPr id="22" name="TextBox 22"/>
            <p:cNvSpPr txBox="1"/>
            <p:nvPr/>
          </p:nvSpPr>
          <p:spPr>
            <a:xfrm>
              <a:off x="1118616" y="4172902"/>
              <a:ext cx="1289895" cy="205359"/>
            </a:xfrm>
            <a:prstGeom prst="rect">
              <a:avLst/>
            </a:prstGeom>
            <a:noFill/>
            <a:ln>
              <a:noFill/>
            </a:ln>
          </p:spPr>
          <p:txBody>
            <a:bodyPr wrap="none" lIns="0" tIns="0" rIns="0" bIns="0" anchor="t" anchorCtr="0">
              <a:spAutoFit/>
            </a:bodyPr>
            <a:lstStyle/>
            <a:p>
              <a:pPr algn="l"/>
              <a:r>
                <a:rPr lang="en-US" sz="1050" dirty="0">
                  <a:solidFill>
                    <a:schemeClr val="dk1"/>
                  </a:solidFill>
                  <a:latin typeface="+mn-lt"/>
                  <a:ea typeface="+mn-ea"/>
                  <a:cs typeface="+mn-cs"/>
                </a:rPr>
                <a:t>expert knowledge.</a:t>
              </a:r>
            </a:p>
          </p:txBody>
        </p:sp>
        <p:sp>
          <p:nvSpPr>
            <p:cNvPr id="23" name="Rectangle 23"/>
            <p:cNvSpPr/>
            <p:nvPr/>
          </p:nvSpPr>
          <p:spPr>
            <a:xfrm>
              <a:off x="4419600" y="3600450"/>
              <a:ext cx="3352800" cy="857250"/>
            </a:xfrm>
            <a:prstGeom prst="roundRect">
              <a:avLst>
                <a:gd name="adj" fmla="val 8889"/>
              </a:avLst>
            </a:prstGeom>
            <a:solidFill>
              <a:schemeClr val="accent5"/>
            </a:solidFill>
            <a:ln>
              <a:noFill/>
            </a:ln>
          </p:spPr>
        </p:sp>
        <p:sp>
          <p:nvSpPr>
            <p:cNvPr id="24" name="TextBox 24"/>
            <p:cNvSpPr txBox="1"/>
            <p:nvPr/>
          </p:nvSpPr>
          <p:spPr>
            <a:xfrm>
              <a:off x="4584573" y="3729514"/>
              <a:ext cx="2239127" cy="249364"/>
            </a:xfrm>
            <a:prstGeom prst="rect">
              <a:avLst/>
            </a:prstGeom>
            <a:noFill/>
            <a:ln>
              <a:noFill/>
            </a:ln>
          </p:spPr>
          <p:txBody>
            <a:bodyPr wrap="none" lIns="0" tIns="0" rIns="0" bIns="0" anchor="t" anchorCtr="0">
              <a:spAutoFit/>
            </a:bodyPr>
            <a:lstStyle/>
            <a:p>
              <a:pPr algn="l"/>
              <a:r>
                <a:rPr lang="en-US" sz="1280" b="1" dirty="0">
                  <a:solidFill>
                    <a:schemeClr val="accent1"/>
                  </a:solidFill>
                  <a:latin typeface="Georgia"/>
                  <a:ea typeface="Georgia"/>
                  <a:cs typeface="Georgia"/>
                </a:rPr>
                <a:t>2 · Dynamic benchmarks</a:t>
              </a:r>
            </a:p>
          </p:txBody>
        </p:sp>
        <p:sp>
          <p:nvSpPr>
            <p:cNvPr id="25" name="TextBox 25"/>
            <p:cNvSpPr txBox="1"/>
            <p:nvPr/>
          </p:nvSpPr>
          <p:spPr>
            <a:xfrm>
              <a:off x="4585716" y="3982402"/>
              <a:ext cx="2050731" cy="205359"/>
            </a:xfrm>
            <a:prstGeom prst="rect">
              <a:avLst/>
            </a:prstGeom>
            <a:noFill/>
            <a:ln>
              <a:noFill/>
            </a:ln>
          </p:spPr>
          <p:txBody>
            <a:bodyPr wrap="none" lIns="0" tIns="0" rIns="0" bIns="0" anchor="t" anchorCtr="0">
              <a:spAutoFit/>
            </a:bodyPr>
            <a:lstStyle/>
            <a:p>
              <a:pPr algn="l"/>
              <a:r>
                <a:rPr lang="en-US" sz="1050" dirty="0">
                  <a:solidFill>
                    <a:schemeClr val="dk1"/>
                  </a:solidFill>
                  <a:latin typeface="+mn-lt"/>
                  <a:ea typeface="+mn-ea"/>
                  <a:cs typeface="+mn-cs"/>
                </a:rPr>
                <a:t>Evaluate the data-generation</a:t>
              </a:r>
            </a:p>
          </p:txBody>
        </p:sp>
        <p:sp>
          <p:nvSpPr>
            <p:cNvPr id="26" name="TextBox 26"/>
            <p:cNvSpPr txBox="1"/>
            <p:nvPr/>
          </p:nvSpPr>
          <p:spPr>
            <a:xfrm>
              <a:off x="4585716" y="4172902"/>
              <a:ext cx="2010785" cy="205359"/>
            </a:xfrm>
            <a:prstGeom prst="rect">
              <a:avLst/>
            </a:prstGeom>
            <a:noFill/>
            <a:ln>
              <a:noFill/>
            </a:ln>
          </p:spPr>
          <p:txBody>
            <a:bodyPr wrap="none" lIns="0" tIns="0" rIns="0" bIns="0" anchor="t" anchorCtr="0">
              <a:spAutoFit/>
            </a:bodyPr>
            <a:lstStyle/>
            <a:p>
              <a:pPr algn="l"/>
              <a:r>
                <a:rPr lang="en-US" sz="1050" dirty="0">
                  <a:solidFill>
                    <a:schemeClr val="dk1"/>
                  </a:solidFill>
                  <a:latin typeface="+mn-lt"/>
                  <a:ea typeface="+mn-ea"/>
                  <a:cs typeface="+mn-cs"/>
                </a:rPr>
                <a:t>process, not one static set.</a:t>
              </a:r>
            </a:p>
          </p:txBody>
        </p:sp>
        <p:sp>
          <p:nvSpPr>
            <p:cNvPr id="27" name="Rectangle 27"/>
            <p:cNvSpPr/>
            <p:nvPr/>
          </p:nvSpPr>
          <p:spPr>
            <a:xfrm>
              <a:off x="7886700" y="3600450"/>
              <a:ext cx="3429000" cy="857250"/>
            </a:xfrm>
            <a:prstGeom prst="roundRect">
              <a:avLst>
                <a:gd name="adj" fmla="val 8889"/>
              </a:avLst>
            </a:prstGeom>
            <a:solidFill>
              <a:schemeClr val="accent5"/>
            </a:solidFill>
            <a:ln>
              <a:noFill/>
            </a:ln>
          </p:spPr>
        </p:sp>
        <p:sp>
          <p:nvSpPr>
            <p:cNvPr id="28" name="TextBox 28"/>
            <p:cNvSpPr txBox="1"/>
            <p:nvPr/>
          </p:nvSpPr>
          <p:spPr>
            <a:xfrm>
              <a:off x="8051673" y="3729514"/>
              <a:ext cx="2063486" cy="249364"/>
            </a:xfrm>
            <a:prstGeom prst="rect">
              <a:avLst/>
            </a:prstGeom>
            <a:noFill/>
            <a:ln>
              <a:noFill/>
            </a:ln>
          </p:spPr>
          <p:txBody>
            <a:bodyPr wrap="none" lIns="0" tIns="0" rIns="0" bIns="0" anchor="t" anchorCtr="0">
              <a:spAutoFit/>
            </a:bodyPr>
            <a:lstStyle/>
            <a:p>
              <a:pPr algn="l"/>
              <a:r>
                <a:rPr lang="en-US" sz="1280" b="1" dirty="0">
                  <a:solidFill>
                    <a:schemeClr val="accent1"/>
                  </a:solidFill>
                  <a:latin typeface="Georgia"/>
                  <a:ea typeface="Georgia"/>
                  <a:cs typeface="Georgia"/>
                </a:rPr>
                <a:t>3 · Clarify limitations</a:t>
              </a:r>
            </a:p>
          </p:txBody>
        </p:sp>
        <p:sp>
          <p:nvSpPr>
            <p:cNvPr id="29" name="TextBox 29"/>
            <p:cNvSpPr txBox="1"/>
            <p:nvPr/>
          </p:nvSpPr>
          <p:spPr>
            <a:xfrm>
              <a:off x="8052816" y="3982402"/>
              <a:ext cx="1654980" cy="205359"/>
            </a:xfrm>
            <a:prstGeom prst="rect">
              <a:avLst/>
            </a:prstGeom>
            <a:noFill/>
            <a:ln>
              <a:noFill/>
            </a:ln>
          </p:spPr>
          <p:txBody>
            <a:bodyPr wrap="none" lIns="0" tIns="0" rIns="0" bIns="0" anchor="t" anchorCtr="0">
              <a:spAutoFit/>
            </a:bodyPr>
            <a:lstStyle/>
            <a:p>
              <a:pPr algn="l"/>
              <a:r>
                <a:rPr lang="en-US" sz="1050" dirty="0">
                  <a:solidFill>
                    <a:schemeClr val="dk1"/>
                  </a:solidFill>
                  <a:latin typeface="+mn-lt"/>
                  <a:ea typeface="+mn-ea"/>
                  <a:cs typeface="+mn-cs"/>
                </a:rPr>
                <a:t>State where behavior is</a:t>
              </a:r>
            </a:p>
          </p:txBody>
        </p:sp>
        <p:sp>
          <p:nvSpPr>
            <p:cNvPr id="30" name="TextBox 30"/>
            <p:cNvSpPr txBox="1"/>
            <p:nvPr/>
          </p:nvSpPr>
          <p:spPr>
            <a:xfrm>
              <a:off x="8052816" y="4172902"/>
              <a:ext cx="1395908" cy="205359"/>
            </a:xfrm>
            <a:prstGeom prst="rect">
              <a:avLst/>
            </a:prstGeom>
            <a:noFill/>
            <a:ln>
              <a:noFill/>
            </a:ln>
          </p:spPr>
          <p:txBody>
            <a:bodyPr wrap="none" lIns="0" tIns="0" rIns="0" bIns="0" anchor="t" anchorCtr="0">
              <a:spAutoFit/>
            </a:bodyPr>
            <a:lstStyle/>
            <a:p>
              <a:pPr algn="l"/>
              <a:r>
                <a:rPr lang="en-US" sz="1050" dirty="0">
                  <a:solidFill>
                    <a:schemeClr val="dk1"/>
                  </a:solidFill>
                  <a:latin typeface="+mn-lt"/>
                  <a:ea typeface="+mn-ea"/>
                  <a:cs typeface="+mn-cs"/>
                </a:rPr>
                <a:t>known and unknown.</a:t>
              </a:r>
            </a:p>
          </p:txBody>
        </p:sp>
      </p:grpSp>
      <p:grpSp>
        <p:nvGrpSpPr>
          <p:cNvPr id="38" name="Group 38"/>
          <p:cNvGrpSpPr/>
          <p:nvPr/>
        </p:nvGrpSpPr>
        <p:grpSpPr>
          <a:xfrm>
            <a:off x="685800" y="4800600"/>
            <a:ext cx="10820400" cy="1257300"/>
            <a:chOff x="685800" y="4800600"/>
            <a:chExt cx="10820400" cy="1257300"/>
          </a:xfrm>
        </p:grpSpPr>
        <p:sp>
          <p:nvSpPr>
            <p:cNvPr id="32" name="Rectangle 32"/>
            <p:cNvSpPr/>
            <p:nvPr/>
          </p:nvSpPr>
          <p:spPr>
            <a:xfrm>
              <a:off x="685800" y="4800600"/>
              <a:ext cx="10820400" cy="1257300"/>
            </a:xfrm>
            <a:prstGeom prst="roundRect">
              <a:avLst>
                <a:gd name="adj" fmla="val 9091"/>
              </a:avLst>
            </a:prstGeom>
            <a:solidFill>
              <a:schemeClr val="accent5"/>
            </a:solidFill>
            <a:ln w="14288">
              <a:solidFill>
                <a:schemeClr val="accent4"/>
              </a:solidFill>
            </a:ln>
          </p:spPr>
        </p:sp>
        <p:sp>
          <p:nvSpPr>
            <p:cNvPr id="33" name="Rectangle 33"/>
            <p:cNvSpPr/>
            <p:nvPr/>
          </p:nvSpPr>
          <p:spPr>
            <a:xfrm>
              <a:off x="685800" y="4800600"/>
              <a:ext cx="57150" cy="1257300"/>
            </a:xfrm>
            <a:prstGeom prst="roundRect">
              <a:avLst>
                <a:gd name="adj" fmla="val 50000"/>
              </a:avLst>
            </a:prstGeom>
            <a:solidFill>
              <a:srgbClr val="0E9F9A"/>
            </a:solidFill>
            <a:ln>
              <a:noFill/>
            </a:ln>
          </p:spPr>
        </p:sp>
        <p:sp>
          <p:nvSpPr>
            <p:cNvPr id="34" name="TextBox 34"/>
            <p:cNvSpPr txBox="1"/>
            <p:nvPr/>
          </p:nvSpPr>
          <p:spPr>
            <a:xfrm>
              <a:off x="947547" y="5019199"/>
              <a:ext cx="2918785" cy="190690"/>
            </a:xfrm>
            <a:prstGeom prst="rect">
              <a:avLst/>
            </a:prstGeom>
            <a:noFill/>
            <a:ln>
              <a:noFill/>
            </a:ln>
          </p:spPr>
          <p:txBody>
            <a:bodyPr wrap="none" lIns="0" tIns="0" rIns="0" bIns="0" anchor="t" anchorCtr="0">
              <a:spAutoFit/>
            </a:bodyPr>
            <a:lstStyle/>
            <a:p>
              <a:pPr algn="l"/>
              <a:r>
                <a:rPr lang="en-US" sz="980" b="1" spc="112" dirty="0">
                  <a:solidFill>
                    <a:srgbClr val="0E9F9A"/>
                  </a:solidFill>
                  <a:latin typeface="+mn-lt"/>
                  <a:ea typeface="+mn-ea"/>
                  <a:cs typeface="+mn-cs"/>
                </a:rPr>
                <a:t>THE SIMPLEST FIRST STEP: HONESTY</a:t>
              </a:r>
            </a:p>
          </p:txBody>
        </p:sp>
        <p:sp>
          <p:nvSpPr>
            <p:cNvPr id="35" name="TextBox 35"/>
            <p:cNvSpPr txBox="1"/>
            <p:nvPr/>
          </p:nvSpPr>
          <p:spPr>
            <a:xfrm>
              <a:off x="944880" y="5286375"/>
              <a:ext cx="6943737" cy="293370"/>
            </a:xfrm>
            <a:prstGeom prst="rect">
              <a:avLst/>
            </a:prstGeom>
            <a:noFill/>
            <a:ln>
              <a:noFill/>
            </a:ln>
          </p:spPr>
          <p:txBody>
            <a:bodyPr wrap="none" lIns="0" tIns="0" rIns="0" bIns="0" anchor="t" anchorCtr="0">
              <a:spAutoFit/>
            </a:bodyPr>
            <a:lstStyle/>
            <a:p>
              <a:pPr algn="l"/>
              <a:r>
                <a:rPr lang="en-US" sz="1500" b="1" dirty="0">
                  <a:solidFill>
                    <a:schemeClr val="accent1"/>
                  </a:solidFill>
                  <a:latin typeface="Georgia"/>
                  <a:ea typeface="Georgia"/>
                  <a:cs typeface="Georgia"/>
                </a:rPr>
                <a:t>State plainly the contexts in which a model has been evaluated,</a:t>
              </a:r>
            </a:p>
          </p:txBody>
        </p:sp>
        <p:sp>
          <p:nvSpPr>
            <p:cNvPr id="36" name="TextBox 36"/>
            <p:cNvSpPr txBox="1"/>
            <p:nvPr/>
          </p:nvSpPr>
          <p:spPr>
            <a:xfrm>
              <a:off x="944880" y="5553075"/>
              <a:ext cx="6198413" cy="293370"/>
            </a:xfrm>
            <a:prstGeom prst="rect">
              <a:avLst/>
            </a:prstGeom>
            <a:noFill/>
            <a:ln>
              <a:noFill/>
            </a:ln>
          </p:spPr>
          <p:txBody>
            <a:bodyPr wrap="none" lIns="0" tIns="0" rIns="0" bIns="0" anchor="t" anchorCtr="0">
              <a:spAutoFit/>
            </a:bodyPr>
            <a:lstStyle/>
            <a:p>
              <a:pPr algn="l"/>
              <a:r>
                <a:rPr lang="en-US" sz="1500" b="1" dirty="0">
                  <a:solidFill>
                    <a:schemeClr val="accent1"/>
                  </a:solidFill>
                  <a:latin typeface="Georgia"/>
                  <a:ea typeface="Georgia"/>
                  <a:cs typeface="Georgia"/>
                </a:rPr>
                <a:t>and the contexts in which its behavior remains unknown.</a:t>
              </a:r>
            </a:p>
          </p:txBody>
        </p:sp>
        <p:sp>
          <p:nvSpPr>
            <p:cNvPr id="37" name="TextBox 37"/>
            <p:cNvSpPr txBox="1"/>
            <p:nvPr/>
          </p:nvSpPr>
          <p:spPr>
            <a:xfrm>
              <a:off x="947166" y="5849302"/>
              <a:ext cx="5118174"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The simplest and most immediately effective step toward closing the gap.</a:t>
              </a:r>
            </a:p>
          </p:txBody>
        </p:sp>
      </p:grpSp>
      <p:grpSp>
        <p:nvGrpSpPr>
          <p:cNvPr id="41" name="Group 41"/>
          <p:cNvGrpSpPr/>
          <p:nvPr/>
        </p:nvGrpSpPr>
        <p:grpSpPr>
          <a:xfrm>
            <a:off x="681038" y="6597491"/>
            <a:ext cx="10829924" cy="161925"/>
            <a:chOff x="681038" y="6597491"/>
            <a:chExt cx="10829924" cy="161925"/>
          </a:xfrm>
        </p:grpSpPr>
        <p:sp>
          <p:nvSpPr>
            <p:cNvPr id="39" name="TextBox 39"/>
            <p:cNvSpPr txBox="1"/>
            <p:nvPr/>
          </p:nvSpPr>
          <p:spPr>
            <a:xfrm>
              <a:off x="681038" y="6597491"/>
              <a:ext cx="2720116" cy="161925"/>
            </a:xfrm>
            <a:prstGeom prst="rect">
              <a:avLst/>
            </a:prstGeom>
            <a:noFill/>
            <a:ln>
              <a:noFill/>
            </a:ln>
          </p:spPr>
          <p:txBody>
            <a:bodyPr wrap="none" lIns="0" tIns="0" rIns="0" bIns="0" anchor="t" anchorCtr="0">
              <a:spAutoFit/>
            </a:bodyPr>
            <a:lstStyle/>
            <a:p>
              <a:pPr algn="l"/>
              <a:r>
                <a:rPr lang="en-US" sz="820" dirty="0">
                  <a:solidFill>
                    <a:srgbClr val="94A3B8"/>
                  </a:solidFill>
                  <a:latin typeface="+mn-lt"/>
                  <a:ea typeface="+mn-ea"/>
                  <a:cs typeface="+mn-cs"/>
                </a:rPr>
                <a:t>Matthew Groh · MIT Media Lab · arXiv:2207.01059</a:t>
              </a:r>
            </a:p>
          </p:txBody>
        </p:sp>
        <p:sp>
          <p:nvSpPr>
            <p:cNvPr id="40" name="TextBox 40"/>
            <p:cNvSpPr txBox="1"/>
            <p:nvPr/>
          </p:nvSpPr>
          <p:spPr>
            <a:xfrm>
              <a:off x="11380010" y="6597491"/>
              <a:ext cx="130952" cy="161925"/>
            </a:xfrm>
            <a:prstGeom prst="rect">
              <a:avLst/>
            </a:prstGeom>
            <a:noFill/>
            <a:ln>
              <a:noFill/>
            </a:ln>
          </p:spPr>
          <p:txBody>
            <a:bodyPr wrap="none" lIns="0" tIns="0" rIns="0" bIns="0" anchor="t" anchorCtr="0">
              <a:spAutoFit/>
            </a:bodyPr>
            <a:lstStyle/>
            <a:p>
              <a:pPr algn="r"/>
              <a:r>
                <a:rPr lang="en-US" sz="820" dirty="0">
                  <a:solidFill>
                    <a:srgbClr val="94A3B8"/>
                  </a:solidFill>
                  <a:latin typeface="+mn-lt"/>
                  <a:ea typeface="+mn-ea"/>
                  <a:cs typeface="+mn-cs"/>
                </a:rPr>
                <a:t>09</a:t>
              </a:r>
            </a:p>
          </p:txBody>
        </p:sp>
      </p:grpSp>
      <p:sp>
        <p:nvSpPr>
          <p:cNvPr id="42" name="cue_s09_c1_lasting_message_shift_perspective_st" title="cue_s09_c1_lasting_message_shift_perspective_st" descr="cue_s09_c1_lasting_message_shift_perspective_st The lasting message is a shift in perspective: stop treating the benchmark-to-production gap as a mere statistical distance between two datasets and start treating it as context shift, the semantically meaningful changes in how data are generated."/>
          <p:cNvSpPr/>
          <p:nvPr/>
        </p:nvSpPr>
        <p:spPr>
          <a:xfrm>
            <a:off x="686409" y="1504645"/>
            <a:ext cx="10820400" cy="14285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cue_s09_c2_address_pairing_machine_learning_hum" title="cue_s09_c2_address_pairing_machine_learning_hum" descr="cue_s09_c2_address_pairing_machine_learning_hum Address it by pairing machine learning with human intuition and expertise, by moving from static to dynamic benchmarks that evaluate the data-generation process, and by clearly clarifying each model's limitations."/>
          <p:cNvSpPr/>
          <p:nvPr/>
        </p:nvSpPr>
        <p:spPr>
          <a:xfrm>
            <a:off x="686409" y="3105302"/>
            <a:ext cx="10820400" cy="152384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cue_s09_c3_simplest_most_immediately_effective" title="cue_s09_c3_simplest_most_immediately_effective" descr="cue_s09_c3_simplest_most_immediately_effective The simplest and most immediately effective step is honesty: state plainly the contexts in which a model has been evaluated and the contexts in which its behavior remains unknown."/>
          <p:cNvSpPr/>
          <p:nvPr/>
        </p:nvSpPr>
        <p:spPr>
          <a:xfrm>
            <a:off x="686409" y="4800600"/>
            <a:ext cx="10820400" cy="125707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deck">
  <a:themeElements>
    <a:clrScheme name="deck">
      <a:dk1>
        <a:srgbClr val="1F2937"/>
      </a:dk1>
      <a:lt1>
        <a:srgbClr val="FFFFFF"/>
      </a:lt1>
      <a:dk2>
        <a:srgbClr val="55617A"/>
      </a:dk2>
      <a:lt2>
        <a:srgbClr val="FFFFFF"/>
      </a:lt2>
      <a:accent1>
        <a:srgbClr val="14233B"/>
      </a:accent1>
      <a:accent2>
        <a:srgbClr val="2563EB"/>
      </a:accent2>
      <a:accent3>
        <a:srgbClr val="2563EB"/>
      </a:accent3>
      <a:accent4>
        <a:srgbClr val="E2E8F0"/>
      </a:accent4>
      <a:accent5>
        <a:srgbClr val="F4F7FB"/>
      </a:accent5>
      <a:accent6>
        <a:srgbClr val="EEF2F9"/>
      </a:accent6>
      <a:hlink>
        <a:srgbClr val="2563EB"/>
      </a:hlink>
      <a:folHlink>
        <a:srgbClr val="2563EB"/>
      </a:folHlink>
    </a:clrScheme>
    <a:fontScheme name="deck">
      <a:majorFont>
        <a:latin typeface="Georgia"/>
        <a:ea typeface="Microsoft YaHei"/>
        <a:cs typeface="Georgia"/>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eck">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9</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
  <cp:lastModifiedBy/>
  <cp:revision>1</cp:revision>
  <dcterms:created xsi:type="dcterms:W3CDTF">2026-07-15T12:57:25Z</dcterms:created>
  <dcterms:modified xsi:type="dcterms:W3CDTF">2026-07-15T12:57:25Z</dcterms:modified>
  <cp:category/>
  <cp:contentStatus/>
</cp:coreProperties>
</file>
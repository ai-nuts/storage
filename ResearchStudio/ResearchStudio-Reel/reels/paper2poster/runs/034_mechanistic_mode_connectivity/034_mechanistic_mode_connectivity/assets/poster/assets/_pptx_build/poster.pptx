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615174"/>
          </a:xfrm>
          <a:prstGeom prst="roundRect">
            <a:avLst>
              <a:gd name="adj" fmla="val 3934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788515"/>
            <a:ext cx="16349682" cy="6386353"/>
          </a:xfrm>
          <a:prstGeom prst="roundRect">
            <a:avLst>
              <a:gd name="adj" fmla="val 1113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4788515"/>
            <a:ext cx="16349682" cy="25283437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4788515"/>
            <a:ext cx="16349821" cy="12784931"/>
          </a:xfrm>
          <a:prstGeom prst="roundRect">
            <a:avLst>
              <a:gd name="adj" fmla="val 556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1435595"/>
            <a:ext cx="16349682" cy="18636357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7834173"/>
            <a:ext cx="16349821" cy="5708908"/>
          </a:xfrm>
          <a:prstGeom prst="roundRect">
            <a:avLst>
              <a:gd name="adj" fmla="val 124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3803808"/>
            <a:ext cx="16349821" cy="6268144"/>
          </a:xfrm>
          <a:prstGeom prst="roundRect">
            <a:avLst>
              <a:gd name="adj" fmla="val 1134"/>
            </a:avLst>
          </a:prstGeom>
          <a:solidFill>
            <a:srgbClr val="F7EDEE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803808"/>
            <a:ext cx="53340" cy="6268144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21" y="1149746"/>
            <a:ext cx="4496117" cy="15170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39991" y="5176619"/>
            <a:ext cx="15573474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91" y="5176619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9991" y="6184522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16393" y="5176619"/>
            <a:ext cx="15573474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16393" y="5176619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16393" y="6184522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92795" y="5176619"/>
            <a:ext cx="15573613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92795" y="5176619"/>
            <a:ext cx="1557361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92795" y="6184522"/>
            <a:ext cx="1557361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9991" y="9816782"/>
            <a:ext cx="15573474" cy="969982"/>
          </a:xfrm>
          <a:prstGeom prst="roundRect">
            <a:avLst>
              <a:gd name="adj" fmla="val 21507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1823700"/>
            <a:ext cx="15573474" cy="10345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1823700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2831603"/>
            <a:ext cx="15573474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816393" y="14229556"/>
            <a:ext cx="15573474" cy="2567821"/>
          </a:xfrm>
          <a:prstGeom prst="roundRect">
            <a:avLst>
              <a:gd name="adj" fmla="val 8774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92795" y="15510410"/>
            <a:ext cx="1557361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592795" y="15510410"/>
            <a:ext cx="15573613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816393" y="17040185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592795" y="18222277"/>
            <a:ext cx="1557361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592795" y="18222277"/>
            <a:ext cx="1557361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592795" y="19230181"/>
            <a:ext cx="1557361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592795" y="19576891"/>
            <a:ext cx="15573613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637245" y="24191912"/>
            <a:ext cx="15529163" cy="10345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637245" y="24191912"/>
            <a:ext cx="1552916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637245" y="25199816"/>
            <a:ext cx="15529163" cy="2667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637245" y="28075870"/>
            <a:ext cx="15529163" cy="1668819"/>
          </a:xfrm>
          <a:prstGeom prst="roundRect">
            <a:avLst>
              <a:gd name="adj" fmla="val 125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university-of-michi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5145" y="3093582"/>
            <a:ext cx="4070370" cy="817878"/>
          </a:xfrm>
          <a:prstGeom prst="rect">
            <a:avLst/>
          </a:prstGeom>
        </p:spPr>
      </p:pic>
      <p:pic>
        <p:nvPicPr>
          <p:cNvPr id="37" name="Picture 36" descr="harvard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2489" y="3093583"/>
            <a:ext cx="3216236" cy="817875"/>
          </a:xfrm>
          <a:prstGeom prst="rect">
            <a:avLst/>
          </a:prstGeom>
        </p:spPr>
      </p:pic>
      <p:pic>
        <p:nvPicPr>
          <p:cNvPr id="38" name="Picture 37" descr="physics-informatics-laboratories-ntt-research-i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5699" y="3093581"/>
            <a:ext cx="2249170" cy="817880"/>
          </a:xfrm>
          <a:prstGeom prst="rect">
            <a:avLst/>
          </a:prstGeom>
        </p:spPr>
      </p:pic>
      <p:pic>
        <p:nvPicPr>
          <p:cNvPr id="39" name="Picture 38" descr="university-of-cambri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1843" y="3093594"/>
            <a:ext cx="4028975" cy="817853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4592795" y="9987637"/>
            <a:ext cx="15573613" cy="3946326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92890" y="9987637"/>
            <a:ext cx="15573423" cy="39463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046241" y="17068938"/>
            <a:ext cx="15560834" cy="10779542"/>
          </a:xfrm>
          <a:prstGeom prst="roundRect">
            <a:avLst>
              <a:gd name="adj" fmla="val 32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263" y="17068938"/>
            <a:ext cx="15560790" cy="1077954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7816393" y="19050992"/>
            <a:ext cx="15573474" cy="8680112"/>
          </a:xfrm>
          <a:prstGeom prst="roundRect">
            <a:avLst>
              <a:gd name="adj" fmla="val 40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igur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16425" y="19050992"/>
            <a:ext cx="15573410" cy="868011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3692683" y="19799141"/>
            <a:ext cx="6227861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692683" y="19799141"/>
            <a:ext cx="11557" cy="3235682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92795" y="8480087"/>
            <a:ext cx="15573613" cy="945118"/>
          </a:xfrm>
          <a:prstGeom prst="rect">
            <a:avLst/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592795" y="6828492"/>
            <a:ext cx="7249101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592795" y="7526079"/>
            <a:ext cx="7249101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841896" y="6828492"/>
            <a:ext cx="3955772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841896" y="7526079"/>
            <a:ext cx="3955772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97668" y="6828492"/>
            <a:ext cx="4368740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97668" y="7526079"/>
            <a:ext cx="4368740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592795" y="7534969"/>
            <a:ext cx="724910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592795" y="8471197"/>
            <a:ext cx="7249101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841896" y="7534969"/>
            <a:ext cx="395577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841896" y="8471197"/>
            <a:ext cx="3955772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97668" y="7534969"/>
            <a:ext cx="436874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97668" y="8471197"/>
            <a:ext cx="4368740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92795" y="8480087"/>
            <a:ext cx="724910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592795" y="9416315"/>
            <a:ext cx="7249101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841896" y="8480087"/>
            <a:ext cx="395577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841896" y="9416315"/>
            <a:ext cx="3955772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97668" y="8480087"/>
            <a:ext cx="436874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97668" y="9416315"/>
            <a:ext cx="4368740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15581" y="1007487"/>
            <a:ext cx="34109957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8F2437"/>
                </a:solidFill>
                <a:latin typeface="Arial"/>
              </a:rPr>
              <a:t>Mechanistic Mode Connectivity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15581" y="2363350"/>
            <a:ext cx="34109957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Ekdeep Singh Lubana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1,2,3</a:t>
            </a:r>
            <a:r>
              <a:rPr sz="3920" b="0">
                <a:solidFill>
                  <a:srgbClr val="1B2331"/>
                </a:solidFill>
                <a:latin typeface="Arial"/>
              </a:rPr>
              <a:t>, Eric J. Bigelow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Robert P. Dick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David Krueger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3920" b="0">
                <a:solidFill>
                  <a:srgbClr val="1B2331"/>
                </a:solidFill>
                <a:latin typeface="Arial"/>
              </a:rPr>
              <a:t>, Hidenori Tanaka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2,3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5581" y="3063577"/>
            <a:ext cx="34109957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Michigan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Harvard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NTT Research, Inc.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Cambridge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9991" y="5176619"/>
            <a:ext cx="16000194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16393" y="5176619"/>
            <a:ext cx="16000194" cy="1189758"/>
          </a:xfrm>
          <a:prstGeom prst="rect">
            <a:avLst/>
          </a:prstGeom>
          <a:noFill/>
        </p:spPr>
        <p:txBody>
          <a:bodyPr wrap="non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592795" y="5176619"/>
            <a:ext cx="16000333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91" y="6531232"/>
            <a:ext cx="16000194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Mode-connectivity theory shows a network’s low-loss minimizers are joined by simple paths — but ignores </a:t>
            </a:r>
            <a:r>
              <a:rPr sz="4106" b="1">
                <a:solidFill>
                  <a:srgbClr val="111111"/>
                </a:solidFill>
                <a:latin typeface="Arial"/>
              </a:rPr>
              <a:t>what mechanism</a:t>
            </a:r>
            <a:r>
              <a:rPr sz="4106" b="0">
                <a:solidFill>
                  <a:srgbClr val="1C1C1C"/>
                </a:solidFill>
                <a:latin typeface="Arial"/>
              </a:rPr>
              <a:t> each uses, so it cannot tell whether two solutions predict from the same input attributes.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9816782"/>
            <a:ext cx="16000194" cy="1115479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Prior connectivity work is </a:t>
            </a:r>
            <a:r>
              <a:rPr sz="4106" b="1">
                <a:solidFill>
                  <a:srgbClr val="111111"/>
                </a:solidFill>
                <a:latin typeface="Arial"/>
              </a:rPr>
              <a:t>mechanism-blind</a:t>
            </a:r>
            <a:r>
              <a:rPr sz="4106" b="0">
                <a:solidFill>
                  <a:srgbClr val="8F2437"/>
                </a:solidFill>
                <a:latin typeface="Arial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9991" y="11823700"/>
            <a:ext cx="16000194" cy="1189758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592795" y="15510410"/>
            <a:ext cx="1600033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+55.9 pts on Rand-Cue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— a reliable signal of differing mechanisms.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401049" y="16357044"/>
            <a:ext cx="14830743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CBFT: cross-entropy on cue-free data + a </a:t>
            </a:r>
            <a:r>
              <a:rPr sz="2217" b="1" i="1">
                <a:solidFill>
                  <a:srgbClr val="111111"/>
                </a:solidFill>
                <a:latin typeface="Cambria Math"/>
              </a:rPr>
              <a:t>barrier loss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(raises loss toward the cue-relying model) + an </a:t>
            </a:r>
            <a:r>
              <a:rPr sz="2217" b="1" i="1">
                <a:solidFill>
                  <a:srgbClr val="111111"/>
                </a:solidFill>
                <a:latin typeface="Cambria Math"/>
              </a:rPr>
              <a:t>invariance loss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16393" y="17040185"/>
            <a:ext cx="16000194" cy="1895181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Barrier loss</a:t>
            </a:r>
            <a:r>
              <a:rPr sz="4106" b="0">
                <a:solidFill>
                  <a:srgbClr val="8F2437"/>
                </a:solidFill>
                <a:latin typeface="Arial"/>
              </a:rPr>
              <a:t> chooses </a:t>
            </a:r>
            <a:r>
              <a:rPr sz="4106" b="0" i="1">
                <a:solidFill>
                  <a:srgbClr val="8F2437"/>
                </a:solidFill>
                <a:latin typeface="Arial"/>
              </a:rPr>
              <a:t>where</a:t>
            </a:r>
            <a:r>
              <a:rPr sz="4106" b="0">
                <a:solidFill>
                  <a:srgbClr val="8F2437"/>
                </a:solidFill>
                <a:latin typeface="Arial"/>
              </a:rPr>
              <a:t> to move; </a:t>
            </a:r>
            <a:r>
              <a:rPr sz="4106" b="1">
                <a:solidFill>
                  <a:srgbClr val="111111"/>
                </a:solidFill>
                <a:latin typeface="Arial"/>
              </a:rPr>
              <a:t>invariance loss</a:t>
            </a:r>
            <a:r>
              <a:rPr sz="4106" b="0">
                <a:solidFill>
                  <a:srgbClr val="8F2437"/>
                </a:solidFill>
                <a:latin typeface="Arial"/>
              </a:rPr>
              <a:t> chooses </a:t>
            </a:r>
            <a:r>
              <a:rPr sz="4106" b="0" i="1">
                <a:solidFill>
                  <a:srgbClr val="8F2437"/>
                </a:solidFill>
                <a:latin typeface="Arial"/>
              </a:rPr>
              <a:t>which</a:t>
            </a:r>
            <a:r>
              <a:rPr sz="4106" b="0">
                <a:solidFill>
                  <a:srgbClr val="8F2437"/>
                </a:solidFill>
                <a:latin typeface="Arial"/>
              </a:rPr>
              <a:t> mechanism to keep.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592795" y="18222277"/>
            <a:ext cx="16000333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637245" y="24191912"/>
            <a:ext cx="15955883" cy="1189760"/>
          </a:xfrm>
          <a:prstGeom prst="rect">
            <a:avLst/>
          </a:prstGeom>
          <a:noFill/>
        </p:spPr>
        <p:txBody>
          <a:bodyPr wrap="square" lIns="0" rIns="0" tIns="99568" bIns="99568">
            <a:spAutoFit/>
          </a:bodyPr>
          <a:lstStyle/>
          <a:p>
            <a:pPr algn="ctr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637245" y="25546526"/>
            <a:ext cx="1595588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Linear connectivity reveals whether two models share mechanisms — a practical lever to deliberately edit a model and strip its reliance on spurious cues.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637245" y="28075870"/>
            <a:ext cx="15955883" cy="1919141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Mode connectivity is not a geometric curiosity — it is a handle for robust, editable models.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816375" y="6633329"/>
            <a:ext cx="16000212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Mechanistic similarity.</a:t>
            </a:r>
            <a:r>
              <a:rPr sz="4106" b="0">
                <a:solidFill>
                  <a:srgbClr val="1C1C1C"/>
                </a:solidFill>
                <a:latin typeface="Arial"/>
              </a:rPr>
              <a:t> Two models are similar if invariant to the same unit interventions on the data-generating latents (e.g. shape vs. background).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816375" y="9084468"/>
            <a:ext cx="1600021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Connectivity theorem.</a:t>
            </a:r>
            <a:r>
              <a:rPr sz="4106" b="0">
                <a:solidFill>
                  <a:srgbClr val="1C1C1C"/>
                </a:solidFill>
                <a:latin typeface="Arial"/>
              </a:rPr>
              <a:t> A loss barrier on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linear</a:t>
            </a:r>
            <a:r>
              <a:rPr sz="4106" b="0">
                <a:solidFill>
                  <a:srgbClr val="1C1C1C"/>
                </a:solidFill>
                <a:latin typeface="Arial"/>
              </a:rPr>
              <a:t> path between two minimizers (even after permutation symmetries) implies they are mechanistically dissimilar.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816375" y="11535608"/>
            <a:ext cx="1600021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Benchmarks.</a:t>
            </a:r>
            <a:r>
              <a:rPr sz="4106" b="0">
                <a:solidFill>
                  <a:srgbClr val="1C1C1C"/>
                </a:solidFill>
                <a:latin typeface="Arial"/>
              </a:rPr>
              <a:t> Evaluated on three synthetic cue-augmented datasets (CIFAR-10/100, Dominoes) with counterfactual splits that measure cue reliance.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972" y="13298328"/>
            <a:ext cx="16000213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Two models can reach low loss yet rely on </a:t>
            </a:r>
            <a:r>
              <a:rPr sz="4106" b="1">
                <a:solidFill>
                  <a:srgbClr val="111111"/>
                </a:solidFill>
                <a:latin typeface="Arial"/>
              </a:rPr>
              <a:t>different cues</a:t>
            </a:r>
            <a:r>
              <a:rPr sz="4106" b="0">
                <a:solidFill>
                  <a:srgbClr val="1C1C1C"/>
                </a:solidFill>
                <a:latin typeface="Arial"/>
              </a:rPr>
              <a:t> — background vs. shape.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215790" y="14083565"/>
            <a:ext cx="14754344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Quadratic paths connect the two minimizers; linear paths cannot, even after permutation.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72" y="14993262"/>
            <a:ext cx="16000213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Fine-tuned models stay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linearly connected</a:t>
            </a:r>
            <a:r>
              <a:rPr sz="4106" b="0">
                <a:solidFill>
                  <a:srgbClr val="1C1C1C"/>
                </a:solidFill>
                <a:latin typeface="Arial"/>
              </a:rPr>
              <a:t> to pretraining, so naive fine-tuning may never remove a spurious cue.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439387" y="27880706"/>
            <a:ext cx="14754206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Mechanistic similarity: models are compared by how their predictions respond to unit interventions on latent factors of the data-generating process.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68680" y="27998082"/>
            <a:ext cx="14742676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Are mechanistically dissimilar minimizers (background- vs. shape-reliant) connected by simple low-loss paths — and can we exploit this to switch mechanisms?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838659" y="19799141"/>
            <a:ext cx="8528751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73.4%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838659" y="21174035"/>
            <a:ext cx="8528751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CBFT accuracy · Randomized-Cue · CIFAR-10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838659" y="22216943"/>
            <a:ext cx="8528751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vs. 17.5% for fine-tuning — a 4× gap, essentially cue-invariant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92795" y="6828492"/>
            <a:ext cx="7466574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CIFAR-10 · 60% CUE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841896" y="6828492"/>
            <a:ext cx="4074445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WITH CUE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97668" y="6828492"/>
            <a:ext cx="449980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RAND. CUE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592795" y="7534969"/>
            <a:ext cx="746657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Fine-tune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841896" y="7534969"/>
            <a:ext cx="407444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98.7%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97668" y="7534969"/>
            <a:ext cx="449980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17.5%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92795" y="8480087"/>
            <a:ext cx="746657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CBFT (ours)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841896" y="8480087"/>
            <a:ext cx="407444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71.5%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97668" y="8480087"/>
            <a:ext cx="449980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73.4%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170937" y="19799141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74.1%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872122" y="19932491"/>
            <a:ext cx="308709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CBFT No-Cue acc.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170937" y="20964564"/>
            <a:ext cx="125761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8.8%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574446" y="21097914"/>
            <a:ext cx="360115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Rand-Image ≈ chance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170937" y="22130127"/>
            <a:ext cx="2333957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60–100%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619437" y="22263477"/>
            <a:ext cx="340014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cue proportion swept</a:t>
            </a:r>
          </a:p>
        </p:txBody>
      </p:sp>
      <p:pic>
        <p:nvPicPr>
          <p:cNvPr id="109" name="Picture 108" descr="eq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19499" y="14869219"/>
            <a:ext cx="14767262" cy="862330"/>
          </a:xfrm>
          <a:prstGeom prst="rect">
            <a:avLst/>
          </a:prstGeom>
        </p:spPr>
      </p:pic>
      <p:pic>
        <p:nvPicPr>
          <p:cNvPr id="110" name="Picture 109" descr="eq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05158" y="16294814"/>
            <a:ext cx="446723" cy="400050"/>
          </a:xfrm>
          <a:prstGeom prst="rect">
            <a:avLst/>
          </a:prstGeom>
        </p:spPr>
      </p:pic>
      <p:pic>
        <p:nvPicPr>
          <p:cNvPr id="111" name="Picture 110" descr="eq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61266" y="16294814"/>
            <a:ext cx="373380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
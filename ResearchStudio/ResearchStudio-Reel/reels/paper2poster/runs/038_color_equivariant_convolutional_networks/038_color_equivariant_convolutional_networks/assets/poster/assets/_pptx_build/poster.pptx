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08305"/>
          </a:xfrm>
          <a:prstGeom prst="roundRect">
            <a:avLst>
              <a:gd name="adj" fmla="val 4576"/>
            </a:avLst>
          </a:prstGeom>
          <a:solidFill>
            <a:srgbClr val="EE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281646"/>
            <a:ext cx="16349682" cy="8687752"/>
          </a:xfrm>
          <a:prstGeom prst="roundRect">
            <a:avLst>
              <a:gd name="adj" fmla="val 955"/>
            </a:avLst>
          </a:prstGeom>
          <a:solidFill>
            <a:srgbClr val="F1F1F1"/>
          </a:solidFill>
          <a:ln w="889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4281646"/>
            <a:ext cx="16349682" cy="25790306"/>
          </a:xfrm>
          <a:prstGeom prst="roundRect">
            <a:avLst>
              <a:gd name="adj" fmla="val 507"/>
            </a:avLst>
          </a:prstGeom>
          <a:solidFill>
            <a:srgbClr val="F1F1F1"/>
          </a:solidFill>
          <a:ln w="889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4281646"/>
            <a:ext cx="16349821" cy="10619383"/>
          </a:xfrm>
          <a:prstGeom prst="roundRect">
            <a:avLst>
              <a:gd name="adj" fmla="val 781"/>
            </a:avLst>
          </a:prstGeom>
          <a:solidFill>
            <a:srgbClr val="F1F1F1"/>
          </a:solidFill>
          <a:ln w="889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3301245"/>
            <a:ext cx="16349682" cy="16770707"/>
          </a:xfrm>
          <a:prstGeom prst="roundRect">
            <a:avLst>
              <a:gd name="adj" fmla="val 507"/>
            </a:avLst>
          </a:prstGeom>
          <a:solidFill>
            <a:srgbClr val="F1F1F1"/>
          </a:solidFill>
          <a:ln w="889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5232876"/>
            <a:ext cx="16349821" cy="6578183"/>
          </a:xfrm>
          <a:prstGeom prst="roundRect">
            <a:avLst>
              <a:gd name="adj" fmla="val 1261"/>
            </a:avLst>
          </a:prstGeom>
          <a:solidFill>
            <a:srgbClr val="F1F1F1"/>
          </a:solidFill>
          <a:ln w="889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2142906"/>
            <a:ext cx="16349821" cy="7929046"/>
          </a:xfrm>
          <a:prstGeom prst="roundRect">
            <a:avLst>
              <a:gd name="adj" fmla="val 1046"/>
            </a:avLst>
          </a:prstGeom>
          <a:solidFill>
            <a:srgbClr val="F2F2F3"/>
          </a:solidFill>
          <a:ln w="8890">
            <a:solidFill>
              <a:srgbClr val="D2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2142906"/>
            <a:ext cx="53340" cy="7929046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87" y="1257799"/>
            <a:ext cx="4344988" cy="1896480"/>
          </a:xfrm>
          <a:prstGeom prst="rect">
            <a:avLst/>
          </a:prstGeom>
        </p:spPr>
      </p:pic>
      <p:pic>
        <p:nvPicPr>
          <p:cNvPr id="11" name="Picture 10" descr="delft-university-of-techn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6646" y="1263652"/>
            <a:ext cx="1866066" cy="188463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39991" y="10839549"/>
            <a:ext cx="15573474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9991" y="10839549"/>
            <a:ext cx="124460" cy="1481018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816393" y="12895917"/>
            <a:ext cx="15573474" cy="4096623"/>
          </a:xfrm>
          <a:prstGeom prst="roundRect">
            <a:avLst>
              <a:gd name="adj" fmla="val 5499"/>
            </a:avLst>
          </a:prstGeom>
          <a:solidFill>
            <a:srgbClr val="F3F3F3"/>
          </a:solidFill>
          <a:ln w="8890">
            <a:solidFill>
              <a:srgbClr val="BEB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592795" y="16723340"/>
            <a:ext cx="15573613" cy="4699615"/>
          </a:xfrm>
          <a:prstGeom prst="roundRect">
            <a:avLst>
              <a:gd name="adj" fmla="val 1513"/>
            </a:avLst>
          </a:prstGeom>
          <a:gradFill rotWithShape="1" flip="none">
            <a:gsLst>
              <a:gs pos="0">
                <a:srgbClr val="E7E7E7"/>
              </a:gs>
              <a:gs pos="100000">
                <a:srgbClr val="F3F3F3"/>
              </a:gs>
            </a:gsLst>
            <a:lin ang="5400000" scaled="0"/>
          </a:gradFill>
          <a:ln w="8890">
            <a:solidFill>
              <a:srgbClr val="CCCDC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637245" y="27942103"/>
            <a:ext cx="15529163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37245" y="27942103"/>
            <a:ext cx="124460" cy="1481018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335388" y="9721909"/>
            <a:ext cx="14088289" cy="2955647"/>
          </a:xfrm>
          <a:prstGeom prst="roundRect">
            <a:avLst>
              <a:gd name="adj" fmla="val 120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ur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5626" y="9721909"/>
            <a:ext cx="14087813" cy="295564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3284576" y="16945590"/>
            <a:ext cx="6635968" cy="43026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84576" y="16945590"/>
            <a:ext cx="11557" cy="4302621"/>
          </a:xfrm>
          <a:prstGeom prst="rect">
            <a:avLst/>
          </a:prstGeom>
          <a:solidFill>
            <a:srgbClr val="CCCD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816393" y="17635676"/>
            <a:ext cx="15573474" cy="10085010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6404" y="17635676"/>
            <a:ext cx="15573452" cy="1008501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39991" y="19693989"/>
            <a:ext cx="2284869" cy="819824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4373B"/>
                </a:solidFill>
                <a:latin typeface="Arial"/>
              </a:rPr>
              <a:t>Rotation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81268" y="19693989"/>
            <a:ext cx="2852162" cy="819824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4373B"/>
                </a:solidFill>
                <a:latin typeface="Arial"/>
              </a:rPr>
              <a:t>Translation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89838" y="19693989"/>
            <a:ext cx="1275438" cy="819824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4373B"/>
                </a:solidFill>
                <a:latin typeface="Arial"/>
              </a:rPr>
              <a:t>Flip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21684" y="19693989"/>
            <a:ext cx="1645900" cy="819824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4373B"/>
                </a:solidFill>
                <a:latin typeface="Arial"/>
              </a:rPr>
              <a:t>Scale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23993" y="19693989"/>
            <a:ext cx="5018821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Hue → CEConv (new)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96816" y="20774540"/>
            <a:ext cx="15259824" cy="7629843"/>
          </a:xfrm>
          <a:prstGeom prst="roundRect">
            <a:avLst>
              <a:gd name="adj" fmla="val 46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885" y="20774540"/>
            <a:ext cx="15259685" cy="7629843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4592795" y="6075898"/>
            <a:ext cx="9691628" cy="814407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592795" y="6881415"/>
            <a:ext cx="96916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284423" y="6075898"/>
            <a:ext cx="2754928" cy="814407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284423" y="6881415"/>
            <a:ext cx="27549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39351" y="6075898"/>
            <a:ext cx="3127057" cy="814407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39351" y="6881415"/>
            <a:ext cx="312705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92795" y="6890305"/>
            <a:ext cx="969162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592795" y="7700267"/>
            <a:ext cx="96916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284423" y="6890305"/>
            <a:ext cx="275492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284423" y="7700267"/>
            <a:ext cx="27549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39351" y="6890305"/>
            <a:ext cx="312705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39351" y="7700267"/>
            <a:ext cx="312705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592795" y="7709157"/>
            <a:ext cx="969162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592795" y="8519120"/>
            <a:ext cx="96916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284423" y="7709157"/>
            <a:ext cx="275492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284423" y="8519120"/>
            <a:ext cx="27549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039351" y="7709157"/>
            <a:ext cx="3127057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39351" y="8519120"/>
            <a:ext cx="312705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592795" y="8528010"/>
            <a:ext cx="9691628" cy="818852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592795" y="9337972"/>
            <a:ext cx="96916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284423" y="8528010"/>
            <a:ext cx="2754928" cy="818852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284423" y="9337972"/>
            <a:ext cx="275492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039351" y="8528010"/>
            <a:ext cx="3127057" cy="818852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039351" y="9337972"/>
            <a:ext cx="312705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34373B"/>
                </a:solidFill>
                <a:latin typeface="Arial"/>
              </a:rPr>
              <a:t>Color Equivariant Convolutional Networks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Attila Lengyel, Ombretta Strafforello, Robert-Jan Bruintjes, Alexander Gielisse, Jan van Gemert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Computer Vision Lab, Delft University of Technology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9991" y="4669750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Problem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816393" y="4669750"/>
            <a:ext cx="1600019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Method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92795" y="4669750"/>
            <a:ext cx="1600033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Key Results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9991" y="5906849"/>
            <a:ext cx="16000194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CNNs lean on </a:t>
            </a:r>
            <a:r>
              <a:rPr sz="4106" b="1">
                <a:solidFill>
                  <a:srgbClr val="111111"/>
                </a:solidFill>
                <a:latin typeface="Arial"/>
              </a:rPr>
              <a:t>color</a:t>
            </a:r>
            <a:r>
              <a:rPr sz="4106" b="0">
                <a:solidFill>
                  <a:srgbClr val="1C1C1C"/>
                </a:solidFill>
                <a:latin typeface="Arial"/>
              </a:rPr>
              <a:t> to recognize objects, but real data rarely covers every color a class can take: a model trained mostly on red cars misreads a blue one and accuracy collapses under </a:t>
            </a:r>
            <a:r>
              <a:rPr sz="4106" b="1">
                <a:solidFill>
                  <a:srgbClr val="111111"/>
                </a:solidFill>
                <a:latin typeface="Arial"/>
              </a:rPr>
              <a:t>train–test color shift</a:t>
            </a:r>
            <a:r>
              <a:rPr sz="4106" b="0">
                <a:solidFill>
                  <a:srgbClr val="1C1C1C"/>
                </a:solidFill>
                <a:latin typeface="Arial"/>
              </a:rPr>
              <a:t>. The classic remedy, </a:t>
            </a:r>
            <a:r>
              <a:rPr sz="4106" b="1">
                <a:solidFill>
                  <a:srgbClr val="111111"/>
                </a:solidFill>
                <a:latin typeface="Arial"/>
              </a:rPr>
              <a:t>color invariance</a:t>
            </a:r>
            <a:r>
              <a:rPr sz="4106" b="0">
                <a:solidFill>
                  <a:srgbClr val="1C1C1C"/>
                </a:solidFill>
                <a:latin typeface="Arial"/>
              </a:rPr>
              <a:t>, restores robustness only by throwing color away, sacrificing a genuinely discriminative cue.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9991" y="10839549"/>
            <a:ext cx="16000194" cy="1703170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goal: keep color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and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generalize across colors that were rare or unseen during training.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9991" y="13689349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Motivation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92795" y="15620980"/>
            <a:ext cx="1600033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Headline Numbers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56735" y="16510674"/>
            <a:ext cx="10395573" cy="422518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Input-layer CEConv: each filter ψ is hue-rotated by H</a:t>
            </a:r>
            <a:r>
              <a:rPr sz="3104" b="0" i="1" baseline="-25000">
                <a:solidFill>
                  <a:srgbClr val="555555"/>
                </a:solidFill>
                <a:latin typeface="Cambria Math"/>
              </a:rPr>
              <a:t>n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(k) for the n discrete color shifts k.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637245" y="22531010"/>
            <a:ext cx="159558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Takeaway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37245" y="23766859"/>
            <a:ext cx="15955883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Color deserves the same equivariance treatment as rotation and translation.</a:t>
            </a:r>
            <a:r>
              <a:rPr sz="4106" b="0">
                <a:solidFill>
                  <a:srgbClr val="1C1C1C"/>
                </a:solidFill>
                <a:latin typeface="Arial"/>
              </a:rPr>
              <a:t> Make convolutions </a:t>
            </a:r>
            <a:r>
              <a:rPr sz="4106" b="1">
                <a:solidFill>
                  <a:srgbClr val="111111"/>
                </a:solidFill>
                <a:latin typeface="Arial"/>
              </a:rPr>
              <a:t>equivariant to hue</a:t>
            </a:r>
            <a:r>
              <a:rPr sz="4106" b="0">
                <a:solidFill>
                  <a:srgbClr val="1C1C1C"/>
                </a:solidFill>
                <a:latin typeface="Arial"/>
              </a:rPr>
              <a:t> and a network shares shape features across the color spectrum, staying robust to color-distribution shift while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keeping</a:t>
            </a:r>
            <a:r>
              <a:rPr sz="4106" b="0">
                <a:solidFill>
                  <a:srgbClr val="1C1C1C"/>
                </a:solidFill>
                <a:latin typeface="Arial"/>
              </a:rPr>
              <a:t>, not discarding, discriminative color.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637245" y="27942103"/>
            <a:ext cx="15955883" cy="1703170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CEConvs drop into ResNets, complement color augmentation, and deliver the largest gains on color-selective datasets.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816375" y="6013807"/>
            <a:ext cx="16000212" cy="2706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hue shift in HSV space is, in RGB space, a </a:t>
            </a:r>
            <a:r>
              <a:rPr sz="4106" b="1">
                <a:solidFill>
                  <a:srgbClr val="111111"/>
                </a:solidFill>
                <a:latin typeface="Arial"/>
              </a:rPr>
              <a:t>rotation about the [1,1,1] gray diagonal</a:t>
            </a:r>
            <a:r>
              <a:rPr sz="4106" b="0">
                <a:solidFill>
                  <a:srgbClr val="1C1C1C"/>
                </a:solidFill>
                <a:latin typeface="Arial"/>
              </a:rPr>
              <a:t>. CEConv formalizes color as equivariance to the group </a:t>
            </a:r>
            <a:r>
              <a:rPr sz="4106" b="1">
                <a:solidFill>
                  <a:srgbClr val="111111"/>
                </a:solidFill>
                <a:latin typeface="Arial"/>
              </a:rPr>
              <a:t>H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n</a:t>
            </a:r>
            <a:r>
              <a:rPr sz="4106" b="0">
                <a:solidFill>
                  <a:srgbClr val="1C1C1C"/>
                </a:solidFill>
                <a:latin typeface="Arial"/>
              </a:rPr>
              <a:t> of n discrete 360/n° hue rotations.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16375" y="8549957"/>
            <a:ext cx="16000212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Each filter is correlated with </a:t>
            </a:r>
            <a:r>
              <a:rPr sz="4106" b="1">
                <a:solidFill>
                  <a:srgbClr val="111111"/>
                </a:solidFill>
                <a:latin typeface="Arial"/>
              </a:rPr>
              <a:t>hue-rotated copies</a:t>
            </a:r>
            <a:r>
              <a:rPr sz="4106" b="0">
                <a:solidFill>
                  <a:srgbClr val="1C1C1C"/>
                </a:solidFill>
                <a:latin typeface="Arial"/>
              </a:rPr>
              <a:t> of itself, adding a color-group dimension to the feature map; hidden layers </a:t>
            </a:r>
            <a:r>
              <a:rPr sz="4106" b="1">
                <a:solidFill>
                  <a:srgbClr val="111111"/>
                </a:solidFill>
                <a:latin typeface="Arial"/>
              </a:rPr>
              <a:t>cyclically permute</a:t>
            </a:r>
            <a:r>
              <a:rPr sz="4106" b="0">
                <a:solidFill>
                  <a:srgbClr val="1C1C1C"/>
                </a:solidFill>
                <a:latin typeface="Arial"/>
              </a:rPr>
              <a:t> filters and </a:t>
            </a:r>
            <a:r>
              <a:rPr sz="4106" b="1">
                <a:solidFill>
                  <a:srgbClr val="111111"/>
                </a:solidFill>
                <a:latin typeface="Arial"/>
              </a:rPr>
              <a:t>coset-pool</a:t>
            </a:r>
            <a:r>
              <a:rPr sz="4106" b="0">
                <a:solidFill>
                  <a:srgbClr val="1C1C1C"/>
                </a:solidFill>
                <a:latin typeface="Arial"/>
              </a:rPr>
              <a:t> for hue invariance. A spatial/pointwise decomposition keeps the parameter and compute cost near-flat, and it drops into a standard ResNet.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898931" y="12827158"/>
            <a:ext cx="13350039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Neuron-Feature visualization across stages of a CE-ResNet18 (Flowers-102): each row is one filter's hue rotations, activating on the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same shape in a different color</a:t>
            </a:r>
            <a:r>
              <a:rPr sz="3367" b="0" i="1">
                <a:solidFill>
                  <a:srgbClr val="555555"/>
                </a:solidFill>
                <a:latin typeface="Arial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72" y="14791709"/>
            <a:ext cx="1600021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Group-equivariant CNNs share parameters across </a:t>
            </a:r>
            <a:r>
              <a:rPr sz="4106" b="1">
                <a:solidFill>
                  <a:srgbClr val="111111"/>
                </a:solidFill>
                <a:latin typeface="Arial"/>
              </a:rPr>
              <a:t>rotations, flips, and translations</a:t>
            </a:r>
            <a:r>
              <a:rPr sz="4106" b="0">
                <a:solidFill>
                  <a:srgbClr val="1C1C1C"/>
                </a:solidFill>
                <a:latin typeface="Arial"/>
              </a:rPr>
              <a:t> for data efficiency — yet </a:t>
            </a:r>
            <a:r>
              <a:rPr sz="4106" b="1">
                <a:solidFill>
                  <a:srgbClr val="111111"/>
                </a:solidFill>
                <a:latin typeface="Arial"/>
              </a:rPr>
              <a:t>photometric</a:t>
            </a:r>
            <a:r>
              <a:rPr sz="4106" b="0">
                <a:solidFill>
                  <a:srgbClr val="1C1C1C"/>
                </a:solidFill>
                <a:latin typeface="Arial"/>
              </a:rPr>
              <a:t> transforms like hue shifts stay unexplored.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72" y="17242849"/>
            <a:ext cx="1600021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Early CNN layers learn strongly </a:t>
            </a:r>
            <a:r>
              <a:rPr sz="4106" b="1">
                <a:solidFill>
                  <a:srgbClr val="111111"/>
                </a:solidFill>
                <a:latin typeface="Arial"/>
              </a:rPr>
              <a:t>color-selective</a:t>
            </a:r>
            <a:r>
              <a:rPr sz="4106" b="0">
                <a:solidFill>
                  <a:srgbClr val="1C1C1C"/>
                </a:solidFill>
                <a:latin typeface="Arial"/>
              </a:rPr>
              <a:t> neurons, so color is a natural axis for equivariance: a hue shift is a symmetry to respect, exactly like a rotation.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39387" y="27870288"/>
            <a:ext cx="14754206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 hue shift Tᵍ on the input maps to a predictable feature permutation Tᵍ′ in the CECNN, sharing shape across colors where a vanilla CNN's response is unpredictable.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07170" y="28553985"/>
            <a:ext cx="14460146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Long-tailed ColorMNIST: a vanilla CNN collapses on rare classes; CECNN stays accurate across the tail.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838659" y="17739717"/>
            <a:ext cx="8108401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4373B"/>
                </a:solidFill>
                <a:latin typeface="Arial"/>
              </a:rPr>
              <a:t>2.5×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838659" y="19114611"/>
            <a:ext cx="8108401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Flowers-102 hue-shift accuracy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838659" y="19636065"/>
            <a:ext cx="8108401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13.41% → 33.33%, averaged over the full hue circle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592795" y="6075898"/>
            <a:ext cx="9982376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4373B"/>
                </a:solidFill>
                <a:latin typeface="Arial"/>
              </a:rPr>
              <a:t>Dataset · avg hue-shift acc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284423" y="6075898"/>
            <a:ext cx="2837575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4373B"/>
                </a:solidFill>
                <a:latin typeface="Arial"/>
              </a:rPr>
              <a:t>Vanilla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39351" y="6075898"/>
            <a:ext cx="3220868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4373B"/>
                </a:solidFill>
                <a:latin typeface="Arial"/>
              </a:rPr>
              <a:t>CEConv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92795" y="6890305"/>
            <a:ext cx="9982376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Flowers-102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284423" y="6890305"/>
            <a:ext cx="2837575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13.41%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039351" y="6890305"/>
            <a:ext cx="322086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33.33%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592795" y="7709157"/>
            <a:ext cx="9982376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CIFAR-100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284423" y="7709157"/>
            <a:ext cx="2837575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47.01%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039351" y="7709157"/>
            <a:ext cx="3220868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62.11%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92795" y="8528010"/>
            <a:ext cx="9982376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4373B"/>
                </a:solidFill>
                <a:latin typeface="Arial"/>
              </a:rPr>
              <a:t>Stanford Cars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284423" y="8528010"/>
            <a:ext cx="2837575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4373B"/>
                </a:solidFill>
                <a:latin typeface="Arial"/>
              </a:rPr>
              <a:t>55.59%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039351" y="8528010"/>
            <a:ext cx="322086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4373B"/>
                </a:solidFill>
                <a:latin typeface="Arial"/>
              </a:rPr>
              <a:t>68.17%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762830" y="16945590"/>
            <a:ext cx="139296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+19.8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297744" y="17078940"/>
            <a:ext cx="4761484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pts, long-tailed ColorMNIST (91.4 vs 71.6)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762830" y="18193107"/>
            <a:ext cx="139296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+15.1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297744" y="18326457"/>
            <a:ext cx="468207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pts, CIFAR-100 hue-shift acc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762830" y="19013904"/>
            <a:ext cx="139296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+12.6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297744" y="19147254"/>
            <a:ext cx="4761484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pts, Stanford Cars hue-shift acc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762830" y="20261421"/>
            <a:ext cx="60935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≈0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536955" y="20394771"/>
            <a:ext cx="5545096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clean-acc cost (on par with vanilla)</a:t>
            </a:r>
          </a:p>
        </p:txBody>
      </p:sp>
      <p:pic>
        <p:nvPicPr>
          <p:cNvPr id="99" name="Picture 98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9499" y="13535580"/>
            <a:ext cx="14767262" cy="23673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
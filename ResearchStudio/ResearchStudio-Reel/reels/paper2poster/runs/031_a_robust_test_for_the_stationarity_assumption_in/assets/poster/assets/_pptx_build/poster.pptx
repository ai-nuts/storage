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274562"/>
          </a:xfrm>
          <a:prstGeom prst="roundRect">
            <a:avLst>
              <a:gd name="adj" fmla="val 3882"/>
            </a:avLst>
          </a:prstGeom>
          <a:solidFill>
            <a:srgbClr val="FFFFFF"/>
          </a:solidFill>
          <a:ln w="35560">
            <a:solidFill>
              <a:srgbClr val="0F607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988178" y="1675070"/>
            <a:ext cx="6189385" cy="2228195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1887" y="5447903"/>
            <a:ext cx="16349682" cy="7339528"/>
          </a:xfrm>
          <a:prstGeom prst="roundRect">
            <a:avLst>
              <a:gd name="adj" fmla="val 2261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428289" y="5447903"/>
            <a:ext cx="16349682" cy="16892944"/>
          </a:xfrm>
          <a:prstGeom prst="roundRect">
            <a:avLst>
              <a:gd name="adj" fmla="val 1014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04691" y="5447903"/>
            <a:ext cx="16349821" cy="24624049"/>
          </a:xfrm>
          <a:prstGeom prst="roundRect">
            <a:avLst>
              <a:gd name="adj" fmla="val 1014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1887" y="13119278"/>
            <a:ext cx="16349682" cy="16952674"/>
          </a:xfrm>
          <a:prstGeom prst="roundRect">
            <a:avLst>
              <a:gd name="adj" fmla="val 1014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428289" y="22672694"/>
            <a:ext cx="16349682" cy="7399258"/>
          </a:xfrm>
          <a:prstGeom prst="roundRect">
            <a:avLst>
              <a:gd name="adj" fmla="val 2242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2658" y="1840936"/>
            <a:ext cx="5620425" cy="1896463"/>
          </a:xfrm>
          <a:prstGeom prst="rect">
            <a:avLst/>
          </a:prstGeom>
        </p:spPr>
      </p:pic>
      <p:pic>
        <p:nvPicPr>
          <p:cNvPr id="10" name="Picture 9" descr="university-of-michig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459" y="2086800"/>
            <a:ext cx="6990318" cy="1404596"/>
          </a:xfrm>
          <a:prstGeom prst="rect">
            <a:avLst/>
          </a:prstGeom>
        </p:spPr>
      </p:pic>
      <p:pic>
        <p:nvPicPr>
          <p:cNvPr id="11" name="Picture 10" descr="london-school-of-economics-and-political-sci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2751" y="2086802"/>
            <a:ext cx="4108431" cy="140459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60777" y="5456793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437179" y="5456793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213581" y="5456793"/>
            <a:ext cx="16332041" cy="1180425"/>
          </a:xfrm>
          <a:prstGeom prst="roundRect">
            <a:avLst>
              <a:gd name="adj" fmla="val 14058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9991" y="10242807"/>
            <a:ext cx="15573474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991" y="10242807"/>
            <a:ext cx="124460" cy="2159020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816393" y="11474489"/>
            <a:ext cx="15573474" cy="2173050"/>
          </a:xfrm>
          <a:prstGeom prst="roundRect">
            <a:avLst>
              <a:gd name="adj" fmla="val 10368"/>
            </a:avLst>
          </a:prstGeom>
          <a:solidFill>
            <a:srgbClr val="F1F5F6"/>
          </a:solidFill>
          <a:ln w="8890">
            <a:solidFill>
              <a:srgbClr val="B2C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0777" y="13128168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7437179" y="22681584"/>
            <a:ext cx="16331902" cy="1180426"/>
          </a:xfrm>
          <a:prstGeom prst="roundRect">
            <a:avLst>
              <a:gd name="adj" fmla="val 14058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7816393" y="24305121"/>
            <a:ext cx="15573474" cy="2776180"/>
          </a:xfrm>
          <a:prstGeom prst="roundRect">
            <a:avLst>
              <a:gd name="adj" fmla="val 2561"/>
            </a:avLst>
          </a:prstGeom>
          <a:gradFill rotWithShape="1" flip="none">
            <a:gsLst>
              <a:gs pos="0">
                <a:srgbClr val="E2ECEE"/>
              </a:gs>
              <a:gs pos="100000">
                <a:srgbClr val="F1F5F6"/>
              </a:gs>
            </a:gsLst>
            <a:lin ang="5400000" scaled="0"/>
          </a:gradFill>
          <a:ln w="8890">
            <a:solidFill>
              <a:srgbClr val="C3D7DB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816393" y="27204372"/>
            <a:ext cx="15573474" cy="223958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816393" y="27204372"/>
            <a:ext cx="15573474" cy="11557"/>
          </a:xfrm>
          <a:prstGeom prst="rect">
            <a:avLst/>
          </a:prstGeom>
          <a:solidFill>
            <a:srgbClr val="AB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592795" y="27339805"/>
            <a:ext cx="15573613" cy="22395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592795" y="27339805"/>
            <a:ext cx="15573613" cy="11557"/>
          </a:xfrm>
          <a:prstGeom prst="rect">
            <a:avLst/>
          </a:prstGeom>
          <a:solidFill>
            <a:srgbClr val="AB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592795" y="10482976"/>
            <a:ext cx="15573613" cy="6509981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age8_figur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92891" y="10482976"/>
            <a:ext cx="15573421" cy="6509981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18135877" y="14089122"/>
            <a:ext cx="14934367" cy="5955466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page7_figur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35997" y="14089122"/>
            <a:ext cx="14934128" cy="5955466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34592795" y="18874303"/>
            <a:ext cx="15573613" cy="6917809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age9_figure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92835" y="18874303"/>
            <a:ext cx="15573534" cy="6917809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039991" y="20340875"/>
            <a:ext cx="15573474" cy="6975316"/>
          </a:xfrm>
          <a:prstGeom prst="roundRect">
            <a:avLst>
              <a:gd name="adj" fmla="val 135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page9_figure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066" y="20340875"/>
            <a:ext cx="15573323" cy="6975316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28297147" y="24527371"/>
            <a:ext cx="4846856" cy="23791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297147" y="24527371"/>
            <a:ext cx="11557" cy="2379186"/>
          </a:xfrm>
          <a:prstGeom prst="rect">
            <a:avLst/>
          </a:prstGeom>
          <a:solidFill>
            <a:srgbClr val="C3D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39991" y="28870136"/>
            <a:ext cx="3319581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Mobile health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15981" y="28870136"/>
            <a:ext cx="3442930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Traffic control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15319" y="28870136"/>
            <a:ext cx="2383771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Robotics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655498" y="28870136"/>
            <a:ext cx="4551124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Intern Health Study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816393" y="6997402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7816393" y="8954591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592795" y="7419677"/>
            <a:ext cx="4238447" cy="891917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592795" y="8302704"/>
            <a:ext cx="423844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831242" y="7419677"/>
            <a:ext cx="6082565" cy="891917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831242" y="8302704"/>
            <a:ext cx="608256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13807" y="7419677"/>
            <a:ext cx="5252601" cy="891917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913807" y="8302704"/>
            <a:ext cx="525260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592795" y="8311594"/>
            <a:ext cx="4238447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592795" y="9121556"/>
            <a:ext cx="423844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8831242" y="8311594"/>
            <a:ext cx="6082565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8831242" y="9121556"/>
            <a:ext cx="608256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4913807" y="8311594"/>
            <a:ext cx="5252601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4913807" y="9121556"/>
            <a:ext cx="525260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4592795" y="9130446"/>
            <a:ext cx="4238447" cy="818853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4592795" y="9940409"/>
            <a:ext cx="423844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831242" y="9130446"/>
            <a:ext cx="6082565" cy="818853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8831242" y="9940409"/>
            <a:ext cx="608256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4913807" y="9130446"/>
            <a:ext cx="5252601" cy="818853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4913807" y="9940409"/>
            <a:ext cx="525260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464460" y="1019294"/>
            <a:ext cx="24704060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172"/>
              </a:lnSpc>
              <a:spcBef>
                <a:spcPts val="0"/>
              </a:spcBef>
              <a:spcAft>
                <a:spcPts val="0"/>
              </a:spcAft>
            </a:pPr>
            <a:r>
              <a:rPr sz="7429" b="1" spc="-78">
                <a:solidFill>
                  <a:srgbClr val="0F6070"/>
                </a:solidFill>
                <a:latin typeface="Arial"/>
              </a:rPr>
              <a:t>A Robust Test for the Stationarity Assumption in</a:t>
            </a:r>
          </a:p>
          <a:p>
            <a:pPr algn="ctr">
              <a:lnSpc>
                <a:spcPts val="8172"/>
              </a:lnSpc>
              <a:spcBef>
                <a:spcPts val="0"/>
              </a:spcBef>
              <a:spcAft>
                <a:spcPts val="0"/>
              </a:spcAft>
            </a:pPr>
            <a:r>
              <a:rPr sz="7429" b="1" spc="-78">
                <a:solidFill>
                  <a:srgbClr val="0F6070"/>
                </a:solidFill>
                <a:latin typeface="Arial"/>
              </a:rPr>
              <a:t>Sequential Decision Making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464460" y="3408620"/>
            <a:ext cx="24704060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C1C1C"/>
                </a:solidFill>
                <a:latin typeface="Arial"/>
              </a:rPr>
              <a:t>Jitao Wang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733" b="0">
                <a:solidFill>
                  <a:srgbClr val="1C1C1C"/>
                </a:solidFill>
                <a:latin typeface="Arial"/>
              </a:rPr>
              <a:t>, Chengchun Shi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2</a:t>
            </a:r>
            <a:r>
              <a:rPr sz="3733" b="0">
                <a:solidFill>
                  <a:srgbClr val="1C1C1C"/>
                </a:solidFill>
                <a:latin typeface="Arial"/>
              </a:rPr>
              <a:t>, Zhenke Wu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464460" y="4077870"/>
            <a:ext cx="24704060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5555"/>
                </a:solidFill>
                <a:latin typeface="Arial"/>
              </a:rPr>
              <a:t>1</a:t>
            </a:r>
            <a:r>
              <a:rPr sz="2613" b="0" spc="52">
                <a:solidFill>
                  <a:srgbClr val="555555"/>
                </a:solidFill>
                <a:latin typeface="Arial"/>
              </a:rPr>
              <a:t> Department of Biostatistics, University of Michigan, Ann Arbor    </a:t>
            </a:r>
            <a:r>
              <a:rPr sz="3658" b="0" spc="52" baseline="30000">
                <a:solidFill>
                  <a:srgbClr val="555555"/>
                </a:solidFill>
                <a:latin typeface="Arial"/>
              </a:rPr>
              <a:t>2</a:t>
            </a:r>
            <a:r>
              <a:rPr sz="2613" b="0" spc="52">
                <a:solidFill>
                  <a:srgbClr val="555555"/>
                </a:solidFill>
                <a:latin typeface="Arial"/>
              </a:rPr>
              <a:t> Department of Statistics, London School of Economics and Political Science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0777" y="5456793"/>
            <a:ext cx="16758622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Problem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437179" y="5456793"/>
            <a:ext cx="16758622" cy="1357488"/>
          </a:xfrm>
          <a:prstGeom prst="rect">
            <a:avLst/>
          </a:prstGeom>
          <a:noFill/>
        </p:spPr>
        <p:txBody>
          <a:bodyPr wrap="non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Method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213581" y="5456793"/>
            <a:ext cx="16758761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Key Results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9991" y="6957258"/>
            <a:ext cx="16000194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Most RL algorithms assume a </a:t>
            </a:r>
            <a:r>
              <a:rPr sz="4106" b="1">
                <a:solidFill>
                  <a:srgbClr val="111111"/>
                </a:solidFill>
                <a:latin typeface="Arial"/>
              </a:rPr>
              <a:t>stationary MDP</a:t>
            </a:r>
            <a:r>
              <a:rPr sz="4106" b="0">
                <a:solidFill>
                  <a:srgbClr val="1C1C1C"/>
                </a:solidFill>
                <a:latin typeface="Arial"/>
              </a:rPr>
              <a:t> with time-invariant transition and reward functions. Real offline systems </a:t>
            </a:r>
            <a:r>
              <a:rPr sz="4106" b="1">
                <a:solidFill>
                  <a:srgbClr val="111111"/>
                </a:solidFill>
                <a:latin typeface="Arial"/>
              </a:rPr>
              <a:t>drift over time</a:t>
            </a:r>
            <a:r>
              <a:rPr sz="4106" b="0">
                <a:solidFill>
                  <a:srgbClr val="1C1C1C"/>
                </a:solidFill>
                <a:latin typeface="Arial"/>
              </a:rPr>
              <a:t>, so a policy learned as if the world were frozen becomes suboptimal, sometimes harmful.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9991" y="10242807"/>
            <a:ext cx="16000194" cy="2482873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Before trusting any learned policy, we must ask: is the environment actually stationary — and if not,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where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did it change?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0777" y="13128168"/>
            <a:ext cx="16758622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Motivation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53402" y="13165673"/>
            <a:ext cx="10402439" cy="422518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       </a:t>
            </a:r>
            <a:r>
              <a:rPr sz="4435" b="0">
                <a:solidFill>
                  <a:srgbClr val="1C1C1C"/>
                </a:solidFill>
                <a:latin typeface="Cambria Math"/>
              </a:rPr>
              <a:t>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Doubly robust ψ with E[ψ]=0 under H</a:t>
            </a:r>
            <a:r>
              <a:rPr sz="3104" b="0" i="1" baseline="-25000">
                <a:solidFill>
                  <a:srgbClr val="555555"/>
                </a:solidFill>
                <a:latin typeface="Cambria Math"/>
              </a:rPr>
              <a:t>0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 (stationarity); valid if either M</a:t>
            </a:r>
            <a:r>
              <a:rPr sz="3104" b="0" i="1" baseline="-25000">
                <a:solidFill>
                  <a:srgbClr val="555555"/>
                </a:solidFill>
                <a:latin typeface="Cambria Math"/>
              </a:rPr>
              <a:t>1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 or M</a:t>
            </a:r>
            <a:r>
              <a:rPr sz="3104" b="0" i="1" baseline="-25000">
                <a:solidFill>
                  <a:srgbClr val="555555"/>
                </a:solidFill>
                <a:latin typeface="Cambria Math"/>
              </a:rPr>
              <a:t>2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 is correct.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437179" y="22681584"/>
            <a:ext cx="16758622" cy="1357489"/>
          </a:xfrm>
          <a:prstGeom prst="rect">
            <a:avLst/>
          </a:prstGeom>
          <a:noFill/>
        </p:spPr>
        <p:txBody>
          <a:bodyPr wrap="square" lIns="379306" rIns="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Headline Numbers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816393" y="27204372"/>
            <a:ext cx="16000194" cy="2575522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Nominal α=0.05 held across all four simulations and both IHS specialties; power stays high even under heavy model misspecification.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592795" y="27339805"/>
            <a:ext cx="16000333" cy="2575523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Type-I error is controlled in </a:t>
            </a:r>
            <a:r>
              <a:rPr sz="3778" b="1" i="1">
                <a:solidFill>
                  <a:srgbClr val="111111"/>
                </a:solidFill>
                <a:latin typeface="Arial"/>
              </a:rPr>
              <a:t>every</a:t>
            </a:r>
            <a:r>
              <a:rPr sz="3778" b="0" i="1">
                <a:solidFill>
                  <a:srgbClr val="1C1C1C"/>
                </a:solidFill>
                <a:latin typeface="Arial"/>
              </a:rPr>
              <a:t> setting, and detecting the change point lets each policy relearn on its stationary segment — recovering reward that drift would erode.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8778535" y="6997402"/>
            <a:ext cx="15038052" cy="18910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At each candidate change point </a:t>
            </a:r>
            <a:r>
              <a:rPr sz="4353" b="1">
                <a:solidFill>
                  <a:srgbClr val="111111"/>
                </a:solidFill>
                <a:latin typeface="Arial"/>
              </a:rPr>
              <a:t>t</a:t>
            </a:r>
            <a:r>
              <a:rPr sz="4106" b="0">
                <a:solidFill>
                  <a:srgbClr val="1C1C1C"/>
                </a:solidFill>
                <a:latin typeface="Arial"/>
              </a:rPr>
              <a:t>, </a:t>
            </a:r>
            <a:r>
              <a:rPr sz="4106" b="1">
                <a:solidFill>
                  <a:srgbClr val="111111"/>
                </a:solidFill>
                <a:latin typeface="Arial"/>
              </a:rPr>
              <a:t>compare pooled transition dynamics</a:t>
            </a:r>
            <a:r>
              <a:rPr sz="4106" b="0">
                <a:solidFill>
                  <a:srgbClr val="1C1C1C"/>
                </a:solidFill>
                <a:latin typeface="Arial"/>
              </a:rPr>
              <a:t> before vs. after via a </a:t>
            </a:r>
            <a:r>
              <a:rPr sz="4106" b="1">
                <a:solidFill>
                  <a:srgbClr val="111111"/>
                </a:solidFill>
                <a:latin typeface="Arial"/>
              </a:rPr>
              <a:t>CUSUM-type statistic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778535" y="8954591"/>
            <a:ext cx="15038052" cy="26898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</a:t>
            </a:r>
            <a:r>
              <a:rPr sz="4106" b="1">
                <a:solidFill>
                  <a:srgbClr val="111111"/>
                </a:solidFill>
                <a:latin typeface="Arial"/>
              </a:rPr>
              <a:t>mean-zero augmentation</a:t>
            </a:r>
            <a:r>
              <a:rPr sz="4106" b="0">
                <a:solidFill>
                  <a:srgbClr val="1C1C1C"/>
                </a:solidFill>
                <a:latin typeface="Arial"/>
              </a:rPr>
              <a:t> makes it </a:t>
            </a:r>
            <a:r>
              <a:rPr sz="4106" b="1">
                <a:solidFill>
                  <a:srgbClr val="111111"/>
                </a:solidFill>
                <a:latin typeface="Arial"/>
              </a:rPr>
              <a:t>doubly robust</a:t>
            </a:r>
            <a:r>
              <a:rPr sz="4106" b="0">
                <a:solidFill>
                  <a:srgbClr val="1C1C1C"/>
                </a:solidFill>
                <a:latin typeface="Arial"/>
              </a:rPr>
              <a:t> (neural nets / RF / lasso estimate the nuisances); sample-split + cross-fit, then a </a:t>
            </a:r>
            <a:r>
              <a:rPr sz="4106" b="1">
                <a:solidFill>
                  <a:srgbClr val="111111"/>
                </a:solidFill>
                <a:latin typeface="Arial"/>
              </a:rPr>
              <a:t>Gaussian multiplier bootstrap</a:t>
            </a:r>
            <a:r>
              <a:rPr sz="4106" b="0">
                <a:solidFill>
                  <a:srgbClr val="1C1C1C"/>
                </a:solidFill>
                <a:latin typeface="Arial"/>
              </a:rPr>
              <a:t> gives the p-value.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9972" y="14903251"/>
            <a:ext cx="16000213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Non-stationarity is pervasive in </a:t>
            </a:r>
            <a:r>
              <a:rPr sz="4106" b="1">
                <a:solidFill>
                  <a:srgbClr val="111111"/>
                </a:solidFill>
                <a:latin typeface="Arial"/>
              </a:rPr>
              <a:t>mobile health, traffic control, and robotics</a:t>
            </a:r>
            <a:r>
              <a:rPr sz="4106" b="0">
                <a:solidFill>
                  <a:srgbClr val="1C1C1C"/>
                </a:solidFill>
                <a:latin typeface="Arial"/>
              </a:rPr>
              <a:t> — e.g. waning push-notification effects in the Intern Health Study erode long-term reward.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5215790" y="17142559"/>
            <a:ext cx="14754344" cy="1362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High-dim: the proposed test (orange) detects the change point at all d</a:t>
            </a:r>
            <a:r>
              <a:rPr sz="4714" b="0" i="1" baseline="-25000">
                <a:solidFill>
                  <a:srgbClr val="555555"/>
                </a:solidFill>
                <a:latin typeface="Arial"/>
              </a:rPr>
              <a:t>S</a:t>
            </a:r>
            <a:r>
              <a:rPr sz="3367" b="0" i="1">
                <a:solidFill>
                  <a:srgbClr val="555555"/>
                </a:solidFill>
                <a:latin typeface="Arial"/>
              </a:rPr>
              <a:t>=1–30; baselines collapse as dimension grows.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9972" y="17354391"/>
            <a:ext cx="16000213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Prior tests need a </a:t>
            </a:r>
            <a:r>
              <a:rPr sz="4106" b="1">
                <a:solidFill>
                  <a:srgbClr val="111111"/>
                </a:solidFill>
                <a:latin typeface="Arial"/>
              </a:rPr>
              <a:t>known MDP model</a:t>
            </a:r>
            <a:r>
              <a:rPr sz="4106" b="0">
                <a:solidFill>
                  <a:srgbClr val="1C1C1C"/>
                </a:solidFill>
                <a:latin typeface="Arial"/>
              </a:rPr>
              <a:t>, rely on </a:t>
            </a:r>
            <a:r>
              <a:rPr sz="4106" b="1">
                <a:solidFill>
                  <a:srgbClr val="111111"/>
                </a:solidFill>
                <a:latin typeface="Arial"/>
              </a:rPr>
              <a:t>linear approximation</a:t>
            </a:r>
            <a:r>
              <a:rPr sz="4106" b="0">
                <a:solidFill>
                  <a:srgbClr val="1C1C1C"/>
                </a:solidFill>
                <a:latin typeface="Arial"/>
              </a:rPr>
              <a:t> that fails in high dimensions, or waste samples learning a policy per time step.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8733313" y="20194190"/>
            <a:ext cx="14151679" cy="20015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Double robustness in action: empirical size (left) stays at the nominal 0.05 whenever at least one nuisance model M</a:t>
            </a:r>
            <a:r>
              <a:rPr sz="4714" b="0" i="1" baseline="-25000">
                <a:solidFill>
                  <a:srgbClr val="555555"/>
                </a:solidFill>
                <a:latin typeface="Arial"/>
              </a:rPr>
              <a:t>1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or M</a:t>
            </a:r>
            <a:r>
              <a:rPr sz="4714" b="0" i="1" baseline="-25000">
                <a:solidFill>
                  <a:srgbClr val="555555"/>
                </a:solidFill>
                <a:latin typeface="Arial"/>
              </a:rPr>
              <a:t>2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is correct; power (right) stays high.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215790" y="25941714"/>
            <a:ext cx="14754344" cy="127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Policy value: acting on the detected change point matches the oracle, beating random / sliding / stationary updates.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62985" y="27465793"/>
            <a:ext cx="14754205" cy="127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Real IHS data: p-values across κ flag a change point for Internal Medicine interns (around week 16); none for Family Practice.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8062257" y="24527371"/>
            <a:ext cx="9951044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0F6070"/>
                </a:solidFill>
                <a:latin typeface="Arial"/>
              </a:rPr>
              <a:t>30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8062257" y="25902265"/>
            <a:ext cx="9951044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Max state dim · correct detection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062257" y="26423719"/>
            <a:ext cx="9951044" cy="5552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30× the CUSUM-RL limit (d</a:t>
            </a:r>
            <a:r>
              <a:rPr sz="3920" b="0" i="1" baseline="-25000">
                <a:solidFill>
                  <a:srgbClr val="555555"/>
                </a:solidFill>
                <a:latin typeface="Arial"/>
              </a:rPr>
              <a:t>S</a:t>
            </a:r>
            <a:r>
              <a:rPr sz="2800" b="0" i="1">
                <a:solidFill>
                  <a:srgbClr val="555555"/>
                </a:solidFill>
                <a:latin typeface="Arial"/>
              </a:rPr>
              <a:t>=1) — robust in high dimensions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592795" y="7419677"/>
            <a:ext cx="4365600" cy="1025704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Test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831242" y="7419677"/>
            <a:ext cx="6265041" cy="1025704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Max d</a:t>
            </a:r>
            <a:r>
              <a:rPr sz="5346" b="1" baseline="-25000">
                <a:solidFill>
                  <a:srgbClr val="0F6070"/>
                </a:solidFill>
                <a:latin typeface="Arial"/>
              </a:rPr>
              <a:t>S</a:t>
            </a:r>
            <a:r>
              <a:rPr sz="3819" b="1">
                <a:solidFill>
                  <a:srgbClr val="0F6070"/>
                </a:solidFill>
                <a:latin typeface="Arial"/>
              </a:rPr>
              <a:t> detected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913807" y="7419677"/>
            <a:ext cx="5410179" cy="1025704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Type-I control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592795" y="8311594"/>
            <a:ext cx="4365600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CUSUM-RL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831242" y="8311594"/>
            <a:ext cx="6265041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4913807" y="8311594"/>
            <a:ext cx="5410179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✓ low-dim only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4592795" y="9130446"/>
            <a:ext cx="4365600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Proposed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8831242" y="9130446"/>
            <a:ext cx="6265041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30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4913807" y="9130446"/>
            <a:ext cx="5410179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✓ all settings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8775402" y="24527371"/>
            <a:ext cx="107061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0.05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9997360" y="24660721"/>
            <a:ext cx="2565306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type-I level held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8775402" y="25407342"/>
            <a:ext cx="1501698" cy="626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wk 16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0415884" y="25540692"/>
            <a:ext cx="2809962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IHS change point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8775402" y="26287313"/>
            <a:ext cx="122685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5000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149045" y="26420663"/>
            <a:ext cx="299281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bootstrap samples</a:t>
            </a:r>
          </a:p>
        </p:txBody>
      </p:sp>
      <p:pic>
        <p:nvPicPr>
          <p:cNvPr id="98" name="Picture 97" descr="eq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279895" y="11835507"/>
            <a:ext cx="10646470" cy="800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
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19630"/>
          </a:xfrm>
          <a:prstGeom prst="roundRect">
            <a:avLst>
              <a:gd name="adj" fmla="val 2951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992971"/>
            <a:ext cx="15168562" cy="9174480"/>
          </a:xfrm>
          <a:prstGeom prst="roundRect">
            <a:avLst>
              <a:gd name="adj" fmla="val 904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247169" y="5992971"/>
            <a:ext cx="18712061" cy="24078981"/>
          </a:xfrm>
          <a:prstGeom prst="roundRect">
            <a:avLst>
              <a:gd name="adj" fmla="val 443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85950" y="5992971"/>
            <a:ext cx="15168562" cy="12520037"/>
          </a:xfrm>
          <a:prstGeom prst="roundRect">
            <a:avLst>
              <a:gd name="adj" fmla="val 662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5499298"/>
            <a:ext cx="15168562" cy="14572654"/>
          </a:xfrm>
          <a:prstGeom prst="roundRect">
            <a:avLst>
              <a:gd name="adj" fmla="val 569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85950" y="18844855"/>
            <a:ext cx="15168562" cy="5041047"/>
          </a:xfrm>
          <a:prstGeom prst="roundRect">
            <a:avLst>
              <a:gd name="adj" fmla="val 1645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85950" y="24217749"/>
            <a:ext cx="15168562" cy="5854203"/>
          </a:xfrm>
          <a:prstGeom prst="roundRect">
            <a:avLst>
              <a:gd name="adj" fmla="val 1417"/>
            </a:avLst>
          </a:prstGeom>
          <a:solidFill>
            <a:srgbClr val="F7F0E8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85950" y="24217749"/>
            <a:ext cx="53340" cy="5854203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chool-of-informatics-university-of-edinbur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054" y="1378559"/>
            <a:ext cx="1343779" cy="1600092"/>
          </a:xfrm>
          <a:prstGeom prst="rect">
            <a:avLst/>
          </a:prstGeom>
        </p:spPr>
      </p:pic>
      <p:pic>
        <p:nvPicPr>
          <p:cNvPr id="11" name="Picture 10" descr="aalto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807" y="1378531"/>
            <a:ext cx="1760498" cy="1600149"/>
          </a:xfrm>
          <a:prstGeom prst="rect">
            <a:avLst/>
          </a:prstGeom>
        </p:spPr>
      </p:pic>
      <p:pic>
        <p:nvPicPr>
          <p:cNvPr id="12" name="Picture 11" descr="university-of-arto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279" y="1378516"/>
            <a:ext cx="3074690" cy="1600179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6355" y="2113477"/>
            <a:ext cx="6526649" cy="1896449"/>
          </a:xfrm>
          <a:prstGeom prst="rect">
            <a:avLst/>
          </a:prstGeom>
        </p:spPr>
      </p:pic>
      <p:pic>
        <p:nvPicPr>
          <p:cNvPr id="14" name="Picture 13" descr="department-of-mathematics-and-operational-research-universite-de-m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984" y="3144563"/>
            <a:ext cx="4669055" cy="160019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6635273" y="12808962"/>
            <a:ext cx="17935853" cy="3094970"/>
          </a:xfrm>
          <a:prstGeom prst="roundRect">
            <a:avLst>
              <a:gd name="adj" fmla="val 7279"/>
            </a:avLst>
          </a:prstGeom>
          <a:solidFill>
            <a:srgbClr val="F9F5F1"/>
          </a:solidFill>
          <a:ln w="8890">
            <a:solidFill>
              <a:srgbClr val="E1C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3298328"/>
            <a:ext cx="1439235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13298328"/>
            <a:ext cx="124460" cy="1481019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774054" y="16469836"/>
            <a:ext cx="1439235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774054" y="16469836"/>
            <a:ext cx="14392354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774054" y="20495339"/>
            <a:ext cx="14392354" cy="3057882"/>
          </a:xfrm>
          <a:prstGeom prst="roundRect">
            <a:avLst>
              <a:gd name="adj" fmla="val 2325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9991" y="21135836"/>
            <a:ext cx="14392354" cy="1647983"/>
          </a:xfrm>
          <a:prstGeom prst="roundRect">
            <a:avLst>
              <a:gd name="adj" fmla="val 12659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818504" y="28237557"/>
            <a:ext cx="14347904" cy="1512411"/>
          </a:xfrm>
          <a:prstGeom prst="roundRect">
            <a:avLst>
              <a:gd name="adj" fmla="val 13793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774054" y="11434901"/>
            <a:ext cx="14392354" cy="3683377"/>
          </a:xfrm>
          <a:prstGeom prst="roundRect">
            <a:avLst>
              <a:gd name="adj" fmla="val 96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ge8_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4170" y="11434901"/>
            <a:ext cx="14392122" cy="368337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6635273" y="16446638"/>
            <a:ext cx="17935853" cy="5988804"/>
          </a:xfrm>
          <a:prstGeom prst="roundRect">
            <a:avLst>
              <a:gd name="adj" fmla="val 59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age3_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5310" y="16446638"/>
            <a:ext cx="17935779" cy="598880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4941450" y="20717589"/>
            <a:ext cx="4979094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41450" y="20717589"/>
            <a:ext cx="11557" cy="2826742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35291" y="23044546"/>
            <a:ext cx="11801614" cy="4803934"/>
          </a:xfrm>
          <a:prstGeom prst="roundRect">
            <a:avLst>
              <a:gd name="adj" fmla="val 7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age9_figure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5399" y="23044546"/>
            <a:ext cx="11801399" cy="480393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6635273" y="24116625"/>
            <a:ext cx="17935853" cy="4194552"/>
          </a:xfrm>
          <a:prstGeom prst="roundRect">
            <a:avLst>
              <a:gd name="adj" fmla="val 84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4_figur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5277" y="24116625"/>
            <a:ext cx="17935845" cy="41945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5774054" y="10152380"/>
            <a:ext cx="14392354" cy="945118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774054" y="7555666"/>
            <a:ext cx="6125766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774054" y="8253253"/>
            <a:ext cx="612576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899820" y="7555666"/>
            <a:ext cx="2598797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899820" y="8253253"/>
            <a:ext cx="259879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98617" y="7555666"/>
            <a:ext cx="2413496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498617" y="8253253"/>
            <a:ext cx="241349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912113" y="7555666"/>
            <a:ext cx="3254295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912113" y="8253253"/>
            <a:ext cx="3254295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774054" y="8262143"/>
            <a:ext cx="612576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774054" y="9198371"/>
            <a:ext cx="612576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899820" y="8262143"/>
            <a:ext cx="25987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899820" y="9198371"/>
            <a:ext cx="259879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498617" y="8262143"/>
            <a:ext cx="24134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98617" y="9198371"/>
            <a:ext cx="241349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912113" y="8262143"/>
            <a:ext cx="32542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912113" y="9198371"/>
            <a:ext cx="3254295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774054" y="9207261"/>
            <a:ext cx="612576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774054" y="10143490"/>
            <a:ext cx="612576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899820" y="9207261"/>
            <a:ext cx="2598797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899820" y="10143490"/>
            <a:ext cx="259879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498617" y="9207261"/>
            <a:ext cx="241349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98617" y="10143490"/>
            <a:ext cx="241349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912113" y="9207261"/>
            <a:ext cx="325429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912113" y="10143490"/>
            <a:ext cx="3254295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774054" y="10152380"/>
            <a:ext cx="612576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774054" y="11088608"/>
            <a:ext cx="612576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899820" y="10152380"/>
            <a:ext cx="259879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899820" y="11088608"/>
            <a:ext cx="259879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498617" y="10152380"/>
            <a:ext cx="24134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498617" y="11088608"/>
            <a:ext cx="241349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6912113" y="10152380"/>
            <a:ext cx="32542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912113" y="11088608"/>
            <a:ext cx="3254295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Subtractive Mixture Models via Squaring: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Representation &amp; Learning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46402" y="3373060"/>
            <a:ext cx="24740176" cy="1417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Lorenzo Loconte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Aleksanteri M. Sladek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Stefan Mengel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Martin Trapp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Arno Solin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Nicolas Gillis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733" b="0">
                <a:solidFill>
                  <a:srgbClr val="1B2331"/>
                </a:solidFill>
                <a:latin typeface="Arial"/>
              </a:rPr>
              <a:t>, Antonio</a:t>
            </a:r>
          </a:p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Vergari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446402" y="4658498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Edinburgh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Aalto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Artois, CNRS, CRIL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Université de Mons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6381075"/>
            <a:ext cx="1481907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635273" y="6381075"/>
            <a:ext cx="18362573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774054" y="6381075"/>
            <a:ext cx="1481907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7483435"/>
            <a:ext cx="1481907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Classical mixture models can only </a:t>
            </a:r>
            <a:r>
              <a:rPr sz="4106" b="1">
                <a:solidFill>
                  <a:srgbClr val="111111"/>
                </a:solidFill>
                <a:latin typeface="Arial"/>
              </a:rPr>
              <a:t>add non-negative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components</a:t>
            </a:r>
            <a:r>
              <a:rPr sz="4106" b="0">
                <a:solidFill>
                  <a:srgbClr val="1C1C1C"/>
                </a:solidFill>
                <a:latin typeface="Arial"/>
              </a:rPr>
              <a:t>, so approximating distributions with holes 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sharp structure needs a large, wasteful number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components.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10768984"/>
            <a:ext cx="1481907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Letting components </a:t>
            </a:r>
            <a:r>
              <a:rPr sz="4106" b="1">
                <a:solidFill>
                  <a:srgbClr val="111111"/>
                </a:solidFill>
                <a:latin typeface="Arial"/>
              </a:rPr>
              <a:t>subtract</a:t>
            </a:r>
            <a:r>
              <a:rPr sz="4106" b="0">
                <a:solidFill>
                  <a:srgbClr val="1C1C1C"/>
                </a:solidFill>
                <a:latin typeface="Arial"/>
              </a:rPr>
              <a:t> mass can slash that count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but a naively negative mixture can dip below zero and stop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being a valid distribution, making it hard to learn.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13298328"/>
            <a:ext cx="1481907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Carving a “hole” in a density with only additive parts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wastes an enormous number of components.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886110" y="15422066"/>
            <a:ext cx="13837204" cy="42251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weights </a:t>
            </a:r>
            <a:r>
              <a:rPr sz="2217" b="1" i="1">
                <a:solidFill>
                  <a:srgbClr val="111111"/>
                </a:solidFill>
                <a:latin typeface="Cambria Math"/>
              </a:rPr>
              <a:t>w</a:t>
            </a:r>
            <a:r>
              <a:rPr sz="3104" b="1" i="1" baseline="-25000">
                <a:solidFill>
                  <a:srgbClr val="111111"/>
                </a:solidFill>
                <a:latin typeface="Cambria Math"/>
              </a:rPr>
              <a:t>i</a:t>
            </a:r>
            <a:r>
              <a:rPr sz="2217" b="1" i="1">
                <a:solidFill>
                  <a:srgbClr val="111111"/>
                </a:solidFill>
                <a:latin typeface="Cambria Math"/>
              </a:rPr>
              <a:t> ∈ ℝ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are unconstrained — squaring forces c²(X) ≥ 0 while the normalizer Z stays computable in closed 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15887402"/>
            <a:ext cx="1481907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774054" y="16469836"/>
            <a:ext cx="1481907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Negative parameters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— not squaring alone — carve the holes that monotonic PCs blur.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774054" y="19232959"/>
            <a:ext cx="1481907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91" y="21135836"/>
            <a:ext cx="14819074" cy="1895180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Subtraction cancels probability mass — capturing “holey”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densities with far fewer components than additive mixtures.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818504" y="24605853"/>
            <a:ext cx="147746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818504" y="25708213"/>
            <a:ext cx="1477462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Squaring turns subtractive mixtures into </a:t>
            </a:r>
            <a:r>
              <a:rPr sz="4106" b="1">
                <a:solidFill>
                  <a:srgbClr val="111111"/>
                </a:solidFill>
                <a:latin typeface="Arial"/>
              </a:rPr>
              <a:t>valid, tractable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probabilistic circuits needing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exponentially fewer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components than additive mixtures.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818504" y="28237557"/>
            <a:ext cx="14774624" cy="1739272"/>
          </a:xfrm>
          <a:prstGeom prst="rect">
            <a:avLst/>
          </a:prstGeom>
          <a:noFill/>
        </p:spPr>
        <p:txBody>
          <a:bodyPr wrap="none" lIns="365082" rIns="365082" tIns="156464" bIns="0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Squaring makes subtraction valid and tractable — far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fewer components than adding.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635255" y="7624702"/>
            <a:ext cx="1836259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Take a mixture with </a:t>
            </a:r>
            <a:r>
              <a:rPr sz="4106" b="1">
                <a:solidFill>
                  <a:srgbClr val="111111"/>
                </a:solidFill>
                <a:latin typeface="Arial"/>
              </a:rPr>
              <a:t>unconstrained real 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 and square it: expanding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gives a product-of-experts sum over all component pairs whose normalizer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Z stays closed-form.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635255" y="10075842"/>
            <a:ext cx="1836259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Go deep by </a:t>
            </a:r>
            <a:r>
              <a:rPr sz="4106" b="1">
                <a:solidFill>
                  <a:srgbClr val="111111"/>
                </a:solidFill>
                <a:latin typeface="Arial"/>
              </a:rPr>
              <a:t>recursively squaring each layer</a:t>
            </a:r>
            <a:r>
              <a:rPr sz="4106" b="0">
                <a:solidFill>
                  <a:srgbClr val="1C1C1C"/>
                </a:solidFill>
                <a:latin typeface="Arial"/>
              </a:rPr>
              <a:t> of a tensorized structured-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decomposable circuit — squared non-monotonic PCs (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NPC²</a:t>
            </a:r>
            <a:r>
              <a:rPr sz="4106" b="0">
                <a:solidFill>
                  <a:srgbClr val="1C1C1C"/>
                </a:solidFill>
                <a:latin typeface="Arial"/>
              </a:rPr>
              <a:t>) stay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tractable for marginalization and inference.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349682" y="15267880"/>
            <a:ext cx="1363818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 2D ring densities (continuous, above; discrete, below), only NPC²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sharply recovers the ground-truth holes.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72" y="16989762"/>
            <a:ext cx="1481909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subtractive</a:t>
            </a:r>
            <a:r>
              <a:rPr sz="4106" b="0">
                <a:solidFill>
                  <a:srgbClr val="1C1C1C"/>
                </a:solidFill>
                <a:latin typeface="Arial"/>
              </a:rPr>
              <a:t> mixture that can cancel mass models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complex distributions with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far fewer components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72" y="18684696"/>
            <a:ext cx="1481909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But naively negative weights can make the density negative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and prior fixes (energy-based exponentiation) lose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tractable normalization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52724" y="22585045"/>
            <a:ext cx="16927671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Shallow view: squaring a K=3 subtractive mixture yields more, parameter-sharing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components while staying a valid density.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07295" y="27998082"/>
            <a:ext cx="11183192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Payoff: distilling data sampled from GPT2, squared non-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monotonic circuits (±²) reach higher log-likelihood than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monotonic PCs (+) as size K grows.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352724" y="28460779"/>
            <a:ext cx="16927671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Deep view: recursively squaring each layer of a tensorized circuit; squared layers hold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 quadratic number of units but still output vectors.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019918" y="20717589"/>
            <a:ext cx="859828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K²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019918" y="22092483"/>
            <a:ext cx="8598284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pairwise components from K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parameters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019918" y="23135391"/>
            <a:ext cx="8598284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exponentially more compact than any monotonic PC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774054" y="7555666"/>
            <a:ext cx="630953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TRACTABLE MODEL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899820" y="7555666"/>
            <a:ext cx="267676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POWER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98617" y="7555666"/>
            <a:ext cx="248590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GAS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12113" y="7555666"/>
            <a:ext cx="335192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HEPMASS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774054" y="8262143"/>
            <a:ext cx="630953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EiNet-LRS (MPC)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899820" y="8262143"/>
            <a:ext cx="267676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0.36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498617" y="8262143"/>
            <a:ext cx="248590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4.79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912113" y="8262143"/>
            <a:ext cx="335192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−22.46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774054" y="9207261"/>
            <a:ext cx="6309538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TTDE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899820" y="9207261"/>
            <a:ext cx="267676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0.46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498617" y="9207261"/>
            <a:ext cx="248590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8.93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912113" y="9207261"/>
            <a:ext cx="335192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−21.34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774054" y="10152380"/>
            <a:ext cx="630953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NPC² (ours)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899820" y="10152380"/>
            <a:ext cx="267676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0.62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498617" y="10152380"/>
            <a:ext cx="248590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10.98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12113" y="10152380"/>
            <a:ext cx="335192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−20.41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419704" y="20717589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0.62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641662" y="20850939"/>
            <a:ext cx="223952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Power test 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419704" y="21746745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10.98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39338" y="21880095"/>
            <a:ext cx="187311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Gas test LL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19704" y="22775902"/>
            <a:ext cx="169956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−20.41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252294" y="22909252"/>
            <a:ext cx="274829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Hepmass test LL</a:t>
            </a:r>
          </a:p>
        </p:txBody>
      </p:sp>
      <p:pic>
        <p:nvPicPr>
          <p:cNvPr id="116" name="Picture 115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38379" y="13448625"/>
            <a:ext cx="17129641" cy="1365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
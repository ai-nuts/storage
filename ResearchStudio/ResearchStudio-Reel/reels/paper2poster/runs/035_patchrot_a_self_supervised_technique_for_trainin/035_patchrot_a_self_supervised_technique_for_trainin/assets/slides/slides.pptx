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1289266"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NeurIPS 2022</a:t>
            </a:r>
          </a:p>
        </p:txBody>
      </p:sp>
      <p:sp>
        <p:nvSpPr>
          <p:cNvPr id="3" name="TextBox 3"/>
          <p:cNvSpPr txBox="1"/>
          <p:nvPr/>
        </p:nvSpPr>
        <p:spPr>
          <a:xfrm>
            <a:off x="7830484" y="572452"/>
            <a:ext cx="375725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Arizona State University · Georgia State University</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2836" y="1129665"/>
            <a:ext cx="2114988" cy="645414"/>
          </a:xfrm>
          <a:prstGeom prst="rect">
            <a:avLst/>
          </a:prstGeom>
          <a:noFill/>
          <a:ln>
            <a:noFill/>
          </a:ln>
        </p:spPr>
        <p:txBody>
          <a:bodyPr wrap="none" lIns="0" tIns="0" rIns="0" bIns="0" anchor="t" anchorCtr="0">
            <a:spAutoFit/>
          </a:bodyPr>
          <a:lstStyle/>
          <a:p>
            <a:pPr algn="l"/>
            <a:r>
              <a:rPr lang="en-US" sz="3300" b="1" dirty="0">
                <a:solidFill>
                  <a:srgbClr val="FFFFFF"/>
                </a:solidFill>
                <a:latin typeface="+mn-lt"/>
                <a:ea typeface="+mn-ea"/>
                <a:cs typeface="+mn-cs"/>
              </a:rPr>
              <a:t>PatchRot</a:t>
            </a:r>
          </a:p>
        </p:txBody>
      </p:sp>
      <p:sp>
        <p:nvSpPr>
          <p:cNvPr id="6" name="TextBox 6"/>
          <p:cNvSpPr txBox="1"/>
          <p:nvPr/>
        </p:nvSpPr>
        <p:spPr>
          <a:xfrm>
            <a:off x="599313" y="1686401"/>
            <a:ext cx="7428436" cy="396050"/>
          </a:xfrm>
          <a:prstGeom prst="rect">
            <a:avLst/>
          </a:prstGeom>
          <a:noFill/>
          <a:ln>
            <a:noFill/>
          </a:ln>
        </p:spPr>
        <p:txBody>
          <a:bodyPr wrap="none" lIns="0" tIns="0" rIns="0" bIns="0" anchor="t" anchorCtr="0">
            <a:spAutoFit/>
          </a:bodyPr>
          <a:lstStyle/>
          <a:p>
            <a:pPr algn="l"/>
            <a:r>
              <a:rPr lang="en-US" sz="2020" b="1" dirty="0">
                <a:solidFill>
                  <a:schemeClr val="accent2"/>
                </a:solidFill>
                <a:latin typeface="+mn-lt"/>
                <a:ea typeface="+mn-ea"/>
                <a:cs typeface="+mn-cs"/>
              </a:rPr>
              <a:t>A Self-Supervised Technique for Vision Transformers</a:t>
            </a:r>
          </a:p>
        </p:txBody>
      </p:sp>
      <p:sp>
        <p:nvSpPr>
          <p:cNvPr id="7" name="TextBox 7"/>
          <p:cNvSpPr txBox="1"/>
          <p:nvPr/>
        </p:nvSpPr>
        <p:spPr>
          <a:xfrm>
            <a:off x="602361" y="2094071"/>
            <a:ext cx="5801985" cy="278702"/>
          </a:xfrm>
          <a:prstGeom prst="rect">
            <a:avLst/>
          </a:prstGeom>
          <a:noFill/>
          <a:ln>
            <a:noFill/>
          </a:ln>
        </p:spPr>
        <p:txBody>
          <a:bodyPr wrap="none" lIns="0" tIns="0" rIns="0" bIns="0" anchor="t" anchorCtr="0">
            <a:spAutoFit/>
          </a:bodyPr>
          <a:lstStyle/>
          <a:p>
            <a:pPr algn="l"/>
            <a:r>
              <a:rPr lang="en-US" sz="1420" b="1" dirty="0">
                <a:solidFill>
                  <a:srgbClr val="34D3C0"/>
                </a:solidFill>
                <a:latin typeface="+mn-lt"/>
                <a:ea typeface="+mn-ea"/>
                <a:cs typeface="+mn-cs"/>
              </a:rPr>
              <a:t>Predict the rotation of the whole image and of every patch</a:t>
            </a:r>
          </a:p>
        </p:txBody>
      </p:sp>
      <p:sp>
        <p:nvSpPr>
          <p:cNvPr id="8" name="TextBox 8"/>
          <p:cNvSpPr txBox="1"/>
          <p:nvPr/>
        </p:nvSpPr>
        <p:spPr>
          <a:xfrm>
            <a:off x="603694" y="2560558"/>
            <a:ext cx="547195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Sachin Chhabra · Prabal Bijoy Dutta · Hemanth Venkateswara · Baoxin Li</a:t>
            </a:r>
          </a:p>
        </p:txBody>
      </p:sp>
      <p:grpSp>
        <p:nvGrpSpPr>
          <p:cNvPr id="11" name="Group 11"/>
          <p:cNvGrpSpPr/>
          <p:nvPr/>
        </p:nvGrpSpPr>
        <p:grpSpPr>
          <a:xfrm>
            <a:off x="9715500" y="1085850"/>
            <a:ext cx="495300" cy="552450"/>
            <a:chOff x="9715500" y="1085850"/>
            <a:chExt cx="495300" cy="552450"/>
          </a:xfrm>
        </p:grpSpPr>
        <p:sp>
          <p:nvSpPr>
            <p:cNvPr id="9" name="Rectangle 9"/>
            <p:cNvSpPr/>
            <p:nvPr/>
          </p:nvSpPr>
          <p:spPr>
            <a:xfrm>
              <a:off x="9715500" y="1143000"/>
              <a:ext cx="495300" cy="495300"/>
            </a:xfrm>
            <a:prstGeom prst="roundRect">
              <a:avLst>
                <a:gd name="adj" fmla="val 5769"/>
              </a:avLst>
            </a:prstGeom>
            <a:noFill/>
            <a:ln w="19050">
              <a:solidFill>
                <a:schemeClr val="accent2"/>
              </a:solidFill>
            </a:ln>
          </p:spPr>
        </p:sp>
        <p:sp>
          <p:nvSpPr>
            <p:cNvPr id="10" name="Polygon 10"/>
            <p:cNvSpPr/>
            <p:nvPr/>
          </p:nvSpPr>
          <p:spPr>
            <a:xfrm>
              <a:off x="9906000" y="1085850"/>
              <a:ext cx="114300" cy="95250"/>
            </a:xfrm>
            <a:custGeom>
              <a:avLst/>
              <a:gdLst/>
              <a:ahLst/>
              <a:cxnLst/>
              <a:rect l="l" t="t" r="r" b="b"/>
              <a:pathLst>
                <a:path w="114300" h="95250">
                  <a:moveTo>
                    <a:pt x="0" y="95250"/>
                  </a:moveTo>
                  <a:lnTo>
                    <a:pt x="114300" y="95250"/>
                  </a:lnTo>
                  <a:lnTo>
                    <a:pt x="57150" y="0"/>
                  </a:lnTo>
                  <a:close/>
                </a:path>
              </a:pathLst>
            </a:custGeom>
            <a:solidFill>
              <a:schemeClr val="accent2"/>
            </a:solidFill>
            <a:ln>
              <a:noFill/>
            </a:ln>
          </p:spPr>
        </p:sp>
      </p:grpSp>
      <p:sp>
        <p:nvSpPr>
          <p:cNvPr id="12" name="TextBox 12"/>
          <p:cNvSpPr txBox="1"/>
          <p:nvPr/>
        </p:nvSpPr>
        <p:spPr>
          <a:xfrm>
            <a:off x="9926513" y="1701641"/>
            <a:ext cx="7327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0</a:t>
            </a:r>
          </a:p>
        </p:txBody>
      </p:sp>
      <p:grpSp>
        <p:nvGrpSpPr>
          <p:cNvPr id="15" name="Group 15"/>
          <p:cNvGrpSpPr/>
          <p:nvPr/>
        </p:nvGrpSpPr>
        <p:grpSpPr>
          <a:xfrm>
            <a:off x="10439400" y="1143000"/>
            <a:ext cx="552450" cy="495300"/>
            <a:chOff x="10439400" y="1143000"/>
            <a:chExt cx="552450" cy="495300"/>
          </a:xfrm>
        </p:grpSpPr>
        <p:sp>
          <p:nvSpPr>
            <p:cNvPr id="13" name="Rectangle 13"/>
            <p:cNvSpPr/>
            <p:nvPr/>
          </p:nvSpPr>
          <p:spPr>
            <a:xfrm rot="5400000">
              <a:off x="10439400" y="1143000"/>
              <a:ext cx="495300" cy="495300"/>
            </a:xfrm>
            <a:prstGeom prst="roundRect">
              <a:avLst>
                <a:gd name="adj" fmla="val 5769"/>
              </a:avLst>
            </a:prstGeom>
            <a:noFill/>
            <a:ln w="19050">
              <a:solidFill>
                <a:srgbClr val="34D3C0"/>
              </a:solidFill>
            </a:ln>
          </p:spPr>
        </p:sp>
        <p:sp>
          <p:nvSpPr>
            <p:cNvPr id="14" name="Polygon 14"/>
            <p:cNvSpPr/>
            <p:nvPr/>
          </p:nvSpPr>
          <p:spPr>
            <a:xfrm>
              <a:off x="10896600" y="1333500"/>
              <a:ext cx="95250" cy="114300"/>
            </a:xfrm>
            <a:custGeom>
              <a:avLst/>
              <a:gdLst/>
              <a:ahLst/>
              <a:cxnLst/>
              <a:rect l="l" t="t" r="r" b="b"/>
              <a:pathLst>
                <a:path w="95250" h="114300">
                  <a:moveTo>
                    <a:pt x="0" y="0"/>
                  </a:moveTo>
                  <a:lnTo>
                    <a:pt x="0" y="114300"/>
                  </a:lnTo>
                  <a:lnTo>
                    <a:pt x="95250" y="57150"/>
                  </a:lnTo>
                  <a:close/>
                </a:path>
              </a:pathLst>
            </a:custGeom>
            <a:solidFill>
              <a:srgbClr val="34D3C0"/>
            </a:solidFill>
            <a:ln>
              <a:noFill/>
            </a:ln>
          </p:spPr>
        </p:sp>
      </p:grpSp>
      <p:sp>
        <p:nvSpPr>
          <p:cNvPr id="16" name="TextBox 16"/>
          <p:cNvSpPr txBox="1"/>
          <p:nvPr/>
        </p:nvSpPr>
        <p:spPr>
          <a:xfrm>
            <a:off x="10618538" y="1701641"/>
            <a:ext cx="13702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90</a:t>
            </a:r>
          </a:p>
        </p:txBody>
      </p:sp>
      <p:grpSp>
        <p:nvGrpSpPr>
          <p:cNvPr id="19" name="Group 19"/>
          <p:cNvGrpSpPr/>
          <p:nvPr/>
        </p:nvGrpSpPr>
        <p:grpSpPr>
          <a:xfrm>
            <a:off x="9715500" y="1866900"/>
            <a:ext cx="495300" cy="552450"/>
            <a:chOff x="9715500" y="1866900"/>
            <a:chExt cx="495300" cy="552450"/>
          </a:xfrm>
        </p:grpSpPr>
        <p:sp>
          <p:nvSpPr>
            <p:cNvPr id="17" name="Rectangle 17"/>
            <p:cNvSpPr/>
            <p:nvPr/>
          </p:nvSpPr>
          <p:spPr>
            <a:xfrm rot="10800000">
              <a:off x="9715500" y="1866900"/>
              <a:ext cx="495300" cy="495300"/>
            </a:xfrm>
            <a:prstGeom prst="roundRect">
              <a:avLst>
                <a:gd name="adj" fmla="val 5769"/>
              </a:avLst>
            </a:prstGeom>
            <a:noFill/>
            <a:ln w="19050">
              <a:solidFill>
                <a:srgbClr val="F2C14E"/>
              </a:solidFill>
            </a:ln>
          </p:spPr>
        </p:sp>
        <p:sp>
          <p:nvSpPr>
            <p:cNvPr id="18" name="Polygon 18"/>
            <p:cNvSpPr/>
            <p:nvPr/>
          </p:nvSpPr>
          <p:spPr>
            <a:xfrm>
              <a:off x="9906000" y="2324100"/>
              <a:ext cx="114300" cy="95250"/>
            </a:xfrm>
            <a:custGeom>
              <a:avLst/>
              <a:gdLst/>
              <a:ahLst/>
              <a:cxnLst/>
              <a:rect l="l" t="t" r="r" b="b"/>
              <a:pathLst>
                <a:path w="114300" h="95250">
                  <a:moveTo>
                    <a:pt x="114300" y="0"/>
                  </a:moveTo>
                  <a:lnTo>
                    <a:pt x="0" y="0"/>
                  </a:lnTo>
                  <a:lnTo>
                    <a:pt x="57150" y="95250"/>
                  </a:lnTo>
                  <a:close/>
                </a:path>
              </a:pathLst>
            </a:custGeom>
            <a:solidFill>
              <a:srgbClr val="F2C14E"/>
            </a:solidFill>
            <a:ln>
              <a:noFill/>
            </a:ln>
          </p:spPr>
        </p:sp>
      </p:grpSp>
      <p:sp>
        <p:nvSpPr>
          <p:cNvPr id="20" name="TextBox 20"/>
          <p:cNvSpPr txBox="1"/>
          <p:nvPr/>
        </p:nvSpPr>
        <p:spPr>
          <a:xfrm>
            <a:off x="9862764" y="2425541"/>
            <a:ext cx="200773"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180</a:t>
            </a:r>
          </a:p>
        </p:txBody>
      </p:sp>
      <p:grpSp>
        <p:nvGrpSpPr>
          <p:cNvPr id="23" name="Group 23"/>
          <p:cNvGrpSpPr/>
          <p:nvPr/>
        </p:nvGrpSpPr>
        <p:grpSpPr>
          <a:xfrm>
            <a:off x="10382250" y="1866900"/>
            <a:ext cx="552450" cy="495300"/>
            <a:chOff x="10382250" y="1866900"/>
            <a:chExt cx="552450" cy="495300"/>
          </a:xfrm>
        </p:grpSpPr>
        <p:sp>
          <p:nvSpPr>
            <p:cNvPr id="21" name="Rectangle 21"/>
            <p:cNvSpPr/>
            <p:nvPr/>
          </p:nvSpPr>
          <p:spPr>
            <a:xfrm rot="-5400000">
              <a:off x="10439400" y="1866900"/>
              <a:ext cx="495300" cy="495300"/>
            </a:xfrm>
            <a:prstGeom prst="roundRect">
              <a:avLst>
                <a:gd name="adj" fmla="val 5769"/>
              </a:avLst>
            </a:prstGeom>
            <a:noFill/>
            <a:ln w="19050">
              <a:solidFill>
                <a:srgbClr val="48C78E"/>
              </a:solidFill>
            </a:ln>
          </p:spPr>
        </p:sp>
        <p:sp>
          <p:nvSpPr>
            <p:cNvPr id="22" name="Polygon 22"/>
            <p:cNvSpPr/>
            <p:nvPr/>
          </p:nvSpPr>
          <p:spPr>
            <a:xfrm>
              <a:off x="10382250" y="2057400"/>
              <a:ext cx="95250" cy="114300"/>
            </a:xfrm>
            <a:custGeom>
              <a:avLst/>
              <a:gdLst/>
              <a:ahLst/>
              <a:cxnLst/>
              <a:rect l="l" t="t" r="r" b="b"/>
              <a:pathLst>
                <a:path w="95250" h="114300">
                  <a:moveTo>
                    <a:pt x="95250" y="114300"/>
                  </a:moveTo>
                  <a:lnTo>
                    <a:pt x="95250" y="0"/>
                  </a:lnTo>
                  <a:lnTo>
                    <a:pt x="0" y="57150"/>
                  </a:lnTo>
                  <a:close/>
                </a:path>
              </a:pathLst>
            </a:custGeom>
            <a:solidFill>
              <a:srgbClr val="48C78E"/>
            </a:solidFill>
            <a:ln>
              <a:noFill/>
            </a:ln>
          </p:spPr>
        </p:sp>
      </p:grpSp>
      <p:sp>
        <p:nvSpPr>
          <p:cNvPr id="24" name="TextBox 24"/>
          <p:cNvSpPr txBox="1"/>
          <p:nvPr/>
        </p:nvSpPr>
        <p:spPr>
          <a:xfrm>
            <a:off x="10586664" y="2425541"/>
            <a:ext cx="200773"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270</a:t>
            </a:r>
          </a:p>
        </p:txBody>
      </p:sp>
      <p:sp>
        <p:nvSpPr>
          <p:cNvPr id="25" name="TextBox 25"/>
          <p:cNvSpPr txBox="1"/>
          <p:nvPr/>
        </p:nvSpPr>
        <p:spPr>
          <a:xfrm>
            <a:off x="9908067" y="2497693"/>
            <a:ext cx="1024567" cy="169069"/>
          </a:xfrm>
          <a:prstGeom prst="rect">
            <a:avLst/>
          </a:prstGeom>
          <a:noFill/>
          <a:ln>
            <a:noFill/>
          </a:ln>
        </p:spPr>
        <p:txBody>
          <a:bodyPr wrap="none" lIns="0" tIns="0" rIns="0" bIns="0" anchor="t" anchorCtr="0">
            <a:spAutoFit/>
          </a:bodyPr>
          <a:lstStyle/>
          <a:p>
            <a:pPr algn="ctr"/>
            <a:r>
              <a:rPr lang="en-US" sz="860" b="1" dirty="0">
                <a:solidFill>
                  <a:srgbClr val="6E869C"/>
                </a:solidFill>
                <a:latin typeface="+mn-lt"/>
                <a:ea typeface="+mn-ea"/>
                <a:cs typeface="+mn-cs"/>
              </a:rPr>
              <a:t>predict the angle</a:t>
            </a:r>
          </a:p>
        </p:txBody>
      </p:sp>
      <p:grpSp>
        <p:nvGrpSpPr>
          <p:cNvPr id="31" name="Group 31"/>
          <p:cNvGrpSpPr/>
          <p:nvPr/>
        </p:nvGrpSpPr>
        <p:grpSpPr>
          <a:xfrm>
            <a:off x="609600" y="3009900"/>
            <a:ext cx="5334000" cy="1123950"/>
            <a:chOff x="609600" y="3009900"/>
            <a:chExt cx="5334000" cy="1123950"/>
          </a:xfrm>
        </p:grpSpPr>
        <p:sp>
          <p:nvSpPr>
            <p:cNvPr id="26" name="Rectangle 26"/>
            <p:cNvSpPr/>
            <p:nvPr/>
          </p:nvSpPr>
          <p:spPr>
            <a:xfrm>
              <a:off x="609600" y="3009900"/>
              <a:ext cx="5334000" cy="1123950"/>
            </a:xfrm>
            <a:prstGeom prst="roundRect">
              <a:avLst>
                <a:gd name="adj" fmla="val 11864"/>
              </a:avLst>
            </a:prstGeom>
            <a:solidFill>
              <a:schemeClr val="accent5"/>
            </a:solidFill>
            <a:ln w="14288">
              <a:solidFill>
                <a:srgbClr val="26455F"/>
              </a:solidFill>
            </a:ln>
          </p:spPr>
        </p:sp>
        <p:sp>
          <p:nvSpPr>
            <p:cNvPr id="27" name="Rectangle 27"/>
            <p:cNvSpPr/>
            <p:nvPr/>
          </p:nvSpPr>
          <p:spPr>
            <a:xfrm>
              <a:off x="609600" y="3009900"/>
              <a:ext cx="57150" cy="1123950"/>
            </a:xfrm>
            <a:prstGeom prst="roundRect">
              <a:avLst>
                <a:gd name="adj" fmla="val 50000"/>
              </a:avLst>
            </a:prstGeom>
            <a:solidFill>
              <a:schemeClr val="accent2"/>
            </a:solidFill>
            <a:ln>
              <a:noFill/>
            </a:ln>
          </p:spPr>
        </p:sp>
        <p:sp>
          <p:nvSpPr>
            <p:cNvPr id="28" name="TextBox 28"/>
            <p:cNvSpPr txBox="1"/>
            <p:nvPr/>
          </p:nvSpPr>
          <p:spPr>
            <a:xfrm>
              <a:off x="869442" y="3207068"/>
              <a:ext cx="198268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ViTs are data-hungry</a:t>
              </a:r>
            </a:p>
          </p:txBody>
        </p:sp>
        <p:sp>
          <p:nvSpPr>
            <p:cNvPr id="29" name="TextBox 29"/>
            <p:cNvSpPr txBox="1"/>
            <p:nvPr/>
          </p:nvSpPr>
          <p:spPr>
            <a:xfrm>
              <a:off x="870966" y="3487102"/>
              <a:ext cx="47175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Vision transformers beat ConvNets only with huge labeled datasets.</a:t>
              </a:r>
            </a:p>
          </p:txBody>
        </p:sp>
        <p:sp>
          <p:nvSpPr>
            <p:cNvPr id="30" name="TextBox 30"/>
            <p:cNvSpPr txBox="1"/>
            <p:nvPr/>
          </p:nvSpPr>
          <p:spPr>
            <a:xfrm>
              <a:off x="870966" y="3687128"/>
              <a:ext cx="402033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PatchRot is a self-supervised fix built for transformers.</a:t>
              </a:r>
            </a:p>
          </p:txBody>
        </p:sp>
      </p:grpSp>
      <p:grpSp>
        <p:nvGrpSpPr>
          <p:cNvPr id="37" name="Group 37"/>
          <p:cNvGrpSpPr/>
          <p:nvPr/>
        </p:nvGrpSpPr>
        <p:grpSpPr>
          <a:xfrm>
            <a:off x="6248400" y="3009900"/>
            <a:ext cx="5334000" cy="1123950"/>
            <a:chOff x="6248400" y="3009900"/>
            <a:chExt cx="5334000" cy="1123950"/>
          </a:xfrm>
        </p:grpSpPr>
        <p:sp>
          <p:nvSpPr>
            <p:cNvPr id="32" name="Rectangle 32"/>
            <p:cNvSpPr/>
            <p:nvPr/>
          </p:nvSpPr>
          <p:spPr>
            <a:xfrm>
              <a:off x="6248400" y="3009900"/>
              <a:ext cx="5334000" cy="1123950"/>
            </a:xfrm>
            <a:prstGeom prst="roundRect">
              <a:avLst>
                <a:gd name="adj" fmla="val 11864"/>
              </a:avLst>
            </a:prstGeom>
            <a:solidFill>
              <a:schemeClr val="accent5"/>
            </a:solidFill>
            <a:ln w="14288">
              <a:solidFill>
                <a:srgbClr val="26455F"/>
              </a:solidFill>
            </a:ln>
          </p:spPr>
        </p:sp>
        <p:sp>
          <p:nvSpPr>
            <p:cNvPr id="33" name="Rectangle 33"/>
            <p:cNvSpPr/>
            <p:nvPr/>
          </p:nvSpPr>
          <p:spPr>
            <a:xfrm>
              <a:off x="6248400" y="3009900"/>
              <a:ext cx="57150" cy="1123950"/>
            </a:xfrm>
            <a:prstGeom prst="roundRect">
              <a:avLst>
                <a:gd name="adj" fmla="val 50000"/>
              </a:avLst>
            </a:prstGeom>
            <a:solidFill>
              <a:srgbClr val="F2C14E"/>
            </a:solidFill>
            <a:ln>
              <a:noFill/>
            </a:ln>
          </p:spPr>
        </p:sp>
        <p:sp>
          <p:nvSpPr>
            <p:cNvPr id="34" name="TextBox 34"/>
            <p:cNvSpPr txBox="1"/>
            <p:nvPr/>
          </p:nvSpPr>
          <p:spPr>
            <a:xfrm>
              <a:off x="6508242" y="3207068"/>
              <a:ext cx="256748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idea: predict rotations</a:t>
              </a:r>
            </a:p>
          </p:txBody>
        </p:sp>
        <p:sp>
          <p:nvSpPr>
            <p:cNvPr id="35" name="TextBox 35"/>
            <p:cNvSpPr txBox="1"/>
            <p:nvPr/>
          </p:nvSpPr>
          <p:spPr>
            <a:xfrm>
              <a:off x="6509766" y="3487102"/>
              <a:ext cx="468202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Rotate the whole image or each patch by 0 / 90 / 180 / 270 degrees,</a:t>
              </a:r>
            </a:p>
          </p:txBody>
        </p:sp>
        <p:sp>
          <p:nvSpPr>
            <p:cNvPr id="36" name="TextBox 36"/>
            <p:cNvSpPr txBox="1"/>
            <p:nvPr/>
          </p:nvSpPr>
          <p:spPr>
            <a:xfrm>
              <a:off x="6509766" y="3687128"/>
              <a:ext cx="289673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then train the ViT to predict every angle.</a:t>
              </a:r>
            </a:p>
          </p:txBody>
        </p:sp>
      </p:grpSp>
      <p:grpSp>
        <p:nvGrpSpPr>
          <p:cNvPr id="43" name="Group 43"/>
          <p:cNvGrpSpPr/>
          <p:nvPr/>
        </p:nvGrpSpPr>
        <p:grpSpPr>
          <a:xfrm>
            <a:off x="609600" y="4343400"/>
            <a:ext cx="5334000" cy="1123950"/>
            <a:chOff x="609600" y="4343400"/>
            <a:chExt cx="5334000" cy="1123950"/>
          </a:xfrm>
        </p:grpSpPr>
        <p:sp>
          <p:nvSpPr>
            <p:cNvPr id="38" name="Rectangle 38"/>
            <p:cNvSpPr/>
            <p:nvPr/>
          </p:nvSpPr>
          <p:spPr>
            <a:xfrm>
              <a:off x="609600" y="4343400"/>
              <a:ext cx="5334000" cy="1123950"/>
            </a:xfrm>
            <a:prstGeom prst="roundRect">
              <a:avLst>
                <a:gd name="adj" fmla="val 11864"/>
              </a:avLst>
            </a:prstGeom>
            <a:solidFill>
              <a:schemeClr val="accent5"/>
            </a:solidFill>
            <a:ln w="14288">
              <a:solidFill>
                <a:srgbClr val="26455F"/>
              </a:solidFill>
            </a:ln>
          </p:spPr>
        </p:sp>
        <p:sp>
          <p:nvSpPr>
            <p:cNvPr id="39" name="Rectangle 39"/>
            <p:cNvSpPr/>
            <p:nvPr/>
          </p:nvSpPr>
          <p:spPr>
            <a:xfrm>
              <a:off x="609600" y="4343400"/>
              <a:ext cx="57150" cy="1123950"/>
            </a:xfrm>
            <a:prstGeom prst="roundRect">
              <a:avLst>
                <a:gd name="adj" fmla="val 50000"/>
              </a:avLst>
            </a:prstGeom>
            <a:solidFill>
              <a:srgbClr val="34D3C0"/>
            </a:solidFill>
            <a:ln>
              <a:noFill/>
            </a:ln>
          </p:spPr>
        </p:sp>
        <p:sp>
          <p:nvSpPr>
            <p:cNvPr id="40" name="TextBox 40"/>
            <p:cNvSpPr txBox="1"/>
            <p:nvPr/>
          </p:nvSpPr>
          <p:spPr>
            <a:xfrm>
              <a:off x="869442" y="4540568"/>
              <a:ext cx="208075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Two levels of rotation</a:t>
              </a:r>
            </a:p>
          </p:txBody>
        </p:sp>
        <p:sp>
          <p:nvSpPr>
            <p:cNvPr id="41" name="TextBox 41"/>
            <p:cNvSpPr txBox="1"/>
            <p:nvPr/>
          </p:nvSpPr>
          <p:spPr>
            <a:xfrm>
              <a:off x="870966" y="4820602"/>
              <a:ext cx="456685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class token predicts the image rotation for global structure;</a:t>
              </a:r>
            </a:p>
          </p:txBody>
        </p:sp>
        <p:sp>
          <p:nvSpPr>
            <p:cNvPr id="42" name="TextBox 42"/>
            <p:cNvSpPr txBox="1"/>
            <p:nvPr/>
          </p:nvSpPr>
          <p:spPr>
            <a:xfrm>
              <a:off x="870966" y="5020628"/>
              <a:ext cx="47176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new per-patch heads predict each patch's rotation for local detail.</a:t>
              </a:r>
            </a:p>
          </p:txBody>
        </p:sp>
      </p:grpSp>
      <p:grpSp>
        <p:nvGrpSpPr>
          <p:cNvPr id="49" name="Group 49"/>
          <p:cNvGrpSpPr/>
          <p:nvPr/>
        </p:nvGrpSpPr>
        <p:grpSpPr>
          <a:xfrm>
            <a:off x="6248400" y="4343400"/>
            <a:ext cx="5334000" cy="1123950"/>
            <a:chOff x="6248400" y="4343400"/>
            <a:chExt cx="5334000" cy="1123950"/>
          </a:xfrm>
        </p:grpSpPr>
        <p:sp>
          <p:nvSpPr>
            <p:cNvPr id="44" name="Rectangle 44"/>
            <p:cNvSpPr/>
            <p:nvPr/>
          </p:nvSpPr>
          <p:spPr>
            <a:xfrm>
              <a:off x="6248400" y="4343400"/>
              <a:ext cx="5334000" cy="1123950"/>
            </a:xfrm>
            <a:prstGeom prst="roundRect">
              <a:avLst>
                <a:gd name="adj" fmla="val 11864"/>
              </a:avLst>
            </a:prstGeom>
            <a:solidFill>
              <a:schemeClr val="accent5"/>
            </a:solidFill>
            <a:ln w="14288">
              <a:solidFill>
                <a:srgbClr val="26455F"/>
              </a:solidFill>
            </a:ln>
          </p:spPr>
        </p:sp>
        <p:sp>
          <p:nvSpPr>
            <p:cNvPr id="45" name="Rectangle 45"/>
            <p:cNvSpPr/>
            <p:nvPr/>
          </p:nvSpPr>
          <p:spPr>
            <a:xfrm>
              <a:off x="6248400" y="4343400"/>
              <a:ext cx="57150" cy="1123950"/>
            </a:xfrm>
            <a:prstGeom prst="roundRect">
              <a:avLst>
                <a:gd name="adj" fmla="val 50000"/>
              </a:avLst>
            </a:prstGeom>
            <a:solidFill>
              <a:srgbClr val="48C78E"/>
            </a:solidFill>
            <a:ln>
              <a:noFill/>
            </a:ln>
          </p:spPr>
        </p:sp>
        <p:sp>
          <p:nvSpPr>
            <p:cNvPr id="46" name="TextBox 46"/>
            <p:cNvSpPr txBox="1"/>
            <p:nvPr/>
          </p:nvSpPr>
          <p:spPr>
            <a:xfrm>
              <a:off x="6508242" y="4540568"/>
              <a:ext cx="267532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Beats supervised and RotNet</a:t>
              </a:r>
            </a:p>
          </p:txBody>
        </p:sp>
        <p:sp>
          <p:nvSpPr>
            <p:cNvPr id="47" name="TextBox 47"/>
            <p:cNvSpPr txBox="1"/>
            <p:nvPr/>
          </p:nvSpPr>
          <p:spPr>
            <a:xfrm>
              <a:off x="6509766" y="4820602"/>
              <a:ext cx="49511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After pretraining, features beat training-from-scratch and RotNet on</a:t>
              </a:r>
            </a:p>
          </p:txBody>
        </p:sp>
        <p:sp>
          <p:nvSpPr>
            <p:cNvPr id="48" name="TextBox 48"/>
            <p:cNvSpPr txBox="1"/>
            <p:nvPr/>
          </p:nvSpPr>
          <p:spPr>
            <a:xfrm>
              <a:off x="6509766" y="5020628"/>
              <a:ext cx="38653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CIFAR-10, CIFAR-100, FashionMNIST and Tiny-ImageNet.</a:t>
              </a:r>
            </a:p>
          </p:txBody>
        </p:sp>
      </p:grpSp>
      <p:sp>
        <p:nvSpPr>
          <p:cNvPr id="50" name="Line 50"/>
          <p:cNvSpPr/>
          <p:nvPr/>
        </p:nvSpPr>
        <p:spPr>
          <a:xfrm>
            <a:off x="609600" y="58674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1" name="TextBox 51"/>
          <p:cNvSpPr txBox="1"/>
          <p:nvPr/>
        </p:nvSpPr>
        <p:spPr>
          <a:xfrm>
            <a:off x="604266" y="60779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arXiv:2210.15722</a:t>
            </a:r>
          </a:p>
        </p:txBody>
      </p:sp>
      <p:sp>
        <p:nvSpPr>
          <p:cNvPr id="52" name="TextBox 52"/>
          <p:cNvSpPr txBox="1"/>
          <p:nvPr/>
        </p:nvSpPr>
        <p:spPr>
          <a:xfrm>
            <a:off x="2852166" y="6077902"/>
            <a:ext cx="5250565"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A simple rotation task, crafted for the patch-token structure of ViTs.</a:t>
            </a:r>
          </a:p>
        </p:txBody>
      </p:sp>
      <p:sp>
        <p:nvSpPr>
          <p:cNvPr id="53" name="cue_s01_c1_vision_transformers_powerful_but_dat" title="cue_s01_c1_vision_transformers_powerful_but_dat" descr="cue_s01_c1_vision_transformers_powerful_but_dat Vision transformers are powerful but data-hungry: they only beat convolutional networks when huge labeled datasets are available. This paper introduces PatchRot, a self-supervised technique crafted specifically for vision transformers. The key idea is simple."/>
          <p:cNvSpPr/>
          <p:nvPr/>
        </p:nvSpPr>
        <p:spPr>
          <a:xfrm>
            <a:off x="609600" y="3009976"/>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1_c2_rotate_whole_image_its_individual" title="cue_s01_c2_rotate_whole_image_its_individual" descr="cue_s01_c2_rotate_whole_image_its_individual Rotate the whole image or its individual patches by multiples of ninety degrees, and train the transformer to predict every rotation angle."/>
          <p:cNvSpPr/>
          <p:nvPr/>
        </p:nvSpPr>
        <p:spPr>
          <a:xfrm>
            <a:off x="6248399" y="3009976"/>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1_c3_class_token_predicts_image_rotation" title="cue_s01_c3_class_token_predicts_image_rotation" descr="cue_s01_c3_class_token_predicts_image_rotation The class token predicts the image rotation, capturing global structure, while new per-patch heads predict each patch's rotation, capturing local detail."/>
          <p:cNvSpPr/>
          <p:nvPr/>
        </p:nvSpPr>
        <p:spPr>
          <a:xfrm>
            <a:off x="609600" y="4343171"/>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1_c4_after_pretraining_patchrot_features" title="cue_s01_c4_after_pretraining_patchrot_features" descr="cue_s01_c4_after_pretraining_patchrot_features After this pretraining, PatchRot features consistently beat both supervised training from scratch and the RotNet baseline across CIFAR-10, CIFAR-100, FashionMNIST, and Tiny-ImageNet."/>
          <p:cNvSpPr/>
          <p:nvPr/>
        </p:nvSpPr>
        <p:spPr>
          <a:xfrm>
            <a:off x="6248399" y="4343171"/>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44172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Vision transformers need too many labels</a:t>
            </a:r>
          </a:p>
        </p:txBody>
      </p:sp>
      <p:grpSp>
        <p:nvGrpSpPr>
          <p:cNvPr id="22" name="Group 22"/>
          <p:cNvGrpSpPr/>
          <p:nvPr/>
        </p:nvGrpSpPr>
        <p:grpSpPr>
          <a:xfrm>
            <a:off x="609600" y="1504950"/>
            <a:ext cx="3956248" cy="3733800"/>
            <a:chOff x="609600" y="1504950"/>
            <a:chExt cx="3956248"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2204086"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ViTs overtook ConvNets</a:t>
              </a:r>
            </a:p>
          </p:txBody>
        </p:sp>
        <p:sp>
          <p:nvSpPr>
            <p:cNvPr id="8" name="TextBox 8"/>
            <p:cNvSpPr txBox="1"/>
            <p:nvPr/>
          </p:nvSpPr>
          <p:spPr>
            <a:xfrm>
              <a:off x="870585" y="2164556"/>
              <a:ext cx="308465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On many vision tasks vision transformers</a:t>
              </a:r>
            </a:p>
          </p:txBody>
        </p:sp>
        <p:sp>
          <p:nvSpPr>
            <p:cNvPr id="9" name="TextBox 9"/>
            <p:cNvSpPr txBox="1"/>
            <p:nvPr/>
          </p:nvSpPr>
          <p:spPr>
            <a:xfrm>
              <a:off x="870585" y="2393156"/>
              <a:ext cx="292891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now lead, but only when trained on very</a:t>
              </a:r>
            </a:p>
          </p:txBody>
        </p:sp>
        <p:sp>
          <p:nvSpPr>
            <p:cNvPr id="10" name="TextBox 10"/>
            <p:cNvSpPr txBox="1"/>
            <p:nvPr/>
          </p:nvSpPr>
          <p:spPr>
            <a:xfrm>
              <a:off x="870585" y="2621756"/>
              <a:ext cx="173025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large labeled datasets.</a:t>
              </a:r>
            </a:p>
          </p:txBody>
        </p:sp>
        <p:sp>
          <p:nvSpPr>
            <p:cNvPr id="11" name="TextBox 11"/>
            <p:cNvSpPr txBox="1"/>
            <p:nvPr/>
          </p:nvSpPr>
          <p:spPr>
            <a:xfrm>
              <a:off x="871347" y="3247549"/>
              <a:ext cx="2639438" cy="190690"/>
            </a:xfrm>
            <a:prstGeom prst="rect">
              <a:avLst/>
            </a:prstGeom>
            <a:noFill/>
            <a:ln>
              <a:noFill/>
            </a:ln>
          </p:spPr>
          <p:txBody>
            <a:bodyPr wrap="none" lIns="0" tIns="0" rIns="0" bIns="0" anchor="t" anchorCtr="0">
              <a:spAutoFit/>
            </a:bodyPr>
            <a:lstStyle/>
            <a:p>
              <a:pPr algn="l"/>
              <a:r>
                <a:rPr lang="en-US" sz="980" b="1" dirty="0">
                  <a:solidFill>
                    <a:srgbClr val="6E869C"/>
                  </a:solidFill>
                  <a:latin typeface="+mn-lt"/>
                  <a:ea typeface="+mn-ea"/>
                  <a:cs typeface="+mn-cs"/>
                </a:rPr>
                <a:t>Accuracy vs labeled data (illustrative)</a:t>
              </a:r>
            </a:p>
          </p:txBody>
        </p:sp>
        <p:sp>
          <p:nvSpPr>
            <p:cNvPr id="12" name="Rectangle 12"/>
            <p:cNvSpPr/>
            <p:nvPr/>
          </p:nvSpPr>
          <p:spPr>
            <a:xfrm>
              <a:off x="2286000" y="3543300"/>
              <a:ext cx="1714500" cy="247650"/>
            </a:xfrm>
            <a:prstGeom prst="roundRect">
              <a:avLst>
                <a:gd name="adj" fmla="val 23077"/>
              </a:avLst>
            </a:prstGeom>
            <a:solidFill>
              <a:srgbClr val="0E2334"/>
            </a:solidFill>
            <a:ln w="9525">
              <a:solidFill>
                <a:srgbClr val="26455F"/>
              </a:solidFill>
            </a:ln>
          </p:spPr>
        </p:sp>
        <p:sp>
          <p:nvSpPr>
            <p:cNvPr id="13" name="Rectangle 13"/>
            <p:cNvSpPr/>
            <p:nvPr/>
          </p:nvSpPr>
          <p:spPr>
            <a:xfrm>
              <a:off x="2286000" y="3543300"/>
              <a:ext cx="942975" cy="247650"/>
            </a:xfrm>
            <a:prstGeom prst="roundRect">
              <a:avLst>
                <a:gd name="adj" fmla="val 23077"/>
              </a:avLst>
            </a:prstGeom>
            <a:solidFill>
              <a:srgbClr val="F2685C"/>
            </a:solidFill>
            <a:ln>
              <a:noFill/>
            </a:ln>
          </p:spPr>
        </p:sp>
        <p:sp>
          <p:nvSpPr>
            <p:cNvPr id="14" name="TextBox 14"/>
            <p:cNvSpPr txBox="1"/>
            <p:nvPr/>
          </p:nvSpPr>
          <p:spPr>
            <a:xfrm>
              <a:off x="1431694" y="3608261"/>
              <a:ext cx="74534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few labels</a:t>
              </a:r>
            </a:p>
          </p:txBody>
        </p:sp>
        <p:sp>
          <p:nvSpPr>
            <p:cNvPr id="15" name="TextBox 15"/>
            <p:cNvSpPr txBox="1"/>
            <p:nvPr/>
          </p:nvSpPr>
          <p:spPr>
            <a:xfrm>
              <a:off x="3318891" y="3608261"/>
              <a:ext cx="509690"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ViT low</a:t>
              </a:r>
            </a:p>
          </p:txBody>
        </p:sp>
        <p:sp>
          <p:nvSpPr>
            <p:cNvPr id="16" name="Rectangle 16"/>
            <p:cNvSpPr/>
            <p:nvPr/>
          </p:nvSpPr>
          <p:spPr>
            <a:xfrm>
              <a:off x="2286000" y="3924300"/>
              <a:ext cx="1714500" cy="247650"/>
            </a:xfrm>
            <a:prstGeom prst="roundRect">
              <a:avLst>
                <a:gd name="adj" fmla="val 23077"/>
              </a:avLst>
            </a:prstGeom>
            <a:solidFill>
              <a:srgbClr val="0E2334"/>
            </a:solidFill>
            <a:ln w="9525">
              <a:solidFill>
                <a:srgbClr val="26455F"/>
              </a:solidFill>
            </a:ln>
          </p:spPr>
        </p:sp>
        <p:sp>
          <p:nvSpPr>
            <p:cNvPr id="17" name="Rectangle 17"/>
            <p:cNvSpPr/>
            <p:nvPr/>
          </p:nvSpPr>
          <p:spPr>
            <a:xfrm>
              <a:off x="2286000" y="3924300"/>
              <a:ext cx="1628775" cy="247650"/>
            </a:xfrm>
            <a:prstGeom prst="roundRect">
              <a:avLst>
                <a:gd name="adj" fmla="val 23077"/>
              </a:avLst>
            </a:prstGeom>
            <a:solidFill>
              <a:srgbClr val="48C78E"/>
            </a:solidFill>
            <a:ln>
              <a:noFill/>
            </a:ln>
          </p:spPr>
        </p:sp>
        <p:sp>
          <p:nvSpPr>
            <p:cNvPr id="18" name="TextBox 18"/>
            <p:cNvSpPr txBox="1"/>
            <p:nvPr/>
          </p:nvSpPr>
          <p:spPr>
            <a:xfrm>
              <a:off x="1350064" y="3989261"/>
              <a:ext cx="82697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many labels</a:t>
              </a:r>
            </a:p>
          </p:txBody>
        </p:sp>
        <p:sp>
          <p:nvSpPr>
            <p:cNvPr id="19" name="TextBox 19"/>
            <p:cNvSpPr txBox="1"/>
            <p:nvPr/>
          </p:nvSpPr>
          <p:spPr>
            <a:xfrm>
              <a:off x="4004691" y="3989261"/>
              <a:ext cx="561157"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ViT high</a:t>
              </a:r>
            </a:p>
          </p:txBody>
        </p:sp>
        <p:sp>
          <p:nvSpPr>
            <p:cNvPr id="20" name="Rectangle 20"/>
            <p:cNvSpPr/>
            <p:nvPr/>
          </p:nvSpPr>
          <p:spPr>
            <a:xfrm>
              <a:off x="876300" y="4457700"/>
              <a:ext cx="3276600" cy="609600"/>
            </a:xfrm>
            <a:prstGeom prst="roundRect">
              <a:avLst>
                <a:gd name="adj" fmla="val 15625"/>
              </a:avLst>
            </a:prstGeom>
            <a:solidFill>
              <a:schemeClr val="accent6"/>
            </a:solidFill>
            <a:ln w="14288">
              <a:solidFill>
                <a:srgbClr val="26455F"/>
              </a:solidFill>
            </a:ln>
          </p:spPr>
        </p:sp>
        <p:sp>
          <p:nvSpPr>
            <p:cNvPr id="21" name="TextBox 21"/>
            <p:cNvSpPr txBox="1"/>
            <p:nvPr/>
          </p:nvSpPr>
          <p:spPr>
            <a:xfrm>
              <a:off x="1061656" y="4596051"/>
              <a:ext cx="2686749" cy="198025"/>
            </a:xfrm>
            <a:prstGeom prst="rect">
              <a:avLst/>
            </a:prstGeom>
            <a:noFill/>
            <a:ln>
              <a:noFill/>
            </a:ln>
          </p:spPr>
          <p:txBody>
            <a:bodyPr wrap="none" lIns="0" tIns="0" rIns="0" bIns="0" anchor="t" anchorCtr="0">
              <a:spAutoFit/>
            </a:bodyPr>
            <a:lstStyle/>
            <a:p>
              <a:pPr algn="l"/>
              <a:r>
                <a:rPr lang="en-US" sz="1010" dirty="0">
                  <a:solidFill>
                    <a:srgbClr val="34D3C0"/>
                  </a:solidFill>
                  <a:latin typeface="+mn-lt"/>
                  <a:ea typeface="+mn-ea"/>
                  <a:cs typeface="+mn-cs"/>
                </a:rPr>
                <a:t>The win depends on a mountain of labels.</a:t>
              </a:r>
            </a:p>
          </p:txBody>
        </p:sp>
      </p:grpSp>
      <p:grpSp>
        <p:nvGrpSpPr>
          <p:cNvPr id="28" name="Group 28"/>
          <p:cNvGrpSpPr/>
          <p:nvPr/>
        </p:nvGrpSpPr>
        <p:grpSpPr>
          <a:xfrm>
            <a:off x="4762500" y="1504950"/>
            <a:ext cx="6819900" cy="1143000"/>
            <a:chOff x="4762500" y="1504950"/>
            <a:chExt cx="6819900" cy="1143000"/>
          </a:xfrm>
        </p:grpSpPr>
        <p:sp>
          <p:nvSpPr>
            <p:cNvPr id="23" name="Rectangle 23"/>
            <p:cNvSpPr/>
            <p:nvPr/>
          </p:nvSpPr>
          <p:spPr>
            <a:xfrm>
              <a:off x="4762500" y="1504950"/>
              <a:ext cx="6819900" cy="1143000"/>
            </a:xfrm>
            <a:prstGeom prst="roundRect">
              <a:avLst>
                <a:gd name="adj" fmla="val 11667"/>
              </a:avLst>
            </a:prstGeom>
            <a:solidFill>
              <a:srgbClr val="2A1720"/>
            </a:solidFill>
            <a:ln w="14288">
              <a:solidFill>
                <a:srgbClr val="F2685C"/>
              </a:solidFill>
            </a:ln>
          </p:spPr>
        </p:sp>
        <p:sp>
          <p:nvSpPr>
            <p:cNvPr id="24" name="Rectangle 24"/>
            <p:cNvSpPr/>
            <p:nvPr/>
          </p:nvSpPr>
          <p:spPr>
            <a:xfrm>
              <a:off x="4762500" y="1504950"/>
              <a:ext cx="57150" cy="1143000"/>
            </a:xfrm>
            <a:prstGeom prst="roundRect">
              <a:avLst>
                <a:gd name="adj" fmla="val 50000"/>
              </a:avLst>
            </a:prstGeom>
            <a:solidFill>
              <a:srgbClr val="F2685C"/>
            </a:solidFill>
            <a:ln>
              <a:noFill/>
            </a:ln>
          </p:spPr>
        </p:sp>
        <p:sp>
          <p:nvSpPr>
            <p:cNvPr id="25" name="TextBox 25"/>
            <p:cNvSpPr txBox="1"/>
            <p:nvPr/>
          </p:nvSpPr>
          <p:spPr>
            <a:xfrm>
              <a:off x="5023104" y="1737360"/>
              <a:ext cx="3474796"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With few labels, ViTs fall behind ConvNets</a:t>
              </a:r>
            </a:p>
          </p:txBody>
        </p:sp>
        <p:sp>
          <p:nvSpPr>
            <p:cNvPr id="26" name="TextBox 26"/>
            <p:cNvSpPr txBox="1"/>
            <p:nvPr/>
          </p:nvSpPr>
          <p:spPr>
            <a:xfrm>
              <a:off x="5023676" y="2035254"/>
              <a:ext cx="473320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They lack built-in inductive biases such as locality and translation</a:t>
              </a:r>
            </a:p>
          </p:txBody>
        </p:sp>
        <p:sp>
          <p:nvSpPr>
            <p:cNvPr id="27" name="TextBox 27"/>
            <p:cNvSpPr txBox="1"/>
            <p:nvPr/>
          </p:nvSpPr>
          <p:spPr>
            <a:xfrm>
              <a:off x="5023676" y="2244804"/>
              <a:ext cx="299234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equivariance that ConvNets get for free.</a:t>
              </a:r>
            </a:p>
          </p:txBody>
        </p:sp>
      </p:grpSp>
      <p:grpSp>
        <p:nvGrpSpPr>
          <p:cNvPr id="34" name="Group 34"/>
          <p:cNvGrpSpPr/>
          <p:nvPr/>
        </p:nvGrpSpPr>
        <p:grpSpPr>
          <a:xfrm>
            <a:off x="4762500" y="2762250"/>
            <a:ext cx="6819900" cy="933497"/>
            <a:chOff x="4762500" y="2762250"/>
            <a:chExt cx="6819900" cy="933497"/>
          </a:xfrm>
        </p:grpSpPr>
        <p:sp>
          <p:nvSpPr>
            <p:cNvPr id="29" name="Rectangle 29"/>
            <p:cNvSpPr/>
            <p:nvPr/>
          </p:nvSpPr>
          <p:spPr>
            <a:xfrm>
              <a:off x="4762500" y="2762250"/>
              <a:ext cx="6819900" cy="914400"/>
            </a:xfrm>
            <a:prstGeom prst="roundRect">
              <a:avLst>
                <a:gd name="adj" fmla="val 14583"/>
              </a:avLst>
            </a:prstGeom>
            <a:solidFill>
              <a:schemeClr val="accent5"/>
            </a:solidFill>
            <a:ln w="14288">
              <a:solidFill>
                <a:srgbClr val="26455F"/>
              </a:solidFill>
            </a:ln>
          </p:spPr>
        </p:sp>
        <p:sp>
          <p:nvSpPr>
            <p:cNvPr id="30" name="Rectangle 30"/>
            <p:cNvSpPr/>
            <p:nvPr/>
          </p:nvSpPr>
          <p:spPr>
            <a:xfrm>
              <a:off x="4762500" y="2762250"/>
              <a:ext cx="57150" cy="914400"/>
            </a:xfrm>
            <a:prstGeom prst="roundRect">
              <a:avLst>
                <a:gd name="adj" fmla="val 50000"/>
              </a:avLst>
            </a:prstGeom>
            <a:solidFill>
              <a:srgbClr val="F2C14E"/>
            </a:solidFill>
            <a:ln>
              <a:noFill/>
            </a:ln>
          </p:spPr>
        </p:sp>
        <p:sp>
          <p:nvSpPr>
            <p:cNvPr id="31" name="TextBox 31"/>
            <p:cNvSpPr txBox="1"/>
            <p:nvPr/>
          </p:nvSpPr>
          <p:spPr>
            <a:xfrm>
              <a:off x="5023104" y="2994660"/>
              <a:ext cx="2445712"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Labels at ViT scale are costly</a:t>
              </a:r>
            </a:p>
          </p:txBody>
        </p:sp>
        <p:sp>
          <p:nvSpPr>
            <p:cNvPr id="32" name="TextBox 32"/>
            <p:cNvSpPr txBox="1"/>
            <p:nvPr/>
          </p:nvSpPr>
          <p:spPr>
            <a:xfrm>
              <a:off x="5023676" y="3273504"/>
              <a:ext cx="529836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Annotating data at the scale vision transformers demand is expensive and</a:t>
              </a:r>
            </a:p>
          </p:txBody>
        </p:sp>
        <p:sp>
          <p:nvSpPr>
            <p:cNvPr id="33" name="TextBox 33"/>
            <p:cNvSpPr txBox="1"/>
            <p:nvPr/>
          </p:nvSpPr>
          <p:spPr>
            <a:xfrm>
              <a:off x="5023676" y="3483054"/>
              <a:ext cx="40723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slow.</a:t>
              </a:r>
            </a:p>
          </p:txBody>
        </p:sp>
      </p:grpSp>
      <p:grpSp>
        <p:nvGrpSpPr>
          <p:cNvPr id="41" name="Group 41"/>
          <p:cNvGrpSpPr/>
          <p:nvPr/>
        </p:nvGrpSpPr>
        <p:grpSpPr>
          <a:xfrm>
            <a:off x="4762500" y="3790950"/>
            <a:ext cx="6819900" cy="1447847"/>
            <a:chOff x="4762500" y="3790950"/>
            <a:chExt cx="6819900" cy="1447847"/>
          </a:xfrm>
        </p:grpSpPr>
        <p:sp>
          <p:nvSpPr>
            <p:cNvPr id="35" name="Rectangle 35"/>
            <p:cNvSpPr/>
            <p:nvPr/>
          </p:nvSpPr>
          <p:spPr>
            <a:xfrm>
              <a:off x="4762500" y="3790950"/>
              <a:ext cx="6819900" cy="1447800"/>
            </a:xfrm>
            <a:prstGeom prst="roundRect">
              <a:avLst>
                <a:gd name="adj" fmla="val 9211"/>
              </a:avLst>
            </a:prstGeom>
            <a:solidFill>
              <a:schemeClr val="accent5"/>
            </a:solidFill>
            <a:ln w="14288">
              <a:solidFill>
                <a:srgbClr val="26455F"/>
              </a:solidFill>
            </a:ln>
          </p:spPr>
        </p:sp>
        <p:sp>
          <p:nvSpPr>
            <p:cNvPr id="36" name="Rectangle 36"/>
            <p:cNvSpPr/>
            <p:nvPr/>
          </p:nvSpPr>
          <p:spPr>
            <a:xfrm>
              <a:off x="4762500" y="3790950"/>
              <a:ext cx="57150" cy="1447800"/>
            </a:xfrm>
            <a:prstGeom prst="roundRect">
              <a:avLst>
                <a:gd name="adj" fmla="val 50000"/>
              </a:avLst>
            </a:prstGeom>
            <a:solidFill>
              <a:srgbClr val="34D3C0"/>
            </a:solidFill>
            <a:ln>
              <a:noFill/>
            </a:ln>
          </p:spPr>
        </p:sp>
        <p:sp>
          <p:nvSpPr>
            <p:cNvPr id="37" name="TextBox 37"/>
            <p:cNvSpPr txBox="1"/>
            <p:nvPr/>
          </p:nvSpPr>
          <p:spPr>
            <a:xfrm>
              <a:off x="5023104" y="4042410"/>
              <a:ext cx="2944292"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Self-supervision could help, but...</a:t>
              </a:r>
            </a:p>
          </p:txBody>
        </p:sp>
        <p:sp>
          <p:nvSpPr>
            <p:cNvPr id="38" name="TextBox 38"/>
            <p:cNvSpPr txBox="1"/>
            <p:nvPr/>
          </p:nvSpPr>
          <p:spPr>
            <a:xfrm>
              <a:off x="5023676" y="4340304"/>
              <a:ext cx="511007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SSL learns features without labels, yet popular pretext tasks were all</a:t>
              </a:r>
            </a:p>
          </p:txBody>
        </p:sp>
        <p:sp>
          <p:nvSpPr>
            <p:cNvPr id="39" name="TextBox 39"/>
            <p:cNvSpPr txBox="1"/>
            <p:nvPr/>
          </p:nvSpPr>
          <p:spPr>
            <a:xfrm>
              <a:off x="5023676" y="4549854"/>
              <a:ext cx="168642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designed for ConvNets.</a:t>
              </a:r>
            </a:p>
          </p:txBody>
        </p:sp>
        <p:sp>
          <p:nvSpPr>
            <p:cNvPr id="40" name="TextBox 40"/>
            <p:cNvSpPr txBox="1"/>
            <p:nvPr/>
          </p:nvSpPr>
          <p:spPr>
            <a:xfrm>
              <a:off x="5023676" y="5026104"/>
              <a:ext cx="5586028" cy="212693"/>
            </a:xfrm>
            <a:prstGeom prst="rect">
              <a:avLst/>
            </a:prstGeom>
            <a:noFill/>
            <a:ln>
              <a:noFill/>
            </a:ln>
          </p:spPr>
          <p:txBody>
            <a:bodyPr wrap="none" lIns="0" tIns="0" rIns="0" bIns="0" anchor="t" anchorCtr="0">
              <a:spAutoFit/>
            </a:bodyPr>
            <a:lstStyle/>
            <a:p>
              <a:pPr algn="l"/>
              <a:r>
                <a:rPr lang="en-US" sz="1090" b="1" dirty="0">
                  <a:solidFill>
                    <a:srgbClr val="34D3C0"/>
                  </a:solidFill>
                  <a:latin typeface="+mn-lt"/>
                  <a:ea typeface="+mn-ea"/>
                  <a:cs typeface="+mn-cs"/>
                </a:rPr>
                <a:t>They ignore the patch-token structure that makes transformers special.</a:t>
              </a:r>
            </a:p>
          </p:txBody>
        </p:sp>
      </p:grpSp>
      <p:sp>
        <p:nvSpPr>
          <p:cNvPr id="42" name="cue_s02_c1_vision_transformers_overtaken_convol" title="cue_s02_c1_vision_transformers_overtaken_convol" descr="cue_s02_c1_vision_transformers_overtaken_convol Vision transformers have overtaken convolutional networks on many vision tasks, but only when trained on very large labeled datasets."/>
          <p:cNvSpPr/>
          <p:nvPr/>
        </p:nvSpPr>
        <p:spPr>
          <a:xfrm>
            <a:off x="609600" y="1504645"/>
            <a:ext cx="3956304"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2_c2_limited_labels_their_performance_fal" title="cue_s02_c2_limited_labels_their_performance_fal" descr="cue_s02_c2_limited_labels_their_performance_fal With limited labels their performance falls behind ConvNets, because they lack built-in inductive biases like locality and translation equivariance."/>
          <p:cNvSpPr/>
          <p:nvPr/>
        </p:nvSpPr>
        <p:spPr>
          <a:xfrm>
            <a:off x="4762195" y="1504645"/>
            <a:ext cx="68202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3_labeling_scale_vits_need_expensive" title="cue_s02_c3_labeling_scale_vits_need_expensive" descr="cue_s02_c3_labeling_scale_vits_need_expensive Labeling data at the scale ViTs need is expensive and slow."/>
          <p:cNvSpPr/>
          <p:nvPr/>
        </p:nvSpPr>
        <p:spPr>
          <a:xfrm>
            <a:off x="4762195" y="2762402"/>
            <a:ext cx="6820204" cy="9333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4_self_supervised_learning_help_learni" title="cue_s02_c4_self_supervised_learning_help_learni" descr="cue_s02_c4_self_supervised_learning_help_learni Self-supervised learning can help by learning useful features without labels, but the popular self-supervised pretext tasks were all designed for convolutional networks and ignore the patch-token structure that makes transformers special."/>
          <p:cNvSpPr/>
          <p:nvPr/>
        </p:nvSpPr>
        <p:spPr>
          <a:xfrm>
            <a:off x="4762195" y="3791102"/>
            <a:ext cx="6820204" cy="14477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68006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Push rotation prediction to the patch level</a:t>
            </a:r>
          </a:p>
        </p:txBody>
      </p:sp>
      <p:grpSp>
        <p:nvGrpSpPr>
          <p:cNvPr id="35" name="Group 35"/>
          <p:cNvGrpSpPr/>
          <p:nvPr/>
        </p:nvGrpSpPr>
        <p:grpSpPr>
          <a:xfrm>
            <a:off x="609600" y="1504950"/>
            <a:ext cx="5334000" cy="3733800"/>
            <a:chOff x="609600" y="1504950"/>
            <a:chExt cx="5334000" cy="3733800"/>
          </a:xfrm>
        </p:grpSpPr>
        <p:sp>
          <p:nvSpPr>
            <p:cNvPr id="5" name="Rectangle 5"/>
            <p:cNvSpPr/>
            <p:nvPr/>
          </p:nvSpPr>
          <p:spPr>
            <a:xfrm>
              <a:off x="609600" y="1504950"/>
              <a:ext cx="53340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40218"/>
              <a:ext cx="3162910"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A ViT outputs one token per patch</a:t>
              </a:r>
            </a:p>
          </p:txBody>
        </p:sp>
        <p:sp>
          <p:nvSpPr>
            <p:cNvPr id="8" name="TextBox 8"/>
            <p:cNvSpPr txBox="1"/>
            <p:nvPr/>
          </p:nvSpPr>
          <p:spPr>
            <a:xfrm>
              <a:off x="870776" y="2073354"/>
              <a:ext cx="300181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It splits an image into patches and applies</a:t>
              </a:r>
            </a:p>
          </p:txBody>
        </p:sp>
        <p:sp>
          <p:nvSpPr>
            <p:cNvPr id="9" name="TextBox 9"/>
            <p:cNvSpPr txBox="1"/>
            <p:nvPr/>
          </p:nvSpPr>
          <p:spPr>
            <a:xfrm>
              <a:off x="870776" y="2282904"/>
              <a:ext cx="353531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self-attention, so unlike a ConvNet it produces a</a:t>
              </a:r>
            </a:p>
          </p:txBody>
        </p:sp>
        <p:sp>
          <p:nvSpPr>
            <p:cNvPr id="10" name="TextBox 10"/>
            <p:cNvSpPr txBox="1"/>
            <p:nvPr/>
          </p:nvSpPr>
          <p:spPr>
            <a:xfrm>
              <a:off x="870776" y="2492454"/>
              <a:ext cx="363542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separate output for every patch, not just one for</a:t>
              </a:r>
            </a:p>
          </p:txBody>
        </p:sp>
        <p:sp>
          <p:nvSpPr>
            <p:cNvPr id="11" name="TextBox 11"/>
            <p:cNvSpPr txBox="1"/>
            <p:nvPr/>
          </p:nvSpPr>
          <p:spPr>
            <a:xfrm>
              <a:off x="870776" y="2702004"/>
              <a:ext cx="121428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whole image.</a:t>
              </a:r>
            </a:p>
          </p:txBody>
        </p:sp>
        <p:sp>
          <p:nvSpPr>
            <p:cNvPr id="12" name="Rectangle 12"/>
            <p:cNvSpPr/>
            <p:nvPr/>
          </p:nvSpPr>
          <p:spPr>
            <a:xfrm>
              <a:off x="1428750" y="3200400"/>
              <a:ext cx="495300" cy="495300"/>
            </a:xfrm>
            <a:prstGeom prst="roundRect">
              <a:avLst>
                <a:gd name="adj" fmla="val 3846"/>
              </a:avLst>
            </a:prstGeom>
            <a:solidFill>
              <a:schemeClr val="accent6"/>
            </a:solidFill>
            <a:ln w="13335">
              <a:solidFill>
                <a:schemeClr val="accent2"/>
              </a:solidFill>
            </a:ln>
          </p:spPr>
        </p:sp>
        <p:sp>
          <p:nvSpPr>
            <p:cNvPr id="13" name="Rectangle 13"/>
            <p:cNvSpPr/>
            <p:nvPr/>
          </p:nvSpPr>
          <p:spPr>
            <a:xfrm>
              <a:off x="2019300" y="3200400"/>
              <a:ext cx="495300" cy="495300"/>
            </a:xfrm>
            <a:prstGeom prst="roundRect">
              <a:avLst>
                <a:gd name="adj" fmla="val 3846"/>
              </a:avLst>
            </a:prstGeom>
            <a:solidFill>
              <a:schemeClr val="accent6"/>
            </a:solidFill>
            <a:ln w="13335">
              <a:solidFill>
                <a:schemeClr val="accent2"/>
              </a:solidFill>
            </a:ln>
          </p:spPr>
        </p:sp>
        <p:sp>
          <p:nvSpPr>
            <p:cNvPr id="14" name="Rectangle 14"/>
            <p:cNvSpPr/>
            <p:nvPr/>
          </p:nvSpPr>
          <p:spPr>
            <a:xfrm>
              <a:off x="2609850" y="3200400"/>
              <a:ext cx="495300" cy="495300"/>
            </a:xfrm>
            <a:prstGeom prst="roundRect">
              <a:avLst>
                <a:gd name="adj" fmla="val 3846"/>
              </a:avLst>
            </a:prstGeom>
            <a:solidFill>
              <a:schemeClr val="accent6"/>
            </a:solidFill>
            <a:ln w="13335">
              <a:solidFill>
                <a:schemeClr val="accent2"/>
              </a:solidFill>
            </a:ln>
          </p:spPr>
        </p:sp>
        <p:sp>
          <p:nvSpPr>
            <p:cNvPr id="15" name="Rectangle 15"/>
            <p:cNvSpPr/>
            <p:nvPr/>
          </p:nvSpPr>
          <p:spPr>
            <a:xfrm>
              <a:off x="1428750" y="3790950"/>
              <a:ext cx="495300" cy="495300"/>
            </a:xfrm>
            <a:prstGeom prst="roundRect">
              <a:avLst>
                <a:gd name="adj" fmla="val 3846"/>
              </a:avLst>
            </a:prstGeom>
            <a:solidFill>
              <a:schemeClr val="accent6"/>
            </a:solidFill>
            <a:ln w="13335">
              <a:solidFill>
                <a:schemeClr val="accent2"/>
              </a:solidFill>
            </a:ln>
          </p:spPr>
        </p:sp>
        <p:sp>
          <p:nvSpPr>
            <p:cNvPr id="16" name="Rectangle 16"/>
            <p:cNvSpPr/>
            <p:nvPr/>
          </p:nvSpPr>
          <p:spPr>
            <a:xfrm>
              <a:off x="2019300" y="3790950"/>
              <a:ext cx="495300" cy="495300"/>
            </a:xfrm>
            <a:prstGeom prst="roundRect">
              <a:avLst>
                <a:gd name="adj" fmla="val 3846"/>
              </a:avLst>
            </a:prstGeom>
            <a:solidFill>
              <a:schemeClr val="accent6"/>
            </a:solidFill>
            <a:ln w="13335">
              <a:solidFill>
                <a:schemeClr val="accent2"/>
              </a:solidFill>
            </a:ln>
          </p:spPr>
        </p:sp>
        <p:sp>
          <p:nvSpPr>
            <p:cNvPr id="17" name="Rectangle 17"/>
            <p:cNvSpPr/>
            <p:nvPr/>
          </p:nvSpPr>
          <p:spPr>
            <a:xfrm>
              <a:off x="2609850" y="3790950"/>
              <a:ext cx="495300" cy="495300"/>
            </a:xfrm>
            <a:prstGeom prst="roundRect">
              <a:avLst>
                <a:gd name="adj" fmla="val 3846"/>
              </a:avLst>
            </a:prstGeom>
            <a:solidFill>
              <a:schemeClr val="accent6"/>
            </a:solidFill>
            <a:ln w="13335">
              <a:solidFill>
                <a:schemeClr val="accent2"/>
              </a:solidFill>
            </a:ln>
          </p:spPr>
        </p:sp>
        <p:sp>
          <p:nvSpPr>
            <p:cNvPr id="18" name="Rectangle 18"/>
            <p:cNvSpPr/>
            <p:nvPr/>
          </p:nvSpPr>
          <p:spPr>
            <a:xfrm>
              <a:off x="1428750" y="4381500"/>
              <a:ext cx="495300" cy="495300"/>
            </a:xfrm>
            <a:prstGeom prst="roundRect">
              <a:avLst>
                <a:gd name="adj" fmla="val 3846"/>
              </a:avLst>
            </a:prstGeom>
            <a:solidFill>
              <a:schemeClr val="accent6"/>
            </a:solidFill>
            <a:ln w="13335">
              <a:solidFill>
                <a:schemeClr val="accent2"/>
              </a:solidFill>
            </a:ln>
          </p:spPr>
        </p:sp>
        <p:sp>
          <p:nvSpPr>
            <p:cNvPr id="19" name="Rectangle 19"/>
            <p:cNvSpPr/>
            <p:nvPr/>
          </p:nvSpPr>
          <p:spPr>
            <a:xfrm>
              <a:off x="2019300" y="4381500"/>
              <a:ext cx="495300" cy="495300"/>
            </a:xfrm>
            <a:prstGeom prst="roundRect">
              <a:avLst>
                <a:gd name="adj" fmla="val 3846"/>
              </a:avLst>
            </a:prstGeom>
            <a:solidFill>
              <a:schemeClr val="accent6"/>
            </a:solidFill>
            <a:ln w="13335">
              <a:solidFill>
                <a:schemeClr val="accent2"/>
              </a:solidFill>
            </a:ln>
          </p:spPr>
        </p:sp>
        <p:sp>
          <p:nvSpPr>
            <p:cNvPr id="20" name="Rectangle 20"/>
            <p:cNvSpPr/>
            <p:nvPr/>
          </p:nvSpPr>
          <p:spPr>
            <a:xfrm>
              <a:off x="2609850" y="4381500"/>
              <a:ext cx="495300" cy="495300"/>
            </a:xfrm>
            <a:prstGeom prst="roundRect">
              <a:avLst>
                <a:gd name="adj" fmla="val 3846"/>
              </a:avLst>
            </a:prstGeom>
            <a:solidFill>
              <a:schemeClr val="accent6"/>
            </a:solidFill>
            <a:ln w="13335">
              <a:solidFill>
                <a:schemeClr val="accent2"/>
              </a:solidFill>
            </a:ln>
          </p:spPr>
        </p:sp>
        <p:sp>
          <p:nvSpPr>
            <p:cNvPr id="21" name="TextBox 21"/>
            <p:cNvSpPr txBox="1"/>
            <p:nvPr/>
          </p:nvSpPr>
          <p:spPr>
            <a:xfrm>
              <a:off x="3292342" y="3269932"/>
              <a:ext cx="273316"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n-lt"/>
                  <a:ea typeface="+mn-ea"/>
                  <a:cs typeface="+mn-cs"/>
                </a:rPr>
                <a:t>-&gt;</a:t>
              </a:r>
            </a:p>
          </p:txBody>
        </p:sp>
        <p:sp>
          <p:nvSpPr>
            <p:cNvPr id="22" name="Rectangle 22"/>
            <p:cNvSpPr/>
            <p:nvPr/>
          </p:nvSpPr>
          <p:spPr>
            <a:xfrm>
              <a:off x="3886200" y="3200400"/>
              <a:ext cx="1428750" cy="1714500"/>
            </a:xfrm>
            <a:prstGeom prst="roundRect">
              <a:avLst>
                <a:gd name="adj" fmla="val 6667"/>
              </a:avLst>
            </a:prstGeom>
            <a:solidFill>
              <a:schemeClr val="accent6"/>
            </a:solidFill>
            <a:ln w="14288">
              <a:solidFill>
                <a:srgbClr val="26455F"/>
              </a:solidFill>
            </a:ln>
          </p:spPr>
        </p:sp>
        <p:sp>
          <p:nvSpPr>
            <p:cNvPr id="23" name="TextBox 23"/>
            <p:cNvSpPr txBox="1"/>
            <p:nvPr/>
          </p:nvSpPr>
          <p:spPr>
            <a:xfrm>
              <a:off x="4266959" y="3327797"/>
              <a:ext cx="667231" cy="183356"/>
            </a:xfrm>
            <a:prstGeom prst="rect">
              <a:avLst/>
            </a:prstGeom>
            <a:noFill/>
            <a:ln>
              <a:noFill/>
            </a:ln>
          </p:spPr>
          <p:txBody>
            <a:bodyPr wrap="none" lIns="0" tIns="0" rIns="0" bIns="0" anchor="t" anchorCtr="0">
              <a:spAutoFit/>
            </a:bodyPr>
            <a:lstStyle/>
            <a:p>
              <a:pPr algn="ctr"/>
              <a:r>
                <a:rPr lang="en-US" sz="940" b="1" dirty="0">
                  <a:solidFill>
                    <a:srgbClr val="34D3C0"/>
                  </a:solidFill>
                  <a:latin typeface="+mn-lt"/>
                  <a:ea typeface="+mn-ea"/>
                  <a:cs typeface="+mn-cs"/>
                </a:rPr>
                <a:t>per-patch</a:t>
              </a:r>
            </a:p>
          </p:txBody>
        </p:sp>
        <p:sp>
          <p:nvSpPr>
            <p:cNvPr id="24" name="TextBox 24"/>
            <p:cNvSpPr txBox="1"/>
            <p:nvPr/>
          </p:nvSpPr>
          <p:spPr>
            <a:xfrm>
              <a:off x="4376577" y="3499247"/>
              <a:ext cx="447996" cy="183356"/>
            </a:xfrm>
            <a:prstGeom prst="rect">
              <a:avLst/>
            </a:prstGeom>
            <a:noFill/>
            <a:ln>
              <a:noFill/>
            </a:ln>
          </p:spPr>
          <p:txBody>
            <a:bodyPr wrap="none" lIns="0" tIns="0" rIns="0" bIns="0" anchor="t" anchorCtr="0">
              <a:spAutoFit/>
            </a:bodyPr>
            <a:lstStyle/>
            <a:p>
              <a:pPr algn="ctr"/>
              <a:r>
                <a:rPr lang="en-US" sz="940" b="1" dirty="0">
                  <a:solidFill>
                    <a:srgbClr val="34D3C0"/>
                  </a:solidFill>
                  <a:latin typeface="+mn-lt"/>
                  <a:ea typeface="+mn-ea"/>
                  <a:cs typeface="+mn-cs"/>
                </a:rPr>
                <a:t>tokens</a:t>
              </a:r>
            </a:p>
          </p:txBody>
        </p:sp>
        <p:sp>
          <p:nvSpPr>
            <p:cNvPr id="25" name="Ellipse 25"/>
            <p:cNvSpPr/>
            <p:nvPr/>
          </p:nvSpPr>
          <p:spPr>
            <a:xfrm>
              <a:off x="4048125" y="3781425"/>
              <a:ext cx="133350" cy="133350"/>
            </a:xfrm>
            <a:prstGeom prst="ellipse">
              <a:avLst/>
            </a:prstGeom>
            <a:solidFill>
              <a:srgbClr val="34D3C0"/>
            </a:solidFill>
            <a:ln>
              <a:noFill/>
            </a:ln>
          </p:spPr>
        </p:sp>
        <p:sp>
          <p:nvSpPr>
            <p:cNvPr id="26" name="Ellipse 26"/>
            <p:cNvSpPr/>
            <p:nvPr/>
          </p:nvSpPr>
          <p:spPr>
            <a:xfrm>
              <a:off x="4391025" y="3781425"/>
              <a:ext cx="133350" cy="133350"/>
            </a:xfrm>
            <a:prstGeom prst="ellipse">
              <a:avLst/>
            </a:prstGeom>
            <a:solidFill>
              <a:srgbClr val="34D3C0"/>
            </a:solidFill>
            <a:ln>
              <a:noFill/>
            </a:ln>
          </p:spPr>
        </p:sp>
        <p:sp>
          <p:nvSpPr>
            <p:cNvPr id="27" name="Ellipse 27"/>
            <p:cNvSpPr/>
            <p:nvPr/>
          </p:nvSpPr>
          <p:spPr>
            <a:xfrm>
              <a:off x="4733925" y="3781425"/>
              <a:ext cx="133350" cy="133350"/>
            </a:xfrm>
            <a:prstGeom prst="ellipse">
              <a:avLst/>
            </a:prstGeom>
            <a:solidFill>
              <a:srgbClr val="34D3C0"/>
            </a:solidFill>
            <a:ln>
              <a:noFill/>
            </a:ln>
          </p:spPr>
        </p:sp>
        <p:sp>
          <p:nvSpPr>
            <p:cNvPr id="28" name="Ellipse 28"/>
            <p:cNvSpPr/>
            <p:nvPr/>
          </p:nvSpPr>
          <p:spPr>
            <a:xfrm>
              <a:off x="4048125" y="4162425"/>
              <a:ext cx="133350" cy="133350"/>
            </a:xfrm>
            <a:prstGeom prst="ellipse">
              <a:avLst/>
            </a:prstGeom>
            <a:solidFill>
              <a:srgbClr val="34D3C0"/>
            </a:solidFill>
            <a:ln>
              <a:noFill/>
            </a:ln>
          </p:spPr>
        </p:sp>
        <p:sp>
          <p:nvSpPr>
            <p:cNvPr id="29" name="Ellipse 29"/>
            <p:cNvSpPr/>
            <p:nvPr/>
          </p:nvSpPr>
          <p:spPr>
            <a:xfrm>
              <a:off x="4391025" y="4162425"/>
              <a:ext cx="133350" cy="133350"/>
            </a:xfrm>
            <a:prstGeom prst="ellipse">
              <a:avLst/>
            </a:prstGeom>
            <a:solidFill>
              <a:srgbClr val="34D3C0"/>
            </a:solidFill>
            <a:ln>
              <a:noFill/>
            </a:ln>
          </p:spPr>
        </p:sp>
        <p:sp>
          <p:nvSpPr>
            <p:cNvPr id="30" name="Ellipse 30"/>
            <p:cNvSpPr/>
            <p:nvPr/>
          </p:nvSpPr>
          <p:spPr>
            <a:xfrm>
              <a:off x="4733925" y="4162425"/>
              <a:ext cx="133350" cy="133350"/>
            </a:xfrm>
            <a:prstGeom prst="ellipse">
              <a:avLst/>
            </a:prstGeom>
            <a:solidFill>
              <a:srgbClr val="34D3C0"/>
            </a:solidFill>
            <a:ln>
              <a:noFill/>
            </a:ln>
          </p:spPr>
        </p:sp>
        <p:sp>
          <p:nvSpPr>
            <p:cNvPr id="31" name="Ellipse 31"/>
            <p:cNvSpPr/>
            <p:nvPr/>
          </p:nvSpPr>
          <p:spPr>
            <a:xfrm>
              <a:off x="4048125" y="4543425"/>
              <a:ext cx="133350" cy="133350"/>
            </a:xfrm>
            <a:prstGeom prst="ellipse">
              <a:avLst/>
            </a:prstGeom>
            <a:solidFill>
              <a:srgbClr val="34D3C0"/>
            </a:solidFill>
            <a:ln>
              <a:noFill/>
            </a:ln>
          </p:spPr>
        </p:sp>
        <p:sp>
          <p:nvSpPr>
            <p:cNvPr id="32" name="Ellipse 32"/>
            <p:cNvSpPr/>
            <p:nvPr/>
          </p:nvSpPr>
          <p:spPr>
            <a:xfrm>
              <a:off x="4391025" y="4543425"/>
              <a:ext cx="133350" cy="133350"/>
            </a:xfrm>
            <a:prstGeom prst="ellipse">
              <a:avLst/>
            </a:prstGeom>
            <a:solidFill>
              <a:srgbClr val="34D3C0"/>
            </a:solidFill>
            <a:ln>
              <a:noFill/>
            </a:ln>
          </p:spPr>
        </p:sp>
        <p:sp>
          <p:nvSpPr>
            <p:cNvPr id="33" name="Ellipse 33"/>
            <p:cNvSpPr/>
            <p:nvPr/>
          </p:nvSpPr>
          <p:spPr>
            <a:xfrm>
              <a:off x="4733925" y="4543425"/>
              <a:ext cx="133350" cy="133350"/>
            </a:xfrm>
            <a:prstGeom prst="ellipse">
              <a:avLst/>
            </a:prstGeom>
            <a:solidFill>
              <a:srgbClr val="34D3C0"/>
            </a:solidFill>
            <a:ln>
              <a:noFill/>
            </a:ln>
          </p:spPr>
        </p:sp>
        <p:sp>
          <p:nvSpPr>
            <p:cNvPr id="34" name="TextBox 34"/>
            <p:cNvSpPr txBox="1"/>
            <p:nvPr/>
          </p:nvSpPr>
          <p:spPr>
            <a:xfrm>
              <a:off x="871156" y="5034201"/>
              <a:ext cx="3498670"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One output per patch, ready to supervise locally.</a:t>
              </a:r>
            </a:p>
          </p:txBody>
        </p:sp>
      </p:grpSp>
      <p:grpSp>
        <p:nvGrpSpPr>
          <p:cNvPr id="41" name="Group 41"/>
          <p:cNvGrpSpPr/>
          <p:nvPr/>
        </p:nvGrpSpPr>
        <p:grpSpPr>
          <a:xfrm>
            <a:off x="6172200" y="1504950"/>
            <a:ext cx="5410200" cy="1104900"/>
            <a:chOff x="6172200" y="1504950"/>
            <a:chExt cx="5410200" cy="1104900"/>
          </a:xfrm>
        </p:grpSpPr>
        <p:sp>
          <p:nvSpPr>
            <p:cNvPr id="36" name="Rectangle 36"/>
            <p:cNvSpPr/>
            <p:nvPr/>
          </p:nvSpPr>
          <p:spPr>
            <a:xfrm>
              <a:off x="6172200" y="1504950"/>
              <a:ext cx="5410200" cy="1104900"/>
            </a:xfrm>
            <a:prstGeom prst="roundRect">
              <a:avLst>
                <a:gd name="adj" fmla="val 12069"/>
              </a:avLst>
            </a:prstGeom>
            <a:solidFill>
              <a:schemeClr val="accent5"/>
            </a:solidFill>
            <a:ln w="14288">
              <a:solidFill>
                <a:srgbClr val="26455F"/>
              </a:solidFill>
            </a:ln>
          </p:spPr>
        </p:sp>
        <p:sp>
          <p:nvSpPr>
            <p:cNvPr id="37" name="Rectangle 37"/>
            <p:cNvSpPr/>
            <p:nvPr/>
          </p:nvSpPr>
          <p:spPr>
            <a:xfrm>
              <a:off x="6172200" y="1504950"/>
              <a:ext cx="57150" cy="1104900"/>
            </a:xfrm>
            <a:prstGeom prst="roundRect">
              <a:avLst>
                <a:gd name="adj" fmla="val 50000"/>
              </a:avLst>
            </a:prstGeom>
            <a:solidFill>
              <a:srgbClr val="F2C14E"/>
            </a:solidFill>
            <a:ln>
              <a:noFill/>
            </a:ln>
          </p:spPr>
        </p:sp>
        <p:sp>
          <p:nvSpPr>
            <p:cNvPr id="38" name="TextBox 38"/>
            <p:cNvSpPr txBox="1"/>
            <p:nvPr/>
          </p:nvSpPr>
          <p:spPr>
            <a:xfrm>
              <a:off x="6432804" y="1737360"/>
              <a:ext cx="2677894"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RotNet: rotation is a rich signal</a:t>
              </a:r>
            </a:p>
          </p:txBody>
        </p:sp>
        <p:sp>
          <p:nvSpPr>
            <p:cNvPr id="39" name="TextBox 39"/>
            <p:cNvSpPr txBox="1"/>
            <p:nvPr/>
          </p:nvSpPr>
          <p:spPr>
            <a:xfrm>
              <a:off x="6433376" y="2035254"/>
              <a:ext cx="442535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Prior work showed that simply predicting an image's rotation</a:t>
              </a:r>
            </a:p>
          </p:txBody>
        </p:sp>
        <p:sp>
          <p:nvSpPr>
            <p:cNvPr id="40" name="TextBox 40"/>
            <p:cNvSpPr txBox="1"/>
            <p:nvPr/>
          </p:nvSpPr>
          <p:spPr>
            <a:xfrm>
              <a:off x="6433376" y="2244804"/>
              <a:ext cx="373301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angle teaches a ConvNet surprisingly rich features.</a:t>
              </a:r>
            </a:p>
          </p:txBody>
        </p:sp>
      </p:grpSp>
      <p:grpSp>
        <p:nvGrpSpPr>
          <p:cNvPr id="48" name="Group 48"/>
          <p:cNvGrpSpPr/>
          <p:nvPr/>
        </p:nvGrpSpPr>
        <p:grpSpPr>
          <a:xfrm>
            <a:off x="6172200" y="2724150"/>
            <a:ext cx="5410200" cy="1428750"/>
            <a:chOff x="6172200" y="2724150"/>
            <a:chExt cx="5410200" cy="1428750"/>
          </a:xfrm>
        </p:grpSpPr>
        <p:sp>
          <p:nvSpPr>
            <p:cNvPr id="42" name="Rectangle 42"/>
            <p:cNvSpPr/>
            <p:nvPr/>
          </p:nvSpPr>
          <p:spPr>
            <a:xfrm>
              <a:off x="6172200" y="2724150"/>
              <a:ext cx="5410200" cy="1428750"/>
            </a:xfrm>
            <a:prstGeom prst="roundRect">
              <a:avLst>
                <a:gd name="adj" fmla="val 9333"/>
              </a:avLst>
            </a:prstGeom>
            <a:solidFill>
              <a:srgbClr val="0F2E2B"/>
            </a:solidFill>
            <a:ln w="14288">
              <a:solidFill>
                <a:srgbClr val="34D3C0"/>
              </a:solidFill>
            </a:ln>
          </p:spPr>
        </p:sp>
        <p:sp>
          <p:nvSpPr>
            <p:cNvPr id="43" name="Rectangle 43"/>
            <p:cNvSpPr/>
            <p:nvPr/>
          </p:nvSpPr>
          <p:spPr>
            <a:xfrm>
              <a:off x="6172200" y="2724150"/>
              <a:ext cx="57150" cy="1428750"/>
            </a:xfrm>
            <a:prstGeom prst="roundRect">
              <a:avLst>
                <a:gd name="adj" fmla="val 50000"/>
              </a:avLst>
            </a:prstGeom>
            <a:solidFill>
              <a:srgbClr val="34D3C0"/>
            </a:solidFill>
            <a:ln>
              <a:noFill/>
            </a:ln>
          </p:spPr>
        </p:sp>
        <p:sp>
          <p:nvSpPr>
            <p:cNvPr id="44" name="TextBox 44"/>
            <p:cNvSpPr txBox="1"/>
            <p:nvPr/>
          </p:nvSpPr>
          <p:spPr>
            <a:xfrm>
              <a:off x="6432804" y="2956560"/>
              <a:ext cx="171373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The natural question</a:t>
              </a:r>
            </a:p>
          </p:txBody>
        </p:sp>
        <p:sp>
          <p:nvSpPr>
            <p:cNvPr id="45" name="TextBox 45"/>
            <p:cNvSpPr txBox="1"/>
            <p:nvPr/>
          </p:nvSpPr>
          <p:spPr>
            <a:xfrm>
              <a:off x="6433376" y="3254454"/>
              <a:ext cx="4286096"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Can we push rotation prediction down to the patch level, so</a:t>
              </a:r>
            </a:p>
          </p:txBody>
        </p:sp>
        <p:sp>
          <p:nvSpPr>
            <p:cNvPr id="46" name="TextBox 46"/>
            <p:cNvSpPr txBox="1"/>
            <p:nvPr/>
          </p:nvSpPr>
          <p:spPr>
            <a:xfrm>
              <a:off x="6433376" y="3464004"/>
              <a:ext cx="4237040"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the transformer learns local features per patch as well as</a:t>
              </a:r>
            </a:p>
          </p:txBody>
        </p:sp>
        <p:sp>
          <p:nvSpPr>
            <p:cNvPr id="47" name="TextBox 47"/>
            <p:cNvSpPr txBox="1"/>
            <p:nvPr/>
          </p:nvSpPr>
          <p:spPr>
            <a:xfrm>
              <a:off x="6433376" y="3673554"/>
              <a:ext cx="2725661"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global structure for the whole image?</a:t>
              </a:r>
            </a:p>
          </p:txBody>
        </p:sp>
      </p:grpSp>
      <p:grpSp>
        <p:nvGrpSpPr>
          <p:cNvPr id="54" name="Group 54"/>
          <p:cNvGrpSpPr/>
          <p:nvPr/>
        </p:nvGrpSpPr>
        <p:grpSpPr>
          <a:xfrm>
            <a:off x="6172200" y="4267200"/>
            <a:ext cx="5410200" cy="971550"/>
            <a:chOff x="6172200" y="4267200"/>
            <a:chExt cx="5410200" cy="971550"/>
          </a:xfrm>
        </p:grpSpPr>
        <p:sp>
          <p:nvSpPr>
            <p:cNvPr id="49" name="Rectangle 49"/>
            <p:cNvSpPr/>
            <p:nvPr/>
          </p:nvSpPr>
          <p:spPr>
            <a:xfrm>
              <a:off x="6172200" y="4267200"/>
              <a:ext cx="5410200" cy="971550"/>
            </a:xfrm>
            <a:prstGeom prst="roundRect">
              <a:avLst>
                <a:gd name="adj" fmla="val 13725"/>
              </a:avLst>
            </a:prstGeom>
            <a:solidFill>
              <a:schemeClr val="accent5"/>
            </a:solidFill>
            <a:ln w="14288">
              <a:solidFill>
                <a:srgbClr val="26455F"/>
              </a:solidFill>
            </a:ln>
          </p:spPr>
        </p:sp>
        <p:sp>
          <p:nvSpPr>
            <p:cNvPr id="50" name="Rectangle 50"/>
            <p:cNvSpPr/>
            <p:nvPr/>
          </p:nvSpPr>
          <p:spPr>
            <a:xfrm>
              <a:off x="6172200" y="4267200"/>
              <a:ext cx="57150" cy="971550"/>
            </a:xfrm>
            <a:prstGeom prst="roundRect">
              <a:avLst>
                <a:gd name="adj" fmla="val 50000"/>
              </a:avLst>
            </a:prstGeom>
            <a:solidFill>
              <a:srgbClr val="48C78E"/>
            </a:solidFill>
            <a:ln>
              <a:noFill/>
            </a:ln>
          </p:spPr>
        </p:sp>
        <p:sp>
          <p:nvSpPr>
            <p:cNvPr id="51" name="TextBox 51"/>
            <p:cNvSpPr txBox="1"/>
            <p:nvPr/>
          </p:nvSpPr>
          <p:spPr>
            <a:xfrm>
              <a:off x="6432804" y="4499610"/>
              <a:ext cx="2553770"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A perfect fit for token models</a:t>
              </a:r>
            </a:p>
          </p:txBody>
        </p:sp>
        <p:sp>
          <p:nvSpPr>
            <p:cNvPr id="52" name="TextBox 52"/>
            <p:cNvSpPr txBox="1"/>
            <p:nvPr/>
          </p:nvSpPr>
          <p:spPr>
            <a:xfrm>
              <a:off x="6433376" y="4797504"/>
              <a:ext cx="428599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That patch-level signal is exactly what a token-based model</a:t>
              </a:r>
            </a:p>
          </p:txBody>
        </p:sp>
        <p:sp>
          <p:nvSpPr>
            <p:cNvPr id="53" name="TextBox 53"/>
            <p:cNvSpPr txBox="1"/>
            <p:nvPr/>
          </p:nvSpPr>
          <p:spPr>
            <a:xfrm>
              <a:off x="6433376" y="5007054"/>
              <a:ext cx="133167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is built to exploit.</a:t>
              </a:r>
            </a:p>
          </p:txBody>
        </p:sp>
      </p:grpSp>
      <p:sp>
        <p:nvSpPr>
          <p:cNvPr id="55" name="cue_s03_c1_vision_transformer_splits_image_patc" title="cue_s03_c1_vision_transformer_splits_image_patc" descr="cue_s03_c1_vision_transformer_splits_image_patc A vision transformer splits an image into patches and applies self-attention, so unlike a convolutional network it can produce a separate output for every patch, not just one output for the whole image."/>
          <p:cNvSpPr/>
          <p:nvPr/>
        </p:nvSpPr>
        <p:spPr>
          <a:xfrm>
            <a:off x="609600"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3_c2_prior_work_called_rotnet_showed" title="cue_s03_c2_prior_work_called_rotnet_showed" descr="cue_s03_c2_prior_work_called_rotnet_showed Prior work called RotNet showed that simply predicting the rotation angle of an image teaches a convolutional network surprisingly rich features."/>
          <p:cNvSpPr/>
          <p:nvPr/>
        </p:nvSpPr>
        <p:spPr>
          <a:xfrm>
            <a:off x="6171590" y="1504645"/>
            <a:ext cx="540959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3_c3_natural_question_push_rotation_predi" title="cue_s03_c3_natural_question_push_rotation_predi" descr="cue_s03_c3_natural_question_push_rotation_predi The natural question is: can we push rotation prediction down to the patch level, so the transformer learns local features for each patch as well as global structure for the whole image?"/>
          <p:cNvSpPr/>
          <p:nvPr/>
        </p:nvSpPr>
        <p:spPr>
          <a:xfrm>
            <a:off x="6171590" y="2723997"/>
            <a:ext cx="54095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3_c4_patch_level_signal_exactly_what_toke" title="cue_s03_c4_patch_level_signal_exactly_what_toke" descr="cue_s03_c4_patch_level_signal_exactly_what_toke That patch-level signal is exactly what a token-based model is built to exploit."/>
          <p:cNvSpPr/>
          <p:nvPr/>
        </p:nvSpPr>
        <p:spPr>
          <a:xfrm>
            <a:off x="6171590" y="4267047"/>
            <a:ext cx="5409590"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311754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Three contributions</a:t>
            </a:r>
          </a:p>
        </p:txBody>
      </p:sp>
      <p:grpSp>
        <p:nvGrpSpPr>
          <p:cNvPr id="8" name="Group 8"/>
          <p:cNvGrpSpPr/>
          <p:nvPr/>
        </p:nvGrpSpPr>
        <p:grpSpPr>
          <a:xfrm>
            <a:off x="609600" y="1504950"/>
            <a:ext cx="10972800" cy="514350"/>
            <a:chOff x="609600" y="1504950"/>
            <a:chExt cx="10972800" cy="514350"/>
          </a:xfrm>
        </p:grpSpPr>
        <p:sp>
          <p:nvSpPr>
            <p:cNvPr id="5" name="Rectangle 5"/>
            <p:cNvSpPr/>
            <p:nvPr/>
          </p:nvSpPr>
          <p:spPr>
            <a:xfrm>
              <a:off x="609600" y="1504950"/>
              <a:ext cx="10972800" cy="514350"/>
            </a:xfrm>
            <a:prstGeom prst="roundRect">
              <a:avLst>
                <a:gd name="adj" fmla="val 25926"/>
              </a:avLst>
            </a:prstGeom>
            <a:solidFill>
              <a:schemeClr val="accent5"/>
            </a:solidFill>
            <a:ln w="14288">
              <a:solidFill>
                <a:srgbClr val="26455F"/>
              </a:solidFill>
            </a:ln>
          </p:spPr>
        </p:sp>
        <p:sp>
          <p:nvSpPr>
            <p:cNvPr id="6" name="Rectangle 6"/>
            <p:cNvSpPr/>
            <p:nvPr/>
          </p:nvSpPr>
          <p:spPr>
            <a:xfrm>
              <a:off x="609600" y="1504950"/>
              <a:ext cx="57150" cy="514350"/>
            </a:xfrm>
            <a:prstGeom prst="roundRect">
              <a:avLst>
                <a:gd name="adj" fmla="val 50000"/>
              </a:avLst>
            </a:prstGeom>
            <a:solidFill>
              <a:schemeClr val="accent2"/>
            </a:solidFill>
            <a:ln>
              <a:noFill/>
            </a:ln>
          </p:spPr>
        </p:sp>
        <p:sp>
          <p:nvSpPr>
            <p:cNvPr id="7" name="TextBox 7"/>
            <p:cNvSpPr txBox="1"/>
            <p:nvPr/>
          </p:nvSpPr>
          <p:spPr>
            <a:xfrm>
              <a:off x="870204" y="1689735"/>
              <a:ext cx="7565884"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paper makes three main contributions for training vision transformers without labels.</a:t>
              </a:r>
            </a:p>
          </p:txBody>
        </p:sp>
      </p:grpSp>
      <p:grpSp>
        <p:nvGrpSpPr>
          <p:cNvPr id="20" name="Group 20"/>
          <p:cNvGrpSpPr/>
          <p:nvPr/>
        </p:nvGrpSpPr>
        <p:grpSpPr>
          <a:xfrm>
            <a:off x="609600" y="2247900"/>
            <a:ext cx="3505200" cy="2990850"/>
            <a:chOff x="609600" y="2247900"/>
            <a:chExt cx="3505200" cy="2990850"/>
          </a:xfrm>
        </p:grpSpPr>
        <p:sp>
          <p:nvSpPr>
            <p:cNvPr id="9" name="Rectangle 9"/>
            <p:cNvSpPr/>
            <p:nvPr/>
          </p:nvSpPr>
          <p:spPr>
            <a:xfrm>
              <a:off x="609600" y="2247900"/>
              <a:ext cx="3505200" cy="2990850"/>
            </a:xfrm>
            <a:prstGeom prst="roundRect">
              <a:avLst>
                <a:gd name="adj" fmla="val 4459"/>
              </a:avLst>
            </a:prstGeom>
            <a:solidFill>
              <a:schemeClr val="accent5"/>
            </a:solidFill>
            <a:ln w="14288">
              <a:solidFill>
                <a:srgbClr val="26455F"/>
              </a:solidFill>
            </a:ln>
          </p:spPr>
        </p:sp>
        <p:sp>
          <p:nvSpPr>
            <p:cNvPr id="10" name="Rectangle 10"/>
            <p:cNvSpPr/>
            <p:nvPr/>
          </p:nvSpPr>
          <p:spPr>
            <a:xfrm>
              <a:off x="609600" y="2247900"/>
              <a:ext cx="3505200" cy="57150"/>
            </a:xfrm>
            <a:prstGeom prst="roundRect">
              <a:avLst>
                <a:gd name="adj" fmla="val 50000"/>
              </a:avLst>
            </a:prstGeom>
            <a:solidFill>
              <a:srgbClr val="34D3C0"/>
            </a:solidFill>
            <a:ln>
              <a:noFill/>
            </a:ln>
          </p:spPr>
        </p:sp>
        <p:sp>
          <p:nvSpPr>
            <p:cNvPr id="11" name="Ellipse 11"/>
            <p:cNvSpPr/>
            <p:nvPr/>
          </p:nvSpPr>
          <p:spPr>
            <a:xfrm>
              <a:off x="857250" y="2647950"/>
              <a:ext cx="495300" cy="495300"/>
            </a:xfrm>
            <a:prstGeom prst="ellipse">
              <a:avLst/>
            </a:prstGeom>
            <a:noFill/>
            <a:ln w="23812">
              <a:solidFill>
                <a:srgbClr val="34D3C0"/>
              </a:solidFill>
            </a:ln>
          </p:spPr>
        </p:sp>
        <p:sp>
          <p:nvSpPr>
            <p:cNvPr id="12" name="TextBox 12"/>
            <p:cNvSpPr txBox="1"/>
            <p:nvPr/>
          </p:nvSpPr>
          <p:spPr>
            <a:xfrm>
              <a:off x="1012602" y="2764155"/>
              <a:ext cx="184596"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1</a:t>
              </a:r>
            </a:p>
          </p:txBody>
        </p:sp>
        <p:sp>
          <p:nvSpPr>
            <p:cNvPr id="13" name="TextBox 13"/>
            <p:cNvSpPr txBox="1"/>
            <p:nvPr/>
          </p:nvSpPr>
          <p:spPr>
            <a:xfrm>
              <a:off x="869442" y="3378518"/>
              <a:ext cx="227163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PatchRot, built for ViTs</a:t>
              </a:r>
            </a:p>
          </p:txBody>
        </p:sp>
        <p:sp>
          <p:nvSpPr>
            <p:cNvPr id="14" name="TextBox 14"/>
            <p:cNvSpPr txBox="1"/>
            <p:nvPr/>
          </p:nvSpPr>
          <p:spPr>
            <a:xfrm>
              <a:off x="870966" y="3772852"/>
              <a:ext cx="25667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self-supervised task that predicts</a:t>
              </a:r>
            </a:p>
          </p:txBody>
        </p:sp>
        <p:sp>
          <p:nvSpPr>
            <p:cNvPr id="15" name="TextBox 15"/>
            <p:cNvSpPr txBox="1"/>
            <p:nvPr/>
          </p:nvSpPr>
          <p:spPr>
            <a:xfrm>
              <a:off x="870966" y="3982402"/>
              <a:ext cx="271754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rotation at two levels: the class token</a:t>
              </a:r>
            </a:p>
          </p:txBody>
        </p:sp>
        <p:sp>
          <p:nvSpPr>
            <p:cNvPr id="16" name="TextBox 16"/>
            <p:cNvSpPr txBox="1"/>
            <p:nvPr/>
          </p:nvSpPr>
          <p:spPr>
            <a:xfrm>
              <a:off x="870966" y="4191952"/>
              <a:ext cx="266099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predicts the whole-image rotation for</a:t>
              </a:r>
            </a:p>
          </p:txBody>
        </p:sp>
        <p:sp>
          <p:nvSpPr>
            <p:cNvPr id="17" name="TextBox 17"/>
            <p:cNvSpPr txBox="1"/>
            <p:nvPr/>
          </p:nvSpPr>
          <p:spPr>
            <a:xfrm>
              <a:off x="870966" y="4401502"/>
              <a:ext cx="282355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global context, and new per-patch heads</a:t>
              </a:r>
            </a:p>
          </p:txBody>
        </p:sp>
        <p:sp>
          <p:nvSpPr>
            <p:cNvPr id="18" name="TextBox 18"/>
            <p:cNvSpPr txBox="1"/>
            <p:nvPr/>
          </p:nvSpPr>
          <p:spPr>
            <a:xfrm>
              <a:off x="870966" y="4611052"/>
              <a:ext cx="27246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predict each patch's rotation for local</a:t>
              </a:r>
            </a:p>
          </p:txBody>
        </p:sp>
        <p:sp>
          <p:nvSpPr>
            <p:cNvPr id="19" name="TextBox 19"/>
            <p:cNvSpPr txBox="1"/>
            <p:nvPr/>
          </p:nvSpPr>
          <p:spPr>
            <a:xfrm>
              <a:off x="870966" y="4820602"/>
              <a:ext cx="48419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detail.</a:t>
              </a:r>
            </a:p>
          </p:txBody>
        </p:sp>
      </p:grpSp>
      <p:grpSp>
        <p:nvGrpSpPr>
          <p:cNvPr id="31" name="Group 31"/>
          <p:cNvGrpSpPr/>
          <p:nvPr/>
        </p:nvGrpSpPr>
        <p:grpSpPr>
          <a:xfrm>
            <a:off x="4343400" y="2247900"/>
            <a:ext cx="3505200" cy="2990850"/>
            <a:chOff x="4343400" y="2247900"/>
            <a:chExt cx="3505200" cy="2990850"/>
          </a:xfrm>
        </p:grpSpPr>
        <p:sp>
          <p:nvSpPr>
            <p:cNvPr id="21" name="Rectangle 21"/>
            <p:cNvSpPr/>
            <p:nvPr/>
          </p:nvSpPr>
          <p:spPr>
            <a:xfrm>
              <a:off x="4343400" y="2247900"/>
              <a:ext cx="3505200" cy="2990850"/>
            </a:xfrm>
            <a:prstGeom prst="roundRect">
              <a:avLst>
                <a:gd name="adj" fmla="val 4459"/>
              </a:avLst>
            </a:prstGeom>
            <a:solidFill>
              <a:schemeClr val="accent5"/>
            </a:solidFill>
            <a:ln w="14288">
              <a:solidFill>
                <a:srgbClr val="26455F"/>
              </a:solidFill>
            </a:ln>
          </p:spPr>
        </p:sp>
        <p:sp>
          <p:nvSpPr>
            <p:cNvPr id="22" name="Rectangle 22"/>
            <p:cNvSpPr/>
            <p:nvPr/>
          </p:nvSpPr>
          <p:spPr>
            <a:xfrm>
              <a:off x="4343400" y="2247900"/>
              <a:ext cx="3505200" cy="57150"/>
            </a:xfrm>
            <a:prstGeom prst="roundRect">
              <a:avLst>
                <a:gd name="adj" fmla="val 50000"/>
              </a:avLst>
            </a:prstGeom>
            <a:solidFill>
              <a:srgbClr val="F2C14E"/>
            </a:solidFill>
            <a:ln>
              <a:noFill/>
            </a:ln>
          </p:spPr>
        </p:sp>
        <p:sp>
          <p:nvSpPr>
            <p:cNvPr id="23" name="Ellipse 23"/>
            <p:cNvSpPr/>
            <p:nvPr/>
          </p:nvSpPr>
          <p:spPr>
            <a:xfrm>
              <a:off x="4591050" y="2647950"/>
              <a:ext cx="495300" cy="495300"/>
            </a:xfrm>
            <a:prstGeom prst="ellipse">
              <a:avLst/>
            </a:prstGeom>
            <a:noFill/>
            <a:ln w="23812">
              <a:solidFill>
                <a:srgbClr val="F2C14E"/>
              </a:solidFill>
            </a:ln>
          </p:spPr>
        </p:sp>
        <p:sp>
          <p:nvSpPr>
            <p:cNvPr id="24" name="TextBox 24"/>
            <p:cNvSpPr txBox="1"/>
            <p:nvPr/>
          </p:nvSpPr>
          <p:spPr>
            <a:xfrm>
              <a:off x="4746402" y="2764155"/>
              <a:ext cx="184596" cy="410718"/>
            </a:xfrm>
            <a:prstGeom prst="rect">
              <a:avLst/>
            </a:prstGeom>
            <a:noFill/>
            <a:ln>
              <a:noFill/>
            </a:ln>
          </p:spPr>
          <p:txBody>
            <a:bodyPr wrap="none" lIns="0" tIns="0" rIns="0" bIns="0" anchor="t" anchorCtr="0">
              <a:spAutoFit/>
            </a:bodyPr>
            <a:lstStyle/>
            <a:p>
              <a:pPr algn="ctr"/>
              <a:r>
                <a:rPr lang="en-US" sz="2100" b="1" dirty="0">
                  <a:solidFill>
                    <a:srgbClr val="F2C14E"/>
                  </a:solidFill>
                  <a:latin typeface="+mn-lt"/>
                  <a:ea typeface="+mn-ea"/>
                  <a:cs typeface="+mn-cs"/>
                </a:rPr>
                <a:t>2</a:t>
              </a:r>
            </a:p>
          </p:txBody>
        </p:sp>
        <p:sp>
          <p:nvSpPr>
            <p:cNvPr id="25" name="TextBox 25"/>
            <p:cNvSpPr txBox="1"/>
            <p:nvPr/>
          </p:nvSpPr>
          <p:spPr>
            <a:xfrm>
              <a:off x="4603242" y="3378518"/>
              <a:ext cx="201446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buffer gap between</a:t>
              </a:r>
            </a:p>
          </p:txBody>
        </p:sp>
        <p:sp>
          <p:nvSpPr>
            <p:cNvPr id="26" name="TextBox 26"/>
            <p:cNvSpPr txBox="1"/>
            <p:nvPr/>
          </p:nvSpPr>
          <p:spPr>
            <a:xfrm>
              <a:off x="4603242" y="3626168"/>
              <a:ext cx="74838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patches</a:t>
              </a:r>
            </a:p>
          </p:txBody>
        </p:sp>
        <p:sp>
          <p:nvSpPr>
            <p:cNvPr id="27" name="TextBox 27"/>
            <p:cNvSpPr txBox="1"/>
            <p:nvPr/>
          </p:nvSpPr>
          <p:spPr>
            <a:xfrm>
              <a:off x="4604766" y="4020502"/>
              <a:ext cx="267276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gap inserted between patches during</a:t>
              </a:r>
            </a:p>
          </p:txBody>
        </p:sp>
        <p:sp>
          <p:nvSpPr>
            <p:cNvPr id="28" name="TextBox 28"/>
            <p:cNvSpPr txBox="1"/>
            <p:nvPr/>
          </p:nvSpPr>
          <p:spPr>
            <a:xfrm>
              <a:off x="4604766" y="4230052"/>
              <a:ext cx="27882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training so the network cannot cheat by</a:t>
              </a:r>
            </a:p>
          </p:txBody>
        </p:sp>
        <p:sp>
          <p:nvSpPr>
            <p:cNvPr id="29" name="TextBox 29"/>
            <p:cNvSpPr txBox="1"/>
            <p:nvPr/>
          </p:nvSpPr>
          <p:spPr>
            <a:xfrm>
              <a:off x="4604766" y="4439602"/>
              <a:ext cx="28306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matching continuous edges, forcing it to</a:t>
              </a:r>
            </a:p>
          </p:txBody>
        </p:sp>
        <p:sp>
          <p:nvSpPr>
            <p:cNvPr id="30" name="TextBox 30"/>
            <p:cNvSpPr txBox="1"/>
            <p:nvPr/>
          </p:nvSpPr>
          <p:spPr>
            <a:xfrm>
              <a:off x="4604766" y="4649152"/>
              <a:ext cx="157966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learn genuine content.</a:t>
              </a:r>
            </a:p>
          </p:txBody>
        </p:sp>
      </p:grpSp>
      <p:grpSp>
        <p:nvGrpSpPr>
          <p:cNvPr id="41" name="Group 41"/>
          <p:cNvGrpSpPr/>
          <p:nvPr/>
        </p:nvGrpSpPr>
        <p:grpSpPr>
          <a:xfrm>
            <a:off x="8077200" y="2247900"/>
            <a:ext cx="3505200" cy="2990850"/>
            <a:chOff x="8077200" y="2247900"/>
            <a:chExt cx="3505200" cy="2990850"/>
          </a:xfrm>
        </p:grpSpPr>
        <p:sp>
          <p:nvSpPr>
            <p:cNvPr id="32" name="Rectangle 32"/>
            <p:cNvSpPr/>
            <p:nvPr/>
          </p:nvSpPr>
          <p:spPr>
            <a:xfrm>
              <a:off x="8077200" y="2247900"/>
              <a:ext cx="3505200" cy="2990850"/>
            </a:xfrm>
            <a:prstGeom prst="roundRect">
              <a:avLst>
                <a:gd name="adj" fmla="val 4459"/>
              </a:avLst>
            </a:prstGeom>
            <a:solidFill>
              <a:schemeClr val="accent5"/>
            </a:solidFill>
            <a:ln w="14288">
              <a:solidFill>
                <a:srgbClr val="26455F"/>
              </a:solidFill>
            </a:ln>
          </p:spPr>
        </p:sp>
        <p:sp>
          <p:nvSpPr>
            <p:cNvPr id="33" name="Rectangle 33"/>
            <p:cNvSpPr/>
            <p:nvPr/>
          </p:nvSpPr>
          <p:spPr>
            <a:xfrm>
              <a:off x="8077200" y="2247900"/>
              <a:ext cx="3505200" cy="57150"/>
            </a:xfrm>
            <a:prstGeom prst="roundRect">
              <a:avLst>
                <a:gd name="adj" fmla="val 50000"/>
              </a:avLst>
            </a:prstGeom>
            <a:solidFill>
              <a:srgbClr val="48C78E"/>
            </a:solidFill>
            <a:ln>
              <a:noFill/>
            </a:ln>
          </p:spPr>
        </p:sp>
        <p:sp>
          <p:nvSpPr>
            <p:cNvPr id="34" name="Ellipse 34"/>
            <p:cNvSpPr/>
            <p:nvPr/>
          </p:nvSpPr>
          <p:spPr>
            <a:xfrm>
              <a:off x="8324850" y="2647950"/>
              <a:ext cx="495300" cy="495300"/>
            </a:xfrm>
            <a:prstGeom prst="ellipse">
              <a:avLst/>
            </a:prstGeom>
            <a:noFill/>
            <a:ln w="23812">
              <a:solidFill>
                <a:srgbClr val="48C78E"/>
              </a:solidFill>
            </a:ln>
          </p:spPr>
        </p:sp>
        <p:sp>
          <p:nvSpPr>
            <p:cNvPr id="35" name="TextBox 35"/>
            <p:cNvSpPr txBox="1"/>
            <p:nvPr/>
          </p:nvSpPr>
          <p:spPr>
            <a:xfrm>
              <a:off x="8480202" y="2764155"/>
              <a:ext cx="184596"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3</a:t>
              </a:r>
            </a:p>
          </p:txBody>
        </p:sp>
        <p:sp>
          <p:nvSpPr>
            <p:cNvPr id="36" name="TextBox 36"/>
            <p:cNvSpPr txBox="1"/>
            <p:nvPr/>
          </p:nvSpPr>
          <p:spPr>
            <a:xfrm>
              <a:off x="8337042" y="3378518"/>
              <a:ext cx="145068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Extensive gains</a:t>
              </a:r>
            </a:p>
          </p:txBody>
        </p:sp>
        <p:sp>
          <p:nvSpPr>
            <p:cNvPr id="37" name="TextBox 37"/>
            <p:cNvSpPr txBox="1"/>
            <p:nvPr/>
          </p:nvSpPr>
          <p:spPr>
            <a:xfrm>
              <a:off x="8338566" y="3772852"/>
              <a:ext cx="289673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PatchRot beats supervised-from-scratch</a:t>
              </a:r>
            </a:p>
          </p:txBody>
        </p:sp>
        <p:sp>
          <p:nvSpPr>
            <p:cNvPr id="38" name="TextBox 38"/>
            <p:cNvSpPr txBox="1"/>
            <p:nvPr/>
          </p:nvSpPr>
          <p:spPr>
            <a:xfrm>
              <a:off x="8338566" y="3982402"/>
              <a:ext cx="28754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RotNet across multiple datasets, and</a:t>
              </a:r>
            </a:p>
          </p:txBody>
        </p:sp>
        <p:sp>
          <p:nvSpPr>
            <p:cNvPr id="39" name="TextBox 39"/>
            <p:cNvSpPr txBox="1"/>
            <p:nvPr/>
          </p:nvSpPr>
          <p:spPr>
            <a:xfrm>
              <a:off x="8338566" y="4191952"/>
              <a:ext cx="26044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its features transfer well and help in</a:t>
              </a:r>
            </a:p>
          </p:txBody>
        </p:sp>
        <p:sp>
          <p:nvSpPr>
            <p:cNvPr id="40" name="TextBox 40"/>
            <p:cNvSpPr txBox="1"/>
            <p:nvPr/>
          </p:nvSpPr>
          <p:spPr>
            <a:xfrm>
              <a:off x="8338566" y="4401502"/>
              <a:ext cx="184116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semi-supervised settings.</a:t>
              </a:r>
            </a:p>
          </p:txBody>
        </p:sp>
      </p:grpSp>
      <p:sp>
        <p:nvSpPr>
          <p:cNvPr id="42" name="TextBox 42"/>
          <p:cNvSpPr txBox="1"/>
          <p:nvPr/>
        </p:nvSpPr>
        <p:spPr>
          <a:xfrm>
            <a:off x="603885" y="5517356"/>
            <a:ext cx="6507671" cy="220028"/>
          </a:xfrm>
          <a:prstGeom prst="rect">
            <a:avLst/>
          </a:prstGeom>
          <a:noFill/>
          <a:ln>
            <a:noFill/>
          </a:ln>
        </p:spPr>
        <p:txBody>
          <a:bodyPr wrap="none" lIns="0" tIns="0" rIns="0" bIns="0" anchor="t" anchorCtr="0">
            <a:spAutoFit/>
          </a:bodyPr>
          <a:lstStyle/>
          <a:p>
            <a:pPr algn="l"/>
            <a:r>
              <a:rPr lang="en-US" sz="1120" b="1" dirty="0">
                <a:solidFill>
                  <a:srgbClr val="34D3C0"/>
                </a:solidFill>
                <a:latin typeface="+mn-lt"/>
                <a:ea typeface="+mn-ea"/>
                <a:cs typeface="+mn-cs"/>
              </a:rPr>
              <a:t>Global and local rotation together — a self-supervised task made for transformers.</a:t>
            </a:r>
          </a:p>
        </p:txBody>
      </p:sp>
      <p:sp>
        <p:nvSpPr>
          <p:cNvPr id="43" name="cue_s04_c1_makes_three_main_contributions" title="cue_s04_c1_makes_three_main_contributions" descr="cue_s04_c1_makes_three_main_contributions The paper makes three main contributions."/>
          <p:cNvSpPr/>
          <p:nvPr/>
        </p:nvSpPr>
        <p:spPr>
          <a:xfrm>
            <a:off x="609600" y="1504645"/>
            <a:ext cx="10972800" cy="5143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4_c2_first_introduces_patchrot_self_super" title="cue_s04_c2_first_introduces_patchrot_self_super" descr="cue_s04_c2_first_introduces_patchrot_self_super First, it introduces PatchRot, a self-supervised technique crafted for vision transformers that predicts rotation angles at two levels: the class token predicts the whole-image rotation for global context, and new per-patch heads predict each patch's rotation"/>
          <p:cNvSpPr/>
          <p:nvPr/>
        </p:nvSpPr>
        <p:spPr>
          <a:xfrm>
            <a:off x="609600" y="2248052"/>
            <a:ext cx="3505199" cy="29907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4_c3_second_introduces_buffer_gap_between" title="cue_s04_c3_second_introduces_buffer_gap_between" descr="cue_s04_c3_second_introduces_buffer_gap_between Second, it introduces a buffer gap between patches during training so the network cannot cheat by matching continuous edges, forcing it to learn genuine content."/>
          <p:cNvSpPr/>
          <p:nvPr/>
        </p:nvSpPr>
        <p:spPr>
          <a:xfrm>
            <a:off x="4344009" y="2248052"/>
            <a:ext cx="3505199" cy="29907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4_c4_third_demonstrates_through_extensive" title="cue_s04_c4_third_demonstrates_through_extensive" descr="cue_s04_c4_third_demonstrates_through_extensive Third, it demonstrates through extensive experiments that PatchRot beats both supervised training from scratch and the RotNet baseline across multiple datasets, and that its features transfer well and help in semi-supervised settings."/>
          <p:cNvSpPr/>
          <p:nvPr/>
        </p:nvSpPr>
        <p:spPr>
          <a:xfrm>
            <a:off x="8077200" y="2248052"/>
            <a:ext cx="3505199" cy="29907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717407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Rotate, predict at two levels, then fine-tune</a:t>
            </a:r>
          </a:p>
        </p:txBody>
      </p:sp>
      <p:grpSp>
        <p:nvGrpSpPr>
          <p:cNvPr id="29" name="Group 29"/>
          <p:cNvGrpSpPr/>
          <p:nvPr/>
        </p:nvGrpSpPr>
        <p:grpSpPr>
          <a:xfrm>
            <a:off x="609600" y="1504950"/>
            <a:ext cx="5410200" cy="1958816"/>
            <a:chOff x="609600" y="1504950"/>
            <a:chExt cx="5410200" cy="1958816"/>
          </a:xfrm>
        </p:grpSpPr>
        <p:sp>
          <p:nvSpPr>
            <p:cNvPr id="5" name="Rectangle 5"/>
            <p:cNvSpPr/>
            <p:nvPr/>
          </p:nvSpPr>
          <p:spPr>
            <a:xfrm>
              <a:off x="609600" y="1504950"/>
              <a:ext cx="5410200" cy="1905000"/>
            </a:xfrm>
            <a:prstGeom prst="roundRect">
              <a:avLst>
                <a:gd name="adj" fmla="val 7000"/>
              </a:avLst>
            </a:prstGeom>
            <a:solidFill>
              <a:schemeClr val="accent5"/>
            </a:solidFill>
            <a:ln w="14288">
              <a:solidFill>
                <a:srgbClr val="26455F"/>
              </a:solidFill>
            </a:ln>
          </p:spPr>
        </p:sp>
        <p:sp>
          <p:nvSpPr>
            <p:cNvPr id="6" name="Rectangle 6"/>
            <p:cNvSpPr/>
            <p:nvPr/>
          </p:nvSpPr>
          <p:spPr>
            <a:xfrm>
              <a:off x="609600" y="1504950"/>
              <a:ext cx="57150" cy="1905000"/>
            </a:xfrm>
            <a:prstGeom prst="roundRect">
              <a:avLst>
                <a:gd name="adj" fmla="val 50000"/>
              </a:avLst>
            </a:prstGeom>
            <a:solidFill>
              <a:schemeClr val="accent2"/>
            </a:solidFill>
            <a:ln>
              <a:noFill/>
            </a:ln>
          </p:spPr>
        </p:sp>
        <p:sp>
          <p:nvSpPr>
            <p:cNvPr id="7" name="TextBox 7"/>
            <p:cNvSpPr txBox="1"/>
            <p:nvPr/>
          </p:nvSpPr>
          <p:spPr>
            <a:xfrm>
              <a:off x="870014" y="1733312"/>
              <a:ext cx="1334578"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Step 1 · rotate</a:t>
              </a:r>
            </a:p>
          </p:txBody>
        </p:sp>
        <p:sp>
          <p:nvSpPr>
            <p:cNvPr id="8" name="TextBox 8"/>
            <p:cNvSpPr txBox="1"/>
            <p:nvPr/>
          </p:nvSpPr>
          <p:spPr>
            <a:xfrm>
              <a:off x="870966" y="2039302"/>
              <a:ext cx="400167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Take an input image and either rotate the whole image, or</a:t>
              </a:r>
            </a:p>
          </p:txBody>
        </p:sp>
        <p:sp>
          <p:nvSpPr>
            <p:cNvPr id="9" name="TextBox 9"/>
            <p:cNvSpPr txBox="1"/>
            <p:nvPr/>
          </p:nvSpPr>
          <p:spPr>
            <a:xfrm>
              <a:off x="870966" y="2239328"/>
              <a:ext cx="39614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rotate each patch independently, by a random multiple of</a:t>
              </a:r>
            </a:p>
          </p:txBody>
        </p:sp>
        <p:sp>
          <p:nvSpPr>
            <p:cNvPr id="10" name="TextBox 10"/>
            <p:cNvSpPr txBox="1"/>
            <p:nvPr/>
          </p:nvSpPr>
          <p:spPr>
            <a:xfrm>
              <a:off x="870966" y="2439352"/>
              <a:ext cx="11061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ninety degrees.</a:t>
              </a:r>
            </a:p>
          </p:txBody>
        </p:sp>
        <p:grpSp>
          <p:nvGrpSpPr>
            <p:cNvPr id="13" name="Group 13"/>
            <p:cNvGrpSpPr/>
            <p:nvPr/>
          </p:nvGrpSpPr>
          <p:grpSpPr>
            <a:xfrm>
              <a:off x="990600" y="2800350"/>
              <a:ext cx="381000" cy="438150"/>
              <a:chOff x="990600" y="2800350"/>
              <a:chExt cx="381000" cy="438150"/>
            </a:xfrm>
          </p:grpSpPr>
          <p:sp>
            <p:nvSpPr>
              <p:cNvPr id="11" name="Rectangle 11"/>
              <p:cNvSpPr/>
              <p:nvPr/>
            </p:nvSpPr>
            <p:spPr>
              <a:xfrm>
                <a:off x="990600" y="2857500"/>
                <a:ext cx="381000" cy="381000"/>
              </a:xfrm>
              <a:prstGeom prst="roundRect">
                <a:avLst>
                  <a:gd name="adj" fmla="val 7500"/>
                </a:avLst>
              </a:prstGeom>
              <a:noFill/>
              <a:ln w="19050">
                <a:solidFill>
                  <a:schemeClr val="accent2"/>
                </a:solidFill>
              </a:ln>
            </p:spPr>
          </p:sp>
          <p:sp>
            <p:nvSpPr>
              <p:cNvPr id="12" name="Polygon 12"/>
              <p:cNvSpPr/>
              <p:nvPr/>
            </p:nvSpPr>
            <p:spPr>
              <a:xfrm>
                <a:off x="1123950" y="2800350"/>
                <a:ext cx="114300" cy="95250"/>
              </a:xfrm>
              <a:custGeom>
                <a:avLst/>
                <a:gdLst/>
                <a:ahLst/>
                <a:cxnLst/>
                <a:rect l="l" t="t" r="r" b="b"/>
                <a:pathLst>
                  <a:path w="114300" h="95250">
                    <a:moveTo>
                      <a:pt x="0" y="95250"/>
                    </a:moveTo>
                    <a:lnTo>
                      <a:pt x="114300" y="95250"/>
                    </a:lnTo>
                    <a:lnTo>
                      <a:pt x="57150" y="0"/>
                    </a:lnTo>
                    <a:close/>
                  </a:path>
                </a:pathLst>
              </a:custGeom>
              <a:solidFill>
                <a:schemeClr val="accent2"/>
              </a:solidFill>
              <a:ln>
                <a:noFill/>
              </a:ln>
            </p:spPr>
          </p:sp>
        </p:grpSp>
        <p:sp>
          <p:nvSpPr>
            <p:cNvPr id="14" name="TextBox 14"/>
            <p:cNvSpPr txBox="1"/>
            <p:nvPr/>
          </p:nvSpPr>
          <p:spPr>
            <a:xfrm>
              <a:off x="1144463" y="3301841"/>
              <a:ext cx="7327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0</a:t>
              </a:r>
            </a:p>
          </p:txBody>
        </p:sp>
        <p:grpSp>
          <p:nvGrpSpPr>
            <p:cNvPr id="17" name="Group 17"/>
            <p:cNvGrpSpPr/>
            <p:nvPr/>
          </p:nvGrpSpPr>
          <p:grpSpPr>
            <a:xfrm>
              <a:off x="2038350" y="2857500"/>
              <a:ext cx="438150" cy="381000"/>
              <a:chOff x="2038350" y="2857500"/>
              <a:chExt cx="438150" cy="381000"/>
            </a:xfrm>
          </p:grpSpPr>
          <p:sp>
            <p:nvSpPr>
              <p:cNvPr id="15" name="Rectangle 15"/>
              <p:cNvSpPr/>
              <p:nvPr/>
            </p:nvSpPr>
            <p:spPr>
              <a:xfrm rot="5400000">
                <a:off x="2038350" y="2857500"/>
                <a:ext cx="381000" cy="381000"/>
              </a:xfrm>
              <a:prstGeom prst="roundRect">
                <a:avLst>
                  <a:gd name="adj" fmla="val 7500"/>
                </a:avLst>
              </a:prstGeom>
              <a:noFill/>
              <a:ln w="19050">
                <a:solidFill>
                  <a:srgbClr val="34D3C0"/>
                </a:solidFill>
              </a:ln>
            </p:spPr>
          </p:sp>
          <p:sp>
            <p:nvSpPr>
              <p:cNvPr id="16" name="Polygon 16"/>
              <p:cNvSpPr/>
              <p:nvPr/>
            </p:nvSpPr>
            <p:spPr>
              <a:xfrm>
                <a:off x="2381250" y="2990850"/>
                <a:ext cx="95250" cy="114300"/>
              </a:xfrm>
              <a:custGeom>
                <a:avLst/>
                <a:gdLst/>
                <a:ahLst/>
                <a:cxnLst/>
                <a:rect l="l" t="t" r="r" b="b"/>
                <a:pathLst>
                  <a:path w="95250" h="114300">
                    <a:moveTo>
                      <a:pt x="0" y="0"/>
                    </a:moveTo>
                    <a:lnTo>
                      <a:pt x="0" y="114300"/>
                    </a:lnTo>
                    <a:lnTo>
                      <a:pt x="95250" y="57150"/>
                    </a:lnTo>
                    <a:close/>
                  </a:path>
                </a:pathLst>
              </a:custGeom>
              <a:solidFill>
                <a:srgbClr val="34D3C0"/>
              </a:solidFill>
              <a:ln>
                <a:noFill/>
              </a:ln>
            </p:spPr>
          </p:sp>
        </p:grpSp>
        <p:sp>
          <p:nvSpPr>
            <p:cNvPr id="18" name="TextBox 18"/>
            <p:cNvSpPr txBox="1"/>
            <p:nvPr/>
          </p:nvSpPr>
          <p:spPr>
            <a:xfrm>
              <a:off x="2160338" y="3301841"/>
              <a:ext cx="137024"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90</a:t>
              </a:r>
            </a:p>
          </p:txBody>
        </p:sp>
        <p:grpSp>
          <p:nvGrpSpPr>
            <p:cNvPr id="21" name="Group 21"/>
            <p:cNvGrpSpPr/>
            <p:nvPr/>
          </p:nvGrpSpPr>
          <p:grpSpPr>
            <a:xfrm>
              <a:off x="3086100" y="2857500"/>
              <a:ext cx="381000" cy="438150"/>
              <a:chOff x="3086100" y="2857500"/>
              <a:chExt cx="381000" cy="438150"/>
            </a:xfrm>
          </p:grpSpPr>
          <p:sp>
            <p:nvSpPr>
              <p:cNvPr id="19" name="Rectangle 19"/>
              <p:cNvSpPr/>
              <p:nvPr/>
            </p:nvSpPr>
            <p:spPr>
              <a:xfrm rot="10800000">
                <a:off x="3086100" y="2857500"/>
                <a:ext cx="381000" cy="381000"/>
              </a:xfrm>
              <a:prstGeom prst="roundRect">
                <a:avLst>
                  <a:gd name="adj" fmla="val 7500"/>
                </a:avLst>
              </a:prstGeom>
              <a:noFill/>
              <a:ln w="19050">
                <a:solidFill>
                  <a:srgbClr val="F2C14E"/>
                </a:solidFill>
              </a:ln>
            </p:spPr>
          </p:sp>
          <p:sp>
            <p:nvSpPr>
              <p:cNvPr id="20" name="Polygon 20"/>
              <p:cNvSpPr/>
              <p:nvPr/>
            </p:nvSpPr>
            <p:spPr>
              <a:xfrm>
                <a:off x="3219450" y="3200400"/>
                <a:ext cx="114300" cy="95250"/>
              </a:xfrm>
              <a:custGeom>
                <a:avLst/>
                <a:gdLst/>
                <a:ahLst/>
                <a:cxnLst/>
                <a:rect l="l" t="t" r="r" b="b"/>
                <a:pathLst>
                  <a:path w="114300" h="95250">
                    <a:moveTo>
                      <a:pt x="114300" y="0"/>
                    </a:moveTo>
                    <a:lnTo>
                      <a:pt x="0" y="0"/>
                    </a:lnTo>
                    <a:lnTo>
                      <a:pt x="57150" y="95250"/>
                    </a:lnTo>
                    <a:close/>
                  </a:path>
                </a:pathLst>
              </a:custGeom>
              <a:solidFill>
                <a:srgbClr val="F2C14E"/>
              </a:solidFill>
              <a:ln>
                <a:noFill/>
              </a:ln>
            </p:spPr>
          </p:sp>
        </p:grpSp>
        <p:sp>
          <p:nvSpPr>
            <p:cNvPr id="22" name="TextBox 22"/>
            <p:cNvSpPr txBox="1"/>
            <p:nvPr/>
          </p:nvSpPr>
          <p:spPr>
            <a:xfrm>
              <a:off x="3176214" y="3301841"/>
              <a:ext cx="200773"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180</a:t>
              </a:r>
            </a:p>
          </p:txBody>
        </p:sp>
        <p:grpSp>
          <p:nvGrpSpPr>
            <p:cNvPr id="25" name="Group 25"/>
            <p:cNvGrpSpPr/>
            <p:nvPr/>
          </p:nvGrpSpPr>
          <p:grpSpPr>
            <a:xfrm>
              <a:off x="4076700" y="2857500"/>
              <a:ext cx="438150" cy="381000"/>
              <a:chOff x="4076700" y="2857500"/>
              <a:chExt cx="438150" cy="381000"/>
            </a:xfrm>
          </p:grpSpPr>
          <p:sp>
            <p:nvSpPr>
              <p:cNvPr id="23" name="Rectangle 23"/>
              <p:cNvSpPr/>
              <p:nvPr/>
            </p:nvSpPr>
            <p:spPr>
              <a:xfrm rot="-5400000">
                <a:off x="4133850" y="2857500"/>
                <a:ext cx="381000" cy="381000"/>
              </a:xfrm>
              <a:prstGeom prst="roundRect">
                <a:avLst>
                  <a:gd name="adj" fmla="val 7500"/>
                </a:avLst>
              </a:prstGeom>
              <a:noFill/>
              <a:ln w="19050">
                <a:solidFill>
                  <a:srgbClr val="48C78E"/>
                </a:solidFill>
              </a:ln>
            </p:spPr>
          </p:sp>
          <p:sp>
            <p:nvSpPr>
              <p:cNvPr id="24" name="Polygon 24"/>
              <p:cNvSpPr/>
              <p:nvPr/>
            </p:nvSpPr>
            <p:spPr>
              <a:xfrm>
                <a:off x="4076700" y="2990850"/>
                <a:ext cx="95250" cy="114300"/>
              </a:xfrm>
              <a:custGeom>
                <a:avLst/>
                <a:gdLst/>
                <a:ahLst/>
                <a:cxnLst/>
                <a:rect l="l" t="t" r="r" b="b"/>
                <a:pathLst>
                  <a:path w="95250" h="114300">
                    <a:moveTo>
                      <a:pt x="95250" y="114300"/>
                    </a:moveTo>
                    <a:lnTo>
                      <a:pt x="95250" y="0"/>
                    </a:lnTo>
                    <a:lnTo>
                      <a:pt x="0" y="57150"/>
                    </a:lnTo>
                    <a:close/>
                  </a:path>
                </a:pathLst>
              </a:custGeom>
              <a:solidFill>
                <a:srgbClr val="48C78E"/>
              </a:solidFill>
              <a:ln>
                <a:noFill/>
              </a:ln>
            </p:spPr>
          </p:sp>
        </p:grpSp>
        <p:sp>
          <p:nvSpPr>
            <p:cNvPr id="26" name="TextBox 26"/>
            <p:cNvSpPr txBox="1"/>
            <p:nvPr/>
          </p:nvSpPr>
          <p:spPr>
            <a:xfrm>
              <a:off x="4223964" y="3301841"/>
              <a:ext cx="200773" cy="161925"/>
            </a:xfrm>
            <a:prstGeom prst="rect">
              <a:avLst/>
            </a:prstGeom>
            <a:noFill/>
            <a:ln>
              <a:noFill/>
            </a:ln>
          </p:spPr>
          <p:txBody>
            <a:bodyPr wrap="none" lIns="0" tIns="0" rIns="0" bIns="0" anchor="t" anchorCtr="0">
              <a:spAutoFit/>
            </a:bodyPr>
            <a:lstStyle/>
            <a:p>
              <a:pPr algn="ctr"/>
              <a:r>
                <a:rPr lang="en-US" sz="820" b="1" dirty="0">
                  <a:solidFill>
                    <a:schemeClr val="dk2"/>
                  </a:solidFill>
                  <a:latin typeface="+mn-lt"/>
                  <a:ea typeface="+mn-ea"/>
                  <a:cs typeface="+mn-cs"/>
                </a:rPr>
                <a:t>270</a:t>
              </a:r>
            </a:p>
          </p:txBody>
        </p:sp>
        <p:sp>
          <p:nvSpPr>
            <p:cNvPr id="27" name="TextBox 27"/>
            <p:cNvSpPr txBox="1"/>
            <p:nvPr/>
          </p:nvSpPr>
          <p:spPr>
            <a:xfrm>
              <a:off x="4862099" y="2991802"/>
              <a:ext cx="448503"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4-way</a:t>
              </a:r>
            </a:p>
          </p:txBody>
        </p:sp>
        <p:sp>
          <p:nvSpPr>
            <p:cNvPr id="28" name="TextBox 28"/>
            <p:cNvSpPr txBox="1"/>
            <p:nvPr/>
          </p:nvSpPr>
          <p:spPr>
            <a:xfrm>
              <a:off x="4914045" y="3163252"/>
              <a:ext cx="344610" cy="205359"/>
            </a:xfrm>
            <a:prstGeom prst="rect">
              <a:avLst/>
            </a:prstGeom>
            <a:noFill/>
            <a:ln>
              <a:noFill/>
            </a:ln>
          </p:spPr>
          <p:txBody>
            <a:bodyPr wrap="none" lIns="0" tIns="0" rIns="0" bIns="0" anchor="t" anchorCtr="0">
              <a:spAutoFit/>
            </a:bodyPr>
            <a:lstStyle/>
            <a:p>
              <a:pPr algn="ctr"/>
              <a:r>
                <a:rPr lang="en-US" sz="1050" b="1" dirty="0">
                  <a:solidFill>
                    <a:schemeClr val="dk2"/>
                  </a:solidFill>
                  <a:latin typeface="+mn-lt"/>
                  <a:ea typeface="+mn-ea"/>
                  <a:cs typeface="+mn-cs"/>
                </a:rPr>
                <a:t>label</a:t>
              </a:r>
            </a:p>
          </p:txBody>
        </p:sp>
      </p:grpSp>
      <p:grpSp>
        <p:nvGrpSpPr>
          <p:cNvPr id="37" name="Group 37"/>
          <p:cNvGrpSpPr/>
          <p:nvPr/>
        </p:nvGrpSpPr>
        <p:grpSpPr>
          <a:xfrm>
            <a:off x="609600" y="3562350"/>
            <a:ext cx="5410200" cy="1676400"/>
            <a:chOff x="609600" y="3562350"/>
            <a:chExt cx="5410200" cy="1676400"/>
          </a:xfrm>
        </p:grpSpPr>
        <p:sp>
          <p:nvSpPr>
            <p:cNvPr id="30" name="Rectangle 30"/>
            <p:cNvSpPr/>
            <p:nvPr/>
          </p:nvSpPr>
          <p:spPr>
            <a:xfrm>
              <a:off x="609600" y="3562350"/>
              <a:ext cx="5410200" cy="1676400"/>
            </a:xfrm>
            <a:prstGeom prst="roundRect">
              <a:avLst>
                <a:gd name="adj" fmla="val 7955"/>
              </a:avLst>
            </a:prstGeom>
            <a:solidFill>
              <a:srgbClr val="0F2E2B"/>
            </a:solidFill>
            <a:ln w="14288">
              <a:solidFill>
                <a:srgbClr val="34D3C0"/>
              </a:solidFill>
            </a:ln>
          </p:spPr>
        </p:sp>
        <p:sp>
          <p:nvSpPr>
            <p:cNvPr id="31" name="Rectangle 31"/>
            <p:cNvSpPr/>
            <p:nvPr/>
          </p:nvSpPr>
          <p:spPr>
            <a:xfrm>
              <a:off x="609600" y="3562350"/>
              <a:ext cx="57150" cy="1676400"/>
            </a:xfrm>
            <a:prstGeom prst="roundRect">
              <a:avLst>
                <a:gd name="adj" fmla="val 50000"/>
              </a:avLst>
            </a:prstGeom>
            <a:solidFill>
              <a:srgbClr val="34D3C0"/>
            </a:solidFill>
            <a:ln>
              <a:noFill/>
            </a:ln>
          </p:spPr>
        </p:sp>
        <p:sp>
          <p:nvSpPr>
            <p:cNvPr id="32" name="TextBox 32"/>
            <p:cNvSpPr txBox="1"/>
            <p:nvPr/>
          </p:nvSpPr>
          <p:spPr>
            <a:xfrm>
              <a:off x="870394" y="3798808"/>
              <a:ext cx="3067994"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Step 2 · class token -&gt; image rotation</a:t>
              </a:r>
            </a:p>
          </p:txBody>
        </p:sp>
        <p:sp>
          <p:nvSpPr>
            <p:cNvPr id="33" name="TextBox 33"/>
            <p:cNvSpPr txBox="1"/>
            <p:nvPr/>
          </p:nvSpPr>
          <p:spPr>
            <a:xfrm>
              <a:off x="870966" y="4096702"/>
              <a:ext cx="35094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ViT predicts these angles as a simple four-way</a:t>
              </a:r>
            </a:p>
          </p:txBody>
        </p:sp>
        <p:sp>
          <p:nvSpPr>
            <p:cNvPr id="34" name="TextBox 34"/>
            <p:cNvSpPr txBox="1"/>
            <p:nvPr/>
          </p:nvSpPr>
          <p:spPr>
            <a:xfrm>
              <a:off x="870966" y="4296728"/>
              <a:ext cx="38953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classification. The class token, which normally predicts</a:t>
              </a:r>
            </a:p>
          </p:txBody>
        </p:sp>
        <p:sp>
          <p:nvSpPr>
            <p:cNvPr id="35" name="TextBox 35"/>
            <p:cNvSpPr txBox="1"/>
            <p:nvPr/>
          </p:nvSpPr>
          <p:spPr>
            <a:xfrm>
              <a:off x="870966" y="4496752"/>
              <a:ext cx="40815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object class, is repurposed to predict the whole-image</a:t>
              </a:r>
            </a:p>
          </p:txBody>
        </p:sp>
        <p:sp>
          <p:nvSpPr>
            <p:cNvPr id="36" name="TextBox 36"/>
            <p:cNvSpPr txBox="1"/>
            <p:nvPr/>
          </p:nvSpPr>
          <p:spPr>
            <a:xfrm>
              <a:off x="870966" y="4696778"/>
              <a:ext cx="213093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rotation for global structure.</a:t>
              </a:r>
            </a:p>
          </p:txBody>
        </p:sp>
      </p:grpSp>
      <p:grpSp>
        <p:nvGrpSpPr>
          <p:cNvPr id="55" name="Group 55"/>
          <p:cNvGrpSpPr/>
          <p:nvPr/>
        </p:nvGrpSpPr>
        <p:grpSpPr>
          <a:xfrm>
            <a:off x="6248400" y="1504950"/>
            <a:ext cx="5334000" cy="2400300"/>
            <a:chOff x="6248400" y="1504950"/>
            <a:chExt cx="5334000" cy="2400300"/>
          </a:xfrm>
        </p:grpSpPr>
        <p:sp>
          <p:nvSpPr>
            <p:cNvPr id="38" name="Rectangle 38"/>
            <p:cNvSpPr/>
            <p:nvPr/>
          </p:nvSpPr>
          <p:spPr>
            <a:xfrm>
              <a:off x="6248400" y="1504950"/>
              <a:ext cx="5334000" cy="1905000"/>
            </a:xfrm>
            <a:prstGeom prst="roundRect">
              <a:avLst>
                <a:gd name="adj" fmla="val 7000"/>
              </a:avLst>
            </a:prstGeom>
            <a:solidFill>
              <a:schemeClr val="accent5"/>
            </a:solidFill>
            <a:ln w="14288">
              <a:solidFill>
                <a:srgbClr val="26455F"/>
              </a:solidFill>
            </a:ln>
          </p:spPr>
        </p:sp>
        <p:sp>
          <p:nvSpPr>
            <p:cNvPr id="39" name="Rectangle 39"/>
            <p:cNvSpPr/>
            <p:nvPr/>
          </p:nvSpPr>
          <p:spPr>
            <a:xfrm>
              <a:off x="6248400" y="1504950"/>
              <a:ext cx="57150" cy="1905000"/>
            </a:xfrm>
            <a:prstGeom prst="roundRect">
              <a:avLst>
                <a:gd name="adj" fmla="val 50000"/>
              </a:avLst>
            </a:prstGeom>
            <a:solidFill>
              <a:srgbClr val="F2C14E"/>
            </a:solidFill>
            <a:ln>
              <a:noFill/>
            </a:ln>
          </p:spPr>
        </p:sp>
        <p:sp>
          <p:nvSpPr>
            <p:cNvPr id="40" name="TextBox 40"/>
            <p:cNvSpPr txBox="1"/>
            <p:nvPr/>
          </p:nvSpPr>
          <p:spPr>
            <a:xfrm>
              <a:off x="6509194" y="1741408"/>
              <a:ext cx="2707490"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Step 3 · patch heads + buffer gap</a:t>
              </a:r>
            </a:p>
          </p:txBody>
        </p:sp>
        <p:sp>
          <p:nvSpPr>
            <p:cNvPr id="41" name="TextBox 41"/>
            <p:cNvSpPr txBox="1"/>
            <p:nvPr/>
          </p:nvSpPr>
          <p:spPr>
            <a:xfrm>
              <a:off x="6509766" y="2039302"/>
              <a:ext cx="39320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New MLP heads on each patch token predict that patch's</a:t>
              </a:r>
            </a:p>
          </p:txBody>
        </p:sp>
        <p:sp>
          <p:nvSpPr>
            <p:cNvPr id="42" name="TextBox 42"/>
            <p:cNvSpPr txBox="1"/>
            <p:nvPr/>
          </p:nvSpPr>
          <p:spPr>
            <a:xfrm>
              <a:off x="6509766" y="2239328"/>
              <a:ext cx="370467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rotation for local detail. Patches are cropped from a</a:t>
              </a:r>
            </a:p>
          </p:txBody>
        </p:sp>
        <p:sp>
          <p:nvSpPr>
            <p:cNvPr id="43" name="TextBox 43"/>
            <p:cNvSpPr txBox="1"/>
            <p:nvPr/>
          </p:nvSpPr>
          <p:spPr>
            <a:xfrm>
              <a:off x="6509766" y="2439352"/>
              <a:ext cx="38836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larger grid so a buffer gap sits between them, and edge</a:t>
              </a:r>
            </a:p>
          </p:txBody>
        </p:sp>
        <p:sp>
          <p:nvSpPr>
            <p:cNvPr id="44" name="TextBox 44"/>
            <p:cNvSpPr txBox="1"/>
            <p:nvPr/>
          </p:nvSpPr>
          <p:spPr>
            <a:xfrm>
              <a:off x="6509766" y="2639378"/>
              <a:ext cx="235709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continuity can't leak the answer.</a:t>
              </a:r>
            </a:p>
          </p:txBody>
        </p:sp>
        <p:sp>
          <p:nvSpPr>
            <p:cNvPr id="45" name="Rectangle 45"/>
            <p:cNvSpPr/>
            <p:nvPr/>
          </p:nvSpPr>
          <p:spPr>
            <a:xfrm>
              <a:off x="9963150" y="2857500"/>
              <a:ext cx="285750" cy="285750"/>
            </a:xfrm>
            <a:prstGeom prst="roundRect">
              <a:avLst>
                <a:gd name="adj" fmla="val 6667"/>
              </a:avLst>
            </a:prstGeom>
            <a:solidFill>
              <a:schemeClr val="accent6"/>
            </a:solidFill>
            <a:ln w="13335">
              <a:solidFill>
                <a:srgbClr val="F2C14E"/>
              </a:solidFill>
            </a:ln>
          </p:spPr>
        </p:sp>
        <p:sp>
          <p:nvSpPr>
            <p:cNvPr id="46" name="Rectangle 46"/>
            <p:cNvSpPr/>
            <p:nvPr/>
          </p:nvSpPr>
          <p:spPr>
            <a:xfrm>
              <a:off x="10344150" y="2857500"/>
              <a:ext cx="285750" cy="285750"/>
            </a:xfrm>
            <a:prstGeom prst="roundRect">
              <a:avLst>
                <a:gd name="adj" fmla="val 6667"/>
              </a:avLst>
            </a:prstGeom>
            <a:solidFill>
              <a:schemeClr val="accent6"/>
            </a:solidFill>
            <a:ln w="13335">
              <a:solidFill>
                <a:srgbClr val="F2C14E"/>
              </a:solidFill>
            </a:ln>
          </p:spPr>
        </p:sp>
        <p:sp>
          <p:nvSpPr>
            <p:cNvPr id="47" name="Rectangle 47"/>
            <p:cNvSpPr/>
            <p:nvPr/>
          </p:nvSpPr>
          <p:spPr>
            <a:xfrm>
              <a:off x="10725150" y="2857500"/>
              <a:ext cx="285750" cy="285750"/>
            </a:xfrm>
            <a:prstGeom prst="roundRect">
              <a:avLst>
                <a:gd name="adj" fmla="val 6667"/>
              </a:avLst>
            </a:prstGeom>
            <a:solidFill>
              <a:schemeClr val="accent6"/>
            </a:solidFill>
            <a:ln w="13335">
              <a:solidFill>
                <a:srgbClr val="F2C14E"/>
              </a:solidFill>
            </a:ln>
          </p:spPr>
        </p:sp>
        <p:sp>
          <p:nvSpPr>
            <p:cNvPr id="48" name="Rectangle 48"/>
            <p:cNvSpPr/>
            <p:nvPr/>
          </p:nvSpPr>
          <p:spPr>
            <a:xfrm>
              <a:off x="9963150" y="3238500"/>
              <a:ext cx="285750" cy="285750"/>
            </a:xfrm>
            <a:prstGeom prst="roundRect">
              <a:avLst>
                <a:gd name="adj" fmla="val 6667"/>
              </a:avLst>
            </a:prstGeom>
            <a:solidFill>
              <a:schemeClr val="accent6"/>
            </a:solidFill>
            <a:ln w="13335">
              <a:solidFill>
                <a:srgbClr val="F2C14E"/>
              </a:solidFill>
            </a:ln>
          </p:spPr>
        </p:sp>
        <p:sp>
          <p:nvSpPr>
            <p:cNvPr id="49" name="Rectangle 49"/>
            <p:cNvSpPr/>
            <p:nvPr/>
          </p:nvSpPr>
          <p:spPr>
            <a:xfrm>
              <a:off x="10344150" y="3238500"/>
              <a:ext cx="285750" cy="285750"/>
            </a:xfrm>
            <a:prstGeom prst="roundRect">
              <a:avLst>
                <a:gd name="adj" fmla="val 6667"/>
              </a:avLst>
            </a:prstGeom>
            <a:solidFill>
              <a:schemeClr val="accent6"/>
            </a:solidFill>
            <a:ln w="13335">
              <a:solidFill>
                <a:srgbClr val="F2C14E"/>
              </a:solidFill>
            </a:ln>
          </p:spPr>
        </p:sp>
        <p:sp>
          <p:nvSpPr>
            <p:cNvPr id="50" name="Rectangle 50"/>
            <p:cNvSpPr/>
            <p:nvPr/>
          </p:nvSpPr>
          <p:spPr>
            <a:xfrm>
              <a:off x="10725150" y="3238500"/>
              <a:ext cx="285750" cy="285750"/>
            </a:xfrm>
            <a:prstGeom prst="roundRect">
              <a:avLst>
                <a:gd name="adj" fmla="val 6667"/>
              </a:avLst>
            </a:prstGeom>
            <a:solidFill>
              <a:schemeClr val="accent6"/>
            </a:solidFill>
            <a:ln w="13335">
              <a:solidFill>
                <a:srgbClr val="F2C14E"/>
              </a:solidFill>
            </a:ln>
          </p:spPr>
        </p:sp>
        <p:sp>
          <p:nvSpPr>
            <p:cNvPr id="51" name="Rectangle 51"/>
            <p:cNvSpPr/>
            <p:nvPr/>
          </p:nvSpPr>
          <p:spPr>
            <a:xfrm>
              <a:off x="9963150" y="3619500"/>
              <a:ext cx="285750" cy="285750"/>
            </a:xfrm>
            <a:prstGeom prst="roundRect">
              <a:avLst>
                <a:gd name="adj" fmla="val 6667"/>
              </a:avLst>
            </a:prstGeom>
            <a:solidFill>
              <a:schemeClr val="accent6"/>
            </a:solidFill>
            <a:ln w="13335">
              <a:solidFill>
                <a:srgbClr val="F2C14E"/>
              </a:solidFill>
            </a:ln>
          </p:spPr>
        </p:sp>
        <p:sp>
          <p:nvSpPr>
            <p:cNvPr id="52" name="Rectangle 52"/>
            <p:cNvSpPr/>
            <p:nvPr/>
          </p:nvSpPr>
          <p:spPr>
            <a:xfrm>
              <a:off x="10344150" y="3619500"/>
              <a:ext cx="285750" cy="285750"/>
            </a:xfrm>
            <a:prstGeom prst="roundRect">
              <a:avLst>
                <a:gd name="adj" fmla="val 6667"/>
              </a:avLst>
            </a:prstGeom>
            <a:solidFill>
              <a:schemeClr val="accent6"/>
            </a:solidFill>
            <a:ln w="13335">
              <a:solidFill>
                <a:srgbClr val="F2C14E"/>
              </a:solidFill>
            </a:ln>
          </p:spPr>
        </p:sp>
        <p:sp>
          <p:nvSpPr>
            <p:cNvPr id="53" name="Rectangle 53"/>
            <p:cNvSpPr/>
            <p:nvPr/>
          </p:nvSpPr>
          <p:spPr>
            <a:xfrm>
              <a:off x="10725150" y="3619500"/>
              <a:ext cx="285750" cy="285750"/>
            </a:xfrm>
            <a:prstGeom prst="roundRect">
              <a:avLst>
                <a:gd name="adj" fmla="val 6667"/>
              </a:avLst>
            </a:prstGeom>
            <a:solidFill>
              <a:schemeClr val="accent6"/>
            </a:solidFill>
            <a:ln w="13335">
              <a:solidFill>
                <a:srgbClr val="F2C14E"/>
              </a:solidFill>
            </a:ln>
          </p:spPr>
        </p:sp>
        <p:sp>
          <p:nvSpPr>
            <p:cNvPr id="54" name="TextBox 54"/>
            <p:cNvSpPr txBox="1"/>
            <p:nvPr/>
          </p:nvSpPr>
          <p:spPr>
            <a:xfrm>
              <a:off x="10291389" y="2711291"/>
              <a:ext cx="200773" cy="161925"/>
            </a:xfrm>
            <a:prstGeom prst="rect">
              <a:avLst/>
            </a:prstGeom>
            <a:noFill/>
            <a:ln>
              <a:noFill/>
            </a:ln>
          </p:spPr>
          <p:txBody>
            <a:bodyPr wrap="none" lIns="0" tIns="0" rIns="0" bIns="0" anchor="t" anchorCtr="0">
              <a:spAutoFit/>
            </a:bodyPr>
            <a:lstStyle/>
            <a:p>
              <a:pPr algn="ctr"/>
              <a:r>
                <a:rPr lang="en-US" sz="820" b="1" dirty="0">
                  <a:solidFill>
                    <a:srgbClr val="6E869C"/>
                  </a:solidFill>
                  <a:latin typeface="+mn-lt"/>
                  <a:ea typeface="+mn-ea"/>
                  <a:cs typeface="+mn-cs"/>
                </a:rPr>
                <a:t>gap</a:t>
              </a:r>
            </a:p>
          </p:txBody>
        </p:sp>
      </p:grpSp>
      <p:grpSp>
        <p:nvGrpSpPr>
          <p:cNvPr id="63" name="Group 63"/>
          <p:cNvGrpSpPr/>
          <p:nvPr/>
        </p:nvGrpSpPr>
        <p:grpSpPr>
          <a:xfrm>
            <a:off x="6248400" y="3562350"/>
            <a:ext cx="5334000" cy="1676400"/>
            <a:chOff x="6248400" y="3562350"/>
            <a:chExt cx="5334000" cy="1676400"/>
          </a:xfrm>
        </p:grpSpPr>
        <p:sp>
          <p:nvSpPr>
            <p:cNvPr id="56" name="Rectangle 56"/>
            <p:cNvSpPr/>
            <p:nvPr/>
          </p:nvSpPr>
          <p:spPr>
            <a:xfrm>
              <a:off x="6248400" y="3562350"/>
              <a:ext cx="5334000" cy="1676400"/>
            </a:xfrm>
            <a:prstGeom prst="roundRect">
              <a:avLst>
                <a:gd name="adj" fmla="val 7955"/>
              </a:avLst>
            </a:prstGeom>
            <a:solidFill>
              <a:schemeClr val="accent5"/>
            </a:solidFill>
            <a:ln w="14288">
              <a:solidFill>
                <a:srgbClr val="26455F"/>
              </a:solidFill>
            </a:ln>
          </p:spPr>
        </p:sp>
        <p:sp>
          <p:nvSpPr>
            <p:cNvPr id="57" name="Rectangle 57"/>
            <p:cNvSpPr/>
            <p:nvPr/>
          </p:nvSpPr>
          <p:spPr>
            <a:xfrm>
              <a:off x="6248400" y="3562350"/>
              <a:ext cx="57150" cy="1676400"/>
            </a:xfrm>
            <a:prstGeom prst="roundRect">
              <a:avLst>
                <a:gd name="adj" fmla="val 50000"/>
              </a:avLst>
            </a:prstGeom>
            <a:solidFill>
              <a:srgbClr val="48C78E"/>
            </a:solidFill>
            <a:ln>
              <a:noFill/>
            </a:ln>
          </p:spPr>
        </p:sp>
        <p:sp>
          <p:nvSpPr>
            <p:cNvPr id="58" name="TextBox 58"/>
            <p:cNvSpPr txBox="1"/>
            <p:nvPr/>
          </p:nvSpPr>
          <p:spPr>
            <a:xfrm>
              <a:off x="6509194" y="3798808"/>
              <a:ext cx="2764479"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Step 4 · reduced -&gt; full resolution</a:t>
              </a:r>
            </a:p>
          </p:txBody>
        </p:sp>
        <p:sp>
          <p:nvSpPr>
            <p:cNvPr id="59" name="TextBox 59"/>
            <p:cNvSpPr txBox="1"/>
            <p:nvPr/>
          </p:nvSpPr>
          <p:spPr>
            <a:xfrm>
              <a:off x="6509766" y="4096702"/>
              <a:ext cx="381071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Pretrain at reduced resolution; then remove the extra</a:t>
              </a:r>
            </a:p>
          </p:txBody>
        </p:sp>
        <p:sp>
          <p:nvSpPr>
            <p:cNvPr id="60" name="TextBox 60"/>
            <p:cNvSpPr txBox="1"/>
            <p:nvPr/>
          </p:nvSpPr>
          <p:spPr>
            <a:xfrm>
              <a:off x="6509766" y="4296728"/>
              <a:ext cx="38342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patch heads and fine-tune at full resolution on the real</a:t>
              </a:r>
            </a:p>
          </p:txBody>
        </p:sp>
        <p:sp>
          <p:nvSpPr>
            <p:cNvPr id="61" name="TextBox 61"/>
            <p:cNvSpPr txBox="1"/>
            <p:nvPr/>
          </p:nvSpPr>
          <p:spPr>
            <a:xfrm>
              <a:off x="6509766" y="4496752"/>
              <a:ext cx="36504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task, with positional embeddings interpolated to the</a:t>
              </a:r>
            </a:p>
          </p:txBody>
        </p:sp>
        <p:sp>
          <p:nvSpPr>
            <p:cNvPr id="62" name="TextBox 62"/>
            <p:cNvSpPr txBox="1"/>
            <p:nvPr/>
          </p:nvSpPr>
          <p:spPr>
            <a:xfrm>
              <a:off x="6509766" y="4696778"/>
              <a:ext cx="13817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larger patch count.</a:t>
              </a:r>
            </a:p>
          </p:txBody>
        </p:sp>
      </p:grpSp>
      <p:sp>
        <p:nvSpPr>
          <p:cNvPr id="64" name="cue_s05_c1_patchrot_works_follows_take_input" title="cue_s05_c1_patchrot_works_follows_take_input" descr="cue_s05_c1_patchrot_works_follows_take_input PatchRot works as follows. Take an input image and either rotate the whole image, or rotate each of its patches independently, by a random multiple of ninety degrees: zero, ninety, one-eighty, or two-seventy."/>
          <p:cNvSpPr/>
          <p:nvPr/>
        </p:nvSpPr>
        <p:spPr>
          <a:xfrm>
            <a:off x="609600" y="1504645"/>
            <a:ext cx="5409590" cy="195864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5_c2_vision_transformer_trained_predict_t" title="cue_s05_c2_vision_transformer_trained_predict_t" descr="cue_s05_c2_vision_transformer_trained_predict_t The vision transformer is then trained to predict these rotation angles as a simple four-way classification. The transformer's class token, which normally predicts the object category, is repurposed to predict the whole-image rotation, capturing global structu"/>
          <p:cNvSpPr/>
          <p:nvPr/>
        </p:nvSpPr>
        <p:spPr>
          <a:xfrm>
            <a:off x="609600" y="3562045"/>
            <a:ext cx="540959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5_c3_new_multilayer_perceptron_heads_atta" title="cue_s05_c3_new_multilayer_perceptron_heads_atta" descr="cue_s05_c3_new_multilayer_perceptron_heads_atta New multilayer-perceptron heads are attached to each patch token to predict that individual patch's rotation, capturing local detail. To prevent the network from cheating, patches are carved from a slightly larger grid and randomly cropped, so a random buffer"/>
          <p:cNvSpPr/>
          <p:nvPr/>
        </p:nvSpPr>
        <p:spPr>
          <a:xfrm>
            <a:off x="6248399" y="1504645"/>
            <a:ext cx="5334000" cy="24003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5_c4_happens_reduced_resolution_extra_pat" title="cue_s05_c4_happens_reduced_resolution_extra_pat" descr="cue_s05_c4_happens_reduced_resolution_extra_pat Training happens at a reduced resolution; then the extra patch heads are removed and the network is fine-tuned at full resolution on the real classification task, with positional embeddings interpolated to the larger patch count."/>
          <p:cNvSpPr/>
          <p:nvPr/>
        </p:nvSpPr>
        <p:spPr>
          <a:xfrm>
            <a:off x="6248399" y="3562045"/>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714192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datasets, transfer and semi-supervised</a:t>
            </a:r>
          </a:p>
        </p:txBody>
      </p:sp>
      <p:grpSp>
        <p:nvGrpSpPr>
          <p:cNvPr id="20" name="Group 20"/>
          <p:cNvGrpSpPr/>
          <p:nvPr/>
        </p:nvGrpSpPr>
        <p:grpSpPr>
          <a:xfrm>
            <a:off x="609600" y="1504950"/>
            <a:ext cx="10972800" cy="1143000"/>
            <a:chOff x="609600" y="1504950"/>
            <a:chExt cx="10972800" cy="1143000"/>
          </a:xfrm>
        </p:grpSpPr>
        <p:sp>
          <p:nvSpPr>
            <p:cNvPr id="5" name="Rectangle 5"/>
            <p:cNvSpPr/>
            <p:nvPr/>
          </p:nvSpPr>
          <p:spPr>
            <a:xfrm>
              <a:off x="609600" y="1504950"/>
              <a:ext cx="10972800" cy="1143000"/>
            </a:xfrm>
            <a:prstGeom prst="roundRect">
              <a:avLst>
                <a:gd name="adj" fmla="val 11667"/>
              </a:avLst>
            </a:prstGeom>
            <a:solidFill>
              <a:schemeClr val="accent5"/>
            </a:solidFill>
            <a:ln w="14288">
              <a:solidFill>
                <a:srgbClr val="26455F"/>
              </a:solidFill>
            </a:ln>
          </p:spPr>
        </p:sp>
        <p:sp>
          <p:nvSpPr>
            <p:cNvPr id="6" name="Rectangle 6"/>
            <p:cNvSpPr/>
            <p:nvPr/>
          </p:nvSpPr>
          <p:spPr>
            <a:xfrm>
              <a:off x="609600" y="1504950"/>
              <a:ext cx="57150" cy="1143000"/>
            </a:xfrm>
            <a:prstGeom prst="roundRect">
              <a:avLst>
                <a:gd name="adj" fmla="val 50000"/>
              </a:avLst>
            </a:prstGeom>
            <a:solidFill>
              <a:schemeClr val="accent2"/>
            </a:solidFill>
            <a:ln>
              <a:noFill/>
            </a:ln>
          </p:spPr>
        </p:sp>
        <p:sp>
          <p:nvSpPr>
            <p:cNvPr id="7" name="TextBox 7"/>
            <p:cNvSpPr txBox="1"/>
            <p:nvPr/>
          </p:nvSpPr>
          <p:spPr>
            <a:xfrm>
              <a:off x="869823" y="1710214"/>
              <a:ext cx="3971997"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Four standard image-classification datasets</a:t>
              </a:r>
            </a:p>
          </p:txBody>
        </p:sp>
        <p:sp>
          <p:nvSpPr>
            <p:cNvPr id="8" name="Rectangle 8"/>
            <p:cNvSpPr/>
            <p:nvPr/>
          </p:nvSpPr>
          <p:spPr>
            <a:xfrm>
              <a:off x="876300" y="1962150"/>
              <a:ext cx="2438400" cy="571500"/>
            </a:xfrm>
            <a:prstGeom prst="roundRect">
              <a:avLst>
                <a:gd name="adj" fmla="val 20000"/>
              </a:avLst>
            </a:prstGeom>
            <a:solidFill>
              <a:schemeClr val="accent6"/>
            </a:solidFill>
            <a:ln w="14288">
              <a:solidFill>
                <a:srgbClr val="26455F"/>
              </a:solidFill>
            </a:ln>
          </p:spPr>
        </p:sp>
        <p:sp>
          <p:nvSpPr>
            <p:cNvPr id="9" name="TextBox 9"/>
            <p:cNvSpPr txBox="1"/>
            <p:nvPr/>
          </p:nvSpPr>
          <p:spPr>
            <a:xfrm>
              <a:off x="1648195" y="2132171"/>
              <a:ext cx="894609" cy="278702"/>
            </a:xfrm>
            <a:prstGeom prst="rect">
              <a:avLst/>
            </a:prstGeom>
            <a:noFill/>
            <a:ln>
              <a:noFill/>
            </a:ln>
          </p:spPr>
          <p:txBody>
            <a:bodyPr wrap="none" lIns="0" tIns="0" rIns="0" bIns="0" anchor="t" anchorCtr="0">
              <a:spAutoFit/>
            </a:bodyPr>
            <a:lstStyle/>
            <a:p>
              <a:pPr algn="ctr"/>
              <a:r>
                <a:rPr lang="en-US" sz="1420" b="1" dirty="0">
                  <a:solidFill>
                    <a:schemeClr val="accent2"/>
                  </a:solidFill>
                  <a:latin typeface="+mn-lt"/>
                  <a:ea typeface="+mn-ea"/>
                  <a:cs typeface="+mn-cs"/>
                </a:rPr>
                <a:t>CIFAR-10</a:t>
              </a:r>
            </a:p>
          </p:txBody>
        </p:sp>
        <p:sp>
          <p:nvSpPr>
            <p:cNvPr id="10" name="TextBox 10"/>
            <p:cNvSpPr txBox="1"/>
            <p:nvPr/>
          </p:nvSpPr>
          <p:spPr>
            <a:xfrm>
              <a:off x="1877651" y="2360295"/>
              <a:ext cx="435698"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32 x 32</a:t>
              </a:r>
            </a:p>
          </p:txBody>
        </p:sp>
        <p:sp>
          <p:nvSpPr>
            <p:cNvPr id="11" name="Rectangle 11"/>
            <p:cNvSpPr/>
            <p:nvPr/>
          </p:nvSpPr>
          <p:spPr>
            <a:xfrm>
              <a:off x="3505200" y="1962150"/>
              <a:ext cx="2438400" cy="571500"/>
            </a:xfrm>
            <a:prstGeom prst="roundRect">
              <a:avLst>
                <a:gd name="adj" fmla="val 20000"/>
              </a:avLst>
            </a:prstGeom>
            <a:solidFill>
              <a:schemeClr val="accent6"/>
            </a:solidFill>
            <a:ln w="14288">
              <a:solidFill>
                <a:srgbClr val="26455F"/>
              </a:solidFill>
            </a:ln>
          </p:spPr>
        </p:sp>
        <p:sp>
          <p:nvSpPr>
            <p:cNvPr id="12" name="TextBox 12"/>
            <p:cNvSpPr txBox="1"/>
            <p:nvPr/>
          </p:nvSpPr>
          <p:spPr>
            <a:xfrm>
              <a:off x="4218773" y="2132171"/>
              <a:ext cx="1011253" cy="278702"/>
            </a:xfrm>
            <a:prstGeom prst="rect">
              <a:avLst/>
            </a:prstGeom>
            <a:noFill/>
            <a:ln>
              <a:noFill/>
            </a:ln>
          </p:spPr>
          <p:txBody>
            <a:bodyPr wrap="none" lIns="0" tIns="0" rIns="0" bIns="0" anchor="t" anchorCtr="0">
              <a:spAutoFit/>
            </a:bodyPr>
            <a:lstStyle/>
            <a:p>
              <a:pPr algn="ctr"/>
              <a:r>
                <a:rPr lang="en-US" sz="1420" b="1" dirty="0">
                  <a:solidFill>
                    <a:schemeClr val="accent2"/>
                  </a:solidFill>
                  <a:latin typeface="+mn-lt"/>
                  <a:ea typeface="+mn-ea"/>
                  <a:cs typeface="+mn-cs"/>
                </a:rPr>
                <a:t>CIFAR-100</a:t>
              </a:r>
            </a:p>
          </p:txBody>
        </p:sp>
        <p:sp>
          <p:nvSpPr>
            <p:cNvPr id="13" name="TextBox 13"/>
            <p:cNvSpPr txBox="1"/>
            <p:nvPr/>
          </p:nvSpPr>
          <p:spPr>
            <a:xfrm>
              <a:off x="4506551" y="2360295"/>
              <a:ext cx="435698"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32 x 32</a:t>
              </a:r>
            </a:p>
          </p:txBody>
        </p:sp>
        <p:sp>
          <p:nvSpPr>
            <p:cNvPr id="14" name="Rectangle 14"/>
            <p:cNvSpPr/>
            <p:nvPr/>
          </p:nvSpPr>
          <p:spPr>
            <a:xfrm>
              <a:off x="6134100" y="1962150"/>
              <a:ext cx="2438400" cy="571500"/>
            </a:xfrm>
            <a:prstGeom prst="roundRect">
              <a:avLst>
                <a:gd name="adj" fmla="val 20000"/>
              </a:avLst>
            </a:prstGeom>
            <a:solidFill>
              <a:schemeClr val="accent6"/>
            </a:solidFill>
            <a:ln w="14288">
              <a:solidFill>
                <a:srgbClr val="26455F"/>
              </a:solidFill>
            </a:ln>
          </p:spPr>
        </p:sp>
        <p:sp>
          <p:nvSpPr>
            <p:cNvPr id="15" name="TextBox 15"/>
            <p:cNvSpPr txBox="1"/>
            <p:nvPr/>
          </p:nvSpPr>
          <p:spPr>
            <a:xfrm>
              <a:off x="6695904" y="2132171"/>
              <a:ext cx="1314793" cy="278702"/>
            </a:xfrm>
            <a:prstGeom prst="rect">
              <a:avLst/>
            </a:prstGeom>
            <a:noFill/>
            <a:ln>
              <a:noFill/>
            </a:ln>
          </p:spPr>
          <p:txBody>
            <a:bodyPr wrap="none" lIns="0" tIns="0" rIns="0" bIns="0" anchor="t" anchorCtr="0">
              <a:spAutoFit/>
            </a:bodyPr>
            <a:lstStyle/>
            <a:p>
              <a:pPr algn="ctr"/>
              <a:r>
                <a:rPr lang="en-US" sz="1420" b="1" dirty="0">
                  <a:solidFill>
                    <a:schemeClr val="accent2"/>
                  </a:solidFill>
                  <a:latin typeface="+mn-lt"/>
                  <a:ea typeface="+mn-ea"/>
                  <a:cs typeface="+mn-cs"/>
                </a:rPr>
                <a:t>FashionMNIST</a:t>
              </a:r>
            </a:p>
          </p:txBody>
        </p:sp>
        <p:sp>
          <p:nvSpPr>
            <p:cNvPr id="16" name="TextBox 16"/>
            <p:cNvSpPr txBox="1"/>
            <p:nvPr/>
          </p:nvSpPr>
          <p:spPr>
            <a:xfrm>
              <a:off x="7135451" y="2360295"/>
              <a:ext cx="435698"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32 x 32</a:t>
              </a:r>
            </a:p>
          </p:txBody>
        </p:sp>
        <p:sp>
          <p:nvSpPr>
            <p:cNvPr id="17" name="Rectangle 17"/>
            <p:cNvSpPr/>
            <p:nvPr/>
          </p:nvSpPr>
          <p:spPr>
            <a:xfrm>
              <a:off x="8763000" y="1962150"/>
              <a:ext cx="2667000" cy="571500"/>
            </a:xfrm>
            <a:prstGeom prst="roundRect">
              <a:avLst>
                <a:gd name="adj" fmla="val 20000"/>
              </a:avLst>
            </a:prstGeom>
            <a:solidFill>
              <a:schemeClr val="accent6"/>
            </a:solidFill>
            <a:ln w="14288">
              <a:solidFill>
                <a:srgbClr val="26455F"/>
              </a:solidFill>
            </a:ln>
          </p:spPr>
        </p:sp>
        <p:sp>
          <p:nvSpPr>
            <p:cNvPr id="18" name="TextBox 18"/>
            <p:cNvSpPr txBox="1"/>
            <p:nvPr/>
          </p:nvSpPr>
          <p:spPr>
            <a:xfrm>
              <a:off x="9392072" y="2132171"/>
              <a:ext cx="1408856" cy="278702"/>
            </a:xfrm>
            <a:prstGeom prst="rect">
              <a:avLst/>
            </a:prstGeom>
            <a:noFill/>
            <a:ln>
              <a:noFill/>
            </a:ln>
          </p:spPr>
          <p:txBody>
            <a:bodyPr wrap="none" lIns="0" tIns="0" rIns="0" bIns="0" anchor="t" anchorCtr="0">
              <a:spAutoFit/>
            </a:bodyPr>
            <a:lstStyle/>
            <a:p>
              <a:pPr algn="ctr"/>
              <a:r>
                <a:rPr lang="en-US" sz="1420" b="1" dirty="0">
                  <a:solidFill>
                    <a:srgbClr val="F2C14E"/>
                  </a:solidFill>
                  <a:latin typeface="+mn-lt"/>
                  <a:ea typeface="+mn-ea"/>
                  <a:cs typeface="+mn-cs"/>
                </a:rPr>
                <a:t>Tiny-ImageNet</a:t>
              </a:r>
            </a:p>
          </p:txBody>
        </p:sp>
        <p:sp>
          <p:nvSpPr>
            <p:cNvPr id="19" name="TextBox 19"/>
            <p:cNvSpPr txBox="1"/>
            <p:nvPr/>
          </p:nvSpPr>
          <p:spPr>
            <a:xfrm>
              <a:off x="9878651" y="2360295"/>
              <a:ext cx="435698" cy="176212"/>
            </a:xfrm>
            <a:prstGeom prst="rect">
              <a:avLst/>
            </a:prstGeom>
            <a:noFill/>
            <a:ln>
              <a:noFill/>
            </a:ln>
          </p:spPr>
          <p:txBody>
            <a:bodyPr wrap="none" lIns="0" tIns="0" rIns="0" bIns="0" anchor="t" anchorCtr="0">
              <a:spAutoFit/>
            </a:bodyPr>
            <a:lstStyle/>
            <a:p>
              <a:pPr algn="ctr"/>
              <a:r>
                <a:rPr lang="en-US" sz="900" b="1" dirty="0">
                  <a:solidFill>
                    <a:schemeClr val="dk2"/>
                  </a:solidFill>
                  <a:latin typeface="+mn-lt"/>
                  <a:ea typeface="+mn-ea"/>
                  <a:cs typeface="+mn-cs"/>
                </a:rPr>
                <a:t>64 x 64</a:t>
              </a:r>
            </a:p>
          </p:txBody>
        </p:sp>
      </p:grpSp>
      <p:grpSp>
        <p:nvGrpSpPr>
          <p:cNvPr id="26" name="Group 26"/>
          <p:cNvGrpSpPr/>
          <p:nvPr/>
        </p:nvGrpSpPr>
        <p:grpSpPr>
          <a:xfrm>
            <a:off x="609600" y="2819400"/>
            <a:ext cx="5334000" cy="1143000"/>
            <a:chOff x="609600" y="2819400"/>
            <a:chExt cx="5334000" cy="1143000"/>
          </a:xfrm>
        </p:grpSpPr>
        <p:sp>
          <p:nvSpPr>
            <p:cNvPr id="21" name="Rectangle 21"/>
            <p:cNvSpPr/>
            <p:nvPr/>
          </p:nvSpPr>
          <p:spPr>
            <a:xfrm>
              <a:off x="609600" y="2819400"/>
              <a:ext cx="5334000" cy="1143000"/>
            </a:xfrm>
            <a:prstGeom prst="roundRect">
              <a:avLst>
                <a:gd name="adj" fmla="val 11667"/>
              </a:avLst>
            </a:prstGeom>
            <a:solidFill>
              <a:schemeClr val="accent5"/>
            </a:solidFill>
            <a:ln w="14288">
              <a:solidFill>
                <a:srgbClr val="26455F"/>
              </a:solidFill>
            </a:ln>
          </p:spPr>
        </p:sp>
        <p:sp>
          <p:nvSpPr>
            <p:cNvPr id="22" name="Rectangle 22"/>
            <p:cNvSpPr/>
            <p:nvPr/>
          </p:nvSpPr>
          <p:spPr>
            <a:xfrm>
              <a:off x="609600" y="2819400"/>
              <a:ext cx="57150" cy="1143000"/>
            </a:xfrm>
            <a:prstGeom prst="roundRect">
              <a:avLst>
                <a:gd name="adj" fmla="val 50000"/>
              </a:avLst>
            </a:prstGeom>
            <a:solidFill>
              <a:srgbClr val="34D3C0"/>
            </a:solidFill>
            <a:ln>
              <a:noFill/>
            </a:ln>
          </p:spPr>
        </p:sp>
        <p:sp>
          <p:nvSpPr>
            <p:cNvPr id="23" name="TextBox 23"/>
            <p:cNvSpPr txBox="1"/>
            <p:nvPr/>
          </p:nvSpPr>
          <p:spPr>
            <a:xfrm>
              <a:off x="870204" y="3051810"/>
              <a:ext cx="2222941"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Backbone and extra probes</a:t>
              </a:r>
            </a:p>
          </p:txBody>
        </p:sp>
        <p:sp>
          <p:nvSpPr>
            <p:cNvPr id="24" name="TextBox 24"/>
            <p:cNvSpPr txBox="1"/>
            <p:nvPr/>
          </p:nvSpPr>
          <p:spPr>
            <a:xfrm>
              <a:off x="870776" y="3349704"/>
              <a:ext cx="425345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compact ViT with six encoder blocks. SVHN and MNIST also</a:t>
              </a:r>
            </a:p>
          </p:txBody>
        </p:sp>
        <p:sp>
          <p:nvSpPr>
            <p:cNvPr id="25" name="TextBox 25"/>
            <p:cNvSpPr txBox="1"/>
            <p:nvPr/>
          </p:nvSpPr>
          <p:spPr>
            <a:xfrm>
              <a:off x="870776" y="3559254"/>
              <a:ext cx="320255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probe rotation-invariant objects like digits.</a:t>
              </a:r>
            </a:p>
          </p:txBody>
        </p:sp>
      </p:grpSp>
      <p:grpSp>
        <p:nvGrpSpPr>
          <p:cNvPr id="33" name="Group 33"/>
          <p:cNvGrpSpPr/>
          <p:nvPr/>
        </p:nvGrpSpPr>
        <p:grpSpPr>
          <a:xfrm>
            <a:off x="6248400" y="2819400"/>
            <a:ext cx="5334000" cy="1162097"/>
            <a:chOff x="6248400" y="2819400"/>
            <a:chExt cx="5334000" cy="1162097"/>
          </a:xfrm>
        </p:grpSpPr>
        <p:sp>
          <p:nvSpPr>
            <p:cNvPr id="27" name="Rectangle 27"/>
            <p:cNvSpPr/>
            <p:nvPr/>
          </p:nvSpPr>
          <p:spPr>
            <a:xfrm>
              <a:off x="6248400" y="2819400"/>
              <a:ext cx="5334000" cy="1143000"/>
            </a:xfrm>
            <a:prstGeom prst="roundRect">
              <a:avLst>
                <a:gd name="adj" fmla="val 11667"/>
              </a:avLst>
            </a:prstGeom>
            <a:solidFill>
              <a:schemeClr val="accent5"/>
            </a:solidFill>
            <a:ln w="14288">
              <a:solidFill>
                <a:srgbClr val="26455F"/>
              </a:solidFill>
            </a:ln>
          </p:spPr>
        </p:sp>
        <p:sp>
          <p:nvSpPr>
            <p:cNvPr id="28" name="Rectangle 28"/>
            <p:cNvSpPr/>
            <p:nvPr/>
          </p:nvSpPr>
          <p:spPr>
            <a:xfrm>
              <a:off x="6248400" y="2819400"/>
              <a:ext cx="57150" cy="1143000"/>
            </a:xfrm>
            <a:prstGeom prst="roundRect">
              <a:avLst>
                <a:gd name="adj" fmla="val 50000"/>
              </a:avLst>
            </a:prstGeom>
            <a:solidFill>
              <a:srgbClr val="F2C14E"/>
            </a:solidFill>
            <a:ln>
              <a:noFill/>
            </a:ln>
          </p:spPr>
        </p:sp>
        <p:sp>
          <p:nvSpPr>
            <p:cNvPr id="29" name="TextBox 29"/>
            <p:cNvSpPr txBox="1"/>
            <p:nvPr/>
          </p:nvSpPr>
          <p:spPr>
            <a:xfrm>
              <a:off x="6509004" y="3051810"/>
              <a:ext cx="2231444"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Patch sizes and buffer gap</a:t>
              </a:r>
            </a:p>
          </p:txBody>
        </p:sp>
        <p:sp>
          <p:nvSpPr>
            <p:cNvPr id="30" name="TextBox 30"/>
            <p:cNvSpPr txBox="1"/>
            <p:nvPr/>
          </p:nvSpPr>
          <p:spPr>
            <a:xfrm>
              <a:off x="6509576" y="3349704"/>
              <a:ext cx="348666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Patch size 4 pixels for the small datasets, 8 for</a:t>
              </a:r>
            </a:p>
          </p:txBody>
        </p:sp>
        <p:sp>
          <p:nvSpPr>
            <p:cNvPr id="31" name="TextBox 31"/>
            <p:cNvSpPr txBox="1"/>
            <p:nvPr/>
          </p:nvSpPr>
          <p:spPr>
            <a:xfrm>
              <a:off x="6509576" y="3559254"/>
              <a:ext cx="412814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Tiny-ImageNet, with a buffer gap set to a quarter of the</a:t>
              </a:r>
            </a:p>
          </p:txBody>
        </p:sp>
        <p:sp>
          <p:nvSpPr>
            <p:cNvPr id="32" name="TextBox 32"/>
            <p:cNvSpPr txBox="1"/>
            <p:nvPr/>
          </p:nvSpPr>
          <p:spPr>
            <a:xfrm>
              <a:off x="6509576" y="3768804"/>
              <a:ext cx="82543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patch size.</a:t>
              </a:r>
            </a:p>
          </p:txBody>
        </p:sp>
      </p:grpSp>
      <p:grpSp>
        <p:nvGrpSpPr>
          <p:cNvPr id="39" name="Group 39"/>
          <p:cNvGrpSpPr/>
          <p:nvPr/>
        </p:nvGrpSpPr>
        <p:grpSpPr>
          <a:xfrm>
            <a:off x="609600" y="4133850"/>
            <a:ext cx="10972800" cy="1104900"/>
            <a:chOff x="609600" y="4133850"/>
            <a:chExt cx="10972800" cy="1104900"/>
          </a:xfrm>
        </p:grpSpPr>
        <p:sp>
          <p:nvSpPr>
            <p:cNvPr id="34" name="Rectangle 34"/>
            <p:cNvSpPr/>
            <p:nvPr/>
          </p:nvSpPr>
          <p:spPr>
            <a:xfrm>
              <a:off x="609600" y="4133850"/>
              <a:ext cx="10972800" cy="1104900"/>
            </a:xfrm>
            <a:prstGeom prst="roundRect">
              <a:avLst>
                <a:gd name="adj" fmla="val 12069"/>
              </a:avLst>
            </a:prstGeom>
            <a:solidFill>
              <a:srgbClr val="0F2E2B"/>
            </a:solidFill>
            <a:ln w="14288">
              <a:solidFill>
                <a:srgbClr val="48C78E"/>
              </a:solidFill>
            </a:ln>
          </p:spPr>
        </p:sp>
        <p:sp>
          <p:nvSpPr>
            <p:cNvPr id="35" name="Rectangle 35"/>
            <p:cNvSpPr/>
            <p:nvPr/>
          </p:nvSpPr>
          <p:spPr>
            <a:xfrm>
              <a:off x="609600" y="4133850"/>
              <a:ext cx="57150" cy="1104900"/>
            </a:xfrm>
            <a:prstGeom prst="roundRect">
              <a:avLst>
                <a:gd name="adj" fmla="val 50000"/>
              </a:avLst>
            </a:prstGeom>
            <a:solidFill>
              <a:srgbClr val="48C78E"/>
            </a:solidFill>
            <a:ln>
              <a:noFill/>
            </a:ln>
          </p:spPr>
        </p:sp>
        <p:sp>
          <p:nvSpPr>
            <p:cNvPr id="36" name="TextBox 36"/>
            <p:cNvSpPr txBox="1"/>
            <p:nvPr/>
          </p:nvSpPr>
          <p:spPr>
            <a:xfrm>
              <a:off x="870014" y="4362212"/>
              <a:ext cx="2269959"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Beyond plain classification</a:t>
              </a:r>
            </a:p>
          </p:txBody>
        </p:sp>
        <p:sp>
          <p:nvSpPr>
            <p:cNvPr id="37" name="TextBox 37"/>
            <p:cNvSpPr txBox="1"/>
            <p:nvPr/>
          </p:nvSpPr>
          <p:spPr>
            <a:xfrm>
              <a:off x="870776" y="4664154"/>
              <a:ext cx="766310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Transfer learning between CIFAR-10 and CIFAR-100, plus a semi-supervised setting on CIFAR-10 with only a</a:t>
              </a:r>
            </a:p>
          </p:txBody>
        </p:sp>
        <p:sp>
          <p:nvSpPr>
            <p:cNvPr id="38" name="TextBox 38"/>
            <p:cNvSpPr txBox="1"/>
            <p:nvPr/>
          </p:nvSpPr>
          <p:spPr>
            <a:xfrm>
              <a:off x="870776" y="4883229"/>
              <a:ext cx="298244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handful of labels, from 250 up to 10,000.</a:t>
              </a:r>
            </a:p>
          </p:txBody>
        </p:sp>
      </p:grpSp>
      <p:sp>
        <p:nvSpPr>
          <p:cNvPr id="40" name="cue_s06_c1_authors_test_patchrot_four_standard" title="cue_s06_c1_authors_test_patchrot_four_standard" descr="cue_s06_c1_authors_test_patchrot_four_standard The authors test PatchRot on four standard image classification datasets: CIFAR-10, CIFAR-100, FashionMNIST at thirty-two by thirty-two resolution, and Tiny-ImageNet at sixty-four by sixty-four."/>
          <p:cNvSpPr/>
          <p:nvPr/>
        </p:nvSpPr>
        <p:spPr>
          <a:xfrm>
            <a:off x="609600" y="1504645"/>
            <a:ext cx="109728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6_c2_they_also_study_svhn_mnist" title="cue_s06_c2_they_also_study_svhn_mnist" descr="cue_s06_c2_they_also_study_svhn_mnist They also study SVHN and MNIST to probe rotation-invariant objects like digits. The backbone is a compact vision transformer with six encoder blocks."/>
          <p:cNvSpPr/>
          <p:nvPr/>
        </p:nvSpPr>
        <p:spPr>
          <a:xfrm>
            <a:off x="609600" y="2819323"/>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6_c3_patch_sizes_four_pixels_small" title="cue_s06_c3_patch_sizes_four_pixels_small" descr="cue_s06_c3_patch_sizes_four_pixels_small Patch sizes are four pixels for the small datasets and eight for Tiny-ImageNet, with a buffer gap set to a quarter of the patch size."/>
          <p:cNvSpPr/>
          <p:nvPr/>
        </p:nvSpPr>
        <p:spPr>
          <a:xfrm>
            <a:off x="6248399" y="2819323"/>
            <a:ext cx="5334000" cy="116243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6_c4_beyond_plain_classification_they_eva" title="cue_s06_c4_beyond_plain_classification_they_eva" descr="cue_s06_c4_beyond_plain_classification_they_eva Beyond plain classification, they evaluate transfer learning between CIFAR-10 and CIFAR-100, and a semi-supervised setting on CIFAR-10 where only a handful of labels, from two hundred fifty up to ten thousand, are available."/>
          <p:cNvSpPr/>
          <p:nvPr/>
        </p:nvSpPr>
        <p:spPr>
          <a:xfrm>
            <a:off x="609600" y="4134002"/>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787282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PatchRot beats supervised and RotNet everywhere</a:t>
            </a:r>
          </a:p>
        </p:txBody>
      </p:sp>
      <p:grpSp>
        <p:nvGrpSpPr>
          <p:cNvPr id="8" name="Group 8"/>
          <p:cNvGrpSpPr/>
          <p:nvPr/>
        </p:nvGrpSpPr>
        <p:grpSpPr>
          <a:xfrm>
            <a:off x="609600" y="1428750"/>
            <a:ext cx="10972800" cy="476250"/>
            <a:chOff x="609600" y="1428750"/>
            <a:chExt cx="10972800" cy="476250"/>
          </a:xfrm>
        </p:grpSpPr>
        <p:sp>
          <p:nvSpPr>
            <p:cNvPr id="5" name="Rectangle 5"/>
            <p:cNvSpPr/>
            <p:nvPr/>
          </p:nvSpPr>
          <p:spPr>
            <a:xfrm>
              <a:off x="609600" y="1428750"/>
              <a:ext cx="10972800" cy="476250"/>
            </a:xfrm>
            <a:prstGeom prst="roundRect">
              <a:avLst>
                <a:gd name="adj" fmla="val 28000"/>
              </a:avLst>
            </a:prstGeom>
            <a:solidFill>
              <a:schemeClr val="accent5"/>
            </a:solidFill>
            <a:ln w="14288">
              <a:solidFill>
                <a:srgbClr val="26455F"/>
              </a:solidFill>
            </a:ln>
          </p:spPr>
        </p:sp>
        <p:sp>
          <p:nvSpPr>
            <p:cNvPr id="6" name="Rectangle 6"/>
            <p:cNvSpPr/>
            <p:nvPr/>
          </p:nvSpPr>
          <p:spPr>
            <a:xfrm>
              <a:off x="609600" y="1428750"/>
              <a:ext cx="57150" cy="476250"/>
            </a:xfrm>
            <a:prstGeom prst="roundRect">
              <a:avLst>
                <a:gd name="adj" fmla="val 50000"/>
              </a:avLst>
            </a:prstGeom>
            <a:solidFill>
              <a:srgbClr val="48C78E"/>
            </a:solidFill>
            <a:ln>
              <a:noFill/>
            </a:ln>
          </p:spPr>
        </p:sp>
        <p:sp>
          <p:nvSpPr>
            <p:cNvPr id="7" name="TextBox 7"/>
            <p:cNvSpPr txBox="1"/>
            <p:nvPr/>
          </p:nvSpPr>
          <p:spPr>
            <a:xfrm>
              <a:off x="870014" y="1599962"/>
              <a:ext cx="9393581"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On every dataset tested, PatchRot pretraining tops both supervised-from-scratch and the RotNet baseline.</a:t>
              </a:r>
            </a:p>
          </p:txBody>
        </p:sp>
      </p:grpSp>
      <p:grpSp>
        <p:nvGrpSpPr>
          <p:cNvPr id="22" name="Group 22"/>
          <p:cNvGrpSpPr/>
          <p:nvPr/>
        </p:nvGrpSpPr>
        <p:grpSpPr>
          <a:xfrm>
            <a:off x="609600" y="2038350"/>
            <a:ext cx="5334000" cy="1809750"/>
            <a:chOff x="609600" y="2038350"/>
            <a:chExt cx="5334000" cy="1809750"/>
          </a:xfrm>
        </p:grpSpPr>
        <p:sp>
          <p:nvSpPr>
            <p:cNvPr id="9" name="Rectangle 9"/>
            <p:cNvSpPr/>
            <p:nvPr/>
          </p:nvSpPr>
          <p:spPr>
            <a:xfrm>
              <a:off x="609600" y="2038350"/>
              <a:ext cx="5334000" cy="1809750"/>
            </a:xfrm>
            <a:prstGeom prst="roundRect">
              <a:avLst>
                <a:gd name="adj" fmla="val 7368"/>
              </a:avLst>
            </a:prstGeom>
            <a:solidFill>
              <a:schemeClr val="accent5"/>
            </a:solidFill>
            <a:ln w="14288">
              <a:solidFill>
                <a:srgbClr val="26455F"/>
              </a:solidFill>
            </a:ln>
          </p:spPr>
        </p:sp>
        <p:sp>
          <p:nvSpPr>
            <p:cNvPr id="10" name="Rectangle 10"/>
            <p:cNvSpPr/>
            <p:nvPr/>
          </p:nvSpPr>
          <p:spPr>
            <a:xfrm>
              <a:off x="609600" y="2038350"/>
              <a:ext cx="57150" cy="1809750"/>
            </a:xfrm>
            <a:prstGeom prst="roundRect">
              <a:avLst>
                <a:gd name="adj" fmla="val 50000"/>
              </a:avLst>
            </a:prstGeom>
            <a:solidFill>
              <a:srgbClr val="34D3C0"/>
            </a:solidFill>
            <a:ln>
              <a:noFill/>
            </a:ln>
          </p:spPr>
        </p:sp>
        <p:sp>
          <p:nvSpPr>
            <p:cNvPr id="11" name="TextBox 11"/>
            <p:cNvSpPr txBox="1"/>
            <p:nvPr/>
          </p:nvSpPr>
          <p:spPr>
            <a:xfrm>
              <a:off x="870204" y="2251710"/>
              <a:ext cx="2786815"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CIFAR-10 top-1 · higher is better</a:t>
              </a:r>
            </a:p>
          </p:txBody>
        </p:sp>
        <p:sp>
          <p:nvSpPr>
            <p:cNvPr id="12" name="Rectangle 12"/>
            <p:cNvSpPr/>
            <p:nvPr/>
          </p:nvSpPr>
          <p:spPr>
            <a:xfrm>
              <a:off x="2857500" y="2647950"/>
              <a:ext cx="2381250" cy="285750"/>
            </a:xfrm>
            <a:prstGeom prst="roundRect">
              <a:avLst>
                <a:gd name="adj" fmla="val 20000"/>
              </a:avLst>
            </a:prstGeom>
            <a:solidFill>
              <a:srgbClr val="0E2334"/>
            </a:solidFill>
            <a:ln w="9525">
              <a:solidFill>
                <a:srgbClr val="26455F"/>
              </a:solidFill>
            </a:ln>
          </p:spPr>
        </p:sp>
        <p:sp>
          <p:nvSpPr>
            <p:cNvPr id="13" name="Rectangle 13"/>
            <p:cNvSpPr/>
            <p:nvPr/>
          </p:nvSpPr>
          <p:spPr>
            <a:xfrm>
              <a:off x="2857500" y="2647950"/>
              <a:ext cx="1990725" cy="285750"/>
            </a:xfrm>
            <a:prstGeom prst="roundRect">
              <a:avLst>
                <a:gd name="adj" fmla="val 20000"/>
              </a:avLst>
            </a:prstGeom>
            <a:solidFill>
              <a:srgbClr val="F2685C"/>
            </a:solidFill>
            <a:ln>
              <a:noFill/>
            </a:ln>
          </p:spPr>
        </p:sp>
        <p:sp>
          <p:nvSpPr>
            <p:cNvPr id="14" name="TextBox 14"/>
            <p:cNvSpPr txBox="1"/>
            <p:nvPr/>
          </p:nvSpPr>
          <p:spPr>
            <a:xfrm>
              <a:off x="1954258" y="2740343"/>
              <a:ext cx="79427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Supervised</a:t>
              </a:r>
            </a:p>
          </p:txBody>
        </p:sp>
        <p:sp>
          <p:nvSpPr>
            <p:cNvPr id="15" name="TextBox 15"/>
            <p:cNvSpPr txBox="1"/>
            <p:nvPr/>
          </p:nvSpPr>
          <p:spPr>
            <a:xfrm>
              <a:off x="4938141" y="2740343"/>
              <a:ext cx="448503"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83.9%</a:t>
              </a:r>
            </a:p>
          </p:txBody>
        </p:sp>
        <p:sp>
          <p:nvSpPr>
            <p:cNvPr id="16" name="Rectangle 16"/>
            <p:cNvSpPr/>
            <p:nvPr/>
          </p:nvSpPr>
          <p:spPr>
            <a:xfrm>
              <a:off x="2857500" y="3105150"/>
              <a:ext cx="2381250" cy="285750"/>
            </a:xfrm>
            <a:prstGeom prst="roundRect">
              <a:avLst>
                <a:gd name="adj" fmla="val 20000"/>
              </a:avLst>
            </a:prstGeom>
            <a:solidFill>
              <a:srgbClr val="0E2334"/>
            </a:solidFill>
            <a:ln w="9525">
              <a:solidFill>
                <a:srgbClr val="26455F"/>
              </a:solidFill>
            </a:ln>
          </p:spPr>
        </p:sp>
        <p:sp>
          <p:nvSpPr>
            <p:cNvPr id="17" name="Rectangle 17"/>
            <p:cNvSpPr/>
            <p:nvPr/>
          </p:nvSpPr>
          <p:spPr>
            <a:xfrm>
              <a:off x="2857500" y="3105150"/>
              <a:ext cx="2200275" cy="285750"/>
            </a:xfrm>
            <a:prstGeom prst="roundRect">
              <a:avLst>
                <a:gd name="adj" fmla="val 20000"/>
              </a:avLst>
            </a:prstGeom>
            <a:solidFill>
              <a:srgbClr val="48C78E"/>
            </a:solidFill>
            <a:ln>
              <a:noFill/>
            </a:ln>
          </p:spPr>
        </p:sp>
        <p:sp>
          <p:nvSpPr>
            <p:cNvPr id="18" name="TextBox 18"/>
            <p:cNvSpPr txBox="1"/>
            <p:nvPr/>
          </p:nvSpPr>
          <p:spPr>
            <a:xfrm>
              <a:off x="2075583" y="3197543"/>
              <a:ext cx="67295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PatchRot</a:t>
              </a:r>
            </a:p>
          </p:txBody>
        </p:sp>
        <p:sp>
          <p:nvSpPr>
            <p:cNvPr id="19" name="TextBox 19"/>
            <p:cNvSpPr txBox="1"/>
            <p:nvPr/>
          </p:nvSpPr>
          <p:spPr>
            <a:xfrm>
              <a:off x="5147691" y="3197543"/>
              <a:ext cx="448503"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92.6%</a:t>
              </a:r>
            </a:p>
          </p:txBody>
        </p:sp>
        <p:sp>
          <p:nvSpPr>
            <p:cNvPr id="20" name="Rectangle 20"/>
            <p:cNvSpPr/>
            <p:nvPr/>
          </p:nvSpPr>
          <p:spPr>
            <a:xfrm>
              <a:off x="876300" y="3467100"/>
              <a:ext cx="4800600" cy="266700"/>
            </a:xfrm>
            <a:prstGeom prst="roundRect">
              <a:avLst>
                <a:gd name="adj" fmla="val 28571"/>
              </a:avLst>
            </a:prstGeom>
            <a:solidFill>
              <a:srgbClr val="0F2E2B"/>
            </a:solidFill>
            <a:ln w="14288">
              <a:solidFill>
                <a:srgbClr val="34D3C0"/>
              </a:solidFill>
            </a:ln>
          </p:spPr>
        </p:sp>
        <p:sp>
          <p:nvSpPr>
            <p:cNvPr id="21" name="TextBox 21"/>
            <p:cNvSpPr txBox="1"/>
            <p:nvPr/>
          </p:nvSpPr>
          <p:spPr>
            <a:xfrm>
              <a:off x="1061466" y="3544252"/>
              <a:ext cx="2845462"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+8.7 points over training from scratch</a:t>
              </a:r>
            </a:p>
          </p:txBody>
        </p:sp>
      </p:grpSp>
      <p:grpSp>
        <p:nvGrpSpPr>
          <p:cNvPr id="38" name="Group 38"/>
          <p:cNvGrpSpPr/>
          <p:nvPr/>
        </p:nvGrpSpPr>
        <p:grpSpPr>
          <a:xfrm>
            <a:off x="6248400" y="2038350"/>
            <a:ext cx="5334000" cy="1809750"/>
            <a:chOff x="6248400" y="2038350"/>
            <a:chExt cx="5334000" cy="1809750"/>
          </a:xfrm>
        </p:grpSpPr>
        <p:sp>
          <p:nvSpPr>
            <p:cNvPr id="23" name="Rectangle 23"/>
            <p:cNvSpPr/>
            <p:nvPr/>
          </p:nvSpPr>
          <p:spPr>
            <a:xfrm>
              <a:off x="6248400" y="2038350"/>
              <a:ext cx="5334000" cy="1809750"/>
            </a:xfrm>
            <a:prstGeom prst="roundRect">
              <a:avLst>
                <a:gd name="adj" fmla="val 7368"/>
              </a:avLst>
            </a:prstGeom>
            <a:solidFill>
              <a:schemeClr val="accent5"/>
            </a:solidFill>
            <a:ln w="14288">
              <a:solidFill>
                <a:srgbClr val="26455F"/>
              </a:solidFill>
            </a:ln>
          </p:spPr>
        </p:sp>
        <p:sp>
          <p:nvSpPr>
            <p:cNvPr id="24" name="Rectangle 24"/>
            <p:cNvSpPr/>
            <p:nvPr/>
          </p:nvSpPr>
          <p:spPr>
            <a:xfrm>
              <a:off x="6248400" y="2038350"/>
              <a:ext cx="57150" cy="1809750"/>
            </a:xfrm>
            <a:prstGeom prst="roundRect">
              <a:avLst>
                <a:gd name="adj" fmla="val 50000"/>
              </a:avLst>
            </a:prstGeom>
            <a:solidFill>
              <a:srgbClr val="F2C14E"/>
            </a:solidFill>
            <a:ln>
              <a:noFill/>
            </a:ln>
          </p:spPr>
        </p:sp>
        <p:sp>
          <p:nvSpPr>
            <p:cNvPr id="25" name="TextBox 25"/>
            <p:cNvSpPr txBox="1"/>
            <p:nvPr/>
          </p:nvSpPr>
          <p:spPr>
            <a:xfrm>
              <a:off x="6509004" y="2251710"/>
              <a:ext cx="2670700"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CIFAR-100 &amp; FashionMNIST top-1</a:t>
              </a:r>
            </a:p>
          </p:txBody>
        </p:sp>
        <p:sp>
          <p:nvSpPr>
            <p:cNvPr id="26" name="Rectangle 26"/>
            <p:cNvSpPr/>
            <p:nvPr/>
          </p:nvSpPr>
          <p:spPr>
            <a:xfrm>
              <a:off x="8496300" y="2647950"/>
              <a:ext cx="2381250" cy="247650"/>
            </a:xfrm>
            <a:prstGeom prst="roundRect">
              <a:avLst>
                <a:gd name="adj" fmla="val 23077"/>
              </a:avLst>
            </a:prstGeom>
            <a:solidFill>
              <a:srgbClr val="0E2334"/>
            </a:solidFill>
            <a:ln w="9525">
              <a:solidFill>
                <a:srgbClr val="26455F"/>
              </a:solidFill>
            </a:ln>
          </p:spPr>
        </p:sp>
        <p:sp>
          <p:nvSpPr>
            <p:cNvPr id="27" name="Rectangle 27"/>
            <p:cNvSpPr/>
            <p:nvPr/>
          </p:nvSpPr>
          <p:spPr>
            <a:xfrm>
              <a:off x="8496300" y="2647950"/>
              <a:ext cx="1190625" cy="247650"/>
            </a:xfrm>
            <a:prstGeom prst="roundRect">
              <a:avLst>
                <a:gd name="adj" fmla="val 23077"/>
              </a:avLst>
            </a:prstGeom>
            <a:solidFill>
              <a:srgbClr val="F2685C"/>
            </a:solidFill>
            <a:ln>
              <a:noFill/>
            </a:ln>
          </p:spPr>
        </p:sp>
        <p:sp>
          <p:nvSpPr>
            <p:cNvPr id="28" name="TextBox 28"/>
            <p:cNvSpPr txBox="1"/>
            <p:nvPr/>
          </p:nvSpPr>
          <p:spPr>
            <a:xfrm>
              <a:off x="7214584" y="2712911"/>
              <a:ext cx="117275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C100 Supervised</a:t>
              </a:r>
            </a:p>
          </p:txBody>
        </p:sp>
        <p:sp>
          <p:nvSpPr>
            <p:cNvPr id="29" name="TextBox 29"/>
            <p:cNvSpPr txBox="1"/>
            <p:nvPr/>
          </p:nvSpPr>
          <p:spPr>
            <a:xfrm>
              <a:off x="9776841" y="2712911"/>
              <a:ext cx="448503"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50.2%</a:t>
              </a:r>
            </a:p>
          </p:txBody>
        </p:sp>
        <p:sp>
          <p:nvSpPr>
            <p:cNvPr id="30" name="Rectangle 30"/>
            <p:cNvSpPr/>
            <p:nvPr/>
          </p:nvSpPr>
          <p:spPr>
            <a:xfrm>
              <a:off x="8496300" y="3048000"/>
              <a:ext cx="2381250" cy="247650"/>
            </a:xfrm>
            <a:prstGeom prst="roundRect">
              <a:avLst>
                <a:gd name="adj" fmla="val 23077"/>
              </a:avLst>
            </a:prstGeom>
            <a:solidFill>
              <a:srgbClr val="0E2334"/>
            </a:solidFill>
            <a:ln w="9525">
              <a:solidFill>
                <a:srgbClr val="26455F"/>
              </a:solidFill>
            </a:ln>
          </p:spPr>
        </p:sp>
        <p:sp>
          <p:nvSpPr>
            <p:cNvPr id="31" name="Rectangle 31"/>
            <p:cNvSpPr/>
            <p:nvPr/>
          </p:nvSpPr>
          <p:spPr>
            <a:xfrm>
              <a:off x="8496300" y="3048000"/>
              <a:ext cx="1676400" cy="247650"/>
            </a:xfrm>
            <a:prstGeom prst="roundRect">
              <a:avLst>
                <a:gd name="adj" fmla="val 23077"/>
              </a:avLst>
            </a:prstGeom>
            <a:solidFill>
              <a:srgbClr val="48C78E"/>
            </a:solidFill>
            <a:ln>
              <a:noFill/>
            </a:ln>
          </p:spPr>
        </p:sp>
        <p:sp>
          <p:nvSpPr>
            <p:cNvPr id="32" name="TextBox 32"/>
            <p:cNvSpPr txBox="1"/>
            <p:nvPr/>
          </p:nvSpPr>
          <p:spPr>
            <a:xfrm>
              <a:off x="7333256" y="3112961"/>
              <a:ext cx="105407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C100 PatchRot</a:t>
              </a:r>
            </a:p>
          </p:txBody>
        </p:sp>
        <p:sp>
          <p:nvSpPr>
            <p:cNvPr id="33" name="TextBox 33"/>
            <p:cNvSpPr txBox="1"/>
            <p:nvPr/>
          </p:nvSpPr>
          <p:spPr>
            <a:xfrm>
              <a:off x="10262616" y="3112961"/>
              <a:ext cx="448503"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70.6%</a:t>
              </a:r>
            </a:p>
          </p:txBody>
        </p:sp>
        <p:sp>
          <p:nvSpPr>
            <p:cNvPr id="34" name="Rectangle 34"/>
            <p:cNvSpPr/>
            <p:nvPr/>
          </p:nvSpPr>
          <p:spPr>
            <a:xfrm>
              <a:off x="8496300" y="3448050"/>
              <a:ext cx="2381250" cy="247650"/>
            </a:xfrm>
            <a:prstGeom prst="roundRect">
              <a:avLst>
                <a:gd name="adj" fmla="val 23077"/>
              </a:avLst>
            </a:prstGeom>
            <a:solidFill>
              <a:srgbClr val="0E2334"/>
            </a:solidFill>
            <a:ln w="9525">
              <a:solidFill>
                <a:srgbClr val="26455F"/>
              </a:solidFill>
            </a:ln>
          </p:spPr>
        </p:sp>
        <p:sp>
          <p:nvSpPr>
            <p:cNvPr id="35" name="Rectangle 35"/>
            <p:cNvSpPr/>
            <p:nvPr/>
          </p:nvSpPr>
          <p:spPr>
            <a:xfrm>
              <a:off x="8496300" y="3448050"/>
              <a:ext cx="2238375" cy="247650"/>
            </a:xfrm>
            <a:prstGeom prst="roundRect">
              <a:avLst>
                <a:gd name="adj" fmla="val 23077"/>
              </a:avLst>
            </a:prstGeom>
            <a:solidFill>
              <a:schemeClr val="accent2"/>
            </a:solidFill>
            <a:ln>
              <a:noFill/>
            </a:ln>
          </p:spPr>
        </p:sp>
        <p:sp>
          <p:nvSpPr>
            <p:cNvPr id="36" name="TextBox 36"/>
            <p:cNvSpPr txBox="1"/>
            <p:nvPr/>
          </p:nvSpPr>
          <p:spPr>
            <a:xfrm>
              <a:off x="7158574" y="3513011"/>
              <a:ext cx="122876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FMNIST PatchRot</a:t>
              </a:r>
            </a:p>
          </p:txBody>
        </p:sp>
        <p:sp>
          <p:nvSpPr>
            <p:cNvPr id="37" name="TextBox 37"/>
            <p:cNvSpPr txBox="1"/>
            <p:nvPr/>
          </p:nvSpPr>
          <p:spPr>
            <a:xfrm>
              <a:off x="10824591" y="3513011"/>
              <a:ext cx="448503"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94.1%</a:t>
              </a:r>
            </a:p>
          </p:txBody>
        </p:sp>
      </p:grpSp>
      <p:grpSp>
        <p:nvGrpSpPr>
          <p:cNvPr id="47" name="Group 47"/>
          <p:cNvGrpSpPr/>
          <p:nvPr/>
        </p:nvGrpSpPr>
        <p:grpSpPr>
          <a:xfrm>
            <a:off x="609600" y="3981450"/>
            <a:ext cx="10972800" cy="1809750"/>
            <a:chOff x="609600" y="3981450"/>
            <a:chExt cx="10972800" cy="1809750"/>
          </a:xfrm>
        </p:grpSpPr>
        <p:sp>
          <p:nvSpPr>
            <p:cNvPr id="39" name="Rectangle 39"/>
            <p:cNvSpPr/>
            <p:nvPr/>
          </p:nvSpPr>
          <p:spPr>
            <a:xfrm>
              <a:off x="609600" y="3981450"/>
              <a:ext cx="10972800" cy="1809750"/>
            </a:xfrm>
            <a:prstGeom prst="roundRect">
              <a:avLst>
                <a:gd name="adj" fmla="val 7368"/>
              </a:avLst>
            </a:prstGeom>
            <a:solidFill>
              <a:schemeClr val="accent5"/>
            </a:solidFill>
            <a:ln w="14288">
              <a:solidFill>
                <a:srgbClr val="26455F"/>
              </a:solidFill>
            </a:ln>
          </p:spPr>
        </p:sp>
        <p:sp>
          <p:nvSpPr>
            <p:cNvPr id="40" name="Rectangle 40"/>
            <p:cNvSpPr/>
            <p:nvPr/>
          </p:nvSpPr>
          <p:spPr>
            <a:xfrm>
              <a:off x="609600" y="3981450"/>
              <a:ext cx="57150" cy="1809750"/>
            </a:xfrm>
            <a:prstGeom prst="roundRect">
              <a:avLst>
                <a:gd name="adj" fmla="val 50000"/>
              </a:avLst>
            </a:prstGeom>
            <a:solidFill>
              <a:schemeClr val="accent2"/>
            </a:solidFill>
            <a:ln>
              <a:noFill/>
            </a:ln>
          </p:spPr>
        </p:sp>
        <p:sp>
          <p:nvSpPr>
            <p:cNvPr id="41" name="TextBox 41"/>
            <p:cNvSpPr txBox="1"/>
            <p:nvPr/>
          </p:nvSpPr>
          <p:spPr>
            <a:xfrm>
              <a:off x="870014" y="4209812"/>
              <a:ext cx="394458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Even a frozen network learns useful features</a:t>
              </a:r>
            </a:p>
          </p:txBody>
        </p:sp>
        <p:sp>
          <p:nvSpPr>
            <p:cNvPr id="42" name="TextBox 42"/>
            <p:cNvSpPr txBox="1"/>
            <p:nvPr/>
          </p:nvSpPr>
          <p:spPr>
            <a:xfrm>
              <a:off x="870776" y="4530804"/>
              <a:ext cx="592935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With linear probing the whole network is frozen and only the final layer is trained,</a:t>
              </a:r>
            </a:p>
          </p:txBody>
        </p:sp>
        <p:sp>
          <p:nvSpPr>
            <p:cNvPr id="43" name="TextBox 43"/>
            <p:cNvSpPr txBox="1"/>
            <p:nvPr/>
          </p:nvSpPr>
          <p:spPr>
            <a:xfrm>
              <a:off x="870776" y="4740354"/>
              <a:ext cx="407563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yet accuracy gets close to full supervised performance.</a:t>
              </a:r>
            </a:p>
          </p:txBody>
        </p:sp>
        <p:sp>
          <p:nvSpPr>
            <p:cNvPr id="44" name="Rectangle 44"/>
            <p:cNvSpPr/>
            <p:nvPr/>
          </p:nvSpPr>
          <p:spPr>
            <a:xfrm>
              <a:off x="876300" y="5143500"/>
              <a:ext cx="10287000" cy="381000"/>
            </a:xfrm>
            <a:prstGeom prst="roundRect">
              <a:avLst>
                <a:gd name="adj" fmla="val 20000"/>
              </a:avLst>
            </a:prstGeom>
            <a:solidFill>
              <a:schemeClr val="accent6"/>
            </a:solidFill>
            <a:ln w="14288">
              <a:solidFill>
                <a:srgbClr val="26455F"/>
              </a:solidFill>
            </a:ln>
          </p:spPr>
        </p:sp>
        <p:sp>
          <p:nvSpPr>
            <p:cNvPr id="45" name="Ellipse 45"/>
            <p:cNvSpPr/>
            <p:nvPr/>
          </p:nvSpPr>
          <p:spPr>
            <a:xfrm>
              <a:off x="1000125" y="5286375"/>
              <a:ext cx="95250" cy="95250"/>
            </a:xfrm>
            <a:prstGeom prst="ellipse">
              <a:avLst/>
            </a:prstGeom>
            <a:solidFill>
              <a:schemeClr val="accent2"/>
            </a:solidFill>
            <a:ln>
              <a:noFill/>
            </a:ln>
          </p:spPr>
        </p:sp>
        <p:sp>
          <p:nvSpPr>
            <p:cNvPr id="46" name="TextBox 46"/>
            <p:cNvSpPr txBox="1"/>
            <p:nvPr/>
          </p:nvSpPr>
          <p:spPr>
            <a:xfrm>
              <a:off x="1194626" y="5273754"/>
              <a:ext cx="5670514"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Fine-tuning just a single encoder block already beats training from scratch</a:t>
              </a:r>
            </a:p>
          </p:txBody>
        </p:sp>
      </p:grpSp>
      <p:sp>
        <p:nvSpPr>
          <p:cNvPr id="48" name="TextBox 48"/>
          <p:cNvSpPr txBox="1"/>
          <p:nvPr/>
        </p:nvSpPr>
        <p:spPr>
          <a:xfrm>
            <a:off x="604266" y="6058852"/>
            <a:ext cx="5863531"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Strong features whether you fine-tune everything, one block, or nothing at all.</a:t>
            </a:r>
          </a:p>
        </p:txBody>
      </p:sp>
      <p:sp>
        <p:nvSpPr>
          <p:cNvPr id="49" name="cue_s07_c1_headline_result_patchrot_pretraining" title="cue_s07_c1_headline_result_patchrot_pretraining" descr="cue_s07_c1_headline_result_patchrot_pretraining The headline result is that PatchRot pretraining consistently outperforms both supervised training from scratch and the RotNet rotation baseline, on every dataset tested."/>
          <p:cNvSpPr/>
          <p:nvPr/>
        </p:nvSpPr>
        <p:spPr>
          <a:xfrm>
            <a:off x="609600" y="1428521"/>
            <a:ext cx="10972800" cy="475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7_c2_cifar_10_full_fine_tuning_patchrot_r" title="cue_s07_c2_cifar_10_full_fine_tuning_patchrot_r" descr="cue_s07_c2_cifar_10_full_fine_tuning_patchrot_r On CIFAR-10 with full fine-tuning, PatchRot reaches ninety-two point six percent top-one accuracy, compared to eighty-three point nine percent for supervised training from scratch."/>
          <p:cNvSpPr/>
          <p:nvPr/>
        </p:nvSpPr>
        <p:spPr>
          <a:xfrm>
            <a:off x="609600" y="2038197"/>
            <a:ext cx="5334000"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3_cifar_100_gap_even_larger_seventy" title="cue_s07_c3_cifar_100_gap_even_larger_seventy" descr="cue_s07_c3_cifar_100_gap_even_larger_seventy On CIFAR-100 the gap is even larger: seventy point six percent top-one versus fifty point two percent supervised, and ninety point two percent top-five. On FashionMNIST it improves ninety-four point one versus eighty-nine point eight."/>
          <p:cNvSpPr/>
          <p:nvPr/>
        </p:nvSpPr>
        <p:spPr>
          <a:xfrm>
            <a:off x="6248399" y="2038197"/>
            <a:ext cx="5334000"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7_c4_remarkably_even_linear_probing_where" title="cue_s07_c4_remarkably_even_linear_probing_where" descr="cue_s07_c4_remarkably_even_linear_probing_where Remarkably, even linear probing, where the entire network is frozen and only the final layer is trained, gets close to supervised performance, and fine-tuning just a single encoder block already beats training from scratch."/>
          <p:cNvSpPr/>
          <p:nvPr/>
        </p:nvSpPr>
        <p:spPr>
          <a:xfrm>
            <a:off x="609600" y="3981754"/>
            <a:ext cx="10972800" cy="18098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04248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Every component earns its place</a:t>
            </a:r>
          </a:p>
        </p:txBody>
      </p:sp>
      <p:grpSp>
        <p:nvGrpSpPr>
          <p:cNvPr id="11" name="Group 11"/>
          <p:cNvGrpSpPr/>
          <p:nvPr/>
        </p:nvGrpSpPr>
        <p:grpSpPr>
          <a:xfrm>
            <a:off x="609600" y="1504950"/>
            <a:ext cx="5334000" cy="1428750"/>
            <a:chOff x="609600" y="1504950"/>
            <a:chExt cx="5334000" cy="1428750"/>
          </a:xfrm>
        </p:grpSpPr>
        <p:sp>
          <p:nvSpPr>
            <p:cNvPr id="5" name="Rectangle 5"/>
            <p:cNvSpPr/>
            <p:nvPr/>
          </p:nvSpPr>
          <p:spPr>
            <a:xfrm>
              <a:off x="609600" y="1504950"/>
              <a:ext cx="53340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04950"/>
              <a:ext cx="57150" cy="1428750"/>
            </a:xfrm>
            <a:prstGeom prst="roundRect">
              <a:avLst>
                <a:gd name="adj" fmla="val 50000"/>
              </a:avLst>
            </a:prstGeom>
            <a:solidFill>
              <a:schemeClr val="accent2"/>
            </a:solidFill>
            <a:ln>
              <a:noFill/>
            </a:ln>
          </p:spPr>
        </p:sp>
        <p:sp>
          <p:nvSpPr>
            <p:cNvPr id="7" name="TextBox 7"/>
            <p:cNvSpPr txBox="1"/>
            <p:nvPr/>
          </p:nvSpPr>
          <p:spPr>
            <a:xfrm>
              <a:off x="870204" y="1737360"/>
              <a:ext cx="286968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CIFAR-10: drop one piece at a time</a:t>
              </a:r>
            </a:p>
          </p:txBody>
        </p:sp>
        <p:sp>
          <p:nvSpPr>
            <p:cNvPr id="8" name="TextBox 8"/>
            <p:cNvSpPr txBox="1"/>
            <p:nvPr/>
          </p:nvSpPr>
          <p:spPr>
            <a:xfrm>
              <a:off x="870776" y="2035254"/>
              <a:ext cx="39851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Training on patch rotations alone, without whole-image</a:t>
              </a:r>
            </a:p>
          </p:txBody>
        </p:sp>
        <p:sp>
          <p:nvSpPr>
            <p:cNvPr id="9" name="TextBox 9"/>
            <p:cNvSpPr txBox="1"/>
            <p:nvPr/>
          </p:nvSpPr>
          <p:spPr>
            <a:xfrm>
              <a:off x="870776" y="2244804"/>
              <a:ext cx="385552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rotation, drops accuracy to 91.8% because the model</a:t>
              </a:r>
            </a:p>
          </p:txBody>
        </p:sp>
        <p:sp>
          <p:nvSpPr>
            <p:cNvPr id="10" name="TextBox 10"/>
            <p:cNvSpPr txBox="1"/>
            <p:nvPr/>
          </p:nvSpPr>
          <p:spPr>
            <a:xfrm>
              <a:off x="870776" y="2454354"/>
              <a:ext cx="152242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loses global context.</a:t>
              </a:r>
            </a:p>
          </p:txBody>
        </p:sp>
      </p:grpSp>
      <p:grpSp>
        <p:nvGrpSpPr>
          <p:cNvPr id="29" name="Group 29"/>
          <p:cNvGrpSpPr/>
          <p:nvPr/>
        </p:nvGrpSpPr>
        <p:grpSpPr>
          <a:xfrm>
            <a:off x="609600" y="3086100"/>
            <a:ext cx="5334000" cy="2152650"/>
            <a:chOff x="609600" y="3086100"/>
            <a:chExt cx="5334000" cy="2152650"/>
          </a:xfrm>
        </p:grpSpPr>
        <p:sp>
          <p:nvSpPr>
            <p:cNvPr id="12" name="Rectangle 12"/>
            <p:cNvSpPr/>
            <p:nvPr/>
          </p:nvSpPr>
          <p:spPr>
            <a:xfrm>
              <a:off x="609600" y="3086100"/>
              <a:ext cx="5334000" cy="2152650"/>
            </a:xfrm>
            <a:prstGeom prst="roundRect">
              <a:avLst>
                <a:gd name="adj" fmla="val 6195"/>
              </a:avLst>
            </a:prstGeom>
            <a:solidFill>
              <a:schemeClr val="accent5"/>
            </a:solidFill>
            <a:ln w="14288">
              <a:solidFill>
                <a:srgbClr val="26455F"/>
              </a:solidFill>
            </a:ln>
          </p:spPr>
        </p:sp>
        <p:sp>
          <p:nvSpPr>
            <p:cNvPr id="13" name="Rectangle 13"/>
            <p:cNvSpPr/>
            <p:nvPr/>
          </p:nvSpPr>
          <p:spPr>
            <a:xfrm>
              <a:off x="609600" y="3086100"/>
              <a:ext cx="57150" cy="2152650"/>
            </a:xfrm>
            <a:prstGeom prst="roundRect">
              <a:avLst>
                <a:gd name="adj" fmla="val 50000"/>
              </a:avLst>
            </a:prstGeom>
            <a:solidFill>
              <a:srgbClr val="34D3C0"/>
            </a:solidFill>
            <a:ln>
              <a:noFill/>
            </a:ln>
          </p:spPr>
        </p:sp>
        <p:sp>
          <p:nvSpPr>
            <p:cNvPr id="14" name="TextBox 14"/>
            <p:cNvSpPr txBox="1"/>
            <p:nvPr/>
          </p:nvSpPr>
          <p:spPr>
            <a:xfrm>
              <a:off x="870776" y="3311604"/>
              <a:ext cx="249231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CIFAR-10 top-1 · variants vs full</a:t>
              </a:r>
            </a:p>
          </p:txBody>
        </p:sp>
        <p:sp>
          <p:nvSpPr>
            <p:cNvPr id="15" name="Rectangle 15"/>
            <p:cNvSpPr/>
            <p:nvPr/>
          </p:nvSpPr>
          <p:spPr>
            <a:xfrm>
              <a:off x="3143250" y="3695700"/>
              <a:ext cx="1714500" cy="266700"/>
            </a:xfrm>
            <a:prstGeom prst="roundRect">
              <a:avLst>
                <a:gd name="adj" fmla="val 21429"/>
              </a:avLst>
            </a:prstGeom>
            <a:solidFill>
              <a:srgbClr val="0E2334"/>
            </a:solidFill>
            <a:ln w="9525">
              <a:solidFill>
                <a:srgbClr val="26455F"/>
              </a:solidFill>
            </a:ln>
          </p:spPr>
        </p:sp>
        <p:sp>
          <p:nvSpPr>
            <p:cNvPr id="16" name="Rectangle 16"/>
            <p:cNvSpPr/>
            <p:nvPr/>
          </p:nvSpPr>
          <p:spPr>
            <a:xfrm>
              <a:off x="3143250" y="3695700"/>
              <a:ext cx="1676400" cy="266700"/>
            </a:xfrm>
            <a:prstGeom prst="roundRect">
              <a:avLst>
                <a:gd name="adj" fmla="val 21429"/>
              </a:avLst>
            </a:prstGeom>
            <a:solidFill>
              <a:srgbClr val="F2C14E"/>
            </a:solidFill>
            <a:ln>
              <a:noFill/>
            </a:ln>
          </p:spPr>
        </p:sp>
        <p:sp>
          <p:nvSpPr>
            <p:cNvPr id="17" name="TextBox 17"/>
            <p:cNvSpPr txBox="1"/>
            <p:nvPr/>
          </p:nvSpPr>
          <p:spPr>
            <a:xfrm>
              <a:off x="1575163" y="3774377"/>
              <a:ext cx="145912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Image only (RotNet)</a:t>
              </a:r>
            </a:p>
          </p:txBody>
        </p:sp>
        <p:sp>
          <p:nvSpPr>
            <p:cNvPr id="18" name="TextBox 18"/>
            <p:cNvSpPr txBox="1"/>
            <p:nvPr/>
          </p:nvSpPr>
          <p:spPr>
            <a:xfrm>
              <a:off x="4909566" y="3774377"/>
              <a:ext cx="448503"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91.0%</a:t>
              </a:r>
            </a:p>
          </p:txBody>
        </p:sp>
        <p:sp>
          <p:nvSpPr>
            <p:cNvPr id="19" name="Rectangle 19"/>
            <p:cNvSpPr/>
            <p:nvPr/>
          </p:nvSpPr>
          <p:spPr>
            <a:xfrm>
              <a:off x="3143250" y="4114800"/>
              <a:ext cx="1714500" cy="266700"/>
            </a:xfrm>
            <a:prstGeom prst="roundRect">
              <a:avLst>
                <a:gd name="adj" fmla="val 21429"/>
              </a:avLst>
            </a:prstGeom>
            <a:solidFill>
              <a:srgbClr val="0E2334"/>
            </a:solidFill>
            <a:ln w="9525">
              <a:solidFill>
                <a:srgbClr val="26455F"/>
              </a:solidFill>
            </a:ln>
          </p:spPr>
        </p:sp>
        <p:sp>
          <p:nvSpPr>
            <p:cNvPr id="20" name="Rectangle 20"/>
            <p:cNvSpPr/>
            <p:nvPr/>
          </p:nvSpPr>
          <p:spPr>
            <a:xfrm>
              <a:off x="3143250" y="4114800"/>
              <a:ext cx="1685925" cy="266700"/>
            </a:xfrm>
            <a:prstGeom prst="roundRect">
              <a:avLst>
                <a:gd name="adj" fmla="val 21429"/>
              </a:avLst>
            </a:prstGeom>
            <a:solidFill>
              <a:schemeClr val="accent2"/>
            </a:solidFill>
            <a:ln>
              <a:noFill/>
            </a:ln>
          </p:spPr>
        </p:sp>
        <p:sp>
          <p:nvSpPr>
            <p:cNvPr id="21" name="TextBox 21"/>
            <p:cNvSpPr txBox="1"/>
            <p:nvPr/>
          </p:nvSpPr>
          <p:spPr>
            <a:xfrm>
              <a:off x="2276856" y="4193477"/>
              <a:ext cx="75742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Patch only</a:t>
              </a:r>
            </a:p>
          </p:txBody>
        </p:sp>
        <p:sp>
          <p:nvSpPr>
            <p:cNvPr id="22" name="TextBox 22"/>
            <p:cNvSpPr txBox="1"/>
            <p:nvPr/>
          </p:nvSpPr>
          <p:spPr>
            <a:xfrm>
              <a:off x="4919091" y="4193477"/>
              <a:ext cx="448503"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91.8%</a:t>
              </a:r>
            </a:p>
          </p:txBody>
        </p:sp>
        <p:sp>
          <p:nvSpPr>
            <p:cNvPr id="23" name="Rectangle 23"/>
            <p:cNvSpPr/>
            <p:nvPr/>
          </p:nvSpPr>
          <p:spPr>
            <a:xfrm>
              <a:off x="3143250" y="4533900"/>
              <a:ext cx="1714500" cy="266700"/>
            </a:xfrm>
            <a:prstGeom prst="roundRect">
              <a:avLst>
                <a:gd name="adj" fmla="val 21429"/>
              </a:avLst>
            </a:prstGeom>
            <a:solidFill>
              <a:srgbClr val="0E2334"/>
            </a:solidFill>
            <a:ln w="9525">
              <a:solidFill>
                <a:srgbClr val="26455F"/>
              </a:solidFill>
            </a:ln>
          </p:spPr>
        </p:sp>
        <p:sp>
          <p:nvSpPr>
            <p:cNvPr id="24" name="Rectangle 24"/>
            <p:cNvSpPr/>
            <p:nvPr/>
          </p:nvSpPr>
          <p:spPr>
            <a:xfrm>
              <a:off x="3143250" y="4533900"/>
              <a:ext cx="1704975" cy="266700"/>
            </a:xfrm>
            <a:prstGeom prst="roundRect">
              <a:avLst>
                <a:gd name="adj" fmla="val 21429"/>
              </a:avLst>
            </a:prstGeom>
            <a:solidFill>
              <a:srgbClr val="48C78E"/>
            </a:solidFill>
            <a:ln>
              <a:noFill/>
            </a:ln>
          </p:spPr>
        </p:sp>
        <p:sp>
          <p:nvSpPr>
            <p:cNvPr id="25" name="TextBox 25"/>
            <p:cNvSpPr txBox="1"/>
            <p:nvPr/>
          </p:nvSpPr>
          <p:spPr>
            <a:xfrm>
              <a:off x="2060296" y="4612576"/>
              <a:ext cx="97398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Full PatchRot</a:t>
              </a:r>
            </a:p>
          </p:txBody>
        </p:sp>
        <p:sp>
          <p:nvSpPr>
            <p:cNvPr id="26" name="TextBox 26"/>
            <p:cNvSpPr txBox="1"/>
            <p:nvPr/>
          </p:nvSpPr>
          <p:spPr>
            <a:xfrm>
              <a:off x="4938141" y="4612576"/>
              <a:ext cx="448503"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92.6%</a:t>
              </a:r>
            </a:p>
          </p:txBody>
        </p:sp>
        <p:sp>
          <p:nvSpPr>
            <p:cNvPr id="27" name="Rectangle 27"/>
            <p:cNvSpPr/>
            <p:nvPr/>
          </p:nvSpPr>
          <p:spPr>
            <a:xfrm>
              <a:off x="876300" y="4857750"/>
              <a:ext cx="4800600" cy="266700"/>
            </a:xfrm>
            <a:prstGeom prst="roundRect">
              <a:avLst>
                <a:gd name="adj" fmla="val 28571"/>
              </a:avLst>
            </a:prstGeom>
            <a:solidFill>
              <a:srgbClr val="0F2E2B"/>
            </a:solidFill>
            <a:ln w="14288">
              <a:solidFill>
                <a:srgbClr val="34D3C0"/>
              </a:solidFill>
            </a:ln>
          </p:spPr>
        </p:sp>
        <p:sp>
          <p:nvSpPr>
            <p:cNvPr id="28" name="TextBox 28"/>
            <p:cNvSpPr txBox="1"/>
            <p:nvPr/>
          </p:nvSpPr>
          <p:spPr>
            <a:xfrm>
              <a:off x="1061466" y="4934902"/>
              <a:ext cx="2961541"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Global + local rotation beats either alone</a:t>
              </a:r>
            </a:p>
          </p:txBody>
        </p:sp>
      </p:grpSp>
      <p:grpSp>
        <p:nvGrpSpPr>
          <p:cNvPr id="42" name="Group 42"/>
          <p:cNvGrpSpPr/>
          <p:nvPr/>
        </p:nvGrpSpPr>
        <p:grpSpPr>
          <a:xfrm>
            <a:off x="6248400" y="1504950"/>
            <a:ext cx="5334000" cy="2324100"/>
            <a:chOff x="6248400" y="1504950"/>
            <a:chExt cx="5334000" cy="2324100"/>
          </a:xfrm>
        </p:grpSpPr>
        <p:sp>
          <p:nvSpPr>
            <p:cNvPr id="30" name="Rectangle 30"/>
            <p:cNvSpPr/>
            <p:nvPr/>
          </p:nvSpPr>
          <p:spPr>
            <a:xfrm>
              <a:off x="6248400" y="1504950"/>
              <a:ext cx="5334000" cy="2324100"/>
            </a:xfrm>
            <a:prstGeom prst="roundRect">
              <a:avLst>
                <a:gd name="adj" fmla="val 5738"/>
              </a:avLst>
            </a:prstGeom>
            <a:solidFill>
              <a:schemeClr val="accent5"/>
            </a:solidFill>
            <a:ln w="14288">
              <a:solidFill>
                <a:srgbClr val="26455F"/>
              </a:solidFill>
            </a:ln>
          </p:spPr>
        </p:sp>
        <p:sp>
          <p:nvSpPr>
            <p:cNvPr id="31" name="Rectangle 31"/>
            <p:cNvSpPr/>
            <p:nvPr/>
          </p:nvSpPr>
          <p:spPr>
            <a:xfrm>
              <a:off x="6248400" y="1504950"/>
              <a:ext cx="57150" cy="2324100"/>
            </a:xfrm>
            <a:prstGeom prst="roundRect">
              <a:avLst>
                <a:gd name="adj" fmla="val 50000"/>
              </a:avLst>
            </a:prstGeom>
            <a:solidFill>
              <a:srgbClr val="F2C14E"/>
            </a:solidFill>
            <a:ln>
              <a:noFill/>
            </a:ln>
          </p:spPr>
        </p:sp>
        <p:sp>
          <p:nvSpPr>
            <p:cNvPr id="32" name="TextBox 32"/>
            <p:cNvSpPr txBox="1"/>
            <p:nvPr/>
          </p:nvSpPr>
          <p:spPr>
            <a:xfrm>
              <a:off x="6509004" y="1737360"/>
              <a:ext cx="2816600"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Other design choices that matter</a:t>
              </a:r>
            </a:p>
          </p:txBody>
        </p:sp>
        <p:sp>
          <p:nvSpPr>
            <p:cNvPr id="33" name="Rectangle 33"/>
            <p:cNvSpPr/>
            <p:nvPr/>
          </p:nvSpPr>
          <p:spPr>
            <a:xfrm>
              <a:off x="6515100" y="2114550"/>
              <a:ext cx="4800600" cy="419100"/>
            </a:xfrm>
            <a:prstGeom prst="roundRect">
              <a:avLst>
                <a:gd name="adj" fmla="val 18182"/>
              </a:avLst>
            </a:prstGeom>
            <a:solidFill>
              <a:schemeClr val="accent6"/>
            </a:solidFill>
            <a:ln w="14288">
              <a:solidFill>
                <a:srgbClr val="26455F"/>
              </a:solidFill>
            </a:ln>
          </p:spPr>
        </p:sp>
        <p:sp>
          <p:nvSpPr>
            <p:cNvPr id="34" name="Ellipse 34"/>
            <p:cNvSpPr/>
            <p:nvPr/>
          </p:nvSpPr>
          <p:spPr>
            <a:xfrm>
              <a:off x="6638925" y="2276475"/>
              <a:ext cx="95250" cy="95250"/>
            </a:xfrm>
            <a:prstGeom prst="ellipse">
              <a:avLst/>
            </a:prstGeom>
            <a:solidFill>
              <a:srgbClr val="F2685C"/>
            </a:solidFill>
            <a:ln>
              <a:noFill/>
            </a:ln>
          </p:spPr>
        </p:sp>
        <p:sp>
          <p:nvSpPr>
            <p:cNvPr id="35" name="TextBox 35"/>
            <p:cNvSpPr txBox="1"/>
            <p:nvPr/>
          </p:nvSpPr>
          <p:spPr>
            <a:xfrm>
              <a:off x="6833426" y="2263854"/>
              <a:ext cx="402290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Rotate image + patches together (one pass) -&gt; hurts</a:t>
              </a:r>
            </a:p>
          </p:txBody>
        </p:sp>
        <p:sp>
          <p:nvSpPr>
            <p:cNvPr id="36" name="Rectangle 36"/>
            <p:cNvSpPr/>
            <p:nvPr/>
          </p:nvSpPr>
          <p:spPr>
            <a:xfrm>
              <a:off x="6515100" y="2647950"/>
              <a:ext cx="4800600" cy="419100"/>
            </a:xfrm>
            <a:prstGeom prst="roundRect">
              <a:avLst>
                <a:gd name="adj" fmla="val 18182"/>
              </a:avLst>
            </a:prstGeom>
            <a:solidFill>
              <a:schemeClr val="accent6"/>
            </a:solidFill>
            <a:ln w="14288">
              <a:solidFill>
                <a:srgbClr val="26455F"/>
              </a:solidFill>
            </a:ln>
          </p:spPr>
        </p:sp>
        <p:sp>
          <p:nvSpPr>
            <p:cNvPr id="37" name="Ellipse 37"/>
            <p:cNvSpPr/>
            <p:nvPr/>
          </p:nvSpPr>
          <p:spPr>
            <a:xfrm>
              <a:off x="6638925" y="2809875"/>
              <a:ext cx="95250" cy="95250"/>
            </a:xfrm>
            <a:prstGeom prst="ellipse">
              <a:avLst/>
            </a:prstGeom>
            <a:solidFill>
              <a:srgbClr val="F2685C"/>
            </a:solidFill>
            <a:ln>
              <a:noFill/>
            </a:ln>
          </p:spPr>
        </p:sp>
        <p:sp>
          <p:nvSpPr>
            <p:cNvPr id="38" name="TextBox 38"/>
            <p:cNvSpPr txBox="1"/>
            <p:nvPr/>
          </p:nvSpPr>
          <p:spPr>
            <a:xfrm>
              <a:off x="6833426" y="2797254"/>
              <a:ext cx="4183841"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Train at original instead of reduced resolution -&gt; hurts</a:t>
              </a:r>
            </a:p>
          </p:txBody>
        </p:sp>
        <p:sp>
          <p:nvSpPr>
            <p:cNvPr id="39" name="Rectangle 39"/>
            <p:cNvSpPr/>
            <p:nvPr/>
          </p:nvSpPr>
          <p:spPr>
            <a:xfrm>
              <a:off x="6515100" y="3181350"/>
              <a:ext cx="4800600" cy="419100"/>
            </a:xfrm>
            <a:prstGeom prst="roundRect">
              <a:avLst>
                <a:gd name="adj" fmla="val 18182"/>
              </a:avLst>
            </a:prstGeom>
            <a:solidFill>
              <a:schemeClr val="accent6"/>
            </a:solidFill>
            <a:ln w="14288">
              <a:solidFill>
                <a:srgbClr val="26455F"/>
              </a:solidFill>
            </a:ln>
          </p:spPr>
        </p:sp>
        <p:sp>
          <p:nvSpPr>
            <p:cNvPr id="40" name="Ellipse 40"/>
            <p:cNvSpPr/>
            <p:nvPr/>
          </p:nvSpPr>
          <p:spPr>
            <a:xfrm>
              <a:off x="6638925" y="3343275"/>
              <a:ext cx="95250" cy="95250"/>
            </a:xfrm>
            <a:prstGeom prst="ellipse">
              <a:avLst/>
            </a:prstGeom>
            <a:solidFill>
              <a:srgbClr val="F2685C"/>
            </a:solidFill>
            <a:ln>
              <a:noFill/>
            </a:ln>
          </p:spPr>
        </p:sp>
        <p:sp>
          <p:nvSpPr>
            <p:cNvPr id="41" name="TextBox 41"/>
            <p:cNvSpPr txBox="1"/>
            <p:nvPr/>
          </p:nvSpPr>
          <p:spPr>
            <a:xfrm>
              <a:off x="6833426" y="3330654"/>
              <a:ext cx="468473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Reuse existing head instead of dedicated patch heads -&gt; hurts</a:t>
              </a:r>
            </a:p>
          </p:txBody>
        </p:sp>
      </p:grpSp>
      <p:grpSp>
        <p:nvGrpSpPr>
          <p:cNvPr id="48" name="Group 48"/>
          <p:cNvGrpSpPr/>
          <p:nvPr/>
        </p:nvGrpSpPr>
        <p:grpSpPr>
          <a:xfrm>
            <a:off x="6248400" y="3981450"/>
            <a:ext cx="5334000" cy="1257300"/>
            <a:chOff x="6248400" y="3981450"/>
            <a:chExt cx="5334000" cy="1257300"/>
          </a:xfrm>
        </p:grpSpPr>
        <p:sp>
          <p:nvSpPr>
            <p:cNvPr id="43" name="Rectangle 43"/>
            <p:cNvSpPr/>
            <p:nvPr/>
          </p:nvSpPr>
          <p:spPr>
            <a:xfrm>
              <a:off x="6248400" y="3981450"/>
              <a:ext cx="5334000" cy="1257300"/>
            </a:xfrm>
            <a:prstGeom prst="roundRect">
              <a:avLst>
                <a:gd name="adj" fmla="val 10606"/>
              </a:avLst>
            </a:prstGeom>
            <a:solidFill>
              <a:srgbClr val="0F2E2B"/>
            </a:solidFill>
            <a:ln w="14288">
              <a:solidFill>
                <a:srgbClr val="48C78E"/>
              </a:solidFill>
            </a:ln>
          </p:spPr>
        </p:sp>
        <p:sp>
          <p:nvSpPr>
            <p:cNvPr id="44" name="Rectangle 44"/>
            <p:cNvSpPr/>
            <p:nvPr/>
          </p:nvSpPr>
          <p:spPr>
            <a:xfrm>
              <a:off x="6248400" y="3981450"/>
              <a:ext cx="57150" cy="1257300"/>
            </a:xfrm>
            <a:prstGeom prst="roundRect">
              <a:avLst>
                <a:gd name="adj" fmla="val 50000"/>
              </a:avLst>
            </a:prstGeom>
            <a:solidFill>
              <a:srgbClr val="48C78E"/>
            </a:solidFill>
            <a:ln>
              <a:noFill/>
            </a:ln>
          </p:spPr>
        </p:sp>
        <p:sp>
          <p:nvSpPr>
            <p:cNvPr id="45" name="TextBox 45"/>
            <p:cNvSpPr txBox="1"/>
            <p:nvPr/>
          </p:nvSpPr>
          <p:spPr>
            <a:xfrm>
              <a:off x="6508814" y="4209812"/>
              <a:ext cx="3278284"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All variants land below the full method</a:t>
              </a:r>
            </a:p>
          </p:txBody>
        </p:sp>
        <p:sp>
          <p:nvSpPr>
            <p:cNvPr id="46" name="TextBox 46"/>
            <p:cNvSpPr txBox="1"/>
            <p:nvPr/>
          </p:nvSpPr>
          <p:spPr>
            <a:xfrm>
              <a:off x="6509576" y="4530804"/>
              <a:ext cx="383906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Each falls under the full 92.6%, showing every design</a:t>
              </a:r>
            </a:p>
          </p:txBody>
        </p:sp>
        <p:sp>
          <p:nvSpPr>
            <p:cNvPr id="47" name="TextBox 47"/>
            <p:cNvSpPr txBox="1"/>
            <p:nvPr/>
          </p:nvSpPr>
          <p:spPr>
            <a:xfrm>
              <a:off x="6509576" y="4740354"/>
              <a:ext cx="155911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decision contributes.</a:t>
              </a:r>
            </a:p>
          </p:txBody>
        </p:sp>
      </p:grpSp>
      <p:sp>
        <p:nvSpPr>
          <p:cNvPr id="49" name="cue_s08_c1_ablation_study_cifar_10_confirms_eve" title="cue_s08_c1_ablation_study_cifar_10_confirms_eve" descr="cue_s08_c1_ablation_study_cifar_10_confirms_eve The ablation study on CIFAR-10 confirms that every component of PatchRot matters. Training on patch rotations alone, without whole-image rotation, drops accuracy to ninety-one point eight percent because the model loses global context."/>
          <p:cNvSpPr/>
          <p:nvPr/>
        </p:nvSpPr>
        <p:spPr>
          <a:xfrm>
            <a:off x="609600"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2_only_image_rotation_essentially_rotn" title="cue_s08_c2_only_image_rotation_essentially_rotn" descr="cue_s08_c2_only_image_rotation_essentially_rotn Using only image rotation, essentially the RotNet approach adapted to a transformer, drops it to ninety-one point zero."/>
          <p:cNvSpPr/>
          <p:nvPr/>
        </p:nvSpPr>
        <p:spPr>
          <a:xfrm>
            <a:off x="609600" y="30861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3_rotating_image_its_patches_together" title="cue_s08_c3_rotating_image_its_patches_together" descr="cue_s08_c3_rotating_image_its_patches_together Rotating the image and its patches together in a single pass, rather than in separate passes, hurts performance, as does training at the original resolution instead of the reduced resolution, and reusing the existing head instead of adding dedicated patch head"/>
          <p:cNvSpPr/>
          <p:nvPr/>
        </p:nvSpPr>
        <p:spPr>
          <a:xfrm>
            <a:off x="6248399" y="1504645"/>
            <a:ext cx="5334000" cy="23241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4_these_lands_below_full_method" title="cue_s08_c4_these_lands_below_full_method" descr="cue_s08_c4_these_lands_below_full_method Each of these lands below the full method's ninety-two point six percent, showing every design decision contributes."/>
          <p:cNvSpPr/>
          <p:nvPr/>
        </p:nvSpPr>
        <p:spPr>
          <a:xfrm>
            <a:off x="6248399" y="3981754"/>
            <a:ext cx="53340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6747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results in one place</a:t>
            </a:r>
          </a:p>
        </p:txBody>
      </p:sp>
      <p:grpSp>
        <p:nvGrpSpPr>
          <p:cNvPr id="21" name="Group 21"/>
          <p:cNvGrpSpPr/>
          <p:nvPr/>
        </p:nvGrpSpPr>
        <p:grpSpPr>
          <a:xfrm>
            <a:off x="609600" y="1600200"/>
            <a:ext cx="10972800" cy="1396603"/>
            <a:chOff x="609600" y="1600200"/>
            <a:chExt cx="10972800" cy="1396603"/>
          </a:xfrm>
        </p:grpSpPr>
        <p:sp>
          <p:nvSpPr>
            <p:cNvPr id="5" name="Rectangle 5"/>
            <p:cNvSpPr/>
            <p:nvPr/>
          </p:nvSpPr>
          <p:spPr>
            <a:xfrm>
              <a:off x="609600" y="1600200"/>
              <a:ext cx="10972800" cy="1390650"/>
            </a:xfrm>
            <a:prstGeom prst="roundRect">
              <a:avLst>
                <a:gd name="adj" fmla="val 9589"/>
              </a:avLst>
            </a:prstGeom>
            <a:solidFill>
              <a:schemeClr val="accent5"/>
            </a:solidFill>
            <a:ln w="14288">
              <a:solidFill>
                <a:srgbClr val="26455F"/>
              </a:solidFill>
            </a:ln>
          </p:spPr>
        </p:sp>
        <p:sp>
          <p:nvSpPr>
            <p:cNvPr id="6" name="Rectangle 6"/>
            <p:cNvSpPr/>
            <p:nvPr/>
          </p:nvSpPr>
          <p:spPr>
            <a:xfrm>
              <a:off x="609600" y="1600200"/>
              <a:ext cx="57150" cy="1390650"/>
            </a:xfrm>
            <a:prstGeom prst="roundRect">
              <a:avLst>
                <a:gd name="adj" fmla="val 50000"/>
              </a:avLst>
            </a:prstGeom>
            <a:solidFill>
              <a:srgbClr val="48C78E"/>
            </a:solidFill>
            <a:ln>
              <a:noFill/>
            </a:ln>
          </p:spPr>
        </p:sp>
        <p:sp>
          <p:nvSpPr>
            <p:cNvPr id="7" name="TextBox 7"/>
            <p:cNvSpPr txBox="1"/>
            <p:nvPr/>
          </p:nvSpPr>
          <p:spPr>
            <a:xfrm>
              <a:off x="870014" y="1828562"/>
              <a:ext cx="3362777"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CIFAR-10 · +8.7 points over supervised</a:t>
              </a:r>
            </a:p>
          </p:txBody>
        </p:sp>
        <p:sp>
          <p:nvSpPr>
            <p:cNvPr id="8" name="Rectangle 8"/>
            <p:cNvSpPr/>
            <p:nvPr/>
          </p:nvSpPr>
          <p:spPr>
            <a:xfrm>
              <a:off x="876300" y="2133600"/>
              <a:ext cx="2000250" cy="723900"/>
            </a:xfrm>
            <a:prstGeom prst="roundRect">
              <a:avLst>
                <a:gd name="adj" fmla="val 15789"/>
              </a:avLst>
            </a:prstGeom>
            <a:solidFill>
              <a:schemeClr val="accent6"/>
            </a:solidFill>
            <a:ln w="14288">
              <a:solidFill>
                <a:srgbClr val="26455F"/>
              </a:solidFill>
            </a:ln>
          </p:spPr>
        </p:sp>
        <p:sp>
          <p:nvSpPr>
            <p:cNvPr id="9" name="TextBox 9"/>
            <p:cNvSpPr txBox="1"/>
            <p:nvPr/>
          </p:nvSpPr>
          <p:spPr>
            <a:xfrm>
              <a:off x="1395886" y="2424112"/>
              <a:ext cx="961077" cy="440055"/>
            </a:xfrm>
            <a:prstGeom prst="rect">
              <a:avLst/>
            </a:prstGeom>
            <a:noFill/>
            <a:ln>
              <a:noFill/>
            </a:ln>
          </p:spPr>
          <p:txBody>
            <a:bodyPr wrap="none" lIns="0" tIns="0" rIns="0" bIns="0" anchor="t" anchorCtr="0">
              <a:spAutoFit/>
            </a:bodyPr>
            <a:lstStyle/>
            <a:p>
              <a:pPr algn="ctr"/>
              <a:r>
                <a:rPr lang="en-US" sz="2250" b="1" dirty="0">
                  <a:solidFill>
                    <a:srgbClr val="F2685C"/>
                  </a:solidFill>
                  <a:latin typeface="+mn-lt"/>
                  <a:ea typeface="+mn-ea"/>
                  <a:cs typeface="+mn-cs"/>
                </a:rPr>
                <a:t>83.9%</a:t>
              </a:r>
            </a:p>
          </p:txBody>
        </p:sp>
        <p:sp>
          <p:nvSpPr>
            <p:cNvPr id="10" name="TextBox 10"/>
            <p:cNvSpPr txBox="1"/>
            <p:nvPr/>
          </p:nvSpPr>
          <p:spPr>
            <a:xfrm>
              <a:off x="1520905" y="2813447"/>
              <a:ext cx="71104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Supervised</a:t>
              </a:r>
            </a:p>
          </p:txBody>
        </p:sp>
        <p:sp>
          <p:nvSpPr>
            <p:cNvPr id="11" name="TextBox 11"/>
            <p:cNvSpPr txBox="1"/>
            <p:nvPr/>
          </p:nvSpPr>
          <p:spPr>
            <a:xfrm>
              <a:off x="2880698" y="2328862"/>
              <a:ext cx="372704" cy="440055"/>
            </a:xfrm>
            <a:prstGeom prst="rect">
              <a:avLst/>
            </a:prstGeom>
            <a:noFill/>
            <a:ln>
              <a:noFill/>
            </a:ln>
          </p:spPr>
          <p:txBody>
            <a:bodyPr wrap="none" lIns="0" tIns="0" rIns="0" bIns="0" anchor="t" anchorCtr="0">
              <a:spAutoFit/>
            </a:bodyPr>
            <a:lstStyle/>
            <a:p>
              <a:pPr algn="ctr"/>
              <a:r>
                <a:rPr lang="en-US" sz="2250" b="1" dirty="0">
                  <a:solidFill>
                    <a:schemeClr val="dk2"/>
                  </a:solidFill>
                  <a:latin typeface="+mn-lt"/>
                  <a:ea typeface="+mn-ea"/>
                  <a:cs typeface="+mn-cs"/>
                </a:rPr>
                <a:t>-&gt;</a:t>
              </a:r>
            </a:p>
          </p:txBody>
        </p:sp>
        <p:sp>
          <p:nvSpPr>
            <p:cNvPr id="12" name="Rectangle 12"/>
            <p:cNvSpPr/>
            <p:nvPr/>
          </p:nvSpPr>
          <p:spPr>
            <a:xfrm>
              <a:off x="3352800" y="2133600"/>
              <a:ext cx="2000250" cy="723900"/>
            </a:xfrm>
            <a:prstGeom prst="roundRect">
              <a:avLst>
                <a:gd name="adj" fmla="val 15789"/>
              </a:avLst>
            </a:prstGeom>
            <a:solidFill>
              <a:schemeClr val="accent6"/>
            </a:solidFill>
            <a:ln w="14288">
              <a:solidFill>
                <a:srgbClr val="26455F"/>
              </a:solidFill>
            </a:ln>
          </p:spPr>
        </p:sp>
        <p:sp>
          <p:nvSpPr>
            <p:cNvPr id="13" name="TextBox 13"/>
            <p:cNvSpPr txBox="1"/>
            <p:nvPr/>
          </p:nvSpPr>
          <p:spPr>
            <a:xfrm>
              <a:off x="3872386" y="2424112"/>
              <a:ext cx="961077"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92.6%</a:t>
              </a:r>
            </a:p>
          </p:txBody>
        </p:sp>
        <p:sp>
          <p:nvSpPr>
            <p:cNvPr id="14" name="TextBox 14"/>
            <p:cNvSpPr txBox="1"/>
            <p:nvPr/>
          </p:nvSpPr>
          <p:spPr>
            <a:xfrm>
              <a:off x="4051712" y="2813447"/>
              <a:ext cx="60242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PatchRot</a:t>
              </a:r>
            </a:p>
          </p:txBody>
        </p:sp>
        <p:sp>
          <p:nvSpPr>
            <p:cNvPr id="15" name="Rectangle 15"/>
            <p:cNvSpPr/>
            <p:nvPr/>
          </p:nvSpPr>
          <p:spPr>
            <a:xfrm>
              <a:off x="5715000" y="2133600"/>
              <a:ext cx="2190750" cy="723900"/>
            </a:xfrm>
            <a:prstGeom prst="roundRect">
              <a:avLst>
                <a:gd name="adj" fmla="val 15789"/>
              </a:avLst>
            </a:prstGeom>
            <a:solidFill>
              <a:schemeClr val="accent6"/>
            </a:solidFill>
            <a:ln w="14288">
              <a:solidFill>
                <a:srgbClr val="26455F"/>
              </a:solidFill>
            </a:ln>
          </p:spPr>
        </p:sp>
        <p:sp>
          <p:nvSpPr>
            <p:cNvPr id="16" name="TextBox 16"/>
            <p:cNvSpPr txBox="1"/>
            <p:nvPr/>
          </p:nvSpPr>
          <p:spPr>
            <a:xfrm>
              <a:off x="6139013" y="2424112"/>
              <a:ext cx="1342725"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+8.7 pts</a:t>
              </a:r>
            </a:p>
          </p:txBody>
        </p:sp>
        <p:sp>
          <p:nvSpPr>
            <p:cNvPr id="17" name="TextBox 17"/>
            <p:cNvSpPr txBox="1"/>
            <p:nvPr/>
          </p:nvSpPr>
          <p:spPr>
            <a:xfrm>
              <a:off x="6473438" y="2813447"/>
              <a:ext cx="67387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top-1 gain</a:t>
              </a:r>
            </a:p>
          </p:txBody>
        </p:sp>
        <p:sp>
          <p:nvSpPr>
            <p:cNvPr id="18" name="Rectangle 18"/>
            <p:cNvSpPr/>
            <p:nvPr/>
          </p:nvSpPr>
          <p:spPr>
            <a:xfrm>
              <a:off x="8115300" y="2133600"/>
              <a:ext cx="3467100" cy="723900"/>
            </a:xfrm>
            <a:prstGeom prst="roundRect">
              <a:avLst>
                <a:gd name="adj" fmla="val 15789"/>
              </a:avLst>
            </a:prstGeom>
            <a:solidFill>
              <a:schemeClr val="accent6"/>
            </a:solidFill>
            <a:ln w="14288">
              <a:solidFill>
                <a:srgbClr val="26455F"/>
              </a:solidFill>
            </a:ln>
          </p:spPr>
        </p:sp>
        <p:sp>
          <p:nvSpPr>
            <p:cNvPr id="19" name="TextBox 19"/>
            <p:cNvSpPr txBox="1"/>
            <p:nvPr/>
          </p:nvSpPr>
          <p:spPr>
            <a:xfrm>
              <a:off x="8300466" y="2286952"/>
              <a:ext cx="22910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large lift from self-supervised</a:t>
              </a:r>
            </a:p>
          </p:txBody>
        </p:sp>
        <p:sp>
          <p:nvSpPr>
            <p:cNvPr id="20" name="TextBox 20"/>
            <p:cNvSpPr txBox="1"/>
            <p:nvPr/>
          </p:nvSpPr>
          <p:spPr>
            <a:xfrm>
              <a:off x="8300466" y="2477452"/>
              <a:ext cx="150192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rotation pretraining.</a:t>
              </a:r>
            </a:p>
          </p:txBody>
        </p:sp>
      </p:grpSp>
      <p:grpSp>
        <p:nvGrpSpPr>
          <p:cNvPr id="32" name="Group 32"/>
          <p:cNvGrpSpPr/>
          <p:nvPr/>
        </p:nvGrpSpPr>
        <p:grpSpPr>
          <a:xfrm>
            <a:off x="609600" y="3143250"/>
            <a:ext cx="5334000" cy="2095500"/>
            <a:chOff x="609600" y="3143250"/>
            <a:chExt cx="5334000" cy="2095500"/>
          </a:xfrm>
        </p:grpSpPr>
        <p:sp>
          <p:nvSpPr>
            <p:cNvPr id="22" name="Rectangle 22"/>
            <p:cNvSpPr/>
            <p:nvPr/>
          </p:nvSpPr>
          <p:spPr>
            <a:xfrm>
              <a:off x="609600" y="3143250"/>
              <a:ext cx="5334000" cy="2095500"/>
            </a:xfrm>
            <a:prstGeom prst="roundRect">
              <a:avLst>
                <a:gd name="adj" fmla="val 6364"/>
              </a:avLst>
            </a:prstGeom>
            <a:solidFill>
              <a:srgbClr val="2A2417"/>
            </a:solidFill>
            <a:ln w="14288">
              <a:solidFill>
                <a:srgbClr val="F2C14E"/>
              </a:solidFill>
            </a:ln>
          </p:spPr>
        </p:sp>
        <p:sp>
          <p:nvSpPr>
            <p:cNvPr id="23" name="Rectangle 23"/>
            <p:cNvSpPr/>
            <p:nvPr/>
          </p:nvSpPr>
          <p:spPr>
            <a:xfrm>
              <a:off x="609600" y="3143250"/>
              <a:ext cx="57150" cy="2095500"/>
            </a:xfrm>
            <a:prstGeom prst="roundRect">
              <a:avLst>
                <a:gd name="adj" fmla="val 50000"/>
              </a:avLst>
            </a:prstGeom>
            <a:solidFill>
              <a:srgbClr val="F2C14E"/>
            </a:solidFill>
            <a:ln>
              <a:noFill/>
            </a:ln>
          </p:spPr>
        </p:sp>
        <p:sp>
          <p:nvSpPr>
            <p:cNvPr id="24" name="TextBox 24"/>
            <p:cNvSpPr txBox="1"/>
            <p:nvPr/>
          </p:nvSpPr>
          <p:spPr>
            <a:xfrm>
              <a:off x="870014" y="3371612"/>
              <a:ext cx="2396647"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CIFAR-100 · over +20 points</a:t>
              </a:r>
            </a:p>
          </p:txBody>
        </p:sp>
        <p:sp>
          <p:nvSpPr>
            <p:cNvPr id="25" name="Rectangle 25"/>
            <p:cNvSpPr/>
            <p:nvPr/>
          </p:nvSpPr>
          <p:spPr>
            <a:xfrm>
              <a:off x="876300" y="3695700"/>
              <a:ext cx="2381250" cy="990600"/>
            </a:xfrm>
            <a:prstGeom prst="roundRect">
              <a:avLst>
                <a:gd name="adj" fmla="val 11538"/>
              </a:avLst>
            </a:prstGeom>
            <a:solidFill>
              <a:schemeClr val="accent6"/>
            </a:solidFill>
            <a:ln w="14288">
              <a:solidFill>
                <a:srgbClr val="26455F"/>
              </a:solidFill>
            </a:ln>
          </p:spPr>
        </p:sp>
        <p:sp>
          <p:nvSpPr>
            <p:cNvPr id="26" name="TextBox 26"/>
            <p:cNvSpPr txBox="1"/>
            <p:nvPr/>
          </p:nvSpPr>
          <p:spPr>
            <a:xfrm>
              <a:off x="1586386" y="3986212"/>
              <a:ext cx="961077" cy="440055"/>
            </a:xfrm>
            <a:prstGeom prst="rect">
              <a:avLst/>
            </a:prstGeom>
            <a:noFill/>
            <a:ln>
              <a:noFill/>
            </a:ln>
          </p:spPr>
          <p:txBody>
            <a:bodyPr wrap="none" lIns="0" tIns="0" rIns="0" bIns="0" anchor="t" anchorCtr="0">
              <a:spAutoFit/>
            </a:bodyPr>
            <a:lstStyle/>
            <a:p>
              <a:pPr algn="ctr"/>
              <a:r>
                <a:rPr lang="en-US" sz="2250" b="1" dirty="0">
                  <a:solidFill>
                    <a:srgbClr val="F2685C"/>
                  </a:solidFill>
                  <a:latin typeface="+mn-lt"/>
                  <a:ea typeface="+mn-ea"/>
                  <a:cs typeface="+mn-cs"/>
                </a:rPr>
                <a:t>50.2%</a:t>
              </a:r>
            </a:p>
          </p:txBody>
        </p:sp>
        <p:sp>
          <p:nvSpPr>
            <p:cNvPr id="27" name="TextBox 27"/>
            <p:cNvSpPr txBox="1"/>
            <p:nvPr/>
          </p:nvSpPr>
          <p:spPr>
            <a:xfrm>
              <a:off x="1508351" y="4375547"/>
              <a:ext cx="1117147"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Supervised top-1</a:t>
              </a:r>
            </a:p>
          </p:txBody>
        </p:sp>
        <p:sp>
          <p:nvSpPr>
            <p:cNvPr id="28" name="Rectangle 28"/>
            <p:cNvSpPr/>
            <p:nvPr/>
          </p:nvSpPr>
          <p:spPr>
            <a:xfrm>
              <a:off x="3524250" y="3695700"/>
              <a:ext cx="2381250" cy="990600"/>
            </a:xfrm>
            <a:prstGeom prst="roundRect">
              <a:avLst>
                <a:gd name="adj" fmla="val 11538"/>
              </a:avLst>
            </a:prstGeom>
            <a:solidFill>
              <a:schemeClr val="accent6"/>
            </a:solidFill>
            <a:ln w="14288">
              <a:solidFill>
                <a:srgbClr val="26455F"/>
              </a:solidFill>
            </a:ln>
          </p:spPr>
        </p:sp>
        <p:sp>
          <p:nvSpPr>
            <p:cNvPr id="29" name="TextBox 29"/>
            <p:cNvSpPr txBox="1"/>
            <p:nvPr/>
          </p:nvSpPr>
          <p:spPr>
            <a:xfrm>
              <a:off x="4234336" y="3986212"/>
              <a:ext cx="961077"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70.6%</a:t>
              </a:r>
            </a:p>
          </p:txBody>
        </p:sp>
        <p:sp>
          <p:nvSpPr>
            <p:cNvPr id="30" name="TextBox 30"/>
            <p:cNvSpPr txBox="1"/>
            <p:nvPr/>
          </p:nvSpPr>
          <p:spPr>
            <a:xfrm>
              <a:off x="4210078" y="4375547"/>
              <a:ext cx="100959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PatchRot top-1</a:t>
              </a:r>
            </a:p>
          </p:txBody>
        </p:sp>
        <p:sp>
          <p:nvSpPr>
            <p:cNvPr id="31" name="TextBox 31"/>
            <p:cNvSpPr txBox="1"/>
            <p:nvPr/>
          </p:nvSpPr>
          <p:spPr>
            <a:xfrm>
              <a:off x="870966" y="4953952"/>
              <a:ext cx="2966717"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And 90.2% top-5 accuracy on CIFAR-100.</a:t>
              </a:r>
            </a:p>
          </p:txBody>
        </p:sp>
      </p:grpSp>
      <p:grpSp>
        <p:nvGrpSpPr>
          <p:cNvPr id="42" name="Group 42"/>
          <p:cNvGrpSpPr/>
          <p:nvPr/>
        </p:nvGrpSpPr>
        <p:grpSpPr>
          <a:xfrm>
            <a:off x="6248400" y="3143250"/>
            <a:ext cx="5334000" cy="990600"/>
            <a:chOff x="6248400" y="3143250"/>
            <a:chExt cx="5334000" cy="990600"/>
          </a:xfrm>
        </p:grpSpPr>
        <p:sp>
          <p:nvSpPr>
            <p:cNvPr id="33" name="Rectangle 33"/>
            <p:cNvSpPr/>
            <p:nvPr/>
          </p:nvSpPr>
          <p:spPr>
            <a:xfrm>
              <a:off x="6248400" y="3143250"/>
              <a:ext cx="5334000" cy="990600"/>
            </a:xfrm>
            <a:prstGeom prst="roundRect">
              <a:avLst>
                <a:gd name="adj" fmla="val 13462"/>
              </a:avLst>
            </a:prstGeom>
            <a:solidFill>
              <a:schemeClr val="accent5"/>
            </a:solidFill>
            <a:ln w="14288">
              <a:solidFill>
                <a:srgbClr val="26455F"/>
              </a:solidFill>
            </a:ln>
          </p:spPr>
        </p:sp>
        <p:sp>
          <p:nvSpPr>
            <p:cNvPr id="34" name="Rectangle 34"/>
            <p:cNvSpPr/>
            <p:nvPr/>
          </p:nvSpPr>
          <p:spPr>
            <a:xfrm>
              <a:off x="6248400" y="3143250"/>
              <a:ext cx="57150" cy="990600"/>
            </a:xfrm>
            <a:prstGeom prst="roundRect">
              <a:avLst>
                <a:gd name="adj" fmla="val 50000"/>
              </a:avLst>
            </a:prstGeom>
            <a:solidFill>
              <a:schemeClr val="accent2"/>
            </a:solidFill>
            <a:ln>
              <a:noFill/>
            </a:ln>
          </p:spPr>
        </p:sp>
        <p:sp>
          <p:nvSpPr>
            <p:cNvPr id="35" name="TextBox 35"/>
            <p:cNvSpPr txBox="1"/>
            <p:nvPr/>
          </p:nvSpPr>
          <p:spPr>
            <a:xfrm>
              <a:off x="6509194" y="3360658"/>
              <a:ext cx="2406312" cy="227362"/>
            </a:xfrm>
            <a:prstGeom prst="rect">
              <a:avLst/>
            </a:prstGeom>
            <a:noFill/>
            <a:ln>
              <a:noFill/>
            </a:ln>
          </p:spPr>
          <p:txBody>
            <a:bodyPr wrap="none" lIns="0" tIns="0" rIns="0" bIns="0" anchor="t" anchorCtr="0">
              <a:spAutoFit/>
            </a:bodyPr>
            <a:lstStyle/>
            <a:p>
              <a:pPr algn="l"/>
              <a:r>
                <a:rPr lang="en-US" sz="1160" b="1" dirty="0">
                  <a:solidFill>
                    <a:schemeClr val="accent2"/>
                  </a:solidFill>
                  <a:latin typeface="+mn-lt"/>
                  <a:ea typeface="+mn-ea"/>
                  <a:cs typeface="+mn-cs"/>
                </a:rPr>
                <a:t>FashionMNIST &amp; Tiny-ImageNet</a:t>
              </a:r>
            </a:p>
          </p:txBody>
        </p:sp>
        <p:sp>
          <p:nvSpPr>
            <p:cNvPr id="36" name="Rectangle 36"/>
            <p:cNvSpPr/>
            <p:nvPr/>
          </p:nvSpPr>
          <p:spPr>
            <a:xfrm>
              <a:off x="6515100" y="3600450"/>
              <a:ext cx="2400300" cy="476250"/>
            </a:xfrm>
            <a:prstGeom prst="roundRect">
              <a:avLst>
                <a:gd name="adj" fmla="val 20000"/>
              </a:avLst>
            </a:prstGeom>
            <a:solidFill>
              <a:schemeClr val="accent6"/>
            </a:solidFill>
            <a:ln w="14288">
              <a:solidFill>
                <a:srgbClr val="26455F"/>
              </a:solidFill>
            </a:ln>
          </p:spPr>
        </p:sp>
        <p:sp>
          <p:nvSpPr>
            <p:cNvPr id="37" name="TextBox 37"/>
            <p:cNvSpPr txBox="1"/>
            <p:nvPr/>
          </p:nvSpPr>
          <p:spPr>
            <a:xfrm>
              <a:off x="7330819" y="3653790"/>
              <a:ext cx="768862"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94.1%</a:t>
              </a:r>
            </a:p>
          </p:txBody>
        </p:sp>
        <p:sp>
          <p:nvSpPr>
            <p:cNvPr id="38" name="TextBox 38"/>
            <p:cNvSpPr txBox="1"/>
            <p:nvPr/>
          </p:nvSpPr>
          <p:spPr>
            <a:xfrm>
              <a:off x="7129319" y="3897868"/>
              <a:ext cx="1171863"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FashionMNIST top-1</a:t>
              </a:r>
            </a:p>
          </p:txBody>
        </p:sp>
        <p:sp>
          <p:nvSpPr>
            <p:cNvPr id="39" name="Rectangle 39"/>
            <p:cNvSpPr/>
            <p:nvPr/>
          </p:nvSpPr>
          <p:spPr>
            <a:xfrm>
              <a:off x="9163050" y="3600450"/>
              <a:ext cx="2419350" cy="476250"/>
            </a:xfrm>
            <a:prstGeom prst="roundRect">
              <a:avLst>
                <a:gd name="adj" fmla="val 20000"/>
              </a:avLst>
            </a:prstGeom>
            <a:solidFill>
              <a:schemeClr val="accent6"/>
            </a:solidFill>
            <a:ln w="14288">
              <a:solidFill>
                <a:srgbClr val="26455F"/>
              </a:solidFill>
            </a:ln>
          </p:spPr>
        </p:sp>
        <p:sp>
          <p:nvSpPr>
            <p:cNvPr id="40" name="TextBox 40"/>
            <p:cNvSpPr txBox="1"/>
            <p:nvPr/>
          </p:nvSpPr>
          <p:spPr>
            <a:xfrm>
              <a:off x="9988294" y="3653790"/>
              <a:ext cx="768862"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73.4%</a:t>
              </a:r>
            </a:p>
          </p:txBody>
        </p:sp>
        <p:sp>
          <p:nvSpPr>
            <p:cNvPr id="41" name="TextBox 41"/>
            <p:cNvSpPr txBox="1"/>
            <p:nvPr/>
          </p:nvSpPr>
          <p:spPr>
            <a:xfrm>
              <a:off x="9759419" y="3897868"/>
              <a:ext cx="1226612"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Tiny-ImageNet top-5</a:t>
              </a:r>
            </a:p>
          </p:txBody>
        </p:sp>
      </p:grpSp>
      <p:grpSp>
        <p:nvGrpSpPr>
          <p:cNvPr id="52" name="Group 52"/>
          <p:cNvGrpSpPr/>
          <p:nvPr/>
        </p:nvGrpSpPr>
        <p:grpSpPr>
          <a:xfrm>
            <a:off x="6248400" y="4248150"/>
            <a:ext cx="5334000" cy="990600"/>
            <a:chOff x="6248400" y="4248150"/>
            <a:chExt cx="5334000" cy="990600"/>
          </a:xfrm>
        </p:grpSpPr>
        <p:sp>
          <p:nvSpPr>
            <p:cNvPr id="43" name="Rectangle 43"/>
            <p:cNvSpPr/>
            <p:nvPr/>
          </p:nvSpPr>
          <p:spPr>
            <a:xfrm>
              <a:off x="6248400" y="4248150"/>
              <a:ext cx="5334000" cy="990600"/>
            </a:xfrm>
            <a:prstGeom prst="roundRect">
              <a:avLst>
                <a:gd name="adj" fmla="val 13462"/>
              </a:avLst>
            </a:prstGeom>
            <a:solidFill>
              <a:srgbClr val="0F2E2B"/>
            </a:solidFill>
            <a:ln w="14288">
              <a:solidFill>
                <a:srgbClr val="48C78E"/>
              </a:solidFill>
            </a:ln>
          </p:spPr>
        </p:sp>
        <p:sp>
          <p:nvSpPr>
            <p:cNvPr id="44" name="Rectangle 44"/>
            <p:cNvSpPr/>
            <p:nvPr/>
          </p:nvSpPr>
          <p:spPr>
            <a:xfrm>
              <a:off x="6248400" y="4248150"/>
              <a:ext cx="57150" cy="990600"/>
            </a:xfrm>
            <a:prstGeom prst="roundRect">
              <a:avLst>
                <a:gd name="adj" fmla="val 50000"/>
              </a:avLst>
            </a:prstGeom>
            <a:solidFill>
              <a:srgbClr val="48C78E"/>
            </a:solidFill>
            <a:ln>
              <a:noFill/>
            </a:ln>
          </p:spPr>
        </p:sp>
        <p:sp>
          <p:nvSpPr>
            <p:cNvPr id="45" name="TextBox 45"/>
            <p:cNvSpPr txBox="1"/>
            <p:nvPr/>
          </p:nvSpPr>
          <p:spPr>
            <a:xfrm>
              <a:off x="6509194" y="4465558"/>
              <a:ext cx="2960245" cy="227362"/>
            </a:xfrm>
            <a:prstGeom prst="rect">
              <a:avLst/>
            </a:prstGeom>
            <a:noFill/>
            <a:ln>
              <a:noFill/>
            </a:ln>
          </p:spPr>
          <p:txBody>
            <a:bodyPr wrap="none" lIns="0" tIns="0" rIns="0" bIns="0" anchor="t" anchorCtr="0">
              <a:spAutoFit/>
            </a:bodyPr>
            <a:lstStyle/>
            <a:p>
              <a:pPr algn="l"/>
              <a:r>
                <a:rPr lang="en-US" sz="1160" b="1" dirty="0">
                  <a:solidFill>
                    <a:srgbClr val="48C78E"/>
                  </a:solidFill>
                  <a:latin typeface="+mn-lt"/>
                  <a:ea typeface="+mn-ea"/>
                  <a:cs typeface="+mn-cs"/>
                </a:rPr>
                <a:t>Semi-supervised CIFAR-10 · 4k labels</a:t>
              </a:r>
            </a:p>
          </p:txBody>
        </p:sp>
        <p:sp>
          <p:nvSpPr>
            <p:cNvPr id="46" name="Rectangle 46"/>
            <p:cNvSpPr/>
            <p:nvPr/>
          </p:nvSpPr>
          <p:spPr>
            <a:xfrm>
              <a:off x="6515100" y="4705350"/>
              <a:ext cx="2400300" cy="457200"/>
            </a:xfrm>
            <a:prstGeom prst="roundRect">
              <a:avLst>
                <a:gd name="adj" fmla="val 20833"/>
              </a:avLst>
            </a:prstGeom>
            <a:solidFill>
              <a:schemeClr val="accent6"/>
            </a:solidFill>
            <a:ln w="14288">
              <a:solidFill>
                <a:srgbClr val="26455F"/>
              </a:solidFill>
            </a:ln>
          </p:spPr>
        </p:sp>
        <p:sp>
          <p:nvSpPr>
            <p:cNvPr id="47" name="TextBox 47"/>
            <p:cNvSpPr txBox="1"/>
            <p:nvPr/>
          </p:nvSpPr>
          <p:spPr>
            <a:xfrm>
              <a:off x="7426993" y="4764976"/>
              <a:ext cx="576514" cy="322707"/>
            </a:xfrm>
            <a:prstGeom prst="rect">
              <a:avLst/>
            </a:prstGeom>
            <a:noFill/>
            <a:ln>
              <a:noFill/>
            </a:ln>
          </p:spPr>
          <p:txBody>
            <a:bodyPr wrap="none" lIns="0" tIns="0" rIns="0" bIns="0" anchor="t" anchorCtr="0">
              <a:spAutoFit/>
            </a:bodyPr>
            <a:lstStyle/>
            <a:p>
              <a:pPr algn="ctr"/>
              <a:r>
                <a:rPr lang="en-US" sz="1650" b="1" dirty="0">
                  <a:solidFill>
                    <a:srgbClr val="F2685C"/>
                  </a:solidFill>
                  <a:latin typeface="+mn-lt"/>
                  <a:ea typeface="+mn-ea"/>
                  <a:cs typeface="+mn-cs"/>
                </a:rPr>
                <a:t>~54%</a:t>
              </a:r>
            </a:p>
          </p:txBody>
        </p:sp>
        <p:sp>
          <p:nvSpPr>
            <p:cNvPr id="48" name="TextBox 48"/>
            <p:cNvSpPr txBox="1"/>
            <p:nvPr/>
          </p:nvSpPr>
          <p:spPr>
            <a:xfrm>
              <a:off x="7389581" y="4983718"/>
              <a:ext cx="651337"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Supervised</a:t>
              </a:r>
            </a:p>
          </p:txBody>
        </p:sp>
        <p:sp>
          <p:nvSpPr>
            <p:cNvPr id="49" name="Rectangle 49"/>
            <p:cNvSpPr/>
            <p:nvPr/>
          </p:nvSpPr>
          <p:spPr>
            <a:xfrm>
              <a:off x="9163050" y="4705350"/>
              <a:ext cx="2419350" cy="457200"/>
            </a:xfrm>
            <a:prstGeom prst="roundRect">
              <a:avLst>
                <a:gd name="adj" fmla="val 20833"/>
              </a:avLst>
            </a:prstGeom>
            <a:solidFill>
              <a:schemeClr val="accent6"/>
            </a:solidFill>
            <a:ln w="14288">
              <a:solidFill>
                <a:srgbClr val="26455F"/>
              </a:solidFill>
            </a:ln>
          </p:spPr>
        </p:sp>
        <p:sp>
          <p:nvSpPr>
            <p:cNvPr id="50" name="TextBox 50"/>
            <p:cNvSpPr txBox="1"/>
            <p:nvPr/>
          </p:nvSpPr>
          <p:spPr>
            <a:xfrm>
              <a:off x="10148606" y="4764976"/>
              <a:ext cx="448238" cy="322707"/>
            </a:xfrm>
            <a:prstGeom prst="rect">
              <a:avLst/>
            </a:prstGeom>
            <a:noFill/>
            <a:ln>
              <a:noFill/>
            </a:ln>
          </p:spPr>
          <p:txBody>
            <a:bodyPr wrap="none" lIns="0" tIns="0" rIns="0" bIns="0" anchor="t" anchorCtr="0">
              <a:spAutoFit/>
            </a:bodyPr>
            <a:lstStyle/>
            <a:p>
              <a:pPr algn="ctr"/>
              <a:r>
                <a:rPr lang="en-US" sz="1650" b="1" dirty="0">
                  <a:solidFill>
                    <a:srgbClr val="48C78E"/>
                  </a:solidFill>
                  <a:latin typeface="+mn-lt"/>
                  <a:ea typeface="+mn-ea"/>
                  <a:cs typeface="+mn-cs"/>
                </a:rPr>
                <a:t>81%</a:t>
              </a:r>
            </a:p>
          </p:txBody>
        </p:sp>
        <p:sp>
          <p:nvSpPr>
            <p:cNvPr id="51" name="TextBox 51"/>
            <p:cNvSpPr txBox="1"/>
            <p:nvPr/>
          </p:nvSpPr>
          <p:spPr>
            <a:xfrm>
              <a:off x="10096742" y="4983718"/>
              <a:ext cx="551966"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PatchRot</a:t>
              </a:r>
            </a:p>
          </p:txBody>
        </p:sp>
      </p:grpSp>
      <p:sp>
        <p:nvSpPr>
          <p:cNvPr id="53" name="cue_s09_c1_numbers_tell_clear_story_cifar_10" title="cue_s09_c1_numbers_tell_clear_story_cifar_10" descr="cue_s09_c1_numbers_tell_clear_story_cifar_10 The numbers tell a clear story. On CIFAR-10, PatchRot reaches ninety-two point six percent top-one accuracy, an improvement of eight point seven points over supervised training from scratch."/>
          <p:cNvSpPr/>
          <p:nvPr/>
        </p:nvSpPr>
        <p:spPr>
          <a:xfrm>
            <a:off x="609600" y="1599971"/>
            <a:ext cx="10972800" cy="139628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9_c2_cifar_100_improvement_over_twenty_po" title="cue_s09_c2_cifar_100_improvement_over_twenty_po" descr="cue_s09_c2_cifar_100_improvement_over_twenty_po On CIFAR-100 the improvement is over twenty points, from fifty point two to seventy point six percent top-one, and ninety point two percent top-five."/>
          <p:cNvSpPr/>
          <p:nvPr/>
        </p:nvSpPr>
        <p:spPr>
          <a:xfrm>
            <a:off x="609600" y="3143021"/>
            <a:ext cx="5334000"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9_c3_fashionmnist_improves_ninety_four_po" title="cue_s09_c3_fashionmnist_improves_ninety_four_po" descr="cue_s09_c3_fashionmnist_improves_ninety_four_po FashionMNIST improves to ninety-four point one percent and Tiny-ImageNet's top-five rises to seventy-three point four percent."/>
          <p:cNvSpPr/>
          <p:nvPr/>
        </p:nvSpPr>
        <p:spPr>
          <a:xfrm>
            <a:off x="6248399" y="3143021"/>
            <a:ext cx="5334000"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9_c4_semi_supervised_setting_only_four_th" title="cue_s09_c4_semi_supervised_setting_only_four_th" descr="cue_s09_c4_semi_supervised_setting_only_four_th In the semi-supervised setting with only four thousand labeled CIFAR-10 images, PatchRot reaches eighty-one percent accuracy, versus roughly fifty-four percent for supervised training on the same labels, showing how valuable the self-supervised features are wh"/>
          <p:cNvSpPr/>
          <p:nvPr/>
        </p:nvSpPr>
        <p:spPr>
          <a:xfrm>
            <a:off x="6248399" y="4247845"/>
            <a:ext cx="5334000"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585994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simple rotation task, made for ViTs</a:t>
            </a:r>
          </a:p>
        </p:txBody>
      </p:sp>
      <p:grpSp>
        <p:nvGrpSpPr>
          <p:cNvPr id="11" name="Group 11"/>
          <p:cNvGrpSpPr/>
          <p:nvPr/>
        </p:nvGrpSpPr>
        <p:grpSpPr>
          <a:xfrm>
            <a:off x="609600" y="1676400"/>
            <a:ext cx="10972800" cy="1104900"/>
            <a:chOff x="609600" y="1676400"/>
            <a:chExt cx="10972800" cy="1104900"/>
          </a:xfrm>
        </p:grpSpPr>
        <p:sp>
          <p:nvSpPr>
            <p:cNvPr id="5" name="Rectangle 5"/>
            <p:cNvSpPr/>
            <p:nvPr/>
          </p:nvSpPr>
          <p:spPr>
            <a:xfrm>
              <a:off x="609600" y="1676400"/>
              <a:ext cx="10972800" cy="1104900"/>
            </a:xfrm>
            <a:prstGeom prst="roundRect">
              <a:avLst>
                <a:gd name="adj" fmla="val 12069"/>
              </a:avLst>
            </a:prstGeom>
            <a:solidFill>
              <a:schemeClr val="accent5"/>
            </a:solidFill>
            <a:ln w="14288">
              <a:solidFill>
                <a:srgbClr val="26455F"/>
              </a:solidFill>
            </a:ln>
          </p:spPr>
        </p:sp>
        <p:sp>
          <p:nvSpPr>
            <p:cNvPr id="6" name="Rectangle 6"/>
            <p:cNvSpPr/>
            <p:nvPr/>
          </p:nvSpPr>
          <p:spPr>
            <a:xfrm>
              <a:off x="609600" y="1676400"/>
              <a:ext cx="57150" cy="1104900"/>
            </a:xfrm>
            <a:prstGeom prst="roundRect">
              <a:avLst>
                <a:gd name="adj" fmla="val 50000"/>
              </a:avLst>
            </a:prstGeom>
            <a:solidFill>
              <a:schemeClr val="accent2"/>
            </a:solidFill>
            <a:ln>
              <a:noFill/>
            </a:ln>
          </p:spPr>
        </p:sp>
        <p:sp>
          <p:nvSpPr>
            <p:cNvPr id="7" name="Ellipse 7"/>
            <p:cNvSpPr/>
            <p:nvPr/>
          </p:nvSpPr>
          <p:spPr>
            <a:xfrm>
              <a:off x="971550" y="2133600"/>
              <a:ext cx="190500" cy="190500"/>
            </a:xfrm>
            <a:prstGeom prst="ellipse">
              <a:avLst/>
            </a:prstGeom>
            <a:solidFill>
              <a:schemeClr val="accent2"/>
            </a:solidFill>
            <a:ln>
              <a:noFill/>
            </a:ln>
          </p:spPr>
        </p:sp>
        <p:sp>
          <p:nvSpPr>
            <p:cNvPr id="8" name="TextBox 8"/>
            <p:cNvSpPr txBox="1"/>
            <p:nvPr/>
          </p:nvSpPr>
          <p:spPr>
            <a:xfrm>
              <a:off x="1421511" y="1960721"/>
              <a:ext cx="174717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very simple idea</a:t>
              </a:r>
            </a:p>
          </p:txBody>
        </p:sp>
        <p:sp>
          <p:nvSpPr>
            <p:cNvPr id="9" name="TextBox 9"/>
            <p:cNvSpPr txBox="1"/>
            <p:nvPr/>
          </p:nvSpPr>
          <p:spPr>
            <a:xfrm>
              <a:off x="1422844" y="2293858"/>
              <a:ext cx="656784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Predicting the rotation of both the whole image and each individual patch turns out to</a:t>
              </a:r>
            </a:p>
          </p:txBody>
        </p:sp>
        <p:sp>
          <p:nvSpPr>
            <p:cNvPr id="10" name="TextBox 10"/>
            <p:cNvSpPr txBox="1"/>
            <p:nvPr/>
          </p:nvSpPr>
          <p:spPr>
            <a:xfrm>
              <a:off x="1422844" y="2522458"/>
              <a:ext cx="516506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be a self-supervised task perfectly suited to vision transformers.</a:t>
              </a:r>
            </a:p>
          </p:txBody>
        </p:sp>
      </p:grpSp>
      <p:grpSp>
        <p:nvGrpSpPr>
          <p:cNvPr id="20" name="Group 20"/>
          <p:cNvGrpSpPr/>
          <p:nvPr/>
        </p:nvGrpSpPr>
        <p:grpSpPr>
          <a:xfrm>
            <a:off x="609600" y="2933700"/>
            <a:ext cx="10972800" cy="1530620"/>
            <a:chOff x="609600" y="2933700"/>
            <a:chExt cx="10972800" cy="1530620"/>
          </a:xfrm>
        </p:grpSpPr>
        <p:sp>
          <p:nvSpPr>
            <p:cNvPr id="12" name="Rectangle 12"/>
            <p:cNvSpPr/>
            <p:nvPr/>
          </p:nvSpPr>
          <p:spPr>
            <a:xfrm>
              <a:off x="609600" y="2933700"/>
              <a:ext cx="10972800" cy="1104900"/>
            </a:xfrm>
            <a:prstGeom prst="roundRect">
              <a:avLst>
                <a:gd name="adj" fmla="val 12069"/>
              </a:avLst>
            </a:prstGeom>
            <a:solidFill>
              <a:schemeClr val="accent5"/>
            </a:solidFill>
            <a:ln w="14288">
              <a:solidFill>
                <a:srgbClr val="26455F"/>
              </a:solidFill>
            </a:ln>
          </p:spPr>
        </p:sp>
        <p:sp>
          <p:nvSpPr>
            <p:cNvPr id="13" name="Rectangle 13"/>
            <p:cNvSpPr/>
            <p:nvPr/>
          </p:nvSpPr>
          <p:spPr>
            <a:xfrm>
              <a:off x="609600" y="2933700"/>
              <a:ext cx="57150" cy="1104900"/>
            </a:xfrm>
            <a:prstGeom prst="roundRect">
              <a:avLst>
                <a:gd name="adj" fmla="val 50000"/>
              </a:avLst>
            </a:prstGeom>
            <a:solidFill>
              <a:srgbClr val="34D3C0"/>
            </a:solidFill>
            <a:ln>
              <a:noFill/>
            </a:ln>
          </p:spPr>
        </p:sp>
        <p:sp>
          <p:nvSpPr>
            <p:cNvPr id="14" name="Ellipse 14"/>
            <p:cNvSpPr/>
            <p:nvPr/>
          </p:nvSpPr>
          <p:spPr>
            <a:xfrm>
              <a:off x="971550" y="3390900"/>
              <a:ext cx="190500" cy="190500"/>
            </a:xfrm>
            <a:prstGeom prst="ellipse">
              <a:avLst/>
            </a:prstGeom>
            <a:solidFill>
              <a:srgbClr val="34D3C0"/>
            </a:solidFill>
            <a:ln>
              <a:noFill/>
            </a:ln>
          </p:spPr>
        </p:sp>
        <p:sp>
          <p:nvSpPr>
            <p:cNvPr id="15" name="TextBox 15"/>
            <p:cNvSpPr txBox="1"/>
            <p:nvPr/>
          </p:nvSpPr>
          <p:spPr>
            <a:xfrm>
              <a:off x="1421511" y="3218021"/>
              <a:ext cx="249972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Global and local, no labels</a:t>
              </a:r>
            </a:p>
          </p:txBody>
        </p:sp>
        <p:sp>
          <p:nvSpPr>
            <p:cNvPr id="16" name="TextBox 16"/>
            <p:cNvSpPr txBox="1"/>
            <p:nvPr/>
          </p:nvSpPr>
          <p:spPr>
            <a:xfrm>
              <a:off x="1422844" y="3551158"/>
              <a:ext cx="6200863"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class token learns global structure and the patch heads learn local detail, so</a:t>
              </a:r>
            </a:p>
          </p:txBody>
        </p:sp>
        <p:sp>
          <p:nvSpPr>
            <p:cNvPr id="17" name="TextBox 17"/>
            <p:cNvSpPr txBox="1"/>
            <p:nvPr/>
          </p:nvSpPr>
          <p:spPr>
            <a:xfrm>
              <a:off x="1422844" y="3779758"/>
              <a:ext cx="510471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PatchRot builds rich features without any labels and reliably beats</a:t>
              </a:r>
            </a:p>
          </p:txBody>
        </p:sp>
        <p:sp>
          <p:nvSpPr>
            <p:cNvPr id="18" name="TextBox 18"/>
            <p:cNvSpPr txBox="1"/>
            <p:nvPr/>
          </p:nvSpPr>
          <p:spPr>
            <a:xfrm>
              <a:off x="1422844" y="4008358"/>
              <a:ext cx="683902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supervised-from-scratch and RotNet across four datasets, in transfer, and when labels</a:t>
              </a:r>
            </a:p>
          </p:txBody>
        </p:sp>
        <p:sp>
          <p:nvSpPr>
            <p:cNvPr id="19" name="TextBox 19"/>
            <p:cNvSpPr txBox="1"/>
            <p:nvPr/>
          </p:nvSpPr>
          <p:spPr>
            <a:xfrm>
              <a:off x="1422844" y="4236958"/>
              <a:ext cx="91753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are scarce.</a:t>
              </a:r>
            </a:p>
          </p:txBody>
        </p:sp>
      </p:grpSp>
      <p:grpSp>
        <p:nvGrpSpPr>
          <p:cNvPr id="27" name="Group 27"/>
          <p:cNvGrpSpPr/>
          <p:nvPr/>
        </p:nvGrpSpPr>
        <p:grpSpPr>
          <a:xfrm>
            <a:off x="609600" y="4191000"/>
            <a:ext cx="10972800" cy="1104900"/>
            <a:chOff x="609600" y="4191000"/>
            <a:chExt cx="10972800" cy="1104900"/>
          </a:xfrm>
        </p:grpSpPr>
        <p:sp>
          <p:nvSpPr>
            <p:cNvPr id="21" name="Rectangle 21"/>
            <p:cNvSpPr/>
            <p:nvPr/>
          </p:nvSpPr>
          <p:spPr>
            <a:xfrm>
              <a:off x="609600" y="4191000"/>
              <a:ext cx="10972800" cy="1104900"/>
            </a:xfrm>
            <a:prstGeom prst="roundRect">
              <a:avLst>
                <a:gd name="adj" fmla="val 12069"/>
              </a:avLst>
            </a:prstGeom>
            <a:solidFill>
              <a:schemeClr val="accent5"/>
            </a:solidFill>
            <a:ln w="14288">
              <a:solidFill>
                <a:srgbClr val="26455F"/>
              </a:solidFill>
            </a:ln>
          </p:spPr>
        </p:sp>
        <p:sp>
          <p:nvSpPr>
            <p:cNvPr id="22" name="Rectangle 22"/>
            <p:cNvSpPr/>
            <p:nvPr/>
          </p:nvSpPr>
          <p:spPr>
            <a:xfrm>
              <a:off x="609600" y="4191000"/>
              <a:ext cx="57150" cy="1104900"/>
            </a:xfrm>
            <a:prstGeom prst="roundRect">
              <a:avLst>
                <a:gd name="adj" fmla="val 50000"/>
              </a:avLst>
            </a:prstGeom>
            <a:solidFill>
              <a:srgbClr val="48C78E"/>
            </a:solidFill>
            <a:ln>
              <a:noFill/>
            </a:ln>
          </p:spPr>
        </p:sp>
        <p:sp>
          <p:nvSpPr>
            <p:cNvPr id="23" name="Ellipse 23"/>
            <p:cNvSpPr/>
            <p:nvPr/>
          </p:nvSpPr>
          <p:spPr>
            <a:xfrm>
              <a:off x="971550" y="4648200"/>
              <a:ext cx="190500" cy="190500"/>
            </a:xfrm>
            <a:prstGeom prst="ellipse">
              <a:avLst/>
            </a:prstGeom>
            <a:solidFill>
              <a:srgbClr val="48C78E"/>
            </a:solidFill>
            <a:ln>
              <a:noFill/>
            </a:ln>
          </p:spPr>
        </p:sp>
        <p:sp>
          <p:nvSpPr>
            <p:cNvPr id="24" name="TextBox 24"/>
            <p:cNvSpPr txBox="1"/>
            <p:nvPr/>
          </p:nvSpPr>
          <p:spPr>
            <a:xfrm>
              <a:off x="1421511" y="4475321"/>
              <a:ext cx="175683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practical recipe</a:t>
              </a:r>
            </a:p>
          </p:txBody>
        </p:sp>
        <p:sp>
          <p:nvSpPr>
            <p:cNvPr id="25" name="TextBox 25"/>
            <p:cNvSpPr txBox="1"/>
            <p:nvPr/>
          </p:nvSpPr>
          <p:spPr>
            <a:xfrm>
              <a:off x="1422844" y="4808458"/>
              <a:ext cx="630997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It is a lightweight, practical recipe for pretraining vision transformers on limited</a:t>
              </a:r>
            </a:p>
          </p:txBody>
        </p:sp>
        <p:sp>
          <p:nvSpPr>
            <p:cNvPr id="26" name="TextBox 26"/>
            <p:cNvSpPr txBox="1"/>
            <p:nvPr/>
          </p:nvSpPr>
          <p:spPr>
            <a:xfrm>
              <a:off x="1422844" y="5037058"/>
              <a:ext cx="44124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data.</a:t>
              </a:r>
            </a:p>
          </p:txBody>
        </p:sp>
      </p:grpSp>
      <p:sp>
        <p:nvSpPr>
          <p:cNvPr id="28" name="Line 28"/>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9" name="TextBox 29"/>
          <p:cNvSpPr txBox="1"/>
          <p:nvPr/>
        </p:nvSpPr>
        <p:spPr>
          <a:xfrm>
            <a:off x="603694" y="5894308"/>
            <a:ext cx="5831656"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PatchRot: A Self-Supervised Technique for Training Vision Transformers</a:t>
            </a:r>
          </a:p>
        </p:txBody>
      </p:sp>
      <p:sp>
        <p:nvSpPr>
          <p:cNvPr id="30" name="TextBox 30"/>
          <p:cNvSpPr txBox="1"/>
          <p:nvPr/>
        </p:nvSpPr>
        <p:spPr>
          <a:xfrm>
            <a:off x="604456" y="6177201"/>
            <a:ext cx="7021864"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NeurIPS 2022 · Chhabra, Dutta, Venkateswara, Li · arXiv:2210.15722 · github.com/s-chh/PatchRot</a:t>
            </a:r>
          </a:p>
        </p:txBody>
      </p:sp>
      <p:sp>
        <p:nvSpPr>
          <p:cNvPr id="31" name="cue_s10_c1_takeaway_very_simple_idea_predicting" title="cue_s10_c1_takeaway_very_simple_idea_predicting" descr="cue_s10_c1_takeaway_very_simple_idea_predicting The takeaway is that a very simple idea, predicting the rotation of both the whole image and each individual patch, turns out to be a self-supervised task perfectly suited to vision transformers."/>
          <p:cNvSpPr/>
          <p:nvPr/>
        </p:nvSpPr>
        <p:spPr>
          <a:xfrm>
            <a:off x="609600" y="1676095"/>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10_c2_because_class_token_learns_global" title="cue_s10_c2_because_class_token_learns_global" descr="cue_s10_c2_because_class_token_learns_global Because the class token learns global structure and the patch heads learn local detail, PatchRot teaches the transformer rich features without any labels, and those features reliably beat supervised training from scratch and the RotNet baseline across four dat"/>
          <p:cNvSpPr/>
          <p:nvPr/>
        </p:nvSpPr>
        <p:spPr>
          <a:xfrm>
            <a:off x="609600" y="2933852"/>
            <a:ext cx="10972800" cy="153070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10_c3_lightweight_practical_recipe_pretrai" title="cue_s10_c3_lightweight_practical_recipe_pretrai" descr="cue_s10_c3_lightweight_practical_recipe_pretrai It is a lightweight, practical recipe for pretraining vision transformers on limited data."/>
          <p:cNvSpPr/>
          <p:nvPr/>
        </p:nvSpPr>
        <p:spPr>
          <a:xfrm>
            <a:off x="609600" y="4190923"/>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2026-07-16T04:32:21Z</dcterms:created>
  <dcterms:modified xsi:type="dcterms:W3CDTF">2026-07-16T04:32:21Z</dcterms:modified>
  <cp:category/>
  <cp:contentStatus/>
</cp:coreProperties>
</file>
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376783"/>
            <a:ext cx="16349682" cy="5888930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376783"/>
            <a:ext cx="160020" cy="5888930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28289" y="5376783"/>
            <a:ext cx="16349682" cy="1707157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28289" y="5376783"/>
            <a:ext cx="160020" cy="1707157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204691" y="5376783"/>
            <a:ext cx="16349821" cy="19129474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04691" y="5376783"/>
            <a:ext cx="160020" cy="19129474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1887" y="11597560"/>
            <a:ext cx="16349682" cy="18474392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887" y="11597560"/>
            <a:ext cx="160020" cy="18474392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428289" y="22780208"/>
            <a:ext cx="16349682" cy="7291744"/>
          </a:xfrm>
          <a:prstGeom prst="rect">
            <a:avLst/>
          </a:prstGeom>
          <a:solidFill>
            <a:srgbClr val="F2F2F3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428289" y="22780208"/>
            <a:ext cx="53340" cy="7291744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04691" y="24838104"/>
            <a:ext cx="16349821" cy="5233848"/>
          </a:xfrm>
          <a:prstGeom prst="rect">
            <a:avLst/>
          </a:prstGeom>
          <a:solidFill>
            <a:srgbClr val="FFFFFF"/>
          </a:solidFill>
          <a:ln w="8890">
            <a:solidFill>
              <a:srgbClr val="E8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04691" y="24838104"/>
            <a:ext cx="160020" cy="523384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qualcomm-ai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673" y="1301555"/>
            <a:ext cx="7419677" cy="1369053"/>
          </a:xfrm>
          <a:prstGeom prst="rect">
            <a:avLst/>
          </a:prstGeom>
        </p:spPr>
      </p:pic>
      <p:pic>
        <p:nvPicPr>
          <p:cNvPr id="16" name="Picture 15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9467" y="1805376"/>
            <a:ext cx="5620425" cy="1896463"/>
          </a:xfrm>
          <a:prstGeom prst="rect">
            <a:avLst/>
          </a:prstGeom>
        </p:spPr>
      </p:pic>
      <p:pic>
        <p:nvPicPr>
          <p:cNvPr id="17" name="Picture 16" descr="university-of-southern-californ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554" y="2836477"/>
            <a:ext cx="7993915" cy="136903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62241" y="9396591"/>
            <a:ext cx="1535122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2241" y="9396591"/>
            <a:ext cx="124460" cy="1481018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038643" y="10494783"/>
            <a:ext cx="15351224" cy="1494493"/>
          </a:xfrm>
          <a:prstGeom prst="roundRect">
            <a:avLst>
              <a:gd name="adj" fmla="val 15075"/>
            </a:avLst>
          </a:prstGeom>
          <a:solidFill>
            <a:srgbClr val="F3F3F3"/>
          </a:solidFill>
          <a:ln w="8890">
            <a:solidFill>
              <a:srgbClr val="BEB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815045" y="22574765"/>
            <a:ext cx="1535136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815045" y="22574765"/>
            <a:ext cx="15351363" cy="11557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931963" y="24539178"/>
            <a:ext cx="15457904" cy="2346821"/>
          </a:xfrm>
          <a:prstGeom prst="roundRect">
            <a:avLst>
              <a:gd name="adj" fmla="val 8889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815045" y="26328568"/>
            <a:ext cx="15351363" cy="3419455"/>
          </a:xfrm>
          <a:prstGeom prst="roundRect">
            <a:avLst>
              <a:gd name="adj" fmla="val 2079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8890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815045" y="9955272"/>
            <a:ext cx="15351363" cy="11227097"/>
          </a:xfrm>
          <a:prstGeom prst="roundRect">
            <a:avLst>
              <a:gd name="adj" fmla="val 31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ur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15119" y="9955272"/>
            <a:ext cx="15351216" cy="11227097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8517175" y="12396688"/>
            <a:ext cx="14394160" cy="8384103"/>
          </a:xfrm>
          <a:prstGeom prst="roundRect">
            <a:avLst>
              <a:gd name="adj" fmla="val 42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17253" y="12396688"/>
            <a:ext cx="14394004" cy="8384103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274325" y="17199371"/>
            <a:ext cx="15327055" cy="11205012"/>
          </a:xfrm>
          <a:prstGeom prst="roundRect">
            <a:avLst>
              <a:gd name="adj" fmla="val 31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383" y="17199371"/>
            <a:ext cx="15326940" cy="1120501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4480420" y="26550818"/>
            <a:ext cx="5440124" cy="30224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80420" y="26550818"/>
            <a:ext cx="11557" cy="3022461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815045" y="8631912"/>
            <a:ext cx="15351363" cy="945118"/>
          </a:xfrm>
          <a:prstGeom prst="rect">
            <a:avLst/>
          </a:prstGeom>
          <a:solidFill>
            <a:srgbClr val="EA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815045" y="6980316"/>
            <a:ext cx="6581795" cy="70647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815045" y="7677904"/>
            <a:ext cx="658179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396840" y="6980316"/>
            <a:ext cx="5505272" cy="70647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396840" y="7677904"/>
            <a:ext cx="5505272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902112" y="6980316"/>
            <a:ext cx="3264296" cy="706478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902112" y="7677904"/>
            <a:ext cx="3264296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815045" y="7686794"/>
            <a:ext cx="65817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815045" y="8623022"/>
            <a:ext cx="658179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396840" y="7686794"/>
            <a:ext cx="55052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396840" y="8623022"/>
            <a:ext cx="5505272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902112" y="7686794"/>
            <a:ext cx="32642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902112" y="8623022"/>
            <a:ext cx="3264296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815045" y="8631912"/>
            <a:ext cx="658179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815045" y="9568140"/>
            <a:ext cx="6581795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396840" y="8631912"/>
            <a:ext cx="550527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396840" y="9568140"/>
            <a:ext cx="5505272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902112" y="8631912"/>
            <a:ext cx="326429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902112" y="9568140"/>
            <a:ext cx="3264296" cy="11557"/>
          </a:xfrm>
          <a:prstGeom prst="rect">
            <a:avLst/>
          </a:prstGeom>
          <a:solidFill>
            <a:srgbClr val="E1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57"/>
              </a:lnSpc>
              <a:spcBef>
                <a:spcPts val="0"/>
              </a:spcBef>
              <a:spcAft>
                <a:spcPts val="0"/>
              </a:spcAft>
            </a:pPr>
            <a:r>
              <a:rPr sz="7506" b="1" spc="-78">
                <a:solidFill>
                  <a:srgbClr val="34373B"/>
                </a:solidFill>
                <a:latin typeface="Arial"/>
              </a:rPr>
              <a:t>Moccasin: Efficient Tensor Rematerialization for</a:t>
            </a:r>
          </a:p>
          <a:p>
            <a:pPr algn="ctr">
              <a:lnSpc>
                <a:spcPts val="8257"/>
              </a:lnSpc>
              <a:spcBef>
                <a:spcPts val="0"/>
              </a:spcBef>
              <a:spcAft>
                <a:spcPts val="0"/>
              </a:spcAft>
            </a:pPr>
            <a:r>
              <a:rPr sz="7506" b="1" spc="-78">
                <a:solidFill>
                  <a:srgbClr val="34373B"/>
                </a:solidFill>
                <a:latin typeface="Arial"/>
              </a:rPr>
              <a:t>Neural Networks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Burak Bartan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Haoming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Harris Teague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Christopher Lott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Bistra Dilkina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Qualcomm AI Research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Southern California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62241" y="5764887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Problem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38643" y="5764887"/>
            <a:ext cx="1577794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Method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15045" y="5764887"/>
            <a:ext cx="157780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Key Results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62241" y="6867247"/>
            <a:ext cx="15777944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Given a compute graph and a fixed </a:t>
            </a:r>
            <a:r>
              <a:rPr sz="4106" b="1">
                <a:solidFill>
                  <a:srgbClr val="111111"/>
                </a:solidFill>
                <a:latin typeface="Arial"/>
              </a:rPr>
              <a:t>memory budget</a:t>
            </a:r>
            <a:r>
              <a:rPr sz="4106" b="0">
                <a:solidFill>
                  <a:srgbClr val="1C1C1C"/>
                </a:solidFill>
                <a:latin typeface="Arial"/>
              </a:rPr>
              <a:t>, decide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which tensors to </a:t>
            </a:r>
            <a:r>
              <a:rPr sz="4106" b="1">
                <a:solidFill>
                  <a:srgbClr val="111111"/>
                </a:solidFill>
                <a:latin typeface="Arial"/>
              </a:rPr>
              <a:t>keep</a:t>
            </a:r>
            <a:r>
              <a:rPr sz="4106" b="0">
                <a:solidFill>
                  <a:srgbClr val="1C1C1C"/>
                </a:solidFill>
                <a:latin typeface="Arial"/>
              </a:rPr>
              <a:t> versus </a:t>
            </a:r>
            <a:r>
              <a:rPr sz="4106" b="1">
                <a:solidFill>
                  <a:srgbClr val="111111"/>
                </a:solidFill>
                <a:latin typeface="Arial"/>
              </a:rPr>
              <a:t>recompute</a:t>
            </a:r>
            <a:r>
              <a:rPr sz="4106" b="0">
                <a:solidFill>
                  <a:srgbClr val="1C1C1C"/>
                </a:solidFill>
                <a:latin typeface="Arial"/>
              </a:rPr>
              <a:t> so total execution time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minimized while peak memory stays within budget.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62241" y="9396591"/>
            <a:ext cx="15777944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schedule search is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PSPACE-complete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— and memory is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primary limit for on-device training.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458779" y="11548943"/>
            <a:ext cx="6706280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Tinos"/>
              </a:rPr>
              <a:t>                 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Tinos"/>
              </a:rPr>
              <a:t>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minimize recompute time subject to the memory budget </a:t>
            </a:r>
            <a:r>
              <a:rPr sz="2217" b="0" i="1">
                <a:solidFill>
                  <a:srgbClr val="555555"/>
                </a:solidFill>
                <a:latin typeface="Tinos"/>
              </a:rPr>
              <a:t>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62241" y="11985664"/>
            <a:ext cx="15777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Motivation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815045" y="22574765"/>
            <a:ext cx="1577808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 G3/G4 Checkmate returns no solution in 3 h and hits OOM; Moccasin finishes under an hour.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931963" y="23168312"/>
            <a:ext cx="1588462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Takeaway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931963" y="24539178"/>
            <a:ext cx="15884624" cy="2698844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Reformulating rematerialization over </a:t>
            </a:r>
            <a:r>
              <a:rPr sz="4106" b="1">
                <a:solidFill>
                  <a:srgbClr val="FFFFFF"/>
                </a:solidFill>
                <a:latin typeface="Arial"/>
              </a:rPr>
              <a:t>retention intervals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cuts discrete variables from quadratic to linear — solving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far larger graphs up to </a:t>
            </a:r>
            <a:r>
              <a:rPr sz="4106" b="1">
                <a:solidFill>
                  <a:srgbClr val="FFFFFF"/>
                </a:solidFill>
                <a:latin typeface="Arial"/>
              </a:rPr>
              <a:t>10×</a:t>
            </a:r>
            <a:r>
              <a:rPr sz="4106" b="1">
                <a:solidFill>
                  <a:srgbClr val="FFFFFF"/>
                </a:solidFill>
                <a:latin typeface="Arial"/>
              </a:rPr>
              <a:t> faster, overhead under </a:t>
            </a:r>
            <a:r>
              <a:rPr sz="4106" b="1">
                <a:solidFill>
                  <a:srgbClr val="FFFFFF"/>
                </a:solidFill>
                <a:latin typeface="Arial"/>
              </a:rPr>
              <a:t>5%</a:t>
            </a:r>
            <a:r>
              <a:rPr sz="4106" b="1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815045" y="25226208"/>
            <a:ext cx="1577808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4373B"/>
                </a:solidFill>
                <a:latin typeface="Arial"/>
              </a:rPr>
              <a:t>Headline Numbers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931963" y="27154505"/>
            <a:ext cx="15884624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variable count grows only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linearly</a:t>
            </a:r>
            <a:r>
              <a:rPr sz="4106" b="0">
                <a:solidFill>
                  <a:srgbClr val="1C1C1C"/>
                </a:solidFill>
                <a:latin typeface="Arial"/>
              </a:rPr>
              <a:t> in graph size; the solved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sequence is hardware-agnostic and runs unchanged on any CPU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 GPU.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038625" y="6873220"/>
            <a:ext cx="15777962" cy="18370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node's tensor = up to </a:t>
            </a:r>
            <a:r>
              <a:rPr sz="4106" b="1">
                <a:solidFill>
                  <a:srgbClr val="111111"/>
                </a:solidFill>
                <a:latin typeface="Arial"/>
              </a:rPr>
              <a:t>C</a:t>
            </a:r>
            <a:r>
              <a:rPr sz="5749" b="1" baseline="-25000">
                <a:solidFill>
                  <a:srgbClr val="111111"/>
                </a:solidFill>
                <a:latin typeface="Arial"/>
              </a:rPr>
              <a:t>v</a:t>
            </a:r>
            <a:r>
              <a:rPr sz="4106" b="0">
                <a:solidFill>
                  <a:srgbClr val="1C1C1C"/>
                </a:solidFill>
                <a:latin typeface="Arial"/>
              </a:rPr>
              <a:t> </a:t>
            </a:r>
            <a:r>
              <a:rPr sz="4106" b="1">
                <a:solidFill>
                  <a:srgbClr val="111111"/>
                </a:solidFill>
                <a:latin typeface="Arial"/>
              </a:rPr>
              <a:t>retention intervals</a:t>
            </a:r>
            <a:r>
              <a:rPr sz="4106" b="0">
                <a:solidFill>
                  <a:srgbClr val="1C1C1C"/>
                </a:solidFill>
                <a:latin typeface="Arial"/>
              </a:rPr>
              <a:t> (start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</a:t>
            </a:r>
            <a:r>
              <a:rPr sz="4106" b="0">
                <a:solidFill>
                  <a:srgbClr val="1C1C1C"/>
                </a:solidFill>
                <a:latin typeface="Arial"/>
              </a:rPr>
              <a:t>, end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e</a:t>
            </a:r>
            <a:r>
              <a:rPr sz="4106" b="0">
                <a:solidFill>
                  <a:srgbClr val="1C1C1C"/>
                </a:solidFill>
                <a:latin typeface="Arial"/>
              </a:rPr>
              <a:t>, flag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</a:t>
            </a:r>
            <a:r>
              <a:rPr sz="4106" b="0">
                <a:solidFill>
                  <a:srgbClr val="1C1C1C"/>
                </a:solidFill>
                <a:latin typeface="Arial"/>
              </a:rPr>
              <a:t>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38625" y="8653164"/>
            <a:ext cx="1577796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CP </a:t>
            </a:r>
            <a:r>
              <a:rPr sz="4106" b="1">
                <a:solidFill>
                  <a:srgbClr val="111111"/>
                </a:solidFill>
                <a:latin typeface="Arial"/>
              </a:rPr>
              <a:t>cumulative</a:t>
            </a:r>
            <a:r>
              <a:rPr sz="4106" b="0">
                <a:solidFill>
                  <a:srgbClr val="1C1C1C"/>
                </a:solidFill>
                <a:latin typeface="Arial"/>
              </a:rPr>
              <a:t> + </a:t>
            </a:r>
            <a:r>
              <a:rPr sz="4106" b="1">
                <a:solidFill>
                  <a:srgbClr val="111111"/>
                </a:solidFill>
                <a:latin typeface="Arial"/>
              </a:rPr>
              <a:t>reservoir</a:t>
            </a:r>
            <a:r>
              <a:rPr sz="4106" b="0">
                <a:solidFill>
                  <a:srgbClr val="1C1C1C"/>
                </a:solidFill>
                <a:latin typeface="Arial"/>
              </a:rPr>
              <a:t> constraints; solved by OR-Tools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CP-SAT</a:t>
            </a:r>
            <a:r>
              <a:rPr sz="4106" b="0">
                <a:solidFill>
                  <a:srgbClr val="1C1C1C"/>
                </a:solidFill>
                <a:latin typeface="Arial"/>
              </a:rPr>
              <a:t> with </a:t>
            </a:r>
            <a:r>
              <a:rPr sz="4106" b="1">
                <a:solidFill>
                  <a:srgbClr val="111111"/>
                </a:solidFill>
                <a:latin typeface="Arial"/>
              </a:rPr>
              <a:t>O(Cn)</a:t>
            </a:r>
            <a:r>
              <a:rPr sz="4106" b="0">
                <a:solidFill>
                  <a:srgbClr val="1C1C1C"/>
                </a:solidFill>
                <a:latin typeface="Arial"/>
              </a:rPr>
              <a:t> variables.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62222" y="13275964"/>
            <a:ext cx="15777963" cy="1836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Checkmate</a:t>
            </a:r>
            <a:r>
              <a:rPr sz="4106" b="0">
                <a:solidFill>
                  <a:srgbClr val="1C1C1C"/>
                </a:solidFill>
                <a:latin typeface="Arial"/>
              </a:rPr>
              <a:t> (prior SOTA) casts rematerialization as a MILP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O(n</a:t>
            </a:r>
            <a:r>
              <a:rPr sz="5749" b="1" baseline="30000">
                <a:solidFill>
                  <a:srgbClr val="111111"/>
                </a:solidFill>
                <a:latin typeface="Arial"/>
              </a:rPr>
              <a:t>2</a:t>
            </a:r>
            <a:r>
              <a:rPr sz="4106" b="1">
                <a:solidFill>
                  <a:srgbClr val="111111"/>
                </a:solidFill>
                <a:latin typeface="Arial"/>
              </a:rPr>
              <a:t>)</a:t>
            </a:r>
            <a:r>
              <a:rPr sz="4106" b="0">
                <a:solidFill>
                  <a:srgbClr val="1C1C1C"/>
                </a:solidFill>
                <a:latin typeface="Arial"/>
              </a:rPr>
              <a:t> Boolean variables.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2222" y="15055770"/>
            <a:ext cx="1577796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That quadratic growth is a wall: large graphs </a:t>
            </a:r>
            <a:r>
              <a:rPr sz="4106" b="1">
                <a:solidFill>
                  <a:srgbClr val="111111"/>
                </a:solidFill>
                <a:latin typeface="Arial"/>
              </a:rPr>
              <a:t>time out</a:t>
            </a:r>
            <a:r>
              <a:rPr sz="4106" b="0">
                <a:solidFill>
                  <a:srgbClr val="1C1C1C"/>
                </a:solidFill>
                <a:latin typeface="Arial"/>
              </a:rPr>
              <a:t> 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exhaust memory, and cannot scale past a few hundred nodes.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092941" y="20930393"/>
            <a:ext cx="1363990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Retention intervals: each node's tensor lifetime as a small set of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[start, end] event intervals (s, e).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429150" y="21331971"/>
            <a:ext cx="1454684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Solve progress on random layered graphs: Moccasin (green, ~9.5 s)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reaches a low-overhead solution far sooner than Checkmate (blue, ~18 s).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87458" y="28553985"/>
            <a:ext cx="14523813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On a real graph (n=442, m=1247), Checkmate needs ~2000 s while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Moccasin (green) converges near ~200 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060909" y="26704865"/>
            <a:ext cx="9111202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4373B"/>
                </a:solidFill>
                <a:latin typeface="Arial"/>
              </a:rPr>
              <a:t>10×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060909" y="28079759"/>
            <a:ext cx="9111202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solve on large graphs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60909" y="28601213"/>
            <a:ext cx="9111202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vs. Checkmate, up to an order of magnitude faster on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the largest graphs tested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815045" y="6980316"/>
            <a:ext cx="6779248" cy="81244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396840" y="6980316"/>
            <a:ext cx="5670430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SOLVE TIME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902112" y="6980316"/>
            <a:ext cx="3362224" cy="81244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DUR. INC.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815045" y="7686794"/>
            <a:ext cx="677924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Checkmate (MILP)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396840" y="7686794"/>
            <a:ext cx="567043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~2000 s / OOM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02112" y="7686794"/>
            <a:ext cx="33622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~3%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815045" y="8631912"/>
            <a:ext cx="6779248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Moccasin (C=2)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396840" y="8631912"/>
            <a:ext cx="567043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~200 s / &lt;1 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902112" y="8631912"/>
            <a:ext cx="33622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&lt;5%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958674" y="26550818"/>
            <a:ext cx="11314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O(n)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239668" y="26684168"/>
            <a:ext cx="3581843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integer vars (vs O(n²))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958674" y="27371615"/>
            <a:ext cx="112284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231333" y="27504965"/>
            <a:ext cx="295274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duration overhead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958674" y="28192412"/>
            <a:ext cx="12268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332318" y="28325762"/>
            <a:ext cx="369587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nodes, m=5875 solved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958674" y="29013209"/>
            <a:ext cx="102898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C=2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140211" y="29146559"/>
            <a:ext cx="291154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intervals per node</a:t>
            </a:r>
          </a:p>
        </p:txBody>
      </p:sp>
      <p:pic>
        <p:nvPicPr>
          <p:cNvPr id="94" name="Picture 93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97967" y="10580072"/>
            <a:ext cx="12832437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
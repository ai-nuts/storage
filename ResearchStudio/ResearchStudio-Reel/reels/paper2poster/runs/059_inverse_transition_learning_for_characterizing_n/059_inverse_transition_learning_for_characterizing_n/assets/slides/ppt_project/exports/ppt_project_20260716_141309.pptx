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6f8a83060c758f1.png"/><Relationship Id="rId3" Type="http://schemas.openxmlformats.org/officeDocument/2006/relationships/image" Target="../media/image_856937f98a82e1b8.png"/><Relationship Id="rId4" Type="http://schemas.openxmlformats.org/officeDocument/2006/relationships/image" Target="../media/image_c18e506a15619a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8377253" y="572452"/>
            <a:ext cx="321048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Harvard University · Imperial College London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164908"/>
            <a:ext cx="8011932"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Bayesian Inverse Transition Learning</a:t>
            </a:r>
          </a:p>
        </p:txBody>
      </p:sp>
      <p:sp>
        <p:nvSpPr>
          <p:cNvPr id="6" name="TextBox 6"/>
          <p:cNvSpPr txBox="1"/>
          <p:nvPr/>
        </p:nvSpPr>
        <p:spPr>
          <a:xfrm>
            <a:off x="601980" y="1743075"/>
            <a:ext cx="6133026"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Safe, gradient-free offline RL from a near-optimal expert</a:t>
            </a:r>
          </a:p>
        </p:txBody>
      </p:sp>
      <p:sp>
        <p:nvSpPr>
          <p:cNvPr id="7" name="TextBox 7"/>
          <p:cNvSpPr txBox="1"/>
          <p:nvPr/>
        </p:nvSpPr>
        <p:spPr>
          <a:xfrm>
            <a:off x="603694" y="2122408"/>
            <a:ext cx="624706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Leo Benac · Sonali Parbhoo · Finale Doshi-Velez — Harvard, Imperial College London</a:t>
            </a:r>
          </a:p>
        </p:txBody>
      </p:sp>
      <p:grpSp>
        <p:nvGrpSpPr>
          <p:cNvPr id="16" name="Group 16"/>
          <p:cNvGrpSpPr/>
          <p:nvPr/>
        </p:nvGrpSpPr>
        <p:grpSpPr>
          <a:xfrm>
            <a:off x="609600" y="2667000"/>
            <a:ext cx="3524250" cy="2038350"/>
            <a:chOff x="609600" y="2667000"/>
            <a:chExt cx="3524250" cy="2038350"/>
          </a:xfrm>
        </p:grpSpPr>
        <p:sp>
          <p:nvSpPr>
            <p:cNvPr id="8" name="Rectangle 8"/>
            <p:cNvSpPr/>
            <p:nvPr/>
          </p:nvSpPr>
          <p:spPr>
            <a:xfrm>
              <a:off x="609600" y="2667000"/>
              <a:ext cx="3524250" cy="2038350"/>
            </a:xfrm>
            <a:prstGeom prst="roundRect">
              <a:avLst>
                <a:gd name="adj" fmla="val 6542"/>
              </a:avLst>
            </a:prstGeom>
            <a:solidFill>
              <a:schemeClr val="accent5"/>
            </a:solidFill>
            <a:ln w="14288">
              <a:solidFill>
                <a:srgbClr val="26455F"/>
              </a:solidFill>
            </a:ln>
          </p:spPr>
        </p:sp>
        <p:sp>
          <p:nvSpPr>
            <p:cNvPr id="9" name="Rectangle 9"/>
            <p:cNvSpPr/>
            <p:nvPr/>
          </p:nvSpPr>
          <p:spPr>
            <a:xfrm>
              <a:off x="609600" y="2667000"/>
              <a:ext cx="3524250" cy="57150"/>
            </a:xfrm>
            <a:prstGeom prst="roundRect">
              <a:avLst>
                <a:gd name="adj" fmla="val 50000"/>
              </a:avLst>
            </a:prstGeom>
            <a:solidFill>
              <a:srgbClr val="F2685C"/>
            </a:solidFill>
            <a:ln>
              <a:noFill/>
            </a:ln>
          </p:spPr>
        </p:sp>
        <p:sp>
          <p:nvSpPr>
            <p:cNvPr id="10" name="Ellipse 10"/>
            <p:cNvSpPr/>
            <p:nvPr/>
          </p:nvSpPr>
          <p:spPr>
            <a:xfrm>
              <a:off x="809625" y="3019425"/>
              <a:ext cx="133350" cy="133350"/>
            </a:xfrm>
            <a:prstGeom prst="ellipse">
              <a:avLst/>
            </a:prstGeom>
            <a:solidFill>
              <a:srgbClr val="F2685C"/>
            </a:solidFill>
            <a:ln>
              <a:noFill/>
            </a:ln>
          </p:spPr>
        </p:sp>
        <p:sp>
          <p:nvSpPr>
            <p:cNvPr id="11" name="TextBox 11"/>
            <p:cNvSpPr txBox="1"/>
            <p:nvPr/>
          </p:nvSpPr>
          <p:spPr>
            <a:xfrm>
              <a:off x="1041464" y="3009662"/>
              <a:ext cx="142044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failure mode</a:t>
              </a:r>
            </a:p>
          </p:txBody>
        </p:sp>
        <p:sp>
          <p:nvSpPr>
            <p:cNvPr id="12" name="TextBox 12"/>
            <p:cNvSpPr txBox="1"/>
            <p:nvPr/>
          </p:nvSpPr>
          <p:spPr>
            <a:xfrm>
              <a:off x="813816" y="3391852"/>
              <a:ext cx="25120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Offline RL must estimate transition</a:t>
              </a:r>
            </a:p>
          </p:txBody>
        </p:sp>
        <p:sp>
          <p:nvSpPr>
            <p:cNvPr id="13" name="TextBox 13"/>
            <p:cNvSpPr txBox="1"/>
            <p:nvPr/>
          </p:nvSpPr>
          <p:spPr>
            <a:xfrm>
              <a:off x="813816" y="3601402"/>
              <a:ext cx="28730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dynamics from fixed data — plain maximum</a:t>
              </a:r>
            </a:p>
          </p:txBody>
        </p:sp>
        <p:sp>
          <p:nvSpPr>
            <p:cNvPr id="14" name="TextBox 14"/>
            <p:cNvSpPr txBox="1"/>
            <p:nvPr/>
          </p:nvSpPr>
          <p:spPr>
            <a:xfrm>
              <a:off x="813816" y="3810952"/>
              <a:ext cx="25832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likelihood gives high-variance policies</a:t>
              </a:r>
            </a:p>
          </p:txBody>
        </p:sp>
        <p:sp>
          <p:nvSpPr>
            <p:cNvPr id="15" name="TextBox 15"/>
            <p:cNvSpPr txBox="1"/>
            <p:nvPr/>
          </p:nvSpPr>
          <p:spPr>
            <a:xfrm>
              <a:off x="813816" y="4020502"/>
              <a:ext cx="25973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that act unsafely where data is thin.</a:t>
              </a:r>
            </a:p>
          </p:txBody>
        </p:sp>
      </p:grpSp>
      <p:grpSp>
        <p:nvGrpSpPr>
          <p:cNvPr id="25" name="Group 25"/>
          <p:cNvGrpSpPr/>
          <p:nvPr/>
        </p:nvGrpSpPr>
        <p:grpSpPr>
          <a:xfrm>
            <a:off x="4333875" y="2667000"/>
            <a:ext cx="3524250" cy="2038350"/>
            <a:chOff x="4333875" y="2667000"/>
            <a:chExt cx="3524250" cy="2038350"/>
          </a:xfrm>
        </p:grpSpPr>
        <p:sp>
          <p:nvSpPr>
            <p:cNvPr id="17" name="Rectangle 17"/>
            <p:cNvSpPr/>
            <p:nvPr/>
          </p:nvSpPr>
          <p:spPr>
            <a:xfrm>
              <a:off x="4333875" y="2667000"/>
              <a:ext cx="3524250" cy="2038350"/>
            </a:xfrm>
            <a:prstGeom prst="roundRect">
              <a:avLst>
                <a:gd name="adj" fmla="val 6542"/>
              </a:avLst>
            </a:prstGeom>
            <a:solidFill>
              <a:schemeClr val="accent5"/>
            </a:solidFill>
            <a:ln w="14288">
              <a:solidFill>
                <a:srgbClr val="26455F"/>
              </a:solidFill>
            </a:ln>
          </p:spPr>
        </p:sp>
        <p:sp>
          <p:nvSpPr>
            <p:cNvPr id="18" name="Rectangle 18"/>
            <p:cNvSpPr/>
            <p:nvPr/>
          </p:nvSpPr>
          <p:spPr>
            <a:xfrm>
              <a:off x="4333875" y="2667000"/>
              <a:ext cx="3524250" cy="57150"/>
            </a:xfrm>
            <a:prstGeom prst="roundRect">
              <a:avLst>
                <a:gd name="adj" fmla="val 50000"/>
              </a:avLst>
            </a:prstGeom>
            <a:solidFill>
              <a:schemeClr val="accent2"/>
            </a:solidFill>
            <a:ln>
              <a:noFill/>
            </a:ln>
          </p:spPr>
        </p:sp>
        <p:sp>
          <p:nvSpPr>
            <p:cNvPr id="19" name="Ellipse 19"/>
            <p:cNvSpPr/>
            <p:nvPr/>
          </p:nvSpPr>
          <p:spPr>
            <a:xfrm>
              <a:off x="4533900" y="3019425"/>
              <a:ext cx="133350" cy="133350"/>
            </a:xfrm>
            <a:prstGeom prst="ellipse">
              <a:avLst/>
            </a:prstGeom>
            <a:solidFill>
              <a:schemeClr val="accent2"/>
            </a:solidFill>
            <a:ln>
              <a:noFill/>
            </a:ln>
          </p:spPr>
        </p:sp>
        <p:sp>
          <p:nvSpPr>
            <p:cNvPr id="20" name="TextBox 20"/>
            <p:cNvSpPr txBox="1"/>
            <p:nvPr/>
          </p:nvSpPr>
          <p:spPr>
            <a:xfrm>
              <a:off x="4765738" y="3009662"/>
              <a:ext cx="236839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Inverse Transition Learning</a:t>
              </a:r>
            </a:p>
          </p:txBody>
        </p:sp>
        <p:sp>
          <p:nvSpPr>
            <p:cNvPr id="21" name="TextBox 21"/>
            <p:cNvSpPr txBox="1"/>
            <p:nvPr/>
          </p:nvSpPr>
          <p:spPr>
            <a:xfrm>
              <a:off x="4538091" y="3391852"/>
              <a:ext cx="3054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gradient-free, constraint-based method:</a:t>
              </a:r>
            </a:p>
          </p:txBody>
        </p:sp>
        <p:sp>
          <p:nvSpPr>
            <p:cNvPr id="22" name="TextBox 22"/>
            <p:cNvSpPr txBox="1"/>
            <p:nvPr/>
          </p:nvSpPr>
          <p:spPr>
            <a:xfrm>
              <a:off x="4538091" y="3601402"/>
              <a:ext cx="30850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use a near-optimal expert's demonstrations</a:t>
              </a:r>
            </a:p>
          </p:txBody>
        </p:sp>
        <p:sp>
          <p:nvSpPr>
            <p:cNvPr id="23" name="TextBox 23"/>
            <p:cNvSpPr txBox="1"/>
            <p:nvPr/>
          </p:nvSpPr>
          <p:spPr>
            <a:xfrm>
              <a:off x="4538091" y="3810952"/>
              <a:ext cx="259247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 CLIP a Bayesian posterior over the</a:t>
              </a:r>
            </a:p>
          </p:txBody>
        </p:sp>
        <p:sp>
          <p:nvSpPr>
            <p:cNvPr id="24" name="TextBox 24"/>
            <p:cNvSpPr txBox="1"/>
            <p:nvPr/>
          </p:nvSpPr>
          <p:spPr>
            <a:xfrm>
              <a:off x="4538091" y="4020502"/>
              <a:ext cx="7032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dynamics.</a:t>
              </a:r>
            </a:p>
          </p:txBody>
        </p:sp>
      </p:grpSp>
      <p:grpSp>
        <p:nvGrpSpPr>
          <p:cNvPr id="34" name="Group 34"/>
          <p:cNvGrpSpPr/>
          <p:nvPr/>
        </p:nvGrpSpPr>
        <p:grpSpPr>
          <a:xfrm>
            <a:off x="8058150" y="2667000"/>
            <a:ext cx="3524250" cy="2038350"/>
            <a:chOff x="8058150" y="2667000"/>
            <a:chExt cx="3524250" cy="2038350"/>
          </a:xfrm>
        </p:grpSpPr>
        <p:sp>
          <p:nvSpPr>
            <p:cNvPr id="26" name="Rectangle 26"/>
            <p:cNvSpPr/>
            <p:nvPr/>
          </p:nvSpPr>
          <p:spPr>
            <a:xfrm>
              <a:off x="8058150" y="2667000"/>
              <a:ext cx="3524250" cy="2038350"/>
            </a:xfrm>
            <a:prstGeom prst="roundRect">
              <a:avLst>
                <a:gd name="adj" fmla="val 6542"/>
              </a:avLst>
            </a:prstGeom>
            <a:solidFill>
              <a:schemeClr val="accent5"/>
            </a:solidFill>
            <a:ln w="14288">
              <a:solidFill>
                <a:srgbClr val="26455F"/>
              </a:solidFill>
            </a:ln>
          </p:spPr>
        </p:sp>
        <p:sp>
          <p:nvSpPr>
            <p:cNvPr id="27" name="Rectangle 27"/>
            <p:cNvSpPr/>
            <p:nvPr/>
          </p:nvSpPr>
          <p:spPr>
            <a:xfrm>
              <a:off x="8058150" y="2667000"/>
              <a:ext cx="3524250" cy="57150"/>
            </a:xfrm>
            <a:prstGeom prst="roundRect">
              <a:avLst>
                <a:gd name="adj" fmla="val 50000"/>
              </a:avLst>
            </a:prstGeom>
            <a:solidFill>
              <a:srgbClr val="48C78E"/>
            </a:solidFill>
            <a:ln>
              <a:noFill/>
            </a:ln>
          </p:spPr>
        </p:sp>
        <p:sp>
          <p:nvSpPr>
            <p:cNvPr id="28" name="Ellipse 28"/>
            <p:cNvSpPr/>
            <p:nvPr/>
          </p:nvSpPr>
          <p:spPr>
            <a:xfrm>
              <a:off x="8258175" y="3019425"/>
              <a:ext cx="133350" cy="133350"/>
            </a:xfrm>
            <a:prstGeom prst="ellipse">
              <a:avLst/>
            </a:prstGeom>
            <a:solidFill>
              <a:srgbClr val="48C78E"/>
            </a:solidFill>
            <a:ln>
              <a:noFill/>
            </a:ln>
          </p:spPr>
        </p:sp>
        <p:sp>
          <p:nvSpPr>
            <p:cNvPr id="29" name="TextBox 29"/>
            <p:cNvSpPr txBox="1"/>
            <p:nvPr/>
          </p:nvSpPr>
          <p:spPr>
            <a:xfrm>
              <a:off x="8490014" y="3009662"/>
              <a:ext cx="181479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Safe by construction</a:t>
              </a:r>
            </a:p>
          </p:txBody>
        </p:sp>
        <p:sp>
          <p:nvSpPr>
            <p:cNvPr id="30" name="TextBox 30"/>
            <p:cNvSpPr txBox="1"/>
            <p:nvPr/>
          </p:nvSpPr>
          <p:spPr>
            <a:xfrm>
              <a:off x="8262366" y="3391852"/>
              <a:ext cx="23972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 sampled model yields a safe,</a:t>
              </a:r>
            </a:p>
          </p:txBody>
        </p:sp>
        <p:sp>
          <p:nvSpPr>
            <p:cNvPr id="31" name="TextBox 31"/>
            <p:cNvSpPr txBox="1"/>
            <p:nvPr/>
          </p:nvSpPr>
          <p:spPr>
            <a:xfrm>
              <a:off x="8262366" y="3601402"/>
              <a:ext cx="27387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high-performing policy — 100% accuracy</a:t>
              </a:r>
            </a:p>
          </p:txBody>
        </p:sp>
        <p:sp>
          <p:nvSpPr>
            <p:cNvPr id="32" name="TextBox 32"/>
            <p:cNvSpPr txBox="1"/>
            <p:nvPr/>
          </p:nvSpPr>
          <p:spPr>
            <a:xfrm>
              <a:off x="8262366" y="3810952"/>
              <a:ext cx="25761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where the best action is known, with</a:t>
              </a:r>
            </a:p>
          </p:txBody>
        </p:sp>
        <p:sp>
          <p:nvSpPr>
            <p:cNvPr id="33" name="TextBox 33"/>
            <p:cNvSpPr txBox="1"/>
            <p:nvPr/>
          </p:nvSpPr>
          <p:spPr>
            <a:xfrm>
              <a:off x="8262366" y="4020502"/>
              <a:ext cx="19966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dramatically lower variance.</a:t>
              </a:r>
            </a:p>
          </p:txBody>
        </p:sp>
      </p:grpSp>
      <p:sp>
        <p:nvSpPr>
          <p:cNvPr id="35" name="Line 35"/>
          <p:cNvSpPr/>
          <p:nvPr/>
        </p:nvSpPr>
        <p:spPr>
          <a:xfrm>
            <a:off x="609600" y="5029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6" name="TextBox 36"/>
          <p:cNvSpPr txBox="1"/>
          <p:nvPr/>
        </p:nvSpPr>
        <p:spPr>
          <a:xfrm>
            <a:off x="603504" y="5280660"/>
            <a:ext cx="7269045"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distribution of dynamics guaranteed to induce safe, high-performing offline policies.</a:t>
            </a:r>
          </a:p>
        </p:txBody>
      </p:sp>
      <p:sp>
        <p:nvSpPr>
          <p:cNvPr id="37" name="TextBox 37"/>
          <p:cNvSpPr txBox="1"/>
          <p:nvPr/>
        </p:nvSpPr>
        <p:spPr>
          <a:xfrm>
            <a:off x="604266" y="56588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arXiv:2308.05075</a:t>
            </a:r>
          </a:p>
        </p:txBody>
      </p:sp>
      <p:sp>
        <p:nvSpPr>
          <p:cNvPr id="38" name="Rectangle 38"/>
          <p:cNvSpPr/>
          <p:nvPr/>
        </p:nvSpPr>
        <p:spPr>
          <a:xfrm>
            <a:off x="8229600" y="5295900"/>
            <a:ext cx="1428750" cy="552450"/>
          </a:xfrm>
          <a:prstGeom prst="roundRect">
            <a:avLst>
              <a:gd name="adj" fmla="val 13793"/>
            </a:avLst>
          </a:prstGeom>
          <a:solidFill>
            <a:srgbClr val="FFFFFF"/>
          </a:solidFill>
          <a:ln>
            <a:noFill/>
          </a:ln>
        </p:spPr>
        <p:txBody>
          <a:bodyPr/>
          <a:p/>
        </p:txBody>
      </p:sp>
      <p:pic>
        <p:nvPicPr>
          <p:cNvPr id="39" name="Image 39"/>
          <p:cNvPicPr>
            <a:picLocks noChangeAspect="1"/>
          </p:cNvPicPr>
          <p:nvPr/>
        </p:nvPicPr>
        <p:blipFill>
          <a:blip r:embed="rId2"/>
          <a:stretch>
            <a:fillRect/>
          </a:stretch>
        </p:blipFill>
        <p:spPr>
          <a:xfrm>
            <a:off x="8324850" y="5414684"/>
            <a:ext cx="1238250" cy="314881"/>
          </a:xfrm>
          <a:prstGeom prst="rect">
            <a:avLst/>
          </a:prstGeom>
        </p:spPr>
      </p:pic>
      <p:sp>
        <p:nvSpPr>
          <p:cNvPr id="40" name="Rectangle 40"/>
          <p:cNvSpPr/>
          <p:nvPr/>
        </p:nvSpPr>
        <p:spPr>
          <a:xfrm>
            <a:off x="9772650" y="5295900"/>
            <a:ext cx="1047750" cy="552450"/>
          </a:xfrm>
          <a:prstGeom prst="roundRect">
            <a:avLst>
              <a:gd name="adj" fmla="val 13793"/>
            </a:avLst>
          </a:prstGeom>
          <a:solidFill>
            <a:srgbClr val="FFFFFF"/>
          </a:solidFill>
          <a:ln>
            <a:noFill/>
          </a:ln>
        </p:spPr>
        <p:txBody>
          <a:bodyPr/>
          <a:p/>
        </p:txBody>
      </p:sp>
      <p:pic>
        <p:nvPicPr>
          <p:cNvPr id="41" name="Image 41"/>
          <p:cNvPicPr>
            <a:picLocks noChangeAspect="1"/>
          </p:cNvPicPr>
          <p:nvPr/>
        </p:nvPicPr>
        <p:blipFill>
          <a:blip r:embed="rId3"/>
          <a:stretch>
            <a:fillRect/>
          </a:stretch>
        </p:blipFill>
        <p:spPr>
          <a:xfrm>
            <a:off x="9848850" y="5522947"/>
            <a:ext cx="895350" cy="98355"/>
          </a:xfrm>
          <a:prstGeom prst="rect">
            <a:avLst/>
          </a:prstGeom>
        </p:spPr>
      </p:pic>
      <p:sp>
        <p:nvSpPr>
          <p:cNvPr id="42" name="Rectangle 42"/>
          <p:cNvSpPr/>
          <p:nvPr/>
        </p:nvSpPr>
        <p:spPr>
          <a:xfrm>
            <a:off x="10934700" y="5295900"/>
            <a:ext cx="647700" cy="800100"/>
          </a:xfrm>
          <a:prstGeom prst="roundRect">
            <a:avLst>
              <a:gd name="adj" fmla="val 11765"/>
            </a:avLst>
          </a:prstGeom>
          <a:solidFill>
            <a:srgbClr val="FFFFFF"/>
          </a:solidFill>
          <a:ln>
            <a:noFill/>
          </a:ln>
        </p:spPr>
        <p:txBody>
          <a:bodyPr/>
          <a:p/>
        </p:txBody>
      </p:sp>
      <p:pic>
        <p:nvPicPr>
          <p:cNvPr id="43" name="Image 43"/>
          <p:cNvPicPr>
            <a:picLocks noChangeAspect="1"/>
          </p:cNvPicPr>
          <p:nvPr/>
        </p:nvPicPr>
        <p:blipFill>
          <a:blip r:embed="rId4"/>
          <a:stretch>
            <a:fillRect/>
          </a:stretch>
        </p:blipFill>
        <p:spPr>
          <a:xfrm>
            <a:off x="11010900" y="5353050"/>
            <a:ext cx="495300" cy="495300"/>
          </a:xfrm>
          <a:prstGeom prst="rect">
            <a:avLst/>
          </a:prstGeom>
        </p:spPr>
      </p:pic>
      <p:sp>
        <p:nvSpPr>
          <p:cNvPr id="44" name="TextBox 44"/>
          <p:cNvSpPr txBox="1"/>
          <p:nvPr/>
        </p:nvSpPr>
        <p:spPr>
          <a:xfrm>
            <a:off x="11092610" y="5911691"/>
            <a:ext cx="331880"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Paper</a:t>
            </a:r>
          </a:p>
        </p:txBody>
      </p:sp>
      <p:sp>
        <p:nvSpPr>
          <p:cNvPr id="45" name="cue_s01_c1_offline_reinforcement_learning_domai" title="cue_s01_c1_offline_reinforcement_learning_domai" descr="cue_s01_c1_offline_reinforcement_learning_domai Offline reinforcement learning in domains like healthcare and education must estimate the environment's transition dynamics from fixed batch data, yet standard maximum likelihood estimates give high variance policies that make dangerous mistakes where data is"/>
          <p:cNvSpPr/>
          <p:nvPr/>
        </p:nvSpPr>
        <p:spPr>
          <a:xfrm>
            <a:off x="609600"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introduces_bayesian_inverse_transiti" title="cue_s01_c2_introduces_bayesian_inverse_transiti" descr="cue_s01_c2_introduces_bayesian_inverse_transiti This paper introduces Bayesian Inverse Transition Learning, a gradient free, constraint based method that uses an expert's near optimal demonstrations to clip a Bayesian posterior over the transition dynamics."/>
          <p:cNvSpPr/>
          <p:nvPr/>
        </p:nvSpPr>
        <p:spPr>
          <a:xfrm>
            <a:off x="4334256"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result_distribution_dynamics_guarant" title="cue_s01_c3_result_distribution_dynamics_guarant" descr="cue_s01_c3_result_distribution_dynamics_guarant The result is a distribution of dynamics that guarantees safe, high performing policies, recovering one hundred percent accuracy on states where the best action is known and cutting policy variance dramatically across datasets."/>
          <p:cNvSpPr/>
          <p:nvPr/>
        </p:nvSpPr>
        <p:spPr>
          <a:xfrm>
            <a:off x="8057692" y="2667076"/>
            <a:ext cx="3524707"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806445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You cannot experiment — you only have a fixed batch</a:t>
            </a:r>
          </a:p>
        </p:txBody>
      </p:sp>
      <p:grpSp>
        <p:nvGrpSpPr>
          <p:cNvPr id="26" name="Group 26"/>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3848100" cy="57150"/>
            </a:xfrm>
            <a:prstGeom prst="roundRect">
              <a:avLst>
                <a:gd name="adj" fmla="val 50000"/>
              </a:avLst>
            </a:prstGeom>
            <a:solidFill>
              <a:schemeClr val="accent2"/>
            </a:solidFill>
            <a:ln>
              <a:noFill/>
            </a:ln>
          </p:spPr>
        </p:sp>
        <p:sp>
          <p:nvSpPr>
            <p:cNvPr id="7" name="TextBox 7"/>
            <p:cNvSpPr txBox="1"/>
            <p:nvPr/>
          </p:nvSpPr>
          <p:spPr>
            <a:xfrm>
              <a:off x="869442" y="1816418"/>
              <a:ext cx="259591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No new interactions allowed</a:t>
              </a:r>
            </a:p>
          </p:txBody>
        </p:sp>
        <p:sp>
          <p:nvSpPr>
            <p:cNvPr id="8" name="TextBox 8"/>
            <p:cNvSpPr txBox="1"/>
            <p:nvPr/>
          </p:nvSpPr>
          <p:spPr>
            <a:xfrm>
              <a:off x="870585" y="2183606"/>
              <a:ext cx="281324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 healthcare and education we cannot</a:t>
              </a:r>
            </a:p>
          </p:txBody>
        </p:sp>
        <p:sp>
          <p:nvSpPr>
            <p:cNvPr id="9" name="TextBox 9"/>
            <p:cNvSpPr txBox="1"/>
            <p:nvPr/>
          </p:nvSpPr>
          <p:spPr>
            <a:xfrm>
              <a:off x="870585" y="2412206"/>
              <a:ext cx="28463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experiment on people. Offline RL must</a:t>
              </a:r>
            </a:p>
          </p:txBody>
        </p:sp>
        <p:sp>
          <p:nvSpPr>
            <p:cNvPr id="10" name="TextBox 10"/>
            <p:cNvSpPr txBox="1"/>
            <p:nvPr/>
          </p:nvSpPr>
          <p:spPr>
            <a:xfrm>
              <a:off x="870585" y="2640806"/>
              <a:ext cx="282064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 the transition dynamics T purely</a:t>
              </a:r>
            </a:p>
          </p:txBody>
        </p:sp>
        <p:sp>
          <p:nvSpPr>
            <p:cNvPr id="11" name="TextBox 11"/>
            <p:cNvSpPr txBox="1"/>
            <p:nvPr/>
          </p:nvSpPr>
          <p:spPr>
            <a:xfrm>
              <a:off x="870585" y="2869406"/>
              <a:ext cx="30193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from a fixed batch of logged experience.</a:t>
              </a:r>
            </a:p>
          </p:txBody>
        </p:sp>
        <p:sp>
          <p:nvSpPr>
            <p:cNvPr id="12" name="Rectangle 12"/>
            <p:cNvSpPr/>
            <p:nvPr/>
          </p:nvSpPr>
          <p:spPr>
            <a:xfrm>
              <a:off x="1143000" y="3429000"/>
              <a:ext cx="2781300" cy="1428750"/>
            </a:xfrm>
            <a:prstGeom prst="roundRect">
              <a:avLst>
                <a:gd name="adj" fmla="val 6667"/>
              </a:avLst>
            </a:prstGeom>
            <a:solidFill>
              <a:schemeClr val="accent6"/>
            </a:solidFill>
            <a:ln w="14288">
              <a:solidFill>
                <a:srgbClr val="26455F"/>
              </a:solidFill>
            </a:ln>
          </p:spPr>
        </p:sp>
        <p:sp>
          <p:nvSpPr>
            <p:cNvPr id="13" name="TextBox 13"/>
            <p:cNvSpPr txBox="1"/>
            <p:nvPr/>
          </p:nvSpPr>
          <p:spPr>
            <a:xfrm>
              <a:off x="2050933" y="3620452"/>
              <a:ext cx="965435" cy="205359"/>
            </a:xfrm>
            <a:prstGeom prst="rect">
              <a:avLst/>
            </a:prstGeom>
            <a:noFill/>
            <a:ln>
              <a:noFill/>
            </a:ln>
          </p:spPr>
          <p:txBody>
            <a:bodyPr wrap="none" lIns="0" tIns="0" rIns="0" bIns="0" anchor="t" anchorCtr="0">
              <a:spAutoFit/>
            </a:bodyPr>
            <a:lstStyle/>
            <a:p>
              <a:pPr algn="ctr"/>
              <a:r>
                <a:rPr lang="en-US" sz="1050" b="1" dirty="0">
                  <a:solidFill>
                    <a:srgbClr val="34D3C0"/>
                  </a:solidFill>
                  <a:latin typeface="Consolas"/>
                  <a:ea typeface="Consolas"/>
                  <a:cs typeface="Consolas"/>
                </a:rPr>
                <a:t>fixed batch D</a:t>
              </a:r>
            </a:p>
          </p:txBody>
        </p:sp>
        <p:sp>
          <p:nvSpPr>
            <p:cNvPr id="14" name="Line 14"/>
            <p:cNvSpPr/>
            <p:nvPr/>
          </p:nvSpPr>
          <p:spPr>
            <a:xfrm>
              <a:off x="1333500" y="3905250"/>
              <a:ext cx="2400300" cy="9525"/>
            </a:xfrm>
            <a:custGeom>
              <a:avLst/>
              <a:gdLst/>
              <a:ahLst/>
              <a:cxnLst/>
              <a:rect l="l" t="t" r="r" b="b"/>
              <a:pathLst>
                <a:path w="2400300" h="9525">
                  <a:moveTo>
                    <a:pt x="0" y="0"/>
                  </a:moveTo>
                  <a:lnTo>
                    <a:pt x="2400300" y="0"/>
                  </a:lnTo>
                </a:path>
              </a:pathLst>
            </a:custGeom>
            <a:noFill/>
            <a:ln w="9525" cap="rnd">
              <a:solidFill>
                <a:srgbClr val="26455F"/>
              </a:solidFill>
              <a:custDash>
                <a:ds d="300000" sp="400000"/>
              </a:custDash>
            </a:ln>
          </p:spPr>
        </p:sp>
        <p:sp>
          <p:nvSpPr>
            <p:cNvPr id="15" name="Ellipse 15"/>
            <p:cNvSpPr/>
            <p:nvPr/>
          </p:nvSpPr>
          <p:spPr>
            <a:xfrm>
              <a:off x="1457325" y="4124325"/>
              <a:ext cx="133350" cy="133350"/>
            </a:xfrm>
            <a:prstGeom prst="ellipse">
              <a:avLst/>
            </a:prstGeom>
            <a:solidFill>
              <a:schemeClr val="accent2"/>
            </a:solidFill>
            <a:ln>
              <a:noFill/>
            </a:ln>
          </p:spPr>
        </p:sp>
        <p:sp>
          <p:nvSpPr>
            <p:cNvPr id="16" name="Ellipse 16"/>
            <p:cNvSpPr/>
            <p:nvPr/>
          </p:nvSpPr>
          <p:spPr>
            <a:xfrm>
              <a:off x="1933575" y="4124325"/>
              <a:ext cx="133350" cy="133350"/>
            </a:xfrm>
            <a:prstGeom prst="ellipse">
              <a:avLst/>
            </a:prstGeom>
            <a:solidFill>
              <a:schemeClr val="accent2"/>
            </a:solidFill>
            <a:ln>
              <a:noFill/>
            </a:ln>
          </p:spPr>
        </p:sp>
        <p:sp>
          <p:nvSpPr>
            <p:cNvPr id="17" name="Ellipse 17"/>
            <p:cNvSpPr/>
            <p:nvPr/>
          </p:nvSpPr>
          <p:spPr>
            <a:xfrm>
              <a:off x="2409825" y="4124325"/>
              <a:ext cx="133350" cy="133350"/>
            </a:xfrm>
            <a:prstGeom prst="ellipse">
              <a:avLst/>
            </a:prstGeom>
            <a:solidFill>
              <a:srgbClr val="26455F"/>
            </a:solidFill>
            <a:ln>
              <a:noFill/>
            </a:ln>
          </p:spPr>
        </p:sp>
        <p:sp>
          <p:nvSpPr>
            <p:cNvPr id="18" name="Ellipse 18"/>
            <p:cNvSpPr/>
            <p:nvPr/>
          </p:nvSpPr>
          <p:spPr>
            <a:xfrm>
              <a:off x="2886075" y="4124325"/>
              <a:ext cx="133350" cy="133350"/>
            </a:xfrm>
            <a:prstGeom prst="ellipse">
              <a:avLst/>
            </a:prstGeom>
            <a:solidFill>
              <a:schemeClr val="accent2"/>
            </a:solidFill>
            <a:ln>
              <a:noFill/>
            </a:ln>
          </p:spPr>
        </p:sp>
        <p:sp>
          <p:nvSpPr>
            <p:cNvPr id="19" name="Ellipse 19"/>
            <p:cNvSpPr/>
            <p:nvPr/>
          </p:nvSpPr>
          <p:spPr>
            <a:xfrm>
              <a:off x="3362325" y="4124325"/>
              <a:ext cx="133350" cy="133350"/>
            </a:xfrm>
            <a:prstGeom prst="ellipse">
              <a:avLst/>
            </a:prstGeom>
            <a:solidFill>
              <a:srgbClr val="26455F"/>
            </a:solidFill>
            <a:ln>
              <a:noFill/>
            </a:ln>
          </p:spPr>
        </p:sp>
        <p:sp>
          <p:nvSpPr>
            <p:cNvPr id="20" name="Ellipse 20"/>
            <p:cNvSpPr/>
            <p:nvPr/>
          </p:nvSpPr>
          <p:spPr>
            <a:xfrm>
              <a:off x="1457325" y="4486275"/>
              <a:ext cx="133350" cy="133350"/>
            </a:xfrm>
            <a:prstGeom prst="ellipse">
              <a:avLst/>
            </a:prstGeom>
            <a:solidFill>
              <a:srgbClr val="26455F"/>
            </a:solidFill>
            <a:ln>
              <a:noFill/>
            </a:ln>
          </p:spPr>
        </p:sp>
        <p:sp>
          <p:nvSpPr>
            <p:cNvPr id="21" name="Ellipse 21"/>
            <p:cNvSpPr/>
            <p:nvPr/>
          </p:nvSpPr>
          <p:spPr>
            <a:xfrm>
              <a:off x="1933575" y="4486275"/>
              <a:ext cx="133350" cy="133350"/>
            </a:xfrm>
            <a:prstGeom prst="ellipse">
              <a:avLst/>
            </a:prstGeom>
            <a:solidFill>
              <a:schemeClr val="accent2"/>
            </a:solidFill>
            <a:ln>
              <a:noFill/>
            </a:ln>
          </p:spPr>
        </p:sp>
        <p:sp>
          <p:nvSpPr>
            <p:cNvPr id="22" name="Ellipse 22"/>
            <p:cNvSpPr/>
            <p:nvPr/>
          </p:nvSpPr>
          <p:spPr>
            <a:xfrm>
              <a:off x="2409825" y="4486275"/>
              <a:ext cx="133350" cy="133350"/>
            </a:xfrm>
            <a:prstGeom prst="ellipse">
              <a:avLst/>
            </a:prstGeom>
            <a:solidFill>
              <a:srgbClr val="26455F"/>
            </a:solidFill>
            <a:ln>
              <a:noFill/>
            </a:ln>
          </p:spPr>
        </p:sp>
        <p:sp>
          <p:nvSpPr>
            <p:cNvPr id="23" name="Ellipse 23"/>
            <p:cNvSpPr/>
            <p:nvPr/>
          </p:nvSpPr>
          <p:spPr>
            <a:xfrm>
              <a:off x="2886075" y="4486275"/>
              <a:ext cx="133350" cy="133350"/>
            </a:xfrm>
            <a:prstGeom prst="ellipse">
              <a:avLst/>
            </a:prstGeom>
            <a:solidFill>
              <a:srgbClr val="26455F"/>
            </a:solidFill>
            <a:ln>
              <a:noFill/>
            </a:ln>
          </p:spPr>
        </p:sp>
        <p:sp>
          <p:nvSpPr>
            <p:cNvPr id="24" name="Ellipse 24"/>
            <p:cNvSpPr/>
            <p:nvPr/>
          </p:nvSpPr>
          <p:spPr>
            <a:xfrm>
              <a:off x="3362325" y="4486275"/>
              <a:ext cx="133350" cy="133350"/>
            </a:xfrm>
            <a:prstGeom prst="ellipse">
              <a:avLst/>
            </a:prstGeom>
            <a:solidFill>
              <a:schemeClr val="accent2"/>
            </a:solidFill>
            <a:ln>
              <a:noFill/>
            </a:ln>
          </p:spPr>
        </p:sp>
        <p:sp>
          <p:nvSpPr>
            <p:cNvPr id="25" name="TextBox 25"/>
            <p:cNvSpPr txBox="1"/>
            <p:nvPr/>
          </p:nvSpPr>
          <p:spPr>
            <a:xfrm>
              <a:off x="1552505" y="4722495"/>
              <a:ext cx="1962289"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logged (s, a) pairs — no queries</a:t>
              </a:r>
            </a:p>
          </p:txBody>
        </p:sp>
      </p:grpSp>
      <p:grpSp>
        <p:nvGrpSpPr>
          <p:cNvPr id="35" name="Group 35"/>
          <p:cNvGrpSpPr/>
          <p:nvPr/>
        </p:nvGrpSpPr>
        <p:grpSpPr>
          <a:xfrm>
            <a:off x="4762500" y="1504950"/>
            <a:ext cx="6819900" cy="1676400"/>
            <a:chOff x="4762500" y="1504950"/>
            <a:chExt cx="6819900" cy="1676400"/>
          </a:xfrm>
        </p:grpSpPr>
        <p:sp>
          <p:nvSpPr>
            <p:cNvPr id="27" name="Rectangle 27"/>
            <p:cNvSpPr/>
            <p:nvPr/>
          </p:nvSpPr>
          <p:spPr>
            <a:xfrm>
              <a:off x="4762500" y="1504950"/>
              <a:ext cx="6819900" cy="1676400"/>
            </a:xfrm>
            <a:prstGeom prst="roundRect">
              <a:avLst>
                <a:gd name="adj" fmla="val 7955"/>
              </a:avLst>
            </a:prstGeom>
            <a:solidFill>
              <a:schemeClr val="accent5"/>
            </a:solidFill>
            <a:ln w="14288">
              <a:solidFill>
                <a:srgbClr val="26455F"/>
              </a:solidFill>
            </a:ln>
          </p:spPr>
        </p:sp>
        <p:sp>
          <p:nvSpPr>
            <p:cNvPr id="28" name="Rectangle 28"/>
            <p:cNvSpPr/>
            <p:nvPr/>
          </p:nvSpPr>
          <p:spPr>
            <a:xfrm>
              <a:off x="4762500" y="1504950"/>
              <a:ext cx="57150" cy="1676400"/>
            </a:xfrm>
            <a:prstGeom prst="roundRect">
              <a:avLst>
                <a:gd name="adj" fmla="val 50000"/>
              </a:avLst>
            </a:prstGeom>
            <a:solidFill>
              <a:srgbClr val="F2C14E"/>
            </a:solidFill>
            <a:ln>
              <a:noFill/>
            </a:ln>
          </p:spPr>
        </p:sp>
        <p:sp>
          <p:nvSpPr>
            <p:cNvPr id="29" name="TextBox 29"/>
            <p:cNvSpPr txBox="1"/>
            <p:nvPr/>
          </p:nvSpPr>
          <p:spPr>
            <a:xfrm>
              <a:off x="5022723" y="1748314"/>
              <a:ext cx="3176332"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The data only covers what users did</a:t>
              </a:r>
            </a:p>
          </p:txBody>
        </p:sp>
        <p:sp>
          <p:nvSpPr>
            <p:cNvPr id="30" name="TextBox 30"/>
            <p:cNvSpPr txBox="1"/>
            <p:nvPr/>
          </p:nvSpPr>
          <p:spPr>
            <a:xfrm>
              <a:off x="5023485" y="2088356"/>
              <a:ext cx="45544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Logged trajectories reveal only the actions the original users</a:t>
              </a:r>
            </a:p>
          </p:txBody>
        </p:sp>
        <p:sp>
          <p:nvSpPr>
            <p:cNvPr id="31" name="TextBox 31"/>
            <p:cNvSpPr txBox="1"/>
            <p:nvPr/>
          </p:nvSpPr>
          <p:spPr>
            <a:xfrm>
              <a:off x="5023485" y="2316956"/>
              <a:ext cx="46604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actually took. Vast parts of the state-action space are simply</a:t>
              </a:r>
            </a:p>
          </p:txBody>
        </p:sp>
        <p:sp>
          <p:nvSpPr>
            <p:cNvPr id="32" name="TextBox 32"/>
            <p:cNvSpPr txBox="1"/>
            <p:nvPr/>
          </p:nvSpPr>
          <p:spPr>
            <a:xfrm>
              <a:off x="5023485" y="2545556"/>
              <a:ext cx="885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never seen.</a:t>
              </a:r>
            </a:p>
          </p:txBody>
        </p:sp>
        <p:sp>
          <p:nvSpPr>
            <p:cNvPr id="33" name="Rectangle 33"/>
            <p:cNvSpPr/>
            <p:nvPr/>
          </p:nvSpPr>
          <p:spPr>
            <a:xfrm>
              <a:off x="5029200" y="2724150"/>
              <a:ext cx="6286500" cy="304800"/>
            </a:xfrm>
            <a:prstGeom prst="roundRect">
              <a:avLst>
                <a:gd name="adj" fmla="val 18750"/>
              </a:avLst>
            </a:prstGeom>
            <a:solidFill>
              <a:schemeClr val="accent6"/>
            </a:solidFill>
            <a:ln w="14288">
              <a:solidFill>
                <a:srgbClr val="26455F"/>
              </a:solidFill>
            </a:ln>
          </p:spPr>
        </p:sp>
        <p:sp>
          <p:nvSpPr>
            <p:cNvPr id="34" name="TextBox 34"/>
            <p:cNvSpPr txBox="1"/>
            <p:nvPr/>
          </p:nvSpPr>
          <p:spPr>
            <a:xfrm>
              <a:off x="5176456" y="2814876"/>
              <a:ext cx="3779270"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covered state-action pairs &lt;&lt; full state-action space</a:t>
              </a:r>
            </a:p>
          </p:txBody>
        </p:sp>
      </p:grpSp>
      <p:grpSp>
        <p:nvGrpSpPr>
          <p:cNvPr id="43" name="Group 43"/>
          <p:cNvGrpSpPr/>
          <p:nvPr/>
        </p:nvGrpSpPr>
        <p:grpSpPr>
          <a:xfrm>
            <a:off x="4762500" y="3333750"/>
            <a:ext cx="6819900" cy="1905000"/>
            <a:chOff x="4762500" y="3333750"/>
            <a:chExt cx="6819900" cy="1905000"/>
          </a:xfrm>
        </p:grpSpPr>
        <p:sp>
          <p:nvSpPr>
            <p:cNvPr id="36" name="Rectangle 36"/>
            <p:cNvSpPr/>
            <p:nvPr/>
          </p:nvSpPr>
          <p:spPr>
            <a:xfrm>
              <a:off x="4762500" y="3333750"/>
              <a:ext cx="6819900" cy="1905000"/>
            </a:xfrm>
            <a:prstGeom prst="roundRect">
              <a:avLst>
                <a:gd name="adj" fmla="val 7000"/>
              </a:avLst>
            </a:prstGeom>
            <a:solidFill>
              <a:srgbClr val="2A1720"/>
            </a:solidFill>
            <a:ln w="14288">
              <a:solidFill>
                <a:srgbClr val="F2685C"/>
              </a:solidFill>
            </a:ln>
          </p:spPr>
        </p:sp>
        <p:sp>
          <p:nvSpPr>
            <p:cNvPr id="37" name="Rectangle 37"/>
            <p:cNvSpPr/>
            <p:nvPr/>
          </p:nvSpPr>
          <p:spPr>
            <a:xfrm>
              <a:off x="4762500" y="3333750"/>
              <a:ext cx="57150" cy="1905000"/>
            </a:xfrm>
            <a:prstGeom prst="roundRect">
              <a:avLst>
                <a:gd name="adj" fmla="val 50000"/>
              </a:avLst>
            </a:prstGeom>
            <a:solidFill>
              <a:srgbClr val="F2685C"/>
            </a:solidFill>
            <a:ln>
              <a:noFill/>
            </a:ln>
          </p:spPr>
        </p:sp>
        <p:sp>
          <p:nvSpPr>
            <p:cNvPr id="38" name="TextBox 38"/>
            <p:cNvSpPr txBox="1"/>
            <p:nvPr/>
          </p:nvSpPr>
          <p:spPr>
            <a:xfrm>
              <a:off x="5022723" y="3577114"/>
              <a:ext cx="2786975" cy="249364"/>
            </a:xfrm>
            <a:prstGeom prst="rect">
              <a:avLst/>
            </a:prstGeom>
            <a:noFill/>
            <a:ln>
              <a:noFill/>
            </a:ln>
          </p:spPr>
          <p:txBody>
            <a:bodyPr wrap="none" lIns="0" tIns="0" rIns="0" bIns="0" anchor="t" anchorCtr="0">
              <a:spAutoFit/>
            </a:bodyPr>
            <a:lstStyle/>
            <a:p>
              <a:pPr algn="l"/>
              <a:r>
                <a:rPr lang="en-US" sz="1280" b="1" dirty="0">
                  <a:solidFill>
                    <a:srgbClr val="F2685C"/>
                  </a:solidFill>
                  <a:latin typeface="+mn-lt"/>
                  <a:ea typeface="+mn-ea"/>
                  <a:cs typeface="+mn-cs"/>
                </a:rPr>
                <a:t>Maximum likelihood breaks down</a:t>
              </a:r>
            </a:p>
          </p:txBody>
        </p:sp>
        <p:sp>
          <p:nvSpPr>
            <p:cNvPr id="39" name="TextBox 39"/>
            <p:cNvSpPr txBox="1"/>
            <p:nvPr/>
          </p:nvSpPr>
          <p:spPr>
            <a:xfrm>
              <a:off x="5023485" y="3917156"/>
              <a:ext cx="4742886"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An MLE fit of the dynamics yields policies that swing wildly from</a:t>
              </a:r>
            </a:p>
          </p:txBody>
        </p:sp>
        <p:sp>
          <p:nvSpPr>
            <p:cNvPr id="40" name="TextBox 40"/>
            <p:cNvSpPr txBox="1"/>
            <p:nvPr/>
          </p:nvSpPr>
          <p:spPr>
            <a:xfrm>
              <a:off x="5023485" y="4145756"/>
              <a:ext cx="484375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one dataset to the next, and recommend genuinely unsafe actions</a:t>
              </a:r>
            </a:p>
          </p:txBody>
        </p:sp>
        <p:sp>
          <p:nvSpPr>
            <p:cNvPr id="41" name="TextBox 41"/>
            <p:cNvSpPr txBox="1"/>
            <p:nvPr/>
          </p:nvSpPr>
          <p:spPr>
            <a:xfrm>
              <a:off x="5023485" y="4374356"/>
              <a:ext cx="201673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exactly where data is thin.</a:t>
              </a:r>
            </a:p>
          </p:txBody>
        </p:sp>
        <p:sp>
          <p:nvSpPr>
            <p:cNvPr id="42" name="TextBox 42"/>
            <p:cNvSpPr txBox="1"/>
            <p:nvPr/>
          </p:nvSpPr>
          <p:spPr>
            <a:xfrm>
              <a:off x="5023485" y="4755356"/>
              <a:ext cx="4182981"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high variance + unsafe actions where coverage is poor</a:t>
              </a:r>
            </a:p>
          </p:txBody>
        </p:sp>
      </p:grpSp>
      <p:sp>
        <p:nvSpPr>
          <p:cNvPr id="44" name="cue_s02_c1_fields_like_healthcare_education_can" title="cue_s02_c1_fields_like_healthcare_education_can" descr="cue_s02_c1_fields_like_healthcare_education_can In fields like healthcare and education we cannot experiment freely, so offline reinforcement learning must learn the environment's transition dynamics purely from a fixed batch of collected experience."/>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trouble_only_covers_actions_original" title="cue_s02_c2_trouble_only_covers_actions_original" descr="cue_s02_c2_trouble_only_covers_actions_original The trouble is that this data only covers the actions the original users actually took, leaving much of the state and action space unseen."/>
          <p:cNvSpPr/>
          <p:nvPr/>
        </p:nvSpPr>
        <p:spPr>
          <a:xfrm>
            <a:off x="4762195" y="1504645"/>
            <a:ext cx="6820204"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3_standard_maximum_likelihood_estimate" title="cue_s02_c3_standard_maximum_likelihood_estimate" descr="cue_s02_c3_standard_maximum_likelihood_estimate Standard maximum likelihood estimates of the dynamics therefore produce policies that swing wildly from dataset to dataset and can recommend genuinely unsafe actions in the regions where data is thin."/>
          <p:cNvSpPr/>
          <p:nvPr/>
        </p:nvSpPr>
        <p:spPr>
          <a:xfrm>
            <a:off x="4762195" y="3333673"/>
            <a:ext cx="6820204"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79529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expert who logged the data already knows a lot</a:t>
            </a:r>
          </a:p>
        </p:txBody>
      </p:sp>
      <p:grpSp>
        <p:nvGrpSpPr>
          <p:cNvPr id="9" name="Group 9"/>
          <p:cNvGrpSpPr/>
          <p:nvPr/>
        </p:nvGrpSpPr>
        <p:grpSpPr>
          <a:xfrm>
            <a:off x="609600" y="1504950"/>
            <a:ext cx="10972800" cy="800100"/>
            <a:chOff x="609600" y="1504950"/>
            <a:chExt cx="10972800" cy="800100"/>
          </a:xfrm>
        </p:grpSpPr>
        <p:sp>
          <p:nvSpPr>
            <p:cNvPr id="5" name="Rectangle 5"/>
            <p:cNvSpPr/>
            <p:nvPr/>
          </p:nvSpPr>
          <p:spPr>
            <a:xfrm>
              <a:off x="609600" y="1504950"/>
              <a:ext cx="10972800" cy="800100"/>
            </a:xfrm>
            <a:prstGeom prst="roundRect">
              <a:avLst>
                <a:gd name="adj" fmla="val 16667"/>
              </a:avLst>
            </a:prstGeom>
            <a:solidFill>
              <a:schemeClr val="accent5"/>
            </a:solidFill>
            <a:ln w="14288">
              <a:solidFill>
                <a:srgbClr val="26455F"/>
              </a:solidFill>
            </a:ln>
          </p:spPr>
        </p:sp>
        <p:sp>
          <p:nvSpPr>
            <p:cNvPr id="6" name="Rectangle 6"/>
            <p:cNvSpPr/>
            <p:nvPr/>
          </p:nvSpPr>
          <p:spPr>
            <a:xfrm>
              <a:off x="609600" y="1504950"/>
              <a:ext cx="57150" cy="800100"/>
            </a:xfrm>
            <a:prstGeom prst="roundRect">
              <a:avLst>
                <a:gd name="adj" fmla="val 50000"/>
              </a:avLst>
            </a:prstGeom>
            <a:solidFill>
              <a:srgbClr val="34D3C0"/>
            </a:solidFill>
            <a:ln>
              <a:noFill/>
            </a:ln>
          </p:spPr>
        </p:sp>
        <p:sp>
          <p:nvSpPr>
            <p:cNvPr id="7" name="TextBox 7"/>
            <p:cNvSpPr txBox="1"/>
            <p:nvPr/>
          </p:nvSpPr>
          <p:spPr>
            <a:xfrm>
              <a:off x="870585" y="1726406"/>
              <a:ext cx="1006867" cy="220028"/>
            </a:xfrm>
            <a:prstGeom prst="rect">
              <a:avLst/>
            </a:prstGeom>
            <a:noFill/>
            <a:ln>
              <a:noFill/>
            </a:ln>
          </p:spPr>
          <p:txBody>
            <a:bodyPr wrap="none" lIns="0" tIns="0" rIns="0" bIns="0" anchor="t" anchorCtr="0">
              <a:spAutoFit/>
            </a:bodyPr>
            <a:lstStyle/>
            <a:p>
              <a:pPr algn="l"/>
              <a:r>
                <a:rPr lang="en-US" sz="1120" b="1" spc="112" dirty="0">
                  <a:solidFill>
                    <a:srgbClr val="34D3C0"/>
                  </a:solidFill>
                  <a:latin typeface="+mn-lt"/>
                  <a:ea typeface="+mn-ea"/>
                  <a:cs typeface="+mn-cs"/>
                </a:rPr>
                <a:t>Key insight</a:t>
              </a:r>
            </a:p>
          </p:txBody>
        </p:sp>
        <p:sp>
          <p:nvSpPr>
            <p:cNvPr id="8" name="TextBox 8"/>
            <p:cNvSpPr txBox="1"/>
            <p:nvPr/>
          </p:nvSpPr>
          <p:spPr>
            <a:xfrm>
              <a:off x="869823" y="1995964"/>
              <a:ext cx="846848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The people who generate offline data — clinicians, teachers — are usually acting near-optimally.</a:t>
              </a:r>
            </a:p>
          </p:txBody>
        </p:sp>
      </p:grpSp>
      <p:grpSp>
        <p:nvGrpSpPr>
          <p:cNvPr id="17" name="Group 17"/>
          <p:cNvGrpSpPr/>
          <p:nvPr/>
        </p:nvGrpSpPr>
        <p:grpSpPr>
          <a:xfrm>
            <a:off x="609600" y="2495550"/>
            <a:ext cx="5334000" cy="1428750"/>
            <a:chOff x="609600" y="2495550"/>
            <a:chExt cx="5334000" cy="1428750"/>
          </a:xfrm>
        </p:grpSpPr>
        <p:sp>
          <p:nvSpPr>
            <p:cNvPr id="10" name="Rectangle 10"/>
            <p:cNvSpPr/>
            <p:nvPr/>
          </p:nvSpPr>
          <p:spPr>
            <a:xfrm>
              <a:off x="609600" y="2495550"/>
              <a:ext cx="5334000" cy="1428750"/>
            </a:xfrm>
            <a:prstGeom prst="roundRect">
              <a:avLst>
                <a:gd name="adj" fmla="val 9333"/>
              </a:avLst>
            </a:prstGeom>
            <a:solidFill>
              <a:schemeClr val="accent5"/>
            </a:solidFill>
            <a:ln w="14288">
              <a:solidFill>
                <a:srgbClr val="26455F"/>
              </a:solidFill>
            </a:ln>
          </p:spPr>
        </p:sp>
        <p:sp>
          <p:nvSpPr>
            <p:cNvPr id="11" name="Rectangle 11"/>
            <p:cNvSpPr/>
            <p:nvPr/>
          </p:nvSpPr>
          <p:spPr>
            <a:xfrm>
              <a:off x="609600" y="2495550"/>
              <a:ext cx="57150" cy="1428750"/>
            </a:xfrm>
            <a:prstGeom prst="roundRect">
              <a:avLst>
                <a:gd name="adj" fmla="val 50000"/>
              </a:avLst>
            </a:prstGeom>
            <a:solidFill>
              <a:schemeClr val="accent2"/>
            </a:solidFill>
            <a:ln>
              <a:noFill/>
            </a:ln>
          </p:spPr>
        </p:sp>
        <p:sp>
          <p:nvSpPr>
            <p:cNvPr id="12" name="TextBox 12"/>
            <p:cNvSpPr txBox="1"/>
            <p:nvPr/>
          </p:nvSpPr>
          <p:spPr>
            <a:xfrm>
              <a:off x="869823" y="2719864"/>
              <a:ext cx="28502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Their choices are a hidden signal</a:t>
              </a:r>
            </a:p>
          </p:txBody>
        </p:sp>
        <p:sp>
          <p:nvSpPr>
            <p:cNvPr id="13" name="TextBox 13"/>
            <p:cNvSpPr txBox="1"/>
            <p:nvPr/>
          </p:nvSpPr>
          <p:spPr>
            <a:xfrm>
              <a:off x="870776" y="3044904"/>
              <a:ext cx="392626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Each expert decision quietly encodes which actions are</a:t>
              </a:r>
            </a:p>
          </p:txBody>
        </p:sp>
        <p:sp>
          <p:nvSpPr>
            <p:cNvPr id="14" name="TextBox 14"/>
            <p:cNvSpPr txBox="1"/>
            <p:nvPr/>
          </p:nvSpPr>
          <p:spPr>
            <a:xfrm>
              <a:off x="870776" y="3254454"/>
              <a:ext cx="36147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good and which are bad — yet a plain MLE fit of the</a:t>
              </a:r>
            </a:p>
          </p:txBody>
        </p:sp>
        <p:sp>
          <p:nvSpPr>
            <p:cNvPr id="15" name="TextBox 15"/>
            <p:cNvSpPr txBox="1"/>
            <p:nvPr/>
          </p:nvSpPr>
          <p:spPr>
            <a:xfrm>
              <a:off x="870776" y="3464004"/>
              <a:ext cx="293842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dynamics throws that information away.</a:t>
              </a:r>
            </a:p>
          </p:txBody>
        </p:sp>
        <p:sp>
          <p:nvSpPr>
            <p:cNvPr id="16" name="TextBox 16"/>
            <p:cNvSpPr txBox="1"/>
            <p:nvPr/>
          </p:nvSpPr>
          <p:spPr>
            <a:xfrm>
              <a:off x="871347" y="3704749"/>
              <a:ext cx="2641862" cy="190690"/>
            </a:xfrm>
            <a:prstGeom prst="rect">
              <a:avLst/>
            </a:prstGeom>
            <a:noFill/>
            <a:ln>
              <a:noFill/>
            </a:ln>
          </p:spPr>
          <p:txBody>
            <a:bodyPr wrap="none" lIns="0" tIns="0" rIns="0" bIns="0" anchor="t" anchorCtr="0">
              <a:spAutoFit/>
            </a:bodyPr>
            <a:lstStyle/>
            <a:p>
              <a:pPr algn="l"/>
              <a:r>
                <a:rPr lang="en-US" sz="980" b="1" dirty="0">
                  <a:solidFill>
                    <a:srgbClr val="34D3C0"/>
                  </a:solidFill>
                  <a:latin typeface="Consolas"/>
                  <a:ea typeface="Consolas"/>
                  <a:cs typeface="Consolas"/>
                </a:rPr>
                <a:t>expert action = implicit label on quality</a:t>
              </a:r>
            </a:p>
          </p:txBody>
        </p:sp>
      </p:grpSp>
      <p:grpSp>
        <p:nvGrpSpPr>
          <p:cNvPr id="26" name="Group 26"/>
          <p:cNvGrpSpPr/>
          <p:nvPr/>
        </p:nvGrpSpPr>
        <p:grpSpPr>
          <a:xfrm>
            <a:off x="6172200" y="2495550"/>
            <a:ext cx="5410200" cy="1428750"/>
            <a:chOff x="6172200" y="2495550"/>
            <a:chExt cx="5410200" cy="1428750"/>
          </a:xfrm>
        </p:grpSpPr>
        <p:sp>
          <p:nvSpPr>
            <p:cNvPr id="18" name="Rectangle 18"/>
            <p:cNvSpPr/>
            <p:nvPr/>
          </p:nvSpPr>
          <p:spPr>
            <a:xfrm>
              <a:off x="6172200" y="2495550"/>
              <a:ext cx="54102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172200" y="2495550"/>
              <a:ext cx="57150" cy="1428750"/>
            </a:xfrm>
            <a:prstGeom prst="roundRect">
              <a:avLst>
                <a:gd name="adj" fmla="val 50000"/>
              </a:avLst>
            </a:prstGeom>
            <a:solidFill>
              <a:srgbClr val="F2C14E"/>
            </a:solidFill>
            <a:ln>
              <a:noFill/>
            </a:ln>
          </p:spPr>
        </p:sp>
        <p:sp>
          <p:nvSpPr>
            <p:cNvPr id="20" name="TextBox 20"/>
            <p:cNvSpPr txBox="1"/>
            <p:nvPr/>
          </p:nvSpPr>
          <p:spPr>
            <a:xfrm>
              <a:off x="6432423" y="2719864"/>
              <a:ext cx="2844099"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Prior gradient-based inverse RL</a:t>
              </a:r>
            </a:p>
          </p:txBody>
        </p:sp>
        <p:sp>
          <p:nvSpPr>
            <p:cNvPr id="21" name="TextBox 21"/>
            <p:cNvSpPr txBox="1"/>
            <p:nvPr/>
          </p:nvSpPr>
          <p:spPr>
            <a:xfrm>
              <a:off x="6433376" y="3044904"/>
              <a:ext cx="36696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Earlier methods estimate an expert's belief of the</a:t>
              </a:r>
            </a:p>
          </p:txBody>
        </p:sp>
        <p:sp>
          <p:nvSpPr>
            <p:cNvPr id="22" name="TextBox 22"/>
            <p:cNvSpPr txBox="1"/>
            <p:nvPr/>
          </p:nvSpPr>
          <p:spPr>
            <a:xfrm>
              <a:off x="6433376" y="3254454"/>
              <a:ext cx="31071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dynamics, but never tie it back to the true</a:t>
              </a:r>
            </a:p>
          </p:txBody>
        </p:sp>
        <p:sp>
          <p:nvSpPr>
            <p:cNvPr id="23" name="TextBox 23"/>
            <p:cNvSpPr txBox="1"/>
            <p:nvPr/>
          </p:nvSpPr>
          <p:spPr>
            <a:xfrm>
              <a:off x="6433376" y="3464004"/>
              <a:ext cx="36427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environment — and inherit the fragility of gradient</a:t>
              </a:r>
            </a:p>
          </p:txBody>
        </p:sp>
        <p:sp>
          <p:nvSpPr>
            <p:cNvPr id="24" name="TextBox 24"/>
            <p:cNvSpPr txBox="1"/>
            <p:nvPr/>
          </p:nvSpPr>
          <p:spPr>
            <a:xfrm>
              <a:off x="6433376" y="3673554"/>
              <a:ext cx="97950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optimization.</a:t>
              </a:r>
            </a:p>
          </p:txBody>
        </p:sp>
        <p:sp>
          <p:nvSpPr>
            <p:cNvPr id="25" name="TextBox 25"/>
            <p:cNvSpPr txBox="1"/>
            <p:nvPr/>
          </p:nvSpPr>
          <p:spPr>
            <a:xfrm>
              <a:off x="6433947" y="3704749"/>
              <a:ext cx="3137073"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estimated T =/= true T · gradients are brittle</a:t>
              </a:r>
            </a:p>
          </p:txBody>
        </p:sp>
      </p:grpSp>
      <p:grpSp>
        <p:nvGrpSpPr>
          <p:cNvPr id="32" name="Group 32"/>
          <p:cNvGrpSpPr/>
          <p:nvPr/>
        </p:nvGrpSpPr>
        <p:grpSpPr>
          <a:xfrm>
            <a:off x="609600" y="4114800"/>
            <a:ext cx="10972800" cy="1123950"/>
            <a:chOff x="609600" y="4114800"/>
            <a:chExt cx="10972800" cy="1123950"/>
          </a:xfrm>
        </p:grpSpPr>
        <p:sp>
          <p:nvSpPr>
            <p:cNvPr id="27" name="Rectangle 27"/>
            <p:cNvSpPr/>
            <p:nvPr/>
          </p:nvSpPr>
          <p:spPr>
            <a:xfrm>
              <a:off x="609600" y="4114800"/>
              <a:ext cx="10972800" cy="1123950"/>
            </a:xfrm>
            <a:prstGeom prst="roundRect">
              <a:avLst>
                <a:gd name="adj" fmla="val 11864"/>
              </a:avLst>
            </a:prstGeom>
            <a:solidFill>
              <a:srgbClr val="0F2E2B"/>
            </a:solidFill>
            <a:ln w="14288">
              <a:solidFill>
                <a:srgbClr val="34D3C0"/>
              </a:solidFill>
            </a:ln>
          </p:spPr>
        </p:sp>
        <p:sp>
          <p:nvSpPr>
            <p:cNvPr id="28" name="Rectangle 28"/>
            <p:cNvSpPr/>
            <p:nvPr/>
          </p:nvSpPr>
          <p:spPr>
            <a:xfrm>
              <a:off x="609600" y="4114800"/>
              <a:ext cx="57150" cy="1123950"/>
            </a:xfrm>
            <a:prstGeom prst="roundRect">
              <a:avLst>
                <a:gd name="adj" fmla="val 50000"/>
              </a:avLst>
            </a:prstGeom>
            <a:solidFill>
              <a:srgbClr val="34D3C0"/>
            </a:solidFill>
            <a:ln>
              <a:noFill/>
            </a:ln>
          </p:spPr>
        </p:sp>
        <p:sp>
          <p:nvSpPr>
            <p:cNvPr id="29" name="TextBox 29"/>
            <p:cNvSpPr txBox="1"/>
            <p:nvPr/>
          </p:nvSpPr>
          <p:spPr>
            <a:xfrm>
              <a:off x="870585" y="4355306"/>
              <a:ext cx="772158" cy="220028"/>
            </a:xfrm>
            <a:prstGeom prst="rect">
              <a:avLst/>
            </a:prstGeom>
            <a:noFill/>
            <a:ln>
              <a:noFill/>
            </a:ln>
          </p:spPr>
          <p:txBody>
            <a:bodyPr wrap="none" lIns="0" tIns="0" rIns="0" bIns="0" anchor="t" anchorCtr="0">
              <a:spAutoFit/>
            </a:bodyPr>
            <a:lstStyle/>
            <a:p>
              <a:pPr algn="l"/>
              <a:r>
                <a:rPr lang="en-US" sz="1120" b="1" spc="112" dirty="0">
                  <a:solidFill>
                    <a:srgbClr val="34D3C0"/>
                  </a:solidFill>
                  <a:latin typeface="+mn-lt"/>
                  <a:ea typeface="+mn-ea"/>
                  <a:cs typeface="+mn-cs"/>
                </a:rPr>
                <a:t>Our goal</a:t>
              </a:r>
            </a:p>
          </p:txBody>
        </p:sp>
        <p:sp>
          <p:nvSpPr>
            <p:cNvPr id="30" name="TextBox 30"/>
            <p:cNvSpPr txBox="1"/>
            <p:nvPr/>
          </p:nvSpPr>
          <p:spPr>
            <a:xfrm>
              <a:off x="869061" y="4627721"/>
              <a:ext cx="610286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Exploit the expert signal directly, and without any gradients.</a:t>
              </a:r>
            </a:p>
          </p:txBody>
        </p:sp>
        <p:sp>
          <p:nvSpPr>
            <p:cNvPr id="31" name="TextBox 31"/>
            <p:cNvSpPr txBox="1"/>
            <p:nvPr/>
          </p:nvSpPr>
          <p:spPr>
            <a:xfrm>
              <a:off x="870966" y="4953952"/>
              <a:ext cx="5294368"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turn near-optimal demonstrations into hard constraints on the dynamics</a:t>
              </a:r>
            </a:p>
          </p:txBody>
        </p:sp>
      </p:grpSp>
      <p:sp>
        <p:nvSpPr>
          <p:cNvPr id="33" name="cue_s03_c1_key_insight_people_who_generate" title="cue_s03_c1_key_insight_people_who_generate" descr="cue_s03_c1_key_insight_people_who_generate The key insight is that the people who generate this offline data, such as clinicians, are usually acting near optimally."/>
          <p:cNvSpPr/>
          <p:nvPr/>
        </p:nvSpPr>
        <p:spPr>
          <a:xfrm>
            <a:off x="609600" y="1504645"/>
            <a:ext cx="10972800" cy="8003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3_c2_their_choices_quietly_encode_which" title="cue_s03_c2_their_choices_quietly_encode_which" descr="cue_s03_c2_their_choices_quietly_encode_which Their choices quietly encode which actions are good and which are bad, yet a plain maximum likelihood fit of the dynamics throws that information away."/>
          <p:cNvSpPr/>
          <p:nvPr/>
        </p:nvSpPr>
        <p:spPr>
          <a:xfrm>
            <a:off x="609600" y="2495626"/>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3_c3_earlier_gradient_based_inverse_reinf" title="cue_s03_c3_earlier_gradient_based_inverse_reinf" descr="cue_s03_c3_earlier_gradient_based_inverse_reinf Earlier gradient based inverse reinforcement learning methods try to recover an expert's belief about the dynamics, but they never connect their estimate back to the true environment and they suffer from the fragility of gradient optimization."/>
          <p:cNvSpPr/>
          <p:nvPr/>
        </p:nvSpPr>
        <p:spPr>
          <a:xfrm>
            <a:off x="6171590" y="2495626"/>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4_want_exploit_expert_signal_directly" title="cue_s03_c4_want_exploit_expert_signal_directly" descr="cue_s03_c4_want_exploit_expert_signal_directly We want to exploit the expert signal directly and without gradients."/>
          <p:cNvSpPr/>
          <p:nvPr/>
        </p:nvSpPr>
        <p:spPr>
          <a:xfrm>
            <a:off x="609600" y="4114800"/>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91337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Inverse Transition Learning: constraints meet a posterior</a:t>
            </a:r>
          </a:p>
        </p:txBody>
      </p:sp>
      <p:grpSp>
        <p:nvGrpSpPr>
          <p:cNvPr id="15" name="Group 15"/>
          <p:cNvGrpSpPr/>
          <p:nvPr/>
        </p:nvGrpSpPr>
        <p:grpSpPr>
          <a:xfrm>
            <a:off x="609600" y="1676400"/>
            <a:ext cx="3505200" cy="3562350"/>
            <a:chOff x="609600" y="1676400"/>
            <a:chExt cx="3505200" cy="3562350"/>
          </a:xfrm>
        </p:grpSpPr>
        <p:sp>
          <p:nvSpPr>
            <p:cNvPr id="5" name="Rectangle 5"/>
            <p:cNvSpPr/>
            <p:nvPr/>
          </p:nvSpPr>
          <p:spPr>
            <a:xfrm>
              <a:off x="609600" y="1676400"/>
              <a:ext cx="3505200" cy="3562350"/>
            </a:xfrm>
            <a:prstGeom prst="roundRect">
              <a:avLst>
                <a:gd name="adj" fmla="val 3804"/>
              </a:avLst>
            </a:prstGeom>
            <a:solidFill>
              <a:schemeClr val="accent5"/>
            </a:solidFill>
            <a:ln w="14288">
              <a:solidFill>
                <a:srgbClr val="26455F"/>
              </a:solidFill>
            </a:ln>
          </p:spPr>
        </p:sp>
        <p:sp>
          <p:nvSpPr>
            <p:cNvPr id="6" name="Rectangle 6"/>
            <p:cNvSpPr/>
            <p:nvPr/>
          </p:nvSpPr>
          <p:spPr>
            <a:xfrm>
              <a:off x="609600" y="1676400"/>
              <a:ext cx="3505200" cy="57150"/>
            </a:xfrm>
            <a:prstGeom prst="roundRect">
              <a:avLst>
                <a:gd name="adj" fmla="val 50000"/>
              </a:avLst>
            </a:prstGeom>
            <a:solidFill>
              <a:schemeClr val="accent2"/>
            </a:solidFill>
            <a:ln>
              <a:noFill/>
            </a:ln>
          </p:spPr>
        </p:sp>
        <p:sp>
          <p:nvSpPr>
            <p:cNvPr id="7" name="Ellipse 7"/>
            <p:cNvSpPr/>
            <p:nvPr/>
          </p:nvSpPr>
          <p:spPr>
            <a:xfrm>
              <a:off x="847725" y="2085975"/>
              <a:ext cx="514350" cy="514350"/>
            </a:xfrm>
            <a:prstGeom prst="ellipse">
              <a:avLst/>
            </a:prstGeom>
            <a:noFill/>
            <a:ln w="23812">
              <a:solidFill>
                <a:schemeClr val="accent2"/>
              </a:solidFill>
            </a:ln>
          </p:spPr>
        </p:sp>
        <p:sp>
          <p:nvSpPr>
            <p:cNvPr id="8" name="TextBox 8"/>
            <p:cNvSpPr txBox="1"/>
            <p:nvPr/>
          </p:nvSpPr>
          <p:spPr>
            <a:xfrm>
              <a:off x="1006009" y="219551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9" name="TextBox 9"/>
            <p:cNvSpPr txBox="1"/>
            <p:nvPr/>
          </p:nvSpPr>
          <p:spPr>
            <a:xfrm>
              <a:off x="869252" y="2860119"/>
              <a:ext cx="154398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Gradient-free &amp;</a:t>
              </a:r>
            </a:p>
          </p:txBody>
        </p:sp>
        <p:sp>
          <p:nvSpPr>
            <p:cNvPr id="10" name="TextBox 10"/>
            <p:cNvSpPr txBox="1"/>
            <p:nvPr/>
          </p:nvSpPr>
          <p:spPr>
            <a:xfrm>
              <a:off x="869252" y="3126819"/>
              <a:ext cx="169398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constraint-based</a:t>
              </a:r>
            </a:p>
          </p:txBody>
        </p:sp>
        <p:sp>
          <p:nvSpPr>
            <p:cNvPr id="11" name="TextBox 11"/>
            <p:cNvSpPr txBox="1"/>
            <p:nvPr/>
          </p:nvSpPr>
          <p:spPr>
            <a:xfrm>
              <a:off x="870585" y="3555206"/>
              <a:ext cx="303829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 introduce Inverse Transition Learning</a:t>
              </a:r>
            </a:p>
          </p:txBody>
        </p:sp>
        <p:sp>
          <p:nvSpPr>
            <p:cNvPr id="12" name="TextBox 12"/>
            <p:cNvSpPr txBox="1"/>
            <p:nvPr/>
          </p:nvSpPr>
          <p:spPr>
            <a:xfrm>
              <a:off x="870585" y="3793331"/>
              <a:ext cx="183230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(ITL) — a gradient-free,</a:t>
              </a:r>
            </a:p>
          </p:txBody>
        </p:sp>
        <p:sp>
          <p:nvSpPr>
            <p:cNvPr id="13" name="TextBox 13"/>
            <p:cNvSpPr txBox="1"/>
            <p:nvPr/>
          </p:nvSpPr>
          <p:spPr>
            <a:xfrm>
              <a:off x="870585" y="4031456"/>
              <a:ext cx="3049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constraint-based approach to estimating</a:t>
              </a:r>
            </a:p>
          </p:txBody>
        </p:sp>
        <p:sp>
          <p:nvSpPr>
            <p:cNvPr id="14" name="TextBox 14"/>
            <p:cNvSpPr txBox="1"/>
            <p:nvPr/>
          </p:nvSpPr>
          <p:spPr>
            <a:xfrm>
              <a:off x="870585" y="4269581"/>
              <a:ext cx="13005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offline dynamics.</a:t>
              </a:r>
            </a:p>
          </p:txBody>
        </p:sp>
      </p:grpSp>
      <p:grpSp>
        <p:nvGrpSpPr>
          <p:cNvPr id="27" name="Group 27"/>
          <p:cNvGrpSpPr/>
          <p:nvPr/>
        </p:nvGrpSpPr>
        <p:grpSpPr>
          <a:xfrm>
            <a:off x="4343400" y="1676400"/>
            <a:ext cx="3505200" cy="3562350"/>
            <a:chOff x="4343400" y="1676400"/>
            <a:chExt cx="3505200" cy="3562350"/>
          </a:xfrm>
        </p:grpSpPr>
        <p:sp>
          <p:nvSpPr>
            <p:cNvPr id="16" name="Rectangle 16"/>
            <p:cNvSpPr/>
            <p:nvPr/>
          </p:nvSpPr>
          <p:spPr>
            <a:xfrm>
              <a:off x="4343400" y="1676400"/>
              <a:ext cx="3505200" cy="3562350"/>
            </a:xfrm>
            <a:prstGeom prst="roundRect">
              <a:avLst>
                <a:gd name="adj" fmla="val 3804"/>
              </a:avLst>
            </a:prstGeom>
            <a:solidFill>
              <a:schemeClr val="accent5"/>
            </a:solidFill>
            <a:ln w="14288">
              <a:solidFill>
                <a:srgbClr val="26455F"/>
              </a:solidFill>
            </a:ln>
          </p:spPr>
        </p:sp>
        <p:sp>
          <p:nvSpPr>
            <p:cNvPr id="17" name="Rectangle 17"/>
            <p:cNvSpPr/>
            <p:nvPr/>
          </p:nvSpPr>
          <p:spPr>
            <a:xfrm>
              <a:off x="4343400" y="1676400"/>
              <a:ext cx="3505200" cy="57150"/>
            </a:xfrm>
            <a:prstGeom prst="roundRect">
              <a:avLst>
                <a:gd name="adj" fmla="val 50000"/>
              </a:avLst>
            </a:prstGeom>
            <a:solidFill>
              <a:srgbClr val="48C78E"/>
            </a:solidFill>
            <a:ln>
              <a:noFill/>
            </a:ln>
          </p:spPr>
        </p:sp>
        <p:sp>
          <p:nvSpPr>
            <p:cNvPr id="18" name="Ellipse 18"/>
            <p:cNvSpPr/>
            <p:nvPr/>
          </p:nvSpPr>
          <p:spPr>
            <a:xfrm>
              <a:off x="4581525" y="2085975"/>
              <a:ext cx="514350" cy="514350"/>
            </a:xfrm>
            <a:prstGeom prst="ellipse">
              <a:avLst/>
            </a:prstGeom>
            <a:noFill/>
            <a:ln w="23812">
              <a:solidFill>
                <a:srgbClr val="48C78E"/>
              </a:solidFill>
            </a:ln>
          </p:spPr>
        </p:sp>
        <p:sp>
          <p:nvSpPr>
            <p:cNvPr id="19" name="TextBox 19"/>
            <p:cNvSpPr txBox="1"/>
            <p:nvPr/>
          </p:nvSpPr>
          <p:spPr>
            <a:xfrm>
              <a:off x="4739809" y="2195512"/>
              <a:ext cx="197782"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2</a:t>
              </a:r>
            </a:p>
          </p:txBody>
        </p:sp>
        <p:sp>
          <p:nvSpPr>
            <p:cNvPr id="20" name="TextBox 20"/>
            <p:cNvSpPr txBox="1"/>
            <p:nvPr/>
          </p:nvSpPr>
          <p:spPr>
            <a:xfrm>
              <a:off x="4603052" y="2860119"/>
              <a:ext cx="1617579"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Clip the Bayesian</a:t>
              </a:r>
            </a:p>
          </p:txBody>
        </p:sp>
        <p:sp>
          <p:nvSpPr>
            <p:cNvPr id="21" name="TextBox 21"/>
            <p:cNvSpPr txBox="1"/>
            <p:nvPr/>
          </p:nvSpPr>
          <p:spPr>
            <a:xfrm>
              <a:off x="4603052" y="3126819"/>
              <a:ext cx="937543"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posterior</a:t>
              </a:r>
            </a:p>
          </p:txBody>
        </p:sp>
        <p:sp>
          <p:nvSpPr>
            <p:cNvPr id="22" name="TextBox 22"/>
            <p:cNvSpPr txBox="1"/>
            <p:nvPr/>
          </p:nvSpPr>
          <p:spPr>
            <a:xfrm>
              <a:off x="4604385" y="3555206"/>
              <a:ext cx="273032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Convert a near-optimal expert policy</a:t>
              </a:r>
            </a:p>
          </p:txBody>
        </p:sp>
        <p:sp>
          <p:nvSpPr>
            <p:cNvPr id="23" name="TextBox 23"/>
            <p:cNvSpPr txBox="1"/>
            <p:nvPr/>
          </p:nvSpPr>
          <p:spPr>
            <a:xfrm>
              <a:off x="4604385" y="3793331"/>
              <a:ext cx="28912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into constraints on the dynamics, then</a:t>
              </a:r>
            </a:p>
          </p:txBody>
        </p:sp>
        <p:sp>
          <p:nvSpPr>
            <p:cNvPr id="24" name="TextBox 24"/>
            <p:cNvSpPr txBox="1"/>
            <p:nvPr/>
          </p:nvSpPr>
          <p:spPr>
            <a:xfrm>
              <a:off x="4604385" y="4031456"/>
              <a:ext cx="249651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clip a Bayesian posterior so every</a:t>
              </a:r>
            </a:p>
          </p:txBody>
        </p:sp>
        <p:sp>
          <p:nvSpPr>
            <p:cNvPr id="25" name="TextBox 25"/>
            <p:cNvSpPr txBox="1"/>
            <p:nvPr/>
          </p:nvSpPr>
          <p:spPr>
            <a:xfrm>
              <a:off x="4604385" y="4269581"/>
              <a:ext cx="20921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sampled model yields a safe,</a:t>
              </a:r>
            </a:p>
          </p:txBody>
        </p:sp>
        <p:sp>
          <p:nvSpPr>
            <p:cNvPr id="26" name="TextBox 26"/>
            <p:cNvSpPr txBox="1"/>
            <p:nvPr/>
          </p:nvSpPr>
          <p:spPr>
            <a:xfrm>
              <a:off x="4604385" y="4507706"/>
              <a:ext cx="176041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high-performing policy.</a:t>
              </a:r>
            </a:p>
          </p:txBody>
        </p:sp>
      </p:grpSp>
      <p:grpSp>
        <p:nvGrpSpPr>
          <p:cNvPr id="38" name="Group 38"/>
          <p:cNvGrpSpPr/>
          <p:nvPr/>
        </p:nvGrpSpPr>
        <p:grpSpPr>
          <a:xfrm>
            <a:off x="8077200" y="1676400"/>
            <a:ext cx="3505200" cy="3562350"/>
            <a:chOff x="8077200" y="1676400"/>
            <a:chExt cx="3505200" cy="3562350"/>
          </a:xfrm>
        </p:grpSpPr>
        <p:sp>
          <p:nvSpPr>
            <p:cNvPr id="28" name="Rectangle 28"/>
            <p:cNvSpPr/>
            <p:nvPr/>
          </p:nvSpPr>
          <p:spPr>
            <a:xfrm>
              <a:off x="8077200" y="1676400"/>
              <a:ext cx="3505200" cy="3562350"/>
            </a:xfrm>
            <a:prstGeom prst="roundRect">
              <a:avLst>
                <a:gd name="adj" fmla="val 3804"/>
              </a:avLst>
            </a:prstGeom>
            <a:solidFill>
              <a:schemeClr val="accent5"/>
            </a:solidFill>
            <a:ln w="14288">
              <a:solidFill>
                <a:srgbClr val="26455F"/>
              </a:solidFill>
            </a:ln>
          </p:spPr>
        </p:sp>
        <p:sp>
          <p:nvSpPr>
            <p:cNvPr id="29" name="Rectangle 29"/>
            <p:cNvSpPr/>
            <p:nvPr/>
          </p:nvSpPr>
          <p:spPr>
            <a:xfrm>
              <a:off x="8077200" y="1676400"/>
              <a:ext cx="3505200" cy="57150"/>
            </a:xfrm>
            <a:prstGeom prst="roundRect">
              <a:avLst>
                <a:gd name="adj" fmla="val 50000"/>
              </a:avLst>
            </a:prstGeom>
            <a:solidFill>
              <a:srgbClr val="F2C14E"/>
            </a:solidFill>
            <a:ln>
              <a:noFill/>
            </a:ln>
          </p:spPr>
        </p:sp>
        <p:sp>
          <p:nvSpPr>
            <p:cNvPr id="30" name="Ellipse 30"/>
            <p:cNvSpPr/>
            <p:nvPr/>
          </p:nvSpPr>
          <p:spPr>
            <a:xfrm>
              <a:off x="8315325" y="2085975"/>
              <a:ext cx="514350" cy="514350"/>
            </a:xfrm>
            <a:prstGeom prst="ellipse">
              <a:avLst/>
            </a:prstGeom>
            <a:noFill/>
            <a:ln w="23812">
              <a:solidFill>
                <a:srgbClr val="F2C14E"/>
              </a:solidFill>
            </a:ln>
          </p:spPr>
        </p:sp>
        <p:sp>
          <p:nvSpPr>
            <p:cNvPr id="31" name="TextBox 31"/>
            <p:cNvSpPr txBox="1"/>
            <p:nvPr/>
          </p:nvSpPr>
          <p:spPr>
            <a:xfrm>
              <a:off x="8473609" y="219551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2" name="TextBox 32"/>
            <p:cNvSpPr txBox="1"/>
            <p:nvPr/>
          </p:nvSpPr>
          <p:spPr>
            <a:xfrm>
              <a:off x="8336852" y="2860119"/>
              <a:ext cx="2034908"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Analysis of when MLE</a:t>
              </a:r>
            </a:p>
          </p:txBody>
        </p:sp>
        <p:sp>
          <p:nvSpPr>
            <p:cNvPr id="33" name="TextBox 33"/>
            <p:cNvSpPr txBox="1"/>
            <p:nvPr/>
          </p:nvSpPr>
          <p:spPr>
            <a:xfrm>
              <a:off x="8336852" y="3126819"/>
              <a:ext cx="45617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fails</a:t>
              </a:r>
            </a:p>
          </p:txBody>
        </p:sp>
        <p:sp>
          <p:nvSpPr>
            <p:cNvPr id="34" name="TextBox 34"/>
            <p:cNvSpPr txBox="1"/>
            <p:nvPr/>
          </p:nvSpPr>
          <p:spPr>
            <a:xfrm>
              <a:off x="8338185" y="3555206"/>
              <a:ext cx="275415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 analyze exactly when and why MLE</a:t>
              </a:r>
            </a:p>
          </p:txBody>
        </p:sp>
        <p:sp>
          <p:nvSpPr>
            <p:cNvPr id="35" name="TextBox 35"/>
            <p:cNvSpPr txBox="1"/>
            <p:nvPr/>
          </p:nvSpPr>
          <p:spPr>
            <a:xfrm>
              <a:off x="8338185" y="3793331"/>
              <a:ext cx="30043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breaks under uneven coverage, and show</a:t>
              </a:r>
            </a:p>
          </p:txBody>
        </p:sp>
        <p:sp>
          <p:nvSpPr>
            <p:cNvPr id="36" name="TextBox 36"/>
            <p:cNvSpPr txBox="1"/>
            <p:nvPr/>
          </p:nvSpPr>
          <p:spPr>
            <a:xfrm>
              <a:off x="8338185" y="4031456"/>
              <a:ext cx="252182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constraints plus uncertainty rank</a:t>
              </a:r>
            </a:p>
          </p:txBody>
        </p:sp>
        <p:sp>
          <p:nvSpPr>
            <p:cNvPr id="37" name="TextBox 37"/>
            <p:cNvSpPr txBox="1"/>
            <p:nvPr/>
          </p:nvSpPr>
          <p:spPr>
            <a:xfrm>
              <a:off x="8338185" y="4269581"/>
              <a:ext cx="305707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actions even where the expert is unsure.</a:t>
              </a:r>
            </a:p>
          </p:txBody>
        </p:sp>
      </p:grpSp>
      <p:sp>
        <p:nvSpPr>
          <p:cNvPr id="39" name="cue_s04_c1_work_introduces_inverse_transition_l" title="cue_s04_c1_work_introduces_inverse_transition_l" descr="cue_s04_c1_work_introduces_inverse_transition_l This work introduces Inverse Transition Learning, a gradient free and constraint based approach."/>
          <p:cNvSpPr/>
          <p:nvPr/>
        </p:nvSpPr>
        <p:spPr>
          <a:xfrm>
            <a:off x="609600"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4_c2_converts_near_optimal_expert_policy" title="cue_s04_c2_converts_near_optimal_expert_policy" descr="cue_s04_c2_converts_near_optimal_expert_policy It converts a near optimal expert policy into a set of constraints on the transition dynamics, and then clips a Bayesian posterior over the dynamics so that every sampled model yields a safe and high performing policy."/>
          <p:cNvSpPr/>
          <p:nvPr/>
        </p:nvSpPr>
        <p:spPr>
          <a:xfrm>
            <a:off x="4344009"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4_c3_beyond_method_itself_carefully_analy" title="cue_s04_c3_beyond_method_itself_carefully_analy" descr="cue_s04_c3_beyond_method_itself_carefully_analy Beyond the method itself, the paper carefully analyzes when and why maximum likelihood estimation of the dynamics breaks down under uneven data coverage, and it shows how combining the constraints with uncertainty produces an informative ranking of actions in"/>
          <p:cNvSpPr/>
          <p:nvPr/>
        </p:nvSpPr>
        <p:spPr>
          <a:xfrm>
            <a:off x="8077200" y="1676095"/>
            <a:ext cx="3505199" cy="35620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3481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expert constraints to a clipped posterior</a:t>
            </a:r>
          </a:p>
        </p:txBody>
      </p:sp>
      <p:grpSp>
        <p:nvGrpSpPr>
          <p:cNvPr id="13" name="Group 13"/>
          <p:cNvGrpSpPr/>
          <p:nvPr/>
        </p:nvGrpSpPr>
        <p:grpSpPr>
          <a:xfrm>
            <a:off x="609600" y="1504950"/>
            <a:ext cx="5410200" cy="1828800"/>
            <a:chOff x="609600" y="1504950"/>
            <a:chExt cx="5410200" cy="1828800"/>
          </a:xfrm>
        </p:grpSpPr>
        <p:sp>
          <p:nvSpPr>
            <p:cNvPr id="5" name="Rectangle 5"/>
            <p:cNvSpPr/>
            <p:nvPr/>
          </p:nvSpPr>
          <p:spPr>
            <a:xfrm>
              <a:off x="609600" y="1504950"/>
              <a:ext cx="54102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394" y="1741408"/>
              <a:ext cx="3466586"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1 · Constraints from the Bellman equations</a:t>
              </a:r>
            </a:p>
          </p:txBody>
        </p:sp>
        <p:sp>
          <p:nvSpPr>
            <p:cNvPr id="8" name="TextBox 8"/>
            <p:cNvSpPr txBox="1"/>
            <p:nvPr/>
          </p:nvSpPr>
          <p:spPr>
            <a:xfrm>
              <a:off x="870966" y="2039302"/>
              <a:ext cx="42114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Given rewards R, an epsilon-optimal expert policy, and batch</a:t>
              </a:r>
            </a:p>
          </p:txBody>
        </p:sp>
        <p:sp>
          <p:nvSpPr>
            <p:cNvPr id="9" name="TextBox 9"/>
            <p:cNvSpPr txBox="1"/>
            <p:nvPr/>
          </p:nvSpPr>
          <p:spPr>
            <a:xfrm>
              <a:off x="870966" y="2239328"/>
              <a:ext cx="43338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 the closed-form Bellman equations demand expert-taken</a:t>
              </a:r>
            </a:p>
          </p:txBody>
        </p:sp>
        <p:sp>
          <p:nvSpPr>
            <p:cNvPr id="10" name="TextBox 10"/>
            <p:cNvSpPr txBox="1"/>
            <p:nvPr/>
          </p:nvSpPr>
          <p:spPr>
            <a:xfrm>
              <a:off x="870966" y="2439352"/>
              <a:ext cx="25549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actions out-value never-taken ones.</a:t>
              </a:r>
            </a:p>
          </p:txBody>
        </p:sp>
        <p:sp>
          <p:nvSpPr>
            <p:cNvPr id="11" name="Rectangle 11"/>
            <p:cNvSpPr/>
            <p:nvPr/>
          </p:nvSpPr>
          <p:spPr>
            <a:xfrm>
              <a:off x="876300" y="2838450"/>
              <a:ext cx="4876800" cy="361950"/>
            </a:xfrm>
            <a:prstGeom prst="roundRect">
              <a:avLst>
                <a:gd name="adj" fmla="val 21053"/>
              </a:avLst>
            </a:prstGeom>
            <a:solidFill>
              <a:schemeClr val="accent6"/>
            </a:solidFill>
            <a:ln w="14288">
              <a:solidFill>
                <a:srgbClr val="26455F"/>
              </a:solidFill>
            </a:ln>
          </p:spPr>
        </p:sp>
        <p:sp>
          <p:nvSpPr>
            <p:cNvPr id="12" name="TextBox 12"/>
            <p:cNvSpPr txBox="1"/>
            <p:nvPr/>
          </p:nvSpPr>
          <p:spPr>
            <a:xfrm>
              <a:off x="1482609" y="2959179"/>
              <a:ext cx="3664181" cy="212693"/>
            </a:xfrm>
            <a:prstGeom prst="rect">
              <a:avLst/>
            </a:prstGeom>
            <a:noFill/>
            <a:ln>
              <a:noFill/>
            </a:ln>
          </p:spPr>
          <p:txBody>
            <a:bodyPr wrap="none" lIns="0" tIns="0" rIns="0" bIns="0" anchor="t" anchorCtr="0">
              <a:spAutoFit/>
            </a:bodyPr>
            <a:lstStyle/>
            <a:p>
              <a:pPr algn="ctr"/>
              <a:r>
                <a:rPr lang="en-US" sz="1090" b="1" dirty="0">
                  <a:solidFill>
                    <a:schemeClr val="dk1"/>
                  </a:solidFill>
                  <a:latin typeface="Consolas"/>
                  <a:ea typeface="Consolas"/>
                  <a:cs typeface="Consolas"/>
                </a:rPr>
                <a:t>V = (I - gamma T)^-1 R -&gt; Q(expert) &gt; Q(other)</a:t>
              </a:r>
            </a:p>
          </p:txBody>
        </p:sp>
      </p:grpSp>
      <p:grpSp>
        <p:nvGrpSpPr>
          <p:cNvPr id="24" name="Group 24"/>
          <p:cNvGrpSpPr/>
          <p:nvPr/>
        </p:nvGrpSpPr>
        <p:grpSpPr>
          <a:xfrm>
            <a:off x="6172200" y="1504950"/>
            <a:ext cx="5410200" cy="1828800"/>
            <a:chOff x="6172200" y="1504950"/>
            <a:chExt cx="5410200" cy="1828800"/>
          </a:xfrm>
        </p:grpSpPr>
        <p:sp>
          <p:nvSpPr>
            <p:cNvPr id="14" name="Rectangle 14"/>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15" name="Rectangle 15"/>
            <p:cNvSpPr/>
            <p:nvPr/>
          </p:nvSpPr>
          <p:spPr>
            <a:xfrm>
              <a:off x="6172200" y="1504950"/>
              <a:ext cx="57150" cy="1828800"/>
            </a:xfrm>
            <a:prstGeom prst="roundRect">
              <a:avLst>
                <a:gd name="adj" fmla="val 50000"/>
              </a:avLst>
            </a:prstGeom>
            <a:solidFill>
              <a:srgbClr val="34D3C0"/>
            </a:solidFill>
            <a:ln>
              <a:noFill/>
            </a:ln>
          </p:spPr>
        </p:sp>
        <p:sp>
          <p:nvSpPr>
            <p:cNvPr id="16" name="TextBox 16"/>
            <p:cNvSpPr txBox="1"/>
            <p:nvPr/>
          </p:nvSpPr>
          <p:spPr>
            <a:xfrm>
              <a:off x="6432994" y="1741408"/>
              <a:ext cx="298561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2 · Recover the expert's epsilon-ball</a:t>
              </a:r>
            </a:p>
          </p:txBody>
        </p:sp>
        <p:sp>
          <p:nvSpPr>
            <p:cNvPr id="17" name="TextBox 17"/>
            <p:cNvSpPr txBox="1"/>
            <p:nvPr/>
          </p:nvSpPr>
          <p:spPr>
            <a:xfrm>
              <a:off x="6433566" y="2039302"/>
              <a:ext cx="37327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Any dynamics satisfying the constraints recovers the</a:t>
              </a:r>
            </a:p>
          </p:txBody>
        </p:sp>
        <p:sp>
          <p:nvSpPr>
            <p:cNvPr id="18" name="TextBox 18"/>
            <p:cNvSpPr txBox="1"/>
            <p:nvPr/>
          </p:nvSpPr>
          <p:spPr>
            <a:xfrm>
              <a:off x="6433566" y="22393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expert's epsilon-ball structure: the set of actions the</a:t>
              </a:r>
            </a:p>
          </p:txBody>
        </p:sp>
        <p:sp>
          <p:nvSpPr>
            <p:cNvPr id="19" name="TextBox 19"/>
            <p:cNvSpPr txBox="1"/>
            <p:nvPr/>
          </p:nvSpPr>
          <p:spPr>
            <a:xfrm>
              <a:off x="6433566" y="2439352"/>
              <a:ext cx="33394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 would consider acceptable in each state.</a:t>
              </a:r>
            </a:p>
          </p:txBody>
        </p:sp>
        <p:sp>
          <p:nvSpPr>
            <p:cNvPr id="20" name="Ellipse 20"/>
            <p:cNvSpPr/>
            <p:nvPr/>
          </p:nvSpPr>
          <p:spPr>
            <a:xfrm>
              <a:off x="6781800" y="2733675"/>
              <a:ext cx="495300" cy="495300"/>
            </a:xfrm>
            <a:prstGeom prst="ellipse">
              <a:avLst/>
            </a:prstGeom>
            <a:noFill/>
            <a:ln w="19050">
              <a:solidFill>
                <a:srgbClr val="34D3C0"/>
              </a:solidFill>
            </a:ln>
          </p:spPr>
        </p:sp>
        <p:sp>
          <p:nvSpPr>
            <p:cNvPr id="21" name="Ellipse 21"/>
            <p:cNvSpPr/>
            <p:nvPr/>
          </p:nvSpPr>
          <p:spPr>
            <a:xfrm>
              <a:off x="6972300" y="2924175"/>
              <a:ext cx="114300" cy="114300"/>
            </a:xfrm>
            <a:prstGeom prst="ellipse">
              <a:avLst/>
            </a:prstGeom>
            <a:solidFill>
              <a:srgbClr val="48C78E"/>
            </a:solidFill>
            <a:ln>
              <a:noFill/>
            </a:ln>
          </p:spPr>
        </p:sp>
        <p:sp>
          <p:nvSpPr>
            <p:cNvPr id="22" name="TextBox 22"/>
            <p:cNvSpPr txBox="1"/>
            <p:nvPr/>
          </p:nvSpPr>
          <p:spPr>
            <a:xfrm>
              <a:off x="7405306" y="2824401"/>
              <a:ext cx="188764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good actions inside the ball</a:t>
              </a:r>
            </a:p>
          </p:txBody>
        </p:sp>
        <p:sp>
          <p:nvSpPr>
            <p:cNvPr id="23" name="TextBox 23"/>
            <p:cNvSpPr txBox="1"/>
            <p:nvPr/>
          </p:nvSpPr>
          <p:spPr>
            <a:xfrm>
              <a:off x="7405306" y="3014901"/>
              <a:ext cx="1959023" cy="198025"/>
            </a:xfrm>
            <a:prstGeom prst="rect">
              <a:avLst/>
            </a:prstGeom>
            <a:noFill/>
            <a:ln>
              <a:noFill/>
            </a:ln>
          </p:spPr>
          <p:txBody>
            <a:bodyPr wrap="none" lIns="0" tIns="0" rIns="0" bIns="0" anchor="t" anchorCtr="0">
              <a:spAutoFit/>
            </a:bodyPr>
            <a:lstStyle/>
            <a:p>
              <a:pPr algn="l"/>
              <a:r>
                <a:rPr lang="en-US" sz="1010" b="1" dirty="0">
                  <a:solidFill>
                    <a:srgbClr val="6E869C"/>
                  </a:solidFill>
                  <a:latin typeface="+mn-lt"/>
                  <a:ea typeface="+mn-ea"/>
                  <a:cs typeface="+mn-cs"/>
                </a:rPr>
                <a:t>bad actions strictly outside</a:t>
              </a:r>
            </a:p>
          </p:txBody>
        </p:sp>
      </p:grpSp>
      <p:grpSp>
        <p:nvGrpSpPr>
          <p:cNvPr id="33" name="Group 33"/>
          <p:cNvGrpSpPr/>
          <p:nvPr/>
        </p:nvGrpSpPr>
        <p:grpSpPr>
          <a:xfrm>
            <a:off x="609600" y="3448050"/>
            <a:ext cx="5410200" cy="1828800"/>
            <a:chOff x="609600" y="3448050"/>
            <a:chExt cx="5410200" cy="1828800"/>
          </a:xfrm>
        </p:grpSpPr>
        <p:sp>
          <p:nvSpPr>
            <p:cNvPr id="25" name="Rectangle 25"/>
            <p:cNvSpPr/>
            <p:nvPr/>
          </p:nvSpPr>
          <p:spPr>
            <a:xfrm>
              <a:off x="609600" y="3448050"/>
              <a:ext cx="5410200" cy="1828800"/>
            </a:xfrm>
            <a:prstGeom prst="roundRect">
              <a:avLst>
                <a:gd name="adj" fmla="val 7292"/>
              </a:avLst>
            </a:prstGeom>
            <a:solidFill>
              <a:schemeClr val="accent5"/>
            </a:solidFill>
            <a:ln w="14288">
              <a:solidFill>
                <a:srgbClr val="26455F"/>
              </a:solidFill>
            </a:ln>
          </p:spPr>
        </p:sp>
        <p:sp>
          <p:nvSpPr>
            <p:cNvPr id="26" name="Rectangle 26"/>
            <p:cNvSpPr/>
            <p:nvPr/>
          </p:nvSpPr>
          <p:spPr>
            <a:xfrm>
              <a:off x="609600" y="3448050"/>
              <a:ext cx="57150" cy="1828800"/>
            </a:xfrm>
            <a:prstGeom prst="roundRect">
              <a:avLst>
                <a:gd name="adj" fmla="val 50000"/>
              </a:avLst>
            </a:prstGeom>
            <a:solidFill>
              <a:srgbClr val="48C78E"/>
            </a:solidFill>
            <a:ln>
              <a:noFill/>
            </a:ln>
          </p:spPr>
        </p:sp>
        <p:sp>
          <p:nvSpPr>
            <p:cNvPr id="27" name="TextBox 27"/>
            <p:cNvSpPr txBox="1"/>
            <p:nvPr/>
          </p:nvSpPr>
          <p:spPr>
            <a:xfrm>
              <a:off x="870394" y="3684508"/>
              <a:ext cx="2269720"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3 · Clip a Bayesian posterior</a:t>
              </a:r>
            </a:p>
          </p:txBody>
        </p:sp>
        <p:sp>
          <p:nvSpPr>
            <p:cNvPr id="28" name="TextBox 28"/>
            <p:cNvSpPr txBox="1"/>
            <p:nvPr/>
          </p:nvSpPr>
          <p:spPr>
            <a:xfrm>
              <a:off x="870966" y="3982402"/>
              <a:ext cx="405285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Place a Dirichlet-Multinomial posterior over the dynamics,</a:t>
              </a:r>
            </a:p>
          </p:txBody>
        </p:sp>
        <p:sp>
          <p:nvSpPr>
            <p:cNvPr id="29" name="TextBox 29"/>
            <p:cNvSpPr txBox="1"/>
            <p:nvPr/>
          </p:nvSpPr>
          <p:spPr>
            <a:xfrm>
              <a:off x="870966" y="4182428"/>
              <a:ext cx="39378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then reject every sample that violates a constraint. The</a:t>
              </a:r>
            </a:p>
          </p:txBody>
        </p:sp>
        <p:sp>
          <p:nvSpPr>
            <p:cNvPr id="30" name="TextBox 30"/>
            <p:cNvSpPr txBox="1"/>
            <p:nvPr/>
          </p:nvSpPr>
          <p:spPr>
            <a:xfrm>
              <a:off x="870966" y="4382452"/>
              <a:ext cx="26327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survivors form the clipped posterior.</a:t>
              </a:r>
            </a:p>
          </p:txBody>
        </p:sp>
        <p:sp>
          <p:nvSpPr>
            <p:cNvPr id="31" name="Rectangle 31"/>
            <p:cNvSpPr/>
            <p:nvPr/>
          </p:nvSpPr>
          <p:spPr>
            <a:xfrm>
              <a:off x="876300" y="4781550"/>
              <a:ext cx="4876800" cy="361950"/>
            </a:xfrm>
            <a:prstGeom prst="roundRect">
              <a:avLst>
                <a:gd name="adj" fmla="val 21053"/>
              </a:avLst>
            </a:prstGeom>
            <a:solidFill>
              <a:schemeClr val="accent6"/>
            </a:solidFill>
            <a:ln w="14288">
              <a:solidFill>
                <a:srgbClr val="26455F"/>
              </a:solidFill>
            </a:ln>
          </p:spPr>
        </p:sp>
        <p:sp>
          <p:nvSpPr>
            <p:cNvPr id="32" name="TextBox 32"/>
            <p:cNvSpPr txBox="1"/>
            <p:nvPr/>
          </p:nvSpPr>
          <p:spPr>
            <a:xfrm>
              <a:off x="1869381" y="4898231"/>
              <a:ext cx="2890638" cy="220028"/>
            </a:xfrm>
            <a:prstGeom prst="rect">
              <a:avLst/>
            </a:prstGeom>
            <a:noFill/>
            <a:ln>
              <a:noFill/>
            </a:ln>
          </p:spPr>
          <p:txBody>
            <a:bodyPr wrap="none" lIns="0" tIns="0" rIns="0" bIns="0" anchor="t" anchorCtr="0">
              <a:spAutoFit/>
            </a:bodyPr>
            <a:lstStyle/>
            <a:p>
              <a:pPr algn="ctr"/>
              <a:r>
                <a:rPr lang="en-US" sz="1120" b="1" dirty="0">
                  <a:solidFill>
                    <a:srgbClr val="48C78E"/>
                  </a:solidFill>
                  <a:latin typeface="Consolas"/>
                  <a:ea typeface="Consolas"/>
                  <a:cs typeface="Consolas"/>
                </a:rPr>
                <a:t>P(T | D) --reject--&gt; P(T | D, expert)</a:t>
              </a:r>
            </a:p>
          </p:txBody>
        </p:sp>
      </p:grpSp>
      <p:grpSp>
        <p:nvGrpSpPr>
          <p:cNvPr id="46" name="Group 46"/>
          <p:cNvGrpSpPr/>
          <p:nvPr/>
        </p:nvGrpSpPr>
        <p:grpSpPr>
          <a:xfrm>
            <a:off x="6172200" y="3448050"/>
            <a:ext cx="5410200" cy="1828800"/>
            <a:chOff x="6172200" y="3448050"/>
            <a:chExt cx="5410200" cy="1828800"/>
          </a:xfrm>
        </p:grpSpPr>
        <p:sp>
          <p:nvSpPr>
            <p:cNvPr id="34" name="Rectangle 34"/>
            <p:cNvSpPr/>
            <p:nvPr/>
          </p:nvSpPr>
          <p:spPr>
            <a:xfrm>
              <a:off x="6172200" y="3448050"/>
              <a:ext cx="5410200" cy="1828800"/>
            </a:xfrm>
            <a:prstGeom prst="roundRect">
              <a:avLst>
                <a:gd name="adj" fmla="val 7292"/>
              </a:avLst>
            </a:prstGeom>
            <a:solidFill>
              <a:schemeClr val="accent5"/>
            </a:solidFill>
            <a:ln w="14288">
              <a:solidFill>
                <a:srgbClr val="26455F"/>
              </a:solidFill>
            </a:ln>
          </p:spPr>
        </p:sp>
        <p:sp>
          <p:nvSpPr>
            <p:cNvPr id="35" name="Rectangle 35"/>
            <p:cNvSpPr/>
            <p:nvPr/>
          </p:nvSpPr>
          <p:spPr>
            <a:xfrm>
              <a:off x="6172200" y="3448050"/>
              <a:ext cx="57150" cy="1828800"/>
            </a:xfrm>
            <a:prstGeom prst="roundRect">
              <a:avLst>
                <a:gd name="adj" fmla="val 50000"/>
              </a:avLst>
            </a:prstGeom>
            <a:solidFill>
              <a:srgbClr val="F2C14E"/>
            </a:solidFill>
            <a:ln>
              <a:noFill/>
            </a:ln>
          </p:spPr>
        </p:sp>
        <p:sp>
          <p:nvSpPr>
            <p:cNvPr id="36" name="TextBox 36"/>
            <p:cNvSpPr txBox="1"/>
            <p:nvPr/>
          </p:nvSpPr>
          <p:spPr>
            <a:xfrm>
              <a:off x="6432994" y="3684508"/>
              <a:ext cx="2781174"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4 · Two experts, plus a slack term</a:t>
              </a:r>
            </a:p>
          </p:txBody>
        </p:sp>
        <p:sp>
          <p:nvSpPr>
            <p:cNvPr id="37" name="TextBox 37"/>
            <p:cNvSpPr txBox="1"/>
            <p:nvPr/>
          </p:nvSpPr>
          <p:spPr>
            <a:xfrm>
              <a:off x="6433566" y="3982402"/>
              <a:ext cx="41780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Separate constraint sets handle a fully optimal expert and a</a:t>
              </a:r>
            </a:p>
          </p:txBody>
        </p:sp>
        <p:sp>
          <p:nvSpPr>
            <p:cNvPr id="38" name="TextBox 38"/>
            <p:cNvSpPr txBox="1"/>
            <p:nvPr/>
          </p:nvSpPr>
          <p:spPr>
            <a:xfrm>
              <a:off x="6433566" y="4182428"/>
              <a:ext cx="40720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partially uncertain one. A tunable slack delta enforces the</a:t>
              </a:r>
            </a:p>
          </p:txBody>
        </p:sp>
        <p:sp>
          <p:nvSpPr>
            <p:cNvPr id="39" name="TextBox 39"/>
            <p:cNvSpPr txBox="1"/>
            <p:nvPr/>
          </p:nvSpPr>
          <p:spPr>
            <a:xfrm>
              <a:off x="6433566" y="4382452"/>
              <a:ext cx="29931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structure even under action non-linearity.</a:t>
              </a:r>
            </a:p>
          </p:txBody>
        </p:sp>
        <p:sp>
          <p:nvSpPr>
            <p:cNvPr id="40" name="Rectangle 40"/>
            <p:cNvSpPr/>
            <p:nvPr/>
          </p:nvSpPr>
          <p:spPr>
            <a:xfrm>
              <a:off x="6438900" y="4762500"/>
              <a:ext cx="2362200" cy="381000"/>
            </a:xfrm>
            <a:prstGeom prst="roundRect">
              <a:avLst>
                <a:gd name="adj" fmla="val 20000"/>
              </a:avLst>
            </a:prstGeom>
            <a:solidFill>
              <a:schemeClr val="accent6"/>
            </a:solidFill>
            <a:ln w="14288">
              <a:solidFill>
                <a:srgbClr val="26455F"/>
              </a:solidFill>
            </a:ln>
          </p:spPr>
        </p:sp>
        <p:sp>
          <p:nvSpPr>
            <p:cNvPr id="41" name="Ellipse 41"/>
            <p:cNvSpPr/>
            <p:nvPr/>
          </p:nvSpPr>
          <p:spPr>
            <a:xfrm>
              <a:off x="6562725" y="4905375"/>
              <a:ext cx="95250" cy="95250"/>
            </a:xfrm>
            <a:prstGeom prst="ellipse">
              <a:avLst/>
            </a:prstGeom>
            <a:solidFill>
              <a:srgbClr val="34D3C0"/>
            </a:solidFill>
            <a:ln>
              <a:noFill/>
            </a:ln>
          </p:spPr>
        </p:sp>
        <p:sp>
          <p:nvSpPr>
            <p:cNvPr id="42" name="TextBox 42"/>
            <p:cNvSpPr txBox="1"/>
            <p:nvPr/>
          </p:nvSpPr>
          <p:spPr>
            <a:xfrm>
              <a:off x="6757606" y="4891326"/>
              <a:ext cx="1031053"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optimal expert</a:t>
              </a:r>
            </a:p>
          </p:txBody>
        </p:sp>
        <p:sp>
          <p:nvSpPr>
            <p:cNvPr id="43" name="Rectangle 43"/>
            <p:cNvSpPr/>
            <p:nvPr/>
          </p:nvSpPr>
          <p:spPr>
            <a:xfrm>
              <a:off x="8953500" y="4762500"/>
              <a:ext cx="2362200" cy="381000"/>
            </a:xfrm>
            <a:prstGeom prst="roundRect">
              <a:avLst>
                <a:gd name="adj" fmla="val 20000"/>
              </a:avLst>
            </a:prstGeom>
            <a:solidFill>
              <a:schemeClr val="accent6"/>
            </a:solidFill>
            <a:ln w="14288">
              <a:solidFill>
                <a:srgbClr val="26455F"/>
              </a:solidFill>
            </a:ln>
          </p:spPr>
        </p:sp>
        <p:sp>
          <p:nvSpPr>
            <p:cNvPr id="44" name="Ellipse 44"/>
            <p:cNvSpPr/>
            <p:nvPr/>
          </p:nvSpPr>
          <p:spPr>
            <a:xfrm>
              <a:off x="9077325" y="4905375"/>
              <a:ext cx="95250" cy="95250"/>
            </a:xfrm>
            <a:prstGeom prst="ellipse">
              <a:avLst/>
            </a:prstGeom>
            <a:solidFill>
              <a:srgbClr val="F2C14E"/>
            </a:solidFill>
            <a:ln>
              <a:noFill/>
            </a:ln>
          </p:spPr>
        </p:sp>
        <p:sp>
          <p:nvSpPr>
            <p:cNvPr id="45" name="TextBox 45"/>
            <p:cNvSpPr txBox="1"/>
            <p:nvPr/>
          </p:nvSpPr>
          <p:spPr>
            <a:xfrm>
              <a:off x="9272206" y="4891326"/>
              <a:ext cx="120237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uncertain + slack</a:t>
              </a:r>
            </a:p>
          </p:txBody>
        </p:sp>
      </p:grpSp>
      <p:sp>
        <p:nvSpPr>
          <p:cNvPr id="47" name="cue_s05_c1_given_rewards_epsilon_optimal_expert" title="cue_s05_c1_given_rewards_epsilon_optimal_expert" descr="cue_s05_c1_given_rewards_epsilon_optimal_expert Given the rewards, an epsilon optimal expert policy, and the batch data, we use the closed form Bellman equations to write constraints that demand the value of actions the expert takes exceed the value of actions the expert never took."/>
          <p:cNvSpPr/>
          <p:nvPr/>
        </p:nvSpPr>
        <p:spPr>
          <a:xfrm>
            <a:off x="609600" y="1504645"/>
            <a:ext cx="5619292"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any_dynamics_satisfying_these_constr" title="cue_s05_c2_any_dynamics_satisfying_these_constr" descr="cue_s05_c2_any_dynamics_satisfying_these_constr Any dynamics satisfying these constraints recovers what we call the expert's epsilon ball structure."/>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place_dirichlet_multinomial_posterio" title="cue_s05_c3_place_dirichlet_multinomial_posterio" descr="cue_s05_c3_place_dirichlet_multinomial_posterio We then place a Dirichlet multinomial posterior over the dynamics and use rejection sampling, keeping only the samples that satisfy the constraints. The surviving samples form a clipped posterior that respects the expert's knowledge."/>
          <p:cNvSpPr/>
          <p:nvPr/>
        </p:nvSpPr>
        <p:spPr>
          <a:xfrm>
            <a:off x="60960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separate_constraint_sets_handle_full" title="cue_s05_c4_separate_constraint_sets_handle_full" descr="cue_s05_c4_separate_constraint_sets_handle_full Separate constraint sets handle a fully optimal expert and a partially uncertain one, with a tunable slack term that enforces the structure even where action non linearity would otherwise break it."/>
          <p:cNvSpPr/>
          <p:nvPr/>
        </p:nvSpPr>
        <p:spPr>
          <a:xfrm>
            <a:off x="617159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43829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controlled synthetic tabular MDP</a:t>
            </a:r>
          </a:p>
        </p:txBody>
      </p:sp>
      <p:grpSp>
        <p:nvGrpSpPr>
          <p:cNvPr id="19" name="Group 19"/>
          <p:cNvGrpSpPr/>
          <p:nvPr/>
        </p:nvGrpSpPr>
        <p:grpSpPr>
          <a:xfrm>
            <a:off x="609600" y="1504950"/>
            <a:ext cx="5334000" cy="2209800"/>
            <a:chOff x="609600" y="1504950"/>
            <a:chExt cx="5334000" cy="2209800"/>
          </a:xfrm>
        </p:grpSpPr>
        <p:sp>
          <p:nvSpPr>
            <p:cNvPr id="5" name="Rectangle 5"/>
            <p:cNvSpPr/>
            <p:nvPr/>
          </p:nvSpPr>
          <p:spPr>
            <a:xfrm>
              <a:off x="609600" y="1504950"/>
              <a:ext cx="5334000" cy="2209800"/>
            </a:xfrm>
            <a:prstGeom prst="roundRect">
              <a:avLst>
                <a:gd name="adj" fmla="val 6034"/>
              </a:avLst>
            </a:prstGeom>
            <a:solidFill>
              <a:schemeClr val="accent5"/>
            </a:solidFill>
            <a:ln w="14288">
              <a:solidFill>
                <a:srgbClr val="26455F"/>
              </a:solidFill>
            </a:ln>
          </p:spPr>
        </p:sp>
        <p:sp>
          <p:nvSpPr>
            <p:cNvPr id="6" name="Rectangle 6"/>
            <p:cNvSpPr/>
            <p:nvPr/>
          </p:nvSpPr>
          <p:spPr>
            <a:xfrm>
              <a:off x="609600" y="1504950"/>
              <a:ext cx="57150" cy="2209800"/>
            </a:xfrm>
            <a:prstGeom prst="roundRect">
              <a:avLst>
                <a:gd name="adj" fmla="val 50000"/>
              </a:avLst>
            </a:prstGeom>
            <a:solidFill>
              <a:schemeClr val="accent2"/>
            </a:solidFill>
            <a:ln>
              <a:noFill/>
            </a:ln>
          </p:spPr>
        </p:sp>
        <p:sp>
          <p:nvSpPr>
            <p:cNvPr id="7" name="TextBox 7"/>
            <p:cNvSpPr txBox="1"/>
            <p:nvPr/>
          </p:nvSpPr>
          <p:spPr>
            <a:xfrm>
              <a:off x="869823" y="1729264"/>
              <a:ext cx="198112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Synthetic tabular MDP</a:t>
              </a:r>
            </a:p>
          </p:txBody>
        </p:sp>
        <p:sp>
          <p:nvSpPr>
            <p:cNvPr id="8" name="TextBox 8"/>
            <p:cNvSpPr txBox="1"/>
            <p:nvPr/>
          </p:nvSpPr>
          <p:spPr>
            <a:xfrm>
              <a:off x="870966" y="2058352"/>
              <a:ext cx="36596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fully controlled Markov decision process where the</a:t>
              </a:r>
            </a:p>
          </p:txBody>
        </p:sp>
        <p:sp>
          <p:nvSpPr>
            <p:cNvPr id="9" name="TextBox 9"/>
            <p:cNvSpPr txBox="1"/>
            <p:nvPr/>
          </p:nvSpPr>
          <p:spPr>
            <a:xfrm>
              <a:off x="870966" y="2258378"/>
              <a:ext cx="28164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true dynamics are known for evaluation.</a:t>
              </a:r>
            </a:p>
          </p:txBody>
        </p:sp>
        <p:sp>
          <p:nvSpPr>
            <p:cNvPr id="10" name="Rectangle 10"/>
            <p:cNvSpPr/>
            <p:nvPr/>
          </p:nvSpPr>
          <p:spPr>
            <a:xfrm>
              <a:off x="876300" y="2686050"/>
              <a:ext cx="1447800" cy="876300"/>
            </a:xfrm>
            <a:prstGeom prst="roundRect">
              <a:avLst>
                <a:gd name="adj" fmla="val 13043"/>
              </a:avLst>
            </a:prstGeom>
            <a:solidFill>
              <a:schemeClr val="accent6"/>
            </a:solidFill>
            <a:ln w="14288">
              <a:solidFill>
                <a:srgbClr val="26455F"/>
              </a:solidFill>
            </a:ln>
          </p:spPr>
        </p:sp>
        <p:sp>
          <p:nvSpPr>
            <p:cNvPr id="11" name="TextBox 11"/>
            <p:cNvSpPr txBox="1"/>
            <p:nvPr/>
          </p:nvSpPr>
          <p:spPr>
            <a:xfrm>
              <a:off x="1191220" y="2916364"/>
              <a:ext cx="817959"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15 +1</a:t>
              </a:r>
            </a:p>
          </p:txBody>
        </p:sp>
        <p:sp>
          <p:nvSpPr>
            <p:cNvPr id="12" name="TextBox 12"/>
            <p:cNvSpPr txBox="1"/>
            <p:nvPr/>
          </p:nvSpPr>
          <p:spPr>
            <a:xfrm>
              <a:off x="974271" y="3303413"/>
              <a:ext cx="125185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states (+terminal)</a:t>
              </a:r>
            </a:p>
          </p:txBody>
        </p:sp>
        <p:sp>
          <p:nvSpPr>
            <p:cNvPr id="13" name="Rectangle 13"/>
            <p:cNvSpPr/>
            <p:nvPr/>
          </p:nvSpPr>
          <p:spPr>
            <a:xfrm>
              <a:off x="2476500" y="2686050"/>
              <a:ext cx="1447800" cy="876300"/>
            </a:xfrm>
            <a:prstGeom prst="roundRect">
              <a:avLst>
                <a:gd name="adj" fmla="val 13043"/>
              </a:avLst>
            </a:prstGeom>
            <a:solidFill>
              <a:schemeClr val="accent6"/>
            </a:solidFill>
            <a:ln w="14288">
              <a:solidFill>
                <a:srgbClr val="26455F"/>
              </a:solidFill>
            </a:ln>
          </p:spPr>
        </p:sp>
        <p:sp>
          <p:nvSpPr>
            <p:cNvPr id="14" name="TextBox 14"/>
            <p:cNvSpPr txBox="1"/>
            <p:nvPr/>
          </p:nvSpPr>
          <p:spPr>
            <a:xfrm>
              <a:off x="3101509" y="2916364"/>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6</a:t>
              </a:r>
            </a:p>
          </p:txBody>
        </p:sp>
        <p:sp>
          <p:nvSpPr>
            <p:cNvPr id="15" name="TextBox 15"/>
            <p:cNvSpPr txBox="1"/>
            <p:nvPr/>
          </p:nvSpPr>
          <p:spPr>
            <a:xfrm>
              <a:off x="2956472" y="3303413"/>
              <a:ext cx="48785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actions</a:t>
              </a:r>
            </a:p>
          </p:txBody>
        </p:sp>
        <p:sp>
          <p:nvSpPr>
            <p:cNvPr id="16" name="Rectangle 16"/>
            <p:cNvSpPr/>
            <p:nvPr/>
          </p:nvSpPr>
          <p:spPr>
            <a:xfrm>
              <a:off x="4076700" y="2686050"/>
              <a:ext cx="1600200" cy="876300"/>
            </a:xfrm>
            <a:prstGeom prst="roundRect">
              <a:avLst>
                <a:gd name="adj" fmla="val 13043"/>
              </a:avLst>
            </a:prstGeom>
            <a:solidFill>
              <a:schemeClr val="accent6"/>
            </a:solidFill>
            <a:ln w="14288">
              <a:solidFill>
                <a:srgbClr val="26455F"/>
              </a:solidFill>
            </a:ln>
          </p:spPr>
        </p:sp>
        <p:sp>
          <p:nvSpPr>
            <p:cNvPr id="17" name="TextBox 17"/>
            <p:cNvSpPr txBox="1"/>
            <p:nvPr/>
          </p:nvSpPr>
          <p:spPr>
            <a:xfrm>
              <a:off x="4515526" y="2916364"/>
              <a:ext cx="72254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0.95</a:t>
              </a:r>
            </a:p>
          </p:txBody>
        </p:sp>
        <p:sp>
          <p:nvSpPr>
            <p:cNvPr id="18" name="TextBox 18"/>
            <p:cNvSpPr txBox="1"/>
            <p:nvPr/>
          </p:nvSpPr>
          <p:spPr>
            <a:xfrm>
              <a:off x="4357166" y="3303413"/>
              <a:ext cx="103926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discount factor</a:t>
              </a:r>
            </a:p>
          </p:txBody>
        </p:sp>
      </p:grpSp>
      <p:grpSp>
        <p:nvGrpSpPr>
          <p:cNvPr id="40" name="Group 40"/>
          <p:cNvGrpSpPr/>
          <p:nvPr/>
        </p:nvGrpSpPr>
        <p:grpSpPr>
          <a:xfrm>
            <a:off x="6248400" y="1504950"/>
            <a:ext cx="5334000" cy="2209800"/>
            <a:chOff x="6248400" y="1504950"/>
            <a:chExt cx="5334000" cy="2209800"/>
          </a:xfrm>
        </p:grpSpPr>
        <p:sp>
          <p:nvSpPr>
            <p:cNvPr id="20" name="Rectangle 20"/>
            <p:cNvSpPr/>
            <p:nvPr/>
          </p:nvSpPr>
          <p:spPr>
            <a:xfrm>
              <a:off x="6248400" y="1504950"/>
              <a:ext cx="5334000" cy="2209800"/>
            </a:xfrm>
            <a:prstGeom prst="roundRect">
              <a:avLst>
                <a:gd name="adj" fmla="val 6034"/>
              </a:avLst>
            </a:prstGeom>
            <a:solidFill>
              <a:schemeClr val="accent5"/>
            </a:solidFill>
            <a:ln w="14288">
              <a:solidFill>
                <a:srgbClr val="26455F"/>
              </a:solidFill>
            </a:ln>
          </p:spPr>
        </p:sp>
        <p:sp>
          <p:nvSpPr>
            <p:cNvPr id="21" name="Rectangle 21"/>
            <p:cNvSpPr/>
            <p:nvPr/>
          </p:nvSpPr>
          <p:spPr>
            <a:xfrm>
              <a:off x="6248400" y="1504950"/>
              <a:ext cx="57150" cy="2209800"/>
            </a:xfrm>
            <a:prstGeom prst="roundRect">
              <a:avLst>
                <a:gd name="adj" fmla="val 50000"/>
              </a:avLst>
            </a:prstGeom>
            <a:solidFill>
              <a:srgbClr val="34D3C0"/>
            </a:solidFill>
            <a:ln>
              <a:noFill/>
            </a:ln>
          </p:spPr>
        </p:sp>
        <p:sp>
          <p:nvSpPr>
            <p:cNvPr id="22" name="TextBox 22"/>
            <p:cNvSpPr txBox="1"/>
            <p:nvPr/>
          </p:nvSpPr>
          <p:spPr>
            <a:xfrm>
              <a:off x="6508623" y="1729264"/>
              <a:ext cx="2461030"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Deliberately mixed dynamics</a:t>
              </a:r>
            </a:p>
          </p:txBody>
        </p:sp>
        <p:sp>
          <p:nvSpPr>
            <p:cNvPr id="23" name="TextBox 23"/>
            <p:cNvSpPr txBox="1"/>
            <p:nvPr/>
          </p:nvSpPr>
          <p:spPr>
            <a:xfrm>
              <a:off x="6509766" y="2058352"/>
              <a:ext cx="35630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Transition distributions are sometimes uniform and</a:t>
              </a:r>
            </a:p>
          </p:txBody>
        </p:sp>
        <p:sp>
          <p:nvSpPr>
            <p:cNvPr id="24" name="TextBox 24"/>
            <p:cNvSpPr txBox="1"/>
            <p:nvPr/>
          </p:nvSpPr>
          <p:spPr>
            <a:xfrm>
              <a:off x="6509766" y="2258378"/>
              <a:ext cx="39614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sometimes highly skewed toward a few states, to create</a:t>
              </a:r>
            </a:p>
          </p:txBody>
        </p:sp>
        <p:sp>
          <p:nvSpPr>
            <p:cNvPr id="25" name="TextBox 25"/>
            <p:cNvSpPr txBox="1"/>
            <p:nvPr/>
          </p:nvSpPr>
          <p:spPr>
            <a:xfrm>
              <a:off x="6509766" y="2458402"/>
              <a:ext cx="15443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rich, varied behavior.</a:t>
              </a:r>
            </a:p>
          </p:txBody>
        </p:sp>
        <p:sp>
          <p:nvSpPr>
            <p:cNvPr id="26" name="Rectangle 26"/>
            <p:cNvSpPr/>
            <p:nvPr/>
          </p:nvSpPr>
          <p:spPr>
            <a:xfrm>
              <a:off x="6705600" y="3048000"/>
              <a:ext cx="123825" cy="171450"/>
            </a:xfrm>
            <a:prstGeom prst="roundRect">
              <a:avLst>
                <a:gd name="adj" fmla="val 7692"/>
              </a:avLst>
            </a:prstGeom>
            <a:solidFill>
              <a:schemeClr val="accent2"/>
            </a:solidFill>
            <a:ln>
              <a:noFill/>
            </a:ln>
          </p:spPr>
        </p:sp>
        <p:sp>
          <p:nvSpPr>
            <p:cNvPr id="27" name="Rectangle 27"/>
            <p:cNvSpPr/>
            <p:nvPr/>
          </p:nvSpPr>
          <p:spPr>
            <a:xfrm>
              <a:off x="6867525" y="3048000"/>
              <a:ext cx="123825" cy="171450"/>
            </a:xfrm>
            <a:prstGeom prst="roundRect">
              <a:avLst>
                <a:gd name="adj" fmla="val 7692"/>
              </a:avLst>
            </a:prstGeom>
            <a:solidFill>
              <a:schemeClr val="accent2"/>
            </a:solidFill>
            <a:ln>
              <a:noFill/>
            </a:ln>
          </p:spPr>
        </p:sp>
        <p:sp>
          <p:nvSpPr>
            <p:cNvPr id="28" name="Rectangle 28"/>
            <p:cNvSpPr/>
            <p:nvPr/>
          </p:nvSpPr>
          <p:spPr>
            <a:xfrm>
              <a:off x="7029450" y="3048000"/>
              <a:ext cx="123825" cy="171450"/>
            </a:xfrm>
            <a:prstGeom prst="roundRect">
              <a:avLst>
                <a:gd name="adj" fmla="val 7692"/>
              </a:avLst>
            </a:prstGeom>
            <a:solidFill>
              <a:schemeClr val="accent2"/>
            </a:solidFill>
            <a:ln>
              <a:noFill/>
            </a:ln>
          </p:spPr>
        </p:sp>
        <p:sp>
          <p:nvSpPr>
            <p:cNvPr id="29" name="Rectangle 29"/>
            <p:cNvSpPr/>
            <p:nvPr/>
          </p:nvSpPr>
          <p:spPr>
            <a:xfrm>
              <a:off x="7191375" y="3048000"/>
              <a:ext cx="123825" cy="171450"/>
            </a:xfrm>
            <a:prstGeom prst="roundRect">
              <a:avLst>
                <a:gd name="adj" fmla="val 7692"/>
              </a:avLst>
            </a:prstGeom>
            <a:solidFill>
              <a:schemeClr val="accent2"/>
            </a:solidFill>
            <a:ln>
              <a:noFill/>
            </a:ln>
          </p:spPr>
        </p:sp>
        <p:sp>
          <p:nvSpPr>
            <p:cNvPr id="30" name="Rectangle 30"/>
            <p:cNvSpPr/>
            <p:nvPr/>
          </p:nvSpPr>
          <p:spPr>
            <a:xfrm>
              <a:off x="7353300" y="3048000"/>
              <a:ext cx="123825" cy="171450"/>
            </a:xfrm>
            <a:prstGeom prst="roundRect">
              <a:avLst>
                <a:gd name="adj" fmla="val 7692"/>
              </a:avLst>
            </a:prstGeom>
            <a:solidFill>
              <a:schemeClr val="accent2"/>
            </a:solidFill>
            <a:ln>
              <a:noFill/>
            </a:ln>
          </p:spPr>
        </p:sp>
        <p:sp>
          <p:nvSpPr>
            <p:cNvPr id="31" name="TextBox 31"/>
            <p:cNvSpPr txBox="1"/>
            <p:nvPr/>
          </p:nvSpPr>
          <p:spPr>
            <a:xfrm>
              <a:off x="6848435" y="3327797"/>
              <a:ext cx="51443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uniform</a:t>
              </a:r>
            </a:p>
          </p:txBody>
        </p:sp>
        <p:sp>
          <p:nvSpPr>
            <p:cNvPr id="32" name="Rectangle 32"/>
            <p:cNvSpPr/>
            <p:nvPr/>
          </p:nvSpPr>
          <p:spPr>
            <a:xfrm>
              <a:off x="8991600" y="3171825"/>
              <a:ext cx="123825" cy="47625"/>
            </a:xfrm>
            <a:prstGeom prst="roundRect">
              <a:avLst>
                <a:gd name="adj" fmla="val 20000"/>
              </a:avLst>
            </a:prstGeom>
            <a:solidFill>
              <a:srgbClr val="F2C14E"/>
            </a:solidFill>
            <a:ln>
              <a:noFill/>
            </a:ln>
          </p:spPr>
        </p:sp>
        <p:sp>
          <p:nvSpPr>
            <p:cNvPr id="33" name="Rectangle 33"/>
            <p:cNvSpPr/>
            <p:nvPr/>
          </p:nvSpPr>
          <p:spPr>
            <a:xfrm>
              <a:off x="9153525" y="3124200"/>
              <a:ext cx="123825" cy="95250"/>
            </a:xfrm>
            <a:prstGeom prst="roundRect">
              <a:avLst>
                <a:gd name="adj" fmla="val 10000"/>
              </a:avLst>
            </a:prstGeom>
            <a:solidFill>
              <a:srgbClr val="F2C14E"/>
            </a:solidFill>
            <a:ln>
              <a:noFill/>
            </a:ln>
          </p:spPr>
        </p:sp>
        <p:sp>
          <p:nvSpPr>
            <p:cNvPr id="34" name="Rectangle 34"/>
            <p:cNvSpPr/>
            <p:nvPr/>
          </p:nvSpPr>
          <p:spPr>
            <a:xfrm>
              <a:off x="9315450" y="2857500"/>
              <a:ext cx="123825" cy="361950"/>
            </a:xfrm>
            <a:prstGeom prst="roundRect">
              <a:avLst>
                <a:gd name="adj" fmla="val 7692"/>
              </a:avLst>
            </a:prstGeom>
            <a:solidFill>
              <a:srgbClr val="F2C14E"/>
            </a:solidFill>
            <a:ln>
              <a:noFill/>
            </a:ln>
          </p:spPr>
        </p:sp>
        <p:sp>
          <p:nvSpPr>
            <p:cNvPr id="35" name="Rectangle 35"/>
            <p:cNvSpPr/>
            <p:nvPr/>
          </p:nvSpPr>
          <p:spPr>
            <a:xfrm>
              <a:off x="9477375" y="3105150"/>
              <a:ext cx="123825" cy="114300"/>
            </a:xfrm>
            <a:prstGeom prst="roundRect">
              <a:avLst>
                <a:gd name="adj" fmla="val 8333"/>
              </a:avLst>
            </a:prstGeom>
            <a:solidFill>
              <a:srgbClr val="F2C14E"/>
            </a:solidFill>
            <a:ln>
              <a:noFill/>
            </a:ln>
          </p:spPr>
        </p:sp>
        <p:sp>
          <p:nvSpPr>
            <p:cNvPr id="36" name="Rectangle 36"/>
            <p:cNvSpPr/>
            <p:nvPr/>
          </p:nvSpPr>
          <p:spPr>
            <a:xfrm>
              <a:off x="9639300" y="3162300"/>
              <a:ext cx="123825" cy="57150"/>
            </a:xfrm>
            <a:prstGeom prst="roundRect">
              <a:avLst>
                <a:gd name="adj" fmla="val 16667"/>
              </a:avLst>
            </a:prstGeom>
            <a:solidFill>
              <a:srgbClr val="F2C14E"/>
            </a:solidFill>
            <a:ln>
              <a:noFill/>
            </a:ln>
          </p:spPr>
        </p:sp>
        <p:sp>
          <p:nvSpPr>
            <p:cNvPr id="37" name="TextBox 37"/>
            <p:cNvSpPr txBox="1"/>
            <p:nvPr/>
          </p:nvSpPr>
          <p:spPr>
            <a:xfrm>
              <a:off x="9154365" y="3327797"/>
              <a:ext cx="4745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skewed</a:t>
              </a:r>
            </a:p>
          </p:txBody>
        </p:sp>
        <p:sp>
          <p:nvSpPr>
            <p:cNvPr id="38" name="Line 38"/>
            <p:cNvSpPr/>
            <p:nvPr/>
          </p:nvSpPr>
          <p:spPr>
            <a:xfrm>
              <a:off x="8077200" y="2857500"/>
              <a:ext cx="9525" cy="438150"/>
            </a:xfrm>
            <a:custGeom>
              <a:avLst/>
              <a:gdLst/>
              <a:ahLst/>
              <a:cxnLst/>
              <a:rect l="l" t="t" r="r" b="b"/>
              <a:pathLst>
                <a:path w="9525" h="438150">
                  <a:moveTo>
                    <a:pt x="0" y="0"/>
                  </a:moveTo>
                  <a:lnTo>
                    <a:pt x="0" y="438150"/>
                  </a:lnTo>
                </a:path>
              </a:pathLst>
            </a:custGeom>
            <a:noFill/>
            <a:ln w="9525" cap="rnd">
              <a:solidFill>
                <a:srgbClr val="26455F"/>
              </a:solidFill>
              <a:custDash>
                <a:ds d="300000" sp="400000"/>
              </a:custDash>
            </a:ln>
          </p:spPr>
        </p:sp>
        <p:sp>
          <p:nvSpPr>
            <p:cNvPr id="39" name="TextBox 39"/>
            <p:cNvSpPr txBox="1"/>
            <p:nvPr/>
          </p:nvSpPr>
          <p:spPr>
            <a:xfrm>
              <a:off x="10354819" y="3118247"/>
              <a:ext cx="851344" cy="183356"/>
            </a:xfrm>
            <a:prstGeom prst="rect">
              <a:avLst/>
            </a:prstGeom>
            <a:noFill/>
            <a:ln>
              <a:noFill/>
            </a:ln>
          </p:spPr>
          <p:txBody>
            <a:bodyPr wrap="none" lIns="0" tIns="0" rIns="0" bIns="0" anchor="t" anchorCtr="0">
              <a:spAutoFit/>
            </a:bodyPr>
            <a:lstStyle/>
            <a:p>
              <a:pPr algn="r"/>
              <a:r>
                <a:rPr lang="en-US" sz="940" b="1" dirty="0">
                  <a:solidFill>
                    <a:srgbClr val="6E869C"/>
                  </a:solidFill>
                  <a:latin typeface="+mn-lt"/>
                  <a:ea typeface="+mn-ea"/>
                  <a:cs typeface="+mn-cs"/>
                </a:rPr>
                <a:t>known true T</a:t>
              </a:r>
            </a:p>
          </p:txBody>
        </p:sp>
      </p:grpSp>
      <p:grpSp>
        <p:nvGrpSpPr>
          <p:cNvPr id="54" name="Group 54"/>
          <p:cNvGrpSpPr/>
          <p:nvPr/>
        </p:nvGrpSpPr>
        <p:grpSpPr>
          <a:xfrm>
            <a:off x="609600" y="3867150"/>
            <a:ext cx="10972800" cy="1371600"/>
            <a:chOff x="609600" y="3867150"/>
            <a:chExt cx="10972800" cy="1371600"/>
          </a:xfrm>
        </p:grpSpPr>
        <p:sp>
          <p:nvSpPr>
            <p:cNvPr id="41" name="Rectangle 41"/>
            <p:cNvSpPr/>
            <p:nvPr/>
          </p:nvSpPr>
          <p:spPr>
            <a:xfrm>
              <a:off x="609600" y="3867150"/>
              <a:ext cx="10972800" cy="1371600"/>
            </a:xfrm>
            <a:prstGeom prst="roundRect">
              <a:avLst>
                <a:gd name="adj" fmla="val 9722"/>
              </a:avLst>
            </a:prstGeom>
            <a:solidFill>
              <a:schemeClr val="accent5"/>
            </a:solidFill>
            <a:ln w="14288">
              <a:solidFill>
                <a:srgbClr val="26455F"/>
              </a:solidFill>
            </a:ln>
          </p:spPr>
        </p:sp>
        <p:sp>
          <p:nvSpPr>
            <p:cNvPr id="42" name="Rectangle 42"/>
            <p:cNvSpPr/>
            <p:nvPr/>
          </p:nvSpPr>
          <p:spPr>
            <a:xfrm>
              <a:off x="609600" y="3867150"/>
              <a:ext cx="57150" cy="1371600"/>
            </a:xfrm>
            <a:prstGeom prst="roundRect">
              <a:avLst>
                <a:gd name="adj" fmla="val 50000"/>
              </a:avLst>
            </a:prstGeom>
            <a:solidFill>
              <a:srgbClr val="F2C14E"/>
            </a:solidFill>
            <a:ln>
              <a:noFill/>
            </a:ln>
          </p:spPr>
        </p:sp>
        <p:sp>
          <p:nvSpPr>
            <p:cNvPr id="43" name="TextBox 43"/>
            <p:cNvSpPr txBox="1"/>
            <p:nvPr/>
          </p:nvSpPr>
          <p:spPr>
            <a:xfrm>
              <a:off x="870204" y="4080510"/>
              <a:ext cx="455514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Two coverage regimes x three expert-optimality levels</a:t>
              </a:r>
            </a:p>
          </p:txBody>
        </p:sp>
        <p:sp>
          <p:nvSpPr>
            <p:cNvPr id="44" name="Rectangle 44"/>
            <p:cNvSpPr/>
            <p:nvPr/>
          </p:nvSpPr>
          <p:spPr>
            <a:xfrm>
              <a:off x="876300" y="4400550"/>
              <a:ext cx="3276600" cy="342900"/>
            </a:xfrm>
            <a:prstGeom prst="roundRect">
              <a:avLst>
                <a:gd name="adj" fmla="val 22222"/>
              </a:avLst>
            </a:prstGeom>
            <a:solidFill>
              <a:schemeClr val="accent6"/>
            </a:solidFill>
            <a:ln w="14288">
              <a:solidFill>
                <a:srgbClr val="26455F"/>
              </a:solidFill>
            </a:ln>
          </p:spPr>
        </p:sp>
        <p:sp>
          <p:nvSpPr>
            <p:cNvPr id="45" name="Ellipse 45"/>
            <p:cNvSpPr/>
            <p:nvPr/>
          </p:nvSpPr>
          <p:spPr>
            <a:xfrm>
              <a:off x="1000125" y="4524375"/>
              <a:ext cx="95250" cy="95250"/>
            </a:xfrm>
            <a:prstGeom prst="ellipse">
              <a:avLst/>
            </a:prstGeom>
            <a:solidFill>
              <a:schemeClr val="accent2"/>
            </a:solidFill>
            <a:ln>
              <a:noFill/>
            </a:ln>
          </p:spPr>
        </p:sp>
        <p:sp>
          <p:nvSpPr>
            <p:cNvPr id="46" name="TextBox 46"/>
            <p:cNvSpPr txBox="1"/>
            <p:nvPr/>
          </p:nvSpPr>
          <p:spPr>
            <a:xfrm>
              <a:off x="1195006" y="4510326"/>
              <a:ext cx="180028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Low data: K = 15 episodes</a:t>
              </a:r>
            </a:p>
          </p:txBody>
        </p:sp>
        <p:sp>
          <p:nvSpPr>
            <p:cNvPr id="47" name="Rectangle 47"/>
            <p:cNvSpPr/>
            <p:nvPr/>
          </p:nvSpPr>
          <p:spPr>
            <a:xfrm>
              <a:off x="4343400" y="4400550"/>
              <a:ext cx="3276600" cy="342900"/>
            </a:xfrm>
            <a:prstGeom prst="roundRect">
              <a:avLst>
                <a:gd name="adj" fmla="val 22222"/>
              </a:avLst>
            </a:prstGeom>
            <a:solidFill>
              <a:schemeClr val="accent6"/>
            </a:solidFill>
            <a:ln w="14288">
              <a:solidFill>
                <a:srgbClr val="26455F"/>
              </a:solidFill>
            </a:ln>
          </p:spPr>
        </p:sp>
        <p:sp>
          <p:nvSpPr>
            <p:cNvPr id="48" name="Ellipse 48"/>
            <p:cNvSpPr/>
            <p:nvPr/>
          </p:nvSpPr>
          <p:spPr>
            <a:xfrm>
              <a:off x="4467225" y="4524375"/>
              <a:ext cx="95250" cy="95250"/>
            </a:xfrm>
            <a:prstGeom prst="ellipse">
              <a:avLst/>
            </a:prstGeom>
            <a:solidFill>
              <a:schemeClr val="accent2"/>
            </a:solidFill>
            <a:ln>
              <a:noFill/>
            </a:ln>
          </p:spPr>
        </p:sp>
        <p:sp>
          <p:nvSpPr>
            <p:cNvPr id="49" name="TextBox 49"/>
            <p:cNvSpPr txBox="1"/>
            <p:nvPr/>
          </p:nvSpPr>
          <p:spPr>
            <a:xfrm>
              <a:off x="4662106" y="4510326"/>
              <a:ext cx="189295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High data: K = 300 episodes</a:t>
              </a:r>
            </a:p>
          </p:txBody>
        </p:sp>
        <p:sp>
          <p:nvSpPr>
            <p:cNvPr id="50" name="Rectangle 50"/>
            <p:cNvSpPr/>
            <p:nvPr/>
          </p:nvSpPr>
          <p:spPr>
            <a:xfrm>
              <a:off x="7810500" y="4400550"/>
              <a:ext cx="3771900" cy="342900"/>
            </a:xfrm>
            <a:prstGeom prst="roundRect">
              <a:avLst>
                <a:gd name="adj" fmla="val 22222"/>
              </a:avLst>
            </a:prstGeom>
            <a:solidFill>
              <a:schemeClr val="accent6"/>
            </a:solidFill>
            <a:ln w="14288">
              <a:solidFill>
                <a:srgbClr val="26455F"/>
              </a:solidFill>
            </a:ln>
          </p:spPr>
        </p:sp>
        <p:sp>
          <p:nvSpPr>
            <p:cNvPr id="51" name="Ellipse 51"/>
            <p:cNvSpPr/>
            <p:nvPr/>
          </p:nvSpPr>
          <p:spPr>
            <a:xfrm>
              <a:off x="7934325" y="4524375"/>
              <a:ext cx="95250" cy="95250"/>
            </a:xfrm>
            <a:prstGeom prst="ellipse">
              <a:avLst/>
            </a:prstGeom>
            <a:solidFill>
              <a:srgbClr val="F2C14E"/>
            </a:solidFill>
            <a:ln>
              <a:noFill/>
            </a:ln>
          </p:spPr>
        </p:sp>
        <p:sp>
          <p:nvSpPr>
            <p:cNvPr id="52" name="TextBox 52"/>
            <p:cNvSpPr txBox="1"/>
            <p:nvPr/>
          </p:nvSpPr>
          <p:spPr>
            <a:xfrm>
              <a:off x="8129206" y="4510326"/>
              <a:ext cx="325104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epsilon = 0 / 3 / 4 -&gt; 0 / 3 / 6 uncertain states</a:t>
              </a:r>
            </a:p>
          </p:txBody>
        </p:sp>
        <p:sp>
          <p:nvSpPr>
            <p:cNvPr id="53" name="TextBox 53"/>
            <p:cNvSpPr txBox="1"/>
            <p:nvPr/>
          </p:nvSpPr>
          <p:spPr>
            <a:xfrm>
              <a:off x="871347" y="4923949"/>
              <a:ext cx="5869470"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coverage and expert-optimality are varied independently to stress-test every method</a:t>
              </a:r>
            </a:p>
          </p:txBody>
        </p:sp>
      </p:grpSp>
      <p:grpSp>
        <p:nvGrpSpPr>
          <p:cNvPr id="58" name="Group 58"/>
          <p:cNvGrpSpPr/>
          <p:nvPr/>
        </p:nvGrpSpPr>
        <p:grpSpPr>
          <a:xfrm>
            <a:off x="609600" y="5391150"/>
            <a:ext cx="10972800" cy="552450"/>
            <a:chOff x="609600" y="5391150"/>
            <a:chExt cx="10972800" cy="552450"/>
          </a:xfrm>
        </p:grpSpPr>
        <p:sp>
          <p:nvSpPr>
            <p:cNvPr id="55" name="Rectangle 55"/>
            <p:cNvSpPr/>
            <p:nvPr/>
          </p:nvSpPr>
          <p:spPr>
            <a:xfrm>
              <a:off x="609600" y="5391150"/>
              <a:ext cx="10972800" cy="552450"/>
            </a:xfrm>
            <a:prstGeom prst="roundRect">
              <a:avLst>
                <a:gd name="adj" fmla="val 24138"/>
              </a:avLst>
            </a:prstGeom>
            <a:solidFill>
              <a:schemeClr val="accent6"/>
            </a:solidFill>
            <a:ln w="14288">
              <a:solidFill>
                <a:srgbClr val="26455F"/>
              </a:solidFill>
            </a:ln>
          </p:spPr>
        </p:sp>
        <p:sp>
          <p:nvSpPr>
            <p:cNvPr id="56" name="Rectangle 56"/>
            <p:cNvSpPr/>
            <p:nvPr/>
          </p:nvSpPr>
          <p:spPr>
            <a:xfrm>
              <a:off x="609600" y="5391150"/>
              <a:ext cx="57150" cy="552450"/>
            </a:xfrm>
            <a:prstGeom prst="roundRect">
              <a:avLst>
                <a:gd name="adj" fmla="val 50000"/>
              </a:avLst>
            </a:prstGeom>
            <a:solidFill>
              <a:srgbClr val="48C78E"/>
            </a:solidFill>
            <a:ln>
              <a:noFill/>
            </a:ln>
          </p:spPr>
        </p:sp>
        <p:sp>
          <p:nvSpPr>
            <p:cNvPr id="57" name="TextBox 57"/>
            <p:cNvSpPr txBox="1"/>
            <p:nvPr/>
          </p:nvSpPr>
          <p:spPr>
            <a:xfrm>
              <a:off x="870204" y="5594985"/>
              <a:ext cx="682011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Every reported number is averaged over 1,000 independently generated datasets.</a:t>
              </a:r>
            </a:p>
          </p:txBody>
        </p:sp>
      </p:grpSp>
      <p:sp>
        <p:nvSpPr>
          <p:cNvPr id="59" name="cue_s06_c1_all_experiments_run_synthetic_tabula" title="cue_s06_c1_all_experiments_run_synthetic_tabula" descr="cue_s06_c1_all_experiments_run_synthetic_tabula All experiments run on a synthetic tabular Markov decision process with fifteen states plus a terminal state and six actions, using a discount factor of zero point nine five."/>
          <p:cNvSpPr/>
          <p:nvPr/>
        </p:nvSpPr>
        <p:spPr>
          <a:xfrm>
            <a:off x="609600" y="1504645"/>
            <a:ext cx="533400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6_c2_true_dynamics_deliberately_mixed_som" title="cue_s06_c2_true_dynamics_deliberately_mixed_som" descr="cue_s06_c2_true_dynamics_deliberately_mixed_som The true dynamics are deliberately mixed, sometimes uniform and sometimes highly skewed toward a few states, to create rich and varied behavior."/>
          <p:cNvSpPr/>
          <p:nvPr/>
        </p:nvSpPr>
        <p:spPr>
          <a:xfrm>
            <a:off x="6248399" y="1504645"/>
            <a:ext cx="5334000" cy="22096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ue_s06_c3_study_two_coverage_regimes_low" title="cue_s06_c3_study_two_coverage_regimes_low" descr="cue_s06_c3_study_two_coverage_regimes_low We study two coverage regimes, a low data setting of fifteen episodes and a high data setting of three hundred, crossed with three levels of expert optimality that create zero, three, and six uncertain policy states."/>
          <p:cNvSpPr/>
          <p:nvPr/>
        </p:nvSpPr>
        <p:spPr>
          <a:xfrm>
            <a:off x="609600" y="3867226"/>
            <a:ext cx="10972800" cy="13716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6_c4_every_reported_number_averaged_over" title="cue_s06_c4_every_reported_number_averaged_over" descr="cue_s06_c4_every_reported_number_averaged_over Every reported number is averaged over one thousand independently generated datasets."/>
          <p:cNvSpPr/>
          <p:nvPr/>
        </p:nvSpPr>
        <p:spPr>
          <a:xfrm>
            <a:off x="609600" y="5391073"/>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26825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clipped posterior dominates every baseline</a:t>
            </a:r>
          </a:p>
        </p:txBody>
      </p:sp>
      <p:grpSp>
        <p:nvGrpSpPr>
          <p:cNvPr id="8" name="Group 8"/>
          <p:cNvGrpSpPr/>
          <p:nvPr/>
        </p:nvGrpSpPr>
        <p:grpSpPr>
          <a:xfrm>
            <a:off x="609600" y="1428750"/>
            <a:ext cx="10972800" cy="495300"/>
            <a:chOff x="609600" y="1428750"/>
            <a:chExt cx="10972800" cy="495300"/>
          </a:xfrm>
        </p:grpSpPr>
        <p:sp>
          <p:nvSpPr>
            <p:cNvPr id="5" name="Rectangle 5"/>
            <p:cNvSpPr/>
            <p:nvPr/>
          </p:nvSpPr>
          <p:spPr>
            <a:xfrm>
              <a:off x="609600" y="1428750"/>
              <a:ext cx="10972800" cy="495300"/>
            </a:xfrm>
            <a:prstGeom prst="roundRect">
              <a:avLst>
                <a:gd name="adj" fmla="val 26923"/>
              </a:avLst>
            </a:prstGeom>
            <a:solidFill>
              <a:schemeClr val="accent5"/>
            </a:solidFill>
            <a:ln w="14288">
              <a:solidFill>
                <a:srgbClr val="26455F"/>
              </a:solidFill>
            </a:ln>
          </p:spPr>
        </p:sp>
        <p:sp>
          <p:nvSpPr>
            <p:cNvPr id="6" name="Rectangle 6"/>
            <p:cNvSpPr/>
            <p:nvPr/>
          </p:nvSpPr>
          <p:spPr>
            <a:xfrm>
              <a:off x="609600" y="1428750"/>
              <a:ext cx="57150" cy="495300"/>
            </a:xfrm>
            <a:prstGeom prst="roundRect">
              <a:avLst>
                <a:gd name="adj" fmla="val 50000"/>
              </a:avLst>
            </a:prstGeom>
            <a:solidFill>
              <a:srgbClr val="48C78E"/>
            </a:solidFill>
            <a:ln>
              <a:noFill/>
            </a:ln>
          </p:spPr>
        </p:sp>
        <p:sp>
          <p:nvSpPr>
            <p:cNvPr id="7" name="TextBox 7"/>
            <p:cNvSpPr txBox="1"/>
            <p:nvPr/>
          </p:nvSpPr>
          <p:spPr>
            <a:xfrm>
              <a:off x="870204" y="1613535"/>
              <a:ext cx="859634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On the Q*metric, P(T | D, expert) beats both maximum likelihood and the un-clipped posterior P(T | D).</a:t>
              </a:r>
            </a:p>
          </p:txBody>
        </p:sp>
      </p:grpSp>
      <p:grpSp>
        <p:nvGrpSpPr>
          <p:cNvPr id="29" name="Group 29"/>
          <p:cNvGrpSpPr/>
          <p:nvPr/>
        </p:nvGrpSpPr>
        <p:grpSpPr>
          <a:xfrm>
            <a:off x="609600" y="2038350"/>
            <a:ext cx="5334000" cy="3200400"/>
            <a:chOff x="609600" y="2038350"/>
            <a:chExt cx="5334000" cy="3200400"/>
          </a:xfrm>
        </p:grpSpPr>
        <p:sp>
          <p:nvSpPr>
            <p:cNvPr id="9" name="Rectangle 9"/>
            <p:cNvSpPr/>
            <p:nvPr/>
          </p:nvSpPr>
          <p:spPr>
            <a:xfrm>
              <a:off x="609600" y="2038350"/>
              <a:ext cx="5334000" cy="3200400"/>
            </a:xfrm>
            <a:prstGeom prst="roundRect">
              <a:avLst>
                <a:gd name="adj" fmla="val 4167"/>
              </a:avLst>
            </a:prstGeom>
            <a:solidFill>
              <a:schemeClr val="accent5"/>
            </a:solidFill>
            <a:ln w="14288">
              <a:solidFill>
                <a:srgbClr val="26455F"/>
              </a:solidFill>
            </a:ln>
          </p:spPr>
        </p:sp>
        <p:sp>
          <p:nvSpPr>
            <p:cNvPr id="10" name="Rectangle 10"/>
            <p:cNvSpPr/>
            <p:nvPr/>
          </p:nvSpPr>
          <p:spPr>
            <a:xfrm>
              <a:off x="609600" y="2038350"/>
              <a:ext cx="57150" cy="3200400"/>
            </a:xfrm>
            <a:prstGeom prst="roundRect">
              <a:avLst>
                <a:gd name="adj" fmla="val 50000"/>
              </a:avLst>
            </a:prstGeom>
            <a:solidFill>
              <a:srgbClr val="48C78E"/>
            </a:solidFill>
            <a:ln>
              <a:noFill/>
            </a:ln>
          </p:spPr>
        </p:sp>
        <p:sp>
          <p:nvSpPr>
            <p:cNvPr id="11" name="TextBox 11"/>
            <p:cNvSpPr txBox="1"/>
            <p:nvPr/>
          </p:nvSpPr>
          <p:spPr>
            <a:xfrm>
              <a:off x="870014" y="2266712"/>
              <a:ext cx="281697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100% accuracy on decided states</a:t>
              </a:r>
            </a:p>
          </p:txBody>
        </p:sp>
        <p:sp>
          <p:nvSpPr>
            <p:cNvPr id="12" name="TextBox 12"/>
            <p:cNvSpPr txBox="1"/>
            <p:nvPr/>
          </p:nvSpPr>
          <p:spPr>
            <a:xfrm>
              <a:off x="870966" y="2591752"/>
              <a:ext cx="39522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Where the expert knows a single best action, our method</a:t>
              </a:r>
            </a:p>
          </p:txBody>
        </p:sp>
        <p:sp>
          <p:nvSpPr>
            <p:cNvPr id="13" name="TextBox 13"/>
            <p:cNvSpPr txBox="1"/>
            <p:nvPr/>
          </p:nvSpPr>
          <p:spPr>
            <a:xfrm>
              <a:off x="870966" y="2791778"/>
              <a:ext cx="33465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picks it every time, in every data and optimality</a:t>
              </a:r>
            </a:p>
          </p:txBody>
        </p:sp>
        <p:sp>
          <p:nvSpPr>
            <p:cNvPr id="14" name="TextBox 14"/>
            <p:cNvSpPr txBox="1"/>
            <p:nvPr/>
          </p:nvSpPr>
          <p:spPr>
            <a:xfrm>
              <a:off x="870966" y="2991802"/>
              <a:ext cx="5972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setting.</a:t>
              </a:r>
            </a:p>
          </p:txBody>
        </p:sp>
        <p:sp>
          <p:nvSpPr>
            <p:cNvPr id="15" name="TextBox 15"/>
            <p:cNvSpPr txBox="1"/>
            <p:nvPr/>
          </p:nvSpPr>
          <p:spPr>
            <a:xfrm>
              <a:off x="871156" y="3281601"/>
              <a:ext cx="282014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Accuracy on deterministic-policy states</a:t>
              </a:r>
            </a:p>
          </p:txBody>
        </p:sp>
        <p:sp>
          <p:nvSpPr>
            <p:cNvPr id="16" name="Rectangle 16"/>
            <p:cNvSpPr/>
            <p:nvPr/>
          </p:nvSpPr>
          <p:spPr>
            <a:xfrm>
              <a:off x="2857500" y="3543300"/>
              <a:ext cx="2247900" cy="247650"/>
            </a:xfrm>
            <a:prstGeom prst="roundRect">
              <a:avLst>
                <a:gd name="adj" fmla="val 23077"/>
              </a:avLst>
            </a:prstGeom>
            <a:solidFill>
              <a:srgbClr val="0E2334"/>
            </a:solidFill>
            <a:ln w="9525">
              <a:solidFill>
                <a:srgbClr val="26455F"/>
              </a:solidFill>
            </a:ln>
          </p:spPr>
        </p:sp>
        <p:sp>
          <p:nvSpPr>
            <p:cNvPr id="17" name="Rectangle 17"/>
            <p:cNvSpPr/>
            <p:nvPr/>
          </p:nvSpPr>
          <p:spPr>
            <a:xfrm>
              <a:off x="2857500" y="3543300"/>
              <a:ext cx="2247900" cy="247650"/>
            </a:xfrm>
            <a:prstGeom prst="roundRect">
              <a:avLst>
                <a:gd name="adj" fmla="val 23077"/>
              </a:avLst>
            </a:prstGeom>
            <a:solidFill>
              <a:srgbClr val="48C78E"/>
            </a:solidFill>
            <a:ln>
              <a:noFill/>
            </a:ln>
          </p:spPr>
        </p:sp>
        <p:sp>
          <p:nvSpPr>
            <p:cNvPr id="18" name="TextBox 18"/>
            <p:cNvSpPr txBox="1"/>
            <p:nvPr/>
          </p:nvSpPr>
          <p:spPr>
            <a:xfrm>
              <a:off x="2376621" y="3608261"/>
              <a:ext cx="3719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a:t>
              </a:r>
            </a:p>
          </p:txBody>
        </p:sp>
        <p:sp>
          <p:nvSpPr>
            <p:cNvPr id="19" name="TextBox 19"/>
            <p:cNvSpPr txBox="1"/>
            <p:nvPr/>
          </p:nvSpPr>
          <p:spPr>
            <a:xfrm>
              <a:off x="5195316" y="3608261"/>
              <a:ext cx="36687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100%</a:t>
              </a:r>
            </a:p>
          </p:txBody>
        </p:sp>
        <p:sp>
          <p:nvSpPr>
            <p:cNvPr id="20" name="Rectangle 20"/>
            <p:cNvSpPr/>
            <p:nvPr/>
          </p:nvSpPr>
          <p:spPr>
            <a:xfrm>
              <a:off x="2857500" y="3924300"/>
              <a:ext cx="2247900" cy="247650"/>
            </a:xfrm>
            <a:prstGeom prst="roundRect">
              <a:avLst>
                <a:gd name="adj" fmla="val 23077"/>
              </a:avLst>
            </a:prstGeom>
            <a:solidFill>
              <a:srgbClr val="0E2334"/>
            </a:solidFill>
            <a:ln w="9525">
              <a:solidFill>
                <a:srgbClr val="26455F"/>
              </a:solidFill>
            </a:ln>
          </p:spPr>
        </p:sp>
        <p:sp>
          <p:nvSpPr>
            <p:cNvPr id="21" name="Rectangle 21"/>
            <p:cNvSpPr/>
            <p:nvPr/>
          </p:nvSpPr>
          <p:spPr>
            <a:xfrm>
              <a:off x="2857500" y="3924300"/>
              <a:ext cx="2066925" cy="247650"/>
            </a:xfrm>
            <a:prstGeom prst="roundRect">
              <a:avLst>
                <a:gd name="adj" fmla="val 23077"/>
              </a:avLst>
            </a:prstGeom>
            <a:solidFill>
              <a:schemeClr val="accent2"/>
            </a:solidFill>
            <a:ln>
              <a:noFill/>
            </a:ln>
          </p:spPr>
        </p:sp>
        <p:sp>
          <p:nvSpPr>
            <p:cNvPr id="22" name="TextBox 22"/>
            <p:cNvSpPr txBox="1"/>
            <p:nvPr/>
          </p:nvSpPr>
          <p:spPr>
            <a:xfrm>
              <a:off x="2076583" y="3989261"/>
              <a:ext cx="67195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best</a:t>
              </a:r>
            </a:p>
          </p:txBody>
        </p:sp>
        <p:sp>
          <p:nvSpPr>
            <p:cNvPr id="23" name="TextBox 23"/>
            <p:cNvSpPr txBox="1"/>
            <p:nvPr/>
          </p:nvSpPr>
          <p:spPr>
            <a:xfrm>
              <a:off x="5014341" y="3989261"/>
              <a:ext cx="28524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92%</a:t>
              </a:r>
            </a:p>
          </p:txBody>
        </p:sp>
        <p:sp>
          <p:nvSpPr>
            <p:cNvPr id="24" name="Rectangle 24"/>
            <p:cNvSpPr/>
            <p:nvPr/>
          </p:nvSpPr>
          <p:spPr>
            <a:xfrm>
              <a:off x="2857500" y="4305300"/>
              <a:ext cx="2247900" cy="247650"/>
            </a:xfrm>
            <a:prstGeom prst="roundRect">
              <a:avLst>
                <a:gd name="adj" fmla="val 23077"/>
              </a:avLst>
            </a:prstGeom>
            <a:solidFill>
              <a:srgbClr val="0E2334"/>
            </a:solidFill>
            <a:ln w="9525">
              <a:solidFill>
                <a:srgbClr val="26455F"/>
              </a:solidFill>
            </a:ln>
          </p:spPr>
        </p:sp>
        <p:sp>
          <p:nvSpPr>
            <p:cNvPr id="25" name="Rectangle 25"/>
            <p:cNvSpPr/>
            <p:nvPr/>
          </p:nvSpPr>
          <p:spPr>
            <a:xfrm>
              <a:off x="2857500" y="4305300"/>
              <a:ext cx="1504950" cy="247650"/>
            </a:xfrm>
            <a:prstGeom prst="roundRect">
              <a:avLst>
                <a:gd name="adj" fmla="val 23077"/>
              </a:avLst>
            </a:prstGeom>
            <a:solidFill>
              <a:srgbClr val="F2685C"/>
            </a:solidFill>
            <a:ln>
              <a:noFill/>
            </a:ln>
          </p:spPr>
        </p:sp>
        <p:sp>
          <p:nvSpPr>
            <p:cNvPr id="26" name="TextBox 26"/>
            <p:cNvSpPr txBox="1"/>
            <p:nvPr/>
          </p:nvSpPr>
          <p:spPr>
            <a:xfrm>
              <a:off x="1964864" y="4370261"/>
              <a:ext cx="7836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worst</a:t>
              </a:r>
            </a:p>
          </p:txBody>
        </p:sp>
        <p:sp>
          <p:nvSpPr>
            <p:cNvPr id="27" name="TextBox 27"/>
            <p:cNvSpPr txBox="1"/>
            <p:nvPr/>
          </p:nvSpPr>
          <p:spPr>
            <a:xfrm>
              <a:off x="4452366" y="4370261"/>
              <a:ext cx="285242"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67%</a:t>
              </a:r>
            </a:p>
          </p:txBody>
        </p:sp>
        <p:sp>
          <p:nvSpPr>
            <p:cNvPr id="28" name="TextBox 28"/>
            <p:cNvSpPr txBox="1"/>
            <p:nvPr/>
          </p:nvSpPr>
          <p:spPr>
            <a:xfrm>
              <a:off x="871347" y="4771549"/>
              <a:ext cx="4765710"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MLE ranges 67-92% and is never guaranteed; ours is a constant 100%.</a:t>
              </a:r>
            </a:p>
          </p:txBody>
        </p:sp>
      </p:grpSp>
      <p:grpSp>
        <p:nvGrpSpPr>
          <p:cNvPr id="49" name="Group 49"/>
          <p:cNvGrpSpPr/>
          <p:nvPr/>
        </p:nvGrpSpPr>
        <p:grpSpPr>
          <a:xfrm>
            <a:off x="6248400" y="2038350"/>
            <a:ext cx="5334000" cy="3200400"/>
            <a:chOff x="6248400" y="2038350"/>
            <a:chExt cx="5334000" cy="3200400"/>
          </a:xfrm>
        </p:grpSpPr>
        <p:sp>
          <p:nvSpPr>
            <p:cNvPr id="30" name="Rectangle 30"/>
            <p:cNvSpPr/>
            <p:nvPr/>
          </p:nvSpPr>
          <p:spPr>
            <a:xfrm>
              <a:off x="6248400" y="2038350"/>
              <a:ext cx="5334000" cy="3200400"/>
            </a:xfrm>
            <a:prstGeom prst="roundRect">
              <a:avLst>
                <a:gd name="adj" fmla="val 4167"/>
              </a:avLst>
            </a:prstGeom>
            <a:solidFill>
              <a:schemeClr val="accent5"/>
            </a:solidFill>
            <a:ln w="14288">
              <a:solidFill>
                <a:srgbClr val="26455F"/>
              </a:solidFill>
            </a:ln>
          </p:spPr>
        </p:sp>
        <p:sp>
          <p:nvSpPr>
            <p:cNvPr id="31" name="Rectangle 31"/>
            <p:cNvSpPr/>
            <p:nvPr/>
          </p:nvSpPr>
          <p:spPr>
            <a:xfrm>
              <a:off x="6248400" y="2038350"/>
              <a:ext cx="57150" cy="3200400"/>
            </a:xfrm>
            <a:prstGeom prst="roundRect">
              <a:avLst>
                <a:gd name="adj" fmla="val 50000"/>
              </a:avLst>
            </a:prstGeom>
            <a:solidFill>
              <a:schemeClr val="accent2"/>
            </a:solidFill>
            <a:ln>
              <a:noFill/>
            </a:ln>
          </p:spPr>
        </p:sp>
        <p:sp>
          <p:nvSpPr>
            <p:cNvPr id="32" name="TextBox 32"/>
            <p:cNvSpPr txBox="1"/>
            <p:nvPr/>
          </p:nvSpPr>
          <p:spPr>
            <a:xfrm>
              <a:off x="6508814" y="2266712"/>
              <a:ext cx="220063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Never a truly bad mistake</a:t>
              </a:r>
            </a:p>
          </p:txBody>
        </p:sp>
        <p:sp>
          <p:nvSpPr>
            <p:cNvPr id="33" name="TextBox 33"/>
            <p:cNvSpPr txBox="1"/>
            <p:nvPr/>
          </p:nvSpPr>
          <p:spPr>
            <a:xfrm>
              <a:off x="6509766" y="2591752"/>
              <a:ext cx="37470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Our policies never pick an action outside the expert's</a:t>
              </a:r>
            </a:p>
          </p:txBody>
        </p:sp>
        <p:sp>
          <p:nvSpPr>
            <p:cNvPr id="34" name="TextBox 34"/>
            <p:cNvSpPr txBox="1"/>
            <p:nvPr/>
          </p:nvSpPr>
          <p:spPr>
            <a:xfrm>
              <a:off x="6509766" y="2791778"/>
              <a:ext cx="37250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epsilon-ball. Lower Q*metric is better (0 = optimal).</a:t>
              </a:r>
            </a:p>
          </p:txBody>
        </p:sp>
        <p:sp>
          <p:nvSpPr>
            <p:cNvPr id="35" name="TextBox 35"/>
            <p:cNvSpPr txBox="1"/>
            <p:nvPr/>
          </p:nvSpPr>
          <p:spPr>
            <a:xfrm>
              <a:off x="6509956" y="3281601"/>
              <a:ext cx="3649202"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Q*metric at epsilon = 0, high data (lower is better)</a:t>
              </a:r>
            </a:p>
          </p:txBody>
        </p:sp>
        <p:sp>
          <p:nvSpPr>
            <p:cNvPr id="36" name="Rectangle 36"/>
            <p:cNvSpPr/>
            <p:nvPr/>
          </p:nvSpPr>
          <p:spPr>
            <a:xfrm>
              <a:off x="8343900" y="3543300"/>
              <a:ext cx="2857500" cy="247650"/>
            </a:xfrm>
            <a:prstGeom prst="roundRect">
              <a:avLst>
                <a:gd name="adj" fmla="val 23077"/>
              </a:avLst>
            </a:prstGeom>
            <a:solidFill>
              <a:srgbClr val="0E2334"/>
            </a:solidFill>
            <a:ln w="9525">
              <a:solidFill>
                <a:srgbClr val="26455F"/>
              </a:solidFill>
            </a:ln>
          </p:spPr>
        </p:sp>
        <p:sp>
          <p:nvSpPr>
            <p:cNvPr id="37" name="Rectangle 37"/>
            <p:cNvSpPr/>
            <p:nvPr/>
          </p:nvSpPr>
          <p:spPr>
            <a:xfrm>
              <a:off x="8343900" y="3543300"/>
              <a:ext cx="38100" cy="247650"/>
            </a:xfrm>
            <a:prstGeom prst="roundRect">
              <a:avLst>
                <a:gd name="adj" fmla="val 50000"/>
              </a:avLst>
            </a:prstGeom>
            <a:solidFill>
              <a:srgbClr val="48C78E"/>
            </a:solidFill>
            <a:ln>
              <a:noFill/>
            </a:ln>
          </p:spPr>
        </p:sp>
        <p:sp>
          <p:nvSpPr>
            <p:cNvPr id="38" name="TextBox 38"/>
            <p:cNvSpPr txBox="1"/>
            <p:nvPr/>
          </p:nvSpPr>
          <p:spPr>
            <a:xfrm>
              <a:off x="7863021" y="3608261"/>
              <a:ext cx="3719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a:t>
              </a:r>
            </a:p>
          </p:txBody>
        </p:sp>
        <p:sp>
          <p:nvSpPr>
            <p:cNvPr id="39" name="TextBox 39"/>
            <p:cNvSpPr txBox="1"/>
            <p:nvPr/>
          </p:nvSpPr>
          <p:spPr>
            <a:xfrm>
              <a:off x="8471916" y="3608261"/>
              <a:ext cx="9229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a:t>
              </a:r>
            </a:p>
          </p:txBody>
        </p:sp>
        <p:sp>
          <p:nvSpPr>
            <p:cNvPr id="40" name="Rectangle 40"/>
            <p:cNvSpPr/>
            <p:nvPr/>
          </p:nvSpPr>
          <p:spPr>
            <a:xfrm>
              <a:off x="8343900" y="3924300"/>
              <a:ext cx="2857500" cy="247650"/>
            </a:xfrm>
            <a:prstGeom prst="roundRect">
              <a:avLst>
                <a:gd name="adj" fmla="val 23077"/>
              </a:avLst>
            </a:prstGeom>
            <a:solidFill>
              <a:srgbClr val="0E2334"/>
            </a:solidFill>
            <a:ln w="9525">
              <a:solidFill>
                <a:srgbClr val="26455F"/>
              </a:solidFill>
            </a:ln>
          </p:spPr>
        </p:sp>
        <p:sp>
          <p:nvSpPr>
            <p:cNvPr id="41" name="Rectangle 41"/>
            <p:cNvSpPr/>
            <p:nvPr/>
          </p:nvSpPr>
          <p:spPr>
            <a:xfrm>
              <a:off x="8343900" y="3924300"/>
              <a:ext cx="1143000" cy="247650"/>
            </a:xfrm>
            <a:prstGeom prst="roundRect">
              <a:avLst>
                <a:gd name="adj" fmla="val 23077"/>
              </a:avLst>
            </a:prstGeom>
            <a:solidFill>
              <a:schemeClr val="accent2"/>
            </a:solidFill>
            <a:ln>
              <a:noFill/>
            </a:ln>
          </p:spPr>
        </p:sp>
        <p:sp>
          <p:nvSpPr>
            <p:cNvPr id="42" name="TextBox 42"/>
            <p:cNvSpPr txBox="1"/>
            <p:nvPr/>
          </p:nvSpPr>
          <p:spPr>
            <a:xfrm>
              <a:off x="7934150" y="3989261"/>
              <a:ext cx="30078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a:t>
              </a:r>
            </a:p>
          </p:txBody>
        </p:sp>
        <p:sp>
          <p:nvSpPr>
            <p:cNvPr id="43" name="TextBox 43"/>
            <p:cNvSpPr txBox="1"/>
            <p:nvPr/>
          </p:nvSpPr>
          <p:spPr>
            <a:xfrm>
              <a:off x="9576816" y="3989261"/>
              <a:ext cx="41881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59.75</a:t>
              </a:r>
            </a:p>
          </p:txBody>
        </p:sp>
        <p:sp>
          <p:nvSpPr>
            <p:cNvPr id="44" name="Rectangle 44"/>
            <p:cNvSpPr/>
            <p:nvPr/>
          </p:nvSpPr>
          <p:spPr>
            <a:xfrm>
              <a:off x="8343900" y="4305300"/>
              <a:ext cx="2857500" cy="247650"/>
            </a:xfrm>
            <a:prstGeom prst="roundRect">
              <a:avLst>
                <a:gd name="adj" fmla="val 23077"/>
              </a:avLst>
            </a:prstGeom>
            <a:solidFill>
              <a:srgbClr val="0E2334"/>
            </a:solidFill>
            <a:ln w="9525">
              <a:solidFill>
                <a:srgbClr val="26455F"/>
              </a:solidFill>
            </a:ln>
          </p:spPr>
        </p:sp>
        <p:sp>
          <p:nvSpPr>
            <p:cNvPr id="45" name="Rectangle 45"/>
            <p:cNvSpPr/>
            <p:nvPr/>
          </p:nvSpPr>
          <p:spPr>
            <a:xfrm>
              <a:off x="8343900" y="4305300"/>
              <a:ext cx="2705100" cy="247650"/>
            </a:xfrm>
            <a:prstGeom prst="roundRect">
              <a:avLst>
                <a:gd name="adj" fmla="val 23077"/>
              </a:avLst>
            </a:prstGeom>
            <a:solidFill>
              <a:srgbClr val="F2C14E"/>
            </a:solidFill>
            <a:ln>
              <a:noFill/>
            </a:ln>
          </p:spPr>
        </p:sp>
        <p:sp>
          <p:nvSpPr>
            <p:cNvPr id="46" name="TextBox 46"/>
            <p:cNvSpPr txBox="1"/>
            <p:nvPr/>
          </p:nvSpPr>
          <p:spPr>
            <a:xfrm>
              <a:off x="7745966" y="4370261"/>
              <a:ext cx="48896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P(T|D)</a:t>
              </a:r>
            </a:p>
          </p:txBody>
        </p:sp>
        <p:sp>
          <p:nvSpPr>
            <p:cNvPr id="47" name="TextBox 47"/>
            <p:cNvSpPr txBox="1"/>
            <p:nvPr/>
          </p:nvSpPr>
          <p:spPr>
            <a:xfrm>
              <a:off x="11138916" y="4370261"/>
              <a:ext cx="255559"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142</a:t>
              </a:r>
            </a:p>
          </p:txBody>
        </p:sp>
        <p:sp>
          <p:nvSpPr>
            <p:cNvPr id="48" name="TextBox 48"/>
            <p:cNvSpPr txBox="1"/>
            <p:nvPr/>
          </p:nvSpPr>
          <p:spPr>
            <a:xfrm>
              <a:off x="6510147" y="4771549"/>
              <a:ext cx="3321132"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the plain posterior is even worse than MLE here.</a:t>
              </a:r>
            </a:p>
          </p:txBody>
        </p:sp>
      </p:grpSp>
      <p:grpSp>
        <p:nvGrpSpPr>
          <p:cNvPr id="55" name="Group 55"/>
          <p:cNvGrpSpPr/>
          <p:nvPr/>
        </p:nvGrpSpPr>
        <p:grpSpPr>
          <a:xfrm>
            <a:off x="609600" y="5372100"/>
            <a:ext cx="10972800" cy="1104900"/>
            <a:chOff x="609600" y="5372100"/>
            <a:chExt cx="10972800" cy="1104900"/>
          </a:xfrm>
        </p:grpSpPr>
        <p:sp>
          <p:nvSpPr>
            <p:cNvPr id="50" name="Rectangle 50"/>
            <p:cNvSpPr/>
            <p:nvPr/>
          </p:nvSpPr>
          <p:spPr>
            <a:xfrm>
              <a:off x="609600" y="5372100"/>
              <a:ext cx="10972800" cy="1104900"/>
            </a:xfrm>
            <a:prstGeom prst="roundRect">
              <a:avLst>
                <a:gd name="adj" fmla="val 12069"/>
              </a:avLst>
            </a:prstGeom>
            <a:solidFill>
              <a:srgbClr val="0F2E2B"/>
            </a:solidFill>
            <a:ln w="14288">
              <a:solidFill>
                <a:srgbClr val="34D3C0"/>
              </a:solidFill>
            </a:ln>
          </p:spPr>
        </p:sp>
        <p:sp>
          <p:nvSpPr>
            <p:cNvPr id="51" name="Rectangle 51"/>
            <p:cNvSpPr/>
            <p:nvPr/>
          </p:nvSpPr>
          <p:spPr>
            <a:xfrm>
              <a:off x="609600" y="5372100"/>
              <a:ext cx="57150" cy="1104900"/>
            </a:xfrm>
            <a:prstGeom prst="roundRect">
              <a:avLst>
                <a:gd name="adj" fmla="val 50000"/>
              </a:avLst>
            </a:prstGeom>
            <a:solidFill>
              <a:srgbClr val="34D3C0"/>
            </a:solidFill>
            <a:ln>
              <a:noFill/>
            </a:ln>
          </p:spPr>
        </p:sp>
        <p:sp>
          <p:nvSpPr>
            <p:cNvPr id="52" name="TextBox 52"/>
            <p:cNvSpPr txBox="1"/>
            <p:nvPr/>
          </p:nvSpPr>
          <p:spPr>
            <a:xfrm>
              <a:off x="870204" y="5585460"/>
              <a:ext cx="2892883"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 surprise on the uncertain states</a:t>
              </a:r>
            </a:p>
          </p:txBody>
        </p:sp>
        <p:sp>
          <p:nvSpPr>
            <p:cNvPr id="53" name="TextBox 53"/>
            <p:cNvSpPr txBox="1"/>
            <p:nvPr/>
          </p:nvSpPr>
          <p:spPr>
            <a:xfrm>
              <a:off x="870585" y="5898356"/>
              <a:ext cx="863326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Even though the constraints say nothing explicit about which action to pick when the expert is unsure, our method is</a:t>
              </a:r>
            </a:p>
          </p:txBody>
        </p:sp>
        <p:sp>
          <p:nvSpPr>
            <p:cNvPr id="54" name="TextBox 54"/>
            <p:cNvSpPr txBox="1"/>
            <p:nvPr/>
          </p:nvSpPr>
          <p:spPr>
            <a:xfrm>
              <a:off x="870585" y="6126956"/>
              <a:ext cx="883927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still more accurate there than the baselines — the constraints implicitly transfer the expert's uncertainty structure.</a:t>
              </a:r>
            </a:p>
          </p:txBody>
        </p:sp>
      </p:grpSp>
      <p:sp>
        <p:nvSpPr>
          <p:cNvPr id="56" name="cue_s07_c1_clipped_posterior_dominates_both_max" title="cue_s07_c1_clipped_posterior_dominates_both_max" descr="cue_s07_c1_clipped_posterior_dominates_both_max The clipped posterior dominates both maximum likelihood and the un clipped Bayesian posterior."/>
          <p:cNvSpPr/>
          <p:nvPr/>
        </p:nvSpPr>
        <p:spPr>
          <a:xfrm>
            <a:off x="609600" y="1428521"/>
            <a:ext cx="10972800" cy="4951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2_guarantees_one_hundred_percent_accur" title="cue_s07_c2_guarantees_one_hundred_percent_accur" descr="cue_s07_c2_guarantees_one_hundred_percent_accur It guarantees one hundred percent accuracy on states where the expert knows the single best action, in every data and optimality setting, whereas maximum likelihood ranges from sixty seven to ninety two percent."/>
          <p:cNvSpPr/>
          <p:nvPr/>
        </p:nvSpPr>
        <p:spPr>
          <a:xfrm>
            <a:off x="609600"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7_c3_also_never_selects_action_outside" title="cue_s07_c3_also_never_selects_action_outside" descr="cue_s07_c3_also_never_selects_action_outside It also never selects an action outside the expert's epsilon ball, so it makes no truly bad mistakes."/>
          <p:cNvSpPr/>
          <p:nvPr/>
        </p:nvSpPr>
        <p:spPr>
          <a:xfrm>
            <a:off x="6248399"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7_c4_strikingly_even_though_constraints_s" title="cue_s07_c4_strikingly_even_though_constraints_s" descr="cue_s07_c4_strikingly_even_though_constraints_s Strikingly, even though the constraints say nothing explicit about which action to pick in uncertain states, our method is still more accurate there than the baselines, which means the constraints implicitly transfer the expert's uncertainty structure."/>
          <p:cNvSpPr/>
          <p:nvPr/>
        </p:nvSpPr>
        <p:spPr>
          <a:xfrm>
            <a:off x="609600" y="53718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71097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More data does not rescue maximum likelihood</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rgbClr val="F2685C"/>
            </a:solidFill>
            <a:ln>
              <a:noFill/>
            </a:ln>
          </p:spPr>
        </p:sp>
        <p:sp>
          <p:nvSpPr>
            <p:cNvPr id="7" name="TextBox 7"/>
            <p:cNvSpPr txBox="1"/>
            <p:nvPr/>
          </p:nvSpPr>
          <p:spPr>
            <a:xfrm>
              <a:off x="870014" y="1704737"/>
              <a:ext cx="7476904"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 central finding: simply collecting more episodes does NOT fix MLE's unsafe behavior.</a:t>
              </a:r>
            </a:p>
          </p:txBody>
        </p:sp>
      </p:grpSp>
      <p:grpSp>
        <p:nvGrpSpPr>
          <p:cNvPr id="29" name="Group 29"/>
          <p:cNvGrpSpPr/>
          <p:nvPr/>
        </p:nvGrpSpPr>
        <p:grpSpPr>
          <a:xfrm>
            <a:off x="609600" y="2266950"/>
            <a:ext cx="6477000" cy="2971800"/>
            <a:chOff x="609600" y="2266950"/>
            <a:chExt cx="6477000" cy="2971800"/>
          </a:xfrm>
        </p:grpSpPr>
        <p:sp>
          <p:nvSpPr>
            <p:cNvPr id="9" name="Rectangle 9"/>
            <p:cNvSpPr/>
            <p:nvPr/>
          </p:nvSpPr>
          <p:spPr>
            <a:xfrm>
              <a:off x="609600" y="2266950"/>
              <a:ext cx="6477000" cy="2971800"/>
            </a:xfrm>
            <a:prstGeom prst="roundRect">
              <a:avLst>
                <a:gd name="adj" fmla="val 4487"/>
              </a:avLst>
            </a:prstGeom>
            <a:solidFill>
              <a:schemeClr val="accent5"/>
            </a:solidFill>
            <a:ln w="14288">
              <a:solidFill>
                <a:srgbClr val="26455F"/>
              </a:solidFill>
            </a:ln>
          </p:spPr>
        </p:sp>
        <p:sp>
          <p:nvSpPr>
            <p:cNvPr id="10" name="Rectangle 10"/>
            <p:cNvSpPr/>
            <p:nvPr/>
          </p:nvSpPr>
          <p:spPr>
            <a:xfrm>
              <a:off x="609600" y="2266950"/>
              <a:ext cx="57150" cy="2971800"/>
            </a:xfrm>
            <a:prstGeom prst="roundRect">
              <a:avLst>
                <a:gd name="adj" fmla="val 50000"/>
              </a:avLst>
            </a:prstGeom>
            <a:solidFill>
              <a:srgbClr val="F2685C"/>
            </a:solidFill>
            <a:ln>
              <a:noFill/>
            </a:ln>
          </p:spPr>
        </p:sp>
        <p:sp>
          <p:nvSpPr>
            <p:cNvPr id="11" name="TextBox 11"/>
            <p:cNvSpPr txBox="1"/>
            <p:nvPr/>
          </p:nvSpPr>
          <p:spPr>
            <a:xfrm>
              <a:off x="870204" y="2499360"/>
              <a:ext cx="380887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Bad mistakes persist even with abundant data</a:t>
              </a:r>
            </a:p>
          </p:txBody>
        </p:sp>
        <p:sp>
          <p:nvSpPr>
            <p:cNvPr id="12" name="TextBox 12"/>
            <p:cNvSpPr txBox="1"/>
            <p:nvPr/>
          </p:nvSpPr>
          <p:spPr>
            <a:xfrm>
              <a:off x="870966" y="2801302"/>
              <a:ext cx="433373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Expert-only data leaves large parts of the state-action space</a:t>
              </a:r>
            </a:p>
          </p:txBody>
        </p:sp>
        <p:sp>
          <p:nvSpPr>
            <p:cNvPr id="13" name="TextBox 13"/>
            <p:cNvSpPr txBox="1"/>
            <p:nvPr/>
          </p:nvSpPr>
          <p:spPr>
            <a:xfrm>
              <a:off x="870966" y="300132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unexplored no matter how many episodes we collect — an</a:t>
              </a:r>
            </a:p>
          </p:txBody>
        </p:sp>
        <p:sp>
          <p:nvSpPr>
            <p:cNvPr id="14" name="TextBox 14"/>
            <p:cNvSpPr txBox="1"/>
            <p:nvPr/>
          </p:nvSpPr>
          <p:spPr>
            <a:xfrm>
              <a:off x="870966" y="3201352"/>
              <a:ext cx="18623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irreducible, aleatoric gap.</a:t>
              </a:r>
            </a:p>
          </p:txBody>
        </p:sp>
        <p:sp>
          <p:nvSpPr>
            <p:cNvPr id="15" name="TextBox 15"/>
            <p:cNvSpPr txBox="1"/>
            <p:nvPr/>
          </p:nvSpPr>
          <p:spPr>
            <a:xfrm>
              <a:off x="871156" y="3491151"/>
              <a:ext cx="386263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Rate of bad mistakes (actions outside the epsilon-ball)</a:t>
              </a:r>
            </a:p>
          </p:txBody>
        </p:sp>
        <p:sp>
          <p:nvSpPr>
            <p:cNvPr id="16" name="Rectangle 16"/>
            <p:cNvSpPr/>
            <p:nvPr/>
          </p:nvSpPr>
          <p:spPr>
            <a:xfrm>
              <a:off x="2857500" y="3790950"/>
              <a:ext cx="3429000" cy="285750"/>
            </a:xfrm>
            <a:prstGeom prst="roundRect">
              <a:avLst>
                <a:gd name="adj" fmla="val 20000"/>
              </a:avLst>
            </a:prstGeom>
            <a:solidFill>
              <a:srgbClr val="0E2334"/>
            </a:solidFill>
            <a:ln w="9525">
              <a:solidFill>
                <a:srgbClr val="26455F"/>
              </a:solidFill>
            </a:ln>
          </p:spPr>
        </p:sp>
        <p:sp>
          <p:nvSpPr>
            <p:cNvPr id="17" name="Rectangle 17"/>
            <p:cNvSpPr/>
            <p:nvPr/>
          </p:nvSpPr>
          <p:spPr>
            <a:xfrm>
              <a:off x="2857500" y="3790950"/>
              <a:ext cx="2514600" cy="285750"/>
            </a:xfrm>
            <a:prstGeom prst="roundRect">
              <a:avLst>
                <a:gd name="adj" fmla="val 20000"/>
              </a:avLst>
            </a:prstGeom>
            <a:solidFill>
              <a:srgbClr val="F2685C"/>
            </a:solidFill>
            <a:ln>
              <a:noFill/>
            </a:ln>
          </p:spPr>
        </p:sp>
        <p:sp>
          <p:nvSpPr>
            <p:cNvPr id="18" name="TextBox 18"/>
            <p:cNvSpPr txBox="1"/>
            <p:nvPr/>
          </p:nvSpPr>
          <p:spPr>
            <a:xfrm>
              <a:off x="1666200" y="3883343"/>
              <a:ext cx="108233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 low data</a:t>
              </a:r>
            </a:p>
          </p:txBody>
        </p:sp>
        <p:sp>
          <p:nvSpPr>
            <p:cNvPr id="19" name="TextBox 19"/>
            <p:cNvSpPr txBox="1"/>
            <p:nvPr/>
          </p:nvSpPr>
          <p:spPr>
            <a:xfrm>
              <a:off x="5462016" y="3883343"/>
              <a:ext cx="3000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high</a:t>
              </a:r>
            </a:p>
          </p:txBody>
        </p:sp>
        <p:sp>
          <p:nvSpPr>
            <p:cNvPr id="20" name="Rectangle 20"/>
            <p:cNvSpPr/>
            <p:nvPr/>
          </p:nvSpPr>
          <p:spPr>
            <a:xfrm>
              <a:off x="2857500" y="4229100"/>
              <a:ext cx="3429000" cy="285750"/>
            </a:xfrm>
            <a:prstGeom prst="roundRect">
              <a:avLst>
                <a:gd name="adj" fmla="val 20000"/>
              </a:avLst>
            </a:prstGeom>
            <a:solidFill>
              <a:srgbClr val="0E2334"/>
            </a:solidFill>
            <a:ln w="9525">
              <a:solidFill>
                <a:srgbClr val="26455F"/>
              </a:solidFill>
            </a:ln>
          </p:spPr>
        </p:sp>
        <p:sp>
          <p:nvSpPr>
            <p:cNvPr id="21" name="Rectangle 21"/>
            <p:cNvSpPr/>
            <p:nvPr/>
          </p:nvSpPr>
          <p:spPr>
            <a:xfrm>
              <a:off x="2857500" y="4229100"/>
              <a:ext cx="2171700" cy="285750"/>
            </a:xfrm>
            <a:prstGeom prst="roundRect">
              <a:avLst>
                <a:gd name="adj" fmla="val 20000"/>
              </a:avLst>
            </a:prstGeom>
            <a:solidFill>
              <a:srgbClr val="F2C14E"/>
            </a:solidFill>
            <a:ln>
              <a:noFill/>
            </a:ln>
          </p:spPr>
        </p:sp>
        <p:sp>
          <p:nvSpPr>
            <p:cNvPr id="22" name="TextBox 22"/>
            <p:cNvSpPr txBox="1"/>
            <p:nvPr/>
          </p:nvSpPr>
          <p:spPr>
            <a:xfrm>
              <a:off x="1615078" y="4321492"/>
              <a:ext cx="113345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MLE · high data</a:t>
              </a:r>
            </a:p>
          </p:txBody>
        </p:sp>
        <p:sp>
          <p:nvSpPr>
            <p:cNvPr id="23" name="TextBox 23"/>
            <p:cNvSpPr txBox="1"/>
            <p:nvPr/>
          </p:nvSpPr>
          <p:spPr>
            <a:xfrm>
              <a:off x="5119116" y="4321492"/>
              <a:ext cx="641447"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still high</a:t>
              </a:r>
            </a:p>
          </p:txBody>
        </p:sp>
        <p:sp>
          <p:nvSpPr>
            <p:cNvPr id="24" name="Rectangle 24"/>
            <p:cNvSpPr/>
            <p:nvPr/>
          </p:nvSpPr>
          <p:spPr>
            <a:xfrm>
              <a:off x="2857500" y="4667250"/>
              <a:ext cx="3429000" cy="285750"/>
            </a:xfrm>
            <a:prstGeom prst="roundRect">
              <a:avLst>
                <a:gd name="adj" fmla="val 20000"/>
              </a:avLst>
            </a:prstGeom>
            <a:solidFill>
              <a:srgbClr val="0E2334"/>
            </a:solidFill>
            <a:ln w="9525">
              <a:solidFill>
                <a:srgbClr val="26455F"/>
              </a:solidFill>
            </a:ln>
          </p:spPr>
        </p:sp>
        <p:sp>
          <p:nvSpPr>
            <p:cNvPr id="25" name="Rectangle 25"/>
            <p:cNvSpPr/>
            <p:nvPr/>
          </p:nvSpPr>
          <p:spPr>
            <a:xfrm>
              <a:off x="2857500" y="4667250"/>
              <a:ext cx="114300" cy="285750"/>
            </a:xfrm>
            <a:prstGeom prst="roundRect">
              <a:avLst>
                <a:gd name="adj" fmla="val 50000"/>
              </a:avLst>
            </a:prstGeom>
            <a:solidFill>
              <a:srgbClr val="48C78E"/>
            </a:solidFill>
            <a:ln>
              <a:noFill/>
            </a:ln>
          </p:spPr>
        </p:sp>
        <p:sp>
          <p:nvSpPr>
            <p:cNvPr id="26" name="TextBox 26"/>
            <p:cNvSpPr txBox="1"/>
            <p:nvPr/>
          </p:nvSpPr>
          <p:spPr>
            <a:xfrm>
              <a:off x="1589162" y="4759642"/>
              <a:ext cx="1159372"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Ours · any data</a:t>
              </a:r>
            </a:p>
          </p:txBody>
        </p:sp>
        <p:sp>
          <p:nvSpPr>
            <p:cNvPr id="27" name="TextBox 27"/>
            <p:cNvSpPr txBox="1"/>
            <p:nvPr/>
          </p:nvSpPr>
          <p:spPr>
            <a:xfrm>
              <a:off x="3061716" y="4759642"/>
              <a:ext cx="337189"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none</a:t>
              </a:r>
            </a:p>
          </p:txBody>
        </p:sp>
        <p:sp>
          <p:nvSpPr>
            <p:cNvPr id="28" name="TextBox 28"/>
            <p:cNvSpPr txBox="1"/>
            <p:nvPr/>
          </p:nvSpPr>
          <p:spPr>
            <a:xfrm>
              <a:off x="871347" y="5000149"/>
              <a:ext cx="4581197"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only the constraints — not more data — eliminate the unsafe actions</a:t>
              </a:r>
            </a:p>
          </p:txBody>
        </p:sp>
      </p:grpSp>
      <p:grpSp>
        <p:nvGrpSpPr>
          <p:cNvPr id="46" name="Group 46"/>
          <p:cNvGrpSpPr/>
          <p:nvPr/>
        </p:nvGrpSpPr>
        <p:grpSpPr>
          <a:xfrm>
            <a:off x="7277100" y="2266950"/>
            <a:ext cx="4305300" cy="2971800"/>
            <a:chOff x="7277100" y="2266950"/>
            <a:chExt cx="4305300" cy="2971800"/>
          </a:xfrm>
        </p:grpSpPr>
        <p:sp>
          <p:nvSpPr>
            <p:cNvPr id="30" name="Rectangle 30"/>
            <p:cNvSpPr/>
            <p:nvPr/>
          </p:nvSpPr>
          <p:spPr>
            <a:xfrm>
              <a:off x="7277100" y="2266950"/>
              <a:ext cx="4305300" cy="2971800"/>
            </a:xfrm>
            <a:prstGeom prst="roundRect">
              <a:avLst>
                <a:gd name="adj" fmla="val 4487"/>
              </a:avLst>
            </a:prstGeom>
            <a:solidFill>
              <a:schemeClr val="accent5"/>
            </a:solidFill>
            <a:ln w="14288">
              <a:solidFill>
                <a:srgbClr val="26455F"/>
              </a:solidFill>
            </a:ln>
          </p:spPr>
        </p:sp>
        <p:sp>
          <p:nvSpPr>
            <p:cNvPr id="31" name="Rectangle 31"/>
            <p:cNvSpPr/>
            <p:nvPr/>
          </p:nvSpPr>
          <p:spPr>
            <a:xfrm>
              <a:off x="7277100" y="2266950"/>
              <a:ext cx="57150" cy="2971800"/>
            </a:xfrm>
            <a:prstGeom prst="roundRect">
              <a:avLst>
                <a:gd name="adj" fmla="val 50000"/>
              </a:avLst>
            </a:prstGeom>
            <a:solidFill>
              <a:srgbClr val="48C78E"/>
            </a:solidFill>
            <a:ln>
              <a:noFill/>
            </a:ln>
          </p:spPr>
        </p:sp>
        <p:sp>
          <p:nvSpPr>
            <p:cNvPr id="32" name="TextBox 32"/>
            <p:cNvSpPr txBox="1"/>
            <p:nvPr/>
          </p:nvSpPr>
          <p:spPr>
            <a:xfrm>
              <a:off x="7537704" y="2499360"/>
              <a:ext cx="2689127"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Robust across expert optimality</a:t>
              </a:r>
            </a:p>
          </p:txBody>
        </p:sp>
        <p:sp>
          <p:nvSpPr>
            <p:cNvPr id="33" name="TextBox 33"/>
            <p:cNvSpPr txBox="1"/>
            <p:nvPr/>
          </p:nvSpPr>
          <p:spPr>
            <a:xfrm>
              <a:off x="7538466" y="2820352"/>
              <a:ext cx="30122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Sweeping epsilon from 0 through 4 confirms</a:t>
              </a:r>
            </a:p>
          </p:txBody>
        </p:sp>
        <p:sp>
          <p:nvSpPr>
            <p:cNvPr id="34" name="TextBox 34"/>
            <p:cNvSpPr txBox="1"/>
            <p:nvPr/>
          </p:nvSpPr>
          <p:spPr>
            <a:xfrm>
              <a:off x="7538466" y="3020378"/>
              <a:ext cx="282355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method holds across every degree of</a:t>
              </a:r>
            </a:p>
          </p:txBody>
        </p:sp>
        <p:sp>
          <p:nvSpPr>
            <p:cNvPr id="35" name="TextBox 35"/>
            <p:cNvSpPr txBox="1"/>
            <p:nvPr/>
          </p:nvSpPr>
          <p:spPr>
            <a:xfrm>
              <a:off x="7538466" y="3220402"/>
              <a:ext cx="12969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expert optimality.</a:t>
              </a:r>
            </a:p>
          </p:txBody>
        </p:sp>
        <p:sp>
          <p:nvSpPr>
            <p:cNvPr id="36" name="Rectangle 36"/>
            <p:cNvSpPr/>
            <p:nvPr/>
          </p:nvSpPr>
          <p:spPr>
            <a:xfrm>
              <a:off x="7543800" y="3505200"/>
              <a:ext cx="3771900" cy="342900"/>
            </a:xfrm>
            <a:prstGeom prst="roundRect">
              <a:avLst>
                <a:gd name="adj" fmla="val 22222"/>
              </a:avLst>
            </a:prstGeom>
            <a:solidFill>
              <a:schemeClr val="accent6"/>
            </a:solidFill>
            <a:ln w="14288">
              <a:solidFill>
                <a:srgbClr val="26455F"/>
              </a:solidFill>
            </a:ln>
          </p:spPr>
        </p:sp>
        <p:sp>
          <p:nvSpPr>
            <p:cNvPr id="37" name="Ellipse 37"/>
            <p:cNvSpPr/>
            <p:nvPr/>
          </p:nvSpPr>
          <p:spPr>
            <a:xfrm>
              <a:off x="7667625" y="3629025"/>
              <a:ext cx="95250" cy="95250"/>
            </a:xfrm>
            <a:prstGeom prst="ellipse">
              <a:avLst/>
            </a:prstGeom>
            <a:solidFill>
              <a:schemeClr val="accent2"/>
            </a:solidFill>
            <a:ln>
              <a:noFill/>
            </a:ln>
          </p:spPr>
        </p:sp>
        <p:sp>
          <p:nvSpPr>
            <p:cNvPr id="38" name="TextBox 38"/>
            <p:cNvSpPr txBox="1"/>
            <p:nvPr/>
          </p:nvSpPr>
          <p:spPr>
            <a:xfrm>
              <a:off x="7862506" y="3614976"/>
              <a:ext cx="221715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Holds for epsilon = 0, 1, 2, 3, 4</a:t>
              </a:r>
            </a:p>
          </p:txBody>
        </p:sp>
        <p:sp>
          <p:nvSpPr>
            <p:cNvPr id="39" name="Rectangle 39"/>
            <p:cNvSpPr/>
            <p:nvPr/>
          </p:nvSpPr>
          <p:spPr>
            <a:xfrm>
              <a:off x="7543800" y="3924300"/>
              <a:ext cx="3771900" cy="342900"/>
            </a:xfrm>
            <a:prstGeom prst="roundRect">
              <a:avLst>
                <a:gd name="adj" fmla="val 22222"/>
              </a:avLst>
            </a:prstGeom>
            <a:solidFill>
              <a:schemeClr val="accent6"/>
            </a:solidFill>
            <a:ln w="14288">
              <a:solidFill>
                <a:srgbClr val="26455F"/>
              </a:solidFill>
            </a:ln>
          </p:spPr>
        </p:sp>
        <p:sp>
          <p:nvSpPr>
            <p:cNvPr id="40" name="Ellipse 40"/>
            <p:cNvSpPr/>
            <p:nvPr/>
          </p:nvSpPr>
          <p:spPr>
            <a:xfrm>
              <a:off x="7667625" y="4048125"/>
              <a:ext cx="95250" cy="95250"/>
            </a:xfrm>
            <a:prstGeom prst="ellipse">
              <a:avLst/>
            </a:prstGeom>
            <a:solidFill>
              <a:srgbClr val="48C78E"/>
            </a:solidFill>
            <a:ln>
              <a:noFill/>
            </a:ln>
          </p:spPr>
        </p:sp>
        <p:sp>
          <p:nvSpPr>
            <p:cNvPr id="41" name="TextBox 41"/>
            <p:cNvSpPr txBox="1"/>
            <p:nvPr/>
          </p:nvSpPr>
          <p:spPr>
            <a:xfrm>
              <a:off x="7862506" y="4034076"/>
              <a:ext cx="281327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Can even beat the demonstrating expert</a:t>
              </a:r>
            </a:p>
          </p:txBody>
        </p:sp>
        <p:sp>
          <p:nvSpPr>
            <p:cNvPr id="42" name="Rectangle 42"/>
            <p:cNvSpPr/>
            <p:nvPr/>
          </p:nvSpPr>
          <p:spPr>
            <a:xfrm>
              <a:off x="7543800" y="4400550"/>
              <a:ext cx="3771900" cy="571500"/>
            </a:xfrm>
            <a:prstGeom prst="roundRect">
              <a:avLst>
                <a:gd name="adj" fmla="val 16667"/>
              </a:avLst>
            </a:prstGeom>
            <a:solidFill>
              <a:schemeClr val="accent6"/>
            </a:solidFill>
            <a:ln w="14288">
              <a:solidFill>
                <a:srgbClr val="48C78E"/>
              </a:solidFill>
            </a:ln>
          </p:spPr>
        </p:sp>
        <p:sp>
          <p:nvSpPr>
            <p:cNvPr id="43" name="TextBox 43"/>
            <p:cNvSpPr txBox="1"/>
            <p:nvPr/>
          </p:nvSpPr>
          <p:spPr>
            <a:xfrm>
              <a:off x="7729156" y="4557951"/>
              <a:ext cx="104533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policy variance</a:t>
              </a:r>
            </a:p>
          </p:txBody>
        </p:sp>
        <p:sp>
          <p:nvSpPr>
            <p:cNvPr id="44" name="TextBox 44"/>
            <p:cNvSpPr txBox="1"/>
            <p:nvPr/>
          </p:nvSpPr>
          <p:spPr>
            <a:xfrm>
              <a:off x="10790297" y="4489132"/>
              <a:ext cx="343285" cy="322707"/>
            </a:xfrm>
            <a:prstGeom prst="rect">
              <a:avLst/>
            </a:prstGeom>
            <a:noFill/>
            <a:ln>
              <a:noFill/>
            </a:ln>
          </p:spPr>
          <p:txBody>
            <a:bodyPr wrap="none" lIns="0" tIns="0" rIns="0" bIns="0" anchor="t" anchorCtr="0">
              <a:spAutoFit/>
            </a:bodyPr>
            <a:lstStyle/>
            <a:p>
              <a:pPr algn="r"/>
              <a:r>
                <a:rPr lang="en-US" sz="1650" b="1" dirty="0">
                  <a:solidFill>
                    <a:srgbClr val="48C78E"/>
                  </a:solidFill>
                  <a:latin typeface="+mn-lt"/>
                  <a:ea typeface="+mn-ea"/>
                  <a:cs typeface="+mn-cs"/>
                </a:rPr>
                <a:t>~ 0</a:t>
              </a:r>
            </a:p>
          </p:txBody>
        </p:sp>
        <p:sp>
          <p:nvSpPr>
            <p:cNvPr id="45" name="TextBox 45"/>
            <p:cNvSpPr txBox="1"/>
            <p:nvPr/>
          </p:nvSpPr>
          <p:spPr>
            <a:xfrm>
              <a:off x="7729538" y="4760595"/>
              <a:ext cx="2541121"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kept close to zero throughout the sweep</a:t>
              </a:r>
            </a:p>
          </p:txBody>
        </p:sp>
      </p:grpSp>
      <p:sp>
        <p:nvSpPr>
          <p:cNvPr id="47" name="cue_s08_c1_central_finding_analysis_more_does" title="cue_s08_c1_central_finding_analysis_more_does" descr="cue_s08_c1_central_finding_analysis_more_does A central finding of the analysis is that more data does not rescue maximum likelihood."/>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even_high_regime_keeps_making" title="cue_s08_c2_even_high_regime_keeps_making" descr="cue_s08_c2_even_high_regime_keeps_making Even in the high data regime it keeps making bad mistakes, choosing actions outside the epsilon ball, because expert only data leaves large parts of the state and action space unexplored no matter how many episodes we collect."/>
          <p:cNvSpPr/>
          <p:nvPr/>
        </p:nvSpPr>
        <p:spPr>
          <a:xfrm>
            <a:off x="609600" y="2267254"/>
            <a:ext cx="6476390"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sweeping_optimality_level_zero_throu" title="cue_s08_c3_sweeping_optimality_level_zero_throu" descr="cue_s08_c3_sweeping_optimality_level_zero_throu Sweeping the optimality level from zero through four confirms that our method holds across degrees of expert optimality, recovering policies that can even beat the expert while keeping variance close to zero."/>
          <p:cNvSpPr/>
          <p:nvPr/>
        </p:nvSpPr>
        <p:spPr>
          <a:xfrm>
            <a:off x="7277404" y="2267254"/>
            <a:ext cx="4304995"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23230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the numbers</a:t>
            </a:r>
          </a:p>
        </p:txBody>
      </p:sp>
      <p:grpSp>
        <p:nvGrpSpPr>
          <p:cNvPr id="8" name="Group 8"/>
          <p:cNvGrpSpPr/>
          <p:nvPr/>
        </p:nvGrpSpPr>
        <p:grpSpPr>
          <a:xfrm>
            <a:off x="609600" y="1504950"/>
            <a:ext cx="10972800" cy="533400"/>
            <a:chOff x="609600" y="1504950"/>
            <a:chExt cx="10972800" cy="533400"/>
          </a:xfrm>
        </p:grpSpPr>
        <p:sp>
          <p:nvSpPr>
            <p:cNvPr id="5" name="Rectangle 5"/>
            <p:cNvSpPr/>
            <p:nvPr/>
          </p:nvSpPr>
          <p:spPr>
            <a:xfrm>
              <a:off x="609600" y="1504950"/>
              <a:ext cx="10972800" cy="533400"/>
            </a:xfrm>
            <a:prstGeom prst="roundRect">
              <a:avLst>
                <a:gd name="adj" fmla="val 25000"/>
              </a:avLst>
            </a:prstGeom>
            <a:solidFill>
              <a:schemeClr val="accent5"/>
            </a:solidFill>
            <a:ln w="14288">
              <a:solidFill>
                <a:srgbClr val="26455F"/>
              </a:solidFill>
            </a:ln>
          </p:spPr>
        </p:sp>
        <p:sp>
          <p:nvSpPr>
            <p:cNvPr id="6" name="Rectangle 6"/>
            <p:cNvSpPr/>
            <p:nvPr/>
          </p:nvSpPr>
          <p:spPr>
            <a:xfrm>
              <a:off x="609600" y="1504950"/>
              <a:ext cx="57150" cy="533400"/>
            </a:xfrm>
            <a:prstGeom prst="roundRect">
              <a:avLst>
                <a:gd name="adj" fmla="val 50000"/>
              </a:avLst>
            </a:prstGeom>
            <a:solidFill>
              <a:schemeClr val="accent2"/>
            </a:solidFill>
            <a:ln>
              <a:noFill/>
            </a:ln>
          </p:spPr>
        </p:sp>
        <p:sp>
          <p:nvSpPr>
            <p:cNvPr id="7" name="TextBox 7"/>
            <p:cNvSpPr txBox="1"/>
            <p:nvPr/>
          </p:nvSpPr>
          <p:spPr>
            <a:xfrm>
              <a:off x="870014" y="1695212"/>
              <a:ext cx="6808313"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numbers tell a clear story — lower Q*metric is better, and zero is optimal.</a:t>
              </a:r>
            </a:p>
          </p:txBody>
        </p:sp>
      </p:grpSp>
      <p:grpSp>
        <p:nvGrpSpPr>
          <p:cNvPr id="16" name="Group 16"/>
          <p:cNvGrpSpPr/>
          <p:nvPr/>
        </p:nvGrpSpPr>
        <p:grpSpPr>
          <a:xfrm>
            <a:off x="609600" y="2266950"/>
            <a:ext cx="3524250" cy="2857500"/>
            <a:chOff x="609600" y="2266950"/>
            <a:chExt cx="3524250" cy="2857500"/>
          </a:xfrm>
        </p:grpSpPr>
        <p:sp>
          <p:nvSpPr>
            <p:cNvPr id="9" name="Rectangle 9"/>
            <p:cNvSpPr/>
            <p:nvPr/>
          </p:nvSpPr>
          <p:spPr>
            <a:xfrm>
              <a:off x="609600" y="2266950"/>
              <a:ext cx="3524250" cy="2857500"/>
            </a:xfrm>
            <a:prstGeom prst="roundRect">
              <a:avLst>
                <a:gd name="adj" fmla="val 4667"/>
              </a:avLst>
            </a:prstGeom>
            <a:solidFill>
              <a:schemeClr val="accent5"/>
            </a:solidFill>
            <a:ln w="14288">
              <a:solidFill>
                <a:srgbClr val="26455F"/>
              </a:solidFill>
            </a:ln>
          </p:spPr>
        </p:sp>
        <p:sp>
          <p:nvSpPr>
            <p:cNvPr id="10" name="Rectangle 10"/>
            <p:cNvSpPr/>
            <p:nvPr/>
          </p:nvSpPr>
          <p:spPr>
            <a:xfrm>
              <a:off x="609600" y="2266950"/>
              <a:ext cx="57150" cy="2857500"/>
            </a:xfrm>
            <a:prstGeom prst="roundRect">
              <a:avLst>
                <a:gd name="adj" fmla="val 50000"/>
              </a:avLst>
            </a:prstGeom>
            <a:solidFill>
              <a:srgbClr val="48C78E"/>
            </a:solidFill>
            <a:ln>
              <a:noFill/>
            </a:ln>
          </p:spPr>
        </p:sp>
        <p:sp>
          <p:nvSpPr>
            <p:cNvPr id="11" name="TextBox 11"/>
            <p:cNvSpPr txBox="1"/>
            <p:nvPr/>
          </p:nvSpPr>
          <p:spPr>
            <a:xfrm>
              <a:off x="879348" y="2841308"/>
              <a:ext cx="1033829" cy="616077"/>
            </a:xfrm>
            <a:prstGeom prst="rect">
              <a:avLst/>
            </a:prstGeom>
            <a:noFill/>
            <a:ln>
              <a:noFill/>
            </a:ln>
          </p:spPr>
          <p:txBody>
            <a:bodyPr wrap="none" lIns="0" tIns="0" rIns="0" bIns="0" anchor="t" anchorCtr="0">
              <a:spAutoFit/>
            </a:bodyPr>
            <a:lstStyle/>
            <a:p>
              <a:pPr algn="l"/>
              <a:r>
                <a:rPr lang="en-US" sz="3150" b="1" dirty="0">
                  <a:solidFill>
                    <a:srgbClr val="48C78E"/>
                  </a:solidFill>
                  <a:latin typeface="+mn-lt"/>
                  <a:ea typeface="+mn-ea"/>
                  <a:cs typeface="+mn-cs"/>
                </a:rPr>
                <a:t>0 ± 0</a:t>
              </a:r>
            </a:p>
          </p:txBody>
        </p:sp>
        <p:sp>
          <p:nvSpPr>
            <p:cNvPr id="12" name="TextBox 12"/>
            <p:cNvSpPr txBox="1"/>
            <p:nvPr/>
          </p:nvSpPr>
          <p:spPr>
            <a:xfrm>
              <a:off x="889064" y="3409712"/>
              <a:ext cx="200019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Q*metric at epsilon = 0</a:t>
              </a:r>
            </a:p>
          </p:txBody>
        </p:sp>
        <p:sp>
          <p:nvSpPr>
            <p:cNvPr id="13" name="TextBox 13"/>
            <p:cNvSpPr txBox="1"/>
            <p:nvPr/>
          </p:nvSpPr>
          <p:spPr>
            <a:xfrm>
              <a:off x="889826" y="3787854"/>
              <a:ext cx="273781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Exactly optimal with zero variance, in</a:t>
              </a:r>
            </a:p>
          </p:txBody>
        </p:sp>
        <p:sp>
          <p:nvSpPr>
            <p:cNvPr id="14" name="TextBox 14"/>
            <p:cNvSpPr txBox="1"/>
            <p:nvPr/>
          </p:nvSpPr>
          <p:spPr>
            <a:xfrm>
              <a:off x="889826" y="4006929"/>
              <a:ext cx="29944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both low and high data — vs MLE 59.75 and</a:t>
              </a:r>
            </a:p>
          </p:txBody>
        </p:sp>
        <p:sp>
          <p:nvSpPr>
            <p:cNvPr id="15" name="TextBox 15"/>
            <p:cNvSpPr txBox="1"/>
            <p:nvPr/>
          </p:nvSpPr>
          <p:spPr>
            <a:xfrm>
              <a:off x="889826" y="4226004"/>
              <a:ext cx="172785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plain posterior 142.</a:t>
              </a:r>
            </a:p>
          </p:txBody>
        </p:sp>
      </p:grpSp>
      <p:grpSp>
        <p:nvGrpSpPr>
          <p:cNvPr id="24" name="Group 24"/>
          <p:cNvGrpSpPr/>
          <p:nvPr/>
        </p:nvGrpSpPr>
        <p:grpSpPr>
          <a:xfrm>
            <a:off x="4333875" y="2266950"/>
            <a:ext cx="3524250" cy="2857500"/>
            <a:chOff x="4333875" y="2266950"/>
            <a:chExt cx="3524250" cy="2857500"/>
          </a:xfrm>
        </p:grpSpPr>
        <p:sp>
          <p:nvSpPr>
            <p:cNvPr id="17" name="Rectangle 17"/>
            <p:cNvSpPr/>
            <p:nvPr/>
          </p:nvSpPr>
          <p:spPr>
            <a:xfrm>
              <a:off x="4333875" y="2266950"/>
              <a:ext cx="3524250" cy="2857500"/>
            </a:xfrm>
            <a:prstGeom prst="roundRect">
              <a:avLst>
                <a:gd name="adj" fmla="val 4667"/>
              </a:avLst>
            </a:prstGeom>
            <a:solidFill>
              <a:schemeClr val="accent5"/>
            </a:solidFill>
            <a:ln w="14288">
              <a:solidFill>
                <a:srgbClr val="26455F"/>
              </a:solidFill>
            </a:ln>
          </p:spPr>
        </p:sp>
        <p:sp>
          <p:nvSpPr>
            <p:cNvPr id="18" name="Rectangle 18"/>
            <p:cNvSpPr/>
            <p:nvPr/>
          </p:nvSpPr>
          <p:spPr>
            <a:xfrm>
              <a:off x="4333875" y="2266950"/>
              <a:ext cx="57150" cy="2857500"/>
            </a:xfrm>
            <a:prstGeom prst="roundRect">
              <a:avLst>
                <a:gd name="adj" fmla="val 50000"/>
              </a:avLst>
            </a:prstGeom>
            <a:solidFill>
              <a:schemeClr val="accent2"/>
            </a:solidFill>
            <a:ln>
              <a:noFill/>
            </a:ln>
          </p:spPr>
        </p:sp>
        <p:sp>
          <p:nvSpPr>
            <p:cNvPr id="19" name="TextBox 19"/>
            <p:cNvSpPr txBox="1"/>
            <p:nvPr/>
          </p:nvSpPr>
          <p:spPr>
            <a:xfrm>
              <a:off x="4603623" y="2841308"/>
              <a:ext cx="1011566" cy="616077"/>
            </a:xfrm>
            <a:prstGeom prst="rect">
              <a:avLst/>
            </a:prstGeom>
            <a:noFill/>
            <a:ln>
              <a:noFill/>
            </a:ln>
          </p:spPr>
          <p:txBody>
            <a:bodyPr wrap="none" lIns="0" tIns="0" rIns="0" bIns="0" anchor="t" anchorCtr="0">
              <a:spAutoFit/>
            </a:bodyPr>
            <a:lstStyle/>
            <a:p>
              <a:pPr algn="l"/>
              <a:r>
                <a:rPr lang="en-US" sz="3150" b="1" dirty="0">
                  <a:solidFill>
                    <a:schemeClr val="accent2"/>
                  </a:solidFill>
                  <a:latin typeface="+mn-lt"/>
                  <a:ea typeface="+mn-ea"/>
                  <a:cs typeface="+mn-cs"/>
                </a:rPr>
                <a:t>8.79</a:t>
              </a:r>
            </a:p>
          </p:txBody>
        </p:sp>
        <p:sp>
          <p:nvSpPr>
            <p:cNvPr id="20" name="TextBox 20"/>
            <p:cNvSpPr txBox="1"/>
            <p:nvPr/>
          </p:nvSpPr>
          <p:spPr>
            <a:xfrm>
              <a:off x="4613338" y="3409712"/>
              <a:ext cx="2107112"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hardest setting, eps = 4</a:t>
              </a:r>
            </a:p>
          </p:txBody>
        </p:sp>
        <p:sp>
          <p:nvSpPr>
            <p:cNvPr id="21" name="TextBox 21"/>
            <p:cNvSpPr txBox="1"/>
            <p:nvPr/>
          </p:nvSpPr>
          <p:spPr>
            <a:xfrm>
              <a:off x="4614100" y="3787854"/>
              <a:ext cx="314613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Beats MLE's 20.11 and roughly matches the</a:t>
              </a:r>
            </a:p>
          </p:txBody>
        </p:sp>
        <p:sp>
          <p:nvSpPr>
            <p:cNvPr id="22" name="TextBox 22"/>
            <p:cNvSpPr txBox="1"/>
            <p:nvPr/>
          </p:nvSpPr>
          <p:spPr>
            <a:xfrm>
              <a:off x="4614100" y="4006929"/>
              <a:ext cx="309983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near-optimal expert's 9.4 in the high-data</a:t>
              </a:r>
            </a:p>
          </p:txBody>
        </p:sp>
        <p:sp>
          <p:nvSpPr>
            <p:cNvPr id="23" name="TextBox 23"/>
            <p:cNvSpPr txBox="1"/>
            <p:nvPr/>
          </p:nvSpPr>
          <p:spPr>
            <a:xfrm>
              <a:off x="4614100" y="4226004"/>
              <a:ext cx="56864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regime.</a:t>
              </a:r>
            </a:p>
          </p:txBody>
        </p:sp>
      </p:grpSp>
      <p:grpSp>
        <p:nvGrpSpPr>
          <p:cNvPr id="32" name="Group 32"/>
          <p:cNvGrpSpPr/>
          <p:nvPr/>
        </p:nvGrpSpPr>
        <p:grpSpPr>
          <a:xfrm>
            <a:off x="8058150" y="2266950"/>
            <a:ext cx="3524250" cy="2857500"/>
            <a:chOff x="8058150" y="2266950"/>
            <a:chExt cx="3524250" cy="2857500"/>
          </a:xfrm>
        </p:grpSpPr>
        <p:sp>
          <p:nvSpPr>
            <p:cNvPr id="25" name="Rectangle 25"/>
            <p:cNvSpPr/>
            <p:nvPr/>
          </p:nvSpPr>
          <p:spPr>
            <a:xfrm>
              <a:off x="8058150" y="2266950"/>
              <a:ext cx="3524250" cy="2857500"/>
            </a:xfrm>
            <a:prstGeom prst="roundRect">
              <a:avLst>
                <a:gd name="adj" fmla="val 4667"/>
              </a:avLst>
            </a:prstGeom>
            <a:solidFill>
              <a:schemeClr val="accent5"/>
            </a:solidFill>
            <a:ln w="14288">
              <a:solidFill>
                <a:srgbClr val="26455F"/>
              </a:solidFill>
            </a:ln>
          </p:spPr>
        </p:sp>
        <p:sp>
          <p:nvSpPr>
            <p:cNvPr id="26" name="Rectangle 26"/>
            <p:cNvSpPr/>
            <p:nvPr/>
          </p:nvSpPr>
          <p:spPr>
            <a:xfrm>
              <a:off x="8058150" y="2266950"/>
              <a:ext cx="57150" cy="2857500"/>
            </a:xfrm>
            <a:prstGeom prst="roundRect">
              <a:avLst>
                <a:gd name="adj" fmla="val 50000"/>
              </a:avLst>
            </a:prstGeom>
            <a:solidFill>
              <a:srgbClr val="F2C14E"/>
            </a:solidFill>
            <a:ln>
              <a:noFill/>
            </a:ln>
          </p:spPr>
        </p:sp>
        <p:sp>
          <p:nvSpPr>
            <p:cNvPr id="27" name="TextBox 27"/>
            <p:cNvSpPr txBox="1"/>
            <p:nvPr/>
          </p:nvSpPr>
          <p:spPr>
            <a:xfrm>
              <a:off x="8327898" y="2841308"/>
              <a:ext cx="1523610" cy="616077"/>
            </a:xfrm>
            <a:prstGeom prst="rect">
              <a:avLst/>
            </a:prstGeom>
            <a:noFill/>
            <a:ln>
              <a:noFill/>
            </a:ln>
          </p:spPr>
          <p:txBody>
            <a:bodyPr wrap="none" lIns="0" tIns="0" rIns="0" bIns="0" anchor="t" anchorCtr="0">
              <a:spAutoFit/>
            </a:bodyPr>
            <a:lstStyle/>
            <a:p>
              <a:pPr algn="l"/>
              <a:r>
                <a:rPr lang="en-US" sz="3150" b="1" dirty="0">
                  <a:solidFill>
                    <a:srgbClr val="F2C14E"/>
                  </a:solidFill>
                  <a:latin typeface="+mn-lt"/>
                  <a:ea typeface="+mn-ea"/>
                  <a:cs typeface="+mn-cs"/>
                </a:rPr>
                <a:t>52 -&gt; 0</a:t>
              </a:r>
            </a:p>
          </p:txBody>
        </p:sp>
        <p:sp>
          <p:nvSpPr>
            <p:cNvPr id="28" name="TextBox 28"/>
            <p:cNvSpPr txBox="1"/>
            <p:nvPr/>
          </p:nvSpPr>
          <p:spPr>
            <a:xfrm>
              <a:off x="8337614" y="3409712"/>
              <a:ext cx="177408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policy std. deviation</a:t>
              </a:r>
            </a:p>
          </p:txBody>
        </p:sp>
        <p:sp>
          <p:nvSpPr>
            <p:cNvPr id="29" name="TextBox 29"/>
            <p:cNvSpPr txBox="1"/>
            <p:nvPr/>
          </p:nvSpPr>
          <p:spPr>
            <a:xfrm>
              <a:off x="8338376" y="3787854"/>
              <a:ext cx="31413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Deterministic-state accuracy is a constant</a:t>
              </a:r>
            </a:p>
          </p:txBody>
        </p:sp>
        <p:sp>
          <p:nvSpPr>
            <p:cNvPr id="30" name="TextBox 30"/>
            <p:cNvSpPr txBox="1"/>
            <p:nvPr/>
          </p:nvSpPr>
          <p:spPr>
            <a:xfrm>
              <a:off x="8338376" y="4006929"/>
              <a:ext cx="309250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100%; policy variance collapses from about</a:t>
              </a:r>
            </a:p>
          </p:txBody>
        </p:sp>
        <p:sp>
          <p:nvSpPr>
            <p:cNvPr id="31" name="TextBox 31"/>
            <p:cNvSpPr txBox="1"/>
            <p:nvPr/>
          </p:nvSpPr>
          <p:spPr>
            <a:xfrm>
              <a:off x="8338376" y="4226004"/>
              <a:ext cx="204334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52 down to essentially zero.</a:t>
              </a:r>
            </a:p>
          </p:txBody>
        </p:sp>
      </p:grpSp>
      <p:sp>
        <p:nvSpPr>
          <p:cNvPr id="33" name="Line 33"/>
          <p:cNvSpPr/>
          <p:nvPr/>
        </p:nvSpPr>
        <p:spPr>
          <a:xfrm>
            <a:off x="609600" y="54483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4" name="TextBox 34"/>
          <p:cNvSpPr txBox="1"/>
          <p:nvPr/>
        </p:nvSpPr>
        <p:spPr>
          <a:xfrm>
            <a:off x="604266" y="5658802"/>
            <a:ext cx="3140773"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Averaged over 1,000 datasets per setting.</a:t>
            </a:r>
          </a:p>
        </p:txBody>
      </p:sp>
      <p:sp>
        <p:nvSpPr>
          <p:cNvPr id="35" name="cue_s09_c1_numbers_tell_clear_story" title="cue_s09_c1_numbers_tell_clear_story" descr="cue_s09_c1_numbers_tell_clear_story The numbers tell a clear story."/>
          <p:cNvSpPr/>
          <p:nvPr/>
        </p:nvSpPr>
        <p:spPr>
          <a:xfrm>
            <a:off x="609600" y="1504645"/>
            <a:ext cx="10972800" cy="5335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2_fully_optimal_expert_our_method" title="cue_s09_c2_fully_optimal_expert_our_method" descr="cue_s09_c2_fully_optimal_expert_our_method With a fully optimal expert, our method reaches a Q star metric of exactly zero with zero variance, in both low and high data, compared to fifty nine point seven five for maximum likelihood and one hundred forty two for the plain posterior."/>
          <p:cNvSpPr/>
          <p:nvPr/>
        </p:nvSpPr>
        <p:spPr>
          <a:xfrm>
            <a:off x="609600"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3_hardest_setting_epsilon_equals_four" title="cue_s09_c3_hardest_setting_epsilon_equals_four" descr="cue_s09_c3_hardest_setting_epsilon_equals_four At the hardest setting, epsilon equals four with high data, we score eight point seven nine, beating maximum likelihood's twenty point one one and roughly matching the near optimal expert."/>
          <p:cNvSpPr/>
          <p:nvPr/>
        </p:nvSpPr>
        <p:spPr>
          <a:xfrm>
            <a:off x="4334256"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9_c4_accuracy_deterministic_states_consta" title="cue_s09_c4_accuracy_deterministic_states_consta" descr="cue_s09_c4_accuracy_deterministic_states_consta Accuracy on deterministic states is a constant one hundred percent, and the policy variance collapses from a standard deviation near fifty two down to essentially zero."/>
          <p:cNvSpPr/>
          <p:nvPr/>
        </p:nvSpPr>
        <p:spPr>
          <a:xfrm>
            <a:off x="8057692" y="2267254"/>
            <a:ext cx="3524707"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83662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Clip the posterior — get safe, expert-beating policies</a:t>
            </a:r>
          </a:p>
        </p:txBody>
      </p:sp>
      <p:grpSp>
        <p:nvGrpSpPr>
          <p:cNvPr id="13" name="Group 13"/>
          <p:cNvGrpSpPr/>
          <p:nvPr/>
        </p:nvGrpSpPr>
        <p:grpSpPr>
          <a:xfrm>
            <a:off x="609600" y="1676400"/>
            <a:ext cx="10972800" cy="1790700"/>
            <a:chOff x="609600" y="1676400"/>
            <a:chExt cx="10972800" cy="1790700"/>
          </a:xfrm>
        </p:grpSpPr>
        <p:sp>
          <p:nvSpPr>
            <p:cNvPr id="5" name="Rectangle 5"/>
            <p:cNvSpPr/>
            <p:nvPr/>
          </p:nvSpPr>
          <p:spPr>
            <a:xfrm>
              <a:off x="609600" y="1676400"/>
              <a:ext cx="10972800" cy="1790700"/>
            </a:xfrm>
            <a:prstGeom prst="roundRect">
              <a:avLst>
                <a:gd name="adj" fmla="val 7447"/>
              </a:avLst>
            </a:prstGeom>
            <a:solidFill>
              <a:schemeClr val="accent5"/>
            </a:solidFill>
            <a:ln w="14288">
              <a:solidFill>
                <a:srgbClr val="26455F"/>
              </a:solidFill>
            </a:ln>
          </p:spPr>
        </p:sp>
        <p:sp>
          <p:nvSpPr>
            <p:cNvPr id="6" name="Rectangle 6"/>
            <p:cNvSpPr/>
            <p:nvPr/>
          </p:nvSpPr>
          <p:spPr>
            <a:xfrm>
              <a:off x="609600" y="1676400"/>
              <a:ext cx="57150" cy="1790700"/>
            </a:xfrm>
            <a:prstGeom prst="roundRect">
              <a:avLst>
                <a:gd name="adj" fmla="val 50000"/>
              </a:avLst>
            </a:prstGeom>
            <a:solidFill>
              <a:srgbClr val="48C78E"/>
            </a:solidFill>
            <a:ln>
              <a:noFill/>
            </a:ln>
          </p:spPr>
        </p:sp>
        <p:sp>
          <p:nvSpPr>
            <p:cNvPr id="7" name="Ellipse 7"/>
            <p:cNvSpPr/>
            <p:nvPr/>
          </p:nvSpPr>
          <p:spPr>
            <a:xfrm>
              <a:off x="971550" y="2076450"/>
              <a:ext cx="190500" cy="190500"/>
            </a:xfrm>
            <a:prstGeom prst="ellipse">
              <a:avLst/>
            </a:prstGeom>
            <a:solidFill>
              <a:srgbClr val="48C78E"/>
            </a:solidFill>
            <a:ln>
              <a:noFill/>
            </a:ln>
          </p:spPr>
        </p:sp>
        <p:sp>
          <p:nvSpPr>
            <p:cNvPr id="8" name="TextBox 8"/>
            <p:cNvSpPr txBox="1"/>
            <p:nvPr/>
          </p:nvSpPr>
          <p:spPr>
            <a:xfrm>
              <a:off x="1421130" y="2066925"/>
              <a:ext cx="45918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Provably safe, gradient-free, low-variance</a:t>
              </a:r>
            </a:p>
          </p:txBody>
        </p:sp>
        <p:sp>
          <p:nvSpPr>
            <p:cNvPr id="9" name="TextBox 9"/>
            <p:cNvSpPr txBox="1"/>
            <p:nvPr/>
          </p:nvSpPr>
          <p:spPr>
            <a:xfrm>
              <a:off x="1422844" y="2427208"/>
              <a:ext cx="716620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By clipping a Bayesian posterior over the transition dynamics with constraints derived from a</a:t>
              </a:r>
            </a:p>
          </p:txBody>
        </p:sp>
        <p:sp>
          <p:nvSpPr>
            <p:cNvPr id="10" name="TextBox 10"/>
            <p:cNvSpPr txBox="1"/>
            <p:nvPr/>
          </p:nvSpPr>
          <p:spPr>
            <a:xfrm>
              <a:off x="1422844" y="2665333"/>
              <a:ext cx="69530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near-optimal expert, you obtain gradient-free offline policies that are provably safe, can</a:t>
              </a:r>
            </a:p>
          </p:txBody>
        </p:sp>
        <p:sp>
          <p:nvSpPr>
            <p:cNvPr id="11" name="TextBox 11"/>
            <p:cNvSpPr txBox="1"/>
            <p:nvPr/>
          </p:nvSpPr>
          <p:spPr>
            <a:xfrm>
              <a:off x="1422844" y="2903458"/>
              <a:ext cx="773388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outperform the expert who generated the data, and carry dramatically lower variance than maximum</a:t>
              </a:r>
            </a:p>
          </p:txBody>
        </p:sp>
        <p:sp>
          <p:nvSpPr>
            <p:cNvPr id="12" name="TextBox 12"/>
            <p:cNvSpPr txBox="1"/>
            <p:nvPr/>
          </p:nvSpPr>
          <p:spPr>
            <a:xfrm>
              <a:off x="1422844" y="3141583"/>
              <a:ext cx="80041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likelihood.</a:t>
              </a:r>
            </a:p>
          </p:txBody>
        </p:sp>
      </p:grpSp>
      <p:grpSp>
        <p:nvGrpSpPr>
          <p:cNvPr id="21" name="Group 21"/>
          <p:cNvGrpSpPr/>
          <p:nvPr/>
        </p:nvGrpSpPr>
        <p:grpSpPr>
          <a:xfrm>
            <a:off x="609600" y="3676650"/>
            <a:ext cx="10972800" cy="1552575"/>
            <a:chOff x="609600" y="3676650"/>
            <a:chExt cx="10972800" cy="1552575"/>
          </a:xfrm>
        </p:grpSpPr>
        <p:sp>
          <p:nvSpPr>
            <p:cNvPr id="14" name="Rectangle 14"/>
            <p:cNvSpPr/>
            <p:nvPr/>
          </p:nvSpPr>
          <p:spPr>
            <a:xfrm>
              <a:off x="609600" y="3676650"/>
              <a:ext cx="10972800" cy="1552575"/>
            </a:xfrm>
            <a:prstGeom prst="roundRect">
              <a:avLst>
                <a:gd name="adj" fmla="val 8589"/>
              </a:avLst>
            </a:prstGeom>
            <a:solidFill>
              <a:schemeClr val="accent5"/>
            </a:solidFill>
            <a:ln w="14288">
              <a:solidFill>
                <a:srgbClr val="26455F"/>
              </a:solidFill>
            </a:ln>
          </p:spPr>
        </p:sp>
        <p:sp>
          <p:nvSpPr>
            <p:cNvPr id="15" name="Rectangle 15"/>
            <p:cNvSpPr/>
            <p:nvPr/>
          </p:nvSpPr>
          <p:spPr>
            <a:xfrm>
              <a:off x="609600" y="3676650"/>
              <a:ext cx="57150" cy="1552575"/>
            </a:xfrm>
            <a:prstGeom prst="roundRect">
              <a:avLst>
                <a:gd name="adj" fmla="val 50000"/>
              </a:avLst>
            </a:prstGeom>
            <a:solidFill>
              <a:srgbClr val="34D3C0"/>
            </a:solidFill>
            <a:ln>
              <a:noFill/>
            </a:ln>
          </p:spPr>
        </p:sp>
        <p:sp>
          <p:nvSpPr>
            <p:cNvPr id="16" name="Ellipse 16"/>
            <p:cNvSpPr/>
            <p:nvPr/>
          </p:nvSpPr>
          <p:spPr>
            <a:xfrm>
              <a:off x="971550" y="4076700"/>
              <a:ext cx="190500" cy="190500"/>
            </a:xfrm>
            <a:prstGeom prst="ellipse">
              <a:avLst/>
            </a:prstGeom>
            <a:solidFill>
              <a:srgbClr val="34D3C0"/>
            </a:solidFill>
            <a:ln>
              <a:noFill/>
            </a:ln>
          </p:spPr>
        </p:sp>
        <p:sp>
          <p:nvSpPr>
            <p:cNvPr id="17" name="TextBox 17"/>
            <p:cNvSpPr txBox="1"/>
            <p:nvPr/>
          </p:nvSpPr>
          <p:spPr>
            <a:xfrm>
              <a:off x="1421130" y="4067175"/>
              <a:ext cx="400817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Uncertainty becomes an action ranking</a:t>
              </a:r>
            </a:p>
          </p:txBody>
        </p:sp>
        <p:sp>
          <p:nvSpPr>
            <p:cNvPr id="18" name="TextBox 18"/>
            <p:cNvSpPr txBox="1"/>
            <p:nvPr/>
          </p:nvSpPr>
          <p:spPr>
            <a:xfrm>
              <a:off x="1422844" y="4427458"/>
              <a:ext cx="658339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same recipe of constraints plus uncertainty also yields a ranking of actions in the</a:t>
              </a:r>
            </a:p>
          </p:txBody>
        </p:sp>
        <p:sp>
          <p:nvSpPr>
            <p:cNvPr id="19" name="TextBox 19"/>
            <p:cNvSpPr txBox="1"/>
            <p:nvPr/>
          </p:nvSpPr>
          <p:spPr>
            <a:xfrm>
              <a:off x="1422844" y="4665583"/>
              <a:ext cx="736690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uncertain states, making the learned policies more informative for high-stakes planning such as</a:t>
              </a:r>
            </a:p>
          </p:txBody>
        </p:sp>
        <p:sp>
          <p:nvSpPr>
            <p:cNvPr id="20" name="TextBox 20"/>
            <p:cNvSpPr txBox="1"/>
            <p:nvPr/>
          </p:nvSpPr>
          <p:spPr>
            <a:xfrm>
              <a:off x="1422844" y="4903708"/>
              <a:ext cx="183887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clinical decision making.</a:t>
              </a:r>
            </a:p>
          </p:txBody>
        </p:sp>
      </p:grpSp>
      <p:sp>
        <p:nvSpPr>
          <p:cNvPr id="22" name="Line 22"/>
          <p:cNvSpPr/>
          <p:nvPr/>
        </p:nvSpPr>
        <p:spPr>
          <a:xfrm>
            <a:off x="609600" y="5514975"/>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3" name="TextBox 23"/>
          <p:cNvSpPr txBox="1"/>
          <p:nvPr/>
        </p:nvSpPr>
        <p:spPr>
          <a:xfrm>
            <a:off x="603504" y="5728335"/>
            <a:ext cx="4801751"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Bayesian Inverse Transition Learning for Offline Settings</a:t>
            </a:r>
          </a:p>
        </p:txBody>
      </p:sp>
      <p:sp>
        <p:nvSpPr>
          <p:cNvPr id="24" name="TextBox 24"/>
          <p:cNvSpPr txBox="1"/>
          <p:nvPr/>
        </p:nvSpPr>
        <p:spPr>
          <a:xfrm>
            <a:off x="604456" y="5996226"/>
            <a:ext cx="4269283"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2023 · arXiv:2308.05075 · Benac, Parbhoo, Doshi-Velez</a:t>
            </a:r>
          </a:p>
        </p:txBody>
      </p:sp>
      <p:sp>
        <p:nvSpPr>
          <p:cNvPr id="25" name="cue_s10_c1_clipping_bayesian_posterior_over_tra" title="cue_s10_c1_clipping_bayesian_posterior_over_tra" descr="cue_s10_c1_clipping_bayesian_posterior_over_tra By clipping a Bayesian posterior over the transition dynamics with constraints derived from a near optimal expert, you obtain gradient free offline policies that are provably safe, can outperform the expert who generated the data, and carry dramatically lower"/>
          <p:cNvSpPr/>
          <p:nvPr/>
        </p:nvSpPr>
        <p:spPr>
          <a:xfrm>
            <a:off x="609600" y="1676095"/>
            <a:ext cx="10972800" cy="17906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ue_s10_c2_same_recipe_constraints_plus_uncerta" title="cue_s10_c2_same_recipe_constraints_plus_uncerta" descr="cue_s10_c2_same_recipe_constraints_plus_uncerta The same recipe of constraints plus uncertainty also yields a ranking of actions in the uncertain states, making the learned policies more informative for high stakes planning such as clinical decision making."/>
          <p:cNvSpPr/>
          <p:nvPr/>
        </p:nvSpPr>
        <p:spPr>
          <a:xfrm>
            <a:off x="609600" y="3676573"/>
            <a:ext cx="10972800" cy="155265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2026-07-16T14:13:10Z</dcterms:created>
  <dcterms:modified xsi:type="dcterms:W3CDTF">2026-07-16T14:13:10Z</dcterms:modified>
  <cp:category/>
  <cp:contentStatus/>
</cp:coreProperties>
</file>
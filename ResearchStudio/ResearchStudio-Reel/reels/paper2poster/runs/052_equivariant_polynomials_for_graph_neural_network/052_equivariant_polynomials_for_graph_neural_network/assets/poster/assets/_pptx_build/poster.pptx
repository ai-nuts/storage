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668514"/>
          </a:xfrm>
          <a:prstGeom prst="roundRect">
            <a:avLst>
              <a:gd name="adj" fmla="val 3877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841855"/>
            <a:ext cx="16349682" cy="6550124"/>
          </a:xfrm>
          <a:prstGeom prst="roundRect">
            <a:avLst>
              <a:gd name="adj" fmla="val 1266"/>
            </a:avLst>
          </a:prstGeom>
          <a:solidFill>
            <a:srgbClr val="F1F2F4"/>
          </a:solidFill>
          <a:ln w="8890">
            <a:solidFill>
              <a:srgbClr val="D2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4841855"/>
            <a:ext cx="16349682" cy="18935977"/>
          </a:xfrm>
          <a:prstGeom prst="roundRect">
            <a:avLst>
              <a:gd name="adj" fmla="val 507"/>
            </a:avLst>
          </a:prstGeom>
          <a:solidFill>
            <a:srgbClr val="F1F2F4"/>
          </a:solidFill>
          <a:ln w="8890">
            <a:solidFill>
              <a:srgbClr val="D2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4841855"/>
            <a:ext cx="16349821" cy="11690350"/>
          </a:xfrm>
          <a:prstGeom prst="roundRect">
            <a:avLst>
              <a:gd name="adj" fmla="val 709"/>
            </a:avLst>
          </a:prstGeom>
          <a:solidFill>
            <a:srgbClr val="F1F2F4"/>
          </a:solidFill>
          <a:ln w="8890">
            <a:solidFill>
              <a:srgbClr val="D2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1723826"/>
            <a:ext cx="16349682" cy="18348126"/>
          </a:xfrm>
          <a:prstGeom prst="roundRect">
            <a:avLst>
              <a:gd name="adj" fmla="val 507"/>
            </a:avLst>
          </a:prstGeom>
          <a:solidFill>
            <a:srgbClr val="F1F2F4"/>
          </a:solidFill>
          <a:ln w="8890">
            <a:solidFill>
              <a:srgbClr val="D2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6864052"/>
            <a:ext cx="16349821" cy="5634176"/>
          </a:xfrm>
          <a:prstGeom prst="roundRect">
            <a:avLst>
              <a:gd name="adj" fmla="val 1472"/>
            </a:avLst>
          </a:prstGeom>
          <a:solidFill>
            <a:srgbClr val="F1F2F4"/>
          </a:solidFill>
          <a:ln w="8890">
            <a:solidFill>
              <a:srgbClr val="D2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2830075"/>
            <a:ext cx="16349821" cy="7241877"/>
          </a:xfrm>
          <a:prstGeom prst="roundRect">
            <a:avLst>
              <a:gd name="adj" fmla="val 1145"/>
            </a:avLst>
          </a:prstGeom>
          <a:solidFill>
            <a:srgbClr val="EEF0F4"/>
          </a:solidFill>
          <a:ln w="8890">
            <a:solidFill>
              <a:srgbClr val="D2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2830075"/>
            <a:ext cx="53340" cy="7241877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428289" y="24109680"/>
            <a:ext cx="16349682" cy="5962272"/>
          </a:xfrm>
          <a:prstGeom prst="roundRect">
            <a:avLst>
              <a:gd name="adj" fmla="val 1391"/>
            </a:avLst>
          </a:prstGeom>
          <a:solidFill>
            <a:srgbClr val="F1F2F4"/>
          </a:solidFill>
          <a:ln w="8890">
            <a:solidFill>
              <a:srgbClr val="D2D5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21" y="1149746"/>
            <a:ext cx="4496117" cy="151709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39991" y="9522856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39991" y="9522856"/>
            <a:ext cx="124460" cy="1481019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592795" y="18070036"/>
            <a:ext cx="15573613" cy="3419455"/>
          </a:xfrm>
          <a:prstGeom prst="roundRect">
            <a:avLst>
              <a:gd name="adj" fmla="val 2079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eizmann-institute-of-sci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37772" y="3093607"/>
            <a:ext cx="976233" cy="871167"/>
          </a:xfrm>
          <a:prstGeom prst="rect">
            <a:avLst/>
          </a:prstGeom>
        </p:spPr>
      </p:pic>
      <p:pic>
        <p:nvPicPr>
          <p:cNvPr id="16" name="Picture 15" descr="mit-cs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0979" y="3093615"/>
            <a:ext cx="1533664" cy="871151"/>
          </a:xfrm>
          <a:prstGeom prst="rect">
            <a:avLst/>
          </a:prstGeom>
        </p:spPr>
      </p:pic>
      <p:pic>
        <p:nvPicPr>
          <p:cNvPr id="17" name="Picture 16" descr="nvidia-re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21617" y="3093583"/>
            <a:ext cx="4608076" cy="871215"/>
          </a:xfrm>
          <a:prstGeom prst="rect">
            <a:avLst/>
          </a:prstGeom>
        </p:spPr>
      </p:pic>
      <p:pic>
        <p:nvPicPr>
          <p:cNvPr id="18" name="Picture 17" descr="meta-ai-re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6667" y="3093582"/>
            <a:ext cx="4324151" cy="87121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5012014" y="6308566"/>
            <a:ext cx="14735175" cy="9269353"/>
          </a:xfrm>
          <a:prstGeom prst="roundRect">
            <a:avLst>
              <a:gd name="adj" fmla="val 38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age9_figur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12084" y="6308566"/>
            <a:ext cx="14735036" cy="9269353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7829728" y="16795015"/>
            <a:ext cx="15546804" cy="5242461"/>
          </a:xfrm>
          <a:prstGeom prst="roundRect">
            <a:avLst>
              <a:gd name="adj" fmla="val 678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age5_figure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29826" y="16795015"/>
            <a:ext cx="15546608" cy="524246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4908390" y="18292286"/>
            <a:ext cx="5012154" cy="302246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908390" y="18292286"/>
            <a:ext cx="11557" cy="3022461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47769" y="19662318"/>
            <a:ext cx="15557778" cy="8742065"/>
          </a:xfrm>
          <a:prstGeom prst="roundRect">
            <a:avLst>
              <a:gd name="adj" fmla="val 40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age4_figure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798" y="19662318"/>
            <a:ext cx="15557721" cy="8742065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17816393" y="28886110"/>
            <a:ext cx="2482532" cy="797738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3415E"/>
                </a:solidFill>
                <a:latin typeface="Arial"/>
              </a:rPr>
              <a:t>ZINC-12K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455334" y="28886110"/>
            <a:ext cx="2334042" cy="797738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3415E"/>
                </a:solidFill>
                <a:latin typeface="Arial"/>
              </a:rPr>
              <a:t>ZINC-full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945784" y="28886110"/>
            <a:ext cx="2335292" cy="797738"/>
          </a:xfrm>
          <a:prstGeom prst="roundRect">
            <a:avLst>
              <a:gd name="adj" fmla="val 50000"/>
            </a:avLst>
          </a:prstGeom>
          <a:solidFill>
            <a:srgbClr val="EA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33415E"/>
                </a:solidFill>
                <a:latin typeface="Arial"/>
              </a:rPr>
              <a:t>Alchemy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437484" y="28886110"/>
            <a:ext cx="2704366" cy="797738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SR graphs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5581" y="1007487"/>
            <a:ext cx="36232584" cy="12953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70"/>
              </a:lnSpc>
              <a:spcBef>
                <a:spcPts val="0"/>
              </a:spcBef>
              <a:spcAft>
                <a:spcPts val="0"/>
              </a:spcAft>
            </a:pPr>
            <a:r>
              <a:rPr sz="8213" b="1" spc="-82">
                <a:solidFill>
                  <a:srgbClr val="33415E"/>
                </a:solidFill>
                <a:latin typeface="Arial"/>
              </a:rPr>
              <a:t>Equivariant Polynomials for Graph Neural Networks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15581" y="2363350"/>
            <a:ext cx="36232584" cy="7442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B2331"/>
                </a:solidFill>
                <a:latin typeface="Arial"/>
              </a:rPr>
              <a:t>Omri Puny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920" b="0">
                <a:solidFill>
                  <a:srgbClr val="1B2331"/>
                </a:solidFill>
                <a:latin typeface="Arial"/>
              </a:rPr>
              <a:t>, Derek Lim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Bobak T. Kiani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920" b="0">
                <a:solidFill>
                  <a:srgbClr val="1B2331"/>
                </a:solidFill>
                <a:latin typeface="Arial"/>
              </a:rPr>
              <a:t>, Haggai Maron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3920" b="0">
                <a:solidFill>
                  <a:srgbClr val="1B2331"/>
                </a:solidFill>
                <a:latin typeface="Arial"/>
              </a:rPr>
              <a:t>, Yaron Lipman</a:t>
            </a:r>
            <a:r>
              <a:rPr sz="5487" b="0" baseline="30000">
                <a:solidFill>
                  <a:srgbClr val="1B2331"/>
                </a:solidFill>
                <a:latin typeface="Arial"/>
              </a:rPr>
              <a:t>1,4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15581" y="3063577"/>
            <a:ext cx="36232584" cy="5341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658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Weizmann Institute of Science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MIT CSAIL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NVIDIA Research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Meta AI Research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9991" y="5229959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Problem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16393" y="5229959"/>
            <a:ext cx="16000194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Method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592795" y="5229959"/>
            <a:ext cx="1600033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Key Results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9991" y="6336764"/>
            <a:ext cx="16000194" cy="33590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Graph neural networks have inherently </a:t>
            </a:r>
            <a:r>
              <a:rPr sz="4106" b="1">
                <a:solidFill>
                  <a:srgbClr val="111111"/>
                </a:solidFill>
                <a:latin typeface="Arial"/>
              </a:rPr>
              <a:t>limited expressive power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Weisfeiler-Lehman (WL) hierarchy used to measure it has a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complex, hard-to-act-on definition and is </a:t>
            </a:r>
            <a:r>
              <a:rPr sz="4106" b="1">
                <a:solidFill>
                  <a:srgbClr val="111111"/>
                </a:solidFill>
                <a:latin typeface="Arial"/>
              </a:rPr>
              <a:t>too coarse</a:t>
            </a:r>
            <a:r>
              <a:rPr sz="4106" b="0">
                <a:solidFill>
                  <a:srgbClr val="1C1C1C"/>
                </a:solidFill>
                <a:latin typeface="Arial"/>
              </a:rPr>
              <a:t> to separate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today's GNNs.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9991" y="9522856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WL certifies pass/fail on an isomorphism test but gives no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recipe for building a stronger network.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9991" y="12111930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Motivation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16393" y="14210387"/>
            <a:ext cx="15209262" cy="2453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Reynolds operator: averaging monomials over all node permutations equals a sum over the orbit of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 — the equivariant basis element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</a:t>
            </a:r>
            <a:r>
              <a:rPr sz="5749" b="0" i="1" baseline="-25000">
                <a:solidFill>
                  <a:srgbClr val="1C1C1C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92795" y="17252156"/>
            <a:ext cx="16000333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Headline Numbers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92795" y="21660485"/>
            <a:ext cx="16000333" cy="6884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714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All models within a 500K-parameter budget; power provably beyond 3-WL.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637245" y="23218179"/>
            <a:ext cx="1595588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Takeaway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16393" y="24497784"/>
            <a:ext cx="1600019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33415E"/>
                </a:solidFill>
                <a:latin typeface="Arial"/>
              </a:rPr>
              <a:t>Dataset / Benchmark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637245" y="24509730"/>
            <a:ext cx="15955883" cy="58783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Grade and build GNNs by the </a:t>
            </a:r>
            <a:r>
              <a:rPr sz="4106" b="1">
                <a:solidFill>
                  <a:srgbClr val="111111"/>
                </a:solidFill>
                <a:latin typeface="Arial"/>
              </a:rPr>
              <a:t>equivariant polynomials they can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compute</a:t>
            </a:r>
            <a:r>
              <a:rPr sz="4106" b="0">
                <a:solidFill>
                  <a:srgbClr val="1C1C1C"/>
                </a:solidFill>
                <a:latin typeface="Arial"/>
              </a:rPr>
              <a:t> — each a multi-graph evaluated by tensor contraction —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finer ruler than WL that, via precomputed features, pushes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ordinary GNNs </a:t>
            </a:r>
            <a:r>
              <a:rPr sz="4106" b="1">
                <a:solidFill>
                  <a:srgbClr val="111111"/>
                </a:solidFill>
                <a:latin typeface="Arial"/>
              </a:rPr>
              <a:t>past 3-WL</a:t>
            </a:r>
            <a:r>
              <a:rPr sz="4106" b="0">
                <a:solidFill>
                  <a:srgbClr val="1C1C1C"/>
                </a:solidFill>
                <a:latin typeface="Arial"/>
              </a:rPr>
              <a:t> to state-of-the-art molecular accuracy.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basis plus a linear-time computability test turn "how expressive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is this GNN?" into a concrete, checkable question with an</a:t>
            </a:r>
          </a:p>
          <a:p>
            <a:pPr algn="l">
              <a:lnSpc>
                <a:spcPts val="5749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actionable answer: the exact operations a model is missing.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16375" y="6456362"/>
            <a:ext cx="16000212" cy="2661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Every equivariant graph polynomial of degree </a:t>
            </a:r>
            <a:r>
              <a:rPr sz="4353" b="1">
                <a:solidFill>
                  <a:srgbClr val="111111"/>
                </a:solidFill>
                <a:latin typeface="Arial"/>
              </a:rPr>
              <a:t>≤ d</a:t>
            </a:r>
            <a:r>
              <a:rPr sz="4106" b="0">
                <a:solidFill>
                  <a:srgbClr val="1C1C1C"/>
                </a:solidFill>
                <a:latin typeface="Arial"/>
              </a:rPr>
              <a:t> has a basis of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directed multi-graphs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; each element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</a:t>
            </a:r>
            <a:r>
              <a:rPr sz="5749" b="0" i="1" baseline="-25000">
                <a:solidFill>
                  <a:srgbClr val="1C1C1C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 is an </a:t>
            </a:r>
            <a:r>
              <a:rPr sz="4106" b="1">
                <a:solidFill>
                  <a:srgbClr val="111111"/>
                </a:solidFill>
                <a:latin typeface="Arial"/>
              </a:rPr>
              <a:t>einsum (tensor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contraction)</a:t>
            </a:r>
            <a:r>
              <a:rPr sz="4106" b="0">
                <a:solidFill>
                  <a:srgbClr val="1C1C1C"/>
                </a:solidFill>
                <a:latin typeface="Arial"/>
              </a:rPr>
              <a:t> over the input.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816375" y="8953619"/>
            <a:ext cx="16000212" cy="2611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Model a GNN as a </a:t>
            </a:r>
            <a:r>
              <a:rPr sz="4106" b="1">
                <a:solidFill>
                  <a:srgbClr val="111111"/>
                </a:solidFill>
                <a:latin typeface="Arial"/>
              </a:rPr>
              <a:t>contraction bank</a:t>
            </a:r>
            <a:r>
              <a:rPr sz="4106" b="0">
                <a:solidFill>
                  <a:srgbClr val="1C1C1C"/>
                </a:solidFill>
                <a:latin typeface="Arial"/>
              </a:rPr>
              <a:t> F; a linear-time algorithm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decides which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P</a:t>
            </a:r>
            <a:r>
              <a:rPr sz="5749" b="0" i="1" baseline="-25000">
                <a:solidFill>
                  <a:srgbClr val="1C1C1C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 it computes — node banks recover </a:t>
            </a:r>
            <a:r>
              <a:rPr sz="4106" b="1">
                <a:solidFill>
                  <a:srgbClr val="111111"/>
                </a:solidFill>
                <a:latin typeface="Arial"/>
              </a:rPr>
              <a:t>1-WL</a:t>
            </a:r>
            <a:r>
              <a:rPr sz="4106" b="0">
                <a:solidFill>
                  <a:srgbClr val="1C1C1C"/>
                </a:solidFill>
                <a:latin typeface="Arial"/>
              </a:rPr>
              <a:t>,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edge banks recover </a:t>
            </a:r>
            <a:r>
              <a:rPr sz="4106" b="1">
                <a:solidFill>
                  <a:srgbClr val="111111"/>
                </a:solidFill>
                <a:latin typeface="Arial"/>
              </a:rPr>
              <a:t>2-FWL</a:t>
            </a:r>
            <a:r>
              <a:rPr sz="4106" b="0">
                <a:solidFill>
                  <a:srgbClr val="1C1C1C"/>
                </a:solidFill>
                <a:latin typeface="Arial"/>
              </a:rPr>
              <a:t> (a.k.a. 3-WL).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9972" y="13569612"/>
            <a:ext cx="16000213" cy="33590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Grade a graph network by the concrete quantities it can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compute: </a:t>
            </a:r>
            <a:r>
              <a:rPr sz="4106" b="1">
                <a:solidFill>
                  <a:srgbClr val="111111"/>
                </a:solidFill>
                <a:latin typeface="Arial"/>
              </a:rPr>
              <a:t>equivariant graph polynomials</a:t>
            </a:r>
            <a:r>
              <a:rPr sz="4106" b="0">
                <a:solidFill>
                  <a:srgbClr val="1C1C1C"/>
                </a:solidFill>
                <a:latin typeface="Arial"/>
              </a:rPr>
              <a:t> of the adjacency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matrix (subgraph counts and many structural features are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exactly these).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486087" y="15727521"/>
            <a:ext cx="12140639" cy="639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SR-graph distinguishing failure rate (log scale, lower is better).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9972" y="16673056"/>
            <a:ext cx="16000213" cy="251929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work characterized only low-order maps or leaned on WL,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leaving </a:t>
            </a:r>
            <a:r>
              <a:rPr sz="4106" b="1">
                <a:solidFill>
                  <a:srgbClr val="111111"/>
                </a:solidFill>
                <a:latin typeface="Arial"/>
              </a:rPr>
              <a:t>no complete, computation-friendly</a:t>
            </a:r>
            <a:r>
              <a:rPr sz="4106" b="0">
                <a:solidFill>
                  <a:srgbClr val="1C1C1C"/>
                </a:solidFill>
                <a:latin typeface="Arial"/>
              </a:rPr>
              <a:t> description of what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 GNN should output.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451611" y="22187078"/>
            <a:ext cx="14729758" cy="13622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Prototypical node-based (left) and edge-based (right) contraction banks —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primitives Algorithm 1 composes to compute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P</a:t>
            </a:r>
            <a:r>
              <a:rPr sz="4714" b="0" i="1" baseline="-25000">
                <a:solidFill>
                  <a:srgbClr val="555555"/>
                </a:solidFill>
                <a:latin typeface="Arial"/>
              </a:rPr>
              <a:t>H</a:t>
            </a:r>
            <a:r>
              <a:rPr sz="3367" b="0" i="1">
                <a:solidFill>
                  <a:srgbClr val="555555"/>
                </a:solidFill>
                <a:latin typeface="Arial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816375" y="25600144"/>
            <a:ext cx="16000212" cy="16795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Molecular regression on </a:t>
            </a:r>
            <a:r>
              <a:rPr sz="4106" b="1">
                <a:solidFill>
                  <a:srgbClr val="111111"/>
                </a:solidFill>
                <a:latin typeface="Arial"/>
              </a:rPr>
              <a:t>ZINC-12K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latin typeface="Arial"/>
              </a:rPr>
              <a:t>ZINC-full</a:t>
            </a:r>
            <a:r>
              <a:rPr sz="4106" b="0">
                <a:solidFill>
                  <a:srgbClr val="1C1C1C"/>
                </a:solidFill>
                <a:latin typeface="Arial"/>
              </a:rPr>
              <a:t> (~220K graphs)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</a:t>
            </a:r>
            <a:r>
              <a:rPr sz="4106" b="1">
                <a:solidFill>
                  <a:srgbClr val="111111"/>
                </a:solidFill>
                <a:latin typeface="Arial"/>
              </a:rPr>
              <a:t>Alchemy</a:t>
            </a:r>
            <a:r>
              <a:rPr sz="4106" b="0">
                <a:solidFill>
                  <a:srgbClr val="1C1C1C"/>
                </a:solidFill>
                <a:latin typeface="Arial"/>
              </a:rPr>
              <a:t>, all under a 500K-parameter budget.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816375" y="27243127"/>
            <a:ext cx="16000212" cy="16795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Strongly Regular (SR)</a:t>
            </a:r>
            <a:r>
              <a:rPr sz="4106" b="0">
                <a:solidFill>
                  <a:srgbClr val="1C1C1C"/>
                </a:solidFill>
                <a:latin typeface="Arial"/>
              </a:rPr>
              <a:t> graph families stress-test raw power:</a:t>
            </a:r>
          </a:p>
          <a:p>
            <a:pPr algn="l" marL="573701" indent="0">
              <a:lnSpc>
                <a:spcPts val="57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pairs 3-WL provably cannot separate.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70069" y="28553985"/>
            <a:ext cx="14739759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Basis of equivariant constant (left of bold line) and linear graph polynomials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— each cell a multi-graph </a:t>
            </a:r>
            <a:r>
              <a:rPr sz="3367" b="0" i="1">
                <a:solidFill>
                  <a:srgbClr val="555555"/>
                </a:solidFill>
                <a:latin typeface="Arial"/>
              </a:rPr>
              <a:t>H</a:t>
            </a:r>
            <a:r>
              <a:rPr sz="3367" b="0" i="1">
                <a:solidFill>
                  <a:srgbClr val="555555"/>
                </a:solidFill>
                <a:latin typeface="Arial"/>
              </a:rPr>
              <a:t>; the complete characterization we derive.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838659" y="18650803"/>
            <a:ext cx="9780929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3415E"/>
                </a:solidFill>
                <a:latin typeface="Arial"/>
              </a:rPr>
              <a:t>0.071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838659" y="20025697"/>
            <a:ext cx="9780929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ZINC-12K test MAE · PPGN++ (deg 6)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838659" y="20547151"/>
            <a:ext cx="9780929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best in class — vs CIN 0.079, GIN 0.163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386644" y="18292286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0.020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906279" y="18425636"/>
            <a:ext cx="234025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ZINC-full MAE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386644" y="19113083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0.109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6279" y="19246433"/>
            <a:ext cx="229990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Alchemy MAE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386644" y="19933880"/>
            <a:ext cx="1377225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0.106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906279" y="20067230"/>
            <a:ext cx="3104692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GatedGCN + poly6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386644" y="20754677"/>
            <a:ext cx="1822755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&gt; 3-WL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38833" y="20888027"/>
            <a:ext cx="250435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provable power</a:t>
            </a:r>
          </a:p>
        </p:txBody>
      </p:sp>
      <p:pic>
        <p:nvPicPr>
          <p:cNvPr id="66" name="Picture 65" descr="eq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816393" y="12052617"/>
            <a:ext cx="15573474" cy="15651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
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VectorMapNet is the first end-to-end pipeline that reads onboard camera and LiDAR data and directly predicts a sparse set of polylines, the vectorized map primitive planners actually use. It skips rasterization entirely and sets a new state of the art.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Self-driving cars need HD maps marking lanes, boundaries, and crosswalks. Today these are annotated by hand, which is costly and does not scale. Learning methods instead predict a dense pixel grid, but a grid carries no individual elements and needs brittle post-processing before a planner can use it.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authors argue mapping should happen online, from the car's own sensors, avoiding the annotation burden and localization errors, and the model should output the final representation directly. Prior methods rasterize then vectorize with a hand-designed step; VectorMapNet removes that detour and predicts geometry end to end.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VectorMapNet makes three contributions. It predicts vectorized outputs directly from sensors, with no rasterization or post-processing. It uses the polyline as one flexible primitive for points, lines, curves, and polygons, whose vertex order encodes direction. And it adapts detection transformers to locate elements in bird's-eye view.</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VectorMapNet has three stages. A bird's-eye-view extractor maps each modality into a shared top-down space: cameras through a ResNet and inverse perspective mapping, LiDAR through PointPillars, fused by concatenation. A detection transformer with element queries locates each element as keypoints. An autoregressive polyline generator then emits ordered vertices, trained with a matching detection loss and a generation loss.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VectorMapNet is evaluated on nuScenes and Argoverse2. Following HDMapNet, predicted polylines are compared to ground truth for crosswalks, lane dividers, and road boundaries. It reports Chamfer-distance average precision and a new Fréchet-distance AP that respects vertex order, plus 3D evaluation on Argoverse2.</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VectorMapNet sets a new state of the art. It beats HDMapNet by 14.2 mAP on nuScenes and 14.6 on Argoverse2. Gains hold across sensors: nearly eighteen points camera-only, about ten LiDAR-only, over fourteen with fusion. Two-stage fine-tuning pushes fusion to 53.7 mAP versus 31.0.</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Two ablations stand out. Representing each element by a bounding box with two keypoints beats start-middle-end and extreme-point alternatives by two Fréchet and over seven Chamfer points. Two-stage training, teacher forcing then fine-tuning on predicted keypoints, adds about seven mAP for camera and over eight for fusion.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To summarize: VectorMapNet exceeds the previous state of the art by 14.2 mAP on nuScenes and 14.6 on Argoverse2. Its best configuration, fusion with fine-tuning, reaches 53.7 mAP where HDMapNet reaches 31. Gains span sensors: about eighteen for camera, ten for LiDAR, fourteen for fusion.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takeaway: HD mapping needs no rasterize-then-vectorize detour. Treating mapping as detection plus autoregressive polyline generation, VectorMapNet produces directional vector maps directly from sensors, beats rasterized pipelines by double digits, and even extends to centerlines with no architectural change.</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ck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ck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4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700" kern="1200">
          <a:solidFill>
            <a:schemeClr val="tx1"/>
          </a:solidFill>
          <a:latin typeface="+mn-lt"/>
          <a:ea typeface="+mn-ea"/>
          <a:cs typeface="+mn-cs"/>
        </a:defRPr>
      </a:lvl2pPr>
      <a:lvl3pPr marL="914400" algn="l" defTabSz="457200" rtl="0" eaLnBrk="1" latinLnBrk="0" hangingPunct="1">
        <a:defRPr sz="1600" kern="1200">
          <a:solidFill>
            <a:schemeClr val="tx1"/>
          </a:solidFill>
          <a:latin typeface="+mn-lt"/>
          <a:ea typeface="+mn-ea"/>
          <a:cs typeface="+mn-cs"/>
        </a:defRPr>
      </a:lvl3pPr>
      <a:lvl4pPr marL="1371600" algn="l" defTabSz="457200" rtl="0" eaLnBrk="1" latinLnBrk="0" hangingPunct="1">
        <a:defRPr sz="1450" kern="1200">
          <a:solidFill>
            <a:schemeClr val="tx1"/>
          </a:solidFill>
          <a:latin typeface="+mn-lt"/>
          <a:ea typeface="+mn-ea"/>
          <a:cs typeface="+mn-cs"/>
        </a:defRPr>
      </a:lvl4pPr>
      <a:lvl5pPr marL="1828800" algn="l" defTabSz="457200" rtl="0" eaLnBrk="1" latinLnBrk="0" hangingPunct="1">
        <a:defRPr sz="1350" kern="1200">
          <a:solidFill>
            <a:schemeClr val="tx1"/>
          </a:solidFill>
          <a:latin typeface="+mn-lt"/>
          <a:ea typeface="+mn-ea"/>
          <a:cs typeface="+mn-cs"/>
        </a:defRPr>
      </a:lvl5pPr>
      <a:lvl6pPr marL="2286000" algn="l" defTabSz="457200" rtl="0" eaLnBrk="1" latinLnBrk="0" hangingPunct="1">
        <a:defRPr sz="1250" kern="1200">
          <a:solidFill>
            <a:schemeClr val="tx1"/>
          </a:solidFill>
          <a:latin typeface="+mn-lt"/>
          <a:ea typeface="+mn-ea"/>
          <a:cs typeface="+mn-cs"/>
        </a:defRPr>
      </a:lvl6pPr>
      <a:lvl7pPr marL="2743200" algn="l" defTabSz="457200" rtl="0" eaLnBrk="1" latinLnBrk="0" hangingPunct="1">
        <a:defRPr sz="1100" kern="1200">
          <a:solidFill>
            <a:schemeClr val="tx1"/>
          </a:solidFill>
          <a:latin typeface="+mn-lt"/>
          <a:ea typeface="+mn-ea"/>
          <a:cs typeface="+mn-cs"/>
        </a:defRPr>
      </a:lvl7pPr>
      <a:lvl8pPr marL="3200400" algn="l" defTabSz="457200" rtl="0" eaLnBrk="1" latinLnBrk="0" hangingPunct="1">
        <a:defRPr sz="1000" kern="1200">
          <a:solidFill>
            <a:schemeClr val="tx1"/>
          </a:solidFill>
          <a:latin typeface="+mn-lt"/>
          <a:ea typeface="+mn-ea"/>
          <a:cs typeface="+mn-cs"/>
        </a:defRPr>
      </a:lvl8pPr>
      <a:lvl9pPr marL="36576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bbf02c61b745bf7b.jpg"/><Relationship Id="rId3" Type="http://schemas.openxmlformats.org/officeDocument/2006/relationships/image" Target="../media/image_6957a8dc22926d50.png"/><Relationship Id="rId4" Type="http://schemas.openxmlformats.org/officeDocument/2006/relationships/image" Target="../media/image_56f6dbe8ef4e02a7.png"/><Relationship Id="rId5" Type="http://schemas.openxmlformats.org/officeDocument/2006/relationships/image" Target="../media/image_3dad7eb6c441234c.png"/><Relationship Id="rId6" Type="http://schemas.openxmlformats.org/officeDocument/2006/relationships/image" Target="../media/image_2ef3af8e03b0196a.png"/><Relationship Id="rId7" Type="http://schemas.openxmlformats.org/officeDocument/2006/relationships/image" Target="../media/image_de7a9c6f59dea816.png"/><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bb153c81e7f5238f.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d2c54b754c731ed1.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a811680451719504.jpg"/><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14300" cy="6858000"/>
          </a:xfrm>
          <a:prstGeom prst="rect">
            <a:avLst/>
          </a:prstGeom>
          <a:solidFill>
            <a:schemeClr val="accent2"/>
          </a:solidFill>
          <a:ln>
            <a:noFill/>
          </a:ln>
        </p:spPr>
        <p:txBody>
          <a:bodyPr/>
          <a:p/>
        </p:txBody>
      </p:sp>
      <p:grpSp>
        <p:nvGrpSpPr>
          <p:cNvPr id="5" name="Group 5"/>
          <p:cNvGrpSpPr/>
          <p:nvPr/>
        </p:nvGrpSpPr>
        <p:grpSpPr>
          <a:xfrm>
            <a:off x="754380" y="714375"/>
            <a:ext cx="4310199" cy="293370"/>
            <a:chOff x="754380" y="714375"/>
            <a:chExt cx="4310199" cy="293370"/>
          </a:xfrm>
        </p:grpSpPr>
        <p:sp>
          <p:nvSpPr>
            <p:cNvPr id="3" name="TextBox 3"/>
            <p:cNvSpPr txBox="1"/>
            <p:nvPr/>
          </p:nvSpPr>
          <p:spPr>
            <a:xfrm>
              <a:off x="754380" y="714375"/>
              <a:ext cx="1313002" cy="293370"/>
            </a:xfrm>
            <a:prstGeom prst="rect">
              <a:avLst/>
            </a:prstGeom>
            <a:noFill/>
            <a:ln>
              <a:noFill/>
            </a:ln>
          </p:spPr>
          <p:txBody>
            <a:bodyPr wrap="none" lIns="0" tIns="0" rIns="0" bIns="0" anchor="t" anchorCtr="0">
              <a:spAutoFit/>
            </a:bodyPr>
            <a:lstStyle/>
            <a:p>
              <a:pPr algn="l"/>
              <a:r>
                <a:rPr lang="en-US" sz="1500" b="1" spc="225" dirty="0">
                  <a:solidFill>
                    <a:schemeClr val="accent2"/>
                  </a:solidFill>
                  <a:latin typeface="+mn-lt"/>
                  <a:ea typeface="+mn-ea"/>
                  <a:cs typeface="+mn-cs"/>
                </a:rPr>
                <a:t>ICML 2023</a:t>
              </a:r>
            </a:p>
          </p:txBody>
        </p:sp>
        <p:sp>
          <p:nvSpPr>
            <p:cNvPr id="4" name="TextBox 4"/>
            <p:cNvSpPr txBox="1"/>
            <p:nvPr/>
          </p:nvSpPr>
          <p:spPr>
            <a:xfrm>
              <a:off x="1859280" y="714375"/>
              <a:ext cx="3205299" cy="293370"/>
            </a:xfrm>
            <a:prstGeom prst="rect">
              <a:avLst/>
            </a:prstGeom>
            <a:noFill/>
            <a:ln>
              <a:noFill/>
            </a:ln>
          </p:spPr>
          <p:txBody>
            <a:bodyPr wrap="none" lIns="0" tIns="0" rIns="0" bIns="0" anchor="t" anchorCtr="0">
              <a:spAutoFit/>
            </a:bodyPr>
            <a:lstStyle/>
            <a:p>
              <a:pPr algn="l" marL="171450" indent="-171450">
                <a:buClr>
                  <a:schemeClr val="dk2"/>
                </a:buClr>
                <a:buSzTx/>
                <a:buFontTx/>
                <a:buChar char="•"/>
              </a:pPr>
              <a:r>
                <a:rPr lang="en-US" sz="1500" spc="75" dirty="0">
                  <a:solidFill>
                    <a:schemeClr val="dk2"/>
                  </a:solidFill>
                  <a:latin typeface="+mn-lt"/>
                  <a:ea typeface="+mn-ea"/>
                  <a:cs typeface="+mn-cs"/>
                </a:rPr>
                <a:t>End-to-end HD Map Learning</a:t>
              </a:r>
            </a:p>
          </p:txBody>
        </p:sp>
      </p:grpSp>
      <p:grpSp>
        <p:nvGrpSpPr>
          <p:cNvPr id="8" name="Group 8"/>
          <p:cNvGrpSpPr/>
          <p:nvPr/>
        </p:nvGrpSpPr>
        <p:grpSpPr>
          <a:xfrm>
            <a:off x="723900" y="1105852"/>
            <a:ext cx="6685093" cy="1377315"/>
            <a:chOff x="723900" y="1105852"/>
            <a:chExt cx="6685093" cy="1377315"/>
          </a:xfrm>
        </p:grpSpPr>
        <p:sp>
          <p:nvSpPr>
            <p:cNvPr id="6" name="TextBox 6"/>
            <p:cNvSpPr txBox="1"/>
            <p:nvPr/>
          </p:nvSpPr>
          <p:spPr>
            <a:xfrm>
              <a:off x="723900" y="1105852"/>
              <a:ext cx="6685093" cy="1362075"/>
            </a:xfrm>
            <a:prstGeom prst="rect">
              <a:avLst/>
            </a:prstGeom>
            <a:noFill/>
            <a:ln>
              <a:noFill/>
            </a:ln>
          </p:spPr>
          <p:txBody>
            <a:bodyPr wrap="none" lIns="0" tIns="0" rIns="0" bIns="0" anchor="t" anchorCtr="0">
              <a:spAutoFit/>
            </a:bodyPr>
            <a:lstStyle/>
            <a:p>
              <a:pPr algn="l"/>
              <a:r>
                <a:rPr lang="en-US" sz="7050" b="1" spc="-150" dirty="0">
                  <a:solidFill>
                    <a:schemeClr val="dk1"/>
                  </a:solidFill>
                  <a:latin typeface="+mn-lt"/>
                  <a:ea typeface="+mn-ea"/>
                  <a:cs typeface="+mn-cs"/>
                </a:rPr>
                <a:t>VectorMapNet</a:t>
              </a:r>
            </a:p>
          </p:txBody>
        </p:sp>
        <p:sp>
          <p:nvSpPr>
            <p:cNvPr id="7" name="TextBox 7"/>
            <p:cNvSpPr txBox="1"/>
            <p:nvPr/>
          </p:nvSpPr>
          <p:spPr>
            <a:xfrm>
              <a:off x="769620" y="2043112"/>
              <a:ext cx="5856225" cy="440055"/>
            </a:xfrm>
            <a:prstGeom prst="rect">
              <a:avLst/>
            </a:prstGeom>
            <a:noFill/>
            <a:ln>
              <a:noFill/>
            </a:ln>
          </p:spPr>
          <p:txBody>
            <a:bodyPr wrap="none" lIns="0" tIns="0" rIns="0" bIns="0" anchor="t" anchorCtr="0">
              <a:spAutoFit/>
            </a:bodyPr>
            <a:lstStyle/>
            <a:p>
              <a:pPr algn="l"/>
              <a:r>
                <a:rPr lang="en-US" sz="2250" dirty="0">
                  <a:solidFill>
                    <a:schemeClr val="dk2"/>
                  </a:solidFill>
                  <a:latin typeface="+mn-lt"/>
                  <a:ea typeface="+mn-ea"/>
                  <a:cs typeface="+mn-cs"/>
                </a:rPr>
                <a:t>End-to-end Vectorized HD Map Learning</a:t>
              </a:r>
            </a:p>
          </p:txBody>
        </p:sp>
      </p:grpSp>
      <p:grpSp>
        <p:nvGrpSpPr>
          <p:cNvPr id="11" name="Group 11"/>
          <p:cNvGrpSpPr/>
          <p:nvPr/>
        </p:nvGrpSpPr>
        <p:grpSpPr>
          <a:xfrm>
            <a:off x="773811" y="2627471"/>
            <a:ext cx="6221880" cy="506635"/>
            <a:chOff x="773811" y="2627471"/>
            <a:chExt cx="6221880" cy="506635"/>
          </a:xfrm>
        </p:grpSpPr>
        <p:sp>
          <p:nvSpPr>
            <p:cNvPr id="9" name="TextBox 9"/>
            <p:cNvSpPr txBox="1"/>
            <p:nvPr/>
          </p:nvSpPr>
          <p:spPr>
            <a:xfrm>
              <a:off x="773811" y="2627471"/>
              <a:ext cx="6221880"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Yicheng Liu · Tianyuan Yuan · Yue Wang · Yilun Wang · Hang Zhao</a:t>
              </a:r>
            </a:p>
          </p:txBody>
        </p:sp>
        <p:sp>
          <p:nvSpPr>
            <p:cNvPr id="10" name="TextBox 10"/>
            <p:cNvSpPr txBox="1"/>
            <p:nvPr/>
          </p:nvSpPr>
          <p:spPr>
            <a:xfrm>
              <a:off x="774954" y="2899410"/>
              <a:ext cx="4887375" cy="234696"/>
            </a:xfrm>
            <a:prstGeom prst="rect">
              <a:avLst/>
            </a:prstGeom>
            <a:noFill/>
            <a:ln>
              <a:noFill/>
            </a:ln>
          </p:spPr>
          <p:txBody>
            <a:bodyPr wrap="none" lIns="0" tIns="0" rIns="0" bIns="0" anchor="t" anchorCtr="0">
              <a:spAutoFit/>
            </a:bodyPr>
            <a:lstStyle/>
            <a:p>
              <a:pPr algn="l"/>
              <a:r>
                <a:rPr lang="en-US" sz="1200" dirty="0">
                  <a:solidFill>
                    <a:schemeClr val="accent6"/>
                  </a:solidFill>
                  <a:latin typeface="+mn-lt"/>
                  <a:ea typeface="+mn-ea"/>
                  <a:cs typeface="+mn-cs"/>
                </a:rPr>
                <a:t>Shanghai Qi Zhi Institute · Tsinghua University · MIT · Li Auto</a:t>
              </a:r>
            </a:p>
          </p:txBody>
        </p:sp>
      </p:grpSp>
      <p:grpSp>
        <p:nvGrpSpPr>
          <p:cNvPr id="19" name="Group 19"/>
          <p:cNvGrpSpPr/>
          <p:nvPr/>
        </p:nvGrpSpPr>
        <p:grpSpPr>
          <a:xfrm>
            <a:off x="8572500" y="666750"/>
            <a:ext cx="2952750" cy="1676400"/>
            <a:chOff x="8572500" y="666750"/>
            <a:chExt cx="2952750" cy="1676400"/>
          </a:xfrm>
        </p:grpSpPr>
        <p:sp>
          <p:nvSpPr>
            <p:cNvPr id="12" name="Rectangle 12"/>
            <p:cNvSpPr/>
            <p:nvPr/>
          </p:nvSpPr>
          <p:spPr>
            <a:xfrm>
              <a:off x="8572500" y="666750"/>
              <a:ext cx="2952750" cy="1676400"/>
            </a:xfrm>
            <a:prstGeom prst="roundRect">
              <a:avLst>
                <a:gd name="adj" fmla="val 2273"/>
              </a:avLst>
            </a:prstGeom>
            <a:solidFill>
              <a:schemeClr val="accent5"/>
            </a:solidFill>
            <a:ln>
              <a:noFill/>
            </a:ln>
          </p:spPr>
        </p:sp>
        <p:sp>
          <p:nvSpPr>
            <p:cNvPr id="13" name="Rectangle 13"/>
            <p:cNvSpPr/>
            <p:nvPr/>
          </p:nvSpPr>
          <p:spPr>
            <a:xfrm>
              <a:off x="8572500" y="666750"/>
              <a:ext cx="57150" cy="1676400"/>
            </a:xfrm>
            <a:prstGeom prst="rect">
              <a:avLst/>
            </a:prstGeom>
            <a:solidFill>
              <a:schemeClr val="accent2"/>
            </a:solidFill>
            <a:ln>
              <a:noFill/>
            </a:ln>
          </p:spPr>
        </p:sp>
        <p:sp>
          <p:nvSpPr>
            <p:cNvPr id="14" name="TextBox 14"/>
            <p:cNvSpPr txBox="1"/>
            <p:nvPr/>
          </p:nvSpPr>
          <p:spPr>
            <a:xfrm>
              <a:off x="8832723" y="891064"/>
              <a:ext cx="2406512" cy="249364"/>
            </a:xfrm>
            <a:prstGeom prst="rect">
              <a:avLst/>
            </a:prstGeom>
            <a:noFill/>
            <a:ln>
              <a:noFill/>
            </a:ln>
          </p:spPr>
          <p:txBody>
            <a:bodyPr wrap="none" lIns="0" tIns="0" rIns="0" bIns="0" anchor="t" anchorCtr="0">
              <a:spAutoFit/>
            </a:bodyPr>
            <a:lstStyle/>
            <a:p>
              <a:pPr algn="l"/>
              <a:r>
                <a:rPr lang="en-US" sz="1280" b="1" spc="150" dirty="0">
                  <a:solidFill>
                    <a:schemeClr val="accent2"/>
                  </a:solidFill>
                  <a:latin typeface="+mn-lt"/>
                  <a:ea typeface="+mn-ea"/>
                  <a:cs typeface="+mn-cs"/>
                </a:rPr>
                <a:t>NEW STATE OF THE ART</a:t>
              </a:r>
            </a:p>
          </p:txBody>
        </p:sp>
        <p:sp>
          <p:nvSpPr>
            <p:cNvPr id="15" name="TextBox 15"/>
            <p:cNvSpPr txBox="1"/>
            <p:nvPr/>
          </p:nvSpPr>
          <p:spPr>
            <a:xfrm>
              <a:off x="8801100" y="1149668"/>
              <a:ext cx="1729011" cy="847725"/>
            </a:xfrm>
            <a:prstGeom prst="rect">
              <a:avLst/>
            </a:prstGeom>
            <a:noFill/>
            <a:ln>
              <a:noFill/>
            </a:ln>
          </p:spPr>
          <p:txBody>
            <a:bodyPr wrap="none" lIns="0" tIns="0" rIns="0" bIns="0" anchor="t" anchorCtr="0">
              <a:spAutoFit/>
            </a:bodyPr>
            <a:lstStyle/>
            <a:p>
              <a:pPr algn="l"/>
              <a:r>
                <a:rPr lang="en-US" sz="4350" b="1" dirty="0">
                  <a:solidFill>
                    <a:schemeClr val="dk1"/>
                  </a:solidFill>
                  <a:latin typeface="+mn-lt"/>
                  <a:ea typeface="+mn-ea"/>
                  <a:cs typeface="+mn-cs"/>
                </a:rPr>
                <a:t>+14.2</a:t>
              </a:r>
            </a:p>
          </p:txBody>
        </p:sp>
        <p:sp>
          <p:nvSpPr>
            <p:cNvPr id="16" name="TextBox 16"/>
            <p:cNvSpPr txBox="1"/>
            <p:nvPr/>
          </p:nvSpPr>
          <p:spPr>
            <a:xfrm>
              <a:off x="10124694" y="1408748"/>
              <a:ext cx="1012096" cy="381381"/>
            </a:xfrm>
            <a:prstGeom prst="rect">
              <a:avLst/>
            </a:prstGeom>
            <a:noFill/>
            <a:ln>
              <a:noFill/>
            </a:ln>
          </p:spPr>
          <p:txBody>
            <a:bodyPr wrap="none" lIns="0" tIns="0" rIns="0" bIns="0" anchor="t" anchorCtr="0">
              <a:spAutoFit/>
            </a:bodyPr>
            <a:lstStyle/>
            <a:p>
              <a:pPr algn="l"/>
              <a:r>
                <a:rPr lang="en-US" sz="1950" b="1" dirty="0">
                  <a:solidFill>
                    <a:schemeClr val="dk2"/>
                  </a:solidFill>
                  <a:latin typeface="+mn-lt"/>
                  <a:ea typeface="+mn-ea"/>
                  <a:cs typeface="+mn-cs"/>
                </a:rPr>
                <a:t>/ +14.6</a:t>
              </a:r>
            </a:p>
          </p:txBody>
        </p:sp>
        <p:sp>
          <p:nvSpPr>
            <p:cNvPr id="17" name="TextBox 17"/>
            <p:cNvSpPr txBox="1"/>
            <p:nvPr/>
          </p:nvSpPr>
          <p:spPr>
            <a:xfrm>
              <a:off x="8832342" y="1797368"/>
              <a:ext cx="1732845"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mAP over HDMapNet</a:t>
              </a:r>
            </a:p>
          </p:txBody>
        </p:sp>
        <p:sp>
          <p:nvSpPr>
            <p:cNvPr id="18" name="TextBox 18"/>
            <p:cNvSpPr txBox="1"/>
            <p:nvPr/>
          </p:nvSpPr>
          <p:spPr>
            <a:xfrm>
              <a:off x="8833104" y="2042160"/>
              <a:ext cx="1809140" cy="234696"/>
            </a:xfrm>
            <a:prstGeom prst="rect">
              <a:avLst/>
            </a:prstGeom>
            <a:noFill/>
            <a:ln>
              <a:noFill/>
            </a:ln>
          </p:spPr>
          <p:txBody>
            <a:bodyPr wrap="none" lIns="0" tIns="0" rIns="0" bIns="0" anchor="t" anchorCtr="0">
              <a:spAutoFit/>
            </a:bodyPr>
            <a:lstStyle/>
            <a:p>
              <a:pPr algn="l"/>
              <a:r>
                <a:rPr lang="en-US" sz="1200" dirty="0">
                  <a:solidFill>
                    <a:schemeClr val="accent6"/>
                  </a:solidFill>
                  <a:latin typeface="+mn-lt"/>
                  <a:ea typeface="+mn-ea"/>
                  <a:cs typeface="+mn-cs"/>
                </a:rPr>
                <a:t>nuScenes · Argoverse2</a:t>
              </a:r>
            </a:p>
          </p:txBody>
        </p:sp>
      </p:grpSp>
      <p:grpSp>
        <p:nvGrpSpPr>
          <p:cNvPr id="22" name="Group 22"/>
          <p:cNvGrpSpPr/>
          <p:nvPr/>
        </p:nvGrpSpPr>
        <p:grpSpPr>
          <a:xfrm>
            <a:off x="755523" y="3348514"/>
            <a:ext cx="5544657" cy="280511"/>
            <a:chOff x="755523" y="3348514"/>
            <a:chExt cx="5544657" cy="280511"/>
          </a:xfrm>
        </p:grpSpPr>
        <p:sp>
          <p:nvSpPr>
            <p:cNvPr id="20" name="TextBox 20"/>
            <p:cNvSpPr txBox="1"/>
            <p:nvPr/>
          </p:nvSpPr>
          <p:spPr>
            <a:xfrm>
              <a:off x="755523" y="3348514"/>
              <a:ext cx="5544657" cy="249364"/>
            </a:xfrm>
            <a:prstGeom prst="rect">
              <a:avLst/>
            </a:prstGeom>
            <a:noFill/>
            <a:ln>
              <a:noFill/>
            </a:ln>
          </p:spPr>
          <p:txBody>
            <a:bodyPr wrap="none" lIns="0" tIns="0" rIns="0" bIns="0" anchor="t" anchorCtr="0">
              <a:spAutoFit/>
            </a:bodyPr>
            <a:lstStyle/>
            <a:p>
              <a:pPr algn="l"/>
              <a:r>
                <a:rPr lang="en-US" sz="1280" b="1" spc="75" dirty="0">
                  <a:solidFill>
                    <a:schemeClr val="dk1"/>
                  </a:solidFill>
                  <a:latin typeface="+mn-lt"/>
                  <a:ea typeface="+mn-ea"/>
                  <a:cs typeface="+mn-cs"/>
                </a:rPr>
                <a:t>Figure 1 · Sensor data → BEV features → sparse polylines</a:t>
              </a:r>
            </a:p>
          </p:txBody>
        </p:sp>
        <p:sp>
          <p:nvSpPr>
            <p:cNvPr id="21" name="Rectangle 21"/>
            <p:cNvSpPr/>
            <p:nvPr/>
          </p:nvSpPr>
          <p:spPr>
            <a:xfrm>
              <a:off x="762000" y="3600450"/>
              <a:ext cx="1257300" cy="28575"/>
            </a:xfrm>
            <a:prstGeom prst="rect">
              <a:avLst/>
            </a:prstGeom>
            <a:solidFill>
              <a:schemeClr val="accent2"/>
            </a:solidFill>
            <a:ln>
              <a:noFill/>
            </a:ln>
          </p:spPr>
        </p:sp>
      </p:grpSp>
      <p:grpSp>
        <p:nvGrpSpPr>
          <p:cNvPr id="25" name="Group 25"/>
          <p:cNvGrpSpPr/>
          <p:nvPr/>
        </p:nvGrpSpPr>
        <p:grpSpPr>
          <a:xfrm>
            <a:off x="762000" y="3771900"/>
            <a:ext cx="8420100" cy="2724150"/>
            <a:chOff x="762000" y="3771900"/>
            <a:chExt cx="8420100" cy="2724150"/>
          </a:xfrm>
        </p:grpSpPr>
        <p:sp>
          <p:nvSpPr>
            <p:cNvPr id="23" name="Rectangle 23"/>
            <p:cNvSpPr/>
            <p:nvPr/>
          </p:nvSpPr>
          <p:spPr>
            <a:xfrm>
              <a:off x="762000" y="3771900"/>
              <a:ext cx="8420100" cy="2724150"/>
            </a:xfrm>
            <a:prstGeom prst="roundRect">
              <a:avLst>
                <a:gd name="adj" fmla="val 1399"/>
              </a:avLst>
            </a:prstGeom>
            <a:solidFill>
              <a:srgbClr val="F4F6F9"/>
            </a:solidFill>
            <a:ln>
              <a:noFill/>
            </a:ln>
          </p:spPr>
        </p:sp>
        <p:pic>
          <p:nvPicPr>
            <p:cNvPr id="24" name="Image 24"/>
            <p:cNvPicPr>
              <a:picLocks noChangeAspect="1"/>
            </p:cNvPicPr>
            <p:nvPr/>
          </p:nvPicPr>
          <p:blipFill>
            <a:blip r:embed="rId2"/>
            <a:stretch>
              <a:fillRect/>
            </a:stretch>
          </p:blipFill>
          <p:spPr>
            <a:xfrm>
              <a:off x="933450" y="3892421"/>
              <a:ext cx="8077200" cy="2483108"/>
            </a:xfrm>
            <a:prstGeom prst="rect">
              <a:avLst/>
            </a:prstGeom>
          </p:spPr>
        </p:pic>
      </p:grpSp>
      <p:grpSp>
        <p:nvGrpSpPr>
          <p:cNvPr id="36" name="Group 36"/>
          <p:cNvGrpSpPr/>
          <p:nvPr/>
        </p:nvGrpSpPr>
        <p:grpSpPr>
          <a:xfrm>
            <a:off x="9410700" y="3771900"/>
            <a:ext cx="2114550" cy="2724150"/>
            <a:chOff x="9410700" y="3771900"/>
            <a:chExt cx="2114550" cy="2724150"/>
          </a:xfrm>
        </p:grpSpPr>
        <p:sp>
          <p:nvSpPr>
            <p:cNvPr id="26" name="Rectangle 26"/>
            <p:cNvSpPr/>
            <p:nvPr/>
          </p:nvSpPr>
          <p:spPr>
            <a:xfrm>
              <a:off x="9410700" y="3771900"/>
              <a:ext cx="2114550" cy="2724150"/>
            </a:xfrm>
            <a:prstGeom prst="roundRect">
              <a:avLst>
                <a:gd name="adj" fmla="val 1802"/>
              </a:avLst>
            </a:prstGeom>
            <a:solidFill>
              <a:srgbClr val="F4F6F9"/>
            </a:solidFill>
            <a:ln>
              <a:noFill/>
            </a:ln>
          </p:spPr>
        </p:sp>
        <p:sp>
          <p:nvSpPr>
            <p:cNvPr id="27" name="Rectangle 27"/>
            <p:cNvSpPr/>
            <p:nvPr/>
          </p:nvSpPr>
          <p:spPr>
            <a:xfrm>
              <a:off x="9620250" y="3962400"/>
              <a:ext cx="800100" cy="800100"/>
            </a:xfrm>
            <a:prstGeom prst="roundRect">
              <a:avLst>
                <a:gd name="adj" fmla="val 4762"/>
              </a:avLst>
            </a:prstGeom>
            <a:solidFill>
              <a:schemeClr val="lt1"/>
            </a:solidFill>
            <a:ln w="14288">
              <a:solidFill>
                <a:schemeClr val="accent4"/>
              </a:solidFill>
            </a:ln>
          </p:spPr>
        </p:sp>
        <p:pic>
          <p:nvPicPr>
            <p:cNvPr id="28" name="Image 28"/>
            <p:cNvPicPr>
              <a:picLocks noChangeAspect="1"/>
            </p:cNvPicPr>
            <p:nvPr/>
          </p:nvPicPr>
          <p:blipFill>
            <a:blip r:embed="rId3"/>
            <a:stretch>
              <a:fillRect/>
            </a:stretch>
          </p:blipFill>
          <p:spPr>
            <a:xfrm>
              <a:off x="9677400" y="4019550"/>
              <a:ext cx="685800" cy="685800"/>
            </a:xfrm>
            <a:prstGeom prst="rect">
              <a:avLst/>
            </a:prstGeom>
          </p:spPr>
        </p:pic>
        <p:sp>
          <p:nvSpPr>
            <p:cNvPr id="29" name="TextBox 29"/>
            <p:cNvSpPr txBox="1"/>
            <p:nvPr/>
          </p:nvSpPr>
          <p:spPr>
            <a:xfrm>
              <a:off x="9837976" y="4812506"/>
              <a:ext cx="364647" cy="220028"/>
            </a:xfrm>
            <a:prstGeom prst="rect">
              <a:avLst/>
            </a:prstGeom>
            <a:noFill/>
            <a:ln>
              <a:noFill/>
            </a:ln>
          </p:spPr>
          <p:txBody>
            <a:bodyPr wrap="none" lIns="0" tIns="0" rIns="0" bIns="0" anchor="t" anchorCtr="0">
              <a:spAutoFit/>
            </a:bodyPr>
            <a:lstStyle/>
            <a:p>
              <a:pPr algn="ctr"/>
              <a:r>
                <a:rPr lang="en-US" sz="1120" b="1" dirty="0">
                  <a:solidFill>
                    <a:schemeClr val="dk2"/>
                  </a:solidFill>
                  <a:latin typeface="+mn-lt"/>
                  <a:ea typeface="+mn-ea"/>
                  <a:cs typeface="+mn-cs"/>
                </a:rPr>
                <a:t>Code</a:t>
              </a:r>
            </a:p>
          </p:txBody>
        </p:sp>
        <p:sp>
          <p:nvSpPr>
            <p:cNvPr id="30" name="Rectangle 30"/>
            <p:cNvSpPr/>
            <p:nvPr/>
          </p:nvSpPr>
          <p:spPr>
            <a:xfrm>
              <a:off x="10515600" y="3962400"/>
              <a:ext cx="800100" cy="800100"/>
            </a:xfrm>
            <a:prstGeom prst="roundRect">
              <a:avLst>
                <a:gd name="adj" fmla="val 4762"/>
              </a:avLst>
            </a:prstGeom>
            <a:solidFill>
              <a:schemeClr val="lt1"/>
            </a:solidFill>
            <a:ln w="14288">
              <a:solidFill>
                <a:schemeClr val="accent4"/>
              </a:solidFill>
            </a:ln>
          </p:spPr>
        </p:sp>
        <p:pic>
          <p:nvPicPr>
            <p:cNvPr id="31" name="Image 31"/>
            <p:cNvPicPr>
              <a:picLocks noChangeAspect="1"/>
            </p:cNvPicPr>
            <p:nvPr/>
          </p:nvPicPr>
          <p:blipFill>
            <a:blip r:embed="rId4"/>
            <a:stretch>
              <a:fillRect/>
            </a:stretch>
          </p:blipFill>
          <p:spPr>
            <a:xfrm>
              <a:off x="10572750" y="4019550"/>
              <a:ext cx="685800" cy="685800"/>
            </a:xfrm>
            <a:prstGeom prst="rect">
              <a:avLst/>
            </a:prstGeom>
          </p:spPr>
        </p:pic>
        <p:sp>
          <p:nvSpPr>
            <p:cNvPr id="32" name="TextBox 32"/>
            <p:cNvSpPr txBox="1"/>
            <p:nvPr/>
          </p:nvSpPr>
          <p:spPr>
            <a:xfrm>
              <a:off x="10689790" y="4812506"/>
              <a:ext cx="451720" cy="220028"/>
            </a:xfrm>
            <a:prstGeom prst="rect">
              <a:avLst/>
            </a:prstGeom>
            <a:noFill/>
            <a:ln>
              <a:noFill/>
            </a:ln>
          </p:spPr>
          <p:txBody>
            <a:bodyPr wrap="none" lIns="0" tIns="0" rIns="0" bIns="0" anchor="t" anchorCtr="0">
              <a:spAutoFit/>
            </a:bodyPr>
            <a:lstStyle/>
            <a:p>
              <a:pPr algn="ctr"/>
              <a:r>
                <a:rPr lang="en-US" sz="1120" b="1" dirty="0">
                  <a:solidFill>
                    <a:schemeClr val="dk2"/>
                  </a:solidFill>
                  <a:latin typeface="+mn-lt"/>
                  <a:ea typeface="+mn-ea"/>
                  <a:cs typeface="+mn-cs"/>
                </a:rPr>
                <a:t>Paper</a:t>
              </a:r>
            </a:p>
          </p:txBody>
        </p:sp>
        <p:pic>
          <p:nvPicPr>
            <p:cNvPr id="33" name="Image 33"/>
            <p:cNvPicPr>
              <a:picLocks noChangeAspect="1"/>
            </p:cNvPicPr>
            <p:nvPr/>
          </p:nvPicPr>
          <p:blipFill>
            <a:blip r:embed="rId5"/>
            <a:stretch>
              <a:fillRect/>
            </a:stretch>
          </p:blipFill>
          <p:spPr>
            <a:xfrm>
              <a:off x="9620250" y="5219700"/>
              <a:ext cx="1390650" cy="438150"/>
            </a:xfrm>
            <a:prstGeom prst="rect">
              <a:avLst/>
            </a:prstGeom>
          </p:spPr>
        </p:pic>
        <p:pic>
          <p:nvPicPr>
            <p:cNvPr id="34" name="Image 34"/>
            <p:cNvPicPr>
              <a:picLocks noChangeAspect="1"/>
            </p:cNvPicPr>
            <p:nvPr/>
          </p:nvPicPr>
          <p:blipFill>
            <a:blip r:embed="rId6"/>
            <a:stretch>
              <a:fillRect/>
            </a:stretch>
          </p:blipFill>
          <p:spPr>
            <a:xfrm>
              <a:off x="9620250" y="5772150"/>
              <a:ext cx="781050" cy="419100"/>
            </a:xfrm>
            <a:prstGeom prst="rect">
              <a:avLst/>
            </a:prstGeom>
          </p:spPr>
        </p:pic>
        <p:pic>
          <p:nvPicPr>
            <p:cNvPr id="35" name="Image 35"/>
            <p:cNvPicPr>
              <a:picLocks noChangeAspect="1"/>
            </p:cNvPicPr>
            <p:nvPr/>
          </p:nvPicPr>
          <p:blipFill>
            <a:blip r:embed="rId7"/>
            <a:stretch>
              <a:fillRect/>
            </a:stretch>
          </p:blipFill>
          <p:spPr>
            <a:xfrm>
              <a:off x="9983408" y="6267450"/>
              <a:ext cx="950084" cy="152400"/>
            </a:xfrm>
            <a:prstGeom prst="rect">
              <a:avLst/>
            </a:prstGeom>
          </p:spPr>
        </p:pic>
      </p:grpSp>
      <p:sp>
        <p:nvSpPr>
          <p:cNvPr id="37" name="cue_s01_c1_vectormapnet_first_end_to_end_pipeli" title="cue_s01_c1_vectormapnet_first_end_to_end_pipeli" descr="cue_s01_c1_vectormapnet_first_end_to_end_pipeli VectorMapNet is the first end-to-end pipeline that reads onboard camera and LiDAR data and directly predicts a sparse set of polylines, the vectorized map primitive planners actually use."/>
          <p:cNvSpPr/>
          <p:nvPr/>
        </p:nvSpPr>
        <p:spPr>
          <a:xfrm>
            <a:off x="762000" y="3771900"/>
            <a:ext cx="8419795" cy="27239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1_c2_skips_rasterization_entirely_sets_ne" title="cue_s01_c2_skips_rasterization_entirely_sets_ne" descr="cue_s01_c2_skips_rasterization_entirely_sets_ne It skips rasterization entirely and sets a new state of the art."/>
          <p:cNvSpPr/>
          <p:nvPr/>
        </p:nvSpPr>
        <p:spPr>
          <a:xfrm>
            <a:off x="8572195" y="666597"/>
            <a:ext cx="2952902" cy="16760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14300" cy="6858000"/>
          </a:xfrm>
          <a:prstGeom prst="rect">
            <a:avLst/>
          </a:prstGeom>
          <a:solidFill>
            <a:schemeClr val="accent2"/>
          </a:solidFill>
          <a:ln>
            <a:noFill/>
          </a:ln>
        </p:spPr>
        <p:txBody>
          <a:bodyPr/>
          <a:p/>
        </p:txBody>
      </p:sp>
      <p:grpSp>
        <p:nvGrpSpPr>
          <p:cNvPr id="5" name="Group 5"/>
          <p:cNvGrpSpPr/>
          <p:nvPr/>
        </p:nvGrpSpPr>
        <p:grpSpPr>
          <a:xfrm>
            <a:off x="745998" y="730568"/>
            <a:ext cx="9653066" cy="936117"/>
            <a:chOff x="745998" y="730568"/>
            <a:chExt cx="9653066" cy="936117"/>
          </a:xfrm>
        </p:grpSpPr>
        <p:sp>
          <p:nvSpPr>
            <p:cNvPr id="3" name="TextBox 3"/>
            <p:cNvSpPr txBox="1"/>
            <p:nvPr/>
          </p:nvSpPr>
          <p:spPr>
            <a:xfrm>
              <a:off x="755142" y="730568"/>
              <a:ext cx="1062647" cy="264033"/>
            </a:xfrm>
            <a:prstGeom prst="rect">
              <a:avLst/>
            </a:prstGeom>
            <a:noFill/>
            <a:ln>
              <a:noFill/>
            </a:ln>
          </p:spPr>
          <p:txBody>
            <a:bodyPr wrap="none" lIns="0" tIns="0" rIns="0" bIns="0" anchor="t" anchorCtr="0">
              <a:spAutoFit/>
            </a:bodyPr>
            <a:lstStyle/>
            <a:p>
              <a:pPr algn="l"/>
              <a:r>
                <a:rPr lang="en-US" sz="1350" b="1" spc="225" dirty="0">
                  <a:solidFill>
                    <a:schemeClr val="accent2"/>
                  </a:solidFill>
                  <a:latin typeface="+mn-lt"/>
                  <a:ea typeface="+mn-ea"/>
                  <a:cs typeface="+mn-cs"/>
                </a:rPr>
                <a:t>PROBLEM</a:t>
              </a:r>
            </a:p>
          </p:txBody>
        </p:sp>
        <p:sp>
          <p:nvSpPr>
            <p:cNvPr id="4" name="TextBox 4"/>
            <p:cNvSpPr txBox="1"/>
            <p:nvPr/>
          </p:nvSpPr>
          <p:spPr>
            <a:xfrm>
              <a:off x="745998" y="1050608"/>
              <a:ext cx="9653066" cy="616077"/>
            </a:xfrm>
            <a:prstGeom prst="rect">
              <a:avLst/>
            </a:prstGeom>
            <a:noFill/>
            <a:ln>
              <a:noFill/>
            </a:ln>
          </p:spPr>
          <p:txBody>
            <a:bodyPr wrap="none" lIns="0" tIns="0" rIns="0" bIns="0" anchor="t" anchorCtr="0">
              <a:spAutoFit/>
            </a:bodyPr>
            <a:lstStyle/>
            <a:p>
              <a:pPr algn="l"/>
              <a:r>
                <a:rPr lang="en-US" sz="3150" b="1" spc="-75" dirty="0">
                  <a:solidFill>
                    <a:schemeClr val="dk1"/>
                  </a:solidFill>
                  <a:latin typeface="+mn-lt"/>
                  <a:ea typeface="+mn-ea"/>
                  <a:cs typeface="+mn-cs"/>
                </a:rPr>
                <a:t>Rasterized maps are not what a planner wants</a:t>
              </a:r>
            </a:p>
          </p:txBody>
        </p:sp>
      </p:grpSp>
      <p:grpSp>
        <p:nvGrpSpPr>
          <p:cNvPr id="11" name="Group 11"/>
          <p:cNvGrpSpPr/>
          <p:nvPr/>
        </p:nvGrpSpPr>
        <p:grpSpPr>
          <a:xfrm>
            <a:off x="762000" y="1943100"/>
            <a:ext cx="3295650" cy="4305300"/>
            <a:chOff x="762000" y="1943100"/>
            <a:chExt cx="3295650" cy="4305300"/>
          </a:xfrm>
        </p:grpSpPr>
        <p:sp>
          <p:nvSpPr>
            <p:cNvPr id="6" name="Rectangle 6"/>
            <p:cNvSpPr/>
            <p:nvPr/>
          </p:nvSpPr>
          <p:spPr>
            <a:xfrm>
              <a:off x="762000" y="1943100"/>
              <a:ext cx="3295650" cy="4305300"/>
            </a:xfrm>
            <a:prstGeom prst="roundRect">
              <a:avLst>
                <a:gd name="adj" fmla="val 1156"/>
              </a:avLst>
            </a:prstGeom>
            <a:solidFill>
              <a:srgbClr val="F4F6F9"/>
            </a:solidFill>
            <a:ln>
              <a:noFill/>
            </a:ln>
          </p:spPr>
        </p:sp>
        <p:sp>
          <p:nvSpPr>
            <p:cNvPr id="7" name="Rectangle 7"/>
            <p:cNvSpPr/>
            <p:nvPr/>
          </p:nvSpPr>
          <p:spPr>
            <a:xfrm>
              <a:off x="762000" y="1943100"/>
              <a:ext cx="3295650" cy="57150"/>
            </a:xfrm>
            <a:prstGeom prst="rect">
              <a:avLst/>
            </a:prstGeom>
            <a:solidFill>
              <a:schemeClr val="accent2"/>
            </a:solidFill>
            <a:ln>
              <a:noFill/>
            </a:ln>
          </p:spPr>
        </p:sp>
        <p:sp>
          <p:nvSpPr>
            <p:cNvPr id="8" name="TextBox 8"/>
            <p:cNvSpPr txBox="1"/>
            <p:nvPr/>
          </p:nvSpPr>
          <p:spPr>
            <a:xfrm>
              <a:off x="1011174" y="2351722"/>
              <a:ext cx="571479" cy="674751"/>
            </a:xfrm>
            <a:prstGeom prst="rect">
              <a:avLst/>
            </a:prstGeom>
            <a:noFill/>
            <a:ln>
              <a:noFill/>
            </a:ln>
          </p:spPr>
          <p:txBody>
            <a:bodyPr wrap="none" lIns="0" tIns="0" rIns="0" bIns="0" anchor="t" anchorCtr="0">
              <a:spAutoFit/>
            </a:bodyPr>
            <a:lstStyle/>
            <a:p>
              <a:pPr algn="l"/>
              <a:r>
                <a:rPr lang="en-US" sz="3450" b="1" dirty="0">
                  <a:solidFill>
                    <a:schemeClr val="accent2"/>
                  </a:solidFill>
                  <a:latin typeface="+mn-lt"/>
                  <a:ea typeface="+mn-ea"/>
                  <a:cs typeface="+mn-cs"/>
                </a:rPr>
                <a:t>01</a:t>
              </a:r>
            </a:p>
          </p:txBody>
        </p:sp>
        <p:sp>
          <p:nvSpPr>
            <p:cNvPr id="9" name="TextBox 9"/>
            <p:cNvSpPr txBox="1"/>
            <p:nvPr/>
          </p:nvSpPr>
          <p:spPr>
            <a:xfrm>
              <a:off x="1018794" y="2989898"/>
              <a:ext cx="2536959" cy="381381"/>
            </a:xfrm>
            <a:prstGeom prst="rect">
              <a:avLst/>
            </a:prstGeom>
            <a:noFill/>
            <a:ln>
              <a:noFill/>
            </a:ln>
          </p:spPr>
          <p:txBody>
            <a:bodyPr wrap="none" lIns="0" tIns="0" rIns="0" bIns="0" anchor="t" anchorCtr="0">
              <a:spAutoFit/>
            </a:bodyPr>
            <a:lstStyle/>
            <a:p>
              <a:pPr algn="l"/>
              <a:r>
                <a:rPr lang="en-US" sz="1950" b="1" dirty="0">
                  <a:solidFill>
                    <a:schemeClr val="dk1"/>
                  </a:solidFill>
                  <a:latin typeface="+mn-lt"/>
                  <a:ea typeface="+mn-ea"/>
                  <a:cs typeface="+mn-cs"/>
                </a:rPr>
                <a:t>What driving needs</a:t>
              </a:r>
            </a:p>
          </p:txBody>
        </p:sp>
        <p:sp>
          <p:nvSpPr>
            <p:cNvPr id="10" name="TextBox 10"/>
            <p:cNvSpPr txBox="1"/>
            <p:nvPr/>
          </p:nvSpPr>
          <p:spPr>
            <a:xfrm>
              <a:off x="1021080" y="3495675"/>
              <a:ext cx="2606040" cy="1150620"/>
            </a:xfrm>
            <a:prstGeom prst="rect">
              <a:avLst/>
            </a:prstGeom>
            <a:noFill/>
            <a:ln>
              <a:noFill/>
            </a:ln>
          </p:spPr>
          <p:txBody>
            <a:bodyPr wrap="square" lIns="0" tIns="0" rIns="0" bIns="0" anchor="t" anchorCtr="0"/>
            <a:lstStyle/>
            <a:p>
              <a:pPr algn="l">
                <a:lnSpc>
                  <a:spcPts val="2250"/>
                </a:lnSpc>
              </a:pPr>
              <a:r>
                <a:rPr lang="en-US" sz="1500" dirty="0">
                  <a:solidFill>
                    <a:schemeClr val="dk2"/>
                  </a:solidFill>
                  <a:latin typeface="+mn-lt"/>
                  <a:ea typeface="+mn-ea"/>
                  <a:cs typeface="+mn-cs"/>
                </a:rPr>
                <a:t>Self-driving cars need HD semantic maps that mark lanes, road boundaries, and pedestrian crossings.</a:t>
              </a:r>
            </a:p>
          </p:txBody>
        </p:sp>
      </p:grpSp>
      <p:grpSp>
        <p:nvGrpSpPr>
          <p:cNvPr id="17" name="Group 17"/>
          <p:cNvGrpSpPr/>
          <p:nvPr/>
        </p:nvGrpSpPr>
        <p:grpSpPr>
          <a:xfrm>
            <a:off x="4314825" y="1943100"/>
            <a:ext cx="3295650" cy="4305300"/>
            <a:chOff x="4314825" y="1943100"/>
            <a:chExt cx="3295650" cy="4305300"/>
          </a:xfrm>
        </p:grpSpPr>
        <p:sp>
          <p:nvSpPr>
            <p:cNvPr id="12" name="Rectangle 12"/>
            <p:cNvSpPr/>
            <p:nvPr/>
          </p:nvSpPr>
          <p:spPr>
            <a:xfrm>
              <a:off x="4314825" y="1943100"/>
              <a:ext cx="3295650" cy="4305300"/>
            </a:xfrm>
            <a:prstGeom prst="roundRect">
              <a:avLst>
                <a:gd name="adj" fmla="val 1156"/>
              </a:avLst>
            </a:prstGeom>
            <a:solidFill>
              <a:srgbClr val="F4F6F9"/>
            </a:solidFill>
            <a:ln>
              <a:noFill/>
            </a:ln>
          </p:spPr>
        </p:sp>
        <p:sp>
          <p:nvSpPr>
            <p:cNvPr id="13" name="Rectangle 13"/>
            <p:cNvSpPr/>
            <p:nvPr/>
          </p:nvSpPr>
          <p:spPr>
            <a:xfrm>
              <a:off x="4314825" y="1943100"/>
              <a:ext cx="3295650" cy="57150"/>
            </a:xfrm>
            <a:prstGeom prst="rect">
              <a:avLst/>
            </a:prstGeom>
            <a:solidFill>
              <a:schemeClr val="accent2"/>
            </a:solidFill>
            <a:ln>
              <a:noFill/>
            </a:ln>
          </p:spPr>
        </p:sp>
        <p:sp>
          <p:nvSpPr>
            <p:cNvPr id="14" name="TextBox 14"/>
            <p:cNvSpPr txBox="1"/>
            <p:nvPr/>
          </p:nvSpPr>
          <p:spPr>
            <a:xfrm>
              <a:off x="4563999" y="2351722"/>
              <a:ext cx="571479" cy="674751"/>
            </a:xfrm>
            <a:prstGeom prst="rect">
              <a:avLst/>
            </a:prstGeom>
            <a:noFill/>
            <a:ln>
              <a:noFill/>
            </a:ln>
          </p:spPr>
          <p:txBody>
            <a:bodyPr wrap="none" lIns="0" tIns="0" rIns="0" bIns="0" anchor="t" anchorCtr="0">
              <a:spAutoFit/>
            </a:bodyPr>
            <a:lstStyle/>
            <a:p>
              <a:pPr algn="l"/>
              <a:r>
                <a:rPr lang="en-US" sz="3450" b="1" dirty="0">
                  <a:solidFill>
                    <a:schemeClr val="accent2"/>
                  </a:solidFill>
                  <a:latin typeface="+mn-lt"/>
                  <a:ea typeface="+mn-ea"/>
                  <a:cs typeface="+mn-cs"/>
                </a:rPr>
                <a:t>02</a:t>
              </a:r>
            </a:p>
          </p:txBody>
        </p:sp>
        <p:sp>
          <p:nvSpPr>
            <p:cNvPr id="15" name="TextBox 15"/>
            <p:cNvSpPr txBox="1"/>
            <p:nvPr/>
          </p:nvSpPr>
          <p:spPr>
            <a:xfrm>
              <a:off x="4571619" y="2989898"/>
              <a:ext cx="2468382" cy="381381"/>
            </a:xfrm>
            <a:prstGeom prst="rect">
              <a:avLst/>
            </a:prstGeom>
            <a:noFill/>
            <a:ln>
              <a:noFill/>
            </a:ln>
          </p:spPr>
          <p:txBody>
            <a:bodyPr wrap="none" lIns="0" tIns="0" rIns="0" bIns="0" anchor="t" anchorCtr="0">
              <a:spAutoFit/>
            </a:bodyPr>
            <a:lstStyle/>
            <a:p>
              <a:pPr algn="l"/>
              <a:r>
                <a:rPr lang="en-US" sz="1950" b="1" dirty="0">
                  <a:solidFill>
                    <a:schemeClr val="dk1"/>
                  </a:solidFill>
                  <a:latin typeface="+mn-lt"/>
                  <a:ea typeface="+mn-ea"/>
                  <a:cs typeface="+mn-cs"/>
                </a:rPr>
                <a:t>Annotated by hand</a:t>
              </a:r>
            </a:p>
          </p:txBody>
        </p:sp>
        <p:sp>
          <p:nvSpPr>
            <p:cNvPr id="16" name="TextBox 16"/>
            <p:cNvSpPr txBox="1"/>
            <p:nvPr/>
          </p:nvSpPr>
          <p:spPr>
            <a:xfrm>
              <a:off x="4573905" y="3495675"/>
              <a:ext cx="2682240" cy="1150620"/>
            </a:xfrm>
            <a:prstGeom prst="rect">
              <a:avLst/>
            </a:prstGeom>
            <a:noFill/>
            <a:ln>
              <a:noFill/>
            </a:ln>
          </p:spPr>
          <p:txBody>
            <a:bodyPr wrap="square" lIns="0" tIns="0" rIns="0" bIns="0" anchor="t" anchorCtr="0"/>
            <a:lstStyle/>
            <a:p>
              <a:pPr algn="l">
                <a:lnSpc>
                  <a:spcPts val="2250"/>
                </a:lnSpc>
              </a:pPr>
              <a:r>
                <a:rPr lang="en-US" sz="1500" dirty="0">
                  <a:solidFill>
                    <a:schemeClr val="dk2"/>
                  </a:solidFill>
                  <a:latin typeface="+mn-lt"/>
                  <a:ea typeface="+mn-ea"/>
                  <a:cs typeface="+mn-cs"/>
                </a:rPr>
                <a:t>Today these maps are mostly built manually — expensive and impossible to scale across the world's cities.</a:t>
              </a:r>
            </a:p>
          </p:txBody>
        </p:sp>
      </p:grpSp>
      <p:grpSp>
        <p:nvGrpSpPr>
          <p:cNvPr id="23" name="Group 23"/>
          <p:cNvGrpSpPr/>
          <p:nvPr/>
        </p:nvGrpSpPr>
        <p:grpSpPr>
          <a:xfrm>
            <a:off x="7867650" y="1943100"/>
            <a:ext cx="3295650" cy="4305300"/>
            <a:chOff x="7867650" y="1943100"/>
            <a:chExt cx="3295650" cy="4305300"/>
          </a:xfrm>
        </p:grpSpPr>
        <p:sp>
          <p:nvSpPr>
            <p:cNvPr id="18" name="Rectangle 18"/>
            <p:cNvSpPr/>
            <p:nvPr/>
          </p:nvSpPr>
          <p:spPr>
            <a:xfrm>
              <a:off x="7867650" y="1943100"/>
              <a:ext cx="3295650" cy="4305300"/>
            </a:xfrm>
            <a:prstGeom prst="roundRect">
              <a:avLst>
                <a:gd name="adj" fmla="val 1156"/>
              </a:avLst>
            </a:prstGeom>
            <a:solidFill>
              <a:srgbClr val="F4F6F9"/>
            </a:solidFill>
            <a:ln>
              <a:noFill/>
            </a:ln>
          </p:spPr>
        </p:sp>
        <p:sp>
          <p:nvSpPr>
            <p:cNvPr id="19" name="Rectangle 19"/>
            <p:cNvSpPr/>
            <p:nvPr/>
          </p:nvSpPr>
          <p:spPr>
            <a:xfrm>
              <a:off x="7867650" y="1943100"/>
              <a:ext cx="3295650" cy="57150"/>
            </a:xfrm>
            <a:prstGeom prst="rect">
              <a:avLst/>
            </a:prstGeom>
            <a:solidFill>
              <a:schemeClr val="accent2"/>
            </a:solidFill>
            <a:ln>
              <a:noFill/>
            </a:ln>
          </p:spPr>
        </p:sp>
        <p:sp>
          <p:nvSpPr>
            <p:cNvPr id="20" name="TextBox 20"/>
            <p:cNvSpPr txBox="1"/>
            <p:nvPr/>
          </p:nvSpPr>
          <p:spPr>
            <a:xfrm>
              <a:off x="8116824" y="2351722"/>
              <a:ext cx="571479" cy="674751"/>
            </a:xfrm>
            <a:prstGeom prst="rect">
              <a:avLst/>
            </a:prstGeom>
            <a:noFill/>
            <a:ln>
              <a:noFill/>
            </a:ln>
          </p:spPr>
          <p:txBody>
            <a:bodyPr wrap="none" lIns="0" tIns="0" rIns="0" bIns="0" anchor="t" anchorCtr="0">
              <a:spAutoFit/>
            </a:bodyPr>
            <a:lstStyle/>
            <a:p>
              <a:pPr algn="l"/>
              <a:r>
                <a:rPr lang="en-US" sz="3450" b="1" dirty="0">
                  <a:solidFill>
                    <a:schemeClr val="accent2"/>
                  </a:solidFill>
                  <a:latin typeface="+mn-lt"/>
                  <a:ea typeface="+mn-ea"/>
                  <a:cs typeface="+mn-cs"/>
                </a:rPr>
                <a:t>03</a:t>
              </a:r>
            </a:p>
          </p:txBody>
        </p:sp>
        <p:sp>
          <p:nvSpPr>
            <p:cNvPr id="21" name="TextBox 21"/>
            <p:cNvSpPr txBox="1"/>
            <p:nvPr/>
          </p:nvSpPr>
          <p:spPr>
            <a:xfrm>
              <a:off x="8124444" y="2989898"/>
              <a:ext cx="2260876" cy="381381"/>
            </a:xfrm>
            <a:prstGeom prst="rect">
              <a:avLst/>
            </a:prstGeom>
            <a:noFill/>
            <a:ln>
              <a:noFill/>
            </a:ln>
          </p:spPr>
          <p:txBody>
            <a:bodyPr wrap="none" lIns="0" tIns="0" rIns="0" bIns="0" anchor="t" anchorCtr="0">
              <a:spAutoFit/>
            </a:bodyPr>
            <a:lstStyle/>
            <a:p>
              <a:pPr algn="l"/>
              <a:r>
                <a:rPr lang="en-US" sz="1950" b="1" dirty="0">
                  <a:solidFill>
                    <a:schemeClr val="dk1"/>
                  </a:solidFill>
                  <a:latin typeface="+mn-lt"/>
                  <a:ea typeface="+mn-ea"/>
                  <a:cs typeface="+mn-cs"/>
                </a:rPr>
                <a:t>Dense pixel grids</a:t>
              </a:r>
            </a:p>
          </p:txBody>
        </p:sp>
        <p:sp>
          <p:nvSpPr>
            <p:cNvPr id="22" name="TextBox 22"/>
            <p:cNvSpPr txBox="1"/>
            <p:nvPr/>
          </p:nvSpPr>
          <p:spPr>
            <a:xfrm>
              <a:off x="8126730" y="3495675"/>
              <a:ext cx="2920365" cy="1436370"/>
            </a:xfrm>
            <a:prstGeom prst="rect">
              <a:avLst/>
            </a:prstGeom>
            <a:noFill/>
            <a:ln>
              <a:noFill/>
            </a:ln>
          </p:spPr>
          <p:txBody>
            <a:bodyPr wrap="square" lIns="0" tIns="0" rIns="0" bIns="0" anchor="t" anchorCtr="0"/>
            <a:lstStyle/>
            <a:p>
              <a:pPr algn="l">
                <a:lnSpc>
                  <a:spcPts val="2250"/>
                </a:lnSpc>
              </a:pPr>
              <a:r>
                <a:rPr lang="en-US" sz="1500" dirty="0">
                  <a:solidFill>
                    <a:schemeClr val="dk2"/>
                  </a:solidFill>
                  <a:latin typeface="+mn-lt"/>
                  <a:ea typeface="+mn-ea"/>
                  <a:cs typeface="+mn-cs"/>
                </a:rPr>
                <a:t>A BEV pixel grid carries no individual elements, is hard to keep consistent, and needs brittle post-processing before a planner can use it.</a:t>
              </a:r>
            </a:p>
          </p:txBody>
        </p:sp>
      </p:grpSp>
      <p:sp>
        <p:nvSpPr>
          <p:cNvPr id="24" name="cue_s02_c1_self_driving_cars_need_maps_marking" title="cue_s02_c1_self_driving_cars_need_maps_marking" descr="cue_s02_c1_self_driving_cars_need_maps_marking Self-driving cars need HD maps marking lanes, boundaries, and crosswalks."/>
          <p:cNvSpPr/>
          <p:nvPr/>
        </p:nvSpPr>
        <p:spPr>
          <a:xfrm>
            <a:off x="762000" y="1942871"/>
            <a:ext cx="3295497" cy="43054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ue_s02_c2_today_these_annotated_hand_which" title="cue_s02_c2_today_these_annotated_hand_which" descr="cue_s02_c2_today_these_annotated_hand_which Today these are annotated by hand, which is costly and does not scale."/>
          <p:cNvSpPr/>
          <p:nvPr/>
        </p:nvSpPr>
        <p:spPr>
          <a:xfrm>
            <a:off x="4314748" y="1942871"/>
            <a:ext cx="3295497" cy="43054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ue_s02_c3_learning_methods_instead_predict_den" title="cue_s02_c3_learning_methods_instead_predict_den" descr="cue_s02_c3_learning_methods_instead_predict_den Learning methods instead predict a dense pixel grid, but a grid carries no individual elements and needs brittle post-processing before a planner can use it."/>
          <p:cNvSpPr/>
          <p:nvPr/>
        </p:nvSpPr>
        <p:spPr>
          <a:xfrm>
            <a:off x="7867497" y="1942871"/>
            <a:ext cx="3295497" cy="43054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14300" cy="6858000"/>
          </a:xfrm>
          <a:prstGeom prst="rect">
            <a:avLst/>
          </a:prstGeom>
          <a:solidFill>
            <a:schemeClr val="accent2"/>
          </a:solidFill>
          <a:ln>
            <a:noFill/>
          </a:ln>
        </p:spPr>
        <p:txBody>
          <a:bodyPr/>
          <a:p/>
        </p:txBody>
      </p:sp>
      <p:grpSp>
        <p:nvGrpSpPr>
          <p:cNvPr id="5" name="Group 5"/>
          <p:cNvGrpSpPr/>
          <p:nvPr/>
        </p:nvGrpSpPr>
        <p:grpSpPr>
          <a:xfrm>
            <a:off x="745998" y="730568"/>
            <a:ext cx="6163871" cy="936117"/>
            <a:chOff x="745998" y="730568"/>
            <a:chExt cx="6163871" cy="936117"/>
          </a:xfrm>
        </p:grpSpPr>
        <p:sp>
          <p:nvSpPr>
            <p:cNvPr id="3" name="TextBox 3"/>
            <p:cNvSpPr txBox="1"/>
            <p:nvPr/>
          </p:nvSpPr>
          <p:spPr>
            <a:xfrm>
              <a:off x="755142" y="730568"/>
              <a:ext cx="1430853" cy="264033"/>
            </a:xfrm>
            <a:prstGeom prst="rect">
              <a:avLst/>
            </a:prstGeom>
            <a:noFill/>
            <a:ln>
              <a:noFill/>
            </a:ln>
          </p:spPr>
          <p:txBody>
            <a:bodyPr wrap="none" lIns="0" tIns="0" rIns="0" bIns="0" anchor="t" anchorCtr="0">
              <a:spAutoFit/>
            </a:bodyPr>
            <a:lstStyle/>
            <a:p>
              <a:pPr algn="l"/>
              <a:r>
                <a:rPr lang="en-US" sz="1350" b="1" spc="225" dirty="0">
                  <a:solidFill>
                    <a:schemeClr val="accent2"/>
                  </a:solidFill>
                  <a:latin typeface="+mn-lt"/>
                  <a:ea typeface="+mn-ea"/>
                  <a:cs typeface="+mn-cs"/>
                </a:rPr>
                <a:t>MOTIVATION</a:t>
              </a:r>
            </a:p>
          </p:txBody>
        </p:sp>
        <p:sp>
          <p:nvSpPr>
            <p:cNvPr id="4" name="TextBox 4"/>
            <p:cNvSpPr txBox="1"/>
            <p:nvPr/>
          </p:nvSpPr>
          <p:spPr>
            <a:xfrm>
              <a:off x="745998" y="1050608"/>
              <a:ext cx="6163871" cy="616077"/>
            </a:xfrm>
            <a:prstGeom prst="rect">
              <a:avLst/>
            </a:prstGeom>
            <a:noFill/>
            <a:ln>
              <a:noFill/>
            </a:ln>
          </p:spPr>
          <p:txBody>
            <a:bodyPr wrap="none" lIns="0" tIns="0" rIns="0" bIns="0" anchor="t" anchorCtr="0">
              <a:spAutoFit/>
            </a:bodyPr>
            <a:lstStyle/>
            <a:p>
              <a:pPr algn="l"/>
              <a:r>
                <a:rPr lang="en-US" sz="3150" b="1" spc="-75" dirty="0">
                  <a:solidFill>
                    <a:schemeClr val="dk1"/>
                  </a:solidFill>
                  <a:latin typeface="+mn-lt"/>
                  <a:ea typeface="+mn-ea"/>
                  <a:cs typeface="+mn-cs"/>
                </a:rPr>
                <a:t>Predict geometry, end to end</a:t>
              </a:r>
            </a:p>
          </p:txBody>
        </p:sp>
      </p:grpSp>
      <p:grpSp>
        <p:nvGrpSpPr>
          <p:cNvPr id="9" name="Group 9"/>
          <p:cNvGrpSpPr/>
          <p:nvPr/>
        </p:nvGrpSpPr>
        <p:grpSpPr>
          <a:xfrm>
            <a:off x="750570" y="2024062"/>
            <a:ext cx="7842068" cy="1278255"/>
            <a:chOff x="750570" y="2024062"/>
            <a:chExt cx="7842068" cy="1278255"/>
          </a:xfrm>
        </p:grpSpPr>
        <p:sp>
          <p:nvSpPr>
            <p:cNvPr id="6" name="TextBox 6"/>
            <p:cNvSpPr txBox="1"/>
            <p:nvPr/>
          </p:nvSpPr>
          <p:spPr>
            <a:xfrm>
              <a:off x="750570" y="2024062"/>
              <a:ext cx="7842068"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 xml:space="preserve">Mapping should happen </a:t>
              </a:r>
              <a:r>
                <a:rPr lang="en-US" sz="2250" b="1" dirty="0">
                  <a:solidFill>
                    <a:schemeClr val="accent2"/>
                  </a:solidFill>
                  <a:latin typeface="+mn-lt"/>
                  <a:ea typeface="+mn-ea"/>
                  <a:cs typeface="+mn-cs"/>
                </a:rPr>
                <a:t>online</a:t>
              </a:r>
              <a:r>
                <a:rPr lang="en-US" sz="2250" b="1" dirty="0">
                  <a:solidFill>
                    <a:schemeClr val="dk1"/>
                  </a:solidFill>
                  <a:latin typeface="+mn-lt"/>
                  <a:ea typeface="+mn-ea"/>
                  <a:cs typeface="+mn-cs"/>
                </a:rPr>
                <a:t xml:space="preserve"> — from the car's own</a:t>
              </a:r>
            </a:p>
          </p:txBody>
        </p:sp>
        <p:sp>
          <p:nvSpPr>
            <p:cNvPr id="7" name="TextBox 7"/>
            <p:cNvSpPr txBox="1"/>
            <p:nvPr/>
          </p:nvSpPr>
          <p:spPr>
            <a:xfrm>
              <a:off x="750570" y="2443162"/>
              <a:ext cx="7541326"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cameras and LiDAR — and the model should output</a:t>
              </a:r>
            </a:p>
          </p:txBody>
        </p:sp>
        <p:sp>
          <p:nvSpPr>
            <p:cNvPr id="8" name="TextBox 8"/>
            <p:cNvSpPr txBox="1"/>
            <p:nvPr/>
          </p:nvSpPr>
          <p:spPr>
            <a:xfrm>
              <a:off x="750570" y="2862262"/>
              <a:ext cx="4698044"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 xml:space="preserve">the final </a:t>
              </a:r>
              <a:r>
                <a:rPr lang="en-US" sz="2250" b="1" dirty="0">
                  <a:solidFill>
                    <a:schemeClr val="accent2"/>
                  </a:solidFill>
                  <a:latin typeface="+mn-lt"/>
                  <a:ea typeface="+mn-ea"/>
                  <a:cs typeface="+mn-cs"/>
                </a:rPr>
                <a:t>vector map directly</a:t>
              </a:r>
              <a:r>
                <a:rPr lang="en-US" sz="2250" b="1" dirty="0">
                  <a:solidFill>
                    <a:schemeClr val="dk1"/>
                  </a:solidFill>
                  <a:latin typeface="+mn-lt"/>
                  <a:ea typeface="+mn-ea"/>
                  <a:cs typeface="+mn-cs"/>
                </a:rPr>
                <a:t>.</a:t>
              </a:r>
            </a:p>
          </p:txBody>
        </p:sp>
      </p:grpSp>
      <p:grpSp>
        <p:nvGrpSpPr>
          <p:cNvPr id="31" name="Group 31"/>
          <p:cNvGrpSpPr/>
          <p:nvPr/>
        </p:nvGrpSpPr>
        <p:grpSpPr>
          <a:xfrm>
            <a:off x="755904" y="4175760"/>
            <a:ext cx="9534952" cy="2148840"/>
            <a:chOff x="755904" y="4175760"/>
            <a:chExt cx="9534952" cy="2148840"/>
          </a:xfrm>
        </p:grpSpPr>
        <p:sp>
          <p:nvSpPr>
            <p:cNvPr id="10" name="TextBox 10"/>
            <p:cNvSpPr txBox="1"/>
            <p:nvPr/>
          </p:nvSpPr>
          <p:spPr>
            <a:xfrm>
              <a:off x="755904" y="4175760"/>
              <a:ext cx="1659040" cy="234696"/>
            </a:xfrm>
            <a:prstGeom prst="rect">
              <a:avLst/>
            </a:prstGeom>
            <a:noFill/>
            <a:ln>
              <a:noFill/>
            </a:ln>
          </p:spPr>
          <p:txBody>
            <a:bodyPr wrap="none" lIns="0" tIns="0" rIns="0" bIns="0" anchor="t" anchorCtr="0">
              <a:spAutoFit/>
            </a:bodyPr>
            <a:lstStyle/>
            <a:p>
              <a:pPr algn="l"/>
              <a:r>
                <a:rPr lang="en-US" sz="1200" b="1" spc="75" dirty="0">
                  <a:solidFill>
                    <a:schemeClr val="accent6"/>
                  </a:solidFill>
                  <a:latin typeface="+mn-lt"/>
                  <a:ea typeface="+mn-ea"/>
                  <a:cs typeface="+mn-cs"/>
                </a:rPr>
                <a:t>PRIOR · HDMapNet</a:t>
              </a:r>
            </a:p>
          </p:txBody>
        </p:sp>
        <p:sp>
          <p:nvSpPr>
            <p:cNvPr id="11" name="Rectangle 11"/>
            <p:cNvSpPr/>
            <p:nvPr/>
          </p:nvSpPr>
          <p:spPr>
            <a:xfrm>
              <a:off x="762000" y="4495800"/>
              <a:ext cx="1428750" cy="533400"/>
            </a:xfrm>
            <a:prstGeom prst="roundRect">
              <a:avLst>
                <a:gd name="adj" fmla="val 7143"/>
              </a:avLst>
            </a:prstGeom>
            <a:solidFill>
              <a:srgbClr val="F4F6F9"/>
            </a:solidFill>
            <a:ln w="14288">
              <a:solidFill>
                <a:schemeClr val="accent4"/>
              </a:solidFill>
            </a:ln>
          </p:spPr>
        </p:sp>
        <p:sp>
          <p:nvSpPr>
            <p:cNvPr id="12" name="TextBox 12"/>
            <p:cNvSpPr txBox="1"/>
            <p:nvPr/>
          </p:nvSpPr>
          <p:spPr>
            <a:xfrm>
              <a:off x="1099211" y="4673918"/>
              <a:ext cx="754329" cy="264033"/>
            </a:xfrm>
            <a:prstGeom prst="rect">
              <a:avLst/>
            </a:prstGeom>
            <a:noFill/>
            <a:ln>
              <a:noFill/>
            </a:ln>
          </p:spPr>
          <p:txBody>
            <a:bodyPr wrap="none" lIns="0" tIns="0" rIns="0" bIns="0" anchor="t" anchorCtr="0">
              <a:spAutoFit/>
            </a:bodyPr>
            <a:lstStyle/>
            <a:p>
              <a:pPr algn="ctr"/>
              <a:r>
                <a:rPr lang="en-US" sz="1350" b="1" dirty="0">
                  <a:solidFill>
                    <a:schemeClr val="dk2"/>
                  </a:solidFill>
                  <a:latin typeface="+mn-lt"/>
                  <a:ea typeface="+mn-ea"/>
                  <a:cs typeface="+mn-cs"/>
                </a:rPr>
                <a:t>Sensors</a:t>
              </a:r>
            </a:p>
          </p:txBody>
        </p:sp>
        <p:sp>
          <p:nvSpPr>
            <p:cNvPr id="13" name="Rectangle 13"/>
            <p:cNvSpPr/>
            <p:nvPr/>
          </p:nvSpPr>
          <p:spPr>
            <a:xfrm>
              <a:off x="2724150" y="4495800"/>
              <a:ext cx="1676400" cy="533400"/>
            </a:xfrm>
            <a:prstGeom prst="roundRect">
              <a:avLst>
                <a:gd name="adj" fmla="val 7143"/>
              </a:avLst>
            </a:prstGeom>
            <a:solidFill>
              <a:srgbClr val="F4F6F9"/>
            </a:solidFill>
            <a:ln w="14288">
              <a:solidFill>
                <a:schemeClr val="accent4"/>
              </a:solidFill>
            </a:ln>
          </p:spPr>
        </p:sp>
        <p:sp>
          <p:nvSpPr>
            <p:cNvPr id="14" name="TextBox 14"/>
            <p:cNvSpPr txBox="1"/>
            <p:nvPr/>
          </p:nvSpPr>
          <p:spPr>
            <a:xfrm>
              <a:off x="2846370" y="4673918"/>
              <a:ext cx="1431961" cy="264033"/>
            </a:xfrm>
            <a:prstGeom prst="rect">
              <a:avLst/>
            </a:prstGeom>
            <a:noFill/>
            <a:ln>
              <a:noFill/>
            </a:ln>
          </p:spPr>
          <p:txBody>
            <a:bodyPr wrap="none" lIns="0" tIns="0" rIns="0" bIns="0" anchor="t" anchorCtr="0">
              <a:spAutoFit/>
            </a:bodyPr>
            <a:lstStyle/>
            <a:p>
              <a:pPr algn="ctr"/>
              <a:r>
                <a:rPr lang="en-US" sz="1350" b="1" dirty="0">
                  <a:solidFill>
                    <a:schemeClr val="dk2"/>
                  </a:solidFill>
                  <a:latin typeface="+mn-lt"/>
                  <a:ea typeface="+mn-ea"/>
                  <a:cs typeface="+mn-cs"/>
                </a:rPr>
                <a:t>Rasterized map</a:t>
              </a:r>
            </a:p>
          </p:txBody>
        </p:sp>
        <p:sp>
          <p:nvSpPr>
            <p:cNvPr id="15" name="Rectangle 15"/>
            <p:cNvSpPr/>
            <p:nvPr/>
          </p:nvSpPr>
          <p:spPr>
            <a:xfrm>
              <a:off x="4933950" y="4495800"/>
              <a:ext cx="2000250" cy="533400"/>
            </a:xfrm>
            <a:prstGeom prst="roundRect">
              <a:avLst>
                <a:gd name="adj" fmla="val 7143"/>
              </a:avLst>
            </a:prstGeom>
            <a:solidFill>
              <a:srgbClr val="F4F6F9"/>
            </a:solidFill>
            <a:ln w="14288">
              <a:solidFill>
                <a:schemeClr val="accent4"/>
              </a:solidFill>
            </a:ln>
          </p:spPr>
        </p:sp>
        <p:sp>
          <p:nvSpPr>
            <p:cNvPr id="16" name="TextBox 16"/>
            <p:cNvSpPr txBox="1"/>
            <p:nvPr/>
          </p:nvSpPr>
          <p:spPr>
            <a:xfrm>
              <a:off x="5265769" y="4616768"/>
              <a:ext cx="1336611" cy="264033"/>
            </a:xfrm>
            <a:prstGeom prst="rect">
              <a:avLst/>
            </a:prstGeom>
            <a:noFill/>
            <a:ln>
              <a:noFill/>
            </a:ln>
          </p:spPr>
          <p:txBody>
            <a:bodyPr wrap="none" lIns="0" tIns="0" rIns="0" bIns="0" anchor="t" anchorCtr="0">
              <a:spAutoFit/>
            </a:bodyPr>
            <a:lstStyle/>
            <a:p>
              <a:pPr algn="ctr"/>
              <a:r>
                <a:rPr lang="en-US" sz="1350" b="1" dirty="0">
                  <a:solidFill>
                    <a:schemeClr val="dk2"/>
                  </a:solidFill>
                  <a:latin typeface="+mn-lt"/>
                  <a:ea typeface="+mn-ea"/>
                  <a:cs typeface="+mn-cs"/>
                </a:rPr>
                <a:t>Hand-designed</a:t>
              </a:r>
            </a:p>
          </p:txBody>
        </p:sp>
        <p:sp>
          <p:nvSpPr>
            <p:cNvPr id="17" name="TextBox 17"/>
            <p:cNvSpPr txBox="1"/>
            <p:nvPr/>
          </p:nvSpPr>
          <p:spPr>
            <a:xfrm>
              <a:off x="5325262" y="4822031"/>
              <a:ext cx="1217625" cy="220028"/>
            </a:xfrm>
            <a:prstGeom prst="rect">
              <a:avLst/>
            </a:prstGeom>
            <a:noFill/>
            <a:ln>
              <a:noFill/>
            </a:ln>
          </p:spPr>
          <p:txBody>
            <a:bodyPr wrap="none" lIns="0" tIns="0" rIns="0" bIns="0" anchor="t" anchorCtr="0">
              <a:spAutoFit/>
            </a:bodyPr>
            <a:lstStyle/>
            <a:p>
              <a:pPr algn="ctr"/>
              <a:r>
                <a:rPr lang="en-US" sz="1120" dirty="0">
                  <a:solidFill>
                    <a:schemeClr val="accent6"/>
                  </a:solidFill>
                  <a:latin typeface="+mn-lt"/>
                  <a:ea typeface="+mn-ea"/>
                  <a:cs typeface="+mn-cs"/>
                </a:rPr>
                <a:t>post-processing</a:t>
              </a:r>
            </a:p>
          </p:txBody>
        </p:sp>
        <p:sp>
          <p:nvSpPr>
            <p:cNvPr id="18" name="Rectangle 18"/>
            <p:cNvSpPr/>
            <p:nvPr/>
          </p:nvSpPr>
          <p:spPr>
            <a:xfrm>
              <a:off x="7467600" y="4495800"/>
              <a:ext cx="1428750" cy="533400"/>
            </a:xfrm>
            <a:prstGeom prst="roundRect">
              <a:avLst>
                <a:gd name="adj" fmla="val 7143"/>
              </a:avLst>
            </a:prstGeom>
            <a:solidFill>
              <a:srgbClr val="F4F6F9"/>
            </a:solidFill>
            <a:ln w="14288">
              <a:solidFill>
                <a:schemeClr val="accent4"/>
              </a:solidFill>
            </a:ln>
          </p:spPr>
        </p:sp>
        <p:sp>
          <p:nvSpPr>
            <p:cNvPr id="19" name="TextBox 19"/>
            <p:cNvSpPr txBox="1"/>
            <p:nvPr/>
          </p:nvSpPr>
          <p:spPr>
            <a:xfrm>
              <a:off x="7804811" y="4673918"/>
              <a:ext cx="754329" cy="264033"/>
            </a:xfrm>
            <a:prstGeom prst="rect">
              <a:avLst/>
            </a:prstGeom>
            <a:noFill/>
            <a:ln>
              <a:noFill/>
            </a:ln>
          </p:spPr>
          <p:txBody>
            <a:bodyPr wrap="none" lIns="0" tIns="0" rIns="0" bIns="0" anchor="t" anchorCtr="0">
              <a:spAutoFit/>
            </a:bodyPr>
            <a:lstStyle/>
            <a:p>
              <a:pPr algn="ctr"/>
              <a:r>
                <a:rPr lang="en-US" sz="1350" b="1" dirty="0">
                  <a:solidFill>
                    <a:schemeClr val="dk2"/>
                  </a:solidFill>
                  <a:latin typeface="+mn-lt"/>
                  <a:ea typeface="+mn-ea"/>
                  <a:cs typeface="+mn-cs"/>
                </a:rPr>
                <a:t>Vectors</a:t>
              </a:r>
            </a:p>
          </p:txBody>
        </p:sp>
        <p:sp>
          <p:nvSpPr>
            <p:cNvPr id="20" name="Line 20"/>
            <p:cNvSpPr/>
            <p:nvPr/>
          </p:nvSpPr>
          <p:spPr>
            <a:xfrm>
              <a:off x="2228850" y="4762500"/>
              <a:ext cx="457200" cy="1"/>
            </a:xfrm>
            <a:prstGeom prst="line">
              <a:avLst/>
            </a:prstGeom>
            <a:noFill/>
            <a:ln w="19050">
              <a:solidFill>
                <a:srgbClr val="9AA1AB"/>
              </a:solidFill>
              <a:tailEnd type="triangle" w="lg" len="lg"/>
            </a:ln>
          </p:spPr>
        </p:sp>
        <p:sp>
          <p:nvSpPr>
            <p:cNvPr id="21" name="Line 21"/>
            <p:cNvSpPr/>
            <p:nvPr/>
          </p:nvSpPr>
          <p:spPr>
            <a:xfrm>
              <a:off x="4438650" y="4762500"/>
              <a:ext cx="457200" cy="1"/>
            </a:xfrm>
            <a:prstGeom prst="line">
              <a:avLst/>
            </a:prstGeom>
            <a:noFill/>
            <a:ln w="19050">
              <a:solidFill>
                <a:srgbClr val="9AA1AB"/>
              </a:solidFill>
              <a:tailEnd type="triangle" w="lg" len="lg"/>
            </a:ln>
          </p:spPr>
        </p:sp>
        <p:sp>
          <p:nvSpPr>
            <p:cNvPr id="22" name="Line 22"/>
            <p:cNvSpPr/>
            <p:nvPr/>
          </p:nvSpPr>
          <p:spPr>
            <a:xfrm>
              <a:off x="6972300" y="4762500"/>
              <a:ext cx="457200" cy="1"/>
            </a:xfrm>
            <a:prstGeom prst="line">
              <a:avLst/>
            </a:prstGeom>
            <a:noFill/>
            <a:ln w="19050">
              <a:solidFill>
                <a:srgbClr val="9AA1AB"/>
              </a:solidFill>
              <a:tailEnd type="triangle" w="lg" len="lg"/>
            </a:ln>
          </p:spPr>
        </p:sp>
        <p:sp>
          <p:nvSpPr>
            <p:cNvPr id="23" name="TextBox 23"/>
            <p:cNvSpPr txBox="1"/>
            <p:nvPr/>
          </p:nvSpPr>
          <p:spPr>
            <a:xfrm>
              <a:off x="9328023" y="4682014"/>
              <a:ext cx="962833" cy="249364"/>
            </a:xfrm>
            <a:prstGeom prst="rect">
              <a:avLst/>
            </a:prstGeom>
            <a:noFill/>
            <a:ln>
              <a:noFill/>
            </a:ln>
          </p:spPr>
          <p:txBody>
            <a:bodyPr wrap="none" lIns="0" tIns="0" rIns="0" bIns="0" anchor="t" anchorCtr="0">
              <a:spAutoFit/>
            </a:bodyPr>
            <a:lstStyle/>
            <a:p>
              <a:pPr algn="l"/>
              <a:r>
                <a:rPr lang="en-US" sz="1280" b="1" dirty="0">
                  <a:solidFill>
                    <a:schemeClr val="accent6"/>
                  </a:solidFill>
                  <a:latin typeface="+mn-lt"/>
                  <a:ea typeface="+mn-ea"/>
                  <a:cs typeface="+mn-cs"/>
                </a:rPr>
                <a:t>the detour</a:t>
              </a:r>
            </a:p>
          </p:txBody>
        </p:sp>
        <p:sp>
          <p:nvSpPr>
            <p:cNvPr id="24" name="TextBox 24"/>
            <p:cNvSpPr txBox="1"/>
            <p:nvPr/>
          </p:nvSpPr>
          <p:spPr>
            <a:xfrm>
              <a:off x="755904" y="5471160"/>
              <a:ext cx="1384097" cy="234696"/>
            </a:xfrm>
            <a:prstGeom prst="rect">
              <a:avLst/>
            </a:prstGeom>
            <a:noFill/>
            <a:ln>
              <a:noFill/>
            </a:ln>
          </p:spPr>
          <p:txBody>
            <a:bodyPr wrap="none" lIns="0" tIns="0" rIns="0" bIns="0" anchor="t" anchorCtr="0">
              <a:spAutoFit/>
            </a:bodyPr>
            <a:lstStyle/>
            <a:p>
              <a:pPr algn="l"/>
              <a:r>
                <a:rPr lang="en-US" sz="1200" b="1" spc="75" dirty="0">
                  <a:solidFill>
                    <a:schemeClr val="accent2"/>
                  </a:solidFill>
                  <a:latin typeface="+mn-lt"/>
                  <a:ea typeface="+mn-ea"/>
                  <a:cs typeface="+mn-cs"/>
                </a:rPr>
                <a:t>VECTORMAPNET</a:t>
              </a:r>
            </a:p>
          </p:txBody>
        </p:sp>
        <p:sp>
          <p:nvSpPr>
            <p:cNvPr id="25" name="Rectangle 25"/>
            <p:cNvSpPr/>
            <p:nvPr/>
          </p:nvSpPr>
          <p:spPr>
            <a:xfrm>
              <a:off x="762000" y="5791200"/>
              <a:ext cx="1428750" cy="533400"/>
            </a:xfrm>
            <a:prstGeom prst="roundRect">
              <a:avLst>
                <a:gd name="adj" fmla="val 7143"/>
              </a:avLst>
            </a:prstGeom>
            <a:solidFill>
              <a:srgbClr val="F4F6F9"/>
            </a:solidFill>
            <a:ln w="14288">
              <a:solidFill>
                <a:schemeClr val="accent4"/>
              </a:solidFill>
            </a:ln>
          </p:spPr>
        </p:sp>
        <p:sp>
          <p:nvSpPr>
            <p:cNvPr id="26" name="TextBox 26"/>
            <p:cNvSpPr txBox="1"/>
            <p:nvPr/>
          </p:nvSpPr>
          <p:spPr>
            <a:xfrm>
              <a:off x="1099211" y="5969318"/>
              <a:ext cx="754329" cy="264033"/>
            </a:xfrm>
            <a:prstGeom prst="rect">
              <a:avLst/>
            </a:prstGeom>
            <a:noFill/>
            <a:ln>
              <a:noFill/>
            </a:ln>
          </p:spPr>
          <p:txBody>
            <a:bodyPr wrap="none" lIns="0" tIns="0" rIns="0" bIns="0" anchor="t" anchorCtr="0">
              <a:spAutoFit/>
            </a:bodyPr>
            <a:lstStyle/>
            <a:p>
              <a:pPr algn="ctr"/>
              <a:r>
                <a:rPr lang="en-US" sz="1350" b="1" dirty="0">
                  <a:solidFill>
                    <a:schemeClr val="dk2"/>
                  </a:solidFill>
                  <a:latin typeface="+mn-lt"/>
                  <a:ea typeface="+mn-ea"/>
                  <a:cs typeface="+mn-cs"/>
                </a:rPr>
                <a:t>Sensors</a:t>
              </a:r>
            </a:p>
          </p:txBody>
        </p:sp>
        <p:sp>
          <p:nvSpPr>
            <p:cNvPr id="27" name="Rectangle 27"/>
            <p:cNvSpPr/>
            <p:nvPr/>
          </p:nvSpPr>
          <p:spPr>
            <a:xfrm>
              <a:off x="7467600" y="5791200"/>
              <a:ext cx="1428750" cy="533400"/>
            </a:xfrm>
            <a:prstGeom prst="roundRect">
              <a:avLst>
                <a:gd name="adj" fmla="val 7143"/>
              </a:avLst>
            </a:prstGeom>
            <a:solidFill>
              <a:schemeClr val="accent5"/>
            </a:solidFill>
            <a:ln w="19050">
              <a:solidFill>
                <a:schemeClr val="accent2"/>
              </a:solidFill>
            </a:ln>
          </p:spPr>
        </p:sp>
        <p:sp>
          <p:nvSpPr>
            <p:cNvPr id="28" name="TextBox 28"/>
            <p:cNvSpPr txBox="1"/>
            <p:nvPr/>
          </p:nvSpPr>
          <p:spPr>
            <a:xfrm>
              <a:off x="7804811" y="5969318"/>
              <a:ext cx="754329" cy="264033"/>
            </a:xfrm>
            <a:prstGeom prst="rect">
              <a:avLst/>
            </a:prstGeom>
            <a:noFill/>
            <a:ln>
              <a:noFill/>
            </a:ln>
          </p:spPr>
          <p:txBody>
            <a:bodyPr wrap="none" lIns="0" tIns="0" rIns="0" bIns="0" anchor="t" anchorCtr="0">
              <a:spAutoFit/>
            </a:bodyPr>
            <a:lstStyle/>
            <a:p>
              <a:pPr algn="ctr"/>
              <a:r>
                <a:rPr lang="en-US" sz="1350" b="1" dirty="0">
                  <a:solidFill>
                    <a:schemeClr val="dk1"/>
                  </a:solidFill>
                  <a:latin typeface="+mn-lt"/>
                  <a:ea typeface="+mn-ea"/>
                  <a:cs typeface="+mn-cs"/>
                </a:rPr>
                <a:t>Vectors</a:t>
              </a:r>
            </a:p>
          </p:txBody>
        </p:sp>
        <p:sp>
          <p:nvSpPr>
            <p:cNvPr id="29" name="Line 29"/>
            <p:cNvSpPr/>
            <p:nvPr/>
          </p:nvSpPr>
          <p:spPr>
            <a:xfrm>
              <a:off x="2228850" y="6057900"/>
              <a:ext cx="5200650" cy="1"/>
            </a:xfrm>
            <a:prstGeom prst="line">
              <a:avLst/>
            </a:prstGeom>
            <a:noFill/>
            <a:ln w="23812">
              <a:solidFill>
                <a:schemeClr val="accent2"/>
              </a:solidFill>
              <a:tailEnd type="triangle" w="lg" len="lg"/>
            </a:ln>
          </p:spPr>
        </p:sp>
        <p:sp>
          <p:nvSpPr>
            <p:cNvPr id="30" name="TextBox 30"/>
            <p:cNvSpPr txBox="1"/>
            <p:nvPr/>
          </p:nvSpPr>
          <p:spPr>
            <a:xfrm>
              <a:off x="3714506" y="5825014"/>
              <a:ext cx="2229338" cy="249364"/>
            </a:xfrm>
            <a:prstGeom prst="rect">
              <a:avLst/>
            </a:prstGeom>
            <a:noFill/>
            <a:ln>
              <a:noFill/>
            </a:ln>
          </p:spPr>
          <p:txBody>
            <a:bodyPr wrap="none" lIns="0" tIns="0" rIns="0" bIns="0" anchor="t" anchorCtr="0">
              <a:spAutoFit/>
            </a:bodyPr>
            <a:lstStyle/>
            <a:p>
              <a:pPr algn="ctr"/>
              <a:r>
                <a:rPr lang="en-US" sz="1280" b="1" dirty="0">
                  <a:solidFill>
                    <a:schemeClr val="accent2"/>
                  </a:solidFill>
                  <a:latin typeface="+mn-lt"/>
                  <a:ea typeface="+mn-ea"/>
                  <a:cs typeface="+mn-cs"/>
                </a:rPr>
                <a:t>direct — no rasterization</a:t>
              </a:r>
            </a:p>
          </p:txBody>
        </p:sp>
      </p:grpSp>
      <p:sp>
        <p:nvSpPr>
          <p:cNvPr id="32" name="cue_s03_c1_authors_argue_mapping_should_happen" title="cue_s03_c1_authors_argue_mapping_should_happen" descr="cue_s03_c1_authors_argue_mapping_should_happen The authors argue mapping should happen online, from the car's own sensors, avoiding the annotation burden and localization errors, and the model should output the final representation directly."/>
          <p:cNvSpPr/>
          <p:nvPr/>
        </p:nvSpPr>
        <p:spPr>
          <a:xfrm>
            <a:off x="751027" y="2023795"/>
            <a:ext cx="7841894" cy="127833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cue_s03_c2_prior_methods_rasterize_vectorize_ha" title="cue_s03_c2_prior_methods_rasterize_vectorize_ha" descr="cue_s03_c2_prior_methods_rasterize_vectorize_ha Prior methods rasterize then vectorize with a hand-designed step; VectorMapNet removes that detour and predicts geometry end to end."/>
          <p:cNvSpPr/>
          <p:nvPr/>
        </p:nvSpPr>
        <p:spPr>
          <a:xfrm>
            <a:off x="755904" y="4175836"/>
            <a:ext cx="9535363" cy="214861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14300" cy="6858000"/>
          </a:xfrm>
          <a:prstGeom prst="rect">
            <a:avLst/>
          </a:prstGeom>
          <a:solidFill>
            <a:schemeClr val="accent2"/>
          </a:solidFill>
          <a:ln>
            <a:noFill/>
          </a:ln>
        </p:spPr>
        <p:txBody>
          <a:bodyPr/>
          <a:p/>
        </p:txBody>
      </p:sp>
      <p:grpSp>
        <p:nvGrpSpPr>
          <p:cNvPr id="6" name="Group 6"/>
          <p:cNvGrpSpPr/>
          <p:nvPr/>
        </p:nvGrpSpPr>
        <p:grpSpPr>
          <a:xfrm>
            <a:off x="745998" y="730568"/>
            <a:ext cx="8482515" cy="1166621"/>
            <a:chOff x="745998" y="730568"/>
            <a:chExt cx="8482515" cy="1166621"/>
          </a:xfrm>
        </p:grpSpPr>
        <p:sp>
          <p:nvSpPr>
            <p:cNvPr id="3" name="TextBox 3"/>
            <p:cNvSpPr txBox="1"/>
            <p:nvPr/>
          </p:nvSpPr>
          <p:spPr>
            <a:xfrm>
              <a:off x="755142" y="730568"/>
              <a:ext cx="1676324" cy="264033"/>
            </a:xfrm>
            <a:prstGeom prst="rect">
              <a:avLst/>
            </a:prstGeom>
            <a:noFill/>
            <a:ln>
              <a:noFill/>
            </a:ln>
          </p:spPr>
          <p:txBody>
            <a:bodyPr wrap="none" lIns="0" tIns="0" rIns="0" bIns="0" anchor="t" anchorCtr="0">
              <a:spAutoFit/>
            </a:bodyPr>
            <a:lstStyle/>
            <a:p>
              <a:pPr algn="l"/>
              <a:r>
                <a:rPr lang="en-US" sz="1350" b="1" spc="225" dirty="0">
                  <a:solidFill>
                    <a:schemeClr val="accent2"/>
                  </a:solidFill>
                  <a:latin typeface="+mn-lt"/>
                  <a:ea typeface="+mn-ea"/>
                  <a:cs typeface="+mn-cs"/>
                </a:rPr>
                <a:t>CONTRIBUTION</a:t>
              </a:r>
            </a:p>
          </p:txBody>
        </p:sp>
        <p:sp>
          <p:nvSpPr>
            <p:cNvPr id="4" name="TextBox 4"/>
            <p:cNvSpPr txBox="1"/>
            <p:nvPr/>
          </p:nvSpPr>
          <p:spPr>
            <a:xfrm>
              <a:off x="745998" y="1050608"/>
              <a:ext cx="4182257" cy="616077"/>
            </a:xfrm>
            <a:prstGeom prst="rect">
              <a:avLst/>
            </a:prstGeom>
            <a:noFill/>
            <a:ln>
              <a:noFill/>
            </a:ln>
          </p:spPr>
          <p:txBody>
            <a:bodyPr wrap="none" lIns="0" tIns="0" rIns="0" bIns="0" anchor="t" anchorCtr="0">
              <a:spAutoFit/>
            </a:bodyPr>
            <a:lstStyle/>
            <a:p>
              <a:pPr algn="l"/>
              <a:r>
                <a:rPr lang="en-US" sz="3150" b="1" spc="-75" dirty="0">
                  <a:solidFill>
                    <a:schemeClr val="dk1"/>
                  </a:solidFill>
                  <a:latin typeface="+mn-lt"/>
                  <a:ea typeface="+mn-ea"/>
                  <a:cs typeface="+mn-cs"/>
                </a:rPr>
                <a:t>Three contributions</a:t>
              </a:r>
            </a:p>
          </p:txBody>
        </p:sp>
        <p:sp>
          <p:nvSpPr>
            <p:cNvPr id="5" name="TextBox 5"/>
            <p:cNvSpPr txBox="1"/>
            <p:nvPr/>
          </p:nvSpPr>
          <p:spPr>
            <a:xfrm>
              <a:off x="772668" y="1574482"/>
              <a:ext cx="8455845" cy="322707"/>
            </a:xfrm>
            <a:prstGeom prst="rect">
              <a:avLst/>
            </a:prstGeom>
            <a:noFill/>
            <a:ln>
              <a:noFill/>
            </a:ln>
          </p:spPr>
          <p:txBody>
            <a:bodyPr wrap="none" lIns="0" tIns="0" rIns="0" bIns="0" anchor="t" anchorCtr="0">
              <a:spAutoFit/>
            </a:bodyPr>
            <a:lstStyle/>
            <a:p>
              <a:pPr algn="l"/>
              <a:r>
                <a:rPr lang="en-US" sz="1650" dirty="0">
                  <a:solidFill>
                    <a:schemeClr val="dk2"/>
                  </a:solidFill>
                  <a:latin typeface="+mn-lt"/>
                  <a:ea typeface="+mn-ea"/>
                  <a:cs typeface="+mn-cs"/>
                </a:rPr>
                <a:t>One end-to-end system, one flexible primitive, one detector adapted to BEV.</a:t>
              </a:r>
            </a:p>
          </p:txBody>
        </p:sp>
      </p:grpSp>
      <p:grpSp>
        <p:nvGrpSpPr>
          <p:cNvPr id="12" name="Group 12"/>
          <p:cNvGrpSpPr/>
          <p:nvPr/>
        </p:nvGrpSpPr>
        <p:grpSpPr>
          <a:xfrm>
            <a:off x="762000" y="2171700"/>
            <a:ext cx="3295650" cy="4076700"/>
            <a:chOff x="762000" y="2171700"/>
            <a:chExt cx="3295650" cy="4076700"/>
          </a:xfrm>
        </p:grpSpPr>
        <p:sp>
          <p:nvSpPr>
            <p:cNvPr id="7" name="Rectangle 7"/>
            <p:cNvSpPr/>
            <p:nvPr/>
          </p:nvSpPr>
          <p:spPr>
            <a:xfrm>
              <a:off x="762000" y="2171700"/>
              <a:ext cx="3295650" cy="4076700"/>
            </a:xfrm>
            <a:prstGeom prst="roundRect">
              <a:avLst>
                <a:gd name="adj" fmla="val 1156"/>
              </a:avLst>
            </a:prstGeom>
            <a:solidFill>
              <a:srgbClr val="F4F6F9"/>
            </a:solidFill>
            <a:ln>
              <a:noFill/>
            </a:ln>
          </p:spPr>
        </p:sp>
        <p:sp>
          <p:nvSpPr>
            <p:cNvPr id="8" name="Rectangle 8"/>
            <p:cNvSpPr/>
            <p:nvPr/>
          </p:nvSpPr>
          <p:spPr>
            <a:xfrm>
              <a:off x="762000" y="2171700"/>
              <a:ext cx="3295650" cy="57150"/>
            </a:xfrm>
            <a:prstGeom prst="rect">
              <a:avLst/>
            </a:prstGeom>
            <a:solidFill>
              <a:schemeClr val="accent2"/>
            </a:solidFill>
            <a:ln>
              <a:noFill/>
            </a:ln>
          </p:spPr>
        </p:sp>
        <p:sp>
          <p:nvSpPr>
            <p:cNvPr id="9" name="TextBox 9"/>
            <p:cNvSpPr txBox="1"/>
            <p:nvPr/>
          </p:nvSpPr>
          <p:spPr>
            <a:xfrm>
              <a:off x="1011174" y="2599372"/>
              <a:ext cx="571479" cy="674751"/>
            </a:xfrm>
            <a:prstGeom prst="rect">
              <a:avLst/>
            </a:prstGeom>
            <a:noFill/>
            <a:ln>
              <a:noFill/>
            </a:ln>
          </p:spPr>
          <p:txBody>
            <a:bodyPr wrap="none" lIns="0" tIns="0" rIns="0" bIns="0" anchor="t" anchorCtr="0">
              <a:spAutoFit/>
            </a:bodyPr>
            <a:lstStyle/>
            <a:p>
              <a:pPr algn="l"/>
              <a:r>
                <a:rPr lang="en-US" sz="3450" b="1" dirty="0">
                  <a:solidFill>
                    <a:schemeClr val="accent2"/>
                  </a:solidFill>
                  <a:latin typeface="+mn-lt"/>
                  <a:ea typeface="+mn-ea"/>
                  <a:cs typeface="+mn-cs"/>
                </a:rPr>
                <a:t>01</a:t>
              </a:r>
            </a:p>
          </p:txBody>
        </p:sp>
        <p:sp>
          <p:nvSpPr>
            <p:cNvPr id="10" name="TextBox 10"/>
            <p:cNvSpPr txBox="1"/>
            <p:nvPr/>
          </p:nvSpPr>
          <p:spPr>
            <a:xfrm>
              <a:off x="1018794" y="3218498"/>
              <a:ext cx="2853950" cy="381381"/>
            </a:xfrm>
            <a:prstGeom prst="rect">
              <a:avLst/>
            </a:prstGeom>
            <a:noFill/>
            <a:ln>
              <a:noFill/>
            </a:ln>
          </p:spPr>
          <p:txBody>
            <a:bodyPr wrap="none" lIns="0" tIns="0" rIns="0" bIns="0" anchor="t" anchorCtr="0">
              <a:spAutoFit/>
            </a:bodyPr>
            <a:lstStyle/>
            <a:p>
              <a:pPr algn="l"/>
              <a:r>
                <a:rPr lang="en-US" sz="1950" b="1" dirty="0">
                  <a:solidFill>
                    <a:schemeClr val="dk1"/>
                  </a:solidFill>
                  <a:latin typeface="+mn-lt"/>
                  <a:ea typeface="+mn-ea"/>
                  <a:cs typeface="+mn-cs"/>
                </a:rPr>
                <a:t>Direct vector output</a:t>
              </a:r>
            </a:p>
          </p:txBody>
        </p:sp>
        <p:sp>
          <p:nvSpPr>
            <p:cNvPr id="11" name="TextBox 11"/>
            <p:cNvSpPr txBox="1"/>
            <p:nvPr/>
          </p:nvSpPr>
          <p:spPr>
            <a:xfrm>
              <a:off x="1021080" y="3724275"/>
              <a:ext cx="2653665" cy="1150620"/>
            </a:xfrm>
            <a:prstGeom prst="rect">
              <a:avLst/>
            </a:prstGeom>
            <a:noFill/>
            <a:ln>
              <a:noFill/>
            </a:ln>
          </p:spPr>
          <p:txBody>
            <a:bodyPr wrap="square" lIns="0" tIns="0" rIns="0" bIns="0" anchor="t" anchorCtr="0"/>
            <a:lstStyle/>
            <a:p>
              <a:pPr algn="l">
                <a:lnSpc>
                  <a:spcPts val="2250"/>
                </a:lnSpc>
              </a:pPr>
              <a:r>
                <a:rPr lang="en-US" sz="1500" dirty="0">
                  <a:solidFill>
                    <a:schemeClr val="dk2"/>
                  </a:solidFill>
                  <a:latin typeface="+mn-lt"/>
                  <a:ea typeface="+mn-ea"/>
                  <a:cs typeface="+mn-cs"/>
                </a:rPr>
                <a:t>Predicts vectorized outputs directly from sensor data — no rasterization and no post-processing step.</a:t>
              </a:r>
            </a:p>
          </p:txBody>
        </p:sp>
      </p:grpSp>
      <p:grpSp>
        <p:nvGrpSpPr>
          <p:cNvPr id="18" name="Group 18"/>
          <p:cNvGrpSpPr/>
          <p:nvPr/>
        </p:nvGrpSpPr>
        <p:grpSpPr>
          <a:xfrm>
            <a:off x="4314825" y="2171700"/>
            <a:ext cx="3295650" cy="4076700"/>
            <a:chOff x="4314825" y="2171700"/>
            <a:chExt cx="3295650" cy="4076700"/>
          </a:xfrm>
        </p:grpSpPr>
        <p:sp>
          <p:nvSpPr>
            <p:cNvPr id="13" name="Rectangle 13"/>
            <p:cNvSpPr/>
            <p:nvPr/>
          </p:nvSpPr>
          <p:spPr>
            <a:xfrm>
              <a:off x="4314825" y="2171700"/>
              <a:ext cx="3295650" cy="4076700"/>
            </a:xfrm>
            <a:prstGeom prst="roundRect">
              <a:avLst>
                <a:gd name="adj" fmla="val 1156"/>
              </a:avLst>
            </a:prstGeom>
            <a:solidFill>
              <a:srgbClr val="F4F6F9"/>
            </a:solidFill>
            <a:ln>
              <a:noFill/>
            </a:ln>
          </p:spPr>
        </p:sp>
        <p:sp>
          <p:nvSpPr>
            <p:cNvPr id="14" name="Rectangle 14"/>
            <p:cNvSpPr/>
            <p:nvPr/>
          </p:nvSpPr>
          <p:spPr>
            <a:xfrm>
              <a:off x="4314825" y="2171700"/>
              <a:ext cx="3295650" cy="57150"/>
            </a:xfrm>
            <a:prstGeom prst="rect">
              <a:avLst/>
            </a:prstGeom>
            <a:solidFill>
              <a:schemeClr val="accent2"/>
            </a:solidFill>
            <a:ln>
              <a:noFill/>
            </a:ln>
          </p:spPr>
        </p:sp>
        <p:sp>
          <p:nvSpPr>
            <p:cNvPr id="15" name="TextBox 15"/>
            <p:cNvSpPr txBox="1"/>
            <p:nvPr/>
          </p:nvSpPr>
          <p:spPr>
            <a:xfrm>
              <a:off x="4563999" y="2599372"/>
              <a:ext cx="571479" cy="674751"/>
            </a:xfrm>
            <a:prstGeom prst="rect">
              <a:avLst/>
            </a:prstGeom>
            <a:noFill/>
            <a:ln>
              <a:noFill/>
            </a:ln>
          </p:spPr>
          <p:txBody>
            <a:bodyPr wrap="none" lIns="0" tIns="0" rIns="0" bIns="0" anchor="t" anchorCtr="0">
              <a:spAutoFit/>
            </a:bodyPr>
            <a:lstStyle/>
            <a:p>
              <a:pPr algn="l"/>
              <a:r>
                <a:rPr lang="en-US" sz="3450" b="1" dirty="0">
                  <a:solidFill>
                    <a:schemeClr val="accent2"/>
                  </a:solidFill>
                  <a:latin typeface="+mn-lt"/>
                  <a:ea typeface="+mn-ea"/>
                  <a:cs typeface="+mn-cs"/>
                </a:rPr>
                <a:t>02</a:t>
              </a:r>
            </a:p>
          </p:txBody>
        </p:sp>
        <p:sp>
          <p:nvSpPr>
            <p:cNvPr id="16" name="TextBox 16"/>
            <p:cNvSpPr txBox="1"/>
            <p:nvPr/>
          </p:nvSpPr>
          <p:spPr>
            <a:xfrm>
              <a:off x="4571619" y="3218498"/>
              <a:ext cx="2329023" cy="381381"/>
            </a:xfrm>
            <a:prstGeom prst="rect">
              <a:avLst/>
            </a:prstGeom>
            <a:noFill/>
            <a:ln>
              <a:noFill/>
            </a:ln>
          </p:spPr>
          <p:txBody>
            <a:bodyPr wrap="none" lIns="0" tIns="0" rIns="0" bIns="0" anchor="t" anchorCtr="0">
              <a:spAutoFit/>
            </a:bodyPr>
            <a:lstStyle/>
            <a:p>
              <a:pPr algn="l"/>
              <a:r>
                <a:rPr lang="en-US" sz="1950" b="1" dirty="0">
                  <a:solidFill>
                    <a:schemeClr val="dk1"/>
                  </a:solidFill>
                  <a:latin typeface="+mn-lt"/>
                  <a:ea typeface="+mn-ea"/>
                  <a:cs typeface="+mn-cs"/>
                </a:rPr>
                <a:t>Polyline primitive</a:t>
              </a:r>
            </a:p>
          </p:txBody>
        </p:sp>
        <p:sp>
          <p:nvSpPr>
            <p:cNvPr id="17" name="TextBox 17"/>
            <p:cNvSpPr txBox="1"/>
            <p:nvPr/>
          </p:nvSpPr>
          <p:spPr>
            <a:xfrm>
              <a:off x="4573905" y="3724275"/>
              <a:ext cx="2453640" cy="1150620"/>
            </a:xfrm>
            <a:prstGeom prst="rect">
              <a:avLst/>
            </a:prstGeom>
            <a:noFill/>
            <a:ln>
              <a:noFill/>
            </a:ln>
          </p:spPr>
          <p:txBody>
            <a:bodyPr wrap="square" lIns="0" tIns="0" rIns="0" bIns="0" anchor="t" anchorCtr="0"/>
            <a:lstStyle/>
            <a:p>
              <a:pPr algn="l">
                <a:lnSpc>
                  <a:spcPts val="2250"/>
                </a:lnSpc>
              </a:pPr>
              <a:r>
                <a:rPr lang="en-US" sz="1500" dirty="0">
                  <a:solidFill>
                    <a:schemeClr val="dk2"/>
                  </a:solidFill>
                  <a:latin typeface="+mn-lt"/>
                  <a:ea typeface="+mn-ea"/>
                  <a:cs typeface="+mn-cs"/>
                </a:rPr>
                <a:t>One polyline represents points, lines, curves, and polygons, and its vertex order encodes direction.</a:t>
              </a:r>
            </a:p>
          </p:txBody>
        </p:sp>
      </p:grpSp>
      <p:grpSp>
        <p:nvGrpSpPr>
          <p:cNvPr id="24" name="Group 24"/>
          <p:cNvGrpSpPr/>
          <p:nvPr/>
        </p:nvGrpSpPr>
        <p:grpSpPr>
          <a:xfrm>
            <a:off x="7867650" y="2171700"/>
            <a:ext cx="3295650" cy="4076700"/>
            <a:chOff x="7867650" y="2171700"/>
            <a:chExt cx="3295650" cy="4076700"/>
          </a:xfrm>
        </p:grpSpPr>
        <p:sp>
          <p:nvSpPr>
            <p:cNvPr id="19" name="Rectangle 19"/>
            <p:cNvSpPr/>
            <p:nvPr/>
          </p:nvSpPr>
          <p:spPr>
            <a:xfrm>
              <a:off x="7867650" y="2171700"/>
              <a:ext cx="3295650" cy="4076700"/>
            </a:xfrm>
            <a:prstGeom prst="roundRect">
              <a:avLst>
                <a:gd name="adj" fmla="val 1156"/>
              </a:avLst>
            </a:prstGeom>
            <a:solidFill>
              <a:srgbClr val="F4F6F9"/>
            </a:solidFill>
            <a:ln>
              <a:noFill/>
            </a:ln>
          </p:spPr>
        </p:sp>
        <p:sp>
          <p:nvSpPr>
            <p:cNvPr id="20" name="Rectangle 20"/>
            <p:cNvSpPr/>
            <p:nvPr/>
          </p:nvSpPr>
          <p:spPr>
            <a:xfrm>
              <a:off x="7867650" y="2171700"/>
              <a:ext cx="3295650" cy="57150"/>
            </a:xfrm>
            <a:prstGeom prst="rect">
              <a:avLst/>
            </a:prstGeom>
            <a:solidFill>
              <a:schemeClr val="accent2"/>
            </a:solidFill>
            <a:ln>
              <a:noFill/>
            </a:ln>
          </p:spPr>
        </p:sp>
        <p:sp>
          <p:nvSpPr>
            <p:cNvPr id="21" name="TextBox 21"/>
            <p:cNvSpPr txBox="1"/>
            <p:nvPr/>
          </p:nvSpPr>
          <p:spPr>
            <a:xfrm>
              <a:off x="8116824" y="2599372"/>
              <a:ext cx="571479" cy="674751"/>
            </a:xfrm>
            <a:prstGeom prst="rect">
              <a:avLst/>
            </a:prstGeom>
            <a:noFill/>
            <a:ln>
              <a:noFill/>
            </a:ln>
          </p:spPr>
          <p:txBody>
            <a:bodyPr wrap="none" lIns="0" tIns="0" rIns="0" bIns="0" anchor="t" anchorCtr="0">
              <a:spAutoFit/>
            </a:bodyPr>
            <a:lstStyle/>
            <a:p>
              <a:pPr algn="l"/>
              <a:r>
                <a:rPr lang="en-US" sz="3450" b="1" dirty="0">
                  <a:solidFill>
                    <a:schemeClr val="accent2"/>
                  </a:solidFill>
                  <a:latin typeface="+mn-lt"/>
                  <a:ea typeface="+mn-ea"/>
                  <a:cs typeface="+mn-cs"/>
                </a:rPr>
                <a:t>03</a:t>
              </a:r>
            </a:p>
          </p:txBody>
        </p:sp>
        <p:sp>
          <p:nvSpPr>
            <p:cNvPr id="22" name="TextBox 22"/>
            <p:cNvSpPr txBox="1"/>
            <p:nvPr/>
          </p:nvSpPr>
          <p:spPr>
            <a:xfrm>
              <a:off x="8124444" y="3218498"/>
              <a:ext cx="2204531" cy="381381"/>
            </a:xfrm>
            <a:prstGeom prst="rect">
              <a:avLst/>
            </a:prstGeom>
            <a:noFill/>
            <a:ln>
              <a:noFill/>
            </a:ln>
          </p:spPr>
          <p:txBody>
            <a:bodyPr wrap="none" lIns="0" tIns="0" rIns="0" bIns="0" anchor="t" anchorCtr="0">
              <a:spAutoFit/>
            </a:bodyPr>
            <a:lstStyle/>
            <a:p>
              <a:pPr algn="l"/>
              <a:r>
                <a:rPr lang="en-US" sz="1950" b="1" dirty="0">
                  <a:solidFill>
                    <a:schemeClr val="dk1"/>
                  </a:solidFill>
                  <a:latin typeface="+mn-lt"/>
                  <a:ea typeface="+mn-ea"/>
                  <a:cs typeface="+mn-cs"/>
                </a:rPr>
                <a:t>Detection in BEV</a:t>
              </a:r>
            </a:p>
          </p:txBody>
        </p:sp>
        <p:sp>
          <p:nvSpPr>
            <p:cNvPr id="23" name="TextBox 23"/>
            <p:cNvSpPr txBox="1"/>
            <p:nvPr/>
          </p:nvSpPr>
          <p:spPr>
            <a:xfrm>
              <a:off x="8126730" y="3724275"/>
              <a:ext cx="2948940" cy="1150620"/>
            </a:xfrm>
            <a:prstGeom prst="rect">
              <a:avLst/>
            </a:prstGeom>
            <a:noFill/>
            <a:ln>
              <a:noFill/>
            </a:ln>
          </p:spPr>
          <p:txBody>
            <a:bodyPr wrap="square" lIns="0" tIns="0" rIns="0" bIns="0" anchor="t" anchorCtr="0"/>
            <a:lstStyle/>
            <a:p>
              <a:pPr algn="l">
                <a:lnSpc>
                  <a:spcPts val="2250"/>
                </a:lnSpc>
              </a:pPr>
              <a:r>
                <a:rPr lang="en-US" sz="1500" dirty="0">
                  <a:solidFill>
                    <a:schemeClr val="dk2"/>
                  </a:solidFill>
                  <a:latin typeface="+mn-lt"/>
                  <a:ea typeface="+mn-ea"/>
                  <a:cs typeface="+mn-cs"/>
                </a:rPr>
                <a:t>Adapts detection transformers to locate deformable map elements of varying size in bird's-eye-view space.</a:t>
              </a:r>
            </a:p>
          </p:txBody>
        </p:sp>
      </p:grpSp>
      <p:sp>
        <p:nvSpPr>
          <p:cNvPr id="25" name="cue_s04_c1_vectormapnet_makes_three_contributio" title="cue_s04_c1_vectormapnet_makes_three_contributio" descr="cue_s04_c1_vectormapnet_makes_three_contributio VectorMapNet makes three contributions."/>
          <p:cNvSpPr/>
          <p:nvPr/>
        </p:nvSpPr>
        <p:spPr>
          <a:xfrm>
            <a:off x="746150" y="1050645"/>
            <a:ext cx="4181856" cy="61584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ue_s04_c2_predicts_vectorized_outputs_directly" title="cue_s04_c2_predicts_vectorized_outputs_directly" descr="cue_s04_c2_predicts_vectorized_outputs_directly It predicts vectorized outputs directly from sensors, with no rasterization or post-processing."/>
          <p:cNvSpPr/>
          <p:nvPr/>
        </p:nvSpPr>
        <p:spPr>
          <a:xfrm>
            <a:off x="762000" y="2171928"/>
            <a:ext cx="3295497" cy="40763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ue_s04_c3_polyline_one_flexible_primitive_poin" title="cue_s04_c3_polyline_one_flexible_primitive_poin" descr="cue_s04_c3_polyline_one_flexible_primitive_poin It uses the polyline as one flexible primitive for points, lines, curves, and polygons, whose vertex order encodes direction."/>
          <p:cNvSpPr/>
          <p:nvPr/>
        </p:nvSpPr>
        <p:spPr>
          <a:xfrm>
            <a:off x="4314748" y="2171928"/>
            <a:ext cx="3295497" cy="40763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cue_s04_c4_adapts_detection_transformers_locate" title="cue_s04_c4_adapts_detection_transformers_locate" descr="cue_s04_c4_adapts_detection_transformers_locate And it adapts detection transformers to locate elements in bird's-eye view."/>
          <p:cNvSpPr/>
          <p:nvPr/>
        </p:nvSpPr>
        <p:spPr>
          <a:xfrm>
            <a:off x="7867497" y="2171928"/>
            <a:ext cx="3295497" cy="40763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14300" cy="6858000"/>
          </a:xfrm>
          <a:prstGeom prst="rect">
            <a:avLst/>
          </a:prstGeom>
          <a:solidFill>
            <a:schemeClr val="accent2"/>
          </a:solidFill>
          <a:ln>
            <a:noFill/>
          </a:ln>
        </p:spPr>
        <p:txBody>
          <a:bodyPr/>
          <a:p/>
        </p:txBody>
      </p:sp>
      <p:grpSp>
        <p:nvGrpSpPr>
          <p:cNvPr id="5" name="Group 5"/>
          <p:cNvGrpSpPr/>
          <p:nvPr/>
        </p:nvGrpSpPr>
        <p:grpSpPr>
          <a:xfrm>
            <a:off x="745998" y="730568"/>
            <a:ext cx="4664762" cy="936117"/>
            <a:chOff x="745998" y="730568"/>
            <a:chExt cx="4664762" cy="936117"/>
          </a:xfrm>
        </p:grpSpPr>
        <p:sp>
          <p:nvSpPr>
            <p:cNvPr id="3" name="TextBox 3"/>
            <p:cNvSpPr txBox="1"/>
            <p:nvPr/>
          </p:nvSpPr>
          <p:spPr>
            <a:xfrm>
              <a:off x="755142" y="730568"/>
              <a:ext cx="919749" cy="264033"/>
            </a:xfrm>
            <a:prstGeom prst="rect">
              <a:avLst/>
            </a:prstGeom>
            <a:noFill/>
            <a:ln>
              <a:noFill/>
            </a:ln>
          </p:spPr>
          <p:txBody>
            <a:bodyPr wrap="none" lIns="0" tIns="0" rIns="0" bIns="0" anchor="t" anchorCtr="0">
              <a:spAutoFit/>
            </a:bodyPr>
            <a:lstStyle/>
            <a:p>
              <a:pPr algn="l"/>
              <a:r>
                <a:rPr lang="en-US" sz="1350" b="1" spc="225" dirty="0">
                  <a:solidFill>
                    <a:schemeClr val="accent2"/>
                  </a:solidFill>
                  <a:latin typeface="+mn-lt"/>
                  <a:ea typeface="+mn-ea"/>
                  <a:cs typeface="+mn-cs"/>
                </a:rPr>
                <a:t>METHOD</a:t>
              </a:r>
            </a:p>
          </p:txBody>
        </p:sp>
        <p:sp>
          <p:nvSpPr>
            <p:cNvPr id="4" name="TextBox 4"/>
            <p:cNvSpPr txBox="1"/>
            <p:nvPr/>
          </p:nvSpPr>
          <p:spPr>
            <a:xfrm>
              <a:off x="745998" y="1050608"/>
              <a:ext cx="4664762" cy="616077"/>
            </a:xfrm>
            <a:prstGeom prst="rect">
              <a:avLst/>
            </a:prstGeom>
            <a:noFill/>
            <a:ln>
              <a:noFill/>
            </a:ln>
          </p:spPr>
          <p:txBody>
            <a:bodyPr wrap="none" lIns="0" tIns="0" rIns="0" bIns="0" anchor="t" anchorCtr="0">
              <a:spAutoFit/>
            </a:bodyPr>
            <a:lstStyle/>
            <a:p>
              <a:pPr algn="l"/>
              <a:r>
                <a:rPr lang="en-US" sz="3150" b="1" spc="-75" dirty="0">
                  <a:solidFill>
                    <a:schemeClr val="dk1"/>
                  </a:solidFill>
                  <a:latin typeface="+mn-lt"/>
                  <a:ea typeface="+mn-ea"/>
                  <a:cs typeface="+mn-cs"/>
                </a:rPr>
                <a:t>A three-stage pipeline</a:t>
              </a:r>
            </a:p>
          </p:txBody>
        </p:sp>
      </p:grpSp>
      <p:grpSp>
        <p:nvGrpSpPr>
          <p:cNvPr id="11" name="Group 11"/>
          <p:cNvGrpSpPr/>
          <p:nvPr/>
        </p:nvGrpSpPr>
        <p:grpSpPr>
          <a:xfrm>
            <a:off x="762000" y="1866900"/>
            <a:ext cx="4191000" cy="1333500"/>
            <a:chOff x="762000" y="1866900"/>
            <a:chExt cx="4191000" cy="1333500"/>
          </a:xfrm>
        </p:grpSpPr>
        <p:sp>
          <p:nvSpPr>
            <p:cNvPr id="6" name="Rectangle 6"/>
            <p:cNvSpPr/>
            <p:nvPr/>
          </p:nvSpPr>
          <p:spPr>
            <a:xfrm>
              <a:off x="762000" y="1866900"/>
              <a:ext cx="4191000" cy="1333500"/>
            </a:xfrm>
            <a:prstGeom prst="roundRect">
              <a:avLst>
                <a:gd name="adj" fmla="val 2857"/>
              </a:avLst>
            </a:prstGeom>
            <a:solidFill>
              <a:srgbClr val="F4F6F9"/>
            </a:solidFill>
            <a:ln>
              <a:noFill/>
            </a:ln>
          </p:spPr>
        </p:sp>
        <p:sp>
          <p:nvSpPr>
            <p:cNvPr id="7" name="Rectangle 7"/>
            <p:cNvSpPr/>
            <p:nvPr/>
          </p:nvSpPr>
          <p:spPr>
            <a:xfrm>
              <a:off x="762000" y="1866900"/>
              <a:ext cx="57150" cy="1333500"/>
            </a:xfrm>
            <a:prstGeom prst="rect">
              <a:avLst/>
            </a:prstGeom>
            <a:solidFill>
              <a:schemeClr val="accent2"/>
            </a:solidFill>
            <a:ln>
              <a:noFill/>
            </a:ln>
          </p:spPr>
        </p:sp>
        <p:sp>
          <p:nvSpPr>
            <p:cNvPr id="8" name="TextBox 8"/>
            <p:cNvSpPr txBox="1"/>
            <p:nvPr/>
          </p:nvSpPr>
          <p:spPr>
            <a:xfrm>
              <a:off x="975360" y="2381250"/>
              <a:ext cx="263709" cy="586740"/>
            </a:xfrm>
            <a:prstGeom prst="rect">
              <a:avLst/>
            </a:prstGeom>
            <a:noFill/>
            <a:ln>
              <a:noFill/>
            </a:ln>
          </p:spPr>
          <p:txBody>
            <a:bodyPr wrap="none" lIns="0" tIns="0" rIns="0" bIns="0" anchor="t" anchorCtr="0">
              <a:spAutoFit/>
            </a:bodyPr>
            <a:lstStyle/>
            <a:p>
              <a:pPr algn="l"/>
              <a:r>
                <a:rPr lang="en-US" sz="3000" b="1" dirty="0">
                  <a:solidFill>
                    <a:schemeClr val="accent2"/>
                  </a:solidFill>
                  <a:latin typeface="+mn-lt"/>
                  <a:ea typeface="+mn-ea"/>
                  <a:cs typeface="+mn-cs"/>
                </a:rPr>
                <a:t>1</a:t>
              </a:r>
            </a:p>
          </p:txBody>
        </p:sp>
        <p:sp>
          <p:nvSpPr>
            <p:cNvPr id="9" name="TextBox 9"/>
            <p:cNvSpPr txBox="1"/>
            <p:nvPr/>
          </p:nvSpPr>
          <p:spPr>
            <a:xfrm>
              <a:off x="1477137" y="2099786"/>
              <a:ext cx="2728054" cy="337376"/>
            </a:xfrm>
            <a:prstGeom prst="rect">
              <a:avLst/>
            </a:prstGeom>
            <a:noFill/>
            <a:ln>
              <a:noFill/>
            </a:ln>
          </p:spPr>
          <p:txBody>
            <a:bodyPr wrap="none" lIns="0" tIns="0" rIns="0" bIns="0" anchor="t" anchorCtr="0">
              <a:spAutoFit/>
            </a:bodyPr>
            <a:lstStyle/>
            <a:p>
              <a:pPr algn="l"/>
              <a:r>
                <a:rPr lang="en-US" sz="1720" b="1" dirty="0">
                  <a:solidFill>
                    <a:schemeClr val="dk1"/>
                  </a:solidFill>
                  <a:latin typeface="+mn-lt"/>
                  <a:ea typeface="+mn-ea"/>
                  <a:cs typeface="+mn-cs"/>
                </a:rPr>
                <a:t>BEV feature extractor</a:t>
              </a:r>
            </a:p>
          </p:txBody>
        </p:sp>
        <p:sp>
          <p:nvSpPr>
            <p:cNvPr id="10" name="TextBox 10"/>
            <p:cNvSpPr txBox="1"/>
            <p:nvPr/>
          </p:nvSpPr>
          <p:spPr>
            <a:xfrm>
              <a:off x="1479423" y="2453164"/>
              <a:ext cx="3182874" cy="477964"/>
            </a:xfrm>
            <a:prstGeom prst="rect">
              <a:avLst/>
            </a:prstGeom>
            <a:noFill/>
            <a:ln>
              <a:noFill/>
            </a:ln>
          </p:spPr>
          <p:txBody>
            <a:bodyPr wrap="square" lIns="0" tIns="0" rIns="0" bIns="0" anchor="t" anchorCtr="0"/>
            <a:lstStyle/>
            <a:p>
              <a:pPr algn="l">
                <a:lnSpc>
                  <a:spcPts val="1800"/>
                </a:lnSpc>
              </a:pPr>
              <a:r>
                <a:rPr lang="en-US" sz="1280" dirty="0">
                  <a:solidFill>
                    <a:schemeClr val="dk2"/>
                  </a:solidFill>
                  <a:latin typeface="+mn-lt"/>
                  <a:ea typeface="+mn-ea"/>
                  <a:cs typeface="+mn-cs"/>
                </a:rPr>
                <a:t>Camera (ResNet + IPM) and LiDAR (PointPillars), fused into a shared BEV.</a:t>
              </a:r>
            </a:p>
          </p:txBody>
        </p:sp>
      </p:grpSp>
      <p:grpSp>
        <p:nvGrpSpPr>
          <p:cNvPr id="17" name="Group 17"/>
          <p:cNvGrpSpPr/>
          <p:nvPr/>
        </p:nvGrpSpPr>
        <p:grpSpPr>
          <a:xfrm>
            <a:off x="762000" y="3352800"/>
            <a:ext cx="4191000" cy="1333500"/>
            <a:chOff x="762000" y="3352800"/>
            <a:chExt cx="4191000" cy="1333500"/>
          </a:xfrm>
        </p:grpSpPr>
        <p:sp>
          <p:nvSpPr>
            <p:cNvPr id="12" name="Rectangle 12"/>
            <p:cNvSpPr/>
            <p:nvPr/>
          </p:nvSpPr>
          <p:spPr>
            <a:xfrm>
              <a:off x="762000" y="3352800"/>
              <a:ext cx="4191000" cy="1333500"/>
            </a:xfrm>
            <a:prstGeom prst="roundRect">
              <a:avLst>
                <a:gd name="adj" fmla="val 2857"/>
              </a:avLst>
            </a:prstGeom>
            <a:solidFill>
              <a:srgbClr val="F4F6F9"/>
            </a:solidFill>
            <a:ln>
              <a:noFill/>
            </a:ln>
          </p:spPr>
        </p:sp>
        <p:sp>
          <p:nvSpPr>
            <p:cNvPr id="13" name="Rectangle 13"/>
            <p:cNvSpPr/>
            <p:nvPr/>
          </p:nvSpPr>
          <p:spPr>
            <a:xfrm>
              <a:off x="762000" y="3352800"/>
              <a:ext cx="57150" cy="1333500"/>
            </a:xfrm>
            <a:prstGeom prst="rect">
              <a:avLst/>
            </a:prstGeom>
            <a:solidFill>
              <a:schemeClr val="accent2"/>
            </a:solidFill>
            <a:ln>
              <a:noFill/>
            </a:ln>
          </p:spPr>
        </p:sp>
        <p:sp>
          <p:nvSpPr>
            <p:cNvPr id="14" name="TextBox 14"/>
            <p:cNvSpPr txBox="1"/>
            <p:nvPr/>
          </p:nvSpPr>
          <p:spPr>
            <a:xfrm>
              <a:off x="975360" y="3867150"/>
              <a:ext cx="263709" cy="586740"/>
            </a:xfrm>
            <a:prstGeom prst="rect">
              <a:avLst/>
            </a:prstGeom>
            <a:noFill/>
            <a:ln>
              <a:noFill/>
            </a:ln>
          </p:spPr>
          <p:txBody>
            <a:bodyPr wrap="none" lIns="0" tIns="0" rIns="0" bIns="0" anchor="t" anchorCtr="0">
              <a:spAutoFit/>
            </a:bodyPr>
            <a:lstStyle/>
            <a:p>
              <a:pPr algn="l"/>
              <a:r>
                <a:rPr lang="en-US" sz="3000" b="1" dirty="0">
                  <a:solidFill>
                    <a:schemeClr val="accent2"/>
                  </a:solidFill>
                  <a:latin typeface="+mn-lt"/>
                  <a:ea typeface="+mn-ea"/>
                  <a:cs typeface="+mn-cs"/>
                </a:rPr>
                <a:t>2</a:t>
              </a:r>
            </a:p>
          </p:txBody>
        </p:sp>
        <p:sp>
          <p:nvSpPr>
            <p:cNvPr id="15" name="TextBox 15"/>
            <p:cNvSpPr txBox="1"/>
            <p:nvPr/>
          </p:nvSpPr>
          <p:spPr>
            <a:xfrm>
              <a:off x="1477137" y="3585686"/>
              <a:ext cx="2614936" cy="337376"/>
            </a:xfrm>
            <a:prstGeom prst="rect">
              <a:avLst/>
            </a:prstGeom>
            <a:noFill/>
            <a:ln>
              <a:noFill/>
            </a:ln>
          </p:spPr>
          <p:txBody>
            <a:bodyPr wrap="none" lIns="0" tIns="0" rIns="0" bIns="0" anchor="t" anchorCtr="0">
              <a:spAutoFit/>
            </a:bodyPr>
            <a:lstStyle/>
            <a:p>
              <a:pPr algn="l"/>
              <a:r>
                <a:rPr lang="en-US" sz="1720" b="1" dirty="0">
                  <a:solidFill>
                    <a:schemeClr val="dk1"/>
                  </a:solidFill>
                  <a:latin typeface="+mn-lt"/>
                  <a:ea typeface="+mn-ea"/>
                  <a:cs typeface="+mn-cs"/>
                </a:rPr>
                <a:t>Map element detector</a:t>
              </a:r>
            </a:p>
          </p:txBody>
        </p:sp>
        <p:sp>
          <p:nvSpPr>
            <p:cNvPr id="16" name="TextBox 16"/>
            <p:cNvSpPr txBox="1"/>
            <p:nvPr/>
          </p:nvSpPr>
          <p:spPr>
            <a:xfrm>
              <a:off x="1479423" y="3939064"/>
              <a:ext cx="2752090" cy="706565"/>
            </a:xfrm>
            <a:prstGeom prst="rect">
              <a:avLst/>
            </a:prstGeom>
            <a:noFill/>
            <a:ln>
              <a:noFill/>
            </a:ln>
          </p:spPr>
          <p:txBody>
            <a:bodyPr wrap="square" lIns="0" tIns="0" rIns="0" bIns="0" anchor="t" anchorCtr="0"/>
            <a:lstStyle/>
            <a:p>
              <a:pPr algn="l">
                <a:lnSpc>
                  <a:spcPts val="1800"/>
                </a:lnSpc>
              </a:pPr>
              <a:r>
                <a:rPr lang="en-US" sz="1280" dirty="0">
                  <a:solidFill>
                    <a:schemeClr val="dk2"/>
                  </a:solidFill>
                  <a:latin typeface="+mn-lt"/>
                  <a:ea typeface="+mn-ea"/>
                  <a:cs typeface="+mn-cs"/>
                </a:rPr>
                <a:t>DETR-style element queries and deformable attention predict each element's keypoints and class.</a:t>
              </a:r>
            </a:p>
          </p:txBody>
        </p:sp>
      </p:grpSp>
      <p:grpSp>
        <p:nvGrpSpPr>
          <p:cNvPr id="23" name="Group 23"/>
          <p:cNvGrpSpPr/>
          <p:nvPr/>
        </p:nvGrpSpPr>
        <p:grpSpPr>
          <a:xfrm>
            <a:off x="762000" y="4838700"/>
            <a:ext cx="4191000" cy="1333500"/>
            <a:chOff x="762000" y="4838700"/>
            <a:chExt cx="4191000" cy="1333500"/>
          </a:xfrm>
        </p:grpSpPr>
        <p:sp>
          <p:nvSpPr>
            <p:cNvPr id="18" name="Rectangle 18"/>
            <p:cNvSpPr/>
            <p:nvPr/>
          </p:nvSpPr>
          <p:spPr>
            <a:xfrm>
              <a:off x="762000" y="4838700"/>
              <a:ext cx="4191000" cy="1333500"/>
            </a:xfrm>
            <a:prstGeom prst="roundRect">
              <a:avLst>
                <a:gd name="adj" fmla="val 2857"/>
              </a:avLst>
            </a:prstGeom>
            <a:solidFill>
              <a:srgbClr val="F4F6F9"/>
            </a:solidFill>
            <a:ln>
              <a:noFill/>
            </a:ln>
          </p:spPr>
        </p:sp>
        <p:sp>
          <p:nvSpPr>
            <p:cNvPr id="19" name="Rectangle 19"/>
            <p:cNvSpPr/>
            <p:nvPr/>
          </p:nvSpPr>
          <p:spPr>
            <a:xfrm>
              <a:off x="762000" y="4838700"/>
              <a:ext cx="57150" cy="1333500"/>
            </a:xfrm>
            <a:prstGeom prst="rect">
              <a:avLst/>
            </a:prstGeom>
            <a:solidFill>
              <a:schemeClr val="accent2"/>
            </a:solidFill>
            <a:ln>
              <a:noFill/>
            </a:ln>
          </p:spPr>
        </p:sp>
        <p:sp>
          <p:nvSpPr>
            <p:cNvPr id="20" name="TextBox 20"/>
            <p:cNvSpPr txBox="1"/>
            <p:nvPr/>
          </p:nvSpPr>
          <p:spPr>
            <a:xfrm>
              <a:off x="975360" y="5353050"/>
              <a:ext cx="263709" cy="586740"/>
            </a:xfrm>
            <a:prstGeom prst="rect">
              <a:avLst/>
            </a:prstGeom>
            <a:noFill/>
            <a:ln>
              <a:noFill/>
            </a:ln>
          </p:spPr>
          <p:txBody>
            <a:bodyPr wrap="none" lIns="0" tIns="0" rIns="0" bIns="0" anchor="t" anchorCtr="0">
              <a:spAutoFit/>
            </a:bodyPr>
            <a:lstStyle/>
            <a:p>
              <a:pPr algn="l"/>
              <a:r>
                <a:rPr lang="en-US" sz="3000" b="1" dirty="0">
                  <a:solidFill>
                    <a:schemeClr val="accent2"/>
                  </a:solidFill>
                  <a:latin typeface="+mn-lt"/>
                  <a:ea typeface="+mn-ea"/>
                  <a:cs typeface="+mn-cs"/>
                </a:rPr>
                <a:t>3</a:t>
              </a:r>
            </a:p>
          </p:txBody>
        </p:sp>
        <p:sp>
          <p:nvSpPr>
            <p:cNvPr id="21" name="TextBox 21"/>
            <p:cNvSpPr txBox="1"/>
            <p:nvPr/>
          </p:nvSpPr>
          <p:spPr>
            <a:xfrm>
              <a:off x="1477137" y="5071586"/>
              <a:ext cx="2188532" cy="337376"/>
            </a:xfrm>
            <a:prstGeom prst="rect">
              <a:avLst/>
            </a:prstGeom>
            <a:noFill/>
            <a:ln>
              <a:noFill/>
            </a:ln>
          </p:spPr>
          <p:txBody>
            <a:bodyPr wrap="none" lIns="0" tIns="0" rIns="0" bIns="0" anchor="t" anchorCtr="0">
              <a:spAutoFit/>
            </a:bodyPr>
            <a:lstStyle/>
            <a:p>
              <a:pPr algn="l"/>
              <a:r>
                <a:rPr lang="en-US" sz="1720" b="1" dirty="0">
                  <a:solidFill>
                    <a:schemeClr val="dk1"/>
                  </a:solidFill>
                  <a:latin typeface="+mn-lt"/>
                  <a:ea typeface="+mn-ea"/>
                  <a:cs typeface="+mn-cs"/>
                </a:rPr>
                <a:t>Polyline generator</a:t>
              </a:r>
            </a:p>
          </p:txBody>
        </p:sp>
        <p:sp>
          <p:nvSpPr>
            <p:cNvPr id="22" name="TextBox 22"/>
            <p:cNvSpPr txBox="1"/>
            <p:nvPr/>
          </p:nvSpPr>
          <p:spPr>
            <a:xfrm>
              <a:off x="1479423" y="5424964"/>
              <a:ext cx="3191002" cy="706565"/>
            </a:xfrm>
            <a:prstGeom prst="rect">
              <a:avLst/>
            </a:prstGeom>
            <a:noFill/>
            <a:ln>
              <a:noFill/>
            </a:ln>
          </p:spPr>
          <p:txBody>
            <a:bodyPr wrap="square" lIns="0" tIns="0" rIns="0" bIns="0" anchor="t" anchorCtr="0"/>
            <a:lstStyle/>
            <a:p>
              <a:pPr algn="l">
                <a:lnSpc>
                  <a:spcPts val="1800"/>
                </a:lnSpc>
              </a:pPr>
              <a:r>
                <a:rPr lang="en-US" sz="1280" dirty="0">
                  <a:solidFill>
                    <a:schemeClr val="dk2"/>
                  </a:solidFill>
                  <a:latin typeface="+mn-lt"/>
                  <a:ea typeface="+mn-ea"/>
                  <a:cs typeface="+mn-cs"/>
                </a:rPr>
                <a:t>An autoregressive Transformer decodes each element into ordered vertices, one coordinate at a time.</a:t>
              </a:r>
            </a:p>
          </p:txBody>
        </p:sp>
      </p:grpSp>
      <p:grpSp>
        <p:nvGrpSpPr>
          <p:cNvPr id="28" name="Group 28"/>
          <p:cNvGrpSpPr/>
          <p:nvPr/>
        </p:nvGrpSpPr>
        <p:grpSpPr>
          <a:xfrm>
            <a:off x="5289423" y="1881664"/>
            <a:ext cx="5873877" cy="2957036"/>
            <a:chOff x="5289423" y="1881664"/>
            <a:chExt cx="5873877" cy="2957036"/>
          </a:xfrm>
        </p:grpSpPr>
        <p:sp>
          <p:nvSpPr>
            <p:cNvPr id="24" name="TextBox 24"/>
            <p:cNvSpPr txBox="1"/>
            <p:nvPr/>
          </p:nvSpPr>
          <p:spPr>
            <a:xfrm>
              <a:off x="5289423" y="1881664"/>
              <a:ext cx="3179761" cy="249364"/>
            </a:xfrm>
            <a:prstGeom prst="rect">
              <a:avLst/>
            </a:prstGeom>
            <a:noFill/>
            <a:ln>
              <a:noFill/>
            </a:ln>
          </p:spPr>
          <p:txBody>
            <a:bodyPr wrap="none" lIns="0" tIns="0" rIns="0" bIns="0" anchor="t" anchorCtr="0">
              <a:spAutoFit/>
            </a:bodyPr>
            <a:lstStyle/>
            <a:p>
              <a:pPr algn="l"/>
              <a:r>
                <a:rPr lang="en-US" sz="1280" b="1" spc="75" dirty="0">
                  <a:solidFill>
                    <a:schemeClr val="dk1"/>
                  </a:solidFill>
                  <a:latin typeface="+mn-lt"/>
                  <a:ea typeface="+mn-ea"/>
                  <a:cs typeface="+mn-cs"/>
                </a:rPr>
                <a:t>Figure 2 · Network architecture</a:t>
              </a:r>
            </a:p>
          </p:txBody>
        </p:sp>
        <p:sp>
          <p:nvSpPr>
            <p:cNvPr id="25" name="Rectangle 25"/>
            <p:cNvSpPr/>
            <p:nvPr/>
          </p:nvSpPr>
          <p:spPr>
            <a:xfrm>
              <a:off x="5295900" y="2133600"/>
              <a:ext cx="1143000" cy="28575"/>
            </a:xfrm>
            <a:prstGeom prst="rect">
              <a:avLst/>
            </a:prstGeom>
            <a:solidFill>
              <a:schemeClr val="accent2"/>
            </a:solidFill>
            <a:ln>
              <a:noFill/>
            </a:ln>
          </p:spPr>
        </p:sp>
        <p:sp>
          <p:nvSpPr>
            <p:cNvPr id="26" name="Rectangle 26"/>
            <p:cNvSpPr/>
            <p:nvPr/>
          </p:nvSpPr>
          <p:spPr>
            <a:xfrm>
              <a:off x="5295900" y="2286000"/>
              <a:ext cx="5867400" cy="2552700"/>
            </a:xfrm>
            <a:prstGeom prst="roundRect">
              <a:avLst>
                <a:gd name="adj" fmla="val 1493"/>
              </a:avLst>
            </a:prstGeom>
            <a:solidFill>
              <a:srgbClr val="F4F6F9"/>
            </a:solidFill>
            <a:ln>
              <a:noFill/>
            </a:ln>
          </p:spPr>
        </p:sp>
        <p:pic>
          <p:nvPicPr>
            <p:cNvPr id="27" name="Image 27"/>
            <p:cNvPicPr>
              <a:picLocks noChangeAspect="1"/>
            </p:cNvPicPr>
            <p:nvPr/>
          </p:nvPicPr>
          <p:blipFill>
            <a:blip r:embed="rId2"/>
            <a:stretch>
              <a:fillRect/>
            </a:stretch>
          </p:blipFill>
          <p:spPr>
            <a:xfrm>
              <a:off x="5448300" y="2475905"/>
              <a:ext cx="5562600" cy="2172891"/>
            </a:xfrm>
            <a:prstGeom prst="rect">
              <a:avLst/>
            </a:prstGeom>
          </p:spPr>
        </p:pic>
      </p:grpSp>
      <p:grpSp>
        <p:nvGrpSpPr>
          <p:cNvPr id="34" name="Group 34"/>
          <p:cNvGrpSpPr/>
          <p:nvPr/>
        </p:nvGrpSpPr>
        <p:grpSpPr>
          <a:xfrm>
            <a:off x="5295900" y="5029200"/>
            <a:ext cx="5867400" cy="1185101"/>
            <a:chOff x="5295900" y="5029200"/>
            <a:chExt cx="5867400" cy="1185101"/>
          </a:xfrm>
        </p:grpSpPr>
        <p:sp>
          <p:nvSpPr>
            <p:cNvPr id="29" name="Rectangle 29"/>
            <p:cNvSpPr/>
            <p:nvPr/>
          </p:nvSpPr>
          <p:spPr>
            <a:xfrm>
              <a:off x="5295900" y="5029200"/>
              <a:ext cx="5867400" cy="1143000"/>
            </a:xfrm>
            <a:prstGeom prst="roundRect">
              <a:avLst>
                <a:gd name="adj" fmla="val 3333"/>
              </a:avLst>
            </a:prstGeom>
            <a:solidFill>
              <a:schemeClr val="accent5"/>
            </a:solidFill>
            <a:ln>
              <a:noFill/>
            </a:ln>
          </p:spPr>
        </p:sp>
        <p:sp>
          <p:nvSpPr>
            <p:cNvPr id="30" name="Rectangle 30"/>
            <p:cNvSpPr/>
            <p:nvPr/>
          </p:nvSpPr>
          <p:spPr>
            <a:xfrm>
              <a:off x="5295900" y="5029200"/>
              <a:ext cx="57150" cy="1143000"/>
            </a:xfrm>
            <a:prstGeom prst="rect">
              <a:avLst/>
            </a:prstGeom>
            <a:solidFill>
              <a:schemeClr val="accent2"/>
            </a:solidFill>
            <a:ln>
              <a:noFill/>
            </a:ln>
          </p:spPr>
        </p:sp>
        <p:sp>
          <p:nvSpPr>
            <p:cNvPr id="31" name="TextBox 31"/>
            <p:cNvSpPr txBox="1"/>
            <p:nvPr/>
          </p:nvSpPr>
          <p:spPr>
            <a:xfrm>
              <a:off x="5587746" y="5173028"/>
              <a:ext cx="2149353"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ℒ = ℒ</a:t>
              </a:r>
              <a:r>
                <a:rPr lang="en-US" sz="1500" b="1" dirty="0">
                  <a:solidFill>
                    <a:schemeClr val="dk1"/>
                  </a:solidFill>
                  <a:latin typeface="+mn-lt"/>
                  <a:ea typeface="+mn-ea"/>
                  <a:cs typeface="+mn-cs"/>
                </a:rPr>
                <a:t>det</a:t>
              </a:r>
              <a:r>
                <a:rPr lang="en-US" sz="2550" b="1" dirty="0">
                  <a:solidFill>
                    <a:schemeClr val="dk1"/>
                  </a:solidFill>
                  <a:latin typeface="+mn-lt"/>
                  <a:ea typeface="+mn-ea"/>
                  <a:cs typeface="+mn-cs"/>
                </a:rPr>
                <a:t xml:space="preserve"> + ℒ</a:t>
              </a:r>
              <a:r>
                <a:rPr lang="en-US" sz="1500" b="1" dirty="0">
                  <a:solidFill>
                    <a:schemeClr val="dk1"/>
                  </a:solidFill>
                  <a:latin typeface="+mn-lt"/>
                  <a:ea typeface="+mn-ea"/>
                  <a:cs typeface="+mn-cs"/>
                </a:rPr>
                <a:t>gen</a:t>
              </a:r>
            </a:p>
          </p:txBody>
        </p:sp>
        <p:sp>
          <p:nvSpPr>
            <p:cNvPr id="32" name="TextBox 32"/>
            <p:cNvSpPr txBox="1"/>
            <p:nvPr/>
          </p:nvSpPr>
          <p:spPr>
            <a:xfrm>
              <a:off x="5593842" y="5721668"/>
              <a:ext cx="5426277"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Bipartite-matching detection loss + polyline generation loss,</a:t>
              </a:r>
            </a:p>
          </p:txBody>
        </p:sp>
        <p:sp>
          <p:nvSpPr>
            <p:cNvPr id="33" name="TextBox 33"/>
            <p:cNvSpPr txBox="1"/>
            <p:nvPr/>
          </p:nvSpPr>
          <p:spPr>
            <a:xfrm>
              <a:off x="5593842" y="5950268"/>
              <a:ext cx="1731131"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trained end to end.</a:t>
              </a:r>
            </a:p>
          </p:txBody>
        </p:sp>
      </p:grpSp>
      <p:sp>
        <p:nvSpPr>
          <p:cNvPr id="35" name="cue_s05_c1_vectormapnet_three_stages" title="cue_s05_c1_vectormapnet_three_stages" descr="cue_s05_c1_vectormapnet_three_stages VectorMapNet has three stages."/>
          <p:cNvSpPr/>
          <p:nvPr/>
        </p:nvSpPr>
        <p:spPr>
          <a:xfrm>
            <a:off x="746150" y="730377"/>
            <a:ext cx="4664659" cy="93611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ue_s05_c2_bird_s_eye_view_extractor_maps_modal" title="cue_s05_c2_bird_s_eye_view_extractor_maps_modal" descr="cue_s05_c2_bird_s_eye_view_extractor_maps_modal A bird's-eye-view extractor maps each modality into a shared top-down space: cameras through a ResNet and inverse perspective mapping, LiDAR through PointPillars, fused by concatenation."/>
          <p:cNvSpPr/>
          <p:nvPr/>
        </p:nvSpPr>
        <p:spPr>
          <a:xfrm>
            <a:off x="762000" y="1866747"/>
            <a:ext cx="4191609" cy="13331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05_c3_detection_transformer_element_querie" title="cue_s05_c3_detection_transformer_element_querie" descr="cue_s05_c3_detection_transformer_element_querie A detection transformer with element queries locates each element as keypoints."/>
          <p:cNvSpPr/>
          <p:nvPr/>
        </p:nvSpPr>
        <p:spPr>
          <a:xfrm>
            <a:off x="762000" y="3352876"/>
            <a:ext cx="4191609" cy="13331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5_c4_autoregressive_polyline_generator_em" title="cue_s05_c4_autoregressive_polyline_generator_em" descr="cue_s05_c4_autoregressive_polyline_generator_em An autoregressive polyline generator then emits ordered vertices, trained with a matching detection loss and a generation loss."/>
          <p:cNvSpPr/>
          <p:nvPr/>
        </p:nvSpPr>
        <p:spPr>
          <a:xfrm>
            <a:off x="762000" y="4839004"/>
            <a:ext cx="4191609" cy="13331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14300" cy="6858000"/>
          </a:xfrm>
          <a:prstGeom prst="rect">
            <a:avLst/>
          </a:prstGeom>
          <a:solidFill>
            <a:schemeClr val="accent2"/>
          </a:solidFill>
          <a:ln>
            <a:noFill/>
          </a:ln>
        </p:spPr>
        <p:txBody>
          <a:bodyPr/>
          <a:p/>
        </p:txBody>
      </p:sp>
      <p:grpSp>
        <p:nvGrpSpPr>
          <p:cNvPr id="5" name="Group 5"/>
          <p:cNvGrpSpPr/>
          <p:nvPr/>
        </p:nvGrpSpPr>
        <p:grpSpPr>
          <a:xfrm>
            <a:off x="745998" y="730568"/>
            <a:ext cx="7627528" cy="936117"/>
            <a:chOff x="745998" y="730568"/>
            <a:chExt cx="7627528" cy="936117"/>
          </a:xfrm>
        </p:grpSpPr>
        <p:sp>
          <p:nvSpPr>
            <p:cNvPr id="3" name="TextBox 3"/>
            <p:cNvSpPr txBox="1"/>
            <p:nvPr/>
          </p:nvSpPr>
          <p:spPr>
            <a:xfrm>
              <a:off x="755142" y="730568"/>
              <a:ext cx="2636284" cy="264033"/>
            </a:xfrm>
            <a:prstGeom prst="rect">
              <a:avLst/>
            </a:prstGeom>
            <a:noFill/>
            <a:ln>
              <a:noFill/>
            </a:ln>
          </p:spPr>
          <p:txBody>
            <a:bodyPr wrap="none" lIns="0" tIns="0" rIns="0" bIns="0" anchor="t" anchorCtr="0">
              <a:spAutoFit/>
            </a:bodyPr>
            <a:lstStyle/>
            <a:p>
              <a:pPr algn="l"/>
              <a:r>
                <a:rPr lang="en-US" sz="1350" b="1" spc="225" dirty="0">
                  <a:solidFill>
                    <a:schemeClr val="accent2"/>
                  </a:solidFill>
                  <a:latin typeface="+mn-lt"/>
                  <a:ea typeface="+mn-ea"/>
                  <a:cs typeface="+mn-cs"/>
                </a:rPr>
                <a:t>DATASET · BENCHMARK</a:t>
              </a:r>
            </a:p>
          </p:txBody>
        </p:sp>
        <p:sp>
          <p:nvSpPr>
            <p:cNvPr id="4" name="TextBox 4"/>
            <p:cNvSpPr txBox="1"/>
            <p:nvPr/>
          </p:nvSpPr>
          <p:spPr>
            <a:xfrm>
              <a:off x="745998" y="1050608"/>
              <a:ext cx="7627528" cy="616077"/>
            </a:xfrm>
            <a:prstGeom prst="rect">
              <a:avLst/>
            </a:prstGeom>
            <a:noFill/>
            <a:ln>
              <a:noFill/>
            </a:ln>
          </p:spPr>
          <p:txBody>
            <a:bodyPr wrap="none" lIns="0" tIns="0" rIns="0" bIns="0" anchor="t" anchorCtr="0">
              <a:spAutoFit/>
            </a:bodyPr>
            <a:lstStyle/>
            <a:p>
              <a:pPr algn="l"/>
              <a:r>
                <a:rPr lang="en-US" sz="3150" b="1" spc="-75" dirty="0">
                  <a:solidFill>
                    <a:schemeClr val="dk1"/>
                  </a:solidFill>
                  <a:latin typeface="+mn-lt"/>
                  <a:ea typeface="+mn-ea"/>
                  <a:cs typeface="+mn-cs"/>
                </a:rPr>
                <a:t>Two datasets, order-aware metrics</a:t>
              </a:r>
            </a:p>
          </p:txBody>
        </p:sp>
      </p:grpSp>
      <p:grpSp>
        <p:nvGrpSpPr>
          <p:cNvPr id="17" name="Group 17"/>
          <p:cNvGrpSpPr/>
          <p:nvPr/>
        </p:nvGrpSpPr>
        <p:grpSpPr>
          <a:xfrm>
            <a:off x="762000" y="1943100"/>
            <a:ext cx="3295650" cy="4305300"/>
            <a:chOff x="762000" y="1943100"/>
            <a:chExt cx="3295650" cy="4305300"/>
          </a:xfrm>
        </p:grpSpPr>
        <p:sp>
          <p:nvSpPr>
            <p:cNvPr id="6" name="Rectangle 6"/>
            <p:cNvSpPr/>
            <p:nvPr/>
          </p:nvSpPr>
          <p:spPr>
            <a:xfrm>
              <a:off x="762000" y="1943100"/>
              <a:ext cx="3295650" cy="4305300"/>
            </a:xfrm>
            <a:prstGeom prst="roundRect">
              <a:avLst>
                <a:gd name="adj" fmla="val 1156"/>
              </a:avLst>
            </a:prstGeom>
            <a:solidFill>
              <a:srgbClr val="F4F6F9"/>
            </a:solidFill>
            <a:ln>
              <a:noFill/>
            </a:ln>
          </p:spPr>
        </p:sp>
        <p:sp>
          <p:nvSpPr>
            <p:cNvPr id="7" name="Rectangle 7"/>
            <p:cNvSpPr/>
            <p:nvPr/>
          </p:nvSpPr>
          <p:spPr>
            <a:xfrm>
              <a:off x="762000" y="1943100"/>
              <a:ext cx="3295650" cy="57150"/>
            </a:xfrm>
            <a:prstGeom prst="rect">
              <a:avLst/>
            </a:prstGeom>
            <a:solidFill>
              <a:schemeClr val="accent2"/>
            </a:solidFill>
            <a:ln>
              <a:noFill/>
            </a:ln>
          </p:spPr>
        </p:sp>
        <p:sp>
          <p:nvSpPr>
            <p:cNvPr id="8" name="TextBox 8"/>
            <p:cNvSpPr txBox="1"/>
            <p:nvPr/>
          </p:nvSpPr>
          <p:spPr>
            <a:xfrm>
              <a:off x="1019556" y="2301240"/>
              <a:ext cx="1145709"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Datasets</a:t>
              </a:r>
            </a:p>
          </p:txBody>
        </p:sp>
        <p:sp>
          <p:nvSpPr>
            <p:cNvPr id="9" name="Rectangle 9"/>
            <p:cNvSpPr/>
            <p:nvPr/>
          </p:nvSpPr>
          <p:spPr>
            <a:xfrm>
              <a:off x="1028700" y="2743200"/>
              <a:ext cx="2762250" cy="571500"/>
            </a:xfrm>
            <a:prstGeom prst="roundRect">
              <a:avLst>
                <a:gd name="adj" fmla="val 6667"/>
              </a:avLst>
            </a:prstGeom>
            <a:solidFill>
              <a:schemeClr val="lt1"/>
            </a:solidFill>
            <a:ln w="14288">
              <a:solidFill>
                <a:schemeClr val="accent4"/>
              </a:solidFill>
            </a:ln>
          </p:spPr>
        </p:sp>
        <p:sp>
          <p:nvSpPr>
            <p:cNvPr id="10" name="Rectangle 10"/>
            <p:cNvSpPr/>
            <p:nvPr/>
          </p:nvSpPr>
          <p:spPr>
            <a:xfrm>
              <a:off x="1028700" y="2743200"/>
              <a:ext cx="47625" cy="571500"/>
            </a:xfrm>
            <a:prstGeom prst="rect">
              <a:avLst/>
            </a:prstGeom>
            <a:solidFill>
              <a:schemeClr val="accent2"/>
            </a:solidFill>
            <a:ln>
              <a:noFill/>
            </a:ln>
          </p:spPr>
        </p:sp>
        <p:sp>
          <p:nvSpPr>
            <p:cNvPr id="11" name="TextBox 11"/>
            <p:cNvSpPr txBox="1"/>
            <p:nvPr/>
          </p:nvSpPr>
          <p:spPr>
            <a:xfrm>
              <a:off x="1249299" y="2925604"/>
              <a:ext cx="1005627"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nuScenes</a:t>
              </a:r>
            </a:p>
          </p:txBody>
        </p:sp>
        <p:sp>
          <p:nvSpPr>
            <p:cNvPr id="12" name="Rectangle 12"/>
            <p:cNvSpPr/>
            <p:nvPr/>
          </p:nvSpPr>
          <p:spPr>
            <a:xfrm>
              <a:off x="1028700" y="3467100"/>
              <a:ext cx="2762250" cy="819150"/>
            </a:xfrm>
            <a:prstGeom prst="roundRect">
              <a:avLst>
                <a:gd name="adj" fmla="val 4651"/>
              </a:avLst>
            </a:prstGeom>
            <a:solidFill>
              <a:schemeClr val="lt1"/>
            </a:solidFill>
            <a:ln w="14288">
              <a:solidFill>
                <a:schemeClr val="accent4"/>
              </a:solidFill>
            </a:ln>
          </p:spPr>
        </p:sp>
        <p:sp>
          <p:nvSpPr>
            <p:cNvPr id="13" name="Rectangle 13"/>
            <p:cNvSpPr/>
            <p:nvPr/>
          </p:nvSpPr>
          <p:spPr>
            <a:xfrm>
              <a:off x="1028700" y="3467100"/>
              <a:ext cx="47625" cy="819150"/>
            </a:xfrm>
            <a:prstGeom prst="rect">
              <a:avLst/>
            </a:prstGeom>
            <a:solidFill>
              <a:schemeClr val="accent2"/>
            </a:solidFill>
            <a:ln>
              <a:noFill/>
            </a:ln>
          </p:spPr>
        </p:sp>
        <p:sp>
          <p:nvSpPr>
            <p:cNvPr id="14" name="TextBox 14"/>
            <p:cNvSpPr txBox="1"/>
            <p:nvPr/>
          </p:nvSpPr>
          <p:spPr>
            <a:xfrm>
              <a:off x="1249299" y="3630454"/>
              <a:ext cx="1252068"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Argoverse2</a:t>
              </a:r>
            </a:p>
          </p:txBody>
        </p:sp>
        <p:sp>
          <p:nvSpPr>
            <p:cNvPr id="15" name="TextBox 15"/>
            <p:cNvSpPr txBox="1"/>
            <p:nvPr/>
          </p:nvSpPr>
          <p:spPr>
            <a:xfrm>
              <a:off x="1251204" y="3928110"/>
              <a:ext cx="2463513"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includes height → 2D and 3D eval</a:t>
              </a:r>
            </a:p>
          </p:txBody>
        </p:sp>
        <p:sp>
          <p:nvSpPr>
            <p:cNvPr id="16" name="TextBox 16"/>
            <p:cNvSpPr txBox="1"/>
            <p:nvPr/>
          </p:nvSpPr>
          <p:spPr>
            <a:xfrm>
              <a:off x="1021842" y="4654868"/>
              <a:ext cx="1985391" cy="511683"/>
            </a:xfrm>
            <a:prstGeom prst="rect">
              <a:avLst/>
            </a:prstGeom>
            <a:noFill/>
            <a:ln>
              <a:noFill/>
            </a:ln>
          </p:spPr>
          <p:txBody>
            <a:bodyPr wrap="square" lIns="0" tIns="0" rIns="0" bIns="0" anchor="t" anchorCtr="0"/>
            <a:lstStyle/>
            <a:p>
              <a:pPr algn="l">
                <a:lnSpc>
                  <a:spcPts val="1950"/>
                </a:lnSpc>
              </a:pPr>
              <a:r>
                <a:rPr lang="en-US" sz="1350" dirty="0">
                  <a:solidFill>
                    <a:schemeClr val="dk2"/>
                  </a:solidFill>
                  <a:latin typeface="+mn-lt"/>
                  <a:ea typeface="+mn-ea"/>
                  <a:cs typeface="+mn-cs"/>
                </a:rPr>
                <a:t>Two public autonomous- driving datasets.</a:t>
              </a:r>
            </a:p>
          </p:txBody>
        </p:sp>
      </p:grpSp>
      <p:grpSp>
        <p:nvGrpSpPr>
          <p:cNvPr id="31" name="Group 31"/>
          <p:cNvGrpSpPr/>
          <p:nvPr/>
        </p:nvGrpSpPr>
        <p:grpSpPr>
          <a:xfrm>
            <a:off x="4314825" y="1943100"/>
            <a:ext cx="3295650" cy="4305300"/>
            <a:chOff x="4314825" y="1943100"/>
            <a:chExt cx="3295650" cy="4305300"/>
          </a:xfrm>
        </p:grpSpPr>
        <p:sp>
          <p:nvSpPr>
            <p:cNvPr id="18" name="Rectangle 18"/>
            <p:cNvSpPr/>
            <p:nvPr/>
          </p:nvSpPr>
          <p:spPr>
            <a:xfrm>
              <a:off x="4314825" y="1943100"/>
              <a:ext cx="3295650" cy="4305300"/>
            </a:xfrm>
            <a:prstGeom prst="roundRect">
              <a:avLst>
                <a:gd name="adj" fmla="val 1156"/>
              </a:avLst>
            </a:prstGeom>
            <a:solidFill>
              <a:srgbClr val="F4F6F9"/>
            </a:solidFill>
            <a:ln>
              <a:noFill/>
            </a:ln>
          </p:spPr>
        </p:sp>
        <p:sp>
          <p:nvSpPr>
            <p:cNvPr id="19" name="Rectangle 19"/>
            <p:cNvSpPr/>
            <p:nvPr/>
          </p:nvSpPr>
          <p:spPr>
            <a:xfrm>
              <a:off x="4314825" y="1943100"/>
              <a:ext cx="3295650" cy="57150"/>
            </a:xfrm>
            <a:prstGeom prst="rect">
              <a:avLst/>
            </a:prstGeom>
            <a:solidFill>
              <a:schemeClr val="accent2"/>
            </a:solidFill>
            <a:ln>
              <a:noFill/>
            </a:ln>
          </p:spPr>
        </p:sp>
        <p:sp>
          <p:nvSpPr>
            <p:cNvPr id="20" name="TextBox 20"/>
            <p:cNvSpPr txBox="1"/>
            <p:nvPr/>
          </p:nvSpPr>
          <p:spPr>
            <a:xfrm>
              <a:off x="4572381" y="2301240"/>
              <a:ext cx="2405146"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Elements evaluated</a:t>
              </a:r>
            </a:p>
          </p:txBody>
        </p:sp>
        <p:sp>
          <p:nvSpPr>
            <p:cNvPr id="21" name="Rectangle 21"/>
            <p:cNvSpPr/>
            <p:nvPr/>
          </p:nvSpPr>
          <p:spPr>
            <a:xfrm>
              <a:off x="4581525" y="2743200"/>
              <a:ext cx="2762250" cy="533400"/>
            </a:xfrm>
            <a:prstGeom prst="roundRect">
              <a:avLst>
                <a:gd name="adj" fmla="val 7143"/>
              </a:avLst>
            </a:prstGeom>
            <a:solidFill>
              <a:schemeClr val="lt1"/>
            </a:solidFill>
            <a:ln w="14288">
              <a:solidFill>
                <a:schemeClr val="accent4"/>
              </a:solidFill>
            </a:ln>
          </p:spPr>
        </p:sp>
        <p:sp>
          <p:nvSpPr>
            <p:cNvPr id="22" name="Rectangle 22"/>
            <p:cNvSpPr/>
            <p:nvPr/>
          </p:nvSpPr>
          <p:spPr>
            <a:xfrm>
              <a:off x="4581525" y="2743200"/>
              <a:ext cx="47625" cy="533400"/>
            </a:xfrm>
            <a:prstGeom prst="rect">
              <a:avLst/>
            </a:prstGeom>
            <a:solidFill>
              <a:schemeClr val="accent2"/>
            </a:solidFill>
            <a:ln>
              <a:noFill/>
            </a:ln>
          </p:spPr>
        </p:sp>
        <p:sp>
          <p:nvSpPr>
            <p:cNvPr id="23" name="TextBox 23"/>
            <p:cNvSpPr txBox="1"/>
            <p:nvPr/>
          </p:nvSpPr>
          <p:spPr>
            <a:xfrm>
              <a:off x="4802505" y="2914650"/>
              <a:ext cx="2194986"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Pedestrian crossings</a:t>
              </a:r>
            </a:p>
          </p:txBody>
        </p:sp>
        <p:sp>
          <p:nvSpPr>
            <p:cNvPr id="24" name="Rectangle 24"/>
            <p:cNvSpPr/>
            <p:nvPr/>
          </p:nvSpPr>
          <p:spPr>
            <a:xfrm>
              <a:off x="4581525" y="3409950"/>
              <a:ext cx="2762250" cy="533400"/>
            </a:xfrm>
            <a:prstGeom prst="roundRect">
              <a:avLst>
                <a:gd name="adj" fmla="val 7143"/>
              </a:avLst>
            </a:prstGeom>
            <a:solidFill>
              <a:schemeClr val="lt1"/>
            </a:solidFill>
            <a:ln w="14288">
              <a:solidFill>
                <a:schemeClr val="accent4"/>
              </a:solidFill>
            </a:ln>
          </p:spPr>
        </p:sp>
        <p:sp>
          <p:nvSpPr>
            <p:cNvPr id="25" name="Rectangle 25"/>
            <p:cNvSpPr/>
            <p:nvPr/>
          </p:nvSpPr>
          <p:spPr>
            <a:xfrm>
              <a:off x="4581525" y="3409950"/>
              <a:ext cx="47625" cy="533400"/>
            </a:xfrm>
            <a:prstGeom prst="rect">
              <a:avLst/>
            </a:prstGeom>
            <a:solidFill>
              <a:schemeClr val="accent2"/>
            </a:solidFill>
            <a:ln>
              <a:noFill/>
            </a:ln>
          </p:spPr>
        </p:sp>
        <p:sp>
          <p:nvSpPr>
            <p:cNvPr id="26" name="TextBox 26"/>
            <p:cNvSpPr txBox="1"/>
            <p:nvPr/>
          </p:nvSpPr>
          <p:spPr>
            <a:xfrm>
              <a:off x="4802505" y="3581400"/>
              <a:ext cx="1378610"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Lane dividers</a:t>
              </a:r>
            </a:p>
          </p:txBody>
        </p:sp>
        <p:sp>
          <p:nvSpPr>
            <p:cNvPr id="27" name="Rectangle 27"/>
            <p:cNvSpPr/>
            <p:nvPr/>
          </p:nvSpPr>
          <p:spPr>
            <a:xfrm>
              <a:off x="4581525" y="4076700"/>
              <a:ext cx="2762250" cy="533400"/>
            </a:xfrm>
            <a:prstGeom prst="roundRect">
              <a:avLst>
                <a:gd name="adj" fmla="val 7143"/>
              </a:avLst>
            </a:prstGeom>
            <a:solidFill>
              <a:schemeClr val="lt1"/>
            </a:solidFill>
            <a:ln w="14288">
              <a:solidFill>
                <a:schemeClr val="accent4"/>
              </a:solidFill>
            </a:ln>
          </p:spPr>
        </p:sp>
        <p:sp>
          <p:nvSpPr>
            <p:cNvPr id="28" name="Rectangle 28"/>
            <p:cNvSpPr/>
            <p:nvPr/>
          </p:nvSpPr>
          <p:spPr>
            <a:xfrm>
              <a:off x="4581525" y="4076700"/>
              <a:ext cx="47625" cy="533400"/>
            </a:xfrm>
            <a:prstGeom prst="rect">
              <a:avLst/>
            </a:prstGeom>
            <a:solidFill>
              <a:schemeClr val="accent2"/>
            </a:solidFill>
            <a:ln>
              <a:noFill/>
            </a:ln>
          </p:spPr>
        </p:sp>
        <p:sp>
          <p:nvSpPr>
            <p:cNvPr id="29" name="TextBox 29"/>
            <p:cNvSpPr txBox="1"/>
            <p:nvPr/>
          </p:nvSpPr>
          <p:spPr>
            <a:xfrm>
              <a:off x="4802505" y="4248150"/>
              <a:ext cx="1665089"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Road boundaries</a:t>
              </a:r>
            </a:p>
          </p:txBody>
        </p:sp>
        <p:sp>
          <p:nvSpPr>
            <p:cNvPr id="30" name="TextBox 30"/>
            <p:cNvSpPr txBox="1"/>
            <p:nvPr/>
          </p:nvSpPr>
          <p:spPr>
            <a:xfrm>
              <a:off x="4574667" y="4959668"/>
              <a:ext cx="2431161" cy="759333"/>
            </a:xfrm>
            <a:prstGeom prst="rect">
              <a:avLst/>
            </a:prstGeom>
            <a:noFill/>
            <a:ln>
              <a:noFill/>
            </a:ln>
          </p:spPr>
          <p:txBody>
            <a:bodyPr wrap="square" lIns="0" tIns="0" rIns="0" bIns="0" anchor="t" anchorCtr="0"/>
            <a:lstStyle/>
            <a:p>
              <a:pPr algn="l">
                <a:lnSpc>
                  <a:spcPts val="1950"/>
                </a:lnSpc>
              </a:pPr>
              <a:r>
                <a:rPr lang="en-US" sz="1350" dirty="0">
                  <a:solidFill>
                    <a:schemeClr val="dk2"/>
                  </a:solidFill>
                  <a:latin typeface="+mn-lt"/>
                  <a:ea typeface="+mn-ea"/>
                  <a:cs typeface="+mn-cs"/>
                </a:rPr>
                <a:t>Predicted polylines compared to ground truth, following HDMapNet.</a:t>
              </a:r>
            </a:p>
          </p:txBody>
        </p:sp>
      </p:grpSp>
      <p:grpSp>
        <p:nvGrpSpPr>
          <p:cNvPr id="46" name="Group 46"/>
          <p:cNvGrpSpPr/>
          <p:nvPr/>
        </p:nvGrpSpPr>
        <p:grpSpPr>
          <a:xfrm>
            <a:off x="7867650" y="1943100"/>
            <a:ext cx="3295650" cy="4305300"/>
            <a:chOff x="7867650" y="1943100"/>
            <a:chExt cx="3295650" cy="4305300"/>
          </a:xfrm>
        </p:grpSpPr>
        <p:sp>
          <p:nvSpPr>
            <p:cNvPr id="32" name="Rectangle 32"/>
            <p:cNvSpPr/>
            <p:nvPr/>
          </p:nvSpPr>
          <p:spPr>
            <a:xfrm>
              <a:off x="7867650" y="1943100"/>
              <a:ext cx="3295650" cy="4305300"/>
            </a:xfrm>
            <a:prstGeom prst="roundRect">
              <a:avLst>
                <a:gd name="adj" fmla="val 1156"/>
              </a:avLst>
            </a:prstGeom>
            <a:solidFill>
              <a:srgbClr val="F4F6F9"/>
            </a:solidFill>
            <a:ln>
              <a:noFill/>
            </a:ln>
          </p:spPr>
        </p:sp>
        <p:sp>
          <p:nvSpPr>
            <p:cNvPr id="33" name="Rectangle 33"/>
            <p:cNvSpPr/>
            <p:nvPr/>
          </p:nvSpPr>
          <p:spPr>
            <a:xfrm>
              <a:off x="7867650" y="1943100"/>
              <a:ext cx="3295650" cy="57150"/>
            </a:xfrm>
            <a:prstGeom prst="rect">
              <a:avLst/>
            </a:prstGeom>
            <a:solidFill>
              <a:schemeClr val="accent2"/>
            </a:solidFill>
            <a:ln>
              <a:noFill/>
            </a:ln>
          </p:spPr>
        </p:sp>
        <p:sp>
          <p:nvSpPr>
            <p:cNvPr id="34" name="TextBox 34"/>
            <p:cNvSpPr txBox="1"/>
            <p:nvPr/>
          </p:nvSpPr>
          <p:spPr>
            <a:xfrm>
              <a:off x="8125206" y="2301240"/>
              <a:ext cx="992947"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Metrics</a:t>
              </a:r>
            </a:p>
          </p:txBody>
        </p:sp>
        <p:sp>
          <p:nvSpPr>
            <p:cNvPr id="35" name="Rectangle 35"/>
            <p:cNvSpPr/>
            <p:nvPr/>
          </p:nvSpPr>
          <p:spPr>
            <a:xfrm>
              <a:off x="8134350" y="2743200"/>
              <a:ext cx="2762250" cy="533400"/>
            </a:xfrm>
            <a:prstGeom prst="roundRect">
              <a:avLst>
                <a:gd name="adj" fmla="val 7143"/>
              </a:avLst>
            </a:prstGeom>
            <a:solidFill>
              <a:schemeClr val="lt1"/>
            </a:solidFill>
            <a:ln w="14288">
              <a:solidFill>
                <a:schemeClr val="accent4"/>
              </a:solidFill>
            </a:ln>
          </p:spPr>
        </p:sp>
        <p:sp>
          <p:nvSpPr>
            <p:cNvPr id="36" name="Rectangle 36"/>
            <p:cNvSpPr/>
            <p:nvPr/>
          </p:nvSpPr>
          <p:spPr>
            <a:xfrm>
              <a:off x="8134350" y="2743200"/>
              <a:ext cx="47625" cy="533400"/>
            </a:xfrm>
            <a:prstGeom prst="rect">
              <a:avLst/>
            </a:prstGeom>
            <a:solidFill>
              <a:schemeClr val="accent2"/>
            </a:solidFill>
            <a:ln>
              <a:noFill/>
            </a:ln>
          </p:spPr>
        </p:sp>
        <p:sp>
          <p:nvSpPr>
            <p:cNvPr id="37" name="TextBox 37"/>
            <p:cNvSpPr txBox="1"/>
            <p:nvPr/>
          </p:nvSpPr>
          <p:spPr>
            <a:xfrm>
              <a:off x="8355330" y="2914650"/>
              <a:ext cx="2188806"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Chamfer-distance AP</a:t>
              </a:r>
            </a:p>
          </p:txBody>
        </p:sp>
        <p:sp>
          <p:nvSpPr>
            <p:cNvPr id="38" name="Rectangle 38"/>
            <p:cNvSpPr/>
            <p:nvPr/>
          </p:nvSpPr>
          <p:spPr>
            <a:xfrm>
              <a:off x="8134350" y="3409950"/>
              <a:ext cx="2762250" cy="819150"/>
            </a:xfrm>
            <a:prstGeom prst="roundRect">
              <a:avLst>
                <a:gd name="adj" fmla="val 4651"/>
              </a:avLst>
            </a:prstGeom>
            <a:solidFill>
              <a:schemeClr val="accent5"/>
            </a:solidFill>
            <a:ln w="19050">
              <a:solidFill>
                <a:schemeClr val="accent2"/>
              </a:solidFill>
            </a:ln>
          </p:spPr>
        </p:sp>
        <p:sp>
          <p:nvSpPr>
            <p:cNvPr id="39" name="Rectangle 39"/>
            <p:cNvSpPr/>
            <p:nvPr/>
          </p:nvSpPr>
          <p:spPr>
            <a:xfrm>
              <a:off x="8134350" y="3409950"/>
              <a:ext cx="47625" cy="819150"/>
            </a:xfrm>
            <a:prstGeom prst="rect">
              <a:avLst/>
            </a:prstGeom>
            <a:solidFill>
              <a:schemeClr val="accent2"/>
            </a:solidFill>
            <a:ln>
              <a:noFill/>
            </a:ln>
          </p:spPr>
        </p:sp>
        <p:sp>
          <p:nvSpPr>
            <p:cNvPr id="40" name="TextBox 40"/>
            <p:cNvSpPr txBox="1"/>
            <p:nvPr/>
          </p:nvSpPr>
          <p:spPr>
            <a:xfrm>
              <a:off x="8355330" y="3581400"/>
              <a:ext cx="2145977"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Fréchet-distance AP</a:t>
              </a:r>
            </a:p>
          </p:txBody>
        </p:sp>
        <p:sp>
          <p:nvSpPr>
            <p:cNvPr id="41" name="TextBox 41"/>
            <p:cNvSpPr txBox="1"/>
            <p:nvPr/>
          </p:nvSpPr>
          <p:spPr>
            <a:xfrm>
              <a:off x="8356854" y="3870960"/>
              <a:ext cx="2281885"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new — respects vertex order</a:t>
              </a:r>
            </a:p>
          </p:txBody>
        </p:sp>
        <p:sp>
          <p:nvSpPr>
            <p:cNvPr id="42" name="Rectangle 42"/>
            <p:cNvSpPr/>
            <p:nvPr/>
          </p:nvSpPr>
          <p:spPr>
            <a:xfrm>
              <a:off x="8134350" y="4362450"/>
              <a:ext cx="2762250" cy="533400"/>
            </a:xfrm>
            <a:prstGeom prst="roundRect">
              <a:avLst>
                <a:gd name="adj" fmla="val 7143"/>
              </a:avLst>
            </a:prstGeom>
            <a:solidFill>
              <a:schemeClr val="lt1"/>
            </a:solidFill>
            <a:ln w="14288">
              <a:solidFill>
                <a:schemeClr val="accent4"/>
              </a:solidFill>
            </a:ln>
          </p:spPr>
        </p:sp>
        <p:sp>
          <p:nvSpPr>
            <p:cNvPr id="43" name="Rectangle 43"/>
            <p:cNvSpPr/>
            <p:nvPr/>
          </p:nvSpPr>
          <p:spPr>
            <a:xfrm>
              <a:off x="8134350" y="4362450"/>
              <a:ext cx="47625" cy="533400"/>
            </a:xfrm>
            <a:prstGeom prst="rect">
              <a:avLst/>
            </a:prstGeom>
            <a:solidFill>
              <a:schemeClr val="accent2"/>
            </a:solidFill>
            <a:ln>
              <a:noFill/>
            </a:ln>
          </p:spPr>
        </p:sp>
        <p:sp>
          <p:nvSpPr>
            <p:cNvPr id="44" name="TextBox 44"/>
            <p:cNvSpPr txBox="1"/>
            <p:nvPr/>
          </p:nvSpPr>
          <p:spPr>
            <a:xfrm>
              <a:off x="8355330" y="4533900"/>
              <a:ext cx="2206085"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3D eval (Argoverse2)</a:t>
              </a:r>
            </a:p>
          </p:txBody>
        </p:sp>
        <p:sp>
          <p:nvSpPr>
            <p:cNvPr id="45" name="TextBox 45"/>
            <p:cNvSpPr txBox="1"/>
            <p:nvPr/>
          </p:nvSpPr>
          <p:spPr>
            <a:xfrm>
              <a:off x="8127492" y="5245418"/>
              <a:ext cx="1916811" cy="511683"/>
            </a:xfrm>
            <a:prstGeom prst="rect">
              <a:avLst/>
            </a:prstGeom>
            <a:noFill/>
            <a:ln>
              <a:noFill/>
            </a:ln>
          </p:spPr>
          <p:txBody>
            <a:bodyPr wrap="square" lIns="0" tIns="0" rIns="0" bIns="0" anchor="t" anchorCtr="0"/>
            <a:lstStyle/>
            <a:p>
              <a:pPr algn="l">
                <a:lnSpc>
                  <a:spcPts val="1950"/>
                </a:lnSpc>
              </a:pPr>
              <a:r>
                <a:rPr lang="en-US" sz="1350" dirty="0">
                  <a:solidFill>
                    <a:schemeClr val="dk2"/>
                  </a:solidFill>
                  <a:latin typeface="+mn-lt"/>
                  <a:ea typeface="+mn-ea"/>
                  <a:cs typeface="+mn-cs"/>
                </a:rPr>
                <a:t>AP at 0.5 / 1.0 / 1.5 m matching thresholds.</a:t>
              </a:r>
            </a:p>
          </p:txBody>
        </p:sp>
      </p:grpSp>
      <p:sp>
        <p:nvSpPr>
          <p:cNvPr id="47" name="cue_s06_c1_vectormapnet_evaluated_nuscenes_argo" title="cue_s06_c1_vectormapnet_evaluated_nuscenes_argo" descr="cue_s06_c1_vectormapnet_evaluated_nuscenes_argo VectorMapNet is evaluated on nuScenes and Argoverse2."/>
          <p:cNvSpPr/>
          <p:nvPr/>
        </p:nvSpPr>
        <p:spPr>
          <a:xfrm>
            <a:off x="762000" y="1942871"/>
            <a:ext cx="3295497" cy="43054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6_c2_following_hdmapnet_predicted_polylin" title="cue_s06_c2_following_hdmapnet_predicted_polylin" descr="cue_s06_c2_following_hdmapnet_predicted_polylin Following HDMapNet, predicted polylines are compared to ground truth for crosswalks, lane dividers, and road boundaries."/>
          <p:cNvSpPr/>
          <p:nvPr/>
        </p:nvSpPr>
        <p:spPr>
          <a:xfrm>
            <a:off x="4314748" y="1942871"/>
            <a:ext cx="3295497" cy="43054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6_c3_reports_chamfer_distance_average_pre" title="cue_s06_c3_reports_chamfer_distance_average_pre" descr="cue_s06_c3_reports_chamfer_distance_average_pre It reports Chamfer-distance average precision and a new Fréchet-distance AP that respects vertex order, plus 3D evaluation on Argoverse2."/>
          <p:cNvSpPr/>
          <p:nvPr/>
        </p:nvSpPr>
        <p:spPr>
          <a:xfrm>
            <a:off x="7867497" y="1942871"/>
            <a:ext cx="3295497" cy="43054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14300" cy="6858000"/>
          </a:xfrm>
          <a:prstGeom prst="rect">
            <a:avLst/>
          </a:prstGeom>
          <a:solidFill>
            <a:schemeClr val="accent2"/>
          </a:solidFill>
          <a:ln>
            <a:noFill/>
          </a:ln>
        </p:spPr>
        <p:txBody>
          <a:bodyPr/>
          <a:p/>
        </p:txBody>
      </p:sp>
      <p:grpSp>
        <p:nvGrpSpPr>
          <p:cNvPr id="5" name="Group 5"/>
          <p:cNvGrpSpPr/>
          <p:nvPr/>
        </p:nvGrpSpPr>
        <p:grpSpPr>
          <a:xfrm>
            <a:off x="745998" y="730568"/>
            <a:ext cx="4755729" cy="936117"/>
            <a:chOff x="745998" y="730568"/>
            <a:chExt cx="4755729" cy="936117"/>
          </a:xfrm>
        </p:grpSpPr>
        <p:sp>
          <p:nvSpPr>
            <p:cNvPr id="3" name="TextBox 3"/>
            <p:cNvSpPr txBox="1"/>
            <p:nvPr/>
          </p:nvSpPr>
          <p:spPr>
            <a:xfrm>
              <a:off x="755142" y="730568"/>
              <a:ext cx="1360284" cy="264033"/>
            </a:xfrm>
            <a:prstGeom prst="rect">
              <a:avLst/>
            </a:prstGeom>
            <a:noFill/>
            <a:ln>
              <a:noFill/>
            </a:ln>
          </p:spPr>
          <p:txBody>
            <a:bodyPr wrap="none" lIns="0" tIns="0" rIns="0" bIns="0" anchor="t" anchorCtr="0">
              <a:spAutoFit/>
            </a:bodyPr>
            <a:lstStyle/>
            <a:p>
              <a:pPr algn="l"/>
              <a:r>
                <a:rPr lang="en-US" sz="1350" b="1" spc="225" dirty="0">
                  <a:solidFill>
                    <a:schemeClr val="accent2"/>
                  </a:solidFill>
                  <a:latin typeface="+mn-lt"/>
                  <a:ea typeface="+mn-ea"/>
                  <a:cs typeface="+mn-cs"/>
                </a:rPr>
                <a:t>KEY RESULT</a:t>
              </a:r>
            </a:p>
          </p:txBody>
        </p:sp>
        <p:sp>
          <p:nvSpPr>
            <p:cNvPr id="4" name="TextBox 4"/>
            <p:cNvSpPr txBox="1"/>
            <p:nvPr/>
          </p:nvSpPr>
          <p:spPr>
            <a:xfrm>
              <a:off x="745998" y="1050608"/>
              <a:ext cx="4755729" cy="616077"/>
            </a:xfrm>
            <a:prstGeom prst="rect">
              <a:avLst/>
            </a:prstGeom>
            <a:noFill/>
            <a:ln>
              <a:noFill/>
            </a:ln>
          </p:spPr>
          <p:txBody>
            <a:bodyPr wrap="none" lIns="0" tIns="0" rIns="0" bIns="0" anchor="t" anchorCtr="0">
              <a:spAutoFit/>
            </a:bodyPr>
            <a:lstStyle/>
            <a:p>
              <a:pPr algn="l"/>
              <a:r>
                <a:rPr lang="en-US" sz="3150" b="1" spc="-75" dirty="0">
                  <a:solidFill>
                    <a:schemeClr val="dk1"/>
                  </a:solidFill>
                  <a:latin typeface="+mn-lt"/>
                  <a:ea typeface="+mn-ea"/>
                  <a:cs typeface="+mn-cs"/>
                </a:rPr>
                <a:t>A new state of the art</a:t>
              </a:r>
            </a:p>
          </p:txBody>
        </p:sp>
      </p:grpSp>
      <p:grpSp>
        <p:nvGrpSpPr>
          <p:cNvPr id="9" name="Group 9"/>
          <p:cNvGrpSpPr/>
          <p:nvPr/>
        </p:nvGrpSpPr>
        <p:grpSpPr>
          <a:xfrm>
            <a:off x="762000" y="1752600"/>
            <a:ext cx="10401300" cy="685800"/>
            <a:chOff x="762000" y="1752600"/>
            <a:chExt cx="10401300" cy="685800"/>
          </a:xfrm>
        </p:grpSpPr>
        <p:sp>
          <p:nvSpPr>
            <p:cNvPr id="6" name="Rectangle 6"/>
            <p:cNvSpPr/>
            <p:nvPr/>
          </p:nvSpPr>
          <p:spPr>
            <a:xfrm>
              <a:off x="762000" y="1752600"/>
              <a:ext cx="10401300" cy="685800"/>
            </a:xfrm>
            <a:prstGeom prst="roundRect">
              <a:avLst>
                <a:gd name="adj" fmla="val 5556"/>
              </a:avLst>
            </a:prstGeom>
            <a:solidFill>
              <a:schemeClr val="accent5"/>
            </a:solidFill>
            <a:ln>
              <a:noFill/>
            </a:ln>
          </p:spPr>
        </p:sp>
        <p:sp>
          <p:nvSpPr>
            <p:cNvPr id="7" name="Rectangle 7"/>
            <p:cNvSpPr/>
            <p:nvPr/>
          </p:nvSpPr>
          <p:spPr>
            <a:xfrm>
              <a:off x="762000" y="1752600"/>
              <a:ext cx="57150" cy="685800"/>
            </a:xfrm>
            <a:prstGeom prst="rect">
              <a:avLst/>
            </a:prstGeom>
            <a:solidFill>
              <a:schemeClr val="accent2"/>
            </a:solidFill>
            <a:ln>
              <a:noFill/>
            </a:ln>
          </p:spPr>
        </p:sp>
        <p:sp>
          <p:nvSpPr>
            <p:cNvPr id="8" name="TextBox 8"/>
            <p:cNvSpPr txBox="1"/>
            <p:nvPr/>
          </p:nvSpPr>
          <p:spPr>
            <a:xfrm>
              <a:off x="1057656" y="1996440"/>
              <a:ext cx="8542130"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 xml:space="preserve">Beats HDMapNet by </a:t>
              </a:r>
              <a:r>
                <a:rPr lang="en-US" sz="1800" b="1" dirty="0">
                  <a:solidFill>
                    <a:schemeClr val="accent2"/>
                  </a:solidFill>
                  <a:latin typeface="+mn-lt"/>
                  <a:ea typeface="+mn-ea"/>
                  <a:cs typeface="+mn-cs"/>
                </a:rPr>
                <a:t>+14.2 mAP</a:t>
              </a:r>
              <a:r>
                <a:rPr lang="en-US" sz="1800" b="1" dirty="0">
                  <a:solidFill>
                    <a:schemeClr val="dk1"/>
                  </a:solidFill>
                  <a:latin typeface="+mn-lt"/>
                  <a:ea typeface="+mn-ea"/>
                  <a:cs typeface="+mn-cs"/>
                </a:rPr>
                <a:t xml:space="preserve"> on nuScenes and </a:t>
              </a:r>
              <a:r>
                <a:rPr lang="en-US" sz="1800" b="1" dirty="0">
                  <a:solidFill>
                    <a:schemeClr val="accent2"/>
                  </a:solidFill>
                  <a:latin typeface="+mn-lt"/>
                  <a:ea typeface="+mn-ea"/>
                  <a:cs typeface="+mn-cs"/>
                </a:rPr>
                <a:t>+14.6</a:t>
              </a:r>
              <a:r>
                <a:rPr lang="en-US" sz="1800" b="1" dirty="0">
                  <a:solidFill>
                    <a:schemeClr val="dk1"/>
                  </a:solidFill>
                  <a:latin typeface="+mn-lt"/>
                  <a:ea typeface="+mn-ea"/>
                  <a:cs typeface="+mn-cs"/>
                </a:rPr>
                <a:t xml:space="preserve"> on Argoverse2.</a:t>
              </a:r>
            </a:p>
          </p:txBody>
        </p:sp>
      </p:grpSp>
      <p:grpSp>
        <p:nvGrpSpPr>
          <p:cNvPr id="22" name="Group 22"/>
          <p:cNvGrpSpPr/>
          <p:nvPr/>
        </p:nvGrpSpPr>
        <p:grpSpPr>
          <a:xfrm>
            <a:off x="762000" y="2724150"/>
            <a:ext cx="5334000" cy="3524250"/>
            <a:chOff x="762000" y="2724150"/>
            <a:chExt cx="5334000" cy="3524250"/>
          </a:xfrm>
        </p:grpSpPr>
        <p:sp>
          <p:nvSpPr>
            <p:cNvPr id="10" name="Rectangle 10"/>
            <p:cNvSpPr/>
            <p:nvPr/>
          </p:nvSpPr>
          <p:spPr>
            <a:xfrm>
              <a:off x="762000" y="2724150"/>
              <a:ext cx="5334000" cy="3524250"/>
            </a:xfrm>
            <a:prstGeom prst="roundRect">
              <a:avLst>
                <a:gd name="adj" fmla="val 1081"/>
              </a:avLst>
            </a:prstGeom>
            <a:solidFill>
              <a:srgbClr val="F4F6F9"/>
            </a:solidFill>
            <a:ln>
              <a:noFill/>
            </a:ln>
          </p:spPr>
        </p:sp>
        <p:sp>
          <p:nvSpPr>
            <p:cNvPr id="11" name="TextBox 11"/>
            <p:cNvSpPr txBox="1"/>
            <p:nvPr/>
          </p:nvSpPr>
          <p:spPr>
            <a:xfrm>
              <a:off x="1021080" y="2943225"/>
              <a:ext cx="3089133"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Gains across sensors (Δ mAP)</a:t>
              </a:r>
            </a:p>
          </p:txBody>
        </p:sp>
        <p:sp>
          <p:nvSpPr>
            <p:cNvPr id="12" name="Line 12"/>
            <p:cNvSpPr/>
            <p:nvPr/>
          </p:nvSpPr>
          <p:spPr>
            <a:xfrm>
              <a:off x="1257300" y="5715000"/>
              <a:ext cx="4572000" cy="9525"/>
            </a:xfrm>
            <a:custGeom>
              <a:avLst/>
              <a:gdLst/>
              <a:ahLst/>
              <a:cxnLst/>
              <a:rect l="l" t="t" r="r" b="b"/>
              <a:pathLst>
                <a:path w="4572000" h="9525">
                  <a:moveTo>
                    <a:pt x="0" y="0"/>
                  </a:moveTo>
                  <a:lnTo>
                    <a:pt x="4572000" y="0"/>
                  </a:lnTo>
                </a:path>
              </a:pathLst>
            </a:custGeom>
            <a:noFill/>
            <a:ln w="19050">
              <a:solidFill>
                <a:schemeClr val="accent4"/>
              </a:solidFill>
            </a:ln>
          </p:spPr>
        </p:sp>
        <p:sp>
          <p:nvSpPr>
            <p:cNvPr id="13" name="Rectangle 13"/>
            <p:cNvSpPr/>
            <p:nvPr/>
          </p:nvSpPr>
          <p:spPr>
            <a:xfrm>
              <a:off x="1552575" y="3429000"/>
              <a:ext cx="857250" cy="2286000"/>
            </a:xfrm>
            <a:prstGeom prst="rect">
              <a:avLst/>
            </a:prstGeom>
            <a:solidFill>
              <a:schemeClr val="accent2"/>
            </a:solidFill>
            <a:ln>
              <a:noFill/>
            </a:ln>
          </p:spPr>
        </p:sp>
        <p:sp>
          <p:nvSpPr>
            <p:cNvPr id="14" name="TextBox 14"/>
            <p:cNvSpPr txBox="1"/>
            <p:nvPr/>
          </p:nvSpPr>
          <p:spPr>
            <a:xfrm>
              <a:off x="1652128" y="3136582"/>
              <a:ext cx="658144" cy="322707"/>
            </a:xfrm>
            <a:prstGeom prst="rect">
              <a:avLst/>
            </a:prstGeom>
            <a:noFill/>
            <a:ln>
              <a:noFill/>
            </a:ln>
          </p:spPr>
          <p:txBody>
            <a:bodyPr wrap="none" lIns="0" tIns="0" rIns="0" bIns="0" anchor="t" anchorCtr="0">
              <a:spAutoFit/>
            </a:bodyPr>
            <a:lstStyle/>
            <a:p>
              <a:pPr algn="ctr"/>
              <a:r>
                <a:rPr lang="en-US" sz="1650" b="1" dirty="0">
                  <a:solidFill>
                    <a:schemeClr val="dk1"/>
                  </a:solidFill>
                  <a:latin typeface="+mn-lt"/>
                  <a:ea typeface="+mn-ea"/>
                  <a:cs typeface="+mn-cs"/>
                </a:rPr>
                <a:t>+17.9</a:t>
              </a:r>
            </a:p>
          </p:txBody>
        </p:sp>
        <p:sp>
          <p:nvSpPr>
            <p:cNvPr id="15" name="TextBox 15"/>
            <p:cNvSpPr txBox="1"/>
            <p:nvPr/>
          </p:nvSpPr>
          <p:spPr>
            <a:xfrm>
              <a:off x="1637250" y="5835968"/>
              <a:ext cx="687900" cy="264033"/>
            </a:xfrm>
            <a:prstGeom prst="rect">
              <a:avLst/>
            </a:prstGeom>
            <a:noFill/>
            <a:ln>
              <a:noFill/>
            </a:ln>
          </p:spPr>
          <p:txBody>
            <a:bodyPr wrap="none" lIns="0" tIns="0" rIns="0" bIns="0" anchor="t" anchorCtr="0">
              <a:spAutoFit/>
            </a:bodyPr>
            <a:lstStyle/>
            <a:p>
              <a:pPr algn="ctr"/>
              <a:r>
                <a:rPr lang="en-US" sz="1350" b="1" dirty="0">
                  <a:solidFill>
                    <a:schemeClr val="dk2"/>
                  </a:solidFill>
                  <a:latin typeface="+mn-lt"/>
                  <a:ea typeface="+mn-ea"/>
                  <a:cs typeface="+mn-cs"/>
                </a:rPr>
                <a:t>Camera</a:t>
              </a:r>
            </a:p>
          </p:txBody>
        </p:sp>
        <p:sp>
          <p:nvSpPr>
            <p:cNvPr id="16" name="Rectangle 16"/>
            <p:cNvSpPr/>
            <p:nvPr/>
          </p:nvSpPr>
          <p:spPr>
            <a:xfrm>
              <a:off x="3076575" y="4448175"/>
              <a:ext cx="857250" cy="1266825"/>
            </a:xfrm>
            <a:prstGeom prst="rect">
              <a:avLst/>
            </a:prstGeom>
            <a:solidFill>
              <a:schemeClr val="accent2"/>
            </a:solidFill>
            <a:ln>
              <a:noFill/>
            </a:ln>
          </p:spPr>
        </p:sp>
        <p:sp>
          <p:nvSpPr>
            <p:cNvPr id="17" name="TextBox 17"/>
            <p:cNvSpPr txBox="1"/>
            <p:nvPr/>
          </p:nvSpPr>
          <p:spPr>
            <a:xfrm>
              <a:off x="3240266" y="4155758"/>
              <a:ext cx="529868" cy="322707"/>
            </a:xfrm>
            <a:prstGeom prst="rect">
              <a:avLst/>
            </a:prstGeom>
            <a:noFill/>
            <a:ln>
              <a:noFill/>
            </a:ln>
          </p:spPr>
          <p:txBody>
            <a:bodyPr wrap="none" lIns="0" tIns="0" rIns="0" bIns="0" anchor="t" anchorCtr="0">
              <a:spAutoFit/>
            </a:bodyPr>
            <a:lstStyle/>
            <a:p>
              <a:pPr algn="ctr"/>
              <a:r>
                <a:rPr lang="en-US" sz="1650" b="1" dirty="0">
                  <a:solidFill>
                    <a:schemeClr val="dk1"/>
                  </a:solidFill>
                  <a:latin typeface="+mn-lt"/>
                  <a:ea typeface="+mn-ea"/>
                  <a:cs typeface="+mn-cs"/>
                </a:rPr>
                <a:t>+9.9</a:t>
              </a:r>
            </a:p>
          </p:txBody>
        </p:sp>
        <p:sp>
          <p:nvSpPr>
            <p:cNvPr id="18" name="TextBox 18"/>
            <p:cNvSpPr txBox="1"/>
            <p:nvPr/>
          </p:nvSpPr>
          <p:spPr>
            <a:xfrm>
              <a:off x="3249011" y="5835968"/>
              <a:ext cx="512378" cy="264033"/>
            </a:xfrm>
            <a:prstGeom prst="rect">
              <a:avLst/>
            </a:prstGeom>
            <a:noFill/>
            <a:ln>
              <a:noFill/>
            </a:ln>
          </p:spPr>
          <p:txBody>
            <a:bodyPr wrap="none" lIns="0" tIns="0" rIns="0" bIns="0" anchor="t" anchorCtr="0">
              <a:spAutoFit/>
            </a:bodyPr>
            <a:lstStyle/>
            <a:p>
              <a:pPr algn="ctr"/>
              <a:r>
                <a:rPr lang="en-US" sz="1350" b="1" dirty="0">
                  <a:solidFill>
                    <a:schemeClr val="dk2"/>
                  </a:solidFill>
                  <a:latin typeface="+mn-lt"/>
                  <a:ea typeface="+mn-ea"/>
                  <a:cs typeface="+mn-cs"/>
                </a:rPr>
                <a:t>LiDAR</a:t>
              </a:r>
            </a:p>
          </p:txBody>
        </p:sp>
        <p:sp>
          <p:nvSpPr>
            <p:cNvPr id="19" name="Rectangle 19"/>
            <p:cNvSpPr/>
            <p:nvPr/>
          </p:nvSpPr>
          <p:spPr>
            <a:xfrm>
              <a:off x="4600575" y="3905250"/>
              <a:ext cx="857250" cy="1809750"/>
            </a:xfrm>
            <a:prstGeom prst="rect">
              <a:avLst/>
            </a:prstGeom>
            <a:solidFill>
              <a:schemeClr val="accent2"/>
            </a:solidFill>
            <a:ln>
              <a:noFill/>
            </a:ln>
          </p:spPr>
        </p:sp>
        <p:sp>
          <p:nvSpPr>
            <p:cNvPr id="20" name="TextBox 20"/>
            <p:cNvSpPr txBox="1"/>
            <p:nvPr/>
          </p:nvSpPr>
          <p:spPr>
            <a:xfrm>
              <a:off x="4700128" y="3612832"/>
              <a:ext cx="658144" cy="322707"/>
            </a:xfrm>
            <a:prstGeom prst="rect">
              <a:avLst/>
            </a:prstGeom>
            <a:noFill/>
            <a:ln>
              <a:noFill/>
            </a:ln>
          </p:spPr>
          <p:txBody>
            <a:bodyPr wrap="none" lIns="0" tIns="0" rIns="0" bIns="0" anchor="t" anchorCtr="0">
              <a:spAutoFit/>
            </a:bodyPr>
            <a:lstStyle/>
            <a:p>
              <a:pPr algn="ctr"/>
              <a:r>
                <a:rPr lang="en-US" sz="1650" b="1" dirty="0">
                  <a:solidFill>
                    <a:schemeClr val="dk1"/>
                  </a:solidFill>
                  <a:latin typeface="+mn-lt"/>
                  <a:ea typeface="+mn-ea"/>
                  <a:cs typeface="+mn-cs"/>
                </a:rPr>
                <a:t>+14.2</a:t>
              </a:r>
            </a:p>
          </p:txBody>
        </p:sp>
        <p:sp>
          <p:nvSpPr>
            <p:cNvPr id="21" name="TextBox 21"/>
            <p:cNvSpPr txBox="1"/>
            <p:nvPr/>
          </p:nvSpPr>
          <p:spPr>
            <a:xfrm>
              <a:off x="4728590" y="5835968"/>
              <a:ext cx="601219" cy="264033"/>
            </a:xfrm>
            <a:prstGeom prst="rect">
              <a:avLst/>
            </a:prstGeom>
            <a:noFill/>
            <a:ln>
              <a:noFill/>
            </a:ln>
          </p:spPr>
          <p:txBody>
            <a:bodyPr wrap="none" lIns="0" tIns="0" rIns="0" bIns="0" anchor="t" anchorCtr="0">
              <a:spAutoFit/>
            </a:bodyPr>
            <a:lstStyle/>
            <a:p>
              <a:pPr algn="ctr"/>
              <a:r>
                <a:rPr lang="en-US" sz="1350" b="1" dirty="0">
                  <a:solidFill>
                    <a:schemeClr val="dk2"/>
                  </a:solidFill>
                  <a:latin typeface="+mn-lt"/>
                  <a:ea typeface="+mn-ea"/>
                  <a:cs typeface="+mn-cs"/>
                </a:rPr>
                <a:t>Fusion</a:t>
              </a:r>
            </a:p>
          </p:txBody>
        </p:sp>
      </p:grpSp>
      <p:grpSp>
        <p:nvGrpSpPr>
          <p:cNvPr id="32" name="Group 32"/>
          <p:cNvGrpSpPr/>
          <p:nvPr/>
        </p:nvGrpSpPr>
        <p:grpSpPr>
          <a:xfrm>
            <a:off x="6400800" y="2724150"/>
            <a:ext cx="4762500" cy="3524250"/>
            <a:chOff x="6400800" y="2724150"/>
            <a:chExt cx="4762500" cy="3524250"/>
          </a:xfrm>
        </p:grpSpPr>
        <p:sp>
          <p:nvSpPr>
            <p:cNvPr id="23" name="Rectangle 23"/>
            <p:cNvSpPr/>
            <p:nvPr/>
          </p:nvSpPr>
          <p:spPr>
            <a:xfrm>
              <a:off x="6400800" y="2724150"/>
              <a:ext cx="4762500" cy="3524250"/>
            </a:xfrm>
            <a:prstGeom prst="roundRect">
              <a:avLst>
                <a:gd name="adj" fmla="val 1081"/>
              </a:avLst>
            </a:prstGeom>
            <a:solidFill>
              <a:srgbClr val="F4F6F9"/>
            </a:solidFill>
            <a:ln>
              <a:noFill/>
            </a:ln>
          </p:spPr>
        </p:sp>
        <p:sp>
          <p:nvSpPr>
            <p:cNvPr id="24" name="TextBox 24"/>
            <p:cNvSpPr txBox="1"/>
            <p:nvPr/>
          </p:nvSpPr>
          <p:spPr>
            <a:xfrm>
              <a:off x="6659880" y="2943225"/>
              <a:ext cx="2796219"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Fusion + fine-tuning (mAP)</a:t>
              </a:r>
            </a:p>
          </p:txBody>
        </p:sp>
        <p:sp>
          <p:nvSpPr>
            <p:cNvPr id="25" name="Line 25"/>
            <p:cNvSpPr/>
            <p:nvPr/>
          </p:nvSpPr>
          <p:spPr>
            <a:xfrm>
              <a:off x="6896100" y="5715000"/>
              <a:ext cx="3962400" cy="9525"/>
            </a:xfrm>
            <a:custGeom>
              <a:avLst/>
              <a:gdLst/>
              <a:ahLst/>
              <a:cxnLst/>
              <a:rect l="l" t="t" r="r" b="b"/>
              <a:pathLst>
                <a:path w="3962400" h="9525">
                  <a:moveTo>
                    <a:pt x="0" y="0"/>
                  </a:moveTo>
                  <a:lnTo>
                    <a:pt x="3962400" y="0"/>
                  </a:lnTo>
                </a:path>
              </a:pathLst>
            </a:custGeom>
            <a:noFill/>
            <a:ln w="19050">
              <a:solidFill>
                <a:schemeClr val="accent4"/>
              </a:solidFill>
            </a:ln>
          </p:spPr>
        </p:sp>
        <p:sp>
          <p:nvSpPr>
            <p:cNvPr id="26" name="Rectangle 26"/>
            <p:cNvSpPr/>
            <p:nvPr/>
          </p:nvSpPr>
          <p:spPr>
            <a:xfrm>
              <a:off x="7353300" y="3524250"/>
              <a:ext cx="1143000" cy="2190750"/>
            </a:xfrm>
            <a:prstGeom prst="rect">
              <a:avLst/>
            </a:prstGeom>
            <a:solidFill>
              <a:schemeClr val="accent2"/>
            </a:solidFill>
            <a:ln>
              <a:noFill/>
            </a:ln>
          </p:spPr>
        </p:sp>
        <p:sp>
          <p:nvSpPr>
            <p:cNvPr id="27" name="TextBox 27"/>
            <p:cNvSpPr txBox="1"/>
            <p:nvPr/>
          </p:nvSpPr>
          <p:spPr>
            <a:xfrm>
              <a:off x="7563526" y="3167062"/>
              <a:ext cx="722547" cy="440055"/>
            </a:xfrm>
            <a:prstGeom prst="rect">
              <a:avLst/>
            </a:prstGeom>
            <a:noFill/>
            <a:ln>
              <a:noFill/>
            </a:ln>
          </p:spPr>
          <p:txBody>
            <a:bodyPr wrap="none" lIns="0" tIns="0" rIns="0" bIns="0" anchor="t" anchorCtr="0">
              <a:spAutoFit/>
            </a:bodyPr>
            <a:lstStyle/>
            <a:p>
              <a:pPr algn="ctr"/>
              <a:r>
                <a:rPr lang="en-US" sz="2250" b="1" dirty="0">
                  <a:solidFill>
                    <a:schemeClr val="dk1"/>
                  </a:solidFill>
                  <a:latin typeface="+mn-lt"/>
                  <a:ea typeface="+mn-ea"/>
                  <a:cs typeface="+mn-cs"/>
                </a:rPr>
                <a:t>53.7</a:t>
              </a:r>
            </a:p>
          </p:txBody>
        </p:sp>
        <p:sp>
          <p:nvSpPr>
            <p:cNvPr id="28" name="TextBox 28"/>
            <p:cNvSpPr txBox="1"/>
            <p:nvPr/>
          </p:nvSpPr>
          <p:spPr>
            <a:xfrm>
              <a:off x="7259960" y="5835968"/>
              <a:ext cx="1329680"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n-lt"/>
                  <a:ea typeface="+mn-ea"/>
                  <a:cs typeface="+mn-cs"/>
                </a:rPr>
                <a:t>VectorMapNet</a:t>
              </a:r>
            </a:p>
          </p:txBody>
        </p:sp>
        <p:sp>
          <p:nvSpPr>
            <p:cNvPr id="29" name="Rectangle 29"/>
            <p:cNvSpPr/>
            <p:nvPr/>
          </p:nvSpPr>
          <p:spPr>
            <a:xfrm>
              <a:off x="9258300" y="4438650"/>
              <a:ext cx="1143000" cy="1276350"/>
            </a:xfrm>
            <a:prstGeom prst="rect">
              <a:avLst/>
            </a:prstGeom>
            <a:solidFill>
              <a:srgbClr val="9AA1AB"/>
            </a:solidFill>
            <a:ln>
              <a:noFill/>
            </a:ln>
          </p:spPr>
        </p:sp>
        <p:sp>
          <p:nvSpPr>
            <p:cNvPr id="30" name="TextBox 30"/>
            <p:cNvSpPr txBox="1"/>
            <p:nvPr/>
          </p:nvSpPr>
          <p:spPr>
            <a:xfrm>
              <a:off x="9516696" y="4113848"/>
              <a:ext cx="626208" cy="381381"/>
            </a:xfrm>
            <a:prstGeom prst="rect">
              <a:avLst/>
            </a:prstGeom>
            <a:noFill/>
            <a:ln>
              <a:noFill/>
            </a:ln>
          </p:spPr>
          <p:txBody>
            <a:bodyPr wrap="none" lIns="0" tIns="0" rIns="0" bIns="0" anchor="t" anchorCtr="0">
              <a:spAutoFit/>
            </a:bodyPr>
            <a:lstStyle/>
            <a:p>
              <a:pPr algn="ctr"/>
              <a:r>
                <a:rPr lang="en-US" sz="1950" b="1" dirty="0">
                  <a:solidFill>
                    <a:schemeClr val="dk2"/>
                  </a:solidFill>
                  <a:latin typeface="+mn-lt"/>
                  <a:ea typeface="+mn-ea"/>
                  <a:cs typeface="+mn-cs"/>
                </a:rPr>
                <a:t>31.0</a:t>
              </a:r>
            </a:p>
          </p:txBody>
        </p:sp>
        <p:sp>
          <p:nvSpPr>
            <p:cNvPr id="31" name="TextBox 31"/>
            <p:cNvSpPr txBox="1"/>
            <p:nvPr/>
          </p:nvSpPr>
          <p:spPr>
            <a:xfrm>
              <a:off x="9371626" y="5835968"/>
              <a:ext cx="916349" cy="264033"/>
            </a:xfrm>
            <a:prstGeom prst="rect">
              <a:avLst/>
            </a:prstGeom>
            <a:noFill/>
            <a:ln>
              <a:noFill/>
            </a:ln>
          </p:spPr>
          <p:txBody>
            <a:bodyPr wrap="none" lIns="0" tIns="0" rIns="0" bIns="0" anchor="t" anchorCtr="0">
              <a:spAutoFit/>
            </a:bodyPr>
            <a:lstStyle/>
            <a:p>
              <a:pPr algn="ctr"/>
              <a:r>
                <a:rPr lang="en-US" sz="1350" b="1" dirty="0">
                  <a:solidFill>
                    <a:schemeClr val="accent6"/>
                  </a:solidFill>
                  <a:latin typeface="+mn-lt"/>
                  <a:ea typeface="+mn-ea"/>
                  <a:cs typeface="+mn-cs"/>
                </a:rPr>
                <a:t>HDMapNet</a:t>
              </a:r>
            </a:p>
          </p:txBody>
        </p:sp>
      </p:grpSp>
      <p:sp>
        <p:nvSpPr>
          <p:cNvPr id="33" name="cue_s07_c1_vectormapnet_sets_new_state_art" title="cue_s07_c1_vectormapnet_sets_new_state_art" descr="cue_s07_c1_vectormapnet_sets_new_state_art VectorMapNet sets a new state of the art."/>
          <p:cNvSpPr/>
          <p:nvPr/>
        </p:nvSpPr>
        <p:spPr>
          <a:xfrm>
            <a:off x="746150" y="730377"/>
            <a:ext cx="4756099" cy="93611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ue_s07_c2_beats_hdmapnet_14_2_map_nuscenes" title="cue_s07_c2_beats_hdmapnet_14_2_map_nuscenes" descr="cue_s07_c2_beats_hdmapnet_14_2_map_nuscenes It beats HDMapNet by 14.2 mAP on nuScenes and 14.6 on Argoverse2."/>
          <p:cNvSpPr/>
          <p:nvPr/>
        </p:nvSpPr>
        <p:spPr>
          <a:xfrm>
            <a:off x="762000" y="1752904"/>
            <a:ext cx="10400995" cy="6858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ue_s07_c3_gains_hold_across_sensors_nearly" title="cue_s07_c3_gains_hold_across_sensors_nearly" descr="cue_s07_c3_gains_hold_across_sensors_nearly Gains hold across sensors: nearly eighteen points camera-only, about ten LiDAR-only, over fourteen with fusion."/>
          <p:cNvSpPr/>
          <p:nvPr/>
        </p:nvSpPr>
        <p:spPr>
          <a:xfrm>
            <a:off x="762000" y="2723997"/>
            <a:ext cx="5334000" cy="35243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ue_s07_c4_two_stage_fine_tuning_pushes_fusion" title="cue_s07_c4_two_stage_fine_tuning_pushes_fusion" descr="cue_s07_c4_two_stage_fine_tuning_pushes_fusion Two-stage fine-tuning pushes fusion to 53.7 mAP versus 31.0."/>
          <p:cNvSpPr/>
          <p:nvPr/>
        </p:nvSpPr>
        <p:spPr>
          <a:xfrm>
            <a:off x="6400800" y="2723997"/>
            <a:ext cx="4762195" cy="35243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14300" cy="6858000"/>
          </a:xfrm>
          <a:prstGeom prst="rect">
            <a:avLst/>
          </a:prstGeom>
          <a:solidFill>
            <a:schemeClr val="accent2"/>
          </a:solidFill>
          <a:ln>
            <a:noFill/>
          </a:ln>
        </p:spPr>
        <p:txBody>
          <a:bodyPr/>
          <a:p/>
        </p:txBody>
      </p:sp>
      <p:grpSp>
        <p:nvGrpSpPr>
          <p:cNvPr id="5" name="Group 5"/>
          <p:cNvGrpSpPr/>
          <p:nvPr/>
        </p:nvGrpSpPr>
        <p:grpSpPr>
          <a:xfrm>
            <a:off x="745998" y="730568"/>
            <a:ext cx="4988836" cy="936117"/>
            <a:chOff x="745998" y="730568"/>
            <a:chExt cx="4988836" cy="936117"/>
          </a:xfrm>
        </p:grpSpPr>
        <p:sp>
          <p:nvSpPr>
            <p:cNvPr id="3" name="TextBox 3"/>
            <p:cNvSpPr txBox="1"/>
            <p:nvPr/>
          </p:nvSpPr>
          <p:spPr>
            <a:xfrm>
              <a:off x="755142" y="730568"/>
              <a:ext cx="1921794" cy="264033"/>
            </a:xfrm>
            <a:prstGeom prst="rect">
              <a:avLst/>
            </a:prstGeom>
            <a:noFill/>
            <a:ln>
              <a:noFill/>
            </a:ln>
          </p:spPr>
          <p:txBody>
            <a:bodyPr wrap="none" lIns="0" tIns="0" rIns="0" bIns="0" anchor="t" anchorCtr="0">
              <a:spAutoFit/>
            </a:bodyPr>
            <a:lstStyle/>
            <a:p>
              <a:pPr algn="l"/>
              <a:r>
                <a:rPr lang="en-US" sz="1350" b="1" spc="225" dirty="0">
                  <a:solidFill>
                    <a:schemeClr val="accent2"/>
                  </a:solidFill>
                  <a:latin typeface="+mn-lt"/>
                  <a:ea typeface="+mn-ea"/>
                  <a:cs typeface="+mn-cs"/>
                </a:rPr>
                <a:t>ABLATION STUDY</a:t>
              </a:r>
            </a:p>
          </p:txBody>
        </p:sp>
        <p:sp>
          <p:nvSpPr>
            <p:cNvPr id="4" name="TextBox 4"/>
            <p:cNvSpPr txBox="1"/>
            <p:nvPr/>
          </p:nvSpPr>
          <p:spPr>
            <a:xfrm>
              <a:off x="745998" y="1050608"/>
              <a:ext cx="4988836" cy="616077"/>
            </a:xfrm>
            <a:prstGeom prst="rect">
              <a:avLst/>
            </a:prstGeom>
            <a:noFill/>
            <a:ln>
              <a:noFill/>
            </a:ln>
          </p:spPr>
          <p:txBody>
            <a:bodyPr wrap="none" lIns="0" tIns="0" rIns="0" bIns="0" anchor="t" anchorCtr="0">
              <a:spAutoFit/>
            </a:bodyPr>
            <a:lstStyle/>
            <a:p>
              <a:pPr algn="l"/>
              <a:r>
                <a:rPr lang="en-US" sz="3150" b="1" spc="-75" dirty="0">
                  <a:solidFill>
                    <a:schemeClr val="dk1"/>
                  </a:solidFill>
                  <a:latin typeface="+mn-lt"/>
                  <a:ea typeface="+mn-ea"/>
                  <a:cs typeface="+mn-cs"/>
                </a:rPr>
                <a:t>Two ablations stand out</a:t>
              </a:r>
            </a:p>
          </p:txBody>
        </p:sp>
      </p:grpSp>
      <p:grpSp>
        <p:nvGrpSpPr>
          <p:cNvPr id="12" name="Group 12"/>
          <p:cNvGrpSpPr/>
          <p:nvPr/>
        </p:nvGrpSpPr>
        <p:grpSpPr>
          <a:xfrm>
            <a:off x="755523" y="1729264"/>
            <a:ext cx="10518929" cy="2537936"/>
            <a:chOff x="755523" y="1729264"/>
            <a:chExt cx="10518929" cy="2537936"/>
          </a:xfrm>
        </p:grpSpPr>
        <p:sp>
          <p:nvSpPr>
            <p:cNvPr id="6" name="TextBox 6"/>
            <p:cNvSpPr txBox="1"/>
            <p:nvPr/>
          </p:nvSpPr>
          <p:spPr>
            <a:xfrm>
              <a:off x="755523" y="1729264"/>
              <a:ext cx="8410476" cy="249364"/>
            </a:xfrm>
            <a:prstGeom prst="rect">
              <a:avLst/>
            </a:prstGeom>
            <a:noFill/>
            <a:ln>
              <a:noFill/>
            </a:ln>
          </p:spPr>
          <p:txBody>
            <a:bodyPr wrap="none" lIns="0" tIns="0" rIns="0" bIns="0" anchor="t" anchorCtr="0">
              <a:spAutoFit/>
            </a:bodyPr>
            <a:lstStyle/>
            <a:p>
              <a:pPr algn="l"/>
              <a:r>
                <a:rPr lang="en-US" sz="1280" b="1" spc="75" dirty="0">
                  <a:solidFill>
                    <a:schemeClr val="dk1"/>
                  </a:solidFill>
                  <a:latin typeface="+mn-lt"/>
                  <a:ea typeface="+mn-ea"/>
                  <a:cs typeface="+mn-cs"/>
                </a:rPr>
                <a:t>Figure 3 · Keypoint representations — Bounding Box (k=2), SME (k=3), Extreme (k=4)</a:t>
              </a:r>
            </a:p>
          </p:txBody>
        </p:sp>
        <p:sp>
          <p:nvSpPr>
            <p:cNvPr id="7" name="Rectangle 7"/>
            <p:cNvSpPr/>
            <p:nvPr/>
          </p:nvSpPr>
          <p:spPr>
            <a:xfrm>
              <a:off x="762000" y="2000250"/>
              <a:ext cx="10401300" cy="1428750"/>
            </a:xfrm>
            <a:prstGeom prst="roundRect">
              <a:avLst>
                <a:gd name="adj" fmla="val 2667"/>
              </a:avLst>
            </a:prstGeom>
            <a:solidFill>
              <a:srgbClr val="F4F6F9"/>
            </a:solidFill>
            <a:ln>
              <a:noFill/>
            </a:ln>
          </p:spPr>
        </p:sp>
        <p:pic>
          <p:nvPicPr>
            <p:cNvPr id="8" name="Image 8"/>
            <p:cNvPicPr>
              <a:picLocks noChangeAspect="1"/>
            </p:cNvPicPr>
            <p:nvPr/>
          </p:nvPicPr>
          <p:blipFill>
            <a:blip r:embed="rId2"/>
            <a:stretch>
              <a:fillRect/>
            </a:stretch>
          </p:blipFill>
          <p:spPr>
            <a:xfrm>
              <a:off x="914400" y="2136837"/>
              <a:ext cx="10096500" cy="1155576"/>
            </a:xfrm>
            <a:prstGeom prst="rect">
              <a:avLst/>
            </a:prstGeom>
          </p:spPr>
        </p:pic>
        <p:sp>
          <p:nvSpPr>
            <p:cNvPr id="9" name="Rectangle 9"/>
            <p:cNvSpPr/>
            <p:nvPr/>
          </p:nvSpPr>
          <p:spPr>
            <a:xfrm>
              <a:off x="762000" y="3581400"/>
              <a:ext cx="10401300" cy="685800"/>
            </a:xfrm>
            <a:prstGeom prst="roundRect">
              <a:avLst>
                <a:gd name="adj" fmla="val 5556"/>
              </a:avLst>
            </a:prstGeom>
            <a:solidFill>
              <a:schemeClr val="accent5"/>
            </a:solidFill>
            <a:ln>
              <a:noFill/>
            </a:ln>
          </p:spPr>
        </p:sp>
        <p:sp>
          <p:nvSpPr>
            <p:cNvPr id="10" name="Rectangle 10"/>
            <p:cNvSpPr/>
            <p:nvPr/>
          </p:nvSpPr>
          <p:spPr>
            <a:xfrm>
              <a:off x="762000" y="3581400"/>
              <a:ext cx="57150" cy="685800"/>
            </a:xfrm>
            <a:prstGeom prst="rect">
              <a:avLst/>
            </a:prstGeom>
            <a:solidFill>
              <a:schemeClr val="accent2"/>
            </a:solidFill>
            <a:ln>
              <a:noFill/>
            </a:ln>
          </p:spPr>
        </p:sp>
        <p:sp>
          <p:nvSpPr>
            <p:cNvPr id="11" name="TextBox 11"/>
            <p:cNvSpPr txBox="1"/>
            <p:nvPr/>
          </p:nvSpPr>
          <p:spPr>
            <a:xfrm>
              <a:off x="1058037" y="3823811"/>
              <a:ext cx="10216415" cy="337376"/>
            </a:xfrm>
            <a:prstGeom prst="rect">
              <a:avLst/>
            </a:prstGeom>
            <a:noFill/>
            <a:ln>
              <a:noFill/>
            </a:ln>
          </p:spPr>
          <p:txBody>
            <a:bodyPr wrap="none" lIns="0" tIns="0" rIns="0" bIns="0" anchor="t" anchorCtr="0">
              <a:spAutoFit/>
            </a:bodyPr>
            <a:lstStyle/>
            <a:p>
              <a:pPr algn="l"/>
              <a:r>
                <a:rPr lang="en-US" sz="1720" b="1" dirty="0">
                  <a:solidFill>
                    <a:schemeClr val="dk1"/>
                  </a:solidFill>
                  <a:latin typeface="+mn-lt"/>
                  <a:ea typeface="+mn-ea"/>
                  <a:cs typeface="+mn-cs"/>
                </a:rPr>
                <a:t xml:space="preserve">Bounding box (k=2) wins — </a:t>
              </a:r>
              <a:r>
                <a:rPr lang="en-US" sz="1720" b="1" dirty="0">
                  <a:solidFill>
                    <a:schemeClr val="accent2"/>
                  </a:solidFill>
                  <a:latin typeface="+mn-lt"/>
                  <a:ea typeface="+mn-ea"/>
                  <a:cs typeface="+mn-cs"/>
                </a:rPr>
                <a:t>+2.0 Fréchet</a:t>
              </a:r>
              <a:r>
                <a:rPr lang="en-US" sz="1720" b="1" dirty="0">
                  <a:solidFill>
                    <a:schemeClr val="dk1"/>
                  </a:solidFill>
                  <a:latin typeface="+mn-lt"/>
                  <a:ea typeface="+mn-ea"/>
                  <a:cs typeface="+mn-cs"/>
                </a:rPr>
                <a:t xml:space="preserve"> and </a:t>
              </a:r>
              <a:r>
                <a:rPr lang="en-US" sz="1720" b="1" dirty="0">
                  <a:solidFill>
                    <a:schemeClr val="accent2"/>
                  </a:solidFill>
                  <a:latin typeface="+mn-lt"/>
                  <a:ea typeface="+mn-ea"/>
                  <a:cs typeface="+mn-cs"/>
                </a:rPr>
                <a:t>+7.3 Chamfer mAP</a:t>
              </a:r>
              <a:r>
                <a:rPr lang="en-US" sz="1720" b="1" dirty="0">
                  <a:solidFill>
                    <a:schemeClr val="dk1"/>
                  </a:solidFill>
                  <a:latin typeface="+mn-lt"/>
                  <a:ea typeface="+mn-ea"/>
                  <a:cs typeface="+mn-cs"/>
                </a:rPr>
                <a:t xml:space="preserve"> over SME and Extreme.</a:t>
              </a:r>
            </a:p>
          </p:txBody>
        </p:sp>
      </p:grpSp>
      <p:grpSp>
        <p:nvGrpSpPr>
          <p:cNvPr id="24" name="Group 24"/>
          <p:cNvGrpSpPr/>
          <p:nvPr/>
        </p:nvGrpSpPr>
        <p:grpSpPr>
          <a:xfrm>
            <a:off x="762000" y="4495800"/>
            <a:ext cx="10401300" cy="1752600"/>
            <a:chOff x="762000" y="4495800"/>
            <a:chExt cx="10401300" cy="1752600"/>
          </a:xfrm>
        </p:grpSpPr>
        <p:sp>
          <p:nvSpPr>
            <p:cNvPr id="13" name="Rectangle 13"/>
            <p:cNvSpPr/>
            <p:nvPr/>
          </p:nvSpPr>
          <p:spPr>
            <a:xfrm>
              <a:off x="762000" y="4495800"/>
              <a:ext cx="10401300" cy="1752600"/>
            </a:xfrm>
            <a:prstGeom prst="roundRect">
              <a:avLst>
                <a:gd name="adj" fmla="val 2174"/>
              </a:avLst>
            </a:prstGeom>
            <a:solidFill>
              <a:srgbClr val="F4F6F9"/>
            </a:solidFill>
            <a:ln>
              <a:noFill/>
            </a:ln>
          </p:spPr>
        </p:sp>
        <p:sp>
          <p:nvSpPr>
            <p:cNvPr id="14" name="Rectangle 14"/>
            <p:cNvSpPr/>
            <p:nvPr/>
          </p:nvSpPr>
          <p:spPr>
            <a:xfrm>
              <a:off x="762000" y="4495800"/>
              <a:ext cx="57150" cy="1752600"/>
            </a:xfrm>
            <a:prstGeom prst="rect">
              <a:avLst/>
            </a:prstGeom>
            <a:solidFill>
              <a:schemeClr val="accent2"/>
            </a:solidFill>
            <a:ln>
              <a:noFill/>
            </a:ln>
          </p:spPr>
        </p:sp>
        <p:sp>
          <p:nvSpPr>
            <p:cNvPr id="15" name="TextBox 15"/>
            <p:cNvSpPr txBox="1"/>
            <p:nvPr/>
          </p:nvSpPr>
          <p:spPr>
            <a:xfrm>
              <a:off x="1095756" y="4758690"/>
              <a:ext cx="2405641"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Two-stage training</a:t>
              </a:r>
            </a:p>
          </p:txBody>
        </p:sp>
        <p:sp>
          <p:nvSpPr>
            <p:cNvPr id="16" name="TextBox 16"/>
            <p:cNvSpPr txBox="1"/>
            <p:nvPr/>
          </p:nvSpPr>
          <p:spPr>
            <a:xfrm>
              <a:off x="1097661" y="5161121"/>
              <a:ext cx="5039201"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Teacher forcing, then fine-tuning on the model's own</a:t>
              </a:r>
            </a:p>
          </p:txBody>
        </p:sp>
        <p:sp>
          <p:nvSpPr>
            <p:cNvPr id="17" name="TextBox 17"/>
            <p:cNvSpPr txBox="1"/>
            <p:nvPr/>
          </p:nvSpPr>
          <p:spPr>
            <a:xfrm>
              <a:off x="1097661" y="5427821"/>
              <a:ext cx="3885476"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predicted keypoints, cuts exposure bias.</a:t>
              </a:r>
            </a:p>
          </p:txBody>
        </p:sp>
        <p:sp>
          <p:nvSpPr>
            <p:cNvPr id="18" name="Rectangle 18"/>
            <p:cNvSpPr/>
            <p:nvPr/>
          </p:nvSpPr>
          <p:spPr>
            <a:xfrm>
              <a:off x="6667500" y="4762500"/>
              <a:ext cx="2057400" cy="1219200"/>
            </a:xfrm>
            <a:prstGeom prst="roundRect">
              <a:avLst>
                <a:gd name="adj" fmla="val 3125"/>
              </a:avLst>
            </a:prstGeom>
            <a:solidFill>
              <a:schemeClr val="accent5"/>
            </a:solidFill>
            <a:ln>
              <a:noFill/>
            </a:ln>
          </p:spPr>
        </p:sp>
        <p:sp>
          <p:nvSpPr>
            <p:cNvPr id="19" name="TextBox 19"/>
            <p:cNvSpPr txBox="1"/>
            <p:nvPr/>
          </p:nvSpPr>
          <p:spPr>
            <a:xfrm>
              <a:off x="7142247" y="5113972"/>
              <a:ext cx="1107906" cy="674751"/>
            </a:xfrm>
            <a:prstGeom prst="rect">
              <a:avLst/>
            </a:prstGeom>
            <a:noFill/>
            <a:ln>
              <a:noFill/>
            </a:ln>
          </p:spPr>
          <p:txBody>
            <a:bodyPr wrap="none" lIns="0" tIns="0" rIns="0" bIns="0" anchor="t" anchorCtr="0">
              <a:spAutoFit/>
            </a:bodyPr>
            <a:lstStyle/>
            <a:p>
              <a:pPr algn="ctr"/>
              <a:r>
                <a:rPr lang="en-US" sz="3450" b="1" dirty="0">
                  <a:solidFill>
                    <a:schemeClr val="accent2"/>
                  </a:solidFill>
                  <a:latin typeface="+mn-lt"/>
                  <a:ea typeface="+mn-ea"/>
                  <a:cs typeface="+mn-cs"/>
                </a:rPr>
                <a:t>+6.9</a:t>
              </a:r>
            </a:p>
          </p:txBody>
        </p:sp>
        <p:sp>
          <p:nvSpPr>
            <p:cNvPr id="20" name="TextBox 20"/>
            <p:cNvSpPr txBox="1"/>
            <p:nvPr/>
          </p:nvSpPr>
          <p:spPr>
            <a:xfrm>
              <a:off x="7094306" y="5653564"/>
              <a:ext cx="1203787" cy="249364"/>
            </a:xfrm>
            <a:prstGeom prst="rect">
              <a:avLst/>
            </a:prstGeom>
            <a:noFill/>
            <a:ln>
              <a:noFill/>
            </a:ln>
          </p:spPr>
          <p:txBody>
            <a:bodyPr wrap="none" lIns="0" tIns="0" rIns="0" bIns="0" anchor="t" anchorCtr="0">
              <a:spAutoFit/>
            </a:bodyPr>
            <a:lstStyle/>
            <a:p>
              <a:pPr algn="ctr"/>
              <a:r>
                <a:rPr lang="en-US" sz="1280" b="1" dirty="0">
                  <a:solidFill>
                    <a:schemeClr val="dk2"/>
                  </a:solidFill>
                  <a:latin typeface="+mn-lt"/>
                  <a:ea typeface="+mn-ea"/>
                  <a:cs typeface="+mn-cs"/>
                </a:rPr>
                <a:t>mAP · camera</a:t>
              </a:r>
            </a:p>
          </p:txBody>
        </p:sp>
        <p:sp>
          <p:nvSpPr>
            <p:cNvPr id="21" name="Rectangle 21"/>
            <p:cNvSpPr/>
            <p:nvPr/>
          </p:nvSpPr>
          <p:spPr>
            <a:xfrm>
              <a:off x="8953500" y="4762500"/>
              <a:ext cx="2057400" cy="1219200"/>
            </a:xfrm>
            <a:prstGeom prst="roundRect">
              <a:avLst>
                <a:gd name="adj" fmla="val 3125"/>
              </a:avLst>
            </a:prstGeom>
            <a:solidFill>
              <a:schemeClr val="accent5"/>
            </a:solidFill>
            <a:ln>
              <a:noFill/>
            </a:ln>
          </p:spPr>
        </p:sp>
        <p:sp>
          <p:nvSpPr>
            <p:cNvPr id="22" name="TextBox 22"/>
            <p:cNvSpPr txBox="1"/>
            <p:nvPr/>
          </p:nvSpPr>
          <p:spPr>
            <a:xfrm>
              <a:off x="9428247" y="5113972"/>
              <a:ext cx="1107906" cy="674751"/>
            </a:xfrm>
            <a:prstGeom prst="rect">
              <a:avLst/>
            </a:prstGeom>
            <a:noFill/>
            <a:ln>
              <a:noFill/>
            </a:ln>
          </p:spPr>
          <p:txBody>
            <a:bodyPr wrap="none" lIns="0" tIns="0" rIns="0" bIns="0" anchor="t" anchorCtr="0">
              <a:spAutoFit/>
            </a:bodyPr>
            <a:lstStyle/>
            <a:p>
              <a:pPr algn="ctr"/>
              <a:r>
                <a:rPr lang="en-US" sz="3450" b="1" dirty="0">
                  <a:solidFill>
                    <a:schemeClr val="accent2"/>
                  </a:solidFill>
                  <a:latin typeface="+mn-lt"/>
                  <a:ea typeface="+mn-ea"/>
                  <a:cs typeface="+mn-cs"/>
                </a:rPr>
                <a:t>+8.5</a:t>
              </a:r>
            </a:p>
          </p:txBody>
        </p:sp>
        <p:sp>
          <p:nvSpPr>
            <p:cNvPr id="23" name="TextBox 23"/>
            <p:cNvSpPr txBox="1"/>
            <p:nvPr/>
          </p:nvSpPr>
          <p:spPr>
            <a:xfrm>
              <a:off x="9421528" y="5653564"/>
              <a:ext cx="1121345" cy="249364"/>
            </a:xfrm>
            <a:prstGeom prst="rect">
              <a:avLst/>
            </a:prstGeom>
            <a:noFill/>
            <a:ln>
              <a:noFill/>
            </a:ln>
          </p:spPr>
          <p:txBody>
            <a:bodyPr wrap="none" lIns="0" tIns="0" rIns="0" bIns="0" anchor="t" anchorCtr="0">
              <a:spAutoFit/>
            </a:bodyPr>
            <a:lstStyle/>
            <a:p>
              <a:pPr algn="ctr"/>
              <a:r>
                <a:rPr lang="en-US" sz="1280" b="1" dirty="0">
                  <a:solidFill>
                    <a:schemeClr val="dk2"/>
                  </a:solidFill>
                  <a:latin typeface="+mn-lt"/>
                  <a:ea typeface="+mn-ea"/>
                  <a:cs typeface="+mn-cs"/>
                </a:rPr>
                <a:t>mAP · fusion</a:t>
              </a:r>
            </a:p>
          </p:txBody>
        </p:sp>
      </p:grpSp>
      <p:sp>
        <p:nvSpPr>
          <p:cNvPr id="25" name="cue_s08_c1_two_ablations_stand_out" title="cue_s08_c1_two_ablations_stand_out" descr="cue_s08_c1_two_ablations_stand_out Two ablations stand out."/>
          <p:cNvSpPr/>
          <p:nvPr/>
        </p:nvSpPr>
        <p:spPr>
          <a:xfrm>
            <a:off x="746150" y="730377"/>
            <a:ext cx="4988966" cy="93611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ue_s08_c2_representing_element_bounding_box_tw" title="cue_s08_c2_representing_element_bounding_box_tw" descr="cue_s08_c2_representing_element_bounding_box_tw Representing each element by a bounding box with two keypoints beats start-middle-end and extreme-point alternatives by two Fréchet and over seven Chamfer points."/>
          <p:cNvSpPr/>
          <p:nvPr/>
        </p:nvSpPr>
        <p:spPr>
          <a:xfrm>
            <a:off x="755904" y="1729587"/>
            <a:ext cx="10519257" cy="25381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ue_s08_c3_two_stage_teacher_forcing_fine_tunin" title="cue_s08_c3_two_stage_teacher_forcing_fine_tunin" descr="cue_s08_c3_two_stage_teacher_forcing_fine_tunin Two-stage training, teacher forcing then fine-tuning on predicted keypoints, adds about seven mAP for camera and over eight for fusion."/>
          <p:cNvSpPr/>
          <p:nvPr/>
        </p:nvSpPr>
        <p:spPr>
          <a:xfrm>
            <a:off x="762000" y="4496104"/>
            <a:ext cx="10400995" cy="17529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14300" cy="6858000"/>
          </a:xfrm>
          <a:prstGeom prst="rect">
            <a:avLst/>
          </a:prstGeom>
          <a:solidFill>
            <a:schemeClr val="accent2"/>
          </a:solidFill>
          <a:ln>
            <a:noFill/>
          </a:ln>
        </p:spPr>
        <p:txBody>
          <a:bodyPr/>
          <a:p/>
        </p:txBody>
      </p:sp>
      <p:grpSp>
        <p:nvGrpSpPr>
          <p:cNvPr id="5" name="Group 5"/>
          <p:cNvGrpSpPr/>
          <p:nvPr/>
        </p:nvGrpSpPr>
        <p:grpSpPr>
          <a:xfrm>
            <a:off x="745998" y="730568"/>
            <a:ext cx="3210564" cy="936117"/>
            <a:chOff x="745998" y="730568"/>
            <a:chExt cx="3210564" cy="936117"/>
          </a:xfrm>
        </p:grpSpPr>
        <p:sp>
          <p:nvSpPr>
            <p:cNvPr id="3" name="TextBox 3"/>
            <p:cNvSpPr txBox="1"/>
            <p:nvPr/>
          </p:nvSpPr>
          <p:spPr>
            <a:xfrm>
              <a:off x="755142" y="730568"/>
              <a:ext cx="2207590" cy="264033"/>
            </a:xfrm>
            <a:prstGeom prst="rect">
              <a:avLst/>
            </a:prstGeom>
            <a:noFill/>
            <a:ln>
              <a:noFill/>
            </a:ln>
          </p:spPr>
          <p:txBody>
            <a:bodyPr wrap="none" lIns="0" tIns="0" rIns="0" bIns="0" anchor="t" anchorCtr="0">
              <a:spAutoFit/>
            </a:bodyPr>
            <a:lstStyle/>
            <a:p>
              <a:pPr algn="l"/>
              <a:r>
                <a:rPr lang="en-US" sz="1350" b="1" spc="225" dirty="0">
                  <a:solidFill>
                    <a:schemeClr val="accent2"/>
                  </a:solidFill>
                  <a:latin typeface="+mn-lt"/>
                  <a:ea typeface="+mn-ea"/>
                  <a:cs typeface="+mn-cs"/>
                </a:rPr>
                <a:t>HEADLINE NUMBERS</a:t>
              </a:r>
            </a:p>
          </p:txBody>
        </p:sp>
        <p:sp>
          <p:nvSpPr>
            <p:cNvPr id="4" name="TextBox 4"/>
            <p:cNvSpPr txBox="1"/>
            <p:nvPr/>
          </p:nvSpPr>
          <p:spPr>
            <a:xfrm>
              <a:off x="745998" y="1050608"/>
              <a:ext cx="3210564" cy="616077"/>
            </a:xfrm>
            <a:prstGeom prst="rect">
              <a:avLst/>
            </a:prstGeom>
            <a:noFill/>
            <a:ln>
              <a:noFill/>
            </a:ln>
          </p:spPr>
          <p:txBody>
            <a:bodyPr wrap="none" lIns="0" tIns="0" rIns="0" bIns="0" anchor="t" anchorCtr="0">
              <a:spAutoFit/>
            </a:bodyPr>
            <a:lstStyle/>
            <a:p>
              <a:pPr algn="l"/>
              <a:r>
                <a:rPr lang="en-US" sz="3150" b="1" spc="-75" dirty="0">
                  <a:solidFill>
                    <a:schemeClr val="dk1"/>
                  </a:solidFill>
                  <a:latin typeface="+mn-lt"/>
                  <a:ea typeface="+mn-ea"/>
                  <a:cs typeface="+mn-cs"/>
                </a:rPr>
                <a:t>By the numbers</a:t>
              </a:r>
            </a:p>
          </p:txBody>
        </p:sp>
      </p:grpSp>
      <p:grpSp>
        <p:nvGrpSpPr>
          <p:cNvPr id="10" name="Group 10"/>
          <p:cNvGrpSpPr/>
          <p:nvPr/>
        </p:nvGrpSpPr>
        <p:grpSpPr>
          <a:xfrm>
            <a:off x="762000" y="1866900"/>
            <a:ext cx="5143500" cy="2286000"/>
            <a:chOff x="762000" y="1866900"/>
            <a:chExt cx="5143500" cy="2286000"/>
          </a:xfrm>
        </p:grpSpPr>
        <p:sp>
          <p:nvSpPr>
            <p:cNvPr id="6" name="Rectangle 6"/>
            <p:cNvSpPr/>
            <p:nvPr/>
          </p:nvSpPr>
          <p:spPr>
            <a:xfrm>
              <a:off x="762000" y="1866900"/>
              <a:ext cx="5143500" cy="2286000"/>
            </a:xfrm>
            <a:prstGeom prst="roundRect">
              <a:avLst>
                <a:gd name="adj" fmla="val 1667"/>
              </a:avLst>
            </a:prstGeom>
            <a:solidFill>
              <a:schemeClr val="accent2"/>
            </a:solidFill>
            <a:ln>
              <a:noFill/>
            </a:ln>
          </p:spPr>
        </p:sp>
        <p:sp>
          <p:nvSpPr>
            <p:cNvPr id="7" name="TextBox 7"/>
            <p:cNvSpPr txBox="1"/>
            <p:nvPr/>
          </p:nvSpPr>
          <p:spPr>
            <a:xfrm>
              <a:off x="1060323" y="2186464"/>
              <a:ext cx="2239579" cy="249364"/>
            </a:xfrm>
            <a:prstGeom prst="rect">
              <a:avLst/>
            </a:prstGeom>
            <a:noFill/>
            <a:ln>
              <a:noFill/>
            </a:ln>
          </p:spPr>
          <p:txBody>
            <a:bodyPr wrap="none" lIns="0" tIns="0" rIns="0" bIns="0" anchor="t" anchorCtr="0">
              <a:spAutoFit/>
            </a:bodyPr>
            <a:lstStyle/>
            <a:p>
              <a:pPr algn="l"/>
              <a:r>
                <a:rPr lang="en-US" sz="1280" b="1" spc="150" dirty="0">
                  <a:solidFill>
                    <a:srgbClr val="FFFFFF"/>
                  </a:solidFill>
                  <a:latin typeface="+mn-lt"/>
                  <a:ea typeface="+mn-ea"/>
                  <a:cs typeface="+mn-cs"/>
                </a:rPr>
                <a:t>OVER PREVIOUS SOTA</a:t>
              </a:r>
            </a:p>
          </p:txBody>
        </p:sp>
        <p:sp>
          <p:nvSpPr>
            <p:cNvPr id="8" name="TextBox 8"/>
            <p:cNvSpPr txBox="1"/>
            <p:nvPr/>
          </p:nvSpPr>
          <p:spPr>
            <a:xfrm>
              <a:off x="1028700" y="2625090"/>
              <a:ext cx="4550024" cy="933450"/>
            </a:xfrm>
            <a:prstGeom prst="rect">
              <a:avLst/>
            </a:prstGeom>
            <a:noFill/>
            <a:ln>
              <a:noFill/>
            </a:ln>
          </p:spPr>
          <p:txBody>
            <a:bodyPr wrap="none" lIns="0" tIns="0" rIns="0" bIns="0" anchor="t" anchorCtr="0">
              <a:spAutoFit/>
            </a:bodyPr>
            <a:lstStyle/>
            <a:p>
              <a:pPr algn="l"/>
              <a:r>
                <a:rPr lang="en-US" sz="4800" b="1" dirty="0">
                  <a:solidFill>
                    <a:srgbClr val="FFFFFF"/>
                  </a:solidFill>
                  <a:latin typeface="+mn-lt"/>
                  <a:ea typeface="+mn-ea"/>
                  <a:cs typeface="+mn-cs"/>
                </a:rPr>
                <a:t>+14.2 / +14.6</a:t>
              </a:r>
            </a:p>
          </p:txBody>
        </p:sp>
        <p:sp>
          <p:nvSpPr>
            <p:cNvPr id="9" name="TextBox 9"/>
            <p:cNvSpPr txBox="1"/>
            <p:nvPr/>
          </p:nvSpPr>
          <p:spPr>
            <a:xfrm>
              <a:off x="1058799" y="3563779"/>
              <a:ext cx="3038263" cy="308039"/>
            </a:xfrm>
            <a:prstGeom prst="rect">
              <a:avLst/>
            </a:prstGeom>
            <a:noFill/>
            <a:ln>
              <a:noFill/>
            </a:ln>
          </p:spPr>
          <p:txBody>
            <a:bodyPr wrap="none" lIns="0" tIns="0" rIns="0" bIns="0" anchor="t" anchorCtr="0">
              <a:spAutoFit/>
            </a:bodyPr>
            <a:lstStyle/>
            <a:p>
              <a:pPr algn="l"/>
              <a:r>
                <a:rPr lang="en-US" sz="1580" dirty="0">
                  <a:solidFill>
                    <a:schemeClr val="accent5"/>
                  </a:solidFill>
                  <a:latin typeface="+mn-lt"/>
                  <a:ea typeface="+mn-ea"/>
                  <a:cs typeface="+mn-cs"/>
                </a:rPr>
                <a:t>mAP · nuScenes / Argoverse2</a:t>
              </a:r>
            </a:p>
          </p:txBody>
        </p:sp>
      </p:grpSp>
      <p:grpSp>
        <p:nvGrpSpPr>
          <p:cNvPr id="16" name="Group 16"/>
          <p:cNvGrpSpPr/>
          <p:nvPr/>
        </p:nvGrpSpPr>
        <p:grpSpPr>
          <a:xfrm>
            <a:off x="6210300" y="1866900"/>
            <a:ext cx="5143500" cy="2286000"/>
            <a:chOff x="6210300" y="1866900"/>
            <a:chExt cx="5143500" cy="2286000"/>
          </a:xfrm>
        </p:grpSpPr>
        <p:sp>
          <p:nvSpPr>
            <p:cNvPr id="11" name="Rectangle 11"/>
            <p:cNvSpPr/>
            <p:nvPr/>
          </p:nvSpPr>
          <p:spPr>
            <a:xfrm>
              <a:off x="6210300" y="1866900"/>
              <a:ext cx="5143500" cy="2286000"/>
            </a:xfrm>
            <a:prstGeom prst="roundRect">
              <a:avLst>
                <a:gd name="adj" fmla="val 1667"/>
              </a:avLst>
            </a:prstGeom>
            <a:solidFill>
              <a:srgbClr val="F4F6F9"/>
            </a:solidFill>
            <a:ln>
              <a:noFill/>
            </a:ln>
          </p:spPr>
        </p:sp>
        <p:sp>
          <p:nvSpPr>
            <p:cNvPr id="12" name="TextBox 12"/>
            <p:cNvSpPr txBox="1"/>
            <p:nvPr/>
          </p:nvSpPr>
          <p:spPr>
            <a:xfrm>
              <a:off x="6508623" y="2186464"/>
              <a:ext cx="2201345" cy="249364"/>
            </a:xfrm>
            <a:prstGeom prst="rect">
              <a:avLst/>
            </a:prstGeom>
            <a:noFill/>
            <a:ln>
              <a:noFill/>
            </a:ln>
          </p:spPr>
          <p:txBody>
            <a:bodyPr wrap="none" lIns="0" tIns="0" rIns="0" bIns="0" anchor="t" anchorCtr="0">
              <a:spAutoFit/>
            </a:bodyPr>
            <a:lstStyle/>
            <a:p>
              <a:pPr algn="l"/>
              <a:r>
                <a:rPr lang="en-US" sz="1280" b="1" spc="150" dirty="0">
                  <a:solidFill>
                    <a:schemeClr val="accent2"/>
                  </a:solidFill>
                  <a:latin typeface="+mn-lt"/>
                  <a:ea typeface="+mn-ea"/>
                  <a:cs typeface="+mn-cs"/>
                </a:rPr>
                <a:t>BEST CONFIGURATION</a:t>
              </a:r>
            </a:p>
          </p:txBody>
        </p:sp>
        <p:sp>
          <p:nvSpPr>
            <p:cNvPr id="13" name="TextBox 13"/>
            <p:cNvSpPr txBox="1"/>
            <p:nvPr/>
          </p:nvSpPr>
          <p:spPr>
            <a:xfrm>
              <a:off x="6477000" y="2645092"/>
              <a:ext cx="1857287" cy="1133475"/>
            </a:xfrm>
            <a:prstGeom prst="rect">
              <a:avLst/>
            </a:prstGeom>
            <a:noFill/>
            <a:ln>
              <a:noFill/>
            </a:ln>
          </p:spPr>
          <p:txBody>
            <a:bodyPr wrap="none" lIns="0" tIns="0" rIns="0" bIns="0" anchor="t" anchorCtr="0">
              <a:spAutoFit/>
            </a:bodyPr>
            <a:lstStyle/>
            <a:p>
              <a:pPr algn="l"/>
              <a:r>
                <a:rPr lang="en-US" sz="5850" b="1" dirty="0">
                  <a:solidFill>
                    <a:schemeClr val="dk1"/>
                  </a:solidFill>
                  <a:latin typeface="+mn-lt"/>
                  <a:ea typeface="+mn-ea"/>
                  <a:cs typeface="+mn-cs"/>
                </a:rPr>
                <a:t>53.7</a:t>
              </a:r>
            </a:p>
          </p:txBody>
        </p:sp>
        <p:sp>
          <p:nvSpPr>
            <p:cNvPr id="14" name="TextBox 14"/>
            <p:cNvSpPr txBox="1"/>
            <p:nvPr/>
          </p:nvSpPr>
          <p:spPr>
            <a:xfrm>
              <a:off x="8351520" y="3033712"/>
              <a:ext cx="1167803" cy="440055"/>
            </a:xfrm>
            <a:prstGeom prst="rect">
              <a:avLst/>
            </a:prstGeom>
            <a:noFill/>
            <a:ln>
              <a:noFill/>
            </a:ln>
          </p:spPr>
          <p:txBody>
            <a:bodyPr wrap="none" lIns="0" tIns="0" rIns="0" bIns="0" anchor="t" anchorCtr="0">
              <a:spAutoFit/>
            </a:bodyPr>
            <a:lstStyle/>
            <a:p>
              <a:pPr algn="l"/>
              <a:r>
                <a:rPr lang="en-US" sz="2250" b="1" dirty="0">
                  <a:solidFill>
                    <a:schemeClr val="accent6"/>
                  </a:solidFill>
                  <a:latin typeface="+mn-lt"/>
                  <a:ea typeface="+mn-ea"/>
                  <a:cs typeface="+mn-cs"/>
                </a:rPr>
                <a:t>vs 31.0</a:t>
              </a:r>
            </a:p>
          </p:txBody>
        </p:sp>
        <p:sp>
          <p:nvSpPr>
            <p:cNvPr id="15" name="TextBox 15"/>
            <p:cNvSpPr txBox="1"/>
            <p:nvPr/>
          </p:nvSpPr>
          <p:spPr>
            <a:xfrm>
              <a:off x="6507099" y="3620929"/>
              <a:ext cx="2744080" cy="308039"/>
            </a:xfrm>
            <a:prstGeom prst="rect">
              <a:avLst/>
            </a:prstGeom>
            <a:noFill/>
            <a:ln>
              <a:noFill/>
            </a:ln>
          </p:spPr>
          <p:txBody>
            <a:bodyPr wrap="none" lIns="0" tIns="0" rIns="0" bIns="0" anchor="t" anchorCtr="0">
              <a:spAutoFit/>
            </a:bodyPr>
            <a:lstStyle/>
            <a:p>
              <a:pPr algn="l"/>
              <a:r>
                <a:rPr lang="en-US" sz="1580" dirty="0">
                  <a:solidFill>
                    <a:schemeClr val="dk2"/>
                  </a:solidFill>
                  <a:latin typeface="+mn-lt"/>
                  <a:ea typeface="+mn-ea"/>
                  <a:cs typeface="+mn-cs"/>
                </a:rPr>
                <a:t>mAP · fusion + fine-tuning</a:t>
              </a:r>
            </a:p>
          </p:txBody>
        </p:sp>
      </p:grpSp>
      <p:grpSp>
        <p:nvGrpSpPr>
          <p:cNvPr id="25" name="Group 25"/>
          <p:cNvGrpSpPr/>
          <p:nvPr/>
        </p:nvGrpSpPr>
        <p:grpSpPr>
          <a:xfrm>
            <a:off x="762000" y="4381500"/>
            <a:ext cx="6858000" cy="1866900"/>
            <a:chOff x="762000" y="4381500"/>
            <a:chExt cx="6858000" cy="1866900"/>
          </a:xfrm>
        </p:grpSpPr>
        <p:sp>
          <p:nvSpPr>
            <p:cNvPr id="17" name="Rectangle 17"/>
            <p:cNvSpPr/>
            <p:nvPr/>
          </p:nvSpPr>
          <p:spPr>
            <a:xfrm>
              <a:off x="762000" y="4381500"/>
              <a:ext cx="6858000" cy="1866900"/>
            </a:xfrm>
            <a:prstGeom prst="roundRect">
              <a:avLst>
                <a:gd name="adj" fmla="val 2041"/>
              </a:avLst>
            </a:prstGeom>
            <a:solidFill>
              <a:srgbClr val="F4F6F9"/>
            </a:solidFill>
            <a:ln>
              <a:noFill/>
            </a:ln>
          </p:spPr>
        </p:sp>
        <p:sp>
          <p:nvSpPr>
            <p:cNvPr id="18" name="TextBox 18"/>
            <p:cNvSpPr txBox="1"/>
            <p:nvPr/>
          </p:nvSpPr>
          <p:spPr>
            <a:xfrm>
              <a:off x="1060323" y="4662964"/>
              <a:ext cx="2904256" cy="249364"/>
            </a:xfrm>
            <a:prstGeom prst="rect">
              <a:avLst/>
            </a:prstGeom>
            <a:noFill/>
            <a:ln>
              <a:noFill/>
            </a:ln>
          </p:spPr>
          <p:txBody>
            <a:bodyPr wrap="none" lIns="0" tIns="0" rIns="0" bIns="0" anchor="t" anchorCtr="0">
              <a:spAutoFit/>
            </a:bodyPr>
            <a:lstStyle/>
            <a:p>
              <a:pPr algn="l"/>
              <a:r>
                <a:rPr lang="en-US" sz="1280" b="1" spc="150" dirty="0">
                  <a:solidFill>
                    <a:schemeClr val="accent2"/>
                  </a:solidFill>
                  <a:latin typeface="+mn-lt"/>
                  <a:ea typeface="+mn-ea"/>
                  <a:cs typeface="+mn-cs"/>
                </a:rPr>
                <a:t>GAINS SPAN SENSORS (mAP)</a:t>
              </a:r>
            </a:p>
          </p:txBody>
        </p:sp>
        <p:sp>
          <p:nvSpPr>
            <p:cNvPr id="19" name="TextBox 19"/>
            <p:cNvSpPr txBox="1"/>
            <p:nvPr/>
          </p:nvSpPr>
          <p:spPr>
            <a:xfrm>
              <a:off x="1396169" y="5147310"/>
              <a:ext cx="1017662" cy="819150"/>
            </a:xfrm>
            <a:prstGeom prst="rect">
              <a:avLst/>
            </a:prstGeom>
            <a:noFill/>
            <a:ln>
              <a:noFill/>
            </a:ln>
          </p:spPr>
          <p:txBody>
            <a:bodyPr wrap="none" lIns="0" tIns="0" rIns="0" bIns="0" anchor="t" anchorCtr="0">
              <a:spAutoFit/>
            </a:bodyPr>
            <a:lstStyle/>
            <a:p>
              <a:pPr algn="ctr"/>
              <a:r>
                <a:rPr lang="en-US" sz="4200" b="1" dirty="0">
                  <a:solidFill>
                    <a:schemeClr val="dk1"/>
                  </a:solidFill>
                  <a:latin typeface="+mn-lt"/>
                  <a:ea typeface="+mn-ea"/>
                  <a:cs typeface="+mn-cs"/>
                </a:rPr>
                <a:t>+18</a:t>
              </a:r>
            </a:p>
          </p:txBody>
        </p:sp>
        <p:sp>
          <p:nvSpPr>
            <p:cNvPr id="20" name="TextBox 20"/>
            <p:cNvSpPr txBox="1"/>
            <p:nvPr/>
          </p:nvSpPr>
          <p:spPr>
            <a:xfrm>
              <a:off x="1561050" y="5816918"/>
              <a:ext cx="687900" cy="264033"/>
            </a:xfrm>
            <a:prstGeom prst="rect">
              <a:avLst/>
            </a:prstGeom>
            <a:noFill/>
            <a:ln>
              <a:noFill/>
            </a:ln>
          </p:spPr>
          <p:txBody>
            <a:bodyPr wrap="none" lIns="0" tIns="0" rIns="0" bIns="0" anchor="t" anchorCtr="0">
              <a:spAutoFit/>
            </a:bodyPr>
            <a:lstStyle/>
            <a:p>
              <a:pPr algn="ctr"/>
              <a:r>
                <a:rPr lang="en-US" sz="1350" b="1" dirty="0">
                  <a:solidFill>
                    <a:schemeClr val="dk2"/>
                  </a:solidFill>
                  <a:latin typeface="+mn-lt"/>
                  <a:ea typeface="+mn-ea"/>
                  <a:cs typeface="+mn-cs"/>
                </a:rPr>
                <a:t>Camera</a:t>
              </a:r>
            </a:p>
          </p:txBody>
        </p:sp>
        <p:sp>
          <p:nvSpPr>
            <p:cNvPr id="21" name="TextBox 21"/>
            <p:cNvSpPr txBox="1"/>
            <p:nvPr/>
          </p:nvSpPr>
          <p:spPr>
            <a:xfrm>
              <a:off x="3682169" y="5147310"/>
              <a:ext cx="1017662" cy="819150"/>
            </a:xfrm>
            <a:prstGeom prst="rect">
              <a:avLst/>
            </a:prstGeom>
            <a:noFill/>
            <a:ln>
              <a:noFill/>
            </a:ln>
          </p:spPr>
          <p:txBody>
            <a:bodyPr wrap="none" lIns="0" tIns="0" rIns="0" bIns="0" anchor="t" anchorCtr="0">
              <a:spAutoFit/>
            </a:bodyPr>
            <a:lstStyle/>
            <a:p>
              <a:pPr algn="ctr"/>
              <a:r>
                <a:rPr lang="en-US" sz="4200" b="1" dirty="0">
                  <a:solidFill>
                    <a:schemeClr val="dk1"/>
                  </a:solidFill>
                  <a:latin typeface="+mn-lt"/>
                  <a:ea typeface="+mn-ea"/>
                  <a:cs typeface="+mn-cs"/>
                </a:rPr>
                <a:t>+10</a:t>
              </a:r>
            </a:p>
          </p:txBody>
        </p:sp>
        <p:sp>
          <p:nvSpPr>
            <p:cNvPr id="22" name="TextBox 22"/>
            <p:cNvSpPr txBox="1"/>
            <p:nvPr/>
          </p:nvSpPr>
          <p:spPr>
            <a:xfrm>
              <a:off x="3934811" y="5816918"/>
              <a:ext cx="512378" cy="264033"/>
            </a:xfrm>
            <a:prstGeom prst="rect">
              <a:avLst/>
            </a:prstGeom>
            <a:noFill/>
            <a:ln>
              <a:noFill/>
            </a:ln>
          </p:spPr>
          <p:txBody>
            <a:bodyPr wrap="none" lIns="0" tIns="0" rIns="0" bIns="0" anchor="t" anchorCtr="0">
              <a:spAutoFit/>
            </a:bodyPr>
            <a:lstStyle/>
            <a:p>
              <a:pPr algn="ctr"/>
              <a:r>
                <a:rPr lang="en-US" sz="1350" b="1" dirty="0">
                  <a:solidFill>
                    <a:schemeClr val="dk2"/>
                  </a:solidFill>
                  <a:latin typeface="+mn-lt"/>
                  <a:ea typeface="+mn-ea"/>
                  <a:cs typeface="+mn-cs"/>
                </a:rPr>
                <a:t>LiDAR</a:t>
              </a:r>
            </a:p>
          </p:txBody>
        </p:sp>
        <p:sp>
          <p:nvSpPr>
            <p:cNvPr id="23" name="TextBox 23"/>
            <p:cNvSpPr txBox="1"/>
            <p:nvPr/>
          </p:nvSpPr>
          <p:spPr>
            <a:xfrm>
              <a:off x="5968169" y="5147310"/>
              <a:ext cx="1017662" cy="819150"/>
            </a:xfrm>
            <a:prstGeom prst="rect">
              <a:avLst/>
            </a:prstGeom>
            <a:noFill/>
            <a:ln>
              <a:noFill/>
            </a:ln>
          </p:spPr>
          <p:txBody>
            <a:bodyPr wrap="none" lIns="0" tIns="0" rIns="0" bIns="0" anchor="t" anchorCtr="0">
              <a:spAutoFit/>
            </a:bodyPr>
            <a:lstStyle/>
            <a:p>
              <a:pPr algn="ctr"/>
              <a:r>
                <a:rPr lang="en-US" sz="4200" b="1" dirty="0">
                  <a:solidFill>
                    <a:schemeClr val="dk1"/>
                  </a:solidFill>
                  <a:latin typeface="+mn-lt"/>
                  <a:ea typeface="+mn-ea"/>
                  <a:cs typeface="+mn-cs"/>
                </a:rPr>
                <a:t>+14</a:t>
              </a:r>
            </a:p>
          </p:txBody>
        </p:sp>
        <p:sp>
          <p:nvSpPr>
            <p:cNvPr id="24" name="TextBox 24"/>
            <p:cNvSpPr txBox="1"/>
            <p:nvPr/>
          </p:nvSpPr>
          <p:spPr>
            <a:xfrm>
              <a:off x="6176390" y="5816918"/>
              <a:ext cx="601219" cy="264033"/>
            </a:xfrm>
            <a:prstGeom prst="rect">
              <a:avLst/>
            </a:prstGeom>
            <a:noFill/>
            <a:ln>
              <a:noFill/>
            </a:ln>
          </p:spPr>
          <p:txBody>
            <a:bodyPr wrap="none" lIns="0" tIns="0" rIns="0" bIns="0" anchor="t" anchorCtr="0">
              <a:spAutoFit/>
            </a:bodyPr>
            <a:lstStyle/>
            <a:p>
              <a:pPr algn="ctr"/>
              <a:r>
                <a:rPr lang="en-US" sz="1350" b="1" dirty="0">
                  <a:solidFill>
                    <a:schemeClr val="dk2"/>
                  </a:solidFill>
                  <a:latin typeface="+mn-lt"/>
                  <a:ea typeface="+mn-ea"/>
                  <a:cs typeface="+mn-cs"/>
                </a:rPr>
                <a:t>Fusion</a:t>
              </a:r>
            </a:p>
          </p:txBody>
        </p:sp>
      </p:grpSp>
      <p:grpSp>
        <p:nvGrpSpPr>
          <p:cNvPr id="32" name="Group 32"/>
          <p:cNvGrpSpPr/>
          <p:nvPr/>
        </p:nvGrpSpPr>
        <p:grpSpPr>
          <a:xfrm>
            <a:off x="7848600" y="4381500"/>
            <a:ext cx="3618067" cy="1866900"/>
            <a:chOff x="7848600" y="4381500"/>
            <a:chExt cx="3618067" cy="1866900"/>
          </a:xfrm>
        </p:grpSpPr>
        <p:sp>
          <p:nvSpPr>
            <p:cNvPr id="26" name="Rectangle 26"/>
            <p:cNvSpPr/>
            <p:nvPr/>
          </p:nvSpPr>
          <p:spPr>
            <a:xfrm>
              <a:off x="7848600" y="4381500"/>
              <a:ext cx="3505200" cy="1866900"/>
            </a:xfrm>
            <a:prstGeom prst="roundRect">
              <a:avLst>
                <a:gd name="adj" fmla="val 2041"/>
              </a:avLst>
            </a:prstGeom>
            <a:solidFill>
              <a:srgbClr val="F4F6F9"/>
            </a:solidFill>
            <a:ln>
              <a:noFill/>
            </a:ln>
          </p:spPr>
        </p:sp>
        <p:sp>
          <p:nvSpPr>
            <p:cNvPr id="27" name="TextBox 27"/>
            <p:cNvSpPr txBox="1"/>
            <p:nvPr/>
          </p:nvSpPr>
          <p:spPr>
            <a:xfrm>
              <a:off x="8146923" y="4662964"/>
              <a:ext cx="1277752" cy="249364"/>
            </a:xfrm>
            <a:prstGeom prst="rect">
              <a:avLst/>
            </a:prstGeom>
            <a:noFill/>
            <a:ln>
              <a:noFill/>
            </a:ln>
          </p:spPr>
          <p:txBody>
            <a:bodyPr wrap="none" lIns="0" tIns="0" rIns="0" bIns="0" anchor="t" anchorCtr="0">
              <a:spAutoFit/>
            </a:bodyPr>
            <a:lstStyle/>
            <a:p>
              <a:pPr algn="l"/>
              <a:r>
                <a:rPr lang="en-US" sz="1280" b="1" spc="150" dirty="0">
                  <a:solidFill>
                    <a:schemeClr val="accent2"/>
                  </a:solidFill>
                  <a:latin typeface="+mn-lt"/>
                  <a:ea typeface="+mn-ea"/>
                  <a:cs typeface="+mn-cs"/>
                </a:rPr>
                <a:t>DESIGN WINS</a:t>
              </a:r>
            </a:p>
          </p:txBody>
        </p:sp>
        <p:sp>
          <p:nvSpPr>
            <p:cNvPr id="28" name="TextBox 28"/>
            <p:cNvSpPr txBox="1"/>
            <p:nvPr/>
          </p:nvSpPr>
          <p:spPr>
            <a:xfrm>
              <a:off x="8138922" y="5026342"/>
              <a:ext cx="915227" cy="557403"/>
            </a:xfrm>
            <a:prstGeom prst="rect">
              <a:avLst/>
            </a:prstGeom>
            <a:noFill/>
            <a:ln>
              <a:noFill/>
            </a:ln>
          </p:spPr>
          <p:txBody>
            <a:bodyPr wrap="none" lIns="0" tIns="0" rIns="0" bIns="0" anchor="t" anchorCtr="0">
              <a:spAutoFit/>
            </a:bodyPr>
            <a:lstStyle/>
            <a:p>
              <a:pPr algn="l"/>
              <a:r>
                <a:rPr lang="en-US" sz="2850" b="1" dirty="0">
                  <a:solidFill>
                    <a:schemeClr val="dk1"/>
                  </a:solidFill>
                  <a:latin typeface="+mn-lt"/>
                  <a:ea typeface="+mn-ea"/>
                  <a:cs typeface="+mn-cs"/>
                </a:rPr>
                <a:t>+7.3</a:t>
              </a:r>
            </a:p>
          </p:txBody>
        </p:sp>
        <p:sp>
          <p:nvSpPr>
            <p:cNvPr id="29" name="TextBox 29"/>
            <p:cNvSpPr txBox="1"/>
            <p:nvPr/>
          </p:nvSpPr>
          <p:spPr>
            <a:xfrm>
              <a:off x="9137142" y="5188268"/>
              <a:ext cx="2329525"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Chamfer mAP · bbox (k=2)</a:t>
              </a:r>
            </a:p>
          </p:txBody>
        </p:sp>
        <p:sp>
          <p:nvSpPr>
            <p:cNvPr id="30" name="TextBox 30"/>
            <p:cNvSpPr txBox="1"/>
            <p:nvPr/>
          </p:nvSpPr>
          <p:spPr>
            <a:xfrm>
              <a:off x="8138922" y="5578792"/>
              <a:ext cx="915227" cy="557403"/>
            </a:xfrm>
            <a:prstGeom prst="rect">
              <a:avLst/>
            </a:prstGeom>
            <a:noFill/>
            <a:ln>
              <a:noFill/>
            </a:ln>
          </p:spPr>
          <p:txBody>
            <a:bodyPr wrap="none" lIns="0" tIns="0" rIns="0" bIns="0" anchor="t" anchorCtr="0">
              <a:spAutoFit/>
            </a:bodyPr>
            <a:lstStyle/>
            <a:p>
              <a:pPr algn="l"/>
              <a:r>
                <a:rPr lang="en-US" sz="2850" b="1" dirty="0">
                  <a:solidFill>
                    <a:schemeClr val="dk1"/>
                  </a:solidFill>
                  <a:latin typeface="+mn-lt"/>
                  <a:ea typeface="+mn-ea"/>
                  <a:cs typeface="+mn-cs"/>
                </a:rPr>
                <a:t>+8.5</a:t>
              </a:r>
            </a:p>
          </p:txBody>
        </p:sp>
        <p:sp>
          <p:nvSpPr>
            <p:cNvPr id="31" name="TextBox 31"/>
            <p:cNvSpPr txBox="1"/>
            <p:nvPr/>
          </p:nvSpPr>
          <p:spPr>
            <a:xfrm>
              <a:off x="9137142" y="5740718"/>
              <a:ext cx="2117609"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mAP · two-stage fusion</a:t>
              </a:r>
            </a:p>
          </p:txBody>
        </p:sp>
      </p:grpSp>
      <p:sp>
        <p:nvSpPr>
          <p:cNvPr id="33" name="cue_s09_c1_summarize_vectormapnet_exceeds_previ" title="cue_s09_c1_summarize_vectormapnet_exceeds_previ" descr="cue_s09_c1_summarize_vectormapnet_exceeds_previ To summarize: VectorMapNet exceeds the previous state of the art by 14.2 mAP on nuScenes and 14.6 on Argoverse2."/>
          <p:cNvSpPr/>
          <p:nvPr/>
        </p:nvSpPr>
        <p:spPr>
          <a:xfrm>
            <a:off x="762000" y="1866747"/>
            <a:ext cx="5143804" cy="22857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ue_s09_c2_its_best_configuration_fusion_fine_t" title="cue_s09_c2_its_best_configuration_fusion_fine_t" descr="cue_s09_c2_its_best_configuration_fusion_fine_t Its best configuration, fusion with fine-tuning, reaches 53.7 mAP where HDMapNet reaches 31."/>
          <p:cNvSpPr/>
          <p:nvPr/>
        </p:nvSpPr>
        <p:spPr>
          <a:xfrm>
            <a:off x="6210604" y="1866747"/>
            <a:ext cx="5143804" cy="22857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ue_s09_c3_gains_span_sensors_about_eighteen" title="cue_s09_c3_gains_span_sensors_about_eighteen" descr="cue_s09_c3_gains_span_sensors_about_eighteen Gains span sensors: about eighteen for camera, ten for LiDAR, fourteen for fusion."/>
          <p:cNvSpPr/>
          <p:nvPr/>
        </p:nvSpPr>
        <p:spPr>
          <a:xfrm>
            <a:off x="762000" y="4381576"/>
            <a:ext cx="6858000"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14300" cy="6858000"/>
          </a:xfrm>
          <a:prstGeom prst="rect">
            <a:avLst/>
          </a:prstGeom>
          <a:solidFill>
            <a:schemeClr val="accent2"/>
          </a:solidFill>
          <a:ln>
            <a:noFill/>
          </a:ln>
        </p:spPr>
        <p:txBody>
          <a:bodyPr/>
          <a:p/>
        </p:txBody>
      </p:sp>
      <p:grpSp>
        <p:nvGrpSpPr>
          <p:cNvPr id="5" name="Group 5"/>
          <p:cNvGrpSpPr/>
          <p:nvPr/>
        </p:nvGrpSpPr>
        <p:grpSpPr>
          <a:xfrm>
            <a:off x="745236" y="730568"/>
            <a:ext cx="3768725" cy="987361"/>
            <a:chOff x="745236" y="730568"/>
            <a:chExt cx="3768725" cy="987361"/>
          </a:xfrm>
        </p:grpSpPr>
        <p:sp>
          <p:nvSpPr>
            <p:cNvPr id="3" name="TextBox 3"/>
            <p:cNvSpPr txBox="1"/>
            <p:nvPr/>
          </p:nvSpPr>
          <p:spPr>
            <a:xfrm>
              <a:off x="755142" y="730568"/>
              <a:ext cx="1165220" cy="264033"/>
            </a:xfrm>
            <a:prstGeom prst="rect">
              <a:avLst/>
            </a:prstGeom>
            <a:noFill/>
            <a:ln>
              <a:noFill/>
            </a:ln>
          </p:spPr>
          <p:txBody>
            <a:bodyPr wrap="none" lIns="0" tIns="0" rIns="0" bIns="0" anchor="t" anchorCtr="0">
              <a:spAutoFit/>
            </a:bodyPr>
            <a:lstStyle/>
            <a:p>
              <a:pPr algn="l"/>
              <a:r>
                <a:rPr lang="en-US" sz="1350" b="1" spc="225" dirty="0">
                  <a:solidFill>
                    <a:schemeClr val="accent2"/>
                  </a:solidFill>
                  <a:latin typeface="+mn-lt"/>
                  <a:ea typeface="+mn-ea"/>
                  <a:cs typeface="+mn-cs"/>
                </a:rPr>
                <a:t>TAKEAWAY</a:t>
              </a:r>
            </a:p>
          </p:txBody>
        </p:sp>
        <p:sp>
          <p:nvSpPr>
            <p:cNvPr id="4" name="TextBox 4"/>
            <p:cNvSpPr txBox="1"/>
            <p:nvPr/>
          </p:nvSpPr>
          <p:spPr>
            <a:xfrm>
              <a:off x="745236" y="1072515"/>
              <a:ext cx="3768725" cy="645414"/>
            </a:xfrm>
            <a:prstGeom prst="rect">
              <a:avLst/>
            </a:prstGeom>
            <a:noFill/>
            <a:ln>
              <a:noFill/>
            </a:ln>
          </p:spPr>
          <p:txBody>
            <a:bodyPr wrap="none" lIns="0" tIns="0" rIns="0" bIns="0" anchor="t" anchorCtr="0">
              <a:spAutoFit/>
            </a:bodyPr>
            <a:lstStyle/>
            <a:p>
              <a:pPr algn="l"/>
              <a:r>
                <a:rPr lang="en-US" sz="3300" b="1" spc="-75" dirty="0">
                  <a:solidFill>
                    <a:schemeClr val="dk1"/>
                  </a:solidFill>
                  <a:latin typeface="+mn-lt"/>
                  <a:ea typeface="+mn-ea"/>
                  <a:cs typeface="+mn-cs"/>
                </a:rPr>
                <a:t>No detour needed</a:t>
              </a:r>
            </a:p>
          </p:txBody>
        </p:sp>
      </p:grpSp>
      <p:grpSp>
        <p:nvGrpSpPr>
          <p:cNvPr id="8" name="Group 8"/>
          <p:cNvGrpSpPr/>
          <p:nvPr/>
        </p:nvGrpSpPr>
        <p:grpSpPr>
          <a:xfrm>
            <a:off x="748284" y="2146935"/>
            <a:ext cx="6458196" cy="966216"/>
            <a:chOff x="748284" y="2146935"/>
            <a:chExt cx="6458196" cy="966216"/>
          </a:xfrm>
        </p:grpSpPr>
        <p:sp>
          <p:nvSpPr>
            <p:cNvPr id="6" name="TextBox 6"/>
            <p:cNvSpPr txBox="1"/>
            <p:nvPr/>
          </p:nvSpPr>
          <p:spPr>
            <a:xfrm>
              <a:off x="748284" y="2146935"/>
              <a:ext cx="3736391" cy="528066"/>
            </a:xfrm>
            <a:prstGeom prst="rect">
              <a:avLst/>
            </a:prstGeom>
            <a:noFill/>
            <a:ln>
              <a:noFill/>
            </a:ln>
          </p:spPr>
          <p:txBody>
            <a:bodyPr wrap="none" lIns="0" tIns="0" rIns="0" bIns="0" anchor="t" anchorCtr="0">
              <a:spAutoFit/>
            </a:bodyPr>
            <a:lstStyle/>
            <a:p>
              <a:pPr algn="l"/>
              <a:r>
                <a:rPr lang="en-US" sz="2700" b="1" dirty="0">
                  <a:solidFill>
                    <a:schemeClr val="dk1"/>
                  </a:solidFill>
                  <a:latin typeface="+mn-lt"/>
                  <a:ea typeface="+mn-ea"/>
                  <a:cs typeface="+mn-cs"/>
                </a:rPr>
                <a:t xml:space="preserve">HD mapping needs </a:t>
              </a:r>
              <a:r>
                <a:rPr lang="en-US" sz="2700" b="1" dirty="0">
                  <a:solidFill>
                    <a:schemeClr val="accent2"/>
                  </a:solidFill>
                  <a:latin typeface="+mn-lt"/>
                  <a:ea typeface="+mn-ea"/>
                  <a:cs typeface="+mn-cs"/>
                </a:rPr>
                <a:t>no</a:t>
              </a:r>
            </a:p>
          </p:txBody>
        </p:sp>
        <p:sp>
          <p:nvSpPr>
            <p:cNvPr id="7" name="TextBox 7"/>
            <p:cNvSpPr txBox="1"/>
            <p:nvPr/>
          </p:nvSpPr>
          <p:spPr>
            <a:xfrm>
              <a:off x="748284" y="2585085"/>
              <a:ext cx="6458196" cy="528066"/>
            </a:xfrm>
            <a:prstGeom prst="rect">
              <a:avLst/>
            </a:prstGeom>
            <a:noFill/>
            <a:ln>
              <a:noFill/>
            </a:ln>
          </p:spPr>
          <p:txBody>
            <a:bodyPr wrap="none" lIns="0" tIns="0" rIns="0" bIns="0" anchor="t" anchorCtr="0">
              <a:spAutoFit/>
            </a:bodyPr>
            <a:lstStyle/>
            <a:p>
              <a:pPr algn="l"/>
              <a:r>
                <a:rPr lang="en-US" sz="2700" b="1" dirty="0">
                  <a:solidFill>
                    <a:schemeClr val="accent2"/>
                  </a:solidFill>
                  <a:latin typeface="+mn-lt"/>
                  <a:ea typeface="+mn-ea"/>
                  <a:cs typeface="+mn-cs"/>
                </a:rPr>
                <a:t>rasterize-then-vectorize detour.</a:t>
              </a:r>
            </a:p>
          </p:txBody>
        </p:sp>
      </p:grpSp>
      <p:grpSp>
        <p:nvGrpSpPr>
          <p:cNvPr id="10" name="Group 10"/>
          <p:cNvGrpSpPr/>
          <p:nvPr/>
        </p:nvGrpSpPr>
        <p:grpSpPr>
          <a:xfrm>
            <a:off x="753999" y="3411379"/>
            <a:ext cx="5203063" cy="1527238"/>
            <a:chOff x="753999" y="3411379"/>
            <a:chExt cx="5203063" cy="1527238"/>
          </a:xfrm>
        </p:grpSpPr>
        <p:sp>
          <p:nvSpPr>
            <p:cNvPr id="9" name="TextBox 9"/>
            <p:cNvSpPr txBox="1"/>
            <p:nvPr/>
          </p:nvSpPr>
          <p:spPr>
            <a:xfrm>
              <a:off x="753999" y="3411379"/>
              <a:ext cx="5203063" cy="1527238"/>
            </a:xfrm>
            <a:prstGeom prst="rect">
              <a:avLst/>
            </a:prstGeom>
            <a:noFill/>
            <a:ln>
              <a:noFill/>
            </a:ln>
          </p:spPr>
          <p:txBody>
            <a:bodyPr wrap="square" lIns="0" tIns="0" rIns="0" bIns="0" anchor="t" anchorCtr="0"/>
            <a:lstStyle/>
            <a:p>
              <a:pPr algn="l">
                <a:lnSpc>
                  <a:spcPts val="2400"/>
                </a:lnSpc>
              </a:pPr>
              <a:r>
                <a:rPr lang="en-US" sz="1580" dirty="0">
                  <a:solidFill>
                    <a:schemeClr val="dk2"/>
                  </a:solidFill>
                  <a:latin typeface="+mn-lt"/>
                  <a:ea typeface="+mn-ea"/>
                  <a:cs typeface="+mn-cs"/>
                </a:rPr>
                <a:t>Treating map construction as detection plus autoregressive polyline generation yields clean, directional vector maps straight from cameras and LiDAR — beating rasterized pipelines by double digits, and even extending to centerlines unchanged.</a:t>
              </a:r>
            </a:p>
          </p:txBody>
        </p:sp>
      </p:grpSp>
      <p:grpSp>
        <p:nvGrpSpPr>
          <p:cNvPr id="13" name="Group 13"/>
          <p:cNvGrpSpPr/>
          <p:nvPr/>
        </p:nvGrpSpPr>
        <p:grpSpPr>
          <a:xfrm>
            <a:off x="755523" y="5676900"/>
            <a:ext cx="6170957" cy="492728"/>
            <a:chOff x="755523" y="5676900"/>
            <a:chExt cx="6170957" cy="492728"/>
          </a:xfrm>
        </p:grpSpPr>
        <p:sp>
          <p:nvSpPr>
            <p:cNvPr id="11" name="Rectangle 11"/>
            <p:cNvSpPr/>
            <p:nvPr/>
          </p:nvSpPr>
          <p:spPr>
            <a:xfrm>
              <a:off x="762000" y="5676900"/>
              <a:ext cx="1257300" cy="28575"/>
            </a:xfrm>
            <a:prstGeom prst="rect">
              <a:avLst/>
            </a:prstGeom>
            <a:solidFill>
              <a:schemeClr val="accent2"/>
            </a:solidFill>
            <a:ln>
              <a:noFill/>
            </a:ln>
          </p:spPr>
        </p:sp>
        <p:sp>
          <p:nvSpPr>
            <p:cNvPr id="12" name="TextBox 12"/>
            <p:cNvSpPr txBox="1"/>
            <p:nvPr/>
          </p:nvSpPr>
          <p:spPr>
            <a:xfrm>
              <a:off x="755523" y="5920264"/>
              <a:ext cx="6170957"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arxiv.org/abs/2206.08920 · github.com/Mrmoore98/VectorMapNet_code</a:t>
              </a:r>
            </a:p>
          </p:txBody>
        </p:sp>
      </p:grpSp>
      <p:grpSp>
        <p:nvGrpSpPr>
          <p:cNvPr id="17" name="Group 17"/>
          <p:cNvGrpSpPr/>
          <p:nvPr/>
        </p:nvGrpSpPr>
        <p:grpSpPr>
          <a:xfrm>
            <a:off x="6394323" y="1900714"/>
            <a:ext cx="4768977" cy="4347686"/>
            <a:chOff x="6394323" y="1900714"/>
            <a:chExt cx="4768977" cy="4347686"/>
          </a:xfrm>
        </p:grpSpPr>
        <p:sp>
          <p:nvSpPr>
            <p:cNvPr id="14" name="TextBox 14"/>
            <p:cNvSpPr txBox="1"/>
            <p:nvPr/>
          </p:nvSpPr>
          <p:spPr>
            <a:xfrm>
              <a:off x="6394323" y="1900714"/>
              <a:ext cx="4122459" cy="249364"/>
            </a:xfrm>
            <a:prstGeom prst="rect">
              <a:avLst/>
            </a:prstGeom>
            <a:noFill/>
            <a:ln>
              <a:noFill/>
            </a:ln>
          </p:spPr>
          <p:txBody>
            <a:bodyPr wrap="none" lIns="0" tIns="0" rIns="0" bIns="0" anchor="t" anchorCtr="0">
              <a:spAutoFit/>
            </a:bodyPr>
            <a:lstStyle/>
            <a:p>
              <a:pPr algn="l"/>
              <a:r>
                <a:rPr lang="en-US" sz="1280" b="1" spc="75" dirty="0">
                  <a:solidFill>
                    <a:schemeClr val="dk1"/>
                  </a:solidFill>
                  <a:latin typeface="+mn-lt"/>
                  <a:ea typeface="+mn-ea"/>
                  <a:cs typeface="+mn-cs"/>
                </a:rPr>
                <a:t>Figure 4 · Detecting an unlabeled crossing</a:t>
              </a:r>
            </a:p>
          </p:txBody>
        </p:sp>
        <p:sp>
          <p:nvSpPr>
            <p:cNvPr id="15" name="Rectangle 15"/>
            <p:cNvSpPr/>
            <p:nvPr/>
          </p:nvSpPr>
          <p:spPr>
            <a:xfrm>
              <a:off x="6400800" y="2152650"/>
              <a:ext cx="4762500" cy="4095750"/>
            </a:xfrm>
            <a:prstGeom prst="roundRect">
              <a:avLst>
                <a:gd name="adj" fmla="val 930"/>
              </a:avLst>
            </a:prstGeom>
            <a:solidFill>
              <a:srgbClr val="F4F6F9"/>
            </a:solidFill>
            <a:ln>
              <a:noFill/>
            </a:ln>
          </p:spPr>
        </p:sp>
        <p:pic>
          <p:nvPicPr>
            <p:cNvPr id="16" name="Image 16"/>
            <p:cNvPicPr>
              <a:picLocks noChangeAspect="1"/>
            </p:cNvPicPr>
            <p:nvPr/>
          </p:nvPicPr>
          <p:blipFill>
            <a:blip r:embed="rId2"/>
            <a:stretch>
              <a:fillRect/>
            </a:stretch>
          </p:blipFill>
          <p:spPr>
            <a:xfrm>
              <a:off x="6572250" y="2923848"/>
              <a:ext cx="4419600" cy="2553355"/>
            </a:xfrm>
            <a:prstGeom prst="rect">
              <a:avLst/>
            </a:prstGeom>
          </p:spPr>
        </p:pic>
      </p:grpSp>
      <p:sp>
        <p:nvSpPr>
          <p:cNvPr id="18" name="cue_s10_c1_takeaway_mapping_needs_rasterize_the" title="cue_s10_c1_takeaway_mapping_needs_rasterize_the" descr="cue_s10_c1_takeaway_mapping_needs_rasterize_the The takeaway: HD mapping needs no rasterize-then-vectorize detour."/>
          <p:cNvSpPr/>
          <p:nvPr/>
        </p:nvSpPr>
        <p:spPr>
          <a:xfrm>
            <a:off x="748588" y="2147239"/>
            <a:ext cx="6458102" cy="96629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cue_s10_c2_treating_mapping_detection_plus_auto" title="cue_s10_c2_treating_mapping_detection_plus_auto" descr="cue_s10_c2_treating_mapping_detection_plus_auto Treating mapping as detection plus autoregressive polyline generation, VectorMapNet produces directional vector maps directly from sensors, beats rasterized pipelines by double digits, and even extends to centerlines with no architectural change."/>
          <p:cNvSpPr/>
          <p:nvPr/>
        </p:nvSpPr>
        <p:spPr>
          <a:xfrm>
            <a:off x="753465" y="3411169"/>
            <a:ext cx="5203545" cy="15272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ck">
  <a:themeElements>
    <a:clrScheme name="deck">
      <a:dk1>
        <a:srgbClr val="111418"/>
      </a:dk1>
      <a:lt1>
        <a:srgbClr val="FFFFFF"/>
      </a:lt1>
      <a:dk2>
        <a:srgbClr val="5C636E"/>
      </a:dk2>
      <a:lt2>
        <a:srgbClr val="FFFFFF"/>
      </a:lt2>
      <a:accent1>
        <a:srgbClr val="111418"/>
      </a:accent1>
      <a:accent2>
        <a:srgbClr val="1857D6"/>
      </a:accent2>
      <a:accent3>
        <a:srgbClr val="1857D6"/>
      </a:accent3>
      <a:accent4>
        <a:srgbClr val="DBE0E6"/>
      </a:accent4>
      <a:accent5>
        <a:srgbClr val="E8EEFC"/>
      </a:accent5>
      <a:accent6>
        <a:srgbClr val="9AA1AB"/>
      </a:accent6>
      <a:hlink>
        <a:srgbClr val="1857D6"/>
      </a:hlink>
      <a:folHlink>
        <a:srgbClr val="1857D6"/>
      </a:folHlink>
    </a:clrScheme>
    <a:fontScheme name="deck">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deck">
  <a:themeElements>
    <a:clrScheme name="deck">
      <a:dk1>
        <a:srgbClr val="111418"/>
      </a:dk1>
      <a:lt1>
        <a:srgbClr val="FFFFFF"/>
      </a:lt1>
      <a:dk2>
        <a:srgbClr val="5C636E"/>
      </a:dk2>
      <a:lt2>
        <a:srgbClr val="FFFFFF"/>
      </a:lt2>
      <a:accent1>
        <a:srgbClr val="111418"/>
      </a:accent1>
      <a:accent2>
        <a:srgbClr val="1857D6"/>
      </a:accent2>
      <a:accent3>
        <a:srgbClr val="1857D6"/>
      </a:accent3>
      <a:accent4>
        <a:srgbClr val="DBE0E6"/>
      </a:accent4>
      <a:accent5>
        <a:srgbClr val="E8EEFC"/>
      </a:accent5>
      <a:accent6>
        <a:srgbClr val="9AA1AB"/>
      </a:accent6>
      <a:hlink>
        <a:srgbClr val="1857D6"/>
      </a:hlink>
      <a:folHlink>
        <a:srgbClr val="1857D6"/>
      </a:folHlink>
    </a:clrScheme>
    <a:fontScheme name="deck">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2026-07-15T13:44:03Z</dcterms:created>
  <dcterms:modified xsi:type="dcterms:W3CDTF">2026-07-15T13:44:03Z</dcterms:modified>
  <cp:category/>
  <cp:contentStatus/>
</cp:coreProperties>
</file>
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7"/>
    <p:sldId id="257" r:id="rId8"/>
    <p:sldId id="258" r:id="rId9"/>
    <p:sldId id="259" r:id="rId10"/>
    <p:sldId id="260" r:id="rId11"/>
    <p:sldId id="261" r:id="rId12"/>
    <p:sldId id="262" r:id="rId13"/>
    <p:sldId id="263" r:id="rId1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  <Relationship Id="rId15"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Large vision models trained by autoregression promise a single generalist model for many visual tasks, but today's versions demand billions of parameters and hundreds of billions of visual tokens to train. This ICML 2024 paper, DeLVM, asks whether we really need all that. The authors show that two simple, classical ideas, data augmentation and knowledge distillation, let a compact autoregressive vision model reach strong performance on a limited dataset, cutting both the parameter footprint and the training data requirement dramatically.</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In language modeling, autoregressive models like GPT thrive on a universal token interface. Recent work extends this idea to vision, treating images and annotations as visual sentences. But the leading large vision model needs over three billion parameters and roughly four hundred billion visual tokens drawn from more than a billion images. That scale is expensive and impractical for edge deployment. Worse, the visual world is long-tailed: some tasks like segmentation have abundant data while others like pose estimation are starved, and training on the raw mixture leaves the model unable to learn the rare tasks at all.</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Language models are typically trained for a single epoch over vast corpora to avoid overfitting. Computer vision rarely has that luxury: many tasks have only tiny datasets, so the language training schedule does not carry over. At the same time, the community keeps scaling model and dataset size, while classical remedies for scarce and imbalanced data, namely data augmentation and knowledge distillation, have barely been tried in the autoregressive vision setting. This paper closes that gap.</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authors make three main contributions. First, they show that simple data augmentation, random crop and flip, rebalances long-tailed multi-task data and improves an autoregressive vision model just as effectively as collecting more real samples. Second, they bring knowledge distillation to autoregressive large vision models for the first time, using a LLaMA one-billion teacher to lift a compact three-hundred-million student across single-task and multi-task benchmarks. Third, they build a practical eighty-million-parameter model that, combining both techniques, surprisingly reaches eighty-three percent top-one accuracy on ImageNet, suggesting generation and understanding can be learned together.</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Experiments cover three core tasks. Image segmentation uses subsets of SA-1B ranging from one to ten percent; human pose estimation uses the full COCO-Pose dataset; image deraining uses Rain13K. Validation relies on held-out SA-1B splits together with MPII and Test2800. The distilled models are also benchmarked on Pascal five-i foreground segmentation using mean intersection-over-union, and the practical eighty-million model is evaluated on ImageNet classification. Throughout, the VQGAN tokenizer is trained on the Laion dataset and used off the shelf.</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results consistently favor the proposed recipe. On the mixed three-task benchmark, balancing the data through augmentation beats both the raw unbalanced mixture and naive re-sampling, which actually collapses on the scarce tasks. Knowledge distillation then improves the compact student on segmentation, pose estimation, and deraining, in both single-task and multi-task training. On the Pascal five-i foreground segmentation benchmark, the distilled and fine-tuned three-hundred-million model clearly surpasses the same model trained from scratch. And scaling data on segmentation from one to ten percent lowers validation loss by nearly two tenths and perplexity by over twenty-two points, an effect augmentation reproduces with no new data at all.</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Several ablations sharpen the picture. Changing the prompt background color changes the generated background, and using black-background prompts makes a simple grayscale-threshold post-processing step reliable. Training without shuffling the task data triggers catastrophic forgetting: the model becomes proficient only on its most recently seen task, with perplexity on earlier tasks exploding into the thousands, underscoring that shuffling is essential for multi-task LVMs. Finally, even at just eighty million parameters, knowledge distillation still improves validation perplexity across segmentation, pose estimation, and deraining.</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takeaway is refreshingly simple. You do not need a three-billion-parameter model and hundreds of billions of tokens to build a capable autoregressive vision model. Two classical techniques, data augmentation to rebalance long-tailed tasks and knowledge distillation to compress a large teacher, together let compact models trained on limited data perform strongly across segmentation, pose estimation, and deraining. That an eighty-million-parameter version even reaches eighty-three percent accuracy on ImageNet points toward efficient, deployable generalist vision models that unify generation and understanding.</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deck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deck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5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5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4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3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2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1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0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95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5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500" kern="1200">
          <a:solidFill>
            <a:schemeClr val="tx1"/>
          </a:solidFill>
          <a:latin typeface="+mn-lt"/>
          <a:ea typeface="+mn-ea"/>
          <a:cs typeface="+mn-cs"/>
        </a:defRPr>
      </a:lvl1pPr>
      <a:lvl2pPr marL="457200" algn="l" defTabSz="457200" rtl="0" eaLnBrk="1" latinLnBrk="0" hangingPunct="1">
        <a:defRPr sz="1400" kern="1200">
          <a:solidFill>
            <a:schemeClr val="tx1"/>
          </a:solidFill>
          <a:latin typeface="+mn-lt"/>
          <a:ea typeface="+mn-ea"/>
          <a:cs typeface="+mn-cs"/>
        </a:defRPr>
      </a:lvl2pPr>
      <a:lvl3pPr marL="914400" algn="l" defTabSz="457200" rtl="0" eaLnBrk="1" latinLnBrk="0" hangingPunct="1">
        <a:defRPr sz="13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100" kern="1200">
          <a:solidFill>
            <a:schemeClr val="tx1"/>
          </a:solidFill>
          <a:latin typeface="+mn-lt"/>
          <a:ea typeface="+mn-ea"/>
          <a:cs typeface="+mn-cs"/>
        </a:defRPr>
      </a:lvl5pPr>
      <a:lvl6pPr marL="2286000" algn="l" defTabSz="457200" rtl="0" eaLnBrk="1" latinLnBrk="0" hangingPunct="1">
        <a:defRPr sz="1050" kern="1200">
          <a:solidFill>
            <a:schemeClr val="tx1"/>
          </a:solidFill>
          <a:latin typeface="+mn-lt"/>
          <a:ea typeface="+mn-ea"/>
          <a:cs typeface="+mn-cs"/>
        </a:defRPr>
      </a:lvl6pPr>
      <a:lvl7pPr marL="2743200" algn="l" defTabSz="457200" rtl="0" eaLnBrk="1" latinLnBrk="0" hangingPunct="1">
        <a:defRPr sz="950" kern="1200">
          <a:solidFill>
            <a:schemeClr val="tx1"/>
          </a:solidFill>
          <a:latin typeface="+mn-lt"/>
          <a:ea typeface="+mn-ea"/>
          <a:cs typeface="+mn-cs"/>
        </a:defRPr>
      </a:lvl7pPr>
      <a:lvl8pPr marL="3200400" algn="l" defTabSz="457200" rtl="0" eaLnBrk="1" latinLnBrk="0" hangingPunct="1">
        <a:defRPr sz="85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f55d3230261ae102.png"/>
  <Relationship Id="rId3" Type="http://schemas.openxmlformats.org/officeDocument/2006/relationships/image" Target="../media/image_b520e58d2d1a24c0.png"/>
  <Relationship Id="rId4" Type="http://schemas.openxmlformats.org/officeDocument/2006/relationships/image" Target="../media/image_b800dad477492908.png"/>
  <Relationship Id="rId5" Type="http://schemas.openxmlformats.org/officeDocument/2006/relationships/image" Target="../media/image_a4045b8819159beb.png"/>
  <Relationship Id="rId6" Type="http://schemas.openxmlformats.org/officeDocument/2006/relationships/image" Target="../media/image_999b15de5740910b.png"/>
  <Relationship Id="rId7"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96bc21cbad812f9f.jpg"/>
  <Relationship Id="rId3"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784b26c223f2324.jpg"/>
  <Relationship Id="rId3" Type="http://schemas.openxmlformats.org/officeDocument/2006/relationships/image" Target="../media/image_4f0acfb7b90f3e29.jpg"/>
  <Relationship Id="rId4"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40a91bc0774465f2.jpg"/>
  <Relationship Id="rId3" Type="http://schemas.openxmlformats.org/officeDocument/2006/relationships/image" Target="../media/image_164d6365b306e4b0.jpg"/>
  <Relationship Id="rId4"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chemeClr val="lt1"/>
            </a:solidFill>
            <a:ln>
              <a:noFill/>
            </a:ln>
          </p:spPr>
        </p:sp>
        <p:sp>
          <p:nvSpPr>
            <p:cNvPr id="3" name="Rectangle 3"/>
            <p:cNvSpPr/>
            <p:nvPr/>
          </p:nvSpPr>
          <p:spPr>
            <a:xfrm>
              <a:off x="6667500" y="0"/>
              <a:ext cx="5524500" cy="6858000"/>
            </a:xfrm>
            <a:prstGeom prst="rect">
              <a:avLst/>
            </a:prstGeom>
            <a:solidFill>
              <a:schemeClr val="lt2"/>
            </a:solidFill>
            <a:ln>
              <a:noFill/>
            </a:ln>
          </p:spPr>
        </p:sp>
        <p:sp>
          <p:nvSpPr>
            <p:cNvPr id="4" name="Rectangle 4"/>
            <p:cNvSpPr/>
            <p:nvPr/>
          </p:nvSpPr>
          <p:spPr>
            <a:xfrm>
              <a:off x="0" y="0"/>
              <a:ext cx="12192000" cy="57150"/>
            </a:xfrm>
            <a:prstGeom prst="rect">
              <a:avLst/>
            </a:prstGeom>
            <a:solidFill>
              <a:schemeClr val="accent1"/>
            </a:solidFill>
            <a:ln>
              <a:noFill/>
            </a:ln>
          </p:spPr>
        </p:sp>
        <p:sp>
          <p:nvSpPr>
            <p:cNvPr id="5" name="Rectangle 5"/>
            <p:cNvSpPr/>
            <p:nvPr/>
          </p:nvSpPr>
          <p:spPr>
            <a:xfrm>
              <a:off x="0" y="0"/>
              <a:ext cx="3429000" cy="57150"/>
            </a:xfrm>
            <a:prstGeom prst="rect">
              <a:avLst/>
            </a:prstGeom>
            <a:solidFill>
              <a:schemeClr val="accent2"/>
            </a:solidFill>
            <a:ln>
              <a:noFill/>
            </a:ln>
          </p:spPr>
        </p:sp>
      </p:grpSp>
      <p:grpSp>
        <p:nvGrpSpPr>
          <p:cNvPr id="9" name="Group 9"/>
          <p:cNvGrpSpPr/>
          <p:nvPr/>
        </p:nvGrpSpPr>
        <p:grpSpPr>
          <a:xfrm>
            <a:off x="756666" y="781050"/>
            <a:ext cx="4812840" cy="453961"/>
            <a:chOff x="756666" y="781050"/>
            <a:chExt cx="4812840" cy="453961"/>
          </a:xfrm>
        </p:grpSpPr>
        <p:sp>
          <p:nvSpPr>
            <p:cNvPr id="7" name="Rectangle 7"/>
            <p:cNvSpPr/>
            <p:nvPr/>
          </p:nvSpPr>
          <p:spPr>
            <a:xfrm>
              <a:off x="762000" y="781050"/>
              <a:ext cx="514350" cy="47625"/>
            </a:xfrm>
            <a:prstGeom prst="rect">
              <a:avLst/>
            </a:prstGeom>
            <a:solidFill>
              <a:schemeClr val="accent2"/>
            </a:solidFill>
            <a:ln>
              <a:noFill/>
            </a:ln>
          </p:spPr>
        </p:sp>
        <p:sp>
          <p:nvSpPr>
            <p:cNvPr id="8" name="TextBox 8"/>
            <p:cNvSpPr txBox="1"/>
            <p:nvPr/>
          </p:nvSpPr>
          <p:spPr>
            <a:xfrm>
              <a:off x="756666" y="1029652"/>
              <a:ext cx="4812840" cy="205359"/>
            </a:xfrm>
            <a:prstGeom prst="rect">
              <a:avLst/>
            </a:prstGeom>
            <a:noFill/>
            <a:ln>
              <a:noFill/>
            </a:ln>
          </p:spPr>
          <p:txBody>
            <a:bodyPr wrap="none" lIns="0" tIns="0" rIns="0" bIns="0" anchor="t" anchorCtr="0">
              <a:spAutoFit/>
            </a:bodyPr>
            <a:lstStyle/>
            <a:p>
              <a:pPr algn="l"/>
              <a:r>
                <a:rPr lang="en-US" sz="1050" b="1" spc="188" dirty="0">
                  <a:solidFill>
                    <a:schemeClr val="accent2"/>
                  </a:solidFill>
                  <a:latin typeface="+mn-lt"/>
                  <a:ea typeface="+mn-ea"/>
                  <a:cs typeface="+mn-cs"/>
                </a:rPr>
                <a:t>PAPER DEEP-READ · ICML 2024 · arXiv 2402.04841</a:t>
              </a:r>
            </a:p>
          </p:txBody>
        </p:sp>
      </p:grpSp>
      <p:grpSp>
        <p:nvGrpSpPr>
          <p:cNvPr id="13" name="Group 13"/>
          <p:cNvGrpSpPr/>
          <p:nvPr/>
        </p:nvGrpSpPr>
        <p:grpSpPr>
          <a:xfrm>
            <a:off x="742950" y="1515428"/>
            <a:ext cx="6385693" cy="1633823"/>
            <a:chOff x="742950" y="1515428"/>
            <a:chExt cx="6385693" cy="1633823"/>
          </a:xfrm>
        </p:grpSpPr>
        <p:sp>
          <p:nvSpPr>
            <p:cNvPr id="10" name="TextBox 10"/>
            <p:cNvSpPr txBox="1"/>
            <p:nvPr/>
          </p:nvSpPr>
          <p:spPr>
            <a:xfrm>
              <a:off x="742950" y="1515428"/>
              <a:ext cx="6385693" cy="790575"/>
            </a:xfrm>
            <a:prstGeom prst="rect">
              <a:avLst/>
            </a:prstGeom>
            <a:noFill/>
            <a:ln>
              <a:noFill/>
            </a:ln>
          </p:spPr>
          <p:txBody>
            <a:bodyPr wrap="none" lIns="0" tIns="0" rIns="0" bIns="0" anchor="t" anchorCtr="0">
              <a:spAutoFit/>
            </a:bodyPr>
            <a:lstStyle/>
            <a:p>
              <a:pPr algn="l"/>
              <a:r>
                <a:rPr lang="en-US" sz="4050" b="1" dirty="0">
                  <a:solidFill>
                    <a:schemeClr val="accent1"/>
                  </a:solidFill>
                  <a:latin typeface="+mj-lt"/>
                  <a:ea typeface="+mj-ea"/>
                  <a:cs typeface="+mj-cs"/>
                </a:rPr>
                <a:t>Data-efficient Large</a:t>
              </a:r>
            </a:p>
          </p:txBody>
        </p:sp>
        <p:sp>
          <p:nvSpPr>
            <p:cNvPr id="11" name="TextBox 11"/>
            <p:cNvSpPr txBox="1"/>
            <p:nvPr/>
          </p:nvSpPr>
          <p:spPr>
            <a:xfrm>
              <a:off x="742950" y="2105978"/>
              <a:ext cx="4016237" cy="790575"/>
            </a:xfrm>
            <a:prstGeom prst="rect">
              <a:avLst/>
            </a:prstGeom>
            <a:noFill/>
            <a:ln>
              <a:noFill/>
            </a:ln>
          </p:spPr>
          <p:txBody>
            <a:bodyPr wrap="none" lIns="0" tIns="0" rIns="0" bIns="0" anchor="t" anchorCtr="0">
              <a:spAutoFit/>
            </a:bodyPr>
            <a:lstStyle/>
            <a:p>
              <a:pPr algn="l"/>
              <a:r>
                <a:rPr lang="en-US" sz="4050" b="1" dirty="0">
                  <a:solidFill>
                    <a:schemeClr val="accent1"/>
                  </a:solidFill>
                  <a:latin typeface="+mj-lt"/>
                  <a:ea typeface="+mj-ea"/>
                  <a:cs typeface="+mj-cs"/>
                </a:rPr>
                <a:t>Vision Models</a:t>
              </a:r>
            </a:p>
          </p:txBody>
        </p:sp>
        <p:sp>
          <p:nvSpPr>
            <p:cNvPr id="12" name="TextBox 12"/>
            <p:cNvSpPr txBox="1"/>
            <p:nvPr/>
          </p:nvSpPr>
          <p:spPr>
            <a:xfrm>
              <a:off x="751713" y="2753201"/>
              <a:ext cx="6269888" cy="396050"/>
            </a:xfrm>
            <a:prstGeom prst="rect">
              <a:avLst/>
            </a:prstGeom>
            <a:noFill/>
            <a:ln>
              <a:noFill/>
            </a:ln>
          </p:spPr>
          <p:txBody>
            <a:bodyPr wrap="none" lIns="0" tIns="0" rIns="0" bIns="0" anchor="t" anchorCtr="0">
              <a:spAutoFit/>
            </a:bodyPr>
            <a:lstStyle/>
            <a:p>
              <a:pPr algn="l"/>
              <a:r>
                <a:rPr lang="en-US" sz="2020" i="1" dirty="0">
                  <a:solidFill>
                    <a:schemeClr val="accent2"/>
                  </a:solidFill>
                  <a:latin typeface="+mj-lt"/>
                  <a:ea typeface="+mj-ea"/>
                  <a:cs typeface="+mj-cs"/>
                </a:rPr>
                <a:t>through Sequential Autoregression — DeLVM</a:t>
              </a:r>
            </a:p>
          </p:txBody>
        </p:sp>
      </p:grpSp>
      <p:grpSp>
        <p:nvGrpSpPr>
          <p:cNvPr id="18" name="Group 18"/>
          <p:cNvGrpSpPr/>
          <p:nvPr/>
        </p:nvGrpSpPr>
        <p:grpSpPr>
          <a:xfrm>
            <a:off x="755142" y="3295650"/>
            <a:ext cx="5405590" cy="949261"/>
            <a:chOff x="755142" y="3295650"/>
            <a:chExt cx="5405590" cy="949261"/>
          </a:xfrm>
        </p:grpSpPr>
        <p:sp>
          <p:nvSpPr>
            <p:cNvPr id="14" name="Line 14"/>
            <p:cNvSpPr/>
            <p:nvPr/>
          </p:nvSpPr>
          <p:spPr>
            <a:xfrm>
              <a:off x="762000" y="3295650"/>
              <a:ext cx="1143000" cy="9525"/>
            </a:xfrm>
            <a:custGeom>
              <a:avLst/>
              <a:gdLst/>
              <a:ahLst/>
              <a:cxnLst/>
              <a:rect l="l" t="t" r="r" b="b"/>
              <a:pathLst>
                <a:path w="1143000" h="9525">
                  <a:moveTo>
                    <a:pt x="0" y="0"/>
                  </a:moveTo>
                  <a:lnTo>
                    <a:pt x="1143000" y="0"/>
                  </a:lnTo>
                </a:path>
              </a:pathLst>
            </a:custGeom>
            <a:noFill/>
            <a:ln w="14288">
              <a:solidFill>
                <a:schemeClr val="accent1"/>
              </a:solidFill>
            </a:ln>
          </p:spPr>
        </p:sp>
        <p:sp>
          <p:nvSpPr>
            <p:cNvPr id="15" name="TextBox 15"/>
            <p:cNvSpPr txBox="1"/>
            <p:nvPr/>
          </p:nvSpPr>
          <p:spPr>
            <a:xfrm>
              <a:off x="755142" y="3492818"/>
              <a:ext cx="5100845"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Jianyuan Guo · Zhiwei Hao · Chengcheng Wang · Yehui Tang</a:t>
              </a:r>
            </a:p>
          </p:txBody>
        </p:sp>
        <p:sp>
          <p:nvSpPr>
            <p:cNvPr id="16" name="TextBox 16"/>
            <p:cNvSpPr txBox="1"/>
            <p:nvPr/>
          </p:nvSpPr>
          <p:spPr>
            <a:xfrm>
              <a:off x="755142" y="3721418"/>
              <a:ext cx="3210401"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Han Wu · Han Hu · Kai Han · Chang Xu</a:t>
              </a:r>
            </a:p>
          </p:txBody>
        </p:sp>
        <p:sp>
          <p:nvSpPr>
            <p:cNvPr id="17" name="TextBox 17"/>
            <p:cNvSpPr txBox="1"/>
            <p:nvPr/>
          </p:nvSpPr>
          <p:spPr>
            <a:xfrm>
              <a:off x="756666" y="4039552"/>
              <a:ext cx="540406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University of Sydney · Beijing Institute of Technology · Huawei Noah's Ark Lab</a:t>
              </a:r>
            </a:p>
          </p:txBody>
        </p:sp>
      </p:grpSp>
      <p:grpSp>
        <p:nvGrpSpPr>
          <p:cNvPr id="25" name="Group 25"/>
          <p:cNvGrpSpPr/>
          <p:nvPr/>
        </p:nvGrpSpPr>
        <p:grpSpPr>
          <a:xfrm>
            <a:off x="762000" y="4629150"/>
            <a:ext cx="5715000" cy="1428750"/>
            <a:chOff x="762000" y="4629150"/>
            <a:chExt cx="5715000" cy="1428750"/>
          </a:xfrm>
        </p:grpSpPr>
        <p:sp>
          <p:nvSpPr>
            <p:cNvPr id="19" name="Rectangle 19"/>
            <p:cNvSpPr/>
            <p:nvPr/>
          </p:nvSpPr>
          <p:spPr>
            <a:xfrm>
              <a:off x="762000" y="4629150"/>
              <a:ext cx="5715000" cy="1428750"/>
            </a:xfrm>
            <a:prstGeom prst="roundRect">
              <a:avLst>
                <a:gd name="adj" fmla="val 9333"/>
              </a:avLst>
            </a:prstGeom>
            <a:solidFill>
              <a:schemeClr val="accent6"/>
            </a:solidFill>
            <a:ln>
              <a:noFill/>
            </a:ln>
          </p:spPr>
        </p:sp>
        <p:sp>
          <p:nvSpPr>
            <p:cNvPr id="20" name="Rectangle 20"/>
            <p:cNvSpPr/>
            <p:nvPr/>
          </p:nvSpPr>
          <p:spPr>
            <a:xfrm>
              <a:off x="762000" y="4629150"/>
              <a:ext cx="57150" cy="1428750"/>
            </a:xfrm>
            <a:prstGeom prst="roundRect">
              <a:avLst>
                <a:gd name="adj" fmla="val 50000"/>
              </a:avLst>
            </a:prstGeom>
            <a:solidFill>
              <a:schemeClr val="accent2"/>
            </a:solidFill>
            <a:ln>
              <a:noFill/>
            </a:ln>
          </p:spPr>
        </p:sp>
        <p:sp>
          <p:nvSpPr>
            <p:cNvPr id="21" name="TextBox 21"/>
            <p:cNvSpPr txBox="1"/>
            <p:nvPr/>
          </p:nvSpPr>
          <p:spPr>
            <a:xfrm>
              <a:off x="1023747" y="4866799"/>
              <a:ext cx="1195974" cy="190690"/>
            </a:xfrm>
            <a:prstGeom prst="rect">
              <a:avLst/>
            </a:prstGeom>
            <a:noFill/>
            <a:ln>
              <a:noFill/>
            </a:ln>
          </p:spPr>
          <p:txBody>
            <a:bodyPr wrap="none" lIns="0" tIns="0" rIns="0" bIns="0" anchor="t" anchorCtr="0">
              <a:spAutoFit/>
            </a:bodyPr>
            <a:lstStyle/>
            <a:p>
              <a:pPr algn="l"/>
              <a:r>
                <a:rPr lang="en-US" sz="980" b="1" spc="150" dirty="0">
                  <a:solidFill>
                    <a:schemeClr val="accent2"/>
                  </a:solidFill>
                  <a:latin typeface="+mn-lt"/>
                  <a:ea typeface="+mn-ea"/>
                  <a:cs typeface="+mn-cs"/>
                </a:rPr>
                <a:t>THE QUESTION</a:t>
              </a:r>
            </a:p>
          </p:txBody>
        </p:sp>
        <p:sp>
          <p:nvSpPr>
            <p:cNvPr id="22" name="TextBox 22"/>
            <p:cNvSpPr txBox="1"/>
            <p:nvPr/>
          </p:nvSpPr>
          <p:spPr>
            <a:xfrm>
              <a:off x="1019556" y="5158740"/>
              <a:ext cx="4311330" cy="352044"/>
            </a:xfrm>
            <a:prstGeom prst="rect">
              <a:avLst/>
            </a:prstGeom>
            <a:noFill/>
            <a:ln>
              <a:noFill/>
            </a:ln>
          </p:spPr>
          <p:txBody>
            <a:bodyPr wrap="none" lIns="0" tIns="0" rIns="0" bIns="0" anchor="t" anchorCtr="0">
              <a:spAutoFit/>
            </a:bodyPr>
            <a:lstStyle/>
            <a:p>
              <a:pPr algn="l"/>
              <a:r>
                <a:rPr lang="en-US" sz="1800" b="1" i="1" dirty="0">
                  <a:solidFill>
                    <a:schemeClr val="accent1"/>
                  </a:solidFill>
                  <a:latin typeface="+mj-lt"/>
                  <a:ea typeface="+mj-ea"/>
                  <a:cs typeface="+mj-cs"/>
                </a:rPr>
                <a:t>Do we really need 3B parameters</a:t>
              </a:r>
            </a:p>
          </p:txBody>
        </p:sp>
        <p:sp>
          <p:nvSpPr>
            <p:cNvPr id="23" name="TextBox 23"/>
            <p:cNvSpPr txBox="1"/>
            <p:nvPr/>
          </p:nvSpPr>
          <p:spPr>
            <a:xfrm>
              <a:off x="1019556" y="5463540"/>
              <a:ext cx="3124036" cy="352044"/>
            </a:xfrm>
            <a:prstGeom prst="rect">
              <a:avLst/>
            </a:prstGeom>
            <a:noFill/>
            <a:ln>
              <a:noFill/>
            </a:ln>
          </p:spPr>
          <p:txBody>
            <a:bodyPr wrap="none" lIns="0" tIns="0" rIns="0" bIns="0" anchor="t" anchorCtr="0">
              <a:spAutoFit/>
            </a:bodyPr>
            <a:lstStyle/>
            <a:p>
              <a:pPr algn="l"/>
              <a:r>
                <a:rPr lang="en-US" sz="1800" b="1" i="1" dirty="0">
                  <a:solidFill>
                    <a:schemeClr val="accent1"/>
                  </a:solidFill>
                  <a:latin typeface="+mj-lt"/>
                  <a:ea typeface="+mj-ea"/>
                  <a:cs typeface="+mj-cs"/>
                </a:rPr>
                <a:t>and 400B visual tokens?</a:t>
              </a:r>
            </a:p>
          </p:txBody>
        </p:sp>
        <p:sp>
          <p:nvSpPr>
            <p:cNvPr id="24" name="TextBox 24"/>
            <p:cNvSpPr txBox="1"/>
            <p:nvPr/>
          </p:nvSpPr>
          <p:spPr>
            <a:xfrm>
              <a:off x="1022985" y="5803106"/>
              <a:ext cx="404220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DeLVM asks whether all that scale is really necessary.</a:t>
              </a:r>
            </a:p>
          </p:txBody>
        </p:sp>
      </p:grpSp>
      <p:grpSp>
        <p:nvGrpSpPr>
          <p:cNvPr id="32" name="Group 32"/>
          <p:cNvGrpSpPr/>
          <p:nvPr/>
        </p:nvGrpSpPr>
        <p:grpSpPr>
          <a:xfrm>
            <a:off x="7048500" y="1257300"/>
            <a:ext cx="4476750" cy="1451134"/>
            <a:chOff x="7048500" y="1257300"/>
            <a:chExt cx="4476750" cy="1451134"/>
          </a:xfrm>
        </p:grpSpPr>
        <p:sp>
          <p:nvSpPr>
            <p:cNvPr id="26" name="Rectangle 26"/>
            <p:cNvSpPr/>
            <p:nvPr/>
          </p:nvSpPr>
          <p:spPr>
            <a:xfrm>
              <a:off x="7048500" y="1257300"/>
              <a:ext cx="4476750" cy="1428750"/>
            </a:xfrm>
            <a:prstGeom prst="roundRect">
              <a:avLst>
                <a:gd name="adj" fmla="val 9333"/>
              </a:avLst>
            </a:prstGeom>
            <a:solidFill>
              <a:schemeClr val="lt1"/>
            </a:solidFill>
            <a:ln w="14288">
              <a:solidFill>
                <a:schemeClr val="accent4"/>
              </a:solidFill>
            </a:ln>
            <a:effectLst>
              <a:outerShdw blurRad="133350" dist="38100" dir="5400000" algn="ctr" rotWithShape="0">
                <a:srgbClr val="14264A">
                  <a:alpha val="7500"/>
                </a:srgbClr>
              </a:outerShdw>
            </a:effectLst>
          </p:spPr>
        </p:sp>
        <p:sp>
          <p:nvSpPr>
            <p:cNvPr id="27" name="TextBox 27"/>
            <p:cNvSpPr txBox="1"/>
            <p:nvPr/>
          </p:nvSpPr>
          <p:spPr>
            <a:xfrm>
              <a:off x="7291197" y="1494949"/>
              <a:ext cx="1715108"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AUTOREGRESSIVE LVM</a:t>
              </a:r>
            </a:p>
          </p:txBody>
        </p:sp>
        <p:sp>
          <p:nvSpPr>
            <p:cNvPr id="28" name="TextBox 28"/>
            <p:cNvSpPr txBox="1"/>
            <p:nvPr/>
          </p:nvSpPr>
          <p:spPr>
            <a:xfrm>
              <a:off x="7288149" y="1734979"/>
              <a:ext cx="3928618" cy="308039"/>
            </a:xfrm>
            <a:prstGeom prst="rect">
              <a:avLst/>
            </a:prstGeom>
            <a:noFill/>
            <a:ln>
              <a:noFill/>
            </a:ln>
          </p:spPr>
          <p:txBody>
            <a:bodyPr wrap="none" lIns="0" tIns="0" rIns="0" bIns="0" anchor="t" anchorCtr="0">
              <a:spAutoFit/>
            </a:bodyPr>
            <a:lstStyle/>
            <a:p>
              <a:pPr algn="l"/>
              <a:r>
                <a:rPr lang="en-US" sz="1580" b="1" dirty="0">
                  <a:solidFill>
                    <a:schemeClr val="accent1"/>
                  </a:solidFill>
                  <a:latin typeface="+mj-lt"/>
                  <a:ea typeface="+mj-ea"/>
                  <a:cs typeface="+mj-cs"/>
                </a:rPr>
                <a:t>One generalist model, many tasks</a:t>
              </a:r>
            </a:p>
          </p:txBody>
        </p:sp>
        <p:sp>
          <p:nvSpPr>
            <p:cNvPr id="29" name="TextBox 29"/>
            <p:cNvSpPr txBox="1"/>
            <p:nvPr/>
          </p:nvSpPr>
          <p:spPr>
            <a:xfrm>
              <a:off x="7290435" y="2069306"/>
              <a:ext cx="310730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Images and annotations are encoded into a</a:t>
              </a:r>
            </a:p>
          </p:txBody>
        </p:sp>
        <p:sp>
          <p:nvSpPr>
            <p:cNvPr id="30" name="TextBox 30"/>
            <p:cNvSpPr txBox="1"/>
            <p:nvPr/>
          </p:nvSpPr>
          <p:spPr>
            <a:xfrm>
              <a:off x="7290435" y="2278856"/>
              <a:ext cx="324322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single 1D sequence, then predicted token by</a:t>
              </a:r>
            </a:p>
          </p:txBody>
        </p:sp>
        <p:sp>
          <p:nvSpPr>
            <p:cNvPr id="31" name="TextBox 31"/>
            <p:cNvSpPr txBox="1"/>
            <p:nvPr/>
          </p:nvSpPr>
          <p:spPr>
            <a:xfrm>
              <a:off x="7290435" y="2488406"/>
              <a:ext cx="295153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token — like a language model for vision.</a:t>
              </a:r>
            </a:p>
          </p:txBody>
        </p:sp>
      </p:grpSp>
      <p:grpSp>
        <p:nvGrpSpPr>
          <p:cNvPr id="50" name="Group 50"/>
          <p:cNvGrpSpPr/>
          <p:nvPr/>
        </p:nvGrpSpPr>
        <p:grpSpPr>
          <a:xfrm>
            <a:off x="7043547" y="2999899"/>
            <a:ext cx="4481703" cy="1362551"/>
            <a:chOff x="7043547" y="2999899"/>
            <a:chExt cx="4481703" cy="1362551"/>
          </a:xfrm>
        </p:grpSpPr>
        <p:sp>
          <p:nvSpPr>
            <p:cNvPr id="33" name="TextBox 33"/>
            <p:cNvSpPr txBox="1"/>
            <p:nvPr/>
          </p:nvSpPr>
          <p:spPr>
            <a:xfrm>
              <a:off x="7043547" y="2999899"/>
              <a:ext cx="2465900" cy="190690"/>
            </a:xfrm>
            <a:prstGeom prst="rect">
              <a:avLst/>
            </a:prstGeom>
            <a:noFill/>
            <a:ln>
              <a:noFill/>
            </a:ln>
          </p:spPr>
          <p:txBody>
            <a:bodyPr wrap="none" lIns="0" tIns="0" rIns="0" bIns="0" anchor="t" anchorCtr="0">
              <a:spAutoFit/>
            </a:bodyPr>
            <a:lstStyle/>
            <a:p>
              <a:pPr algn="l"/>
              <a:r>
                <a:rPr lang="en-US" sz="980" b="1" spc="112" dirty="0">
                  <a:solidFill>
                    <a:schemeClr val="accent1"/>
                  </a:solidFill>
                  <a:latin typeface="+mn-lt"/>
                  <a:ea typeface="+mn-ea"/>
                  <a:cs typeface="+mn-cs"/>
                </a:rPr>
                <a:t>TWO SIMPLE, CLASSICAL IDEAS</a:t>
              </a:r>
            </a:p>
          </p:txBody>
        </p:sp>
        <p:grpSp>
          <p:nvGrpSpPr>
            <p:cNvPr id="41" name="Group 41"/>
            <p:cNvGrpSpPr/>
            <p:nvPr/>
          </p:nvGrpSpPr>
          <p:grpSpPr>
            <a:xfrm>
              <a:off x="7048500" y="3238500"/>
              <a:ext cx="2171700" cy="1123950"/>
              <a:chOff x="7048500" y="3238500"/>
              <a:chExt cx="2171700" cy="1123950"/>
            </a:xfrm>
          </p:grpSpPr>
          <p:sp>
            <p:nvSpPr>
              <p:cNvPr id="34" name="Rectangle 34"/>
              <p:cNvSpPr/>
              <p:nvPr/>
            </p:nvSpPr>
            <p:spPr>
              <a:xfrm>
                <a:off x="7048500" y="3238500"/>
                <a:ext cx="2171700" cy="1123950"/>
              </a:xfrm>
              <a:prstGeom prst="roundRect">
                <a:avLst>
                  <a:gd name="adj" fmla="val 10169"/>
                </a:avLst>
              </a:prstGeom>
              <a:solidFill>
                <a:schemeClr val="lt1"/>
              </a:solidFill>
              <a:ln w="14288">
                <a:solidFill>
                  <a:schemeClr val="accent2"/>
                </a:solidFill>
              </a:ln>
            </p:spPr>
          </p:sp>
          <p:sp>
            <p:nvSpPr>
              <p:cNvPr id="35" name="Rectangle 35"/>
              <p:cNvSpPr/>
              <p:nvPr/>
            </p:nvSpPr>
            <p:spPr>
              <a:xfrm>
                <a:off x="7048500" y="3238500"/>
                <a:ext cx="2171700" cy="323850"/>
              </a:xfrm>
              <a:prstGeom prst="roundRect">
                <a:avLst>
                  <a:gd name="adj" fmla="val 35294"/>
                </a:avLst>
              </a:prstGeom>
              <a:solidFill>
                <a:schemeClr val="accent2"/>
              </a:solidFill>
              <a:ln>
                <a:noFill/>
              </a:ln>
            </p:spPr>
          </p:sp>
          <p:sp>
            <p:nvSpPr>
              <p:cNvPr id="36" name="Rectangle 36"/>
              <p:cNvSpPr/>
              <p:nvPr/>
            </p:nvSpPr>
            <p:spPr>
              <a:xfrm>
                <a:off x="7048500" y="3390900"/>
                <a:ext cx="2171700" cy="171450"/>
              </a:xfrm>
              <a:prstGeom prst="rect">
                <a:avLst/>
              </a:prstGeom>
              <a:solidFill>
                <a:schemeClr val="accent2"/>
              </a:solidFill>
              <a:ln>
                <a:noFill/>
              </a:ln>
            </p:spPr>
          </p:sp>
          <p:sp>
            <p:nvSpPr>
              <p:cNvPr id="37" name="TextBox 37"/>
              <p:cNvSpPr txBox="1"/>
              <p:nvPr/>
            </p:nvSpPr>
            <p:spPr>
              <a:xfrm>
                <a:off x="7214235" y="3336131"/>
                <a:ext cx="1454301" cy="220028"/>
              </a:xfrm>
              <a:prstGeom prst="rect">
                <a:avLst/>
              </a:prstGeom>
              <a:noFill/>
              <a:ln>
                <a:noFill/>
              </a:ln>
            </p:spPr>
            <p:txBody>
              <a:bodyPr wrap="none" lIns="0" tIns="0" rIns="0" bIns="0" anchor="t" anchorCtr="0">
                <a:spAutoFit/>
              </a:bodyPr>
              <a:lstStyle/>
              <a:p>
                <a:pPr algn="l"/>
                <a:r>
                  <a:rPr lang="en-US" sz="1120" b="1" dirty="0">
                    <a:solidFill>
                      <a:srgbClr val="FFFFFF"/>
                    </a:solidFill>
                    <a:latin typeface="+mn-lt"/>
                    <a:ea typeface="+mn-ea"/>
                    <a:cs typeface="+mn-cs"/>
                  </a:rPr>
                  <a:t>Data Augmentation</a:t>
                </a:r>
              </a:p>
            </p:txBody>
          </p:sp>
          <p:sp>
            <p:nvSpPr>
              <p:cNvPr id="38" name="TextBox 38"/>
              <p:cNvSpPr txBox="1"/>
              <p:nvPr/>
            </p:nvSpPr>
            <p:spPr>
              <a:xfrm>
                <a:off x="7214616" y="3715702"/>
                <a:ext cx="1464641"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Random crop &amp; flip to</a:t>
                </a:r>
              </a:p>
            </p:txBody>
          </p:sp>
          <p:sp>
            <p:nvSpPr>
              <p:cNvPr id="39" name="TextBox 39"/>
              <p:cNvSpPr txBox="1"/>
              <p:nvPr/>
            </p:nvSpPr>
            <p:spPr>
              <a:xfrm>
                <a:off x="7214616" y="3906202"/>
                <a:ext cx="1466583"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rebalance long-tailed</a:t>
                </a:r>
              </a:p>
            </p:txBody>
          </p:sp>
          <p:sp>
            <p:nvSpPr>
              <p:cNvPr id="40" name="TextBox 40"/>
              <p:cNvSpPr txBox="1"/>
              <p:nvPr/>
            </p:nvSpPr>
            <p:spPr>
              <a:xfrm>
                <a:off x="7214616" y="4096702"/>
                <a:ext cx="1176814"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multi-task data.</a:t>
                </a:r>
              </a:p>
            </p:txBody>
          </p:sp>
        </p:grpSp>
        <p:grpSp>
          <p:nvGrpSpPr>
            <p:cNvPr id="49" name="Group 49"/>
            <p:cNvGrpSpPr/>
            <p:nvPr/>
          </p:nvGrpSpPr>
          <p:grpSpPr>
            <a:xfrm>
              <a:off x="9353550" y="3238500"/>
              <a:ext cx="2171700" cy="1123950"/>
              <a:chOff x="9353550" y="3238500"/>
              <a:chExt cx="2171700" cy="1123950"/>
            </a:xfrm>
          </p:grpSpPr>
          <p:sp>
            <p:nvSpPr>
              <p:cNvPr id="42" name="Rectangle 42"/>
              <p:cNvSpPr/>
              <p:nvPr/>
            </p:nvSpPr>
            <p:spPr>
              <a:xfrm>
                <a:off x="9353550" y="3238500"/>
                <a:ext cx="2171700" cy="1123950"/>
              </a:xfrm>
              <a:prstGeom prst="roundRect">
                <a:avLst>
                  <a:gd name="adj" fmla="val 10169"/>
                </a:avLst>
              </a:prstGeom>
              <a:solidFill>
                <a:schemeClr val="lt1"/>
              </a:solidFill>
              <a:ln w="14288">
                <a:solidFill>
                  <a:schemeClr val="accent3"/>
                </a:solidFill>
              </a:ln>
            </p:spPr>
          </p:sp>
          <p:sp>
            <p:nvSpPr>
              <p:cNvPr id="43" name="Rectangle 43"/>
              <p:cNvSpPr/>
              <p:nvPr/>
            </p:nvSpPr>
            <p:spPr>
              <a:xfrm>
                <a:off x="9353550" y="3238500"/>
                <a:ext cx="2171700" cy="323850"/>
              </a:xfrm>
              <a:prstGeom prst="roundRect">
                <a:avLst>
                  <a:gd name="adj" fmla="val 35294"/>
                </a:avLst>
              </a:prstGeom>
              <a:solidFill>
                <a:schemeClr val="accent3"/>
              </a:solidFill>
              <a:ln>
                <a:noFill/>
              </a:ln>
            </p:spPr>
          </p:sp>
          <p:sp>
            <p:nvSpPr>
              <p:cNvPr id="44" name="Rectangle 44"/>
              <p:cNvSpPr/>
              <p:nvPr/>
            </p:nvSpPr>
            <p:spPr>
              <a:xfrm>
                <a:off x="9353550" y="3390900"/>
                <a:ext cx="2171700" cy="171450"/>
              </a:xfrm>
              <a:prstGeom prst="rect">
                <a:avLst/>
              </a:prstGeom>
              <a:solidFill>
                <a:schemeClr val="accent3"/>
              </a:solidFill>
              <a:ln>
                <a:noFill/>
              </a:ln>
            </p:spPr>
          </p:sp>
          <p:sp>
            <p:nvSpPr>
              <p:cNvPr id="45" name="TextBox 45"/>
              <p:cNvSpPr txBox="1"/>
              <p:nvPr/>
            </p:nvSpPr>
            <p:spPr>
              <a:xfrm>
                <a:off x="9519285" y="3336131"/>
                <a:ext cx="1690637" cy="220028"/>
              </a:xfrm>
              <a:prstGeom prst="rect">
                <a:avLst/>
              </a:prstGeom>
              <a:noFill/>
              <a:ln>
                <a:noFill/>
              </a:ln>
            </p:spPr>
            <p:txBody>
              <a:bodyPr wrap="none" lIns="0" tIns="0" rIns="0" bIns="0" anchor="t" anchorCtr="0">
                <a:spAutoFit/>
              </a:bodyPr>
              <a:lstStyle/>
              <a:p>
                <a:pPr algn="l"/>
                <a:r>
                  <a:rPr lang="en-US" sz="1120" b="1" dirty="0">
                    <a:solidFill>
                      <a:srgbClr val="FFFFFF"/>
                    </a:solidFill>
                    <a:latin typeface="+mn-lt"/>
                    <a:ea typeface="+mn-ea"/>
                    <a:cs typeface="+mn-cs"/>
                  </a:rPr>
                  <a:t>Knowledge Distillation</a:t>
                </a:r>
              </a:p>
            </p:txBody>
          </p:sp>
          <p:sp>
            <p:nvSpPr>
              <p:cNvPr id="46" name="TextBox 46"/>
              <p:cNvSpPr txBox="1"/>
              <p:nvPr/>
            </p:nvSpPr>
            <p:spPr>
              <a:xfrm>
                <a:off x="9519666" y="3715702"/>
                <a:ext cx="1181529"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Compress a large</a:t>
                </a:r>
              </a:p>
            </p:txBody>
          </p:sp>
          <p:sp>
            <p:nvSpPr>
              <p:cNvPr id="47" name="TextBox 47"/>
              <p:cNvSpPr txBox="1"/>
              <p:nvPr/>
            </p:nvSpPr>
            <p:spPr>
              <a:xfrm>
                <a:off x="9519666" y="3906202"/>
                <a:ext cx="1607934"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teacher into a compact</a:t>
                </a:r>
              </a:p>
            </p:txBody>
          </p:sp>
          <p:sp>
            <p:nvSpPr>
              <p:cNvPr id="48" name="TextBox 48"/>
              <p:cNvSpPr txBox="1"/>
              <p:nvPr/>
            </p:nvSpPr>
            <p:spPr>
              <a:xfrm>
                <a:off x="9519666" y="4096702"/>
                <a:ext cx="1056665"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student model.</a:t>
                </a:r>
              </a:p>
            </p:txBody>
          </p:sp>
        </p:grpSp>
      </p:grpSp>
      <p:grpSp>
        <p:nvGrpSpPr>
          <p:cNvPr id="61" name="Group 61"/>
          <p:cNvGrpSpPr/>
          <p:nvPr/>
        </p:nvGrpSpPr>
        <p:grpSpPr>
          <a:xfrm>
            <a:off x="7048500" y="4476750"/>
            <a:ext cx="4476750" cy="2000250"/>
            <a:chOff x="7048500" y="4476750"/>
            <a:chExt cx="4476750" cy="2000250"/>
          </a:xfrm>
        </p:grpSpPr>
        <p:sp>
          <p:nvSpPr>
            <p:cNvPr id="51" name="Rectangle 51"/>
            <p:cNvSpPr/>
            <p:nvPr/>
          </p:nvSpPr>
          <p:spPr>
            <a:xfrm>
              <a:off x="7048500" y="4476750"/>
              <a:ext cx="4476750" cy="2000250"/>
            </a:xfrm>
            <a:prstGeom prst="roundRect">
              <a:avLst>
                <a:gd name="adj" fmla="val 6667"/>
              </a:avLst>
            </a:prstGeom>
            <a:solidFill>
              <a:schemeClr val="lt1"/>
            </a:solidFill>
            <a:ln w="14288">
              <a:solidFill>
                <a:schemeClr val="accent4"/>
              </a:solidFill>
            </a:ln>
          </p:spPr>
        </p:sp>
        <p:sp>
          <p:nvSpPr>
            <p:cNvPr id="52" name="TextBox 52"/>
            <p:cNvSpPr txBox="1"/>
            <p:nvPr/>
          </p:nvSpPr>
          <p:spPr>
            <a:xfrm>
              <a:off x="7291388" y="4627245"/>
              <a:ext cx="1800007" cy="176212"/>
            </a:xfrm>
            <a:prstGeom prst="rect">
              <a:avLst/>
            </a:prstGeom>
            <a:noFill/>
            <a:ln>
              <a:noFill/>
            </a:ln>
          </p:spPr>
          <p:txBody>
            <a:bodyPr wrap="none" lIns="0" tIns="0" rIns="0" bIns="0" anchor="t" anchorCtr="0">
              <a:spAutoFit/>
            </a:bodyPr>
            <a:lstStyle/>
            <a:p>
              <a:pPr algn="l"/>
              <a:r>
                <a:rPr lang="en-US" sz="900" b="1" spc="112" dirty="0">
                  <a:solidFill>
                    <a:schemeClr val="accent5"/>
                  </a:solidFill>
                  <a:latin typeface="+mn-lt"/>
                  <a:ea typeface="+mn-ea"/>
                  <a:cs typeface="+mn-cs"/>
                </a:rPr>
                <a:t>SCAN FOR CODE &amp; PAPER</a:t>
              </a:r>
            </a:p>
          </p:txBody>
        </p:sp>
        <p:pic>
          <p:nvPicPr>
            <p:cNvPr id="53" name="Image 53"/>
            <p:cNvPicPr>
              <a:picLocks noChangeAspect="1"/>
            </p:cNvPicPr>
            <p:nvPr/>
          </p:nvPicPr>
          <p:blipFill>
            <a:blip r:embed="rId2"/>
            <a:stretch>
              <a:fillRect/>
            </a:stretch>
          </p:blipFill>
          <p:spPr>
            <a:xfrm>
              <a:off x="7277100" y="4781550"/>
              <a:ext cx="1676400" cy="1676400"/>
            </a:xfrm>
            <a:prstGeom prst="rect">
              <a:avLst/>
            </a:prstGeom>
          </p:spPr>
        </p:pic>
        <p:sp>
          <p:nvSpPr>
            <p:cNvPr id="54" name="TextBox 54"/>
            <p:cNvSpPr txBox="1"/>
            <p:nvPr/>
          </p:nvSpPr>
          <p:spPr>
            <a:xfrm>
              <a:off x="7386819" y="6292691"/>
              <a:ext cx="1456961" cy="161925"/>
            </a:xfrm>
            <a:prstGeom prst="rect">
              <a:avLst/>
            </a:prstGeom>
            <a:noFill/>
            <a:ln>
              <a:noFill/>
            </a:ln>
          </p:spPr>
          <p:txBody>
            <a:bodyPr wrap="none" lIns="0" tIns="0" rIns="0" bIns="0" anchor="t" anchorCtr="0">
              <a:spAutoFit/>
            </a:bodyPr>
            <a:lstStyle/>
            <a:p>
              <a:pPr algn="ctr"/>
              <a:r>
                <a:rPr lang="en-US" sz="820" b="1" spc="38" dirty="0">
                  <a:solidFill>
                    <a:schemeClr val="accent2"/>
                  </a:solidFill>
                  <a:latin typeface="+mn-lt"/>
                  <a:ea typeface="+mn-ea"/>
                  <a:cs typeface="+mn-cs"/>
                </a:rPr>
                <a:t>github.com/ggjy/DeLVM</a:t>
              </a:r>
            </a:p>
          </p:txBody>
        </p:sp>
        <p:sp>
          <p:nvSpPr>
            <p:cNvPr id="55" name="Line 55"/>
            <p:cNvSpPr/>
            <p:nvPr/>
          </p:nvSpPr>
          <p:spPr>
            <a:xfrm>
              <a:off x="9144000" y="4762500"/>
              <a:ext cx="9525" cy="1543050"/>
            </a:xfrm>
            <a:custGeom>
              <a:avLst/>
              <a:gdLst/>
              <a:ahLst/>
              <a:cxnLst/>
              <a:rect l="l" t="t" r="r" b="b"/>
              <a:pathLst>
                <a:path w="9525" h="1543050">
                  <a:moveTo>
                    <a:pt x="0" y="0"/>
                  </a:moveTo>
                  <a:lnTo>
                    <a:pt x="0" y="1543050"/>
                  </a:lnTo>
                </a:path>
              </a:pathLst>
            </a:custGeom>
            <a:noFill/>
            <a:ln w="14288">
              <a:solidFill>
                <a:schemeClr val="accent4"/>
              </a:solidFill>
            </a:ln>
          </p:spPr>
        </p:sp>
        <p:pic>
          <p:nvPicPr>
            <p:cNvPr id="56" name="Image 56"/>
            <p:cNvPicPr>
              <a:picLocks noChangeAspect="1"/>
            </p:cNvPicPr>
            <p:nvPr/>
          </p:nvPicPr>
          <p:blipFill>
            <a:blip r:embed="rId3"/>
            <a:stretch>
              <a:fillRect/>
            </a:stretch>
          </p:blipFill>
          <p:spPr>
            <a:xfrm>
              <a:off x="9334500" y="4781550"/>
              <a:ext cx="628650" cy="628650"/>
            </a:xfrm>
            <a:prstGeom prst="rect">
              <a:avLst/>
            </a:prstGeom>
          </p:spPr>
        </p:pic>
        <p:sp>
          <p:nvSpPr>
            <p:cNvPr id="57" name="TextBox 57"/>
            <p:cNvSpPr txBox="1"/>
            <p:nvPr/>
          </p:nvSpPr>
          <p:spPr>
            <a:xfrm>
              <a:off x="9490560" y="5473541"/>
              <a:ext cx="316530" cy="161925"/>
            </a:xfrm>
            <a:prstGeom prst="rect">
              <a:avLst/>
            </a:prstGeom>
            <a:noFill/>
            <a:ln>
              <a:noFill/>
            </a:ln>
          </p:spPr>
          <p:txBody>
            <a:bodyPr wrap="none" lIns="0" tIns="0" rIns="0" bIns="0" anchor="t" anchorCtr="0">
              <a:spAutoFit/>
            </a:bodyPr>
            <a:lstStyle/>
            <a:p>
              <a:pPr algn="ctr"/>
              <a:r>
                <a:rPr lang="en-US" sz="820" dirty="0">
                  <a:solidFill>
                    <a:schemeClr val="dk2"/>
                  </a:solidFill>
                  <a:latin typeface="+mn-lt"/>
                  <a:ea typeface="+mn-ea"/>
                  <a:cs typeface="+mn-cs"/>
                </a:rPr>
                <a:t>Paper</a:t>
              </a:r>
            </a:p>
          </p:txBody>
        </p:sp>
        <p:pic>
          <p:nvPicPr>
            <p:cNvPr id="58" name="Image 58"/>
            <p:cNvPicPr>
              <a:picLocks noChangeAspect="1"/>
            </p:cNvPicPr>
            <p:nvPr/>
          </p:nvPicPr>
          <p:blipFill>
            <a:blip r:embed="rId4"/>
            <a:stretch>
              <a:fillRect/>
            </a:stretch>
          </p:blipFill>
          <p:spPr>
            <a:xfrm>
              <a:off x="10314960" y="4857750"/>
              <a:ext cx="991829" cy="342900"/>
            </a:xfrm>
            <a:prstGeom prst="rect">
              <a:avLst/>
            </a:prstGeom>
          </p:spPr>
        </p:pic>
        <p:pic>
          <p:nvPicPr>
            <p:cNvPr id="59" name="Image 59"/>
            <p:cNvPicPr>
              <a:picLocks noChangeAspect="1"/>
            </p:cNvPicPr>
            <p:nvPr/>
          </p:nvPicPr>
          <p:blipFill>
            <a:blip r:embed="rId5"/>
            <a:stretch>
              <a:fillRect/>
            </a:stretch>
          </p:blipFill>
          <p:spPr>
            <a:xfrm>
              <a:off x="9334500" y="5772150"/>
              <a:ext cx="381000" cy="381000"/>
            </a:xfrm>
            <a:prstGeom prst="rect">
              <a:avLst/>
            </a:prstGeom>
          </p:spPr>
        </p:pic>
        <p:pic>
          <p:nvPicPr>
            <p:cNvPr id="60" name="Image 60"/>
            <p:cNvPicPr>
              <a:picLocks noChangeAspect="1"/>
            </p:cNvPicPr>
            <p:nvPr/>
          </p:nvPicPr>
          <p:blipFill>
            <a:blip r:embed="rId6"/>
            <a:stretch>
              <a:fillRect/>
            </a:stretch>
          </p:blipFill>
          <p:spPr>
            <a:xfrm>
              <a:off x="9980267" y="5848350"/>
              <a:ext cx="1413565" cy="228600"/>
            </a:xfrm>
            <a:prstGeom prst="rect">
              <a:avLst/>
            </a:prstGeom>
          </p:spPr>
        </p:pic>
      </p:grpSp>
      <p:grpSp>
        <p:nvGrpSpPr>
          <p:cNvPr id="64" name="Group 64"/>
          <p:cNvGrpSpPr/>
          <p:nvPr/>
        </p:nvGrpSpPr>
        <p:grpSpPr>
          <a:xfrm>
            <a:off x="757238" y="6521291"/>
            <a:ext cx="10677524" cy="161925"/>
            <a:chOff x="757238" y="6521291"/>
            <a:chExt cx="10677524" cy="161925"/>
          </a:xfrm>
        </p:grpSpPr>
        <p:sp>
          <p:nvSpPr>
            <p:cNvPr id="62" name="TextBox 62"/>
            <p:cNvSpPr txBox="1"/>
            <p:nvPr/>
          </p:nvSpPr>
          <p:spPr>
            <a:xfrm>
              <a:off x="757238" y="6521291"/>
              <a:ext cx="3290039" cy="161925"/>
            </a:xfrm>
            <a:prstGeom prst="rect">
              <a:avLst/>
            </a:prstGeom>
            <a:noFill/>
            <a:ln>
              <a:noFill/>
            </a:ln>
          </p:spPr>
          <p:txBody>
            <a:bodyPr wrap="none" lIns="0" tIns="0" rIns="0" bIns="0" anchor="t" anchorCtr="0">
              <a:spAutoFit/>
            </a:bodyPr>
            <a:lstStyle/>
            <a:p>
              <a:pPr algn="l"/>
              <a:r>
                <a:rPr lang="en-US" sz="820" dirty="0">
                  <a:solidFill>
                    <a:schemeClr val="accent5"/>
                  </a:solidFill>
                  <a:latin typeface="+mn-lt"/>
                  <a:ea typeface="+mn-ea"/>
                  <a:cs typeface="+mn-cs"/>
                </a:rPr>
                <a:t>Guo, Hao, Wang, Tang, Wu, Hu, Han, Xu · DeLVM · ICML 2024</a:t>
              </a:r>
            </a:p>
          </p:txBody>
        </p:sp>
        <p:sp>
          <p:nvSpPr>
            <p:cNvPr id="63" name="TextBox 63"/>
            <p:cNvSpPr txBox="1"/>
            <p:nvPr/>
          </p:nvSpPr>
          <p:spPr>
            <a:xfrm>
              <a:off x="11303810" y="6521291"/>
              <a:ext cx="130952" cy="161925"/>
            </a:xfrm>
            <a:prstGeom prst="rect">
              <a:avLst/>
            </a:prstGeom>
            <a:noFill/>
            <a:ln>
              <a:noFill/>
            </a:ln>
          </p:spPr>
          <p:txBody>
            <a:bodyPr wrap="none" lIns="0" tIns="0" rIns="0" bIns="0" anchor="t" anchorCtr="0">
              <a:spAutoFit/>
            </a:bodyPr>
            <a:lstStyle/>
            <a:p>
              <a:pPr algn="r"/>
              <a:r>
                <a:rPr lang="en-US" sz="820" dirty="0">
                  <a:solidFill>
                    <a:schemeClr val="accent5"/>
                  </a:solidFill>
                  <a:latin typeface="+mn-lt"/>
                  <a:ea typeface="+mn-ea"/>
                  <a:cs typeface="+mn-cs"/>
                </a:rPr>
                <a:t>01</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495300"/>
            <a:ext cx="8748135" cy="675989"/>
            <a:chOff x="571500" y="495300"/>
            <a:chExt cx="8748135" cy="675989"/>
          </a:xfrm>
        </p:grpSpPr>
        <p:sp>
          <p:nvSpPr>
            <p:cNvPr id="2" name="Rectangle 2"/>
            <p:cNvSpPr/>
            <p:nvPr/>
          </p:nvSpPr>
          <p:spPr>
            <a:xfrm>
              <a:off x="571500" y="495300"/>
              <a:ext cx="57150" cy="400050"/>
            </a:xfrm>
            <a:prstGeom prst="rect">
              <a:avLst/>
            </a:prstGeom>
            <a:solidFill>
              <a:schemeClr val="accent2"/>
            </a:solidFill>
            <a:ln>
              <a:noFill/>
            </a:ln>
          </p:spPr>
        </p:sp>
        <p:sp>
          <p:nvSpPr>
            <p:cNvPr id="3" name="TextBox 3"/>
            <p:cNvSpPr txBox="1"/>
            <p:nvPr/>
          </p:nvSpPr>
          <p:spPr>
            <a:xfrm>
              <a:off x="787146" y="543878"/>
              <a:ext cx="8532489"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Powerful, but heavy — and blind to rare tasks</a:t>
              </a:r>
            </a:p>
          </p:txBody>
        </p:sp>
        <p:sp>
          <p:nvSpPr>
            <p:cNvPr id="4" name="TextBox 4"/>
            <p:cNvSpPr txBox="1"/>
            <p:nvPr/>
          </p:nvSpPr>
          <p:spPr>
            <a:xfrm>
              <a:off x="795147" y="980599"/>
              <a:ext cx="4217600"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THE PROBLEM · MASSIVE SCALE + LONG-TAILED DATA</a:t>
              </a:r>
            </a:p>
          </p:txBody>
        </p:sp>
      </p:grpSp>
      <p:grpSp>
        <p:nvGrpSpPr>
          <p:cNvPr id="11" name="Group 11"/>
          <p:cNvGrpSpPr/>
          <p:nvPr/>
        </p:nvGrpSpPr>
        <p:grpSpPr>
          <a:xfrm>
            <a:off x="571500" y="1390650"/>
            <a:ext cx="11049000" cy="918401"/>
            <a:chOff x="571500" y="1390650"/>
            <a:chExt cx="11049000" cy="918401"/>
          </a:xfrm>
        </p:grpSpPr>
        <p:sp>
          <p:nvSpPr>
            <p:cNvPr id="6" name="Rectangle 6"/>
            <p:cNvSpPr/>
            <p:nvPr/>
          </p:nvSpPr>
          <p:spPr>
            <a:xfrm>
              <a:off x="571500" y="1390650"/>
              <a:ext cx="11049000" cy="876300"/>
            </a:xfrm>
            <a:prstGeom prst="roundRect">
              <a:avLst>
                <a:gd name="adj" fmla="val 13043"/>
              </a:avLst>
            </a:prstGeom>
            <a:solidFill>
              <a:schemeClr val="lt2"/>
            </a:solidFill>
            <a:ln>
              <a:noFill/>
            </a:ln>
          </p:spPr>
        </p:sp>
        <p:sp>
          <p:nvSpPr>
            <p:cNvPr id="7" name="Rectangle 7"/>
            <p:cNvSpPr/>
            <p:nvPr/>
          </p:nvSpPr>
          <p:spPr>
            <a:xfrm>
              <a:off x="571500" y="1390650"/>
              <a:ext cx="57150" cy="876300"/>
            </a:xfrm>
            <a:prstGeom prst="roundRect">
              <a:avLst>
                <a:gd name="adj" fmla="val 50000"/>
              </a:avLst>
            </a:prstGeom>
            <a:solidFill>
              <a:schemeClr val="accent1"/>
            </a:solidFill>
            <a:ln>
              <a:noFill/>
            </a:ln>
          </p:spPr>
        </p:sp>
        <p:sp>
          <p:nvSpPr>
            <p:cNvPr id="8" name="TextBox 8"/>
            <p:cNvSpPr txBox="1"/>
            <p:nvPr/>
          </p:nvSpPr>
          <p:spPr>
            <a:xfrm>
              <a:off x="833247" y="1609249"/>
              <a:ext cx="2146038"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FROM LANGUAGE TO VISION</a:t>
              </a:r>
            </a:p>
          </p:txBody>
        </p:sp>
        <p:sp>
          <p:nvSpPr>
            <p:cNvPr id="9" name="TextBox 9"/>
            <p:cNvSpPr txBox="1"/>
            <p:nvPr/>
          </p:nvSpPr>
          <p:spPr>
            <a:xfrm>
              <a:off x="831342" y="1835468"/>
              <a:ext cx="9485317"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Autoregressive models like GPT thrive on a universal token interface. Recent work extends this to vision —</a:t>
              </a:r>
            </a:p>
          </p:txBody>
        </p:sp>
        <p:sp>
          <p:nvSpPr>
            <p:cNvPr id="10" name="TextBox 10"/>
            <p:cNvSpPr txBox="1"/>
            <p:nvPr/>
          </p:nvSpPr>
          <p:spPr>
            <a:xfrm>
              <a:off x="831342" y="2045018"/>
              <a:ext cx="7728452"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treating images and their annotations as "visual sentences" predicted token by token.</a:t>
              </a:r>
            </a:p>
          </p:txBody>
        </p:sp>
      </p:grpSp>
      <p:grpSp>
        <p:nvGrpSpPr>
          <p:cNvPr id="28" name="Group 28"/>
          <p:cNvGrpSpPr/>
          <p:nvPr/>
        </p:nvGrpSpPr>
        <p:grpSpPr>
          <a:xfrm>
            <a:off x="571500" y="2495550"/>
            <a:ext cx="6858000" cy="1866900"/>
            <a:chOff x="571500" y="2495550"/>
            <a:chExt cx="6858000" cy="1866900"/>
          </a:xfrm>
        </p:grpSpPr>
        <p:sp>
          <p:nvSpPr>
            <p:cNvPr id="12" name="Rectangle 12"/>
            <p:cNvSpPr/>
            <p:nvPr/>
          </p:nvSpPr>
          <p:spPr>
            <a:xfrm>
              <a:off x="571500" y="2495550"/>
              <a:ext cx="6858000" cy="1866900"/>
            </a:xfrm>
            <a:prstGeom prst="roundRect">
              <a:avLst>
                <a:gd name="adj" fmla="val 6122"/>
              </a:avLst>
            </a:prstGeom>
            <a:solidFill>
              <a:schemeClr val="lt1"/>
            </a:solidFill>
            <a:ln w="14288">
              <a:solidFill>
                <a:schemeClr val="accent4"/>
              </a:solidFill>
            </a:ln>
          </p:spPr>
        </p:sp>
        <p:sp>
          <p:nvSpPr>
            <p:cNvPr id="13" name="TextBox 13"/>
            <p:cNvSpPr txBox="1"/>
            <p:nvPr/>
          </p:nvSpPr>
          <p:spPr>
            <a:xfrm>
              <a:off x="833247" y="2714149"/>
              <a:ext cx="2598923"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WHAT THE LEADING LVM DEMANDS</a:t>
              </a:r>
            </a:p>
          </p:txBody>
        </p:sp>
        <p:grpSp>
          <p:nvGrpSpPr>
            <p:cNvPr id="17" name="Group 17"/>
            <p:cNvGrpSpPr/>
            <p:nvPr/>
          </p:nvGrpSpPr>
          <p:grpSpPr>
            <a:xfrm>
              <a:off x="895039" y="3247072"/>
              <a:ext cx="1067421" cy="959739"/>
              <a:chOff x="895039" y="3247072"/>
              <a:chExt cx="1067421" cy="959739"/>
            </a:xfrm>
          </p:grpSpPr>
          <p:sp>
            <p:nvSpPr>
              <p:cNvPr id="14" name="TextBox 14"/>
              <p:cNvSpPr txBox="1"/>
              <p:nvPr/>
            </p:nvSpPr>
            <p:spPr>
              <a:xfrm>
                <a:off x="895039" y="3247072"/>
                <a:ext cx="1067421" cy="674751"/>
              </a:xfrm>
              <a:prstGeom prst="rect">
                <a:avLst/>
              </a:prstGeom>
              <a:noFill/>
              <a:ln>
                <a:noFill/>
              </a:ln>
            </p:spPr>
            <p:txBody>
              <a:bodyPr wrap="none" lIns="0" tIns="0" rIns="0" bIns="0" anchor="t" anchorCtr="0">
                <a:spAutoFit/>
              </a:bodyPr>
              <a:lstStyle/>
              <a:p>
                <a:pPr algn="ctr"/>
                <a:r>
                  <a:rPr lang="en-US" sz="3450" b="1" dirty="0">
                    <a:solidFill>
                      <a:schemeClr val="accent1"/>
                    </a:solidFill>
                    <a:latin typeface="+mj-lt"/>
                    <a:ea typeface="+mj-ea"/>
                    <a:cs typeface="+mj-cs"/>
                  </a:rPr>
                  <a:t>3B+</a:t>
                </a:r>
              </a:p>
            </p:txBody>
          </p:sp>
          <p:sp>
            <p:nvSpPr>
              <p:cNvPr id="15" name="TextBox 15"/>
              <p:cNvSpPr txBox="1"/>
              <p:nvPr/>
            </p:nvSpPr>
            <p:spPr>
              <a:xfrm>
                <a:off x="1020566" y="3791902"/>
                <a:ext cx="816369"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parameters</a:t>
                </a:r>
              </a:p>
            </p:txBody>
          </p:sp>
          <p:sp>
            <p:nvSpPr>
              <p:cNvPr id="16" name="TextBox 16"/>
              <p:cNvSpPr txBox="1"/>
              <p:nvPr/>
            </p:nvSpPr>
            <p:spPr>
              <a:xfrm>
                <a:off x="1013498" y="4001452"/>
                <a:ext cx="830504"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in the model</a:t>
                </a:r>
              </a:p>
            </p:txBody>
          </p:sp>
        </p:grpSp>
        <p:sp>
          <p:nvSpPr>
            <p:cNvPr id="18" name="Line 18"/>
            <p:cNvSpPr/>
            <p:nvPr/>
          </p:nvSpPr>
          <p:spPr>
            <a:xfrm>
              <a:off x="2571750" y="3067050"/>
              <a:ext cx="9525" cy="952500"/>
            </a:xfrm>
            <a:custGeom>
              <a:avLst/>
              <a:gdLst/>
              <a:ahLst/>
              <a:cxnLst/>
              <a:rect l="l" t="t" r="r" b="b"/>
              <a:pathLst>
                <a:path w="9525" h="952500">
                  <a:moveTo>
                    <a:pt x="0" y="0"/>
                  </a:moveTo>
                  <a:lnTo>
                    <a:pt x="0" y="952500"/>
                  </a:lnTo>
                </a:path>
              </a:pathLst>
            </a:custGeom>
            <a:noFill/>
            <a:ln w="14288">
              <a:solidFill>
                <a:schemeClr val="accent4"/>
              </a:solidFill>
            </a:ln>
          </p:spPr>
        </p:sp>
        <p:grpSp>
          <p:nvGrpSpPr>
            <p:cNvPr id="22" name="Group 22"/>
            <p:cNvGrpSpPr/>
            <p:nvPr/>
          </p:nvGrpSpPr>
          <p:grpSpPr>
            <a:xfrm>
              <a:off x="3122666" y="3247072"/>
              <a:ext cx="1755667" cy="959739"/>
              <a:chOff x="3122666" y="3247072"/>
              <a:chExt cx="1755667" cy="959739"/>
            </a:xfrm>
          </p:grpSpPr>
          <p:sp>
            <p:nvSpPr>
              <p:cNvPr id="19" name="TextBox 19"/>
              <p:cNvSpPr txBox="1"/>
              <p:nvPr/>
            </p:nvSpPr>
            <p:spPr>
              <a:xfrm>
                <a:off x="3122666" y="3247072"/>
                <a:ext cx="1755667" cy="674751"/>
              </a:xfrm>
              <a:prstGeom prst="rect">
                <a:avLst/>
              </a:prstGeom>
              <a:noFill/>
              <a:ln>
                <a:noFill/>
              </a:ln>
            </p:spPr>
            <p:txBody>
              <a:bodyPr wrap="none" lIns="0" tIns="0" rIns="0" bIns="0" anchor="t" anchorCtr="0">
                <a:spAutoFit/>
              </a:bodyPr>
              <a:lstStyle/>
              <a:p>
                <a:pPr algn="ctr"/>
                <a:r>
                  <a:rPr lang="en-US" sz="3450" b="1" dirty="0">
                    <a:solidFill>
                      <a:schemeClr val="accent2"/>
                    </a:solidFill>
                    <a:latin typeface="+mj-lt"/>
                    <a:ea typeface="+mj-ea"/>
                    <a:cs typeface="+mj-cs"/>
                  </a:rPr>
                  <a:t>~400B</a:t>
                </a:r>
              </a:p>
            </p:txBody>
          </p:sp>
          <p:sp>
            <p:nvSpPr>
              <p:cNvPr id="20" name="TextBox 20"/>
              <p:cNvSpPr txBox="1"/>
              <p:nvPr/>
            </p:nvSpPr>
            <p:spPr>
              <a:xfrm>
                <a:off x="3542843" y="3791902"/>
                <a:ext cx="915314"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visual tokens</a:t>
                </a:r>
              </a:p>
            </p:txBody>
          </p:sp>
          <p:sp>
            <p:nvSpPr>
              <p:cNvPr id="21" name="TextBox 21"/>
              <p:cNvSpPr txBox="1"/>
              <p:nvPr/>
            </p:nvSpPr>
            <p:spPr>
              <a:xfrm>
                <a:off x="3620586" y="4001452"/>
                <a:ext cx="759828"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to train on</a:t>
                </a:r>
              </a:p>
            </p:txBody>
          </p:sp>
        </p:grpSp>
        <p:sp>
          <p:nvSpPr>
            <p:cNvPr id="23" name="Line 23"/>
            <p:cNvSpPr/>
            <p:nvPr/>
          </p:nvSpPr>
          <p:spPr>
            <a:xfrm>
              <a:off x="5334000" y="3067050"/>
              <a:ext cx="9525" cy="952500"/>
            </a:xfrm>
            <a:custGeom>
              <a:avLst/>
              <a:gdLst/>
              <a:ahLst/>
              <a:cxnLst/>
              <a:rect l="l" t="t" r="r" b="b"/>
              <a:pathLst>
                <a:path w="9525" h="952500">
                  <a:moveTo>
                    <a:pt x="0" y="0"/>
                  </a:moveTo>
                  <a:lnTo>
                    <a:pt x="0" y="952500"/>
                  </a:lnTo>
                </a:path>
              </a:pathLst>
            </a:custGeom>
            <a:noFill/>
            <a:ln w="14288">
              <a:solidFill>
                <a:schemeClr val="accent4"/>
              </a:solidFill>
            </a:ln>
          </p:spPr>
        </p:sp>
        <p:grpSp>
          <p:nvGrpSpPr>
            <p:cNvPr id="27" name="Group 27"/>
            <p:cNvGrpSpPr/>
            <p:nvPr/>
          </p:nvGrpSpPr>
          <p:grpSpPr>
            <a:xfrm>
              <a:off x="5848039" y="3247072"/>
              <a:ext cx="1067421" cy="959739"/>
              <a:chOff x="5848039" y="3247072"/>
              <a:chExt cx="1067421" cy="959739"/>
            </a:xfrm>
          </p:grpSpPr>
          <p:sp>
            <p:nvSpPr>
              <p:cNvPr id="24" name="TextBox 24"/>
              <p:cNvSpPr txBox="1"/>
              <p:nvPr/>
            </p:nvSpPr>
            <p:spPr>
              <a:xfrm>
                <a:off x="5848039" y="3247072"/>
                <a:ext cx="1067421" cy="674751"/>
              </a:xfrm>
              <a:prstGeom prst="rect">
                <a:avLst/>
              </a:prstGeom>
              <a:noFill/>
              <a:ln>
                <a:noFill/>
              </a:ln>
            </p:spPr>
            <p:txBody>
              <a:bodyPr wrap="none" lIns="0" tIns="0" rIns="0" bIns="0" anchor="t" anchorCtr="0">
                <a:spAutoFit/>
              </a:bodyPr>
              <a:lstStyle/>
              <a:p>
                <a:pPr algn="ctr"/>
                <a:r>
                  <a:rPr lang="en-US" sz="3450" b="1" dirty="0">
                    <a:solidFill>
                      <a:schemeClr val="accent1"/>
                    </a:solidFill>
                    <a:latin typeface="+mj-lt"/>
                    <a:ea typeface="+mj-ea"/>
                    <a:cs typeface="+mj-cs"/>
                  </a:rPr>
                  <a:t>1B+</a:t>
                </a:r>
              </a:p>
            </p:txBody>
          </p:sp>
          <p:sp>
            <p:nvSpPr>
              <p:cNvPr id="25" name="TextBox 25"/>
              <p:cNvSpPr txBox="1"/>
              <p:nvPr/>
            </p:nvSpPr>
            <p:spPr>
              <a:xfrm>
                <a:off x="6143187" y="3791902"/>
                <a:ext cx="477126"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source</a:t>
                </a:r>
              </a:p>
            </p:txBody>
          </p:sp>
          <p:sp>
            <p:nvSpPr>
              <p:cNvPr id="26" name="TextBox 26"/>
              <p:cNvSpPr txBox="1"/>
              <p:nvPr/>
            </p:nvSpPr>
            <p:spPr>
              <a:xfrm>
                <a:off x="6146721" y="4001452"/>
                <a:ext cx="470059"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images</a:t>
                </a:r>
              </a:p>
            </p:txBody>
          </p:sp>
        </p:grpSp>
      </p:grpSp>
      <p:grpSp>
        <p:nvGrpSpPr>
          <p:cNvPr id="36" name="Group 36"/>
          <p:cNvGrpSpPr/>
          <p:nvPr/>
        </p:nvGrpSpPr>
        <p:grpSpPr>
          <a:xfrm>
            <a:off x="7620000" y="2495550"/>
            <a:ext cx="4000500" cy="1866900"/>
            <a:chOff x="7620000" y="2495550"/>
            <a:chExt cx="4000500" cy="1866900"/>
          </a:xfrm>
        </p:grpSpPr>
        <p:sp>
          <p:nvSpPr>
            <p:cNvPr id="29" name="Rectangle 29"/>
            <p:cNvSpPr/>
            <p:nvPr/>
          </p:nvSpPr>
          <p:spPr>
            <a:xfrm>
              <a:off x="7620000" y="2495550"/>
              <a:ext cx="4000500" cy="1866900"/>
            </a:xfrm>
            <a:prstGeom prst="roundRect">
              <a:avLst>
                <a:gd name="adj" fmla="val 6122"/>
              </a:avLst>
            </a:prstGeom>
            <a:solidFill>
              <a:srgbClr val="FEF3EC"/>
            </a:solidFill>
            <a:ln w="14288">
              <a:solidFill>
                <a:srgbClr val="F6D2BC"/>
              </a:solidFill>
            </a:ln>
          </p:spPr>
        </p:sp>
        <p:sp>
          <p:nvSpPr>
            <p:cNvPr id="30" name="Rectangle 30"/>
            <p:cNvSpPr/>
            <p:nvPr/>
          </p:nvSpPr>
          <p:spPr>
            <a:xfrm>
              <a:off x="7620000" y="2495550"/>
              <a:ext cx="57150" cy="1866900"/>
            </a:xfrm>
            <a:prstGeom prst="roundRect">
              <a:avLst>
                <a:gd name="adj" fmla="val 50000"/>
              </a:avLst>
            </a:prstGeom>
            <a:solidFill>
              <a:srgbClr val="C2410C"/>
            </a:solidFill>
            <a:ln>
              <a:noFill/>
            </a:ln>
          </p:spPr>
        </p:sp>
        <p:sp>
          <p:nvSpPr>
            <p:cNvPr id="31" name="TextBox 31"/>
            <p:cNvSpPr txBox="1"/>
            <p:nvPr/>
          </p:nvSpPr>
          <p:spPr>
            <a:xfrm>
              <a:off x="7881747" y="2714149"/>
              <a:ext cx="758110" cy="190690"/>
            </a:xfrm>
            <a:prstGeom prst="rect">
              <a:avLst/>
            </a:prstGeom>
            <a:noFill/>
            <a:ln>
              <a:noFill/>
            </a:ln>
          </p:spPr>
          <p:txBody>
            <a:bodyPr wrap="none" lIns="0" tIns="0" rIns="0" bIns="0" anchor="t" anchorCtr="0">
              <a:spAutoFit/>
            </a:bodyPr>
            <a:lstStyle/>
            <a:p>
              <a:pPr algn="l"/>
              <a:r>
                <a:rPr lang="en-US" sz="980" b="1" spc="112" dirty="0">
                  <a:solidFill>
                    <a:srgbClr val="C2410C"/>
                  </a:solidFill>
                  <a:latin typeface="+mn-lt"/>
                  <a:ea typeface="+mn-ea"/>
                  <a:cs typeface="+mn-cs"/>
                </a:rPr>
                <a:t>THE COST</a:t>
              </a:r>
            </a:p>
          </p:txBody>
        </p:sp>
        <p:sp>
          <p:nvSpPr>
            <p:cNvPr id="32" name="TextBox 32"/>
            <p:cNvSpPr txBox="1"/>
            <p:nvPr/>
          </p:nvSpPr>
          <p:spPr>
            <a:xfrm>
              <a:off x="7877556" y="3006090"/>
              <a:ext cx="2592790"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j-lt"/>
                  <a:ea typeface="+mj-ea"/>
                  <a:cs typeface="+mj-cs"/>
                </a:rPr>
                <a:t>Expensive to train,</a:t>
              </a:r>
            </a:p>
          </p:txBody>
        </p:sp>
        <p:sp>
          <p:nvSpPr>
            <p:cNvPr id="33" name="TextBox 33"/>
            <p:cNvSpPr txBox="1"/>
            <p:nvPr/>
          </p:nvSpPr>
          <p:spPr>
            <a:xfrm>
              <a:off x="7877556" y="3291840"/>
              <a:ext cx="3069549"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j-lt"/>
                  <a:ea typeface="+mj-ea"/>
                  <a:cs typeface="+mj-cs"/>
                </a:rPr>
                <a:t>impractical at the edge</a:t>
              </a:r>
            </a:p>
          </p:txBody>
        </p:sp>
        <p:sp>
          <p:nvSpPr>
            <p:cNvPr id="34" name="TextBox 34"/>
            <p:cNvSpPr txBox="1"/>
            <p:nvPr/>
          </p:nvSpPr>
          <p:spPr>
            <a:xfrm>
              <a:off x="7880985" y="3707606"/>
              <a:ext cx="320546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This scale is out of reach for most labs and</a:t>
              </a:r>
            </a:p>
          </p:txBody>
        </p:sp>
        <p:sp>
          <p:nvSpPr>
            <p:cNvPr id="35" name="TextBox 35"/>
            <p:cNvSpPr txBox="1"/>
            <p:nvPr/>
          </p:nvSpPr>
          <p:spPr>
            <a:xfrm>
              <a:off x="7880985" y="3917156"/>
              <a:ext cx="222781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cannot be deployed on-device.</a:t>
              </a:r>
            </a:p>
          </p:txBody>
        </p:sp>
      </p:grpSp>
      <p:grpSp>
        <p:nvGrpSpPr>
          <p:cNvPr id="48" name="Group 48"/>
          <p:cNvGrpSpPr/>
          <p:nvPr/>
        </p:nvGrpSpPr>
        <p:grpSpPr>
          <a:xfrm>
            <a:off x="571500" y="4552950"/>
            <a:ext cx="11049000" cy="1676400"/>
            <a:chOff x="571500" y="4552950"/>
            <a:chExt cx="11049000" cy="1676400"/>
          </a:xfrm>
        </p:grpSpPr>
        <p:sp>
          <p:nvSpPr>
            <p:cNvPr id="37" name="Rectangle 37"/>
            <p:cNvSpPr/>
            <p:nvPr/>
          </p:nvSpPr>
          <p:spPr>
            <a:xfrm>
              <a:off x="571500" y="4552950"/>
              <a:ext cx="11049000" cy="1676400"/>
            </a:xfrm>
            <a:prstGeom prst="roundRect">
              <a:avLst>
                <a:gd name="adj" fmla="val 6818"/>
              </a:avLst>
            </a:prstGeom>
            <a:solidFill>
              <a:schemeClr val="lt1"/>
            </a:solidFill>
            <a:ln w="14288">
              <a:solidFill>
                <a:schemeClr val="accent4"/>
              </a:solidFill>
            </a:ln>
          </p:spPr>
        </p:sp>
        <p:sp>
          <p:nvSpPr>
            <p:cNvPr id="38" name="TextBox 38"/>
            <p:cNvSpPr txBox="1"/>
            <p:nvPr/>
          </p:nvSpPr>
          <p:spPr>
            <a:xfrm>
              <a:off x="833247" y="4771549"/>
              <a:ext cx="3571852"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WORSE — THE VISUAL WORLD IS LONG-TAILED</a:t>
              </a:r>
            </a:p>
          </p:txBody>
        </p:sp>
        <p:grpSp>
          <p:nvGrpSpPr>
            <p:cNvPr id="42" name="Group 42"/>
            <p:cNvGrpSpPr/>
            <p:nvPr/>
          </p:nvGrpSpPr>
          <p:grpSpPr>
            <a:xfrm>
              <a:off x="832104" y="5143500"/>
              <a:ext cx="9254452" cy="263461"/>
              <a:chOff x="832104" y="5143500"/>
              <a:chExt cx="9254452" cy="263461"/>
            </a:xfrm>
          </p:grpSpPr>
          <p:sp>
            <p:nvSpPr>
              <p:cNvPr id="39" name="TextBox 39"/>
              <p:cNvSpPr txBox="1"/>
              <p:nvPr/>
            </p:nvSpPr>
            <p:spPr>
              <a:xfrm>
                <a:off x="832104" y="5166360"/>
                <a:ext cx="1128452"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Segmentation</a:t>
                </a:r>
              </a:p>
            </p:txBody>
          </p:sp>
          <p:sp>
            <p:nvSpPr>
              <p:cNvPr id="40" name="Rectangle 40"/>
              <p:cNvSpPr/>
              <p:nvPr/>
            </p:nvSpPr>
            <p:spPr>
              <a:xfrm>
                <a:off x="2857500" y="5143500"/>
                <a:ext cx="6096000" cy="228600"/>
              </a:xfrm>
              <a:prstGeom prst="roundRect">
                <a:avLst>
                  <a:gd name="adj" fmla="val 16667"/>
                </a:avLst>
              </a:prstGeom>
              <a:solidFill>
                <a:schemeClr val="accent2"/>
              </a:solidFill>
              <a:ln>
                <a:noFill/>
              </a:ln>
            </p:spPr>
          </p:sp>
          <p:sp>
            <p:nvSpPr>
              <p:cNvPr id="41" name="TextBox 41"/>
              <p:cNvSpPr txBox="1"/>
              <p:nvPr/>
            </p:nvSpPr>
            <p:spPr>
              <a:xfrm>
                <a:off x="9100566" y="5201602"/>
                <a:ext cx="98599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abundant data</a:t>
                </a:r>
              </a:p>
            </p:txBody>
          </p:sp>
        </p:grpSp>
        <p:grpSp>
          <p:nvGrpSpPr>
            <p:cNvPr id="46" name="Group 46"/>
            <p:cNvGrpSpPr/>
            <p:nvPr/>
          </p:nvGrpSpPr>
          <p:grpSpPr>
            <a:xfrm>
              <a:off x="832104" y="5619750"/>
              <a:ext cx="3394081" cy="263461"/>
              <a:chOff x="832104" y="5619750"/>
              <a:chExt cx="3394081" cy="263461"/>
            </a:xfrm>
          </p:grpSpPr>
          <p:sp>
            <p:nvSpPr>
              <p:cNvPr id="43" name="TextBox 43"/>
              <p:cNvSpPr txBox="1"/>
              <p:nvPr/>
            </p:nvSpPr>
            <p:spPr>
              <a:xfrm>
                <a:off x="832104" y="5642610"/>
                <a:ext cx="1323556"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Pose estimation</a:t>
                </a:r>
              </a:p>
            </p:txBody>
          </p:sp>
          <p:sp>
            <p:nvSpPr>
              <p:cNvPr id="44" name="Rectangle 44"/>
              <p:cNvSpPr/>
              <p:nvPr/>
            </p:nvSpPr>
            <p:spPr>
              <a:xfrm>
                <a:off x="2857500" y="5619750"/>
                <a:ext cx="666750" cy="228600"/>
              </a:xfrm>
              <a:prstGeom prst="roundRect">
                <a:avLst>
                  <a:gd name="adj" fmla="val 16667"/>
                </a:avLst>
              </a:prstGeom>
              <a:solidFill>
                <a:srgbClr val="97A1B5"/>
              </a:solidFill>
              <a:ln>
                <a:noFill/>
              </a:ln>
            </p:spPr>
          </p:sp>
          <p:sp>
            <p:nvSpPr>
              <p:cNvPr id="45" name="TextBox 45"/>
              <p:cNvSpPr txBox="1"/>
              <p:nvPr/>
            </p:nvSpPr>
            <p:spPr>
              <a:xfrm>
                <a:off x="3671316" y="5677852"/>
                <a:ext cx="554869" cy="205359"/>
              </a:xfrm>
              <a:prstGeom prst="rect">
                <a:avLst/>
              </a:prstGeom>
              <a:noFill/>
              <a:ln>
                <a:noFill/>
              </a:ln>
            </p:spPr>
            <p:txBody>
              <a:bodyPr wrap="none" lIns="0" tIns="0" rIns="0" bIns="0" anchor="t" anchorCtr="0">
                <a:spAutoFit/>
              </a:bodyPr>
              <a:lstStyle/>
              <a:p>
                <a:pPr algn="l"/>
                <a:r>
                  <a:rPr lang="en-US" sz="1050" dirty="0">
                    <a:solidFill>
                      <a:srgbClr val="C2410C"/>
                    </a:solidFill>
                    <a:latin typeface="+mn-lt"/>
                    <a:ea typeface="+mn-ea"/>
                    <a:cs typeface="+mn-cs"/>
                  </a:rPr>
                  <a:t>starved</a:t>
                </a:r>
              </a:p>
            </p:txBody>
          </p:sp>
        </p:grpSp>
        <p:sp>
          <p:nvSpPr>
            <p:cNvPr id="47" name="TextBox 47"/>
            <p:cNvSpPr txBox="1"/>
            <p:nvPr/>
          </p:nvSpPr>
          <p:spPr>
            <a:xfrm>
              <a:off x="832485" y="5993606"/>
              <a:ext cx="5489792" cy="220028"/>
            </a:xfrm>
            <a:prstGeom prst="rect">
              <a:avLst/>
            </a:prstGeom>
            <a:noFill/>
            <a:ln>
              <a:noFill/>
            </a:ln>
          </p:spPr>
          <p:txBody>
            <a:bodyPr wrap="none" lIns="0" tIns="0" rIns="0" bIns="0" anchor="t" anchorCtr="0">
              <a:spAutoFit/>
            </a:bodyPr>
            <a:lstStyle/>
            <a:p>
              <a:pPr algn="l"/>
              <a:r>
                <a:rPr lang="en-US" sz="1120" i="1" dirty="0">
                  <a:solidFill>
                    <a:schemeClr val="dk2"/>
                  </a:solidFill>
                  <a:latin typeface="+mn-lt"/>
                  <a:ea typeface="+mn-ea"/>
                  <a:cs typeface="+mn-cs"/>
                </a:rPr>
                <a:t>Train on the raw mixture and the model never learns the rare tasks at all.</a:t>
              </a:r>
            </a:p>
          </p:txBody>
        </p:sp>
      </p:grpSp>
      <p:grpSp>
        <p:nvGrpSpPr>
          <p:cNvPr id="51" name="Group 51"/>
          <p:cNvGrpSpPr/>
          <p:nvPr/>
        </p:nvGrpSpPr>
        <p:grpSpPr>
          <a:xfrm>
            <a:off x="566738" y="6597491"/>
            <a:ext cx="11058524" cy="161925"/>
            <a:chOff x="566738" y="6597491"/>
            <a:chExt cx="11058524" cy="161925"/>
          </a:xfrm>
        </p:grpSpPr>
        <p:sp>
          <p:nvSpPr>
            <p:cNvPr id="49" name="TextBox 49"/>
            <p:cNvSpPr txBox="1"/>
            <p:nvPr/>
          </p:nvSpPr>
          <p:spPr>
            <a:xfrm>
              <a:off x="566738" y="6597491"/>
              <a:ext cx="2843070" cy="161925"/>
            </a:xfrm>
            <a:prstGeom prst="rect">
              <a:avLst/>
            </a:prstGeom>
            <a:noFill/>
            <a:ln>
              <a:noFill/>
            </a:ln>
          </p:spPr>
          <p:txBody>
            <a:bodyPr wrap="none" lIns="0" tIns="0" rIns="0" bIns="0" anchor="t" anchorCtr="0">
              <a:spAutoFit/>
            </a:bodyPr>
            <a:lstStyle/>
            <a:p>
              <a:pPr algn="l"/>
              <a:r>
                <a:rPr lang="en-US" sz="820" dirty="0">
                  <a:solidFill>
                    <a:schemeClr val="accent5"/>
                  </a:solidFill>
                  <a:latin typeface="+mn-lt"/>
                  <a:ea typeface="+mn-ea"/>
                  <a:cs typeface="+mn-cs"/>
                </a:rPr>
                <a:t>DeLVM · ICML 2024 — the scale and imbalance problem</a:t>
              </a:r>
            </a:p>
          </p:txBody>
        </p:sp>
        <p:sp>
          <p:nvSpPr>
            <p:cNvPr id="50" name="TextBox 50"/>
            <p:cNvSpPr txBox="1"/>
            <p:nvPr/>
          </p:nvSpPr>
          <p:spPr>
            <a:xfrm>
              <a:off x="11494310" y="6597491"/>
              <a:ext cx="130952" cy="161925"/>
            </a:xfrm>
            <a:prstGeom prst="rect">
              <a:avLst/>
            </a:prstGeom>
            <a:noFill/>
            <a:ln>
              <a:noFill/>
            </a:ln>
          </p:spPr>
          <p:txBody>
            <a:bodyPr wrap="none" lIns="0" tIns="0" rIns="0" bIns="0" anchor="t" anchorCtr="0">
              <a:spAutoFit/>
            </a:bodyPr>
            <a:lstStyle/>
            <a:p>
              <a:pPr algn="r"/>
              <a:r>
                <a:rPr lang="en-US" sz="820" dirty="0">
                  <a:solidFill>
                    <a:schemeClr val="accent5"/>
                  </a:solidFill>
                  <a:latin typeface="+mn-lt"/>
                  <a:ea typeface="+mn-ea"/>
                  <a:cs typeface="+mn-cs"/>
                </a:rPr>
                <a:t>02</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495300"/>
            <a:ext cx="8036812" cy="675989"/>
            <a:chOff x="571500" y="495300"/>
            <a:chExt cx="8036812" cy="675989"/>
          </a:xfrm>
        </p:grpSpPr>
        <p:sp>
          <p:nvSpPr>
            <p:cNvPr id="2" name="Rectangle 2"/>
            <p:cNvSpPr/>
            <p:nvPr/>
          </p:nvSpPr>
          <p:spPr>
            <a:xfrm>
              <a:off x="571500" y="495300"/>
              <a:ext cx="57150" cy="400050"/>
            </a:xfrm>
            <a:prstGeom prst="rect">
              <a:avLst/>
            </a:prstGeom>
            <a:solidFill>
              <a:schemeClr val="accent2"/>
            </a:solidFill>
            <a:ln>
              <a:noFill/>
            </a:ln>
          </p:spPr>
        </p:sp>
        <p:sp>
          <p:nvSpPr>
            <p:cNvPr id="3" name="TextBox 3"/>
            <p:cNvSpPr txBox="1"/>
            <p:nvPr/>
          </p:nvSpPr>
          <p:spPr>
            <a:xfrm>
              <a:off x="787146" y="543878"/>
              <a:ext cx="7821166"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Why NLP recipes don't transfer to vision</a:t>
              </a:r>
            </a:p>
          </p:txBody>
        </p:sp>
        <p:sp>
          <p:nvSpPr>
            <p:cNvPr id="4" name="TextBox 4"/>
            <p:cNvSpPr txBox="1"/>
            <p:nvPr/>
          </p:nvSpPr>
          <p:spPr>
            <a:xfrm>
              <a:off x="795147" y="980599"/>
              <a:ext cx="3446147"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MOTIVATION · THE GAP THIS PAPER CLOSES</a:t>
              </a:r>
            </a:p>
          </p:txBody>
        </p:sp>
      </p:grpSp>
      <p:grpSp>
        <p:nvGrpSpPr>
          <p:cNvPr id="13" name="Group 13"/>
          <p:cNvGrpSpPr/>
          <p:nvPr/>
        </p:nvGrpSpPr>
        <p:grpSpPr>
          <a:xfrm>
            <a:off x="571500" y="1428750"/>
            <a:ext cx="5476875" cy="1905000"/>
            <a:chOff x="571500" y="1428750"/>
            <a:chExt cx="5476875" cy="1905000"/>
          </a:xfrm>
        </p:grpSpPr>
        <p:sp>
          <p:nvSpPr>
            <p:cNvPr id="6" name="Rectangle 6"/>
            <p:cNvSpPr/>
            <p:nvPr/>
          </p:nvSpPr>
          <p:spPr>
            <a:xfrm>
              <a:off x="571500" y="1428750"/>
              <a:ext cx="5476875" cy="1905000"/>
            </a:xfrm>
            <a:prstGeom prst="roundRect">
              <a:avLst>
                <a:gd name="adj" fmla="val 6000"/>
              </a:avLst>
            </a:prstGeom>
            <a:solidFill>
              <a:schemeClr val="lt1"/>
            </a:solidFill>
            <a:ln w="14288">
              <a:solidFill>
                <a:schemeClr val="accent4"/>
              </a:solidFill>
            </a:ln>
          </p:spPr>
        </p:sp>
        <p:sp>
          <p:nvSpPr>
            <p:cNvPr id="7" name="Rectangle 7"/>
            <p:cNvSpPr/>
            <p:nvPr/>
          </p:nvSpPr>
          <p:spPr>
            <a:xfrm>
              <a:off x="571500" y="1428750"/>
              <a:ext cx="57150" cy="1905000"/>
            </a:xfrm>
            <a:prstGeom prst="roundRect">
              <a:avLst>
                <a:gd name="adj" fmla="val 50000"/>
              </a:avLst>
            </a:prstGeom>
            <a:solidFill>
              <a:schemeClr val="accent1"/>
            </a:solidFill>
            <a:ln>
              <a:noFill/>
            </a:ln>
          </p:spPr>
        </p:sp>
        <p:sp>
          <p:nvSpPr>
            <p:cNvPr id="8" name="TextBox 8"/>
            <p:cNvSpPr txBox="1"/>
            <p:nvPr/>
          </p:nvSpPr>
          <p:spPr>
            <a:xfrm>
              <a:off x="833247" y="1666399"/>
              <a:ext cx="1462404" cy="190690"/>
            </a:xfrm>
            <a:prstGeom prst="rect">
              <a:avLst/>
            </a:prstGeom>
            <a:noFill/>
            <a:ln>
              <a:noFill/>
            </a:ln>
          </p:spPr>
          <p:txBody>
            <a:bodyPr wrap="none" lIns="0" tIns="0" rIns="0" bIns="0" anchor="t" anchorCtr="0">
              <a:spAutoFit/>
            </a:bodyPr>
            <a:lstStyle/>
            <a:p>
              <a:pPr algn="l"/>
              <a:r>
                <a:rPr lang="en-US" sz="980" b="1" spc="112" dirty="0">
                  <a:solidFill>
                    <a:schemeClr val="accent1"/>
                  </a:solidFill>
                  <a:latin typeface="+mn-lt"/>
                  <a:ea typeface="+mn-ea"/>
                  <a:cs typeface="+mn-cs"/>
                </a:rPr>
                <a:t>LANGUAGE MODELS</a:t>
              </a:r>
            </a:p>
          </p:txBody>
        </p:sp>
        <p:sp>
          <p:nvSpPr>
            <p:cNvPr id="9" name="TextBox 9"/>
            <p:cNvSpPr txBox="1"/>
            <p:nvPr/>
          </p:nvSpPr>
          <p:spPr>
            <a:xfrm>
              <a:off x="829056" y="1958340"/>
              <a:ext cx="3307861"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j-lt"/>
                  <a:ea typeface="+mj-ea"/>
                  <a:cs typeface="+mj-cs"/>
                </a:rPr>
                <a:t>One epoch, vast corpora</a:t>
              </a:r>
            </a:p>
          </p:txBody>
        </p:sp>
        <p:sp>
          <p:nvSpPr>
            <p:cNvPr id="10" name="TextBox 10"/>
            <p:cNvSpPr txBox="1"/>
            <p:nvPr/>
          </p:nvSpPr>
          <p:spPr>
            <a:xfrm>
              <a:off x="831723" y="2376964"/>
              <a:ext cx="3375951"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LMs train for roughly a single pass over</a:t>
              </a:r>
            </a:p>
          </p:txBody>
        </p:sp>
        <p:sp>
          <p:nvSpPr>
            <p:cNvPr id="11" name="TextBox 11"/>
            <p:cNvSpPr txBox="1"/>
            <p:nvPr/>
          </p:nvSpPr>
          <p:spPr>
            <a:xfrm>
              <a:off x="831723" y="2605564"/>
              <a:ext cx="3579846"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enormous text corpora — enough data that</a:t>
              </a:r>
            </a:p>
          </p:txBody>
        </p:sp>
        <p:sp>
          <p:nvSpPr>
            <p:cNvPr id="12" name="TextBox 12"/>
            <p:cNvSpPr txBox="1"/>
            <p:nvPr/>
          </p:nvSpPr>
          <p:spPr>
            <a:xfrm>
              <a:off x="831723" y="2834164"/>
              <a:ext cx="3028442"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overfitting simply is not a concern.</a:t>
              </a:r>
            </a:p>
          </p:txBody>
        </p:sp>
      </p:grpSp>
      <p:grpSp>
        <p:nvGrpSpPr>
          <p:cNvPr id="21" name="Group 21"/>
          <p:cNvGrpSpPr/>
          <p:nvPr/>
        </p:nvGrpSpPr>
        <p:grpSpPr>
          <a:xfrm>
            <a:off x="6143625" y="1428750"/>
            <a:ext cx="5476875" cy="1905000"/>
            <a:chOff x="6143625" y="1428750"/>
            <a:chExt cx="5476875" cy="1905000"/>
          </a:xfrm>
        </p:grpSpPr>
        <p:sp>
          <p:nvSpPr>
            <p:cNvPr id="14" name="Rectangle 14"/>
            <p:cNvSpPr/>
            <p:nvPr/>
          </p:nvSpPr>
          <p:spPr>
            <a:xfrm>
              <a:off x="6143625" y="1428750"/>
              <a:ext cx="5476875" cy="1905000"/>
            </a:xfrm>
            <a:prstGeom prst="roundRect">
              <a:avLst>
                <a:gd name="adj" fmla="val 6000"/>
              </a:avLst>
            </a:prstGeom>
            <a:solidFill>
              <a:schemeClr val="lt1"/>
            </a:solidFill>
            <a:ln w="14288">
              <a:solidFill>
                <a:schemeClr val="accent4"/>
              </a:solidFill>
            </a:ln>
          </p:spPr>
        </p:sp>
        <p:sp>
          <p:nvSpPr>
            <p:cNvPr id="15" name="Rectangle 15"/>
            <p:cNvSpPr/>
            <p:nvPr/>
          </p:nvSpPr>
          <p:spPr>
            <a:xfrm>
              <a:off x="6143625" y="1428750"/>
              <a:ext cx="57150" cy="1905000"/>
            </a:xfrm>
            <a:prstGeom prst="roundRect">
              <a:avLst>
                <a:gd name="adj" fmla="val 50000"/>
              </a:avLst>
            </a:prstGeom>
            <a:solidFill>
              <a:schemeClr val="accent3"/>
            </a:solidFill>
            <a:ln>
              <a:noFill/>
            </a:ln>
          </p:spPr>
        </p:sp>
        <p:sp>
          <p:nvSpPr>
            <p:cNvPr id="16" name="TextBox 16"/>
            <p:cNvSpPr txBox="1"/>
            <p:nvPr/>
          </p:nvSpPr>
          <p:spPr>
            <a:xfrm>
              <a:off x="6405372" y="1666399"/>
              <a:ext cx="1418494" cy="190690"/>
            </a:xfrm>
            <a:prstGeom prst="rect">
              <a:avLst/>
            </a:prstGeom>
            <a:noFill/>
            <a:ln>
              <a:noFill/>
            </a:ln>
          </p:spPr>
          <p:txBody>
            <a:bodyPr wrap="none" lIns="0" tIns="0" rIns="0" bIns="0" anchor="t" anchorCtr="0">
              <a:spAutoFit/>
            </a:bodyPr>
            <a:lstStyle/>
            <a:p>
              <a:pPr algn="l"/>
              <a:r>
                <a:rPr lang="en-US" sz="980" b="1" spc="112" dirty="0">
                  <a:solidFill>
                    <a:schemeClr val="accent3"/>
                  </a:solidFill>
                  <a:latin typeface="+mn-lt"/>
                  <a:ea typeface="+mn-ea"/>
                  <a:cs typeface="+mn-cs"/>
                </a:rPr>
                <a:t>COMPUTER VISION</a:t>
              </a:r>
            </a:p>
          </p:txBody>
        </p:sp>
        <p:sp>
          <p:nvSpPr>
            <p:cNvPr id="17" name="TextBox 17"/>
            <p:cNvSpPr txBox="1"/>
            <p:nvPr/>
          </p:nvSpPr>
          <p:spPr>
            <a:xfrm>
              <a:off x="6401181" y="1958340"/>
              <a:ext cx="2956255"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j-lt"/>
                  <a:ea typeface="+mj-ea"/>
                  <a:cs typeface="+mj-cs"/>
                </a:rPr>
                <a:t>Tiny, scarce datasets</a:t>
              </a:r>
            </a:p>
          </p:txBody>
        </p:sp>
        <p:sp>
          <p:nvSpPr>
            <p:cNvPr id="18" name="TextBox 18"/>
            <p:cNvSpPr txBox="1"/>
            <p:nvPr/>
          </p:nvSpPr>
          <p:spPr>
            <a:xfrm>
              <a:off x="6403848" y="2376964"/>
              <a:ext cx="3689005"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Many vision tasks have only small datasets,</a:t>
              </a:r>
            </a:p>
          </p:txBody>
        </p:sp>
        <p:sp>
          <p:nvSpPr>
            <p:cNvPr id="19" name="TextBox 19"/>
            <p:cNvSpPr txBox="1"/>
            <p:nvPr/>
          </p:nvSpPr>
          <p:spPr>
            <a:xfrm>
              <a:off x="6403848" y="2605564"/>
              <a:ext cx="3545383"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so the one-epoch language schedule simply</a:t>
              </a:r>
            </a:p>
          </p:txBody>
        </p:sp>
        <p:sp>
          <p:nvSpPr>
            <p:cNvPr id="20" name="TextBox 20"/>
            <p:cNvSpPr txBox="1"/>
            <p:nvPr/>
          </p:nvSpPr>
          <p:spPr>
            <a:xfrm>
              <a:off x="6403848" y="2834164"/>
              <a:ext cx="1779168"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does not carry over.</a:t>
              </a:r>
            </a:p>
          </p:txBody>
        </p:sp>
      </p:grpSp>
      <p:grpSp>
        <p:nvGrpSpPr>
          <p:cNvPr id="38" name="Group 38"/>
          <p:cNvGrpSpPr/>
          <p:nvPr/>
        </p:nvGrpSpPr>
        <p:grpSpPr>
          <a:xfrm>
            <a:off x="571500" y="3486150"/>
            <a:ext cx="11049000" cy="1818989"/>
            <a:chOff x="571500" y="3486150"/>
            <a:chExt cx="11049000" cy="1818989"/>
          </a:xfrm>
        </p:grpSpPr>
        <p:sp>
          <p:nvSpPr>
            <p:cNvPr id="22" name="Rectangle 22"/>
            <p:cNvSpPr/>
            <p:nvPr/>
          </p:nvSpPr>
          <p:spPr>
            <a:xfrm>
              <a:off x="571500" y="3486150"/>
              <a:ext cx="11049000" cy="1809750"/>
            </a:xfrm>
            <a:prstGeom prst="roundRect">
              <a:avLst>
                <a:gd name="adj" fmla="val 6316"/>
              </a:avLst>
            </a:prstGeom>
            <a:solidFill>
              <a:schemeClr val="lt2"/>
            </a:solidFill>
            <a:ln>
              <a:noFill/>
            </a:ln>
          </p:spPr>
        </p:sp>
        <p:sp>
          <p:nvSpPr>
            <p:cNvPr id="23" name="TextBox 23"/>
            <p:cNvSpPr txBox="1"/>
            <p:nvPr/>
          </p:nvSpPr>
          <p:spPr>
            <a:xfrm>
              <a:off x="833247" y="3704749"/>
              <a:ext cx="5578844"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THE FIELD KEEPS SCALING — WHILE CLASSICAL REMEDIES STAY UNTRIED</a:t>
              </a:r>
            </a:p>
          </p:txBody>
        </p:sp>
        <p:grpSp>
          <p:nvGrpSpPr>
            <p:cNvPr id="29" name="Group 29"/>
            <p:cNvGrpSpPr/>
            <p:nvPr/>
          </p:nvGrpSpPr>
          <p:grpSpPr>
            <a:xfrm>
              <a:off x="908304" y="4229100"/>
              <a:ext cx="1618506" cy="1076039"/>
              <a:chOff x="908304" y="4229100"/>
              <a:chExt cx="1618506" cy="1076039"/>
            </a:xfrm>
          </p:grpSpPr>
          <p:sp>
            <p:nvSpPr>
              <p:cNvPr id="24" name="Rectangle 24"/>
              <p:cNvSpPr/>
              <p:nvPr/>
            </p:nvSpPr>
            <p:spPr>
              <a:xfrm>
                <a:off x="914400" y="4762500"/>
                <a:ext cx="438150" cy="285750"/>
              </a:xfrm>
              <a:prstGeom prst="roundRect">
                <a:avLst>
                  <a:gd name="adj" fmla="val 10000"/>
                </a:avLst>
              </a:prstGeom>
              <a:solidFill>
                <a:srgbClr val="B8C2D6"/>
              </a:solidFill>
              <a:ln>
                <a:noFill/>
              </a:ln>
            </p:spPr>
          </p:sp>
          <p:sp>
            <p:nvSpPr>
              <p:cNvPr id="25" name="Rectangle 25"/>
              <p:cNvSpPr/>
              <p:nvPr/>
            </p:nvSpPr>
            <p:spPr>
              <a:xfrm>
                <a:off x="1485900" y="4533900"/>
                <a:ext cx="438150" cy="514350"/>
              </a:xfrm>
              <a:prstGeom prst="roundRect">
                <a:avLst>
                  <a:gd name="adj" fmla="val 6522"/>
                </a:avLst>
              </a:prstGeom>
              <a:solidFill>
                <a:srgbClr val="7C8BA8"/>
              </a:solidFill>
              <a:ln>
                <a:noFill/>
              </a:ln>
            </p:spPr>
          </p:sp>
          <p:sp>
            <p:nvSpPr>
              <p:cNvPr id="26" name="Rectangle 26"/>
              <p:cNvSpPr/>
              <p:nvPr/>
            </p:nvSpPr>
            <p:spPr>
              <a:xfrm>
                <a:off x="2057400" y="4229100"/>
                <a:ext cx="438150" cy="819150"/>
              </a:xfrm>
              <a:prstGeom prst="roundRect">
                <a:avLst>
                  <a:gd name="adj" fmla="val 6522"/>
                </a:avLst>
              </a:prstGeom>
              <a:solidFill>
                <a:schemeClr val="accent2"/>
              </a:solidFill>
              <a:ln>
                <a:noFill/>
              </a:ln>
            </p:spPr>
          </p:sp>
          <p:sp>
            <p:nvSpPr>
              <p:cNvPr id="27" name="TextBox 27"/>
              <p:cNvSpPr txBox="1"/>
              <p:nvPr/>
            </p:nvSpPr>
            <p:spPr>
              <a:xfrm>
                <a:off x="908304" y="4861560"/>
                <a:ext cx="105484" cy="234696"/>
              </a:xfrm>
              <a:prstGeom prst="rect">
                <a:avLst/>
              </a:prstGeom>
              <a:noFill/>
              <a:ln>
                <a:noFill/>
              </a:ln>
            </p:spPr>
            <p:txBody>
              <a:bodyPr wrap="none" lIns="0" tIns="0" rIns="0" bIns="0" anchor="t" anchorCtr="0">
                <a:spAutoFit/>
              </a:bodyPr>
              <a:lstStyle/>
              <a:p>
                <a:pPr algn="l"/>
                <a:r>
                  <a:rPr lang="en-US" sz="1200" b="1" dirty="0">
                    <a:solidFill>
                      <a:srgbClr val="FFFFFF"/>
                    </a:solidFill>
                    <a:latin typeface="+mn-lt"/>
                    <a:ea typeface="+mn-ea"/>
                    <a:cs typeface="+mn-cs"/>
                  </a:rPr>
                  <a:t>›</a:t>
                </a:r>
              </a:p>
            </p:txBody>
          </p:sp>
          <p:sp>
            <p:nvSpPr>
              <p:cNvPr id="28" name="TextBox 28"/>
              <p:cNvSpPr txBox="1"/>
              <p:nvPr/>
            </p:nvSpPr>
            <p:spPr>
              <a:xfrm>
                <a:off x="909447" y="5114449"/>
                <a:ext cx="1617363"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Bigger models &amp; datasets</a:t>
                </a:r>
              </a:p>
            </p:txBody>
          </p:sp>
        </p:grpSp>
        <p:sp>
          <p:nvSpPr>
            <p:cNvPr id="30" name="TextBox 30"/>
            <p:cNvSpPr txBox="1"/>
            <p:nvPr/>
          </p:nvSpPr>
          <p:spPr>
            <a:xfrm>
              <a:off x="3137154" y="4175760"/>
              <a:ext cx="4371160"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Yet the classical fixes for scarce, imbalanced data are</a:t>
              </a:r>
            </a:p>
          </p:txBody>
        </p:sp>
        <p:sp>
          <p:nvSpPr>
            <p:cNvPr id="31" name="TextBox 31"/>
            <p:cNvSpPr txBox="1"/>
            <p:nvPr/>
          </p:nvSpPr>
          <p:spPr>
            <a:xfrm>
              <a:off x="3137154" y="4404360"/>
              <a:ext cx="3380384"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barely explored for autoregressive vision:</a:t>
              </a:r>
            </a:p>
          </p:txBody>
        </p:sp>
        <p:grpSp>
          <p:nvGrpSpPr>
            <p:cNvPr id="37" name="Group 37"/>
            <p:cNvGrpSpPr/>
            <p:nvPr/>
          </p:nvGrpSpPr>
          <p:grpSpPr>
            <a:xfrm>
              <a:off x="3143250" y="4724400"/>
              <a:ext cx="7211817" cy="419100"/>
              <a:chOff x="3143250" y="4724400"/>
              <a:chExt cx="7211817" cy="419100"/>
            </a:xfrm>
          </p:grpSpPr>
          <p:sp>
            <p:nvSpPr>
              <p:cNvPr id="32" name="Rectangle 32"/>
              <p:cNvSpPr/>
              <p:nvPr/>
            </p:nvSpPr>
            <p:spPr>
              <a:xfrm>
                <a:off x="3143250" y="4724400"/>
                <a:ext cx="2381250" cy="419100"/>
              </a:xfrm>
              <a:prstGeom prst="roundRect">
                <a:avLst>
                  <a:gd name="adj" fmla="val 22727"/>
                </a:avLst>
              </a:prstGeom>
              <a:solidFill>
                <a:schemeClr val="lt1"/>
              </a:solidFill>
              <a:ln w="14288">
                <a:solidFill>
                  <a:schemeClr val="accent2"/>
                </a:solidFill>
                <a:custDash>
                  <a:ds d="400000" sp="266667"/>
                </a:custDash>
              </a:ln>
            </p:spPr>
          </p:sp>
          <p:sp>
            <p:nvSpPr>
              <p:cNvPr id="33" name="TextBox 33"/>
              <p:cNvSpPr txBox="1"/>
              <p:nvPr/>
            </p:nvSpPr>
            <p:spPr>
              <a:xfrm>
                <a:off x="3346704" y="4861560"/>
                <a:ext cx="1558125"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mn-lt"/>
                    <a:ea typeface="+mn-ea"/>
                    <a:cs typeface="+mn-cs"/>
                  </a:rPr>
                  <a:t>Data Augmentation</a:t>
                </a:r>
              </a:p>
            </p:txBody>
          </p:sp>
          <p:sp>
            <p:nvSpPr>
              <p:cNvPr id="34" name="Rectangle 34"/>
              <p:cNvSpPr/>
              <p:nvPr/>
            </p:nvSpPr>
            <p:spPr>
              <a:xfrm>
                <a:off x="5676900" y="4724400"/>
                <a:ext cx="2571750" cy="419100"/>
              </a:xfrm>
              <a:prstGeom prst="roundRect">
                <a:avLst>
                  <a:gd name="adj" fmla="val 22727"/>
                </a:avLst>
              </a:prstGeom>
              <a:solidFill>
                <a:schemeClr val="lt1"/>
              </a:solidFill>
              <a:ln w="14288">
                <a:solidFill>
                  <a:schemeClr val="accent3"/>
                </a:solidFill>
                <a:custDash>
                  <a:ds d="400000" sp="266667"/>
                </a:custDash>
              </a:ln>
            </p:spPr>
          </p:sp>
          <p:sp>
            <p:nvSpPr>
              <p:cNvPr id="35" name="TextBox 35"/>
              <p:cNvSpPr txBox="1"/>
              <p:nvPr/>
            </p:nvSpPr>
            <p:spPr>
              <a:xfrm>
                <a:off x="5880354" y="4861560"/>
                <a:ext cx="1811343" cy="234696"/>
              </a:xfrm>
              <a:prstGeom prst="rect">
                <a:avLst/>
              </a:prstGeom>
              <a:noFill/>
              <a:ln>
                <a:noFill/>
              </a:ln>
            </p:spPr>
            <p:txBody>
              <a:bodyPr wrap="none" lIns="0" tIns="0" rIns="0" bIns="0" anchor="t" anchorCtr="0">
                <a:spAutoFit/>
              </a:bodyPr>
              <a:lstStyle/>
              <a:p>
                <a:pPr algn="l"/>
                <a:r>
                  <a:rPr lang="en-US" sz="1200" b="1" dirty="0">
                    <a:solidFill>
                      <a:schemeClr val="accent3"/>
                    </a:solidFill>
                    <a:latin typeface="+mn-lt"/>
                    <a:ea typeface="+mn-ea"/>
                    <a:cs typeface="+mn-cs"/>
                  </a:rPr>
                  <a:t>Knowledge Distillation</a:t>
                </a:r>
              </a:p>
            </p:txBody>
          </p:sp>
          <p:sp>
            <p:nvSpPr>
              <p:cNvPr id="36" name="TextBox 36"/>
              <p:cNvSpPr txBox="1"/>
              <p:nvPr/>
            </p:nvSpPr>
            <p:spPr>
              <a:xfrm>
                <a:off x="8471535" y="4869656"/>
                <a:ext cx="1883532" cy="220028"/>
              </a:xfrm>
              <a:prstGeom prst="rect">
                <a:avLst/>
              </a:prstGeom>
              <a:noFill/>
              <a:ln>
                <a:noFill/>
              </a:ln>
            </p:spPr>
            <p:txBody>
              <a:bodyPr wrap="none" lIns="0" tIns="0" rIns="0" bIns="0" anchor="t" anchorCtr="0">
                <a:spAutoFit/>
              </a:bodyPr>
              <a:lstStyle/>
              <a:p>
                <a:pPr algn="l"/>
                <a:r>
                  <a:rPr lang="en-US" sz="1120" i="1" dirty="0">
                    <a:solidFill>
                      <a:schemeClr val="accent5"/>
                    </a:solidFill>
                    <a:latin typeface="+mn-lt"/>
                    <a:ea typeface="+mn-ea"/>
                    <a:cs typeface="+mn-cs"/>
                  </a:rPr>
                  <a:t>← barely tried in AR vision</a:t>
                </a:r>
              </a:p>
            </p:txBody>
          </p:sp>
        </p:grpSp>
      </p:grpSp>
      <p:grpSp>
        <p:nvGrpSpPr>
          <p:cNvPr id="43" name="Group 43"/>
          <p:cNvGrpSpPr/>
          <p:nvPr/>
        </p:nvGrpSpPr>
        <p:grpSpPr>
          <a:xfrm>
            <a:off x="571500" y="5448300"/>
            <a:ext cx="12995721" cy="781050"/>
            <a:chOff x="571500" y="5448300"/>
            <a:chExt cx="12995721" cy="781050"/>
          </a:xfrm>
        </p:grpSpPr>
        <p:sp>
          <p:nvSpPr>
            <p:cNvPr id="39" name="Rectangle 39"/>
            <p:cNvSpPr/>
            <p:nvPr/>
          </p:nvSpPr>
          <p:spPr>
            <a:xfrm>
              <a:off x="571500" y="5448300"/>
              <a:ext cx="11049000" cy="781050"/>
            </a:xfrm>
            <a:prstGeom prst="roundRect">
              <a:avLst>
                <a:gd name="adj" fmla="val 14634"/>
              </a:avLst>
            </a:prstGeom>
            <a:solidFill>
              <a:schemeClr val="accent6"/>
            </a:solidFill>
            <a:ln>
              <a:noFill/>
            </a:ln>
          </p:spPr>
        </p:sp>
        <p:sp>
          <p:nvSpPr>
            <p:cNvPr id="40" name="Rectangle 40"/>
            <p:cNvSpPr/>
            <p:nvPr/>
          </p:nvSpPr>
          <p:spPr>
            <a:xfrm>
              <a:off x="571500" y="5448300"/>
              <a:ext cx="57150" cy="781050"/>
            </a:xfrm>
            <a:prstGeom prst="roundRect">
              <a:avLst>
                <a:gd name="adj" fmla="val 50000"/>
              </a:avLst>
            </a:prstGeom>
            <a:solidFill>
              <a:schemeClr val="accent2"/>
            </a:solidFill>
            <a:ln>
              <a:noFill/>
            </a:ln>
          </p:spPr>
        </p:sp>
        <p:sp>
          <p:nvSpPr>
            <p:cNvPr id="41" name="TextBox 41"/>
            <p:cNvSpPr txBox="1"/>
            <p:nvPr/>
          </p:nvSpPr>
          <p:spPr>
            <a:xfrm>
              <a:off x="871347" y="5647849"/>
              <a:ext cx="933755" cy="190690"/>
            </a:xfrm>
            <a:prstGeom prst="rect">
              <a:avLst/>
            </a:prstGeom>
            <a:noFill/>
            <a:ln>
              <a:noFill/>
            </a:ln>
          </p:spPr>
          <p:txBody>
            <a:bodyPr wrap="none" lIns="0" tIns="0" rIns="0" bIns="0" anchor="t" anchorCtr="0">
              <a:spAutoFit/>
            </a:bodyPr>
            <a:lstStyle/>
            <a:p>
              <a:pPr algn="l"/>
              <a:r>
                <a:rPr lang="en-US" sz="980" b="1" spc="150" dirty="0">
                  <a:solidFill>
                    <a:schemeClr val="accent2"/>
                  </a:solidFill>
                  <a:latin typeface="+mn-lt"/>
                  <a:ea typeface="+mn-ea"/>
                  <a:cs typeface="+mn-cs"/>
                </a:rPr>
                <a:t>THIS PAPER</a:t>
              </a:r>
            </a:p>
          </p:txBody>
        </p:sp>
        <p:sp>
          <p:nvSpPr>
            <p:cNvPr id="42" name="TextBox 42"/>
            <p:cNvSpPr txBox="1"/>
            <p:nvPr/>
          </p:nvSpPr>
          <p:spPr>
            <a:xfrm>
              <a:off x="866394" y="5847398"/>
              <a:ext cx="12700827" cy="381381"/>
            </a:xfrm>
            <a:prstGeom prst="rect">
              <a:avLst/>
            </a:prstGeom>
            <a:noFill/>
            <a:ln>
              <a:noFill/>
            </a:ln>
          </p:spPr>
          <p:txBody>
            <a:bodyPr wrap="none" lIns="0" tIns="0" rIns="0" bIns="0" anchor="t" anchorCtr="0">
              <a:spAutoFit/>
            </a:bodyPr>
            <a:lstStyle/>
            <a:p>
              <a:pPr algn="l"/>
              <a:r>
                <a:rPr lang="en-US" sz="1950" b="1" i="1" dirty="0">
                  <a:solidFill>
                    <a:schemeClr val="accent1"/>
                  </a:solidFill>
                  <a:latin typeface="+mj-lt"/>
                  <a:ea typeface="+mj-ea"/>
                  <a:cs typeface="+mj-cs"/>
                </a:rPr>
                <a:t>DeLVM closes that gap — bringing augmentation and distillation to autoregressive vision.</a:t>
              </a:r>
            </a:p>
          </p:txBody>
        </p:sp>
      </p:grpSp>
      <p:grpSp>
        <p:nvGrpSpPr>
          <p:cNvPr id="46" name="Group 46"/>
          <p:cNvGrpSpPr/>
          <p:nvPr/>
        </p:nvGrpSpPr>
        <p:grpSpPr>
          <a:xfrm>
            <a:off x="566738" y="6597491"/>
            <a:ext cx="11058524" cy="161925"/>
            <a:chOff x="566738" y="6597491"/>
            <a:chExt cx="11058524" cy="161925"/>
          </a:xfrm>
        </p:grpSpPr>
        <p:sp>
          <p:nvSpPr>
            <p:cNvPr id="44" name="TextBox 44"/>
            <p:cNvSpPr txBox="1"/>
            <p:nvPr/>
          </p:nvSpPr>
          <p:spPr>
            <a:xfrm>
              <a:off x="566738" y="6597491"/>
              <a:ext cx="1716117" cy="161925"/>
            </a:xfrm>
            <a:prstGeom prst="rect">
              <a:avLst/>
            </a:prstGeom>
            <a:noFill/>
            <a:ln>
              <a:noFill/>
            </a:ln>
          </p:spPr>
          <p:txBody>
            <a:bodyPr wrap="none" lIns="0" tIns="0" rIns="0" bIns="0" anchor="t" anchorCtr="0">
              <a:spAutoFit/>
            </a:bodyPr>
            <a:lstStyle/>
            <a:p>
              <a:pPr algn="l"/>
              <a:r>
                <a:rPr lang="en-US" sz="820" dirty="0">
                  <a:solidFill>
                    <a:schemeClr val="accent5"/>
                  </a:solidFill>
                  <a:latin typeface="+mn-lt"/>
                  <a:ea typeface="+mn-ea"/>
                  <a:cs typeface="+mn-cs"/>
                </a:rPr>
                <a:t>DeLVM · ICML 2024 — motivation</a:t>
              </a:r>
            </a:p>
          </p:txBody>
        </p:sp>
        <p:sp>
          <p:nvSpPr>
            <p:cNvPr id="45" name="TextBox 45"/>
            <p:cNvSpPr txBox="1"/>
            <p:nvPr/>
          </p:nvSpPr>
          <p:spPr>
            <a:xfrm>
              <a:off x="11494310" y="6597491"/>
              <a:ext cx="130952" cy="161925"/>
            </a:xfrm>
            <a:prstGeom prst="rect">
              <a:avLst/>
            </a:prstGeom>
            <a:noFill/>
            <a:ln>
              <a:noFill/>
            </a:ln>
          </p:spPr>
          <p:txBody>
            <a:bodyPr wrap="none" lIns="0" tIns="0" rIns="0" bIns="0" anchor="t" anchorCtr="0">
              <a:spAutoFit/>
            </a:bodyPr>
            <a:lstStyle/>
            <a:p>
              <a:pPr algn="r"/>
              <a:r>
                <a:rPr lang="en-US" sz="820" dirty="0">
                  <a:solidFill>
                    <a:schemeClr val="accent5"/>
                  </a:solidFill>
                  <a:latin typeface="+mn-lt"/>
                  <a:ea typeface="+mn-ea"/>
                  <a:cs typeface="+mn-cs"/>
                </a:rPr>
                <a:t>03</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495300"/>
            <a:ext cx="6334582" cy="675989"/>
            <a:chOff x="571500" y="495300"/>
            <a:chExt cx="6334582" cy="675989"/>
          </a:xfrm>
        </p:grpSpPr>
        <p:sp>
          <p:nvSpPr>
            <p:cNvPr id="2" name="Rectangle 2"/>
            <p:cNvSpPr/>
            <p:nvPr/>
          </p:nvSpPr>
          <p:spPr>
            <a:xfrm>
              <a:off x="571500" y="495300"/>
              <a:ext cx="57150" cy="400050"/>
            </a:xfrm>
            <a:prstGeom prst="rect">
              <a:avLst/>
            </a:prstGeom>
            <a:solidFill>
              <a:schemeClr val="accent2"/>
            </a:solidFill>
            <a:ln>
              <a:noFill/>
            </a:ln>
          </p:spPr>
        </p:sp>
        <p:sp>
          <p:nvSpPr>
            <p:cNvPr id="3" name="TextBox 3"/>
            <p:cNvSpPr txBox="1"/>
            <p:nvPr/>
          </p:nvSpPr>
          <p:spPr>
            <a:xfrm>
              <a:off x="787146" y="543878"/>
              <a:ext cx="3764109"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Three contributions</a:t>
              </a:r>
            </a:p>
          </p:txBody>
        </p:sp>
        <p:sp>
          <p:nvSpPr>
            <p:cNvPr id="4" name="TextBox 4"/>
            <p:cNvSpPr txBox="1"/>
            <p:nvPr/>
          </p:nvSpPr>
          <p:spPr>
            <a:xfrm>
              <a:off x="795147" y="980599"/>
              <a:ext cx="6110935"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CONTRIBUTION · AUGMENTATION + FIRST-EVER KD + A PRACTICAL 80M MODEL</a:t>
              </a:r>
            </a:p>
          </p:txBody>
        </p:sp>
      </p:grpSp>
      <p:grpSp>
        <p:nvGrpSpPr>
          <p:cNvPr id="10" name="Group 10"/>
          <p:cNvGrpSpPr/>
          <p:nvPr/>
        </p:nvGrpSpPr>
        <p:grpSpPr>
          <a:xfrm>
            <a:off x="571500" y="1333500"/>
            <a:ext cx="11049000" cy="2228850"/>
            <a:chOff x="571500" y="1333500"/>
            <a:chExt cx="11049000" cy="2228850"/>
          </a:xfrm>
        </p:grpSpPr>
        <p:sp>
          <p:nvSpPr>
            <p:cNvPr id="6" name="Rectangle 6"/>
            <p:cNvSpPr/>
            <p:nvPr/>
          </p:nvSpPr>
          <p:spPr>
            <a:xfrm>
              <a:off x="571500" y="1333500"/>
              <a:ext cx="11049000" cy="2228850"/>
            </a:xfrm>
            <a:prstGeom prst="roundRect">
              <a:avLst>
                <a:gd name="adj" fmla="val 5128"/>
              </a:avLst>
            </a:prstGeom>
            <a:solidFill>
              <a:schemeClr val="lt2"/>
            </a:solidFill>
            <a:ln>
              <a:noFill/>
            </a:ln>
          </p:spPr>
        </p:sp>
        <p:sp>
          <p:nvSpPr>
            <p:cNvPr id="7" name="TextBox 7"/>
            <p:cNvSpPr txBox="1"/>
            <p:nvPr/>
          </p:nvSpPr>
          <p:spPr>
            <a:xfrm>
              <a:off x="833247" y="1533049"/>
              <a:ext cx="4238260"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FRAMEWORK OVERVIEW — THREE MAIN CONTRIBUTIONS</a:t>
              </a:r>
            </a:p>
          </p:txBody>
        </p:sp>
        <p:pic>
          <p:nvPicPr>
            <p:cNvPr id="8" name="Image 8"/>
            <p:cNvPicPr>
              <a:picLocks noChangeAspect="1"/>
            </p:cNvPicPr>
            <p:nvPr/>
          </p:nvPicPr>
          <p:blipFill>
            <a:blip r:embed="rId2"/>
            <a:stretch>
              <a:fillRect/>
            </a:stretch>
          </p:blipFill>
          <p:spPr>
            <a:xfrm>
              <a:off x="3946911" y="1752600"/>
              <a:ext cx="4298178" cy="1504950"/>
            </a:xfrm>
            <a:prstGeom prst="rect">
              <a:avLst/>
            </a:prstGeom>
          </p:spPr>
        </p:pic>
        <p:sp>
          <p:nvSpPr>
            <p:cNvPr id="9" name="TextBox 9"/>
            <p:cNvSpPr txBox="1"/>
            <p:nvPr/>
          </p:nvSpPr>
          <p:spPr>
            <a:xfrm>
              <a:off x="2622447" y="3350895"/>
              <a:ext cx="6947105" cy="176212"/>
            </a:xfrm>
            <a:prstGeom prst="rect">
              <a:avLst/>
            </a:prstGeom>
            <a:noFill/>
            <a:ln>
              <a:noFill/>
            </a:ln>
          </p:spPr>
          <p:txBody>
            <a:bodyPr wrap="none" lIns="0" tIns="0" rIns="0" bIns="0" anchor="t" anchorCtr="0">
              <a:spAutoFit/>
            </a:bodyPr>
            <a:lstStyle/>
            <a:p>
              <a:pPr algn="ctr"/>
              <a:r>
                <a:rPr lang="en-US" sz="900" i="1" dirty="0">
                  <a:solidFill>
                    <a:schemeClr val="dk2"/>
                  </a:solidFill>
                  <a:latin typeface="+mn-lt"/>
                  <a:ea typeface="+mn-ea"/>
                  <a:cs typeface="+mn-cs"/>
                </a:rPr>
                <a:t>Figure 1 · Autoregressive LVM encodes images to a 1D sequence, made data-efficient via augmentation + distillation.</a:t>
              </a:r>
            </a:p>
          </p:txBody>
        </p:sp>
      </p:grpSp>
      <p:grpSp>
        <p:nvGrpSpPr>
          <p:cNvPr id="23" name="Group 23"/>
          <p:cNvGrpSpPr/>
          <p:nvPr/>
        </p:nvGrpSpPr>
        <p:grpSpPr>
          <a:xfrm>
            <a:off x="571500" y="3714750"/>
            <a:ext cx="3429000" cy="2514600"/>
            <a:chOff x="571500" y="3714750"/>
            <a:chExt cx="3429000" cy="2514600"/>
          </a:xfrm>
        </p:grpSpPr>
        <p:sp>
          <p:nvSpPr>
            <p:cNvPr id="11" name="Rectangle 11"/>
            <p:cNvSpPr/>
            <p:nvPr/>
          </p:nvSpPr>
          <p:spPr>
            <a:xfrm>
              <a:off x="571500" y="3714750"/>
              <a:ext cx="3429000" cy="2514600"/>
            </a:xfrm>
            <a:prstGeom prst="roundRect">
              <a:avLst>
                <a:gd name="adj" fmla="val 4545"/>
              </a:avLst>
            </a:prstGeom>
            <a:solidFill>
              <a:schemeClr val="lt1"/>
            </a:solidFill>
            <a:ln w="14288">
              <a:solidFill>
                <a:schemeClr val="accent4"/>
              </a:solidFill>
            </a:ln>
          </p:spPr>
        </p:sp>
        <p:sp>
          <p:nvSpPr>
            <p:cNvPr id="12" name="Rectangle 12"/>
            <p:cNvSpPr/>
            <p:nvPr/>
          </p:nvSpPr>
          <p:spPr>
            <a:xfrm>
              <a:off x="571500" y="3714750"/>
              <a:ext cx="3429000" cy="76200"/>
            </a:xfrm>
            <a:prstGeom prst="roundRect">
              <a:avLst>
                <a:gd name="adj" fmla="val 50000"/>
              </a:avLst>
            </a:prstGeom>
            <a:solidFill>
              <a:schemeClr val="accent2"/>
            </a:solidFill>
            <a:ln>
              <a:noFill/>
            </a:ln>
          </p:spPr>
        </p:sp>
        <p:sp>
          <p:nvSpPr>
            <p:cNvPr id="13" name="Ellipse 13"/>
            <p:cNvSpPr/>
            <p:nvPr/>
          </p:nvSpPr>
          <p:spPr>
            <a:xfrm>
              <a:off x="762000" y="4000500"/>
              <a:ext cx="342900" cy="342900"/>
            </a:xfrm>
            <a:prstGeom prst="ellipse">
              <a:avLst/>
            </a:prstGeom>
            <a:solidFill>
              <a:schemeClr val="accent2"/>
            </a:solidFill>
            <a:ln>
              <a:noFill/>
            </a:ln>
          </p:spPr>
        </p:sp>
        <p:sp>
          <p:nvSpPr>
            <p:cNvPr id="14" name="TextBox 14"/>
            <p:cNvSpPr txBox="1"/>
            <p:nvPr/>
          </p:nvSpPr>
          <p:spPr>
            <a:xfrm>
              <a:off x="871145" y="4092892"/>
              <a:ext cx="124610"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1</a:t>
              </a:r>
            </a:p>
          </p:txBody>
        </p:sp>
        <p:sp>
          <p:nvSpPr>
            <p:cNvPr id="15" name="TextBox 15"/>
            <p:cNvSpPr txBox="1"/>
            <p:nvPr/>
          </p:nvSpPr>
          <p:spPr>
            <a:xfrm>
              <a:off x="1229868" y="4060508"/>
              <a:ext cx="1659709"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j-lt"/>
                  <a:ea typeface="+mj-ea"/>
                  <a:cs typeface="+mj-cs"/>
                </a:rPr>
                <a:t>Augmentation</a:t>
              </a:r>
            </a:p>
          </p:txBody>
        </p:sp>
        <p:sp>
          <p:nvSpPr>
            <p:cNvPr id="16" name="TextBox 16"/>
            <p:cNvSpPr txBox="1"/>
            <p:nvPr/>
          </p:nvSpPr>
          <p:spPr>
            <a:xfrm>
              <a:off x="832104" y="4499610"/>
              <a:ext cx="2157918"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Simple random crop and flip</a:t>
              </a:r>
            </a:p>
          </p:txBody>
        </p:sp>
        <p:sp>
          <p:nvSpPr>
            <p:cNvPr id="17" name="TextBox 17"/>
            <p:cNvSpPr txBox="1"/>
            <p:nvPr/>
          </p:nvSpPr>
          <p:spPr>
            <a:xfrm>
              <a:off x="832104" y="4728210"/>
              <a:ext cx="2564587"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rebalance long-tailed multi-task</a:t>
              </a:r>
            </a:p>
          </p:txBody>
        </p:sp>
        <p:sp>
          <p:nvSpPr>
            <p:cNvPr id="18" name="TextBox 18"/>
            <p:cNvSpPr txBox="1"/>
            <p:nvPr/>
          </p:nvSpPr>
          <p:spPr>
            <a:xfrm>
              <a:off x="832104" y="4956810"/>
              <a:ext cx="2467661"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data — improving the model just</a:t>
              </a:r>
            </a:p>
          </p:txBody>
        </p:sp>
        <p:sp>
          <p:nvSpPr>
            <p:cNvPr id="19" name="TextBox 19"/>
            <p:cNvSpPr txBox="1"/>
            <p:nvPr/>
          </p:nvSpPr>
          <p:spPr>
            <a:xfrm>
              <a:off x="832104" y="5185410"/>
              <a:ext cx="2613050"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as effectively as collecting more</a:t>
              </a:r>
            </a:p>
          </p:txBody>
        </p:sp>
        <p:sp>
          <p:nvSpPr>
            <p:cNvPr id="20" name="TextBox 20"/>
            <p:cNvSpPr txBox="1"/>
            <p:nvPr/>
          </p:nvSpPr>
          <p:spPr>
            <a:xfrm>
              <a:off x="832104" y="5414010"/>
              <a:ext cx="1078382"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real samples.</a:t>
              </a:r>
            </a:p>
          </p:txBody>
        </p:sp>
        <p:sp>
          <p:nvSpPr>
            <p:cNvPr id="21" name="Rectangle 21"/>
            <p:cNvSpPr/>
            <p:nvPr/>
          </p:nvSpPr>
          <p:spPr>
            <a:xfrm>
              <a:off x="838200" y="5772150"/>
              <a:ext cx="2895600" cy="285750"/>
            </a:xfrm>
            <a:prstGeom prst="roundRect">
              <a:avLst>
                <a:gd name="adj" fmla="val 20000"/>
              </a:avLst>
            </a:prstGeom>
            <a:solidFill>
              <a:schemeClr val="accent6"/>
            </a:solidFill>
            <a:ln>
              <a:noFill/>
            </a:ln>
          </p:spPr>
        </p:sp>
        <p:sp>
          <p:nvSpPr>
            <p:cNvPr id="22" name="TextBox 22"/>
            <p:cNvSpPr txBox="1"/>
            <p:nvPr/>
          </p:nvSpPr>
          <p:spPr>
            <a:xfrm>
              <a:off x="985266" y="5849302"/>
              <a:ext cx="2088528" cy="205359"/>
            </a:xfrm>
            <a:prstGeom prst="rect">
              <a:avLst/>
            </a:prstGeom>
            <a:noFill/>
            <a:ln>
              <a:noFill/>
            </a:ln>
          </p:spPr>
          <p:txBody>
            <a:bodyPr wrap="none" lIns="0" tIns="0" rIns="0" bIns="0" anchor="t" anchorCtr="0">
              <a:spAutoFit/>
            </a:bodyPr>
            <a:lstStyle/>
            <a:p>
              <a:pPr algn="l"/>
              <a:r>
                <a:rPr lang="en-US" sz="1050" b="1" dirty="0">
                  <a:solidFill>
                    <a:schemeClr val="accent2"/>
                  </a:solidFill>
                  <a:latin typeface="+mn-lt"/>
                  <a:ea typeface="+mn-ea"/>
                  <a:cs typeface="+mn-cs"/>
                </a:rPr>
                <a:t>crop + flip ≈ adding real data</a:t>
              </a:r>
            </a:p>
          </p:txBody>
        </p:sp>
      </p:grpSp>
      <p:grpSp>
        <p:nvGrpSpPr>
          <p:cNvPr id="39" name="Group 39"/>
          <p:cNvGrpSpPr/>
          <p:nvPr/>
        </p:nvGrpSpPr>
        <p:grpSpPr>
          <a:xfrm>
            <a:off x="4305300" y="3714750"/>
            <a:ext cx="3429000" cy="2514600"/>
            <a:chOff x="4305300" y="3714750"/>
            <a:chExt cx="3429000" cy="2514600"/>
          </a:xfrm>
        </p:grpSpPr>
        <p:sp>
          <p:nvSpPr>
            <p:cNvPr id="24" name="Rectangle 24"/>
            <p:cNvSpPr/>
            <p:nvPr/>
          </p:nvSpPr>
          <p:spPr>
            <a:xfrm>
              <a:off x="4305300" y="3714750"/>
              <a:ext cx="3429000" cy="2514600"/>
            </a:xfrm>
            <a:prstGeom prst="roundRect">
              <a:avLst>
                <a:gd name="adj" fmla="val 4545"/>
              </a:avLst>
            </a:prstGeom>
            <a:solidFill>
              <a:schemeClr val="lt1"/>
            </a:solidFill>
            <a:ln w="14288">
              <a:solidFill>
                <a:schemeClr val="accent4"/>
              </a:solidFill>
            </a:ln>
          </p:spPr>
        </p:sp>
        <p:sp>
          <p:nvSpPr>
            <p:cNvPr id="25" name="Rectangle 25"/>
            <p:cNvSpPr/>
            <p:nvPr/>
          </p:nvSpPr>
          <p:spPr>
            <a:xfrm>
              <a:off x="4305300" y="3714750"/>
              <a:ext cx="3429000" cy="76200"/>
            </a:xfrm>
            <a:prstGeom prst="roundRect">
              <a:avLst>
                <a:gd name="adj" fmla="val 50000"/>
              </a:avLst>
            </a:prstGeom>
            <a:solidFill>
              <a:schemeClr val="accent3"/>
            </a:solidFill>
            <a:ln>
              <a:noFill/>
            </a:ln>
          </p:spPr>
        </p:sp>
        <p:sp>
          <p:nvSpPr>
            <p:cNvPr id="26" name="Ellipse 26"/>
            <p:cNvSpPr/>
            <p:nvPr/>
          </p:nvSpPr>
          <p:spPr>
            <a:xfrm>
              <a:off x="4495800" y="4000500"/>
              <a:ext cx="342900" cy="342900"/>
            </a:xfrm>
            <a:prstGeom prst="ellipse">
              <a:avLst/>
            </a:prstGeom>
            <a:solidFill>
              <a:schemeClr val="accent3"/>
            </a:solidFill>
            <a:ln>
              <a:noFill/>
            </a:ln>
          </p:spPr>
        </p:sp>
        <p:sp>
          <p:nvSpPr>
            <p:cNvPr id="27" name="TextBox 27"/>
            <p:cNvSpPr txBox="1"/>
            <p:nvPr/>
          </p:nvSpPr>
          <p:spPr>
            <a:xfrm>
              <a:off x="4604945" y="4092892"/>
              <a:ext cx="124610"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2</a:t>
              </a:r>
            </a:p>
          </p:txBody>
        </p:sp>
        <p:sp>
          <p:nvSpPr>
            <p:cNvPr id="28" name="TextBox 28"/>
            <p:cNvSpPr txBox="1"/>
            <p:nvPr/>
          </p:nvSpPr>
          <p:spPr>
            <a:xfrm>
              <a:off x="4963668" y="4060508"/>
              <a:ext cx="1751301"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j-lt"/>
                  <a:ea typeface="+mj-ea"/>
                  <a:cs typeface="+mj-cs"/>
                </a:rPr>
                <a:t>First-ever KD</a:t>
              </a:r>
            </a:p>
          </p:txBody>
        </p:sp>
        <p:sp>
          <p:nvSpPr>
            <p:cNvPr id="29" name="TextBox 29"/>
            <p:cNvSpPr txBox="1"/>
            <p:nvPr/>
          </p:nvSpPr>
          <p:spPr>
            <a:xfrm>
              <a:off x="4565904" y="4499610"/>
              <a:ext cx="2272319"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Knowledge distillation for AR</a:t>
              </a:r>
            </a:p>
          </p:txBody>
        </p:sp>
        <p:sp>
          <p:nvSpPr>
            <p:cNvPr id="30" name="TextBox 30"/>
            <p:cNvSpPr txBox="1"/>
            <p:nvPr/>
          </p:nvSpPr>
          <p:spPr>
            <a:xfrm>
              <a:off x="4565904" y="4728210"/>
              <a:ext cx="2524201"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large vision models for the very</a:t>
              </a:r>
            </a:p>
          </p:txBody>
        </p:sp>
        <p:sp>
          <p:nvSpPr>
            <p:cNvPr id="31" name="TextBox 31"/>
            <p:cNvSpPr txBox="1"/>
            <p:nvPr/>
          </p:nvSpPr>
          <p:spPr>
            <a:xfrm>
              <a:off x="4565904" y="4956810"/>
              <a:ext cx="2709977"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first time — lifting the student on</a:t>
              </a:r>
            </a:p>
          </p:txBody>
        </p:sp>
        <p:sp>
          <p:nvSpPr>
            <p:cNvPr id="32" name="TextBox 32"/>
            <p:cNvSpPr txBox="1"/>
            <p:nvPr/>
          </p:nvSpPr>
          <p:spPr>
            <a:xfrm>
              <a:off x="4565904" y="5185410"/>
              <a:ext cx="2814980"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single- and multi-task benchmarks.</a:t>
              </a:r>
            </a:p>
          </p:txBody>
        </p:sp>
        <p:grpSp>
          <p:nvGrpSpPr>
            <p:cNvPr id="38" name="Group 38"/>
            <p:cNvGrpSpPr/>
            <p:nvPr/>
          </p:nvGrpSpPr>
          <p:grpSpPr>
            <a:xfrm>
              <a:off x="4572000" y="5772150"/>
              <a:ext cx="2628900" cy="295656"/>
              <a:chOff x="4572000" y="5772150"/>
              <a:chExt cx="2628900" cy="295656"/>
            </a:xfrm>
          </p:grpSpPr>
          <p:sp>
            <p:nvSpPr>
              <p:cNvPr id="33" name="Rectangle 33"/>
              <p:cNvSpPr/>
              <p:nvPr/>
            </p:nvSpPr>
            <p:spPr>
              <a:xfrm>
                <a:off x="4572000" y="5772150"/>
                <a:ext cx="1143000" cy="285750"/>
              </a:xfrm>
              <a:prstGeom prst="roundRect">
                <a:avLst>
                  <a:gd name="adj" fmla="val 20000"/>
                </a:avLst>
              </a:prstGeom>
              <a:solidFill>
                <a:schemeClr val="accent1"/>
              </a:solidFill>
              <a:ln>
                <a:noFill/>
              </a:ln>
            </p:spPr>
          </p:sp>
          <p:sp>
            <p:nvSpPr>
              <p:cNvPr id="34" name="TextBox 34"/>
              <p:cNvSpPr txBox="1"/>
              <p:nvPr/>
            </p:nvSpPr>
            <p:spPr>
              <a:xfrm>
                <a:off x="4780701" y="5849302"/>
                <a:ext cx="725597"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LLaMA-1B</a:t>
                </a:r>
              </a:p>
            </p:txBody>
          </p:sp>
          <p:sp>
            <p:nvSpPr>
              <p:cNvPr id="35" name="TextBox 35"/>
              <p:cNvSpPr txBox="1"/>
              <p:nvPr/>
            </p:nvSpPr>
            <p:spPr>
              <a:xfrm>
                <a:off x="5842254" y="5833110"/>
                <a:ext cx="105484" cy="234696"/>
              </a:xfrm>
              <a:prstGeom prst="rect">
                <a:avLst/>
              </a:prstGeom>
              <a:noFill/>
              <a:ln>
                <a:noFill/>
              </a:ln>
            </p:spPr>
            <p:txBody>
              <a:bodyPr wrap="none" lIns="0" tIns="0" rIns="0" bIns="0" anchor="t" anchorCtr="0">
                <a:spAutoFit/>
              </a:bodyPr>
              <a:lstStyle/>
              <a:p>
                <a:pPr algn="l"/>
                <a:r>
                  <a:rPr lang="en-US" sz="1200" b="1" dirty="0">
                    <a:solidFill>
                      <a:schemeClr val="accent3"/>
                    </a:solidFill>
                    <a:latin typeface="+mn-lt"/>
                    <a:ea typeface="+mn-ea"/>
                    <a:cs typeface="+mn-cs"/>
                  </a:rPr>
                  <a:t>→</a:t>
                </a:r>
              </a:p>
            </p:txBody>
          </p:sp>
          <p:sp>
            <p:nvSpPr>
              <p:cNvPr id="36" name="Rectangle 36"/>
              <p:cNvSpPr/>
              <p:nvPr/>
            </p:nvSpPr>
            <p:spPr>
              <a:xfrm>
                <a:off x="6057900" y="5772150"/>
                <a:ext cx="1143000" cy="285750"/>
              </a:xfrm>
              <a:prstGeom prst="roundRect">
                <a:avLst>
                  <a:gd name="adj" fmla="val 20000"/>
                </a:avLst>
              </a:prstGeom>
              <a:solidFill>
                <a:srgbClr val="E4F6F5"/>
              </a:solidFill>
              <a:ln w="14288">
                <a:solidFill>
                  <a:schemeClr val="accent3"/>
                </a:solidFill>
              </a:ln>
            </p:spPr>
          </p:sp>
          <p:sp>
            <p:nvSpPr>
              <p:cNvPr id="37" name="TextBox 37"/>
              <p:cNvSpPr txBox="1"/>
              <p:nvPr/>
            </p:nvSpPr>
            <p:spPr>
              <a:xfrm>
                <a:off x="6435882" y="5849302"/>
                <a:ext cx="387035" cy="205359"/>
              </a:xfrm>
              <a:prstGeom prst="rect">
                <a:avLst/>
              </a:prstGeom>
              <a:noFill/>
              <a:ln>
                <a:noFill/>
              </a:ln>
            </p:spPr>
            <p:txBody>
              <a:bodyPr wrap="none" lIns="0" tIns="0" rIns="0" bIns="0" anchor="t" anchorCtr="0">
                <a:spAutoFit/>
              </a:bodyPr>
              <a:lstStyle/>
              <a:p>
                <a:pPr algn="ctr"/>
                <a:r>
                  <a:rPr lang="en-US" sz="1050" b="1" dirty="0">
                    <a:solidFill>
                      <a:schemeClr val="accent3"/>
                    </a:solidFill>
                    <a:latin typeface="+mn-lt"/>
                    <a:ea typeface="+mn-ea"/>
                    <a:cs typeface="+mn-cs"/>
                  </a:rPr>
                  <a:t>300M</a:t>
                </a:r>
              </a:p>
            </p:txBody>
          </p:sp>
        </p:grpSp>
      </p:grpSp>
      <p:grpSp>
        <p:nvGrpSpPr>
          <p:cNvPr id="52" name="Group 52"/>
          <p:cNvGrpSpPr/>
          <p:nvPr/>
        </p:nvGrpSpPr>
        <p:grpSpPr>
          <a:xfrm>
            <a:off x="8039100" y="3714750"/>
            <a:ext cx="3581400" cy="2514600"/>
            <a:chOff x="8039100" y="3714750"/>
            <a:chExt cx="3581400" cy="2514600"/>
          </a:xfrm>
        </p:grpSpPr>
        <p:sp>
          <p:nvSpPr>
            <p:cNvPr id="40" name="Rectangle 40"/>
            <p:cNvSpPr/>
            <p:nvPr/>
          </p:nvSpPr>
          <p:spPr>
            <a:xfrm>
              <a:off x="8039100" y="3714750"/>
              <a:ext cx="3581400" cy="2514600"/>
            </a:xfrm>
            <a:prstGeom prst="roundRect">
              <a:avLst>
                <a:gd name="adj" fmla="val 4545"/>
              </a:avLst>
            </a:prstGeom>
            <a:solidFill>
              <a:schemeClr val="accent1"/>
            </a:solidFill>
            <a:ln>
              <a:noFill/>
            </a:ln>
          </p:spPr>
        </p:sp>
        <p:sp>
          <p:nvSpPr>
            <p:cNvPr id="41" name="Rectangle 41"/>
            <p:cNvSpPr/>
            <p:nvPr/>
          </p:nvSpPr>
          <p:spPr>
            <a:xfrm>
              <a:off x="8039100" y="3714750"/>
              <a:ext cx="3581400" cy="76200"/>
            </a:xfrm>
            <a:prstGeom prst="roundRect">
              <a:avLst>
                <a:gd name="adj" fmla="val 50000"/>
              </a:avLst>
            </a:prstGeom>
            <a:solidFill>
              <a:schemeClr val="accent2"/>
            </a:solidFill>
            <a:ln>
              <a:noFill/>
            </a:ln>
          </p:spPr>
        </p:sp>
        <p:sp>
          <p:nvSpPr>
            <p:cNvPr id="42" name="Ellipse 42"/>
            <p:cNvSpPr/>
            <p:nvPr/>
          </p:nvSpPr>
          <p:spPr>
            <a:xfrm>
              <a:off x="8229600" y="4000500"/>
              <a:ext cx="342900" cy="342900"/>
            </a:xfrm>
            <a:prstGeom prst="ellipse">
              <a:avLst/>
            </a:prstGeom>
            <a:solidFill>
              <a:schemeClr val="accent2"/>
            </a:solidFill>
            <a:ln>
              <a:noFill/>
            </a:ln>
          </p:spPr>
        </p:sp>
        <p:sp>
          <p:nvSpPr>
            <p:cNvPr id="43" name="TextBox 43"/>
            <p:cNvSpPr txBox="1"/>
            <p:nvPr/>
          </p:nvSpPr>
          <p:spPr>
            <a:xfrm>
              <a:off x="8338745" y="4092892"/>
              <a:ext cx="124610"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3</a:t>
              </a:r>
            </a:p>
          </p:txBody>
        </p:sp>
        <p:sp>
          <p:nvSpPr>
            <p:cNvPr id="44" name="TextBox 44"/>
            <p:cNvSpPr txBox="1"/>
            <p:nvPr/>
          </p:nvSpPr>
          <p:spPr>
            <a:xfrm>
              <a:off x="8697468" y="4060508"/>
              <a:ext cx="1712912" cy="322707"/>
            </a:xfrm>
            <a:prstGeom prst="rect">
              <a:avLst/>
            </a:prstGeom>
            <a:noFill/>
            <a:ln>
              <a:noFill/>
            </a:ln>
          </p:spPr>
          <p:txBody>
            <a:bodyPr wrap="none" lIns="0" tIns="0" rIns="0" bIns="0" anchor="t" anchorCtr="0">
              <a:spAutoFit/>
            </a:bodyPr>
            <a:lstStyle/>
            <a:p>
              <a:pPr algn="l"/>
              <a:r>
                <a:rPr lang="en-US" sz="1650" b="1" dirty="0">
                  <a:solidFill>
                    <a:srgbClr val="FFFFFF"/>
                  </a:solidFill>
                  <a:latin typeface="+mj-lt"/>
                  <a:ea typeface="+mj-ea"/>
                  <a:cs typeface="+mj-cs"/>
                </a:rPr>
                <a:t>Practical 80M</a:t>
              </a:r>
            </a:p>
          </p:txBody>
        </p:sp>
        <p:sp>
          <p:nvSpPr>
            <p:cNvPr id="45" name="TextBox 45"/>
            <p:cNvSpPr txBox="1"/>
            <p:nvPr/>
          </p:nvSpPr>
          <p:spPr>
            <a:xfrm>
              <a:off x="8290560" y="4552950"/>
              <a:ext cx="859384" cy="586740"/>
            </a:xfrm>
            <a:prstGeom prst="rect">
              <a:avLst/>
            </a:prstGeom>
            <a:noFill/>
            <a:ln>
              <a:noFill/>
            </a:ln>
          </p:spPr>
          <p:txBody>
            <a:bodyPr wrap="none" lIns="0" tIns="0" rIns="0" bIns="0" anchor="t" anchorCtr="0">
              <a:spAutoFit/>
            </a:bodyPr>
            <a:lstStyle/>
            <a:p>
              <a:pPr algn="l"/>
              <a:r>
                <a:rPr lang="en-US" sz="3000" b="1" dirty="0">
                  <a:solidFill>
                    <a:srgbClr val="FFFFFF"/>
                  </a:solidFill>
                  <a:latin typeface="+mj-lt"/>
                  <a:ea typeface="+mj-ea"/>
                  <a:cs typeface="+mj-cs"/>
                </a:rPr>
                <a:t>83%</a:t>
              </a:r>
            </a:p>
          </p:txBody>
        </p:sp>
        <p:sp>
          <p:nvSpPr>
            <p:cNvPr id="46" name="TextBox 46"/>
            <p:cNvSpPr txBox="1"/>
            <p:nvPr/>
          </p:nvSpPr>
          <p:spPr>
            <a:xfrm>
              <a:off x="9614535" y="4641056"/>
              <a:ext cx="676580" cy="220028"/>
            </a:xfrm>
            <a:prstGeom prst="rect">
              <a:avLst/>
            </a:prstGeom>
            <a:noFill/>
            <a:ln>
              <a:noFill/>
            </a:ln>
          </p:spPr>
          <p:txBody>
            <a:bodyPr wrap="none" lIns="0" tIns="0" rIns="0" bIns="0" anchor="t" anchorCtr="0">
              <a:spAutoFit/>
            </a:bodyPr>
            <a:lstStyle/>
            <a:p>
              <a:pPr algn="l"/>
              <a:r>
                <a:rPr lang="en-US" sz="1120" dirty="0">
                  <a:solidFill>
                    <a:srgbClr val="EAF1FE"/>
                  </a:solidFill>
                  <a:latin typeface="+mn-lt"/>
                  <a:ea typeface="+mn-ea"/>
                  <a:cs typeface="+mn-cs"/>
                </a:rPr>
                <a:t>ImageNet</a:t>
              </a:r>
            </a:p>
          </p:txBody>
        </p:sp>
        <p:sp>
          <p:nvSpPr>
            <p:cNvPr id="47" name="TextBox 47"/>
            <p:cNvSpPr txBox="1"/>
            <p:nvPr/>
          </p:nvSpPr>
          <p:spPr>
            <a:xfrm>
              <a:off x="9614535" y="4831556"/>
              <a:ext cx="1134699" cy="220028"/>
            </a:xfrm>
            <a:prstGeom prst="rect">
              <a:avLst/>
            </a:prstGeom>
            <a:noFill/>
            <a:ln>
              <a:noFill/>
            </a:ln>
          </p:spPr>
          <p:txBody>
            <a:bodyPr wrap="none" lIns="0" tIns="0" rIns="0" bIns="0" anchor="t" anchorCtr="0">
              <a:spAutoFit/>
            </a:bodyPr>
            <a:lstStyle/>
            <a:p>
              <a:pPr algn="l"/>
              <a:r>
                <a:rPr lang="en-US" sz="1120" dirty="0">
                  <a:solidFill>
                    <a:srgbClr val="EAF1FE"/>
                  </a:solidFill>
                  <a:latin typeface="+mn-lt"/>
                  <a:ea typeface="+mn-ea"/>
                  <a:cs typeface="+mn-cs"/>
                </a:rPr>
                <a:t>top-1 accuracy</a:t>
              </a:r>
            </a:p>
          </p:txBody>
        </p:sp>
        <p:sp>
          <p:nvSpPr>
            <p:cNvPr id="48" name="TextBox 48"/>
            <p:cNvSpPr txBox="1"/>
            <p:nvPr/>
          </p:nvSpPr>
          <p:spPr>
            <a:xfrm>
              <a:off x="8300085" y="5174456"/>
              <a:ext cx="2088175" cy="220028"/>
            </a:xfrm>
            <a:prstGeom prst="rect">
              <a:avLst/>
            </a:prstGeom>
            <a:noFill/>
            <a:ln>
              <a:noFill/>
            </a:ln>
          </p:spPr>
          <p:txBody>
            <a:bodyPr wrap="none" lIns="0" tIns="0" rIns="0" bIns="0" anchor="t" anchorCtr="0">
              <a:spAutoFit/>
            </a:bodyPr>
            <a:lstStyle/>
            <a:p>
              <a:pPr algn="l"/>
              <a:r>
                <a:rPr lang="en-US" sz="1120" dirty="0">
                  <a:solidFill>
                    <a:srgbClr val="C7D2E6"/>
                  </a:solidFill>
                  <a:latin typeface="+mn-lt"/>
                  <a:ea typeface="+mn-ea"/>
                  <a:cs typeface="+mn-cs"/>
                </a:rPr>
                <a:t>An 80M model combining both</a:t>
              </a:r>
            </a:p>
          </p:txBody>
        </p:sp>
        <p:sp>
          <p:nvSpPr>
            <p:cNvPr id="49" name="TextBox 49"/>
            <p:cNvSpPr txBox="1"/>
            <p:nvPr/>
          </p:nvSpPr>
          <p:spPr>
            <a:xfrm>
              <a:off x="8300085" y="5384006"/>
              <a:ext cx="2318278" cy="220028"/>
            </a:xfrm>
            <a:prstGeom prst="rect">
              <a:avLst/>
            </a:prstGeom>
            <a:noFill/>
            <a:ln>
              <a:noFill/>
            </a:ln>
          </p:spPr>
          <p:txBody>
            <a:bodyPr wrap="none" lIns="0" tIns="0" rIns="0" bIns="0" anchor="t" anchorCtr="0">
              <a:spAutoFit/>
            </a:bodyPr>
            <a:lstStyle/>
            <a:p>
              <a:pPr algn="l"/>
              <a:r>
                <a:rPr lang="en-US" sz="1120" dirty="0">
                  <a:solidFill>
                    <a:srgbClr val="C7D2E6"/>
                  </a:solidFill>
                  <a:latin typeface="+mn-lt"/>
                  <a:ea typeface="+mn-ea"/>
                  <a:cs typeface="+mn-cs"/>
                </a:rPr>
                <a:t>techniques — hinting generation</a:t>
              </a:r>
            </a:p>
          </p:txBody>
        </p:sp>
        <p:sp>
          <p:nvSpPr>
            <p:cNvPr id="50" name="TextBox 50"/>
            <p:cNvSpPr txBox="1"/>
            <p:nvPr/>
          </p:nvSpPr>
          <p:spPr>
            <a:xfrm>
              <a:off x="8300085" y="5593556"/>
              <a:ext cx="1850878" cy="220028"/>
            </a:xfrm>
            <a:prstGeom prst="rect">
              <a:avLst/>
            </a:prstGeom>
            <a:noFill/>
            <a:ln>
              <a:noFill/>
            </a:ln>
          </p:spPr>
          <p:txBody>
            <a:bodyPr wrap="none" lIns="0" tIns="0" rIns="0" bIns="0" anchor="t" anchorCtr="0">
              <a:spAutoFit/>
            </a:bodyPr>
            <a:lstStyle/>
            <a:p>
              <a:pPr algn="l"/>
              <a:r>
                <a:rPr lang="en-US" sz="1120" dirty="0">
                  <a:solidFill>
                    <a:srgbClr val="C7D2E6"/>
                  </a:solidFill>
                  <a:latin typeface="+mn-lt"/>
                  <a:ea typeface="+mn-ea"/>
                  <a:cs typeface="+mn-cs"/>
                </a:rPr>
                <a:t>and understanding can be</a:t>
              </a:r>
            </a:p>
          </p:txBody>
        </p:sp>
        <p:sp>
          <p:nvSpPr>
            <p:cNvPr id="51" name="TextBox 51"/>
            <p:cNvSpPr txBox="1"/>
            <p:nvPr/>
          </p:nvSpPr>
          <p:spPr>
            <a:xfrm>
              <a:off x="8300085" y="5803106"/>
              <a:ext cx="1345783" cy="220028"/>
            </a:xfrm>
            <a:prstGeom prst="rect">
              <a:avLst/>
            </a:prstGeom>
            <a:noFill/>
            <a:ln>
              <a:noFill/>
            </a:ln>
          </p:spPr>
          <p:txBody>
            <a:bodyPr wrap="none" lIns="0" tIns="0" rIns="0" bIns="0" anchor="t" anchorCtr="0">
              <a:spAutoFit/>
            </a:bodyPr>
            <a:lstStyle/>
            <a:p>
              <a:pPr algn="l"/>
              <a:r>
                <a:rPr lang="en-US" sz="1120" dirty="0">
                  <a:solidFill>
                    <a:srgbClr val="C7D2E6"/>
                  </a:solidFill>
                  <a:latin typeface="+mn-lt"/>
                  <a:ea typeface="+mn-ea"/>
                  <a:cs typeface="+mn-cs"/>
                </a:rPr>
                <a:t>learned together.</a:t>
              </a:r>
            </a:p>
          </p:txBody>
        </p:sp>
      </p:grpSp>
      <p:grpSp>
        <p:nvGrpSpPr>
          <p:cNvPr id="55" name="Group 55"/>
          <p:cNvGrpSpPr/>
          <p:nvPr/>
        </p:nvGrpSpPr>
        <p:grpSpPr>
          <a:xfrm>
            <a:off x="566738" y="6597491"/>
            <a:ext cx="11058524" cy="161925"/>
            <a:chOff x="566738" y="6597491"/>
            <a:chExt cx="11058524" cy="161925"/>
          </a:xfrm>
        </p:grpSpPr>
        <p:sp>
          <p:nvSpPr>
            <p:cNvPr id="53" name="TextBox 53"/>
            <p:cNvSpPr txBox="1"/>
            <p:nvPr/>
          </p:nvSpPr>
          <p:spPr>
            <a:xfrm>
              <a:off x="566738" y="6597491"/>
              <a:ext cx="1874057" cy="161925"/>
            </a:xfrm>
            <a:prstGeom prst="rect">
              <a:avLst/>
            </a:prstGeom>
            <a:noFill/>
            <a:ln>
              <a:noFill/>
            </a:ln>
          </p:spPr>
          <p:txBody>
            <a:bodyPr wrap="none" lIns="0" tIns="0" rIns="0" bIns="0" anchor="t" anchorCtr="0">
              <a:spAutoFit/>
            </a:bodyPr>
            <a:lstStyle/>
            <a:p>
              <a:pPr algn="l"/>
              <a:r>
                <a:rPr lang="en-US" sz="820" dirty="0">
                  <a:solidFill>
                    <a:schemeClr val="accent5"/>
                  </a:solidFill>
                  <a:latin typeface="+mn-lt"/>
                  <a:ea typeface="+mn-ea"/>
                  <a:cs typeface="+mn-cs"/>
                </a:rPr>
                <a:t>DeLVM · ICML 2024 — contributions</a:t>
              </a:r>
            </a:p>
          </p:txBody>
        </p:sp>
        <p:sp>
          <p:nvSpPr>
            <p:cNvPr id="54" name="TextBox 54"/>
            <p:cNvSpPr txBox="1"/>
            <p:nvPr/>
          </p:nvSpPr>
          <p:spPr>
            <a:xfrm>
              <a:off x="11494310" y="6597491"/>
              <a:ext cx="130952" cy="161925"/>
            </a:xfrm>
            <a:prstGeom prst="rect">
              <a:avLst/>
            </a:prstGeom>
            <a:noFill/>
            <a:ln>
              <a:noFill/>
            </a:ln>
          </p:spPr>
          <p:txBody>
            <a:bodyPr wrap="none" lIns="0" tIns="0" rIns="0" bIns="0" anchor="t" anchorCtr="0">
              <a:spAutoFit/>
            </a:bodyPr>
            <a:lstStyle/>
            <a:p>
              <a:pPr algn="r"/>
              <a:r>
                <a:rPr lang="en-US" sz="820" dirty="0">
                  <a:solidFill>
                    <a:schemeClr val="accent5"/>
                  </a:solidFill>
                  <a:latin typeface="+mn-lt"/>
                  <a:ea typeface="+mn-ea"/>
                  <a:cs typeface="+mn-cs"/>
                </a:rPr>
                <a:t>04</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495300"/>
            <a:ext cx="7433453" cy="675989"/>
            <a:chOff x="571500" y="495300"/>
            <a:chExt cx="7433453" cy="675989"/>
          </a:xfrm>
        </p:grpSpPr>
        <p:sp>
          <p:nvSpPr>
            <p:cNvPr id="2" name="Rectangle 2"/>
            <p:cNvSpPr/>
            <p:nvPr/>
          </p:nvSpPr>
          <p:spPr>
            <a:xfrm>
              <a:off x="571500" y="495300"/>
              <a:ext cx="57150" cy="400050"/>
            </a:xfrm>
            <a:prstGeom prst="rect">
              <a:avLst/>
            </a:prstGeom>
            <a:solidFill>
              <a:schemeClr val="accent2"/>
            </a:solidFill>
            <a:ln>
              <a:noFill/>
            </a:ln>
          </p:spPr>
        </p:sp>
        <p:sp>
          <p:nvSpPr>
            <p:cNvPr id="3" name="TextBox 3"/>
            <p:cNvSpPr txBox="1"/>
            <p:nvPr/>
          </p:nvSpPr>
          <p:spPr>
            <a:xfrm>
              <a:off x="787146" y="543878"/>
              <a:ext cx="7217807"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Datasets, benchmarks &amp; the tokenizer</a:t>
              </a:r>
            </a:p>
          </p:txBody>
        </p:sp>
        <p:sp>
          <p:nvSpPr>
            <p:cNvPr id="4" name="TextBox 4"/>
            <p:cNvSpPr txBox="1"/>
            <p:nvPr/>
          </p:nvSpPr>
          <p:spPr>
            <a:xfrm>
              <a:off x="795147" y="980599"/>
              <a:ext cx="4670485"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DATASET / BENCHMARK · THREE CORE TASKS + EVALUATION</a:t>
              </a:r>
            </a:p>
          </p:txBody>
        </p:sp>
      </p:grpSp>
      <p:grpSp>
        <p:nvGrpSpPr>
          <p:cNvPr id="26" name="Group 26"/>
          <p:cNvGrpSpPr/>
          <p:nvPr/>
        </p:nvGrpSpPr>
        <p:grpSpPr>
          <a:xfrm>
            <a:off x="571500" y="1390650"/>
            <a:ext cx="11049000" cy="2000250"/>
            <a:chOff x="571500" y="1390650"/>
            <a:chExt cx="11049000" cy="2000250"/>
          </a:xfrm>
        </p:grpSpPr>
        <p:sp>
          <p:nvSpPr>
            <p:cNvPr id="6" name="Rectangle 6"/>
            <p:cNvSpPr/>
            <p:nvPr/>
          </p:nvSpPr>
          <p:spPr>
            <a:xfrm>
              <a:off x="571500" y="1390650"/>
              <a:ext cx="11049000" cy="2000250"/>
            </a:xfrm>
            <a:prstGeom prst="roundRect">
              <a:avLst>
                <a:gd name="adj" fmla="val 5714"/>
              </a:avLst>
            </a:prstGeom>
            <a:solidFill>
              <a:schemeClr val="lt2"/>
            </a:solidFill>
            <a:ln>
              <a:noFill/>
            </a:ln>
          </p:spPr>
        </p:sp>
        <p:sp>
          <p:nvSpPr>
            <p:cNvPr id="7" name="TextBox 7"/>
            <p:cNvSpPr txBox="1"/>
            <p:nvPr/>
          </p:nvSpPr>
          <p:spPr>
            <a:xfrm>
              <a:off x="833247" y="1590199"/>
              <a:ext cx="1492971"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THREE CORE TASKS</a:t>
              </a:r>
            </a:p>
          </p:txBody>
        </p:sp>
        <p:grpSp>
          <p:nvGrpSpPr>
            <p:cNvPr id="13" name="Group 13"/>
            <p:cNvGrpSpPr/>
            <p:nvPr/>
          </p:nvGrpSpPr>
          <p:grpSpPr>
            <a:xfrm>
              <a:off x="800100" y="1866900"/>
              <a:ext cx="3371850" cy="1333500"/>
              <a:chOff x="800100" y="1866900"/>
              <a:chExt cx="3371850" cy="1333500"/>
            </a:xfrm>
          </p:grpSpPr>
          <p:sp>
            <p:nvSpPr>
              <p:cNvPr id="8" name="Rectangle 8"/>
              <p:cNvSpPr/>
              <p:nvPr/>
            </p:nvSpPr>
            <p:spPr>
              <a:xfrm>
                <a:off x="800100" y="1866900"/>
                <a:ext cx="3371850" cy="1333500"/>
              </a:xfrm>
              <a:prstGeom prst="roundRect">
                <a:avLst>
                  <a:gd name="adj" fmla="val 7143"/>
                </a:avLst>
              </a:prstGeom>
              <a:solidFill>
                <a:schemeClr val="lt1"/>
              </a:solidFill>
              <a:ln w="14288">
                <a:solidFill>
                  <a:schemeClr val="accent4"/>
                </a:solidFill>
              </a:ln>
            </p:spPr>
          </p:sp>
          <p:sp>
            <p:nvSpPr>
              <p:cNvPr id="9" name="Rectangle 9"/>
              <p:cNvSpPr/>
              <p:nvPr/>
            </p:nvSpPr>
            <p:spPr>
              <a:xfrm>
                <a:off x="800100" y="1866900"/>
                <a:ext cx="3371850" cy="66675"/>
              </a:xfrm>
              <a:prstGeom prst="roundRect">
                <a:avLst>
                  <a:gd name="adj" fmla="val 50000"/>
                </a:avLst>
              </a:prstGeom>
              <a:solidFill>
                <a:schemeClr val="accent2"/>
              </a:solidFill>
              <a:ln>
                <a:noFill/>
              </a:ln>
            </p:spPr>
          </p:sp>
          <p:sp>
            <p:nvSpPr>
              <p:cNvPr id="10" name="TextBox 10"/>
              <p:cNvSpPr txBox="1"/>
              <p:nvPr/>
            </p:nvSpPr>
            <p:spPr>
              <a:xfrm>
                <a:off x="1020699" y="2115979"/>
                <a:ext cx="2297981" cy="308039"/>
              </a:xfrm>
              <a:prstGeom prst="rect">
                <a:avLst/>
              </a:prstGeom>
              <a:noFill/>
              <a:ln>
                <a:noFill/>
              </a:ln>
            </p:spPr>
            <p:txBody>
              <a:bodyPr wrap="none" lIns="0" tIns="0" rIns="0" bIns="0" anchor="t" anchorCtr="0">
                <a:spAutoFit/>
              </a:bodyPr>
              <a:lstStyle/>
              <a:p>
                <a:pPr algn="l"/>
                <a:r>
                  <a:rPr lang="en-US" sz="1580" b="1" dirty="0">
                    <a:solidFill>
                      <a:schemeClr val="accent1"/>
                    </a:solidFill>
                    <a:latin typeface="+mj-lt"/>
                    <a:ea typeface="+mj-ea"/>
                    <a:cs typeface="+mj-cs"/>
                  </a:rPr>
                  <a:t>Image segmentation</a:t>
                </a:r>
              </a:p>
            </p:txBody>
          </p:sp>
          <p:sp>
            <p:nvSpPr>
              <p:cNvPr id="11" name="TextBox 11"/>
              <p:cNvSpPr txBox="1"/>
              <p:nvPr/>
            </p:nvSpPr>
            <p:spPr>
              <a:xfrm>
                <a:off x="1022223" y="2472214"/>
                <a:ext cx="1494282"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 xml:space="preserve">Subsets of </a:t>
                </a:r>
                <a:r>
                  <a:rPr lang="en-US" sz="1280" b="1" dirty="0">
                    <a:solidFill>
                      <a:schemeClr val="accent2"/>
                    </a:solidFill>
                    <a:latin typeface="+mn-lt"/>
                    <a:ea typeface="+mn-ea"/>
                    <a:cs typeface="+mn-cs"/>
                  </a:rPr>
                  <a:t>SA-1B</a:t>
                </a:r>
              </a:p>
            </p:txBody>
          </p:sp>
          <p:sp>
            <p:nvSpPr>
              <p:cNvPr id="12" name="TextBox 12"/>
              <p:cNvSpPr txBox="1"/>
              <p:nvPr/>
            </p:nvSpPr>
            <p:spPr>
              <a:xfrm>
                <a:off x="1022604" y="2747010"/>
                <a:ext cx="1861871"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ranging from 1% to 10%</a:t>
                </a:r>
              </a:p>
            </p:txBody>
          </p:sp>
        </p:grpSp>
        <p:grpSp>
          <p:nvGrpSpPr>
            <p:cNvPr id="19" name="Group 19"/>
            <p:cNvGrpSpPr/>
            <p:nvPr/>
          </p:nvGrpSpPr>
          <p:grpSpPr>
            <a:xfrm>
              <a:off x="4400550" y="1866900"/>
              <a:ext cx="3371850" cy="1333500"/>
              <a:chOff x="4400550" y="1866900"/>
              <a:chExt cx="3371850" cy="1333500"/>
            </a:xfrm>
          </p:grpSpPr>
          <p:sp>
            <p:nvSpPr>
              <p:cNvPr id="14" name="Rectangle 14"/>
              <p:cNvSpPr/>
              <p:nvPr/>
            </p:nvSpPr>
            <p:spPr>
              <a:xfrm>
                <a:off x="4400550" y="1866900"/>
                <a:ext cx="3371850" cy="1333500"/>
              </a:xfrm>
              <a:prstGeom prst="roundRect">
                <a:avLst>
                  <a:gd name="adj" fmla="val 7143"/>
                </a:avLst>
              </a:prstGeom>
              <a:solidFill>
                <a:schemeClr val="lt1"/>
              </a:solidFill>
              <a:ln w="14288">
                <a:solidFill>
                  <a:schemeClr val="accent4"/>
                </a:solidFill>
              </a:ln>
            </p:spPr>
          </p:sp>
          <p:sp>
            <p:nvSpPr>
              <p:cNvPr id="15" name="Rectangle 15"/>
              <p:cNvSpPr/>
              <p:nvPr/>
            </p:nvSpPr>
            <p:spPr>
              <a:xfrm>
                <a:off x="4400550" y="1866900"/>
                <a:ext cx="3371850" cy="66675"/>
              </a:xfrm>
              <a:prstGeom prst="roundRect">
                <a:avLst>
                  <a:gd name="adj" fmla="val 50000"/>
                </a:avLst>
              </a:prstGeom>
              <a:solidFill>
                <a:schemeClr val="accent3"/>
              </a:solidFill>
              <a:ln>
                <a:noFill/>
              </a:ln>
            </p:spPr>
          </p:sp>
          <p:sp>
            <p:nvSpPr>
              <p:cNvPr id="16" name="TextBox 16"/>
              <p:cNvSpPr txBox="1"/>
              <p:nvPr/>
            </p:nvSpPr>
            <p:spPr>
              <a:xfrm>
                <a:off x="4621149" y="2115979"/>
                <a:ext cx="2629083" cy="308039"/>
              </a:xfrm>
              <a:prstGeom prst="rect">
                <a:avLst/>
              </a:prstGeom>
              <a:noFill/>
              <a:ln>
                <a:noFill/>
              </a:ln>
            </p:spPr>
            <p:txBody>
              <a:bodyPr wrap="none" lIns="0" tIns="0" rIns="0" bIns="0" anchor="t" anchorCtr="0">
                <a:spAutoFit/>
              </a:bodyPr>
              <a:lstStyle/>
              <a:p>
                <a:pPr algn="l"/>
                <a:r>
                  <a:rPr lang="en-US" sz="1580" b="1" dirty="0">
                    <a:solidFill>
                      <a:schemeClr val="accent1"/>
                    </a:solidFill>
                    <a:latin typeface="+mj-lt"/>
                    <a:ea typeface="+mj-ea"/>
                    <a:cs typeface="+mj-cs"/>
                  </a:rPr>
                  <a:t>Human pose estimation</a:t>
                </a:r>
              </a:p>
            </p:txBody>
          </p:sp>
          <p:sp>
            <p:nvSpPr>
              <p:cNvPr id="17" name="TextBox 17"/>
              <p:cNvSpPr txBox="1"/>
              <p:nvPr/>
            </p:nvSpPr>
            <p:spPr>
              <a:xfrm>
                <a:off x="4622673" y="2472214"/>
                <a:ext cx="2076899"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 xml:space="preserve">Full </a:t>
                </a:r>
                <a:r>
                  <a:rPr lang="en-US" sz="1280" b="1" dirty="0">
                    <a:solidFill>
                      <a:schemeClr val="accent3"/>
                    </a:solidFill>
                    <a:latin typeface="+mn-lt"/>
                    <a:ea typeface="+mn-ea"/>
                    <a:cs typeface="+mn-cs"/>
                  </a:rPr>
                  <a:t>COCO-Pose</a:t>
                </a:r>
                <a:r>
                  <a:rPr lang="en-US" sz="1280" dirty="0">
                    <a:solidFill>
                      <a:schemeClr val="dk1"/>
                    </a:solidFill>
                    <a:latin typeface="+mn-lt"/>
                    <a:ea typeface="+mn-ea"/>
                    <a:cs typeface="+mn-cs"/>
                  </a:rPr>
                  <a:t xml:space="preserve"> dataset</a:t>
                </a:r>
              </a:p>
            </p:txBody>
          </p:sp>
          <p:sp>
            <p:nvSpPr>
              <p:cNvPr id="18" name="TextBox 18"/>
              <p:cNvSpPr txBox="1"/>
              <p:nvPr/>
            </p:nvSpPr>
            <p:spPr>
              <a:xfrm>
                <a:off x="4623054" y="2747010"/>
                <a:ext cx="1708404"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the data-scarce task</a:t>
                </a:r>
              </a:p>
            </p:txBody>
          </p:sp>
        </p:grpSp>
        <p:grpSp>
          <p:nvGrpSpPr>
            <p:cNvPr id="25" name="Group 25"/>
            <p:cNvGrpSpPr/>
            <p:nvPr/>
          </p:nvGrpSpPr>
          <p:grpSpPr>
            <a:xfrm>
              <a:off x="8001000" y="1866900"/>
              <a:ext cx="3371850" cy="1333500"/>
              <a:chOff x="8001000" y="1866900"/>
              <a:chExt cx="3371850" cy="1333500"/>
            </a:xfrm>
          </p:grpSpPr>
          <p:sp>
            <p:nvSpPr>
              <p:cNvPr id="20" name="Rectangle 20"/>
              <p:cNvSpPr/>
              <p:nvPr/>
            </p:nvSpPr>
            <p:spPr>
              <a:xfrm>
                <a:off x="8001000" y="1866900"/>
                <a:ext cx="3371850" cy="1333500"/>
              </a:xfrm>
              <a:prstGeom prst="roundRect">
                <a:avLst>
                  <a:gd name="adj" fmla="val 7143"/>
                </a:avLst>
              </a:prstGeom>
              <a:solidFill>
                <a:schemeClr val="lt1"/>
              </a:solidFill>
              <a:ln w="14288">
                <a:solidFill>
                  <a:schemeClr val="accent4"/>
                </a:solidFill>
              </a:ln>
            </p:spPr>
          </p:sp>
          <p:sp>
            <p:nvSpPr>
              <p:cNvPr id="21" name="Rectangle 21"/>
              <p:cNvSpPr/>
              <p:nvPr/>
            </p:nvSpPr>
            <p:spPr>
              <a:xfrm>
                <a:off x="8001000" y="1866900"/>
                <a:ext cx="3371850" cy="66675"/>
              </a:xfrm>
              <a:prstGeom prst="roundRect">
                <a:avLst>
                  <a:gd name="adj" fmla="val 50000"/>
                </a:avLst>
              </a:prstGeom>
              <a:solidFill>
                <a:schemeClr val="accent1"/>
              </a:solidFill>
              <a:ln>
                <a:noFill/>
              </a:ln>
            </p:spPr>
          </p:sp>
          <p:sp>
            <p:nvSpPr>
              <p:cNvPr id="22" name="TextBox 22"/>
              <p:cNvSpPr txBox="1"/>
              <p:nvPr/>
            </p:nvSpPr>
            <p:spPr>
              <a:xfrm>
                <a:off x="8221599" y="2115979"/>
                <a:ext cx="1800933" cy="308039"/>
              </a:xfrm>
              <a:prstGeom prst="rect">
                <a:avLst/>
              </a:prstGeom>
              <a:noFill/>
              <a:ln>
                <a:noFill/>
              </a:ln>
            </p:spPr>
            <p:txBody>
              <a:bodyPr wrap="none" lIns="0" tIns="0" rIns="0" bIns="0" anchor="t" anchorCtr="0">
                <a:spAutoFit/>
              </a:bodyPr>
              <a:lstStyle/>
              <a:p>
                <a:pPr algn="l"/>
                <a:r>
                  <a:rPr lang="en-US" sz="1580" b="1" dirty="0">
                    <a:solidFill>
                      <a:schemeClr val="accent1"/>
                    </a:solidFill>
                    <a:latin typeface="+mj-lt"/>
                    <a:ea typeface="+mj-ea"/>
                    <a:cs typeface="+mj-cs"/>
                  </a:rPr>
                  <a:t>Image deraining</a:t>
                </a:r>
              </a:p>
            </p:txBody>
          </p:sp>
          <p:sp>
            <p:nvSpPr>
              <p:cNvPr id="23" name="TextBox 23"/>
              <p:cNvSpPr txBox="1"/>
              <p:nvPr/>
            </p:nvSpPr>
            <p:spPr>
              <a:xfrm>
                <a:off x="8223123" y="2472214"/>
                <a:ext cx="1616269" cy="249364"/>
              </a:xfrm>
              <a:prstGeom prst="rect">
                <a:avLst/>
              </a:prstGeom>
              <a:noFill/>
              <a:ln>
                <a:noFill/>
              </a:ln>
            </p:spPr>
            <p:txBody>
              <a:bodyPr wrap="none" lIns="0" tIns="0" rIns="0" bIns="0" anchor="t" anchorCtr="0">
                <a:spAutoFit/>
              </a:bodyPr>
              <a:lstStyle/>
              <a:p>
                <a:pPr algn="l"/>
                <a:r>
                  <a:rPr lang="en-US" sz="1280" b="1" dirty="0">
                    <a:solidFill>
                      <a:schemeClr val="accent1"/>
                    </a:solidFill>
                    <a:latin typeface="+mn-lt"/>
                    <a:ea typeface="+mn-ea"/>
                    <a:cs typeface="+mn-cs"/>
                  </a:rPr>
                  <a:t>Rain13K</a:t>
                </a:r>
                <a:r>
                  <a:rPr lang="en-US" sz="1280" dirty="0">
                    <a:solidFill>
                      <a:schemeClr val="dk1"/>
                    </a:solidFill>
                    <a:latin typeface="+mn-lt"/>
                    <a:ea typeface="+mn-ea"/>
                    <a:cs typeface="+mn-cs"/>
                  </a:rPr>
                  <a:t xml:space="preserve"> benchmark</a:t>
                </a:r>
              </a:p>
            </p:txBody>
          </p:sp>
          <p:sp>
            <p:nvSpPr>
              <p:cNvPr id="24" name="TextBox 24"/>
              <p:cNvSpPr txBox="1"/>
              <p:nvPr/>
            </p:nvSpPr>
            <p:spPr>
              <a:xfrm>
                <a:off x="8223504" y="2747010"/>
                <a:ext cx="2112264"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low-level restoration task</a:t>
                </a:r>
              </a:p>
            </p:txBody>
          </p:sp>
        </p:grpSp>
      </p:grpSp>
      <p:grpSp>
        <p:nvGrpSpPr>
          <p:cNvPr id="40" name="Group 40"/>
          <p:cNvGrpSpPr/>
          <p:nvPr/>
        </p:nvGrpSpPr>
        <p:grpSpPr>
          <a:xfrm>
            <a:off x="571500" y="3581400"/>
            <a:ext cx="3552825" cy="2647950"/>
            <a:chOff x="571500" y="3581400"/>
            <a:chExt cx="3552825" cy="2647950"/>
          </a:xfrm>
        </p:grpSpPr>
        <p:sp>
          <p:nvSpPr>
            <p:cNvPr id="27" name="Rectangle 27"/>
            <p:cNvSpPr/>
            <p:nvPr/>
          </p:nvSpPr>
          <p:spPr>
            <a:xfrm>
              <a:off x="571500" y="3581400"/>
              <a:ext cx="3552825" cy="2647950"/>
            </a:xfrm>
            <a:prstGeom prst="roundRect">
              <a:avLst>
                <a:gd name="adj" fmla="val 4317"/>
              </a:avLst>
            </a:prstGeom>
            <a:solidFill>
              <a:schemeClr val="lt1"/>
            </a:solidFill>
            <a:ln w="14288">
              <a:solidFill>
                <a:schemeClr val="accent4"/>
              </a:solidFill>
            </a:ln>
          </p:spPr>
        </p:sp>
        <p:sp>
          <p:nvSpPr>
            <p:cNvPr id="28" name="Rectangle 28"/>
            <p:cNvSpPr/>
            <p:nvPr/>
          </p:nvSpPr>
          <p:spPr>
            <a:xfrm>
              <a:off x="571500" y="3581400"/>
              <a:ext cx="57150" cy="2647950"/>
            </a:xfrm>
            <a:prstGeom prst="roundRect">
              <a:avLst>
                <a:gd name="adj" fmla="val 50000"/>
              </a:avLst>
            </a:prstGeom>
            <a:solidFill>
              <a:schemeClr val="accent1"/>
            </a:solidFill>
            <a:ln>
              <a:noFill/>
            </a:ln>
          </p:spPr>
        </p:sp>
        <p:sp>
          <p:nvSpPr>
            <p:cNvPr id="29" name="TextBox 29"/>
            <p:cNvSpPr txBox="1"/>
            <p:nvPr/>
          </p:nvSpPr>
          <p:spPr>
            <a:xfrm>
              <a:off x="833247" y="3799999"/>
              <a:ext cx="914382" cy="190690"/>
            </a:xfrm>
            <a:prstGeom prst="rect">
              <a:avLst/>
            </a:prstGeom>
            <a:noFill/>
            <a:ln>
              <a:noFill/>
            </a:ln>
          </p:spPr>
          <p:txBody>
            <a:bodyPr wrap="none" lIns="0" tIns="0" rIns="0" bIns="0" anchor="t" anchorCtr="0">
              <a:spAutoFit/>
            </a:bodyPr>
            <a:lstStyle/>
            <a:p>
              <a:pPr algn="l"/>
              <a:r>
                <a:rPr lang="en-US" sz="980" b="1" spc="112" dirty="0">
                  <a:solidFill>
                    <a:schemeClr val="accent1"/>
                  </a:solidFill>
                  <a:latin typeface="+mn-lt"/>
                  <a:ea typeface="+mn-ea"/>
                  <a:cs typeface="+mn-cs"/>
                </a:rPr>
                <a:t>VALIDATION</a:t>
              </a:r>
            </a:p>
          </p:txBody>
        </p:sp>
        <p:sp>
          <p:nvSpPr>
            <p:cNvPr id="30" name="TextBox 30"/>
            <p:cNvSpPr txBox="1"/>
            <p:nvPr/>
          </p:nvSpPr>
          <p:spPr>
            <a:xfrm>
              <a:off x="830199" y="4078129"/>
              <a:ext cx="1755030" cy="308039"/>
            </a:xfrm>
            <a:prstGeom prst="rect">
              <a:avLst/>
            </a:prstGeom>
            <a:noFill/>
            <a:ln>
              <a:noFill/>
            </a:ln>
          </p:spPr>
          <p:txBody>
            <a:bodyPr wrap="none" lIns="0" tIns="0" rIns="0" bIns="0" anchor="t" anchorCtr="0">
              <a:spAutoFit/>
            </a:bodyPr>
            <a:lstStyle/>
            <a:p>
              <a:pPr algn="l"/>
              <a:r>
                <a:rPr lang="en-US" sz="1580" b="1" dirty="0">
                  <a:solidFill>
                    <a:schemeClr val="accent1"/>
                  </a:solidFill>
                  <a:latin typeface="+mj-lt"/>
                  <a:ea typeface="+mj-ea"/>
                  <a:cs typeface="+mj-cs"/>
                </a:rPr>
                <a:t>Held-out splits</a:t>
              </a:r>
            </a:p>
          </p:txBody>
        </p:sp>
        <p:sp>
          <p:nvSpPr>
            <p:cNvPr id="31" name="TextBox 31"/>
            <p:cNvSpPr txBox="1"/>
            <p:nvPr/>
          </p:nvSpPr>
          <p:spPr>
            <a:xfrm>
              <a:off x="832104" y="4480560"/>
              <a:ext cx="1721841"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Evaluated on held-out</a:t>
              </a:r>
            </a:p>
          </p:txBody>
        </p:sp>
        <p:sp>
          <p:nvSpPr>
            <p:cNvPr id="32" name="TextBox 32"/>
            <p:cNvSpPr txBox="1"/>
            <p:nvPr/>
          </p:nvSpPr>
          <p:spPr>
            <a:xfrm>
              <a:off x="832104" y="4690110"/>
              <a:ext cx="2218813"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SA-1B splits together with:</a:t>
              </a:r>
            </a:p>
          </p:txBody>
        </p:sp>
        <p:sp>
          <p:nvSpPr>
            <p:cNvPr id="33" name="Rectangle 33"/>
            <p:cNvSpPr/>
            <p:nvPr/>
          </p:nvSpPr>
          <p:spPr>
            <a:xfrm>
              <a:off x="838200" y="4991100"/>
              <a:ext cx="1238250" cy="323850"/>
            </a:xfrm>
            <a:prstGeom prst="roundRect">
              <a:avLst>
                <a:gd name="adj" fmla="val 23529"/>
              </a:avLst>
            </a:prstGeom>
            <a:solidFill>
              <a:schemeClr val="lt2"/>
            </a:solidFill>
            <a:ln>
              <a:noFill/>
            </a:ln>
          </p:spPr>
        </p:sp>
        <p:sp>
          <p:nvSpPr>
            <p:cNvPr id="34" name="TextBox 34"/>
            <p:cNvSpPr txBox="1"/>
            <p:nvPr/>
          </p:nvSpPr>
          <p:spPr>
            <a:xfrm>
              <a:off x="1280968" y="5080635"/>
              <a:ext cx="352715" cy="234696"/>
            </a:xfrm>
            <a:prstGeom prst="rect">
              <a:avLst/>
            </a:prstGeom>
            <a:noFill/>
            <a:ln>
              <a:noFill/>
            </a:ln>
          </p:spPr>
          <p:txBody>
            <a:bodyPr wrap="none" lIns="0" tIns="0" rIns="0" bIns="0" anchor="t" anchorCtr="0">
              <a:spAutoFit/>
            </a:bodyPr>
            <a:lstStyle/>
            <a:p>
              <a:pPr algn="ctr"/>
              <a:r>
                <a:rPr lang="en-US" sz="1200" b="1" dirty="0">
                  <a:solidFill>
                    <a:schemeClr val="dk1"/>
                  </a:solidFill>
                  <a:latin typeface="+mn-lt"/>
                  <a:ea typeface="+mn-ea"/>
                  <a:cs typeface="+mn-cs"/>
                </a:rPr>
                <a:t>MPII</a:t>
              </a:r>
            </a:p>
          </p:txBody>
        </p:sp>
        <p:sp>
          <p:nvSpPr>
            <p:cNvPr id="35" name="Rectangle 35"/>
            <p:cNvSpPr/>
            <p:nvPr/>
          </p:nvSpPr>
          <p:spPr>
            <a:xfrm>
              <a:off x="2190750" y="4991100"/>
              <a:ext cx="1428750" cy="323850"/>
            </a:xfrm>
            <a:prstGeom prst="roundRect">
              <a:avLst>
                <a:gd name="adj" fmla="val 23529"/>
              </a:avLst>
            </a:prstGeom>
            <a:solidFill>
              <a:schemeClr val="lt2"/>
            </a:solidFill>
            <a:ln>
              <a:noFill/>
            </a:ln>
          </p:spPr>
        </p:sp>
        <p:sp>
          <p:nvSpPr>
            <p:cNvPr id="36" name="TextBox 36"/>
            <p:cNvSpPr txBox="1"/>
            <p:nvPr/>
          </p:nvSpPr>
          <p:spPr>
            <a:xfrm>
              <a:off x="2520582" y="5080635"/>
              <a:ext cx="769087" cy="234696"/>
            </a:xfrm>
            <a:prstGeom prst="rect">
              <a:avLst/>
            </a:prstGeom>
            <a:noFill/>
            <a:ln>
              <a:noFill/>
            </a:ln>
          </p:spPr>
          <p:txBody>
            <a:bodyPr wrap="none" lIns="0" tIns="0" rIns="0" bIns="0" anchor="t" anchorCtr="0">
              <a:spAutoFit/>
            </a:bodyPr>
            <a:lstStyle/>
            <a:p>
              <a:pPr algn="ctr"/>
              <a:r>
                <a:rPr lang="en-US" sz="1200" b="1" dirty="0">
                  <a:solidFill>
                    <a:schemeClr val="dk1"/>
                  </a:solidFill>
                  <a:latin typeface="+mn-lt"/>
                  <a:ea typeface="+mn-ea"/>
                  <a:cs typeface="+mn-cs"/>
                </a:rPr>
                <a:t>Test2800</a:t>
              </a:r>
            </a:p>
          </p:txBody>
        </p:sp>
        <p:sp>
          <p:nvSpPr>
            <p:cNvPr id="37" name="TextBox 37"/>
            <p:cNvSpPr txBox="1"/>
            <p:nvPr/>
          </p:nvSpPr>
          <p:spPr>
            <a:xfrm>
              <a:off x="832485" y="5555456"/>
              <a:ext cx="185583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Metrics: validation loss,</a:t>
              </a:r>
            </a:p>
          </p:txBody>
        </p:sp>
        <p:sp>
          <p:nvSpPr>
            <p:cNvPr id="38" name="TextBox 38"/>
            <p:cNvSpPr txBox="1"/>
            <p:nvPr/>
          </p:nvSpPr>
          <p:spPr>
            <a:xfrm>
              <a:off x="832485" y="5765006"/>
              <a:ext cx="202426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pixel accuracy, perplexity,</a:t>
              </a:r>
            </a:p>
          </p:txBody>
        </p:sp>
        <p:sp>
          <p:nvSpPr>
            <p:cNvPr id="39" name="TextBox 39"/>
            <p:cNvSpPr txBox="1"/>
            <p:nvPr/>
          </p:nvSpPr>
          <p:spPr>
            <a:xfrm>
              <a:off x="832485" y="5974556"/>
              <a:ext cx="72387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and mIoU.</a:t>
              </a:r>
            </a:p>
          </p:txBody>
        </p:sp>
      </p:grpSp>
      <p:grpSp>
        <p:nvGrpSpPr>
          <p:cNvPr id="52" name="Group 52"/>
          <p:cNvGrpSpPr/>
          <p:nvPr/>
        </p:nvGrpSpPr>
        <p:grpSpPr>
          <a:xfrm>
            <a:off x="4314825" y="3581400"/>
            <a:ext cx="3552825" cy="2647950"/>
            <a:chOff x="4314825" y="3581400"/>
            <a:chExt cx="3552825" cy="2647950"/>
          </a:xfrm>
        </p:grpSpPr>
        <p:sp>
          <p:nvSpPr>
            <p:cNvPr id="41" name="Rectangle 41"/>
            <p:cNvSpPr/>
            <p:nvPr/>
          </p:nvSpPr>
          <p:spPr>
            <a:xfrm>
              <a:off x="4314825" y="3581400"/>
              <a:ext cx="3552825" cy="2647950"/>
            </a:xfrm>
            <a:prstGeom prst="roundRect">
              <a:avLst>
                <a:gd name="adj" fmla="val 4317"/>
              </a:avLst>
            </a:prstGeom>
            <a:solidFill>
              <a:schemeClr val="lt1"/>
            </a:solidFill>
            <a:ln w="14288">
              <a:solidFill>
                <a:schemeClr val="accent4"/>
              </a:solidFill>
            </a:ln>
          </p:spPr>
        </p:sp>
        <p:sp>
          <p:nvSpPr>
            <p:cNvPr id="42" name="Rectangle 42"/>
            <p:cNvSpPr/>
            <p:nvPr/>
          </p:nvSpPr>
          <p:spPr>
            <a:xfrm>
              <a:off x="4314825" y="3581400"/>
              <a:ext cx="57150" cy="2647950"/>
            </a:xfrm>
            <a:prstGeom prst="roundRect">
              <a:avLst>
                <a:gd name="adj" fmla="val 50000"/>
              </a:avLst>
            </a:prstGeom>
            <a:solidFill>
              <a:schemeClr val="accent2"/>
            </a:solidFill>
            <a:ln>
              <a:noFill/>
            </a:ln>
          </p:spPr>
        </p:sp>
        <p:sp>
          <p:nvSpPr>
            <p:cNvPr id="43" name="TextBox 43"/>
            <p:cNvSpPr txBox="1"/>
            <p:nvPr/>
          </p:nvSpPr>
          <p:spPr>
            <a:xfrm>
              <a:off x="4576572" y="3799999"/>
              <a:ext cx="1529563"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EXTRA BENCHMARKS</a:t>
              </a:r>
            </a:p>
          </p:txBody>
        </p:sp>
        <p:sp>
          <p:nvSpPr>
            <p:cNvPr id="44" name="TextBox 44"/>
            <p:cNvSpPr txBox="1"/>
            <p:nvPr/>
          </p:nvSpPr>
          <p:spPr>
            <a:xfrm>
              <a:off x="4573524" y="4135279"/>
              <a:ext cx="1098242" cy="308039"/>
            </a:xfrm>
            <a:prstGeom prst="rect">
              <a:avLst/>
            </a:prstGeom>
            <a:noFill/>
            <a:ln>
              <a:noFill/>
            </a:ln>
          </p:spPr>
          <p:txBody>
            <a:bodyPr wrap="none" lIns="0" tIns="0" rIns="0" bIns="0" anchor="t" anchorCtr="0">
              <a:spAutoFit/>
            </a:bodyPr>
            <a:lstStyle/>
            <a:p>
              <a:pPr algn="l"/>
              <a:r>
                <a:rPr lang="en-US" sz="1580" b="1" dirty="0">
                  <a:solidFill>
                    <a:schemeClr val="accent1"/>
                  </a:solidFill>
                  <a:latin typeface="+mj-lt"/>
                  <a:ea typeface="+mj-ea"/>
                  <a:cs typeface="+mj-cs"/>
                </a:rPr>
                <a:t>Pascal-5i</a:t>
              </a:r>
            </a:p>
          </p:txBody>
        </p:sp>
        <p:sp>
          <p:nvSpPr>
            <p:cNvPr id="45" name="TextBox 45"/>
            <p:cNvSpPr txBox="1"/>
            <p:nvPr/>
          </p:nvSpPr>
          <p:spPr>
            <a:xfrm>
              <a:off x="4575429" y="4442460"/>
              <a:ext cx="2327502"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Foreground segmentation for</a:t>
              </a:r>
            </a:p>
          </p:txBody>
        </p:sp>
        <p:sp>
          <p:nvSpPr>
            <p:cNvPr id="46" name="TextBox 46"/>
            <p:cNvSpPr txBox="1"/>
            <p:nvPr/>
          </p:nvSpPr>
          <p:spPr>
            <a:xfrm>
              <a:off x="4575429" y="4652010"/>
              <a:ext cx="2209190"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the distilled models, scored</a:t>
              </a:r>
            </a:p>
          </p:txBody>
        </p:sp>
        <p:sp>
          <p:nvSpPr>
            <p:cNvPr id="47" name="TextBox 47"/>
            <p:cNvSpPr txBox="1"/>
            <p:nvPr/>
          </p:nvSpPr>
          <p:spPr>
            <a:xfrm>
              <a:off x="4575429" y="4861560"/>
              <a:ext cx="1001827"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by mean IoU.</a:t>
              </a:r>
            </a:p>
          </p:txBody>
        </p:sp>
        <p:sp>
          <p:nvSpPr>
            <p:cNvPr id="48" name="Line 48"/>
            <p:cNvSpPr/>
            <p:nvPr/>
          </p:nvSpPr>
          <p:spPr>
            <a:xfrm>
              <a:off x="4581525" y="5200650"/>
              <a:ext cx="3019425" cy="9525"/>
            </a:xfrm>
            <a:custGeom>
              <a:avLst/>
              <a:gdLst/>
              <a:ahLst/>
              <a:cxnLst/>
              <a:rect l="l" t="t" r="r" b="b"/>
              <a:pathLst>
                <a:path w="3019425" h="9525">
                  <a:moveTo>
                    <a:pt x="0" y="0"/>
                  </a:moveTo>
                  <a:lnTo>
                    <a:pt x="3019425" y="0"/>
                  </a:lnTo>
                </a:path>
              </a:pathLst>
            </a:custGeom>
            <a:noFill/>
            <a:ln w="14288">
              <a:solidFill>
                <a:schemeClr val="accent4"/>
              </a:solidFill>
            </a:ln>
          </p:spPr>
        </p:sp>
        <p:sp>
          <p:nvSpPr>
            <p:cNvPr id="49" name="TextBox 49"/>
            <p:cNvSpPr txBox="1"/>
            <p:nvPr/>
          </p:nvSpPr>
          <p:spPr>
            <a:xfrm>
              <a:off x="4573524" y="5373529"/>
              <a:ext cx="1097489" cy="308039"/>
            </a:xfrm>
            <a:prstGeom prst="rect">
              <a:avLst/>
            </a:prstGeom>
            <a:noFill/>
            <a:ln>
              <a:noFill/>
            </a:ln>
          </p:spPr>
          <p:txBody>
            <a:bodyPr wrap="none" lIns="0" tIns="0" rIns="0" bIns="0" anchor="t" anchorCtr="0">
              <a:spAutoFit/>
            </a:bodyPr>
            <a:lstStyle/>
            <a:p>
              <a:pPr algn="l"/>
              <a:r>
                <a:rPr lang="en-US" sz="1580" b="1" dirty="0">
                  <a:solidFill>
                    <a:schemeClr val="accent1"/>
                  </a:solidFill>
                  <a:latin typeface="+mj-lt"/>
                  <a:ea typeface="+mj-ea"/>
                  <a:cs typeface="+mj-cs"/>
                </a:rPr>
                <a:t>ImageNet</a:t>
              </a:r>
            </a:p>
          </p:txBody>
        </p:sp>
        <p:sp>
          <p:nvSpPr>
            <p:cNvPr id="50" name="TextBox 50"/>
            <p:cNvSpPr txBox="1"/>
            <p:nvPr/>
          </p:nvSpPr>
          <p:spPr>
            <a:xfrm>
              <a:off x="4575429" y="5680710"/>
              <a:ext cx="2077177"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Classification — where the</a:t>
              </a:r>
            </a:p>
          </p:txBody>
        </p:sp>
        <p:sp>
          <p:nvSpPr>
            <p:cNvPr id="51" name="TextBox 51"/>
            <p:cNvSpPr txBox="1"/>
            <p:nvPr/>
          </p:nvSpPr>
          <p:spPr>
            <a:xfrm>
              <a:off x="4575429" y="5890260"/>
              <a:ext cx="2425121"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practical 80M model is tested.</a:t>
              </a:r>
            </a:p>
          </p:txBody>
        </p:sp>
      </p:grpSp>
      <p:grpSp>
        <p:nvGrpSpPr>
          <p:cNvPr id="63" name="Group 63"/>
          <p:cNvGrpSpPr/>
          <p:nvPr/>
        </p:nvGrpSpPr>
        <p:grpSpPr>
          <a:xfrm>
            <a:off x="8058150" y="3581400"/>
            <a:ext cx="3562350" cy="2647950"/>
            <a:chOff x="8058150" y="3581400"/>
            <a:chExt cx="3562350" cy="2647950"/>
          </a:xfrm>
        </p:grpSpPr>
        <p:sp>
          <p:nvSpPr>
            <p:cNvPr id="53" name="Rectangle 53"/>
            <p:cNvSpPr/>
            <p:nvPr/>
          </p:nvSpPr>
          <p:spPr>
            <a:xfrm>
              <a:off x="8058150" y="3581400"/>
              <a:ext cx="3562350" cy="2647950"/>
            </a:xfrm>
            <a:prstGeom prst="roundRect">
              <a:avLst>
                <a:gd name="adj" fmla="val 4317"/>
              </a:avLst>
            </a:prstGeom>
            <a:solidFill>
              <a:schemeClr val="accent1"/>
            </a:solidFill>
            <a:ln>
              <a:noFill/>
            </a:ln>
          </p:spPr>
        </p:sp>
        <p:sp>
          <p:nvSpPr>
            <p:cNvPr id="54" name="Rectangle 54"/>
            <p:cNvSpPr/>
            <p:nvPr/>
          </p:nvSpPr>
          <p:spPr>
            <a:xfrm>
              <a:off x="8058150" y="3581400"/>
              <a:ext cx="57150" cy="2647950"/>
            </a:xfrm>
            <a:prstGeom prst="roundRect">
              <a:avLst>
                <a:gd name="adj" fmla="val 50000"/>
              </a:avLst>
            </a:prstGeom>
            <a:solidFill>
              <a:schemeClr val="accent3"/>
            </a:solidFill>
            <a:ln>
              <a:noFill/>
            </a:ln>
          </p:spPr>
        </p:sp>
        <p:sp>
          <p:nvSpPr>
            <p:cNvPr id="55" name="TextBox 55"/>
            <p:cNvSpPr txBox="1"/>
            <p:nvPr/>
          </p:nvSpPr>
          <p:spPr>
            <a:xfrm>
              <a:off x="8319897" y="3799999"/>
              <a:ext cx="854541" cy="190690"/>
            </a:xfrm>
            <a:prstGeom prst="rect">
              <a:avLst/>
            </a:prstGeom>
            <a:noFill/>
            <a:ln>
              <a:noFill/>
            </a:ln>
          </p:spPr>
          <p:txBody>
            <a:bodyPr wrap="none" lIns="0" tIns="0" rIns="0" bIns="0" anchor="t" anchorCtr="0">
              <a:spAutoFit/>
            </a:bodyPr>
            <a:lstStyle/>
            <a:p>
              <a:pPr algn="l"/>
              <a:r>
                <a:rPr lang="en-US" sz="980" b="1" spc="112" dirty="0">
                  <a:solidFill>
                    <a:schemeClr val="accent3"/>
                  </a:solidFill>
                  <a:latin typeface="+mn-lt"/>
                  <a:ea typeface="+mn-ea"/>
                  <a:cs typeface="+mn-cs"/>
                </a:rPr>
                <a:t>TOKENIZER</a:t>
              </a:r>
            </a:p>
          </p:txBody>
        </p:sp>
        <p:sp>
          <p:nvSpPr>
            <p:cNvPr id="56" name="TextBox 56"/>
            <p:cNvSpPr txBox="1"/>
            <p:nvPr/>
          </p:nvSpPr>
          <p:spPr>
            <a:xfrm>
              <a:off x="8314944" y="4094798"/>
              <a:ext cx="1063062" cy="381381"/>
            </a:xfrm>
            <a:prstGeom prst="rect">
              <a:avLst/>
            </a:prstGeom>
            <a:noFill/>
            <a:ln>
              <a:noFill/>
            </a:ln>
          </p:spPr>
          <p:txBody>
            <a:bodyPr wrap="none" lIns="0" tIns="0" rIns="0" bIns="0" anchor="t" anchorCtr="0">
              <a:spAutoFit/>
            </a:bodyPr>
            <a:lstStyle/>
            <a:p>
              <a:pPr algn="l"/>
              <a:r>
                <a:rPr lang="en-US" sz="1950" b="1" dirty="0">
                  <a:solidFill>
                    <a:srgbClr val="FFFFFF"/>
                  </a:solidFill>
                  <a:latin typeface="+mj-lt"/>
                  <a:ea typeface="+mj-ea"/>
                  <a:cs typeface="+mj-cs"/>
                </a:rPr>
                <a:t>VQGAN</a:t>
              </a:r>
            </a:p>
          </p:txBody>
        </p:sp>
        <p:sp>
          <p:nvSpPr>
            <p:cNvPr id="57" name="TextBox 57"/>
            <p:cNvSpPr txBox="1"/>
            <p:nvPr/>
          </p:nvSpPr>
          <p:spPr>
            <a:xfrm>
              <a:off x="8318754" y="4537710"/>
              <a:ext cx="2047733" cy="234696"/>
            </a:xfrm>
            <a:prstGeom prst="rect">
              <a:avLst/>
            </a:prstGeom>
            <a:noFill/>
            <a:ln>
              <a:noFill/>
            </a:ln>
          </p:spPr>
          <p:txBody>
            <a:bodyPr wrap="none" lIns="0" tIns="0" rIns="0" bIns="0" anchor="t" anchorCtr="0">
              <a:spAutoFit/>
            </a:bodyPr>
            <a:lstStyle/>
            <a:p>
              <a:pPr algn="l"/>
              <a:r>
                <a:rPr lang="en-US" sz="1200" dirty="0">
                  <a:solidFill>
                    <a:srgbClr val="C7D2E6"/>
                  </a:solidFill>
                  <a:latin typeface="+mn-lt"/>
                  <a:ea typeface="+mn-ea"/>
                  <a:cs typeface="+mn-cs"/>
                </a:rPr>
                <a:t>The VQGAN tokenizer that</a:t>
              </a:r>
            </a:p>
          </p:txBody>
        </p:sp>
        <p:sp>
          <p:nvSpPr>
            <p:cNvPr id="58" name="TextBox 58"/>
            <p:cNvSpPr txBox="1"/>
            <p:nvPr/>
          </p:nvSpPr>
          <p:spPr>
            <a:xfrm>
              <a:off x="8318754" y="4747260"/>
              <a:ext cx="2289962" cy="234696"/>
            </a:xfrm>
            <a:prstGeom prst="rect">
              <a:avLst/>
            </a:prstGeom>
            <a:noFill/>
            <a:ln>
              <a:noFill/>
            </a:ln>
          </p:spPr>
          <p:txBody>
            <a:bodyPr wrap="none" lIns="0" tIns="0" rIns="0" bIns="0" anchor="t" anchorCtr="0">
              <a:spAutoFit/>
            </a:bodyPr>
            <a:lstStyle/>
            <a:p>
              <a:pPr algn="l"/>
              <a:r>
                <a:rPr lang="en-US" sz="1200" dirty="0">
                  <a:solidFill>
                    <a:srgbClr val="C7D2E6"/>
                  </a:solidFill>
                  <a:latin typeface="+mn-lt"/>
                  <a:ea typeface="+mn-ea"/>
                  <a:cs typeface="+mn-cs"/>
                </a:rPr>
                <a:t>encodes images into discrete</a:t>
              </a:r>
            </a:p>
          </p:txBody>
        </p:sp>
        <p:sp>
          <p:nvSpPr>
            <p:cNvPr id="59" name="TextBox 59"/>
            <p:cNvSpPr txBox="1"/>
            <p:nvPr/>
          </p:nvSpPr>
          <p:spPr>
            <a:xfrm>
              <a:off x="8318754" y="4956810"/>
              <a:ext cx="1902257" cy="234696"/>
            </a:xfrm>
            <a:prstGeom prst="rect">
              <a:avLst/>
            </a:prstGeom>
            <a:noFill/>
            <a:ln>
              <a:noFill/>
            </a:ln>
          </p:spPr>
          <p:txBody>
            <a:bodyPr wrap="none" lIns="0" tIns="0" rIns="0" bIns="0" anchor="t" anchorCtr="0">
              <a:spAutoFit/>
            </a:bodyPr>
            <a:lstStyle/>
            <a:p>
              <a:pPr algn="l"/>
              <a:r>
                <a:rPr lang="en-US" sz="1200" dirty="0">
                  <a:solidFill>
                    <a:srgbClr val="C7D2E6"/>
                  </a:solidFill>
                  <a:latin typeface="+mn-lt"/>
                  <a:ea typeface="+mn-ea"/>
                  <a:cs typeface="+mn-cs"/>
                </a:rPr>
                <a:t>tokens is trained on the</a:t>
              </a:r>
            </a:p>
          </p:txBody>
        </p:sp>
        <p:sp>
          <p:nvSpPr>
            <p:cNvPr id="60" name="TextBox 60"/>
            <p:cNvSpPr txBox="1"/>
            <p:nvPr/>
          </p:nvSpPr>
          <p:spPr>
            <a:xfrm>
              <a:off x="8318754" y="5166360"/>
              <a:ext cx="1180795" cy="234696"/>
            </a:xfrm>
            <a:prstGeom prst="rect">
              <a:avLst/>
            </a:prstGeom>
            <a:noFill/>
            <a:ln>
              <a:noFill/>
            </a:ln>
          </p:spPr>
          <p:txBody>
            <a:bodyPr wrap="none" lIns="0" tIns="0" rIns="0" bIns="0" anchor="t" anchorCtr="0">
              <a:spAutoFit/>
            </a:bodyPr>
            <a:lstStyle/>
            <a:p>
              <a:pPr algn="l"/>
              <a:r>
                <a:rPr lang="en-US" sz="1200" dirty="0">
                  <a:solidFill>
                    <a:srgbClr val="C7D2E6"/>
                  </a:solidFill>
                  <a:latin typeface="+mn-lt"/>
                  <a:ea typeface="+mn-ea"/>
                  <a:cs typeface="+mn-cs"/>
                </a:rPr>
                <a:t>Laion dataset.</a:t>
              </a:r>
            </a:p>
          </p:txBody>
        </p:sp>
        <p:sp>
          <p:nvSpPr>
            <p:cNvPr id="61" name="Rectangle 61"/>
            <p:cNvSpPr/>
            <p:nvPr/>
          </p:nvSpPr>
          <p:spPr>
            <a:xfrm>
              <a:off x="8324850" y="5524500"/>
              <a:ext cx="3048000" cy="438150"/>
            </a:xfrm>
            <a:prstGeom prst="roundRect">
              <a:avLst>
                <a:gd name="adj" fmla="val 17391"/>
              </a:avLst>
            </a:prstGeom>
            <a:solidFill>
              <a:schemeClr val="accent3"/>
            </a:solidFill>
            <a:ln>
              <a:noFill/>
            </a:ln>
          </p:spPr>
        </p:sp>
        <p:sp>
          <p:nvSpPr>
            <p:cNvPr id="62" name="TextBox 62"/>
            <p:cNvSpPr txBox="1"/>
            <p:nvPr/>
          </p:nvSpPr>
          <p:spPr>
            <a:xfrm>
              <a:off x="8775369" y="5671185"/>
              <a:ext cx="2146963"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Used off the shelf — fixed</a:t>
              </a:r>
            </a:p>
          </p:txBody>
        </p:sp>
      </p:grpSp>
      <p:grpSp>
        <p:nvGrpSpPr>
          <p:cNvPr id="66" name="Group 66"/>
          <p:cNvGrpSpPr/>
          <p:nvPr/>
        </p:nvGrpSpPr>
        <p:grpSpPr>
          <a:xfrm>
            <a:off x="566738" y="6597491"/>
            <a:ext cx="11058524" cy="161925"/>
            <a:chOff x="566738" y="6597491"/>
            <a:chExt cx="11058524" cy="161925"/>
          </a:xfrm>
        </p:grpSpPr>
        <p:sp>
          <p:nvSpPr>
            <p:cNvPr id="64" name="TextBox 64"/>
            <p:cNvSpPr txBox="1"/>
            <p:nvPr/>
          </p:nvSpPr>
          <p:spPr>
            <a:xfrm>
              <a:off x="566738" y="6597491"/>
              <a:ext cx="2383396" cy="161925"/>
            </a:xfrm>
            <a:prstGeom prst="rect">
              <a:avLst/>
            </a:prstGeom>
            <a:noFill/>
            <a:ln>
              <a:noFill/>
            </a:ln>
          </p:spPr>
          <p:txBody>
            <a:bodyPr wrap="none" lIns="0" tIns="0" rIns="0" bIns="0" anchor="t" anchorCtr="0">
              <a:spAutoFit/>
            </a:bodyPr>
            <a:lstStyle/>
            <a:p>
              <a:pPr algn="l"/>
              <a:r>
                <a:rPr lang="en-US" sz="820" dirty="0">
                  <a:solidFill>
                    <a:schemeClr val="accent5"/>
                  </a:solidFill>
                  <a:latin typeface="+mn-lt"/>
                  <a:ea typeface="+mn-ea"/>
                  <a:cs typeface="+mn-cs"/>
                </a:rPr>
                <a:t>DeLVM · ICML 2024 — datasets &amp; benchmarks</a:t>
              </a:r>
            </a:p>
          </p:txBody>
        </p:sp>
        <p:sp>
          <p:nvSpPr>
            <p:cNvPr id="65" name="TextBox 65"/>
            <p:cNvSpPr txBox="1"/>
            <p:nvPr/>
          </p:nvSpPr>
          <p:spPr>
            <a:xfrm>
              <a:off x="11494310" y="6597491"/>
              <a:ext cx="130952" cy="161925"/>
            </a:xfrm>
            <a:prstGeom prst="rect">
              <a:avLst/>
            </a:prstGeom>
            <a:noFill/>
            <a:ln>
              <a:noFill/>
            </a:ln>
          </p:spPr>
          <p:txBody>
            <a:bodyPr wrap="none" lIns="0" tIns="0" rIns="0" bIns="0" anchor="t" anchorCtr="0">
              <a:spAutoFit/>
            </a:bodyPr>
            <a:lstStyle/>
            <a:p>
              <a:pPr algn="r"/>
              <a:r>
                <a:rPr lang="en-US" sz="820" dirty="0">
                  <a:solidFill>
                    <a:schemeClr val="accent5"/>
                  </a:solidFill>
                  <a:latin typeface="+mn-lt"/>
                  <a:ea typeface="+mn-ea"/>
                  <a:cs typeface="+mn-cs"/>
                </a:rPr>
                <a:t>05</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495300"/>
            <a:ext cx="5561505" cy="675989"/>
            <a:chOff x="571500" y="495300"/>
            <a:chExt cx="5561505" cy="675989"/>
          </a:xfrm>
        </p:grpSpPr>
        <p:sp>
          <p:nvSpPr>
            <p:cNvPr id="2" name="Rectangle 2"/>
            <p:cNvSpPr/>
            <p:nvPr/>
          </p:nvSpPr>
          <p:spPr>
            <a:xfrm>
              <a:off x="571500" y="495300"/>
              <a:ext cx="57150" cy="400050"/>
            </a:xfrm>
            <a:prstGeom prst="rect">
              <a:avLst/>
            </a:prstGeom>
            <a:solidFill>
              <a:schemeClr val="accent2"/>
            </a:solidFill>
            <a:ln>
              <a:noFill/>
            </a:ln>
          </p:spPr>
        </p:sp>
        <p:sp>
          <p:nvSpPr>
            <p:cNvPr id="3" name="TextBox 3"/>
            <p:cNvSpPr txBox="1"/>
            <p:nvPr/>
          </p:nvSpPr>
          <p:spPr>
            <a:xfrm>
              <a:off x="787146" y="543878"/>
              <a:ext cx="5345859"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The recipe consistently wins</a:t>
              </a:r>
            </a:p>
          </p:txBody>
        </p:sp>
        <p:sp>
          <p:nvSpPr>
            <p:cNvPr id="4" name="TextBox 4"/>
            <p:cNvSpPr txBox="1"/>
            <p:nvPr/>
          </p:nvSpPr>
          <p:spPr>
            <a:xfrm>
              <a:off x="795147" y="980599"/>
              <a:ext cx="4598597"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KEY RESULT · BALANCING · DISTILLATION · DATA-SCALING</a:t>
              </a:r>
            </a:p>
          </p:txBody>
        </p:sp>
      </p:grpSp>
      <p:grpSp>
        <p:nvGrpSpPr>
          <p:cNvPr id="11" name="Group 11"/>
          <p:cNvGrpSpPr/>
          <p:nvPr/>
        </p:nvGrpSpPr>
        <p:grpSpPr>
          <a:xfrm>
            <a:off x="571500" y="1390650"/>
            <a:ext cx="5638800" cy="2381250"/>
            <a:chOff x="571500" y="1390650"/>
            <a:chExt cx="5638800" cy="2381250"/>
          </a:xfrm>
        </p:grpSpPr>
        <p:sp>
          <p:nvSpPr>
            <p:cNvPr id="6" name="Rectangle 6"/>
            <p:cNvSpPr/>
            <p:nvPr/>
          </p:nvSpPr>
          <p:spPr>
            <a:xfrm>
              <a:off x="571500" y="1390650"/>
              <a:ext cx="5638800" cy="2381250"/>
            </a:xfrm>
            <a:prstGeom prst="roundRect">
              <a:avLst>
                <a:gd name="adj" fmla="val 4800"/>
              </a:avLst>
            </a:prstGeom>
            <a:solidFill>
              <a:schemeClr val="lt1"/>
            </a:solidFill>
            <a:ln w="14288">
              <a:solidFill>
                <a:schemeClr val="accent4"/>
              </a:solidFill>
            </a:ln>
          </p:spPr>
        </p:sp>
        <p:sp>
          <p:nvSpPr>
            <p:cNvPr id="7" name="TextBox 7"/>
            <p:cNvSpPr txBox="1"/>
            <p:nvPr/>
          </p:nvSpPr>
          <p:spPr>
            <a:xfrm>
              <a:off x="795147" y="1590199"/>
              <a:ext cx="2540377"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BALANCING THE 3-TASK MIXTURE</a:t>
              </a:r>
            </a:p>
          </p:txBody>
        </p:sp>
        <p:pic>
          <p:nvPicPr>
            <p:cNvPr id="8" name="Image 8"/>
            <p:cNvPicPr>
              <a:picLocks noChangeAspect="1"/>
            </p:cNvPicPr>
            <p:nvPr/>
          </p:nvPicPr>
          <p:blipFill>
            <a:blip r:embed="rId2"/>
            <a:stretch>
              <a:fillRect/>
            </a:stretch>
          </p:blipFill>
          <p:spPr>
            <a:xfrm>
              <a:off x="879793" y="1790700"/>
              <a:ext cx="5022213" cy="1428750"/>
            </a:xfrm>
            <a:prstGeom prst="rect">
              <a:avLst/>
            </a:prstGeom>
          </p:spPr>
        </p:pic>
        <p:sp>
          <p:nvSpPr>
            <p:cNvPr id="9" name="TextBox 9"/>
            <p:cNvSpPr txBox="1"/>
            <p:nvPr/>
          </p:nvSpPr>
          <p:spPr>
            <a:xfrm>
              <a:off x="794766" y="3315652"/>
              <a:ext cx="4878057" cy="205359"/>
            </a:xfrm>
            <a:prstGeom prst="rect">
              <a:avLst/>
            </a:prstGeom>
            <a:noFill/>
            <a:ln>
              <a:noFill/>
            </a:ln>
          </p:spPr>
          <p:txBody>
            <a:bodyPr wrap="none" lIns="0" tIns="0" rIns="0" bIns="0" anchor="t" anchorCtr="0">
              <a:spAutoFit/>
            </a:bodyPr>
            <a:lstStyle/>
            <a:p>
              <a:pPr algn="l"/>
              <a:r>
                <a:rPr lang="en-US" sz="1050" b="1" dirty="0">
                  <a:solidFill>
                    <a:srgbClr val="C2410C"/>
                  </a:solidFill>
                  <a:latin typeface="+mn-lt"/>
                  <a:ea typeface="+mn-ea"/>
                  <a:cs typeface="+mn-cs"/>
                </a:rPr>
                <a:t>Re-sampling collapses</a:t>
              </a:r>
              <a:r>
                <a:rPr lang="en-US" sz="1050" dirty="0">
                  <a:solidFill>
                    <a:schemeClr val="dk1"/>
                  </a:solidFill>
                  <a:latin typeface="+mn-lt"/>
                  <a:ea typeface="+mn-ea"/>
                  <a:cs typeface="+mn-cs"/>
                </a:rPr>
                <a:t xml:space="preserve"> on scarce tasks · </a:t>
              </a:r>
              <a:r>
                <a:rPr lang="en-US" sz="1050" b="1" dirty="0">
                  <a:solidFill>
                    <a:srgbClr val="15803D"/>
                  </a:solidFill>
                  <a:latin typeface="+mn-lt"/>
                  <a:ea typeface="+mn-ea"/>
                  <a:cs typeface="+mn-cs"/>
                </a:rPr>
                <a:t>augmentation balances best</a:t>
              </a:r>
            </a:p>
          </p:txBody>
        </p:sp>
        <p:sp>
          <p:nvSpPr>
            <p:cNvPr id="10" name="TextBox 10"/>
            <p:cNvSpPr txBox="1"/>
            <p:nvPr/>
          </p:nvSpPr>
          <p:spPr>
            <a:xfrm>
              <a:off x="795338" y="3560445"/>
              <a:ext cx="4646641" cy="176212"/>
            </a:xfrm>
            <a:prstGeom prst="rect">
              <a:avLst/>
            </a:prstGeom>
            <a:noFill/>
            <a:ln>
              <a:noFill/>
            </a:ln>
          </p:spPr>
          <p:txBody>
            <a:bodyPr wrap="none" lIns="0" tIns="0" rIns="0" bIns="0" anchor="t" anchorCtr="0">
              <a:spAutoFit/>
            </a:bodyPr>
            <a:lstStyle/>
            <a:p>
              <a:pPr algn="l"/>
              <a:r>
                <a:rPr lang="en-US" sz="900" i="1" dirty="0">
                  <a:solidFill>
                    <a:schemeClr val="dk2"/>
                  </a:solidFill>
                  <a:latin typeface="+mn-lt"/>
                  <a:ea typeface="+mn-ea"/>
                  <a:cs typeface="+mn-cs"/>
                </a:rPr>
                <a:t>Figure 3 · Inference results under unbalanced / re-sampled / augmented data.</a:t>
              </a:r>
            </a:p>
          </p:txBody>
        </p:sp>
      </p:grpSp>
      <p:grpSp>
        <p:nvGrpSpPr>
          <p:cNvPr id="24" name="Group 24"/>
          <p:cNvGrpSpPr/>
          <p:nvPr/>
        </p:nvGrpSpPr>
        <p:grpSpPr>
          <a:xfrm>
            <a:off x="6362700" y="1390650"/>
            <a:ext cx="5514766" cy="2431732"/>
            <a:chOff x="6362700" y="1390650"/>
            <a:chExt cx="5514766" cy="2431732"/>
          </a:xfrm>
        </p:grpSpPr>
        <p:sp>
          <p:nvSpPr>
            <p:cNvPr id="12" name="Rectangle 12"/>
            <p:cNvSpPr/>
            <p:nvPr/>
          </p:nvSpPr>
          <p:spPr>
            <a:xfrm>
              <a:off x="6362700" y="1390650"/>
              <a:ext cx="5257800" cy="2381250"/>
            </a:xfrm>
            <a:prstGeom prst="roundRect">
              <a:avLst>
                <a:gd name="adj" fmla="val 4800"/>
              </a:avLst>
            </a:prstGeom>
            <a:solidFill>
              <a:schemeClr val="lt2"/>
            </a:solidFill>
            <a:ln>
              <a:noFill/>
            </a:ln>
          </p:spPr>
        </p:sp>
        <p:sp>
          <p:nvSpPr>
            <p:cNvPr id="13" name="TextBox 13"/>
            <p:cNvSpPr txBox="1"/>
            <p:nvPr/>
          </p:nvSpPr>
          <p:spPr>
            <a:xfrm>
              <a:off x="6586347" y="1590199"/>
              <a:ext cx="3779351"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SCALING DATA — REPRODUCED BY AUGMENTATION</a:t>
              </a:r>
            </a:p>
          </p:txBody>
        </p:sp>
        <p:pic>
          <p:nvPicPr>
            <p:cNvPr id="14" name="Image 14"/>
            <p:cNvPicPr>
              <a:picLocks noChangeAspect="1"/>
            </p:cNvPicPr>
            <p:nvPr/>
          </p:nvPicPr>
          <p:blipFill>
            <a:blip r:embed="rId3"/>
            <a:stretch>
              <a:fillRect/>
            </a:stretch>
          </p:blipFill>
          <p:spPr>
            <a:xfrm>
              <a:off x="6591300" y="1809750"/>
              <a:ext cx="1866900" cy="1866900"/>
            </a:xfrm>
            <a:prstGeom prst="rect">
              <a:avLst/>
            </a:prstGeom>
          </p:spPr>
        </p:pic>
        <p:grpSp>
          <p:nvGrpSpPr>
            <p:cNvPr id="22" name="Group 22"/>
            <p:cNvGrpSpPr/>
            <p:nvPr/>
          </p:nvGrpSpPr>
          <p:grpSpPr>
            <a:xfrm>
              <a:off x="8675370" y="1944052"/>
              <a:ext cx="3202096" cy="1542098"/>
              <a:chOff x="8675370" y="1944052"/>
              <a:chExt cx="3202096" cy="1542098"/>
            </a:xfrm>
          </p:grpSpPr>
          <p:sp>
            <p:nvSpPr>
              <p:cNvPr id="15" name="TextBox 15"/>
              <p:cNvSpPr txBox="1"/>
              <p:nvPr/>
            </p:nvSpPr>
            <p:spPr>
              <a:xfrm>
                <a:off x="8681466" y="1944052"/>
                <a:ext cx="204057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SA-1B segmentation 1% → 10%</a:t>
                </a:r>
              </a:p>
            </p:txBody>
          </p:sp>
          <p:sp>
            <p:nvSpPr>
              <p:cNvPr id="16" name="TextBox 16"/>
              <p:cNvSpPr txBox="1"/>
              <p:nvPr/>
            </p:nvSpPr>
            <p:spPr>
              <a:xfrm>
                <a:off x="8675370" y="2214562"/>
                <a:ext cx="946976" cy="440055"/>
              </a:xfrm>
              <a:prstGeom prst="rect">
                <a:avLst/>
              </a:prstGeom>
              <a:noFill/>
              <a:ln>
                <a:noFill/>
              </a:ln>
            </p:spPr>
            <p:txBody>
              <a:bodyPr wrap="none" lIns="0" tIns="0" rIns="0" bIns="0" anchor="t" anchorCtr="0">
                <a:spAutoFit/>
              </a:bodyPr>
              <a:lstStyle/>
              <a:p>
                <a:pPr algn="l"/>
                <a:r>
                  <a:rPr lang="en-US" sz="2250" b="1" dirty="0">
                    <a:solidFill>
                      <a:schemeClr val="accent1"/>
                    </a:solidFill>
                    <a:latin typeface="+mj-lt"/>
                    <a:ea typeface="+mj-ea"/>
                    <a:cs typeface="+mj-cs"/>
                  </a:rPr>
                  <a:t>−0.19</a:t>
                </a:r>
              </a:p>
            </p:txBody>
          </p:sp>
          <p:sp>
            <p:nvSpPr>
              <p:cNvPr id="17" name="TextBox 17"/>
              <p:cNvSpPr txBox="1"/>
              <p:nvPr/>
            </p:nvSpPr>
            <p:spPr>
              <a:xfrm>
                <a:off x="9614535" y="2336006"/>
                <a:ext cx="106685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validation loss</a:t>
                </a:r>
              </a:p>
            </p:txBody>
          </p:sp>
          <p:sp>
            <p:nvSpPr>
              <p:cNvPr id="18" name="TextBox 18"/>
              <p:cNvSpPr txBox="1"/>
              <p:nvPr/>
            </p:nvSpPr>
            <p:spPr>
              <a:xfrm>
                <a:off x="8675370" y="2614612"/>
                <a:ext cx="946976"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j-lt"/>
                    <a:ea typeface="+mj-ea"/>
                    <a:cs typeface="+mj-cs"/>
                  </a:rPr>
                  <a:t>−22.4</a:t>
                </a:r>
              </a:p>
            </p:txBody>
          </p:sp>
          <p:sp>
            <p:nvSpPr>
              <p:cNvPr id="19" name="TextBox 19"/>
              <p:cNvSpPr txBox="1"/>
              <p:nvPr/>
            </p:nvSpPr>
            <p:spPr>
              <a:xfrm>
                <a:off x="9614535" y="2736056"/>
                <a:ext cx="76530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perplexity</a:t>
                </a:r>
              </a:p>
            </p:txBody>
          </p:sp>
          <p:sp>
            <p:nvSpPr>
              <p:cNvPr id="20" name="Rectangle 20"/>
              <p:cNvSpPr/>
              <p:nvPr/>
            </p:nvSpPr>
            <p:spPr>
              <a:xfrm>
                <a:off x="8686800" y="3067050"/>
                <a:ext cx="2724150" cy="419100"/>
              </a:xfrm>
              <a:prstGeom prst="roundRect">
                <a:avLst>
                  <a:gd name="adj" fmla="val 18182"/>
                </a:avLst>
              </a:prstGeom>
              <a:solidFill>
                <a:schemeClr val="accent6"/>
              </a:solidFill>
              <a:ln>
                <a:noFill/>
              </a:ln>
            </p:spPr>
          </p:sp>
          <p:sp>
            <p:nvSpPr>
              <p:cNvPr id="21" name="TextBox 21"/>
              <p:cNvSpPr txBox="1"/>
              <p:nvPr/>
            </p:nvSpPr>
            <p:spPr>
              <a:xfrm>
                <a:off x="8833866" y="3210878"/>
                <a:ext cx="3043600" cy="205359"/>
              </a:xfrm>
              <a:prstGeom prst="rect">
                <a:avLst/>
              </a:prstGeom>
              <a:noFill/>
              <a:ln>
                <a:noFill/>
              </a:ln>
            </p:spPr>
            <p:txBody>
              <a:bodyPr wrap="none" lIns="0" tIns="0" rIns="0" bIns="0" anchor="t" anchorCtr="0">
                <a:spAutoFit/>
              </a:bodyPr>
              <a:lstStyle/>
              <a:p>
                <a:pPr algn="l"/>
                <a:r>
                  <a:rPr lang="en-US" sz="1050" b="1" dirty="0">
                    <a:solidFill>
                      <a:schemeClr val="accent2"/>
                    </a:solidFill>
                    <a:latin typeface="+mn-lt"/>
                    <a:ea typeface="+mn-ea"/>
                    <a:cs typeface="+mn-cs"/>
                  </a:rPr>
                  <a:t>Augmentation reproduces it — no new data</a:t>
                </a:r>
              </a:p>
            </p:txBody>
          </p:sp>
        </p:grpSp>
        <p:sp>
          <p:nvSpPr>
            <p:cNvPr id="23" name="TextBox 23"/>
            <p:cNvSpPr txBox="1"/>
            <p:nvPr/>
          </p:nvSpPr>
          <p:spPr>
            <a:xfrm>
              <a:off x="6586538" y="3646170"/>
              <a:ext cx="486499" cy="176212"/>
            </a:xfrm>
            <a:prstGeom prst="rect">
              <a:avLst/>
            </a:prstGeom>
            <a:noFill/>
            <a:ln>
              <a:noFill/>
            </a:ln>
          </p:spPr>
          <p:txBody>
            <a:bodyPr wrap="none" lIns="0" tIns="0" rIns="0" bIns="0" anchor="t" anchorCtr="0">
              <a:spAutoFit/>
            </a:bodyPr>
            <a:lstStyle/>
            <a:p>
              <a:pPr algn="l"/>
              <a:r>
                <a:rPr lang="en-US" sz="900" i="1" dirty="0">
                  <a:solidFill>
                    <a:schemeClr val="dk2"/>
                  </a:solidFill>
                  <a:latin typeface="+mn-lt"/>
                  <a:ea typeface="+mn-ea"/>
                  <a:cs typeface="+mn-cs"/>
                </a:rPr>
                <a:t>Figure 2</a:t>
              </a:r>
            </a:p>
          </p:txBody>
        </p:sp>
      </p:grpSp>
      <p:grpSp>
        <p:nvGrpSpPr>
          <p:cNvPr id="39" name="Group 39"/>
          <p:cNvGrpSpPr/>
          <p:nvPr/>
        </p:nvGrpSpPr>
        <p:grpSpPr>
          <a:xfrm>
            <a:off x="571500" y="3924300"/>
            <a:ext cx="5638800" cy="2305050"/>
            <a:chOff x="571500" y="3924300"/>
            <a:chExt cx="5638800" cy="2305050"/>
          </a:xfrm>
        </p:grpSpPr>
        <p:sp>
          <p:nvSpPr>
            <p:cNvPr id="25" name="Rectangle 25"/>
            <p:cNvSpPr/>
            <p:nvPr/>
          </p:nvSpPr>
          <p:spPr>
            <a:xfrm>
              <a:off x="571500" y="3924300"/>
              <a:ext cx="5638800" cy="2305050"/>
            </a:xfrm>
            <a:prstGeom prst="roundRect">
              <a:avLst>
                <a:gd name="adj" fmla="val 4959"/>
              </a:avLst>
            </a:prstGeom>
            <a:solidFill>
              <a:schemeClr val="lt1"/>
            </a:solidFill>
            <a:ln w="14288">
              <a:solidFill>
                <a:schemeClr val="accent4"/>
              </a:solidFill>
            </a:ln>
          </p:spPr>
        </p:sp>
        <p:sp>
          <p:nvSpPr>
            <p:cNvPr id="26" name="Rectangle 26"/>
            <p:cNvSpPr/>
            <p:nvPr/>
          </p:nvSpPr>
          <p:spPr>
            <a:xfrm>
              <a:off x="571500" y="3924300"/>
              <a:ext cx="57150" cy="2305050"/>
            </a:xfrm>
            <a:prstGeom prst="roundRect">
              <a:avLst>
                <a:gd name="adj" fmla="val 50000"/>
              </a:avLst>
            </a:prstGeom>
            <a:solidFill>
              <a:schemeClr val="accent3"/>
            </a:solidFill>
            <a:ln>
              <a:noFill/>
            </a:ln>
          </p:spPr>
        </p:sp>
        <p:sp>
          <p:nvSpPr>
            <p:cNvPr id="27" name="TextBox 27"/>
            <p:cNvSpPr txBox="1"/>
            <p:nvPr/>
          </p:nvSpPr>
          <p:spPr>
            <a:xfrm>
              <a:off x="833247" y="4142899"/>
              <a:ext cx="2660058" cy="190690"/>
            </a:xfrm>
            <a:prstGeom prst="rect">
              <a:avLst/>
            </a:prstGeom>
            <a:noFill/>
            <a:ln>
              <a:noFill/>
            </a:ln>
          </p:spPr>
          <p:txBody>
            <a:bodyPr wrap="none" lIns="0" tIns="0" rIns="0" bIns="0" anchor="t" anchorCtr="0">
              <a:spAutoFit/>
            </a:bodyPr>
            <a:lstStyle/>
            <a:p>
              <a:pPr algn="l"/>
              <a:r>
                <a:rPr lang="en-US" sz="980" b="1" spc="112" dirty="0">
                  <a:solidFill>
                    <a:schemeClr val="accent3"/>
                  </a:solidFill>
                  <a:latin typeface="+mn-lt"/>
                  <a:ea typeface="+mn-ea"/>
                  <a:cs typeface="+mn-cs"/>
                </a:rPr>
                <a:t>DISTILLATION LIFTS THE STUDENT</a:t>
              </a:r>
            </a:p>
          </p:txBody>
        </p:sp>
        <p:sp>
          <p:nvSpPr>
            <p:cNvPr id="28" name="TextBox 28"/>
            <p:cNvSpPr txBox="1"/>
            <p:nvPr/>
          </p:nvSpPr>
          <p:spPr>
            <a:xfrm>
              <a:off x="831723" y="4453414"/>
              <a:ext cx="4160801"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KD improves the compact student on every task —</a:t>
              </a:r>
            </a:p>
          </p:txBody>
        </p:sp>
        <p:sp>
          <p:nvSpPr>
            <p:cNvPr id="29" name="TextBox 29"/>
            <p:cNvSpPr txBox="1"/>
            <p:nvPr/>
          </p:nvSpPr>
          <p:spPr>
            <a:xfrm>
              <a:off x="831723" y="4682014"/>
              <a:ext cx="3700465"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in both single-task and multi-task training.</a:t>
              </a:r>
            </a:p>
          </p:txBody>
        </p:sp>
        <p:grpSp>
          <p:nvGrpSpPr>
            <p:cNvPr id="36" name="Group 36"/>
            <p:cNvGrpSpPr/>
            <p:nvPr/>
          </p:nvGrpSpPr>
          <p:grpSpPr>
            <a:xfrm>
              <a:off x="838200" y="5029200"/>
              <a:ext cx="4419600" cy="438150"/>
              <a:chOff x="838200" y="5029200"/>
              <a:chExt cx="4419600" cy="438150"/>
            </a:xfrm>
          </p:grpSpPr>
          <p:sp>
            <p:nvSpPr>
              <p:cNvPr id="30" name="Rectangle 30"/>
              <p:cNvSpPr/>
              <p:nvPr/>
            </p:nvSpPr>
            <p:spPr>
              <a:xfrm>
                <a:off x="838200" y="5029200"/>
                <a:ext cx="1619250" cy="438150"/>
              </a:xfrm>
              <a:prstGeom prst="roundRect">
                <a:avLst>
                  <a:gd name="adj" fmla="val 17391"/>
                </a:avLst>
              </a:prstGeom>
              <a:solidFill>
                <a:srgbClr val="E4F6F5"/>
              </a:solidFill>
              <a:ln>
                <a:noFill/>
              </a:ln>
            </p:spPr>
          </p:sp>
          <p:sp>
            <p:nvSpPr>
              <p:cNvPr id="31" name="TextBox 31"/>
              <p:cNvSpPr txBox="1"/>
              <p:nvPr/>
            </p:nvSpPr>
            <p:spPr>
              <a:xfrm>
                <a:off x="1017800" y="5126831"/>
                <a:ext cx="1260050" cy="220028"/>
              </a:xfrm>
              <a:prstGeom prst="rect">
                <a:avLst/>
              </a:prstGeom>
              <a:noFill/>
              <a:ln>
                <a:noFill/>
              </a:ln>
            </p:spPr>
            <p:txBody>
              <a:bodyPr wrap="none" lIns="0" tIns="0" rIns="0" bIns="0" anchor="t" anchorCtr="0">
                <a:spAutoFit/>
              </a:bodyPr>
              <a:lstStyle/>
              <a:p>
                <a:pPr algn="ctr"/>
                <a:r>
                  <a:rPr lang="en-US" sz="1120" b="1" dirty="0">
                    <a:solidFill>
                      <a:schemeClr val="accent3"/>
                    </a:solidFill>
                    <a:latin typeface="+mn-lt"/>
                    <a:ea typeface="+mn-ea"/>
                    <a:cs typeface="+mn-cs"/>
                  </a:rPr>
                  <a:t>✓ Segmentation</a:t>
                </a:r>
              </a:p>
            </p:txBody>
          </p:sp>
          <p:sp>
            <p:nvSpPr>
              <p:cNvPr id="32" name="Rectangle 32"/>
              <p:cNvSpPr/>
              <p:nvPr/>
            </p:nvSpPr>
            <p:spPr>
              <a:xfrm>
                <a:off x="2571750" y="5029200"/>
                <a:ext cx="1143000" cy="438150"/>
              </a:xfrm>
              <a:prstGeom prst="roundRect">
                <a:avLst>
                  <a:gd name="adj" fmla="val 17391"/>
                </a:avLst>
              </a:prstGeom>
              <a:solidFill>
                <a:srgbClr val="E4F6F5"/>
              </a:solidFill>
              <a:ln>
                <a:noFill/>
              </a:ln>
            </p:spPr>
          </p:sp>
          <p:sp>
            <p:nvSpPr>
              <p:cNvPr id="33" name="TextBox 33"/>
              <p:cNvSpPr txBox="1"/>
              <p:nvPr/>
            </p:nvSpPr>
            <p:spPr>
              <a:xfrm>
                <a:off x="2856567" y="5126831"/>
                <a:ext cx="573367" cy="220028"/>
              </a:xfrm>
              <a:prstGeom prst="rect">
                <a:avLst/>
              </a:prstGeom>
              <a:noFill/>
              <a:ln>
                <a:noFill/>
              </a:ln>
            </p:spPr>
            <p:txBody>
              <a:bodyPr wrap="none" lIns="0" tIns="0" rIns="0" bIns="0" anchor="t" anchorCtr="0">
                <a:spAutoFit/>
              </a:bodyPr>
              <a:lstStyle/>
              <a:p>
                <a:pPr algn="ctr"/>
                <a:r>
                  <a:rPr lang="en-US" sz="1120" b="1" dirty="0">
                    <a:solidFill>
                      <a:schemeClr val="accent3"/>
                    </a:solidFill>
                    <a:latin typeface="+mn-lt"/>
                    <a:ea typeface="+mn-ea"/>
                    <a:cs typeface="+mn-cs"/>
                  </a:rPr>
                  <a:t>✓ Pose</a:t>
                </a:r>
              </a:p>
            </p:txBody>
          </p:sp>
          <p:sp>
            <p:nvSpPr>
              <p:cNvPr id="34" name="Rectangle 34"/>
              <p:cNvSpPr/>
              <p:nvPr/>
            </p:nvSpPr>
            <p:spPr>
              <a:xfrm>
                <a:off x="3829050" y="5029200"/>
                <a:ext cx="1428750" cy="438150"/>
              </a:xfrm>
              <a:prstGeom prst="roundRect">
                <a:avLst>
                  <a:gd name="adj" fmla="val 17391"/>
                </a:avLst>
              </a:prstGeom>
              <a:solidFill>
                <a:srgbClr val="E4F6F5"/>
              </a:solidFill>
              <a:ln>
                <a:noFill/>
              </a:ln>
            </p:spPr>
          </p:sp>
          <p:sp>
            <p:nvSpPr>
              <p:cNvPr id="35" name="TextBox 35"/>
              <p:cNvSpPr txBox="1"/>
              <p:nvPr/>
            </p:nvSpPr>
            <p:spPr>
              <a:xfrm>
                <a:off x="4079697" y="5126831"/>
                <a:ext cx="927456" cy="220028"/>
              </a:xfrm>
              <a:prstGeom prst="rect">
                <a:avLst/>
              </a:prstGeom>
              <a:noFill/>
              <a:ln>
                <a:noFill/>
              </a:ln>
            </p:spPr>
            <p:txBody>
              <a:bodyPr wrap="none" lIns="0" tIns="0" rIns="0" bIns="0" anchor="t" anchorCtr="0">
                <a:spAutoFit/>
              </a:bodyPr>
              <a:lstStyle/>
              <a:p>
                <a:pPr algn="ctr"/>
                <a:r>
                  <a:rPr lang="en-US" sz="1120" b="1" dirty="0">
                    <a:solidFill>
                      <a:schemeClr val="accent3"/>
                    </a:solidFill>
                    <a:latin typeface="+mn-lt"/>
                    <a:ea typeface="+mn-ea"/>
                    <a:cs typeface="+mn-cs"/>
                  </a:rPr>
                  <a:t>✓ Deraining</a:t>
                </a:r>
              </a:p>
            </p:txBody>
          </p:sp>
        </p:grpSp>
        <p:sp>
          <p:nvSpPr>
            <p:cNvPr id="37" name="TextBox 37"/>
            <p:cNvSpPr txBox="1"/>
            <p:nvPr/>
          </p:nvSpPr>
          <p:spPr>
            <a:xfrm>
              <a:off x="832485" y="5707856"/>
              <a:ext cx="3784168" cy="220028"/>
            </a:xfrm>
            <a:prstGeom prst="rect">
              <a:avLst/>
            </a:prstGeom>
            <a:noFill/>
            <a:ln>
              <a:noFill/>
            </a:ln>
          </p:spPr>
          <p:txBody>
            <a:bodyPr wrap="none" lIns="0" tIns="0" rIns="0" bIns="0" anchor="t" anchorCtr="0">
              <a:spAutoFit/>
            </a:bodyPr>
            <a:lstStyle/>
            <a:p>
              <a:pPr algn="l"/>
              <a:r>
                <a:rPr lang="en-US" sz="1120" i="1" dirty="0">
                  <a:solidFill>
                    <a:schemeClr val="dk2"/>
                  </a:solidFill>
                  <a:latin typeface="+mn-lt"/>
                  <a:ea typeface="+mn-ea"/>
                  <a:cs typeface="+mn-cs"/>
                </a:rPr>
                <a:t>The 300M student trained with a LLaMA-1B teacher</a:t>
              </a:r>
            </a:p>
          </p:txBody>
        </p:sp>
        <p:sp>
          <p:nvSpPr>
            <p:cNvPr id="38" name="TextBox 38"/>
            <p:cNvSpPr txBox="1"/>
            <p:nvPr/>
          </p:nvSpPr>
          <p:spPr>
            <a:xfrm>
              <a:off x="832485" y="5917406"/>
              <a:ext cx="4172803" cy="220028"/>
            </a:xfrm>
            <a:prstGeom prst="rect">
              <a:avLst/>
            </a:prstGeom>
            <a:noFill/>
            <a:ln>
              <a:noFill/>
            </a:ln>
          </p:spPr>
          <p:txBody>
            <a:bodyPr wrap="none" lIns="0" tIns="0" rIns="0" bIns="0" anchor="t" anchorCtr="0">
              <a:spAutoFit/>
            </a:bodyPr>
            <a:lstStyle/>
            <a:p>
              <a:pPr algn="l"/>
              <a:r>
                <a:rPr lang="en-US" sz="1120" i="1" dirty="0">
                  <a:solidFill>
                    <a:schemeClr val="dk2"/>
                  </a:solidFill>
                  <a:latin typeface="+mn-lt"/>
                  <a:ea typeface="+mn-ea"/>
                  <a:cs typeface="+mn-cs"/>
                </a:rPr>
                <a:t>tracks the teacher far more closely than from scratch.</a:t>
              </a:r>
            </a:p>
          </p:txBody>
        </p:sp>
      </p:grpSp>
      <p:grpSp>
        <p:nvGrpSpPr>
          <p:cNvPr id="56" name="Group 56"/>
          <p:cNvGrpSpPr/>
          <p:nvPr/>
        </p:nvGrpSpPr>
        <p:grpSpPr>
          <a:xfrm>
            <a:off x="6362700" y="3924300"/>
            <a:ext cx="5257800" cy="2305050"/>
            <a:chOff x="6362700" y="3924300"/>
            <a:chExt cx="5257800" cy="2305050"/>
          </a:xfrm>
        </p:grpSpPr>
        <p:sp>
          <p:nvSpPr>
            <p:cNvPr id="40" name="Rectangle 40"/>
            <p:cNvSpPr/>
            <p:nvPr/>
          </p:nvSpPr>
          <p:spPr>
            <a:xfrm>
              <a:off x="6362700" y="3924300"/>
              <a:ext cx="5257800" cy="2305050"/>
            </a:xfrm>
            <a:prstGeom prst="roundRect">
              <a:avLst>
                <a:gd name="adj" fmla="val 4959"/>
              </a:avLst>
            </a:prstGeom>
            <a:solidFill>
              <a:schemeClr val="lt1"/>
            </a:solidFill>
            <a:ln w="14288">
              <a:solidFill>
                <a:schemeClr val="accent4"/>
              </a:solidFill>
            </a:ln>
          </p:spPr>
        </p:sp>
        <p:sp>
          <p:nvSpPr>
            <p:cNvPr id="41" name="Rectangle 41"/>
            <p:cNvSpPr/>
            <p:nvPr/>
          </p:nvSpPr>
          <p:spPr>
            <a:xfrm>
              <a:off x="6362700" y="3924300"/>
              <a:ext cx="57150" cy="2305050"/>
            </a:xfrm>
            <a:prstGeom prst="roundRect">
              <a:avLst>
                <a:gd name="adj" fmla="val 50000"/>
              </a:avLst>
            </a:prstGeom>
            <a:solidFill>
              <a:schemeClr val="accent2"/>
            </a:solidFill>
            <a:ln>
              <a:noFill/>
            </a:ln>
          </p:spPr>
        </p:sp>
        <p:sp>
          <p:nvSpPr>
            <p:cNvPr id="42" name="TextBox 42"/>
            <p:cNvSpPr txBox="1"/>
            <p:nvPr/>
          </p:nvSpPr>
          <p:spPr>
            <a:xfrm>
              <a:off x="6624447" y="4142899"/>
              <a:ext cx="3141150"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PASCAL-5i FOREGROUND SEGMENTATION</a:t>
              </a:r>
            </a:p>
          </p:txBody>
        </p:sp>
        <p:sp>
          <p:nvSpPr>
            <p:cNvPr id="43" name="TextBox 43"/>
            <p:cNvSpPr txBox="1"/>
            <p:nvPr/>
          </p:nvSpPr>
          <p:spPr>
            <a:xfrm>
              <a:off x="6622923" y="4453414"/>
              <a:ext cx="4143518"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Distilled + fine-tuned 300M clearly surpasses the</a:t>
              </a:r>
            </a:p>
          </p:txBody>
        </p:sp>
        <p:sp>
          <p:nvSpPr>
            <p:cNvPr id="44" name="TextBox 44"/>
            <p:cNvSpPr txBox="1"/>
            <p:nvPr/>
          </p:nvSpPr>
          <p:spPr>
            <a:xfrm>
              <a:off x="6622923" y="4682014"/>
              <a:ext cx="2890591"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same model trained from scratch.</a:t>
              </a:r>
            </a:p>
          </p:txBody>
        </p:sp>
        <p:sp>
          <p:nvSpPr>
            <p:cNvPr id="45" name="TextBox 45"/>
            <p:cNvSpPr txBox="1"/>
            <p:nvPr/>
          </p:nvSpPr>
          <p:spPr>
            <a:xfrm>
              <a:off x="6624447" y="5095399"/>
              <a:ext cx="2631741" cy="190690"/>
            </a:xfrm>
            <a:prstGeom prst="rect">
              <a:avLst/>
            </a:prstGeom>
            <a:noFill/>
            <a:ln>
              <a:noFill/>
            </a:ln>
          </p:spPr>
          <p:txBody>
            <a:bodyPr wrap="none" lIns="0" tIns="0" rIns="0" bIns="0" anchor="t" anchorCtr="0">
              <a:spAutoFit/>
            </a:bodyPr>
            <a:lstStyle/>
            <a:p>
              <a:pPr algn="l"/>
              <a:r>
                <a:rPr lang="en-US" sz="980" b="1" spc="75" dirty="0">
                  <a:solidFill>
                    <a:schemeClr val="dk2"/>
                  </a:solidFill>
                  <a:latin typeface="+mn-lt"/>
                  <a:ea typeface="+mn-ea"/>
                  <a:cs typeface="+mn-cs"/>
                </a:rPr>
                <a:t>DISTILLED 300M mIoU · SPLITS 0–3</a:t>
              </a:r>
            </a:p>
          </p:txBody>
        </p:sp>
        <p:grpSp>
          <p:nvGrpSpPr>
            <p:cNvPr id="54" name="Group 54"/>
            <p:cNvGrpSpPr/>
            <p:nvPr/>
          </p:nvGrpSpPr>
          <p:grpSpPr>
            <a:xfrm>
              <a:off x="6629400" y="5334000"/>
              <a:ext cx="4800600" cy="571500"/>
              <a:chOff x="6629400" y="5334000"/>
              <a:chExt cx="4800600" cy="571500"/>
            </a:xfrm>
          </p:grpSpPr>
          <p:sp>
            <p:nvSpPr>
              <p:cNvPr id="46" name="Rectangle 46"/>
              <p:cNvSpPr/>
              <p:nvPr/>
            </p:nvSpPr>
            <p:spPr>
              <a:xfrm>
                <a:off x="6629400" y="5334000"/>
                <a:ext cx="1143000" cy="571500"/>
              </a:xfrm>
              <a:prstGeom prst="roundRect">
                <a:avLst>
                  <a:gd name="adj" fmla="val 13333"/>
                </a:avLst>
              </a:prstGeom>
              <a:solidFill>
                <a:schemeClr val="accent6"/>
              </a:solidFill>
              <a:ln>
                <a:noFill/>
              </a:ln>
            </p:spPr>
          </p:sp>
          <p:sp>
            <p:nvSpPr>
              <p:cNvPr id="47" name="TextBox 47"/>
              <p:cNvSpPr txBox="1"/>
              <p:nvPr/>
            </p:nvSpPr>
            <p:spPr>
              <a:xfrm>
                <a:off x="6853676" y="5498782"/>
                <a:ext cx="694449"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j-lt"/>
                    <a:ea typeface="+mj-ea"/>
                    <a:cs typeface="+mj-cs"/>
                  </a:rPr>
                  <a:t>18.58</a:t>
                </a:r>
              </a:p>
            </p:txBody>
          </p:sp>
          <p:sp>
            <p:nvSpPr>
              <p:cNvPr id="48" name="Rectangle 48"/>
              <p:cNvSpPr/>
              <p:nvPr/>
            </p:nvSpPr>
            <p:spPr>
              <a:xfrm>
                <a:off x="7848600" y="5334000"/>
                <a:ext cx="1143000" cy="571500"/>
              </a:xfrm>
              <a:prstGeom prst="roundRect">
                <a:avLst>
                  <a:gd name="adj" fmla="val 13333"/>
                </a:avLst>
              </a:prstGeom>
              <a:solidFill>
                <a:schemeClr val="accent6"/>
              </a:solidFill>
              <a:ln>
                <a:noFill/>
              </a:ln>
            </p:spPr>
          </p:sp>
          <p:sp>
            <p:nvSpPr>
              <p:cNvPr id="49" name="TextBox 49"/>
              <p:cNvSpPr txBox="1"/>
              <p:nvPr/>
            </p:nvSpPr>
            <p:spPr>
              <a:xfrm>
                <a:off x="8072876" y="5498782"/>
                <a:ext cx="694449"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j-lt"/>
                    <a:ea typeface="+mj-ea"/>
                    <a:cs typeface="+mj-cs"/>
                  </a:rPr>
                  <a:t>21.32</a:t>
                </a:r>
              </a:p>
            </p:txBody>
          </p:sp>
          <p:sp>
            <p:nvSpPr>
              <p:cNvPr id="50" name="Rectangle 50"/>
              <p:cNvSpPr/>
              <p:nvPr/>
            </p:nvSpPr>
            <p:spPr>
              <a:xfrm>
                <a:off x="9067800" y="5334000"/>
                <a:ext cx="1143000" cy="571500"/>
              </a:xfrm>
              <a:prstGeom prst="roundRect">
                <a:avLst>
                  <a:gd name="adj" fmla="val 13333"/>
                </a:avLst>
              </a:prstGeom>
              <a:solidFill>
                <a:schemeClr val="accent6"/>
              </a:solidFill>
              <a:ln>
                <a:noFill/>
              </a:ln>
            </p:spPr>
          </p:sp>
          <p:sp>
            <p:nvSpPr>
              <p:cNvPr id="51" name="TextBox 51"/>
              <p:cNvSpPr txBox="1"/>
              <p:nvPr/>
            </p:nvSpPr>
            <p:spPr>
              <a:xfrm>
                <a:off x="9292076" y="5498782"/>
                <a:ext cx="694449"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j-lt"/>
                    <a:ea typeface="+mj-ea"/>
                    <a:cs typeface="+mj-cs"/>
                  </a:rPr>
                  <a:t>19.90</a:t>
                </a:r>
              </a:p>
            </p:txBody>
          </p:sp>
          <p:sp>
            <p:nvSpPr>
              <p:cNvPr id="52" name="Rectangle 52"/>
              <p:cNvSpPr/>
              <p:nvPr/>
            </p:nvSpPr>
            <p:spPr>
              <a:xfrm>
                <a:off x="10287000" y="5334000"/>
                <a:ext cx="1143000" cy="571500"/>
              </a:xfrm>
              <a:prstGeom prst="roundRect">
                <a:avLst>
                  <a:gd name="adj" fmla="val 13333"/>
                </a:avLst>
              </a:prstGeom>
              <a:solidFill>
                <a:schemeClr val="accent6"/>
              </a:solidFill>
              <a:ln>
                <a:noFill/>
              </a:ln>
            </p:spPr>
          </p:sp>
          <p:sp>
            <p:nvSpPr>
              <p:cNvPr id="53" name="TextBox 53"/>
              <p:cNvSpPr txBox="1"/>
              <p:nvPr/>
            </p:nvSpPr>
            <p:spPr>
              <a:xfrm>
                <a:off x="10511276" y="5498782"/>
                <a:ext cx="694449"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j-lt"/>
                    <a:ea typeface="+mj-ea"/>
                    <a:cs typeface="+mj-cs"/>
                  </a:rPr>
                  <a:t>21.08</a:t>
                </a:r>
              </a:p>
            </p:txBody>
          </p:sp>
        </p:grpSp>
        <p:sp>
          <p:nvSpPr>
            <p:cNvPr id="55" name="TextBox 55"/>
            <p:cNvSpPr txBox="1"/>
            <p:nvPr/>
          </p:nvSpPr>
          <p:spPr>
            <a:xfrm>
              <a:off x="6624066" y="6001702"/>
              <a:ext cx="3436681" cy="205359"/>
            </a:xfrm>
            <a:prstGeom prst="rect">
              <a:avLst/>
            </a:prstGeom>
            <a:noFill/>
            <a:ln>
              <a:noFill/>
            </a:ln>
          </p:spPr>
          <p:txBody>
            <a:bodyPr wrap="none" lIns="0" tIns="0" rIns="0" bIns="0" anchor="t" anchorCtr="0">
              <a:spAutoFit/>
            </a:bodyPr>
            <a:lstStyle/>
            <a:p>
              <a:pPr algn="l"/>
              <a:r>
                <a:rPr lang="en-US" sz="1050" b="1" dirty="0">
                  <a:solidFill>
                    <a:srgbClr val="15803D"/>
                  </a:solidFill>
                  <a:latin typeface="+mn-lt"/>
                  <a:ea typeface="+mn-ea"/>
                  <a:cs typeface="+mn-cs"/>
                </a:rPr>
                <a:t>All four splits beat the from-scratch baseline.</a:t>
              </a:r>
            </a:p>
          </p:txBody>
        </p:sp>
      </p:grpSp>
      <p:grpSp>
        <p:nvGrpSpPr>
          <p:cNvPr id="59" name="Group 59"/>
          <p:cNvGrpSpPr/>
          <p:nvPr/>
        </p:nvGrpSpPr>
        <p:grpSpPr>
          <a:xfrm>
            <a:off x="566738" y="6597491"/>
            <a:ext cx="11058524" cy="161925"/>
            <a:chOff x="566738" y="6597491"/>
            <a:chExt cx="11058524" cy="161925"/>
          </a:xfrm>
        </p:grpSpPr>
        <p:sp>
          <p:nvSpPr>
            <p:cNvPr id="57" name="TextBox 57"/>
            <p:cNvSpPr txBox="1"/>
            <p:nvPr/>
          </p:nvSpPr>
          <p:spPr>
            <a:xfrm>
              <a:off x="566738" y="6597491"/>
              <a:ext cx="2530674" cy="161925"/>
            </a:xfrm>
            <a:prstGeom prst="rect">
              <a:avLst/>
            </a:prstGeom>
            <a:noFill/>
            <a:ln>
              <a:noFill/>
            </a:ln>
          </p:spPr>
          <p:txBody>
            <a:bodyPr wrap="none" lIns="0" tIns="0" rIns="0" bIns="0" anchor="t" anchorCtr="0">
              <a:spAutoFit/>
            </a:bodyPr>
            <a:lstStyle/>
            <a:p>
              <a:pPr algn="l"/>
              <a:r>
                <a:rPr lang="en-US" sz="820" dirty="0">
                  <a:solidFill>
                    <a:schemeClr val="accent5"/>
                  </a:solidFill>
                  <a:latin typeface="+mn-lt"/>
                  <a:ea typeface="+mn-ea"/>
                  <a:cs typeface="+mn-cs"/>
                </a:rPr>
                <a:t>DeLVM · ICML 2024 — key results (Figures 2–4)</a:t>
              </a:r>
            </a:p>
          </p:txBody>
        </p:sp>
        <p:sp>
          <p:nvSpPr>
            <p:cNvPr id="58" name="TextBox 58"/>
            <p:cNvSpPr txBox="1"/>
            <p:nvPr/>
          </p:nvSpPr>
          <p:spPr>
            <a:xfrm>
              <a:off x="11494310" y="6597491"/>
              <a:ext cx="130952" cy="161925"/>
            </a:xfrm>
            <a:prstGeom prst="rect">
              <a:avLst/>
            </a:prstGeom>
            <a:noFill/>
            <a:ln>
              <a:noFill/>
            </a:ln>
          </p:spPr>
          <p:txBody>
            <a:bodyPr wrap="none" lIns="0" tIns="0" rIns="0" bIns="0" anchor="t" anchorCtr="0">
              <a:spAutoFit/>
            </a:bodyPr>
            <a:lstStyle/>
            <a:p>
              <a:pPr algn="r"/>
              <a:r>
                <a:rPr lang="en-US" sz="820" dirty="0">
                  <a:solidFill>
                    <a:schemeClr val="accent5"/>
                  </a:solidFill>
                  <a:latin typeface="+mn-lt"/>
                  <a:ea typeface="+mn-ea"/>
                  <a:cs typeface="+mn-cs"/>
                </a:rPr>
                <a:t>06</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495300"/>
            <a:ext cx="6743031" cy="675989"/>
            <a:chOff x="571500" y="495300"/>
            <a:chExt cx="6743031" cy="675989"/>
          </a:xfrm>
        </p:grpSpPr>
        <p:sp>
          <p:nvSpPr>
            <p:cNvPr id="2" name="Rectangle 2"/>
            <p:cNvSpPr/>
            <p:nvPr/>
          </p:nvSpPr>
          <p:spPr>
            <a:xfrm>
              <a:off x="571500" y="495300"/>
              <a:ext cx="57150" cy="400050"/>
            </a:xfrm>
            <a:prstGeom prst="rect">
              <a:avLst/>
            </a:prstGeom>
            <a:solidFill>
              <a:schemeClr val="accent2"/>
            </a:solidFill>
            <a:ln>
              <a:noFill/>
            </a:ln>
          </p:spPr>
        </p:sp>
        <p:sp>
          <p:nvSpPr>
            <p:cNvPr id="3" name="TextBox 3"/>
            <p:cNvSpPr txBox="1"/>
            <p:nvPr/>
          </p:nvSpPr>
          <p:spPr>
            <a:xfrm>
              <a:off x="787146" y="543878"/>
              <a:ext cx="6527385"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Ablations that sharpen the picture</a:t>
              </a:r>
            </a:p>
          </p:txBody>
        </p:sp>
        <p:sp>
          <p:nvSpPr>
            <p:cNvPr id="4" name="TextBox 4"/>
            <p:cNvSpPr txBox="1"/>
            <p:nvPr/>
          </p:nvSpPr>
          <p:spPr>
            <a:xfrm>
              <a:off x="795147" y="980599"/>
              <a:ext cx="4299395"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ABLATION · PROMPT COLOR · SHUFFLING · KD AT 80M</a:t>
              </a:r>
            </a:p>
          </p:txBody>
        </p:sp>
      </p:grpSp>
      <p:grpSp>
        <p:nvGrpSpPr>
          <p:cNvPr id="9" name="Group 9"/>
          <p:cNvGrpSpPr/>
          <p:nvPr/>
        </p:nvGrpSpPr>
        <p:grpSpPr>
          <a:xfrm>
            <a:off x="571500" y="1333500"/>
            <a:ext cx="11049000" cy="590550"/>
            <a:chOff x="571500" y="1333500"/>
            <a:chExt cx="11049000" cy="590550"/>
          </a:xfrm>
        </p:grpSpPr>
        <p:sp>
          <p:nvSpPr>
            <p:cNvPr id="6" name="Rectangle 6"/>
            <p:cNvSpPr/>
            <p:nvPr/>
          </p:nvSpPr>
          <p:spPr>
            <a:xfrm>
              <a:off x="571500" y="1333500"/>
              <a:ext cx="11049000" cy="590550"/>
            </a:xfrm>
            <a:prstGeom prst="roundRect">
              <a:avLst>
                <a:gd name="adj" fmla="val 19355"/>
              </a:avLst>
            </a:prstGeom>
            <a:solidFill>
              <a:schemeClr val="lt2"/>
            </a:solidFill>
            <a:ln>
              <a:noFill/>
            </a:ln>
          </p:spPr>
        </p:sp>
        <p:sp>
          <p:nvSpPr>
            <p:cNvPr id="7" name="Rectangle 7"/>
            <p:cNvSpPr/>
            <p:nvPr/>
          </p:nvSpPr>
          <p:spPr>
            <a:xfrm>
              <a:off x="571500" y="1333500"/>
              <a:ext cx="57150" cy="590550"/>
            </a:xfrm>
            <a:prstGeom prst="roundRect">
              <a:avLst>
                <a:gd name="adj" fmla="val 50000"/>
              </a:avLst>
            </a:prstGeom>
            <a:solidFill>
              <a:schemeClr val="accent1"/>
            </a:solidFill>
            <a:ln>
              <a:noFill/>
            </a:ln>
          </p:spPr>
        </p:sp>
        <p:sp>
          <p:nvSpPr>
            <p:cNvPr id="8" name="TextBox 8"/>
            <p:cNvSpPr txBox="1"/>
            <p:nvPr/>
          </p:nvSpPr>
          <p:spPr>
            <a:xfrm>
              <a:off x="868299" y="1525429"/>
              <a:ext cx="10641604" cy="308039"/>
            </a:xfrm>
            <a:prstGeom prst="rect">
              <a:avLst/>
            </a:prstGeom>
            <a:noFill/>
            <a:ln>
              <a:noFill/>
            </a:ln>
          </p:spPr>
          <p:txBody>
            <a:bodyPr wrap="none" lIns="0" tIns="0" rIns="0" bIns="0" anchor="t" anchorCtr="0">
              <a:spAutoFit/>
            </a:bodyPr>
            <a:lstStyle/>
            <a:p>
              <a:pPr algn="l"/>
              <a:r>
                <a:rPr lang="en-US" sz="1580" b="1" dirty="0">
                  <a:solidFill>
                    <a:schemeClr val="accent1"/>
                  </a:solidFill>
                  <a:latin typeface="+mj-lt"/>
                  <a:ea typeface="+mj-ea"/>
                  <a:cs typeface="+mj-cs"/>
                </a:rPr>
                <a:t>Several ablations sharpen the picture — from prompt design to training order to model size.</a:t>
              </a:r>
            </a:p>
          </p:txBody>
        </p:sp>
      </p:grpSp>
      <p:grpSp>
        <p:nvGrpSpPr>
          <p:cNvPr id="22" name="Group 22"/>
          <p:cNvGrpSpPr/>
          <p:nvPr/>
        </p:nvGrpSpPr>
        <p:grpSpPr>
          <a:xfrm>
            <a:off x="571500" y="2057400"/>
            <a:ext cx="5524500" cy="3279457"/>
            <a:chOff x="571500" y="2057400"/>
            <a:chExt cx="5524500" cy="3279457"/>
          </a:xfrm>
        </p:grpSpPr>
        <p:sp>
          <p:nvSpPr>
            <p:cNvPr id="10" name="Rectangle 10"/>
            <p:cNvSpPr/>
            <p:nvPr/>
          </p:nvSpPr>
          <p:spPr>
            <a:xfrm>
              <a:off x="571500" y="2057400"/>
              <a:ext cx="5524500" cy="3257550"/>
            </a:xfrm>
            <a:prstGeom prst="roundRect">
              <a:avLst>
                <a:gd name="adj" fmla="val 3509"/>
              </a:avLst>
            </a:prstGeom>
            <a:solidFill>
              <a:schemeClr val="lt1"/>
            </a:solidFill>
            <a:ln w="14288">
              <a:solidFill>
                <a:schemeClr val="accent4"/>
              </a:solidFill>
            </a:ln>
          </p:spPr>
        </p:sp>
        <p:sp>
          <p:nvSpPr>
            <p:cNvPr id="11" name="Rectangle 11"/>
            <p:cNvSpPr/>
            <p:nvPr/>
          </p:nvSpPr>
          <p:spPr>
            <a:xfrm>
              <a:off x="571500" y="2057400"/>
              <a:ext cx="57150" cy="3257550"/>
            </a:xfrm>
            <a:prstGeom prst="roundRect">
              <a:avLst>
                <a:gd name="adj" fmla="val 50000"/>
              </a:avLst>
            </a:prstGeom>
            <a:solidFill>
              <a:schemeClr val="accent2"/>
            </a:solidFill>
            <a:ln>
              <a:noFill/>
            </a:ln>
          </p:spPr>
        </p:sp>
        <p:sp>
          <p:nvSpPr>
            <p:cNvPr id="12" name="TextBox 12"/>
            <p:cNvSpPr txBox="1"/>
            <p:nvPr/>
          </p:nvSpPr>
          <p:spPr>
            <a:xfrm>
              <a:off x="833247" y="2275999"/>
              <a:ext cx="2092221"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PROMPT BACKDROP COLOR</a:t>
              </a:r>
            </a:p>
          </p:txBody>
        </p:sp>
        <p:pic>
          <p:nvPicPr>
            <p:cNvPr id="13" name="Image 13"/>
            <p:cNvPicPr>
              <a:picLocks noChangeAspect="1"/>
            </p:cNvPicPr>
            <p:nvPr/>
          </p:nvPicPr>
          <p:blipFill>
            <a:blip r:embed="rId2"/>
            <a:stretch>
              <a:fillRect/>
            </a:stretch>
          </p:blipFill>
          <p:spPr>
            <a:xfrm>
              <a:off x="838200" y="2738344"/>
              <a:ext cx="2381250" cy="2143312"/>
            </a:xfrm>
            <a:prstGeom prst="rect">
              <a:avLst/>
            </a:prstGeom>
          </p:spPr>
        </p:pic>
        <p:sp>
          <p:nvSpPr>
            <p:cNvPr id="14" name="TextBox 14"/>
            <p:cNvSpPr txBox="1"/>
            <p:nvPr/>
          </p:nvSpPr>
          <p:spPr>
            <a:xfrm>
              <a:off x="3403854" y="2727960"/>
              <a:ext cx="1657323"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The prompt backdrop</a:t>
              </a:r>
            </a:p>
          </p:txBody>
        </p:sp>
        <p:sp>
          <p:nvSpPr>
            <p:cNvPr id="15" name="TextBox 15"/>
            <p:cNvSpPr txBox="1"/>
            <p:nvPr/>
          </p:nvSpPr>
          <p:spPr>
            <a:xfrm>
              <a:off x="3403854" y="2937510"/>
              <a:ext cx="1449934"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color controls the</a:t>
              </a:r>
            </a:p>
          </p:txBody>
        </p:sp>
        <p:sp>
          <p:nvSpPr>
            <p:cNvPr id="16" name="TextBox 16"/>
            <p:cNvSpPr txBox="1"/>
            <p:nvPr/>
          </p:nvSpPr>
          <p:spPr>
            <a:xfrm>
              <a:off x="3403854" y="3147060"/>
              <a:ext cx="1659941"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generated backdrop.</a:t>
              </a:r>
            </a:p>
          </p:txBody>
        </p:sp>
        <p:sp>
          <p:nvSpPr>
            <p:cNvPr id="17" name="Rectangle 17"/>
            <p:cNvSpPr/>
            <p:nvPr/>
          </p:nvSpPr>
          <p:spPr>
            <a:xfrm>
              <a:off x="3409950" y="3486150"/>
              <a:ext cx="2457450" cy="819150"/>
            </a:xfrm>
            <a:prstGeom prst="roundRect">
              <a:avLst>
                <a:gd name="adj" fmla="val 9302"/>
              </a:avLst>
            </a:prstGeom>
            <a:solidFill>
              <a:schemeClr val="accent1"/>
            </a:solidFill>
            <a:ln>
              <a:noFill/>
            </a:ln>
          </p:spPr>
        </p:sp>
        <p:sp>
          <p:nvSpPr>
            <p:cNvPr id="18" name="TextBox 18"/>
            <p:cNvSpPr txBox="1"/>
            <p:nvPr/>
          </p:nvSpPr>
          <p:spPr>
            <a:xfrm>
              <a:off x="3557016" y="3639502"/>
              <a:ext cx="1766964" cy="205359"/>
            </a:xfrm>
            <a:prstGeom prst="rect">
              <a:avLst/>
            </a:prstGeom>
            <a:noFill/>
            <a:ln>
              <a:noFill/>
            </a:ln>
          </p:spPr>
          <p:txBody>
            <a:bodyPr wrap="none" lIns="0" tIns="0" rIns="0" bIns="0" anchor="t" anchorCtr="0">
              <a:spAutoFit/>
            </a:bodyPr>
            <a:lstStyle/>
            <a:p>
              <a:pPr algn="l"/>
              <a:r>
                <a:rPr lang="en-US" sz="1050" b="1" dirty="0">
                  <a:solidFill>
                    <a:srgbClr val="FFFFFF"/>
                  </a:solidFill>
                  <a:latin typeface="+mn-lt"/>
                  <a:ea typeface="+mn-ea"/>
                  <a:cs typeface="+mn-cs"/>
                </a:rPr>
                <a:t>Black-backdrop prompts</a:t>
              </a:r>
            </a:p>
          </p:txBody>
        </p:sp>
        <p:sp>
          <p:nvSpPr>
            <p:cNvPr id="19" name="TextBox 19"/>
            <p:cNvSpPr txBox="1"/>
            <p:nvPr/>
          </p:nvSpPr>
          <p:spPr>
            <a:xfrm>
              <a:off x="3557016" y="3849052"/>
              <a:ext cx="1721015" cy="205359"/>
            </a:xfrm>
            <a:prstGeom prst="rect">
              <a:avLst/>
            </a:prstGeom>
            <a:noFill/>
            <a:ln>
              <a:noFill/>
            </a:ln>
          </p:spPr>
          <p:txBody>
            <a:bodyPr wrap="none" lIns="0" tIns="0" rIns="0" bIns="0" anchor="t" anchorCtr="0">
              <a:spAutoFit/>
            </a:bodyPr>
            <a:lstStyle/>
            <a:p>
              <a:pPr algn="l"/>
              <a:r>
                <a:rPr lang="en-US" sz="1050" dirty="0">
                  <a:solidFill>
                    <a:srgbClr val="C7D2E6"/>
                  </a:solidFill>
                  <a:latin typeface="+mn-lt"/>
                  <a:ea typeface="+mn-ea"/>
                  <a:cs typeface="+mn-cs"/>
                </a:rPr>
                <a:t>make a simple grayscale-</a:t>
              </a:r>
            </a:p>
          </p:txBody>
        </p:sp>
        <p:sp>
          <p:nvSpPr>
            <p:cNvPr id="20" name="TextBox 20"/>
            <p:cNvSpPr txBox="1"/>
            <p:nvPr/>
          </p:nvSpPr>
          <p:spPr>
            <a:xfrm>
              <a:off x="3557016" y="4039552"/>
              <a:ext cx="1664475" cy="205359"/>
            </a:xfrm>
            <a:prstGeom prst="rect">
              <a:avLst/>
            </a:prstGeom>
            <a:noFill/>
            <a:ln>
              <a:noFill/>
            </a:ln>
          </p:spPr>
          <p:txBody>
            <a:bodyPr wrap="none" lIns="0" tIns="0" rIns="0" bIns="0" anchor="t" anchorCtr="0">
              <a:spAutoFit/>
            </a:bodyPr>
            <a:lstStyle/>
            <a:p>
              <a:pPr algn="l"/>
              <a:r>
                <a:rPr lang="en-US" sz="1050" dirty="0">
                  <a:solidFill>
                    <a:srgbClr val="C7D2E6"/>
                  </a:solidFill>
                  <a:latin typeface="+mn-lt"/>
                  <a:ea typeface="+mn-ea"/>
                  <a:cs typeface="+mn-cs"/>
                </a:rPr>
                <a:t>threshold step reliable.</a:t>
              </a:r>
            </a:p>
          </p:txBody>
        </p:sp>
        <p:sp>
          <p:nvSpPr>
            <p:cNvPr id="21" name="TextBox 21"/>
            <p:cNvSpPr txBox="1"/>
            <p:nvPr/>
          </p:nvSpPr>
          <p:spPr>
            <a:xfrm>
              <a:off x="833438" y="5160645"/>
              <a:ext cx="4743315" cy="176212"/>
            </a:xfrm>
            <a:prstGeom prst="rect">
              <a:avLst/>
            </a:prstGeom>
            <a:noFill/>
            <a:ln>
              <a:noFill/>
            </a:ln>
          </p:spPr>
          <p:txBody>
            <a:bodyPr wrap="none" lIns="0" tIns="0" rIns="0" bIns="0" anchor="t" anchorCtr="0">
              <a:spAutoFit/>
            </a:bodyPr>
            <a:lstStyle/>
            <a:p>
              <a:pPr algn="l"/>
              <a:r>
                <a:rPr lang="en-US" sz="900" i="1" dirty="0">
                  <a:solidFill>
                    <a:schemeClr val="dk2"/>
                  </a:solidFill>
                  <a:latin typeface="+mn-lt"/>
                  <a:ea typeface="+mn-ea"/>
                  <a:cs typeface="+mn-cs"/>
                </a:rPr>
                <a:t>Figure 5 · Generated output + foreground segmentation after post-processing.</a:t>
              </a:r>
            </a:p>
          </p:txBody>
        </p:sp>
      </p:grpSp>
      <p:grpSp>
        <p:nvGrpSpPr>
          <p:cNvPr id="35" name="Group 35"/>
          <p:cNvGrpSpPr/>
          <p:nvPr/>
        </p:nvGrpSpPr>
        <p:grpSpPr>
          <a:xfrm>
            <a:off x="6286500" y="2057400"/>
            <a:ext cx="5334000" cy="3279457"/>
            <a:chOff x="6286500" y="2057400"/>
            <a:chExt cx="5334000" cy="3279457"/>
          </a:xfrm>
        </p:grpSpPr>
        <p:sp>
          <p:nvSpPr>
            <p:cNvPr id="23" name="Rectangle 23"/>
            <p:cNvSpPr/>
            <p:nvPr/>
          </p:nvSpPr>
          <p:spPr>
            <a:xfrm>
              <a:off x="6286500" y="2057400"/>
              <a:ext cx="5334000" cy="3257550"/>
            </a:xfrm>
            <a:prstGeom prst="roundRect">
              <a:avLst>
                <a:gd name="adj" fmla="val 3509"/>
              </a:avLst>
            </a:prstGeom>
            <a:solidFill>
              <a:schemeClr val="lt1"/>
            </a:solidFill>
            <a:ln w="14288">
              <a:solidFill>
                <a:schemeClr val="accent4"/>
              </a:solidFill>
            </a:ln>
          </p:spPr>
        </p:sp>
        <p:sp>
          <p:nvSpPr>
            <p:cNvPr id="24" name="Rectangle 24"/>
            <p:cNvSpPr/>
            <p:nvPr/>
          </p:nvSpPr>
          <p:spPr>
            <a:xfrm>
              <a:off x="6286500" y="2057400"/>
              <a:ext cx="57150" cy="3257550"/>
            </a:xfrm>
            <a:prstGeom prst="roundRect">
              <a:avLst>
                <a:gd name="adj" fmla="val 50000"/>
              </a:avLst>
            </a:prstGeom>
            <a:solidFill>
              <a:srgbClr val="C2410C"/>
            </a:solidFill>
            <a:ln>
              <a:noFill/>
            </a:ln>
          </p:spPr>
        </p:sp>
        <p:sp>
          <p:nvSpPr>
            <p:cNvPr id="25" name="TextBox 25"/>
            <p:cNvSpPr txBox="1"/>
            <p:nvPr/>
          </p:nvSpPr>
          <p:spPr>
            <a:xfrm>
              <a:off x="6548247" y="2275999"/>
              <a:ext cx="3490057" cy="190690"/>
            </a:xfrm>
            <a:prstGeom prst="rect">
              <a:avLst/>
            </a:prstGeom>
            <a:noFill/>
            <a:ln>
              <a:noFill/>
            </a:ln>
          </p:spPr>
          <p:txBody>
            <a:bodyPr wrap="none" lIns="0" tIns="0" rIns="0" bIns="0" anchor="t" anchorCtr="0">
              <a:spAutoFit/>
            </a:bodyPr>
            <a:lstStyle/>
            <a:p>
              <a:pPr algn="l"/>
              <a:r>
                <a:rPr lang="en-US" sz="980" b="1" spc="112" dirty="0">
                  <a:solidFill>
                    <a:srgbClr val="C2410C"/>
                  </a:solidFill>
                  <a:latin typeface="+mn-lt"/>
                  <a:ea typeface="+mn-ea"/>
                  <a:cs typeface="+mn-cs"/>
                </a:rPr>
                <a:t>NO SHUFFLING → CATASTROPHIC FORGETTING</a:t>
              </a:r>
            </a:p>
          </p:txBody>
        </p:sp>
        <p:pic>
          <p:nvPicPr>
            <p:cNvPr id="26" name="Image 26"/>
            <p:cNvPicPr>
              <a:picLocks noChangeAspect="1"/>
            </p:cNvPicPr>
            <p:nvPr/>
          </p:nvPicPr>
          <p:blipFill>
            <a:blip r:embed="rId3"/>
            <a:stretch>
              <a:fillRect/>
            </a:stretch>
          </p:blipFill>
          <p:spPr>
            <a:xfrm>
              <a:off x="6553200" y="2535725"/>
              <a:ext cx="1676400" cy="2548549"/>
            </a:xfrm>
            <a:prstGeom prst="rect">
              <a:avLst/>
            </a:prstGeom>
          </p:spPr>
        </p:pic>
        <p:sp>
          <p:nvSpPr>
            <p:cNvPr id="27" name="TextBox 27"/>
            <p:cNvSpPr txBox="1"/>
            <p:nvPr/>
          </p:nvSpPr>
          <p:spPr>
            <a:xfrm>
              <a:off x="8414004" y="2689860"/>
              <a:ext cx="1859006"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Train tasks in sequence</a:t>
              </a:r>
            </a:p>
          </p:txBody>
        </p:sp>
        <p:sp>
          <p:nvSpPr>
            <p:cNvPr id="28" name="TextBox 28"/>
            <p:cNvSpPr txBox="1"/>
            <p:nvPr/>
          </p:nvSpPr>
          <p:spPr>
            <a:xfrm>
              <a:off x="8414004" y="2899410"/>
              <a:ext cx="2023415"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without shuffling and the</a:t>
              </a:r>
            </a:p>
          </p:txBody>
        </p:sp>
        <p:sp>
          <p:nvSpPr>
            <p:cNvPr id="29" name="TextBox 29"/>
            <p:cNvSpPr txBox="1"/>
            <p:nvPr/>
          </p:nvSpPr>
          <p:spPr>
            <a:xfrm>
              <a:off x="8414004" y="3108960"/>
              <a:ext cx="2209190"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model stays good only at its</a:t>
              </a:r>
            </a:p>
          </p:txBody>
        </p:sp>
        <p:sp>
          <p:nvSpPr>
            <p:cNvPr id="30" name="TextBox 30"/>
            <p:cNvSpPr txBox="1"/>
            <p:nvPr/>
          </p:nvSpPr>
          <p:spPr>
            <a:xfrm>
              <a:off x="8414004" y="3318510"/>
              <a:ext cx="1474165"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most recent task.</a:t>
              </a:r>
            </a:p>
          </p:txBody>
        </p:sp>
        <p:sp>
          <p:nvSpPr>
            <p:cNvPr id="31" name="Rectangle 31"/>
            <p:cNvSpPr/>
            <p:nvPr/>
          </p:nvSpPr>
          <p:spPr>
            <a:xfrm>
              <a:off x="8420100" y="3657600"/>
              <a:ext cx="2933700" cy="666750"/>
            </a:xfrm>
            <a:prstGeom prst="roundRect">
              <a:avLst>
                <a:gd name="adj" fmla="val 11429"/>
              </a:avLst>
            </a:prstGeom>
            <a:solidFill>
              <a:srgbClr val="FEF3EC"/>
            </a:solidFill>
            <a:ln>
              <a:noFill/>
            </a:ln>
          </p:spPr>
        </p:sp>
        <p:sp>
          <p:nvSpPr>
            <p:cNvPr id="32" name="TextBox 32"/>
            <p:cNvSpPr txBox="1"/>
            <p:nvPr/>
          </p:nvSpPr>
          <p:spPr>
            <a:xfrm>
              <a:off x="8563356" y="3749040"/>
              <a:ext cx="2182398" cy="352044"/>
            </a:xfrm>
            <a:prstGeom prst="rect">
              <a:avLst/>
            </a:prstGeom>
            <a:noFill/>
            <a:ln>
              <a:noFill/>
            </a:ln>
          </p:spPr>
          <p:txBody>
            <a:bodyPr wrap="none" lIns="0" tIns="0" rIns="0" bIns="0" anchor="t" anchorCtr="0">
              <a:spAutoFit/>
            </a:bodyPr>
            <a:lstStyle/>
            <a:p>
              <a:pPr algn="l"/>
              <a:r>
                <a:rPr lang="en-US" sz="1800" b="1" dirty="0">
                  <a:solidFill>
                    <a:srgbClr val="C2410C"/>
                  </a:solidFill>
                  <a:latin typeface="+mj-lt"/>
                  <a:ea typeface="+mj-ea"/>
                  <a:cs typeface="+mj-cs"/>
                </a:rPr>
                <a:t>1000+ perplexity</a:t>
              </a:r>
            </a:p>
          </p:txBody>
        </p:sp>
        <p:sp>
          <p:nvSpPr>
            <p:cNvPr id="33" name="TextBox 33"/>
            <p:cNvSpPr txBox="1"/>
            <p:nvPr/>
          </p:nvSpPr>
          <p:spPr>
            <a:xfrm>
              <a:off x="8567166" y="4077652"/>
              <a:ext cx="281648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on earlier tasks — shuffling is essential.</a:t>
              </a:r>
            </a:p>
          </p:txBody>
        </p:sp>
        <p:sp>
          <p:nvSpPr>
            <p:cNvPr id="34" name="TextBox 34"/>
            <p:cNvSpPr txBox="1"/>
            <p:nvPr/>
          </p:nvSpPr>
          <p:spPr>
            <a:xfrm>
              <a:off x="6548438" y="5160645"/>
              <a:ext cx="3525681" cy="176212"/>
            </a:xfrm>
            <a:prstGeom prst="rect">
              <a:avLst/>
            </a:prstGeom>
            <a:noFill/>
            <a:ln>
              <a:noFill/>
            </a:ln>
          </p:spPr>
          <p:txBody>
            <a:bodyPr wrap="none" lIns="0" tIns="0" rIns="0" bIns="0" anchor="t" anchorCtr="0">
              <a:spAutoFit/>
            </a:bodyPr>
            <a:lstStyle/>
            <a:p>
              <a:pPr algn="l"/>
              <a:r>
                <a:rPr lang="en-US" sz="900" i="1" dirty="0">
                  <a:solidFill>
                    <a:schemeClr val="dk2"/>
                  </a:solidFill>
                  <a:latin typeface="+mn-lt"/>
                  <a:ea typeface="+mn-ea"/>
                  <a:cs typeface="+mn-cs"/>
                </a:rPr>
                <a:t>Figure 6 · Inference across training stages (no shuffling).</a:t>
              </a:r>
            </a:p>
          </p:txBody>
        </p:sp>
      </p:grpSp>
      <p:grpSp>
        <p:nvGrpSpPr>
          <p:cNvPr id="40" name="Group 40"/>
          <p:cNvGrpSpPr/>
          <p:nvPr/>
        </p:nvGrpSpPr>
        <p:grpSpPr>
          <a:xfrm>
            <a:off x="571500" y="5467350"/>
            <a:ext cx="11939272" cy="762000"/>
            <a:chOff x="571500" y="5467350"/>
            <a:chExt cx="11939272" cy="762000"/>
          </a:xfrm>
        </p:grpSpPr>
        <p:sp>
          <p:nvSpPr>
            <p:cNvPr id="36" name="Rectangle 36"/>
            <p:cNvSpPr/>
            <p:nvPr/>
          </p:nvSpPr>
          <p:spPr>
            <a:xfrm>
              <a:off x="571500" y="5467350"/>
              <a:ext cx="11049000" cy="762000"/>
            </a:xfrm>
            <a:prstGeom prst="roundRect">
              <a:avLst>
                <a:gd name="adj" fmla="val 15000"/>
              </a:avLst>
            </a:prstGeom>
            <a:solidFill>
              <a:srgbClr val="E4F6F5"/>
            </a:solidFill>
            <a:ln>
              <a:noFill/>
            </a:ln>
          </p:spPr>
        </p:sp>
        <p:sp>
          <p:nvSpPr>
            <p:cNvPr id="37" name="Rectangle 37"/>
            <p:cNvSpPr/>
            <p:nvPr/>
          </p:nvSpPr>
          <p:spPr>
            <a:xfrm>
              <a:off x="571500" y="5467350"/>
              <a:ext cx="57150" cy="762000"/>
            </a:xfrm>
            <a:prstGeom prst="roundRect">
              <a:avLst>
                <a:gd name="adj" fmla="val 50000"/>
              </a:avLst>
            </a:prstGeom>
            <a:solidFill>
              <a:schemeClr val="accent3"/>
            </a:solidFill>
            <a:ln>
              <a:noFill/>
            </a:ln>
          </p:spPr>
        </p:sp>
        <p:sp>
          <p:nvSpPr>
            <p:cNvPr id="38" name="TextBox 38"/>
            <p:cNvSpPr txBox="1"/>
            <p:nvPr/>
          </p:nvSpPr>
          <p:spPr>
            <a:xfrm>
              <a:off x="871347" y="5666899"/>
              <a:ext cx="2064243" cy="190690"/>
            </a:xfrm>
            <a:prstGeom prst="rect">
              <a:avLst/>
            </a:prstGeom>
            <a:noFill/>
            <a:ln>
              <a:noFill/>
            </a:ln>
          </p:spPr>
          <p:txBody>
            <a:bodyPr wrap="none" lIns="0" tIns="0" rIns="0" bIns="0" anchor="t" anchorCtr="0">
              <a:spAutoFit/>
            </a:bodyPr>
            <a:lstStyle/>
            <a:p>
              <a:pPr algn="l"/>
              <a:r>
                <a:rPr lang="en-US" sz="980" b="1" spc="112" dirty="0">
                  <a:solidFill>
                    <a:schemeClr val="accent3"/>
                  </a:solidFill>
                  <a:latin typeface="+mn-lt"/>
                  <a:ea typeface="+mn-ea"/>
                  <a:cs typeface="+mn-cs"/>
                </a:rPr>
                <a:t>EVEN AT 80M PARAMETERS</a:t>
              </a:r>
            </a:p>
          </p:txBody>
        </p:sp>
        <p:sp>
          <p:nvSpPr>
            <p:cNvPr id="39" name="TextBox 39"/>
            <p:cNvSpPr txBox="1"/>
            <p:nvPr/>
          </p:nvSpPr>
          <p:spPr>
            <a:xfrm>
              <a:off x="868299" y="5887879"/>
              <a:ext cx="11642473" cy="308039"/>
            </a:xfrm>
            <a:prstGeom prst="rect">
              <a:avLst/>
            </a:prstGeom>
            <a:noFill/>
            <a:ln>
              <a:noFill/>
            </a:ln>
          </p:spPr>
          <p:txBody>
            <a:bodyPr wrap="none" lIns="0" tIns="0" rIns="0" bIns="0" anchor="t" anchorCtr="0">
              <a:spAutoFit/>
            </a:bodyPr>
            <a:lstStyle/>
            <a:p>
              <a:pPr algn="l"/>
              <a:r>
                <a:rPr lang="en-US" sz="1580" b="1" dirty="0">
                  <a:solidFill>
                    <a:schemeClr val="accent1"/>
                  </a:solidFill>
                  <a:latin typeface="+mj-lt"/>
                  <a:ea typeface="+mj-ea"/>
                  <a:cs typeface="+mj-cs"/>
                </a:rPr>
                <a:t>Knowledge distillation still improves validation perplexity across segmentation, pose, and deraining.</a:t>
              </a:r>
            </a:p>
          </p:txBody>
        </p:sp>
      </p:grpSp>
      <p:grpSp>
        <p:nvGrpSpPr>
          <p:cNvPr id="43" name="Group 43"/>
          <p:cNvGrpSpPr/>
          <p:nvPr/>
        </p:nvGrpSpPr>
        <p:grpSpPr>
          <a:xfrm>
            <a:off x="566738" y="6597491"/>
            <a:ext cx="11058524" cy="161925"/>
            <a:chOff x="566738" y="6597491"/>
            <a:chExt cx="11058524" cy="161925"/>
          </a:xfrm>
        </p:grpSpPr>
        <p:sp>
          <p:nvSpPr>
            <p:cNvPr id="41" name="TextBox 41"/>
            <p:cNvSpPr txBox="1"/>
            <p:nvPr/>
          </p:nvSpPr>
          <p:spPr>
            <a:xfrm>
              <a:off x="566738" y="6597491"/>
              <a:ext cx="2408711" cy="161925"/>
            </a:xfrm>
            <a:prstGeom prst="rect">
              <a:avLst/>
            </a:prstGeom>
            <a:noFill/>
            <a:ln>
              <a:noFill/>
            </a:ln>
          </p:spPr>
          <p:txBody>
            <a:bodyPr wrap="none" lIns="0" tIns="0" rIns="0" bIns="0" anchor="t" anchorCtr="0">
              <a:spAutoFit/>
            </a:bodyPr>
            <a:lstStyle/>
            <a:p>
              <a:pPr algn="l"/>
              <a:r>
                <a:rPr lang="en-US" sz="820" dirty="0">
                  <a:solidFill>
                    <a:schemeClr val="accent5"/>
                  </a:solidFill>
                  <a:latin typeface="+mn-lt"/>
                  <a:ea typeface="+mn-ea"/>
                  <a:cs typeface="+mn-cs"/>
                </a:rPr>
                <a:t>DeLVM · ICML 2024 — ablations (Figures 5–6)</a:t>
              </a:r>
            </a:p>
          </p:txBody>
        </p:sp>
        <p:sp>
          <p:nvSpPr>
            <p:cNvPr id="42" name="TextBox 42"/>
            <p:cNvSpPr txBox="1"/>
            <p:nvPr/>
          </p:nvSpPr>
          <p:spPr>
            <a:xfrm>
              <a:off x="11494310" y="6597491"/>
              <a:ext cx="130952" cy="161925"/>
            </a:xfrm>
            <a:prstGeom prst="rect">
              <a:avLst/>
            </a:prstGeom>
            <a:noFill/>
            <a:ln>
              <a:noFill/>
            </a:ln>
          </p:spPr>
          <p:txBody>
            <a:bodyPr wrap="none" lIns="0" tIns="0" rIns="0" bIns="0" anchor="t" anchorCtr="0">
              <a:spAutoFit/>
            </a:bodyPr>
            <a:lstStyle/>
            <a:p>
              <a:pPr algn="r"/>
              <a:r>
                <a:rPr lang="en-US" sz="820" dirty="0">
                  <a:solidFill>
                    <a:schemeClr val="accent5"/>
                  </a:solidFill>
                  <a:latin typeface="+mn-lt"/>
                  <a:ea typeface="+mn-ea"/>
                  <a:cs typeface="+mn-cs"/>
                </a:rPr>
                <a:t>07</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chemeClr val="lt1"/>
            </a:solidFill>
            <a:ln>
              <a:noFill/>
            </a:ln>
          </p:spPr>
        </p:sp>
        <p:sp>
          <p:nvSpPr>
            <p:cNvPr id="3" name="Rectangle 3"/>
            <p:cNvSpPr/>
            <p:nvPr/>
          </p:nvSpPr>
          <p:spPr>
            <a:xfrm>
              <a:off x="0" y="0"/>
              <a:ext cx="12192000" cy="57150"/>
            </a:xfrm>
            <a:prstGeom prst="rect">
              <a:avLst/>
            </a:prstGeom>
            <a:solidFill>
              <a:schemeClr val="accent1"/>
            </a:solidFill>
            <a:ln>
              <a:noFill/>
            </a:ln>
          </p:spPr>
        </p:sp>
        <p:sp>
          <p:nvSpPr>
            <p:cNvPr id="4" name="Rectangle 4"/>
            <p:cNvSpPr/>
            <p:nvPr/>
          </p:nvSpPr>
          <p:spPr>
            <a:xfrm>
              <a:off x="0" y="0"/>
              <a:ext cx="3429000" cy="57150"/>
            </a:xfrm>
            <a:prstGeom prst="rect">
              <a:avLst/>
            </a:prstGeom>
            <a:solidFill>
              <a:schemeClr val="accent2"/>
            </a:solidFill>
            <a:ln>
              <a:noFill/>
            </a:ln>
          </p:spPr>
        </p:sp>
      </p:grpSp>
      <p:grpSp>
        <p:nvGrpSpPr>
          <p:cNvPr id="8" name="Group 8"/>
          <p:cNvGrpSpPr/>
          <p:nvPr/>
        </p:nvGrpSpPr>
        <p:grpSpPr>
          <a:xfrm>
            <a:off x="756666" y="838200"/>
            <a:ext cx="956066" cy="453961"/>
            <a:chOff x="756666" y="838200"/>
            <a:chExt cx="956066" cy="453961"/>
          </a:xfrm>
        </p:grpSpPr>
        <p:sp>
          <p:nvSpPr>
            <p:cNvPr id="6" name="Rectangle 6"/>
            <p:cNvSpPr/>
            <p:nvPr/>
          </p:nvSpPr>
          <p:spPr>
            <a:xfrm>
              <a:off x="762000" y="838200"/>
              <a:ext cx="514350" cy="47625"/>
            </a:xfrm>
            <a:prstGeom prst="rect">
              <a:avLst/>
            </a:prstGeom>
            <a:solidFill>
              <a:schemeClr val="accent2"/>
            </a:solidFill>
            <a:ln>
              <a:noFill/>
            </a:ln>
          </p:spPr>
        </p:sp>
        <p:sp>
          <p:nvSpPr>
            <p:cNvPr id="7" name="TextBox 7"/>
            <p:cNvSpPr txBox="1"/>
            <p:nvPr/>
          </p:nvSpPr>
          <p:spPr>
            <a:xfrm>
              <a:off x="756666" y="1086802"/>
              <a:ext cx="956066" cy="205359"/>
            </a:xfrm>
            <a:prstGeom prst="rect">
              <a:avLst/>
            </a:prstGeom>
            <a:noFill/>
            <a:ln>
              <a:noFill/>
            </a:ln>
          </p:spPr>
          <p:txBody>
            <a:bodyPr wrap="none" lIns="0" tIns="0" rIns="0" bIns="0" anchor="t" anchorCtr="0">
              <a:spAutoFit/>
            </a:bodyPr>
            <a:lstStyle/>
            <a:p>
              <a:pPr algn="l"/>
              <a:r>
                <a:rPr lang="en-US" sz="1050" b="1" spc="225" dirty="0">
                  <a:solidFill>
                    <a:schemeClr val="accent2"/>
                  </a:solidFill>
                  <a:latin typeface="+mn-lt"/>
                  <a:ea typeface="+mn-ea"/>
                  <a:cs typeface="+mn-cs"/>
                </a:rPr>
                <a:t>TAKEAWAY</a:t>
              </a:r>
            </a:p>
          </p:txBody>
        </p:sp>
      </p:grpSp>
      <p:grpSp>
        <p:nvGrpSpPr>
          <p:cNvPr id="10" name="Group 10"/>
          <p:cNvGrpSpPr/>
          <p:nvPr/>
        </p:nvGrpSpPr>
        <p:grpSpPr>
          <a:xfrm>
            <a:off x="744474" y="1646872"/>
            <a:ext cx="5222967" cy="674751"/>
            <a:chOff x="744474" y="1646872"/>
            <a:chExt cx="5222967" cy="674751"/>
          </a:xfrm>
        </p:grpSpPr>
        <p:sp>
          <p:nvSpPr>
            <p:cNvPr id="9" name="TextBox 9"/>
            <p:cNvSpPr txBox="1"/>
            <p:nvPr/>
          </p:nvSpPr>
          <p:spPr>
            <a:xfrm>
              <a:off x="744474" y="1646872"/>
              <a:ext cx="5222967" cy="674751"/>
            </a:xfrm>
            <a:prstGeom prst="rect">
              <a:avLst/>
            </a:prstGeom>
            <a:noFill/>
            <a:ln>
              <a:noFill/>
            </a:ln>
          </p:spPr>
          <p:txBody>
            <a:bodyPr wrap="none" lIns="0" tIns="0" rIns="0" bIns="0" anchor="t" anchorCtr="0">
              <a:spAutoFit/>
            </a:bodyPr>
            <a:lstStyle/>
            <a:p>
              <a:pPr algn="l"/>
              <a:r>
                <a:rPr lang="en-US" sz="3450" b="1" dirty="0">
                  <a:solidFill>
                    <a:schemeClr val="accent1"/>
                  </a:solidFill>
                  <a:latin typeface="+mj-lt"/>
                  <a:ea typeface="+mj-ea"/>
                  <a:cs typeface="+mj-cs"/>
                </a:rPr>
                <a:t>Refreshingly simple.</a:t>
              </a:r>
            </a:p>
          </p:txBody>
        </p:sp>
      </p:grpSp>
      <p:grpSp>
        <p:nvGrpSpPr>
          <p:cNvPr id="16" name="Group 16"/>
          <p:cNvGrpSpPr/>
          <p:nvPr/>
        </p:nvGrpSpPr>
        <p:grpSpPr>
          <a:xfrm>
            <a:off x="762000" y="2400300"/>
            <a:ext cx="6096000" cy="1123950"/>
            <a:chOff x="762000" y="2400300"/>
            <a:chExt cx="6096000" cy="1123950"/>
          </a:xfrm>
        </p:grpSpPr>
        <p:sp>
          <p:nvSpPr>
            <p:cNvPr id="11" name="Rectangle 11"/>
            <p:cNvSpPr/>
            <p:nvPr/>
          </p:nvSpPr>
          <p:spPr>
            <a:xfrm>
              <a:off x="762000" y="2400300"/>
              <a:ext cx="6096000" cy="1123950"/>
            </a:xfrm>
            <a:prstGeom prst="roundRect">
              <a:avLst>
                <a:gd name="adj" fmla="val 10169"/>
              </a:avLst>
            </a:prstGeom>
            <a:solidFill>
              <a:schemeClr val="lt2"/>
            </a:solidFill>
            <a:ln>
              <a:noFill/>
            </a:ln>
          </p:spPr>
        </p:sp>
        <p:sp>
          <p:nvSpPr>
            <p:cNvPr id="12" name="Rectangle 12"/>
            <p:cNvSpPr/>
            <p:nvPr/>
          </p:nvSpPr>
          <p:spPr>
            <a:xfrm>
              <a:off x="762000" y="2400300"/>
              <a:ext cx="57150" cy="1123950"/>
            </a:xfrm>
            <a:prstGeom prst="roundRect">
              <a:avLst>
                <a:gd name="adj" fmla="val 50000"/>
              </a:avLst>
            </a:prstGeom>
            <a:solidFill>
              <a:schemeClr val="accent1"/>
            </a:solidFill>
            <a:ln>
              <a:noFill/>
            </a:ln>
          </p:spPr>
        </p:sp>
        <p:sp>
          <p:nvSpPr>
            <p:cNvPr id="13" name="TextBox 13"/>
            <p:cNvSpPr txBox="1"/>
            <p:nvPr/>
          </p:nvSpPr>
          <p:spPr>
            <a:xfrm>
              <a:off x="1019175" y="2616994"/>
              <a:ext cx="5743388" cy="366712"/>
            </a:xfrm>
            <a:prstGeom prst="rect">
              <a:avLst/>
            </a:prstGeom>
            <a:noFill/>
            <a:ln>
              <a:noFill/>
            </a:ln>
          </p:spPr>
          <p:txBody>
            <a:bodyPr wrap="none" lIns="0" tIns="0" rIns="0" bIns="0" anchor="t" anchorCtr="0">
              <a:spAutoFit/>
            </a:bodyPr>
            <a:lstStyle/>
            <a:p>
              <a:pPr algn="l"/>
              <a:r>
                <a:rPr lang="en-US" sz="1880" b="1" dirty="0">
                  <a:solidFill>
                    <a:schemeClr val="accent1"/>
                  </a:solidFill>
                  <a:latin typeface="+mj-lt"/>
                  <a:ea typeface="+mj-ea"/>
                  <a:cs typeface="+mj-cs"/>
                </a:rPr>
                <a:t>You don't need a 3B-parameter model and</a:t>
              </a:r>
            </a:p>
          </p:txBody>
        </p:sp>
        <p:sp>
          <p:nvSpPr>
            <p:cNvPr id="14" name="TextBox 14"/>
            <p:cNvSpPr txBox="1"/>
            <p:nvPr/>
          </p:nvSpPr>
          <p:spPr>
            <a:xfrm>
              <a:off x="1019175" y="2940844"/>
              <a:ext cx="4090386" cy="366712"/>
            </a:xfrm>
            <a:prstGeom prst="rect">
              <a:avLst/>
            </a:prstGeom>
            <a:noFill/>
            <a:ln>
              <a:noFill/>
            </a:ln>
          </p:spPr>
          <p:txBody>
            <a:bodyPr wrap="none" lIns="0" tIns="0" rIns="0" bIns="0" anchor="t" anchorCtr="0">
              <a:spAutoFit/>
            </a:bodyPr>
            <a:lstStyle/>
            <a:p>
              <a:pPr algn="l"/>
              <a:r>
                <a:rPr lang="en-US" sz="1880" b="1" dirty="0">
                  <a:solidFill>
                    <a:schemeClr val="accent1"/>
                  </a:solidFill>
                  <a:latin typeface="+mj-lt"/>
                  <a:ea typeface="+mj-ea"/>
                  <a:cs typeface="+mj-cs"/>
                </a:rPr>
                <a:t>hundreds of billions of tokens</a:t>
              </a:r>
            </a:p>
          </p:txBody>
        </p:sp>
        <p:sp>
          <p:nvSpPr>
            <p:cNvPr id="15" name="TextBox 15"/>
            <p:cNvSpPr txBox="1"/>
            <p:nvPr/>
          </p:nvSpPr>
          <p:spPr>
            <a:xfrm>
              <a:off x="1022604" y="3280410"/>
              <a:ext cx="3695395"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to build a capable autoregressive vision model.</a:t>
              </a:r>
            </a:p>
          </p:txBody>
        </p:sp>
      </p:grpSp>
      <p:grpSp>
        <p:nvGrpSpPr>
          <p:cNvPr id="32" name="Group 32"/>
          <p:cNvGrpSpPr/>
          <p:nvPr/>
        </p:nvGrpSpPr>
        <p:grpSpPr>
          <a:xfrm>
            <a:off x="755904" y="3857149"/>
            <a:ext cx="6102096" cy="1982057"/>
            <a:chOff x="755904" y="3857149"/>
            <a:chExt cx="6102096" cy="1982057"/>
          </a:xfrm>
        </p:grpSpPr>
        <p:sp>
          <p:nvSpPr>
            <p:cNvPr id="17" name="TextBox 17"/>
            <p:cNvSpPr txBox="1"/>
            <p:nvPr/>
          </p:nvSpPr>
          <p:spPr>
            <a:xfrm>
              <a:off x="757047" y="3857149"/>
              <a:ext cx="3963602" cy="190690"/>
            </a:xfrm>
            <a:prstGeom prst="rect">
              <a:avLst/>
            </a:prstGeom>
            <a:noFill/>
            <a:ln>
              <a:noFill/>
            </a:ln>
          </p:spPr>
          <p:txBody>
            <a:bodyPr wrap="none" lIns="0" tIns="0" rIns="0" bIns="0" anchor="t" anchorCtr="0">
              <a:spAutoFit/>
            </a:bodyPr>
            <a:lstStyle/>
            <a:p>
              <a:pPr algn="l"/>
              <a:r>
                <a:rPr lang="en-US" sz="980" b="1" spc="112" dirty="0">
                  <a:solidFill>
                    <a:schemeClr val="accent1"/>
                  </a:solidFill>
                  <a:latin typeface="+mn-lt"/>
                  <a:ea typeface="+mn-ea"/>
                  <a:cs typeface="+mn-cs"/>
                </a:rPr>
                <a:t>TWO CLASSICAL TECHNIQUES, WORKING TOGETHER</a:t>
              </a:r>
            </a:p>
          </p:txBody>
        </p:sp>
        <p:grpSp>
          <p:nvGrpSpPr>
            <p:cNvPr id="23" name="Group 23"/>
            <p:cNvGrpSpPr/>
            <p:nvPr/>
          </p:nvGrpSpPr>
          <p:grpSpPr>
            <a:xfrm>
              <a:off x="762000" y="4095750"/>
              <a:ext cx="2952750" cy="1047750"/>
              <a:chOff x="762000" y="4095750"/>
              <a:chExt cx="2952750" cy="1047750"/>
            </a:xfrm>
          </p:grpSpPr>
          <p:sp>
            <p:nvSpPr>
              <p:cNvPr id="18" name="Rectangle 18"/>
              <p:cNvSpPr/>
              <p:nvPr/>
            </p:nvSpPr>
            <p:spPr>
              <a:xfrm>
                <a:off x="762000" y="4095750"/>
                <a:ext cx="2952750" cy="1047750"/>
              </a:xfrm>
              <a:prstGeom prst="roundRect">
                <a:avLst>
                  <a:gd name="adj" fmla="val 10909"/>
                </a:avLst>
              </a:prstGeom>
              <a:solidFill>
                <a:schemeClr val="lt1"/>
              </a:solidFill>
              <a:ln w="14288">
                <a:solidFill>
                  <a:schemeClr val="accent2"/>
                </a:solidFill>
              </a:ln>
            </p:spPr>
          </p:sp>
          <p:sp>
            <p:nvSpPr>
              <p:cNvPr id="19" name="Rectangle 19"/>
              <p:cNvSpPr/>
              <p:nvPr/>
            </p:nvSpPr>
            <p:spPr>
              <a:xfrm>
                <a:off x="762000" y="4095750"/>
                <a:ext cx="2952750" cy="76200"/>
              </a:xfrm>
              <a:prstGeom prst="roundRect">
                <a:avLst>
                  <a:gd name="adj" fmla="val 50000"/>
                </a:avLst>
              </a:prstGeom>
              <a:solidFill>
                <a:schemeClr val="accent2"/>
              </a:solidFill>
              <a:ln>
                <a:noFill/>
              </a:ln>
            </p:spPr>
          </p:sp>
          <p:sp>
            <p:nvSpPr>
              <p:cNvPr id="20" name="TextBox 20"/>
              <p:cNvSpPr txBox="1"/>
              <p:nvPr/>
            </p:nvSpPr>
            <p:spPr>
              <a:xfrm>
                <a:off x="982980" y="4333875"/>
                <a:ext cx="2097000" cy="293370"/>
              </a:xfrm>
              <a:prstGeom prst="rect">
                <a:avLst/>
              </a:prstGeom>
              <a:noFill/>
              <a:ln>
                <a:noFill/>
              </a:ln>
            </p:spPr>
            <p:txBody>
              <a:bodyPr wrap="none" lIns="0" tIns="0" rIns="0" bIns="0" anchor="t" anchorCtr="0">
                <a:spAutoFit/>
              </a:bodyPr>
              <a:lstStyle/>
              <a:p>
                <a:pPr algn="l"/>
                <a:r>
                  <a:rPr lang="en-US" sz="1500" b="1" dirty="0">
                    <a:solidFill>
                      <a:schemeClr val="accent2"/>
                    </a:solidFill>
                    <a:latin typeface="+mj-lt"/>
                    <a:ea typeface="+mj-ea"/>
                    <a:cs typeface="+mj-cs"/>
                  </a:rPr>
                  <a:t>Data Augmentation</a:t>
                </a:r>
              </a:p>
            </p:txBody>
          </p:sp>
          <p:sp>
            <p:nvSpPr>
              <p:cNvPr id="21" name="TextBox 21"/>
              <p:cNvSpPr txBox="1"/>
              <p:nvPr/>
            </p:nvSpPr>
            <p:spPr>
              <a:xfrm>
                <a:off x="984885" y="4660106"/>
                <a:ext cx="2111939"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Rebalances long-tailed tasks</a:t>
                </a:r>
              </a:p>
            </p:txBody>
          </p:sp>
          <p:sp>
            <p:nvSpPr>
              <p:cNvPr id="22" name="TextBox 22"/>
              <p:cNvSpPr txBox="1"/>
              <p:nvPr/>
            </p:nvSpPr>
            <p:spPr>
              <a:xfrm>
                <a:off x="984885" y="4869656"/>
                <a:ext cx="2129810"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without collecting new data.</a:t>
                </a:r>
              </a:p>
            </p:txBody>
          </p:sp>
        </p:grpSp>
        <p:grpSp>
          <p:nvGrpSpPr>
            <p:cNvPr id="29" name="Group 29"/>
            <p:cNvGrpSpPr/>
            <p:nvPr/>
          </p:nvGrpSpPr>
          <p:grpSpPr>
            <a:xfrm>
              <a:off x="3905250" y="4095750"/>
              <a:ext cx="2952750" cy="1047750"/>
              <a:chOff x="3905250" y="4095750"/>
              <a:chExt cx="2952750" cy="1047750"/>
            </a:xfrm>
          </p:grpSpPr>
          <p:sp>
            <p:nvSpPr>
              <p:cNvPr id="24" name="Rectangle 24"/>
              <p:cNvSpPr/>
              <p:nvPr/>
            </p:nvSpPr>
            <p:spPr>
              <a:xfrm>
                <a:off x="3905250" y="4095750"/>
                <a:ext cx="2952750" cy="1047750"/>
              </a:xfrm>
              <a:prstGeom prst="roundRect">
                <a:avLst>
                  <a:gd name="adj" fmla="val 10909"/>
                </a:avLst>
              </a:prstGeom>
              <a:solidFill>
                <a:schemeClr val="lt1"/>
              </a:solidFill>
              <a:ln w="14288">
                <a:solidFill>
                  <a:schemeClr val="accent3"/>
                </a:solidFill>
              </a:ln>
            </p:spPr>
          </p:sp>
          <p:sp>
            <p:nvSpPr>
              <p:cNvPr id="25" name="Rectangle 25"/>
              <p:cNvSpPr/>
              <p:nvPr/>
            </p:nvSpPr>
            <p:spPr>
              <a:xfrm>
                <a:off x="3905250" y="4095750"/>
                <a:ext cx="2952750" cy="76200"/>
              </a:xfrm>
              <a:prstGeom prst="roundRect">
                <a:avLst>
                  <a:gd name="adj" fmla="val 50000"/>
                </a:avLst>
              </a:prstGeom>
              <a:solidFill>
                <a:schemeClr val="accent3"/>
              </a:solidFill>
              <a:ln>
                <a:noFill/>
              </a:ln>
            </p:spPr>
          </p:sp>
          <p:sp>
            <p:nvSpPr>
              <p:cNvPr id="26" name="TextBox 26"/>
              <p:cNvSpPr txBox="1"/>
              <p:nvPr/>
            </p:nvSpPr>
            <p:spPr>
              <a:xfrm>
                <a:off x="4126230" y="4333875"/>
                <a:ext cx="2426970" cy="293370"/>
              </a:xfrm>
              <a:prstGeom prst="rect">
                <a:avLst/>
              </a:prstGeom>
              <a:noFill/>
              <a:ln>
                <a:noFill/>
              </a:ln>
            </p:spPr>
            <p:txBody>
              <a:bodyPr wrap="none" lIns="0" tIns="0" rIns="0" bIns="0" anchor="t" anchorCtr="0">
                <a:spAutoFit/>
              </a:bodyPr>
              <a:lstStyle/>
              <a:p>
                <a:pPr algn="l"/>
                <a:r>
                  <a:rPr lang="en-US" sz="1500" b="1" dirty="0">
                    <a:solidFill>
                      <a:schemeClr val="accent3"/>
                    </a:solidFill>
                    <a:latin typeface="+mj-lt"/>
                    <a:ea typeface="+mj-ea"/>
                    <a:cs typeface="+mj-cs"/>
                  </a:rPr>
                  <a:t>Knowledge Distillation</a:t>
                </a:r>
              </a:p>
            </p:txBody>
          </p:sp>
          <p:sp>
            <p:nvSpPr>
              <p:cNvPr id="27" name="TextBox 27"/>
              <p:cNvSpPr txBox="1"/>
              <p:nvPr/>
            </p:nvSpPr>
            <p:spPr>
              <a:xfrm>
                <a:off x="4128135" y="4660106"/>
                <a:ext cx="2051894"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Compresses a large teacher</a:t>
                </a:r>
              </a:p>
            </p:txBody>
          </p:sp>
          <p:sp>
            <p:nvSpPr>
              <p:cNvPr id="28" name="TextBox 28"/>
              <p:cNvSpPr txBox="1"/>
              <p:nvPr/>
            </p:nvSpPr>
            <p:spPr>
              <a:xfrm>
                <a:off x="4128135" y="4869656"/>
                <a:ext cx="1798107"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into a compact student.</a:t>
                </a:r>
              </a:p>
            </p:txBody>
          </p:sp>
        </p:grpSp>
        <p:sp>
          <p:nvSpPr>
            <p:cNvPr id="30" name="TextBox 30"/>
            <p:cNvSpPr txBox="1"/>
            <p:nvPr/>
          </p:nvSpPr>
          <p:spPr>
            <a:xfrm>
              <a:off x="755904" y="5394960"/>
              <a:ext cx="5219361" cy="234696"/>
            </a:xfrm>
            <a:prstGeom prst="rect">
              <a:avLst/>
            </a:prstGeom>
            <a:noFill/>
            <a:ln>
              <a:noFill/>
            </a:ln>
          </p:spPr>
          <p:txBody>
            <a:bodyPr wrap="none" lIns="0" tIns="0" rIns="0" bIns="0" anchor="t" anchorCtr="0">
              <a:spAutoFit/>
            </a:bodyPr>
            <a:lstStyle/>
            <a:p>
              <a:pPr algn="l"/>
              <a:r>
                <a:rPr lang="en-US" sz="1200" i="1" dirty="0">
                  <a:solidFill>
                    <a:schemeClr val="dk2"/>
                  </a:solidFill>
                  <a:latin typeface="+mn-lt"/>
                  <a:ea typeface="+mn-ea"/>
                  <a:cs typeface="+mn-cs"/>
                </a:rPr>
                <a:t>Together they let compact, limited-data models perform strongly</a:t>
              </a:r>
            </a:p>
          </p:txBody>
        </p:sp>
        <p:sp>
          <p:nvSpPr>
            <p:cNvPr id="31" name="TextBox 31"/>
            <p:cNvSpPr txBox="1"/>
            <p:nvPr/>
          </p:nvSpPr>
          <p:spPr>
            <a:xfrm>
              <a:off x="755904" y="5604510"/>
              <a:ext cx="4293108" cy="234696"/>
            </a:xfrm>
            <a:prstGeom prst="rect">
              <a:avLst/>
            </a:prstGeom>
            <a:noFill/>
            <a:ln>
              <a:noFill/>
            </a:ln>
          </p:spPr>
          <p:txBody>
            <a:bodyPr wrap="none" lIns="0" tIns="0" rIns="0" bIns="0" anchor="t" anchorCtr="0">
              <a:spAutoFit/>
            </a:bodyPr>
            <a:lstStyle/>
            <a:p>
              <a:pPr algn="l"/>
              <a:r>
                <a:rPr lang="en-US" sz="1200" i="1" dirty="0">
                  <a:solidFill>
                    <a:schemeClr val="dk2"/>
                  </a:solidFill>
                  <a:latin typeface="+mn-lt"/>
                  <a:ea typeface="+mn-ea"/>
                  <a:cs typeface="+mn-cs"/>
                </a:rPr>
                <a:t>across segmentation, pose estimation, and deraining.</a:t>
              </a:r>
            </a:p>
          </p:txBody>
        </p:sp>
      </p:grpSp>
      <p:grpSp>
        <p:nvGrpSpPr>
          <p:cNvPr id="45" name="Group 45"/>
          <p:cNvGrpSpPr/>
          <p:nvPr/>
        </p:nvGrpSpPr>
        <p:grpSpPr>
          <a:xfrm>
            <a:off x="7620000" y="1428750"/>
            <a:ext cx="4000500" cy="4476750"/>
            <a:chOff x="7620000" y="1428750"/>
            <a:chExt cx="4000500" cy="4476750"/>
          </a:xfrm>
        </p:grpSpPr>
        <p:sp>
          <p:nvSpPr>
            <p:cNvPr id="33" name="Rectangle 33"/>
            <p:cNvSpPr/>
            <p:nvPr/>
          </p:nvSpPr>
          <p:spPr>
            <a:xfrm>
              <a:off x="7620000" y="1428750"/>
              <a:ext cx="4000500" cy="4476750"/>
            </a:xfrm>
            <a:prstGeom prst="roundRect">
              <a:avLst>
                <a:gd name="adj" fmla="val 3810"/>
              </a:avLst>
            </a:prstGeom>
            <a:solidFill>
              <a:schemeClr val="accent1"/>
            </a:solidFill>
            <a:ln>
              <a:noFill/>
            </a:ln>
          </p:spPr>
        </p:sp>
        <p:sp>
          <p:nvSpPr>
            <p:cNvPr id="34" name="Rectangle 34"/>
            <p:cNvSpPr/>
            <p:nvPr/>
          </p:nvSpPr>
          <p:spPr>
            <a:xfrm>
              <a:off x="7620000" y="1428750"/>
              <a:ext cx="4000500" cy="76200"/>
            </a:xfrm>
            <a:prstGeom prst="roundRect">
              <a:avLst>
                <a:gd name="adj" fmla="val 50000"/>
              </a:avLst>
            </a:prstGeom>
            <a:solidFill>
              <a:schemeClr val="accent2"/>
            </a:solidFill>
            <a:ln>
              <a:noFill/>
            </a:ln>
          </p:spPr>
        </p:sp>
        <p:sp>
          <p:nvSpPr>
            <p:cNvPr id="35" name="TextBox 35"/>
            <p:cNvSpPr txBox="1"/>
            <p:nvPr/>
          </p:nvSpPr>
          <p:spPr>
            <a:xfrm>
              <a:off x="7919847" y="1837849"/>
              <a:ext cx="999619" cy="190690"/>
            </a:xfrm>
            <a:prstGeom prst="rect">
              <a:avLst/>
            </a:prstGeom>
            <a:noFill/>
            <a:ln>
              <a:noFill/>
            </a:ln>
          </p:spPr>
          <p:txBody>
            <a:bodyPr wrap="none" lIns="0" tIns="0" rIns="0" bIns="0" anchor="t" anchorCtr="0">
              <a:spAutoFit/>
            </a:bodyPr>
            <a:lstStyle/>
            <a:p>
              <a:pPr algn="l"/>
              <a:r>
                <a:rPr lang="en-US" sz="980" b="1" spc="150" dirty="0">
                  <a:solidFill>
                    <a:schemeClr val="accent3"/>
                  </a:solidFill>
                  <a:latin typeface="+mn-lt"/>
                  <a:ea typeface="+mn-ea"/>
                  <a:cs typeface="+mn-cs"/>
                </a:rPr>
                <a:t>THE PAYOFF</a:t>
              </a:r>
            </a:p>
          </p:txBody>
        </p:sp>
        <p:sp>
          <p:nvSpPr>
            <p:cNvPr id="36" name="TextBox 36"/>
            <p:cNvSpPr txBox="1"/>
            <p:nvPr/>
          </p:nvSpPr>
          <p:spPr>
            <a:xfrm>
              <a:off x="7905750" y="2274570"/>
              <a:ext cx="1530126" cy="1047750"/>
            </a:xfrm>
            <a:prstGeom prst="rect">
              <a:avLst/>
            </a:prstGeom>
            <a:noFill/>
            <a:ln>
              <a:noFill/>
            </a:ln>
          </p:spPr>
          <p:txBody>
            <a:bodyPr wrap="none" lIns="0" tIns="0" rIns="0" bIns="0" anchor="t" anchorCtr="0">
              <a:spAutoFit/>
            </a:bodyPr>
            <a:lstStyle/>
            <a:p>
              <a:pPr algn="l"/>
              <a:r>
                <a:rPr lang="en-US" sz="5400" b="1" dirty="0">
                  <a:solidFill>
                    <a:srgbClr val="FFFFFF"/>
                  </a:solidFill>
                  <a:latin typeface="+mj-lt"/>
                  <a:ea typeface="+mj-ea"/>
                  <a:cs typeface="+mj-cs"/>
                </a:rPr>
                <a:t>83%</a:t>
              </a:r>
            </a:p>
          </p:txBody>
        </p:sp>
        <p:sp>
          <p:nvSpPr>
            <p:cNvPr id="37" name="TextBox 37"/>
            <p:cNvSpPr txBox="1"/>
            <p:nvPr/>
          </p:nvSpPr>
          <p:spPr>
            <a:xfrm>
              <a:off x="7918323" y="3062764"/>
              <a:ext cx="3050706" cy="249364"/>
            </a:xfrm>
            <a:prstGeom prst="rect">
              <a:avLst/>
            </a:prstGeom>
            <a:noFill/>
            <a:ln>
              <a:noFill/>
            </a:ln>
          </p:spPr>
          <p:txBody>
            <a:bodyPr wrap="none" lIns="0" tIns="0" rIns="0" bIns="0" anchor="t" anchorCtr="0">
              <a:spAutoFit/>
            </a:bodyPr>
            <a:lstStyle/>
            <a:p>
              <a:pPr algn="l"/>
              <a:r>
                <a:rPr lang="en-US" sz="1280" dirty="0">
                  <a:solidFill>
                    <a:srgbClr val="EAF1FE"/>
                  </a:solidFill>
                  <a:latin typeface="+mn-lt"/>
                  <a:ea typeface="+mn-ea"/>
                  <a:cs typeface="+mn-cs"/>
                </a:rPr>
                <a:t>ImageNet top-1 — from an 80M model</a:t>
              </a:r>
            </a:p>
          </p:txBody>
        </p:sp>
        <p:sp>
          <p:nvSpPr>
            <p:cNvPr id="38" name="Line 38"/>
            <p:cNvSpPr/>
            <p:nvPr/>
          </p:nvSpPr>
          <p:spPr>
            <a:xfrm>
              <a:off x="7924800" y="3505200"/>
              <a:ext cx="3390900" cy="9525"/>
            </a:xfrm>
            <a:custGeom>
              <a:avLst/>
              <a:gdLst/>
              <a:ahLst/>
              <a:cxnLst/>
              <a:rect l="l" t="t" r="r" b="b"/>
              <a:pathLst>
                <a:path w="3390900" h="9525">
                  <a:moveTo>
                    <a:pt x="0" y="0"/>
                  </a:moveTo>
                  <a:lnTo>
                    <a:pt x="3390900" y="0"/>
                  </a:lnTo>
                </a:path>
              </a:pathLst>
            </a:custGeom>
            <a:noFill/>
            <a:ln w="14288">
              <a:solidFill>
                <a:srgbClr val="2E4470"/>
              </a:solidFill>
            </a:ln>
          </p:spPr>
        </p:sp>
        <p:sp>
          <p:nvSpPr>
            <p:cNvPr id="39" name="TextBox 39"/>
            <p:cNvSpPr txBox="1"/>
            <p:nvPr/>
          </p:nvSpPr>
          <p:spPr>
            <a:xfrm>
              <a:off x="7917942" y="3759518"/>
              <a:ext cx="2382111" cy="264033"/>
            </a:xfrm>
            <a:prstGeom prst="rect">
              <a:avLst/>
            </a:prstGeom>
            <a:noFill/>
            <a:ln>
              <a:noFill/>
            </a:ln>
          </p:spPr>
          <p:txBody>
            <a:bodyPr wrap="none" lIns="0" tIns="0" rIns="0" bIns="0" anchor="t" anchorCtr="0">
              <a:spAutoFit/>
            </a:bodyPr>
            <a:lstStyle/>
            <a:p>
              <a:pPr algn="l"/>
              <a:r>
                <a:rPr lang="en-US" sz="1350" dirty="0">
                  <a:solidFill>
                    <a:srgbClr val="FFFFFF"/>
                  </a:solidFill>
                  <a:latin typeface="+mn-lt"/>
                  <a:ea typeface="+mn-ea"/>
                  <a:cs typeface="+mn-cs"/>
                </a:rPr>
                <a:t>Pointing toward efficient,</a:t>
              </a:r>
            </a:p>
          </p:txBody>
        </p:sp>
        <p:sp>
          <p:nvSpPr>
            <p:cNvPr id="40" name="TextBox 40"/>
            <p:cNvSpPr txBox="1"/>
            <p:nvPr/>
          </p:nvSpPr>
          <p:spPr>
            <a:xfrm>
              <a:off x="7917942" y="4007168"/>
              <a:ext cx="2448992" cy="264033"/>
            </a:xfrm>
            <a:prstGeom prst="rect">
              <a:avLst/>
            </a:prstGeom>
            <a:noFill/>
            <a:ln>
              <a:noFill/>
            </a:ln>
          </p:spPr>
          <p:txBody>
            <a:bodyPr wrap="none" lIns="0" tIns="0" rIns="0" bIns="0" anchor="t" anchorCtr="0">
              <a:spAutoFit/>
            </a:bodyPr>
            <a:lstStyle/>
            <a:p>
              <a:pPr algn="l"/>
              <a:r>
                <a:rPr lang="en-US" sz="1350" dirty="0">
                  <a:solidFill>
                    <a:srgbClr val="FFFFFF"/>
                  </a:solidFill>
                  <a:latin typeface="+mn-lt"/>
                  <a:ea typeface="+mn-ea"/>
                  <a:cs typeface="+mn-cs"/>
                </a:rPr>
                <a:t>deployable generalist vision</a:t>
              </a:r>
            </a:p>
          </p:txBody>
        </p:sp>
        <p:sp>
          <p:nvSpPr>
            <p:cNvPr id="41" name="TextBox 41"/>
            <p:cNvSpPr txBox="1"/>
            <p:nvPr/>
          </p:nvSpPr>
          <p:spPr>
            <a:xfrm>
              <a:off x="7917942" y="4254818"/>
              <a:ext cx="2576208" cy="264033"/>
            </a:xfrm>
            <a:prstGeom prst="rect">
              <a:avLst/>
            </a:prstGeom>
            <a:noFill/>
            <a:ln>
              <a:noFill/>
            </a:ln>
          </p:spPr>
          <p:txBody>
            <a:bodyPr wrap="none" lIns="0" tIns="0" rIns="0" bIns="0" anchor="t" anchorCtr="0">
              <a:spAutoFit/>
            </a:bodyPr>
            <a:lstStyle/>
            <a:p>
              <a:pPr algn="l"/>
              <a:r>
                <a:rPr lang="en-US" sz="1350" dirty="0">
                  <a:solidFill>
                    <a:srgbClr val="FFFFFF"/>
                  </a:solidFill>
                  <a:latin typeface="+mn-lt"/>
                  <a:ea typeface="+mn-ea"/>
                  <a:cs typeface="+mn-cs"/>
                </a:rPr>
                <a:t>models that unify generation</a:t>
              </a:r>
            </a:p>
          </p:txBody>
        </p:sp>
        <p:sp>
          <p:nvSpPr>
            <p:cNvPr id="42" name="TextBox 42"/>
            <p:cNvSpPr txBox="1"/>
            <p:nvPr/>
          </p:nvSpPr>
          <p:spPr>
            <a:xfrm>
              <a:off x="7917942" y="4502468"/>
              <a:ext cx="1722044" cy="264033"/>
            </a:xfrm>
            <a:prstGeom prst="rect">
              <a:avLst/>
            </a:prstGeom>
            <a:noFill/>
            <a:ln>
              <a:noFill/>
            </a:ln>
          </p:spPr>
          <p:txBody>
            <a:bodyPr wrap="none" lIns="0" tIns="0" rIns="0" bIns="0" anchor="t" anchorCtr="0">
              <a:spAutoFit/>
            </a:bodyPr>
            <a:lstStyle/>
            <a:p>
              <a:pPr algn="l"/>
              <a:r>
                <a:rPr lang="en-US" sz="1350" dirty="0">
                  <a:solidFill>
                    <a:srgbClr val="FFFFFF"/>
                  </a:solidFill>
                  <a:latin typeface="+mn-lt"/>
                  <a:ea typeface="+mn-ea"/>
                  <a:cs typeface="+mn-cs"/>
                </a:rPr>
                <a:t>and understanding.</a:t>
              </a:r>
            </a:p>
          </p:txBody>
        </p:sp>
        <p:sp>
          <p:nvSpPr>
            <p:cNvPr id="43" name="Rectangle 43"/>
            <p:cNvSpPr/>
            <p:nvPr/>
          </p:nvSpPr>
          <p:spPr>
            <a:xfrm>
              <a:off x="7924800" y="5105400"/>
              <a:ext cx="3390900" cy="533400"/>
            </a:xfrm>
            <a:prstGeom prst="roundRect">
              <a:avLst>
                <a:gd name="adj" fmla="val 17857"/>
              </a:avLst>
            </a:prstGeom>
            <a:solidFill>
              <a:schemeClr val="accent2"/>
            </a:solidFill>
            <a:ln>
              <a:noFill/>
            </a:ln>
          </p:spPr>
        </p:sp>
        <p:sp>
          <p:nvSpPr>
            <p:cNvPr id="44" name="TextBox 44"/>
            <p:cNvSpPr txBox="1"/>
            <p:nvPr/>
          </p:nvSpPr>
          <p:spPr>
            <a:xfrm>
              <a:off x="8630858" y="5299710"/>
              <a:ext cx="19787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github.com/ggjy/DeLVM</a:t>
              </a:r>
            </a:p>
          </p:txBody>
        </p:sp>
      </p:grpSp>
      <p:grpSp>
        <p:nvGrpSpPr>
          <p:cNvPr id="48" name="Group 48"/>
          <p:cNvGrpSpPr/>
          <p:nvPr/>
        </p:nvGrpSpPr>
        <p:grpSpPr>
          <a:xfrm>
            <a:off x="757238" y="6265545"/>
            <a:ext cx="10868024" cy="176212"/>
            <a:chOff x="757238" y="6265545"/>
            <a:chExt cx="10868024" cy="176212"/>
          </a:xfrm>
        </p:grpSpPr>
        <p:sp>
          <p:nvSpPr>
            <p:cNvPr id="46" name="TextBox 46"/>
            <p:cNvSpPr txBox="1"/>
            <p:nvPr/>
          </p:nvSpPr>
          <p:spPr>
            <a:xfrm>
              <a:off x="757238" y="6265545"/>
              <a:ext cx="6041856" cy="176212"/>
            </a:xfrm>
            <a:prstGeom prst="rect">
              <a:avLst/>
            </a:prstGeom>
            <a:noFill/>
            <a:ln>
              <a:noFill/>
            </a:ln>
          </p:spPr>
          <p:txBody>
            <a:bodyPr wrap="none" lIns="0" tIns="0" rIns="0" bIns="0" anchor="t" anchorCtr="0">
              <a:spAutoFit/>
            </a:bodyPr>
            <a:lstStyle/>
            <a:p>
              <a:pPr algn="l"/>
              <a:r>
                <a:rPr lang="en-US" sz="900" dirty="0">
                  <a:solidFill>
                    <a:schemeClr val="dk2"/>
                  </a:solidFill>
                  <a:latin typeface="+mn-lt"/>
                  <a:ea typeface="+mn-ea"/>
                  <a:cs typeface="+mn-cs"/>
                </a:rPr>
                <a:t>Data-efficient Large Vision Models through Sequential Autoregression · ICML 2024 · arXiv 2402.04841</a:t>
              </a:r>
            </a:p>
          </p:txBody>
        </p:sp>
        <p:sp>
          <p:nvSpPr>
            <p:cNvPr id="47" name="TextBox 47"/>
            <p:cNvSpPr txBox="1"/>
            <p:nvPr/>
          </p:nvSpPr>
          <p:spPr>
            <a:xfrm>
              <a:off x="11494310" y="6273641"/>
              <a:ext cx="130952" cy="161925"/>
            </a:xfrm>
            <a:prstGeom prst="rect">
              <a:avLst/>
            </a:prstGeom>
            <a:noFill/>
            <a:ln>
              <a:noFill/>
            </a:ln>
          </p:spPr>
          <p:txBody>
            <a:bodyPr wrap="none" lIns="0" tIns="0" rIns="0" bIns="0" anchor="t" anchorCtr="0">
              <a:spAutoFit/>
            </a:bodyPr>
            <a:lstStyle/>
            <a:p>
              <a:pPr algn="r"/>
              <a:r>
                <a:rPr lang="en-US" sz="820" dirty="0">
                  <a:solidFill>
                    <a:schemeClr val="accent5"/>
                  </a:solidFill>
                  <a:latin typeface="+mn-lt"/>
                  <a:ea typeface="+mn-ea"/>
                  <a:cs typeface="+mn-cs"/>
                </a:rPr>
                <a:t>08</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deck">
  <a:themeElements>
    <a:clrScheme name="deck">
      <a:dk1>
        <a:srgbClr val="16233B"/>
      </a:dk1>
      <a:lt1>
        <a:srgbClr val="FFFFFF"/>
      </a:lt1>
      <a:dk2>
        <a:srgbClr val="55617A"/>
      </a:dk2>
      <a:lt2>
        <a:srgbClr val="F4F6FB"/>
      </a:lt2>
      <a:accent1>
        <a:srgbClr val="14264A"/>
      </a:accent1>
      <a:accent2>
        <a:srgbClr val="2563EB"/>
      </a:accent2>
      <a:accent3>
        <a:srgbClr val="0EA5A4"/>
      </a:accent3>
      <a:accent4>
        <a:srgbClr val="E2E8F2"/>
      </a:accent4>
      <a:accent5>
        <a:srgbClr val="97A1B5"/>
      </a:accent5>
      <a:accent6>
        <a:srgbClr val="EAF1FE"/>
      </a:accent6>
      <a:hlink>
        <a:srgbClr val="2563EB"/>
      </a:hlink>
      <a:folHlink>
        <a:srgbClr val="0EA5A4"/>
      </a:folHlink>
    </a:clrScheme>
    <a:fontScheme name="deck">
      <a:majorFont>
        <a:latin typeface="Georgia"/>
        <a:ea typeface="Microsoft YaHei"/>
        <a:cs typeface="Georgia"/>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deck">
  <a:themeElements>
    <a:clrScheme name="deck">
      <a:dk1>
        <a:srgbClr val="16233B"/>
      </a:dk1>
      <a:lt1>
        <a:srgbClr val="FFFFFF"/>
      </a:lt1>
      <a:dk2>
        <a:srgbClr val="55617A"/>
      </a:dk2>
      <a:lt2>
        <a:srgbClr val="F4F6FB"/>
      </a:lt2>
      <a:accent1>
        <a:srgbClr val="14264A"/>
      </a:accent1>
      <a:accent2>
        <a:srgbClr val="2563EB"/>
      </a:accent2>
      <a:accent3>
        <a:srgbClr val="0EA5A4"/>
      </a:accent3>
      <a:accent4>
        <a:srgbClr val="E2E8F2"/>
      </a:accent4>
      <a:accent5>
        <a:srgbClr val="97A1B5"/>
      </a:accent5>
      <a:accent6>
        <a:srgbClr val="EAF1FE"/>
      </a:accent6>
      <a:hlink>
        <a:srgbClr val="2563EB"/>
      </a:hlink>
      <a:folHlink>
        <a:srgbClr val="0EA5A4"/>
      </a:folHlink>
    </a:clrScheme>
    <a:fontScheme name="deck">
      <a:majorFont>
        <a:latin typeface="Georgia"/>
        <a:ea typeface="Microsoft YaHei"/>
        <a:cs typeface="Georgia"/>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8</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2026-07-15T04:00:57Z</dcterms:created>
  <dcterms:modified xsi:type="dcterms:W3CDTF">2026-07-15T04:00:57Z</dcterms:modified>
  <cp:category/>
  <cp:contentStatus/>
</cp:coreProperties>
</file>
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CE7F4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6349682" cy="8918753"/>
          </a:xfrm>
          <a:prstGeom prst="roundRect">
            <a:avLst>
              <a:gd name="adj" fmla="val 93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376783"/>
            <a:ext cx="16349682" cy="24695169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376783"/>
            <a:ext cx="16349821" cy="14340542"/>
          </a:xfrm>
          <a:prstGeom prst="roundRect">
            <a:avLst>
              <a:gd name="adj" fmla="val 578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4627383"/>
            <a:ext cx="16349682" cy="9672459"/>
          </a:xfrm>
          <a:prstGeom prst="roundRect">
            <a:avLst>
              <a:gd name="adj" fmla="val 85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20049172"/>
            <a:ext cx="16349821" cy="10022780"/>
          </a:xfrm>
          <a:prstGeom prst="roundRect">
            <a:avLst>
              <a:gd name="adj" fmla="val 827"/>
            </a:avLst>
          </a:prstGeom>
          <a:solidFill>
            <a:srgbClr val="F0EDF5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20049172"/>
            <a:ext cx="53340" cy="1002278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24631689"/>
            <a:ext cx="16349682" cy="5440263"/>
          </a:xfrm>
          <a:prstGeom prst="roundRect">
            <a:avLst>
              <a:gd name="adj" fmla="val 1525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niversity-of-california-berke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436" y="1657156"/>
            <a:ext cx="3204290" cy="1013450"/>
          </a:xfrm>
          <a:prstGeom prst="rect">
            <a:avLst/>
          </a:prstGeom>
        </p:spPr>
      </p:pic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6355" y="1805383"/>
            <a:ext cx="6526649" cy="1896449"/>
          </a:xfrm>
          <a:prstGeom prst="rect">
            <a:avLst/>
          </a:prstGeom>
        </p:spPr>
      </p:pic>
      <p:pic>
        <p:nvPicPr>
          <p:cNvPr id="12" name="Picture 11" descr="carnegie-mellon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539" y="2836465"/>
            <a:ext cx="11338084" cy="10134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39991" y="5764887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816393" y="5764887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592795" y="5764887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9991" y="11320720"/>
            <a:ext cx="15573474" cy="2325985"/>
          </a:xfrm>
          <a:prstGeom prst="roundRect">
            <a:avLst>
              <a:gd name="adj" fmla="val 8969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592795" y="11446430"/>
            <a:ext cx="15573613" cy="1252101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816393" y="14915336"/>
            <a:ext cx="15573474" cy="3463627"/>
          </a:xfrm>
          <a:prstGeom prst="roundRect">
            <a:avLst>
              <a:gd name="adj" fmla="val 6504"/>
            </a:avLst>
          </a:prstGeom>
          <a:solidFill>
            <a:srgbClr val="F4F2F8"/>
          </a:solidFill>
          <a:ln w="8890">
            <a:solidFill>
              <a:srgbClr val="C5B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39991" y="15015487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637245" y="20437276"/>
            <a:ext cx="3905350" cy="924560"/>
          </a:xfrm>
          <a:prstGeom prst="roundRect">
            <a:avLst>
              <a:gd name="adj" fmla="val 10256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9991" y="25019793"/>
            <a:ext cx="6841827" cy="924560"/>
          </a:xfrm>
          <a:prstGeom prst="roundRect">
            <a:avLst>
              <a:gd name="adj" fmla="val 10256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9991" y="26264393"/>
            <a:ext cx="15573474" cy="3419455"/>
          </a:xfrm>
          <a:prstGeom prst="roundRect">
            <a:avLst>
              <a:gd name="adj" fmla="val 2079"/>
            </a:avLst>
          </a:prstGeom>
          <a:gradFill rotWithShape="1" flip="none">
            <a:gsLst>
              <a:gs pos="0">
                <a:srgbClr val="E9E6F0"/>
              </a:gs>
              <a:gs pos="100000">
                <a:srgbClr val="F4F2F8"/>
              </a:gs>
            </a:gsLst>
            <a:lin ang="5400000" scaled="0"/>
          </a:gradFill>
          <a:ln w="8890">
            <a:solidFill>
              <a:srgbClr val="D2CB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637245" y="27046991"/>
            <a:ext cx="15529163" cy="2581156"/>
          </a:xfrm>
          <a:prstGeom prst="roundRect">
            <a:avLst>
              <a:gd name="adj" fmla="val 1377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637245" y="27046991"/>
            <a:ext cx="35560" cy="2581156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002152" y="13064271"/>
            <a:ext cx="14754900" cy="5316081"/>
          </a:xfrm>
          <a:prstGeom prst="roundRect">
            <a:avLst>
              <a:gd name="adj" fmla="val 66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2230" y="13064271"/>
            <a:ext cx="14754744" cy="5316081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7816393" y="18943756"/>
            <a:ext cx="15573474" cy="9354919"/>
          </a:xfrm>
          <a:prstGeom prst="roundRect">
            <a:avLst>
              <a:gd name="adj" fmla="val 38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6495" y="18943756"/>
            <a:ext cx="15573270" cy="935491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597699" y="19910682"/>
            <a:ext cx="14457918" cy="3277493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7882" y="19910682"/>
            <a:ext cx="14457552" cy="3277493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0924420" y="26486643"/>
            <a:ext cx="5443181" cy="30224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24420" y="26486643"/>
            <a:ext cx="11557" cy="3022461"/>
          </a:xfrm>
          <a:prstGeom prst="rect">
            <a:avLst/>
          </a:prstGeom>
          <a:solidFill>
            <a:srgbClr val="D2C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592795" y="7247155"/>
            <a:ext cx="4475560" cy="814408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592795" y="8052673"/>
            <a:ext cx="44755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068355" y="7247155"/>
            <a:ext cx="5435818" cy="814408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068355" y="8052673"/>
            <a:ext cx="543581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504173" y="7247155"/>
            <a:ext cx="5662235" cy="814408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504173" y="8052673"/>
            <a:ext cx="566223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592795" y="8061563"/>
            <a:ext cx="4475560" cy="818852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592795" y="8871525"/>
            <a:ext cx="44755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068355" y="8061563"/>
            <a:ext cx="5435818" cy="818852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068355" y="8871525"/>
            <a:ext cx="543581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504173" y="8061563"/>
            <a:ext cx="5662235" cy="818852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504173" y="8871525"/>
            <a:ext cx="566223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592795" y="8880415"/>
            <a:ext cx="4475560" cy="818852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592795" y="9690377"/>
            <a:ext cx="44755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068355" y="8880415"/>
            <a:ext cx="5435818" cy="818852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068355" y="9690377"/>
            <a:ext cx="543581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504173" y="8880415"/>
            <a:ext cx="5662235" cy="818852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504173" y="9690377"/>
            <a:ext cx="566223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592795" y="9699267"/>
            <a:ext cx="4475560" cy="818853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592795" y="10509230"/>
            <a:ext cx="44755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068355" y="9699267"/>
            <a:ext cx="5435818" cy="818853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068355" y="10509230"/>
            <a:ext cx="543581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504173" y="9699267"/>
            <a:ext cx="5662235" cy="818853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504173" y="10509230"/>
            <a:ext cx="566223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592795" y="10518120"/>
            <a:ext cx="447556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592795" y="11328082"/>
            <a:ext cx="44755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068355" y="10518120"/>
            <a:ext cx="543581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068355" y="11328082"/>
            <a:ext cx="543581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504173" y="10518120"/>
            <a:ext cx="566223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504173" y="11328082"/>
            <a:ext cx="566223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15"/>
              </a:lnSpc>
              <a:spcBef>
                <a:spcPts val="0"/>
              </a:spcBef>
              <a:spcAft>
                <a:spcPts val="0"/>
              </a:spcAft>
            </a:pPr>
            <a:r>
              <a:rPr sz="6922" b="1" spc="-78">
                <a:solidFill>
                  <a:srgbClr val="4B2E83"/>
                </a:solidFill>
                <a:latin typeface="Arial"/>
              </a:rPr>
              <a:t>RvS: What is Essential for Offline RL via Supervised</a:t>
            </a:r>
          </a:p>
          <a:p>
            <a:pPr algn="ctr">
              <a:lnSpc>
                <a:spcPts val="7615"/>
              </a:lnSpc>
              <a:spcBef>
                <a:spcPts val="0"/>
              </a:spcBef>
              <a:spcAft>
                <a:spcPts val="0"/>
              </a:spcAft>
            </a:pPr>
            <a:r>
              <a:rPr sz="6922" b="1" spc="-78">
                <a:solidFill>
                  <a:srgbClr val="4B2E83"/>
                </a:solidFill>
                <a:latin typeface="Arial"/>
              </a:rPr>
              <a:t>Learning?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Scott Emmons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Benjamin Eysenbach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Ilya Kostrikov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Sergey Levine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UC Berkeley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Carnegie Mellon University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5764887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816393" y="5764887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592795" y="5764887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991" y="7144226"/>
            <a:ext cx="16000194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Supervised learning can solve offline RL </a:t>
            </a:r>
            <a:r>
              <a:rPr sz="4106" b="1">
                <a:solidFill>
                  <a:srgbClr val="111111"/>
                </a:solidFill>
                <a:latin typeface="Arial"/>
              </a:rPr>
              <a:t>without TD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bootstrapping</a:t>
            </a:r>
            <a:r>
              <a:rPr sz="4106" b="0">
                <a:solidFill>
                  <a:srgbClr val="1C1C1C"/>
                </a:solidFill>
                <a:latin typeface="Arial"/>
              </a:rPr>
              <a:t>, but it was unclear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when</a:t>
            </a:r>
            <a:r>
              <a:rPr sz="4106" b="0">
                <a:solidFill>
                  <a:srgbClr val="1C1C1C"/>
                </a:solidFill>
                <a:latin typeface="Arial"/>
              </a:rPr>
              <a:t> it works and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which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algorithmic components are essential. Prior RvS methods even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disagree on whether advantage weighting or Transformer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sequence models are needed for good performance.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9991" y="11320720"/>
            <a:ext cx="16000194" cy="2674882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4B2E83"/>
                </a:solidFill>
                <a:latin typeface="Arial"/>
              </a:rPr>
              <a:t>Core question: which pieces of the RvS recipe are </a:t>
            </a:r>
            <a:r>
              <a:rPr sz="4106" b="1">
                <a:solidFill>
                  <a:srgbClr val="111111"/>
                </a:solidFill>
                <a:latin typeface="Arial"/>
              </a:rPr>
              <a:t>essential</a:t>
            </a:r>
            <a:r>
              <a:rPr sz="4106" b="0">
                <a:solidFill>
                  <a:srgbClr val="4B2E83"/>
                </a:solidFill>
                <a:latin typeface="Arial"/>
              </a:rPr>
              <a:t>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4B2E83"/>
                </a:solidFill>
                <a:latin typeface="Arial"/>
              </a:rPr>
              <a:t>and which are incidental complexity? This paper isolates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4B2E83"/>
                </a:solidFill>
                <a:latin typeface="Arial"/>
              </a:rPr>
              <a:t>answer empirically.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92795" y="11446430"/>
            <a:ext cx="16000333" cy="14399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4B2E83"/>
                </a:solidFill>
                <a:latin typeface="Arial"/>
              </a:rPr>
              <a:t>Supervised learning + an MLP — no TD, no Transformer.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91" y="15015487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476045" y="17929324"/>
            <a:ext cx="12621795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outcome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= a future goal state (RvS-G) or average future return (RvS-R), concatenated onto the input state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637245" y="20437276"/>
            <a:ext cx="4022510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637245" y="21824950"/>
            <a:ext cx="15955883" cy="52178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plain </a:t>
            </a:r>
            <a:r>
              <a:rPr sz="4106" b="1">
                <a:solidFill>
                  <a:srgbClr val="111111"/>
                </a:solidFill>
                <a:latin typeface="Arial"/>
              </a:rPr>
              <a:t>two-layer MLP</a:t>
            </a:r>
            <a:r>
              <a:rPr sz="4106" b="0">
                <a:solidFill>
                  <a:srgbClr val="1C1C1C"/>
                </a:solidFill>
                <a:latin typeface="Arial"/>
              </a:rPr>
              <a:t> trained to maximize likelihood is a </a:t>
            </a:r>
            <a:r>
              <a:rPr sz="4106" b="1">
                <a:solidFill>
                  <a:srgbClr val="111111"/>
                </a:solidFill>
                <a:latin typeface="Arial"/>
              </a:rPr>
              <a:t>state-of-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the-art</a:t>
            </a:r>
            <a:r>
              <a:rPr sz="4106" b="0">
                <a:solidFill>
                  <a:srgbClr val="1C1C1C"/>
                </a:solidFill>
                <a:latin typeface="Arial"/>
              </a:rPr>
              <a:t> offline RL method — provided you tune capacity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regularization and choose the right conditioning variable (goals vs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rewards). Roughly </a:t>
            </a:r>
            <a:r>
              <a:rPr sz="4106" b="1">
                <a:solidFill>
                  <a:srgbClr val="111111"/>
                </a:solidFill>
                <a:latin typeface="Arial"/>
              </a:rPr>
              <a:t>1024-unit</a:t>
            </a:r>
            <a:r>
              <a:rPr sz="4106" b="0">
                <a:solidFill>
                  <a:srgbClr val="1C1C1C"/>
                </a:solidFill>
                <a:latin typeface="Arial"/>
              </a:rPr>
              <a:t> layers suffice. The recipe: grow width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until performance saturates, then add light dropout —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dependable field guide for offline RL.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91" y="25019793"/>
            <a:ext cx="7047081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637245" y="27046991"/>
            <a:ext cx="15955883" cy="2968329"/>
          </a:xfrm>
          <a:prstGeom prst="rect">
            <a:avLst/>
          </a:prstGeom>
          <a:noFill/>
        </p:spPr>
        <p:txBody>
          <a:bodyPr wrap="none" lIns="408892" rIns="408892" tIns="255558" bIns="255558">
            <a:spAutoFit/>
          </a:bodyPr>
          <a:lstStyle/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4B2E83"/>
                </a:solidFill>
                <a:latin typeface="Arial"/>
              </a:rPr>
              <a:t>No advantage weighting or Transformer required — but on</a:t>
            </a:r>
          </a:p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4B2E83"/>
                </a:solidFill>
                <a:latin typeface="Arial"/>
              </a:rPr>
              <a:t>purely random data, TD learning still wins (an open</a:t>
            </a:r>
          </a:p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4B2E83"/>
                </a:solidFill>
                <a:latin typeface="Arial"/>
              </a:rPr>
              <a:t>problem).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816375" y="7172840"/>
            <a:ext cx="16000212" cy="2706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Train an outcome-conditioned policy </a:t>
            </a:r>
            <a:r>
              <a:rPr sz="4106" b="1">
                <a:solidFill>
                  <a:srgbClr val="111111"/>
                </a:solidFill>
                <a:latin typeface="Arial"/>
              </a:rPr>
              <a:t>π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θ</a:t>
            </a:r>
            <a:r>
              <a:rPr sz="4106" b="1">
                <a:solidFill>
                  <a:srgbClr val="111111"/>
                </a:solidFill>
                <a:latin typeface="Arial"/>
              </a:rPr>
              <a:t>(a | s, ω)</a:t>
            </a:r>
            <a:r>
              <a:rPr sz="4106" b="0">
                <a:solidFill>
                  <a:srgbClr val="1C1C1C"/>
                </a:solidFill>
                <a:latin typeface="Arial"/>
              </a:rPr>
              <a:t> as a plain </a:t>
            </a:r>
            <a:r>
              <a:rPr sz="4106" b="1">
                <a:solidFill>
                  <a:srgbClr val="111111"/>
                </a:solidFill>
                <a:latin typeface="Arial"/>
              </a:rPr>
              <a:t>two-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layer MLP</a:t>
            </a:r>
            <a:r>
              <a:rPr sz="4106" b="0">
                <a:solidFill>
                  <a:srgbClr val="1C1C1C"/>
                </a:solidFill>
                <a:latin typeface="Arial"/>
              </a:rPr>
              <a:t>, maximizing the log-likelihood of the observed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actions.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816375" y="9708991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Hindsight relabeling</a:t>
            </a:r>
            <a:r>
              <a:rPr sz="4106" b="0">
                <a:solidFill>
                  <a:srgbClr val="1C1C1C"/>
                </a:solidFill>
                <a:latin typeface="Arial"/>
              </a:rPr>
              <a:t> makes every action a demonstration for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outcome it achieved. No advantage weighting, no TD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learning, no Transformer.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816375" y="12160130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Two design choices are decisive: </a:t>
            </a:r>
            <a:r>
              <a:rPr sz="4106" b="1">
                <a:solidFill>
                  <a:srgbClr val="111111"/>
                </a:solidFill>
                <a:latin typeface="Arial"/>
              </a:rPr>
              <a:t>network capacity</a:t>
            </a:r>
            <a:r>
              <a:rPr sz="4106" b="0">
                <a:solidFill>
                  <a:srgbClr val="1C1C1C"/>
                </a:solidFill>
                <a:latin typeface="Arial"/>
              </a:rPr>
              <a:t> (wider is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better, up to 1024 units) and </a:t>
            </a:r>
            <a:r>
              <a:rPr sz="4106" b="1">
                <a:solidFill>
                  <a:srgbClr val="111111"/>
                </a:solidFill>
                <a:latin typeface="Arial"/>
              </a:rPr>
              <a:t>dropout</a:t>
            </a:r>
            <a:r>
              <a:rPr sz="4106" b="0">
                <a:solidFill>
                  <a:srgbClr val="1C1C1C"/>
                </a:solidFill>
                <a:latin typeface="Arial"/>
              </a:rPr>
              <a:t>, whose benefit depends 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dataset.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9972" y="16260087"/>
            <a:ext cx="1600021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Value-based offline RL works but is hard to use: many tricks,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delicate tuning.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972" y="17955021"/>
            <a:ext cx="1600021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Recasting RL as </a:t>
            </a:r>
            <a:r>
              <a:rPr sz="4106" b="1">
                <a:solidFill>
                  <a:srgbClr val="111111"/>
                </a:solidFill>
                <a:latin typeface="Arial"/>
              </a:rPr>
              <a:t>conditional imitation learning</a:t>
            </a:r>
            <a:r>
              <a:rPr sz="4106" b="0">
                <a:solidFill>
                  <a:srgbClr val="1C1C1C"/>
                </a:solidFill>
                <a:latin typeface="Arial"/>
              </a:rPr>
              <a:t> is a simpler,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more robust alternative.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592365" y="18529954"/>
            <a:ext cx="13981708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Per-suite averages: RvS matches TD-learning and Transformer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methods.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64484" y="23337777"/>
            <a:ext cx="8367936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Wider nets help; dropout varies by dataset.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439387" y="28448277"/>
            <a:ext cx="14754206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RvS conditions each action on an outcome ω; hindsight relabeling turns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offline trajectories into (state, outcome → action) demonstrations.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85855" y="26845160"/>
            <a:ext cx="9336829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4B2E83"/>
                </a:solidFill>
                <a:latin typeface="Arial"/>
              </a:rPr>
              <a:t>53.5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85855" y="28220054"/>
            <a:ext cx="9336829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RvS-G AntMaze average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5855" y="28741508"/>
            <a:ext cx="9336829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state-of-the-art, vs 50.6 best baseline (CQL-p)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592795" y="7247155"/>
            <a:ext cx="4609826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Suite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68355" y="7247155"/>
            <a:ext cx="5598892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RvS (ours)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504173" y="7247155"/>
            <a:ext cx="5832102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Best prior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592795" y="8061563"/>
            <a:ext cx="4609826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AntMaze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068355" y="8061563"/>
            <a:ext cx="559889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53.5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504173" y="8061563"/>
            <a:ext cx="583210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50.6 </a:t>
            </a:r>
            <a:r>
              <a:rPr sz="3819" b="1">
                <a:solidFill>
                  <a:srgbClr val="555555"/>
                </a:solidFill>
                <a:latin typeface="Arial"/>
              </a:rPr>
              <a:t>CQL-p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592795" y="8880415"/>
            <a:ext cx="4609826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Kitchen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068355" y="8880415"/>
            <a:ext cx="559889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54.0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504173" y="8880415"/>
            <a:ext cx="583210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51.5 </a:t>
            </a:r>
            <a:r>
              <a:rPr sz="3819" b="1">
                <a:solidFill>
                  <a:srgbClr val="555555"/>
                </a:solidFill>
                <a:latin typeface="Arial"/>
              </a:rPr>
              <a:t>BC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592795" y="9699267"/>
            <a:ext cx="4609826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GCSL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068355" y="9699267"/>
            <a:ext cx="5598892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62.0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504173" y="9699267"/>
            <a:ext cx="5832102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58.0 </a:t>
            </a:r>
            <a:r>
              <a:rPr sz="3819" b="1">
                <a:solidFill>
                  <a:srgbClr val="555555"/>
                </a:solidFill>
                <a:latin typeface="Arial"/>
              </a:rPr>
              <a:t>GCSL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592795" y="10518120"/>
            <a:ext cx="460982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Gym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068355" y="10518120"/>
            <a:ext cx="559889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54.7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504173" y="10518120"/>
            <a:ext cx="583210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57.0 </a:t>
            </a:r>
            <a:r>
              <a:rPr sz="3819" b="1">
                <a:solidFill>
                  <a:srgbClr val="555555"/>
                </a:solidFill>
                <a:latin typeface="Arial"/>
              </a:rPr>
              <a:t>DT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02675" y="26486643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54.0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624633" y="26619993"/>
            <a:ext cx="322974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Kitchen avg (SOTA)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402675" y="27307440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62.0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624633" y="27440790"/>
            <a:ext cx="334577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GCSL vs 58.0 online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402675" y="28128237"/>
            <a:ext cx="122685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1024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776319" y="28261587"/>
            <a:ext cx="369902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best MLP hidden width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402675" y="28949034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54.7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624633" y="29082384"/>
            <a:ext cx="295088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Gym, matches DT</a:t>
            </a:r>
          </a:p>
        </p:txBody>
      </p:sp>
      <p:pic>
        <p:nvPicPr>
          <p:cNvPr id="112" name="Picture 111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19499" y="15554999"/>
            <a:ext cx="14767262" cy="1748830"/>
          </a:xfrm>
          <a:prstGeom prst="rect">
            <a:avLst/>
          </a:prstGeom>
        </p:spPr>
      </p:pic>
      <p:pic>
        <p:nvPicPr>
          <p:cNvPr id="113" name="Picture 112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00340" y="17867094"/>
            <a:ext cx="225583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
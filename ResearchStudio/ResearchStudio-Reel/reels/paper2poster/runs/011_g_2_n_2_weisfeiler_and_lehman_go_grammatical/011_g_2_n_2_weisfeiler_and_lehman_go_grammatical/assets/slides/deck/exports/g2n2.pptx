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8792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ICLR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95588" y="576501"/>
            <a:ext cx="3191955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Provable Expressiveness · Grammar-Built GNN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92074" y="1075372"/>
            <a:ext cx="1168634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G2N2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2249" y="1277779"/>
            <a:ext cx="377480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Grammatical Graph Neural Network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837" y="1680686"/>
            <a:ext cx="45104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33D6C0"/>
                </a:solidFill>
                <a:latin typeface="+mn-lt"/>
                <a:ea typeface="+mn-ea"/>
                <a:cs typeface="+mn-cs"/>
              </a:rPr>
              <a:t>Weisfeiler and Lehman Go Grammatical</a:t>
            </a:r>
          </a:p>
        </p:txBody>
      </p:sp>
      <p:sp>
        <p:nvSpPr>
          <p:cNvPr id="8" name="Rectangle 8"/>
          <p:cNvSpPr/>
          <p:nvPr/>
        </p:nvSpPr>
        <p:spPr>
          <a:xfrm>
            <a:off x="8401050" y="1419225"/>
            <a:ext cx="762000" cy="361950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5240">
            <a:solidFill>
              <a:schemeClr val="accent2"/>
            </a:solidFill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8542058" y="1550670"/>
            <a:ext cx="4799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ML(L3)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429750" y="1419225"/>
            <a:ext cx="762000" cy="361950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5240">
            <a:solidFill>
              <a:srgbClr val="F4C24C"/>
            </a:solidFill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9535654" y="1550670"/>
            <a:ext cx="55019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4C24C"/>
                </a:solidFill>
                <a:latin typeface="Consolas"/>
                <a:ea typeface="Consolas"/>
                <a:cs typeface="Consolas"/>
              </a:rPr>
              <a:t>grammar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458450" y="1419225"/>
            <a:ext cx="762000" cy="361950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5240">
            <a:solidFill>
              <a:srgbClr val="46C98B"/>
            </a:solidFill>
          </a:ln>
        </p:spPr>
        <p:txBody>
          <a:bodyPr/>
          <a:p/>
        </p:txBody>
      </p:sp>
      <p:sp>
        <p:nvSpPr>
          <p:cNvPr id="13" name="TextBox 13"/>
          <p:cNvSpPr txBox="1"/>
          <p:nvPr/>
        </p:nvSpPr>
        <p:spPr>
          <a:xfrm>
            <a:off x="10686829" y="1550670"/>
            <a:ext cx="3052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46C98B"/>
                </a:solidFill>
                <a:latin typeface="Consolas"/>
                <a:ea typeface="Consolas"/>
                <a:cs typeface="Consolas"/>
              </a:rPr>
              <a:t>G2N2</a:t>
            </a:r>
          </a:p>
        </p:txBody>
      </p:sp>
      <p:sp>
        <p:nvSpPr>
          <p:cNvPr id="14" name="Line 14"/>
          <p:cNvSpPr/>
          <p:nvPr/>
        </p:nvSpPr>
        <p:spPr>
          <a:xfrm>
            <a:off x="9191625" y="1600200"/>
            <a:ext cx="209550" cy="9525"/>
          </a:xfrm>
          <a:custGeom>
            <a:avLst/>
            <a:gdLst/>
            <a:ahLst/>
            <a:cxnLst/>
            <a:rect l="l" t="t" r="r" b="b"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524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5" name="Polygon 15"/>
          <p:cNvSpPr/>
          <p:nvPr/>
        </p:nvSpPr>
        <p:spPr>
          <a:xfrm>
            <a:off x="9275987" y="1568234"/>
            <a:ext cx="125188" cy="63931"/>
          </a:xfrm>
          <a:custGeom>
            <a:avLst/>
            <a:gdLst/>
            <a:ahLst/>
            <a:cxnLst/>
            <a:rect l="l" t="t" r="r" b="b"/>
            <a:pathLst>
              <a:path w="125188" h="63931">
                <a:moveTo>
                  <a:pt x="125188" y="31966"/>
                </a:moveTo>
                <a:lnTo>
                  <a:pt x="0" y="639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p/>
        </p:txBody>
      </p:sp>
      <p:sp>
        <p:nvSpPr>
          <p:cNvPr id="16" name="Line 16"/>
          <p:cNvSpPr/>
          <p:nvPr/>
        </p:nvSpPr>
        <p:spPr>
          <a:xfrm>
            <a:off x="10220325" y="1600200"/>
            <a:ext cx="209550" cy="9525"/>
          </a:xfrm>
          <a:custGeom>
            <a:avLst/>
            <a:gdLst/>
            <a:ahLst/>
            <a:cxnLst/>
            <a:rect l="l" t="t" r="r" b="b"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524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7" name="Polygon 17"/>
          <p:cNvSpPr/>
          <p:nvPr/>
        </p:nvSpPr>
        <p:spPr>
          <a:xfrm>
            <a:off x="10304687" y="1568234"/>
            <a:ext cx="125188" cy="63931"/>
          </a:xfrm>
          <a:custGeom>
            <a:avLst/>
            <a:gdLst/>
            <a:ahLst/>
            <a:cxnLst/>
            <a:rect l="l" t="t" r="r" b="b"/>
            <a:pathLst>
              <a:path w="125188" h="63931">
                <a:moveTo>
                  <a:pt x="125188" y="31966"/>
                </a:moveTo>
                <a:lnTo>
                  <a:pt x="0" y="639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9264401" y="1219914"/>
            <a:ext cx="109269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expressive language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76486" y="1867614"/>
            <a:ext cx="1268527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provably 3-WL network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647" y="2199799"/>
            <a:ext cx="57267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J. Piquenot · A. Moscatelli · M. Berar · P. Heroux · J.-Y. Ramel · R. Raveaux · S. Adam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4838" y="2432447"/>
            <a:ext cx="4777650" cy="1833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0" b="1" dirty="0">
                <a:solidFill>
                  <a:srgbClr val="6E869C"/>
                </a:solidFill>
                <a:latin typeface="+mn-lt"/>
                <a:ea typeface="+mn-ea"/>
                <a:cs typeface="+mn-cs"/>
              </a:rPr>
              <a:t>LITIS Lab, University of Rouen Normandy · LIFAT Lab, University of Tours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09600" y="2838450"/>
            <a:ext cx="2600325" cy="2209800"/>
            <a:chOff x="609600" y="2838450"/>
            <a:chExt cx="2600325" cy="2209800"/>
          </a:xfrm>
        </p:grpSpPr>
        <p:sp>
          <p:nvSpPr>
            <p:cNvPr id="22" name="Rectangle 22"/>
            <p:cNvSpPr/>
            <p:nvPr/>
          </p:nvSpPr>
          <p:spPr>
            <a:xfrm>
              <a:off x="609600" y="2838450"/>
              <a:ext cx="2600325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2838450"/>
              <a:ext cx="2600325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09625" y="31718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604" y="3166110"/>
              <a:ext cx="110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question of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604" y="3366135"/>
              <a:ext cx="1275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expressiveness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247" y="3685699"/>
              <a:ext cx="1841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Can we design a graph neural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247" y="3866674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network whose expressive power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247" y="4047649"/>
              <a:ext cx="2021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 guaranteed by construction,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247" y="4228624"/>
              <a:ext cx="19096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rather than proved after the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40959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fact?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400425" y="2838450"/>
            <a:ext cx="2600325" cy="2209800"/>
            <a:chOff x="3400425" y="2838450"/>
            <a:chExt cx="2600325" cy="2209800"/>
          </a:xfrm>
        </p:grpSpPr>
        <p:sp>
          <p:nvSpPr>
            <p:cNvPr id="33" name="Rectangle 33"/>
            <p:cNvSpPr/>
            <p:nvPr/>
          </p:nvSpPr>
          <p:spPr>
            <a:xfrm>
              <a:off x="3400425" y="2838450"/>
              <a:ext cx="2600325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400425" y="2838450"/>
              <a:ext cx="2600325" cy="571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600450" y="3171825"/>
              <a:ext cx="133350" cy="13335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13429" y="3166110"/>
              <a:ext cx="1849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answer is a recipe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24072" y="3685699"/>
              <a:ext cx="1406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Instead of a one-off,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24072" y="3866674"/>
              <a:ext cx="2160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hand-crafted proof, the authors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24072" y="4047649"/>
              <a:ext cx="2034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give a single repeatable recipe.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91250" y="2838450"/>
            <a:ext cx="2600325" cy="2209800"/>
            <a:chOff x="6191250" y="2838450"/>
            <a:chExt cx="2600325" cy="2209800"/>
          </a:xfrm>
        </p:grpSpPr>
        <p:sp>
          <p:nvSpPr>
            <p:cNvPr id="41" name="Rectangle 41"/>
            <p:cNvSpPr/>
            <p:nvPr/>
          </p:nvSpPr>
          <p:spPr>
            <a:xfrm>
              <a:off x="6191250" y="2838450"/>
              <a:ext cx="2600325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91250" y="2838450"/>
              <a:ext cx="2600325" cy="571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391275" y="3171825"/>
              <a:ext cx="133350" cy="13335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04254" y="3166110"/>
              <a:ext cx="2044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Grammar becomes layers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4897" y="3685699"/>
              <a:ext cx="21516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Take a matrix-language fragment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14897" y="3866674"/>
              <a:ext cx="2085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matched to 3-W-L, write it as 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14897" y="4047649"/>
              <a:ext cx="2107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context-free grammar, prune it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14897" y="4228624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 essential rules, and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14897" y="4409599"/>
              <a:ext cx="1698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translate those rules into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14897" y="4590574"/>
              <a:ext cx="10587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network layers.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982075" y="2838450"/>
            <a:ext cx="2600325" cy="2209800"/>
            <a:chOff x="8982075" y="2838450"/>
            <a:chExt cx="2600325" cy="2209800"/>
          </a:xfrm>
        </p:grpSpPr>
        <p:sp>
          <p:nvSpPr>
            <p:cNvPr id="52" name="Rectangle 52"/>
            <p:cNvSpPr/>
            <p:nvPr/>
          </p:nvSpPr>
          <p:spPr>
            <a:xfrm>
              <a:off x="8982075" y="2838450"/>
              <a:ext cx="2600325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982075" y="2838450"/>
              <a:ext cx="2600325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182100" y="3171825"/>
              <a:ext cx="133350" cy="133350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95079" y="3166110"/>
              <a:ext cx="1618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Provably 3-WL, and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95079" y="3366135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faster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5722" y="3685699"/>
              <a:ext cx="15247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result is a provably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05722" y="3866674"/>
              <a:ext cx="21170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three-W-L graph neural network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05722" y="404764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is, in practice, both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05722" y="4228624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faster and more accurate than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05722" y="4409599"/>
              <a:ext cx="10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its competitors.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609600" y="5257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64" name="TextBox 64"/>
          <p:cNvSpPr txBox="1"/>
          <p:nvPr/>
        </p:nvSpPr>
        <p:spPr>
          <a:xfrm>
            <a:off x="604266" y="5487352"/>
            <a:ext cx="1294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arXiv:2303.01590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004947" y="5495449"/>
            <a:ext cx="42265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github.com/JPiquenot/Wesfeiler-and-Lehman-go-grammatical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29290" y="5487352"/>
            <a:ext cx="32584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Expressiveness guaranteed by construction.</a:t>
            </a:r>
          </a:p>
        </p:txBody>
      </p:sp>
      <p:sp>
        <p:nvSpPr>
          <p:cNvPr id="67" name="cue_s01_c1_g2n2_presented_iclr_2024_asks" title="cue_s01_c1_g2n2_presented_iclr_2024_asks" descr="cue_s01_c1_g2n2_presented_iclr_2024_asks This paper, G2N2, presented at ICLR 2024, asks a deceptively simple question: can we design a graph neural network whose expressive power is guaranteed by construction, rather than proved after the fact?"/>
          <p:cNvSpPr/>
          <p:nvPr/>
        </p:nvSpPr>
        <p:spPr>
          <a:xfrm>
            <a:off x="609600" y="2838526"/>
            <a:ext cx="2600553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ue_s01_c2_authors_give_recipe" title="cue_s01_c2_authors_give_recipe" descr="cue_s01_c2_authors_give_recipe The authors give a recipe."/>
          <p:cNvSpPr/>
          <p:nvPr/>
        </p:nvSpPr>
        <p:spPr>
          <a:xfrm>
            <a:off x="3400348" y="2838526"/>
            <a:ext cx="2600553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ue_s01_c3_they_take_fragment_algebraic_matrix" title="cue_s01_c3_they_take_fragment_algebraic_matrix" descr="cue_s01_c3_they_take_fragment_algebraic_matrix They take a fragment of an algebraic matrix language known to match the third-order Weisfeiler-Lehman test, write it as a context-free grammar, prune the grammar down to its essential rules, and then translate those rules directly into the layers of a neural n"/>
          <p:cNvSpPr/>
          <p:nvPr/>
        </p:nvSpPr>
        <p:spPr>
          <a:xfrm>
            <a:off x="6191097" y="2838526"/>
            <a:ext cx="2600553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ue_s01_c4_result_provably_three_w_l_graph_neur" title="cue_s01_c4_result_provably_three_w_l_graph_neur" descr="cue_s01_c4_result_provably_three_w_l_graph_neur The result is a provably three-W-L graph neural network that is both principled and, in practice, faster and more accurate than its competitors."/>
          <p:cNvSpPr/>
          <p:nvPr/>
        </p:nvSpPr>
        <p:spPr>
          <a:xfrm>
            <a:off x="8981846" y="2838526"/>
            <a:ext cx="2600553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93293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Expressiveness proved after the fact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1504950"/>
            <a:ext cx="3848100" cy="3733800"/>
            <a:chOff x="609600" y="1504950"/>
            <a:chExt cx="38481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38481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90462"/>
              <a:ext cx="282516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Weisfeiler-Lehman yardstick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156" y="2157651"/>
              <a:ext cx="27274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years the field has measured a graph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156" y="2357676"/>
              <a:ext cx="288190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network's power on the Weisfeiler-Lehman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156" y="2557701"/>
              <a:ext cx="258474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hierarchy. The gold standard: design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156" y="2757726"/>
              <a:ext cx="263443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model, then prove it matches, say, the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156" y="2957751"/>
              <a:ext cx="121358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third-order test.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" y="3505200"/>
              <a:ext cx="3276600" cy="1238250"/>
            </a:xfrm>
            <a:prstGeom prst="roundRect">
              <a:avLst>
                <a:gd name="adj" fmla="val 7692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2038" y="3689747"/>
              <a:ext cx="124521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the usual workflow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3943350"/>
              <a:ext cx="2895600" cy="3810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61675" y="4089797"/>
              <a:ext cx="210585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design model -&gt; then prove k-WL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2038" y="4531995"/>
              <a:ext cx="16760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proof trails the design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2500" y="1504950"/>
            <a:ext cx="6819900" cy="1047750"/>
            <a:chOff x="4762500" y="1504950"/>
            <a:chExt cx="6819900" cy="1047750"/>
          </a:xfrm>
        </p:grpSpPr>
        <p:sp>
          <p:nvSpPr>
            <p:cNvPr id="19" name="Rectangle 19"/>
            <p:cNvSpPr/>
            <p:nvPr/>
          </p:nvSpPr>
          <p:spPr>
            <a:xfrm>
              <a:off x="4762500" y="1504950"/>
              <a:ext cx="6819900" cy="1047750"/>
            </a:xfrm>
            <a:prstGeom prst="roundRect">
              <a:avLst>
                <a:gd name="adj" fmla="val 12727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62500" y="15049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22914" y="1733312"/>
              <a:ext cx="249856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The proof is an afterthought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23866" y="2039302"/>
              <a:ext cx="5266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Expressiveness is established after the design, almost as an afterthought,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23866" y="2248852"/>
              <a:ext cx="3388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never as the thing that drives the architecture.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762500" y="2705100"/>
            <a:ext cx="6819900" cy="1504950"/>
            <a:chOff x="4762500" y="2705100"/>
            <a:chExt cx="6819900" cy="1504950"/>
          </a:xfrm>
        </p:grpSpPr>
        <p:sp>
          <p:nvSpPr>
            <p:cNvPr id="25" name="Rectangle 25"/>
            <p:cNvSpPr/>
            <p:nvPr/>
          </p:nvSpPr>
          <p:spPr>
            <a:xfrm>
              <a:off x="4762500" y="2705100"/>
              <a:ext cx="6819900" cy="1504950"/>
            </a:xfrm>
            <a:prstGeom prst="roundRect">
              <a:avLst>
                <a:gd name="adj" fmla="val 8861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62500" y="2705100"/>
              <a:ext cx="57150" cy="15049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22914" y="2933462"/>
              <a:ext cx="263864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Missing: the reverse direction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4056" y="3243501"/>
              <a:ext cx="424372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has been missing is a systematic way to go the other way: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4056" y="3443526"/>
              <a:ext cx="428642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start from a language we already know is exactly as powerful as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4056" y="3643551"/>
              <a:ext cx="392893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3-W-L, and mechanically build a network that inherits that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24056" y="3843576"/>
              <a:ext cx="48616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power.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029200" y="3848100"/>
              <a:ext cx="62865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93602" y="3942874"/>
              <a:ext cx="2957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language known = 3-WL =&gt; build the network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0" y="4362450"/>
            <a:ext cx="6819900" cy="876300"/>
            <a:chOff x="4762500" y="4362450"/>
            <a:chExt cx="6819900" cy="876300"/>
          </a:xfrm>
        </p:grpSpPr>
        <p:sp>
          <p:nvSpPr>
            <p:cNvPr id="35" name="Rectangle 35"/>
            <p:cNvSpPr/>
            <p:nvPr/>
          </p:nvSpPr>
          <p:spPr>
            <a:xfrm>
              <a:off x="4762500" y="4362450"/>
              <a:ext cx="6819900" cy="876300"/>
            </a:xfrm>
            <a:prstGeom prst="roundRect">
              <a:avLst>
                <a:gd name="adj" fmla="val 15217"/>
              </a:avLst>
            </a:prstGeom>
            <a:solidFill>
              <a:srgbClr val="3A2020"/>
            </a:solidFill>
            <a:ln w="14288">
              <a:solidFill>
                <a:srgbClr val="F2685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62500" y="436245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23294" y="4579858"/>
              <a:ext cx="330499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Otherwise: reinvent the proof each time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4056" y="4862751"/>
              <a:ext cx="57799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Without such a recipe, every expressive architecture is a fresh, hand-crafted proof.</a:t>
              </a:r>
            </a:p>
          </p:txBody>
        </p:sp>
      </p:grpSp>
      <p:sp>
        <p:nvSpPr>
          <p:cNvPr id="40" name="cue_s02_c1_how_expressive_graph_neural_network" title="cue_s02_c1_how_expressive_graph_neural_network" descr="cue_s02_c1_how_expressive_graph_neural_network How expressive is a graph neural network? For years the field has answered that with the Weisfeiler-Lehman hierarchy, and the gold standard has been to design a model and then prove it matches, say, the third-order test."/>
          <p:cNvSpPr/>
          <p:nvPr/>
        </p:nvSpPr>
        <p:spPr>
          <a:xfrm>
            <a:off x="609600" y="1504645"/>
            <a:ext cx="3847795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2_c2_but_proof_comes_after_design" title="cue_s02_c2_but_proof_comes_after_design" descr="cue_s02_c2_but_proof_comes_after_design But that proof comes after the design, almost as an afterthought."/>
          <p:cNvSpPr/>
          <p:nvPr/>
        </p:nvSpPr>
        <p:spPr>
          <a:xfrm>
            <a:off x="4762195" y="1504645"/>
            <a:ext cx="6820204" cy="10479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2_c3_what_been_missing_systematic_way" title="cue_s02_c3_what_been_missing_systematic_way" descr="cue_s02_c3_what_been_missing_systematic_way What has been missing is a systematic way to go the other direction: to start from a language we already know is exactly as powerful as 3-W-L, and mechanically build a network that inherits that power."/>
          <p:cNvSpPr/>
          <p:nvPr/>
        </p:nvSpPr>
        <p:spPr>
          <a:xfrm>
            <a:off x="4762195" y="2704795"/>
            <a:ext cx="6820204" cy="15046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2_c4_without_such_recipe_every_expressive" title="cue_s02_c4_without_such_recipe_every_expressive" descr="cue_s02_c4_without_such_recipe_every_expressive Without such a recipe, every expressive architecture is a fresh, hand-crafted proof."/>
          <p:cNvSpPr/>
          <p:nvPr/>
        </p:nvSpPr>
        <p:spPr>
          <a:xfrm>
            <a:off x="4762195" y="4362373"/>
            <a:ext cx="6820204" cy="876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09190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bridge from combinatorics to algebra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09600" y="1504950"/>
            <a:ext cx="5334000" cy="2038350"/>
            <a:chOff x="609600" y="1504950"/>
            <a:chExt cx="5334000" cy="20383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2038350"/>
            </a:xfrm>
            <a:prstGeom prst="roundRect">
              <a:avLst>
                <a:gd name="adj" fmla="val 6542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37360"/>
              <a:ext cx="2796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WL tests are MATLANG fragments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156" y="2024301"/>
              <a:ext cx="416340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groundbreaking observation: the 1-W-L and 3-W-L tests can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156" y="2214801"/>
              <a:ext cx="399409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each be rewritten as a fragment of a matrix language called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156" y="2405301"/>
              <a:ext cx="67113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MATLANG.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724150"/>
              <a:ext cx="4800600" cy="704850"/>
            </a:xfrm>
            <a:prstGeom prst="roundRect">
              <a:avLst>
                <a:gd name="adj" fmla="val 10811"/>
              </a:avLst>
            </a:prstGeom>
            <a:solidFill>
              <a:srgbClr val="0E223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04900" y="2933700"/>
              <a:ext cx="1438275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13335">
              <a:solidFill>
                <a:srgbClr val="33D6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43447" y="3037999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1-WL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10025" y="2933700"/>
              <a:ext cx="1438275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13335">
              <a:solidFill>
                <a:srgbClr val="33D6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68071" y="3037999"/>
              <a:ext cx="5221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ML(L1)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19375" y="309562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5240" cap="rnd">
              <a:solidFill>
                <a:srgbClr val="33D6C0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619375" y="30575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33D6C0"/>
            </a:solidFill>
            <a:ln>
              <a:noFill/>
            </a:ln>
          </p:spPr>
        </p:sp>
        <p:sp>
          <p:nvSpPr>
            <p:cNvPr id="18" name="Polygon 18"/>
            <p:cNvSpPr/>
            <p:nvPr/>
          </p:nvSpPr>
          <p:spPr>
            <a:xfrm>
              <a:off x="3857625" y="30575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D6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36629" y="2950607"/>
              <a:ext cx="479941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same value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04900" y="3095625"/>
              <a:ext cx="1438275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43447" y="3199924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3-WL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10025" y="3095625"/>
              <a:ext cx="1438275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68071" y="3199924"/>
              <a:ext cx="5221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ML(L3)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619375" y="32575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5240" cap="rnd">
              <a:solidFill>
                <a:schemeClr val="accent2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619375" y="3219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Polygon 26"/>
            <p:cNvSpPr/>
            <p:nvPr/>
          </p:nvSpPr>
          <p:spPr>
            <a:xfrm>
              <a:off x="3857625" y="3219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36629" y="3112532"/>
              <a:ext cx="479941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same value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3695700"/>
            <a:ext cx="5334000" cy="1543050"/>
            <a:chOff x="609600" y="3695700"/>
            <a:chExt cx="5334000" cy="1543050"/>
          </a:xfrm>
        </p:grpSpPr>
        <p:sp>
          <p:nvSpPr>
            <p:cNvPr id="29" name="Rectangle 29"/>
            <p:cNvSpPr/>
            <p:nvPr/>
          </p:nvSpPr>
          <p:spPr>
            <a:xfrm>
              <a:off x="609600" y="3695700"/>
              <a:ext cx="5334000" cy="1543050"/>
            </a:xfrm>
            <a:prstGeom prst="roundRect">
              <a:avLst>
                <a:gd name="adj" fmla="val 8642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3695700"/>
              <a:ext cx="57150" cy="15430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0394" y="3913108"/>
              <a:ext cx="192743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Equal on every sentence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1156" y="4196001"/>
              <a:ext cx="364916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 graphs look the same to 3-W-L exactly when every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156" y="4386501"/>
              <a:ext cx="416541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sentence of the fragment ML-of-L-three gives them the same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156" y="4577001"/>
              <a:ext cx="347062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value: a beautiful bridge between combinatorics 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1156" y="4767501"/>
              <a:ext cx="236743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algebra. But a bridge is not a road.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72200" y="1504950"/>
            <a:ext cx="5410200" cy="2038350"/>
            <a:chOff x="6172200" y="1504950"/>
            <a:chExt cx="5410200" cy="2038350"/>
          </a:xfrm>
        </p:grpSpPr>
        <p:sp>
          <p:nvSpPr>
            <p:cNvPr id="37" name="Rectangle 37"/>
            <p:cNvSpPr/>
            <p:nvPr/>
          </p:nvSpPr>
          <p:spPr>
            <a:xfrm>
              <a:off x="6172200" y="1504950"/>
              <a:ext cx="5410200" cy="2038350"/>
            </a:xfrm>
            <a:prstGeom prst="roundRect">
              <a:avLst>
                <a:gd name="adj" fmla="val 6542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72200" y="15049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32804" y="1737360"/>
              <a:ext cx="1866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Built only case by case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756" y="2043351"/>
              <a:ext cx="378789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Turning one of these fragments into an actual, trainable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756" y="2233851"/>
              <a:ext cx="39329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network had been done only case by case, and the resulting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3756" y="2424351"/>
              <a:ext cx="32493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models could not claim the full 3-W-L guarantee.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3048000"/>
              <a:ext cx="4876800" cy="361950"/>
            </a:xfrm>
            <a:prstGeom prst="roundRect">
              <a:avLst>
                <a:gd name="adj" fmla="val 21053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71451" y="3180874"/>
              <a:ext cx="28116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4C24C"/>
                  </a:solidFill>
                  <a:latin typeface="Consolas"/>
                  <a:ea typeface="Consolas"/>
                  <a:cs typeface="Consolas"/>
                </a:rPr>
                <a:t>hand-built fragment =&gt; no full 3-WL claim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72200" y="3695700"/>
            <a:ext cx="5410200" cy="1543050"/>
            <a:chOff x="6172200" y="3695700"/>
            <a:chExt cx="5410200" cy="1543050"/>
          </a:xfrm>
        </p:grpSpPr>
        <p:sp>
          <p:nvSpPr>
            <p:cNvPr id="46" name="Rectangle 46"/>
            <p:cNvSpPr/>
            <p:nvPr/>
          </p:nvSpPr>
          <p:spPr>
            <a:xfrm>
              <a:off x="6172200" y="3695700"/>
              <a:ext cx="5410200" cy="1543050"/>
            </a:xfrm>
            <a:prstGeom prst="roundRect">
              <a:avLst>
                <a:gd name="adj" fmla="val 8642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72200" y="3695700"/>
              <a:ext cx="57150" cy="15430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32994" y="3913108"/>
              <a:ext cx="197705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Goal: pave the road once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3756" y="4196001"/>
              <a:ext cx="40803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motivation is to replace the case-by-case craft with one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3756" y="4386501"/>
              <a:ext cx="400089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general procedure that turns an expressive fragment into 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3756" y="4577001"/>
              <a:ext cx="24100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matching network, once and for all.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947" y="4962049"/>
              <a:ext cx="2260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6C98B"/>
                  </a:solidFill>
                  <a:latin typeface="Consolas"/>
                  <a:ea typeface="Consolas"/>
                  <a:cs typeface="Consolas"/>
                </a:rPr>
                <a:t>one procedure -&gt; every fragment</a:t>
              </a:r>
            </a:p>
          </p:txBody>
        </p:sp>
      </p:grpSp>
      <p:sp>
        <p:nvSpPr>
          <p:cNvPr id="54" name="cue_s03_c1_seed_idea_comes_groundbreaking_obser" title="cue_s03_c1_seed_idea_comes_groundbreaking_obser" descr="cue_s03_c1_seed_idea_comes_groundbreaking_obser The seed of the idea comes from a groundbreaking observation: the 1-W-L and 3-W-L tests can each be rewritten as a fragment of a matrix language called MATLANG."/>
          <p:cNvSpPr/>
          <p:nvPr/>
        </p:nvSpPr>
        <p:spPr>
          <a:xfrm>
            <a:off x="609600" y="1504645"/>
            <a:ext cx="5334000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3_c2_two_graphs_look_same_3" title="cue_s03_c2_two_graphs_look_same_3" descr="cue_s03_c2_two_graphs_look_same_3 Two graphs look the same to 3-W-L if and only if every sentence you can write in the fragment ML-of-L-three gives them the same value. That is a beautiful bridge between combinatorics and algebra. But a bridge is not a road."/>
          <p:cNvSpPr/>
          <p:nvPr/>
        </p:nvSpPr>
        <p:spPr>
          <a:xfrm>
            <a:off x="609600" y="3695776"/>
            <a:ext cx="5334000" cy="15430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3_c3_turning_one_these_fragments_actual" title="cue_s03_c3_turning_one_these_fragments_actual" descr="cue_s03_c3_turning_one_these_fragments_actual Turning one of these fragments into an actual, trainable network had been done only case by case, and the resulting models could not claim the full 3-W-L guarantee."/>
          <p:cNvSpPr/>
          <p:nvPr/>
        </p:nvSpPr>
        <p:spPr>
          <a:xfrm>
            <a:off x="6171590" y="1504645"/>
            <a:ext cx="5409590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3_c4_motivation_pave_road_once_all" title="cue_s03_c4_motivation_pave_road_once_all" descr="cue_s03_c4_motivation_pave_road_once_all The motivation here is to pave that road once and for all."/>
          <p:cNvSpPr/>
          <p:nvPr/>
        </p:nvSpPr>
        <p:spPr>
          <a:xfrm>
            <a:off x="6171590" y="3695776"/>
            <a:ext cx="5409590" cy="15430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598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One framework, one network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1714500"/>
            <a:ext cx="2590800" cy="3543300"/>
            <a:chOff x="609600" y="1714500"/>
            <a:chExt cx="2590800" cy="354330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095500"/>
              <a:ext cx="495300" cy="4953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0145" y="221837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849166"/>
              <a:ext cx="173221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Generic framework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3056" y="3243501"/>
              <a:ext cx="16735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generic procedure that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056" y="3443526"/>
              <a:ext cx="16962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turns any fragment of an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056" y="3643551"/>
              <a:ext cx="16418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algebraic language into 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056" y="3843576"/>
              <a:ext cx="199539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graph neural network through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056" y="4043601"/>
              <a:ext cx="16758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context-free grammars.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29000" y="1714500"/>
            <a:ext cx="2590800" cy="3543300"/>
            <a:chOff x="3429000" y="1714500"/>
            <a:chExt cx="2590800" cy="3543300"/>
          </a:xfrm>
        </p:grpSpPr>
        <p:sp>
          <p:nvSpPr>
            <p:cNvPr id="16" name="Rectangle 16"/>
            <p:cNvSpPr/>
            <p:nvPr/>
          </p:nvSpPr>
          <p:spPr>
            <a:xfrm>
              <a:off x="34290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290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6576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33D6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19545" y="221837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50932" y="2849166"/>
              <a:ext cx="44376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G2N2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2456" y="3243501"/>
              <a:ext cx="17283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Run the framework on the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2456" y="3443526"/>
              <a:ext cx="19566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ML-of-L-three fragment and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52456" y="3643551"/>
              <a:ext cx="180948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out comes G2N2, a network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52456" y="3843576"/>
              <a:ext cx="159865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is provably 3-W-L.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48400" y="1714500"/>
            <a:ext cx="2590800" cy="3543300"/>
            <a:chOff x="6248400" y="1714500"/>
            <a:chExt cx="2590800" cy="3543300"/>
          </a:xfrm>
        </p:grpSpPr>
        <p:sp>
          <p:nvSpPr>
            <p:cNvPr id="26" name="Rectangle 26"/>
            <p:cNvSpPr/>
            <p:nvPr/>
          </p:nvSpPr>
          <p:spPr>
            <a:xfrm>
              <a:off x="62484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4770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F4C24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38945" y="221837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0332" y="2849166"/>
              <a:ext cx="162072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Rule set validated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1856" y="3243501"/>
              <a:ext cx="165309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Experiments confirm the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856" y="3443526"/>
              <a:ext cx="168267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grammar reduction keeps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1856" y="3643551"/>
              <a:ext cx="202258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expressiveness while trimming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1856" y="3843576"/>
              <a:ext cx="113880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redundant rules.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67800" y="1714500"/>
            <a:ext cx="2590800" cy="3543300"/>
            <a:chOff x="9067800" y="1714500"/>
            <a:chExt cx="2590800" cy="3543300"/>
          </a:xfrm>
        </p:grpSpPr>
        <p:sp>
          <p:nvSpPr>
            <p:cNvPr id="36" name="Rectangle 36"/>
            <p:cNvSpPr/>
            <p:nvPr/>
          </p:nvSpPr>
          <p:spPr>
            <a:xfrm>
              <a:off x="90678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678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2964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46C9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58345" y="221837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89732" y="2849166"/>
              <a:ext cx="156260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Beats prior 3-WL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91256" y="3243501"/>
              <a:ext cx="174852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Across a broad battery of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91256" y="3443526"/>
              <a:ext cx="206710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downstream tasks, G2N2 beats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91256" y="3643551"/>
              <a:ext cx="173423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existing 3-W-L networks,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91256" y="3843576"/>
              <a:ext cx="185262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often while running faster.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03694" y="5456158"/>
            <a:ext cx="6551506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rgbClr val="33D6C0"/>
                </a:solidFill>
                <a:latin typeface="+mn-lt"/>
                <a:ea typeface="+mn-ea"/>
                <a:cs typeface="+mn-cs"/>
              </a:rPr>
              <a:t>From an expressive language to a provably expressive network - by construction.</a:t>
            </a:r>
          </a:p>
        </p:txBody>
      </p:sp>
      <p:sp>
        <p:nvSpPr>
          <p:cNvPr id="47" name="cue_s04_c1_makes_four_contributions_first_gener" title="cue_s04_c1_makes_four_contributions_first_gener" descr="cue_s04_c1_makes_four_contributions_first_gener The paper makes four contributions. First, a generic framework that turns any fragment of an algebraic language into a graph neural network through context-free grammars."/>
          <p:cNvSpPr/>
          <p:nvPr/>
        </p:nvSpPr>
        <p:spPr>
          <a:xfrm>
            <a:off x="609600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4_c2_second_runs_framework_ml_of_l_three" title="cue_s04_c2_second_runs_framework_ml_of_l_three" descr="cue_s04_c2_second_runs_framework_ml_of_l_three Second, it runs that framework on the ML-of-L-three fragment and out comes G2N2, a network that is provably 3-W-L."/>
          <p:cNvSpPr/>
          <p:nvPr/>
        </p:nvSpPr>
        <p:spPr>
          <a:xfrm>
            <a:off x="3428390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4_c3_third_validates_rule_set_experimenta" title="cue_s04_c3_third_validates_rule_set_experimenta" descr="cue_s04_c3_third_validates_rule_set_experimenta Third, it validates the rule set experimentally, showing that the grammar reduction keeps expressiveness while trimming redundancy."/>
          <p:cNvSpPr/>
          <p:nvPr/>
        </p:nvSpPr>
        <p:spPr>
          <a:xfrm>
            <a:off x="6248399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4_c4_fourth_across_broad_battery_downstre" title="cue_s04_c4_fourth_across_broad_battery_downstre" descr="cue_s04_c4_fourth_across_broad_battery_downstre And fourth, across a broad battery of downstream tasks, G2N2 beats the existing 3-W-L networks, often while running faster."/>
          <p:cNvSpPr/>
          <p:nvPr/>
        </p:nvSpPr>
        <p:spPr>
          <a:xfrm>
            <a:off x="9068409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96513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From operations to grammar to layers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09600" y="1504950"/>
            <a:ext cx="10972800" cy="1428750"/>
            <a:chOff x="609600" y="150495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95212"/>
              <a:ext cx="415557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Move 1: pick the operations, write the grammar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538" y="1994297"/>
              <a:ext cx="40044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Start from the operation set L-three, then write an exhaustive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538" y="2165747"/>
              <a:ext cx="42815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grammar whose sentences are exactly the fragment ML-of-L-three.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495550"/>
              <a:ext cx="1257300" cy="285750"/>
            </a:xfrm>
            <a:prstGeom prst="roundRect">
              <a:avLst>
                <a:gd name="adj" fmla="val 23333"/>
              </a:avLst>
            </a:prstGeom>
            <a:solidFill>
              <a:schemeClr val="accent6"/>
            </a:solidFill>
            <a:ln w="12382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62025" y="26003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43687" y="2583418"/>
              <a:ext cx="43682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MatMul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228850" y="2495550"/>
              <a:ext cx="1257300" cy="285750"/>
            </a:xfrm>
            <a:prstGeom prst="roundRect">
              <a:avLst>
                <a:gd name="adj" fmla="val 23333"/>
              </a:avLst>
            </a:prstGeom>
            <a:solidFill>
              <a:schemeClr val="accent6"/>
            </a:solidFill>
            <a:ln w="12382">
              <a:solidFill>
                <a:srgbClr val="33D6C0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314575" y="2600325"/>
              <a:ext cx="76200" cy="7620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07130" y="2583418"/>
              <a:ext cx="61504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Transpose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81400" y="2495550"/>
              <a:ext cx="1257300" cy="285750"/>
            </a:xfrm>
            <a:prstGeom prst="roundRect">
              <a:avLst>
                <a:gd name="adj" fmla="val 23333"/>
              </a:avLst>
            </a:prstGeom>
            <a:solidFill>
              <a:schemeClr val="accent6"/>
            </a:solidFill>
            <a:ln w="12382">
              <a:solidFill>
                <a:srgbClr val="F4C24C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667125" y="2600325"/>
              <a:ext cx="76200" cy="7620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23475" y="2583418"/>
              <a:ext cx="4874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All-ones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33950" y="2495550"/>
              <a:ext cx="1257300" cy="285750"/>
            </a:xfrm>
            <a:prstGeom prst="roundRect">
              <a:avLst>
                <a:gd name="adj" fmla="val 23333"/>
              </a:avLst>
            </a:prstGeom>
            <a:solidFill>
              <a:schemeClr val="accent6"/>
            </a:solidFill>
            <a:ln w="12382">
              <a:solidFill>
                <a:srgbClr val="9C86F0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019675" y="2600325"/>
              <a:ext cx="76200" cy="76200"/>
            </a:xfrm>
            <a:prstGeom prst="ellipse">
              <a:avLst/>
            </a:prstGeom>
            <a:solidFill>
              <a:srgbClr val="9C86F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76265" y="2583418"/>
              <a:ext cx="4869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Diagonal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495550"/>
              <a:ext cx="1257300" cy="285750"/>
            </a:xfrm>
            <a:prstGeom prst="roundRect">
              <a:avLst>
                <a:gd name="adj" fmla="val 23333"/>
              </a:avLst>
            </a:prstGeom>
            <a:solidFill>
              <a:schemeClr val="accent6"/>
            </a:solidFill>
            <a:ln w="12382">
              <a:solidFill>
                <a:srgbClr val="46C98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372225" y="2600325"/>
              <a:ext cx="76200" cy="76200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85967" y="2583418"/>
              <a:ext cx="57266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Hadamard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9538" y="2406491"/>
              <a:ext cx="11454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exhaustive grammar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34300" y="2647950"/>
              <a:ext cx="3848100" cy="247650"/>
            </a:xfrm>
            <a:prstGeom prst="roundRect">
              <a:avLst>
                <a:gd name="adj" fmla="val 30769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06787" y="2727722"/>
              <a:ext cx="130312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sentences = ML(L3)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3067050"/>
            <a:ext cx="5334000" cy="2171700"/>
            <a:chOff x="609600" y="3067050"/>
            <a:chExt cx="5334000" cy="2171700"/>
          </a:xfrm>
        </p:grpSpPr>
        <p:sp>
          <p:nvSpPr>
            <p:cNvPr id="29" name="Rectangle 29"/>
            <p:cNvSpPr/>
            <p:nvPr/>
          </p:nvSpPr>
          <p:spPr>
            <a:xfrm>
              <a:off x="609600" y="3067050"/>
              <a:ext cx="5334000" cy="2171700"/>
            </a:xfrm>
            <a:prstGeom prst="roundRect">
              <a:avLst>
                <a:gd name="adj" fmla="val 6140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306705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0394" y="3284458"/>
              <a:ext cx="310085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Move 2: reduce, then read off the net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1538" y="3575447"/>
              <a:ext cx="339228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Strip away redundant rules and variables until only the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538" y="3746897"/>
              <a:ext cx="366028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essential productions remain - proving each step keeps the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538" y="3918347"/>
              <a:ext cx="385733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3-W-L guarantee. The surviving variables become the network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1538" y="4089797"/>
              <a:ext cx="338821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inputs; each surviving rule becomes a piece of a layer.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6300" y="4552950"/>
              <a:ext cx="4800600" cy="609600"/>
            </a:xfrm>
            <a:prstGeom prst="roundRect">
              <a:avLst>
                <a:gd name="adj" fmla="val 12500"/>
              </a:avLst>
            </a:prstGeom>
            <a:solidFill>
              <a:srgbClr val="0E223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94080" y="4628436"/>
              <a:ext cx="850365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G(L3) exhaustive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7750" y="4762500"/>
              <a:ext cx="1343025" cy="228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23950" y="4819650"/>
              <a:ext cx="1190625" cy="3333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123950" y="4852988"/>
              <a:ext cx="1190625" cy="3333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123950" y="4886325"/>
              <a:ext cx="1190625" cy="3333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23950" y="4919662"/>
              <a:ext cx="1190625" cy="3333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801641" y="4605338"/>
              <a:ext cx="35936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505075" y="48768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 cap="rnd">
              <a:solidFill>
                <a:srgbClr val="F4C24C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3314503" y="4840268"/>
              <a:ext cx="143072" cy="73064"/>
            </a:xfrm>
            <a:custGeom>
              <a:avLst/>
              <a:gdLst/>
              <a:ahLst/>
              <a:cxnLst/>
              <a:rect l="l" t="t" r="r" b="b"/>
              <a:pathLst>
                <a:path w="143072" h="73064">
                  <a:moveTo>
                    <a:pt x="143072" y="36532"/>
                  </a:moveTo>
                  <a:lnTo>
                    <a:pt x="0" y="73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C24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50742" y="4979432"/>
              <a:ext cx="461165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keep 3-WL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99319" y="4628436"/>
              <a:ext cx="821488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r-G(L3) reduced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590925" y="4762500"/>
              <a:ext cx="1438275" cy="228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11430">
              <a:solidFill>
                <a:srgbClr val="46C98B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667125" y="4838700"/>
              <a:ext cx="1285875" cy="47625"/>
            </a:xfrm>
            <a:prstGeom prst="roundRect">
              <a:avLst>
                <a:gd name="adj" fmla="val 4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667125" y="4886325"/>
              <a:ext cx="1285875" cy="47625"/>
            </a:xfrm>
            <a:prstGeom prst="roundRect">
              <a:avLst>
                <a:gd name="adj" fmla="val 4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76838" y="4753689"/>
              <a:ext cx="3501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inputs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76838" y="4915614"/>
              <a:ext cx="44502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&amp; layers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248400" y="3067050"/>
            <a:ext cx="5334000" cy="1524000"/>
            <a:chOff x="6248400" y="3067050"/>
            <a:chExt cx="5334000" cy="1524000"/>
          </a:xfrm>
        </p:grpSpPr>
        <p:sp>
          <p:nvSpPr>
            <p:cNvPr id="54" name="Rectangle 54"/>
            <p:cNvSpPr/>
            <p:nvPr/>
          </p:nvSpPr>
          <p:spPr>
            <a:xfrm>
              <a:off x="6248400" y="3067050"/>
              <a:ext cx="5334000" cy="1524000"/>
            </a:xfrm>
            <a:prstGeom prst="roundRect">
              <a:avLst>
                <a:gd name="adj" fmla="val 8750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06705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09194" y="3246358"/>
              <a:ext cx="250202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Move 3: rules become one layer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0338" y="3522345"/>
              <a:ext cx="42626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layer carries edge memory C and node memory H; linear blocks combine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0338" y="3684270"/>
              <a:ext cx="4014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slices, the reduced rules are computed, and two MLPs merge them.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515100" y="4019550"/>
              <a:ext cx="4800600" cy="495300"/>
            </a:xfrm>
            <a:prstGeom prst="roundRect">
              <a:avLst>
                <a:gd name="adj" fmla="val 15385"/>
              </a:avLst>
            </a:prstGeom>
            <a:solidFill>
              <a:srgbClr val="0E223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12909" y="4090988"/>
              <a:ext cx="711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05600" y="41624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00850" y="41624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96100" y="41624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705600" y="425767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00850" y="425767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96100" y="425767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05600" y="43529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00850" y="43529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43529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chemeClr val="accent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46284" y="4090988"/>
              <a:ext cx="711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143750" y="41624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rgbClr val="33D6C0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43750" y="425767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rgbClr val="33D6C0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143750" y="43529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6668">
              <a:solidFill>
                <a:srgbClr val="33D6C0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7400925" y="43053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3335" cap="rnd">
              <a:solidFill>
                <a:schemeClr val="accent4"/>
              </a:solidFill>
            </a:ln>
          </p:spPr>
        </p:sp>
        <p:sp>
          <p:nvSpPr>
            <p:cNvPr id="75" name="Polygon 75"/>
            <p:cNvSpPr/>
            <p:nvPr/>
          </p:nvSpPr>
          <p:spPr>
            <a:xfrm>
              <a:off x="7398396" y="4277901"/>
              <a:ext cx="107304" cy="54798"/>
            </a:xfrm>
            <a:custGeom>
              <a:avLst/>
              <a:gdLst/>
              <a:ahLst/>
              <a:cxnLst/>
              <a:rect l="l" t="t" r="r" b="b"/>
              <a:pathLst>
                <a:path w="107304" h="54798">
                  <a:moveTo>
                    <a:pt x="107304" y="27399"/>
                  </a:moveTo>
                  <a:lnTo>
                    <a:pt x="0" y="54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524750" y="4095750"/>
              <a:ext cx="66675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749264" y="4118134"/>
              <a:ext cx="2177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M*M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524750" y="4238625"/>
              <a:ext cx="66675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 w="9525">
              <a:solidFill>
                <a:srgbClr val="F4C24C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21199" y="4261009"/>
              <a:ext cx="27385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b="1" dirty="0">
                  <a:solidFill>
                    <a:srgbClr val="F4C24C"/>
                  </a:solidFill>
                  <a:latin typeface="Consolas"/>
                  <a:ea typeface="Consolas"/>
                  <a:cs typeface="Consolas"/>
                </a:rPr>
                <a:t>M o M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524750" y="4381500"/>
              <a:ext cx="66675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 w="9525">
              <a:solidFill>
                <a:srgbClr val="9C86F0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759647" y="4403884"/>
              <a:ext cx="19695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b="1" dirty="0">
                  <a:solidFill>
                    <a:srgbClr val="9C86F0"/>
                  </a:solidFill>
                  <a:latin typeface="Consolas"/>
                  <a:ea typeface="Consolas"/>
                  <a:cs typeface="Consolas"/>
                </a:rPr>
                <a:t>diag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8229600" y="43053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3335" cap="rnd">
              <a:solidFill>
                <a:schemeClr val="accent4"/>
              </a:solidFill>
            </a:ln>
          </p:spPr>
        </p:sp>
        <p:sp>
          <p:nvSpPr>
            <p:cNvPr id="83" name="Polygon 83"/>
            <p:cNvSpPr/>
            <p:nvPr/>
          </p:nvSpPr>
          <p:spPr>
            <a:xfrm>
              <a:off x="8217546" y="4277901"/>
              <a:ext cx="107304" cy="54798"/>
            </a:xfrm>
            <a:custGeom>
              <a:avLst/>
              <a:gdLst/>
              <a:ahLst/>
              <a:cxnLst/>
              <a:rect l="l" t="t" r="r" b="b"/>
              <a:pathLst>
                <a:path w="107304" h="54798">
                  <a:moveTo>
                    <a:pt x="107304" y="27399"/>
                  </a:moveTo>
                  <a:lnTo>
                    <a:pt x="0" y="54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343900" y="4124325"/>
              <a:ext cx="457200" cy="361950"/>
            </a:xfrm>
            <a:prstGeom prst="roundRect">
              <a:avLst>
                <a:gd name="adj" fmla="val 15789"/>
              </a:avLst>
            </a:prstGeom>
            <a:solidFill>
              <a:schemeClr val="accent6"/>
            </a:solidFill>
            <a:ln w="13335">
              <a:solidFill>
                <a:srgbClr val="FFFFFF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458599" y="4258389"/>
              <a:ext cx="22780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MLP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8820150" y="43053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3335" cap="rnd">
              <a:solidFill>
                <a:schemeClr val="accent4"/>
              </a:solidFill>
            </a:ln>
          </p:spPr>
        </p:sp>
        <p:sp>
          <p:nvSpPr>
            <p:cNvPr id="87" name="Polygon 87"/>
            <p:cNvSpPr/>
            <p:nvPr/>
          </p:nvSpPr>
          <p:spPr>
            <a:xfrm>
              <a:off x="8884296" y="4277901"/>
              <a:ext cx="107304" cy="54798"/>
            </a:xfrm>
            <a:custGeom>
              <a:avLst/>
              <a:gdLst/>
              <a:ahLst/>
              <a:cxnLst/>
              <a:rect l="l" t="t" r="r" b="b"/>
              <a:pathLst>
                <a:path w="107304" h="54798">
                  <a:moveTo>
                    <a:pt x="107304" y="27399"/>
                  </a:moveTo>
                  <a:lnTo>
                    <a:pt x="0" y="54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103408" y="417957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C'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103408" y="435102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H'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248400" y="4705350"/>
            <a:ext cx="5334000" cy="533400"/>
            <a:chOff x="6248400" y="4705350"/>
            <a:chExt cx="5334000" cy="533400"/>
          </a:xfrm>
        </p:grpSpPr>
        <p:sp>
          <p:nvSpPr>
            <p:cNvPr id="91" name="Rectangle 91"/>
            <p:cNvSpPr/>
            <p:nvPr/>
          </p:nvSpPr>
          <p:spPr>
            <a:xfrm>
              <a:off x="6248400" y="4705350"/>
              <a:ext cx="5334000" cy="533400"/>
            </a:xfrm>
            <a:prstGeom prst="roundRect">
              <a:avLst>
                <a:gd name="adj" fmla="val 25000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248400" y="47053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509385" y="4831556"/>
              <a:ext cx="2800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Stack + equivariant readouts = G2N2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510338" y="5050393"/>
              <a:ext cx="284404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permutation-equivariant readouts on H and on C</a:t>
              </a:r>
            </a:p>
          </p:txBody>
        </p:sp>
      </p:grpSp>
      <p:sp>
        <p:nvSpPr>
          <p:cNvPr id="96" name="cue_s05_c1_recipe_three_moves_start_operation" title="cue_s05_c1_recipe_three_moves_start_operation" descr="cue_s05_c1_recipe_three_moves_start_operation Here is the recipe in three moves. Start from the operation set L-three: matrix product, transpose, the all-ones vector, diagonal, and element-wise product. Write down an exhaustive grammar whose sentences are exactly the fragment ML-of-L-three."/>
          <p:cNvSpPr/>
          <p:nvPr/>
        </p:nvSpPr>
        <p:spPr>
          <a:xfrm>
            <a:off x="609600" y="1504645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ue_s05_c2_reduce_grammar_stripping_away_redund" title="cue_s05_c2_reduce_grammar_stripping_away_redund" descr="cue_s05_c2_reduce_grammar_stripping_away_redund Then reduce that grammar, stripping away redundant rules and variables until only the essential productions remain, while proving each step keeps the 3-W-L guarantee. Now the magic: the surviving variables tell you what the network's inputs should be, and each"/>
          <p:cNvSpPr/>
          <p:nvPr/>
        </p:nvSpPr>
        <p:spPr>
          <a:xfrm>
            <a:off x="609600" y="3066897"/>
            <a:ext cx="5334000" cy="21719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ue_s05_c3_concretely_layer_carries_edge_memory" title="cue_s05_c3_concretely_layer_carries_edge_memory" descr="cue_s05_c3_concretely_layer_carries_edge_memory Concretely, a layer carries an edge memory C and a node memory H; learnable linear blocks combine slices of these tensors, the reduced rules like M-times-M and M-Hadamard-M are computed, and two small MLPs stitch everything back together."/>
          <p:cNvSpPr/>
          <p:nvPr/>
        </p:nvSpPr>
        <p:spPr>
          <a:xfrm>
            <a:off x="6248399" y="3066897"/>
            <a:ext cx="5334000" cy="15238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ue_s05_c4_stack_these_layers_add_permutation_e" title="cue_s05_c4_stack_these_layers_add_permutation_e" descr="cue_s05_c4_stack_these_layers_add_permutation_e Stack these layers, add permutation-equivariant readouts, and you have G2N2."/>
          <p:cNvSpPr/>
          <p:nvPr/>
        </p:nvSpPr>
        <p:spPr>
          <a:xfrm>
            <a:off x="6248399" y="4705273"/>
            <a:ext cx="5334000" cy="5335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43809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Three very different arenas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09600" y="1504950"/>
            <a:ext cx="10972800" cy="1428750"/>
            <a:chOff x="609600" y="150495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699260"/>
              <a:ext cx="4546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Regression, classification, and a spectral stress test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1981200"/>
              <a:ext cx="21209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981200"/>
              <a:ext cx="21209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70676" y="216312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QM9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8861" y="2362914"/>
              <a:ext cx="5957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regression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149600" y="1981200"/>
              <a:ext cx="21209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F4C2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49600" y="1981200"/>
              <a:ext cx="2120900" cy="47625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75340" y="21631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31202" y="2362914"/>
              <a:ext cx="75769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classification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422900" y="1981200"/>
              <a:ext cx="21209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46C98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2900" y="1981200"/>
              <a:ext cx="2120900" cy="47625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67868" y="2163128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Spectral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02211" y="2362914"/>
              <a:ext cx="5622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band-pass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34300" y="1981200"/>
              <a:ext cx="38481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20038" y="2108597"/>
              <a:ext cx="13637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QM9: 130K molecules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20038" y="2307193"/>
              <a:ext cx="203830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 targets · R-squared is hardest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538" y="2726293"/>
              <a:ext cx="427026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together they probe accuracy, generality, and a subtle spectral ability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3086100"/>
            <a:ext cx="5334000" cy="1257300"/>
            <a:chOff x="609600" y="3086100"/>
            <a:chExt cx="5334000" cy="1257300"/>
          </a:xfrm>
        </p:grpSpPr>
        <p:sp>
          <p:nvSpPr>
            <p:cNvPr id="25" name="Rectangle 25"/>
            <p:cNvSpPr/>
            <p:nvPr/>
          </p:nvSpPr>
          <p:spPr>
            <a:xfrm>
              <a:off x="609600" y="3086100"/>
              <a:ext cx="5334000" cy="1257300"/>
            </a:xfrm>
            <a:prstGeom prst="roundRect">
              <a:avLst>
                <a:gd name="adj" fmla="val 10606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30861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0394" y="3303508"/>
              <a:ext cx="203665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TUD: six classic datasets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1347" y="3590449"/>
              <a:ext cx="3558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From molecules like MUTAG and PTC to social graphs like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347" y="3771424"/>
              <a:ext cx="3862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IMDB.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76300" y="3943350"/>
              <a:ext cx="736600" cy="24765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10478">
              <a:solidFill>
                <a:srgbClr val="F4C2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5805" y="4020264"/>
              <a:ext cx="35759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MUTAG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689100" y="3943350"/>
              <a:ext cx="736600" cy="24765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10478">
              <a:solidFill>
                <a:srgbClr val="F4C2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55297" y="4020264"/>
              <a:ext cx="20420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PTC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501900" y="3943350"/>
              <a:ext cx="736600" cy="24765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10478">
              <a:solidFill>
                <a:srgbClr val="F4C2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32088" y="4020264"/>
              <a:ext cx="4762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Proteins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314700" y="3943350"/>
              <a:ext cx="736600" cy="24765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10478">
              <a:solidFill>
                <a:srgbClr val="F4C2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63199" y="4020264"/>
              <a:ext cx="23960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NCI1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27500" y="3943350"/>
              <a:ext cx="736600" cy="24765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10478">
              <a:solidFill>
                <a:srgbClr val="F4C2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99307" y="4020264"/>
              <a:ext cx="39298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IMDB-B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40300" y="3943350"/>
              <a:ext cx="736600" cy="24765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10478">
              <a:solidFill>
                <a:srgbClr val="F4C24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00308" y="4020264"/>
              <a:ext cx="41658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IMDB-M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48400" y="3086100"/>
            <a:ext cx="5334000" cy="1257300"/>
            <a:chOff x="6248400" y="3086100"/>
            <a:chExt cx="5334000" cy="1257300"/>
          </a:xfrm>
        </p:grpSpPr>
        <p:sp>
          <p:nvSpPr>
            <p:cNvPr id="43" name="Rectangle 43"/>
            <p:cNvSpPr/>
            <p:nvPr/>
          </p:nvSpPr>
          <p:spPr>
            <a:xfrm>
              <a:off x="6248400" y="3086100"/>
              <a:ext cx="5334000" cy="1257300"/>
            </a:xfrm>
            <a:prstGeom prst="roundRect">
              <a:avLst>
                <a:gd name="adj" fmla="val 10606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0861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09194" y="3303508"/>
              <a:ext cx="169775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Spectral stress test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10147" y="3590449"/>
              <a:ext cx="29366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node-regression task on nine-hundred-node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10147" y="3771424"/>
              <a:ext cx="26748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graphs: can the model act as a band-pass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0147" y="39523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filter?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0338" y="4116943"/>
              <a:ext cx="216117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900-node graphs · band-pass target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4495800"/>
            <a:ext cx="10972800" cy="742950"/>
            <a:chOff x="609600" y="4495800"/>
            <a:chExt cx="10972800" cy="742950"/>
          </a:xfrm>
        </p:grpSpPr>
        <p:sp>
          <p:nvSpPr>
            <p:cNvPr id="51" name="Rectangle 51"/>
            <p:cNvSpPr/>
            <p:nvPr/>
          </p:nvSpPr>
          <p:spPr>
            <a:xfrm>
              <a:off x="609600" y="4495800"/>
              <a:ext cx="10972800" cy="742950"/>
            </a:xfrm>
            <a:prstGeom prst="roundRect">
              <a:avLst>
                <a:gd name="adj" fmla="val 17949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" y="4495800"/>
              <a:ext cx="57150" cy="7429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0394" y="4675108"/>
              <a:ext cx="229611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One suite for three abilities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0" y="4572000"/>
              <a:ext cx="1600200" cy="590550"/>
            </a:xfrm>
            <a:prstGeom prst="roundRect">
              <a:avLst>
                <a:gd name="adj" fmla="val 19355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34732" y="4708417"/>
              <a:ext cx="998735" cy="309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accuracy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19668" y="4943237"/>
              <a:ext cx="10288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QM9 regression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67550" y="4572000"/>
              <a:ext cx="1600200" cy="590550"/>
            </a:xfrm>
            <a:prstGeom prst="roundRect">
              <a:avLst>
                <a:gd name="adj" fmla="val 19355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01282" y="4708417"/>
              <a:ext cx="1132736" cy="309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generality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87912" y="4943237"/>
              <a:ext cx="75947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TUD classes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01100" y="4572000"/>
              <a:ext cx="1600200" cy="590550"/>
            </a:xfrm>
            <a:prstGeom prst="roundRect">
              <a:avLst>
                <a:gd name="adj" fmla="val 19355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29749" y="4708417"/>
              <a:ext cx="942901" cy="309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spectral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61636" y="4943237"/>
              <a:ext cx="107912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band-pass filter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1538" y="4970145"/>
              <a:ext cx="3230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subtle spectral ability trips up other 3-WL models</a:t>
              </a:r>
            </a:p>
          </p:txBody>
        </p:sp>
      </p:grpSp>
      <p:sp>
        <p:nvSpPr>
          <p:cNvPr id="65" name="cue_s06_c1_evaluation_spans_three_very_differen" title="cue_s06_c1_evaluation_spans_three_very_differen" descr="cue_s06_c1_evaluation_spans_three_very_differen The evaluation spans three very different arenas. For regression, the QM9 dataset of one hundred thirty thousand small molecules, with twelve quantum-chemical targets, including R-squared, the hardest one to predict."/>
          <p:cNvSpPr/>
          <p:nvPr/>
        </p:nvSpPr>
        <p:spPr>
          <a:xfrm>
            <a:off x="609600" y="1504645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ue_s06_c2_classification_classic_tud_benchmark" title="cue_s06_c2_classification_classic_tud_benchmark" descr="cue_s06_c2_classification_classic_tud_benchmark For classification, the classic TUD benchmark, six datasets ranging from molecules like MUTAG and PTC to social graphs like IMDB."/>
          <p:cNvSpPr/>
          <p:nvPr/>
        </p:nvSpPr>
        <p:spPr>
          <a:xfrm>
            <a:off x="609600" y="3086100"/>
            <a:ext cx="5334000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ue_s06_c3_spectral_stress_test_node_regression" title="cue_s06_c3_spectral_stress_test_node_regression" descr="cue_s06_c3_spectral_stress_test_node_regression And for a spectral stress test, a node-regression task on nine-hundred-node graphs that asks whether the model can act as a band-pass filter."/>
          <p:cNvSpPr/>
          <p:nvPr/>
        </p:nvSpPr>
        <p:spPr>
          <a:xfrm>
            <a:off x="6248399" y="3086100"/>
            <a:ext cx="5334000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ue_s06_c4_together_they_probe_accuracy_general" title="cue_s06_c4_together_they_probe_accuracy_general" descr="cue_s06_c4_together_they_probe_accuracy_general Together they probe accuracy, generality, and a subtle spectral ability that trips up other 3-W-L models."/>
          <p:cNvSpPr/>
          <p:nvPr/>
        </p:nvSpPr>
        <p:spPr>
          <a:xfrm>
            <a:off x="609600" y="4496104"/>
            <a:ext cx="10972800" cy="7427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33722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Dominates in practice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1504950"/>
            <a:ext cx="10972800" cy="1428750"/>
            <a:chOff x="609600" y="150495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14262"/>
              <a:ext cx="479958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Best QM9 error on every target - and faster than PPGN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000250"/>
              <a:ext cx="6096000" cy="781050"/>
            </a:xfrm>
            <a:prstGeom prst="roundRect">
              <a:avLst>
                <a:gd name="adj" fmla="val 14634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1847" y="2161699"/>
              <a:ext cx="48372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G2N2 does not just match the theory. Learning QM9 targets one at a time,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847" y="2352199"/>
              <a:ext cx="43767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posts the best error on every single target while training faster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847" y="2542699"/>
              <a:ext cx="722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than PPGN.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0" y="2000250"/>
              <a:ext cx="2038350" cy="781050"/>
            </a:xfrm>
            <a:prstGeom prst="roundRect">
              <a:avLst>
                <a:gd name="adj" fmla="val 14634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52718" y="2180673"/>
              <a:ext cx="1010914" cy="408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9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70395" y="2523887"/>
              <a:ext cx="117556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best QM9 targets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467850" y="2000250"/>
              <a:ext cx="2114550" cy="781050"/>
            </a:xfrm>
            <a:prstGeom prst="roundRect">
              <a:avLst>
                <a:gd name="adj" fmla="val 14634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27054" y="2180673"/>
              <a:ext cx="996142" cy="408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9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faster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39071" y="2523887"/>
              <a:ext cx="117210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than PPGN / epoch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3086100"/>
            <a:ext cx="3505200" cy="2152650"/>
            <a:chOff x="609600" y="3086100"/>
            <a:chExt cx="3505200" cy="2152650"/>
          </a:xfrm>
        </p:grpSpPr>
        <p:sp>
          <p:nvSpPr>
            <p:cNvPr id="19" name="Rectangle 19"/>
            <p:cNvSpPr/>
            <p:nvPr/>
          </p:nvSpPr>
          <p:spPr>
            <a:xfrm>
              <a:off x="609600" y="3086100"/>
              <a:ext cx="350520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776" y="3292554"/>
              <a:ext cx="236399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hardest target: R-squared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538" y="3537347"/>
              <a:ext cx="284182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Error drops to 0.342 where PPGN sits at 3.78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538" y="3708797"/>
              <a:ext cx="24518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- a ten-fold-plus improvement; the gap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1538" y="3880247"/>
              <a:ext cx="26922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widens further when all twelve targets are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1538" y="4051697"/>
              <a:ext cx="102819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learned at once.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" y="4305300"/>
              <a:ext cx="2971800" cy="857250"/>
            </a:xfrm>
            <a:prstGeom prst="roundRect">
              <a:avLst>
                <a:gd name="adj" fmla="val 11111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52550" y="4876800"/>
              <a:ext cx="723900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05090" y="468725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0.342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22" y="49972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G2N2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47950" y="4629150"/>
              <a:ext cx="723900" cy="304800"/>
            </a:xfrm>
            <a:prstGeom prst="roundRect">
              <a:avLst>
                <a:gd name="adj" fmla="val 15625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800490" y="443960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3.780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70422" y="49972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PPGN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66900" y="4381500"/>
              <a:ext cx="990600" cy="190500"/>
            </a:xfrm>
            <a:prstGeom prst="roundRect">
              <a:avLst>
                <a:gd name="adj" fmla="val 35000"/>
              </a:avLst>
            </a:prstGeom>
            <a:solidFill>
              <a:srgbClr val="0F2E2B"/>
            </a:solidFill>
            <a:ln w="10478">
              <a:solidFill>
                <a:srgbClr val="46C9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23439" y="4425791"/>
              <a:ext cx="877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~11x lower MAE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343400" y="3086100"/>
            <a:ext cx="3505200" cy="2152650"/>
            <a:chOff x="4343400" y="3086100"/>
            <a:chExt cx="3505200" cy="2152650"/>
          </a:xfrm>
        </p:grpSpPr>
        <p:sp>
          <p:nvSpPr>
            <p:cNvPr id="36" name="Rectangle 36"/>
            <p:cNvSpPr/>
            <p:nvPr/>
          </p:nvSpPr>
          <p:spPr>
            <a:xfrm>
              <a:off x="4343400" y="3086100"/>
              <a:ext cx="3505200" cy="2152650"/>
            </a:xfrm>
            <a:prstGeom prst="roundRect">
              <a:avLst>
                <a:gd name="adj" fmla="val 6195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434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04576" y="3292554"/>
              <a:ext cx="151773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Graph classification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5338" y="3537347"/>
              <a:ext cx="287325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the TUD suite, G2N2 beats the second-best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5338" y="3708797"/>
              <a:ext cx="228729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network on five of the six datasets.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610100" y="4229100"/>
              <a:ext cx="1428750" cy="857250"/>
            </a:xfrm>
            <a:prstGeom prst="roundRect">
              <a:avLst>
                <a:gd name="adj" fmla="val 13333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55250" y="443198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5 / 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91338" y="4813697"/>
              <a:ext cx="8662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TUD datasets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153150" y="4229100"/>
              <a:ext cx="1428750" cy="857250"/>
            </a:xfrm>
            <a:prstGeom prst="roundRect">
              <a:avLst>
                <a:gd name="adj" fmla="val 13333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86986" y="443198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92.5%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3471" y="4813697"/>
              <a:ext cx="104810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MUTAG accuracy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077200" y="3086100"/>
            <a:ext cx="3505200" cy="2152650"/>
            <a:chOff x="8077200" y="3086100"/>
            <a:chExt cx="3505200" cy="2152650"/>
          </a:xfrm>
        </p:grpSpPr>
        <p:sp>
          <p:nvSpPr>
            <p:cNvPr id="48" name="Rectangle 48"/>
            <p:cNvSpPr/>
            <p:nvPr/>
          </p:nvSpPr>
          <p:spPr>
            <a:xfrm>
              <a:off x="8077200" y="3086100"/>
              <a:ext cx="350520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772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38376" y="3292554"/>
              <a:ext cx="146445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Spectral band-pass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39138" y="3537347"/>
              <a:ext cx="25444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cleanly learns band-pass filters where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39138" y="3708797"/>
              <a:ext cx="27541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PPGN, starved of memory, essentially fails.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343900" y="4210050"/>
              <a:ext cx="2971800" cy="914400"/>
            </a:xfrm>
            <a:prstGeom prst="roundRect">
              <a:avLst>
                <a:gd name="adj" fmla="val 8333"/>
              </a:avLst>
            </a:prstGeom>
            <a:solidFill>
              <a:srgbClr val="0E223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667750" y="48958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1430" cap="rnd">
              <a:solidFill>
                <a:schemeClr val="accent4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667750" y="43815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1430" cap="rnd">
              <a:solidFill>
                <a:schemeClr val="accent4"/>
              </a:solidFill>
            </a:ln>
          </p:spPr>
        </p:sp>
        <p:sp>
          <p:nvSpPr>
            <p:cNvPr id="56" name="Polyline 56"/>
            <p:cNvSpPr/>
            <p:nvPr/>
          </p:nvSpPr>
          <p:spPr>
            <a:xfrm>
              <a:off x="8667750" y="4391685"/>
              <a:ext cx="2514600" cy="504163"/>
            </a:xfrm>
            <a:custGeom>
              <a:avLst/>
              <a:gdLst/>
              <a:ahLst/>
              <a:cxnLst/>
              <a:rect l="l" t="t" r="r" b="b"/>
              <a:pathLst>
                <a:path w="2514600" h="504163">
                  <a:moveTo>
                    <a:pt x="0" y="504163"/>
                  </a:moveTo>
                  <a:lnTo>
                    <a:pt x="100584" y="504152"/>
                  </a:lnTo>
                  <a:lnTo>
                    <a:pt x="201168" y="504089"/>
                  </a:lnTo>
                  <a:lnTo>
                    <a:pt x="301752" y="503789"/>
                  </a:lnTo>
                  <a:lnTo>
                    <a:pt x="402336" y="502577"/>
                  </a:lnTo>
                  <a:lnTo>
                    <a:pt x="502920" y="498451"/>
                  </a:lnTo>
                  <a:lnTo>
                    <a:pt x="603504" y="486653"/>
                  </a:lnTo>
                  <a:lnTo>
                    <a:pt x="704088" y="458428"/>
                  </a:lnTo>
                  <a:lnTo>
                    <a:pt x="804672" y="402376"/>
                  </a:lnTo>
                  <a:lnTo>
                    <a:pt x="905256" y="311124"/>
                  </a:lnTo>
                  <a:lnTo>
                    <a:pt x="1005840" y="192196"/>
                  </a:lnTo>
                  <a:lnTo>
                    <a:pt x="1106424" y="74544"/>
                  </a:lnTo>
                  <a:lnTo>
                    <a:pt x="1207008" y="0"/>
                  </a:lnTo>
                  <a:lnTo>
                    <a:pt x="1307592" y="0"/>
                  </a:lnTo>
                  <a:lnTo>
                    <a:pt x="1408176" y="74544"/>
                  </a:lnTo>
                  <a:lnTo>
                    <a:pt x="1508760" y="192196"/>
                  </a:lnTo>
                  <a:lnTo>
                    <a:pt x="1609344" y="311124"/>
                  </a:lnTo>
                  <a:lnTo>
                    <a:pt x="1709928" y="402376"/>
                  </a:lnTo>
                  <a:lnTo>
                    <a:pt x="1810512" y="458428"/>
                  </a:lnTo>
                  <a:lnTo>
                    <a:pt x="1911096" y="486653"/>
                  </a:lnTo>
                  <a:lnTo>
                    <a:pt x="2011680" y="498451"/>
                  </a:lnTo>
                  <a:lnTo>
                    <a:pt x="2112264" y="502577"/>
                  </a:lnTo>
                  <a:lnTo>
                    <a:pt x="2212848" y="503789"/>
                  </a:lnTo>
                  <a:lnTo>
                    <a:pt x="2313432" y="504089"/>
                  </a:lnTo>
                  <a:lnTo>
                    <a:pt x="2414016" y="504152"/>
                  </a:lnTo>
                  <a:lnTo>
                    <a:pt x="2514600" y="504163"/>
                  </a:lnTo>
                </a:path>
              </a:pathLst>
            </a:custGeom>
            <a:noFill/>
            <a:ln w="17145" cap="rnd">
              <a:solidFill>
                <a:schemeClr val="dk2"/>
              </a:solidFill>
              <a:custDash>
                <a:ds d="277778" sp="277778"/>
              </a:custDash>
              <a:round/>
            </a:ln>
          </p:spPr>
        </p:sp>
        <p:sp>
          <p:nvSpPr>
            <p:cNvPr id="57" name="Polyline 57"/>
            <p:cNvSpPr/>
            <p:nvPr/>
          </p:nvSpPr>
          <p:spPr>
            <a:xfrm>
              <a:off x="8667750" y="4421935"/>
              <a:ext cx="2514600" cy="473913"/>
            </a:xfrm>
            <a:custGeom>
              <a:avLst/>
              <a:gdLst/>
              <a:ahLst/>
              <a:cxnLst/>
              <a:rect l="l" t="t" r="r" b="b"/>
              <a:pathLst>
                <a:path w="2514600" h="473913">
                  <a:moveTo>
                    <a:pt x="0" y="473913"/>
                  </a:moveTo>
                  <a:lnTo>
                    <a:pt x="100584" y="473903"/>
                  </a:lnTo>
                  <a:lnTo>
                    <a:pt x="201168" y="473844"/>
                  </a:lnTo>
                  <a:lnTo>
                    <a:pt x="301752" y="473561"/>
                  </a:lnTo>
                  <a:lnTo>
                    <a:pt x="402336" y="472422"/>
                  </a:lnTo>
                  <a:lnTo>
                    <a:pt x="502920" y="468544"/>
                  </a:lnTo>
                  <a:lnTo>
                    <a:pt x="603504" y="457454"/>
                  </a:lnTo>
                  <a:lnTo>
                    <a:pt x="704088" y="430923"/>
                  </a:lnTo>
                  <a:lnTo>
                    <a:pt x="804672" y="378233"/>
                  </a:lnTo>
                  <a:lnTo>
                    <a:pt x="905256" y="292456"/>
                  </a:lnTo>
                  <a:lnTo>
                    <a:pt x="1005840" y="180664"/>
                  </a:lnTo>
                  <a:lnTo>
                    <a:pt x="1106424" y="70071"/>
                  </a:lnTo>
                  <a:lnTo>
                    <a:pt x="1207008" y="0"/>
                  </a:lnTo>
                  <a:lnTo>
                    <a:pt x="1307592" y="0"/>
                  </a:lnTo>
                  <a:lnTo>
                    <a:pt x="1408176" y="70071"/>
                  </a:lnTo>
                  <a:lnTo>
                    <a:pt x="1508760" y="180664"/>
                  </a:lnTo>
                  <a:lnTo>
                    <a:pt x="1609344" y="292456"/>
                  </a:lnTo>
                  <a:lnTo>
                    <a:pt x="1709928" y="378233"/>
                  </a:lnTo>
                  <a:lnTo>
                    <a:pt x="1810512" y="430923"/>
                  </a:lnTo>
                  <a:lnTo>
                    <a:pt x="1911096" y="457454"/>
                  </a:lnTo>
                  <a:lnTo>
                    <a:pt x="2011680" y="468544"/>
                  </a:lnTo>
                  <a:lnTo>
                    <a:pt x="2112264" y="472422"/>
                  </a:lnTo>
                  <a:lnTo>
                    <a:pt x="2212848" y="473561"/>
                  </a:lnTo>
                  <a:lnTo>
                    <a:pt x="2313432" y="473844"/>
                  </a:lnTo>
                  <a:lnTo>
                    <a:pt x="2414016" y="473903"/>
                  </a:lnTo>
                  <a:lnTo>
                    <a:pt x="2514600" y="473913"/>
                  </a:lnTo>
                </a:path>
              </a:pathLst>
            </a:custGeom>
            <a:noFill/>
            <a:ln w="26670" cap="rnd">
              <a:solidFill>
                <a:srgbClr val="46C98B"/>
              </a:solidFill>
              <a:round/>
            </a:ln>
          </p:spPr>
        </p:sp>
        <p:sp>
          <p:nvSpPr>
            <p:cNvPr id="58" name="Polyline 58"/>
            <p:cNvSpPr/>
            <p:nvPr/>
          </p:nvSpPr>
          <p:spPr>
            <a:xfrm>
              <a:off x="8667750" y="484441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20955" cap="rnd">
              <a:solidFill>
                <a:srgbClr val="F2685C"/>
              </a:solidFill>
              <a:custDash>
                <a:ds d="90909" sp="181818"/>
              </a:custDash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94302" y="4338638"/>
              <a:ext cx="6928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G2N2 R2 0.82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79200" y="4710351"/>
              <a:ext cx="50791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PPGN 0.10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37456" y="4289584"/>
              <a:ext cx="19695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gain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67234" y="4965859"/>
              <a:ext cx="61987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frequency -&gt;</a:t>
              </a:r>
            </a:p>
          </p:txBody>
        </p:sp>
      </p:grpSp>
      <p:sp>
        <p:nvSpPr>
          <p:cNvPr id="64" name="cue_s07_c1_headline_result_g2n2_does_not" title="cue_s07_c1_headline_result_g2n2_does_not" descr="cue_s07_c1_headline_result_g2n2_does_not The headline result is that G2N2 does not just match the theory, it dominates in practice. On QM9, learning targets one at a time, it posts the best error on every single target while training faster than PPGN."/>
          <p:cNvSpPr/>
          <p:nvPr/>
        </p:nvSpPr>
        <p:spPr>
          <a:xfrm>
            <a:off x="609600" y="1504645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ue_s07_c2_notoriously_hard_r_squared_target_it" title="cue_s07_c2_notoriously_hard_r_squared_target_it" descr="cue_s07_c2_notoriously_hard_r_squared_target_it On the notoriously hard R-squared target, its error drops to zero-point-three-four-two, where PPGN sits at three-point-seven-eight, more than a ten-fold improvement, and when all twelve targets are learned at once the gap widens further."/>
          <p:cNvSpPr/>
          <p:nvPr/>
        </p:nvSpPr>
        <p:spPr>
          <a:xfrm>
            <a:off x="609600" y="3086100"/>
            <a:ext cx="3505199" cy="21527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ue_s07_c3_graph_classification_beats_second_be" title="cue_s07_c3_graph_classification_beats_second_be" descr="cue_s07_c3_graph_classification_beats_second_be On graph classification it beats the second-best network on five of the six TUD datasets."/>
          <p:cNvSpPr/>
          <p:nvPr/>
        </p:nvSpPr>
        <p:spPr>
          <a:xfrm>
            <a:off x="4344009" y="3086100"/>
            <a:ext cx="3505199" cy="21527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ue_s07_c4_spectral_test_cleanly_learns_band_pa" title="cue_s07_c4_spectral_test_cleanly_learns_band_pa" descr="cue_s07_c4_spectral_test_cleanly_learns_band_pa And on the spectral test it cleanly learns band-pass filters where PPGN, starved of the memory it would need, essentially fails."/>
          <p:cNvSpPr/>
          <p:nvPr/>
        </p:nvSpPr>
        <p:spPr>
          <a:xfrm>
            <a:off x="8077200" y="3086100"/>
            <a:ext cx="3505199" cy="21527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5994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Grammar reduction keeps the power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9600" y="1504950"/>
            <a:ext cx="5334000" cy="2038350"/>
            <a:chOff x="609600" y="1504950"/>
            <a:chExt cx="5334000" cy="20383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2038350"/>
            </a:xfrm>
            <a:prstGeom prst="roundRect">
              <a:avLst>
                <a:gd name="adj" fmla="val 6542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394" y="1741408"/>
              <a:ext cx="295236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Compare full, intermediate, reduced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347" y="2028349"/>
              <a:ext cx="3273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key experiment compares the full grammar, 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347" y="2209324"/>
              <a:ext cx="3898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intermediate one, and the reduced grammar r-G-of-L-three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347" y="2390299"/>
              <a:ext cx="1978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the QM9 R-squared target.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38500" y="2667000"/>
              <a:ext cx="2514600" cy="800100"/>
            </a:xfrm>
            <a:prstGeom prst="roundRect">
              <a:avLst>
                <a:gd name="adj" fmla="val 9524"/>
              </a:avLst>
            </a:prstGeom>
            <a:solidFill>
              <a:srgbClr val="0E223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524250" y="318135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11430" cap="rnd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628072" y="3112770"/>
              <a:ext cx="311467" cy="6858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3239" y="3247311"/>
              <a:ext cx="301135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G(L3)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147185" y="3112770"/>
              <a:ext cx="311467" cy="6858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07474" y="3247311"/>
              <a:ext cx="39089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interm.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66298" y="3110484"/>
              <a:ext cx="311467" cy="70866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16787" y="3247311"/>
              <a:ext cx="410488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r-G(L3)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85410" y="2984754"/>
              <a:ext cx="311467" cy="196596"/>
            </a:xfrm>
            <a:prstGeom prst="roundRect">
              <a:avLst>
                <a:gd name="adj" fmla="val 1938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87992" y="3247311"/>
              <a:ext cx="50630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over-red.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00438" y="2822734"/>
              <a:ext cx="138660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QM9 R2 error (lower better)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4677" y="2959656"/>
              <a:ext cx="55648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same error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695700"/>
            <a:ext cx="5334000" cy="1543050"/>
            <a:chOff x="609600" y="3695700"/>
            <a:chExt cx="5334000" cy="1543050"/>
          </a:xfrm>
        </p:grpSpPr>
        <p:sp>
          <p:nvSpPr>
            <p:cNvPr id="24" name="Rectangle 24"/>
            <p:cNvSpPr/>
            <p:nvPr/>
          </p:nvSpPr>
          <p:spPr>
            <a:xfrm>
              <a:off x="609600" y="3695700"/>
              <a:ext cx="5334000" cy="1543050"/>
            </a:xfrm>
            <a:prstGeom prst="roundRect">
              <a:avLst>
                <a:gd name="adj" fmla="val 8642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695700"/>
              <a:ext cx="57150" cy="15430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0585" y="3917156"/>
              <a:ext cx="3064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Same error =&gt; only redundancy removed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1156" y="4196001"/>
              <a:ext cx="395786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Their errors are essentially the same, which confirms that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1156" y="4386501"/>
              <a:ext cx="40892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reduction throws away redundancy without ever touching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156" y="4577001"/>
              <a:ext cx="12407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expressive power.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1504950"/>
            <a:ext cx="5334000" cy="2038350"/>
            <a:chOff x="6248400" y="1504950"/>
            <a:chExt cx="5334000" cy="203835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04950"/>
              <a:ext cx="5334000" cy="2038350"/>
            </a:xfrm>
            <a:prstGeom prst="roundRect">
              <a:avLst>
                <a:gd name="adj" fmla="val 6542"/>
              </a:avLst>
            </a:prstGeom>
            <a:solidFill>
              <a:srgbClr val="3A2020"/>
            </a:solidFill>
            <a:ln w="14288">
              <a:solidFill>
                <a:srgbClr val="F2685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15049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9194" y="1741408"/>
              <a:ext cx="257526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Delete essentials =&gt; it degrades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956" y="2024301"/>
              <a:ext cx="361802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 push past the reduced grammar and start deleting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9956" y="2214801"/>
              <a:ext cx="359299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essential rules, and performance degrades in a clear,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9956" y="2405301"/>
              <a:ext cx="11184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measurable way.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2971800"/>
              <a:ext cx="4800600" cy="3810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81047" y="3114199"/>
              <a:ext cx="2468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85C"/>
                  </a:solidFill>
                  <a:latin typeface="Consolas"/>
                  <a:ea typeface="Consolas"/>
                  <a:cs typeface="Consolas"/>
                </a:rPr>
                <a:t>remove essential rule -&gt; error rises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48400" y="3695700"/>
            <a:ext cx="5334000" cy="1543050"/>
            <a:chOff x="6248400" y="3695700"/>
            <a:chExt cx="5334000" cy="1543050"/>
          </a:xfrm>
        </p:grpSpPr>
        <p:sp>
          <p:nvSpPr>
            <p:cNvPr id="40" name="Rectangle 40"/>
            <p:cNvSpPr/>
            <p:nvPr/>
          </p:nvSpPr>
          <p:spPr>
            <a:xfrm>
              <a:off x="6248400" y="3695700"/>
              <a:ext cx="5334000" cy="1543050"/>
            </a:xfrm>
            <a:prstGeom prst="roundRect">
              <a:avLst>
                <a:gd name="adj" fmla="val 8642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695700"/>
              <a:ext cx="57150" cy="1543050"/>
            </a:xfrm>
            <a:prstGeom prst="roundRect">
              <a:avLst>
                <a:gd name="adj" fmla="val 50000"/>
              </a:avLst>
            </a:prstGeom>
            <a:solidFill>
              <a:srgbClr val="9C86F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9194" y="3913108"/>
              <a:ext cx="221394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9C86F0"/>
                  </a:solidFill>
                  <a:latin typeface="+mn-lt"/>
                  <a:ea typeface="+mn-ea"/>
                  <a:cs typeface="+mn-cs"/>
                </a:rPr>
                <a:t>Degradation is useful signal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9956" y="4196001"/>
              <a:ext cx="37947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degradation is information: it shows how much each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09956" y="4386501"/>
              <a:ext cx="336185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operation contributes, so you can prune the model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09956" y="4577001"/>
              <a:ext cx="347360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deliberately when a task does not demand full 3-W-L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09956" y="4767501"/>
              <a:ext cx="68332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strength.</a:t>
              </a:r>
            </a:p>
          </p:txBody>
        </p:sp>
      </p:grpSp>
      <p:sp>
        <p:nvSpPr>
          <p:cNvPr id="48" name="cue_s08_c1_most_instructive_experiment_grammar" title="cue_s08_c1_most_instructive_experiment_grammar" descr="cue_s08_c1_most_instructive_experiment_grammar The most instructive experiment is the grammar-reduction ablation. The authors compare the full grammar, an intermediate one, and the reduced grammar r-G-of-L-three on the QM9 R-squared target."/>
          <p:cNvSpPr/>
          <p:nvPr/>
        </p:nvSpPr>
        <p:spPr>
          <a:xfrm>
            <a:off x="609600" y="1504645"/>
            <a:ext cx="5334000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8_c2_their_errors_essentially_same_which" title="cue_s08_c2_their_errors_essentially_same_which" descr="cue_s08_c2_their_errors_essentially_same_which Their errors are essentially the same, which confirms that reduction throws away redundancy without touching expressive power."/>
          <p:cNvSpPr/>
          <p:nvPr/>
        </p:nvSpPr>
        <p:spPr>
          <a:xfrm>
            <a:off x="609600" y="3695776"/>
            <a:ext cx="5334000" cy="15430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8_c3_but_when_you_push_past" title="cue_s08_c3_but_when_you_push_past" descr="cue_s08_c3_but_when_you_push_past But when you push past the reduced grammar and start deleting essential rules, performance degrades in a measurable way."/>
          <p:cNvSpPr/>
          <p:nvPr/>
        </p:nvSpPr>
        <p:spPr>
          <a:xfrm>
            <a:off x="6248399" y="1504645"/>
            <a:ext cx="5334000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8_c4_degradation_actually_useful_informat" title="cue_s08_c4_degradation_actually_useful_informat" descr="cue_s08_c4_degradation_actually_useful_informat That degradation is actually useful information: it tells you how much each operation contributes, so you can prune the model deliberately when a task does not demand the full 3-W-L strength."/>
          <p:cNvSpPr/>
          <p:nvPr/>
        </p:nvSpPr>
        <p:spPr>
          <a:xfrm>
            <a:off x="6248399" y="3695776"/>
            <a:ext cx="5334000" cy="15430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337339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gains, in numbers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81150"/>
            <a:ext cx="10972800" cy="1047750"/>
            <a:chOff x="609600" y="1581150"/>
            <a:chExt cx="10972800" cy="1047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10972800" cy="1047750"/>
            </a:xfrm>
            <a:prstGeom prst="roundRect">
              <a:avLst>
                <a:gd name="adj" fmla="val 12727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811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90462"/>
              <a:ext cx="294580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A few numbers capture the impact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0" y="1866900"/>
              <a:ext cx="203835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115542" y="1994516"/>
              <a:ext cx="475265" cy="289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8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~11x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09036" y="2207657"/>
              <a:ext cx="12882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lower QM9 R2 error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543800" y="1866900"/>
              <a:ext cx="403860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29538" y="2013347"/>
              <a:ext cx="333199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Provable 3-WL power turns into concrete wins across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29538" y="2184797"/>
              <a:ext cx="296429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regression, classification, and spectral tasks.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2857500"/>
            <a:ext cx="3505200" cy="1562100"/>
            <a:chOff x="609600" y="2857500"/>
            <a:chExt cx="3505200" cy="1562100"/>
          </a:xfrm>
        </p:grpSpPr>
        <p:sp>
          <p:nvSpPr>
            <p:cNvPr id="15" name="Rectangle 15"/>
            <p:cNvSpPr/>
            <p:nvPr/>
          </p:nvSpPr>
          <p:spPr>
            <a:xfrm>
              <a:off x="609600" y="2857500"/>
              <a:ext cx="3505200" cy="1562100"/>
            </a:xfrm>
            <a:prstGeom prst="roundRect">
              <a:avLst>
                <a:gd name="adj" fmla="val 853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85750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776" y="3044904"/>
              <a:ext cx="170826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QM9 R-squared target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3276600"/>
              <a:ext cx="1714500" cy="1047750"/>
            </a:xfrm>
            <a:prstGeom prst="roundRect">
              <a:avLst>
                <a:gd name="adj" fmla="val 9091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38225" y="4038600"/>
              <a:ext cx="723900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0765" y="384905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0.342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60697" y="41590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G2N2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04975" y="3600450"/>
              <a:ext cx="723900" cy="495300"/>
            </a:xfrm>
            <a:prstGeom prst="roundRect">
              <a:avLst>
                <a:gd name="adj" fmla="val 9615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57515" y="341090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3.780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27447" y="41590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PPGN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743200" y="3276600"/>
              <a:ext cx="1257300" cy="1047750"/>
            </a:xfrm>
            <a:prstGeom prst="roundRect">
              <a:avLst>
                <a:gd name="adj" fmla="val 9091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90825" y="3719476"/>
              <a:ext cx="723900" cy="376274"/>
            </a:xfrm>
            <a:prstGeom prst="roundRect">
              <a:avLst>
                <a:gd name="adj" fmla="val 12657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24996" y="35299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98s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3297" y="41590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G2N2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28975" y="3600450"/>
              <a:ext cx="723900" cy="495300"/>
            </a:xfrm>
            <a:prstGeom prst="roundRect">
              <a:avLst>
                <a:gd name="adj" fmla="val 9615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22331" y="34109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129s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1447" y="41590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PPGN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43400" y="2857500"/>
            <a:ext cx="3505200" cy="1562100"/>
            <a:chOff x="4343400" y="2857500"/>
            <a:chExt cx="3505200" cy="1562100"/>
          </a:xfrm>
        </p:grpSpPr>
        <p:sp>
          <p:nvSpPr>
            <p:cNvPr id="33" name="Rectangle 33"/>
            <p:cNvSpPr/>
            <p:nvPr/>
          </p:nvSpPr>
          <p:spPr>
            <a:xfrm>
              <a:off x="4343400" y="2857500"/>
              <a:ext cx="3505200" cy="1562100"/>
            </a:xfrm>
            <a:prstGeom prst="roundRect">
              <a:avLst>
                <a:gd name="adj" fmla="val 8537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43400" y="285750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04576" y="3044904"/>
              <a:ext cx="227885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Spectral band-pass R-squared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10100" y="3276600"/>
              <a:ext cx="2971800" cy="1047750"/>
            </a:xfrm>
            <a:prstGeom prst="roundRect">
              <a:avLst>
                <a:gd name="adj" fmla="val 9091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086350" y="3600450"/>
              <a:ext cx="723900" cy="495300"/>
            </a:xfrm>
            <a:prstGeom prst="roundRect">
              <a:avLst>
                <a:gd name="adj" fmla="val 9615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9706" y="34109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0.82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08822" y="41590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G2N2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4035348"/>
              <a:ext cx="723900" cy="60402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5106" y="3845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22" y="4159091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PPGN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600700" y="3352800"/>
              <a:ext cx="990600" cy="190500"/>
            </a:xfrm>
            <a:prstGeom prst="roundRect">
              <a:avLst>
                <a:gd name="adj" fmla="val 35000"/>
              </a:avLst>
            </a:prstGeom>
            <a:solidFill>
              <a:srgbClr val="0F2E2B"/>
            </a:solidFill>
            <a:ln w="10478">
              <a:solidFill>
                <a:srgbClr val="46C9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49808" y="3397091"/>
              <a:ext cx="6923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8x higher R2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77200" y="2857500"/>
            <a:ext cx="3505200" cy="1562100"/>
            <a:chOff x="8077200" y="2857500"/>
            <a:chExt cx="3505200" cy="1562100"/>
          </a:xfrm>
        </p:grpSpPr>
        <p:sp>
          <p:nvSpPr>
            <p:cNvPr id="46" name="Rectangle 46"/>
            <p:cNvSpPr/>
            <p:nvPr/>
          </p:nvSpPr>
          <p:spPr>
            <a:xfrm>
              <a:off x="8077200" y="2857500"/>
              <a:ext cx="3505200" cy="1562100"/>
            </a:xfrm>
            <a:prstGeom prst="roundRect">
              <a:avLst>
                <a:gd name="adj" fmla="val 853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77200" y="285750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38376" y="3044904"/>
              <a:ext cx="135708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TUD classification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39138" y="3278743"/>
              <a:ext cx="12920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better than 2nd place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43900" y="3505200"/>
              <a:ext cx="1428750" cy="800100"/>
            </a:xfrm>
            <a:prstGeom prst="roundRect">
              <a:avLst>
                <a:gd name="adj" fmla="val 14286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07091" y="3690023"/>
              <a:ext cx="702368" cy="418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4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5 / 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61199" y="4044077"/>
              <a:ext cx="5941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datasets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886950" y="3505200"/>
              <a:ext cx="1428750" cy="800100"/>
            </a:xfrm>
            <a:prstGeom prst="roundRect">
              <a:avLst>
                <a:gd name="adj" fmla="val 14286"/>
              </a:avLst>
            </a:pr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144269" y="3690023"/>
              <a:ext cx="914112" cy="418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4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92.5%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89486" y="4044077"/>
              <a:ext cx="4236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MUTAG</a:t>
              </a:r>
            </a:p>
          </p:txBody>
        </p:sp>
      </p:grpSp>
      <p:sp>
        <p:nvSpPr>
          <p:cNvPr id="57" name="Rectangle 57"/>
          <p:cNvSpPr/>
          <p:nvPr/>
        </p:nvSpPr>
        <p:spPr>
          <a:xfrm>
            <a:off x="609600" y="4572000"/>
            <a:ext cx="10972800" cy="66675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4288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8" name="TextBox 58"/>
          <p:cNvSpPr txBox="1"/>
          <p:nvPr/>
        </p:nvSpPr>
        <p:spPr>
          <a:xfrm>
            <a:off x="871156" y="4748451"/>
            <a:ext cx="1185689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Measured across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185416" y="4744402"/>
            <a:ext cx="40659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QM9 (12 targets) · TUD (6 sets) · spectral (900-node)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044944" y="4748451"/>
            <a:ext cx="2314000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10" b="1" dirty="0">
                <a:solidFill>
                  <a:srgbClr val="46C98B"/>
                </a:solidFill>
                <a:latin typeface="+mn-lt"/>
                <a:ea typeface="+mn-ea"/>
                <a:cs typeface="+mn-cs"/>
              </a:rPr>
              <a:t>lower error / higher R2 is better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793643" y="4989195"/>
            <a:ext cx="15649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dirty="0">
                <a:solidFill>
                  <a:srgbClr val="6E869C"/>
                </a:solidFill>
                <a:latin typeface="+mn-lt"/>
                <a:ea typeface="+mn-ea"/>
                <a:cs typeface="+mn-cs"/>
              </a:rPr>
              <a:t>G2N2 wins on every arena</a:t>
            </a:r>
          </a:p>
        </p:txBody>
      </p:sp>
      <p:sp>
        <p:nvSpPr>
          <p:cNvPr id="62" name="cue_s09_c1_few_numbers_capture_impact" title="cue_s09_c1_few_numbers_capture_impact" descr="cue_s09_c1_few_numbers_capture_impact A few numbers capture the impact."/>
          <p:cNvSpPr/>
          <p:nvPr/>
        </p:nvSpPr>
        <p:spPr>
          <a:xfrm>
            <a:off x="609600" y="1581454"/>
            <a:ext cx="10972800" cy="10479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ue_s09_c2_qm9_r_squared_target_error_falls" title="cue_s09_c2_qm9_r_squared_target_error_falls" descr="cue_s09_c2_qm9_r_squared_target_error_falls On QM9's R-squared target, error falls from three-point-seven-eight to zero-point-three-four-two, roughly an eleven-fold reduction, and the model does it in ninety-eight seconds per epoch versus PPGN's one hundred twenty-nine."/>
          <p:cNvSpPr/>
          <p:nvPr/>
        </p:nvSpPr>
        <p:spPr>
          <a:xfrm>
            <a:off x="609600" y="2857728"/>
            <a:ext cx="3505199" cy="15622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ue_s09_c3_spectral_band_pass_task_its_r_square" title="cue_s09_c3_spectral_band_pass_task_its_r_square" descr="cue_s09_c3_spectral_band_pass_task_its_r_square On the spectral band-pass task, its R-squared score of zero-point-eight-two towers over PPGN's zero-point-one-zero."/>
          <p:cNvSpPr/>
          <p:nvPr/>
        </p:nvSpPr>
        <p:spPr>
          <a:xfrm>
            <a:off x="4344009" y="2857728"/>
            <a:ext cx="3505199" cy="15622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ue_s09_c4_tud_classification_suite_lands_bette" title="cue_s09_c4_tud_classification_suite_lands_bette" descr="cue_s09_c4_tud_classification_suite_lands_bette And on the TUD classification suite it lands better than second place on five of six datasets, including ninety-two-and-a-half percent on MUTAG."/>
          <p:cNvSpPr/>
          <p:nvPr/>
        </p:nvSpPr>
        <p:spPr>
          <a:xfrm>
            <a:off x="8077200" y="2857728"/>
            <a:ext cx="3505199" cy="15622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96244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Expressiveness by construction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09600" y="1581150"/>
            <a:ext cx="10972800" cy="704850"/>
            <a:chOff x="609600" y="1581150"/>
            <a:chExt cx="10972800" cy="7048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10972800" cy="704850"/>
            </a:xfrm>
            <a:prstGeom prst="roundRect">
              <a:avLst>
                <a:gd name="adj" fmla="val 18919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81150"/>
              <a:ext cx="57150" cy="704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748314"/>
              <a:ext cx="3909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lasting message is a change of workflow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347" y="2028349"/>
              <a:ext cx="48236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stop proving expressiveness after the fact - build it in from the start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514600"/>
            <a:ext cx="3505200" cy="2647950"/>
            <a:chOff x="609600" y="2514600"/>
            <a:chExt cx="3505200" cy="2647950"/>
          </a:xfrm>
        </p:grpSpPr>
        <p:sp>
          <p:nvSpPr>
            <p:cNvPr id="10" name="Rectangle 10"/>
            <p:cNvSpPr/>
            <p:nvPr/>
          </p:nvSpPr>
          <p:spPr>
            <a:xfrm>
              <a:off x="609600" y="2514600"/>
              <a:ext cx="3505200" cy="2647950"/>
            </a:xfrm>
            <a:prstGeom prst="roundRect">
              <a:avLst>
                <a:gd name="adj" fmla="val 5036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5146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28675" y="2905125"/>
              <a:ext cx="209550" cy="20955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823" y="3291364"/>
              <a:ext cx="2262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the network off the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823" y="3519964"/>
              <a:ext cx="7819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grammar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156" y="3910251"/>
              <a:ext cx="19184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Start from a language whose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156" y="4110276"/>
              <a:ext cx="240329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expressive power you already know,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156" y="4310301"/>
              <a:ext cx="226052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reduce it to a clean grammar, and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156" y="4510326"/>
              <a:ext cx="20361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read the network's inputs and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156" y="4710351"/>
              <a:ext cx="220614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layers straight off the surviving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156" y="4910376"/>
              <a:ext cx="4249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rules.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2514600"/>
            <a:ext cx="3505200" cy="2647950"/>
            <a:chOff x="4343400" y="2514600"/>
            <a:chExt cx="3505200" cy="2647950"/>
          </a:xfrm>
        </p:grpSpPr>
        <p:sp>
          <p:nvSpPr>
            <p:cNvPr id="22" name="Rectangle 22"/>
            <p:cNvSpPr/>
            <p:nvPr/>
          </p:nvSpPr>
          <p:spPr>
            <a:xfrm>
              <a:off x="4343400" y="2514600"/>
              <a:ext cx="3505200" cy="2647950"/>
            </a:xfrm>
            <a:prstGeom prst="roundRect">
              <a:avLst>
                <a:gd name="adj" fmla="val 5036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43400" y="25146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562475" y="2905125"/>
              <a:ext cx="209550" cy="209550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03623" y="3291364"/>
              <a:ext cx="1637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G2N2 is the payoff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956" y="3681651"/>
              <a:ext cx="202610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G2N2 is the concrete result: 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956" y="3881676"/>
              <a:ext cx="223657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provably 3-W-L model that is also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4956" y="4081701"/>
              <a:ext cx="230131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faster and more accurate than its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956" y="4281726"/>
              <a:ext cx="98244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predecessors.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2514600"/>
            <a:ext cx="3505200" cy="2647950"/>
            <a:chOff x="8077200" y="2514600"/>
            <a:chExt cx="3505200" cy="2647950"/>
          </a:xfrm>
        </p:grpSpPr>
        <p:sp>
          <p:nvSpPr>
            <p:cNvPr id="31" name="Rectangle 31"/>
            <p:cNvSpPr/>
            <p:nvPr/>
          </p:nvSpPr>
          <p:spPr>
            <a:xfrm>
              <a:off x="8077200" y="2514600"/>
              <a:ext cx="3505200" cy="2647950"/>
            </a:xfrm>
            <a:prstGeom prst="roundRect">
              <a:avLst>
                <a:gd name="adj" fmla="val 5036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77200" y="25146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296275" y="2905125"/>
              <a:ext cx="209550" cy="20955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7423" y="3291364"/>
              <a:ext cx="1375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generic route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756" y="3681651"/>
              <a:ext cx="233319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Because the framework is generic,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756" y="3881676"/>
              <a:ext cx="22469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grammatical route could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756" y="4081701"/>
              <a:ext cx="21109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turn other algebraic fragments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756" y="4281726"/>
              <a:ext cx="23760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into other networks, each carrying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8756" y="4481751"/>
              <a:ext cx="211776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its expressive power by design.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609600" y="5334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2" name="Rectangle 42"/>
          <p:cNvSpPr/>
          <p:nvPr/>
        </p:nvSpPr>
        <p:spPr>
          <a:xfrm>
            <a:off x="814388" y="5791200"/>
            <a:ext cx="333375" cy="152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240">
            <a:solidFill>
              <a:schemeClr val="accent2"/>
            </a:solidFill>
          </a:ln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871766" y="5872277"/>
            <a:ext cx="218618" cy="8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ML(L3)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262062" y="5791200"/>
            <a:ext cx="333375" cy="152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240">
            <a:solidFill>
              <a:srgbClr val="F4C24C"/>
            </a:solidFill>
          </a:ln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1303839" y="5872277"/>
            <a:ext cx="249822" cy="8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0" b="1" dirty="0">
                <a:solidFill>
                  <a:srgbClr val="F4C24C"/>
                </a:solidFill>
                <a:latin typeface="Consolas"/>
                <a:ea typeface="Consolas"/>
                <a:cs typeface="Consolas"/>
              </a:rPr>
              <a:t>grammar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709738" y="5791200"/>
            <a:ext cx="333375" cy="152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240">
            <a:solidFill>
              <a:srgbClr val="46C98B"/>
            </a:solidFill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1805948" y="5872277"/>
            <a:ext cx="140955" cy="8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0" b="1" dirty="0">
                <a:solidFill>
                  <a:srgbClr val="46C98B"/>
                </a:solidFill>
                <a:latin typeface="Consolas"/>
                <a:ea typeface="Consolas"/>
                <a:cs typeface="Consolas"/>
              </a:rPr>
              <a:t>G2N2</a:t>
            </a:r>
          </a:p>
        </p:txBody>
      </p:sp>
      <p:sp>
        <p:nvSpPr>
          <p:cNvPr id="48" name="Line 48"/>
          <p:cNvSpPr/>
          <p:nvPr/>
        </p:nvSpPr>
        <p:spPr>
          <a:xfrm>
            <a:off x="1176338" y="5867400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9" name="Polygon 49"/>
          <p:cNvSpPr/>
          <p:nvPr/>
        </p:nvSpPr>
        <p:spPr>
          <a:xfrm>
            <a:off x="1108300" y="5835434"/>
            <a:ext cx="125188" cy="63931"/>
          </a:xfrm>
          <a:custGeom>
            <a:avLst/>
            <a:gdLst/>
            <a:ahLst/>
            <a:cxnLst/>
            <a:rect l="l" t="t" r="r" b="b"/>
            <a:pathLst>
              <a:path w="125188" h="63931">
                <a:moveTo>
                  <a:pt x="125188" y="31966"/>
                </a:moveTo>
                <a:lnTo>
                  <a:pt x="0" y="639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p/>
        </p:txBody>
      </p:sp>
      <p:sp>
        <p:nvSpPr>
          <p:cNvPr id="50" name="Line 50"/>
          <p:cNvSpPr/>
          <p:nvPr/>
        </p:nvSpPr>
        <p:spPr>
          <a:xfrm>
            <a:off x="1624012" y="5867400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1" name="Polygon 51"/>
          <p:cNvSpPr/>
          <p:nvPr/>
        </p:nvSpPr>
        <p:spPr>
          <a:xfrm>
            <a:off x="1555975" y="5835434"/>
            <a:ext cx="125188" cy="63931"/>
          </a:xfrm>
          <a:custGeom>
            <a:avLst/>
            <a:gdLst/>
            <a:ahLst/>
            <a:cxnLst/>
            <a:rect l="l" t="t" r="r" b="b"/>
            <a:pathLst>
              <a:path w="125188" h="63931">
                <a:moveTo>
                  <a:pt x="125188" y="31966"/>
                </a:moveTo>
                <a:lnTo>
                  <a:pt x="0" y="639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1184044" y="5639495"/>
            <a:ext cx="489412" cy="70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expressive language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5095" y="6077645"/>
            <a:ext cx="567311" cy="70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provably 3-WL network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64885" y="5792152"/>
            <a:ext cx="41228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G2N2 · Weisfeiler and Lehman Go Grammatical · ICLR 2024</a:t>
            </a:r>
          </a:p>
        </p:txBody>
      </p:sp>
      <p:sp>
        <p:nvSpPr>
          <p:cNvPr id="55" name="cue_s10_c1_lasting_message_change_workflow" title="cue_s10_c1_lasting_message_change_workflow" descr="cue_s10_c1_lasting_message_change_workflow The lasting message is a change of workflow."/>
          <p:cNvSpPr/>
          <p:nvPr/>
        </p:nvSpPr>
        <p:spPr>
          <a:xfrm>
            <a:off x="609600" y="1581454"/>
            <a:ext cx="10972800" cy="7050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10_c2_instead_designing_graph_network_hopi" title="cue_s10_c2_instead_designing_graph_network_hopi" descr="cue_s10_c2_instead_designing_graph_network_hopi Instead of designing a graph network and then hoping to prove it is expressive, you can start from a language whose expressive power you already know, reduce it to a clean grammar, and read the network straight off the rules, expressiveness guaranteed by const"/>
          <p:cNvSpPr/>
          <p:nvPr/>
        </p:nvSpPr>
        <p:spPr>
          <a:xfrm>
            <a:off x="609600" y="2514828"/>
            <a:ext cx="3505199" cy="26478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10_c3_g2n2_concrete_payoff_idea_provably" title="cue_s10_c3_g2n2_concrete_payoff_idea_provably" descr="cue_s10_c3_g2n2_concrete_payoff_idea_provably G2N2 is the concrete payoff of that idea: a provably 3-W-L model that is faster and more accurate than its predecessors."/>
          <p:cNvSpPr/>
          <p:nvPr/>
        </p:nvSpPr>
        <p:spPr>
          <a:xfrm>
            <a:off x="4344009" y="2514828"/>
            <a:ext cx="3505199" cy="26478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10_c4_because_framework_generic_same_gramm" title="cue_s10_c4_because_framework_generic_same_gramm" descr="cue_s10_c4_because_framework_generic_same_gramm And because the framework is generic, the same grammatical route could turn other algebraic fragments into other networks, each carrying its expressive power by design."/>
          <p:cNvSpPr/>
          <p:nvPr/>
        </p:nvSpPr>
        <p:spPr>
          <a:xfrm>
            <a:off x="8077200" y="2514828"/>
            <a:ext cx="3505199" cy="26478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">
  <a:themeElements>
    <a:clrScheme name="deck">
      <a:dk1>
        <a:srgbClr val="EAF2FB"/>
      </a:dk1>
      <a:lt1>
        <a:srgbClr val="0B1A2B"/>
      </a:lt1>
      <a:dk2>
        <a:srgbClr val="9DB3C8"/>
      </a:dk2>
      <a:lt2>
        <a:srgbClr val="0B1A2B"/>
      </a:lt2>
      <a:accent1>
        <a:srgbClr val="3E9BFF"/>
      </a:accent1>
      <a:accent2>
        <a:srgbClr val="3E9BFF"/>
      </a:accent2>
      <a:accent3>
        <a:srgbClr val="3E9BFF"/>
      </a:accent3>
      <a:accent4>
        <a:srgbClr val="2A4D6E"/>
      </a:accent4>
      <a:accent5>
        <a:srgbClr val="122A42"/>
      </a:accent5>
      <a:accent6>
        <a:srgbClr val="173453"/>
      </a:accent6>
      <a:hlink>
        <a:srgbClr val="3E9BFF"/>
      </a:hlink>
      <a:folHlink>
        <a:srgbClr val="3E9BFF"/>
      </a:folHlink>
    </a:clrScheme>
    <a:fontScheme name="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2026-07-17T15:46:29Z</dcterms:created>
  <dcterms:modified xsi:type="dcterms:W3CDTF">2026-07-17T15:46:29Z</dcterms:modified>
  <cp:category/>
  <cp:contentStatus/>
</cp:coreProperties>
</file>
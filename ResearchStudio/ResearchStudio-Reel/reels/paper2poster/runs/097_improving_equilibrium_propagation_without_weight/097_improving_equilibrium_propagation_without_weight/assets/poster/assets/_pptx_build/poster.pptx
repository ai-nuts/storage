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374852"/>
          </a:xfrm>
          <a:prstGeom prst="roundRect">
            <a:avLst>
              <a:gd name="adj" fmla="val 3251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548193"/>
            <a:ext cx="16349682" cy="689739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548193"/>
            <a:ext cx="16349682" cy="18711922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548193"/>
            <a:ext cx="16349821" cy="12247781"/>
          </a:xfrm>
          <a:prstGeom prst="roundRect">
            <a:avLst>
              <a:gd name="adj" fmla="val 580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2777430"/>
            <a:ext cx="16349682" cy="17294522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8127821"/>
            <a:ext cx="16349821" cy="5493464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3953132"/>
            <a:ext cx="16349821" cy="6118820"/>
          </a:xfrm>
          <a:prstGeom prst="roundRect">
            <a:avLst>
              <a:gd name="adj" fmla="val 1162"/>
            </a:avLst>
          </a:prstGeom>
          <a:solidFill>
            <a:srgbClr val="F7F0E8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953132"/>
            <a:ext cx="53340" cy="61188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428289" y="24591962"/>
            <a:ext cx="16349682" cy="5479990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7938" y="1185006"/>
            <a:ext cx="4978400" cy="14465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39991" y="5936297"/>
            <a:ext cx="1557347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9991" y="5936297"/>
            <a:ext cx="15573474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6944201"/>
            <a:ext cx="15573474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16393" y="5936297"/>
            <a:ext cx="1557347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16393" y="5936297"/>
            <a:ext cx="15573474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816393" y="6944201"/>
            <a:ext cx="15573474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92795" y="5936297"/>
            <a:ext cx="1557361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92795" y="5936297"/>
            <a:ext cx="15573613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592795" y="6944201"/>
            <a:ext cx="15573613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0576460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0576460"/>
            <a:ext cx="124460" cy="1481019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3165534"/>
            <a:ext cx="1557347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3165534"/>
            <a:ext cx="15573474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9991" y="14173438"/>
            <a:ext cx="15573474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816393" y="13951049"/>
            <a:ext cx="15573474" cy="1439485"/>
          </a:xfrm>
          <a:prstGeom prst="roundRect">
            <a:avLst>
              <a:gd name="adj" fmla="val 15651"/>
            </a:avLst>
          </a:prstGeom>
          <a:solidFill>
            <a:srgbClr val="F9F5F1"/>
          </a:solidFill>
          <a:ln w="8890">
            <a:solidFill>
              <a:srgbClr val="E1C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592795" y="18515925"/>
            <a:ext cx="1557361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592795" y="18515925"/>
            <a:ext cx="15573613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592795" y="19523829"/>
            <a:ext cx="15573613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592795" y="19870539"/>
            <a:ext cx="15573613" cy="3520162"/>
          </a:xfrm>
          <a:prstGeom prst="roundRect">
            <a:avLst>
              <a:gd name="adj" fmla="val 2020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8890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637245" y="24341236"/>
            <a:ext cx="1552916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637245" y="24341236"/>
            <a:ext cx="15529163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637245" y="25349140"/>
            <a:ext cx="15529163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816393" y="24980066"/>
            <a:ext cx="1557347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816393" y="24980066"/>
            <a:ext cx="15573474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816393" y="25987970"/>
            <a:ext cx="15573474" cy="2667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friedrich-miescher-institute-for-biomedical-re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2591" y="3335571"/>
            <a:ext cx="3263464" cy="1093439"/>
          </a:xfrm>
          <a:prstGeom prst="rect">
            <a:avLst/>
          </a:prstGeom>
        </p:spPr>
      </p:pic>
      <p:pic>
        <p:nvPicPr>
          <p:cNvPr id="38" name="Picture 37" descr="university-of-bas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029" y="3335558"/>
            <a:ext cx="3427789" cy="1093465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34886999" y="9949437"/>
            <a:ext cx="14985067" cy="7117835"/>
          </a:xfrm>
          <a:prstGeom prst="roundRect">
            <a:avLst>
              <a:gd name="adj" fmla="val 49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igur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7075" y="9949437"/>
            <a:ext cx="14984914" cy="7117835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7826672" y="15844341"/>
            <a:ext cx="15552777" cy="674820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26741" y="15844341"/>
            <a:ext cx="15552639" cy="674820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048047" y="19912349"/>
            <a:ext cx="15557361" cy="8492034"/>
          </a:xfrm>
          <a:prstGeom prst="roundRect">
            <a:avLst>
              <a:gd name="adj" fmla="val 41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117" y="19912349"/>
            <a:ext cx="15557221" cy="849203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44604741" y="20092789"/>
            <a:ext cx="5315803" cy="3123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604741" y="20092789"/>
            <a:ext cx="11557" cy="3123168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7816393" y="28864024"/>
            <a:ext cx="3713381" cy="819824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2521C"/>
                </a:solidFill>
                <a:latin typeface="Arial"/>
              </a:rPr>
              <a:t>Fashion-MNIST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686182" y="28864024"/>
            <a:ext cx="2457946" cy="819824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2521C"/>
                </a:solidFill>
                <a:latin typeface="Arial"/>
              </a:rPr>
              <a:t>CIFAR-10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300537" y="28864024"/>
            <a:ext cx="2704504" cy="819824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2521C"/>
                </a:solidFill>
                <a:latin typeface="Arial"/>
              </a:rPr>
              <a:t>CIFAR-100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161450" y="28864024"/>
            <a:ext cx="3850898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ImageNet 32×32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592795" y="7065605"/>
            <a:ext cx="7668737" cy="802461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592795" y="7859176"/>
            <a:ext cx="766873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261532" y="7065605"/>
            <a:ext cx="2289869" cy="802461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261532" y="7859176"/>
            <a:ext cx="228986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551401" y="7065605"/>
            <a:ext cx="2807573" cy="802461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551401" y="7859176"/>
            <a:ext cx="280757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358974" y="7065605"/>
            <a:ext cx="2807434" cy="802461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358974" y="7859176"/>
            <a:ext cx="280743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592795" y="7868066"/>
            <a:ext cx="7668737" cy="8844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592795" y="8743592"/>
            <a:ext cx="766873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261532" y="7868066"/>
            <a:ext cx="2289869" cy="8844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261532" y="8743592"/>
            <a:ext cx="228986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551401" y="7868066"/>
            <a:ext cx="2807573" cy="8844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551401" y="8743592"/>
            <a:ext cx="280757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358974" y="7868066"/>
            <a:ext cx="2807434" cy="8844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358974" y="8743592"/>
            <a:ext cx="280743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592795" y="8752482"/>
            <a:ext cx="7668737" cy="884416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592795" y="9628008"/>
            <a:ext cx="766873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261532" y="8752482"/>
            <a:ext cx="2289869" cy="884416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261532" y="9628008"/>
            <a:ext cx="228986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551401" y="8752482"/>
            <a:ext cx="2807573" cy="884416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551401" y="9628008"/>
            <a:ext cx="280757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7358974" y="8752482"/>
            <a:ext cx="2807434" cy="884416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7358974" y="9628008"/>
            <a:ext cx="280743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15581" y="1007487"/>
            <a:ext cx="41457403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294"/>
              </a:lnSpc>
              <a:spcBef>
                <a:spcPts val="0"/>
              </a:spcBef>
              <a:spcAft>
                <a:spcPts val="0"/>
              </a:spcAft>
            </a:pPr>
            <a:r>
              <a:rPr sz="7680" b="1" spc="-82">
                <a:solidFill>
                  <a:srgbClr val="A2521C"/>
                </a:solidFill>
                <a:latin typeface="Arial"/>
              </a:rPr>
              <a:t>Improving Equilibrium Propagation without Weight Symmetry through Jacobian</a:t>
            </a:r>
          </a:p>
          <a:p>
            <a:pPr algn="l">
              <a:lnSpc>
                <a:spcPts val="8294"/>
              </a:lnSpc>
              <a:spcBef>
                <a:spcPts val="0"/>
              </a:spcBef>
              <a:spcAft>
                <a:spcPts val="0"/>
              </a:spcAft>
            </a:pPr>
            <a:r>
              <a:rPr sz="7680" b="1" spc="-82">
                <a:solidFill>
                  <a:srgbClr val="A2521C"/>
                </a:solidFill>
                <a:latin typeface="Arial"/>
              </a:rPr>
              <a:t>Homeostasis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15581" y="3489741"/>
            <a:ext cx="41457403" cy="7442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Axel Laborieux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Friedemann Zenke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15581" y="4189968"/>
            <a:ext cx="41457403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Friedrich Miescher Institute for Biomedical Research, Basel  ·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Basel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91" y="5936297"/>
            <a:ext cx="1600019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16393" y="5936297"/>
            <a:ext cx="16000194" cy="1189760"/>
          </a:xfrm>
          <a:prstGeom prst="rect">
            <a:avLst/>
          </a:prstGeom>
          <a:noFill/>
        </p:spPr>
        <p:txBody>
          <a:bodyPr wrap="non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592795" y="5936297"/>
            <a:ext cx="16000333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91" y="7290911"/>
            <a:ext cx="160001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Equilibrium propagation (EP) computes gradients from a network's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own relaxation, but stays unbiased only under two conditions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physical hardware cannot meet: perfectly </a:t>
            </a:r>
            <a:r>
              <a:rPr sz="4106" b="1">
                <a:solidFill>
                  <a:srgbClr val="111111"/>
                </a:solidFill>
                <a:latin typeface="Arial"/>
              </a:rPr>
              <a:t>symmetric weights</a:t>
            </a:r>
            <a:r>
              <a:rPr sz="4106" b="0">
                <a:solidFill>
                  <a:srgbClr val="1C1C1C"/>
                </a:solidFill>
                <a:latin typeface="Arial"/>
              </a:rPr>
              <a:t>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 </a:t>
            </a:r>
            <a:r>
              <a:rPr sz="4106" b="1">
                <a:solidFill>
                  <a:srgbClr val="111111"/>
                </a:solidFill>
                <a:latin typeface="Arial"/>
              </a:rPr>
              <a:t>infinitesimal nudge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91" y="10576460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Asymmetry's true cost had never been isolated — it hides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behind the finite nudge.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991" y="13165534"/>
            <a:ext cx="1600019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316983" y="14950201"/>
            <a:ext cx="10889319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Tinos"/>
              </a:rPr>
              <a:t>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Penalizes the skew-symmetric part of the Jacobian, estimated with the Hutchinson trace trick.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592795" y="18515925"/>
            <a:ext cx="16000333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637245" y="24341236"/>
            <a:ext cx="15955883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816393" y="24980066"/>
            <a:ext cx="1600019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Datasets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637245" y="25820449"/>
            <a:ext cx="15955883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Equilibrium propagation </a:t>
            </a:r>
            <a:r>
              <a:rPr sz="4106" b="1">
                <a:solidFill>
                  <a:srgbClr val="111111"/>
                </a:solidFill>
                <a:latin typeface="Arial"/>
              </a:rPr>
              <a:t>does not need symmetric weights</a:t>
            </a:r>
            <a:r>
              <a:rPr sz="4106" b="0">
                <a:solidFill>
                  <a:srgbClr val="1C1C1C"/>
                </a:solidFill>
                <a:latin typeface="Arial"/>
              </a:rPr>
              <a:t>: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removing finite-nudge bias with a Cauchy integral and penalizing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Jacobian asymmetry lets asymmetric networks reach ImageNet-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scale accuracy near the symmetric ceiling — a biologically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plausible route toward training physical neural substrates.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816393" y="26334680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Bias is first isolated on small MLPs, then hEP is scaled on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recurrent convolutional net with </a:t>
            </a:r>
            <a:r>
              <a:rPr sz="4106" b="1">
                <a:solidFill>
                  <a:srgbClr val="111111"/>
                </a:solidFill>
                <a:latin typeface="Arial"/>
              </a:rPr>
              <a:t>genuinely asymmetric</a:t>
            </a:r>
            <a:r>
              <a:rPr sz="4106" b="0">
                <a:solidFill>
                  <a:srgbClr val="1C1C1C"/>
                </a:solidFill>
                <a:latin typeface="Arial"/>
              </a:rPr>
              <a:t> feedback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weights.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816375" y="7343278"/>
            <a:ext cx="16000212" cy="43481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Generalized holomorphic EP</a:t>
            </a:r>
            <a:r>
              <a:rPr sz="4106" b="0">
                <a:solidFill>
                  <a:srgbClr val="1C1C1C"/>
                </a:solidFill>
                <a:latin typeface="Arial"/>
              </a:rPr>
              <a:t> drives the net with an oscillating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teaching signal β(t) and reads the exact neuronal error via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Cauchy integral</a:t>
            </a:r>
            <a:r>
              <a:rPr sz="4106" b="0">
                <a:solidFill>
                  <a:srgbClr val="1C1C1C"/>
                </a:solidFill>
                <a:latin typeface="Arial"/>
              </a:rPr>
              <a:t> — killing finite-nudge bias even for asymmetric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Jacobians, in continuous time without separate free/nudged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phases.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816375" y="11306829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new </a:t>
            </a:r>
            <a:r>
              <a:rPr sz="4106" b="1">
                <a:solidFill>
                  <a:srgbClr val="111111"/>
                </a:solidFill>
                <a:latin typeface="Arial"/>
              </a:rPr>
              <a:t>homeostatic loss</a:t>
            </a:r>
            <a:r>
              <a:rPr sz="4106" b="0">
                <a:solidFill>
                  <a:srgbClr val="1C1C1C"/>
                </a:solidFill>
                <a:latin typeface="Arial"/>
              </a:rPr>
              <a:t> penalizes the skew-symmetric part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of the free-fixed-point Jacobian, improving functional symmetry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without ever tying the weights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972" y="15012848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Physical substrates (brains, analog chips) could train at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fraction of digital energy, yet backprop needs the exact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transpose</a:t>
            </a:r>
            <a:r>
              <a:rPr sz="4106" b="0">
                <a:solidFill>
                  <a:srgbClr val="1C1C1C"/>
                </a:solidFill>
                <a:latin typeface="Arial"/>
              </a:rPr>
              <a:t> of every weight they cannot provide.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856981" y="17216874"/>
            <a:ext cx="13436456" cy="639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Homeostatic loss lifts symmetry and error alignment across datasets.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9972" y="17463988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Generalized (asymmetric) EP had only worked on MNIST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failed outright on CIFAR-10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 unexplained scaling failure.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448833" y="22742147"/>
            <a:ext cx="14735175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The Cauchy integral recovers the exact error at finite nudge, even for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asymmetric Jacobians.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70347" y="28553985"/>
            <a:ext cx="14739481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Energy-based nets force weight symmetry (symmetric Jacobian); dropping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it breaks symmetry, while feedforward nets stay lower-triangular.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838659" y="20092789"/>
            <a:ext cx="9468170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A2521C"/>
                </a:solidFill>
                <a:latin typeface="Arial"/>
              </a:rPr>
              <a:t>84.3%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838659" y="21467683"/>
            <a:ext cx="9468170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CIFAR-10 Top-1, asymmetric hEP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838659" y="21989137"/>
            <a:ext cx="9468170" cy="14108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up from 60.4% without the homeostatic loss — a +23.9-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point jump that lands within just 4.3 points of the fully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symmetric network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92795" y="7065605"/>
            <a:ext cx="7898799" cy="922830"/>
          </a:xfrm>
          <a:prstGeom prst="rect">
            <a:avLst/>
          </a:prstGeom>
          <a:noFill/>
        </p:spPr>
        <p:txBody>
          <a:bodyPr wrap="square" lIns="71120" rIns="71120" tIns="47413" bIns="47413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Asymmetric hEP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61532" y="7065605"/>
            <a:ext cx="2358565" cy="922830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C-10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551401" y="7065605"/>
            <a:ext cx="2891800" cy="922830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C-100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358974" y="7065605"/>
            <a:ext cx="2891657" cy="922830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IN 32²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592795" y="7868066"/>
            <a:ext cx="7898799" cy="1017078"/>
          </a:xfrm>
          <a:prstGeom prst="rect">
            <a:avLst/>
          </a:prstGeom>
          <a:noFill/>
        </p:spPr>
        <p:txBody>
          <a:bodyPr wrap="square" lIns="71120" rIns="71120" tIns="47413" bIns="47413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w/o ℒ</a:t>
            </a:r>
            <a:r>
              <a:rPr sz="5346" b="1" baseline="-25000">
                <a:solidFill>
                  <a:srgbClr val="1C1C1C"/>
                </a:solidFill>
                <a:latin typeface="Arial"/>
              </a:rPr>
              <a:t>homeo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61532" y="7868066"/>
            <a:ext cx="2358565" cy="1017078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60.4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551401" y="7868066"/>
            <a:ext cx="2891800" cy="1017078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35.2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358974" y="7868066"/>
            <a:ext cx="2891657" cy="1017078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592795" y="8752482"/>
            <a:ext cx="7898799" cy="1017078"/>
          </a:xfrm>
          <a:prstGeom prst="rect">
            <a:avLst/>
          </a:prstGeom>
          <a:noFill/>
        </p:spPr>
        <p:txBody>
          <a:bodyPr wrap="square" lIns="71120" rIns="71120" tIns="47413" bIns="47413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+ ℒ</a:t>
            </a:r>
            <a:r>
              <a:rPr sz="5346" b="1" baseline="-25000">
                <a:solidFill>
                  <a:srgbClr val="A2521C"/>
                </a:solidFill>
                <a:latin typeface="Arial"/>
              </a:rPr>
              <a:t>homeo</a:t>
            </a:r>
            <a:r>
              <a:rPr sz="3819" b="1">
                <a:solidFill>
                  <a:srgbClr val="A2521C"/>
                </a:solidFill>
                <a:latin typeface="Arial"/>
              </a:rPr>
              <a:t> (ours)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261532" y="8752482"/>
            <a:ext cx="2358565" cy="1017078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84.3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4551401" y="8752482"/>
            <a:ext cx="2891800" cy="1017078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53.8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358974" y="8752482"/>
            <a:ext cx="2891657" cy="1017078"/>
          </a:xfrm>
          <a:prstGeom prst="rect">
            <a:avLst/>
          </a:prstGeom>
          <a:noFill/>
        </p:spPr>
        <p:txBody>
          <a:bodyPr wrap="none" lIns="71120" rIns="71120" tIns="47413" bIns="47413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31.4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082995" y="20092789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31.4%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784180" y="20226139"/>
            <a:ext cx="323045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ImageNet 32² Top-1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082995" y="21220707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55.2%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784180" y="21354057"/>
            <a:ext cx="323045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ImageNet 32² Top-5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082995" y="22348765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14.3%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784180" y="22482115"/>
            <a:ext cx="305004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F-MNIST err |β|=.5</a:t>
            </a:r>
          </a:p>
        </p:txBody>
      </p:sp>
      <p:pic>
        <p:nvPicPr>
          <p:cNvPr id="118" name="Picture 117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79617" y="14036337"/>
            <a:ext cx="10647026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
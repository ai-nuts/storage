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51206400" cy="3072384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51887" y="651887"/>
            <a:ext cx="49902625" cy="5081190"/>
          </a:xfrm>
          <a:prstGeom prst="roundRect">
            <a:avLst>
              <a:gd name="adj" fmla="val 2799"/>
            </a:avLst>
          </a:prstGeom>
          <a:solidFill>
            <a:srgbClr val="E6F0EA"/>
          </a:solidFill>
          <a:ln>
            <a:noFill/>
          </a:ln>
          <a:effectLst>
            <a:outerShdw blurRad="63500" dist="19050" dir="10800000" algn="ctr"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1887" y="6254531"/>
            <a:ext cx="10804961" cy="9917212"/>
          </a:xfrm>
          <a:prstGeom prst="rect">
            <a:avLst/>
          </a:prstGeom>
          <a:solidFill>
            <a:srgbClr val="FFFFFF"/>
          </a:solidFill>
          <a:ln w="35560">
            <a:solidFill>
              <a:srgbClr val="111111"/>
            </a:solidFill>
          </a:ln>
          <a:effectLst>
            <a:outerShdw blurRad="63500" dist="19050" dir="10800000" algn="ctr"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83568" y="6254531"/>
            <a:ext cx="27439124" cy="16569154"/>
          </a:xfrm>
          <a:prstGeom prst="rect">
            <a:avLst/>
          </a:prstGeom>
          <a:solidFill>
            <a:srgbClr val="FFFFFF"/>
          </a:solidFill>
          <a:ln w="35560">
            <a:solidFill>
              <a:srgbClr val="111111"/>
            </a:solidFill>
          </a:ln>
          <a:effectLst>
            <a:outerShdw blurRad="63500" dist="19050" dir="10800000" algn="ctr"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9749412" y="6254531"/>
            <a:ext cx="10804962" cy="7027545"/>
          </a:xfrm>
          <a:prstGeom prst="rect">
            <a:avLst/>
          </a:prstGeom>
          <a:solidFill>
            <a:srgbClr val="FFFFFF"/>
          </a:solidFill>
          <a:ln w="35560">
            <a:solidFill>
              <a:srgbClr val="111111"/>
            </a:solidFill>
          </a:ln>
          <a:effectLst>
            <a:outerShdw blurRad="63500" dist="19050" dir="10800000" algn="ctr"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9749412" y="13613923"/>
            <a:ext cx="10804962" cy="4859774"/>
          </a:xfrm>
          <a:prstGeom prst="rect">
            <a:avLst/>
          </a:prstGeom>
          <a:solidFill>
            <a:srgbClr val="FFFFFF"/>
          </a:solidFill>
          <a:ln w="35560">
            <a:solidFill>
              <a:srgbClr val="111111"/>
            </a:solidFill>
          </a:ln>
          <a:effectLst>
            <a:outerShdw blurRad="63500" dist="19050" dir="10800000" algn="ctr"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1887" y="16503590"/>
            <a:ext cx="10804961" cy="13568362"/>
          </a:xfrm>
          <a:prstGeom prst="rect">
            <a:avLst/>
          </a:prstGeom>
          <a:solidFill>
            <a:srgbClr val="FFFFFF"/>
          </a:solidFill>
          <a:ln w="35560">
            <a:solidFill>
              <a:srgbClr val="111111"/>
            </a:solidFill>
          </a:ln>
          <a:effectLst>
            <a:outerShdw blurRad="63500" dist="19050" dir="10800000" algn="ctr"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749412" y="18805544"/>
            <a:ext cx="10804962" cy="6881138"/>
          </a:xfrm>
          <a:prstGeom prst="rect">
            <a:avLst/>
          </a:prstGeom>
          <a:solidFill>
            <a:srgbClr val="ECF3EE"/>
          </a:solidFill>
          <a:ln>
            <a:noFill/>
          </a:ln>
          <a:effectLst>
            <a:outerShdw blurRad="63500" dist="19050" dir="10800000" algn="ctr"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749412" y="18805544"/>
            <a:ext cx="10804962" cy="35560"/>
          </a:xfrm>
          <a:prstGeom prst="rect">
            <a:avLst/>
          </a:prstGeom>
          <a:solidFill>
            <a:srgbClr val="111111"/>
          </a:solidFill>
          <a:ln>
            <a:noFill/>
          </a:ln>
        </p:spPr>
        <p:txBody>
          <a:bodyPr rtlCol="0" anchor="ctr"/>
          <a:lstStyle/>
          <a:p>
            <a:pPr algn="ctr"/>
          </a:p>
        </p:txBody>
      </p:sp>
      <p:sp>
        <p:nvSpPr>
          <p:cNvPr id="10" name="Rectangle 9"/>
          <p:cNvSpPr/>
          <p:nvPr/>
        </p:nvSpPr>
        <p:spPr>
          <a:xfrm>
            <a:off x="50518814" y="18805544"/>
            <a:ext cx="35560" cy="6881138"/>
          </a:xfrm>
          <a:prstGeom prst="rect">
            <a:avLst/>
          </a:prstGeom>
          <a:solidFill>
            <a:srgbClr val="111111"/>
          </a:solidFill>
          <a:ln>
            <a:noFill/>
          </a:ln>
        </p:spPr>
        <p:txBody>
          <a:bodyPr rtlCol="0" anchor="ctr"/>
          <a:lstStyle/>
          <a:p>
            <a:pPr algn="ctr"/>
          </a:p>
        </p:txBody>
      </p:sp>
      <p:sp>
        <p:nvSpPr>
          <p:cNvPr id="11" name="Rectangle 10"/>
          <p:cNvSpPr/>
          <p:nvPr/>
        </p:nvSpPr>
        <p:spPr>
          <a:xfrm>
            <a:off x="39749412" y="25651122"/>
            <a:ext cx="10804962" cy="35560"/>
          </a:xfrm>
          <a:prstGeom prst="rect">
            <a:avLst/>
          </a:prstGeom>
          <a:solidFill>
            <a:srgbClr val="111111"/>
          </a:solidFill>
          <a:ln>
            <a:noFill/>
          </a:ln>
        </p:spPr>
        <p:txBody>
          <a:bodyPr rtlCol="0" anchor="ctr"/>
          <a:lstStyle/>
          <a:p>
            <a:pPr algn="ctr"/>
          </a:p>
        </p:txBody>
      </p:sp>
      <p:sp>
        <p:nvSpPr>
          <p:cNvPr id="12" name="Rectangle 11"/>
          <p:cNvSpPr/>
          <p:nvPr/>
        </p:nvSpPr>
        <p:spPr>
          <a:xfrm>
            <a:off x="39749412" y="18805544"/>
            <a:ext cx="53340" cy="6881138"/>
          </a:xfrm>
          <a:prstGeom prst="rect">
            <a:avLst/>
          </a:prstGeom>
          <a:solidFill>
            <a:srgbClr val="2D5F3E"/>
          </a:solidFill>
          <a:ln>
            <a:noFill/>
          </a:ln>
        </p:spPr>
        <p:txBody>
          <a:bodyPr rtlCol="0" anchor="ctr"/>
          <a:lstStyle/>
          <a:p>
            <a:pPr algn="ctr"/>
          </a:p>
        </p:txBody>
      </p:sp>
      <p:sp>
        <p:nvSpPr>
          <p:cNvPr id="13" name="Rectangle 12"/>
          <p:cNvSpPr/>
          <p:nvPr/>
        </p:nvSpPr>
        <p:spPr>
          <a:xfrm>
            <a:off x="39749412" y="26018529"/>
            <a:ext cx="10804962" cy="4053423"/>
          </a:xfrm>
          <a:prstGeom prst="rect">
            <a:avLst/>
          </a:prstGeom>
          <a:solidFill>
            <a:srgbClr val="FFFFFF"/>
          </a:solidFill>
          <a:ln w="35560">
            <a:solidFill>
              <a:srgbClr val="111111"/>
            </a:solidFill>
          </a:ln>
          <a:effectLst>
            <a:outerShdw blurRad="63500" dist="19050" dir="10800000" algn="ctr"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_venue.png"/>
          <p:cNvPicPr>
            <a:picLocks noChangeAspect="1"/>
          </p:cNvPicPr>
          <p:nvPr/>
        </p:nvPicPr>
        <p:blipFill>
          <a:blip r:embed="rId2"/>
          <a:stretch>
            <a:fillRect/>
          </a:stretch>
        </p:blipFill>
        <p:spPr>
          <a:xfrm>
            <a:off x="20786209" y="3958157"/>
            <a:ext cx="3360558" cy="1466802"/>
          </a:xfrm>
          <a:prstGeom prst="rect">
            <a:avLst/>
          </a:prstGeom>
        </p:spPr>
      </p:pic>
      <p:pic>
        <p:nvPicPr>
          <p:cNvPr id="15" name="Picture 14" descr="johns-hopkins-university.png"/>
          <p:cNvPicPr>
            <a:picLocks noChangeAspect="1"/>
          </p:cNvPicPr>
          <p:nvPr/>
        </p:nvPicPr>
        <p:blipFill>
          <a:blip r:embed="rId3"/>
          <a:stretch>
            <a:fillRect/>
          </a:stretch>
        </p:blipFill>
        <p:spPr>
          <a:xfrm>
            <a:off x="24383742" y="3958139"/>
            <a:ext cx="6036310" cy="1466838"/>
          </a:xfrm>
          <a:prstGeom prst="rect">
            <a:avLst/>
          </a:prstGeom>
        </p:spPr>
      </p:pic>
      <p:sp>
        <p:nvSpPr>
          <p:cNvPr id="16" name="Rectangle 15"/>
          <p:cNvSpPr/>
          <p:nvPr/>
        </p:nvSpPr>
        <p:spPr>
          <a:xfrm>
            <a:off x="40021946" y="11294606"/>
            <a:ext cx="10259894" cy="156797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021946" y="11294606"/>
            <a:ext cx="10259894" cy="11557"/>
          </a:xfrm>
          <a:prstGeom prst="rect">
            <a:avLst/>
          </a:prstGeom>
          <a:solidFill>
            <a:srgbClr val="B6C7BC"/>
          </a:solidFill>
          <a:ln>
            <a:noFill/>
          </a:ln>
        </p:spPr>
        <p:txBody>
          <a:bodyPr rtlCol="0" anchor="ctr"/>
          <a:lstStyle/>
          <a:p>
            <a:pPr algn="ctr"/>
          </a:p>
        </p:txBody>
      </p:sp>
      <p:sp>
        <p:nvSpPr>
          <p:cNvPr id="18" name="Rectangle 17"/>
          <p:cNvSpPr/>
          <p:nvPr/>
        </p:nvSpPr>
        <p:spPr>
          <a:xfrm>
            <a:off x="924421" y="13479462"/>
            <a:ext cx="10259893" cy="21590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4421" y="13479462"/>
            <a:ext cx="124460" cy="2159020"/>
          </a:xfrm>
          <a:prstGeom prst="rect">
            <a:avLst/>
          </a:prstGeom>
          <a:solidFill>
            <a:srgbClr val="2D5F3E"/>
          </a:solidFill>
          <a:ln>
            <a:noFill/>
          </a:ln>
        </p:spPr>
        <p:txBody>
          <a:bodyPr rtlCol="0" anchor="ctr"/>
          <a:lstStyle/>
          <a:p>
            <a:pPr algn="ctr"/>
          </a:p>
        </p:txBody>
      </p:sp>
      <p:sp>
        <p:nvSpPr>
          <p:cNvPr id="20" name="Rounded Rectangle 19"/>
          <p:cNvSpPr/>
          <p:nvPr/>
        </p:nvSpPr>
        <p:spPr>
          <a:xfrm>
            <a:off x="40021946" y="15024377"/>
            <a:ext cx="10259894" cy="3238738"/>
          </a:xfrm>
          <a:prstGeom prst="roundRect">
            <a:avLst>
              <a:gd name="adj" fmla="val 2195"/>
            </a:avLst>
          </a:prstGeom>
          <a:gradFill rotWithShape="1" flip="none">
            <a:gsLst>
              <a:gs pos="0">
                <a:srgbClr val="E6ECE8"/>
              </a:gs>
              <a:gs pos="100000">
                <a:srgbClr val="F2F5F3"/>
              </a:gs>
            </a:gsLst>
            <a:lin ang="5400000" scaled="0"/>
          </a:gradFill>
          <a:ln w="8890">
            <a:solidFill>
              <a:srgbClr val="CAD7CF"/>
            </a:solidFill>
          </a:ln>
          <a:effectLst>
            <a:outerShdw blurRad="63500" dist="19050" dir="10800000" algn="ctr"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883568" y="23155532"/>
            <a:ext cx="13553639" cy="6916420"/>
          </a:xfrm>
          <a:prstGeom prst="rect">
            <a:avLst/>
          </a:prstGeom>
          <a:solidFill>
            <a:srgbClr val="FFFFFF"/>
          </a:solidFill>
          <a:ln w="35560">
            <a:solidFill>
              <a:srgbClr val="111111"/>
            </a:solidFill>
          </a:ln>
          <a:effectLst>
            <a:outerShdw blurRad="63500" dist="19050" dir="10800000" algn="ctr"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769054" y="23155532"/>
            <a:ext cx="13553638" cy="6916420"/>
          </a:xfrm>
          <a:prstGeom prst="rect">
            <a:avLst/>
          </a:prstGeom>
          <a:solidFill>
            <a:srgbClr val="FFFFFF"/>
          </a:solidFill>
          <a:ln w="35560">
            <a:solidFill>
              <a:srgbClr val="111111"/>
            </a:solidFill>
          </a:ln>
          <a:effectLst>
            <a:outerShdw blurRad="63500" dist="19050" dir="10800000" algn="ctr"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039726" y="23763247"/>
            <a:ext cx="10242114" cy="148101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0039726" y="23763247"/>
            <a:ext cx="124460" cy="1481019"/>
          </a:xfrm>
          <a:prstGeom prst="rect">
            <a:avLst/>
          </a:prstGeom>
          <a:solidFill>
            <a:srgbClr val="2D5F3E"/>
          </a:solidFill>
          <a:ln>
            <a:noFill/>
          </a:ln>
        </p:spPr>
        <p:txBody>
          <a:bodyPr rtlCol="0" anchor="ctr"/>
          <a:lstStyle/>
          <a:p>
            <a:pPr algn="ctr"/>
          </a:p>
        </p:txBody>
      </p:sp>
      <p:sp>
        <p:nvSpPr>
          <p:cNvPr id="25" name="Rectangle 24"/>
          <p:cNvSpPr/>
          <p:nvPr/>
        </p:nvSpPr>
        <p:spPr>
          <a:xfrm>
            <a:off x="45738077" y="15246627"/>
            <a:ext cx="4297898" cy="2841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38077" y="15246627"/>
            <a:ext cx="11557" cy="2841744"/>
          </a:xfrm>
          <a:prstGeom prst="rect">
            <a:avLst/>
          </a:prstGeom>
          <a:solidFill>
            <a:srgbClr val="CAD7CF"/>
          </a:solidFill>
          <a:ln>
            <a:noFill/>
          </a:ln>
        </p:spPr>
        <p:txBody>
          <a:bodyPr rtlCol="0" anchor="ctr"/>
          <a:lstStyle/>
          <a:p>
            <a:pPr algn="ctr"/>
          </a:p>
        </p:txBody>
      </p:sp>
      <p:sp>
        <p:nvSpPr>
          <p:cNvPr id="27" name="Rounded Rectangle 26"/>
          <p:cNvSpPr/>
          <p:nvPr/>
        </p:nvSpPr>
        <p:spPr>
          <a:xfrm>
            <a:off x="925949" y="24176632"/>
            <a:ext cx="10256698" cy="4343321"/>
          </a:xfrm>
          <a:prstGeom prst="roundRect">
            <a:avLst>
              <a:gd name="adj" fmla="val 818"/>
            </a:avLst>
          </a:prstGeom>
          <a:solidFill>
            <a:srgbClr val="FFFFFF"/>
          </a:solidFill>
          <a:ln w="8890">
            <a:solidFill>
              <a:srgbClr val="E5E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page3_figure1.png"/>
          <p:cNvPicPr>
            <a:picLocks noChangeAspect="1"/>
          </p:cNvPicPr>
          <p:nvPr/>
        </p:nvPicPr>
        <p:blipFill>
          <a:blip r:embed="rId4"/>
          <a:stretch>
            <a:fillRect/>
          </a:stretch>
        </p:blipFill>
        <p:spPr>
          <a:xfrm>
            <a:off x="926007" y="24176632"/>
            <a:ext cx="10256582" cy="4343321"/>
          </a:xfrm>
          <a:prstGeom prst="rect">
            <a:avLst/>
          </a:prstGeom>
        </p:spPr>
      </p:pic>
      <p:sp>
        <p:nvSpPr>
          <p:cNvPr id="29" name="Rounded Rectangle 28"/>
          <p:cNvSpPr/>
          <p:nvPr/>
        </p:nvSpPr>
        <p:spPr>
          <a:xfrm>
            <a:off x="12853967" y="9339917"/>
            <a:ext cx="25498187" cy="12487672"/>
          </a:xfrm>
          <a:prstGeom prst="roundRect">
            <a:avLst>
              <a:gd name="adj" fmla="val 284"/>
            </a:avLst>
          </a:prstGeom>
          <a:solidFill>
            <a:srgbClr val="FFFFFF"/>
          </a:solidFill>
          <a:ln w="8890">
            <a:solidFill>
              <a:srgbClr val="E5E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page4_figure2.png"/>
          <p:cNvPicPr>
            <a:picLocks noChangeAspect="1"/>
          </p:cNvPicPr>
          <p:nvPr/>
        </p:nvPicPr>
        <p:blipFill>
          <a:blip r:embed="rId5"/>
          <a:stretch>
            <a:fillRect/>
          </a:stretch>
        </p:blipFill>
        <p:spPr>
          <a:xfrm>
            <a:off x="12854071" y="9339917"/>
            <a:ext cx="25497980" cy="12487672"/>
          </a:xfrm>
          <a:prstGeom prst="rect">
            <a:avLst/>
          </a:prstGeom>
        </p:spPr>
      </p:pic>
      <p:sp>
        <p:nvSpPr>
          <p:cNvPr id="31" name="Rounded Rectangle 30"/>
          <p:cNvSpPr/>
          <p:nvPr/>
        </p:nvSpPr>
        <p:spPr>
          <a:xfrm>
            <a:off x="44167047" y="26291063"/>
            <a:ext cx="2841883" cy="2841883"/>
          </a:xfrm>
          <a:prstGeom prst="roundRect">
            <a:avLst>
              <a:gd name="adj" fmla="val 5422"/>
            </a:avLst>
          </a:prstGeom>
          <a:solidFill>
            <a:srgbClr val="FFFFFF"/>
          </a:solidFill>
          <a:ln w="8890">
            <a:solidFill>
              <a:srgbClr val="F0F0F0"/>
            </a:solidFill>
          </a:ln>
          <a:effectLst>
            <a:outerShdw blurRad="63500" dist="19050" dir="10800000" algn="ctr"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paper.png"/>
          <p:cNvPicPr>
            <a:picLocks noChangeAspect="1"/>
          </p:cNvPicPr>
          <p:nvPr/>
        </p:nvPicPr>
        <p:blipFill>
          <a:blip r:embed="rId6"/>
          <a:stretch>
            <a:fillRect/>
          </a:stretch>
        </p:blipFill>
        <p:spPr>
          <a:xfrm>
            <a:off x="44285581" y="26409596"/>
            <a:ext cx="2604816" cy="2604817"/>
          </a:xfrm>
          <a:prstGeom prst="rect">
            <a:avLst/>
          </a:prstGeom>
        </p:spPr>
      </p:pic>
      <p:sp>
        <p:nvSpPr>
          <p:cNvPr id="33" name="Rounded Rectangle 32"/>
          <p:cNvSpPr/>
          <p:nvPr/>
        </p:nvSpPr>
        <p:spPr>
          <a:xfrm>
            <a:off x="47414815" y="26291063"/>
            <a:ext cx="2841882" cy="2841883"/>
          </a:xfrm>
          <a:prstGeom prst="roundRect">
            <a:avLst>
              <a:gd name="adj" fmla="val 5422"/>
            </a:avLst>
          </a:prstGeom>
          <a:solidFill>
            <a:srgbClr val="FFFFFF"/>
          </a:solidFill>
          <a:ln w="8890">
            <a:solidFill>
              <a:srgbClr val="F0F0F0"/>
            </a:solidFill>
          </a:ln>
          <a:effectLst>
            <a:outerShdw blurRad="63500" dist="19050" dir="10800000" algn="ctr"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code.png"/>
          <p:cNvPicPr>
            <a:picLocks noChangeAspect="1"/>
          </p:cNvPicPr>
          <p:nvPr/>
        </p:nvPicPr>
        <p:blipFill>
          <a:blip r:embed="rId7"/>
          <a:stretch>
            <a:fillRect/>
          </a:stretch>
        </p:blipFill>
        <p:spPr>
          <a:xfrm>
            <a:off x="47533348" y="26409596"/>
            <a:ext cx="2604816" cy="2604817"/>
          </a:xfrm>
          <a:prstGeom prst="rect">
            <a:avLst/>
          </a:prstGeom>
        </p:spPr>
      </p:pic>
      <p:sp>
        <p:nvSpPr>
          <p:cNvPr id="35" name="Rounded Rectangle 34"/>
          <p:cNvSpPr/>
          <p:nvPr/>
        </p:nvSpPr>
        <p:spPr>
          <a:xfrm>
            <a:off x="26041588" y="28090316"/>
            <a:ext cx="2877304" cy="819825"/>
          </a:xfrm>
          <a:prstGeom prst="roundRect">
            <a:avLst>
              <a:gd name="adj" fmla="val 50000"/>
            </a:avLst>
          </a:prstGeom>
          <a:solidFill>
            <a:srgbClr val="EAEFE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3490" b="1">
                <a:solidFill>
                  <a:srgbClr val="2D5F3E"/>
                </a:solidFill>
                <a:latin typeface="Arial"/>
              </a:rPr>
              <a:t>Expression</a:t>
            </a:r>
          </a:p>
        </p:txBody>
      </p:sp>
      <p:sp>
        <p:nvSpPr>
          <p:cNvPr id="36" name="Rounded Rectangle 35"/>
          <p:cNvSpPr/>
          <p:nvPr/>
        </p:nvSpPr>
        <p:spPr>
          <a:xfrm>
            <a:off x="29075300" y="28090316"/>
            <a:ext cx="3787974" cy="819825"/>
          </a:xfrm>
          <a:prstGeom prst="roundRect">
            <a:avLst>
              <a:gd name="adj" fmla="val 50000"/>
            </a:avLst>
          </a:prstGeom>
          <a:solidFill>
            <a:srgbClr val="EAEFE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3490" b="1">
                <a:solidFill>
                  <a:srgbClr val="2D5F3E"/>
                </a:solidFill>
                <a:latin typeface="Arial"/>
              </a:rPr>
              <a:t>Thermostability</a:t>
            </a:r>
          </a:p>
        </p:txBody>
      </p:sp>
      <p:sp>
        <p:nvSpPr>
          <p:cNvPr id="37" name="Rounded Rectangle 36"/>
          <p:cNvSpPr/>
          <p:nvPr/>
        </p:nvSpPr>
        <p:spPr>
          <a:xfrm>
            <a:off x="33019682" y="28090316"/>
            <a:ext cx="3886180" cy="819825"/>
          </a:xfrm>
          <a:prstGeom prst="roundRect">
            <a:avLst>
              <a:gd name="adj" fmla="val 50000"/>
            </a:avLst>
          </a:prstGeom>
          <a:solidFill>
            <a:srgbClr val="EAEFE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3490" b="1">
                <a:solidFill>
                  <a:srgbClr val="2D5F3E"/>
                </a:solidFill>
                <a:latin typeface="Arial"/>
              </a:rPr>
              <a:t>Immunogenicity</a:t>
            </a:r>
          </a:p>
        </p:txBody>
      </p:sp>
      <p:sp>
        <p:nvSpPr>
          <p:cNvPr id="38" name="Rounded Rectangle 37"/>
          <p:cNvSpPr/>
          <p:nvPr/>
        </p:nvSpPr>
        <p:spPr>
          <a:xfrm>
            <a:off x="26041588" y="29066549"/>
            <a:ext cx="3097748" cy="819825"/>
          </a:xfrm>
          <a:prstGeom prst="roundRect">
            <a:avLst>
              <a:gd name="adj" fmla="val 50000"/>
            </a:avLst>
          </a:prstGeom>
          <a:solidFill>
            <a:srgbClr val="EAEFE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3490" b="1">
                <a:solidFill>
                  <a:srgbClr val="2D5F3E"/>
                </a:solidFill>
                <a:latin typeface="Arial"/>
              </a:rPr>
              <a:t>Aggregation</a:t>
            </a:r>
          </a:p>
        </p:txBody>
      </p:sp>
      <p:sp>
        <p:nvSpPr>
          <p:cNvPr id="39" name="Rounded Rectangle 38"/>
          <p:cNvSpPr/>
          <p:nvPr/>
        </p:nvSpPr>
        <p:spPr>
          <a:xfrm>
            <a:off x="29295744" y="29066549"/>
            <a:ext cx="3370283" cy="819825"/>
          </a:xfrm>
          <a:prstGeom prst="roundRect">
            <a:avLst>
              <a:gd name="adj" fmla="val 50000"/>
            </a:avLst>
          </a:prstGeom>
          <a:solidFill>
            <a:srgbClr val="EAEFE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3490" b="1">
                <a:solidFill>
                  <a:srgbClr val="2D5F3E"/>
                </a:solidFill>
                <a:latin typeface="Arial"/>
              </a:rPr>
              <a:t>Polyreactivity</a:t>
            </a:r>
          </a:p>
        </p:txBody>
      </p:sp>
      <p:sp>
        <p:nvSpPr>
          <p:cNvPr id="40" name="Rounded Rectangle 39"/>
          <p:cNvSpPr/>
          <p:nvPr/>
        </p:nvSpPr>
        <p:spPr>
          <a:xfrm>
            <a:off x="32822435" y="29066549"/>
            <a:ext cx="2137073" cy="819825"/>
          </a:xfrm>
          <a:prstGeom prst="roundRect">
            <a:avLst>
              <a:gd name="adj" fmla="val 50000"/>
            </a:avLst>
          </a:prstGeom>
          <a:solidFill>
            <a:srgbClr val="EAEFE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3490" b="1">
                <a:solidFill>
                  <a:srgbClr val="2D5F3E"/>
                </a:solidFill>
                <a:latin typeface="Arial"/>
              </a:rPr>
              <a:t>Binding</a:t>
            </a:r>
          </a:p>
        </p:txBody>
      </p:sp>
      <p:sp>
        <p:nvSpPr>
          <p:cNvPr id="41" name="Rounded Rectangle 40"/>
          <p:cNvSpPr/>
          <p:nvPr/>
        </p:nvSpPr>
        <p:spPr>
          <a:xfrm>
            <a:off x="45004235" y="29275186"/>
            <a:ext cx="1167369" cy="524232"/>
          </a:xfrm>
          <a:prstGeom prst="roundRect">
            <a:avLst>
              <a:gd name="adj" fmla="val 50000"/>
            </a:avLst>
          </a:prstGeom>
          <a:solidFill>
            <a:srgbClr val="E6F0E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333" b="1">
                <a:solidFill>
                  <a:srgbClr val="2D5F3E"/>
                </a:solidFill>
                <a:latin typeface="Arial"/>
              </a:rPr>
              <a:t>Code</a:t>
            </a:r>
          </a:p>
        </p:txBody>
      </p:sp>
      <p:sp>
        <p:nvSpPr>
          <p:cNvPr id="42" name="Rounded Rectangle 41"/>
          <p:cNvSpPr/>
          <p:nvPr/>
        </p:nvSpPr>
        <p:spPr>
          <a:xfrm>
            <a:off x="48111290" y="29275186"/>
            <a:ext cx="1448793" cy="524232"/>
          </a:xfrm>
          <a:prstGeom prst="roundRect">
            <a:avLst>
              <a:gd name="adj" fmla="val 50000"/>
            </a:avLst>
          </a:prstGeom>
          <a:solidFill>
            <a:srgbClr val="E6F0E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333" b="1">
                <a:solidFill>
                  <a:srgbClr val="2D5F3E"/>
                </a:solidFill>
                <a:latin typeface="Arial"/>
              </a:rPr>
              <a:t>Project</a:t>
            </a:r>
          </a:p>
        </p:txBody>
      </p:sp>
      <p:sp>
        <p:nvSpPr>
          <p:cNvPr id="43" name="Rounded Rectangle 42"/>
          <p:cNvSpPr/>
          <p:nvPr/>
        </p:nvSpPr>
        <p:spPr>
          <a:xfrm>
            <a:off x="40021946" y="26970593"/>
            <a:ext cx="3764359" cy="1353224"/>
          </a:xfrm>
          <a:prstGeom prst="roundRect">
            <a:avLst>
              <a:gd name="adj" fmla="val 10511"/>
            </a:avLst>
          </a:prstGeom>
          <a:solidFill>
            <a:srgbClr val="E6F0EA"/>
          </a:solidFill>
          <a:ln w="17780">
            <a:solidFill>
              <a:srgbClr val="2D5F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0021946" y="28454111"/>
            <a:ext cx="3764359" cy="1353225"/>
          </a:xfrm>
          <a:prstGeom prst="roundRect">
            <a:avLst>
              <a:gd name="adj" fmla="val 10511"/>
            </a:avLst>
          </a:prstGeom>
          <a:solidFill>
            <a:srgbClr val="E6F0EA"/>
          </a:solidFill>
          <a:ln w="17780">
            <a:solidFill>
              <a:srgbClr val="2D5F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315581" y="1007487"/>
            <a:ext cx="49001957" cy="1379533"/>
          </a:xfrm>
          <a:prstGeom prst="rect">
            <a:avLst/>
          </a:prstGeom>
          <a:noFill/>
        </p:spPr>
        <p:txBody>
          <a:bodyPr wrap="square" lIns="0" rIns="0" tIns="0" bIns="0">
            <a:spAutoFit/>
          </a:bodyPr>
          <a:lstStyle/>
          <a:p>
            <a:pPr algn="ctr">
              <a:lnSpc>
                <a:spcPts val="9445"/>
              </a:lnSpc>
              <a:spcBef>
                <a:spcPts val="0"/>
              </a:spcBef>
              <a:spcAft>
                <a:spcPts val="0"/>
              </a:spcAft>
            </a:pPr>
            <a:r>
              <a:rPr sz="8586" b="1" spc="-85">
                <a:solidFill>
                  <a:srgbClr val="2D5F3E"/>
                </a:solidFill>
                <a:latin typeface="Arial"/>
              </a:rPr>
              <a:t>FLAb: Benchmarking Deep Learning Methods for Antibody Fitness Prediction</a:t>
            </a:r>
          </a:p>
        </p:txBody>
      </p:sp>
      <p:sp>
        <p:nvSpPr>
          <p:cNvPr id="46" name="TextBox 45"/>
          <p:cNvSpPr txBox="1"/>
          <p:nvPr/>
        </p:nvSpPr>
        <p:spPr>
          <a:xfrm>
            <a:off x="1315581" y="2446972"/>
            <a:ext cx="49001957" cy="779701"/>
          </a:xfrm>
          <a:prstGeom prst="rect">
            <a:avLst/>
          </a:prstGeom>
          <a:noFill/>
        </p:spPr>
        <p:txBody>
          <a:bodyPr wrap="square" lIns="0" rIns="0" tIns="0" bIns="0">
            <a:spAutoFit/>
          </a:bodyPr>
          <a:lstStyle/>
          <a:p>
            <a:pPr algn="ctr">
              <a:lnSpc>
                <a:spcPts val="5338"/>
              </a:lnSpc>
              <a:spcBef>
                <a:spcPts val="0"/>
              </a:spcBef>
              <a:spcAft>
                <a:spcPts val="0"/>
              </a:spcAft>
            </a:pPr>
            <a:r>
              <a:rPr sz="4106" b="0">
                <a:solidFill>
                  <a:srgbClr val="1B2331"/>
                </a:solidFill>
                <a:latin typeface="Arial"/>
              </a:rPr>
              <a:t>Michael Chungyoun</a:t>
            </a:r>
            <a:r>
              <a:rPr sz="5749" b="0" baseline="30000">
                <a:solidFill>
                  <a:srgbClr val="1B2331"/>
                </a:solidFill>
                <a:latin typeface="Arial"/>
              </a:rPr>
              <a:t>1</a:t>
            </a:r>
            <a:r>
              <a:rPr sz="4106" b="0">
                <a:solidFill>
                  <a:srgbClr val="1B2331"/>
                </a:solidFill>
                <a:latin typeface="Arial"/>
              </a:rPr>
              <a:t>, Jeffrey Ruffolo</a:t>
            </a:r>
            <a:r>
              <a:rPr sz="5749" b="0" baseline="30000">
                <a:solidFill>
                  <a:srgbClr val="1B2331"/>
                </a:solidFill>
                <a:latin typeface="Arial"/>
              </a:rPr>
              <a:t>1</a:t>
            </a:r>
            <a:r>
              <a:rPr sz="4106" b="0">
                <a:solidFill>
                  <a:srgbClr val="1B2331"/>
                </a:solidFill>
                <a:latin typeface="Arial"/>
              </a:rPr>
              <a:t>, Jeffrey Gray</a:t>
            </a:r>
            <a:r>
              <a:rPr sz="5749" b="0" baseline="30000">
                <a:solidFill>
                  <a:srgbClr val="1B2331"/>
                </a:solidFill>
                <a:latin typeface="Arial"/>
              </a:rPr>
              <a:t>1</a:t>
            </a:r>
          </a:p>
        </p:txBody>
      </p:sp>
      <p:sp>
        <p:nvSpPr>
          <p:cNvPr id="47" name="TextBox 46"/>
          <p:cNvSpPr txBox="1"/>
          <p:nvPr/>
        </p:nvSpPr>
        <p:spPr>
          <a:xfrm>
            <a:off x="1315581" y="3181786"/>
            <a:ext cx="49001957" cy="592963"/>
          </a:xfrm>
          <a:prstGeom prst="rect">
            <a:avLst/>
          </a:prstGeom>
          <a:noFill/>
        </p:spPr>
        <p:txBody>
          <a:bodyPr wrap="square" lIns="0" rIns="0" tIns="0" bIns="0">
            <a:spAutoFit/>
          </a:bodyPr>
          <a:lstStyle/>
          <a:p>
            <a:pPr algn="ctr">
              <a:lnSpc>
                <a:spcPts val="4060"/>
              </a:lnSpc>
              <a:spcBef>
                <a:spcPts val="0"/>
              </a:spcBef>
              <a:spcAft>
                <a:spcPts val="0"/>
              </a:spcAft>
            </a:pPr>
            <a:r>
              <a:rPr sz="2430" b="0" spc="56" baseline="30000">
                <a:solidFill>
                  <a:srgbClr val="55617A"/>
                </a:solidFill>
                <a:latin typeface="Arial"/>
              </a:rPr>
              <a:t>1</a:t>
            </a:r>
            <a:r>
              <a:rPr sz="2800" b="0" spc="56">
                <a:solidFill>
                  <a:srgbClr val="55617A"/>
                </a:solidFill>
                <a:latin typeface="Arial"/>
              </a:rPr>
              <a:t> Johns Hopkins University</a:t>
            </a:r>
          </a:p>
        </p:txBody>
      </p:sp>
      <p:sp>
        <p:nvSpPr>
          <p:cNvPr id="48" name="TextBox 47"/>
          <p:cNvSpPr txBox="1"/>
          <p:nvPr/>
        </p:nvSpPr>
        <p:spPr>
          <a:xfrm>
            <a:off x="924421" y="6527065"/>
            <a:ext cx="10567689" cy="899667"/>
          </a:xfrm>
          <a:prstGeom prst="rect">
            <a:avLst/>
          </a:prstGeom>
          <a:noFill/>
        </p:spPr>
        <p:txBody>
          <a:bodyPr wrap="square" lIns="0" rIns="3911600" tIns="0" bIns="0">
            <a:spAutoFit/>
          </a:bodyPr>
          <a:lstStyle/>
          <a:p>
            <a:pPr algn="l">
              <a:lnSpc>
                <a:spcPts val="6160"/>
              </a:lnSpc>
              <a:spcBef>
                <a:spcPts val="0"/>
              </a:spcBef>
              <a:spcAft>
                <a:spcPts val="0"/>
              </a:spcAft>
            </a:pPr>
            <a:r>
              <a:rPr sz="5600" b="1" spc="56">
                <a:solidFill>
                  <a:srgbClr val="111111"/>
                </a:solidFill>
                <a:latin typeface="Arial"/>
              </a:rPr>
              <a:t>PROBLEM </a:t>
            </a:r>
          </a:p>
        </p:txBody>
      </p:sp>
      <p:sp>
        <p:nvSpPr>
          <p:cNvPr id="49" name="TextBox 48"/>
          <p:cNvSpPr txBox="1"/>
          <p:nvPr/>
        </p:nvSpPr>
        <p:spPr>
          <a:xfrm>
            <a:off x="12156102" y="6527065"/>
            <a:ext cx="27320776" cy="899667"/>
          </a:xfrm>
          <a:prstGeom prst="rect">
            <a:avLst/>
          </a:prstGeom>
          <a:noFill/>
        </p:spPr>
        <p:txBody>
          <a:bodyPr wrap="none" lIns="0" rIns="3911600" tIns="0" bIns="0">
            <a:spAutoFit/>
          </a:bodyPr>
          <a:lstStyle/>
          <a:p>
            <a:pPr algn="l">
              <a:lnSpc>
                <a:spcPts val="6160"/>
              </a:lnSpc>
              <a:spcBef>
                <a:spcPts val="0"/>
              </a:spcBef>
              <a:spcAft>
                <a:spcPts val="0"/>
              </a:spcAft>
            </a:pPr>
            <a:r>
              <a:rPr sz="5600" b="1" spc="56">
                <a:solidFill>
                  <a:srgbClr val="111111"/>
                </a:solidFill>
                <a:latin typeface="Arial"/>
              </a:rPr>
              <a:t>METHOD </a:t>
            </a:r>
          </a:p>
        </p:txBody>
      </p:sp>
      <p:sp>
        <p:nvSpPr>
          <p:cNvPr id="50" name="TextBox 49"/>
          <p:cNvSpPr txBox="1"/>
          <p:nvPr/>
        </p:nvSpPr>
        <p:spPr>
          <a:xfrm>
            <a:off x="40021946" y="6527065"/>
            <a:ext cx="10567690" cy="899667"/>
          </a:xfrm>
          <a:prstGeom prst="rect">
            <a:avLst/>
          </a:prstGeom>
          <a:noFill/>
        </p:spPr>
        <p:txBody>
          <a:bodyPr wrap="square" lIns="0" rIns="3911600" tIns="0" bIns="0">
            <a:spAutoFit/>
          </a:bodyPr>
          <a:lstStyle/>
          <a:p>
            <a:pPr algn="l">
              <a:lnSpc>
                <a:spcPts val="6160"/>
              </a:lnSpc>
              <a:spcBef>
                <a:spcPts val="0"/>
              </a:spcBef>
              <a:spcAft>
                <a:spcPts val="0"/>
              </a:spcAft>
            </a:pPr>
            <a:r>
              <a:rPr sz="5600" b="1" spc="56">
                <a:solidFill>
                  <a:srgbClr val="111111"/>
                </a:solidFill>
                <a:latin typeface="Arial"/>
              </a:rPr>
              <a:t>ABLATION STUDY </a:t>
            </a:r>
          </a:p>
        </p:txBody>
      </p:sp>
      <p:sp>
        <p:nvSpPr>
          <p:cNvPr id="51" name="TextBox 50"/>
          <p:cNvSpPr txBox="1"/>
          <p:nvPr/>
        </p:nvSpPr>
        <p:spPr>
          <a:xfrm>
            <a:off x="924421" y="7777360"/>
            <a:ext cx="10567689" cy="6087455"/>
          </a:xfrm>
          <a:prstGeom prst="rect">
            <a:avLst/>
          </a:prstGeom>
          <a:noFill/>
        </p:spPr>
        <p:txBody>
          <a:bodyPr wrap="square" lIns="0" rIns="0" tIns="0" bIns="0">
            <a:spAutoFit/>
          </a:bodyPr>
          <a:lstStyle/>
          <a:p>
            <a:pPr algn="l">
              <a:lnSpc>
                <a:spcPts val="5954"/>
              </a:lnSpc>
              <a:spcBef>
                <a:spcPts val="0"/>
              </a:spcBef>
              <a:spcAft>
                <a:spcPts val="0"/>
              </a:spcAft>
            </a:pPr>
            <a:r>
              <a:rPr sz="4106" b="0">
                <a:solidFill>
                  <a:srgbClr val="1C1C1C"/>
                </a:solidFill>
                <a:latin typeface="Arial"/>
              </a:rPr>
              <a:t>Major protein fitness benchmarks (CAFA, TAPE, FLIP) </a:t>
            </a:r>
            <a:r>
              <a:rPr sz="4106" b="1">
                <a:solidFill>
                  <a:srgbClr val="111111"/>
                </a:solidFill>
                <a:latin typeface="Arial"/>
              </a:rPr>
              <a:t>exclude antibody data</a:t>
            </a:r>
            <a:r>
              <a:rPr sz="4106" b="0">
                <a:solidFill>
                  <a:srgbClr val="1C1C1C"/>
                </a:solidFill>
                <a:latin typeface="Arial"/>
              </a:rPr>
              <a:t> or use very little of it, leaving no systematic way to test how well deep learning models capture therapeutic antibody fitness. As new methods proliferate, there is no shared yardstick to compare them.</a:t>
            </a:r>
          </a:p>
        </p:txBody>
      </p:sp>
      <p:sp>
        <p:nvSpPr>
          <p:cNvPr id="52" name="TextBox 51"/>
          <p:cNvSpPr txBox="1"/>
          <p:nvPr/>
        </p:nvSpPr>
        <p:spPr>
          <a:xfrm>
            <a:off x="40021946" y="11294606"/>
            <a:ext cx="10567690" cy="1803168"/>
          </a:xfrm>
          <a:prstGeom prst="rect">
            <a:avLst/>
          </a:prstGeom>
          <a:noFill/>
        </p:spPr>
        <p:txBody>
          <a:bodyPr wrap="square" lIns="0" rIns="0" tIns="215920" bIns="0">
            <a:spAutoFit/>
          </a:bodyPr>
          <a:lstStyle/>
          <a:p>
            <a:pPr algn="l">
              <a:lnSpc>
                <a:spcPts val="5289"/>
              </a:lnSpc>
              <a:spcBef>
                <a:spcPts val="0"/>
              </a:spcBef>
              <a:spcAft>
                <a:spcPts val="0"/>
              </a:spcAft>
            </a:pPr>
            <a:r>
              <a:rPr sz="2946" b="1" spc="176">
                <a:solidFill>
                  <a:srgbClr val="111111"/>
                </a:solidFill>
                <a:latin typeface="Arial"/>
              </a:rPr>
              <a:t>SO WHAT → </a:t>
            </a:r>
            <a:r>
              <a:rPr sz="3778" b="0" i="1">
                <a:solidFill>
                  <a:srgbClr val="1C1C1C"/>
                </a:solidFill>
                <a:latin typeface="Arial"/>
              </a:rPr>
              <a:t>Evolutionary bias misranks golimumab; Rosetta wins.</a:t>
            </a:r>
          </a:p>
        </p:txBody>
      </p:sp>
      <p:sp>
        <p:nvSpPr>
          <p:cNvPr id="53" name="TextBox 52"/>
          <p:cNvSpPr txBox="1"/>
          <p:nvPr/>
        </p:nvSpPr>
        <p:spPr>
          <a:xfrm>
            <a:off x="924421" y="13479462"/>
            <a:ext cx="10567689" cy="2482873"/>
          </a:xfrm>
          <a:prstGeom prst="rect">
            <a:avLst/>
          </a:prstGeom>
          <a:noFill/>
        </p:spPr>
        <p:txBody>
          <a:bodyPr wrap="square" lIns="365082" rIns="365082" tIns="62585" bIns="62585">
            <a:spAutoFit/>
          </a:bodyPr>
          <a:lstStyle/>
          <a:p>
            <a:pPr algn="l">
              <a:lnSpc>
                <a:spcPts val="5338"/>
              </a:lnSpc>
              <a:spcBef>
                <a:spcPts val="0"/>
              </a:spcBef>
              <a:spcAft>
                <a:spcPts val="0"/>
              </a:spcAft>
            </a:pPr>
            <a:r>
              <a:rPr sz="4106" b="0" i="1">
                <a:solidFill>
                  <a:srgbClr val="1C1C1C"/>
                </a:solidFill>
                <a:latin typeface="Arial"/>
              </a:rPr>
              <a:t>Antibody methods are still judged by weak proxies like native sequence recovery.</a:t>
            </a:r>
          </a:p>
        </p:txBody>
      </p:sp>
      <p:sp>
        <p:nvSpPr>
          <p:cNvPr id="54" name="TextBox 53"/>
          <p:cNvSpPr txBox="1"/>
          <p:nvPr/>
        </p:nvSpPr>
        <p:spPr>
          <a:xfrm>
            <a:off x="40021946" y="13886457"/>
            <a:ext cx="10567690" cy="899667"/>
          </a:xfrm>
          <a:prstGeom prst="rect">
            <a:avLst/>
          </a:prstGeom>
          <a:noFill/>
        </p:spPr>
        <p:txBody>
          <a:bodyPr wrap="square" lIns="0" rIns="0" tIns="0" bIns="0">
            <a:spAutoFit/>
          </a:bodyPr>
          <a:lstStyle/>
          <a:p>
            <a:pPr algn="l">
              <a:lnSpc>
                <a:spcPts val="6160"/>
              </a:lnSpc>
              <a:spcBef>
                <a:spcPts val="0"/>
              </a:spcBef>
              <a:spcAft>
                <a:spcPts val="0"/>
              </a:spcAft>
            </a:pPr>
            <a:r>
              <a:rPr sz="5600" b="1" spc="56">
                <a:solidFill>
                  <a:srgbClr val="111111"/>
                </a:solidFill>
                <a:latin typeface="Arial"/>
              </a:rPr>
              <a:t>HEADLINE NUMBERS</a:t>
            </a:r>
          </a:p>
        </p:txBody>
      </p:sp>
      <p:sp>
        <p:nvSpPr>
          <p:cNvPr id="55" name="TextBox 54"/>
          <p:cNvSpPr txBox="1"/>
          <p:nvPr/>
        </p:nvSpPr>
        <p:spPr>
          <a:xfrm>
            <a:off x="924421" y="16776124"/>
            <a:ext cx="10567689" cy="899667"/>
          </a:xfrm>
          <a:prstGeom prst="rect">
            <a:avLst/>
          </a:prstGeom>
          <a:noFill/>
        </p:spPr>
        <p:txBody>
          <a:bodyPr wrap="square" lIns="0" rIns="3911600" tIns="0" bIns="0">
            <a:spAutoFit/>
          </a:bodyPr>
          <a:lstStyle/>
          <a:p>
            <a:pPr algn="l">
              <a:lnSpc>
                <a:spcPts val="6160"/>
              </a:lnSpc>
              <a:spcBef>
                <a:spcPts val="0"/>
              </a:spcBef>
              <a:spcAft>
                <a:spcPts val="0"/>
              </a:spcAft>
            </a:pPr>
            <a:r>
              <a:rPr sz="5600" b="1" spc="56">
                <a:solidFill>
                  <a:srgbClr val="111111"/>
                </a:solidFill>
                <a:latin typeface="Arial"/>
              </a:rPr>
              <a:t>MOTIVATION </a:t>
            </a:r>
          </a:p>
        </p:txBody>
      </p:sp>
      <p:sp>
        <p:nvSpPr>
          <p:cNvPr id="56" name="TextBox 55"/>
          <p:cNvSpPr txBox="1"/>
          <p:nvPr/>
        </p:nvSpPr>
        <p:spPr>
          <a:xfrm>
            <a:off x="40039726" y="19078078"/>
            <a:ext cx="10549377" cy="899667"/>
          </a:xfrm>
          <a:prstGeom prst="rect">
            <a:avLst/>
          </a:prstGeom>
          <a:noFill/>
        </p:spPr>
        <p:txBody>
          <a:bodyPr wrap="square" lIns="0" rIns="3911600" tIns="0" bIns="0">
            <a:spAutoFit/>
          </a:bodyPr>
          <a:lstStyle/>
          <a:p>
            <a:pPr algn="l">
              <a:lnSpc>
                <a:spcPts val="6160"/>
              </a:lnSpc>
              <a:spcBef>
                <a:spcPts val="0"/>
              </a:spcBef>
              <a:spcAft>
                <a:spcPts val="0"/>
              </a:spcAft>
            </a:pPr>
            <a:r>
              <a:rPr sz="5600" b="1" spc="56">
                <a:solidFill>
                  <a:srgbClr val="111111"/>
                </a:solidFill>
                <a:latin typeface="Arial"/>
              </a:rPr>
              <a:t>TAKEAWAY </a:t>
            </a:r>
          </a:p>
        </p:txBody>
      </p:sp>
      <p:sp>
        <p:nvSpPr>
          <p:cNvPr id="57" name="TextBox 56"/>
          <p:cNvSpPr txBox="1"/>
          <p:nvPr/>
        </p:nvSpPr>
        <p:spPr>
          <a:xfrm>
            <a:off x="40039726" y="20329068"/>
            <a:ext cx="10549377" cy="3478546"/>
          </a:xfrm>
          <a:prstGeom prst="rect">
            <a:avLst/>
          </a:prstGeom>
          <a:noFill/>
        </p:spPr>
        <p:txBody>
          <a:bodyPr wrap="square" lIns="0" rIns="0" tIns="0" bIns="0">
            <a:spAutoFit/>
          </a:bodyPr>
          <a:lstStyle/>
          <a:p>
            <a:pPr algn="l">
              <a:lnSpc>
                <a:spcPts val="5954"/>
              </a:lnSpc>
              <a:spcBef>
                <a:spcPts val="0"/>
              </a:spcBef>
              <a:spcAft>
                <a:spcPts val="0"/>
              </a:spcAft>
            </a:pPr>
            <a:r>
              <a:rPr sz="4106" b="0">
                <a:solidFill>
                  <a:srgbClr val="1C1C1C"/>
                </a:solidFill>
                <a:latin typeface="Arial"/>
              </a:rPr>
              <a:t>No deep learning model reliably predicts antibody fitness across all six properties — much work remains before models can filter candidates.</a:t>
            </a:r>
          </a:p>
        </p:txBody>
      </p:sp>
      <p:sp>
        <p:nvSpPr>
          <p:cNvPr id="58" name="TextBox 57"/>
          <p:cNvSpPr txBox="1"/>
          <p:nvPr/>
        </p:nvSpPr>
        <p:spPr>
          <a:xfrm>
            <a:off x="40039726" y="23763247"/>
            <a:ext cx="10549377" cy="1703171"/>
          </a:xfrm>
          <a:prstGeom prst="rect">
            <a:avLst/>
          </a:prstGeom>
          <a:noFill/>
        </p:spPr>
        <p:txBody>
          <a:bodyPr wrap="square" lIns="365082" rIns="365082" tIns="62585" bIns="62585">
            <a:spAutoFit/>
          </a:bodyPr>
          <a:lstStyle/>
          <a:p>
            <a:pPr algn="l">
              <a:lnSpc>
                <a:spcPts val="5338"/>
              </a:lnSpc>
              <a:spcBef>
                <a:spcPts val="0"/>
              </a:spcBef>
              <a:spcAft>
                <a:spcPts val="0"/>
              </a:spcAft>
            </a:pPr>
            <a:r>
              <a:rPr sz="4106" b="0" i="1">
                <a:solidFill>
                  <a:srgbClr val="1C1C1C"/>
                </a:solidFill>
                <a:latin typeface="Arial"/>
              </a:rPr>
              <a:t>Path forward: add structure and physics-based priors.</a:t>
            </a:r>
          </a:p>
        </p:txBody>
      </p:sp>
      <p:sp>
        <p:nvSpPr>
          <p:cNvPr id="59" name="TextBox 58"/>
          <p:cNvSpPr txBox="1"/>
          <p:nvPr/>
        </p:nvSpPr>
        <p:spPr>
          <a:xfrm>
            <a:off x="40021928" y="7767081"/>
            <a:ext cx="10567709" cy="1739273"/>
          </a:xfrm>
          <a:prstGeom prst="rect">
            <a:avLst/>
          </a:prstGeom>
          <a:noFill/>
        </p:spPr>
        <p:txBody>
          <a:bodyPr wrap="square" lIns="0" rIns="0" tIns="0" bIns="0">
            <a:spAutoFit/>
          </a:bodyPr>
          <a:lstStyle/>
          <a:p>
            <a:pPr algn="l" marL="573701" indent="-573701">
              <a:lnSpc>
                <a:spcPts val="5954"/>
              </a:lnSpc>
              <a:spcBef>
                <a:spcPts val="0"/>
              </a:spcBef>
              <a:spcAft>
                <a:spcPts val="0"/>
              </a:spcAft>
              <a:buClr>
                <a:srgbClr val="111111"/>
              </a:buClr>
              <a:buFont typeface="Arial" panose="020B0604020202020204" pitchFamily="34" charset="0"/>
              <a:buChar char="•"/>
            </a:pPr>
            <a:r>
              <a:rPr sz="4106" b="1">
                <a:solidFill>
                  <a:srgbClr val="111111"/>
                </a:solidFill>
                <a:latin typeface="Arial"/>
              </a:rPr>
              <a:t>Parameter size beats architecture</a:t>
            </a:r>
            <a:r>
              <a:rPr sz="4106" b="0">
                <a:solidFill>
                  <a:srgbClr val="1C1C1C"/>
                </a:solidFill>
                <a:latin typeface="Arial"/>
              </a:rPr>
              <a:t> (AntiBERTy ≈ IgLM).</a:t>
            </a:r>
          </a:p>
        </p:txBody>
      </p:sp>
      <p:sp>
        <p:nvSpPr>
          <p:cNvPr id="60" name="TextBox 59"/>
          <p:cNvSpPr txBox="1"/>
          <p:nvPr/>
        </p:nvSpPr>
        <p:spPr>
          <a:xfrm>
            <a:off x="40021928" y="9462015"/>
            <a:ext cx="10567709" cy="1739273"/>
          </a:xfrm>
          <a:prstGeom prst="rect">
            <a:avLst/>
          </a:prstGeom>
          <a:noFill/>
        </p:spPr>
        <p:txBody>
          <a:bodyPr wrap="square" lIns="0" rIns="0" tIns="0" bIns="0">
            <a:spAutoFit/>
          </a:bodyPr>
          <a:lstStyle/>
          <a:p>
            <a:pPr algn="l" marL="573701" indent="-573701">
              <a:lnSpc>
                <a:spcPts val="5954"/>
              </a:lnSpc>
              <a:spcBef>
                <a:spcPts val="0"/>
              </a:spcBef>
              <a:spcAft>
                <a:spcPts val="0"/>
              </a:spcAft>
              <a:buClr>
                <a:srgbClr val="1C1C1C"/>
              </a:buClr>
              <a:buFont typeface="Arial" panose="020B0604020202020204" pitchFamily="34" charset="0"/>
              <a:buChar char="•"/>
            </a:pPr>
            <a:r>
              <a:rPr sz="4106" b="0">
                <a:solidFill>
                  <a:srgbClr val="1C1C1C"/>
                </a:solidFill>
                <a:latin typeface="Arial"/>
              </a:rPr>
              <a:t>Scaling ProGen2 </a:t>
            </a:r>
            <a:r>
              <a:rPr sz="4106" b="1">
                <a:solidFill>
                  <a:srgbClr val="111111"/>
                </a:solidFill>
                <a:latin typeface="Arial"/>
              </a:rPr>
              <a:t>151M → 6.4B</a:t>
            </a:r>
            <a:r>
              <a:rPr sz="4106" b="0">
                <a:solidFill>
                  <a:srgbClr val="1C1C1C"/>
                </a:solidFill>
                <a:latin typeface="Arial"/>
              </a:rPr>
              <a:t> helped only two properties.</a:t>
            </a:r>
          </a:p>
        </p:txBody>
      </p:sp>
      <p:sp>
        <p:nvSpPr>
          <p:cNvPr id="61" name="TextBox 60"/>
          <p:cNvSpPr txBox="1"/>
          <p:nvPr/>
        </p:nvSpPr>
        <p:spPr>
          <a:xfrm>
            <a:off x="924402" y="18067952"/>
            <a:ext cx="10567709" cy="3478546"/>
          </a:xfrm>
          <a:prstGeom prst="rect">
            <a:avLst/>
          </a:prstGeom>
          <a:noFill/>
        </p:spPr>
        <p:txBody>
          <a:bodyPr wrap="square" lIns="0" rIns="0" tIns="0" bIns="0">
            <a:spAutoFit/>
          </a:bodyPr>
          <a:lstStyle/>
          <a:p>
            <a:pPr algn="l" marL="573701" indent="-573701">
              <a:lnSpc>
                <a:spcPts val="5954"/>
              </a:lnSpc>
              <a:spcBef>
                <a:spcPts val="0"/>
              </a:spcBef>
              <a:spcAft>
                <a:spcPts val="0"/>
              </a:spcAft>
              <a:buClr>
                <a:srgbClr val="1C1C1C"/>
              </a:buClr>
              <a:buFont typeface="Arial" panose="020B0604020202020204" pitchFamily="34" charset="0"/>
              <a:buChar char="•"/>
            </a:pPr>
            <a:r>
              <a:rPr sz="4106" b="0">
                <a:solidFill>
                  <a:srgbClr val="1C1C1C"/>
                </a:solidFill>
                <a:latin typeface="Arial"/>
              </a:rPr>
              <a:t>A therapeutic antibody must jointly satisfy </a:t>
            </a:r>
            <a:r>
              <a:rPr sz="4106" b="1">
                <a:solidFill>
                  <a:srgbClr val="111111"/>
                </a:solidFill>
                <a:latin typeface="Arial"/>
              </a:rPr>
              <a:t>six developability properties</a:t>
            </a:r>
            <a:r>
              <a:rPr sz="4106" b="0">
                <a:solidFill>
                  <a:srgbClr val="1C1C1C"/>
                </a:solidFill>
                <a:latin typeface="Arial"/>
              </a:rPr>
              <a:t> with intricate trade-offs — improving one often hurts another.</a:t>
            </a:r>
          </a:p>
        </p:txBody>
      </p:sp>
      <p:sp>
        <p:nvSpPr>
          <p:cNvPr id="62" name="TextBox 61"/>
          <p:cNvSpPr txBox="1"/>
          <p:nvPr/>
        </p:nvSpPr>
        <p:spPr>
          <a:xfrm>
            <a:off x="924402" y="21275297"/>
            <a:ext cx="10567709" cy="2608909"/>
          </a:xfrm>
          <a:prstGeom prst="rect">
            <a:avLst/>
          </a:prstGeom>
          <a:noFill/>
        </p:spPr>
        <p:txBody>
          <a:bodyPr wrap="square" lIns="0" rIns="0" tIns="0" bIns="0">
            <a:spAutoFit/>
          </a:bodyPr>
          <a:lstStyle/>
          <a:p>
            <a:pPr algn="l" marL="573701" indent="-573701">
              <a:lnSpc>
                <a:spcPts val="5954"/>
              </a:lnSpc>
              <a:spcBef>
                <a:spcPts val="0"/>
              </a:spcBef>
              <a:spcAft>
                <a:spcPts val="0"/>
              </a:spcAft>
              <a:buClr>
                <a:srgbClr val="1C1C1C"/>
              </a:buClr>
              <a:buFont typeface="Arial" panose="020B0604020202020204" pitchFamily="34" charset="0"/>
              <a:buChar char="•"/>
            </a:pPr>
            <a:r>
              <a:rPr sz="4106" b="0">
                <a:solidFill>
                  <a:srgbClr val="1C1C1C"/>
                </a:solidFill>
                <a:latin typeface="Arial"/>
              </a:rPr>
              <a:t>Reliable model scoring could filter candidates far faster than slow, costly wet-lab screening.</a:t>
            </a:r>
          </a:p>
        </p:txBody>
      </p:sp>
      <p:sp>
        <p:nvSpPr>
          <p:cNvPr id="63" name="TextBox 62"/>
          <p:cNvSpPr txBox="1"/>
          <p:nvPr/>
        </p:nvSpPr>
        <p:spPr>
          <a:xfrm>
            <a:off x="12156102" y="23428067"/>
            <a:ext cx="13398827" cy="899667"/>
          </a:xfrm>
          <a:prstGeom prst="rect">
            <a:avLst/>
          </a:prstGeom>
          <a:noFill/>
        </p:spPr>
        <p:txBody>
          <a:bodyPr wrap="square" lIns="0" rIns="3911600" tIns="0" bIns="0">
            <a:spAutoFit/>
          </a:bodyPr>
          <a:lstStyle/>
          <a:p>
            <a:pPr algn="l">
              <a:lnSpc>
                <a:spcPts val="6160"/>
              </a:lnSpc>
              <a:spcBef>
                <a:spcPts val="0"/>
              </a:spcBef>
              <a:spcAft>
                <a:spcPts val="0"/>
              </a:spcAft>
            </a:pPr>
            <a:r>
              <a:rPr sz="5600" b="1" spc="56">
                <a:solidFill>
                  <a:srgbClr val="111111"/>
                </a:solidFill>
                <a:latin typeface="Arial"/>
              </a:rPr>
              <a:t>KEY RESULTS </a:t>
            </a:r>
          </a:p>
        </p:txBody>
      </p:sp>
      <p:sp>
        <p:nvSpPr>
          <p:cNvPr id="64" name="TextBox 63"/>
          <p:cNvSpPr txBox="1"/>
          <p:nvPr/>
        </p:nvSpPr>
        <p:spPr>
          <a:xfrm>
            <a:off x="26041588" y="23428067"/>
            <a:ext cx="13398827" cy="899667"/>
          </a:xfrm>
          <a:prstGeom prst="rect">
            <a:avLst/>
          </a:prstGeom>
          <a:noFill/>
        </p:spPr>
        <p:txBody>
          <a:bodyPr wrap="square" lIns="0" rIns="3911600" tIns="0" bIns="0">
            <a:spAutoFit/>
          </a:bodyPr>
          <a:lstStyle/>
          <a:p>
            <a:pPr algn="l">
              <a:lnSpc>
                <a:spcPts val="6160"/>
              </a:lnSpc>
              <a:spcBef>
                <a:spcPts val="0"/>
              </a:spcBef>
              <a:spcAft>
                <a:spcPts val="0"/>
              </a:spcAft>
            </a:pPr>
            <a:r>
              <a:rPr sz="5600" b="1" spc="56">
                <a:solidFill>
                  <a:srgbClr val="111111"/>
                </a:solidFill>
                <a:latin typeface="Arial"/>
              </a:rPr>
              <a:t>DATASET / BENCHMARK </a:t>
            </a:r>
          </a:p>
        </p:txBody>
      </p:sp>
      <p:sp>
        <p:nvSpPr>
          <p:cNvPr id="65" name="TextBox 64"/>
          <p:cNvSpPr txBox="1"/>
          <p:nvPr/>
        </p:nvSpPr>
        <p:spPr>
          <a:xfrm>
            <a:off x="1336278" y="28669555"/>
            <a:ext cx="9719121" cy="1278576"/>
          </a:xfrm>
          <a:prstGeom prst="rect">
            <a:avLst/>
          </a:prstGeom>
          <a:noFill/>
        </p:spPr>
        <p:txBody>
          <a:bodyPr wrap="square" lIns="0" rIns="0" tIns="0" bIns="0">
            <a:spAutoFit/>
          </a:bodyPr>
          <a:lstStyle/>
          <a:p>
            <a:pPr algn="ctr">
              <a:lnSpc>
                <a:spcPts val="4377"/>
              </a:lnSpc>
              <a:spcBef>
                <a:spcPts val="0"/>
              </a:spcBef>
              <a:spcAft>
                <a:spcPts val="0"/>
              </a:spcAft>
            </a:pPr>
            <a:r>
              <a:rPr sz="3367" b="0" i="1">
                <a:solidFill>
                  <a:srgbClr val="555555"/>
                </a:solidFill>
                <a:latin typeface="Arial"/>
              </a:rPr>
              <a:t>Perplexity vs. fitness: correct on thermostability (r = −0.84), wrong on immunogenicity (r = 0.48).</a:t>
            </a:r>
          </a:p>
        </p:txBody>
      </p:sp>
      <p:sp>
        <p:nvSpPr>
          <p:cNvPr id="66" name="TextBox 65"/>
          <p:cNvSpPr txBox="1"/>
          <p:nvPr/>
        </p:nvSpPr>
        <p:spPr>
          <a:xfrm>
            <a:off x="12156084" y="7629425"/>
            <a:ext cx="27320794" cy="1559403"/>
          </a:xfrm>
          <a:prstGeom prst="rect">
            <a:avLst/>
          </a:prstGeom>
          <a:noFill/>
        </p:spPr>
        <p:txBody>
          <a:bodyPr wrap="square" lIns="0" rIns="0" tIns="0" bIns="0">
            <a:spAutoFit/>
          </a:bodyPr>
          <a:lstStyle/>
          <a:p>
            <a:pPr algn="l" marL="573701" indent="-573701">
              <a:lnSpc>
                <a:spcPts val="5338"/>
              </a:lnSpc>
              <a:spcBef>
                <a:spcPts val="0"/>
              </a:spcBef>
              <a:spcAft>
                <a:spcPts val="0"/>
              </a:spcAft>
              <a:buClr>
                <a:srgbClr val="1C1C1C"/>
              </a:buClr>
              <a:buFont typeface="Arial" panose="020B0604020202020204" pitchFamily="34" charset="0"/>
              <a:buChar char="•"/>
            </a:pPr>
            <a:r>
              <a:rPr sz="4106" b="0">
                <a:solidFill>
                  <a:srgbClr val="1C1C1C"/>
                </a:solidFill>
                <a:latin typeface="Arial"/>
              </a:rPr>
              <a:t>Each antibody is scored by a model's </a:t>
            </a:r>
            <a:r>
              <a:rPr sz="4106" b="1">
                <a:solidFill>
                  <a:srgbClr val="111111"/>
                </a:solidFill>
                <a:latin typeface="Arial"/>
              </a:rPr>
              <a:t>(pseudo-)perplexity</a:t>
            </a:r>
            <a:r>
              <a:rPr sz="4106" b="0">
                <a:solidFill>
                  <a:srgbClr val="1C1C1C"/>
                </a:solidFill>
                <a:latin typeface="Arial"/>
              </a:rPr>
              <a:t> (low = high confidence) and correlated with measured fitness; six pretrained models are benchmarked </a:t>
            </a:r>
            <a:r>
              <a:rPr sz="4106" b="1">
                <a:solidFill>
                  <a:srgbClr val="111111"/>
                </a:solidFill>
                <a:latin typeface="Arial"/>
              </a:rPr>
              <a:t>with no fine-tuning</a:t>
            </a:r>
            <a:r>
              <a:rPr sz="4106" b="0">
                <a:solidFill>
                  <a:srgbClr val="1C1C1C"/>
                </a:solidFill>
                <a:latin typeface="Arial"/>
              </a:rPr>
              <a:t> against physics-based Rosetta.</a:t>
            </a:r>
          </a:p>
        </p:txBody>
      </p:sp>
      <p:sp>
        <p:nvSpPr>
          <p:cNvPr id="67" name="TextBox 66"/>
          <p:cNvSpPr txBox="1"/>
          <p:nvPr/>
        </p:nvSpPr>
        <p:spPr>
          <a:xfrm>
            <a:off x="40267810" y="15571251"/>
            <a:ext cx="5043481" cy="1294870"/>
          </a:xfrm>
          <a:prstGeom prst="rect">
            <a:avLst/>
          </a:prstGeom>
          <a:noFill/>
        </p:spPr>
        <p:txBody>
          <a:bodyPr wrap="none" lIns="0" rIns="0" tIns="0" bIns="0">
            <a:spAutoFit/>
          </a:bodyPr>
          <a:lstStyle/>
          <a:p>
            <a:pPr algn="l">
              <a:lnSpc>
                <a:spcPts val="8866"/>
              </a:lnSpc>
              <a:spcBef>
                <a:spcPts val="0"/>
              </a:spcBef>
              <a:spcAft>
                <a:spcPts val="0"/>
              </a:spcAft>
            </a:pPr>
            <a:r>
              <a:rPr sz="9333" b="1" spc="-186">
                <a:solidFill>
                  <a:srgbClr val="2D5F3E"/>
                </a:solidFill>
                <a:latin typeface="Arial"/>
              </a:rPr>
              <a:t>13,384</a:t>
            </a:r>
          </a:p>
        </p:txBody>
      </p:sp>
      <p:sp>
        <p:nvSpPr>
          <p:cNvPr id="68" name="TextBox 67"/>
          <p:cNvSpPr txBox="1"/>
          <p:nvPr/>
        </p:nvSpPr>
        <p:spPr>
          <a:xfrm>
            <a:off x="40267810" y="16720839"/>
            <a:ext cx="5043481" cy="1199344"/>
          </a:xfrm>
          <a:prstGeom prst="rect">
            <a:avLst/>
          </a:prstGeom>
          <a:noFill/>
        </p:spPr>
        <p:txBody>
          <a:bodyPr wrap="square" lIns="0" rIns="0" tIns="0" bIns="0">
            <a:spAutoFit/>
          </a:bodyPr>
          <a:lstStyle/>
          <a:p>
            <a:pPr algn="l">
              <a:lnSpc>
                <a:spcPts val="4106"/>
              </a:lnSpc>
              <a:spcBef>
                <a:spcPts val="0"/>
              </a:spcBef>
              <a:spcAft>
                <a:spcPts val="0"/>
              </a:spcAft>
            </a:pPr>
            <a:r>
              <a:rPr sz="3733" b="1">
                <a:solidFill>
                  <a:srgbClr val="1C1C1C"/>
                </a:solidFill>
                <a:latin typeface="Arial"/>
              </a:rPr>
              <a:t>experimental fitness measurements</a:t>
            </a:r>
          </a:p>
        </p:txBody>
      </p:sp>
      <p:sp>
        <p:nvSpPr>
          <p:cNvPr id="69" name="TextBox 68"/>
          <p:cNvSpPr txBox="1"/>
          <p:nvPr/>
        </p:nvSpPr>
        <p:spPr>
          <a:xfrm>
            <a:off x="17410370" y="21977191"/>
            <a:ext cx="16811962" cy="639288"/>
          </a:xfrm>
          <a:prstGeom prst="rect">
            <a:avLst/>
          </a:prstGeom>
          <a:noFill/>
        </p:spPr>
        <p:txBody>
          <a:bodyPr wrap="square" lIns="0" rIns="0" tIns="0" bIns="0">
            <a:spAutoFit/>
          </a:bodyPr>
          <a:lstStyle/>
          <a:p>
            <a:pPr algn="ctr">
              <a:lnSpc>
                <a:spcPts val="4377"/>
              </a:lnSpc>
              <a:spcBef>
                <a:spcPts val="0"/>
              </a:spcBef>
              <a:spcAft>
                <a:spcPts val="0"/>
              </a:spcAft>
            </a:pPr>
            <a:r>
              <a:rPr sz="3367" b="0" i="1">
                <a:solidFill>
                  <a:srgbClr val="555555"/>
                </a:solidFill>
                <a:latin typeface="Arial"/>
              </a:rPr>
              <a:t>Perplexity correlation with six properties across all model–dataset pairs (blue = useful).</a:t>
            </a:r>
          </a:p>
        </p:txBody>
      </p:sp>
      <p:sp>
        <p:nvSpPr>
          <p:cNvPr id="70" name="TextBox 69"/>
          <p:cNvSpPr txBox="1"/>
          <p:nvPr/>
        </p:nvSpPr>
        <p:spPr>
          <a:xfrm>
            <a:off x="12156084" y="24530427"/>
            <a:ext cx="13398845" cy="2915135"/>
          </a:xfrm>
          <a:prstGeom prst="rect">
            <a:avLst/>
          </a:prstGeom>
          <a:noFill/>
        </p:spPr>
        <p:txBody>
          <a:bodyPr wrap="square" lIns="0" rIns="0" tIns="0" bIns="0">
            <a:spAutoFit/>
          </a:bodyPr>
          <a:lstStyle/>
          <a:p>
            <a:pPr algn="l" marL="573701" indent="-573701">
              <a:lnSpc>
                <a:spcPts val="6652"/>
              </a:lnSpc>
              <a:spcBef>
                <a:spcPts val="0"/>
              </a:spcBef>
              <a:spcAft>
                <a:spcPts val="0"/>
              </a:spcAft>
              <a:buClr>
                <a:srgbClr val="111111"/>
              </a:buClr>
              <a:buFont typeface="Arial" panose="020B0604020202020204" pitchFamily="34" charset="0"/>
              <a:buChar char="•"/>
            </a:pPr>
            <a:r>
              <a:rPr sz="4106" b="1">
                <a:solidFill>
                  <a:srgbClr val="111111"/>
                </a:solidFill>
                <a:latin typeface="Arial"/>
              </a:rPr>
              <a:t>No model correlates well with all six developability properties</a:t>
            </a:r>
            <a:r>
              <a:rPr sz="4106" b="0">
                <a:solidFill>
                  <a:srgbClr val="1C1C1C"/>
                </a:solidFill>
                <a:latin typeface="Arial"/>
              </a:rPr>
              <a:t>, and accuracy swings from one dataset to the next within a single property.</a:t>
            </a:r>
          </a:p>
        </p:txBody>
      </p:sp>
      <p:sp>
        <p:nvSpPr>
          <p:cNvPr id="71" name="TextBox 70"/>
          <p:cNvSpPr txBox="1"/>
          <p:nvPr/>
        </p:nvSpPr>
        <p:spPr>
          <a:xfrm>
            <a:off x="26041569" y="24530427"/>
            <a:ext cx="13398846" cy="1739272"/>
          </a:xfrm>
          <a:prstGeom prst="rect">
            <a:avLst/>
          </a:prstGeom>
          <a:noFill/>
        </p:spPr>
        <p:txBody>
          <a:bodyPr wrap="square" lIns="0" rIns="0" tIns="0" bIns="0">
            <a:spAutoFit/>
          </a:bodyPr>
          <a:lstStyle/>
          <a:p>
            <a:pPr algn="l" marL="573701" indent="-573701">
              <a:lnSpc>
                <a:spcPts val="5954"/>
              </a:lnSpc>
              <a:spcBef>
                <a:spcPts val="0"/>
              </a:spcBef>
              <a:spcAft>
                <a:spcPts val="0"/>
              </a:spcAft>
              <a:buClr>
                <a:srgbClr val="111111"/>
              </a:buClr>
              <a:buFont typeface="Arial" panose="020B0604020202020204" pitchFamily="34" charset="0"/>
              <a:buChar char="•"/>
            </a:pPr>
            <a:r>
              <a:rPr sz="4106" b="1">
                <a:solidFill>
                  <a:srgbClr val="111111"/>
                </a:solidFill>
                <a:latin typeface="Arial"/>
              </a:rPr>
              <a:t>17 mutational landscapes</a:t>
            </a:r>
            <a:r>
              <a:rPr sz="4106" b="0">
                <a:solidFill>
                  <a:srgbClr val="1C1C1C"/>
                </a:solidFill>
                <a:latin typeface="Arial"/>
              </a:rPr>
              <a:t> from 8 studies, totaling 13,384 fitness measurements.</a:t>
            </a:r>
          </a:p>
        </p:txBody>
      </p:sp>
      <p:sp>
        <p:nvSpPr>
          <p:cNvPr id="72" name="TextBox 71"/>
          <p:cNvSpPr txBox="1"/>
          <p:nvPr/>
        </p:nvSpPr>
        <p:spPr>
          <a:xfrm>
            <a:off x="26041569" y="26225361"/>
            <a:ext cx="13398846" cy="1934796"/>
          </a:xfrm>
          <a:prstGeom prst="rect">
            <a:avLst/>
          </a:prstGeom>
          <a:noFill/>
        </p:spPr>
        <p:txBody>
          <a:bodyPr wrap="square" lIns="0" rIns="0" tIns="0" bIns="0">
            <a:spAutoFit/>
          </a:bodyPr>
          <a:lstStyle/>
          <a:p>
            <a:pPr algn="l" marL="573701" indent="-573701">
              <a:lnSpc>
                <a:spcPts val="5954"/>
              </a:lnSpc>
              <a:spcBef>
                <a:spcPts val="0"/>
              </a:spcBef>
              <a:spcAft>
                <a:spcPts val="0"/>
              </a:spcAft>
              <a:buClr>
                <a:srgbClr val="1C1C1C"/>
              </a:buClr>
              <a:buFont typeface="Arial" panose="020B0604020202020204" pitchFamily="34" charset="0"/>
              <a:buChar char="•"/>
            </a:pPr>
            <a:r>
              <a:rPr sz="4106" b="0">
                <a:solidFill>
                  <a:srgbClr val="1C1C1C"/>
                </a:solidFill>
                <a:latin typeface="Arial"/>
              </a:rPr>
              <a:t>Each property has its own experimental unit — T</a:t>
            </a:r>
            <a:r>
              <a:rPr sz="5749" b="0" baseline="-25000">
                <a:solidFill>
                  <a:srgbClr val="1C1C1C"/>
                </a:solidFill>
                <a:latin typeface="Arial"/>
              </a:rPr>
              <a:t>m</a:t>
            </a:r>
            <a:r>
              <a:rPr sz="4106" b="0">
                <a:solidFill>
                  <a:srgbClr val="1C1C1C"/>
                </a:solidFill>
                <a:latin typeface="Arial"/>
              </a:rPr>
              <a:t>, % ADA, µg/mL, and K</a:t>
            </a:r>
            <a:r>
              <a:rPr sz="5749" b="0" baseline="-25000">
                <a:solidFill>
                  <a:srgbClr val="1C1C1C"/>
                </a:solidFill>
                <a:latin typeface="Arial"/>
              </a:rPr>
              <a:t>D</a:t>
            </a:r>
            <a:r>
              <a:rPr sz="4106" b="0">
                <a:solidFill>
                  <a:srgbClr val="1C1C1C"/>
                </a:solidFill>
                <a:latin typeface="Arial"/>
              </a:rPr>
              <a:t> binding affinity.</a:t>
            </a:r>
          </a:p>
        </p:txBody>
      </p:sp>
      <p:sp>
        <p:nvSpPr>
          <p:cNvPr id="73" name="TextBox 72"/>
          <p:cNvSpPr txBox="1"/>
          <p:nvPr/>
        </p:nvSpPr>
        <p:spPr>
          <a:xfrm>
            <a:off x="40021946" y="26283285"/>
            <a:ext cx="3877289" cy="572356"/>
          </a:xfrm>
          <a:prstGeom prst="rect">
            <a:avLst/>
          </a:prstGeom>
          <a:noFill/>
        </p:spPr>
        <p:txBody>
          <a:bodyPr wrap="square" lIns="0" rIns="0" tIns="0" bIns="0">
            <a:spAutoFit/>
          </a:bodyPr>
          <a:lstStyle/>
          <a:p>
            <a:pPr algn="l">
              <a:lnSpc>
                <a:spcPts val="3920"/>
              </a:lnSpc>
              <a:spcBef>
                <a:spcPts val="0"/>
              </a:spcBef>
              <a:spcAft>
                <a:spcPts val="0"/>
              </a:spcAft>
            </a:pPr>
            <a:r>
              <a:rPr sz="3733" b="1" spc="37">
                <a:solidFill>
                  <a:srgbClr val="2D5F3E"/>
                </a:solidFill>
                <a:latin typeface="Arial"/>
              </a:rPr>
              <a:t>SCAN TO READ</a:t>
            </a:r>
          </a:p>
        </p:txBody>
      </p:sp>
      <p:sp>
        <p:nvSpPr>
          <p:cNvPr id="74" name="TextBox 73"/>
          <p:cNvSpPr txBox="1"/>
          <p:nvPr/>
        </p:nvSpPr>
        <p:spPr>
          <a:xfrm>
            <a:off x="12156084" y="27247850"/>
            <a:ext cx="13398845" cy="2915135"/>
          </a:xfrm>
          <a:prstGeom prst="rect">
            <a:avLst/>
          </a:prstGeom>
          <a:noFill/>
        </p:spPr>
        <p:txBody>
          <a:bodyPr wrap="square" lIns="0" rIns="0" tIns="0" bIns="0">
            <a:spAutoFit/>
          </a:bodyPr>
          <a:lstStyle/>
          <a:p>
            <a:pPr algn="l" marL="573701" indent="-573701">
              <a:lnSpc>
                <a:spcPts val="6652"/>
              </a:lnSpc>
              <a:spcBef>
                <a:spcPts val="0"/>
              </a:spcBef>
              <a:spcAft>
                <a:spcPts val="0"/>
              </a:spcAft>
              <a:buClr>
                <a:srgbClr val="1C1C1C"/>
              </a:buClr>
              <a:buFont typeface="Arial" panose="020B0604020202020204" pitchFamily="34" charset="0"/>
              <a:buChar char="•"/>
            </a:pPr>
            <a:r>
              <a:rPr sz="4106" b="0">
                <a:solidFill>
                  <a:srgbClr val="1C1C1C"/>
                </a:solidFill>
                <a:latin typeface="Arial"/>
              </a:rPr>
              <a:t>Sequence-based models beat structure-based ones across every landscape; </a:t>
            </a:r>
            <a:r>
              <a:rPr sz="4106" b="1">
                <a:solidFill>
                  <a:srgbClr val="111111"/>
                </a:solidFill>
                <a:latin typeface="Arial"/>
              </a:rPr>
              <a:t>ProGen2-Small</a:t>
            </a:r>
            <a:r>
              <a:rPr sz="4106" b="0">
                <a:solidFill>
                  <a:srgbClr val="1C1C1C"/>
                </a:solidFill>
                <a:latin typeface="Arial"/>
              </a:rPr>
              <a:t> is the most frequent winner, top on 7 of 17 datasets.</a:t>
            </a:r>
          </a:p>
        </p:txBody>
      </p:sp>
      <p:sp>
        <p:nvSpPr>
          <p:cNvPr id="75" name="TextBox 74"/>
          <p:cNvSpPr txBox="1"/>
          <p:nvPr/>
        </p:nvSpPr>
        <p:spPr>
          <a:xfrm>
            <a:off x="46216331" y="15246627"/>
            <a:ext cx="533521" cy="545200"/>
          </a:xfrm>
          <a:prstGeom prst="rect">
            <a:avLst/>
          </a:prstGeom>
          <a:noFill/>
        </p:spPr>
        <p:txBody>
          <a:bodyPr wrap="none" lIns="0" rIns="0" tIns="0" bIns="0">
            <a:spAutoFit/>
          </a:bodyPr>
          <a:lstStyle/>
          <a:p>
            <a:pPr algn="l">
              <a:lnSpc>
                <a:spcPts val="3733"/>
              </a:lnSpc>
              <a:spcBef>
                <a:spcPts val="0"/>
              </a:spcBef>
              <a:spcAft>
                <a:spcPts val="0"/>
              </a:spcAft>
            </a:pPr>
            <a:r>
              <a:rPr sz="3733" b="1" spc="-37">
                <a:solidFill>
                  <a:srgbClr val="AE2622"/>
                </a:solidFill>
                <a:latin typeface="Arial"/>
              </a:rPr>
              <a:t>17</a:t>
            </a:r>
          </a:p>
        </p:txBody>
      </p:sp>
      <p:sp>
        <p:nvSpPr>
          <p:cNvPr id="76" name="TextBox 75"/>
          <p:cNvSpPr txBox="1"/>
          <p:nvPr/>
        </p:nvSpPr>
        <p:spPr>
          <a:xfrm>
            <a:off x="46916836" y="15308857"/>
            <a:ext cx="3212713" cy="981455"/>
          </a:xfrm>
          <a:prstGeom prst="rect">
            <a:avLst/>
          </a:prstGeom>
          <a:noFill/>
        </p:spPr>
        <p:txBody>
          <a:bodyPr wrap="square" lIns="0" rIns="0" tIns="0" bIns="0">
            <a:spAutoFit/>
          </a:bodyPr>
          <a:lstStyle/>
          <a:p>
            <a:pPr algn="l">
              <a:lnSpc>
                <a:spcPts val="3360"/>
              </a:lnSpc>
              <a:spcBef>
                <a:spcPts val="0"/>
              </a:spcBef>
              <a:spcAft>
                <a:spcPts val="0"/>
              </a:spcAft>
            </a:pPr>
            <a:r>
              <a:rPr sz="2800" b="0">
                <a:solidFill>
                  <a:srgbClr val="555555"/>
                </a:solidFill>
                <a:latin typeface="Arial"/>
              </a:rPr>
              <a:t>mutational landscapes</a:t>
            </a:r>
          </a:p>
        </p:txBody>
      </p:sp>
      <p:sp>
        <p:nvSpPr>
          <p:cNvPr id="77" name="TextBox 76"/>
          <p:cNvSpPr txBox="1"/>
          <p:nvPr/>
        </p:nvSpPr>
        <p:spPr>
          <a:xfrm>
            <a:off x="46216331" y="16423024"/>
            <a:ext cx="266832" cy="545200"/>
          </a:xfrm>
          <a:prstGeom prst="rect">
            <a:avLst/>
          </a:prstGeom>
          <a:noFill/>
        </p:spPr>
        <p:txBody>
          <a:bodyPr wrap="none" lIns="0" rIns="0" tIns="0" bIns="0">
            <a:spAutoFit/>
          </a:bodyPr>
          <a:lstStyle/>
          <a:p>
            <a:pPr algn="l">
              <a:lnSpc>
                <a:spcPts val="3733"/>
              </a:lnSpc>
              <a:spcBef>
                <a:spcPts val="0"/>
              </a:spcBef>
              <a:spcAft>
                <a:spcPts val="0"/>
              </a:spcAft>
            </a:pPr>
            <a:r>
              <a:rPr sz="3733" b="1" spc="-37">
                <a:solidFill>
                  <a:srgbClr val="AE2622"/>
                </a:solidFill>
                <a:latin typeface="Arial"/>
              </a:rPr>
              <a:t>6</a:t>
            </a:r>
          </a:p>
        </p:txBody>
      </p:sp>
      <p:sp>
        <p:nvSpPr>
          <p:cNvPr id="78" name="TextBox 77"/>
          <p:cNvSpPr txBox="1"/>
          <p:nvPr/>
        </p:nvSpPr>
        <p:spPr>
          <a:xfrm>
            <a:off x="46657914" y="16485254"/>
            <a:ext cx="3479402" cy="981455"/>
          </a:xfrm>
          <a:prstGeom prst="rect">
            <a:avLst/>
          </a:prstGeom>
          <a:noFill/>
        </p:spPr>
        <p:txBody>
          <a:bodyPr wrap="square" lIns="0" rIns="0" tIns="0" bIns="0">
            <a:spAutoFit/>
          </a:bodyPr>
          <a:lstStyle/>
          <a:p>
            <a:pPr algn="l">
              <a:lnSpc>
                <a:spcPts val="3360"/>
              </a:lnSpc>
              <a:spcBef>
                <a:spcPts val="0"/>
              </a:spcBef>
              <a:spcAft>
                <a:spcPts val="0"/>
              </a:spcAft>
            </a:pPr>
            <a:r>
              <a:rPr sz="2800" b="0">
                <a:solidFill>
                  <a:srgbClr val="555555"/>
                </a:solidFill>
                <a:latin typeface="Arial"/>
              </a:rPr>
              <a:t>developability properties</a:t>
            </a:r>
          </a:p>
        </p:txBody>
      </p:sp>
      <p:sp>
        <p:nvSpPr>
          <p:cNvPr id="79" name="TextBox 78"/>
          <p:cNvSpPr txBox="1"/>
          <p:nvPr/>
        </p:nvSpPr>
        <p:spPr>
          <a:xfrm>
            <a:off x="46216331" y="17599421"/>
            <a:ext cx="266832" cy="545200"/>
          </a:xfrm>
          <a:prstGeom prst="rect">
            <a:avLst/>
          </a:prstGeom>
          <a:noFill/>
        </p:spPr>
        <p:txBody>
          <a:bodyPr wrap="none" lIns="0" rIns="0" tIns="0" bIns="0">
            <a:spAutoFit/>
          </a:bodyPr>
          <a:lstStyle/>
          <a:p>
            <a:pPr algn="l">
              <a:lnSpc>
                <a:spcPts val="3733"/>
              </a:lnSpc>
              <a:spcBef>
                <a:spcPts val="0"/>
              </a:spcBef>
              <a:spcAft>
                <a:spcPts val="0"/>
              </a:spcAft>
            </a:pPr>
            <a:r>
              <a:rPr sz="3733" b="1" spc="-37">
                <a:solidFill>
                  <a:srgbClr val="AE2622"/>
                </a:solidFill>
                <a:latin typeface="Arial"/>
              </a:rPr>
              <a:t>8</a:t>
            </a:r>
          </a:p>
        </p:txBody>
      </p:sp>
      <p:sp>
        <p:nvSpPr>
          <p:cNvPr id="80" name="TextBox 79"/>
          <p:cNvSpPr txBox="1"/>
          <p:nvPr/>
        </p:nvSpPr>
        <p:spPr>
          <a:xfrm>
            <a:off x="46657914" y="17661651"/>
            <a:ext cx="2361713" cy="490727"/>
          </a:xfrm>
          <a:prstGeom prst="rect">
            <a:avLst/>
          </a:prstGeom>
          <a:noFill/>
        </p:spPr>
        <p:txBody>
          <a:bodyPr wrap="square" lIns="0" rIns="0" tIns="0" bIns="0">
            <a:spAutoFit/>
          </a:bodyPr>
          <a:lstStyle/>
          <a:p>
            <a:pPr algn="l">
              <a:lnSpc>
                <a:spcPts val="3360"/>
              </a:lnSpc>
              <a:spcBef>
                <a:spcPts val="0"/>
              </a:spcBef>
              <a:spcAft>
                <a:spcPts val="0"/>
              </a:spcAft>
            </a:pPr>
            <a:r>
              <a:rPr sz="2800" b="0">
                <a:solidFill>
                  <a:srgbClr val="555555"/>
                </a:solidFill>
                <a:latin typeface="Arial"/>
              </a:rPr>
              <a:t>source studies</a:t>
            </a:r>
          </a:p>
        </p:txBody>
      </p:sp>
      <p:sp>
        <p:nvSpPr>
          <p:cNvPr id="81" name="TextBox 80"/>
          <p:cNvSpPr txBox="1"/>
          <p:nvPr/>
        </p:nvSpPr>
        <p:spPr>
          <a:xfrm>
            <a:off x="40021946" y="26970593"/>
            <a:ext cx="3877289" cy="1556207"/>
          </a:xfrm>
          <a:prstGeom prst="rect">
            <a:avLst/>
          </a:prstGeom>
          <a:noFill/>
        </p:spPr>
        <p:txBody>
          <a:bodyPr wrap="none" lIns="237066" rIns="237066" tIns="154093" bIns="154093">
            <a:spAutoFit/>
          </a:bodyPr>
          <a:lstStyle/>
          <a:p>
            <a:pPr algn="l">
              <a:lnSpc>
                <a:spcPts val="2464"/>
              </a:lnSpc>
              <a:spcBef>
                <a:spcPts val="0"/>
              </a:spcBef>
              <a:spcAft>
                <a:spcPts val="0"/>
              </a:spcAft>
            </a:pPr>
            <a:r>
              <a:rPr sz="2240" b="1">
                <a:solidFill>
                  <a:srgbClr val="2D5F3E"/>
                </a:solidFill>
                <a:latin typeface="Arial"/>
              </a:rPr>
              <a:t>Code &amp; Data</a:t>
            </a:r>
          </a:p>
          <a:p>
            <a:pPr algn="l">
              <a:lnSpc>
                <a:spcPts val="2464"/>
              </a:lnSpc>
              <a:spcBef>
                <a:spcPts val="0"/>
              </a:spcBef>
              <a:spcAft>
                <a:spcPts val="0"/>
              </a:spcAft>
            </a:pPr>
            <a:r>
              <a:rPr sz="2053" b="0">
                <a:solidFill>
                  <a:srgbClr val="555555"/>
                </a:solidFill>
                <a:latin typeface="JetBrains Mono"/>
              </a:rPr>
              <a:t>github.com/Graylab/FLAb</a:t>
            </a:r>
          </a:p>
        </p:txBody>
      </p:sp>
      <p:sp>
        <p:nvSpPr>
          <p:cNvPr id="82" name="TextBox 81"/>
          <p:cNvSpPr txBox="1"/>
          <p:nvPr/>
        </p:nvSpPr>
        <p:spPr>
          <a:xfrm>
            <a:off x="40021946" y="28454111"/>
            <a:ext cx="3877289" cy="1556208"/>
          </a:xfrm>
          <a:prstGeom prst="rect">
            <a:avLst/>
          </a:prstGeom>
          <a:noFill/>
        </p:spPr>
        <p:txBody>
          <a:bodyPr wrap="none" lIns="237066" rIns="237066" tIns="154093" bIns="154093">
            <a:spAutoFit/>
          </a:bodyPr>
          <a:lstStyle/>
          <a:p>
            <a:pPr algn="l">
              <a:lnSpc>
                <a:spcPts val="2464"/>
              </a:lnSpc>
              <a:spcBef>
                <a:spcPts val="0"/>
              </a:spcBef>
              <a:spcAft>
                <a:spcPts val="0"/>
              </a:spcAft>
            </a:pPr>
            <a:r>
              <a:rPr sz="2240" b="1">
                <a:solidFill>
                  <a:srgbClr val="2D5F3E"/>
                </a:solidFill>
                <a:latin typeface="Arial"/>
              </a:rPr>
              <a:t>Preprint</a:t>
            </a:r>
          </a:p>
          <a:p>
            <a:pPr algn="l">
              <a:lnSpc>
                <a:spcPts val="2464"/>
              </a:lnSpc>
              <a:spcBef>
                <a:spcPts val="0"/>
              </a:spcBef>
              <a:spcAft>
                <a:spcPts val="0"/>
              </a:spcAft>
            </a:pPr>
            <a:r>
              <a:rPr sz="2053" b="0">
                <a:solidFill>
                  <a:srgbClr val="555555"/>
                </a:solidFill>
                <a:latin typeface="JetBrains Mono"/>
              </a:rPr>
              <a:t>biorxiv.org/10.1101/2024.01.13.575504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
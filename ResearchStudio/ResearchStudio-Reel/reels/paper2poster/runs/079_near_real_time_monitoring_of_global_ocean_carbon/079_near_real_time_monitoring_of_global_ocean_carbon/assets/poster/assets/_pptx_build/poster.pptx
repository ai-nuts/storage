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jp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E2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254531"/>
            <a:ext cx="16349682" cy="6530816"/>
          </a:xfrm>
          <a:prstGeom prst="roundRect">
            <a:avLst>
              <a:gd name="adj" fmla="val 816"/>
            </a:avLst>
          </a:prstGeom>
          <a:solidFill>
            <a:srgbClr val="FAFAF7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6254531"/>
            <a:ext cx="16349682" cy="23817421"/>
          </a:xfrm>
          <a:prstGeom prst="roundRect">
            <a:avLst>
              <a:gd name="adj" fmla="val 326"/>
            </a:avLst>
          </a:prstGeom>
          <a:solidFill>
            <a:srgbClr val="FAFAF7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6254531"/>
            <a:ext cx="16349821" cy="16874193"/>
          </a:xfrm>
          <a:prstGeom prst="roundRect">
            <a:avLst>
              <a:gd name="adj" fmla="val 326"/>
            </a:avLst>
          </a:prstGeom>
          <a:solidFill>
            <a:srgbClr val="FAFAF7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2951202"/>
            <a:ext cx="16349682" cy="6542345"/>
          </a:xfrm>
          <a:prstGeom prst="roundRect">
            <a:avLst>
              <a:gd name="adj" fmla="val 815"/>
            </a:avLst>
          </a:prstGeom>
          <a:solidFill>
            <a:srgbClr val="FAFAF7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51887" y="19659401"/>
            <a:ext cx="16349682" cy="4324568"/>
          </a:xfrm>
          <a:prstGeom prst="roundRect">
            <a:avLst>
              <a:gd name="adj" fmla="val 1233"/>
            </a:avLst>
          </a:prstGeom>
          <a:solidFill>
            <a:srgbClr val="FAFAF7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3460571"/>
            <a:ext cx="16349821" cy="6611381"/>
          </a:xfrm>
          <a:prstGeom prst="roundRect">
            <a:avLst>
              <a:gd name="adj" fmla="val 806"/>
            </a:avLst>
          </a:prstGeom>
          <a:solidFill>
            <a:srgbClr val="E9F2F3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3460571"/>
            <a:ext cx="53340" cy="6611381"/>
          </a:xfrm>
          <a:prstGeom prst="rect">
            <a:avLst/>
          </a:prstGeom>
          <a:solidFill>
            <a:srgbClr val="0F60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1887" y="24149823"/>
            <a:ext cx="16349682" cy="5922129"/>
          </a:xfrm>
          <a:prstGeom prst="roundRect">
            <a:avLst>
              <a:gd name="adj" fmla="val 900"/>
            </a:avLst>
          </a:prstGeom>
          <a:solidFill>
            <a:srgbClr val="FAFAF7"/>
          </a:solidFill>
          <a:ln w="8890">
            <a:solidFill>
              <a:srgbClr val="B4C2C2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427" y="3958140"/>
            <a:ext cx="5048131" cy="1466836"/>
          </a:xfrm>
          <a:prstGeom prst="rect">
            <a:avLst/>
          </a:prstGeom>
        </p:spPr>
      </p:pic>
      <p:pic>
        <p:nvPicPr>
          <p:cNvPr id="12" name="Picture 11" descr="tsinghua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532" y="3958135"/>
            <a:ext cx="4641692" cy="1466847"/>
          </a:xfrm>
          <a:prstGeom prst="rect">
            <a:avLst/>
          </a:prstGeom>
        </p:spPr>
      </p:pic>
      <p:pic>
        <p:nvPicPr>
          <p:cNvPr id="13" name="Picture 12" descr="university-of-exete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3198" y="3958134"/>
            <a:ext cx="1146115" cy="1466848"/>
          </a:xfrm>
          <a:prstGeom prst="rect">
            <a:avLst/>
          </a:prstGeom>
        </p:spPr>
      </p:pic>
      <p:pic>
        <p:nvPicPr>
          <p:cNvPr id="14" name="Picture 13" descr="microsoft-re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36287" y="3958144"/>
            <a:ext cx="5206206" cy="1466828"/>
          </a:xfrm>
          <a:prstGeom prst="rect">
            <a:avLst/>
          </a:prstGeom>
        </p:spPr>
      </p:pic>
      <p:pic>
        <p:nvPicPr>
          <p:cNvPr id="15" name="Picture 14" descr="peking-univers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79467" y="3958156"/>
            <a:ext cx="1470879" cy="1466804"/>
          </a:xfrm>
          <a:prstGeom prst="rect">
            <a:avLst/>
          </a:prstGeom>
        </p:spPr>
      </p:pic>
      <p:pic>
        <p:nvPicPr>
          <p:cNvPr id="16" name="Picture 15" descr="ku-leuv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87320" y="3958141"/>
            <a:ext cx="4086066" cy="1466834"/>
          </a:xfrm>
          <a:prstGeom prst="rect">
            <a:avLst/>
          </a:prstGeom>
        </p:spPr>
      </p:pic>
      <p:pic>
        <p:nvPicPr>
          <p:cNvPr id="17" name="Picture 16" descr="the-university-of-hong-kon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10360" y="3958133"/>
            <a:ext cx="7480935" cy="1466850"/>
          </a:xfrm>
          <a:prstGeom prst="rect">
            <a:avLst/>
          </a:prstGeom>
        </p:spPr>
      </p:pic>
      <p:pic>
        <p:nvPicPr>
          <p:cNvPr id="18" name="Picture 17" descr="hong-kong-university-of-science-and-technolog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828269" y="3958163"/>
            <a:ext cx="944424" cy="1466790"/>
          </a:xfrm>
          <a:prstGeom prst="rect">
            <a:avLst/>
          </a:prstGeom>
        </p:spPr>
      </p:pic>
      <p:pic>
        <p:nvPicPr>
          <p:cNvPr id="19" name="Picture 18" descr="international-institute-for-applied-systems-analysis-iiasa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009667" y="3958145"/>
            <a:ext cx="4876720" cy="1466826"/>
          </a:xfrm>
          <a:prstGeom prst="rect">
            <a:avLst/>
          </a:prstGeom>
        </p:spPr>
      </p:pic>
      <p:pic>
        <p:nvPicPr>
          <p:cNvPr id="20" name="Picture 19" descr="laboratoire-des-sciences-du-climat-et-de-l-environnement-lsc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123362" y="3958148"/>
            <a:ext cx="3544193" cy="1466820"/>
          </a:xfrm>
          <a:prstGeom prst="rect">
            <a:avLst/>
          </a:prstGeom>
        </p:spPr>
      </p:pic>
      <p:pic>
        <p:nvPicPr>
          <p:cNvPr id="21" name="Picture 20" descr="lanzhou-university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904529" y="3958133"/>
            <a:ext cx="1466850" cy="1466850"/>
          </a:xfrm>
          <a:prstGeom prst="rect">
            <a:avLst/>
          </a:prstGeom>
        </p:spPr>
      </p:pic>
      <p:pic>
        <p:nvPicPr>
          <p:cNvPr id="22" name="Picture 21" descr="the-cyprus-institu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608353" y="3958143"/>
            <a:ext cx="4508480" cy="1466831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039991" y="6417468"/>
            <a:ext cx="1557347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9991" y="7377588"/>
            <a:ext cx="15573474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816393" y="6642635"/>
            <a:ext cx="1557347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816393" y="7602755"/>
            <a:ext cx="15573474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592795" y="6642635"/>
            <a:ext cx="1557361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592795" y="7602755"/>
            <a:ext cx="15573613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039991" y="11372810"/>
            <a:ext cx="15573474" cy="1252101"/>
          </a:xfrm>
          <a:prstGeom prst="roundRect">
            <a:avLst>
              <a:gd name="adj" fmla="val 50000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39991" y="13114139"/>
            <a:ext cx="1557347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39991" y="14074259"/>
            <a:ext cx="15573474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7816393" y="13335833"/>
            <a:ext cx="15573474" cy="2289731"/>
          </a:xfrm>
          <a:prstGeom prst="roundRect">
            <a:avLst>
              <a:gd name="adj" fmla="val 9839"/>
            </a:avLst>
          </a:prstGeom>
          <a:solidFill>
            <a:srgbClr val="F1F5F6"/>
          </a:solidFill>
          <a:ln w="8890">
            <a:solidFill>
              <a:srgbClr val="B2CCD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39991" y="18363128"/>
            <a:ext cx="15573474" cy="969982"/>
          </a:xfrm>
          <a:prstGeom prst="roundRect">
            <a:avLst>
              <a:gd name="adj" fmla="val 21507"/>
            </a:avLst>
          </a:prstGeom>
          <a:solidFill>
            <a:srgbClr val="E2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39991" y="19822338"/>
            <a:ext cx="1557347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39991" y="20782458"/>
            <a:ext cx="15573474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39991" y="21120278"/>
            <a:ext cx="15573474" cy="2702282"/>
          </a:xfrm>
          <a:prstGeom prst="roundRect">
            <a:avLst>
              <a:gd name="adj" fmla="val 2631"/>
            </a:avLst>
          </a:prstGeom>
          <a:gradFill rotWithShape="1" flip="none">
            <a:gsLst>
              <a:gs pos="0">
                <a:srgbClr val="E2ECEE"/>
              </a:gs>
              <a:gs pos="100000">
                <a:srgbClr val="F1F5F6"/>
              </a:gs>
            </a:gsLst>
            <a:lin ang="5400000" scaled="0"/>
          </a:gradFill>
          <a:ln w="8890">
            <a:solidFill>
              <a:srgbClr val="C3D7DB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637245" y="23848675"/>
            <a:ext cx="15529163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4637245" y="24808795"/>
            <a:ext cx="15529163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39991" y="24312760"/>
            <a:ext cx="15573474" cy="9779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39991" y="25272880"/>
            <a:ext cx="15573474" cy="17780"/>
          </a:xfrm>
          <a:prstGeom prst="rect">
            <a:avLst/>
          </a:prstGeom>
          <a:solidFill>
            <a:srgbClr val="B7CF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598629" y="9629953"/>
            <a:ext cx="15561806" cy="11831201"/>
          </a:xfrm>
          <a:prstGeom prst="roundRect">
            <a:avLst>
              <a:gd name="adj" fmla="val 30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page9_figure5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598652" y="9629953"/>
            <a:ext cx="15561760" cy="11831201"/>
          </a:xfrm>
          <a:prstGeom prst="rect">
            <a:avLst/>
          </a:prstGeom>
        </p:spPr>
      </p:pic>
      <p:sp>
        <p:nvSpPr>
          <p:cNvPr id="43" name="Rounded Rectangle 42"/>
          <p:cNvSpPr/>
          <p:nvPr/>
        </p:nvSpPr>
        <p:spPr>
          <a:xfrm>
            <a:off x="17816393" y="16157713"/>
            <a:ext cx="15573474" cy="11602423"/>
          </a:xfrm>
          <a:prstGeom prst="roundRect">
            <a:avLst>
              <a:gd name="adj" fmla="val 306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page3_figure1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816478" y="16157713"/>
            <a:ext cx="15573304" cy="11602423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11322804" y="21342528"/>
            <a:ext cx="5044797" cy="230528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322804" y="21342528"/>
            <a:ext cx="11557" cy="2305288"/>
          </a:xfrm>
          <a:prstGeom prst="rect">
            <a:avLst/>
          </a:prstGeom>
          <a:solidFill>
            <a:srgbClr val="C3D7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9991" y="29091413"/>
            <a:ext cx="1349613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SST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546012" y="29091413"/>
            <a:ext cx="1398647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CHL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101068" y="29091413"/>
            <a:ext cx="1447681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MLD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705157" y="29091413"/>
            <a:ext cx="1566724" cy="819825"/>
          </a:xfrm>
          <a:prstGeom prst="roundRect">
            <a:avLst>
              <a:gd name="adj" fmla="val 50000"/>
            </a:avLst>
          </a:prstGeom>
          <a:solidFill>
            <a:srgbClr val="E7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0F6070"/>
                </a:solidFill>
                <a:latin typeface="Arial"/>
              </a:rPr>
              <a:t>Wind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28289" y="29091413"/>
            <a:ext cx="2729230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10 GOBMs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313927" y="29091413"/>
            <a:ext cx="2753400" cy="819825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8 products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0F6070"/>
                </a:solidFill>
                <a:latin typeface="Arial"/>
              </a:rPr>
              <a:t>Near-Real-Time Monitoring of the Global Ocean Carbon Sink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Piyu Ke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1,2,3</a:t>
            </a:r>
            <a:r>
              <a:rPr sz="4106" b="0">
                <a:solidFill>
                  <a:srgbClr val="1B2331"/>
                </a:solidFill>
                <a:latin typeface="Arial"/>
              </a:rPr>
              <a:t>, Xiaofan Gui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4106" b="0">
                <a:solidFill>
                  <a:srgbClr val="1B2331"/>
                </a:solidFill>
                <a:latin typeface="Arial"/>
              </a:rPr>
              <a:t>, Wei Cao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4106" b="0">
                <a:solidFill>
                  <a:srgbClr val="1B2331"/>
                </a:solidFill>
                <a:latin typeface="Arial"/>
              </a:rPr>
              <a:t>, Dezhi Wang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4</a:t>
            </a:r>
            <a:r>
              <a:rPr sz="4106" b="0">
                <a:solidFill>
                  <a:srgbClr val="1B2331"/>
                </a:solidFill>
                <a:latin typeface="Arial"/>
              </a:rPr>
              <a:t>, Ce Hou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5,6</a:t>
            </a:r>
            <a:r>
              <a:rPr sz="4106" b="0">
                <a:solidFill>
                  <a:srgbClr val="1B2331"/>
                </a:solidFill>
                <a:latin typeface="Arial"/>
              </a:rPr>
              <a:t>, Lixing Wang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Xuanren Song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, Yun Li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7</a:t>
            </a:r>
            <a:r>
              <a:rPr sz="4106" b="0">
                <a:solidFill>
                  <a:srgbClr val="1B2331"/>
                </a:solidFill>
                <a:latin typeface="Arial"/>
              </a:rPr>
              <a:t>, Biqing Zhu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8</a:t>
            </a:r>
            <a:r>
              <a:rPr sz="4106" b="0">
                <a:solidFill>
                  <a:srgbClr val="1B2331"/>
                </a:solidFill>
                <a:latin typeface="Arial"/>
              </a:rPr>
              <a:t>, Jiang Bian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3</a:t>
            </a:r>
            <a:r>
              <a:rPr sz="4106" b="0">
                <a:solidFill>
                  <a:srgbClr val="1B2331"/>
                </a:solidFill>
                <a:latin typeface="Arial"/>
              </a:rPr>
              <a:t>, Stephen Sitch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Philippe Ciais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9,10</a:t>
            </a:r>
            <a:r>
              <a:rPr sz="4106" b="0">
                <a:solidFill>
                  <a:srgbClr val="1B2331"/>
                </a:solidFill>
                <a:latin typeface="Arial"/>
              </a:rPr>
              <a:t>, Pierre Friedlingstein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, Zhu Liu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1,11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Tsinghua University 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University of Exeter 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Microsoft Research 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4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Lanzhou University 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5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HKUST 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6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Peking University 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7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KU Leuven 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8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IIASA 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9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LSCE 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10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The Cyprus Institute 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11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The University of Hong Kong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39991" y="6417468"/>
            <a:ext cx="16000194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Problem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816393" y="6642635"/>
            <a:ext cx="16000194" cy="1124585"/>
          </a:xfrm>
          <a:prstGeom prst="rect">
            <a:avLst/>
          </a:prstGeom>
          <a:noFill/>
        </p:spPr>
        <p:txBody>
          <a:bodyPr wrap="non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Method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4592795" y="6642635"/>
            <a:ext cx="16000333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Key Results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9991" y="7715408"/>
            <a:ext cx="16000194" cy="35830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Official estimates of the global ocean carbon sink (the annual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Global Carbon Budget</a:t>
            </a:r>
            <a:r>
              <a:rPr sz="4106" b="0">
                <a:solidFill>
                  <a:srgbClr val="1C1C1C"/>
                </a:solidFill>
                <a:latin typeface="Arial"/>
              </a:rPr>
              <a:t>) lag actual conditions by roughly </a:t>
            </a:r>
            <a:r>
              <a:rPr sz="4353" b="1">
                <a:solidFill>
                  <a:srgbClr val="111111"/>
                </a:solidFill>
                <a:latin typeface="Arial"/>
              </a:rPr>
              <a:t>one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353" b="1">
                <a:solidFill>
                  <a:srgbClr val="111111"/>
                </a:solidFill>
                <a:latin typeface="Arial"/>
              </a:rPr>
              <a:t>year</a:t>
            </a:r>
            <a:r>
              <a:rPr sz="4106" b="0">
                <a:solidFill>
                  <a:srgbClr val="1C1C1C"/>
                </a:solidFill>
                <a:latin typeface="Arial"/>
              </a:rPr>
              <a:t>, so recent shifts in ocean CO₂ uptake stay hidden until long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after they occur.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9991" y="11372810"/>
            <a:ext cx="16000194" cy="1439916"/>
          </a:xfrm>
          <a:prstGeom prst="rect">
            <a:avLst/>
          </a:prstGeom>
          <a:noFill/>
        </p:spPr>
        <p:txBody>
          <a:bodyPr wrap="squar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0F6070"/>
                </a:solidFill>
                <a:latin typeface="Arial"/>
              </a:rPr>
              <a:t>≈1-year lag → near-real-time monthly maps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39991" y="13114139"/>
            <a:ext cx="16000194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Motivation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2215971" y="15185231"/>
            <a:ext cx="6977405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supervised RMSE + weighted unsupervised consistency loss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9991" y="18363128"/>
            <a:ext cx="16000194" cy="1115479"/>
          </a:xfrm>
          <a:prstGeom prst="rect">
            <a:avLst/>
          </a:prstGeom>
          <a:noFill/>
        </p:spPr>
        <p:txBody>
          <a:bodyPr wrap="squar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0F6070"/>
                </a:solidFill>
                <a:latin typeface="Arial"/>
              </a:rPr>
              <a:t>Bring trusted-model rigor up to the </a:t>
            </a:r>
            <a:r>
              <a:rPr sz="4106" b="1">
                <a:solidFill>
                  <a:srgbClr val="111111"/>
                </a:solidFill>
                <a:latin typeface="Arial"/>
              </a:rPr>
              <a:t>present month</a:t>
            </a:r>
            <a:r>
              <a:rPr sz="4106" b="0">
                <a:solidFill>
                  <a:srgbClr val="0F6070"/>
                </a:solidFill>
                <a:latin typeface="Arial"/>
              </a:rPr>
              <a:t>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9991" y="19822338"/>
            <a:ext cx="16000194" cy="1124585"/>
          </a:xfrm>
          <a:prstGeom prst="rect">
            <a:avLst/>
          </a:prstGeom>
          <a:noFill/>
        </p:spPr>
        <p:txBody>
          <a:bodyPr wrap="square" lIns="0" rIns="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Headline Numbers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637245" y="23848675"/>
            <a:ext cx="15955883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Takeaway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9991" y="24312760"/>
            <a:ext cx="16000194" cy="1124585"/>
          </a:xfrm>
          <a:prstGeom prst="rect">
            <a:avLst/>
          </a:prstGeom>
          <a:noFill/>
        </p:spPr>
        <p:txBody>
          <a:bodyPr wrap="square" lIns="0" rIns="3911600" tIns="0" bIns="17780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0F6070"/>
                </a:solidFill>
                <a:latin typeface="Arial"/>
              </a:rPr>
              <a:t>Dataset / Benchmark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4637245" y="25146615"/>
            <a:ext cx="15955883" cy="521781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By pairing CNNs with semi-supervised learning to update trusted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models and data products, </a:t>
            </a:r>
            <a:r>
              <a:rPr sz="4106" b="1">
                <a:solidFill>
                  <a:srgbClr val="111111"/>
                </a:solidFill>
                <a:latin typeface="Arial"/>
              </a:rPr>
              <a:t>CMO-NRT</a:t>
            </a:r>
            <a:r>
              <a:rPr sz="4106" b="0">
                <a:solidFill>
                  <a:srgbClr val="1C1C1C"/>
                </a:solidFill>
                <a:latin typeface="Arial"/>
              </a:rPr>
              <a:t> turns the once year-delayed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global ocean carbon sink into a </a:t>
            </a:r>
            <a:r>
              <a:rPr sz="4106" b="1">
                <a:solidFill>
                  <a:srgbClr val="111111"/>
                </a:solidFill>
                <a:latin typeface="Arial"/>
              </a:rPr>
              <a:t>near-real-time, monthly, gridded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monitor — a timelier, spatially detailed constraint on ocean CO₂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uptake for the global carbon budget and climate-response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decisions.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816375" y="8071286"/>
            <a:ext cx="16000212" cy="2661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CNN + linear</a:t>
            </a:r>
            <a:r>
              <a:rPr sz="4106" b="0">
                <a:solidFill>
                  <a:srgbClr val="1C1C1C"/>
                </a:solidFill>
                <a:latin typeface="Arial"/>
              </a:rPr>
              <a:t> model maps 13 predictors — year, month, lat, lon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and </a:t>
            </a:r>
            <a:r>
              <a:rPr sz="4353" b="1">
                <a:solidFill>
                  <a:srgbClr val="111111"/>
                </a:solidFill>
                <a:latin typeface="Arial"/>
              </a:rPr>
              <a:t>9</a:t>
            </a:r>
            <a:r>
              <a:rPr sz="4106" b="0">
                <a:solidFill>
                  <a:srgbClr val="1C1C1C"/>
                </a:solidFill>
                <a:latin typeface="Arial"/>
              </a:rPr>
              <a:t> environmental factors (SST, ICE, CHL, MLD, CO₂, SSS,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SSH, SLP, wind) — to each GOBM / data-product estimate.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816375" y="10567848"/>
            <a:ext cx="16000212" cy="26611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Global grids are cut into </a:t>
            </a:r>
            <a:r>
              <a:rPr sz="4353" b="1">
                <a:solidFill>
                  <a:srgbClr val="111111"/>
                </a:solidFill>
                <a:latin typeface="Arial"/>
              </a:rPr>
              <a:t>18×18</a:t>
            </a:r>
            <a:r>
              <a:rPr sz="4106" b="0">
                <a:solidFill>
                  <a:srgbClr val="1C1C1C"/>
                </a:solidFill>
                <a:latin typeface="Arial"/>
              </a:rPr>
              <a:t> patches; </a:t>
            </a:r>
            <a:r>
              <a:rPr sz="4106" b="1">
                <a:solidFill>
                  <a:srgbClr val="111111"/>
                </a:solidFill>
                <a:latin typeface="Arial"/>
              </a:rPr>
              <a:t>semi-supervised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training adds a consistency loss (10% vs 30% masking) to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supervised RMSE, then K-fold ensembling.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9972" y="14692669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Paris-Agreement </a:t>
            </a:r>
            <a:r>
              <a:rPr sz="4106" b="1">
                <a:solidFill>
                  <a:srgbClr val="111111"/>
                </a:solidFill>
                <a:latin typeface="Arial"/>
              </a:rPr>
              <a:t>global stocktake</a:t>
            </a:r>
            <a:r>
              <a:rPr sz="4106" b="0">
                <a:solidFill>
                  <a:srgbClr val="1C1C1C"/>
                </a:solidFill>
                <a:latin typeface="Arial"/>
              </a:rPr>
              <a:t> demands ocean carbon-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sink data at far lower latency than a one-year delay.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9972" y="16387603"/>
            <a:ext cx="16000213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GOBM and data-product flux databases are detailed but </a:t>
            </a:r>
            <a:r>
              <a:rPr sz="4106" b="1">
                <a:solidFill>
                  <a:srgbClr val="111111"/>
                </a:solidFill>
                <a:latin typeface="Arial"/>
              </a:rPr>
              <a:t>always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historical</a:t>
            </a:r>
            <a:r>
              <a:rPr sz="4106" b="0">
                <a:solidFill>
                  <a:srgbClr val="1C1C1C"/>
                </a:solidFill>
                <a:latin typeface="Arial"/>
              </a:rPr>
              <a:t> — no near-present view.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5221068" y="21610756"/>
            <a:ext cx="14743510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Prediction-vs-original correlation for each of the 10 GOBMs (held-out 2020–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2021); most R² &gt; 0.9 (MRI-ESM2-1 R²=0.97, CESM2 R²=0.96).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9972" y="25610700"/>
            <a:ext cx="16000213" cy="1843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106" b="1">
                <a:solidFill>
                  <a:srgbClr val="111111"/>
                </a:solidFill>
                <a:latin typeface="Arial"/>
              </a:rPr>
              <a:t>CMO-NRT</a:t>
            </a:r>
            <a:r>
              <a:rPr sz="4106" b="0">
                <a:solidFill>
                  <a:srgbClr val="1C1C1C"/>
                </a:solidFill>
                <a:latin typeface="Arial"/>
              </a:rPr>
              <a:t>: monthly gridded fCO₂ &amp; air–sea CO₂ flux, </a:t>
            </a:r>
            <a:r>
              <a:rPr sz="4353" b="1">
                <a:solidFill>
                  <a:srgbClr val="111111"/>
                </a:solidFill>
                <a:latin typeface="Arial"/>
              </a:rPr>
              <a:t>Jan 2022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353" b="1">
                <a:solidFill>
                  <a:srgbClr val="111111"/>
                </a:solidFill>
                <a:latin typeface="Arial"/>
              </a:rPr>
              <a:t>– Jul 2023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9972" y="27396479"/>
            <a:ext cx="16000213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Released openly on Figshare and refreshed at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carbonsink.microsoft.com.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8439387" y="27909738"/>
            <a:ext cx="14754206" cy="1917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Schematic overview of the CMO-NRT methodology and data sources: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clean &amp; align data, crop to 18×18 patches, CNN + semi-supervised model,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K-fold ensemble → prediction.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85855" y="21342528"/>
            <a:ext cx="9747163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0F6070"/>
                </a:solidFill>
                <a:latin typeface="Arial"/>
              </a:rPr>
              <a:t>18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85855" y="22717422"/>
            <a:ext cx="9747163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source estimates → near-real-time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85855" y="23238876"/>
            <a:ext cx="9747163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10 GOBMs + 8 data products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801058" y="21342528"/>
            <a:ext cx="1667520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R²&gt;0.9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3602533" y="21475878"/>
            <a:ext cx="248375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pred vs original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801058" y="22197774"/>
            <a:ext cx="2079285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&lt;3 µatm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4002305" y="22331124"/>
            <a:ext cx="243625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global fCO₂ diff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1801058" y="23053159"/>
            <a:ext cx="1070618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1.74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3023016" y="23186509"/>
            <a:ext cx="2014474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xCO₂ RMSE</a:t>
            </a:r>
          </a:p>
        </p:txBody>
      </p:sp>
      <p:pic>
        <p:nvPicPr>
          <p:cNvPr id="85" name="Picture 84" descr="eq0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335888" y="13421121"/>
            <a:ext cx="12534484" cy="16624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
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374852"/>
          </a:xfrm>
          <a:prstGeom prst="roundRect">
            <a:avLst>
              <a:gd name="adj" fmla="val 3251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548193"/>
            <a:ext cx="16349682" cy="6615966"/>
          </a:xfrm>
          <a:prstGeom prst="roundRect">
            <a:avLst>
              <a:gd name="adj" fmla="val 1074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5548193"/>
            <a:ext cx="16349682" cy="24523759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5548193"/>
            <a:ext cx="16349821" cy="24523759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2496006"/>
            <a:ext cx="16349682" cy="5994499"/>
          </a:xfrm>
          <a:prstGeom prst="roundRect">
            <a:avLst>
              <a:gd name="adj" fmla="val 1186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8822352"/>
            <a:ext cx="16349682" cy="5146615"/>
          </a:xfrm>
          <a:prstGeom prst="roundRect">
            <a:avLst>
              <a:gd name="adj" fmla="val 1381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24300815"/>
            <a:ext cx="16349682" cy="5771137"/>
          </a:xfrm>
          <a:prstGeom prst="roundRect">
            <a:avLst>
              <a:gd name="adj" fmla="val 1232"/>
            </a:avLst>
          </a:prstGeom>
          <a:solidFill>
            <a:srgbClr val="F6ECF1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1887" y="24300815"/>
            <a:ext cx="53340" cy="5771137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7938" y="1185006"/>
            <a:ext cx="4978400" cy="14465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39991" y="5936297"/>
            <a:ext cx="15573474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91" y="6789737"/>
            <a:ext cx="15573474" cy="711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816393" y="5936297"/>
            <a:ext cx="15573474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816393" y="6789737"/>
            <a:ext cx="15573474" cy="711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92795" y="5936297"/>
            <a:ext cx="15573613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92795" y="6789737"/>
            <a:ext cx="15573613" cy="711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9991" y="8954035"/>
            <a:ext cx="15573474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9991" y="8954035"/>
            <a:ext cx="124460" cy="1481019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592795" y="11217652"/>
            <a:ext cx="15573613" cy="1252100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816393" y="12043449"/>
            <a:ext cx="15573474" cy="3773250"/>
          </a:xfrm>
          <a:prstGeom prst="roundRect">
            <a:avLst>
              <a:gd name="adj" fmla="val 5971"/>
            </a:avLst>
          </a:prstGeom>
          <a:solidFill>
            <a:srgbClr val="F7F2F5"/>
          </a:solidFill>
          <a:ln w="8890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9991" y="12884110"/>
            <a:ext cx="15573474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9991" y="13737550"/>
            <a:ext cx="15573474" cy="711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9991" y="14128710"/>
            <a:ext cx="15573474" cy="969982"/>
          </a:xfrm>
          <a:prstGeom prst="roundRect">
            <a:avLst>
              <a:gd name="adj" fmla="val 21507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9991" y="19210456"/>
            <a:ext cx="15573474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9991" y="20063896"/>
            <a:ext cx="15573474" cy="711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9991" y="20455056"/>
            <a:ext cx="15573474" cy="2598658"/>
          </a:xfrm>
          <a:prstGeom prst="roundRect">
            <a:avLst>
              <a:gd name="adj" fmla="val 2736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4441" y="24688919"/>
            <a:ext cx="15529024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84441" y="25542359"/>
            <a:ext cx="15529024" cy="711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84441" y="25933519"/>
            <a:ext cx="15529024" cy="2346821"/>
          </a:xfrm>
          <a:prstGeom prst="roundRect">
            <a:avLst>
              <a:gd name="adj" fmla="val 8889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592795" y="27341472"/>
            <a:ext cx="15573613" cy="22395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592795" y="27341472"/>
            <a:ext cx="15573613" cy="11557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goo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2492" y="3384470"/>
            <a:ext cx="3278326" cy="99564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34592795" y="13154699"/>
            <a:ext cx="15573613" cy="12764234"/>
          </a:xfrm>
          <a:prstGeom prst="roundRect">
            <a:avLst>
              <a:gd name="adj" fmla="val 27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igur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2832" y="13154699"/>
            <a:ext cx="15573540" cy="12764234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8122126" y="16218138"/>
            <a:ext cx="14961870" cy="12186245"/>
          </a:xfrm>
          <a:prstGeom prst="roundRect">
            <a:avLst>
              <a:gd name="adj" fmla="val 29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22164" y="16218138"/>
            <a:ext cx="14961793" cy="12186245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11309052" y="20677306"/>
            <a:ext cx="5058549" cy="22016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309052" y="20677306"/>
            <a:ext cx="11557" cy="2201664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7816393" y="7180897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816393" y="8372296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816393" y="10293925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592795" y="7518022"/>
            <a:ext cx="5645428" cy="81440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592795" y="8323540"/>
            <a:ext cx="56454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238223" y="7518022"/>
            <a:ext cx="4903669" cy="81440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238223" y="8323540"/>
            <a:ext cx="490366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141892" y="7518022"/>
            <a:ext cx="5024516" cy="81440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141892" y="8323540"/>
            <a:ext cx="502451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592795" y="8332430"/>
            <a:ext cx="5645428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592795" y="9142392"/>
            <a:ext cx="56454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0238223" y="8332430"/>
            <a:ext cx="4903669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238223" y="9142392"/>
            <a:ext cx="490366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141892" y="8332430"/>
            <a:ext cx="5024516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141892" y="9142392"/>
            <a:ext cx="502451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592795" y="9151282"/>
            <a:ext cx="5645428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592795" y="9961245"/>
            <a:ext cx="56454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238223" y="9151282"/>
            <a:ext cx="4903669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0238223" y="9961245"/>
            <a:ext cx="490366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141892" y="9151282"/>
            <a:ext cx="5024516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141892" y="9961245"/>
            <a:ext cx="502451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4592795" y="9970135"/>
            <a:ext cx="5645428" cy="818852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592795" y="10780097"/>
            <a:ext cx="56454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0238223" y="9970135"/>
            <a:ext cx="4903669" cy="818852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238223" y="10780097"/>
            <a:ext cx="490366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141892" y="9970135"/>
            <a:ext cx="5024516" cy="818852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141892" y="10780097"/>
            <a:ext cx="502451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15581" y="1007487"/>
            <a:ext cx="42838270" cy="2590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8279"/>
              </a:lnSpc>
              <a:spcBef>
                <a:spcPts val="0"/>
              </a:spcBef>
              <a:spcAft>
                <a:spcPts val="0"/>
              </a:spcAft>
            </a:pPr>
            <a:r>
              <a:rPr sz="7666" b="1" spc="-82">
                <a:solidFill>
                  <a:srgbClr val="7D2860"/>
                </a:solidFill>
                <a:latin typeface="Arial"/>
              </a:rPr>
              <a:t>UniMax: Fairer and More Effective Language Sampling for Large-Scale Multilingual</a:t>
            </a:r>
          </a:p>
          <a:p>
            <a:pPr algn="l">
              <a:lnSpc>
                <a:spcPts val="8279"/>
              </a:lnSpc>
              <a:spcBef>
                <a:spcPts val="0"/>
              </a:spcBef>
              <a:spcAft>
                <a:spcPts val="0"/>
              </a:spcAft>
            </a:pPr>
            <a:r>
              <a:rPr sz="7666" b="1" spc="-82">
                <a:solidFill>
                  <a:srgbClr val="7D2860"/>
                </a:solidFill>
                <a:latin typeface="Arial"/>
              </a:rPr>
              <a:t>Pretraining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15581" y="3489741"/>
            <a:ext cx="42838270" cy="7442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Hyung Won Chung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Noah Constant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Xavier Garcia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Adam Roberts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Yi Tay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Sharan Narang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Orhan Firat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15581" y="4189968"/>
            <a:ext cx="42838270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Google Research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9991" y="5936297"/>
            <a:ext cx="16000194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Problem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816393" y="5936297"/>
            <a:ext cx="16000194" cy="1063244"/>
          </a:xfrm>
          <a:prstGeom prst="rect">
            <a:avLst/>
          </a:prstGeom>
          <a:noFill/>
        </p:spPr>
        <p:txBody>
          <a:bodyPr wrap="non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Method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592795" y="5936297"/>
            <a:ext cx="16000333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Key Results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9991" y="7180897"/>
            <a:ext cx="16000194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Multilingual pretraining must decide how much to train on each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language — an open, costly question.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9991" y="8954035"/>
            <a:ext cx="16000194" cy="17031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In mC4, English holds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~9.7 trillion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characters — over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92,000×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the lowest-resource language, Yoruba.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9991" y="10435054"/>
            <a:ext cx="16000194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dominant fix, </a:t>
            </a:r>
            <a:r>
              <a:rPr sz="4106" b="1">
                <a:solidFill>
                  <a:srgbClr val="111111"/>
                </a:solidFill>
                <a:latin typeface="Arial"/>
              </a:rPr>
              <a:t>temperature sampling</a:t>
            </a:r>
            <a:r>
              <a:rPr sz="4106" b="0">
                <a:solidFill>
                  <a:srgbClr val="1C1C1C"/>
                </a:solidFill>
                <a:latin typeface="Arial"/>
              </a:rPr>
              <a:t> (τ), was never evaluated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across model scales.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592795" y="11217652"/>
            <a:ext cx="16000333" cy="1439915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7D2860"/>
                </a:solidFill>
                <a:latin typeface="Arial"/>
              </a:rPr>
              <a:t>+1.9 TyDi QA over τ=1, +0.3 over τ=3.33 (Large, ½ budget)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9991" y="12884110"/>
            <a:ext cx="16000194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Motivation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9991" y="14128710"/>
            <a:ext cx="16000194" cy="1115479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Repetition overfits the tail and wastes compute.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259226" y="14926448"/>
            <a:ext cx="15114528" cy="875228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Languages sorted ascending by size; D</a:t>
            </a:r>
            <a:r>
              <a:rPr sz="3104" b="0" i="1" baseline="-25000">
                <a:solidFill>
                  <a:srgbClr val="555555"/>
                </a:solidFill>
                <a:latin typeface="Cambria Math"/>
              </a:rPr>
              <a:t>l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= characters in language l, B = remaining budget, i = index, N = max epochs (N=1 ⇒ no repeats).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9991" y="19210456"/>
            <a:ext cx="16000194" cy="1063244"/>
          </a:xfrm>
          <a:prstGeom prst="rect">
            <a:avLst/>
          </a:prstGeom>
          <a:noFill/>
        </p:spPr>
        <p:txBody>
          <a:bodyPr wrap="square" lIns="0" rIns="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Headline Numbers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991" y="23172201"/>
            <a:ext cx="16000194" cy="6260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87"/>
              </a:lnSpc>
              <a:spcBef>
                <a:spcPts val="0"/>
              </a:spcBef>
              <a:spcAft>
                <a:spcPts val="0"/>
              </a:spcAft>
            </a:pPr>
            <a:r>
              <a:rPr sz="2956" b="0">
                <a:solidFill>
                  <a:srgbClr val="666677"/>
                </a:solidFill>
                <a:latin typeface="Arial"/>
              </a:rPr>
              <a:t>Refreshed mC4 corpus &amp; umT5 checkpoints released.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4441" y="24688919"/>
            <a:ext cx="15955744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Takeaway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4441" y="25933519"/>
            <a:ext cx="15955744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Cap the repeats, spread the rest uniformly — a drop-in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replacement for temperature sampling, with a refreshed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mC4 corpus and umT5 checkpoints.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592795" y="27341472"/>
            <a:ext cx="16000333" cy="2575523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Across TyDi QA, WMT21, XNLI, XQuAD, MLQA &amp; PAWS-X, UniMax wins at every model size — and most WMT21 language pairs improve.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84441" y="28280340"/>
            <a:ext cx="15955744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Capping per-language repeats and spreading the rest uniformly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beats temperature sampling, and the win holds as models scale.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778535" y="7180897"/>
            <a:ext cx="15038052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Sort</a:t>
            </a:r>
            <a:r>
              <a:rPr sz="4106" b="0">
                <a:solidFill>
                  <a:srgbClr val="1C1C1C"/>
                </a:solidFill>
                <a:latin typeface="Arial"/>
              </a:rPr>
              <a:t> languages ascending by corpus size; set budget </a:t>
            </a:r>
            <a:r>
              <a:rPr sz="4106" b="1">
                <a:solidFill>
                  <a:srgbClr val="111111"/>
                </a:solidFill>
                <a:latin typeface="Arial"/>
              </a:rPr>
              <a:t>B = C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778535" y="8372296"/>
            <a:ext cx="15038052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Split</a:t>
            </a:r>
            <a:r>
              <a:rPr sz="4106" b="0">
                <a:solidFill>
                  <a:srgbClr val="1C1C1C"/>
                </a:solidFill>
                <a:latin typeface="Arial"/>
              </a:rPr>
              <a:t> the remaining budget uniformly across the languages not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yet allocated.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778535" y="10293925"/>
            <a:ext cx="15038052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Cap</a:t>
            </a:r>
            <a:r>
              <a:rPr sz="4106" b="0">
                <a:solidFill>
                  <a:srgbClr val="1C1C1C"/>
                </a:solidFill>
                <a:latin typeface="Arial"/>
              </a:rPr>
              <a:t> any language above </a:t>
            </a:r>
            <a:r>
              <a:rPr sz="4106" b="1">
                <a:solidFill>
                  <a:srgbClr val="111111"/>
                </a:solidFill>
                <a:latin typeface="Arial"/>
              </a:rPr>
              <a:t>N epochs</a:t>
            </a:r>
            <a:r>
              <a:rPr sz="4106" b="0">
                <a:solidFill>
                  <a:srgbClr val="1C1C1C"/>
                </a:solidFill>
                <a:latin typeface="Arial"/>
              </a:rPr>
              <a:t> at N·D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l</a:t>
            </a:r>
            <a:r>
              <a:rPr sz="4106" b="0">
                <a:solidFill>
                  <a:srgbClr val="1C1C1C"/>
                </a:solidFill>
                <a:latin typeface="Arial"/>
              </a:rPr>
              <a:t>, redistribute the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surplus. </a:t>
            </a:r>
            <a:r>
              <a:rPr sz="4106" b="1">
                <a:solidFill>
                  <a:srgbClr val="111111"/>
                </a:solidFill>
                <a:latin typeface="Arial"/>
              </a:rPr>
              <a:t>N=1</a:t>
            </a:r>
            <a:r>
              <a:rPr sz="4106" b="0">
                <a:solidFill>
                  <a:srgbClr val="1C1C1C"/>
                </a:solidFill>
                <a:latin typeface="Arial"/>
              </a:rPr>
              <a:t> ⇒ no repeats.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9972" y="15098692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Tail over-repeated.</a:t>
            </a:r>
            <a:r>
              <a:rPr sz="4106" b="0">
                <a:solidFill>
                  <a:srgbClr val="1C1C1C"/>
                </a:solidFill>
                <a:latin typeface="Arial"/>
              </a:rPr>
              <a:t> At τ=3.33 the rarest languages are seen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&gt;100×</a:t>
            </a:r>
            <a:r>
              <a:rPr sz="4106" b="0">
                <a:solidFill>
                  <a:srgbClr val="1C1C1C"/>
                </a:solidFill>
                <a:latin typeface="Arial"/>
              </a:rPr>
              <a:t> — pure duplication.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9972" y="16793626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Head under-covered.</a:t>
            </a:r>
            <a:r>
              <a:rPr sz="4106" b="0">
                <a:solidFill>
                  <a:srgbClr val="1C1C1C"/>
                </a:solidFill>
                <a:latin typeface="Arial"/>
              </a:rPr>
              <a:t> Tuning τ for head languages leaves high-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resource coverage non-uniform.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215790" y="26068535"/>
            <a:ext cx="14754344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Average TyDi QA GoldP vs model size — UniMax beats τ=3.33 and τ=1 at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every scale.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8720534" y="28553985"/>
            <a:ext cx="14177862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UniMax caps every language at ≤1 epoch (N=1); temperature sampling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repeats the lowest-resource tail dozens to 100+ times.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85855" y="20829964"/>
            <a:ext cx="9732999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29T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85855" y="22204858"/>
            <a:ext cx="9732999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characters across 107 languages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592795" y="7518022"/>
            <a:ext cx="5814790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Sampling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238223" y="7518022"/>
            <a:ext cx="5050779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TyDi QA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141892" y="7518022"/>
            <a:ext cx="5175251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Δ vs τ=1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592795" y="8332430"/>
            <a:ext cx="5814790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τ = 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238223" y="8332430"/>
            <a:ext cx="5050779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81.2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141892" y="8332430"/>
            <a:ext cx="5175251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—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592795" y="9151282"/>
            <a:ext cx="5814790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τ = 3.33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238223" y="9151282"/>
            <a:ext cx="5050779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82.8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141892" y="9151282"/>
            <a:ext cx="5175251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+1.6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592795" y="9970135"/>
            <a:ext cx="5814790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UniMax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238223" y="9970135"/>
            <a:ext cx="5050779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83.1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141892" y="9970135"/>
            <a:ext cx="5175251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+1.9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787306" y="20677306"/>
            <a:ext cx="107061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83.1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009264" y="20810656"/>
            <a:ext cx="2625827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TyDi QA (Large)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787306" y="21498103"/>
            <a:ext cx="156479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&gt;100×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3489047" y="21631453"/>
            <a:ext cx="296491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τ=3.33 tail repeats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787306" y="22318900"/>
            <a:ext cx="116375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9.0B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099692" y="22452250"/>
            <a:ext cx="2666746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mC4 documents</a:t>
            </a:r>
          </a:p>
        </p:txBody>
      </p:sp>
      <p:pic>
        <p:nvPicPr>
          <p:cNvPr id="112" name="Picture 111" descr="eq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19499" y="12683112"/>
            <a:ext cx="14767262" cy="16356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
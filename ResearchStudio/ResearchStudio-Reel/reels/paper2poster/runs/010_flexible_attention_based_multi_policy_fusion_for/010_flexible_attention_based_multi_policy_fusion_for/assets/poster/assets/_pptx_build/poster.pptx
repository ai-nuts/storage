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0690919" cy="8194636"/>
          </a:xfrm>
          <a:prstGeom prst="roundRect">
            <a:avLst>
              <a:gd name="adj" fmla="val 1012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769526" y="6254531"/>
            <a:ext cx="13876873" cy="23817421"/>
          </a:xfrm>
          <a:prstGeom prst="roundRect">
            <a:avLst>
              <a:gd name="adj" fmla="val 59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073119" y="6254531"/>
            <a:ext cx="13363615" cy="23817421"/>
          </a:xfrm>
          <a:prstGeom prst="roundRect">
            <a:avLst>
              <a:gd name="adj" fmla="val 62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863454" y="6254531"/>
            <a:ext cx="10691058" cy="5338029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863454" y="11924407"/>
            <a:ext cx="10691058" cy="7848480"/>
          </a:xfrm>
          <a:prstGeom prst="roundRect">
            <a:avLst>
              <a:gd name="adj" fmla="val 105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4781014"/>
            <a:ext cx="10690919" cy="7372588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863454" y="20104735"/>
            <a:ext cx="10691058" cy="9967217"/>
          </a:xfrm>
          <a:prstGeom prst="roundRect">
            <a:avLst>
              <a:gd name="adj" fmla="val 832"/>
            </a:avLst>
          </a:prstGeom>
          <a:solidFill>
            <a:srgbClr val="E9F2F3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863454" y="20104735"/>
            <a:ext cx="53340" cy="9967217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887" y="22485449"/>
            <a:ext cx="10690919" cy="7586503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240" y="3958157"/>
            <a:ext cx="3360558" cy="1466802"/>
          </a:xfrm>
          <a:prstGeom prst="rect">
            <a:avLst/>
          </a:prstGeom>
        </p:spPr>
      </p:pic>
      <p:pic>
        <p:nvPicPr>
          <p:cNvPr id="13" name="Picture 12" descr="university-of-california-san-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7772" y="3958142"/>
            <a:ext cx="7415650" cy="1466832"/>
          </a:xfrm>
          <a:prstGeom prst="rect">
            <a:avLst/>
          </a:prstGeom>
        </p:spPr>
      </p:pic>
      <p:pic>
        <p:nvPicPr>
          <p:cNvPr id="14" name="Picture 13" descr="university-of-california-santa-barba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60396" y="3958133"/>
            <a:ext cx="18335625" cy="14668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39991" y="6642635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157630" y="6642635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461223" y="6642635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251558" y="6642635"/>
            <a:ext cx="6841827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251558" y="7887235"/>
            <a:ext cx="9914850" cy="3452098"/>
          </a:xfrm>
          <a:prstGeom prst="roundRect">
            <a:avLst>
              <a:gd name="adj" fmla="val 2060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461223" y="12202080"/>
            <a:ext cx="12587407" cy="2632274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251558" y="12312511"/>
            <a:ext cx="3441819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157630" y="13107471"/>
            <a:ext cx="13100665" cy="2634079"/>
          </a:xfrm>
          <a:prstGeom prst="roundRect">
            <a:avLst>
              <a:gd name="adj" fmla="val 8553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9991" y="15169118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51558" y="17785972"/>
            <a:ext cx="9914850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251558" y="17785972"/>
            <a:ext cx="9914850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296008" y="20492839"/>
            <a:ext cx="3905349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9991" y="22873553"/>
            <a:ext cx="4863107" cy="924560"/>
          </a:xfrm>
          <a:prstGeom prst="roundRect">
            <a:avLst>
              <a:gd name="adj" fmla="val 1025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461223" y="26012417"/>
            <a:ext cx="12587407" cy="35828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461223" y="26012417"/>
            <a:ext cx="12587407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0296008" y="26827241"/>
            <a:ext cx="9870400" cy="2581156"/>
          </a:xfrm>
          <a:prstGeom prst="roundRect">
            <a:avLst>
              <a:gd name="adj" fmla="val 1377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296008" y="26827241"/>
            <a:ext cx="35560" cy="2581156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74471" y="8109485"/>
            <a:ext cx="4146073" cy="30551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74471" y="8109485"/>
            <a:ext cx="11557" cy="3055104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9991" y="11459765"/>
            <a:ext cx="4510980" cy="2592546"/>
          </a:xfrm>
          <a:prstGeom prst="roundRect">
            <a:avLst>
              <a:gd name="adj" fmla="val 8046"/>
            </a:avLst>
          </a:prstGeom>
          <a:solidFill>
            <a:srgbClr val="F1F5F6"/>
          </a:solidFill>
          <a:ln w="8890">
            <a:solidFill>
              <a:srgbClr val="0F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43583" y="11459765"/>
            <a:ext cx="4511119" cy="2592546"/>
          </a:xfrm>
          <a:prstGeom prst="roundRect">
            <a:avLst>
              <a:gd name="adj" fmla="val 8046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6461223" y="15658345"/>
            <a:ext cx="12587407" cy="8236724"/>
          </a:xfrm>
          <a:prstGeom prst="roundRect">
            <a:avLst>
              <a:gd name="adj" fmla="val 43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61225" y="15658345"/>
            <a:ext cx="12587404" cy="8236724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2157630" y="16231612"/>
            <a:ext cx="13100665" cy="12011779"/>
          </a:xfrm>
          <a:prstGeom prst="roundRect">
            <a:avLst>
              <a:gd name="adj" fmla="val 29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age4_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7680" y="16231612"/>
            <a:ext cx="13100566" cy="12011779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039991" y="19960550"/>
            <a:ext cx="3862149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sample-efficient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58548" y="19960550"/>
            <a:ext cx="3295968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generalizable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9991" y="20936783"/>
            <a:ext cx="3492103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compositional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88502" y="20936783"/>
            <a:ext cx="2975650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incremental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9991" y="24222888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9991" y="26144517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9991" y="28066146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461223" y="8363406"/>
            <a:ext cx="7712075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461223" y="9168923"/>
            <a:ext cx="771207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173298" y="8363406"/>
            <a:ext cx="3466962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173298" y="9168923"/>
            <a:ext cx="346696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640260" y="8363406"/>
            <a:ext cx="1408370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7640260" y="9168923"/>
            <a:ext cx="140837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461223" y="9177813"/>
            <a:ext cx="7712075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461223" y="9987776"/>
            <a:ext cx="771207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173298" y="9177813"/>
            <a:ext cx="3466962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173298" y="9987776"/>
            <a:ext cx="346696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640260" y="9177813"/>
            <a:ext cx="1408370" cy="818853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640260" y="9987776"/>
            <a:ext cx="140837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461223" y="9996666"/>
            <a:ext cx="7712075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461223" y="10806628"/>
            <a:ext cx="771207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173298" y="9996666"/>
            <a:ext cx="3466962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173298" y="10806628"/>
            <a:ext cx="346696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640260" y="9996666"/>
            <a:ext cx="1408370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7640260" y="10806628"/>
            <a:ext cx="140837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461223" y="10815518"/>
            <a:ext cx="7712075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461223" y="11625480"/>
            <a:ext cx="771207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173298" y="10815518"/>
            <a:ext cx="3466962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173298" y="11625480"/>
            <a:ext cx="346696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7640260" y="10815518"/>
            <a:ext cx="1408370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640260" y="11625480"/>
            <a:ext cx="140837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83493" y="12411412"/>
            <a:ext cx="3970288" cy="1534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reuse &amp; recombine freely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87085" y="12411412"/>
            <a:ext cx="3224017" cy="15341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fixed order → retrain to edit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0F6070"/>
                </a:solidFill>
                <a:latin typeface="Arial"/>
              </a:rPr>
              <a:t>Flexible Attention-Based Multi-Policy Fusion for Efficient Deep Reinforcement Learning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Zih-Yun Chiu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Yi-Lin Tuan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William Yang Wang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Michael C. Yip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University of California, San Diego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University of California, Santa Barbara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91" y="6642635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57630" y="6642635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461223" y="6642635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251558" y="6642635"/>
            <a:ext cx="7047081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991" y="8030725"/>
            <a:ext cx="10212152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RL agents are </a:t>
            </a:r>
            <a:r>
              <a:rPr sz="4106" b="1">
                <a:solidFill>
                  <a:srgbClr val="111111"/>
                </a:solidFill>
                <a:latin typeface="Arial"/>
              </a:rPr>
              <a:t>sample-inefficient</a:t>
            </a:r>
            <a:r>
              <a:rPr sz="4106" b="0">
                <a:solidFill>
                  <a:srgbClr val="1C1C1C"/>
                </a:solidFill>
                <a:latin typeface="Arial"/>
              </a:rPr>
              <a:t>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injected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knowledge policies</a:t>
            </a:r>
            <a:r>
              <a:rPr sz="4106" b="0">
                <a:solidFill>
                  <a:srgbClr val="1C1C1C"/>
                </a:solidFill>
                <a:latin typeface="Arial"/>
              </a:rPr>
              <a:t> stay rigid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can't be recombined or replaced across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tasks.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461223" y="12202080"/>
            <a:ext cx="12965029" cy="30271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Only method to succeed in </a:t>
            </a:r>
            <a:r>
              <a:rPr sz="4024" b="1">
                <a:solidFill>
                  <a:srgbClr val="111111"/>
                </a:solidFill>
                <a:latin typeface="Arial"/>
              </a:rPr>
              <a:t>every</a:t>
            </a:r>
            <a:r>
              <a:rPr sz="4024" b="1">
                <a:solidFill>
                  <a:srgbClr val="0F6070"/>
                </a:solidFill>
                <a:latin typeface="Arial"/>
              </a:rPr>
              <a:t> environment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given a sub-optimal knowledge set — the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advantage grows as tasks get harder.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251558" y="12312511"/>
            <a:ext cx="3545073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Ablation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991" y="15169118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444860" y="15291911"/>
            <a:ext cx="8781847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Tinos"/>
              </a:rPr>
              <a:t>Weights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 over the inner and knowledge keys.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251558" y="17785972"/>
            <a:ext cx="10212295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Modular knowledge keys pay off across transfer settings.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296008" y="20492839"/>
            <a:ext cx="40225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296008" y="21742856"/>
            <a:ext cx="10166512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Encoding each policy as an independent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learnable </a:t>
            </a:r>
            <a:r>
              <a:rPr sz="4106" b="1">
                <a:solidFill>
                  <a:srgbClr val="111111"/>
                </a:solidFill>
                <a:latin typeface="Arial"/>
              </a:rPr>
              <a:t>key</a:t>
            </a:r>
            <a:r>
              <a:rPr sz="4106" b="0">
                <a:solidFill>
                  <a:srgbClr val="1C1C1C"/>
                </a:solidFill>
                <a:latin typeface="Arial"/>
              </a:rPr>
              <a:t> and fusing them by attention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makes external knowledge fully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modular</a:t>
            </a:r>
            <a:r>
              <a:rPr sz="4106" b="0">
                <a:solidFill>
                  <a:srgbClr val="1C1C1C"/>
                </a:solidFill>
                <a:latin typeface="Arial"/>
              </a:rPr>
              <a:t>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entropy fix keeps exploration efficient.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Knowledge policies become </a:t>
            </a:r>
            <a:r>
              <a:rPr sz="4106" b="1">
                <a:solidFill>
                  <a:srgbClr val="111111"/>
                </a:solidFill>
                <a:latin typeface="Arial"/>
              </a:rPr>
              <a:t>plug-and-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play</a:t>
            </a:r>
            <a:r>
              <a:rPr sz="4106" b="0">
                <a:solidFill>
                  <a:srgbClr val="1C1C1C"/>
                </a:solidFill>
                <a:latin typeface="Arial"/>
              </a:rPr>
              <a:t> building blocks.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9991" y="22873553"/>
            <a:ext cx="5009000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Contribution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461223" y="26012417"/>
            <a:ext cx="12965029" cy="412023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Best zero-shot transfer in both simple→complex and complex→simple settings, with lower variance than every baseline (BC, RL, RL+BC, KoGuN, A2T). Methods that ignore entropy imbalance (A2T) barely learn in continuous control, while KIAN keeps improving.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296008" y="26827241"/>
            <a:ext cx="10166512" cy="2968329"/>
          </a:xfrm>
          <a:prstGeom prst="rect">
            <a:avLst/>
          </a:prstGeom>
          <a:noFill/>
        </p:spPr>
        <p:txBody>
          <a:bodyPr wrap="none" lIns="408892" rIns="408892" tIns="255558" bIns="255558">
            <a:spAutoFit/>
          </a:bodyPr>
          <a:lstStyle/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Add, drop, or reorder knowledge</a:t>
            </a:r>
          </a:p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policies anytime — without</a:t>
            </a:r>
          </a:p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retraining the network.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57612" y="7975857"/>
            <a:ext cx="1349370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KIAN</a:t>
            </a:r>
            <a:r>
              <a:rPr sz="4106" b="0">
                <a:solidFill>
                  <a:srgbClr val="1C1C1C"/>
                </a:solidFill>
                <a:latin typeface="Arial"/>
              </a:rPr>
              <a:t> = an inner actor (the agent’s own policy) +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learnable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key</a:t>
            </a:r>
            <a:r>
              <a:rPr sz="4106" b="0">
                <a:solidFill>
                  <a:srgbClr val="1C1C1C"/>
                </a:solidFill>
                <a:latin typeface="Arial"/>
              </a:rPr>
              <a:t> per knowledge policy + a state-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dependent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query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57612" y="10426997"/>
            <a:ext cx="1349370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latin typeface="Arial"/>
              </a:rPr>
              <a:t>fused policy</a:t>
            </a:r>
            <a:r>
              <a:rPr sz="4106" b="0">
                <a:solidFill>
                  <a:srgbClr val="1C1C1C"/>
                </a:solidFill>
                <a:latin typeface="Arial"/>
              </a:rPr>
              <a:t> is a weighted sum; keys are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unordered, so swap a policy by swapping its key —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no retraining.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81265" y="11459765"/>
            <a:ext cx="650984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0F6070"/>
                </a:solidFill>
                <a:latin typeface="Arial"/>
              </a:rPr>
              <a:t>vs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251540" y="13598505"/>
            <a:ext cx="1021231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Removing the </a:t>
            </a:r>
            <a:r>
              <a:rPr sz="4106" b="1">
                <a:solidFill>
                  <a:srgbClr val="111111"/>
                </a:solidFill>
                <a:latin typeface="Arial"/>
              </a:rPr>
              <a:t>entropy-imbalance fix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collapses KIAN onto one policy.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251540" y="15293439"/>
            <a:ext cx="1021231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Compositional &amp; incremental:</a:t>
            </a:r>
            <a:r>
              <a:rPr sz="4106" b="0">
                <a:solidFill>
                  <a:srgbClr val="1C1C1C"/>
                </a:solidFill>
                <a:latin typeface="Arial"/>
              </a:rPr>
              <a:t> reused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keys learn tasks sequentially with fewer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samples.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9972" y="16492200"/>
            <a:ext cx="1021217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Treat external policies as a </a:t>
            </a:r>
            <a:r>
              <a:rPr sz="4106" b="1">
                <a:solidFill>
                  <a:srgbClr val="111111"/>
                </a:solidFill>
                <a:latin typeface="Arial"/>
              </a:rPr>
              <a:t>modular,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reorderable set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72" y="18187134"/>
            <a:ext cx="1021217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fusion (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KoGuN, A2T</a:t>
            </a:r>
            <a:r>
              <a:rPr sz="4106" b="0">
                <a:solidFill>
                  <a:srgbClr val="1C1C1C"/>
                </a:solidFill>
                <a:latin typeface="Arial"/>
              </a:rPr>
              <a:t>) fixes policy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order, forcing </a:t>
            </a:r>
            <a:r>
              <a:rPr sz="4106" b="1">
                <a:solidFill>
                  <a:srgbClr val="111111"/>
                </a:solidFill>
                <a:latin typeface="Arial"/>
              </a:rPr>
              <a:t>retraining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964759" y="24044671"/>
            <a:ext cx="11927746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Sample-efficiency learning curves across MiniGrid (top two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rows) and OpenAI-Robotics (bottom). KIAN (teal) reaches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high reward with far fewer samples on every task.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02133" y="24222888"/>
            <a:ext cx="9221146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KGRL</a:t>
            </a:r>
            <a:r>
              <a:rPr sz="4106" b="0">
                <a:solidFill>
                  <a:srgbClr val="1C1C1C"/>
                </a:solidFill>
                <a:latin typeface="Arial"/>
              </a:rPr>
              <a:t> — fuse an inner policy with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many knowledge policies.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02133" y="26144517"/>
            <a:ext cx="9221146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KIAN</a:t>
            </a:r>
            <a:r>
              <a:rPr sz="4106" b="0">
                <a:solidFill>
                  <a:srgbClr val="1C1C1C"/>
                </a:solidFill>
                <a:latin typeface="Arial"/>
              </a:rPr>
              <a:t> — attention rearranges, adds, or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replaces policies.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02133" y="28066146"/>
            <a:ext cx="9221146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Entropy imbalance</a:t>
            </a:r>
            <a:r>
              <a:rPr sz="4106" b="0">
                <a:solidFill>
                  <a:srgbClr val="1C1C1C"/>
                </a:solidFill>
                <a:latin typeface="Arial"/>
              </a:rPr>
              <a:t> — identified,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proven, and fixed.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681723" y="28392993"/>
            <a:ext cx="12414053" cy="1362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KIAN architecture: inner actor + knowledge policies g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1</a:t>
            </a:r>
            <a:r>
              <a:rPr sz="3367" b="0" i="1">
                <a:solidFill>
                  <a:srgbClr val="555555"/>
                </a:solidFill>
                <a:latin typeface="Arial"/>
              </a:rPr>
              <a:t>–g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3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fused by embedding-based attention.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497422" y="8167409"/>
            <a:ext cx="4844466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0.93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0497422" y="9542303"/>
            <a:ext cx="4844466" cy="1799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Zero-shot reward,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5×5 → 16×16 (vs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0.53 baseline)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83493" y="11677153"/>
            <a:ext cx="4144694" cy="6522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HUMANS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87085" y="11677153"/>
            <a:ext cx="4144837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RL AGENTS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252725" y="8109485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0.72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474683" y="8242835"/>
            <a:ext cx="251923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Pick-and-Place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10× (vs 0.30)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461223" y="8363406"/>
            <a:ext cx="7943437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Zero-shot transfer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173298" y="8363406"/>
            <a:ext cx="3570970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Best baseline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7640260" y="8363406"/>
            <a:ext cx="1450621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KIAN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6461223" y="9177813"/>
            <a:ext cx="7943437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Empty-Random 5×5 → 16×16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173298" y="9177813"/>
            <a:ext cx="3570970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0.53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640260" y="9177813"/>
            <a:ext cx="145062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0.93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252725" y="9357002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1.00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474683" y="9490352"/>
            <a:ext cx="2850023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DoorKey→Reach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(vs 0.80)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461223" y="9996666"/>
            <a:ext cx="7943437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Pick-and-Place, 10× goal range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173298" y="9996666"/>
            <a:ext cx="357097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0.30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7640260" y="9996666"/>
            <a:ext cx="145062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0.72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252725" y="10604519"/>
            <a:ext cx="6134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030878" y="10737869"/>
            <a:ext cx="250407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seeds · 95% CI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461223" y="10815518"/>
            <a:ext cx="7943437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DoorKey-8×8 → Reach (C2S)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4173298" y="10815518"/>
            <a:ext cx="357097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0.80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7640260" y="10815518"/>
            <a:ext cx="145062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1.00</a:t>
            </a:r>
          </a:p>
        </p:txBody>
      </p:sp>
      <p:pic>
        <p:nvPicPr>
          <p:cNvPr id="125" name="Picture 124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0736" y="13747134"/>
            <a:ext cx="12294453" cy="919282"/>
          </a:xfrm>
          <a:prstGeom prst="rect">
            <a:avLst/>
          </a:prstGeom>
        </p:spPr>
      </p:pic>
      <p:pic>
        <p:nvPicPr>
          <p:cNvPr id="126" name="Picture 125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96507" y="15229681"/>
            <a:ext cx="3532108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
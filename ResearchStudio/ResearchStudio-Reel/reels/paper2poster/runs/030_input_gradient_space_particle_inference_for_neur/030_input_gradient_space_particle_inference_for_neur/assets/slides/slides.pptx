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_project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_project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964547"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ICLR 2024</a:t>
            </a:r>
          </a:p>
        </p:txBody>
      </p:sp>
      <p:sp>
        <p:nvSpPr>
          <p:cNvPr id="3" name="TextBox 3"/>
          <p:cNvSpPr txBox="1"/>
          <p:nvPr/>
        </p:nvSpPr>
        <p:spPr>
          <a:xfrm>
            <a:off x="9461438" y="572452"/>
            <a:ext cx="2126296"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Aalto · Helsinki · Manchester</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 name="TextBox 5"/>
          <p:cNvSpPr txBox="1"/>
          <p:nvPr/>
        </p:nvSpPr>
        <p:spPr>
          <a:xfrm>
            <a:off x="594360" y="1181100"/>
            <a:ext cx="8345005" cy="586740"/>
          </a:xfrm>
          <a:prstGeom prst="rect">
            <a:avLst/>
          </a:prstGeom>
          <a:noFill/>
          <a:ln>
            <a:noFill/>
          </a:ln>
        </p:spPr>
        <p:txBody>
          <a:bodyPr wrap="none" lIns="0" tIns="0" rIns="0" bIns="0" anchor="t" anchorCtr="0">
            <a:spAutoFit/>
          </a:bodyPr>
          <a:lstStyle/>
          <a:p>
            <a:pPr algn="l"/>
            <a:r>
              <a:rPr lang="en-US" sz="3000" b="1" dirty="0">
                <a:solidFill>
                  <a:srgbClr val="FFFFFF"/>
                </a:solidFill>
                <a:latin typeface="+mn-lt"/>
                <a:ea typeface="+mn-ea"/>
                <a:cs typeface="+mn-cs"/>
              </a:rPr>
              <a:t>Input-Gradient Space Particle Inference</a:t>
            </a:r>
          </a:p>
        </p:txBody>
      </p:sp>
      <p:sp>
        <p:nvSpPr>
          <p:cNvPr id="6" name="TextBox 6"/>
          <p:cNvSpPr txBox="1"/>
          <p:nvPr/>
        </p:nvSpPr>
        <p:spPr>
          <a:xfrm>
            <a:off x="594360" y="1638300"/>
            <a:ext cx="6242360" cy="586740"/>
          </a:xfrm>
          <a:prstGeom prst="rect">
            <a:avLst/>
          </a:prstGeom>
          <a:noFill/>
          <a:ln>
            <a:noFill/>
          </a:ln>
        </p:spPr>
        <p:txBody>
          <a:bodyPr wrap="none" lIns="0" tIns="0" rIns="0" bIns="0" anchor="t" anchorCtr="0">
            <a:spAutoFit/>
          </a:bodyPr>
          <a:lstStyle/>
          <a:p>
            <a:pPr algn="l"/>
            <a:r>
              <a:rPr lang="en-US" sz="3000" b="1" dirty="0">
                <a:solidFill>
                  <a:schemeClr val="accent2"/>
                </a:solidFill>
                <a:latin typeface="+mn-lt"/>
                <a:ea typeface="+mn-ea"/>
                <a:cs typeface="+mn-cs"/>
              </a:rPr>
              <a:t>for Neural Network Ensembles</a:t>
            </a:r>
          </a:p>
        </p:txBody>
      </p:sp>
      <p:sp>
        <p:nvSpPr>
          <p:cNvPr id="7" name="Rectangle 7"/>
          <p:cNvSpPr/>
          <p:nvPr/>
        </p:nvSpPr>
        <p:spPr>
          <a:xfrm>
            <a:off x="609600" y="2209800"/>
            <a:ext cx="1428750" cy="285750"/>
          </a:xfrm>
          <a:prstGeom prst="roundRect">
            <a:avLst>
              <a:gd name="adj" fmla="val 50000"/>
            </a:avLst>
          </a:prstGeom>
          <a:solidFill>
            <a:srgbClr val="0F2E2B"/>
          </a:solidFill>
          <a:ln w="14288">
            <a:solidFill>
              <a:srgbClr val="34D3C0"/>
            </a:solidFill>
          </a:ln>
        </p:spPr>
        <p:txBody>
          <a:bodyPr/>
          <a:p/>
        </p:txBody>
      </p:sp>
      <p:sp>
        <p:nvSpPr>
          <p:cNvPr id="8" name="TextBox 8"/>
          <p:cNvSpPr txBox="1"/>
          <p:nvPr/>
        </p:nvSpPr>
        <p:spPr>
          <a:xfrm>
            <a:off x="1057455" y="2262664"/>
            <a:ext cx="533040" cy="249364"/>
          </a:xfrm>
          <a:prstGeom prst="rect">
            <a:avLst/>
          </a:prstGeom>
          <a:noFill/>
          <a:ln>
            <a:noFill/>
          </a:ln>
        </p:spPr>
        <p:txBody>
          <a:bodyPr wrap="none" lIns="0" tIns="0" rIns="0" bIns="0" anchor="t" anchorCtr="0">
            <a:spAutoFit/>
          </a:bodyPr>
          <a:lstStyle/>
          <a:p>
            <a:pPr algn="ctr"/>
            <a:r>
              <a:rPr lang="en-US" sz="1280" b="1" dirty="0">
                <a:solidFill>
                  <a:srgbClr val="34D3C0"/>
                </a:solidFill>
                <a:latin typeface="+mn-lt"/>
                <a:ea typeface="+mn-ea"/>
                <a:cs typeface="+mn-cs"/>
              </a:rPr>
              <a:t>FoRDE</a:t>
            </a:r>
          </a:p>
        </p:txBody>
      </p:sp>
      <p:sp>
        <p:nvSpPr>
          <p:cNvPr id="9" name="TextBox 9"/>
          <p:cNvSpPr txBox="1"/>
          <p:nvPr/>
        </p:nvSpPr>
        <p:spPr>
          <a:xfrm>
            <a:off x="2203323" y="2262664"/>
            <a:ext cx="3338276" cy="249364"/>
          </a:xfrm>
          <a:prstGeom prst="rect">
            <a:avLst/>
          </a:prstGeom>
          <a:noFill/>
          <a:ln>
            <a:noFill/>
          </a:ln>
        </p:spPr>
        <p:txBody>
          <a:bodyPr wrap="none" lIns="0" tIns="0" rIns="0" bIns="0" anchor="t" anchorCtr="0">
            <a:spAutoFit/>
          </a:bodyPr>
          <a:lstStyle/>
          <a:p>
            <a:pPr algn="l"/>
            <a:r>
              <a:rPr lang="en-US" sz="1280" b="1" dirty="0">
                <a:solidFill>
                  <a:schemeClr val="dk2"/>
                </a:solidFill>
                <a:latin typeface="+mn-lt"/>
                <a:ea typeface="+mn-ea"/>
                <a:cs typeface="+mn-cs"/>
              </a:rPr>
              <a:t>First-order Repulsive Deep Ensembles</a:t>
            </a:r>
          </a:p>
        </p:txBody>
      </p:sp>
      <p:sp>
        <p:nvSpPr>
          <p:cNvPr id="10" name="TextBox 10"/>
          <p:cNvSpPr txBox="1"/>
          <p:nvPr/>
        </p:nvSpPr>
        <p:spPr>
          <a:xfrm>
            <a:off x="603885" y="2640806"/>
            <a:ext cx="4366027" cy="220028"/>
          </a:xfrm>
          <a:prstGeom prst="rect">
            <a:avLst/>
          </a:prstGeom>
          <a:noFill/>
          <a:ln>
            <a:noFill/>
          </a:ln>
        </p:spPr>
        <p:txBody>
          <a:bodyPr wrap="none" lIns="0" tIns="0" rIns="0" bIns="0" anchor="t" anchorCtr="0">
            <a:spAutoFit/>
          </a:bodyPr>
          <a:lstStyle/>
          <a:p>
            <a:pPr algn="l"/>
            <a:r>
              <a:rPr lang="en-US" sz="1120" dirty="0">
                <a:solidFill>
                  <a:srgbClr val="6E869C"/>
                </a:solidFill>
                <a:latin typeface="+mn-lt"/>
                <a:ea typeface="+mn-ea"/>
                <a:cs typeface="+mn-cs"/>
              </a:rPr>
              <a:t>Trung Trinh · Markus Heinonen · Luigi Acerbi · Samuel Kaski</a:t>
            </a:r>
          </a:p>
        </p:txBody>
      </p:sp>
      <p:grpSp>
        <p:nvGrpSpPr>
          <p:cNvPr id="18" name="Group 18"/>
          <p:cNvGrpSpPr/>
          <p:nvPr/>
        </p:nvGrpSpPr>
        <p:grpSpPr>
          <a:xfrm>
            <a:off x="609600" y="3009900"/>
            <a:ext cx="2609850" cy="2000250"/>
            <a:chOff x="609600" y="3009900"/>
            <a:chExt cx="2609850" cy="2000250"/>
          </a:xfrm>
        </p:grpSpPr>
        <p:sp>
          <p:nvSpPr>
            <p:cNvPr id="11" name="Rectangle 11"/>
            <p:cNvSpPr/>
            <p:nvPr/>
          </p:nvSpPr>
          <p:spPr>
            <a:xfrm>
              <a:off x="609600" y="3009900"/>
              <a:ext cx="2609850" cy="2000250"/>
            </a:xfrm>
            <a:prstGeom prst="roundRect">
              <a:avLst>
                <a:gd name="adj" fmla="val 6667"/>
              </a:avLst>
            </a:prstGeom>
            <a:solidFill>
              <a:schemeClr val="accent5"/>
            </a:solidFill>
            <a:ln w="14288">
              <a:solidFill>
                <a:srgbClr val="26455F"/>
              </a:solidFill>
            </a:ln>
          </p:spPr>
        </p:sp>
        <p:sp>
          <p:nvSpPr>
            <p:cNvPr id="12" name="Rectangle 12"/>
            <p:cNvSpPr/>
            <p:nvPr/>
          </p:nvSpPr>
          <p:spPr>
            <a:xfrm>
              <a:off x="609600" y="3009900"/>
              <a:ext cx="2609850" cy="57150"/>
            </a:xfrm>
            <a:prstGeom prst="roundRect">
              <a:avLst>
                <a:gd name="adj" fmla="val 50000"/>
              </a:avLst>
            </a:prstGeom>
            <a:solidFill>
              <a:schemeClr val="accent2"/>
            </a:solidFill>
            <a:ln>
              <a:noFill/>
            </a:ln>
          </p:spPr>
        </p:sp>
        <p:sp>
          <p:nvSpPr>
            <p:cNvPr id="13" name="Ellipse 13"/>
            <p:cNvSpPr/>
            <p:nvPr/>
          </p:nvSpPr>
          <p:spPr>
            <a:xfrm>
              <a:off x="809625" y="3381375"/>
              <a:ext cx="133350" cy="133350"/>
            </a:xfrm>
            <a:prstGeom prst="ellipse">
              <a:avLst/>
            </a:prstGeom>
            <a:solidFill>
              <a:schemeClr val="accent2"/>
            </a:solidFill>
            <a:ln>
              <a:noFill/>
            </a:ln>
          </p:spPr>
        </p:sp>
        <p:sp>
          <p:nvSpPr>
            <p:cNvPr id="14" name="TextBox 14"/>
            <p:cNvSpPr txBox="1"/>
            <p:nvPr/>
          </p:nvSpPr>
          <p:spPr>
            <a:xfrm>
              <a:off x="1041273" y="3367564"/>
              <a:ext cx="1005220"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The method</a:t>
              </a:r>
            </a:p>
          </p:txBody>
        </p:sp>
        <p:sp>
          <p:nvSpPr>
            <p:cNvPr id="15" name="TextBox 15"/>
            <p:cNvSpPr txBox="1"/>
            <p:nvPr/>
          </p:nvSpPr>
          <p:spPr>
            <a:xfrm>
              <a:off x="813816" y="3772852"/>
              <a:ext cx="194482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FoRDE trains an ensemble by</a:t>
              </a:r>
            </a:p>
          </p:txBody>
        </p:sp>
        <p:sp>
          <p:nvSpPr>
            <p:cNvPr id="16" name="TextBox 16"/>
            <p:cNvSpPr txBox="1"/>
            <p:nvPr/>
          </p:nvSpPr>
          <p:spPr>
            <a:xfrm>
              <a:off x="813816" y="3991928"/>
              <a:ext cx="211679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repelling members in the space</a:t>
              </a:r>
            </a:p>
          </p:txBody>
        </p:sp>
        <p:sp>
          <p:nvSpPr>
            <p:cNvPr id="17" name="TextBox 17"/>
            <p:cNvSpPr txBox="1"/>
            <p:nvPr/>
          </p:nvSpPr>
          <p:spPr>
            <a:xfrm>
              <a:off x="813816" y="4211002"/>
              <a:ext cx="174221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of their input gradients.</a:t>
              </a:r>
            </a:p>
          </p:txBody>
        </p:sp>
      </p:grpSp>
      <p:grpSp>
        <p:nvGrpSpPr>
          <p:cNvPr id="26" name="Group 26"/>
          <p:cNvGrpSpPr/>
          <p:nvPr/>
        </p:nvGrpSpPr>
        <p:grpSpPr>
          <a:xfrm>
            <a:off x="3390900" y="3009900"/>
            <a:ext cx="2609850" cy="2000250"/>
            <a:chOff x="3390900" y="3009900"/>
            <a:chExt cx="2609850" cy="2000250"/>
          </a:xfrm>
        </p:grpSpPr>
        <p:sp>
          <p:nvSpPr>
            <p:cNvPr id="19" name="Rectangle 19"/>
            <p:cNvSpPr/>
            <p:nvPr/>
          </p:nvSpPr>
          <p:spPr>
            <a:xfrm>
              <a:off x="3390900" y="3009900"/>
              <a:ext cx="2609850" cy="2000250"/>
            </a:xfrm>
            <a:prstGeom prst="roundRect">
              <a:avLst>
                <a:gd name="adj" fmla="val 6667"/>
              </a:avLst>
            </a:prstGeom>
            <a:solidFill>
              <a:schemeClr val="accent5"/>
            </a:solidFill>
            <a:ln w="14288">
              <a:solidFill>
                <a:srgbClr val="26455F"/>
              </a:solidFill>
            </a:ln>
          </p:spPr>
        </p:sp>
        <p:sp>
          <p:nvSpPr>
            <p:cNvPr id="20" name="Rectangle 20"/>
            <p:cNvSpPr/>
            <p:nvPr/>
          </p:nvSpPr>
          <p:spPr>
            <a:xfrm>
              <a:off x="3390900" y="3009900"/>
              <a:ext cx="2609850" cy="57150"/>
            </a:xfrm>
            <a:prstGeom prst="roundRect">
              <a:avLst>
                <a:gd name="adj" fmla="val 50000"/>
              </a:avLst>
            </a:prstGeom>
            <a:solidFill>
              <a:srgbClr val="F2C14E"/>
            </a:solidFill>
            <a:ln>
              <a:noFill/>
            </a:ln>
          </p:spPr>
        </p:sp>
        <p:sp>
          <p:nvSpPr>
            <p:cNvPr id="21" name="Ellipse 21"/>
            <p:cNvSpPr/>
            <p:nvPr/>
          </p:nvSpPr>
          <p:spPr>
            <a:xfrm>
              <a:off x="3590925" y="3381375"/>
              <a:ext cx="133350" cy="133350"/>
            </a:xfrm>
            <a:prstGeom prst="ellipse">
              <a:avLst/>
            </a:prstGeom>
            <a:solidFill>
              <a:srgbClr val="F2C14E"/>
            </a:solidFill>
            <a:ln>
              <a:noFill/>
            </a:ln>
          </p:spPr>
        </p:sp>
        <p:sp>
          <p:nvSpPr>
            <p:cNvPr id="22" name="TextBox 22"/>
            <p:cNvSpPr txBox="1"/>
            <p:nvPr/>
          </p:nvSpPr>
          <p:spPr>
            <a:xfrm>
              <a:off x="3822573" y="3367564"/>
              <a:ext cx="1150874"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Why it's new</a:t>
              </a:r>
            </a:p>
          </p:txBody>
        </p:sp>
        <p:sp>
          <p:nvSpPr>
            <p:cNvPr id="23" name="TextBox 23"/>
            <p:cNvSpPr txBox="1"/>
            <p:nvPr/>
          </p:nvSpPr>
          <p:spPr>
            <a:xfrm>
              <a:off x="3595116" y="3772852"/>
              <a:ext cx="231243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Weight-space and function-space</a:t>
              </a:r>
            </a:p>
          </p:txBody>
        </p:sp>
        <p:sp>
          <p:nvSpPr>
            <p:cNvPr id="24" name="TextBox 24"/>
            <p:cNvSpPr txBox="1"/>
            <p:nvPr/>
          </p:nvSpPr>
          <p:spPr>
            <a:xfrm>
              <a:off x="3595116" y="3991928"/>
              <a:ext cx="190477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repulsion had failed to beat</a:t>
              </a:r>
            </a:p>
          </p:txBody>
        </p:sp>
        <p:sp>
          <p:nvSpPr>
            <p:cNvPr id="25" name="TextBox 25"/>
            <p:cNvSpPr txBox="1"/>
            <p:nvPr/>
          </p:nvSpPr>
          <p:spPr>
            <a:xfrm>
              <a:off x="3595116" y="4211002"/>
              <a:ext cx="149485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plain deep ensembles.</a:t>
              </a:r>
            </a:p>
          </p:txBody>
        </p:sp>
      </p:grpSp>
      <p:grpSp>
        <p:nvGrpSpPr>
          <p:cNvPr id="34" name="Group 34"/>
          <p:cNvGrpSpPr/>
          <p:nvPr/>
        </p:nvGrpSpPr>
        <p:grpSpPr>
          <a:xfrm>
            <a:off x="6172200" y="3009900"/>
            <a:ext cx="2609850" cy="2000250"/>
            <a:chOff x="6172200" y="3009900"/>
            <a:chExt cx="2609850" cy="2000250"/>
          </a:xfrm>
        </p:grpSpPr>
        <p:sp>
          <p:nvSpPr>
            <p:cNvPr id="27" name="Rectangle 27"/>
            <p:cNvSpPr/>
            <p:nvPr/>
          </p:nvSpPr>
          <p:spPr>
            <a:xfrm>
              <a:off x="6172200" y="3009900"/>
              <a:ext cx="2609850" cy="2000250"/>
            </a:xfrm>
            <a:prstGeom prst="roundRect">
              <a:avLst>
                <a:gd name="adj" fmla="val 6667"/>
              </a:avLst>
            </a:prstGeom>
            <a:solidFill>
              <a:schemeClr val="accent5"/>
            </a:solidFill>
            <a:ln w="14288">
              <a:solidFill>
                <a:srgbClr val="26455F"/>
              </a:solidFill>
            </a:ln>
          </p:spPr>
        </p:sp>
        <p:sp>
          <p:nvSpPr>
            <p:cNvPr id="28" name="Rectangle 28"/>
            <p:cNvSpPr/>
            <p:nvPr/>
          </p:nvSpPr>
          <p:spPr>
            <a:xfrm>
              <a:off x="6172200" y="3009900"/>
              <a:ext cx="2609850" cy="57150"/>
            </a:xfrm>
            <a:prstGeom prst="roundRect">
              <a:avLst>
                <a:gd name="adj" fmla="val 50000"/>
              </a:avLst>
            </a:prstGeom>
            <a:solidFill>
              <a:srgbClr val="34D3C0"/>
            </a:solidFill>
            <a:ln>
              <a:noFill/>
            </a:ln>
          </p:spPr>
        </p:sp>
        <p:sp>
          <p:nvSpPr>
            <p:cNvPr id="29" name="Ellipse 29"/>
            <p:cNvSpPr/>
            <p:nvPr/>
          </p:nvSpPr>
          <p:spPr>
            <a:xfrm>
              <a:off x="6372225" y="3381375"/>
              <a:ext cx="133350" cy="133350"/>
            </a:xfrm>
            <a:prstGeom prst="ellipse">
              <a:avLst/>
            </a:prstGeom>
            <a:solidFill>
              <a:srgbClr val="34D3C0"/>
            </a:solidFill>
            <a:ln>
              <a:noFill/>
            </a:ln>
          </p:spPr>
        </p:sp>
        <p:sp>
          <p:nvSpPr>
            <p:cNvPr id="30" name="TextBox 30"/>
            <p:cNvSpPr txBox="1"/>
            <p:nvPr/>
          </p:nvSpPr>
          <p:spPr>
            <a:xfrm>
              <a:off x="6603873" y="3367564"/>
              <a:ext cx="1150163"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Why it works</a:t>
              </a:r>
            </a:p>
          </p:txBody>
        </p:sp>
        <p:sp>
          <p:nvSpPr>
            <p:cNvPr id="31" name="TextBox 31"/>
            <p:cNvSpPr txBox="1"/>
            <p:nvPr/>
          </p:nvSpPr>
          <p:spPr>
            <a:xfrm>
              <a:off x="6376416" y="3772852"/>
              <a:ext cx="213537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Input gradients characterize a</a:t>
              </a:r>
            </a:p>
          </p:txBody>
        </p:sp>
        <p:sp>
          <p:nvSpPr>
            <p:cNvPr id="32" name="TextBox 32"/>
            <p:cNvSpPr txBox="1"/>
            <p:nvPr/>
          </p:nvSpPr>
          <p:spPr>
            <a:xfrm>
              <a:off x="6376416" y="3991928"/>
              <a:ext cx="217333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function up to translation, and</a:t>
              </a:r>
            </a:p>
          </p:txBody>
        </p:sp>
        <p:sp>
          <p:nvSpPr>
            <p:cNvPr id="33" name="TextBox 33"/>
            <p:cNvSpPr txBox="1"/>
            <p:nvPr/>
          </p:nvSpPr>
          <p:spPr>
            <a:xfrm>
              <a:off x="6376416" y="4211002"/>
              <a:ext cx="207439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are far smaller than weights.</a:t>
              </a:r>
            </a:p>
          </p:txBody>
        </p:sp>
      </p:grpSp>
      <p:grpSp>
        <p:nvGrpSpPr>
          <p:cNvPr id="42" name="Group 42"/>
          <p:cNvGrpSpPr/>
          <p:nvPr/>
        </p:nvGrpSpPr>
        <p:grpSpPr>
          <a:xfrm>
            <a:off x="8953500" y="3009900"/>
            <a:ext cx="2609850" cy="2000250"/>
            <a:chOff x="8953500" y="3009900"/>
            <a:chExt cx="2609850" cy="2000250"/>
          </a:xfrm>
        </p:grpSpPr>
        <p:sp>
          <p:nvSpPr>
            <p:cNvPr id="35" name="Rectangle 35"/>
            <p:cNvSpPr/>
            <p:nvPr/>
          </p:nvSpPr>
          <p:spPr>
            <a:xfrm>
              <a:off x="8953500" y="3009900"/>
              <a:ext cx="2609850" cy="2000250"/>
            </a:xfrm>
            <a:prstGeom prst="roundRect">
              <a:avLst>
                <a:gd name="adj" fmla="val 6667"/>
              </a:avLst>
            </a:prstGeom>
            <a:solidFill>
              <a:schemeClr val="accent5"/>
            </a:solidFill>
            <a:ln w="14288">
              <a:solidFill>
                <a:srgbClr val="26455F"/>
              </a:solidFill>
            </a:ln>
          </p:spPr>
        </p:sp>
        <p:sp>
          <p:nvSpPr>
            <p:cNvPr id="36" name="Rectangle 36"/>
            <p:cNvSpPr/>
            <p:nvPr/>
          </p:nvSpPr>
          <p:spPr>
            <a:xfrm>
              <a:off x="8953500" y="3009900"/>
              <a:ext cx="2609850" cy="57150"/>
            </a:xfrm>
            <a:prstGeom prst="roundRect">
              <a:avLst>
                <a:gd name="adj" fmla="val 50000"/>
              </a:avLst>
            </a:prstGeom>
            <a:solidFill>
              <a:srgbClr val="48C78E"/>
            </a:solidFill>
            <a:ln>
              <a:noFill/>
            </a:ln>
          </p:spPr>
        </p:sp>
        <p:sp>
          <p:nvSpPr>
            <p:cNvPr id="37" name="Ellipse 37"/>
            <p:cNvSpPr/>
            <p:nvPr/>
          </p:nvSpPr>
          <p:spPr>
            <a:xfrm>
              <a:off x="9153525" y="3381375"/>
              <a:ext cx="133350" cy="133350"/>
            </a:xfrm>
            <a:prstGeom prst="ellipse">
              <a:avLst/>
            </a:prstGeom>
            <a:solidFill>
              <a:srgbClr val="48C78E"/>
            </a:solidFill>
            <a:ln>
              <a:noFill/>
            </a:ln>
          </p:spPr>
        </p:sp>
        <p:sp>
          <p:nvSpPr>
            <p:cNvPr id="38" name="TextBox 38"/>
            <p:cNvSpPr txBox="1"/>
            <p:nvPr/>
          </p:nvSpPr>
          <p:spPr>
            <a:xfrm>
              <a:off x="9385173" y="3367564"/>
              <a:ext cx="968807"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The payoff</a:t>
              </a:r>
            </a:p>
          </p:txBody>
        </p:sp>
        <p:sp>
          <p:nvSpPr>
            <p:cNvPr id="39" name="TextBox 39"/>
            <p:cNvSpPr txBox="1"/>
            <p:nvPr/>
          </p:nvSpPr>
          <p:spPr>
            <a:xfrm>
              <a:off x="9157716" y="3772852"/>
              <a:ext cx="191673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markedly more robust and</a:t>
              </a:r>
            </a:p>
          </p:txBody>
        </p:sp>
        <p:sp>
          <p:nvSpPr>
            <p:cNvPr id="40" name="TextBox 40"/>
            <p:cNvSpPr txBox="1"/>
            <p:nvPr/>
          </p:nvSpPr>
          <p:spPr>
            <a:xfrm>
              <a:off x="9157716" y="3991928"/>
              <a:ext cx="235002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better-calibrated ensemble under</a:t>
              </a:r>
            </a:p>
          </p:txBody>
        </p:sp>
        <p:sp>
          <p:nvSpPr>
            <p:cNvPr id="41" name="TextBox 41"/>
            <p:cNvSpPr txBox="1"/>
            <p:nvPr/>
          </p:nvSpPr>
          <p:spPr>
            <a:xfrm>
              <a:off x="9157716" y="4211002"/>
              <a:ext cx="130403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input corruptions.</a:t>
              </a:r>
            </a:p>
          </p:txBody>
        </p:sp>
      </p:grpSp>
      <p:sp>
        <p:nvSpPr>
          <p:cNvPr id="43" name="Line 43"/>
          <p:cNvSpPr/>
          <p:nvPr/>
        </p:nvSpPr>
        <p:spPr>
          <a:xfrm>
            <a:off x="609600" y="539115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44" name="TextBox 44"/>
          <p:cNvSpPr txBox="1"/>
          <p:nvPr/>
        </p:nvSpPr>
        <p:spPr>
          <a:xfrm>
            <a:off x="604266" y="562070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arXiv:2306.02775</a:t>
            </a:r>
          </a:p>
        </p:txBody>
      </p:sp>
      <p:sp>
        <p:nvSpPr>
          <p:cNvPr id="45" name="TextBox 45"/>
          <p:cNvSpPr txBox="1"/>
          <p:nvPr/>
        </p:nvSpPr>
        <p:spPr>
          <a:xfrm>
            <a:off x="2661666" y="5620702"/>
            <a:ext cx="2078281"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github.com/AaltoPML/FoRDE</a:t>
            </a:r>
          </a:p>
        </p:txBody>
      </p:sp>
      <p:sp>
        <p:nvSpPr>
          <p:cNvPr id="46" name="TextBox 46"/>
          <p:cNvSpPr txBox="1"/>
          <p:nvPr/>
        </p:nvSpPr>
        <p:spPr>
          <a:xfrm>
            <a:off x="8254837" y="5620702"/>
            <a:ext cx="3332897" cy="205359"/>
          </a:xfrm>
          <a:prstGeom prst="rect">
            <a:avLst/>
          </a:prstGeom>
          <a:noFill/>
          <a:ln>
            <a:noFill/>
          </a:ln>
        </p:spPr>
        <p:txBody>
          <a:bodyPr wrap="none" lIns="0" tIns="0" rIns="0" bIns="0" anchor="t" anchorCtr="0">
            <a:spAutoFit/>
          </a:bodyPr>
          <a:lstStyle/>
          <a:p>
            <a:pPr algn="r"/>
            <a:r>
              <a:rPr lang="en-US" sz="1050" b="1" dirty="0">
                <a:solidFill>
                  <a:srgbClr val="34D3C0"/>
                </a:solidFill>
                <a:latin typeface="+mn-lt"/>
                <a:ea typeface="+mn-ea"/>
                <a:cs typeface="+mn-cs"/>
              </a:rPr>
              <a:t>Repel where it matters: input-gradient space</a:t>
            </a:r>
          </a:p>
        </p:txBody>
      </p:sp>
      <p:sp>
        <p:nvSpPr>
          <p:cNvPr id="47" name="cue_s01_c1_introduces_first_order_repulsive_dee" title="cue_s01_c1_introduces_first_order_repulsive_dee" descr="cue_s01_c1_introduces_first_order_repulsive_dee This paper introduces First-order Repulsive Deep Ensembles, or FoRDE, a new way to train neural network ensembles."/>
          <p:cNvSpPr/>
          <p:nvPr/>
        </p:nvSpPr>
        <p:spPr>
          <a:xfrm>
            <a:off x="609600" y="3009976"/>
            <a:ext cx="2610307"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1_c2_deep_ensembles_work_well_because" title="cue_s01_c2_deep_ensembles_work_well_because" descr="cue_s01_c2_deep_ensembles_work_well_because Deep ensembles work well because their members learn diverse functions, but existing methods that repel members in weight space or function space have struggled to improve on plain deep ensembles. The key idea here is to instead repel ensemble members in the s"/>
          <p:cNvSpPr/>
          <p:nvPr/>
        </p:nvSpPr>
        <p:spPr>
          <a:xfrm>
            <a:off x="3390595" y="3009976"/>
            <a:ext cx="2610307"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1_c3_because_input_gradients_uniquely_cha" title="cue_s01_c3_because_input_gradients_uniquely_cha" descr="cue_s01_c3_because_input_gradients_uniquely_cha Because input gradients uniquely characterize a function up to translation and are far smaller than the weights, this guarantees members become functionally different and encourages each network to learn distinct features."/>
          <p:cNvSpPr/>
          <p:nvPr/>
        </p:nvSpPr>
        <p:spPr>
          <a:xfrm>
            <a:off x="6171590" y="3009976"/>
            <a:ext cx="2610307"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1_c4_result_ensemble_markedly_more_robust" title="cue_s01_c4_result_ensemble_markedly_more_robust" descr="cue_s01_c4_result_ensemble_markedly_more_robust The result is an ensemble that is markedly more robust and better calibrated under input corruptions."/>
          <p:cNvSpPr/>
          <p:nvPr/>
        </p:nvSpPr>
        <p:spPr>
          <a:xfrm>
            <a:off x="8953804" y="3009976"/>
            <a:ext cx="2610307"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531338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Where you repel members matters</a:t>
            </a:r>
          </a:p>
        </p:txBody>
      </p:sp>
      <p:grpSp>
        <p:nvGrpSpPr>
          <p:cNvPr id="10" name="Group 10"/>
          <p:cNvGrpSpPr/>
          <p:nvPr/>
        </p:nvGrpSpPr>
        <p:grpSpPr>
          <a:xfrm>
            <a:off x="609600" y="1447800"/>
            <a:ext cx="10972800" cy="955834"/>
            <a:chOff x="609600" y="1447800"/>
            <a:chExt cx="10972800" cy="955834"/>
          </a:xfrm>
        </p:grpSpPr>
        <p:sp>
          <p:nvSpPr>
            <p:cNvPr id="5" name="Rectangle 5"/>
            <p:cNvSpPr/>
            <p:nvPr/>
          </p:nvSpPr>
          <p:spPr>
            <a:xfrm>
              <a:off x="609600" y="1447800"/>
              <a:ext cx="10972800" cy="914400"/>
            </a:xfrm>
            <a:prstGeom prst="roundRect">
              <a:avLst>
                <a:gd name="adj" fmla="val 14583"/>
              </a:avLst>
            </a:prstGeom>
            <a:solidFill>
              <a:schemeClr val="accent5"/>
            </a:solidFill>
            <a:ln w="14288">
              <a:solidFill>
                <a:srgbClr val="26455F"/>
              </a:solidFill>
            </a:ln>
          </p:spPr>
        </p:sp>
        <p:sp>
          <p:nvSpPr>
            <p:cNvPr id="6" name="Rectangle 6"/>
            <p:cNvSpPr/>
            <p:nvPr/>
          </p:nvSpPr>
          <p:spPr>
            <a:xfrm>
              <a:off x="609600" y="1447800"/>
              <a:ext cx="57150" cy="914400"/>
            </a:xfrm>
            <a:prstGeom prst="roundRect">
              <a:avLst>
                <a:gd name="adj" fmla="val 50000"/>
              </a:avLst>
            </a:prstGeom>
            <a:solidFill>
              <a:schemeClr val="accent2"/>
            </a:solidFill>
            <a:ln>
              <a:noFill/>
            </a:ln>
          </p:spPr>
        </p:sp>
        <p:sp>
          <p:nvSpPr>
            <p:cNvPr id="7" name="TextBox 7"/>
            <p:cNvSpPr txBox="1"/>
            <p:nvPr/>
          </p:nvSpPr>
          <p:spPr>
            <a:xfrm>
              <a:off x="870014" y="1657112"/>
              <a:ext cx="4250915"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Particle-based inference makes diversity explicit</a:t>
              </a:r>
            </a:p>
          </p:txBody>
        </p:sp>
        <p:sp>
          <p:nvSpPr>
            <p:cNvPr id="8" name="TextBox 8"/>
            <p:cNvSpPr txBox="1"/>
            <p:nvPr/>
          </p:nvSpPr>
          <p:spPr>
            <a:xfrm>
              <a:off x="870585" y="1955006"/>
              <a:ext cx="717821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Ensemble members capture different explanations of the data; a repulsion term pushes particles</a:t>
              </a:r>
            </a:p>
          </p:txBody>
        </p:sp>
        <p:sp>
          <p:nvSpPr>
            <p:cNvPr id="9" name="TextBox 9"/>
            <p:cNvSpPr txBox="1"/>
            <p:nvPr/>
          </p:nvSpPr>
          <p:spPr>
            <a:xfrm>
              <a:off x="870585" y="2183606"/>
              <a:ext cx="437405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apart. But the space you repel in decides whether it helps.</a:t>
              </a:r>
            </a:p>
          </p:txBody>
        </p:sp>
      </p:grpSp>
      <p:grpSp>
        <p:nvGrpSpPr>
          <p:cNvPr id="18" name="Group 18"/>
          <p:cNvGrpSpPr/>
          <p:nvPr/>
        </p:nvGrpSpPr>
        <p:grpSpPr>
          <a:xfrm>
            <a:off x="609600" y="2552700"/>
            <a:ext cx="5334000" cy="1828800"/>
            <a:chOff x="609600" y="2552700"/>
            <a:chExt cx="5334000" cy="1828800"/>
          </a:xfrm>
        </p:grpSpPr>
        <p:sp>
          <p:nvSpPr>
            <p:cNvPr id="11" name="Rectangle 11"/>
            <p:cNvSpPr/>
            <p:nvPr/>
          </p:nvSpPr>
          <p:spPr>
            <a:xfrm>
              <a:off x="609600" y="2552700"/>
              <a:ext cx="5334000" cy="1828800"/>
            </a:xfrm>
            <a:prstGeom prst="roundRect">
              <a:avLst>
                <a:gd name="adj" fmla="val 7292"/>
              </a:avLst>
            </a:prstGeom>
            <a:solidFill>
              <a:srgbClr val="2A1720"/>
            </a:solidFill>
            <a:ln w="14288">
              <a:solidFill>
                <a:srgbClr val="F2685C"/>
              </a:solidFill>
            </a:ln>
          </p:spPr>
        </p:sp>
        <p:sp>
          <p:nvSpPr>
            <p:cNvPr id="12" name="Rectangle 12"/>
            <p:cNvSpPr/>
            <p:nvPr/>
          </p:nvSpPr>
          <p:spPr>
            <a:xfrm>
              <a:off x="609600" y="2552700"/>
              <a:ext cx="57150" cy="1828800"/>
            </a:xfrm>
            <a:prstGeom prst="roundRect">
              <a:avLst>
                <a:gd name="adj" fmla="val 50000"/>
              </a:avLst>
            </a:prstGeom>
            <a:solidFill>
              <a:srgbClr val="F2685C"/>
            </a:solidFill>
            <a:ln>
              <a:noFill/>
            </a:ln>
          </p:spPr>
        </p:sp>
        <p:sp>
          <p:nvSpPr>
            <p:cNvPr id="13" name="TextBox 13"/>
            <p:cNvSpPr txBox="1"/>
            <p:nvPr/>
          </p:nvSpPr>
          <p:spPr>
            <a:xfrm>
              <a:off x="869823" y="2777014"/>
              <a:ext cx="1395092" cy="249364"/>
            </a:xfrm>
            <a:prstGeom prst="rect">
              <a:avLst/>
            </a:prstGeom>
            <a:noFill/>
            <a:ln>
              <a:noFill/>
            </a:ln>
          </p:spPr>
          <p:txBody>
            <a:bodyPr wrap="none" lIns="0" tIns="0" rIns="0" bIns="0" anchor="t" anchorCtr="0">
              <a:spAutoFit/>
            </a:bodyPr>
            <a:lstStyle/>
            <a:p>
              <a:pPr algn="l"/>
              <a:r>
                <a:rPr lang="en-US" sz="1280" b="1" dirty="0">
                  <a:solidFill>
                    <a:srgbClr val="F2685C"/>
                  </a:solidFill>
                  <a:latin typeface="+mn-lt"/>
                  <a:ea typeface="+mn-ea"/>
                  <a:cs typeface="+mn-cs"/>
                </a:rPr>
                <a:t>Weight space ✗</a:t>
              </a:r>
            </a:p>
          </p:txBody>
        </p:sp>
        <p:sp>
          <p:nvSpPr>
            <p:cNvPr id="14" name="TextBox 14"/>
            <p:cNvSpPr txBox="1"/>
            <p:nvPr/>
          </p:nvSpPr>
          <p:spPr>
            <a:xfrm>
              <a:off x="870966" y="3087052"/>
              <a:ext cx="656289"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mn-lt"/>
                  <a:ea typeface="+mn-ea"/>
                  <a:cs typeface="+mn-cs"/>
                </a:rPr>
                <a:t>wasteful</a:t>
              </a:r>
            </a:p>
          </p:txBody>
        </p:sp>
        <p:sp>
          <p:nvSpPr>
            <p:cNvPr id="15" name="TextBox 15"/>
            <p:cNvSpPr txBox="1"/>
            <p:nvPr/>
          </p:nvSpPr>
          <p:spPr>
            <a:xfrm>
              <a:off x="870776" y="3349704"/>
              <a:ext cx="4418106"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Networks are heavily over-parameterized, so many different</a:t>
              </a:r>
            </a:p>
          </p:txBody>
        </p:sp>
        <p:sp>
          <p:nvSpPr>
            <p:cNvPr id="16" name="TextBox 16"/>
            <p:cNvSpPr txBox="1"/>
            <p:nvPr/>
          </p:nvSpPr>
          <p:spPr>
            <a:xfrm>
              <a:off x="870776" y="3568779"/>
              <a:ext cx="4073180"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weight vectors encode the very same function. Repelling</a:t>
              </a:r>
            </a:p>
          </p:txBody>
        </p:sp>
        <p:sp>
          <p:nvSpPr>
            <p:cNvPr id="17" name="TextBox 17"/>
            <p:cNvSpPr txBox="1"/>
            <p:nvPr/>
          </p:nvSpPr>
          <p:spPr>
            <a:xfrm>
              <a:off x="870776" y="3787854"/>
              <a:ext cx="3312605"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weights mostly moves redundant coordinates.</a:t>
              </a:r>
            </a:p>
          </p:txBody>
        </p:sp>
      </p:grpSp>
      <p:grpSp>
        <p:nvGrpSpPr>
          <p:cNvPr id="26" name="Group 26"/>
          <p:cNvGrpSpPr/>
          <p:nvPr/>
        </p:nvGrpSpPr>
        <p:grpSpPr>
          <a:xfrm>
            <a:off x="6248400" y="2552700"/>
            <a:ext cx="5334000" cy="1828800"/>
            <a:chOff x="6248400" y="2552700"/>
            <a:chExt cx="5334000" cy="1828800"/>
          </a:xfrm>
        </p:grpSpPr>
        <p:sp>
          <p:nvSpPr>
            <p:cNvPr id="19" name="Rectangle 19"/>
            <p:cNvSpPr/>
            <p:nvPr/>
          </p:nvSpPr>
          <p:spPr>
            <a:xfrm>
              <a:off x="6248400" y="2552700"/>
              <a:ext cx="5334000" cy="1828800"/>
            </a:xfrm>
            <a:prstGeom prst="roundRect">
              <a:avLst>
                <a:gd name="adj" fmla="val 7292"/>
              </a:avLst>
            </a:prstGeom>
            <a:solidFill>
              <a:srgbClr val="2A2417"/>
            </a:solidFill>
            <a:ln w="14288">
              <a:solidFill>
                <a:srgbClr val="F2C14E"/>
              </a:solidFill>
            </a:ln>
          </p:spPr>
        </p:sp>
        <p:sp>
          <p:nvSpPr>
            <p:cNvPr id="20" name="Rectangle 20"/>
            <p:cNvSpPr/>
            <p:nvPr/>
          </p:nvSpPr>
          <p:spPr>
            <a:xfrm>
              <a:off x="6248400" y="2552700"/>
              <a:ext cx="57150" cy="1828800"/>
            </a:xfrm>
            <a:prstGeom prst="roundRect">
              <a:avLst>
                <a:gd name="adj" fmla="val 50000"/>
              </a:avLst>
            </a:prstGeom>
            <a:solidFill>
              <a:srgbClr val="F2C14E"/>
            </a:solidFill>
            <a:ln>
              <a:noFill/>
            </a:ln>
          </p:spPr>
        </p:sp>
        <p:sp>
          <p:nvSpPr>
            <p:cNvPr id="21" name="TextBox 21"/>
            <p:cNvSpPr txBox="1"/>
            <p:nvPr/>
          </p:nvSpPr>
          <p:spPr>
            <a:xfrm>
              <a:off x="6508623" y="2777014"/>
              <a:ext cx="1557549" cy="249364"/>
            </a:xfrm>
            <a:prstGeom prst="rect">
              <a:avLst/>
            </a:prstGeom>
            <a:noFill/>
            <a:ln>
              <a:noFill/>
            </a:ln>
          </p:spPr>
          <p:txBody>
            <a:bodyPr wrap="none" lIns="0" tIns="0" rIns="0" bIns="0" anchor="t" anchorCtr="0">
              <a:spAutoFit/>
            </a:bodyPr>
            <a:lstStyle/>
            <a:p>
              <a:pPr algn="l"/>
              <a:r>
                <a:rPr lang="en-US" sz="1280" b="1" dirty="0">
                  <a:solidFill>
                    <a:srgbClr val="F2C14E"/>
                  </a:solidFill>
                  <a:latin typeface="+mn-lt"/>
                  <a:ea typeface="+mn-ea"/>
                  <a:cs typeface="+mn-cs"/>
                </a:rPr>
                <a:t>Function space ✗</a:t>
              </a:r>
            </a:p>
          </p:txBody>
        </p:sp>
        <p:sp>
          <p:nvSpPr>
            <p:cNvPr id="22" name="TextBox 22"/>
            <p:cNvSpPr txBox="1"/>
            <p:nvPr/>
          </p:nvSpPr>
          <p:spPr>
            <a:xfrm>
              <a:off x="6509766" y="3087052"/>
              <a:ext cx="834391"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mn-lt"/>
                  <a:ea typeface="+mn-ea"/>
                  <a:cs typeface="+mn-cs"/>
                </a:rPr>
                <a:t>intractable</a:t>
              </a:r>
            </a:p>
          </p:txBody>
        </p:sp>
        <p:sp>
          <p:nvSpPr>
            <p:cNvPr id="23" name="TextBox 23"/>
            <p:cNvSpPr txBox="1"/>
            <p:nvPr/>
          </p:nvSpPr>
          <p:spPr>
            <a:xfrm>
              <a:off x="6509576" y="3349704"/>
              <a:ext cx="3985033"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Comparing whole functions is computationally hard; the</a:t>
              </a:r>
            </a:p>
          </p:txBody>
        </p:sp>
        <p:sp>
          <p:nvSpPr>
            <p:cNvPr id="24" name="TextBox 24"/>
            <p:cNvSpPr txBox="1"/>
            <p:nvPr/>
          </p:nvSpPr>
          <p:spPr>
            <a:xfrm>
              <a:off x="6509576" y="3568779"/>
              <a:ext cx="4193019"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shortcuts in prior work compared outputs only on training</a:t>
              </a:r>
            </a:p>
          </p:txBody>
        </p:sp>
        <p:sp>
          <p:nvSpPr>
            <p:cNvPr id="25" name="TextBox 25"/>
            <p:cNvSpPr txBox="1"/>
            <p:nvPr/>
          </p:nvSpPr>
          <p:spPr>
            <a:xfrm>
              <a:off x="6509576" y="3787854"/>
              <a:ext cx="2219423"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inputs and led to underfitting.</a:t>
              </a:r>
            </a:p>
          </p:txBody>
        </p:sp>
      </p:grpSp>
      <p:grpSp>
        <p:nvGrpSpPr>
          <p:cNvPr id="31" name="Group 31"/>
          <p:cNvGrpSpPr/>
          <p:nvPr/>
        </p:nvGrpSpPr>
        <p:grpSpPr>
          <a:xfrm>
            <a:off x="609600" y="4552950"/>
            <a:ext cx="10972800" cy="685800"/>
            <a:chOff x="609600" y="4552950"/>
            <a:chExt cx="10972800" cy="685800"/>
          </a:xfrm>
        </p:grpSpPr>
        <p:sp>
          <p:nvSpPr>
            <p:cNvPr id="27" name="Rectangle 27"/>
            <p:cNvSpPr/>
            <p:nvPr/>
          </p:nvSpPr>
          <p:spPr>
            <a:xfrm>
              <a:off x="609600" y="4552950"/>
              <a:ext cx="10972800" cy="685800"/>
            </a:xfrm>
            <a:prstGeom prst="roundRect">
              <a:avLst>
                <a:gd name="adj" fmla="val 19444"/>
              </a:avLst>
            </a:prstGeom>
            <a:solidFill>
              <a:schemeClr val="accent5"/>
            </a:solidFill>
            <a:ln w="14288">
              <a:solidFill>
                <a:srgbClr val="26455F"/>
              </a:solidFill>
            </a:ln>
          </p:spPr>
        </p:sp>
        <p:sp>
          <p:nvSpPr>
            <p:cNvPr id="28" name="Rectangle 28"/>
            <p:cNvSpPr/>
            <p:nvPr/>
          </p:nvSpPr>
          <p:spPr>
            <a:xfrm>
              <a:off x="609600" y="4552950"/>
              <a:ext cx="57150" cy="685800"/>
            </a:xfrm>
            <a:prstGeom prst="roundRect">
              <a:avLst>
                <a:gd name="adj" fmla="val 50000"/>
              </a:avLst>
            </a:prstGeom>
            <a:solidFill>
              <a:schemeClr val="dk2"/>
            </a:solidFill>
            <a:ln>
              <a:noFill/>
            </a:ln>
          </p:spPr>
        </p:sp>
        <p:sp>
          <p:nvSpPr>
            <p:cNvPr id="29" name="TextBox 29"/>
            <p:cNvSpPr txBox="1"/>
            <p:nvPr/>
          </p:nvSpPr>
          <p:spPr>
            <a:xfrm>
              <a:off x="870966" y="4744402"/>
              <a:ext cx="641333" cy="205359"/>
            </a:xfrm>
            <a:prstGeom prst="rect">
              <a:avLst/>
            </a:prstGeom>
            <a:noFill/>
            <a:ln>
              <a:noFill/>
            </a:ln>
          </p:spPr>
          <p:txBody>
            <a:bodyPr wrap="none" lIns="0" tIns="0" rIns="0" bIns="0" anchor="t" anchorCtr="0">
              <a:spAutoFit/>
            </a:bodyPr>
            <a:lstStyle/>
            <a:p>
              <a:pPr algn="l"/>
              <a:r>
                <a:rPr lang="en-US" sz="1050" b="1" spc="112" dirty="0">
                  <a:solidFill>
                    <a:srgbClr val="6E869C"/>
                  </a:solidFill>
                  <a:latin typeface="+mn-lt"/>
                  <a:ea typeface="+mn-ea"/>
                  <a:cs typeface="+mn-cs"/>
                </a:rPr>
                <a:t>The gap</a:t>
              </a:r>
            </a:p>
          </p:txBody>
        </p:sp>
        <p:sp>
          <p:nvSpPr>
            <p:cNvPr id="30" name="TextBox 30"/>
            <p:cNvSpPr txBox="1"/>
            <p:nvPr/>
          </p:nvSpPr>
          <p:spPr>
            <a:xfrm>
              <a:off x="870204" y="4975860"/>
              <a:ext cx="9075537"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Neither weight-space nor function-space repulsion delivered meaningful gains over standard deep ensembles.</a:t>
              </a:r>
            </a:p>
          </p:txBody>
        </p:sp>
      </p:grpSp>
      <p:sp>
        <p:nvSpPr>
          <p:cNvPr id="32" name="cue_s02_c1_ensembles_neural_networks_powerful_b" title="cue_s02_c1_ensembles_neural_networks_powerful_b" descr="cue_s02_c1_ensembles_neural_networks_powerful_b Ensembles of neural networks are powerful because different members capture different explanations of the data. Particle-based variational inference tries to make this diversity explicit by adding a repulsion term that pushes members apart. But where you apply"/>
          <p:cNvSpPr/>
          <p:nvPr/>
        </p:nvSpPr>
        <p:spPr>
          <a:xfrm>
            <a:off x="609600" y="1447723"/>
            <a:ext cx="10972800" cy="95600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ue_s02_c2_repelling_weight_space_wasteful_beca" title="cue_s02_c2_repelling_weight_space_wasteful_beca" descr="cue_s02_c2_repelling_weight_space_wasteful_beca Repelling in weight space is wasteful, because neural networks are heavily over-parameterized and many different weights encode the same function."/>
          <p:cNvSpPr/>
          <p:nvPr/>
        </p:nvSpPr>
        <p:spPr>
          <a:xfrm>
            <a:off x="609600" y="2552547"/>
            <a:ext cx="533400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2_c3_repelling_directly_function_space_so" title="cue_s02_c3_repelling_directly_function_space_so" descr="cue_s02_c3_repelling_directly_function_space_so Repelling directly in function space sounds appealing, but it requires comparing entire functions, which is computationally hard, and the shortcuts used in prior work led to underfitting."/>
          <p:cNvSpPr/>
          <p:nvPr/>
        </p:nvSpPr>
        <p:spPr>
          <a:xfrm>
            <a:off x="6248399" y="2552547"/>
            <a:ext cx="533400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2_c4_neither_weight_space_nor_function_sp" title="cue_s02_c4_neither_weight_space_nor_function_sp" descr="cue_s02_c4_neither_weight_space_nor_function_sp So neither weight-space nor function-space repulsion had delivered meaningful gains over standard deep ensembles."/>
          <p:cNvSpPr/>
          <p:nvPr/>
        </p:nvSpPr>
        <p:spPr>
          <a:xfrm>
            <a:off x="609600" y="4553026"/>
            <a:ext cx="10972800" cy="6858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453373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 third view: input gradients</a:t>
            </a:r>
          </a:p>
        </p:txBody>
      </p:sp>
      <p:grpSp>
        <p:nvGrpSpPr>
          <p:cNvPr id="11" name="Group 11"/>
          <p:cNvGrpSpPr/>
          <p:nvPr/>
        </p:nvGrpSpPr>
        <p:grpSpPr>
          <a:xfrm>
            <a:off x="609600" y="1447800"/>
            <a:ext cx="10972800" cy="1143000"/>
            <a:chOff x="609600" y="1447800"/>
            <a:chExt cx="10972800" cy="1143000"/>
          </a:xfrm>
        </p:grpSpPr>
        <p:sp>
          <p:nvSpPr>
            <p:cNvPr id="5" name="Rectangle 5"/>
            <p:cNvSpPr/>
            <p:nvPr/>
          </p:nvSpPr>
          <p:spPr>
            <a:xfrm>
              <a:off x="609600" y="1447800"/>
              <a:ext cx="10972800" cy="1143000"/>
            </a:xfrm>
            <a:prstGeom prst="roundRect">
              <a:avLst>
                <a:gd name="adj" fmla="val 11667"/>
              </a:avLst>
            </a:prstGeom>
            <a:solidFill>
              <a:schemeClr val="accent5"/>
            </a:solidFill>
            <a:ln w="14288">
              <a:solidFill>
                <a:srgbClr val="26455F"/>
              </a:solidFill>
            </a:ln>
          </p:spPr>
        </p:sp>
        <p:sp>
          <p:nvSpPr>
            <p:cNvPr id="6" name="Rectangle 6"/>
            <p:cNvSpPr/>
            <p:nvPr/>
          </p:nvSpPr>
          <p:spPr>
            <a:xfrm>
              <a:off x="609600" y="1447800"/>
              <a:ext cx="57150" cy="1143000"/>
            </a:xfrm>
            <a:prstGeom prst="roundRect">
              <a:avLst>
                <a:gd name="adj" fmla="val 50000"/>
              </a:avLst>
            </a:prstGeom>
            <a:solidFill>
              <a:srgbClr val="34D3C0"/>
            </a:solidFill>
            <a:ln>
              <a:noFill/>
            </a:ln>
          </p:spPr>
        </p:sp>
        <p:sp>
          <p:nvSpPr>
            <p:cNvPr id="7" name="TextBox 7"/>
            <p:cNvSpPr txBox="1"/>
            <p:nvPr/>
          </p:nvSpPr>
          <p:spPr>
            <a:xfrm>
              <a:off x="870585" y="1650206"/>
              <a:ext cx="2845576" cy="220028"/>
            </a:xfrm>
            <a:prstGeom prst="rect">
              <a:avLst/>
            </a:prstGeom>
            <a:noFill/>
            <a:ln>
              <a:noFill/>
            </a:ln>
          </p:spPr>
          <p:txBody>
            <a:bodyPr wrap="none" lIns="0" tIns="0" rIns="0" bIns="0" anchor="t" anchorCtr="0">
              <a:spAutoFit/>
            </a:bodyPr>
            <a:lstStyle/>
            <a:p>
              <a:pPr algn="l"/>
              <a:r>
                <a:rPr lang="en-US" sz="1120" b="1" spc="75" dirty="0">
                  <a:solidFill>
                    <a:srgbClr val="34D3C0"/>
                  </a:solidFill>
                  <a:latin typeface="+mn-lt"/>
                  <a:ea typeface="+mn-ea"/>
                  <a:cs typeface="+mn-cs"/>
                </a:rPr>
                <a:t>Represent a network a third way</a:t>
              </a:r>
            </a:p>
          </p:txBody>
        </p:sp>
        <p:sp>
          <p:nvSpPr>
            <p:cNvPr id="8" name="TextBox 8"/>
            <p:cNvSpPr txBox="1"/>
            <p:nvPr/>
          </p:nvSpPr>
          <p:spPr>
            <a:xfrm>
              <a:off x="870585" y="1916906"/>
              <a:ext cx="6936997"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Beyond its weights and its function values, a model is characterized up to a translation by its</a:t>
              </a:r>
            </a:p>
          </p:txBody>
        </p:sp>
        <p:sp>
          <p:nvSpPr>
            <p:cNvPr id="9" name="TextBox 9"/>
            <p:cNvSpPr txBox="1"/>
            <p:nvPr/>
          </p:nvSpPr>
          <p:spPr>
            <a:xfrm>
              <a:off x="870585" y="2145506"/>
              <a:ext cx="6419342"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first-order input gradients — the derivatives of the output with respect to the input.</a:t>
              </a:r>
            </a:p>
          </p:txBody>
        </p:sp>
        <p:sp>
          <p:nvSpPr>
            <p:cNvPr id="10" name="TextBox 10"/>
            <p:cNvSpPr txBox="1"/>
            <p:nvPr/>
          </p:nvSpPr>
          <p:spPr>
            <a:xfrm>
              <a:off x="871156" y="2386251"/>
              <a:ext cx="3929173" cy="198025"/>
            </a:xfrm>
            <a:prstGeom prst="rect">
              <a:avLst/>
            </a:prstGeom>
            <a:noFill/>
            <a:ln>
              <a:noFill/>
            </a:ln>
          </p:spPr>
          <p:txBody>
            <a:bodyPr wrap="none" lIns="0" tIns="0" rIns="0" bIns="0" anchor="t" anchorCtr="0">
              <a:spAutoFit/>
            </a:bodyPr>
            <a:lstStyle/>
            <a:p>
              <a:pPr algn="l"/>
              <a:r>
                <a:rPr lang="en-US" sz="1010" b="1" dirty="0">
                  <a:solidFill>
                    <a:schemeClr val="accent2"/>
                  </a:solidFill>
                  <a:latin typeface="Consolas"/>
                  <a:ea typeface="Consolas"/>
                  <a:cs typeface="Consolas"/>
                </a:rPr>
                <a:t>grad_x f(x) — derivative of the output w.r.t. the input</a:t>
              </a:r>
            </a:p>
          </p:txBody>
        </p:sp>
      </p:grpSp>
      <p:grpSp>
        <p:nvGrpSpPr>
          <p:cNvPr id="25" name="Group 25"/>
          <p:cNvGrpSpPr/>
          <p:nvPr/>
        </p:nvGrpSpPr>
        <p:grpSpPr>
          <a:xfrm>
            <a:off x="609600" y="2762250"/>
            <a:ext cx="3505200" cy="2476500"/>
            <a:chOff x="609600" y="2762250"/>
            <a:chExt cx="3505200" cy="2476500"/>
          </a:xfrm>
        </p:grpSpPr>
        <p:sp>
          <p:nvSpPr>
            <p:cNvPr id="12" name="Rectangle 12"/>
            <p:cNvSpPr/>
            <p:nvPr/>
          </p:nvSpPr>
          <p:spPr>
            <a:xfrm>
              <a:off x="609600" y="2762250"/>
              <a:ext cx="3505200" cy="2476500"/>
            </a:xfrm>
            <a:prstGeom prst="roundRect">
              <a:avLst>
                <a:gd name="adj" fmla="val 5385"/>
              </a:avLst>
            </a:prstGeom>
            <a:solidFill>
              <a:schemeClr val="accent5"/>
            </a:solidFill>
            <a:ln w="14288">
              <a:solidFill>
                <a:srgbClr val="26455F"/>
              </a:solidFill>
            </a:ln>
          </p:spPr>
        </p:sp>
        <p:sp>
          <p:nvSpPr>
            <p:cNvPr id="13" name="Rectangle 13"/>
            <p:cNvSpPr/>
            <p:nvPr/>
          </p:nvSpPr>
          <p:spPr>
            <a:xfrm>
              <a:off x="609600" y="2762250"/>
              <a:ext cx="3505200" cy="57150"/>
            </a:xfrm>
            <a:prstGeom prst="roundRect">
              <a:avLst>
                <a:gd name="adj" fmla="val 50000"/>
              </a:avLst>
            </a:prstGeom>
            <a:solidFill>
              <a:schemeClr val="accent2"/>
            </a:solidFill>
            <a:ln>
              <a:noFill/>
            </a:ln>
          </p:spPr>
        </p:sp>
        <p:sp>
          <p:nvSpPr>
            <p:cNvPr id="14" name="TextBox 14"/>
            <p:cNvSpPr txBox="1"/>
            <p:nvPr/>
          </p:nvSpPr>
          <p:spPr>
            <a:xfrm>
              <a:off x="870014" y="3028712"/>
              <a:ext cx="1851111"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Property 1 · compact</a:t>
              </a:r>
            </a:p>
          </p:txBody>
        </p:sp>
        <p:sp>
          <p:nvSpPr>
            <p:cNvPr id="15" name="TextBox 15"/>
            <p:cNvSpPr txBox="1"/>
            <p:nvPr/>
          </p:nvSpPr>
          <p:spPr>
            <a:xfrm>
              <a:off x="870776" y="3330654"/>
              <a:ext cx="290670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Input gradients are the same size as the</a:t>
              </a:r>
            </a:p>
          </p:txBody>
        </p:sp>
        <p:sp>
          <p:nvSpPr>
            <p:cNvPr id="16" name="TextBox 16"/>
            <p:cNvSpPr txBox="1"/>
            <p:nvPr/>
          </p:nvSpPr>
          <p:spPr>
            <a:xfrm>
              <a:off x="870776" y="3549729"/>
              <a:ext cx="272566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input — far smaller than the enormous</a:t>
              </a:r>
            </a:p>
          </p:txBody>
        </p:sp>
        <p:sp>
          <p:nvSpPr>
            <p:cNvPr id="17" name="TextBox 17"/>
            <p:cNvSpPr txBox="1"/>
            <p:nvPr/>
          </p:nvSpPr>
          <p:spPr>
            <a:xfrm>
              <a:off x="870776" y="3768804"/>
              <a:ext cx="265229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weight vector — so they are cheap to</a:t>
              </a:r>
            </a:p>
          </p:txBody>
        </p:sp>
        <p:sp>
          <p:nvSpPr>
            <p:cNvPr id="18" name="TextBox 18"/>
            <p:cNvSpPr txBox="1"/>
            <p:nvPr/>
          </p:nvSpPr>
          <p:spPr>
            <a:xfrm>
              <a:off x="870776" y="3987879"/>
              <a:ext cx="166182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compare with a kernel.</a:t>
              </a:r>
            </a:p>
          </p:txBody>
        </p:sp>
        <p:sp>
          <p:nvSpPr>
            <p:cNvPr id="19" name="TextBox 19"/>
            <p:cNvSpPr txBox="1"/>
            <p:nvPr/>
          </p:nvSpPr>
          <p:spPr>
            <a:xfrm>
              <a:off x="871538" y="4432697"/>
              <a:ext cx="1032624" cy="183356"/>
            </a:xfrm>
            <a:prstGeom prst="rect">
              <a:avLst/>
            </a:prstGeom>
            <a:noFill/>
            <a:ln>
              <a:noFill/>
            </a:ln>
          </p:spPr>
          <p:txBody>
            <a:bodyPr wrap="none" lIns="0" tIns="0" rIns="0" bIns="0" anchor="t" anchorCtr="0">
              <a:spAutoFit/>
            </a:bodyPr>
            <a:lstStyle/>
            <a:p>
              <a:pPr algn="l"/>
              <a:r>
                <a:rPr lang="en-US" sz="940" b="1" dirty="0">
                  <a:solidFill>
                    <a:srgbClr val="6E869C"/>
                  </a:solidFill>
                  <a:latin typeface="+mn-lt"/>
                  <a:ea typeface="+mn-ea"/>
                  <a:cs typeface="+mn-cs"/>
                </a:rPr>
                <a:t>size to compare</a:t>
              </a:r>
            </a:p>
          </p:txBody>
        </p:sp>
        <p:sp>
          <p:nvSpPr>
            <p:cNvPr id="20" name="Rectangle 20"/>
            <p:cNvSpPr/>
            <p:nvPr/>
          </p:nvSpPr>
          <p:spPr>
            <a:xfrm>
              <a:off x="876300" y="4648200"/>
              <a:ext cx="2971800" cy="190500"/>
            </a:xfrm>
            <a:prstGeom prst="roundRect">
              <a:avLst>
                <a:gd name="adj" fmla="val 25000"/>
              </a:avLst>
            </a:prstGeom>
            <a:solidFill>
              <a:srgbClr val="0E2334"/>
            </a:solidFill>
            <a:ln w="9525">
              <a:solidFill>
                <a:srgbClr val="26455F"/>
              </a:solidFill>
            </a:ln>
          </p:spPr>
        </p:sp>
        <p:sp>
          <p:nvSpPr>
            <p:cNvPr id="21" name="Rectangle 21"/>
            <p:cNvSpPr/>
            <p:nvPr/>
          </p:nvSpPr>
          <p:spPr>
            <a:xfrm>
              <a:off x="876300" y="4648200"/>
              <a:ext cx="2971800" cy="190500"/>
            </a:xfrm>
            <a:prstGeom prst="roundRect">
              <a:avLst>
                <a:gd name="adj" fmla="val 25000"/>
              </a:avLst>
            </a:prstGeom>
            <a:solidFill>
              <a:srgbClr val="F2685C"/>
            </a:solidFill>
            <a:ln>
              <a:noFill/>
            </a:ln>
          </p:spPr>
        </p:sp>
        <p:sp>
          <p:nvSpPr>
            <p:cNvPr id="22" name="TextBox 22"/>
            <p:cNvSpPr txBox="1"/>
            <p:nvPr/>
          </p:nvSpPr>
          <p:spPr>
            <a:xfrm>
              <a:off x="985838" y="4693920"/>
              <a:ext cx="492945" cy="176212"/>
            </a:xfrm>
            <a:prstGeom prst="rect">
              <a:avLst/>
            </a:prstGeom>
            <a:noFill/>
            <a:ln>
              <a:noFill/>
            </a:ln>
          </p:spPr>
          <p:txBody>
            <a:bodyPr wrap="none" lIns="0" tIns="0" rIns="0" bIns="0" anchor="t" anchorCtr="0">
              <a:spAutoFit/>
            </a:bodyPr>
            <a:lstStyle/>
            <a:p>
              <a:pPr algn="l"/>
              <a:r>
                <a:rPr lang="en-US" sz="900" b="1" dirty="0">
                  <a:solidFill>
                    <a:srgbClr val="FFFFFF"/>
                  </a:solidFill>
                  <a:latin typeface="+mn-lt"/>
                  <a:ea typeface="+mn-ea"/>
                  <a:cs typeface="+mn-cs"/>
                </a:rPr>
                <a:t>weights</a:t>
              </a:r>
            </a:p>
          </p:txBody>
        </p:sp>
        <p:sp>
          <p:nvSpPr>
            <p:cNvPr id="23" name="Rectangle 23"/>
            <p:cNvSpPr/>
            <p:nvPr/>
          </p:nvSpPr>
          <p:spPr>
            <a:xfrm>
              <a:off x="876300" y="4914900"/>
              <a:ext cx="419100" cy="190500"/>
            </a:xfrm>
            <a:prstGeom prst="roundRect">
              <a:avLst>
                <a:gd name="adj" fmla="val 25000"/>
              </a:avLst>
            </a:prstGeom>
            <a:solidFill>
              <a:schemeClr val="accent2"/>
            </a:solidFill>
            <a:ln>
              <a:noFill/>
            </a:ln>
          </p:spPr>
        </p:sp>
        <p:sp>
          <p:nvSpPr>
            <p:cNvPr id="24" name="TextBox 24"/>
            <p:cNvSpPr txBox="1"/>
            <p:nvPr/>
          </p:nvSpPr>
          <p:spPr>
            <a:xfrm>
              <a:off x="1366838" y="4960620"/>
              <a:ext cx="893676" cy="176212"/>
            </a:xfrm>
            <a:prstGeom prst="rect">
              <a:avLst/>
            </a:prstGeom>
            <a:noFill/>
            <a:ln>
              <a:noFill/>
            </a:ln>
          </p:spPr>
          <p:txBody>
            <a:bodyPr wrap="none" lIns="0" tIns="0" rIns="0" bIns="0" anchor="t" anchorCtr="0">
              <a:spAutoFit/>
            </a:bodyPr>
            <a:lstStyle/>
            <a:p>
              <a:pPr algn="l"/>
              <a:r>
                <a:rPr lang="en-US" sz="900" b="1" dirty="0">
                  <a:solidFill>
                    <a:schemeClr val="dk2"/>
                  </a:solidFill>
                  <a:latin typeface="+mn-lt"/>
                  <a:ea typeface="+mn-ea"/>
                  <a:cs typeface="+mn-cs"/>
                </a:rPr>
                <a:t>input gradient</a:t>
              </a:r>
            </a:p>
          </p:txBody>
        </p:sp>
      </p:grpSp>
      <p:grpSp>
        <p:nvGrpSpPr>
          <p:cNvPr id="38" name="Group 38"/>
          <p:cNvGrpSpPr/>
          <p:nvPr/>
        </p:nvGrpSpPr>
        <p:grpSpPr>
          <a:xfrm>
            <a:off x="4343400" y="2762250"/>
            <a:ext cx="3505200" cy="2476500"/>
            <a:chOff x="4343400" y="2762250"/>
            <a:chExt cx="3505200" cy="2476500"/>
          </a:xfrm>
        </p:grpSpPr>
        <p:sp>
          <p:nvSpPr>
            <p:cNvPr id="26" name="Rectangle 26"/>
            <p:cNvSpPr/>
            <p:nvPr/>
          </p:nvSpPr>
          <p:spPr>
            <a:xfrm>
              <a:off x="4343400" y="2762250"/>
              <a:ext cx="3505200" cy="2476500"/>
            </a:xfrm>
            <a:prstGeom prst="roundRect">
              <a:avLst>
                <a:gd name="adj" fmla="val 5385"/>
              </a:avLst>
            </a:prstGeom>
            <a:solidFill>
              <a:schemeClr val="accent5"/>
            </a:solidFill>
            <a:ln w="14288">
              <a:solidFill>
                <a:srgbClr val="26455F"/>
              </a:solidFill>
            </a:ln>
          </p:spPr>
        </p:sp>
        <p:sp>
          <p:nvSpPr>
            <p:cNvPr id="27" name="Rectangle 27"/>
            <p:cNvSpPr/>
            <p:nvPr/>
          </p:nvSpPr>
          <p:spPr>
            <a:xfrm>
              <a:off x="4343400" y="2762250"/>
              <a:ext cx="3505200" cy="57150"/>
            </a:xfrm>
            <a:prstGeom prst="roundRect">
              <a:avLst>
                <a:gd name="adj" fmla="val 50000"/>
              </a:avLst>
            </a:prstGeom>
            <a:solidFill>
              <a:srgbClr val="34D3C0"/>
            </a:solidFill>
            <a:ln>
              <a:noFill/>
            </a:ln>
          </p:spPr>
        </p:sp>
        <p:sp>
          <p:nvSpPr>
            <p:cNvPr id="28" name="TextBox 28"/>
            <p:cNvSpPr txBox="1"/>
            <p:nvPr/>
          </p:nvSpPr>
          <p:spPr>
            <a:xfrm>
              <a:off x="4603814" y="3028712"/>
              <a:ext cx="2647902"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Property 2 · distinct features</a:t>
              </a:r>
            </a:p>
          </p:txBody>
        </p:sp>
        <p:sp>
          <p:nvSpPr>
            <p:cNvPr id="29" name="TextBox 29"/>
            <p:cNvSpPr txBox="1"/>
            <p:nvPr/>
          </p:nvSpPr>
          <p:spPr>
            <a:xfrm>
              <a:off x="4604576" y="3330654"/>
              <a:ext cx="292860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Forcing members to have different input</a:t>
              </a:r>
            </a:p>
          </p:txBody>
        </p:sp>
        <p:sp>
          <p:nvSpPr>
            <p:cNvPr id="30" name="TextBox 30"/>
            <p:cNvSpPr txBox="1"/>
            <p:nvPr/>
          </p:nvSpPr>
          <p:spPr>
            <a:xfrm>
              <a:off x="4604576" y="3549729"/>
              <a:ext cx="256425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gradients forces them to depend on</a:t>
              </a:r>
            </a:p>
          </p:txBody>
        </p:sp>
        <p:sp>
          <p:nvSpPr>
            <p:cNvPr id="31" name="TextBox 31"/>
            <p:cNvSpPr txBox="1"/>
            <p:nvPr/>
          </p:nvSpPr>
          <p:spPr>
            <a:xfrm>
              <a:off x="4604576" y="3768804"/>
              <a:ext cx="274033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different input features of the data.</a:t>
              </a:r>
            </a:p>
          </p:txBody>
        </p:sp>
        <p:sp>
          <p:nvSpPr>
            <p:cNvPr id="32" name="Rectangle 32"/>
            <p:cNvSpPr/>
            <p:nvPr/>
          </p:nvSpPr>
          <p:spPr>
            <a:xfrm>
              <a:off x="4610100" y="4362450"/>
              <a:ext cx="2971800" cy="304800"/>
            </a:xfrm>
            <a:prstGeom prst="roundRect">
              <a:avLst>
                <a:gd name="adj" fmla="val 25000"/>
              </a:avLst>
            </a:prstGeom>
            <a:solidFill>
              <a:schemeClr val="accent6"/>
            </a:solidFill>
            <a:ln w="14288">
              <a:solidFill>
                <a:srgbClr val="26455F"/>
              </a:solidFill>
            </a:ln>
          </p:spPr>
        </p:sp>
        <p:sp>
          <p:nvSpPr>
            <p:cNvPr id="33" name="Ellipse 33"/>
            <p:cNvSpPr/>
            <p:nvPr/>
          </p:nvSpPr>
          <p:spPr>
            <a:xfrm>
              <a:off x="4733925" y="4467225"/>
              <a:ext cx="95250" cy="95250"/>
            </a:xfrm>
            <a:prstGeom prst="ellipse">
              <a:avLst/>
            </a:prstGeom>
            <a:solidFill>
              <a:schemeClr val="accent2"/>
            </a:solidFill>
            <a:ln>
              <a:noFill/>
            </a:ln>
          </p:spPr>
        </p:sp>
        <p:sp>
          <p:nvSpPr>
            <p:cNvPr id="34" name="TextBox 34"/>
            <p:cNvSpPr txBox="1"/>
            <p:nvPr/>
          </p:nvSpPr>
          <p:spPr>
            <a:xfrm>
              <a:off x="4928806" y="4453176"/>
              <a:ext cx="2056197"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Member A → features {edges}</a:t>
              </a:r>
            </a:p>
          </p:txBody>
        </p:sp>
        <p:sp>
          <p:nvSpPr>
            <p:cNvPr id="35" name="Rectangle 35"/>
            <p:cNvSpPr/>
            <p:nvPr/>
          </p:nvSpPr>
          <p:spPr>
            <a:xfrm>
              <a:off x="4610100" y="4743450"/>
              <a:ext cx="2971800" cy="304800"/>
            </a:xfrm>
            <a:prstGeom prst="roundRect">
              <a:avLst>
                <a:gd name="adj" fmla="val 25000"/>
              </a:avLst>
            </a:prstGeom>
            <a:solidFill>
              <a:schemeClr val="accent6"/>
            </a:solidFill>
            <a:ln w="14288">
              <a:solidFill>
                <a:srgbClr val="26455F"/>
              </a:solidFill>
            </a:ln>
          </p:spPr>
        </p:sp>
        <p:sp>
          <p:nvSpPr>
            <p:cNvPr id="36" name="Ellipse 36"/>
            <p:cNvSpPr/>
            <p:nvPr/>
          </p:nvSpPr>
          <p:spPr>
            <a:xfrm>
              <a:off x="4733925" y="4848225"/>
              <a:ext cx="95250" cy="95250"/>
            </a:xfrm>
            <a:prstGeom prst="ellipse">
              <a:avLst/>
            </a:prstGeom>
            <a:solidFill>
              <a:srgbClr val="34D3C0"/>
            </a:solidFill>
            <a:ln>
              <a:noFill/>
            </a:ln>
          </p:spPr>
        </p:sp>
        <p:sp>
          <p:nvSpPr>
            <p:cNvPr id="37" name="TextBox 37"/>
            <p:cNvSpPr txBox="1"/>
            <p:nvPr/>
          </p:nvSpPr>
          <p:spPr>
            <a:xfrm>
              <a:off x="4928806" y="4834176"/>
              <a:ext cx="2212999"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Member B → features {texture}</a:t>
              </a:r>
            </a:p>
          </p:txBody>
        </p:sp>
      </p:grpSp>
      <p:grpSp>
        <p:nvGrpSpPr>
          <p:cNvPr id="48" name="Group 48"/>
          <p:cNvGrpSpPr/>
          <p:nvPr/>
        </p:nvGrpSpPr>
        <p:grpSpPr>
          <a:xfrm>
            <a:off x="8077200" y="2762250"/>
            <a:ext cx="3505200" cy="2476500"/>
            <a:chOff x="8077200" y="2762250"/>
            <a:chExt cx="3505200" cy="2476500"/>
          </a:xfrm>
        </p:grpSpPr>
        <p:sp>
          <p:nvSpPr>
            <p:cNvPr id="39" name="Rectangle 39"/>
            <p:cNvSpPr/>
            <p:nvPr/>
          </p:nvSpPr>
          <p:spPr>
            <a:xfrm>
              <a:off x="8077200" y="2762250"/>
              <a:ext cx="3505200" cy="2476500"/>
            </a:xfrm>
            <a:prstGeom prst="roundRect">
              <a:avLst>
                <a:gd name="adj" fmla="val 5385"/>
              </a:avLst>
            </a:prstGeom>
            <a:solidFill>
              <a:srgbClr val="0F2E2B"/>
            </a:solidFill>
            <a:ln w="14288">
              <a:solidFill>
                <a:srgbClr val="34D3C0"/>
              </a:solidFill>
            </a:ln>
          </p:spPr>
        </p:sp>
        <p:sp>
          <p:nvSpPr>
            <p:cNvPr id="40" name="Rectangle 40"/>
            <p:cNvSpPr/>
            <p:nvPr/>
          </p:nvSpPr>
          <p:spPr>
            <a:xfrm>
              <a:off x="8077200" y="2762250"/>
              <a:ext cx="3505200" cy="57150"/>
            </a:xfrm>
            <a:prstGeom prst="roundRect">
              <a:avLst>
                <a:gd name="adj" fmla="val 50000"/>
              </a:avLst>
            </a:prstGeom>
            <a:solidFill>
              <a:srgbClr val="48C78E"/>
            </a:solidFill>
            <a:ln>
              <a:noFill/>
            </a:ln>
          </p:spPr>
        </p:sp>
        <p:sp>
          <p:nvSpPr>
            <p:cNvPr id="41" name="TextBox 41"/>
            <p:cNvSpPr txBox="1"/>
            <p:nvPr/>
          </p:nvSpPr>
          <p:spPr>
            <a:xfrm>
              <a:off x="8337614" y="3028712"/>
              <a:ext cx="2261868"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The intuition · robustness</a:t>
              </a:r>
            </a:p>
          </p:txBody>
        </p:sp>
        <p:sp>
          <p:nvSpPr>
            <p:cNvPr id="42" name="TextBox 42"/>
            <p:cNvSpPr txBox="1"/>
            <p:nvPr/>
          </p:nvSpPr>
          <p:spPr>
            <a:xfrm>
              <a:off x="8338376" y="3330654"/>
              <a:ext cx="2576587"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If members react to complementary</a:t>
              </a:r>
            </a:p>
          </p:txBody>
        </p:sp>
        <p:sp>
          <p:nvSpPr>
            <p:cNvPr id="43" name="TextBox 43"/>
            <p:cNvSpPr txBox="1"/>
            <p:nvPr/>
          </p:nvSpPr>
          <p:spPr>
            <a:xfrm>
              <a:off x="8338376" y="3549729"/>
              <a:ext cx="2732998"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patterns, corrupting one pattern will</a:t>
              </a:r>
            </a:p>
          </p:txBody>
        </p:sp>
        <p:sp>
          <p:nvSpPr>
            <p:cNvPr id="44" name="TextBox 44"/>
            <p:cNvSpPr txBox="1"/>
            <p:nvPr/>
          </p:nvSpPr>
          <p:spPr>
            <a:xfrm>
              <a:off x="8338376" y="3768804"/>
              <a:ext cx="2380832"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not fool all of them at once — the</a:t>
              </a:r>
            </a:p>
          </p:txBody>
        </p:sp>
        <p:sp>
          <p:nvSpPr>
            <p:cNvPr id="45" name="TextBox 45"/>
            <p:cNvSpPr txBox="1"/>
            <p:nvPr/>
          </p:nvSpPr>
          <p:spPr>
            <a:xfrm>
              <a:off x="8338376" y="3987879"/>
              <a:ext cx="1757205"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ensemble stays reliable.</a:t>
              </a:r>
            </a:p>
          </p:txBody>
        </p:sp>
        <p:sp>
          <p:nvSpPr>
            <p:cNvPr id="46" name="TextBox 46"/>
            <p:cNvSpPr txBox="1"/>
            <p:nvPr/>
          </p:nvSpPr>
          <p:spPr>
            <a:xfrm>
              <a:off x="8338947" y="4619149"/>
              <a:ext cx="1505965" cy="190690"/>
            </a:xfrm>
            <a:prstGeom prst="rect">
              <a:avLst/>
            </a:prstGeom>
            <a:noFill/>
            <a:ln>
              <a:noFill/>
            </a:ln>
          </p:spPr>
          <p:txBody>
            <a:bodyPr wrap="none" lIns="0" tIns="0" rIns="0" bIns="0" anchor="t" anchorCtr="0">
              <a:spAutoFit/>
            </a:bodyPr>
            <a:lstStyle/>
            <a:p>
              <a:pPr algn="l"/>
              <a:r>
                <a:rPr lang="en-US" sz="980" b="1" dirty="0">
                  <a:solidFill>
                    <a:srgbClr val="6E869C"/>
                  </a:solidFill>
                  <a:latin typeface="+mn-lt"/>
                  <a:ea typeface="+mn-ea"/>
                  <a:cs typeface="+mn-cs"/>
                </a:rPr>
                <a:t>corrupt one feature →</a:t>
              </a:r>
            </a:p>
          </p:txBody>
        </p:sp>
        <p:sp>
          <p:nvSpPr>
            <p:cNvPr id="47" name="TextBox 47"/>
            <p:cNvSpPr txBox="1"/>
            <p:nvPr/>
          </p:nvSpPr>
          <p:spPr>
            <a:xfrm>
              <a:off x="8338756" y="4881801"/>
              <a:ext cx="2123202" cy="198025"/>
            </a:xfrm>
            <a:prstGeom prst="rect">
              <a:avLst/>
            </a:prstGeom>
            <a:noFill/>
            <a:ln>
              <a:noFill/>
            </a:ln>
          </p:spPr>
          <p:txBody>
            <a:bodyPr wrap="none" lIns="0" tIns="0" rIns="0" bIns="0" anchor="t" anchorCtr="0">
              <a:spAutoFit/>
            </a:bodyPr>
            <a:lstStyle/>
            <a:p>
              <a:pPr algn="l"/>
              <a:r>
                <a:rPr lang="en-US" sz="1010" b="1" dirty="0">
                  <a:solidFill>
                    <a:srgbClr val="48C78E"/>
                  </a:solidFill>
                  <a:latin typeface="+mn-lt"/>
                  <a:ea typeface="+mn-ea"/>
                  <a:cs typeface="+mn-cs"/>
                </a:rPr>
                <a:t>others still classify correctly</a:t>
              </a:r>
            </a:p>
          </p:txBody>
        </p:sp>
      </p:grpSp>
      <p:sp>
        <p:nvSpPr>
          <p:cNvPr id="49" name="cue_s03_c1_authors_take_third_view_neural" title="cue_s03_c1_authors_take_third_view_neural" descr="cue_s03_c1_authors_take_third_view_neural The authors take a third view of a neural network. Beyond its weights and its function values, a model can be represented, up to a translation, by its first-order input gradients, that is, the derivatives of the output with respect to the input."/>
          <p:cNvSpPr/>
          <p:nvPr/>
        </p:nvSpPr>
        <p:spPr>
          <a:xfrm>
            <a:off x="609600" y="1447723"/>
            <a:ext cx="109728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3_c2_representation_two_attractive_proper" title="cue_s03_c2_representation_two_attractive_proper" descr="cue_s03_c2_representation_two_attractive_proper This representation has two attractive properties. First, input gradients are the same size as the input, which is far smaller than the enormous weight vector, so they are much cheaper to compare with a kernel."/>
          <p:cNvSpPr/>
          <p:nvPr/>
        </p:nvSpPr>
        <p:spPr>
          <a:xfrm>
            <a:off x="609600" y="2762402"/>
            <a:ext cx="3505199" cy="24764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3_c3_second_forcing_members_different_inp" title="cue_s03_c3_second_forcing_members_different_inp" descr="cue_s03_c3_second_forcing_members_different_inp Second, forcing members to have different input gradients means forcing them to depend on different input features."/>
          <p:cNvSpPr/>
          <p:nvPr/>
        </p:nvSpPr>
        <p:spPr>
          <a:xfrm>
            <a:off x="4344009" y="2762402"/>
            <a:ext cx="3505199" cy="24764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3_c4_intuitively_should_make_ensemble_mor" title="cue_s03_c4_intuitively_should_make_ensemble_mor" descr="cue_s03_c4_intuitively_should_make_ensemble_mor Intuitively, this should make the ensemble more robust, because if members react to complementary patterns, corrupting one pattern will not fool all of them at once."/>
          <p:cNvSpPr/>
          <p:nvPr/>
        </p:nvSpPr>
        <p:spPr>
          <a:xfrm>
            <a:off x="8077200" y="2762402"/>
            <a:ext cx="3505199" cy="24764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311754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Three contributions</a:t>
            </a:r>
          </a:p>
        </p:txBody>
      </p:sp>
      <p:grpSp>
        <p:nvGrpSpPr>
          <p:cNvPr id="8" name="Group 8"/>
          <p:cNvGrpSpPr/>
          <p:nvPr/>
        </p:nvGrpSpPr>
        <p:grpSpPr>
          <a:xfrm>
            <a:off x="609600" y="1447800"/>
            <a:ext cx="10972800" cy="609600"/>
            <a:chOff x="609600" y="1447800"/>
            <a:chExt cx="10972800" cy="609600"/>
          </a:xfrm>
        </p:grpSpPr>
        <p:sp>
          <p:nvSpPr>
            <p:cNvPr id="5" name="Rectangle 5"/>
            <p:cNvSpPr/>
            <p:nvPr/>
          </p:nvSpPr>
          <p:spPr>
            <a:xfrm>
              <a:off x="609600" y="1447800"/>
              <a:ext cx="10972800" cy="609600"/>
            </a:xfrm>
            <a:prstGeom prst="roundRect">
              <a:avLst>
                <a:gd name="adj" fmla="val 21875"/>
              </a:avLst>
            </a:prstGeom>
            <a:solidFill>
              <a:schemeClr val="accent5"/>
            </a:solidFill>
            <a:ln w="14288">
              <a:solidFill>
                <a:srgbClr val="26455F"/>
              </a:solidFill>
            </a:ln>
          </p:spPr>
        </p:sp>
        <p:sp>
          <p:nvSpPr>
            <p:cNvPr id="6" name="Rectangle 6"/>
            <p:cNvSpPr/>
            <p:nvPr/>
          </p:nvSpPr>
          <p:spPr>
            <a:xfrm>
              <a:off x="609600" y="1447800"/>
              <a:ext cx="57150" cy="609600"/>
            </a:xfrm>
            <a:prstGeom prst="roundRect">
              <a:avLst>
                <a:gd name="adj" fmla="val 50000"/>
              </a:avLst>
            </a:prstGeom>
            <a:solidFill>
              <a:schemeClr val="accent2"/>
            </a:solidFill>
            <a:ln>
              <a:noFill/>
            </a:ln>
          </p:spPr>
        </p:sp>
        <p:sp>
          <p:nvSpPr>
            <p:cNvPr id="7" name="TextBox 7"/>
            <p:cNvSpPr txBox="1"/>
            <p:nvPr/>
          </p:nvSpPr>
          <p:spPr>
            <a:xfrm>
              <a:off x="869823" y="1691164"/>
              <a:ext cx="7907760"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A new repulsion space, a practical kernel, and a data-driven way to set its lengthscales.</a:t>
              </a:r>
            </a:p>
          </p:txBody>
        </p:sp>
      </p:grpSp>
      <p:grpSp>
        <p:nvGrpSpPr>
          <p:cNvPr id="17" name="Group 17"/>
          <p:cNvGrpSpPr/>
          <p:nvPr/>
        </p:nvGrpSpPr>
        <p:grpSpPr>
          <a:xfrm>
            <a:off x="609600" y="2286000"/>
            <a:ext cx="3505200" cy="3048000"/>
            <a:chOff x="609600" y="2286000"/>
            <a:chExt cx="3505200" cy="3048000"/>
          </a:xfrm>
        </p:grpSpPr>
        <p:sp>
          <p:nvSpPr>
            <p:cNvPr id="9" name="Rectangle 9"/>
            <p:cNvSpPr/>
            <p:nvPr/>
          </p:nvSpPr>
          <p:spPr>
            <a:xfrm>
              <a:off x="609600" y="2286000"/>
              <a:ext cx="3505200" cy="3048000"/>
            </a:xfrm>
            <a:prstGeom prst="roundRect">
              <a:avLst>
                <a:gd name="adj" fmla="val 4375"/>
              </a:avLst>
            </a:prstGeom>
            <a:solidFill>
              <a:schemeClr val="accent5"/>
            </a:solidFill>
            <a:ln w="14288">
              <a:solidFill>
                <a:srgbClr val="26455F"/>
              </a:solidFill>
            </a:ln>
          </p:spPr>
        </p:sp>
        <p:sp>
          <p:nvSpPr>
            <p:cNvPr id="10" name="Rectangle 10"/>
            <p:cNvSpPr/>
            <p:nvPr/>
          </p:nvSpPr>
          <p:spPr>
            <a:xfrm>
              <a:off x="609600" y="2286000"/>
              <a:ext cx="3505200" cy="57150"/>
            </a:xfrm>
            <a:prstGeom prst="roundRect">
              <a:avLst>
                <a:gd name="adj" fmla="val 50000"/>
              </a:avLst>
            </a:prstGeom>
            <a:solidFill>
              <a:schemeClr val="accent2"/>
            </a:solidFill>
            <a:ln>
              <a:noFill/>
            </a:ln>
          </p:spPr>
        </p:sp>
        <p:sp>
          <p:nvSpPr>
            <p:cNvPr id="11" name="Ellipse 11"/>
            <p:cNvSpPr/>
            <p:nvPr/>
          </p:nvSpPr>
          <p:spPr>
            <a:xfrm>
              <a:off x="847725" y="2695575"/>
              <a:ext cx="514350" cy="514350"/>
            </a:xfrm>
            <a:prstGeom prst="ellipse">
              <a:avLst/>
            </a:prstGeom>
            <a:noFill/>
            <a:ln w="23812">
              <a:solidFill>
                <a:schemeClr val="accent2"/>
              </a:solidFill>
            </a:ln>
          </p:spPr>
        </p:sp>
        <p:sp>
          <p:nvSpPr>
            <p:cNvPr id="12" name="TextBox 12"/>
            <p:cNvSpPr txBox="1"/>
            <p:nvPr/>
          </p:nvSpPr>
          <p:spPr>
            <a:xfrm>
              <a:off x="1006009" y="2805112"/>
              <a:ext cx="197782"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1</a:t>
              </a:r>
            </a:p>
          </p:txBody>
        </p:sp>
        <p:sp>
          <p:nvSpPr>
            <p:cNvPr id="13" name="TextBox 13"/>
            <p:cNvSpPr txBox="1"/>
            <p:nvPr/>
          </p:nvSpPr>
          <p:spPr>
            <a:xfrm>
              <a:off x="869061" y="3465671"/>
              <a:ext cx="208803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Repel input gradients</a:t>
              </a:r>
            </a:p>
          </p:txBody>
        </p:sp>
        <p:sp>
          <p:nvSpPr>
            <p:cNvPr id="14" name="TextBox 14"/>
            <p:cNvSpPr txBox="1"/>
            <p:nvPr/>
          </p:nvSpPr>
          <p:spPr>
            <a:xfrm>
              <a:off x="870776" y="3864054"/>
              <a:ext cx="260599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 method that adds a repulsion term</a:t>
              </a:r>
            </a:p>
          </p:txBody>
        </p:sp>
        <p:sp>
          <p:nvSpPr>
            <p:cNvPr id="15" name="TextBox 15"/>
            <p:cNvSpPr txBox="1"/>
            <p:nvPr/>
          </p:nvSpPr>
          <p:spPr>
            <a:xfrm>
              <a:off x="870776" y="4092654"/>
              <a:ext cx="278435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defined on input gradients rather than</a:t>
              </a:r>
            </a:p>
          </p:txBody>
        </p:sp>
        <p:sp>
          <p:nvSpPr>
            <p:cNvPr id="16" name="TextBox 16"/>
            <p:cNvSpPr txBox="1"/>
            <p:nvPr/>
          </p:nvSpPr>
          <p:spPr>
            <a:xfrm>
              <a:off x="870776" y="4321254"/>
              <a:ext cx="232213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on weights or function outputs.</a:t>
              </a:r>
            </a:p>
          </p:txBody>
        </p:sp>
      </p:grpSp>
      <p:grpSp>
        <p:nvGrpSpPr>
          <p:cNvPr id="28" name="Group 28"/>
          <p:cNvGrpSpPr/>
          <p:nvPr/>
        </p:nvGrpSpPr>
        <p:grpSpPr>
          <a:xfrm>
            <a:off x="4343400" y="2286000"/>
            <a:ext cx="3505200" cy="3048000"/>
            <a:chOff x="4343400" y="2286000"/>
            <a:chExt cx="3505200" cy="3048000"/>
          </a:xfrm>
        </p:grpSpPr>
        <p:sp>
          <p:nvSpPr>
            <p:cNvPr id="18" name="Rectangle 18"/>
            <p:cNvSpPr/>
            <p:nvPr/>
          </p:nvSpPr>
          <p:spPr>
            <a:xfrm>
              <a:off x="4343400" y="2286000"/>
              <a:ext cx="3505200" cy="3048000"/>
            </a:xfrm>
            <a:prstGeom prst="roundRect">
              <a:avLst>
                <a:gd name="adj" fmla="val 4375"/>
              </a:avLst>
            </a:prstGeom>
            <a:solidFill>
              <a:schemeClr val="accent5"/>
            </a:solidFill>
            <a:ln w="14288">
              <a:solidFill>
                <a:srgbClr val="26455F"/>
              </a:solidFill>
            </a:ln>
          </p:spPr>
        </p:sp>
        <p:sp>
          <p:nvSpPr>
            <p:cNvPr id="19" name="Rectangle 19"/>
            <p:cNvSpPr/>
            <p:nvPr/>
          </p:nvSpPr>
          <p:spPr>
            <a:xfrm>
              <a:off x="4343400" y="2286000"/>
              <a:ext cx="3505200" cy="57150"/>
            </a:xfrm>
            <a:prstGeom prst="roundRect">
              <a:avLst>
                <a:gd name="adj" fmla="val 50000"/>
              </a:avLst>
            </a:prstGeom>
            <a:solidFill>
              <a:srgbClr val="34D3C0"/>
            </a:solidFill>
            <a:ln>
              <a:noFill/>
            </a:ln>
          </p:spPr>
        </p:sp>
        <p:sp>
          <p:nvSpPr>
            <p:cNvPr id="20" name="Ellipse 20"/>
            <p:cNvSpPr/>
            <p:nvPr/>
          </p:nvSpPr>
          <p:spPr>
            <a:xfrm>
              <a:off x="4581525" y="2695575"/>
              <a:ext cx="514350" cy="514350"/>
            </a:xfrm>
            <a:prstGeom prst="ellipse">
              <a:avLst/>
            </a:prstGeom>
            <a:noFill/>
            <a:ln w="23812">
              <a:solidFill>
                <a:srgbClr val="34D3C0"/>
              </a:solidFill>
            </a:ln>
          </p:spPr>
        </p:sp>
        <p:sp>
          <p:nvSpPr>
            <p:cNvPr id="21" name="TextBox 21"/>
            <p:cNvSpPr txBox="1"/>
            <p:nvPr/>
          </p:nvSpPr>
          <p:spPr>
            <a:xfrm>
              <a:off x="4739809" y="2805112"/>
              <a:ext cx="197782" cy="440055"/>
            </a:xfrm>
            <a:prstGeom prst="rect">
              <a:avLst/>
            </a:prstGeom>
            <a:noFill/>
            <a:ln>
              <a:noFill/>
            </a:ln>
          </p:spPr>
          <p:txBody>
            <a:bodyPr wrap="none" lIns="0" tIns="0" rIns="0" bIns="0" anchor="t" anchorCtr="0">
              <a:spAutoFit/>
            </a:bodyPr>
            <a:lstStyle/>
            <a:p>
              <a:pPr algn="ctr"/>
              <a:r>
                <a:rPr lang="en-US" sz="2250" b="1" dirty="0">
                  <a:solidFill>
                    <a:srgbClr val="34D3C0"/>
                  </a:solidFill>
                  <a:latin typeface="+mn-lt"/>
                  <a:ea typeface="+mn-ea"/>
                  <a:cs typeface="+mn-cs"/>
                </a:rPr>
                <a:t>2</a:t>
              </a:r>
            </a:p>
          </p:txBody>
        </p:sp>
        <p:sp>
          <p:nvSpPr>
            <p:cNvPr id="22" name="TextBox 22"/>
            <p:cNvSpPr txBox="1"/>
            <p:nvPr/>
          </p:nvSpPr>
          <p:spPr>
            <a:xfrm>
              <a:off x="4602861" y="3465671"/>
              <a:ext cx="181726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 practical, linear</a:t>
              </a:r>
            </a:p>
          </p:txBody>
        </p:sp>
        <p:sp>
          <p:nvSpPr>
            <p:cNvPr id="23" name="TextBox 23"/>
            <p:cNvSpPr txBox="1"/>
            <p:nvPr/>
          </p:nvSpPr>
          <p:spPr>
            <a:xfrm>
              <a:off x="4602861" y="3732371"/>
              <a:ext cx="62666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kernel</a:t>
              </a:r>
            </a:p>
          </p:txBody>
        </p:sp>
        <p:sp>
          <p:nvSpPr>
            <p:cNvPr id="24" name="TextBox 24"/>
            <p:cNvSpPr txBox="1"/>
            <p:nvPr/>
          </p:nvSpPr>
          <p:spPr>
            <a:xfrm>
              <a:off x="4604576" y="4130754"/>
              <a:ext cx="297255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Compares the normalized true-label input</a:t>
              </a:r>
            </a:p>
          </p:txBody>
        </p:sp>
        <p:sp>
          <p:nvSpPr>
            <p:cNvPr id="25" name="TextBox 25"/>
            <p:cNvSpPr txBox="1"/>
            <p:nvPr/>
          </p:nvSpPr>
          <p:spPr>
            <a:xfrm>
              <a:off x="4604576" y="4359354"/>
              <a:ext cx="286506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gradients across training data, keeping</a:t>
              </a:r>
            </a:p>
          </p:txBody>
        </p:sp>
        <p:sp>
          <p:nvSpPr>
            <p:cNvPr id="26" name="TextBox 26"/>
            <p:cNvSpPr txBox="1"/>
            <p:nvPr/>
          </p:nvSpPr>
          <p:spPr>
            <a:xfrm>
              <a:off x="4604576" y="4587954"/>
              <a:ext cx="256425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computation linear in the number of</a:t>
              </a:r>
            </a:p>
          </p:txBody>
        </p:sp>
        <p:sp>
          <p:nvSpPr>
            <p:cNvPr id="27" name="TextBox 27"/>
            <p:cNvSpPr txBox="1"/>
            <p:nvPr/>
          </p:nvSpPr>
          <p:spPr>
            <a:xfrm>
              <a:off x="4604576" y="4816554"/>
              <a:ext cx="64935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samples.</a:t>
              </a:r>
            </a:p>
          </p:txBody>
        </p:sp>
      </p:grpSp>
      <p:grpSp>
        <p:nvGrpSpPr>
          <p:cNvPr id="38" name="Group 38"/>
          <p:cNvGrpSpPr/>
          <p:nvPr/>
        </p:nvGrpSpPr>
        <p:grpSpPr>
          <a:xfrm>
            <a:off x="8077200" y="2286000"/>
            <a:ext cx="3505200" cy="3048000"/>
            <a:chOff x="8077200" y="2286000"/>
            <a:chExt cx="3505200" cy="3048000"/>
          </a:xfrm>
        </p:grpSpPr>
        <p:sp>
          <p:nvSpPr>
            <p:cNvPr id="29" name="Rectangle 29"/>
            <p:cNvSpPr/>
            <p:nvPr/>
          </p:nvSpPr>
          <p:spPr>
            <a:xfrm>
              <a:off x="8077200" y="2286000"/>
              <a:ext cx="3505200" cy="3048000"/>
            </a:xfrm>
            <a:prstGeom prst="roundRect">
              <a:avLst>
                <a:gd name="adj" fmla="val 4375"/>
              </a:avLst>
            </a:prstGeom>
            <a:solidFill>
              <a:schemeClr val="accent5"/>
            </a:solidFill>
            <a:ln w="14288">
              <a:solidFill>
                <a:srgbClr val="26455F"/>
              </a:solidFill>
            </a:ln>
          </p:spPr>
        </p:sp>
        <p:sp>
          <p:nvSpPr>
            <p:cNvPr id="30" name="Rectangle 30"/>
            <p:cNvSpPr/>
            <p:nvPr/>
          </p:nvSpPr>
          <p:spPr>
            <a:xfrm>
              <a:off x="8077200" y="2286000"/>
              <a:ext cx="3505200" cy="57150"/>
            </a:xfrm>
            <a:prstGeom prst="roundRect">
              <a:avLst>
                <a:gd name="adj" fmla="val 50000"/>
              </a:avLst>
            </a:prstGeom>
            <a:solidFill>
              <a:srgbClr val="F2C14E"/>
            </a:solidFill>
            <a:ln>
              <a:noFill/>
            </a:ln>
          </p:spPr>
        </p:sp>
        <p:sp>
          <p:nvSpPr>
            <p:cNvPr id="31" name="Ellipse 31"/>
            <p:cNvSpPr/>
            <p:nvPr/>
          </p:nvSpPr>
          <p:spPr>
            <a:xfrm>
              <a:off x="8315325" y="2695575"/>
              <a:ext cx="514350" cy="514350"/>
            </a:xfrm>
            <a:prstGeom prst="ellipse">
              <a:avLst/>
            </a:prstGeom>
            <a:noFill/>
            <a:ln w="23812">
              <a:solidFill>
                <a:srgbClr val="F2C14E"/>
              </a:solidFill>
            </a:ln>
          </p:spPr>
        </p:sp>
        <p:sp>
          <p:nvSpPr>
            <p:cNvPr id="32" name="TextBox 32"/>
            <p:cNvSpPr txBox="1"/>
            <p:nvPr/>
          </p:nvSpPr>
          <p:spPr>
            <a:xfrm>
              <a:off x="8473609" y="2805112"/>
              <a:ext cx="197782"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3</a:t>
              </a:r>
            </a:p>
          </p:txBody>
        </p:sp>
        <p:sp>
          <p:nvSpPr>
            <p:cNvPr id="33" name="TextBox 33"/>
            <p:cNvSpPr txBox="1"/>
            <p:nvPr/>
          </p:nvSpPr>
          <p:spPr>
            <a:xfrm>
              <a:off x="8336661" y="3465671"/>
              <a:ext cx="164855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PCA lengthscales</a:t>
              </a:r>
            </a:p>
          </p:txBody>
        </p:sp>
        <p:sp>
          <p:nvSpPr>
            <p:cNvPr id="34" name="TextBox 34"/>
            <p:cNvSpPr txBox="1"/>
            <p:nvPr/>
          </p:nvSpPr>
          <p:spPr>
            <a:xfrm>
              <a:off x="8338376" y="3864054"/>
              <a:ext cx="297990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Chooses the kernel lengthscales from the</a:t>
              </a:r>
            </a:p>
          </p:txBody>
        </p:sp>
        <p:sp>
          <p:nvSpPr>
            <p:cNvPr id="35" name="TextBox 35"/>
            <p:cNvSpPr txBox="1"/>
            <p:nvPr/>
          </p:nvSpPr>
          <p:spPr>
            <a:xfrm>
              <a:off x="8338376" y="4092654"/>
              <a:ext cx="244686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principal components of the data,</a:t>
              </a:r>
            </a:p>
          </p:txBody>
        </p:sp>
        <p:sp>
          <p:nvSpPr>
            <p:cNvPr id="36" name="TextBox 36"/>
            <p:cNvSpPr txBox="1"/>
            <p:nvPr/>
          </p:nvSpPr>
          <p:spPr>
            <a:xfrm>
              <a:off x="8338376" y="4321254"/>
              <a:ext cx="285038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emphasizing high-variance features for</a:t>
              </a:r>
            </a:p>
          </p:txBody>
        </p:sp>
        <p:sp>
          <p:nvSpPr>
            <p:cNvPr id="37" name="TextBox 37"/>
            <p:cNvSpPr txBox="1"/>
            <p:nvPr/>
          </p:nvSpPr>
          <p:spPr>
            <a:xfrm>
              <a:off x="8338376" y="4549854"/>
              <a:ext cx="171318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corruption robustness.</a:t>
              </a:r>
            </a:p>
          </p:txBody>
        </p:sp>
      </p:grpSp>
      <p:sp>
        <p:nvSpPr>
          <p:cNvPr id="39" name="cue_s04_c1_makes_three_main_contributions" title="cue_s04_c1_makes_three_main_contributions" descr="cue_s04_c1_makes_three_main_contributions The paper makes three main contributions."/>
          <p:cNvSpPr/>
          <p:nvPr/>
        </p:nvSpPr>
        <p:spPr>
          <a:xfrm>
            <a:off x="609600" y="1447723"/>
            <a:ext cx="10972800" cy="6096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4_c2_first_introduces_first_order_repulsi" title="cue_s04_c2_first_introduces_first_order_repulsi" descr="cue_s04_c2_first_introduces_first_order_repulsi First, it introduces First-order Repulsive Deep Ensembles, a method that adds a repulsion term defined on input gradients rather than weights or function outputs."/>
          <p:cNvSpPr/>
          <p:nvPr/>
        </p:nvSpPr>
        <p:spPr>
          <a:xfrm>
            <a:off x="609600" y="2285771"/>
            <a:ext cx="3505199"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4_c3_second_develops_practical_kernel_com" title="cue_s04_c3_second_develops_practical_kernel_com" descr="cue_s04_c3_second_develops_practical_kernel_com Second, it develops a practical kernel that compares the normalized input gradients of the true label across training data, keeping computation linear in the number of samples."/>
          <p:cNvSpPr/>
          <p:nvPr/>
        </p:nvSpPr>
        <p:spPr>
          <a:xfrm>
            <a:off x="4344009" y="2285771"/>
            <a:ext cx="3505199"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4_c4_third_proposes_principled_way_choose" title="cue_s04_c4_third_proposes_principled_way_choose" descr="cue_s04_c4_third_proposes_principled_way_choose Third, it proposes a principled way to choose the kernel lengthscales using the principal components of the data, which lets FoRDE emphasize high-variance features and become especially robust to input corruptions."/>
          <p:cNvSpPr/>
          <p:nvPr/>
        </p:nvSpPr>
        <p:spPr>
          <a:xfrm>
            <a:off x="8077200" y="2285771"/>
            <a:ext cx="3505199"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688710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Wasserstein descent, input-gradient kernel</a:t>
            </a:r>
          </a:p>
        </p:txBody>
      </p:sp>
      <p:grpSp>
        <p:nvGrpSpPr>
          <p:cNvPr id="16" name="Group 16"/>
          <p:cNvGrpSpPr/>
          <p:nvPr/>
        </p:nvGrpSpPr>
        <p:grpSpPr>
          <a:xfrm>
            <a:off x="609600" y="1447800"/>
            <a:ext cx="5410200" cy="1885950"/>
            <a:chOff x="609600" y="1447800"/>
            <a:chExt cx="5410200" cy="1885950"/>
          </a:xfrm>
        </p:grpSpPr>
        <p:sp>
          <p:nvSpPr>
            <p:cNvPr id="5" name="Rectangle 5"/>
            <p:cNvSpPr/>
            <p:nvPr/>
          </p:nvSpPr>
          <p:spPr>
            <a:xfrm>
              <a:off x="609600" y="1447800"/>
              <a:ext cx="5410200" cy="1885950"/>
            </a:xfrm>
            <a:prstGeom prst="roundRect">
              <a:avLst>
                <a:gd name="adj" fmla="val 7071"/>
              </a:avLst>
            </a:prstGeom>
            <a:solidFill>
              <a:schemeClr val="accent5"/>
            </a:solidFill>
            <a:ln w="14288">
              <a:solidFill>
                <a:srgbClr val="26455F"/>
              </a:solidFill>
            </a:ln>
          </p:spPr>
        </p:sp>
        <p:sp>
          <p:nvSpPr>
            <p:cNvPr id="6" name="Rectangle 6"/>
            <p:cNvSpPr/>
            <p:nvPr/>
          </p:nvSpPr>
          <p:spPr>
            <a:xfrm>
              <a:off x="609600" y="1447800"/>
              <a:ext cx="57150" cy="1885950"/>
            </a:xfrm>
            <a:prstGeom prst="roundRect">
              <a:avLst>
                <a:gd name="adj" fmla="val 50000"/>
              </a:avLst>
            </a:prstGeom>
            <a:solidFill>
              <a:schemeClr val="accent2"/>
            </a:solidFill>
            <a:ln>
              <a:noFill/>
            </a:ln>
          </p:spPr>
        </p:sp>
        <p:sp>
          <p:nvSpPr>
            <p:cNvPr id="7" name="TextBox 7"/>
            <p:cNvSpPr txBox="1"/>
            <p:nvPr/>
          </p:nvSpPr>
          <p:spPr>
            <a:xfrm>
              <a:off x="869823" y="1672114"/>
              <a:ext cx="2660272"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Wasserstein gradient descent</a:t>
              </a:r>
            </a:p>
          </p:txBody>
        </p:sp>
        <p:sp>
          <p:nvSpPr>
            <p:cNvPr id="8" name="TextBox 8"/>
            <p:cNvSpPr txBox="1"/>
            <p:nvPr/>
          </p:nvSpPr>
          <p:spPr>
            <a:xfrm>
              <a:off x="870776" y="1978104"/>
              <a:ext cx="388748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Each network in the ensemble is a particle. Its update</a:t>
              </a:r>
            </a:p>
          </p:txBody>
        </p:sp>
        <p:sp>
          <p:nvSpPr>
            <p:cNvPr id="9" name="TextBox 9"/>
            <p:cNvSpPr txBox="1"/>
            <p:nvPr/>
          </p:nvSpPr>
          <p:spPr>
            <a:xfrm>
              <a:off x="870776" y="2187654"/>
              <a:ext cx="259359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combines two forces at every step.</a:t>
              </a:r>
            </a:p>
          </p:txBody>
        </p:sp>
        <p:sp>
          <p:nvSpPr>
            <p:cNvPr id="10" name="Rectangle 10"/>
            <p:cNvSpPr/>
            <p:nvPr/>
          </p:nvSpPr>
          <p:spPr>
            <a:xfrm>
              <a:off x="876300" y="2514600"/>
              <a:ext cx="4876800" cy="323850"/>
            </a:xfrm>
            <a:prstGeom prst="roundRect">
              <a:avLst>
                <a:gd name="adj" fmla="val 23529"/>
              </a:avLst>
            </a:prstGeom>
            <a:solidFill>
              <a:schemeClr val="accent6"/>
            </a:solidFill>
            <a:ln w="14288">
              <a:solidFill>
                <a:srgbClr val="26455F"/>
              </a:solidFill>
            </a:ln>
          </p:spPr>
        </p:sp>
        <p:sp>
          <p:nvSpPr>
            <p:cNvPr id="11" name="Ellipse 11"/>
            <p:cNvSpPr/>
            <p:nvPr/>
          </p:nvSpPr>
          <p:spPr>
            <a:xfrm>
              <a:off x="1000125" y="2628900"/>
              <a:ext cx="95250" cy="95250"/>
            </a:xfrm>
            <a:prstGeom prst="ellipse">
              <a:avLst/>
            </a:prstGeom>
            <a:solidFill>
              <a:schemeClr val="accent2"/>
            </a:solidFill>
            <a:ln>
              <a:noFill/>
            </a:ln>
          </p:spPr>
        </p:sp>
        <p:sp>
          <p:nvSpPr>
            <p:cNvPr id="12" name="TextBox 12"/>
            <p:cNvSpPr txBox="1"/>
            <p:nvPr/>
          </p:nvSpPr>
          <p:spPr>
            <a:xfrm>
              <a:off x="1195006" y="2614851"/>
              <a:ext cx="3224899"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Driving force → toward the Bayesian posterior</a:t>
              </a:r>
            </a:p>
          </p:txBody>
        </p:sp>
        <p:sp>
          <p:nvSpPr>
            <p:cNvPr id="13" name="Rectangle 13"/>
            <p:cNvSpPr/>
            <p:nvPr/>
          </p:nvSpPr>
          <p:spPr>
            <a:xfrm>
              <a:off x="876300" y="2914650"/>
              <a:ext cx="4876800" cy="323850"/>
            </a:xfrm>
            <a:prstGeom prst="roundRect">
              <a:avLst>
                <a:gd name="adj" fmla="val 23529"/>
              </a:avLst>
            </a:prstGeom>
            <a:solidFill>
              <a:schemeClr val="accent6"/>
            </a:solidFill>
            <a:ln w="14288">
              <a:solidFill>
                <a:srgbClr val="26455F"/>
              </a:solidFill>
            </a:ln>
          </p:spPr>
        </p:sp>
        <p:sp>
          <p:nvSpPr>
            <p:cNvPr id="14" name="Ellipse 14"/>
            <p:cNvSpPr/>
            <p:nvPr/>
          </p:nvSpPr>
          <p:spPr>
            <a:xfrm>
              <a:off x="1000125" y="3028950"/>
              <a:ext cx="95250" cy="95250"/>
            </a:xfrm>
            <a:prstGeom prst="ellipse">
              <a:avLst/>
            </a:prstGeom>
            <a:solidFill>
              <a:srgbClr val="34D3C0"/>
            </a:solidFill>
            <a:ln>
              <a:noFill/>
            </a:ln>
          </p:spPr>
        </p:sp>
        <p:sp>
          <p:nvSpPr>
            <p:cNvPr id="15" name="TextBox 15"/>
            <p:cNvSpPr txBox="1"/>
            <p:nvPr/>
          </p:nvSpPr>
          <p:spPr>
            <a:xfrm>
              <a:off x="1195006" y="3014901"/>
              <a:ext cx="2834580"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Repulsion force → pushes particles apart</a:t>
              </a:r>
            </a:p>
          </p:txBody>
        </p:sp>
      </p:grpSp>
      <p:grpSp>
        <p:nvGrpSpPr>
          <p:cNvPr id="25" name="Group 25"/>
          <p:cNvGrpSpPr/>
          <p:nvPr/>
        </p:nvGrpSpPr>
        <p:grpSpPr>
          <a:xfrm>
            <a:off x="6172200" y="1447800"/>
            <a:ext cx="5410200" cy="1885950"/>
            <a:chOff x="6172200" y="1447800"/>
            <a:chExt cx="5410200" cy="1885950"/>
          </a:xfrm>
        </p:grpSpPr>
        <p:sp>
          <p:nvSpPr>
            <p:cNvPr id="17" name="Rectangle 17"/>
            <p:cNvSpPr/>
            <p:nvPr/>
          </p:nvSpPr>
          <p:spPr>
            <a:xfrm>
              <a:off x="6172200" y="1447800"/>
              <a:ext cx="5410200" cy="1885950"/>
            </a:xfrm>
            <a:prstGeom prst="roundRect">
              <a:avLst>
                <a:gd name="adj" fmla="val 7071"/>
              </a:avLst>
            </a:prstGeom>
            <a:solidFill>
              <a:schemeClr val="accent5"/>
            </a:solidFill>
            <a:ln w="14288">
              <a:solidFill>
                <a:srgbClr val="26455F"/>
              </a:solidFill>
            </a:ln>
          </p:spPr>
        </p:sp>
        <p:sp>
          <p:nvSpPr>
            <p:cNvPr id="18" name="Rectangle 18"/>
            <p:cNvSpPr/>
            <p:nvPr/>
          </p:nvSpPr>
          <p:spPr>
            <a:xfrm>
              <a:off x="6172200" y="1447800"/>
              <a:ext cx="57150" cy="1885950"/>
            </a:xfrm>
            <a:prstGeom prst="roundRect">
              <a:avLst>
                <a:gd name="adj" fmla="val 50000"/>
              </a:avLst>
            </a:prstGeom>
            <a:solidFill>
              <a:srgbClr val="34D3C0"/>
            </a:solidFill>
            <a:ln>
              <a:noFill/>
            </a:ln>
          </p:spPr>
        </p:sp>
        <p:sp>
          <p:nvSpPr>
            <p:cNvPr id="19" name="TextBox 19"/>
            <p:cNvSpPr txBox="1"/>
            <p:nvPr/>
          </p:nvSpPr>
          <p:spPr>
            <a:xfrm>
              <a:off x="6432423" y="1672114"/>
              <a:ext cx="1728429" cy="249364"/>
            </a:xfrm>
            <a:prstGeom prst="rect">
              <a:avLst/>
            </a:prstGeom>
            <a:noFill/>
            <a:ln>
              <a:noFill/>
            </a:ln>
          </p:spPr>
          <p:txBody>
            <a:bodyPr wrap="none" lIns="0" tIns="0" rIns="0" bIns="0" anchor="t" anchorCtr="0">
              <a:spAutoFit/>
            </a:bodyPr>
            <a:lstStyle/>
            <a:p>
              <a:pPr algn="l"/>
              <a:r>
                <a:rPr lang="en-US" sz="1280" b="1" dirty="0">
                  <a:solidFill>
                    <a:srgbClr val="34D3C0"/>
                  </a:solidFill>
                  <a:latin typeface="+mn-lt"/>
                  <a:ea typeface="+mn-ea"/>
                  <a:cs typeface="+mn-cs"/>
                </a:rPr>
                <a:t>The particle update</a:t>
              </a:r>
            </a:p>
          </p:txBody>
        </p:sp>
        <p:sp>
          <p:nvSpPr>
            <p:cNvPr id="20" name="TextBox 20"/>
            <p:cNvSpPr txBox="1"/>
            <p:nvPr/>
          </p:nvSpPr>
          <p:spPr>
            <a:xfrm>
              <a:off x="6433376" y="1978104"/>
              <a:ext cx="427130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Driving term climbs the log-posterior; the kernel-weighted</a:t>
              </a:r>
            </a:p>
          </p:txBody>
        </p:sp>
        <p:sp>
          <p:nvSpPr>
            <p:cNvPr id="21" name="TextBox 21"/>
            <p:cNvSpPr txBox="1"/>
            <p:nvPr/>
          </p:nvSpPr>
          <p:spPr>
            <a:xfrm>
              <a:off x="6433376" y="2187654"/>
              <a:ext cx="270365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repulsion term spreads members out.</a:t>
              </a:r>
            </a:p>
          </p:txBody>
        </p:sp>
        <p:sp>
          <p:nvSpPr>
            <p:cNvPr id="22" name="Rectangle 22"/>
            <p:cNvSpPr/>
            <p:nvPr/>
          </p:nvSpPr>
          <p:spPr>
            <a:xfrm>
              <a:off x="6438900" y="2571750"/>
              <a:ext cx="4876800" cy="552450"/>
            </a:xfrm>
            <a:prstGeom prst="roundRect">
              <a:avLst>
                <a:gd name="adj" fmla="val 13793"/>
              </a:avLst>
            </a:prstGeom>
            <a:solidFill>
              <a:schemeClr val="accent6"/>
            </a:solidFill>
            <a:ln w="14288">
              <a:solidFill>
                <a:srgbClr val="26455F"/>
              </a:solidFill>
            </a:ln>
          </p:spPr>
        </p:sp>
        <p:sp>
          <p:nvSpPr>
            <p:cNvPr id="23" name="TextBox 23"/>
            <p:cNvSpPr txBox="1"/>
            <p:nvPr/>
          </p:nvSpPr>
          <p:spPr>
            <a:xfrm>
              <a:off x="7284496" y="2678906"/>
              <a:ext cx="3185608"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Consolas"/>
                  <a:ea typeface="Consolas"/>
                  <a:cs typeface="Consolas"/>
                </a:rPr>
                <a:t>theta+ = theta + eta ( grad log pi(theta)</a:t>
              </a:r>
            </a:p>
          </p:txBody>
        </p:sp>
        <p:sp>
          <p:nvSpPr>
            <p:cNvPr id="24" name="TextBox 24"/>
            <p:cNvSpPr txBox="1"/>
            <p:nvPr/>
          </p:nvSpPr>
          <p:spPr>
            <a:xfrm>
              <a:off x="8020652" y="2888456"/>
              <a:ext cx="1713296"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Consolas"/>
                  <a:ea typeface="Consolas"/>
                  <a:cs typeface="Consolas"/>
                </a:rPr>
                <a:t>− sum grad k / sum k )</a:t>
              </a:r>
            </a:p>
          </p:txBody>
        </p:sp>
      </p:grpSp>
      <p:grpSp>
        <p:nvGrpSpPr>
          <p:cNvPr id="34" name="Group 34"/>
          <p:cNvGrpSpPr/>
          <p:nvPr/>
        </p:nvGrpSpPr>
        <p:grpSpPr>
          <a:xfrm>
            <a:off x="609600" y="3448050"/>
            <a:ext cx="5410200" cy="1885950"/>
            <a:chOff x="609600" y="3448050"/>
            <a:chExt cx="5410200" cy="1885950"/>
          </a:xfrm>
        </p:grpSpPr>
        <p:sp>
          <p:nvSpPr>
            <p:cNvPr id="26" name="Rectangle 26"/>
            <p:cNvSpPr/>
            <p:nvPr/>
          </p:nvSpPr>
          <p:spPr>
            <a:xfrm>
              <a:off x="609600" y="3448050"/>
              <a:ext cx="5410200" cy="1885950"/>
            </a:xfrm>
            <a:prstGeom prst="roundRect">
              <a:avLst>
                <a:gd name="adj" fmla="val 7071"/>
              </a:avLst>
            </a:prstGeom>
            <a:solidFill>
              <a:schemeClr val="accent5"/>
            </a:solidFill>
            <a:ln w="14288">
              <a:solidFill>
                <a:srgbClr val="26455F"/>
              </a:solidFill>
            </a:ln>
          </p:spPr>
        </p:sp>
        <p:sp>
          <p:nvSpPr>
            <p:cNvPr id="27" name="Rectangle 27"/>
            <p:cNvSpPr/>
            <p:nvPr/>
          </p:nvSpPr>
          <p:spPr>
            <a:xfrm>
              <a:off x="609600" y="3448050"/>
              <a:ext cx="57150" cy="1885950"/>
            </a:xfrm>
            <a:prstGeom prst="roundRect">
              <a:avLst>
                <a:gd name="adj" fmla="val 50000"/>
              </a:avLst>
            </a:prstGeom>
            <a:solidFill>
              <a:srgbClr val="F2C14E"/>
            </a:solidFill>
            <a:ln>
              <a:noFill/>
            </a:ln>
          </p:spPr>
        </p:sp>
        <p:sp>
          <p:nvSpPr>
            <p:cNvPr id="28" name="TextBox 28"/>
            <p:cNvSpPr txBox="1"/>
            <p:nvPr/>
          </p:nvSpPr>
          <p:spPr>
            <a:xfrm>
              <a:off x="870014" y="3676412"/>
              <a:ext cx="2612520"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The kernel · the crucial choice</a:t>
              </a:r>
            </a:p>
          </p:txBody>
        </p:sp>
        <p:sp>
          <p:nvSpPr>
            <p:cNvPr id="29" name="TextBox 29"/>
            <p:cNvSpPr txBox="1"/>
            <p:nvPr/>
          </p:nvSpPr>
          <p:spPr>
            <a:xfrm>
              <a:off x="870966" y="3982402"/>
              <a:ext cx="404392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Compare the true-label input gradients, normalized to the</a:t>
              </a:r>
            </a:p>
          </p:txBody>
        </p:sp>
        <p:sp>
          <p:nvSpPr>
            <p:cNvPr id="30" name="TextBox 30"/>
            <p:cNvSpPr txBox="1"/>
            <p:nvPr/>
          </p:nvSpPr>
          <p:spPr>
            <a:xfrm>
              <a:off x="870966" y="4182428"/>
              <a:ext cx="413628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unit sphere, with an RBF kernel. Directions matter because</a:t>
              </a:r>
            </a:p>
          </p:txBody>
        </p:sp>
        <p:sp>
          <p:nvSpPr>
            <p:cNvPr id="31" name="TextBox 31"/>
            <p:cNvSpPr txBox="1"/>
            <p:nvPr/>
          </p:nvSpPr>
          <p:spPr>
            <a:xfrm>
              <a:off x="870966" y="4382452"/>
              <a:ext cx="286595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magnitudes shrink as training converges.</a:t>
              </a:r>
            </a:p>
          </p:txBody>
        </p:sp>
        <p:sp>
          <p:nvSpPr>
            <p:cNvPr id="32" name="Rectangle 32"/>
            <p:cNvSpPr/>
            <p:nvPr/>
          </p:nvSpPr>
          <p:spPr>
            <a:xfrm>
              <a:off x="876300" y="4857750"/>
              <a:ext cx="4876800" cy="361950"/>
            </a:xfrm>
            <a:prstGeom prst="roundRect">
              <a:avLst>
                <a:gd name="adj" fmla="val 21053"/>
              </a:avLst>
            </a:prstGeom>
            <a:solidFill>
              <a:schemeClr val="accent6"/>
            </a:solidFill>
            <a:ln w="14288">
              <a:solidFill>
                <a:srgbClr val="26455F"/>
              </a:solidFill>
            </a:ln>
          </p:spPr>
        </p:sp>
        <p:sp>
          <p:nvSpPr>
            <p:cNvPr id="33" name="TextBox 33"/>
            <p:cNvSpPr txBox="1"/>
            <p:nvPr/>
          </p:nvSpPr>
          <p:spPr>
            <a:xfrm>
              <a:off x="1848546" y="4964906"/>
              <a:ext cx="2932307"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Consolas"/>
                  <a:ea typeface="Consolas"/>
                  <a:cs typeface="Consolas"/>
                </a:rPr>
                <a:t>s = grad_x f(x)_y / || grad_x f(x)_y ||</a:t>
              </a:r>
            </a:p>
          </p:txBody>
        </p:sp>
      </p:grpSp>
      <p:grpSp>
        <p:nvGrpSpPr>
          <p:cNvPr id="45" name="Group 45"/>
          <p:cNvGrpSpPr/>
          <p:nvPr/>
        </p:nvGrpSpPr>
        <p:grpSpPr>
          <a:xfrm>
            <a:off x="6172200" y="3448050"/>
            <a:ext cx="5410200" cy="1885950"/>
            <a:chOff x="6172200" y="3448050"/>
            <a:chExt cx="5410200" cy="1885950"/>
          </a:xfrm>
        </p:grpSpPr>
        <p:sp>
          <p:nvSpPr>
            <p:cNvPr id="35" name="Rectangle 35"/>
            <p:cNvSpPr/>
            <p:nvPr/>
          </p:nvSpPr>
          <p:spPr>
            <a:xfrm>
              <a:off x="6172200" y="3448050"/>
              <a:ext cx="5410200" cy="1885950"/>
            </a:xfrm>
            <a:prstGeom prst="roundRect">
              <a:avLst>
                <a:gd name="adj" fmla="val 7071"/>
              </a:avLst>
            </a:prstGeom>
            <a:solidFill>
              <a:schemeClr val="accent5"/>
            </a:solidFill>
            <a:ln w="14288">
              <a:solidFill>
                <a:srgbClr val="26455F"/>
              </a:solidFill>
            </a:ln>
          </p:spPr>
        </p:sp>
        <p:sp>
          <p:nvSpPr>
            <p:cNvPr id="36" name="Rectangle 36"/>
            <p:cNvSpPr/>
            <p:nvPr/>
          </p:nvSpPr>
          <p:spPr>
            <a:xfrm>
              <a:off x="6172200" y="3448050"/>
              <a:ext cx="57150" cy="1885950"/>
            </a:xfrm>
            <a:prstGeom prst="roundRect">
              <a:avLst>
                <a:gd name="adj" fmla="val 50000"/>
              </a:avLst>
            </a:prstGeom>
            <a:solidFill>
              <a:srgbClr val="F2685C"/>
            </a:solidFill>
            <a:ln>
              <a:noFill/>
            </a:ln>
          </p:spPr>
        </p:sp>
        <p:sp>
          <p:nvSpPr>
            <p:cNvPr id="37" name="TextBox 37"/>
            <p:cNvSpPr txBox="1"/>
            <p:nvPr/>
          </p:nvSpPr>
          <p:spPr>
            <a:xfrm>
              <a:off x="6432614" y="3676412"/>
              <a:ext cx="1439512" cy="242030"/>
            </a:xfrm>
            <a:prstGeom prst="rect">
              <a:avLst/>
            </a:prstGeom>
            <a:noFill/>
            <a:ln>
              <a:noFill/>
            </a:ln>
          </p:spPr>
          <p:txBody>
            <a:bodyPr wrap="none" lIns="0" tIns="0" rIns="0" bIns="0" anchor="t" anchorCtr="0">
              <a:spAutoFit/>
            </a:bodyPr>
            <a:lstStyle/>
            <a:p>
              <a:pPr algn="l"/>
              <a:r>
                <a:rPr lang="en-US" sz="1240" b="1" dirty="0">
                  <a:solidFill>
                    <a:srgbClr val="F2685C"/>
                  </a:solidFill>
                  <a:latin typeface="+mn-lt"/>
                  <a:ea typeface="+mn-ea"/>
                  <a:cs typeface="+mn-cs"/>
                </a:rPr>
                <a:t>PCA lengthscales</a:t>
              </a:r>
            </a:p>
          </p:txBody>
        </p:sp>
        <p:sp>
          <p:nvSpPr>
            <p:cNvPr id="38" name="TextBox 38"/>
            <p:cNvSpPr txBox="1"/>
            <p:nvPr/>
          </p:nvSpPr>
          <p:spPr>
            <a:xfrm>
              <a:off x="6433566" y="3982402"/>
              <a:ext cx="424166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Kernel lengthscales are set from the principal components of</a:t>
              </a:r>
            </a:p>
          </p:txBody>
        </p:sp>
        <p:sp>
          <p:nvSpPr>
            <p:cNvPr id="39" name="TextBox 39"/>
            <p:cNvSpPr txBox="1"/>
            <p:nvPr/>
          </p:nvSpPr>
          <p:spPr>
            <a:xfrm>
              <a:off x="6433566" y="4182428"/>
              <a:ext cx="350203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data, so repulsion is strongest along the most</a:t>
              </a:r>
            </a:p>
          </p:txBody>
        </p:sp>
        <p:sp>
          <p:nvSpPr>
            <p:cNvPr id="40" name="TextBox 40"/>
            <p:cNvSpPr txBox="1"/>
            <p:nvPr/>
          </p:nvSpPr>
          <p:spPr>
            <a:xfrm>
              <a:off x="6433566" y="4382452"/>
              <a:ext cx="204612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informative input directions.</a:t>
              </a:r>
            </a:p>
          </p:txBody>
        </p:sp>
        <p:sp>
          <p:nvSpPr>
            <p:cNvPr id="41" name="Line 41"/>
            <p:cNvSpPr/>
            <p:nvPr/>
          </p:nvSpPr>
          <p:spPr>
            <a:xfrm>
              <a:off x="6553200" y="4876800"/>
              <a:ext cx="1047750" cy="247650"/>
            </a:xfrm>
            <a:custGeom>
              <a:avLst/>
              <a:gdLst/>
              <a:ahLst/>
              <a:cxnLst/>
              <a:rect l="l" t="t" r="r" b="b"/>
              <a:pathLst>
                <a:path w="1047750" h="247650">
                  <a:moveTo>
                    <a:pt x="0" y="247650"/>
                  </a:moveTo>
                  <a:lnTo>
                    <a:pt x="1047750" y="0"/>
                  </a:lnTo>
                </a:path>
              </a:pathLst>
            </a:custGeom>
            <a:noFill/>
            <a:ln w="28575" cap="rnd">
              <a:solidFill>
                <a:schemeClr val="accent2"/>
              </a:solidFill>
            </a:ln>
          </p:spPr>
        </p:sp>
        <p:sp>
          <p:nvSpPr>
            <p:cNvPr id="42" name="TextBox 42"/>
            <p:cNvSpPr txBox="1"/>
            <p:nvPr/>
          </p:nvSpPr>
          <p:spPr>
            <a:xfrm>
              <a:off x="7653338" y="4775597"/>
              <a:ext cx="1275299" cy="183356"/>
            </a:xfrm>
            <a:prstGeom prst="rect">
              <a:avLst/>
            </a:prstGeom>
            <a:noFill/>
            <a:ln>
              <a:noFill/>
            </a:ln>
          </p:spPr>
          <p:txBody>
            <a:bodyPr wrap="none" lIns="0" tIns="0" rIns="0" bIns="0" anchor="t" anchorCtr="0">
              <a:spAutoFit/>
            </a:bodyPr>
            <a:lstStyle/>
            <a:p>
              <a:pPr algn="l"/>
              <a:r>
                <a:rPr lang="en-US" sz="940" b="1" dirty="0">
                  <a:solidFill>
                    <a:schemeClr val="accent2"/>
                  </a:solidFill>
                  <a:latin typeface="+mn-lt"/>
                  <a:ea typeface="+mn-ea"/>
                  <a:cs typeface="+mn-cs"/>
                </a:rPr>
                <a:t>PC1 (high variance)</a:t>
              </a:r>
            </a:p>
          </p:txBody>
        </p:sp>
        <p:sp>
          <p:nvSpPr>
            <p:cNvPr id="43" name="Line 43"/>
            <p:cNvSpPr/>
            <p:nvPr/>
          </p:nvSpPr>
          <p:spPr>
            <a:xfrm>
              <a:off x="6553200" y="4933950"/>
              <a:ext cx="495300" cy="190500"/>
            </a:xfrm>
            <a:custGeom>
              <a:avLst/>
              <a:gdLst/>
              <a:ahLst/>
              <a:cxnLst/>
              <a:rect l="l" t="t" r="r" b="b"/>
              <a:pathLst>
                <a:path w="495300" h="190500">
                  <a:moveTo>
                    <a:pt x="0" y="190500"/>
                  </a:moveTo>
                  <a:lnTo>
                    <a:pt x="495300" y="0"/>
                  </a:lnTo>
                </a:path>
              </a:pathLst>
            </a:custGeom>
            <a:noFill/>
            <a:ln w="23812" cap="rnd">
              <a:solidFill>
                <a:srgbClr val="34D3C0"/>
              </a:solidFill>
            </a:ln>
          </p:spPr>
        </p:sp>
        <p:sp>
          <p:nvSpPr>
            <p:cNvPr id="44" name="TextBox 44"/>
            <p:cNvSpPr txBox="1"/>
            <p:nvPr/>
          </p:nvSpPr>
          <p:spPr>
            <a:xfrm>
              <a:off x="7653338" y="5023247"/>
              <a:ext cx="1375027" cy="183356"/>
            </a:xfrm>
            <a:prstGeom prst="rect">
              <a:avLst/>
            </a:prstGeom>
            <a:noFill/>
            <a:ln>
              <a:noFill/>
            </a:ln>
          </p:spPr>
          <p:txBody>
            <a:bodyPr wrap="none" lIns="0" tIns="0" rIns="0" bIns="0" anchor="t" anchorCtr="0">
              <a:spAutoFit/>
            </a:bodyPr>
            <a:lstStyle/>
            <a:p>
              <a:pPr algn="l"/>
              <a:r>
                <a:rPr lang="en-US" sz="940" b="1" dirty="0">
                  <a:solidFill>
                    <a:srgbClr val="34D3C0"/>
                  </a:solidFill>
                  <a:latin typeface="+mn-lt"/>
                  <a:ea typeface="+mn-ea"/>
                  <a:cs typeface="+mn-cs"/>
                </a:rPr>
                <a:t>PC2 (lower variance)</a:t>
              </a:r>
            </a:p>
          </p:txBody>
        </p:sp>
      </p:grpSp>
      <p:sp>
        <p:nvSpPr>
          <p:cNvPr id="46" name="cue_s05_c1_forde_built_wasserstein_gradient_des" title="cue_s05_c1_forde_built_wasserstein_gradient_des" descr="cue_s05_c1_forde_built_wasserstein_gradient_des FoRDE is built on Wasserstein gradient descent, a particle-based variational inference method. Each network in the ensemble is a particle, and its update has two terms."/>
          <p:cNvSpPr/>
          <p:nvPr/>
        </p:nvSpPr>
        <p:spPr>
          <a:xfrm>
            <a:off x="609600" y="1447723"/>
            <a:ext cx="5409590" cy="18859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5_c2_driving_force_pulls_particle_toward" title="cue_s05_c2_driving_force_pulls_particle_toward" descr="cue_s05_c2_driving_force_pulls_particle_toward The driving force pulls the particle toward high-density regions of the Bayesian posterior, just like ordinary training. The repulsion force, weighted by a kernel, pushes particles apart. The crucial design choice is the kernel."/>
          <p:cNvSpPr/>
          <p:nvPr/>
        </p:nvSpPr>
        <p:spPr>
          <a:xfrm>
            <a:off x="6171590" y="1447723"/>
            <a:ext cx="5409590" cy="18859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5_c3_instead_comparing_weights_outputs_fo" title="cue_s05_c3_instead_comparing_weights_outputs_fo" descr="cue_s05_c3_instead_comparing_weights_outputs_fo Instead of comparing weights or outputs, FoRDE compares the input gradients of the true label, normalized to the unit sphere, using a radial basis function kernel. The gradients are normalized because their magnitude shrinks as training converges, and comparin"/>
          <p:cNvSpPr/>
          <p:nvPr/>
        </p:nvSpPr>
        <p:spPr>
          <a:xfrm>
            <a:off x="609600" y="3448202"/>
            <a:ext cx="5409590" cy="18859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5_c4_finally_lengthscales_kernel_chosen_p" title="cue_s05_c4_finally_lengthscales_kernel_chosen_p" descr="cue_s05_c4_finally_lengthscales_kernel_chosen_p Finally, the lengthscales of the kernel are chosen from the principal components of the data, so repulsion is strongest along the most informative input directions."/>
          <p:cNvSpPr/>
          <p:nvPr/>
        </p:nvSpPr>
        <p:spPr>
          <a:xfrm>
            <a:off x="6171590" y="3448202"/>
            <a:ext cx="5409590" cy="18859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563128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From toy tasks to corrupted images</a:t>
            </a:r>
          </a:p>
        </p:txBody>
      </p:sp>
      <p:grpSp>
        <p:nvGrpSpPr>
          <p:cNvPr id="10" name="Group 10"/>
          <p:cNvGrpSpPr/>
          <p:nvPr/>
        </p:nvGrpSpPr>
        <p:grpSpPr>
          <a:xfrm>
            <a:off x="609600" y="1447800"/>
            <a:ext cx="10972800" cy="917734"/>
            <a:chOff x="609600" y="1447800"/>
            <a:chExt cx="10972800" cy="917734"/>
          </a:xfrm>
        </p:grpSpPr>
        <p:sp>
          <p:nvSpPr>
            <p:cNvPr id="5" name="Rectangle 5"/>
            <p:cNvSpPr/>
            <p:nvPr/>
          </p:nvSpPr>
          <p:spPr>
            <a:xfrm>
              <a:off x="609600" y="1447800"/>
              <a:ext cx="10972800" cy="819150"/>
            </a:xfrm>
            <a:prstGeom prst="roundRect">
              <a:avLst>
                <a:gd name="adj" fmla="val 16279"/>
              </a:avLst>
            </a:prstGeom>
            <a:solidFill>
              <a:schemeClr val="accent5"/>
            </a:solidFill>
            <a:ln w="14288">
              <a:solidFill>
                <a:srgbClr val="26455F"/>
              </a:solidFill>
            </a:ln>
          </p:spPr>
        </p:sp>
        <p:sp>
          <p:nvSpPr>
            <p:cNvPr id="6" name="Rectangle 6"/>
            <p:cNvSpPr/>
            <p:nvPr/>
          </p:nvSpPr>
          <p:spPr>
            <a:xfrm>
              <a:off x="609600" y="1447800"/>
              <a:ext cx="57150" cy="819150"/>
            </a:xfrm>
            <a:prstGeom prst="roundRect">
              <a:avLst>
                <a:gd name="adj" fmla="val 50000"/>
              </a:avLst>
            </a:prstGeom>
            <a:solidFill>
              <a:srgbClr val="34D3C0"/>
            </a:solidFill>
            <a:ln>
              <a:noFill/>
            </a:ln>
          </p:spPr>
        </p:sp>
        <p:sp>
          <p:nvSpPr>
            <p:cNvPr id="7" name="TextBox 7"/>
            <p:cNvSpPr txBox="1"/>
            <p:nvPr/>
          </p:nvSpPr>
          <p:spPr>
            <a:xfrm>
              <a:off x="870585" y="1650206"/>
              <a:ext cx="1906925" cy="220028"/>
            </a:xfrm>
            <a:prstGeom prst="rect">
              <a:avLst/>
            </a:prstGeom>
            <a:noFill/>
            <a:ln>
              <a:noFill/>
            </a:ln>
          </p:spPr>
          <p:txBody>
            <a:bodyPr wrap="none" lIns="0" tIns="0" rIns="0" bIns="0" anchor="t" anchorCtr="0">
              <a:spAutoFit/>
            </a:bodyPr>
            <a:lstStyle/>
            <a:p>
              <a:pPr algn="l"/>
              <a:r>
                <a:rPr lang="en-US" sz="1120" b="1" spc="75" dirty="0">
                  <a:solidFill>
                    <a:srgbClr val="34D3C0"/>
                  </a:solidFill>
                  <a:latin typeface="+mn-lt"/>
                  <a:ea typeface="+mn-ea"/>
                  <a:cs typeface="+mn-cs"/>
                </a:rPr>
                <a:t>Illustrative toy tasks</a:t>
              </a:r>
            </a:p>
          </p:txBody>
        </p:sp>
        <p:sp>
          <p:nvSpPr>
            <p:cNvPr id="8" name="TextBox 8"/>
            <p:cNvSpPr txBox="1"/>
            <p:nvPr/>
          </p:nvSpPr>
          <p:spPr>
            <a:xfrm>
              <a:off x="870585" y="1916906"/>
              <a:ext cx="7100061"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1D regression and 2D classification show directly how input-gradient repulsion raises predictive</a:t>
              </a:r>
            </a:p>
          </p:txBody>
        </p:sp>
        <p:sp>
          <p:nvSpPr>
            <p:cNvPr id="9" name="TextBox 9"/>
            <p:cNvSpPr txBox="1"/>
            <p:nvPr/>
          </p:nvSpPr>
          <p:spPr>
            <a:xfrm>
              <a:off x="870585" y="2145506"/>
              <a:ext cx="3087228"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uncertainty away from the training data.</a:t>
              </a:r>
            </a:p>
          </p:txBody>
        </p:sp>
      </p:grpSp>
      <p:grpSp>
        <p:nvGrpSpPr>
          <p:cNvPr id="24" name="Group 24"/>
          <p:cNvGrpSpPr/>
          <p:nvPr/>
        </p:nvGrpSpPr>
        <p:grpSpPr>
          <a:xfrm>
            <a:off x="609600" y="2457450"/>
            <a:ext cx="5334000" cy="1714500"/>
            <a:chOff x="609600" y="2457450"/>
            <a:chExt cx="5334000" cy="1714500"/>
          </a:xfrm>
        </p:grpSpPr>
        <p:sp>
          <p:nvSpPr>
            <p:cNvPr id="11" name="Rectangle 11"/>
            <p:cNvSpPr/>
            <p:nvPr/>
          </p:nvSpPr>
          <p:spPr>
            <a:xfrm>
              <a:off x="609600" y="2457450"/>
              <a:ext cx="5334000" cy="1714500"/>
            </a:xfrm>
            <a:prstGeom prst="roundRect">
              <a:avLst>
                <a:gd name="adj" fmla="val 7778"/>
              </a:avLst>
            </a:prstGeom>
            <a:solidFill>
              <a:schemeClr val="accent5"/>
            </a:solidFill>
            <a:ln w="14288">
              <a:solidFill>
                <a:srgbClr val="26455F"/>
              </a:solidFill>
            </a:ln>
          </p:spPr>
        </p:sp>
        <p:sp>
          <p:nvSpPr>
            <p:cNvPr id="12" name="Rectangle 12"/>
            <p:cNvSpPr/>
            <p:nvPr/>
          </p:nvSpPr>
          <p:spPr>
            <a:xfrm>
              <a:off x="609600" y="2457450"/>
              <a:ext cx="57150" cy="1714500"/>
            </a:xfrm>
            <a:prstGeom prst="roundRect">
              <a:avLst>
                <a:gd name="adj" fmla="val 50000"/>
              </a:avLst>
            </a:prstGeom>
            <a:solidFill>
              <a:schemeClr val="accent2"/>
            </a:solidFill>
            <a:ln>
              <a:noFill/>
            </a:ln>
          </p:spPr>
        </p:sp>
        <p:sp>
          <p:nvSpPr>
            <p:cNvPr id="13" name="TextBox 13"/>
            <p:cNvSpPr txBox="1"/>
            <p:nvPr/>
          </p:nvSpPr>
          <p:spPr>
            <a:xfrm>
              <a:off x="870014" y="2685812"/>
              <a:ext cx="2147408"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Main image classification</a:t>
              </a:r>
            </a:p>
          </p:txBody>
        </p:sp>
        <p:sp>
          <p:nvSpPr>
            <p:cNvPr id="14" name="Rectangle 14"/>
            <p:cNvSpPr/>
            <p:nvPr/>
          </p:nvSpPr>
          <p:spPr>
            <a:xfrm>
              <a:off x="876300" y="2990850"/>
              <a:ext cx="4800600" cy="304800"/>
            </a:xfrm>
            <a:prstGeom prst="roundRect">
              <a:avLst>
                <a:gd name="adj" fmla="val 25000"/>
              </a:avLst>
            </a:prstGeom>
            <a:solidFill>
              <a:schemeClr val="accent6"/>
            </a:solidFill>
            <a:ln w="14288">
              <a:solidFill>
                <a:srgbClr val="26455F"/>
              </a:solidFill>
            </a:ln>
          </p:spPr>
        </p:sp>
        <p:sp>
          <p:nvSpPr>
            <p:cNvPr id="15" name="Ellipse 15"/>
            <p:cNvSpPr/>
            <p:nvPr/>
          </p:nvSpPr>
          <p:spPr>
            <a:xfrm>
              <a:off x="1000125" y="3095625"/>
              <a:ext cx="95250" cy="95250"/>
            </a:xfrm>
            <a:prstGeom prst="ellipse">
              <a:avLst/>
            </a:prstGeom>
            <a:solidFill>
              <a:schemeClr val="accent2"/>
            </a:solidFill>
            <a:ln>
              <a:noFill/>
            </a:ln>
          </p:spPr>
        </p:sp>
        <p:sp>
          <p:nvSpPr>
            <p:cNvPr id="16" name="TextBox 16"/>
            <p:cNvSpPr txBox="1"/>
            <p:nvPr/>
          </p:nvSpPr>
          <p:spPr>
            <a:xfrm>
              <a:off x="1195006" y="3081576"/>
              <a:ext cx="2584854"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CIFAR-10 · CIFAR-100 · TinyImageNet</a:t>
              </a:r>
            </a:p>
          </p:txBody>
        </p:sp>
        <p:sp>
          <p:nvSpPr>
            <p:cNvPr id="17" name="Rectangle 17"/>
            <p:cNvSpPr/>
            <p:nvPr/>
          </p:nvSpPr>
          <p:spPr>
            <a:xfrm>
              <a:off x="876300" y="3371850"/>
              <a:ext cx="2343150" cy="304800"/>
            </a:xfrm>
            <a:prstGeom prst="roundRect">
              <a:avLst>
                <a:gd name="adj" fmla="val 25000"/>
              </a:avLst>
            </a:prstGeom>
            <a:solidFill>
              <a:schemeClr val="accent6"/>
            </a:solidFill>
            <a:ln w="14288">
              <a:solidFill>
                <a:srgbClr val="26455F"/>
              </a:solidFill>
            </a:ln>
          </p:spPr>
        </p:sp>
        <p:sp>
          <p:nvSpPr>
            <p:cNvPr id="18" name="Ellipse 18"/>
            <p:cNvSpPr/>
            <p:nvPr/>
          </p:nvSpPr>
          <p:spPr>
            <a:xfrm>
              <a:off x="1000125" y="3476625"/>
              <a:ext cx="95250" cy="95250"/>
            </a:xfrm>
            <a:prstGeom prst="ellipse">
              <a:avLst/>
            </a:prstGeom>
            <a:solidFill>
              <a:srgbClr val="34D3C0"/>
            </a:solidFill>
            <a:ln>
              <a:noFill/>
            </a:ln>
          </p:spPr>
        </p:sp>
        <p:sp>
          <p:nvSpPr>
            <p:cNvPr id="19" name="TextBox 19"/>
            <p:cNvSpPr txBox="1"/>
            <p:nvPr/>
          </p:nvSpPr>
          <p:spPr>
            <a:xfrm>
              <a:off x="1195197" y="3466624"/>
              <a:ext cx="1569477"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ResNet / PreActResNet</a:t>
              </a:r>
            </a:p>
          </p:txBody>
        </p:sp>
        <p:sp>
          <p:nvSpPr>
            <p:cNvPr id="20" name="Rectangle 20"/>
            <p:cNvSpPr/>
            <p:nvPr/>
          </p:nvSpPr>
          <p:spPr>
            <a:xfrm>
              <a:off x="3333750" y="3371850"/>
              <a:ext cx="2343150" cy="304800"/>
            </a:xfrm>
            <a:prstGeom prst="roundRect">
              <a:avLst>
                <a:gd name="adj" fmla="val 25000"/>
              </a:avLst>
            </a:prstGeom>
            <a:solidFill>
              <a:schemeClr val="accent6"/>
            </a:solidFill>
            <a:ln w="14288">
              <a:solidFill>
                <a:srgbClr val="26455F"/>
              </a:solidFill>
            </a:ln>
          </p:spPr>
        </p:sp>
        <p:sp>
          <p:nvSpPr>
            <p:cNvPr id="21" name="Ellipse 21"/>
            <p:cNvSpPr/>
            <p:nvPr/>
          </p:nvSpPr>
          <p:spPr>
            <a:xfrm>
              <a:off x="3457575" y="3476625"/>
              <a:ext cx="95250" cy="95250"/>
            </a:xfrm>
            <a:prstGeom prst="ellipse">
              <a:avLst/>
            </a:prstGeom>
            <a:solidFill>
              <a:srgbClr val="F2C14E"/>
            </a:solidFill>
            <a:ln>
              <a:noFill/>
            </a:ln>
          </p:spPr>
        </p:sp>
        <p:sp>
          <p:nvSpPr>
            <p:cNvPr id="22" name="TextBox 22"/>
            <p:cNvSpPr txBox="1"/>
            <p:nvPr/>
          </p:nvSpPr>
          <p:spPr>
            <a:xfrm>
              <a:off x="3652647" y="3466624"/>
              <a:ext cx="1630637"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ensemble of 10 members</a:t>
              </a:r>
            </a:p>
          </p:txBody>
        </p:sp>
        <p:sp>
          <p:nvSpPr>
            <p:cNvPr id="23" name="TextBox 23"/>
            <p:cNvSpPr txBox="1"/>
            <p:nvPr/>
          </p:nvSpPr>
          <p:spPr>
            <a:xfrm>
              <a:off x="871156" y="3929301"/>
              <a:ext cx="2948842"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Ten particles, standard vision backbones.</a:t>
              </a:r>
            </a:p>
          </p:txBody>
        </p:sp>
      </p:grpSp>
      <p:grpSp>
        <p:nvGrpSpPr>
          <p:cNvPr id="57" name="Group 57"/>
          <p:cNvGrpSpPr/>
          <p:nvPr/>
        </p:nvGrpSpPr>
        <p:grpSpPr>
          <a:xfrm>
            <a:off x="6248400" y="2457450"/>
            <a:ext cx="5334000" cy="1847850"/>
            <a:chOff x="6248400" y="2457450"/>
            <a:chExt cx="5334000" cy="1847850"/>
          </a:xfrm>
        </p:grpSpPr>
        <p:sp>
          <p:nvSpPr>
            <p:cNvPr id="25" name="Rectangle 25"/>
            <p:cNvSpPr/>
            <p:nvPr/>
          </p:nvSpPr>
          <p:spPr>
            <a:xfrm>
              <a:off x="6248400" y="2457450"/>
              <a:ext cx="5334000" cy="1714500"/>
            </a:xfrm>
            <a:prstGeom prst="roundRect">
              <a:avLst>
                <a:gd name="adj" fmla="val 7778"/>
              </a:avLst>
            </a:prstGeom>
            <a:solidFill>
              <a:schemeClr val="accent5"/>
            </a:solidFill>
            <a:ln w="14288">
              <a:solidFill>
                <a:srgbClr val="26455F"/>
              </a:solidFill>
            </a:ln>
          </p:spPr>
        </p:sp>
        <p:sp>
          <p:nvSpPr>
            <p:cNvPr id="26" name="Rectangle 26"/>
            <p:cNvSpPr/>
            <p:nvPr/>
          </p:nvSpPr>
          <p:spPr>
            <a:xfrm>
              <a:off x="6248400" y="2457450"/>
              <a:ext cx="57150" cy="1714500"/>
            </a:xfrm>
            <a:prstGeom prst="roundRect">
              <a:avLst>
                <a:gd name="adj" fmla="val 50000"/>
              </a:avLst>
            </a:prstGeom>
            <a:solidFill>
              <a:srgbClr val="F2C14E"/>
            </a:solidFill>
            <a:ln>
              <a:noFill/>
            </a:ln>
          </p:spPr>
        </p:sp>
        <p:sp>
          <p:nvSpPr>
            <p:cNvPr id="27" name="TextBox 27"/>
            <p:cNvSpPr txBox="1"/>
            <p:nvPr/>
          </p:nvSpPr>
          <p:spPr>
            <a:xfrm>
              <a:off x="6508814" y="2685812"/>
              <a:ext cx="1954846"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Corruption robustness</a:t>
              </a:r>
            </a:p>
          </p:txBody>
        </p:sp>
        <p:sp>
          <p:nvSpPr>
            <p:cNvPr id="28" name="TextBox 28"/>
            <p:cNvSpPr txBox="1"/>
            <p:nvPr/>
          </p:nvSpPr>
          <p:spPr>
            <a:xfrm>
              <a:off x="6509766" y="2991802"/>
              <a:ext cx="439824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CIFAR-10-C, CIFAR-100-C and TinyImageNet-C apply a demanding</a:t>
              </a:r>
            </a:p>
          </p:txBody>
        </p:sp>
        <p:sp>
          <p:nvSpPr>
            <p:cNvPr id="29" name="TextBox 29"/>
            <p:cNvSpPr txBox="1"/>
            <p:nvPr/>
          </p:nvSpPr>
          <p:spPr>
            <a:xfrm>
              <a:off x="6509766" y="3191828"/>
              <a:ext cx="184823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grid of image corruptions.</a:t>
              </a:r>
            </a:p>
          </p:txBody>
        </p:sp>
        <p:sp>
          <p:nvSpPr>
            <p:cNvPr id="30" name="Rectangle 30"/>
            <p:cNvSpPr/>
            <p:nvPr/>
          </p:nvSpPr>
          <p:spPr>
            <a:xfrm>
              <a:off x="6515100" y="3581400"/>
              <a:ext cx="152400" cy="114300"/>
            </a:xfrm>
            <a:prstGeom prst="roundRect">
              <a:avLst>
                <a:gd name="adj" fmla="val 16667"/>
              </a:avLst>
            </a:prstGeom>
            <a:solidFill>
              <a:srgbClr val="2E6F63"/>
            </a:solidFill>
            <a:ln>
              <a:noFill/>
            </a:ln>
          </p:spPr>
        </p:sp>
        <p:sp>
          <p:nvSpPr>
            <p:cNvPr id="31" name="Rectangle 31"/>
            <p:cNvSpPr/>
            <p:nvPr/>
          </p:nvSpPr>
          <p:spPr>
            <a:xfrm>
              <a:off x="6705600" y="3581400"/>
              <a:ext cx="152400" cy="114300"/>
            </a:xfrm>
            <a:prstGeom prst="roundRect">
              <a:avLst>
                <a:gd name="adj" fmla="val 16667"/>
              </a:avLst>
            </a:prstGeom>
            <a:solidFill>
              <a:srgbClr val="3E8F7E"/>
            </a:solidFill>
            <a:ln>
              <a:noFill/>
            </a:ln>
          </p:spPr>
        </p:sp>
        <p:sp>
          <p:nvSpPr>
            <p:cNvPr id="32" name="Rectangle 32"/>
            <p:cNvSpPr/>
            <p:nvPr/>
          </p:nvSpPr>
          <p:spPr>
            <a:xfrm>
              <a:off x="6896100" y="3581400"/>
              <a:ext cx="152400" cy="114300"/>
            </a:xfrm>
            <a:prstGeom prst="roundRect">
              <a:avLst>
                <a:gd name="adj" fmla="val 16667"/>
              </a:avLst>
            </a:prstGeom>
            <a:solidFill>
              <a:srgbClr val="C99B3B"/>
            </a:solidFill>
            <a:ln>
              <a:noFill/>
            </a:ln>
          </p:spPr>
        </p:sp>
        <p:sp>
          <p:nvSpPr>
            <p:cNvPr id="33" name="Rectangle 33"/>
            <p:cNvSpPr/>
            <p:nvPr/>
          </p:nvSpPr>
          <p:spPr>
            <a:xfrm>
              <a:off x="7086600" y="3581400"/>
              <a:ext cx="152400" cy="114300"/>
            </a:xfrm>
            <a:prstGeom prst="roundRect">
              <a:avLst>
                <a:gd name="adj" fmla="val 16667"/>
              </a:avLst>
            </a:prstGeom>
            <a:solidFill>
              <a:srgbClr val="B85B50"/>
            </a:solidFill>
            <a:ln>
              <a:noFill/>
            </a:ln>
          </p:spPr>
        </p:sp>
        <p:sp>
          <p:nvSpPr>
            <p:cNvPr id="34" name="Rectangle 34"/>
            <p:cNvSpPr/>
            <p:nvPr/>
          </p:nvSpPr>
          <p:spPr>
            <a:xfrm>
              <a:off x="7277100" y="3581400"/>
              <a:ext cx="152400" cy="114300"/>
            </a:xfrm>
            <a:prstGeom prst="roundRect">
              <a:avLst>
                <a:gd name="adj" fmla="val 16667"/>
              </a:avLst>
            </a:prstGeom>
            <a:solidFill>
              <a:srgbClr val="3A6EA5"/>
            </a:solidFill>
            <a:ln>
              <a:noFill/>
            </a:ln>
          </p:spPr>
        </p:sp>
        <p:sp>
          <p:nvSpPr>
            <p:cNvPr id="35" name="Rectangle 35"/>
            <p:cNvSpPr/>
            <p:nvPr/>
          </p:nvSpPr>
          <p:spPr>
            <a:xfrm>
              <a:off x="6515100" y="3733800"/>
              <a:ext cx="152400" cy="114300"/>
            </a:xfrm>
            <a:prstGeom prst="roundRect">
              <a:avLst>
                <a:gd name="adj" fmla="val 16667"/>
              </a:avLst>
            </a:prstGeom>
            <a:solidFill>
              <a:schemeClr val="accent6"/>
            </a:solidFill>
            <a:ln>
              <a:noFill/>
            </a:ln>
          </p:spPr>
        </p:sp>
        <p:sp>
          <p:nvSpPr>
            <p:cNvPr id="36" name="Rectangle 36"/>
            <p:cNvSpPr/>
            <p:nvPr/>
          </p:nvSpPr>
          <p:spPr>
            <a:xfrm>
              <a:off x="6705600" y="3733800"/>
              <a:ext cx="152400" cy="114300"/>
            </a:xfrm>
            <a:prstGeom prst="roundRect">
              <a:avLst>
                <a:gd name="adj" fmla="val 16667"/>
              </a:avLst>
            </a:prstGeom>
            <a:solidFill>
              <a:srgbClr val="3E8F7E"/>
            </a:solidFill>
            <a:ln>
              <a:noFill/>
            </a:ln>
          </p:spPr>
        </p:sp>
        <p:sp>
          <p:nvSpPr>
            <p:cNvPr id="37" name="Rectangle 37"/>
            <p:cNvSpPr/>
            <p:nvPr/>
          </p:nvSpPr>
          <p:spPr>
            <a:xfrm>
              <a:off x="6896100" y="3733800"/>
              <a:ext cx="152400" cy="114300"/>
            </a:xfrm>
            <a:prstGeom prst="roundRect">
              <a:avLst>
                <a:gd name="adj" fmla="val 16667"/>
              </a:avLst>
            </a:prstGeom>
            <a:solidFill>
              <a:srgbClr val="C99B3B"/>
            </a:solidFill>
            <a:ln>
              <a:noFill/>
            </a:ln>
          </p:spPr>
        </p:sp>
        <p:sp>
          <p:nvSpPr>
            <p:cNvPr id="38" name="Rectangle 38"/>
            <p:cNvSpPr/>
            <p:nvPr/>
          </p:nvSpPr>
          <p:spPr>
            <a:xfrm>
              <a:off x="7086600" y="3733800"/>
              <a:ext cx="152400" cy="114300"/>
            </a:xfrm>
            <a:prstGeom prst="roundRect">
              <a:avLst>
                <a:gd name="adj" fmla="val 16667"/>
              </a:avLst>
            </a:prstGeom>
            <a:solidFill>
              <a:srgbClr val="B85B50"/>
            </a:solidFill>
            <a:ln>
              <a:noFill/>
            </a:ln>
          </p:spPr>
        </p:sp>
        <p:sp>
          <p:nvSpPr>
            <p:cNvPr id="39" name="Rectangle 39"/>
            <p:cNvSpPr/>
            <p:nvPr/>
          </p:nvSpPr>
          <p:spPr>
            <a:xfrm>
              <a:off x="7277100" y="3733800"/>
              <a:ext cx="152400" cy="114300"/>
            </a:xfrm>
            <a:prstGeom prst="roundRect">
              <a:avLst>
                <a:gd name="adj" fmla="val 16667"/>
              </a:avLst>
            </a:prstGeom>
            <a:solidFill>
              <a:srgbClr val="3A6EA5"/>
            </a:solidFill>
            <a:ln>
              <a:noFill/>
            </a:ln>
          </p:spPr>
        </p:sp>
        <p:sp>
          <p:nvSpPr>
            <p:cNvPr id="40" name="Rectangle 40"/>
            <p:cNvSpPr/>
            <p:nvPr/>
          </p:nvSpPr>
          <p:spPr>
            <a:xfrm>
              <a:off x="6515100" y="3886200"/>
              <a:ext cx="152400" cy="114300"/>
            </a:xfrm>
            <a:prstGeom prst="roundRect">
              <a:avLst>
                <a:gd name="adj" fmla="val 16667"/>
              </a:avLst>
            </a:prstGeom>
            <a:solidFill>
              <a:schemeClr val="accent6"/>
            </a:solidFill>
            <a:ln>
              <a:noFill/>
            </a:ln>
          </p:spPr>
        </p:sp>
        <p:sp>
          <p:nvSpPr>
            <p:cNvPr id="41" name="Rectangle 41"/>
            <p:cNvSpPr/>
            <p:nvPr/>
          </p:nvSpPr>
          <p:spPr>
            <a:xfrm>
              <a:off x="6705600" y="3886200"/>
              <a:ext cx="152400" cy="114300"/>
            </a:xfrm>
            <a:prstGeom prst="roundRect">
              <a:avLst>
                <a:gd name="adj" fmla="val 16667"/>
              </a:avLst>
            </a:prstGeom>
            <a:solidFill>
              <a:schemeClr val="accent6"/>
            </a:solidFill>
            <a:ln>
              <a:noFill/>
            </a:ln>
          </p:spPr>
        </p:sp>
        <p:sp>
          <p:nvSpPr>
            <p:cNvPr id="42" name="Rectangle 42"/>
            <p:cNvSpPr/>
            <p:nvPr/>
          </p:nvSpPr>
          <p:spPr>
            <a:xfrm>
              <a:off x="6896100" y="3886200"/>
              <a:ext cx="152400" cy="114300"/>
            </a:xfrm>
            <a:prstGeom prst="roundRect">
              <a:avLst>
                <a:gd name="adj" fmla="val 16667"/>
              </a:avLst>
            </a:prstGeom>
            <a:solidFill>
              <a:srgbClr val="C99B3B"/>
            </a:solidFill>
            <a:ln>
              <a:noFill/>
            </a:ln>
          </p:spPr>
        </p:sp>
        <p:sp>
          <p:nvSpPr>
            <p:cNvPr id="43" name="Rectangle 43"/>
            <p:cNvSpPr/>
            <p:nvPr/>
          </p:nvSpPr>
          <p:spPr>
            <a:xfrm>
              <a:off x="7086600" y="3886200"/>
              <a:ext cx="152400" cy="114300"/>
            </a:xfrm>
            <a:prstGeom prst="roundRect">
              <a:avLst>
                <a:gd name="adj" fmla="val 16667"/>
              </a:avLst>
            </a:prstGeom>
            <a:solidFill>
              <a:srgbClr val="B85B50"/>
            </a:solidFill>
            <a:ln>
              <a:noFill/>
            </a:ln>
          </p:spPr>
        </p:sp>
        <p:sp>
          <p:nvSpPr>
            <p:cNvPr id="44" name="Rectangle 44"/>
            <p:cNvSpPr/>
            <p:nvPr/>
          </p:nvSpPr>
          <p:spPr>
            <a:xfrm>
              <a:off x="7277100" y="3886200"/>
              <a:ext cx="152400" cy="114300"/>
            </a:xfrm>
            <a:prstGeom prst="roundRect">
              <a:avLst>
                <a:gd name="adj" fmla="val 16667"/>
              </a:avLst>
            </a:prstGeom>
            <a:solidFill>
              <a:srgbClr val="3A6EA5"/>
            </a:solidFill>
            <a:ln>
              <a:noFill/>
            </a:ln>
          </p:spPr>
        </p:sp>
        <p:sp>
          <p:nvSpPr>
            <p:cNvPr id="45" name="Rectangle 45"/>
            <p:cNvSpPr/>
            <p:nvPr/>
          </p:nvSpPr>
          <p:spPr>
            <a:xfrm>
              <a:off x="6515100" y="4038600"/>
              <a:ext cx="152400" cy="114300"/>
            </a:xfrm>
            <a:prstGeom prst="roundRect">
              <a:avLst>
                <a:gd name="adj" fmla="val 16667"/>
              </a:avLst>
            </a:prstGeom>
            <a:solidFill>
              <a:schemeClr val="accent6"/>
            </a:solidFill>
            <a:ln>
              <a:noFill/>
            </a:ln>
          </p:spPr>
        </p:sp>
        <p:sp>
          <p:nvSpPr>
            <p:cNvPr id="46" name="Rectangle 46"/>
            <p:cNvSpPr/>
            <p:nvPr/>
          </p:nvSpPr>
          <p:spPr>
            <a:xfrm>
              <a:off x="6705600" y="4038600"/>
              <a:ext cx="152400" cy="114300"/>
            </a:xfrm>
            <a:prstGeom prst="roundRect">
              <a:avLst>
                <a:gd name="adj" fmla="val 16667"/>
              </a:avLst>
            </a:prstGeom>
            <a:solidFill>
              <a:schemeClr val="accent6"/>
            </a:solidFill>
            <a:ln>
              <a:noFill/>
            </a:ln>
          </p:spPr>
        </p:sp>
        <p:sp>
          <p:nvSpPr>
            <p:cNvPr id="47" name="Rectangle 47"/>
            <p:cNvSpPr/>
            <p:nvPr/>
          </p:nvSpPr>
          <p:spPr>
            <a:xfrm>
              <a:off x="6896100" y="4038600"/>
              <a:ext cx="152400" cy="114300"/>
            </a:xfrm>
            <a:prstGeom prst="roundRect">
              <a:avLst>
                <a:gd name="adj" fmla="val 16667"/>
              </a:avLst>
            </a:prstGeom>
            <a:solidFill>
              <a:schemeClr val="accent6"/>
            </a:solidFill>
            <a:ln>
              <a:noFill/>
            </a:ln>
          </p:spPr>
        </p:sp>
        <p:sp>
          <p:nvSpPr>
            <p:cNvPr id="48" name="Rectangle 48"/>
            <p:cNvSpPr/>
            <p:nvPr/>
          </p:nvSpPr>
          <p:spPr>
            <a:xfrm>
              <a:off x="7086600" y="4038600"/>
              <a:ext cx="152400" cy="114300"/>
            </a:xfrm>
            <a:prstGeom prst="roundRect">
              <a:avLst>
                <a:gd name="adj" fmla="val 16667"/>
              </a:avLst>
            </a:prstGeom>
            <a:solidFill>
              <a:srgbClr val="B85B50"/>
            </a:solidFill>
            <a:ln>
              <a:noFill/>
            </a:ln>
          </p:spPr>
        </p:sp>
        <p:sp>
          <p:nvSpPr>
            <p:cNvPr id="49" name="Rectangle 49"/>
            <p:cNvSpPr/>
            <p:nvPr/>
          </p:nvSpPr>
          <p:spPr>
            <a:xfrm>
              <a:off x="7277100" y="4038600"/>
              <a:ext cx="152400" cy="114300"/>
            </a:xfrm>
            <a:prstGeom prst="roundRect">
              <a:avLst>
                <a:gd name="adj" fmla="val 16667"/>
              </a:avLst>
            </a:prstGeom>
            <a:solidFill>
              <a:srgbClr val="3A6EA5"/>
            </a:solidFill>
            <a:ln>
              <a:noFill/>
            </a:ln>
          </p:spPr>
        </p:sp>
        <p:sp>
          <p:nvSpPr>
            <p:cNvPr id="50" name="Rectangle 50"/>
            <p:cNvSpPr/>
            <p:nvPr/>
          </p:nvSpPr>
          <p:spPr>
            <a:xfrm>
              <a:off x="6515100" y="4191000"/>
              <a:ext cx="152400" cy="114300"/>
            </a:xfrm>
            <a:prstGeom prst="roundRect">
              <a:avLst>
                <a:gd name="adj" fmla="val 16667"/>
              </a:avLst>
            </a:prstGeom>
            <a:solidFill>
              <a:schemeClr val="accent6"/>
            </a:solidFill>
            <a:ln>
              <a:noFill/>
            </a:ln>
          </p:spPr>
        </p:sp>
        <p:sp>
          <p:nvSpPr>
            <p:cNvPr id="51" name="Rectangle 51"/>
            <p:cNvSpPr/>
            <p:nvPr/>
          </p:nvSpPr>
          <p:spPr>
            <a:xfrm>
              <a:off x="6705600" y="4191000"/>
              <a:ext cx="152400" cy="114300"/>
            </a:xfrm>
            <a:prstGeom prst="roundRect">
              <a:avLst>
                <a:gd name="adj" fmla="val 16667"/>
              </a:avLst>
            </a:prstGeom>
            <a:solidFill>
              <a:schemeClr val="accent6"/>
            </a:solidFill>
            <a:ln>
              <a:noFill/>
            </a:ln>
          </p:spPr>
        </p:sp>
        <p:sp>
          <p:nvSpPr>
            <p:cNvPr id="52" name="Rectangle 52"/>
            <p:cNvSpPr/>
            <p:nvPr/>
          </p:nvSpPr>
          <p:spPr>
            <a:xfrm>
              <a:off x="6896100" y="4191000"/>
              <a:ext cx="152400" cy="114300"/>
            </a:xfrm>
            <a:prstGeom prst="roundRect">
              <a:avLst>
                <a:gd name="adj" fmla="val 16667"/>
              </a:avLst>
            </a:prstGeom>
            <a:solidFill>
              <a:schemeClr val="accent6"/>
            </a:solidFill>
            <a:ln>
              <a:noFill/>
            </a:ln>
          </p:spPr>
        </p:sp>
        <p:sp>
          <p:nvSpPr>
            <p:cNvPr id="53" name="Rectangle 53"/>
            <p:cNvSpPr/>
            <p:nvPr/>
          </p:nvSpPr>
          <p:spPr>
            <a:xfrm>
              <a:off x="7086600" y="4191000"/>
              <a:ext cx="152400" cy="114300"/>
            </a:xfrm>
            <a:prstGeom prst="roundRect">
              <a:avLst>
                <a:gd name="adj" fmla="val 16667"/>
              </a:avLst>
            </a:prstGeom>
            <a:solidFill>
              <a:schemeClr val="accent6"/>
            </a:solidFill>
            <a:ln>
              <a:noFill/>
            </a:ln>
          </p:spPr>
        </p:sp>
        <p:sp>
          <p:nvSpPr>
            <p:cNvPr id="54" name="Rectangle 54"/>
            <p:cNvSpPr/>
            <p:nvPr/>
          </p:nvSpPr>
          <p:spPr>
            <a:xfrm>
              <a:off x="7277100" y="4191000"/>
              <a:ext cx="152400" cy="114300"/>
            </a:xfrm>
            <a:prstGeom prst="roundRect">
              <a:avLst>
                <a:gd name="adj" fmla="val 16667"/>
              </a:avLst>
            </a:prstGeom>
            <a:solidFill>
              <a:srgbClr val="3A6EA5"/>
            </a:solidFill>
            <a:ln>
              <a:noFill/>
            </a:ln>
          </p:spPr>
        </p:sp>
        <p:sp>
          <p:nvSpPr>
            <p:cNvPr id="55" name="TextBox 55"/>
            <p:cNvSpPr txBox="1"/>
            <p:nvPr/>
          </p:nvSpPr>
          <p:spPr>
            <a:xfrm>
              <a:off x="8947785" y="3612356"/>
              <a:ext cx="668429" cy="220028"/>
            </a:xfrm>
            <a:prstGeom prst="rect">
              <a:avLst/>
            </a:prstGeom>
            <a:noFill/>
            <a:ln>
              <a:noFill/>
            </a:ln>
          </p:spPr>
          <p:txBody>
            <a:bodyPr wrap="none" lIns="0" tIns="0" rIns="0" bIns="0" anchor="t" anchorCtr="0">
              <a:spAutoFit/>
            </a:bodyPr>
            <a:lstStyle/>
            <a:p>
              <a:pPr algn="l"/>
              <a:r>
                <a:rPr lang="en-US" sz="1120" b="1" dirty="0">
                  <a:solidFill>
                    <a:srgbClr val="F2C14E"/>
                  </a:solidFill>
                  <a:latin typeface="+mn-lt"/>
                  <a:ea typeface="+mn-ea"/>
                  <a:cs typeface="+mn-cs"/>
                </a:rPr>
                <a:t>19 types</a:t>
              </a:r>
            </a:p>
          </p:txBody>
        </p:sp>
        <p:sp>
          <p:nvSpPr>
            <p:cNvPr id="56" name="TextBox 56"/>
            <p:cNvSpPr txBox="1"/>
            <p:nvPr/>
          </p:nvSpPr>
          <p:spPr>
            <a:xfrm>
              <a:off x="8948547" y="3838099"/>
              <a:ext cx="1249696"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 5 severity levels</a:t>
              </a:r>
            </a:p>
          </p:txBody>
        </p:sp>
      </p:grpSp>
      <p:grpSp>
        <p:nvGrpSpPr>
          <p:cNvPr id="70" name="Group 70"/>
          <p:cNvGrpSpPr/>
          <p:nvPr/>
        </p:nvGrpSpPr>
        <p:grpSpPr>
          <a:xfrm>
            <a:off x="609600" y="4362450"/>
            <a:ext cx="10972800" cy="876300"/>
            <a:chOff x="609600" y="4362450"/>
            <a:chExt cx="10972800" cy="876300"/>
          </a:xfrm>
        </p:grpSpPr>
        <p:sp>
          <p:nvSpPr>
            <p:cNvPr id="58" name="Rectangle 58"/>
            <p:cNvSpPr/>
            <p:nvPr/>
          </p:nvSpPr>
          <p:spPr>
            <a:xfrm>
              <a:off x="609600" y="4362450"/>
              <a:ext cx="10972800" cy="876300"/>
            </a:xfrm>
            <a:prstGeom prst="roundRect">
              <a:avLst>
                <a:gd name="adj" fmla="val 15217"/>
              </a:avLst>
            </a:prstGeom>
            <a:solidFill>
              <a:schemeClr val="accent5"/>
            </a:solidFill>
            <a:ln w="14288">
              <a:solidFill>
                <a:srgbClr val="26455F"/>
              </a:solidFill>
            </a:ln>
          </p:spPr>
        </p:sp>
        <p:sp>
          <p:nvSpPr>
            <p:cNvPr id="59" name="Rectangle 59"/>
            <p:cNvSpPr/>
            <p:nvPr/>
          </p:nvSpPr>
          <p:spPr>
            <a:xfrm>
              <a:off x="609600" y="4362450"/>
              <a:ext cx="57150" cy="876300"/>
            </a:xfrm>
            <a:prstGeom prst="roundRect">
              <a:avLst>
                <a:gd name="adj" fmla="val 50000"/>
              </a:avLst>
            </a:prstGeom>
            <a:solidFill>
              <a:srgbClr val="48C78E"/>
            </a:solidFill>
            <a:ln>
              <a:noFill/>
            </a:ln>
          </p:spPr>
        </p:sp>
        <p:sp>
          <p:nvSpPr>
            <p:cNvPr id="60" name="TextBox 60"/>
            <p:cNvSpPr txBox="1"/>
            <p:nvPr/>
          </p:nvSpPr>
          <p:spPr>
            <a:xfrm>
              <a:off x="870204" y="4556760"/>
              <a:ext cx="4114199"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Metrics · clean and averaged over all corruptions</a:t>
              </a:r>
            </a:p>
          </p:txBody>
        </p:sp>
        <p:sp>
          <p:nvSpPr>
            <p:cNvPr id="61" name="Rectangle 61"/>
            <p:cNvSpPr/>
            <p:nvPr/>
          </p:nvSpPr>
          <p:spPr>
            <a:xfrm>
              <a:off x="876300" y="4819650"/>
              <a:ext cx="3238500" cy="304800"/>
            </a:xfrm>
            <a:prstGeom prst="roundRect">
              <a:avLst>
                <a:gd name="adj" fmla="val 25000"/>
              </a:avLst>
            </a:prstGeom>
            <a:solidFill>
              <a:schemeClr val="accent6"/>
            </a:solidFill>
            <a:ln w="14288">
              <a:solidFill>
                <a:srgbClr val="26455F"/>
              </a:solidFill>
            </a:ln>
          </p:spPr>
        </p:sp>
        <p:sp>
          <p:nvSpPr>
            <p:cNvPr id="62" name="Ellipse 62"/>
            <p:cNvSpPr/>
            <p:nvPr/>
          </p:nvSpPr>
          <p:spPr>
            <a:xfrm>
              <a:off x="1000125" y="4924425"/>
              <a:ext cx="95250" cy="95250"/>
            </a:xfrm>
            <a:prstGeom prst="ellipse">
              <a:avLst/>
            </a:prstGeom>
            <a:solidFill>
              <a:srgbClr val="48C78E"/>
            </a:solidFill>
            <a:ln>
              <a:noFill/>
            </a:ln>
          </p:spPr>
        </p:sp>
        <p:sp>
          <p:nvSpPr>
            <p:cNvPr id="63" name="TextBox 63"/>
            <p:cNvSpPr txBox="1"/>
            <p:nvPr/>
          </p:nvSpPr>
          <p:spPr>
            <a:xfrm>
              <a:off x="1195006" y="4910376"/>
              <a:ext cx="642895"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Accuracy</a:t>
              </a:r>
            </a:p>
          </p:txBody>
        </p:sp>
        <p:sp>
          <p:nvSpPr>
            <p:cNvPr id="64" name="Rectangle 64"/>
            <p:cNvSpPr/>
            <p:nvPr/>
          </p:nvSpPr>
          <p:spPr>
            <a:xfrm>
              <a:off x="4229100" y="4819650"/>
              <a:ext cx="3238500" cy="304800"/>
            </a:xfrm>
            <a:prstGeom prst="roundRect">
              <a:avLst>
                <a:gd name="adj" fmla="val 25000"/>
              </a:avLst>
            </a:prstGeom>
            <a:solidFill>
              <a:schemeClr val="accent6"/>
            </a:solidFill>
            <a:ln w="14288">
              <a:solidFill>
                <a:srgbClr val="26455F"/>
              </a:solidFill>
            </a:ln>
          </p:spPr>
        </p:sp>
        <p:sp>
          <p:nvSpPr>
            <p:cNvPr id="65" name="Ellipse 65"/>
            <p:cNvSpPr/>
            <p:nvPr/>
          </p:nvSpPr>
          <p:spPr>
            <a:xfrm>
              <a:off x="4352925" y="4924425"/>
              <a:ext cx="95250" cy="95250"/>
            </a:xfrm>
            <a:prstGeom prst="ellipse">
              <a:avLst/>
            </a:prstGeom>
            <a:solidFill>
              <a:schemeClr val="accent2"/>
            </a:solidFill>
            <a:ln>
              <a:noFill/>
            </a:ln>
          </p:spPr>
        </p:sp>
        <p:sp>
          <p:nvSpPr>
            <p:cNvPr id="66" name="TextBox 66"/>
            <p:cNvSpPr txBox="1"/>
            <p:nvPr/>
          </p:nvSpPr>
          <p:spPr>
            <a:xfrm>
              <a:off x="4547806" y="4910376"/>
              <a:ext cx="1570615"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Negative log-likelihood</a:t>
              </a:r>
            </a:p>
          </p:txBody>
        </p:sp>
        <p:sp>
          <p:nvSpPr>
            <p:cNvPr id="67" name="Rectangle 67"/>
            <p:cNvSpPr/>
            <p:nvPr/>
          </p:nvSpPr>
          <p:spPr>
            <a:xfrm>
              <a:off x="7581900" y="4819650"/>
              <a:ext cx="3238500" cy="304800"/>
            </a:xfrm>
            <a:prstGeom prst="roundRect">
              <a:avLst>
                <a:gd name="adj" fmla="val 25000"/>
              </a:avLst>
            </a:prstGeom>
            <a:solidFill>
              <a:schemeClr val="accent6"/>
            </a:solidFill>
            <a:ln w="14288">
              <a:solidFill>
                <a:srgbClr val="26455F"/>
              </a:solidFill>
            </a:ln>
          </p:spPr>
        </p:sp>
        <p:sp>
          <p:nvSpPr>
            <p:cNvPr id="68" name="Ellipse 68"/>
            <p:cNvSpPr/>
            <p:nvPr/>
          </p:nvSpPr>
          <p:spPr>
            <a:xfrm>
              <a:off x="7705725" y="4924425"/>
              <a:ext cx="95250" cy="95250"/>
            </a:xfrm>
            <a:prstGeom prst="ellipse">
              <a:avLst/>
            </a:prstGeom>
            <a:solidFill>
              <a:srgbClr val="F2C14E"/>
            </a:solidFill>
            <a:ln>
              <a:noFill/>
            </a:ln>
          </p:spPr>
        </p:sp>
        <p:sp>
          <p:nvSpPr>
            <p:cNvPr id="69" name="TextBox 69"/>
            <p:cNvSpPr txBox="1"/>
            <p:nvPr/>
          </p:nvSpPr>
          <p:spPr>
            <a:xfrm>
              <a:off x="7900606" y="4910376"/>
              <a:ext cx="1877758"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Expected calibration error</a:t>
              </a:r>
            </a:p>
          </p:txBody>
        </p:sp>
      </p:grpSp>
      <p:sp>
        <p:nvSpPr>
          <p:cNvPr id="71" name="cue_s06_c1_method_tested_across_broad_range" title="cue_s06_c1_method_tested_across_broad_range" descr="cue_s06_c1_method_tested_across_broad_range The method is tested across a broad range of settings. Illustrative one-dimensional regression and two-dimensional classification tasks show how input-gradient repulsion increases uncertainty away from the data."/>
          <p:cNvSpPr/>
          <p:nvPr/>
        </p:nvSpPr>
        <p:spPr>
          <a:xfrm>
            <a:off x="609600" y="1447723"/>
            <a:ext cx="10972800" cy="9176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cue_s06_c2_main_image_classification_experiment" title="cue_s06_c2_main_image_classification_experiment" descr="cue_s06_c2_main_image_classification_experiment The main image classification experiments use CIFAR-10, CIFAR-100, and TinyImageNet, with ResNet and PreActResNet backbones and an ensemble of ten members."/>
          <p:cNvSpPr/>
          <p:nvPr/>
        </p:nvSpPr>
        <p:spPr>
          <a:xfrm>
            <a:off x="609600" y="2457221"/>
            <a:ext cx="53340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cue_s06_c3_measure_robustness_authors_corrupted" title="cue_s06_c3_measure_robustness_authors_corrupted" descr="cue_s06_c3_measure_robustness_authors_corrupted To measure robustness, the authors use the corrupted benchmarks CIFAR-10-C, CIFAR-100-C, and TinyImageNet-C, which apply nineteen types of image corruption at five severity levels."/>
          <p:cNvSpPr/>
          <p:nvPr/>
        </p:nvSpPr>
        <p:spPr>
          <a:xfrm>
            <a:off x="6248399" y="2457221"/>
            <a:ext cx="5334000" cy="18475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cue_s06_c4_they_report_accuracy_negative_log_li" title="cue_s06_c4_they_report_accuracy_negative_log_li" descr="cue_s06_c4_they_report_accuracy_negative_log_li They report accuracy, negative log-likelihood, and expected calibration error, both on clean data and averaged over all corruptions."/>
          <p:cNvSpPr/>
          <p:nvPr/>
        </p:nvSpPr>
        <p:spPr>
          <a:xfrm>
            <a:off x="609600" y="4362373"/>
            <a:ext cx="10972800"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618781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Best under corruption, on every metric</a:t>
            </a:r>
          </a:p>
        </p:txBody>
      </p:sp>
      <p:grpSp>
        <p:nvGrpSpPr>
          <p:cNvPr id="8" name="Group 8"/>
          <p:cNvGrpSpPr/>
          <p:nvPr/>
        </p:nvGrpSpPr>
        <p:grpSpPr>
          <a:xfrm>
            <a:off x="609600" y="1447800"/>
            <a:ext cx="10972800" cy="552450"/>
            <a:chOff x="609600" y="1447800"/>
            <a:chExt cx="10972800" cy="552450"/>
          </a:xfrm>
        </p:grpSpPr>
        <p:sp>
          <p:nvSpPr>
            <p:cNvPr id="5" name="Rectangle 5"/>
            <p:cNvSpPr/>
            <p:nvPr/>
          </p:nvSpPr>
          <p:spPr>
            <a:xfrm>
              <a:off x="609600" y="1447800"/>
              <a:ext cx="10972800" cy="552450"/>
            </a:xfrm>
            <a:prstGeom prst="roundRect">
              <a:avLst>
                <a:gd name="adj" fmla="val 24138"/>
              </a:avLst>
            </a:prstGeom>
            <a:solidFill>
              <a:schemeClr val="accent5"/>
            </a:solidFill>
            <a:ln w="14288">
              <a:solidFill>
                <a:srgbClr val="26455F"/>
              </a:solidFill>
            </a:ln>
          </p:spPr>
        </p:sp>
        <p:sp>
          <p:nvSpPr>
            <p:cNvPr id="6" name="Rectangle 6"/>
            <p:cNvSpPr/>
            <p:nvPr/>
          </p:nvSpPr>
          <p:spPr>
            <a:xfrm>
              <a:off x="609600" y="1447800"/>
              <a:ext cx="57150" cy="552450"/>
            </a:xfrm>
            <a:prstGeom prst="roundRect">
              <a:avLst>
                <a:gd name="adj" fmla="val 50000"/>
              </a:avLst>
            </a:prstGeom>
            <a:solidFill>
              <a:srgbClr val="48C78E"/>
            </a:solidFill>
            <a:ln>
              <a:noFill/>
            </a:ln>
          </p:spPr>
        </p:sp>
        <p:sp>
          <p:nvSpPr>
            <p:cNvPr id="7" name="TextBox 7"/>
            <p:cNvSpPr txBox="1"/>
            <p:nvPr/>
          </p:nvSpPr>
          <p:spPr>
            <a:xfrm>
              <a:off x="870014" y="1657112"/>
              <a:ext cx="9537179"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FoRDE-PCA is the strongest method on every corrupted-image metric, while staying competitive on clean data.</a:t>
              </a:r>
            </a:p>
          </p:txBody>
        </p:sp>
      </p:grpSp>
      <p:grpSp>
        <p:nvGrpSpPr>
          <p:cNvPr id="28" name="Group 28"/>
          <p:cNvGrpSpPr/>
          <p:nvPr/>
        </p:nvGrpSpPr>
        <p:grpSpPr>
          <a:xfrm>
            <a:off x="609600" y="2190750"/>
            <a:ext cx="5334000" cy="3048000"/>
            <a:chOff x="609600" y="2190750"/>
            <a:chExt cx="5334000" cy="3048000"/>
          </a:xfrm>
        </p:grpSpPr>
        <p:sp>
          <p:nvSpPr>
            <p:cNvPr id="9" name="Rectangle 9"/>
            <p:cNvSpPr/>
            <p:nvPr/>
          </p:nvSpPr>
          <p:spPr>
            <a:xfrm>
              <a:off x="609600" y="2190750"/>
              <a:ext cx="5334000" cy="3048000"/>
            </a:xfrm>
            <a:prstGeom prst="roundRect">
              <a:avLst>
                <a:gd name="adj" fmla="val 4375"/>
              </a:avLst>
            </a:prstGeom>
            <a:solidFill>
              <a:schemeClr val="accent5"/>
            </a:solidFill>
            <a:ln w="14288">
              <a:solidFill>
                <a:srgbClr val="26455F"/>
              </a:solidFill>
            </a:ln>
          </p:spPr>
        </p:sp>
        <p:sp>
          <p:nvSpPr>
            <p:cNvPr id="10" name="Rectangle 10"/>
            <p:cNvSpPr/>
            <p:nvPr/>
          </p:nvSpPr>
          <p:spPr>
            <a:xfrm>
              <a:off x="609600" y="2190750"/>
              <a:ext cx="57150" cy="3048000"/>
            </a:xfrm>
            <a:prstGeom prst="roundRect">
              <a:avLst>
                <a:gd name="adj" fmla="val 50000"/>
              </a:avLst>
            </a:prstGeom>
            <a:solidFill>
              <a:schemeClr val="accent2"/>
            </a:solidFill>
            <a:ln>
              <a:noFill/>
            </a:ln>
          </p:spPr>
        </p:sp>
        <p:sp>
          <p:nvSpPr>
            <p:cNvPr id="11" name="TextBox 11"/>
            <p:cNvSpPr txBox="1"/>
            <p:nvPr/>
          </p:nvSpPr>
          <p:spPr>
            <a:xfrm>
              <a:off x="870014" y="2419112"/>
              <a:ext cx="3454240"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Accuracy gain over the 2nd-best method</a:t>
              </a:r>
            </a:p>
          </p:txBody>
        </p:sp>
        <p:sp>
          <p:nvSpPr>
            <p:cNvPr id="12" name="Rectangle 12"/>
            <p:cNvSpPr/>
            <p:nvPr/>
          </p:nvSpPr>
          <p:spPr>
            <a:xfrm>
              <a:off x="876300" y="2724150"/>
              <a:ext cx="2343150" cy="1028700"/>
            </a:xfrm>
            <a:prstGeom prst="roundRect">
              <a:avLst>
                <a:gd name="adj" fmla="val 11111"/>
              </a:avLst>
            </a:prstGeom>
            <a:solidFill>
              <a:schemeClr val="accent6"/>
            </a:solidFill>
            <a:ln w="14288">
              <a:solidFill>
                <a:srgbClr val="26455F"/>
              </a:solidFill>
            </a:ln>
          </p:spPr>
        </p:sp>
        <p:sp>
          <p:nvSpPr>
            <p:cNvPr id="13" name="TextBox 13"/>
            <p:cNvSpPr txBox="1"/>
            <p:nvPr/>
          </p:nvSpPr>
          <p:spPr>
            <a:xfrm>
              <a:off x="1471229" y="2967609"/>
              <a:ext cx="1153293" cy="528066"/>
            </a:xfrm>
            <a:prstGeom prst="rect">
              <a:avLst/>
            </a:prstGeom>
            <a:noFill/>
            <a:ln>
              <a:noFill/>
            </a:ln>
          </p:spPr>
          <p:txBody>
            <a:bodyPr wrap="none" lIns="0" tIns="0" rIns="0" bIns="0" anchor="t" anchorCtr="0">
              <a:spAutoFit/>
            </a:bodyPr>
            <a:lstStyle/>
            <a:p>
              <a:pPr algn="ctr"/>
              <a:r>
                <a:rPr lang="en-US" sz="2700" b="1" dirty="0">
                  <a:solidFill>
                    <a:srgbClr val="48C78E"/>
                  </a:solidFill>
                  <a:latin typeface="+mn-lt"/>
                  <a:ea typeface="+mn-ea"/>
                  <a:cs typeface="+mn-cs"/>
                </a:rPr>
                <a:t>+2.4%</a:t>
              </a:r>
            </a:p>
          </p:txBody>
        </p:sp>
        <p:sp>
          <p:nvSpPr>
            <p:cNvPr id="14" name="TextBox 14"/>
            <p:cNvSpPr txBox="1"/>
            <p:nvPr/>
          </p:nvSpPr>
          <p:spPr>
            <a:xfrm>
              <a:off x="1658714" y="3441859"/>
              <a:ext cx="778322"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CIFAR-10-C</a:t>
              </a:r>
            </a:p>
          </p:txBody>
        </p:sp>
        <p:sp>
          <p:nvSpPr>
            <p:cNvPr id="15" name="Rectangle 15"/>
            <p:cNvSpPr/>
            <p:nvPr/>
          </p:nvSpPr>
          <p:spPr>
            <a:xfrm>
              <a:off x="3333750" y="2724150"/>
              <a:ext cx="2343150" cy="1028700"/>
            </a:xfrm>
            <a:prstGeom prst="roundRect">
              <a:avLst>
                <a:gd name="adj" fmla="val 11111"/>
              </a:avLst>
            </a:prstGeom>
            <a:solidFill>
              <a:schemeClr val="accent6"/>
            </a:solidFill>
            <a:ln w="14288">
              <a:solidFill>
                <a:srgbClr val="26455F"/>
              </a:solidFill>
            </a:ln>
          </p:spPr>
        </p:sp>
        <p:sp>
          <p:nvSpPr>
            <p:cNvPr id="16" name="TextBox 16"/>
            <p:cNvSpPr txBox="1"/>
            <p:nvPr/>
          </p:nvSpPr>
          <p:spPr>
            <a:xfrm>
              <a:off x="3928679" y="2967609"/>
              <a:ext cx="1153293" cy="528066"/>
            </a:xfrm>
            <a:prstGeom prst="rect">
              <a:avLst/>
            </a:prstGeom>
            <a:noFill/>
            <a:ln>
              <a:noFill/>
            </a:ln>
          </p:spPr>
          <p:txBody>
            <a:bodyPr wrap="none" lIns="0" tIns="0" rIns="0" bIns="0" anchor="t" anchorCtr="0">
              <a:spAutoFit/>
            </a:bodyPr>
            <a:lstStyle/>
            <a:p>
              <a:pPr algn="ctr"/>
              <a:r>
                <a:rPr lang="en-US" sz="2700" b="1" dirty="0">
                  <a:solidFill>
                    <a:srgbClr val="48C78E"/>
                  </a:solidFill>
                  <a:latin typeface="+mn-lt"/>
                  <a:ea typeface="+mn-ea"/>
                  <a:cs typeface="+mn-cs"/>
                </a:rPr>
                <a:t>+1.3%</a:t>
              </a:r>
            </a:p>
          </p:txBody>
        </p:sp>
        <p:sp>
          <p:nvSpPr>
            <p:cNvPr id="17" name="TextBox 17"/>
            <p:cNvSpPr txBox="1"/>
            <p:nvPr/>
          </p:nvSpPr>
          <p:spPr>
            <a:xfrm>
              <a:off x="4075914" y="3441859"/>
              <a:ext cx="858823"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CIFAR-100-C</a:t>
              </a:r>
            </a:p>
          </p:txBody>
        </p:sp>
        <p:sp>
          <p:nvSpPr>
            <p:cNvPr id="18" name="TextBox 18"/>
            <p:cNvSpPr txBox="1"/>
            <p:nvPr/>
          </p:nvSpPr>
          <p:spPr>
            <a:xfrm>
              <a:off x="871156" y="4005501"/>
              <a:ext cx="2991741"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Under input corruptions (higher is better)</a:t>
              </a:r>
            </a:p>
          </p:txBody>
        </p:sp>
        <p:sp>
          <p:nvSpPr>
            <p:cNvPr id="19" name="Rectangle 19"/>
            <p:cNvSpPr/>
            <p:nvPr/>
          </p:nvSpPr>
          <p:spPr>
            <a:xfrm>
              <a:off x="2857500" y="4267200"/>
              <a:ext cx="2476500" cy="209550"/>
            </a:xfrm>
            <a:prstGeom prst="roundRect">
              <a:avLst>
                <a:gd name="adj" fmla="val 27273"/>
              </a:avLst>
            </a:prstGeom>
            <a:solidFill>
              <a:srgbClr val="0E2334"/>
            </a:solidFill>
            <a:ln w="9525">
              <a:solidFill>
                <a:srgbClr val="26455F"/>
              </a:solidFill>
            </a:ln>
          </p:spPr>
        </p:sp>
        <p:sp>
          <p:nvSpPr>
            <p:cNvPr id="20" name="Rectangle 20"/>
            <p:cNvSpPr/>
            <p:nvPr/>
          </p:nvSpPr>
          <p:spPr>
            <a:xfrm>
              <a:off x="2857500" y="4267200"/>
              <a:ext cx="2114550" cy="209550"/>
            </a:xfrm>
            <a:prstGeom prst="roundRect">
              <a:avLst>
                <a:gd name="adj" fmla="val 27273"/>
              </a:avLst>
            </a:prstGeom>
            <a:solidFill>
              <a:srgbClr val="48C78E"/>
            </a:solidFill>
            <a:ln>
              <a:noFill/>
            </a:ln>
          </p:spPr>
        </p:sp>
        <p:sp>
          <p:nvSpPr>
            <p:cNvPr id="21" name="TextBox 21"/>
            <p:cNvSpPr txBox="1"/>
            <p:nvPr/>
          </p:nvSpPr>
          <p:spPr>
            <a:xfrm>
              <a:off x="1914563" y="4304728"/>
              <a:ext cx="833971"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CIFAR-10-C</a:t>
              </a:r>
            </a:p>
          </p:txBody>
        </p:sp>
        <p:sp>
          <p:nvSpPr>
            <p:cNvPr id="22" name="TextBox 22"/>
            <p:cNvSpPr txBox="1"/>
            <p:nvPr/>
          </p:nvSpPr>
          <p:spPr>
            <a:xfrm>
              <a:off x="5061966" y="4304728"/>
              <a:ext cx="337189"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+2.4</a:t>
              </a:r>
            </a:p>
          </p:txBody>
        </p:sp>
        <p:sp>
          <p:nvSpPr>
            <p:cNvPr id="23" name="Rectangle 23"/>
            <p:cNvSpPr/>
            <p:nvPr/>
          </p:nvSpPr>
          <p:spPr>
            <a:xfrm>
              <a:off x="2857500" y="4572000"/>
              <a:ext cx="2476500" cy="209550"/>
            </a:xfrm>
            <a:prstGeom prst="roundRect">
              <a:avLst>
                <a:gd name="adj" fmla="val 27273"/>
              </a:avLst>
            </a:prstGeom>
            <a:solidFill>
              <a:srgbClr val="0E2334"/>
            </a:solidFill>
            <a:ln w="9525">
              <a:solidFill>
                <a:srgbClr val="26455F"/>
              </a:solidFill>
            </a:ln>
          </p:spPr>
        </p:sp>
        <p:sp>
          <p:nvSpPr>
            <p:cNvPr id="24" name="Rectangle 24"/>
            <p:cNvSpPr/>
            <p:nvPr/>
          </p:nvSpPr>
          <p:spPr>
            <a:xfrm>
              <a:off x="2857500" y="4572000"/>
              <a:ext cx="1143000" cy="209550"/>
            </a:xfrm>
            <a:prstGeom prst="roundRect">
              <a:avLst>
                <a:gd name="adj" fmla="val 27273"/>
              </a:avLst>
            </a:prstGeom>
            <a:solidFill>
              <a:srgbClr val="34D3C0"/>
            </a:solidFill>
            <a:ln>
              <a:noFill/>
            </a:ln>
          </p:spPr>
        </p:sp>
        <p:sp>
          <p:nvSpPr>
            <p:cNvPr id="25" name="TextBox 25"/>
            <p:cNvSpPr txBox="1"/>
            <p:nvPr/>
          </p:nvSpPr>
          <p:spPr>
            <a:xfrm>
              <a:off x="1828312" y="4609528"/>
              <a:ext cx="920222"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CIFAR-100-C</a:t>
              </a:r>
            </a:p>
          </p:txBody>
        </p:sp>
        <p:sp>
          <p:nvSpPr>
            <p:cNvPr id="26" name="TextBox 26"/>
            <p:cNvSpPr txBox="1"/>
            <p:nvPr/>
          </p:nvSpPr>
          <p:spPr>
            <a:xfrm>
              <a:off x="4090416" y="4609528"/>
              <a:ext cx="337189" cy="205359"/>
            </a:xfrm>
            <a:prstGeom prst="rect">
              <a:avLst/>
            </a:prstGeom>
            <a:noFill/>
            <a:ln>
              <a:noFill/>
            </a:ln>
          </p:spPr>
          <p:txBody>
            <a:bodyPr wrap="none" lIns="0" tIns="0" rIns="0" bIns="0" anchor="t" anchorCtr="0">
              <a:spAutoFit/>
            </a:bodyPr>
            <a:lstStyle/>
            <a:p>
              <a:pPr algn="l"/>
              <a:r>
                <a:rPr lang="en-US" sz="1050" b="1" dirty="0">
                  <a:solidFill>
                    <a:srgbClr val="34D3C0"/>
                  </a:solidFill>
                  <a:latin typeface="+mn-lt"/>
                  <a:ea typeface="+mn-ea"/>
                  <a:cs typeface="+mn-cs"/>
                </a:rPr>
                <a:t>+1.3</a:t>
              </a:r>
            </a:p>
          </p:txBody>
        </p:sp>
        <p:sp>
          <p:nvSpPr>
            <p:cNvPr id="27" name="TextBox 27"/>
            <p:cNvSpPr txBox="1"/>
            <p:nvPr/>
          </p:nvSpPr>
          <p:spPr>
            <a:xfrm>
              <a:off x="871347" y="4923949"/>
              <a:ext cx="4391852"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Competitive on clean images; clearly ahead once corruptions hit.</a:t>
              </a:r>
            </a:p>
          </p:txBody>
        </p:sp>
      </p:grpSp>
      <p:grpSp>
        <p:nvGrpSpPr>
          <p:cNvPr id="49" name="Group 49"/>
          <p:cNvGrpSpPr/>
          <p:nvPr/>
        </p:nvGrpSpPr>
        <p:grpSpPr>
          <a:xfrm>
            <a:off x="6248400" y="2190750"/>
            <a:ext cx="9593954" cy="3048000"/>
            <a:chOff x="6248400" y="2190750"/>
            <a:chExt cx="9593954" cy="3048000"/>
          </a:xfrm>
        </p:grpSpPr>
        <p:sp>
          <p:nvSpPr>
            <p:cNvPr id="29" name="Rectangle 29"/>
            <p:cNvSpPr/>
            <p:nvPr/>
          </p:nvSpPr>
          <p:spPr>
            <a:xfrm>
              <a:off x="6248400" y="2190750"/>
              <a:ext cx="5334000" cy="3048000"/>
            </a:xfrm>
            <a:prstGeom prst="roundRect">
              <a:avLst>
                <a:gd name="adj" fmla="val 4375"/>
              </a:avLst>
            </a:prstGeom>
            <a:solidFill>
              <a:schemeClr val="accent5"/>
            </a:solidFill>
            <a:ln w="14288">
              <a:solidFill>
                <a:srgbClr val="26455F"/>
              </a:solidFill>
            </a:ln>
          </p:spPr>
        </p:sp>
        <p:sp>
          <p:nvSpPr>
            <p:cNvPr id="30" name="Rectangle 30"/>
            <p:cNvSpPr/>
            <p:nvPr/>
          </p:nvSpPr>
          <p:spPr>
            <a:xfrm>
              <a:off x="6248400" y="2190750"/>
              <a:ext cx="57150" cy="3048000"/>
            </a:xfrm>
            <a:prstGeom prst="roundRect">
              <a:avLst>
                <a:gd name="adj" fmla="val 50000"/>
              </a:avLst>
            </a:prstGeom>
            <a:solidFill>
              <a:srgbClr val="34D3C0"/>
            </a:solidFill>
            <a:ln>
              <a:noFill/>
            </a:ln>
          </p:spPr>
        </p:sp>
        <p:sp>
          <p:nvSpPr>
            <p:cNvPr id="31" name="TextBox 31"/>
            <p:cNvSpPr txBox="1"/>
            <p:nvPr/>
          </p:nvSpPr>
          <p:spPr>
            <a:xfrm>
              <a:off x="6509194" y="2427208"/>
              <a:ext cx="3665980"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Toy tasks · more uncertainty away from data</a:t>
              </a:r>
            </a:p>
          </p:txBody>
        </p:sp>
        <p:sp>
          <p:nvSpPr>
            <p:cNvPr id="32" name="Rectangle 32"/>
            <p:cNvSpPr/>
            <p:nvPr/>
          </p:nvSpPr>
          <p:spPr>
            <a:xfrm>
              <a:off x="6515100" y="2857500"/>
              <a:ext cx="4800600" cy="1428750"/>
            </a:xfrm>
            <a:prstGeom prst="roundRect">
              <a:avLst>
                <a:gd name="adj" fmla="val 6667"/>
              </a:avLst>
            </a:prstGeom>
            <a:solidFill>
              <a:srgbClr val="0E2334"/>
            </a:solidFill>
            <a:ln w="14288">
              <a:solidFill>
                <a:srgbClr val="26455F"/>
              </a:solidFill>
            </a:ln>
          </p:spPr>
        </p:sp>
        <p:sp>
          <p:nvSpPr>
            <p:cNvPr id="33" name="Polygon 33"/>
            <p:cNvSpPr/>
            <p:nvPr/>
          </p:nvSpPr>
          <p:spPr>
            <a:xfrm>
              <a:off x="6896100" y="3257550"/>
              <a:ext cx="4038600" cy="1028700"/>
            </a:xfrm>
            <a:custGeom>
              <a:avLst/>
              <a:gdLst/>
              <a:ahLst/>
              <a:cxnLst/>
              <a:rect l="l" t="t" r="r" b="b"/>
              <a:pathLst>
                <a:path w="4038600" h="1028700">
                  <a:moveTo>
                    <a:pt x="0" y="0"/>
                  </a:moveTo>
                  <a:lnTo>
                    <a:pt x="161544" y="67300"/>
                  </a:lnTo>
                  <a:lnTo>
                    <a:pt x="323088" y="128991"/>
                  </a:lnTo>
                  <a:lnTo>
                    <a:pt x="484632" y="185075"/>
                  </a:lnTo>
                  <a:lnTo>
                    <a:pt x="646176" y="235549"/>
                  </a:lnTo>
                  <a:lnTo>
                    <a:pt x="807720" y="280416"/>
                  </a:lnTo>
                  <a:lnTo>
                    <a:pt x="969264" y="319674"/>
                  </a:lnTo>
                  <a:lnTo>
                    <a:pt x="1130808" y="353324"/>
                  </a:lnTo>
                  <a:lnTo>
                    <a:pt x="1292352" y="381366"/>
                  </a:lnTo>
                  <a:lnTo>
                    <a:pt x="1453896" y="403799"/>
                  </a:lnTo>
                  <a:lnTo>
                    <a:pt x="1615440" y="420624"/>
                  </a:lnTo>
                  <a:lnTo>
                    <a:pt x="1776984" y="431841"/>
                  </a:lnTo>
                  <a:lnTo>
                    <a:pt x="1938528" y="437449"/>
                  </a:lnTo>
                  <a:lnTo>
                    <a:pt x="2100072" y="437449"/>
                  </a:lnTo>
                  <a:lnTo>
                    <a:pt x="2261616" y="431841"/>
                  </a:lnTo>
                  <a:lnTo>
                    <a:pt x="2423160" y="420624"/>
                  </a:lnTo>
                  <a:lnTo>
                    <a:pt x="2584704" y="403799"/>
                  </a:lnTo>
                  <a:lnTo>
                    <a:pt x="2746248" y="381366"/>
                  </a:lnTo>
                  <a:lnTo>
                    <a:pt x="2907792" y="353324"/>
                  </a:lnTo>
                  <a:lnTo>
                    <a:pt x="3069336" y="319674"/>
                  </a:lnTo>
                  <a:lnTo>
                    <a:pt x="3230880" y="280416"/>
                  </a:lnTo>
                  <a:lnTo>
                    <a:pt x="3392424" y="235549"/>
                  </a:lnTo>
                  <a:lnTo>
                    <a:pt x="3553968" y="185075"/>
                  </a:lnTo>
                  <a:lnTo>
                    <a:pt x="3715512" y="128991"/>
                  </a:lnTo>
                  <a:lnTo>
                    <a:pt x="3877056" y="67300"/>
                  </a:lnTo>
                  <a:lnTo>
                    <a:pt x="4038600" y="0"/>
                  </a:lnTo>
                  <a:lnTo>
                    <a:pt x="4038600" y="1028700"/>
                  </a:lnTo>
                  <a:lnTo>
                    <a:pt x="3877056" y="961400"/>
                  </a:lnTo>
                  <a:lnTo>
                    <a:pt x="3715512" y="899709"/>
                  </a:lnTo>
                  <a:lnTo>
                    <a:pt x="3553968" y="843625"/>
                  </a:lnTo>
                  <a:lnTo>
                    <a:pt x="3392424" y="793151"/>
                  </a:lnTo>
                  <a:lnTo>
                    <a:pt x="3230880" y="748284"/>
                  </a:lnTo>
                  <a:lnTo>
                    <a:pt x="3069336" y="709026"/>
                  </a:lnTo>
                  <a:lnTo>
                    <a:pt x="2907792" y="675376"/>
                  </a:lnTo>
                  <a:lnTo>
                    <a:pt x="2746248" y="647334"/>
                  </a:lnTo>
                  <a:lnTo>
                    <a:pt x="2584704" y="624901"/>
                  </a:lnTo>
                  <a:lnTo>
                    <a:pt x="2423160" y="608076"/>
                  </a:lnTo>
                  <a:lnTo>
                    <a:pt x="2261616" y="596859"/>
                  </a:lnTo>
                  <a:lnTo>
                    <a:pt x="2100072" y="591251"/>
                  </a:lnTo>
                  <a:lnTo>
                    <a:pt x="1938528" y="591251"/>
                  </a:lnTo>
                  <a:lnTo>
                    <a:pt x="1776984" y="596859"/>
                  </a:lnTo>
                  <a:lnTo>
                    <a:pt x="1615440" y="608076"/>
                  </a:lnTo>
                  <a:lnTo>
                    <a:pt x="1453896" y="624901"/>
                  </a:lnTo>
                  <a:lnTo>
                    <a:pt x="1292352" y="647334"/>
                  </a:lnTo>
                  <a:lnTo>
                    <a:pt x="1130808" y="675376"/>
                  </a:lnTo>
                  <a:lnTo>
                    <a:pt x="969264" y="709026"/>
                  </a:lnTo>
                  <a:lnTo>
                    <a:pt x="807720" y="748284"/>
                  </a:lnTo>
                  <a:lnTo>
                    <a:pt x="646176" y="793151"/>
                  </a:lnTo>
                  <a:lnTo>
                    <a:pt x="484632" y="843625"/>
                  </a:lnTo>
                  <a:lnTo>
                    <a:pt x="323088" y="899709"/>
                  </a:lnTo>
                  <a:lnTo>
                    <a:pt x="161544" y="961400"/>
                  </a:lnTo>
                  <a:lnTo>
                    <a:pt x="0" y="1028700"/>
                  </a:lnTo>
                  <a:close/>
                </a:path>
              </a:pathLst>
            </a:custGeom>
            <a:solidFill>
              <a:srgbClr val="34D3C0">
                <a:alpha val="18000"/>
              </a:srgbClr>
            </a:solidFill>
            <a:ln>
              <a:noFill/>
            </a:ln>
          </p:spPr>
        </p:sp>
        <p:sp>
          <p:nvSpPr>
            <p:cNvPr id="34" name="Polyline 34"/>
            <p:cNvSpPr/>
            <p:nvPr/>
          </p:nvSpPr>
          <p:spPr>
            <a:xfrm>
              <a:off x="6896100" y="3257550"/>
              <a:ext cx="4038600" cy="437449"/>
            </a:xfrm>
            <a:custGeom>
              <a:avLst/>
              <a:gdLst/>
              <a:ahLst/>
              <a:cxnLst/>
              <a:rect l="l" t="t" r="r" b="b"/>
              <a:pathLst>
                <a:path w="4038600" h="437449">
                  <a:moveTo>
                    <a:pt x="0" y="0"/>
                  </a:moveTo>
                  <a:lnTo>
                    <a:pt x="161544" y="67300"/>
                  </a:lnTo>
                  <a:lnTo>
                    <a:pt x="323088" y="128991"/>
                  </a:lnTo>
                  <a:lnTo>
                    <a:pt x="484632" y="185075"/>
                  </a:lnTo>
                  <a:lnTo>
                    <a:pt x="646176" y="235549"/>
                  </a:lnTo>
                  <a:lnTo>
                    <a:pt x="807720" y="280416"/>
                  </a:lnTo>
                  <a:lnTo>
                    <a:pt x="969264" y="319674"/>
                  </a:lnTo>
                  <a:lnTo>
                    <a:pt x="1130808" y="353324"/>
                  </a:lnTo>
                  <a:lnTo>
                    <a:pt x="1292352" y="381366"/>
                  </a:lnTo>
                  <a:lnTo>
                    <a:pt x="1453896" y="403799"/>
                  </a:lnTo>
                  <a:lnTo>
                    <a:pt x="1615440" y="420624"/>
                  </a:lnTo>
                  <a:lnTo>
                    <a:pt x="1776984" y="431841"/>
                  </a:lnTo>
                  <a:lnTo>
                    <a:pt x="1938528" y="437449"/>
                  </a:lnTo>
                  <a:lnTo>
                    <a:pt x="2100072" y="437449"/>
                  </a:lnTo>
                  <a:lnTo>
                    <a:pt x="2261616" y="431841"/>
                  </a:lnTo>
                  <a:lnTo>
                    <a:pt x="2423160" y="420624"/>
                  </a:lnTo>
                  <a:lnTo>
                    <a:pt x="2584704" y="403799"/>
                  </a:lnTo>
                  <a:lnTo>
                    <a:pt x="2746248" y="381366"/>
                  </a:lnTo>
                  <a:lnTo>
                    <a:pt x="2907792" y="353324"/>
                  </a:lnTo>
                  <a:lnTo>
                    <a:pt x="3069336" y="319674"/>
                  </a:lnTo>
                  <a:lnTo>
                    <a:pt x="3230880" y="280416"/>
                  </a:lnTo>
                  <a:lnTo>
                    <a:pt x="3392424" y="235549"/>
                  </a:lnTo>
                  <a:lnTo>
                    <a:pt x="3553968" y="185075"/>
                  </a:lnTo>
                  <a:lnTo>
                    <a:pt x="3715512" y="128991"/>
                  </a:lnTo>
                  <a:lnTo>
                    <a:pt x="3877056" y="67300"/>
                  </a:lnTo>
                  <a:lnTo>
                    <a:pt x="4038600" y="0"/>
                  </a:lnTo>
                </a:path>
              </a:pathLst>
            </a:custGeom>
            <a:noFill/>
            <a:ln w="19050">
              <a:solidFill>
                <a:srgbClr val="34D3C0"/>
              </a:solidFill>
            </a:ln>
          </p:spPr>
        </p:sp>
        <p:sp>
          <p:nvSpPr>
            <p:cNvPr id="35" name="Polyline 35"/>
            <p:cNvSpPr/>
            <p:nvPr/>
          </p:nvSpPr>
          <p:spPr>
            <a:xfrm>
              <a:off x="6896100" y="3848801"/>
              <a:ext cx="4038600" cy="437449"/>
            </a:xfrm>
            <a:custGeom>
              <a:avLst/>
              <a:gdLst/>
              <a:ahLst/>
              <a:cxnLst/>
              <a:rect l="l" t="t" r="r" b="b"/>
              <a:pathLst>
                <a:path w="4038600" h="437449">
                  <a:moveTo>
                    <a:pt x="0" y="437449"/>
                  </a:moveTo>
                  <a:lnTo>
                    <a:pt x="161544" y="370149"/>
                  </a:lnTo>
                  <a:lnTo>
                    <a:pt x="323088" y="308458"/>
                  </a:lnTo>
                  <a:lnTo>
                    <a:pt x="484632" y="252374"/>
                  </a:lnTo>
                  <a:lnTo>
                    <a:pt x="646176" y="201900"/>
                  </a:lnTo>
                  <a:lnTo>
                    <a:pt x="807720" y="157033"/>
                  </a:lnTo>
                  <a:lnTo>
                    <a:pt x="969264" y="117775"/>
                  </a:lnTo>
                  <a:lnTo>
                    <a:pt x="1130808" y="84125"/>
                  </a:lnTo>
                  <a:lnTo>
                    <a:pt x="1292352" y="56083"/>
                  </a:lnTo>
                  <a:lnTo>
                    <a:pt x="1453896" y="33650"/>
                  </a:lnTo>
                  <a:lnTo>
                    <a:pt x="1615440" y="16825"/>
                  </a:lnTo>
                  <a:lnTo>
                    <a:pt x="1776984" y="5608"/>
                  </a:lnTo>
                  <a:lnTo>
                    <a:pt x="1938528" y="0"/>
                  </a:lnTo>
                  <a:lnTo>
                    <a:pt x="2100072" y="0"/>
                  </a:lnTo>
                  <a:lnTo>
                    <a:pt x="2261616" y="5608"/>
                  </a:lnTo>
                  <a:lnTo>
                    <a:pt x="2423160" y="16825"/>
                  </a:lnTo>
                  <a:lnTo>
                    <a:pt x="2584704" y="33650"/>
                  </a:lnTo>
                  <a:lnTo>
                    <a:pt x="2746248" y="56083"/>
                  </a:lnTo>
                  <a:lnTo>
                    <a:pt x="2907792" y="84125"/>
                  </a:lnTo>
                  <a:lnTo>
                    <a:pt x="3069336" y="117775"/>
                  </a:lnTo>
                  <a:lnTo>
                    <a:pt x="3230880" y="157033"/>
                  </a:lnTo>
                  <a:lnTo>
                    <a:pt x="3392424" y="201900"/>
                  </a:lnTo>
                  <a:lnTo>
                    <a:pt x="3553968" y="252374"/>
                  </a:lnTo>
                  <a:lnTo>
                    <a:pt x="3715512" y="308458"/>
                  </a:lnTo>
                  <a:lnTo>
                    <a:pt x="3877056" y="370149"/>
                  </a:lnTo>
                  <a:lnTo>
                    <a:pt x="4038600" y="437449"/>
                  </a:lnTo>
                </a:path>
              </a:pathLst>
            </a:custGeom>
            <a:noFill/>
            <a:ln w="19050">
              <a:solidFill>
                <a:srgbClr val="34D3C0"/>
              </a:solidFill>
            </a:ln>
          </p:spPr>
        </p:sp>
        <p:sp>
          <p:nvSpPr>
            <p:cNvPr id="36" name="Line 36"/>
            <p:cNvSpPr/>
            <p:nvPr/>
          </p:nvSpPr>
          <p:spPr>
            <a:xfrm>
              <a:off x="6896100" y="3771900"/>
              <a:ext cx="4038600" cy="9525"/>
            </a:xfrm>
            <a:custGeom>
              <a:avLst/>
              <a:gdLst/>
              <a:ahLst/>
              <a:cxnLst/>
              <a:rect l="l" t="t" r="r" b="b"/>
              <a:pathLst>
                <a:path w="4038600" h="9525">
                  <a:moveTo>
                    <a:pt x="0" y="0"/>
                  </a:moveTo>
                  <a:lnTo>
                    <a:pt x="4038600" y="0"/>
                  </a:lnTo>
                </a:path>
              </a:pathLst>
            </a:custGeom>
            <a:noFill/>
            <a:ln w="14288" cap="rnd">
              <a:solidFill>
                <a:srgbClr val="26455F"/>
              </a:solidFill>
              <a:prstDash val="dash"/>
            </a:ln>
          </p:spPr>
        </p:sp>
        <p:sp>
          <p:nvSpPr>
            <p:cNvPr id="37" name="Ellipse 37"/>
            <p:cNvSpPr/>
            <p:nvPr/>
          </p:nvSpPr>
          <p:spPr>
            <a:xfrm>
              <a:off x="8315325" y="3781425"/>
              <a:ext cx="57150" cy="57150"/>
            </a:xfrm>
            <a:prstGeom prst="ellipse">
              <a:avLst/>
            </a:prstGeom>
            <a:solidFill>
              <a:schemeClr val="accent2"/>
            </a:solidFill>
            <a:ln>
              <a:noFill/>
            </a:ln>
          </p:spPr>
        </p:sp>
        <p:sp>
          <p:nvSpPr>
            <p:cNvPr id="38" name="Ellipse 38"/>
            <p:cNvSpPr/>
            <p:nvPr/>
          </p:nvSpPr>
          <p:spPr>
            <a:xfrm>
              <a:off x="8505825" y="3781425"/>
              <a:ext cx="57150" cy="57150"/>
            </a:xfrm>
            <a:prstGeom prst="ellipse">
              <a:avLst/>
            </a:prstGeom>
            <a:solidFill>
              <a:schemeClr val="accent2"/>
            </a:solidFill>
            <a:ln>
              <a:noFill/>
            </a:ln>
          </p:spPr>
        </p:sp>
        <p:sp>
          <p:nvSpPr>
            <p:cNvPr id="39" name="Ellipse 39"/>
            <p:cNvSpPr/>
            <p:nvPr/>
          </p:nvSpPr>
          <p:spPr>
            <a:xfrm>
              <a:off x="8696325" y="3781425"/>
              <a:ext cx="57150" cy="57150"/>
            </a:xfrm>
            <a:prstGeom prst="ellipse">
              <a:avLst/>
            </a:prstGeom>
            <a:solidFill>
              <a:schemeClr val="accent2"/>
            </a:solidFill>
            <a:ln>
              <a:noFill/>
            </a:ln>
          </p:spPr>
        </p:sp>
        <p:sp>
          <p:nvSpPr>
            <p:cNvPr id="40" name="Ellipse 40"/>
            <p:cNvSpPr/>
            <p:nvPr/>
          </p:nvSpPr>
          <p:spPr>
            <a:xfrm>
              <a:off x="8886825" y="3781425"/>
              <a:ext cx="57150" cy="57150"/>
            </a:xfrm>
            <a:prstGeom prst="ellipse">
              <a:avLst/>
            </a:prstGeom>
            <a:solidFill>
              <a:schemeClr val="accent2"/>
            </a:solidFill>
            <a:ln>
              <a:noFill/>
            </a:ln>
          </p:spPr>
        </p:sp>
        <p:sp>
          <p:nvSpPr>
            <p:cNvPr id="41" name="Ellipse 41"/>
            <p:cNvSpPr/>
            <p:nvPr/>
          </p:nvSpPr>
          <p:spPr>
            <a:xfrm>
              <a:off x="9077325" y="3781425"/>
              <a:ext cx="57150" cy="57150"/>
            </a:xfrm>
            <a:prstGeom prst="ellipse">
              <a:avLst/>
            </a:prstGeom>
            <a:solidFill>
              <a:schemeClr val="accent2"/>
            </a:solidFill>
            <a:ln>
              <a:noFill/>
            </a:ln>
          </p:spPr>
        </p:sp>
        <p:sp>
          <p:nvSpPr>
            <p:cNvPr id="42" name="Ellipse 42"/>
            <p:cNvSpPr/>
            <p:nvPr/>
          </p:nvSpPr>
          <p:spPr>
            <a:xfrm>
              <a:off x="9267825" y="3781425"/>
              <a:ext cx="57150" cy="57150"/>
            </a:xfrm>
            <a:prstGeom prst="ellipse">
              <a:avLst/>
            </a:prstGeom>
            <a:solidFill>
              <a:schemeClr val="accent2"/>
            </a:solidFill>
            <a:ln>
              <a:noFill/>
            </a:ln>
          </p:spPr>
        </p:sp>
        <p:sp>
          <p:nvSpPr>
            <p:cNvPr id="43" name="Ellipse 43"/>
            <p:cNvSpPr/>
            <p:nvPr/>
          </p:nvSpPr>
          <p:spPr>
            <a:xfrm>
              <a:off x="9458325" y="3781425"/>
              <a:ext cx="57150" cy="57150"/>
            </a:xfrm>
            <a:prstGeom prst="ellipse">
              <a:avLst/>
            </a:prstGeom>
            <a:solidFill>
              <a:schemeClr val="accent2"/>
            </a:solidFill>
            <a:ln>
              <a:noFill/>
            </a:ln>
          </p:spPr>
        </p:sp>
        <p:sp>
          <p:nvSpPr>
            <p:cNvPr id="44" name="TextBox 44"/>
            <p:cNvSpPr txBox="1"/>
            <p:nvPr/>
          </p:nvSpPr>
          <p:spPr>
            <a:xfrm>
              <a:off x="15018647" y="4093845"/>
              <a:ext cx="823707"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training data</a:t>
              </a:r>
            </a:p>
          </p:txBody>
        </p:sp>
        <p:sp>
          <p:nvSpPr>
            <p:cNvPr id="45" name="TextBox 45"/>
            <p:cNvSpPr txBox="1"/>
            <p:nvPr/>
          </p:nvSpPr>
          <p:spPr>
            <a:xfrm>
              <a:off x="6872288" y="2935843"/>
              <a:ext cx="988098" cy="169069"/>
            </a:xfrm>
            <a:prstGeom prst="rect">
              <a:avLst/>
            </a:prstGeom>
            <a:noFill/>
            <a:ln>
              <a:noFill/>
            </a:ln>
          </p:spPr>
          <p:txBody>
            <a:bodyPr wrap="none" lIns="0" tIns="0" rIns="0" bIns="0" anchor="t" anchorCtr="0">
              <a:spAutoFit/>
            </a:bodyPr>
            <a:lstStyle/>
            <a:p>
              <a:pPr algn="l"/>
              <a:r>
                <a:rPr lang="en-US" sz="860" b="1" dirty="0">
                  <a:solidFill>
                    <a:srgbClr val="34D3C0"/>
                  </a:solidFill>
                  <a:latin typeface="+mn-lt"/>
                  <a:ea typeface="+mn-ea"/>
                  <a:cs typeface="+mn-cs"/>
                </a:rPr>
                <a:t>high uncertainty</a:t>
              </a:r>
            </a:p>
          </p:txBody>
        </p:sp>
        <p:sp>
          <p:nvSpPr>
            <p:cNvPr id="46" name="TextBox 46"/>
            <p:cNvSpPr txBox="1"/>
            <p:nvPr/>
          </p:nvSpPr>
          <p:spPr>
            <a:xfrm>
              <a:off x="9970415" y="2935843"/>
              <a:ext cx="988098" cy="169069"/>
            </a:xfrm>
            <a:prstGeom prst="rect">
              <a:avLst/>
            </a:prstGeom>
            <a:noFill/>
            <a:ln>
              <a:noFill/>
            </a:ln>
          </p:spPr>
          <p:txBody>
            <a:bodyPr wrap="none" lIns="0" tIns="0" rIns="0" bIns="0" anchor="t" anchorCtr="0">
              <a:spAutoFit/>
            </a:bodyPr>
            <a:lstStyle/>
            <a:p>
              <a:pPr algn="r"/>
              <a:r>
                <a:rPr lang="en-US" sz="860" b="1" dirty="0">
                  <a:solidFill>
                    <a:srgbClr val="34D3C0"/>
                  </a:solidFill>
                  <a:latin typeface="+mn-lt"/>
                  <a:ea typeface="+mn-ea"/>
                  <a:cs typeface="+mn-cs"/>
                </a:rPr>
                <a:t>high uncertainty</a:t>
              </a:r>
            </a:p>
          </p:txBody>
        </p:sp>
        <p:sp>
          <p:nvSpPr>
            <p:cNvPr id="47" name="TextBox 47"/>
            <p:cNvSpPr txBox="1"/>
            <p:nvPr/>
          </p:nvSpPr>
          <p:spPr>
            <a:xfrm>
              <a:off x="6509956" y="4710351"/>
              <a:ext cx="449777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In 1D and 2D, FoRDE raises uncertainty off the data more than deep</a:t>
              </a:r>
            </a:p>
          </p:txBody>
        </p:sp>
        <p:sp>
          <p:nvSpPr>
            <p:cNvPr id="48" name="TextBox 48"/>
            <p:cNvSpPr txBox="1"/>
            <p:nvPr/>
          </p:nvSpPr>
          <p:spPr>
            <a:xfrm>
              <a:off x="6509956" y="4900851"/>
              <a:ext cx="404848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ensembles — direct evidence of greater functional diversity.</a:t>
              </a:r>
            </a:p>
          </p:txBody>
        </p:sp>
      </p:grpSp>
      <p:sp>
        <p:nvSpPr>
          <p:cNvPr id="50" name="cue_s07_c1_across_corrupted_image_benchmarks_fo" title="cue_s07_c1_across_corrupted_image_benchmarks_fo" descr="cue_s07_c1_across_corrupted_image_benchmarks_fo Across the corrupted image benchmarks, FoRDE with PCA lengthscales is the strongest method on every metric, while remaining competitive on clean images."/>
          <p:cNvSpPr/>
          <p:nvPr/>
        </p:nvSpPr>
        <p:spPr>
          <a:xfrm>
            <a:off x="609600" y="1447723"/>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7_c2_compared_second_best_method_improves" title="cue_s07_c2_compared_second_best_method_improves" descr="cue_s07_c2_compared_second_best_method_improves Compared to the second-best method, it improves accuracy by about two point four percent on CIFAR-10-C and about one point three percent on CIFAR-100-C."/>
          <p:cNvSpPr/>
          <p:nvPr/>
        </p:nvSpPr>
        <p:spPr>
          <a:xfrm>
            <a:off x="609600" y="2190445"/>
            <a:ext cx="5334000"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7_c3_toy_experiments_tell_consistent_stor" title="cue_s07_c3_toy_experiments_tell_consistent_stor" descr="cue_s07_c3_toy_experiments_tell_consistent_stor The toy experiments tell a consistent story: in one and two dimensions, FoRDE places higher uncertainty in regions away from the training data than deep ensembles and other repulsive methods, which is direct evidence that repelling input gradients yields great"/>
          <p:cNvSpPr/>
          <p:nvPr/>
        </p:nvSpPr>
        <p:spPr>
          <a:xfrm>
            <a:off x="6248399" y="2190445"/>
            <a:ext cx="5943600"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567871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Lengthscales trade clean vs. robust</a:t>
            </a:r>
          </a:p>
        </p:txBody>
      </p:sp>
      <p:grpSp>
        <p:nvGrpSpPr>
          <p:cNvPr id="8" name="Group 8"/>
          <p:cNvGrpSpPr/>
          <p:nvPr/>
        </p:nvGrpSpPr>
        <p:grpSpPr>
          <a:xfrm>
            <a:off x="609600" y="1447800"/>
            <a:ext cx="10972800" cy="552450"/>
            <a:chOff x="609600" y="1447800"/>
            <a:chExt cx="10972800" cy="552450"/>
          </a:xfrm>
        </p:grpSpPr>
        <p:sp>
          <p:nvSpPr>
            <p:cNvPr id="5" name="Rectangle 5"/>
            <p:cNvSpPr/>
            <p:nvPr/>
          </p:nvSpPr>
          <p:spPr>
            <a:xfrm>
              <a:off x="609600" y="1447800"/>
              <a:ext cx="10972800" cy="552450"/>
            </a:xfrm>
            <a:prstGeom prst="roundRect">
              <a:avLst>
                <a:gd name="adj" fmla="val 24138"/>
              </a:avLst>
            </a:prstGeom>
            <a:solidFill>
              <a:schemeClr val="accent5"/>
            </a:solidFill>
            <a:ln w="14288">
              <a:solidFill>
                <a:srgbClr val="26455F"/>
              </a:solidFill>
            </a:ln>
          </p:spPr>
        </p:sp>
        <p:sp>
          <p:nvSpPr>
            <p:cNvPr id="6" name="Rectangle 6"/>
            <p:cNvSpPr/>
            <p:nvPr/>
          </p:nvSpPr>
          <p:spPr>
            <a:xfrm>
              <a:off x="609600" y="1447800"/>
              <a:ext cx="57150" cy="552450"/>
            </a:xfrm>
            <a:prstGeom prst="roundRect">
              <a:avLst>
                <a:gd name="adj" fmla="val 50000"/>
              </a:avLst>
            </a:prstGeom>
            <a:solidFill>
              <a:schemeClr val="accent2"/>
            </a:solidFill>
            <a:ln>
              <a:noFill/>
            </a:ln>
          </p:spPr>
        </p:sp>
        <p:sp>
          <p:nvSpPr>
            <p:cNvPr id="7" name="TextBox 7"/>
            <p:cNvSpPr txBox="1"/>
            <p:nvPr/>
          </p:nvSpPr>
          <p:spPr>
            <a:xfrm>
              <a:off x="870204" y="1661160"/>
              <a:ext cx="8829618"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The kernel lengthscales govern how repulsion is distributed across input dimensions — the key design knob.</a:t>
              </a:r>
            </a:p>
          </p:txBody>
        </p:sp>
      </p:grpSp>
      <p:grpSp>
        <p:nvGrpSpPr>
          <p:cNvPr id="15" name="Group 15"/>
          <p:cNvGrpSpPr/>
          <p:nvPr/>
        </p:nvGrpSpPr>
        <p:grpSpPr>
          <a:xfrm>
            <a:off x="609600" y="2190750"/>
            <a:ext cx="3505200" cy="1428750"/>
            <a:chOff x="609600" y="2190750"/>
            <a:chExt cx="3505200" cy="1428750"/>
          </a:xfrm>
        </p:grpSpPr>
        <p:sp>
          <p:nvSpPr>
            <p:cNvPr id="9" name="Rectangle 9"/>
            <p:cNvSpPr/>
            <p:nvPr/>
          </p:nvSpPr>
          <p:spPr>
            <a:xfrm>
              <a:off x="609600" y="2190750"/>
              <a:ext cx="3505200" cy="1428750"/>
            </a:xfrm>
            <a:prstGeom prst="roundRect">
              <a:avLst>
                <a:gd name="adj" fmla="val 9333"/>
              </a:avLst>
            </a:prstGeom>
            <a:solidFill>
              <a:srgbClr val="0F2E2B"/>
            </a:solidFill>
            <a:ln w="14288">
              <a:solidFill>
                <a:srgbClr val="34D3C0"/>
              </a:solidFill>
            </a:ln>
          </p:spPr>
        </p:sp>
        <p:sp>
          <p:nvSpPr>
            <p:cNvPr id="10" name="Rectangle 10"/>
            <p:cNvSpPr/>
            <p:nvPr/>
          </p:nvSpPr>
          <p:spPr>
            <a:xfrm>
              <a:off x="609600" y="2190750"/>
              <a:ext cx="57150" cy="1428750"/>
            </a:xfrm>
            <a:prstGeom prst="roundRect">
              <a:avLst>
                <a:gd name="adj" fmla="val 50000"/>
              </a:avLst>
            </a:prstGeom>
            <a:solidFill>
              <a:srgbClr val="34D3C0"/>
            </a:solidFill>
            <a:ln>
              <a:noFill/>
            </a:ln>
          </p:spPr>
        </p:sp>
        <p:sp>
          <p:nvSpPr>
            <p:cNvPr id="11" name="TextBox 11"/>
            <p:cNvSpPr txBox="1"/>
            <p:nvPr/>
          </p:nvSpPr>
          <p:spPr>
            <a:xfrm>
              <a:off x="870014" y="2419112"/>
              <a:ext cx="923157"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FoRDE-PCA</a:t>
              </a:r>
            </a:p>
          </p:txBody>
        </p:sp>
        <p:sp>
          <p:nvSpPr>
            <p:cNvPr id="12" name="TextBox 12"/>
            <p:cNvSpPr txBox="1"/>
            <p:nvPr/>
          </p:nvSpPr>
          <p:spPr>
            <a:xfrm>
              <a:off x="870966" y="2706052"/>
              <a:ext cx="1198016"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best robustness</a:t>
              </a:r>
            </a:p>
          </p:txBody>
        </p:sp>
        <p:sp>
          <p:nvSpPr>
            <p:cNvPr id="13" name="TextBox 13"/>
            <p:cNvSpPr txBox="1"/>
            <p:nvPr/>
          </p:nvSpPr>
          <p:spPr>
            <a:xfrm>
              <a:off x="871156" y="2976801"/>
              <a:ext cx="283602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Emphasizes high-variance features, giving</a:t>
              </a:r>
            </a:p>
          </p:txBody>
        </p:sp>
        <p:sp>
          <p:nvSpPr>
            <p:cNvPr id="14" name="TextBox 14"/>
            <p:cNvSpPr txBox="1"/>
            <p:nvPr/>
          </p:nvSpPr>
          <p:spPr>
            <a:xfrm>
              <a:off x="871156" y="3167301"/>
              <a:ext cx="256645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strongest corruption robustness.</a:t>
              </a:r>
            </a:p>
          </p:txBody>
        </p:sp>
      </p:grpSp>
      <p:grpSp>
        <p:nvGrpSpPr>
          <p:cNvPr id="22" name="Group 22"/>
          <p:cNvGrpSpPr/>
          <p:nvPr/>
        </p:nvGrpSpPr>
        <p:grpSpPr>
          <a:xfrm>
            <a:off x="4343400" y="2190750"/>
            <a:ext cx="7239000" cy="1428750"/>
            <a:chOff x="4343400" y="2190750"/>
            <a:chExt cx="7239000" cy="1428750"/>
          </a:xfrm>
        </p:grpSpPr>
        <p:sp>
          <p:nvSpPr>
            <p:cNvPr id="16" name="Rectangle 16"/>
            <p:cNvSpPr/>
            <p:nvPr/>
          </p:nvSpPr>
          <p:spPr>
            <a:xfrm>
              <a:off x="4343400" y="2190750"/>
              <a:ext cx="7239000" cy="1428750"/>
            </a:xfrm>
            <a:prstGeom prst="roundRect">
              <a:avLst>
                <a:gd name="adj" fmla="val 9333"/>
              </a:avLst>
            </a:prstGeom>
            <a:solidFill>
              <a:schemeClr val="accent5"/>
            </a:solidFill>
            <a:ln w="14288">
              <a:solidFill>
                <a:srgbClr val="26455F"/>
              </a:solidFill>
            </a:ln>
          </p:spPr>
        </p:sp>
        <p:sp>
          <p:nvSpPr>
            <p:cNvPr id="17" name="Rectangle 17"/>
            <p:cNvSpPr/>
            <p:nvPr/>
          </p:nvSpPr>
          <p:spPr>
            <a:xfrm>
              <a:off x="4343400" y="2190750"/>
              <a:ext cx="57150" cy="1428750"/>
            </a:xfrm>
            <a:prstGeom prst="roundRect">
              <a:avLst>
                <a:gd name="adj" fmla="val 50000"/>
              </a:avLst>
            </a:prstGeom>
            <a:solidFill>
              <a:srgbClr val="F2C14E"/>
            </a:solidFill>
            <a:ln>
              <a:noFill/>
            </a:ln>
          </p:spPr>
        </p:sp>
        <p:sp>
          <p:nvSpPr>
            <p:cNvPr id="18" name="TextBox 18"/>
            <p:cNvSpPr txBox="1"/>
            <p:nvPr/>
          </p:nvSpPr>
          <p:spPr>
            <a:xfrm>
              <a:off x="4603814" y="2419112"/>
              <a:ext cx="2598652"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FoRDE-Identity &amp; FoRDE-Tuned</a:t>
              </a:r>
            </a:p>
          </p:txBody>
        </p:sp>
        <p:sp>
          <p:nvSpPr>
            <p:cNvPr id="19" name="TextBox 19"/>
            <p:cNvSpPr txBox="1"/>
            <p:nvPr/>
          </p:nvSpPr>
          <p:spPr>
            <a:xfrm>
              <a:off x="4604766" y="2725102"/>
              <a:ext cx="591229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Identity lengthscales give the best clean accuracy on CIFAR-100 and best likelihood on</a:t>
              </a:r>
            </a:p>
          </p:txBody>
        </p:sp>
        <p:sp>
          <p:nvSpPr>
            <p:cNvPr id="20" name="TextBox 20"/>
            <p:cNvSpPr txBox="1"/>
            <p:nvPr/>
          </p:nvSpPr>
          <p:spPr>
            <a:xfrm>
              <a:off x="4604766" y="2934652"/>
              <a:ext cx="292768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CIFAR-10, but sacrifice some robustness.</a:t>
              </a:r>
            </a:p>
          </p:txBody>
        </p:sp>
        <p:sp>
          <p:nvSpPr>
            <p:cNvPr id="21" name="TextBox 21"/>
            <p:cNvSpPr txBox="1"/>
            <p:nvPr/>
          </p:nvSpPr>
          <p:spPr>
            <a:xfrm>
              <a:off x="4604766" y="3334702"/>
              <a:ext cx="5158761"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Tuning between the two extremes → best of both worlds in most cases.</a:t>
              </a:r>
            </a:p>
          </p:txBody>
        </p:sp>
      </p:grpSp>
      <p:grpSp>
        <p:nvGrpSpPr>
          <p:cNvPr id="35" name="Group 35"/>
          <p:cNvGrpSpPr/>
          <p:nvPr/>
        </p:nvGrpSpPr>
        <p:grpSpPr>
          <a:xfrm>
            <a:off x="609600" y="3790950"/>
            <a:ext cx="10997549" cy="1447800"/>
            <a:chOff x="609600" y="3790950"/>
            <a:chExt cx="10997549" cy="1447800"/>
          </a:xfrm>
        </p:grpSpPr>
        <p:sp>
          <p:nvSpPr>
            <p:cNvPr id="23" name="Rectangle 23"/>
            <p:cNvSpPr/>
            <p:nvPr/>
          </p:nvSpPr>
          <p:spPr>
            <a:xfrm>
              <a:off x="609600" y="3790950"/>
              <a:ext cx="10972800" cy="1447800"/>
            </a:xfrm>
            <a:prstGeom prst="roundRect">
              <a:avLst>
                <a:gd name="adj" fmla="val 9211"/>
              </a:avLst>
            </a:prstGeom>
            <a:solidFill>
              <a:schemeClr val="accent5"/>
            </a:solidFill>
            <a:ln w="14288">
              <a:solidFill>
                <a:srgbClr val="26455F"/>
              </a:solidFill>
            </a:ln>
          </p:spPr>
        </p:sp>
        <p:sp>
          <p:nvSpPr>
            <p:cNvPr id="24" name="Rectangle 24"/>
            <p:cNvSpPr/>
            <p:nvPr/>
          </p:nvSpPr>
          <p:spPr>
            <a:xfrm>
              <a:off x="609600" y="3790950"/>
              <a:ext cx="57150" cy="1447800"/>
            </a:xfrm>
            <a:prstGeom prst="roundRect">
              <a:avLst>
                <a:gd name="adj" fmla="val 50000"/>
              </a:avLst>
            </a:prstGeom>
            <a:solidFill>
              <a:schemeClr val="accent2"/>
            </a:solidFill>
            <a:ln>
              <a:noFill/>
            </a:ln>
          </p:spPr>
        </p:sp>
        <p:sp>
          <p:nvSpPr>
            <p:cNvPr id="25" name="TextBox 25"/>
            <p:cNvSpPr txBox="1"/>
            <p:nvPr/>
          </p:nvSpPr>
          <p:spPr>
            <a:xfrm>
              <a:off x="870204" y="3985260"/>
              <a:ext cx="5343881"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Diversity is efficient · corruption robustness vs. ensemble size</a:t>
              </a:r>
            </a:p>
          </p:txBody>
        </p:sp>
        <p:sp>
          <p:nvSpPr>
            <p:cNvPr id="26" name="Rectangle 26"/>
            <p:cNvSpPr/>
            <p:nvPr/>
          </p:nvSpPr>
          <p:spPr>
            <a:xfrm>
              <a:off x="3429000" y="4305300"/>
              <a:ext cx="7239000" cy="247650"/>
            </a:xfrm>
            <a:prstGeom prst="roundRect">
              <a:avLst>
                <a:gd name="adj" fmla="val 23077"/>
              </a:avLst>
            </a:prstGeom>
            <a:solidFill>
              <a:srgbClr val="0E2334"/>
            </a:solidFill>
            <a:ln w="9525">
              <a:solidFill>
                <a:srgbClr val="26455F"/>
              </a:solidFill>
            </a:ln>
          </p:spPr>
        </p:sp>
        <p:sp>
          <p:nvSpPr>
            <p:cNvPr id="27" name="Rectangle 27"/>
            <p:cNvSpPr/>
            <p:nvPr/>
          </p:nvSpPr>
          <p:spPr>
            <a:xfrm>
              <a:off x="3429000" y="4305300"/>
              <a:ext cx="2409825" cy="247650"/>
            </a:xfrm>
            <a:prstGeom prst="roundRect">
              <a:avLst>
                <a:gd name="adj" fmla="val 23077"/>
              </a:avLst>
            </a:prstGeom>
            <a:solidFill>
              <a:srgbClr val="34D3C0"/>
            </a:solidFill>
            <a:ln>
              <a:noFill/>
            </a:ln>
          </p:spPr>
        </p:sp>
        <p:sp>
          <p:nvSpPr>
            <p:cNvPr id="28" name="TextBox 28"/>
            <p:cNvSpPr txBox="1"/>
            <p:nvPr/>
          </p:nvSpPr>
          <p:spPr>
            <a:xfrm>
              <a:off x="1827421" y="4370261"/>
              <a:ext cx="1492613"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FoRDE (10 members)</a:t>
              </a:r>
            </a:p>
          </p:txBody>
        </p:sp>
        <p:sp>
          <p:nvSpPr>
            <p:cNvPr id="29" name="TextBox 29"/>
            <p:cNvSpPr txBox="1"/>
            <p:nvPr/>
          </p:nvSpPr>
          <p:spPr>
            <a:xfrm>
              <a:off x="5928741" y="4370261"/>
              <a:ext cx="1621009" cy="205359"/>
            </a:xfrm>
            <a:prstGeom prst="rect">
              <a:avLst/>
            </a:prstGeom>
            <a:noFill/>
            <a:ln>
              <a:noFill/>
            </a:ln>
          </p:spPr>
          <p:txBody>
            <a:bodyPr wrap="none" lIns="0" tIns="0" rIns="0" bIns="0" anchor="t" anchorCtr="0">
              <a:spAutoFit/>
            </a:bodyPr>
            <a:lstStyle/>
            <a:p>
              <a:pPr algn="l"/>
              <a:r>
                <a:rPr lang="en-US" sz="1050" b="1" dirty="0">
                  <a:solidFill>
                    <a:srgbClr val="34D3C0"/>
                  </a:solidFill>
                  <a:latin typeface="+mn-lt"/>
                  <a:ea typeface="+mn-ea"/>
                  <a:cs typeface="+mn-cs"/>
                </a:rPr>
                <a:t>10 members → matches</a:t>
              </a:r>
            </a:p>
          </p:txBody>
        </p:sp>
        <p:sp>
          <p:nvSpPr>
            <p:cNvPr id="30" name="Rectangle 30"/>
            <p:cNvSpPr/>
            <p:nvPr/>
          </p:nvSpPr>
          <p:spPr>
            <a:xfrm>
              <a:off x="3429000" y="4686300"/>
              <a:ext cx="7239000" cy="247650"/>
            </a:xfrm>
            <a:prstGeom prst="roundRect">
              <a:avLst>
                <a:gd name="adj" fmla="val 23077"/>
              </a:avLst>
            </a:prstGeom>
            <a:solidFill>
              <a:srgbClr val="0E2334"/>
            </a:solidFill>
            <a:ln w="9525">
              <a:solidFill>
                <a:srgbClr val="26455F"/>
              </a:solidFill>
            </a:ln>
          </p:spPr>
        </p:sp>
        <p:sp>
          <p:nvSpPr>
            <p:cNvPr id="31" name="Rectangle 31"/>
            <p:cNvSpPr/>
            <p:nvPr/>
          </p:nvSpPr>
          <p:spPr>
            <a:xfrm>
              <a:off x="3429000" y="4686300"/>
              <a:ext cx="7239000" cy="247650"/>
            </a:xfrm>
            <a:prstGeom prst="roundRect">
              <a:avLst>
                <a:gd name="adj" fmla="val 23077"/>
              </a:avLst>
            </a:prstGeom>
            <a:solidFill>
              <a:schemeClr val="dk2"/>
            </a:solidFill>
            <a:ln>
              <a:noFill/>
            </a:ln>
          </p:spPr>
        </p:sp>
        <p:sp>
          <p:nvSpPr>
            <p:cNvPr id="32" name="TextBox 32"/>
            <p:cNvSpPr txBox="1"/>
            <p:nvPr/>
          </p:nvSpPr>
          <p:spPr>
            <a:xfrm>
              <a:off x="1908561" y="4751261"/>
              <a:ext cx="1411473"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Deep Ensemble (30)</a:t>
              </a:r>
            </a:p>
          </p:txBody>
        </p:sp>
        <p:sp>
          <p:nvSpPr>
            <p:cNvPr id="33" name="TextBox 33"/>
            <p:cNvSpPr txBox="1"/>
            <p:nvPr/>
          </p:nvSpPr>
          <p:spPr>
            <a:xfrm>
              <a:off x="10757916" y="4751261"/>
              <a:ext cx="849233"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30 members</a:t>
              </a:r>
            </a:p>
          </p:txBody>
        </p:sp>
        <p:sp>
          <p:nvSpPr>
            <p:cNvPr id="34" name="TextBox 34"/>
            <p:cNvSpPr txBox="1"/>
            <p:nvPr/>
          </p:nvSpPr>
          <p:spPr>
            <a:xfrm>
              <a:off x="871156" y="4996101"/>
              <a:ext cx="6897086" cy="198025"/>
            </a:xfrm>
            <a:prstGeom prst="rect">
              <a:avLst/>
            </a:prstGeom>
            <a:noFill/>
            <a:ln>
              <a:noFill/>
            </a:ln>
          </p:spPr>
          <p:txBody>
            <a:bodyPr wrap="none" lIns="0" tIns="0" rIns="0" bIns="0" anchor="t" anchorCtr="0">
              <a:spAutoFit/>
            </a:bodyPr>
            <a:lstStyle/>
            <a:p>
              <a:pPr algn="l"/>
              <a:r>
                <a:rPr lang="en-US" sz="1010" b="1" dirty="0">
                  <a:solidFill>
                    <a:srgbClr val="48C78E"/>
                  </a:solidFill>
                  <a:latin typeface="+mn-lt"/>
                  <a:ea typeface="+mn-ea"/>
                  <a:cs typeface="+mn-cs"/>
                </a:rPr>
                <a:t>A 10-member FoRDE matches or exceeds the corruption robustness of a 30-member deep ensemble.</a:t>
              </a:r>
            </a:p>
          </p:txBody>
        </p:sp>
      </p:grpSp>
      <p:sp>
        <p:nvSpPr>
          <p:cNvPr id="36" name="cue_s08_c1_carefully_ablates_kernel_lengthscale" title="cue_s08_c1_carefully_ablates_kernel_lengthscale" descr="cue_s08_c1_carefully_ablates_kernel_lengthscale The paper carefully ablates the kernel lengthscales, which govern how repulsion is distributed across input dimensions."/>
          <p:cNvSpPr/>
          <p:nvPr/>
        </p:nvSpPr>
        <p:spPr>
          <a:xfrm>
            <a:off x="609600" y="1447723"/>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8_c2_pca_lengthscales_give_best_robustnes" title="cue_s08_c2_pca_lengthscales_give_best_robustnes" descr="cue_s08_c2_pca_lengthscales_give_best_robustnes The PCA lengthscales give the best robustness to corruptions, because they emphasize high-variance features."/>
          <p:cNvSpPr/>
          <p:nvPr/>
        </p:nvSpPr>
        <p:spPr>
          <a:xfrm>
            <a:off x="609600" y="2190445"/>
            <a:ext cx="3505199"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8_c3_identity_lengthscales_instead_give_b" title="cue_s08_c3_identity_lengthscales_instead_give_b" descr="cue_s08_c3_identity_lengthscales_instead_give_b The identity lengthscales instead give the best clean accuracy on CIFAR-100 and the best likelihood on CIFAR-10, but sacrifice some robustness. Tuning between the two extremes yields the best of both worlds in most cases."/>
          <p:cNvSpPr/>
          <p:nvPr/>
        </p:nvSpPr>
        <p:spPr>
          <a:xfrm>
            <a:off x="4344009" y="2190445"/>
            <a:ext cx="7239609"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8_c4_separate_study_varies_ensemble_size" title="cue_s08_c4_separate_study_varies_ensemble_size" descr="cue_s08_c4_separate_study_varies_ensemble_size A separate study varies the ensemble size and finds that a FoRDE with ten members matches or exceeds the corruption robustness of a deep ensemble with thirty members, showing that the diversity gain is substantial."/>
          <p:cNvSpPr/>
          <p:nvPr/>
        </p:nvSpPr>
        <p:spPr>
          <a:xfrm>
            <a:off x="609600" y="3791102"/>
            <a:ext cx="10997184" cy="14477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423178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impact in four numbers</a:t>
            </a:r>
          </a:p>
        </p:txBody>
      </p:sp>
      <p:grpSp>
        <p:nvGrpSpPr>
          <p:cNvPr id="8" name="Group 8"/>
          <p:cNvGrpSpPr/>
          <p:nvPr/>
        </p:nvGrpSpPr>
        <p:grpSpPr>
          <a:xfrm>
            <a:off x="609600" y="1447800"/>
            <a:ext cx="10972800" cy="552450"/>
            <a:chOff x="609600" y="1447800"/>
            <a:chExt cx="10972800" cy="552450"/>
          </a:xfrm>
        </p:grpSpPr>
        <p:sp>
          <p:nvSpPr>
            <p:cNvPr id="5" name="Rectangle 5"/>
            <p:cNvSpPr/>
            <p:nvPr/>
          </p:nvSpPr>
          <p:spPr>
            <a:xfrm>
              <a:off x="609600" y="1447800"/>
              <a:ext cx="10972800" cy="552450"/>
            </a:xfrm>
            <a:prstGeom prst="roundRect">
              <a:avLst>
                <a:gd name="adj" fmla="val 24138"/>
              </a:avLst>
            </a:prstGeom>
            <a:solidFill>
              <a:schemeClr val="accent5"/>
            </a:solidFill>
            <a:ln w="14288">
              <a:solidFill>
                <a:srgbClr val="26455F"/>
              </a:solidFill>
            </a:ln>
          </p:spPr>
        </p:sp>
        <p:sp>
          <p:nvSpPr>
            <p:cNvPr id="6" name="Rectangle 6"/>
            <p:cNvSpPr/>
            <p:nvPr/>
          </p:nvSpPr>
          <p:spPr>
            <a:xfrm>
              <a:off x="609600" y="1447800"/>
              <a:ext cx="57150" cy="552450"/>
            </a:xfrm>
            <a:prstGeom prst="roundRect">
              <a:avLst>
                <a:gd name="adj" fmla="val 50000"/>
              </a:avLst>
            </a:prstGeom>
            <a:solidFill>
              <a:schemeClr val="accent2"/>
            </a:solidFill>
            <a:ln>
              <a:noFill/>
            </a:ln>
          </p:spPr>
        </p:sp>
        <p:sp>
          <p:nvSpPr>
            <p:cNvPr id="7" name="TextBox 7"/>
            <p:cNvSpPr txBox="1"/>
            <p:nvPr/>
          </p:nvSpPr>
          <p:spPr>
            <a:xfrm>
              <a:off x="870014" y="1657112"/>
              <a:ext cx="5487113"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A few numbers capture what repelling input gradients buys you.</a:t>
              </a:r>
            </a:p>
          </p:txBody>
        </p:sp>
      </p:grpSp>
      <p:grpSp>
        <p:nvGrpSpPr>
          <p:cNvPr id="14" name="Group 14"/>
          <p:cNvGrpSpPr/>
          <p:nvPr/>
        </p:nvGrpSpPr>
        <p:grpSpPr>
          <a:xfrm>
            <a:off x="609600" y="2247900"/>
            <a:ext cx="3505200" cy="1905000"/>
            <a:chOff x="609600" y="2247900"/>
            <a:chExt cx="3505200" cy="1905000"/>
          </a:xfrm>
        </p:grpSpPr>
        <p:sp>
          <p:nvSpPr>
            <p:cNvPr id="9" name="Rectangle 9"/>
            <p:cNvSpPr/>
            <p:nvPr/>
          </p:nvSpPr>
          <p:spPr>
            <a:xfrm>
              <a:off x="609600" y="2247900"/>
              <a:ext cx="3505200" cy="1905000"/>
            </a:xfrm>
            <a:prstGeom prst="roundRect">
              <a:avLst>
                <a:gd name="adj" fmla="val 7000"/>
              </a:avLst>
            </a:prstGeom>
            <a:solidFill>
              <a:schemeClr val="accent5"/>
            </a:solidFill>
            <a:ln w="14288">
              <a:solidFill>
                <a:srgbClr val="26455F"/>
              </a:solidFill>
            </a:ln>
          </p:spPr>
        </p:sp>
        <p:sp>
          <p:nvSpPr>
            <p:cNvPr id="10" name="Rectangle 10"/>
            <p:cNvSpPr/>
            <p:nvPr/>
          </p:nvSpPr>
          <p:spPr>
            <a:xfrm>
              <a:off x="609600" y="2247900"/>
              <a:ext cx="3505200" cy="57150"/>
            </a:xfrm>
            <a:prstGeom prst="roundRect">
              <a:avLst>
                <a:gd name="adj" fmla="val 50000"/>
              </a:avLst>
            </a:prstGeom>
            <a:solidFill>
              <a:srgbClr val="48C78E"/>
            </a:solidFill>
            <a:ln>
              <a:noFill/>
            </a:ln>
          </p:spPr>
        </p:sp>
        <p:sp>
          <p:nvSpPr>
            <p:cNvPr id="11" name="TextBox 11"/>
            <p:cNvSpPr txBox="1"/>
            <p:nvPr/>
          </p:nvSpPr>
          <p:spPr>
            <a:xfrm>
              <a:off x="1078677" y="2887028"/>
              <a:ext cx="2567046" cy="498729"/>
            </a:xfrm>
            <a:prstGeom prst="rect">
              <a:avLst/>
            </a:prstGeom>
            <a:noFill/>
            <a:ln>
              <a:noFill/>
            </a:ln>
          </p:spPr>
          <p:txBody>
            <a:bodyPr wrap="none" lIns="0" tIns="0" rIns="0" bIns="0" anchor="t" anchorCtr="0">
              <a:spAutoFit/>
            </a:bodyPr>
            <a:lstStyle/>
            <a:p>
              <a:pPr algn="ctr"/>
              <a:r>
                <a:rPr lang="en-US" sz="2550" b="1" dirty="0">
                  <a:solidFill>
                    <a:srgbClr val="48C78E"/>
                  </a:solidFill>
                  <a:latin typeface="+mn-lt"/>
                  <a:ea typeface="+mn-ea"/>
                  <a:cs typeface="+mn-cs"/>
                </a:rPr>
                <a:t>+2.4% / +1.3%</a:t>
              </a:r>
            </a:p>
          </p:txBody>
        </p:sp>
        <p:sp>
          <p:nvSpPr>
            <p:cNvPr id="12" name="TextBox 12"/>
            <p:cNvSpPr txBox="1"/>
            <p:nvPr/>
          </p:nvSpPr>
          <p:spPr>
            <a:xfrm>
              <a:off x="1202930" y="3376851"/>
              <a:ext cx="2318540" cy="198025"/>
            </a:xfrm>
            <a:prstGeom prst="rect">
              <a:avLst/>
            </a:prstGeom>
            <a:noFill/>
            <a:ln>
              <a:noFill/>
            </a:ln>
          </p:spPr>
          <p:txBody>
            <a:bodyPr wrap="none" lIns="0" tIns="0" rIns="0" bIns="0" anchor="t" anchorCtr="0">
              <a:spAutoFit/>
            </a:bodyPr>
            <a:lstStyle/>
            <a:p>
              <a:pPr algn="ctr"/>
              <a:r>
                <a:rPr lang="en-US" sz="1010" b="1" dirty="0">
                  <a:solidFill>
                    <a:schemeClr val="dk2"/>
                  </a:solidFill>
                  <a:latin typeface="+mn-lt"/>
                  <a:ea typeface="+mn-ea"/>
                  <a:cs typeface="+mn-cs"/>
                </a:rPr>
                <a:t>accuracy on CIFAR-10-C / -100-C</a:t>
              </a:r>
            </a:p>
          </p:txBody>
        </p:sp>
        <p:sp>
          <p:nvSpPr>
            <p:cNvPr id="13" name="TextBox 13"/>
            <p:cNvSpPr txBox="1"/>
            <p:nvPr/>
          </p:nvSpPr>
          <p:spPr>
            <a:xfrm>
              <a:off x="1442989" y="3647599"/>
              <a:ext cx="1838423" cy="190690"/>
            </a:xfrm>
            <a:prstGeom prst="rect">
              <a:avLst/>
            </a:prstGeom>
            <a:noFill/>
            <a:ln>
              <a:noFill/>
            </a:ln>
          </p:spPr>
          <p:txBody>
            <a:bodyPr wrap="none" lIns="0" tIns="0" rIns="0" bIns="0" anchor="t" anchorCtr="0">
              <a:spAutoFit/>
            </a:bodyPr>
            <a:lstStyle/>
            <a:p>
              <a:pPr algn="ctr"/>
              <a:r>
                <a:rPr lang="en-US" sz="980" b="1" dirty="0">
                  <a:solidFill>
                    <a:srgbClr val="6E869C"/>
                  </a:solidFill>
                  <a:latin typeface="+mn-lt"/>
                  <a:ea typeface="+mn-ea"/>
                  <a:cs typeface="+mn-cs"/>
                </a:rPr>
                <a:t>over the next-best method</a:t>
              </a:r>
            </a:p>
          </p:txBody>
        </p:sp>
      </p:grpSp>
      <p:grpSp>
        <p:nvGrpSpPr>
          <p:cNvPr id="20" name="Group 20"/>
          <p:cNvGrpSpPr/>
          <p:nvPr/>
        </p:nvGrpSpPr>
        <p:grpSpPr>
          <a:xfrm>
            <a:off x="4343400" y="2247900"/>
            <a:ext cx="3505200" cy="1905000"/>
            <a:chOff x="4343400" y="2247900"/>
            <a:chExt cx="3505200" cy="1905000"/>
          </a:xfrm>
        </p:grpSpPr>
        <p:sp>
          <p:nvSpPr>
            <p:cNvPr id="15" name="Rectangle 15"/>
            <p:cNvSpPr/>
            <p:nvPr/>
          </p:nvSpPr>
          <p:spPr>
            <a:xfrm>
              <a:off x="4343400" y="2247900"/>
              <a:ext cx="3505200" cy="1905000"/>
            </a:xfrm>
            <a:prstGeom prst="roundRect">
              <a:avLst>
                <a:gd name="adj" fmla="val 7000"/>
              </a:avLst>
            </a:prstGeom>
            <a:solidFill>
              <a:schemeClr val="accent5"/>
            </a:solidFill>
            <a:ln w="14288">
              <a:solidFill>
                <a:srgbClr val="26455F"/>
              </a:solidFill>
            </a:ln>
          </p:spPr>
        </p:sp>
        <p:sp>
          <p:nvSpPr>
            <p:cNvPr id="16" name="Rectangle 16"/>
            <p:cNvSpPr/>
            <p:nvPr/>
          </p:nvSpPr>
          <p:spPr>
            <a:xfrm>
              <a:off x="4343400" y="2247900"/>
              <a:ext cx="3505200" cy="57150"/>
            </a:xfrm>
            <a:prstGeom prst="roundRect">
              <a:avLst>
                <a:gd name="adj" fmla="val 50000"/>
              </a:avLst>
            </a:prstGeom>
            <a:solidFill>
              <a:srgbClr val="34D3C0"/>
            </a:solidFill>
            <a:ln>
              <a:noFill/>
            </a:ln>
          </p:spPr>
        </p:sp>
        <p:sp>
          <p:nvSpPr>
            <p:cNvPr id="17" name="TextBox 17"/>
            <p:cNvSpPr txBox="1"/>
            <p:nvPr/>
          </p:nvSpPr>
          <p:spPr>
            <a:xfrm>
              <a:off x="5406748" y="2854642"/>
              <a:ext cx="1378505" cy="557403"/>
            </a:xfrm>
            <a:prstGeom prst="rect">
              <a:avLst/>
            </a:prstGeom>
            <a:noFill/>
            <a:ln>
              <a:noFill/>
            </a:ln>
          </p:spPr>
          <p:txBody>
            <a:bodyPr wrap="none" lIns="0" tIns="0" rIns="0" bIns="0" anchor="t" anchorCtr="0">
              <a:spAutoFit/>
            </a:bodyPr>
            <a:lstStyle/>
            <a:p>
              <a:pPr algn="ctr"/>
              <a:r>
                <a:rPr lang="en-US" sz="2850" b="1" dirty="0">
                  <a:solidFill>
                    <a:srgbClr val="34D3C0"/>
                  </a:solidFill>
                  <a:latin typeface="+mn-lt"/>
                  <a:ea typeface="+mn-ea"/>
                  <a:cs typeface="+mn-cs"/>
                </a:rPr>
                <a:t>10 ≈ 30</a:t>
              </a:r>
            </a:p>
          </p:txBody>
        </p:sp>
        <p:sp>
          <p:nvSpPr>
            <p:cNvPr id="18" name="TextBox 18"/>
            <p:cNvSpPr txBox="1"/>
            <p:nvPr/>
          </p:nvSpPr>
          <p:spPr>
            <a:xfrm>
              <a:off x="4984432" y="3376851"/>
              <a:ext cx="2223137" cy="198025"/>
            </a:xfrm>
            <a:prstGeom prst="rect">
              <a:avLst/>
            </a:prstGeom>
            <a:noFill/>
            <a:ln>
              <a:noFill/>
            </a:ln>
          </p:spPr>
          <p:txBody>
            <a:bodyPr wrap="none" lIns="0" tIns="0" rIns="0" bIns="0" anchor="t" anchorCtr="0">
              <a:spAutoFit/>
            </a:bodyPr>
            <a:lstStyle/>
            <a:p>
              <a:pPr algn="ctr"/>
              <a:r>
                <a:rPr lang="en-US" sz="1010" b="1" dirty="0">
                  <a:solidFill>
                    <a:schemeClr val="dk2"/>
                  </a:solidFill>
                  <a:latin typeface="+mn-lt"/>
                  <a:ea typeface="+mn-ea"/>
                  <a:cs typeface="+mn-cs"/>
                </a:rPr>
                <a:t>members match a deep ensemble</a:t>
              </a:r>
            </a:p>
          </p:txBody>
        </p:sp>
        <p:sp>
          <p:nvSpPr>
            <p:cNvPr id="19" name="TextBox 19"/>
            <p:cNvSpPr txBox="1"/>
            <p:nvPr/>
          </p:nvSpPr>
          <p:spPr>
            <a:xfrm>
              <a:off x="4917056" y="3647599"/>
              <a:ext cx="2357887" cy="190690"/>
            </a:xfrm>
            <a:prstGeom prst="rect">
              <a:avLst/>
            </a:prstGeom>
            <a:noFill/>
            <a:ln>
              <a:noFill/>
            </a:ln>
          </p:spPr>
          <p:txBody>
            <a:bodyPr wrap="none" lIns="0" tIns="0" rIns="0" bIns="0" anchor="t" anchorCtr="0">
              <a:spAutoFit/>
            </a:bodyPr>
            <a:lstStyle/>
            <a:p>
              <a:pPr algn="ctr"/>
              <a:r>
                <a:rPr lang="en-US" sz="980" b="1" dirty="0">
                  <a:solidFill>
                    <a:srgbClr val="6E869C"/>
                  </a:solidFill>
                  <a:latin typeface="+mn-lt"/>
                  <a:ea typeface="+mn-ea"/>
                  <a:cs typeface="+mn-cs"/>
                </a:rPr>
                <a:t>3× fewer models, same robustness</a:t>
              </a:r>
            </a:p>
          </p:txBody>
        </p:sp>
      </p:grpSp>
      <p:grpSp>
        <p:nvGrpSpPr>
          <p:cNvPr id="26" name="Group 26"/>
          <p:cNvGrpSpPr/>
          <p:nvPr/>
        </p:nvGrpSpPr>
        <p:grpSpPr>
          <a:xfrm>
            <a:off x="8077200" y="2247900"/>
            <a:ext cx="3505200" cy="1905000"/>
            <a:chOff x="8077200" y="2247900"/>
            <a:chExt cx="3505200" cy="1905000"/>
          </a:xfrm>
        </p:grpSpPr>
        <p:sp>
          <p:nvSpPr>
            <p:cNvPr id="21" name="Rectangle 21"/>
            <p:cNvSpPr/>
            <p:nvPr/>
          </p:nvSpPr>
          <p:spPr>
            <a:xfrm>
              <a:off x="8077200" y="2247900"/>
              <a:ext cx="3505200" cy="1905000"/>
            </a:xfrm>
            <a:prstGeom prst="roundRect">
              <a:avLst>
                <a:gd name="adj" fmla="val 7000"/>
              </a:avLst>
            </a:prstGeom>
            <a:solidFill>
              <a:schemeClr val="accent5"/>
            </a:solidFill>
            <a:ln w="14288">
              <a:solidFill>
                <a:srgbClr val="26455F"/>
              </a:solidFill>
            </a:ln>
          </p:spPr>
        </p:sp>
        <p:sp>
          <p:nvSpPr>
            <p:cNvPr id="22" name="Rectangle 22"/>
            <p:cNvSpPr/>
            <p:nvPr/>
          </p:nvSpPr>
          <p:spPr>
            <a:xfrm>
              <a:off x="8077200" y="2247900"/>
              <a:ext cx="3505200" cy="57150"/>
            </a:xfrm>
            <a:prstGeom prst="roundRect">
              <a:avLst>
                <a:gd name="adj" fmla="val 50000"/>
              </a:avLst>
            </a:prstGeom>
            <a:solidFill>
              <a:srgbClr val="F2C14E"/>
            </a:solidFill>
            <a:ln>
              <a:noFill/>
            </a:ln>
          </p:spPr>
        </p:sp>
        <p:sp>
          <p:nvSpPr>
            <p:cNvPr id="23" name="TextBox 23"/>
            <p:cNvSpPr txBox="1"/>
            <p:nvPr/>
          </p:nvSpPr>
          <p:spPr>
            <a:xfrm>
              <a:off x="9251332" y="2854642"/>
              <a:ext cx="1156937" cy="557403"/>
            </a:xfrm>
            <a:prstGeom prst="rect">
              <a:avLst/>
            </a:prstGeom>
            <a:noFill/>
            <a:ln>
              <a:noFill/>
            </a:ln>
          </p:spPr>
          <p:txBody>
            <a:bodyPr wrap="none" lIns="0" tIns="0" rIns="0" bIns="0" anchor="t" anchorCtr="0">
              <a:spAutoFit/>
            </a:bodyPr>
            <a:lstStyle/>
            <a:p>
              <a:pPr algn="ctr"/>
              <a:r>
                <a:rPr lang="en-US" sz="2850" b="1" dirty="0">
                  <a:solidFill>
                    <a:srgbClr val="F2C14E"/>
                  </a:solidFill>
                  <a:latin typeface="+mn-lt"/>
                  <a:ea typeface="+mn-ea"/>
                  <a:cs typeface="+mn-cs"/>
                </a:rPr>
                <a:t>19 × 5</a:t>
              </a:r>
            </a:p>
          </p:txBody>
        </p:sp>
        <p:sp>
          <p:nvSpPr>
            <p:cNvPr id="24" name="TextBox 24"/>
            <p:cNvSpPr txBox="1"/>
            <p:nvPr/>
          </p:nvSpPr>
          <p:spPr>
            <a:xfrm>
              <a:off x="8632573" y="3376851"/>
              <a:ext cx="2394454" cy="198025"/>
            </a:xfrm>
            <a:prstGeom prst="rect">
              <a:avLst/>
            </a:prstGeom>
            <a:noFill/>
            <a:ln>
              <a:noFill/>
            </a:ln>
          </p:spPr>
          <p:txBody>
            <a:bodyPr wrap="none" lIns="0" tIns="0" rIns="0" bIns="0" anchor="t" anchorCtr="0">
              <a:spAutoFit/>
            </a:bodyPr>
            <a:lstStyle/>
            <a:p>
              <a:pPr algn="ctr"/>
              <a:r>
                <a:rPr lang="en-US" sz="1010" b="1" dirty="0">
                  <a:solidFill>
                    <a:schemeClr val="dk2"/>
                  </a:solidFill>
                  <a:latin typeface="+mn-lt"/>
                  <a:ea typeface="+mn-ea"/>
                  <a:cs typeface="+mn-cs"/>
                </a:rPr>
                <a:t>corruption types × severity levels</a:t>
              </a:r>
            </a:p>
          </p:txBody>
        </p:sp>
        <p:sp>
          <p:nvSpPr>
            <p:cNvPr id="25" name="TextBox 25"/>
            <p:cNvSpPr txBox="1"/>
            <p:nvPr/>
          </p:nvSpPr>
          <p:spPr>
            <a:xfrm>
              <a:off x="8869032" y="3647599"/>
              <a:ext cx="1921537" cy="190690"/>
            </a:xfrm>
            <a:prstGeom prst="rect">
              <a:avLst/>
            </a:prstGeom>
            <a:noFill/>
            <a:ln>
              <a:noFill/>
            </a:ln>
          </p:spPr>
          <p:txBody>
            <a:bodyPr wrap="none" lIns="0" tIns="0" rIns="0" bIns="0" anchor="t" anchorCtr="0">
              <a:spAutoFit/>
            </a:bodyPr>
            <a:lstStyle/>
            <a:p>
              <a:pPr algn="ctr"/>
              <a:r>
                <a:rPr lang="en-US" sz="980" b="1" dirty="0">
                  <a:solidFill>
                    <a:srgbClr val="6E869C"/>
                  </a:solidFill>
                  <a:latin typeface="+mn-lt"/>
                  <a:ea typeface="+mn-ea"/>
                  <a:cs typeface="+mn-cs"/>
                </a:rPr>
                <a:t>a demanding robustness grid</a:t>
              </a:r>
            </a:p>
          </p:txBody>
        </p:sp>
      </p:grpSp>
      <p:sp>
        <p:nvSpPr>
          <p:cNvPr id="27" name="Rectangle 27"/>
          <p:cNvSpPr/>
          <p:nvPr/>
        </p:nvSpPr>
        <p:spPr>
          <a:xfrm>
            <a:off x="609600" y="4419600"/>
            <a:ext cx="10972800" cy="819150"/>
          </a:xfrm>
          <a:prstGeom prst="roundRect">
            <a:avLst>
              <a:gd name="adj" fmla="val 13953"/>
            </a:avLst>
          </a:prstGeom>
          <a:solidFill>
            <a:schemeClr val="accent6"/>
          </a:solidFill>
          <a:ln w="14288">
            <a:solidFill>
              <a:srgbClr val="26455F"/>
            </a:solidFill>
          </a:ln>
        </p:spPr>
        <p:txBody>
          <a:bodyPr/>
          <a:p/>
        </p:txBody>
      </p:sp>
      <p:sp>
        <p:nvSpPr>
          <p:cNvPr id="28" name="TextBox 28"/>
          <p:cNvSpPr txBox="1"/>
          <p:nvPr/>
        </p:nvSpPr>
        <p:spPr>
          <a:xfrm>
            <a:off x="870776" y="4645104"/>
            <a:ext cx="8439832" cy="212693"/>
          </a:xfrm>
          <a:prstGeom prst="rect">
            <a:avLst/>
          </a:prstGeom>
          <a:noFill/>
          <a:ln>
            <a:noFill/>
          </a:ln>
        </p:spPr>
        <p:txBody>
          <a:bodyPr wrap="none" lIns="0" tIns="0" rIns="0" bIns="0" anchor="t" anchorCtr="0">
            <a:spAutoFit/>
          </a:bodyPr>
          <a:lstStyle/>
          <a:p>
            <a:pPr algn="l"/>
            <a:r>
              <a:rPr lang="en-US" sz="1090" b="1" dirty="0">
                <a:solidFill>
                  <a:schemeClr val="dk2"/>
                </a:solidFill>
                <a:latin typeface="+mn-lt"/>
                <a:ea typeface="+mn-ea"/>
                <a:cs typeface="+mn-cs"/>
              </a:rPr>
              <a:t>Ensemble size 10 · ResNet18 backbone · input-gradient kernel with linear cost in the number of training samples</a:t>
            </a:r>
          </a:p>
        </p:txBody>
      </p:sp>
      <p:sp>
        <p:nvSpPr>
          <p:cNvPr id="29" name="TextBox 29"/>
          <p:cNvSpPr txBox="1"/>
          <p:nvPr/>
        </p:nvSpPr>
        <p:spPr>
          <a:xfrm>
            <a:off x="870776" y="4930854"/>
            <a:ext cx="4854803" cy="212693"/>
          </a:xfrm>
          <a:prstGeom prst="rect">
            <a:avLst/>
          </a:prstGeom>
          <a:noFill/>
          <a:ln>
            <a:noFill/>
          </a:ln>
        </p:spPr>
        <p:txBody>
          <a:bodyPr wrap="none" lIns="0" tIns="0" rIns="0" bIns="0" anchor="t" anchorCtr="0">
            <a:spAutoFit/>
          </a:bodyPr>
          <a:lstStyle/>
          <a:p>
            <a:pPr algn="l"/>
            <a:r>
              <a:rPr lang="en-US" sz="1090" b="1" dirty="0">
                <a:solidFill>
                  <a:srgbClr val="34D3C0"/>
                </a:solidFill>
                <a:latin typeface="+mn-lt"/>
                <a:ea typeface="+mn-ea"/>
                <a:cs typeface="+mn-cs"/>
              </a:rPr>
              <a:t>Gains hold across CIFAR-10-C, CIFAR-100-C and TinyImageNet-C.</a:t>
            </a:r>
          </a:p>
        </p:txBody>
      </p:sp>
      <p:sp>
        <p:nvSpPr>
          <p:cNvPr id="30" name="cue_s09_c1_few_numbers_capture_impact" title="cue_s09_c1_few_numbers_capture_impact" descr="cue_s09_c1_few_numbers_capture_impact A few numbers capture the impact."/>
          <p:cNvSpPr/>
          <p:nvPr/>
        </p:nvSpPr>
        <p:spPr>
          <a:xfrm>
            <a:off x="609600" y="1447723"/>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ue_s09_c2_under_input_corruptions_forde_pca" title="cue_s09_c2_under_input_corruptions_forde_pca" descr="cue_s09_c2_under_input_corruptions_forde_pca Under input corruptions, FoRDE with PCA lengthscales improves accuracy by about two point four percent on CIFAR-10-C and one point three percent on CIFAR-100-C over the next-best method."/>
          <p:cNvSpPr/>
          <p:nvPr/>
        </p:nvSpPr>
        <p:spPr>
          <a:xfrm>
            <a:off x="609600" y="2248052"/>
            <a:ext cx="3505199"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ue_s09_c3_its_diversity_efficient_too_ten_memb" title="cue_s09_c3_its_diversity_efficient_too_ten_memb" descr="cue_s09_c3_its_diversity_efficient_too_ten_memb Its diversity is efficient too: a ten-member FoRDE reaches the same corruption robustness as a thirty-member deep ensemble."/>
          <p:cNvSpPr/>
          <p:nvPr/>
        </p:nvSpPr>
        <p:spPr>
          <a:xfrm>
            <a:off x="4344009" y="2248052"/>
            <a:ext cx="3505199"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ue_s09_c4_these_gains_hold_across_demanding" title="cue_s09_c4_these_gains_hold_across_demanding" descr="cue_s09_c4_these_gains_hold_across_demanding And these gains hold across a demanding benchmark of nineteen corruption types at five severity levels each."/>
          <p:cNvSpPr/>
          <p:nvPr/>
        </p:nvSpPr>
        <p:spPr>
          <a:xfrm>
            <a:off x="8077200" y="2248052"/>
            <a:ext cx="3505199"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536042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space of diversity is the lever</a:t>
            </a:r>
          </a:p>
        </p:txBody>
      </p:sp>
      <p:grpSp>
        <p:nvGrpSpPr>
          <p:cNvPr id="11" name="Group 11"/>
          <p:cNvGrpSpPr/>
          <p:nvPr/>
        </p:nvGrpSpPr>
        <p:grpSpPr>
          <a:xfrm>
            <a:off x="609600" y="1600200"/>
            <a:ext cx="10972800" cy="1123950"/>
            <a:chOff x="609600" y="1600200"/>
            <a:chExt cx="10972800" cy="1123950"/>
          </a:xfrm>
        </p:grpSpPr>
        <p:sp>
          <p:nvSpPr>
            <p:cNvPr id="5" name="Rectangle 5"/>
            <p:cNvSpPr/>
            <p:nvPr/>
          </p:nvSpPr>
          <p:spPr>
            <a:xfrm>
              <a:off x="609600" y="1600200"/>
              <a:ext cx="10972800" cy="1123950"/>
            </a:xfrm>
            <a:prstGeom prst="roundRect">
              <a:avLst>
                <a:gd name="adj" fmla="val 11864"/>
              </a:avLst>
            </a:prstGeom>
            <a:solidFill>
              <a:schemeClr val="accent5"/>
            </a:solidFill>
            <a:ln w="14288">
              <a:solidFill>
                <a:srgbClr val="26455F"/>
              </a:solidFill>
            </a:ln>
          </p:spPr>
        </p:sp>
        <p:sp>
          <p:nvSpPr>
            <p:cNvPr id="6" name="Rectangle 6"/>
            <p:cNvSpPr/>
            <p:nvPr/>
          </p:nvSpPr>
          <p:spPr>
            <a:xfrm>
              <a:off x="609600" y="1600200"/>
              <a:ext cx="57150" cy="1123950"/>
            </a:xfrm>
            <a:prstGeom prst="roundRect">
              <a:avLst>
                <a:gd name="adj" fmla="val 50000"/>
              </a:avLst>
            </a:prstGeom>
            <a:solidFill>
              <a:schemeClr val="accent2"/>
            </a:solidFill>
            <a:ln>
              <a:noFill/>
            </a:ln>
          </p:spPr>
        </p:sp>
        <p:sp>
          <p:nvSpPr>
            <p:cNvPr id="7" name="Ellipse 7"/>
            <p:cNvSpPr/>
            <p:nvPr/>
          </p:nvSpPr>
          <p:spPr>
            <a:xfrm>
              <a:off x="971550" y="2066925"/>
              <a:ext cx="190500" cy="190500"/>
            </a:xfrm>
            <a:prstGeom prst="ellipse">
              <a:avLst/>
            </a:prstGeom>
            <a:solidFill>
              <a:schemeClr val="accent2"/>
            </a:solidFill>
            <a:ln>
              <a:noFill/>
            </a:ln>
          </p:spPr>
        </p:sp>
        <p:sp>
          <p:nvSpPr>
            <p:cNvPr id="8" name="TextBox 8"/>
            <p:cNvSpPr txBox="1"/>
            <p:nvPr/>
          </p:nvSpPr>
          <p:spPr>
            <a:xfrm>
              <a:off x="1421511" y="1903571"/>
              <a:ext cx="254099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Where, not just how much</a:t>
              </a:r>
            </a:p>
          </p:txBody>
        </p:sp>
        <p:sp>
          <p:nvSpPr>
            <p:cNvPr id="9" name="TextBox 9"/>
            <p:cNvSpPr txBox="1"/>
            <p:nvPr/>
          </p:nvSpPr>
          <p:spPr>
            <a:xfrm>
              <a:off x="1422844" y="2236708"/>
              <a:ext cx="7216042"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space in which you enforce ensemble diversity matters as much as the amount of repulsion</a:t>
              </a:r>
            </a:p>
          </p:txBody>
        </p:sp>
        <p:sp>
          <p:nvSpPr>
            <p:cNvPr id="10" name="TextBox 10"/>
            <p:cNvSpPr txBox="1"/>
            <p:nvPr/>
          </p:nvSpPr>
          <p:spPr>
            <a:xfrm>
              <a:off x="1422844" y="2465308"/>
              <a:ext cx="79260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you apply.</a:t>
              </a:r>
            </a:p>
          </p:txBody>
        </p:sp>
      </p:grpSp>
      <p:grpSp>
        <p:nvGrpSpPr>
          <p:cNvPr id="18" name="Group 18"/>
          <p:cNvGrpSpPr/>
          <p:nvPr/>
        </p:nvGrpSpPr>
        <p:grpSpPr>
          <a:xfrm>
            <a:off x="609600" y="2895600"/>
            <a:ext cx="10972800" cy="1123950"/>
            <a:chOff x="609600" y="2895600"/>
            <a:chExt cx="10972800" cy="1123950"/>
          </a:xfrm>
        </p:grpSpPr>
        <p:sp>
          <p:nvSpPr>
            <p:cNvPr id="12" name="Rectangle 12"/>
            <p:cNvSpPr/>
            <p:nvPr/>
          </p:nvSpPr>
          <p:spPr>
            <a:xfrm>
              <a:off x="609600" y="2895600"/>
              <a:ext cx="10972800" cy="1123950"/>
            </a:xfrm>
            <a:prstGeom prst="roundRect">
              <a:avLst>
                <a:gd name="adj" fmla="val 11864"/>
              </a:avLst>
            </a:prstGeom>
            <a:solidFill>
              <a:schemeClr val="accent5"/>
            </a:solidFill>
            <a:ln w="14288">
              <a:solidFill>
                <a:srgbClr val="26455F"/>
              </a:solidFill>
            </a:ln>
          </p:spPr>
        </p:sp>
        <p:sp>
          <p:nvSpPr>
            <p:cNvPr id="13" name="Rectangle 13"/>
            <p:cNvSpPr/>
            <p:nvPr/>
          </p:nvSpPr>
          <p:spPr>
            <a:xfrm>
              <a:off x="609600" y="2895600"/>
              <a:ext cx="57150" cy="1123950"/>
            </a:xfrm>
            <a:prstGeom prst="roundRect">
              <a:avLst>
                <a:gd name="adj" fmla="val 50000"/>
              </a:avLst>
            </a:prstGeom>
            <a:solidFill>
              <a:srgbClr val="34D3C0"/>
            </a:solidFill>
            <a:ln>
              <a:noFill/>
            </a:ln>
          </p:spPr>
        </p:sp>
        <p:sp>
          <p:nvSpPr>
            <p:cNvPr id="14" name="Ellipse 14"/>
            <p:cNvSpPr/>
            <p:nvPr/>
          </p:nvSpPr>
          <p:spPr>
            <a:xfrm>
              <a:off x="971550" y="3362325"/>
              <a:ext cx="190500" cy="190500"/>
            </a:xfrm>
            <a:prstGeom prst="ellipse">
              <a:avLst/>
            </a:prstGeom>
            <a:solidFill>
              <a:srgbClr val="34D3C0"/>
            </a:solidFill>
            <a:ln>
              <a:noFill/>
            </a:ln>
          </p:spPr>
        </p:sp>
        <p:sp>
          <p:nvSpPr>
            <p:cNvPr id="15" name="TextBox 15"/>
            <p:cNvSpPr txBox="1"/>
            <p:nvPr/>
          </p:nvSpPr>
          <p:spPr>
            <a:xfrm>
              <a:off x="1421511" y="3198971"/>
              <a:ext cx="3463518"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Input gradients are the sweet spot</a:t>
              </a:r>
            </a:p>
          </p:txBody>
        </p:sp>
        <p:sp>
          <p:nvSpPr>
            <p:cNvPr id="16" name="TextBox 16"/>
            <p:cNvSpPr txBox="1"/>
            <p:nvPr/>
          </p:nvSpPr>
          <p:spPr>
            <a:xfrm>
              <a:off x="1422844" y="3532108"/>
              <a:ext cx="695825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Repelling in this compact space makes members genuinely different functions — without the</a:t>
              </a:r>
            </a:p>
          </p:txBody>
        </p:sp>
        <p:sp>
          <p:nvSpPr>
            <p:cNvPr id="17" name="TextBox 17"/>
            <p:cNvSpPr txBox="1"/>
            <p:nvPr/>
          </p:nvSpPr>
          <p:spPr>
            <a:xfrm>
              <a:off x="1422844" y="3760708"/>
              <a:ext cx="403291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waste of weights or the intractability of functions.</a:t>
              </a:r>
            </a:p>
          </p:txBody>
        </p:sp>
      </p:grpSp>
      <p:grpSp>
        <p:nvGrpSpPr>
          <p:cNvPr id="25" name="Group 25"/>
          <p:cNvGrpSpPr/>
          <p:nvPr/>
        </p:nvGrpSpPr>
        <p:grpSpPr>
          <a:xfrm>
            <a:off x="609600" y="4191000"/>
            <a:ext cx="10972800" cy="1123950"/>
            <a:chOff x="609600" y="4191000"/>
            <a:chExt cx="10972800" cy="1123950"/>
          </a:xfrm>
        </p:grpSpPr>
        <p:sp>
          <p:nvSpPr>
            <p:cNvPr id="19" name="Rectangle 19"/>
            <p:cNvSpPr/>
            <p:nvPr/>
          </p:nvSpPr>
          <p:spPr>
            <a:xfrm>
              <a:off x="609600" y="4191000"/>
              <a:ext cx="10972800" cy="1123950"/>
            </a:xfrm>
            <a:prstGeom prst="roundRect">
              <a:avLst>
                <a:gd name="adj" fmla="val 11864"/>
              </a:avLst>
            </a:prstGeom>
            <a:solidFill>
              <a:schemeClr val="accent5"/>
            </a:solidFill>
            <a:ln w="14288">
              <a:solidFill>
                <a:srgbClr val="26455F"/>
              </a:solidFill>
            </a:ln>
          </p:spPr>
        </p:sp>
        <p:sp>
          <p:nvSpPr>
            <p:cNvPr id="20" name="Rectangle 20"/>
            <p:cNvSpPr/>
            <p:nvPr/>
          </p:nvSpPr>
          <p:spPr>
            <a:xfrm>
              <a:off x="609600" y="4191000"/>
              <a:ext cx="57150" cy="1123950"/>
            </a:xfrm>
            <a:prstGeom prst="roundRect">
              <a:avLst>
                <a:gd name="adj" fmla="val 50000"/>
              </a:avLst>
            </a:prstGeom>
            <a:solidFill>
              <a:srgbClr val="48C78E"/>
            </a:solidFill>
            <a:ln>
              <a:noFill/>
            </a:ln>
          </p:spPr>
        </p:sp>
        <p:sp>
          <p:nvSpPr>
            <p:cNvPr id="21" name="Ellipse 21"/>
            <p:cNvSpPr/>
            <p:nvPr/>
          </p:nvSpPr>
          <p:spPr>
            <a:xfrm>
              <a:off x="971550" y="4657725"/>
              <a:ext cx="190500" cy="190500"/>
            </a:xfrm>
            <a:prstGeom prst="ellipse">
              <a:avLst/>
            </a:prstGeom>
            <a:solidFill>
              <a:srgbClr val="48C78E"/>
            </a:solidFill>
            <a:ln>
              <a:noFill/>
            </a:ln>
          </p:spPr>
        </p:sp>
        <p:sp>
          <p:nvSpPr>
            <p:cNvPr id="22" name="TextBox 22"/>
            <p:cNvSpPr txBox="1"/>
            <p:nvPr/>
          </p:nvSpPr>
          <p:spPr>
            <a:xfrm>
              <a:off x="1421511" y="4494371"/>
              <a:ext cx="229941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Data-driven and robust</a:t>
              </a:r>
            </a:p>
          </p:txBody>
        </p:sp>
        <p:sp>
          <p:nvSpPr>
            <p:cNvPr id="23" name="TextBox 23"/>
            <p:cNvSpPr txBox="1"/>
            <p:nvPr/>
          </p:nvSpPr>
          <p:spPr>
            <a:xfrm>
              <a:off x="1422844" y="4827508"/>
              <a:ext cx="7098793"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With PCA lengthscales from principal component analysis, the ensembles are more robust and</a:t>
              </a:r>
            </a:p>
          </p:txBody>
        </p:sp>
        <p:sp>
          <p:nvSpPr>
            <p:cNvPr id="24" name="TextBox 24"/>
            <p:cNvSpPr txBox="1"/>
            <p:nvPr/>
          </p:nvSpPr>
          <p:spPr>
            <a:xfrm>
              <a:off x="1422844" y="5056108"/>
              <a:ext cx="4165646"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better calibrated under real-world input corruptions.</a:t>
              </a:r>
            </a:p>
          </p:txBody>
        </p:sp>
      </p:grpSp>
      <p:sp>
        <p:nvSpPr>
          <p:cNvPr id="26" name="Line 26"/>
          <p:cNvSpPr/>
          <p:nvPr/>
        </p:nvSpPr>
        <p:spPr>
          <a:xfrm>
            <a:off x="609600" y="56769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27" name="TextBox 27"/>
          <p:cNvSpPr txBox="1"/>
          <p:nvPr/>
        </p:nvSpPr>
        <p:spPr>
          <a:xfrm>
            <a:off x="603504" y="5890260"/>
            <a:ext cx="6519935"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FoRDE · Input-gradient space particle inference for neural network ensembles</a:t>
            </a:r>
          </a:p>
        </p:txBody>
      </p:sp>
      <p:sp>
        <p:nvSpPr>
          <p:cNvPr id="28" name="TextBox 28"/>
          <p:cNvSpPr txBox="1"/>
          <p:nvPr/>
        </p:nvSpPr>
        <p:spPr>
          <a:xfrm>
            <a:off x="604456" y="6177201"/>
            <a:ext cx="4241426"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ICLR 2024 · arXiv:2306.02775 · github.com/AaltoPML/FoRDE</a:t>
            </a:r>
          </a:p>
        </p:txBody>
      </p:sp>
      <p:sp>
        <p:nvSpPr>
          <p:cNvPr id="29" name="cue_s10_c1_lasting_message_space_which_you" title="cue_s10_c1_lasting_message_space_which_you" descr="cue_s10_c1_lasting_message_space_which_you The lasting message of this paper is that the space in which you enforce diversity matters as much as the amount."/>
          <p:cNvSpPr/>
          <p:nvPr/>
        </p:nvSpPr>
        <p:spPr>
          <a:xfrm>
            <a:off x="609600" y="1599971"/>
            <a:ext cx="109728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ue_s10_c2_repelling_ensemble_members_compact_s" title="cue_s10_c2_repelling_ensemble_members_compact_s" descr="cue_s10_c2_repelling_ensemble_members_compact_s By repelling ensemble members in the compact space of their input gradients, FoRDE guarantees that members become genuinely different functions that rely on complementary features, without the waste of weight-space repulsion or the intractability of function-s"/>
          <p:cNvSpPr/>
          <p:nvPr/>
        </p:nvSpPr>
        <p:spPr>
          <a:xfrm>
            <a:off x="609600" y="2895447"/>
            <a:ext cx="109728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ue_s10_c3_combined_data_driven_lengthscales_pr" title="cue_s10_c3_combined_data_driven_lengthscales_pr" descr="cue_s10_c3_combined_data_driven_lengthscales_pr Combined with data-driven lengthscales from principal component analysis, this yields ensembles that are more robust and better calibrated under the kinds of input corruptions that matter in the real world."/>
          <p:cNvSpPr/>
          <p:nvPr/>
        </p:nvSpPr>
        <p:spPr>
          <a:xfrm>
            <a:off x="609600" y="4190923"/>
            <a:ext cx="109728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ppt_project">
  <a:themeElements>
    <a:clrScheme name="ppt_project">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ppt_project">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_proj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2026-07-15T21:33:52Z</dcterms:created>
  <dcterms:modified xsi:type="dcterms:W3CDTF">2026-07-15T21:33:52Z</dcterms:modified>
  <cp:category/>
  <cp:contentStatus/>
</cp:coreProperties>
</file>
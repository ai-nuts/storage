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374852"/>
          </a:xfrm>
          <a:prstGeom prst="roundRect">
            <a:avLst>
              <a:gd name="adj" fmla="val 3251"/>
            </a:avLst>
          </a:prstGeom>
          <a:solidFill>
            <a:srgbClr val="E9ECF3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5548193"/>
            <a:ext cx="16349682" cy="6386215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35560">
            <a:solidFill>
              <a:srgbClr val="33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428289" y="5548193"/>
            <a:ext cx="16349682" cy="17364392"/>
          </a:xfrm>
          <a:prstGeom prst="roundRect">
            <a:avLst>
              <a:gd name="adj" fmla="val 724"/>
            </a:avLst>
          </a:prstGeom>
          <a:solidFill>
            <a:srgbClr val="FFFFFF"/>
          </a:solidFill>
          <a:ln w="35560">
            <a:solidFill>
              <a:srgbClr val="33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204691" y="5548193"/>
            <a:ext cx="16349821" cy="17350224"/>
          </a:xfrm>
          <a:prstGeom prst="roundRect">
            <a:avLst>
              <a:gd name="adj" fmla="val 724"/>
            </a:avLst>
          </a:prstGeom>
          <a:solidFill>
            <a:srgbClr val="FFFFFF"/>
          </a:solidFill>
          <a:ln w="35560">
            <a:solidFill>
              <a:srgbClr val="33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1887" y="12266255"/>
            <a:ext cx="16349682" cy="9973052"/>
          </a:xfrm>
          <a:prstGeom prst="roundRect">
            <a:avLst>
              <a:gd name="adj" fmla="val 1188"/>
            </a:avLst>
          </a:prstGeom>
          <a:solidFill>
            <a:srgbClr val="FFFFFF"/>
          </a:solidFill>
          <a:ln w="35560">
            <a:solidFill>
              <a:srgbClr val="33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1887" y="22571154"/>
            <a:ext cx="16349682" cy="7500798"/>
          </a:xfrm>
          <a:prstGeom prst="roundRect">
            <a:avLst>
              <a:gd name="adj" fmla="val 1580"/>
            </a:avLst>
          </a:prstGeom>
          <a:solidFill>
            <a:srgbClr val="FFFFFF"/>
          </a:solidFill>
          <a:ln w="35560">
            <a:solidFill>
              <a:srgbClr val="33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04691" y="23230264"/>
            <a:ext cx="16349821" cy="6841688"/>
          </a:xfrm>
          <a:prstGeom prst="roundRect">
            <a:avLst>
              <a:gd name="adj" fmla="val 1732"/>
            </a:avLst>
          </a:prstGeom>
          <a:solidFill>
            <a:srgbClr val="EE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04691" y="23230264"/>
            <a:ext cx="16349821" cy="35560"/>
          </a:xfrm>
          <a:prstGeom prst="rect">
            <a:avLst/>
          </a:prstGeom>
          <a:solidFill>
            <a:srgbClr val="3341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518952" y="23230264"/>
            <a:ext cx="35560" cy="6841688"/>
          </a:xfrm>
          <a:prstGeom prst="rect">
            <a:avLst/>
          </a:prstGeom>
          <a:solidFill>
            <a:srgbClr val="3341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04691" y="30036392"/>
            <a:ext cx="16349821" cy="35560"/>
          </a:xfrm>
          <a:prstGeom prst="rect">
            <a:avLst/>
          </a:prstGeom>
          <a:solidFill>
            <a:srgbClr val="3341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04691" y="23230264"/>
            <a:ext cx="53340" cy="6841688"/>
          </a:xfrm>
          <a:prstGeom prst="rect">
            <a:avLst/>
          </a:prstGeom>
          <a:solidFill>
            <a:srgbClr val="3341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428289" y="23244432"/>
            <a:ext cx="16349682" cy="6827520"/>
          </a:xfrm>
          <a:prstGeom prst="roundRect">
            <a:avLst>
              <a:gd name="adj" fmla="val 1736"/>
            </a:avLst>
          </a:prstGeom>
          <a:solidFill>
            <a:srgbClr val="FFFFFF"/>
          </a:solidFill>
          <a:ln w="35560">
            <a:solidFill>
              <a:srgbClr val="33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0487" y="1149732"/>
            <a:ext cx="3475851" cy="1517123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404189" y="5213429"/>
            <a:ext cx="2844939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12830" y="5213429"/>
            <a:ext cx="2580461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446444" y="5213429"/>
            <a:ext cx="3866316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7843063" y="9551888"/>
            <a:ext cx="15520134" cy="2733119"/>
          </a:xfrm>
          <a:prstGeom prst="roundRect">
            <a:avLst>
              <a:gd name="adj" fmla="val 6106"/>
            </a:avLst>
          </a:prstGeom>
          <a:solidFill>
            <a:srgbClr val="F3F4F5"/>
          </a:solidFill>
          <a:ln w="8890">
            <a:solidFill>
              <a:srgbClr val="BD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66661" y="10099595"/>
            <a:ext cx="15520134" cy="14810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66661" y="10099595"/>
            <a:ext cx="124460" cy="1481019"/>
          </a:xfrm>
          <a:prstGeom prst="rect">
            <a:avLst/>
          </a:prstGeom>
          <a:solidFill>
            <a:srgbClr val="3341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08388" y="11931491"/>
            <a:ext cx="3436541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619465" y="20788570"/>
            <a:ext cx="15520273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619465" y="20788570"/>
            <a:ext cx="15520273" cy="11557"/>
          </a:xfrm>
          <a:prstGeom prst="rect">
            <a:avLst/>
          </a:prstGeom>
          <a:solidFill>
            <a:srgbClr val="B8BD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9284" y="22236390"/>
            <a:ext cx="4654748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773359" y="22895500"/>
            <a:ext cx="3230265" cy="740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764581" y="22909668"/>
            <a:ext cx="5676959" cy="7406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7843063" y="23754080"/>
            <a:ext cx="15520134" cy="4154130"/>
          </a:xfrm>
          <a:prstGeom prst="roundRect">
            <a:avLst>
              <a:gd name="adj" fmla="val 1712"/>
            </a:avLst>
          </a:prstGeom>
          <a:gradFill rotWithShape="1" flip="none">
            <a:gsLst>
              <a:gs pos="0">
                <a:srgbClr val="E7E8EC"/>
              </a:gs>
              <a:gs pos="100000">
                <a:srgbClr val="F3F4F5"/>
              </a:gs>
            </a:gsLst>
            <a:lin ang="5400000" scaled="0"/>
          </a:gradFill>
          <a:ln w="8890">
            <a:solidFill>
              <a:srgbClr val="CCCFD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637245" y="26269255"/>
            <a:ext cx="15502493" cy="3428623"/>
          </a:xfrm>
          <a:prstGeom prst="roundRect">
            <a:avLst>
              <a:gd name="adj" fmla="val 5324"/>
            </a:avLst>
          </a:prstGeom>
          <a:solidFill>
            <a:srgbClr val="F5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637245" y="26269255"/>
            <a:ext cx="124460" cy="3428623"/>
          </a:xfrm>
          <a:prstGeom prst="rect">
            <a:avLst/>
          </a:prstGeom>
          <a:solidFill>
            <a:srgbClr val="AE26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66661" y="27922656"/>
            <a:ext cx="15520134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66661" y="27922656"/>
            <a:ext cx="15520134" cy="11557"/>
          </a:xfrm>
          <a:prstGeom prst="rect">
            <a:avLst/>
          </a:prstGeom>
          <a:solidFill>
            <a:srgbClr val="B8BD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los-andes-univer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56064" y="3273379"/>
            <a:ext cx="1026517" cy="1217823"/>
          </a:xfrm>
          <a:prstGeom prst="rect">
            <a:avLst/>
          </a:prstGeom>
        </p:spPr>
      </p:pic>
      <p:pic>
        <p:nvPicPr>
          <p:cNvPr id="33" name="Picture 32" descr="rap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19555" y="3273331"/>
            <a:ext cx="2899807" cy="1217919"/>
          </a:xfrm>
          <a:prstGeom prst="rect">
            <a:avLst/>
          </a:prstGeom>
        </p:spPr>
      </p:pic>
      <p:pic>
        <p:nvPicPr>
          <p:cNvPr id="34" name="Picture 33" descr="amazon-compan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56336" y="3273328"/>
            <a:ext cx="3634482" cy="1217925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34619465" y="9090580"/>
            <a:ext cx="15520273" cy="10297259"/>
          </a:xfrm>
          <a:prstGeom prst="roundRect">
            <a:avLst>
              <a:gd name="adj" fmla="val 345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figur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19502" y="9090580"/>
            <a:ext cx="15520199" cy="10297259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18150462" y="12649914"/>
            <a:ext cx="14905197" cy="9310469"/>
          </a:xfrm>
          <a:prstGeom prst="roundRect">
            <a:avLst>
              <a:gd name="adj" fmla="val 381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figure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150463" y="12649914"/>
            <a:ext cx="14905195" cy="9310469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1066661" y="20129321"/>
            <a:ext cx="5930046" cy="819825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153116" y="20129321"/>
            <a:ext cx="4600853" cy="819825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Federated Learning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910377" y="20129321"/>
            <a:ext cx="4503341" cy="819825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Differential Privacy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66661" y="21105554"/>
            <a:ext cx="2876748" cy="819825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Linear PCA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099817" y="21105554"/>
            <a:ext cx="6003945" cy="819825"/>
          </a:xfrm>
          <a:prstGeom prst="roundRect">
            <a:avLst>
              <a:gd name="adj" fmla="val 50000"/>
            </a:avLst>
          </a:prstGeom>
          <a:solidFill>
            <a:srgbClr val="EA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6944200" y="23976330"/>
            <a:ext cx="6173133" cy="375713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6944200" y="23976330"/>
            <a:ext cx="11557" cy="3757136"/>
          </a:xfrm>
          <a:prstGeom prst="rect">
            <a:avLst/>
          </a:prstGeom>
          <a:solidFill>
            <a:srgbClr val="CCCF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5126751" y="26425663"/>
            <a:ext cx="1374616" cy="638691"/>
          </a:xfrm>
          <a:prstGeom prst="roundRect">
            <a:avLst>
              <a:gd name="adj" fmla="val 14290"/>
            </a:avLst>
          </a:prstGeom>
          <a:solidFill>
            <a:srgbClr val="AE2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874" b="1">
                <a:solidFill>
                  <a:srgbClr val="FFFFFF"/>
                </a:solidFill>
                <a:latin typeface="Arial"/>
              </a:rPr>
              <a:t>NEXT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66661" y="23080801"/>
            <a:ext cx="703976" cy="703977"/>
          </a:xfrm>
          <a:prstGeom prst="roundRect">
            <a:avLst>
              <a:gd name="adj" fmla="val 50000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66661" y="24272200"/>
            <a:ext cx="703976" cy="703977"/>
          </a:xfrm>
          <a:prstGeom prst="roundRect">
            <a:avLst>
              <a:gd name="adj" fmla="val 50000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66661" y="26193829"/>
            <a:ext cx="703976" cy="703977"/>
          </a:xfrm>
          <a:prstGeom prst="roundRect">
            <a:avLst>
              <a:gd name="adj" fmla="val 50000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619465" y="6251753"/>
            <a:ext cx="10841494" cy="814407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619465" y="7057270"/>
            <a:ext cx="1084149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460959" y="6251753"/>
            <a:ext cx="4678779" cy="814407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460959" y="7057270"/>
            <a:ext cx="467877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4619465" y="7066160"/>
            <a:ext cx="10841494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4619465" y="7876123"/>
            <a:ext cx="1084149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5460959" y="7066160"/>
            <a:ext cx="4678779" cy="8188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460959" y="7876123"/>
            <a:ext cx="467877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4619465" y="7885013"/>
            <a:ext cx="10841494" cy="818852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4619465" y="8694975"/>
            <a:ext cx="10841494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5460959" y="7885013"/>
            <a:ext cx="4678779" cy="818852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5460959" y="8694975"/>
            <a:ext cx="467877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315581" y="1007487"/>
            <a:ext cx="40350876" cy="2590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8328"/>
              </a:lnSpc>
              <a:spcBef>
                <a:spcPts val="0"/>
              </a:spcBef>
              <a:spcAft>
                <a:spcPts val="0"/>
              </a:spcAft>
            </a:pPr>
            <a:r>
              <a:rPr sz="7711" b="1" spc="-82">
                <a:solidFill>
                  <a:srgbClr val="33415E"/>
                </a:solidFill>
                <a:latin typeface="Arial"/>
              </a:rPr>
              <a:t>Privacy-Preserving Machine Learning for Collaborative Data Sharing via Auto-</a:t>
            </a:r>
          </a:p>
          <a:p>
            <a:pPr algn="l">
              <a:lnSpc>
                <a:spcPts val="8328"/>
              </a:lnSpc>
              <a:spcBef>
                <a:spcPts val="0"/>
              </a:spcBef>
              <a:spcAft>
                <a:spcPts val="0"/>
              </a:spcAft>
            </a:pPr>
            <a:r>
              <a:rPr sz="7711" b="1" spc="-82">
                <a:solidFill>
                  <a:srgbClr val="33415E"/>
                </a:solidFill>
                <a:latin typeface="Arial"/>
              </a:rPr>
              <a:t>encoder Latent Space Embeddings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315581" y="3489741"/>
            <a:ext cx="40350876" cy="7442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095"/>
              </a:lnSpc>
              <a:spcBef>
                <a:spcPts val="0"/>
              </a:spcBef>
              <a:spcAft>
                <a:spcPts val="0"/>
              </a:spcAft>
            </a:pPr>
            <a:r>
              <a:rPr sz="3920" b="0">
                <a:solidFill>
                  <a:srgbClr val="1B2331"/>
                </a:solidFill>
                <a:latin typeface="Arial"/>
              </a:rPr>
              <a:t>Ana María Quintero Ossa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920" b="0">
                <a:solidFill>
                  <a:srgbClr val="1B2331"/>
                </a:solidFill>
                <a:latin typeface="Arial"/>
              </a:rPr>
              <a:t>, Jesús Solano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920" b="0">
                <a:solidFill>
                  <a:srgbClr val="1B2331"/>
                </a:solidFill>
                <a:latin typeface="Arial"/>
              </a:rPr>
              <a:t>, Hernán García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920" b="0">
                <a:solidFill>
                  <a:srgbClr val="1B2331"/>
                </a:solidFill>
                <a:latin typeface="Arial"/>
              </a:rPr>
              <a:t>, David Zarruk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3920" b="0">
                <a:solidFill>
                  <a:srgbClr val="1B2331"/>
                </a:solidFill>
                <a:latin typeface="Arial"/>
              </a:rPr>
              <a:t>, Alejandro Correa-Bahnsen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920" b="0">
                <a:solidFill>
                  <a:srgbClr val="1B2331"/>
                </a:solidFill>
                <a:latin typeface="Arial"/>
              </a:rPr>
              <a:t>, Carlos Valencia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15581" y="4189968"/>
            <a:ext cx="40350876" cy="5533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Los Andes University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Rappi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Amazon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04189" y="5213429"/>
            <a:ext cx="2930287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Problem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4312830" y="5213429"/>
            <a:ext cx="2657874" cy="851745"/>
          </a:xfrm>
          <a:prstGeom prst="rect">
            <a:avLst/>
          </a:prstGeom>
          <a:noFill/>
        </p:spPr>
        <p:txBody>
          <a:bodyPr wrap="non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Method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446444" y="5213429"/>
            <a:ext cx="3982305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Key Results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6661" y="6057840"/>
            <a:ext cx="15946854" cy="4348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Two organizations often hold </a:t>
            </a:r>
            <a:r>
              <a:rPr sz="4106" b="1">
                <a:solidFill>
                  <a:srgbClr val="111111"/>
                </a:solidFill>
                <a:latin typeface="Arial"/>
              </a:rPr>
              <a:t>complementary variables about the same users</a:t>
            </a:r>
            <a:r>
              <a:rPr sz="4106" b="0">
                <a:solidFill>
                  <a:srgbClr val="1C1C1C"/>
                </a:solidFill>
                <a:latin typeface="Arial"/>
              </a:rPr>
              <a:t>. Combining them would sharpen a shared prediction, but privacy and IP law forbid exchanging raw sensitive features, so the collaboration is cancelled and its promised accuracy gain lost.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6661" y="10099595"/>
            <a:ext cx="15946854" cy="1703171"/>
          </a:xfrm>
          <a:prstGeom prst="rect">
            <a:avLst/>
          </a:prstGeom>
          <a:noFill/>
        </p:spPr>
        <p:txBody>
          <a:bodyPr wrap="squar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How can peers share their information and keep the predictive power of the original features, without ever exposing raw data?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08388" y="11931491"/>
            <a:ext cx="3539637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Motivation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352377" y="11959272"/>
            <a:ext cx="6696409" cy="265811"/>
          </a:xfrm>
          <a:prstGeom prst="rect">
            <a:avLst/>
          </a:prstGeom>
          <a:noFill/>
        </p:spPr>
        <p:txBody>
          <a:bodyPr wrap="square" lIns="292065" rIns="292065" tIns="50068" bIns="50068">
            <a:spAutoFit/>
          </a:bodyPr>
          <a:lstStyle/>
          <a:p>
            <a:pPr algn="ctr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1642" b="0" i="1">
                <a:solidFill>
                  <a:srgbClr val="555555"/>
                </a:solidFill>
                <a:latin typeface="Cambria Math"/>
              </a:rPr>
              <a:t>Encoder N→128→64→40→M, MAE loss; peers share only the latent code </a:t>
            </a:r>
            <a:r>
              <a:rPr sz="1642" b="0" i="1">
                <a:solidFill>
                  <a:srgbClr val="555555"/>
                </a:solidFill>
                <a:latin typeface="Cambria Math"/>
              </a:rPr>
              <a:t>z</a:t>
            </a:r>
            <a:r>
              <a:rPr sz="1642" b="0" i="1">
                <a:solidFill>
                  <a:srgbClr val="555555"/>
                </a:solidFill>
                <a:latin typeface="Cambria Math"/>
              </a:rPr>
              <a:t>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619465" y="20788570"/>
            <a:ext cx="15946993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House Pricing R² drops only 0.96 pp; across MNIST and Buzz encoded R² stays within 89–94%.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99284" y="22236390"/>
            <a:ext cx="4794390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Ablation Study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773359" y="22895500"/>
            <a:ext cx="3327172" cy="851745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Takeaway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764581" y="22909668"/>
            <a:ext cx="5847267" cy="851746"/>
          </a:xfrm>
          <a:prstGeom prst="rect">
            <a:avLst/>
          </a:prstGeom>
          <a:noFill/>
        </p:spPr>
        <p:txBody>
          <a:bodyPr wrap="square" lIns="237066" rIns="237066" tIns="59266" bIns="59266">
            <a:spAutoFit/>
          </a:bodyPr>
          <a:lstStyle/>
          <a:p>
            <a:pPr algn="ctr">
              <a:lnSpc>
                <a:spcPts val="4900"/>
              </a:lnSpc>
              <a:spcBef>
                <a:spcPts val="0"/>
              </a:spcBef>
              <a:spcAft>
                <a:spcPts val="0"/>
              </a:spcAft>
            </a:pPr>
            <a:r>
              <a:rPr sz="4666" b="1">
                <a:solidFill>
                  <a:srgbClr val="1C1C1C"/>
                </a:solidFill>
                <a:latin typeface="Arial"/>
              </a:rPr>
              <a:t>Headline Numbers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4637245" y="23739911"/>
            <a:ext cx="15929213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Peers collaborate by sharing </a:t>
            </a:r>
            <a:r>
              <a:rPr sz="4106" b="1">
                <a:solidFill>
                  <a:srgbClr val="111111"/>
                </a:solidFill>
                <a:latin typeface="Arial"/>
              </a:rPr>
              <a:t>autoencoder latent embeddings</a:t>
            </a:r>
            <a:r>
              <a:rPr sz="4106" b="0">
                <a:solidFill>
                  <a:srgbClr val="1C1C1C"/>
                </a:solidFill>
                <a:latin typeface="Arial"/>
              </a:rPr>
              <a:t> instead of raw data, keeping sensitive features private while losing </a:t>
            </a:r>
            <a:r>
              <a:rPr sz="4106" b="1">
                <a:solidFill>
                  <a:srgbClr val="111111"/>
                </a:solidFill>
                <a:latin typeface="Arial"/>
              </a:rPr>
              <a:t>under 10 pp</a:t>
            </a:r>
            <a:r>
              <a:rPr sz="4106" b="0">
                <a:solidFill>
                  <a:srgbClr val="1C1C1C"/>
                </a:solidFill>
                <a:latin typeface="Arial"/>
              </a:rPr>
              <a:t> of downstream performance.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66661" y="27922656"/>
            <a:ext cx="15946854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Non-naive variants win: on Buzz test R² rises 91.55% → 94.03% (S1→S3), and MNIST accuracy climbs 88% → 91%.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7843063" y="28270061"/>
            <a:ext cx="15946854" cy="14261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0">
                <a:solidFill>
                  <a:srgbClr val="555555"/>
                </a:solidFill>
                <a:latin typeface="Arial"/>
              </a:rPr>
              <a:t>Shared autoencoders correctly estimate 96–98% of observations per feature, within a 5% MAPE reconstruction budget.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7843045" y="6057840"/>
            <a:ext cx="15946872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Each peer encodes its features with a </a:t>
            </a:r>
            <a:r>
              <a:rPr sz="4106" b="1">
                <a:solidFill>
                  <a:srgbClr val="111111"/>
                </a:solidFill>
                <a:latin typeface="Arial"/>
              </a:rPr>
              <a:t>fixed four-layer autoencoder</a:t>
            </a:r>
            <a:r>
              <a:rPr sz="4106" b="0">
                <a:solidFill>
                  <a:srgbClr val="1C1C1C"/>
                </a:solidFill>
                <a:latin typeface="Arial"/>
              </a:rPr>
              <a:t> and shares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only</a:t>
            </a:r>
            <a:r>
              <a:rPr sz="4106" b="0">
                <a:solidFill>
                  <a:srgbClr val="1C1C1C"/>
                </a:solidFill>
                <a:latin typeface="Arial"/>
              </a:rPr>
              <a:t> the latent embedding.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7843045" y="7752774"/>
            <a:ext cx="15946872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Peers </a:t>
            </a:r>
            <a:r>
              <a:rPr sz="4106" b="1">
                <a:solidFill>
                  <a:srgbClr val="111111"/>
                </a:solidFill>
                <a:latin typeface="Arial"/>
              </a:rPr>
              <a:t>join embeddings by a common ID</a:t>
            </a:r>
            <a:r>
              <a:rPr sz="4106" b="0">
                <a:solidFill>
                  <a:srgbClr val="1C1C1C"/>
                </a:solidFill>
                <a:latin typeface="Arial"/>
              </a:rPr>
              <a:t> and train one shared predictor; non-naive variants also predict the target.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6642" y="12775902"/>
            <a:ext cx="15946873" cy="34785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Existing privacy tools each fall short.</a:t>
            </a:r>
            <a:r>
              <a:rPr sz="4106" b="0">
                <a:solidFill>
                  <a:srgbClr val="1C1C1C"/>
                </a:solidFill>
                <a:latin typeface="Arial"/>
              </a:rPr>
              <a:t> Homomorphic encryption is secure but hard to deploy; federated learning assumes peers hold the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same</a:t>
            </a:r>
            <a:r>
              <a:rPr sz="4106" b="0">
                <a:solidFill>
                  <a:srgbClr val="1C1C1C"/>
                </a:solidFill>
                <a:latin typeface="Arial"/>
              </a:rPr>
              <a:t> features and cannot fuse complementary ones.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6642" y="15983247"/>
            <a:ext cx="15946873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Differential privacy injects noise that degrades utility, and linear PCA drops nonlinear structure.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66642" y="17678181"/>
            <a:ext cx="15946873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These protect data in transit, distort observations, or demand heavy maintenance, leaving room for a representation-learning encoder.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5240237" y="19537441"/>
            <a:ext cx="14705310" cy="12785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Scenarios: S0 raw baseline, S1 shared autoencoder, S2 per-peer autoencoders.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9673570" y="22109985"/>
            <a:ext cx="12214608" cy="639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Framework: peers share only latent embeddings, not raw data.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28803" y="23080801"/>
            <a:ext cx="14984712" cy="10103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S0</a:t>
            </a:r>
            <a:r>
              <a:rPr sz="4106" b="0">
                <a:solidFill>
                  <a:srgbClr val="1C1C1C"/>
                </a:solidFill>
                <a:latin typeface="Arial"/>
              </a:rPr>
              <a:t> Raw-data baseline, no privacy protection.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028803" y="24272200"/>
            <a:ext cx="14984712" cy="18501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S1 / S2</a:t>
            </a:r>
            <a:r>
              <a:rPr sz="4106" b="0">
                <a:solidFill>
                  <a:srgbClr val="1C1C1C"/>
                </a:solidFill>
                <a:latin typeface="Arial"/>
              </a:rPr>
              <a:t> Naive: single shared vs individual per-peer autoencoders.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28803" y="26193829"/>
            <a:ext cx="14984712" cy="18501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S3 / S4</a:t>
            </a:r>
            <a:r>
              <a:rPr sz="4106" b="0">
                <a:solidFill>
                  <a:srgbClr val="1C1C1C"/>
                </a:solidFill>
                <a:latin typeface="Arial"/>
              </a:rPr>
              <a:t> Non-naive: multitask autoencoders that also predict the target.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5126751" y="27272853"/>
            <a:ext cx="15074662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Making the encoder task-aware (non-naive) narrows the gap further; future work points to custom per-dataset encoders and explicit privacy-level measures.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088927" y="23976330"/>
            <a:ext cx="8530038" cy="15539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33415E"/>
                </a:solidFill>
                <a:latin typeface="Arial"/>
              </a:rPr>
              <a:t>&lt; 10pp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8088927" y="25351224"/>
            <a:ext cx="8530038" cy="1799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downstream performance drop when raw features become shared latent embeddings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8088927" y="26915586"/>
            <a:ext cx="8530038" cy="94056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across all three benchmarks (House Pricing, MNIST, Buzz), while original features stay fully hidden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619465" y="6251753"/>
            <a:ext cx="11166738" cy="936568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3415E"/>
                </a:solidFill>
                <a:latin typeface="Arial"/>
              </a:rPr>
              <a:t>Method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5460959" y="6251753"/>
            <a:ext cx="4819142" cy="936568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3415E"/>
                </a:solidFill>
                <a:latin typeface="Arial"/>
              </a:rPr>
              <a:t>Metric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4619465" y="7066160"/>
            <a:ext cx="11166738" cy="941680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Raw features (S0)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460959" y="7066160"/>
            <a:ext cx="4819142" cy="941680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90.29% R²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4619465" y="7885013"/>
            <a:ext cx="11166738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3415E"/>
                </a:solidFill>
                <a:latin typeface="Arial"/>
              </a:rPr>
              <a:t>Latent embeddings (S2)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460959" y="7885013"/>
            <a:ext cx="4819142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3415E"/>
                </a:solidFill>
                <a:latin typeface="Arial"/>
              </a:rPr>
              <a:t>89.33% R²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7422455" y="23976330"/>
            <a:ext cx="1870971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89.33%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9421455" y="24109680"/>
            <a:ext cx="3562098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House Pricing R² (S2)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7422455" y="25315525"/>
            <a:ext cx="1870971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94.03%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9421455" y="25448875"/>
            <a:ext cx="3806754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Buzz R² (non-naive S3)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7422455" y="26654859"/>
            <a:ext cx="1689554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5–11%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9245321" y="26788209"/>
            <a:ext cx="3175515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reconstruction error</a:t>
            </a:r>
          </a:p>
        </p:txBody>
      </p:sp>
      <p:pic>
        <p:nvPicPr>
          <p:cNvPr id="105" name="Picture 104" descr="eq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143934" y="10027920"/>
            <a:ext cx="14918392" cy="14786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
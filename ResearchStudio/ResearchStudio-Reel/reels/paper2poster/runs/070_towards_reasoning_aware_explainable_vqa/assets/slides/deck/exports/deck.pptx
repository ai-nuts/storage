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ree 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ree 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grpSp>
        <p:nvGrpSpPr>
          <p:cNvPr id="6" name="Group 6"/>
          <p:cNvGrpSpPr/>
          <p:nvPr/>
        </p:nvGrpSpPr>
        <p:grpSpPr>
          <a:xfrm>
            <a:off x="685800" y="697706"/>
            <a:ext cx="7981910" cy="512350"/>
            <a:chOff x="685800" y="697706"/>
            <a:chExt cx="7981910" cy="512350"/>
          </a:xfrm>
        </p:grpSpPr>
        <p:sp>
          <p:nvSpPr>
            <p:cNvPr id="3" name="Rectangle 3"/>
            <p:cNvSpPr/>
            <p:nvPr/>
          </p:nvSpPr>
          <p:spPr>
            <a:xfrm>
              <a:off x="685800" y="704850"/>
              <a:ext cx="57150" cy="285750"/>
            </a:xfrm>
            <a:prstGeom prst="roundRect">
              <a:avLst>
                <a:gd name="adj" fmla="val 41667"/>
              </a:avLst>
            </a:prstGeom>
            <a:solidFill>
              <a:schemeClr val="accent2"/>
            </a:solidFill>
            <a:ln>
              <a:noFill/>
            </a:ln>
          </p:spPr>
        </p:sp>
        <p:sp>
          <p:nvSpPr>
            <p:cNvPr id="4" name="TextBox 4"/>
            <p:cNvSpPr txBox="1"/>
            <p:nvPr/>
          </p:nvSpPr>
          <p:spPr>
            <a:xfrm>
              <a:off x="870585" y="697706"/>
              <a:ext cx="4654030" cy="220028"/>
            </a:xfrm>
            <a:prstGeom prst="rect">
              <a:avLst/>
            </a:prstGeom>
            <a:noFill/>
            <a:ln>
              <a:noFill/>
            </a:ln>
          </p:spPr>
          <p:txBody>
            <a:bodyPr wrap="none" lIns="0" tIns="0" rIns="0" bIns="0" anchor="t" anchorCtr="0">
              <a:spAutoFit/>
            </a:bodyPr>
            <a:lstStyle/>
            <a:p>
              <a:pPr algn="l"/>
              <a:r>
                <a:rPr lang="en-US" sz="1120" b="1" spc="188" dirty="0">
                  <a:solidFill>
                    <a:schemeClr val="accent2"/>
                  </a:solidFill>
                  <a:latin typeface="+mn-lt"/>
                  <a:ea typeface="+mn-ea"/>
                  <a:cs typeface="+mn-cs"/>
                </a:rPr>
                <a:t>VISUAL QUESTION ANSWERING · EXPLAINABILITY</a:t>
              </a:r>
            </a:p>
          </p:txBody>
        </p:sp>
        <p:sp>
          <p:nvSpPr>
            <p:cNvPr id="5" name="TextBox 5"/>
            <p:cNvSpPr txBox="1"/>
            <p:nvPr/>
          </p:nvSpPr>
          <p:spPr>
            <a:xfrm>
              <a:off x="870204" y="975360"/>
              <a:ext cx="779750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Most VQA models are black boxes: they output an answer, but not the reasoning that produced it.</a:t>
              </a:r>
            </a:p>
          </p:txBody>
        </p:sp>
      </p:grpSp>
      <p:sp>
        <p:nvSpPr>
          <p:cNvPr id="7" name="TextBox 7"/>
          <p:cNvSpPr txBox="1"/>
          <p:nvPr/>
        </p:nvSpPr>
        <p:spPr>
          <a:xfrm>
            <a:off x="666750" y="1362075"/>
            <a:ext cx="5296129" cy="876300"/>
          </a:xfrm>
          <a:prstGeom prst="rect">
            <a:avLst/>
          </a:prstGeom>
          <a:noFill/>
          <a:ln>
            <a:noFill/>
          </a:ln>
        </p:spPr>
        <p:txBody>
          <a:bodyPr wrap="none" lIns="0" tIns="0" rIns="0" bIns="0" anchor="t" anchorCtr="0">
            <a:spAutoFit/>
          </a:bodyPr>
          <a:lstStyle/>
          <a:p>
            <a:pPr algn="l"/>
            <a:r>
              <a:rPr lang="en-US" sz="4500" b="1" dirty="0">
                <a:solidFill>
                  <a:schemeClr val="dk1"/>
                </a:solidFill>
                <a:latin typeface="+mn-lt"/>
                <a:ea typeface="+mn-ea"/>
                <a:cs typeface="+mn-cs"/>
              </a:rPr>
              <a:t>Reasoning-Aware</a:t>
            </a:r>
          </a:p>
        </p:txBody>
      </p:sp>
      <p:sp>
        <p:nvSpPr>
          <p:cNvPr id="8" name="TextBox 8"/>
          <p:cNvSpPr txBox="1"/>
          <p:nvPr/>
        </p:nvSpPr>
        <p:spPr>
          <a:xfrm>
            <a:off x="666750" y="1971675"/>
            <a:ext cx="4853530" cy="876300"/>
          </a:xfrm>
          <a:prstGeom prst="rect">
            <a:avLst/>
          </a:prstGeom>
          <a:noFill/>
          <a:ln>
            <a:noFill/>
          </a:ln>
        </p:spPr>
        <p:txBody>
          <a:bodyPr wrap="none" lIns="0" tIns="0" rIns="0" bIns="0" anchor="t" anchorCtr="0">
            <a:spAutoFit/>
          </a:bodyPr>
          <a:lstStyle/>
          <a:p>
            <a:pPr algn="l"/>
            <a:r>
              <a:rPr lang="en-US" sz="4500" b="1" dirty="0">
                <a:solidFill>
                  <a:schemeClr val="dk1"/>
                </a:solidFill>
                <a:latin typeface="+mn-lt"/>
                <a:ea typeface="+mn-ea"/>
                <a:cs typeface="+mn-cs"/>
              </a:rPr>
              <a:t>Explainable VQA</a:t>
            </a:r>
          </a:p>
        </p:txBody>
      </p:sp>
      <p:sp>
        <p:nvSpPr>
          <p:cNvPr id="9" name="TextBox 9"/>
          <p:cNvSpPr txBox="1"/>
          <p:nvPr/>
        </p:nvSpPr>
        <p:spPr>
          <a:xfrm>
            <a:off x="5705094" y="1599248"/>
            <a:ext cx="1145158" cy="381381"/>
          </a:xfrm>
          <a:prstGeom prst="rect">
            <a:avLst/>
          </a:prstGeom>
          <a:noFill/>
          <a:ln>
            <a:noFill/>
          </a:ln>
        </p:spPr>
        <p:txBody>
          <a:bodyPr wrap="none" lIns="0" tIns="0" rIns="0" bIns="0" anchor="t" anchorCtr="0">
            <a:spAutoFit/>
          </a:bodyPr>
          <a:lstStyle/>
          <a:p>
            <a:pPr algn="l"/>
            <a:r>
              <a:rPr lang="en-US" sz="1950" b="1" i="1" dirty="0">
                <a:solidFill>
                  <a:schemeClr val="accent2"/>
                </a:solidFill>
                <a:latin typeface="+mn-lt"/>
                <a:ea typeface="+mn-ea"/>
                <a:cs typeface="+mn-cs"/>
              </a:rPr>
              <a:t>Towards</a:t>
            </a:r>
          </a:p>
        </p:txBody>
      </p:sp>
      <p:grpSp>
        <p:nvGrpSpPr>
          <p:cNvPr id="17" name="Group 17"/>
          <p:cNvGrpSpPr/>
          <p:nvPr/>
        </p:nvGrpSpPr>
        <p:grpSpPr>
          <a:xfrm>
            <a:off x="685800" y="2781300"/>
            <a:ext cx="5715000" cy="1428750"/>
            <a:chOff x="685800" y="2781300"/>
            <a:chExt cx="5715000" cy="1428750"/>
          </a:xfrm>
        </p:grpSpPr>
        <p:sp>
          <p:nvSpPr>
            <p:cNvPr id="10" name="Rectangle 10"/>
            <p:cNvSpPr/>
            <p:nvPr/>
          </p:nvSpPr>
          <p:spPr>
            <a:xfrm>
              <a:off x="685800" y="2781300"/>
              <a:ext cx="5715000" cy="1428750"/>
            </a:xfrm>
            <a:prstGeom prst="roundRect">
              <a:avLst>
                <a:gd name="adj" fmla="val 10667"/>
              </a:avLst>
            </a:prstGeom>
            <a:solidFill>
              <a:schemeClr val="accent5"/>
            </a:solidFill>
            <a:ln w="11430">
              <a:solidFill>
                <a:schemeClr val="accent4"/>
              </a:solidFill>
            </a:ln>
          </p:spPr>
        </p:sp>
        <p:sp>
          <p:nvSpPr>
            <p:cNvPr id="11" name="Rectangle 11"/>
            <p:cNvSpPr/>
            <p:nvPr/>
          </p:nvSpPr>
          <p:spPr>
            <a:xfrm>
              <a:off x="876300" y="3009900"/>
              <a:ext cx="57150" cy="971550"/>
            </a:xfrm>
            <a:prstGeom prst="roundRect">
              <a:avLst>
                <a:gd name="adj" fmla="val 41667"/>
              </a:avLst>
            </a:prstGeom>
            <a:solidFill>
              <a:srgbClr val="37DCC0"/>
            </a:solidFill>
            <a:ln>
              <a:noFill/>
            </a:ln>
          </p:spPr>
        </p:sp>
        <p:sp>
          <p:nvSpPr>
            <p:cNvPr id="12" name="TextBox 12"/>
            <p:cNvSpPr txBox="1"/>
            <p:nvPr/>
          </p:nvSpPr>
          <p:spPr>
            <a:xfrm>
              <a:off x="1058418" y="2984182"/>
              <a:ext cx="2411543" cy="322707"/>
            </a:xfrm>
            <a:prstGeom prst="rect">
              <a:avLst/>
            </a:prstGeom>
            <a:noFill/>
            <a:ln>
              <a:noFill/>
            </a:ln>
          </p:spPr>
          <p:txBody>
            <a:bodyPr wrap="none" lIns="0" tIns="0" rIns="0" bIns="0" anchor="t" anchorCtr="0">
              <a:spAutoFit/>
            </a:bodyPr>
            <a:lstStyle/>
            <a:p>
              <a:pPr algn="l"/>
              <a:r>
                <a:rPr lang="en-US" sz="1650" b="1" dirty="0">
                  <a:solidFill>
                    <a:srgbClr val="37DCC0"/>
                  </a:solidFill>
                  <a:latin typeface="+mn-lt"/>
                  <a:ea typeface="+mn-ea"/>
                  <a:cs typeface="+mn-cs"/>
                </a:rPr>
                <a:t>Answer + Explanation</a:t>
              </a:r>
            </a:p>
          </p:txBody>
        </p:sp>
        <p:sp>
          <p:nvSpPr>
            <p:cNvPr id="13" name="TextBox 13"/>
            <p:cNvSpPr txBox="1"/>
            <p:nvPr/>
          </p:nvSpPr>
          <p:spPr>
            <a:xfrm>
              <a:off x="1061085" y="3326606"/>
              <a:ext cx="372042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Augments a state-of-the-art coarse-to-fine VQA</a:t>
              </a:r>
            </a:p>
          </p:txBody>
        </p:sp>
        <p:sp>
          <p:nvSpPr>
            <p:cNvPr id="14" name="TextBox 14"/>
            <p:cNvSpPr txBox="1"/>
            <p:nvPr/>
          </p:nvSpPr>
          <p:spPr>
            <a:xfrm>
              <a:off x="1061085" y="3536156"/>
              <a:ext cx="384110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backbone with an end-to-end explanation module, so</a:t>
              </a:r>
            </a:p>
          </p:txBody>
        </p:sp>
        <p:sp>
          <p:nvSpPr>
            <p:cNvPr id="15" name="TextBox 15"/>
            <p:cNvSpPr txBox="1"/>
            <p:nvPr/>
          </p:nvSpPr>
          <p:spPr>
            <a:xfrm>
              <a:off x="1061085" y="3745706"/>
              <a:ext cx="363001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it emits a human-readable explanation with every</a:t>
              </a:r>
            </a:p>
          </p:txBody>
        </p:sp>
        <p:sp>
          <p:nvSpPr>
            <p:cNvPr id="16" name="TextBox 16"/>
            <p:cNvSpPr txBox="1"/>
            <p:nvPr/>
          </p:nvSpPr>
          <p:spPr>
            <a:xfrm>
              <a:off x="1061085" y="3955256"/>
              <a:ext cx="62206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answer.</a:t>
              </a:r>
            </a:p>
          </p:txBody>
        </p:sp>
      </p:grpSp>
      <p:grpSp>
        <p:nvGrpSpPr>
          <p:cNvPr id="25" name="Group 25"/>
          <p:cNvGrpSpPr/>
          <p:nvPr/>
        </p:nvGrpSpPr>
        <p:grpSpPr>
          <a:xfrm>
            <a:off x="6781800" y="2781300"/>
            <a:ext cx="4724400" cy="1428750"/>
            <a:chOff x="6781800" y="2781300"/>
            <a:chExt cx="4724400" cy="1428750"/>
          </a:xfrm>
        </p:grpSpPr>
        <p:sp>
          <p:nvSpPr>
            <p:cNvPr id="18" name="Rectangle 18"/>
            <p:cNvSpPr/>
            <p:nvPr/>
          </p:nvSpPr>
          <p:spPr>
            <a:xfrm>
              <a:off x="6781800" y="2781300"/>
              <a:ext cx="4724400" cy="1428750"/>
            </a:xfrm>
            <a:prstGeom prst="roundRect">
              <a:avLst>
                <a:gd name="adj" fmla="val 10667"/>
              </a:avLst>
            </a:prstGeom>
            <a:solidFill>
              <a:schemeClr val="accent6"/>
            </a:solidFill>
            <a:ln w="13335">
              <a:solidFill>
                <a:schemeClr val="accent2"/>
              </a:solidFill>
            </a:ln>
          </p:spPr>
        </p:sp>
        <p:sp>
          <p:nvSpPr>
            <p:cNvPr id="19" name="Rectangle 19"/>
            <p:cNvSpPr/>
            <p:nvPr/>
          </p:nvSpPr>
          <p:spPr>
            <a:xfrm>
              <a:off x="6972300" y="3009900"/>
              <a:ext cx="57150" cy="971550"/>
            </a:xfrm>
            <a:prstGeom prst="roundRect">
              <a:avLst>
                <a:gd name="adj" fmla="val 41667"/>
              </a:avLst>
            </a:prstGeom>
            <a:solidFill>
              <a:srgbClr val="F7B84B"/>
            </a:solidFill>
            <a:ln>
              <a:noFill/>
            </a:ln>
          </p:spPr>
        </p:sp>
        <p:sp>
          <p:nvSpPr>
            <p:cNvPr id="20" name="TextBox 20"/>
            <p:cNvSpPr txBox="1"/>
            <p:nvPr/>
          </p:nvSpPr>
          <p:spPr>
            <a:xfrm>
              <a:off x="7155942" y="3016568"/>
              <a:ext cx="2128287" cy="264033"/>
            </a:xfrm>
            <a:prstGeom prst="rect">
              <a:avLst/>
            </a:prstGeom>
            <a:noFill/>
            <a:ln>
              <a:noFill/>
            </a:ln>
          </p:spPr>
          <p:txBody>
            <a:bodyPr wrap="none" lIns="0" tIns="0" rIns="0" bIns="0" anchor="t" anchorCtr="0">
              <a:spAutoFit/>
            </a:bodyPr>
            <a:lstStyle/>
            <a:p>
              <a:pPr algn="l"/>
              <a:r>
                <a:rPr lang="en-US" sz="1350" b="1" dirty="0">
                  <a:solidFill>
                    <a:srgbClr val="F7B84B"/>
                  </a:solidFill>
                  <a:latin typeface="+mn-lt"/>
                  <a:ea typeface="+mn-ea"/>
                  <a:cs typeface="+mn-cs"/>
                </a:rPr>
                <a:t>The evaluation problem</a:t>
              </a:r>
            </a:p>
          </p:txBody>
        </p:sp>
        <p:sp>
          <p:nvSpPr>
            <p:cNvPr id="21" name="TextBox 21"/>
            <p:cNvSpPr txBox="1"/>
            <p:nvPr/>
          </p:nvSpPr>
          <p:spPr>
            <a:xfrm>
              <a:off x="7157276" y="3330654"/>
              <a:ext cx="313638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Compares LSTM vs Transformer explanation</a:t>
              </a:r>
            </a:p>
          </p:txBody>
        </p:sp>
        <p:sp>
          <p:nvSpPr>
            <p:cNvPr id="22" name="TextBox 22"/>
            <p:cNvSpPr txBox="1"/>
            <p:nvPr/>
          </p:nvSpPr>
          <p:spPr>
            <a:xfrm>
              <a:off x="7157276" y="3540204"/>
              <a:ext cx="322319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generators; a large human study shows BLEU</a:t>
              </a:r>
            </a:p>
          </p:txBody>
        </p:sp>
        <p:sp>
          <p:nvSpPr>
            <p:cNvPr id="23" name="TextBox 23"/>
            <p:cNvSpPr txBox="1"/>
            <p:nvPr/>
          </p:nvSpPr>
          <p:spPr>
            <a:xfrm>
              <a:off x="7157276" y="3749754"/>
              <a:ext cx="260236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and ROUGE are unreliable for judging</a:t>
              </a:r>
            </a:p>
          </p:txBody>
        </p:sp>
        <p:sp>
          <p:nvSpPr>
            <p:cNvPr id="24" name="TextBox 24"/>
            <p:cNvSpPr txBox="1"/>
            <p:nvPr/>
          </p:nvSpPr>
          <p:spPr>
            <a:xfrm>
              <a:off x="7157276" y="3959304"/>
              <a:ext cx="98684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explanations.</a:t>
              </a:r>
            </a:p>
          </p:txBody>
        </p:sp>
      </p:grpSp>
      <p:sp>
        <p:nvSpPr>
          <p:cNvPr id="26" name="Line 26"/>
          <p:cNvSpPr/>
          <p:nvPr/>
        </p:nvSpPr>
        <p:spPr>
          <a:xfrm>
            <a:off x="685800" y="4629150"/>
            <a:ext cx="10820400" cy="9525"/>
          </a:xfrm>
          <a:custGeom>
            <a:avLst/>
            <a:gdLst/>
            <a:ahLst/>
            <a:cxnLst/>
            <a:rect l="l" t="t" r="r" b="b"/>
            <a:pathLst>
              <a:path w="10820400" h="9525">
                <a:moveTo>
                  <a:pt x="0" y="0"/>
                </a:moveTo>
                <a:lnTo>
                  <a:pt x="10820400" y="0"/>
                </a:lnTo>
              </a:path>
            </a:pathLst>
          </a:custGeom>
          <a:noFill/>
          <a:ln w="11430">
            <a:solidFill>
              <a:schemeClr val="accent4"/>
            </a:solidFill>
          </a:ln>
        </p:spPr>
        <p:txBody>
          <a:bodyPr/>
          <a:p/>
        </p:txBody>
      </p:sp>
      <p:sp>
        <p:nvSpPr>
          <p:cNvPr id="27" name="TextBox 27"/>
          <p:cNvSpPr txBox="1"/>
          <p:nvPr/>
        </p:nvSpPr>
        <p:spPr>
          <a:xfrm>
            <a:off x="678180" y="4829175"/>
            <a:ext cx="688172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Rakesh Vaideeswaran · Feng Gao · Abhinav Mathur · Govind Thattai</a:t>
            </a:r>
          </a:p>
        </p:txBody>
      </p:sp>
      <p:sp>
        <p:nvSpPr>
          <p:cNvPr id="28" name="TextBox 28"/>
          <p:cNvSpPr txBox="1"/>
          <p:nvPr/>
        </p:nvSpPr>
        <p:spPr>
          <a:xfrm>
            <a:off x="680085" y="5136356"/>
            <a:ext cx="428055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University of Illinois, Urbana-Champaign · Amazon Alexa AI</a:t>
            </a:r>
          </a:p>
        </p:txBody>
      </p:sp>
      <p:sp>
        <p:nvSpPr>
          <p:cNvPr id="29" name="TextBox 29"/>
          <p:cNvSpPr txBox="1"/>
          <p:nvPr/>
        </p:nvSpPr>
        <p:spPr>
          <a:xfrm>
            <a:off x="680466" y="5506402"/>
            <a:ext cx="1116521" cy="205359"/>
          </a:xfrm>
          <a:prstGeom prst="rect">
            <a:avLst/>
          </a:prstGeom>
          <a:noFill/>
          <a:ln>
            <a:noFill/>
          </a:ln>
        </p:spPr>
        <p:txBody>
          <a:bodyPr wrap="none" lIns="0" tIns="0" rIns="0" bIns="0" anchor="t" anchorCtr="0">
            <a:spAutoFit/>
          </a:bodyPr>
          <a:lstStyle/>
          <a:p>
            <a:pPr algn="l"/>
            <a:r>
              <a:rPr lang="en-US" sz="1050" b="1" spc="112" dirty="0">
                <a:solidFill>
                  <a:schemeClr val="accent2"/>
                </a:solidFill>
                <a:latin typeface="+mn-lt"/>
                <a:ea typeface="+mn-ea"/>
                <a:cs typeface="+mn-cs"/>
              </a:rPr>
              <a:t>NeurIPS 2022</a:t>
            </a:r>
          </a:p>
        </p:txBody>
      </p:sp>
      <p:sp>
        <p:nvSpPr>
          <p:cNvPr id="30" name="TextBox 30"/>
          <p:cNvSpPr txBox="1"/>
          <p:nvPr/>
        </p:nvSpPr>
        <p:spPr>
          <a:xfrm>
            <a:off x="680466" y="5754052"/>
            <a:ext cx="1841163" cy="205359"/>
          </a:xfrm>
          <a:prstGeom prst="rect">
            <a:avLst/>
          </a:prstGeom>
          <a:noFill/>
          <a:ln>
            <a:noFill/>
          </a:ln>
        </p:spPr>
        <p:txBody>
          <a:bodyPr wrap="none" lIns="0" tIns="0" rIns="0" bIns="0" anchor="t" anchorCtr="0">
            <a:spAutoFit/>
          </a:bodyPr>
          <a:lstStyle/>
          <a:p>
            <a:pPr algn="l"/>
            <a:r>
              <a:rPr lang="en-US" sz="1050" dirty="0">
                <a:solidFill>
                  <a:srgbClr val="6E85AC"/>
                </a:solidFill>
                <a:latin typeface="Consolas"/>
                <a:ea typeface="Consolas"/>
                <a:cs typeface="Consolas"/>
              </a:rPr>
              <a:t>arxiv.org/abs/2211.05190</a:t>
            </a:r>
          </a:p>
        </p:txBody>
      </p:sp>
      <p:sp>
        <p:nvSpPr>
          <p:cNvPr id="31" name="cue_s01_c1_most_visual_question_answering_model" title="cue_s01_c1_most_visual_question_answering_model" descr="cue_s01_c1_most_visual_question_answering_model Most visual question answering models are black boxes: they output an answer, but not the reasoning that produced it."/>
          <p:cNvSpPr/>
          <p:nvPr/>
        </p:nvSpPr>
        <p:spPr>
          <a:xfrm>
            <a:off x="870508" y="697458"/>
            <a:ext cx="4653686" cy="22014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ue_s01_c2_towards_reasoning_aware_explainable" title="cue_s01_c2_towards_reasoning_aware_explainable" descr="cue_s01_c2_towards_reasoning_aware_explainable This paper, Towards Reasoning-Aware Explainable VQA from the University of Illinois and Amazon Alexa AI, augments a state-of-the-art coarse-to-fine VQA backbone with an end-to-end explanation generation module, so the model produces a human-readable textual ex"/>
          <p:cNvSpPr/>
          <p:nvPr/>
        </p:nvSpPr>
        <p:spPr>
          <a:xfrm>
            <a:off x="686409" y="2781604"/>
            <a:ext cx="5715609"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1_c3_compares_lstm_transformer_decoders_e" title="cue_s01_c3_compares_lstm_transformer_decoders_e" descr="cue_s01_c3_compares_lstm_transformer_decoders_e It compares LSTM and Transformer decoders as the explanation generator, and, crucially, shows through a large human study that the standard string-matching metrics like BLEU and ROUGE are unreliable for judging explanations, motivating better evaluation."/>
          <p:cNvSpPr/>
          <p:nvPr/>
        </p:nvSpPr>
        <p:spPr>
          <a:xfrm>
            <a:off x="6782409" y="2781604"/>
            <a:ext cx="47244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914370"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PROBLEM</a:t>
            </a:r>
          </a:p>
        </p:txBody>
      </p:sp>
      <p:sp>
        <p:nvSpPr>
          <p:cNvPr id="5" name="TextBox 5"/>
          <p:cNvSpPr txBox="1"/>
          <p:nvPr/>
        </p:nvSpPr>
        <p:spPr>
          <a:xfrm>
            <a:off x="518160" y="781050"/>
            <a:ext cx="8165024"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Right answers, but no visible reasoning</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02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2" name="Group 12"/>
          <p:cNvGrpSpPr/>
          <p:nvPr/>
        </p:nvGrpSpPr>
        <p:grpSpPr>
          <a:xfrm>
            <a:off x="533400" y="1524000"/>
            <a:ext cx="11125200" cy="876300"/>
            <a:chOff x="533400" y="1524000"/>
            <a:chExt cx="11125200" cy="876300"/>
          </a:xfrm>
        </p:grpSpPr>
        <p:sp>
          <p:nvSpPr>
            <p:cNvPr id="8" name="Rectangle 8"/>
            <p:cNvSpPr/>
            <p:nvPr/>
          </p:nvSpPr>
          <p:spPr>
            <a:xfrm>
              <a:off x="533400" y="1524000"/>
              <a:ext cx="11125200" cy="876300"/>
            </a:xfrm>
            <a:prstGeom prst="roundRect">
              <a:avLst>
                <a:gd name="adj" fmla="val 15217"/>
              </a:avLst>
            </a:prstGeom>
            <a:solidFill>
              <a:schemeClr val="accent5"/>
            </a:solidFill>
            <a:ln w="11430">
              <a:solidFill>
                <a:schemeClr val="accent4"/>
              </a:solidFill>
            </a:ln>
          </p:spPr>
        </p:sp>
        <p:sp>
          <p:nvSpPr>
            <p:cNvPr id="9" name="Rectangle 9"/>
            <p:cNvSpPr/>
            <p:nvPr/>
          </p:nvSpPr>
          <p:spPr>
            <a:xfrm>
              <a:off x="723900" y="1733550"/>
              <a:ext cx="47625" cy="457200"/>
            </a:xfrm>
            <a:prstGeom prst="roundRect">
              <a:avLst>
                <a:gd name="adj" fmla="val 50000"/>
              </a:avLst>
            </a:prstGeom>
            <a:solidFill>
              <a:schemeClr val="accent2"/>
            </a:solidFill>
            <a:ln>
              <a:noFill/>
            </a:ln>
          </p:spPr>
        </p:sp>
        <p:sp>
          <p:nvSpPr>
            <p:cNvPr id="10" name="TextBox 10"/>
            <p:cNvSpPr txBox="1"/>
            <p:nvPr/>
          </p:nvSpPr>
          <p:spPr>
            <a:xfrm>
              <a:off x="906780" y="1724025"/>
              <a:ext cx="544264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Classic VQA: an image + a question in, an answer out</a:t>
              </a:r>
            </a:p>
          </p:txBody>
        </p:sp>
        <p:sp>
          <p:nvSpPr>
            <p:cNvPr id="11" name="TextBox 11"/>
            <p:cNvSpPr txBox="1"/>
            <p:nvPr/>
          </p:nvSpPr>
          <p:spPr>
            <a:xfrm>
              <a:off x="908685" y="2031206"/>
              <a:ext cx="77887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field has poured enormous effort into raising accuracy with large pre-trained vision-language models</a:t>
              </a:r>
            </a:p>
          </p:txBody>
        </p:sp>
      </p:grpSp>
      <p:grpSp>
        <p:nvGrpSpPr>
          <p:cNvPr id="22" name="Group 22"/>
          <p:cNvGrpSpPr/>
          <p:nvPr/>
        </p:nvGrpSpPr>
        <p:grpSpPr>
          <a:xfrm>
            <a:off x="533400" y="2590800"/>
            <a:ext cx="3619500" cy="2857500"/>
            <a:chOff x="533400" y="2590800"/>
            <a:chExt cx="3619500" cy="2857500"/>
          </a:xfrm>
        </p:grpSpPr>
        <p:sp>
          <p:nvSpPr>
            <p:cNvPr id="13" name="Rectangle 13"/>
            <p:cNvSpPr/>
            <p:nvPr/>
          </p:nvSpPr>
          <p:spPr>
            <a:xfrm>
              <a:off x="533400" y="2590800"/>
              <a:ext cx="3619500" cy="2857500"/>
            </a:xfrm>
            <a:prstGeom prst="roundRect">
              <a:avLst>
                <a:gd name="adj" fmla="val 4667"/>
              </a:avLst>
            </a:prstGeom>
            <a:solidFill>
              <a:schemeClr val="accent6"/>
            </a:solidFill>
            <a:ln w="12382">
              <a:solidFill>
                <a:srgbClr val="F2708A"/>
              </a:solidFill>
            </a:ln>
          </p:spPr>
        </p:sp>
        <p:sp>
          <p:nvSpPr>
            <p:cNvPr id="14" name="Rectangle 14"/>
            <p:cNvSpPr/>
            <p:nvPr/>
          </p:nvSpPr>
          <p:spPr>
            <a:xfrm>
              <a:off x="742950" y="2838450"/>
              <a:ext cx="47625" cy="285750"/>
            </a:xfrm>
            <a:prstGeom prst="roundRect">
              <a:avLst>
                <a:gd name="adj" fmla="val 50000"/>
              </a:avLst>
            </a:prstGeom>
            <a:solidFill>
              <a:srgbClr val="F2708A"/>
            </a:solidFill>
            <a:ln>
              <a:noFill/>
            </a:ln>
          </p:spPr>
        </p:sp>
        <p:sp>
          <p:nvSpPr>
            <p:cNvPr id="15" name="TextBox 15"/>
            <p:cNvSpPr txBox="1"/>
            <p:nvPr/>
          </p:nvSpPr>
          <p:spPr>
            <a:xfrm>
              <a:off x="735711" y="3198971"/>
              <a:ext cx="237959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result is a black box</a:t>
              </a:r>
            </a:p>
          </p:txBody>
        </p:sp>
        <p:sp>
          <p:nvSpPr>
            <p:cNvPr id="16" name="TextBox 16"/>
            <p:cNvSpPr txBox="1"/>
            <p:nvPr/>
          </p:nvSpPr>
          <p:spPr>
            <a:xfrm>
              <a:off x="737235" y="3536156"/>
              <a:ext cx="239885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prediction may be right, yet</a:t>
              </a:r>
            </a:p>
          </p:txBody>
        </p:sp>
        <p:sp>
          <p:nvSpPr>
            <p:cNvPr id="17" name="TextBox 17"/>
            <p:cNvSpPr txBox="1"/>
            <p:nvPr/>
          </p:nvSpPr>
          <p:spPr>
            <a:xfrm>
              <a:off x="737235" y="3736181"/>
              <a:ext cx="224289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there is no evidence explaining</a:t>
              </a:r>
            </a:p>
          </p:txBody>
        </p:sp>
        <p:sp>
          <p:nvSpPr>
            <p:cNvPr id="18" name="TextBox 18"/>
            <p:cNvSpPr txBox="1"/>
            <p:nvPr/>
          </p:nvSpPr>
          <p:spPr>
            <a:xfrm>
              <a:off x="737235" y="3936206"/>
              <a:ext cx="177549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reasoning behind it.</a:t>
              </a:r>
            </a:p>
          </p:txBody>
        </p:sp>
        <p:sp>
          <p:nvSpPr>
            <p:cNvPr id="19" name="Rectangle 19"/>
            <p:cNvSpPr/>
            <p:nvPr/>
          </p:nvSpPr>
          <p:spPr>
            <a:xfrm>
              <a:off x="742950" y="4495800"/>
              <a:ext cx="3200400" cy="742950"/>
            </a:xfrm>
            <a:prstGeom prst="roundRect">
              <a:avLst>
                <a:gd name="adj" fmla="val 15385"/>
              </a:avLst>
            </a:prstGeom>
            <a:solidFill>
              <a:srgbClr val="301B27"/>
            </a:solidFill>
            <a:ln w="11430">
              <a:solidFill>
                <a:srgbClr val="F2708A"/>
              </a:solidFill>
            </a:ln>
          </p:spPr>
        </p:sp>
        <p:sp>
          <p:nvSpPr>
            <p:cNvPr id="20" name="TextBox 20"/>
            <p:cNvSpPr txBox="1"/>
            <p:nvPr/>
          </p:nvSpPr>
          <p:spPr>
            <a:xfrm>
              <a:off x="888492" y="4692968"/>
              <a:ext cx="92967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Consolas"/>
                  <a:ea typeface="Consolas"/>
                  <a:cs typeface="Consolas"/>
                </a:rPr>
                <a:t>answer ✓</a:t>
              </a:r>
            </a:p>
          </p:txBody>
        </p:sp>
        <p:sp>
          <p:nvSpPr>
            <p:cNvPr id="21" name="TextBox 21"/>
            <p:cNvSpPr txBox="1"/>
            <p:nvPr/>
          </p:nvSpPr>
          <p:spPr>
            <a:xfrm>
              <a:off x="889254" y="4956810"/>
              <a:ext cx="953590" cy="234696"/>
            </a:xfrm>
            <a:prstGeom prst="rect">
              <a:avLst/>
            </a:prstGeom>
            <a:noFill/>
            <a:ln>
              <a:noFill/>
            </a:ln>
          </p:spPr>
          <p:txBody>
            <a:bodyPr wrap="none" lIns="0" tIns="0" rIns="0" bIns="0" anchor="t" anchorCtr="0">
              <a:spAutoFit/>
            </a:bodyPr>
            <a:lstStyle/>
            <a:p>
              <a:pPr algn="l"/>
              <a:r>
                <a:rPr lang="en-US" sz="1200" b="1" dirty="0">
                  <a:solidFill>
                    <a:srgbClr val="F2708A"/>
                  </a:solidFill>
                  <a:latin typeface="Consolas"/>
                  <a:ea typeface="Consolas"/>
                  <a:cs typeface="Consolas"/>
                </a:rPr>
                <a:t>reasoning ?</a:t>
              </a:r>
            </a:p>
          </p:txBody>
        </p:sp>
      </p:grpSp>
      <p:grpSp>
        <p:nvGrpSpPr>
          <p:cNvPr id="38" name="Group 38"/>
          <p:cNvGrpSpPr/>
          <p:nvPr/>
        </p:nvGrpSpPr>
        <p:grpSpPr>
          <a:xfrm>
            <a:off x="4381500" y="2590800"/>
            <a:ext cx="7277100" cy="2857500"/>
            <a:chOff x="4381500" y="2590800"/>
            <a:chExt cx="7277100" cy="2857500"/>
          </a:xfrm>
        </p:grpSpPr>
        <p:sp>
          <p:nvSpPr>
            <p:cNvPr id="23" name="Rectangle 23"/>
            <p:cNvSpPr/>
            <p:nvPr/>
          </p:nvSpPr>
          <p:spPr>
            <a:xfrm>
              <a:off x="4381500" y="2590800"/>
              <a:ext cx="7277100" cy="2857500"/>
            </a:xfrm>
            <a:prstGeom prst="roundRect">
              <a:avLst>
                <a:gd name="adj" fmla="val 4667"/>
              </a:avLst>
            </a:prstGeom>
            <a:solidFill>
              <a:schemeClr val="accent5"/>
            </a:solidFill>
            <a:ln w="11430">
              <a:solidFill>
                <a:schemeClr val="accent4"/>
              </a:solidFill>
            </a:ln>
          </p:spPr>
        </p:sp>
        <p:sp>
          <p:nvSpPr>
            <p:cNvPr id="24" name="Rectangle 24"/>
            <p:cNvSpPr/>
            <p:nvPr/>
          </p:nvSpPr>
          <p:spPr>
            <a:xfrm>
              <a:off x="4591050" y="2838450"/>
              <a:ext cx="47625" cy="285750"/>
            </a:xfrm>
            <a:prstGeom prst="roundRect">
              <a:avLst>
                <a:gd name="adj" fmla="val 50000"/>
              </a:avLst>
            </a:prstGeom>
            <a:solidFill>
              <a:schemeClr val="accent2"/>
            </a:solidFill>
            <a:ln>
              <a:noFill/>
            </a:ln>
          </p:spPr>
        </p:sp>
        <p:sp>
          <p:nvSpPr>
            <p:cNvPr id="25" name="TextBox 25"/>
            <p:cNvSpPr txBox="1"/>
            <p:nvPr/>
          </p:nvSpPr>
          <p:spPr>
            <a:xfrm>
              <a:off x="4755261" y="2875121"/>
              <a:ext cx="212864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Three kinds of models</a:t>
              </a:r>
            </a:p>
          </p:txBody>
        </p:sp>
        <p:sp>
          <p:nvSpPr>
            <p:cNvPr id="26" name="Rectangle 26"/>
            <p:cNvSpPr/>
            <p:nvPr/>
          </p:nvSpPr>
          <p:spPr>
            <a:xfrm>
              <a:off x="4591050" y="3314700"/>
              <a:ext cx="6858000" cy="514350"/>
            </a:xfrm>
            <a:prstGeom prst="roundRect">
              <a:avLst>
                <a:gd name="adj" fmla="val 18519"/>
              </a:avLst>
            </a:prstGeom>
            <a:solidFill>
              <a:schemeClr val="accent6"/>
            </a:solidFill>
            <a:ln w="10478">
              <a:solidFill>
                <a:srgbClr val="6E85AC"/>
              </a:solidFill>
            </a:ln>
          </p:spPr>
        </p:sp>
        <p:sp>
          <p:nvSpPr>
            <p:cNvPr id="27" name="TextBox 27"/>
            <p:cNvSpPr txBox="1"/>
            <p:nvPr/>
          </p:nvSpPr>
          <p:spPr>
            <a:xfrm>
              <a:off x="4757166" y="3525202"/>
              <a:ext cx="469750" cy="205359"/>
            </a:xfrm>
            <a:prstGeom prst="rect">
              <a:avLst/>
            </a:prstGeom>
            <a:noFill/>
            <a:ln>
              <a:noFill/>
            </a:ln>
          </p:spPr>
          <p:txBody>
            <a:bodyPr wrap="none" lIns="0" tIns="0" rIns="0" bIns="0" anchor="t" anchorCtr="0">
              <a:spAutoFit/>
            </a:bodyPr>
            <a:lstStyle/>
            <a:p>
              <a:pPr algn="l"/>
              <a:r>
                <a:rPr lang="en-US" sz="1050" b="1" dirty="0">
                  <a:solidFill>
                    <a:srgbClr val="6E85AC"/>
                  </a:solidFill>
                  <a:latin typeface="Consolas"/>
                  <a:ea typeface="Consolas"/>
                  <a:cs typeface="Consolas"/>
                </a:rPr>
                <a:t>Type 1</a:t>
              </a:r>
            </a:p>
          </p:txBody>
        </p:sp>
        <p:sp>
          <p:nvSpPr>
            <p:cNvPr id="28" name="TextBox 28"/>
            <p:cNvSpPr txBox="1"/>
            <p:nvPr/>
          </p:nvSpPr>
          <p:spPr>
            <a:xfrm>
              <a:off x="5613464" y="3466862"/>
              <a:ext cx="1026110"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Answer only</a:t>
              </a:r>
            </a:p>
          </p:txBody>
        </p:sp>
        <p:sp>
          <p:nvSpPr>
            <p:cNvPr id="29" name="TextBox 29"/>
            <p:cNvSpPr txBox="1"/>
            <p:nvPr/>
          </p:nvSpPr>
          <p:spPr>
            <a:xfrm>
              <a:off x="5614797" y="3685699"/>
              <a:ext cx="147430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no supporting evidence</a:t>
              </a:r>
            </a:p>
          </p:txBody>
        </p:sp>
        <p:sp>
          <p:nvSpPr>
            <p:cNvPr id="30" name="Rectangle 30"/>
            <p:cNvSpPr/>
            <p:nvPr/>
          </p:nvSpPr>
          <p:spPr>
            <a:xfrm>
              <a:off x="4591050" y="3943350"/>
              <a:ext cx="6858000" cy="514350"/>
            </a:xfrm>
            <a:prstGeom prst="roundRect">
              <a:avLst>
                <a:gd name="adj" fmla="val 18519"/>
              </a:avLst>
            </a:prstGeom>
            <a:solidFill>
              <a:schemeClr val="accent6"/>
            </a:solidFill>
            <a:ln w="10478">
              <a:solidFill>
                <a:srgbClr val="F7B84B"/>
              </a:solidFill>
            </a:ln>
          </p:spPr>
        </p:sp>
        <p:sp>
          <p:nvSpPr>
            <p:cNvPr id="31" name="TextBox 31"/>
            <p:cNvSpPr txBox="1"/>
            <p:nvPr/>
          </p:nvSpPr>
          <p:spPr>
            <a:xfrm>
              <a:off x="4757166" y="4153852"/>
              <a:ext cx="469750" cy="205359"/>
            </a:xfrm>
            <a:prstGeom prst="rect">
              <a:avLst/>
            </a:prstGeom>
            <a:noFill/>
            <a:ln>
              <a:noFill/>
            </a:ln>
          </p:spPr>
          <p:txBody>
            <a:bodyPr wrap="none" lIns="0" tIns="0" rIns="0" bIns="0" anchor="t" anchorCtr="0">
              <a:spAutoFit/>
            </a:bodyPr>
            <a:lstStyle/>
            <a:p>
              <a:pPr algn="l"/>
              <a:r>
                <a:rPr lang="en-US" sz="1050" b="1" dirty="0">
                  <a:solidFill>
                    <a:srgbClr val="F7B84B"/>
                  </a:solidFill>
                  <a:latin typeface="Consolas"/>
                  <a:ea typeface="Consolas"/>
                  <a:cs typeface="Consolas"/>
                </a:rPr>
                <a:t>Type 2</a:t>
              </a:r>
            </a:p>
          </p:txBody>
        </p:sp>
        <p:sp>
          <p:nvSpPr>
            <p:cNvPr id="32" name="TextBox 32"/>
            <p:cNvSpPr txBox="1"/>
            <p:nvPr/>
          </p:nvSpPr>
          <p:spPr>
            <a:xfrm>
              <a:off x="5613464" y="4095512"/>
              <a:ext cx="2148194"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Answer + generic caption</a:t>
              </a:r>
            </a:p>
          </p:txBody>
        </p:sp>
        <p:sp>
          <p:nvSpPr>
            <p:cNvPr id="33" name="TextBox 33"/>
            <p:cNvSpPr txBox="1"/>
            <p:nvPr/>
          </p:nvSpPr>
          <p:spPr>
            <a:xfrm>
              <a:off x="5614797" y="4314349"/>
              <a:ext cx="220650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describes the image, not the logic</a:t>
              </a:r>
            </a:p>
          </p:txBody>
        </p:sp>
        <p:sp>
          <p:nvSpPr>
            <p:cNvPr id="34" name="Rectangle 34"/>
            <p:cNvSpPr/>
            <p:nvPr/>
          </p:nvSpPr>
          <p:spPr>
            <a:xfrm>
              <a:off x="4591050" y="4572000"/>
              <a:ext cx="6858000" cy="514350"/>
            </a:xfrm>
            <a:prstGeom prst="roundRect">
              <a:avLst>
                <a:gd name="adj" fmla="val 18519"/>
              </a:avLst>
            </a:prstGeom>
            <a:solidFill>
              <a:schemeClr val="accent6"/>
            </a:solidFill>
            <a:ln w="10478">
              <a:solidFill>
                <a:srgbClr val="57D9A3"/>
              </a:solidFill>
            </a:ln>
          </p:spPr>
        </p:sp>
        <p:sp>
          <p:nvSpPr>
            <p:cNvPr id="35" name="TextBox 35"/>
            <p:cNvSpPr txBox="1"/>
            <p:nvPr/>
          </p:nvSpPr>
          <p:spPr>
            <a:xfrm>
              <a:off x="4757166" y="4782502"/>
              <a:ext cx="469750" cy="205359"/>
            </a:xfrm>
            <a:prstGeom prst="rect">
              <a:avLst/>
            </a:prstGeom>
            <a:noFill/>
            <a:ln>
              <a:noFill/>
            </a:ln>
          </p:spPr>
          <p:txBody>
            <a:bodyPr wrap="none" lIns="0" tIns="0" rIns="0" bIns="0" anchor="t" anchorCtr="0">
              <a:spAutoFit/>
            </a:bodyPr>
            <a:lstStyle/>
            <a:p>
              <a:pPr algn="l"/>
              <a:r>
                <a:rPr lang="en-US" sz="1050" b="1" dirty="0">
                  <a:solidFill>
                    <a:srgbClr val="57D9A3"/>
                  </a:solidFill>
                  <a:latin typeface="Consolas"/>
                  <a:ea typeface="Consolas"/>
                  <a:cs typeface="Consolas"/>
                </a:rPr>
                <a:t>Type 3</a:t>
              </a:r>
            </a:p>
          </p:txBody>
        </p:sp>
        <p:sp>
          <p:nvSpPr>
            <p:cNvPr id="36" name="TextBox 36"/>
            <p:cNvSpPr txBox="1"/>
            <p:nvPr/>
          </p:nvSpPr>
          <p:spPr>
            <a:xfrm>
              <a:off x="5613464" y="4724162"/>
              <a:ext cx="3120798"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Answer + self-contained explanation</a:t>
              </a:r>
            </a:p>
          </p:txBody>
        </p:sp>
        <p:sp>
          <p:nvSpPr>
            <p:cNvPr id="37" name="TextBox 37"/>
            <p:cNvSpPr txBox="1"/>
            <p:nvPr/>
          </p:nvSpPr>
          <p:spPr>
            <a:xfrm>
              <a:off x="5614797" y="4942999"/>
              <a:ext cx="1863489"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logically matches the answer</a:t>
              </a:r>
            </a:p>
          </p:txBody>
        </p:sp>
      </p:grpSp>
      <p:grpSp>
        <p:nvGrpSpPr>
          <p:cNvPr id="42" name="Group 42"/>
          <p:cNvGrpSpPr/>
          <p:nvPr/>
        </p:nvGrpSpPr>
        <p:grpSpPr>
          <a:xfrm>
            <a:off x="533400" y="5619750"/>
            <a:ext cx="11125200" cy="495300"/>
            <a:chOff x="533400" y="5619750"/>
            <a:chExt cx="11125200" cy="495300"/>
          </a:xfrm>
        </p:grpSpPr>
        <p:sp>
          <p:nvSpPr>
            <p:cNvPr id="39" name="Rectangle 39"/>
            <p:cNvSpPr/>
            <p:nvPr/>
          </p:nvSpPr>
          <p:spPr>
            <a:xfrm>
              <a:off x="533400" y="5619750"/>
              <a:ext cx="11125200" cy="495300"/>
            </a:xfrm>
            <a:prstGeom prst="roundRect">
              <a:avLst>
                <a:gd name="adj" fmla="val 23077"/>
              </a:avLst>
            </a:prstGeom>
            <a:solidFill>
              <a:schemeClr val="accent6"/>
            </a:solidFill>
            <a:ln w="11430">
              <a:solidFill>
                <a:srgbClr val="F7B84B"/>
              </a:solidFill>
            </a:ln>
          </p:spPr>
        </p:sp>
        <p:sp>
          <p:nvSpPr>
            <p:cNvPr id="40" name="Rectangle 40"/>
            <p:cNvSpPr/>
            <p:nvPr/>
          </p:nvSpPr>
          <p:spPr>
            <a:xfrm>
              <a:off x="723900" y="5762625"/>
              <a:ext cx="47625" cy="228600"/>
            </a:xfrm>
            <a:prstGeom prst="roundRect">
              <a:avLst>
                <a:gd name="adj" fmla="val 50000"/>
              </a:avLst>
            </a:prstGeom>
            <a:solidFill>
              <a:srgbClr val="F7B84B"/>
            </a:solidFill>
            <a:ln>
              <a:noFill/>
            </a:ln>
          </p:spPr>
        </p:sp>
        <p:sp>
          <p:nvSpPr>
            <p:cNvPr id="41" name="TextBox 41"/>
            <p:cNvSpPr txBox="1"/>
            <p:nvPr/>
          </p:nvSpPr>
          <p:spPr>
            <a:xfrm>
              <a:off x="908304" y="5814060"/>
              <a:ext cx="876300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Almost all state-of-the-art VQA models fall into the first two categories — this work targets the third.</a:t>
              </a:r>
            </a:p>
          </p:txBody>
        </p:sp>
      </p:grpSp>
      <p:sp>
        <p:nvSpPr>
          <p:cNvPr id="43" name="cue_s02_c1_classic_visual_question_answering_ta" title="cue_s02_c1_classic_visual_question_answering_ta" descr="cue_s02_c1_classic_visual_question_answering_ta In the classic visual question answering task, a model takes an image and a question and returns an answer. The field has poured enormous effort into raising accuracy, thanks to large pre-trained vision-language models, but almost no attention is paid to how a"/>
          <p:cNvSpPr/>
          <p:nvPr/>
        </p:nvSpPr>
        <p:spPr>
          <a:xfrm>
            <a:off x="532790" y="1523847"/>
            <a:ext cx="1112520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2_c2_result_black_box_prediction_right" title="cue_s02_c2_result_black_box_prediction_right" descr="cue_s02_c2_result_black_box_prediction_right The result is a black box: the prediction may be right, yet there is no evidence explaining the reasoning behind it."/>
          <p:cNvSpPr/>
          <p:nvPr/>
        </p:nvSpPr>
        <p:spPr>
          <a:xfrm>
            <a:off x="532790" y="2590952"/>
            <a:ext cx="361980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2_c3_authors_distinguish_three_kinds_mode" title="cue_s02_c3_authors_distinguish_three_kinds_mode" descr="cue_s02_c3_authors_distinguish_three_kinds_mode The authors distinguish three kinds of models: those that give only an answer, those that add a generic caption of the image, and the rare third kind that produces a logically self-contained explanation matching the answer."/>
          <p:cNvSpPr/>
          <p:nvPr/>
        </p:nvSpPr>
        <p:spPr>
          <a:xfrm>
            <a:off x="4381804" y="2590952"/>
            <a:ext cx="727740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2_c4_almost_all_state_of_the_art_vqa_mode" title="cue_s02_c4_almost_all_state_of_the_art_vqa_mode" descr="cue_s02_c4_almost_all_state_of_the_art_vqa_mode Almost all state-of-the-art VQA models fall into the first two categories, which motivates this work."/>
          <p:cNvSpPr/>
          <p:nvPr/>
        </p:nvSpPr>
        <p:spPr>
          <a:xfrm>
            <a:off x="532790" y="5619445"/>
            <a:ext cx="11125200" cy="4951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236202"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MOTIVATION</a:t>
            </a:r>
          </a:p>
        </p:txBody>
      </p:sp>
      <p:sp>
        <p:nvSpPr>
          <p:cNvPr id="5" name="TextBox 5"/>
          <p:cNvSpPr txBox="1"/>
          <p:nvPr/>
        </p:nvSpPr>
        <p:spPr>
          <a:xfrm>
            <a:off x="518160" y="781050"/>
            <a:ext cx="8802195"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Two open questions — and a metric problem</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03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4" name="Group 14"/>
          <p:cNvGrpSpPr/>
          <p:nvPr/>
        </p:nvGrpSpPr>
        <p:grpSpPr>
          <a:xfrm>
            <a:off x="533400" y="1524000"/>
            <a:ext cx="5676900" cy="1905000"/>
            <a:chOff x="533400" y="1524000"/>
            <a:chExt cx="5676900" cy="1905000"/>
          </a:xfrm>
        </p:grpSpPr>
        <p:sp>
          <p:nvSpPr>
            <p:cNvPr id="8" name="Rectangle 8"/>
            <p:cNvSpPr/>
            <p:nvPr/>
          </p:nvSpPr>
          <p:spPr>
            <a:xfrm>
              <a:off x="533400" y="1524000"/>
              <a:ext cx="5676900" cy="1905000"/>
            </a:xfrm>
            <a:prstGeom prst="roundRect">
              <a:avLst>
                <a:gd name="adj" fmla="val 7000"/>
              </a:avLst>
            </a:prstGeom>
            <a:solidFill>
              <a:schemeClr val="accent6"/>
            </a:solidFill>
            <a:ln w="12382">
              <a:solidFill>
                <a:schemeClr val="accent2"/>
              </a:solidFill>
            </a:ln>
          </p:spPr>
        </p:sp>
        <p:sp>
          <p:nvSpPr>
            <p:cNvPr id="9" name="TextBox 9"/>
            <p:cNvSpPr txBox="1"/>
            <p:nvPr/>
          </p:nvSpPr>
          <p:spPr>
            <a:xfrm>
              <a:off x="710946" y="1744028"/>
              <a:ext cx="521010" cy="498729"/>
            </a:xfrm>
            <a:prstGeom prst="rect">
              <a:avLst/>
            </a:prstGeom>
            <a:noFill/>
            <a:ln>
              <a:noFill/>
            </a:ln>
          </p:spPr>
          <p:txBody>
            <a:bodyPr wrap="none" lIns="0" tIns="0" rIns="0" bIns="0" anchor="t" anchorCtr="0">
              <a:spAutoFit/>
            </a:bodyPr>
            <a:lstStyle/>
            <a:p>
              <a:pPr algn="l"/>
              <a:r>
                <a:rPr lang="en-US" sz="2550" b="1" dirty="0">
                  <a:solidFill>
                    <a:schemeClr val="accent2"/>
                  </a:solidFill>
                  <a:latin typeface="Consolas"/>
                  <a:ea typeface="Consolas"/>
                  <a:cs typeface="Consolas"/>
                </a:rPr>
                <a:t>Q1</a:t>
              </a:r>
            </a:p>
          </p:txBody>
        </p:sp>
        <p:sp>
          <p:nvSpPr>
            <p:cNvPr id="10" name="TextBox 10"/>
            <p:cNvSpPr txBox="1"/>
            <p:nvPr/>
          </p:nvSpPr>
          <p:spPr>
            <a:xfrm>
              <a:off x="1326261" y="1770221"/>
              <a:ext cx="269252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Can a VQA model generate a</a:t>
              </a:r>
            </a:p>
          </p:txBody>
        </p:sp>
        <p:sp>
          <p:nvSpPr>
            <p:cNvPr id="11" name="TextBox 11"/>
            <p:cNvSpPr txBox="1"/>
            <p:nvPr/>
          </p:nvSpPr>
          <p:spPr>
            <a:xfrm>
              <a:off x="1326261" y="2017871"/>
              <a:ext cx="305536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human-readable explanation...</a:t>
              </a:r>
            </a:p>
          </p:txBody>
        </p:sp>
        <p:sp>
          <p:nvSpPr>
            <p:cNvPr id="12" name="TextBox 12"/>
            <p:cNvSpPr txBox="1"/>
            <p:nvPr/>
          </p:nvSpPr>
          <p:spPr>
            <a:xfrm>
              <a:off x="718185" y="2526506"/>
              <a:ext cx="377089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...while still maintaining its answer accuracy? The</a:t>
              </a:r>
            </a:p>
          </p:txBody>
        </p:sp>
        <p:sp>
          <p:nvSpPr>
            <p:cNvPr id="13" name="TextBox 13"/>
            <p:cNvSpPr txBox="1"/>
            <p:nvPr/>
          </p:nvSpPr>
          <p:spPr>
            <a:xfrm>
              <a:off x="718185" y="2755106"/>
              <a:ext cx="423311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explanation should never cost the model its correctness.</a:t>
              </a:r>
            </a:p>
          </p:txBody>
        </p:sp>
      </p:grpSp>
      <p:grpSp>
        <p:nvGrpSpPr>
          <p:cNvPr id="21" name="Group 21"/>
          <p:cNvGrpSpPr/>
          <p:nvPr/>
        </p:nvGrpSpPr>
        <p:grpSpPr>
          <a:xfrm>
            <a:off x="533400" y="3638550"/>
            <a:ext cx="5676900" cy="1866900"/>
            <a:chOff x="533400" y="3638550"/>
            <a:chExt cx="5676900" cy="1866900"/>
          </a:xfrm>
        </p:grpSpPr>
        <p:sp>
          <p:nvSpPr>
            <p:cNvPr id="15" name="Rectangle 15"/>
            <p:cNvSpPr/>
            <p:nvPr/>
          </p:nvSpPr>
          <p:spPr>
            <a:xfrm>
              <a:off x="533400" y="3638550"/>
              <a:ext cx="5676900" cy="1866900"/>
            </a:xfrm>
            <a:prstGeom prst="roundRect">
              <a:avLst>
                <a:gd name="adj" fmla="val 7143"/>
              </a:avLst>
            </a:prstGeom>
            <a:solidFill>
              <a:schemeClr val="accent6"/>
            </a:solidFill>
            <a:ln w="12382">
              <a:solidFill>
                <a:srgbClr val="37DCC0"/>
              </a:solidFill>
            </a:ln>
          </p:spPr>
        </p:sp>
        <p:sp>
          <p:nvSpPr>
            <p:cNvPr id="16" name="TextBox 16"/>
            <p:cNvSpPr txBox="1"/>
            <p:nvPr/>
          </p:nvSpPr>
          <p:spPr>
            <a:xfrm>
              <a:off x="710946" y="3858578"/>
              <a:ext cx="521010" cy="498729"/>
            </a:xfrm>
            <a:prstGeom prst="rect">
              <a:avLst/>
            </a:prstGeom>
            <a:noFill/>
            <a:ln>
              <a:noFill/>
            </a:ln>
          </p:spPr>
          <p:txBody>
            <a:bodyPr wrap="none" lIns="0" tIns="0" rIns="0" bIns="0" anchor="t" anchorCtr="0">
              <a:spAutoFit/>
            </a:bodyPr>
            <a:lstStyle/>
            <a:p>
              <a:pPr algn="l"/>
              <a:r>
                <a:rPr lang="en-US" sz="2550" b="1" dirty="0">
                  <a:solidFill>
                    <a:srgbClr val="37DCC0"/>
                  </a:solidFill>
                  <a:latin typeface="Consolas"/>
                  <a:ea typeface="Consolas"/>
                  <a:cs typeface="Consolas"/>
                </a:rPr>
                <a:t>Q2</a:t>
              </a:r>
            </a:p>
          </p:txBody>
        </p:sp>
        <p:sp>
          <p:nvSpPr>
            <p:cNvPr id="17" name="TextBox 17"/>
            <p:cNvSpPr txBox="1"/>
            <p:nvPr/>
          </p:nvSpPr>
          <p:spPr>
            <a:xfrm>
              <a:off x="1326261" y="3884771"/>
              <a:ext cx="329304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How good are those explanations,</a:t>
              </a:r>
            </a:p>
          </p:txBody>
        </p:sp>
        <p:sp>
          <p:nvSpPr>
            <p:cNvPr id="18" name="TextBox 18"/>
            <p:cNvSpPr txBox="1"/>
            <p:nvPr/>
          </p:nvSpPr>
          <p:spPr>
            <a:xfrm>
              <a:off x="1326261" y="4132421"/>
              <a:ext cx="342669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and how do we even evaluate them?</a:t>
              </a:r>
            </a:p>
          </p:txBody>
        </p:sp>
        <p:sp>
          <p:nvSpPr>
            <p:cNvPr id="19" name="TextBox 19"/>
            <p:cNvSpPr txBox="1"/>
            <p:nvPr/>
          </p:nvSpPr>
          <p:spPr>
            <a:xfrm>
              <a:off x="718185" y="4641056"/>
              <a:ext cx="399677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Explanation quality has no agreed, reliable measure to</a:t>
              </a:r>
            </a:p>
          </p:txBody>
        </p:sp>
        <p:sp>
          <p:nvSpPr>
            <p:cNvPr id="20" name="TextBox 20"/>
            <p:cNvSpPr txBox="1"/>
            <p:nvPr/>
          </p:nvSpPr>
          <p:spPr>
            <a:xfrm>
              <a:off x="718185" y="4869656"/>
              <a:ext cx="359232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judge whether it genuinely supports the answer.</a:t>
              </a:r>
            </a:p>
          </p:txBody>
        </p:sp>
      </p:grpSp>
      <p:grpSp>
        <p:nvGrpSpPr>
          <p:cNvPr id="31" name="Group 31"/>
          <p:cNvGrpSpPr/>
          <p:nvPr/>
        </p:nvGrpSpPr>
        <p:grpSpPr>
          <a:xfrm>
            <a:off x="6438900" y="1524000"/>
            <a:ext cx="5219700" cy="2571750"/>
            <a:chOff x="6438900" y="1524000"/>
            <a:chExt cx="5219700" cy="2571750"/>
          </a:xfrm>
        </p:grpSpPr>
        <p:sp>
          <p:nvSpPr>
            <p:cNvPr id="22" name="Rectangle 22"/>
            <p:cNvSpPr/>
            <p:nvPr/>
          </p:nvSpPr>
          <p:spPr>
            <a:xfrm>
              <a:off x="6438900" y="1524000"/>
              <a:ext cx="5219700" cy="2571750"/>
            </a:xfrm>
            <a:prstGeom prst="roundRect">
              <a:avLst>
                <a:gd name="adj" fmla="val 5185"/>
              </a:avLst>
            </a:prstGeom>
            <a:solidFill>
              <a:schemeClr val="accent5"/>
            </a:solidFill>
            <a:ln w="11430">
              <a:solidFill>
                <a:srgbClr val="F2708A"/>
              </a:solidFill>
            </a:ln>
          </p:spPr>
        </p:sp>
        <p:sp>
          <p:nvSpPr>
            <p:cNvPr id="23" name="Rectangle 23"/>
            <p:cNvSpPr/>
            <p:nvPr/>
          </p:nvSpPr>
          <p:spPr>
            <a:xfrm>
              <a:off x="6629400" y="1771650"/>
              <a:ext cx="47625" cy="304800"/>
            </a:xfrm>
            <a:prstGeom prst="roundRect">
              <a:avLst>
                <a:gd name="adj" fmla="val 50000"/>
              </a:avLst>
            </a:prstGeom>
            <a:solidFill>
              <a:srgbClr val="F2708A"/>
            </a:solidFill>
            <a:ln>
              <a:noFill/>
            </a:ln>
          </p:spPr>
        </p:sp>
        <p:sp>
          <p:nvSpPr>
            <p:cNvPr id="24" name="TextBox 24"/>
            <p:cNvSpPr txBox="1"/>
            <p:nvPr/>
          </p:nvSpPr>
          <p:spPr>
            <a:xfrm>
              <a:off x="6832473" y="1824514"/>
              <a:ext cx="251475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BLEU / ROUGE were built for</a:t>
              </a:r>
            </a:p>
          </p:txBody>
        </p:sp>
        <p:sp>
          <p:nvSpPr>
            <p:cNvPr id="25" name="TextBox 25"/>
            <p:cNvSpPr txBox="1"/>
            <p:nvPr/>
          </p:nvSpPr>
          <p:spPr>
            <a:xfrm>
              <a:off x="6832473" y="2053114"/>
              <a:ext cx="2763079"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string matching, not reasoning</a:t>
              </a:r>
            </a:p>
          </p:txBody>
        </p:sp>
        <p:sp>
          <p:nvSpPr>
            <p:cNvPr id="26" name="TextBox 26"/>
            <p:cNvSpPr txBox="1"/>
            <p:nvPr/>
          </p:nvSpPr>
          <p:spPr>
            <a:xfrm>
              <a:off x="6623685" y="2469356"/>
              <a:ext cx="313010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These metrics score overlapping n-grams;</a:t>
              </a:r>
            </a:p>
          </p:txBody>
        </p:sp>
        <p:sp>
          <p:nvSpPr>
            <p:cNvPr id="27" name="TextBox 27"/>
            <p:cNvSpPr txBox="1"/>
            <p:nvPr/>
          </p:nvSpPr>
          <p:spPr>
            <a:xfrm>
              <a:off x="6623685" y="2697956"/>
              <a:ext cx="255197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they say nothing about whether an</a:t>
              </a:r>
            </a:p>
          </p:txBody>
        </p:sp>
        <p:sp>
          <p:nvSpPr>
            <p:cNvPr id="28" name="TextBox 28"/>
            <p:cNvSpPr txBox="1"/>
            <p:nvPr/>
          </p:nvSpPr>
          <p:spPr>
            <a:xfrm>
              <a:off x="6623685" y="2926556"/>
              <a:ext cx="284598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explanation truly supports an answer.</a:t>
              </a:r>
            </a:p>
          </p:txBody>
        </p:sp>
        <p:sp>
          <p:nvSpPr>
            <p:cNvPr id="29" name="Rectangle 29"/>
            <p:cNvSpPr/>
            <p:nvPr/>
          </p:nvSpPr>
          <p:spPr>
            <a:xfrm>
              <a:off x="6629400" y="3543300"/>
              <a:ext cx="4838700" cy="381000"/>
            </a:xfrm>
            <a:prstGeom prst="roundRect">
              <a:avLst>
                <a:gd name="adj" fmla="val 25000"/>
              </a:avLst>
            </a:prstGeom>
            <a:solidFill>
              <a:srgbClr val="301B27"/>
            </a:solidFill>
            <a:ln w="11430">
              <a:solidFill>
                <a:srgbClr val="F2708A"/>
              </a:solidFill>
            </a:ln>
          </p:spPr>
        </p:sp>
        <p:sp>
          <p:nvSpPr>
            <p:cNvPr id="30" name="TextBox 30"/>
            <p:cNvSpPr txBox="1"/>
            <p:nvPr/>
          </p:nvSpPr>
          <p:spPr>
            <a:xfrm>
              <a:off x="6795326" y="3673554"/>
              <a:ext cx="2792059" cy="212693"/>
            </a:xfrm>
            <a:prstGeom prst="rect">
              <a:avLst/>
            </a:prstGeom>
            <a:noFill/>
            <a:ln>
              <a:noFill/>
            </a:ln>
          </p:spPr>
          <p:txBody>
            <a:bodyPr wrap="none" lIns="0" tIns="0" rIns="0" bIns="0" anchor="t" anchorCtr="0">
              <a:spAutoFit/>
            </a:bodyPr>
            <a:lstStyle/>
            <a:p>
              <a:pPr algn="l"/>
              <a:r>
                <a:rPr lang="en-US" sz="1090" b="1" dirty="0">
                  <a:solidFill>
                    <a:srgbClr val="F2708A"/>
                  </a:solidFill>
                  <a:latin typeface="Consolas"/>
                  <a:ea typeface="Consolas"/>
                  <a:cs typeface="Consolas"/>
                </a:rPr>
                <a:t>n-gram overlap is not valid reasoning</a:t>
              </a:r>
            </a:p>
          </p:txBody>
        </p:sp>
      </p:grpSp>
      <p:grpSp>
        <p:nvGrpSpPr>
          <p:cNvPr id="38" name="Group 38"/>
          <p:cNvGrpSpPr/>
          <p:nvPr/>
        </p:nvGrpSpPr>
        <p:grpSpPr>
          <a:xfrm>
            <a:off x="6438900" y="4305300"/>
            <a:ext cx="5219700" cy="1263920"/>
            <a:chOff x="6438900" y="4305300"/>
            <a:chExt cx="5219700" cy="1263920"/>
          </a:xfrm>
        </p:grpSpPr>
        <p:sp>
          <p:nvSpPr>
            <p:cNvPr id="32" name="Rectangle 32"/>
            <p:cNvSpPr/>
            <p:nvPr/>
          </p:nvSpPr>
          <p:spPr>
            <a:xfrm>
              <a:off x="6438900" y="4305300"/>
              <a:ext cx="5219700" cy="1200150"/>
            </a:xfrm>
            <a:prstGeom prst="roundRect">
              <a:avLst>
                <a:gd name="adj" fmla="val 11111"/>
              </a:avLst>
            </a:prstGeom>
            <a:solidFill>
              <a:schemeClr val="accent6"/>
            </a:solidFill>
            <a:ln w="11430">
              <a:solidFill>
                <a:srgbClr val="F7B84B"/>
              </a:solidFill>
            </a:ln>
          </p:spPr>
        </p:sp>
        <p:sp>
          <p:nvSpPr>
            <p:cNvPr id="33" name="Rectangle 33"/>
            <p:cNvSpPr/>
            <p:nvPr/>
          </p:nvSpPr>
          <p:spPr>
            <a:xfrm>
              <a:off x="6629400" y="4552950"/>
              <a:ext cx="47625" cy="704850"/>
            </a:xfrm>
            <a:prstGeom prst="roundRect">
              <a:avLst>
                <a:gd name="adj" fmla="val 50000"/>
              </a:avLst>
            </a:prstGeom>
            <a:solidFill>
              <a:srgbClr val="F7B84B"/>
            </a:solidFill>
            <a:ln>
              <a:noFill/>
            </a:ln>
          </p:spPr>
        </p:sp>
        <p:sp>
          <p:nvSpPr>
            <p:cNvPr id="34" name="TextBox 34"/>
            <p:cNvSpPr txBox="1"/>
            <p:nvPr/>
          </p:nvSpPr>
          <p:spPr>
            <a:xfrm>
              <a:off x="6833044" y="4598908"/>
              <a:ext cx="3223537"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As reasoning problems in VQA grow more</a:t>
              </a:r>
            </a:p>
          </p:txBody>
        </p:sp>
        <p:sp>
          <p:nvSpPr>
            <p:cNvPr id="35" name="TextBox 35"/>
            <p:cNvSpPr txBox="1"/>
            <p:nvPr/>
          </p:nvSpPr>
          <p:spPr>
            <a:xfrm>
              <a:off x="6833044" y="4846558"/>
              <a:ext cx="3405931"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complex, an interpretable, well-evaluated</a:t>
              </a:r>
            </a:p>
          </p:txBody>
        </p:sp>
        <p:sp>
          <p:nvSpPr>
            <p:cNvPr id="36" name="TextBox 36"/>
            <p:cNvSpPr txBox="1"/>
            <p:nvPr/>
          </p:nvSpPr>
          <p:spPr>
            <a:xfrm>
              <a:off x="6833044" y="5094208"/>
              <a:ext cx="2897633"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explanation is no longer optional but</a:t>
              </a:r>
            </a:p>
          </p:txBody>
        </p:sp>
        <p:sp>
          <p:nvSpPr>
            <p:cNvPr id="37" name="TextBox 37"/>
            <p:cNvSpPr txBox="1"/>
            <p:nvPr/>
          </p:nvSpPr>
          <p:spPr>
            <a:xfrm>
              <a:off x="6833044" y="5341858"/>
              <a:ext cx="643085"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urgent.</a:t>
              </a:r>
            </a:p>
          </p:txBody>
        </p:sp>
      </p:grpSp>
      <p:sp>
        <p:nvSpPr>
          <p:cNvPr id="39" name="cue_s03_c1_two_open_questions_drive_first" title="cue_s03_c1_two_open_questions_drive_first" descr="cue_s03_c1_two_open_questions_drive_first Two open questions drive the paper. First, can a VQA model generate a human-readable explanation while still maintaining its answer accuracy?"/>
          <p:cNvSpPr/>
          <p:nvPr/>
        </p:nvSpPr>
        <p:spPr>
          <a:xfrm>
            <a:off x="532790" y="1523847"/>
            <a:ext cx="5676595"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3_c2_second_how_good_those_generated" title="cue_s03_c2_second_how_good_those_generated" descr="cue_s03_c2_second_how_good_those_generated Second, how good are those generated explanations, and how should we even evaluate them?"/>
          <p:cNvSpPr/>
          <p:nvPr/>
        </p:nvSpPr>
        <p:spPr>
          <a:xfrm>
            <a:off x="532790" y="3638854"/>
            <a:ext cx="5676595"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3_c3_existing_explainable_vqa_datasets_su" title="cue_s03_c3_existing_explainable_vqa_datasets_su" descr="cue_s03_c3_existing_explainable_vqa_datasets_su Existing explainable-VQA datasets suggest using conventional natural language metrics such as BLEU and ROUGE, but these were designed for string matching over overlapping n-grams, not for judging whether an explanation truly supports an answer."/>
          <p:cNvSpPr/>
          <p:nvPr/>
        </p:nvSpPr>
        <p:spPr>
          <a:xfrm>
            <a:off x="6438595" y="1523847"/>
            <a:ext cx="5219395" cy="25717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3_c4_authors_argue_reasoning_problems_vqa" title="cue_s03_c4_authors_argue_reasoning_problems_vqa" descr="cue_s03_c4_authors_argue_reasoning_problems_vqa The authors argue that as reasoning problems in VQA grow more complex, having an interpretable, well-evaluated explanation is no longer optional but urgent."/>
          <p:cNvSpPr/>
          <p:nvPr/>
        </p:nvSpPr>
        <p:spPr>
          <a:xfrm>
            <a:off x="6438595" y="4305452"/>
            <a:ext cx="5219395" cy="126392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450757"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CONTRIBUTION</a:t>
            </a:r>
          </a:p>
        </p:txBody>
      </p:sp>
      <p:sp>
        <p:nvSpPr>
          <p:cNvPr id="5" name="TextBox 5"/>
          <p:cNvSpPr txBox="1"/>
          <p:nvPr/>
        </p:nvSpPr>
        <p:spPr>
          <a:xfrm>
            <a:off x="518160" y="781050"/>
            <a:ext cx="9735326"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Two-fold: a method, and an evaluation warning</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04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571500"/>
            <a:chOff x="533400" y="1524000"/>
            <a:chExt cx="11125200" cy="571500"/>
          </a:xfrm>
        </p:grpSpPr>
        <p:sp>
          <p:nvSpPr>
            <p:cNvPr id="8" name="Rectangle 8"/>
            <p:cNvSpPr/>
            <p:nvPr/>
          </p:nvSpPr>
          <p:spPr>
            <a:xfrm>
              <a:off x="533400" y="1524000"/>
              <a:ext cx="11125200" cy="571500"/>
            </a:xfrm>
            <a:prstGeom prst="roundRect">
              <a:avLst>
                <a:gd name="adj" fmla="val 23333"/>
              </a:avLst>
            </a:prstGeom>
            <a:solidFill>
              <a:schemeClr val="accent5"/>
            </a:solidFill>
            <a:ln w="11430">
              <a:solidFill>
                <a:schemeClr val="accent4"/>
              </a:solidFill>
            </a:ln>
          </p:spPr>
        </p:sp>
        <p:sp>
          <p:nvSpPr>
            <p:cNvPr id="9" name="Rectangle 9"/>
            <p:cNvSpPr/>
            <p:nvPr/>
          </p:nvSpPr>
          <p:spPr>
            <a:xfrm>
              <a:off x="723900" y="1685925"/>
              <a:ext cx="47625" cy="247650"/>
            </a:xfrm>
            <a:prstGeom prst="roundRect">
              <a:avLst>
                <a:gd name="adj" fmla="val 50000"/>
              </a:avLst>
            </a:prstGeom>
            <a:solidFill>
              <a:schemeClr val="accent2"/>
            </a:solidFill>
            <a:ln>
              <a:noFill/>
            </a:ln>
          </p:spPr>
        </p:sp>
        <p:sp>
          <p:nvSpPr>
            <p:cNvPr id="10" name="TextBox 10"/>
            <p:cNvSpPr txBox="1"/>
            <p:nvPr/>
          </p:nvSpPr>
          <p:spPr>
            <a:xfrm>
              <a:off x="907732" y="1744266"/>
              <a:ext cx="9676152"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The contribution is two-fold: a simple explanation method, and evidence that evaluation is the bottleneck.</a:t>
              </a:r>
            </a:p>
          </p:txBody>
        </p:sp>
      </p:grpSp>
      <p:grpSp>
        <p:nvGrpSpPr>
          <p:cNvPr id="22" name="Group 22"/>
          <p:cNvGrpSpPr/>
          <p:nvPr/>
        </p:nvGrpSpPr>
        <p:grpSpPr>
          <a:xfrm>
            <a:off x="533400" y="2324100"/>
            <a:ext cx="5448300" cy="2781300"/>
            <a:chOff x="533400" y="2324100"/>
            <a:chExt cx="5448300" cy="2781300"/>
          </a:xfrm>
        </p:grpSpPr>
        <p:sp>
          <p:nvSpPr>
            <p:cNvPr id="12" name="Rectangle 12"/>
            <p:cNvSpPr/>
            <p:nvPr/>
          </p:nvSpPr>
          <p:spPr>
            <a:xfrm>
              <a:off x="533400" y="2324100"/>
              <a:ext cx="5448300" cy="2781300"/>
            </a:xfrm>
            <a:prstGeom prst="roundRect">
              <a:avLst>
                <a:gd name="adj" fmla="val 4795"/>
              </a:avLst>
            </a:prstGeom>
            <a:solidFill>
              <a:schemeClr val="accent5"/>
            </a:solidFill>
            <a:ln w="11430">
              <a:solidFill>
                <a:schemeClr val="accent4"/>
              </a:solidFill>
            </a:ln>
          </p:spPr>
        </p:sp>
        <p:sp>
          <p:nvSpPr>
            <p:cNvPr id="13" name="Rectangle 13"/>
            <p:cNvSpPr/>
            <p:nvPr/>
          </p:nvSpPr>
          <p:spPr>
            <a:xfrm>
              <a:off x="762000" y="2609850"/>
              <a:ext cx="47625" cy="342900"/>
            </a:xfrm>
            <a:prstGeom prst="roundRect">
              <a:avLst>
                <a:gd name="adj" fmla="val 50000"/>
              </a:avLst>
            </a:prstGeom>
            <a:solidFill>
              <a:srgbClr val="37DCC0"/>
            </a:solidFill>
            <a:ln>
              <a:noFill/>
            </a:ln>
          </p:spPr>
        </p:sp>
        <p:sp>
          <p:nvSpPr>
            <p:cNvPr id="14" name="TextBox 14"/>
            <p:cNvSpPr txBox="1"/>
            <p:nvPr/>
          </p:nvSpPr>
          <p:spPr>
            <a:xfrm>
              <a:off x="5199147" y="2542222"/>
              <a:ext cx="571479" cy="674751"/>
            </a:xfrm>
            <a:prstGeom prst="rect">
              <a:avLst/>
            </a:prstGeom>
            <a:noFill/>
            <a:ln>
              <a:noFill/>
            </a:ln>
          </p:spPr>
          <p:txBody>
            <a:bodyPr wrap="none" lIns="0" tIns="0" rIns="0" bIns="0" anchor="t" anchorCtr="0">
              <a:spAutoFit/>
            </a:bodyPr>
            <a:lstStyle/>
            <a:p>
              <a:pPr algn="r"/>
              <a:r>
                <a:rPr lang="en-US" sz="3450" b="1" dirty="0">
                  <a:solidFill>
                    <a:srgbClr val="37DCC0">
                      <a:alphaMod val="50000"/>
                    </a:srgbClr>
                  </a:solidFill>
                  <a:latin typeface="Consolas"/>
                  <a:ea typeface="Consolas"/>
                  <a:cs typeface="Consolas"/>
                </a:rPr>
                <a:t>01</a:t>
              </a:r>
            </a:p>
          </p:txBody>
        </p:sp>
        <p:sp>
          <p:nvSpPr>
            <p:cNvPr id="15" name="TextBox 15"/>
            <p:cNvSpPr txBox="1"/>
            <p:nvPr/>
          </p:nvSpPr>
          <p:spPr>
            <a:xfrm>
              <a:off x="944499" y="2687479"/>
              <a:ext cx="272640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A simple, drop-in method</a:t>
              </a:r>
            </a:p>
          </p:txBody>
        </p:sp>
        <p:sp>
          <p:nvSpPr>
            <p:cNvPr id="16" name="TextBox 16"/>
            <p:cNvSpPr txBox="1"/>
            <p:nvPr/>
          </p:nvSpPr>
          <p:spPr>
            <a:xfrm>
              <a:off x="946594" y="3151108"/>
              <a:ext cx="324203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Easy-to-implement modules sit on top of a</a:t>
              </a:r>
            </a:p>
          </p:txBody>
        </p:sp>
        <p:sp>
          <p:nvSpPr>
            <p:cNvPr id="17" name="TextBox 17"/>
            <p:cNvSpPr txBox="1"/>
            <p:nvPr/>
          </p:nvSpPr>
          <p:spPr>
            <a:xfrm>
              <a:off x="946594" y="3398758"/>
              <a:ext cx="292613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state-of-the-art VQA framework and</a:t>
              </a:r>
            </a:p>
          </p:txBody>
        </p:sp>
        <p:sp>
          <p:nvSpPr>
            <p:cNvPr id="18" name="TextBox 18"/>
            <p:cNvSpPr txBox="1"/>
            <p:nvPr/>
          </p:nvSpPr>
          <p:spPr>
            <a:xfrm>
              <a:off x="946594" y="3646408"/>
              <a:ext cx="303288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maintain VQA accuracy while generating</a:t>
              </a:r>
            </a:p>
          </p:txBody>
        </p:sp>
        <p:sp>
          <p:nvSpPr>
            <p:cNvPr id="19" name="TextBox 19"/>
            <p:cNvSpPr txBox="1"/>
            <p:nvPr/>
          </p:nvSpPr>
          <p:spPr>
            <a:xfrm>
              <a:off x="946594" y="3894058"/>
              <a:ext cx="290075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human-readable textual explanations.</a:t>
              </a:r>
            </a:p>
          </p:txBody>
        </p:sp>
        <p:sp>
          <p:nvSpPr>
            <p:cNvPr id="20" name="Rectangle 20"/>
            <p:cNvSpPr/>
            <p:nvPr/>
          </p:nvSpPr>
          <p:spPr>
            <a:xfrm>
              <a:off x="762000" y="4514850"/>
              <a:ext cx="4991100" cy="419100"/>
            </a:xfrm>
            <a:prstGeom prst="roundRect">
              <a:avLst>
                <a:gd name="adj" fmla="val 22727"/>
              </a:avLst>
            </a:prstGeom>
            <a:solidFill>
              <a:schemeClr val="accent6"/>
            </a:solidFill>
            <a:ln w="10478">
              <a:solidFill>
                <a:srgbClr val="37DCC0"/>
              </a:solidFill>
            </a:ln>
          </p:spPr>
        </p:sp>
        <p:sp>
          <p:nvSpPr>
            <p:cNvPr id="21" name="TextBox 21"/>
            <p:cNvSpPr txBox="1"/>
            <p:nvPr/>
          </p:nvSpPr>
          <p:spPr>
            <a:xfrm>
              <a:off x="1927001" y="4664154"/>
              <a:ext cx="2661098" cy="212693"/>
            </a:xfrm>
            <a:prstGeom prst="rect">
              <a:avLst/>
            </a:prstGeom>
            <a:noFill/>
            <a:ln>
              <a:noFill/>
            </a:ln>
          </p:spPr>
          <p:txBody>
            <a:bodyPr wrap="none" lIns="0" tIns="0" rIns="0" bIns="0" anchor="t" anchorCtr="0">
              <a:spAutoFit/>
            </a:bodyPr>
            <a:lstStyle/>
            <a:p>
              <a:pPr algn="ctr"/>
              <a:r>
                <a:rPr lang="en-US" sz="1090" b="1" dirty="0">
                  <a:solidFill>
                    <a:srgbClr val="37DCC0"/>
                  </a:solidFill>
                  <a:latin typeface="+mn-lt"/>
                  <a:ea typeface="+mn-ea"/>
                  <a:cs typeface="+mn-cs"/>
                </a:rPr>
                <a:t>accuracy kept + explanations added</a:t>
              </a:r>
            </a:p>
          </p:txBody>
        </p:sp>
      </p:grpSp>
      <p:grpSp>
        <p:nvGrpSpPr>
          <p:cNvPr id="33" name="Group 33"/>
          <p:cNvGrpSpPr/>
          <p:nvPr/>
        </p:nvGrpSpPr>
        <p:grpSpPr>
          <a:xfrm>
            <a:off x="6210300" y="2324100"/>
            <a:ext cx="5448300" cy="2781300"/>
            <a:chOff x="6210300" y="2324100"/>
            <a:chExt cx="5448300" cy="2781300"/>
          </a:xfrm>
        </p:grpSpPr>
        <p:sp>
          <p:nvSpPr>
            <p:cNvPr id="23" name="Rectangle 23"/>
            <p:cNvSpPr/>
            <p:nvPr/>
          </p:nvSpPr>
          <p:spPr>
            <a:xfrm>
              <a:off x="6210300" y="2324100"/>
              <a:ext cx="5448300" cy="2781300"/>
            </a:xfrm>
            <a:prstGeom prst="roundRect">
              <a:avLst>
                <a:gd name="adj" fmla="val 4795"/>
              </a:avLst>
            </a:prstGeom>
            <a:solidFill>
              <a:schemeClr val="accent5"/>
            </a:solidFill>
            <a:ln w="11430">
              <a:solidFill>
                <a:schemeClr val="accent4"/>
              </a:solidFill>
            </a:ln>
          </p:spPr>
        </p:sp>
        <p:sp>
          <p:nvSpPr>
            <p:cNvPr id="24" name="Rectangle 24"/>
            <p:cNvSpPr/>
            <p:nvPr/>
          </p:nvSpPr>
          <p:spPr>
            <a:xfrm>
              <a:off x="6438900" y="2609850"/>
              <a:ext cx="47625" cy="342900"/>
            </a:xfrm>
            <a:prstGeom prst="roundRect">
              <a:avLst>
                <a:gd name="adj" fmla="val 50000"/>
              </a:avLst>
            </a:prstGeom>
            <a:solidFill>
              <a:srgbClr val="F7B84B"/>
            </a:solidFill>
            <a:ln>
              <a:noFill/>
            </a:ln>
          </p:spPr>
        </p:sp>
        <p:sp>
          <p:nvSpPr>
            <p:cNvPr id="25" name="TextBox 25"/>
            <p:cNvSpPr txBox="1"/>
            <p:nvPr/>
          </p:nvSpPr>
          <p:spPr>
            <a:xfrm>
              <a:off x="10876047" y="2542222"/>
              <a:ext cx="571479" cy="674751"/>
            </a:xfrm>
            <a:prstGeom prst="rect">
              <a:avLst/>
            </a:prstGeom>
            <a:noFill/>
            <a:ln>
              <a:noFill/>
            </a:ln>
          </p:spPr>
          <p:txBody>
            <a:bodyPr wrap="none" lIns="0" tIns="0" rIns="0" bIns="0" anchor="t" anchorCtr="0">
              <a:spAutoFit/>
            </a:bodyPr>
            <a:lstStyle/>
            <a:p>
              <a:pPr algn="r"/>
              <a:r>
                <a:rPr lang="en-US" sz="3450" b="1" dirty="0">
                  <a:solidFill>
                    <a:srgbClr val="F7B84B">
                      <a:alphaMod val="50000"/>
                    </a:srgbClr>
                  </a:solidFill>
                  <a:latin typeface="Consolas"/>
                  <a:ea typeface="Consolas"/>
                  <a:cs typeface="Consolas"/>
                </a:rPr>
                <a:t>02</a:t>
              </a:r>
            </a:p>
          </p:txBody>
        </p:sp>
        <p:sp>
          <p:nvSpPr>
            <p:cNvPr id="26" name="TextBox 26"/>
            <p:cNvSpPr txBox="1"/>
            <p:nvPr/>
          </p:nvSpPr>
          <p:spPr>
            <a:xfrm>
              <a:off x="6621399" y="2687479"/>
              <a:ext cx="3217546"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Quantitative + a human study</a:t>
              </a:r>
            </a:p>
          </p:txBody>
        </p:sp>
        <p:sp>
          <p:nvSpPr>
            <p:cNvPr id="27" name="TextBox 27"/>
            <p:cNvSpPr txBox="1"/>
            <p:nvPr/>
          </p:nvSpPr>
          <p:spPr>
            <a:xfrm>
              <a:off x="6623494" y="3151108"/>
              <a:ext cx="330385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Both quantitative experimental results and</a:t>
              </a:r>
            </a:p>
          </p:txBody>
        </p:sp>
        <p:sp>
          <p:nvSpPr>
            <p:cNvPr id="28" name="TextBox 28"/>
            <p:cNvSpPr txBox="1"/>
            <p:nvPr/>
          </p:nvSpPr>
          <p:spPr>
            <a:xfrm>
              <a:off x="6623494" y="3398758"/>
              <a:ext cx="277582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a large human study of the proposed</a:t>
              </a:r>
            </a:p>
          </p:txBody>
        </p:sp>
        <p:sp>
          <p:nvSpPr>
            <p:cNvPr id="29" name="TextBox 29"/>
            <p:cNvSpPr txBox="1"/>
            <p:nvPr/>
          </p:nvSpPr>
          <p:spPr>
            <a:xfrm>
              <a:off x="6623494" y="3646408"/>
              <a:ext cx="313445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explainable VQA method give the evidence</a:t>
              </a:r>
            </a:p>
          </p:txBody>
        </p:sp>
        <p:sp>
          <p:nvSpPr>
            <p:cNvPr id="30" name="TextBox 30"/>
            <p:cNvSpPr txBox="1"/>
            <p:nvPr/>
          </p:nvSpPr>
          <p:spPr>
            <a:xfrm>
              <a:off x="6623494" y="3894058"/>
              <a:ext cx="139382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behind the claims.</a:t>
              </a:r>
            </a:p>
          </p:txBody>
        </p:sp>
        <p:sp>
          <p:nvSpPr>
            <p:cNvPr id="31" name="Rectangle 31"/>
            <p:cNvSpPr/>
            <p:nvPr/>
          </p:nvSpPr>
          <p:spPr>
            <a:xfrm>
              <a:off x="6438900" y="4514850"/>
              <a:ext cx="4991100" cy="419100"/>
            </a:xfrm>
            <a:prstGeom prst="roundRect">
              <a:avLst>
                <a:gd name="adj" fmla="val 22727"/>
              </a:avLst>
            </a:prstGeom>
            <a:solidFill>
              <a:schemeClr val="accent6"/>
            </a:solidFill>
            <a:ln w="10478">
              <a:solidFill>
                <a:srgbClr val="F7B84B"/>
              </a:solidFill>
            </a:ln>
          </p:spPr>
        </p:sp>
        <p:sp>
          <p:nvSpPr>
            <p:cNvPr id="32" name="TextBox 32"/>
            <p:cNvSpPr txBox="1"/>
            <p:nvPr/>
          </p:nvSpPr>
          <p:spPr>
            <a:xfrm>
              <a:off x="7981379" y="4664154"/>
              <a:ext cx="1906142" cy="212693"/>
            </a:xfrm>
            <a:prstGeom prst="rect">
              <a:avLst/>
            </a:prstGeom>
            <a:noFill/>
            <a:ln>
              <a:noFill/>
            </a:ln>
          </p:spPr>
          <p:txBody>
            <a:bodyPr wrap="none" lIns="0" tIns="0" rIns="0" bIns="0" anchor="t" anchorCtr="0">
              <a:spAutoFit/>
            </a:bodyPr>
            <a:lstStyle/>
            <a:p>
              <a:pPr algn="ctr"/>
              <a:r>
                <a:rPr lang="en-US" sz="1090" b="1" dirty="0">
                  <a:solidFill>
                    <a:srgbClr val="F7B84B"/>
                  </a:solidFill>
                  <a:latin typeface="+mn-lt"/>
                  <a:ea typeface="+mn-ea"/>
                  <a:cs typeface="+mn-cs"/>
                </a:rPr>
                <a:t>14,205 human judgements</a:t>
              </a:r>
            </a:p>
          </p:txBody>
        </p:sp>
      </p:grpSp>
      <p:grpSp>
        <p:nvGrpSpPr>
          <p:cNvPr id="37" name="Group 37"/>
          <p:cNvGrpSpPr/>
          <p:nvPr/>
        </p:nvGrpSpPr>
        <p:grpSpPr>
          <a:xfrm>
            <a:off x="533400" y="5276850"/>
            <a:ext cx="11125200" cy="552450"/>
            <a:chOff x="533400" y="5276850"/>
            <a:chExt cx="11125200" cy="552450"/>
          </a:xfrm>
        </p:grpSpPr>
        <p:sp>
          <p:nvSpPr>
            <p:cNvPr id="34" name="Rectangle 34"/>
            <p:cNvSpPr/>
            <p:nvPr/>
          </p:nvSpPr>
          <p:spPr>
            <a:xfrm>
              <a:off x="533400" y="5276850"/>
              <a:ext cx="11125200" cy="552450"/>
            </a:xfrm>
            <a:prstGeom prst="roundRect">
              <a:avLst>
                <a:gd name="adj" fmla="val 20690"/>
              </a:avLst>
            </a:prstGeom>
            <a:solidFill>
              <a:schemeClr val="accent6"/>
            </a:solidFill>
            <a:ln w="11430">
              <a:solidFill>
                <a:srgbClr val="F2708A"/>
              </a:solidFill>
            </a:ln>
          </p:spPr>
        </p:sp>
        <p:sp>
          <p:nvSpPr>
            <p:cNvPr id="35" name="Rectangle 35"/>
            <p:cNvSpPr/>
            <p:nvPr/>
          </p:nvSpPr>
          <p:spPr>
            <a:xfrm>
              <a:off x="723900" y="5429250"/>
              <a:ext cx="47625" cy="247650"/>
            </a:xfrm>
            <a:prstGeom prst="roundRect">
              <a:avLst>
                <a:gd name="adj" fmla="val 50000"/>
              </a:avLst>
            </a:prstGeom>
            <a:solidFill>
              <a:srgbClr val="F2708A"/>
            </a:solidFill>
            <a:ln>
              <a:noFill/>
            </a:ln>
          </p:spPr>
        </p:sp>
        <p:sp>
          <p:nvSpPr>
            <p:cNvPr id="36" name="TextBox 36"/>
            <p:cNvSpPr txBox="1"/>
            <p:nvPr/>
          </p:nvSpPr>
          <p:spPr>
            <a:xfrm>
              <a:off x="908114" y="5495687"/>
              <a:ext cx="8659607"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Together they show the urgency of new metrics: today's do not reliably reflect explanation quality.</a:t>
              </a:r>
            </a:p>
          </p:txBody>
        </p:sp>
      </p:grpSp>
      <p:sp>
        <p:nvSpPr>
          <p:cNvPr id="38" name="cue_s04_c1_contribution_two_fold" title="cue_s04_c1_contribution_two_fold" descr="cue_s04_c1_contribution_two_fold The contribution is two-fold."/>
          <p:cNvSpPr/>
          <p:nvPr/>
        </p:nvSpPr>
        <p:spPr>
          <a:xfrm>
            <a:off x="532790" y="1523847"/>
            <a:ext cx="11125200" cy="571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4_c2_first_authors_present_simple_easy_to" title="cue_s04_c2_first_authors_present_simple_easy_to" descr="cue_s04_c2_first_authors_present_simple_easy_to First, the authors present simple, easy-to-implement methods that sit on top of a state-of-the-art VQA framework and maintain VQA accuracy while generating human-readable textual explanations."/>
          <p:cNvSpPr/>
          <p:nvPr/>
        </p:nvSpPr>
        <p:spPr>
          <a:xfrm>
            <a:off x="532790" y="2324176"/>
            <a:ext cx="5448604" cy="27816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4_c3_second_they_provide_both_quantitativ" title="cue_s04_c3_second_they_provide_both_quantitativ" descr="cue_s04_c3_second_they_provide_both_quantitativ Second, they provide both quantitative experimental results and a large human study of the proposed explainable VQA method."/>
          <p:cNvSpPr/>
          <p:nvPr/>
        </p:nvSpPr>
        <p:spPr>
          <a:xfrm>
            <a:off x="6210604" y="2324176"/>
            <a:ext cx="5448604" cy="27816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4_c4_together_these_illustrate_urgency_pr" title="cue_s04_c4_together_these_illustrate_urgency_pr" descr="cue_s04_c4_together_these_illustrate_urgency_pr Together these illustrate the urgency of proposing new metrics to evaluate predicted explanations in vision-language reasoning problems like VQA, since the metrics in common use today do not reliably reflect explanation quality."/>
          <p:cNvSpPr/>
          <p:nvPr/>
        </p:nvSpPr>
        <p:spPr>
          <a:xfrm>
            <a:off x="532790" y="5276545"/>
            <a:ext cx="111252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790365"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METHOD</a:t>
            </a:r>
          </a:p>
        </p:txBody>
      </p:sp>
      <p:sp>
        <p:nvSpPr>
          <p:cNvPr id="5" name="TextBox 5"/>
          <p:cNvSpPr txBox="1"/>
          <p:nvPr/>
        </p:nvSpPr>
        <p:spPr>
          <a:xfrm>
            <a:off x="518160" y="781050"/>
            <a:ext cx="9819461"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Coarse-to-fine reasoning + an explanation head</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05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2" name="Group 12"/>
          <p:cNvGrpSpPr/>
          <p:nvPr/>
        </p:nvGrpSpPr>
        <p:grpSpPr>
          <a:xfrm>
            <a:off x="533400" y="1524000"/>
            <a:ext cx="11125200" cy="914400"/>
            <a:chOff x="533400" y="1524000"/>
            <a:chExt cx="11125200" cy="914400"/>
          </a:xfrm>
        </p:grpSpPr>
        <p:sp>
          <p:nvSpPr>
            <p:cNvPr id="8" name="Rectangle 8"/>
            <p:cNvSpPr/>
            <p:nvPr/>
          </p:nvSpPr>
          <p:spPr>
            <a:xfrm>
              <a:off x="533400" y="1524000"/>
              <a:ext cx="11125200" cy="914400"/>
            </a:xfrm>
            <a:prstGeom prst="roundRect">
              <a:avLst>
                <a:gd name="adj" fmla="val 14583"/>
              </a:avLst>
            </a:prstGeom>
            <a:solidFill>
              <a:schemeClr val="accent6"/>
            </a:solidFill>
            <a:ln w="12382">
              <a:solidFill>
                <a:schemeClr val="accent2"/>
              </a:solidFill>
            </a:ln>
          </p:spPr>
        </p:sp>
        <p:sp>
          <p:nvSpPr>
            <p:cNvPr id="9" name="TextBox 9"/>
            <p:cNvSpPr txBox="1"/>
            <p:nvPr/>
          </p:nvSpPr>
          <p:spPr>
            <a:xfrm>
              <a:off x="717804" y="1680210"/>
              <a:ext cx="7998736"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Two parts: coarse-to-fine visual-language reasoning for the answer + an explanation generator</a:t>
              </a:r>
            </a:p>
          </p:txBody>
        </p:sp>
        <p:sp>
          <p:nvSpPr>
            <p:cNvPr id="10" name="TextBox 10"/>
            <p:cNvSpPr txBox="1"/>
            <p:nvPr/>
          </p:nvSpPr>
          <p:spPr>
            <a:xfrm>
              <a:off x="718756" y="1986201"/>
              <a:ext cx="837540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Faster-RCNN region features &amp; image predicates (GloVe) · question via GloVe + GRU · question predicates via stop-word filter</a:t>
              </a:r>
            </a:p>
          </p:txBody>
        </p:sp>
        <p:sp>
          <p:nvSpPr>
            <p:cNvPr id="11" name="TextBox 11"/>
            <p:cNvSpPr txBox="1"/>
            <p:nvPr/>
          </p:nvSpPr>
          <p:spPr>
            <a:xfrm>
              <a:off x="718566" y="2191702"/>
              <a:ext cx="2737914"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Consolas"/>
                  <a:ea typeface="Consolas"/>
                  <a:cs typeface="Consolas"/>
                </a:rPr>
                <a:t>f_I , p_I , f_Q , p_Q -&gt; CFR backbone</a:t>
              </a:r>
            </a:p>
          </p:txBody>
        </p:sp>
      </p:grpSp>
      <p:grpSp>
        <p:nvGrpSpPr>
          <p:cNvPr id="31" name="Group 31"/>
          <p:cNvGrpSpPr/>
          <p:nvPr/>
        </p:nvGrpSpPr>
        <p:grpSpPr>
          <a:xfrm>
            <a:off x="533400" y="2628900"/>
            <a:ext cx="11125200" cy="1676400"/>
            <a:chOff x="533400" y="2628900"/>
            <a:chExt cx="11125200" cy="1676400"/>
          </a:xfrm>
        </p:grpSpPr>
        <p:sp>
          <p:nvSpPr>
            <p:cNvPr id="13" name="Rectangle 13"/>
            <p:cNvSpPr/>
            <p:nvPr/>
          </p:nvSpPr>
          <p:spPr>
            <a:xfrm>
              <a:off x="533400" y="2628900"/>
              <a:ext cx="3568700" cy="1676400"/>
            </a:xfrm>
            <a:prstGeom prst="roundRect">
              <a:avLst>
                <a:gd name="adj" fmla="val 7955"/>
              </a:avLst>
            </a:prstGeom>
            <a:solidFill>
              <a:schemeClr val="accent5"/>
            </a:solidFill>
            <a:ln w="11430">
              <a:solidFill>
                <a:schemeClr val="accent4"/>
              </a:solidFill>
            </a:ln>
          </p:spPr>
        </p:sp>
        <p:sp>
          <p:nvSpPr>
            <p:cNvPr id="14" name="Rectangle 14"/>
            <p:cNvSpPr/>
            <p:nvPr/>
          </p:nvSpPr>
          <p:spPr>
            <a:xfrm>
              <a:off x="742950" y="2876550"/>
              <a:ext cx="47625" cy="266700"/>
            </a:xfrm>
            <a:prstGeom prst="roundRect">
              <a:avLst>
                <a:gd name="adj" fmla="val 50000"/>
              </a:avLst>
            </a:prstGeom>
            <a:solidFill>
              <a:schemeClr val="accent2"/>
            </a:solidFill>
            <a:ln>
              <a:noFill/>
            </a:ln>
          </p:spPr>
        </p:sp>
        <p:sp>
          <p:nvSpPr>
            <p:cNvPr id="15" name="TextBox 15"/>
            <p:cNvSpPr txBox="1"/>
            <p:nvPr/>
          </p:nvSpPr>
          <p:spPr>
            <a:xfrm>
              <a:off x="908304" y="2937510"/>
              <a:ext cx="1900316"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1 Information filtering</a:t>
              </a:r>
            </a:p>
          </p:txBody>
        </p:sp>
        <p:sp>
          <p:nvSpPr>
            <p:cNvPr id="16" name="TextBox 16"/>
            <p:cNvSpPr txBox="1"/>
            <p:nvPr/>
          </p:nvSpPr>
          <p:spPr>
            <a:xfrm>
              <a:off x="737616" y="3296602"/>
              <a:ext cx="231210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Removes noisy region information</a:t>
              </a:r>
            </a:p>
          </p:txBody>
        </p:sp>
        <p:sp>
          <p:nvSpPr>
            <p:cNvPr id="17" name="TextBox 17"/>
            <p:cNvSpPr txBox="1"/>
            <p:nvPr/>
          </p:nvSpPr>
          <p:spPr>
            <a:xfrm>
              <a:off x="737616" y="3496628"/>
              <a:ext cx="102839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before fusion.</a:t>
              </a:r>
            </a:p>
          </p:txBody>
        </p:sp>
        <p:sp>
          <p:nvSpPr>
            <p:cNvPr id="18" name="Rectangle 18"/>
            <p:cNvSpPr/>
            <p:nvPr/>
          </p:nvSpPr>
          <p:spPr>
            <a:xfrm>
              <a:off x="4311650" y="2628900"/>
              <a:ext cx="3568700" cy="1676400"/>
            </a:xfrm>
            <a:prstGeom prst="roundRect">
              <a:avLst>
                <a:gd name="adj" fmla="val 7955"/>
              </a:avLst>
            </a:prstGeom>
            <a:solidFill>
              <a:schemeClr val="accent5"/>
            </a:solidFill>
            <a:ln w="11430">
              <a:solidFill>
                <a:schemeClr val="accent4"/>
              </a:solidFill>
            </a:ln>
          </p:spPr>
        </p:sp>
        <p:sp>
          <p:nvSpPr>
            <p:cNvPr id="19" name="Rectangle 19"/>
            <p:cNvSpPr/>
            <p:nvPr/>
          </p:nvSpPr>
          <p:spPr>
            <a:xfrm>
              <a:off x="4521200" y="2876550"/>
              <a:ext cx="47625" cy="266700"/>
            </a:xfrm>
            <a:prstGeom prst="roundRect">
              <a:avLst>
                <a:gd name="adj" fmla="val 50000"/>
              </a:avLst>
            </a:prstGeom>
            <a:solidFill>
              <a:srgbClr val="37DCC0"/>
            </a:solidFill>
            <a:ln>
              <a:noFill/>
            </a:ln>
          </p:spPr>
        </p:sp>
        <p:sp>
          <p:nvSpPr>
            <p:cNvPr id="20" name="TextBox 20"/>
            <p:cNvSpPr txBox="1"/>
            <p:nvPr/>
          </p:nvSpPr>
          <p:spPr>
            <a:xfrm>
              <a:off x="4686554" y="2937510"/>
              <a:ext cx="1747769" cy="234696"/>
            </a:xfrm>
            <a:prstGeom prst="rect">
              <a:avLst/>
            </a:prstGeom>
            <a:noFill/>
            <a:ln>
              <a:noFill/>
            </a:ln>
          </p:spPr>
          <p:txBody>
            <a:bodyPr wrap="none" lIns="0" tIns="0" rIns="0" bIns="0" anchor="t" anchorCtr="0">
              <a:spAutoFit/>
            </a:bodyPr>
            <a:lstStyle/>
            <a:p>
              <a:pPr algn="l"/>
              <a:r>
                <a:rPr lang="en-US" sz="1200" b="1" dirty="0">
                  <a:solidFill>
                    <a:srgbClr val="37DCC0"/>
                  </a:solidFill>
                  <a:latin typeface="+mn-lt"/>
                  <a:ea typeface="+mn-ea"/>
                  <a:cs typeface="+mn-cs"/>
                </a:rPr>
                <a:t>2 Multimodal learning</a:t>
              </a:r>
            </a:p>
          </p:txBody>
        </p:sp>
        <p:sp>
          <p:nvSpPr>
            <p:cNvPr id="21" name="TextBox 21"/>
            <p:cNvSpPr txBox="1"/>
            <p:nvPr/>
          </p:nvSpPr>
          <p:spPr>
            <a:xfrm>
              <a:off x="4515866" y="3296602"/>
              <a:ext cx="270788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Bilinear attention networks fuse image</a:t>
              </a:r>
            </a:p>
          </p:txBody>
        </p:sp>
        <p:sp>
          <p:nvSpPr>
            <p:cNvPr id="22" name="TextBox 22"/>
            <p:cNvSpPr txBox="1"/>
            <p:nvPr/>
          </p:nvSpPr>
          <p:spPr>
            <a:xfrm>
              <a:off x="4515866" y="3496628"/>
              <a:ext cx="20178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 question at coarse and fine</a:t>
              </a:r>
            </a:p>
          </p:txBody>
        </p:sp>
        <p:sp>
          <p:nvSpPr>
            <p:cNvPr id="23" name="TextBox 23"/>
            <p:cNvSpPr txBox="1"/>
            <p:nvPr/>
          </p:nvSpPr>
          <p:spPr>
            <a:xfrm>
              <a:off x="4515866" y="3696652"/>
              <a:ext cx="87290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granularity.</a:t>
              </a:r>
            </a:p>
          </p:txBody>
        </p:sp>
        <p:sp>
          <p:nvSpPr>
            <p:cNvPr id="24" name="Rectangle 24"/>
            <p:cNvSpPr/>
            <p:nvPr/>
          </p:nvSpPr>
          <p:spPr>
            <a:xfrm>
              <a:off x="8089900" y="2628900"/>
              <a:ext cx="3568700" cy="1676400"/>
            </a:xfrm>
            <a:prstGeom prst="roundRect">
              <a:avLst>
                <a:gd name="adj" fmla="val 7955"/>
              </a:avLst>
            </a:prstGeom>
            <a:solidFill>
              <a:schemeClr val="accent5"/>
            </a:solidFill>
            <a:ln w="11430">
              <a:solidFill>
                <a:schemeClr val="accent4"/>
              </a:solidFill>
            </a:ln>
          </p:spPr>
        </p:sp>
        <p:sp>
          <p:nvSpPr>
            <p:cNvPr id="25" name="Rectangle 25"/>
            <p:cNvSpPr/>
            <p:nvPr/>
          </p:nvSpPr>
          <p:spPr>
            <a:xfrm>
              <a:off x="8299450" y="2876550"/>
              <a:ext cx="47625" cy="266700"/>
            </a:xfrm>
            <a:prstGeom prst="roundRect">
              <a:avLst>
                <a:gd name="adj" fmla="val 50000"/>
              </a:avLst>
            </a:prstGeom>
            <a:solidFill>
              <a:srgbClr val="B98CF0"/>
            </a:solidFill>
            <a:ln>
              <a:noFill/>
            </a:ln>
          </p:spPr>
        </p:sp>
        <p:sp>
          <p:nvSpPr>
            <p:cNvPr id="26" name="TextBox 26"/>
            <p:cNvSpPr txBox="1"/>
            <p:nvPr/>
          </p:nvSpPr>
          <p:spPr>
            <a:xfrm>
              <a:off x="8464804" y="2937510"/>
              <a:ext cx="1748089" cy="234696"/>
            </a:xfrm>
            <a:prstGeom prst="rect">
              <a:avLst/>
            </a:prstGeom>
            <a:noFill/>
            <a:ln>
              <a:noFill/>
            </a:ln>
          </p:spPr>
          <p:txBody>
            <a:bodyPr wrap="none" lIns="0" tIns="0" rIns="0" bIns="0" anchor="t" anchorCtr="0">
              <a:spAutoFit/>
            </a:bodyPr>
            <a:lstStyle/>
            <a:p>
              <a:pPr algn="l"/>
              <a:r>
                <a:rPr lang="en-US" sz="1200" b="1" dirty="0">
                  <a:solidFill>
                    <a:srgbClr val="B98CF0"/>
                  </a:solidFill>
                  <a:latin typeface="+mn-lt"/>
                  <a:ea typeface="+mn-ea"/>
                  <a:cs typeface="+mn-cs"/>
                </a:rPr>
                <a:t>3 Semantic reasoning</a:t>
              </a:r>
            </a:p>
          </p:txBody>
        </p:sp>
        <p:sp>
          <p:nvSpPr>
            <p:cNvPr id="27" name="TextBox 27"/>
            <p:cNvSpPr txBox="1"/>
            <p:nvPr/>
          </p:nvSpPr>
          <p:spPr>
            <a:xfrm>
              <a:off x="8294116" y="3296602"/>
              <a:ext cx="237568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Combines both levels into one joint</a:t>
              </a:r>
            </a:p>
          </p:txBody>
        </p:sp>
        <p:sp>
          <p:nvSpPr>
            <p:cNvPr id="28" name="TextBox 28"/>
            <p:cNvSpPr txBox="1"/>
            <p:nvPr/>
          </p:nvSpPr>
          <p:spPr>
            <a:xfrm>
              <a:off x="8294116" y="3496628"/>
              <a:ext cx="78103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embedding.</a:t>
              </a:r>
            </a:p>
          </p:txBody>
        </p:sp>
        <p:sp>
          <p:nvSpPr>
            <p:cNvPr id="29" name="TextBox 29"/>
            <p:cNvSpPr txBox="1"/>
            <p:nvPr/>
          </p:nvSpPr>
          <p:spPr>
            <a:xfrm>
              <a:off x="4127762" y="3329940"/>
              <a:ext cx="158225" cy="352044"/>
            </a:xfrm>
            <a:prstGeom prst="rect">
              <a:avLst/>
            </a:prstGeom>
            <a:noFill/>
            <a:ln>
              <a:noFill/>
            </a:ln>
          </p:spPr>
          <p:txBody>
            <a:bodyPr wrap="none" lIns="0" tIns="0" rIns="0" bIns="0" anchor="t" anchorCtr="0">
              <a:spAutoFit/>
            </a:bodyPr>
            <a:lstStyle/>
            <a:p>
              <a:pPr algn="ctr"/>
              <a:r>
                <a:rPr lang="en-US" sz="1800" b="1" dirty="0">
                  <a:solidFill>
                    <a:srgbClr val="6E85AC"/>
                  </a:solidFill>
                  <a:latin typeface="+mn-lt"/>
                  <a:ea typeface="+mn-ea"/>
                  <a:cs typeface="+mn-cs"/>
                </a:rPr>
                <a:t>→</a:t>
              </a:r>
            </a:p>
          </p:txBody>
        </p:sp>
        <p:sp>
          <p:nvSpPr>
            <p:cNvPr id="30" name="TextBox 30"/>
            <p:cNvSpPr txBox="1"/>
            <p:nvPr/>
          </p:nvSpPr>
          <p:spPr>
            <a:xfrm>
              <a:off x="7906012" y="3329940"/>
              <a:ext cx="158225" cy="352044"/>
            </a:xfrm>
            <a:prstGeom prst="rect">
              <a:avLst/>
            </a:prstGeom>
            <a:noFill/>
            <a:ln>
              <a:noFill/>
            </a:ln>
          </p:spPr>
          <p:txBody>
            <a:bodyPr wrap="none" lIns="0" tIns="0" rIns="0" bIns="0" anchor="t" anchorCtr="0">
              <a:spAutoFit/>
            </a:bodyPr>
            <a:lstStyle/>
            <a:p>
              <a:pPr algn="ctr"/>
              <a:r>
                <a:rPr lang="en-US" sz="1800" b="1" dirty="0">
                  <a:solidFill>
                    <a:srgbClr val="6E85AC"/>
                  </a:solidFill>
                  <a:latin typeface="+mn-lt"/>
                  <a:ea typeface="+mn-ea"/>
                  <a:cs typeface="+mn-cs"/>
                </a:rPr>
                <a:t>→</a:t>
              </a:r>
            </a:p>
          </p:txBody>
        </p:sp>
      </p:grpSp>
      <p:grpSp>
        <p:nvGrpSpPr>
          <p:cNvPr id="40" name="Group 40"/>
          <p:cNvGrpSpPr/>
          <p:nvPr/>
        </p:nvGrpSpPr>
        <p:grpSpPr>
          <a:xfrm>
            <a:off x="533400" y="4495800"/>
            <a:ext cx="5676900" cy="1143000"/>
            <a:chOff x="533400" y="4495800"/>
            <a:chExt cx="5676900" cy="1143000"/>
          </a:xfrm>
        </p:grpSpPr>
        <p:sp>
          <p:nvSpPr>
            <p:cNvPr id="32" name="Rectangle 32"/>
            <p:cNvSpPr/>
            <p:nvPr/>
          </p:nvSpPr>
          <p:spPr>
            <a:xfrm>
              <a:off x="533400" y="4495800"/>
              <a:ext cx="5676900" cy="1143000"/>
            </a:xfrm>
            <a:prstGeom prst="roundRect">
              <a:avLst>
                <a:gd name="adj" fmla="val 11667"/>
              </a:avLst>
            </a:prstGeom>
            <a:solidFill>
              <a:schemeClr val="accent5"/>
            </a:solidFill>
            <a:ln w="11430">
              <a:solidFill>
                <a:schemeClr val="accent4"/>
              </a:solidFill>
            </a:ln>
          </p:spPr>
        </p:sp>
        <p:sp>
          <p:nvSpPr>
            <p:cNvPr id="33" name="TextBox 33"/>
            <p:cNvSpPr txBox="1"/>
            <p:nvPr/>
          </p:nvSpPr>
          <p:spPr>
            <a:xfrm>
              <a:off x="717804" y="4690110"/>
              <a:ext cx="2723322"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Joint embedding feeds two heads</a:t>
              </a:r>
            </a:p>
          </p:txBody>
        </p:sp>
        <p:sp>
          <p:nvSpPr>
            <p:cNvPr id="34" name="Rectangle 34"/>
            <p:cNvSpPr/>
            <p:nvPr/>
          </p:nvSpPr>
          <p:spPr>
            <a:xfrm>
              <a:off x="723900" y="4991100"/>
              <a:ext cx="2552700" cy="476250"/>
            </a:xfrm>
            <a:prstGeom prst="roundRect">
              <a:avLst>
                <a:gd name="adj" fmla="val 20000"/>
              </a:avLst>
            </a:prstGeom>
            <a:solidFill>
              <a:schemeClr val="accent6"/>
            </a:solidFill>
            <a:ln w="10478">
              <a:solidFill>
                <a:srgbClr val="57D9A3"/>
              </a:solidFill>
            </a:ln>
          </p:spPr>
        </p:sp>
        <p:sp>
          <p:nvSpPr>
            <p:cNvPr id="35" name="TextBox 35"/>
            <p:cNvSpPr txBox="1"/>
            <p:nvPr/>
          </p:nvSpPr>
          <p:spPr>
            <a:xfrm>
              <a:off x="1484542" y="5083254"/>
              <a:ext cx="1031417"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MLP → answer</a:t>
              </a:r>
            </a:p>
          </p:txBody>
        </p:sp>
        <p:sp>
          <p:nvSpPr>
            <p:cNvPr id="36" name="TextBox 36"/>
            <p:cNvSpPr txBox="1"/>
            <p:nvPr/>
          </p:nvSpPr>
          <p:spPr>
            <a:xfrm>
              <a:off x="1462392" y="5274945"/>
              <a:ext cx="1075715" cy="176212"/>
            </a:xfrm>
            <a:prstGeom prst="rect">
              <a:avLst/>
            </a:prstGeom>
            <a:noFill/>
            <a:ln>
              <a:noFill/>
            </a:ln>
          </p:spPr>
          <p:txBody>
            <a:bodyPr wrap="none" lIns="0" tIns="0" rIns="0" bIns="0" anchor="t" anchorCtr="0">
              <a:spAutoFit/>
            </a:bodyPr>
            <a:lstStyle/>
            <a:p>
              <a:pPr algn="ctr"/>
              <a:r>
                <a:rPr lang="en-US" sz="900" dirty="0">
                  <a:solidFill>
                    <a:schemeClr val="dk2"/>
                  </a:solidFill>
                  <a:latin typeface="+mn-lt"/>
                  <a:ea typeface="+mn-ea"/>
                  <a:cs typeface="+mn-cs"/>
                </a:rPr>
                <a:t>answer prediction</a:t>
              </a:r>
            </a:p>
          </p:txBody>
        </p:sp>
        <p:sp>
          <p:nvSpPr>
            <p:cNvPr id="37" name="Rectangle 37"/>
            <p:cNvSpPr/>
            <p:nvPr/>
          </p:nvSpPr>
          <p:spPr>
            <a:xfrm>
              <a:off x="3467100" y="4991100"/>
              <a:ext cx="2552700" cy="476250"/>
            </a:xfrm>
            <a:prstGeom prst="roundRect">
              <a:avLst>
                <a:gd name="adj" fmla="val 20000"/>
              </a:avLst>
            </a:prstGeom>
            <a:solidFill>
              <a:schemeClr val="accent6"/>
            </a:solidFill>
            <a:ln w="10478">
              <a:solidFill>
                <a:srgbClr val="F7B84B"/>
              </a:solidFill>
            </a:ln>
          </p:spPr>
        </p:sp>
        <p:sp>
          <p:nvSpPr>
            <p:cNvPr id="38" name="TextBox 38"/>
            <p:cNvSpPr txBox="1"/>
            <p:nvPr/>
          </p:nvSpPr>
          <p:spPr>
            <a:xfrm>
              <a:off x="3575809" y="5099447"/>
              <a:ext cx="2335282"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2-layer LSTM / 8-head Transformer</a:t>
              </a:r>
            </a:p>
          </p:txBody>
        </p:sp>
        <p:sp>
          <p:nvSpPr>
            <p:cNvPr id="39" name="TextBox 39"/>
            <p:cNvSpPr txBox="1"/>
            <p:nvPr/>
          </p:nvSpPr>
          <p:spPr>
            <a:xfrm>
              <a:off x="4084434" y="5274945"/>
              <a:ext cx="1318031" cy="176212"/>
            </a:xfrm>
            <a:prstGeom prst="rect">
              <a:avLst/>
            </a:prstGeom>
            <a:noFill/>
            <a:ln>
              <a:noFill/>
            </a:ln>
          </p:spPr>
          <p:txBody>
            <a:bodyPr wrap="none" lIns="0" tIns="0" rIns="0" bIns="0" anchor="t" anchorCtr="0">
              <a:spAutoFit/>
            </a:bodyPr>
            <a:lstStyle/>
            <a:p>
              <a:pPr algn="ctr"/>
              <a:r>
                <a:rPr lang="en-US" sz="900" dirty="0">
                  <a:solidFill>
                    <a:schemeClr val="dk2"/>
                  </a:solidFill>
                  <a:latin typeface="+mn-lt"/>
                  <a:ea typeface="+mn-ea"/>
                  <a:cs typeface="+mn-cs"/>
                </a:rPr>
                <a:t>explanation generator</a:t>
              </a:r>
            </a:p>
          </p:txBody>
        </p:sp>
      </p:grpSp>
      <p:grpSp>
        <p:nvGrpSpPr>
          <p:cNvPr id="45" name="Group 45"/>
          <p:cNvGrpSpPr/>
          <p:nvPr/>
        </p:nvGrpSpPr>
        <p:grpSpPr>
          <a:xfrm>
            <a:off x="6438900" y="4495800"/>
            <a:ext cx="5219700" cy="1143000"/>
            <a:chOff x="6438900" y="4495800"/>
            <a:chExt cx="5219700" cy="1143000"/>
          </a:xfrm>
        </p:grpSpPr>
        <p:sp>
          <p:nvSpPr>
            <p:cNvPr id="41" name="Rectangle 41"/>
            <p:cNvSpPr/>
            <p:nvPr/>
          </p:nvSpPr>
          <p:spPr>
            <a:xfrm>
              <a:off x="6438900" y="4495800"/>
              <a:ext cx="5219700" cy="1143000"/>
            </a:xfrm>
            <a:prstGeom prst="roundRect">
              <a:avLst>
                <a:gd name="adj" fmla="val 11667"/>
              </a:avLst>
            </a:prstGeom>
            <a:solidFill>
              <a:schemeClr val="accent6"/>
            </a:solidFill>
            <a:ln w="12382">
              <a:solidFill>
                <a:schemeClr val="accent2"/>
              </a:solidFill>
            </a:ln>
          </p:spPr>
        </p:sp>
        <p:sp>
          <p:nvSpPr>
            <p:cNvPr id="42" name="TextBox 42"/>
            <p:cNvSpPr txBox="1"/>
            <p:nvPr/>
          </p:nvSpPr>
          <p:spPr>
            <a:xfrm>
              <a:off x="6623685" y="4698206"/>
              <a:ext cx="1505189"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Trained end-to-end</a:t>
              </a:r>
            </a:p>
          </p:txBody>
        </p:sp>
        <p:sp>
          <p:nvSpPr>
            <p:cNvPr id="43" name="TextBox 43"/>
            <p:cNvSpPr txBox="1"/>
            <p:nvPr/>
          </p:nvSpPr>
          <p:spPr>
            <a:xfrm>
              <a:off x="6623304" y="5071110"/>
              <a:ext cx="3219593"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Consolas"/>
                  <a:ea typeface="Consolas"/>
                  <a:cs typeface="Consolas"/>
                </a:rPr>
                <a:t>L = alpha * L_ans + (1 - alpha) * L_expl</a:t>
              </a:r>
            </a:p>
          </p:txBody>
        </p:sp>
        <p:sp>
          <p:nvSpPr>
            <p:cNvPr id="44" name="TextBox 44"/>
            <p:cNvSpPr txBox="1"/>
            <p:nvPr/>
          </p:nvSpPr>
          <p:spPr>
            <a:xfrm>
              <a:off x="6624638" y="5347097"/>
              <a:ext cx="3147786"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answer term + explanation term, balanced by alpha</a:t>
              </a:r>
            </a:p>
          </p:txBody>
        </p:sp>
      </p:grpSp>
      <p:sp>
        <p:nvSpPr>
          <p:cNvPr id="46" name="cue_s05_c1_architecture_two_major_parts_coarse" title="cue_s05_c1_architecture_two_major_parts_coarse" descr="cue_s05_c1_architecture_two_major_parts_coarse The architecture has two major parts: coarse-to-fine visual-language reasoning for the answer, and an explanation generation module. A pre-trained Faster-RCNN extracts region-of-interest features and image predicates such as object and attribute labels, which"/>
          <p:cNvSpPr/>
          <p:nvPr/>
        </p:nvSpPr>
        <p:spPr>
          <a:xfrm>
            <a:off x="532790" y="1523847"/>
            <a:ext cx="11125200"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5_c2_these_signals_flow_through_three" title="cue_s05_c2_these_signals_flow_through_three" descr="cue_s05_c2_these_signals_flow_through_three These signals flow through three modules: information filtering, which removes noisy region information; multimodal learning, which uses bilinear attention networks to fuse image and question at both coarse and fine granularity; and semantic reasoning, which c"/>
          <p:cNvSpPr/>
          <p:nvPr/>
        </p:nvSpPr>
        <p:spPr>
          <a:xfrm>
            <a:off x="532790" y="2628671"/>
            <a:ext cx="111252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3_joint_embedding_sent_both_multi_laye" title="cue_s05_c3_joint_embedding_sent_both_multi_laye" descr="cue_s05_c3_joint_embedding_sent_both_multi_laye That joint embedding is sent both to a multi-layer perceptron for answer prediction and to the explanation generator. Two generator architectures are studied, a two-layer LSTM and an eight-head Transformer decoder, each trained with autoregressive cross-entrop"/>
          <p:cNvSpPr/>
          <p:nvPr/>
        </p:nvSpPr>
        <p:spPr>
          <a:xfrm>
            <a:off x="532790" y="4496104"/>
            <a:ext cx="5676595"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4_whole_system_trained_end_to_end_comb" title="cue_s05_c4_whole_system_trained_end_to_end_comb" descr="cue_s05_c4_whole_system_trained_end_to_end_comb The whole system is trained end-to-end with a combined loss that balances the answer term and the explanation term through a factor alpha."/>
          <p:cNvSpPr/>
          <p:nvPr/>
        </p:nvSpPr>
        <p:spPr>
          <a:xfrm>
            <a:off x="6438595" y="4496104"/>
            <a:ext cx="5219395"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128924"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BENCHMARK</a:t>
            </a:r>
          </a:p>
        </p:txBody>
      </p:sp>
      <p:sp>
        <p:nvSpPr>
          <p:cNvPr id="5" name="TextBox 5"/>
          <p:cNvSpPr txBox="1"/>
          <p:nvPr/>
        </p:nvSpPr>
        <p:spPr>
          <a:xfrm>
            <a:off x="518160" y="781050"/>
            <a:ext cx="8800943"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Two datasets with annotated explanations</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06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571500"/>
            <a:chOff x="533400" y="1524000"/>
            <a:chExt cx="11125200" cy="571500"/>
          </a:xfrm>
        </p:grpSpPr>
        <p:sp>
          <p:nvSpPr>
            <p:cNvPr id="8" name="Rectangle 8"/>
            <p:cNvSpPr/>
            <p:nvPr/>
          </p:nvSpPr>
          <p:spPr>
            <a:xfrm>
              <a:off x="533400" y="1524000"/>
              <a:ext cx="11125200" cy="571500"/>
            </a:xfrm>
            <a:prstGeom prst="roundRect">
              <a:avLst>
                <a:gd name="adj" fmla="val 23333"/>
              </a:avLst>
            </a:prstGeom>
            <a:solidFill>
              <a:schemeClr val="accent5"/>
            </a:solidFill>
            <a:ln w="11430">
              <a:solidFill>
                <a:schemeClr val="accent4"/>
              </a:solidFill>
            </a:ln>
          </p:spPr>
        </p:sp>
        <p:sp>
          <p:nvSpPr>
            <p:cNvPr id="9" name="Rectangle 9"/>
            <p:cNvSpPr/>
            <p:nvPr/>
          </p:nvSpPr>
          <p:spPr>
            <a:xfrm>
              <a:off x="723900" y="1685925"/>
              <a:ext cx="47625" cy="247650"/>
            </a:xfrm>
            <a:prstGeom prst="roundRect">
              <a:avLst>
                <a:gd name="adj" fmla="val 50000"/>
              </a:avLst>
            </a:prstGeom>
            <a:solidFill>
              <a:srgbClr val="37DCC0"/>
            </a:solidFill>
            <a:ln>
              <a:noFill/>
            </a:ln>
          </p:spPr>
        </p:sp>
        <p:sp>
          <p:nvSpPr>
            <p:cNvPr id="10" name="TextBox 10"/>
            <p:cNvSpPr txBox="1"/>
            <p:nvPr/>
          </p:nvSpPr>
          <p:spPr>
            <a:xfrm>
              <a:off x="907732" y="1744266"/>
              <a:ext cx="882446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Very few datasets pair explanations with answers — the authors chose the two largest available.</a:t>
              </a:r>
            </a:p>
          </p:txBody>
        </p:sp>
      </p:grpSp>
      <p:grpSp>
        <p:nvGrpSpPr>
          <p:cNvPr id="26" name="Group 26"/>
          <p:cNvGrpSpPr/>
          <p:nvPr/>
        </p:nvGrpSpPr>
        <p:grpSpPr>
          <a:xfrm>
            <a:off x="533400" y="2324100"/>
            <a:ext cx="5448300" cy="3390900"/>
            <a:chOff x="533400" y="2324100"/>
            <a:chExt cx="5448300" cy="3390900"/>
          </a:xfrm>
        </p:grpSpPr>
        <p:sp>
          <p:nvSpPr>
            <p:cNvPr id="12" name="Rectangle 12"/>
            <p:cNvSpPr/>
            <p:nvPr/>
          </p:nvSpPr>
          <p:spPr>
            <a:xfrm>
              <a:off x="533400" y="2324100"/>
              <a:ext cx="5448300" cy="3390900"/>
            </a:xfrm>
            <a:prstGeom prst="roundRect">
              <a:avLst>
                <a:gd name="adj" fmla="val 3933"/>
              </a:avLst>
            </a:prstGeom>
            <a:solidFill>
              <a:schemeClr val="accent6"/>
            </a:solidFill>
            <a:ln w="12382">
              <a:solidFill>
                <a:schemeClr val="accent2"/>
              </a:solidFill>
            </a:ln>
          </p:spPr>
        </p:sp>
        <p:sp>
          <p:nvSpPr>
            <p:cNvPr id="13" name="Rectangle 13"/>
            <p:cNvSpPr/>
            <p:nvPr/>
          </p:nvSpPr>
          <p:spPr>
            <a:xfrm>
              <a:off x="742950" y="2590800"/>
              <a:ext cx="47625" cy="304800"/>
            </a:xfrm>
            <a:prstGeom prst="roundRect">
              <a:avLst>
                <a:gd name="adj" fmla="val 50000"/>
              </a:avLst>
            </a:prstGeom>
            <a:solidFill>
              <a:schemeClr val="accent2"/>
            </a:solidFill>
            <a:ln>
              <a:noFill/>
            </a:ln>
          </p:spPr>
        </p:sp>
        <p:sp>
          <p:nvSpPr>
            <p:cNvPr id="14" name="TextBox 14"/>
            <p:cNvSpPr txBox="1"/>
            <p:nvPr/>
          </p:nvSpPr>
          <p:spPr>
            <a:xfrm>
              <a:off x="924687" y="2614136"/>
              <a:ext cx="1057912" cy="337376"/>
            </a:xfrm>
            <a:prstGeom prst="rect">
              <a:avLst/>
            </a:prstGeom>
            <a:noFill/>
            <a:ln>
              <a:noFill/>
            </a:ln>
          </p:spPr>
          <p:txBody>
            <a:bodyPr wrap="none" lIns="0" tIns="0" rIns="0" bIns="0" anchor="t" anchorCtr="0">
              <a:spAutoFit/>
            </a:bodyPr>
            <a:lstStyle/>
            <a:p>
              <a:pPr algn="l"/>
              <a:r>
                <a:rPr lang="en-US" sz="1720" b="1" dirty="0">
                  <a:solidFill>
                    <a:schemeClr val="accent2"/>
                  </a:solidFill>
                  <a:latin typeface="+mn-lt"/>
                  <a:ea typeface="+mn-ea"/>
                  <a:cs typeface="+mn-cs"/>
                </a:rPr>
                <a:t>GQA-REX</a:t>
              </a:r>
            </a:p>
          </p:txBody>
        </p:sp>
        <p:sp>
          <p:nvSpPr>
            <p:cNvPr id="15" name="TextBox 15"/>
            <p:cNvSpPr txBox="1"/>
            <p:nvPr/>
          </p:nvSpPr>
          <p:spPr>
            <a:xfrm>
              <a:off x="927926" y="2930604"/>
              <a:ext cx="281593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explanations for ~98% of GQA-balanced</a:t>
              </a:r>
            </a:p>
          </p:txBody>
        </p:sp>
        <p:sp>
          <p:nvSpPr>
            <p:cNvPr id="16" name="Rectangle 16"/>
            <p:cNvSpPr/>
            <p:nvPr/>
          </p:nvSpPr>
          <p:spPr>
            <a:xfrm>
              <a:off x="742950" y="3257550"/>
              <a:ext cx="1574800" cy="914400"/>
            </a:xfrm>
            <a:prstGeom prst="roundRect">
              <a:avLst>
                <a:gd name="adj" fmla="val 10417"/>
              </a:avLst>
            </a:prstGeom>
            <a:solidFill>
              <a:schemeClr val="accent5"/>
            </a:solidFill>
            <a:ln w="11430">
              <a:solidFill>
                <a:schemeClr val="accent4"/>
              </a:solidFill>
            </a:ln>
          </p:spPr>
        </p:sp>
        <p:sp>
          <p:nvSpPr>
            <p:cNvPr id="17" name="TextBox 17"/>
            <p:cNvSpPr txBox="1"/>
            <p:nvPr/>
          </p:nvSpPr>
          <p:spPr>
            <a:xfrm>
              <a:off x="1075069" y="3515201"/>
              <a:ext cx="910563" cy="396050"/>
            </a:xfrm>
            <a:prstGeom prst="rect">
              <a:avLst/>
            </a:prstGeom>
            <a:noFill/>
            <a:ln>
              <a:noFill/>
            </a:ln>
          </p:spPr>
          <p:txBody>
            <a:bodyPr wrap="none" lIns="0" tIns="0" rIns="0" bIns="0" anchor="t" anchorCtr="0">
              <a:spAutoFit/>
            </a:bodyPr>
            <a:lstStyle/>
            <a:p>
              <a:pPr algn="ctr"/>
              <a:r>
                <a:rPr lang="en-US" sz="2020" b="1" dirty="0">
                  <a:solidFill>
                    <a:schemeClr val="dk1"/>
                  </a:solidFill>
                  <a:latin typeface="+mn-lt"/>
                  <a:ea typeface="+mn-ea"/>
                  <a:cs typeface="+mn-cs"/>
                </a:rPr>
                <a:t>1.04M</a:t>
              </a:r>
            </a:p>
          </p:txBody>
        </p:sp>
        <p:sp>
          <p:nvSpPr>
            <p:cNvPr id="18" name="TextBox 18"/>
            <p:cNvSpPr txBox="1"/>
            <p:nvPr/>
          </p:nvSpPr>
          <p:spPr>
            <a:xfrm>
              <a:off x="1284414" y="3888343"/>
              <a:ext cx="491872" cy="169069"/>
            </a:xfrm>
            <a:prstGeom prst="rect">
              <a:avLst/>
            </a:prstGeom>
            <a:noFill/>
            <a:ln>
              <a:noFill/>
            </a:ln>
          </p:spPr>
          <p:txBody>
            <a:bodyPr wrap="none" lIns="0" tIns="0" rIns="0" bIns="0" anchor="t" anchorCtr="0">
              <a:spAutoFit/>
            </a:bodyPr>
            <a:lstStyle/>
            <a:p>
              <a:pPr algn="ctr"/>
              <a:r>
                <a:rPr lang="en-US" sz="860" dirty="0">
                  <a:solidFill>
                    <a:schemeClr val="dk2"/>
                  </a:solidFill>
                  <a:latin typeface="+mn-lt"/>
                  <a:ea typeface="+mn-ea"/>
                  <a:cs typeface="+mn-cs"/>
                </a:rPr>
                <a:t>QA pairs</a:t>
              </a:r>
            </a:p>
          </p:txBody>
        </p:sp>
        <p:sp>
          <p:nvSpPr>
            <p:cNvPr id="19" name="Rectangle 19"/>
            <p:cNvSpPr/>
            <p:nvPr/>
          </p:nvSpPr>
          <p:spPr>
            <a:xfrm>
              <a:off x="2470150" y="3257550"/>
              <a:ext cx="1574800" cy="914400"/>
            </a:xfrm>
            <a:prstGeom prst="roundRect">
              <a:avLst>
                <a:gd name="adj" fmla="val 10417"/>
              </a:avLst>
            </a:prstGeom>
            <a:solidFill>
              <a:schemeClr val="accent5"/>
            </a:solidFill>
            <a:ln w="11430">
              <a:solidFill>
                <a:schemeClr val="accent4"/>
              </a:solidFill>
            </a:ln>
          </p:spPr>
        </p:sp>
        <p:sp>
          <p:nvSpPr>
            <p:cNvPr id="20" name="TextBox 20"/>
            <p:cNvSpPr txBox="1"/>
            <p:nvPr/>
          </p:nvSpPr>
          <p:spPr>
            <a:xfrm>
              <a:off x="2998368" y="3515201"/>
              <a:ext cx="518364" cy="396050"/>
            </a:xfrm>
            <a:prstGeom prst="rect">
              <a:avLst/>
            </a:prstGeom>
            <a:noFill/>
            <a:ln>
              <a:noFill/>
            </a:ln>
          </p:spPr>
          <p:txBody>
            <a:bodyPr wrap="none" lIns="0" tIns="0" rIns="0" bIns="0" anchor="t" anchorCtr="0">
              <a:spAutoFit/>
            </a:bodyPr>
            <a:lstStyle/>
            <a:p>
              <a:pPr algn="ctr"/>
              <a:r>
                <a:rPr lang="en-US" sz="2020" b="1" dirty="0">
                  <a:solidFill>
                    <a:schemeClr val="dk1"/>
                  </a:solidFill>
                  <a:latin typeface="+mn-lt"/>
                  <a:ea typeface="+mn-ea"/>
                  <a:cs typeface="+mn-cs"/>
                </a:rPr>
                <a:t>82K</a:t>
              </a:r>
            </a:p>
          </p:txBody>
        </p:sp>
        <p:sp>
          <p:nvSpPr>
            <p:cNvPr id="21" name="TextBox 21"/>
            <p:cNvSpPr txBox="1"/>
            <p:nvPr/>
          </p:nvSpPr>
          <p:spPr>
            <a:xfrm>
              <a:off x="3064656" y="3888343"/>
              <a:ext cx="385788" cy="169069"/>
            </a:xfrm>
            <a:prstGeom prst="rect">
              <a:avLst/>
            </a:prstGeom>
            <a:noFill/>
            <a:ln>
              <a:noFill/>
            </a:ln>
          </p:spPr>
          <p:txBody>
            <a:bodyPr wrap="none" lIns="0" tIns="0" rIns="0" bIns="0" anchor="t" anchorCtr="0">
              <a:spAutoFit/>
            </a:bodyPr>
            <a:lstStyle/>
            <a:p>
              <a:pPr algn="ctr"/>
              <a:r>
                <a:rPr lang="en-US" sz="860" dirty="0">
                  <a:solidFill>
                    <a:schemeClr val="dk2"/>
                  </a:solidFill>
                  <a:latin typeface="+mn-lt"/>
                  <a:ea typeface="+mn-ea"/>
                  <a:cs typeface="+mn-cs"/>
                </a:rPr>
                <a:t>images</a:t>
              </a:r>
            </a:p>
          </p:txBody>
        </p:sp>
        <p:sp>
          <p:nvSpPr>
            <p:cNvPr id="22" name="Rectangle 22"/>
            <p:cNvSpPr/>
            <p:nvPr/>
          </p:nvSpPr>
          <p:spPr>
            <a:xfrm>
              <a:off x="4197350" y="3257550"/>
              <a:ext cx="1574800" cy="914400"/>
            </a:xfrm>
            <a:prstGeom prst="roundRect">
              <a:avLst>
                <a:gd name="adj" fmla="val 10417"/>
              </a:avLst>
            </a:prstGeom>
            <a:solidFill>
              <a:schemeClr val="accent5"/>
            </a:solidFill>
            <a:ln w="11430">
              <a:solidFill>
                <a:schemeClr val="accent4"/>
              </a:solidFill>
            </a:ln>
          </p:spPr>
        </p:sp>
        <p:sp>
          <p:nvSpPr>
            <p:cNvPr id="23" name="TextBox 23"/>
            <p:cNvSpPr txBox="1"/>
            <p:nvPr/>
          </p:nvSpPr>
          <p:spPr>
            <a:xfrm>
              <a:off x="4895943" y="3515201"/>
              <a:ext cx="177615" cy="396050"/>
            </a:xfrm>
            <a:prstGeom prst="rect">
              <a:avLst/>
            </a:prstGeom>
            <a:noFill/>
            <a:ln>
              <a:noFill/>
            </a:ln>
          </p:spPr>
          <p:txBody>
            <a:bodyPr wrap="none" lIns="0" tIns="0" rIns="0" bIns="0" anchor="t" anchorCtr="0">
              <a:spAutoFit/>
            </a:bodyPr>
            <a:lstStyle/>
            <a:p>
              <a:pPr algn="ctr"/>
              <a:r>
                <a:rPr lang="en-US" sz="2020" b="1" dirty="0">
                  <a:solidFill>
                    <a:schemeClr val="dk1"/>
                  </a:solidFill>
                  <a:latin typeface="+mn-lt"/>
                  <a:ea typeface="+mn-ea"/>
                  <a:cs typeface="+mn-cs"/>
                </a:rPr>
                <a:t>1</a:t>
              </a:r>
            </a:p>
          </p:txBody>
        </p:sp>
        <p:sp>
          <p:nvSpPr>
            <p:cNvPr id="24" name="TextBox 24"/>
            <p:cNvSpPr txBox="1"/>
            <p:nvPr/>
          </p:nvSpPr>
          <p:spPr>
            <a:xfrm>
              <a:off x="4479268" y="3888343"/>
              <a:ext cx="1010963" cy="169069"/>
            </a:xfrm>
            <a:prstGeom prst="rect">
              <a:avLst/>
            </a:prstGeom>
            <a:noFill/>
            <a:ln>
              <a:noFill/>
            </a:ln>
          </p:spPr>
          <p:txBody>
            <a:bodyPr wrap="none" lIns="0" tIns="0" rIns="0" bIns="0" anchor="t" anchorCtr="0">
              <a:spAutoFit/>
            </a:bodyPr>
            <a:lstStyle/>
            <a:p>
              <a:pPr algn="ctr"/>
              <a:r>
                <a:rPr lang="en-US" sz="860" dirty="0">
                  <a:solidFill>
                    <a:schemeClr val="dk2"/>
                  </a:solidFill>
                  <a:latin typeface="+mn-lt"/>
                  <a:ea typeface="+mn-ea"/>
                  <a:cs typeface="+mn-cs"/>
                </a:rPr>
                <a:t>explanation / pair</a:t>
              </a:r>
            </a:p>
          </p:txBody>
        </p:sp>
        <p:sp>
          <p:nvSpPr>
            <p:cNvPr id="25" name="Rectangle 25"/>
            <p:cNvSpPr/>
            <p:nvPr/>
          </p:nvSpPr>
          <p:spPr>
            <a:xfrm>
              <a:off x="742950" y="4362450"/>
              <a:ext cx="5029200" cy="1143000"/>
            </a:xfrm>
            <a:prstGeom prst="roundRect">
              <a:avLst>
                <a:gd name="adj" fmla="val 10000"/>
              </a:avLst>
            </a:prstGeom>
            <a:solidFill>
              <a:srgbClr val="301B27"/>
            </a:solidFill>
            <a:ln w="11430">
              <a:solidFill>
                <a:srgbClr val="F2708A"/>
              </a:solidFill>
            </a:ln>
          </p:spPr>
        </p:sp>
      </p:grpSp>
      <p:grpSp>
        <p:nvGrpSpPr>
          <p:cNvPr id="32" name="Group 32"/>
          <p:cNvGrpSpPr/>
          <p:nvPr/>
        </p:nvGrpSpPr>
        <p:grpSpPr>
          <a:xfrm>
            <a:off x="914400" y="4572000"/>
            <a:ext cx="3167849" cy="945976"/>
            <a:chOff x="914400" y="4572000"/>
            <a:chExt cx="3167849" cy="945976"/>
          </a:xfrm>
        </p:grpSpPr>
        <p:sp>
          <p:nvSpPr>
            <p:cNvPr id="27" name="Rectangle 27"/>
            <p:cNvSpPr/>
            <p:nvPr/>
          </p:nvSpPr>
          <p:spPr>
            <a:xfrm>
              <a:off x="914400" y="4572000"/>
              <a:ext cx="47625" cy="723900"/>
            </a:xfrm>
            <a:prstGeom prst="roundRect">
              <a:avLst>
                <a:gd name="adj" fmla="val 50000"/>
              </a:avLst>
            </a:prstGeom>
            <a:solidFill>
              <a:srgbClr val="F2708A"/>
            </a:solidFill>
            <a:ln>
              <a:noFill/>
            </a:ln>
          </p:spPr>
        </p:sp>
        <p:sp>
          <p:nvSpPr>
            <p:cNvPr id="28" name="TextBox 28"/>
            <p:cNvSpPr txBox="1"/>
            <p:nvPr/>
          </p:nvSpPr>
          <p:spPr>
            <a:xfrm>
              <a:off x="1079944" y="4637008"/>
              <a:ext cx="2690294" cy="227362"/>
            </a:xfrm>
            <a:prstGeom prst="rect">
              <a:avLst/>
            </a:prstGeom>
            <a:noFill/>
            <a:ln>
              <a:noFill/>
            </a:ln>
          </p:spPr>
          <p:txBody>
            <a:bodyPr wrap="none" lIns="0" tIns="0" rIns="0" bIns="0" anchor="t" anchorCtr="0">
              <a:spAutoFit/>
            </a:bodyPr>
            <a:lstStyle/>
            <a:p>
              <a:pPr algn="l"/>
              <a:r>
                <a:rPr lang="en-US" sz="1160" b="1" dirty="0">
                  <a:solidFill>
                    <a:srgbClr val="F2708A"/>
                  </a:solidFill>
                  <a:latin typeface="+mn-lt"/>
                  <a:ea typeface="+mn-ea"/>
                  <a:cs typeface="+mn-cs"/>
                </a:rPr>
                <a:t>But: reasoning-format, not fully</a:t>
              </a:r>
            </a:p>
          </p:txBody>
        </p:sp>
        <p:sp>
          <p:nvSpPr>
            <p:cNvPr id="29" name="TextBox 29"/>
            <p:cNvSpPr txBox="1"/>
            <p:nvPr/>
          </p:nvSpPr>
          <p:spPr>
            <a:xfrm>
              <a:off x="1079944" y="4846558"/>
              <a:ext cx="1266160" cy="227362"/>
            </a:xfrm>
            <a:prstGeom prst="rect">
              <a:avLst/>
            </a:prstGeom>
            <a:noFill/>
            <a:ln>
              <a:noFill/>
            </a:ln>
          </p:spPr>
          <p:txBody>
            <a:bodyPr wrap="none" lIns="0" tIns="0" rIns="0" bIns="0" anchor="t" anchorCtr="0">
              <a:spAutoFit/>
            </a:bodyPr>
            <a:lstStyle/>
            <a:p>
              <a:pPr algn="l"/>
              <a:r>
                <a:rPr lang="en-US" sz="1160" b="1" dirty="0">
                  <a:solidFill>
                    <a:srgbClr val="F2708A"/>
                  </a:solidFill>
                  <a:latin typeface="+mn-lt"/>
                  <a:ea typeface="+mn-ea"/>
                  <a:cs typeface="+mn-cs"/>
                </a:rPr>
                <a:t>human-readable</a:t>
              </a:r>
            </a:p>
          </p:txBody>
        </p:sp>
        <p:sp>
          <p:nvSpPr>
            <p:cNvPr id="30" name="TextBox 30"/>
            <p:cNvSpPr txBox="1"/>
            <p:nvPr/>
          </p:nvSpPr>
          <p:spPr>
            <a:xfrm>
              <a:off x="1080706" y="5129451"/>
              <a:ext cx="300154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follows the reasoning-format of prior work,</a:t>
              </a:r>
            </a:p>
          </p:txBody>
        </p:sp>
        <p:sp>
          <p:nvSpPr>
            <p:cNvPr id="31" name="TextBox 31"/>
            <p:cNvSpPr txBox="1"/>
            <p:nvPr/>
          </p:nvSpPr>
          <p:spPr>
            <a:xfrm>
              <a:off x="1080706" y="5319951"/>
              <a:ext cx="283158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sometimes with grammatical inaccuracies.</a:t>
              </a:r>
            </a:p>
          </p:txBody>
        </p:sp>
      </p:grpSp>
      <p:grpSp>
        <p:nvGrpSpPr>
          <p:cNvPr id="46" name="Group 46"/>
          <p:cNvGrpSpPr/>
          <p:nvPr/>
        </p:nvGrpSpPr>
        <p:grpSpPr>
          <a:xfrm>
            <a:off x="6210300" y="2324100"/>
            <a:ext cx="5448300" cy="3390900"/>
            <a:chOff x="6210300" y="2324100"/>
            <a:chExt cx="5448300" cy="3390900"/>
          </a:xfrm>
        </p:grpSpPr>
        <p:sp>
          <p:nvSpPr>
            <p:cNvPr id="33" name="Rectangle 33"/>
            <p:cNvSpPr/>
            <p:nvPr/>
          </p:nvSpPr>
          <p:spPr>
            <a:xfrm>
              <a:off x="6210300" y="2324100"/>
              <a:ext cx="5448300" cy="3390900"/>
            </a:xfrm>
            <a:prstGeom prst="roundRect">
              <a:avLst>
                <a:gd name="adj" fmla="val 3933"/>
              </a:avLst>
            </a:prstGeom>
            <a:solidFill>
              <a:schemeClr val="accent6"/>
            </a:solidFill>
            <a:ln w="12382">
              <a:solidFill>
                <a:srgbClr val="F7B84B"/>
              </a:solidFill>
            </a:ln>
          </p:spPr>
        </p:sp>
        <p:sp>
          <p:nvSpPr>
            <p:cNvPr id="34" name="Rectangle 34"/>
            <p:cNvSpPr/>
            <p:nvPr/>
          </p:nvSpPr>
          <p:spPr>
            <a:xfrm>
              <a:off x="6419850" y="2590800"/>
              <a:ext cx="47625" cy="304800"/>
            </a:xfrm>
            <a:prstGeom prst="roundRect">
              <a:avLst>
                <a:gd name="adj" fmla="val 50000"/>
              </a:avLst>
            </a:prstGeom>
            <a:solidFill>
              <a:srgbClr val="F7B84B"/>
            </a:solidFill>
            <a:ln>
              <a:noFill/>
            </a:ln>
          </p:spPr>
        </p:sp>
        <p:sp>
          <p:nvSpPr>
            <p:cNvPr id="35" name="TextBox 35"/>
            <p:cNvSpPr txBox="1"/>
            <p:nvPr/>
          </p:nvSpPr>
          <p:spPr>
            <a:xfrm>
              <a:off x="6601587" y="2614136"/>
              <a:ext cx="775338" cy="337376"/>
            </a:xfrm>
            <a:prstGeom prst="rect">
              <a:avLst/>
            </a:prstGeom>
            <a:noFill/>
            <a:ln>
              <a:noFill/>
            </a:ln>
          </p:spPr>
          <p:txBody>
            <a:bodyPr wrap="none" lIns="0" tIns="0" rIns="0" bIns="0" anchor="t" anchorCtr="0">
              <a:spAutoFit/>
            </a:bodyPr>
            <a:lstStyle/>
            <a:p>
              <a:pPr algn="l"/>
              <a:r>
                <a:rPr lang="en-US" sz="1720" b="1" dirty="0">
                  <a:solidFill>
                    <a:srgbClr val="F7B84B"/>
                  </a:solidFill>
                  <a:latin typeface="+mn-lt"/>
                  <a:ea typeface="+mn-ea"/>
                  <a:cs typeface="+mn-cs"/>
                </a:rPr>
                <a:t>VQA-E</a:t>
              </a:r>
            </a:p>
          </p:txBody>
        </p:sp>
        <p:sp>
          <p:nvSpPr>
            <p:cNvPr id="36" name="TextBox 36"/>
            <p:cNvSpPr txBox="1"/>
            <p:nvPr/>
          </p:nvSpPr>
          <p:spPr>
            <a:xfrm>
              <a:off x="6604826" y="2930604"/>
              <a:ext cx="307290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explanations for ~40% of VQA 2.0 QA pairs</a:t>
              </a:r>
            </a:p>
          </p:txBody>
        </p:sp>
        <p:sp>
          <p:nvSpPr>
            <p:cNvPr id="37" name="Rectangle 37"/>
            <p:cNvSpPr/>
            <p:nvPr/>
          </p:nvSpPr>
          <p:spPr>
            <a:xfrm>
              <a:off x="6419850" y="3257550"/>
              <a:ext cx="5029200" cy="914400"/>
            </a:xfrm>
            <a:prstGeom prst="roundRect">
              <a:avLst>
                <a:gd name="adj" fmla="val 10417"/>
              </a:avLst>
            </a:prstGeom>
            <a:solidFill>
              <a:schemeClr val="accent5"/>
            </a:solidFill>
            <a:ln w="11430">
              <a:solidFill>
                <a:schemeClr val="accent4"/>
              </a:solidFill>
            </a:ln>
          </p:spPr>
        </p:sp>
        <p:sp>
          <p:nvSpPr>
            <p:cNvPr id="38" name="TextBox 38"/>
            <p:cNvSpPr txBox="1"/>
            <p:nvPr/>
          </p:nvSpPr>
          <p:spPr>
            <a:xfrm>
              <a:off x="8515167" y="3493770"/>
              <a:ext cx="838566" cy="469392"/>
            </a:xfrm>
            <a:prstGeom prst="rect">
              <a:avLst/>
            </a:prstGeom>
            <a:noFill/>
            <a:ln>
              <a:noFill/>
            </a:ln>
          </p:spPr>
          <p:txBody>
            <a:bodyPr wrap="none" lIns="0" tIns="0" rIns="0" bIns="0" anchor="t" anchorCtr="0">
              <a:spAutoFit/>
            </a:bodyPr>
            <a:lstStyle/>
            <a:p>
              <a:pPr algn="ctr"/>
              <a:r>
                <a:rPr lang="en-US" sz="2400" b="1" dirty="0">
                  <a:solidFill>
                    <a:schemeClr val="dk1"/>
                  </a:solidFill>
                  <a:latin typeface="+mn-lt"/>
                  <a:ea typeface="+mn-ea"/>
                  <a:cs typeface="+mn-cs"/>
                </a:rPr>
                <a:t>~40%</a:t>
              </a:r>
            </a:p>
          </p:txBody>
        </p:sp>
        <p:sp>
          <p:nvSpPr>
            <p:cNvPr id="39" name="TextBox 39"/>
            <p:cNvSpPr txBox="1"/>
            <p:nvPr/>
          </p:nvSpPr>
          <p:spPr>
            <a:xfrm>
              <a:off x="7878323" y="3899297"/>
              <a:ext cx="2112254" cy="183356"/>
            </a:xfrm>
            <a:prstGeom prst="rect">
              <a:avLst/>
            </a:prstGeom>
            <a:noFill/>
            <a:ln>
              <a:noFill/>
            </a:ln>
          </p:spPr>
          <p:txBody>
            <a:bodyPr wrap="none" lIns="0" tIns="0" rIns="0" bIns="0" anchor="t" anchorCtr="0">
              <a:spAutoFit/>
            </a:bodyPr>
            <a:lstStyle/>
            <a:p>
              <a:pPr algn="ctr"/>
              <a:r>
                <a:rPr lang="en-US" sz="940" dirty="0">
                  <a:solidFill>
                    <a:schemeClr val="dk2"/>
                  </a:solidFill>
                  <a:latin typeface="+mn-lt"/>
                  <a:ea typeface="+mn-ea"/>
                  <a:cs typeface="+mn-cs"/>
                </a:rPr>
                <a:t>of VQA 2.0 question-answer pairs</a:t>
              </a:r>
            </a:p>
          </p:txBody>
        </p:sp>
        <p:sp>
          <p:nvSpPr>
            <p:cNvPr id="40" name="Rectangle 40"/>
            <p:cNvSpPr/>
            <p:nvPr/>
          </p:nvSpPr>
          <p:spPr>
            <a:xfrm>
              <a:off x="6419850" y="4362450"/>
              <a:ext cx="5029200" cy="1143000"/>
            </a:xfrm>
            <a:prstGeom prst="roundRect">
              <a:avLst>
                <a:gd name="adj" fmla="val 10000"/>
              </a:avLst>
            </a:prstGeom>
            <a:solidFill>
              <a:srgbClr val="332A18"/>
            </a:solidFill>
            <a:ln w="11430">
              <a:solidFill>
                <a:srgbClr val="F7B84B"/>
              </a:solidFill>
            </a:ln>
          </p:spPr>
        </p:sp>
        <p:sp>
          <p:nvSpPr>
            <p:cNvPr id="41" name="Rectangle 41"/>
            <p:cNvSpPr/>
            <p:nvPr/>
          </p:nvSpPr>
          <p:spPr>
            <a:xfrm>
              <a:off x="6591300" y="4572000"/>
              <a:ext cx="47625" cy="723900"/>
            </a:xfrm>
            <a:prstGeom prst="roundRect">
              <a:avLst>
                <a:gd name="adj" fmla="val 50000"/>
              </a:avLst>
            </a:prstGeom>
            <a:solidFill>
              <a:srgbClr val="F7B84B"/>
            </a:solidFill>
            <a:ln>
              <a:noFill/>
            </a:ln>
          </p:spPr>
        </p:sp>
        <p:sp>
          <p:nvSpPr>
            <p:cNvPr id="42" name="TextBox 42"/>
            <p:cNvSpPr txBox="1"/>
            <p:nvPr/>
          </p:nvSpPr>
          <p:spPr>
            <a:xfrm>
              <a:off x="6756844" y="4637008"/>
              <a:ext cx="2517754" cy="227362"/>
            </a:xfrm>
            <a:prstGeom prst="rect">
              <a:avLst/>
            </a:prstGeom>
            <a:noFill/>
            <a:ln>
              <a:noFill/>
            </a:ln>
          </p:spPr>
          <p:txBody>
            <a:bodyPr wrap="none" lIns="0" tIns="0" rIns="0" bIns="0" anchor="t" anchorCtr="0">
              <a:spAutoFit/>
            </a:bodyPr>
            <a:lstStyle/>
            <a:p>
              <a:pPr algn="l"/>
              <a:r>
                <a:rPr lang="en-US" sz="1160" b="1" dirty="0">
                  <a:solidFill>
                    <a:srgbClr val="F7B84B"/>
                  </a:solidFill>
                  <a:latin typeface="+mn-lt"/>
                  <a:ea typeface="+mn-ea"/>
                  <a:cs typeface="+mn-cs"/>
                </a:rPr>
                <a:t>But: built by matching captions</a:t>
              </a:r>
            </a:p>
          </p:txBody>
        </p:sp>
        <p:sp>
          <p:nvSpPr>
            <p:cNvPr id="43" name="TextBox 43"/>
            <p:cNvSpPr txBox="1"/>
            <p:nvPr/>
          </p:nvSpPr>
          <p:spPr>
            <a:xfrm>
              <a:off x="6757606" y="4938951"/>
              <a:ext cx="283158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so they read more like image captions than</a:t>
              </a:r>
            </a:p>
          </p:txBody>
        </p:sp>
        <p:sp>
          <p:nvSpPr>
            <p:cNvPr id="44" name="TextBox 44"/>
            <p:cNvSpPr txBox="1"/>
            <p:nvPr/>
          </p:nvSpPr>
          <p:spPr>
            <a:xfrm>
              <a:off x="6757606" y="5129451"/>
              <a:ext cx="257778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genuine reasoning. Both datasets have</a:t>
              </a:r>
            </a:p>
          </p:txBody>
        </p:sp>
        <p:sp>
          <p:nvSpPr>
            <p:cNvPr id="45" name="TextBox 45"/>
            <p:cNvSpPr txBox="1"/>
            <p:nvPr/>
          </p:nvSpPr>
          <p:spPr>
            <a:xfrm>
              <a:off x="6757606" y="5319951"/>
              <a:ext cx="173025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acknowledged limitations.</a:t>
              </a:r>
            </a:p>
          </p:txBody>
        </p:sp>
      </p:grpSp>
      <p:sp>
        <p:nvSpPr>
          <p:cNvPr id="47" name="cue_s06_c1_because_very_few_datasets_provide" title="cue_s06_c1_because_very_few_datasets_provide" descr="cue_s06_c1_because_very_few_datasets_provide Because very few datasets provide annotated explanations alongside answers, the authors chose the two largest available."/>
          <p:cNvSpPr/>
          <p:nvPr/>
        </p:nvSpPr>
        <p:spPr>
          <a:xfrm>
            <a:off x="532790" y="1523847"/>
            <a:ext cx="11125200" cy="571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6_c2_gqa_rex_contains_explanations_roughl" title="cue_s06_c2_gqa_rex_contains_explanations_roughl" descr="cue_s06_c2_gqa_rex_contains_explanations_roughl GQA-REX contains explanations for roughly ninety-eight percent of the samples in the GQA-balanced dataset, about 1.04 million question-answer pairs spanning eighty-two thousand images, with one explanation per pair."/>
          <p:cNvSpPr/>
          <p:nvPr/>
        </p:nvSpPr>
        <p:spPr>
          <a:xfrm>
            <a:off x="532790" y="2324176"/>
            <a:ext cx="5448604"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6_c3_however_its_explanations_follow_reas" title="cue_s06_c3_however_its_explanations_follow_reas" descr="cue_s06_c3_however_its_explanations_follow_reas However, its explanations follow the reasoning-format of prior work and are not fully human-readable, sometimes containing grammatical inaccuracies."/>
          <p:cNvSpPr/>
          <p:nvPr/>
        </p:nvSpPr>
        <p:spPr>
          <a:xfrm>
            <a:off x="914400" y="4572228"/>
            <a:ext cx="3167481" cy="94571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6_c4_vqa_e_provides_explanations_about_fo" title="cue_s06_c4_vqa_e_provides_explanations_about_fo" descr="cue_s06_c4_vqa_e_provides_explanations_about_fo VQA-E provides explanations for about forty percent of the question-answer pairs in VQA 2.0, and because those explanations are built by matching captions to the question-answer pair, they tend to read more like image captions than genuine reasoning. Both data"/>
          <p:cNvSpPr/>
          <p:nvPr/>
        </p:nvSpPr>
        <p:spPr>
          <a:xfrm>
            <a:off x="6210604" y="2324176"/>
            <a:ext cx="5448604"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177656"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KEY RESULT</a:t>
            </a:r>
          </a:p>
        </p:txBody>
      </p:sp>
      <p:sp>
        <p:nvSpPr>
          <p:cNvPr id="5" name="TextBox 5"/>
          <p:cNvSpPr txBox="1"/>
          <p:nvPr/>
        </p:nvSpPr>
        <p:spPr>
          <a:xfrm>
            <a:off x="518160" y="781050"/>
            <a:ext cx="8037187"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Explanations come essentially for free</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07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552450"/>
            <a:chOff x="533400" y="1524000"/>
            <a:chExt cx="11125200" cy="552450"/>
          </a:xfrm>
        </p:grpSpPr>
        <p:sp>
          <p:nvSpPr>
            <p:cNvPr id="8" name="Rectangle 8"/>
            <p:cNvSpPr/>
            <p:nvPr/>
          </p:nvSpPr>
          <p:spPr>
            <a:xfrm>
              <a:off x="533400" y="1524000"/>
              <a:ext cx="11125200" cy="552450"/>
            </a:xfrm>
            <a:prstGeom prst="roundRect">
              <a:avLst>
                <a:gd name="adj" fmla="val 20690"/>
              </a:avLst>
            </a:prstGeom>
            <a:solidFill>
              <a:schemeClr val="accent6"/>
            </a:solidFill>
            <a:ln w="12382">
              <a:solidFill>
                <a:srgbClr val="57D9A3"/>
              </a:solidFill>
            </a:ln>
          </p:spPr>
        </p:sp>
        <p:sp>
          <p:nvSpPr>
            <p:cNvPr id="9" name="Rectangle 9"/>
            <p:cNvSpPr/>
            <p:nvPr/>
          </p:nvSpPr>
          <p:spPr>
            <a:xfrm>
              <a:off x="723900" y="1676400"/>
              <a:ext cx="47625" cy="247650"/>
            </a:xfrm>
            <a:prstGeom prst="roundRect">
              <a:avLst>
                <a:gd name="adj" fmla="val 50000"/>
              </a:avLst>
            </a:prstGeom>
            <a:solidFill>
              <a:srgbClr val="57D9A3"/>
            </a:solidFill>
            <a:ln>
              <a:noFill/>
            </a:ln>
          </p:spPr>
        </p:sp>
        <p:sp>
          <p:nvSpPr>
            <p:cNvPr id="10" name="TextBox 10"/>
            <p:cNvSpPr txBox="1"/>
            <p:nvPr/>
          </p:nvSpPr>
          <p:spPr>
            <a:xfrm>
              <a:off x="907542" y="1730692"/>
              <a:ext cx="769122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central result: adding explanation generation does not cost answer accuracy.</a:t>
              </a:r>
            </a:p>
          </p:txBody>
        </p:sp>
      </p:grpSp>
      <p:grpSp>
        <p:nvGrpSpPr>
          <p:cNvPr id="29" name="Group 29"/>
          <p:cNvGrpSpPr/>
          <p:nvPr/>
        </p:nvGrpSpPr>
        <p:grpSpPr>
          <a:xfrm>
            <a:off x="533400" y="2286000"/>
            <a:ext cx="5676900" cy="2819400"/>
            <a:chOff x="533400" y="2286000"/>
            <a:chExt cx="5676900" cy="2819400"/>
          </a:xfrm>
        </p:grpSpPr>
        <p:sp>
          <p:nvSpPr>
            <p:cNvPr id="12" name="Rectangle 12"/>
            <p:cNvSpPr/>
            <p:nvPr/>
          </p:nvSpPr>
          <p:spPr>
            <a:xfrm>
              <a:off x="533400" y="2286000"/>
              <a:ext cx="5676900" cy="2819400"/>
            </a:xfrm>
            <a:prstGeom prst="roundRect">
              <a:avLst>
                <a:gd name="adj" fmla="val 4730"/>
              </a:avLst>
            </a:prstGeom>
            <a:solidFill>
              <a:schemeClr val="accent5"/>
            </a:solidFill>
            <a:ln w="11430">
              <a:solidFill>
                <a:schemeClr val="accent4"/>
              </a:solidFill>
            </a:ln>
          </p:spPr>
        </p:sp>
        <p:sp>
          <p:nvSpPr>
            <p:cNvPr id="13" name="TextBox 13"/>
            <p:cNvSpPr txBox="1"/>
            <p:nvPr/>
          </p:nvSpPr>
          <p:spPr>
            <a:xfrm>
              <a:off x="755714" y="2533412"/>
              <a:ext cx="4236601"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VQA score matches the explanation-free baseline</a:t>
              </a:r>
            </a:p>
          </p:txBody>
        </p:sp>
        <p:sp>
          <p:nvSpPr>
            <p:cNvPr id="14" name="Rectangle 14"/>
            <p:cNvSpPr/>
            <p:nvPr/>
          </p:nvSpPr>
          <p:spPr>
            <a:xfrm>
              <a:off x="1104900" y="3146822"/>
              <a:ext cx="590550" cy="1253728"/>
            </a:xfrm>
            <a:prstGeom prst="roundRect">
              <a:avLst>
                <a:gd name="adj" fmla="val 8065"/>
              </a:avLst>
            </a:prstGeom>
            <a:solidFill>
              <a:srgbClr val="6E85AC"/>
            </a:solidFill>
            <a:ln>
              <a:noFill/>
            </a:ln>
          </p:spPr>
        </p:sp>
        <p:sp>
          <p:nvSpPr>
            <p:cNvPr id="15" name="TextBox 15"/>
            <p:cNvSpPr txBox="1"/>
            <p:nvPr/>
          </p:nvSpPr>
          <p:spPr>
            <a:xfrm>
              <a:off x="1212716" y="2969419"/>
              <a:ext cx="374917"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77.55</a:t>
              </a:r>
            </a:p>
          </p:txBody>
        </p:sp>
        <p:sp>
          <p:nvSpPr>
            <p:cNvPr id="16" name="TextBox 16"/>
            <p:cNvSpPr txBox="1"/>
            <p:nvPr/>
          </p:nvSpPr>
          <p:spPr>
            <a:xfrm>
              <a:off x="1169392" y="4463891"/>
              <a:ext cx="461565" cy="161925"/>
            </a:xfrm>
            <a:prstGeom prst="rect">
              <a:avLst/>
            </a:prstGeom>
            <a:noFill/>
            <a:ln>
              <a:noFill/>
            </a:ln>
          </p:spPr>
          <p:txBody>
            <a:bodyPr wrap="none" lIns="0" tIns="0" rIns="0" bIns="0" anchor="t" anchorCtr="0">
              <a:spAutoFit/>
            </a:bodyPr>
            <a:lstStyle/>
            <a:p>
              <a:pPr algn="ctr"/>
              <a:r>
                <a:rPr lang="en-US" sz="820" b="1" dirty="0">
                  <a:solidFill>
                    <a:srgbClr val="6E85AC"/>
                  </a:solidFill>
                  <a:latin typeface="+mn-lt"/>
                  <a:ea typeface="+mn-ea"/>
                  <a:cs typeface="+mn-cs"/>
                </a:rPr>
                <a:t>baseline</a:t>
              </a:r>
            </a:p>
          </p:txBody>
        </p:sp>
        <p:sp>
          <p:nvSpPr>
            <p:cNvPr id="17" name="Rectangle 17"/>
            <p:cNvSpPr/>
            <p:nvPr/>
          </p:nvSpPr>
          <p:spPr>
            <a:xfrm>
              <a:off x="1905000" y="3151108"/>
              <a:ext cx="590550" cy="1249442"/>
            </a:xfrm>
            <a:prstGeom prst="roundRect">
              <a:avLst>
                <a:gd name="adj" fmla="val 8065"/>
              </a:avLst>
            </a:prstGeom>
            <a:solidFill>
              <a:schemeClr val="accent2"/>
            </a:solidFill>
            <a:ln>
              <a:noFill/>
            </a:ln>
          </p:spPr>
        </p:sp>
        <p:sp>
          <p:nvSpPr>
            <p:cNvPr id="18" name="TextBox 18"/>
            <p:cNvSpPr txBox="1"/>
            <p:nvPr/>
          </p:nvSpPr>
          <p:spPr>
            <a:xfrm>
              <a:off x="2012816" y="2973705"/>
              <a:ext cx="374917"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77.49</a:t>
              </a:r>
            </a:p>
          </p:txBody>
        </p:sp>
        <p:sp>
          <p:nvSpPr>
            <p:cNvPr id="19" name="TextBox 19"/>
            <p:cNvSpPr txBox="1"/>
            <p:nvPr/>
          </p:nvSpPr>
          <p:spPr>
            <a:xfrm>
              <a:off x="1952106" y="4463891"/>
              <a:ext cx="496338" cy="161925"/>
            </a:xfrm>
            <a:prstGeom prst="rect">
              <a:avLst/>
            </a:prstGeom>
            <a:noFill/>
            <a:ln>
              <a:noFill/>
            </a:ln>
          </p:spPr>
          <p:txBody>
            <a:bodyPr wrap="none" lIns="0" tIns="0" rIns="0" bIns="0" anchor="t" anchorCtr="0">
              <a:spAutoFit/>
            </a:bodyPr>
            <a:lstStyle/>
            <a:p>
              <a:pPr algn="ctr"/>
              <a:r>
                <a:rPr lang="en-US" sz="820" b="1" dirty="0">
                  <a:solidFill>
                    <a:srgbClr val="6E85AC"/>
                  </a:solidFill>
                  <a:latin typeface="+mn-lt"/>
                  <a:ea typeface="+mn-ea"/>
                  <a:cs typeface="+mn-cs"/>
                </a:rPr>
                <a:t>+ explain</a:t>
              </a:r>
            </a:p>
          </p:txBody>
        </p:sp>
        <p:sp>
          <p:nvSpPr>
            <p:cNvPr id="20" name="TextBox 20"/>
            <p:cNvSpPr txBox="1"/>
            <p:nvPr/>
          </p:nvSpPr>
          <p:spPr>
            <a:xfrm>
              <a:off x="1489619" y="4634151"/>
              <a:ext cx="621211"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mn-lt"/>
                  <a:ea typeface="+mn-ea"/>
                  <a:cs typeface="+mn-cs"/>
                </a:rPr>
                <a:t>GQA-REX</a:t>
              </a:r>
            </a:p>
          </p:txBody>
        </p:sp>
        <p:sp>
          <p:nvSpPr>
            <p:cNvPr id="21" name="Rectangle 21"/>
            <p:cNvSpPr/>
            <p:nvPr/>
          </p:nvSpPr>
          <p:spPr>
            <a:xfrm>
              <a:off x="3467100" y="3575447"/>
              <a:ext cx="590550" cy="825103"/>
            </a:xfrm>
            <a:prstGeom prst="roundRect">
              <a:avLst>
                <a:gd name="adj" fmla="val 8065"/>
              </a:avLst>
            </a:prstGeom>
            <a:solidFill>
              <a:srgbClr val="6E85AC"/>
            </a:solidFill>
            <a:ln>
              <a:noFill/>
            </a:ln>
          </p:spPr>
        </p:sp>
        <p:sp>
          <p:nvSpPr>
            <p:cNvPr id="22" name="TextBox 22"/>
            <p:cNvSpPr txBox="1"/>
            <p:nvPr/>
          </p:nvSpPr>
          <p:spPr>
            <a:xfrm>
              <a:off x="3574916" y="3398044"/>
              <a:ext cx="374917"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71.55</a:t>
              </a:r>
            </a:p>
          </p:txBody>
        </p:sp>
        <p:sp>
          <p:nvSpPr>
            <p:cNvPr id="23" name="TextBox 23"/>
            <p:cNvSpPr txBox="1"/>
            <p:nvPr/>
          </p:nvSpPr>
          <p:spPr>
            <a:xfrm>
              <a:off x="3531592" y="4463891"/>
              <a:ext cx="461565" cy="161925"/>
            </a:xfrm>
            <a:prstGeom prst="rect">
              <a:avLst/>
            </a:prstGeom>
            <a:noFill/>
            <a:ln>
              <a:noFill/>
            </a:ln>
          </p:spPr>
          <p:txBody>
            <a:bodyPr wrap="none" lIns="0" tIns="0" rIns="0" bIns="0" anchor="t" anchorCtr="0">
              <a:spAutoFit/>
            </a:bodyPr>
            <a:lstStyle/>
            <a:p>
              <a:pPr algn="ctr"/>
              <a:r>
                <a:rPr lang="en-US" sz="820" b="1" dirty="0">
                  <a:solidFill>
                    <a:srgbClr val="6E85AC"/>
                  </a:solidFill>
                  <a:latin typeface="+mn-lt"/>
                  <a:ea typeface="+mn-ea"/>
                  <a:cs typeface="+mn-cs"/>
                </a:rPr>
                <a:t>baseline</a:t>
              </a:r>
            </a:p>
          </p:txBody>
        </p:sp>
        <p:sp>
          <p:nvSpPr>
            <p:cNvPr id="24" name="Rectangle 24"/>
            <p:cNvSpPr/>
            <p:nvPr/>
          </p:nvSpPr>
          <p:spPr>
            <a:xfrm>
              <a:off x="4267200" y="3580448"/>
              <a:ext cx="590550" cy="820103"/>
            </a:xfrm>
            <a:prstGeom prst="roundRect">
              <a:avLst>
                <a:gd name="adj" fmla="val 8065"/>
              </a:avLst>
            </a:prstGeom>
            <a:solidFill>
              <a:schemeClr val="accent2"/>
            </a:solidFill>
            <a:ln>
              <a:noFill/>
            </a:ln>
          </p:spPr>
        </p:sp>
        <p:sp>
          <p:nvSpPr>
            <p:cNvPr id="25" name="TextBox 25"/>
            <p:cNvSpPr txBox="1"/>
            <p:nvPr/>
          </p:nvSpPr>
          <p:spPr>
            <a:xfrm>
              <a:off x="4375016" y="3403044"/>
              <a:ext cx="374917"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71.48</a:t>
              </a:r>
            </a:p>
          </p:txBody>
        </p:sp>
        <p:sp>
          <p:nvSpPr>
            <p:cNvPr id="26" name="TextBox 26"/>
            <p:cNvSpPr txBox="1"/>
            <p:nvPr/>
          </p:nvSpPr>
          <p:spPr>
            <a:xfrm>
              <a:off x="4314306" y="4463891"/>
              <a:ext cx="496338" cy="161925"/>
            </a:xfrm>
            <a:prstGeom prst="rect">
              <a:avLst/>
            </a:prstGeom>
            <a:noFill/>
            <a:ln>
              <a:noFill/>
            </a:ln>
          </p:spPr>
          <p:txBody>
            <a:bodyPr wrap="none" lIns="0" tIns="0" rIns="0" bIns="0" anchor="t" anchorCtr="0">
              <a:spAutoFit/>
            </a:bodyPr>
            <a:lstStyle/>
            <a:p>
              <a:pPr algn="ctr"/>
              <a:r>
                <a:rPr lang="en-US" sz="820" b="1" dirty="0">
                  <a:solidFill>
                    <a:srgbClr val="6E85AC"/>
                  </a:solidFill>
                  <a:latin typeface="+mn-lt"/>
                  <a:ea typeface="+mn-ea"/>
                  <a:cs typeface="+mn-cs"/>
                </a:rPr>
                <a:t>+ explain</a:t>
              </a:r>
            </a:p>
          </p:txBody>
        </p:sp>
        <p:sp>
          <p:nvSpPr>
            <p:cNvPr id="27" name="TextBox 27"/>
            <p:cNvSpPr txBox="1"/>
            <p:nvPr/>
          </p:nvSpPr>
          <p:spPr>
            <a:xfrm>
              <a:off x="3934784" y="4634151"/>
              <a:ext cx="455281"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mn-lt"/>
                  <a:ea typeface="+mn-ea"/>
                  <a:cs typeface="+mn-cs"/>
                </a:rPr>
                <a:t>VQA-E</a:t>
              </a:r>
            </a:p>
          </p:txBody>
        </p:sp>
        <p:sp>
          <p:nvSpPr>
            <p:cNvPr id="28" name="TextBox 28"/>
            <p:cNvSpPr txBox="1"/>
            <p:nvPr/>
          </p:nvSpPr>
          <p:spPr>
            <a:xfrm>
              <a:off x="757047" y="4866799"/>
              <a:ext cx="466474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Varying the balance factor alpha changes the trade-off only marginally.</a:t>
              </a:r>
            </a:p>
          </p:txBody>
        </p:sp>
      </p:grpSp>
      <p:grpSp>
        <p:nvGrpSpPr>
          <p:cNvPr id="42" name="Group 42"/>
          <p:cNvGrpSpPr/>
          <p:nvPr/>
        </p:nvGrpSpPr>
        <p:grpSpPr>
          <a:xfrm>
            <a:off x="6438900" y="2286000"/>
            <a:ext cx="5219700" cy="1676400"/>
            <a:chOff x="6438900" y="2286000"/>
            <a:chExt cx="5219700" cy="1676400"/>
          </a:xfrm>
        </p:grpSpPr>
        <p:sp>
          <p:nvSpPr>
            <p:cNvPr id="30" name="Rectangle 30"/>
            <p:cNvSpPr/>
            <p:nvPr/>
          </p:nvSpPr>
          <p:spPr>
            <a:xfrm>
              <a:off x="6438900" y="2286000"/>
              <a:ext cx="5219700" cy="1676400"/>
            </a:xfrm>
            <a:prstGeom prst="roundRect">
              <a:avLst>
                <a:gd name="adj" fmla="val 7955"/>
              </a:avLst>
            </a:prstGeom>
            <a:solidFill>
              <a:schemeClr val="accent6"/>
            </a:solidFill>
            <a:ln w="12382">
              <a:solidFill>
                <a:srgbClr val="37DCC0"/>
              </a:solidFill>
            </a:ln>
          </p:spPr>
        </p:sp>
        <p:sp>
          <p:nvSpPr>
            <p:cNvPr id="31" name="Rectangle 31"/>
            <p:cNvSpPr/>
            <p:nvPr/>
          </p:nvSpPr>
          <p:spPr>
            <a:xfrm>
              <a:off x="6629400" y="2495550"/>
              <a:ext cx="47625" cy="266700"/>
            </a:xfrm>
            <a:prstGeom prst="roundRect">
              <a:avLst>
                <a:gd name="adj" fmla="val 50000"/>
              </a:avLst>
            </a:prstGeom>
            <a:solidFill>
              <a:srgbClr val="37DCC0"/>
            </a:solidFill>
            <a:ln>
              <a:noFill/>
            </a:ln>
          </p:spPr>
        </p:sp>
        <p:sp>
          <p:nvSpPr>
            <p:cNvPr id="32" name="TextBox 32"/>
            <p:cNvSpPr txBox="1"/>
            <p:nvPr/>
          </p:nvSpPr>
          <p:spPr>
            <a:xfrm>
              <a:off x="6814376" y="2568654"/>
              <a:ext cx="2585587" cy="212693"/>
            </a:xfrm>
            <a:prstGeom prst="rect">
              <a:avLst/>
            </a:prstGeom>
            <a:noFill/>
            <a:ln>
              <a:noFill/>
            </a:ln>
          </p:spPr>
          <p:txBody>
            <a:bodyPr wrap="none" lIns="0" tIns="0" rIns="0" bIns="0" anchor="t" anchorCtr="0">
              <a:spAutoFit/>
            </a:bodyPr>
            <a:lstStyle/>
            <a:p>
              <a:pPr algn="l"/>
              <a:r>
                <a:rPr lang="en-US" sz="1090" b="1" dirty="0">
                  <a:solidFill>
                    <a:srgbClr val="37DCC0"/>
                  </a:solidFill>
                  <a:latin typeface="+mn-lt"/>
                  <a:ea typeface="+mn-ea"/>
                  <a:cs typeface="+mn-cs"/>
                </a:rPr>
                <a:t>CFRF + LSTM beats prior on VQA-E</a:t>
              </a:r>
            </a:p>
          </p:txBody>
        </p:sp>
        <p:sp>
          <p:nvSpPr>
            <p:cNvPr id="33" name="TextBox 33"/>
            <p:cNvSpPr txBox="1"/>
            <p:nvPr/>
          </p:nvSpPr>
          <p:spPr>
            <a:xfrm>
              <a:off x="6624638" y="2874645"/>
              <a:ext cx="422977" cy="176212"/>
            </a:xfrm>
            <a:prstGeom prst="rect">
              <a:avLst/>
            </a:prstGeom>
            <a:noFill/>
            <a:ln>
              <a:noFill/>
            </a:ln>
          </p:spPr>
          <p:txBody>
            <a:bodyPr wrap="none" lIns="0" tIns="0" rIns="0" bIns="0" anchor="t" anchorCtr="0">
              <a:spAutoFit/>
            </a:bodyPr>
            <a:lstStyle/>
            <a:p>
              <a:pPr algn="l"/>
              <a:r>
                <a:rPr lang="en-US" sz="900" b="1" dirty="0">
                  <a:solidFill>
                    <a:srgbClr val="6E85AC"/>
                  </a:solidFill>
                  <a:latin typeface="Consolas"/>
                  <a:ea typeface="Consolas"/>
                  <a:cs typeface="Consolas"/>
                </a:rPr>
                <a:t>metric</a:t>
              </a:r>
            </a:p>
          </p:txBody>
        </p:sp>
        <p:sp>
          <p:nvSpPr>
            <p:cNvPr id="34" name="TextBox 34"/>
            <p:cNvSpPr txBox="1"/>
            <p:nvPr/>
          </p:nvSpPr>
          <p:spPr>
            <a:xfrm>
              <a:off x="10288048" y="2874645"/>
              <a:ext cx="327565" cy="176212"/>
            </a:xfrm>
            <a:prstGeom prst="rect">
              <a:avLst/>
            </a:prstGeom>
            <a:noFill/>
            <a:ln>
              <a:noFill/>
            </a:ln>
          </p:spPr>
          <p:txBody>
            <a:bodyPr wrap="none" lIns="0" tIns="0" rIns="0" bIns="0" anchor="t" anchorCtr="0">
              <a:spAutoFit/>
            </a:bodyPr>
            <a:lstStyle/>
            <a:p>
              <a:pPr algn="r"/>
              <a:r>
                <a:rPr lang="en-US" sz="900" b="1" dirty="0">
                  <a:solidFill>
                    <a:srgbClr val="6E85AC"/>
                  </a:solidFill>
                  <a:latin typeface="Consolas"/>
                  <a:ea typeface="Consolas"/>
                  <a:cs typeface="Consolas"/>
                </a:rPr>
                <a:t>prior</a:t>
              </a:r>
            </a:p>
          </p:txBody>
        </p:sp>
        <p:sp>
          <p:nvSpPr>
            <p:cNvPr id="35" name="TextBox 35"/>
            <p:cNvSpPr txBox="1"/>
            <p:nvPr/>
          </p:nvSpPr>
          <p:spPr>
            <a:xfrm>
              <a:off x="11183463" y="2874645"/>
              <a:ext cx="289400" cy="176212"/>
            </a:xfrm>
            <a:prstGeom prst="rect">
              <a:avLst/>
            </a:prstGeom>
            <a:noFill/>
            <a:ln>
              <a:noFill/>
            </a:ln>
          </p:spPr>
          <p:txBody>
            <a:bodyPr wrap="none" lIns="0" tIns="0" rIns="0" bIns="0" anchor="t" anchorCtr="0">
              <a:spAutoFit/>
            </a:bodyPr>
            <a:lstStyle/>
            <a:p>
              <a:pPr algn="r"/>
              <a:r>
                <a:rPr lang="en-US" sz="900" b="1" dirty="0">
                  <a:solidFill>
                    <a:srgbClr val="57D9A3"/>
                  </a:solidFill>
                  <a:latin typeface="Consolas"/>
                  <a:ea typeface="Consolas"/>
                  <a:cs typeface="Consolas"/>
                </a:rPr>
                <a:t>ours</a:t>
              </a:r>
            </a:p>
          </p:txBody>
        </p:sp>
        <p:sp>
          <p:nvSpPr>
            <p:cNvPr id="36" name="TextBox 36"/>
            <p:cNvSpPr txBox="1"/>
            <p:nvPr/>
          </p:nvSpPr>
          <p:spPr>
            <a:xfrm>
              <a:off x="6623876" y="3102054"/>
              <a:ext cx="548268"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BLEU-1</a:t>
              </a:r>
            </a:p>
          </p:txBody>
        </p:sp>
        <p:sp>
          <p:nvSpPr>
            <p:cNvPr id="37" name="TextBox 37"/>
            <p:cNvSpPr txBox="1"/>
            <p:nvPr/>
          </p:nvSpPr>
          <p:spPr>
            <a:xfrm>
              <a:off x="10181626" y="3102054"/>
              <a:ext cx="434749" cy="212693"/>
            </a:xfrm>
            <a:prstGeom prst="rect">
              <a:avLst/>
            </a:prstGeom>
            <a:noFill/>
            <a:ln>
              <a:noFill/>
            </a:ln>
          </p:spPr>
          <p:txBody>
            <a:bodyPr wrap="none" lIns="0" tIns="0" rIns="0" bIns="0" anchor="t" anchorCtr="0">
              <a:spAutoFit/>
            </a:bodyPr>
            <a:lstStyle/>
            <a:p>
              <a:pPr algn="r"/>
              <a:r>
                <a:rPr lang="en-US" sz="1090" b="1" dirty="0">
                  <a:solidFill>
                    <a:schemeClr val="dk2"/>
                  </a:solidFill>
                  <a:latin typeface="Consolas"/>
                  <a:ea typeface="Consolas"/>
                  <a:cs typeface="Consolas"/>
                </a:rPr>
                <a:t>0.268</a:t>
              </a:r>
            </a:p>
          </p:txBody>
        </p:sp>
        <p:sp>
          <p:nvSpPr>
            <p:cNvPr id="38" name="TextBox 38"/>
            <p:cNvSpPr txBox="1"/>
            <p:nvPr/>
          </p:nvSpPr>
          <p:spPr>
            <a:xfrm>
              <a:off x="11101467" y="3093958"/>
              <a:ext cx="372539" cy="227362"/>
            </a:xfrm>
            <a:prstGeom prst="rect">
              <a:avLst/>
            </a:prstGeom>
            <a:noFill/>
            <a:ln>
              <a:noFill/>
            </a:ln>
          </p:spPr>
          <p:txBody>
            <a:bodyPr wrap="none" lIns="0" tIns="0" rIns="0" bIns="0" anchor="t" anchorCtr="0">
              <a:spAutoFit/>
            </a:bodyPr>
            <a:lstStyle/>
            <a:p>
              <a:pPr algn="r"/>
              <a:r>
                <a:rPr lang="en-US" sz="1160" b="1" dirty="0">
                  <a:solidFill>
                    <a:srgbClr val="57D9A3"/>
                  </a:solidFill>
                  <a:latin typeface="Consolas"/>
                  <a:ea typeface="Consolas"/>
                  <a:cs typeface="Consolas"/>
                </a:rPr>
                <a:t>0.33</a:t>
              </a:r>
            </a:p>
          </p:txBody>
        </p:sp>
        <p:sp>
          <p:nvSpPr>
            <p:cNvPr id="39" name="TextBox 39"/>
            <p:cNvSpPr txBox="1"/>
            <p:nvPr/>
          </p:nvSpPr>
          <p:spPr>
            <a:xfrm>
              <a:off x="6623876" y="3387804"/>
              <a:ext cx="670363"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ROUGE-L</a:t>
              </a:r>
            </a:p>
          </p:txBody>
        </p:sp>
        <p:sp>
          <p:nvSpPr>
            <p:cNvPr id="40" name="TextBox 40"/>
            <p:cNvSpPr txBox="1"/>
            <p:nvPr/>
          </p:nvSpPr>
          <p:spPr>
            <a:xfrm>
              <a:off x="10181626" y="3387804"/>
              <a:ext cx="434749" cy="212693"/>
            </a:xfrm>
            <a:prstGeom prst="rect">
              <a:avLst/>
            </a:prstGeom>
            <a:noFill/>
            <a:ln>
              <a:noFill/>
            </a:ln>
          </p:spPr>
          <p:txBody>
            <a:bodyPr wrap="none" lIns="0" tIns="0" rIns="0" bIns="0" anchor="t" anchorCtr="0">
              <a:spAutoFit/>
            </a:bodyPr>
            <a:lstStyle/>
            <a:p>
              <a:pPr algn="r"/>
              <a:r>
                <a:rPr lang="en-US" sz="1090" b="1" dirty="0">
                  <a:solidFill>
                    <a:schemeClr val="dk2"/>
                  </a:solidFill>
                  <a:latin typeface="Consolas"/>
                  <a:ea typeface="Consolas"/>
                  <a:cs typeface="Consolas"/>
                </a:rPr>
                <a:t>0.249</a:t>
              </a:r>
            </a:p>
          </p:txBody>
        </p:sp>
        <p:sp>
          <p:nvSpPr>
            <p:cNvPr id="41" name="TextBox 41"/>
            <p:cNvSpPr txBox="1"/>
            <p:nvPr/>
          </p:nvSpPr>
          <p:spPr>
            <a:xfrm>
              <a:off x="11011285" y="3379708"/>
              <a:ext cx="462721" cy="227362"/>
            </a:xfrm>
            <a:prstGeom prst="rect">
              <a:avLst/>
            </a:prstGeom>
            <a:noFill/>
            <a:ln>
              <a:noFill/>
            </a:ln>
          </p:spPr>
          <p:txBody>
            <a:bodyPr wrap="none" lIns="0" tIns="0" rIns="0" bIns="0" anchor="t" anchorCtr="0">
              <a:spAutoFit/>
            </a:bodyPr>
            <a:lstStyle/>
            <a:p>
              <a:pPr algn="r"/>
              <a:r>
                <a:rPr lang="en-US" sz="1160" b="1" dirty="0">
                  <a:solidFill>
                    <a:srgbClr val="57D9A3"/>
                  </a:solidFill>
                  <a:latin typeface="Consolas"/>
                  <a:ea typeface="Consolas"/>
                  <a:cs typeface="Consolas"/>
                </a:rPr>
                <a:t>0.325</a:t>
              </a:r>
            </a:p>
          </p:txBody>
        </p:sp>
      </p:grpSp>
      <p:grpSp>
        <p:nvGrpSpPr>
          <p:cNvPr id="48" name="Group 48"/>
          <p:cNvGrpSpPr/>
          <p:nvPr/>
        </p:nvGrpSpPr>
        <p:grpSpPr>
          <a:xfrm>
            <a:off x="6438900" y="4152900"/>
            <a:ext cx="5219700" cy="952500"/>
            <a:chOff x="6438900" y="4152900"/>
            <a:chExt cx="5219700" cy="952500"/>
          </a:xfrm>
        </p:grpSpPr>
        <p:sp>
          <p:nvSpPr>
            <p:cNvPr id="43" name="Rectangle 43"/>
            <p:cNvSpPr/>
            <p:nvPr/>
          </p:nvSpPr>
          <p:spPr>
            <a:xfrm>
              <a:off x="6438900" y="4152900"/>
              <a:ext cx="5219700" cy="952500"/>
            </a:xfrm>
            <a:prstGeom prst="roundRect">
              <a:avLst>
                <a:gd name="adj" fmla="val 14000"/>
              </a:avLst>
            </a:prstGeom>
            <a:solidFill>
              <a:schemeClr val="accent5"/>
            </a:solidFill>
            <a:ln w="11430">
              <a:solidFill>
                <a:srgbClr val="F7B84B"/>
              </a:solidFill>
            </a:ln>
          </p:spPr>
        </p:sp>
        <p:sp>
          <p:nvSpPr>
            <p:cNvPr id="44" name="Rectangle 44"/>
            <p:cNvSpPr/>
            <p:nvPr/>
          </p:nvSpPr>
          <p:spPr>
            <a:xfrm>
              <a:off x="6629400" y="4362450"/>
              <a:ext cx="47625" cy="285750"/>
            </a:xfrm>
            <a:prstGeom prst="roundRect">
              <a:avLst>
                <a:gd name="adj" fmla="val 50000"/>
              </a:avLst>
            </a:prstGeom>
            <a:solidFill>
              <a:srgbClr val="F7B84B"/>
            </a:solidFill>
            <a:ln>
              <a:noFill/>
            </a:ln>
          </p:spPr>
        </p:sp>
        <p:sp>
          <p:nvSpPr>
            <p:cNvPr id="45" name="TextBox 45"/>
            <p:cNvSpPr txBox="1"/>
            <p:nvPr/>
          </p:nvSpPr>
          <p:spPr>
            <a:xfrm>
              <a:off x="6814566" y="4420552"/>
              <a:ext cx="3503566"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The authors are candid: these absolute numbers</a:t>
              </a:r>
            </a:p>
          </p:txBody>
        </p:sp>
        <p:sp>
          <p:nvSpPr>
            <p:cNvPr id="46" name="TextBox 46"/>
            <p:cNvSpPr txBox="1"/>
            <p:nvPr/>
          </p:nvSpPr>
          <p:spPr>
            <a:xfrm>
              <a:off x="6814566" y="4630102"/>
              <a:ext cx="3142299"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are only satisfactory — which sets up their</a:t>
              </a:r>
            </a:p>
          </p:txBody>
        </p:sp>
        <p:sp>
          <p:nvSpPr>
            <p:cNvPr id="47" name="TextBox 47"/>
            <p:cNvSpPr txBox="1"/>
            <p:nvPr/>
          </p:nvSpPr>
          <p:spPr>
            <a:xfrm>
              <a:off x="6814566" y="4839652"/>
              <a:ext cx="1561642"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evaluation argument.</a:t>
              </a:r>
            </a:p>
          </p:txBody>
        </p:sp>
      </p:grpSp>
      <p:sp>
        <p:nvSpPr>
          <p:cNvPr id="49" name="cue_s07_c1_central_result_adding_explanation_ge" title="cue_s07_c1_central_result_adding_explanation_ge" descr="cue_s07_c1_central_result_adding_explanation_ge The central result is that adding explanation generation does not cost accuracy."/>
          <p:cNvSpPr/>
          <p:nvPr/>
        </p:nvSpPr>
        <p:spPr>
          <a:xfrm>
            <a:off x="532790" y="1523847"/>
            <a:ext cx="111252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7_c2_gqa_rex_reaches_vqa_score_seventy_se" title="cue_s07_c2_gqa_rex_reaches_vqa_score_seventy_se" descr="cue_s07_c2_gqa_rex_reaches_vqa_score_seventy_se On GQA-REX the model reaches a VQA score of seventy-seven point four nine percent, and on VQA-E seventy-one point four eight percent, both essentially matching the baseline that was trained without any explanation supervision. Varying the balance factor alpha"/>
          <p:cNvSpPr/>
          <p:nvPr/>
        </p:nvSpPr>
        <p:spPr>
          <a:xfrm>
            <a:off x="532790" y="2285771"/>
            <a:ext cx="5676595" cy="28193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7_c3_explanations_themselves_cfrf_plus_ls" title="cue_s07_c3_explanations_themselves_cfrf_plus_ls" descr="cue_s07_c3_explanations_themselves_cfrf_plus_ls For the explanations themselves, the CFRF-plus-LSTM model outperforms the prior baseline on VQA-E, with a BLEU-1 of zero point three three versus zero point two six eight and a ROUGE-L of zero point three two five versus zero point two four nine."/>
          <p:cNvSpPr/>
          <p:nvPr/>
        </p:nvSpPr>
        <p:spPr>
          <a:xfrm>
            <a:off x="6438595" y="2285771"/>
            <a:ext cx="5219395"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7_c4_authors_candid_these_absolute_number" title="cue_s07_c4_authors_candid_these_absolute_number" descr="cue_s07_c4_authors_candid_these_absolute_number The authors are candid that these absolute numbers are only satisfactory, which sets up their argument about evaluation."/>
          <p:cNvSpPr/>
          <p:nvPr/>
        </p:nvSpPr>
        <p:spPr>
          <a:xfrm>
            <a:off x="6438595" y="4153204"/>
            <a:ext cx="5219395" cy="952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963101"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ABLATION</a:t>
            </a:r>
          </a:p>
        </p:txBody>
      </p:sp>
      <p:sp>
        <p:nvSpPr>
          <p:cNvPr id="5" name="TextBox 5"/>
          <p:cNvSpPr txBox="1"/>
          <p:nvPr/>
        </p:nvSpPr>
        <p:spPr>
          <a:xfrm>
            <a:off x="518160" y="781050"/>
            <a:ext cx="7783578"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Accuracy is stable under every sweep</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08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571500"/>
            <a:chOff x="533400" y="1524000"/>
            <a:chExt cx="11125200" cy="571500"/>
          </a:xfrm>
        </p:grpSpPr>
        <p:sp>
          <p:nvSpPr>
            <p:cNvPr id="8" name="Rectangle 8"/>
            <p:cNvSpPr/>
            <p:nvPr/>
          </p:nvSpPr>
          <p:spPr>
            <a:xfrm>
              <a:off x="533400" y="1524000"/>
              <a:ext cx="11125200" cy="571500"/>
            </a:xfrm>
            <a:prstGeom prst="roundRect">
              <a:avLst>
                <a:gd name="adj" fmla="val 23333"/>
              </a:avLst>
            </a:prstGeom>
            <a:solidFill>
              <a:schemeClr val="accent5"/>
            </a:solidFill>
            <a:ln w="11430">
              <a:solidFill>
                <a:schemeClr val="accent4"/>
              </a:solidFill>
            </a:ln>
          </p:spPr>
        </p:sp>
        <p:sp>
          <p:nvSpPr>
            <p:cNvPr id="9" name="Rectangle 9"/>
            <p:cNvSpPr/>
            <p:nvPr/>
          </p:nvSpPr>
          <p:spPr>
            <a:xfrm>
              <a:off x="723900" y="1685925"/>
              <a:ext cx="47625" cy="247650"/>
            </a:xfrm>
            <a:prstGeom prst="roundRect">
              <a:avLst>
                <a:gd name="adj" fmla="val 50000"/>
              </a:avLst>
            </a:prstGeom>
            <a:solidFill>
              <a:schemeClr val="accent2"/>
            </a:solidFill>
            <a:ln>
              <a:noFill/>
            </a:ln>
          </p:spPr>
        </p:sp>
        <p:sp>
          <p:nvSpPr>
            <p:cNvPr id="10" name="TextBox 10"/>
            <p:cNvSpPr txBox="1"/>
            <p:nvPr/>
          </p:nvSpPr>
          <p:spPr>
            <a:xfrm>
              <a:off x="907923" y="1748314"/>
              <a:ext cx="928812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Two knobs swept: the loss balance factor alpha, and the explanation generator (LSTM vs Transformer).</a:t>
              </a:r>
            </a:p>
          </p:txBody>
        </p:sp>
      </p:grpSp>
      <p:grpSp>
        <p:nvGrpSpPr>
          <p:cNvPr id="34" name="Group 34"/>
          <p:cNvGrpSpPr/>
          <p:nvPr/>
        </p:nvGrpSpPr>
        <p:grpSpPr>
          <a:xfrm>
            <a:off x="533400" y="2305050"/>
            <a:ext cx="5676900" cy="2857500"/>
            <a:chOff x="533400" y="2305050"/>
            <a:chExt cx="5676900" cy="2857500"/>
          </a:xfrm>
        </p:grpSpPr>
        <p:sp>
          <p:nvSpPr>
            <p:cNvPr id="12" name="Rectangle 12"/>
            <p:cNvSpPr/>
            <p:nvPr/>
          </p:nvSpPr>
          <p:spPr>
            <a:xfrm>
              <a:off x="533400" y="2305050"/>
              <a:ext cx="5676900" cy="2857500"/>
            </a:xfrm>
            <a:prstGeom prst="roundRect">
              <a:avLst>
                <a:gd name="adj" fmla="val 4667"/>
              </a:avLst>
            </a:prstGeom>
            <a:solidFill>
              <a:schemeClr val="accent5"/>
            </a:solidFill>
            <a:ln w="11430">
              <a:solidFill>
                <a:schemeClr val="accent4"/>
              </a:solidFill>
            </a:ln>
          </p:spPr>
        </p:sp>
        <p:sp>
          <p:nvSpPr>
            <p:cNvPr id="13" name="TextBox 13"/>
            <p:cNvSpPr txBox="1"/>
            <p:nvPr/>
          </p:nvSpPr>
          <p:spPr>
            <a:xfrm>
              <a:off x="755714" y="2533412"/>
              <a:ext cx="2963547"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GQA-REX — VQA score across alpha</a:t>
              </a:r>
            </a:p>
          </p:txBody>
        </p:sp>
        <p:sp>
          <p:nvSpPr>
            <p:cNvPr id="14" name="Line 14"/>
            <p:cNvSpPr/>
            <p:nvPr/>
          </p:nvSpPr>
          <p:spPr>
            <a:xfrm>
              <a:off x="1066800" y="2933700"/>
              <a:ext cx="4762500" cy="9525"/>
            </a:xfrm>
            <a:custGeom>
              <a:avLst/>
              <a:gdLst/>
              <a:ahLst/>
              <a:cxnLst/>
              <a:rect l="l" t="t" r="r" b="b"/>
              <a:pathLst>
                <a:path w="4762500" h="9525">
                  <a:moveTo>
                    <a:pt x="0" y="0"/>
                  </a:moveTo>
                  <a:lnTo>
                    <a:pt x="4762500" y="0"/>
                  </a:lnTo>
                </a:path>
              </a:pathLst>
            </a:custGeom>
            <a:noFill/>
            <a:ln w="9525">
              <a:solidFill>
                <a:srgbClr val="6E85AC"/>
              </a:solidFill>
            </a:ln>
          </p:spPr>
        </p:sp>
        <p:sp>
          <p:nvSpPr>
            <p:cNvPr id="15" name="Line 15"/>
            <p:cNvSpPr/>
            <p:nvPr/>
          </p:nvSpPr>
          <p:spPr>
            <a:xfrm>
              <a:off x="1066800" y="3137535"/>
              <a:ext cx="4762500" cy="9525"/>
            </a:xfrm>
            <a:custGeom>
              <a:avLst/>
              <a:gdLst/>
              <a:ahLst/>
              <a:cxnLst/>
              <a:rect l="l" t="t" r="r" b="b"/>
              <a:pathLst>
                <a:path w="4762500" h="9525">
                  <a:moveTo>
                    <a:pt x="0" y="0"/>
                  </a:moveTo>
                  <a:lnTo>
                    <a:pt x="4762500" y="0"/>
                  </a:lnTo>
                </a:path>
              </a:pathLst>
            </a:custGeom>
            <a:noFill/>
            <a:ln w="11430">
              <a:solidFill>
                <a:srgbClr val="57D9A3"/>
              </a:solidFill>
              <a:custDash>
                <a:ds d="416667" sp="333333"/>
              </a:custDash>
            </a:ln>
          </p:spPr>
        </p:sp>
        <p:sp>
          <p:nvSpPr>
            <p:cNvPr id="16" name="TextBox 16"/>
            <p:cNvSpPr txBox="1"/>
            <p:nvPr/>
          </p:nvSpPr>
          <p:spPr>
            <a:xfrm>
              <a:off x="4979683" y="2987469"/>
              <a:ext cx="854380" cy="169069"/>
            </a:xfrm>
            <a:prstGeom prst="rect">
              <a:avLst/>
            </a:prstGeom>
            <a:noFill/>
            <a:ln>
              <a:noFill/>
            </a:ln>
          </p:spPr>
          <p:txBody>
            <a:bodyPr wrap="none" lIns="0" tIns="0" rIns="0" bIns="0" anchor="t" anchorCtr="0">
              <a:spAutoFit/>
            </a:bodyPr>
            <a:lstStyle/>
            <a:p>
              <a:pPr algn="r"/>
              <a:r>
                <a:rPr lang="en-US" sz="860" b="1" dirty="0">
                  <a:solidFill>
                    <a:srgbClr val="57D9A3"/>
                  </a:solidFill>
                  <a:latin typeface="+mn-lt"/>
                  <a:ea typeface="+mn-ea"/>
                  <a:cs typeface="+mn-cs"/>
                </a:rPr>
                <a:t>baseline 77.49</a:t>
              </a:r>
            </a:p>
          </p:txBody>
        </p:sp>
        <p:sp>
          <p:nvSpPr>
            <p:cNvPr id="17" name="Line 17"/>
            <p:cNvSpPr/>
            <p:nvPr/>
          </p:nvSpPr>
          <p:spPr>
            <a:xfrm>
              <a:off x="1066800" y="4533900"/>
              <a:ext cx="4762500" cy="9525"/>
            </a:xfrm>
            <a:custGeom>
              <a:avLst/>
              <a:gdLst/>
              <a:ahLst/>
              <a:cxnLst/>
              <a:rect l="l" t="t" r="r" b="b"/>
              <a:pathLst>
                <a:path w="4762500" h="9525">
                  <a:moveTo>
                    <a:pt x="0" y="0"/>
                  </a:moveTo>
                  <a:lnTo>
                    <a:pt x="4762500" y="0"/>
                  </a:lnTo>
                </a:path>
              </a:pathLst>
            </a:custGeom>
            <a:noFill/>
            <a:ln w="11430">
              <a:solidFill>
                <a:srgbClr val="6E85AC"/>
              </a:solidFill>
            </a:ln>
          </p:spPr>
        </p:sp>
        <p:sp>
          <p:nvSpPr>
            <p:cNvPr id="18" name="Rectangle 18"/>
            <p:cNvSpPr/>
            <p:nvPr/>
          </p:nvSpPr>
          <p:spPr>
            <a:xfrm>
              <a:off x="1225550" y="4101846"/>
              <a:ext cx="635000" cy="432054"/>
            </a:xfrm>
            <a:prstGeom prst="roundRect">
              <a:avLst>
                <a:gd name="adj" fmla="val 8818"/>
              </a:avLst>
            </a:prstGeom>
            <a:solidFill>
              <a:schemeClr val="accent2"/>
            </a:solidFill>
            <a:ln>
              <a:noFill/>
            </a:ln>
          </p:spPr>
        </p:sp>
        <p:sp>
          <p:nvSpPr>
            <p:cNvPr id="19" name="TextBox 19"/>
            <p:cNvSpPr txBox="1"/>
            <p:nvPr/>
          </p:nvSpPr>
          <p:spPr>
            <a:xfrm>
              <a:off x="1410789" y="3946112"/>
              <a:ext cx="264522" cy="161925"/>
            </a:xfrm>
            <a:prstGeom prst="rect">
              <a:avLst/>
            </a:prstGeom>
            <a:noFill/>
            <a:ln>
              <a:noFill/>
            </a:ln>
          </p:spPr>
          <p:txBody>
            <a:bodyPr wrap="none" lIns="0" tIns="0" rIns="0" bIns="0" anchor="t" anchorCtr="0">
              <a:spAutoFit/>
            </a:bodyPr>
            <a:lstStyle/>
            <a:p>
              <a:pPr algn="ctr"/>
              <a:r>
                <a:rPr lang="en-US" sz="820" b="1" dirty="0">
                  <a:solidFill>
                    <a:schemeClr val="dk1"/>
                  </a:solidFill>
                  <a:latin typeface="+mn-lt"/>
                  <a:ea typeface="+mn-ea"/>
                  <a:cs typeface="+mn-cs"/>
                </a:rPr>
                <a:t>75.1</a:t>
              </a:r>
            </a:p>
          </p:txBody>
        </p:sp>
        <p:sp>
          <p:nvSpPr>
            <p:cNvPr id="20" name="TextBox 20"/>
            <p:cNvSpPr txBox="1"/>
            <p:nvPr/>
          </p:nvSpPr>
          <p:spPr>
            <a:xfrm>
              <a:off x="1446162" y="4601289"/>
              <a:ext cx="193776" cy="154781"/>
            </a:xfrm>
            <a:prstGeom prst="rect">
              <a:avLst/>
            </a:prstGeom>
            <a:noFill/>
            <a:ln>
              <a:noFill/>
            </a:ln>
          </p:spPr>
          <p:txBody>
            <a:bodyPr wrap="none" lIns="0" tIns="0" rIns="0" bIns="0" anchor="t" anchorCtr="0">
              <a:spAutoFit/>
            </a:bodyPr>
            <a:lstStyle/>
            <a:p>
              <a:pPr algn="ctr"/>
              <a:r>
                <a:rPr lang="en-US" sz="790" b="1" dirty="0">
                  <a:solidFill>
                    <a:srgbClr val="6E85AC"/>
                  </a:solidFill>
                  <a:latin typeface="+mn-lt"/>
                  <a:ea typeface="+mn-ea"/>
                  <a:cs typeface="+mn-cs"/>
                </a:rPr>
                <a:t>0.3</a:t>
              </a:r>
            </a:p>
          </p:txBody>
        </p:sp>
        <p:sp>
          <p:nvSpPr>
            <p:cNvPr id="21" name="Rectangle 21"/>
            <p:cNvSpPr/>
            <p:nvPr/>
          </p:nvSpPr>
          <p:spPr>
            <a:xfrm>
              <a:off x="2178050" y="3309747"/>
              <a:ext cx="635000" cy="1224153"/>
            </a:xfrm>
            <a:prstGeom prst="roundRect">
              <a:avLst>
                <a:gd name="adj" fmla="val 6000"/>
              </a:avLst>
            </a:prstGeom>
            <a:solidFill>
              <a:schemeClr val="accent2"/>
            </a:solidFill>
            <a:ln>
              <a:noFill/>
            </a:ln>
          </p:spPr>
        </p:sp>
        <p:sp>
          <p:nvSpPr>
            <p:cNvPr id="22" name="TextBox 22"/>
            <p:cNvSpPr txBox="1"/>
            <p:nvPr/>
          </p:nvSpPr>
          <p:spPr>
            <a:xfrm>
              <a:off x="2363289" y="3154013"/>
              <a:ext cx="264522" cy="161925"/>
            </a:xfrm>
            <a:prstGeom prst="rect">
              <a:avLst/>
            </a:prstGeom>
            <a:noFill/>
            <a:ln>
              <a:noFill/>
            </a:ln>
          </p:spPr>
          <p:txBody>
            <a:bodyPr wrap="none" lIns="0" tIns="0" rIns="0" bIns="0" anchor="t" anchorCtr="0">
              <a:spAutoFit/>
            </a:bodyPr>
            <a:lstStyle/>
            <a:p>
              <a:pPr algn="ctr"/>
              <a:r>
                <a:rPr lang="en-US" sz="820" b="1" dirty="0">
                  <a:solidFill>
                    <a:schemeClr val="dk1"/>
                  </a:solidFill>
                  <a:latin typeface="+mn-lt"/>
                  <a:ea typeface="+mn-ea"/>
                  <a:cs typeface="+mn-cs"/>
                </a:rPr>
                <a:t>77.1</a:t>
              </a:r>
            </a:p>
          </p:txBody>
        </p:sp>
        <p:sp>
          <p:nvSpPr>
            <p:cNvPr id="23" name="TextBox 23"/>
            <p:cNvSpPr txBox="1"/>
            <p:nvPr/>
          </p:nvSpPr>
          <p:spPr>
            <a:xfrm>
              <a:off x="2398662" y="4601289"/>
              <a:ext cx="193776" cy="154781"/>
            </a:xfrm>
            <a:prstGeom prst="rect">
              <a:avLst/>
            </a:prstGeom>
            <a:noFill/>
            <a:ln>
              <a:noFill/>
            </a:ln>
          </p:spPr>
          <p:txBody>
            <a:bodyPr wrap="none" lIns="0" tIns="0" rIns="0" bIns="0" anchor="t" anchorCtr="0">
              <a:spAutoFit/>
            </a:bodyPr>
            <a:lstStyle/>
            <a:p>
              <a:pPr algn="ctr"/>
              <a:r>
                <a:rPr lang="en-US" sz="790" b="1" dirty="0">
                  <a:solidFill>
                    <a:srgbClr val="6E85AC"/>
                  </a:solidFill>
                  <a:latin typeface="+mn-lt"/>
                  <a:ea typeface="+mn-ea"/>
                  <a:cs typeface="+mn-cs"/>
                </a:rPr>
                <a:t>0.5</a:t>
              </a:r>
            </a:p>
          </p:txBody>
        </p:sp>
        <p:sp>
          <p:nvSpPr>
            <p:cNvPr id="24" name="Rectangle 24"/>
            <p:cNvSpPr/>
            <p:nvPr/>
          </p:nvSpPr>
          <p:spPr>
            <a:xfrm>
              <a:off x="3130550" y="3253740"/>
              <a:ext cx="635000" cy="1280160"/>
            </a:xfrm>
            <a:prstGeom prst="roundRect">
              <a:avLst>
                <a:gd name="adj" fmla="val 6000"/>
              </a:avLst>
            </a:prstGeom>
            <a:solidFill>
              <a:schemeClr val="accent2"/>
            </a:solidFill>
            <a:ln>
              <a:noFill/>
            </a:ln>
          </p:spPr>
        </p:sp>
        <p:sp>
          <p:nvSpPr>
            <p:cNvPr id="25" name="TextBox 25"/>
            <p:cNvSpPr txBox="1"/>
            <p:nvPr/>
          </p:nvSpPr>
          <p:spPr>
            <a:xfrm>
              <a:off x="3315789" y="3098006"/>
              <a:ext cx="264522" cy="161925"/>
            </a:xfrm>
            <a:prstGeom prst="rect">
              <a:avLst/>
            </a:prstGeom>
            <a:noFill/>
            <a:ln>
              <a:noFill/>
            </a:ln>
          </p:spPr>
          <p:txBody>
            <a:bodyPr wrap="none" lIns="0" tIns="0" rIns="0" bIns="0" anchor="t" anchorCtr="0">
              <a:spAutoFit/>
            </a:bodyPr>
            <a:lstStyle/>
            <a:p>
              <a:pPr algn="ctr"/>
              <a:r>
                <a:rPr lang="en-US" sz="820" b="1" dirty="0">
                  <a:solidFill>
                    <a:schemeClr val="dk1"/>
                  </a:solidFill>
                  <a:latin typeface="+mn-lt"/>
                  <a:ea typeface="+mn-ea"/>
                  <a:cs typeface="+mn-cs"/>
                </a:rPr>
                <a:t>77.2</a:t>
              </a:r>
            </a:p>
          </p:txBody>
        </p:sp>
        <p:sp>
          <p:nvSpPr>
            <p:cNvPr id="26" name="TextBox 26"/>
            <p:cNvSpPr txBox="1"/>
            <p:nvPr/>
          </p:nvSpPr>
          <p:spPr>
            <a:xfrm>
              <a:off x="3351162" y="4601289"/>
              <a:ext cx="193776" cy="154781"/>
            </a:xfrm>
            <a:prstGeom prst="rect">
              <a:avLst/>
            </a:prstGeom>
            <a:noFill/>
            <a:ln>
              <a:noFill/>
            </a:ln>
          </p:spPr>
          <p:txBody>
            <a:bodyPr wrap="none" lIns="0" tIns="0" rIns="0" bIns="0" anchor="t" anchorCtr="0">
              <a:spAutoFit/>
            </a:bodyPr>
            <a:lstStyle/>
            <a:p>
              <a:pPr algn="ctr"/>
              <a:r>
                <a:rPr lang="en-US" sz="790" b="1" dirty="0">
                  <a:solidFill>
                    <a:srgbClr val="6E85AC"/>
                  </a:solidFill>
                  <a:latin typeface="+mn-lt"/>
                  <a:ea typeface="+mn-ea"/>
                  <a:cs typeface="+mn-cs"/>
                </a:rPr>
                <a:t>0.7</a:t>
              </a:r>
            </a:p>
          </p:txBody>
        </p:sp>
        <p:sp>
          <p:nvSpPr>
            <p:cNvPr id="27" name="Rectangle 27"/>
            <p:cNvSpPr/>
            <p:nvPr/>
          </p:nvSpPr>
          <p:spPr>
            <a:xfrm>
              <a:off x="4083050" y="3137726"/>
              <a:ext cx="635000" cy="1396174"/>
            </a:xfrm>
            <a:prstGeom prst="roundRect">
              <a:avLst>
                <a:gd name="adj" fmla="val 6000"/>
              </a:avLst>
            </a:prstGeom>
            <a:solidFill>
              <a:schemeClr val="accent2"/>
            </a:solidFill>
            <a:ln>
              <a:noFill/>
            </a:ln>
          </p:spPr>
        </p:sp>
        <p:sp>
          <p:nvSpPr>
            <p:cNvPr id="28" name="TextBox 28"/>
            <p:cNvSpPr txBox="1"/>
            <p:nvPr/>
          </p:nvSpPr>
          <p:spPr>
            <a:xfrm>
              <a:off x="4268289" y="2981992"/>
              <a:ext cx="264522" cy="161925"/>
            </a:xfrm>
            <a:prstGeom prst="rect">
              <a:avLst/>
            </a:prstGeom>
            <a:noFill/>
            <a:ln>
              <a:noFill/>
            </a:ln>
          </p:spPr>
          <p:txBody>
            <a:bodyPr wrap="none" lIns="0" tIns="0" rIns="0" bIns="0" anchor="t" anchorCtr="0">
              <a:spAutoFit/>
            </a:bodyPr>
            <a:lstStyle/>
            <a:p>
              <a:pPr algn="ctr"/>
              <a:r>
                <a:rPr lang="en-US" sz="820" b="1" dirty="0">
                  <a:solidFill>
                    <a:schemeClr val="dk1"/>
                  </a:solidFill>
                  <a:latin typeface="+mn-lt"/>
                  <a:ea typeface="+mn-ea"/>
                  <a:cs typeface="+mn-cs"/>
                </a:rPr>
                <a:t>77.5</a:t>
              </a:r>
            </a:p>
          </p:txBody>
        </p:sp>
        <p:sp>
          <p:nvSpPr>
            <p:cNvPr id="29" name="TextBox 29"/>
            <p:cNvSpPr txBox="1"/>
            <p:nvPr/>
          </p:nvSpPr>
          <p:spPr>
            <a:xfrm>
              <a:off x="4303662" y="4601289"/>
              <a:ext cx="193776" cy="154781"/>
            </a:xfrm>
            <a:prstGeom prst="rect">
              <a:avLst/>
            </a:prstGeom>
            <a:noFill/>
            <a:ln>
              <a:noFill/>
            </a:ln>
          </p:spPr>
          <p:txBody>
            <a:bodyPr wrap="none" lIns="0" tIns="0" rIns="0" bIns="0" anchor="t" anchorCtr="0">
              <a:spAutoFit/>
            </a:bodyPr>
            <a:lstStyle/>
            <a:p>
              <a:pPr algn="ctr"/>
              <a:r>
                <a:rPr lang="en-US" sz="790" b="1" dirty="0">
                  <a:solidFill>
                    <a:srgbClr val="6E85AC"/>
                  </a:solidFill>
                  <a:latin typeface="+mn-lt"/>
                  <a:ea typeface="+mn-ea"/>
                  <a:cs typeface="+mn-cs"/>
                </a:rPr>
                <a:t>0.9</a:t>
              </a:r>
            </a:p>
          </p:txBody>
        </p:sp>
        <p:sp>
          <p:nvSpPr>
            <p:cNvPr id="30" name="Rectangle 30"/>
            <p:cNvSpPr/>
            <p:nvPr/>
          </p:nvSpPr>
          <p:spPr>
            <a:xfrm>
              <a:off x="5035550" y="3309747"/>
              <a:ext cx="635000" cy="1224153"/>
            </a:xfrm>
            <a:prstGeom prst="roundRect">
              <a:avLst>
                <a:gd name="adj" fmla="val 6000"/>
              </a:avLst>
            </a:prstGeom>
            <a:solidFill>
              <a:srgbClr val="F7B84B"/>
            </a:solidFill>
            <a:ln>
              <a:noFill/>
            </a:ln>
          </p:spPr>
        </p:sp>
        <p:sp>
          <p:nvSpPr>
            <p:cNvPr id="31" name="TextBox 31"/>
            <p:cNvSpPr txBox="1"/>
            <p:nvPr/>
          </p:nvSpPr>
          <p:spPr>
            <a:xfrm>
              <a:off x="5220789" y="3154013"/>
              <a:ext cx="264522" cy="161925"/>
            </a:xfrm>
            <a:prstGeom prst="rect">
              <a:avLst/>
            </a:prstGeom>
            <a:noFill/>
            <a:ln>
              <a:noFill/>
            </a:ln>
          </p:spPr>
          <p:txBody>
            <a:bodyPr wrap="none" lIns="0" tIns="0" rIns="0" bIns="0" anchor="t" anchorCtr="0">
              <a:spAutoFit/>
            </a:bodyPr>
            <a:lstStyle/>
            <a:p>
              <a:pPr algn="ctr"/>
              <a:r>
                <a:rPr lang="en-US" sz="820" b="1" dirty="0">
                  <a:solidFill>
                    <a:schemeClr val="dk1"/>
                  </a:solidFill>
                  <a:latin typeface="+mn-lt"/>
                  <a:ea typeface="+mn-ea"/>
                  <a:cs typeface="+mn-cs"/>
                </a:rPr>
                <a:t>77.1</a:t>
              </a:r>
            </a:p>
          </p:txBody>
        </p:sp>
        <p:sp>
          <p:nvSpPr>
            <p:cNvPr id="32" name="TextBox 32"/>
            <p:cNvSpPr txBox="1"/>
            <p:nvPr/>
          </p:nvSpPr>
          <p:spPr>
            <a:xfrm>
              <a:off x="5186054" y="4601289"/>
              <a:ext cx="333992" cy="154781"/>
            </a:xfrm>
            <a:prstGeom prst="rect">
              <a:avLst/>
            </a:prstGeom>
            <a:noFill/>
            <a:ln>
              <a:noFill/>
            </a:ln>
          </p:spPr>
          <p:txBody>
            <a:bodyPr wrap="none" lIns="0" tIns="0" rIns="0" bIns="0" anchor="t" anchorCtr="0">
              <a:spAutoFit/>
            </a:bodyPr>
            <a:lstStyle/>
            <a:p>
              <a:pPr algn="ctr"/>
              <a:r>
                <a:rPr lang="en-US" sz="790" b="1" dirty="0">
                  <a:solidFill>
                    <a:srgbClr val="6E85AC"/>
                  </a:solidFill>
                  <a:latin typeface="+mn-lt"/>
                  <a:ea typeface="+mn-ea"/>
                  <a:cs typeface="+mn-cs"/>
                </a:rPr>
                <a:t>T,0.5</a:t>
              </a:r>
            </a:p>
          </p:txBody>
        </p:sp>
        <p:sp>
          <p:nvSpPr>
            <p:cNvPr id="33" name="TextBox 33"/>
            <p:cNvSpPr txBox="1"/>
            <p:nvPr/>
          </p:nvSpPr>
          <p:spPr>
            <a:xfrm>
              <a:off x="757047" y="4923949"/>
              <a:ext cx="5007329"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LSTM 75.08–77.49% across alpha; Transformer (alpha=0.5) reaches 77.06%.</a:t>
              </a:r>
            </a:p>
          </p:txBody>
        </p:sp>
      </p:grpSp>
      <p:grpSp>
        <p:nvGrpSpPr>
          <p:cNvPr id="42" name="Group 42"/>
          <p:cNvGrpSpPr/>
          <p:nvPr/>
        </p:nvGrpSpPr>
        <p:grpSpPr>
          <a:xfrm>
            <a:off x="6438900" y="2305050"/>
            <a:ext cx="5219700" cy="1676400"/>
            <a:chOff x="6438900" y="2305050"/>
            <a:chExt cx="5219700" cy="1676400"/>
          </a:xfrm>
        </p:grpSpPr>
        <p:sp>
          <p:nvSpPr>
            <p:cNvPr id="35" name="Rectangle 35"/>
            <p:cNvSpPr/>
            <p:nvPr/>
          </p:nvSpPr>
          <p:spPr>
            <a:xfrm>
              <a:off x="6438900" y="2305050"/>
              <a:ext cx="5219700" cy="1676400"/>
            </a:xfrm>
            <a:prstGeom prst="roundRect">
              <a:avLst>
                <a:gd name="adj" fmla="val 7955"/>
              </a:avLst>
            </a:prstGeom>
            <a:solidFill>
              <a:schemeClr val="accent6"/>
            </a:solidFill>
            <a:ln w="12382">
              <a:solidFill>
                <a:srgbClr val="37DCC0"/>
              </a:solidFill>
            </a:ln>
          </p:spPr>
        </p:sp>
        <p:sp>
          <p:nvSpPr>
            <p:cNvPr id="36" name="Rectangle 36"/>
            <p:cNvSpPr/>
            <p:nvPr/>
          </p:nvSpPr>
          <p:spPr>
            <a:xfrm>
              <a:off x="6629400" y="2514600"/>
              <a:ext cx="47625" cy="266700"/>
            </a:xfrm>
            <a:prstGeom prst="roundRect">
              <a:avLst>
                <a:gd name="adj" fmla="val 50000"/>
              </a:avLst>
            </a:prstGeom>
            <a:solidFill>
              <a:srgbClr val="37DCC0"/>
            </a:solidFill>
            <a:ln>
              <a:noFill/>
            </a:ln>
          </p:spPr>
        </p:sp>
        <p:sp>
          <p:nvSpPr>
            <p:cNvPr id="37" name="TextBox 37"/>
            <p:cNvSpPr txBox="1"/>
            <p:nvPr/>
          </p:nvSpPr>
          <p:spPr>
            <a:xfrm>
              <a:off x="6813804" y="2575560"/>
              <a:ext cx="1734007" cy="234696"/>
            </a:xfrm>
            <a:prstGeom prst="rect">
              <a:avLst/>
            </a:prstGeom>
            <a:noFill/>
            <a:ln>
              <a:noFill/>
            </a:ln>
          </p:spPr>
          <p:txBody>
            <a:bodyPr wrap="none" lIns="0" tIns="0" rIns="0" bIns="0" anchor="t" anchorCtr="0">
              <a:spAutoFit/>
            </a:bodyPr>
            <a:lstStyle/>
            <a:p>
              <a:pPr algn="l"/>
              <a:r>
                <a:rPr lang="en-US" sz="1200" b="1" dirty="0">
                  <a:solidFill>
                    <a:srgbClr val="37DCC0"/>
                  </a:solidFill>
                  <a:latin typeface="+mn-lt"/>
                  <a:ea typeface="+mn-ea"/>
                  <a:cs typeface="+mn-cs"/>
                </a:rPr>
                <a:t>VQA-E: flat as a line</a:t>
              </a:r>
            </a:p>
          </p:txBody>
        </p:sp>
        <p:sp>
          <p:nvSpPr>
            <p:cNvPr id="38" name="TextBox 38"/>
            <p:cNvSpPr txBox="1"/>
            <p:nvPr/>
          </p:nvSpPr>
          <p:spPr>
            <a:xfrm>
              <a:off x="6617970" y="2938462"/>
              <a:ext cx="237635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Consolas"/>
                  <a:ea typeface="Consolas"/>
                  <a:cs typeface="Consolas"/>
                </a:rPr>
                <a:t>71.32 – 71.55%</a:t>
              </a:r>
            </a:p>
          </p:txBody>
        </p:sp>
        <p:sp>
          <p:nvSpPr>
            <p:cNvPr id="39" name="TextBox 39"/>
            <p:cNvSpPr txBox="1"/>
            <p:nvPr/>
          </p:nvSpPr>
          <p:spPr>
            <a:xfrm>
              <a:off x="6624256" y="3338751"/>
              <a:ext cx="132915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every configuration</a:t>
              </a:r>
            </a:p>
          </p:txBody>
        </p:sp>
        <p:sp>
          <p:nvSpPr>
            <p:cNvPr id="40" name="TextBox 40"/>
            <p:cNvSpPr txBox="1"/>
            <p:nvPr/>
          </p:nvSpPr>
          <p:spPr>
            <a:xfrm>
              <a:off x="6624256" y="3567351"/>
              <a:ext cx="246447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within a fraction of a percent of the</a:t>
              </a:r>
            </a:p>
          </p:txBody>
        </p:sp>
        <p:sp>
          <p:nvSpPr>
            <p:cNvPr id="41" name="TextBox 41"/>
            <p:cNvSpPr txBox="1"/>
            <p:nvPr/>
          </p:nvSpPr>
          <p:spPr>
            <a:xfrm>
              <a:off x="6624256" y="3767376"/>
              <a:ext cx="105722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71.5% baseline.</a:t>
              </a:r>
            </a:p>
          </p:txBody>
        </p:sp>
      </p:grpSp>
      <p:grpSp>
        <p:nvGrpSpPr>
          <p:cNvPr id="48" name="Group 48"/>
          <p:cNvGrpSpPr/>
          <p:nvPr/>
        </p:nvGrpSpPr>
        <p:grpSpPr>
          <a:xfrm>
            <a:off x="6438900" y="4171950"/>
            <a:ext cx="5219700" cy="990600"/>
            <a:chOff x="6438900" y="4171950"/>
            <a:chExt cx="5219700" cy="990600"/>
          </a:xfrm>
        </p:grpSpPr>
        <p:sp>
          <p:nvSpPr>
            <p:cNvPr id="43" name="Rectangle 43"/>
            <p:cNvSpPr/>
            <p:nvPr/>
          </p:nvSpPr>
          <p:spPr>
            <a:xfrm>
              <a:off x="6438900" y="4171950"/>
              <a:ext cx="5219700" cy="990600"/>
            </a:xfrm>
            <a:prstGeom prst="roundRect">
              <a:avLst>
                <a:gd name="adj" fmla="val 13462"/>
              </a:avLst>
            </a:prstGeom>
            <a:solidFill>
              <a:schemeClr val="accent5"/>
            </a:solidFill>
            <a:ln w="11430">
              <a:solidFill>
                <a:srgbClr val="57D9A3"/>
              </a:solidFill>
            </a:ln>
          </p:spPr>
        </p:sp>
        <p:sp>
          <p:nvSpPr>
            <p:cNvPr id="44" name="Rectangle 44"/>
            <p:cNvSpPr/>
            <p:nvPr/>
          </p:nvSpPr>
          <p:spPr>
            <a:xfrm>
              <a:off x="6629400" y="4381500"/>
              <a:ext cx="47625" cy="285750"/>
            </a:xfrm>
            <a:prstGeom prst="roundRect">
              <a:avLst>
                <a:gd name="adj" fmla="val 50000"/>
              </a:avLst>
            </a:prstGeom>
            <a:solidFill>
              <a:srgbClr val="57D9A3"/>
            </a:solidFill>
            <a:ln>
              <a:noFill/>
            </a:ln>
          </p:spPr>
        </p:sp>
        <p:sp>
          <p:nvSpPr>
            <p:cNvPr id="45" name="TextBox 45"/>
            <p:cNvSpPr txBox="1"/>
            <p:nvPr/>
          </p:nvSpPr>
          <p:spPr>
            <a:xfrm>
              <a:off x="6814566" y="4439602"/>
              <a:ext cx="3221284"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Accuracy is remarkably stable regardless of</a:t>
              </a:r>
            </a:p>
          </p:txBody>
        </p:sp>
        <p:sp>
          <p:nvSpPr>
            <p:cNvPr id="46" name="TextBox 46"/>
            <p:cNvSpPr txBox="1"/>
            <p:nvPr/>
          </p:nvSpPr>
          <p:spPr>
            <a:xfrm>
              <a:off x="6814566" y="4649152"/>
              <a:ext cx="2934513"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loss weight or decoder — the explanation</a:t>
              </a:r>
            </a:p>
          </p:txBody>
        </p:sp>
        <p:sp>
          <p:nvSpPr>
            <p:cNvPr id="47" name="TextBox 47"/>
            <p:cNvSpPr txBox="1"/>
            <p:nvPr/>
          </p:nvSpPr>
          <p:spPr>
            <a:xfrm>
              <a:off x="6814566" y="4858702"/>
              <a:ext cx="1947530"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module is essentially free.</a:t>
              </a:r>
            </a:p>
          </p:txBody>
        </p:sp>
      </p:grpSp>
      <p:sp>
        <p:nvSpPr>
          <p:cNvPr id="49" name="cue_s08_c1_authors_ablate_two_design_choices" title="cue_s08_c1_authors_ablate_two_design_choices" descr="cue_s08_c1_authors_ablate_two_design_choices The authors ablate two design choices: the balance factor alpha that weights answer loss against explanation loss, and the choice of explanation generator."/>
          <p:cNvSpPr/>
          <p:nvPr/>
        </p:nvSpPr>
        <p:spPr>
          <a:xfrm>
            <a:off x="532790" y="1523847"/>
            <a:ext cx="11125200" cy="571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2_gqa_rex_lstm_variant_ranges_about" title="cue_s08_c2_gqa_rex_lstm_variant_ranges_about" descr="cue_s08_c2_gqa_rex_lstm_variant_ranges_about On GQA-REX, the LSTM variant ranges from about seventy-five to seventy-seven and a half percent across different alpha values, and the Transformer decoder at alpha equal to one half reaches seventy-seven point zero six percent."/>
          <p:cNvSpPr/>
          <p:nvPr/>
        </p:nvSpPr>
        <p:spPr>
          <a:xfrm>
            <a:off x="532790" y="2304973"/>
            <a:ext cx="5676595"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8_c3_vqa_e_every_configuration_lands_with" title="cue_s08_c3_vqa_e_every_configuration_lands_with" descr="cue_s08_c3_vqa_e_every_configuration_lands_with On VQA-E, every configuration lands within a fraction of a percent of the seventy-one and a half percent baseline."/>
          <p:cNvSpPr/>
          <p:nvPr/>
        </p:nvSpPr>
        <p:spPr>
          <a:xfrm>
            <a:off x="6438595" y="2304973"/>
            <a:ext cx="5219395"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8_c4_takeaway_these_sweeps_answer_accurac" title="cue_s08_c4_takeaway_these_sweeps_answer_accurac" descr="cue_s08_c4_takeaway_these_sweeps_answer_accurac The takeaway from these sweeps is that answer accuracy is remarkably stable no matter how the explanation loss is weighted or which decoder architecture generates the explanation, so the explanation module can be added essentially for free."/>
          <p:cNvSpPr/>
          <p:nvPr/>
        </p:nvSpPr>
        <p:spPr>
          <a:xfrm>
            <a:off x="6438595" y="4171721"/>
            <a:ext cx="5219395"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665311"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BY THE NUMBERS</a:t>
            </a:r>
          </a:p>
        </p:txBody>
      </p:sp>
      <p:sp>
        <p:nvSpPr>
          <p:cNvPr id="5" name="TextBox 5"/>
          <p:cNvSpPr txBox="1"/>
          <p:nvPr/>
        </p:nvSpPr>
        <p:spPr>
          <a:xfrm>
            <a:off x="518160" y="781050"/>
            <a:ext cx="5748667"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Impact and the human study</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09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28" name="Group 28"/>
          <p:cNvGrpSpPr/>
          <p:nvPr/>
        </p:nvGrpSpPr>
        <p:grpSpPr>
          <a:xfrm>
            <a:off x="533400" y="1524000"/>
            <a:ext cx="11125200" cy="1428750"/>
            <a:chOff x="533400" y="1524000"/>
            <a:chExt cx="11125200" cy="1428750"/>
          </a:xfrm>
        </p:grpSpPr>
        <p:sp>
          <p:nvSpPr>
            <p:cNvPr id="8" name="Rectangle 8"/>
            <p:cNvSpPr/>
            <p:nvPr/>
          </p:nvSpPr>
          <p:spPr>
            <a:xfrm>
              <a:off x="533400" y="1524000"/>
              <a:ext cx="2638425" cy="1428750"/>
            </a:xfrm>
            <a:prstGeom prst="roundRect">
              <a:avLst>
                <a:gd name="adj" fmla="val 9333"/>
              </a:avLst>
            </a:prstGeom>
            <a:solidFill>
              <a:schemeClr val="accent5"/>
            </a:solidFill>
            <a:ln w="11430">
              <a:solidFill>
                <a:schemeClr val="accent4"/>
              </a:solidFill>
            </a:ln>
          </p:spPr>
        </p:sp>
        <p:sp>
          <p:nvSpPr>
            <p:cNvPr id="9" name="Rectangle 9"/>
            <p:cNvSpPr/>
            <p:nvPr/>
          </p:nvSpPr>
          <p:spPr>
            <a:xfrm>
              <a:off x="742950" y="1752600"/>
              <a:ext cx="47625" cy="228600"/>
            </a:xfrm>
            <a:prstGeom prst="roundRect">
              <a:avLst>
                <a:gd name="adj" fmla="val 50000"/>
              </a:avLst>
            </a:prstGeom>
            <a:solidFill>
              <a:schemeClr val="accent2"/>
            </a:solidFill>
            <a:ln>
              <a:noFill/>
            </a:ln>
          </p:spPr>
        </p:sp>
        <p:sp>
          <p:nvSpPr>
            <p:cNvPr id="10" name="TextBox 10"/>
            <p:cNvSpPr txBox="1"/>
            <p:nvPr/>
          </p:nvSpPr>
          <p:spPr>
            <a:xfrm>
              <a:off x="1095280" y="2076450"/>
              <a:ext cx="1514666" cy="586740"/>
            </a:xfrm>
            <a:prstGeom prst="rect">
              <a:avLst/>
            </a:prstGeom>
            <a:noFill/>
            <a:ln>
              <a:noFill/>
            </a:ln>
          </p:spPr>
          <p:txBody>
            <a:bodyPr wrap="none" lIns="0" tIns="0" rIns="0" bIns="0" anchor="t" anchorCtr="0">
              <a:spAutoFit/>
            </a:bodyPr>
            <a:lstStyle/>
            <a:p>
              <a:pPr algn="ctr"/>
              <a:r>
                <a:rPr lang="en-US" sz="3000" b="1" dirty="0">
                  <a:solidFill>
                    <a:schemeClr val="accent2"/>
                  </a:solidFill>
                  <a:latin typeface="+mn-lt"/>
                  <a:ea typeface="+mn-ea"/>
                  <a:cs typeface="+mn-cs"/>
                </a:rPr>
                <a:t>77.49%</a:t>
              </a:r>
            </a:p>
          </p:txBody>
        </p:sp>
        <p:sp>
          <p:nvSpPr>
            <p:cNvPr id="11" name="TextBox 11"/>
            <p:cNvSpPr txBox="1"/>
            <p:nvPr/>
          </p:nvSpPr>
          <p:spPr>
            <a:xfrm>
              <a:off x="1515409" y="2565797"/>
              <a:ext cx="67440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VQA score</a:t>
              </a:r>
            </a:p>
          </p:txBody>
        </p:sp>
        <p:sp>
          <p:nvSpPr>
            <p:cNvPr id="12" name="TextBox 12"/>
            <p:cNvSpPr txBox="1"/>
            <p:nvPr/>
          </p:nvSpPr>
          <p:spPr>
            <a:xfrm>
              <a:off x="1600139" y="2745343"/>
              <a:ext cx="504947" cy="169069"/>
            </a:xfrm>
            <a:prstGeom prst="rect">
              <a:avLst/>
            </a:prstGeom>
            <a:noFill/>
            <a:ln>
              <a:noFill/>
            </a:ln>
          </p:spPr>
          <p:txBody>
            <a:bodyPr wrap="none" lIns="0" tIns="0" rIns="0" bIns="0" anchor="t" anchorCtr="0">
              <a:spAutoFit/>
            </a:bodyPr>
            <a:lstStyle/>
            <a:p>
              <a:pPr algn="ctr"/>
              <a:r>
                <a:rPr lang="en-US" sz="860" dirty="0">
                  <a:solidFill>
                    <a:srgbClr val="6E85AC"/>
                  </a:solidFill>
                  <a:latin typeface="+mn-lt"/>
                  <a:ea typeface="+mn-ea"/>
                  <a:cs typeface="+mn-cs"/>
                </a:rPr>
                <a:t>GQA-REX</a:t>
              </a:r>
            </a:p>
          </p:txBody>
        </p:sp>
        <p:sp>
          <p:nvSpPr>
            <p:cNvPr id="13" name="Rectangle 13"/>
            <p:cNvSpPr/>
            <p:nvPr/>
          </p:nvSpPr>
          <p:spPr>
            <a:xfrm>
              <a:off x="3362325" y="1524000"/>
              <a:ext cx="2638425" cy="1428750"/>
            </a:xfrm>
            <a:prstGeom prst="roundRect">
              <a:avLst>
                <a:gd name="adj" fmla="val 9333"/>
              </a:avLst>
            </a:prstGeom>
            <a:solidFill>
              <a:schemeClr val="accent5"/>
            </a:solidFill>
            <a:ln w="11430">
              <a:solidFill>
                <a:schemeClr val="accent4"/>
              </a:solidFill>
            </a:ln>
          </p:spPr>
        </p:sp>
        <p:sp>
          <p:nvSpPr>
            <p:cNvPr id="14" name="Rectangle 14"/>
            <p:cNvSpPr/>
            <p:nvPr/>
          </p:nvSpPr>
          <p:spPr>
            <a:xfrm>
              <a:off x="3571875" y="1752600"/>
              <a:ext cx="47625" cy="228600"/>
            </a:xfrm>
            <a:prstGeom prst="roundRect">
              <a:avLst>
                <a:gd name="adj" fmla="val 50000"/>
              </a:avLst>
            </a:prstGeom>
            <a:solidFill>
              <a:srgbClr val="37DCC0"/>
            </a:solidFill>
            <a:ln>
              <a:noFill/>
            </a:ln>
          </p:spPr>
        </p:sp>
        <p:sp>
          <p:nvSpPr>
            <p:cNvPr id="15" name="TextBox 15"/>
            <p:cNvSpPr txBox="1"/>
            <p:nvPr/>
          </p:nvSpPr>
          <p:spPr>
            <a:xfrm>
              <a:off x="3924205" y="2076450"/>
              <a:ext cx="1514666" cy="586740"/>
            </a:xfrm>
            <a:prstGeom prst="rect">
              <a:avLst/>
            </a:prstGeom>
            <a:noFill/>
            <a:ln>
              <a:noFill/>
            </a:ln>
          </p:spPr>
          <p:txBody>
            <a:bodyPr wrap="none" lIns="0" tIns="0" rIns="0" bIns="0" anchor="t" anchorCtr="0">
              <a:spAutoFit/>
            </a:bodyPr>
            <a:lstStyle/>
            <a:p>
              <a:pPr algn="ctr"/>
              <a:r>
                <a:rPr lang="en-US" sz="3000" b="1" dirty="0">
                  <a:solidFill>
                    <a:srgbClr val="37DCC0"/>
                  </a:solidFill>
                  <a:latin typeface="+mn-lt"/>
                  <a:ea typeface="+mn-ea"/>
                  <a:cs typeface="+mn-cs"/>
                </a:rPr>
                <a:t>71.48%</a:t>
              </a:r>
            </a:p>
          </p:txBody>
        </p:sp>
        <p:sp>
          <p:nvSpPr>
            <p:cNvPr id="16" name="TextBox 16"/>
            <p:cNvSpPr txBox="1"/>
            <p:nvPr/>
          </p:nvSpPr>
          <p:spPr>
            <a:xfrm>
              <a:off x="4344334" y="2565797"/>
              <a:ext cx="67440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VQA score</a:t>
              </a:r>
            </a:p>
          </p:txBody>
        </p:sp>
        <p:sp>
          <p:nvSpPr>
            <p:cNvPr id="17" name="TextBox 17"/>
            <p:cNvSpPr txBox="1"/>
            <p:nvPr/>
          </p:nvSpPr>
          <p:spPr>
            <a:xfrm>
              <a:off x="4496344" y="2745343"/>
              <a:ext cx="370388" cy="169069"/>
            </a:xfrm>
            <a:prstGeom prst="rect">
              <a:avLst/>
            </a:prstGeom>
            <a:noFill/>
            <a:ln>
              <a:noFill/>
            </a:ln>
          </p:spPr>
          <p:txBody>
            <a:bodyPr wrap="none" lIns="0" tIns="0" rIns="0" bIns="0" anchor="t" anchorCtr="0">
              <a:spAutoFit/>
            </a:bodyPr>
            <a:lstStyle/>
            <a:p>
              <a:pPr algn="ctr"/>
              <a:r>
                <a:rPr lang="en-US" sz="860" dirty="0">
                  <a:solidFill>
                    <a:srgbClr val="6E85AC"/>
                  </a:solidFill>
                  <a:latin typeface="+mn-lt"/>
                  <a:ea typeface="+mn-ea"/>
                  <a:cs typeface="+mn-cs"/>
                </a:rPr>
                <a:t>VQA-E</a:t>
              </a:r>
            </a:p>
          </p:txBody>
        </p:sp>
        <p:sp>
          <p:nvSpPr>
            <p:cNvPr id="18" name="Rectangle 18"/>
            <p:cNvSpPr/>
            <p:nvPr/>
          </p:nvSpPr>
          <p:spPr>
            <a:xfrm>
              <a:off x="6191250" y="1524000"/>
              <a:ext cx="2638425" cy="1428750"/>
            </a:xfrm>
            <a:prstGeom prst="roundRect">
              <a:avLst>
                <a:gd name="adj" fmla="val 9333"/>
              </a:avLst>
            </a:prstGeom>
            <a:solidFill>
              <a:schemeClr val="accent5"/>
            </a:solidFill>
            <a:ln w="11430">
              <a:solidFill>
                <a:schemeClr val="accent4"/>
              </a:solidFill>
            </a:ln>
          </p:spPr>
        </p:sp>
        <p:sp>
          <p:nvSpPr>
            <p:cNvPr id="19" name="Rectangle 19"/>
            <p:cNvSpPr/>
            <p:nvPr/>
          </p:nvSpPr>
          <p:spPr>
            <a:xfrm>
              <a:off x="6400800" y="1752600"/>
              <a:ext cx="47625" cy="228600"/>
            </a:xfrm>
            <a:prstGeom prst="roundRect">
              <a:avLst>
                <a:gd name="adj" fmla="val 50000"/>
              </a:avLst>
            </a:prstGeom>
            <a:solidFill>
              <a:srgbClr val="F7B84B"/>
            </a:solidFill>
            <a:ln>
              <a:noFill/>
            </a:ln>
          </p:spPr>
        </p:sp>
        <p:sp>
          <p:nvSpPr>
            <p:cNvPr id="20" name="TextBox 20"/>
            <p:cNvSpPr txBox="1"/>
            <p:nvPr/>
          </p:nvSpPr>
          <p:spPr>
            <a:xfrm>
              <a:off x="6753130" y="2076450"/>
              <a:ext cx="1514666" cy="586740"/>
            </a:xfrm>
            <a:prstGeom prst="rect">
              <a:avLst/>
            </a:prstGeom>
            <a:noFill/>
            <a:ln>
              <a:noFill/>
            </a:ln>
          </p:spPr>
          <p:txBody>
            <a:bodyPr wrap="none" lIns="0" tIns="0" rIns="0" bIns="0" anchor="t" anchorCtr="0">
              <a:spAutoFit/>
            </a:bodyPr>
            <a:lstStyle/>
            <a:p>
              <a:pPr algn="ctr"/>
              <a:r>
                <a:rPr lang="en-US" sz="3000" b="1" dirty="0">
                  <a:solidFill>
                    <a:srgbClr val="F7B84B"/>
                  </a:solidFill>
                  <a:latin typeface="+mn-lt"/>
                  <a:ea typeface="+mn-ea"/>
                  <a:cs typeface="+mn-cs"/>
                </a:rPr>
                <a:t>65.16%</a:t>
              </a:r>
            </a:p>
          </p:txBody>
        </p:sp>
        <p:sp>
          <p:nvSpPr>
            <p:cNvPr id="21" name="TextBox 21"/>
            <p:cNvSpPr txBox="1"/>
            <p:nvPr/>
          </p:nvSpPr>
          <p:spPr>
            <a:xfrm>
              <a:off x="6877890" y="2565797"/>
              <a:ext cx="126514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explanations judged</a:t>
              </a:r>
            </a:p>
          </p:txBody>
        </p:sp>
        <p:sp>
          <p:nvSpPr>
            <p:cNvPr id="22" name="TextBox 22"/>
            <p:cNvSpPr txBox="1"/>
            <p:nvPr/>
          </p:nvSpPr>
          <p:spPr>
            <a:xfrm>
              <a:off x="6897891" y="2745343"/>
              <a:ext cx="1225144" cy="169069"/>
            </a:xfrm>
            <a:prstGeom prst="rect">
              <a:avLst/>
            </a:prstGeom>
            <a:noFill/>
            <a:ln>
              <a:noFill/>
            </a:ln>
          </p:spPr>
          <p:txBody>
            <a:bodyPr wrap="none" lIns="0" tIns="0" rIns="0" bIns="0" anchor="t" anchorCtr="0">
              <a:spAutoFit/>
            </a:bodyPr>
            <a:lstStyle/>
            <a:p>
              <a:pPr algn="ctr"/>
              <a:r>
                <a:rPr lang="en-US" sz="860" dirty="0">
                  <a:solidFill>
                    <a:srgbClr val="6E85AC"/>
                  </a:solidFill>
                  <a:latin typeface="+mn-lt"/>
                  <a:ea typeface="+mn-ea"/>
                  <a:cs typeface="+mn-cs"/>
                </a:rPr>
                <a:t>to lead to the answer</a:t>
              </a:r>
            </a:p>
          </p:txBody>
        </p:sp>
        <p:sp>
          <p:nvSpPr>
            <p:cNvPr id="23" name="Rectangle 23"/>
            <p:cNvSpPr/>
            <p:nvPr/>
          </p:nvSpPr>
          <p:spPr>
            <a:xfrm>
              <a:off x="9020175" y="1524000"/>
              <a:ext cx="2638425" cy="1428750"/>
            </a:xfrm>
            <a:prstGeom prst="roundRect">
              <a:avLst>
                <a:gd name="adj" fmla="val 9333"/>
              </a:avLst>
            </a:prstGeom>
            <a:solidFill>
              <a:schemeClr val="accent5"/>
            </a:solidFill>
            <a:ln w="11430">
              <a:solidFill>
                <a:schemeClr val="accent4"/>
              </a:solidFill>
            </a:ln>
          </p:spPr>
        </p:sp>
        <p:sp>
          <p:nvSpPr>
            <p:cNvPr id="24" name="Rectangle 24"/>
            <p:cNvSpPr/>
            <p:nvPr/>
          </p:nvSpPr>
          <p:spPr>
            <a:xfrm>
              <a:off x="9229725" y="1752600"/>
              <a:ext cx="47625" cy="228600"/>
            </a:xfrm>
            <a:prstGeom prst="roundRect">
              <a:avLst>
                <a:gd name="adj" fmla="val 50000"/>
              </a:avLst>
            </a:prstGeom>
            <a:solidFill>
              <a:srgbClr val="57D9A3"/>
            </a:solidFill>
            <a:ln>
              <a:noFill/>
            </a:ln>
          </p:spPr>
        </p:sp>
        <p:sp>
          <p:nvSpPr>
            <p:cNvPr id="25" name="TextBox 25"/>
            <p:cNvSpPr txBox="1"/>
            <p:nvPr/>
          </p:nvSpPr>
          <p:spPr>
            <a:xfrm>
              <a:off x="9582055" y="2076450"/>
              <a:ext cx="1514666" cy="586740"/>
            </a:xfrm>
            <a:prstGeom prst="rect">
              <a:avLst/>
            </a:prstGeom>
            <a:noFill/>
            <a:ln>
              <a:noFill/>
            </a:ln>
          </p:spPr>
          <p:txBody>
            <a:bodyPr wrap="none" lIns="0" tIns="0" rIns="0" bIns="0" anchor="t" anchorCtr="0">
              <a:spAutoFit/>
            </a:bodyPr>
            <a:lstStyle/>
            <a:p>
              <a:pPr algn="ctr"/>
              <a:r>
                <a:rPr lang="en-US" sz="3000" b="1" dirty="0">
                  <a:solidFill>
                    <a:srgbClr val="57D9A3"/>
                  </a:solidFill>
                  <a:latin typeface="+mn-lt"/>
                  <a:ea typeface="+mn-ea"/>
                  <a:cs typeface="+mn-cs"/>
                </a:rPr>
                <a:t>~60.5%</a:t>
              </a:r>
            </a:p>
          </p:txBody>
        </p:sp>
        <p:sp>
          <p:nvSpPr>
            <p:cNvPr id="26" name="TextBox 26"/>
            <p:cNvSpPr txBox="1"/>
            <p:nvPr/>
          </p:nvSpPr>
          <p:spPr>
            <a:xfrm>
              <a:off x="9769928" y="2565797"/>
              <a:ext cx="113891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correct answer +</a:t>
              </a:r>
            </a:p>
          </p:txBody>
        </p:sp>
        <p:sp>
          <p:nvSpPr>
            <p:cNvPr id="27" name="TextBox 27"/>
            <p:cNvSpPr txBox="1"/>
            <p:nvPr/>
          </p:nvSpPr>
          <p:spPr>
            <a:xfrm>
              <a:off x="9865744" y="2745343"/>
              <a:ext cx="947288" cy="169069"/>
            </a:xfrm>
            <a:prstGeom prst="rect">
              <a:avLst/>
            </a:prstGeom>
            <a:noFill/>
            <a:ln>
              <a:noFill/>
            </a:ln>
          </p:spPr>
          <p:txBody>
            <a:bodyPr wrap="none" lIns="0" tIns="0" rIns="0" bIns="0" anchor="t" anchorCtr="0">
              <a:spAutoFit/>
            </a:bodyPr>
            <a:lstStyle/>
            <a:p>
              <a:pPr algn="ctr"/>
              <a:r>
                <a:rPr lang="en-US" sz="860" dirty="0">
                  <a:solidFill>
                    <a:srgbClr val="6E85AC"/>
                  </a:solidFill>
                  <a:latin typeface="+mn-lt"/>
                  <a:ea typeface="+mn-ea"/>
                  <a:cs typeface="+mn-cs"/>
                </a:rPr>
                <a:t>valid explanation</a:t>
              </a:r>
            </a:p>
          </p:txBody>
        </p:sp>
      </p:grpSp>
      <p:grpSp>
        <p:nvGrpSpPr>
          <p:cNvPr id="36" name="Group 36"/>
          <p:cNvGrpSpPr/>
          <p:nvPr/>
        </p:nvGrpSpPr>
        <p:grpSpPr>
          <a:xfrm>
            <a:off x="533400" y="3162300"/>
            <a:ext cx="5562600" cy="1447800"/>
            <a:chOff x="533400" y="3162300"/>
            <a:chExt cx="5562600" cy="1447800"/>
          </a:xfrm>
        </p:grpSpPr>
        <p:sp>
          <p:nvSpPr>
            <p:cNvPr id="29" name="Rectangle 29"/>
            <p:cNvSpPr/>
            <p:nvPr/>
          </p:nvSpPr>
          <p:spPr>
            <a:xfrm>
              <a:off x="533400" y="3162300"/>
              <a:ext cx="5562600" cy="1447800"/>
            </a:xfrm>
            <a:prstGeom prst="roundRect">
              <a:avLst>
                <a:gd name="adj" fmla="val 9211"/>
              </a:avLst>
            </a:prstGeom>
            <a:solidFill>
              <a:schemeClr val="accent6"/>
            </a:solidFill>
            <a:ln w="12382">
              <a:solidFill>
                <a:srgbClr val="F7B84B"/>
              </a:solidFill>
            </a:ln>
          </p:spPr>
        </p:sp>
        <p:sp>
          <p:nvSpPr>
            <p:cNvPr id="30" name="Rectangle 30"/>
            <p:cNvSpPr/>
            <p:nvPr/>
          </p:nvSpPr>
          <p:spPr>
            <a:xfrm>
              <a:off x="723900" y="3390900"/>
              <a:ext cx="47625" cy="285750"/>
            </a:xfrm>
            <a:prstGeom prst="roundRect">
              <a:avLst>
                <a:gd name="adj" fmla="val 50000"/>
              </a:avLst>
            </a:prstGeom>
            <a:solidFill>
              <a:srgbClr val="F7B84B"/>
            </a:solidFill>
            <a:ln>
              <a:noFill/>
            </a:ln>
          </p:spPr>
        </p:sp>
        <p:sp>
          <p:nvSpPr>
            <p:cNvPr id="31" name="TextBox 31"/>
            <p:cNvSpPr txBox="1"/>
            <p:nvPr/>
          </p:nvSpPr>
          <p:spPr>
            <a:xfrm>
              <a:off x="908494" y="3455908"/>
              <a:ext cx="4001996" cy="227362"/>
            </a:xfrm>
            <a:prstGeom prst="rect">
              <a:avLst/>
            </a:prstGeom>
            <a:noFill/>
            <a:ln>
              <a:noFill/>
            </a:ln>
          </p:spPr>
          <p:txBody>
            <a:bodyPr wrap="none" lIns="0" tIns="0" rIns="0" bIns="0" anchor="t" anchorCtr="0">
              <a:spAutoFit/>
            </a:bodyPr>
            <a:lstStyle/>
            <a:p>
              <a:pPr algn="l"/>
              <a:r>
                <a:rPr lang="en-US" sz="1160" b="1" dirty="0">
                  <a:solidFill>
                    <a:srgbClr val="F7B84B"/>
                  </a:solidFill>
                  <a:latin typeface="+mn-lt"/>
                  <a:ea typeface="+mn-ea"/>
                  <a:cs typeface="+mn-cs"/>
                </a:rPr>
                <a:t>Human study: do explanations lead to the answer?</a:t>
              </a:r>
            </a:p>
          </p:txBody>
        </p:sp>
        <p:sp>
          <p:nvSpPr>
            <p:cNvPr id="32" name="TextBox 32"/>
            <p:cNvSpPr txBox="1"/>
            <p:nvPr/>
          </p:nvSpPr>
          <p:spPr>
            <a:xfrm>
              <a:off x="898398" y="3736658"/>
              <a:ext cx="1590399"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65.16%</a:t>
              </a:r>
            </a:p>
          </p:txBody>
        </p:sp>
        <p:sp>
          <p:nvSpPr>
            <p:cNvPr id="33" name="TextBox 33"/>
            <p:cNvSpPr txBox="1"/>
            <p:nvPr/>
          </p:nvSpPr>
          <p:spPr>
            <a:xfrm>
              <a:off x="2852356" y="3834051"/>
              <a:ext cx="275680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of generated explanations were judged by</a:t>
              </a:r>
            </a:p>
          </p:txBody>
        </p:sp>
        <p:sp>
          <p:nvSpPr>
            <p:cNvPr id="34" name="TextBox 34"/>
            <p:cNvSpPr txBox="1"/>
            <p:nvPr/>
          </p:nvSpPr>
          <p:spPr>
            <a:xfrm>
              <a:off x="2852356" y="4024551"/>
              <a:ext cx="235570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annotators to genuinely lead to the</a:t>
              </a:r>
            </a:p>
          </p:txBody>
        </p:sp>
        <p:sp>
          <p:nvSpPr>
            <p:cNvPr id="35" name="TextBox 35"/>
            <p:cNvSpPr txBox="1"/>
            <p:nvPr/>
          </p:nvSpPr>
          <p:spPr>
            <a:xfrm>
              <a:off x="2852356" y="4215051"/>
              <a:ext cx="124078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predicted answer.</a:t>
              </a:r>
            </a:p>
          </p:txBody>
        </p:sp>
      </p:grpSp>
      <p:grpSp>
        <p:nvGrpSpPr>
          <p:cNvPr id="43" name="Group 43"/>
          <p:cNvGrpSpPr/>
          <p:nvPr/>
        </p:nvGrpSpPr>
        <p:grpSpPr>
          <a:xfrm>
            <a:off x="6324600" y="3162300"/>
            <a:ext cx="5334000" cy="1447800"/>
            <a:chOff x="6324600" y="3162300"/>
            <a:chExt cx="5334000" cy="1447800"/>
          </a:xfrm>
        </p:grpSpPr>
        <p:sp>
          <p:nvSpPr>
            <p:cNvPr id="37" name="Rectangle 37"/>
            <p:cNvSpPr/>
            <p:nvPr/>
          </p:nvSpPr>
          <p:spPr>
            <a:xfrm>
              <a:off x="6324600" y="3162300"/>
              <a:ext cx="5334000" cy="1447800"/>
            </a:xfrm>
            <a:prstGeom prst="roundRect">
              <a:avLst>
                <a:gd name="adj" fmla="val 9211"/>
              </a:avLst>
            </a:prstGeom>
            <a:solidFill>
              <a:schemeClr val="accent6"/>
            </a:solidFill>
            <a:ln w="12382">
              <a:solidFill>
                <a:srgbClr val="57D9A3"/>
              </a:solidFill>
            </a:ln>
          </p:spPr>
        </p:sp>
        <p:sp>
          <p:nvSpPr>
            <p:cNvPr id="38" name="Rectangle 38"/>
            <p:cNvSpPr/>
            <p:nvPr/>
          </p:nvSpPr>
          <p:spPr>
            <a:xfrm>
              <a:off x="6534150" y="3390900"/>
              <a:ext cx="47625" cy="285750"/>
            </a:xfrm>
            <a:prstGeom prst="roundRect">
              <a:avLst>
                <a:gd name="adj" fmla="val 50000"/>
              </a:avLst>
            </a:prstGeom>
            <a:solidFill>
              <a:srgbClr val="57D9A3"/>
            </a:solidFill>
            <a:ln>
              <a:noFill/>
            </a:ln>
          </p:spPr>
        </p:sp>
        <p:sp>
          <p:nvSpPr>
            <p:cNvPr id="39" name="TextBox 39"/>
            <p:cNvSpPr txBox="1"/>
            <p:nvPr/>
          </p:nvSpPr>
          <p:spPr>
            <a:xfrm>
              <a:off x="6718744" y="3455908"/>
              <a:ext cx="1698070" cy="227362"/>
            </a:xfrm>
            <a:prstGeom prst="rect">
              <a:avLst/>
            </a:prstGeom>
            <a:noFill/>
            <a:ln>
              <a:noFill/>
            </a:ln>
          </p:spPr>
          <p:txBody>
            <a:bodyPr wrap="none" lIns="0" tIns="0" rIns="0" bIns="0" anchor="t" anchorCtr="0">
              <a:spAutoFit/>
            </a:bodyPr>
            <a:lstStyle/>
            <a:p>
              <a:pPr algn="l"/>
              <a:r>
                <a:rPr lang="en-US" sz="1160" b="1" dirty="0">
                  <a:solidFill>
                    <a:srgbClr val="57D9A3"/>
                  </a:solidFill>
                  <a:latin typeface="+mn-lt"/>
                  <a:ea typeface="+mn-ea"/>
                  <a:cs typeface="+mn-cs"/>
                </a:rPr>
                <a:t>Both right, together</a:t>
              </a:r>
            </a:p>
          </p:txBody>
        </p:sp>
        <p:sp>
          <p:nvSpPr>
            <p:cNvPr id="40" name="TextBox 40"/>
            <p:cNvSpPr txBox="1"/>
            <p:nvPr/>
          </p:nvSpPr>
          <p:spPr>
            <a:xfrm>
              <a:off x="6518910" y="3790950"/>
              <a:ext cx="1514666"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~60.5%</a:t>
              </a:r>
            </a:p>
          </p:txBody>
        </p:sp>
        <p:sp>
          <p:nvSpPr>
            <p:cNvPr id="41" name="TextBox 41"/>
            <p:cNvSpPr txBox="1"/>
            <p:nvPr/>
          </p:nvSpPr>
          <p:spPr>
            <a:xfrm>
              <a:off x="8319706" y="3872151"/>
              <a:ext cx="235624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of cases give a correct answer AND</a:t>
              </a:r>
            </a:p>
          </p:txBody>
        </p:sp>
        <p:sp>
          <p:nvSpPr>
            <p:cNvPr id="42" name="TextBox 42"/>
            <p:cNvSpPr txBox="1"/>
            <p:nvPr/>
          </p:nvSpPr>
          <p:spPr>
            <a:xfrm>
              <a:off x="8319706" y="4062651"/>
              <a:ext cx="172346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valid explanation for it.</a:t>
              </a:r>
            </a:p>
          </p:txBody>
        </p:sp>
      </p:grpSp>
      <p:grpSp>
        <p:nvGrpSpPr>
          <p:cNvPr id="47" name="Group 47"/>
          <p:cNvGrpSpPr/>
          <p:nvPr/>
        </p:nvGrpSpPr>
        <p:grpSpPr>
          <a:xfrm>
            <a:off x="533400" y="4781550"/>
            <a:ext cx="11125200" cy="533400"/>
            <a:chOff x="533400" y="4781550"/>
            <a:chExt cx="11125200" cy="533400"/>
          </a:xfrm>
        </p:grpSpPr>
        <p:sp>
          <p:nvSpPr>
            <p:cNvPr id="44" name="Rectangle 44"/>
            <p:cNvSpPr/>
            <p:nvPr/>
          </p:nvSpPr>
          <p:spPr>
            <a:xfrm>
              <a:off x="533400" y="4781550"/>
              <a:ext cx="11125200" cy="533400"/>
            </a:xfrm>
            <a:prstGeom prst="roundRect">
              <a:avLst>
                <a:gd name="adj" fmla="val 25000"/>
              </a:avLst>
            </a:prstGeom>
            <a:solidFill>
              <a:schemeClr val="accent5"/>
            </a:solidFill>
            <a:ln w="11430">
              <a:solidFill>
                <a:schemeClr val="accent4"/>
              </a:solidFill>
            </a:ln>
          </p:spPr>
        </p:sp>
        <p:sp>
          <p:nvSpPr>
            <p:cNvPr id="45" name="Rectangle 45"/>
            <p:cNvSpPr/>
            <p:nvPr/>
          </p:nvSpPr>
          <p:spPr>
            <a:xfrm>
              <a:off x="723900" y="4933950"/>
              <a:ext cx="47625" cy="228600"/>
            </a:xfrm>
            <a:prstGeom prst="roundRect">
              <a:avLst>
                <a:gd name="adj" fmla="val 50000"/>
              </a:avLst>
            </a:prstGeom>
            <a:solidFill>
              <a:schemeClr val="accent2"/>
            </a:solidFill>
            <a:ln>
              <a:noFill/>
            </a:ln>
          </p:spPr>
        </p:sp>
        <p:sp>
          <p:nvSpPr>
            <p:cNvPr id="46" name="TextBox 46"/>
            <p:cNvSpPr txBox="1"/>
            <p:nvPr/>
          </p:nvSpPr>
          <p:spPr>
            <a:xfrm>
              <a:off x="908304" y="4994910"/>
              <a:ext cx="8899042"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A substantial study: 4,735 image-question pairs · 3 annotators each · 14,205 responses from 111 subjects</a:t>
              </a:r>
            </a:p>
          </p:txBody>
        </p:sp>
      </p:grpSp>
      <p:sp>
        <p:nvSpPr>
          <p:cNvPr id="48" name="cue_s09_c1_four_numbers_summarize_impact_achiev" title="cue_s09_c1_four_numbers_summarize_impact_achiev" descr="cue_s09_c1_four_numbers_summarize_impact_achiev Four numbers summarize the paper's impact. The model achieves a seventy-seven point four nine percent VQA score on GQA-REX and seventy-one point four eight percent on VQA-E, both at state-of-the-art level."/>
          <p:cNvSpPr/>
          <p:nvPr/>
        </p:nvSpPr>
        <p:spPr>
          <a:xfrm>
            <a:off x="532790" y="1523847"/>
            <a:ext cx="111252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9_c2_human_study_sixty_five_point_one" title="cue_s09_c2_human_study_sixty_five_point_one" descr="cue_s09_c2_human_study_sixty_five_point_one In the human study, sixty-five point one six percent of the generated explanations were judged by annotators to genuinely lead to the predicted answer."/>
          <p:cNvSpPr/>
          <p:nvPr/>
        </p:nvSpPr>
        <p:spPr>
          <a:xfrm>
            <a:off x="532790" y="3162223"/>
            <a:ext cx="5561990"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9_c3_roughly_sixty_point_five_percent" title="cue_s09_c3_roughly_sixty_point_five_percent" descr="cue_s09_c3_roughly_sixty_point_five_percent And in roughly sixty point five percent of cases, the model both predicts the correct answer and generates a valid explanation for it."/>
          <p:cNvSpPr/>
          <p:nvPr/>
        </p:nvSpPr>
        <p:spPr>
          <a:xfrm>
            <a:off x="6325209" y="3162223"/>
            <a:ext cx="5334000"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9_c4_human_study_itself_substantial_four" title="cue_s09_c4_human_study_itself_substantial_four" descr="cue_s09_c4_human_study_itself_substantial_four The human study itself was substantial: four thousand seven hundred thirty-five unique image-question pairs from the VQA-E validation set, each rated by three annotators, for over fourteen thousand responses from one hundred eleven subjects."/>
          <p:cNvSpPr/>
          <p:nvPr/>
        </p:nvSpPr>
        <p:spPr>
          <a:xfrm>
            <a:off x="532790" y="4781397"/>
            <a:ext cx="11125200" cy="5335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004920"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TAKEAWAY</a:t>
            </a:r>
          </a:p>
        </p:txBody>
      </p:sp>
      <p:sp>
        <p:nvSpPr>
          <p:cNvPr id="5" name="TextBox 5"/>
          <p:cNvSpPr txBox="1"/>
          <p:nvPr/>
        </p:nvSpPr>
        <p:spPr>
          <a:xfrm>
            <a:off x="518160" y="781050"/>
            <a:ext cx="10899892"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Explanations are cheap; evaluation is the bottleneck</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10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495300"/>
            <a:chOff x="533400" y="1524000"/>
            <a:chExt cx="11125200" cy="495300"/>
          </a:xfrm>
        </p:grpSpPr>
        <p:sp>
          <p:nvSpPr>
            <p:cNvPr id="8" name="Rectangle 8"/>
            <p:cNvSpPr/>
            <p:nvPr/>
          </p:nvSpPr>
          <p:spPr>
            <a:xfrm>
              <a:off x="533400" y="1524000"/>
              <a:ext cx="11125200" cy="495300"/>
            </a:xfrm>
            <a:prstGeom prst="roundRect">
              <a:avLst>
                <a:gd name="adj" fmla="val 26923"/>
              </a:avLst>
            </a:prstGeom>
            <a:solidFill>
              <a:schemeClr val="accent5"/>
            </a:solidFill>
            <a:ln w="11430">
              <a:solidFill>
                <a:schemeClr val="accent4"/>
              </a:solidFill>
            </a:ln>
          </p:spPr>
        </p:sp>
        <p:sp>
          <p:nvSpPr>
            <p:cNvPr id="9" name="Rectangle 9"/>
            <p:cNvSpPr/>
            <p:nvPr/>
          </p:nvSpPr>
          <p:spPr>
            <a:xfrm>
              <a:off x="723900" y="1666875"/>
              <a:ext cx="47625" cy="228600"/>
            </a:xfrm>
            <a:prstGeom prst="roundRect">
              <a:avLst>
                <a:gd name="adj" fmla="val 50000"/>
              </a:avLst>
            </a:prstGeom>
            <a:solidFill>
              <a:schemeClr val="accent2"/>
            </a:solidFill>
            <a:ln>
              <a:noFill/>
            </a:ln>
          </p:spPr>
        </p:sp>
        <p:sp>
          <p:nvSpPr>
            <p:cNvPr id="10" name="TextBox 10"/>
            <p:cNvSpPr txBox="1"/>
            <p:nvPr/>
          </p:nvSpPr>
          <p:spPr>
            <a:xfrm>
              <a:off x="907542" y="1702118"/>
              <a:ext cx="6307833"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lasting message is twofold — one practical, one methodological.</a:t>
              </a:r>
            </a:p>
          </p:txBody>
        </p:sp>
      </p:grpSp>
      <p:grpSp>
        <p:nvGrpSpPr>
          <p:cNvPr id="19" name="Group 19"/>
          <p:cNvGrpSpPr/>
          <p:nvPr/>
        </p:nvGrpSpPr>
        <p:grpSpPr>
          <a:xfrm>
            <a:off x="533400" y="2209800"/>
            <a:ext cx="5448300" cy="1504950"/>
            <a:chOff x="533400" y="2209800"/>
            <a:chExt cx="5448300" cy="1504950"/>
          </a:xfrm>
        </p:grpSpPr>
        <p:sp>
          <p:nvSpPr>
            <p:cNvPr id="12" name="Rectangle 12"/>
            <p:cNvSpPr/>
            <p:nvPr/>
          </p:nvSpPr>
          <p:spPr>
            <a:xfrm>
              <a:off x="533400" y="2209800"/>
              <a:ext cx="5448300" cy="1504950"/>
            </a:xfrm>
            <a:prstGeom prst="roundRect">
              <a:avLst>
                <a:gd name="adj" fmla="val 8861"/>
              </a:avLst>
            </a:prstGeom>
            <a:solidFill>
              <a:schemeClr val="accent6"/>
            </a:solidFill>
            <a:ln w="12382">
              <a:solidFill>
                <a:srgbClr val="57D9A3"/>
              </a:solidFill>
            </a:ln>
          </p:spPr>
        </p:sp>
        <p:sp>
          <p:nvSpPr>
            <p:cNvPr id="13" name="Rectangle 13"/>
            <p:cNvSpPr/>
            <p:nvPr/>
          </p:nvSpPr>
          <p:spPr>
            <a:xfrm>
              <a:off x="742950" y="2438400"/>
              <a:ext cx="47625" cy="285750"/>
            </a:xfrm>
            <a:prstGeom prst="roundRect">
              <a:avLst>
                <a:gd name="adj" fmla="val 50000"/>
              </a:avLst>
            </a:prstGeom>
            <a:solidFill>
              <a:srgbClr val="57D9A3"/>
            </a:solidFill>
            <a:ln>
              <a:noFill/>
            </a:ln>
          </p:spPr>
        </p:sp>
        <p:sp>
          <p:nvSpPr>
            <p:cNvPr id="14" name="TextBox 14"/>
            <p:cNvSpPr txBox="1"/>
            <p:nvPr/>
          </p:nvSpPr>
          <p:spPr>
            <a:xfrm>
              <a:off x="927354" y="2499360"/>
              <a:ext cx="915810" cy="234696"/>
            </a:xfrm>
            <a:prstGeom prst="rect">
              <a:avLst/>
            </a:prstGeom>
            <a:noFill/>
            <a:ln>
              <a:noFill/>
            </a:ln>
          </p:spPr>
          <p:txBody>
            <a:bodyPr wrap="none" lIns="0" tIns="0" rIns="0" bIns="0" anchor="t" anchorCtr="0">
              <a:spAutoFit/>
            </a:bodyPr>
            <a:lstStyle/>
            <a:p>
              <a:pPr algn="l"/>
              <a:r>
                <a:rPr lang="en-US" sz="1200" b="1" dirty="0">
                  <a:solidFill>
                    <a:srgbClr val="57D9A3"/>
                  </a:solidFill>
                  <a:latin typeface="+mn-lt"/>
                  <a:ea typeface="+mn-ea"/>
                  <a:cs typeface="+mn-cs"/>
                </a:rPr>
                <a:t>Practically</a:t>
              </a:r>
            </a:p>
          </p:txBody>
        </p:sp>
        <p:sp>
          <p:nvSpPr>
            <p:cNvPr id="15" name="TextBox 15"/>
            <p:cNvSpPr txBox="1"/>
            <p:nvPr/>
          </p:nvSpPr>
          <p:spPr>
            <a:xfrm>
              <a:off x="737426" y="2854404"/>
              <a:ext cx="311925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Explanation generation can be bolted onto a</a:t>
              </a:r>
            </a:p>
          </p:txBody>
        </p:sp>
        <p:sp>
          <p:nvSpPr>
            <p:cNvPr id="16" name="TextBox 16"/>
            <p:cNvSpPr txBox="1"/>
            <p:nvPr/>
          </p:nvSpPr>
          <p:spPr>
            <a:xfrm>
              <a:off x="737426" y="3063954"/>
              <a:ext cx="340926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state-of-the-art VQA backbone with almost no</a:t>
              </a:r>
            </a:p>
          </p:txBody>
        </p:sp>
        <p:sp>
          <p:nvSpPr>
            <p:cNvPr id="17" name="TextBox 17"/>
            <p:cNvSpPr txBox="1"/>
            <p:nvPr/>
          </p:nvSpPr>
          <p:spPr>
            <a:xfrm>
              <a:off x="737426" y="3273504"/>
              <a:ext cx="312918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loss in answer accuracy — a human-readable</a:t>
              </a:r>
            </a:p>
          </p:txBody>
        </p:sp>
        <p:sp>
          <p:nvSpPr>
            <p:cNvPr id="18" name="TextBox 18"/>
            <p:cNvSpPr txBox="1"/>
            <p:nvPr/>
          </p:nvSpPr>
          <p:spPr>
            <a:xfrm>
              <a:off x="737426" y="3483054"/>
              <a:ext cx="194062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reason with every answer.</a:t>
              </a:r>
            </a:p>
          </p:txBody>
        </p:sp>
      </p:grpSp>
      <p:grpSp>
        <p:nvGrpSpPr>
          <p:cNvPr id="26" name="Group 26"/>
          <p:cNvGrpSpPr/>
          <p:nvPr/>
        </p:nvGrpSpPr>
        <p:grpSpPr>
          <a:xfrm>
            <a:off x="6210300" y="2209800"/>
            <a:ext cx="5448300" cy="1504950"/>
            <a:chOff x="6210300" y="2209800"/>
            <a:chExt cx="5448300" cy="1504950"/>
          </a:xfrm>
        </p:grpSpPr>
        <p:sp>
          <p:nvSpPr>
            <p:cNvPr id="20" name="Rectangle 20"/>
            <p:cNvSpPr/>
            <p:nvPr/>
          </p:nvSpPr>
          <p:spPr>
            <a:xfrm>
              <a:off x="6210300" y="2209800"/>
              <a:ext cx="5448300" cy="1504950"/>
            </a:xfrm>
            <a:prstGeom prst="roundRect">
              <a:avLst>
                <a:gd name="adj" fmla="val 8861"/>
              </a:avLst>
            </a:prstGeom>
            <a:solidFill>
              <a:schemeClr val="accent6"/>
            </a:solidFill>
            <a:ln w="12382">
              <a:solidFill>
                <a:srgbClr val="F2708A"/>
              </a:solidFill>
            </a:ln>
          </p:spPr>
        </p:sp>
        <p:sp>
          <p:nvSpPr>
            <p:cNvPr id="21" name="Rectangle 21"/>
            <p:cNvSpPr/>
            <p:nvPr/>
          </p:nvSpPr>
          <p:spPr>
            <a:xfrm>
              <a:off x="6419850" y="2438400"/>
              <a:ext cx="47625" cy="285750"/>
            </a:xfrm>
            <a:prstGeom prst="roundRect">
              <a:avLst>
                <a:gd name="adj" fmla="val 50000"/>
              </a:avLst>
            </a:prstGeom>
            <a:solidFill>
              <a:srgbClr val="F2708A"/>
            </a:solidFill>
            <a:ln>
              <a:noFill/>
            </a:ln>
          </p:spPr>
        </p:sp>
        <p:sp>
          <p:nvSpPr>
            <p:cNvPr id="22" name="TextBox 22"/>
            <p:cNvSpPr txBox="1"/>
            <p:nvPr/>
          </p:nvSpPr>
          <p:spPr>
            <a:xfrm>
              <a:off x="6604254" y="2499360"/>
              <a:ext cx="1373962" cy="234696"/>
            </a:xfrm>
            <a:prstGeom prst="rect">
              <a:avLst/>
            </a:prstGeom>
            <a:noFill/>
            <a:ln>
              <a:noFill/>
            </a:ln>
          </p:spPr>
          <p:txBody>
            <a:bodyPr wrap="none" lIns="0" tIns="0" rIns="0" bIns="0" anchor="t" anchorCtr="0">
              <a:spAutoFit/>
            </a:bodyPr>
            <a:lstStyle/>
            <a:p>
              <a:pPr algn="l"/>
              <a:r>
                <a:rPr lang="en-US" sz="1200" b="1" dirty="0">
                  <a:solidFill>
                    <a:srgbClr val="F2708A"/>
                  </a:solidFill>
                  <a:latin typeface="+mn-lt"/>
                  <a:ea typeface="+mn-ea"/>
                  <a:cs typeface="+mn-cs"/>
                </a:rPr>
                <a:t>Methodologically</a:t>
              </a:r>
            </a:p>
          </p:txBody>
        </p:sp>
        <p:sp>
          <p:nvSpPr>
            <p:cNvPr id="23" name="TextBox 23"/>
            <p:cNvSpPr txBox="1"/>
            <p:nvPr/>
          </p:nvSpPr>
          <p:spPr>
            <a:xfrm>
              <a:off x="6414326" y="2854404"/>
              <a:ext cx="375984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Concrete examples show BLEU and ROUGE can reward</a:t>
              </a:r>
            </a:p>
          </p:txBody>
        </p:sp>
        <p:sp>
          <p:nvSpPr>
            <p:cNvPr id="24" name="TextBox 24"/>
            <p:cNvSpPr txBox="1"/>
            <p:nvPr/>
          </p:nvSpPr>
          <p:spPr>
            <a:xfrm>
              <a:off x="6414326" y="3063954"/>
              <a:ext cx="323923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wrong explanation and penalize a valid one —</a:t>
              </a:r>
            </a:p>
          </p:txBody>
        </p:sp>
        <p:sp>
          <p:nvSpPr>
            <p:cNvPr id="25" name="TextBox 25"/>
            <p:cNvSpPr txBox="1"/>
            <p:nvPr/>
          </p:nvSpPr>
          <p:spPr>
            <a:xfrm>
              <a:off x="6414326" y="3273504"/>
              <a:ext cx="242485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they are unreliable for this task.</a:t>
              </a:r>
            </a:p>
          </p:txBody>
        </p:sp>
      </p:grpSp>
      <p:grpSp>
        <p:nvGrpSpPr>
          <p:cNvPr id="31" name="Group 31"/>
          <p:cNvGrpSpPr/>
          <p:nvPr/>
        </p:nvGrpSpPr>
        <p:grpSpPr>
          <a:xfrm>
            <a:off x="533400" y="3886200"/>
            <a:ext cx="11125200" cy="914400"/>
            <a:chOff x="533400" y="3886200"/>
            <a:chExt cx="11125200" cy="914400"/>
          </a:xfrm>
        </p:grpSpPr>
        <p:sp>
          <p:nvSpPr>
            <p:cNvPr id="27" name="Rectangle 27"/>
            <p:cNvSpPr/>
            <p:nvPr/>
          </p:nvSpPr>
          <p:spPr>
            <a:xfrm>
              <a:off x="533400" y="3886200"/>
              <a:ext cx="11125200" cy="914400"/>
            </a:xfrm>
            <a:prstGeom prst="roundRect">
              <a:avLst>
                <a:gd name="adj" fmla="val 14583"/>
              </a:avLst>
            </a:prstGeom>
            <a:solidFill>
              <a:schemeClr val="accent6"/>
            </a:solidFill>
            <a:ln w="12382">
              <a:solidFill>
                <a:schemeClr val="accent2"/>
              </a:solidFill>
            </a:ln>
          </p:spPr>
        </p:sp>
        <p:sp>
          <p:nvSpPr>
            <p:cNvPr id="28" name="Rectangle 28"/>
            <p:cNvSpPr/>
            <p:nvPr/>
          </p:nvSpPr>
          <p:spPr>
            <a:xfrm>
              <a:off x="723900" y="4095750"/>
              <a:ext cx="47625" cy="495300"/>
            </a:xfrm>
            <a:prstGeom prst="roundRect">
              <a:avLst>
                <a:gd name="adj" fmla="val 50000"/>
              </a:avLst>
            </a:prstGeom>
            <a:solidFill>
              <a:schemeClr val="accent2"/>
            </a:solidFill>
            <a:ln>
              <a:noFill/>
            </a:ln>
          </p:spPr>
        </p:sp>
        <p:sp>
          <p:nvSpPr>
            <p:cNvPr id="29" name="TextBox 29"/>
            <p:cNvSpPr txBox="1"/>
            <p:nvPr/>
          </p:nvSpPr>
          <p:spPr>
            <a:xfrm>
              <a:off x="906780" y="4143375"/>
              <a:ext cx="653167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The real bottleneck is not the generator — it is the evaluation.</a:t>
              </a:r>
            </a:p>
          </p:txBody>
        </p:sp>
        <p:sp>
          <p:nvSpPr>
            <p:cNvPr id="30" name="TextBox 30"/>
            <p:cNvSpPr txBox="1"/>
            <p:nvPr/>
          </p:nvSpPr>
          <p:spPr>
            <a:xfrm>
              <a:off x="908685" y="4469606"/>
              <a:ext cx="750996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authors urge the community to develop proper reasoning-aware metrics for judging explanations.</a:t>
              </a:r>
            </a:p>
          </p:txBody>
        </p:sp>
      </p:grpSp>
      <p:sp>
        <p:nvSpPr>
          <p:cNvPr id="32" name="Line 32"/>
          <p:cNvSpPr/>
          <p:nvPr/>
        </p:nvSpPr>
        <p:spPr>
          <a:xfrm>
            <a:off x="533400" y="50101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sp>
        <p:nvSpPr>
          <p:cNvPr id="33" name="TextBox 33"/>
          <p:cNvSpPr txBox="1"/>
          <p:nvPr/>
        </p:nvSpPr>
        <p:spPr>
          <a:xfrm>
            <a:off x="527876" y="5159454"/>
            <a:ext cx="411355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Towards Reasoning-Aware Explainable VQA · NeurIPS 2022</a:t>
            </a:r>
          </a:p>
        </p:txBody>
      </p:sp>
      <p:sp>
        <p:nvSpPr>
          <p:cNvPr id="34" name="TextBox 34"/>
          <p:cNvSpPr txBox="1"/>
          <p:nvPr/>
        </p:nvSpPr>
        <p:spPr>
          <a:xfrm>
            <a:off x="9731246" y="5163502"/>
            <a:ext cx="1932688" cy="205359"/>
          </a:xfrm>
          <a:prstGeom prst="rect">
            <a:avLst/>
          </a:prstGeom>
          <a:noFill/>
          <a:ln>
            <a:noFill/>
          </a:ln>
        </p:spPr>
        <p:txBody>
          <a:bodyPr wrap="none" lIns="0" tIns="0" rIns="0" bIns="0" anchor="t" anchorCtr="0">
            <a:spAutoFit/>
          </a:bodyPr>
          <a:lstStyle/>
          <a:p>
            <a:pPr algn="r"/>
            <a:r>
              <a:rPr lang="en-US" sz="1050" b="1" dirty="0">
                <a:solidFill>
                  <a:schemeClr val="accent2"/>
                </a:solidFill>
                <a:latin typeface="Consolas"/>
                <a:ea typeface="Consolas"/>
                <a:cs typeface="Consolas"/>
              </a:rPr>
              <a:t>arxiv.org/abs/2211.05190</a:t>
            </a:r>
          </a:p>
        </p:txBody>
      </p:sp>
      <p:sp>
        <p:nvSpPr>
          <p:cNvPr id="35" name="cue_s10_c1_lasting_message_twofold" title="cue_s10_c1_lasting_message_twofold" descr="cue_s10_c1_lasting_message_twofold The lasting message is twofold."/>
          <p:cNvSpPr/>
          <p:nvPr/>
        </p:nvSpPr>
        <p:spPr>
          <a:xfrm>
            <a:off x="532790" y="1523847"/>
            <a:ext cx="11125200" cy="4951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10_c2_practically_explanation_generation_a" title="cue_s10_c2_practically_explanation_generation_a" descr="cue_s10_c2_practically_explanation_generation_a Practically, explanation generation can be added to a state-of-the-art VQA backbone with almost no loss in answer accuracy, giving users a human-readable reason alongside each answer."/>
          <p:cNvSpPr/>
          <p:nvPr/>
        </p:nvSpPr>
        <p:spPr>
          <a:xfrm>
            <a:off x="532790" y="2209647"/>
            <a:ext cx="5448604"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10_c3_but_methodologically_shows_through_c" title="cue_s10_c3_but_methodologically_shows_through_c" descr="cue_s10_c3_but_methodologically_shows_through_c But methodologically, the paper shows through concrete examples that string-matching metrics like BLEU and ROUGE can reward a wrong explanation and penalize a valid one, so they are unreliable for this task."/>
          <p:cNvSpPr/>
          <p:nvPr/>
        </p:nvSpPr>
        <p:spPr>
          <a:xfrm>
            <a:off x="6210604" y="2209647"/>
            <a:ext cx="5448604"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10_c4_authors_therefore_argue_real_bottlen" title="cue_s10_c4_authors_therefore_argue_real_bottlen" descr="cue_s10_c4_authors_therefore_argue_real_bottlen The authors therefore argue that the real bottleneck for explainable VQA is not the generator but the evaluation, and they urge the community to develop proper reasoning-aware metrics for judging explanations."/>
          <p:cNvSpPr/>
          <p:nvPr/>
        </p:nvSpPr>
        <p:spPr>
          <a:xfrm>
            <a:off x="532790" y="3886428"/>
            <a:ext cx="11125200"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Free Design">
  <a:themeElements>
    <a:clrScheme name="Free Design">
      <a:dk1>
        <a:srgbClr val="EAF1FB"/>
      </a:dk1>
      <a:lt1>
        <a:srgbClr val="0B1220"/>
      </a:lt1>
      <a:dk2>
        <a:srgbClr val="A6BADB"/>
      </a:dk2>
      <a:lt2>
        <a:srgbClr val="0E1A30"/>
      </a:lt2>
      <a:accent1>
        <a:srgbClr val="4F9DF7"/>
      </a:accent1>
      <a:accent2>
        <a:srgbClr val="4F9DF7"/>
      </a:accent2>
      <a:accent3>
        <a:srgbClr val="4F9DF7"/>
      </a:accent3>
      <a:accent4>
        <a:srgbClr val="2B4068"/>
      </a:accent4>
      <a:accent5>
        <a:srgbClr val="14223C"/>
      </a:accent5>
      <a:accent6>
        <a:srgbClr val="1A2B49"/>
      </a:accent6>
      <a:hlink>
        <a:srgbClr val="4F9DF7"/>
      </a:hlink>
      <a:folHlink>
        <a:srgbClr val="4F9DF7"/>
      </a:folHlink>
    </a:clrScheme>
    <a:fontScheme name="Free 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ree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2026-07-16T08:10:47Z</dcterms:created>
  <dcterms:modified xsi:type="dcterms:W3CDTF">2026-07-16T08:10:47Z</dcterms:modified>
  <cp:category/>
  <cp:contentStatus/>
</cp:coreProperties>
</file>
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6349682" cy="8225055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376783"/>
            <a:ext cx="16349682" cy="18013640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376783"/>
            <a:ext cx="16349821" cy="121588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933685"/>
            <a:ext cx="16349682" cy="16138267"/>
          </a:xfrm>
          <a:prstGeom prst="roundRect">
            <a:avLst>
              <a:gd name="adj" fmla="val 102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7867510"/>
            <a:ext cx="16349821" cy="5467489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666846"/>
            <a:ext cx="16349821" cy="6405106"/>
          </a:xfrm>
          <a:prstGeom prst="roundRect">
            <a:avLst>
              <a:gd name="adj" fmla="val 2590"/>
            </a:avLst>
          </a:prstGeom>
          <a:solidFill>
            <a:srgbClr val="F7EDEE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666846"/>
            <a:ext cx="53340" cy="6405106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428289" y="23722270"/>
            <a:ext cx="16349682" cy="6349682"/>
          </a:xfrm>
          <a:prstGeom prst="roundRect">
            <a:avLst>
              <a:gd name="adj" fmla="val 2613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singhu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02" y="1388926"/>
            <a:ext cx="8636358" cy="2729224"/>
          </a:xfrm>
          <a:prstGeom prst="rect">
            <a:avLst/>
          </a:prstGeom>
        </p:spPr>
      </p:pic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9467" y="1805376"/>
            <a:ext cx="5620425" cy="18964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39991" y="5764887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6675139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16393" y="5764887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16393" y="6675139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92795" y="5764887"/>
            <a:ext cx="1557361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92795" y="6675139"/>
            <a:ext cx="1557361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1054715"/>
            <a:ext cx="15573474" cy="2159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1054715"/>
            <a:ext cx="124460" cy="2159019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816393" y="13199983"/>
            <a:ext cx="15573474" cy="2550041"/>
          </a:xfrm>
          <a:prstGeom prst="roundRect">
            <a:avLst>
              <a:gd name="adj" fmla="val 8835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4321790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5232042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592795" y="18160880"/>
            <a:ext cx="1557361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92795" y="19071133"/>
            <a:ext cx="1557361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592795" y="19408953"/>
            <a:ext cx="15573613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9991" y="20472142"/>
            <a:ext cx="15573474" cy="1647983"/>
          </a:xfrm>
          <a:prstGeom prst="roundRect">
            <a:avLst>
              <a:gd name="adj" fmla="val 1265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637245" y="24054950"/>
            <a:ext cx="1552916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637245" y="24965203"/>
            <a:ext cx="1552916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16393" y="24110374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816393" y="25020627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637245" y="25303023"/>
            <a:ext cx="15529163" cy="4380825"/>
          </a:xfrm>
          <a:prstGeom prst="roundRect">
            <a:avLst>
              <a:gd name="adj" fmla="val 4762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742258" y="10751899"/>
            <a:ext cx="15274548" cy="5116195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2404" y="10751899"/>
            <a:ext cx="15274257" cy="511619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7829867" y="16217999"/>
            <a:ext cx="15546387" cy="4948952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29979" y="16217999"/>
            <a:ext cx="15546164" cy="494895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3674903" y="19631203"/>
            <a:ext cx="6245641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74903" y="19631203"/>
            <a:ext cx="11557" cy="3235682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15833" y="22380852"/>
            <a:ext cx="15421789" cy="54676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971" y="22380852"/>
            <a:ext cx="15421514" cy="546762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7816393" y="27887791"/>
            <a:ext cx="1830090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ETT×4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802891" y="27887791"/>
            <a:ext cx="2228334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Weather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187634" y="27887791"/>
            <a:ext cx="2606437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Electricity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950479" y="27887791"/>
            <a:ext cx="1817866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Traffic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924754" y="27887791"/>
            <a:ext cx="2581572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Exchange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662735" y="27887791"/>
            <a:ext cx="112778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946923" y="27887791"/>
            <a:ext cx="221152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TDBrain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816393" y="28864024"/>
            <a:ext cx="1374199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PTB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347001" y="28864024"/>
            <a:ext cx="2901196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TSLD-500M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404605" y="28864024"/>
            <a:ext cx="2383770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TSLD-1G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816393" y="7079495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816393" y="8270894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816393" y="9462293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816393" y="1138392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592795" y="7211317"/>
            <a:ext cx="8827909" cy="81440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592795" y="8016835"/>
            <a:ext cx="882790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420704" y="7211317"/>
            <a:ext cx="3773805" cy="81440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420704" y="8016835"/>
            <a:ext cx="37738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194509" y="7211317"/>
            <a:ext cx="2971899" cy="81440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194509" y="8016835"/>
            <a:ext cx="29718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92795" y="8025725"/>
            <a:ext cx="882790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592795" y="8835687"/>
            <a:ext cx="882790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420704" y="8025725"/>
            <a:ext cx="377380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420704" y="8835687"/>
            <a:ext cx="37738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194509" y="8025725"/>
            <a:ext cx="297189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194509" y="8835687"/>
            <a:ext cx="29718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592795" y="8844577"/>
            <a:ext cx="882790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592795" y="9654540"/>
            <a:ext cx="882790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420704" y="8844577"/>
            <a:ext cx="3773805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420704" y="9654540"/>
            <a:ext cx="37738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194509" y="8844577"/>
            <a:ext cx="297189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194509" y="9654540"/>
            <a:ext cx="29718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592795" y="9663430"/>
            <a:ext cx="8827909" cy="81885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592795" y="10473392"/>
            <a:ext cx="882790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420704" y="9663430"/>
            <a:ext cx="3773805" cy="81885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420704" y="10473392"/>
            <a:ext cx="377380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194509" y="9663430"/>
            <a:ext cx="2971899" cy="81885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7194509" y="10473392"/>
            <a:ext cx="29718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973"/>
              </a:lnSpc>
              <a:spcBef>
                <a:spcPts val="0"/>
              </a:spcBef>
              <a:spcAft>
                <a:spcPts val="0"/>
              </a:spcAft>
            </a:pPr>
            <a:r>
              <a:rPr sz="7248" b="1" spc="-78">
                <a:solidFill>
                  <a:srgbClr val="8F2437"/>
                </a:solidFill>
                <a:latin typeface="Arial"/>
              </a:rPr>
              <a:t>TimeSiam: A Pre-Training Framework for Siamese</a:t>
            </a:r>
          </a:p>
          <a:p>
            <a:pPr algn="ctr">
              <a:lnSpc>
                <a:spcPts val="7973"/>
              </a:lnSpc>
              <a:spcBef>
                <a:spcPts val="0"/>
              </a:spcBef>
              <a:spcAft>
                <a:spcPts val="0"/>
              </a:spcAft>
            </a:pPr>
            <a:r>
              <a:rPr sz="7248" b="1" spc="-78">
                <a:solidFill>
                  <a:srgbClr val="8F2437"/>
                </a:solidFill>
                <a:latin typeface="Arial"/>
              </a:rPr>
              <a:t>Time-Series Modeling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Jiaxiang Dong, Haixu Wu, Yuxuan Wang, Yunzhong Qiu, Li Zhang, Jianmin Wang, Mingsheng Long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Arial"/>
              </a:rPr>
              <a:t>School of Software, BNRist, Tsinghua University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91" y="5764887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Problem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816393" y="5764887"/>
            <a:ext cx="16000194" cy="1067236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Method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592795" y="5764887"/>
            <a:ext cx="16000333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Key Results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91" y="7012959"/>
            <a:ext cx="1600019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Self-supervised pre-training reuses </a:t>
            </a:r>
            <a:r>
              <a:rPr sz="4106" b="1">
                <a:solidFill>
                  <a:srgbClr val="111111"/>
                </a:solidFill>
                <a:latin typeface="Arial"/>
              </a:rPr>
              <a:t>masked modeling</a:t>
            </a:r>
            <a:r>
              <a:rPr sz="4106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contrastive learning</a:t>
            </a:r>
            <a:r>
              <a:rPr sz="4106" b="0">
                <a:solidFill>
                  <a:srgbClr val="1C1C1C"/>
                </a:solidFill>
                <a:latin typeface="Arial"/>
              </a:rPr>
              <a:t> from vision and language. On time series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both misfire: randomly masking a series or scoring series-wise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similarity </a:t>
            </a:r>
            <a:r>
              <a:rPr sz="4106" b="1">
                <a:solidFill>
                  <a:srgbClr val="111111"/>
                </a:solidFill>
                <a:latin typeface="Arial"/>
              </a:rPr>
              <a:t>distorts or neglects the temporal correlations</a:t>
            </a:r>
            <a:r>
              <a:rPr sz="4106" b="0">
                <a:solidFill>
                  <a:srgbClr val="1C1C1C"/>
                </a:solidFill>
                <a:latin typeface="Arial"/>
              </a:rPr>
              <a:t> intrinsic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crucial to time-series data.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991" y="11054715"/>
            <a:ext cx="16000194" cy="24828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Masking shatters smooth temporal structure; contrastive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learning ignores fine-grained within-series correlations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needs augmentations hard to design for time series.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9991" y="14321790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Motivation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976955" y="15309691"/>
            <a:ext cx="13649920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Tinos"/>
              </a:rPr>
              <a:t>Past-to-current reconstruction is the sole objective — forcing the model to internalize how distant moments correlate.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592795" y="18160880"/>
            <a:ext cx="16000333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Headline Numbers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9991" y="20472142"/>
            <a:ext cx="16000194" cy="1895180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A method that explicitly emphasizes </a:t>
            </a:r>
            <a:r>
              <a:rPr sz="4106" b="1">
                <a:solidFill>
                  <a:srgbClr val="111111"/>
                </a:solidFill>
                <a:latin typeface="Arial"/>
              </a:rPr>
              <a:t>temporal-correlation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modeling</a:t>
            </a:r>
            <a:r>
              <a:rPr sz="4106" b="0">
                <a:solidFill>
                  <a:srgbClr val="8F2437"/>
                </a:solidFill>
                <a:latin typeface="Arial"/>
              </a:rPr>
              <a:t> could unlock this data for downstream tasks.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637245" y="24054950"/>
            <a:ext cx="1595588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Takeaway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816393" y="24110374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Dataset / Benchmark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637245" y="25303023"/>
            <a:ext cx="15955883" cy="5037948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Reframe time-series pre-training as </a:t>
            </a:r>
            <a:r>
              <a:rPr sz="4106" b="1">
                <a:solidFill>
                  <a:srgbClr val="111111"/>
                </a:solidFill>
                <a:latin typeface="Arial"/>
              </a:rPr>
              <a:t>past-to-current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reconstruction</a:t>
            </a:r>
            <a:r>
              <a:rPr sz="4106" b="1">
                <a:solidFill>
                  <a:srgbClr val="FFFFFF"/>
                </a:solidFill>
                <a:latin typeface="Arial"/>
              </a:rPr>
              <a:t> between Siamese subseries with learnable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lineage embeddings — capturing the temporal correlations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masking and contrastive methods miss, for simple,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general, state-of-the-art transfer across tasks and domains.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Backbone-agnostic on iTransformer, PatchTST and TCN.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16393" y="25358447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13 benchmarks over two tasks, plus two </a:t>
            </a:r>
            <a:r>
              <a:rPr sz="4106" b="1">
                <a:solidFill>
                  <a:srgbClr val="111111"/>
                </a:solidFill>
                <a:latin typeface="Arial"/>
              </a:rPr>
              <a:t>newly constructed</a:t>
            </a:r>
            <a:r>
              <a:rPr sz="4106" b="0">
                <a:solidFill>
                  <a:srgbClr val="1C1C1C"/>
                </a:solidFill>
                <a:latin typeface="Arial"/>
              </a:rPr>
              <a:t> large-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scale multi-domain corpora (TSLD-500M, TSLD-1G with 13.9M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examples) for cross-domain pre-training.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778535" y="7079495"/>
            <a:ext cx="15038052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Sample</a:t>
            </a:r>
            <a:r>
              <a:rPr sz="4106" b="0">
                <a:solidFill>
                  <a:srgbClr val="1C1C1C"/>
                </a:solidFill>
                <a:latin typeface="Arial"/>
              </a:rPr>
              <a:t> a past and current subseries from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same</a:t>
            </a:r>
            <a:r>
              <a:rPr sz="4106" b="0">
                <a:solidFill>
                  <a:srgbClr val="1C1C1C"/>
                </a:solidFill>
                <a:latin typeface="Arial"/>
              </a:rPr>
              <a:t> series.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778535" y="8270894"/>
            <a:ext cx="15038052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Mask</a:t>
            </a:r>
            <a:r>
              <a:rPr sz="4106" b="0">
                <a:solidFill>
                  <a:srgbClr val="1C1C1C"/>
                </a:solidFill>
                <a:latin typeface="Arial"/>
              </a:rPr>
              <a:t> the current subseries with a simple augmentation.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778535" y="9462293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Reconstruct:</a:t>
            </a:r>
            <a:r>
              <a:rPr sz="4106" b="0">
                <a:solidFill>
                  <a:srgbClr val="1C1C1C"/>
                </a:solidFill>
                <a:latin typeface="Arial"/>
              </a:rPr>
              <a:t> shared Siamese encoders + a cross-attention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decoder rebuild the current series from the past.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778535" y="11383922"/>
            <a:ext cx="15038052" cy="18501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Lineage embeddings</a:t>
            </a:r>
            <a:r>
              <a:rPr sz="4106" b="0">
                <a:solidFill>
                  <a:srgbClr val="1C1C1C"/>
                </a:solidFill>
                <a:latin typeface="Arial"/>
              </a:rPr>
              <a:t> indexed by past→current distance span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many temporal gaps.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972" y="15569862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Unlabeled data is exploding.</a:t>
            </a:r>
            <a:r>
              <a:rPr sz="4106" b="0">
                <a:solidFill>
                  <a:srgbClr val="1C1C1C"/>
                </a:solidFill>
                <a:latin typeface="Arial"/>
              </a:rPr>
              <a:t> IoT sensors and wearables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stream ever-growing volumes of time series, ready for label-free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pre-training at scale.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353307" y="16017696"/>
            <a:ext cx="14474024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TimeSiam (red star) beats 8 SSL baselines on forecasting (MSE↓) and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classification (Acc↑), in- and cross-domain.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72" y="18021002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Prior work wastes the signal.</a:t>
            </a:r>
            <a:r>
              <a:rPr sz="4106" b="0">
                <a:solidFill>
                  <a:srgbClr val="1C1C1C"/>
                </a:solidFill>
                <a:latin typeface="Arial"/>
              </a:rPr>
              <a:t> Each subseries is treated in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isolation, overlooking the chronological relationship between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temporally distanced observations.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451750" y="21316553"/>
            <a:ext cx="14729341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TimeSiam pre-trains shared Siamese encoders on past/current subseries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and fuses learnable lineage embeddings; fine-tuning averages (fixed input)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or concatenates (extended input) the lineages.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32716" y="27998082"/>
            <a:ext cx="14613663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Time-series pre-training paradigms: (a) masked modeling reconstructs 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masked series; (b) contrastive learning scores similarity; (c) TimeSiam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reconstructs the masked current series from a sampled past observation.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838659" y="19631203"/>
            <a:ext cx="85104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+11.5%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838659" y="21006097"/>
            <a:ext cx="85104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average classification-accuracy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gain, in-domain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838659" y="22049005"/>
            <a:ext cx="8510437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random initialization, averaged across the AD,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TDBrain and PTB medical classification benchmarks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592795" y="7211317"/>
            <a:ext cx="9092746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In-domain forecast (avg MSE↓)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3420704" y="7211317"/>
            <a:ext cx="3887019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Random init.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194509" y="7211317"/>
            <a:ext cx="3061055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TimeSiam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592795" y="8025725"/>
            <a:ext cx="909274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ETTh1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20704" y="8025725"/>
            <a:ext cx="388701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0.473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194509" y="8025725"/>
            <a:ext cx="3061055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0.429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592795" y="8844577"/>
            <a:ext cx="9092746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ETTm1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420704" y="8844577"/>
            <a:ext cx="388701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0.390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194509" y="8844577"/>
            <a:ext cx="3061055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0.374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592795" y="9663430"/>
            <a:ext cx="9092746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Traffic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420704" y="9663430"/>
            <a:ext cx="388701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0.490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194509" y="9663430"/>
            <a:ext cx="3061055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0.453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4153157" y="19631203"/>
            <a:ext cx="157996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−5.7%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869621" y="19764553"/>
            <a:ext cx="417245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forecast MSE (PatchTST)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4153157" y="20796627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931310" y="20929977"/>
            <a:ext cx="339985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benchmarks covered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153157" y="21962189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633495" y="22095539"/>
            <a:ext cx="355008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SSL baselines beaten</a:t>
            </a:r>
          </a:p>
        </p:txBody>
      </p:sp>
      <p:pic>
        <p:nvPicPr>
          <p:cNvPr id="125" name="Picture 124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9499" y="13839646"/>
            <a:ext cx="14767262" cy="8623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
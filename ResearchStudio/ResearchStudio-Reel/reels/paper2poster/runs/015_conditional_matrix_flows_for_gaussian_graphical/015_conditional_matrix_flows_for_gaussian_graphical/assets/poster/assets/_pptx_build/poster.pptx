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6349682" cy="7279521"/>
          </a:xfrm>
          <a:prstGeom prst="roundRect">
            <a:avLst>
              <a:gd name="adj" fmla="val 227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254531"/>
            <a:ext cx="16349682" cy="15434151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254531"/>
            <a:ext cx="16349821" cy="11775222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865899"/>
            <a:ext cx="16349682" cy="7380645"/>
          </a:xfrm>
          <a:prstGeom prst="roundRect">
            <a:avLst>
              <a:gd name="adj" fmla="val 224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8361600"/>
            <a:ext cx="16349821" cy="51282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1578391"/>
            <a:ext cx="16349682" cy="8493561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2020530"/>
            <a:ext cx="16349682" cy="805142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3821727"/>
            <a:ext cx="16349821" cy="6250225"/>
          </a:xfrm>
          <a:prstGeom prst="roundRect">
            <a:avLst>
              <a:gd name="adj" fmla="val 2655"/>
            </a:avLst>
          </a:prstGeom>
          <a:solidFill>
            <a:srgbClr val="F7ED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3821727"/>
            <a:ext cx="53340" cy="6250225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326" y="3958157"/>
            <a:ext cx="3360559" cy="1466802"/>
          </a:xfrm>
          <a:prstGeom prst="rect">
            <a:avLst/>
          </a:prstGeom>
        </p:spPr>
      </p:pic>
      <p:pic>
        <p:nvPicPr>
          <p:cNvPr id="13" name="Picture 12" descr="university-of-bas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2859" y="3958143"/>
            <a:ext cx="4598214" cy="146683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9991" y="6642635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7552888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16393" y="6642635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816393" y="7552888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6642635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7552888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2102484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2102484"/>
            <a:ext cx="124460" cy="1481019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4254003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5164256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92795" y="18749704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92795" y="19659957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18976955"/>
            <a:ext cx="15573474" cy="2325985"/>
          </a:xfrm>
          <a:prstGeom prst="roundRect">
            <a:avLst>
              <a:gd name="adj" fmla="val 896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2795" y="19997777"/>
            <a:ext cx="15573613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21966495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22876748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16393" y="22408634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816393" y="23318886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9991" y="23214568"/>
            <a:ext cx="15573474" cy="2757428"/>
          </a:xfrm>
          <a:prstGeom prst="roundRect">
            <a:avLst>
              <a:gd name="adj" fmla="val 6619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9991" y="23214568"/>
            <a:ext cx="124460" cy="275742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637245" y="24209831"/>
            <a:ext cx="155291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37245" y="25120084"/>
            <a:ext cx="1552916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287035" y="8151435"/>
            <a:ext cx="12185134" cy="8513286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7059" y="8151435"/>
            <a:ext cx="12185086" cy="851328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7832784" y="15860732"/>
            <a:ext cx="15540692" cy="4160381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2954" y="15860732"/>
            <a:ext cx="15540352" cy="416038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3284576" y="20220027"/>
            <a:ext cx="6635968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84576" y="20220027"/>
            <a:ext cx="11557" cy="282674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529496" y="23370976"/>
            <a:ext cx="14737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16393" y="23656706"/>
            <a:ext cx="4711700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Synthetic d=15 (toy)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684501" y="23656706"/>
            <a:ext cx="5105083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d=30, n∈{15,25,35,45}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5992" y="23656706"/>
            <a:ext cx="4265395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10 ground-truth 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816393" y="24632939"/>
            <a:ext cx="573418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3706990" y="24632939"/>
            <a:ext cx="304968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190 patients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913085" y="24632939"/>
            <a:ext cx="500909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6 clinical + 312 genes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8F2437"/>
                </a:solidFill>
                <a:latin typeface="Arial"/>
              </a:rPr>
              <a:t>Conditional Matrix Flows for Gaussian Graphical 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Marcello Massimo Negri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Fabricio Arend Torres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Volker Roth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Basel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9991" y="6642635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16393" y="6642635"/>
            <a:ext cx="16000194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92795" y="6642635"/>
            <a:ext cx="160003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991" y="7890708"/>
            <a:ext cx="16000194" cy="45437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Gaussian Graphical Models recover conditional independence by </a:t>
            </a:r>
            <a:r>
              <a:rPr sz="4106" b="1">
                <a:solidFill>
                  <a:srgbClr val="111111"/>
                </a:solidFill>
                <a:latin typeface="Arial"/>
              </a:rPr>
              <a:t>sparsifying the precision matrix Ω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zero entry means two variables are conditionally independent. The ideal sub-ℓ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(q&lt;1) penalties are highly </a:t>
            </a:r>
            <a:r>
              <a:rPr sz="4106" b="1">
                <a:solidFill>
                  <a:srgbClr val="111111"/>
                </a:solidFill>
                <a:latin typeface="Arial"/>
              </a:rPr>
              <a:t>non-convex</a:t>
            </a:r>
            <a:r>
              <a:rPr sz="4106" b="0">
                <a:solidFill>
                  <a:srgbClr val="1C1C1C"/>
                </a:solidFill>
                <a:latin typeface="Arial"/>
              </a:rPr>
              <a:t>, so methods retreat to the convex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norm and pay with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over-shrinkage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9991" y="12102484"/>
            <a:ext cx="16000194" cy="1703171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In high dimensions (d&gt;n) the sample covariance is singular — Ω cannot be inverted, and must be estimated under sparsity.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9991" y="14254003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92795" y="18749704"/>
            <a:ext cx="16000333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9991" y="18976955"/>
            <a:ext cx="16000194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Mean-field VI can't help — it assumes the very </a:t>
            </a:r>
            <a:r>
              <a:rPr sz="4106" b="1">
                <a:solidFill>
                  <a:srgbClr val="111111"/>
                </a:solidFill>
                <a:latin typeface="Arial"/>
              </a:rPr>
              <a:t>independence a GGM models</a:t>
            </a:r>
            <a:r>
              <a:rPr sz="4106" b="0">
                <a:solidFill>
                  <a:srgbClr val="8F2437"/>
                </a:solidFill>
                <a:latin typeface="Arial"/>
              </a:rPr>
              <a:t>; we need a family that respects dependence and flexes across λ and q.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991" y="21966495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Contribution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16393" y="22408634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Dataset / Benchmark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637245" y="24209831"/>
            <a:ext cx="1595588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637245" y="25622646"/>
            <a:ext cx="15955883" cy="45437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 conditional normalizing flow over positive-definite matrices </a:t>
            </a:r>
            <a:r>
              <a:rPr sz="4106" b="1">
                <a:solidFill>
                  <a:srgbClr val="111111"/>
                </a:solidFill>
                <a:latin typeface="Arial"/>
              </a:rPr>
              <a:t>unifies Bayesian and frequentist sparse GGM inference</a:t>
            </a:r>
            <a:r>
              <a:rPr sz="4106" b="0">
                <a:solidFill>
                  <a:srgbClr val="1C1C1C"/>
                </a:solidFill>
                <a:latin typeface="Arial"/>
              </a:rPr>
              <a:t> for every λ and every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q</a:t>
            </a:r>
            <a:r>
              <a:rPr sz="4106" b="0">
                <a:solidFill>
                  <a:srgbClr val="1C1C1C"/>
                </a:solidFill>
                <a:latin typeface="Arial"/>
              </a:rPr>
              <a:t> pseudo-norm — including the non-convex sub-ℓ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regime, where curbing over-shrinkage makes edge recovery win precisely where it is hardest.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16375" y="8154908"/>
            <a:ext cx="16000212" cy="2706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SPD by construction:</a:t>
            </a:r>
            <a:r>
              <a:rPr sz="4106" b="0">
                <a:solidFill>
                  <a:srgbClr val="1C1C1C"/>
                </a:solidFill>
                <a:latin typeface="Arial"/>
              </a:rPr>
              <a:t> a base vector flows through </a:t>
            </a:r>
            <a:r>
              <a:rPr sz="4106" b="1">
                <a:solidFill>
                  <a:srgbClr val="111111"/>
                </a:solidFill>
                <a:latin typeface="Arial"/>
              </a:rPr>
              <a:t>Sum-of-Sigmoids</a:t>
            </a:r>
            <a:r>
              <a:rPr sz="4106" b="0">
                <a:solidFill>
                  <a:srgbClr val="1C1C1C"/>
                </a:solidFill>
                <a:latin typeface="Arial"/>
              </a:rPr>
              <a:t> → Fill-Triangular → Positive-Diagonal → Cholesky-product Ω=LL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⊤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816375" y="10690919"/>
            <a:ext cx="16000212" cy="2706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 hypernetwork conditions on (λ, q)</a:t>
            </a:r>
            <a:r>
              <a:rPr sz="4106" b="0">
                <a:solidFill>
                  <a:srgbClr val="1C1C1C"/>
                </a:solidFill>
                <a:latin typeface="Arial"/>
              </a:rPr>
              <a:t> under a generalized-Normal prior — Lasso (q=1), Ridge (q=2), sub-ℓ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(q&lt;1); log p(S|λ,q) is free and annealing T→0 gives the frequentist path.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72" y="15502076"/>
            <a:ext cx="16000213" cy="1837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Frequentist GLasso</a:t>
            </a:r>
            <a:r>
              <a:rPr sz="4106" b="0">
                <a:solidFill>
                  <a:srgbClr val="1C1C1C"/>
                </a:solidFill>
                <a:latin typeface="Arial"/>
              </a:rPr>
              <a:t> traces the whole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solution path over λ — but returns point estimates only, no posterior.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774457" y="16814323"/>
            <a:ext cx="11546598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4. F1 edge recovery vs. # samples: CMF (q={0.25,…,1}) vs. Bayesian GLasso.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72" y="17282021"/>
            <a:ext cx="1600021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Bayesian GLasso</a:t>
            </a:r>
            <a:r>
              <a:rPr sz="4106" b="0">
                <a:solidFill>
                  <a:srgbClr val="1C1C1C"/>
                </a:solidFill>
                <a:latin typeface="Arial"/>
              </a:rPr>
              <a:t> gives a full posterior + marginal likelihood — but Gibbs samplers mix poorly and must be re-run for every λ.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454389" y="20170715"/>
            <a:ext cx="14724063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1. Architecture of the Conditional Matrix Flow (CMF): light grey = unconstrained, dark grey = positive, white = zeros.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9496" y="24218165"/>
            <a:ext cx="15145643" cy="1837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unified framework for the whole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q</a:t>
            </a:r>
            <a:r>
              <a:rPr sz="4106" b="0">
                <a:solidFill>
                  <a:srgbClr val="1C1C1C"/>
                </a:solidFill>
                <a:latin typeface="Arial"/>
              </a:rPr>
              <a:t> pseudo-norm family — </a:t>
            </a:r>
            <a:r>
              <a:rPr sz="4106" b="1">
                <a:solidFill>
                  <a:srgbClr val="111111"/>
                </a:solidFill>
                <a:latin typeface="Arial"/>
              </a:rPr>
              <a:t>no surrogate penalties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16375" y="25452764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Synthetic</a:t>
            </a:r>
            <a:r>
              <a:rPr sz="4106" b="0">
                <a:solidFill>
                  <a:srgbClr val="1C1C1C"/>
                </a:solidFill>
                <a:latin typeface="Arial"/>
              </a:rPr>
              <a:t> sparse precision matrices (Scikit-learn): toy d=15 for posteriors/paths, and d=30 edge recovery over 10 ground-truth Ω.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72" y="25971996"/>
            <a:ext cx="1600021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matrix-variate normalizing flow over </a:t>
            </a:r>
            <a:r>
              <a:rPr sz="4106" b="1">
                <a:solidFill>
                  <a:srgbClr val="111111"/>
                </a:solidFill>
                <a:latin typeface="Arial"/>
              </a:rPr>
              <a:t>symmetric positive-definite</a:t>
            </a:r>
            <a:r>
              <a:rPr sz="4106" b="0">
                <a:solidFill>
                  <a:srgbClr val="1C1C1C"/>
                </a:solidFill>
                <a:latin typeface="Arial"/>
              </a:rPr>
              <a:t> matrices, conditioned on both λ and q.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72" y="27666930"/>
            <a:ext cx="16000213" cy="2706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One model gives the posterior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any</a:t>
            </a:r>
            <a:r>
              <a:rPr sz="4106" b="0">
                <a:solidFill>
                  <a:srgbClr val="1C1C1C"/>
                </a:solidFill>
                <a:latin typeface="Arial"/>
              </a:rPr>
              <a:t> (λ, q), the marginal likelihood for selection, and the frequentist path via annealing — the first to span the full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q</a:t>
            </a:r>
            <a:r>
              <a:rPr sz="4106" b="0">
                <a:solidFill>
                  <a:srgbClr val="1C1C1C"/>
                </a:solidFill>
                <a:latin typeface="Arial"/>
              </a:rPr>
              <a:t> family.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16375" y="27903904"/>
            <a:ext cx="16000212" cy="1837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Real colorectal-cancer cohort</a:t>
            </a:r>
            <a:r>
              <a:rPr sz="4106" b="0">
                <a:solidFill>
                  <a:srgbClr val="1C1C1C"/>
                </a:solidFill>
                <a:latin typeface="Arial"/>
              </a:rPr>
              <a:t> — n=190 patients; the flow models only the query sub-blocks Ω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11</a:t>
            </a:r>
            <a:r>
              <a:rPr sz="4106" b="0">
                <a:solidFill>
                  <a:srgbClr val="1C1C1C"/>
                </a:solidFill>
                <a:latin typeface="Arial"/>
              </a:rPr>
              <a:t>, Ω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12</a:t>
            </a:r>
            <a:r>
              <a:rPr sz="4106" b="0">
                <a:solidFill>
                  <a:srgbClr val="1C1C1C"/>
                </a:solidFill>
                <a:latin typeface="Arial"/>
              </a:rPr>
              <a:t>, never the full matrix.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838659" y="20220027"/>
            <a:ext cx="810840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~350×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838659" y="21594921"/>
            <a:ext cx="8108401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sampling vs. Gibbs (single GPU)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838659" y="22637829"/>
            <a:ext cx="810840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≈2000 vs. 5.6 samples/s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62830" y="20220027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0.052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82465" y="20353377"/>
            <a:ext cx="399017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MSE vs. frequentist path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62830" y="21140003"/>
            <a:ext cx="1912462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λ*=3.52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02113" y="21273353"/>
            <a:ext cx="4241983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CMF selection (GLasso 3.36)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762830" y="22387520"/>
            <a:ext cx="92010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838659" y="22520870"/>
            <a:ext cx="331916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patients · 312 genes</a:t>
            </a:r>
          </a:p>
        </p:txBody>
      </p:sp>
      <p:pic>
        <p:nvPicPr>
          <p:cNvPr id="84" name="Picture 83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6393" y="14012723"/>
            <a:ext cx="15573474" cy="8016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
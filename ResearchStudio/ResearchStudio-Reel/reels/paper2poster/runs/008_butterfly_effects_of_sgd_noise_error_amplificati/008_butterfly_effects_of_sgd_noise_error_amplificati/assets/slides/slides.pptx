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62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3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400" kern="1200">
          <a:solidFill>
            <a:schemeClr val="tx1"/>
          </a:solidFill>
          <a:latin typeface="+mn-lt"/>
          <a:ea typeface="+mn-ea"/>
          <a:cs typeface="+mn-cs"/>
        </a:defRPr>
      </a:lvl1pPr>
      <a:lvl2pPr marL="457200" algn="l" defTabSz="457200" rtl="0" eaLnBrk="1" latinLnBrk="0" hangingPunct="1">
        <a:defRPr sz="1350" kern="1200">
          <a:solidFill>
            <a:schemeClr val="tx1"/>
          </a:solidFill>
          <a:latin typeface="+mn-lt"/>
          <a:ea typeface="+mn-ea"/>
          <a:cs typeface="+mn-cs"/>
        </a:defRPr>
      </a:lvl2pPr>
      <a:lvl3pPr marL="914400" algn="l" defTabSz="457200" rtl="0" eaLnBrk="1" latinLnBrk="0" hangingPunct="1">
        <a:defRPr sz="1250" kern="1200">
          <a:solidFill>
            <a:schemeClr val="tx1"/>
          </a:solidFill>
          <a:latin typeface="+mn-lt"/>
          <a:ea typeface="+mn-ea"/>
          <a:cs typeface="+mn-cs"/>
        </a:defRPr>
      </a:lvl3pPr>
      <a:lvl4pPr marL="1371600" algn="l" defTabSz="457200" rtl="0" eaLnBrk="1" latinLnBrk="0" hangingPunct="1">
        <a:defRPr sz="1150" kern="1200">
          <a:solidFill>
            <a:schemeClr val="tx1"/>
          </a:solidFill>
          <a:latin typeface="+mn-lt"/>
          <a:ea typeface="+mn-ea"/>
          <a:cs typeface="+mn-cs"/>
        </a:defRPr>
      </a:lvl4pPr>
      <a:lvl5pPr marL="1828800" algn="l" defTabSz="457200" rtl="0" eaLnBrk="1" latinLnBrk="0" hangingPunct="1">
        <a:defRPr sz="1050" kern="1200">
          <a:solidFill>
            <a:schemeClr val="tx1"/>
          </a:solidFill>
          <a:latin typeface="+mn-lt"/>
          <a:ea typeface="+mn-ea"/>
          <a:cs typeface="+mn-cs"/>
        </a:defRPr>
      </a:lvl5pPr>
      <a:lvl6pPr marL="2286000" algn="l" defTabSz="457200" rtl="0" eaLnBrk="1" latinLnBrk="0" hangingPunct="1">
        <a:defRPr sz="1000" kern="1200">
          <a:solidFill>
            <a:schemeClr val="tx1"/>
          </a:solidFill>
          <a:latin typeface="+mn-lt"/>
          <a:ea typeface="+mn-ea"/>
          <a:cs typeface="+mn-cs"/>
        </a:defRPr>
      </a:lvl6pPr>
      <a:lvl7pPr marL="2743200" algn="l" defTabSz="457200" rtl="0" eaLnBrk="1" latinLnBrk="0" hangingPunct="1">
        <a:defRPr sz="9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f7965c17252e7ec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552450"/>
            <a:ext cx="1257300" cy="323850"/>
          </a:xfrm>
          <a:prstGeom prst="roundRect">
            <a:avLst>
              <a:gd name="adj" fmla="val 23529"/>
            </a:avLst>
          </a:prstGeom>
          <a:solidFill>
            <a:schemeClr val="accent6"/>
          </a:solidFill>
          <a:ln w="14288">
            <a:solidFill>
              <a:srgbClr val="4AA3FF"/>
            </a:solidFill>
          </a:ln>
        </p:spPr>
        <p:txBody>
          <a:bodyPr/>
          <a:p/>
        </p:txBody>
      </p:sp>
      <p:sp>
        <p:nvSpPr>
          <p:cNvPr id="3" name="TextBox 3"/>
          <p:cNvSpPr txBox="1"/>
          <p:nvPr/>
        </p:nvSpPr>
        <p:spPr>
          <a:xfrm>
            <a:off x="833384" y="641985"/>
            <a:ext cx="809732" cy="234696"/>
          </a:xfrm>
          <a:prstGeom prst="rect">
            <a:avLst/>
          </a:prstGeom>
          <a:noFill/>
          <a:ln>
            <a:noFill/>
          </a:ln>
        </p:spPr>
        <p:txBody>
          <a:bodyPr wrap="none" lIns="0" tIns="0" rIns="0" bIns="0" anchor="t" anchorCtr="0">
            <a:spAutoFit/>
          </a:bodyPr>
          <a:lstStyle/>
          <a:p>
            <a:pPr algn="ctr"/>
            <a:r>
              <a:rPr lang="en-US" sz="1200" b="1" dirty="0">
                <a:solidFill>
                  <a:srgbClr val="4AA3FF"/>
                </a:solidFill>
                <a:latin typeface="+mn-lt"/>
                <a:ea typeface="+mn-ea"/>
                <a:cs typeface="+mn-cs"/>
              </a:rPr>
              <a:t>ICLR 2024</a:t>
            </a:r>
          </a:p>
        </p:txBody>
      </p:sp>
      <p:sp>
        <p:nvSpPr>
          <p:cNvPr id="4" name="TextBox 4"/>
          <p:cNvSpPr txBox="1"/>
          <p:nvPr/>
        </p:nvSpPr>
        <p:spPr>
          <a:xfrm>
            <a:off x="596265" y="1164431"/>
            <a:ext cx="5654327" cy="513398"/>
          </a:xfrm>
          <a:prstGeom prst="rect">
            <a:avLst/>
          </a:prstGeom>
          <a:noFill/>
          <a:ln>
            <a:noFill/>
          </a:ln>
        </p:spPr>
        <p:txBody>
          <a:bodyPr wrap="none" lIns="0" tIns="0" rIns="0" bIns="0" anchor="t" anchorCtr="0">
            <a:spAutoFit/>
          </a:bodyPr>
          <a:lstStyle/>
          <a:p>
            <a:pPr algn="l"/>
            <a:r>
              <a:rPr lang="en-US" sz="2620" b="1" dirty="0">
                <a:solidFill>
                  <a:schemeClr val="dk1"/>
                </a:solidFill>
                <a:latin typeface="+mn-lt"/>
                <a:ea typeface="+mn-ea"/>
                <a:cs typeface="+mn-cs"/>
              </a:rPr>
              <a:t>Butterfly Effects of SGD Noise</a:t>
            </a:r>
          </a:p>
        </p:txBody>
      </p:sp>
      <p:sp>
        <p:nvSpPr>
          <p:cNvPr id="5" name="TextBox 5"/>
          <p:cNvSpPr txBox="1"/>
          <p:nvPr/>
        </p:nvSpPr>
        <p:spPr>
          <a:xfrm>
            <a:off x="596265" y="1583531"/>
            <a:ext cx="5615454" cy="513398"/>
          </a:xfrm>
          <a:prstGeom prst="rect">
            <a:avLst/>
          </a:prstGeom>
          <a:noFill/>
          <a:ln>
            <a:noFill/>
          </a:ln>
        </p:spPr>
        <p:txBody>
          <a:bodyPr wrap="none" lIns="0" tIns="0" rIns="0" bIns="0" anchor="t" anchorCtr="0">
            <a:spAutoFit/>
          </a:bodyPr>
          <a:lstStyle/>
          <a:p>
            <a:pPr algn="l"/>
            <a:r>
              <a:rPr lang="en-US" sz="2620" b="1" dirty="0">
                <a:solidFill>
                  <a:schemeClr val="dk1"/>
                </a:solidFill>
                <a:latin typeface="+mn-lt"/>
                <a:ea typeface="+mn-ea"/>
                <a:cs typeface="+mn-cs"/>
              </a:rPr>
              <a:t>Error Amplification in Behavior</a:t>
            </a:r>
          </a:p>
        </p:txBody>
      </p:sp>
      <p:sp>
        <p:nvSpPr>
          <p:cNvPr id="6" name="TextBox 6"/>
          <p:cNvSpPr txBox="1"/>
          <p:nvPr/>
        </p:nvSpPr>
        <p:spPr>
          <a:xfrm>
            <a:off x="596265" y="2002631"/>
            <a:ext cx="4882399" cy="513398"/>
          </a:xfrm>
          <a:prstGeom prst="rect">
            <a:avLst/>
          </a:prstGeom>
          <a:noFill/>
          <a:ln>
            <a:noFill/>
          </a:ln>
        </p:spPr>
        <p:txBody>
          <a:bodyPr wrap="none" lIns="0" tIns="0" rIns="0" bIns="0" anchor="t" anchorCtr="0">
            <a:spAutoFit/>
          </a:bodyPr>
          <a:lstStyle/>
          <a:p>
            <a:pPr algn="l"/>
            <a:r>
              <a:rPr lang="en-US" sz="2620" b="1" dirty="0">
                <a:solidFill>
                  <a:schemeClr val="dk1"/>
                </a:solidFill>
                <a:latin typeface="+mn-lt"/>
                <a:ea typeface="+mn-ea"/>
                <a:cs typeface="+mn-cs"/>
              </a:rPr>
              <a:t>Cloning and Autoregression</a:t>
            </a:r>
          </a:p>
        </p:txBody>
      </p:sp>
      <p:sp>
        <p:nvSpPr>
          <p:cNvPr id="7" name="TextBox 7"/>
          <p:cNvSpPr txBox="1"/>
          <p:nvPr/>
        </p:nvSpPr>
        <p:spPr>
          <a:xfrm>
            <a:off x="603504" y="2594610"/>
            <a:ext cx="4204998" cy="234696"/>
          </a:xfrm>
          <a:prstGeom prst="rect">
            <a:avLst/>
          </a:prstGeom>
          <a:noFill/>
          <a:ln>
            <a:noFill/>
          </a:ln>
        </p:spPr>
        <p:txBody>
          <a:bodyPr wrap="none" lIns="0" tIns="0" rIns="0" bIns="0" anchor="t" anchorCtr="0">
            <a:spAutoFit/>
          </a:bodyPr>
          <a:lstStyle/>
          <a:p>
            <a:pPr algn="l"/>
            <a:r>
              <a:rPr lang="en-US" sz="1200" dirty="0">
                <a:solidFill>
                  <a:srgbClr val="9FB0C8"/>
                </a:solidFill>
                <a:latin typeface="+mn-lt"/>
                <a:ea typeface="+mn-ea"/>
                <a:cs typeface="+mn-cs"/>
              </a:rPr>
              <a:t>Adam Block · Dylan J. Foster · Akshay Krishnamurthy</a:t>
            </a:r>
          </a:p>
        </p:txBody>
      </p:sp>
      <p:sp>
        <p:nvSpPr>
          <p:cNvPr id="8" name="TextBox 8"/>
          <p:cNvSpPr txBox="1"/>
          <p:nvPr/>
        </p:nvSpPr>
        <p:spPr>
          <a:xfrm>
            <a:off x="603504" y="2823210"/>
            <a:ext cx="2296072" cy="234696"/>
          </a:xfrm>
          <a:prstGeom prst="rect">
            <a:avLst/>
          </a:prstGeom>
          <a:noFill/>
          <a:ln>
            <a:noFill/>
          </a:ln>
        </p:spPr>
        <p:txBody>
          <a:bodyPr wrap="none" lIns="0" tIns="0" rIns="0" bIns="0" anchor="t" anchorCtr="0">
            <a:spAutoFit/>
          </a:bodyPr>
          <a:lstStyle/>
          <a:p>
            <a:pPr algn="l"/>
            <a:r>
              <a:rPr lang="en-US" sz="1200" dirty="0">
                <a:solidFill>
                  <a:srgbClr val="9FB0C8"/>
                </a:solidFill>
                <a:latin typeface="+mn-lt"/>
                <a:ea typeface="+mn-ea"/>
                <a:cs typeface="+mn-cs"/>
              </a:rPr>
              <a:t>Max Simchowitz · Cyril Zhang</a:t>
            </a:r>
          </a:p>
        </p:txBody>
      </p:sp>
      <p:sp>
        <p:nvSpPr>
          <p:cNvPr id="9" name="TextBox 9"/>
          <p:cNvSpPr txBox="1"/>
          <p:nvPr/>
        </p:nvSpPr>
        <p:spPr>
          <a:xfrm>
            <a:off x="603885" y="3098006"/>
            <a:ext cx="2319879" cy="220028"/>
          </a:xfrm>
          <a:prstGeom prst="rect">
            <a:avLst/>
          </a:prstGeom>
          <a:noFill/>
          <a:ln>
            <a:noFill/>
          </a:ln>
        </p:spPr>
        <p:txBody>
          <a:bodyPr wrap="none" lIns="0" tIns="0" rIns="0" bIns="0" anchor="t" anchorCtr="0">
            <a:spAutoFit/>
          </a:bodyPr>
          <a:lstStyle/>
          <a:p>
            <a:pPr algn="l"/>
            <a:r>
              <a:rPr lang="en-US" sz="1120" b="1" dirty="0">
                <a:solidFill>
                  <a:srgbClr val="9FB0C8"/>
                </a:solidFill>
                <a:latin typeface="+mn-lt"/>
                <a:ea typeface="+mn-ea"/>
                <a:cs typeface="+mn-cs"/>
              </a:rPr>
              <a:t>MIT · Microsoft Research NYC</a:t>
            </a:r>
          </a:p>
        </p:txBody>
      </p:sp>
      <p:grpSp>
        <p:nvGrpSpPr>
          <p:cNvPr id="14" name="Group 14"/>
          <p:cNvGrpSpPr/>
          <p:nvPr/>
        </p:nvGrpSpPr>
        <p:grpSpPr>
          <a:xfrm>
            <a:off x="609600" y="3524250"/>
            <a:ext cx="5676900" cy="742950"/>
            <a:chOff x="609600" y="3524250"/>
            <a:chExt cx="5676900" cy="742950"/>
          </a:xfrm>
        </p:grpSpPr>
        <p:sp>
          <p:nvSpPr>
            <p:cNvPr id="10" name="Rectangle 10"/>
            <p:cNvSpPr/>
            <p:nvPr/>
          </p:nvSpPr>
          <p:spPr>
            <a:xfrm>
              <a:off x="609600" y="3524250"/>
              <a:ext cx="5676900" cy="742950"/>
            </a:xfrm>
            <a:prstGeom prst="roundRect">
              <a:avLst>
                <a:gd name="adj" fmla="val 17949"/>
              </a:avLst>
            </a:prstGeom>
            <a:solidFill>
              <a:schemeClr val="accent5"/>
            </a:solidFill>
            <a:ln w="14288">
              <a:solidFill>
                <a:schemeClr val="accent4"/>
              </a:solidFill>
            </a:ln>
          </p:spPr>
        </p:sp>
        <p:sp>
          <p:nvSpPr>
            <p:cNvPr id="11" name="Rectangle 11"/>
            <p:cNvSpPr/>
            <p:nvPr/>
          </p:nvSpPr>
          <p:spPr>
            <a:xfrm>
              <a:off x="609600" y="3657600"/>
              <a:ext cx="47625" cy="476250"/>
            </a:xfrm>
            <a:prstGeom prst="roundRect">
              <a:avLst>
                <a:gd name="adj" fmla="val 50000"/>
              </a:avLst>
            </a:prstGeom>
            <a:solidFill>
              <a:srgbClr val="4AA3FF"/>
            </a:solidFill>
            <a:ln>
              <a:noFill/>
            </a:ln>
          </p:spPr>
        </p:sp>
        <p:sp>
          <p:nvSpPr>
            <p:cNvPr id="12" name="TextBox 12"/>
            <p:cNvSpPr txBox="1"/>
            <p:nvPr/>
          </p:nvSpPr>
          <p:spPr>
            <a:xfrm>
              <a:off x="831723" y="3672364"/>
              <a:ext cx="1059186" cy="249364"/>
            </a:xfrm>
            <a:prstGeom prst="rect">
              <a:avLst/>
            </a:prstGeom>
            <a:noFill/>
            <a:ln>
              <a:noFill/>
            </a:ln>
          </p:spPr>
          <p:txBody>
            <a:bodyPr wrap="none" lIns="0" tIns="0" rIns="0" bIns="0" anchor="t" anchorCtr="0">
              <a:spAutoFit/>
            </a:bodyPr>
            <a:lstStyle/>
            <a:p>
              <a:pPr algn="l"/>
              <a:r>
                <a:rPr lang="en-US" sz="1280" b="1" dirty="0">
                  <a:solidFill>
                    <a:srgbClr val="4AA3FF"/>
                  </a:solidFill>
                  <a:latin typeface="+mn-lt"/>
                  <a:ea typeface="+mn-ea"/>
                  <a:cs typeface="+mn-cs"/>
                </a:rPr>
                <a:t>The problem</a:t>
              </a:r>
            </a:p>
          </p:txBody>
        </p:sp>
        <p:sp>
          <p:nvSpPr>
            <p:cNvPr id="13" name="TextBox 13"/>
            <p:cNvSpPr txBox="1"/>
            <p:nvPr/>
          </p:nvSpPr>
          <p:spPr>
            <a:xfrm>
              <a:off x="832294" y="3941683"/>
              <a:ext cx="4673016"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Long-horizon reward swings wildly while BC loss barely moves</a:t>
              </a:r>
            </a:p>
          </p:txBody>
        </p:sp>
      </p:grpSp>
      <p:grpSp>
        <p:nvGrpSpPr>
          <p:cNvPr id="19" name="Group 19"/>
          <p:cNvGrpSpPr/>
          <p:nvPr/>
        </p:nvGrpSpPr>
        <p:grpSpPr>
          <a:xfrm>
            <a:off x="609600" y="4362450"/>
            <a:ext cx="5676900" cy="742950"/>
            <a:chOff x="609600" y="4362450"/>
            <a:chExt cx="5676900" cy="742950"/>
          </a:xfrm>
        </p:grpSpPr>
        <p:sp>
          <p:nvSpPr>
            <p:cNvPr id="15" name="Rectangle 15"/>
            <p:cNvSpPr/>
            <p:nvPr/>
          </p:nvSpPr>
          <p:spPr>
            <a:xfrm>
              <a:off x="609600" y="4362450"/>
              <a:ext cx="5676900" cy="742950"/>
            </a:xfrm>
            <a:prstGeom prst="roundRect">
              <a:avLst>
                <a:gd name="adj" fmla="val 17949"/>
              </a:avLst>
            </a:prstGeom>
            <a:solidFill>
              <a:schemeClr val="accent5"/>
            </a:solidFill>
            <a:ln w="14288">
              <a:solidFill>
                <a:schemeClr val="accent4"/>
              </a:solidFill>
            </a:ln>
          </p:spPr>
        </p:sp>
        <p:sp>
          <p:nvSpPr>
            <p:cNvPr id="16" name="Rectangle 16"/>
            <p:cNvSpPr/>
            <p:nvPr/>
          </p:nvSpPr>
          <p:spPr>
            <a:xfrm>
              <a:off x="609600" y="4495800"/>
              <a:ext cx="47625" cy="476250"/>
            </a:xfrm>
            <a:prstGeom prst="roundRect">
              <a:avLst>
                <a:gd name="adj" fmla="val 50000"/>
              </a:avLst>
            </a:prstGeom>
            <a:solidFill>
              <a:srgbClr val="A78BFA"/>
            </a:solidFill>
            <a:ln>
              <a:noFill/>
            </a:ln>
          </p:spPr>
        </p:sp>
        <p:sp>
          <p:nvSpPr>
            <p:cNvPr id="17" name="TextBox 17"/>
            <p:cNvSpPr txBox="1"/>
            <p:nvPr/>
          </p:nvSpPr>
          <p:spPr>
            <a:xfrm>
              <a:off x="831723" y="4510564"/>
              <a:ext cx="1822008" cy="249364"/>
            </a:xfrm>
            <a:prstGeom prst="rect">
              <a:avLst/>
            </a:prstGeom>
            <a:noFill/>
            <a:ln>
              <a:noFill/>
            </a:ln>
          </p:spPr>
          <p:txBody>
            <a:bodyPr wrap="none" lIns="0" tIns="0" rIns="0" bIns="0" anchor="t" anchorCtr="0">
              <a:spAutoFit/>
            </a:bodyPr>
            <a:lstStyle/>
            <a:p>
              <a:pPr algn="l"/>
              <a:r>
                <a:rPr lang="en-US" sz="1280" b="1" dirty="0">
                  <a:solidFill>
                    <a:srgbClr val="A78BFA"/>
                  </a:solidFill>
                  <a:latin typeface="+mn-lt"/>
                  <a:ea typeface="+mn-ea"/>
                  <a:cs typeface="+mn-cs"/>
                </a:rPr>
                <a:t>The mechanism — GVA</a:t>
              </a:r>
            </a:p>
          </p:txBody>
        </p:sp>
        <p:sp>
          <p:nvSpPr>
            <p:cNvPr id="18" name="TextBox 18"/>
            <p:cNvSpPr txBox="1"/>
            <p:nvPr/>
          </p:nvSpPr>
          <p:spPr>
            <a:xfrm>
              <a:off x="832294" y="4779883"/>
              <a:ext cx="5044433"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Minibatch SGD noise amplified through the policy-environment loop</a:t>
              </a:r>
            </a:p>
          </p:txBody>
        </p:sp>
      </p:grpSp>
      <p:grpSp>
        <p:nvGrpSpPr>
          <p:cNvPr id="24" name="Group 24"/>
          <p:cNvGrpSpPr/>
          <p:nvPr/>
        </p:nvGrpSpPr>
        <p:grpSpPr>
          <a:xfrm>
            <a:off x="609600" y="5200650"/>
            <a:ext cx="5676900" cy="742950"/>
            <a:chOff x="609600" y="5200650"/>
            <a:chExt cx="5676900" cy="742950"/>
          </a:xfrm>
        </p:grpSpPr>
        <p:sp>
          <p:nvSpPr>
            <p:cNvPr id="20" name="Rectangle 20"/>
            <p:cNvSpPr/>
            <p:nvPr/>
          </p:nvSpPr>
          <p:spPr>
            <a:xfrm>
              <a:off x="609600" y="5200650"/>
              <a:ext cx="5676900" cy="742950"/>
            </a:xfrm>
            <a:prstGeom prst="roundRect">
              <a:avLst>
                <a:gd name="adj" fmla="val 17949"/>
              </a:avLst>
            </a:prstGeom>
            <a:solidFill>
              <a:schemeClr val="accent5"/>
            </a:solidFill>
            <a:ln w="14288">
              <a:solidFill>
                <a:schemeClr val="accent4"/>
              </a:solidFill>
            </a:ln>
          </p:spPr>
        </p:sp>
        <p:sp>
          <p:nvSpPr>
            <p:cNvPr id="21" name="Rectangle 21"/>
            <p:cNvSpPr/>
            <p:nvPr/>
          </p:nvSpPr>
          <p:spPr>
            <a:xfrm>
              <a:off x="609600" y="5334000"/>
              <a:ext cx="47625" cy="476250"/>
            </a:xfrm>
            <a:prstGeom prst="roundRect">
              <a:avLst>
                <a:gd name="adj" fmla="val 50000"/>
              </a:avLst>
            </a:prstGeom>
            <a:solidFill>
              <a:srgbClr val="34D399"/>
            </a:solidFill>
            <a:ln>
              <a:noFill/>
            </a:ln>
          </p:spPr>
        </p:sp>
        <p:sp>
          <p:nvSpPr>
            <p:cNvPr id="22" name="TextBox 22"/>
            <p:cNvSpPr txBox="1"/>
            <p:nvPr/>
          </p:nvSpPr>
          <p:spPr>
            <a:xfrm>
              <a:off x="831723" y="5348764"/>
              <a:ext cx="624785" cy="249364"/>
            </a:xfrm>
            <a:prstGeom prst="rect">
              <a:avLst/>
            </a:prstGeom>
            <a:noFill/>
            <a:ln>
              <a:noFill/>
            </a:ln>
          </p:spPr>
          <p:txBody>
            <a:bodyPr wrap="none" lIns="0" tIns="0" rIns="0" bIns="0" anchor="t" anchorCtr="0">
              <a:spAutoFit/>
            </a:bodyPr>
            <a:lstStyle/>
            <a:p>
              <a:pPr algn="l"/>
              <a:r>
                <a:rPr lang="en-US" sz="1280" b="1" dirty="0">
                  <a:solidFill>
                    <a:srgbClr val="34D399"/>
                  </a:solidFill>
                  <a:latin typeface="+mn-lt"/>
                  <a:ea typeface="+mn-ea"/>
                  <a:cs typeface="+mn-cs"/>
                </a:rPr>
                <a:t>The fix</a:t>
              </a:r>
            </a:p>
          </p:txBody>
        </p:sp>
        <p:sp>
          <p:nvSpPr>
            <p:cNvPr id="23" name="TextBox 23"/>
            <p:cNvSpPr txBox="1"/>
            <p:nvPr/>
          </p:nvSpPr>
          <p:spPr>
            <a:xfrm>
              <a:off x="832294" y="5618083"/>
              <a:ext cx="4695151"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An EMA of the weights damps it — cheap and broadly effective</a:t>
              </a:r>
            </a:p>
          </p:txBody>
        </p:sp>
      </p:grpSp>
      <p:grpSp>
        <p:nvGrpSpPr>
          <p:cNvPr id="37" name="Group 37"/>
          <p:cNvGrpSpPr/>
          <p:nvPr/>
        </p:nvGrpSpPr>
        <p:grpSpPr>
          <a:xfrm>
            <a:off x="6667500" y="1428750"/>
            <a:ext cx="4914900" cy="2857500"/>
            <a:chOff x="6667500" y="1428750"/>
            <a:chExt cx="4914900" cy="2857500"/>
          </a:xfrm>
        </p:grpSpPr>
        <p:sp>
          <p:nvSpPr>
            <p:cNvPr id="25" name="Rectangle 25"/>
            <p:cNvSpPr/>
            <p:nvPr/>
          </p:nvSpPr>
          <p:spPr>
            <a:xfrm>
              <a:off x="6667500" y="1428750"/>
              <a:ext cx="4914900" cy="2857500"/>
            </a:xfrm>
            <a:prstGeom prst="roundRect">
              <a:avLst>
                <a:gd name="adj" fmla="val 4667"/>
              </a:avLst>
            </a:prstGeom>
            <a:solidFill>
              <a:schemeClr val="accent5"/>
            </a:solidFill>
            <a:ln w="14288">
              <a:solidFill>
                <a:schemeClr val="accent4"/>
              </a:solidFill>
            </a:ln>
          </p:spPr>
        </p:sp>
        <p:sp>
          <p:nvSpPr>
            <p:cNvPr id="26" name="Rectangle 26"/>
            <p:cNvSpPr/>
            <p:nvPr/>
          </p:nvSpPr>
          <p:spPr>
            <a:xfrm>
              <a:off x="6667500" y="1562100"/>
              <a:ext cx="47625" cy="2590800"/>
            </a:xfrm>
            <a:prstGeom prst="roundRect">
              <a:avLst>
                <a:gd name="adj" fmla="val 50000"/>
              </a:avLst>
            </a:prstGeom>
            <a:solidFill>
              <a:srgbClr val="4AA3FF"/>
            </a:solidFill>
            <a:ln>
              <a:noFill/>
            </a:ln>
          </p:spPr>
        </p:sp>
        <p:sp>
          <p:nvSpPr>
            <p:cNvPr id="27" name="TextBox 27"/>
            <p:cNvSpPr txBox="1"/>
            <p:nvPr/>
          </p:nvSpPr>
          <p:spPr>
            <a:xfrm>
              <a:off x="6889242" y="1644968"/>
              <a:ext cx="3476954" cy="264033"/>
            </a:xfrm>
            <a:prstGeom prst="rect">
              <a:avLst/>
            </a:prstGeom>
            <a:noFill/>
            <a:ln>
              <a:noFill/>
            </a:ln>
          </p:spPr>
          <p:txBody>
            <a:bodyPr wrap="none" lIns="0" tIns="0" rIns="0" bIns="0" anchor="t" anchorCtr="0">
              <a:spAutoFit/>
            </a:bodyPr>
            <a:lstStyle/>
            <a:p>
              <a:pPr algn="l"/>
              <a:r>
                <a:rPr lang="en-US" sz="1350" b="1" dirty="0">
                  <a:solidFill>
                    <a:srgbClr val="4AA3FF"/>
                  </a:solidFill>
                  <a:latin typeface="+mn-lt"/>
                  <a:ea typeface="+mn-ea"/>
                  <a:cs typeface="+mn-cs"/>
                </a:rPr>
                <a:t>Reward oscillates; BC loss stays flat</a:t>
              </a:r>
            </a:p>
          </p:txBody>
        </p:sp>
        <p:sp>
          <p:nvSpPr>
            <p:cNvPr id="28" name="Line 28"/>
            <p:cNvSpPr/>
            <p:nvPr/>
          </p:nvSpPr>
          <p:spPr>
            <a:xfrm>
              <a:off x="6991350" y="3733800"/>
              <a:ext cx="4248150" cy="9525"/>
            </a:xfrm>
            <a:custGeom>
              <a:avLst/>
              <a:gdLst/>
              <a:ahLst/>
              <a:cxnLst/>
              <a:rect l="l" t="t" r="r" b="b"/>
              <a:pathLst>
                <a:path w="4248150" h="9525">
                  <a:moveTo>
                    <a:pt x="0" y="0"/>
                  </a:moveTo>
                  <a:lnTo>
                    <a:pt x="4248150" y="0"/>
                  </a:lnTo>
                </a:path>
              </a:pathLst>
            </a:custGeom>
            <a:noFill/>
            <a:ln w="14288">
              <a:solidFill>
                <a:schemeClr val="accent4"/>
              </a:solidFill>
            </a:ln>
          </p:spPr>
        </p:sp>
        <p:sp>
          <p:nvSpPr>
            <p:cNvPr id="29" name="Line 29"/>
            <p:cNvSpPr/>
            <p:nvPr/>
          </p:nvSpPr>
          <p:spPr>
            <a:xfrm>
              <a:off x="6991350" y="2000250"/>
              <a:ext cx="9525" cy="1733550"/>
            </a:xfrm>
            <a:custGeom>
              <a:avLst/>
              <a:gdLst/>
              <a:ahLst/>
              <a:cxnLst/>
              <a:rect l="l" t="t" r="r" b="b"/>
              <a:pathLst>
                <a:path w="9525" h="1733550">
                  <a:moveTo>
                    <a:pt x="0" y="0"/>
                  </a:moveTo>
                  <a:lnTo>
                    <a:pt x="0" y="1733550"/>
                  </a:lnTo>
                </a:path>
              </a:pathLst>
            </a:custGeom>
            <a:noFill/>
            <a:ln w="14288">
              <a:solidFill>
                <a:schemeClr val="accent4"/>
              </a:solidFill>
            </a:ln>
          </p:spPr>
        </p:sp>
        <p:sp>
          <p:nvSpPr>
            <p:cNvPr id="30" name="Polyline 30"/>
            <p:cNvSpPr/>
            <p:nvPr/>
          </p:nvSpPr>
          <p:spPr>
            <a:xfrm>
              <a:off x="6991350" y="2185035"/>
              <a:ext cx="4248150" cy="1143000"/>
            </a:xfrm>
            <a:custGeom>
              <a:avLst/>
              <a:gdLst/>
              <a:ahLst/>
              <a:cxnLst/>
              <a:rect l="l" t="t" r="r" b="b"/>
              <a:pathLst>
                <a:path w="4248150" h="1143000">
                  <a:moveTo>
                    <a:pt x="0" y="391477"/>
                  </a:moveTo>
                  <a:lnTo>
                    <a:pt x="103822" y="350520"/>
                  </a:lnTo>
                  <a:lnTo>
                    <a:pt x="207645" y="221932"/>
                  </a:lnTo>
                  <a:lnTo>
                    <a:pt x="310515" y="443865"/>
                  </a:lnTo>
                  <a:lnTo>
                    <a:pt x="414338" y="747712"/>
                  </a:lnTo>
                  <a:lnTo>
                    <a:pt x="518160" y="134302"/>
                  </a:lnTo>
                  <a:lnTo>
                    <a:pt x="621982" y="524828"/>
                  </a:lnTo>
                  <a:lnTo>
                    <a:pt x="724853" y="393382"/>
                  </a:lnTo>
                  <a:lnTo>
                    <a:pt x="828675" y="1143000"/>
                  </a:lnTo>
                  <a:lnTo>
                    <a:pt x="932497" y="984885"/>
                  </a:lnTo>
                  <a:lnTo>
                    <a:pt x="1036320" y="652462"/>
                  </a:lnTo>
                  <a:lnTo>
                    <a:pt x="1140143" y="706755"/>
                  </a:lnTo>
                  <a:lnTo>
                    <a:pt x="1243012" y="478155"/>
                  </a:lnTo>
                  <a:lnTo>
                    <a:pt x="1346835" y="1067752"/>
                  </a:lnTo>
                  <a:lnTo>
                    <a:pt x="1450657" y="363855"/>
                  </a:lnTo>
                  <a:lnTo>
                    <a:pt x="1554480" y="329565"/>
                  </a:lnTo>
                  <a:lnTo>
                    <a:pt x="1657350" y="60007"/>
                  </a:lnTo>
                  <a:lnTo>
                    <a:pt x="1761172" y="381952"/>
                  </a:lnTo>
                  <a:lnTo>
                    <a:pt x="1864995" y="857250"/>
                  </a:lnTo>
                  <a:lnTo>
                    <a:pt x="1968818" y="410527"/>
                  </a:lnTo>
                  <a:lnTo>
                    <a:pt x="2072640" y="705802"/>
                  </a:lnTo>
                  <a:lnTo>
                    <a:pt x="2175510" y="391477"/>
                  </a:lnTo>
                  <a:lnTo>
                    <a:pt x="2279332" y="1142048"/>
                  </a:lnTo>
                  <a:lnTo>
                    <a:pt x="2383155" y="1030605"/>
                  </a:lnTo>
                  <a:lnTo>
                    <a:pt x="2486978" y="735330"/>
                  </a:lnTo>
                  <a:lnTo>
                    <a:pt x="2590800" y="563880"/>
                  </a:lnTo>
                  <a:lnTo>
                    <a:pt x="2693670" y="215265"/>
                  </a:lnTo>
                  <a:lnTo>
                    <a:pt x="2797493" y="865822"/>
                  </a:lnTo>
                  <a:lnTo>
                    <a:pt x="2901315" y="352425"/>
                  </a:lnTo>
                  <a:lnTo>
                    <a:pt x="3005138" y="428625"/>
                  </a:lnTo>
                  <a:lnTo>
                    <a:pt x="3108007" y="39052"/>
                  </a:lnTo>
                  <a:lnTo>
                    <a:pt x="3211830" y="377190"/>
                  </a:lnTo>
                  <a:lnTo>
                    <a:pt x="3315652" y="946785"/>
                  </a:lnTo>
                  <a:lnTo>
                    <a:pt x="3419475" y="683895"/>
                  </a:lnTo>
                  <a:lnTo>
                    <a:pt x="3523298" y="910590"/>
                  </a:lnTo>
                  <a:lnTo>
                    <a:pt x="3626168" y="374332"/>
                  </a:lnTo>
                  <a:lnTo>
                    <a:pt x="3729990" y="1023937"/>
                  </a:lnTo>
                  <a:lnTo>
                    <a:pt x="3833812" y="932498"/>
                  </a:lnTo>
                  <a:lnTo>
                    <a:pt x="3937635" y="758190"/>
                  </a:lnTo>
                  <a:lnTo>
                    <a:pt x="4040505" y="457200"/>
                  </a:lnTo>
                  <a:lnTo>
                    <a:pt x="4144327" y="0"/>
                  </a:lnTo>
                  <a:lnTo>
                    <a:pt x="4248150" y="665798"/>
                  </a:lnTo>
                </a:path>
              </a:pathLst>
            </a:custGeom>
            <a:noFill/>
            <a:ln w="22860">
              <a:solidFill>
                <a:srgbClr val="4AA3FF"/>
              </a:solidFill>
              <a:round/>
            </a:ln>
          </p:spPr>
        </p:sp>
        <p:sp>
          <p:nvSpPr>
            <p:cNvPr id="31" name="Polyline 31"/>
            <p:cNvSpPr/>
            <p:nvPr/>
          </p:nvSpPr>
          <p:spPr>
            <a:xfrm>
              <a:off x="6991350" y="3439478"/>
              <a:ext cx="4248150" cy="49530"/>
            </a:xfrm>
            <a:custGeom>
              <a:avLst/>
              <a:gdLst/>
              <a:ahLst/>
              <a:cxnLst/>
              <a:rect l="l" t="t" r="r" b="b"/>
              <a:pathLst>
                <a:path w="4248150" h="49530">
                  <a:moveTo>
                    <a:pt x="0" y="0"/>
                  </a:moveTo>
                  <a:lnTo>
                    <a:pt x="103822" y="3810"/>
                  </a:lnTo>
                  <a:lnTo>
                    <a:pt x="207645" y="7620"/>
                  </a:lnTo>
                  <a:lnTo>
                    <a:pt x="310515" y="11430"/>
                  </a:lnTo>
                  <a:lnTo>
                    <a:pt x="414338" y="14288"/>
                  </a:lnTo>
                  <a:lnTo>
                    <a:pt x="518160" y="17145"/>
                  </a:lnTo>
                  <a:lnTo>
                    <a:pt x="621982" y="20002"/>
                  </a:lnTo>
                  <a:lnTo>
                    <a:pt x="724853" y="22860"/>
                  </a:lnTo>
                  <a:lnTo>
                    <a:pt x="828675" y="24765"/>
                  </a:lnTo>
                  <a:lnTo>
                    <a:pt x="932497" y="26670"/>
                  </a:lnTo>
                  <a:lnTo>
                    <a:pt x="1036320" y="28575"/>
                  </a:lnTo>
                  <a:lnTo>
                    <a:pt x="1140143" y="30480"/>
                  </a:lnTo>
                  <a:lnTo>
                    <a:pt x="1243012" y="32385"/>
                  </a:lnTo>
                  <a:lnTo>
                    <a:pt x="1346835" y="34290"/>
                  </a:lnTo>
                  <a:lnTo>
                    <a:pt x="1450657" y="35242"/>
                  </a:lnTo>
                  <a:lnTo>
                    <a:pt x="1554480" y="37147"/>
                  </a:lnTo>
                  <a:lnTo>
                    <a:pt x="1657350" y="38100"/>
                  </a:lnTo>
                  <a:lnTo>
                    <a:pt x="1761172" y="39052"/>
                  </a:lnTo>
                  <a:lnTo>
                    <a:pt x="1864995" y="40005"/>
                  </a:lnTo>
                  <a:lnTo>
                    <a:pt x="1968818" y="40957"/>
                  </a:lnTo>
                  <a:lnTo>
                    <a:pt x="2072640" y="41910"/>
                  </a:lnTo>
                  <a:lnTo>
                    <a:pt x="2175510" y="42862"/>
                  </a:lnTo>
                  <a:lnTo>
                    <a:pt x="2279332" y="42862"/>
                  </a:lnTo>
                  <a:lnTo>
                    <a:pt x="2383155" y="43815"/>
                  </a:lnTo>
                  <a:lnTo>
                    <a:pt x="2486978" y="44767"/>
                  </a:lnTo>
                  <a:lnTo>
                    <a:pt x="2590800" y="44767"/>
                  </a:lnTo>
                  <a:lnTo>
                    <a:pt x="2693670" y="45720"/>
                  </a:lnTo>
                  <a:lnTo>
                    <a:pt x="2797493" y="45720"/>
                  </a:lnTo>
                  <a:lnTo>
                    <a:pt x="2901315" y="46672"/>
                  </a:lnTo>
                  <a:lnTo>
                    <a:pt x="3005138" y="46672"/>
                  </a:lnTo>
                  <a:lnTo>
                    <a:pt x="3108007" y="47625"/>
                  </a:lnTo>
                  <a:lnTo>
                    <a:pt x="3211830" y="47625"/>
                  </a:lnTo>
                  <a:lnTo>
                    <a:pt x="3315652" y="47625"/>
                  </a:lnTo>
                  <a:lnTo>
                    <a:pt x="3419475" y="48577"/>
                  </a:lnTo>
                  <a:lnTo>
                    <a:pt x="3523298" y="48577"/>
                  </a:lnTo>
                  <a:lnTo>
                    <a:pt x="3626168" y="48577"/>
                  </a:lnTo>
                  <a:lnTo>
                    <a:pt x="3729990" y="48577"/>
                  </a:lnTo>
                  <a:lnTo>
                    <a:pt x="3833812" y="49530"/>
                  </a:lnTo>
                  <a:lnTo>
                    <a:pt x="3937635" y="49530"/>
                  </a:lnTo>
                  <a:lnTo>
                    <a:pt x="4040505" y="49530"/>
                  </a:lnTo>
                  <a:lnTo>
                    <a:pt x="4144327" y="49530"/>
                  </a:lnTo>
                  <a:lnTo>
                    <a:pt x="4248150" y="49530"/>
                  </a:lnTo>
                </a:path>
              </a:pathLst>
            </a:custGeom>
            <a:noFill/>
            <a:ln w="19050">
              <a:solidFill>
                <a:srgbClr val="5B6B82"/>
              </a:solidFill>
              <a:round/>
            </a:ln>
          </p:spPr>
        </p:sp>
        <p:sp>
          <p:nvSpPr>
            <p:cNvPr id="32" name="Rectangle 32"/>
            <p:cNvSpPr/>
            <p:nvPr/>
          </p:nvSpPr>
          <p:spPr>
            <a:xfrm>
              <a:off x="6991350" y="3952875"/>
              <a:ext cx="152400" cy="38100"/>
            </a:xfrm>
            <a:prstGeom prst="rect">
              <a:avLst/>
            </a:prstGeom>
            <a:solidFill>
              <a:srgbClr val="4AA3FF"/>
            </a:solidFill>
            <a:ln>
              <a:noFill/>
            </a:ln>
          </p:spPr>
        </p:sp>
        <p:sp>
          <p:nvSpPr>
            <p:cNvPr id="33" name="TextBox 33"/>
            <p:cNvSpPr txBox="1"/>
            <p:nvPr/>
          </p:nvSpPr>
          <p:spPr>
            <a:xfrm>
              <a:off x="7195947" y="3914299"/>
              <a:ext cx="953188" cy="190690"/>
            </a:xfrm>
            <a:prstGeom prst="rect">
              <a:avLst/>
            </a:prstGeom>
            <a:noFill/>
            <a:ln>
              <a:noFill/>
            </a:ln>
          </p:spPr>
          <p:txBody>
            <a:bodyPr wrap="none" lIns="0" tIns="0" rIns="0" bIns="0" anchor="t" anchorCtr="0">
              <a:spAutoFit/>
            </a:bodyPr>
            <a:lstStyle/>
            <a:p>
              <a:pPr algn="l"/>
              <a:r>
                <a:rPr lang="en-US" sz="980" dirty="0">
                  <a:solidFill>
                    <a:srgbClr val="9FB0C8"/>
                  </a:solidFill>
                  <a:latin typeface="+mn-lt"/>
                  <a:ea typeface="+mn-ea"/>
                  <a:cs typeface="+mn-cs"/>
                </a:rPr>
                <a:t>rollout reward</a:t>
              </a:r>
            </a:p>
          </p:txBody>
        </p:sp>
        <p:sp>
          <p:nvSpPr>
            <p:cNvPr id="34" name="Rectangle 34"/>
            <p:cNvSpPr/>
            <p:nvPr/>
          </p:nvSpPr>
          <p:spPr>
            <a:xfrm>
              <a:off x="8610600" y="3952875"/>
              <a:ext cx="152400" cy="38100"/>
            </a:xfrm>
            <a:prstGeom prst="rect">
              <a:avLst/>
            </a:prstGeom>
            <a:solidFill>
              <a:srgbClr val="5B6B82"/>
            </a:solidFill>
            <a:ln>
              <a:noFill/>
            </a:ln>
          </p:spPr>
        </p:sp>
        <p:sp>
          <p:nvSpPr>
            <p:cNvPr id="35" name="TextBox 35"/>
            <p:cNvSpPr txBox="1"/>
            <p:nvPr/>
          </p:nvSpPr>
          <p:spPr>
            <a:xfrm>
              <a:off x="8815197" y="3914299"/>
              <a:ext cx="460202" cy="190690"/>
            </a:xfrm>
            <a:prstGeom prst="rect">
              <a:avLst/>
            </a:prstGeom>
            <a:noFill/>
            <a:ln>
              <a:noFill/>
            </a:ln>
          </p:spPr>
          <p:txBody>
            <a:bodyPr wrap="none" lIns="0" tIns="0" rIns="0" bIns="0" anchor="t" anchorCtr="0">
              <a:spAutoFit/>
            </a:bodyPr>
            <a:lstStyle/>
            <a:p>
              <a:pPr algn="l"/>
              <a:r>
                <a:rPr lang="en-US" sz="980" dirty="0">
                  <a:solidFill>
                    <a:srgbClr val="9FB0C8"/>
                  </a:solidFill>
                  <a:latin typeface="+mn-lt"/>
                  <a:ea typeface="+mn-ea"/>
                  <a:cs typeface="+mn-cs"/>
                </a:rPr>
                <a:t>BC loss</a:t>
              </a:r>
            </a:p>
          </p:txBody>
        </p:sp>
        <p:sp>
          <p:nvSpPr>
            <p:cNvPr id="36" name="TextBox 36"/>
            <p:cNvSpPr txBox="1"/>
            <p:nvPr/>
          </p:nvSpPr>
          <p:spPr>
            <a:xfrm>
              <a:off x="10459326" y="3827145"/>
              <a:ext cx="784936" cy="176212"/>
            </a:xfrm>
            <a:prstGeom prst="rect">
              <a:avLst/>
            </a:prstGeom>
            <a:noFill/>
            <a:ln>
              <a:noFill/>
            </a:ln>
          </p:spPr>
          <p:txBody>
            <a:bodyPr wrap="none" lIns="0" tIns="0" rIns="0" bIns="0" anchor="t" anchorCtr="0">
              <a:spAutoFit/>
            </a:bodyPr>
            <a:lstStyle/>
            <a:p>
              <a:pPr algn="r"/>
              <a:r>
                <a:rPr lang="en-US" sz="900" dirty="0">
                  <a:solidFill>
                    <a:srgbClr val="9FB0C8"/>
                  </a:solidFill>
                  <a:latin typeface="+mn-lt"/>
                  <a:ea typeface="+mn-ea"/>
                  <a:cs typeface="+mn-cs"/>
                </a:rPr>
                <a:t>training step</a:t>
              </a:r>
            </a:p>
          </p:txBody>
        </p:sp>
      </p:grpSp>
      <p:sp>
        <p:nvSpPr>
          <p:cNvPr id="38" name="Rectangle 38"/>
          <p:cNvSpPr/>
          <p:nvPr/>
        </p:nvSpPr>
        <p:spPr>
          <a:xfrm>
            <a:off x="9639300" y="4438650"/>
            <a:ext cx="1943100" cy="1943100"/>
          </a:xfrm>
          <a:prstGeom prst="roundRect">
            <a:avLst>
              <a:gd name="adj" fmla="val 4902"/>
            </a:avLst>
          </a:prstGeom>
          <a:solidFill>
            <a:srgbClr val="FFFFFF"/>
          </a:solidFill>
          <a:ln>
            <a:noFill/>
          </a:ln>
        </p:spPr>
        <p:txBody>
          <a:bodyPr/>
          <a:p/>
        </p:txBody>
      </p:sp>
      <p:pic>
        <p:nvPicPr>
          <p:cNvPr id="39" name="Image 39"/>
          <p:cNvPicPr>
            <a:picLocks noChangeAspect="1"/>
          </p:cNvPicPr>
          <p:nvPr/>
        </p:nvPicPr>
        <p:blipFill>
          <a:blip r:embed="rId2"/>
          <a:stretch>
            <a:fillRect/>
          </a:stretch>
        </p:blipFill>
        <p:spPr>
          <a:xfrm>
            <a:off x="9658350" y="4457700"/>
            <a:ext cx="1905000" cy="1905000"/>
          </a:xfrm>
          <a:prstGeom prst="rect">
            <a:avLst/>
          </a:prstGeom>
        </p:spPr>
      </p:pic>
      <p:sp>
        <p:nvSpPr>
          <p:cNvPr id="40" name="TextBox 40"/>
          <p:cNvSpPr txBox="1"/>
          <p:nvPr/>
        </p:nvSpPr>
        <p:spPr>
          <a:xfrm>
            <a:off x="8704573" y="5022056"/>
            <a:ext cx="673742" cy="220028"/>
          </a:xfrm>
          <a:prstGeom prst="rect">
            <a:avLst/>
          </a:prstGeom>
          <a:noFill/>
          <a:ln>
            <a:noFill/>
          </a:ln>
        </p:spPr>
        <p:txBody>
          <a:bodyPr wrap="none" lIns="0" tIns="0" rIns="0" bIns="0" anchor="t" anchorCtr="0">
            <a:spAutoFit/>
          </a:bodyPr>
          <a:lstStyle/>
          <a:p>
            <a:pPr algn="r"/>
            <a:r>
              <a:rPr lang="en-US" sz="1120" b="1" dirty="0">
                <a:solidFill>
                  <a:srgbClr val="9FB0C8"/>
                </a:solidFill>
                <a:latin typeface="+mn-lt"/>
                <a:ea typeface="+mn-ea"/>
                <a:cs typeface="+mn-cs"/>
              </a:rPr>
              <a:t>Scan for</a:t>
            </a:r>
          </a:p>
        </p:txBody>
      </p:sp>
      <p:sp>
        <p:nvSpPr>
          <p:cNvPr id="41" name="TextBox 41"/>
          <p:cNvSpPr txBox="1"/>
          <p:nvPr/>
        </p:nvSpPr>
        <p:spPr>
          <a:xfrm>
            <a:off x="8622813" y="5231606"/>
            <a:ext cx="755502" cy="220028"/>
          </a:xfrm>
          <a:prstGeom prst="rect">
            <a:avLst/>
          </a:prstGeom>
          <a:noFill/>
          <a:ln>
            <a:noFill/>
          </a:ln>
        </p:spPr>
        <p:txBody>
          <a:bodyPr wrap="none" lIns="0" tIns="0" rIns="0" bIns="0" anchor="t" anchorCtr="0">
            <a:spAutoFit/>
          </a:bodyPr>
          <a:lstStyle/>
          <a:p>
            <a:pPr algn="r"/>
            <a:r>
              <a:rPr lang="en-US" sz="1120" b="1" dirty="0">
                <a:solidFill>
                  <a:srgbClr val="9FB0C8"/>
                </a:solidFill>
                <a:latin typeface="+mn-lt"/>
                <a:ea typeface="+mn-ea"/>
                <a:cs typeface="+mn-cs"/>
              </a:rPr>
              <a:t>the paper</a:t>
            </a:r>
          </a:p>
        </p:txBody>
      </p:sp>
      <p:sp>
        <p:nvSpPr>
          <p:cNvPr id="42" name="TextBox 42"/>
          <p:cNvSpPr txBox="1"/>
          <p:nvPr/>
        </p:nvSpPr>
        <p:spPr>
          <a:xfrm>
            <a:off x="8226896" y="5533549"/>
            <a:ext cx="1150657" cy="190690"/>
          </a:xfrm>
          <a:prstGeom prst="rect">
            <a:avLst/>
          </a:prstGeom>
          <a:noFill/>
          <a:ln>
            <a:noFill/>
          </a:ln>
        </p:spPr>
        <p:txBody>
          <a:bodyPr wrap="none" lIns="0" tIns="0" rIns="0" bIns="0" anchor="t" anchorCtr="0">
            <a:spAutoFit/>
          </a:bodyPr>
          <a:lstStyle/>
          <a:p>
            <a:pPr algn="r"/>
            <a:r>
              <a:rPr lang="en-US" sz="980" dirty="0">
                <a:solidFill>
                  <a:srgbClr val="4AA3FF"/>
                </a:solidFill>
                <a:latin typeface="+mn-lt"/>
                <a:ea typeface="+mn-ea"/>
                <a:cs typeface="+mn-cs"/>
              </a:rPr>
              <a:t>arXiv:2310.11428</a:t>
            </a:r>
          </a:p>
        </p:txBody>
      </p:sp>
      <p:sp>
        <p:nvSpPr>
          <p:cNvPr id="43" name="cue_s01_c1_studies_puzzling_instability_behavio" title="cue_s01_c1_studies_puzzling_instability_behavio" descr="cue_s01_c1_studies_puzzling_instability_behavio This paper studies a puzzling training instability in behavior cloning."/>
          <p:cNvSpPr/>
          <p:nvPr/>
        </p:nvSpPr>
        <p:spPr>
          <a:xfrm>
            <a:off x="609600" y="3524326"/>
            <a:ext cx="5676595" cy="7427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1_c2_when_you_train_policy_network" title="cue_s01_c2_when_you_train_policy_network" descr="cue_s01_c2_when_you_train_policy_network When you train a policy network with minibatch stochastic gradient descent, the long-horizon reward can swing wildly from one iterate to the next, even though the behavior cloning loss barely moves."/>
          <p:cNvSpPr/>
          <p:nvPr/>
        </p:nvSpPr>
        <p:spPr>
          <a:xfrm>
            <a:off x="6667804" y="1428521"/>
            <a:ext cx="49145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3_authors_trace_what_they_call" title="cue_s01_c3_authors_trace_what_they_call" descr="cue_s01_c3_authors_trace_what_they_call The authors trace this to what they call gradient variance amplification, where tiny stochastic gradient noise gets amplified into catastrophic error accumulation through the closed loop between the policy and its environment."/>
          <p:cNvSpPr/>
          <p:nvPr/>
        </p:nvSpPr>
        <p:spPr>
          <a:xfrm>
            <a:off x="609600" y="4362373"/>
            <a:ext cx="5676595" cy="7427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4_most_standard_fixes_not_help" title="cue_s01_c4_most_standard_fixes_not_help" descr="cue_s01_c4_most_standard_fixes_not_help Most standard fixes do not help, but taking an exponential moving average of the weights turns out to be remarkably effective, and the same story holds for autoregressive language models."/>
          <p:cNvSpPr/>
          <p:nvPr/>
        </p:nvSpPr>
        <p:spPr>
          <a:xfrm>
            <a:off x="609600" y="5200421"/>
            <a:ext cx="5676595" cy="7427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381000"/>
          </a:xfrm>
          <a:prstGeom prst="roundRect">
            <a:avLst>
              <a:gd name="adj" fmla="val 50000"/>
            </a:avLst>
          </a:prstGeom>
          <a:solidFill>
            <a:srgbClr val="4AA3FF"/>
          </a:solidFill>
          <a:ln>
            <a:noFill/>
          </a:ln>
        </p:spPr>
        <p:txBody>
          <a:bodyPr/>
          <a:p/>
        </p:txBody>
      </p:sp>
      <p:sp>
        <p:nvSpPr>
          <p:cNvPr id="3" name="TextBox 3"/>
          <p:cNvSpPr txBox="1"/>
          <p:nvPr/>
        </p:nvSpPr>
        <p:spPr>
          <a:xfrm>
            <a:off x="813435" y="545306"/>
            <a:ext cx="1333409" cy="220028"/>
          </a:xfrm>
          <a:prstGeom prst="rect">
            <a:avLst/>
          </a:prstGeom>
          <a:noFill/>
          <a:ln>
            <a:noFill/>
          </a:ln>
        </p:spPr>
        <p:txBody>
          <a:bodyPr wrap="none" lIns="0" tIns="0" rIns="0" bIns="0" anchor="t" anchorCtr="0">
            <a:spAutoFit/>
          </a:bodyPr>
          <a:lstStyle/>
          <a:p>
            <a:pPr algn="l"/>
            <a:r>
              <a:rPr lang="en-US" sz="1120" b="1" spc="150" dirty="0">
                <a:solidFill>
                  <a:srgbClr val="9FB0C8"/>
                </a:solidFill>
                <a:latin typeface="+mn-lt"/>
                <a:ea typeface="+mn-ea"/>
                <a:cs typeface="+mn-cs"/>
              </a:rPr>
              <a:t>01 · PROBLEM</a:t>
            </a:r>
          </a:p>
        </p:txBody>
      </p:sp>
      <p:sp>
        <p:nvSpPr>
          <p:cNvPr id="4" name="TextBox 4"/>
          <p:cNvSpPr txBox="1"/>
          <p:nvPr/>
        </p:nvSpPr>
        <p:spPr>
          <a:xfrm>
            <a:off x="807339" y="739616"/>
            <a:ext cx="4658401" cy="454724"/>
          </a:xfrm>
          <a:prstGeom prst="rect">
            <a:avLst/>
          </a:prstGeom>
          <a:noFill/>
          <a:ln>
            <a:noFill/>
          </a:ln>
        </p:spPr>
        <p:txBody>
          <a:bodyPr wrap="none" lIns="0" tIns="0" rIns="0" bIns="0" anchor="t" anchorCtr="0">
            <a:spAutoFit/>
          </a:bodyPr>
          <a:lstStyle/>
          <a:p>
            <a:pPr algn="l"/>
            <a:r>
              <a:rPr lang="en-US" sz="2320" b="1" dirty="0">
                <a:solidFill>
                  <a:schemeClr val="dk1"/>
                </a:solidFill>
                <a:latin typeface="+mn-lt"/>
                <a:ea typeface="+mn-ea"/>
                <a:cs typeface="+mn-cs"/>
              </a:rPr>
              <a:t>Stable loss, unstable reward</a:t>
            </a:r>
          </a:p>
        </p:txBody>
      </p:sp>
      <p:grpSp>
        <p:nvGrpSpPr>
          <p:cNvPr id="11" name="Group 11"/>
          <p:cNvGrpSpPr/>
          <p:nvPr/>
        </p:nvGrpSpPr>
        <p:grpSpPr>
          <a:xfrm>
            <a:off x="609600" y="1428750"/>
            <a:ext cx="4038600" cy="1428750"/>
            <a:chOff x="609600" y="1428750"/>
            <a:chExt cx="4038600" cy="1428750"/>
          </a:xfrm>
        </p:grpSpPr>
        <p:sp>
          <p:nvSpPr>
            <p:cNvPr id="5" name="Rectangle 5"/>
            <p:cNvSpPr/>
            <p:nvPr/>
          </p:nvSpPr>
          <p:spPr>
            <a:xfrm>
              <a:off x="609600" y="1428750"/>
              <a:ext cx="4038600" cy="1428750"/>
            </a:xfrm>
            <a:prstGeom prst="roundRect">
              <a:avLst>
                <a:gd name="adj" fmla="val 9333"/>
              </a:avLst>
            </a:prstGeom>
            <a:solidFill>
              <a:schemeClr val="accent5"/>
            </a:solidFill>
            <a:ln w="14288">
              <a:solidFill>
                <a:schemeClr val="accent4"/>
              </a:solidFill>
            </a:ln>
          </p:spPr>
        </p:sp>
        <p:sp>
          <p:nvSpPr>
            <p:cNvPr id="6" name="Rectangle 6"/>
            <p:cNvSpPr/>
            <p:nvPr/>
          </p:nvSpPr>
          <p:spPr>
            <a:xfrm>
              <a:off x="609600" y="1562100"/>
              <a:ext cx="47625" cy="1162050"/>
            </a:xfrm>
            <a:prstGeom prst="roundRect">
              <a:avLst>
                <a:gd name="adj" fmla="val 50000"/>
              </a:avLst>
            </a:prstGeom>
            <a:solidFill>
              <a:srgbClr val="4AA3FF"/>
            </a:solidFill>
            <a:ln>
              <a:noFill/>
            </a:ln>
          </p:spPr>
        </p:sp>
        <p:sp>
          <p:nvSpPr>
            <p:cNvPr id="7" name="TextBox 7"/>
            <p:cNvSpPr txBox="1"/>
            <p:nvPr/>
          </p:nvSpPr>
          <p:spPr>
            <a:xfrm>
              <a:off x="830580" y="1647825"/>
              <a:ext cx="1919196" cy="293370"/>
            </a:xfrm>
            <a:prstGeom prst="rect">
              <a:avLst/>
            </a:prstGeom>
            <a:noFill/>
            <a:ln>
              <a:noFill/>
            </a:ln>
          </p:spPr>
          <p:txBody>
            <a:bodyPr wrap="none" lIns="0" tIns="0" rIns="0" bIns="0" anchor="t" anchorCtr="0">
              <a:spAutoFit/>
            </a:bodyPr>
            <a:lstStyle/>
            <a:p>
              <a:pPr algn="l"/>
              <a:r>
                <a:rPr lang="en-US" sz="1500" b="1" dirty="0">
                  <a:solidFill>
                    <a:srgbClr val="4AA3FF"/>
                  </a:solidFill>
                  <a:latin typeface="+mn-lt"/>
                  <a:ea typeface="+mn-ea"/>
                  <a:cs typeface="+mn-cs"/>
                </a:rPr>
                <a:t>Training looks fine</a:t>
              </a:r>
            </a:p>
          </p:txBody>
        </p:sp>
        <p:sp>
          <p:nvSpPr>
            <p:cNvPr id="8" name="TextBox 8"/>
            <p:cNvSpPr txBox="1"/>
            <p:nvPr/>
          </p:nvSpPr>
          <p:spPr>
            <a:xfrm>
              <a:off x="831342" y="1987868"/>
              <a:ext cx="240033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Clone a robot controller by</a:t>
              </a:r>
            </a:p>
          </p:txBody>
        </p:sp>
        <p:sp>
          <p:nvSpPr>
            <p:cNvPr id="9" name="TextBox 9"/>
            <p:cNvSpPr txBox="1"/>
            <p:nvPr/>
          </p:nvSpPr>
          <p:spPr>
            <a:xfrm>
              <a:off x="831342" y="2235518"/>
              <a:ext cx="300002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imitation. The training loss drops</a:t>
              </a:r>
            </a:p>
          </p:txBody>
        </p:sp>
        <p:sp>
          <p:nvSpPr>
            <p:cNvPr id="10" name="TextBox 10"/>
            <p:cNvSpPr txBox="1"/>
            <p:nvPr/>
          </p:nvSpPr>
          <p:spPr>
            <a:xfrm>
              <a:off x="831342" y="2483168"/>
              <a:ext cx="215821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smoothly and stays low.</a:t>
              </a:r>
            </a:p>
          </p:txBody>
        </p:sp>
      </p:grpSp>
      <p:grpSp>
        <p:nvGrpSpPr>
          <p:cNvPr id="18" name="Group 18"/>
          <p:cNvGrpSpPr/>
          <p:nvPr/>
        </p:nvGrpSpPr>
        <p:grpSpPr>
          <a:xfrm>
            <a:off x="609600" y="3009900"/>
            <a:ext cx="4038600" cy="1428750"/>
            <a:chOff x="609600" y="3009900"/>
            <a:chExt cx="4038600" cy="1428750"/>
          </a:xfrm>
        </p:grpSpPr>
        <p:sp>
          <p:nvSpPr>
            <p:cNvPr id="12" name="Rectangle 12"/>
            <p:cNvSpPr/>
            <p:nvPr/>
          </p:nvSpPr>
          <p:spPr>
            <a:xfrm>
              <a:off x="609600" y="3009900"/>
              <a:ext cx="4038600" cy="1428750"/>
            </a:xfrm>
            <a:prstGeom prst="roundRect">
              <a:avLst>
                <a:gd name="adj" fmla="val 9333"/>
              </a:avLst>
            </a:prstGeom>
            <a:solidFill>
              <a:schemeClr val="accent5"/>
            </a:solidFill>
            <a:ln w="14288">
              <a:solidFill>
                <a:schemeClr val="accent4"/>
              </a:solidFill>
            </a:ln>
          </p:spPr>
        </p:sp>
        <p:sp>
          <p:nvSpPr>
            <p:cNvPr id="13" name="Rectangle 13"/>
            <p:cNvSpPr/>
            <p:nvPr/>
          </p:nvSpPr>
          <p:spPr>
            <a:xfrm>
              <a:off x="609600" y="3143250"/>
              <a:ext cx="47625" cy="1162050"/>
            </a:xfrm>
            <a:prstGeom prst="roundRect">
              <a:avLst>
                <a:gd name="adj" fmla="val 50000"/>
              </a:avLst>
            </a:prstGeom>
            <a:solidFill>
              <a:srgbClr val="F87171"/>
            </a:solidFill>
            <a:ln>
              <a:noFill/>
            </a:ln>
          </p:spPr>
        </p:sp>
        <p:sp>
          <p:nvSpPr>
            <p:cNvPr id="14" name="TextBox 14"/>
            <p:cNvSpPr txBox="1"/>
            <p:nvPr/>
          </p:nvSpPr>
          <p:spPr>
            <a:xfrm>
              <a:off x="830580" y="3228975"/>
              <a:ext cx="2810250" cy="293370"/>
            </a:xfrm>
            <a:prstGeom prst="rect">
              <a:avLst/>
            </a:prstGeom>
            <a:noFill/>
            <a:ln>
              <a:noFill/>
            </a:ln>
          </p:spPr>
          <p:txBody>
            <a:bodyPr wrap="none" lIns="0" tIns="0" rIns="0" bIns="0" anchor="t" anchorCtr="0">
              <a:spAutoFit/>
            </a:bodyPr>
            <a:lstStyle/>
            <a:p>
              <a:pPr algn="l"/>
              <a:r>
                <a:rPr lang="en-US" sz="1500" b="1" dirty="0">
                  <a:solidFill>
                    <a:srgbClr val="F87171"/>
                  </a:solidFill>
                  <a:latin typeface="+mn-lt"/>
                  <a:ea typeface="+mn-ea"/>
                  <a:cs typeface="+mn-cs"/>
                </a:rPr>
                <a:t>Deployment says otherwise</a:t>
              </a:r>
            </a:p>
          </p:txBody>
        </p:sp>
        <p:sp>
          <p:nvSpPr>
            <p:cNvPr id="15" name="TextBox 15"/>
            <p:cNvSpPr txBox="1"/>
            <p:nvPr/>
          </p:nvSpPr>
          <p:spPr>
            <a:xfrm>
              <a:off x="831342" y="3569018"/>
              <a:ext cx="290007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Deploy the policy and the walking</a:t>
              </a:r>
            </a:p>
          </p:txBody>
        </p:sp>
        <p:sp>
          <p:nvSpPr>
            <p:cNvPr id="16" name="TextBox 16"/>
            <p:cNvSpPr txBox="1"/>
            <p:nvPr/>
          </p:nvSpPr>
          <p:spPr>
            <a:xfrm>
              <a:off x="831342" y="3816668"/>
              <a:ext cx="302146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score jumps around violently from</a:t>
              </a:r>
            </a:p>
          </p:txBody>
        </p:sp>
        <p:sp>
          <p:nvSpPr>
            <p:cNvPr id="17" name="TextBox 17"/>
            <p:cNvSpPr txBox="1"/>
            <p:nvPr/>
          </p:nvSpPr>
          <p:spPr>
            <a:xfrm>
              <a:off x="831342" y="4064318"/>
              <a:ext cx="269433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one training step to the next.</a:t>
              </a:r>
            </a:p>
          </p:txBody>
        </p:sp>
      </p:grpSp>
      <p:grpSp>
        <p:nvGrpSpPr>
          <p:cNvPr id="31" name="Group 31"/>
          <p:cNvGrpSpPr/>
          <p:nvPr/>
        </p:nvGrpSpPr>
        <p:grpSpPr>
          <a:xfrm>
            <a:off x="4876800" y="1428750"/>
            <a:ext cx="6705600" cy="3009900"/>
            <a:chOff x="4876800" y="1428750"/>
            <a:chExt cx="6705600" cy="3009900"/>
          </a:xfrm>
        </p:grpSpPr>
        <p:sp>
          <p:nvSpPr>
            <p:cNvPr id="19" name="Rectangle 19"/>
            <p:cNvSpPr/>
            <p:nvPr/>
          </p:nvSpPr>
          <p:spPr>
            <a:xfrm>
              <a:off x="4876800" y="1428750"/>
              <a:ext cx="6705600" cy="3009900"/>
            </a:xfrm>
            <a:prstGeom prst="roundRect">
              <a:avLst>
                <a:gd name="adj" fmla="val 4430"/>
              </a:avLst>
            </a:prstGeom>
            <a:solidFill>
              <a:schemeClr val="accent5"/>
            </a:solidFill>
            <a:ln w="14288">
              <a:solidFill>
                <a:schemeClr val="accent4"/>
              </a:solidFill>
            </a:ln>
          </p:spPr>
        </p:sp>
        <p:sp>
          <p:nvSpPr>
            <p:cNvPr id="20" name="Rectangle 20"/>
            <p:cNvSpPr/>
            <p:nvPr/>
          </p:nvSpPr>
          <p:spPr>
            <a:xfrm>
              <a:off x="4876800" y="1562100"/>
              <a:ext cx="47625" cy="2743200"/>
            </a:xfrm>
            <a:prstGeom prst="roundRect">
              <a:avLst>
                <a:gd name="adj" fmla="val 50000"/>
              </a:avLst>
            </a:prstGeom>
            <a:solidFill>
              <a:srgbClr val="FBBF24"/>
            </a:solidFill>
            <a:ln>
              <a:noFill/>
            </a:ln>
          </p:spPr>
        </p:sp>
        <p:sp>
          <p:nvSpPr>
            <p:cNvPr id="21" name="TextBox 21"/>
            <p:cNvSpPr txBox="1"/>
            <p:nvPr/>
          </p:nvSpPr>
          <p:spPr>
            <a:xfrm>
              <a:off x="5098542" y="1644968"/>
              <a:ext cx="5105429" cy="264033"/>
            </a:xfrm>
            <a:prstGeom prst="rect">
              <a:avLst/>
            </a:prstGeom>
            <a:noFill/>
            <a:ln>
              <a:noFill/>
            </a:ln>
          </p:spPr>
          <p:txBody>
            <a:bodyPr wrap="none" lIns="0" tIns="0" rIns="0" bIns="0" anchor="t" anchorCtr="0">
              <a:spAutoFit/>
            </a:bodyPr>
            <a:lstStyle/>
            <a:p>
              <a:pPr algn="l"/>
              <a:r>
                <a:rPr lang="en-US" sz="1350" b="1" dirty="0">
                  <a:solidFill>
                    <a:srgbClr val="FBBF24"/>
                  </a:solidFill>
                  <a:latin typeface="+mn-lt"/>
                  <a:ea typeface="+mn-ea"/>
                  <a:cs typeface="+mn-cs"/>
                </a:rPr>
                <a:t>Single-step loss calm — long-horizon reward oscillating</a:t>
              </a:r>
            </a:p>
          </p:txBody>
        </p:sp>
        <p:sp>
          <p:nvSpPr>
            <p:cNvPr id="22" name="Line 22"/>
            <p:cNvSpPr/>
            <p:nvPr/>
          </p:nvSpPr>
          <p:spPr>
            <a:xfrm>
              <a:off x="5200650" y="3886200"/>
              <a:ext cx="6038850" cy="9525"/>
            </a:xfrm>
            <a:custGeom>
              <a:avLst/>
              <a:gdLst/>
              <a:ahLst/>
              <a:cxnLst/>
              <a:rect l="l" t="t" r="r" b="b"/>
              <a:pathLst>
                <a:path w="6038850" h="9525">
                  <a:moveTo>
                    <a:pt x="0" y="0"/>
                  </a:moveTo>
                  <a:lnTo>
                    <a:pt x="6038850" y="0"/>
                  </a:lnTo>
                </a:path>
              </a:pathLst>
            </a:custGeom>
            <a:noFill/>
            <a:ln w="14288">
              <a:solidFill>
                <a:schemeClr val="accent4"/>
              </a:solidFill>
            </a:ln>
          </p:spPr>
        </p:sp>
        <p:sp>
          <p:nvSpPr>
            <p:cNvPr id="23" name="Line 23"/>
            <p:cNvSpPr/>
            <p:nvPr/>
          </p:nvSpPr>
          <p:spPr>
            <a:xfrm>
              <a:off x="5200650" y="2000250"/>
              <a:ext cx="9525" cy="1885950"/>
            </a:xfrm>
            <a:custGeom>
              <a:avLst/>
              <a:gdLst/>
              <a:ahLst/>
              <a:cxnLst/>
              <a:rect l="l" t="t" r="r" b="b"/>
              <a:pathLst>
                <a:path w="9525" h="1885950">
                  <a:moveTo>
                    <a:pt x="0" y="0"/>
                  </a:moveTo>
                  <a:lnTo>
                    <a:pt x="0" y="1885950"/>
                  </a:lnTo>
                </a:path>
              </a:pathLst>
            </a:custGeom>
            <a:noFill/>
            <a:ln w="14288">
              <a:solidFill>
                <a:schemeClr val="accent4"/>
              </a:solidFill>
            </a:ln>
          </p:spPr>
        </p:sp>
        <p:sp>
          <p:nvSpPr>
            <p:cNvPr id="24" name="Polyline 24"/>
            <p:cNvSpPr/>
            <p:nvPr/>
          </p:nvSpPr>
          <p:spPr>
            <a:xfrm>
              <a:off x="5200650" y="2201228"/>
              <a:ext cx="6038850" cy="1243013"/>
            </a:xfrm>
            <a:custGeom>
              <a:avLst/>
              <a:gdLst/>
              <a:ahLst/>
              <a:cxnLst/>
              <a:rect l="l" t="t" r="r" b="b"/>
              <a:pathLst>
                <a:path w="6038850" h="1243013">
                  <a:moveTo>
                    <a:pt x="0" y="425768"/>
                  </a:moveTo>
                  <a:lnTo>
                    <a:pt x="147638" y="381000"/>
                  </a:lnTo>
                  <a:lnTo>
                    <a:pt x="294322" y="240982"/>
                  </a:lnTo>
                  <a:lnTo>
                    <a:pt x="441960" y="482918"/>
                  </a:lnTo>
                  <a:lnTo>
                    <a:pt x="589597" y="813435"/>
                  </a:lnTo>
                  <a:lnTo>
                    <a:pt x="736282" y="145733"/>
                  </a:lnTo>
                  <a:lnTo>
                    <a:pt x="883920" y="571500"/>
                  </a:lnTo>
                  <a:lnTo>
                    <a:pt x="1030605" y="427673"/>
                  </a:lnTo>
                  <a:lnTo>
                    <a:pt x="1178243" y="1243013"/>
                  </a:lnTo>
                  <a:lnTo>
                    <a:pt x="1325880" y="1071563"/>
                  </a:lnTo>
                  <a:lnTo>
                    <a:pt x="1472565" y="710565"/>
                  </a:lnTo>
                  <a:lnTo>
                    <a:pt x="1620203" y="768668"/>
                  </a:lnTo>
                  <a:lnTo>
                    <a:pt x="1767840" y="520065"/>
                  </a:lnTo>
                  <a:lnTo>
                    <a:pt x="1914525" y="1161098"/>
                  </a:lnTo>
                  <a:lnTo>
                    <a:pt x="2062162" y="396240"/>
                  </a:lnTo>
                  <a:lnTo>
                    <a:pt x="2209800" y="359093"/>
                  </a:lnTo>
                  <a:lnTo>
                    <a:pt x="2356485" y="64770"/>
                  </a:lnTo>
                  <a:lnTo>
                    <a:pt x="2504122" y="415290"/>
                  </a:lnTo>
                  <a:lnTo>
                    <a:pt x="2650807" y="932498"/>
                  </a:lnTo>
                  <a:lnTo>
                    <a:pt x="2798445" y="446723"/>
                  </a:lnTo>
                  <a:lnTo>
                    <a:pt x="2946082" y="767715"/>
                  </a:lnTo>
                  <a:lnTo>
                    <a:pt x="3092768" y="425768"/>
                  </a:lnTo>
                  <a:lnTo>
                    <a:pt x="3240405" y="1243013"/>
                  </a:lnTo>
                  <a:lnTo>
                    <a:pt x="3388043" y="1121093"/>
                  </a:lnTo>
                  <a:lnTo>
                    <a:pt x="3534728" y="799148"/>
                  </a:lnTo>
                  <a:lnTo>
                    <a:pt x="3682365" y="613410"/>
                  </a:lnTo>
                  <a:lnTo>
                    <a:pt x="3829050" y="234315"/>
                  </a:lnTo>
                  <a:lnTo>
                    <a:pt x="3976688" y="942022"/>
                  </a:lnTo>
                  <a:lnTo>
                    <a:pt x="4124325" y="383857"/>
                  </a:lnTo>
                  <a:lnTo>
                    <a:pt x="4271010" y="466725"/>
                  </a:lnTo>
                  <a:lnTo>
                    <a:pt x="4418648" y="42862"/>
                  </a:lnTo>
                  <a:lnTo>
                    <a:pt x="4566285" y="410527"/>
                  </a:lnTo>
                  <a:lnTo>
                    <a:pt x="4712970" y="1030605"/>
                  </a:lnTo>
                  <a:lnTo>
                    <a:pt x="4860608" y="743902"/>
                  </a:lnTo>
                  <a:lnTo>
                    <a:pt x="5008245" y="990600"/>
                  </a:lnTo>
                  <a:lnTo>
                    <a:pt x="5154930" y="406718"/>
                  </a:lnTo>
                  <a:lnTo>
                    <a:pt x="5302568" y="1113472"/>
                  </a:lnTo>
                  <a:lnTo>
                    <a:pt x="5449252" y="1014413"/>
                  </a:lnTo>
                  <a:lnTo>
                    <a:pt x="5596890" y="824865"/>
                  </a:lnTo>
                  <a:lnTo>
                    <a:pt x="5744527" y="497205"/>
                  </a:lnTo>
                  <a:lnTo>
                    <a:pt x="5891212" y="0"/>
                  </a:lnTo>
                  <a:lnTo>
                    <a:pt x="6038850" y="724852"/>
                  </a:lnTo>
                </a:path>
              </a:pathLst>
            </a:custGeom>
            <a:noFill/>
            <a:ln w="22860">
              <a:solidFill>
                <a:srgbClr val="4AA3FF"/>
              </a:solidFill>
              <a:round/>
            </a:ln>
          </p:spPr>
        </p:sp>
        <p:sp>
          <p:nvSpPr>
            <p:cNvPr id="25" name="Polyline 25"/>
            <p:cNvSpPr/>
            <p:nvPr/>
          </p:nvSpPr>
          <p:spPr>
            <a:xfrm>
              <a:off x="5200650" y="3565208"/>
              <a:ext cx="6038850" cy="55245"/>
            </a:xfrm>
            <a:custGeom>
              <a:avLst/>
              <a:gdLst/>
              <a:ahLst/>
              <a:cxnLst/>
              <a:rect l="l" t="t" r="r" b="b"/>
              <a:pathLst>
                <a:path w="6038850" h="55245">
                  <a:moveTo>
                    <a:pt x="0" y="0"/>
                  </a:moveTo>
                  <a:lnTo>
                    <a:pt x="147638" y="4762"/>
                  </a:lnTo>
                  <a:lnTo>
                    <a:pt x="294322" y="9525"/>
                  </a:lnTo>
                  <a:lnTo>
                    <a:pt x="441960" y="13335"/>
                  </a:lnTo>
                  <a:lnTo>
                    <a:pt x="589597" y="16192"/>
                  </a:lnTo>
                  <a:lnTo>
                    <a:pt x="736282" y="20002"/>
                  </a:lnTo>
                  <a:lnTo>
                    <a:pt x="883920" y="22860"/>
                  </a:lnTo>
                  <a:lnTo>
                    <a:pt x="1030605" y="25717"/>
                  </a:lnTo>
                  <a:lnTo>
                    <a:pt x="1178243" y="27622"/>
                  </a:lnTo>
                  <a:lnTo>
                    <a:pt x="1325880" y="30480"/>
                  </a:lnTo>
                  <a:lnTo>
                    <a:pt x="1472565" y="32385"/>
                  </a:lnTo>
                  <a:lnTo>
                    <a:pt x="1620203" y="34290"/>
                  </a:lnTo>
                  <a:lnTo>
                    <a:pt x="1767840" y="36195"/>
                  </a:lnTo>
                  <a:lnTo>
                    <a:pt x="1914525" y="38100"/>
                  </a:lnTo>
                  <a:lnTo>
                    <a:pt x="2062162" y="39052"/>
                  </a:lnTo>
                  <a:lnTo>
                    <a:pt x="2209800" y="40958"/>
                  </a:lnTo>
                  <a:lnTo>
                    <a:pt x="2356485" y="41910"/>
                  </a:lnTo>
                  <a:lnTo>
                    <a:pt x="2504122" y="42862"/>
                  </a:lnTo>
                  <a:lnTo>
                    <a:pt x="2650807" y="44767"/>
                  </a:lnTo>
                  <a:lnTo>
                    <a:pt x="2798445" y="45720"/>
                  </a:lnTo>
                  <a:lnTo>
                    <a:pt x="2946082" y="46672"/>
                  </a:lnTo>
                  <a:lnTo>
                    <a:pt x="3092768" y="46672"/>
                  </a:lnTo>
                  <a:lnTo>
                    <a:pt x="3240405" y="47625"/>
                  </a:lnTo>
                  <a:lnTo>
                    <a:pt x="3388043" y="48577"/>
                  </a:lnTo>
                  <a:lnTo>
                    <a:pt x="3534728" y="49530"/>
                  </a:lnTo>
                  <a:lnTo>
                    <a:pt x="3682365" y="49530"/>
                  </a:lnTo>
                  <a:lnTo>
                    <a:pt x="3829050" y="50483"/>
                  </a:lnTo>
                  <a:lnTo>
                    <a:pt x="3976688" y="51435"/>
                  </a:lnTo>
                  <a:lnTo>
                    <a:pt x="4124325" y="51435"/>
                  </a:lnTo>
                  <a:lnTo>
                    <a:pt x="4271010" y="52388"/>
                  </a:lnTo>
                  <a:lnTo>
                    <a:pt x="4418648" y="52388"/>
                  </a:lnTo>
                  <a:lnTo>
                    <a:pt x="4566285" y="52388"/>
                  </a:lnTo>
                  <a:lnTo>
                    <a:pt x="4712970" y="53340"/>
                  </a:lnTo>
                  <a:lnTo>
                    <a:pt x="4860608" y="53340"/>
                  </a:lnTo>
                  <a:lnTo>
                    <a:pt x="5008245" y="53340"/>
                  </a:lnTo>
                  <a:lnTo>
                    <a:pt x="5154930" y="54292"/>
                  </a:lnTo>
                  <a:lnTo>
                    <a:pt x="5302568" y="54292"/>
                  </a:lnTo>
                  <a:lnTo>
                    <a:pt x="5449252" y="54292"/>
                  </a:lnTo>
                  <a:lnTo>
                    <a:pt x="5596890" y="54292"/>
                  </a:lnTo>
                  <a:lnTo>
                    <a:pt x="5744527" y="54292"/>
                  </a:lnTo>
                  <a:lnTo>
                    <a:pt x="5891212" y="55245"/>
                  </a:lnTo>
                  <a:lnTo>
                    <a:pt x="6038850" y="55245"/>
                  </a:lnTo>
                </a:path>
              </a:pathLst>
            </a:custGeom>
            <a:noFill/>
            <a:ln w="19050">
              <a:solidFill>
                <a:srgbClr val="5B6B82"/>
              </a:solidFill>
              <a:round/>
            </a:ln>
          </p:spPr>
        </p:sp>
        <p:sp>
          <p:nvSpPr>
            <p:cNvPr id="26" name="Rectangle 26"/>
            <p:cNvSpPr/>
            <p:nvPr/>
          </p:nvSpPr>
          <p:spPr>
            <a:xfrm>
              <a:off x="5200650" y="4105275"/>
              <a:ext cx="152400" cy="38100"/>
            </a:xfrm>
            <a:prstGeom prst="rect">
              <a:avLst/>
            </a:prstGeom>
            <a:solidFill>
              <a:srgbClr val="4AA3FF"/>
            </a:solidFill>
            <a:ln>
              <a:noFill/>
            </a:ln>
          </p:spPr>
        </p:sp>
        <p:sp>
          <p:nvSpPr>
            <p:cNvPr id="27" name="TextBox 27"/>
            <p:cNvSpPr txBox="1"/>
            <p:nvPr/>
          </p:nvSpPr>
          <p:spPr>
            <a:xfrm>
              <a:off x="5405247" y="4066699"/>
              <a:ext cx="953188" cy="190690"/>
            </a:xfrm>
            <a:prstGeom prst="rect">
              <a:avLst/>
            </a:prstGeom>
            <a:noFill/>
            <a:ln>
              <a:noFill/>
            </a:ln>
          </p:spPr>
          <p:txBody>
            <a:bodyPr wrap="none" lIns="0" tIns="0" rIns="0" bIns="0" anchor="t" anchorCtr="0">
              <a:spAutoFit/>
            </a:bodyPr>
            <a:lstStyle/>
            <a:p>
              <a:pPr algn="l"/>
              <a:r>
                <a:rPr lang="en-US" sz="980" dirty="0">
                  <a:solidFill>
                    <a:srgbClr val="9FB0C8"/>
                  </a:solidFill>
                  <a:latin typeface="+mn-lt"/>
                  <a:ea typeface="+mn-ea"/>
                  <a:cs typeface="+mn-cs"/>
                </a:rPr>
                <a:t>rollout reward</a:t>
              </a:r>
            </a:p>
          </p:txBody>
        </p:sp>
        <p:sp>
          <p:nvSpPr>
            <p:cNvPr id="28" name="Rectangle 28"/>
            <p:cNvSpPr/>
            <p:nvPr/>
          </p:nvSpPr>
          <p:spPr>
            <a:xfrm>
              <a:off x="6819900" y="4105275"/>
              <a:ext cx="152400" cy="38100"/>
            </a:xfrm>
            <a:prstGeom prst="rect">
              <a:avLst/>
            </a:prstGeom>
            <a:solidFill>
              <a:srgbClr val="5B6B82"/>
            </a:solidFill>
            <a:ln>
              <a:noFill/>
            </a:ln>
          </p:spPr>
        </p:sp>
        <p:sp>
          <p:nvSpPr>
            <p:cNvPr id="29" name="TextBox 29"/>
            <p:cNvSpPr txBox="1"/>
            <p:nvPr/>
          </p:nvSpPr>
          <p:spPr>
            <a:xfrm>
              <a:off x="7024497" y="4066699"/>
              <a:ext cx="460202" cy="190690"/>
            </a:xfrm>
            <a:prstGeom prst="rect">
              <a:avLst/>
            </a:prstGeom>
            <a:noFill/>
            <a:ln>
              <a:noFill/>
            </a:ln>
          </p:spPr>
          <p:txBody>
            <a:bodyPr wrap="none" lIns="0" tIns="0" rIns="0" bIns="0" anchor="t" anchorCtr="0">
              <a:spAutoFit/>
            </a:bodyPr>
            <a:lstStyle/>
            <a:p>
              <a:pPr algn="l"/>
              <a:r>
                <a:rPr lang="en-US" sz="980" dirty="0">
                  <a:solidFill>
                    <a:srgbClr val="9FB0C8"/>
                  </a:solidFill>
                  <a:latin typeface="+mn-lt"/>
                  <a:ea typeface="+mn-ea"/>
                  <a:cs typeface="+mn-cs"/>
                </a:rPr>
                <a:t>BC loss</a:t>
              </a:r>
            </a:p>
          </p:txBody>
        </p:sp>
        <p:sp>
          <p:nvSpPr>
            <p:cNvPr id="30" name="TextBox 30"/>
            <p:cNvSpPr txBox="1"/>
            <p:nvPr/>
          </p:nvSpPr>
          <p:spPr>
            <a:xfrm>
              <a:off x="10459326" y="3979545"/>
              <a:ext cx="784936" cy="176212"/>
            </a:xfrm>
            <a:prstGeom prst="rect">
              <a:avLst/>
            </a:prstGeom>
            <a:noFill/>
            <a:ln>
              <a:noFill/>
            </a:ln>
          </p:spPr>
          <p:txBody>
            <a:bodyPr wrap="none" lIns="0" tIns="0" rIns="0" bIns="0" anchor="t" anchorCtr="0">
              <a:spAutoFit/>
            </a:bodyPr>
            <a:lstStyle/>
            <a:p>
              <a:pPr algn="r"/>
              <a:r>
                <a:rPr lang="en-US" sz="900" dirty="0">
                  <a:solidFill>
                    <a:srgbClr val="9FB0C8"/>
                  </a:solidFill>
                  <a:latin typeface="+mn-lt"/>
                  <a:ea typeface="+mn-ea"/>
                  <a:cs typeface="+mn-cs"/>
                </a:rPr>
                <a:t>training step</a:t>
              </a:r>
            </a:p>
          </p:txBody>
        </p:sp>
      </p:grpSp>
      <p:grpSp>
        <p:nvGrpSpPr>
          <p:cNvPr id="38" name="Group 38"/>
          <p:cNvGrpSpPr/>
          <p:nvPr/>
        </p:nvGrpSpPr>
        <p:grpSpPr>
          <a:xfrm>
            <a:off x="4876800" y="4667250"/>
            <a:ext cx="6796164" cy="1409700"/>
            <a:chOff x="4876800" y="4667250"/>
            <a:chExt cx="6796164" cy="1409700"/>
          </a:xfrm>
        </p:grpSpPr>
        <p:sp>
          <p:nvSpPr>
            <p:cNvPr id="32" name="Rectangle 32"/>
            <p:cNvSpPr/>
            <p:nvPr/>
          </p:nvSpPr>
          <p:spPr>
            <a:xfrm>
              <a:off x="4876800" y="4667250"/>
              <a:ext cx="6705600" cy="1409700"/>
            </a:xfrm>
            <a:prstGeom prst="roundRect">
              <a:avLst>
                <a:gd name="adj" fmla="val 9459"/>
              </a:avLst>
            </a:prstGeom>
            <a:solidFill>
              <a:schemeClr val="accent5"/>
            </a:solidFill>
            <a:ln w="14288">
              <a:solidFill>
                <a:schemeClr val="accent4"/>
              </a:solidFill>
            </a:ln>
          </p:spPr>
        </p:sp>
        <p:sp>
          <p:nvSpPr>
            <p:cNvPr id="33" name="Rectangle 33"/>
            <p:cNvSpPr/>
            <p:nvPr/>
          </p:nvSpPr>
          <p:spPr>
            <a:xfrm>
              <a:off x="4876800" y="4800600"/>
              <a:ext cx="47625" cy="1143000"/>
            </a:xfrm>
            <a:prstGeom prst="roundRect">
              <a:avLst>
                <a:gd name="adj" fmla="val 50000"/>
              </a:avLst>
            </a:prstGeom>
            <a:solidFill>
              <a:srgbClr val="9FB0C8"/>
            </a:solidFill>
            <a:ln>
              <a:noFill/>
            </a:ln>
          </p:spPr>
        </p:sp>
        <p:sp>
          <p:nvSpPr>
            <p:cNvPr id="34" name="TextBox 34"/>
            <p:cNvSpPr txBox="1"/>
            <p:nvPr/>
          </p:nvSpPr>
          <p:spPr>
            <a:xfrm>
              <a:off x="5097780" y="4886325"/>
              <a:ext cx="2132367" cy="293370"/>
            </a:xfrm>
            <a:prstGeom prst="rect">
              <a:avLst/>
            </a:prstGeom>
            <a:noFill/>
            <a:ln>
              <a:noFill/>
            </a:ln>
          </p:spPr>
          <p:txBody>
            <a:bodyPr wrap="none" lIns="0" tIns="0" rIns="0" bIns="0" anchor="t" anchorCtr="0">
              <a:spAutoFit/>
            </a:bodyPr>
            <a:lstStyle/>
            <a:p>
              <a:pPr algn="l"/>
              <a:r>
                <a:rPr lang="en-US" sz="1500" b="1" dirty="0">
                  <a:solidFill>
                    <a:srgbClr val="9FB0C8"/>
                  </a:solidFill>
                  <a:latin typeface="+mn-lt"/>
                  <a:ea typeface="+mn-ea"/>
                  <a:cs typeface="+mn-cs"/>
                </a:rPr>
                <a:t>Why you never see it</a:t>
              </a:r>
            </a:p>
          </p:txBody>
        </p:sp>
        <p:sp>
          <p:nvSpPr>
            <p:cNvPr id="35" name="TextBox 35"/>
            <p:cNvSpPr txBox="1"/>
            <p:nvPr/>
          </p:nvSpPr>
          <p:spPr>
            <a:xfrm>
              <a:off x="5098542" y="5226368"/>
              <a:ext cx="656212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Rolling out and evaluating at every checkpoint is expensive, so you usually</a:t>
              </a:r>
            </a:p>
          </p:txBody>
        </p:sp>
        <p:sp>
          <p:nvSpPr>
            <p:cNvPr id="36" name="TextBox 36"/>
            <p:cNvSpPr txBox="1"/>
            <p:nvPr/>
          </p:nvSpPr>
          <p:spPr>
            <a:xfrm>
              <a:off x="5098542" y="5474018"/>
              <a:ext cx="657442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never see these swings — which means whichever checkpoint you happen to</a:t>
              </a:r>
            </a:p>
          </p:txBody>
        </p:sp>
        <p:sp>
          <p:nvSpPr>
            <p:cNvPr id="37" name="TextBox 37"/>
            <p:cNvSpPr txBox="1"/>
            <p:nvPr/>
          </p:nvSpPr>
          <p:spPr>
            <a:xfrm>
              <a:off x="5098542" y="5721668"/>
              <a:ext cx="214003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grab could be a bad one.</a:t>
              </a:r>
            </a:p>
          </p:txBody>
        </p:sp>
      </p:grpSp>
      <p:sp>
        <p:nvSpPr>
          <p:cNvPr id="39" name="cue_s02_c1_imagine_robot_controller_imitation_y" title="cue_s02_c1_imagine_robot_controller_imitation_y" descr="cue_s02_c1_imagine_robot_controller_imitation_y Imagine training a robot controller by imitation. You watch the training loss, and it drops smoothly and stays low. Everything looks fine."/>
          <p:cNvSpPr/>
          <p:nvPr/>
        </p:nvSpPr>
        <p:spPr>
          <a:xfrm>
            <a:off x="609600" y="1428521"/>
            <a:ext cx="40379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2_c2_but_you_actually_deploy_policy" title="cue_s02_c2_but_you_actually_deploy_policy" descr="cue_s02_c2_but_you_actually_deploy_policy But if you actually deploy the policy and measure how well it walks, the score jumps around violently from one training step to the next."/>
          <p:cNvSpPr/>
          <p:nvPr/>
        </p:nvSpPr>
        <p:spPr>
          <a:xfrm>
            <a:off x="609600" y="3009976"/>
            <a:ext cx="40379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2_c3_about_gap_single_step_imitation_loss" title="cue_s02_c3_about_gap_single_step_imitation_loss" descr="cue_s02_c3_about_gap_single_step_imitation_loss This paper is about that gap. The single-step imitation loss is calm and stable, yet the thing you truly care about, the long-horizon reward, is oscillating wildly."/>
          <p:cNvSpPr/>
          <p:nvPr/>
        </p:nvSpPr>
        <p:spPr>
          <a:xfrm>
            <a:off x="4876800" y="1428521"/>
            <a:ext cx="6705600" cy="30099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2_c4_because_expensive_roll_out_evaluate" title="cue_s02_c4_because_expensive_roll_out_evaluate" descr="cue_s02_c4_because_expensive_roll_out_evaluate And because it is expensive to roll out and evaluate at every checkpoint, you usually never see these swings, which means whichever checkpoint you happen to grab could be a bad one."/>
          <p:cNvSpPr/>
          <p:nvPr/>
        </p:nvSpPr>
        <p:spPr>
          <a:xfrm>
            <a:off x="4876800" y="4667554"/>
            <a:ext cx="6795820"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381000"/>
          </a:xfrm>
          <a:prstGeom prst="roundRect">
            <a:avLst>
              <a:gd name="adj" fmla="val 50000"/>
            </a:avLst>
          </a:prstGeom>
          <a:solidFill>
            <a:srgbClr val="4AA3FF"/>
          </a:solidFill>
          <a:ln>
            <a:noFill/>
          </a:ln>
        </p:spPr>
        <p:txBody>
          <a:bodyPr/>
          <a:p/>
        </p:txBody>
      </p:sp>
      <p:sp>
        <p:nvSpPr>
          <p:cNvPr id="3" name="TextBox 3"/>
          <p:cNvSpPr txBox="1"/>
          <p:nvPr/>
        </p:nvSpPr>
        <p:spPr>
          <a:xfrm>
            <a:off x="813435" y="545306"/>
            <a:ext cx="1623237" cy="220028"/>
          </a:xfrm>
          <a:prstGeom prst="rect">
            <a:avLst/>
          </a:prstGeom>
          <a:noFill/>
          <a:ln>
            <a:noFill/>
          </a:ln>
        </p:spPr>
        <p:txBody>
          <a:bodyPr wrap="none" lIns="0" tIns="0" rIns="0" bIns="0" anchor="t" anchorCtr="0">
            <a:spAutoFit/>
          </a:bodyPr>
          <a:lstStyle/>
          <a:p>
            <a:pPr algn="l"/>
            <a:r>
              <a:rPr lang="en-US" sz="1120" b="1" spc="150" dirty="0">
                <a:solidFill>
                  <a:srgbClr val="9FB0C8"/>
                </a:solidFill>
                <a:latin typeface="+mn-lt"/>
                <a:ea typeface="+mn-ea"/>
                <a:cs typeface="+mn-cs"/>
              </a:rPr>
              <a:t>02 · MOTIVATION</a:t>
            </a:r>
          </a:p>
        </p:txBody>
      </p:sp>
      <p:sp>
        <p:nvSpPr>
          <p:cNvPr id="4" name="TextBox 4"/>
          <p:cNvSpPr txBox="1"/>
          <p:nvPr/>
        </p:nvSpPr>
        <p:spPr>
          <a:xfrm>
            <a:off x="807339" y="739616"/>
            <a:ext cx="5609024" cy="454724"/>
          </a:xfrm>
          <a:prstGeom prst="rect">
            <a:avLst/>
          </a:prstGeom>
          <a:noFill/>
          <a:ln>
            <a:noFill/>
          </a:ln>
        </p:spPr>
        <p:txBody>
          <a:bodyPr wrap="none" lIns="0" tIns="0" rIns="0" bIns="0" anchor="t" anchorCtr="0">
            <a:spAutoFit/>
          </a:bodyPr>
          <a:lstStyle/>
          <a:p>
            <a:pPr algn="l"/>
            <a:r>
              <a:rPr lang="en-US" sz="2320" b="1" dirty="0">
                <a:solidFill>
                  <a:schemeClr val="dk1"/>
                </a:solidFill>
                <a:latin typeface="+mn-lt"/>
                <a:ea typeface="+mn-ea"/>
                <a:cs typeface="+mn-cs"/>
              </a:rPr>
              <a:t>Feedback loops and the real culprit</a:t>
            </a:r>
          </a:p>
        </p:txBody>
      </p:sp>
      <p:grpSp>
        <p:nvGrpSpPr>
          <p:cNvPr id="17" name="Group 17"/>
          <p:cNvGrpSpPr/>
          <p:nvPr/>
        </p:nvGrpSpPr>
        <p:grpSpPr>
          <a:xfrm>
            <a:off x="609600" y="1428750"/>
            <a:ext cx="5334000" cy="2381250"/>
            <a:chOff x="609600" y="1428750"/>
            <a:chExt cx="5334000" cy="2381250"/>
          </a:xfrm>
        </p:grpSpPr>
        <p:sp>
          <p:nvSpPr>
            <p:cNvPr id="5" name="Rectangle 5"/>
            <p:cNvSpPr/>
            <p:nvPr/>
          </p:nvSpPr>
          <p:spPr>
            <a:xfrm>
              <a:off x="609600" y="1428750"/>
              <a:ext cx="5334000" cy="2381250"/>
            </a:xfrm>
            <a:prstGeom prst="roundRect">
              <a:avLst>
                <a:gd name="adj" fmla="val 5600"/>
              </a:avLst>
            </a:prstGeom>
            <a:solidFill>
              <a:schemeClr val="accent5"/>
            </a:solidFill>
            <a:ln w="14288">
              <a:solidFill>
                <a:schemeClr val="accent4"/>
              </a:solidFill>
            </a:ln>
          </p:spPr>
        </p:sp>
        <p:sp>
          <p:nvSpPr>
            <p:cNvPr id="6" name="Rectangle 6"/>
            <p:cNvSpPr/>
            <p:nvPr/>
          </p:nvSpPr>
          <p:spPr>
            <a:xfrm>
              <a:off x="609600" y="1562100"/>
              <a:ext cx="47625" cy="2114550"/>
            </a:xfrm>
            <a:prstGeom prst="roundRect">
              <a:avLst>
                <a:gd name="adj" fmla="val 50000"/>
              </a:avLst>
            </a:prstGeom>
            <a:solidFill>
              <a:srgbClr val="4AA3FF"/>
            </a:solidFill>
            <a:ln>
              <a:noFill/>
            </a:ln>
          </p:spPr>
        </p:sp>
        <p:sp>
          <p:nvSpPr>
            <p:cNvPr id="7" name="TextBox 7"/>
            <p:cNvSpPr txBox="1"/>
            <p:nvPr/>
          </p:nvSpPr>
          <p:spPr>
            <a:xfrm>
              <a:off x="831342" y="1644968"/>
              <a:ext cx="3540455" cy="264033"/>
            </a:xfrm>
            <a:prstGeom prst="rect">
              <a:avLst/>
            </a:prstGeom>
            <a:noFill/>
            <a:ln>
              <a:noFill/>
            </a:ln>
          </p:spPr>
          <p:txBody>
            <a:bodyPr wrap="none" lIns="0" tIns="0" rIns="0" bIns="0" anchor="t" anchorCtr="0">
              <a:spAutoFit/>
            </a:bodyPr>
            <a:lstStyle/>
            <a:p>
              <a:pPr algn="l"/>
              <a:r>
                <a:rPr lang="en-US" sz="1350" b="1" dirty="0">
                  <a:solidFill>
                    <a:srgbClr val="4AA3FF"/>
                  </a:solidFill>
                  <a:latin typeface="+mn-lt"/>
                  <a:ea typeface="+mn-ea"/>
                  <a:cs typeface="+mn-cs"/>
                </a:rPr>
                <a:t>Deep learning is full of feedback loops</a:t>
              </a:r>
            </a:p>
          </p:txBody>
        </p:sp>
        <p:sp>
          <p:nvSpPr>
            <p:cNvPr id="8" name="TextBox 8"/>
            <p:cNvSpPr txBox="1"/>
            <p:nvPr/>
          </p:nvSpPr>
          <p:spPr>
            <a:xfrm>
              <a:off x="832294" y="1989058"/>
              <a:ext cx="3476176"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A language model's next token depends on the</a:t>
              </a:r>
            </a:p>
          </p:txBody>
        </p:sp>
        <p:sp>
          <p:nvSpPr>
            <p:cNvPr id="9" name="TextBox 9"/>
            <p:cNvSpPr txBox="1"/>
            <p:nvPr/>
          </p:nvSpPr>
          <p:spPr>
            <a:xfrm>
              <a:off x="832294" y="2227183"/>
              <a:ext cx="3392658"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tokens it already generated; a robot's next</a:t>
              </a:r>
            </a:p>
          </p:txBody>
        </p:sp>
        <p:sp>
          <p:nvSpPr>
            <p:cNvPr id="10" name="TextBox 10"/>
            <p:cNvSpPr txBox="1"/>
            <p:nvPr/>
          </p:nvSpPr>
          <p:spPr>
            <a:xfrm>
              <a:off x="832294" y="2465308"/>
              <a:ext cx="3619089"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observation depends on the action it just took.</a:t>
              </a:r>
            </a:p>
          </p:txBody>
        </p:sp>
        <p:sp>
          <p:nvSpPr>
            <p:cNvPr id="11" name="Ellipse 11"/>
            <p:cNvSpPr/>
            <p:nvPr/>
          </p:nvSpPr>
          <p:spPr>
            <a:xfrm>
              <a:off x="3848100" y="2800350"/>
              <a:ext cx="495300" cy="495300"/>
            </a:xfrm>
            <a:prstGeom prst="ellipse">
              <a:avLst/>
            </a:prstGeom>
            <a:solidFill>
              <a:schemeClr val="accent6"/>
            </a:solidFill>
            <a:ln w="14288">
              <a:solidFill>
                <a:srgbClr val="4AA3FF"/>
              </a:solidFill>
            </a:ln>
          </p:spPr>
        </p:sp>
        <p:sp>
          <p:nvSpPr>
            <p:cNvPr id="12" name="TextBox 12"/>
            <p:cNvSpPr txBox="1"/>
            <p:nvPr/>
          </p:nvSpPr>
          <p:spPr>
            <a:xfrm>
              <a:off x="3912695" y="2990374"/>
              <a:ext cx="366111"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model</a:t>
              </a:r>
            </a:p>
          </p:txBody>
        </p:sp>
        <p:sp>
          <p:nvSpPr>
            <p:cNvPr id="13" name="Ellipse 13"/>
            <p:cNvSpPr/>
            <p:nvPr/>
          </p:nvSpPr>
          <p:spPr>
            <a:xfrm>
              <a:off x="5181600" y="2800350"/>
              <a:ext cx="495300" cy="495300"/>
            </a:xfrm>
            <a:prstGeom prst="ellipse">
              <a:avLst/>
            </a:prstGeom>
            <a:solidFill>
              <a:schemeClr val="accent6"/>
            </a:solidFill>
            <a:ln w="14288">
              <a:solidFill>
                <a:srgbClr val="34D399"/>
              </a:solidFill>
            </a:ln>
          </p:spPr>
        </p:sp>
        <p:sp>
          <p:nvSpPr>
            <p:cNvPr id="14" name="TextBox 14"/>
            <p:cNvSpPr txBox="1"/>
            <p:nvPr/>
          </p:nvSpPr>
          <p:spPr>
            <a:xfrm>
              <a:off x="5246195" y="2990374"/>
              <a:ext cx="366111"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world</a:t>
              </a:r>
            </a:p>
          </p:txBody>
        </p:sp>
        <p:sp>
          <p:nvSpPr>
            <p:cNvPr id="15" name="Freeform 15"/>
            <p:cNvSpPr/>
            <p:nvPr/>
          </p:nvSpPr>
          <p:spPr>
            <a:xfrm>
              <a:off x="4343400" y="2712242"/>
              <a:ext cx="838200" cy="202408"/>
            </a:xfrm>
            <a:custGeom>
              <a:avLst/>
              <a:gdLst/>
              <a:ahLst/>
              <a:cxnLst/>
              <a:rect l="l" t="t" r="r" b="b"/>
              <a:pathLst>
                <a:path w="838200" h="202408">
                  <a:moveTo>
                    <a:pt x="0" y="202408"/>
                  </a:moveTo>
                  <a:cubicBezTo>
                    <a:pt x="56221" y="82160"/>
                    <a:pt x="226339" y="0"/>
                    <a:pt x="419100" y="0"/>
                  </a:cubicBezTo>
                  <a:cubicBezTo>
                    <a:pt x="611861" y="0"/>
                    <a:pt x="781979" y="82160"/>
                    <a:pt x="838200" y="202408"/>
                  </a:cubicBezTo>
                </a:path>
              </a:pathLst>
            </a:custGeom>
            <a:noFill/>
            <a:ln w="19050">
              <a:solidFill>
                <a:srgbClr val="9FB0C8"/>
              </a:solidFill>
              <a:tailEnd type="triangle" w="lg" len="lg"/>
            </a:ln>
          </p:spPr>
        </p:sp>
        <p:sp>
          <p:nvSpPr>
            <p:cNvPr id="16" name="Freeform 16"/>
            <p:cNvSpPr/>
            <p:nvPr/>
          </p:nvSpPr>
          <p:spPr>
            <a:xfrm>
              <a:off x="4343400" y="3181350"/>
              <a:ext cx="838200" cy="202408"/>
            </a:xfrm>
            <a:custGeom>
              <a:avLst/>
              <a:gdLst/>
              <a:ahLst/>
              <a:cxnLst/>
              <a:rect l="l" t="t" r="r" b="b"/>
              <a:pathLst>
                <a:path w="838200" h="202408">
                  <a:moveTo>
                    <a:pt x="838200" y="0"/>
                  </a:moveTo>
                  <a:cubicBezTo>
                    <a:pt x="781979" y="120248"/>
                    <a:pt x="611861" y="202408"/>
                    <a:pt x="419100" y="202408"/>
                  </a:cubicBezTo>
                  <a:cubicBezTo>
                    <a:pt x="226339" y="202408"/>
                    <a:pt x="56221" y="120248"/>
                    <a:pt x="0" y="0"/>
                  </a:cubicBezTo>
                </a:path>
              </a:pathLst>
            </a:custGeom>
            <a:noFill/>
            <a:ln w="19050">
              <a:solidFill>
                <a:srgbClr val="9FB0C8"/>
              </a:solidFill>
              <a:tailEnd type="triangle" w="lg" len="lg"/>
            </a:ln>
          </p:spPr>
        </p:sp>
      </p:grpSp>
      <p:grpSp>
        <p:nvGrpSpPr>
          <p:cNvPr id="25" name="Group 25"/>
          <p:cNvGrpSpPr/>
          <p:nvPr/>
        </p:nvGrpSpPr>
        <p:grpSpPr>
          <a:xfrm>
            <a:off x="609600" y="4076700"/>
            <a:ext cx="5334000" cy="2000250"/>
            <a:chOff x="609600" y="4076700"/>
            <a:chExt cx="5334000" cy="2000250"/>
          </a:xfrm>
        </p:grpSpPr>
        <p:sp>
          <p:nvSpPr>
            <p:cNvPr id="18" name="Rectangle 18"/>
            <p:cNvSpPr/>
            <p:nvPr/>
          </p:nvSpPr>
          <p:spPr>
            <a:xfrm>
              <a:off x="609600" y="4076700"/>
              <a:ext cx="5334000" cy="2000250"/>
            </a:xfrm>
            <a:prstGeom prst="roundRect">
              <a:avLst>
                <a:gd name="adj" fmla="val 6667"/>
              </a:avLst>
            </a:prstGeom>
            <a:solidFill>
              <a:schemeClr val="accent5"/>
            </a:solidFill>
            <a:ln w="14288">
              <a:solidFill>
                <a:schemeClr val="accent4"/>
              </a:solidFill>
            </a:ln>
          </p:spPr>
        </p:sp>
        <p:sp>
          <p:nvSpPr>
            <p:cNvPr id="19" name="Rectangle 19"/>
            <p:cNvSpPr/>
            <p:nvPr/>
          </p:nvSpPr>
          <p:spPr>
            <a:xfrm>
              <a:off x="609600" y="4210050"/>
              <a:ext cx="47625" cy="1733550"/>
            </a:xfrm>
            <a:prstGeom prst="roundRect">
              <a:avLst>
                <a:gd name="adj" fmla="val 50000"/>
              </a:avLst>
            </a:prstGeom>
            <a:solidFill>
              <a:srgbClr val="A78BFA"/>
            </a:solidFill>
            <a:ln>
              <a:noFill/>
            </a:ln>
          </p:spPr>
        </p:sp>
        <p:sp>
          <p:nvSpPr>
            <p:cNvPr id="20" name="TextBox 20"/>
            <p:cNvSpPr txBox="1"/>
            <p:nvPr/>
          </p:nvSpPr>
          <p:spPr>
            <a:xfrm>
              <a:off x="830580" y="4295775"/>
              <a:ext cx="2895591" cy="293370"/>
            </a:xfrm>
            <a:prstGeom prst="rect">
              <a:avLst/>
            </a:prstGeom>
            <a:noFill/>
            <a:ln>
              <a:noFill/>
            </a:ln>
          </p:spPr>
          <p:txBody>
            <a:bodyPr wrap="none" lIns="0" tIns="0" rIns="0" bIns="0" anchor="t" anchorCtr="0">
              <a:spAutoFit/>
            </a:bodyPr>
            <a:lstStyle/>
            <a:p>
              <a:pPr algn="l"/>
              <a:r>
                <a:rPr lang="en-US" sz="1500" b="1" dirty="0">
                  <a:solidFill>
                    <a:srgbClr val="A78BFA"/>
                  </a:solidFill>
                  <a:latin typeface="+mn-lt"/>
                  <a:ea typeface="+mn-ea"/>
                  <a:cs typeface="+mn-cs"/>
                </a:rPr>
                <a:t>But we train on a surrogate</a:t>
              </a:r>
            </a:p>
          </p:txBody>
        </p:sp>
        <p:sp>
          <p:nvSpPr>
            <p:cNvPr id="21" name="TextBox 21"/>
            <p:cNvSpPr txBox="1"/>
            <p:nvPr/>
          </p:nvSpPr>
          <p:spPr>
            <a:xfrm>
              <a:off x="831342" y="4635818"/>
              <a:ext cx="345462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We almost always optimize a surrogate</a:t>
              </a:r>
            </a:p>
          </p:txBody>
        </p:sp>
        <p:sp>
          <p:nvSpPr>
            <p:cNvPr id="22" name="TextBox 22"/>
            <p:cNvSpPr txBox="1"/>
            <p:nvPr/>
          </p:nvSpPr>
          <p:spPr>
            <a:xfrm>
              <a:off x="831342" y="4883468"/>
              <a:ext cx="351215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objective — like next-token prediction —</a:t>
              </a:r>
            </a:p>
          </p:txBody>
        </p:sp>
        <p:sp>
          <p:nvSpPr>
            <p:cNvPr id="23" name="TextBox 23"/>
            <p:cNvSpPr txBox="1"/>
            <p:nvPr/>
          </p:nvSpPr>
          <p:spPr>
            <a:xfrm>
              <a:off x="831342" y="5131118"/>
              <a:ext cx="344854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that pretends the feedback loop is not</a:t>
              </a:r>
            </a:p>
          </p:txBody>
        </p:sp>
        <p:sp>
          <p:nvSpPr>
            <p:cNvPr id="24" name="TextBox 24"/>
            <p:cNvSpPr txBox="1"/>
            <p:nvPr/>
          </p:nvSpPr>
          <p:spPr>
            <a:xfrm>
              <a:off x="831342" y="53787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there.</a:t>
              </a:r>
            </a:p>
          </p:txBody>
        </p:sp>
      </p:grpSp>
      <p:grpSp>
        <p:nvGrpSpPr>
          <p:cNvPr id="32" name="Group 32"/>
          <p:cNvGrpSpPr/>
          <p:nvPr/>
        </p:nvGrpSpPr>
        <p:grpSpPr>
          <a:xfrm>
            <a:off x="6248400" y="1428750"/>
            <a:ext cx="5334000" cy="2190750"/>
            <a:chOff x="6248400" y="1428750"/>
            <a:chExt cx="5334000" cy="2190750"/>
          </a:xfrm>
        </p:grpSpPr>
        <p:sp>
          <p:nvSpPr>
            <p:cNvPr id="26" name="Rectangle 26"/>
            <p:cNvSpPr/>
            <p:nvPr/>
          </p:nvSpPr>
          <p:spPr>
            <a:xfrm>
              <a:off x="6248400" y="1428750"/>
              <a:ext cx="5334000" cy="2190750"/>
            </a:xfrm>
            <a:prstGeom prst="roundRect">
              <a:avLst>
                <a:gd name="adj" fmla="val 6087"/>
              </a:avLst>
            </a:prstGeom>
            <a:solidFill>
              <a:schemeClr val="accent5"/>
            </a:solidFill>
            <a:ln w="14288">
              <a:solidFill>
                <a:schemeClr val="accent4"/>
              </a:solidFill>
            </a:ln>
          </p:spPr>
        </p:sp>
        <p:sp>
          <p:nvSpPr>
            <p:cNvPr id="27" name="Rectangle 27"/>
            <p:cNvSpPr/>
            <p:nvPr/>
          </p:nvSpPr>
          <p:spPr>
            <a:xfrm>
              <a:off x="6248400" y="1562100"/>
              <a:ext cx="47625" cy="1924050"/>
            </a:xfrm>
            <a:prstGeom prst="roundRect">
              <a:avLst>
                <a:gd name="adj" fmla="val 50000"/>
              </a:avLst>
            </a:prstGeom>
            <a:solidFill>
              <a:srgbClr val="FBBF24"/>
            </a:solidFill>
            <a:ln>
              <a:noFill/>
            </a:ln>
          </p:spPr>
        </p:sp>
        <p:sp>
          <p:nvSpPr>
            <p:cNvPr id="28" name="TextBox 28"/>
            <p:cNvSpPr txBox="1"/>
            <p:nvPr/>
          </p:nvSpPr>
          <p:spPr>
            <a:xfrm>
              <a:off x="6469380" y="1647825"/>
              <a:ext cx="2035826" cy="293370"/>
            </a:xfrm>
            <a:prstGeom prst="rect">
              <a:avLst/>
            </a:prstGeom>
            <a:noFill/>
            <a:ln>
              <a:noFill/>
            </a:ln>
          </p:spPr>
          <p:txBody>
            <a:bodyPr wrap="none" lIns="0" tIns="0" rIns="0" bIns="0" anchor="t" anchorCtr="0">
              <a:spAutoFit/>
            </a:bodyPr>
            <a:lstStyle/>
            <a:p>
              <a:pPr algn="l"/>
              <a:r>
                <a:rPr lang="en-US" sz="1500" b="1" dirty="0">
                  <a:solidFill>
                    <a:srgbClr val="FBBF24"/>
                  </a:solidFill>
                  <a:latin typeface="+mn-lt"/>
                  <a:ea typeface="+mn-ea"/>
                  <a:cs typeface="+mn-cs"/>
                </a:rPr>
                <a:t>A dangerous illusion</a:t>
              </a:r>
            </a:p>
          </p:txBody>
        </p:sp>
        <p:sp>
          <p:nvSpPr>
            <p:cNvPr id="29" name="TextBox 29"/>
            <p:cNvSpPr txBox="1"/>
            <p:nvPr/>
          </p:nvSpPr>
          <p:spPr>
            <a:xfrm>
              <a:off x="6470142" y="1987868"/>
              <a:ext cx="292760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That surrogate tends to improve</a:t>
              </a:r>
            </a:p>
          </p:txBody>
        </p:sp>
        <p:sp>
          <p:nvSpPr>
            <p:cNvPr id="30" name="TextBox 30"/>
            <p:cNvSpPr txBox="1"/>
            <p:nvPr/>
          </p:nvSpPr>
          <p:spPr>
            <a:xfrm>
              <a:off x="6470142" y="2235518"/>
              <a:ext cx="329406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smoothly, which lulls us into thinking</a:t>
              </a:r>
            </a:p>
          </p:txBody>
        </p:sp>
        <p:sp>
          <p:nvSpPr>
            <p:cNvPr id="31" name="TextBox 31"/>
            <p:cNvSpPr txBox="1"/>
            <p:nvPr/>
          </p:nvSpPr>
          <p:spPr>
            <a:xfrm>
              <a:off x="6470142" y="2483168"/>
              <a:ext cx="218547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training is well behaved.</a:t>
              </a:r>
            </a:p>
          </p:txBody>
        </p:sp>
      </p:grpSp>
      <p:grpSp>
        <p:nvGrpSpPr>
          <p:cNvPr id="39" name="Group 39"/>
          <p:cNvGrpSpPr/>
          <p:nvPr/>
        </p:nvGrpSpPr>
        <p:grpSpPr>
          <a:xfrm>
            <a:off x="6248400" y="3886200"/>
            <a:ext cx="5334000" cy="2190750"/>
            <a:chOff x="6248400" y="3886200"/>
            <a:chExt cx="5334000" cy="2190750"/>
          </a:xfrm>
        </p:grpSpPr>
        <p:sp>
          <p:nvSpPr>
            <p:cNvPr id="33" name="Rectangle 33"/>
            <p:cNvSpPr/>
            <p:nvPr/>
          </p:nvSpPr>
          <p:spPr>
            <a:xfrm>
              <a:off x="6248400" y="3886200"/>
              <a:ext cx="5334000" cy="2190750"/>
            </a:xfrm>
            <a:prstGeom prst="roundRect">
              <a:avLst>
                <a:gd name="adj" fmla="val 6087"/>
              </a:avLst>
            </a:prstGeom>
            <a:solidFill>
              <a:schemeClr val="accent5"/>
            </a:solidFill>
            <a:ln w="14288">
              <a:solidFill>
                <a:schemeClr val="accent4"/>
              </a:solidFill>
            </a:ln>
          </p:spPr>
        </p:sp>
        <p:sp>
          <p:nvSpPr>
            <p:cNvPr id="34" name="Rectangle 34"/>
            <p:cNvSpPr/>
            <p:nvPr/>
          </p:nvSpPr>
          <p:spPr>
            <a:xfrm>
              <a:off x="6248400" y="4019550"/>
              <a:ext cx="47625" cy="1924050"/>
            </a:xfrm>
            <a:prstGeom prst="roundRect">
              <a:avLst>
                <a:gd name="adj" fmla="val 50000"/>
              </a:avLst>
            </a:prstGeom>
            <a:solidFill>
              <a:srgbClr val="F87171"/>
            </a:solidFill>
            <a:ln>
              <a:noFill/>
            </a:ln>
          </p:spPr>
        </p:sp>
        <p:sp>
          <p:nvSpPr>
            <p:cNvPr id="35" name="TextBox 35"/>
            <p:cNvSpPr txBox="1"/>
            <p:nvPr/>
          </p:nvSpPr>
          <p:spPr>
            <a:xfrm>
              <a:off x="6469380" y="4105275"/>
              <a:ext cx="1622512" cy="293370"/>
            </a:xfrm>
            <a:prstGeom prst="rect">
              <a:avLst/>
            </a:prstGeom>
            <a:noFill/>
            <a:ln>
              <a:noFill/>
            </a:ln>
          </p:spPr>
          <p:txBody>
            <a:bodyPr wrap="none" lIns="0" tIns="0" rIns="0" bIns="0" anchor="t" anchorCtr="0">
              <a:spAutoFit/>
            </a:bodyPr>
            <a:lstStyle/>
            <a:p>
              <a:pPr algn="l"/>
              <a:r>
                <a:rPr lang="en-US" sz="1500" b="1" dirty="0">
                  <a:solidFill>
                    <a:srgbClr val="F87171"/>
                  </a:solidFill>
                  <a:latin typeface="+mn-lt"/>
                  <a:ea typeface="+mn-ea"/>
                  <a:cs typeface="+mn-cs"/>
                </a:rPr>
                <a:t>The real culprit</a:t>
              </a:r>
            </a:p>
          </p:txBody>
        </p:sp>
        <p:sp>
          <p:nvSpPr>
            <p:cNvPr id="36" name="TextBox 36"/>
            <p:cNvSpPr txBox="1"/>
            <p:nvPr/>
          </p:nvSpPr>
          <p:spPr>
            <a:xfrm>
              <a:off x="6470142" y="4445318"/>
              <a:ext cx="259002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Not the data. Not the model.</a:t>
              </a:r>
            </a:p>
          </p:txBody>
        </p:sp>
        <p:sp>
          <p:nvSpPr>
            <p:cNvPr id="37" name="TextBox 37"/>
            <p:cNvSpPr txBox="1"/>
            <p:nvPr/>
          </p:nvSpPr>
          <p:spPr>
            <a:xfrm>
              <a:off x="6470142" y="4692968"/>
              <a:ext cx="332683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real culprit behind the instability</a:t>
              </a:r>
            </a:p>
          </p:txBody>
        </p:sp>
        <p:sp>
          <p:nvSpPr>
            <p:cNvPr id="38" name="TextBox 38"/>
            <p:cNvSpPr txBox="1"/>
            <p:nvPr/>
          </p:nvSpPr>
          <p:spPr>
            <a:xfrm>
              <a:off x="6470142" y="4940618"/>
              <a:ext cx="315776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is the noise in the optimizer itself.</a:t>
              </a:r>
            </a:p>
          </p:txBody>
        </p:sp>
      </p:grpSp>
      <p:sp>
        <p:nvSpPr>
          <p:cNvPr id="40" name="cue_s03_c1_modern_deep_learning_full_feedback" title="cue_s03_c1_modern_deep_learning_full_feedback" descr="cue_s03_c1_modern_deep_learning_full_feedback Modern deep learning is full of feedback loops. A language model's next token depends on the tokens it already generated. A robot's next observation depends on the action it just took."/>
          <p:cNvSpPr/>
          <p:nvPr/>
        </p:nvSpPr>
        <p:spPr>
          <a:xfrm>
            <a:off x="609600" y="1428521"/>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2_but_when_train_these_systems" title="cue_s03_c2_but_when_train_these_systems" descr="cue_s03_c2_but_when_train_these_systems But when we train these systems, we almost always optimize a surrogate objective, like next-token prediction, that pretends the feedback loop is not there."/>
          <p:cNvSpPr/>
          <p:nvPr/>
        </p:nvSpPr>
        <p:spPr>
          <a:xfrm>
            <a:off x="609600" y="4076395"/>
            <a:ext cx="533400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3_surrogate_tends_improve_smoothly_whi" title="cue_s03_c3_surrogate_tends_improve_smoothly_whi" descr="cue_s03_c3_surrogate_tends_improve_smoothly_whi That surrogate tends to improve smoothly, which lulls us into thinking training is well behaved."/>
          <p:cNvSpPr/>
          <p:nvPr/>
        </p:nvSpPr>
        <p:spPr>
          <a:xfrm>
            <a:off x="6248399" y="1428521"/>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4_authors_argue_dangerous_illusion_rea" title="cue_s03_c4_authors_argue_dangerous_illusion_rea" descr="cue_s03_c4_authors_argue_dangerous_illusion_rea The authors argue this is a dangerous illusion, and that the real culprit behind the instability is not the data or the model, but the noise in the optimizer itself."/>
          <p:cNvSpPr/>
          <p:nvPr/>
        </p:nvSpPr>
        <p:spPr>
          <a:xfrm>
            <a:off x="6248399" y="3886428"/>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381000"/>
          </a:xfrm>
          <a:prstGeom prst="roundRect">
            <a:avLst>
              <a:gd name="adj" fmla="val 50000"/>
            </a:avLst>
          </a:prstGeom>
          <a:solidFill>
            <a:srgbClr val="4AA3FF"/>
          </a:solidFill>
          <a:ln>
            <a:noFill/>
          </a:ln>
        </p:spPr>
        <p:txBody>
          <a:bodyPr/>
          <a:p/>
        </p:txBody>
      </p:sp>
      <p:sp>
        <p:nvSpPr>
          <p:cNvPr id="3" name="TextBox 3"/>
          <p:cNvSpPr txBox="1"/>
          <p:nvPr/>
        </p:nvSpPr>
        <p:spPr>
          <a:xfrm>
            <a:off x="813435" y="545306"/>
            <a:ext cx="1929792" cy="220028"/>
          </a:xfrm>
          <a:prstGeom prst="rect">
            <a:avLst/>
          </a:prstGeom>
          <a:noFill/>
          <a:ln>
            <a:noFill/>
          </a:ln>
        </p:spPr>
        <p:txBody>
          <a:bodyPr wrap="none" lIns="0" tIns="0" rIns="0" bIns="0" anchor="t" anchorCtr="0">
            <a:spAutoFit/>
          </a:bodyPr>
          <a:lstStyle/>
          <a:p>
            <a:pPr algn="l"/>
            <a:r>
              <a:rPr lang="en-US" sz="1120" b="1" spc="150" dirty="0">
                <a:solidFill>
                  <a:srgbClr val="9FB0C8"/>
                </a:solidFill>
                <a:latin typeface="+mn-lt"/>
                <a:ea typeface="+mn-ea"/>
                <a:cs typeface="+mn-cs"/>
              </a:rPr>
              <a:t>03 · CONTRIBUTIONS</a:t>
            </a:r>
          </a:p>
        </p:txBody>
      </p:sp>
      <p:sp>
        <p:nvSpPr>
          <p:cNvPr id="4" name="TextBox 4"/>
          <p:cNvSpPr txBox="1"/>
          <p:nvPr/>
        </p:nvSpPr>
        <p:spPr>
          <a:xfrm>
            <a:off x="807339" y="739616"/>
            <a:ext cx="3214588" cy="454724"/>
          </a:xfrm>
          <a:prstGeom prst="rect">
            <a:avLst/>
          </a:prstGeom>
          <a:noFill/>
          <a:ln>
            <a:noFill/>
          </a:ln>
        </p:spPr>
        <p:txBody>
          <a:bodyPr wrap="none" lIns="0" tIns="0" rIns="0" bIns="0" anchor="t" anchorCtr="0">
            <a:spAutoFit/>
          </a:bodyPr>
          <a:lstStyle/>
          <a:p>
            <a:pPr algn="l"/>
            <a:r>
              <a:rPr lang="en-US" sz="2320" b="1" dirty="0">
                <a:solidFill>
                  <a:schemeClr val="dk1"/>
                </a:solidFill>
                <a:latin typeface="+mn-lt"/>
                <a:ea typeface="+mn-ea"/>
                <a:cs typeface="+mn-cs"/>
              </a:rPr>
              <a:t>Three contributions</a:t>
            </a:r>
          </a:p>
        </p:txBody>
      </p:sp>
      <p:grpSp>
        <p:nvGrpSpPr>
          <p:cNvPr id="7" name="Group 7"/>
          <p:cNvGrpSpPr/>
          <p:nvPr/>
        </p:nvGrpSpPr>
        <p:grpSpPr>
          <a:xfrm>
            <a:off x="609600" y="1428750"/>
            <a:ext cx="10972800" cy="628650"/>
            <a:chOff x="609600" y="1428750"/>
            <a:chExt cx="10972800" cy="628650"/>
          </a:xfrm>
        </p:grpSpPr>
        <p:sp>
          <p:nvSpPr>
            <p:cNvPr id="5" name="Rectangle 5"/>
            <p:cNvSpPr/>
            <p:nvPr/>
          </p:nvSpPr>
          <p:spPr>
            <a:xfrm>
              <a:off x="609600" y="1428750"/>
              <a:ext cx="10972800" cy="628650"/>
            </a:xfrm>
            <a:prstGeom prst="roundRect">
              <a:avLst>
                <a:gd name="adj" fmla="val 21212"/>
              </a:avLst>
            </a:prstGeom>
            <a:solidFill>
              <a:schemeClr val="accent5"/>
            </a:solidFill>
            <a:ln w="14288">
              <a:solidFill>
                <a:schemeClr val="accent4"/>
              </a:solidFill>
            </a:ln>
          </p:spPr>
        </p:sp>
        <p:sp>
          <p:nvSpPr>
            <p:cNvPr id="6" name="TextBox 6"/>
            <p:cNvSpPr txBox="1"/>
            <p:nvPr/>
          </p:nvSpPr>
          <p:spPr>
            <a:xfrm>
              <a:off x="830580" y="1657350"/>
              <a:ext cx="434757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paper makes three main contributions</a:t>
              </a:r>
            </a:p>
          </p:txBody>
        </p:sp>
      </p:grpSp>
      <p:grpSp>
        <p:nvGrpSpPr>
          <p:cNvPr id="18" name="Group 18"/>
          <p:cNvGrpSpPr/>
          <p:nvPr/>
        </p:nvGrpSpPr>
        <p:grpSpPr>
          <a:xfrm>
            <a:off x="609600" y="2286000"/>
            <a:ext cx="3543300" cy="3790950"/>
            <a:chOff x="609600" y="2286000"/>
            <a:chExt cx="3543300" cy="3790950"/>
          </a:xfrm>
        </p:grpSpPr>
        <p:sp>
          <p:nvSpPr>
            <p:cNvPr id="8" name="Rectangle 8"/>
            <p:cNvSpPr/>
            <p:nvPr/>
          </p:nvSpPr>
          <p:spPr>
            <a:xfrm>
              <a:off x="609600" y="2286000"/>
              <a:ext cx="3543300" cy="3790950"/>
            </a:xfrm>
            <a:prstGeom prst="roundRect">
              <a:avLst>
                <a:gd name="adj" fmla="val 3763"/>
              </a:avLst>
            </a:prstGeom>
            <a:solidFill>
              <a:schemeClr val="accent5"/>
            </a:solidFill>
            <a:ln w="14288">
              <a:solidFill>
                <a:schemeClr val="accent4"/>
              </a:solidFill>
            </a:ln>
          </p:spPr>
        </p:sp>
        <p:sp>
          <p:nvSpPr>
            <p:cNvPr id="9" name="Rectangle 9"/>
            <p:cNvSpPr/>
            <p:nvPr/>
          </p:nvSpPr>
          <p:spPr>
            <a:xfrm>
              <a:off x="609600" y="2419350"/>
              <a:ext cx="47625" cy="3524250"/>
            </a:xfrm>
            <a:prstGeom prst="roundRect">
              <a:avLst>
                <a:gd name="adj" fmla="val 50000"/>
              </a:avLst>
            </a:prstGeom>
            <a:solidFill>
              <a:srgbClr val="4AA3FF"/>
            </a:solidFill>
            <a:ln>
              <a:noFill/>
            </a:ln>
          </p:spPr>
        </p:sp>
        <p:sp>
          <p:nvSpPr>
            <p:cNvPr id="10" name="TextBox 10"/>
            <p:cNvSpPr txBox="1"/>
            <p:nvPr/>
          </p:nvSpPr>
          <p:spPr>
            <a:xfrm>
              <a:off x="820674" y="2485072"/>
              <a:ext cx="303266" cy="674751"/>
            </a:xfrm>
            <a:prstGeom prst="rect">
              <a:avLst/>
            </a:prstGeom>
            <a:noFill/>
            <a:ln>
              <a:noFill/>
            </a:ln>
          </p:spPr>
          <p:txBody>
            <a:bodyPr wrap="none" lIns="0" tIns="0" rIns="0" bIns="0" anchor="t" anchorCtr="0">
              <a:spAutoFit/>
            </a:bodyPr>
            <a:lstStyle/>
            <a:p>
              <a:pPr algn="l"/>
              <a:r>
                <a:rPr lang="en-US" sz="3450" b="1" dirty="0">
                  <a:solidFill>
                    <a:srgbClr val="4AA3FF"/>
                  </a:solidFill>
                  <a:latin typeface="+mn-lt"/>
                  <a:ea typeface="+mn-ea"/>
                  <a:cs typeface="+mn-cs"/>
                </a:rPr>
                <a:t>1</a:t>
              </a:r>
            </a:p>
          </p:txBody>
        </p:sp>
        <p:sp>
          <p:nvSpPr>
            <p:cNvPr id="11" name="TextBox 11"/>
            <p:cNvSpPr txBox="1"/>
            <p:nvPr/>
          </p:nvSpPr>
          <p:spPr>
            <a:xfrm>
              <a:off x="830961" y="3084671"/>
              <a:ext cx="242902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Diagnose the oscillations</a:t>
              </a:r>
            </a:p>
          </p:txBody>
        </p:sp>
        <p:sp>
          <p:nvSpPr>
            <p:cNvPr id="12" name="TextBox 12"/>
            <p:cNvSpPr txBox="1"/>
            <p:nvPr/>
          </p:nvSpPr>
          <p:spPr>
            <a:xfrm>
              <a:off x="832294" y="3474958"/>
              <a:ext cx="2625347"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An extensive study of 278 distinct</a:t>
              </a:r>
            </a:p>
          </p:txBody>
        </p:sp>
        <p:sp>
          <p:nvSpPr>
            <p:cNvPr id="13" name="TextBox 13"/>
            <p:cNvSpPr txBox="1"/>
            <p:nvPr/>
          </p:nvSpPr>
          <p:spPr>
            <a:xfrm>
              <a:off x="832294" y="3713083"/>
              <a:ext cx="2791445"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interventions names the mechanism:</a:t>
              </a:r>
            </a:p>
          </p:txBody>
        </p:sp>
        <p:sp>
          <p:nvSpPr>
            <p:cNvPr id="14" name="TextBox 14"/>
            <p:cNvSpPr txBox="1"/>
            <p:nvPr/>
          </p:nvSpPr>
          <p:spPr>
            <a:xfrm>
              <a:off x="832294" y="3951208"/>
              <a:ext cx="2407183"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Gradient Variance Amplification</a:t>
              </a:r>
            </a:p>
          </p:txBody>
        </p:sp>
        <p:sp>
          <p:nvSpPr>
            <p:cNvPr id="15" name="TextBox 15"/>
            <p:cNvSpPr txBox="1"/>
            <p:nvPr/>
          </p:nvSpPr>
          <p:spPr>
            <a:xfrm>
              <a:off x="832294" y="4189333"/>
              <a:ext cx="2123997"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(GVA) — minibatch SGD noise</a:t>
              </a:r>
            </a:p>
          </p:txBody>
        </p:sp>
        <p:sp>
          <p:nvSpPr>
            <p:cNvPr id="16" name="TextBox 16"/>
            <p:cNvSpPr txBox="1"/>
            <p:nvPr/>
          </p:nvSpPr>
          <p:spPr>
            <a:xfrm>
              <a:off x="832294" y="4427458"/>
              <a:ext cx="1870105"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propagating through the</a:t>
              </a:r>
            </a:p>
          </p:txBody>
        </p:sp>
        <p:sp>
          <p:nvSpPr>
            <p:cNvPr id="17" name="TextBox 17"/>
            <p:cNvSpPr txBox="1"/>
            <p:nvPr/>
          </p:nvSpPr>
          <p:spPr>
            <a:xfrm>
              <a:off x="832294" y="4665583"/>
              <a:ext cx="1690522"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closed-loop dynamics.</a:t>
              </a:r>
            </a:p>
          </p:txBody>
        </p:sp>
      </p:grpSp>
      <p:grpSp>
        <p:nvGrpSpPr>
          <p:cNvPr id="28" name="Group 28"/>
          <p:cNvGrpSpPr/>
          <p:nvPr/>
        </p:nvGrpSpPr>
        <p:grpSpPr>
          <a:xfrm>
            <a:off x="4324350" y="2286000"/>
            <a:ext cx="3543300" cy="3790950"/>
            <a:chOff x="4324350" y="2286000"/>
            <a:chExt cx="3543300" cy="3790950"/>
          </a:xfrm>
        </p:grpSpPr>
        <p:sp>
          <p:nvSpPr>
            <p:cNvPr id="19" name="Rectangle 19"/>
            <p:cNvSpPr/>
            <p:nvPr/>
          </p:nvSpPr>
          <p:spPr>
            <a:xfrm>
              <a:off x="4324350" y="2286000"/>
              <a:ext cx="3543300" cy="3790950"/>
            </a:xfrm>
            <a:prstGeom prst="roundRect">
              <a:avLst>
                <a:gd name="adj" fmla="val 3763"/>
              </a:avLst>
            </a:prstGeom>
            <a:solidFill>
              <a:schemeClr val="accent5"/>
            </a:solidFill>
            <a:ln w="14288">
              <a:solidFill>
                <a:schemeClr val="accent4"/>
              </a:solidFill>
            </a:ln>
          </p:spPr>
        </p:sp>
        <p:sp>
          <p:nvSpPr>
            <p:cNvPr id="20" name="Rectangle 20"/>
            <p:cNvSpPr/>
            <p:nvPr/>
          </p:nvSpPr>
          <p:spPr>
            <a:xfrm>
              <a:off x="4324350" y="2419350"/>
              <a:ext cx="47625" cy="3524250"/>
            </a:xfrm>
            <a:prstGeom prst="roundRect">
              <a:avLst>
                <a:gd name="adj" fmla="val 50000"/>
              </a:avLst>
            </a:prstGeom>
            <a:solidFill>
              <a:srgbClr val="34D399"/>
            </a:solidFill>
            <a:ln>
              <a:noFill/>
            </a:ln>
          </p:spPr>
        </p:sp>
        <p:sp>
          <p:nvSpPr>
            <p:cNvPr id="21" name="TextBox 21"/>
            <p:cNvSpPr txBox="1"/>
            <p:nvPr/>
          </p:nvSpPr>
          <p:spPr>
            <a:xfrm>
              <a:off x="4535424" y="2485072"/>
              <a:ext cx="303266" cy="674751"/>
            </a:xfrm>
            <a:prstGeom prst="rect">
              <a:avLst/>
            </a:prstGeom>
            <a:noFill/>
            <a:ln>
              <a:noFill/>
            </a:ln>
          </p:spPr>
          <p:txBody>
            <a:bodyPr wrap="none" lIns="0" tIns="0" rIns="0" bIns="0" anchor="t" anchorCtr="0">
              <a:spAutoFit/>
            </a:bodyPr>
            <a:lstStyle/>
            <a:p>
              <a:pPr algn="l"/>
              <a:r>
                <a:rPr lang="en-US" sz="3450" b="1" dirty="0">
                  <a:solidFill>
                    <a:srgbClr val="34D399"/>
                  </a:solidFill>
                  <a:latin typeface="+mn-lt"/>
                  <a:ea typeface="+mn-ea"/>
                  <a:cs typeface="+mn-cs"/>
                </a:rPr>
                <a:t>2</a:t>
              </a:r>
            </a:p>
          </p:txBody>
        </p:sp>
        <p:sp>
          <p:nvSpPr>
            <p:cNvPr id="22" name="TextBox 22"/>
            <p:cNvSpPr txBox="1"/>
            <p:nvPr/>
          </p:nvSpPr>
          <p:spPr>
            <a:xfrm>
              <a:off x="4545711" y="3084671"/>
              <a:ext cx="158599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It is algorithmic</a:t>
              </a:r>
            </a:p>
          </p:txBody>
        </p:sp>
        <p:sp>
          <p:nvSpPr>
            <p:cNvPr id="23" name="TextBox 23"/>
            <p:cNvSpPr txBox="1"/>
            <p:nvPr/>
          </p:nvSpPr>
          <p:spPr>
            <a:xfrm>
              <a:off x="4547044" y="3474958"/>
              <a:ext cx="2390598"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The problem is algorithmic, not</a:t>
              </a:r>
            </a:p>
          </p:txBody>
        </p:sp>
        <p:sp>
          <p:nvSpPr>
            <p:cNvPr id="24" name="TextBox 24"/>
            <p:cNvSpPr txBox="1"/>
            <p:nvPr/>
          </p:nvSpPr>
          <p:spPr>
            <a:xfrm>
              <a:off x="4547044" y="3713083"/>
              <a:ext cx="2616767"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statistical. An exponential moving</a:t>
              </a:r>
            </a:p>
          </p:txBody>
        </p:sp>
        <p:sp>
          <p:nvSpPr>
            <p:cNvPr id="25" name="TextBox 25"/>
            <p:cNvSpPr txBox="1"/>
            <p:nvPr/>
          </p:nvSpPr>
          <p:spPr>
            <a:xfrm>
              <a:off x="4547044" y="3951208"/>
              <a:ext cx="2525974"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average of the weights fixes it —</a:t>
              </a:r>
            </a:p>
          </p:txBody>
        </p:sp>
        <p:sp>
          <p:nvSpPr>
            <p:cNvPr id="26" name="TextBox 26"/>
            <p:cNvSpPr txBox="1"/>
            <p:nvPr/>
          </p:nvSpPr>
          <p:spPr>
            <a:xfrm>
              <a:off x="4547044" y="4189333"/>
              <a:ext cx="2073112"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even though most standard</a:t>
              </a:r>
            </a:p>
          </p:txBody>
        </p:sp>
        <p:sp>
          <p:nvSpPr>
            <p:cNvPr id="27" name="TextBox 27"/>
            <p:cNvSpPr txBox="1"/>
            <p:nvPr/>
          </p:nvSpPr>
          <p:spPr>
            <a:xfrm>
              <a:off x="4547044" y="4427458"/>
              <a:ext cx="1268893"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mitigations fail.</a:t>
              </a:r>
            </a:p>
          </p:txBody>
        </p:sp>
      </p:grpSp>
      <p:grpSp>
        <p:nvGrpSpPr>
          <p:cNvPr id="39" name="Group 39"/>
          <p:cNvGrpSpPr/>
          <p:nvPr/>
        </p:nvGrpSpPr>
        <p:grpSpPr>
          <a:xfrm>
            <a:off x="8039100" y="2286000"/>
            <a:ext cx="3543300" cy="3790950"/>
            <a:chOff x="8039100" y="2286000"/>
            <a:chExt cx="3543300" cy="3790950"/>
          </a:xfrm>
        </p:grpSpPr>
        <p:sp>
          <p:nvSpPr>
            <p:cNvPr id="29" name="Rectangle 29"/>
            <p:cNvSpPr/>
            <p:nvPr/>
          </p:nvSpPr>
          <p:spPr>
            <a:xfrm>
              <a:off x="8039100" y="2286000"/>
              <a:ext cx="3543300" cy="3790950"/>
            </a:xfrm>
            <a:prstGeom prst="roundRect">
              <a:avLst>
                <a:gd name="adj" fmla="val 3763"/>
              </a:avLst>
            </a:prstGeom>
            <a:solidFill>
              <a:schemeClr val="accent5"/>
            </a:solidFill>
            <a:ln w="14288">
              <a:solidFill>
                <a:schemeClr val="accent4"/>
              </a:solidFill>
            </a:ln>
          </p:spPr>
        </p:sp>
        <p:sp>
          <p:nvSpPr>
            <p:cNvPr id="30" name="Rectangle 30"/>
            <p:cNvSpPr/>
            <p:nvPr/>
          </p:nvSpPr>
          <p:spPr>
            <a:xfrm>
              <a:off x="8039100" y="2419350"/>
              <a:ext cx="47625" cy="3524250"/>
            </a:xfrm>
            <a:prstGeom prst="roundRect">
              <a:avLst>
                <a:gd name="adj" fmla="val 50000"/>
              </a:avLst>
            </a:prstGeom>
            <a:solidFill>
              <a:srgbClr val="A78BFA"/>
            </a:solidFill>
            <a:ln>
              <a:noFill/>
            </a:ln>
          </p:spPr>
        </p:sp>
        <p:sp>
          <p:nvSpPr>
            <p:cNvPr id="31" name="TextBox 31"/>
            <p:cNvSpPr txBox="1"/>
            <p:nvPr/>
          </p:nvSpPr>
          <p:spPr>
            <a:xfrm>
              <a:off x="8250174" y="2485072"/>
              <a:ext cx="303266" cy="674751"/>
            </a:xfrm>
            <a:prstGeom prst="rect">
              <a:avLst/>
            </a:prstGeom>
            <a:noFill/>
            <a:ln>
              <a:noFill/>
            </a:ln>
          </p:spPr>
          <p:txBody>
            <a:bodyPr wrap="none" lIns="0" tIns="0" rIns="0" bIns="0" anchor="t" anchorCtr="0">
              <a:spAutoFit/>
            </a:bodyPr>
            <a:lstStyle/>
            <a:p>
              <a:pPr algn="l"/>
              <a:r>
                <a:rPr lang="en-US" sz="3450" b="1" dirty="0">
                  <a:solidFill>
                    <a:srgbClr val="A78BFA"/>
                  </a:solidFill>
                  <a:latin typeface="+mn-lt"/>
                  <a:ea typeface="+mn-ea"/>
                  <a:cs typeface="+mn-cs"/>
                </a:rPr>
                <a:t>3</a:t>
              </a:r>
            </a:p>
          </p:txBody>
        </p:sp>
        <p:sp>
          <p:nvSpPr>
            <p:cNvPr id="32" name="TextBox 32"/>
            <p:cNvSpPr txBox="1"/>
            <p:nvPr/>
          </p:nvSpPr>
          <p:spPr>
            <a:xfrm>
              <a:off x="8260461" y="3084671"/>
              <a:ext cx="223902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Same story in language</a:t>
              </a:r>
            </a:p>
          </p:txBody>
        </p:sp>
        <p:sp>
          <p:nvSpPr>
            <p:cNvPr id="33" name="TextBox 33"/>
            <p:cNvSpPr txBox="1"/>
            <p:nvPr/>
          </p:nvSpPr>
          <p:spPr>
            <a:xfrm>
              <a:off x="8261794" y="3474958"/>
              <a:ext cx="2414282"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The exact same phenomenon and</a:t>
              </a:r>
            </a:p>
          </p:txBody>
        </p:sp>
        <p:sp>
          <p:nvSpPr>
            <p:cNvPr id="34" name="TextBox 34"/>
            <p:cNvSpPr txBox="1"/>
            <p:nvPr/>
          </p:nvSpPr>
          <p:spPr>
            <a:xfrm>
              <a:off x="8261794" y="3713083"/>
              <a:ext cx="2307351"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cure appear in autoregressive</a:t>
              </a:r>
            </a:p>
          </p:txBody>
        </p:sp>
        <p:sp>
          <p:nvSpPr>
            <p:cNvPr id="35" name="TextBox 35"/>
            <p:cNvSpPr txBox="1"/>
            <p:nvPr/>
          </p:nvSpPr>
          <p:spPr>
            <a:xfrm>
              <a:off x="8261794" y="3951208"/>
              <a:ext cx="2346391"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language models, plus a convex</a:t>
              </a:r>
            </a:p>
          </p:txBody>
        </p:sp>
        <p:sp>
          <p:nvSpPr>
            <p:cNvPr id="36" name="TextBox 36"/>
            <p:cNvSpPr txBox="1"/>
            <p:nvPr/>
          </p:nvSpPr>
          <p:spPr>
            <a:xfrm>
              <a:off x="8261794" y="4189333"/>
              <a:ext cx="2398423"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theory vignette. Treat iterate</a:t>
              </a:r>
            </a:p>
          </p:txBody>
        </p:sp>
        <p:sp>
          <p:nvSpPr>
            <p:cNvPr id="37" name="TextBox 37"/>
            <p:cNvSpPr txBox="1"/>
            <p:nvPr/>
          </p:nvSpPr>
          <p:spPr>
            <a:xfrm>
              <a:off x="8261794" y="4427458"/>
              <a:ext cx="1924761"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averaging as an essential</a:t>
              </a:r>
            </a:p>
          </p:txBody>
        </p:sp>
        <p:sp>
          <p:nvSpPr>
            <p:cNvPr id="38" name="TextBox 38"/>
            <p:cNvSpPr txBox="1"/>
            <p:nvPr/>
          </p:nvSpPr>
          <p:spPr>
            <a:xfrm>
              <a:off x="8261794" y="4665583"/>
              <a:ext cx="1097117"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design choice.</a:t>
              </a:r>
            </a:p>
          </p:txBody>
        </p:sp>
      </p:grpSp>
      <p:sp>
        <p:nvSpPr>
          <p:cNvPr id="40" name="cue_s04_c1_makes_three_main_contributions" title="cue_s04_c1_makes_three_main_contributions" descr="cue_s04_c1_makes_three_main_contributions The paper makes three main contributions."/>
          <p:cNvSpPr/>
          <p:nvPr/>
        </p:nvSpPr>
        <p:spPr>
          <a:xfrm>
            <a:off x="609600" y="1428521"/>
            <a:ext cx="109728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2_first_through_extensive_study_two" title="cue_s04_c2_first_through_extensive_study_two" descr="cue_s04_c2_first_through_extensive_study_two First, through an extensive study of two hundred and seventy-eight distinct interventions, it diagnoses these reward oscillations and names the mechanism gradient variance amplification, or G V A, the propagation of minibatch stochastic gradient noise through"/>
          <p:cNvSpPr/>
          <p:nvPr/>
        </p:nvSpPr>
        <p:spPr>
          <a:xfrm>
            <a:off x="609600" y="2285771"/>
            <a:ext cx="3542995" cy="37911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3_second_shows_problem_algorithmic_rat" title="cue_s04_c3_second_shows_problem_algorithmic_rat" descr="cue_s04_c3_second_shows_problem_algorithmic_rat Second, it shows the problem is algorithmic rather than statistical, and that an exponential moving average of the weights fixes it, even though most standard mitigations fail."/>
          <p:cNvSpPr/>
          <p:nvPr/>
        </p:nvSpPr>
        <p:spPr>
          <a:xfrm>
            <a:off x="4324502" y="2285771"/>
            <a:ext cx="3542995" cy="37911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4_third_demonstrates_exact_same_phenom" title="cue_s04_c4_third_demonstrates_exact_same_phenom" descr="cue_s04_c4_third_demonstrates_exact_same_phenom Third, it demonstrates the exact same phenomenon and the same cure in autoregressive language models, and complements everything with a convex theory vignette. The upshot is a call to treat iterate averaging as an essential design choice, a stabilizer that bel"/>
          <p:cNvSpPr/>
          <p:nvPr/>
        </p:nvSpPr>
        <p:spPr>
          <a:xfrm>
            <a:off x="8039404" y="2285771"/>
            <a:ext cx="3542995" cy="37911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381000"/>
          </a:xfrm>
          <a:prstGeom prst="roundRect">
            <a:avLst>
              <a:gd name="adj" fmla="val 50000"/>
            </a:avLst>
          </a:prstGeom>
          <a:solidFill>
            <a:srgbClr val="4AA3FF"/>
          </a:solidFill>
          <a:ln>
            <a:noFill/>
          </a:ln>
        </p:spPr>
        <p:txBody>
          <a:bodyPr/>
          <a:p/>
        </p:txBody>
      </p:sp>
      <p:sp>
        <p:nvSpPr>
          <p:cNvPr id="3" name="TextBox 3"/>
          <p:cNvSpPr txBox="1"/>
          <p:nvPr/>
        </p:nvSpPr>
        <p:spPr>
          <a:xfrm>
            <a:off x="813435" y="545306"/>
            <a:ext cx="1220072" cy="220028"/>
          </a:xfrm>
          <a:prstGeom prst="rect">
            <a:avLst/>
          </a:prstGeom>
          <a:noFill/>
          <a:ln>
            <a:noFill/>
          </a:ln>
        </p:spPr>
        <p:txBody>
          <a:bodyPr wrap="none" lIns="0" tIns="0" rIns="0" bIns="0" anchor="t" anchorCtr="0">
            <a:spAutoFit/>
          </a:bodyPr>
          <a:lstStyle/>
          <a:p>
            <a:pPr algn="l"/>
            <a:r>
              <a:rPr lang="en-US" sz="1120" b="1" spc="150" dirty="0">
                <a:solidFill>
                  <a:srgbClr val="9FB0C8"/>
                </a:solidFill>
                <a:latin typeface="+mn-lt"/>
                <a:ea typeface="+mn-ea"/>
                <a:cs typeface="+mn-cs"/>
              </a:rPr>
              <a:t>04 · METHOD</a:t>
            </a:r>
          </a:p>
        </p:txBody>
      </p:sp>
      <p:sp>
        <p:nvSpPr>
          <p:cNvPr id="4" name="TextBox 4"/>
          <p:cNvSpPr txBox="1"/>
          <p:nvPr/>
        </p:nvSpPr>
        <p:spPr>
          <a:xfrm>
            <a:off x="807339" y="739616"/>
            <a:ext cx="2953251" cy="454724"/>
          </a:xfrm>
          <a:prstGeom prst="rect">
            <a:avLst/>
          </a:prstGeom>
          <a:noFill/>
          <a:ln>
            <a:noFill/>
          </a:ln>
        </p:spPr>
        <p:txBody>
          <a:bodyPr wrap="none" lIns="0" tIns="0" rIns="0" bIns="0" anchor="t" anchorCtr="0">
            <a:spAutoFit/>
          </a:bodyPr>
          <a:lstStyle/>
          <a:p>
            <a:pPr algn="l"/>
            <a:r>
              <a:rPr lang="en-US" sz="2320" b="1" dirty="0">
                <a:solidFill>
                  <a:schemeClr val="dk1"/>
                </a:solidFill>
                <a:latin typeface="+mn-lt"/>
                <a:ea typeface="+mn-ea"/>
                <a:cs typeface="+mn-cs"/>
              </a:rPr>
              <a:t>Diagnose, then fix</a:t>
            </a:r>
          </a:p>
        </p:txBody>
      </p:sp>
      <p:grpSp>
        <p:nvGrpSpPr>
          <p:cNvPr id="12" name="Group 12"/>
          <p:cNvGrpSpPr/>
          <p:nvPr/>
        </p:nvGrpSpPr>
        <p:grpSpPr>
          <a:xfrm>
            <a:off x="609600" y="1428750"/>
            <a:ext cx="5334000" cy="1866900"/>
            <a:chOff x="609600" y="1428750"/>
            <a:chExt cx="5334000" cy="1866900"/>
          </a:xfrm>
        </p:grpSpPr>
        <p:sp>
          <p:nvSpPr>
            <p:cNvPr id="5" name="Rectangle 5"/>
            <p:cNvSpPr/>
            <p:nvPr/>
          </p:nvSpPr>
          <p:spPr>
            <a:xfrm>
              <a:off x="609600" y="1428750"/>
              <a:ext cx="5334000" cy="1866900"/>
            </a:xfrm>
            <a:prstGeom prst="roundRect">
              <a:avLst>
                <a:gd name="adj" fmla="val 7143"/>
              </a:avLst>
            </a:prstGeom>
            <a:solidFill>
              <a:schemeClr val="accent5"/>
            </a:solidFill>
            <a:ln w="14288">
              <a:solidFill>
                <a:schemeClr val="accent4"/>
              </a:solidFill>
            </a:ln>
          </p:spPr>
        </p:sp>
        <p:sp>
          <p:nvSpPr>
            <p:cNvPr id="6" name="Rectangle 6"/>
            <p:cNvSpPr/>
            <p:nvPr/>
          </p:nvSpPr>
          <p:spPr>
            <a:xfrm>
              <a:off x="609600" y="1562100"/>
              <a:ext cx="47625" cy="1600200"/>
            </a:xfrm>
            <a:prstGeom prst="roundRect">
              <a:avLst>
                <a:gd name="adj" fmla="val 50000"/>
              </a:avLst>
            </a:prstGeom>
            <a:solidFill>
              <a:srgbClr val="4AA3FF"/>
            </a:solidFill>
            <a:ln>
              <a:noFill/>
            </a:ln>
          </p:spPr>
        </p:sp>
        <p:sp>
          <p:nvSpPr>
            <p:cNvPr id="7" name="TextBox 7"/>
            <p:cNvSpPr txBox="1"/>
            <p:nvPr/>
          </p:nvSpPr>
          <p:spPr>
            <a:xfrm>
              <a:off x="830580" y="1647825"/>
              <a:ext cx="2588022" cy="293370"/>
            </a:xfrm>
            <a:prstGeom prst="rect">
              <a:avLst/>
            </a:prstGeom>
            <a:noFill/>
            <a:ln>
              <a:noFill/>
            </a:ln>
          </p:spPr>
          <p:txBody>
            <a:bodyPr wrap="none" lIns="0" tIns="0" rIns="0" bIns="0" anchor="t" anchorCtr="0">
              <a:spAutoFit/>
            </a:bodyPr>
            <a:lstStyle/>
            <a:p>
              <a:pPr algn="l"/>
              <a:r>
                <a:rPr lang="en-US" sz="1500" b="1" dirty="0">
                  <a:solidFill>
                    <a:srgbClr val="4AA3FF"/>
                  </a:solidFill>
                  <a:latin typeface="+mn-lt"/>
                  <a:ea typeface="+mn-ea"/>
                  <a:cs typeface="+mn-cs"/>
                </a:rPr>
                <a:t>Separate the two causes</a:t>
              </a:r>
            </a:p>
          </p:txBody>
        </p:sp>
        <p:sp>
          <p:nvSpPr>
            <p:cNvPr id="8" name="TextBox 8"/>
            <p:cNvSpPr txBox="1"/>
            <p:nvPr/>
          </p:nvSpPr>
          <p:spPr>
            <a:xfrm>
              <a:off x="831342" y="1987868"/>
              <a:ext cx="340910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Is it a statistical problem (not enough</a:t>
              </a:r>
            </a:p>
          </p:txBody>
        </p:sp>
        <p:sp>
          <p:nvSpPr>
            <p:cNvPr id="9" name="TextBox 9"/>
            <p:cNvSpPr txBox="1"/>
            <p:nvPr/>
          </p:nvSpPr>
          <p:spPr>
            <a:xfrm>
              <a:off x="831342" y="2235518"/>
              <a:ext cx="267616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data), or a computational one</a:t>
              </a:r>
            </a:p>
          </p:txBody>
        </p:sp>
        <p:sp>
          <p:nvSpPr>
            <p:cNvPr id="10" name="TextBox 10"/>
            <p:cNvSpPr txBox="1"/>
            <p:nvPr/>
          </p:nvSpPr>
          <p:spPr>
            <a:xfrm>
              <a:off x="831342" y="2483168"/>
              <a:ext cx="306689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(something about the optimization</a:t>
              </a:r>
            </a:p>
          </p:txBody>
        </p:sp>
        <p:sp>
          <p:nvSpPr>
            <p:cNvPr id="11" name="TextBox 11"/>
            <p:cNvSpPr txBox="1"/>
            <p:nvPr/>
          </p:nvSpPr>
          <p:spPr>
            <a:xfrm>
              <a:off x="831342" y="2730818"/>
              <a:ext cx="72249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itself)?</a:t>
              </a:r>
            </a:p>
          </p:txBody>
        </p:sp>
      </p:grpSp>
      <p:grpSp>
        <p:nvGrpSpPr>
          <p:cNvPr id="22" name="Group 22"/>
          <p:cNvGrpSpPr/>
          <p:nvPr/>
        </p:nvGrpSpPr>
        <p:grpSpPr>
          <a:xfrm>
            <a:off x="609600" y="3543300"/>
            <a:ext cx="5334000" cy="2533650"/>
            <a:chOff x="609600" y="3543300"/>
            <a:chExt cx="5334000" cy="2533650"/>
          </a:xfrm>
        </p:grpSpPr>
        <p:sp>
          <p:nvSpPr>
            <p:cNvPr id="13" name="Rectangle 13"/>
            <p:cNvSpPr/>
            <p:nvPr/>
          </p:nvSpPr>
          <p:spPr>
            <a:xfrm>
              <a:off x="609600" y="3543300"/>
              <a:ext cx="5334000" cy="2533650"/>
            </a:xfrm>
            <a:prstGeom prst="roundRect">
              <a:avLst>
                <a:gd name="adj" fmla="val 5263"/>
              </a:avLst>
            </a:prstGeom>
            <a:solidFill>
              <a:schemeClr val="accent5"/>
            </a:solidFill>
            <a:ln w="14288">
              <a:solidFill>
                <a:schemeClr val="accent4"/>
              </a:solidFill>
            </a:ln>
          </p:spPr>
        </p:sp>
        <p:sp>
          <p:nvSpPr>
            <p:cNvPr id="14" name="Rectangle 14"/>
            <p:cNvSpPr/>
            <p:nvPr/>
          </p:nvSpPr>
          <p:spPr>
            <a:xfrm>
              <a:off x="609600" y="3676650"/>
              <a:ext cx="47625" cy="2266950"/>
            </a:xfrm>
            <a:prstGeom prst="roundRect">
              <a:avLst>
                <a:gd name="adj" fmla="val 50000"/>
              </a:avLst>
            </a:prstGeom>
            <a:solidFill>
              <a:srgbClr val="A78BFA"/>
            </a:solidFill>
            <a:ln>
              <a:noFill/>
            </a:ln>
          </p:spPr>
        </p:sp>
        <p:sp>
          <p:nvSpPr>
            <p:cNvPr id="15" name="TextBox 15"/>
            <p:cNvSpPr txBox="1"/>
            <p:nvPr/>
          </p:nvSpPr>
          <p:spPr>
            <a:xfrm>
              <a:off x="830580" y="3762375"/>
              <a:ext cx="2101001" cy="293370"/>
            </a:xfrm>
            <a:prstGeom prst="rect">
              <a:avLst/>
            </a:prstGeom>
            <a:noFill/>
            <a:ln>
              <a:noFill/>
            </a:ln>
          </p:spPr>
          <p:txBody>
            <a:bodyPr wrap="none" lIns="0" tIns="0" rIns="0" bIns="0" anchor="t" anchorCtr="0">
              <a:spAutoFit/>
            </a:bodyPr>
            <a:lstStyle/>
            <a:p>
              <a:pPr algn="l"/>
              <a:r>
                <a:rPr lang="en-US" sz="1500" b="1" dirty="0">
                  <a:solidFill>
                    <a:srgbClr val="A78BFA"/>
                  </a:solidFill>
                  <a:latin typeface="+mn-lt"/>
                  <a:ea typeface="+mn-ea"/>
                  <a:cs typeface="+mn-cs"/>
                </a:rPr>
                <a:t>Pin the blame on GVA</a:t>
              </a:r>
            </a:p>
          </p:txBody>
        </p:sp>
        <p:sp>
          <p:nvSpPr>
            <p:cNvPr id="16" name="TextBox 16"/>
            <p:cNvSpPr txBox="1"/>
            <p:nvPr/>
          </p:nvSpPr>
          <p:spPr>
            <a:xfrm>
              <a:off x="831342" y="4102418"/>
              <a:ext cx="350887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Ablate away the statistical difficulty —</a:t>
              </a:r>
            </a:p>
          </p:txBody>
        </p:sp>
        <p:sp>
          <p:nvSpPr>
            <p:cNvPr id="17" name="TextBox 17"/>
            <p:cNvSpPr txBox="1"/>
            <p:nvPr/>
          </p:nvSpPr>
          <p:spPr>
            <a:xfrm>
              <a:off x="831342" y="4350068"/>
              <a:ext cx="328498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oscillations remain, so the blame</a:t>
              </a:r>
            </a:p>
          </p:txBody>
        </p:sp>
        <p:sp>
          <p:nvSpPr>
            <p:cNvPr id="18" name="TextBox 18"/>
            <p:cNvSpPr txBox="1"/>
            <p:nvPr/>
          </p:nvSpPr>
          <p:spPr>
            <a:xfrm>
              <a:off x="831342" y="4597718"/>
              <a:ext cx="360302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falls on gradient variance amplification.</a:t>
              </a:r>
            </a:p>
          </p:txBody>
        </p:sp>
        <p:sp>
          <p:nvSpPr>
            <p:cNvPr id="19" name="TextBox 19"/>
            <p:cNvSpPr txBox="1"/>
            <p:nvPr/>
          </p:nvSpPr>
          <p:spPr>
            <a:xfrm>
              <a:off x="831342" y="4845368"/>
              <a:ext cx="324866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Aggressive LR decay and much larger</a:t>
              </a:r>
            </a:p>
          </p:txBody>
        </p:sp>
        <p:sp>
          <p:nvSpPr>
            <p:cNvPr id="20" name="TextBox 20"/>
            <p:cNvSpPr txBox="1"/>
            <p:nvPr/>
          </p:nvSpPr>
          <p:spPr>
            <a:xfrm>
              <a:off x="831342" y="5093018"/>
              <a:ext cx="320320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batches help, but both cost a lot of</a:t>
              </a:r>
            </a:p>
          </p:txBody>
        </p:sp>
        <p:sp>
          <p:nvSpPr>
            <p:cNvPr id="21" name="TextBox 21"/>
            <p:cNvSpPr txBox="1"/>
            <p:nvPr/>
          </p:nvSpPr>
          <p:spPr>
            <a:xfrm>
              <a:off x="831342" y="5340668"/>
              <a:ext cx="389135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compute. The star of the paper is cheaper.</a:t>
              </a:r>
            </a:p>
          </p:txBody>
        </p:sp>
      </p:grpSp>
      <p:grpSp>
        <p:nvGrpSpPr>
          <p:cNvPr id="29" name="Group 29"/>
          <p:cNvGrpSpPr/>
          <p:nvPr/>
        </p:nvGrpSpPr>
        <p:grpSpPr>
          <a:xfrm>
            <a:off x="6248400" y="1428750"/>
            <a:ext cx="5334000" cy="1866900"/>
            <a:chOff x="6248400" y="1428750"/>
            <a:chExt cx="5334000" cy="1866900"/>
          </a:xfrm>
        </p:grpSpPr>
        <p:sp>
          <p:nvSpPr>
            <p:cNvPr id="23" name="Rectangle 23"/>
            <p:cNvSpPr/>
            <p:nvPr/>
          </p:nvSpPr>
          <p:spPr>
            <a:xfrm>
              <a:off x="6248400" y="1428750"/>
              <a:ext cx="5334000" cy="1866900"/>
            </a:xfrm>
            <a:prstGeom prst="roundRect">
              <a:avLst>
                <a:gd name="adj" fmla="val 7143"/>
              </a:avLst>
            </a:prstGeom>
            <a:solidFill>
              <a:schemeClr val="accent5"/>
            </a:solidFill>
            <a:ln w="14288">
              <a:solidFill>
                <a:schemeClr val="accent4"/>
              </a:solidFill>
            </a:ln>
          </p:spPr>
        </p:sp>
        <p:sp>
          <p:nvSpPr>
            <p:cNvPr id="24" name="Rectangle 24"/>
            <p:cNvSpPr/>
            <p:nvPr/>
          </p:nvSpPr>
          <p:spPr>
            <a:xfrm>
              <a:off x="6248400" y="1562100"/>
              <a:ext cx="47625" cy="1600200"/>
            </a:xfrm>
            <a:prstGeom prst="roundRect">
              <a:avLst>
                <a:gd name="adj" fmla="val 50000"/>
              </a:avLst>
            </a:prstGeom>
            <a:solidFill>
              <a:srgbClr val="34D399"/>
            </a:solidFill>
            <a:ln>
              <a:noFill/>
            </a:ln>
          </p:spPr>
        </p:sp>
        <p:sp>
          <p:nvSpPr>
            <p:cNvPr id="25" name="TextBox 25"/>
            <p:cNvSpPr txBox="1"/>
            <p:nvPr/>
          </p:nvSpPr>
          <p:spPr>
            <a:xfrm>
              <a:off x="6470142" y="1664018"/>
              <a:ext cx="3199353" cy="264033"/>
            </a:xfrm>
            <a:prstGeom prst="rect">
              <a:avLst/>
            </a:prstGeom>
            <a:noFill/>
            <a:ln>
              <a:noFill/>
            </a:ln>
          </p:spPr>
          <p:txBody>
            <a:bodyPr wrap="none" lIns="0" tIns="0" rIns="0" bIns="0" anchor="t" anchorCtr="0">
              <a:spAutoFit/>
            </a:bodyPr>
            <a:lstStyle/>
            <a:p>
              <a:pPr algn="l"/>
              <a:r>
                <a:rPr lang="en-US" sz="1350" b="1" dirty="0">
                  <a:solidFill>
                    <a:srgbClr val="34D399"/>
                  </a:solidFill>
                  <a:latin typeface="+mn-lt"/>
                  <a:ea typeface="+mn-ea"/>
                  <a:cs typeface="+mn-cs"/>
                </a:rPr>
                <a:t>The cheap fix: EMA of the weights</a:t>
              </a:r>
            </a:p>
          </p:txBody>
        </p:sp>
        <p:sp>
          <p:nvSpPr>
            <p:cNvPr id="26" name="Rectangle 26"/>
            <p:cNvSpPr/>
            <p:nvPr/>
          </p:nvSpPr>
          <p:spPr>
            <a:xfrm>
              <a:off x="6477000" y="2019300"/>
              <a:ext cx="4876800" cy="685800"/>
            </a:xfrm>
            <a:prstGeom prst="roundRect">
              <a:avLst>
                <a:gd name="adj" fmla="val 13889"/>
              </a:avLst>
            </a:prstGeom>
            <a:solidFill>
              <a:schemeClr val="accent6"/>
            </a:solidFill>
            <a:ln>
              <a:noFill/>
            </a:ln>
          </p:spPr>
        </p:sp>
        <p:sp>
          <p:nvSpPr>
            <p:cNvPr id="27" name="TextBox 27"/>
            <p:cNvSpPr txBox="1"/>
            <p:nvPr/>
          </p:nvSpPr>
          <p:spPr>
            <a:xfrm>
              <a:off x="6769327" y="2246948"/>
              <a:ext cx="4292146"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n-lt"/>
                  <a:ea typeface="+mn-ea"/>
                  <a:cs typeface="+mn-cs"/>
                </a:rPr>
                <a:t>θ̃(t+1) = (1−γ)·θ̃(t) + γ·θ(t+1)</a:t>
              </a:r>
            </a:p>
          </p:txBody>
        </p:sp>
        <p:sp>
          <p:nvSpPr>
            <p:cNvPr id="28" name="TextBox 28"/>
            <p:cNvSpPr txBox="1"/>
            <p:nvPr/>
          </p:nvSpPr>
          <p:spPr>
            <a:xfrm>
              <a:off x="6471094" y="2884408"/>
              <a:ext cx="4296077" cy="227362"/>
            </a:xfrm>
            <a:prstGeom prst="rect">
              <a:avLst/>
            </a:prstGeom>
            <a:noFill/>
            <a:ln>
              <a:noFill/>
            </a:ln>
          </p:spPr>
          <p:txBody>
            <a:bodyPr wrap="none" lIns="0" tIns="0" rIns="0" bIns="0" anchor="t" anchorCtr="0">
              <a:spAutoFit/>
            </a:bodyPr>
            <a:lstStyle/>
            <a:p>
              <a:pPr algn="l"/>
              <a:r>
                <a:rPr lang="en-US" sz="1160" dirty="0">
                  <a:solidFill>
                    <a:srgbClr val="9FB0C8"/>
                  </a:solidFill>
                  <a:latin typeface="+mn-lt"/>
                  <a:ea typeface="+mn-ea"/>
                  <a:cs typeface="+mn-cs"/>
                </a:rPr>
                <a:t>A running average of your weights, updated every step.</a:t>
              </a:r>
            </a:p>
          </p:txBody>
        </p:sp>
      </p:grpSp>
      <p:grpSp>
        <p:nvGrpSpPr>
          <p:cNvPr id="38" name="Group 38"/>
          <p:cNvGrpSpPr/>
          <p:nvPr/>
        </p:nvGrpSpPr>
        <p:grpSpPr>
          <a:xfrm>
            <a:off x="6248400" y="3543300"/>
            <a:ext cx="5334000" cy="2533650"/>
            <a:chOff x="6248400" y="3543300"/>
            <a:chExt cx="5334000" cy="2533650"/>
          </a:xfrm>
        </p:grpSpPr>
        <p:sp>
          <p:nvSpPr>
            <p:cNvPr id="30" name="Rectangle 30"/>
            <p:cNvSpPr/>
            <p:nvPr/>
          </p:nvSpPr>
          <p:spPr>
            <a:xfrm>
              <a:off x="6248400" y="3543300"/>
              <a:ext cx="5334000" cy="2533650"/>
            </a:xfrm>
            <a:prstGeom prst="roundRect">
              <a:avLst>
                <a:gd name="adj" fmla="val 5263"/>
              </a:avLst>
            </a:prstGeom>
            <a:solidFill>
              <a:schemeClr val="accent5"/>
            </a:solidFill>
            <a:ln w="14288">
              <a:solidFill>
                <a:schemeClr val="accent4"/>
              </a:solidFill>
            </a:ln>
          </p:spPr>
        </p:sp>
        <p:sp>
          <p:nvSpPr>
            <p:cNvPr id="31" name="Rectangle 31"/>
            <p:cNvSpPr/>
            <p:nvPr/>
          </p:nvSpPr>
          <p:spPr>
            <a:xfrm>
              <a:off x="6248400" y="3676650"/>
              <a:ext cx="47625" cy="2266950"/>
            </a:xfrm>
            <a:prstGeom prst="roundRect">
              <a:avLst>
                <a:gd name="adj" fmla="val 50000"/>
              </a:avLst>
            </a:prstGeom>
            <a:solidFill>
              <a:srgbClr val="FBBF24"/>
            </a:solidFill>
            <a:ln>
              <a:noFill/>
            </a:ln>
          </p:spPr>
        </p:sp>
        <p:sp>
          <p:nvSpPr>
            <p:cNvPr id="32" name="TextBox 32"/>
            <p:cNvSpPr txBox="1"/>
            <p:nvPr/>
          </p:nvSpPr>
          <p:spPr>
            <a:xfrm>
              <a:off x="6469380" y="3762375"/>
              <a:ext cx="2057472" cy="293370"/>
            </a:xfrm>
            <a:prstGeom prst="rect">
              <a:avLst/>
            </a:prstGeom>
            <a:noFill/>
            <a:ln>
              <a:noFill/>
            </a:ln>
          </p:spPr>
          <p:txBody>
            <a:bodyPr wrap="none" lIns="0" tIns="0" rIns="0" bIns="0" anchor="t" anchorCtr="0">
              <a:spAutoFit/>
            </a:bodyPr>
            <a:lstStyle/>
            <a:p>
              <a:pPr algn="l"/>
              <a:r>
                <a:rPr lang="en-US" sz="1500" b="1" dirty="0">
                  <a:solidFill>
                    <a:srgbClr val="FBBF24"/>
                  </a:solidFill>
                  <a:latin typeface="+mn-lt"/>
                  <a:ea typeface="+mn-ea"/>
                  <a:cs typeface="+mn-cs"/>
                </a:rPr>
                <a:t>Supporting theorem</a:t>
              </a:r>
            </a:p>
          </p:txBody>
        </p:sp>
        <p:sp>
          <p:nvSpPr>
            <p:cNvPr id="33" name="TextBox 33"/>
            <p:cNvSpPr txBox="1"/>
            <p:nvPr/>
          </p:nvSpPr>
          <p:spPr>
            <a:xfrm>
              <a:off x="6470142" y="4102418"/>
              <a:ext cx="342713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In a simple deterministic environment,</a:t>
              </a:r>
            </a:p>
          </p:txBody>
        </p:sp>
        <p:sp>
          <p:nvSpPr>
            <p:cNvPr id="34" name="TextBox 34"/>
            <p:cNvSpPr txBox="1"/>
            <p:nvPr/>
          </p:nvSpPr>
          <p:spPr>
            <a:xfrm>
              <a:off x="6470142" y="4350068"/>
              <a:ext cx="35485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 tiny perturbation that barely changes</a:t>
              </a:r>
            </a:p>
          </p:txBody>
        </p:sp>
        <p:sp>
          <p:nvSpPr>
            <p:cNvPr id="35" name="TextBox 35"/>
            <p:cNvSpPr txBox="1"/>
            <p:nvPr/>
          </p:nvSpPr>
          <p:spPr>
            <a:xfrm>
              <a:off x="6470142" y="4597718"/>
              <a:ext cx="298511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imitation loss can blow up the</a:t>
              </a:r>
            </a:p>
          </p:txBody>
        </p:sp>
        <p:sp>
          <p:nvSpPr>
            <p:cNvPr id="36" name="TextBox 36"/>
            <p:cNvSpPr txBox="1"/>
            <p:nvPr/>
          </p:nvSpPr>
          <p:spPr>
            <a:xfrm>
              <a:off x="6470142" y="4845368"/>
              <a:ext cx="344854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rollout reward gap exponentially in the</a:t>
              </a:r>
            </a:p>
          </p:txBody>
        </p:sp>
        <p:sp>
          <p:nvSpPr>
            <p:cNvPr id="37" name="TextBox 37"/>
            <p:cNvSpPr txBox="1"/>
            <p:nvPr/>
          </p:nvSpPr>
          <p:spPr>
            <a:xfrm>
              <a:off x="6470142" y="5093018"/>
              <a:ext cx="92883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horizon H.</a:t>
              </a:r>
            </a:p>
          </p:txBody>
        </p:sp>
      </p:grpSp>
      <p:sp>
        <p:nvSpPr>
          <p:cNvPr id="39" name="cue_s05_c1_approach_first_carefully_separate_tw" title="cue_s05_c1_approach_first_carefully_separate_tw" descr="cue_s05_c1_approach_first_carefully_separate_tw The approach is first to carefully separate the two possible causes of the oscillations. Is it a statistical problem, meaning not enough data, or a computational one, meaning something about the optimization itself?"/>
          <p:cNvSpPr/>
          <p:nvPr/>
        </p:nvSpPr>
        <p:spPr>
          <a:xfrm>
            <a:off x="609600" y="1428521"/>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5_c2_ablating_away_statistical_difficulty" title="cue_s05_c2_ablating_away_statistical_difficulty" descr="cue_s05_c2_ablating_away_statistical_difficulty By ablating away the statistical difficulty and still seeing the oscillations, the authors pin the blame on gradient variance amplification. Then they test the natural fixes. Aggressively decaying the learning rate helps, and dramatically increasing the batch"/>
          <p:cNvSpPr/>
          <p:nvPr/>
        </p:nvSpPr>
        <p:spPr>
          <a:xfrm>
            <a:off x="609600" y="3543528"/>
            <a:ext cx="5334000" cy="25333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5_c3_you_simply_keep_running_exponential" title="cue_s05_c3_you_simply_keep_running_exponential" descr="cue_s05_c3_you_simply_keep_running_exponential You simply keep a running exponential moving average of your weights, updating it every step, defined by theta-tilde at time t plus one equals one minus gamma times the old average plus gamma times the new iterate."/>
          <p:cNvSpPr/>
          <p:nvPr/>
        </p:nvSpPr>
        <p:spPr>
          <a:xfrm>
            <a:off x="6248399" y="1428521"/>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4_supporting_theorem_shows_simple_dete" title="cue_s05_c4_supporting_theorem_shows_simple_dete" descr="cue_s05_c4_supporting_theorem_shows_simple_dete A supporting theorem shows that in a simple deterministic environment, a tiny perturbation that barely changes the imitation loss can blow up the rollout reward gap exponentially in the horizon."/>
          <p:cNvSpPr/>
          <p:nvPr/>
        </p:nvSpPr>
        <p:spPr>
          <a:xfrm>
            <a:off x="6248399" y="3543528"/>
            <a:ext cx="5334000" cy="25333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381000"/>
          </a:xfrm>
          <a:prstGeom prst="roundRect">
            <a:avLst>
              <a:gd name="adj" fmla="val 50000"/>
            </a:avLst>
          </a:prstGeom>
          <a:solidFill>
            <a:srgbClr val="4AA3FF"/>
          </a:solidFill>
          <a:ln>
            <a:noFill/>
          </a:ln>
        </p:spPr>
        <p:txBody>
          <a:bodyPr/>
          <a:p/>
        </p:txBody>
      </p:sp>
      <p:sp>
        <p:nvSpPr>
          <p:cNvPr id="3" name="TextBox 3"/>
          <p:cNvSpPr txBox="1"/>
          <p:nvPr/>
        </p:nvSpPr>
        <p:spPr>
          <a:xfrm>
            <a:off x="813435" y="545306"/>
            <a:ext cx="1039825" cy="220028"/>
          </a:xfrm>
          <a:prstGeom prst="rect">
            <a:avLst/>
          </a:prstGeom>
          <a:noFill/>
          <a:ln>
            <a:noFill/>
          </a:ln>
        </p:spPr>
        <p:txBody>
          <a:bodyPr wrap="none" lIns="0" tIns="0" rIns="0" bIns="0" anchor="t" anchorCtr="0">
            <a:spAutoFit/>
          </a:bodyPr>
          <a:lstStyle/>
          <a:p>
            <a:pPr algn="l"/>
            <a:r>
              <a:rPr lang="en-US" sz="1120" b="1" spc="150" dirty="0">
                <a:solidFill>
                  <a:srgbClr val="9FB0C8"/>
                </a:solidFill>
                <a:latin typeface="+mn-lt"/>
                <a:ea typeface="+mn-ea"/>
                <a:cs typeface="+mn-cs"/>
              </a:rPr>
              <a:t>05 · SETUP</a:t>
            </a:r>
          </a:p>
        </p:txBody>
      </p:sp>
      <p:sp>
        <p:nvSpPr>
          <p:cNvPr id="4" name="TextBox 4"/>
          <p:cNvSpPr txBox="1"/>
          <p:nvPr/>
        </p:nvSpPr>
        <p:spPr>
          <a:xfrm>
            <a:off x="807339" y="739616"/>
            <a:ext cx="4445194" cy="454724"/>
          </a:xfrm>
          <a:prstGeom prst="rect">
            <a:avLst/>
          </a:prstGeom>
          <a:noFill/>
          <a:ln>
            <a:noFill/>
          </a:ln>
        </p:spPr>
        <p:txBody>
          <a:bodyPr wrap="none" lIns="0" tIns="0" rIns="0" bIns="0" anchor="t" anchorCtr="0">
            <a:spAutoFit/>
          </a:bodyPr>
          <a:lstStyle/>
          <a:p>
            <a:pPr algn="l"/>
            <a:r>
              <a:rPr lang="en-US" sz="2320" b="1" dirty="0">
                <a:solidFill>
                  <a:schemeClr val="dk1"/>
                </a:solidFill>
                <a:latin typeface="+mn-lt"/>
                <a:ea typeface="+mn-ea"/>
                <a:cs typeface="+mn-cs"/>
              </a:rPr>
              <a:t>Two very different domains</a:t>
            </a:r>
          </a:p>
        </p:txBody>
      </p:sp>
      <p:grpSp>
        <p:nvGrpSpPr>
          <p:cNvPr id="21" name="Group 21"/>
          <p:cNvGrpSpPr/>
          <p:nvPr/>
        </p:nvGrpSpPr>
        <p:grpSpPr>
          <a:xfrm>
            <a:off x="609600" y="1428750"/>
            <a:ext cx="5334000" cy="2286000"/>
            <a:chOff x="609600" y="1428750"/>
            <a:chExt cx="5334000" cy="2286000"/>
          </a:xfrm>
        </p:grpSpPr>
        <p:sp>
          <p:nvSpPr>
            <p:cNvPr id="5" name="Rectangle 5"/>
            <p:cNvSpPr/>
            <p:nvPr/>
          </p:nvSpPr>
          <p:spPr>
            <a:xfrm>
              <a:off x="609600" y="1428750"/>
              <a:ext cx="5334000" cy="2286000"/>
            </a:xfrm>
            <a:prstGeom prst="roundRect">
              <a:avLst>
                <a:gd name="adj" fmla="val 5833"/>
              </a:avLst>
            </a:prstGeom>
            <a:solidFill>
              <a:schemeClr val="accent5"/>
            </a:solidFill>
            <a:ln w="14288">
              <a:solidFill>
                <a:schemeClr val="accent4"/>
              </a:solidFill>
            </a:ln>
          </p:spPr>
        </p:sp>
        <p:sp>
          <p:nvSpPr>
            <p:cNvPr id="6" name="Rectangle 6"/>
            <p:cNvSpPr/>
            <p:nvPr/>
          </p:nvSpPr>
          <p:spPr>
            <a:xfrm>
              <a:off x="609600" y="1562100"/>
              <a:ext cx="47625" cy="2019300"/>
            </a:xfrm>
            <a:prstGeom prst="roundRect">
              <a:avLst>
                <a:gd name="adj" fmla="val 50000"/>
              </a:avLst>
            </a:prstGeom>
            <a:solidFill>
              <a:srgbClr val="4AA3FF"/>
            </a:solidFill>
            <a:ln>
              <a:noFill/>
            </a:ln>
          </p:spPr>
        </p:sp>
        <p:sp>
          <p:nvSpPr>
            <p:cNvPr id="7" name="TextBox 7"/>
            <p:cNvSpPr txBox="1"/>
            <p:nvPr/>
          </p:nvSpPr>
          <p:spPr>
            <a:xfrm>
              <a:off x="831342" y="1644968"/>
              <a:ext cx="2721184" cy="264033"/>
            </a:xfrm>
            <a:prstGeom prst="rect">
              <a:avLst/>
            </a:prstGeom>
            <a:noFill/>
            <a:ln>
              <a:noFill/>
            </a:ln>
          </p:spPr>
          <p:txBody>
            <a:bodyPr wrap="none" lIns="0" tIns="0" rIns="0" bIns="0" anchor="t" anchorCtr="0">
              <a:spAutoFit/>
            </a:bodyPr>
            <a:lstStyle/>
            <a:p>
              <a:pPr algn="l"/>
              <a:r>
                <a:rPr lang="en-US" sz="1350" b="1" dirty="0">
                  <a:solidFill>
                    <a:srgbClr val="4AA3FF"/>
                  </a:solidFill>
                  <a:latin typeface="+mn-lt"/>
                  <a:ea typeface="+mn-ea"/>
                  <a:cs typeface="+mn-cs"/>
                </a:rPr>
                <a:t>Continuous control (MuJoCo)</a:t>
              </a:r>
            </a:p>
          </p:txBody>
        </p:sp>
        <p:sp>
          <p:nvSpPr>
            <p:cNvPr id="8" name="TextBox 8"/>
            <p:cNvSpPr txBox="1"/>
            <p:nvPr/>
          </p:nvSpPr>
          <p:spPr>
            <a:xfrm>
              <a:off x="832294" y="1989058"/>
              <a:ext cx="3223734"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Classic locomotion tasks — Walker2d is the</a:t>
              </a:r>
            </a:p>
          </p:txBody>
        </p:sp>
        <p:sp>
          <p:nvSpPr>
            <p:cNvPr id="9" name="TextBox 9"/>
            <p:cNvSpPr txBox="1"/>
            <p:nvPr/>
          </p:nvSpPr>
          <p:spPr>
            <a:xfrm>
              <a:off x="832294" y="2227183"/>
              <a:ext cx="3424752"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primary testbed, with Hopper, HalfCheetah,</a:t>
              </a:r>
            </a:p>
          </p:txBody>
        </p:sp>
        <p:sp>
          <p:nvSpPr>
            <p:cNvPr id="10" name="TextBox 10"/>
            <p:cNvSpPr txBox="1"/>
            <p:nvPr/>
          </p:nvSpPr>
          <p:spPr>
            <a:xfrm>
              <a:off x="832294" y="2465308"/>
              <a:ext cx="2912034"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Ant, and Humanoid added for breadth.</a:t>
              </a:r>
            </a:p>
          </p:txBody>
        </p:sp>
        <p:sp>
          <p:nvSpPr>
            <p:cNvPr id="11" name="Rectangle 11"/>
            <p:cNvSpPr/>
            <p:nvPr/>
          </p:nvSpPr>
          <p:spPr>
            <a:xfrm>
              <a:off x="838200" y="3200400"/>
              <a:ext cx="762000" cy="285750"/>
            </a:xfrm>
            <a:prstGeom prst="roundRect">
              <a:avLst>
                <a:gd name="adj" fmla="val 50000"/>
              </a:avLst>
            </a:prstGeom>
            <a:solidFill>
              <a:schemeClr val="accent6"/>
            </a:solidFill>
            <a:ln w="9525">
              <a:solidFill>
                <a:schemeClr val="accent4"/>
              </a:solidFill>
            </a:ln>
          </p:spPr>
        </p:sp>
        <p:sp>
          <p:nvSpPr>
            <p:cNvPr id="12" name="TextBox 12"/>
            <p:cNvSpPr txBox="1"/>
            <p:nvPr/>
          </p:nvSpPr>
          <p:spPr>
            <a:xfrm>
              <a:off x="924984" y="3285649"/>
              <a:ext cx="588432" cy="190690"/>
            </a:xfrm>
            <a:prstGeom prst="rect">
              <a:avLst/>
            </a:prstGeom>
            <a:noFill/>
            <a:ln>
              <a:noFill/>
            </a:ln>
          </p:spPr>
          <p:txBody>
            <a:bodyPr wrap="none" lIns="0" tIns="0" rIns="0" bIns="0" anchor="t" anchorCtr="0">
              <a:spAutoFit/>
            </a:bodyPr>
            <a:lstStyle/>
            <a:p>
              <a:pPr algn="ctr"/>
              <a:r>
                <a:rPr lang="en-US" sz="980" dirty="0">
                  <a:solidFill>
                    <a:srgbClr val="9FB0C8"/>
                  </a:solidFill>
                  <a:latin typeface="+mn-lt"/>
                  <a:ea typeface="+mn-ea"/>
                  <a:cs typeface="+mn-cs"/>
                </a:rPr>
                <a:t>Walker2d</a:t>
              </a:r>
            </a:p>
          </p:txBody>
        </p:sp>
        <p:sp>
          <p:nvSpPr>
            <p:cNvPr id="13" name="Rectangle 13"/>
            <p:cNvSpPr/>
            <p:nvPr/>
          </p:nvSpPr>
          <p:spPr>
            <a:xfrm>
              <a:off x="1695450" y="3200400"/>
              <a:ext cx="600075" cy="285750"/>
            </a:xfrm>
            <a:prstGeom prst="roundRect">
              <a:avLst>
                <a:gd name="adj" fmla="val 50000"/>
              </a:avLst>
            </a:prstGeom>
            <a:solidFill>
              <a:schemeClr val="accent6"/>
            </a:solidFill>
            <a:ln w="9525">
              <a:solidFill>
                <a:schemeClr val="accent4"/>
              </a:solidFill>
            </a:ln>
          </p:spPr>
        </p:sp>
        <p:sp>
          <p:nvSpPr>
            <p:cNvPr id="14" name="TextBox 14"/>
            <p:cNvSpPr txBox="1"/>
            <p:nvPr/>
          </p:nvSpPr>
          <p:spPr>
            <a:xfrm>
              <a:off x="1770800" y="3285649"/>
              <a:ext cx="449374" cy="190690"/>
            </a:xfrm>
            <a:prstGeom prst="rect">
              <a:avLst/>
            </a:prstGeom>
            <a:noFill/>
            <a:ln>
              <a:noFill/>
            </a:ln>
          </p:spPr>
          <p:txBody>
            <a:bodyPr wrap="none" lIns="0" tIns="0" rIns="0" bIns="0" anchor="t" anchorCtr="0">
              <a:spAutoFit/>
            </a:bodyPr>
            <a:lstStyle/>
            <a:p>
              <a:pPr algn="ctr"/>
              <a:r>
                <a:rPr lang="en-US" sz="980" dirty="0">
                  <a:solidFill>
                    <a:srgbClr val="9FB0C8"/>
                  </a:solidFill>
                  <a:latin typeface="+mn-lt"/>
                  <a:ea typeface="+mn-ea"/>
                  <a:cs typeface="+mn-cs"/>
                </a:rPr>
                <a:t>Hopper</a:t>
              </a:r>
            </a:p>
          </p:txBody>
        </p:sp>
        <p:sp>
          <p:nvSpPr>
            <p:cNvPr id="15" name="Rectangle 15"/>
            <p:cNvSpPr/>
            <p:nvPr/>
          </p:nvSpPr>
          <p:spPr>
            <a:xfrm>
              <a:off x="2390775" y="3200400"/>
              <a:ext cx="1009650" cy="285750"/>
            </a:xfrm>
            <a:prstGeom prst="roundRect">
              <a:avLst>
                <a:gd name="adj" fmla="val 50000"/>
              </a:avLst>
            </a:prstGeom>
            <a:solidFill>
              <a:schemeClr val="accent6"/>
            </a:solidFill>
            <a:ln w="9525">
              <a:solidFill>
                <a:schemeClr val="accent4"/>
              </a:solidFill>
            </a:ln>
          </p:spPr>
        </p:sp>
        <p:sp>
          <p:nvSpPr>
            <p:cNvPr id="16" name="TextBox 16"/>
            <p:cNvSpPr txBox="1"/>
            <p:nvPr/>
          </p:nvSpPr>
          <p:spPr>
            <a:xfrm>
              <a:off x="2501738" y="3285649"/>
              <a:ext cx="782961" cy="190690"/>
            </a:xfrm>
            <a:prstGeom prst="rect">
              <a:avLst/>
            </a:prstGeom>
            <a:noFill/>
            <a:ln>
              <a:noFill/>
            </a:ln>
          </p:spPr>
          <p:txBody>
            <a:bodyPr wrap="none" lIns="0" tIns="0" rIns="0" bIns="0" anchor="t" anchorCtr="0">
              <a:spAutoFit/>
            </a:bodyPr>
            <a:lstStyle/>
            <a:p>
              <a:pPr algn="ctr"/>
              <a:r>
                <a:rPr lang="en-US" sz="980" dirty="0">
                  <a:solidFill>
                    <a:srgbClr val="9FB0C8"/>
                  </a:solidFill>
                  <a:latin typeface="+mn-lt"/>
                  <a:ea typeface="+mn-ea"/>
                  <a:cs typeface="+mn-cs"/>
                </a:rPr>
                <a:t>HalfCheetah</a:t>
              </a:r>
            </a:p>
          </p:txBody>
        </p:sp>
        <p:sp>
          <p:nvSpPr>
            <p:cNvPr id="17" name="Rectangle 17"/>
            <p:cNvSpPr/>
            <p:nvPr/>
          </p:nvSpPr>
          <p:spPr>
            <a:xfrm>
              <a:off x="3490912" y="3200400"/>
              <a:ext cx="361950" cy="285750"/>
            </a:xfrm>
            <a:prstGeom prst="roundRect">
              <a:avLst>
                <a:gd name="adj" fmla="val 50000"/>
              </a:avLst>
            </a:prstGeom>
            <a:solidFill>
              <a:schemeClr val="accent6"/>
            </a:solidFill>
            <a:ln w="9525">
              <a:solidFill>
                <a:schemeClr val="accent4"/>
              </a:solidFill>
            </a:ln>
          </p:spPr>
        </p:sp>
        <p:sp>
          <p:nvSpPr>
            <p:cNvPr id="18" name="TextBox 18"/>
            <p:cNvSpPr txBox="1"/>
            <p:nvPr/>
          </p:nvSpPr>
          <p:spPr>
            <a:xfrm>
              <a:off x="3553659" y="3285649"/>
              <a:ext cx="231694" cy="190690"/>
            </a:xfrm>
            <a:prstGeom prst="rect">
              <a:avLst/>
            </a:prstGeom>
            <a:noFill/>
            <a:ln>
              <a:noFill/>
            </a:ln>
          </p:spPr>
          <p:txBody>
            <a:bodyPr wrap="none" lIns="0" tIns="0" rIns="0" bIns="0" anchor="t" anchorCtr="0">
              <a:spAutoFit/>
            </a:bodyPr>
            <a:lstStyle/>
            <a:p>
              <a:pPr algn="ctr"/>
              <a:r>
                <a:rPr lang="en-US" sz="980" dirty="0">
                  <a:solidFill>
                    <a:srgbClr val="9FB0C8"/>
                  </a:solidFill>
                  <a:latin typeface="+mn-lt"/>
                  <a:ea typeface="+mn-ea"/>
                  <a:cs typeface="+mn-cs"/>
                </a:rPr>
                <a:t>Ant</a:t>
              </a:r>
            </a:p>
          </p:txBody>
        </p:sp>
        <p:sp>
          <p:nvSpPr>
            <p:cNvPr id="19" name="Rectangle 19"/>
            <p:cNvSpPr/>
            <p:nvPr/>
          </p:nvSpPr>
          <p:spPr>
            <a:xfrm>
              <a:off x="3943350" y="3200400"/>
              <a:ext cx="762000" cy="285750"/>
            </a:xfrm>
            <a:prstGeom prst="roundRect">
              <a:avLst>
                <a:gd name="adj" fmla="val 50000"/>
              </a:avLst>
            </a:prstGeom>
            <a:solidFill>
              <a:schemeClr val="accent6"/>
            </a:solidFill>
            <a:ln w="9525">
              <a:solidFill>
                <a:schemeClr val="accent4"/>
              </a:solidFill>
            </a:ln>
          </p:spPr>
        </p:sp>
        <p:sp>
          <p:nvSpPr>
            <p:cNvPr id="20" name="TextBox 20"/>
            <p:cNvSpPr txBox="1"/>
            <p:nvPr/>
          </p:nvSpPr>
          <p:spPr>
            <a:xfrm>
              <a:off x="4030424" y="3285649"/>
              <a:ext cx="587852" cy="190690"/>
            </a:xfrm>
            <a:prstGeom prst="rect">
              <a:avLst/>
            </a:prstGeom>
            <a:noFill/>
            <a:ln>
              <a:noFill/>
            </a:ln>
          </p:spPr>
          <p:txBody>
            <a:bodyPr wrap="none" lIns="0" tIns="0" rIns="0" bIns="0" anchor="t" anchorCtr="0">
              <a:spAutoFit/>
            </a:bodyPr>
            <a:lstStyle/>
            <a:p>
              <a:pPr algn="ctr"/>
              <a:r>
                <a:rPr lang="en-US" sz="980" dirty="0">
                  <a:solidFill>
                    <a:srgbClr val="9FB0C8"/>
                  </a:solidFill>
                  <a:latin typeface="+mn-lt"/>
                  <a:ea typeface="+mn-ea"/>
                  <a:cs typeface="+mn-cs"/>
                </a:rPr>
                <a:t>Humanoid</a:t>
              </a:r>
            </a:p>
          </p:txBody>
        </p:sp>
      </p:grpSp>
      <p:grpSp>
        <p:nvGrpSpPr>
          <p:cNvPr id="29" name="Group 29"/>
          <p:cNvGrpSpPr/>
          <p:nvPr/>
        </p:nvGrpSpPr>
        <p:grpSpPr>
          <a:xfrm>
            <a:off x="609600" y="3943350"/>
            <a:ext cx="5334000" cy="2133600"/>
            <a:chOff x="609600" y="3943350"/>
            <a:chExt cx="5334000" cy="2133600"/>
          </a:xfrm>
        </p:grpSpPr>
        <p:sp>
          <p:nvSpPr>
            <p:cNvPr id="22" name="Rectangle 22"/>
            <p:cNvSpPr/>
            <p:nvPr/>
          </p:nvSpPr>
          <p:spPr>
            <a:xfrm>
              <a:off x="609600" y="3943350"/>
              <a:ext cx="5334000" cy="2133600"/>
            </a:xfrm>
            <a:prstGeom prst="roundRect">
              <a:avLst>
                <a:gd name="adj" fmla="val 6250"/>
              </a:avLst>
            </a:prstGeom>
            <a:solidFill>
              <a:schemeClr val="accent5"/>
            </a:solidFill>
            <a:ln w="14288">
              <a:solidFill>
                <a:schemeClr val="accent4"/>
              </a:solidFill>
            </a:ln>
          </p:spPr>
        </p:sp>
        <p:sp>
          <p:nvSpPr>
            <p:cNvPr id="23" name="Rectangle 23"/>
            <p:cNvSpPr/>
            <p:nvPr/>
          </p:nvSpPr>
          <p:spPr>
            <a:xfrm>
              <a:off x="609600" y="4076700"/>
              <a:ext cx="47625" cy="1866900"/>
            </a:xfrm>
            <a:prstGeom prst="roundRect">
              <a:avLst>
                <a:gd name="adj" fmla="val 50000"/>
              </a:avLst>
            </a:prstGeom>
            <a:solidFill>
              <a:srgbClr val="34D399"/>
            </a:solidFill>
            <a:ln>
              <a:noFill/>
            </a:ln>
          </p:spPr>
        </p:sp>
        <p:sp>
          <p:nvSpPr>
            <p:cNvPr id="24" name="TextBox 24"/>
            <p:cNvSpPr txBox="1"/>
            <p:nvPr/>
          </p:nvSpPr>
          <p:spPr>
            <a:xfrm>
              <a:off x="830580" y="4162425"/>
              <a:ext cx="2142173" cy="293370"/>
            </a:xfrm>
            <a:prstGeom prst="rect">
              <a:avLst/>
            </a:prstGeom>
            <a:noFill/>
            <a:ln>
              <a:noFill/>
            </a:ln>
          </p:spPr>
          <p:txBody>
            <a:bodyPr wrap="none" lIns="0" tIns="0" rIns="0" bIns="0" anchor="t" anchorCtr="0">
              <a:spAutoFit/>
            </a:bodyPr>
            <a:lstStyle/>
            <a:p>
              <a:pPr algn="l"/>
              <a:r>
                <a:rPr lang="en-US" sz="1500" b="1" dirty="0">
                  <a:solidFill>
                    <a:srgbClr val="34D399"/>
                  </a:solidFill>
                  <a:latin typeface="+mn-lt"/>
                  <a:ea typeface="+mn-ea"/>
                  <a:cs typeface="+mn-cs"/>
                </a:rPr>
                <a:t>Long-horizon cloning</a:t>
              </a:r>
            </a:p>
          </p:txBody>
        </p:sp>
        <p:sp>
          <p:nvSpPr>
            <p:cNvPr id="25" name="TextBox 25"/>
            <p:cNvSpPr txBox="1"/>
            <p:nvPr/>
          </p:nvSpPr>
          <p:spPr>
            <a:xfrm>
              <a:off x="831342" y="4502468"/>
              <a:ext cx="359989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Clone from strong expert policies over a</a:t>
              </a:r>
            </a:p>
          </p:txBody>
        </p:sp>
        <p:sp>
          <p:nvSpPr>
            <p:cNvPr id="26" name="TextBox 26"/>
            <p:cNvSpPr txBox="1"/>
            <p:nvPr/>
          </p:nvSpPr>
          <p:spPr>
            <a:xfrm>
              <a:off x="831342" y="4750118"/>
              <a:ext cx="355619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long horizon of H = 1000 steps, with the</a:t>
              </a:r>
            </a:p>
          </p:txBody>
        </p:sp>
        <p:sp>
          <p:nvSpPr>
            <p:cNvPr id="27" name="TextBox 27"/>
            <p:cNvSpPr txBox="1"/>
            <p:nvPr/>
          </p:nvSpPr>
          <p:spPr>
            <a:xfrm>
              <a:off x="831342" y="4997768"/>
              <a:ext cx="330315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dataset size set deliberately so that</a:t>
              </a:r>
            </a:p>
          </p:txBody>
        </p:sp>
        <p:sp>
          <p:nvSpPr>
            <p:cNvPr id="28" name="TextBox 28"/>
            <p:cNvSpPr txBox="1"/>
            <p:nvPr/>
          </p:nvSpPr>
          <p:spPr>
            <a:xfrm>
              <a:off x="831342" y="5245418"/>
              <a:ext cx="254894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overfitting is not the issue.</a:t>
              </a:r>
            </a:p>
          </p:txBody>
        </p:sp>
      </p:grpSp>
      <p:grpSp>
        <p:nvGrpSpPr>
          <p:cNvPr id="38" name="Group 38"/>
          <p:cNvGrpSpPr/>
          <p:nvPr/>
        </p:nvGrpSpPr>
        <p:grpSpPr>
          <a:xfrm>
            <a:off x="6248400" y="1428750"/>
            <a:ext cx="5334000" cy="2286000"/>
            <a:chOff x="6248400" y="1428750"/>
            <a:chExt cx="5334000" cy="2286000"/>
          </a:xfrm>
        </p:grpSpPr>
        <p:sp>
          <p:nvSpPr>
            <p:cNvPr id="30" name="Rectangle 30"/>
            <p:cNvSpPr/>
            <p:nvPr/>
          </p:nvSpPr>
          <p:spPr>
            <a:xfrm>
              <a:off x="6248400" y="1428750"/>
              <a:ext cx="5334000" cy="2286000"/>
            </a:xfrm>
            <a:prstGeom prst="roundRect">
              <a:avLst>
                <a:gd name="adj" fmla="val 5833"/>
              </a:avLst>
            </a:prstGeom>
            <a:solidFill>
              <a:schemeClr val="accent5"/>
            </a:solidFill>
            <a:ln w="14288">
              <a:solidFill>
                <a:schemeClr val="accent4"/>
              </a:solidFill>
            </a:ln>
          </p:spPr>
        </p:sp>
        <p:sp>
          <p:nvSpPr>
            <p:cNvPr id="31" name="Rectangle 31"/>
            <p:cNvSpPr/>
            <p:nvPr/>
          </p:nvSpPr>
          <p:spPr>
            <a:xfrm>
              <a:off x="6248400" y="1562100"/>
              <a:ext cx="47625" cy="2019300"/>
            </a:xfrm>
            <a:prstGeom prst="roundRect">
              <a:avLst>
                <a:gd name="adj" fmla="val 50000"/>
              </a:avLst>
            </a:prstGeom>
            <a:solidFill>
              <a:srgbClr val="A78BFA"/>
            </a:solidFill>
            <a:ln>
              <a:noFill/>
            </a:ln>
          </p:spPr>
        </p:sp>
        <p:sp>
          <p:nvSpPr>
            <p:cNvPr id="32" name="TextBox 32"/>
            <p:cNvSpPr txBox="1"/>
            <p:nvPr/>
          </p:nvSpPr>
          <p:spPr>
            <a:xfrm>
              <a:off x="6469380" y="1647825"/>
              <a:ext cx="2443249" cy="293370"/>
            </a:xfrm>
            <a:prstGeom prst="rect">
              <a:avLst/>
            </a:prstGeom>
            <a:noFill/>
            <a:ln>
              <a:noFill/>
            </a:ln>
          </p:spPr>
          <p:txBody>
            <a:bodyPr wrap="none" lIns="0" tIns="0" rIns="0" bIns="0" anchor="t" anchorCtr="0">
              <a:spAutoFit/>
            </a:bodyPr>
            <a:lstStyle/>
            <a:p>
              <a:pPr algn="l"/>
              <a:r>
                <a:rPr lang="en-US" sz="1500" b="1" dirty="0">
                  <a:solidFill>
                    <a:srgbClr val="A78BFA"/>
                  </a:solidFill>
                  <a:latin typeface="+mn-lt"/>
                  <a:ea typeface="+mn-ea"/>
                  <a:cs typeface="+mn-cs"/>
                </a:rPr>
                <a:t>Language (TinyStories)</a:t>
              </a:r>
            </a:p>
          </p:txBody>
        </p:sp>
        <p:sp>
          <p:nvSpPr>
            <p:cNvPr id="33" name="TextBox 33"/>
            <p:cNvSpPr txBox="1"/>
            <p:nvPr/>
          </p:nvSpPr>
          <p:spPr>
            <a:xfrm>
              <a:off x="6470142" y="1987868"/>
              <a:ext cx="375293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270M-parameter Transformers trained on</a:t>
              </a:r>
            </a:p>
          </p:txBody>
        </p:sp>
        <p:sp>
          <p:nvSpPr>
            <p:cNvPr id="34" name="TextBox 34"/>
            <p:cNvSpPr txBox="1"/>
            <p:nvPr/>
          </p:nvSpPr>
          <p:spPr>
            <a:xfrm>
              <a:off x="6470142" y="2235518"/>
              <a:ext cx="37604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TinyStories — a small synthetic dataset of</a:t>
              </a:r>
            </a:p>
          </p:txBody>
        </p:sp>
        <p:sp>
          <p:nvSpPr>
            <p:cNvPr id="35" name="TextBox 35"/>
            <p:cNvSpPr txBox="1"/>
            <p:nvPr/>
          </p:nvSpPr>
          <p:spPr>
            <a:xfrm>
              <a:off x="6470142" y="2483168"/>
              <a:ext cx="359393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simple children's stories that keeps the</a:t>
              </a:r>
            </a:p>
          </p:txBody>
        </p:sp>
        <p:sp>
          <p:nvSpPr>
            <p:cNvPr id="36" name="TextBox 36"/>
            <p:cNvSpPr txBox="1"/>
            <p:nvPr/>
          </p:nvSpPr>
          <p:spPr>
            <a:xfrm>
              <a:off x="6470142" y="2730818"/>
              <a:ext cx="36121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setup tractable while still exhibiting the</a:t>
              </a:r>
            </a:p>
          </p:txBody>
        </p:sp>
        <p:sp>
          <p:nvSpPr>
            <p:cNvPr id="37" name="TextBox 37"/>
            <p:cNvSpPr txBox="1"/>
            <p:nvPr/>
          </p:nvSpPr>
          <p:spPr>
            <a:xfrm>
              <a:off x="6470142" y="2978468"/>
              <a:ext cx="114957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phenomenon.</a:t>
              </a:r>
            </a:p>
          </p:txBody>
        </p:sp>
      </p:grpSp>
      <p:grpSp>
        <p:nvGrpSpPr>
          <p:cNvPr id="45" name="Group 45"/>
          <p:cNvGrpSpPr/>
          <p:nvPr/>
        </p:nvGrpSpPr>
        <p:grpSpPr>
          <a:xfrm>
            <a:off x="6248400" y="3943350"/>
            <a:ext cx="5334000" cy="2133600"/>
            <a:chOff x="6248400" y="3943350"/>
            <a:chExt cx="5334000" cy="2133600"/>
          </a:xfrm>
        </p:grpSpPr>
        <p:sp>
          <p:nvSpPr>
            <p:cNvPr id="39" name="Rectangle 39"/>
            <p:cNvSpPr/>
            <p:nvPr/>
          </p:nvSpPr>
          <p:spPr>
            <a:xfrm>
              <a:off x="6248400" y="3943350"/>
              <a:ext cx="5334000" cy="2133600"/>
            </a:xfrm>
            <a:prstGeom prst="roundRect">
              <a:avLst>
                <a:gd name="adj" fmla="val 6250"/>
              </a:avLst>
            </a:prstGeom>
            <a:solidFill>
              <a:schemeClr val="accent5"/>
            </a:solidFill>
            <a:ln w="14288">
              <a:solidFill>
                <a:schemeClr val="accent4"/>
              </a:solidFill>
            </a:ln>
          </p:spPr>
        </p:sp>
        <p:sp>
          <p:nvSpPr>
            <p:cNvPr id="40" name="Rectangle 40"/>
            <p:cNvSpPr/>
            <p:nvPr/>
          </p:nvSpPr>
          <p:spPr>
            <a:xfrm>
              <a:off x="6248400" y="4076700"/>
              <a:ext cx="47625" cy="1866900"/>
            </a:xfrm>
            <a:prstGeom prst="roundRect">
              <a:avLst>
                <a:gd name="adj" fmla="val 50000"/>
              </a:avLst>
            </a:prstGeom>
            <a:solidFill>
              <a:srgbClr val="FBBF24"/>
            </a:solidFill>
            <a:ln>
              <a:noFill/>
            </a:ln>
          </p:spPr>
        </p:sp>
        <p:sp>
          <p:nvSpPr>
            <p:cNvPr id="41" name="TextBox 41"/>
            <p:cNvSpPr txBox="1"/>
            <p:nvPr/>
          </p:nvSpPr>
          <p:spPr>
            <a:xfrm>
              <a:off x="6469380" y="4162425"/>
              <a:ext cx="2153201" cy="293370"/>
            </a:xfrm>
            <a:prstGeom prst="rect">
              <a:avLst/>
            </a:prstGeom>
            <a:noFill/>
            <a:ln>
              <a:noFill/>
            </a:ln>
          </p:spPr>
          <p:txBody>
            <a:bodyPr wrap="none" lIns="0" tIns="0" rIns="0" bIns="0" anchor="t" anchorCtr="0">
              <a:spAutoFit/>
            </a:bodyPr>
            <a:lstStyle/>
            <a:p>
              <a:pPr algn="l"/>
              <a:r>
                <a:rPr lang="en-US" sz="1500" b="1" dirty="0">
                  <a:solidFill>
                    <a:srgbClr val="FBBF24"/>
                  </a:solidFill>
                  <a:latin typeface="+mn-lt"/>
                  <a:ea typeface="+mn-ea"/>
                  <a:cs typeface="+mn-cs"/>
                </a:rPr>
                <a:t>Robust measurement</a:t>
              </a:r>
            </a:p>
          </p:txBody>
        </p:sp>
        <p:sp>
          <p:nvSpPr>
            <p:cNvPr id="42" name="TextBox 42"/>
            <p:cNvSpPr txBox="1"/>
            <p:nvPr/>
          </p:nvSpPr>
          <p:spPr>
            <a:xfrm>
              <a:off x="6470142" y="4502468"/>
              <a:ext cx="300045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Reward is averaged over 20 initial</a:t>
              </a:r>
            </a:p>
          </p:txBody>
        </p:sp>
        <p:sp>
          <p:nvSpPr>
            <p:cNvPr id="43" name="TextBox 43"/>
            <p:cNvSpPr txBox="1"/>
            <p:nvPr/>
          </p:nvSpPr>
          <p:spPr>
            <a:xfrm>
              <a:off x="6470142" y="4750118"/>
              <a:ext cx="341219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conditions, so the oscillations are not</a:t>
              </a:r>
            </a:p>
          </p:txBody>
        </p:sp>
        <p:sp>
          <p:nvSpPr>
            <p:cNvPr id="44" name="TextBox 44"/>
            <p:cNvSpPr txBox="1"/>
            <p:nvPr/>
          </p:nvSpPr>
          <p:spPr>
            <a:xfrm>
              <a:off x="6470142" y="4997768"/>
              <a:ext cx="220364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just measurement noise.</a:t>
              </a:r>
            </a:p>
          </p:txBody>
        </p:sp>
      </p:grpSp>
      <p:sp>
        <p:nvSpPr>
          <p:cNvPr id="46" name="cue_s06_c1_experiments_span_two_very_different" title="cue_s06_c1_experiments_span_two_very_different" descr="cue_s06_c1_experiments_span_two_very_different The experiments span two very different domains. For continuous control, the authors use classic MuJoCo locomotion tasks, with Walker2d as the primary testbed and Hopper, HalfCheetah, Ant, and Humanoid for breadth."/>
          <p:cNvSpPr/>
          <p:nvPr/>
        </p:nvSpPr>
        <p:spPr>
          <a:xfrm>
            <a:off x="609600" y="1428521"/>
            <a:ext cx="5334000"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2_they_clone_strong_expert_policies" title="cue_s06_c2_they_clone_strong_expert_policies" descr="cue_s06_c2_they_clone_strong_expert_policies They clone from strong expert policies over a long horizon of a thousand steps, and they deliberately set the dataset size so that overfitting is not the issue."/>
          <p:cNvSpPr/>
          <p:nvPr/>
        </p:nvSpPr>
        <p:spPr>
          <a:xfrm>
            <a:off x="609600" y="3943349"/>
            <a:ext cx="5334000"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3_language_they_train_two_hundred" title="cue_s06_c3_language_they_train_two_hundred" descr="cue_s06_c3_language_they_train_two_hundred For language, they train two hundred and seventy million parameter Transformers on TinyStories, a small synthetic dataset of simple children's stories that keeps the setup tractable while still exhibiting the phenomenon."/>
          <p:cNvSpPr/>
          <p:nvPr/>
        </p:nvSpPr>
        <p:spPr>
          <a:xfrm>
            <a:off x="6248399" y="1428521"/>
            <a:ext cx="5334000"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4_reward_averaged_over_twenty_initial" title="cue_s06_c4_reward_averaged_over_twenty_initial" descr="cue_s06_c4_reward_averaged_over_twenty_initial Reward is averaged over twenty initial conditions so the oscillations are not just measurement noise."/>
          <p:cNvSpPr/>
          <p:nvPr/>
        </p:nvSpPr>
        <p:spPr>
          <a:xfrm>
            <a:off x="6248399" y="3943349"/>
            <a:ext cx="5334000"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381000"/>
          </a:xfrm>
          <a:prstGeom prst="roundRect">
            <a:avLst>
              <a:gd name="adj" fmla="val 50000"/>
            </a:avLst>
          </a:prstGeom>
          <a:solidFill>
            <a:srgbClr val="4AA3FF"/>
          </a:solidFill>
          <a:ln>
            <a:noFill/>
          </a:ln>
        </p:spPr>
        <p:txBody>
          <a:bodyPr/>
          <a:p/>
        </p:txBody>
      </p:sp>
      <p:sp>
        <p:nvSpPr>
          <p:cNvPr id="3" name="TextBox 3"/>
          <p:cNvSpPr txBox="1"/>
          <p:nvPr/>
        </p:nvSpPr>
        <p:spPr>
          <a:xfrm>
            <a:off x="813435" y="545306"/>
            <a:ext cx="1564691" cy="220028"/>
          </a:xfrm>
          <a:prstGeom prst="rect">
            <a:avLst/>
          </a:prstGeom>
          <a:noFill/>
          <a:ln>
            <a:noFill/>
          </a:ln>
        </p:spPr>
        <p:txBody>
          <a:bodyPr wrap="none" lIns="0" tIns="0" rIns="0" bIns="0" anchor="t" anchorCtr="0">
            <a:spAutoFit/>
          </a:bodyPr>
          <a:lstStyle/>
          <a:p>
            <a:pPr algn="l"/>
            <a:r>
              <a:rPr lang="en-US" sz="1120" b="1" spc="150" dirty="0">
                <a:solidFill>
                  <a:srgbClr val="9FB0C8"/>
                </a:solidFill>
                <a:latin typeface="+mn-lt"/>
                <a:ea typeface="+mn-ea"/>
                <a:cs typeface="+mn-cs"/>
              </a:rPr>
              <a:t>06 · KEY RESULT</a:t>
            </a:r>
          </a:p>
        </p:txBody>
      </p:sp>
      <p:sp>
        <p:nvSpPr>
          <p:cNvPr id="4" name="TextBox 4"/>
          <p:cNvSpPr txBox="1"/>
          <p:nvPr/>
        </p:nvSpPr>
        <p:spPr>
          <a:xfrm>
            <a:off x="807339" y="739616"/>
            <a:ext cx="5774074" cy="454724"/>
          </a:xfrm>
          <a:prstGeom prst="rect">
            <a:avLst/>
          </a:prstGeom>
          <a:noFill/>
          <a:ln>
            <a:noFill/>
          </a:ln>
        </p:spPr>
        <p:txBody>
          <a:bodyPr wrap="none" lIns="0" tIns="0" rIns="0" bIns="0" anchor="t" anchorCtr="0">
            <a:spAutoFit/>
          </a:bodyPr>
          <a:lstStyle/>
          <a:p>
            <a:pPr algn="l"/>
            <a:r>
              <a:rPr lang="en-US" sz="2320" b="1" dirty="0">
                <a:solidFill>
                  <a:schemeClr val="dk1"/>
                </a:solidFill>
                <a:latin typeface="+mn-lt"/>
                <a:ea typeface="+mn-ea"/>
                <a:cs typeface="+mn-cs"/>
              </a:rPr>
              <a:t>The butterfly effect — and the cure</a:t>
            </a:r>
          </a:p>
        </p:txBody>
      </p:sp>
      <p:grpSp>
        <p:nvGrpSpPr>
          <p:cNvPr id="17" name="Group 17"/>
          <p:cNvGrpSpPr/>
          <p:nvPr/>
        </p:nvGrpSpPr>
        <p:grpSpPr>
          <a:xfrm>
            <a:off x="609600" y="1428750"/>
            <a:ext cx="5334000" cy="2381250"/>
            <a:chOff x="609600" y="1428750"/>
            <a:chExt cx="5334000" cy="2381250"/>
          </a:xfrm>
        </p:grpSpPr>
        <p:sp>
          <p:nvSpPr>
            <p:cNvPr id="5" name="Rectangle 5"/>
            <p:cNvSpPr/>
            <p:nvPr/>
          </p:nvSpPr>
          <p:spPr>
            <a:xfrm>
              <a:off x="609600" y="1428750"/>
              <a:ext cx="5334000" cy="2381250"/>
            </a:xfrm>
            <a:prstGeom prst="roundRect">
              <a:avLst>
                <a:gd name="adj" fmla="val 5600"/>
              </a:avLst>
            </a:prstGeom>
            <a:solidFill>
              <a:schemeClr val="accent5"/>
            </a:solidFill>
            <a:ln w="14288">
              <a:solidFill>
                <a:schemeClr val="accent4"/>
              </a:solidFill>
            </a:ln>
          </p:spPr>
        </p:sp>
        <p:sp>
          <p:nvSpPr>
            <p:cNvPr id="6" name="Rectangle 6"/>
            <p:cNvSpPr/>
            <p:nvPr/>
          </p:nvSpPr>
          <p:spPr>
            <a:xfrm>
              <a:off x="609600" y="1562100"/>
              <a:ext cx="47625" cy="2114550"/>
            </a:xfrm>
            <a:prstGeom prst="roundRect">
              <a:avLst>
                <a:gd name="adj" fmla="val 50000"/>
              </a:avLst>
            </a:prstGeom>
            <a:solidFill>
              <a:srgbClr val="4AA3FF"/>
            </a:solidFill>
            <a:ln>
              <a:noFill/>
            </a:ln>
          </p:spPr>
        </p:sp>
        <p:sp>
          <p:nvSpPr>
            <p:cNvPr id="7" name="TextBox 7"/>
            <p:cNvSpPr txBox="1"/>
            <p:nvPr/>
          </p:nvSpPr>
          <p:spPr>
            <a:xfrm>
              <a:off x="831342" y="1644968"/>
              <a:ext cx="3992522" cy="264033"/>
            </a:xfrm>
            <a:prstGeom prst="rect">
              <a:avLst/>
            </a:prstGeom>
            <a:noFill/>
            <a:ln>
              <a:noFill/>
            </a:ln>
          </p:spPr>
          <p:txBody>
            <a:bodyPr wrap="none" lIns="0" tIns="0" rIns="0" bIns="0" anchor="t" anchorCtr="0">
              <a:spAutoFit/>
            </a:bodyPr>
            <a:lstStyle/>
            <a:p>
              <a:pPr algn="l"/>
              <a:r>
                <a:rPr lang="en-US" sz="1350" b="1" dirty="0">
                  <a:solidFill>
                    <a:srgbClr val="4AA3FF"/>
                  </a:solidFill>
                  <a:latin typeface="+mn-lt"/>
                  <a:ea typeface="+mn-ea"/>
                  <a:cs typeface="+mn-cs"/>
                </a:rPr>
                <a:t>Rollout reward swings wildly (BC loss flat)</a:t>
              </a:r>
            </a:p>
          </p:txBody>
        </p:sp>
        <p:sp>
          <p:nvSpPr>
            <p:cNvPr id="8" name="Line 8"/>
            <p:cNvSpPr/>
            <p:nvPr/>
          </p:nvSpPr>
          <p:spPr>
            <a:xfrm>
              <a:off x="933450" y="3257550"/>
              <a:ext cx="4667250" cy="9525"/>
            </a:xfrm>
            <a:custGeom>
              <a:avLst/>
              <a:gdLst/>
              <a:ahLst/>
              <a:cxnLst/>
              <a:rect l="l" t="t" r="r" b="b"/>
              <a:pathLst>
                <a:path w="4667250" h="9525">
                  <a:moveTo>
                    <a:pt x="0" y="0"/>
                  </a:moveTo>
                  <a:lnTo>
                    <a:pt x="4667250" y="0"/>
                  </a:lnTo>
                </a:path>
              </a:pathLst>
            </a:custGeom>
            <a:noFill/>
            <a:ln w="14288">
              <a:solidFill>
                <a:schemeClr val="accent4"/>
              </a:solidFill>
            </a:ln>
          </p:spPr>
        </p:sp>
        <p:sp>
          <p:nvSpPr>
            <p:cNvPr id="9" name="Line 9"/>
            <p:cNvSpPr/>
            <p:nvPr/>
          </p:nvSpPr>
          <p:spPr>
            <a:xfrm>
              <a:off x="933450" y="2000250"/>
              <a:ext cx="9525" cy="1257300"/>
            </a:xfrm>
            <a:custGeom>
              <a:avLst/>
              <a:gdLst/>
              <a:ahLst/>
              <a:cxnLst/>
              <a:rect l="l" t="t" r="r" b="b"/>
              <a:pathLst>
                <a:path w="9525" h="1257300">
                  <a:moveTo>
                    <a:pt x="0" y="0"/>
                  </a:moveTo>
                  <a:lnTo>
                    <a:pt x="0" y="1257300"/>
                  </a:lnTo>
                </a:path>
              </a:pathLst>
            </a:custGeom>
            <a:noFill/>
            <a:ln w="14288">
              <a:solidFill>
                <a:schemeClr val="accent4"/>
              </a:solidFill>
            </a:ln>
          </p:spPr>
        </p:sp>
        <p:sp>
          <p:nvSpPr>
            <p:cNvPr id="10" name="Polyline 10"/>
            <p:cNvSpPr/>
            <p:nvPr/>
          </p:nvSpPr>
          <p:spPr>
            <a:xfrm>
              <a:off x="933450" y="2134552"/>
              <a:ext cx="4667250" cy="828675"/>
            </a:xfrm>
            <a:custGeom>
              <a:avLst/>
              <a:gdLst/>
              <a:ahLst/>
              <a:cxnLst/>
              <a:rect l="l" t="t" r="r" b="b"/>
              <a:pathLst>
                <a:path w="4667250" h="828675">
                  <a:moveTo>
                    <a:pt x="0" y="282893"/>
                  </a:moveTo>
                  <a:lnTo>
                    <a:pt x="114300" y="253365"/>
                  </a:lnTo>
                  <a:lnTo>
                    <a:pt x="227648" y="160020"/>
                  </a:lnTo>
                  <a:lnTo>
                    <a:pt x="341948" y="320993"/>
                  </a:lnTo>
                  <a:lnTo>
                    <a:pt x="455295" y="541972"/>
                  </a:lnTo>
                  <a:lnTo>
                    <a:pt x="569595" y="97155"/>
                  </a:lnTo>
                  <a:lnTo>
                    <a:pt x="682942" y="381000"/>
                  </a:lnTo>
                  <a:lnTo>
                    <a:pt x="797242" y="284798"/>
                  </a:lnTo>
                  <a:lnTo>
                    <a:pt x="910590" y="828675"/>
                  </a:lnTo>
                  <a:lnTo>
                    <a:pt x="1024890" y="714375"/>
                  </a:lnTo>
                  <a:lnTo>
                    <a:pt x="1138238" y="473393"/>
                  </a:lnTo>
                  <a:lnTo>
                    <a:pt x="1252538" y="512445"/>
                  </a:lnTo>
                  <a:lnTo>
                    <a:pt x="1365885" y="346710"/>
                  </a:lnTo>
                  <a:lnTo>
                    <a:pt x="1480185" y="773430"/>
                  </a:lnTo>
                  <a:lnTo>
                    <a:pt x="1593532" y="263843"/>
                  </a:lnTo>
                  <a:lnTo>
                    <a:pt x="1707832" y="239077"/>
                  </a:lnTo>
                  <a:lnTo>
                    <a:pt x="1821180" y="42862"/>
                  </a:lnTo>
                  <a:lnTo>
                    <a:pt x="1935480" y="276225"/>
                  </a:lnTo>
                  <a:lnTo>
                    <a:pt x="2048828" y="621030"/>
                  </a:lnTo>
                  <a:lnTo>
                    <a:pt x="2163128" y="298133"/>
                  </a:lnTo>
                  <a:lnTo>
                    <a:pt x="2276475" y="511493"/>
                  </a:lnTo>
                  <a:lnTo>
                    <a:pt x="2390775" y="283845"/>
                  </a:lnTo>
                  <a:lnTo>
                    <a:pt x="2504122" y="828675"/>
                  </a:lnTo>
                  <a:lnTo>
                    <a:pt x="2618422" y="747713"/>
                  </a:lnTo>
                  <a:lnTo>
                    <a:pt x="2731770" y="532448"/>
                  </a:lnTo>
                  <a:lnTo>
                    <a:pt x="2846070" y="408623"/>
                  </a:lnTo>
                  <a:lnTo>
                    <a:pt x="2959418" y="155258"/>
                  </a:lnTo>
                  <a:lnTo>
                    <a:pt x="3073718" y="627698"/>
                  </a:lnTo>
                  <a:lnTo>
                    <a:pt x="3187065" y="255270"/>
                  </a:lnTo>
                  <a:lnTo>
                    <a:pt x="3301365" y="310515"/>
                  </a:lnTo>
                  <a:lnTo>
                    <a:pt x="3414712" y="28575"/>
                  </a:lnTo>
                  <a:lnTo>
                    <a:pt x="3529012" y="273368"/>
                  </a:lnTo>
                  <a:lnTo>
                    <a:pt x="3642360" y="686752"/>
                  </a:lnTo>
                  <a:lnTo>
                    <a:pt x="3756660" y="495300"/>
                  </a:lnTo>
                  <a:lnTo>
                    <a:pt x="3870008" y="660082"/>
                  </a:lnTo>
                  <a:lnTo>
                    <a:pt x="3984307" y="271462"/>
                  </a:lnTo>
                  <a:lnTo>
                    <a:pt x="4097655" y="741998"/>
                  </a:lnTo>
                  <a:lnTo>
                    <a:pt x="4211955" y="676275"/>
                  </a:lnTo>
                  <a:lnTo>
                    <a:pt x="4325302" y="549593"/>
                  </a:lnTo>
                  <a:lnTo>
                    <a:pt x="4439602" y="331470"/>
                  </a:lnTo>
                  <a:lnTo>
                    <a:pt x="4552950" y="0"/>
                  </a:lnTo>
                  <a:lnTo>
                    <a:pt x="4667250" y="482918"/>
                  </a:lnTo>
                </a:path>
              </a:pathLst>
            </a:custGeom>
            <a:noFill/>
            <a:ln w="22860">
              <a:solidFill>
                <a:srgbClr val="4AA3FF"/>
              </a:solidFill>
              <a:round/>
            </a:ln>
          </p:spPr>
        </p:sp>
        <p:sp>
          <p:nvSpPr>
            <p:cNvPr id="11" name="Polyline 11"/>
            <p:cNvSpPr/>
            <p:nvPr/>
          </p:nvSpPr>
          <p:spPr>
            <a:xfrm>
              <a:off x="933450" y="3044190"/>
              <a:ext cx="4667250" cy="36195"/>
            </a:xfrm>
            <a:custGeom>
              <a:avLst/>
              <a:gdLst/>
              <a:ahLst/>
              <a:cxnLst/>
              <a:rect l="l" t="t" r="r" b="b"/>
              <a:pathLst>
                <a:path w="4667250" h="36195">
                  <a:moveTo>
                    <a:pt x="0" y="0"/>
                  </a:moveTo>
                  <a:lnTo>
                    <a:pt x="114300" y="2857"/>
                  </a:lnTo>
                  <a:lnTo>
                    <a:pt x="227648" y="5715"/>
                  </a:lnTo>
                  <a:lnTo>
                    <a:pt x="341948" y="7620"/>
                  </a:lnTo>
                  <a:lnTo>
                    <a:pt x="455295" y="10477"/>
                  </a:lnTo>
                  <a:lnTo>
                    <a:pt x="569595" y="12382"/>
                  </a:lnTo>
                  <a:lnTo>
                    <a:pt x="682942" y="14288"/>
                  </a:lnTo>
                  <a:lnTo>
                    <a:pt x="797242" y="16192"/>
                  </a:lnTo>
                  <a:lnTo>
                    <a:pt x="910590" y="18097"/>
                  </a:lnTo>
                  <a:lnTo>
                    <a:pt x="1024890" y="19050"/>
                  </a:lnTo>
                  <a:lnTo>
                    <a:pt x="1138238" y="20955"/>
                  </a:lnTo>
                  <a:lnTo>
                    <a:pt x="1252538" y="21907"/>
                  </a:lnTo>
                  <a:lnTo>
                    <a:pt x="1365885" y="23812"/>
                  </a:lnTo>
                  <a:lnTo>
                    <a:pt x="1480185" y="24765"/>
                  </a:lnTo>
                  <a:lnTo>
                    <a:pt x="1593532" y="25717"/>
                  </a:lnTo>
                  <a:lnTo>
                    <a:pt x="1707832" y="26670"/>
                  </a:lnTo>
                  <a:lnTo>
                    <a:pt x="1821180" y="27622"/>
                  </a:lnTo>
                  <a:lnTo>
                    <a:pt x="1935480" y="28575"/>
                  </a:lnTo>
                  <a:lnTo>
                    <a:pt x="2048828" y="28575"/>
                  </a:lnTo>
                  <a:lnTo>
                    <a:pt x="2163128" y="29527"/>
                  </a:lnTo>
                  <a:lnTo>
                    <a:pt x="2276475" y="30480"/>
                  </a:lnTo>
                  <a:lnTo>
                    <a:pt x="2390775" y="30480"/>
                  </a:lnTo>
                  <a:lnTo>
                    <a:pt x="2504122" y="31432"/>
                  </a:lnTo>
                  <a:lnTo>
                    <a:pt x="2618422" y="31432"/>
                  </a:lnTo>
                  <a:lnTo>
                    <a:pt x="2731770" y="32385"/>
                  </a:lnTo>
                  <a:lnTo>
                    <a:pt x="2846070" y="32385"/>
                  </a:lnTo>
                  <a:lnTo>
                    <a:pt x="2959418" y="33338"/>
                  </a:lnTo>
                  <a:lnTo>
                    <a:pt x="3073718" y="33338"/>
                  </a:lnTo>
                  <a:lnTo>
                    <a:pt x="3187065" y="33338"/>
                  </a:lnTo>
                  <a:lnTo>
                    <a:pt x="3301365" y="34290"/>
                  </a:lnTo>
                  <a:lnTo>
                    <a:pt x="3414712" y="34290"/>
                  </a:lnTo>
                  <a:lnTo>
                    <a:pt x="3529012" y="34290"/>
                  </a:lnTo>
                  <a:lnTo>
                    <a:pt x="3642360" y="34290"/>
                  </a:lnTo>
                  <a:lnTo>
                    <a:pt x="3756660" y="35242"/>
                  </a:lnTo>
                  <a:lnTo>
                    <a:pt x="3870008" y="35242"/>
                  </a:lnTo>
                  <a:lnTo>
                    <a:pt x="3984307" y="35242"/>
                  </a:lnTo>
                  <a:lnTo>
                    <a:pt x="4097655" y="35242"/>
                  </a:lnTo>
                  <a:lnTo>
                    <a:pt x="4211955" y="35242"/>
                  </a:lnTo>
                  <a:lnTo>
                    <a:pt x="4325302" y="36195"/>
                  </a:lnTo>
                  <a:lnTo>
                    <a:pt x="4439602" y="36195"/>
                  </a:lnTo>
                  <a:lnTo>
                    <a:pt x="4552950" y="36195"/>
                  </a:lnTo>
                  <a:lnTo>
                    <a:pt x="4667250" y="36195"/>
                  </a:lnTo>
                </a:path>
              </a:pathLst>
            </a:custGeom>
            <a:noFill/>
            <a:ln w="19050">
              <a:solidFill>
                <a:srgbClr val="5B6B82"/>
              </a:solidFill>
              <a:round/>
            </a:ln>
          </p:spPr>
        </p:sp>
        <p:sp>
          <p:nvSpPr>
            <p:cNvPr id="12" name="Rectangle 12"/>
            <p:cNvSpPr/>
            <p:nvPr/>
          </p:nvSpPr>
          <p:spPr>
            <a:xfrm>
              <a:off x="933450" y="3476625"/>
              <a:ext cx="152400" cy="38100"/>
            </a:xfrm>
            <a:prstGeom prst="rect">
              <a:avLst/>
            </a:prstGeom>
            <a:solidFill>
              <a:srgbClr val="4AA3FF"/>
            </a:solidFill>
            <a:ln>
              <a:noFill/>
            </a:ln>
          </p:spPr>
        </p:sp>
        <p:sp>
          <p:nvSpPr>
            <p:cNvPr id="13" name="TextBox 13"/>
            <p:cNvSpPr txBox="1"/>
            <p:nvPr/>
          </p:nvSpPr>
          <p:spPr>
            <a:xfrm>
              <a:off x="1138047" y="3438049"/>
              <a:ext cx="953188" cy="190690"/>
            </a:xfrm>
            <a:prstGeom prst="rect">
              <a:avLst/>
            </a:prstGeom>
            <a:noFill/>
            <a:ln>
              <a:noFill/>
            </a:ln>
          </p:spPr>
          <p:txBody>
            <a:bodyPr wrap="none" lIns="0" tIns="0" rIns="0" bIns="0" anchor="t" anchorCtr="0">
              <a:spAutoFit/>
            </a:bodyPr>
            <a:lstStyle/>
            <a:p>
              <a:pPr algn="l"/>
              <a:r>
                <a:rPr lang="en-US" sz="980" dirty="0">
                  <a:solidFill>
                    <a:srgbClr val="9FB0C8"/>
                  </a:solidFill>
                  <a:latin typeface="+mn-lt"/>
                  <a:ea typeface="+mn-ea"/>
                  <a:cs typeface="+mn-cs"/>
                </a:rPr>
                <a:t>rollout reward</a:t>
              </a:r>
            </a:p>
          </p:txBody>
        </p:sp>
        <p:sp>
          <p:nvSpPr>
            <p:cNvPr id="14" name="Rectangle 14"/>
            <p:cNvSpPr/>
            <p:nvPr/>
          </p:nvSpPr>
          <p:spPr>
            <a:xfrm>
              <a:off x="2552700" y="3476625"/>
              <a:ext cx="152400" cy="38100"/>
            </a:xfrm>
            <a:prstGeom prst="rect">
              <a:avLst/>
            </a:prstGeom>
            <a:solidFill>
              <a:srgbClr val="5B6B82"/>
            </a:solidFill>
            <a:ln>
              <a:noFill/>
            </a:ln>
          </p:spPr>
        </p:sp>
        <p:sp>
          <p:nvSpPr>
            <p:cNvPr id="15" name="TextBox 15"/>
            <p:cNvSpPr txBox="1"/>
            <p:nvPr/>
          </p:nvSpPr>
          <p:spPr>
            <a:xfrm>
              <a:off x="2757297" y="3438049"/>
              <a:ext cx="460202" cy="190690"/>
            </a:xfrm>
            <a:prstGeom prst="rect">
              <a:avLst/>
            </a:prstGeom>
            <a:noFill/>
            <a:ln>
              <a:noFill/>
            </a:ln>
          </p:spPr>
          <p:txBody>
            <a:bodyPr wrap="none" lIns="0" tIns="0" rIns="0" bIns="0" anchor="t" anchorCtr="0">
              <a:spAutoFit/>
            </a:bodyPr>
            <a:lstStyle/>
            <a:p>
              <a:pPr algn="l"/>
              <a:r>
                <a:rPr lang="en-US" sz="980" dirty="0">
                  <a:solidFill>
                    <a:srgbClr val="9FB0C8"/>
                  </a:solidFill>
                  <a:latin typeface="+mn-lt"/>
                  <a:ea typeface="+mn-ea"/>
                  <a:cs typeface="+mn-cs"/>
                </a:rPr>
                <a:t>BC loss</a:t>
              </a:r>
            </a:p>
          </p:txBody>
        </p:sp>
        <p:sp>
          <p:nvSpPr>
            <p:cNvPr id="16" name="TextBox 16"/>
            <p:cNvSpPr txBox="1"/>
            <p:nvPr/>
          </p:nvSpPr>
          <p:spPr>
            <a:xfrm>
              <a:off x="4820526" y="3350895"/>
              <a:ext cx="784936" cy="176212"/>
            </a:xfrm>
            <a:prstGeom prst="rect">
              <a:avLst/>
            </a:prstGeom>
            <a:noFill/>
            <a:ln>
              <a:noFill/>
            </a:ln>
          </p:spPr>
          <p:txBody>
            <a:bodyPr wrap="none" lIns="0" tIns="0" rIns="0" bIns="0" anchor="t" anchorCtr="0">
              <a:spAutoFit/>
            </a:bodyPr>
            <a:lstStyle/>
            <a:p>
              <a:pPr algn="r"/>
              <a:r>
                <a:rPr lang="en-US" sz="900" dirty="0">
                  <a:solidFill>
                    <a:srgbClr val="9FB0C8"/>
                  </a:solidFill>
                  <a:latin typeface="+mn-lt"/>
                  <a:ea typeface="+mn-ea"/>
                  <a:cs typeface="+mn-cs"/>
                </a:rPr>
                <a:t>training step</a:t>
              </a:r>
            </a:p>
          </p:txBody>
        </p:sp>
      </p:grpSp>
      <p:grpSp>
        <p:nvGrpSpPr>
          <p:cNvPr id="24" name="Group 24"/>
          <p:cNvGrpSpPr/>
          <p:nvPr/>
        </p:nvGrpSpPr>
        <p:grpSpPr>
          <a:xfrm>
            <a:off x="609600" y="4076700"/>
            <a:ext cx="5334000" cy="2000250"/>
            <a:chOff x="609600" y="4076700"/>
            <a:chExt cx="5334000" cy="2000250"/>
          </a:xfrm>
        </p:grpSpPr>
        <p:sp>
          <p:nvSpPr>
            <p:cNvPr id="18" name="Rectangle 18"/>
            <p:cNvSpPr/>
            <p:nvPr/>
          </p:nvSpPr>
          <p:spPr>
            <a:xfrm>
              <a:off x="609600" y="4076700"/>
              <a:ext cx="5334000" cy="2000250"/>
            </a:xfrm>
            <a:prstGeom prst="roundRect">
              <a:avLst>
                <a:gd name="adj" fmla="val 6667"/>
              </a:avLst>
            </a:prstGeom>
            <a:solidFill>
              <a:schemeClr val="accent5"/>
            </a:solidFill>
            <a:ln w="14288">
              <a:solidFill>
                <a:schemeClr val="accent4"/>
              </a:solidFill>
            </a:ln>
          </p:spPr>
        </p:sp>
        <p:sp>
          <p:nvSpPr>
            <p:cNvPr id="19" name="Rectangle 19"/>
            <p:cNvSpPr/>
            <p:nvPr/>
          </p:nvSpPr>
          <p:spPr>
            <a:xfrm>
              <a:off x="609600" y="4210050"/>
              <a:ext cx="47625" cy="1733550"/>
            </a:xfrm>
            <a:prstGeom prst="roundRect">
              <a:avLst>
                <a:gd name="adj" fmla="val 50000"/>
              </a:avLst>
            </a:prstGeom>
            <a:solidFill>
              <a:srgbClr val="9FB0C8"/>
            </a:solidFill>
            <a:ln>
              <a:noFill/>
            </a:ln>
          </p:spPr>
        </p:sp>
        <p:sp>
          <p:nvSpPr>
            <p:cNvPr id="20" name="TextBox 20"/>
            <p:cNvSpPr txBox="1"/>
            <p:nvPr/>
          </p:nvSpPr>
          <p:spPr>
            <a:xfrm>
              <a:off x="830580" y="4295775"/>
              <a:ext cx="2046461" cy="293370"/>
            </a:xfrm>
            <a:prstGeom prst="rect">
              <a:avLst/>
            </a:prstGeom>
            <a:noFill/>
            <a:ln>
              <a:noFill/>
            </a:ln>
          </p:spPr>
          <p:txBody>
            <a:bodyPr wrap="none" lIns="0" tIns="0" rIns="0" bIns="0" anchor="t" anchorCtr="0">
              <a:spAutoFit/>
            </a:bodyPr>
            <a:lstStyle/>
            <a:p>
              <a:pPr algn="l"/>
              <a:r>
                <a:rPr lang="en-US" sz="1500" b="1" dirty="0">
                  <a:solidFill>
                    <a:srgbClr val="9FB0C8"/>
                  </a:solidFill>
                  <a:latin typeface="+mn-lt"/>
                  <a:ea typeface="+mn-ea"/>
                  <a:cs typeface="+mn-cs"/>
                </a:rPr>
                <a:t>Invisible in one step</a:t>
              </a:r>
            </a:p>
          </p:txBody>
        </p:sp>
        <p:sp>
          <p:nvSpPr>
            <p:cNvPr id="21" name="TextBox 21"/>
            <p:cNvSpPr txBox="1"/>
            <p:nvPr/>
          </p:nvSpPr>
          <p:spPr>
            <a:xfrm>
              <a:off x="831342" y="4635818"/>
              <a:ext cx="340859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That jaggedness is completely invisible</a:t>
              </a:r>
            </a:p>
          </p:txBody>
        </p:sp>
        <p:sp>
          <p:nvSpPr>
            <p:cNvPr id="22" name="TextBox 22"/>
            <p:cNvSpPr txBox="1"/>
            <p:nvPr/>
          </p:nvSpPr>
          <p:spPr>
            <a:xfrm>
              <a:off x="831342" y="4883468"/>
              <a:ext cx="289424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in the one-step behavior-cloning</a:t>
              </a:r>
            </a:p>
          </p:txBody>
        </p:sp>
        <p:sp>
          <p:nvSpPr>
            <p:cNvPr id="23" name="TextBox 23"/>
            <p:cNvSpPr txBox="1"/>
            <p:nvPr/>
          </p:nvSpPr>
          <p:spPr>
            <a:xfrm>
              <a:off x="831342" y="5131118"/>
              <a:ext cx="263072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objective you actually watch.</a:t>
              </a:r>
            </a:p>
          </p:txBody>
        </p:sp>
      </p:grpSp>
      <p:grpSp>
        <p:nvGrpSpPr>
          <p:cNvPr id="37" name="Group 37"/>
          <p:cNvGrpSpPr/>
          <p:nvPr/>
        </p:nvGrpSpPr>
        <p:grpSpPr>
          <a:xfrm>
            <a:off x="6248400" y="1428750"/>
            <a:ext cx="5334000" cy="2381250"/>
            <a:chOff x="6248400" y="1428750"/>
            <a:chExt cx="5334000" cy="2381250"/>
          </a:xfrm>
        </p:grpSpPr>
        <p:sp>
          <p:nvSpPr>
            <p:cNvPr id="25" name="Rectangle 25"/>
            <p:cNvSpPr/>
            <p:nvPr/>
          </p:nvSpPr>
          <p:spPr>
            <a:xfrm>
              <a:off x="6248400" y="1428750"/>
              <a:ext cx="5334000" cy="2381250"/>
            </a:xfrm>
            <a:prstGeom prst="roundRect">
              <a:avLst>
                <a:gd name="adj" fmla="val 5600"/>
              </a:avLst>
            </a:prstGeom>
            <a:solidFill>
              <a:schemeClr val="accent5"/>
            </a:solidFill>
            <a:ln w="14288">
              <a:solidFill>
                <a:schemeClr val="accent4"/>
              </a:solidFill>
            </a:ln>
          </p:spPr>
        </p:sp>
        <p:sp>
          <p:nvSpPr>
            <p:cNvPr id="26" name="Rectangle 26"/>
            <p:cNvSpPr/>
            <p:nvPr/>
          </p:nvSpPr>
          <p:spPr>
            <a:xfrm>
              <a:off x="6248400" y="1562100"/>
              <a:ext cx="47625" cy="2114550"/>
            </a:xfrm>
            <a:prstGeom prst="roundRect">
              <a:avLst>
                <a:gd name="adj" fmla="val 50000"/>
              </a:avLst>
            </a:prstGeom>
            <a:solidFill>
              <a:srgbClr val="34D399"/>
            </a:solidFill>
            <a:ln>
              <a:noFill/>
            </a:ln>
          </p:spPr>
        </p:sp>
        <p:sp>
          <p:nvSpPr>
            <p:cNvPr id="27" name="TextBox 27"/>
            <p:cNvSpPr txBox="1"/>
            <p:nvPr/>
          </p:nvSpPr>
          <p:spPr>
            <a:xfrm>
              <a:off x="6470142" y="1644968"/>
              <a:ext cx="3714485" cy="264033"/>
            </a:xfrm>
            <a:prstGeom prst="rect">
              <a:avLst/>
            </a:prstGeom>
            <a:noFill/>
            <a:ln>
              <a:noFill/>
            </a:ln>
          </p:spPr>
          <p:txBody>
            <a:bodyPr wrap="none" lIns="0" tIns="0" rIns="0" bIns="0" anchor="t" anchorCtr="0">
              <a:spAutoFit/>
            </a:bodyPr>
            <a:lstStyle/>
            <a:p>
              <a:pPr algn="l"/>
              <a:r>
                <a:rPr lang="en-US" sz="1350" b="1" dirty="0">
                  <a:solidFill>
                    <a:srgbClr val="34D399"/>
                  </a:solidFill>
                  <a:latin typeface="+mn-lt"/>
                  <a:ea typeface="+mn-ea"/>
                  <a:cs typeface="+mn-cs"/>
                </a:rPr>
                <a:t>EMA dramatically damps the oscillations</a:t>
              </a:r>
            </a:p>
          </p:txBody>
        </p:sp>
        <p:sp>
          <p:nvSpPr>
            <p:cNvPr id="28" name="Line 28"/>
            <p:cNvSpPr/>
            <p:nvPr/>
          </p:nvSpPr>
          <p:spPr>
            <a:xfrm>
              <a:off x="6572250" y="3257550"/>
              <a:ext cx="4667250" cy="9525"/>
            </a:xfrm>
            <a:custGeom>
              <a:avLst/>
              <a:gdLst/>
              <a:ahLst/>
              <a:cxnLst/>
              <a:rect l="l" t="t" r="r" b="b"/>
              <a:pathLst>
                <a:path w="4667250" h="9525">
                  <a:moveTo>
                    <a:pt x="0" y="0"/>
                  </a:moveTo>
                  <a:lnTo>
                    <a:pt x="4667250" y="0"/>
                  </a:lnTo>
                </a:path>
              </a:pathLst>
            </a:custGeom>
            <a:noFill/>
            <a:ln w="14288">
              <a:solidFill>
                <a:schemeClr val="accent4"/>
              </a:solidFill>
            </a:ln>
          </p:spPr>
        </p:sp>
        <p:sp>
          <p:nvSpPr>
            <p:cNvPr id="29" name="Line 29"/>
            <p:cNvSpPr/>
            <p:nvPr/>
          </p:nvSpPr>
          <p:spPr>
            <a:xfrm>
              <a:off x="6572250" y="2000250"/>
              <a:ext cx="9525" cy="1257300"/>
            </a:xfrm>
            <a:custGeom>
              <a:avLst/>
              <a:gdLst/>
              <a:ahLst/>
              <a:cxnLst/>
              <a:rect l="l" t="t" r="r" b="b"/>
              <a:pathLst>
                <a:path w="9525" h="1257300">
                  <a:moveTo>
                    <a:pt x="0" y="0"/>
                  </a:moveTo>
                  <a:lnTo>
                    <a:pt x="0" y="1257300"/>
                  </a:lnTo>
                </a:path>
              </a:pathLst>
            </a:custGeom>
            <a:noFill/>
            <a:ln w="14288">
              <a:solidFill>
                <a:schemeClr val="accent4"/>
              </a:solidFill>
            </a:ln>
          </p:spPr>
        </p:sp>
        <p:sp>
          <p:nvSpPr>
            <p:cNvPr id="30" name="Polyline 30"/>
            <p:cNvSpPr/>
            <p:nvPr/>
          </p:nvSpPr>
          <p:spPr>
            <a:xfrm>
              <a:off x="6572250" y="2188845"/>
              <a:ext cx="4667250" cy="347662"/>
            </a:xfrm>
            <a:custGeom>
              <a:avLst/>
              <a:gdLst/>
              <a:ahLst/>
              <a:cxnLst/>
              <a:rect l="l" t="t" r="r" b="b"/>
              <a:pathLst>
                <a:path w="4667250" h="347662">
                  <a:moveTo>
                    <a:pt x="0" y="239077"/>
                  </a:moveTo>
                  <a:lnTo>
                    <a:pt x="114300" y="0"/>
                  </a:lnTo>
                  <a:lnTo>
                    <a:pt x="227647" y="43815"/>
                  </a:lnTo>
                  <a:lnTo>
                    <a:pt x="341947" y="201930"/>
                  </a:lnTo>
                  <a:lnTo>
                    <a:pt x="455295" y="231457"/>
                  </a:lnTo>
                  <a:lnTo>
                    <a:pt x="569595" y="147638"/>
                  </a:lnTo>
                  <a:lnTo>
                    <a:pt x="682943" y="132397"/>
                  </a:lnTo>
                  <a:lnTo>
                    <a:pt x="797243" y="240982"/>
                  </a:lnTo>
                  <a:lnTo>
                    <a:pt x="910590" y="347662"/>
                  </a:lnTo>
                  <a:lnTo>
                    <a:pt x="1024890" y="340042"/>
                  </a:lnTo>
                  <a:lnTo>
                    <a:pt x="1138238" y="264795"/>
                  </a:lnTo>
                  <a:lnTo>
                    <a:pt x="1252538" y="230505"/>
                  </a:lnTo>
                  <a:lnTo>
                    <a:pt x="1365885" y="256222"/>
                  </a:lnTo>
                  <a:lnTo>
                    <a:pt x="1480185" y="271462"/>
                  </a:lnTo>
                  <a:lnTo>
                    <a:pt x="1593532" y="237172"/>
                  </a:lnTo>
                  <a:lnTo>
                    <a:pt x="1707832" y="192405"/>
                  </a:lnTo>
                  <a:lnTo>
                    <a:pt x="1821180" y="191452"/>
                  </a:lnTo>
                  <a:lnTo>
                    <a:pt x="1935480" y="224790"/>
                  </a:lnTo>
                  <a:lnTo>
                    <a:pt x="2048828" y="247650"/>
                  </a:lnTo>
                  <a:lnTo>
                    <a:pt x="2163128" y="240982"/>
                  </a:lnTo>
                  <a:lnTo>
                    <a:pt x="2276475" y="231457"/>
                  </a:lnTo>
                  <a:lnTo>
                    <a:pt x="2390775" y="240030"/>
                  </a:lnTo>
                  <a:lnTo>
                    <a:pt x="2504122" y="257175"/>
                  </a:lnTo>
                  <a:lnTo>
                    <a:pt x="2618422" y="259080"/>
                  </a:lnTo>
                  <a:lnTo>
                    <a:pt x="2731770" y="245745"/>
                  </a:lnTo>
                  <a:lnTo>
                    <a:pt x="2846070" y="233362"/>
                  </a:lnTo>
                  <a:lnTo>
                    <a:pt x="2959418" y="234315"/>
                  </a:lnTo>
                  <a:lnTo>
                    <a:pt x="3073718" y="240030"/>
                  </a:lnTo>
                  <a:lnTo>
                    <a:pt x="3187065" y="238125"/>
                  </a:lnTo>
                  <a:lnTo>
                    <a:pt x="3301365" y="232410"/>
                  </a:lnTo>
                  <a:lnTo>
                    <a:pt x="3414712" y="230505"/>
                  </a:lnTo>
                  <a:lnTo>
                    <a:pt x="3529012" y="236220"/>
                  </a:lnTo>
                  <a:lnTo>
                    <a:pt x="3642360" y="241935"/>
                  </a:lnTo>
                  <a:lnTo>
                    <a:pt x="3756660" y="241935"/>
                  </a:lnTo>
                  <a:lnTo>
                    <a:pt x="3870007" y="240030"/>
                  </a:lnTo>
                  <a:lnTo>
                    <a:pt x="3984307" y="239077"/>
                  </a:lnTo>
                  <a:lnTo>
                    <a:pt x="4097655" y="240982"/>
                  </a:lnTo>
                  <a:lnTo>
                    <a:pt x="4211955" y="241935"/>
                  </a:lnTo>
                  <a:lnTo>
                    <a:pt x="4325302" y="240030"/>
                  </a:lnTo>
                  <a:lnTo>
                    <a:pt x="4439602" y="237172"/>
                  </a:lnTo>
                  <a:lnTo>
                    <a:pt x="4552950" y="237172"/>
                  </a:lnTo>
                  <a:lnTo>
                    <a:pt x="4667250" y="238125"/>
                  </a:lnTo>
                </a:path>
              </a:pathLst>
            </a:custGeom>
            <a:noFill/>
            <a:ln w="26670">
              <a:solidFill>
                <a:srgbClr val="34D399"/>
              </a:solidFill>
              <a:round/>
            </a:ln>
          </p:spPr>
        </p:sp>
        <p:sp>
          <p:nvSpPr>
            <p:cNvPr id="31" name="Polyline 31"/>
            <p:cNvSpPr/>
            <p:nvPr/>
          </p:nvSpPr>
          <p:spPr>
            <a:xfrm>
              <a:off x="6572250" y="3044190"/>
              <a:ext cx="4667250" cy="36195"/>
            </a:xfrm>
            <a:custGeom>
              <a:avLst/>
              <a:gdLst/>
              <a:ahLst/>
              <a:cxnLst/>
              <a:rect l="l" t="t" r="r" b="b"/>
              <a:pathLst>
                <a:path w="4667250" h="36195">
                  <a:moveTo>
                    <a:pt x="0" y="0"/>
                  </a:moveTo>
                  <a:lnTo>
                    <a:pt x="114300" y="2857"/>
                  </a:lnTo>
                  <a:lnTo>
                    <a:pt x="227647" y="5715"/>
                  </a:lnTo>
                  <a:lnTo>
                    <a:pt x="341947" y="7620"/>
                  </a:lnTo>
                  <a:lnTo>
                    <a:pt x="455295" y="10477"/>
                  </a:lnTo>
                  <a:lnTo>
                    <a:pt x="569595" y="12382"/>
                  </a:lnTo>
                  <a:lnTo>
                    <a:pt x="682943" y="14288"/>
                  </a:lnTo>
                  <a:lnTo>
                    <a:pt x="797243" y="16192"/>
                  </a:lnTo>
                  <a:lnTo>
                    <a:pt x="910590" y="18097"/>
                  </a:lnTo>
                  <a:lnTo>
                    <a:pt x="1024890" y="19050"/>
                  </a:lnTo>
                  <a:lnTo>
                    <a:pt x="1138238" y="20955"/>
                  </a:lnTo>
                  <a:lnTo>
                    <a:pt x="1252538" y="21907"/>
                  </a:lnTo>
                  <a:lnTo>
                    <a:pt x="1365885" y="23812"/>
                  </a:lnTo>
                  <a:lnTo>
                    <a:pt x="1480185" y="24765"/>
                  </a:lnTo>
                  <a:lnTo>
                    <a:pt x="1593532" y="25717"/>
                  </a:lnTo>
                  <a:lnTo>
                    <a:pt x="1707832" y="26670"/>
                  </a:lnTo>
                  <a:lnTo>
                    <a:pt x="1821180" y="27622"/>
                  </a:lnTo>
                  <a:lnTo>
                    <a:pt x="1935480" y="28575"/>
                  </a:lnTo>
                  <a:lnTo>
                    <a:pt x="2048828" y="28575"/>
                  </a:lnTo>
                  <a:lnTo>
                    <a:pt x="2163128" y="29527"/>
                  </a:lnTo>
                  <a:lnTo>
                    <a:pt x="2276475" y="30480"/>
                  </a:lnTo>
                  <a:lnTo>
                    <a:pt x="2390775" y="30480"/>
                  </a:lnTo>
                  <a:lnTo>
                    <a:pt x="2504122" y="31432"/>
                  </a:lnTo>
                  <a:lnTo>
                    <a:pt x="2618422" y="31432"/>
                  </a:lnTo>
                  <a:lnTo>
                    <a:pt x="2731770" y="32385"/>
                  </a:lnTo>
                  <a:lnTo>
                    <a:pt x="2846070" y="32385"/>
                  </a:lnTo>
                  <a:lnTo>
                    <a:pt x="2959418" y="33338"/>
                  </a:lnTo>
                  <a:lnTo>
                    <a:pt x="3073718" y="33338"/>
                  </a:lnTo>
                  <a:lnTo>
                    <a:pt x="3187065" y="33338"/>
                  </a:lnTo>
                  <a:lnTo>
                    <a:pt x="3301365" y="34290"/>
                  </a:lnTo>
                  <a:lnTo>
                    <a:pt x="3414712" y="34290"/>
                  </a:lnTo>
                  <a:lnTo>
                    <a:pt x="3529012" y="34290"/>
                  </a:lnTo>
                  <a:lnTo>
                    <a:pt x="3642360" y="34290"/>
                  </a:lnTo>
                  <a:lnTo>
                    <a:pt x="3756660" y="35242"/>
                  </a:lnTo>
                  <a:lnTo>
                    <a:pt x="3870007" y="35242"/>
                  </a:lnTo>
                  <a:lnTo>
                    <a:pt x="3984307" y="35242"/>
                  </a:lnTo>
                  <a:lnTo>
                    <a:pt x="4097655" y="35242"/>
                  </a:lnTo>
                  <a:lnTo>
                    <a:pt x="4211955" y="35242"/>
                  </a:lnTo>
                  <a:lnTo>
                    <a:pt x="4325302" y="36195"/>
                  </a:lnTo>
                  <a:lnTo>
                    <a:pt x="4439602" y="36195"/>
                  </a:lnTo>
                  <a:lnTo>
                    <a:pt x="4552950" y="36195"/>
                  </a:lnTo>
                  <a:lnTo>
                    <a:pt x="4667250" y="36195"/>
                  </a:lnTo>
                </a:path>
              </a:pathLst>
            </a:custGeom>
            <a:noFill/>
            <a:ln w="19050">
              <a:solidFill>
                <a:srgbClr val="5B6B82"/>
              </a:solidFill>
              <a:round/>
            </a:ln>
          </p:spPr>
        </p:sp>
        <p:sp>
          <p:nvSpPr>
            <p:cNvPr id="32" name="Rectangle 32"/>
            <p:cNvSpPr/>
            <p:nvPr/>
          </p:nvSpPr>
          <p:spPr>
            <a:xfrm>
              <a:off x="6572250" y="3476625"/>
              <a:ext cx="152400" cy="38100"/>
            </a:xfrm>
            <a:prstGeom prst="rect">
              <a:avLst/>
            </a:prstGeom>
            <a:solidFill>
              <a:srgbClr val="34D399"/>
            </a:solidFill>
            <a:ln>
              <a:noFill/>
            </a:ln>
          </p:spPr>
        </p:sp>
        <p:sp>
          <p:nvSpPr>
            <p:cNvPr id="33" name="TextBox 33"/>
            <p:cNvSpPr txBox="1"/>
            <p:nvPr/>
          </p:nvSpPr>
          <p:spPr>
            <a:xfrm>
              <a:off x="6776847" y="3438049"/>
              <a:ext cx="953188" cy="190690"/>
            </a:xfrm>
            <a:prstGeom prst="rect">
              <a:avLst/>
            </a:prstGeom>
            <a:noFill/>
            <a:ln>
              <a:noFill/>
            </a:ln>
          </p:spPr>
          <p:txBody>
            <a:bodyPr wrap="none" lIns="0" tIns="0" rIns="0" bIns="0" anchor="t" anchorCtr="0">
              <a:spAutoFit/>
            </a:bodyPr>
            <a:lstStyle/>
            <a:p>
              <a:pPr algn="l"/>
              <a:r>
                <a:rPr lang="en-US" sz="980" dirty="0">
                  <a:solidFill>
                    <a:srgbClr val="9FB0C8"/>
                  </a:solidFill>
                  <a:latin typeface="+mn-lt"/>
                  <a:ea typeface="+mn-ea"/>
                  <a:cs typeface="+mn-cs"/>
                </a:rPr>
                <a:t>rollout reward</a:t>
              </a:r>
            </a:p>
          </p:txBody>
        </p:sp>
        <p:sp>
          <p:nvSpPr>
            <p:cNvPr id="34" name="Rectangle 34"/>
            <p:cNvSpPr/>
            <p:nvPr/>
          </p:nvSpPr>
          <p:spPr>
            <a:xfrm>
              <a:off x="8191500" y="3476625"/>
              <a:ext cx="152400" cy="38100"/>
            </a:xfrm>
            <a:prstGeom prst="rect">
              <a:avLst/>
            </a:prstGeom>
            <a:solidFill>
              <a:srgbClr val="5B6B82"/>
            </a:solidFill>
            <a:ln>
              <a:noFill/>
            </a:ln>
          </p:spPr>
        </p:sp>
        <p:sp>
          <p:nvSpPr>
            <p:cNvPr id="35" name="TextBox 35"/>
            <p:cNvSpPr txBox="1"/>
            <p:nvPr/>
          </p:nvSpPr>
          <p:spPr>
            <a:xfrm>
              <a:off x="8396097" y="3438049"/>
              <a:ext cx="460202" cy="190690"/>
            </a:xfrm>
            <a:prstGeom prst="rect">
              <a:avLst/>
            </a:prstGeom>
            <a:noFill/>
            <a:ln>
              <a:noFill/>
            </a:ln>
          </p:spPr>
          <p:txBody>
            <a:bodyPr wrap="none" lIns="0" tIns="0" rIns="0" bIns="0" anchor="t" anchorCtr="0">
              <a:spAutoFit/>
            </a:bodyPr>
            <a:lstStyle/>
            <a:p>
              <a:pPr algn="l"/>
              <a:r>
                <a:rPr lang="en-US" sz="980" dirty="0">
                  <a:solidFill>
                    <a:srgbClr val="9FB0C8"/>
                  </a:solidFill>
                  <a:latin typeface="+mn-lt"/>
                  <a:ea typeface="+mn-ea"/>
                  <a:cs typeface="+mn-cs"/>
                </a:rPr>
                <a:t>BC loss</a:t>
              </a:r>
            </a:p>
          </p:txBody>
        </p:sp>
        <p:sp>
          <p:nvSpPr>
            <p:cNvPr id="36" name="TextBox 36"/>
            <p:cNvSpPr txBox="1"/>
            <p:nvPr/>
          </p:nvSpPr>
          <p:spPr>
            <a:xfrm>
              <a:off x="10459326" y="3350895"/>
              <a:ext cx="784936" cy="176212"/>
            </a:xfrm>
            <a:prstGeom prst="rect">
              <a:avLst/>
            </a:prstGeom>
            <a:noFill/>
            <a:ln>
              <a:noFill/>
            </a:ln>
          </p:spPr>
          <p:txBody>
            <a:bodyPr wrap="none" lIns="0" tIns="0" rIns="0" bIns="0" anchor="t" anchorCtr="0">
              <a:spAutoFit/>
            </a:bodyPr>
            <a:lstStyle/>
            <a:p>
              <a:pPr algn="r"/>
              <a:r>
                <a:rPr lang="en-US" sz="900" dirty="0">
                  <a:solidFill>
                    <a:srgbClr val="9FB0C8"/>
                  </a:solidFill>
                  <a:latin typeface="+mn-lt"/>
                  <a:ea typeface="+mn-ea"/>
                  <a:cs typeface="+mn-cs"/>
                </a:rPr>
                <a:t>training step</a:t>
              </a:r>
            </a:p>
          </p:txBody>
        </p:sp>
      </p:grpSp>
      <p:grpSp>
        <p:nvGrpSpPr>
          <p:cNvPr id="45" name="Group 45"/>
          <p:cNvGrpSpPr/>
          <p:nvPr/>
        </p:nvGrpSpPr>
        <p:grpSpPr>
          <a:xfrm>
            <a:off x="6248400" y="4076700"/>
            <a:ext cx="5334000" cy="2000250"/>
            <a:chOff x="6248400" y="4076700"/>
            <a:chExt cx="5334000" cy="2000250"/>
          </a:xfrm>
        </p:grpSpPr>
        <p:sp>
          <p:nvSpPr>
            <p:cNvPr id="38" name="Rectangle 38"/>
            <p:cNvSpPr/>
            <p:nvPr/>
          </p:nvSpPr>
          <p:spPr>
            <a:xfrm>
              <a:off x="6248400" y="4076700"/>
              <a:ext cx="5334000" cy="2000250"/>
            </a:xfrm>
            <a:prstGeom prst="roundRect">
              <a:avLst>
                <a:gd name="adj" fmla="val 6667"/>
              </a:avLst>
            </a:prstGeom>
            <a:solidFill>
              <a:schemeClr val="accent5"/>
            </a:solidFill>
            <a:ln w="14288">
              <a:solidFill>
                <a:schemeClr val="accent4"/>
              </a:solidFill>
            </a:ln>
          </p:spPr>
        </p:sp>
        <p:sp>
          <p:nvSpPr>
            <p:cNvPr id="39" name="Rectangle 39"/>
            <p:cNvSpPr/>
            <p:nvPr/>
          </p:nvSpPr>
          <p:spPr>
            <a:xfrm>
              <a:off x="6248400" y="4210050"/>
              <a:ext cx="47625" cy="1733550"/>
            </a:xfrm>
            <a:prstGeom prst="roundRect">
              <a:avLst>
                <a:gd name="adj" fmla="val 50000"/>
              </a:avLst>
            </a:prstGeom>
            <a:solidFill>
              <a:srgbClr val="A78BFA"/>
            </a:solidFill>
            <a:ln>
              <a:noFill/>
            </a:ln>
          </p:spPr>
        </p:sp>
        <p:sp>
          <p:nvSpPr>
            <p:cNvPr id="40" name="TextBox 40"/>
            <p:cNvSpPr txBox="1"/>
            <p:nvPr/>
          </p:nvSpPr>
          <p:spPr>
            <a:xfrm>
              <a:off x="6469380" y="4295775"/>
              <a:ext cx="2471077" cy="293370"/>
            </a:xfrm>
            <a:prstGeom prst="rect">
              <a:avLst/>
            </a:prstGeom>
            <a:noFill/>
            <a:ln>
              <a:noFill/>
            </a:ln>
          </p:spPr>
          <p:txBody>
            <a:bodyPr wrap="none" lIns="0" tIns="0" rIns="0" bIns="0" anchor="t" anchorCtr="0">
              <a:spAutoFit/>
            </a:bodyPr>
            <a:lstStyle/>
            <a:p>
              <a:pPr algn="l"/>
              <a:r>
                <a:rPr lang="en-US" sz="1500" b="1" dirty="0">
                  <a:solidFill>
                    <a:srgbClr val="A78BFA"/>
                  </a:solidFill>
                  <a:latin typeface="+mn-lt"/>
                  <a:ea typeface="+mn-ea"/>
                  <a:cs typeface="+mn-cs"/>
                </a:rPr>
                <a:t>Same in language models</a:t>
              </a:r>
            </a:p>
          </p:txBody>
        </p:sp>
        <p:sp>
          <p:nvSpPr>
            <p:cNvPr id="41" name="TextBox 41"/>
            <p:cNvSpPr txBox="1"/>
            <p:nvPr/>
          </p:nvSpPr>
          <p:spPr>
            <a:xfrm>
              <a:off x="6470142" y="4635818"/>
              <a:ext cx="363613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Two near-identical checkpoints generate</a:t>
              </a:r>
            </a:p>
          </p:txBody>
        </p:sp>
        <p:sp>
          <p:nvSpPr>
            <p:cNvPr id="42" name="TextBox 42"/>
            <p:cNvSpPr txBox="1"/>
            <p:nvPr/>
          </p:nvSpPr>
          <p:spPr>
            <a:xfrm>
              <a:off x="6470142" y="4883468"/>
              <a:ext cx="35090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totally different stories. Here too the</a:t>
              </a:r>
            </a:p>
          </p:txBody>
        </p:sp>
        <p:sp>
          <p:nvSpPr>
            <p:cNvPr id="43" name="TextBox 43"/>
            <p:cNvSpPr txBox="1"/>
            <p:nvPr/>
          </p:nvSpPr>
          <p:spPr>
            <a:xfrm>
              <a:off x="6470142" y="5131118"/>
              <a:ext cx="343037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moving average tames the instability —</a:t>
              </a:r>
            </a:p>
          </p:txBody>
        </p:sp>
        <p:sp>
          <p:nvSpPr>
            <p:cNvPr id="44" name="TextBox 44"/>
            <p:cNvSpPr txBox="1"/>
            <p:nvPr/>
          </p:nvSpPr>
          <p:spPr>
            <a:xfrm>
              <a:off x="6470142" y="5378768"/>
              <a:ext cx="353032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and yields the lowest-perplexity model.</a:t>
              </a:r>
            </a:p>
          </p:txBody>
        </p:sp>
      </p:grpSp>
      <p:sp>
        <p:nvSpPr>
          <p:cNvPr id="46" name="cue_s07_c1_headline_finding_striking_plotting_r" title="cue_s07_c1_headline_finding_striking_plotting_r" descr="cue_s07_c1_headline_finding_striking_plotting_r The headline finding is striking. Plotting rollout reward against training step reveals dramatic swings between consecutive iterates, and zooming in shows a jagged, almost fractal reward landscape, all while the behavior cloning loss sits flat and smooth."/>
          <p:cNvSpPr/>
          <p:nvPr/>
        </p:nvSpPr>
        <p:spPr>
          <a:xfrm>
            <a:off x="609600" y="1428521"/>
            <a:ext cx="5686348"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7_c2_jaggedness_completely_invisible_one" title="cue_s07_c2_jaggedness_completely_invisible_one" descr="cue_s07_c2_jaggedness_completely_invisible_one That jaggedness is completely invisible in the one-step objective."/>
          <p:cNvSpPr/>
          <p:nvPr/>
        </p:nvSpPr>
        <p:spPr>
          <a:xfrm>
            <a:off x="609600" y="4076395"/>
            <a:ext cx="533400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7_c3_now_apply_exponential_moving_average" title="cue_s07_c3_now_apply_exponential_moving_average" descr="cue_s07_c3_now_apply_exponential_moving_average Now apply the exponential moving average, and those oscillations are dramatically damped, across architectures, dataset sizes, and multiple tasks, with no change to the learning rate schedule or batch size."/>
          <p:cNvSpPr/>
          <p:nvPr/>
        </p:nvSpPr>
        <p:spPr>
          <a:xfrm>
            <a:off x="6248399" y="1428521"/>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4_same_butterfly_effect_shows_language" title="cue_s07_c4_same_butterfly_effect_shows_language" descr="cue_s07_c4_same_butterfly_effect_shows_language And the same butterfly effect shows up in language generation, where two nearly identical training checkpoints produce stories that diverge into totally different plots. Here too the moving average tames the instability and even yields the lowest-perplexity mo"/>
          <p:cNvSpPr/>
          <p:nvPr/>
        </p:nvSpPr>
        <p:spPr>
          <a:xfrm>
            <a:off x="6248399" y="4076395"/>
            <a:ext cx="533400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381000"/>
          </a:xfrm>
          <a:prstGeom prst="roundRect">
            <a:avLst>
              <a:gd name="adj" fmla="val 50000"/>
            </a:avLst>
          </a:prstGeom>
          <a:solidFill>
            <a:srgbClr val="4AA3FF"/>
          </a:solidFill>
          <a:ln>
            <a:noFill/>
          </a:ln>
        </p:spPr>
        <p:txBody>
          <a:bodyPr/>
          <a:p/>
        </p:txBody>
      </p:sp>
      <p:sp>
        <p:nvSpPr>
          <p:cNvPr id="3" name="TextBox 3"/>
          <p:cNvSpPr txBox="1"/>
          <p:nvPr/>
        </p:nvSpPr>
        <p:spPr>
          <a:xfrm>
            <a:off x="813435" y="545306"/>
            <a:ext cx="1484809" cy="220028"/>
          </a:xfrm>
          <a:prstGeom prst="rect">
            <a:avLst/>
          </a:prstGeom>
          <a:noFill/>
          <a:ln>
            <a:noFill/>
          </a:ln>
        </p:spPr>
        <p:txBody>
          <a:bodyPr wrap="none" lIns="0" tIns="0" rIns="0" bIns="0" anchor="t" anchorCtr="0">
            <a:spAutoFit/>
          </a:bodyPr>
          <a:lstStyle/>
          <a:p>
            <a:pPr algn="l"/>
            <a:r>
              <a:rPr lang="en-US" sz="1120" b="1" spc="150" dirty="0">
                <a:solidFill>
                  <a:srgbClr val="9FB0C8"/>
                </a:solidFill>
                <a:latin typeface="+mn-lt"/>
                <a:ea typeface="+mn-ea"/>
                <a:cs typeface="+mn-cs"/>
              </a:rPr>
              <a:t>07 · ABLATIONS</a:t>
            </a:r>
          </a:p>
        </p:txBody>
      </p:sp>
      <p:sp>
        <p:nvSpPr>
          <p:cNvPr id="4" name="TextBox 4"/>
          <p:cNvSpPr txBox="1"/>
          <p:nvPr/>
        </p:nvSpPr>
        <p:spPr>
          <a:xfrm>
            <a:off x="807339" y="739616"/>
            <a:ext cx="5002643" cy="454724"/>
          </a:xfrm>
          <a:prstGeom prst="rect">
            <a:avLst/>
          </a:prstGeom>
          <a:noFill/>
          <a:ln>
            <a:noFill/>
          </a:ln>
        </p:spPr>
        <p:txBody>
          <a:bodyPr wrap="none" lIns="0" tIns="0" rIns="0" bIns="0" anchor="t" anchorCtr="0">
            <a:spAutoFit/>
          </a:bodyPr>
          <a:lstStyle/>
          <a:p>
            <a:pPr algn="l"/>
            <a:r>
              <a:rPr lang="en-US" sz="2320" b="1" dirty="0">
                <a:solidFill>
                  <a:schemeClr val="dk1"/>
                </a:solidFill>
                <a:latin typeface="+mn-lt"/>
                <a:ea typeface="+mn-ea"/>
                <a:cs typeface="+mn-cs"/>
              </a:rPr>
              <a:t>What makes the diagnosis stick</a:t>
            </a:r>
          </a:p>
        </p:txBody>
      </p:sp>
      <p:grpSp>
        <p:nvGrpSpPr>
          <p:cNvPr id="12" name="Group 12"/>
          <p:cNvGrpSpPr/>
          <p:nvPr/>
        </p:nvGrpSpPr>
        <p:grpSpPr>
          <a:xfrm>
            <a:off x="609600" y="1428750"/>
            <a:ext cx="5334000" cy="2190750"/>
            <a:chOff x="609600" y="1428750"/>
            <a:chExt cx="5334000" cy="2190750"/>
          </a:xfrm>
        </p:grpSpPr>
        <p:sp>
          <p:nvSpPr>
            <p:cNvPr id="5" name="Rectangle 5"/>
            <p:cNvSpPr/>
            <p:nvPr/>
          </p:nvSpPr>
          <p:spPr>
            <a:xfrm>
              <a:off x="609600" y="1428750"/>
              <a:ext cx="5334000" cy="2190750"/>
            </a:xfrm>
            <a:prstGeom prst="roundRect">
              <a:avLst>
                <a:gd name="adj" fmla="val 6087"/>
              </a:avLst>
            </a:prstGeom>
            <a:solidFill>
              <a:schemeClr val="accent5"/>
            </a:solidFill>
            <a:ln w="14288">
              <a:solidFill>
                <a:schemeClr val="accent4"/>
              </a:solidFill>
            </a:ln>
          </p:spPr>
        </p:sp>
        <p:sp>
          <p:nvSpPr>
            <p:cNvPr id="6" name="Rectangle 6"/>
            <p:cNvSpPr/>
            <p:nvPr/>
          </p:nvSpPr>
          <p:spPr>
            <a:xfrm>
              <a:off x="609600" y="1562100"/>
              <a:ext cx="47625" cy="1924050"/>
            </a:xfrm>
            <a:prstGeom prst="roundRect">
              <a:avLst>
                <a:gd name="adj" fmla="val 50000"/>
              </a:avLst>
            </a:prstGeom>
            <a:solidFill>
              <a:srgbClr val="4AA3FF"/>
            </a:solidFill>
            <a:ln>
              <a:noFill/>
            </a:ln>
          </p:spPr>
        </p:sp>
        <p:sp>
          <p:nvSpPr>
            <p:cNvPr id="7" name="TextBox 7"/>
            <p:cNvSpPr txBox="1"/>
            <p:nvPr/>
          </p:nvSpPr>
          <p:spPr>
            <a:xfrm>
              <a:off x="830580" y="1647825"/>
              <a:ext cx="2078024" cy="293370"/>
            </a:xfrm>
            <a:prstGeom prst="rect">
              <a:avLst/>
            </a:prstGeom>
            <a:noFill/>
            <a:ln>
              <a:noFill/>
            </a:ln>
          </p:spPr>
          <p:txBody>
            <a:bodyPr wrap="none" lIns="0" tIns="0" rIns="0" bIns="0" anchor="t" anchorCtr="0">
              <a:spAutoFit/>
            </a:bodyPr>
            <a:lstStyle/>
            <a:p>
              <a:pPr algn="l"/>
              <a:r>
                <a:rPr lang="en-US" sz="1500" b="1" dirty="0">
                  <a:solidFill>
                    <a:srgbClr val="4AA3FF"/>
                  </a:solidFill>
                  <a:latin typeface="+mn-lt"/>
                  <a:ea typeface="+mn-ea"/>
                  <a:cs typeface="+mn-cs"/>
                </a:rPr>
                <a:t>Oscillations persist</a:t>
              </a:r>
            </a:p>
          </p:txBody>
        </p:sp>
        <p:sp>
          <p:nvSpPr>
            <p:cNvPr id="8" name="TextBox 8"/>
            <p:cNvSpPr txBox="1"/>
            <p:nvPr/>
          </p:nvSpPr>
          <p:spPr>
            <a:xfrm>
              <a:off x="831342" y="1987868"/>
              <a:ext cx="370246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Vary the dataset size, swap an MLP for a</a:t>
              </a:r>
            </a:p>
          </p:txBody>
        </p:sp>
        <p:sp>
          <p:nvSpPr>
            <p:cNvPr id="9" name="TextBox 9"/>
            <p:cNvSpPr txBox="1"/>
            <p:nvPr/>
          </p:nvSpPr>
          <p:spPr>
            <a:xfrm>
              <a:off x="831342" y="2235518"/>
              <a:ext cx="337330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Transformer, scale the model, or add</a:t>
              </a:r>
            </a:p>
          </p:txBody>
        </p:sp>
        <p:sp>
          <p:nvSpPr>
            <p:cNvPr id="10" name="TextBox 10"/>
            <p:cNvSpPr txBox="1"/>
            <p:nvPr/>
          </p:nvSpPr>
          <p:spPr>
            <a:xfrm>
              <a:off x="831342" y="2483168"/>
              <a:ext cx="330315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regularizers — the oscillations simply</a:t>
              </a:r>
            </a:p>
          </p:txBody>
        </p:sp>
        <p:sp>
          <p:nvSpPr>
            <p:cNvPr id="11" name="TextBox 11"/>
            <p:cNvSpPr txBox="1"/>
            <p:nvPr/>
          </p:nvSpPr>
          <p:spPr>
            <a:xfrm>
              <a:off x="831342" y="2730818"/>
              <a:ext cx="17129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refuse to go away.</a:t>
              </a:r>
            </a:p>
          </p:txBody>
        </p:sp>
      </p:grpSp>
      <p:grpSp>
        <p:nvGrpSpPr>
          <p:cNvPr id="20" name="Group 20"/>
          <p:cNvGrpSpPr/>
          <p:nvPr/>
        </p:nvGrpSpPr>
        <p:grpSpPr>
          <a:xfrm>
            <a:off x="609600" y="3886200"/>
            <a:ext cx="5334000" cy="2190750"/>
            <a:chOff x="609600" y="3886200"/>
            <a:chExt cx="5334000" cy="2190750"/>
          </a:xfrm>
        </p:grpSpPr>
        <p:sp>
          <p:nvSpPr>
            <p:cNvPr id="13" name="Rectangle 13"/>
            <p:cNvSpPr/>
            <p:nvPr/>
          </p:nvSpPr>
          <p:spPr>
            <a:xfrm>
              <a:off x="609600" y="3886200"/>
              <a:ext cx="5334000" cy="2190750"/>
            </a:xfrm>
            <a:prstGeom prst="roundRect">
              <a:avLst>
                <a:gd name="adj" fmla="val 6087"/>
              </a:avLst>
            </a:prstGeom>
            <a:solidFill>
              <a:schemeClr val="accent5"/>
            </a:solidFill>
            <a:ln w="14288">
              <a:solidFill>
                <a:schemeClr val="accent4"/>
              </a:solidFill>
            </a:ln>
          </p:spPr>
        </p:sp>
        <p:sp>
          <p:nvSpPr>
            <p:cNvPr id="14" name="Rectangle 14"/>
            <p:cNvSpPr/>
            <p:nvPr/>
          </p:nvSpPr>
          <p:spPr>
            <a:xfrm>
              <a:off x="609600" y="4019550"/>
              <a:ext cx="47625" cy="1924050"/>
            </a:xfrm>
            <a:prstGeom prst="roundRect">
              <a:avLst>
                <a:gd name="adj" fmla="val 50000"/>
              </a:avLst>
            </a:prstGeom>
            <a:solidFill>
              <a:srgbClr val="34D399"/>
            </a:solidFill>
            <a:ln>
              <a:noFill/>
            </a:ln>
          </p:spPr>
        </p:sp>
        <p:sp>
          <p:nvSpPr>
            <p:cNvPr id="15" name="TextBox 15"/>
            <p:cNvSpPr txBox="1"/>
            <p:nvPr/>
          </p:nvSpPr>
          <p:spPr>
            <a:xfrm>
              <a:off x="830580" y="4105275"/>
              <a:ext cx="3075069" cy="293370"/>
            </a:xfrm>
            <a:prstGeom prst="rect">
              <a:avLst/>
            </a:prstGeom>
            <a:noFill/>
            <a:ln>
              <a:noFill/>
            </a:ln>
          </p:spPr>
          <p:txBody>
            <a:bodyPr wrap="none" lIns="0" tIns="0" rIns="0" bIns="0" anchor="t" anchorCtr="0">
              <a:spAutoFit/>
            </a:bodyPr>
            <a:lstStyle/>
            <a:p>
              <a:pPr algn="l"/>
              <a:r>
                <a:rPr lang="en-US" sz="1500" b="1" dirty="0">
                  <a:solidFill>
                    <a:srgbClr val="34D399"/>
                  </a:solidFill>
                  <a:latin typeface="+mn-lt"/>
                  <a:ea typeface="+mn-ea"/>
                  <a:cs typeface="+mn-cs"/>
                </a:rPr>
                <a:t>Only variance reduction helps</a:t>
              </a:r>
            </a:p>
          </p:txBody>
        </p:sp>
        <p:sp>
          <p:nvSpPr>
            <p:cNvPr id="16" name="TextBox 16"/>
            <p:cNvSpPr txBox="1"/>
            <p:nvPr/>
          </p:nvSpPr>
          <p:spPr>
            <a:xfrm>
              <a:off x="831342" y="4445318"/>
              <a:ext cx="283633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Only genuine variance reduction</a:t>
              </a:r>
            </a:p>
          </p:txBody>
        </p:sp>
        <p:sp>
          <p:nvSpPr>
            <p:cNvPr id="17" name="TextBox 17"/>
            <p:cNvSpPr txBox="1"/>
            <p:nvPr/>
          </p:nvSpPr>
          <p:spPr>
            <a:xfrm>
              <a:off x="831342" y="4692968"/>
              <a:ext cx="351215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consistently calms them — exactly what</a:t>
              </a:r>
            </a:p>
          </p:txBody>
        </p:sp>
        <p:sp>
          <p:nvSpPr>
            <p:cNvPr id="18" name="TextBox 18"/>
            <p:cNvSpPr txBox="1"/>
            <p:nvPr/>
          </p:nvSpPr>
          <p:spPr>
            <a:xfrm>
              <a:off x="831342" y="4940618"/>
              <a:ext cx="330315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you would predict if gradient noise is</a:t>
              </a:r>
            </a:p>
          </p:txBody>
        </p:sp>
        <p:sp>
          <p:nvSpPr>
            <p:cNvPr id="19" name="TextBox 19"/>
            <p:cNvSpPr txBox="1"/>
            <p:nvPr/>
          </p:nvSpPr>
          <p:spPr>
            <a:xfrm>
              <a:off x="831342" y="5188268"/>
              <a:ext cx="193104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underlying cause.</a:t>
              </a:r>
            </a:p>
          </p:txBody>
        </p:sp>
      </p:grpSp>
      <p:grpSp>
        <p:nvGrpSpPr>
          <p:cNvPr id="28" name="Group 28"/>
          <p:cNvGrpSpPr/>
          <p:nvPr/>
        </p:nvGrpSpPr>
        <p:grpSpPr>
          <a:xfrm>
            <a:off x="6248400" y="1428750"/>
            <a:ext cx="5334000" cy="2190750"/>
            <a:chOff x="6248400" y="1428750"/>
            <a:chExt cx="5334000" cy="2190750"/>
          </a:xfrm>
        </p:grpSpPr>
        <p:sp>
          <p:nvSpPr>
            <p:cNvPr id="21" name="Rectangle 21"/>
            <p:cNvSpPr/>
            <p:nvPr/>
          </p:nvSpPr>
          <p:spPr>
            <a:xfrm>
              <a:off x="6248400" y="1428750"/>
              <a:ext cx="5334000" cy="2190750"/>
            </a:xfrm>
            <a:prstGeom prst="roundRect">
              <a:avLst>
                <a:gd name="adj" fmla="val 6087"/>
              </a:avLst>
            </a:prstGeom>
            <a:solidFill>
              <a:schemeClr val="accent5"/>
            </a:solidFill>
            <a:ln w="14288">
              <a:solidFill>
                <a:schemeClr val="accent4"/>
              </a:solidFill>
            </a:ln>
          </p:spPr>
        </p:sp>
        <p:sp>
          <p:nvSpPr>
            <p:cNvPr id="22" name="Rectangle 22"/>
            <p:cNvSpPr/>
            <p:nvPr/>
          </p:nvSpPr>
          <p:spPr>
            <a:xfrm>
              <a:off x="6248400" y="1562100"/>
              <a:ext cx="47625" cy="1924050"/>
            </a:xfrm>
            <a:prstGeom prst="roundRect">
              <a:avLst>
                <a:gd name="adj" fmla="val 50000"/>
              </a:avLst>
            </a:prstGeom>
            <a:solidFill>
              <a:srgbClr val="FBBF24"/>
            </a:solidFill>
            <a:ln>
              <a:noFill/>
            </a:ln>
          </p:spPr>
        </p:sp>
        <p:sp>
          <p:nvSpPr>
            <p:cNvPr id="23" name="TextBox 23"/>
            <p:cNvSpPr txBox="1"/>
            <p:nvPr/>
          </p:nvSpPr>
          <p:spPr>
            <a:xfrm>
              <a:off x="6469380" y="1647825"/>
              <a:ext cx="2057895" cy="293370"/>
            </a:xfrm>
            <a:prstGeom prst="rect">
              <a:avLst/>
            </a:prstGeom>
            <a:noFill/>
            <a:ln>
              <a:noFill/>
            </a:ln>
          </p:spPr>
          <p:txBody>
            <a:bodyPr wrap="none" lIns="0" tIns="0" rIns="0" bIns="0" anchor="t" anchorCtr="0">
              <a:spAutoFit/>
            </a:bodyPr>
            <a:lstStyle/>
            <a:p>
              <a:pPr algn="l"/>
              <a:r>
                <a:rPr lang="en-US" sz="1500" b="1" dirty="0">
                  <a:solidFill>
                    <a:srgbClr val="FBBF24"/>
                  </a:solidFill>
                  <a:latin typeface="+mn-lt"/>
                  <a:ea typeface="+mn-ea"/>
                  <a:cs typeface="+mn-cs"/>
                </a:rPr>
                <a:t>How to average well</a:t>
              </a:r>
            </a:p>
          </p:txBody>
        </p:sp>
        <p:sp>
          <p:nvSpPr>
            <p:cNvPr id="24" name="TextBox 24"/>
            <p:cNvSpPr txBox="1"/>
            <p:nvPr/>
          </p:nvSpPr>
          <p:spPr>
            <a:xfrm>
              <a:off x="6470142" y="1987868"/>
              <a:ext cx="360937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moving average works best when you</a:t>
              </a:r>
            </a:p>
          </p:txBody>
        </p:sp>
        <p:sp>
          <p:nvSpPr>
            <p:cNvPr id="25" name="TextBox 25"/>
            <p:cNvSpPr txBox="1"/>
            <p:nvPr/>
          </p:nvSpPr>
          <p:spPr>
            <a:xfrm>
              <a:off x="6470142" y="2235518"/>
              <a:ext cx="367571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update it every single step, use an initial</a:t>
              </a:r>
            </a:p>
          </p:txBody>
        </p:sp>
        <p:sp>
          <p:nvSpPr>
            <p:cNvPr id="26" name="TextBox 26"/>
            <p:cNvSpPr txBox="1"/>
            <p:nvPr/>
          </p:nvSpPr>
          <p:spPr>
            <a:xfrm>
              <a:off x="6470142" y="2483168"/>
              <a:ext cx="360302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burn-in period, and anneal the averaging</a:t>
              </a:r>
            </a:p>
          </p:txBody>
        </p:sp>
        <p:sp>
          <p:nvSpPr>
            <p:cNvPr id="27" name="TextBox 27"/>
            <p:cNvSpPr txBox="1"/>
            <p:nvPr/>
          </p:nvSpPr>
          <p:spPr>
            <a:xfrm>
              <a:off x="6470142" y="2730818"/>
              <a:ext cx="262164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rate with a polynomial decay.</a:t>
              </a:r>
            </a:p>
          </p:txBody>
        </p:sp>
      </p:grpSp>
      <p:grpSp>
        <p:nvGrpSpPr>
          <p:cNvPr id="36" name="Group 36"/>
          <p:cNvGrpSpPr/>
          <p:nvPr/>
        </p:nvGrpSpPr>
        <p:grpSpPr>
          <a:xfrm>
            <a:off x="6248400" y="3886200"/>
            <a:ext cx="5334000" cy="2190750"/>
            <a:chOff x="6248400" y="3886200"/>
            <a:chExt cx="5334000" cy="2190750"/>
          </a:xfrm>
        </p:grpSpPr>
        <p:sp>
          <p:nvSpPr>
            <p:cNvPr id="29" name="Rectangle 29"/>
            <p:cNvSpPr/>
            <p:nvPr/>
          </p:nvSpPr>
          <p:spPr>
            <a:xfrm>
              <a:off x="6248400" y="3886200"/>
              <a:ext cx="5334000" cy="2190750"/>
            </a:xfrm>
            <a:prstGeom prst="roundRect">
              <a:avLst>
                <a:gd name="adj" fmla="val 6087"/>
              </a:avLst>
            </a:prstGeom>
            <a:solidFill>
              <a:schemeClr val="accent5"/>
            </a:solidFill>
            <a:ln w="14288">
              <a:solidFill>
                <a:schemeClr val="accent4"/>
              </a:solidFill>
            </a:ln>
          </p:spPr>
        </p:sp>
        <p:sp>
          <p:nvSpPr>
            <p:cNvPr id="30" name="Rectangle 30"/>
            <p:cNvSpPr/>
            <p:nvPr/>
          </p:nvSpPr>
          <p:spPr>
            <a:xfrm>
              <a:off x="6248400" y="4019550"/>
              <a:ext cx="47625" cy="1924050"/>
            </a:xfrm>
            <a:prstGeom prst="roundRect">
              <a:avLst>
                <a:gd name="adj" fmla="val 50000"/>
              </a:avLst>
            </a:prstGeom>
            <a:solidFill>
              <a:srgbClr val="A78BFA"/>
            </a:solidFill>
            <a:ln>
              <a:noFill/>
            </a:ln>
          </p:spPr>
        </p:sp>
        <p:sp>
          <p:nvSpPr>
            <p:cNvPr id="31" name="TextBox 31"/>
            <p:cNvSpPr txBox="1"/>
            <p:nvPr/>
          </p:nvSpPr>
          <p:spPr>
            <a:xfrm>
              <a:off x="6469380" y="4105275"/>
              <a:ext cx="2312327" cy="293370"/>
            </a:xfrm>
            <a:prstGeom prst="rect">
              <a:avLst/>
            </a:prstGeom>
            <a:noFill/>
            <a:ln>
              <a:noFill/>
            </a:ln>
          </p:spPr>
          <p:txBody>
            <a:bodyPr wrap="none" lIns="0" tIns="0" rIns="0" bIns="0" anchor="t" anchorCtr="0">
              <a:spAutoFit/>
            </a:bodyPr>
            <a:lstStyle/>
            <a:p>
              <a:pPr algn="l"/>
              <a:r>
                <a:rPr lang="en-US" sz="1500" b="1" dirty="0">
                  <a:solidFill>
                    <a:srgbClr val="A78BFA"/>
                  </a:solidFill>
                  <a:latin typeface="+mn-lt"/>
                  <a:ea typeface="+mn-ea"/>
                  <a:cs typeface="+mn-cs"/>
                </a:rPr>
                <a:t>Cheaper than the rest</a:t>
              </a:r>
            </a:p>
          </p:txBody>
        </p:sp>
        <p:sp>
          <p:nvSpPr>
            <p:cNvPr id="32" name="TextBox 32"/>
            <p:cNvSpPr txBox="1"/>
            <p:nvPr/>
          </p:nvSpPr>
          <p:spPr>
            <a:xfrm>
              <a:off x="6470142" y="4445318"/>
              <a:ext cx="345481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Skip the burn-in or update the average</a:t>
              </a:r>
            </a:p>
          </p:txBody>
        </p:sp>
        <p:sp>
          <p:nvSpPr>
            <p:cNvPr id="33" name="TextBox 33"/>
            <p:cNvSpPr txBox="1"/>
            <p:nvPr/>
          </p:nvSpPr>
          <p:spPr>
            <a:xfrm>
              <a:off x="6470142" y="4692968"/>
              <a:ext cx="369389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only occasionally and its power degrades.</a:t>
              </a:r>
            </a:p>
          </p:txBody>
        </p:sp>
        <p:sp>
          <p:nvSpPr>
            <p:cNvPr id="34" name="TextBox 34"/>
            <p:cNvSpPr txBox="1"/>
            <p:nvPr/>
          </p:nvSpPr>
          <p:spPr>
            <a:xfrm>
              <a:off x="6470142" y="4940618"/>
              <a:ext cx="375210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LR decay and giant batches also work, but</a:t>
              </a:r>
            </a:p>
          </p:txBody>
        </p:sp>
        <p:sp>
          <p:nvSpPr>
            <p:cNvPr id="35" name="TextBox 35"/>
            <p:cNvSpPr txBox="1"/>
            <p:nvPr/>
          </p:nvSpPr>
          <p:spPr>
            <a:xfrm>
              <a:off x="6470142" y="5188268"/>
              <a:ext cx="375749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cost far more compute for the same gain.</a:t>
              </a:r>
            </a:p>
          </p:txBody>
        </p:sp>
      </p:grpSp>
      <p:sp>
        <p:nvSpPr>
          <p:cNvPr id="37" name="cue_s08_c1_ablations_what_make_diagnosis_convin" title="cue_s08_c1_ablations_what_make_diagnosis_convin" descr="cue_s08_c1_ablations_what_make_diagnosis_convin The ablations are what make the diagnosis convincing. The oscillations refuse to go away as you vary dataset size, swap a multilayer perceptron for a Transformer, scale the model, or add regularizers."/>
          <p:cNvSpPr/>
          <p:nvPr/>
        </p:nvSpPr>
        <p:spPr>
          <a:xfrm>
            <a:off x="609600" y="1428521"/>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8_c2_only_genuine_variance_reduction_cons" title="cue_s08_c2_only_genuine_variance_reduction_cons" descr="cue_s08_c2_only_genuine_variance_reduction_cons Only genuine variance reduction consistently calms them, which is exactly what you would predict if gradient noise is the cause."/>
          <p:cNvSpPr/>
          <p:nvPr/>
        </p:nvSpPr>
        <p:spPr>
          <a:xfrm>
            <a:off x="609600" y="3886428"/>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8_c3_fix_side_moving_average_works" title="cue_s08_c3_fix_side_moving_average_works" descr="cue_s08_c3_fix_side_moving_average_works On the fix side, the moving average works best when you update it every single step, use an initial burn-in period, and anneal the averaging rate with a polynomial decay."/>
          <p:cNvSpPr/>
          <p:nvPr/>
        </p:nvSpPr>
        <p:spPr>
          <a:xfrm>
            <a:off x="6248399" y="1428521"/>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8_c4_skip_burn_in_update_average_only" title="cue_s08_c4_skip_burn_in_update_average_only" descr="cue_s08_c4_skip_burn_in_update_average_only Skip the burn-in, or update the average only occasionally, and its stabilizing power degrades. Learning rate decay and giant batches also work, but they cost far more compute for the same benefit."/>
          <p:cNvSpPr/>
          <p:nvPr/>
        </p:nvSpPr>
        <p:spPr>
          <a:xfrm>
            <a:off x="6248399" y="3886428"/>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381000"/>
          </a:xfrm>
          <a:prstGeom prst="roundRect">
            <a:avLst>
              <a:gd name="adj" fmla="val 50000"/>
            </a:avLst>
          </a:prstGeom>
          <a:solidFill>
            <a:srgbClr val="4AA3FF"/>
          </a:solidFill>
          <a:ln>
            <a:noFill/>
          </a:ln>
        </p:spPr>
        <p:txBody>
          <a:bodyPr/>
          <a:p/>
        </p:txBody>
      </p:sp>
      <p:sp>
        <p:nvSpPr>
          <p:cNvPr id="3" name="TextBox 3"/>
          <p:cNvSpPr txBox="1"/>
          <p:nvPr/>
        </p:nvSpPr>
        <p:spPr>
          <a:xfrm>
            <a:off x="813435" y="545306"/>
            <a:ext cx="2009674" cy="220028"/>
          </a:xfrm>
          <a:prstGeom prst="rect">
            <a:avLst/>
          </a:prstGeom>
          <a:noFill/>
          <a:ln>
            <a:noFill/>
          </a:ln>
        </p:spPr>
        <p:txBody>
          <a:bodyPr wrap="none" lIns="0" tIns="0" rIns="0" bIns="0" anchor="t" anchorCtr="0">
            <a:spAutoFit/>
          </a:bodyPr>
          <a:lstStyle/>
          <a:p>
            <a:pPr algn="l"/>
            <a:r>
              <a:rPr lang="en-US" sz="1120" b="1" spc="150" dirty="0">
                <a:solidFill>
                  <a:srgbClr val="9FB0C8"/>
                </a:solidFill>
                <a:latin typeface="+mn-lt"/>
                <a:ea typeface="+mn-ea"/>
                <a:cs typeface="+mn-cs"/>
              </a:rPr>
              <a:t>08 · BY THE NUMBERS</a:t>
            </a:r>
          </a:p>
        </p:txBody>
      </p:sp>
      <p:sp>
        <p:nvSpPr>
          <p:cNvPr id="4" name="TextBox 4"/>
          <p:cNvSpPr txBox="1"/>
          <p:nvPr/>
        </p:nvSpPr>
        <p:spPr>
          <a:xfrm>
            <a:off x="807339" y="739616"/>
            <a:ext cx="3379689" cy="454724"/>
          </a:xfrm>
          <a:prstGeom prst="rect">
            <a:avLst/>
          </a:prstGeom>
          <a:noFill/>
          <a:ln>
            <a:noFill/>
          </a:ln>
        </p:spPr>
        <p:txBody>
          <a:bodyPr wrap="none" lIns="0" tIns="0" rIns="0" bIns="0" anchor="t" anchorCtr="0">
            <a:spAutoFit/>
          </a:bodyPr>
          <a:lstStyle/>
          <a:p>
            <a:pPr algn="l"/>
            <a:r>
              <a:rPr lang="en-US" sz="2320" b="1" dirty="0">
                <a:solidFill>
                  <a:schemeClr val="dk1"/>
                </a:solidFill>
                <a:latin typeface="+mn-lt"/>
                <a:ea typeface="+mn-ea"/>
                <a:cs typeface="+mn-cs"/>
              </a:rPr>
              <a:t>The study in numbers</a:t>
            </a:r>
          </a:p>
        </p:txBody>
      </p:sp>
      <p:grpSp>
        <p:nvGrpSpPr>
          <p:cNvPr id="10" name="Group 10"/>
          <p:cNvGrpSpPr/>
          <p:nvPr/>
        </p:nvGrpSpPr>
        <p:grpSpPr>
          <a:xfrm>
            <a:off x="609600" y="1428750"/>
            <a:ext cx="5334000" cy="2190750"/>
            <a:chOff x="609600" y="1428750"/>
            <a:chExt cx="5334000" cy="2190750"/>
          </a:xfrm>
        </p:grpSpPr>
        <p:sp>
          <p:nvSpPr>
            <p:cNvPr id="5" name="Rectangle 5"/>
            <p:cNvSpPr/>
            <p:nvPr/>
          </p:nvSpPr>
          <p:spPr>
            <a:xfrm>
              <a:off x="609600" y="1428750"/>
              <a:ext cx="5334000" cy="2190750"/>
            </a:xfrm>
            <a:prstGeom prst="roundRect">
              <a:avLst>
                <a:gd name="adj" fmla="val 6087"/>
              </a:avLst>
            </a:prstGeom>
            <a:solidFill>
              <a:schemeClr val="accent5"/>
            </a:solidFill>
            <a:ln w="14288">
              <a:solidFill>
                <a:schemeClr val="accent4"/>
              </a:solidFill>
            </a:ln>
          </p:spPr>
        </p:sp>
        <p:sp>
          <p:nvSpPr>
            <p:cNvPr id="6" name="Rectangle 6"/>
            <p:cNvSpPr/>
            <p:nvPr/>
          </p:nvSpPr>
          <p:spPr>
            <a:xfrm>
              <a:off x="609600" y="1562100"/>
              <a:ext cx="47625" cy="1924050"/>
            </a:xfrm>
            <a:prstGeom prst="roundRect">
              <a:avLst>
                <a:gd name="adj" fmla="val 50000"/>
              </a:avLst>
            </a:prstGeom>
            <a:solidFill>
              <a:srgbClr val="FBBF24"/>
            </a:solidFill>
            <a:ln>
              <a:noFill/>
            </a:ln>
          </p:spPr>
        </p:sp>
        <p:sp>
          <p:nvSpPr>
            <p:cNvPr id="7" name="TextBox 7"/>
            <p:cNvSpPr txBox="1"/>
            <p:nvPr/>
          </p:nvSpPr>
          <p:spPr>
            <a:xfrm>
              <a:off x="838200" y="1922145"/>
              <a:ext cx="947694" cy="762000"/>
            </a:xfrm>
            <a:prstGeom prst="rect">
              <a:avLst/>
            </a:prstGeom>
            <a:noFill/>
            <a:ln>
              <a:noFill/>
            </a:ln>
          </p:spPr>
          <p:txBody>
            <a:bodyPr wrap="none" lIns="0" tIns="0" rIns="0" bIns="0" anchor="t" anchorCtr="0">
              <a:spAutoFit/>
            </a:bodyPr>
            <a:lstStyle/>
            <a:p>
              <a:pPr algn="l"/>
              <a:r>
                <a:rPr lang="en-US" sz="3900" b="1" dirty="0">
                  <a:solidFill>
                    <a:srgbClr val="FBBF24"/>
                  </a:solidFill>
                  <a:latin typeface="+mn-lt"/>
                  <a:ea typeface="+mn-ea"/>
                  <a:cs typeface="+mn-cs"/>
                </a:rPr>
                <a:t>278</a:t>
              </a:r>
            </a:p>
          </p:txBody>
        </p:sp>
        <p:sp>
          <p:nvSpPr>
            <p:cNvPr id="8" name="TextBox 8"/>
            <p:cNvSpPr txBox="1"/>
            <p:nvPr/>
          </p:nvSpPr>
          <p:spPr>
            <a:xfrm>
              <a:off x="851154" y="2632710"/>
              <a:ext cx="302498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distinct interventions in the empirical</a:t>
              </a:r>
            </a:p>
          </p:txBody>
        </p:sp>
        <p:sp>
          <p:nvSpPr>
            <p:cNvPr id="9" name="TextBox 9"/>
            <p:cNvSpPr txBox="1"/>
            <p:nvPr/>
          </p:nvSpPr>
          <p:spPr>
            <a:xfrm>
              <a:off x="851154" y="2861310"/>
              <a:ext cx="229804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study of continuous control.</a:t>
              </a:r>
            </a:p>
          </p:txBody>
        </p:sp>
      </p:grpSp>
      <p:grpSp>
        <p:nvGrpSpPr>
          <p:cNvPr id="16" name="Group 16"/>
          <p:cNvGrpSpPr/>
          <p:nvPr/>
        </p:nvGrpSpPr>
        <p:grpSpPr>
          <a:xfrm>
            <a:off x="6248400" y="1428750"/>
            <a:ext cx="5334000" cy="2190750"/>
            <a:chOff x="6248400" y="1428750"/>
            <a:chExt cx="5334000" cy="2190750"/>
          </a:xfrm>
        </p:grpSpPr>
        <p:sp>
          <p:nvSpPr>
            <p:cNvPr id="11" name="Rectangle 11"/>
            <p:cNvSpPr/>
            <p:nvPr/>
          </p:nvSpPr>
          <p:spPr>
            <a:xfrm>
              <a:off x="6248400" y="1428750"/>
              <a:ext cx="5334000" cy="2190750"/>
            </a:xfrm>
            <a:prstGeom prst="roundRect">
              <a:avLst>
                <a:gd name="adj" fmla="val 6087"/>
              </a:avLst>
            </a:prstGeom>
            <a:solidFill>
              <a:schemeClr val="accent5"/>
            </a:solidFill>
            <a:ln w="14288">
              <a:solidFill>
                <a:schemeClr val="accent4"/>
              </a:solidFill>
            </a:ln>
          </p:spPr>
        </p:sp>
        <p:sp>
          <p:nvSpPr>
            <p:cNvPr id="12" name="Rectangle 12"/>
            <p:cNvSpPr/>
            <p:nvPr/>
          </p:nvSpPr>
          <p:spPr>
            <a:xfrm>
              <a:off x="6248400" y="1562100"/>
              <a:ext cx="47625" cy="1924050"/>
            </a:xfrm>
            <a:prstGeom prst="roundRect">
              <a:avLst>
                <a:gd name="adj" fmla="val 50000"/>
              </a:avLst>
            </a:prstGeom>
            <a:solidFill>
              <a:srgbClr val="4AA3FF"/>
            </a:solidFill>
            <a:ln>
              <a:noFill/>
            </a:ln>
          </p:spPr>
        </p:sp>
        <p:sp>
          <p:nvSpPr>
            <p:cNvPr id="13" name="TextBox 13"/>
            <p:cNvSpPr txBox="1"/>
            <p:nvPr/>
          </p:nvSpPr>
          <p:spPr>
            <a:xfrm>
              <a:off x="6477000" y="1922145"/>
              <a:ext cx="2309744" cy="762000"/>
            </a:xfrm>
            <a:prstGeom prst="rect">
              <a:avLst/>
            </a:prstGeom>
            <a:noFill/>
            <a:ln>
              <a:noFill/>
            </a:ln>
          </p:spPr>
          <p:txBody>
            <a:bodyPr wrap="none" lIns="0" tIns="0" rIns="0" bIns="0" anchor="t" anchorCtr="0">
              <a:spAutoFit/>
            </a:bodyPr>
            <a:lstStyle/>
            <a:p>
              <a:pPr algn="l"/>
              <a:r>
                <a:rPr lang="en-US" sz="3900" b="1" dirty="0">
                  <a:solidFill>
                    <a:srgbClr val="4AA3FF"/>
                  </a:solidFill>
                  <a:latin typeface="+mn-lt"/>
                  <a:ea typeface="+mn-ea"/>
                  <a:cs typeface="+mn-cs"/>
                </a:rPr>
                <a:t>H = 1000</a:t>
              </a:r>
            </a:p>
          </p:txBody>
        </p:sp>
        <p:sp>
          <p:nvSpPr>
            <p:cNvPr id="14" name="TextBox 14"/>
            <p:cNvSpPr txBox="1"/>
            <p:nvPr/>
          </p:nvSpPr>
          <p:spPr>
            <a:xfrm>
              <a:off x="6489954" y="2632710"/>
              <a:ext cx="315422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rollout horizon; the error amplification</a:t>
              </a:r>
            </a:p>
          </p:txBody>
        </p:sp>
        <p:sp>
          <p:nvSpPr>
            <p:cNvPr id="15" name="TextBox 15"/>
            <p:cNvSpPr txBox="1"/>
            <p:nvPr/>
          </p:nvSpPr>
          <p:spPr>
            <a:xfrm>
              <a:off x="6489954" y="2861310"/>
              <a:ext cx="274761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constant grows exponentially in H.</a:t>
              </a:r>
            </a:p>
          </p:txBody>
        </p:sp>
      </p:grpSp>
      <p:grpSp>
        <p:nvGrpSpPr>
          <p:cNvPr id="22" name="Group 22"/>
          <p:cNvGrpSpPr/>
          <p:nvPr/>
        </p:nvGrpSpPr>
        <p:grpSpPr>
          <a:xfrm>
            <a:off x="609600" y="3886200"/>
            <a:ext cx="5334000" cy="2190750"/>
            <a:chOff x="609600" y="3886200"/>
            <a:chExt cx="5334000" cy="2190750"/>
          </a:xfrm>
        </p:grpSpPr>
        <p:sp>
          <p:nvSpPr>
            <p:cNvPr id="17" name="Rectangle 17"/>
            <p:cNvSpPr/>
            <p:nvPr/>
          </p:nvSpPr>
          <p:spPr>
            <a:xfrm>
              <a:off x="609600" y="3886200"/>
              <a:ext cx="5334000" cy="2190750"/>
            </a:xfrm>
            <a:prstGeom prst="roundRect">
              <a:avLst>
                <a:gd name="adj" fmla="val 6087"/>
              </a:avLst>
            </a:prstGeom>
            <a:solidFill>
              <a:schemeClr val="accent5"/>
            </a:solidFill>
            <a:ln w="14288">
              <a:solidFill>
                <a:schemeClr val="accent4"/>
              </a:solidFill>
            </a:ln>
          </p:spPr>
        </p:sp>
        <p:sp>
          <p:nvSpPr>
            <p:cNvPr id="18" name="Rectangle 18"/>
            <p:cNvSpPr/>
            <p:nvPr/>
          </p:nvSpPr>
          <p:spPr>
            <a:xfrm>
              <a:off x="609600" y="4019550"/>
              <a:ext cx="47625" cy="1924050"/>
            </a:xfrm>
            <a:prstGeom prst="roundRect">
              <a:avLst>
                <a:gd name="adj" fmla="val 50000"/>
              </a:avLst>
            </a:prstGeom>
            <a:solidFill>
              <a:srgbClr val="A78BFA"/>
            </a:solidFill>
            <a:ln>
              <a:noFill/>
            </a:ln>
          </p:spPr>
        </p:sp>
        <p:sp>
          <p:nvSpPr>
            <p:cNvPr id="19" name="TextBox 19"/>
            <p:cNvSpPr txBox="1"/>
            <p:nvPr/>
          </p:nvSpPr>
          <p:spPr>
            <a:xfrm>
              <a:off x="838200" y="4379595"/>
              <a:ext cx="1436035" cy="762000"/>
            </a:xfrm>
            <a:prstGeom prst="rect">
              <a:avLst/>
            </a:prstGeom>
            <a:noFill/>
            <a:ln>
              <a:noFill/>
            </a:ln>
          </p:spPr>
          <p:txBody>
            <a:bodyPr wrap="none" lIns="0" tIns="0" rIns="0" bIns="0" anchor="t" anchorCtr="0">
              <a:spAutoFit/>
            </a:bodyPr>
            <a:lstStyle/>
            <a:p>
              <a:pPr algn="l"/>
              <a:r>
                <a:rPr lang="en-US" sz="3900" b="1" dirty="0">
                  <a:solidFill>
                    <a:srgbClr val="A78BFA"/>
                  </a:solidFill>
                  <a:latin typeface="+mn-lt"/>
                  <a:ea typeface="+mn-ea"/>
                  <a:cs typeface="+mn-cs"/>
                </a:rPr>
                <a:t>270M</a:t>
              </a:r>
            </a:p>
          </p:txBody>
        </p:sp>
        <p:sp>
          <p:nvSpPr>
            <p:cNvPr id="20" name="TextBox 20"/>
            <p:cNvSpPr txBox="1"/>
            <p:nvPr/>
          </p:nvSpPr>
          <p:spPr>
            <a:xfrm>
              <a:off x="851154" y="5090160"/>
              <a:ext cx="316770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parameter Transformers trained on the</a:t>
              </a:r>
            </a:p>
          </p:txBody>
        </p:sp>
        <p:sp>
          <p:nvSpPr>
            <p:cNvPr id="21" name="TextBox 21"/>
            <p:cNvSpPr txBox="1"/>
            <p:nvPr/>
          </p:nvSpPr>
          <p:spPr>
            <a:xfrm>
              <a:off x="851154" y="5318760"/>
              <a:ext cx="330214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TinyStories dataset on the language side.</a:t>
              </a:r>
            </a:p>
          </p:txBody>
        </p:sp>
      </p:grpSp>
      <p:grpSp>
        <p:nvGrpSpPr>
          <p:cNvPr id="31" name="Group 31"/>
          <p:cNvGrpSpPr/>
          <p:nvPr/>
        </p:nvGrpSpPr>
        <p:grpSpPr>
          <a:xfrm>
            <a:off x="6248400" y="3886200"/>
            <a:ext cx="5334000" cy="2190750"/>
            <a:chOff x="6248400" y="3886200"/>
            <a:chExt cx="5334000" cy="2190750"/>
          </a:xfrm>
        </p:grpSpPr>
        <p:sp>
          <p:nvSpPr>
            <p:cNvPr id="23" name="Rectangle 23"/>
            <p:cNvSpPr/>
            <p:nvPr/>
          </p:nvSpPr>
          <p:spPr>
            <a:xfrm>
              <a:off x="6248400" y="3886200"/>
              <a:ext cx="5334000" cy="2190750"/>
            </a:xfrm>
            <a:prstGeom prst="roundRect">
              <a:avLst>
                <a:gd name="adj" fmla="val 6087"/>
              </a:avLst>
            </a:prstGeom>
            <a:solidFill>
              <a:schemeClr val="accent5"/>
            </a:solidFill>
            <a:ln w="14288">
              <a:solidFill>
                <a:schemeClr val="accent4"/>
              </a:solidFill>
            </a:ln>
          </p:spPr>
        </p:sp>
        <p:sp>
          <p:nvSpPr>
            <p:cNvPr id="24" name="Rectangle 24"/>
            <p:cNvSpPr/>
            <p:nvPr/>
          </p:nvSpPr>
          <p:spPr>
            <a:xfrm>
              <a:off x="6248400" y="4019550"/>
              <a:ext cx="47625" cy="1924050"/>
            </a:xfrm>
            <a:prstGeom prst="roundRect">
              <a:avLst>
                <a:gd name="adj" fmla="val 50000"/>
              </a:avLst>
            </a:prstGeom>
            <a:solidFill>
              <a:srgbClr val="F87171"/>
            </a:solidFill>
            <a:ln>
              <a:noFill/>
            </a:ln>
          </p:spPr>
        </p:sp>
        <p:sp>
          <p:nvSpPr>
            <p:cNvPr id="25" name="TextBox 25"/>
            <p:cNvSpPr txBox="1"/>
            <p:nvPr/>
          </p:nvSpPr>
          <p:spPr>
            <a:xfrm>
              <a:off x="6470142" y="4121468"/>
              <a:ext cx="1823006" cy="264033"/>
            </a:xfrm>
            <a:prstGeom prst="rect">
              <a:avLst/>
            </a:prstGeom>
            <a:noFill/>
            <a:ln>
              <a:noFill/>
            </a:ln>
          </p:spPr>
          <p:txBody>
            <a:bodyPr wrap="none" lIns="0" tIns="0" rIns="0" bIns="0" anchor="t" anchorCtr="0">
              <a:spAutoFit/>
            </a:bodyPr>
            <a:lstStyle/>
            <a:p>
              <a:pPr algn="l"/>
              <a:r>
                <a:rPr lang="en-US" sz="1350" b="1" dirty="0">
                  <a:solidFill>
                    <a:srgbClr val="F87171"/>
                  </a:solidFill>
                  <a:latin typeface="+mn-lt"/>
                  <a:ea typeface="+mn-ea"/>
                  <a:cs typeface="+mn-cs"/>
                </a:rPr>
                <a:t>The exponential gap</a:t>
              </a:r>
            </a:p>
          </p:txBody>
        </p:sp>
        <p:sp>
          <p:nvSpPr>
            <p:cNvPr id="26" name="Rectangle 26"/>
            <p:cNvSpPr/>
            <p:nvPr/>
          </p:nvSpPr>
          <p:spPr>
            <a:xfrm>
              <a:off x="6477000" y="4438650"/>
              <a:ext cx="4876800" cy="495300"/>
            </a:xfrm>
            <a:prstGeom prst="roundRect">
              <a:avLst>
                <a:gd name="adj" fmla="val 15385"/>
              </a:avLst>
            </a:prstGeom>
            <a:solidFill>
              <a:schemeClr val="accent6"/>
            </a:solidFill>
            <a:ln>
              <a:noFill/>
            </a:ln>
          </p:spPr>
        </p:sp>
        <p:sp>
          <p:nvSpPr>
            <p:cNvPr id="27" name="TextBox 27"/>
            <p:cNvSpPr txBox="1"/>
            <p:nvPr/>
          </p:nvSpPr>
          <p:spPr>
            <a:xfrm>
              <a:off x="6622542" y="4616768"/>
              <a:ext cx="26728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BC loss changes by O( H · δ² )</a:t>
              </a:r>
            </a:p>
          </p:txBody>
        </p:sp>
        <p:sp>
          <p:nvSpPr>
            <p:cNvPr id="28" name="Rectangle 28"/>
            <p:cNvSpPr/>
            <p:nvPr/>
          </p:nvSpPr>
          <p:spPr>
            <a:xfrm>
              <a:off x="6477000" y="5029200"/>
              <a:ext cx="4876800" cy="495300"/>
            </a:xfrm>
            <a:prstGeom prst="roundRect">
              <a:avLst>
                <a:gd name="adj" fmla="val 15385"/>
              </a:avLst>
            </a:prstGeom>
            <a:solidFill>
              <a:schemeClr val="accent6"/>
            </a:solidFill>
            <a:ln>
              <a:noFill/>
            </a:ln>
          </p:spPr>
        </p:sp>
        <p:sp>
          <p:nvSpPr>
            <p:cNvPr id="29" name="TextBox 29"/>
            <p:cNvSpPr txBox="1"/>
            <p:nvPr/>
          </p:nvSpPr>
          <p:spPr>
            <a:xfrm>
              <a:off x="6622542" y="5207318"/>
              <a:ext cx="3168160" cy="264033"/>
            </a:xfrm>
            <a:prstGeom prst="rect">
              <a:avLst/>
            </a:prstGeom>
            <a:noFill/>
            <a:ln>
              <a:noFill/>
            </a:ln>
          </p:spPr>
          <p:txBody>
            <a:bodyPr wrap="none" lIns="0" tIns="0" rIns="0" bIns="0" anchor="t" anchorCtr="0">
              <a:spAutoFit/>
            </a:bodyPr>
            <a:lstStyle/>
            <a:p>
              <a:pPr algn="l"/>
              <a:r>
                <a:rPr lang="en-US" sz="1350" b="1" dirty="0">
                  <a:solidFill>
                    <a:srgbClr val="FBBF24"/>
                  </a:solidFill>
                  <a:latin typeface="+mn-lt"/>
                  <a:ea typeface="+mn-ea"/>
                  <a:cs typeface="+mn-cs"/>
                </a:rPr>
                <a:t>Reward gap by O( H · (e^Hδ − 1) )</a:t>
              </a:r>
            </a:p>
          </p:txBody>
        </p:sp>
        <p:sp>
          <p:nvSpPr>
            <p:cNvPr id="30" name="TextBox 30"/>
            <p:cNvSpPr txBox="1"/>
            <p:nvPr/>
          </p:nvSpPr>
          <p:spPr>
            <a:xfrm>
              <a:off x="6471476" y="5692854"/>
              <a:ext cx="3596469" cy="212693"/>
            </a:xfrm>
            <a:prstGeom prst="rect">
              <a:avLst/>
            </a:prstGeom>
            <a:noFill/>
            <a:ln>
              <a:noFill/>
            </a:ln>
          </p:spPr>
          <p:txBody>
            <a:bodyPr wrap="none" lIns="0" tIns="0" rIns="0" bIns="0" anchor="t" anchorCtr="0">
              <a:spAutoFit/>
            </a:bodyPr>
            <a:lstStyle/>
            <a:p>
              <a:pPr algn="l"/>
              <a:r>
                <a:rPr lang="en-US" sz="1090" dirty="0">
                  <a:solidFill>
                    <a:srgbClr val="9FB0C8"/>
                  </a:solidFill>
                  <a:latin typeface="+mn-lt"/>
                  <a:ea typeface="+mn-ea"/>
                  <a:cs typeface="+mn-cs"/>
                </a:rPr>
                <a:t>A tiny loss change, an exponential reward change.</a:t>
              </a:r>
            </a:p>
          </p:txBody>
        </p:sp>
      </p:grpSp>
      <p:sp>
        <p:nvSpPr>
          <p:cNvPr id="32" name="cue_s09_c1_few_numbers_anchor_study_empirical" title="cue_s09_c1_few_numbers_anchor_study_empirical" descr="cue_s09_c1_few_numbers_anchor_study_empirical A few numbers anchor the study. The empirical investigation covers two hundred and seventy-eight distinct interventions in continuous control."/>
          <p:cNvSpPr/>
          <p:nvPr/>
        </p:nvSpPr>
        <p:spPr>
          <a:xfrm>
            <a:off x="609600" y="1428521"/>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9_c2_rollouts_run_over_horizon_one" title="cue_s09_c2_rollouts_run_over_horizon_one" descr="cue_s09_c2_rollouts_run_over_horizon_one The rollouts run over a horizon of one thousand steps, and the theory shows the error amplification constant grows exponentially in that horizon."/>
          <p:cNvSpPr/>
          <p:nvPr/>
        </p:nvSpPr>
        <p:spPr>
          <a:xfrm>
            <a:off x="6248399" y="1428521"/>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9_c3_language_side_models_two_hundred" title="cue_s09_c3_language_side_models_two_hundred" descr="cue_s09_c3_language_side_models_two_hundred On the language side, the models are two hundred and seventy million parameter Transformers trained on TinyStories."/>
          <p:cNvSpPr/>
          <p:nvPr/>
        </p:nvSpPr>
        <p:spPr>
          <a:xfrm>
            <a:off x="609600" y="3886428"/>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9_c4_key_contrast_theory_perturbation_cha" title="cue_s09_c4_key_contrast_theory_perturbation_cha" descr="cue_s09_c4_key_contrast_theory_perturbation_cha The key contrast in the theory is that a perturbation changes the behavior cloning loss by only order H delta squared, but can change the rollout reward by order H times e to the H delta minus one, an exponential gap."/>
          <p:cNvSpPr/>
          <p:nvPr/>
        </p:nvSpPr>
        <p:spPr>
          <a:xfrm>
            <a:off x="6248399" y="3886428"/>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381000"/>
          </a:xfrm>
          <a:prstGeom prst="roundRect">
            <a:avLst>
              <a:gd name="adj" fmla="val 50000"/>
            </a:avLst>
          </a:prstGeom>
          <a:solidFill>
            <a:srgbClr val="4AA3FF"/>
          </a:solidFill>
          <a:ln>
            <a:noFill/>
          </a:ln>
        </p:spPr>
        <p:txBody>
          <a:bodyPr/>
          <a:p/>
        </p:txBody>
      </p:sp>
      <p:sp>
        <p:nvSpPr>
          <p:cNvPr id="3" name="TextBox 3"/>
          <p:cNvSpPr txBox="1"/>
          <p:nvPr/>
        </p:nvSpPr>
        <p:spPr>
          <a:xfrm>
            <a:off x="813435" y="545306"/>
            <a:ext cx="1413291" cy="220028"/>
          </a:xfrm>
          <a:prstGeom prst="rect">
            <a:avLst/>
          </a:prstGeom>
          <a:noFill/>
          <a:ln>
            <a:noFill/>
          </a:ln>
        </p:spPr>
        <p:txBody>
          <a:bodyPr wrap="none" lIns="0" tIns="0" rIns="0" bIns="0" anchor="t" anchorCtr="0">
            <a:spAutoFit/>
          </a:bodyPr>
          <a:lstStyle/>
          <a:p>
            <a:pPr algn="l"/>
            <a:r>
              <a:rPr lang="en-US" sz="1120" b="1" spc="150" dirty="0">
                <a:solidFill>
                  <a:srgbClr val="9FB0C8"/>
                </a:solidFill>
                <a:latin typeface="+mn-lt"/>
                <a:ea typeface="+mn-ea"/>
                <a:cs typeface="+mn-cs"/>
              </a:rPr>
              <a:t>09 · TAKEAWAY</a:t>
            </a:r>
          </a:p>
        </p:txBody>
      </p:sp>
      <p:sp>
        <p:nvSpPr>
          <p:cNvPr id="4" name="TextBox 4"/>
          <p:cNvSpPr txBox="1"/>
          <p:nvPr/>
        </p:nvSpPr>
        <p:spPr>
          <a:xfrm>
            <a:off x="807339" y="739616"/>
            <a:ext cx="6444818" cy="454724"/>
          </a:xfrm>
          <a:prstGeom prst="rect">
            <a:avLst/>
          </a:prstGeom>
          <a:noFill/>
          <a:ln>
            <a:noFill/>
          </a:ln>
        </p:spPr>
        <p:txBody>
          <a:bodyPr wrap="none" lIns="0" tIns="0" rIns="0" bIns="0" anchor="t" anchorCtr="0">
            <a:spAutoFit/>
          </a:bodyPr>
          <a:lstStyle/>
          <a:p>
            <a:pPr algn="l"/>
            <a:r>
              <a:rPr lang="en-US" sz="2320" b="1" dirty="0">
                <a:solidFill>
                  <a:schemeClr val="dk1"/>
                </a:solidFill>
                <a:latin typeface="+mn-lt"/>
                <a:ea typeface="+mn-ea"/>
                <a:cs typeface="+mn-cs"/>
              </a:rPr>
              <a:t>Iterate averaging belongs in the pipeline</a:t>
            </a:r>
          </a:p>
        </p:txBody>
      </p:sp>
      <p:grpSp>
        <p:nvGrpSpPr>
          <p:cNvPr id="8" name="Group 8"/>
          <p:cNvGrpSpPr/>
          <p:nvPr/>
        </p:nvGrpSpPr>
        <p:grpSpPr>
          <a:xfrm>
            <a:off x="609600" y="1428750"/>
            <a:ext cx="10972800" cy="723900"/>
            <a:chOff x="609600" y="1428750"/>
            <a:chExt cx="10972800" cy="723900"/>
          </a:xfrm>
        </p:grpSpPr>
        <p:sp>
          <p:nvSpPr>
            <p:cNvPr id="5" name="Rectangle 5"/>
            <p:cNvSpPr/>
            <p:nvPr/>
          </p:nvSpPr>
          <p:spPr>
            <a:xfrm>
              <a:off x="609600" y="1428750"/>
              <a:ext cx="10972800" cy="723900"/>
            </a:xfrm>
            <a:prstGeom prst="roundRect">
              <a:avLst>
                <a:gd name="adj" fmla="val 18421"/>
              </a:avLst>
            </a:prstGeom>
            <a:solidFill>
              <a:schemeClr val="accent5"/>
            </a:solidFill>
            <a:ln w="14288">
              <a:solidFill>
                <a:schemeClr val="accent4"/>
              </a:solidFill>
            </a:ln>
          </p:spPr>
        </p:sp>
        <p:sp>
          <p:nvSpPr>
            <p:cNvPr id="6" name="Rectangle 6"/>
            <p:cNvSpPr/>
            <p:nvPr/>
          </p:nvSpPr>
          <p:spPr>
            <a:xfrm>
              <a:off x="609600" y="1562100"/>
              <a:ext cx="47625" cy="457200"/>
            </a:xfrm>
            <a:prstGeom prst="roundRect">
              <a:avLst>
                <a:gd name="adj" fmla="val 50000"/>
              </a:avLst>
            </a:prstGeom>
            <a:solidFill>
              <a:srgbClr val="34D399"/>
            </a:solidFill>
            <a:ln>
              <a:noFill/>
            </a:ln>
          </p:spPr>
        </p:sp>
        <p:sp>
          <p:nvSpPr>
            <p:cNvPr id="7" name="TextBox 7"/>
            <p:cNvSpPr txBox="1"/>
            <p:nvPr/>
          </p:nvSpPr>
          <p:spPr>
            <a:xfrm>
              <a:off x="829818" y="1698308"/>
              <a:ext cx="4280725" cy="322707"/>
            </a:xfrm>
            <a:prstGeom prst="rect">
              <a:avLst/>
            </a:prstGeom>
            <a:noFill/>
            <a:ln>
              <a:noFill/>
            </a:ln>
          </p:spPr>
          <p:txBody>
            <a:bodyPr wrap="none" lIns="0" tIns="0" rIns="0" bIns="0" anchor="t" anchorCtr="0">
              <a:spAutoFit/>
            </a:bodyPr>
            <a:lstStyle/>
            <a:p>
              <a:pPr algn="l"/>
              <a:r>
                <a:rPr lang="en-US" sz="1650" b="1" dirty="0">
                  <a:solidFill>
                    <a:srgbClr val="34D399"/>
                  </a:solidFill>
                  <a:latin typeface="+mn-lt"/>
                  <a:ea typeface="+mn-ea"/>
                  <a:cs typeface="+mn-cs"/>
                </a:rPr>
                <a:t>The takeaway is simple and actionable</a:t>
              </a:r>
            </a:p>
          </p:txBody>
        </p:sp>
      </p:grpSp>
      <p:grpSp>
        <p:nvGrpSpPr>
          <p:cNvPr id="17" name="Group 17"/>
          <p:cNvGrpSpPr/>
          <p:nvPr/>
        </p:nvGrpSpPr>
        <p:grpSpPr>
          <a:xfrm>
            <a:off x="609600" y="2381250"/>
            <a:ext cx="5334000" cy="2038350"/>
            <a:chOff x="609600" y="2381250"/>
            <a:chExt cx="5334000" cy="2038350"/>
          </a:xfrm>
        </p:grpSpPr>
        <p:sp>
          <p:nvSpPr>
            <p:cNvPr id="9" name="Rectangle 9"/>
            <p:cNvSpPr/>
            <p:nvPr/>
          </p:nvSpPr>
          <p:spPr>
            <a:xfrm>
              <a:off x="609600" y="2381250"/>
              <a:ext cx="5334000" cy="2038350"/>
            </a:xfrm>
            <a:prstGeom prst="roundRect">
              <a:avLst>
                <a:gd name="adj" fmla="val 6542"/>
              </a:avLst>
            </a:prstGeom>
            <a:solidFill>
              <a:schemeClr val="accent5"/>
            </a:solidFill>
            <a:ln w="14288">
              <a:solidFill>
                <a:schemeClr val="accent4"/>
              </a:solidFill>
            </a:ln>
          </p:spPr>
        </p:sp>
        <p:sp>
          <p:nvSpPr>
            <p:cNvPr id="10" name="Rectangle 10"/>
            <p:cNvSpPr/>
            <p:nvPr/>
          </p:nvSpPr>
          <p:spPr>
            <a:xfrm>
              <a:off x="609600" y="2514600"/>
              <a:ext cx="47625" cy="1771650"/>
            </a:xfrm>
            <a:prstGeom prst="roundRect">
              <a:avLst>
                <a:gd name="adj" fmla="val 50000"/>
              </a:avLst>
            </a:prstGeom>
            <a:solidFill>
              <a:srgbClr val="F87171"/>
            </a:solidFill>
            <a:ln>
              <a:noFill/>
            </a:ln>
          </p:spPr>
        </p:sp>
        <p:sp>
          <p:nvSpPr>
            <p:cNvPr id="11" name="TextBox 11"/>
            <p:cNvSpPr txBox="1"/>
            <p:nvPr/>
          </p:nvSpPr>
          <p:spPr>
            <a:xfrm>
              <a:off x="830580" y="2600325"/>
              <a:ext cx="1135380" cy="293370"/>
            </a:xfrm>
            <a:prstGeom prst="rect">
              <a:avLst/>
            </a:prstGeom>
            <a:noFill/>
            <a:ln>
              <a:noFill/>
            </a:ln>
          </p:spPr>
          <p:txBody>
            <a:bodyPr wrap="none" lIns="0" tIns="0" rIns="0" bIns="0" anchor="t" anchorCtr="0">
              <a:spAutoFit/>
            </a:bodyPr>
            <a:lstStyle/>
            <a:p>
              <a:pPr algn="l"/>
              <a:r>
                <a:rPr lang="en-US" sz="1500" b="1" dirty="0">
                  <a:solidFill>
                    <a:srgbClr val="F87171"/>
                  </a:solidFill>
                  <a:latin typeface="+mn-lt"/>
                  <a:ea typeface="+mn-ea"/>
                  <a:cs typeface="+mn-cs"/>
                </a:rPr>
                <a:t>The danger</a:t>
              </a:r>
            </a:p>
          </p:txBody>
        </p:sp>
        <p:sp>
          <p:nvSpPr>
            <p:cNvPr id="12" name="TextBox 12"/>
            <p:cNvSpPr txBox="1"/>
            <p:nvPr/>
          </p:nvSpPr>
          <p:spPr>
            <a:xfrm>
              <a:off x="831342" y="2940368"/>
              <a:ext cx="369967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Stochastic gradient noise is harmless for</a:t>
              </a:r>
            </a:p>
          </p:txBody>
        </p:sp>
        <p:sp>
          <p:nvSpPr>
            <p:cNvPr id="13" name="TextBox 13"/>
            <p:cNvSpPr txBox="1"/>
            <p:nvPr/>
          </p:nvSpPr>
          <p:spPr>
            <a:xfrm>
              <a:off x="831342" y="3188018"/>
              <a:ext cx="343945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one-step training loss you watch —</a:t>
              </a:r>
            </a:p>
          </p:txBody>
        </p:sp>
        <p:sp>
          <p:nvSpPr>
            <p:cNvPr id="14" name="TextBox 14"/>
            <p:cNvSpPr txBox="1"/>
            <p:nvPr/>
          </p:nvSpPr>
          <p:spPr>
            <a:xfrm>
              <a:off x="831342" y="3435668"/>
              <a:ext cx="374841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but once your model sits inside a feedback</a:t>
              </a:r>
            </a:p>
          </p:txBody>
        </p:sp>
        <p:sp>
          <p:nvSpPr>
            <p:cNvPr id="15" name="TextBox 15"/>
            <p:cNvSpPr txBox="1"/>
            <p:nvPr/>
          </p:nvSpPr>
          <p:spPr>
            <a:xfrm>
              <a:off x="831342" y="3683318"/>
              <a:ext cx="339402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loop, that same noise is amplified into</a:t>
              </a:r>
            </a:p>
          </p:txBody>
        </p:sp>
        <p:sp>
          <p:nvSpPr>
            <p:cNvPr id="16" name="TextBox 16"/>
            <p:cNvSpPr txBox="1"/>
            <p:nvPr/>
          </p:nvSpPr>
          <p:spPr>
            <a:xfrm>
              <a:off x="831342" y="3930968"/>
              <a:ext cx="319411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catastrophic long-horizon failures.</a:t>
              </a:r>
            </a:p>
          </p:txBody>
        </p:sp>
      </p:grpSp>
      <p:grpSp>
        <p:nvGrpSpPr>
          <p:cNvPr id="26" name="Group 26"/>
          <p:cNvGrpSpPr/>
          <p:nvPr/>
        </p:nvGrpSpPr>
        <p:grpSpPr>
          <a:xfrm>
            <a:off x="6248400" y="2381250"/>
            <a:ext cx="5334000" cy="2038350"/>
            <a:chOff x="6248400" y="2381250"/>
            <a:chExt cx="5334000" cy="2038350"/>
          </a:xfrm>
        </p:grpSpPr>
        <p:sp>
          <p:nvSpPr>
            <p:cNvPr id="18" name="Rectangle 18"/>
            <p:cNvSpPr/>
            <p:nvPr/>
          </p:nvSpPr>
          <p:spPr>
            <a:xfrm>
              <a:off x="6248400" y="2381250"/>
              <a:ext cx="5334000" cy="2038350"/>
            </a:xfrm>
            <a:prstGeom prst="roundRect">
              <a:avLst>
                <a:gd name="adj" fmla="val 6542"/>
              </a:avLst>
            </a:prstGeom>
            <a:solidFill>
              <a:schemeClr val="accent5"/>
            </a:solidFill>
            <a:ln w="14288">
              <a:solidFill>
                <a:schemeClr val="accent4"/>
              </a:solidFill>
            </a:ln>
          </p:spPr>
        </p:sp>
        <p:sp>
          <p:nvSpPr>
            <p:cNvPr id="19" name="Rectangle 19"/>
            <p:cNvSpPr/>
            <p:nvPr/>
          </p:nvSpPr>
          <p:spPr>
            <a:xfrm>
              <a:off x="6248400" y="2514600"/>
              <a:ext cx="47625" cy="1771650"/>
            </a:xfrm>
            <a:prstGeom prst="roundRect">
              <a:avLst>
                <a:gd name="adj" fmla="val 50000"/>
              </a:avLst>
            </a:prstGeom>
            <a:solidFill>
              <a:srgbClr val="34D399"/>
            </a:solidFill>
            <a:ln>
              <a:noFill/>
            </a:ln>
          </p:spPr>
        </p:sp>
        <p:sp>
          <p:nvSpPr>
            <p:cNvPr id="20" name="TextBox 20"/>
            <p:cNvSpPr txBox="1"/>
            <p:nvPr/>
          </p:nvSpPr>
          <p:spPr>
            <a:xfrm>
              <a:off x="6469380" y="2600325"/>
              <a:ext cx="2068534" cy="293370"/>
            </a:xfrm>
            <a:prstGeom prst="rect">
              <a:avLst/>
            </a:prstGeom>
            <a:noFill/>
            <a:ln>
              <a:noFill/>
            </a:ln>
          </p:spPr>
          <p:txBody>
            <a:bodyPr wrap="none" lIns="0" tIns="0" rIns="0" bIns="0" anchor="t" anchorCtr="0">
              <a:spAutoFit/>
            </a:bodyPr>
            <a:lstStyle/>
            <a:p>
              <a:pPr algn="l"/>
              <a:r>
                <a:rPr lang="en-US" sz="1500" b="1" dirty="0">
                  <a:solidFill>
                    <a:srgbClr val="34D399"/>
                  </a:solidFill>
                  <a:latin typeface="+mn-lt"/>
                  <a:ea typeface="+mn-ea"/>
                  <a:cs typeface="+mn-cs"/>
                </a:rPr>
                <a:t>The almost-free fix</a:t>
              </a:r>
            </a:p>
          </p:txBody>
        </p:sp>
        <p:sp>
          <p:nvSpPr>
            <p:cNvPr id="21" name="TextBox 21"/>
            <p:cNvSpPr txBox="1"/>
            <p:nvPr/>
          </p:nvSpPr>
          <p:spPr>
            <a:xfrm>
              <a:off x="6470142" y="2940368"/>
              <a:ext cx="260910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They call it gradient variance</a:t>
              </a:r>
            </a:p>
          </p:txBody>
        </p:sp>
        <p:sp>
          <p:nvSpPr>
            <p:cNvPr id="22" name="TextBox 22"/>
            <p:cNvSpPr txBox="1"/>
            <p:nvPr/>
          </p:nvSpPr>
          <p:spPr>
            <a:xfrm>
              <a:off x="6470142" y="3188018"/>
              <a:ext cx="354565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amplification. The good news: the fix is</a:t>
              </a:r>
            </a:p>
          </p:txBody>
        </p:sp>
        <p:sp>
          <p:nvSpPr>
            <p:cNvPr id="23" name="TextBox 23"/>
            <p:cNvSpPr txBox="1"/>
            <p:nvPr/>
          </p:nvSpPr>
          <p:spPr>
            <a:xfrm>
              <a:off x="6470142" y="3435668"/>
              <a:ext cx="358187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almost free. Keep an exponential moving</a:t>
              </a:r>
            </a:p>
          </p:txBody>
        </p:sp>
        <p:sp>
          <p:nvSpPr>
            <p:cNvPr id="24" name="TextBox 24"/>
            <p:cNvSpPr txBox="1"/>
            <p:nvPr/>
          </p:nvSpPr>
          <p:spPr>
            <a:xfrm>
              <a:off x="6470142" y="3683318"/>
              <a:ext cx="338493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average of your weights and you get a</a:t>
              </a:r>
            </a:p>
          </p:txBody>
        </p:sp>
        <p:sp>
          <p:nvSpPr>
            <p:cNvPr id="25" name="TextBox 25"/>
            <p:cNvSpPr txBox="1"/>
            <p:nvPr/>
          </p:nvSpPr>
          <p:spPr>
            <a:xfrm>
              <a:off x="6470142" y="3930968"/>
              <a:ext cx="324863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cheap, broadly effective stabilizer.</a:t>
              </a:r>
            </a:p>
          </p:txBody>
        </p:sp>
      </p:grpSp>
      <p:grpSp>
        <p:nvGrpSpPr>
          <p:cNvPr id="33" name="Group 33"/>
          <p:cNvGrpSpPr/>
          <p:nvPr/>
        </p:nvGrpSpPr>
        <p:grpSpPr>
          <a:xfrm>
            <a:off x="609600" y="4629150"/>
            <a:ext cx="10972800" cy="1447800"/>
            <a:chOff x="609600" y="4629150"/>
            <a:chExt cx="10972800" cy="1447800"/>
          </a:xfrm>
        </p:grpSpPr>
        <p:sp>
          <p:nvSpPr>
            <p:cNvPr id="27" name="Rectangle 27"/>
            <p:cNvSpPr/>
            <p:nvPr/>
          </p:nvSpPr>
          <p:spPr>
            <a:xfrm>
              <a:off x="609600" y="4629150"/>
              <a:ext cx="10972800" cy="1447800"/>
            </a:xfrm>
            <a:prstGeom prst="roundRect">
              <a:avLst>
                <a:gd name="adj" fmla="val 9211"/>
              </a:avLst>
            </a:prstGeom>
            <a:solidFill>
              <a:schemeClr val="accent5"/>
            </a:solidFill>
            <a:ln w="14288">
              <a:solidFill>
                <a:schemeClr val="accent4"/>
              </a:solidFill>
            </a:ln>
          </p:spPr>
        </p:sp>
        <p:sp>
          <p:nvSpPr>
            <p:cNvPr id="28" name="Rectangle 28"/>
            <p:cNvSpPr/>
            <p:nvPr/>
          </p:nvSpPr>
          <p:spPr>
            <a:xfrm>
              <a:off x="609600" y="4762500"/>
              <a:ext cx="47625" cy="1181100"/>
            </a:xfrm>
            <a:prstGeom prst="roundRect">
              <a:avLst>
                <a:gd name="adj" fmla="val 50000"/>
              </a:avLst>
            </a:prstGeom>
            <a:solidFill>
              <a:srgbClr val="4AA3FF"/>
            </a:solidFill>
            <a:ln>
              <a:noFill/>
            </a:ln>
          </p:spPr>
        </p:sp>
        <p:sp>
          <p:nvSpPr>
            <p:cNvPr id="29" name="TextBox 29"/>
            <p:cNvSpPr txBox="1"/>
            <p:nvPr/>
          </p:nvSpPr>
          <p:spPr>
            <a:xfrm>
              <a:off x="830580" y="4848225"/>
              <a:ext cx="1187987" cy="293370"/>
            </a:xfrm>
            <a:prstGeom prst="rect">
              <a:avLst/>
            </a:prstGeom>
            <a:noFill/>
            <a:ln>
              <a:noFill/>
            </a:ln>
          </p:spPr>
          <p:txBody>
            <a:bodyPr wrap="none" lIns="0" tIns="0" rIns="0" bIns="0" anchor="t" anchorCtr="0">
              <a:spAutoFit/>
            </a:bodyPr>
            <a:lstStyle/>
            <a:p>
              <a:pPr algn="l"/>
              <a:r>
                <a:rPr lang="en-US" sz="1500" b="1" dirty="0">
                  <a:solidFill>
                    <a:srgbClr val="4AA3FF"/>
                  </a:solidFill>
                  <a:latin typeface="+mn-lt"/>
                  <a:ea typeface="+mn-ea"/>
                  <a:cs typeface="+mn-cs"/>
                </a:rPr>
                <a:t>Bottom line</a:t>
              </a:r>
            </a:p>
          </p:txBody>
        </p:sp>
        <p:sp>
          <p:nvSpPr>
            <p:cNvPr id="30" name="TextBox 30"/>
            <p:cNvSpPr txBox="1"/>
            <p:nvPr/>
          </p:nvSpPr>
          <p:spPr>
            <a:xfrm>
              <a:off x="831342" y="5188268"/>
              <a:ext cx="73801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Whether you are training a robot controller or a language model, iterate averaging</a:t>
              </a:r>
            </a:p>
          </p:txBody>
        </p:sp>
        <p:sp>
          <p:nvSpPr>
            <p:cNvPr id="31" name="TextBox 31"/>
            <p:cNvSpPr txBox="1"/>
            <p:nvPr/>
          </p:nvSpPr>
          <p:spPr>
            <a:xfrm>
              <a:off x="831342" y="5435918"/>
              <a:ext cx="764667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deserves to be a standard part of the pipeline — right next to your optimizer and your</a:t>
              </a:r>
            </a:p>
          </p:txBody>
        </p:sp>
        <p:sp>
          <p:nvSpPr>
            <p:cNvPr id="32" name="TextBox 32"/>
            <p:cNvSpPr txBox="1"/>
            <p:nvPr/>
          </p:nvSpPr>
          <p:spPr>
            <a:xfrm>
              <a:off x="831342" y="5683568"/>
              <a:ext cx="20855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learning rate schedule.</a:t>
              </a:r>
            </a:p>
          </p:txBody>
        </p:sp>
      </p:grpSp>
      <p:sp>
        <p:nvSpPr>
          <p:cNvPr id="34" name="cue_s10_c1_takeaway_simple_actionable" title="cue_s10_c1_takeaway_simple_actionable" descr="cue_s10_c1_takeaway_simple_actionable The takeaway is simple and actionable."/>
          <p:cNvSpPr/>
          <p:nvPr/>
        </p:nvSpPr>
        <p:spPr>
          <a:xfrm>
            <a:off x="609600" y="1428521"/>
            <a:ext cx="10972800"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10_c2_stochastic_gradient_noise_completely" title="cue_s10_c2_stochastic_gradient_noise_completely" descr="cue_s10_c2_stochastic_gradient_noise_completely Stochastic gradient noise is completely harmless for the one-step training loss you watch, but once your model sits inside a feedback loop, that same noise gets amplified into chaotic, catastrophic failures over long horizons."/>
          <p:cNvSpPr/>
          <p:nvPr/>
        </p:nvSpPr>
        <p:spPr>
          <a:xfrm>
            <a:off x="609600" y="2381097"/>
            <a:ext cx="533400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3_they_call_gradient_variance_amplific" title="cue_s10_c3_they_call_gradient_variance_amplific" descr="cue_s10_c3_they_call_gradient_variance_amplific They call this gradient variance amplification. The good news is that the fix is almost free. Keep an exponential moving average of your weights, and you get a cheap, broadly effective stabilizer."/>
          <p:cNvSpPr/>
          <p:nvPr/>
        </p:nvSpPr>
        <p:spPr>
          <a:xfrm>
            <a:off x="6248399" y="2381097"/>
            <a:ext cx="533400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4_whether_you_robot_controller_languag" title="cue_s10_c4_whether_you_robot_controller_languag" descr="cue_s10_c4_whether_you_robot_controller_languag Whether you are training a robot controller or a language model, iterate averaging deserves to be a standard part of the pipeline, right next to your optimizer and your learning rate schedule."/>
          <p:cNvSpPr/>
          <p:nvPr/>
        </p:nvSpPr>
        <p:spPr>
          <a:xfrm>
            <a:off x="609600" y="4629150"/>
            <a:ext cx="109728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8EEF7"/>
      </a:dk1>
      <a:lt1>
        <a:srgbClr val="0F1420"/>
      </a:lt1>
      <a:dk2>
        <a:srgbClr val="E8EEF7"/>
      </a:dk2>
      <a:lt2>
        <a:srgbClr val="0F1420"/>
      </a:lt2>
      <a:accent1>
        <a:srgbClr val="4F81BD"/>
      </a:accent1>
      <a:accent2>
        <a:srgbClr val="C0504D"/>
      </a:accent2>
      <a:accent3>
        <a:srgbClr val="9BBB59"/>
      </a:accent3>
      <a:accent4>
        <a:srgbClr val="2B3A52"/>
      </a:accent4>
      <a:accent5>
        <a:srgbClr val="182234"/>
      </a:accent5>
      <a:accent6>
        <a:srgbClr val="1E2B40"/>
      </a:accent6>
      <a:hlink>
        <a:srgbClr val="0000FF"/>
      </a:hlink>
      <a:folHlink>
        <a:srgbClr val="800080"/>
      </a:folHlink>
    </a:clrScheme>
    <a:fontScheme name="ppt_projec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2026-07-16T17:46:08Z</dcterms:created>
  <dcterms:modified xsi:type="dcterms:W3CDTF">2026-07-16T17:46:08Z</dcterms:modified>
  <cp:category/>
  <cp:contentStatus/>
</cp:coreProperties>
</file>
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ck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ck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5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1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05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9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100" kern="1200">
          <a:solidFill>
            <a:schemeClr val="tx1"/>
          </a:solidFill>
          <a:latin typeface="+mn-lt"/>
          <a:ea typeface="+mn-ea"/>
          <a:cs typeface="+mn-cs"/>
        </a:defRPr>
      </a:lvl2pPr>
      <a:lvl3pPr marL="914400" algn="l" defTabSz="457200" rtl="0" eaLnBrk="1" latinLnBrk="0" hangingPunct="1">
        <a:defRPr sz="1050" kern="1200">
          <a:solidFill>
            <a:schemeClr val="tx1"/>
          </a:solidFill>
          <a:latin typeface="+mn-lt"/>
          <a:ea typeface="+mn-ea"/>
          <a:cs typeface="+mn-cs"/>
        </a:defRPr>
      </a:lvl3pPr>
      <a:lvl4pPr marL="1371600" algn="l" defTabSz="457200" rtl="0" eaLnBrk="1" latinLnBrk="0" hangingPunct="1">
        <a:defRPr sz="1000" kern="1200">
          <a:solidFill>
            <a:schemeClr val="tx1"/>
          </a:solidFill>
          <a:latin typeface="+mn-lt"/>
          <a:ea typeface="+mn-ea"/>
          <a:cs typeface="+mn-cs"/>
        </a:defRPr>
      </a:lvl4pPr>
      <a:lvl5pPr marL="1828800" algn="l" defTabSz="457200" rtl="0" eaLnBrk="1" latinLnBrk="0" hangingPunct="1">
        <a:defRPr sz="900" kern="1200">
          <a:solidFill>
            <a:schemeClr val="tx1"/>
          </a:solidFill>
          <a:latin typeface="+mn-lt"/>
          <a:ea typeface="+mn-ea"/>
          <a:cs typeface="+mn-cs"/>
        </a:defRPr>
      </a:lvl5pPr>
      <a:lvl6pPr marL="2286000" algn="l" defTabSz="457200" rtl="0" eaLnBrk="1" latinLnBrk="0" hangingPunct="1">
        <a:defRPr sz="800" kern="1200">
          <a:solidFill>
            <a:schemeClr val="tx1"/>
          </a:solidFill>
          <a:latin typeface="+mn-lt"/>
          <a:ea typeface="+mn-ea"/>
          <a:cs typeface="+mn-cs"/>
        </a:defRPr>
      </a:lvl6pPr>
      <a:lvl7pPr marL="2743200" algn="l" defTabSz="457200" rtl="0" eaLnBrk="1" latinLnBrk="0" hangingPunct="1">
        <a:defRPr sz="80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533400" y="495300"/>
            <a:ext cx="66675" cy="323850"/>
          </a:xfrm>
          <a:prstGeom prst="roundRect">
            <a:avLst>
              <a:gd name="adj" fmla="val 42857"/>
            </a:avLst>
          </a:prstGeom>
          <a:solidFill>
            <a:srgbClr val="2FB6A8"/>
          </a:solidFill>
          <a:ln>
            <a:noFill/>
          </a:ln>
        </p:spPr>
        <p:txBody>
          <a:bodyPr/>
          <a:p/>
        </p:txBody>
      </p:sp>
      <p:sp>
        <p:nvSpPr>
          <p:cNvPr id="3" name="TextBox 3"/>
          <p:cNvSpPr txBox="1"/>
          <p:nvPr/>
        </p:nvSpPr>
        <p:spPr>
          <a:xfrm>
            <a:off x="737235" y="507206"/>
            <a:ext cx="3329777" cy="220028"/>
          </a:xfrm>
          <a:prstGeom prst="rect">
            <a:avLst/>
          </a:prstGeom>
          <a:noFill/>
          <a:ln>
            <a:noFill/>
          </a:ln>
        </p:spPr>
        <p:txBody>
          <a:bodyPr wrap="none" lIns="0" tIns="0" rIns="0" bIns="0" anchor="t" anchorCtr="0">
            <a:spAutoFit/>
          </a:bodyPr>
          <a:lstStyle/>
          <a:p>
            <a:pPr algn="l"/>
            <a:r>
              <a:rPr lang="en-US" sz="1120" b="1" spc="75" dirty="0">
                <a:solidFill>
                  <a:srgbClr val="2FB6A8"/>
                </a:solidFill>
                <a:latin typeface="+mn-lt"/>
                <a:ea typeface="+mn-ea"/>
                <a:cs typeface="+mn-cs"/>
              </a:rPr>
              <a:t>ICML 2024 · McGILL UNIVERSITY / MILA</a:t>
            </a:r>
          </a:p>
        </p:txBody>
      </p:sp>
      <p:grpSp>
        <p:nvGrpSpPr>
          <p:cNvPr id="6" name="Group 6"/>
          <p:cNvGrpSpPr/>
          <p:nvPr/>
        </p:nvGrpSpPr>
        <p:grpSpPr>
          <a:xfrm>
            <a:off x="723900" y="1023938"/>
            <a:ext cx="9566728" cy="980980"/>
            <a:chOff x="723900" y="1023938"/>
            <a:chExt cx="9566728" cy="980980"/>
          </a:xfrm>
        </p:grpSpPr>
        <p:sp>
          <p:nvSpPr>
            <p:cNvPr id="4" name="TextBox 4"/>
            <p:cNvSpPr txBox="1"/>
            <p:nvPr/>
          </p:nvSpPr>
          <p:spPr>
            <a:xfrm>
              <a:off x="723900" y="1023938"/>
              <a:ext cx="9566728" cy="733425"/>
            </a:xfrm>
            <a:prstGeom prst="rect">
              <a:avLst/>
            </a:prstGeom>
            <a:noFill/>
            <a:ln>
              <a:noFill/>
            </a:ln>
          </p:spPr>
          <p:txBody>
            <a:bodyPr wrap="none" lIns="0" tIns="0" rIns="0" bIns="0" anchor="t" anchorCtr="0">
              <a:spAutoFit/>
            </a:bodyPr>
            <a:lstStyle/>
            <a:p>
              <a:pPr algn="l"/>
              <a:r>
                <a:rPr lang="en-US" sz="3750" b="1" dirty="0">
                  <a:solidFill>
                    <a:srgbClr val="EAF2FA"/>
                  </a:solidFill>
                  <a:latin typeface="+mn-lt"/>
                  <a:ea typeface="+mn-ea"/>
                  <a:cs typeface="+mn-cs"/>
                </a:rPr>
                <a:t>Learning to Reach Goals via Diffusion</a:t>
              </a:r>
            </a:p>
          </p:txBody>
        </p:sp>
        <p:sp>
          <p:nvSpPr>
            <p:cNvPr id="5" name="TextBox 5"/>
            <p:cNvSpPr txBox="1"/>
            <p:nvPr/>
          </p:nvSpPr>
          <p:spPr>
            <a:xfrm>
              <a:off x="734949" y="1696879"/>
              <a:ext cx="7223161" cy="308039"/>
            </a:xfrm>
            <a:prstGeom prst="rect">
              <a:avLst/>
            </a:prstGeom>
            <a:noFill/>
            <a:ln>
              <a:noFill/>
            </a:ln>
          </p:spPr>
          <p:txBody>
            <a:bodyPr wrap="none" lIns="0" tIns="0" rIns="0" bIns="0" anchor="t" anchorCtr="0">
              <a:spAutoFit/>
            </a:bodyPr>
            <a:lstStyle/>
            <a:p>
              <a:pPr algn="l"/>
              <a:r>
                <a:rPr lang="en-US" sz="1580" dirty="0">
                  <a:solidFill>
                    <a:srgbClr val="9FB6CC"/>
                  </a:solidFill>
                  <a:latin typeface="+mn-lt"/>
                  <a:ea typeface="+mn-ea"/>
                  <a:cs typeface="+mn-cs"/>
                </a:rPr>
                <a:t>What if reaching a goal were just the reverse of a diffusion process?</a:t>
              </a:r>
            </a:p>
          </p:txBody>
        </p:sp>
      </p:grpSp>
      <p:grpSp>
        <p:nvGrpSpPr>
          <p:cNvPr id="14" name="Group 14"/>
          <p:cNvGrpSpPr/>
          <p:nvPr/>
        </p:nvGrpSpPr>
        <p:grpSpPr>
          <a:xfrm>
            <a:off x="533400" y="2381250"/>
            <a:ext cx="3314700" cy="2857500"/>
            <a:chOff x="533400" y="2381250"/>
            <a:chExt cx="3314700" cy="2857500"/>
          </a:xfrm>
        </p:grpSpPr>
        <p:sp>
          <p:nvSpPr>
            <p:cNvPr id="7" name="Rectangle 7"/>
            <p:cNvSpPr/>
            <p:nvPr/>
          </p:nvSpPr>
          <p:spPr>
            <a:xfrm>
              <a:off x="533400" y="2381250"/>
              <a:ext cx="3314700" cy="2857500"/>
            </a:xfrm>
            <a:prstGeom prst="roundRect">
              <a:avLst>
                <a:gd name="adj" fmla="val 4000"/>
              </a:avLst>
            </a:prstGeom>
            <a:solidFill>
              <a:schemeClr val="accent5"/>
            </a:solidFill>
            <a:ln w="11430">
              <a:solidFill>
                <a:srgbClr val="1E3E5A"/>
              </a:solidFill>
            </a:ln>
          </p:spPr>
        </p:sp>
        <p:sp>
          <p:nvSpPr>
            <p:cNvPr id="8" name="Rectangle 8"/>
            <p:cNvSpPr/>
            <p:nvPr/>
          </p:nvSpPr>
          <p:spPr>
            <a:xfrm>
              <a:off x="533400" y="2552700"/>
              <a:ext cx="47625" cy="285750"/>
            </a:xfrm>
            <a:prstGeom prst="roundRect">
              <a:avLst>
                <a:gd name="adj" fmla="val 50000"/>
              </a:avLst>
            </a:prstGeom>
            <a:solidFill>
              <a:srgbClr val="4C86F0"/>
            </a:solidFill>
            <a:ln>
              <a:noFill/>
            </a:ln>
          </p:spPr>
        </p:sp>
        <p:sp>
          <p:nvSpPr>
            <p:cNvPr id="9" name="TextBox 9"/>
            <p:cNvSpPr txBox="1"/>
            <p:nvPr/>
          </p:nvSpPr>
          <p:spPr>
            <a:xfrm>
              <a:off x="754380" y="2657475"/>
              <a:ext cx="1666196" cy="293370"/>
            </a:xfrm>
            <a:prstGeom prst="rect">
              <a:avLst/>
            </a:prstGeom>
            <a:noFill/>
            <a:ln>
              <a:noFill/>
            </a:ln>
          </p:spPr>
          <p:txBody>
            <a:bodyPr wrap="none" lIns="0" tIns="0" rIns="0" bIns="0" anchor="t" anchorCtr="0">
              <a:spAutoFit/>
            </a:bodyPr>
            <a:lstStyle/>
            <a:p>
              <a:pPr algn="l"/>
              <a:r>
                <a:rPr lang="en-US" sz="1500" b="1" dirty="0">
                  <a:solidFill>
                    <a:srgbClr val="EAF2FA"/>
                  </a:solidFill>
                  <a:latin typeface="+mn-lt"/>
                  <a:ea typeface="+mn-ea"/>
                  <a:cs typeface="+mn-cs"/>
                </a:rPr>
                <a:t>Authors &amp; venue</a:t>
              </a:r>
            </a:p>
          </p:txBody>
        </p:sp>
        <p:sp>
          <p:nvSpPr>
            <p:cNvPr id="10" name="TextBox 10"/>
            <p:cNvSpPr txBox="1"/>
            <p:nvPr/>
          </p:nvSpPr>
          <p:spPr>
            <a:xfrm>
              <a:off x="755904" y="3051810"/>
              <a:ext cx="2803581"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Vineet Jain and Siamak Ravanbakhsh</a:t>
              </a:r>
            </a:p>
          </p:txBody>
        </p:sp>
        <p:sp>
          <p:nvSpPr>
            <p:cNvPr id="11" name="TextBox 11"/>
            <p:cNvSpPr txBox="1"/>
            <p:nvPr/>
          </p:nvSpPr>
          <p:spPr>
            <a:xfrm>
              <a:off x="755904" y="3289935"/>
              <a:ext cx="1847716"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(McGill / Mila) reframe</a:t>
              </a:r>
            </a:p>
          </p:txBody>
        </p:sp>
        <p:sp>
          <p:nvSpPr>
            <p:cNvPr id="12" name="TextBox 12"/>
            <p:cNvSpPr txBox="1"/>
            <p:nvPr/>
          </p:nvSpPr>
          <p:spPr>
            <a:xfrm>
              <a:off x="755904" y="3528060"/>
              <a:ext cx="2219554"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goal-conditioned RL through</a:t>
              </a:r>
            </a:p>
          </p:txBody>
        </p:sp>
        <p:sp>
          <p:nvSpPr>
            <p:cNvPr id="13" name="TextBox 13"/>
            <p:cNvSpPr txBox="1"/>
            <p:nvPr/>
          </p:nvSpPr>
          <p:spPr>
            <a:xfrm>
              <a:off x="755904" y="3766185"/>
              <a:ext cx="2501092"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denoising diffusion. ICML 2024.</a:t>
              </a:r>
            </a:p>
          </p:txBody>
        </p:sp>
      </p:grpSp>
      <p:grpSp>
        <p:nvGrpSpPr>
          <p:cNvPr id="22" name="Group 22"/>
          <p:cNvGrpSpPr/>
          <p:nvPr/>
        </p:nvGrpSpPr>
        <p:grpSpPr>
          <a:xfrm>
            <a:off x="4438650" y="2381250"/>
            <a:ext cx="3314700" cy="2857500"/>
            <a:chOff x="4438650" y="2381250"/>
            <a:chExt cx="3314700" cy="2857500"/>
          </a:xfrm>
        </p:grpSpPr>
        <p:sp>
          <p:nvSpPr>
            <p:cNvPr id="15" name="Rectangle 15"/>
            <p:cNvSpPr/>
            <p:nvPr/>
          </p:nvSpPr>
          <p:spPr>
            <a:xfrm>
              <a:off x="4438650" y="2381250"/>
              <a:ext cx="3314700" cy="2857500"/>
            </a:xfrm>
            <a:prstGeom prst="roundRect">
              <a:avLst>
                <a:gd name="adj" fmla="val 4000"/>
              </a:avLst>
            </a:prstGeom>
            <a:solidFill>
              <a:schemeClr val="accent5"/>
            </a:solidFill>
            <a:ln w="11430">
              <a:solidFill>
                <a:srgbClr val="1E3E5A"/>
              </a:solidFill>
            </a:ln>
          </p:spPr>
        </p:sp>
        <p:sp>
          <p:nvSpPr>
            <p:cNvPr id="16" name="Rectangle 16"/>
            <p:cNvSpPr/>
            <p:nvPr/>
          </p:nvSpPr>
          <p:spPr>
            <a:xfrm>
              <a:off x="4438650" y="2552700"/>
              <a:ext cx="47625" cy="285750"/>
            </a:xfrm>
            <a:prstGeom prst="roundRect">
              <a:avLst>
                <a:gd name="adj" fmla="val 50000"/>
              </a:avLst>
            </a:prstGeom>
            <a:solidFill>
              <a:srgbClr val="2FB6A8"/>
            </a:solidFill>
            <a:ln>
              <a:noFill/>
            </a:ln>
          </p:spPr>
        </p:sp>
        <p:sp>
          <p:nvSpPr>
            <p:cNvPr id="17" name="TextBox 17"/>
            <p:cNvSpPr txBox="1"/>
            <p:nvPr/>
          </p:nvSpPr>
          <p:spPr>
            <a:xfrm>
              <a:off x="4659630" y="2657475"/>
              <a:ext cx="1909397" cy="293370"/>
            </a:xfrm>
            <a:prstGeom prst="rect">
              <a:avLst/>
            </a:prstGeom>
            <a:noFill/>
            <a:ln>
              <a:noFill/>
            </a:ln>
          </p:spPr>
          <p:txBody>
            <a:bodyPr wrap="none" lIns="0" tIns="0" rIns="0" bIns="0" anchor="t" anchorCtr="0">
              <a:spAutoFit/>
            </a:bodyPr>
            <a:lstStyle/>
            <a:p>
              <a:pPr algn="l"/>
              <a:r>
                <a:rPr lang="en-US" sz="1500" b="1" dirty="0">
                  <a:solidFill>
                    <a:srgbClr val="EAF2FA"/>
                  </a:solidFill>
                  <a:latin typeface="+mn-lt"/>
                  <a:ea typeface="+mn-ea"/>
                  <a:cs typeface="+mn-cs"/>
                </a:rPr>
                <a:t>Merlin, in one idea</a:t>
              </a:r>
            </a:p>
          </p:txBody>
        </p:sp>
        <p:sp>
          <p:nvSpPr>
            <p:cNvPr id="18" name="TextBox 18"/>
            <p:cNvSpPr txBox="1"/>
            <p:nvPr/>
          </p:nvSpPr>
          <p:spPr>
            <a:xfrm>
              <a:off x="4661154" y="3051810"/>
              <a:ext cx="2706975"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Build trajectories that drift away</a:t>
              </a:r>
            </a:p>
          </p:txBody>
        </p:sp>
        <p:sp>
          <p:nvSpPr>
            <p:cNvPr id="19" name="TextBox 19"/>
            <p:cNvSpPr txBox="1"/>
            <p:nvPr/>
          </p:nvSpPr>
          <p:spPr>
            <a:xfrm>
              <a:off x="4661154" y="3289935"/>
              <a:ext cx="2427275"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from goal states, then train a</a:t>
              </a:r>
            </a:p>
          </p:txBody>
        </p:sp>
        <p:sp>
          <p:nvSpPr>
            <p:cNvPr id="20" name="TextBox 20"/>
            <p:cNvSpPr txBox="1"/>
            <p:nvPr/>
          </p:nvSpPr>
          <p:spPr>
            <a:xfrm>
              <a:off x="4661154" y="3528060"/>
              <a:ext cx="2629205"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policy to reverse that drift, like</a:t>
              </a:r>
            </a:p>
          </p:txBody>
        </p:sp>
        <p:sp>
          <p:nvSpPr>
            <p:cNvPr id="21" name="TextBox 21"/>
            <p:cNvSpPr txBox="1"/>
            <p:nvPr/>
          </p:nvSpPr>
          <p:spPr>
            <a:xfrm>
              <a:off x="4661154" y="3766185"/>
              <a:ext cx="1676095"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a diffusion denoiser.</a:t>
              </a:r>
            </a:p>
          </p:txBody>
        </p:sp>
      </p:grpSp>
      <p:grpSp>
        <p:nvGrpSpPr>
          <p:cNvPr id="30" name="Group 30"/>
          <p:cNvGrpSpPr/>
          <p:nvPr/>
        </p:nvGrpSpPr>
        <p:grpSpPr>
          <a:xfrm>
            <a:off x="8343900" y="2381250"/>
            <a:ext cx="3314700" cy="2857500"/>
            <a:chOff x="8343900" y="2381250"/>
            <a:chExt cx="3314700" cy="2857500"/>
          </a:xfrm>
        </p:grpSpPr>
        <p:sp>
          <p:nvSpPr>
            <p:cNvPr id="23" name="Rectangle 23"/>
            <p:cNvSpPr/>
            <p:nvPr/>
          </p:nvSpPr>
          <p:spPr>
            <a:xfrm>
              <a:off x="8343900" y="2381250"/>
              <a:ext cx="3314700" cy="2857500"/>
            </a:xfrm>
            <a:prstGeom prst="roundRect">
              <a:avLst>
                <a:gd name="adj" fmla="val 4000"/>
              </a:avLst>
            </a:prstGeom>
            <a:solidFill>
              <a:schemeClr val="accent5"/>
            </a:solidFill>
            <a:ln w="11430">
              <a:solidFill>
                <a:srgbClr val="1E3E5A"/>
              </a:solidFill>
            </a:ln>
          </p:spPr>
        </p:sp>
        <p:sp>
          <p:nvSpPr>
            <p:cNvPr id="24" name="Rectangle 24"/>
            <p:cNvSpPr/>
            <p:nvPr/>
          </p:nvSpPr>
          <p:spPr>
            <a:xfrm>
              <a:off x="8343900" y="2552700"/>
              <a:ext cx="47625" cy="285750"/>
            </a:xfrm>
            <a:prstGeom prst="roundRect">
              <a:avLst>
                <a:gd name="adj" fmla="val 50000"/>
              </a:avLst>
            </a:prstGeom>
            <a:solidFill>
              <a:srgbClr val="E0A93B"/>
            </a:solidFill>
            <a:ln>
              <a:noFill/>
            </a:ln>
          </p:spPr>
        </p:sp>
        <p:sp>
          <p:nvSpPr>
            <p:cNvPr id="25" name="TextBox 25"/>
            <p:cNvSpPr txBox="1"/>
            <p:nvPr/>
          </p:nvSpPr>
          <p:spPr>
            <a:xfrm>
              <a:off x="8564880" y="2657475"/>
              <a:ext cx="1580986" cy="293370"/>
            </a:xfrm>
            <a:prstGeom prst="rect">
              <a:avLst/>
            </a:prstGeom>
            <a:noFill/>
            <a:ln>
              <a:noFill/>
            </a:ln>
          </p:spPr>
          <p:txBody>
            <a:bodyPr wrap="none" lIns="0" tIns="0" rIns="0" bIns="0" anchor="t" anchorCtr="0">
              <a:spAutoFit/>
            </a:bodyPr>
            <a:lstStyle/>
            <a:p>
              <a:pPr algn="l"/>
              <a:r>
                <a:rPr lang="en-US" sz="1500" b="1" dirty="0">
                  <a:solidFill>
                    <a:srgbClr val="EAF2FA"/>
                  </a:solidFill>
                  <a:latin typeface="+mn-lt"/>
                  <a:ea typeface="+mn-ea"/>
                  <a:cs typeface="+mn-cs"/>
                </a:rPr>
                <a:t>Why it matters</a:t>
              </a:r>
            </a:p>
          </p:txBody>
        </p:sp>
        <p:sp>
          <p:nvSpPr>
            <p:cNvPr id="26" name="TextBox 26"/>
            <p:cNvSpPr txBox="1"/>
            <p:nvPr/>
          </p:nvSpPr>
          <p:spPr>
            <a:xfrm>
              <a:off x="8566404" y="3051810"/>
              <a:ext cx="2780179"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A value-function-free method that</a:t>
              </a:r>
            </a:p>
          </p:txBody>
        </p:sp>
        <p:sp>
          <p:nvSpPr>
            <p:cNvPr id="27" name="TextBox 27"/>
            <p:cNvSpPr txBox="1"/>
            <p:nvPr/>
          </p:nvSpPr>
          <p:spPr>
            <a:xfrm>
              <a:off x="8566404" y="3289935"/>
              <a:ext cx="2871521"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reaches goals from any start, using</a:t>
              </a:r>
            </a:p>
          </p:txBody>
        </p:sp>
        <p:sp>
          <p:nvSpPr>
            <p:cNvPr id="28" name="TextBox 28"/>
            <p:cNvSpPr txBox="1"/>
            <p:nvPr/>
          </p:nvSpPr>
          <p:spPr>
            <a:xfrm>
              <a:off x="8566404" y="3528060"/>
              <a:ext cx="2088032"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a single denoising step per</a:t>
              </a:r>
            </a:p>
          </p:txBody>
        </p:sp>
        <p:sp>
          <p:nvSpPr>
            <p:cNvPr id="29" name="TextBox 29"/>
            <p:cNvSpPr txBox="1"/>
            <p:nvPr/>
          </p:nvSpPr>
          <p:spPr>
            <a:xfrm>
              <a:off x="8566404" y="3766185"/>
              <a:ext cx="1474165"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environment step.</a:t>
              </a:r>
            </a:p>
          </p:txBody>
        </p:sp>
      </p:grpSp>
      <p:sp>
        <p:nvSpPr>
          <p:cNvPr id="31" name="TextBox 31"/>
          <p:cNvSpPr txBox="1"/>
          <p:nvPr/>
        </p:nvSpPr>
        <p:spPr>
          <a:xfrm>
            <a:off x="528447" y="6619399"/>
            <a:ext cx="8448675" cy="190690"/>
          </a:xfrm>
          <a:prstGeom prst="rect">
            <a:avLst/>
          </a:prstGeom>
          <a:noFill/>
          <a:ln>
            <a:noFill/>
          </a:ln>
        </p:spPr>
        <p:txBody>
          <a:bodyPr wrap="none" lIns="0" tIns="0" rIns="0" bIns="0" anchor="t" anchorCtr="0">
            <a:spAutoFit/>
          </a:bodyPr>
          <a:lstStyle/>
          <a:p>
            <a:pPr algn="l"/>
            <a:r>
              <a:rPr lang="en-US" sz="980" dirty="0">
                <a:solidFill>
                  <a:srgbClr val="6E869C"/>
                </a:solidFill>
                <a:latin typeface="+mn-lt"/>
                <a:ea typeface="+mn-ea"/>
                <a:cs typeface="+mn-cs"/>
              </a:rPr>
              <a:t>Jain &amp; Ravanbakhsh — Learning to Reach Goals via Diffusion (ICML 2024) · arXiv:2310.02505 · code: github.com/vineetjain96/merlin</a:t>
            </a:r>
          </a:p>
        </p:txBody>
      </p:sp>
      <p:sp>
        <p:nvSpPr>
          <p:cNvPr id="32" name="cue_s01_c1_what_reaching_goal_just_reverse" title="cue_s01_c1_what_reaching_goal_just_reverse" descr="cue_s01_c1_what_reaching_goal_just_reverse What if reaching a goal were just the reverse of a diffusion process?"/>
          <p:cNvSpPr/>
          <p:nvPr/>
        </p:nvSpPr>
        <p:spPr>
          <a:xfrm>
            <a:off x="724204" y="1023899"/>
            <a:ext cx="9567062" cy="73312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cue_s01_c2_icml_2024_vineet_jain_siamak" title="cue_s01_c2_icml_2024_vineet_jain_siamak" descr="cue_s01_c2_icml_2024_vineet_jain_siamak In this ICML 2024 paper, Vineet Jain and Siamak Ravanbakhsh from McGill University and Mila reframe goal-conditioned reinforcement learning through the lens of denoising diffusion."/>
          <p:cNvSpPr/>
          <p:nvPr/>
        </p:nvSpPr>
        <p:spPr>
          <a:xfrm>
            <a:off x="532790" y="2381097"/>
            <a:ext cx="3315004"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ue_s01_c3_their_method_called_merlin_builds" title="cue_s01_c3_their_method_called_merlin_builds" descr="cue_s01_c3_their_method_called_merlin_builds Their method, called Merlin, builds trajectories that drift away from goal states and then trains a policy to reverse that drift, exactly as a diffusion model denoises noise back into data."/>
          <p:cNvSpPr/>
          <p:nvPr/>
        </p:nvSpPr>
        <p:spPr>
          <a:xfrm>
            <a:off x="4439107" y="2381097"/>
            <a:ext cx="3315004"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ue_s01_c4_result_value_function_free_approach" title="cue_s01_c4_result_value_function_free_approach" descr="cue_s01_c4_result_value_function_free_approach The result is a value-function-free approach that reaches goals from arbitrary starting states, needs only a single denoising step per environment step, and runs an order of magnitude faster than other diffusion-based reinforcement learning methods."/>
          <p:cNvSpPr/>
          <p:nvPr/>
        </p:nvSpPr>
        <p:spPr>
          <a:xfrm>
            <a:off x="8344204" y="2381097"/>
            <a:ext cx="3315004"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533400" y="495300"/>
            <a:ext cx="66675" cy="323850"/>
          </a:xfrm>
          <a:prstGeom prst="roundRect">
            <a:avLst>
              <a:gd name="adj" fmla="val 42857"/>
            </a:avLst>
          </a:prstGeom>
          <a:solidFill>
            <a:srgbClr val="2FB6A8"/>
          </a:solidFill>
          <a:ln>
            <a:noFill/>
          </a:ln>
        </p:spPr>
        <p:txBody>
          <a:bodyPr/>
          <a:p/>
        </p:txBody>
      </p:sp>
      <p:sp>
        <p:nvSpPr>
          <p:cNvPr id="3" name="TextBox 3"/>
          <p:cNvSpPr txBox="1"/>
          <p:nvPr/>
        </p:nvSpPr>
        <p:spPr>
          <a:xfrm>
            <a:off x="737235" y="507206"/>
            <a:ext cx="850362" cy="220028"/>
          </a:xfrm>
          <a:prstGeom prst="rect">
            <a:avLst/>
          </a:prstGeom>
          <a:noFill/>
          <a:ln>
            <a:noFill/>
          </a:ln>
        </p:spPr>
        <p:txBody>
          <a:bodyPr wrap="none" lIns="0" tIns="0" rIns="0" bIns="0" anchor="t" anchorCtr="0">
            <a:spAutoFit/>
          </a:bodyPr>
          <a:lstStyle/>
          <a:p>
            <a:pPr algn="l"/>
            <a:r>
              <a:rPr lang="en-US" sz="1120" b="1" spc="150" dirty="0">
                <a:solidFill>
                  <a:srgbClr val="2FB6A8"/>
                </a:solidFill>
                <a:latin typeface="+mn-lt"/>
                <a:ea typeface="+mn-ea"/>
                <a:cs typeface="+mn-cs"/>
              </a:rPr>
              <a:t>PROBLEM</a:t>
            </a:r>
          </a:p>
        </p:txBody>
      </p:sp>
      <p:sp>
        <p:nvSpPr>
          <p:cNvPr id="4" name="TextBox 4"/>
          <p:cNvSpPr txBox="1"/>
          <p:nvPr/>
        </p:nvSpPr>
        <p:spPr>
          <a:xfrm>
            <a:off x="729996" y="715328"/>
            <a:ext cx="8003305" cy="498729"/>
          </a:xfrm>
          <a:prstGeom prst="rect">
            <a:avLst/>
          </a:prstGeom>
          <a:noFill/>
          <a:ln>
            <a:noFill/>
          </a:ln>
        </p:spPr>
        <p:txBody>
          <a:bodyPr wrap="none" lIns="0" tIns="0" rIns="0" bIns="0" anchor="t" anchorCtr="0">
            <a:spAutoFit/>
          </a:bodyPr>
          <a:lstStyle/>
          <a:p>
            <a:pPr algn="l"/>
            <a:r>
              <a:rPr lang="en-US" sz="2550" b="1" dirty="0">
                <a:solidFill>
                  <a:srgbClr val="EAF2FA"/>
                </a:solidFill>
                <a:latin typeface="+mn-lt"/>
                <a:ea typeface="+mn-ea"/>
                <a:cs typeface="+mn-cs"/>
              </a:rPr>
              <a:t>Offline goal-reaching breaks value estimates</a:t>
            </a:r>
          </a:p>
        </p:txBody>
      </p:sp>
      <p:sp>
        <p:nvSpPr>
          <p:cNvPr id="5" name="TextBox 5"/>
          <p:cNvSpPr txBox="1"/>
          <p:nvPr/>
        </p:nvSpPr>
        <p:spPr>
          <a:xfrm>
            <a:off x="10511409" y="754856"/>
            <a:ext cx="1152906" cy="220028"/>
          </a:xfrm>
          <a:prstGeom prst="rect">
            <a:avLst/>
          </a:prstGeom>
          <a:noFill/>
          <a:ln>
            <a:noFill/>
          </a:ln>
        </p:spPr>
        <p:txBody>
          <a:bodyPr wrap="none" lIns="0" tIns="0" rIns="0" bIns="0" anchor="t" anchorCtr="0">
            <a:spAutoFit/>
          </a:bodyPr>
          <a:lstStyle/>
          <a:p>
            <a:pPr algn="r"/>
            <a:r>
              <a:rPr lang="en-US" sz="1120" dirty="0">
                <a:solidFill>
                  <a:srgbClr val="9FB6CC"/>
                </a:solidFill>
                <a:latin typeface="+mn-lt"/>
                <a:ea typeface="+mn-ea"/>
                <a:cs typeface="+mn-cs"/>
              </a:rPr>
              <a:t>Merlin · 02 / 09</a:t>
            </a:r>
          </a:p>
        </p:txBody>
      </p:sp>
      <p:sp>
        <p:nvSpPr>
          <p:cNvPr id="6" name="Line 6"/>
          <p:cNvSpPr/>
          <p:nvPr/>
        </p:nvSpPr>
        <p:spPr>
          <a:xfrm>
            <a:off x="533400" y="1219200"/>
            <a:ext cx="11125200" cy="9525"/>
          </a:xfrm>
          <a:custGeom>
            <a:avLst/>
            <a:gdLst/>
            <a:ahLst/>
            <a:cxnLst/>
            <a:rect l="l" t="t" r="r" b="b"/>
            <a:pathLst>
              <a:path w="11125200" h="9525">
                <a:moveTo>
                  <a:pt x="0" y="0"/>
                </a:moveTo>
                <a:lnTo>
                  <a:pt x="11125200" y="0"/>
                </a:lnTo>
              </a:path>
            </a:pathLst>
          </a:custGeom>
          <a:noFill/>
          <a:ln w="9525">
            <a:solidFill>
              <a:srgbClr val="1E3E5A"/>
            </a:solidFill>
          </a:ln>
        </p:spPr>
        <p:txBody>
          <a:bodyPr/>
          <a:p/>
        </p:txBody>
      </p:sp>
      <p:grpSp>
        <p:nvGrpSpPr>
          <p:cNvPr id="13" name="Group 13"/>
          <p:cNvGrpSpPr/>
          <p:nvPr/>
        </p:nvGrpSpPr>
        <p:grpSpPr>
          <a:xfrm>
            <a:off x="533400" y="1600200"/>
            <a:ext cx="5429250" cy="2381250"/>
            <a:chOff x="533400" y="1600200"/>
            <a:chExt cx="5429250" cy="2381250"/>
          </a:xfrm>
        </p:grpSpPr>
        <p:sp>
          <p:nvSpPr>
            <p:cNvPr id="7" name="Rectangle 7"/>
            <p:cNvSpPr/>
            <p:nvPr/>
          </p:nvSpPr>
          <p:spPr>
            <a:xfrm>
              <a:off x="533400" y="1600200"/>
              <a:ext cx="5429250" cy="2381250"/>
            </a:xfrm>
            <a:prstGeom prst="roundRect">
              <a:avLst>
                <a:gd name="adj" fmla="val 4800"/>
              </a:avLst>
            </a:prstGeom>
            <a:solidFill>
              <a:schemeClr val="accent5"/>
            </a:solidFill>
            <a:ln w="11430">
              <a:solidFill>
                <a:srgbClr val="1E3E5A"/>
              </a:solidFill>
            </a:ln>
          </p:spPr>
        </p:sp>
        <p:sp>
          <p:nvSpPr>
            <p:cNvPr id="8" name="Rectangle 8"/>
            <p:cNvSpPr/>
            <p:nvPr/>
          </p:nvSpPr>
          <p:spPr>
            <a:xfrm>
              <a:off x="533400" y="1771650"/>
              <a:ext cx="47625" cy="285750"/>
            </a:xfrm>
            <a:prstGeom prst="roundRect">
              <a:avLst>
                <a:gd name="adj" fmla="val 50000"/>
              </a:avLst>
            </a:prstGeom>
            <a:solidFill>
              <a:srgbClr val="4C86F0"/>
            </a:solidFill>
            <a:ln>
              <a:noFill/>
            </a:ln>
          </p:spPr>
        </p:sp>
        <p:sp>
          <p:nvSpPr>
            <p:cNvPr id="9" name="TextBox 9"/>
            <p:cNvSpPr txBox="1"/>
            <p:nvPr/>
          </p:nvSpPr>
          <p:spPr>
            <a:xfrm>
              <a:off x="773049" y="1849279"/>
              <a:ext cx="894050" cy="308039"/>
            </a:xfrm>
            <a:prstGeom prst="rect">
              <a:avLst/>
            </a:prstGeom>
            <a:noFill/>
            <a:ln>
              <a:noFill/>
            </a:ln>
          </p:spPr>
          <p:txBody>
            <a:bodyPr wrap="none" lIns="0" tIns="0" rIns="0" bIns="0" anchor="t" anchorCtr="0">
              <a:spAutoFit/>
            </a:bodyPr>
            <a:lstStyle/>
            <a:p>
              <a:pPr algn="l"/>
              <a:r>
                <a:rPr lang="en-US" sz="1580" b="1" dirty="0">
                  <a:solidFill>
                    <a:srgbClr val="EAF2FA"/>
                  </a:solidFill>
                  <a:latin typeface="+mn-lt"/>
                  <a:ea typeface="+mn-ea"/>
                  <a:cs typeface="+mn-cs"/>
                </a:rPr>
                <a:t>The goal</a:t>
              </a:r>
            </a:p>
          </p:txBody>
        </p:sp>
        <p:sp>
          <p:nvSpPr>
            <p:cNvPr id="10" name="TextBox 10"/>
            <p:cNvSpPr txBox="1"/>
            <p:nvPr/>
          </p:nvSpPr>
          <p:spPr>
            <a:xfrm>
              <a:off x="774954" y="2232660"/>
              <a:ext cx="3937748"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Goal-conditioned RL trains one agent to reach any</a:t>
              </a:r>
            </a:p>
          </p:txBody>
        </p:sp>
        <p:sp>
          <p:nvSpPr>
            <p:cNvPr id="11" name="TextBox 11"/>
            <p:cNvSpPr txBox="1"/>
            <p:nvPr/>
          </p:nvSpPr>
          <p:spPr>
            <a:xfrm>
              <a:off x="774954" y="2461260"/>
              <a:ext cx="4123487"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target state, with a sparse reward of 1 at the goal</a:t>
              </a:r>
            </a:p>
          </p:txBody>
        </p:sp>
        <p:sp>
          <p:nvSpPr>
            <p:cNvPr id="12" name="TextBox 12"/>
            <p:cNvSpPr txBox="1"/>
            <p:nvPr/>
          </p:nvSpPr>
          <p:spPr>
            <a:xfrm>
              <a:off x="774954" y="2689860"/>
              <a:ext cx="1344930"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and 0 elsewhere.</a:t>
              </a:r>
            </a:p>
          </p:txBody>
        </p:sp>
      </p:grpSp>
      <p:grpSp>
        <p:nvGrpSpPr>
          <p:cNvPr id="20" name="Group 20"/>
          <p:cNvGrpSpPr/>
          <p:nvPr/>
        </p:nvGrpSpPr>
        <p:grpSpPr>
          <a:xfrm>
            <a:off x="6229350" y="1600200"/>
            <a:ext cx="5429250" cy="2381250"/>
            <a:chOff x="6229350" y="1600200"/>
            <a:chExt cx="5429250" cy="2381250"/>
          </a:xfrm>
        </p:grpSpPr>
        <p:sp>
          <p:nvSpPr>
            <p:cNvPr id="14" name="Rectangle 14"/>
            <p:cNvSpPr/>
            <p:nvPr/>
          </p:nvSpPr>
          <p:spPr>
            <a:xfrm>
              <a:off x="6229350" y="1600200"/>
              <a:ext cx="5429250" cy="2381250"/>
            </a:xfrm>
            <a:prstGeom prst="roundRect">
              <a:avLst>
                <a:gd name="adj" fmla="val 4800"/>
              </a:avLst>
            </a:prstGeom>
            <a:solidFill>
              <a:schemeClr val="accent5"/>
            </a:solidFill>
            <a:ln w="11430">
              <a:solidFill>
                <a:srgbClr val="1E3E5A"/>
              </a:solidFill>
            </a:ln>
          </p:spPr>
        </p:sp>
        <p:sp>
          <p:nvSpPr>
            <p:cNvPr id="15" name="Rectangle 15"/>
            <p:cNvSpPr/>
            <p:nvPr/>
          </p:nvSpPr>
          <p:spPr>
            <a:xfrm>
              <a:off x="6229350" y="1771650"/>
              <a:ext cx="47625" cy="285750"/>
            </a:xfrm>
            <a:prstGeom prst="roundRect">
              <a:avLst>
                <a:gd name="adj" fmla="val 50000"/>
              </a:avLst>
            </a:prstGeom>
            <a:solidFill>
              <a:srgbClr val="2FB6A8"/>
            </a:solidFill>
            <a:ln>
              <a:noFill/>
            </a:ln>
          </p:spPr>
        </p:sp>
        <p:sp>
          <p:nvSpPr>
            <p:cNvPr id="16" name="TextBox 16"/>
            <p:cNvSpPr txBox="1"/>
            <p:nvPr/>
          </p:nvSpPr>
          <p:spPr>
            <a:xfrm>
              <a:off x="6468999" y="1849279"/>
              <a:ext cx="2055114" cy="308039"/>
            </a:xfrm>
            <a:prstGeom prst="rect">
              <a:avLst/>
            </a:prstGeom>
            <a:noFill/>
            <a:ln>
              <a:noFill/>
            </a:ln>
          </p:spPr>
          <p:txBody>
            <a:bodyPr wrap="none" lIns="0" tIns="0" rIns="0" bIns="0" anchor="t" anchorCtr="0">
              <a:spAutoFit/>
            </a:bodyPr>
            <a:lstStyle/>
            <a:p>
              <a:pPr algn="l"/>
              <a:r>
                <a:rPr lang="en-US" sz="1580" b="1" dirty="0">
                  <a:solidFill>
                    <a:srgbClr val="EAF2FA"/>
                  </a:solidFill>
                  <a:latin typeface="+mn-lt"/>
                  <a:ea typeface="+mn-ea"/>
                  <a:cs typeface="+mn-cs"/>
                </a:rPr>
                <a:t>Offline constraint</a:t>
              </a:r>
            </a:p>
          </p:txBody>
        </p:sp>
        <p:sp>
          <p:nvSpPr>
            <p:cNvPr id="17" name="TextBox 17"/>
            <p:cNvSpPr txBox="1"/>
            <p:nvPr/>
          </p:nvSpPr>
          <p:spPr>
            <a:xfrm>
              <a:off x="6470904" y="2232660"/>
              <a:ext cx="4153039"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In the offline setting the agent learns purely from a</a:t>
              </a:r>
            </a:p>
          </p:txBody>
        </p:sp>
        <p:sp>
          <p:nvSpPr>
            <p:cNvPr id="18" name="TextBox 18"/>
            <p:cNvSpPr txBox="1"/>
            <p:nvPr/>
          </p:nvSpPr>
          <p:spPr>
            <a:xfrm>
              <a:off x="6470904" y="2461260"/>
              <a:ext cx="3679241"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fixed, pre-collected dataset, with no further</a:t>
              </a:r>
            </a:p>
          </p:txBody>
        </p:sp>
        <p:sp>
          <p:nvSpPr>
            <p:cNvPr id="19" name="TextBox 19"/>
            <p:cNvSpPr txBox="1"/>
            <p:nvPr/>
          </p:nvSpPr>
          <p:spPr>
            <a:xfrm>
              <a:off x="6470904" y="2689860"/>
              <a:ext cx="2015338"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environment interaction.</a:t>
              </a:r>
            </a:p>
          </p:txBody>
        </p:sp>
      </p:grpSp>
      <p:grpSp>
        <p:nvGrpSpPr>
          <p:cNvPr id="27" name="Group 27"/>
          <p:cNvGrpSpPr/>
          <p:nvPr/>
        </p:nvGrpSpPr>
        <p:grpSpPr>
          <a:xfrm>
            <a:off x="533400" y="4152900"/>
            <a:ext cx="5429250" cy="2381250"/>
            <a:chOff x="533400" y="4152900"/>
            <a:chExt cx="5429250" cy="2381250"/>
          </a:xfrm>
        </p:grpSpPr>
        <p:sp>
          <p:nvSpPr>
            <p:cNvPr id="21" name="Rectangle 21"/>
            <p:cNvSpPr/>
            <p:nvPr/>
          </p:nvSpPr>
          <p:spPr>
            <a:xfrm>
              <a:off x="533400" y="4152900"/>
              <a:ext cx="5429250" cy="2381250"/>
            </a:xfrm>
            <a:prstGeom prst="roundRect">
              <a:avLst>
                <a:gd name="adj" fmla="val 4800"/>
              </a:avLst>
            </a:prstGeom>
            <a:solidFill>
              <a:schemeClr val="accent5"/>
            </a:solidFill>
            <a:ln w="11430">
              <a:solidFill>
                <a:srgbClr val="1E3E5A"/>
              </a:solidFill>
            </a:ln>
          </p:spPr>
        </p:sp>
        <p:sp>
          <p:nvSpPr>
            <p:cNvPr id="22" name="Rectangle 22"/>
            <p:cNvSpPr/>
            <p:nvPr/>
          </p:nvSpPr>
          <p:spPr>
            <a:xfrm>
              <a:off x="533400" y="4324350"/>
              <a:ext cx="47625" cy="285750"/>
            </a:xfrm>
            <a:prstGeom prst="roundRect">
              <a:avLst>
                <a:gd name="adj" fmla="val 50000"/>
              </a:avLst>
            </a:prstGeom>
            <a:solidFill>
              <a:srgbClr val="E0A93B"/>
            </a:solidFill>
            <a:ln>
              <a:noFill/>
            </a:ln>
          </p:spPr>
        </p:sp>
        <p:sp>
          <p:nvSpPr>
            <p:cNvPr id="23" name="TextBox 23"/>
            <p:cNvSpPr txBox="1"/>
            <p:nvPr/>
          </p:nvSpPr>
          <p:spPr>
            <a:xfrm>
              <a:off x="773049" y="4401979"/>
              <a:ext cx="2625214" cy="308039"/>
            </a:xfrm>
            <a:prstGeom prst="rect">
              <a:avLst/>
            </a:prstGeom>
            <a:noFill/>
            <a:ln>
              <a:noFill/>
            </a:ln>
          </p:spPr>
          <p:txBody>
            <a:bodyPr wrap="none" lIns="0" tIns="0" rIns="0" bIns="0" anchor="t" anchorCtr="0">
              <a:spAutoFit/>
            </a:bodyPr>
            <a:lstStyle/>
            <a:p>
              <a:pPr algn="l"/>
              <a:r>
                <a:rPr lang="en-US" sz="1580" b="1" dirty="0">
                  <a:solidFill>
                    <a:srgbClr val="EAF2FA"/>
                  </a:solidFill>
                  <a:latin typeface="+mn-lt"/>
                  <a:ea typeface="+mn-ea"/>
                  <a:cs typeface="+mn-cs"/>
                </a:rPr>
                <a:t>The value-function trap</a:t>
              </a:r>
            </a:p>
          </p:txBody>
        </p:sp>
        <p:sp>
          <p:nvSpPr>
            <p:cNvPr id="24" name="TextBox 24"/>
            <p:cNvSpPr txBox="1"/>
            <p:nvPr/>
          </p:nvSpPr>
          <p:spPr>
            <a:xfrm>
              <a:off x="774954" y="4785360"/>
              <a:ext cx="4298743"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Most methods estimate a value function — but offline,</a:t>
              </a:r>
            </a:p>
          </p:txBody>
        </p:sp>
        <p:sp>
          <p:nvSpPr>
            <p:cNvPr id="25" name="TextBox 25"/>
            <p:cNvSpPr txBox="1"/>
            <p:nvPr/>
          </p:nvSpPr>
          <p:spPr>
            <a:xfrm>
              <a:off x="774954" y="5013960"/>
              <a:ext cx="4131564"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with sparse binary rewards, that estimate becomes</a:t>
              </a:r>
            </a:p>
          </p:txBody>
        </p:sp>
        <p:sp>
          <p:nvSpPr>
            <p:cNvPr id="26" name="TextBox 26"/>
            <p:cNvSpPr txBox="1"/>
            <p:nvPr/>
          </p:nvSpPr>
          <p:spPr>
            <a:xfrm>
              <a:off x="774954" y="5242560"/>
              <a:ext cx="642214"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fragile.</a:t>
              </a:r>
            </a:p>
          </p:txBody>
        </p:sp>
      </p:grpSp>
      <p:grpSp>
        <p:nvGrpSpPr>
          <p:cNvPr id="34" name="Group 34"/>
          <p:cNvGrpSpPr/>
          <p:nvPr/>
        </p:nvGrpSpPr>
        <p:grpSpPr>
          <a:xfrm>
            <a:off x="6229350" y="4152900"/>
            <a:ext cx="5429250" cy="2381250"/>
            <a:chOff x="6229350" y="4152900"/>
            <a:chExt cx="5429250" cy="2381250"/>
          </a:xfrm>
        </p:grpSpPr>
        <p:sp>
          <p:nvSpPr>
            <p:cNvPr id="28" name="Rectangle 28"/>
            <p:cNvSpPr/>
            <p:nvPr/>
          </p:nvSpPr>
          <p:spPr>
            <a:xfrm>
              <a:off x="6229350" y="4152900"/>
              <a:ext cx="5429250" cy="2381250"/>
            </a:xfrm>
            <a:prstGeom prst="roundRect">
              <a:avLst>
                <a:gd name="adj" fmla="val 4800"/>
              </a:avLst>
            </a:prstGeom>
            <a:solidFill>
              <a:schemeClr val="accent5"/>
            </a:solidFill>
            <a:ln w="11430">
              <a:solidFill>
                <a:srgbClr val="1E3E5A"/>
              </a:solidFill>
            </a:ln>
          </p:spPr>
        </p:sp>
        <p:sp>
          <p:nvSpPr>
            <p:cNvPr id="29" name="Rectangle 29"/>
            <p:cNvSpPr/>
            <p:nvPr/>
          </p:nvSpPr>
          <p:spPr>
            <a:xfrm>
              <a:off x="6229350" y="4324350"/>
              <a:ext cx="47625" cy="285750"/>
            </a:xfrm>
            <a:prstGeom prst="roundRect">
              <a:avLst>
                <a:gd name="adj" fmla="val 50000"/>
              </a:avLst>
            </a:prstGeom>
            <a:solidFill>
              <a:srgbClr val="E0655B"/>
            </a:solidFill>
            <a:ln>
              <a:noFill/>
            </a:ln>
          </p:spPr>
        </p:sp>
        <p:sp>
          <p:nvSpPr>
            <p:cNvPr id="30" name="TextBox 30"/>
            <p:cNvSpPr txBox="1"/>
            <p:nvPr/>
          </p:nvSpPr>
          <p:spPr>
            <a:xfrm>
              <a:off x="6468999" y="4401979"/>
              <a:ext cx="1854750" cy="308039"/>
            </a:xfrm>
            <a:prstGeom prst="rect">
              <a:avLst/>
            </a:prstGeom>
            <a:noFill/>
            <a:ln>
              <a:noFill/>
            </a:ln>
          </p:spPr>
          <p:txBody>
            <a:bodyPr wrap="none" lIns="0" tIns="0" rIns="0" bIns="0" anchor="t" anchorCtr="0">
              <a:spAutoFit/>
            </a:bodyPr>
            <a:lstStyle/>
            <a:p>
              <a:pPr algn="l"/>
              <a:r>
                <a:rPr lang="en-US" sz="1580" b="1" dirty="0">
                  <a:solidFill>
                    <a:srgbClr val="EAF2FA"/>
                  </a:solidFill>
                  <a:latin typeface="+mn-lt"/>
                  <a:ea typeface="+mn-ea"/>
                  <a:cs typeface="+mn-cs"/>
                </a:rPr>
                <a:t>Errors compound</a:t>
              </a:r>
            </a:p>
          </p:txBody>
        </p:sp>
        <p:sp>
          <p:nvSpPr>
            <p:cNvPr id="31" name="TextBox 31"/>
            <p:cNvSpPr txBox="1"/>
            <p:nvPr/>
          </p:nvSpPr>
          <p:spPr>
            <a:xfrm>
              <a:off x="6470904" y="4785360"/>
              <a:ext cx="3878424"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Policies pick actions absent from the data; value</a:t>
              </a:r>
            </a:p>
          </p:txBody>
        </p:sp>
        <p:sp>
          <p:nvSpPr>
            <p:cNvPr id="32" name="TextBox 32"/>
            <p:cNvSpPr txBox="1"/>
            <p:nvPr/>
          </p:nvSpPr>
          <p:spPr>
            <a:xfrm>
              <a:off x="6470904" y="5013960"/>
              <a:ext cx="4406189"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estimates for them are wrong, and the errors snowball</a:t>
              </a:r>
            </a:p>
          </p:txBody>
        </p:sp>
        <p:sp>
          <p:nvSpPr>
            <p:cNvPr id="33" name="TextBox 33"/>
            <p:cNvSpPr txBox="1"/>
            <p:nvPr/>
          </p:nvSpPr>
          <p:spPr>
            <a:xfrm>
              <a:off x="6470904" y="5242560"/>
              <a:ext cx="1999183"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until the policy diverges.</a:t>
              </a:r>
            </a:p>
          </p:txBody>
        </p:sp>
      </p:grpSp>
      <p:sp>
        <p:nvSpPr>
          <p:cNvPr id="35" name="TextBox 35"/>
          <p:cNvSpPr txBox="1"/>
          <p:nvPr/>
        </p:nvSpPr>
        <p:spPr>
          <a:xfrm>
            <a:off x="528447" y="6619399"/>
            <a:ext cx="7606863" cy="190690"/>
          </a:xfrm>
          <a:prstGeom prst="rect">
            <a:avLst/>
          </a:prstGeom>
          <a:noFill/>
          <a:ln>
            <a:noFill/>
          </a:ln>
        </p:spPr>
        <p:txBody>
          <a:bodyPr wrap="none" lIns="0" tIns="0" rIns="0" bIns="0" anchor="t" anchorCtr="0">
            <a:spAutoFit/>
          </a:bodyPr>
          <a:lstStyle/>
          <a:p>
            <a:pPr algn="l"/>
            <a:r>
              <a:rPr lang="en-US" sz="980" dirty="0">
                <a:solidFill>
                  <a:srgbClr val="6E869C"/>
                </a:solidFill>
                <a:latin typeface="+mn-lt"/>
                <a:ea typeface="+mn-ea"/>
                <a:cs typeface="+mn-cs"/>
              </a:rPr>
              <a:t>Sparse binary rewards make the value-estimation problem even harder, so stability, not capacity, is the bottleneck.</a:t>
            </a:r>
          </a:p>
        </p:txBody>
      </p:sp>
      <p:sp>
        <p:nvSpPr>
          <p:cNvPr id="36" name="cue_s02_c1_goal_conditioned_reinforcement_learn" title="cue_s02_c1_goal_conditioned_reinforcement_learn" descr="cue_s02_c1_goal_conditioned_reinforcement_learn Goal-conditioned reinforcement learning aims to train a single agent that can reach any target state within an environment, using only a sparse reward of one when the goal is reached and zero otherwise."/>
          <p:cNvSpPr/>
          <p:nvPr/>
        </p:nvSpPr>
        <p:spPr>
          <a:xfrm>
            <a:off x="532790" y="1599971"/>
            <a:ext cx="5429097"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02_c2_offline_setting_agent_must_learn" title="cue_s02_c2_offline_setting_agent_must_learn" descr="cue_s02_c2_offline_setting_agent_must_learn In the offline setting, the agent must learn purely from a pre-collected dataset, without any further interaction."/>
          <p:cNvSpPr/>
          <p:nvPr/>
        </p:nvSpPr>
        <p:spPr>
          <a:xfrm>
            <a:off x="6228892" y="1599971"/>
            <a:ext cx="5429097"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2_c3_trouble_most_methods_rely_estimating" title="cue_s02_c3_trouble_most_methods_rely_estimating" descr="cue_s02_c3_trouble_most_methods_rely_estimating The trouble is that most methods rely on estimating a value function, and in the offline goal-conditioned setting this estimate is fragile."/>
          <p:cNvSpPr/>
          <p:nvPr/>
        </p:nvSpPr>
        <p:spPr>
          <a:xfrm>
            <a:off x="532790" y="4153204"/>
            <a:ext cx="5429097"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2_c4_policies_generate_actions_not_presen" title="cue_s02_c4_policies_generate_actions_not_presen" descr="cue_s02_c4_policies_generate_actions_not_presen Policies generate actions not present in the data, the value estimates for those actions are wrong, and these errors compound over time until the policy diverges. Sparse binary rewards only make the estimation problem harder."/>
          <p:cNvSpPr/>
          <p:nvPr/>
        </p:nvSpPr>
        <p:spPr>
          <a:xfrm>
            <a:off x="6228892" y="4153204"/>
            <a:ext cx="5429097"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533400" y="495300"/>
            <a:ext cx="66675" cy="323850"/>
          </a:xfrm>
          <a:prstGeom prst="roundRect">
            <a:avLst>
              <a:gd name="adj" fmla="val 42857"/>
            </a:avLst>
          </a:prstGeom>
          <a:solidFill>
            <a:srgbClr val="2FB6A8"/>
          </a:solidFill>
          <a:ln>
            <a:noFill/>
          </a:ln>
        </p:spPr>
        <p:txBody>
          <a:bodyPr/>
          <a:p/>
        </p:txBody>
      </p:sp>
      <p:sp>
        <p:nvSpPr>
          <p:cNvPr id="3" name="TextBox 3"/>
          <p:cNvSpPr txBox="1"/>
          <p:nvPr/>
        </p:nvSpPr>
        <p:spPr>
          <a:xfrm>
            <a:off x="737235" y="507206"/>
            <a:ext cx="1140190" cy="220028"/>
          </a:xfrm>
          <a:prstGeom prst="rect">
            <a:avLst/>
          </a:prstGeom>
          <a:noFill/>
          <a:ln>
            <a:noFill/>
          </a:ln>
        </p:spPr>
        <p:txBody>
          <a:bodyPr wrap="none" lIns="0" tIns="0" rIns="0" bIns="0" anchor="t" anchorCtr="0">
            <a:spAutoFit/>
          </a:bodyPr>
          <a:lstStyle/>
          <a:p>
            <a:pPr algn="l"/>
            <a:r>
              <a:rPr lang="en-US" sz="1120" b="1" spc="150" dirty="0">
                <a:solidFill>
                  <a:srgbClr val="2FB6A8"/>
                </a:solidFill>
                <a:latin typeface="+mn-lt"/>
                <a:ea typeface="+mn-ea"/>
                <a:cs typeface="+mn-cs"/>
              </a:rPr>
              <a:t>MOTIVATION</a:t>
            </a:r>
          </a:p>
        </p:txBody>
      </p:sp>
      <p:sp>
        <p:nvSpPr>
          <p:cNvPr id="4" name="TextBox 4"/>
          <p:cNvSpPr txBox="1"/>
          <p:nvPr/>
        </p:nvSpPr>
        <p:spPr>
          <a:xfrm>
            <a:off x="729996" y="715328"/>
            <a:ext cx="6093204" cy="498729"/>
          </a:xfrm>
          <a:prstGeom prst="rect">
            <a:avLst/>
          </a:prstGeom>
          <a:noFill/>
          <a:ln>
            <a:noFill/>
          </a:ln>
        </p:spPr>
        <p:txBody>
          <a:bodyPr wrap="none" lIns="0" tIns="0" rIns="0" bIns="0" anchor="t" anchorCtr="0">
            <a:spAutoFit/>
          </a:bodyPr>
          <a:lstStyle/>
          <a:p>
            <a:pPr algn="l"/>
            <a:r>
              <a:rPr lang="en-US" sz="2550" b="1" dirty="0">
                <a:solidFill>
                  <a:srgbClr val="EAF2FA"/>
                </a:solidFill>
                <a:latin typeface="+mn-lt"/>
                <a:ea typeface="+mn-ea"/>
                <a:cs typeface="+mn-cs"/>
              </a:rPr>
              <a:t>Borrow the machinery of diffusion</a:t>
            </a:r>
          </a:p>
        </p:txBody>
      </p:sp>
      <p:sp>
        <p:nvSpPr>
          <p:cNvPr id="5" name="TextBox 5"/>
          <p:cNvSpPr txBox="1"/>
          <p:nvPr/>
        </p:nvSpPr>
        <p:spPr>
          <a:xfrm>
            <a:off x="10511409" y="754856"/>
            <a:ext cx="1152906" cy="220028"/>
          </a:xfrm>
          <a:prstGeom prst="rect">
            <a:avLst/>
          </a:prstGeom>
          <a:noFill/>
          <a:ln>
            <a:noFill/>
          </a:ln>
        </p:spPr>
        <p:txBody>
          <a:bodyPr wrap="none" lIns="0" tIns="0" rIns="0" bIns="0" anchor="t" anchorCtr="0">
            <a:spAutoFit/>
          </a:bodyPr>
          <a:lstStyle/>
          <a:p>
            <a:pPr algn="r"/>
            <a:r>
              <a:rPr lang="en-US" sz="1120" dirty="0">
                <a:solidFill>
                  <a:srgbClr val="9FB6CC"/>
                </a:solidFill>
                <a:latin typeface="+mn-lt"/>
                <a:ea typeface="+mn-ea"/>
                <a:cs typeface="+mn-cs"/>
              </a:rPr>
              <a:t>Merlin · 03 / 09</a:t>
            </a:r>
          </a:p>
        </p:txBody>
      </p:sp>
      <p:sp>
        <p:nvSpPr>
          <p:cNvPr id="6" name="Line 6"/>
          <p:cNvSpPr/>
          <p:nvPr/>
        </p:nvSpPr>
        <p:spPr>
          <a:xfrm>
            <a:off x="533400" y="1219200"/>
            <a:ext cx="11125200" cy="9525"/>
          </a:xfrm>
          <a:custGeom>
            <a:avLst/>
            <a:gdLst/>
            <a:ahLst/>
            <a:cxnLst/>
            <a:rect l="l" t="t" r="r" b="b"/>
            <a:pathLst>
              <a:path w="11125200" h="9525">
                <a:moveTo>
                  <a:pt x="0" y="0"/>
                </a:moveTo>
                <a:lnTo>
                  <a:pt x="11125200" y="0"/>
                </a:lnTo>
              </a:path>
            </a:pathLst>
          </a:custGeom>
          <a:noFill/>
          <a:ln w="9525">
            <a:solidFill>
              <a:srgbClr val="1E3E5A"/>
            </a:solidFill>
          </a:ln>
        </p:spPr>
        <p:txBody>
          <a:bodyPr/>
          <a:p/>
        </p:txBody>
      </p:sp>
      <p:grpSp>
        <p:nvGrpSpPr>
          <p:cNvPr id="14" name="Group 14"/>
          <p:cNvGrpSpPr/>
          <p:nvPr/>
        </p:nvGrpSpPr>
        <p:grpSpPr>
          <a:xfrm>
            <a:off x="533400" y="1600200"/>
            <a:ext cx="5429250" cy="2381250"/>
            <a:chOff x="533400" y="1600200"/>
            <a:chExt cx="5429250" cy="2381250"/>
          </a:xfrm>
        </p:grpSpPr>
        <p:sp>
          <p:nvSpPr>
            <p:cNvPr id="7" name="Rectangle 7"/>
            <p:cNvSpPr/>
            <p:nvPr/>
          </p:nvSpPr>
          <p:spPr>
            <a:xfrm>
              <a:off x="533400" y="1600200"/>
              <a:ext cx="5429250" cy="2381250"/>
            </a:xfrm>
            <a:prstGeom prst="roundRect">
              <a:avLst>
                <a:gd name="adj" fmla="val 4800"/>
              </a:avLst>
            </a:prstGeom>
            <a:solidFill>
              <a:schemeClr val="accent5"/>
            </a:solidFill>
            <a:ln w="11430">
              <a:solidFill>
                <a:srgbClr val="1E3E5A"/>
              </a:solidFill>
            </a:ln>
          </p:spPr>
        </p:sp>
        <p:sp>
          <p:nvSpPr>
            <p:cNvPr id="8" name="Rectangle 8"/>
            <p:cNvSpPr/>
            <p:nvPr/>
          </p:nvSpPr>
          <p:spPr>
            <a:xfrm>
              <a:off x="533400" y="1771650"/>
              <a:ext cx="47625" cy="285750"/>
            </a:xfrm>
            <a:prstGeom prst="roundRect">
              <a:avLst>
                <a:gd name="adj" fmla="val 50000"/>
              </a:avLst>
            </a:prstGeom>
            <a:solidFill>
              <a:srgbClr val="4C86F0"/>
            </a:solidFill>
            <a:ln>
              <a:noFill/>
            </a:ln>
          </p:spPr>
        </p:sp>
        <p:sp>
          <p:nvSpPr>
            <p:cNvPr id="9" name="TextBox 9"/>
            <p:cNvSpPr txBox="1"/>
            <p:nvPr/>
          </p:nvSpPr>
          <p:spPr>
            <a:xfrm>
              <a:off x="773049" y="1849279"/>
              <a:ext cx="1809421" cy="308039"/>
            </a:xfrm>
            <a:prstGeom prst="rect">
              <a:avLst/>
            </a:prstGeom>
            <a:noFill/>
            <a:ln>
              <a:noFill/>
            </a:ln>
          </p:spPr>
          <p:txBody>
            <a:bodyPr wrap="none" lIns="0" tIns="0" rIns="0" bIns="0" anchor="t" anchorCtr="0">
              <a:spAutoFit/>
            </a:bodyPr>
            <a:lstStyle/>
            <a:p>
              <a:pPr algn="l"/>
              <a:r>
                <a:rPr lang="en-US" sz="1580" b="1" dirty="0">
                  <a:solidFill>
                    <a:srgbClr val="EAF2FA"/>
                  </a:solidFill>
                  <a:latin typeface="+mn-lt"/>
                  <a:ea typeface="+mn-ea"/>
                  <a:cs typeface="+mn-cs"/>
                </a:rPr>
                <a:t>Diffusion models</a:t>
              </a:r>
            </a:p>
          </p:txBody>
        </p:sp>
        <p:sp>
          <p:nvSpPr>
            <p:cNvPr id="10" name="TextBox 10"/>
            <p:cNvSpPr txBox="1"/>
            <p:nvPr/>
          </p:nvSpPr>
          <p:spPr>
            <a:xfrm>
              <a:off x="774954" y="2232660"/>
              <a:ext cx="3886646"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A powerful generative family: a forward process</a:t>
              </a:r>
            </a:p>
          </p:txBody>
        </p:sp>
        <p:sp>
          <p:nvSpPr>
            <p:cNvPr id="11" name="TextBox 11"/>
            <p:cNvSpPr txBox="1"/>
            <p:nvPr/>
          </p:nvSpPr>
          <p:spPr>
            <a:xfrm>
              <a:off x="774954" y="2461260"/>
              <a:ext cx="3838114"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destroys data into Gaussian noise, and a learned</a:t>
              </a:r>
            </a:p>
          </p:txBody>
        </p:sp>
        <p:sp>
          <p:nvSpPr>
            <p:cNvPr id="12" name="TextBox 12"/>
            <p:cNvSpPr txBox="1"/>
            <p:nvPr/>
          </p:nvSpPr>
          <p:spPr>
            <a:xfrm>
              <a:off x="774954" y="2689860"/>
              <a:ext cx="3428848"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reverse process denoises it back — no value</a:t>
              </a:r>
            </a:p>
          </p:txBody>
        </p:sp>
        <p:sp>
          <p:nvSpPr>
            <p:cNvPr id="13" name="TextBox 13"/>
            <p:cNvSpPr txBox="1"/>
            <p:nvPr/>
          </p:nvSpPr>
          <p:spPr>
            <a:xfrm>
              <a:off x="774954" y="2918460"/>
              <a:ext cx="771449"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function.</a:t>
              </a:r>
            </a:p>
          </p:txBody>
        </p:sp>
      </p:grpSp>
      <p:grpSp>
        <p:nvGrpSpPr>
          <p:cNvPr id="21" name="Group 21"/>
          <p:cNvGrpSpPr/>
          <p:nvPr/>
        </p:nvGrpSpPr>
        <p:grpSpPr>
          <a:xfrm>
            <a:off x="6229350" y="1600200"/>
            <a:ext cx="5429250" cy="2381250"/>
            <a:chOff x="6229350" y="1600200"/>
            <a:chExt cx="5429250" cy="2381250"/>
          </a:xfrm>
        </p:grpSpPr>
        <p:sp>
          <p:nvSpPr>
            <p:cNvPr id="15" name="Rectangle 15"/>
            <p:cNvSpPr/>
            <p:nvPr/>
          </p:nvSpPr>
          <p:spPr>
            <a:xfrm>
              <a:off x="6229350" y="1600200"/>
              <a:ext cx="5429250" cy="2381250"/>
            </a:xfrm>
            <a:prstGeom prst="roundRect">
              <a:avLst>
                <a:gd name="adj" fmla="val 4800"/>
              </a:avLst>
            </a:prstGeom>
            <a:solidFill>
              <a:schemeClr val="accent5"/>
            </a:solidFill>
            <a:ln w="11430">
              <a:solidFill>
                <a:srgbClr val="1E3E5A"/>
              </a:solidFill>
            </a:ln>
          </p:spPr>
        </p:sp>
        <p:sp>
          <p:nvSpPr>
            <p:cNvPr id="16" name="Rectangle 16"/>
            <p:cNvSpPr/>
            <p:nvPr/>
          </p:nvSpPr>
          <p:spPr>
            <a:xfrm>
              <a:off x="6229350" y="1771650"/>
              <a:ext cx="47625" cy="285750"/>
            </a:xfrm>
            <a:prstGeom prst="roundRect">
              <a:avLst>
                <a:gd name="adj" fmla="val 50000"/>
              </a:avLst>
            </a:prstGeom>
            <a:solidFill>
              <a:srgbClr val="2FB6A8"/>
            </a:solidFill>
            <a:ln>
              <a:noFill/>
            </a:ln>
          </p:spPr>
        </p:sp>
        <p:sp>
          <p:nvSpPr>
            <p:cNvPr id="17" name="TextBox 17"/>
            <p:cNvSpPr txBox="1"/>
            <p:nvPr/>
          </p:nvSpPr>
          <p:spPr>
            <a:xfrm>
              <a:off x="6468999" y="1849279"/>
              <a:ext cx="1821114" cy="308039"/>
            </a:xfrm>
            <a:prstGeom prst="rect">
              <a:avLst/>
            </a:prstGeom>
            <a:noFill/>
            <a:ln>
              <a:noFill/>
            </a:ln>
          </p:spPr>
          <p:txBody>
            <a:bodyPr wrap="none" lIns="0" tIns="0" rIns="0" bIns="0" anchor="t" anchorCtr="0">
              <a:spAutoFit/>
            </a:bodyPr>
            <a:lstStyle/>
            <a:p>
              <a:pPr algn="l"/>
              <a:r>
                <a:rPr lang="en-US" sz="1580" b="1" dirty="0">
                  <a:solidFill>
                    <a:srgbClr val="EAF2FA"/>
                  </a:solidFill>
                  <a:latin typeface="+mn-lt"/>
                  <a:ea typeface="+mn-ea"/>
                  <a:cs typeface="+mn-cs"/>
                </a:rPr>
                <a:t>The key question</a:t>
              </a:r>
            </a:p>
          </p:txBody>
        </p:sp>
        <p:sp>
          <p:nvSpPr>
            <p:cNvPr id="18" name="TextBox 18"/>
            <p:cNvSpPr txBox="1"/>
            <p:nvPr/>
          </p:nvSpPr>
          <p:spPr>
            <a:xfrm>
              <a:off x="6470904" y="2232660"/>
              <a:ext cx="3232604"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What if we treat goal states as the data</a:t>
              </a:r>
            </a:p>
          </p:txBody>
        </p:sp>
        <p:sp>
          <p:nvSpPr>
            <p:cNvPr id="19" name="TextBox 19"/>
            <p:cNvSpPr txBox="1"/>
            <p:nvPr/>
          </p:nvSpPr>
          <p:spPr>
            <a:xfrm>
              <a:off x="6470904" y="2461260"/>
              <a:ext cx="4115410"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distribution we want to model, and learn to reverse</a:t>
              </a:r>
            </a:p>
          </p:txBody>
        </p:sp>
        <p:sp>
          <p:nvSpPr>
            <p:cNvPr id="20" name="TextBox 20"/>
            <p:cNvSpPr txBox="1"/>
            <p:nvPr/>
          </p:nvSpPr>
          <p:spPr>
            <a:xfrm>
              <a:off x="6470904" y="2689860"/>
              <a:ext cx="3057296"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a process that walks away from them?</a:t>
              </a:r>
            </a:p>
          </p:txBody>
        </p:sp>
      </p:grpSp>
      <p:grpSp>
        <p:nvGrpSpPr>
          <p:cNvPr id="28" name="Group 28"/>
          <p:cNvGrpSpPr/>
          <p:nvPr/>
        </p:nvGrpSpPr>
        <p:grpSpPr>
          <a:xfrm>
            <a:off x="533400" y="4152900"/>
            <a:ext cx="5429250" cy="2381250"/>
            <a:chOff x="533400" y="4152900"/>
            <a:chExt cx="5429250" cy="2381250"/>
          </a:xfrm>
        </p:grpSpPr>
        <p:sp>
          <p:nvSpPr>
            <p:cNvPr id="22" name="Rectangle 22"/>
            <p:cNvSpPr/>
            <p:nvPr/>
          </p:nvSpPr>
          <p:spPr>
            <a:xfrm>
              <a:off x="533400" y="4152900"/>
              <a:ext cx="5429250" cy="2381250"/>
            </a:xfrm>
            <a:prstGeom prst="roundRect">
              <a:avLst>
                <a:gd name="adj" fmla="val 4800"/>
              </a:avLst>
            </a:prstGeom>
            <a:solidFill>
              <a:schemeClr val="accent5"/>
            </a:solidFill>
            <a:ln w="11430">
              <a:solidFill>
                <a:srgbClr val="1E3E5A"/>
              </a:solidFill>
            </a:ln>
          </p:spPr>
        </p:sp>
        <p:sp>
          <p:nvSpPr>
            <p:cNvPr id="23" name="Rectangle 23"/>
            <p:cNvSpPr/>
            <p:nvPr/>
          </p:nvSpPr>
          <p:spPr>
            <a:xfrm>
              <a:off x="533400" y="4324350"/>
              <a:ext cx="47625" cy="285750"/>
            </a:xfrm>
            <a:prstGeom prst="roundRect">
              <a:avLst>
                <a:gd name="adj" fmla="val 50000"/>
              </a:avLst>
            </a:prstGeom>
            <a:solidFill>
              <a:srgbClr val="E0A93B"/>
            </a:solidFill>
            <a:ln>
              <a:noFill/>
            </a:ln>
          </p:spPr>
        </p:sp>
        <p:sp>
          <p:nvSpPr>
            <p:cNvPr id="24" name="TextBox 24"/>
            <p:cNvSpPr txBox="1"/>
            <p:nvPr/>
          </p:nvSpPr>
          <p:spPr>
            <a:xfrm>
              <a:off x="773049" y="4401979"/>
              <a:ext cx="1262525" cy="308039"/>
            </a:xfrm>
            <a:prstGeom prst="rect">
              <a:avLst/>
            </a:prstGeom>
            <a:noFill/>
            <a:ln>
              <a:noFill/>
            </a:ln>
          </p:spPr>
          <p:txBody>
            <a:bodyPr wrap="none" lIns="0" tIns="0" rIns="0" bIns="0" anchor="t" anchorCtr="0">
              <a:spAutoFit/>
            </a:bodyPr>
            <a:lstStyle/>
            <a:p>
              <a:pPr algn="l"/>
              <a:r>
                <a:rPr lang="en-US" sz="1580" b="1" dirty="0">
                  <a:solidFill>
                    <a:srgbClr val="EAF2FA"/>
                  </a:solidFill>
                  <a:latin typeface="+mn-lt"/>
                  <a:ea typeface="+mn-ea"/>
                  <a:cs typeface="+mn-cs"/>
                </a:rPr>
                <a:t>The analogy</a:t>
              </a:r>
            </a:p>
          </p:txBody>
        </p:sp>
        <p:sp>
          <p:nvSpPr>
            <p:cNvPr id="25" name="TextBox 25"/>
            <p:cNvSpPr txBox="1"/>
            <p:nvPr/>
          </p:nvSpPr>
          <p:spPr>
            <a:xfrm>
              <a:off x="774954" y="4785360"/>
              <a:ext cx="4168133"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Noise walks away from the data manifold; in GCRL we</a:t>
              </a:r>
            </a:p>
          </p:txBody>
        </p:sp>
        <p:sp>
          <p:nvSpPr>
            <p:cNvPr id="26" name="TextBox 26"/>
            <p:cNvSpPr txBox="1"/>
            <p:nvPr/>
          </p:nvSpPr>
          <p:spPr>
            <a:xfrm>
              <a:off x="774954" y="5013960"/>
              <a:ext cx="3832708"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can construct trajectories that walk away from</a:t>
              </a:r>
            </a:p>
          </p:txBody>
        </p:sp>
        <p:sp>
          <p:nvSpPr>
            <p:cNvPr id="27" name="TextBox 27"/>
            <p:cNvSpPr txBox="1"/>
            <p:nvPr/>
          </p:nvSpPr>
          <p:spPr>
            <a:xfrm>
              <a:off x="774954" y="5242560"/>
              <a:ext cx="1272235"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potential goals.</a:t>
              </a:r>
            </a:p>
          </p:txBody>
        </p:sp>
      </p:grpSp>
      <p:grpSp>
        <p:nvGrpSpPr>
          <p:cNvPr id="35" name="Group 35"/>
          <p:cNvGrpSpPr/>
          <p:nvPr/>
        </p:nvGrpSpPr>
        <p:grpSpPr>
          <a:xfrm>
            <a:off x="6229350" y="4152900"/>
            <a:ext cx="5429250" cy="2381250"/>
            <a:chOff x="6229350" y="4152900"/>
            <a:chExt cx="5429250" cy="2381250"/>
          </a:xfrm>
        </p:grpSpPr>
        <p:sp>
          <p:nvSpPr>
            <p:cNvPr id="29" name="Rectangle 29"/>
            <p:cNvSpPr/>
            <p:nvPr/>
          </p:nvSpPr>
          <p:spPr>
            <a:xfrm>
              <a:off x="6229350" y="4152900"/>
              <a:ext cx="5429250" cy="2381250"/>
            </a:xfrm>
            <a:prstGeom prst="roundRect">
              <a:avLst>
                <a:gd name="adj" fmla="val 4800"/>
              </a:avLst>
            </a:prstGeom>
            <a:solidFill>
              <a:schemeClr val="accent5"/>
            </a:solidFill>
            <a:ln w="11430">
              <a:solidFill>
                <a:srgbClr val="1E3E5A"/>
              </a:solidFill>
            </a:ln>
          </p:spPr>
        </p:sp>
        <p:sp>
          <p:nvSpPr>
            <p:cNvPr id="30" name="Rectangle 30"/>
            <p:cNvSpPr/>
            <p:nvPr/>
          </p:nvSpPr>
          <p:spPr>
            <a:xfrm>
              <a:off x="6229350" y="4324350"/>
              <a:ext cx="47625" cy="285750"/>
            </a:xfrm>
            <a:prstGeom prst="roundRect">
              <a:avLst>
                <a:gd name="adj" fmla="val 50000"/>
              </a:avLst>
            </a:prstGeom>
            <a:solidFill>
              <a:srgbClr val="49C08A"/>
            </a:solidFill>
            <a:ln>
              <a:noFill/>
            </a:ln>
          </p:spPr>
        </p:sp>
        <p:sp>
          <p:nvSpPr>
            <p:cNvPr id="31" name="TextBox 31"/>
            <p:cNvSpPr txBox="1"/>
            <p:nvPr/>
          </p:nvSpPr>
          <p:spPr>
            <a:xfrm>
              <a:off x="6468999" y="4401979"/>
              <a:ext cx="1318675" cy="308039"/>
            </a:xfrm>
            <a:prstGeom prst="rect">
              <a:avLst/>
            </a:prstGeom>
            <a:noFill/>
            <a:ln>
              <a:noFill/>
            </a:ln>
          </p:spPr>
          <p:txBody>
            <a:bodyPr wrap="none" lIns="0" tIns="0" rIns="0" bIns="0" anchor="t" anchorCtr="0">
              <a:spAutoFit/>
            </a:bodyPr>
            <a:lstStyle/>
            <a:p>
              <a:pPr algn="l"/>
              <a:r>
                <a:rPr lang="en-US" sz="1580" b="1" dirty="0">
                  <a:solidFill>
                    <a:srgbClr val="EAF2FA"/>
                  </a:solidFill>
                  <a:latin typeface="+mn-lt"/>
                  <a:ea typeface="+mn-ea"/>
                  <a:cs typeface="+mn-cs"/>
                </a:rPr>
                <a:t>Why it helps</a:t>
              </a:r>
            </a:p>
          </p:txBody>
        </p:sp>
        <p:sp>
          <p:nvSpPr>
            <p:cNvPr id="32" name="TextBox 32"/>
            <p:cNvSpPr txBox="1"/>
            <p:nvPr/>
          </p:nvSpPr>
          <p:spPr>
            <a:xfrm>
              <a:off x="6470904" y="4785360"/>
              <a:ext cx="3595585"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Learning to reverse those deviations mirrors</a:t>
              </a:r>
            </a:p>
          </p:txBody>
        </p:sp>
        <p:sp>
          <p:nvSpPr>
            <p:cNvPr id="33" name="TextBox 33"/>
            <p:cNvSpPr txBox="1"/>
            <p:nvPr/>
          </p:nvSpPr>
          <p:spPr>
            <a:xfrm>
              <a:off x="6470904" y="5013960"/>
              <a:ext cx="4107332"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learning the score function — sidestepping the value</a:t>
              </a:r>
            </a:p>
          </p:txBody>
        </p:sp>
        <p:sp>
          <p:nvSpPr>
            <p:cNvPr id="34" name="TextBox 34"/>
            <p:cNvSpPr txBox="1"/>
            <p:nvPr/>
          </p:nvSpPr>
          <p:spPr>
            <a:xfrm>
              <a:off x="6470904" y="5242560"/>
              <a:ext cx="3267304"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estimation that plagues offline methods.</a:t>
              </a:r>
            </a:p>
          </p:txBody>
        </p:sp>
      </p:grpSp>
      <p:sp>
        <p:nvSpPr>
          <p:cNvPr id="36" name="TextBox 36"/>
          <p:cNvSpPr txBox="1"/>
          <p:nvPr/>
        </p:nvSpPr>
        <p:spPr>
          <a:xfrm>
            <a:off x="528447" y="6619399"/>
            <a:ext cx="7896912" cy="190690"/>
          </a:xfrm>
          <a:prstGeom prst="rect">
            <a:avLst/>
          </a:prstGeom>
          <a:noFill/>
          <a:ln>
            <a:noFill/>
          </a:ln>
        </p:spPr>
        <p:txBody>
          <a:bodyPr wrap="none" lIns="0" tIns="0" rIns="0" bIns="0" anchor="t" anchorCtr="0">
            <a:spAutoFit/>
          </a:bodyPr>
          <a:lstStyle/>
          <a:p>
            <a:pPr algn="l"/>
            <a:r>
              <a:rPr lang="en-US" sz="980" dirty="0">
                <a:solidFill>
                  <a:srgbClr val="6E869C"/>
                </a:solidFill>
                <a:latin typeface="+mn-lt"/>
                <a:ea typeface="+mn-ea"/>
                <a:cs typeface="+mn-cs"/>
              </a:rPr>
              <a:t>Prior fixes add policy constraints or conservative value updates, which compromise performance and hurt generalization.</a:t>
            </a:r>
          </a:p>
        </p:txBody>
      </p:sp>
      <p:sp>
        <p:nvSpPr>
          <p:cNvPr id="37" name="cue_s03_c1_diffusion_models_become_powerful_cla" title="cue_s03_c1_diffusion_models_become_powerful_cla" descr="cue_s03_c1_diffusion_models_become_powerful_cla Diffusion models have become a powerful class of generative models. They work by defining a forward process that gradually destroys data into Gaussian noise, then learning a reverse process that denoises noise back into realistic samples, without ever estimati"/>
          <p:cNvSpPr/>
          <p:nvPr/>
        </p:nvSpPr>
        <p:spPr>
          <a:xfrm>
            <a:off x="532790" y="1599971"/>
            <a:ext cx="5429097"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3_c2_authors_ask_simple_question_what" title="cue_s03_c2_authors_ask_simple_question_what" descr="cue_s03_c2_authors_ask_simple_question_what The authors ask a simple question: what if we treat goal states as the data distribution we want to model?"/>
          <p:cNvSpPr/>
          <p:nvPr/>
        </p:nvSpPr>
        <p:spPr>
          <a:xfrm>
            <a:off x="6228892" y="1599971"/>
            <a:ext cx="5429097"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3_c3_diffusion_noise_walks_away_manifold" title="cue_s03_c3_diffusion_noise_walks_away_manifold" descr="cue_s03_c3_diffusion_noise_walks_away_manifold In a diffusion model, noise walks away from the data manifold; in goal-conditioned reinforcement learning, we can construct trajectories that walk away from potential goals."/>
          <p:cNvSpPr/>
          <p:nvPr/>
        </p:nvSpPr>
        <p:spPr>
          <a:xfrm>
            <a:off x="532790" y="4153204"/>
            <a:ext cx="5429097"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3_c4_learning_reverse_those_deviations_di" title="cue_s03_c4_learning_reverse_those_deviations_di" descr="cue_s03_c4_learning_reverse_those_deviations_di Learning to reverse those deviations is directly analogous to learning the score function, and it sidesteps the value-estimation problems that plague offline methods."/>
          <p:cNvSpPr/>
          <p:nvPr/>
        </p:nvSpPr>
        <p:spPr>
          <a:xfrm>
            <a:off x="6228892" y="4153204"/>
            <a:ext cx="5429097"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533400" y="495300"/>
            <a:ext cx="66675" cy="323850"/>
          </a:xfrm>
          <a:prstGeom prst="roundRect">
            <a:avLst>
              <a:gd name="adj" fmla="val 42857"/>
            </a:avLst>
          </a:prstGeom>
          <a:solidFill>
            <a:srgbClr val="2FB6A8"/>
          </a:solidFill>
          <a:ln>
            <a:noFill/>
          </a:ln>
        </p:spPr>
        <p:txBody>
          <a:bodyPr/>
          <a:p/>
        </p:txBody>
      </p:sp>
      <p:sp>
        <p:nvSpPr>
          <p:cNvPr id="3" name="TextBox 3"/>
          <p:cNvSpPr txBox="1"/>
          <p:nvPr/>
        </p:nvSpPr>
        <p:spPr>
          <a:xfrm>
            <a:off x="737235" y="507206"/>
            <a:ext cx="1333409" cy="220028"/>
          </a:xfrm>
          <a:prstGeom prst="rect">
            <a:avLst/>
          </a:prstGeom>
          <a:noFill/>
          <a:ln>
            <a:noFill/>
          </a:ln>
        </p:spPr>
        <p:txBody>
          <a:bodyPr wrap="none" lIns="0" tIns="0" rIns="0" bIns="0" anchor="t" anchorCtr="0">
            <a:spAutoFit/>
          </a:bodyPr>
          <a:lstStyle/>
          <a:p>
            <a:pPr algn="l"/>
            <a:r>
              <a:rPr lang="en-US" sz="1120" b="1" spc="150" dirty="0">
                <a:solidFill>
                  <a:srgbClr val="2FB6A8"/>
                </a:solidFill>
                <a:latin typeface="+mn-lt"/>
                <a:ea typeface="+mn-ea"/>
                <a:cs typeface="+mn-cs"/>
              </a:rPr>
              <a:t>CONTRIBUTION</a:t>
            </a:r>
          </a:p>
        </p:txBody>
      </p:sp>
      <p:sp>
        <p:nvSpPr>
          <p:cNvPr id="4" name="TextBox 4"/>
          <p:cNvSpPr txBox="1"/>
          <p:nvPr/>
        </p:nvSpPr>
        <p:spPr>
          <a:xfrm>
            <a:off x="729996" y="715328"/>
            <a:ext cx="3533220" cy="498729"/>
          </a:xfrm>
          <a:prstGeom prst="rect">
            <a:avLst/>
          </a:prstGeom>
          <a:noFill/>
          <a:ln>
            <a:noFill/>
          </a:ln>
        </p:spPr>
        <p:txBody>
          <a:bodyPr wrap="none" lIns="0" tIns="0" rIns="0" bIns="0" anchor="t" anchorCtr="0">
            <a:spAutoFit/>
          </a:bodyPr>
          <a:lstStyle/>
          <a:p>
            <a:pPr algn="l"/>
            <a:r>
              <a:rPr lang="en-US" sz="2550" b="1" dirty="0">
                <a:solidFill>
                  <a:srgbClr val="EAF2FA"/>
                </a:solidFill>
                <a:latin typeface="+mn-lt"/>
                <a:ea typeface="+mn-ea"/>
                <a:cs typeface="+mn-cs"/>
              </a:rPr>
              <a:t>Three contributions</a:t>
            </a:r>
          </a:p>
        </p:txBody>
      </p:sp>
      <p:sp>
        <p:nvSpPr>
          <p:cNvPr id="5" name="TextBox 5"/>
          <p:cNvSpPr txBox="1"/>
          <p:nvPr/>
        </p:nvSpPr>
        <p:spPr>
          <a:xfrm>
            <a:off x="10511409" y="754856"/>
            <a:ext cx="1152906" cy="220028"/>
          </a:xfrm>
          <a:prstGeom prst="rect">
            <a:avLst/>
          </a:prstGeom>
          <a:noFill/>
          <a:ln>
            <a:noFill/>
          </a:ln>
        </p:spPr>
        <p:txBody>
          <a:bodyPr wrap="none" lIns="0" tIns="0" rIns="0" bIns="0" anchor="t" anchorCtr="0">
            <a:spAutoFit/>
          </a:bodyPr>
          <a:lstStyle/>
          <a:p>
            <a:pPr algn="r"/>
            <a:r>
              <a:rPr lang="en-US" sz="1120" dirty="0">
                <a:solidFill>
                  <a:srgbClr val="9FB6CC"/>
                </a:solidFill>
                <a:latin typeface="+mn-lt"/>
                <a:ea typeface="+mn-ea"/>
                <a:cs typeface="+mn-cs"/>
              </a:rPr>
              <a:t>Merlin · 04 / 09</a:t>
            </a:r>
          </a:p>
        </p:txBody>
      </p:sp>
      <p:sp>
        <p:nvSpPr>
          <p:cNvPr id="6" name="Line 6"/>
          <p:cNvSpPr/>
          <p:nvPr/>
        </p:nvSpPr>
        <p:spPr>
          <a:xfrm>
            <a:off x="533400" y="1219200"/>
            <a:ext cx="11125200" cy="9525"/>
          </a:xfrm>
          <a:custGeom>
            <a:avLst/>
            <a:gdLst/>
            <a:ahLst/>
            <a:cxnLst/>
            <a:rect l="l" t="t" r="r" b="b"/>
            <a:pathLst>
              <a:path w="11125200" h="9525">
                <a:moveTo>
                  <a:pt x="0" y="0"/>
                </a:moveTo>
                <a:lnTo>
                  <a:pt x="11125200" y="0"/>
                </a:lnTo>
              </a:path>
            </a:pathLst>
          </a:custGeom>
          <a:noFill/>
          <a:ln w="9525">
            <a:solidFill>
              <a:srgbClr val="1E3E5A"/>
            </a:solidFill>
          </a:ln>
        </p:spPr>
        <p:txBody>
          <a:bodyPr/>
          <a:p/>
        </p:txBody>
      </p:sp>
      <p:grpSp>
        <p:nvGrpSpPr>
          <p:cNvPr id="10" name="Group 10"/>
          <p:cNvGrpSpPr/>
          <p:nvPr/>
        </p:nvGrpSpPr>
        <p:grpSpPr>
          <a:xfrm>
            <a:off x="533400" y="1600200"/>
            <a:ext cx="11125200" cy="742950"/>
            <a:chOff x="533400" y="1600200"/>
            <a:chExt cx="11125200" cy="742950"/>
          </a:xfrm>
        </p:grpSpPr>
        <p:sp>
          <p:nvSpPr>
            <p:cNvPr id="7" name="Rectangle 7"/>
            <p:cNvSpPr/>
            <p:nvPr/>
          </p:nvSpPr>
          <p:spPr>
            <a:xfrm>
              <a:off x="533400" y="1600200"/>
              <a:ext cx="11125200" cy="742950"/>
            </a:xfrm>
            <a:prstGeom prst="roundRect">
              <a:avLst>
                <a:gd name="adj" fmla="val 15385"/>
              </a:avLst>
            </a:prstGeom>
            <a:solidFill>
              <a:schemeClr val="accent6"/>
            </a:solidFill>
            <a:ln w="11430">
              <a:solidFill>
                <a:srgbClr val="1E3E5A"/>
              </a:solidFill>
            </a:ln>
          </p:spPr>
        </p:sp>
        <p:sp>
          <p:nvSpPr>
            <p:cNvPr id="8" name="Rectangle 8"/>
            <p:cNvSpPr/>
            <p:nvPr/>
          </p:nvSpPr>
          <p:spPr>
            <a:xfrm>
              <a:off x="533400" y="1771650"/>
              <a:ext cx="47625" cy="285750"/>
            </a:xfrm>
            <a:prstGeom prst="roundRect">
              <a:avLst>
                <a:gd name="adj" fmla="val 50000"/>
              </a:avLst>
            </a:prstGeom>
            <a:solidFill>
              <a:srgbClr val="2FB6A8"/>
            </a:solidFill>
            <a:ln>
              <a:noFill/>
            </a:ln>
          </p:spPr>
        </p:sp>
        <p:sp>
          <p:nvSpPr>
            <p:cNvPr id="9" name="TextBox 9"/>
            <p:cNvSpPr txBox="1"/>
            <p:nvPr/>
          </p:nvSpPr>
          <p:spPr>
            <a:xfrm>
              <a:off x="773430" y="1895475"/>
              <a:ext cx="9249222" cy="293370"/>
            </a:xfrm>
            <a:prstGeom prst="rect">
              <a:avLst/>
            </a:prstGeom>
            <a:noFill/>
            <a:ln>
              <a:noFill/>
            </a:ln>
          </p:spPr>
          <p:txBody>
            <a:bodyPr wrap="none" lIns="0" tIns="0" rIns="0" bIns="0" anchor="t" anchorCtr="0">
              <a:spAutoFit/>
            </a:bodyPr>
            <a:lstStyle/>
            <a:p>
              <a:pPr algn="l"/>
              <a:r>
                <a:rPr lang="en-US" sz="1500" b="1" dirty="0">
                  <a:solidFill>
                    <a:srgbClr val="EAF2FA"/>
                  </a:solidFill>
                  <a:latin typeface="+mn-lt"/>
                  <a:ea typeface="+mn-ea"/>
                  <a:cs typeface="+mn-cs"/>
                </a:rPr>
                <a:t>Merlin recasts goal-conditioned RL as reverse diffusion — with three main consequences.</a:t>
              </a:r>
            </a:p>
          </p:txBody>
        </p:sp>
      </p:grpSp>
      <p:grpSp>
        <p:nvGrpSpPr>
          <p:cNvPr id="18" name="Group 18"/>
          <p:cNvGrpSpPr/>
          <p:nvPr/>
        </p:nvGrpSpPr>
        <p:grpSpPr>
          <a:xfrm>
            <a:off x="533400" y="2571750"/>
            <a:ext cx="3314700" cy="2667000"/>
            <a:chOff x="533400" y="2571750"/>
            <a:chExt cx="3314700" cy="2667000"/>
          </a:xfrm>
        </p:grpSpPr>
        <p:sp>
          <p:nvSpPr>
            <p:cNvPr id="11" name="Rectangle 11"/>
            <p:cNvSpPr/>
            <p:nvPr/>
          </p:nvSpPr>
          <p:spPr>
            <a:xfrm>
              <a:off x="533400" y="2571750"/>
              <a:ext cx="3314700" cy="2667000"/>
            </a:xfrm>
            <a:prstGeom prst="roundRect">
              <a:avLst>
                <a:gd name="adj" fmla="val 4286"/>
              </a:avLst>
            </a:prstGeom>
            <a:solidFill>
              <a:schemeClr val="accent5"/>
            </a:solidFill>
            <a:ln w="11430">
              <a:solidFill>
                <a:srgbClr val="1E3E5A"/>
              </a:solidFill>
            </a:ln>
          </p:spPr>
        </p:sp>
        <p:sp>
          <p:nvSpPr>
            <p:cNvPr id="12" name="Rectangle 12"/>
            <p:cNvSpPr/>
            <p:nvPr/>
          </p:nvSpPr>
          <p:spPr>
            <a:xfrm>
              <a:off x="533400" y="2743200"/>
              <a:ext cx="47625" cy="285750"/>
            </a:xfrm>
            <a:prstGeom prst="roundRect">
              <a:avLst>
                <a:gd name="adj" fmla="val 50000"/>
              </a:avLst>
            </a:prstGeom>
            <a:solidFill>
              <a:srgbClr val="4C86F0"/>
            </a:solidFill>
            <a:ln>
              <a:noFill/>
            </a:ln>
          </p:spPr>
        </p:sp>
        <p:sp>
          <p:nvSpPr>
            <p:cNvPr id="13" name="TextBox 13"/>
            <p:cNvSpPr txBox="1"/>
            <p:nvPr/>
          </p:nvSpPr>
          <p:spPr>
            <a:xfrm>
              <a:off x="754761" y="2856071"/>
              <a:ext cx="2310287" cy="278702"/>
            </a:xfrm>
            <a:prstGeom prst="rect">
              <a:avLst/>
            </a:prstGeom>
            <a:noFill/>
            <a:ln>
              <a:noFill/>
            </a:ln>
          </p:spPr>
          <p:txBody>
            <a:bodyPr wrap="none" lIns="0" tIns="0" rIns="0" bIns="0" anchor="t" anchorCtr="0">
              <a:spAutoFit/>
            </a:bodyPr>
            <a:lstStyle/>
            <a:p>
              <a:pPr algn="l"/>
              <a:r>
                <a:rPr lang="en-US" sz="1420" b="1" dirty="0">
                  <a:solidFill>
                    <a:srgbClr val="EAF2FA"/>
                  </a:solidFill>
                  <a:latin typeface="+mn-lt"/>
                  <a:ea typeface="+mn-ea"/>
                  <a:cs typeface="+mn-cs"/>
                </a:rPr>
                <a:t>1 · A fresh perspective</a:t>
              </a:r>
            </a:p>
          </p:txBody>
        </p:sp>
        <p:sp>
          <p:nvSpPr>
            <p:cNvPr id="14" name="TextBox 14"/>
            <p:cNvSpPr txBox="1"/>
            <p:nvPr/>
          </p:nvSpPr>
          <p:spPr>
            <a:xfrm>
              <a:off x="755904" y="3242310"/>
              <a:ext cx="2806476"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Merlin casts goal-conditioned RL as</a:t>
              </a:r>
            </a:p>
          </p:txBody>
        </p:sp>
        <p:sp>
          <p:nvSpPr>
            <p:cNvPr id="15" name="TextBox 15"/>
            <p:cNvSpPr txBox="1"/>
            <p:nvPr/>
          </p:nvSpPr>
          <p:spPr>
            <a:xfrm>
              <a:off x="755904" y="3480435"/>
              <a:ext cx="2209190"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a reverse diffusion process</a:t>
              </a:r>
            </a:p>
          </p:txBody>
        </p:sp>
        <p:sp>
          <p:nvSpPr>
            <p:cNvPr id="16" name="TextBox 16"/>
            <p:cNvSpPr txBox="1"/>
            <p:nvPr/>
          </p:nvSpPr>
          <p:spPr>
            <a:xfrm>
              <a:off x="755904" y="3718560"/>
              <a:ext cx="2168804"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operating directly over the</a:t>
              </a:r>
            </a:p>
          </p:txBody>
        </p:sp>
        <p:sp>
          <p:nvSpPr>
            <p:cNvPr id="17" name="TextBox 17"/>
            <p:cNvSpPr txBox="1"/>
            <p:nvPr/>
          </p:nvSpPr>
          <p:spPr>
            <a:xfrm>
              <a:off x="755904" y="3956685"/>
              <a:ext cx="2233422"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environment's state space.</a:t>
              </a:r>
            </a:p>
          </p:txBody>
        </p:sp>
      </p:grpSp>
      <p:grpSp>
        <p:nvGrpSpPr>
          <p:cNvPr id="26" name="Group 26"/>
          <p:cNvGrpSpPr/>
          <p:nvPr/>
        </p:nvGrpSpPr>
        <p:grpSpPr>
          <a:xfrm>
            <a:off x="4438650" y="2571750"/>
            <a:ext cx="3314700" cy="2667000"/>
            <a:chOff x="4438650" y="2571750"/>
            <a:chExt cx="3314700" cy="2667000"/>
          </a:xfrm>
        </p:grpSpPr>
        <p:sp>
          <p:nvSpPr>
            <p:cNvPr id="19" name="Rectangle 19"/>
            <p:cNvSpPr/>
            <p:nvPr/>
          </p:nvSpPr>
          <p:spPr>
            <a:xfrm>
              <a:off x="4438650" y="2571750"/>
              <a:ext cx="3314700" cy="2667000"/>
            </a:xfrm>
            <a:prstGeom prst="roundRect">
              <a:avLst>
                <a:gd name="adj" fmla="val 4286"/>
              </a:avLst>
            </a:prstGeom>
            <a:solidFill>
              <a:schemeClr val="accent5"/>
            </a:solidFill>
            <a:ln w="11430">
              <a:solidFill>
                <a:srgbClr val="1E3E5A"/>
              </a:solidFill>
            </a:ln>
          </p:spPr>
        </p:sp>
        <p:sp>
          <p:nvSpPr>
            <p:cNvPr id="20" name="Rectangle 20"/>
            <p:cNvSpPr/>
            <p:nvPr/>
          </p:nvSpPr>
          <p:spPr>
            <a:xfrm>
              <a:off x="4438650" y="2743200"/>
              <a:ext cx="47625" cy="285750"/>
            </a:xfrm>
            <a:prstGeom prst="roundRect">
              <a:avLst>
                <a:gd name="adj" fmla="val 50000"/>
              </a:avLst>
            </a:prstGeom>
            <a:solidFill>
              <a:srgbClr val="2FB6A8"/>
            </a:solidFill>
            <a:ln>
              <a:noFill/>
            </a:ln>
          </p:spPr>
        </p:sp>
        <p:sp>
          <p:nvSpPr>
            <p:cNvPr id="21" name="TextBox 21"/>
            <p:cNvSpPr txBox="1"/>
            <p:nvPr/>
          </p:nvSpPr>
          <p:spPr>
            <a:xfrm>
              <a:off x="4660011" y="2856071"/>
              <a:ext cx="2430275" cy="278702"/>
            </a:xfrm>
            <a:prstGeom prst="rect">
              <a:avLst/>
            </a:prstGeom>
            <a:noFill/>
            <a:ln>
              <a:noFill/>
            </a:ln>
          </p:spPr>
          <p:txBody>
            <a:bodyPr wrap="none" lIns="0" tIns="0" rIns="0" bIns="0" anchor="t" anchorCtr="0">
              <a:spAutoFit/>
            </a:bodyPr>
            <a:lstStyle/>
            <a:p>
              <a:pPr algn="l"/>
              <a:r>
                <a:rPr lang="en-US" sz="1420" b="1" dirty="0">
                  <a:solidFill>
                    <a:srgbClr val="EAF2FA"/>
                  </a:solidFill>
                  <a:latin typeface="+mn-lt"/>
                  <a:ea typeface="+mn-ea"/>
                  <a:cs typeface="+mn-cs"/>
                </a:rPr>
                <a:t>2 · Just behavior cloning</a:t>
              </a:r>
            </a:p>
          </p:txBody>
        </p:sp>
        <p:sp>
          <p:nvSpPr>
            <p:cNvPr id="22" name="TextBox 22"/>
            <p:cNvSpPr txBox="1"/>
            <p:nvPr/>
          </p:nvSpPr>
          <p:spPr>
            <a:xfrm>
              <a:off x="4661154" y="3242310"/>
              <a:ext cx="2707337"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It proves the reverse process can</a:t>
              </a:r>
            </a:p>
          </p:txBody>
        </p:sp>
        <p:sp>
          <p:nvSpPr>
            <p:cNvPr id="23" name="TextBox 23"/>
            <p:cNvSpPr txBox="1"/>
            <p:nvPr/>
          </p:nvSpPr>
          <p:spPr>
            <a:xfrm>
              <a:off x="4661154" y="3480435"/>
              <a:ext cx="2394966"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be learned by goal-conditioned</a:t>
              </a:r>
            </a:p>
          </p:txBody>
        </p:sp>
        <p:sp>
          <p:nvSpPr>
            <p:cNvPr id="24" name="TextBox 24"/>
            <p:cNvSpPr txBox="1"/>
            <p:nvPr/>
          </p:nvSpPr>
          <p:spPr>
            <a:xfrm>
              <a:off x="4661154" y="3718560"/>
              <a:ext cx="2435352"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behavior cloning with hindsight</a:t>
              </a:r>
            </a:p>
          </p:txBody>
        </p:sp>
        <p:sp>
          <p:nvSpPr>
            <p:cNvPr id="25" name="TextBox 25"/>
            <p:cNvSpPr txBox="1"/>
            <p:nvPr/>
          </p:nvSpPr>
          <p:spPr>
            <a:xfrm>
              <a:off x="4661154" y="3956685"/>
              <a:ext cx="2403043"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relabeling — no value function.</a:t>
              </a:r>
            </a:p>
          </p:txBody>
        </p:sp>
      </p:grpSp>
      <p:grpSp>
        <p:nvGrpSpPr>
          <p:cNvPr id="35" name="Group 35"/>
          <p:cNvGrpSpPr/>
          <p:nvPr/>
        </p:nvGrpSpPr>
        <p:grpSpPr>
          <a:xfrm>
            <a:off x="8343900" y="2571750"/>
            <a:ext cx="3314700" cy="2667000"/>
            <a:chOff x="8343900" y="2571750"/>
            <a:chExt cx="3314700" cy="2667000"/>
          </a:xfrm>
        </p:grpSpPr>
        <p:sp>
          <p:nvSpPr>
            <p:cNvPr id="27" name="Rectangle 27"/>
            <p:cNvSpPr/>
            <p:nvPr/>
          </p:nvSpPr>
          <p:spPr>
            <a:xfrm>
              <a:off x="8343900" y="2571750"/>
              <a:ext cx="3314700" cy="2667000"/>
            </a:xfrm>
            <a:prstGeom prst="roundRect">
              <a:avLst>
                <a:gd name="adj" fmla="val 4286"/>
              </a:avLst>
            </a:prstGeom>
            <a:solidFill>
              <a:schemeClr val="accent5"/>
            </a:solidFill>
            <a:ln w="11430">
              <a:solidFill>
                <a:srgbClr val="1E3E5A"/>
              </a:solidFill>
            </a:ln>
          </p:spPr>
        </p:sp>
        <p:sp>
          <p:nvSpPr>
            <p:cNvPr id="28" name="Rectangle 28"/>
            <p:cNvSpPr/>
            <p:nvPr/>
          </p:nvSpPr>
          <p:spPr>
            <a:xfrm>
              <a:off x="8343900" y="2743200"/>
              <a:ext cx="47625" cy="285750"/>
            </a:xfrm>
            <a:prstGeom prst="roundRect">
              <a:avLst>
                <a:gd name="adj" fmla="val 50000"/>
              </a:avLst>
            </a:prstGeom>
            <a:solidFill>
              <a:srgbClr val="E0A93B"/>
            </a:solidFill>
            <a:ln>
              <a:noFill/>
            </a:ln>
          </p:spPr>
        </p:sp>
        <p:sp>
          <p:nvSpPr>
            <p:cNvPr id="29" name="TextBox 29"/>
            <p:cNvSpPr txBox="1"/>
            <p:nvPr/>
          </p:nvSpPr>
          <p:spPr>
            <a:xfrm>
              <a:off x="8565261" y="2856071"/>
              <a:ext cx="1808650" cy="278702"/>
            </a:xfrm>
            <a:prstGeom prst="rect">
              <a:avLst/>
            </a:prstGeom>
            <a:noFill/>
            <a:ln>
              <a:noFill/>
            </a:ln>
          </p:spPr>
          <p:txBody>
            <a:bodyPr wrap="none" lIns="0" tIns="0" rIns="0" bIns="0" anchor="t" anchorCtr="0">
              <a:spAutoFit/>
            </a:bodyPr>
            <a:lstStyle/>
            <a:p>
              <a:pPr algn="l"/>
              <a:r>
                <a:rPr lang="en-US" sz="1420" b="1" dirty="0">
                  <a:solidFill>
                    <a:srgbClr val="EAF2FA"/>
                  </a:solidFill>
                  <a:latin typeface="+mn-lt"/>
                  <a:ea typeface="+mn-ea"/>
                  <a:cs typeface="+mn-cs"/>
                </a:rPr>
                <a:t>3 · Three variants</a:t>
              </a:r>
            </a:p>
          </p:txBody>
        </p:sp>
        <p:sp>
          <p:nvSpPr>
            <p:cNvPr id="30" name="TextBox 30"/>
            <p:cNvSpPr txBox="1"/>
            <p:nvPr/>
          </p:nvSpPr>
          <p:spPr>
            <a:xfrm>
              <a:off x="8566404" y="3242310"/>
              <a:ext cx="1851179"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Three ways to build the</a:t>
              </a:r>
            </a:p>
          </p:txBody>
        </p:sp>
        <p:sp>
          <p:nvSpPr>
            <p:cNvPr id="31" name="TextBox 31"/>
            <p:cNvSpPr txBox="1"/>
            <p:nvPr/>
          </p:nvSpPr>
          <p:spPr>
            <a:xfrm>
              <a:off x="8566404" y="3480435"/>
              <a:ext cx="2435352"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goal-departing trajectories: a</a:t>
              </a:r>
            </a:p>
          </p:txBody>
        </p:sp>
        <p:sp>
          <p:nvSpPr>
            <p:cNvPr id="32" name="TextBox 32"/>
            <p:cNvSpPr txBox="1"/>
            <p:nvPr/>
          </p:nvSpPr>
          <p:spPr>
            <a:xfrm>
              <a:off x="8566404" y="3718560"/>
              <a:ext cx="2637282"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fixed rule, a parametric forward</a:t>
              </a:r>
            </a:p>
          </p:txBody>
        </p:sp>
        <p:sp>
          <p:nvSpPr>
            <p:cNvPr id="33" name="TextBox 33"/>
            <p:cNvSpPr txBox="1"/>
            <p:nvPr/>
          </p:nvSpPr>
          <p:spPr>
            <a:xfrm>
              <a:off x="8566404" y="3956685"/>
              <a:ext cx="2571465"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model (Merlin-P), and Merlin-NP</a:t>
              </a:r>
            </a:p>
          </p:txBody>
        </p:sp>
        <p:sp>
          <p:nvSpPr>
            <p:cNvPr id="34" name="TextBox 34"/>
            <p:cNvSpPr txBox="1"/>
            <p:nvPr/>
          </p:nvSpPr>
          <p:spPr>
            <a:xfrm>
              <a:off x="8566404" y="4194810"/>
              <a:ext cx="1215695"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with stitching.</a:t>
              </a:r>
            </a:p>
          </p:txBody>
        </p:sp>
      </p:grpSp>
      <p:sp>
        <p:nvSpPr>
          <p:cNvPr id="36" name="TextBox 36"/>
          <p:cNvSpPr txBox="1"/>
          <p:nvPr/>
        </p:nvSpPr>
        <p:spPr>
          <a:xfrm>
            <a:off x="528447" y="6619399"/>
            <a:ext cx="7956355" cy="190690"/>
          </a:xfrm>
          <a:prstGeom prst="rect">
            <a:avLst/>
          </a:prstGeom>
          <a:noFill/>
          <a:ln>
            <a:noFill/>
          </a:ln>
        </p:spPr>
        <p:txBody>
          <a:bodyPr wrap="none" lIns="0" tIns="0" rIns="0" bIns="0" anchor="t" anchorCtr="0">
            <a:spAutoFit/>
          </a:bodyPr>
          <a:lstStyle/>
          <a:p>
            <a:pPr algn="l"/>
            <a:r>
              <a:rPr lang="en-US" sz="980" dirty="0">
                <a:solidFill>
                  <a:srgbClr val="6E869C"/>
                </a:solidFill>
                <a:latin typeface="+mn-lt"/>
                <a:ea typeface="+mn-ea"/>
                <a:cs typeface="+mn-cs"/>
              </a:rPr>
              <a:t>Merlin is the first method to perform diffusion directly in the state space — one denoising iteration per environment step.</a:t>
            </a:r>
          </a:p>
        </p:txBody>
      </p:sp>
      <p:sp>
        <p:nvSpPr>
          <p:cNvPr id="37" name="cue_s04_c1_makes_three_main_contributions" title="cue_s04_c1_makes_three_main_contributions" descr="cue_s04_c1_makes_three_main_contributions The paper makes three main contributions."/>
          <p:cNvSpPr/>
          <p:nvPr/>
        </p:nvSpPr>
        <p:spPr>
          <a:xfrm>
            <a:off x="532790" y="1599971"/>
            <a:ext cx="11125200" cy="7427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4_c2_first_presents_merlin_fresh_perspect" title="cue_s04_c2_first_presents_merlin_fresh_perspect" descr="cue_s04_c2_first_presents_merlin_fresh_perspect First, it presents Merlin, a fresh perspective that casts goal-conditioned reinforcement learning as a reverse diffusion process operating directly over the state space of the environment."/>
          <p:cNvSpPr/>
          <p:nvPr/>
        </p:nvSpPr>
        <p:spPr>
          <a:xfrm>
            <a:off x="532790" y="2571750"/>
            <a:ext cx="3315004" cy="26670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4_c3_second_proves_reverse_process_learne" title="cue_s04_c3_second_proves_reverse_process_learne" descr="cue_s04_c3_second_proves_reverse_process_learne Second, it proves that this reverse process can be learned by simple goal-conditioned behavior cloning with hindsight relabeling, eliminating the need for a value function entirely."/>
          <p:cNvSpPr/>
          <p:nvPr/>
        </p:nvSpPr>
        <p:spPr>
          <a:xfrm>
            <a:off x="4439107" y="2571750"/>
            <a:ext cx="3315004" cy="26670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4_c4_third_develops_three_ways_construct" title="cue_s04_c4_third_develops_three_ways_construct" descr="cue_s04_c4_third_develops_three_ways_construct Third, it develops three ways to construct the forward, goal-departing trajectories: a fixed heuristic version, a parametric learned forward model called Merlin-P, and a non-parametric version called Merlin-NP that stitches together nearby states in a learned"/>
          <p:cNvSpPr/>
          <p:nvPr/>
        </p:nvSpPr>
        <p:spPr>
          <a:xfrm>
            <a:off x="8344204" y="2571750"/>
            <a:ext cx="3315004" cy="26670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533400" y="495300"/>
            <a:ext cx="66675" cy="323850"/>
          </a:xfrm>
          <a:prstGeom prst="roundRect">
            <a:avLst>
              <a:gd name="adj" fmla="val 42857"/>
            </a:avLst>
          </a:prstGeom>
          <a:solidFill>
            <a:srgbClr val="2FB6A8"/>
          </a:solidFill>
          <a:ln>
            <a:noFill/>
          </a:ln>
        </p:spPr>
        <p:txBody>
          <a:bodyPr/>
          <a:p/>
        </p:txBody>
      </p:sp>
      <p:sp>
        <p:nvSpPr>
          <p:cNvPr id="3" name="TextBox 3"/>
          <p:cNvSpPr txBox="1"/>
          <p:nvPr/>
        </p:nvSpPr>
        <p:spPr>
          <a:xfrm>
            <a:off x="737235" y="507206"/>
            <a:ext cx="737025" cy="220028"/>
          </a:xfrm>
          <a:prstGeom prst="rect">
            <a:avLst/>
          </a:prstGeom>
          <a:noFill/>
          <a:ln>
            <a:noFill/>
          </a:ln>
        </p:spPr>
        <p:txBody>
          <a:bodyPr wrap="none" lIns="0" tIns="0" rIns="0" bIns="0" anchor="t" anchorCtr="0">
            <a:spAutoFit/>
          </a:bodyPr>
          <a:lstStyle/>
          <a:p>
            <a:pPr algn="l"/>
            <a:r>
              <a:rPr lang="en-US" sz="1120" b="1" spc="150" dirty="0">
                <a:solidFill>
                  <a:srgbClr val="2FB6A8"/>
                </a:solidFill>
                <a:latin typeface="+mn-lt"/>
                <a:ea typeface="+mn-ea"/>
                <a:cs typeface="+mn-cs"/>
              </a:rPr>
              <a:t>METHOD</a:t>
            </a:r>
          </a:p>
        </p:txBody>
      </p:sp>
      <p:sp>
        <p:nvSpPr>
          <p:cNvPr id="4" name="TextBox 4"/>
          <p:cNvSpPr txBox="1"/>
          <p:nvPr/>
        </p:nvSpPr>
        <p:spPr>
          <a:xfrm>
            <a:off x="729996" y="715328"/>
            <a:ext cx="6435490" cy="498729"/>
          </a:xfrm>
          <a:prstGeom prst="rect">
            <a:avLst/>
          </a:prstGeom>
          <a:noFill/>
          <a:ln>
            <a:noFill/>
          </a:ln>
        </p:spPr>
        <p:txBody>
          <a:bodyPr wrap="none" lIns="0" tIns="0" rIns="0" bIns="0" anchor="t" anchorCtr="0">
            <a:spAutoFit/>
          </a:bodyPr>
          <a:lstStyle/>
          <a:p>
            <a:pPr algn="l"/>
            <a:r>
              <a:rPr lang="en-US" sz="2550" b="1" dirty="0">
                <a:solidFill>
                  <a:srgbClr val="EAF2FA"/>
                </a:solidFill>
                <a:latin typeface="+mn-lt"/>
                <a:ea typeface="+mn-ea"/>
                <a:cs typeface="+mn-cs"/>
              </a:rPr>
              <a:t>Reverse a goal-departing trajectory</a:t>
            </a:r>
          </a:p>
        </p:txBody>
      </p:sp>
      <p:sp>
        <p:nvSpPr>
          <p:cNvPr id="5" name="TextBox 5"/>
          <p:cNvSpPr txBox="1"/>
          <p:nvPr/>
        </p:nvSpPr>
        <p:spPr>
          <a:xfrm>
            <a:off x="10511409" y="754856"/>
            <a:ext cx="1152906" cy="220028"/>
          </a:xfrm>
          <a:prstGeom prst="rect">
            <a:avLst/>
          </a:prstGeom>
          <a:noFill/>
          <a:ln>
            <a:noFill/>
          </a:ln>
        </p:spPr>
        <p:txBody>
          <a:bodyPr wrap="none" lIns="0" tIns="0" rIns="0" bIns="0" anchor="t" anchorCtr="0">
            <a:spAutoFit/>
          </a:bodyPr>
          <a:lstStyle/>
          <a:p>
            <a:pPr algn="r"/>
            <a:r>
              <a:rPr lang="en-US" sz="1120" dirty="0">
                <a:solidFill>
                  <a:srgbClr val="9FB6CC"/>
                </a:solidFill>
                <a:latin typeface="+mn-lt"/>
                <a:ea typeface="+mn-ea"/>
                <a:cs typeface="+mn-cs"/>
              </a:rPr>
              <a:t>Merlin · 05 / 09</a:t>
            </a:r>
          </a:p>
        </p:txBody>
      </p:sp>
      <p:sp>
        <p:nvSpPr>
          <p:cNvPr id="6" name="Line 6"/>
          <p:cNvSpPr/>
          <p:nvPr/>
        </p:nvSpPr>
        <p:spPr>
          <a:xfrm>
            <a:off x="533400" y="1219200"/>
            <a:ext cx="11125200" cy="9525"/>
          </a:xfrm>
          <a:custGeom>
            <a:avLst/>
            <a:gdLst/>
            <a:ahLst/>
            <a:cxnLst/>
            <a:rect l="l" t="t" r="r" b="b"/>
            <a:pathLst>
              <a:path w="11125200" h="9525">
                <a:moveTo>
                  <a:pt x="0" y="0"/>
                </a:moveTo>
                <a:lnTo>
                  <a:pt x="11125200" y="0"/>
                </a:lnTo>
              </a:path>
            </a:pathLst>
          </a:custGeom>
          <a:noFill/>
          <a:ln w="9525">
            <a:solidFill>
              <a:srgbClr val="1E3E5A"/>
            </a:solidFill>
          </a:ln>
        </p:spPr>
        <p:txBody>
          <a:bodyPr/>
          <a:p/>
        </p:txBody>
      </p:sp>
      <p:grpSp>
        <p:nvGrpSpPr>
          <p:cNvPr id="33" name="Group 33"/>
          <p:cNvGrpSpPr/>
          <p:nvPr/>
        </p:nvGrpSpPr>
        <p:grpSpPr>
          <a:xfrm>
            <a:off x="533400" y="1600200"/>
            <a:ext cx="11125200" cy="1638300"/>
            <a:chOff x="533400" y="1600200"/>
            <a:chExt cx="11125200" cy="1638300"/>
          </a:xfrm>
        </p:grpSpPr>
        <p:sp>
          <p:nvSpPr>
            <p:cNvPr id="7" name="Rectangle 7"/>
            <p:cNvSpPr/>
            <p:nvPr/>
          </p:nvSpPr>
          <p:spPr>
            <a:xfrm>
              <a:off x="533400" y="1600200"/>
              <a:ext cx="11125200" cy="1638300"/>
            </a:xfrm>
            <a:prstGeom prst="roundRect">
              <a:avLst>
                <a:gd name="adj" fmla="val 6977"/>
              </a:avLst>
            </a:prstGeom>
            <a:solidFill>
              <a:schemeClr val="accent5"/>
            </a:solidFill>
            <a:ln w="11430">
              <a:solidFill>
                <a:srgbClr val="1E3E5A"/>
              </a:solidFill>
            </a:ln>
          </p:spPr>
        </p:sp>
        <p:sp>
          <p:nvSpPr>
            <p:cNvPr id="8" name="Rectangle 8"/>
            <p:cNvSpPr/>
            <p:nvPr/>
          </p:nvSpPr>
          <p:spPr>
            <a:xfrm>
              <a:off x="533400" y="1771650"/>
              <a:ext cx="47625" cy="285750"/>
            </a:xfrm>
            <a:prstGeom prst="roundRect">
              <a:avLst>
                <a:gd name="adj" fmla="val 50000"/>
              </a:avLst>
            </a:prstGeom>
            <a:solidFill>
              <a:srgbClr val="2FB6A8"/>
            </a:solidFill>
            <a:ln>
              <a:noFill/>
            </a:ln>
          </p:spPr>
        </p:sp>
        <p:sp>
          <p:nvSpPr>
            <p:cNvPr id="9" name="TextBox 9"/>
            <p:cNvSpPr txBox="1"/>
            <p:nvPr/>
          </p:nvSpPr>
          <p:spPr>
            <a:xfrm>
              <a:off x="773811" y="1827371"/>
              <a:ext cx="6634835" cy="278702"/>
            </a:xfrm>
            <a:prstGeom prst="rect">
              <a:avLst/>
            </a:prstGeom>
            <a:noFill/>
            <a:ln>
              <a:noFill/>
            </a:ln>
          </p:spPr>
          <p:txBody>
            <a:bodyPr wrap="none" lIns="0" tIns="0" rIns="0" bIns="0" anchor="t" anchorCtr="0">
              <a:spAutoFit/>
            </a:bodyPr>
            <a:lstStyle/>
            <a:p>
              <a:pPr algn="l"/>
              <a:r>
                <a:rPr lang="en-US" sz="1420" b="1" dirty="0">
                  <a:solidFill>
                    <a:srgbClr val="EAF2FA"/>
                  </a:solidFill>
                  <a:latin typeface="+mn-lt"/>
                  <a:ea typeface="+mn-ea"/>
                  <a:cs typeface="+mn-cs"/>
                </a:rPr>
                <a:t>Read an offline trajectory backwards, starting from its goal state</a:t>
              </a:r>
            </a:p>
          </p:txBody>
        </p:sp>
        <p:sp>
          <p:nvSpPr>
            <p:cNvPr id="10" name="Ellipse 10"/>
            <p:cNvSpPr/>
            <p:nvPr/>
          </p:nvSpPr>
          <p:spPr>
            <a:xfrm>
              <a:off x="1009650" y="2533650"/>
              <a:ext cx="190500" cy="190500"/>
            </a:xfrm>
            <a:prstGeom prst="ellipse">
              <a:avLst/>
            </a:prstGeom>
            <a:solidFill>
              <a:schemeClr val="accent6"/>
            </a:solidFill>
            <a:ln w="19050">
              <a:solidFill>
                <a:srgbClr val="4C86F0"/>
              </a:solidFill>
            </a:ln>
          </p:spPr>
        </p:sp>
        <p:sp>
          <p:nvSpPr>
            <p:cNvPr id="11" name="TextBox 11"/>
            <p:cNvSpPr txBox="1"/>
            <p:nvPr/>
          </p:nvSpPr>
          <p:spPr>
            <a:xfrm>
              <a:off x="753637" y="2847499"/>
              <a:ext cx="702526" cy="190690"/>
            </a:xfrm>
            <a:prstGeom prst="rect">
              <a:avLst/>
            </a:prstGeom>
            <a:noFill/>
            <a:ln>
              <a:noFill/>
            </a:ln>
          </p:spPr>
          <p:txBody>
            <a:bodyPr wrap="none" lIns="0" tIns="0" rIns="0" bIns="0" anchor="t" anchorCtr="0">
              <a:spAutoFit/>
            </a:bodyPr>
            <a:lstStyle/>
            <a:p>
              <a:pPr algn="ctr"/>
              <a:r>
                <a:rPr lang="en-US" sz="980" dirty="0">
                  <a:solidFill>
                    <a:srgbClr val="4C86F0"/>
                  </a:solidFill>
                  <a:latin typeface="+mn-lt"/>
                  <a:ea typeface="+mn-ea"/>
                  <a:cs typeface="+mn-cs"/>
                </a:rPr>
                <a:t>s₀ (start)</a:t>
              </a:r>
            </a:p>
          </p:txBody>
        </p:sp>
        <p:sp>
          <p:nvSpPr>
            <p:cNvPr id="12" name="Line 12"/>
            <p:cNvSpPr/>
            <p:nvPr/>
          </p:nvSpPr>
          <p:spPr>
            <a:xfrm>
              <a:off x="1238250" y="2476500"/>
              <a:ext cx="1333500" cy="9525"/>
            </a:xfrm>
            <a:custGeom>
              <a:avLst/>
              <a:gdLst/>
              <a:ahLst/>
              <a:cxnLst/>
              <a:rect l="l" t="t" r="r" b="b"/>
              <a:pathLst>
                <a:path w="1333500" h="9525">
                  <a:moveTo>
                    <a:pt x="1333500" y="0"/>
                  </a:moveTo>
                  <a:lnTo>
                    <a:pt x="0" y="0"/>
                  </a:lnTo>
                </a:path>
              </a:pathLst>
            </a:custGeom>
            <a:noFill/>
            <a:ln w="19050">
              <a:solidFill>
                <a:srgbClr val="E0655B"/>
              </a:solidFill>
              <a:custDash>
                <a:ds d="250000" sp="200000"/>
              </a:custDash>
            </a:ln>
          </p:spPr>
        </p:sp>
        <p:sp>
          <p:nvSpPr>
            <p:cNvPr id="13" name="Line 13"/>
            <p:cNvSpPr/>
            <p:nvPr/>
          </p:nvSpPr>
          <p:spPr>
            <a:xfrm>
              <a:off x="1238250" y="2781300"/>
              <a:ext cx="1333500" cy="9525"/>
            </a:xfrm>
            <a:custGeom>
              <a:avLst/>
              <a:gdLst/>
              <a:ahLst/>
              <a:cxnLst/>
              <a:rect l="l" t="t" r="r" b="b"/>
              <a:pathLst>
                <a:path w="1333500" h="9525">
                  <a:moveTo>
                    <a:pt x="0" y="0"/>
                  </a:moveTo>
                  <a:lnTo>
                    <a:pt x="1333500" y="0"/>
                  </a:lnTo>
                </a:path>
              </a:pathLst>
            </a:custGeom>
            <a:noFill/>
            <a:ln w="22860">
              <a:solidFill>
                <a:srgbClr val="49C08A"/>
              </a:solidFill>
            </a:ln>
          </p:spPr>
        </p:sp>
        <p:sp>
          <p:nvSpPr>
            <p:cNvPr id="14" name="Polygon 14"/>
            <p:cNvSpPr/>
            <p:nvPr/>
          </p:nvSpPr>
          <p:spPr>
            <a:xfrm>
              <a:off x="2495550" y="2733675"/>
              <a:ext cx="76200" cy="95250"/>
            </a:xfrm>
            <a:custGeom>
              <a:avLst/>
              <a:gdLst/>
              <a:ahLst/>
              <a:cxnLst/>
              <a:rect l="l" t="t" r="r" b="b"/>
              <a:pathLst>
                <a:path w="76200" h="95250">
                  <a:moveTo>
                    <a:pt x="76200" y="47625"/>
                  </a:moveTo>
                  <a:lnTo>
                    <a:pt x="0" y="0"/>
                  </a:lnTo>
                  <a:lnTo>
                    <a:pt x="0" y="95250"/>
                  </a:lnTo>
                  <a:close/>
                </a:path>
              </a:pathLst>
            </a:custGeom>
            <a:solidFill>
              <a:srgbClr val="49C08A"/>
            </a:solidFill>
            <a:ln>
              <a:noFill/>
            </a:ln>
          </p:spPr>
        </p:sp>
        <p:sp>
          <p:nvSpPr>
            <p:cNvPr id="15" name="Ellipse 15"/>
            <p:cNvSpPr/>
            <p:nvPr/>
          </p:nvSpPr>
          <p:spPr>
            <a:xfrm>
              <a:off x="2609850" y="2533650"/>
              <a:ext cx="190500" cy="190500"/>
            </a:xfrm>
            <a:prstGeom prst="ellipse">
              <a:avLst/>
            </a:prstGeom>
            <a:solidFill>
              <a:schemeClr val="accent6"/>
            </a:solidFill>
            <a:ln w="19050">
              <a:solidFill>
                <a:srgbClr val="9FB6CC"/>
              </a:solidFill>
            </a:ln>
          </p:spPr>
        </p:sp>
        <p:sp>
          <p:nvSpPr>
            <p:cNvPr id="16" name="TextBox 16"/>
            <p:cNvSpPr txBox="1"/>
            <p:nvPr/>
          </p:nvSpPr>
          <p:spPr>
            <a:xfrm>
              <a:off x="2627587" y="2847499"/>
              <a:ext cx="155026" cy="190690"/>
            </a:xfrm>
            <a:prstGeom prst="rect">
              <a:avLst/>
            </a:prstGeom>
            <a:noFill/>
            <a:ln>
              <a:noFill/>
            </a:ln>
          </p:spPr>
          <p:txBody>
            <a:bodyPr wrap="none" lIns="0" tIns="0" rIns="0" bIns="0" anchor="t" anchorCtr="0">
              <a:spAutoFit/>
            </a:bodyPr>
            <a:lstStyle/>
            <a:p>
              <a:pPr algn="ctr"/>
              <a:r>
                <a:rPr lang="en-US" sz="980" dirty="0">
                  <a:solidFill>
                    <a:srgbClr val="9FB6CC"/>
                  </a:solidFill>
                  <a:latin typeface="+mn-lt"/>
                  <a:ea typeface="+mn-ea"/>
                  <a:cs typeface="+mn-cs"/>
                </a:rPr>
                <a:t>s₁</a:t>
              </a:r>
            </a:p>
          </p:txBody>
        </p:sp>
        <p:sp>
          <p:nvSpPr>
            <p:cNvPr id="17" name="Line 17"/>
            <p:cNvSpPr/>
            <p:nvPr/>
          </p:nvSpPr>
          <p:spPr>
            <a:xfrm>
              <a:off x="2838450" y="2476500"/>
              <a:ext cx="1333500" cy="9525"/>
            </a:xfrm>
            <a:custGeom>
              <a:avLst/>
              <a:gdLst/>
              <a:ahLst/>
              <a:cxnLst/>
              <a:rect l="l" t="t" r="r" b="b"/>
              <a:pathLst>
                <a:path w="1333500" h="9525">
                  <a:moveTo>
                    <a:pt x="1333500" y="0"/>
                  </a:moveTo>
                  <a:lnTo>
                    <a:pt x="0" y="0"/>
                  </a:lnTo>
                </a:path>
              </a:pathLst>
            </a:custGeom>
            <a:noFill/>
            <a:ln w="19050">
              <a:solidFill>
                <a:srgbClr val="E0655B"/>
              </a:solidFill>
              <a:custDash>
                <a:ds d="250000" sp="200000"/>
              </a:custDash>
            </a:ln>
          </p:spPr>
        </p:sp>
        <p:sp>
          <p:nvSpPr>
            <p:cNvPr id="18" name="Line 18"/>
            <p:cNvSpPr/>
            <p:nvPr/>
          </p:nvSpPr>
          <p:spPr>
            <a:xfrm>
              <a:off x="2838450" y="2781300"/>
              <a:ext cx="1333500" cy="9525"/>
            </a:xfrm>
            <a:custGeom>
              <a:avLst/>
              <a:gdLst/>
              <a:ahLst/>
              <a:cxnLst/>
              <a:rect l="l" t="t" r="r" b="b"/>
              <a:pathLst>
                <a:path w="1333500" h="9525">
                  <a:moveTo>
                    <a:pt x="0" y="0"/>
                  </a:moveTo>
                  <a:lnTo>
                    <a:pt x="1333500" y="0"/>
                  </a:lnTo>
                </a:path>
              </a:pathLst>
            </a:custGeom>
            <a:noFill/>
            <a:ln w="22860">
              <a:solidFill>
                <a:srgbClr val="49C08A"/>
              </a:solidFill>
            </a:ln>
          </p:spPr>
        </p:sp>
        <p:sp>
          <p:nvSpPr>
            <p:cNvPr id="19" name="Polygon 19"/>
            <p:cNvSpPr/>
            <p:nvPr/>
          </p:nvSpPr>
          <p:spPr>
            <a:xfrm>
              <a:off x="4095750" y="2733675"/>
              <a:ext cx="76200" cy="95250"/>
            </a:xfrm>
            <a:custGeom>
              <a:avLst/>
              <a:gdLst/>
              <a:ahLst/>
              <a:cxnLst/>
              <a:rect l="l" t="t" r="r" b="b"/>
              <a:pathLst>
                <a:path w="76200" h="95250">
                  <a:moveTo>
                    <a:pt x="76200" y="47625"/>
                  </a:moveTo>
                  <a:lnTo>
                    <a:pt x="0" y="0"/>
                  </a:lnTo>
                  <a:lnTo>
                    <a:pt x="0" y="95250"/>
                  </a:lnTo>
                  <a:close/>
                </a:path>
              </a:pathLst>
            </a:custGeom>
            <a:solidFill>
              <a:srgbClr val="49C08A"/>
            </a:solidFill>
            <a:ln>
              <a:noFill/>
            </a:ln>
          </p:spPr>
        </p:sp>
        <p:sp>
          <p:nvSpPr>
            <p:cNvPr id="20" name="Ellipse 20"/>
            <p:cNvSpPr/>
            <p:nvPr/>
          </p:nvSpPr>
          <p:spPr>
            <a:xfrm>
              <a:off x="4210050" y="2533650"/>
              <a:ext cx="190500" cy="190500"/>
            </a:xfrm>
            <a:prstGeom prst="ellipse">
              <a:avLst/>
            </a:prstGeom>
            <a:solidFill>
              <a:schemeClr val="accent6"/>
            </a:solidFill>
            <a:ln w="19050">
              <a:solidFill>
                <a:srgbClr val="9FB6CC"/>
              </a:solidFill>
            </a:ln>
          </p:spPr>
        </p:sp>
        <p:sp>
          <p:nvSpPr>
            <p:cNvPr id="21" name="TextBox 21"/>
            <p:cNvSpPr txBox="1"/>
            <p:nvPr/>
          </p:nvSpPr>
          <p:spPr>
            <a:xfrm>
              <a:off x="4227787" y="2847499"/>
              <a:ext cx="155026" cy="190690"/>
            </a:xfrm>
            <a:prstGeom prst="rect">
              <a:avLst/>
            </a:prstGeom>
            <a:noFill/>
            <a:ln>
              <a:noFill/>
            </a:ln>
          </p:spPr>
          <p:txBody>
            <a:bodyPr wrap="none" lIns="0" tIns="0" rIns="0" bIns="0" anchor="t" anchorCtr="0">
              <a:spAutoFit/>
            </a:bodyPr>
            <a:lstStyle/>
            <a:p>
              <a:pPr algn="ctr"/>
              <a:r>
                <a:rPr lang="en-US" sz="980" dirty="0">
                  <a:solidFill>
                    <a:srgbClr val="9FB6CC"/>
                  </a:solidFill>
                  <a:latin typeface="+mn-lt"/>
                  <a:ea typeface="+mn-ea"/>
                  <a:cs typeface="+mn-cs"/>
                </a:rPr>
                <a:t>s₂</a:t>
              </a:r>
            </a:p>
          </p:txBody>
        </p:sp>
        <p:sp>
          <p:nvSpPr>
            <p:cNvPr id="22" name="Line 22"/>
            <p:cNvSpPr/>
            <p:nvPr/>
          </p:nvSpPr>
          <p:spPr>
            <a:xfrm>
              <a:off x="4438650" y="2476500"/>
              <a:ext cx="1333500" cy="9525"/>
            </a:xfrm>
            <a:custGeom>
              <a:avLst/>
              <a:gdLst/>
              <a:ahLst/>
              <a:cxnLst/>
              <a:rect l="l" t="t" r="r" b="b"/>
              <a:pathLst>
                <a:path w="1333500" h="9525">
                  <a:moveTo>
                    <a:pt x="1333500" y="0"/>
                  </a:moveTo>
                  <a:lnTo>
                    <a:pt x="0" y="0"/>
                  </a:lnTo>
                </a:path>
              </a:pathLst>
            </a:custGeom>
            <a:noFill/>
            <a:ln w="19050">
              <a:solidFill>
                <a:srgbClr val="E0655B"/>
              </a:solidFill>
              <a:custDash>
                <a:ds d="250000" sp="200000"/>
              </a:custDash>
            </a:ln>
          </p:spPr>
        </p:sp>
        <p:sp>
          <p:nvSpPr>
            <p:cNvPr id="23" name="Line 23"/>
            <p:cNvSpPr/>
            <p:nvPr/>
          </p:nvSpPr>
          <p:spPr>
            <a:xfrm>
              <a:off x="4438650" y="2781300"/>
              <a:ext cx="1333500" cy="9525"/>
            </a:xfrm>
            <a:custGeom>
              <a:avLst/>
              <a:gdLst/>
              <a:ahLst/>
              <a:cxnLst/>
              <a:rect l="l" t="t" r="r" b="b"/>
              <a:pathLst>
                <a:path w="1333500" h="9525">
                  <a:moveTo>
                    <a:pt x="0" y="0"/>
                  </a:moveTo>
                  <a:lnTo>
                    <a:pt x="1333500" y="0"/>
                  </a:lnTo>
                </a:path>
              </a:pathLst>
            </a:custGeom>
            <a:noFill/>
            <a:ln w="22860">
              <a:solidFill>
                <a:srgbClr val="49C08A"/>
              </a:solidFill>
            </a:ln>
          </p:spPr>
        </p:sp>
        <p:sp>
          <p:nvSpPr>
            <p:cNvPr id="24" name="Polygon 24"/>
            <p:cNvSpPr/>
            <p:nvPr/>
          </p:nvSpPr>
          <p:spPr>
            <a:xfrm>
              <a:off x="5695950" y="2733675"/>
              <a:ext cx="76200" cy="95250"/>
            </a:xfrm>
            <a:custGeom>
              <a:avLst/>
              <a:gdLst/>
              <a:ahLst/>
              <a:cxnLst/>
              <a:rect l="l" t="t" r="r" b="b"/>
              <a:pathLst>
                <a:path w="76200" h="95250">
                  <a:moveTo>
                    <a:pt x="76200" y="47625"/>
                  </a:moveTo>
                  <a:lnTo>
                    <a:pt x="0" y="0"/>
                  </a:lnTo>
                  <a:lnTo>
                    <a:pt x="0" y="95250"/>
                  </a:lnTo>
                  <a:close/>
                </a:path>
              </a:pathLst>
            </a:custGeom>
            <a:solidFill>
              <a:srgbClr val="49C08A"/>
            </a:solidFill>
            <a:ln>
              <a:noFill/>
            </a:ln>
          </p:spPr>
        </p:sp>
        <p:sp>
          <p:nvSpPr>
            <p:cNvPr id="25" name="Ellipse 25"/>
            <p:cNvSpPr/>
            <p:nvPr/>
          </p:nvSpPr>
          <p:spPr>
            <a:xfrm>
              <a:off x="5810250" y="2533650"/>
              <a:ext cx="190500" cy="190500"/>
            </a:xfrm>
            <a:prstGeom prst="ellipse">
              <a:avLst/>
            </a:prstGeom>
            <a:solidFill>
              <a:schemeClr val="accent6"/>
            </a:solidFill>
            <a:ln w="19050">
              <a:solidFill>
                <a:srgbClr val="9FB6CC"/>
              </a:solidFill>
            </a:ln>
          </p:spPr>
        </p:sp>
        <p:sp>
          <p:nvSpPr>
            <p:cNvPr id="26" name="TextBox 26"/>
            <p:cNvSpPr txBox="1"/>
            <p:nvPr/>
          </p:nvSpPr>
          <p:spPr>
            <a:xfrm>
              <a:off x="5788626" y="2847499"/>
              <a:ext cx="233747" cy="190690"/>
            </a:xfrm>
            <a:prstGeom prst="rect">
              <a:avLst/>
            </a:prstGeom>
            <a:noFill/>
            <a:ln>
              <a:noFill/>
            </a:ln>
          </p:spPr>
          <p:txBody>
            <a:bodyPr wrap="none" lIns="0" tIns="0" rIns="0" bIns="0" anchor="t" anchorCtr="0">
              <a:spAutoFit/>
            </a:bodyPr>
            <a:lstStyle/>
            <a:p>
              <a:pPr algn="ctr"/>
              <a:r>
                <a:rPr lang="en-US" sz="980" dirty="0">
                  <a:solidFill>
                    <a:srgbClr val="9FB6CC"/>
                  </a:solidFill>
                  <a:latin typeface="+mn-lt"/>
                  <a:ea typeface="+mn-ea"/>
                  <a:cs typeface="+mn-cs"/>
                </a:rPr>
                <a:t>s_T</a:t>
              </a:r>
            </a:p>
          </p:txBody>
        </p:sp>
        <p:sp>
          <p:nvSpPr>
            <p:cNvPr id="27" name="Line 27"/>
            <p:cNvSpPr/>
            <p:nvPr/>
          </p:nvSpPr>
          <p:spPr>
            <a:xfrm>
              <a:off x="6038850" y="2476500"/>
              <a:ext cx="1333500" cy="9525"/>
            </a:xfrm>
            <a:custGeom>
              <a:avLst/>
              <a:gdLst/>
              <a:ahLst/>
              <a:cxnLst/>
              <a:rect l="l" t="t" r="r" b="b"/>
              <a:pathLst>
                <a:path w="1333500" h="9525">
                  <a:moveTo>
                    <a:pt x="1333500" y="0"/>
                  </a:moveTo>
                  <a:lnTo>
                    <a:pt x="0" y="0"/>
                  </a:lnTo>
                </a:path>
              </a:pathLst>
            </a:custGeom>
            <a:noFill/>
            <a:ln w="19050">
              <a:solidFill>
                <a:srgbClr val="E0655B"/>
              </a:solidFill>
              <a:custDash>
                <a:ds d="250000" sp="200000"/>
              </a:custDash>
            </a:ln>
          </p:spPr>
        </p:sp>
        <p:sp>
          <p:nvSpPr>
            <p:cNvPr id="28" name="Line 28"/>
            <p:cNvSpPr/>
            <p:nvPr/>
          </p:nvSpPr>
          <p:spPr>
            <a:xfrm>
              <a:off x="6038850" y="2781300"/>
              <a:ext cx="1333500" cy="9525"/>
            </a:xfrm>
            <a:custGeom>
              <a:avLst/>
              <a:gdLst/>
              <a:ahLst/>
              <a:cxnLst/>
              <a:rect l="l" t="t" r="r" b="b"/>
              <a:pathLst>
                <a:path w="1333500" h="9525">
                  <a:moveTo>
                    <a:pt x="0" y="0"/>
                  </a:moveTo>
                  <a:lnTo>
                    <a:pt x="1333500" y="0"/>
                  </a:lnTo>
                </a:path>
              </a:pathLst>
            </a:custGeom>
            <a:noFill/>
            <a:ln w="22860">
              <a:solidFill>
                <a:srgbClr val="49C08A"/>
              </a:solidFill>
            </a:ln>
          </p:spPr>
        </p:sp>
        <p:sp>
          <p:nvSpPr>
            <p:cNvPr id="29" name="Polygon 29"/>
            <p:cNvSpPr/>
            <p:nvPr/>
          </p:nvSpPr>
          <p:spPr>
            <a:xfrm>
              <a:off x="7296150" y="2733675"/>
              <a:ext cx="76200" cy="95250"/>
            </a:xfrm>
            <a:custGeom>
              <a:avLst/>
              <a:gdLst/>
              <a:ahLst/>
              <a:cxnLst/>
              <a:rect l="l" t="t" r="r" b="b"/>
              <a:pathLst>
                <a:path w="76200" h="95250">
                  <a:moveTo>
                    <a:pt x="76200" y="47625"/>
                  </a:moveTo>
                  <a:lnTo>
                    <a:pt x="0" y="0"/>
                  </a:lnTo>
                  <a:lnTo>
                    <a:pt x="0" y="95250"/>
                  </a:lnTo>
                  <a:close/>
                </a:path>
              </a:pathLst>
            </a:custGeom>
            <a:solidFill>
              <a:srgbClr val="49C08A"/>
            </a:solidFill>
            <a:ln>
              <a:noFill/>
            </a:ln>
          </p:spPr>
        </p:sp>
        <p:sp>
          <p:nvSpPr>
            <p:cNvPr id="30" name="Polygon 30"/>
            <p:cNvSpPr/>
            <p:nvPr/>
          </p:nvSpPr>
          <p:spPr>
            <a:xfrm>
              <a:off x="7381875" y="2505075"/>
              <a:ext cx="247650" cy="238125"/>
            </a:xfrm>
            <a:custGeom>
              <a:avLst/>
              <a:gdLst/>
              <a:ahLst/>
              <a:cxnLst/>
              <a:rect l="l" t="t" r="r" b="b"/>
              <a:pathLst>
                <a:path w="247650" h="238125">
                  <a:moveTo>
                    <a:pt x="123825" y="0"/>
                  </a:moveTo>
                  <a:lnTo>
                    <a:pt x="161925" y="85725"/>
                  </a:lnTo>
                  <a:lnTo>
                    <a:pt x="247650" y="85725"/>
                  </a:lnTo>
                  <a:lnTo>
                    <a:pt x="180975" y="152400"/>
                  </a:lnTo>
                  <a:lnTo>
                    <a:pt x="209550" y="238125"/>
                  </a:lnTo>
                  <a:lnTo>
                    <a:pt x="123825" y="180975"/>
                  </a:lnTo>
                  <a:lnTo>
                    <a:pt x="38100" y="238125"/>
                  </a:lnTo>
                  <a:lnTo>
                    <a:pt x="66675" y="152400"/>
                  </a:lnTo>
                  <a:lnTo>
                    <a:pt x="0" y="85725"/>
                  </a:lnTo>
                  <a:lnTo>
                    <a:pt x="85725" y="85725"/>
                  </a:lnTo>
                  <a:close/>
                </a:path>
              </a:pathLst>
            </a:custGeom>
            <a:solidFill>
              <a:srgbClr val="49C08A"/>
            </a:solidFill>
            <a:ln>
              <a:noFill/>
            </a:ln>
          </p:spPr>
        </p:sp>
        <p:sp>
          <p:nvSpPr>
            <p:cNvPr id="31" name="TextBox 31"/>
            <p:cNvSpPr txBox="1"/>
            <p:nvPr/>
          </p:nvSpPr>
          <p:spPr>
            <a:xfrm>
              <a:off x="7316048" y="2847499"/>
              <a:ext cx="379303" cy="190690"/>
            </a:xfrm>
            <a:prstGeom prst="rect">
              <a:avLst/>
            </a:prstGeom>
            <a:noFill/>
            <a:ln>
              <a:noFill/>
            </a:ln>
          </p:spPr>
          <p:txBody>
            <a:bodyPr wrap="none" lIns="0" tIns="0" rIns="0" bIns="0" anchor="t" anchorCtr="0">
              <a:spAutoFit/>
            </a:bodyPr>
            <a:lstStyle/>
            <a:p>
              <a:pPr algn="ctr"/>
              <a:r>
                <a:rPr lang="en-US" sz="980" dirty="0">
                  <a:solidFill>
                    <a:srgbClr val="49C08A"/>
                  </a:solidFill>
                  <a:latin typeface="+mn-lt"/>
                  <a:ea typeface="+mn-ea"/>
                  <a:cs typeface="+mn-cs"/>
                </a:rPr>
                <a:t>goal g</a:t>
              </a:r>
            </a:p>
          </p:txBody>
        </p:sp>
        <p:sp>
          <p:nvSpPr>
            <p:cNvPr id="32" name="TextBox 32"/>
            <p:cNvSpPr txBox="1"/>
            <p:nvPr/>
          </p:nvSpPr>
          <p:spPr>
            <a:xfrm>
              <a:off x="776097" y="2999899"/>
              <a:ext cx="4996769" cy="190690"/>
            </a:xfrm>
            <a:prstGeom prst="rect">
              <a:avLst/>
            </a:prstGeom>
            <a:noFill/>
            <a:ln>
              <a:noFill/>
            </a:ln>
          </p:spPr>
          <p:txBody>
            <a:bodyPr wrap="none" lIns="0" tIns="0" rIns="0" bIns="0" anchor="t" anchorCtr="0">
              <a:spAutoFit/>
            </a:bodyPr>
            <a:lstStyle/>
            <a:p>
              <a:pPr algn="l"/>
              <a:r>
                <a:rPr lang="en-US" sz="980" dirty="0">
                  <a:solidFill>
                    <a:srgbClr val="9FB6CC"/>
                  </a:solidFill>
                  <a:latin typeface="+mn-lt"/>
                  <a:ea typeface="+mn-ea"/>
                  <a:cs typeface="+mn-cs"/>
                </a:rPr>
                <a:t>red dashed = forward drift q(s_t | s_t+1) · green = learned reverse policy πθ</a:t>
              </a:r>
            </a:p>
          </p:txBody>
        </p:sp>
      </p:grpSp>
      <p:grpSp>
        <p:nvGrpSpPr>
          <p:cNvPr id="41" name="Group 41"/>
          <p:cNvGrpSpPr/>
          <p:nvPr/>
        </p:nvGrpSpPr>
        <p:grpSpPr>
          <a:xfrm>
            <a:off x="533400" y="3429000"/>
            <a:ext cx="5429250" cy="1695450"/>
            <a:chOff x="533400" y="3429000"/>
            <a:chExt cx="5429250" cy="1695450"/>
          </a:xfrm>
        </p:grpSpPr>
        <p:sp>
          <p:nvSpPr>
            <p:cNvPr id="34" name="Rectangle 34"/>
            <p:cNvSpPr/>
            <p:nvPr/>
          </p:nvSpPr>
          <p:spPr>
            <a:xfrm>
              <a:off x="533400" y="3429000"/>
              <a:ext cx="5429250" cy="1695450"/>
            </a:xfrm>
            <a:prstGeom prst="roundRect">
              <a:avLst>
                <a:gd name="adj" fmla="val 6742"/>
              </a:avLst>
            </a:prstGeom>
            <a:solidFill>
              <a:schemeClr val="accent5"/>
            </a:solidFill>
            <a:ln w="11430">
              <a:solidFill>
                <a:srgbClr val="1E3E5A"/>
              </a:solidFill>
            </a:ln>
          </p:spPr>
        </p:sp>
        <p:sp>
          <p:nvSpPr>
            <p:cNvPr id="35" name="Rectangle 35"/>
            <p:cNvSpPr/>
            <p:nvPr/>
          </p:nvSpPr>
          <p:spPr>
            <a:xfrm>
              <a:off x="533400" y="3600450"/>
              <a:ext cx="47625" cy="285750"/>
            </a:xfrm>
            <a:prstGeom prst="roundRect">
              <a:avLst>
                <a:gd name="adj" fmla="val 50000"/>
              </a:avLst>
            </a:prstGeom>
            <a:solidFill>
              <a:srgbClr val="E0A93B"/>
            </a:solidFill>
            <a:ln>
              <a:noFill/>
            </a:ln>
          </p:spPr>
        </p:sp>
        <p:sp>
          <p:nvSpPr>
            <p:cNvPr id="36" name="TextBox 36"/>
            <p:cNvSpPr txBox="1"/>
            <p:nvPr/>
          </p:nvSpPr>
          <p:spPr>
            <a:xfrm>
              <a:off x="774192" y="3683318"/>
              <a:ext cx="3082630" cy="264033"/>
            </a:xfrm>
            <a:prstGeom prst="rect">
              <a:avLst/>
            </a:prstGeom>
            <a:noFill/>
            <a:ln>
              <a:noFill/>
            </a:ln>
          </p:spPr>
          <p:txBody>
            <a:bodyPr wrap="none" lIns="0" tIns="0" rIns="0" bIns="0" anchor="t" anchorCtr="0">
              <a:spAutoFit/>
            </a:bodyPr>
            <a:lstStyle/>
            <a:p>
              <a:pPr algn="l"/>
              <a:r>
                <a:rPr lang="en-US" sz="1350" b="1" dirty="0">
                  <a:solidFill>
                    <a:srgbClr val="EAF2FA"/>
                  </a:solidFill>
                  <a:latin typeface="+mn-lt"/>
                  <a:ea typeface="+mn-ea"/>
                  <a:cs typeface="+mn-cs"/>
                </a:rPr>
                <a:t>Forward diffusion in state space</a:t>
              </a:r>
            </a:p>
          </p:txBody>
        </p:sp>
        <p:sp>
          <p:nvSpPr>
            <p:cNvPr id="37" name="TextBox 37"/>
            <p:cNvSpPr txBox="1"/>
            <p:nvPr/>
          </p:nvSpPr>
          <p:spPr>
            <a:xfrm>
              <a:off x="775335" y="4012406"/>
              <a:ext cx="4328663" cy="220028"/>
            </a:xfrm>
            <a:prstGeom prst="rect">
              <a:avLst/>
            </a:prstGeom>
            <a:noFill/>
            <a:ln>
              <a:noFill/>
            </a:ln>
          </p:spPr>
          <p:txBody>
            <a:bodyPr wrap="none" lIns="0" tIns="0" rIns="0" bIns="0" anchor="t" anchorCtr="0">
              <a:spAutoFit/>
            </a:bodyPr>
            <a:lstStyle/>
            <a:p>
              <a:pPr algn="l"/>
              <a:r>
                <a:rPr lang="en-US" sz="1120" dirty="0">
                  <a:solidFill>
                    <a:srgbClr val="9FB6CC"/>
                  </a:solidFill>
                  <a:latin typeface="+mn-lt"/>
                  <a:ea typeface="+mn-ea"/>
                  <a:cs typeface="+mn-cs"/>
                </a:rPr>
                <a:t>Each forward step pushes states progressively away from</a:t>
              </a:r>
            </a:p>
          </p:txBody>
        </p:sp>
        <p:sp>
          <p:nvSpPr>
            <p:cNvPr id="38" name="TextBox 38"/>
            <p:cNvSpPr txBox="1"/>
            <p:nvPr/>
          </p:nvSpPr>
          <p:spPr>
            <a:xfrm>
              <a:off x="775335" y="4231481"/>
              <a:ext cx="4097416" cy="220028"/>
            </a:xfrm>
            <a:prstGeom prst="rect">
              <a:avLst/>
            </a:prstGeom>
            <a:noFill/>
            <a:ln>
              <a:noFill/>
            </a:ln>
          </p:spPr>
          <p:txBody>
            <a:bodyPr wrap="none" lIns="0" tIns="0" rIns="0" bIns="0" anchor="t" anchorCtr="0">
              <a:spAutoFit/>
            </a:bodyPr>
            <a:lstStyle/>
            <a:p>
              <a:pPr algn="l"/>
              <a:r>
                <a:rPr lang="en-US" sz="1120" dirty="0">
                  <a:solidFill>
                    <a:srgbClr val="9FB6CC"/>
                  </a:solidFill>
                  <a:latin typeface="+mn-lt"/>
                  <a:ea typeface="+mn-ea"/>
                  <a:cs typeface="+mn-cs"/>
                </a:rPr>
                <a:t>the goal — exactly like adding noise in an image diffusion</a:t>
              </a:r>
            </a:p>
          </p:txBody>
        </p:sp>
        <p:sp>
          <p:nvSpPr>
            <p:cNvPr id="39" name="TextBox 39"/>
            <p:cNvSpPr txBox="1"/>
            <p:nvPr/>
          </p:nvSpPr>
          <p:spPr>
            <a:xfrm>
              <a:off x="775335" y="4450556"/>
              <a:ext cx="4193134" cy="220028"/>
            </a:xfrm>
            <a:prstGeom prst="rect">
              <a:avLst/>
            </a:prstGeom>
            <a:noFill/>
            <a:ln>
              <a:noFill/>
            </a:ln>
          </p:spPr>
          <p:txBody>
            <a:bodyPr wrap="none" lIns="0" tIns="0" rIns="0" bIns="0" anchor="t" anchorCtr="0">
              <a:spAutoFit/>
            </a:bodyPr>
            <a:lstStyle/>
            <a:p>
              <a:pPr algn="l"/>
              <a:r>
                <a:rPr lang="en-US" sz="1120" dirty="0">
                  <a:solidFill>
                    <a:srgbClr val="9FB6CC"/>
                  </a:solidFill>
                  <a:latin typeface="+mn-lt"/>
                  <a:ea typeface="+mn-ea"/>
                  <a:cs typeface="+mn-cs"/>
                </a:rPr>
                <a:t>model. Merlin then learns to reverse the drift, one step</a:t>
              </a:r>
            </a:p>
          </p:txBody>
        </p:sp>
        <p:sp>
          <p:nvSpPr>
            <p:cNvPr id="40" name="TextBox 40"/>
            <p:cNvSpPr txBox="1"/>
            <p:nvPr/>
          </p:nvSpPr>
          <p:spPr>
            <a:xfrm>
              <a:off x="775335" y="4669631"/>
              <a:ext cx="757763" cy="220028"/>
            </a:xfrm>
            <a:prstGeom prst="rect">
              <a:avLst/>
            </a:prstGeom>
            <a:noFill/>
            <a:ln>
              <a:noFill/>
            </a:ln>
          </p:spPr>
          <p:txBody>
            <a:bodyPr wrap="none" lIns="0" tIns="0" rIns="0" bIns="0" anchor="t" anchorCtr="0">
              <a:spAutoFit/>
            </a:bodyPr>
            <a:lstStyle/>
            <a:p>
              <a:pPr algn="l"/>
              <a:r>
                <a:rPr lang="en-US" sz="1120" dirty="0">
                  <a:solidFill>
                    <a:srgbClr val="9FB6CC"/>
                  </a:solidFill>
                  <a:latin typeface="+mn-lt"/>
                  <a:ea typeface="+mn-ea"/>
                  <a:cs typeface="+mn-cs"/>
                </a:rPr>
                <a:t>at a time.</a:t>
              </a:r>
            </a:p>
          </p:txBody>
        </p:sp>
      </p:grpSp>
      <p:grpSp>
        <p:nvGrpSpPr>
          <p:cNvPr id="50" name="Group 50"/>
          <p:cNvGrpSpPr/>
          <p:nvPr/>
        </p:nvGrpSpPr>
        <p:grpSpPr>
          <a:xfrm>
            <a:off x="6229350" y="3429000"/>
            <a:ext cx="5429250" cy="1711261"/>
            <a:chOff x="6229350" y="3429000"/>
            <a:chExt cx="5429250" cy="1711261"/>
          </a:xfrm>
        </p:grpSpPr>
        <p:sp>
          <p:nvSpPr>
            <p:cNvPr id="42" name="Rectangle 42"/>
            <p:cNvSpPr/>
            <p:nvPr/>
          </p:nvSpPr>
          <p:spPr>
            <a:xfrm>
              <a:off x="6229350" y="3429000"/>
              <a:ext cx="5429250" cy="1695450"/>
            </a:xfrm>
            <a:prstGeom prst="roundRect">
              <a:avLst>
                <a:gd name="adj" fmla="val 6742"/>
              </a:avLst>
            </a:prstGeom>
            <a:solidFill>
              <a:schemeClr val="accent5"/>
            </a:solidFill>
            <a:ln w="11430">
              <a:solidFill>
                <a:srgbClr val="1E3E5A"/>
              </a:solidFill>
            </a:ln>
          </p:spPr>
        </p:sp>
        <p:sp>
          <p:nvSpPr>
            <p:cNvPr id="43" name="Rectangle 43"/>
            <p:cNvSpPr/>
            <p:nvPr/>
          </p:nvSpPr>
          <p:spPr>
            <a:xfrm>
              <a:off x="6229350" y="3600450"/>
              <a:ext cx="47625" cy="285750"/>
            </a:xfrm>
            <a:prstGeom prst="roundRect">
              <a:avLst>
                <a:gd name="adj" fmla="val 50000"/>
              </a:avLst>
            </a:prstGeom>
            <a:solidFill>
              <a:srgbClr val="4C86F0"/>
            </a:solidFill>
            <a:ln>
              <a:noFill/>
            </a:ln>
          </p:spPr>
        </p:sp>
        <p:sp>
          <p:nvSpPr>
            <p:cNvPr id="44" name="TextBox 44"/>
            <p:cNvSpPr txBox="1"/>
            <p:nvPr/>
          </p:nvSpPr>
          <p:spPr>
            <a:xfrm>
              <a:off x="6470142" y="3683318"/>
              <a:ext cx="3435505" cy="264033"/>
            </a:xfrm>
            <a:prstGeom prst="rect">
              <a:avLst/>
            </a:prstGeom>
            <a:noFill/>
            <a:ln>
              <a:noFill/>
            </a:ln>
          </p:spPr>
          <p:txBody>
            <a:bodyPr wrap="none" lIns="0" tIns="0" rIns="0" bIns="0" anchor="t" anchorCtr="0">
              <a:spAutoFit/>
            </a:bodyPr>
            <a:lstStyle/>
            <a:p>
              <a:pPr algn="l"/>
              <a:r>
                <a:rPr lang="en-US" sz="1350" b="1" dirty="0">
                  <a:solidFill>
                    <a:srgbClr val="EAF2FA"/>
                  </a:solidFill>
                  <a:latin typeface="+mn-lt"/>
                  <a:ea typeface="+mn-ea"/>
                  <a:cs typeface="+mn-cs"/>
                </a:rPr>
                <a:t>Likelihood of goals = behavior cloning</a:t>
              </a:r>
            </a:p>
          </p:txBody>
        </p:sp>
        <p:sp>
          <p:nvSpPr>
            <p:cNvPr id="45" name="Rectangle 45"/>
            <p:cNvSpPr/>
            <p:nvPr/>
          </p:nvSpPr>
          <p:spPr>
            <a:xfrm>
              <a:off x="6457950" y="3981450"/>
              <a:ext cx="4972050" cy="438150"/>
            </a:xfrm>
            <a:prstGeom prst="roundRect">
              <a:avLst>
                <a:gd name="adj" fmla="val 17391"/>
              </a:avLst>
            </a:prstGeom>
            <a:solidFill>
              <a:schemeClr val="accent6"/>
            </a:solidFill>
            <a:ln w="9525">
              <a:solidFill>
                <a:srgbClr val="1E3E5A"/>
              </a:solidFill>
            </a:ln>
          </p:spPr>
        </p:sp>
        <p:sp>
          <p:nvSpPr>
            <p:cNvPr id="46" name="TextBox 46"/>
            <p:cNvSpPr txBox="1"/>
            <p:nvPr/>
          </p:nvSpPr>
          <p:spPr>
            <a:xfrm>
              <a:off x="6603492" y="4111942"/>
              <a:ext cx="2350078" cy="264033"/>
            </a:xfrm>
            <a:prstGeom prst="rect">
              <a:avLst/>
            </a:prstGeom>
            <a:noFill/>
            <a:ln>
              <a:noFill/>
            </a:ln>
          </p:spPr>
          <p:txBody>
            <a:bodyPr wrap="none" lIns="0" tIns="0" rIns="0" bIns="0" anchor="t" anchorCtr="0">
              <a:spAutoFit/>
            </a:bodyPr>
            <a:lstStyle/>
            <a:p>
              <a:pPr algn="l"/>
              <a:r>
                <a:rPr lang="en-US" sz="1350" dirty="0">
                  <a:solidFill>
                    <a:srgbClr val="2FB6A8"/>
                  </a:solidFill>
                  <a:latin typeface="Consolas"/>
                  <a:ea typeface="Consolas"/>
                  <a:cs typeface="Consolas"/>
                </a:rPr>
                <a:t>max_θ E[ log πθ(a | s, g) ]</a:t>
              </a:r>
            </a:p>
          </p:txBody>
        </p:sp>
        <p:sp>
          <p:nvSpPr>
            <p:cNvPr id="47" name="TextBox 47"/>
            <p:cNvSpPr txBox="1"/>
            <p:nvPr/>
          </p:nvSpPr>
          <p:spPr>
            <a:xfrm>
              <a:off x="6471666" y="4534852"/>
              <a:ext cx="3704469" cy="205359"/>
            </a:xfrm>
            <a:prstGeom prst="rect">
              <a:avLst/>
            </a:prstGeom>
            <a:noFill/>
            <a:ln>
              <a:noFill/>
            </a:ln>
          </p:spPr>
          <p:txBody>
            <a:bodyPr wrap="none" lIns="0" tIns="0" rIns="0" bIns="0" anchor="t" anchorCtr="0">
              <a:spAutoFit/>
            </a:bodyPr>
            <a:lstStyle/>
            <a:p>
              <a:pPr algn="l"/>
              <a:r>
                <a:rPr lang="en-US" sz="1050" dirty="0">
                  <a:solidFill>
                    <a:srgbClr val="9FB6CC"/>
                  </a:solidFill>
                  <a:latin typeface="+mn-lt"/>
                  <a:ea typeface="+mn-ea"/>
                  <a:cs typeface="+mn-cs"/>
                </a:rPr>
                <a:t>Maximizing the log-likelihood of goal states under the</a:t>
              </a:r>
            </a:p>
          </p:txBody>
        </p:sp>
        <p:sp>
          <p:nvSpPr>
            <p:cNvPr id="48" name="TextBox 48"/>
            <p:cNvSpPr txBox="1"/>
            <p:nvPr/>
          </p:nvSpPr>
          <p:spPr>
            <a:xfrm>
              <a:off x="6471666" y="4734878"/>
              <a:ext cx="3947293" cy="205359"/>
            </a:xfrm>
            <a:prstGeom prst="rect">
              <a:avLst/>
            </a:prstGeom>
            <a:noFill/>
            <a:ln>
              <a:noFill/>
            </a:ln>
          </p:spPr>
          <p:txBody>
            <a:bodyPr wrap="none" lIns="0" tIns="0" rIns="0" bIns="0" anchor="t" anchorCtr="0">
              <a:spAutoFit/>
            </a:bodyPr>
            <a:lstStyle/>
            <a:p>
              <a:pPr algn="l"/>
              <a:r>
                <a:rPr lang="en-US" sz="1050" dirty="0">
                  <a:solidFill>
                    <a:srgbClr val="9FB6CC"/>
                  </a:solidFill>
                  <a:latin typeface="+mn-lt"/>
                  <a:ea typeface="+mn-ea"/>
                  <a:cs typeface="+mn-cs"/>
                </a:rPr>
                <a:t>reverse process reduces to plain behavior cloning — so no</a:t>
              </a:r>
            </a:p>
          </p:txBody>
        </p:sp>
        <p:sp>
          <p:nvSpPr>
            <p:cNvPr id="49" name="TextBox 49"/>
            <p:cNvSpPr txBox="1"/>
            <p:nvPr/>
          </p:nvSpPr>
          <p:spPr>
            <a:xfrm>
              <a:off x="6471666" y="4934902"/>
              <a:ext cx="2095595" cy="205359"/>
            </a:xfrm>
            <a:prstGeom prst="rect">
              <a:avLst/>
            </a:prstGeom>
            <a:noFill/>
            <a:ln>
              <a:noFill/>
            </a:ln>
          </p:spPr>
          <p:txBody>
            <a:bodyPr wrap="none" lIns="0" tIns="0" rIns="0" bIns="0" anchor="t" anchorCtr="0">
              <a:spAutoFit/>
            </a:bodyPr>
            <a:lstStyle/>
            <a:p>
              <a:pPr algn="l"/>
              <a:r>
                <a:rPr lang="en-US" sz="1050" dirty="0">
                  <a:solidFill>
                    <a:srgbClr val="9FB6CC"/>
                  </a:solidFill>
                  <a:latin typeface="+mn-lt"/>
                  <a:ea typeface="+mn-ea"/>
                  <a:cs typeface="+mn-cs"/>
                </a:rPr>
                <a:t>value function is ever needed.</a:t>
              </a:r>
            </a:p>
          </p:txBody>
        </p:sp>
      </p:grpSp>
      <p:grpSp>
        <p:nvGrpSpPr>
          <p:cNvPr id="64" name="Group 64"/>
          <p:cNvGrpSpPr/>
          <p:nvPr/>
        </p:nvGrpSpPr>
        <p:grpSpPr>
          <a:xfrm>
            <a:off x="533400" y="5295900"/>
            <a:ext cx="11125200" cy="1219200"/>
            <a:chOff x="533400" y="5295900"/>
            <a:chExt cx="11125200" cy="1219200"/>
          </a:xfrm>
        </p:grpSpPr>
        <p:sp>
          <p:nvSpPr>
            <p:cNvPr id="51" name="Rectangle 51"/>
            <p:cNvSpPr/>
            <p:nvPr/>
          </p:nvSpPr>
          <p:spPr>
            <a:xfrm>
              <a:off x="533400" y="5295900"/>
              <a:ext cx="11125200" cy="1219200"/>
            </a:xfrm>
            <a:prstGeom prst="roundRect">
              <a:avLst>
                <a:gd name="adj" fmla="val 9375"/>
              </a:avLst>
            </a:prstGeom>
            <a:solidFill>
              <a:schemeClr val="accent6"/>
            </a:solidFill>
            <a:ln w="11430">
              <a:solidFill>
                <a:srgbClr val="1E3E5A"/>
              </a:solidFill>
            </a:ln>
          </p:spPr>
        </p:sp>
        <p:sp>
          <p:nvSpPr>
            <p:cNvPr id="52" name="Rectangle 52"/>
            <p:cNvSpPr/>
            <p:nvPr/>
          </p:nvSpPr>
          <p:spPr>
            <a:xfrm>
              <a:off x="533400" y="5467350"/>
              <a:ext cx="47625" cy="285750"/>
            </a:xfrm>
            <a:prstGeom prst="roundRect">
              <a:avLst>
                <a:gd name="adj" fmla="val 50000"/>
              </a:avLst>
            </a:prstGeom>
            <a:solidFill>
              <a:srgbClr val="9B7BE0"/>
            </a:solidFill>
            <a:ln>
              <a:noFill/>
            </a:ln>
          </p:spPr>
        </p:sp>
        <p:sp>
          <p:nvSpPr>
            <p:cNvPr id="53" name="TextBox 53"/>
            <p:cNvSpPr txBox="1"/>
            <p:nvPr/>
          </p:nvSpPr>
          <p:spPr>
            <a:xfrm>
              <a:off x="774573" y="5520214"/>
              <a:ext cx="8350794" cy="249364"/>
            </a:xfrm>
            <a:prstGeom prst="rect">
              <a:avLst/>
            </a:prstGeom>
            <a:noFill/>
            <a:ln>
              <a:noFill/>
            </a:ln>
          </p:spPr>
          <p:txBody>
            <a:bodyPr wrap="none" lIns="0" tIns="0" rIns="0" bIns="0" anchor="t" anchorCtr="0">
              <a:spAutoFit/>
            </a:bodyPr>
            <a:lstStyle/>
            <a:p>
              <a:pPr algn="l"/>
              <a:r>
                <a:rPr lang="en-US" sz="1280" b="1" dirty="0">
                  <a:solidFill>
                    <a:srgbClr val="EAF2FA"/>
                  </a:solidFill>
                  <a:latin typeface="+mn-lt"/>
                  <a:ea typeface="+mn-ea"/>
                  <a:cs typeface="+mn-cs"/>
                </a:rPr>
                <a:t>Three ways to build the goal-departing trajectories · one denoising step per environment step</a:t>
              </a:r>
            </a:p>
          </p:txBody>
        </p:sp>
        <p:sp>
          <p:nvSpPr>
            <p:cNvPr id="54" name="Rectangle 54"/>
            <p:cNvSpPr/>
            <p:nvPr/>
          </p:nvSpPr>
          <p:spPr>
            <a:xfrm>
              <a:off x="781050" y="5848350"/>
              <a:ext cx="3429000" cy="495300"/>
            </a:xfrm>
            <a:prstGeom prst="roundRect">
              <a:avLst>
                <a:gd name="adj" fmla="val 15385"/>
              </a:avLst>
            </a:prstGeom>
            <a:solidFill>
              <a:schemeClr val="accent5"/>
            </a:solidFill>
            <a:ln w="9525">
              <a:solidFill>
                <a:srgbClr val="1E3E5A"/>
              </a:solidFill>
            </a:ln>
          </p:spPr>
        </p:sp>
        <p:sp>
          <p:nvSpPr>
            <p:cNvPr id="55" name="TextBox 55"/>
            <p:cNvSpPr txBox="1"/>
            <p:nvPr/>
          </p:nvSpPr>
          <p:spPr>
            <a:xfrm>
              <a:off x="927354" y="5947410"/>
              <a:ext cx="441046" cy="234696"/>
            </a:xfrm>
            <a:prstGeom prst="rect">
              <a:avLst/>
            </a:prstGeom>
            <a:noFill/>
            <a:ln>
              <a:noFill/>
            </a:ln>
          </p:spPr>
          <p:txBody>
            <a:bodyPr wrap="none" lIns="0" tIns="0" rIns="0" bIns="0" anchor="t" anchorCtr="0">
              <a:spAutoFit/>
            </a:bodyPr>
            <a:lstStyle/>
            <a:p>
              <a:pPr algn="l"/>
              <a:r>
                <a:rPr lang="en-US" sz="1200" b="1" dirty="0">
                  <a:solidFill>
                    <a:srgbClr val="9B7BE0"/>
                  </a:solidFill>
                  <a:latin typeface="+mn-lt"/>
                  <a:ea typeface="+mn-ea"/>
                  <a:cs typeface="+mn-cs"/>
                </a:rPr>
                <a:t>Fixed</a:t>
              </a:r>
            </a:p>
          </p:txBody>
        </p:sp>
        <p:sp>
          <p:nvSpPr>
            <p:cNvPr id="56" name="TextBox 56"/>
            <p:cNvSpPr txBox="1"/>
            <p:nvPr/>
          </p:nvSpPr>
          <p:spPr>
            <a:xfrm>
              <a:off x="928497" y="6143149"/>
              <a:ext cx="2206501" cy="190690"/>
            </a:xfrm>
            <a:prstGeom prst="rect">
              <a:avLst/>
            </a:prstGeom>
            <a:noFill/>
            <a:ln>
              <a:noFill/>
            </a:ln>
          </p:spPr>
          <p:txBody>
            <a:bodyPr wrap="none" lIns="0" tIns="0" rIns="0" bIns="0" anchor="t" anchorCtr="0">
              <a:spAutoFit/>
            </a:bodyPr>
            <a:lstStyle/>
            <a:p>
              <a:pPr algn="l"/>
              <a:r>
                <a:rPr lang="en-US" sz="980" dirty="0">
                  <a:solidFill>
                    <a:srgbClr val="9FB6CC"/>
                  </a:solidFill>
                  <a:latin typeface="+mn-lt"/>
                  <a:ea typeface="+mn-ea"/>
                  <a:cs typeface="+mn-cs"/>
                </a:rPr>
                <a:t>a hand-designed construction rule</a:t>
              </a:r>
            </a:p>
          </p:txBody>
        </p:sp>
        <p:sp>
          <p:nvSpPr>
            <p:cNvPr id="57" name="Rectangle 57"/>
            <p:cNvSpPr/>
            <p:nvPr/>
          </p:nvSpPr>
          <p:spPr>
            <a:xfrm>
              <a:off x="4476750" y="5848350"/>
              <a:ext cx="3429000" cy="495300"/>
            </a:xfrm>
            <a:prstGeom prst="roundRect">
              <a:avLst>
                <a:gd name="adj" fmla="val 15385"/>
              </a:avLst>
            </a:prstGeom>
            <a:solidFill>
              <a:schemeClr val="accent5"/>
            </a:solidFill>
            <a:ln w="9525">
              <a:solidFill>
                <a:srgbClr val="1E3E5A"/>
              </a:solidFill>
            </a:ln>
          </p:spPr>
        </p:sp>
        <p:sp>
          <p:nvSpPr>
            <p:cNvPr id="58" name="TextBox 58"/>
            <p:cNvSpPr txBox="1"/>
            <p:nvPr/>
          </p:nvSpPr>
          <p:spPr>
            <a:xfrm>
              <a:off x="4623054" y="5947410"/>
              <a:ext cx="718886" cy="234696"/>
            </a:xfrm>
            <a:prstGeom prst="rect">
              <a:avLst/>
            </a:prstGeom>
            <a:noFill/>
            <a:ln>
              <a:noFill/>
            </a:ln>
          </p:spPr>
          <p:txBody>
            <a:bodyPr wrap="none" lIns="0" tIns="0" rIns="0" bIns="0" anchor="t" anchorCtr="0">
              <a:spAutoFit/>
            </a:bodyPr>
            <a:lstStyle/>
            <a:p>
              <a:pPr algn="l"/>
              <a:r>
                <a:rPr lang="en-US" sz="1200" b="1" dirty="0">
                  <a:solidFill>
                    <a:srgbClr val="9B7BE0"/>
                  </a:solidFill>
                  <a:latin typeface="+mn-lt"/>
                  <a:ea typeface="+mn-ea"/>
                  <a:cs typeface="+mn-cs"/>
                </a:rPr>
                <a:t>Merlin-P</a:t>
              </a:r>
            </a:p>
          </p:txBody>
        </p:sp>
        <p:sp>
          <p:nvSpPr>
            <p:cNvPr id="59" name="TextBox 59"/>
            <p:cNvSpPr txBox="1"/>
            <p:nvPr/>
          </p:nvSpPr>
          <p:spPr>
            <a:xfrm>
              <a:off x="4624197" y="6143149"/>
              <a:ext cx="2325235" cy="190690"/>
            </a:xfrm>
            <a:prstGeom prst="rect">
              <a:avLst/>
            </a:prstGeom>
            <a:noFill/>
            <a:ln>
              <a:noFill/>
            </a:ln>
          </p:spPr>
          <p:txBody>
            <a:bodyPr wrap="none" lIns="0" tIns="0" rIns="0" bIns="0" anchor="t" anchorCtr="0">
              <a:spAutoFit/>
            </a:bodyPr>
            <a:lstStyle/>
            <a:p>
              <a:pPr algn="l"/>
              <a:r>
                <a:rPr lang="en-US" sz="980" dirty="0">
                  <a:solidFill>
                    <a:srgbClr val="9FB6CC"/>
                  </a:solidFill>
                  <a:latin typeface="+mn-lt"/>
                  <a:ea typeface="+mn-ea"/>
                  <a:cs typeface="+mn-cs"/>
                </a:rPr>
                <a:t>a learned parametric forward model</a:t>
              </a:r>
            </a:p>
          </p:txBody>
        </p:sp>
        <p:sp>
          <p:nvSpPr>
            <p:cNvPr id="60" name="Rectangle 60"/>
            <p:cNvSpPr/>
            <p:nvPr/>
          </p:nvSpPr>
          <p:spPr>
            <a:xfrm>
              <a:off x="8172450" y="5848350"/>
              <a:ext cx="3429000" cy="495300"/>
            </a:xfrm>
            <a:prstGeom prst="roundRect">
              <a:avLst>
                <a:gd name="adj" fmla="val 15385"/>
              </a:avLst>
            </a:prstGeom>
            <a:solidFill>
              <a:schemeClr val="accent5"/>
            </a:solidFill>
            <a:ln w="9525">
              <a:solidFill>
                <a:srgbClr val="1E3E5A"/>
              </a:solidFill>
            </a:ln>
          </p:spPr>
        </p:sp>
        <p:sp>
          <p:nvSpPr>
            <p:cNvPr id="61" name="TextBox 61"/>
            <p:cNvSpPr txBox="1"/>
            <p:nvPr/>
          </p:nvSpPr>
          <p:spPr>
            <a:xfrm>
              <a:off x="8318754" y="5947410"/>
              <a:ext cx="817673" cy="234696"/>
            </a:xfrm>
            <a:prstGeom prst="rect">
              <a:avLst/>
            </a:prstGeom>
            <a:noFill/>
            <a:ln>
              <a:noFill/>
            </a:ln>
          </p:spPr>
          <p:txBody>
            <a:bodyPr wrap="none" lIns="0" tIns="0" rIns="0" bIns="0" anchor="t" anchorCtr="0">
              <a:spAutoFit/>
            </a:bodyPr>
            <a:lstStyle/>
            <a:p>
              <a:pPr algn="l"/>
              <a:r>
                <a:rPr lang="en-US" sz="1200" b="1" dirty="0">
                  <a:solidFill>
                    <a:srgbClr val="9B7BE0"/>
                  </a:solidFill>
                  <a:latin typeface="+mn-lt"/>
                  <a:ea typeface="+mn-ea"/>
                  <a:cs typeface="+mn-cs"/>
                </a:rPr>
                <a:t>Merlin-NP</a:t>
              </a:r>
            </a:p>
          </p:txBody>
        </p:sp>
        <p:sp>
          <p:nvSpPr>
            <p:cNvPr id="62" name="TextBox 62"/>
            <p:cNvSpPr txBox="1"/>
            <p:nvPr/>
          </p:nvSpPr>
          <p:spPr>
            <a:xfrm>
              <a:off x="8319897" y="6143149"/>
              <a:ext cx="2965084" cy="190690"/>
            </a:xfrm>
            <a:prstGeom prst="rect">
              <a:avLst/>
            </a:prstGeom>
            <a:noFill/>
            <a:ln>
              <a:noFill/>
            </a:ln>
          </p:spPr>
          <p:txBody>
            <a:bodyPr wrap="none" lIns="0" tIns="0" rIns="0" bIns="0" anchor="t" anchorCtr="0">
              <a:spAutoFit/>
            </a:bodyPr>
            <a:lstStyle/>
            <a:p>
              <a:pPr algn="l"/>
              <a:r>
                <a:rPr lang="en-US" sz="980" dirty="0">
                  <a:solidFill>
                    <a:srgbClr val="9FB6CC"/>
                  </a:solidFill>
                  <a:latin typeface="+mn-lt"/>
                  <a:ea typeface="+mn-ea"/>
                  <a:cs typeface="+mn-cs"/>
                </a:rPr>
                <a:t>non-parametric nearest-neighbor stitching in</a:t>
              </a:r>
            </a:p>
          </p:txBody>
        </p:sp>
        <p:sp>
          <p:nvSpPr>
            <p:cNvPr id="63" name="TextBox 63"/>
            <p:cNvSpPr txBox="1"/>
            <p:nvPr/>
          </p:nvSpPr>
          <p:spPr>
            <a:xfrm>
              <a:off x="8319897" y="6295549"/>
              <a:ext cx="814664" cy="190690"/>
            </a:xfrm>
            <a:prstGeom prst="rect">
              <a:avLst/>
            </a:prstGeom>
            <a:noFill/>
            <a:ln>
              <a:noFill/>
            </a:ln>
          </p:spPr>
          <p:txBody>
            <a:bodyPr wrap="none" lIns="0" tIns="0" rIns="0" bIns="0" anchor="t" anchorCtr="0">
              <a:spAutoFit/>
            </a:bodyPr>
            <a:lstStyle/>
            <a:p>
              <a:pPr algn="l"/>
              <a:r>
                <a:rPr lang="en-US" sz="980" dirty="0">
                  <a:solidFill>
                    <a:srgbClr val="9FB6CC"/>
                  </a:solidFill>
                  <a:latin typeface="+mn-lt"/>
                  <a:ea typeface="+mn-ea"/>
                  <a:cs typeface="+mn-cs"/>
                </a:rPr>
                <a:t>latent space</a:t>
              </a:r>
            </a:p>
          </p:txBody>
        </p:sp>
      </p:grpSp>
      <p:sp>
        <p:nvSpPr>
          <p:cNvPr id="65" name="cue_s05_c1_how_merlin_works_take_trajectory" title="cue_s05_c1_how_merlin_works_take_trajectory" descr="cue_s05_c1_how_merlin_works_take_trajectory Here is how Merlin works. Take a trajectory from the offline dataset and read it backwards, starting from its final goal state."/>
          <p:cNvSpPr/>
          <p:nvPr/>
        </p:nvSpPr>
        <p:spPr>
          <a:xfrm>
            <a:off x="532790" y="1599971"/>
            <a:ext cx="11125200" cy="16383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cue_s05_c2_applying_forward_diffusion_transform" title="cue_s05_c2_applying_forward_diffusion_transform" descr="cue_s05_c2_applying_forward_diffusion_transform Applying a forward diffusion transformation at each step produces states that drift progressively away from the goal, exactly like adding noise in an image diffusion model. Merlin then trains a goal-conditioned policy to reverse this drift, step by step, back"/>
          <p:cNvSpPr/>
          <p:nvPr/>
        </p:nvSpPr>
        <p:spPr>
          <a:xfrm>
            <a:off x="532790" y="3429000"/>
            <a:ext cx="5429097" cy="16952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cue_s05_c3_key_theoretical_result_maximizing_li" title="cue_s05_c3_key_theoretical_result_maximizing_li" descr="cue_s05_c3_key_theoretical_result_maximizing_li The key theoretical result is that maximizing the likelihood of the goal states under this reverse process is equivalent to plain behavior cloning on the relabeled data, so no value function is ever needed. Because the state space itself is the diffusion space"/>
          <p:cNvSpPr/>
          <p:nvPr/>
        </p:nvSpPr>
        <p:spPr>
          <a:xfrm>
            <a:off x="6228892" y="3429000"/>
            <a:ext cx="5429097" cy="17110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cue_s05_c4_authors_offer_three_ways_build" title="cue_s05_c4_authors_offer_three_ways_build" descr="cue_s05_c4_authors_offer_three_ways_build The authors offer three ways to build the goal-departing trajectories: a fixed construction, a learned parametric forward model in Merlin-P, and a non-parametric model in Merlin-NP that connects nearby states through nearest-neighbor stitching in a learned lat"/>
          <p:cNvSpPr/>
          <p:nvPr/>
        </p:nvSpPr>
        <p:spPr>
          <a:xfrm>
            <a:off x="532790" y="5295747"/>
            <a:ext cx="11125200" cy="12193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533400" y="495300"/>
            <a:ext cx="66675" cy="323850"/>
          </a:xfrm>
          <a:prstGeom prst="roundRect">
            <a:avLst>
              <a:gd name="adj" fmla="val 42857"/>
            </a:avLst>
          </a:prstGeom>
          <a:solidFill>
            <a:srgbClr val="2FB6A8"/>
          </a:solidFill>
          <a:ln>
            <a:noFill/>
          </a:ln>
        </p:spPr>
        <p:txBody>
          <a:bodyPr/>
          <a:p/>
        </p:txBody>
      </p:sp>
      <p:sp>
        <p:nvSpPr>
          <p:cNvPr id="3" name="TextBox 3"/>
          <p:cNvSpPr txBox="1"/>
          <p:nvPr/>
        </p:nvSpPr>
        <p:spPr>
          <a:xfrm>
            <a:off x="737235" y="507206"/>
            <a:ext cx="2093312" cy="220028"/>
          </a:xfrm>
          <a:prstGeom prst="rect">
            <a:avLst/>
          </a:prstGeom>
          <a:noFill/>
          <a:ln>
            <a:noFill/>
          </a:ln>
        </p:spPr>
        <p:txBody>
          <a:bodyPr wrap="none" lIns="0" tIns="0" rIns="0" bIns="0" anchor="t" anchorCtr="0">
            <a:spAutoFit/>
          </a:bodyPr>
          <a:lstStyle/>
          <a:p>
            <a:pPr algn="l"/>
            <a:r>
              <a:rPr lang="en-US" sz="1120" b="1" spc="150" dirty="0">
                <a:solidFill>
                  <a:srgbClr val="2FB6A8"/>
                </a:solidFill>
                <a:latin typeface="+mn-lt"/>
                <a:ea typeface="+mn-ea"/>
                <a:cs typeface="+mn-cs"/>
              </a:rPr>
              <a:t>DATASET / BENCHMARK</a:t>
            </a:r>
          </a:p>
        </p:txBody>
      </p:sp>
      <p:sp>
        <p:nvSpPr>
          <p:cNvPr id="4" name="TextBox 4"/>
          <p:cNvSpPr txBox="1"/>
          <p:nvPr/>
        </p:nvSpPr>
        <p:spPr>
          <a:xfrm>
            <a:off x="729996" y="715328"/>
            <a:ext cx="6056698" cy="498729"/>
          </a:xfrm>
          <a:prstGeom prst="rect">
            <a:avLst/>
          </a:prstGeom>
          <a:noFill/>
          <a:ln>
            <a:noFill/>
          </a:ln>
        </p:spPr>
        <p:txBody>
          <a:bodyPr wrap="none" lIns="0" tIns="0" rIns="0" bIns="0" anchor="t" anchorCtr="0">
            <a:spAutoFit/>
          </a:bodyPr>
          <a:lstStyle/>
          <a:p>
            <a:pPr algn="l"/>
            <a:r>
              <a:rPr lang="en-US" sz="2550" b="1" dirty="0">
                <a:solidFill>
                  <a:srgbClr val="EAF2FA"/>
                </a:solidFill>
                <a:latin typeface="+mn-lt"/>
                <a:ea typeface="+mn-ea"/>
                <a:cs typeface="+mn-cs"/>
              </a:rPr>
              <a:t>Ten offline goal-conditioned tasks</a:t>
            </a:r>
          </a:p>
        </p:txBody>
      </p:sp>
      <p:sp>
        <p:nvSpPr>
          <p:cNvPr id="5" name="TextBox 5"/>
          <p:cNvSpPr txBox="1"/>
          <p:nvPr/>
        </p:nvSpPr>
        <p:spPr>
          <a:xfrm>
            <a:off x="10511409" y="754856"/>
            <a:ext cx="1152906" cy="220028"/>
          </a:xfrm>
          <a:prstGeom prst="rect">
            <a:avLst/>
          </a:prstGeom>
          <a:noFill/>
          <a:ln>
            <a:noFill/>
          </a:ln>
        </p:spPr>
        <p:txBody>
          <a:bodyPr wrap="none" lIns="0" tIns="0" rIns="0" bIns="0" anchor="t" anchorCtr="0">
            <a:spAutoFit/>
          </a:bodyPr>
          <a:lstStyle/>
          <a:p>
            <a:pPr algn="r"/>
            <a:r>
              <a:rPr lang="en-US" sz="1120" dirty="0">
                <a:solidFill>
                  <a:srgbClr val="9FB6CC"/>
                </a:solidFill>
                <a:latin typeface="+mn-lt"/>
                <a:ea typeface="+mn-ea"/>
                <a:cs typeface="+mn-cs"/>
              </a:rPr>
              <a:t>Merlin · 06 / 09</a:t>
            </a:r>
          </a:p>
        </p:txBody>
      </p:sp>
      <p:sp>
        <p:nvSpPr>
          <p:cNvPr id="6" name="Line 6"/>
          <p:cNvSpPr/>
          <p:nvPr/>
        </p:nvSpPr>
        <p:spPr>
          <a:xfrm>
            <a:off x="533400" y="1219200"/>
            <a:ext cx="11125200" cy="9525"/>
          </a:xfrm>
          <a:custGeom>
            <a:avLst/>
            <a:gdLst/>
            <a:ahLst/>
            <a:cxnLst/>
            <a:rect l="l" t="t" r="r" b="b"/>
            <a:pathLst>
              <a:path w="11125200" h="9525">
                <a:moveTo>
                  <a:pt x="0" y="0"/>
                </a:moveTo>
                <a:lnTo>
                  <a:pt x="11125200" y="0"/>
                </a:lnTo>
              </a:path>
            </a:pathLst>
          </a:custGeom>
          <a:noFill/>
          <a:ln w="9525">
            <a:solidFill>
              <a:srgbClr val="1E3E5A"/>
            </a:solidFill>
          </a:ln>
        </p:spPr>
        <p:txBody>
          <a:bodyPr/>
          <a:p/>
        </p:txBody>
      </p:sp>
      <p:grpSp>
        <p:nvGrpSpPr>
          <p:cNvPr id="30" name="Group 30"/>
          <p:cNvGrpSpPr/>
          <p:nvPr/>
        </p:nvGrpSpPr>
        <p:grpSpPr>
          <a:xfrm>
            <a:off x="533400" y="1600200"/>
            <a:ext cx="11125200" cy="1123950"/>
            <a:chOff x="533400" y="1600200"/>
            <a:chExt cx="11125200" cy="1123950"/>
          </a:xfrm>
        </p:grpSpPr>
        <p:sp>
          <p:nvSpPr>
            <p:cNvPr id="7" name="Rectangle 7"/>
            <p:cNvSpPr/>
            <p:nvPr/>
          </p:nvSpPr>
          <p:spPr>
            <a:xfrm>
              <a:off x="533400" y="1600200"/>
              <a:ext cx="11125200" cy="1123950"/>
            </a:xfrm>
            <a:prstGeom prst="roundRect">
              <a:avLst>
                <a:gd name="adj" fmla="val 10169"/>
              </a:avLst>
            </a:prstGeom>
            <a:solidFill>
              <a:schemeClr val="accent6"/>
            </a:solidFill>
            <a:ln w="11430">
              <a:solidFill>
                <a:srgbClr val="1E3E5A"/>
              </a:solidFill>
            </a:ln>
          </p:spPr>
        </p:sp>
        <p:sp>
          <p:nvSpPr>
            <p:cNvPr id="8" name="Rectangle 8"/>
            <p:cNvSpPr/>
            <p:nvPr/>
          </p:nvSpPr>
          <p:spPr>
            <a:xfrm>
              <a:off x="533400" y="1771650"/>
              <a:ext cx="47625" cy="285750"/>
            </a:xfrm>
            <a:prstGeom prst="roundRect">
              <a:avLst>
                <a:gd name="adj" fmla="val 50000"/>
              </a:avLst>
            </a:prstGeom>
            <a:solidFill>
              <a:srgbClr val="2FB6A8"/>
            </a:solidFill>
            <a:ln>
              <a:noFill/>
            </a:ln>
          </p:spPr>
        </p:sp>
        <p:sp>
          <p:nvSpPr>
            <p:cNvPr id="9" name="TextBox 9"/>
            <p:cNvSpPr txBox="1"/>
            <p:nvPr/>
          </p:nvSpPr>
          <p:spPr>
            <a:xfrm>
              <a:off x="773811" y="1808321"/>
              <a:ext cx="8473826" cy="278702"/>
            </a:xfrm>
            <a:prstGeom prst="rect">
              <a:avLst/>
            </a:prstGeom>
            <a:noFill/>
            <a:ln>
              <a:noFill/>
            </a:ln>
          </p:spPr>
          <p:txBody>
            <a:bodyPr wrap="none" lIns="0" tIns="0" rIns="0" bIns="0" anchor="t" anchorCtr="0">
              <a:spAutoFit/>
            </a:bodyPr>
            <a:lstStyle/>
            <a:p>
              <a:pPr algn="l"/>
              <a:r>
                <a:rPr lang="en-US" sz="1420" b="1" dirty="0">
                  <a:solidFill>
                    <a:srgbClr val="EAF2FA"/>
                  </a:solidFill>
                  <a:latin typeface="+mn-lt"/>
                  <a:ea typeface="+mn-ea"/>
                  <a:cs typeface="+mn-cs"/>
                </a:rPr>
                <a:t>Standard offline GCRL benchmark (Yang et al., 2021) — 10 control tasks, easy to hard</a:t>
              </a:r>
            </a:p>
          </p:txBody>
        </p:sp>
        <p:sp>
          <p:nvSpPr>
            <p:cNvPr id="10" name="Rectangle 10"/>
            <p:cNvSpPr/>
            <p:nvPr/>
          </p:nvSpPr>
          <p:spPr>
            <a:xfrm>
              <a:off x="781050" y="2209800"/>
              <a:ext cx="933450" cy="247650"/>
            </a:xfrm>
            <a:prstGeom prst="roundRect">
              <a:avLst>
                <a:gd name="adj" fmla="val 50000"/>
              </a:avLst>
            </a:prstGeom>
            <a:solidFill>
              <a:schemeClr val="accent5"/>
            </a:solidFill>
            <a:ln w="12382">
              <a:solidFill>
                <a:srgbClr val="4C86F0"/>
              </a:solidFill>
            </a:ln>
          </p:spPr>
        </p:sp>
        <p:sp>
          <p:nvSpPr>
            <p:cNvPr id="11" name="TextBox 11"/>
            <p:cNvSpPr txBox="1"/>
            <p:nvPr/>
          </p:nvSpPr>
          <p:spPr>
            <a:xfrm>
              <a:off x="892592" y="2275999"/>
              <a:ext cx="710367" cy="190690"/>
            </a:xfrm>
            <a:prstGeom prst="rect">
              <a:avLst/>
            </a:prstGeom>
            <a:noFill/>
            <a:ln>
              <a:noFill/>
            </a:ln>
          </p:spPr>
          <p:txBody>
            <a:bodyPr wrap="none" lIns="0" tIns="0" rIns="0" bIns="0" anchor="t" anchorCtr="0">
              <a:spAutoFit/>
            </a:bodyPr>
            <a:lstStyle/>
            <a:p>
              <a:pPr algn="ctr"/>
              <a:r>
                <a:rPr lang="en-US" sz="980" dirty="0">
                  <a:solidFill>
                    <a:srgbClr val="EAF2FA"/>
                  </a:solidFill>
                  <a:latin typeface="+mn-lt"/>
                  <a:ea typeface="+mn-ea"/>
                  <a:cs typeface="+mn-cs"/>
                </a:rPr>
                <a:t>PointReach</a:t>
              </a:r>
            </a:p>
          </p:txBody>
        </p:sp>
        <p:sp>
          <p:nvSpPr>
            <p:cNvPr id="12" name="Rectangle 12"/>
            <p:cNvSpPr/>
            <p:nvPr/>
          </p:nvSpPr>
          <p:spPr>
            <a:xfrm>
              <a:off x="1828800" y="2209800"/>
              <a:ext cx="933450" cy="247650"/>
            </a:xfrm>
            <a:prstGeom prst="roundRect">
              <a:avLst>
                <a:gd name="adj" fmla="val 50000"/>
              </a:avLst>
            </a:prstGeom>
            <a:solidFill>
              <a:schemeClr val="accent5"/>
            </a:solidFill>
            <a:ln w="12382">
              <a:solidFill>
                <a:srgbClr val="4C86F0"/>
              </a:solidFill>
            </a:ln>
          </p:spPr>
        </p:sp>
        <p:sp>
          <p:nvSpPr>
            <p:cNvPr id="13" name="TextBox 13"/>
            <p:cNvSpPr txBox="1"/>
            <p:nvPr/>
          </p:nvSpPr>
          <p:spPr>
            <a:xfrm>
              <a:off x="1926999" y="2275999"/>
              <a:ext cx="737051" cy="190690"/>
            </a:xfrm>
            <a:prstGeom prst="rect">
              <a:avLst/>
            </a:prstGeom>
            <a:noFill/>
            <a:ln>
              <a:noFill/>
            </a:ln>
          </p:spPr>
          <p:txBody>
            <a:bodyPr wrap="none" lIns="0" tIns="0" rIns="0" bIns="0" anchor="t" anchorCtr="0">
              <a:spAutoFit/>
            </a:bodyPr>
            <a:lstStyle/>
            <a:p>
              <a:pPr algn="ctr"/>
              <a:r>
                <a:rPr lang="en-US" sz="980" dirty="0">
                  <a:solidFill>
                    <a:srgbClr val="EAF2FA"/>
                  </a:solidFill>
                  <a:latin typeface="+mn-lt"/>
                  <a:ea typeface="+mn-ea"/>
                  <a:cs typeface="+mn-cs"/>
                </a:rPr>
                <a:t>PointRooms</a:t>
              </a:r>
            </a:p>
          </p:txBody>
        </p:sp>
        <p:sp>
          <p:nvSpPr>
            <p:cNvPr id="14" name="Rectangle 14"/>
            <p:cNvSpPr/>
            <p:nvPr/>
          </p:nvSpPr>
          <p:spPr>
            <a:xfrm>
              <a:off x="2876550" y="2209800"/>
              <a:ext cx="685800" cy="247650"/>
            </a:xfrm>
            <a:prstGeom prst="roundRect">
              <a:avLst>
                <a:gd name="adj" fmla="val 50000"/>
              </a:avLst>
            </a:prstGeom>
            <a:solidFill>
              <a:schemeClr val="accent5"/>
            </a:solidFill>
            <a:ln w="12382">
              <a:solidFill>
                <a:srgbClr val="4C86F0"/>
              </a:solidFill>
            </a:ln>
          </p:spPr>
        </p:sp>
        <p:sp>
          <p:nvSpPr>
            <p:cNvPr id="15" name="TextBox 15"/>
            <p:cNvSpPr txBox="1"/>
            <p:nvPr/>
          </p:nvSpPr>
          <p:spPr>
            <a:xfrm>
              <a:off x="2959435" y="2275999"/>
              <a:ext cx="521934" cy="190690"/>
            </a:xfrm>
            <a:prstGeom prst="rect">
              <a:avLst/>
            </a:prstGeom>
            <a:noFill/>
            <a:ln>
              <a:noFill/>
            </a:ln>
          </p:spPr>
          <p:txBody>
            <a:bodyPr wrap="none" lIns="0" tIns="0" rIns="0" bIns="0" anchor="t" anchorCtr="0">
              <a:spAutoFit/>
            </a:bodyPr>
            <a:lstStyle/>
            <a:p>
              <a:pPr algn="ctr"/>
              <a:r>
                <a:rPr lang="en-US" sz="980" dirty="0">
                  <a:solidFill>
                    <a:srgbClr val="EAF2FA"/>
                  </a:solidFill>
                  <a:latin typeface="+mn-lt"/>
                  <a:ea typeface="+mn-ea"/>
                  <a:cs typeface="+mn-cs"/>
                </a:rPr>
                <a:t>Reacher</a:t>
              </a:r>
            </a:p>
          </p:txBody>
        </p:sp>
        <p:sp>
          <p:nvSpPr>
            <p:cNvPr id="16" name="Rectangle 16"/>
            <p:cNvSpPr/>
            <p:nvPr/>
          </p:nvSpPr>
          <p:spPr>
            <a:xfrm>
              <a:off x="3678555" y="2209800"/>
              <a:ext cx="1019175" cy="247650"/>
            </a:xfrm>
            <a:prstGeom prst="roundRect">
              <a:avLst>
                <a:gd name="adj" fmla="val 50000"/>
              </a:avLst>
            </a:prstGeom>
            <a:solidFill>
              <a:schemeClr val="accent5"/>
            </a:solidFill>
            <a:ln w="12382">
              <a:solidFill>
                <a:srgbClr val="4C86F0"/>
              </a:solidFill>
            </a:ln>
          </p:spPr>
        </p:sp>
        <p:sp>
          <p:nvSpPr>
            <p:cNvPr id="17" name="TextBox 17"/>
            <p:cNvSpPr txBox="1"/>
            <p:nvPr/>
          </p:nvSpPr>
          <p:spPr>
            <a:xfrm>
              <a:off x="3764768" y="2275999"/>
              <a:ext cx="842939" cy="190690"/>
            </a:xfrm>
            <a:prstGeom prst="rect">
              <a:avLst/>
            </a:prstGeom>
            <a:noFill/>
            <a:ln>
              <a:noFill/>
            </a:ln>
          </p:spPr>
          <p:txBody>
            <a:bodyPr wrap="none" lIns="0" tIns="0" rIns="0" bIns="0" anchor="t" anchorCtr="0">
              <a:spAutoFit/>
            </a:bodyPr>
            <a:lstStyle/>
            <a:p>
              <a:pPr algn="ctr"/>
              <a:r>
                <a:rPr lang="en-US" sz="980" dirty="0">
                  <a:solidFill>
                    <a:srgbClr val="EAF2FA"/>
                  </a:solidFill>
                  <a:latin typeface="+mn-lt"/>
                  <a:ea typeface="+mn-ea"/>
                  <a:cs typeface="+mn-cs"/>
                </a:rPr>
                <a:t>SawyerReach</a:t>
              </a:r>
            </a:p>
          </p:txBody>
        </p:sp>
        <p:sp>
          <p:nvSpPr>
            <p:cNvPr id="18" name="Rectangle 18"/>
            <p:cNvSpPr/>
            <p:nvPr/>
          </p:nvSpPr>
          <p:spPr>
            <a:xfrm>
              <a:off x="4808220" y="2209800"/>
              <a:ext cx="933450" cy="247650"/>
            </a:xfrm>
            <a:prstGeom prst="roundRect">
              <a:avLst>
                <a:gd name="adj" fmla="val 50000"/>
              </a:avLst>
            </a:prstGeom>
            <a:solidFill>
              <a:schemeClr val="accent5"/>
            </a:solidFill>
            <a:ln w="12382">
              <a:solidFill>
                <a:srgbClr val="4C86F0"/>
              </a:solidFill>
            </a:ln>
          </p:spPr>
        </p:sp>
        <p:sp>
          <p:nvSpPr>
            <p:cNvPr id="19" name="TextBox 19"/>
            <p:cNvSpPr txBox="1"/>
            <p:nvPr/>
          </p:nvSpPr>
          <p:spPr>
            <a:xfrm>
              <a:off x="4889742" y="2275999"/>
              <a:ext cx="770406" cy="190690"/>
            </a:xfrm>
            <a:prstGeom prst="rect">
              <a:avLst/>
            </a:prstGeom>
            <a:noFill/>
            <a:ln>
              <a:noFill/>
            </a:ln>
          </p:spPr>
          <p:txBody>
            <a:bodyPr wrap="none" lIns="0" tIns="0" rIns="0" bIns="0" anchor="t" anchorCtr="0">
              <a:spAutoFit/>
            </a:bodyPr>
            <a:lstStyle/>
            <a:p>
              <a:pPr algn="ctr"/>
              <a:r>
                <a:rPr lang="en-US" sz="980" dirty="0">
                  <a:solidFill>
                    <a:srgbClr val="EAF2FA"/>
                  </a:solidFill>
                  <a:latin typeface="+mn-lt"/>
                  <a:ea typeface="+mn-ea"/>
                  <a:cs typeface="+mn-cs"/>
                </a:rPr>
                <a:t>SawyerDoor</a:t>
              </a:r>
            </a:p>
          </p:txBody>
        </p:sp>
        <p:sp>
          <p:nvSpPr>
            <p:cNvPr id="20" name="Rectangle 20"/>
            <p:cNvSpPr/>
            <p:nvPr/>
          </p:nvSpPr>
          <p:spPr>
            <a:xfrm>
              <a:off x="5855970" y="2209800"/>
              <a:ext cx="933450" cy="247650"/>
            </a:xfrm>
            <a:prstGeom prst="roundRect">
              <a:avLst>
                <a:gd name="adj" fmla="val 50000"/>
              </a:avLst>
            </a:prstGeom>
            <a:solidFill>
              <a:schemeClr val="accent5"/>
            </a:solidFill>
            <a:ln w="12382">
              <a:solidFill>
                <a:srgbClr val="4C86F0"/>
              </a:solidFill>
            </a:ln>
          </p:spPr>
        </p:sp>
        <p:sp>
          <p:nvSpPr>
            <p:cNvPr id="21" name="TextBox 21"/>
            <p:cNvSpPr txBox="1"/>
            <p:nvPr/>
          </p:nvSpPr>
          <p:spPr>
            <a:xfrm>
              <a:off x="5950834" y="2275999"/>
              <a:ext cx="743722" cy="190690"/>
            </a:xfrm>
            <a:prstGeom prst="rect">
              <a:avLst/>
            </a:prstGeom>
            <a:noFill/>
            <a:ln>
              <a:noFill/>
            </a:ln>
          </p:spPr>
          <p:txBody>
            <a:bodyPr wrap="none" lIns="0" tIns="0" rIns="0" bIns="0" anchor="t" anchorCtr="0">
              <a:spAutoFit/>
            </a:bodyPr>
            <a:lstStyle/>
            <a:p>
              <a:pPr algn="ctr"/>
              <a:r>
                <a:rPr lang="en-US" sz="980" dirty="0">
                  <a:solidFill>
                    <a:srgbClr val="EAF2FA"/>
                  </a:solidFill>
                  <a:latin typeface="+mn-lt"/>
                  <a:ea typeface="+mn-ea"/>
                  <a:cs typeface="+mn-cs"/>
                </a:rPr>
                <a:t>FetchReach</a:t>
              </a:r>
            </a:p>
          </p:txBody>
        </p:sp>
        <p:sp>
          <p:nvSpPr>
            <p:cNvPr id="22" name="Rectangle 22"/>
            <p:cNvSpPr/>
            <p:nvPr/>
          </p:nvSpPr>
          <p:spPr>
            <a:xfrm>
              <a:off x="6903720" y="2209800"/>
              <a:ext cx="847725" cy="247650"/>
            </a:xfrm>
            <a:prstGeom prst="roundRect">
              <a:avLst>
                <a:gd name="adj" fmla="val 50000"/>
              </a:avLst>
            </a:prstGeom>
            <a:solidFill>
              <a:schemeClr val="accent5"/>
            </a:solidFill>
            <a:ln w="12382">
              <a:solidFill>
                <a:srgbClr val="E0A93B"/>
              </a:solidFill>
            </a:ln>
          </p:spPr>
        </p:sp>
        <p:sp>
          <p:nvSpPr>
            <p:cNvPr id="23" name="TextBox 23"/>
            <p:cNvSpPr txBox="1"/>
            <p:nvPr/>
          </p:nvSpPr>
          <p:spPr>
            <a:xfrm>
              <a:off x="6993907" y="2275999"/>
              <a:ext cx="671162" cy="190690"/>
            </a:xfrm>
            <a:prstGeom prst="rect">
              <a:avLst/>
            </a:prstGeom>
            <a:noFill/>
            <a:ln>
              <a:noFill/>
            </a:ln>
          </p:spPr>
          <p:txBody>
            <a:bodyPr wrap="none" lIns="0" tIns="0" rIns="0" bIns="0" anchor="t" anchorCtr="0">
              <a:spAutoFit/>
            </a:bodyPr>
            <a:lstStyle/>
            <a:p>
              <a:pPr algn="ctr"/>
              <a:r>
                <a:rPr lang="en-US" sz="980" dirty="0">
                  <a:solidFill>
                    <a:srgbClr val="EAF2FA"/>
                  </a:solidFill>
                  <a:latin typeface="+mn-lt"/>
                  <a:ea typeface="+mn-ea"/>
                  <a:cs typeface="+mn-cs"/>
                </a:rPr>
                <a:t>FetchPush</a:t>
              </a:r>
            </a:p>
          </p:txBody>
        </p:sp>
        <p:sp>
          <p:nvSpPr>
            <p:cNvPr id="24" name="Rectangle 24"/>
            <p:cNvSpPr/>
            <p:nvPr/>
          </p:nvSpPr>
          <p:spPr>
            <a:xfrm>
              <a:off x="7869555" y="2209800"/>
              <a:ext cx="847725" cy="247650"/>
            </a:xfrm>
            <a:prstGeom prst="roundRect">
              <a:avLst>
                <a:gd name="adj" fmla="val 50000"/>
              </a:avLst>
            </a:prstGeom>
            <a:solidFill>
              <a:schemeClr val="accent5"/>
            </a:solidFill>
            <a:ln w="12382">
              <a:solidFill>
                <a:srgbClr val="E0A93B"/>
              </a:solidFill>
            </a:ln>
          </p:spPr>
        </p:sp>
        <p:sp>
          <p:nvSpPr>
            <p:cNvPr id="25" name="TextBox 25"/>
            <p:cNvSpPr txBox="1"/>
            <p:nvPr/>
          </p:nvSpPr>
          <p:spPr>
            <a:xfrm>
              <a:off x="7976440" y="2275999"/>
              <a:ext cx="637765" cy="190690"/>
            </a:xfrm>
            <a:prstGeom prst="rect">
              <a:avLst/>
            </a:prstGeom>
            <a:noFill/>
            <a:ln>
              <a:noFill/>
            </a:ln>
          </p:spPr>
          <p:txBody>
            <a:bodyPr wrap="none" lIns="0" tIns="0" rIns="0" bIns="0" anchor="t" anchorCtr="0">
              <a:spAutoFit/>
            </a:bodyPr>
            <a:lstStyle/>
            <a:p>
              <a:pPr algn="ctr"/>
              <a:r>
                <a:rPr lang="en-US" sz="980" dirty="0">
                  <a:solidFill>
                    <a:srgbClr val="EAF2FA"/>
                  </a:solidFill>
                  <a:latin typeface="+mn-lt"/>
                  <a:ea typeface="+mn-ea"/>
                  <a:cs typeface="+mn-cs"/>
                </a:rPr>
                <a:t>FetchPick</a:t>
              </a:r>
            </a:p>
          </p:txBody>
        </p:sp>
        <p:sp>
          <p:nvSpPr>
            <p:cNvPr id="26" name="Rectangle 26"/>
            <p:cNvSpPr/>
            <p:nvPr/>
          </p:nvSpPr>
          <p:spPr>
            <a:xfrm>
              <a:off x="8835390" y="2209800"/>
              <a:ext cx="933450" cy="247650"/>
            </a:xfrm>
            <a:prstGeom prst="roundRect">
              <a:avLst>
                <a:gd name="adj" fmla="val 50000"/>
              </a:avLst>
            </a:prstGeom>
            <a:solidFill>
              <a:schemeClr val="accent5"/>
            </a:solidFill>
            <a:ln w="12382">
              <a:solidFill>
                <a:srgbClr val="E0A93B"/>
              </a:solidFill>
            </a:ln>
          </p:spPr>
        </p:sp>
        <p:sp>
          <p:nvSpPr>
            <p:cNvPr id="27" name="TextBox 27"/>
            <p:cNvSpPr txBox="1"/>
            <p:nvPr/>
          </p:nvSpPr>
          <p:spPr>
            <a:xfrm>
              <a:off x="8963609" y="2275999"/>
              <a:ext cx="677012" cy="190690"/>
            </a:xfrm>
            <a:prstGeom prst="rect">
              <a:avLst/>
            </a:prstGeom>
            <a:noFill/>
            <a:ln>
              <a:noFill/>
            </a:ln>
          </p:spPr>
          <p:txBody>
            <a:bodyPr wrap="none" lIns="0" tIns="0" rIns="0" bIns="0" anchor="t" anchorCtr="0">
              <a:spAutoFit/>
            </a:bodyPr>
            <a:lstStyle/>
            <a:p>
              <a:pPr algn="ctr"/>
              <a:r>
                <a:rPr lang="en-US" sz="980" dirty="0">
                  <a:solidFill>
                    <a:srgbClr val="EAF2FA"/>
                  </a:solidFill>
                  <a:latin typeface="+mn-lt"/>
                  <a:ea typeface="+mn-ea"/>
                  <a:cs typeface="+mn-cs"/>
                </a:rPr>
                <a:t>FetchSlide</a:t>
              </a:r>
            </a:p>
          </p:txBody>
        </p:sp>
        <p:sp>
          <p:nvSpPr>
            <p:cNvPr id="28" name="Rectangle 28"/>
            <p:cNvSpPr/>
            <p:nvPr/>
          </p:nvSpPr>
          <p:spPr>
            <a:xfrm>
              <a:off x="9883140" y="2209800"/>
              <a:ext cx="847725" cy="247650"/>
            </a:xfrm>
            <a:prstGeom prst="roundRect">
              <a:avLst>
                <a:gd name="adj" fmla="val 50000"/>
              </a:avLst>
            </a:prstGeom>
            <a:solidFill>
              <a:schemeClr val="accent5"/>
            </a:solidFill>
            <a:ln w="12382">
              <a:solidFill>
                <a:srgbClr val="E0A93B"/>
              </a:solidFill>
            </a:ln>
          </p:spPr>
        </p:sp>
        <p:sp>
          <p:nvSpPr>
            <p:cNvPr id="29" name="TextBox 29"/>
            <p:cNvSpPr txBox="1"/>
            <p:nvPr/>
          </p:nvSpPr>
          <p:spPr>
            <a:xfrm>
              <a:off x="9973327" y="2275999"/>
              <a:ext cx="671162" cy="190690"/>
            </a:xfrm>
            <a:prstGeom prst="rect">
              <a:avLst/>
            </a:prstGeom>
            <a:noFill/>
            <a:ln>
              <a:noFill/>
            </a:ln>
          </p:spPr>
          <p:txBody>
            <a:bodyPr wrap="none" lIns="0" tIns="0" rIns="0" bIns="0" anchor="t" anchorCtr="0">
              <a:spAutoFit/>
            </a:bodyPr>
            <a:lstStyle/>
            <a:p>
              <a:pPr algn="ctr"/>
              <a:r>
                <a:rPr lang="en-US" sz="980" dirty="0">
                  <a:solidFill>
                    <a:srgbClr val="EAF2FA"/>
                  </a:solidFill>
                  <a:latin typeface="+mn-lt"/>
                  <a:ea typeface="+mn-ea"/>
                  <a:cs typeface="+mn-cs"/>
                </a:rPr>
                <a:t>HandReach</a:t>
              </a:r>
            </a:p>
          </p:txBody>
        </p:sp>
      </p:grpSp>
      <p:grpSp>
        <p:nvGrpSpPr>
          <p:cNvPr id="37" name="Group 37"/>
          <p:cNvGrpSpPr/>
          <p:nvPr/>
        </p:nvGrpSpPr>
        <p:grpSpPr>
          <a:xfrm>
            <a:off x="533400" y="2933700"/>
            <a:ext cx="3314700" cy="2381250"/>
            <a:chOff x="533400" y="2933700"/>
            <a:chExt cx="3314700" cy="2381250"/>
          </a:xfrm>
        </p:grpSpPr>
        <p:sp>
          <p:nvSpPr>
            <p:cNvPr id="31" name="Rectangle 31"/>
            <p:cNvSpPr/>
            <p:nvPr/>
          </p:nvSpPr>
          <p:spPr>
            <a:xfrm>
              <a:off x="533400" y="2933700"/>
              <a:ext cx="3314700" cy="2381250"/>
            </a:xfrm>
            <a:prstGeom prst="roundRect">
              <a:avLst>
                <a:gd name="adj" fmla="val 4800"/>
              </a:avLst>
            </a:prstGeom>
            <a:solidFill>
              <a:schemeClr val="accent5"/>
            </a:solidFill>
            <a:ln w="11430">
              <a:solidFill>
                <a:srgbClr val="1E3E5A"/>
              </a:solidFill>
            </a:ln>
          </p:spPr>
        </p:sp>
        <p:sp>
          <p:nvSpPr>
            <p:cNvPr id="32" name="Rectangle 32"/>
            <p:cNvSpPr/>
            <p:nvPr/>
          </p:nvSpPr>
          <p:spPr>
            <a:xfrm>
              <a:off x="533400" y="3105150"/>
              <a:ext cx="47625" cy="285750"/>
            </a:xfrm>
            <a:prstGeom prst="roundRect">
              <a:avLst>
                <a:gd name="adj" fmla="val 50000"/>
              </a:avLst>
            </a:prstGeom>
            <a:solidFill>
              <a:srgbClr val="4C86F0"/>
            </a:solidFill>
            <a:ln>
              <a:noFill/>
            </a:ln>
          </p:spPr>
        </p:sp>
        <p:sp>
          <p:nvSpPr>
            <p:cNvPr id="33" name="TextBox 33"/>
            <p:cNvSpPr txBox="1"/>
            <p:nvPr/>
          </p:nvSpPr>
          <p:spPr>
            <a:xfrm>
              <a:off x="754761" y="3198971"/>
              <a:ext cx="1074877" cy="278702"/>
            </a:xfrm>
            <a:prstGeom prst="rect">
              <a:avLst/>
            </a:prstGeom>
            <a:noFill/>
            <a:ln>
              <a:noFill/>
            </a:ln>
          </p:spPr>
          <p:txBody>
            <a:bodyPr wrap="none" lIns="0" tIns="0" rIns="0" bIns="0" anchor="t" anchorCtr="0">
              <a:spAutoFit/>
            </a:bodyPr>
            <a:lstStyle/>
            <a:p>
              <a:pPr algn="l"/>
              <a:r>
                <a:rPr lang="en-US" sz="1420" b="1" dirty="0">
                  <a:solidFill>
                    <a:srgbClr val="EAF2FA"/>
                  </a:solidFill>
                  <a:latin typeface="+mn-lt"/>
                  <a:ea typeface="+mn-ea"/>
                  <a:cs typeface="+mn-cs"/>
                </a:rPr>
                <a:t>Task setup</a:t>
              </a:r>
            </a:p>
          </p:txBody>
        </p:sp>
        <p:sp>
          <p:nvSpPr>
            <p:cNvPr id="34" name="TextBox 34"/>
            <p:cNvSpPr txBox="1"/>
            <p:nvPr/>
          </p:nvSpPr>
          <p:spPr>
            <a:xfrm>
              <a:off x="755904" y="3585210"/>
              <a:ext cx="2529670"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Every task uses a sparse binary</a:t>
              </a:r>
            </a:p>
          </p:txBody>
        </p:sp>
        <p:sp>
          <p:nvSpPr>
            <p:cNvPr id="35" name="TextBox 35"/>
            <p:cNvSpPr txBox="1"/>
            <p:nvPr/>
          </p:nvSpPr>
          <p:spPr>
            <a:xfrm>
              <a:off x="755904" y="3823335"/>
              <a:ext cx="2653436"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reward and a maximum trajectory</a:t>
              </a:r>
            </a:p>
          </p:txBody>
        </p:sp>
        <p:sp>
          <p:nvSpPr>
            <p:cNvPr id="36" name="TextBox 36"/>
            <p:cNvSpPr txBox="1"/>
            <p:nvPr/>
          </p:nvSpPr>
          <p:spPr>
            <a:xfrm>
              <a:off x="755904" y="4061460"/>
              <a:ext cx="1820690"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length of T = 50 steps.</a:t>
              </a:r>
            </a:p>
          </p:txBody>
        </p:sp>
      </p:grpSp>
      <p:grpSp>
        <p:nvGrpSpPr>
          <p:cNvPr id="45" name="Group 45"/>
          <p:cNvGrpSpPr/>
          <p:nvPr/>
        </p:nvGrpSpPr>
        <p:grpSpPr>
          <a:xfrm>
            <a:off x="4438650" y="2933700"/>
            <a:ext cx="3314700" cy="2381250"/>
            <a:chOff x="4438650" y="2933700"/>
            <a:chExt cx="3314700" cy="2381250"/>
          </a:xfrm>
        </p:grpSpPr>
        <p:sp>
          <p:nvSpPr>
            <p:cNvPr id="38" name="Rectangle 38"/>
            <p:cNvSpPr/>
            <p:nvPr/>
          </p:nvSpPr>
          <p:spPr>
            <a:xfrm>
              <a:off x="4438650" y="2933700"/>
              <a:ext cx="3314700" cy="2381250"/>
            </a:xfrm>
            <a:prstGeom prst="roundRect">
              <a:avLst>
                <a:gd name="adj" fmla="val 4800"/>
              </a:avLst>
            </a:prstGeom>
            <a:solidFill>
              <a:schemeClr val="accent5"/>
            </a:solidFill>
            <a:ln w="11430">
              <a:solidFill>
                <a:srgbClr val="1E3E5A"/>
              </a:solidFill>
            </a:ln>
          </p:spPr>
        </p:sp>
        <p:sp>
          <p:nvSpPr>
            <p:cNvPr id="39" name="Rectangle 39"/>
            <p:cNvSpPr/>
            <p:nvPr/>
          </p:nvSpPr>
          <p:spPr>
            <a:xfrm>
              <a:off x="4438650" y="3105150"/>
              <a:ext cx="47625" cy="285750"/>
            </a:xfrm>
            <a:prstGeom prst="roundRect">
              <a:avLst>
                <a:gd name="adj" fmla="val 50000"/>
              </a:avLst>
            </a:prstGeom>
            <a:solidFill>
              <a:srgbClr val="2FB6A8"/>
            </a:solidFill>
            <a:ln>
              <a:noFill/>
            </a:ln>
          </p:spPr>
        </p:sp>
        <p:sp>
          <p:nvSpPr>
            <p:cNvPr id="40" name="TextBox 40"/>
            <p:cNvSpPr txBox="1"/>
            <p:nvPr/>
          </p:nvSpPr>
          <p:spPr>
            <a:xfrm>
              <a:off x="4660011" y="3198971"/>
              <a:ext cx="2008207" cy="278702"/>
            </a:xfrm>
            <a:prstGeom prst="rect">
              <a:avLst/>
            </a:prstGeom>
            <a:noFill/>
            <a:ln>
              <a:noFill/>
            </a:ln>
          </p:spPr>
          <p:txBody>
            <a:bodyPr wrap="none" lIns="0" tIns="0" rIns="0" bIns="0" anchor="t" anchorCtr="0">
              <a:spAutoFit/>
            </a:bodyPr>
            <a:lstStyle/>
            <a:p>
              <a:pPr algn="l"/>
              <a:r>
                <a:rPr lang="en-US" sz="1420" b="1" dirty="0">
                  <a:solidFill>
                    <a:srgbClr val="EAF2FA"/>
                  </a:solidFill>
                  <a:latin typeface="+mn-lt"/>
                  <a:ea typeface="+mn-ea"/>
                  <a:cs typeface="+mn-cs"/>
                </a:rPr>
                <a:t>Two dataset flavors</a:t>
              </a:r>
            </a:p>
          </p:txBody>
        </p:sp>
        <p:sp>
          <p:nvSpPr>
            <p:cNvPr id="41" name="TextBox 41"/>
            <p:cNvSpPr txBox="1"/>
            <p:nvPr/>
          </p:nvSpPr>
          <p:spPr>
            <a:xfrm>
              <a:off x="4661154" y="3585210"/>
              <a:ext cx="2650879"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An expert dataset from a trained</a:t>
              </a:r>
            </a:p>
          </p:txBody>
        </p:sp>
        <p:sp>
          <p:nvSpPr>
            <p:cNvPr id="42" name="TextBox 42"/>
            <p:cNvSpPr txBox="1"/>
            <p:nvPr/>
          </p:nvSpPr>
          <p:spPr>
            <a:xfrm>
              <a:off x="4661154" y="3823335"/>
              <a:ext cx="2661514"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policy (with noise for diversity),</a:t>
              </a:r>
            </a:p>
          </p:txBody>
        </p:sp>
        <p:sp>
          <p:nvSpPr>
            <p:cNvPr id="43" name="TextBox 43"/>
            <p:cNvSpPr txBox="1"/>
            <p:nvPr/>
          </p:nvSpPr>
          <p:spPr>
            <a:xfrm>
              <a:off x="4661154" y="4061460"/>
              <a:ext cx="2750363"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and a random dataset from random</a:t>
              </a:r>
            </a:p>
          </p:txBody>
        </p:sp>
        <p:sp>
          <p:nvSpPr>
            <p:cNvPr id="44" name="TextBox 44"/>
            <p:cNvSpPr txBox="1"/>
            <p:nvPr/>
          </p:nvSpPr>
          <p:spPr>
            <a:xfrm>
              <a:off x="4661154" y="4299585"/>
              <a:ext cx="682600"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actions.</a:t>
              </a:r>
            </a:p>
          </p:txBody>
        </p:sp>
      </p:grpSp>
      <p:grpSp>
        <p:nvGrpSpPr>
          <p:cNvPr id="53" name="Group 53"/>
          <p:cNvGrpSpPr/>
          <p:nvPr/>
        </p:nvGrpSpPr>
        <p:grpSpPr>
          <a:xfrm>
            <a:off x="8343900" y="2933700"/>
            <a:ext cx="3314700" cy="2381250"/>
            <a:chOff x="8343900" y="2933700"/>
            <a:chExt cx="3314700" cy="2381250"/>
          </a:xfrm>
        </p:grpSpPr>
        <p:sp>
          <p:nvSpPr>
            <p:cNvPr id="46" name="Rectangle 46"/>
            <p:cNvSpPr/>
            <p:nvPr/>
          </p:nvSpPr>
          <p:spPr>
            <a:xfrm>
              <a:off x="8343900" y="2933700"/>
              <a:ext cx="3314700" cy="2381250"/>
            </a:xfrm>
            <a:prstGeom prst="roundRect">
              <a:avLst>
                <a:gd name="adj" fmla="val 4800"/>
              </a:avLst>
            </a:prstGeom>
            <a:solidFill>
              <a:schemeClr val="accent5"/>
            </a:solidFill>
            <a:ln w="11430">
              <a:solidFill>
                <a:srgbClr val="1E3E5A"/>
              </a:solidFill>
            </a:ln>
          </p:spPr>
        </p:sp>
        <p:sp>
          <p:nvSpPr>
            <p:cNvPr id="47" name="Rectangle 47"/>
            <p:cNvSpPr/>
            <p:nvPr/>
          </p:nvSpPr>
          <p:spPr>
            <a:xfrm>
              <a:off x="8343900" y="3105150"/>
              <a:ext cx="47625" cy="285750"/>
            </a:xfrm>
            <a:prstGeom prst="roundRect">
              <a:avLst>
                <a:gd name="adj" fmla="val 50000"/>
              </a:avLst>
            </a:prstGeom>
            <a:solidFill>
              <a:srgbClr val="E0A93B"/>
            </a:solidFill>
            <a:ln>
              <a:noFill/>
            </a:ln>
          </p:spPr>
        </p:sp>
        <p:sp>
          <p:nvSpPr>
            <p:cNvPr id="48" name="TextBox 48"/>
            <p:cNvSpPr txBox="1"/>
            <p:nvPr/>
          </p:nvSpPr>
          <p:spPr>
            <a:xfrm>
              <a:off x="8565261" y="3198971"/>
              <a:ext cx="1586412" cy="278702"/>
            </a:xfrm>
            <a:prstGeom prst="rect">
              <a:avLst/>
            </a:prstGeom>
            <a:noFill/>
            <a:ln>
              <a:noFill/>
            </a:ln>
          </p:spPr>
          <p:txBody>
            <a:bodyPr wrap="none" lIns="0" tIns="0" rIns="0" bIns="0" anchor="t" anchorCtr="0">
              <a:spAutoFit/>
            </a:bodyPr>
            <a:lstStyle/>
            <a:p>
              <a:pPr algn="l"/>
              <a:r>
                <a:rPr lang="en-US" sz="1420" b="1" dirty="0">
                  <a:solidFill>
                    <a:srgbClr val="EAF2FA"/>
                  </a:solidFill>
                  <a:latin typeface="+mn-lt"/>
                  <a:ea typeface="+mn-ea"/>
                  <a:cs typeface="+mn-cs"/>
                </a:rPr>
                <a:t>State and pixels</a:t>
              </a:r>
            </a:p>
          </p:txBody>
        </p:sp>
        <p:sp>
          <p:nvSpPr>
            <p:cNvPr id="49" name="TextBox 49"/>
            <p:cNvSpPr txBox="1"/>
            <p:nvPr/>
          </p:nvSpPr>
          <p:spPr>
            <a:xfrm>
              <a:off x="8566404" y="3585210"/>
              <a:ext cx="2149821"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Both low-dimensional state</a:t>
              </a:r>
            </a:p>
          </p:txBody>
        </p:sp>
        <p:sp>
          <p:nvSpPr>
            <p:cNvPr id="50" name="TextBox 50"/>
            <p:cNvSpPr txBox="1"/>
            <p:nvPr/>
          </p:nvSpPr>
          <p:spPr>
            <a:xfrm>
              <a:off x="8566404" y="3823335"/>
              <a:ext cx="2693822"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observations and high-dimensional</a:t>
              </a:r>
            </a:p>
          </p:txBody>
        </p:sp>
        <p:sp>
          <p:nvSpPr>
            <p:cNvPr id="51" name="TextBox 51"/>
            <p:cNvSpPr txBox="1"/>
            <p:nvPr/>
          </p:nvSpPr>
          <p:spPr>
            <a:xfrm>
              <a:off x="8566404" y="4061460"/>
              <a:ext cx="2701900"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pixel observations, averaged over</a:t>
              </a:r>
            </a:p>
          </p:txBody>
        </p:sp>
        <p:sp>
          <p:nvSpPr>
            <p:cNvPr id="52" name="TextBox 52"/>
            <p:cNvSpPr txBox="1"/>
            <p:nvPr/>
          </p:nvSpPr>
          <p:spPr>
            <a:xfrm>
              <a:off x="8566404" y="4299585"/>
              <a:ext cx="771449"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10 seeds.</a:t>
              </a:r>
            </a:p>
          </p:txBody>
        </p:sp>
      </p:grpSp>
      <p:sp>
        <p:nvSpPr>
          <p:cNvPr id="54" name="TextBox 54"/>
          <p:cNvSpPr txBox="1"/>
          <p:nvPr/>
        </p:nvSpPr>
        <p:spPr>
          <a:xfrm>
            <a:off x="528447" y="6619399"/>
            <a:ext cx="7848629" cy="190690"/>
          </a:xfrm>
          <a:prstGeom prst="rect">
            <a:avLst/>
          </a:prstGeom>
          <a:noFill/>
          <a:ln>
            <a:noFill/>
          </a:ln>
        </p:spPr>
        <p:txBody>
          <a:bodyPr wrap="none" lIns="0" tIns="0" rIns="0" bIns="0" anchor="t" anchorCtr="0">
            <a:spAutoFit/>
          </a:bodyPr>
          <a:lstStyle/>
          <a:p>
            <a:pPr algn="l"/>
            <a:r>
              <a:rPr lang="en-US" sz="980" dirty="0">
                <a:solidFill>
                  <a:srgbClr val="6E869C"/>
                </a:solidFill>
                <a:latin typeface="+mn-lt"/>
                <a:ea typeface="+mn-ea"/>
                <a:cs typeface="+mn-cs"/>
              </a:rPr>
              <a:t>Easier tasks (PointReach … FetchReach) use 2,000 trajectories each; harder tasks (FetchPush … HandReach) use 40,000.</a:t>
            </a:r>
          </a:p>
        </p:txBody>
      </p:sp>
      <p:sp>
        <p:nvSpPr>
          <p:cNvPr id="55" name="cue_s06_c1_authors_evaluate_merlin_standard_off" title="cue_s06_c1_authors_evaluate_merlin_standard_off" descr="cue_s06_c1_authors_evaluate_merlin_standard_off The authors evaluate Merlin on a standard offline goal-conditioned benchmark of ten control tasks, ranging from simple point navigation and reacher tasks to harder Fetch manipulation tasks like pushing, picking, and sliding, plus the high-dimensional HandReach"/>
          <p:cNvSpPr/>
          <p:nvPr/>
        </p:nvSpPr>
        <p:spPr>
          <a:xfrm>
            <a:off x="532790" y="1599971"/>
            <a:ext cx="11125200"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cue_s06_c2_every_task_sparse_binary_reward" title="cue_s06_c2_every_task_sparse_binary_reward" descr="cue_s06_c2_every_task_sparse_binary_reward Every task uses a sparse binary reward and a maximum trajectory length of fifty steps."/>
          <p:cNvSpPr/>
          <p:nvPr/>
        </p:nvSpPr>
        <p:spPr>
          <a:xfrm>
            <a:off x="532790" y="2933852"/>
            <a:ext cx="3315004"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ue_s06_c3_task_comes_two_flavors_expert" title="cue_s06_c3_task_comes_two_flavors_expert" descr="cue_s06_c3_task_comes_two_flavors_expert Each task comes in two flavors: an expert dataset collected by a trained policy with added noise for diversity, and a random dataset collected by sampling random actions."/>
          <p:cNvSpPr/>
          <p:nvPr/>
        </p:nvSpPr>
        <p:spPr>
          <a:xfrm>
            <a:off x="4439107" y="2933852"/>
            <a:ext cx="3315004"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cue_s06_c4_they_test_both_low_dimensional_state" title="cue_s06_c4_they_test_both_low_dimensional_state" descr="cue_s06_c4_they_test_both_low_dimensional_state They test both low-dimensional state observations and high-dimensional pixel observations, and average all results over ten random seeds."/>
          <p:cNvSpPr/>
          <p:nvPr/>
        </p:nvSpPr>
        <p:spPr>
          <a:xfrm>
            <a:off x="8344204" y="2933852"/>
            <a:ext cx="3315004"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533400" y="495300"/>
            <a:ext cx="66675" cy="323850"/>
          </a:xfrm>
          <a:prstGeom prst="roundRect">
            <a:avLst>
              <a:gd name="adj" fmla="val 42857"/>
            </a:avLst>
          </a:prstGeom>
          <a:solidFill>
            <a:srgbClr val="2FB6A8"/>
          </a:solidFill>
          <a:ln>
            <a:noFill/>
          </a:ln>
        </p:spPr>
        <p:txBody>
          <a:bodyPr/>
          <a:p/>
        </p:txBody>
      </p:sp>
      <p:sp>
        <p:nvSpPr>
          <p:cNvPr id="3" name="TextBox 3"/>
          <p:cNvSpPr txBox="1"/>
          <p:nvPr/>
        </p:nvSpPr>
        <p:spPr>
          <a:xfrm>
            <a:off x="737235" y="507206"/>
            <a:ext cx="1081644" cy="220028"/>
          </a:xfrm>
          <a:prstGeom prst="rect">
            <a:avLst/>
          </a:prstGeom>
          <a:noFill/>
          <a:ln>
            <a:noFill/>
          </a:ln>
        </p:spPr>
        <p:txBody>
          <a:bodyPr wrap="none" lIns="0" tIns="0" rIns="0" bIns="0" anchor="t" anchorCtr="0">
            <a:spAutoFit/>
          </a:bodyPr>
          <a:lstStyle/>
          <a:p>
            <a:pPr algn="l"/>
            <a:r>
              <a:rPr lang="en-US" sz="1120" b="1" spc="150" dirty="0">
                <a:solidFill>
                  <a:srgbClr val="2FB6A8"/>
                </a:solidFill>
                <a:latin typeface="+mn-lt"/>
                <a:ea typeface="+mn-ea"/>
                <a:cs typeface="+mn-cs"/>
              </a:rPr>
              <a:t>KEY RESULT</a:t>
            </a:r>
          </a:p>
        </p:txBody>
      </p:sp>
      <p:sp>
        <p:nvSpPr>
          <p:cNvPr id="4" name="TextBox 4"/>
          <p:cNvSpPr txBox="1"/>
          <p:nvPr/>
        </p:nvSpPr>
        <p:spPr>
          <a:xfrm>
            <a:off x="729996" y="715328"/>
            <a:ext cx="7211452" cy="498729"/>
          </a:xfrm>
          <a:prstGeom prst="rect">
            <a:avLst/>
          </a:prstGeom>
          <a:noFill/>
          <a:ln>
            <a:noFill/>
          </a:ln>
        </p:spPr>
        <p:txBody>
          <a:bodyPr wrap="none" lIns="0" tIns="0" rIns="0" bIns="0" anchor="t" anchorCtr="0">
            <a:spAutoFit/>
          </a:bodyPr>
          <a:lstStyle/>
          <a:p>
            <a:pPr algn="l"/>
            <a:r>
              <a:rPr lang="en-US" sz="2550" b="1" dirty="0">
                <a:solidFill>
                  <a:srgbClr val="EAF2FA"/>
                </a:solidFill>
                <a:latin typeface="+mn-lt"/>
                <a:ea typeface="+mn-ea"/>
                <a:cs typeface="+mn-cs"/>
              </a:rPr>
              <a:t>Best rank, an order of magnitude faster</a:t>
            </a:r>
          </a:p>
        </p:txBody>
      </p:sp>
      <p:sp>
        <p:nvSpPr>
          <p:cNvPr id="5" name="TextBox 5"/>
          <p:cNvSpPr txBox="1"/>
          <p:nvPr/>
        </p:nvSpPr>
        <p:spPr>
          <a:xfrm>
            <a:off x="10511409" y="754856"/>
            <a:ext cx="1152906" cy="220028"/>
          </a:xfrm>
          <a:prstGeom prst="rect">
            <a:avLst/>
          </a:prstGeom>
          <a:noFill/>
          <a:ln>
            <a:noFill/>
          </a:ln>
        </p:spPr>
        <p:txBody>
          <a:bodyPr wrap="none" lIns="0" tIns="0" rIns="0" bIns="0" anchor="t" anchorCtr="0">
            <a:spAutoFit/>
          </a:bodyPr>
          <a:lstStyle/>
          <a:p>
            <a:pPr algn="r"/>
            <a:r>
              <a:rPr lang="en-US" sz="1120" dirty="0">
                <a:solidFill>
                  <a:srgbClr val="9FB6CC"/>
                </a:solidFill>
                <a:latin typeface="+mn-lt"/>
                <a:ea typeface="+mn-ea"/>
                <a:cs typeface="+mn-cs"/>
              </a:rPr>
              <a:t>Merlin · 07 / 09</a:t>
            </a:r>
          </a:p>
        </p:txBody>
      </p:sp>
      <p:sp>
        <p:nvSpPr>
          <p:cNvPr id="6" name="Line 6"/>
          <p:cNvSpPr/>
          <p:nvPr/>
        </p:nvSpPr>
        <p:spPr>
          <a:xfrm>
            <a:off x="533400" y="1219200"/>
            <a:ext cx="11125200" cy="9525"/>
          </a:xfrm>
          <a:custGeom>
            <a:avLst/>
            <a:gdLst/>
            <a:ahLst/>
            <a:cxnLst/>
            <a:rect l="l" t="t" r="r" b="b"/>
            <a:pathLst>
              <a:path w="11125200" h="9525">
                <a:moveTo>
                  <a:pt x="0" y="0"/>
                </a:moveTo>
                <a:lnTo>
                  <a:pt x="11125200" y="0"/>
                </a:lnTo>
              </a:path>
            </a:pathLst>
          </a:custGeom>
          <a:noFill/>
          <a:ln w="9525">
            <a:solidFill>
              <a:srgbClr val="1E3E5A"/>
            </a:solidFill>
          </a:ln>
        </p:spPr>
        <p:txBody>
          <a:bodyPr/>
          <a:p/>
        </p:txBody>
      </p:sp>
      <p:grpSp>
        <p:nvGrpSpPr>
          <p:cNvPr id="10" name="Group 10"/>
          <p:cNvGrpSpPr/>
          <p:nvPr/>
        </p:nvGrpSpPr>
        <p:grpSpPr>
          <a:xfrm>
            <a:off x="533400" y="1600200"/>
            <a:ext cx="11125200" cy="628650"/>
            <a:chOff x="533400" y="1600200"/>
            <a:chExt cx="11125200" cy="628650"/>
          </a:xfrm>
        </p:grpSpPr>
        <p:sp>
          <p:nvSpPr>
            <p:cNvPr id="7" name="Rectangle 7"/>
            <p:cNvSpPr/>
            <p:nvPr/>
          </p:nvSpPr>
          <p:spPr>
            <a:xfrm>
              <a:off x="533400" y="1600200"/>
              <a:ext cx="11125200" cy="628650"/>
            </a:xfrm>
            <a:prstGeom prst="roundRect">
              <a:avLst>
                <a:gd name="adj" fmla="val 18182"/>
              </a:avLst>
            </a:prstGeom>
            <a:solidFill>
              <a:schemeClr val="accent6"/>
            </a:solidFill>
            <a:ln w="11430">
              <a:solidFill>
                <a:srgbClr val="1E3E5A"/>
              </a:solidFill>
            </a:ln>
          </p:spPr>
        </p:sp>
        <p:sp>
          <p:nvSpPr>
            <p:cNvPr id="8" name="Rectangle 8"/>
            <p:cNvSpPr/>
            <p:nvPr/>
          </p:nvSpPr>
          <p:spPr>
            <a:xfrm>
              <a:off x="533400" y="1771650"/>
              <a:ext cx="47625" cy="285750"/>
            </a:xfrm>
            <a:prstGeom prst="roundRect">
              <a:avLst>
                <a:gd name="adj" fmla="val 50000"/>
              </a:avLst>
            </a:prstGeom>
            <a:solidFill>
              <a:srgbClr val="2FB6A8"/>
            </a:solidFill>
            <a:ln>
              <a:noFill/>
            </a:ln>
          </p:spPr>
        </p:sp>
        <p:sp>
          <p:nvSpPr>
            <p:cNvPr id="9" name="TextBox 9"/>
            <p:cNvSpPr txBox="1"/>
            <p:nvPr/>
          </p:nvSpPr>
          <p:spPr>
            <a:xfrm>
              <a:off x="774192" y="1835468"/>
              <a:ext cx="9868328" cy="264033"/>
            </a:xfrm>
            <a:prstGeom prst="rect">
              <a:avLst/>
            </a:prstGeom>
            <a:noFill/>
            <a:ln>
              <a:noFill/>
            </a:ln>
          </p:spPr>
          <p:txBody>
            <a:bodyPr wrap="none" lIns="0" tIns="0" rIns="0" bIns="0" anchor="t" anchorCtr="0">
              <a:spAutoFit/>
            </a:bodyPr>
            <a:lstStyle/>
            <a:p>
              <a:pPr algn="l"/>
              <a:r>
                <a:rPr lang="en-US" sz="1350" b="1" dirty="0">
                  <a:solidFill>
                    <a:srgbClr val="EAF2FA"/>
                  </a:solidFill>
                  <a:latin typeface="+mn-lt"/>
                  <a:ea typeface="+mn-ea"/>
                  <a:cs typeface="+mn-cs"/>
                </a:rPr>
                <a:t>Base Merlin already beats most baselines; Merlin-P and Merlin-NP get the highest returns on most tasks.</a:t>
              </a:r>
            </a:p>
          </p:txBody>
        </p:sp>
      </p:grpSp>
      <p:grpSp>
        <p:nvGrpSpPr>
          <p:cNvPr id="27" name="Group 27"/>
          <p:cNvGrpSpPr/>
          <p:nvPr/>
        </p:nvGrpSpPr>
        <p:grpSpPr>
          <a:xfrm>
            <a:off x="533400" y="2381250"/>
            <a:ext cx="5429250" cy="2781300"/>
            <a:chOff x="533400" y="2381250"/>
            <a:chExt cx="5429250" cy="2781300"/>
          </a:xfrm>
        </p:grpSpPr>
        <p:sp>
          <p:nvSpPr>
            <p:cNvPr id="11" name="Rectangle 11"/>
            <p:cNvSpPr/>
            <p:nvPr/>
          </p:nvSpPr>
          <p:spPr>
            <a:xfrm>
              <a:off x="533400" y="2381250"/>
              <a:ext cx="5429250" cy="2781300"/>
            </a:xfrm>
            <a:prstGeom prst="roundRect">
              <a:avLst>
                <a:gd name="adj" fmla="val 4110"/>
              </a:avLst>
            </a:prstGeom>
            <a:solidFill>
              <a:schemeClr val="accent5"/>
            </a:solidFill>
            <a:ln w="11430">
              <a:solidFill>
                <a:srgbClr val="1E3E5A"/>
              </a:solidFill>
            </a:ln>
          </p:spPr>
        </p:sp>
        <p:sp>
          <p:nvSpPr>
            <p:cNvPr id="12" name="Rectangle 12"/>
            <p:cNvSpPr/>
            <p:nvPr/>
          </p:nvSpPr>
          <p:spPr>
            <a:xfrm>
              <a:off x="533400" y="2552700"/>
              <a:ext cx="47625" cy="285750"/>
            </a:xfrm>
            <a:prstGeom prst="roundRect">
              <a:avLst>
                <a:gd name="adj" fmla="val 50000"/>
              </a:avLst>
            </a:prstGeom>
            <a:solidFill>
              <a:srgbClr val="4C86F0"/>
            </a:solidFill>
            <a:ln>
              <a:noFill/>
            </a:ln>
          </p:spPr>
        </p:sp>
        <p:sp>
          <p:nvSpPr>
            <p:cNvPr id="13" name="TextBox 13"/>
            <p:cNvSpPr txBox="1"/>
            <p:nvPr/>
          </p:nvSpPr>
          <p:spPr>
            <a:xfrm>
              <a:off x="774573" y="2643664"/>
              <a:ext cx="4461563" cy="249364"/>
            </a:xfrm>
            <a:prstGeom prst="rect">
              <a:avLst/>
            </a:prstGeom>
            <a:noFill/>
            <a:ln>
              <a:noFill/>
            </a:ln>
          </p:spPr>
          <p:txBody>
            <a:bodyPr wrap="none" lIns="0" tIns="0" rIns="0" bIns="0" anchor="t" anchorCtr="0">
              <a:spAutoFit/>
            </a:bodyPr>
            <a:lstStyle/>
            <a:p>
              <a:pPr algn="l"/>
              <a:r>
                <a:rPr lang="en-US" sz="1280" b="1" dirty="0">
                  <a:solidFill>
                    <a:srgbClr val="EAF2FA"/>
                  </a:solidFill>
                  <a:latin typeface="+mn-lt"/>
                  <a:ea typeface="+mn-ea"/>
                  <a:cs typeface="+mn-cs"/>
                </a:rPr>
                <a:t>Average rank across 10 methods (lower is better)</a:t>
              </a:r>
            </a:p>
          </p:txBody>
        </p:sp>
        <p:sp>
          <p:nvSpPr>
            <p:cNvPr id="14" name="TextBox 14"/>
            <p:cNvSpPr txBox="1"/>
            <p:nvPr/>
          </p:nvSpPr>
          <p:spPr>
            <a:xfrm>
              <a:off x="775716" y="3220402"/>
              <a:ext cx="1113288" cy="205359"/>
            </a:xfrm>
            <a:prstGeom prst="rect">
              <a:avLst/>
            </a:prstGeom>
            <a:noFill/>
            <a:ln>
              <a:noFill/>
            </a:ln>
          </p:spPr>
          <p:txBody>
            <a:bodyPr wrap="none" lIns="0" tIns="0" rIns="0" bIns="0" anchor="t" anchorCtr="0">
              <a:spAutoFit/>
            </a:bodyPr>
            <a:lstStyle/>
            <a:p>
              <a:pPr algn="l"/>
              <a:r>
                <a:rPr lang="en-US" sz="1050" dirty="0">
                  <a:solidFill>
                    <a:srgbClr val="9FB6CC"/>
                  </a:solidFill>
                  <a:latin typeface="+mn-lt"/>
                  <a:ea typeface="+mn-ea"/>
                  <a:cs typeface="+mn-cs"/>
                </a:rPr>
                <a:t>Merlin-NP state</a:t>
              </a:r>
            </a:p>
          </p:txBody>
        </p:sp>
        <p:sp>
          <p:nvSpPr>
            <p:cNvPr id="15" name="Rectangle 15"/>
            <p:cNvSpPr/>
            <p:nvPr/>
          </p:nvSpPr>
          <p:spPr>
            <a:xfrm>
              <a:off x="1962150" y="3162300"/>
              <a:ext cx="2857500" cy="247650"/>
            </a:xfrm>
            <a:prstGeom prst="roundRect">
              <a:avLst>
                <a:gd name="adj" fmla="val 19231"/>
              </a:avLst>
            </a:prstGeom>
            <a:solidFill>
              <a:schemeClr val="accent6"/>
            </a:solidFill>
            <a:ln w="9525">
              <a:solidFill>
                <a:srgbClr val="1E3E5A"/>
              </a:solidFill>
            </a:ln>
          </p:spPr>
        </p:sp>
        <p:sp>
          <p:nvSpPr>
            <p:cNvPr id="16" name="Rectangle 16"/>
            <p:cNvSpPr/>
            <p:nvPr/>
          </p:nvSpPr>
          <p:spPr>
            <a:xfrm>
              <a:off x="1962150" y="3162300"/>
              <a:ext cx="809625" cy="247650"/>
            </a:xfrm>
            <a:prstGeom prst="roundRect">
              <a:avLst>
                <a:gd name="adj" fmla="val 19231"/>
              </a:avLst>
            </a:prstGeom>
            <a:solidFill>
              <a:srgbClr val="2FB6A8"/>
            </a:solidFill>
            <a:ln>
              <a:noFill/>
            </a:ln>
          </p:spPr>
        </p:sp>
        <p:sp>
          <p:nvSpPr>
            <p:cNvPr id="17" name="TextBox 17"/>
            <p:cNvSpPr txBox="1"/>
            <p:nvPr/>
          </p:nvSpPr>
          <p:spPr>
            <a:xfrm>
              <a:off x="2880741" y="3229928"/>
              <a:ext cx="337189" cy="205359"/>
            </a:xfrm>
            <a:prstGeom prst="rect">
              <a:avLst/>
            </a:prstGeom>
            <a:noFill/>
            <a:ln>
              <a:noFill/>
            </a:ln>
          </p:spPr>
          <p:txBody>
            <a:bodyPr wrap="none" lIns="0" tIns="0" rIns="0" bIns="0" anchor="t" anchorCtr="0">
              <a:spAutoFit/>
            </a:bodyPr>
            <a:lstStyle/>
            <a:p>
              <a:pPr algn="l"/>
              <a:r>
                <a:rPr lang="en-US" sz="1050" b="1" dirty="0">
                  <a:solidFill>
                    <a:srgbClr val="2FB6A8"/>
                  </a:solidFill>
                  <a:latin typeface="+mn-lt"/>
                  <a:ea typeface="+mn-ea"/>
                  <a:cs typeface="+mn-cs"/>
                </a:rPr>
                <a:t>1.70</a:t>
              </a:r>
            </a:p>
          </p:txBody>
        </p:sp>
        <p:sp>
          <p:nvSpPr>
            <p:cNvPr id="18" name="TextBox 18"/>
            <p:cNvSpPr txBox="1"/>
            <p:nvPr/>
          </p:nvSpPr>
          <p:spPr>
            <a:xfrm>
              <a:off x="775716" y="3753802"/>
              <a:ext cx="1041689" cy="205359"/>
            </a:xfrm>
            <a:prstGeom prst="rect">
              <a:avLst/>
            </a:prstGeom>
            <a:noFill/>
            <a:ln>
              <a:noFill/>
            </a:ln>
          </p:spPr>
          <p:txBody>
            <a:bodyPr wrap="none" lIns="0" tIns="0" rIns="0" bIns="0" anchor="t" anchorCtr="0">
              <a:spAutoFit/>
            </a:bodyPr>
            <a:lstStyle/>
            <a:p>
              <a:pPr algn="l"/>
              <a:r>
                <a:rPr lang="en-US" sz="1050" dirty="0">
                  <a:solidFill>
                    <a:srgbClr val="9FB6CC"/>
                  </a:solidFill>
                  <a:latin typeface="+mn-lt"/>
                  <a:ea typeface="+mn-ea"/>
                  <a:cs typeface="+mn-cs"/>
                </a:rPr>
                <a:t>Merlin-NP pixel</a:t>
              </a:r>
            </a:p>
          </p:txBody>
        </p:sp>
        <p:sp>
          <p:nvSpPr>
            <p:cNvPr id="19" name="Rectangle 19"/>
            <p:cNvSpPr/>
            <p:nvPr/>
          </p:nvSpPr>
          <p:spPr>
            <a:xfrm>
              <a:off x="1962150" y="3695700"/>
              <a:ext cx="2857500" cy="247650"/>
            </a:xfrm>
            <a:prstGeom prst="roundRect">
              <a:avLst>
                <a:gd name="adj" fmla="val 19231"/>
              </a:avLst>
            </a:prstGeom>
            <a:solidFill>
              <a:schemeClr val="accent6"/>
            </a:solidFill>
            <a:ln w="9525">
              <a:solidFill>
                <a:srgbClr val="1E3E5A"/>
              </a:solidFill>
            </a:ln>
          </p:spPr>
        </p:sp>
        <p:sp>
          <p:nvSpPr>
            <p:cNvPr id="20" name="Rectangle 20"/>
            <p:cNvSpPr/>
            <p:nvPr/>
          </p:nvSpPr>
          <p:spPr>
            <a:xfrm>
              <a:off x="1962150" y="3695700"/>
              <a:ext cx="590550" cy="247650"/>
            </a:xfrm>
            <a:prstGeom prst="roundRect">
              <a:avLst>
                <a:gd name="adj" fmla="val 19231"/>
              </a:avLst>
            </a:prstGeom>
            <a:solidFill>
              <a:srgbClr val="49C08A"/>
            </a:solidFill>
            <a:ln>
              <a:noFill/>
            </a:ln>
          </p:spPr>
        </p:sp>
        <p:sp>
          <p:nvSpPr>
            <p:cNvPr id="21" name="TextBox 21"/>
            <p:cNvSpPr txBox="1"/>
            <p:nvPr/>
          </p:nvSpPr>
          <p:spPr>
            <a:xfrm>
              <a:off x="2666428" y="3763328"/>
              <a:ext cx="337189" cy="205359"/>
            </a:xfrm>
            <a:prstGeom prst="rect">
              <a:avLst/>
            </a:prstGeom>
            <a:noFill/>
            <a:ln>
              <a:noFill/>
            </a:ln>
          </p:spPr>
          <p:txBody>
            <a:bodyPr wrap="none" lIns="0" tIns="0" rIns="0" bIns="0" anchor="t" anchorCtr="0">
              <a:spAutoFit/>
            </a:bodyPr>
            <a:lstStyle/>
            <a:p>
              <a:pPr algn="l"/>
              <a:r>
                <a:rPr lang="en-US" sz="1050" b="1" dirty="0">
                  <a:solidFill>
                    <a:srgbClr val="49C08A"/>
                  </a:solidFill>
                  <a:latin typeface="+mn-lt"/>
                  <a:ea typeface="+mn-ea"/>
                  <a:cs typeface="+mn-cs"/>
                </a:rPr>
                <a:t>1.25</a:t>
              </a:r>
            </a:p>
          </p:txBody>
        </p:sp>
        <p:sp>
          <p:nvSpPr>
            <p:cNvPr id="22" name="TextBox 22"/>
            <p:cNvSpPr txBox="1"/>
            <p:nvPr/>
          </p:nvSpPr>
          <p:spPr>
            <a:xfrm>
              <a:off x="775716" y="4287202"/>
              <a:ext cx="919582" cy="205359"/>
            </a:xfrm>
            <a:prstGeom prst="rect">
              <a:avLst/>
            </a:prstGeom>
            <a:noFill/>
            <a:ln>
              <a:noFill/>
            </a:ln>
          </p:spPr>
          <p:txBody>
            <a:bodyPr wrap="none" lIns="0" tIns="0" rIns="0" bIns="0" anchor="t" anchorCtr="0">
              <a:spAutoFit/>
            </a:bodyPr>
            <a:lstStyle/>
            <a:p>
              <a:pPr algn="l"/>
              <a:r>
                <a:rPr lang="en-US" sz="1050" dirty="0">
                  <a:solidFill>
                    <a:srgbClr val="9FB6CC"/>
                  </a:solidFill>
                  <a:latin typeface="+mn-lt"/>
                  <a:ea typeface="+mn-ea"/>
                  <a:cs typeface="+mn-cs"/>
                </a:rPr>
                <a:t>Best baseline</a:t>
              </a:r>
            </a:p>
          </p:txBody>
        </p:sp>
        <p:sp>
          <p:nvSpPr>
            <p:cNvPr id="23" name="Rectangle 23"/>
            <p:cNvSpPr/>
            <p:nvPr/>
          </p:nvSpPr>
          <p:spPr>
            <a:xfrm>
              <a:off x="1962150" y="4229100"/>
              <a:ext cx="2857500" cy="247650"/>
            </a:xfrm>
            <a:prstGeom prst="roundRect">
              <a:avLst>
                <a:gd name="adj" fmla="val 19231"/>
              </a:avLst>
            </a:prstGeom>
            <a:solidFill>
              <a:schemeClr val="accent6"/>
            </a:solidFill>
            <a:ln w="9525">
              <a:solidFill>
                <a:srgbClr val="1E3E5A"/>
              </a:solidFill>
            </a:ln>
          </p:spPr>
        </p:sp>
        <p:sp>
          <p:nvSpPr>
            <p:cNvPr id="24" name="Rectangle 24"/>
            <p:cNvSpPr/>
            <p:nvPr/>
          </p:nvSpPr>
          <p:spPr>
            <a:xfrm>
              <a:off x="1962150" y="4229100"/>
              <a:ext cx="2143125" cy="247650"/>
            </a:xfrm>
            <a:prstGeom prst="roundRect">
              <a:avLst>
                <a:gd name="adj" fmla="val 19231"/>
              </a:avLst>
            </a:prstGeom>
            <a:solidFill>
              <a:srgbClr val="E0A93B"/>
            </a:solidFill>
            <a:ln>
              <a:noFill/>
            </a:ln>
          </p:spPr>
        </p:sp>
        <p:sp>
          <p:nvSpPr>
            <p:cNvPr id="25" name="TextBox 25"/>
            <p:cNvSpPr txBox="1"/>
            <p:nvPr/>
          </p:nvSpPr>
          <p:spPr>
            <a:xfrm>
              <a:off x="4214241" y="4296728"/>
              <a:ext cx="337189" cy="205359"/>
            </a:xfrm>
            <a:prstGeom prst="rect">
              <a:avLst/>
            </a:prstGeom>
            <a:noFill/>
            <a:ln>
              <a:noFill/>
            </a:ln>
          </p:spPr>
          <p:txBody>
            <a:bodyPr wrap="none" lIns="0" tIns="0" rIns="0" bIns="0" anchor="t" anchorCtr="0">
              <a:spAutoFit/>
            </a:bodyPr>
            <a:lstStyle/>
            <a:p>
              <a:pPr algn="l"/>
              <a:r>
                <a:rPr lang="en-US" sz="1050" b="1" dirty="0">
                  <a:solidFill>
                    <a:srgbClr val="E0A93B"/>
                  </a:solidFill>
                  <a:latin typeface="+mn-lt"/>
                  <a:ea typeface="+mn-ea"/>
                  <a:cs typeface="+mn-cs"/>
                </a:rPr>
                <a:t>4.50</a:t>
              </a:r>
            </a:p>
          </p:txBody>
        </p:sp>
        <p:sp>
          <p:nvSpPr>
            <p:cNvPr id="26" name="TextBox 26"/>
            <p:cNvSpPr txBox="1"/>
            <p:nvPr/>
          </p:nvSpPr>
          <p:spPr>
            <a:xfrm>
              <a:off x="775716" y="4763452"/>
              <a:ext cx="4181728" cy="205359"/>
            </a:xfrm>
            <a:prstGeom prst="rect">
              <a:avLst/>
            </a:prstGeom>
            <a:noFill/>
            <a:ln>
              <a:noFill/>
            </a:ln>
          </p:spPr>
          <p:txBody>
            <a:bodyPr wrap="none" lIns="0" tIns="0" rIns="0" bIns="0" anchor="t" anchorCtr="0">
              <a:spAutoFit/>
            </a:bodyPr>
            <a:lstStyle/>
            <a:p>
              <a:pPr algn="l"/>
              <a:r>
                <a:rPr lang="en-US" sz="1050" b="1" dirty="0">
                  <a:solidFill>
                    <a:srgbClr val="49C08A"/>
                  </a:solidFill>
                  <a:latin typeface="+mn-lt"/>
                  <a:ea typeface="+mn-ea"/>
                  <a:cs typeface="+mn-cs"/>
                </a:rPr>
                <a:t>Merlin-NP takes the top average rank on both input types</a:t>
              </a:r>
            </a:p>
          </p:txBody>
        </p:sp>
      </p:grpSp>
      <p:grpSp>
        <p:nvGrpSpPr>
          <p:cNvPr id="41" name="Group 41"/>
          <p:cNvGrpSpPr/>
          <p:nvPr/>
        </p:nvGrpSpPr>
        <p:grpSpPr>
          <a:xfrm>
            <a:off x="6229350" y="2381250"/>
            <a:ext cx="5429250" cy="2781300"/>
            <a:chOff x="6229350" y="2381250"/>
            <a:chExt cx="5429250" cy="2781300"/>
          </a:xfrm>
        </p:grpSpPr>
        <p:sp>
          <p:nvSpPr>
            <p:cNvPr id="28" name="Rectangle 28"/>
            <p:cNvSpPr/>
            <p:nvPr/>
          </p:nvSpPr>
          <p:spPr>
            <a:xfrm>
              <a:off x="6229350" y="2381250"/>
              <a:ext cx="5429250" cy="2781300"/>
            </a:xfrm>
            <a:prstGeom prst="roundRect">
              <a:avLst>
                <a:gd name="adj" fmla="val 4110"/>
              </a:avLst>
            </a:prstGeom>
            <a:solidFill>
              <a:schemeClr val="accent5"/>
            </a:solidFill>
            <a:ln w="11430">
              <a:solidFill>
                <a:srgbClr val="1E3E5A"/>
              </a:solidFill>
            </a:ln>
          </p:spPr>
        </p:sp>
        <p:sp>
          <p:nvSpPr>
            <p:cNvPr id="29" name="Rectangle 29"/>
            <p:cNvSpPr/>
            <p:nvPr/>
          </p:nvSpPr>
          <p:spPr>
            <a:xfrm>
              <a:off x="6229350" y="2552700"/>
              <a:ext cx="47625" cy="285750"/>
            </a:xfrm>
            <a:prstGeom prst="roundRect">
              <a:avLst>
                <a:gd name="adj" fmla="val 50000"/>
              </a:avLst>
            </a:prstGeom>
            <a:solidFill>
              <a:srgbClr val="E0A93B"/>
            </a:solidFill>
            <a:ln>
              <a:noFill/>
            </a:ln>
          </p:spPr>
        </p:sp>
        <p:sp>
          <p:nvSpPr>
            <p:cNvPr id="30" name="TextBox 30"/>
            <p:cNvSpPr txBox="1"/>
            <p:nvPr/>
          </p:nvSpPr>
          <p:spPr>
            <a:xfrm>
              <a:off x="6470523" y="2643664"/>
              <a:ext cx="3095716" cy="249364"/>
            </a:xfrm>
            <a:prstGeom prst="rect">
              <a:avLst/>
            </a:prstGeom>
            <a:noFill/>
            <a:ln>
              <a:noFill/>
            </a:ln>
          </p:spPr>
          <p:txBody>
            <a:bodyPr wrap="none" lIns="0" tIns="0" rIns="0" bIns="0" anchor="t" anchorCtr="0">
              <a:spAutoFit/>
            </a:bodyPr>
            <a:lstStyle/>
            <a:p>
              <a:pPr algn="l"/>
              <a:r>
                <a:rPr lang="en-US" sz="1280" b="1" dirty="0">
                  <a:solidFill>
                    <a:srgbClr val="EAF2FA"/>
                  </a:solidFill>
                  <a:latin typeface="+mn-lt"/>
                  <a:ea typeface="+mn-ea"/>
                  <a:cs typeface="+mn-cs"/>
                </a:rPr>
                <a:t>Single denoising step → ~10× faster</a:t>
              </a:r>
            </a:p>
          </p:txBody>
        </p:sp>
        <p:sp>
          <p:nvSpPr>
            <p:cNvPr id="31" name="TextBox 31"/>
            <p:cNvSpPr txBox="1"/>
            <p:nvPr/>
          </p:nvSpPr>
          <p:spPr>
            <a:xfrm>
              <a:off x="6605016" y="3010852"/>
              <a:ext cx="1069694" cy="205359"/>
            </a:xfrm>
            <a:prstGeom prst="rect">
              <a:avLst/>
            </a:prstGeom>
            <a:noFill/>
            <a:ln>
              <a:noFill/>
            </a:ln>
          </p:spPr>
          <p:txBody>
            <a:bodyPr wrap="none" lIns="0" tIns="0" rIns="0" bIns="0" anchor="t" anchorCtr="0">
              <a:spAutoFit/>
            </a:bodyPr>
            <a:lstStyle/>
            <a:p>
              <a:pPr algn="l"/>
              <a:r>
                <a:rPr lang="en-US" sz="1050" dirty="0">
                  <a:solidFill>
                    <a:srgbClr val="9FB6CC"/>
                  </a:solidFill>
                  <a:latin typeface="+mn-lt"/>
                  <a:ea typeface="+mn-ea"/>
                  <a:cs typeface="+mn-cs"/>
                </a:rPr>
                <a:t>Merlin (1 step)</a:t>
              </a:r>
            </a:p>
          </p:txBody>
        </p:sp>
        <p:sp>
          <p:nvSpPr>
            <p:cNvPr id="32" name="Rectangle 32"/>
            <p:cNvSpPr/>
            <p:nvPr/>
          </p:nvSpPr>
          <p:spPr>
            <a:xfrm>
              <a:off x="6610350" y="3181350"/>
              <a:ext cx="3429000" cy="228600"/>
            </a:xfrm>
            <a:prstGeom prst="roundRect">
              <a:avLst>
                <a:gd name="adj" fmla="val 20833"/>
              </a:avLst>
            </a:prstGeom>
            <a:solidFill>
              <a:schemeClr val="accent6"/>
            </a:solidFill>
            <a:ln w="9525">
              <a:solidFill>
                <a:srgbClr val="1E3E5A"/>
              </a:solidFill>
            </a:ln>
          </p:spPr>
        </p:sp>
        <p:sp>
          <p:nvSpPr>
            <p:cNvPr id="33" name="Rectangle 33"/>
            <p:cNvSpPr/>
            <p:nvPr/>
          </p:nvSpPr>
          <p:spPr>
            <a:xfrm>
              <a:off x="6610350" y="3181350"/>
              <a:ext cx="342900" cy="228600"/>
            </a:xfrm>
            <a:prstGeom prst="roundRect">
              <a:avLst>
                <a:gd name="adj" fmla="val 20833"/>
              </a:avLst>
            </a:prstGeom>
            <a:solidFill>
              <a:srgbClr val="2FB6A8"/>
            </a:solidFill>
            <a:ln>
              <a:noFill/>
            </a:ln>
          </p:spPr>
        </p:sp>
        <p:sp>
          <p:nvSpPr>
            <p:cNvPr id="34" name="TextBox 34"/>
            <p:cNvSpPr txBox="1"/>
            <p:nvPr/>
          </p:nvSpPr>
          <p:spPr>
            <a:xfrm>
              <a:off x="6605016" y="3544252"/>
              <a:ext cx="1199300" cy="205359"/>
            </a:xfrm>
            <a:prstGeom prst="rect">
              <a:avLst/>
            </a:prstGeom>
            <a:noFill/>
            <a:ln>
              <a:noFill/>
            </a:ln>
          </p:spPr>
          <p:txBody>
            <a:bodyPr wrap="none" lIns="0" tIns="0" rIns="0" bIns="0" anchor="t" anchorCtr="0">
              <a:spAutoFit/>
            </a:bodyPr>
            <a:lstStyle/>
            <a:p>
              <a:pPr algn="l"/>
              <a:r>
                <a:rPr lang="en-US" sz="1050" dirty="0">
                  <a:solidFill>
                    <a:srgbClr val="9FB6CC"/>
                  </a:solidFill>
                  <a:latin typeface="+mn-lt"/>
                  <a:ea typeface="+mn-ea"/>
                  <a:cs typeface="+mn-cs"/>
                </a:rPr>
                <a:t>Decision Diffuser</a:t>
              </a:r>
            </a:p>
          </p:txBody>
        </p:sp>
        <p:sp>
          <p:nvSpPr>
            <p:cNvPr id="35" name="Rectangle 35"/>
            <p:cNvSpPr/>
            <p:nvPr/>
          </p:nvSpPr>
          <p:spPr>
            <a:xfrm>
              <a:off x="6610350" y="3714750"/>
              <a:ext cx="3429000" cy="228600"/>
            </a:xfrm>
            <a:prstGeom prst="roundRect">
              <a:avLst>
                <a:gd name="adj" fmla="val 20833"/>
              </a:avLst>
            </a:prstGeom>
            <a:solidFill>
              <a:schemeClr val="accent6"/>
            </a:solidFill>
            <a:ln w="9525">
              <a:solidFill>
                <a:srgbClr val="1E3E5A"/>
              </a:solidFill>
            </a:ln>
          </p:spPr>
        </p:sp>
        <p:sp>
          <p:nvSpPr>
            <p:cNvPr id="36" name="Rectangle 36"/>
            <p:cNvSpPr/>
            <p:nvPr/>
          </p:nvSpPr>
          <p:spPr>
            <a:xfrm>
              <a:off x="6610350" y="3714750"/>
              <a:ext cx="3429000" cy="228600"/>
            </a:xfrm>
            <a:prstGeom prst="roundRect">
              <a:avLst>
                <a:gd name="adj" fmla="val 20833"/>
              </a:avLst>
            </a:prstGeom>
            <a:solidFill>
              <a:srgbClr val="E0655B"/>
            </a:solidFill>
            <a:ln>
              <a:noFill/>
            </a:ln>
          </p:spPr>
        </p:sp>
        <p:sp>
          <p:nvSpPr>
            <p:cNvPr id="37" name="TextBox 37"/>
            <p:cNvSpPr txBox="1"/>
            <p:nvPr/>
          </p:nvSpPr>
          <p:spPr>
            <a:xfrm>
              <a:off x="6605016" y="4077652"/>
              <a:ext cx="369113" cy="205359"/>
            </a:xfrm>
            <a:prstGeom prst="rect">
              <a:avLst/>
            </a:prstGeom>
            <a:noFill/>
            <a:ln>
              <a:noFill/>
            </a:ln>
          </p:spPr>
          <p:txBody>
            <a:bodyPr wrap="none" lIns="0" tIns="0" rIns="0" bIns="0" anchor="t" anchorCtr="0">
              <a:spAutoFit/>
            </a:bodyPr>
            <a:lstStyle/>
            <a:p>
              <a:pPr algn="l"/>
              <a:r>
                <a:rPr lang="en-US" sz="1050" dirty="0">
                  <a:solidFill>
                    <a:srgbClr val="9FB6CC"/>
                  </a:solidFill>
                  <a:latin typeface="+mn-lt"/>
                  <a:ea typeface="+mn-ea"/>
                  <a:cs typeface="+mn-cs"/>
                </a:rPr>
                <a:t>BESO</a:t>
              </a:r>
            </a:p>
          </p:txBody>
        </p:sp>
        <p:sp>
          <p:nvSpPr>
            <p:cNvPr id="38" name="Rectangle 38"/>
            <p:cNvSpPr/>
            <p:nvPr/>
          </p:nvSpPr>
          <p:spPr>
            <a:xfrm>
              <a:off x="6610350" y="4248150"/>
              <a:ext cx="3429000" cy="228600"/>
            </a:xfrm>
            <a:prstGeom prst="roundRect">
              <a:avLst>
                <a:gd name="adj" fmla="val 20833"/>
              </a:avLst>
            </a:prstGeom>
            <a:solidFill>
              <a:schemeClr val="accent6"/>
            </a:solidFill>
            <a:ln w="9525">
              <a:solidFill>
                <a:srgbClr val="1E3E5A"/>
              </a:solidFill>
            </a:ln>
          </p:spPr>
        </p:sp>
        <p:sp>
          <p:nvSpPr>
            <p:cNvPr id="39" name="Rectangle 39"/>
            <p:cNvSpPr/>
            <p:nvPr/>
          </p:nvSpPr>
          <p:spPr>
            <a:xfrm>
              <a:off x="6610350" y="4248150"/>
              <a:ext cx="3086100" cy="228600"/>
            </a:xfrm>
            <a:prstGeom prst="roundRect">
              <a:avLst>
                <a:gd name="adj" fmla="val 20833"/>
              </a:avLst>
            </a:prstGeom>
            <a:solidFill>
              <a:srgbClr val="E0A93B"/>
            </a:solidFill>
            <a:ln>
              <a:noFill/>
            </a:ln>
          </p:spPr>
        </p:sp>
        <p:sp>
          <p:nvSpPr>
            <p:cNvPr id="40" name="TextBox 40"/>
            <p:cNvSpPr txBox="1"/>
            <p:nvPr/>
          </p:nvSpPr>
          <p:spPr>
            <a:xfrm>
              <a:off x="6472047" y="4790599"/>
              <a:ext cx="3782873" cy="190690"/>
            </a:xfrm>
            <a:prstGeom prst="rect">
              <a:avLst/>
            </a:prstGeom>
            <a:noFill/>
            <a:ln>
              <a:noFill/>
            </a:ln>
          </p:spPr>
          <p:txBody>
            <a:bodyPr wrap="none" lIns="0" tIns="0" rIns="0" bIns="0" anchor="t" anchorCtr="0">
              <a:spAutoFit/>
            </a:bodyPr>
            <a:lstStyle/>
            <a:p>
              <a:pPr algn="l"/>
              <a:r>
                <a:rPr lang="en-US" sz="980" dirty="0">
                  <a:solidFill>
                    <a:srgbClr val="9FB6CC"/>
                  </a:solidFill>
                  <a:latin typeface="+mn-lt"/>
                  <a:ea typeface="+mn-ea"/>
                  <a:cs typeface="+mn-cs"/>
                </a:rPr>
                <a:t>Log inference/training time vs other diffusion RL methods</a:t>
              </a:r>
            </a:p>
          </p:txBody>
        </p:sp>
      </p:grpSp>
      <p:grpSp>
        <p:nvGrpSpPr>
          <p:cNvPr id="48" name="Group 48"/>
          <p:cNvGrpSpPr/>
          <p:nvPr/>
        </p:nvGrpSpPr>
        <p:grpSpPr>
          <a:xfrm>
            <a:off x="7810500" y="5295900"/>
            <a:ext cx="3848100" cy="1143000"/>
            <a:chOff x="7810500" y="5295900"/>
            <a:chExt cx="3848100" cy="1143000"/>
          </a:xfrm>
        </p:grpSpPr>
        <p:sp>
          <p:nvSpPr>
            <p:cNvPr id="42" name="Rectangle 42"/>
            <p:cNvSpPr/>
            <p:nvPr/>
          </p:nvSpPr>
          <p:spPr>
            <a:xfrm>
              <a:off x="7810500" y="5295900"/>
              <a:ext cx="3848100" cy="1143000"/>
            </a:xfrm>
            <a:prstGeom prst="roundRect">
              <a:avLst>
                <a:gd name="adj" fmla="val 8333"/>
              </a:avLst>
            </a:prstGeom>
            <a:solidFill>
              <a:schemeClr val="accent6"/>
            </a:solidFill>
            <a:ln w="9525">
              <a:solidFill>
                <a:srgbClr val="1E3E5A"/>
              </a:solidFill>
            </a:ln>
          </p:spPr>
        </p:sp>
        <p:sp>
          <p:nvSpPr>
            <p:cNvPr id="43" name="Rectangle 43"/>
            <p:cNvSpPr/>
            <p:nvPr/>
          </p:nvSpPr>
          <p:spPr>
            <a:xfrm>
              <a:off x="7810500" y="5467350"/>
              <a:ext cx="47625" cy="285750"/>
            </a:xfrm>
            <a:prstGeom prst="roundRect">
              <a:avLst>
                <a:gd name="adj" fmla="val 50000"/>
              </a:avLst>
            </a:prstGeom>
            <a:solidFill>
              <a:srgbClr val="49C08A"/>
            </a:solidFill>
            <a:ln>
              <a:noFill/>
            </a:ln>
          </p:spPr>
        </p:sp>
        <p:sp>
          <p:nvSpPr>
            <p:cNvPr id="44" name="TextBox 44"/>
            <p:cNvSpPr txBox="1"/>
            <p:nvPr/>
          </p:nvSpPr>
          <p:spPr>
            <a:xfrm>
              <a:off x="8014335" y="5555456"/>
              <a:ext cx="1726588" cy="220028"/>
            </a:xfrm>
            <a:prstGeom prst="rect">
              <a:avLst/>
            </a:prstGeom>
            <a:noFill/>
            <a:ln>
              <a:noFill/>
            </a:ln>
          </p:spPr>
          <p:txBody>
            <a:bodyPr wrap="none" lIns="0" tIns="0" rIns="0" bIns="0" anchor="t" anchorCtr="0">
              <a:spAutoFit/>
            </a:bodyPr>
            <a:lstStyle/>
            <a:p>
              <a:pPr algn="l"/>
              <a:r>
                <a:rPr lang="en-US" sz="1120" b="1" dirty="0">
                  <a:solidFill>
                    <a:srgbClr val="EAF2FA"/>
                  </a:solidFill>
                  <a:latin typeface="+mn-lt"/>
                  <a:ea typeface="+mn-ea"/>
                  <a:cs typeface="+mn-cs"/>
                </a:rPr>
                <a:t>Pixels: the gap widens</a:t>
              </a:r>
            </a:p>
          </p:txBody>
        </p:sp>
        <p:sp>
          <p:nvSpPr>
            <p:cNvPr id="45" name="TextBox 45"/>
            <p:cNvSpPr txBox="1"/>
            <p:nvPr/>
          </p:nvSpPr>
          <p:spPr>
            <a:xfrm>
              <a:off x="8015097" y="5838349"/>
              <a:ext cx="2679034" cy="190690"/>
            </a:xfrm>
            <a:prstGeom prst="rect">
              <a:avLst/>
            </a:prstGeom>
            <a:noFill/>
            <a:ln>
              <a:noFill/>
            </a:ln>
          </p:spPr>
          <p:txBody>
            <a:bodyPr wrap="none" lIns="0" tIns="0" rIns="0" bIns="0" anchor="t" anchorCtr="0">
              <a:spAutoFit/>
            </a:bodyPr>
            <a:lstStyle/>
            <a:p>
              <a:pPr algn="l"/>
              <a:r>
                <a:rPr lang="en-US" sz="980" dirty="0">
                  <a:solidFill>
                    <a:srgbClr val="9FB6CC"/>
                  </a:solidFill>
                  <a:latin typeface="+mn-lt"/>
                  <a:ea typeface="+mn-ea"/>
                  <a:cs typeface="+mn-cs"/>
                </a:rPr>
                <a:t>With high-dimensional pixel observations,</a:t>
              </a:r>
            </a:p>
          </p:txBody>
        </p:sp>
        <p:sp>
          <p:nvSpPr>
            <p:cNvPr id="46" name="TextBox 46"/>
            <p:cNvSpPr txBox="1"/>
            <p:nvPr/>
          </p:nvSpPr>
          <p:spPr>
            <a:xfrm>
              <a:off x="8015097" y="6019324"/>
              <a:ext cx="2575898" cy="190690"/>
            </a:xfrm>
            <a:prstGeom prst="rect">
              <a:avLst/>
            </a:prstGeom>
            <a:noFill/>
            <a:ln>
              <a:noFill/>
            </a:ln>
          </p:spPr>
          <p:txBody>
            <a:bodyPr wrap="none" lIns="0" tIns="0" rIns="0" bIns="0" anchor="t" anchorCtr="0">
              <a:spAutoFit/>
            </a:bodyPr>
            <a:lstStyle/>
            <a:p>
              <a:pPr algn="l"/>
              <a:r>
                <a:rPr lang="en-US" sz="980" dirty="0">
                  <a:solidFill>
                    <a:srgbClr val="9FB6CC"/>
                  </a:solidFill>
                  <a:latin typeface="+mn-lt"/>
                  <a:ea typeface="+mn-ea"/>
                  <a:cs typeface="+mn-cs"/>
                </a:rPr>
                <a:t>the efficiency advantage over diffusion</a:t>
              </a:r>
            </a:p>
          </p:txBody>
        </p:sp>
        <p:sp>
          <p:nvSpPr>
            <p:cNvPr id="47" name="TextBox 47"/>
            <p:cNvSpPr txBox="1"/>
            <p:nvPr/>
          </p:nvSpPr>
          <p:spPr>
            <a:xfrm>
              <a:off x="8015097" y="6200299"/>
              <a:ext cx="2694633" cy="190690"/>
            </a:xfrm>
            <a:prstGeom prst="rect">
              <a:avLst/>
            </a:prstGeom>
            <a:noFill/>
            <a:ln>
              <a:noFill/>
            </a:ln>
          </p:spPr>
          <p:txBody>
            <a:bodyPr wrap="none" lIns="0" tIns="0" rIns="0" bIns="0" anchor="t" anchorCtr="0">
              <a:spAutoFit/>
            </a:bodyPr>
            <a:lstStyle/>
            <a:p>
              <a:pPr algn="l"/>
              <a:r>
                <a:rPr lang="en-US" sz="980" dirty="0">
                  <a:solidFill>
                    <a:srgbClr val="9FB6CC"/>
                  </a:solidFill>
                  <a:latin typeface="+mn-lt"/>
                  <a:ea typeface="+mn-ea"/>
                  <a:cs typeface="+mn-cs"/>
                </a:rPr>
                <a:t>baselines becomes even more pronounced.</a:t>
              </a:r>
            </a:p>
          </p:txBody>
        </p:sp>
      </p:grpSp>
      <p:sp>
        <p:nvSpPr>
          <p:cNvPr id="49" name="TextBox 49"/>
          <p:cNvSpPr txBox="1"/>
          <p:nvPr/>
        </p:nvSpPr>
        <p:spPr>
          <a:xfrm>
            <a:off x="528447" y="6619399"/>
            <a:ext cx="6883537" cy="190690"/>
          </a:xfrm>
          <a:prstGeom prst="rect">
            <a:avLst/>
          </a:prstGeom>
          <a:noFill/>
          <a:ln>
            <a:noFill/>
          </a:ln>
        </p:spPr>
        <p:txBody>
          <a:bodyPr wrap="none" lIns="0" tIns="0" rIns="0" bIns="0" anchor="t" anchorCtr="0">
            <a:spAutoFit/>
          </a:bodyPr>
          <a:lstStyle/>
          <a:p>
            <a:pPr algn="l"/>
            <a:r>
              <a:rPr lang="en-US" sz="980" dirty="0">
                <a:solidFill>
                  <a:srgbClr val="6E869C"/>
                </a:solidFill>
                <a:latin typeface="+mn-lt"/>
                <a:ea typeface="+mn-ea"/>
                <a:cs typeface="+mn-cs"/>
              </a:rPr>
              <a:t>Baselines span GCRL (GCSL, WGCSL, AM, GoFAR) and diffusion methods (Decision Diffuser, g-DQL, BESO).</a:t>
            </a:r>
          </a:p>
        </p:txBody>
      </p:sp>
      <p:sp>
        <p:nvSpPr>
          <p:cNvPr id="50" name="cue_s07_c1_results_strong_across_board_basic" title="cue_s07_c1_results_strong_across_board_basic" descr="cue_s07_c1_results_strong_across_board_basic The results are strong across the board. The basic version of Merlin already outperforms the baselines on most tasks, and the two improved variants, Merlin-P and Merlin-NP, push performance further to achieve the highest discounted returns on most tasks."/>
          <p:cNvSpPr/>
          <p:nvPr/>
        </p:nvSpPr>
        <p:spPr>
          <a:xfrm>
            <a:off x="532790" y="1599971"/>
            <a:ext cx="11125200" cy="6288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7_c2_measured_average_rank_across_all" title="cue_s07_c2_measured_average_rank_across_all" descr="cue_s07_c2_measured_average_rank_across_all Measured by average rank across all ten methods and ten tasks, Merlin-NP comes out on top, with an average rank around one point seven on state observations and about one point two five on pixel observations."/>
          <p:cNvSpPr/>
          <p:nvPr/>
        </p:nvSpPr>
        <p:spPr>
          <a:xfrm>
            <a:off x="532790" y="2381097"/>
            <a:ext cx="5429097" cy="27816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7_c3_crucially_because_merlin_performs_on" title="cue_s07_c3_crucially_because_merlin_performs_on" descr="cue_s07_c3_crucially_because_merlin_performs_on Crucially, because Merlin performs only a single denoising step per environment step, its training and inference are roughly an order of magnitude faster than the other diffusion-based methods like Decision Diffuser and BESO."/>
          <p:cNvSpPr/>
          <p:nvPr/>
        </p:nvSpPr>
        <p:spPr>
          <a:xfrm>
            <a:off x="6228892" y="2381097"/>
            <a:ext cx="5429097" cy="27816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7_c4_high_dimensional_pixel_observations" title="cue_s07_c4_high_dimensional_pixel_observations" descr="cue_s07_c4_high_dimensional_pixel_observations With high-dimensional pixel observations, that efficiency gap becomes even more pronounced."/>
          <p:cNvSpPr/>
          <p:nvPr/>
        </p:nvSpPr>
        <p:spPr>
          <a:xfrm>
            <a:off x="7810195" y="5295747"/>
            <a:ext cx="3847795"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533400" y="495300"/>
            <a:ext cx="66675" cy="323850"/>
          </a:xfrm>
          <a:prstGeom prst="roundRect">
            <a:avLst>
              <a:gd name="adj" fmla="val 42857"/>
            </a:avLst>
          </a:prstGeom>
          <a:solidFill>
            <a:srgbClr val="2FB6A8"/>
          </a:solidFill>
          <a:ln>
            <a:noFill/>
          </a:ln>
        </p:spPr>
        <p:txBody>
          <a:bodyPr/>
          <a:p/>
        </p:txBody>
      </p:sp>
      <p:sp>
        <p:nvSpPr>
          <p:cNvPr id="3" name="TextBox 3"/>
          <p:cNvSpPr txBox="1"/>
          <p:nvPr/>
        </p:nvSpPr>
        <p:spPr>
          <a:xfrm>
            <a:off x="737235" y="507206"/>
            <a:ext cx="1526627" cy="220028"/>
          </a:xfrm>
          <a:prstGeom prst="rect">
            <a:avLst/>
          </a:prstGeom>
          <a:noFill/>
          <a:ln>
            <a:noFill/>
          </a:ln>
        </p:spPr>
        <p:txBody>
          <a:bodyPr wrap="none" lIns="0" tIns="0" rIns="0" bIns="0" anchor="t" anchorCtr="0">
            <a:spAutoFit/>
          </a:bodyPr>
          <a:lstStyle/>
          <a:p>
            <a:pPr algn="l"/>
            <a:r>
              <a:rPr lang="en-US" sz="1120" b="1" spc="150" dirty="0">
                <a:solidFill>
                  <a:srgbClr val="2FB6A8"/>
                </a:solidFill>
                <a:latin typeface="+mn-lt"/>
                <a:ea typeface="+mn-ea"/>
                <a:cs typeface="+mn-cs"/>
              </a:rPr>
              <a:t>ABLATION STUDY</a:t>
            </a:r>
          </a:p>
        </p:txBody>
      </p:sp>
      <p:sp>
        <p:nvSpPr>
          <p:cNvPr id="4" name="TextBox 4"/>
          <p:cNvSpPr txBox="1"/>
          <p:nvPr/>
        </p:nvSpPr>
        <p:spPr>
          <a:xfrm>
            <a:off x="729996" y="715328"/>
            <a:ext cx="5516159" cy="498729"/>
          </a:xfrm>
          <a:prstGeom prst="rect">
            <a:avLst/>
          </a:prstGeom>
          <a:noFill/>
          <a:ln>
            <a:noFill/>
          </a:ln>
        </p:spPr>
        <p:txBody>
          <a:bodyPr wrap="none" lIns="0" tIns="0" rIns="0" bIns="0" anchor="t" anchorCtr="0">
            <a:spAutoFit/>
          </a:bodyPr>
          <a:lstStyle/>
          <a:p>
            <a:pPr algn="l"/>
            <a:r>
              <a:rPr lang="en-US" sz="2550" b="1" dirty="0">
                <a:solidFill>
                  <a:srgbClr val="EAF2FA"/>
                </a:solidFill>
                <a:latin typeface="+mn-lt"/>
                <a:ea typeface="+mn-ea"/>
                <a:cs typeface="+mn-cs"/>
              </a:rPr>
              <a:t>The evaluation horizon matters</a:t>
            </a:r>
          </a:p>
        </p:txBody>
      </p:sp>
      <p:sp>
        <p:nvSpPr>
          <p:cNvPr id="5" name="TextBox 5"/>
          <p:cNvSpPr txBox="1"/>
          <p:nvPr/>
        </p:nvSpPr>
        <p:spPr>
          <a:xfrm>
            <a:off x="10511409" y="754856"/>
            <a:ext cx="1152906" cy="220028"/>
          </a:xfrm>
          <a:prstGeom prst="rect">
            <a:avLst/>
          </a:prstGeom>
          <a:noFill/>
          <a:ln>
            <a:noFill/>
          </a:ln>
        </p:spPr>
        <p:txBody>
          <a:bodyPr wrap="none" lIns="0" tIns="0" rIns="0" bIns="0" anchor="t" anchorCtr="0">
            <a:spAutoFit/>
          </a:bodyPr>
          <a:lstStyle/>
          <a:p>
            <a:pPr algn="r"/>
            <a:r>
              <a:rPr lang="en-US" sz="1120" dirty="0">
                <a:solidFill>
                  <a:srgbClr val="9FB6CC"/>
                </a:solidFill>
                <a:latin typeface="+mn-lt"/>
                <a:ea typeface="+mn-ea"/>
                <a:cs typeface="+mn-cs"/>
              </a:rPr>
              <a:t>Merlin · 08 / 09</a:t>
            </a:r>
          </a:p>
        </p:txBody>
      </p:sp>
      <p:sp>
        <p:nvSpPr>
          <p:cNvPr id="6" name="Line 6"/>
          <p:cNvSpPr/>
          <p:nvPr/>
        </p:nvSpPr>
        <p:spPr>
          <a:xfrm>
            <a:off x="533400" y="1219200"/>
            <a:ext cx="11125200" cy="9525"/>
          </a:xfrm>
          <a:custGeom>
            <a:avLst/>
            <a:gdLst/>
            <a:ahLst/>
            <a:cxnLst/>
            <a:rect l="l" t="t" r="r" b="b"/>
            <a:pathLst>
              <a:path w="11125200" h="9525">
                <a:moveTo>
                  <a:pt x="0" y="0"/>
                </a:moveTo>
                <a:lnTo>
                  <a:pt x="11125200" y="0"/>
                </a:lnTo>
              </a:path>
            </a:pathLst>
          </a:custGeom>
          <a:noFill/>
          <a:ln w="9525">
            <a:solidFill>
              <a:srgbClr val="1E3E5A"/>
            </a:solidFill>
          </a:ln>
        </p:spPr>
        <p:txBody>
          <a:bodyPr/>
          <a:p/>
        </p:txBody>
      </p:sp>
      <p:grpSp>
        <p:nvGrpSpPr>
          <p:cNvPr id="13" name="Group 13"/>
          <p:cNvGrpSpPr/>
          <p:nvPr/>
        </p:nvGrpSpPr>
        <p:grpSpPr>
          <a:xfrm>
            <a:off x="533400" y="1600200"/>
            <a:ext cx="5429250" cy="2381250"/>
            <a:chOff x="533400" y="1600200"/>
            <a:chExt cx="5429250" cy="2381250"/>
          </a:xfrm>
        </p:grpSpPr>
        <p:sp>
          <p:nvSpPr>
            <p:cNvPr id="7" name="Rectangle 7"/>
            <p:cNvSpPr/>
            <p:nvPr/>
          </p:nvSpPr>
          <p:spPr>
            <a:xfrm>
              <a:off x="533400" y="1600200"/>
              <a:ext cx="5429250" cy="2381250"/>
            </a:xfrm>
            <a:prstGeom prst="roundRect">
              <a:avLst>
                <a:gd name="adj" fmla="val 4800"/>
              </a:avLst>
            </a:prstGeom>
            <a:solidFill>
              <a:schemeClr val="accent5"/>
            </a:solidFill>
            <a:ln w="11430">
              <a:solidFill>
                <a:srgbClr val="1E3E5A"/>
              </a:solidFill>
            </a:ln>
          </p:spPr>
        </p:sp>
        <p:sp>
          <p:nvSpPr>
            <p:cNvPr id="8" name="Rectangle 8"/>
            <p:cNvSpPr/>
            <p:nvPr/>
          </p:nvSpPr>
          <p:spPr>
            <a:xfrm>
              <a:off x="533400" y="1771650"/>
              <a:ext cx="47625" cy="285750"/>
            </a:xfrm>
            <a:prstGeom prst="roundRect">
              <a:avLst>
                <a:gd name="adj" fmla="val 50000"/>
              </a:avLst>
            </a:prstGeom>
            <a:solidFill>
              <a:srgbClr val="4C86F0"/>
            </a:solidFill>
            <a:ln>
              <a:noFill/>
            </a:ln>
          </p:spPr>
        </p:sp>
        <p:sp>
          <p:nvSpPr>
            <p:cNvPr id="9" name="TextBox 9"/>
            <p:cNvSpPr txBox="1"/>
            <p:nvPr/>
          </p:nvSpPr>
          <p:spPr>
            <a:xfrm>
              <a:off x="773049" y="1849279"/>
              <a:ext cx="2390793" cy="308039"/>
            </a:xfrm>
            <a:prstGeom prst="rect">
              <a:avLst/>
            </a:prstGeom>
            <a:noFill/>
            <a:ln>
              <a:noFill/>
            </a:ln>
          </p:spPr>
          <p:txBody>
            <a:bodyPr wrap="none" lIns="0" tIns="0" rIns="0" bIns="0" anchor="t" anchorCtr="0">
              <a:spAutoFit/>
            </a:bodyPr>
            <a:lstStyle/>
            <a:p>
              <a:pPr algn="l"/>
              <a:r>
                <a:rPr lang="en-US" sz="1580" b="1" dirty="0">
                  <a:solidFill>
                    <a:srgbClr val="EAF2FA"/>
                  </a:solidFill>
                  <a:latin typeface="+mn-lt"/>
                  <a:ea typeface="+mn-ea"/>
                  <a:cs typeface="+mn-cs"/>
                </a:rPr>
                <a:t>Two hyperparameters</a:t>
              </a:r>
            </a:p>
          </p:txBody>
        </p:sp>
        <p:sp>
          <p:nvSpPr>
            <p:cNvPr id="10" name="TextBox 10"/>
            <p:cNvSpPr txBox="1"/>
            <p:nvPr/>
          </p:nvSpPr>
          <p:spPr>
            <a:xfrm>
              <a:off x="774954" y="2232660"/>
              <a:ext cx="3934791"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The study tunes the hindsight relabeling ratio and</a:t>
              </a:r>
            </a:p>
          </p:txBody>
        </p:sp>
        <p:sp>
          <p:nvSpPr>
            <p:cNvPr id="11" name="TextBox 11"/>
            <p:cNvSpPr txBox="1"/>
            <p:nvPr/>
          </p:nvSpPr>
          <p:spPr>
            <a:xfrm>
              <a:off x="774954" y="2461260"/>
              <a:ext cx="3905402"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the evaluation time horizon h — how far ahead the</a:t>
              </a:r>
            </a:p>
          </p:txBody>
        </p:sp>
        <p:sp>
          <p:nvSpPr>
            <p:cNvPr id="12" name="TextBox 12"/>
            <p:cNvSpPr txBox="1"/>
            <p:nvPr/>
          </p:nvSpPr>
          <p:spPr>
            <a:xfrm>
              <a:off x="774954" y="2689860"/>
              <a:ext cx="1756867"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policy aims each step.</a:t>
              </a:r>
            </a:p>
          </p:txBody>
        </p:sp>
      </p:grpSp>
      <p:grpSp>
        <p:nvGrpSpPr>
          <p:cNvPr id="20" name="Group 20"/>
          <p:cNvGrpSpPr/>
          <p:nvPr/>
        </p:nvGrpSpPr>
        <p:grpSpPr>
          <a:xfrm>
            <a:off x="6229350" y="1600200"/>
            <a:ext cx="5429250" cy="2381250"/>
            <a:chOff x="6229350" y="1600200"/>
            <a:chExt cx="5429250" cy="2381250"/>
          </a:xfrm>
        </p:grpSpPr>
        <p:sp>
          <p:nvSpPr>
            <p:cNvPr id="14" name="Rectangle 14"/>
            <p:cNvSpPr/>
            <p:nvPr/>
          </p:nvSpPr>
          <p:spPr>
            <a:xfrm>
              <a:off x="6229350" y="1600200"/>
              <a:ext cx="5429250" cy="2381250"/>
            </a:xfrm>
            <a:prstGeom prst="roundRect">
              <a:avLst>
                <a:gd name="adj" fmla="val 4800"/>
              </a:avLst>
            </a:prstGeom>
            <a:solidFill>
              <a:schemeClr val="accent5"/>
            </a:solidFill>
            <a:ln w="11430">
              <a:solidFill>
                <a:srgbClr val="1E3E5A"/>
              </a:solidFill>
            </a:ln>
          </p:spPr>
        </p:sp>
        <p:sp>
          <p:nvSpPr>
            <p:cNvPr id="15" name="Rectangle 15"/>
            <p:cNvSpPr/>
            <p:nvPr/>
          </p:nvSpPr>
          <p:spPr>
            <a:xfrm>
              <a:off x="6229350" y="1771650"/>
              <a:ext cx="47625" cy="285750"/>
            </a:xfrm>
            <a:prstGeom prst="roundRect">
              <a:avLst>
                <a:gd name="adj" fmla="val 50000"/>
              </a:avLst>
            </a:prstGeom>
            <a:solidFill>
              <a:srgbClr val="2FB6A8"/>
            </a:solidFill>
            <a:ln>
              <a:noFill/>
            </a:ln>
          </p:spPr>
        </p:sp>
        <p:sp>
          <p:nvSpPr>
            <p:cNvPr id="16" name="TextBox 16"/>
            <p:cNvSpPr txBox="1"/>
            <p:nvPr/>
          </p:nvSpPr>
          <p:spPr>
            <a:xfrm>
              <a:off x="6468999" y="1849279"/>
              <a:ext cx="2614015" cy="308039"/>
            </a:xfrm>
            <a:prstGeom prst="rect">
              <a:avLst/>
            </a:prstGeom>
            <a:noFill/>
            <a:ln>
              <a:noFill/>
            </a:ln>
          </p:spPr>
          <p:txBody>
            <a:bodyPr wrap="none" lIns="0" tIns="0" rIns="0" bIns="0" anchor="t" anchorCtr="0">
              <a:spAutoFit/>
            </a:bodyPr>
            <a:lstStyle/>
            <a:p>
              <a:pPr algn="l"/>
              <a:r>
                <a:rPr lang="en-US" sz="1580" b="1" dirty="0">
                  <a:solidFill>
                    <a:srgbClr val="EAF2FA"/>
                  </a:solidFill>
                  <a:latin typeface="+mn-lt"/>
                  <a:ea typeface="+mn-ea"/>
                  <a:cs typeface="+mn-cs"/>
                </a:rPr>
                <a:t>Task-dependent horizon</a:t>
              </a:r>
            </a:p>
          </p:txBody>
        </p:sp>
        <p:sp>
          <p:nvSpPr>
            <p:cNvPr id="17" name="TextBox 17"/>
            <p:cNvSpPr txBox="1"/>
            <p:nvPr/>
          </p:nvSpPr>
          <p:spPr>
            <a:xfrm>
              <a:off x="6470904" y="2232660"/>
              <a:ext cx="3889084"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Easier tasks like PointReach do best with a short</a:t>
              </a:r>
            </a:p>
          </p:txBody>
        </p:sp>
        <p:sp>
          <p:nvSpPr>
            <p:cNvPr id="18" name="TextBox 18"/>
            <p:cNvSpPr txBox="1"/>
            <p:nvPr/>
          </p:nvSpPr>
          <p:spPr>
            <a:xfrm>
              <a:off x="6470904" y="2461260"/>
              <a:ext cx="3558083"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horizon (h=1 or 5); harder tasks need longer</a:t>
              </a:r>
            </a:p>
          </p:txBody>
        </p:sp>
        <p:sp>
          <p:nvSpPr>
            <p:cNvPr id="19" name="TextBox 19"/>
            <p:cNvSpPr txBox="1"/>
            <p:nvPr/>
          </p:nvSpPr>
          <p:spPr>
            <a:xfrm>
              <a:off x="6470904" y="2689860"/>
              <a:ext cx="2168804"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horizons to reach the goal.</a:t>
              </a:r>
            </a:p>
          </p:txBody>
        </p:sp>
      </p:grpSp>
      <p:grpSp>
        <p:nvGrpSpPr>
          <p:cNvPr id="34" name="Group 34"/>
          <p:cNvGrpSpPr/>
          <p:nvPr/>
        </p:nvGrpSpPr>
        <p:grpSpPr>
          <a:xfrm>
            <a:off x="533400" y="4152900"/>
            <a:ext cx="5429250" cy="2381250"/>
            <a:chOff x="533400" y="4152900"/>
            <a:chExt cx="5429250" cy="2381250"/>
          </a:xfrm>
        </p:grpSpPr>
        <p:sp>
          <p:nvSpPr>
            <p:cNvPr id="21" name="Rectangle 21"/>
            <p:cNvSpPr/>
            <p:nvPr/>
          </p:nvSpPr>
          <p:spPr>
            <a:xfrm>
              <a:off x="533400" y="4152900"/>
              <a:ext cx="5429250" cy="2381250"/>
            </a:xfrm>
            <a:prstGeom prst="roundRect">
              <a:avLst>
                <a:gd name="adj" fmla="val 4800"/>
              </a:avLst>
            </a:prstGeom>
            <a:solidFill>
              <a:schemeClr val="accent5"/>
            </a:solidFill>
            <a:ln w="11430">
              <a:solidFill>
                <a:srgbClr val="1E3E5A"/>
              </a:solidFill>
            </a:ln>
          </p:spPr>
        </p:sp>
        <p:sp>
          <p:nvSpPr>
            <p:cNvPr id="22" name="Rectangle 22"/>
            <p:cNvSpPr/>
            <p:nvPr/>
          </p:nvSpPr>
          <p:spPr>
            <a:xfrm>
              <a:off x="533400" y="4324350"/>
              <a:ext cx="47625" cy="285750"/>
            </a:xfrm>
            <a:prstGeom prst="roundRect">
              <a:avLst>
                <a:gd name="adj" fmla="val 50000"/>
              </a:avLst>
            </a:prstGeom>
            <a:solidFill>
              <a:srgbClr val="E0A93B"/>
            </a:solidFill>
            <a:ln>
              <a:noFill/>
            </a:ln>
          </p:spPr>
        </p:sp>
        <p:sp>
          <p:nvSpPr>
            <p:cNvPr id="23" name="TextBox 23"/>
            <p:cNvSpPr txBox="1"/>
            <p:nvPr/>
          </p:nvSpPr>
          <p:spPr>
            <a:xfrm>
              <a:off x="774192" y="4407218"/>
              <a:ext cx="3059265" cy="264033"/>
            </a:xfrm>
            <a:prstGeom prst="rect">
              <a:avLst/>
            </a:prstGeom>
            <a:noFill/>
            <a:ln>
              <a:noFill/>
            </a:ln>
          </p:spPr>
          <p:txBody>
            <a:bodyPr wrap="none" lIns="0" tIns="0" rIns="0" bIns="0" anchor="t" anchorCtr="0">
              <a:spAutoFit/>
            </a:bodyPr>
            <a:lstStyle/>
            <a:p>
              <a:pPr algn="l"/>
              <a:r>
                <a:rPr lang="en-US" sz="1350" b="1" dirty="0">
                  <a:solidFill>
                    <a:srgbClr val="EAF2FA"/>
                  </a:solidFill>
                  <a:latin typeface="+mn-lt"/>
                  <a:ea typeface="+mn-ea"/>
                  <a:cs typeface="+mn-cs"/>
                </a:rPr>
                <a:t>HandReach is especially sensitive</a:t>
              </a:r>
            </a:p>
          </p:txBody>
        </p:sp>
        <p:sp>
          <p:nvSpPr>
            <p:cNvPr id="24" name="Rectangle 24"/>
            <p:cNvSpPr/>
            <p:nvPr/>
          </p:nvSpPr>
          <p:spPr>
            <a:xfrm>
              <a:off x="971550" y="4943475"/>
              <a:ext cx="571500" cy="981075"/>
            </a:xfrm>
            <a:prstGeom prst="roundRect">
              <a:avLst>
                <a:gd name="adj" fmla="val 6667"/>
              </a:avLst>
            </a:prstGeom>
            <a:solidFill>
              <a:srgbClr val="49C08A"/>
            </a:solidFill>
            <a:ln>
              <a:noFill/>
            </a:ln>
          </p:spPr>
        </p:sp>
        <p:sp>
          <p:nvSpPr>
            <p:cNvPr id="25" name="TextBox 25"/>
            <p:cNvSpPr txBox="1"/>
            <p:nvPr/>
          </p:nvSpPr>
          <p:spPr>
            <a:xfrm>
              <a:off x="1143507" y="6009799"/>
              <a:ext cx="227587" cy="190690"/>
            </a:xfrm>
            <a:prstGeom prst="rect">
              <a:avLst/>
            </a:prstGeom>
            <a:noFill/>
            <a:ln>
              <a:noFill/>
            </a:ln>
          </p:spPr>
          <p:txBody>
            <a:bodyPr wrap="none" lIns="0" tIns="0" rIns="0" bIns="0" anchor="t" anchorCtr="0">
              <a:spAutoFit/>
            </a:bodyPr>
            <a:lstStyle/>
            <a:p>
              <a:pPr algn="ctr"/>
              <a:r>
                <a:rPr lang="en-US" sz="980" dirty="0">
                  <a:solidFill>
                    <a:srgbClr val="9FB6CC"/>
                  </a:solidFill>
                  <a:latin typeface="+mn-lt"/>
                  <a:ea typeface="+mn-ea"/>
                  <a:cs typeface="+mn-cs"/>
                </a:rPr>
                <a:t>h=1</a:t>
              </a:r>
            </a:p>
          </p:txBody>
        </p:sp>
        <p:sp>
          <p:nvSpPr>
            <p:cNvPr id="26" name="Rectangle 26"/>
            <p:cNvSpPr/>
            <p:nvPr/>
          </p:nvSpPr>
          <p:spPr>
            <a:xfrm>
              <a:off x="2133600" y="5457825"/>
              <a:ext cx="571500" cy="466725"/>
            </a:xfrm>
            <a:prstGeom prst="roundRect">
              <a:avLst>
                <a:gd name="adj" fmla="val 8163"/>
              </a:avLst>
            </a:prstGeom>
            <a:solidFill>
              <a:srgbClr val="E0A93B"/>
            </a:solidFill>
            <a:ln>
              <a:noFill/>
            </a:ln>
          </p:spPr>
        </p:sp>
        <p:sp>
          <p:nvSpPr>
            <p:cNvPr id="27" name="TextBox 27"/>
            <p:cNvSpPr txBox="1"/>
            <p:nvPr/>
          </p:nvSpPr>
          <p:spPr>
            <a:xfrm>
              <a:off x="2305557" y="6009799"/>
              <a:ext cx="227587" cy="190690"/>
            </a:xfrm>
            <a:prstGeom prst="rect">
              <a:avLst/>
            </a:prstGeom>
            <a:noFill/>
            <a:ln>
              <a:noFill/>
            </a:ln>
          </p:spPr>
          <p:txBody>
            <a:bodyPr wrap="none" lIns="0" tIns="0" rIns="0" bIns="0" anchor="t" anchorCtr="0">
              <a:spAutoFit/>
            </a:bodyPr>
            <a:lstStyle/>
            <a:p>
              <a:pPr algn="ctr"/>
              <a:r>
                <a:rPr lang="en-US" sz="980" dirty="0">
                  <a:solidFill>
                    <a:srgbClr val="9FB6CC"/>
                  </a:solidFill>
                  <a:latin typeface="+mn-lt"/>
                  <a:ea typeface="+mn-ea"/>
                  <a:cs typeface="+mn-cs"/>
                </a:rPr>
                <a:t>h=5</a:t>
              </a:r>
            </a:p>
          </p:txBody>
        </p:sp>
        <p:sp>
          <p:nvSpPr>
            <p:cNvPr id="28" name="Rectangle 28"/>
            <p:cNvSpPr/>
            <p:nvPr/>
          </p:nvSpPr>
          <p:spPr>
            <a:xfrm>
              <a:off x="3295650" y="5667375"/>
              <a:ext cx="571500" cy="257175"/>
            </a:xfrm>
            <a:prstGeom prst="roundRect">
              <a:avLst>
                <a:gd name="adj" fmla="val 14815"/>
              </a:avLst>
            </a:prstGeom>
            <a:solidFill>
              <a:srgbClr val="E0655B"/>
            </a:solidFill>
            <a:ln>
              <a:noFill/>
            </a:ln>
          </p:spPr>
        </p:sp>
        <p:sp>
          <p:nvSpPr>
            <p:cNvPr id="29" name="TextBox 29"/>
            <p:cNvSpPr txBox="1"/>
            <p:nvPr/>
          </p:nvSpPr>
          <p:spPr>
            <a:xfrm>
              <a:off x="3431327" y="6009799"/>
              <a:ext cx="300147" cy="190690"/>
            </a:xfrm>
            <a:prstGeom prst="rect">
              <a:avLst/>
            </a:prstGeom>
            <a:noFill/>
            <a:ln>
              <a:noFill/>
            </a:ln>
          </p:spPr>
          <p:txBody>
            <a:bodyPr wrap="none" lIns="0" tIns="0" rIns="0" bIns="0" anchor="t" anchorCtr="0">
              <a:spAutoFit/>
            </a:bodyPr>
            <a:lstStyle/>
            <a:p>
              <a:pPr algn="ctr"/>
              <a:r>
                <a:rPr lang="en-US" sz="980" dirty="0">
                  <a:solidFill>
                    <a:srgbClr val="9FB6CC"/>
                  </a:solidFill>
                  <a:latin typeface="+mn-lt"/>
                  <a:ea typeface="+mn-ea"/>
                  <a:cs typeface="+mn-cs"/>
                </a:rPr>
                <a:t>h=10</a:t>
              </a:r>
            </a:p>
          </p:txBody>
        </p:sp>
        <p:sp>
          <p:nvSpPr>
            <p:cNvPr id="30" name="Rectangle 30"/>
            <p:cNvSpPr/>
            <p:nvPr/>
          </p:nvSpPr>
          <p:spPr>
            <a:xfrm>
              <a:off x="4457700" y="5772150"/>
              <a:ext cx="571500" cy="152400"/>
            </a:xfrm>
            <a:prstGeom prst="roundRect">
              <a:avLst>
                <a:gd name="adj" fmla="val 25000"/>
              </a:avLst>
            </a:prstGeom>
            <a:solidFill>
              <a:srgbClr val="9FB6CC"/>
            </a:solidFill>
            <a:ln>
              <a:noFill/>
            </a:ln>
          </p:spPr>
        </p:sp>
        <p:sp>
          <p:nvSpPr>
            <p:cNvPr id="31" name="TextBox 31"/>
            <p:cNvSpPr txBox="1"/>
            <p:nvPr/>
          </p:nvSpPr>
          <p:spPr>
            <a:xfrm>
              <a:off x="4593377" y="6009799"/>
              <a:ext cx="300147" cy="190690"/>
            </a:xfrm>
            <a:prstGeom prst="rect">
              <a:avLst/>
            </a:prstGeom>
            <a:noFill/>
            <a:ln>
              <a:noFill/>
            </a:ln>
          </p:spPr>
          <p:txBody>
            <a:bodyPr wrap="none" lIns="0" tIns="0" rIns="0" bIns="0" anchor="t" anchorCtr="0">
              <a:spAutoFit/>
            </a:bodyPr>
            <a:lstStyle/>
            <a:p>
              <a:pPr algn="ctr"/>
              <a:r>
                <a:rPr lang="en-US" sz="980" dirty="0">
                  <a:solidFill>
                    <a:srgbClr val="9FB6CC"/>
                  </a:solidFill>
                  <a:latin typeface="+mn-lt"/>
                  <a:ea typeface="+mn-ea"/>
                  <a:cs typeface="+mn-cs"/>
                </a:rPr>
                <a:t>none</a:t>
              </a:r>
            </a:p>
          </p:txBody>
        </p:sp>
        <p:sp>
          <p:nvSpPr>
            <p:cNvPr id="32" name="Line 32"/>
            <p:cNvSpPr/>
            <p:nvPr/>
          </p:nvSpPr>
          <p:spPr>
            <a:xfrm>
              <a:off x="914400" y="5924550"/>
              <a:ext cx="4324350" cy="9525"/>
            </a:xfrm>
            <a:custGeom>
              <a:avLst/>
              <a:gdLst/>
              <a:ahLst/>
              <a:cxnLst/>
              <a:rect l="l" t="t" r="r" b="b"/>
              <a:pathLst>
                <a:path w="4324350" h="9525">
                  <a:moveTo>
                    <a:pt x="0" y="0"/>
                  </a:moveTo>
                  <a:lnTo>
                    <a:pt x="4324350" y="0"/>
                  </a:lnTo>
                </a:path>
              </a:pathLst>
            </a:custGeom>
            <a:noFill/>
            <a:ln w="9525">
              <a:solidFill>
                <a:srgbClr val="1E3E5A"/>
              </a:solidFill>
            </a:ln>
          </p:spPr>
        </p:sp>
        <p:sp>
          <p:nvSpPr>
            <p:cNvPr id="33" name="TextBox 33"/>
            <p:cNvSpPr txBox="1"/>
            <p:nvPr/>
          </p:nvSpPr>
          <p:spPr>
            <a:xfrm>
              <a:off x="776097" y="6295549"/>
              <a:ext cx="4150427" cy="190690"/>
            </a:xfrm>
            <a:prstGeom prst="rect">
              <a:avLst/>
            </a:prstGeom>
            <a:noFill/>
            <a:ln>
              <a:noFill/>
            </a:ln>
          </p:spPr>
          <p:txBody>
            <a:bodyPr wrap="none" lIns="0" tIns="0" rIns="0" bIns="0" anchor="t" anchorCtr="0">
              <a:spAutoFit/>
            </a:bodyPr>
            <a:lstStyle/>
            <a:p>
              <a:pPr algn="l"/>
              <a:r>
                <a:rPr lang="en-US" sz="980" dirty="0">
                  <a:solidFill>
                    <a:srgbClr val="9FB6CC"/>
                  </a:solidFill>
                  <a:latin typeface="+mn-lt"/>
                  <a:ea typeface="+mn-ea"/>
                  <a:cs typeface="+mn-cs"/>
                </a:rPr>
                <a:t>Returns collapse as the horizon grows — h=1 is dramatically best</a:t>
              </a:r>
            </a:p>
          </p:txBody>
        </p:sp>
      </p:grpSp>
      <p:grpSp>
        <p:nvGrpSpPr>
          <p:cNvPr id="41" name="Group 41"/>
          <p:cNvGrpSpPr/>
          <p:nvPr/>
        </p:nvGrpSpPr>
        <p:grpSpPr>
          <a:xfrm>
            <a:off x="6229350" y="4152900"/>
            <a:ext cx="5429250" cy="2381250"/>
            <a:chOff x="6229350" y="4152900"/>
            <a:chExt cx="5429250" cy="2381250"/>
          </a:xfrm>
        </p:grpSpPr>
        <p:sp>
          <p:nvSpPr>
            <p:cNvPr id="35" name="Rectangle 35"/>
            <p:cNvSpPr/>
            <p:nvPr/>
          </p:nvSpPr>
          <p:spPr>
            <a:xfrm>
              <a:off x="6229350" y="4152900"/>
              <a:ext cx="5429250" cy="2381250"/>
            </a:xfrm>
            <a:prstGeom prst="roundRect">
              <a:avLst>
                <a:gd name="adj" fmla="val 4800"/>
              </a:avLst>
            </a:prstGeom>
            <a:solidFill>
              <a:schemeClr val="accent5"/>
            </a:solidFill>
            <a:ln w="11430">
              <a:solidFill>
                <a:srgbClr val="1E3E5A"/>
              </a:solidFill>
            </a:ln>
          </p:spPr>
        </p:sp>
        <p:sp>
          <p:nvSpPr>
            <p:cNvPr id="36" name="Rectangle 36"/>
            <p:cNvSpPr/>
            <p:nvPr/>
          </p:nvSpPr>
          <p:spPr>
            <a:xfrm>
              <a:off x="6229350" y="4324350"/>
              <a:ext cx="47625" cy="285750"/>
            </a:xfrm>
            <a:prstGeom prst="roundRect">
              <a:avLst>
                <a:gd name="adj" fmla="val 50000"/>
              </a:avLst>
            </a:prstGeom>
            <a:solidFill>
              <a:srgbClr val="49C08A"/>
            </a:solidFill>
            <a:ln>
              <a:noFill/>
            </a:ln>
          </p:spPr>
        </p:sp>
        <p:sp>
          <p:nvSpPr>
            <p:cNvPr id="37" name="TextBox 37"/>
            <p:cNvSpPr txBox="1"/>
            <p:nvPr/>
          </p:nvSpPr>
          <p:spPr>
            <a:xfrm>
              <a:off x="6468999" y="4401979"/>
              <a:ext cx="1574936" cy="308039"/>
            </a:xfrm>
            <a:prstGeom prst="rect">
              <a:avLst/>
            </a:prstGeom>
            <a:noFill/>
            <a:ln>
              <a:noFill/>
            </a:ln>
          </p:spPr>
          <p:txBody>
            <a:bodyPr wrap="none" lIns="0" tIns="0" rIns="0" bIns="0" anchor="t" anchorCtr="0">
              <a:spAutoFit/>
            </a:bodyPr>
            <a:lstStyle/>
            <a:p>
              <a:pPr algn="l"/>
              <a:r>
                <a:rPr lang="en-US" sz="1580" b="1" dirty="0">
                  <a:solidFill>
                    <a:srgbClr val="EAF2FA"/>
                  </a:solidFill>
                  <a:latin typeface="+mn-lt"/>
                  <a:ea typeface="+mn-ea"/>
                  <a:cs typeface="+mn-cs"/>
                </a:rPr>
                <a:t>Robust overall</a:t>
              </a:r>
            </a:p>
          </p:txBody>
        </p:sp>
        <p:sp>
          <p:nvSpPr>
            <p:cNvPr id="38" name="TextBox 38"/>
            <p:cNvSpPr txBox="1"/>
            <p:nvPr/>
          </p:nvSpPr>
          <p:spPr>
            <a:xfrm>
              <a:off x="6470904" y="4785360"/>
              <a:ext cx="3708696"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Across tasks, conditioning on a horizon clearly</a:t>
              </a:r>
            </a:p>
          </p:txBody>
        </p:sp>
        <p:sp>
          <p:nvSpPr>
            <p:cNvPr id="39" name="TextBox 39"/>
            <p:cNvSpPr txBox="1"/>
            <p:nvPr/>
          </p:nvSpPr>
          <p:spPr>
            <a:xfrm>
              <a:off x="6470904" y="5013960"/>
              <a:ext cx="3574237"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beats leaving it out; trends are visualized as</a:t>
              </a:r>
            </a:p>
          </p:txBody>
        </p:sp>
        <p:sp>
          <p:nvSpPr>
            <p:cNvPr id="40" name="TextBox 40"/>
            <p:cNvSpPr txBox="1"/>
            <p:nvPr/>
          </p:nvSpPr>
          <p:spPr>
            <a:xfrm>
              <a:off x="6470904" y="5242560"/>
              <a:ext cx="3655009"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return heatmaps for expert and random data.</a:t>
              </a:r>
            </a:p>
          </p:txBody>
        </p:sp>
      </p:grpSp>
      <p:sp>
        <p:nvSpPr>
          <p:cNvPr id="42" name="TextBox 42"/>
          <p:cNvSpPr txBox="1"/>
          <p:nvPr/>
        </p:nvSpPr>
        <p:spPr>
          <a:xfrm>
            <a:off x="528447" y="6619399"/>
            <a:ext cx="7461565" cy="190690"/>
          </a:xfrm>
          <a:prstGeom prst="rect">
            <a:avLst/>
          </a:prstGeom>
          <a:noFill/>
          <a:ln>
            <a:noFill/>
          </a:ln>
        </p:spPr>
        <p:txBody>
          <a:bodyPr wrap="none" lIns="0" tIns="0" rIns="0" bIns="0" anchor="t" anchorCtr="0">
            <a:spAutoFit/>
          </a:bodyPr>
          <a:lstStyle/>
          <a:p>
            <a:pPr algn="l"/>
            <a:r>
              <a:rPr lang="en-US" sz="980" dirty="0">
                <a:solidFill>
                  <a:srgbClr val="6E869C"/>
                </a:solidFill>
                <a:latin typeface="+mn-lt"/>
                <a:ea typeface="+mn-ea"/>
                <a:cs typeface="+mn-cs"/>
              </a:rPr>
              <a:t>The hindsight relabeling ratio and the horizon are the two tuned knobs; conditioning on a horizon consistently wins.</a:t>
            </a:r>
          </a:p>
        </p:txBody>
      </p:sp>
      <p:sp>
        <p:nvSpPr>
          <p:cNvPr id="43" name="cue_s08_c1_authors_study_two_key_hyperparameter" title="cue_s08_c1_authors_study_two_key_hyperparameter" descr="cue_s08_c1_authors_study_two_key_hyperparameter The authors study two key hyperparameters: the hindsight relabeling ratio and the evaluation time horizon, which sets how far ahead the policy aims. Across all tasks, conditioning on a time horizon clearly beats leaving it out."/>
          <p:cNvSpPr/>
          <p:nvPr/>
        </p:nvSpPr>
        <p:spPr>
          <a:xfrm>
            <a:off x="532790" y="1599971"/>
            <a:ext cx="5429097"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8_c2_best_value_depends_task_easier" title="cue_s08_c2_best_value_depends_task_easier" descr="cue_s08_c2_best_value_depends_task_easier The best value depends on the task: easier tasks like PointReach do well with a short horizon of one or five steps, while harder tasks benefit from longer horizons because they need more steps to reach the goal."/>
          <p:cNvSpPr/>
          <p:nvPr/>
        </p:nvSpPr>
        <p:spPr>
          <a:xfrm>
            <a:off x="6228892" y="1599971"/>
            <a:ext cx="5429097"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8_c3_handreach_task_particularly_sensitiv" title="cue_s08_c3_handreach_task_particularly_sensitiv" descr="cue_s08_c3_handreach_task_particularly_sensitiv The HandReach task is particularly sensitive, working dramatically better with a horizon of one than with any longer setting."/>
          <p:cNvSpPr/>
          <p:nvPr/>
        </p:nvSpPr>
        <p:spPr>
          <a:xfrm>
            <a:off x="532790" y="4153204"/>
            <a:ext cx="5429097"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8_c4_these_trends_visualized_heatmaps_ret" title="cue_s08_c4_these_trends_visualized_heatmaps_ret" descr="cue_s08_c4_these_trends_visualized_heatmaps_ret These trends are visualized as heatmaps of returns across horizons for both expert and random datasets."/>
          <p:cNvSpPr/>
          <p:nvPr/>
        </p:nvSpPr>
        <p:spPr>
          <a:xfrm>
            <a:off x="6228892" y="4153204"/>
            <a:ext cx="5429097"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533400" y="495300"/>
            <a:ext cx="66675" cy="323850"/>
          </a:xfrm>
          <a:prstGeom prst="roundRect">
            <a:avLst>
              <a:gd name="adj" fmla="val 42857"/>
            </a:avLst>
          </a:prstGeom>
          <a:solidFill>
            <a:srgbClr val="2FB6A8"/>
          </a:solidFill>
          <a:ln>
            <a:noFill/>
          </a:ln>
        </p:spPr>
        <p:txBody>
          <a:bodyPr/>
          <a:p/>
        </p:txBody>
      </p:sp>
      <p:sp>
        <p:nvSpPr>
          <p:cNvPr id="3" name="TextBox 3"/>
          <p:cNvSpPr txBox="1"/>
          <p:nvPr/>
        </p:nvSpPr>
        <p:spPr>
          <a:xfrm>
            <a:off x="737235" y="507206"/>
            <a:ext cx="930244" cy="220028"/>
          </a:xfrm>
          <a:prstGeom prst="rect">
            <a:avLst/>
          </a:prstGeom>
          <a:noFill/>
          <a:ln>
            <a:noFill/>
          </a:ln>
        </p:spPr>
        <p:txBody>
          <a:bodyPr wrap="none" lIns="0" tIns="0" rIns="0" bIns="0" anchor="t" anchorCtr="0">
            <a:spAutoFit/>
          </a:bodyPr>
          <a:lstStyle/>
          <a:p>
            <a:pPr algn="l"/>
            <a:r>
              <a:rPr lang="en-US" sz="1120" b="1" spc="150" dirty="0">
                <a:solidFill>
                  <a:srgbClr val="2FB6A8"/>
                </a:solidFill>
                <a:latin typeface="+mn-lt"/>
                <a:ea typeface="+mn-ea"/>
                <a:cs typeface="+mn-cs"/>
              </a:rPr>
              <a:t>TAKEAWAY</a:t>
            </a:r>
          </a:p>
        </p:txBody>
      </p:sp>
      <p:sp>
        <p:nvSpPr>
          <p:cNvPr id="4" name="TextBox 4"/>
          <p:cNvSpPr txBox="1"/>
          <p:nvPr/>
        </p:nvSpPr>
        <p:spPr>
          <a:xfrm>
            <a:off x="729996" y="715328"/>
            <a:ext cx="1695687" cy="498729"/>
          </a:xfrm>
          <a:prstGeom prst="rect">
            <a:avLst/>
          </a:prstGeom>
          <a:noFill/>
          <a:ln>
            <a:noFill/>
          </a:ln>
        </p:spPr>
        <p:txBody>
          <a:bodyPr wrap="none" lIns="0" tIns="0" rIns="0" bIns="0" anchor="t" anchorCtr="0">
            <a:spAutoFit/>
          </a:bodyPr>
          <a:lstStyle/>
          <a:p>
            <a:pPr algn="l"/>
            <a:r>
              <a:rPr lang="en-US" sz="2550" b="1" dirty="0">
                <a:solidFill>
                  <a:srgbClr val="EAF2FA"/>
                </a:solidFill>
                <a:latin typeface="+mn-lt"/>
                <a:ea typeface="+mn-ea"/>
                <a:cs typeface="+mn-cs"/>
              </a:rPr>
              <a:t>Takeaway</a:t>
            </a:r>
          </a:p>
        </p:txBody>
      </p:sp>
      <p:sp>
        <p:nvSpPr>
          <p:cNvPr id="5" name="TextBox 5"/>
          <p:cNvSpPr txBox="1"/>
          <p:nvPr/>
        </p:nvSpPr>
        <p:spPr>
          <a:xfrm>
            <a:off x="10511409" y="754856"/>
            <a:ext cx="1152906" cy="220028"/>
          </a:xfrm>
          <a:prstGeom prst="rect">
            <a:avLst/>
          </a:prstGeom>
          <a:noFill/>
          <a:ln>
            <a:noFill/>
          </a:ln>
        </p:spPr>
        <p:txBody>
          <a:bodyPr wrap="none" lIns="0" tIns="0" rIns="0" bIns="0" anchor="t" anchorCtr="0">
            <a:spAutoFit/>
          </a:bodyPr>
          <a:lstStyle/>
          <a:p>
            <a:pPr algn="r"/>
            <a:r>
              <a:rPr lang="en-US" sz="1120" dirty="0">
                <a:solidFill>
                  <a:srgbClr val="9FB6CC"/>
                </a:solidFill>
                <a:latin typeface="+mn-lt"/>
                <a:ea typeface="+mn-ea"/>
                <a:cs typeface="+mn-cs"/>
              </a:rPr>
              <a:t>Merlin · 09 / 09</a:t>
            </a:r>
          </a:p>
        </p:txBody>
      </p:sp>
      <p:sp>
        <p:nvSpPr>
          <p:cNvPr id="6" name="Line 6"/>
          <p:cNvSpPr/>
          <p:nvPr/>
        </p:nvSpPr>
        <p:spPr>
          <a:xfrm>
            <a:off x="533400" y="1219200"/>
            <a:ext cx="11125200" cy="9525"/>
          </a:xfrm>
          <a:custGeom>
            <a:avLst/>
            <a:gdLst/>
            <a:ahLst/>
            <a:cxnLst/>
            <a:rect l="l" t="t" r="r" b="b"/>
            <a:pathLst>
              <a:path w="11125200" h="9525">
                <a:moveTo>
                  <a:pt x="0" y="0"/>
                </a:moveTo>
                <a:lnTo>
                  <a:pt x="11125200" y="0"/>
                </a:lnTo>
              </a:path>
            </a:pathLst>
          </a:custGeom>
          <a:noFill/>
          <a:ln w="9525">
            <a:solidFill>
              <a:srgbClr val="1E3E5A"/>
            </a:solidFill>
          </a:ln>
        </p:spPr>
        <p:txBody>
          <a:bodyPr/>
          <a:p/>
        </p:txBody>
      </p:sp>
      <p:grpSp>
        <p:nvGrpSpPr>
          <p:cNvPr id="16" name="Group 16"/>
          <p:cNvGrpSpPr/>
          <p:nvPr/>
        </p:nvGrpSpPr>
        <p:grpSpPr>
          <a:xfrm>
            <a:off x="533400" y="1695450"/>
            <a:ext cx="5429250" cy="3619500"/>
            <a:chOff x="533400" y="1695450"/>
            <a:chExt cx="5429250" cy="3619500"/>
          </a:xfrm>
        </p:grpSpPr>
        <p:sp>
          <p:nvSpPr>
            <p:cNvPr id="7" name="Rectangle 7"/>
            <p:cNvSpPr/>
            <p:nvPr/>
          </p:nvSpPr>
          <p:spPr>
            <a:xfrm>
              <a:off x="533400" y="1695450"/>
              <a:ext cx="5429250" cy="3619500"/>
            </a:xfrm>
            <a:prstGeom prst="roundRect">
              <a:avLst>
                <a:gd name="adj" fmla="val 3158"/>
              </a:avLst>
            </a:prstGeom>
            <a:solidFill>
              <a:schemeClr val="accent5"/>
            </a:solidFill>
            <a:ln w="11430">
              <a:solidFill>
                <a:srgbClr val="1E3E5A"/>
              </a:solidFill>
            </a:ln>
          </p:spPr>
        </p:sp>
        <p:sp>
          <p:nvSpPr>
            <p:cNvPr id="8" name="Rectangle 8"/>
            <p:cNvSpPr/>
            <p:nvPr/>
          </p:nvSpPr>
          <p:spPr>
            <a:xfrm>
              <a:off x="533400" y="1866900"/>
              <a:ext cx="47625" cy="285750"/>
            </a:xfrm>
            <a:prstGeom prst="roundRect">
              <a:avLst>
                <a:gd name="adj" fmla="val 50000"/>
              </a:avLst>
            </a:prstGeom>
            <a:solidFill>
              <a:srgbClr val="2FB6A8"/>
            </a:solidFill>
            <a:ln>
              <a:noFill/>
            </a:ln>
          </p:spPr>
        </p:sp>
        <p:sp>
          <p:nvSpPr>
            <p:cNvPr id="9" name="TextBox 9"/>
            <p:cNvSpPr txBox="1"/>
            <p:nvPr/>
          </p:nvSpPr>
          <p:spPr>
            <a:xfrm>
              <a:off x="774192" y="2006918"/>
              <a:ext cx="1088378" cy="264033"/>
            </a:xfrm>
            <a:prstGeom prst="rect">
              <a:avLst/>
            </a:prstGeom>
            <a:noFill/>
            <a:ln>
              <a:noFill/>
            </a:ln>
          </p:spPr>
          <p:txBody>
            <a:bodyPr wrap="none" lIns="0" tIns="0" rIns="0" bIns="0" anchor="t" anchorCtr="0">
              <a:spAutoFit/>
            </a:bodyPr>
            <a:lstStyle/>
            <a:p>
              <a:pPr algn="l"/>
              <a:r>
                <a:rPr lang="en-US" sz="1350" b="1" dirty="0">
                  <a:solidFill>
                    <a:srgbClr val="2FB6A8"/>
                  </a:solidFill>
                  <a:latin typeface="+mn-lt"/>
                  <a:ea typeface="+mn-ea"/>
                  <a:cs typeface="+mn-cs"/>
                </a:rPr>
                <a:t>The one line</a:t>
              </a:r>
            </a:p>
          </p:txBody>
        </p:sp>
        <p:sp>
          <p:nvSpPr>
            <p:cNvPr id="10" name="TextBox 10"/>
            <p:cNvSpPr txBox="1"/>
            <p:nvPr/>
          </p:nvSpPr>
          <p:spPr>
            <a:xfrm>
              <a:off x="773430" y="2428875"/>
              <a:ext cx="3498618" cy="293370"/>
            </a:xfrm>
            <a:prstGeom prst="rect">
              <a:avLst/>
            </a:prstGeom>
            <a:noFill/>
            <a:ln>
              <a:noFill/>
            </a:ln>
          </p:spPr>
          <p:txBody>
            <a:bodyPr wrap="none" lIns="0" tIns="0" rIns="0" bIns="0" anchor="t" anchorCtr="0">
              <a:spAutoFit/>
            </a:bodyPr>
            <a:lstStyle/>
            <a:p>
              <a:pPr algn="l"/>
              <a:r>
                <a:rPr lang="en-US" sz="1500" dirty="0">
                  <a:solidFill>
                    <a:srgbClr val="EAF2FA"/>
                  </a:solidFill>
                  <a:latin typeface="+mn-lt"/>
                  <a:ea typeface="+mn-ea"/>
                  <a:cs typeface="+mn-cs"/>
                </a:rPr>
                <a:t>Reframe goal-conditioned RL as the</a:t>
              </a:r>
            </a:p>
          </p:txBody>
        </p:sp>
        <p:sp>
          <p:nvSpPr>
            <p:cNvPr id="11" name="TextBox 11"/>
            <p:cNvSpPr txBox="1"/>
            <p:nvPr/>
          </p:nvSpPr>
          <p:spPr>
            <a:xfrm>
              <a:off x="773430" y="2724150"/>
              <a:ext cx="3609594" cy="293370"/>
            </a:xfrm>
            <a:prstGeom prst="rect">
              <a:avLst/>
            </a:prstGeom>
            <a:noFill/>
            <a:ln>
              <a:noFill/>
            </a:ln>
          </p:spPr>
          <p:txBody>
            <a:bodyPr wrap="none" lIns="0" tIns="0" rIns="0" bIns="0" anchor="t" anchorCtr="0">
              <a:spAutoFit/>
            </a:bodyPr>
            <a:lstStyle/>
            <a:p>
              <a:pPr algn="l"/>
              <a:r>
                <a:rPr lang="en-US" sz="1500" dirty="0">
                  <a:solidFill>
                    <a:srgbClr val="EAF2FA"/>
                  </a:solidFill>
                  <a:latin typeface="+mn-lt"/>
                  <a:ea typeface="+mn-ea"/>
                  <a:cs typeface="+mn-cs"/>
                </a:rPr>
                <a:t>reverse of a diffusion process — and</a:t>
              </a:r>
            </a:p>
          </p:txBody>
        </p:sp>
        <p:sp>
          <p:nvSpPr>
            <p:cNvPr id="12" name="TextBox 12"/>
            <p:cNvSpPr txBox="1"/>
            <p:nvPr/>
          </p:nvSpPr>
          <p:spPr>
            <a:xfrm>
              <a:off x="773430" y="3019425"/>
              <a:ext cx="4174998" cy="293370"/>
            </a:xfrm>
            <a:prstGeom prst="rect">
              <a:avLst/>
            </a:prstGeom>
            <a:noFill/>
            <a:ln>
              <a:noFill/>
            </a:ln>
          </p:spPr>
          <p:txBody>
            <a:bodyPr wrap="none" lIns="0" tIns="0" rIns="0" bIns="0" anchor="t" anchorCtr="0">
              <a:spAutoFit/>
            </a:bodyPr>
            <a:lstStyle/>
            <a:p>
              <a:pPr algn="l"/>
              <a:r>
                <a:rPr lang="en-US" sz="1500" dirty="0">
                  <a:solidFill>
                    <a:srgbClr val="EAF2FA"/>
                  </a:solidFill>
                  <a:latin typeface="+mn-lt"/>
                  <a:ea typeface="+mn-ea"/>
                  <a:cs typeface="+mn-cs"/>
                </a:rPr>
                <a:t>goal-reaching becomes remarkably simple.</a:t>
              </a:r>
            </a:p>
          </p:txBody>
        </p:sp>
        <p:sp>
          <p:nvSpPr>
            <p:cNvPr id="13" name="TextBox 13"/>
            <p:cNvSpPr txBox="1"/>
            <p:nvPr/>
          </p:nvSpPr>
          <p:spPr>
            <a:xfrm>
              <a:off x="774954" y="3966210"/>
              <a:ext cx="3523060"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Construct trajectories that walk away from</a:t>
              </a:r>
            </a:p>
          </p:txBody>
        </p:sp>
        <p:sp>
          <p:nvSpPr>
            <p:cNvPr id="14" name="TextBox 14"/>
            <p:cNvSpPr txBox="1"/>
            <p:nvPr/>
          </p:nvSpPr>
          <p:spPr>
            <a:xfrm>
              <a:off x="774954" y="4204335"/>
              <a:ext cx="3493465"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goals, learn to reverse them, and the whole</a:t>
              </a:r>
            </a:p>
          </p:txBody>
        </p:sp>
        <p:sp>
          <p:nvSpPr>
            <p:cNvPr id="15" name="TextBox 15"/>
            <p:cNvSpPr txBox="1"/>
            <p:nvPr/>
          </p:nvSpPr>
          <p:spPr>
            <a:xfrm>
              <a:off x="774954" y="4442460"/>
              <a:ext cx="3016910" cy="234696"/>
            </a:xfrm>
            <a:prstGeom prst="rect">
              <a:avLst/>
            </a:prstGeom>
            <a:noFill/>
            <a:ln>
              <a:noFill/>
            </a:ln>
          </p:spPr>
          <p:txBody>
            <a:bodyPr wrap="none" lIns="0" tIns="0" rIns="0" bIns="0" anchor="t" anchorCtr="0">
              <a:spAutoFit/>
            </a:bodyPr>
            <a:lstStyle/>
            <a:p>
              <a:pPr algn="l"/>
              <a:r>
                <a:rPr lang="en-US" sz="1200" dirty="0">
                  <a:solidFill>
                    <a:srgbClr val="9FB6CC"/>
                  </a:solidFill>
                  <a:latin typeface="+mn-lt"/>
                  <a:ea typeface="+mn-ea"/>
                  <a:cs typeface="+mn-cs"/>
                </a:rPr>
                <a:t>problem collapses to behavior cloning.</a:t>
              </a:r>
            </a:p>
          </p:txBody>
        </p:sp>
      </p:grpSp>
      <p:grpSp>
        <p:nvGrpSpPr>
          <p:cNvPr id="23" name="Group 23"/>
          <p:cNvGrpSpPr/>
          <p:nvPr/>
        </p:nvGrpSpPr>
        <p:grpSpPr>
          <a:xfrm>
            <a:off x="6229350" y="1847850"/>
            <a:ext cx="5429250" cy="1066800"/>
            <a:chOff x="6229350" y="1847850"/>
            <a:chExt cx="5429250" cy="1066800"/>
          </a:xfrm>
        </p:grpSpPr>
        <p:sp>
          <p:nvSpPr>
            <p:cNvPr id="17" name="Rectangle 17"/>
            <p:cNvSpPr/>
            <p:nvPr/>
          </p:nvSpPr>
          <p:spPr>
            <a:xfrm>
              <a:off x="6229350" y="1847850"/>
              <a:ext cx="5429250" cy="1066800"/>
            </a:xfrm>
            <a:prstGeom prst="roundRect">
              <a:avLst>
                <a:gd name="adj" fmla="val 8929"/>
              </a:avLst>
            </a:prstGeom>
            <a:solidFill>
              <a:schemeClr val="accent5"/>
            </a:solidFill>
            <a:ln w="9525">
              <a:solidFill>
                <a:srgbClr val="1E3E5A"/>
              </a:solidFill>
            </a:ln>
          </p:spPr>
        </p:sp>
        <p:sp>
          <p:nvSpPr>
            <p:cNvPr id="18" name="Rectangle 18"/>
            <p:cNvSpPr/>
            <p:nvPr/>
          </p:nvSpPr>
          <p:spPr>
            <a:xfrm>
              <a:off x="6229350" y="2000250"/>
              <a:ext cx="47625" cy="285750"/>
            </a:xfrm>
            <a:prstGeom prst="roundRect">
              <a:avLst>
                <a:gd name="adj" fmla="val 50000"/>
              </a:avLst>
            </a:prstGeom>
            <a:solidFill>
              <a:srgbClr val="49C08A"/>
            </a:solidFill>
            <a:ln>
              <a:noFill/>
            </a:ln>
          </p:spPr>
        </p:sp>
        <p:sp>
          <p:nvSpPr>
            <p:cNvPr id="19" name="TextBox 19"/>
            <p:cNvSpPr txBox="1"/>
            <p:nvPr/>
          </p:nvSpPr>
          <p:spPr>
            <a:xfrm>
              <a:off x="6470142" y="1968818"/>
              <a:ext cx="1613108" cy="264033"/>
            </a:xfrm>
            <a:prstGeom prst="rect">
              <a:avLst/>
            </a:prstGeom>
            <a:noFill/>
            <a:ln>
              <a:noFill/>
            </a:ln>
          </p:spPr>
          <p:txBody>
            <a:bodyPr wrap="none" lIns="0" tIns="0" rIns="0" bIns="0" anchor="t" anchorCtr="0">
              <a:spAutoFit/>
            </a:bodyPr>
            <a:lstStyle/>
            <a:p>
              <a:pPr algn="l"/>
              <a:r>
                <a:rPr lang="en-US" sz="1350" b="1" dirty="0">
                  <a:solidFill>
                    <a:srgbClr val="EAF2FA"/>
                  </a:solidFill>
                  <a:latin typeface="+mn-lt"/>
                  <a:ea typeface="+mn-ea"/>
                  <a:cs typeface="+mn-cs"/>
                </a:rPr>
                <a:t>No value function</a:t>
              </a:r>
            </a:p>
          </p:txBody>
        </p:sp>
        <p:sp>
          <p:nvSpPr>
            <p:cNvPr id="20" name="TextBox 20"/>
            <p:cNvSpPr txBox="1"/>
            <p:nvPr/>
          </p:nvSpPr>
          <p:spPr>
            <a:xfrm>
              <a:off x="6471285" y="2259806"/>
              <a:ext cx="3408655" cy="220028"/>
            </a:xfrm>
            <a:prstGeom prst="rect">
              <a:avLst/>
            </a:prstGeom>
            <a:noFill/>
            <a:ln>
              <a:noFill/>
            </a:ln>
          </p:spPr>
          <p:txBody>
            <a:bodyPr wrap="none" lIns="0" tIns="0" rIns="0" bIns="0" anchor="t" anchorCtr="0">
              <a:spAutoFit/>
            </a:bodyPr>
            <a:lstStyle/>
            <a:p>
              <a:pPr algn="l"/>
              <a:r>
                <a:rPr lang="en-US" sz="1120" dirty="0">
                  <a:solidFill>
                    <a:srgbClr val="9FB6CC"/>
                  </a:solidFill>
                  <a:latin typeface="+mn-lt"/>
                  <a:ea typeface="+mn-ea"/>
                  <a:cs typeface="+mn-cs"/>
                </a:rPr>
                <a:t>Merlin reduces goal-reaching to plain behavior</a:t>
              </a:r>
            </a:p>
          </p:txBody>
        </p:sp>
        <p:sp>
          <p:nvSpPr>
            <p:cNvPr id="21" name="TextBox 21"/>
            <p:cNvSpPr txBox="1"/>
            <p:nvPr/>
          </p:nvSpPr>
          <p:spPr>
            <a:xfrm>
              <a:off x="6471285" y="2469356"/>
              <a:ext cx="3456625" cy="220028"/>
            </a:xfrm>
            <a:prstGeom prst="rect">
              <a:avLst/>
            </a:prstGeom>
            <a:noFill/>
            <a:ln>
              <a:noFill/>
            </a:ln>
          </p:spPr>
          <p:txBody>
            <a:bodyPr wrap="none" lIns="0" tIns="0" rIns="0" bIns="0" anchor="t" anchorCtr="0">
              <a:spAutoFit/>
            </a:bodyPr>
            <a:lstStyle/>
            <a:p>
              <a:pPr algn="l"/>
              <a:r>
                <a:rPr lang="en-US" sz="1120" dirty="0">
                  <a:solidFill>
                    <a:srgbClr val="9FB6CC"/>
                  </a:solidFill>
                  <a:latin typeface="+mn-lt"/>
                  <a:ea typeface="+mn-ea"/>
                  <a:cs typeface="+mn-cs"/>
                </a:rPr>
                <a:t>cloning — nothing to estimate, no instability to</a:t>
              </a:r>
            </a:p>
          </p:txBody>
        </p:sp>
        <p:sp>
          <p:nvSpPr>
            <p:cNvPr id="22" name="TextBox 22"/>
            <p:cNvSpPr txBox="1"/>
            <p:nvPr/>
          </p:nvSpPr>
          <p:spPr>
            <a:xfrm>
              <a:off x="6471285" y="2678906"/>
              <a:ext cx="471292" cy="220028"/>
            </a:xfrm>
            <a:prstGeom prst="rect">
              <a:avLst/>
            </a:prstGeom>
            <a:noFill/>
            <a:ln>
              <a:noFill/>
            </a:ln>
          </p:spPr>
          <p:txBody>
            <a:bodyPr wrap="none" lIns="0" tIns="0" rIns="0" bIns="0" anchor="t" anchorCtr="0">
              <a:spAutoFit/>
            </a:bodyPr>
            <a:lstStyle/>
            <a:p>
              <a:pPr algn="l"/>
              <a:r>
                <a:rPr lang="en-US" sz="1120" dirty="0">
                  <a:solidFill>
                    <a:srgbClr val="9FB6CC"/>
                  </a:solidFill>
                  <a:latin typeface="+mn-lt"/>
                  <a:ea typeface="+mn-ea"/>
                  <a:cs typeface="+mn-cs"/>
                </a:rPr>
                <a:t>fight.</a:t>
              </a:r>
            </a:p>
          </p:txBody>
        </p:sp>
      </p:grpSp>
      <p:grpSp>
        <p:nvGrpSpPr>
          <p:cNvPr id="30" name="Group 30"/>
          <p:cNvGrpSpPr/>
          <p:nvPr/>
        </p:nvGrpSpPr>
        <p:grpSpPr>
          <a:xfrm>
            <a:off x="6229350" y="3067050"/>
            <a:ext cx="5429250" cy="1066800"/>
            <a:chOff x="6229350" y="3067050"/>
            <a:chExt cx="5429250" cy="1066800"/>
          </a:xfrm>
        </p:grpSpPr>
        <p:sp>
          <p:nvSpPr>
            <p:cNvPr id="24" name="Rectangle 24"/>
            <p:cNvSpPr/>
            <p:nvPr/>
          </p:nvSpPr>
          <p:spPr>
            <a:xfrm>
              <a:off x="6229350" y="3067050"/>
              <a:ext cx="5429250" cy="1066800"/>
            </a:xfrm>
            <a:prstGeom prst="roundRect">
              <a:avLst>
                <a:gd name="adj" fmla="val 8929"/>
              </a:avLst>
            </a:prstGeom>
            <a:solidFill>
              <a:schemeClr val="accent5"/>
            </a:solidFill>
            <a:ln w="9525">
              <a:solidFill>
                <a:srgbClr val="1E3E5A"/>
              </a:solidFill>
            </a:ln>
          </p:spPr>
        </p:sp>
        <p:sp>
          <p:nvSpPr>
            <p:cNvPr id="25" name="Rectangle 25"/>
            <p:cNvSpPr/>
            <p:nvPr/>
          </p:nvSpPr>
          <p:spPr>
            <a:xfrm>
              <a:off x="6229350" y="3219450"/>
              <a:ext cx="47625" cy="285750"/>
            </a:xfrm>
            <a:prstGeom prst="roundRect">
              <a:avLst>
                <a:gd name="adj" fmla="val 50000"/>
              </a:avLst>
            </a:prstGeom>
            <a:solidFill>
              <a:srgbClr val="4C86F0"/>
            </a:solidFill>
            <a:ln>
              <a:noFill/>
            </a:ln>
          </p:spPr>
        </p:sp>
        <p:sp>
          <p:nvSpPr>
            <p:cNvPr id="26" name="TextBox 26"/>
            <p:cNvSpPr txBox="1"/>
            <p:nvPr/>
          </p:nvSpPr>
          <p:spPr>
            <a:xfrm>
              <a:off x="6470142" y="3188018"/>
              <a:ext cx="2184547" cy="264033"/>
            </a:xfrm>
            <a:prstGeom prst="rect">
              <a:avLst/>
            </a:prstGeom>
            <a:noFill/>
            <a:ln>
              <a:noFill/>
            </a:ln>
          </p:spPr>
          <p:txBody>
            <a:bodyPr wrap="none" lIns="0" tIns="0" rIns="0" bIns="0" anchor="t" anchorCtr="0">
              <a:spAutoFit/>
            </a:bodyPr>
            <a:lstStyle/>
            <a:p>
              <a:pPr algn="l"/>
              <a:r>
                <a:rPr lang="en-US" sz="1350" b="1" dirty="0">
                  <a:solidFill>
                    <a:srgbClr val="EAF2FA"/>
                  </a:solidFill>
                  <a:latin typeface="+mn-lt"/>
                  <a:ea typeface="+mn-ea"/>
                  <a:cs typeface="+mn-cs"/>
                </a:rPr>
                <a:t>Matches or beats SOTA</a:t>
              </a:r>
            </a:p>
          </p:txBody>
        </p:sp>
        <p:sp>
          <p:nvSpPr>
            <p:cNvPr id="27" name="TextBox 27"/>
            <p:cNvSpPr txBox="1"/>
            <p:nvPr/>
          </p:nvSpPr>
          <p:spPr>
            <a:xfrm>
              <a:off x="6471285" y="3479006"/>
              <a:ext cx="4004788" cy="220028"/>
            </a:xfrm>
            <a:prstGeom prst="rect">
              <a:avLst/>
            </a:prstGeom>
            <a:noFill/>
            <a:ln>
              <a:noFill/>
            </a:ln>
          </p:spPr>
          <p:txBody>
            <a:bodyPr wrap="none" lIns="0" tIns="0" rIns="0" bIns="0" anchor="t" anchorCtr="0">
              <a:spAutoFit/>
            </a:bodyPr>
            <a:lstStyle/>
            <a:p>
              <a:pPr algn="l"/>
              <a:r>
                <a:rPr lang="en-US" sz="1120" dirty="0">
                  <a:solidFill>
                    <a:srgbClr val="9FB6CC"/>
                  </a:solidFill>
                  <a:latin typeface="+mn-lt"/>
                  <a:ea typeface="+mn-ea"/>
                  <a:cs typeface="+mn-cs"/>
                </a:rPr>
                <a:t>Competitive with state-of-the-art across ten tasks,</a:t>
              </a:r>
            </a:p>
          </p:txBody>
        </p:sp>
        <p:sp>
          <p:nvSpPr>
            <p:cNvPr id="28" name="TextBox 28"/>
            <p:cNvSpPr txBox="1"/>
            <p:nvPr/>
          </p:nvSpPr>
          <p:spPr>
            <a:xfrm>
              <a:off x="6471285" y="3688556"/>
              <a:ext cx="3305851" cy="220028"/>
            </a:xfrm>
            <a:prstGeom prst="rect">
              <a:avLst/>
            </a:prstGeom>
            <a:noFill/>
            <a:ln>
              <a:noFill/>
            </a:ln>
          </p:spPr>
          <p:txBody>
            <a:bodyPr wrap="none" lIns="0" tIns="0" rIns="0" bIns="0" anchor="t" anchorCtr="0">
              <a:spAutoFit/>
            </a:bodyPr>
            <a:lstStyle/>
            <a:p>
              <a:pPr algn="l"/>
              <a:r>
                <a:rPr lang="en-US" sz="1120" dirty="0">
                  <a:solidFill>
                    <a:srgbClr val="9FB6CC"/>
                  </a:solidFill>
                  <a:latin typeface="+mn-lt"/>
                  <a:ea typeface="+mn-ea"/>
                  <a:cs typeface="+mn-cs"/>
                </a:rPr>
                <a:t>yet an order of magnitude faster than other</a:t>
              </a:r>
            </a:p>
          </p:txBody>
        </p:sp>
        <p:sp>
          <p:nvSpPr>
            <p:cNvPr id="29" name="TextBox 29"/>
            <p:cNvSpPr txBox="1"/>
            <p:nvPr/>
          </p:nvSpPr>
          <p:spPr>
            <a:xfrm>
              <a:off x="6471285" y="3898106"/>
              <a:ext cx="1421171" cy="220028"/>
            </a:xfrm>
            <a:prstGeom prst="rect">
              <a:avLst/>
            </a:prstGeom>
            <a:noFill/>
            <a:ln>
              <a:noFill/>
            </a:ln>
          </p:spPr>
          <p:txBody>
            <a:bodyPr wrap="none" lIns="0" tIns="0" rIns="0" bIns="0" anchor="t" anchorCtr="0">
              <a:spAutoFit/>
            </a:bodyPr>
            <a:lstStyle/>
            <a:p>
              <a:pPr algn="l"/>
              <a:r>
                <a:rPr lang="en-US" sz="1120" dirty="0">
                  <a:solidFill>
                    <a:srgbClr val="9FB6CC"/>
                  </a:solidFill>
                  <a:latin typeface="+mn-lt"/>
                  <a:ea typeface="+mn-ea"/>
                  <a:cs typeface="+mn-cs"/>
                </a:rPr>
                <a:t>diffusion methods.</a:t>
              </a:r>
            </a:p>
          </p:txBody>
        </p:sp>
      </p:grpSp>
      <p:grpSp>
        <p:nvGrpSpPr>
          <p:cNvPr id="36" name="Group 36"/>
          <p:cNvGrpSpPr/>
          <p:nvPr/>
        </p:nvGrpSpPr>
        <p:grpSpPr>
          <a:xfrm>
            <a:off x="6229350" y="4286250"/>
            <a:ext cx="5429250" cy="1066800"/>
            <a:chOff x="6229350" y="4286250"/>
            <a:chExt cx="5429250" cy="1066800"/>
          </a:xfrm>
        </p:grpSpPr>
        <p:sp>
          <p:nvSpPr>
            <p:cNvPr id="31" name="Rectangle 31"/>
            <p:cNvSpPr/>
            <p:nvPr/>
          </p:nvSpPr>
          <p:spPr>
            <a:xfrm>
              <a:off x="6229350" y="4286250"/>
              <a:ext cx="5429250" cy="1066800"/>
            </a:xfrm>
            <a:prstGeom prst="roundRect">
              <a:avLst>
                <a:gd name="adj" fmla="val 8929"/>
              </a:avLst>
            </a:prstGeom>
            <a:solidFill>
              <a:schemeClr val="accent5"/>
            </a:solidFill>
            <a:ln w="9525">
              <a:solidFill>
                <a:srgbClr val="1E3E5A"/>
              </a:solidFill>
            </a:ln>
          </p:spPr>
        </p:sp>
        <p:sp>
          <p:nvSpPr>
            <p:cNvPr id="32" name="Rectangle 32"/>
            <p:cNvSpPr/>
            <p:nvPr/>
          </p:nvSpPr>
          <p:spPr>
            <a:xfrm>
              <a:off x="6229350" y="4438650"/>
              <a:ext cx="47625" cy="285750"/>
            </a:xfrm>
            <a:prstGeom prst="roundRect">
              <a:avLst>
                <a:gd name="adj" fmla="val 50000"/>
              </a:avLst>
            </a:prstGeom>
            <a:solidFill>
              <a:srgbClr val="E0A93B"/>
            </a:solidFill>
            <a:ln>
              <a:noFill/>
            </a:ln>
          </p:spPr>
        </p:sp>
        <p:sp>
          <p:nvSpPr>
            <p:cNvPr id="33" name="TextBox 33"/>
            <p:cNvSpPr txBox="1"/>
            <p:nvPr/>
          </p:nvSpPr>
          <p:spPr>
            <a:xfrm>
              <a:off x="6470142" y="4407218"/>
              <a:ext cx="1441544" cy="264033"/>
            </a:xfrm>
            <a:prstGeom prst="rect">
              <a:avLst/>
            </a:prstGeom>
            <a:noFill/>
            <a:ln>
              <a:noFill/>
            </a:ln>
          </p:spPr>
          <p:txBody>
            <a:bodyPr wrap="none" lIns="0" tIns="0" rIns="0" bIns="0" anchor="t" anchorCtr="0">
              <a:spAutoFit/>
            </a:bodyPr>
            <a:lstStyle/>
            <a:p>
              <a:pPr algn="l"/>
              <a:r>
                <a:rPr lang="en-US" sz="1350" b="1" dirty="0">
                  <a:solidFill>
                    <a:srgbClr val="EAF2FA"/>
                  </a:solidFill>
                  <a:latin typeface="+mn-lt"/>
                  <a:ea typeface="+mn-ea"/>
                  <a:cs typeface="+mn-cs"/>
                </a:rPr>
                <a:t>A new direction</a:t>
              </a:r>
            </a:p>
          </p:txBody>
        </p:sp>
        <p:sp>
          <p:nvSpPr>
            <p:cNvPr id="34" name="TextBox 34"/>
            <p:cNvSpPr txBox="1"/>
            <p:nvPr/>
          </p:nvSpPr>
          <p:spPr>
            <a:xfrm>
              <a:off x="6471285" y="4698206"/>
              <a:ext cx="3672757" cy="220028"/>
            </a:xfrm>
            <a:prstGeom prst="rect">
              <a:avLst/>
            </a:prstGeom>
            <a:noFill/>
            <a:ln>
              <a:noFill/>
            </a:ln>
          </p:spPr>
          <p:txBody>
            <a:bodyPr wrap="none" lIns="0" tIns="0" rIns="0" bIns="0" anchor="t" anchorCtr="0">
              <a:spAutoFit/>
            </a:bodyPr>
            <a:lstStyle/>
            <a:p>
              <a:pPr algn="l"/>
              <a:r>
                <a:rPr lang="en-US" sz="1120" dirty="0">
                  <a:solidFill>
                    <a:srgbClr val="9FB6CC"/>
                  </a:solidFill>
                  <a:latin typeface="+mn-lt"/>
                  <a:ea typeface="+mn-ea"/>
                  <a:cs typeface="+mn-cs"/>
                </a:rPr>
                <a:t>Diffusion in the state space is a simple, scalable,</a:t>
              </a:r>
            </a:p>
          </p:txBody>
        </p:sp>
        <p:sp>
          <p:nvSpPr>
            <p:cNvPr id="35" name="TextBox 35"/>
            <p:cNvSpPr txBox="1"/>
            <p:nvPr/>
          </p:nvSpPr>
          <p:spPr>
            <a:xfrm>
              <a:off x="6471285" y="4907756"/>
              <a:ext cx="3743096" cy="220028"/>
            </a:xfrm>
            <a:prstGeom prst="rect">
              <a:avLst/>
            </a:prstGeom>
            <a:noFill/>
            <a:ln>
              <a:noFill/>
            </a:ln>
          </p:spPr>
          <p:txBody>
            <a:bodyPr wrap="none" lIns="0" tIns="0" rIns="0" bIns="0" anchor="t" anchorCtr="0">
              <a:spAutoFit/>
            </a:bodyPr>
            <a:lstStyle/>
            <a:p>
              <a:pPr algn="l"/>
              <a:r>
                <a:rPr lang="en-US" sz="1120" dirty="0">
                  <a:solidFill>
                    <a:srgbClr val="9FB6CC"/>
                  </a:solidFill>
                  <a:latin typeface="+mn-lt"/>
                  <a:ea typeface="+mn-ea"/>
                  <a:cs typeface="+mn-cs"/>
                </a:rPr>
                <a:t>practical direction for sequential decision making.</a:t>
              </a:r>
            </a:p>
          </p:txBody>
        </p:sp>
      </p:grpSp>
      <p:sp>
        <p:nvSpPr>
          <p:cNvPr id="37" name="TextBox 37"/>
          <p:cNvSpPr txBox="1"/>
          <p:nvPr/>
        </p:nvSpPr>
        <p:spPr>
          <a:xfrm>
            <a:off x="528447" y="6619399"/>
            <a:ext cx="7626643" cy="190690"/>
          </a:xfrm>
          <a:prstGeom prst="rect">
            <a:avLst/>
          </a:prstGeom>
          <a:noFill/>
          <a:ln>
            <a:noFill/>
          </a:ln>
        </p:spPr>
        <p:txBody>
          <a:bodyPr wrap="none" lIns="0" tIns="0" rIns="0" bIns="0" anchor="t" anchorCtr="0">
            <a:spAutoFit/>
          </a:bodyPr>
          <a:lstStyle/>
          <a:p>
            <a:pPr algn="l"/>
            <a:r>
              <a:rPr lang="en-US" sz="980" dirty="0">
                <a:solidFill>
                  <a:srgbClr val="6E869C"/>
                </a:solidFill>
                <a:latin typeface="+mn-lt"/>
                <a:ea typeface="+mn-ea"/>
                <a:cs typeface="+mn-cs"/>
              </a:rPr>
              <a:t>Merlin — Learning to Reach Goals via Diffusion · ICML 2024 · value-free, single-step, state-space diffusion for GCRL.</a:t>
            </a:r>
          </a:p>
        </p:txBody>
      </p:sp>
      <p:sp>
        <p:nvSpPr>
          <p:cNvPr id="38" name="cue_s09_c1_big_takeaway_goal_conditioned_reinfo" title="cue_s09_c1_big_takeaway_goal_conditioned_reinfo" descr="cue_s09_c1_big_takeaway_goal_conditioned_reinfo The big takeaway is that goal-conditioned reinforcement learning can be reframed as the reverse of a diffusion process, and that this reframing makes the problem remarkably simple."/>
          <p:cNvSpPr/>
          <p:nvPr/>
        </p:nvSpPr>
        <p:spPr>
          <a:xfrm>
            <a:off x="532790" y="1695297"/>
            <a:ext cx="5429097" cy="36196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9_c2_constructing_trajectories_walk_away" title="cue_s09_c2_constructing_trajectories_walk_away" descr="cue_s09_c2_constructing_trajectories_walk_away By constructing trajectories that walk away from goals and learning to reverse them, Merlin reduces goal-reaching to plain behavior cloning, with no value function to estimate and no instability to fight."/>
          <p:cNvSpPr/>
          <p:nvPr/>
        </p:nvSpPr>
        <p:spPr>
          <a:xfrm>
            <a:off x="6228892" y="1847545"/>
            <a:ext cx="5429097" cy="10671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9_c3_matches_beats_state_of_the_art_metho" title="cue_s09_c3_matches_beats_state_of_the_art_metho" descr="cue_s09_c3_matches_beats_state_of_the_art_metho It matches or beats state-of-the-art methods across ten tasks, yet runs an order of magnitude faster than other diffusion-based approaches."/>
          <p:cNvSpPr/>
          <p:nvPr/>
        </p:nvSpPr>
        <p:spPr>
          <a:xfrm>
            <a:off x="6228892" y="3066897"/>
            <a:ext cx="5429097" cy="10671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9_c4_suggests_diffusion_state_space_simpl" title="cue_s09_c4_suggests_diffusion_state_space_simpl" descr="cue_s09_c4_suggests_diffusion_state_space_simpl This suggests that diffusion in the state space is a simple, scalable, and practical new direction for sequential decision making."/>
          <p:cNvSpPr/>
          <p:nvPr/>
        </p:nvSpPr>
        <p:spPr>
          <a:xfrm>
            <a:off x="6228892" y="4286250"/>
            <a:ext cx="5429097" cy="10671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ck">
  <a:themeElements>
    <a:clrScheme name="deck">
      <a:dk1>
        <a:srgbClr val="000000"/>
      </a:dk1>
      <a:lt1>
        <a:srgbClr val="0B1B2B"/>
      </a:lt1>
      <a:dk2>
        <a:srgbClr val="1F497D"/>
      </a:dk2>
      <a:lt2>
        <a:srgbClr val="0B1B2B"/>
      </a:lt2>
      <a:accent1>
        <a:srgbClr val="4F81BD"/>
      </a:accent1>
      <a:accent2>
        <a:srgbClr val="C0504D"/>
      </a:accent2>
      <a:accent3>
        <a:srgbClr val="9BBB59"/>
      </a:accent3>
      <a:accent4>
        <a:srgbClr val="8064A2"/>
      </a:accent4>
      <a:accent5>
        <a:srgbClr val="122A40"/>
      </a:accent5>
      <a:accent6>
        <a:srgbClr val="0F2236"/>
      </a:accent6>
      <a:hlink>
        <a:srgbClr val="0000FF"/>
      </a:hlink>
      <a:folHlink>
        <a:srgbClr val="800080"/>
      </a:folHlink>
    </a:clrScheme>
    <a:fontScheme name="deck">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9</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2026-07-16T07:54:14Z</dcterms:created>
  <dcterms:modified xsi:type="dcterms:W3CDTF">2026-07-16T07:54:14Z</dcterms:modified>
  <cp:category/>
  <cp:contentStatus/>
</cp:coreProperties>
</file>
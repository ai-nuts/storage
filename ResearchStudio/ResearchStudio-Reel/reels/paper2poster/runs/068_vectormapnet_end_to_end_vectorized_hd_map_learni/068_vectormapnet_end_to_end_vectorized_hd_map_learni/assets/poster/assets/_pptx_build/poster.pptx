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606284"/>
          </a:xfrm>
          <a:prstGeom prst="roundRect">
            <a:avLst>
              <a:gd name="adj" fmla="val 4601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90181" y="1043047"/>
            <a:ext cx="5065077" cy="180161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4779625"/>
            <a:ext cx="16349682" cy="7105749"/>
          </a:xfrm>
          <a:prstGeom prst="roundRect">
            <a:avLst>
              <a:gd name="adj" fmla="val 233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428289" y="4779625"/>
            <a:ext cx="16349682" cy="18815824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04691" y="4779625"/>
            <a:ext cx="16349821" cy="17382172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2217221"/>
            <a:ext cx="16349682" cy="8146713"/>
          </a:xfrm>
          <a:prstGeom prst="roundRect">
            <a:avLst>
              <a:gd name="adj" fmla="val 2036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20695781"/>
            <a:ext cx="16349682" cy="9376171"/>
          </a:xfrm>
          <a:prstGeom prst="roundRect">
            <a:avLst>
              <a:gd name="adj" fmla="val 1769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4691" y="22493644"/>
            <a:ext cx="16349821" cy="7578308"/>
          </a:xfrm>
          <a:prstGeom prst="roundRect">
            <a:avLst>
              <a:gd name="adj" fmla="val 2189"/>
            </a:avLst>
          </a:prstGeom>
          <a:solidFill>
            <a:srgbClr val="F7EDEE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4691" y="22493644"/>
            <a:ext cx="53340" cy="7578308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428289" y="23927296"/>
            <a:ext cx="16349682" cy="6144656"/>
          </a:xfrm>
          <a:prstGeom prst="roundRect">
            <a:avLst>
              <a:gd name="adj" fmla="val 2700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4661" y="1185306"/>
            <a:ext cx="4496117" cy="151709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0777" y="4788515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437179" y="4788515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13581" y="4788515"/>
            <a:ext cx="16332041" cy="1180425"/>
          </a:xfrm>
          <a:prstGeom prst="roundRect">
            <a:avLst>
              <a:gd name="adj" fmla="val 14058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92795" y="6501645"/>
            <a:ext cx="15573613" cy="2702283"/>
          </a:xfrm>
          <a:prstGeom prst="roundRect">
            <a:avLst>
              <a:gd name="adj" fmla="val 2631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9991" y="8827214"/>
            <a:ext cx="15573474" cy="2672417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8827214"/>
            <a:ext cx="124460" cy="267241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777" y="12226111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816393" y="12571015"/>
            <a:ext cx="15573474" cy="3822700"/>
          </a:xfrm>
          <a:prstGeom prst="roundRect">
            <a:avLst>
              <a:gd name="adj" fmla="val 5893"/>
            </a:avLst>
          </a:prstGeom>
          <a:solidFill>
            <a:srgbClr val="F8F2F3"/>
          </a:solidFill>
          <a:ln w="8890">
            <a:solidFill>
              <a:srgbClr val="DB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592795" y="19888596"/>
            <a:ext cx="15573613" cy="1942188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0777" y="20704671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58031" y="22502534"/>
            <a:ext cx="16287591" cy="1180426"/>
          </a:xfrm>
          <a:prstGeom prst="roundRect">
            <a:avLst>
              <a:gd name="adj" fmla="val 14058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437179" y="23936186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637245" y="24096483"/>
            <a:ext cx="15529163" cy="2346822"/>
          </a:xfrm>
          <a:prstGeom prst="roundRect">
            <a:avLst>
              <a:gd name="adj" fmla="val 8889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9991" y="28039198"/>
            <a:ext cx="15573474" cy="1647984"/>
          </a:xfrm>
          <a:prstGeom prst="roundRect">
            <a:avLst>
              <a:gd name="adj" fmla="val 1265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anghai-qi-zhi-instit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697" y="3129149"/>
            <a:ext cx="4599880" cy="737853"/>
          </a:xfrm>
          <a:prstGeom prst="rect">
            <a:avLst/>
          </a:prstGeom>
        </p:spPr>
      </p:pic>
      <p:pic>
        <p:nvPicPr>
          <p:cNvPr id="28" name="Picture 27" descr="tsinghua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4551" y="3129147"/>
            <a:ext cx="2334876" cy="737857"/>
          </a:xfrm>
          <a:prstGeom prst="rect">
            <a:avLst/>
          </a:prstGeom>
        </p:spPr>
      </p:pic>
      <p:pic>
        <p:nvPicPr>
          <p:cNvPr id="29" name="Picture 28" descr="massachusetts-institute-of-technolo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6401" y="3129159"/>
            <a:ext cx="1385728" cy="737834"/>
          </a:xfrm>
          <a:prstGeom prst="rect">
            <a:avLst/>
          </a:prstGeom>
        </p:spPr>
      </p:pic>
      <p:pic>
        <p:nvPicPr>
          <p:cNvPr id="30" name="Picture 29" descr="li-au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9103" y="3129141"/>
            <a:ext cx="4796155" cy="73787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5087857" y="6723895"/>
            <a:ext cx="4832687" cy="230528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087857" y="6723895"/>
            <a:ext cx="11557" cy="2305289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529496" y="8983622"/>
            <a:ext cx="1473796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92795" y="9677320"/>
            <a:ext cx="15573613" cy="8994319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igur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92799" y="9677320"/>
            <a:ext cx="15573606" cy="8994319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039991" y="13731021"/>
            <a:ext cx="7267991" cy="2853274"/>
          </a:xfrm>
          <a:prstGeom prst="roundRect">
            <a:avLst>
              <a:gd name="adj" fmla="val 7311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45473" y="13731021"/>
            <a:ext cx="7267992" cy="2097068"/>
          </a:xfrm>
          <a:prstGeom prst="roundRect">
            <a:avLst>
              <a:gd name="adj" fmla="val 9948"/>
            </a:avLst>
          </a:prstGeom>
          <a:solidFill>
            <a:srgbClr val="F8F2F3"/>
          </a:solidFill>
          <a:ln w="889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7830284" y="17139781"/>
            <a:ext cx="15545554" cy="478809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igur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30406" y="17139781"/>
            <a:ext cx="15545309" cy="478809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39991" y="26154518"/>
            <a:ext cx="5017293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18011" y="26154518"/>
            <a:ext cx="5017433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596171" y="26154518"/>
            <a:ext cx="5017294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7816393" y="27887791"/>
            <a:ext cx="2581573" cy="819824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nuScenes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554374" y="27887791"/>
            <a:ext cx="2926755" cy="819824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Argoverse2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637537" y="27887791"/>
            <a:ext cx="3344724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Ped Crossing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138669" y="27887791"/>
            <a:ext cx="3148033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Lane Divider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816393" y="28864024"/>
            <a:ext cx="3787557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Road Boundary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816393" y="6633606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816393" y="8555235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7816393" y="10476865"/>
            <a:ext cx="703977" cy="703976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51141" y="1043047"/>
            <a:ext cx="34486949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8F2437"/>
                </a:solidFill>
                <a:latin typeface="Arial"/>
              </a:rPr>
              <a:t>VectorMapNet: End-to-end Vectorized HD Map Learning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1141" y="2398910"/>
            <a:ext cx="34486949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C1C1C"/>
                </a:solidFill>
                <a:latin typeface="Arial"/>
              </a:rPr>
              <a:t>Yicheng Liu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1,2</a:t>
            </a:r>
            <a:r>
              <a:rPr sz="3920" b="0">
                <a:solidFill>
                  <a:srgbClr val="1C1C1C"/>
                </a:solidFill>
                <a:latin typeface="Arial"/>
              </a:rPr>
              <a:t>, Tianyuan Yuan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3920" b="0">
                <a:solidFill>
                  <a:srgbClr val="1C1C1C"/>
                </a:solidFill>
                <a:latin typeface="Arial"/>
              </a:rPr>
              <a:t>, Yue Wang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3</a:t>
            </a:r>
            <a:r>
              <a:rPr sz="3920" b="0">
                <a:solidFill>
                  <a:srgbClr val="1C1C1C"/>
                </a:solidFill>
                <a:latin typeface="Arial"/>
              </a:rPr>
              <a:t>, Yilun Wang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4</a:t>
            </a:r>
            <a:r>
              <a:rPr sz="3920" b="0">
                <a:solidFill>
                  <a:srgbClr val="1C1C1C"/>
                </a:solidFill>
                <a:latin typeface="Arial"/>
              </a:rPr>
              <a:t>, Hang Zhao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1,2†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51141" y="3099137"/>
            <a:ext cx="34486949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Shanghai Qi Zhi Institute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2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Tsinghua University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3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MIT  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4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Li Auto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777" y="4788515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437179" y="4788515"/>
            <a:ext cx="16758622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213581" y="4788515"/>
            <a:ext cx="1675876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9991" y="6293425"/>
            <a:ext cx="1600019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Autonomous driving needs </a:t>
            </a:r>
            <a:r>
              <a:rPr sz="4106" b="1">
                <a:solidFill>
                  <a:srgbClr val="111111"/>
                </a:solidFill>
                <a:latin typeface="Arial"/>
              </a:rPr>
              <a:t>vectorized</a:t>
            </a:r>
            <a:r>
              <a:rPr sz="4106" b="0">
                <a:solidFill>
                  <a:srgbClr val="1C1C1C"/>
                </a:solidFill>
                <a:latin typeface="Arial"/>
              </a:rPr>
              <a:t> HD semantic maps, yet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manual annotation does not scale and existing learners output only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dense rasterized</a:t>
            </a:r>
            <a:r>
              <a:rPr sz="4106" b="0">
                <a:solidFill>
                  <a:srgbClr val="1C1C1C"/>
                </a:solidFill>
                <a:latin typeface="Arial"/>
              </a:rPr>
              <a:t> segmentations needing brittle post-processing.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777" y="12226111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816393" y="12571015"/>
            <a:ext cx="16000194" cy="4396105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92795" y="19888596"/>
            <a:ext cx="16000333" cy="2233516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+14.2 mAP vs HDMapNet (nuScenes) · +14.6 mAP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(Argoverse2)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777" y="20704671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Ablation Study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58031" y="22502534"/>
            <a:ext cx="16714311" cy="1357489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437179" y="23936186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637245" y="24096483"/>
            <a:ext cx="15955883" cy="2698845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Frame HD mapping as detection → polyline generation: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one end-to-end network predicts clean, directional vector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maps straight from sensors.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37245" y="26536788"/>
            <a:ext cx="1595588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Polylines are a versatile primitive: the same model extends to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centerline prediction with no structural change, and its predicted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maps measurably sharpen a downstream motion-forecasting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baseline (minADE 0.909 → 0.826).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28039198"/>
            <a:ext cx="1600019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Predicted maps sharpen a downstream motion-forecasting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baseline — near the GT-map ceiling.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778535" y="6633606"/>
            <a:ext cx="15038052" cy="18501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BEV feature extractor</a:t>
            </a:r>
            <a:r>
              <a:rPr sz="4106" b="0">
                <a:solidFill>
                  <a:srgbClr val="1C1C1C"/>
                </a:solidFill>
                <a:latin typeface="Arial"/>
              </a:rPr>
              <a:t> lifts camera (ResNet + IPM) and LiDAR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(PointPillars) into a shared BEV space.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778535" y="8555235"/>
            <a:ext cx="15038052" cy="18501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Map element detector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DETR-style decoder with element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queries predicts each element's keypoints + class.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29496" y="9830812"/>
            <a:ext cx="1514564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first </a:t>
            </a:r>
            <a:r>
              <a:rPr sz="4106" b="1">
                <a:solidFill>
                  <a:srgbClr val="111111"/>
                </a:solidFill>
                <a:latin typeface="Arial"/>
              </a:rPr>
              <a:t>end-to-end</a:t>
            </a:r>
            <a:r>
              <a:rPr sz="4106" b="0">
                <a:solidFill>
                  <a:srgbClr val="1C1C1C"/>
                </a:solidFill>
                <a:latin typeface="Arial"/>
              </a:rPr>
              <a:t> vectorized HD-map learner: no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rasterization, no post-processing.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778535" y="10476865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Polyline generator</a:t>
            </a:r>
            <a:r>
              <a:rPr sz="4106" b="0">
                <a:solidFill>
                  <a:srgbClr val="1C1C1C"/>
                </a:solidFill>
                <a:latin typeface="Arial"/>
              </a:rPr>
              <a:t> — an autoregressive Transformer decodes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each element into ordered vertices.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38276" y="13731021"/>
            <a:ext cx="800210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8F2437"/>
                </a:solidFill>
                <a:latin typeface="Arial"/>
              </a:rPr>
              <a:t>vs.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72" y="16588740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Online mapping from onboard sensors sidesteps the labor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meter-level localization error of offline HD maps.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72" y="18283674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SOTA (HDMapNet) still rasterizes, then post-processes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vectors by hand, capping accuracy and scalability.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613478" y="18821241"/>
            <a:ext cx="13938071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4 · Camera-only: sharp corners, no self-loops (red = missing in GT).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452167" y="22077481"/>
            <a:ext cx="14728507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 1 · End-to-end pipeline: sensors → BEV features → element keypoints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→ polylines.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972" y="22484893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Bounding Box (k=2)</a:t>
            </a:r>
            <a:r>
              <a:rPr sz="4106" b="0">
                <a:solidFill>
                  <a:srgbClr val="1C1C1C"/>
                </a:solidFill>
                <a:latin typeface="Arial"/>
              </a:rPr>
              <a:t> keypoints beat SME (k=3) and Extreme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Points (k=4) by </a:t>
            </a:r>
            <a:r>
              <a:rPr sz="4106" b="1">
                <a:solidFill>
                  <a:srgbClr val="111111"/>
                </a:solidFill>
                <a:latin typeface="Arial"/>
              </a:rPr>
              <a:t>+2.0</a:t>
            </a:r>
            <a:r>
              <a:rPr sz="4106" b="0">
                <a:solidFill>
                  <a:srgbClr val="1C1C1C"/>
                </a:solidFill>
                <a:latin typeface="Arial"/>
              </a:rPr>
              <a:t> Fréchet mAP and </a:t>
            </a:r>
            <a:r>
              <a:rPr sz="4106" b="1">
                <a:solidFill>
                  <a:srgbClr val="111111"/>
                </a:solidFill>
                <a:latin typeface="Arial"/>
              </a:rPr>
              <a:t>+7.3</a:t>
            </a:r>
            <a:r>
              <a:rPr sz="4106" b="0">
                <a:solidFill>
                  <a:srgbClr val="1C1C1C"/>
                </a:solidFill>
                <a:latin typeface="Arial"/>
              </a:rPr>
              <a:t> Chamfer mAP.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9972" y="24179827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Two-stage training (teacher forcing, then fine-tuning on predicted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keypoints) adds </a:t>
            </a:r>
            <a:r>
              <a:rPr sz="4106" b="1">
                <a:solidFill>
                  <a:srgbClr val="111111"/>
                </a:solidFill>
                <a:latin typeface="Arial"/>
              </a:rPr>
              <a:t>+6.9</a:t>
            </a:r>
            <a:r>
              <a:rPr sz="4106" b="0">
                <a:solidFill>
                  <a:srgbClr val="1C1C1C"/>
                </a:solidFill>
                <a:latin typeface="Arial"/>
              </a:rPr>
              <a:t> mAP (Camera) and </a:t>
            </a:r>
            <a:r>
              <a:rPr sz="4106" b="1">
                <a:solidFill>
                  <a:srgbClr val="111111"/>
                </a:solidFill>
                <a:latin typeface="Arial"/>
              </a:rPr>
              <a:t>+8.5</a:t>
            </a:r>
            <a:r>
              <a:rPr sz="4106" b="0">
                <a:solidFill>
                  <a:srgbClr val="1C1C1C"/>
                </a:solidFill>
                <a:latin typeface="Arial"/>
              </a:rPr>
              <a:t> mAP (Fusion).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816375" y="25436651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Evaluated on </a:t>
            </a:r>
            <a:r>
              <a:rPr sz="4106" b="1">
                <a:solidFill>
                  <a:srgbClr val="111111"/>
                </a:solidFill>
                <a:latin typeface="Arial"/>
              </a:rPr>
              <a:t>nuScenes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Argoverse2</a:t>
            </a:r>
            <a:r>
              <a:rPr sz="4106" b="0">
                <a:solidFill>
                  <a:srgbClr val="1C1C1C"/>
                </a:solidFill>
                <a:latin typeface="Arial"/>
              </a:rPr>
              <a:t> (z-axis annotations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enable 2D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and</a:t>
            </a:r>
            <a:r>
              <a:rPr sz="4106" b="0">
                <a:solidFill>
                  <a:srgbClr val="1C1C1C"/>
                </a:solidFill>
                <a:latin typeface="Arial"/>
              </a:rPr>
              <a:t> 3D evaluation), scoring polylines with an order-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aware </a:t>
            </a:r>
            <a:r>
              <a:rPr sz="4106" b="1">
                <a:solidFill>
                  <a:srgbClr val="111111"/>
                </a:solidFill>
                <a:latin typeface="Arial"/>
              </a:rPr>
              <a:t>Fréchet AP</a:t>
            </a:r>
            <a:r>
              <a:rPr sz="4106" b="0">
                <a:solidFill>
                  <a:srgbClr val="1C1C1C"/>
                </a:solidFill>
                <a:latin typeface="Arial"/>
              </a:rPr>
              <a:t> alongside Chamfer AP.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38659" y="6723895"/>
            <a:ext cx="9965780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53.7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838659" y="8098790"/>
            <a:ext cx="9965780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mAP · nuScenes (Fusion + fine-tune)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838659" y="8620244"/>
            <a:ext cx="9965780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31.0 HDMapNet · +14.2 mAP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83493" y="13948410"/>
            <a:ext cx="6984416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RASTERIZE → VECTORIZE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88976" y="13948410"/>
            <a:ext cx="6984415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VECTORMAPNET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83493" y="14593768"/>
            <a:ext cx="6984416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Dense pixel grid + fragile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post-processing.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88976" y="14593768"/>
            <a:ext cx="6984415" cy="869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Sparse directional polylines.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48489" y="26310927"/>
            <a:ext cx="473830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+7.3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26510" y="26310927"/>
            <a:ext cx="4738449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+8.5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804669" y="26310927"/>
            <a:ext cx="473830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0.826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48489" y="27213123"/>
            <a:ext cx="4738305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Chamfer mAP · box vs alt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26510" y="27213123"/>
            <a:ext cx="4738449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mAP · 2-stage (Fusion)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804669" y="27213123"/>
            <a:ext cx="4738306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minADE · pred map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566111" y="6723895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+14.6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101025" y="6857245"/>
            <a:ext cx="2741716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mAP Argoverse2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566111" y="7579141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+17.9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101025" y="7712491"/>
            <a:ext cx="290410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mAP camera-only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566111" y="8434526"/>
            <a:ext cx="108621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+9.9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803210" y="8567876"/>
            <a:ext cx="274114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mAP LiDAR-only</a:t>
            </a:r>
          </a:p>
        </p:txBody>
      </p:sp>
      <p:pic>
        <p:nvPicPr>
          <p:cNvPr id="98" name="Picture 97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19499" y="13210678"/>
            <a:ext cx="14767262" cy="2117209"/>
          </a:xfrm>
          <a:prstGeom prst="rect">
            <a:avLst/>
          </a:prstGeom>
        </p:spPr>
      </p:pic>
      <p:pic>
        <p:nvPicPr>
          <p:cNvPr id="99" name="Picture 98" descr="eq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47083" y="15891152"/>
            <a:ext cx="2312094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
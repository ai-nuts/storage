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paper introduces DGAPN, the Distilled Graph Attention Policy Network, a reinforcement learning framework for generating drug-like molecules that bind antiviral targets. It combines spatial graph attention encoding chemistry and 3D structure, a fragment-based attentional policy, and a curiosity bonus from random network distillation, beating prior generators on binding affinity.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Designing molecules that optimize a property, like binding tightly to a viral protein, is a central goal in drug discovery, yet hard to automate. The chemical space is discrete and astronomically large, making exploration difficult, and compressing a molecule's atom-and-bond graph into a faithful, learnable representation is itself nontrivial.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Prior methods leave value on the table twice. First, most graph networks encode only atom attributes and adjacency, ignoring bond features and 3D geometry, even though shape and complementarity to the receptor pocket make a good binder. Second, building molecules atom by atom gives long, unstable trajectories and hard-to-synthesize products. This motivates encoding spatial structure while acting over whole fragments.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DGAPN makes three contributions. First, spatial Graph Attention, a GNN that self-attends over node and edge attributes and encodes 3D structure via an inverse distance matrix. Second, the Graph Attention Policy Network, an attentional policy over a dynamic fragment action space trained with PPO. Third, a random-network-distillation curiosity bonus giving innovation rewards for high-affinity, synthesizable molecules.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DGAPN casts molecule generation as a Markov decision process. At each step, the CReM library proposes valid molecules reachable by swapping one fragment, guaranteeing synthesizable candidates. Spatial Graph Attention embeds each candidate, combining attention over atom and bond attributes with a spatial convolution from a sparsified inverse distance matrix, so chemistry and geometry both inform the representation. An attentional policy scores candidates and samples the next molecule, trained with PPO. Finally, random network distillation supplies an innovation reward whose error rewards exploring novel states.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primary benchmark designs novel inhibitors binding the NSP15 site of SARS-CoV-2. Binding affinity is estimated by molecular docking, using a GPU-accelerated tool on the protein's 3D structure, starting from a dataset of purchasable molecules with NSP15 docking scores. The method is also tested on standard QED and penalized LogP optimization tasks.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docking against NSP15, DGAPN clearly beats five state-of-the-art baselines, reaching a best score near minus ten and a mean of minus six point seven seven, well ahead of MolDQN, with an astronomically small p-value under Welch's t-test. It also wins constrained optimization at every similarity threshold, and in multi-objective mode trades slight affinity for markedly better drug-likeness and synthesizability.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authors ablate each component. In a supervised setting on NSP15, loss curves over forty runs show spatial convolution strongly improves molecular representation learning. Comparing full DGAPN against GAPN without the innovation reward, the curiosity bonus lifts the best docking score, though it slightly worsens synthetic accessibility. Remarkably, DGAPN even beats a greedy CReM oracle that sees intermediate docking rewards.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NSP15 docking, DGAPN reaches a best score near minus ten and a mean of minus six point seven seven, versus roughly minus eight and minus five for the strongest baseline. The gap over the second-best model is statistically overwhelming, p around ten to the minus two hundred ninth. In multi-objective mode it yields QED zero point seven two and synthetic accessibility two point two.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takeaway: combining spatial structure with curiosity pays off for molecular design. By encoding 3D geometry through spatial graph attention, acting over whole fragments for synthesizability, and rewarding novelty with random network distillation, DGAPN designs tighter-binding, more synthesizable drug candidates than prior methods, with a user-defined objective that dials between affinity and drug-likeness.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gapn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gapn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7a850f977be29384.jpg"/><Relationship Id="rId3" Type="http://schemas.openxmlformats.org/officeDocument/2006/relationships/image" Target="../media/image_4d578dba512df53e.png"/><Relationship Id="rId4" Type="http://schemas.openxmlformats.org/officeDocument/2006/relationships/image" Target="../media/image_d9f04ff0a5a23b0a.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e14fb1dc65b7a9a.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05c724694751f9ae.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33350" cy="6858000"/>
            </a:xfrm>
            <a:prstGeom prst="rect">
              <a:avLst/>
            </a:prstGeom>
            <a:gradFill>
              <a:gsLst>
                <a:gs pos="0">
                  <a:schemeClr val="accent2"/>
                </a:gs>
                <a:gs pos="100000">
                  <a:schemeClr val="accent1"/>
                </a:gs>
              </a:gsLst>
              <a:lin ang="5400000" scaled="1"/>
            </a:gradFill>
            <a:ln>
              <a:noFill/>
            </a:ln>
          </p:spPr>
        </p:sp>
        <p:sp>
          <p:nvSpPr>
            <p:cNvPr id="4" name="Rectangle 4"/>
            <p:cNvSpPr/>
            <p:nvPr/>
          </p:nvSpPr>
          <p:spPr>
            <a:xfrm>
              <a:off x="7734300" y="0"/>
              <a:ext cx="4457700" cy="6858000"/>
            </a:xfrm>
            <a:prstGeom prst="rect">
              <a:avLst/>
            </a:prstGeom>
            <a:solidFill>
              <a:schemeClr val="lt2"/>
            </a:solidFill>
            <a:ln>
              <a:noFill/>
            </a:ln>
          </p:spPr>
        </p:sp>
      </p:grpSp>
      <p:grpSp>
        <p:nvGrpSpPr>
          <p:cNvPr id="9" name="Group 9"/>
          <p:cNvGrpSpPr/>
          <p:nvPr/>
        </p:nvGrpSpPr>
        <p:grpSpPr>
          <a:xfrm>
            <a:off x="757047" y="990600"/>
            <a:ext cx="2197906" cy="669607"/>
            <a:chOff x="757047" y="990600"/>
            <a:chExt cx="2197906" cy="669607"/>
          </a:xfrm>
        </p:grpSpPr>
        <p:sp>
          <p:nvSpPr>
            <p:cNvPr id="6" name="Rectangle 6"/>
            <p:cNvSpPr/>
            <p:nvPr/>
          </p:nvSpPr>
          <p:spPr>
            <a:xfrm>
              <a:off x="762000" y="990600"/>
              <a:ext cx="609600" cy="38100"/>
            </a:xfrm>
            <a:prstGeom prst="rect">
              <a:avLst/>
            </a:prstGeom>
            <a:solidFill>
              <a:schemeClr val="accent2"/>
            </a:solidFill>
            <a:ln>
              <a:noFill/>
            </a:ln>
          </p:spPr>
        </p:sp>
        <p:sp>
          <p:nvSpPr>
            <p:cNvPr id="7" name="TextBox 7"/>
            <p:cNvSpPr txBox="1"/>
            <p:nvPr/>
          </p:nvSpPr>
          <p:spPr>
            <a:xfrm>
              <a:off x="757047" y="1247299"/>
              <a:ext cx="1696503" cy="190690"/>
            </a:xfrm>
            <a:prstGeom prst="rect">
              <a:avLst/>
            </a:prstGeom>
            <a:noFill/>
            <a:ln>
              <a:noFill/>
            </a:ln>
          </p:spPr>
          <p:txBody>
            <a:bodyPr wrap="none" lIns="0" tIns="0" rIns="0" bIns="0" anchor="t" anchorCtr="0">
              <a:spAutoFit/>
            </a:bodyPr>
            <a:lstStyle/>
            <a:p>
              <a:pPr algn="l"/>
              <a:r>
                <a:rPr lang="en-US" sz="980" b="1" spc="188" dirty="0">
                  <a:solidFill>
                    <a:schemeClr val="accent2"/>
                  </a:solidFill>
                  <a:latin typeface="+mn-lt"/>
                  <a:ea typeface="+mn-ea"/>
                  <a:cs typeface="+mn-cs"/>
                </a:rPr>
                <a:t>PAPER · DEEP READ</a:t>
              </a:r>
            </a:p>
          </p:txBody>
        </p:sp>
        <p:sp>
          <p:nvSpPr>
            <p:cNvPr id="8" name="TextBox 8"/>
            <p:cNvSpPr txBox="1"/>
            <p:nvPr/>
          </p:nvSpPr>
          <p:spPr>
            <a:xfrm>
              <a:off x="757238" y="1483995"/>
              <a:ext cx="2197715" cy="176212"/>
            </a:xfrm>
            <a:prstGeom prst="rect">
              <a:avLst/>
            </a:prstGeom>
            <a:noFill/>
            <a:ln>
              <a:noFill/>
            </a:ln>
          </p:spPr>
          <p:txBody>
            <a:bodyPr wrap="none" lIns="0" tIns="0" rIns="0" bIns="0" anchor="t" anchorCtr="0">
              <a:spAutoFit/>
            </a:bodyPr>
            <a:lstStyle/>
            <a:p>
              <a:pPr algn="l"/>
              <a:r>
                <a:rPr lang="en-US" sz="900" spc="112" dirty="0">
                  <a:solidFill>
                    <a:schemeClr val="dk2"/>
                  </a:solidFill>
                  <a:latin typeface="+mn-lt"/>
                  <a:ea typeface="+mn-ea"/>
                  <a:cs typeface="+mn-cs"/>
                </a:rPr>
                <a:t>ICLR 2022 · arXiv:2106.02190</a:t>
              </a:r>
            </a:p>
          </p:txBody>
        </p:sp>
      </p:grpSp>
      <p:grpSp>
        <p:nvGrpSpPr>
          <p:cNvPr id="14" name="Group 14"/>
          <p:cNvGrpSpPr/>
          <p:nvPr/>
        </p:nvGrpSpPr>
        <p:grpSpPr>
          <a:xfrm>
            <a:off x="742950" y="2047875"/>
            <a:ext cx="6994086" cy="1753648"/>
            <a:chOff x="742950" y="2047875"/>
            <a:chExt cx="6994086" cy="1753648"/>
          </a:xfrm>
        </p:grpSpPr>
        <p:sp>
          <p:nvSpPr>
            <p:cNvPr id="10" name="TextBox 10"/>
            <p:cNvSpPr txBox="1"/>
            <p:nvPr/>
          </p:nvSpPr>
          <p:spPr>
            <a:xfrm>
              <a:off x="742950" y="2047875"/>
              <a:ext cx="2282380" cy="876300"/>
            </a:xfrm>
            <a:prstGeom prst="rect">
              <a:avLst/>
            </a:prstGeom>
            <a:noFill/>
            <a:ln>
              <a:noFill/>
            </a:ln>
          </p:spPr>
          <p:txBody>
            <a:bodyPr wrap="none" lIns="0" tIns="0" rIns="0" bIns="0" anchor="t" anchorCtr="0">
              <a:spAutoFit/>
            </a:bodyPr>
            <a:lstStyle/>
            <a:p>
              <a:pPr algn="l"/>
              <a:r>
                <a:rPr lang="en-US" sz="4500" b="1" dirty="0">
                  <a:solidFill>
                    <a:schemeClr val="accent1"/>
                  </a:solidFill>
                  <a:latin typeface="+mj-lt"/>
                  <a:ea typeface="+mj-ea"/>
                  <a:cs typeface="+mj-cs"/>
                </a:rPr>
                <a:t>DGAPN</a:t>
              </a:r>
            </a:p>
          </p:txBody>
        </p:sp>
        <p:sp>
          <p:nvSpPr>
            <p:cNvPr id="11" name="TextBox 11"/>
            <p:cNvSpPr txBox="1"/>
            <p:nvPr/>
          </p:nvSpPr>
          <p:spPr>
            <a:xfrm>
              <a:off x="752094" y="2799398"/>
              <a:ext cx="5852948"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j-lt"/>
                  <a:ea typeface="+mj-ea"/>
                  <a:cs typeface="+mj-cs"/>
                </a:rPr>
                <a:t>Distilled Graph Attention Policy Network</a:t>
              </a:r>
            </a:p>
          </p:txBody>
        </p:sp>
        <p:sp>
          <p:nvSpPr>
            <p:cNvPr id="12" name="TextBox 12"/>
            <p:cNvSpPr txBox="1"/>
            <p:nvPr/>
          </p:nvSpPr>
          <p:spPr>
            <a:xfrm>
              <a:off x="754761" y="3275171"/>
              <a:ext cx="650125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 reinforcement-learning framework that generates novel, drug-like</a:t>
              </a:r>
            </a:p>
          </p:txBody>
        </p:sp>
        <p:sp>
          <p:nvSpPr>
            <p:cNvPr id="13" name="TextBox 13"/>
            <p:cNvSpPr txBox="1"/>
            <p:nvPr/>
          </p:nvSpPr>
          <p:spPr>
            <a:xfrm>
              <a:off x="754761" y="3522821"/>
              <a:ext cx="698227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molecules binding antiviral targets — beating prior generators on affinity.</a:t>
              </a:r>
            </a:p>
          </p:txBody>
        </p:sp>
      </p:grpSp>
      <p:grpSp>
        <p:nvGrpSpPr>
          <p:cNvPr id="18" name="Group 18"/>
          <p:cNvGrpSpPr/>
          <p:nvPr/>
        </p:nvGrpSpPr>
        <p:grpSpPr>
          <a:xfrm>
            <a:off x="755904" y="4038600"/>
            <a:ext cx="5530291" cy="599789"/>
            <a:chOff x="755904" y="4038600"/>
            <a:chExt cx="5530291" cy="599789"/>
          </a:xfrm>
        </p:grpSpPr>
        <p:sp>
          <p:nvSpPr>
            <p:cNvPr id="15" name="Line 15"/>
            <p:cNvSpPr/>
            <p:nvPr/>
          </p:nvSpPr>
          <p:spPr>
            <a:xfrm>
              <a:off x="762000" y="4038600"/>
              <a:ext cx="952500" cy="9525"/>
            </a:xfrm>
            <a:custGeom>
              <a:avLst/>
              <a:gdLst/>
              <a:ahLst/>
              <a:cxnLst/>
              <a:rect l="l" t="t" r="r" b="b"/>
              <a:pathLst>
                <a:path w="952500" h="9525">
                  <a:moveTo>
                    <a:pt x="0" y="0"/>
                  </a:moveTo>
                  <a:lnTo>
                    <a:pt x="952500" y="0"/>
                  </a:lnTo>
                </a:path>
              </a:pathLst>
            </a:custGeom>
            <a:noFill/>
            <a:ln w="14288">
              <a:solidFill>
                <a:schemeClr val="accent1"/>
              </a:solidFill>
            </a:ln>
          </p:spPr>
        </p:sp>
        <p:sp>
          <p:nvSpPr>
            <p:cNvPr id="16" name="TextBox 16"/>
            <p:cNvSpPr txBox="1"/>
            <p:nvPr/>
          </p:nvSpPr>
          <p:spPr>
            <a:xfrm>
              <a:off x="755904" y="4194810"/>
              <a:ext cx="5530291" cy="234696"/>
            </a:xfrm>
            <a:prstGeom prst="rect">
              <a:avLst/>
            </a:prstGeom>
            <a:noFill/>
            <a:ln>
              <a:noFill/>
            </a:ln>
          </p:spPr>
          <p:txBody>
            <a:bodyPr wrap="none" lIns="0" tIns="0" rIns="0" bIns="0" anchor="t" anchorCtr="0">
              <a:spAutoFit/>
            </a:bodyPr>
            <a:lstStyle/>
            <a:p>
              <a:pPr algn="l"/>
              <a:r>
                <a:rPr lang="en-US" sz="1200" i="1" dirty="0">
                  <a:solidFill>
                    <a:schemeClr val="dk2"/>
                  </a:solidFill>
                  <a:latin typeface="+mj-lt"/>
                  <a:ea typeface="+mj-ea"/>
                  <a:cs typeface="+mj-cs"/>
                </a:rPr>
                <a:t>Yulun Wu, Mikaela Cashman, Nicholas Choma, … , James B. Brown</a:t>
              </a:r>
            </a:p>
          </p:txBody>
        </p:sp>
        <p:sp>
          <p:nvSpPr>
            <p:cNvPr id="17" name="TextBox 17"/>
            <p:cNvSpPr txBox="1"/>
            <p:nvPr/>
          </p:nvSpPr>
          <p:spPr>
            <a:xfrm>
              <a:off x="757047" y="4447699"/>
              <a:ext cx="544533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UC Berkeley · Oak Ridge · Lawrence Berkeley · Argonne · U. Chicago · PNNL · US DOE</a:t>
              </a:r>
            </a:p>
          </p:txBody>
        </p:sp>
      </p:grpSp>
      <p:grpSp>
        <p:nvGrpSpPr>
          <p:cNvPr id="34" name="Group 34"/>
          <p:cNvGrpSpPr/>
          <p:nvPr/>
        </p:nvGrpSpPr>
        <p:grpSpPr>
          <a:xfrm>
            <a:off x="762000" y="5105400"/>
            <a:ext cx="6877050" cy="1143000"/>
            <a:chOff x="762000" y="5105400"/>
            <a:chExt cx="6877050" cy="1143000"/>
          </a:xfrm>
        </p:grpSpPr>
        <p:sp>
          <p:nvSpPr>
            <p:cNvPr id="19" name="Rectangle 19"/>
            <p:cNvSpPr/>
            <p:nvPr/>
          </p:nvSpPr>
          <p:spPr>
            <a:xfrm>
              <a:off x="762000" y="5105400"/>
              <a:ext cx="2190750" cy="1143000"/>
            </a:xfrm>
            <a:prstGeom prst="roundRect">
              <a:avLst>
                <a:gd name="adj" fmla="val 8333"/>
              </a:avLst>
            </a:prstGeom>
            <a:solidFill>
              <a:schemeClr val="lt1"/>
            </a:solidFill>
            <a:ln w="14288">
              <a:solidFill>
                <a:schemeClr val="accent4"/>
              </a:solidFill>
            </a:ln>
          </p:spPr>
        </p:sp>
        <p:sp>
          <p:nvSpPr>
            <p:cNvPr id="20" name="Rectangle 20"/>
            <p:cNvSpPr/>
            <p:nvPr/>
          </p:nvSpPr>
          <p:spPr>
            <a:xfrm>
              <a:off x="762000" y="5105400"/>
              <a:ext cx="2190750" cy="57150"/>
            </a:xfrm>
            <a:prstGeom prst="roundRect">
              <a:avLst>
                <a:gd name="adj" fmla="val 50000"/>
              </a:avLst>
            </a:prstGeom>
            <a:solidFill>
              <a:schemeClr val="accent2"/>
            </a:solidFill>
            <a:ln>
              <a:noFill/>
            </a:ln>
          </p:spPr>
        </p:sp>
        <p:sp>
          <p:nvSpPr>
            <p:cNvPr id="21" name="TextBox 21"/>
            <p:cNvSpPr txBox="1"/>
            <p:nvPr/>
          </p:nvSpPr>
          <p:spPr>
            <a:xfrm>
              <a:off x="947547" y="5381149"/>
              <a:ext cx="359172"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sGAT</a:t>
              </a:r>
            </a:p>
          </p:txBody>
        </p:sp>
        <p:sp>
          <p:nvSpPr>
            <p:cNvPr id="22" name="TextBox 22"/>
            <p:cNvSpPr txBox="1"/>
            <p:nvPr/>
          </p:nvSpPr>
          <p:spPr>
            <a:xfrm>
              <a:off x="947166" y="5639752"/>
              <a:ext cx="162641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Spatial graph attention</a:t>
              </a:r>
            </a:p>
          </p:txBody>
        </p:sp>
        <p:sp>
          <p:nvSpPr>
            <p:cNvPr id="23" name="TextBox 23"/>
            <p:cNvSpPr txBox="1"/>
            <p:nvPr/>
          </p:nvSpPr>
          <p:spPr>
            <a:xfrm>
              <a:off x="947166" y="5849302"/>
              <a:ext cx="161325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encodes chemistry + 3D</a:t>
              </a:r>
            </a:p>
          </p:txBody>
        </p:sp>
        <p:sp>
          <p:nvSpPr>
            <p:cNvPr id="24" name="Rectangle 24"/>
            <p:cNvSpPr/>
            <p:nvPr/>
          </p:nvSpPr>
          <p:spPr>
            <a:xfrm>
              <a:off x="3105150" y="5105400"/>
              <a:ext cx="2190750" cy="1143000"/>
            </a:xfrm>
            <a:prstGeom prst="roundRect">
              <a:avLst>
                <a:gd name="adj" fmla="val 8333"/>
              </a:avLst>
            </a:prstGeom>
            <a:solidFill>
              <a:schemeClr val="lt1"/>
            </a:solidFill>
            <a:ln w="14288">
              <a:solidFill>
                <a:schemeClr val="accent4"/>
              </a:solidFill>
            </a:ln>
          </p:spPr>
        </p:sp>
        <p:sp>
          <p:nvSpPr>
            <p:cNvPr id="25" name="Rectangle 25"/>
            <p:cNvSpPr/>
            <p:nvPr/>
          </p:nvSpPr>
          <p:spPr>
            <a:xfrm>
              <a:off x="3105150" y="5105400"/>
              <a:ext cx="2190750" cy="57150"/>
            </a:xfrm>
            <a:prstGeom prst="roundRect">
              <a:avLst>
                <a:gd name="adj" fmla="val 50000"/>
              </a:avLst>
            </a:prstGeom>
            <a:solidFill>
              <a:schemeClr val="accent2"/>
            </a:solidFill>
            <a:ln>
              <a:noFill/>
            </a:ln>
          </p:spPr>
        </p:sp>
        <p:sp>
          <p:nvSpPr>
            <p:cNvPr id="26" name="TextBox 26"/>
            <p:cNvSpPr txBox="1"/>
            <p:nvPr/>
          </p:nvSpPr>
          <p:spPr>
            <a:xfrm>
              <a:off x="3290697" y="5381149"/>
              <a:ext cx="363913"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GAPN</a:t>
              </a:r>
            </a:p>
          </p:txBody>
        </p:sp>
        <p:sp>
          <p:nvSpPr>
            <p:cNvPr id="27" name="TextBox 27"/>
            <p:cNvSpPr txBox="1"/>
            <p:nvPr/>
          </p:nvSpPr>
          <p:spPr>
            <a:xfrm>
              <a:off x="3290316" y="5639752"/>
              <a:ext cx="159098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Attentional policy over</a:t>
              </a:r>
            </a:p>
          </p:txBody>
        </p:sp>
        <p:sp>
          <p:nvSpPr>
            <p:cNvPr id="28" name="TextBox 28"/>
            <p:cNvSpPr txBox="1"/>
            <p:nvPr/>
          </p:nvSpPr>
          <p:spPr>
            <a:xfrm>
              <a:off x="3290316" y="5849302"/>
              <a:ext cx="156552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fragment action space</a:t>
              </a:r>
            </a:p>
          </p:txBody>
        </p:sp>
        <p:sp>
          <p:nvSpPr>
            <p:cNvPr id="29" name="Rectangle 29"/>
            <p:cNvSpPr/>
            <p:nvPr/>
          </p:nvSpPr>
          <p:spPr>
            <a:xfrm>
              <a:off x="5448300" y="5105400"/>
              <a:ext cx="2190750" cy="1143000"/>
            </a:xfrm>
            <a:prstGeom prst="roundRect">
              <a:avLst>
                <a:gd name="adj" fmla="val 8333"/>
              </a:avLst>
            </a:prstGeom>
            <a:solidFill>
              <a:schemeClr val="lt1"/>
            </a:solidFill>
            <a:ln w="14288">
              <a:solidFill>
                <a:schemeClr val="accent4"/>
              </a:solidFill>
            </a:ln>
          </p:spPr>
        </p:sp>
        <p:sp>
          <p:nvSpPr>
            <p:cNvPr id="30" name="Rectangle 30"/>
            <p:cNvSpPr/>
            <p:nvPr/>
          </p:nvSpPr>
          <p:spPr>
            <a:xfrm>
              <a:off x="5448300" y="5105400"/>
              <a:ext cx="2190750" cy="57150"/>
            </a:xfrm>
            <a:prstGeom prst="roundRect">
              <a:avLst>
                <a:gd name="adj" fmla="val 50000"/>
              </a:avLst>
            </a:prstGeom>
            <a:solidFill>
              <a:schemeClr val="accent2"/>
            </a:solidFill>
            <a:ln>
              <a:noFill/>
            </a:ln>
          </p:spPr>
        </p:sp>
        <p:sp>
          <p:nvSpPr>
            <p:cNvPr id="31" name="TextBox 31"/>
            <p:cNvSpPr txBox="1"/>
            <p:nvPr/>
          </p:nvSpPr>
          <p:spPr>
            <a:xfrm>
              <a:off x="5633847" y="5381149"/>
              <a:ext cx="272744"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RND</a:t>
              </a:r>
            </a:p>
          </p:txBody>
        </p:sp>
        <p:sp>
          <p:nvSpPr>
            <p:cNvPr id="32" name="TextBox 32"/>
            <p:cNvSpPr txBox="1"/>
            <p:nvPr/>
          </p:nvSpPr>
          <p:spPr>
            <a:xfrm>
              <a:off x="5633466" y="5639752"/>
              <a:ext cx="145698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Curiosity bonus from</a:t>
              </a:r>
            </a:p>
          </p:txBody>
        </p:sp>
        <p:sp>
          <p:nvSpPr>
            <p:cNvPr id="33" name="TextBox 33"/>
            <p:cNvSpPr txBox="1"/>
            <p:nvPr/>
          </p:nvSpPr>
          <p:spPr>
            <a:xfrm>
              <a:off x="5633466" y="5849302"/>
              <a:ext cx="157966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random net distillation</a:t>
              </a:r>
            </a:p>
          </p:txBody>
        </p:sp>
      </p:grpSp>
      <p:grpSp>
        <p:nvGrpSpPr>
          <p:cNvPr id="45" name="Group 45"/>
          <p:cNvGrpSpPr/>
          <p:nvPr/>
        </p:nvGrpSpPr>
        <p:grpSpPr>
          <a:xfrm>
            <a:off x="8058150" y="1285399"/>
            <a:ext cx="3657600" cy="4344257"/>
            <a:chOff x="8058150" y="1285399"/>
            <a:chExt cx="3657600" cy="4344257"/>
          </a:xfrm>
        </p:grpSpPr>
        <p:sp>
          <p:nvSpPr>
            <p:cNvPr id="35" name="TextBox 35"/>
            <p:cNvSpPr txBox="1"/>
            <p:nvPr/>
          </p:nvSpPr>
          <p:spPr>
            <a:xfrm>
              <a:off x="8091297" y="1285399"/>
              <a:ext cx="2287341"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SARS-CoV-2 · NSP15 TARGET</a:t>
              </a:r>
            </a:p>
          </p:txBody>
        </p:sp>
        <p:sp>
          <p:nvSpPr>
            <p:cNvPr id="36" name="Rectangle 36"/>
            <p:cNvSpPr/>
            <p:nvPr/>
          </p:nvSpPr>
          <p:spPr>
            <a:xfrm>
              <a:off x="8058150" y="1581150"/>
              <a:ext cx="3657600" cy="1428750"/>
            </a:xfrm>
            <a:prstGeom prst="roundRect">
              <a:avLst>
                <a:gd name="adj" fmla="val 8000"/>
              </a:avLst>
            </a:prstGeom>
            <a:solidFill>
              <a:schemeClr val="lt1"/>
            </a:solidFill>
            <a:ln w="14288">
              <a:solidFill>
                <a:schemeClr val="accent4"/>
              </a:solidFill>
            </a:ln>
          </p:spPr>
        </p:sp>
        <p:pic>
          <p:nvPicPr>
            <p:cNvPr id="37" name="Image 37"/>
            <p:cNvPicPr>
              <a:picLocks noChangeAspect="1"/>
            </p:cNvPicPr>
            <p:nvPr/>
          </p:nvPicPr>
          <p:blipFill>
            <a:blip r:embed="rId2"/>
            <a:stretch>
              <a:fillRect/>
            </a:stretch>
          </p:blipFill>
          <p:spPr>
            <a:xfrm>
              <a:off x="8172450" y="1803084"/>
              <a:ext cx="3429000" cy="984883"/>
            </a:xfrm>
            <a:prstGeom prst="rect">
              <a:avLst/>
            </a:prstGeom>
          </p:spPr>
        </p:pic>
        <p:sp>
          <p:nvSpPr>
            <p:cNvPr id="38" name="TextBox 38"/>
            <p:cNvSpPr txBox="1"/>
            <p:nvPr/>
          </p:nvSpPr>
          <p:spPr>
            <a:xfrm>
              <a:off x="8166525" y="3141345"/>
              <a:ext cx="3440849"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Spatial graph attention over atoms, bonds &amp; 3D structure</a:t>
              </a:r>
            </a:p>
          </p:txBody>
        </p:sp>
        <p:pic>
          <p:nvPicPr>
            <p:cNvPr id="39" name="Image 39"/>
            <p:cNvPicPr>
              <a:picLocks noChangeAspect="1"/>
            </p:cNvPicPr>
            <p:nvPr/>
          </p:nvPicPr>
          <p:blipFill>
            <a:blip r:embed="rId3"/>
            <a:stretch>
              <a:fillRect/>
            </a:stretch>
          </p:blipFill>
          <p:spPr>
            <a:xfrm>
              <a:off x="8439150" y="3486150"/>
              <a:ext cx="1219200" cy="1219200"/>
            </a:xfrm>
            <a:prstGeom prst="rect">
              <a:avLst/>
            </a:prstGeom>
          </p:spPr>
        </p:pic>
        <p:sp>
          <p:nvSpPr>
            <p:cNvPr id="40" name="TextBox 40"/>
            <p:cNvSpPr txBox="1"/>
            <p:nvPr/>
          </p:nvSpPr>
          <p:spPr>
            <a:xfrm>
              <a:off x="8837828" y="4779645"/>
              <a:ext cx="421843" cy="176212"/>
            </a:xfrm>
            <a:prstGeom prst="rect">
              <a:avLst/>
            </a:prstGeom>
            <a:noFill/>
            <a:ln>
              <a:noFill/>
            </a:ln>
          </p:spPr>
          <p:txBody>
            <a:bodyPr wrap="none" lIns="0" tIns="0" rIns="0" bIns="0" anchor="t" anchorCtr="0">
              <a:spAutoFit/>
            </a:bodyPr>
            <a:lstStyle/>
            <a:p>
              <a:pPr algn="ctr"/>
              <a:r>
                <a:rPr lang="en-US" sz="900" b="1" spc="75" dirty="0">
                  <a:solidFill>
                    <a:schemeClr val="dk2"/>
                  </a:solidFill>
                  <a:latin typeface="+mn-lt"/>
                  <a:ea typeface="+mn-ea"/>
                  <a:cs typeface="+mn-cs"/>
                </a:rPr>
                <a:t>PAPER</a:t>
              </a:r>
            </a:p>
          </p:txBody>
        </p:sp>
        <p:pic>
          <p:nvPicPr>
            <p:cNvPr id="41" name="Image 41"/>
            <p:cNvPicPr>
              <a:picLocks noChangeAspect="1"/>
            </p:cNvPicPr>
            <p:nvPr/>
          </p:nvPicPr>
          <p:blipFill>
            <a:blip r:embed="rId4"/>
            <a:stretch>
              <a:fillRect/>
            </a:stretch>
          </p:blipFill>
          <p:spPr>
            <a:xfrm>
              <a:off x="10115550" y="3486150"/>
              <a:ext cx="1219200" cy="1219200"/>
            </a:xfrm>
            <a:prstGeom prst="rect">
              <a:avLst/>
            </a:prstGeom>
          </p:spPr>
        </p:pic>
        <p:sp>
          <p:nvSpPr>
            <p:cNvPr id="42" name="TextBox 42"/>
            <p:cNvSpPr txBox="1"/>
            <p:nvPr/>
          </p:nvSpPr>
          <p:spPr>
            <a:xfrm>
              <a:off x="10543085" y="4779645"/>
              <a:ext cx="364129" cy="176212"/>
            </a:xfrm>
            <a:prstGeom prst="rect">
              <a:avLst/>
            </a:prstGeom>
            <a:noFill/>
            <a:ln>
              <a:noFill/>
            </a:ln>
          </p:spPr>
          <p:txBody>
            <a:bodyPr wrap="none" lIns="0" tIns="0" rIns="0" bIns="0" anchor="t" anchorCtr="0">
              <a:spAutoFit/>
            </a:bodyPr>
            <a:lstStyle/>
            <a:p>
              <a:pPr algn="ctr"/>
              <a:r>
                <a:rPr lang="en-US" sz="900" b="1" spc="75" dirty="0">
                  <a:solidFill>
                    <a:schemeClr val="dk2"/>
                  </a:solidFill>
                  <a:latin typeface="+mn-lt"/>
                  <a:ea typeface="+mn-ea"/>
                  <a:cs typeface="+mn-cs"/>
                </a:rPr>
                <a:t>CODE</a:t>
              </a:r>
            </a:p>
          </p:txBody>
        </p:sp>
        <p:sp>
          <p:nvSpPr>
            <p:cNvPr id="43" name="TextBox 43"/>
            <p:cNvSpPr txBox="1"/>
            <p:nvPr/>
          </p:nvSpPr>
          <p:spPr>
            <a:xfrm>
              <a:off x="8090154" y="5166360"/>
              <a:ext cx="2992962" cy="234696"/>
            </a:xfrm>
            <a:prstGeom prst="rect">
              <a:avLst/>
            </a:prstGeom>
            <a:noFill/>
            <a:ln>
              <a:noFill/>
            </a:ln>
          </p:spPr>
          <p:txBody>
            <a:bodyPr wrap="none" lIns="0" tIns="0" rIns="0" bIns="0" anchor="t" anchorCtr="0">
              <a:spAutoFit/>
            </a:bodyPr>
            <a:lstStyle/>
            <a:p>
              <a:pPr algn="l"/>
              <a:r>
                <a:rPr lang="en-US" sz="1200" i="1" dirty="0">
                  <a:solidFill>
                    <a:schemeClr val="accent1"/>
                  </a:solidFill>
                  <a:latin typeface="+mj-lt"/>
                  <a:ea typeface="+mj-ea"/>
                  <a:cs typeface="+mj-cs"/>
                </a:rPr>
                <a:t>Drop node-by-node building. Encode</a:t>
              </a:r>
            </a:p>
          </p:txBody>
        </p:sp>
        <p:sp>
          <p:nvSpPr>
            <p:cNvPr id="44" name="TextBox 44"/>
            <p:cNvSpPr txBox="1"/>
            <p:nvPr/>
          </p:nvSpPr>
          <p:spPr>
            <a:xfrm>
              <a:off x="8090154" y="5394960"/>
              <a:ext cx="2790017" cy="234696"/>
            </a:xfrm>
            <a:prstGeom prst="rect">
              <a:avLst/>
            </a:prstGeom>
            <a:noFill/>
            <a:ln>
              <a:noFill/>
            </a:ln>
          </p:spPr>
          <p:txBody>
            <a:bodyPr wrap="none" lIns="0" tIns="0" rIns="0" bIns="0" anchor="t" anchorCtr="0">
              <a:spAutoFit/>
            </a:bodyPr>
            <a:lstStyle/>
            <a:p>
              <a:pPr algn="l"/>
              <a:r>
                <a:rPr lang="en-US" sz="1200" i="1" dirty="0">
                  <a:solidFill>
                    <a:schemeClr val="accent1"/>
                  </a:solidFill>
                  <a:latin typeface="+mj-lt"/>
                  <a:ea typeface="+mj-ea"/>
                  <a:cs typeface="+mj-cs"/>
                </a:rPr>
                <a:t>3D structure. Reward curiosity.</a:t>
              </a:r>
            </a:p>
          </p:txBody>
        </p:sp>
      </p:grpSp>
      <p:sp>
        <p:nvSpPr>
          <p:cNvPr id="46" name="TextBox 46"/>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01</a:t>
            </a:r>
          </a:p>
        </p:txBody>
      </p:sp>
      <p:sp>
        <p:nvSpPr>
          <p:cNvPr id="47" name="cue_s01_c1_introduces_dgapn_distilled_graph_att" title="cue_s01_c1_introduces_dgapn_distilled_graph_att" descr="cue_s01_c1_introduces_dgapn_distilled_graph_att This paper introduces DGAPN, the Distilled Graph Attention Policy Network, a reinforcement learning framework for generating drug-like molecules that bind antiviral targets."/>
          <p:cNvSpPr/>
          <p:nvPr/>
        </p:nvSpPr>
        <p:spPr>
          <a:xfrm>
            <a:off x="742492" y="2047798"/>
            <a:ext cx="6994550" cy="175359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1_c2_combines_spatial_graph_attention_enc" title="cue_s01_c2_combines_spatial_graph_attention_enc" descr="cue_s01_c2_combines_spatial_graph_attention_enc It combines spatial graph attention encoding chemistry and 3D structure, a fragment-based attentional policy, and a curiosity bonus from random network distillation, beating prior generators on binding affinity."/>
          <p:cNvSpPr/>
          <p:nvPr/>
        </p:nvSpPr>
        <p:spPr>
          <a:xfrm>
            <a:off x="762000" y="5105095"/>
            <a:ext cx="6877507"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467148" cy="656939"/>
            <a:chOff x="571500" y="533400"/>
            <a:chExt cx="7467148"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251502"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A central goal that resists automation</a:t>
              </a:r>
            </a:p>
          </p:txBody>
        </p:sp>
        <p:sp>
          <p:nvSpPr>
            <p:cNvPr id="4" name="TextBox 4"/>
            <p:cNvSpPr txBox="1"/>
            <p:nvPr/>
          </p:nvSpPr>
          <p:spPr>
            <a:xfrm>
              <a:off x="795147" y="999649"/>
              <a:ext cx="3859852"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PROBLEM · OPTIMIZING MOLECULAR PROPERTIES</a:t>
              </a:r>
            </a:p>
          </p:txBody>
        </p:sp>
      </p:grpSp>
      <p:grpSp>
        <p:nvGrpSpPr>
          <p:cNvPr id="21" name="Group 21"/>
          <p:cNvGrpSpPr/>
          <p:nvPr/>
        </p:nvGrpSpPr>
        <p:grpSpPr>
          <a:xfrm>
            <a:off x="571500" y="1600200"/>
            <a:ext cx="5334000" cy="3848100"/>
            <a:chOff x="571500" y="1600200"/>
            <a:chExt cx="5334000" cy="3848100"/>
          </a:xfrm>
        </p:grpSpPr>
        <p:sp>
          <p:nvSpPr>
            <p:cNvPr id="6" name="Rectangle 6"/>
            <p:cNvSpPr/>
            <p:nvPr/>
          </p:nvSpPr>
          <p:spPr>
            <a:xfrm>
              <a:off x="571500" y="1600200"/>
              <a:ext cx="5334000" cy="3848100"/>
            </a:xfrm>
            <a:prstGeom prst="roundRect">
              <a:avLst>
                <a:gd name="adj" fmla="val 3465"/>
              </a:avLst>
            </a:prstGeom>
            <a:solidFill>
              <a:schemeClr val="lt2"/>
            </a:solidFill>
            <a:ln w="14288">
              <a:solidFill>
                <a:schemeClr val="accent4"/>
              </a:solidFill>
            </a:ln>
          </p:spPr>
        </p:sp>
        <p:sp>
          <p:nvSpPr>
            <p:cNvPr id="7" name="Rectangle 7"/>
            <p:cNvSpPr/>
            <p:nvPr/>
          </p:nvSpPr>
          <p:spPr>
            <a:xfrm>
              <a:off x="571500" y="1600200"/>
              <a:ext cx="5334000" cy="57150"/>
            </a:xfrm>
            <a:prstGeom prst="roundRect">
              <a:avLst>
                <a:gd name="adj" fmla="val 50000"/>
              </a:avLst>
            </a:prstGeom>
            <a:solidFill>
              <a:schemeClr val="accent2"/>
            </a:solidFill>
            <a:ln>
              <a:noFill/>
            </a:ln>
          </p:spPr>
        </p:sp>
        <p:sp>
          <p:nvSpPr>
            <p:cNvPr id="8" name="Ellipse 8"/>
            <p:cNvSpPr/>
            <p:nvPr/>
          </p:nvSpPr>
          <p:spPr>
            <a:xfrm>
              <a:off x="819150" y="2000250"/>
              <a:ext cx="342900" cy="342900"/>
            </a:xfrm>
            <a:prstGeom prst="ellipse">
              <a:avLst/>
            </a:prstGeom>
            <a:solidFill>
              <a:schemeClr val="accent1"/>
            </a:solidFill>
            <a:ln>
              <a:noFill/>
            </a:ln>
          </p:spPr>
        </p:sp>
        <p:sp>
          <p:nvSpPr>
            <p:cNvPr id="9" name="TextBox 9"/>
            <p:cNvSpPr txBox="1"/>
            <p:nvPr/>
          </p:nvSpPr>
          <p:spPr>
            <a:xfrm>
              <a:off x="931551" y="2091214"/>
              <a:ext cx="118098"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j-lt"/>
                  <a:ea typeface="+mj-ea"/>
                  <a:cs typeface="+mj-cs"/>
                </a:rPr>
                <a:t>1</a:t>
              </a:r>
            </a:p>
          </p:txBody>
        </p:sp>
        <p:sp>
          <p:nvSpPr>
            <p:cNvPr id="10" name="TextBox 10"/>
            <p:cNvSpPr txBox="1"/>
            <p:nvPr/>
          </p:nvSpPr>
          <p:spPr>
            <a:xfrm>
              <a:off x="1324737" y="1928336"/>
              <a:ext cx="2551976"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The design objective</a:t>
              </a:r>
            </a:p>
          </p:txBody>
        </p:sp>
        <p:sp>
          <p:nvSpPr>
            <p:cNvPr id="11" name="TextBox 11"/>
            <p:cNvSpPr txBox="1"/>
            <p:nvPr/>
          </p:nvSpPr>
          <p:spPr>
            <a:xfrm>
              <a:off x="1328166" y="2248852"/>
              <a:ext cx="340777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Find a molecule that maximizes a target property</a:t>
              </a:r>
            </a:p>
          </p:txBody>
        </p:sp>
        <p:sp>
          <p:nvSpPr>
            <p:cNvPr id="12" name="TextBox 12"/>
            <p:cNvSpPr txBox="1"/>
            <p:nvPr/>
          </p:nvSpPr>
          <p:spPr>
            <a:xfrm>
              <a:off x="869061" y="2856071"/>
              <a:ext cx="329886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Designing molecules that optimize a</a:t>
              </a:r>
            </a:p>
          </p:txBody>
        </p:sp>
        <p:sp>
          <p:nvSpPr>
            <p:cNvPr id="13" name="TextBox 13"/>
            <p:cNvSpPr txBox="1"/>
            <p:nvPr/>
          </p:nvSpPr>
          <p:spPr>
            <a:xfrm>
              <a:off x="869061" y="3122771"/>
              <a:ext cx="320685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desired property — such as binding</a:t>
              </a:r>
            </a:p>
          </p:txBody>
        </p:sp>
        <p:sp>
          <p:nvSpPr>
            <p:cNvPr id="14" name="TextBox 14"/>
            <p:cNvSpPr txBox="1"/>
            <p:nvPr/>
          </p:nvSpPr>
          <p:spPr>
            <a:xfrm>
              <a:off x="869061" y="3389471"/>
              <a:ext cx="286276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tightly to a viral protein — is a</a:t>
              </a:r>
            </a:p>
          </p:txBody>
        </p:sp>
        <p:sp>
          <p:nvSpPr>
            <p:cNvPr id="15" name="TextBox 15"/>
            <p:cNvSpPr txBox="1"/>
            <p:nvPr/>
          </p:nvSpPr>
          <p:spPr>
            <a:xfrm>
              <a:off x="869061" y="3656171"/>
              <a:ext cx="289144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central goal in drug discovery.</a:t>
              </a:r>
            </a:p>
          </p:txBody>
        </p:sp>
        <p:sp>
          <p:nvSpPr>
            <p:cNvPr id="16" name="Rectangle 16"/>
            <p:cNvSpPr/>
            <p:nvPr/>
          </p:nvSpPr>
          <p:spPr>
            <a:xfrm>
              <a:off x="876300" y="4305300"/>
              <a:ext cx="4724400" cy="838200"/>
            </a:xfrm>
            <a:prstGeom prst="roundRect">
              <a:avLst>
                <a:gd name="adj" fmla="val 9091"/>
              </a:avLst>
            </a:prstGeom>
            <a:solidFill>
              <a:schemeClr val="lt1"/>
            </a:solidFill>
            <a:ln w="9525">
              <a:solidFill>
                <a:schemeClr val="accent4"/>
              </a:solidFill>
            </a:ln>
          </p:spPr>
        </p:sp>
        <p:sp>
          <p:nvSpPr>
            <p:cNvPr id="17" name="Rectangle 17"/>
            <p:cNvSpPr/>
            <p:nvPr/>
          </p:nvSpPr>
          <p:spPr>
            <a:xfrm>
              <a:off x="876300" y="4305300"/>
              <a:ext cx="38100" cy="838200"/>
            </a:xfrm>
            <a:prstGeom prst="rect">
              <a:avLst/>
            </a:prstGeom>
            <a:solidFill>
              <a:srgbClr val="C2410C"/>
            </a:solidFill>
            <a:ln>
              <a:noFill/>
            </a:ln>
          </p:spPr>
        </p:sp>
        <p:sp>
          <p:nvSpPr>
            <p:cNvPr id="18" name="TextBox 18"/>
            <p:cNvSpPr txBox="1"/>
            <p:nvPr/>
          </p:nvSpPr>
          <p:spPr>
            <a:xfrm>
              <a:off x="1061847" y="4504849"/>
              <a:ext cx="783165" cy="190690"/>
            </a:xfrm>
            <a:prstGeom prst="rect">
              <a:avLst/>
            </a:prstGeom>
            <a:noFill/>
            <a:ln>
              <a:noFill/>
            </a:ln>
          </p:spPr>
          <p:txBody>
            <a:bodyPr wrap="none" lIns="0" tIns="0" rIns="0" bIns="0" anchor="t" anchorCtr="0">
              <a:spAutoFit/>
            </a:bodyPr>
            <a:lstStyle/>
            <a:p>
              <a:pPr algn="l"/>
              <a:r>
                <a:rPr lang="en-US" sz="980" b="1" spc="75" dirty="0">
                  <a:solidFill>
                    <a:srgbClr val="C2410C"/>
                  </a:solidFill>
                  <a:latin typeface="+mn-lt"/>
                  <a:ea typeface="+mn-ea"/>
                  <a:cs typeface="+mn-cs"/>
                </a:rPr>
                <a:t>THE CATCH</a:t>
              </a:r>
            </a:p>
          </p:txBody>
        </p:sp>
        <p:sp>
          <p:nvSpPr>
            <p:cNvPr id="19" name="TextBox 19"/>
            <p:cNvSpPr txBox="1"/>
            <p:nvPr/>
          </p:nvSpPr>
          <p:spPr>
            <a:xfrm>
              <a:off x="1060704" y="4728210"/>
              <a:ext cx="306268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It is extremely difficult to automate —</a:t>
              </a:r>
            </a:p>
          </p:txBody>
        </p:sp>
        <p:sp>
          <p:nvSpPr>
            <p:cNvPr id="20" name="TextBox 20"/>
            <p:cNvSpPr txBox="1"/>
            <p:nvPr/>
          </p:nvSpPr>
          <p:spPr>
            <a:xfrm>
              <a:off x="1060704" y="4918710"/>
              <a:ext cx="313806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manual discovery is slow and expensive.</a:t>
              </a:r>
            </a:p>
          </p:txBody>
        </p:sp>
      </p:grpSp>
      <p:grpSp>
        <p:nvGrpSpPr>
          <p:cNvPr id="38" name="Group 38"/>
          <p:cNvGrpSpPr/>
          <p:nvPr/>
        </p:nvGrpSpPr>
        <p:grpSpPr>
          <a:xfrm>
            <a:off x="6286500" y="1600200"/>
            <a:ext cx="5334000" cy="3848100"/>
            <a:chOff x="6286500" y="1600200"/>
            <a:chExt cx="5334000" cy="3848100"/>
          </a:xfrm>
        </p:grpSpPr>
        <p:sp>
          <p:nvSpPr>
            <p:cNvPr id="22" name="Rectangle 22"/>
            <p:cNvSpPr/>
            <p:nvPr/>
          </p:nvSpPr>
          <p:spPr>
            <a:xfrm>
              <a:off x="6286500" y="1600200"/>
              <a:ext cx="5334000" cy="3848100"/>
            </a:xfrm>
            <a:prstGeom prst="roundRect">
              <a:avLst>
                <a:gd name="adj" fmla="val 3465"/>
              </a:avLst>
            </a:prstGeom>
            <a:solidFill>
              <a:schemeClr val="lt2"/>
            </a:solidFill>
            <a:ln w="14288">
              <a:solidFill>
                <a:schemeClr val="accent4"/>
              </a:solidFill>
            </a:ln>
          </p:spPr>
        </p:sp>
        <p:sp>
          <p:nvSpPr>
            <p:cNvPr id="23" name="Rectangle 23"/>
            <p:cNvSpPr/>
            <p:nvPr/>
          </p:nvSpPr>
          <p:spPr>
            <a:xfrm>
              <a:off x="6286500" y="1600200"/>
              <a:ext cx="5334000" cy="57150"/>
            </a:xfrm>
            <a:prstGeom prst="roundRect">
              <a:avLst>
                <a:gd name="adj" fmla="val 50000"/>
              </a:avLst>
            </a:prstGeom>
            <a:solidFill>
              <a:schemeClr val="accent2"/>
            </a:solidFill>
            <a:ln>
              <a:noFill/>
            </a:ln>
          </p:spPr>
        </p:sp>
        <p:sp>
          <p:nvSpPr>
            <p:cNvPr id="24" name="Ellipse 24"/>
            <p:cNvSpPr/>
            <p:nvPr/>
          </p:nvSpPr>
          <p:spPr>
            <a:xfrm>
              <a:off x="6534150" y="2000250"/>
              <a:ext cx="342900" cy="342900"/>
            </a:xfrm>
            <a:prstGeom prst="ellipse">
              <a:avLst/>
            </a:prstGeom>
            <a:solidFill>
              <a:schemeClr val="accent1"/>
            </a:solidFill>
            <a:ln>
              <a:noFill/>
            </a:ln>
          </p:spPr>
        </p:sp>
        <p:sp>
          <p:nvSpPr>
            <p:cNvPr id="25" name="TextBox 25"/>
            <p:cNvSpPr txBox="1"/>
            <p:nvPr/>
          </p:nvSpPr>
          <p:spPr>
            <a:xfrm>
              <a:off x="6646551" y="2091214"/>
              <a:ext cx="118098"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j-lt"/>
                  <a:ea typeface="+mj-ea"/>
                  <a:cs typeface="+mj-cs"/>
                </a:rPr>
                <a:t>2</a:t>
              </a:r>
            </a:p>
          </p:txBody>
        </p:sp>
        <p:sp>
          <p:nvSpPr>
            <p:cNvPr id="26" name="TextBox 26"/>
            <p:cNvSpPr txBox="1"/>
            <p:nvPr/>
          </p:nvSpPr>
          <p:spPr>
            <a:xfrm>
              <a:off x="7039737" y="1928336"/>
              <a:ext cx="3362222"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Two intertwined obstacles</a:t>
              </a:r>
            </a:p>
          </p:txBody>
        </p:sp>
        <p:sp>
          <p:nvSpPr>
            <p:cNvPr id="27" name="TextBox 27"/>
            <p:cNvSpPr txBox="1"/>
            <p:nvPr/>
          </p:nvSpPr>
          <p:spPr>
            <a:xfrm>
              <a:off x="7043166" y="2248852"/>
              <a:ext cx="193090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Both must be solved at once</a:t>
              </a:r>
            </a:p>
          </p:txBody>
        </p:sp>
        <p:sp>
          <p:nvSpPr>
            <p:cNvPr id="28" name="Rectangle 28"/>
            <p:cNvSpPr/>
            <p:nvPr/>
          </p:nvSpPr>
          <p:spPr>
            <a:xfrm>
              <a:off x="6591300" y="2743200"/>
              <a:ext cx="4724400" cy="1123950"/>
            </a:xfrm>
            <a:prstGeom prst="roundRect">
              <a:avLst>
                <a:gd name="adj" fmla="val 6780"/>
              </a:avLst>
            </a:prstGeom>
            <a:solidFill>
              <a:schemeClr val="lt1"/>
            </a:solidFill>
            <a:ln w="9525">
              <a:solidFill>
                <a:schemeClr val="accent4"/>
              </a:solidFill>
            </a:ln>
          </p:spPr>
        </p:sp>
        <p:sp>
          <p:nvSpPr>
            <p:cNvPr id="29" name="TextBox 29"/>
            <p:cNvSpPr txBox="1"/>
            <p:nvPr/>
          </p:nvSpPr>
          <p:spPr>
            <a:xfrm>
              <a:off x="6776085" y="2926556"/>
              <a:ext cx="2484811"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A · Vast, discrete search space</a:t>
              </a:r>
            </a:p>
          </p:txBody>
        </p:sp>
        <p:sp>
          <p:nvSpPr>
            <p:cNvPr id="30" name="TextBox 30"/>
            <p:cNvSpPr txBox="1"/>
            <p:nvPr/>
          </p:nvSpPr>
          <p:spPr>
            <a:xfrm>
              <a:off x="6775704" y="3185160"/>
              <a:ext cx="239205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Chemical space is discrete and</a:t>
              </a:r>
            </a:p>
          </p:txBody>
        </p:sp>
        <p:sp>
          <p:nvSpPr>
            <p:cNvPr id="31" name="TextBox 31"/>
            <p:cNvSpPr txBox="1"/>
            <p:nvPr/>
          </p:nvSpPr>
          <p:spPr>
            <a:xfrm>
              <a:off x="6775704" y="3394710"/>
              <a:ext cx="270190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astronomically large, so efficient</a:t>
              </a:r>
            </a:p>
          </p:txBody>
        </p:sp>
        <p:sp>
          <p:nvSpPr>
            <p:cNvPr id="32" name="TextBox 32"/>
            <p:cNvSpPr txBox="1"/>
            <p:nvPr/>
          </p:nvSpPr>
          <p:spPr>
            <a:xfrm>
              <a:off x="6775704" y="3604260"/>
              <a:ext cx="271805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exploration is a serious challenge.</a:t>
              </a:r>
            </a:p>
          </p:txBody>
        </p:sp>
        <p:sp>
          <p:nvSpPr>
            <p:cNvPr id="33" name="Rectangle 33"/>
            <p:cNvSpPr/>
            <p:nvPr/>
          </p:nvSpPr>
          <p:spPr>
            <a:xfrm>
              <a:off x="6591300" y="4038600"/>
              <a:ext cx="4724400" cy="1123950"/>
            </a:xfrm>
            <a:prstGeom prst="roundRect">
              <a:avLst>
                <a:gd name="adj" fmla="val 6780"/>
              </a:avLst>
            </a:prstGeom>
            <a:solidFill>
              <a:schemeClr val="lt1"/>
            </a:solidFill>
            <a:ln w="9525">
              <a:solidFill>
                <a:schemeClr val="accent4"/>
              </a:solidFill>
            </a:ln>
          </p:spPr>
        </p:sp>
        <p:sp>
          <p:nvSpPr>
            <p:cNvPr id="34" name="TextBox 34"/>
            <p:cNvSpPr txBox="1"/>
            <p:nvPr/>
          </p:nvSpPr>
          <p:spPr>
            <a:xfrm>
              <a:off x="6776085" y="4221956"/>
              <a:ext cx="2135313"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B · Faithful representation</a:t>
              </a:r>
            </a:p>
          </p:txBody>
        </p:sp>
        <p:sp>
          <p:nvSpPr>
            <p:cNvPr id="35" name="TextBox 35"/>
            <p:cNvSpPr txBox="1"/>
            <p:nvPr/>
          </p:nvSpPr>
          <p:spPr>
            <a:xfrm>
              <a:off x="6775704" y="4480560"/>
              <a:ext cx="295784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Compressing a molecule — a connected</a:t>
              </a:r>
            </a:p>
          </p:txBody>
        </p:sp>
        <p:sp>
          <p:nvSpPr>
            <p:cNvPr id="36" name="TextBox 36"/>
            <p:cNvSpPr txBox="1"/>
            <p:nvPr/>
          </p:nvSpPr>
          <p:spPr>
            <a:xfrm>
              <a:off x="6775704" y="4690110"/>
              <a:ext cx="265343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graph of atoms and bonds — into a</a:t>
              </a:r>
            </a:p>
          </p:txBody>
        </p:sp>
        <p:sp>
          <p:nvSpPr>
            <p:cNvPr id="37" name="TextBox 37"/>
            <p:cNvSpPr txBox="1"/>
            <p:nvPr/>
          </p:nvSpPr>
          <p:spPr>
            <a:xfrm>
              <a:off x="6775704" y="4899660"/>
              <a:ext cx="307345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learnable feature vector is nontrivial.</a:t>
              </a:r>
            </a:p>
          </p:txBody>
        </p:sp>
      </p:grpSp>
      <p:grpSp>
        <p:nvGrpSpPr>
          <p:cNvPr id="41" name="Group 41"/>
          <p:cNvGrpSpPr/>
          <p:nvPr/>
        </p:nvGrpSpPr>
        <p:grpSpPr>
          <a:xfrm>
            <a:off x="566738" y="6597491"/>
            <a:ext cx="11058524" cy="161925"/>
            <a:chOff x="566738" y="6597491"/>
            <a:chExt cx="11058524" cy="161925"/>
          </a:xfrm>
        </p:grpSpPr>
        <p:sp>
          <p:nvSpPr>
            <p:cNvPr id="39" name="TextBox 39"/>
            <p:cNvSpPr txBox="1"/>
            <p:nvPr/>
          </p:nvSpPr>
          <p:spPr>
            <a:xfrm>
              <a:off x="566738" y="6597491"/>
              <a:ext cx="4763783"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DGAPN · Spatial Graph Attention and Curiosity-driven Policy for Antiviral Drug Discovery</a:t>
              </a:r>
            </a:p>
          </p:txBody>
        </p:sp>
        <p:sp>
          <p:nvSpPr>
            <p:cNvPr id="40" name="TextBox 40"/>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02</a:t>
              </a:r>
            </a:p>
          </p:txBody>
        </p:sp>
      </p:grpSp>
      <p:sp>
        <p:nvSpPr>
          <p:cNvPr id="42" name="cue_s02_c1_designing_molecules_optimize_propert" title="cue_s02_c1_designing_molecules_optimize_propert" descr="cue_s02_c1_designing_molecules_optimize_propert Designing molecules that optimize a property, like binding tightly to a viral protein, is a central goal in drug discovery, yet hard to automate."/>
          <p:cNvSpPr/>
          <p:nvPr/>
        </p:nvSpPr>
        <p:spPr>
          <a:xfrm>
            <a:off x="571804" y="1599971"/>
            <a:ext cx="5334000" cy="3848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2_chemical_space_discrete_astronomical" title="cue_s02_c2_chemical_space_discrete_astronomical" descr="cue_s02_c2_chemical_space_discrete_astronomical The chemical space is discrete and astronomically large, making exploration difficult, and compressing a molecule's atom-and-bond graph into a faithful, learnable representation is itself nontrivial."/>
          <p:cNvSpPr/>
          <p:nvPr/>
        </p:nvSpPr>
        <p:spPr>
          <a:xfrm>
            <a:off x="6286195" y="1599971"/>
            <a:ext cx="5334000" cy="3848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9162841" cy="656939"/>
            <a:chOff x="571500" y="533400"/>
            <a:chExt cx="9162841"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894719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Where prior generators leave value on the table</a:t>
              </a:r>
            </a:p>
          </p:txBody>
        </p:sp>
        <p:sp>
          <p:nvSpPr>
            <p:cNvPr id="4" name="TextBox 4"/>
            <p:cNvSpPr txBox="1"/>
            <p:nvPr/>
          </p:nvSpPr>
          <p:spPr>
            <a:xfrm>
              <a:off x="795147" y="999649"/>
              <a:ext cx="395026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MOTIVATION · TWO GAPS IN EARLIER APPROACHES</a:t>
              </a:r>
            </a:p>
          </p:txBody>
        </p:sp>
      </p:grpSp>
      <p:grpSp>
        <p:nvGrpSpPr>
          <p:cNvPr id="8" name="Group 8"/>
          <p:cNvGrpSpPr/>
          <p:nvPr/>
        </p:nvGrpSpPr>
        <p:grpSpPr>
          <a:xfrm>
            <a:off x="571500" y="1447800"/>
            <a:ext cx="11049000" cy="552450"/>
            <a:chOff x="571500" y="1447800"/>
            <a:chExt cx="11049000" cy="552450"/>
          </a:xfrm>
        </p:grpSpPr>
        <p:sp>
          <p:nvSpPr>
            <p:cNvPr id="6" name="Rectangle 6"/>
            <p:cNvSpPr/>
            <p:nvPr/>
          </p:nvSpPr>
          <p:spPr>
            <a:xfrm>
              <a:off x="571500" y="1447800"/>
              <a:ext cx="11049000" cy="552450"/>
            </a:xfrm>
            <a:prstGeom prst="roundRect">
              <a:avLst>
                <a:gd name="adj" fmla="val 17241"/>
              </a:avLst>
            </a:prstGeom>
            <a:solidFill>
              <a:schemeClr val="accent1"/>
            </a:solidFill>
            <a:ln>
              <a:noFill/>
            </a:ln>
          </p:spPr>
        </p:sp>
        <p:sp>
          <p:nvSpPr>
            <p:cNvPr id="7" name="TextBox 7"/>
            <p:cNvSpPr txBox="1"/>
            <p:nvPr/>
          </p:nvSpPr>
          <p:spPr>
            <a:xfrm>
              <a:off x="793242" y="1644968"/>
              <a:ext cx="363648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Prior generators fall short in two ways.</a:t>
              </a:r>
            </a:p>
          </p:txBody>
        </p:sp>
      </p:grpSp>
      <p:grpSp>
        <p:nvGrpSpPr>
          <p:cNvPr id="19" name="Group 19"/>
          <p:cNvGrpSpPr/>
          <p:nvPr/>
        </p:nvGrpSpPr>
        <p:grpSpPr>
          <a:xfrm>
            <a:off x="571500" y="2190750"/>
            <a:ext cx="5334000" cy="2762250"/>
            <a:chOff x="571500" y="2190750"/>
            <a:chExt cx="5334000" cy="2762250"/>
          </a:xfrm>
        </p:grpSpPr>
        <p:sp>
          <p:nvSpPr>
            <p:cNvPr id="9" name="Rectangle 9"/>
            <p:cNvSpPr/>
            <p:nvPr/>
          </p:nvSpPr>
          <p:spPr>
            <a:xfrm>
              <a:off x="571500" y="2190750"/>
              <a:ext cx="5334000" cy="2762250"/>
            </a:xfrm>
            <a:prstGeom prst="roundRect">
              <a:avLst>
                <a:gd name="adj" fmla="val 4828"/>
              </a:avLst>
            </a:prstGeom>
            <a:solidFill>
              <a:schemeClr val="lt1"/>
            </a:solidFill>
            <a:ln w="14288">
              <a:solidFill>
                <a:schemeClr val="accent4"/>
              </a:solidFill>
            </a:ln>
          </p:spPr>
        </p:sp>
        <p:sp>
          <p:nvSpPr>
            <p:cNvPr id="10" name="Rectangle 10"/>
            <p:cNvSpPr/>
            <p:nvPr/>
          </p:nvSpPr>
          <p:spPr>
            <a:xfrm>
              <a:off x="571500" y="2190750"/>
              <a:ext cx="57150" cy="2762250"/>
            </a:xfrm>
            <a:prstGeom prst="rect">
              <a:avLst/>
            </a:prstGeom>
            <a:solidFill>
              <a:srgbClr val="C2410C"/>
            </a:solidFill>
            <a:ln>
              <a:noFill/>
            </a:ln>
          </p:spPr>
        </p:sp>
        <p:sp>
          <p:nvSpPr>
            <p:cNvPr id="11" name="TextBox 11"/>
            <p:cNvSpPr txBox="1"/>
            <p:nvPr/>
          </p:nvSpPr>
          <p:spPr>
            <a:xfrm>
              <a:off x="871347" y="2485549"/>
              <a:ext cx="1998379" cy="190690"/>
            </a:xfrm>
            <a:prstGeom prst="rect">
              <a:avLst/>
            </a:prstGeom>
            <a:noFill/>
            <a:ln>
              <a:noFill/>
            </a:ln>
          </p:spPr>
          <p:txBody>
            <a:bodyPr wrap="none" lIns="0" tIns="0" rIns="0" bIns="0" anchor="t" anchorCtr="0">
              <a:spAutoFit/>
            </a:bodyPr>
            <a:lstStyle/>
            <a:p>
              <a:pPr algn="l"/>
              <a:r>
                <a:rPr lang="en-US" sz="980" b="1" spc="112" dirty="0">
                  <a:solidFill>
                    <a:srgbClr val="C2410C"/>
                  </a:solidFill>
                  <a:latin typeface="+mn-lt"/>
                  <a:ea typeface="+mn-ea"/>
                  <a:cs typeface="+mn-cs"/>
                </a:rPr>
                <a:t>GAP 1 · REPRESENTATION</a:t>
              </a:r>
            </a:p>
          </p:txBody>
        </p:sp>
        <p:sp>
          <p:nvSpPr>
            <p:cNvPr id="12" name="TextBox 12"/>
            <p:cNvSpPr txBox="1"/>
            <p:nvPr/>
          </p:nvSpPr>
          <p:spPr>
            <a:xfrm>
              <a:off x="867537" y="2747486"/>
              <a:ext cx="3157557"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Under-encoded molecules</a:t>
              </a:r>
            </a:p>
          </p:txBody>
        </p:sp>
        <p:sp>
          <p:nvSpPr>
            <p:cNvPr id="13" name="TextBox 13"/>
            <p:cNvSpPr txBox="1"/>
            <p:nvPr/>
          </p:nvSpPr>
          <p:spPr>
            <a:xfrm>
              <a:off x="869823" y="3196114"/>
              <a:ext cx="327562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Most graph networks encode only atom</a:t>
              </a:r>
            </a:p>
          </p:txBody>
        </p:sp>
        <p:sp>
          <p:nvSpPr>
            <p:cNvPr id="14" name="TextBox 14"/>
            <p:cNvSpPr txBox="1"/>
            <p:nvPr/>
          </p:nvSpPr>
          <p:spPr>
            <a:xfrm>
              <a:off x="869823" y="3424714"/>
              <a:ext cx="341614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attributes and adjacency — ignoring bond</a:t>
              </a:r>
            </a:p>
          </p:txBody>
        </p:sp>
        <p:sp>
          <p:nvSpPr>
            <p:cNvPr id="15" name="TextBox 15"/>
            <p:cNvSpPr txBox="1"/>
            <p:nvPr/>
          </p:nvSpPr>
          <p:spPr>
            <a:xfrm>
              <a:off x="869823" y="3653314"/>
              <a:ext cx="335312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attributes and 3D spatial arrangement.</a:t>
              </a:r>
            </a:p>
          </p:txBody>
        </p:sp>
        <p:sp>
          <p:nvSpPr>
            <p:cNvPr id="16" name="TextBox 16"/>
            <p:cNvSpPr txBox="1"/>
            <p:nvPr/>
          </p:nvSpPr>
          <p:spPr>
            <a:xfrm>
              <a:off x="869823" y="4110514"/>
              <a:ext cx="337866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Yet shape and chemical complementarity</a:t>
              </a:r>
            </a:p>
          </p:txBody>
        </p:sp>
        <p:sp>
          <p:nvSpPr>
            <p:cNvPr id="17" name="TextBox 17"/>
            <p:cNvSpPr txBox="1"/>
            <p:nvPr/>
          </p:nvSpPr>
          <p:spPr>
            <a:xfrm>
              <a:off x="869823" y="4339114"/>
              <a:ext cx="344199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to the receptor pocket are exactly what</a:t>
              </a:r>
            </a:p>
          </p:txBody>
        </p:sp>
        <p:sp>
          <p:nvSpPr>
            <p:cNvPr id="18" name="TextBox 18"/>
            <p:cNvSpPr txBox="1"/>
            <p:nvPr/>
          </p:nvSpPr>
          <p:spPr>
            <a:xfrm>
              <a:off x="869823" y="4567714"/>
              <a:ext cx="258042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make a molecule a good binder.</a:t>
              </a:r>
            </a:p>
          </p:txBody>
        </p:sp>
      </p:grpSp>
      <p:grpSp>
        <p:nvGrpSpPr>
          <p:cNvPr id="30" name="Group 30"/>
          <p:cNvGrpSpPr/>
          <p:nvPr/>
        </p:nvGrpSpPr>
        <p:grpSpPr>
          <a:xfrm>
            <a:off x="6286500" y="2190750"/>
            <a:ext cx="5334000" cy="2762250"/>
            <a:chOff x="6286500" y="2190750"/>
            <a:chExt cx="5334000" cy="2762250"/>
          </a:xfrm>
        </p:grpSpPr>
        <p:sp>
          <p:nvSpPr>
            <p:cNvPr id="20" name="Rectangle 20"/>
            <p:cNvSpPr/>
            <p:nvPr/>
          </p:nvSpPr>
          <p:spPr>
            <a:xfrm>
              <a:off x="6286500" y="2190750"/>
              <a:ext cx="5334000" cy="2762250"/>
            </a:xfrm>
            <a:prstGeom prst="roundRect">
              <a:avLst>
                <a:gd name="adj" fmla="val 4828"/>
              </a:avLst>
            </a:prstGeom>
            <a:solidFill>
              <a:schemeClr val="lt1"/>
            </a:solidFill>
            <a:ln w="14288">
              <a:solidFill>
                <a:schemeClr val="accent4"/>
              </a:solidFill>
            </a:ln>
          </p:spPr>
        </p:sp>
        <p:sp>
          <p:nvSpPr>
            <p:cNvPr id="21" name="Rectangle 21"/>
            <p:cNvSpPr/>
            <p:nvPr/>
          </p:nvSpPr>
          <p:spPr>
            <a:xfrm>
              <a:off x="6286500" y="2190750"/>
              <a:ext cx="57150" cy="2762250"/>
            </a:xfrm>
            <a:prstGeom prst="rect">
              <a:avLst/>
            </a:prstGeom>
            <a:solidFill>
              <a:srgbClr val="C2410C"/>
            </a:solidFill>
            <a:ln>
              <a:noFill/>
            </a:ln>
          </p:spPr>
        </p:sp>
        <p:sp>
          <p:nvSpPr>
            <p:cNvPr id="22" name="TextBox 22"/>
            <p:cNvSpPr txBox="1"/>
            <p:nvPr/>
          </p:nvSpPr>
          <p:spPr>
            <a:xfrm>
              <a:off x="6586347" y="2485549"/>
              <a:ext cx="1768924" cy="190690"/>
            </a:xfrm>
            <a:prstGeom prst="rect">
              <a:avLst/>
            </a:prstGeom>
            <a:noFill/>
            <a:ln>
              <a:noFill/>
            </a:ln>
          </p:spPr>
          <p:txBody>
            <a:bodyPr wrap="none" lIns="0" tIns="0" rIns="0" bIns="0" anchor="t" anchorCtr="0">
              <a:spAutoFit/>
            </a:bodyPr>
            <a:lstStyle/>
            <a:p>
              <a:pPr algn="l"/>
              <a:r>
                <a:rPr lang="en-US" sz="980" b="1" spc="112" dirty="0">
                  <a:solidFill>
                    <a:srgbClr val="C2410C"/>
                  </a:solidFill>
                  <a:latin typeface="+mn-lt"/>
                  <a:ea typeface="+mn-ea"/>
                  <a:cs typeface="+mn-cs"/>
                </a:rPr>
                <a:t>GAP 2 · ACTION SPACE</a:t>
              </a:r>
            </a:p>
          </p:txBody>
        </p:sp>
        <p:sp>
          <p:nvSpPr>
            <p:cNvPr id="23" name="TextBox 23"/>
            <p:cNvSpPr txBox="1"/>
            <p:nvPr/>
          </p:nvSpPr>
          <p:spPr>
            <a:xfrm>
              <a:off x="6582537" y="2747486"/>
              <a:ext cx="2863908"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Atom-by-atom building</a:t>
              </a:r>
            </a:p>
          </p:txBody>
        </p:sp>
        <p:sp>
          <p:nvSpPr>
            <p:cNvPr id="24" name="TextBox 24"/>
            <p:cNvSpPr txBox="1"/>
            <p:nvPr/>
          </p:nvSpPr>
          <p:spPr>
            <a:xfrm>
              <a:off x="6584823" y="3196114"/>
              <a:ext cx="344180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Many RL generators build molecules atom</a:t>
              </a:r>
            </a:p>
          </p:txBody>
        </p:sp>
        <p:sp>
          <p:nvSpPr>
            <p:cNvPr id="25" name="TextBox 25"/>
            <p:cNvSpPr txBox="1"/>
            <p:nvPr/>
          </p:nvSpPr>
          <p:spPr>
            <a:xfrm>
              <a:off x="6584823" y="3424714"/>
              <a:ext cx="321798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by atom and bond by bond, giving long,</a:t>
              </a:r>
            </a:p>
          </p:txBody>
        </p:sp>
        <p:sp>
          <p:nvSpPr>
            <p:cNvPr id="26" name="TextBox 26"/>
            <p:cNvSpPr txBox="1"/>
            <p:nvPr/>
          </p:nvSpPr>
          <p:spPr>
            <a:xfrm>
              <a:off x="6584823" y="3653314"/>
              <a:ext cx="288197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unstable generation trajectories.</a:t>
              </a:r>
            </a:p>
          </p:txBody>
        </p:sp>
        <p:sp>
          <p:nvSpPr>
            <p:cNvPr id="27" name="TextBox 27"/>
            <p:cNvSpPr txBox="1"/>
            <p:nvPr/>
          </p:nvSpPr>
          <p:spPr>
            <a:xfrm>
              <a:off x="6584823" y="4110514"/>
              <a:ext cx="326699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result: molecules that are hard to</a:t>
              </a:r>
            </a:p>
          </p:txBody>
        </p:sp>
        <p:sp>
          <p:nvSpPr>
            <p:cNvPr id="28" name="TextBox 28"/>
            <p:cNvSpPr txBox="1"/>
            <p:nvPr/>
          </p:nvSpPr>
          <p:spPr>
            <a:xfrm>
              <a:off x="6584823" y="4339114"/>
              <a:ext cx="3364454"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synthesize, and poor exploration of the</a:t>
              </a:r>
            </a:p>
          </p:txBody>
        </p:sp>
        <p:sp>
          <p:nvSpPr>
            <p:cNvPr id="29" name="TextBox 29"/>
            <p:cNvSpPr txBox="1"/>
            <p:nvPr/>
          </p:nvSpPr>
          <p:spPr>
            <a:xfrm>
              <a:off x="6584823" y="4567714"/>
              <a:ext cx="1339769"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chemical space.</a:t>
              </a:r>
            </a:p>
          </p:txBody>
        </p:sp>
      </p:grpSp>
      <p:grpSp>
        <p:nvGrpSpPr>
          <p:cNvPr id="35" name="Group 35"/>
          <p:cNvGrpSpPr/>
          <p:nvPr/>
        </p:nvGrpSpPr>
        <p:grpSpPr>
          <a:xfrm>
            <a:off x="571500" y="5143500"/>
            <a:ext cx="11049000" cy="723900"/>
            <a:chOff x="571500" y="5143500"/>
            <a:chExt cx="11049000" cy="723900"/>
          </a:xfrm>
        </p:grpSpPr>
        <p:sp>
          <p:nvSpPr>
            <p:cNvPr id="31" name="Rectangle 31"/>
            <p:cNvSpPr/>
            <p:nvPr/>
          </p:nvSpPr>
          <p:spPr>
            <a:xfrm>
              <a:off x="571500" y="5143500"/>
              <a:ext cx="11049000" cy="723900"/>
            </a:xfrm>
            <a:prstGeom prst="roundRect">
              <a:avLst>
                <a:gd name="adj" fmla="val 13158"/>
              </a:avLst>
            </a:prstGeom>
            <a:solidFill>
              <a:schemeClr val="accent6"/>
            </a:solidFill>
            <a:ln w="14288">
              <a:solidFill>
                <a:schemeClr val="accent3"/>
              </a:solidFill>
            </a:ln>
          </p:spPr>
        </p:sp>
        <p:sp>
          <p:nvSpPr>
            <p:cNvPr id="32" name="Rectangle 32"/>
            <p:cNvSpPr/>
            <p:nvPr/>
          </p:nvSpPr>
          <p:spPr>
            <a:xfrm>
              <a:off x="571500" y="5143500"/>
              <a:ext cx="57150" cy="723900"/>
            </a:xfrm>
            <a:prstGeom prst="roundRect">
              <a:avLst>
                <a:gd name="adj" fmla="val 50000"/>
              </a:avLst>
            </a:prstGeom>
            <a:solidFill>
              <a:schemeClr val="accent2"/>
            </a:solidFill>
            <a:ln>
              <a:noFill/>
            </a:ln>
          </p:spPr>
        </p:sp>
        <p:sp>
          <p:nvSpPr>
            <p:cNvPr id="33" name="TextBox 33"/>
            <p:cNvSpPr txBox="1"/>
            <p:nvPr/>
          </p:nvSpPr>
          <p:spPr>
            <a:xfrm>
              <a:off x="871347" y="5343049"/>
              <a:ext cx="1605334"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DESIGN IMPLICATION</a:t>
              </a:r>
            </a:p>
          </p:txBody>
        </p:sp>
        <p:sp>
          <p:nvSpPr>
            <p:cNvPr id="34" name="TextBox 34"/>
            <p:cNvSpPr txBox="1"/>
            <p:nvPr/>
          </p:nvSpPr>
          <p:spPr>
            <a:xfrm>
              <a:off x="869442" y="5569268"/>
              <a:ext cx="559709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Encode 3D structure and edge info; act over whole fragments.</a:t>
              </a:r>
            </a:p>
          </p:txBody>
        </p:sp>
      </p:grpSp>
      <p:grpSp>
        <p:nvGrpSpPr>
          <p:cNvPr id="38" name="Group 38"/>
          <p:cNvGrpSpPr/>
          <p:nvPr/>
        </p:nvGrpSpPr>
        <p:grpSpPr>
          <a:xfrm>
            <a:off x="566738" y="6597491"/>
            <a:ext cx="11058524" cy="161925"/>
            <a:chOff x="566738" y="6597491"/>
            <a:chExt cx="11058524" cy="161925"/>
          </a:xfrm>
        </p:grpSpPr>
        <p:sp>
          <p:nvSpPr>
            <p:cNvPr id="36" name="TextBox 36"/>
            <p:cNvSpPr txBox="1"/>
            <p:nvPr/>
          </p:nvSpPr>
          <p:spPr>
            <a:xfrm>
              <a:off x="566738" y="6597491"/>
              <a:ext cx="4763783"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DGAPN · Spatial Graph Attention and Curiosity-driven Policy for Antiviral Drug Discovery</a:t>
              </a:r>
            </a:p>
          </p:txBody>
        </p:sp>
        <p:sp>
          <p:nvSpPr>
            <p:cNvPr id="37" name="TextBox 37"/>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03</a:t>
              </a:r>
            </a:p>
          </p:txBody>
        </p:sp>
      </p:grpSp>
      <p:sp>
        <p:nvSpPr>
          <p:cNvPr id="39" name="cue_s03_c1_prior_methods_leave_value_table" title="cue_s03_c1_prior_methods_leave_value_table" descr="cue_s03_c1_prior_methods_leave_value_table Prior methods leave value on the table twice."/>
          <p:cNvSpPr/>
          <p:nvPr/>
        </p:nvSpPr>
        <p:spPr>
          <a:xfrm>
            <a:off x="571804" y="1447723"/>
            <a:ext cx="1104839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3_c2_first_most_graph_networks_encode" title="cue_s03_c2_first_most_graph_networks_encode" descr="cue_s03_c2_first_most_graph_networks_encode First, most graph networks encode only atom attributes and adjacency, ignoring bond features and 3D geometry, even though shape and complementarity to the receptor pocket make a good binder."/>
          <p:cNvSpPr/>
          <p:nvPr/>
        </p:nvSpPr>
        <p:spPr>
          <a:xfrm>
            <a:off x="571804" y="2190445"/>
            <a:ext cx="5334000" cy="27624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3_second_building_molecules_atom_atom" title="cue_s03_c3_second_building_molecules_atom_atom" descr="cue_s03_c3_second_building_molecules_atom_atom Second, building molecules atom by atom gives long, unstable trajectories and hard-to-synthesize products."/>
          <p:cNvSpPr/>
          <p:nvPr/>
        </p:nvSpPr>
        <p:spPr>
          <a:xfrm>
            <a:off x="6286195" y="2190445"/>
            <a:ext cx="5334000" cy="27624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3_c4_motivates_encoding_spatial_structure" title="cue_s03_c4_motivates_encoding_spatial_structure" descr="cue_s03_c4_motivates_encoding_spatial_structure This motivates encoding spatial structure while acting over whole fragments."/>
          <p:cNvSpPr/>
          <p:nvPr/>
        </p:nvSpPr>
        <p:spPr>
          <a:xfrm>
            <a:off x="571804" y="5143500"/>
            <a:ext cx="11048390"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361298" cy="656939"/>
            <a:chOff x="571500" y="533400"/>
            <a:chExt cx="7361298"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145652"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Three contributions that form DGAPN</a:t>
              </a:r>
            </a:p>
          </p:txBody>
        </p:sp>
        <p:sp>
          <p:nvSpPr>
            <p:cNvPr id="4" name="TextBox 4"/>
            <p:cNvSpPr txBox="1"/>
            <p:nvPr/>
          </p:nvSpPr>
          <p:spPr>
            <a:xfrm>
              <a:off x="795147" y="999649"/>
              <a:ext cx="337405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CONTRIBUTION · sGAT + GAPN + CURIOSITY</a:t>
              </a:r>
            </a:p>
          </p:txBody>
        </p:sp>
      </p:grpSp>
      <p:grpSp>
        <p:nvGrpSpPr>
          <p:cNvPr id="8" name="Group 8"/>
          <p:cNvGrpSpPr/>
          <p:nvPr/>
        </p:nvGrpSpPr>
        <p:grpSpPr>
          <a:xfrm>
            <a:off x="571500" y="1428750"/>
            <a:ext cx="11049000" cy="533400"/>
            <a:chOff x="571500" y="1428750"/>
            <a:chExt cx="11049000" cy="533400"/>
          </a:xfrm>
        </p:grpSpPr>
        <p:sp>
          <p:nvSpPr>
            <p:cNvPr id="6" name="Rectangle 6"/>
            <p:cNvSpPr/>
            <p:nvPr/>
          </p:nvSpPr>
          <p:spPr>
            <a:xfrm>
              <a:off x="571500" y="1428750"/>
              <a:ext cx="11049000" cy="533400"/>
            </a:xfrm>
            <a:prstGeom prst="roundRect">
              <a:avLst>
                <a:gd name="adj" fmla="val 17857"/>
              </a:avLst>
            </a:prstGeom>
            <a:solidFill>
              <a:schemeClr val="accent1"/>
            </a:solidFill>
            <a:ln>
              <a:noFill/>
            </a:ln>
          </p:spPr>
        </p:sp>
        <p:sp>
          <p:nvSpPr>
            <p:cNvPr id="7" name="TextBox 7"/>
            <p:cNvSpPr txBox="1"/>
            <p:nvPr/>
          </p:nvSpPr>
          <p:spPr>
            <a:xfrm>
              <a:off x="793242" y="1616392"/>
              <a:ext cx="3449430"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Three components combine into DGAPN.</a:t>
              </a:r>
            </a:p>
          </p:txBody>
        </p:sp>
      </p:grpSp>
      <p:grpSp>
        <p:nvGrpSpPr>
          <p:cNvPr id="24" name="Group 24"/>
          <p:cNvGrpSpPr/>
          <p:nvPr/>
        </p:nvGrpSpPr>
        <p:grpSpPr>
          <a:xfrm>
            <a:off x="571500" y="2228850"/>
            <a:ext cx="3429000" cy="3638550"/>
            <a:chOff x="571500" y="2228850"/>
            <a:chExt cx="3429000" cy="3638550"/>
          </a:xfrm>
        </p:grpSpPr>
        <p:sp>
          <p:nvSpPr>
            <p:cNvPr id="9" name="Rectangle 9"/>
            <p:cNvSpPr/>
            <p:nvPr/>
          </p:nvSpPr>
          <p:spPr>
            <a:xfrm>
              <a:off x="571500" y="2228850"/>
              <a:ext cx="3429000" cy="3638550"/>
            </a:xfrm>
            <a:prstGeom prst="roundRect">
              <a:avLst>
                <a:gd name="adj" fmla="val 3889"/>
              </a:avLst>
            </a:prstGeom>
            <a:solidFill>
              <a:schemeClr val="lt1"/>
            </a:solidFill>
            <a:ln w="14288">
              <a:solidFill>
                <a:schemeClr val="accent4"/>
              </a:solidFill>
            </a:ln>
          </p:spPr>
        </p:sp>
        <p:sp>
          <p:nvSpPr>
            <p:cNvPr id="10" name="Rectangle 10"/>
            <p:cNvSpPr/>
            <p:nvPr/>
          </p:nvSpPr>
          <p:spPr>
            <a:xfrm>
              <a:off x="571500" y="2228850"/>
              <a:ext cx="3429000" cy="57150"/>
            </a:xfrm>
            <a:prstGeom prst="roundRect">
              <a:avLst>
                <a:gd name="adj" fmla="val 50000"/>
              </a:avLst>
            </a:prstGeom>
            <a:solidFill>
              <a:schemeClr val="accent2"/>
            </a:solidFill>
            <a:ln>
              <a:noFill/>
            </a:ln>
          </p:spPr>
        </p:sp>
        <p:sp>
          <p:nvSpPr>
            <p:cNvPr id="11" name="Ellipse 11"/>
            <p:cNvSpPr/>
            <p:nvPr/>
          </p:nvSpPr>
          <p:spPr>
            <a:xfrm>
              <a:off x="762000" y="2571750"/>
              <a:ext cx="381000" cy="381000"/>
            </a:xfrm>
            <a:prstGeom prst="ellipse">
              <a:avLst/>
            </a:prstGeom>
            <a:solidFill>
              <a:schemeClr val="accent2"/>
            </a:solidFill>
            <a:ln>
              <a:noFill/>
            </a:ln>
          </p:spPr>
        </p:sp>
        <p:sp>
          <p:nvSpPr>
            <p:cNvPr id="12" name="TextBox 12"/>
            <p:cNvSpPr txBox="1"/>
            <p:nvPr/>
          </p:nvSpPr>
          <p:spPr>
            <a:xfrm>
              <a:off x="886939" y="2675096"/>
              <a:ext cx="131122"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mj-lt"/>
                  <a:ea typeface="+mj-ea"/>
                  <a:cs typeface="+mj-cs"/>
                </a:rPr>
                <a:t>1</a:t>
              </a:r>
            </a:p>
          </p:txBody>
        </p:sp>
        <p:sp>
          <p:nvSpPr>
            <p:cNvPr id="13" name="TextBox 13"/>
            <p:cNvSpPr txBox="1"/>
            <p:nvPr/>
          </p:nvSpPr>
          <p:spPr>
            <a:xfrm>
              <a:off x="1252347" y="2599849"/>
              <a:ext cx="359172"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sGAT</a:t>
              </a:r>
            </a:p>
          </p:txBody>
        </p:sp>
        <p:sp>
          <p:nvSpPr>
            <p:cNvPr id="14" name="TextBox 14"/>
            <p:cNvSpPr txBox="1"/>
            <p:nvPr/>
          </p:nvSpPr>
          <p:spPr>
            <a:xfrm>
              <a:off x="1249680" y="2752725"/>
              <a:ext cx="208919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Spatial Graph Attn</a:t>
              </a:r>
            </a:p>
          </p:txBody>
        </p:sp>
        <p:sp>
          <p:nvSpPr>
            <p:cNvPr id="15" name="TextBox 15"/>
            <p:cNvSpPr txBox="1"/>
            <p:nvPr/>
          </p:nvSpPr>
          <p:spPr>
            <a:xfrm>
              <a:off x="869823" y="3291364"/>
              <a:ext cx="195841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 hybrid GNN that self-</a:t>
              </a:r>
            </a:p>
          </p:txBody>
        </p:sp>
        <p:sp>
          <p:nvSpPr>
            <p:cNvPr id="16" name="TextBox 16"/>
            <p:cNvSpPr txBox="1"/>
            <p:nvPr/>
          </p:nvSpPr>
          <p:spPr>
            <a:xfrm>
              <a:off x="869823" y="3519964"/>
              <a:ext cx="230472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attends over both node and</a:t>
              </a:r>
            </a:p>
          </p:txBody>
        </p:sp>
        <p:sp>
          <p:nvSpPr>
            <p:cNvPr id="17" name="TextBox 17"/>
            <p:cNvSpPr txBox="1"/>
            <p:nvPr/>
          </p:nvSpPr>
          <p:spPr>
            <a:xfrm>
              <a:off x="869823" y="3748564"/>
              <a:ext cx="144315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edge attributes.</a:t>
              </a:r>
            </a:p>
          </p:txBody>
        </p:sp>
        <p:sp>
          <p:nvSpPr>
            <p:cNvPr id="18" name="TextBox 18"/>
            <p:cNvSpPr txBox="1"/>
            <p:nvPr/>
          </p:nvSpPr>
          <p:spPr>
            <a:xfrm>
              <a:off x="869823" y="4167664"/>
              <a:ext cx="2213724"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Encodes the molecule's 3D</a:t>
              </a:r>
            </a:p>
          </p:txBody>
        </p:sp>
        <p:sp>
          <p:nvSpPr>
            <p:cNvPr id="19" name="TextBox 19"/>
            <p:cNvSpPr txBox="1"/>
            <p:nvPr/>
          </p:nvSpPr>
          <p:spPr>
            <a:xfrm>
              <a:off x="869823" y="4396264"/>
              <a:ext cx="245119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spatial structure through an</a:t>
              </a:r>
            </a:p>
          </p:txBody>
        </p:sp>
        <p:sp>
          <p:nvSpPr>
            <p:cNvPr id="20" name="TextBox 20"/>
            <p:cNvSpPr txBox="1"/>
            <p:nvPr/>
          </p:nvSpPr>
          <p:spPr>
            <a:xfrm>
              <a:off x="869823" y="4624864"/>
              <a:ext cx="2106564"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inverse distance matrix.</a:t>
              </a:r>
            </a:p>
          </p:txBody>
        </p:sp>
        <p:sp>
          <p:nvSpPr>
            <p:cNvPr id="21" name="Rectangle 21"/>
            <p:cNvSpPr/>
            <p:nvPr/>
          </p:nvSpPr>
          <p:spPr>
            <a:xfrm>
              <a:off x="876300" y="5143500"/>
              <a:ext cx="2819400" cy="495300"/>
            </a:xfrm>
            <a:prstGeom prst="roundRect">
              <a:avLst>
                <a:gd name="adj" fmla="val 15385"/>
              </a:avLst>
            </a:prstGeom>
            <a:solidFill>
              <a:schemeClr val="accent6"/>
            </a:solidFill>
            <a:ln>
              <a:noFill/>
            </a:ln>
          </p:spPr>
        </p:sp>
        <p:sp>
          <p:nvSpPr>
            <p:cNvPr id="22" name="TextBox 22"/>
            <p:cNvSpPr txBox="1"/>
            <p:nvPr/>
          </p:nvSpPr>
          <p:spPr>
            <a:xfrm>
              <a:off x="1023747" y="5247799"/>
              <a:ext cx="1597966"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CHEMISTRY + GEOMETRY</a:t>
              </a:r>
            </a:p>
          </p:txBody>
        </p:sp>
        <p:sp>
          <p:nvSpPr>
            <p:cNvPr id="23" name="TextBox 23"/>
            <p:cNvSpPr txBox="1"/>
            <p:nvPr/>
          </p:nvSpPr>
          <p:spPr>
            <a:xfrm>
              <a:off x="1023366" y="5430202"/>
              <a:ext cx="150192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in one representation</a:t>
              </a:r>
            </a:p>
          </p:txBody>
        </p:sp>
      </p:grpSp>
      <p:grpSp>
        <p:nvGrpSpPr>
          <p:cNvPr id="40" name="Group 40"/>
          <p:cNvGrpSpPr/>
          <p:nvPr/>
        </p:nvGrpSpPr>
        <p:grpSpPr>
          <a:xfrm>
            <a:off x="4381500" y="2228850"/>
            <a:ext cx="3429000" cy="3638550"/>
            <a:chOff x="4381500" y="2228850"/>
            <a:chExt cx="3429000" cy="3638550"/>
          </a:xfrm>
        </p:grpSpPr>
        <p:sp>
          <p:nvSpPr>
            <p:cNvPr id="25" name="Rectangle 25"/>
            <p:cNvSpPr/>
            <p:nvPr/>
          </p:nvSpPr>
          <p:spPr>
            <a:xfrm>
              <a:off x="4381500" y="2228850"/>
              <a:ext cx="3429000" cy="3638550"/>
            </a:xfrm>
            <a:prstGeom prst="roundRect">
              <a:avLst>
                <a:gd name="adj" fmla="val 3889"/>
              </a:avLst>
            </a:prstGeom>
            <a:solidFill>
              <a:schemeClr val="lt1"/>
            </a:solidFill>
            <a:ln w="14288">
              <a:solidFill>
                <a:schemeClr val="accent4"/>
              </a:solidFill>
            </a:ln>
          </p:spPr>
        </p:sp>
        <p:sp>
          <p:nvSpPr>
            <p:cNvPr id="26" name="Rectangle 26"/>
            <p:cNvSpPr/>
            <p:nvPr/>
          </p:nvSpPr>
          <p:spPr>
            <a:xfrm>
              <a:off x="4381500" y="2228850"/>
              <a:ext cx="3429000" cy="57150"/>
            </a:xfrm>
            <a:prstGeom prst="roundRect">
              <a:avLst>
                <a:gd name="adj" fmla="val 50000"/>
              </a:avLst>
            </a:prstGeom>
            <a:solidFill>
              <a:schemeClr val="accent2"/>
            </a:solidFill>
            <a:ln>
              <a:noFill/>
            </a:ln>
          </p:spPr>
        </p:sp>
        <p:sp>
          <p:nvSpPr>
            <p:cNvPr id="27" name="Ellipse 27"/>
            <p:cNvSpPr/>
            <p:nvPr/>
          </p:nvSpPr>
          <p:spPr>
            <a:xfrm>
              <a:off x="4572000" y="2571750"/>
              <a:ext cx="381000" cy="381000"/>
            </a:xfrm>
            <a:prstGeom prst="ellipse">
              <a:avLst/>
            </a:prstGeom>
            <a:solidFill>
              <a:schemeClr val="accent2"/>
            </a:solidFill>
            <a:ln>
              <a:noFill/>
            </a:ln>
          </p:spPr>
        </p:sp>
        <p:sp>
          <p:nvSpPr>
            <p:cNvPr id="28" name="TextBox 28"/>
            <p:cNvSpPr txBox="1"/>
            <p:nvPr/>
          </p:nvSpPr>
          <p:spPr>
            <a:xfrm>
              <a:off x="4696939" y="2675096"/>
              <a:ext cx="131122"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mj-lt"/>
                  <a:ea typeface="+mj-ea"/>
                  <a:cs typeface="+mj-cs"/>
                </a:rPr>
                <a:t>2</a:t>
              </a:r>
            </a:p>
          </p:txBody>
        </p:sp>
        <p:sp>
          <p:nvSpPr>
            <p:cNvPr id="29" name="TextBox 29"/>
            <p:cNvSpPr txBox="1"/>
            <p:nvPr/>
          </p:nvSpPr>
          <p:spPr>
            <a:xfrm>
              <a:off x="5062347" y="2599849"/>
              <a:ext cx="363913"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GAPN</a:t>
              </a:r>
            </a:p>
          </p:txBody>
        </p:sp>
        <p:sp>
          <p:nvSpPr>
            <p:cNvPr id="30" name="TextBox 30"/>
            <p:cNvSpPr txBox="1"/>
            <p:nvPr/>
          </p:nvSpPr>
          <p:spPr>
            <a:xfrm>
              <a:off x="5059680" y="2752725"/>
              <a:ext cx="197750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Attentional policy</a:t>
              </a:r>
            </a:p>
          </p:txBody>
        </p:sp>
        <p:sp>
          <p:nvSpPr>
            <p:cNvPr id="31" name="TextBox 31"/>
            <p:cNvSpPr txBox="1"/>
            <p:nvPr/>
          </p:nvSpPr>
          <p:spPr>
            <a:xfrm>
              <a:off x="4679823" y="3291364"/>
              <a:ext cx="175879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 policy tailored to a</a:t>
              </a:r>
            </a:p>
          </p:txBody>
        </p:sp>
        <p:sp>
          <p:nvSpPr>
            <p:cNvPr id="32" name="TextBox 32"/>
            <p:cNvSpPr txBox="1"/>
            <p:nvPr/>
          </p:nvSpPr>
          <p:spPr>
            <a:xfrm>
              <a:off x="4679823" y="3519964"/>
              <a:ext cx="217549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dynamic, fragment-based</a:t>
              </a:r>
            </a:p>
          </p:txBody>
        </p:sp>
        <p:sp>
          <p:nvSpPr>
            <p:cNvPr id="33" name="TextBox 33"/>
            <p:cNvSpPr txBox="1"/>
            <p:nvPr/>
          </p:nvSpPr>
          <p:spPr>
            <a:xfrm>
              <a:off x="4679823" y="3748564"/>
              <a:ext cx="115883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action space.</a:t>
              </a:r>
            </a:p>
          </p:txBody>
        </p:sp>
        <p:sp>
          <p:nvSpPr>
            <p:cNvPr id="34" name="TextBox 34"/>
            <p:cNvSpPr txBox="1"/>
            <p:nvPr/>
          </p:nvSpPr>
          <p:spPr>
            <a:xfrm>
              <a:off x="4679823" y="4167664"/>
              <a:ext cx="249967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It scores candidate molecules</a:t>
              </a:r>
            </a:p>
          </p:txBody>
        </p:sp>
        <p:sp>
          <p:nvSpPr>
            <p:cNvPr id="35" name="TextBox 35"/>
            <p:cNvSpPr txBox="1"/>
            <p:nvPr/>
          </p:nvSpPr>
          <p:spPr>
            <a:xfrm>
              <a:off x="4679823" y="4396264"/>
              <a:ext cx="227026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by attention and is trained</a:t>
              </a:r>
            </a:p>
          </p:txBody>
        </p:sp>
        <p:sp>
          <p:nvSpPr>
            <p:cNvPr id="36" name="TextBox 36"/>
            <p:cNvSpPr txBox="1"/>
            <p:nvPr/>
          </p:nvSpPr>
          <p:spPr>
            <a:xfrm>
              <a:off x="4679823" y="4624864"/>
              <a:ext cx="2106564"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with proximal policy opt.</a:t>
              </a:r>
            </a:p>
          </p:txBody>
        </p:sp>
        <p:sp>
          <p:nvSpPr>
            <p:cNvPr id="37" name="Rectangle 37"/>
            <p:cNvSpPr/>
            <p:nvPr/>
          </p:nvSpPr>
          <p:spPr>
            <a:xfrm>
              <a:off x="4686300" y="5143500"/>
              <a:ext cx="2819400" cy="495300"/>
            </a:xfrm>
            <a:prstGeom prst="roundRect">
              <a:avLst>
                <a:gd name="adj" fmla="val 15385"/>
              </a:avLst>
            </a:prstGeom>
            <a:solidFill>
              <a:schemeClr val="accent6"/>
            </a:solidFill>
            <a:ln>
              <a:noFill/>
            </a:ln>
          </p:spPr>
        </p:sp>
        <p:sp>
          <p:nvSpPr>
            <p:cNvPr id="38" name="TextBox 38"/>
            <p:cNvSpPr txBox="1"/>
            <p:nvPr/>
          </p:nvSpPr>
          <p:spPr>
            <a:xfrm>
              <a:off x="4833747" y="5247799"/>
              <a:ext cx="1371100"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PPO · ACTOR–CRITIC</a:t>
              </a:r>
            </a:p>
          </p:txBody>
        </p:sp>
        <p:sp>
          <p:nvSpPr>
            <p:cNvPr id="39" name="TextBox 39"/>
            <p:cNvSpPr txBox="1"/>
            <p:nvPr/>
          </p:nvSpPr>
          <p:spPr>
            <a:xfrm>
              <a:off x="4833366" y="5430202"/>
              <a:ext cx="180582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stable fragment selection</a:t>
              </a:r>
            </a:p>
          </p:txBody>
        </p:sp>
      </p:grpSp>
      <p:grpSp>
        <p:nvGrpSpPr>
          <p:cNvPr id="56" name="Group 56"/>
          <p:cNvGrpSpPr/>
          <p:nvPr/>
        </p:nvGrpSpPr>
        <p:grpSpPr>
          <a:xfrm>
            <a:off x="8191500" y="2228850"/>
            <a:ext cx="3429000" cy="3638550"/>
            <a:chOff x="8191500" y="2228850"/>
            <a:chExt cx="3429000" cy="3638550"/>
          </a:xfrm>
        </p:grpSpPr>
        <p:sp>
          <p:nvSpPr>
            <p:cNvPr id="41" name="Rectangle 41"/>
            <p:cNvSpPr/>
            <p:nvPr/>
          </p:nvSpPr>
          <p:spPr>
            <a:xfrm>
              <a:off x="8191500" y="2228850"/>
              <a:ext cx="3429000" cy="3638550"/>
            </a:xfrm>
            <a:prstGeom prst="roundRect">
              <a:avLst>
                <a:gd name="adj" fmla="val 3889"/>
              </a:avLst>
            </a:prstGeom>
            <a:solidFill>
              <a:schemeClr val="lt1"/>
            </a:solidFill>
            <a:ln w="14288">
              <a:solidFill>
                <a:schemeClr val="accent4"/>
              </a:solidFill>
            </a:ln>
          </p:spPr>
        </p:sp>
        <p:sp>
          <p:nvSpPr>
            <p:cNvPr id="42" name="Rectangle 42"/>
            <p:cNvSpPr/>
            <p:nvPr/>
          </p:nvSpPr>
          <p:spPr>
            <a:xfrm>
              <a:off x="8191500" y="2228850"/>
              <a:ext cx="3429000" cy="57150"/>
            </a:xfrm>
            <a:prstGeom prst="roundRect">
              <a:avLst>
                <a:gd name="adj" fmla="val 50000"/>
              </a:avLst>
            </a:prstGeom>
            <a:solidFill>
              <a:schemeClr val="accent2"/>
            </a:solidFill>
            <a:ln>
              <a:noFill/>
            </a:ln>
          </p:spPr>
        </p:sp>
        <p:sp>
          <p:nvSpPr>
            <p:cNvPr id="43" name="Ellipse 43"/>
            <p:cNvSpPr/>
            <p:nvPr/>
          </p:nvSpPr>
          <p:spPr>
            <a:xfrm>
              <a:off x="8382000" y="2571750"/>
              <a:ext cx="381000" cy="381000"/>
            </a:xfrm>
            <a:prstGeom prst="ellipse">
              <a:avLst/>
            </a:prstGeom>
            <a:solidFill>
              <a:schemeClr val="accent2"/>
            </a:solidFill>
            <a:ln>
              <a:noFill/>
            </a:ln>
          </p:spPr>
        </p:sp>
        <p:sp>
          <p:nvSpPr>
            <p:cNvPr id="44" name="TextBox 44"/>
            <p:cNvSpPr txBox="1"/>
            <p:nvPr/>
          </p:nvSpPr>
          <p:spPr>
            <a:xfrm>
              <a:off x="8506939" y="2675096"/>
              <a:ext cx="131122"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mj-lt"/>
                  <a:ea typeface="+mj-ea"/>
                  <a:cs typeface="+mj-cs"/>
                </a:rPr>
                <a:t>3</a:t>
              </a:r>
            </a:p>
          </p:txBody>
        </p:sp>
        <p:sp>
          <p:nvSpPr>
            <p:cNvPr id="45" name="TextBox 45"/>
            <p:cNvSpPr txBox="1"/>
            <p:nvPr/>
          </p:nvSpPr>
          <p:spPr>
            <a:xfrm>
              <a:off x="8872347" y="2599849"/>
              <a:ext cx="272744"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RND</a:t>
              </a:r>
            </a:p>
          </p:txBody>
        </p:sp>
        <p:sp>
          <p:nvSpPr>
            <p:cNvPr id="46" name="TextBox 46"/>
            <p:cNvSpPr txBox="1"/>
            <p:nvPr/>
          </p:nvSpPr>
          <p:spPr>
            <a:xfrm>
              <a:off x="8869680" y="2752725"/>
              <a:ext cx="172116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Curiosity bonus</a:t>
              </a:r>
            </a:p>
          </p:txBody>
        </p:sp>
        <p:sp>
          <p:nvSpPr>
            <p:cNvPr id="47" name="TextBox 47"/>
            <p:cNvSpPr txBox="1"/>
            <p:nvPr/>
          </p:nvSpPr>
          <p:spPr>
            <a:xfrm>
              <a:off x="8489823" y="3291364"/>
              <a:ext cx="241332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Curiosity-driven exploration</a:t>
              </a:r>
            </a:p>
          </p:txBody>
        </p:sp>
        <p:sp>
          <p:nvSpPr>
            <p:cNvPr id="48" name="TextBox 48"/>
            <p:cNvSpPr txBox="1"/>
            <p:nvPr/>
          </p:nvSpPr>
          <p:spPr>
            <a:xfrm>
              <a:off x="8489823" y="3519964"/>
              <a:ext cx="237365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by adapting random network</a:t>
              </a:r>
            </a:p>
          </p:txBody>
        </p:sp>
        <p:sp>
          <p:nvSpPr>
            <p:cNvPr id="49" name="TextBox 49"/>
            <p:cNvSpPr txBox="1"/>
            <p:nvPr/>
          </p:nvSpPr>
          <p:spPr>
            <a:xfrm>
              <a:off x="8489823" y="3748564"/>
              <a:ext cx="189117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distillation to graphs.</a:t>
              </a:r>
            </a:p>
          </p:txBody>
        </p:sp>
        <p:sp>
          <p:nvSpPr>
            <p:cNvPr id="50" name="TextBox 50"/>
            <p:cNvSpPr txBox="1"/>
            <p:nvPr/>
          </p:nvSpPr>
          <p:spPr>
            <a:xfrm>
              <a:off x="8489823" y="4167664"/>
              <a:ext cx="259444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Produces surrogate innovation</a:t>
              </a:r>
            </a:p>
          </p:txBody>
        </p:sp>
        <p:sp>
          <p:nvSpPr>
            <p:cNvPr id="51" name="TextBox 51"/>
            <p:cNvSpPr txBox="1"/>
            <p:nvPr/>
          </p:nvSpPr>
          <p:spPr>
            <a:xfrm>
              <a:off x="8489823" y="4396264"/>
              <a:ext cx="243396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rewards that push the agent</a:t>
              </a:r>
            </a:p>
          </p:txBody>
        </p:sp>
        <p:sp>
          <p:nvSpPr>
            <p:cNvPr id="52" name="TextBox 52"/>
            <p:cNvSpPr txBox="1"/>
            <p:nvPr/>
          </p:nvSpPr>
          <p:spPr>
            <a:xfrm>
              <a:off x="8489823" y="4624864"/>
              <a:ext cx="2046254"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toward novel molecules.</a:t>
              </a:r>
            </a:p>
          </p:txBody>
        </p:sp>
        <p:sp>
          <p:nvSpPr>
            <p:cNvPr id="53" name="Rectangle 53"/>
            <p:cNvSpPr/>
            <p:nvPr/>
          </p:nvSpPr>
          <p:spPr>
            <a:xfrm>
              <a:off x="8496300" y="5143500"/>
              <a:ext cx="2819400" cy="495300"/>
            </a:xfrm>
            <a:prstGeom prst="roundRect">
              <a:avLst>
                <a:gd name="adj" fmla="val 15385"/>
              </a:avLst>
            </a:prstGeom>
            <a:solidFill>
              <a:schemeClr val="accent6"/>
            </a:solidFill>
            <a:ln>
              <a:noFill/>
            </a:ln>
          </p:spPr>
        </p:sp>
        <p:sp>
          <p:nvSpPr>
            <p:cNvPr id="54" name="TextBox 54"/>
            <p:cNvSpPr txBox="1"/>
            <p:nvPr/>
          </p:nvSpPr>
          <p:spPr>
            <a:xfrm>
              <a:off x="8643747" y="5247799"/>
              <a:ext cx="1356464"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INNOVATION REWARD</a:t>
              </a:r>
            </a:p>
          </p:txBody>
        </p:sp>
        <p:sp>
          <p:nvSpPr>
            <p:cNvPr id="55" name="TextBox 55"/>
            <p:cNvSpPr txBox="1"/>
            <p:nvPr/>
          </p:nvSpPr>
          <p:spPr>
            <a:xfrm>
              <a:off x="8643366" y="5430202"/>
              <a:ext cx="168567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rewards genuine novelty</a:t>
              </a:r>
            </a:p>
          </p:txBody>
        </p:sp>
      </p:grpSp>
      <p:grpSp>
        <p:nvGrpSpPr>
          <p:cNvPr id="59" name="Group 59"/>
          <p:cNvGrpSpPr/>
          <p:nvPr/>
        </p:nvGrpSpPr>
        <p:grpSpPr>
          <a:xfrm>
            <a:off x="566738" y="6597491"/>
            <a:ext cx="11058524" cy="161925"/>
            <a:chOff x="566738" y="6597491"/>
            <a:chExt cx="11058524" cy="161925"/>
          </a:xfrm>
        </p:grpSpPr>
        <p:sp>
          <p:nvSpPr>
            <p:cNvPr id="57" name="TextBox 57"/>
            <p:cNvSpPr txBox="1"/>
            <p:nvPr/>
          </p:nvSpPr>
          <p:spPr>
            <a:xfrm>
              <a:off x="566738" y="6597491"/>
              <a:ext cx="4763783"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DGAPN · Spatial Graph Attention and Curiosity-driven Policy for Antiviral Drug Discovery</a:t>
              </a:r>
            </a:p>
          </p:txBody>
        </p:sp>
        <p:sp>
          <p:nvSpPr>
            <p:cNvPr id="58" name="TextBox 58"/>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04</a:t>
              </a:r>
            </a:p>
          </p:txBody>
        </p:sp>
      </p:grpSp>
      <p:sp>
        <p:nvSpPr>
          <p:cNvPr id="60" name="cue_s04_c1_dgapn_makes_three_contributions" title="cue_s04_c1_dgapn_makes_three_contributions" descr="cue_s04_c1_dgapn_makes_three_contributions DGAPN makes three contributions."/>
          <p:cNvSpPr/>
          <p:nvPr/>
        </p:nvSpPr>
        <p:spPr>
          <a:xfrm>
            <a:off x="571804" y="1428521"/>
            <a:ext cx="11048390" cy="5335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4_c2_first_spatial_graph_attention_gnn" title="cue_s04_c2_first_spatial_graph_attention_gnn" descr="cue_s04_c2_first_spatial_graph_attention_gnn First, spatial Graph Attention, a GNN that self-attends over node and edge attributes and encodes 3D structure via an inverse distance matrix."/>
          <p:cNvSpPr/>
          <p:nvPr/>
        </p:nvSpPr>
        <p:spPr>
          <a:xfrm>
            <a:off x="571804" y="2228850"/>
            <a:ext cx="3428390" cy="36388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4_c3_second_graph_attention_policy_networ" title="cue_s04_c3_second_graph_attention_policy_networ" descr="cue_s04_c3_second_graph_attention_policy_networ Second, the Graph Attention Policy Network, an attentional policy over a dynamic fragment action space trained with PPO."/>
          <p:cNvSpPr/>
          <p:nvPr/>
        </p:nvSpPr>
        <p:spPr>
          <a:xfrm>
            <a:off x="4381804" y="2228850"/>
            <a:ext cx="3428390" cy="36388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4_c4_third_random_network_distillation_cu" title="cue_s04_c4_third_random_network_distillation_cu" descr="cue_s04_c4_third_random_network_distillation_cu Third, a random-network-distillation curiosity bonus giving innovation rewards for high-affinity, synthesizable molecules."/>
          <p:cNvSpPr/>
          <p:nvPr/>
        </p:nvSpPr>
        <p:spPr>
          <a:xfrm>
            <a:off x="8191804" y="2228850"/>
            <a:ext cx="3428390" cy="36388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291318" cy="656939"/>
            <a:chOff x="571500" y="533400"/>
            <a:chExt cx="6291318"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075672"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One generation step, end to end</a:t>
              </a:r>
            </a:p>
          </p:txBody>
        </p:sp>
        <p:sp>
          <p:nvSpPr>
            <p:cNvPr id="4" name="TextBox 4"/>
            <p:cNvSpPr txBox="1"/>
            <p:nvPr/>
          </p:nvSpPr>
          <p:spPr>
            <a:xfrm>
              <a:off x="795147" y="999649"/>
              <a:ext cx="398685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METHOD · DGAPN AS A MARKOV DECISION PROCESS</a:t>
              </a:r>
            </a:p>
          </p:txBody>
        </p:sp>
      </p:grpSp>
      <p:grpSp>
        <p:nvGrpSpPr>
          <p:cNvPr id="9" name="Group 9"/>
          <p:cNvGrpSpPr/>
          <p:nvPr/>
        </p:nvGrpSpPr>
        <p:grpSpPr>
          <a:xfrm>
            <a:off x="571500" y="1428750"/>
            <a:ext cx="11049000" cy="2879407"/>
            <a:chOff x="571500" y="1428750"/>
            <a:chExt cx="11049000" cy="2879407"/>
          </a:xfrm>
        </p:grpSpPr>
        <p:sp>
          <p:nvSpPr>
            <p:cNvPr id="6" name="Rectangle 6"/>
            <p:cNvSpPr/>
            <p:nvPr/>
          </p:nvSpPr>
          <p:spPr>
            <a:xfrm>
              <a:off x="571500" y="1428750"/>
              <a:ext cx="11049000" cy="2857500"/>
            </a:xfrm>
            <a:prstGeom prst="roundRect">
              <a:avLst>
                <a:gd name="adj" fmla="val 4000"/>
              </a:avLst>
            </a:prstGeom>
            <a:solidFill>
              <a:schemeClr val="lt2"/>
            </a:solidFill>
            <a:ln w="14288">
              <a:solidFill>
                <a:schemeClr val="accent4"/>
              </a:solidFill>
            </a:ln>
            <a:effectLst>
              <a:outerShdw blurRad="95250" dist="19050" dir="5400000" algn="ctr" rotWithShape="0">
                <a:srgbClr val="123B3A">
                  <a:alpha val="7500"/>
                </a:srgbClr>
              </a:outerShdw>
            </a:effectLst>
          </p:spPr>
        </p:sp>
        <p:pic>
          <p:nvPicPr>
            <p:cNvPr id="7" name="Image 7"/>
            <p:cNvPicPr>
              <a:picLocks noChangeAspect="1"/>
            </p:cNvPicPr>
            <p:nvPr/>
          </p:nvPicPr>
          <p:blipFill>
            <a:blip r:embed="rId2"/>
            <a:stretch>
              <a:fillRect/>
            </a:stretch>
          </p:blipFill>
          <p:spPr>
            <a:xfrm>
              <a:off x="2852783" y="1600200"/>
              <a:ext cx="6486434" cy="2514600"/>
            </a:xfrm>
            <a:prstGeom prst="rect">
              <a:avLst/>
            </a:prstGeom>
          </p:spPr>
        </p:pic>
        <p:sp>
          <p:nvSpPr>
            <p:cNvPr id="8" name="TextBox 8"/>
            <p:cNvSpPr txBox="1"/>
            <p:nvPr/>
          </p:nvSpPr>
          <p:spPr>
            <a:xfrm>
              <a:off x="2242476" y="4131945"/>
              <a:ext cx="7707048"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Figure 2 · DGAPN during a single generation step — CReM candidates → sGAT encoder → attentional policy → reward = main + curiosity</a:t>
              </a:r>
            </a:p>
          </p:txBody>
        </p:sp>
      </p:grpSp>
      <p:grpSp>
        <p:nvGrpSpPr>
          <p:cNvPr id="18" name="Group 18"/>
          <p:cNvGrpSpPr/>
          <p:nvPr/>
        </p:nvGrpSpPr>
        <p:grpSpPr>
          <a:xfrm>
            <a:off x="571500" y="4514850"/>
            <a:ext cx="2590800" cy="1485900"/>
            <a:chOff x="571500" y="4514850"/>
            <a:chExt cx="2590800" cy="1485900"/>
          </a:xfrm>
        </p:grpSpPr>
        <p:sp>
          <p:nvSpPr>
            <p:cNvPr id="10" name="Rectangle 10"/>
            <p:cNvSpPr/>
            <p:nvPr/>
          </p:nvSpPr>
          <p:spPr>
            <a:xfrm>
              <a:off x="571500" y="4514850"/>
              <a:ext cx="2590800" cy="1485900"/>
            </a:xfrm>
            <a:prstGeom prst="roundRect">
              <a:avLst>
                <a:gd name="adj" fmla="val 6410"/>
              </a:avLst>
            </a:prstGeom>
            <a:solidFill>
              <a:schemeClr val="lt1"/>
            </a:solidFill>
            <a:ln w="14288">
              <a:solidFill>
                <a:schemeClr val="accent4"/>
              </a:solidFill>
            </a:ln>
          </p:spPr>
        </p:sp>
        <p:sp>
          <p:nvSpPr>
            <p:cNvPr id="11" name="Rectangle 11"/>
            <p:cNvSpPr/>
            <p:nvPr/>
          </p:nvSpPr>
          <p:spPr>
            <a:xfrm>
              <a:off x="571500" y="4514850"/>
              <a:ext cx="2590800" cy="57150"/>
            </a:xfrm>
            <a:prstGeom prst="roundRect">
              <a:avLst>
                <a:gd name="adj" fmla="val 50000"/>
              </a:avLst>
            </a:prstGeom>
            <a:solidFill>
              <a:schemeClr val="accent2"/>
            </a:solidFill>
            <a:ln>
              <a:noFill/>
            </a:ln>
          </p:spPr>
        </p:sp>
        <p:sp>
          <p:nvSpPr>
            <p:cNvPr id="12" name="TextBox 12"/>
            <p:cNvSpPr txBox="1"/>
            <p:nvPr/>
          </p:nvSpPr>
          <p:spPr>
            <a:xfrm>
              <a:off x="757047" y="4733449"/>
              <a:ext cx="1757802"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1 · CReM ENVIRONMENT</a:t>
              </a:r>
            </a:p>
          </p:txBody>
        </p:sp>
        <p:sp>
          <p:nvSpPr>
            <p:cNvPr id="13" name="TextBox 13"/>
            <p:cNvSpPr txBox="1"/>
            <p:nvPr/>
          </p:nvSpPr>
          <p:spPr>
            <a:xfrm>
              <a:off x="756666" y="4953952"/>
              <a:ext cx="158190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Generation is a Markov</a:t>
              </a:r>
            </a:p>
          </p:txBody>
        </p:sp>
        <p:sp>
          <p:nvSpPr>
            <p:cNvPr id="14" name="TextBox 14"/>
            <p:cNvSpPr txBox="1"/>
            <p:nvPr/>
          </p:nvSpPr>
          <p:spPr>
            <a:xfrm>
              <a:off x="756666" y="5144452"/>
              <a:ext cx="162221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decision process. CReM</a:t>
              </a:r>
            </a:p>
          </p:txBody>
        </p:sp>
        <p:sp>
          <p:nvSpPr>
            <p:cNvPr id="15" name="TextBox 15"/>
            <p:cNvSpPr txBox="1"/>
            <p:nvPr/>
          </p:nvSpPr>
          <p:spPr>
            <a:xfrm>
              <a:off x="756666" y="5334952"/>
              <a:ext cx="169274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proposes valid molecules</a:t>
              </a:r>
            </a:p>
          </p:txBody>
        </p:sp>
        <p:sp>
          <p:nvSpPr>
            <p:cNvPr id="16" name="TextBox 16"/>
            <p:cNvSpPr txBox="1"/>
            <p:nvPr/>
          </p:nvSpPr>
          <p:spPr>
            <a:xfrm>
              <a:off x="756666" y="5525452"/>
              <a:ext cx="191890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via a single fragment swap,</a:t>
              </a:r>
            </a:p>
          </p:txBody>
        </p:sp>
        <p:sp>
          <p:nvSpPr>
            <p:cNvPr id="17" name="TextBox 17"/>
            <p:cNvSpPr txBox="1"/>
            <p:nvPr/>
          </p:nvSpPr>
          <p:spPr>
            <a:xfrm>
              <a:off x="756666" y="5715952"/>
              <a:ext cx="17422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so candidates stay valid.</a:t>
              </a:r>
            </a:p>
          </p:txBody>
        </p:sp>
      </p:grpSp>
      <p:grpSp>
        <p:nvGrpSpPr>
          <p:cNvPr id="27" name="Group 27"/>
          <p:cNvGrpSpPr/>
          <p:nvPr/>
        </p:nvGrpSpPr>
        <p:grpSpPr>
          <a:xfrm>
            <a:off x="3390900" y="4514850"/>
            <a:ext cx="2590800" cy="1485900"/>
            <a:chOff x="3390900" y="4514850"/>
            <a:chExt cx="2590800" cy="1485900"/>
          </a:xfrm>
        </p:grpSpPr>
        <p:sp>
          <p:nvSpPr>
            <p:cNvPr id="19" name="Rectangle 19"/>
            <p:cNvSpPr/>
            <p:nvPr/>
          </p:nvSpPr>
          <p:spPr>
            <a:xfrm>
              <a:off x="3390900" y="4514850"/>
              <a:ext cx="2590800" cy="1485900"/>
            </a:xfrm>
            <a:prstGeom prst="roundRect">
              <a:avLst>
                <a:gd name="adj" fmla="val 6410"/>
              </a:avLst>
            </a:prstGeom>
            <a:solidFill>
              <a:schemeClr val="lt1"/>
            </a:solidFill>
            <a:ln w="14288">
              <a:solidFill>
                <a:schemeClr val="accent4"/>
              </a:solidFill>
            </a:ln>
          </p:spPr>
        </p:sp>
        <p:sp>
          <p:nvSpPr>
            <p:cNvPr id="20" name="Rectangle 20"/>
            <p:cNvSpPr/>
            <p:nvPr/>
          </p:nvSpPr>
          <p:spPr>
            <a:xfrm>
              <a:off x="3390900" y="4514850"/>
              <a:ext cx="2590800" cy="57150"/>
            </a:xfrm>
            <a:prstGeom prst="roundRect">
              <a:avLst>
                <a:gd name="adj" fmla="val 50000"/>
              </a:avLst>
            </a:prstGeom>
            <a:solidFill>
              <a:schemeClr val="accent2"/>
            </a:solidFill>
            <a:ln>
              <a:noFill/>
            </a:ln>
          </p:spPr>
        </p:sp>
        <p:sp>
          <p:nvSpPr>
            <p:cNvPr id="21" name="TextBox 21"/>
            <p:cNvSpPr txBox="1"/>
            <p:nvPr/>
          </p:nvSpPr>
          <p:spPr>
            <a:xfrm>
              <a:off x="3576447" y="4733449"/>
              <a:ext cx="1370777"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2 · sGAT ENCODER</a:t>
              </a:r>
            </a:p>
          </p:txBody>
        </p:sp>
        <p:sp>
          <p:nvSpPr>
            <p:cNvPr id="22" name="TextBox 22"/>
            <p:cNvSpPr txBox="1"/>
            <p:nvPr/>
          </p:nvSpPr>
          <p:spPr>
            <a:xfrm>
              <a:off x="3576066" y="4953952"/>
              <a:ext cx="188817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Each candidate is embedded</a:t>
              </a:r>
            </a:p>
          </p:txBody>
        </p:sp>
        <p:sp>
          <p:nvSpPr>
            <p:cNvPr id="23" name="TextBox 23"/>
            <p:cNvSpPr txBox="1"/>
            <p:nvPr/>
          </p:nvSpPr>
          <p:spPr>
            <a:xfrm>
              <a:off x="3576066" y="5144452"/>
              <a:ext cx="188356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by attention over atom and</a:t>
              </a:r>
            </a:p>
          </p:txBody>
        </p:sp>
        <p:sp>
          <p:nvSpPr>
            <p:cNvPr id="24" name="TextBox 24"/>
            <p:cNvSpPr txBox="1"/>
            <p:nvPr/>
          </p:nvSpPr>
          <p:spPr>
            <a:xfrm>
              <a:off x="3576066" y="5334952"/>
              <a:ext cx="206025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bond attributes plus a spatial</a:t>
              </a:r>
            </a:p>
          </p:txBody>
        </p:sp>
        <p:sp>
          <p:nvSpPr>
            <p:cNvPr id="25" name="TextBox 25"/>
            <p:cNvSpPr txBox="1"/>
            <p:nvPr/>
          </p:nvSpPr>
          <p:spPr>
            <a:xfrm>
              <a:off x="3576066" y="5525452"/>
              <a:ext cx="186236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convolution on a sparsified</a:t>
              </a:r>
            </a:p>
          </p:txBody>
        </p:sp>
        <p:sp>
          <p:nvSpPr>
            <p:cNvPr id="26" name="TextBox 26"/>
            <p:cNvSpPr txBox="1"/>
            <p:nvPr/>
          </p:nvSpPr>
          <p:spPr>
            <a:xfrm>
              <a:off x="3576066" y="5715952"/>
              <a:ext cx="17280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inverse distance matrix.</a:t>
              </a:r>
            </a:p>
          </p:txBody>
        </p:sp>
      </p:grpSp>
      <p:grpSp>
        <p:nvGrpSpPr>
          <p:cNvPr id="36" name="Group 36"/>
          <p:cNvGrpSpPr/>
          <p:nvPr/>
        </p:nvGrpSpPr>
        <p:grpSpPr>
          <a:xfrm>
            <a:off x="6210300" y="4514850"/>
            <a:ext cx="2590800" cy="1485900"/>
            <a:chOff x="6210300" y="4514850"/>
            <a:chExt cx="2590800" cy="1485900"/>
          </a:xfrm>
        </p:grpSpPr>
        <p:sp>
          <p:nvSpPr>
            <p:cNvPr id="28" name="Rectangle 28"/>
            <p:cNvSpPr/>
            <p:nvPr/>
          </p:nvSpPr>
          <p:spPr>
            <a:xfrm>
              <a:off x="6210300" y="4514850"/>
              <a:ext cx="2590800" cy="1485900"/>
            </a:xfrm>
            <a:prstGeom prst="roundRect">
              <a:avLst>
                <a:gd name="adj" fmla="val 6410"/>
              </a:avLst>
            </a:prstGeom>
            <a:solidFill>
              <a:schemeClr val="lt1"/>
            </a:solidFill>
            <a:ln w="14288">
              <a:solidFill>
                <a:schemeClr val="accent4"/>
              </a:solidFill>
            </a:ln>
          </p:spPr>
        </p:sp>
        <p:sp>
          <p:nvSpPr>
            <p:cNvPr id="29" name="Rectangle 29"/>
            <p:cNvSpPr/>
            <p:nvPr/>
          </p:nvSpPr>
          <p:spPr>
            <a:xfrm>
              <a:off x="6210300" y="4514850"/>
              <a:ext cx="2590800" cy="57150"/>
            </a:xfrm>
            <a:prstGeom prst="roundRect">
              <a:avLst>
                <a:gd name="adj" fmla="val 50000"/>
              </a:avLst>
            </a:prstGeom>
            <a:solidFill>
              <a:schemeClr val="accent2"/>
            </a:solidFill>
            <a:ln>
              <a:noFill/>
            </a:ln>
          </p:spPr>
        </p:sp>
        <p:sp>
          <p:nvSpPr>
            <p:cNvPr id="30" name="TextBox 30"/>
            <p:cNvSpPr txBox="1"/>
            <p:nvPr/>
          </p:nvSpPr>
          <p:spPr>
            <a:xfrm>
              <a:off x="6395847" y="4733449"/>
              <a:ext cx="1880540"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3 · ATTENTIONAL POLICY</a:t>
              </a:r>
            </a:p>
          </p:txBody>
        </p:sp>
        <p:sp>
          <p:nvSpPr>
            <p:cNvPr id="31" name="TextBox 31"/>
            <p:cNvSpPr txBox="1"/>
            <p:nvPr/>
          </p:nvSpPr>
          <p:spPr>
            <a:xfrm>
              <a:off x="6395466" y="4953952"/>
              <a:ext cx="197989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 policy scores candidates</a:t>
              </a:r>
            </a:p>
          </p:txBody>
        </p:sp>
        <p:sp>
          <p:nvSpPr>
            <p:cNvPr id="32" name="TextBox 32"/>
            <p:cNvSpPr txBox="1"/>
            <p:nvPr/>
          </p:nvSpPr>
          <p:spPr>
            <a:xfrm>
              <a:off x="6395466" y="5144452"/>
              <a:ext cx="174221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by their attention to the</a:t>
              </a:r>
            </a:p>
          </p:txBody>
        </p:sp>
        <p:sp>
          <p:nvSpPr>
            <p:cNvPr id="33" name="TextBox 33"/>
            <p:cNvSpPr txBox="1"/>
            <p:nvPr/>
          </p:nvSpPr>
          <p:spPr>
            <a:xfrm>
              <a:off x="6395466" y="5334952"/>
              <a:ext cx="211679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current state and samples the</a:t>
              </a:r>
            </a:p>
          </p:txBody>
        </p:sp>
        <p:sp>
          <p:nvSpPr>
            <p:cNvPr id="34" name="TextBox 34"/>
            <p:cNvSpPr txBox="1"/>
            <p:nvPr/>
          </p:nvSpPr>
          <p:spPr>
            <a:xfrm>
              <a:off x="6395466" y="5525452"/>
              <a:ext cx="196131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next molecule — trained with</a:t>
              </a:r>
            </a:p>
          </p:txBody>
        </p:sp>
        <p:sp>
          <p:nvSpPr>
            <p:cNvPr id="35" name="TextBox 35"/>
            <p:cNvSpPr txBox="1"/>
            <p:nvPr/>
          </p:nvSpPr>
          <p:spPr>
            <a:xfrm>
              <a:off x="6395466" y="5715952"/>
              <a:ext cx="12757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PPO for stability.</a:t>
              </a:r>
            </a:p>
          </p:txBody>
        </p:sp>
      </p:grpSp>
      <p:grpSp>
        <p:nvGrpSpPr>
          <p:cNvPr id="45" name="Group 45"/>
          <p:cNvGrpSpPr/>
          <p:nvPr/>
        </p:nvGrpSpPr>
        <p:grpSpPr>
          <a:xfrm>
            <a:off x="9029700" y="4514850"/>
            <a:ext cx="2590800" cy="1485900"/>
            <a:chOff x="9029700" y="4514850"/>
            <a:chExt cx="2590800" cy="1485900"/>
          </a:xfrm>
        </p:grpSpPr>
        <p:sp>
          <p:nvSpPr>
            <p:cNvPr id="37" name="Rectangle 37"/>
            <p:cNvSpPr/>
            <p:nvPr/>
          </p:nvSpPr>
          <p:spPr>
            <a:xfrm>
              <a:off x="9029700" y="4514850"/>
              <a:ext cx="2590800" cy="1485900"/>
            </a:xfrm>
            <a:prstGeom prst="roundRect">
              <a:avLst>
                <a:gd name="adj" fmla="val 6410"/>
              </a:avLst>
            </a:prstGeom>
            <a:solidFill>
              <a:schemeClr val="lt1"/>
            </a:solidFill>
            <a:ln w="14288">
              <a:solidFill>
                <a:schemeClr val="accent4"/>
              </a:solidFill>
            </a:ln>
          </p:spPr>
        </p:sp>
        <p:sp>
          <p:nvSpPr>
            <p:cNvPr id="38" name="Rectangle 38"/>
            <p:cNvSpPr/>
            <p:nvPr/>
          </p:nvSpPr>
          <p:spPr>
            <a:xfrm>
              <a:off x="9029700" y="4514850"/>
              <a:ext cx="2590800" cy="57150"/>
            </a:xfrm>
            <a:prstGeom prst="roundRect">
              <a:avLst>
                <a:gd name="adj" fmla="val 50000"/>
              </a:avLst>
            </a:prstGeom>
            <a:solidFill>
              <a:srgbClr val="C2410C"/>
            </a:solidFill>
            <a:ln>
              <a:noFill/>
            </a:ln>
          </p:spPr>
        </p:sp>
        <p:sp>
          <p:nvSpPr>
            <p:cNvPr id="39" name="TextBox 39"/>
            <p:cNvSpPr txBox="1"/>
            <p:nvPr/>
          </p:nvSpPr>
          <p:spPr>
            <a:xfrm>
              <a:off x="9215247" y="4733449"/>
              <a:ext cx="1195099" cy="190690"/>
            </a:xfrm>
            <a:prstGeom prst="rect">
              <a:avLst/>
            </a:prstGeom>
            <a:noFill/>
            <a:ln>
              <a:noFill/>
            </a:ln>
          </p:spPr>
          <p:txBody>
            <a:bodyPr wrap="none" lIns="0" tIns="0" rIns="0" bIns="0" anchor="t" anchorCtr="0">
              <a:spAutoFit/>
            </a:bodyPr>
            <a:lstStyle/>
            <a:p>
              <a:pPr algn="l"/>
              <a:r>
                <a:rPr lang="en-US" sz="980" b="1" spc="75" dirty="0">
                  <a:solidFill>
                    <a:srgbClr val="C2410C"/>
                  </a:solidFill>
                  <a:latin typeface="+mn-lt"/>
                  <a:ea typeface="+mn-ea"/>
                  <a:cs typeface="+mn-cs"/>
                </a:rPr>
                <a:t>4 · RND REWARD</a:t>
              </a:r>
            </a:p>
          </p:txBody>
        </p:sp>
        <p:sp>
          <p:nvSpPr>
            <p:cNvPr id="40" name="TextBox 40"/>
            <p:cNvSpPr txBox="1"/>
            <p:nvPr/>
          </p:nvSpPr>
          <p:spPr>
            <a:xfrm>
              <a:off x="9214866" y="4953952"/>
              <a:ext cx="208614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 predictor network learns to</a:t>
              </a:r>
            </a:p>
          </p:txBody>
        </p:sp>
        <p:sp>
          <p:nvSpPr>
            <p:cNvPr id="41" name="TextBox 41"/>
            <p:cNvSpPr txBox="1"/>
            <p:nvPr/>
          </p:nvSpPr>
          <p:spPr>
            <a:xfrm>
              <a:off x="9214866" y="5144452"/>
              <a:ext cx="206732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match a fixed random target.</a:t>
              </a:r>
            </a:p>
          </p:txBody>
        </p:sp>
        <p:sp>
          <p:nvSpPr>
            <p:cNvPr id="42" name="TextBox 42"/>
            <p:cNvSpPr txBox="1"/>
            <p:nvPr/>
          </p:nvSpPr>
          <p:spPr>
            <a:xfrm>
              <a:off x="9214866" y="5334952"/>
              <a:ext cx="194447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Its running prediction error</a:t>
              </a:r>
            </a:p>
          </p:txBody>
        </p:sp>
        <p:sp>
          <p:nvSpPr>
            <p:cNvPr id="43" name="TextBox 43"/>
            <p:cNvSpPr txBox="1"/>
            <p:nvPr/>
          </p:nvSpPr>
          <p:spPr>
            <a:xfrm>
              <a:off x="9214866" y="5525452"/>
              <a:ext cx="198251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becomes a surrogate reward</a:t>
              </a:r>
            </a:p>
          </p:txBody>
        </p:sp>
        <p:sp>
          <p:nvSpPr>
            <p:cNvPr id="44" name="TextBox 44"/>
            <p:cNvSpPr txBox="1"/>
            <p:nvPr/>
          </p:nvSpPr>
          <p:spPr>
            <a:xfrm>
              <a:off x="9214866" y="5715952"/>
              <a:ext cx="189770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for exploring novel states.</a:t>
              </a:r>
            </a:p>
          </p:txBody>
        </p:sp>
      </p:grpSp>
      <p:grpSp>
        <p:nvGrpSpPr>
          <p:cNvPr id="48" name="Group 48"/>
          <p:cNvGrpSpPr/>
          <p:nvPr/>
        </p:nvGrpSpPr>
        <p:grpSpPr>
          <a:xfrm>
            <a:off x="566738" y="6597491"/>
            <a:ext cx="11058524" cy="161925"/>
            <a:chOff x="566738" y="6597491"/>
            <a:chExt cx="11058524" cy="161925"/>
          </a:xfrm>
        </p:grpSpPr>
        <p:sp>
          <p:nvSpPr>
            <p:cNvPr id="46" name="TextBox 46"/>
            <p:cNvSpPr txBox="1"/>
            <p:nvPr/>
          </p:nvSpPr>
          <p:spPr>
            <a:xfrm>
              <a:off x="566738" y="6597491"/>
              <a:ext cx="4763783"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DGAPN · Spatial Graph Attention and Curiosity-driven Policy for Antiviral Drug Discovery</a:t>
              </a:r>
            </a:p>
          </p:txBody>
        </p:sp>
        <p:sp>
          <p:nvSpPr>
            <p:cNvPr id="47" name="TextBox 47"/>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05</a:t>
              </a:r>
            </a:p>
          </p:txBody>
        </p:sp>
      </p:grpSp>
      <p:sp>
        <p:nvSpPr>
          <p:cNvPr id="49" name="cue_s05_c1_dgapn_casts_molecule_generation_mark" title="cue_s05_c1_dgapn_casts_molecule_generation_mark" descr="cue_s05_c1_dgapn_casts_molecule_generation_mark DGAPN casts molecule generation as a Markov decision process. At each step, the CReM library proposes valid molecules reachable by swapping one fragment, guaranteeing synthesizable candidates."/>
          <p:cNvSpPr/>
          <p:nvPr/>
        </p:nvSpPr>
        <p:spPr>
          <a:xfrm>
            <a:off x="571804" y="4514621"/>
            <a:ext cx="2590800" cy="14861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5_c2_spatial_graph_attention_embeds_candi" title="cue_s05_c2_spatial_graph_attention_embeds_candi" descr="cue_s05_c2_spatial_graph_attention_embeds_candi Spatial Graph Attention embeds each candidate, combining attention over atom and bond attributes with a spatial convolution from a sparsified inverse distance matrix, so chemistry and geometry both inform the representation."/>
          <p:cNvSpPr/>
          <p:nvPr/>
        </p:nvSpPr>
        <p:spPr>
          <a:xfrm>
            <a:off x="3390595" y="4514621"/>
            <a:ext cx="2590800" cy="14861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5_c3_attentional_policy_scores_candidates" title="cue_s05_c3_attentional_policy_scores_candidates" descr="cue_s05_c3_attentional_policy_scores_candidates An attentional policy scores candidates and samples the next molecule, trained with PPO."/>
          <p:cNvSpPr/>
          <p:nvPr/>
        </p:nvSpPr>
        <p:spPr>
          <a:xfrm>
            <a:off x="6210604" y="4514621"/>
            <a:ext cx="2590800" cy="14861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5_c4_finally_random_network_distillation" title="cue_s05_c4_finally_random_network_distillation" descr="cue_s05_c4_finally_random_network_distillation Finally, random network distillation supplies an innovation reward whose error rewards exploring novel states."/>
          <p:cNvSpPr/>
          <p:nvPr/>
        </p:nvSpPr>
        <p:spPr>
          <a:xfrm>
            <a:off x="9029395" y="4514621"/>
            <a:ext cx="2590800" cy="14861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8998413" cy="656939"/>
            <a:chOff x="571500" y="533400"/>
            <a:chExt cx="8998413"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878276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Benchmark: inhibitors for SARS-CoV-2 NSP15</a:t>
              </a:r>
            </a:p>
          </p:txBody>
        </p:sp>
        <p:sp>
          <p:nvSpPr>
            <p:cNvPr id="4" name="TextBox 4"/>
            <p:cNvSpPr txBox="1"/>
            <p:nvPr/>
          </p:nvSpPr>
          <p:spPr>
            <a:xfrm>
              <a:off x="795147" y="999649"/>
              <a:ext cx="383187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DATASET / BENCHMARK · DOCKING + QED + LOGP</a:t>
              </a:r>
            </a:p>
          </p:txBody>
        </p:sp>
      </p:grpSp>
      <p:grpSp>
        <p:nvGrpSpPr>
          <p:cNvPr id="19" name="Group 19"/>
          <p:cNvGrpSpPr/>
          <p:nvPr/>
        </p:nvGrpSpPr>
        <p:grpSpPr>
          <a:xfrm>
            <a:off x="571500" y="1676400"/>
            <a:ext cx="3429000" cy="3848100"/>
            <a:chOff x="571500" y="1676400"/>
            <a:chExt cx="3429000" cy="3848100"/>
          </a:xfrm>
        </p:grpSpPr>
        <p:sp>
          <p:nvSpPr>
            <p:cNvPr id="6" name="Rectangle 6"/>
            <p:cNvSpPr/>
            <p:nvPr/>
          </p:nvSpPr>
          <p:spPr>
            <a:xfrm>
              <a:off x="571500" y="1676400"/>
              <a:ext cx="3429000" cy="3848100"/>
            </a:xfrm>
            <a:prstGeom prst="roundRect">
              <a:avLst>
                <a:gd name="adj" fmla="val 3889"/>
              </a:avLst>
            </a:prstGeom>
            <a:solidFill>
              <a:schemeClr val="lt1"/>
            </a:solidFill>
            <a:ln w="14288">
              <a:solidFill>
                <a:schemeClr val="accent4"/>
              </a:solidFill>
            </a:ln>
          </p:spPr>
        </p:sp>
        <p:sp>
          <p:nvSpPr>
            <p:cNvPr id="7" name="Rectangle 7"/>
            <p:cNvSpPr/>
            <p:nvPr/>
          </p:nvSpPr>
          <p:spPr>
            <a:xfrm>
              <a:off x="571500" y="1676400"/>
              <a:ext cx="3429000" cy="57150"/>
            </a:xfrm>
            <a:prstGeom prst="roundRect">
              <a:avLst>
                <a:gd name="adj" fmla="val 50000"/>
              </a:avLst>
            </a:prstGeom>
            <a:solidFill>
              <a:schemeClr val="accent2"/>
            </a:solidFill>
            <a:ln>
              <a:noFill/>
            </a:ln>
          </p:spPr>
        </p:sp>
        <p:sp>
          <p:nvSpPr>
            <p:cNvPr id="8" name="TextBox 8"/>
            <p:cNvSpPr txBox="1"/>
            <p:nvPr/>
          </p:nvSpPr>
          <p:spPr>
            <a:xfrm>
              <a:off x="871347" y="2009299"/>
              <a:ext cx="130010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PRIMARY TARGET</a:t>
              </a:r>
            </a:p>
          </p:txBody>
        </p:sp>
        <p:sp>
          <p:nvSpPr>
            <p:cNvPr id="9" name="TextBox 9"/>
            <p:cNvSpPr txBox="1"/>
            <p:nvPr/>
          </p:nvSpPr>
          <p:spPr>
            <a:xfrm>
              <a:off x="867156" y="2301240"/>
              <a:ext cx="148590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NSP15 site</a:t>
              </a:r>
            </a:p>
          </p:txBody>
        </p:sp>
        <p:sp>
          <p:nvSpPr>
            <p:cNvPr id="10" name="TextBox 10"/>
            <p:cNvSpPr txBox="1"/>
            <p:nvPr/>
          </p:nvSpPr>
          <p:spPr>
            <a:xfrm>
              <a:off x="869823" y="2815114"/>
              <a:ext cx="217268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 main task is to design</a:t>
              </a:r>
            </a:p>
          </p:txBody>
        </p:sp>
        <p:sp>
          <p:nvSpPr>
            <p:cNvPr id="11" name="TextBox 11"/>
            <p:cNvSpPr txBox="1"/>
            <p:nvPr/>
          </p:nvSpPr>
          <p:spPr>
            <a:xfrm>
              <a:off x="869823" y="3043714"/>
              <a:ext cx="213241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novel inhibitors that bind</a:t>
              </a:r>
            </a:p>
          </p:txBody>
        </p:sp>
        <p:sp>
          <p:nvSpPr>
            <p:cNvPr id="12" name="TextBox 12"/>
            <p:cNvSpPr txBox="1"/>
            <p:nvPr/>
          </p:nvSpPr>
          <p:spPr>
            <a:xfrm>
              <a:off x="869823" y="3272314"/>
              <a:ext cx="238319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 NSP15 functional site of</a:t>
              </a:r>
            </a:p>
          </p:txBody>
        </p:sp>
        <p:sp>
          <p:nvSpPr>
            <p:cNvPr id="13" name="TextBox 13"/>
            <p:cNvSpPr txBox="1"/>
            <p:nvPr/>
          </p:nvSpPr>
          <p:spPr>
            <a:xfrm>
              <a:off x="869823" y="3500914"/>
              <a:ext cx="191607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 SARS-CoV-2 virus.</a:t>
              </a:r>
            </a:p>
          </p:txBody>
        </p:sp>
        <p:sp>
          <p:nvSpPr>
            <p:cNvPr id="14" name="Rectangle 14"/>
            <p:cNvSpPr/>
            <p:nvPr/>
          </p:nvSpPr>
          <p:spPr>
            <a:xfrm>
              <a:off x="876300" y="4095750"/>
              <a:ext cx="2819400" cy="1123950"/>
            </a:xfrm>
            <a:prstGeom prst="roundRect">
              <a:avLst>
                <a:gd name="adj" fmla="val 6780"/>
              </a:avLst>
            </a:prstGeom>
            <a:solidFill>
              <a:schemeClr val="lt2"/>
            </a:solidFill>
            <a:ln>
              <a:noFill/>
            </a:ln>
          </p:spPr>
        </p:sp>
        <p:sp>
          <p:nvSpPr>
            <p:cNvPr id="15" name="TextBox 15"/>
            <p:cNvSpPr txBox="1"/>
            <p:nvPr/>
          </p:nvSpPr>
          <p:spPr>
            <a:xfrm>
              <a:off x="1023747" y="4276249"/>
              <a:ext cx="1224372" cy="190690"/>
            </a:xfrm>
            <a:prstGeom prst="rect">
              <a:avLst/>
            </a:prstGeom>
            <a:noFill/>
            <a:ln>
              <a:noFill/>
            </a:ln>
          </p:spPr>
          <p:txBody>
            <a:bodyPr wrap="none" lIns="0" tIns="0" rIns="0" bIns="0" anchor="t" anchorCtr="0">
              <a:spAutoFit/>
            </a:bodyPr>
            <a:lstStyle/>
            <a:p>
              <a:pPr algn="l"/>
              <a:r>
                <a:rPr lang="en-US" sz="980" b="1" spc="75" dirty="0">
                  <a:solidFill>
                    <a:schemeClr val="dk2"/>
                  </a:solidFill>
                  <a:latin typeface="+mn-lt"/>
                  <a:ea typeface="+mn-ea"/>
                  <a:cs typeface="+mn-cs"/>
                </a:rPr>
                <a:t>WHY IT MATTERS</a:t>
              </a:r>
            </a:p>
          </p:txBody>
        </p:sp>
        <p:sp>
          <p:nvSpPr>
            <p:cNvPr id="16" name="TextBox 16"/>
            <p:cNvSpPr txBox="1"/>
            <p:nvPr/>
          </p:nvSpPr>
          <p:spPr>
            <a:xfrm>
              <a:off x="1022985" y="4507706"/>
              <a:ext cx="181099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 concrete, high-stakes</a:t>
              </a:r>
            </a:p>
          </p:txBody>
        </p:sp>
        <p:sp>
          <p:nvSpPr>
            <p:cNvPr id="17" name="TextBox 17"/>
            <p:cNvSpPr txBox="1"/>
            <p:nvPr/>
          </p:nvSpPr>
          <p:spPr>
            <a:xfrm>
              <a:off x="1022985" y="4717256"/>
              <a:ext cx="156440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antiviral drug-design</a:t>
              </a:r>
            </a:p>
          </p:txBody>
        </p:sp>
        <p:sp>
          <p:nvSpPr>
            <p:cNvPr id="18" name="TextBox 18"/>
            <p:cNvSpPr txBox="1"/>
            <p:nvPr/>
          </p:nvSpPr>
          <p:spPr>
            <a:xfrm>
              <a:off x="1022985" y="4926806"/>
              <a:ext cx="76530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objective.</a:t>
              </a:r>
            </a:p>
          </p:txBody>
        </p:sp>
      </p:grpSp>
      <p:grpSp>
        <p:nvGrpSpPr>
          <p:cNvPr id="33" name="Group 33"/>
          <p:cNvGrpSpPr/>
          <p:nvPr/>
        </p:nvGrpSpPr>
        <p:grpSpPr>
          <a:xfrm>
            <a:off x="4381500" y="1676400"/>
            <a:ext cx="3429000" cy="3848100"/>
            <a:chOff x="4381500" y="1676400"/>
            <a:chExt cx="3429000" cy="3848100"/>
          </a:xfrm>
        </p:grpSpPr>
        <p:sp>
          <p:nvSpPr>
            <p:cNvPr id="20" name="Rectangle 20"/>
            <p:cNvSpPr/>
            <p:nvPr/>
          </p:nvSpPr>
          <p:spPr>
            <a:xfrm>
              <a:off x="4381500" y="1676400"/>
              <a:ext cx="3429000" cy="3848100"/>
            </a:xfrm>
            <a:prstGeom prst="roundRect">
              <a:avLst>
                <a:gd name="adj" fmla="val 3889"/>
              </a:avLst>
            </a:prstGeom>
            <a:solidFill>
              <a:schemeClr val="lt1"/>
            </a:solidFill>
            <a:ln w="14288">
              <a:solidFill>
                <a:schemeClr val="accent4"/>
              </a:solidFill>
            </a:ln>
          </p:spPr>
        </p:sp>
        <p:sp>
          <p:nvSpPr>
            <p:cNvPr id="21" name="Rectangle 21"/>
            <p:cNvSpPr/>
            <p:nvPr/>
          </p:nvSpPr>
          <p:spPr>
            <a:xfrm>
              <a:off x="4381500" y="1676400"/>
              <a:ext cx="3429000" cy="57150"/>
            </a:xfrm>
            <a:prstGeom prst="roundRect">
              <a:avLst>
                <a:gd name="adj" fmla="val 50000"/>
              </a:avLst>
            </a:prstGeom>
            <a:solidFill>
              <a:schemeClr val="accent2"/>
            </a:solidFill>
            <a:ln>
              <a:noFill/>
            </a:ln>
          </p:spPr>
        </p:sp>
        <p:sp>
          <p:nvSpPr>
            <p:cNvPr id="22" name="TextBox 22"/>
            <p:cNvSpPr txBox="1"/>
            <p:nvPr/>
          </p:nvSpPr>
          <p:spPr>
            <a:xfrm>
              <a:off x="4681347" y="2009299"/>
              <a:ext cx="1263517"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SCORING SIGNAL</a:t>
              </a:r>
            </a:p>
          </p:txBody>
        </p:sp>
        <p:sp>
          <p:nvSpPr>
            <p:cNvPr id="23" name="TextBox 23"/>
            <p:cNvSpPr txBox="1"/>
            <p:nvPr/>
          </p:nvSpPr>
          <p:spPr>
            <a:xfrm>
              <a:off x="4677156" y="2301240"/>
              <a:ext cx="160623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GPU docking</a:t>
              </a:r>
            </a:p>
          </p:txBody>
        </p:sp>
        <p:sp>
          <p:nvSpPr>
            <p:cNvPr id="24" name="TextBox 24"/>
            <p:cNvSpPr txBox="1"/>
            <p:nvPr/>
          </p:nvSpPr>
          <p:spPr>
            <a:xfrm>
              <a:off x="4679823" y="2815114"/>
              <a:ext cx="241332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Binding affinity is estimated</a:t>
              </a:r>
            </a:p>
          </p:txBody>
        </p:sp>
        <p:sp>
          <p:nvSpPr>
            <p:cNvPr id="25" name="TextBox 25"/>
            <p:cNvSpPr txBox="1"/>
            <p:nvPr/>
          </p:nvSpPr>
          <p:spPr>
            <a:xfrm>
              <a:off x="4679823" y="3043714"/>
              <a:ext cx="239088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by molecular docking, with a</a:t>
              </a:r>
            </a:p>
          </p:txBody>
        </p:sp>
        <p:sp>
          <p:nvSpPr>
            <p:cNvPr id="26" name="TextBox 26"/>
            <p:cNvSpPr txBox="1"/>
            <p:nvPr/>
          </p:nvSpPr>
          <p:spPr>
            <a:xfrm>
              <a:off x="4679823" y="3272314"/>
              <a:ext cx="261453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GPU-accelerated tool using the</a:t>
              </a:r>
            </a:p>
          </p:txBody>
        </p:sp>
        <p:sp>
          <p:nvSpPr>
            <p:cNvPr id="27" name="TextBox 27"/>
            <p:cNvSpPr txBox="1"/>
            <p:nvPr/>
          </p:nvSpPr>
          <p:spPr>
            <a:xfrm>
              <a:off x="4679823" y="3500914"/>
              <a:ext cx="188013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3D protein structure.</a:t>
              </a:r>
            </a:p>
          </p:txBody>
        </p:sp>
        <p:sp>
          <p:nvSpPr>
            <p:cNvPr id="28" name="Rectangle 28"/>
            <p:cNvSpPr/>
            <p:nvPr/>
          </p:nvSpPr>
          <p:spPr>
            <a:xfrm>
              <a:off x="4686300" y="4095750"/>
              <a:ext cx="2819400" cy="1123950"/>
            </a:xfrm>
            <a:prstGeom prst="roundRect">
              <a:avLst>
                <a:gd name="adj" fmla="val 6780"/>
              </a:avLst>
            </a:prstGeom>
            <a:solidFill>
              <a:schemeClr val="lt2"/>
            </a:solidFill>
            <a:ln>
              <a:noFill/>
            </a:ln>
          </p:spPr>
        </p:sp>
        <p:sp>
          <p:nvSpPr>
            <p:cNvPr id="29" name="TextBox 29"/>
            <p:cNvSpPr txBox="1"/>
            <p:nvPr/>
          </p:nvSpPr>
          <p:spPr>
            <a:xfrm>
              <a:off x="4833747" y="4276249"/>
              <a:ext cx="1111249" cy="190690"/>
            </a:xfrm>
            <a:prstGeom prst="rect">
              <a:avLst/>
            </a:prstGeom>
            <a:noFill/>
            <a:ln>
              <a:noFill/>
            </a:ln>
          </p:spPr>
          <p:txBody>
            <a:bodyPr wrap="none" lIns="0" tIns="0" rIns="0" bIns="0" anchor="t" anchorCtr="0">
              <a:spAutoFit/>
            </a:bodyPr>
            <a:lstStyle/>
            <a:p>
              <a:pPr algn="l"/>
              <a:r>
                <a:rPr lang="en-US" sz="980" b="1" spc="75" dirty="0">
                  <a:solidFill>
                    <a:schemeClr val="dk2"/>
                  </a:solidFill>
                  <a:latin typeface="+mn-lt"/>
                  <a:ea typeface="+mn-ea"/>
                  <a:cs typeface="+mn-cs"/>
                </a:rPr>
                <a:t>STARTING DATA</a:t>
              </a:r>
            </a:p>
          </p:txBody>
        </p:sp>
        <p:sp>
          <p:nvSpPr>
            <p:cNvPr id="30" name="TextBox 30"/>
            <p:cNvSpPr txBox="1"/>
            <p:nvPr/>
          </p:nvSpPr>
          <p:spPr>
            <a:xfrm>
              <a:off x="4832985" y="4507706"/>
              <a:ext cx="185583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 dataset of purchasable</a:t>
              </a:r>
            </a:p>
          </p:txBody>
        </p:sp>
        <p:sp>
          <p:nvSpPr>
            <p:cNvPr id="31" name="TextBox 31"/>
            <p:cNvSpPr txBox="1"/>
            <p:nvPr/>
          </p:nvSpPr>
          <p:spPr>
            <a:xfrm>
              <a:off x="4832985" y="4717256"/>
              <a:ext cx="221273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molecules together with their</a:t>
              </a:r>
            </a:p>
          </p:txBody>
        </p:sp>
        <p:sp>
          <p:nvSpPr>
            <p:cNvPr id="32" name="TextBox 32"/>
            <p:cNvSpPr txBox="1"/>
            <p:nvPr/>
          </p:nvSpPr>
          <p:spPr>
            <a:xfrm>
              <a:off x="4832985" y="4926806"/>
              <a:ext cx="165707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NSP15 docking scores.</a:t>
              </a:r>
            </a:p>
          </p:txBody>
        </p:sp>
      </p:grpSp>
      <p:grpSp>
        <p:nvGrpSpPr>
          <p:cNvPr id="46" name="Group 46"/>
          <p:cNvGrpSpPr/>
          <p:nvPr/>
        </p:nvGrpSpPr>
        <p:grpSpPr>
          <a:xfrm>
            <a:off x="8191500" y="1676400"/>
            <a:ext cx="3429000" cy="3848100"/>
            <a:chOff x="8191500" y="1676400"/>
            <a:chExt cx="3429000" cy="3848100"/>
          </a:xfrm>
        </p:grpSpPr>
        <p:sp>
          <p:nvSpPr>
            <p:cNvPr id="34" name="Rectangle 34"/>
            <p:cNvSpPr/>
            <p:nvPr/>
          </p:nvSpPr>
          <p:spPr>
            <a:xfrm>
              <a:off x="8191500" y="1676400"/>
              <a:ext cx="3429000" cy="3848100"/>
            </a:xfrm>
            <a:prstGeom prst="roundRect">
              <a:avLst>
                <a:gd name="adj" fmla="val 3889"/>
              </a:avLst>
            </a:prstGeom>
            <a:solidFill>
              <a:schemeClr val="lt1"/>
            </a:solidFill>
            <a:ln w="14288">
              <a:solidFill>
                <a:schemeClr val="accent4"/>
              </a:solidFill>
            </a:ln>
          </p:spPr>
        </p:sp>
        <p:sp>
          <p:nvSpPr>
            <p:cNvPr id="35" name="Rectangle 35"/>
            <p:cNvSpPr/>
            <p:nvPr/>
          </p:nvSpPr>
          <p:spPr>
            <a:xfrm>
              <a:off x="8191500" y="1676400"/>
              <a:ext cx="3429000" cy="57150"/>
            </a:xfrm>
            <a:prstGeom prst="roundRect">
              <a:avLst>
                <a:gd name="adj" fmla="val 50000"/>
              </a:avLst>
            </a:prstGeom>
            <a:solidFill>
              <a:schemeClr val="accent3"/>
            </a:solidFill>
            <a:ln>
              <a:noFill/>
            </a:ln>
          </p:spPr>
        </p:sp>
        <p:sp>
          <p:nvSpPr>
            <p:cNvPr id="36" name="TextBox 36"/>
            <p:cNvSpPr txBox="1"/>
            <p:nvPr/>
          </p:nvSpPr>
          <p:spPr>
            <a:xfrm>
              <a:off x="8491347" y="2009299"/>
              <a:ext cx="130742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STANDARD TASKS</a:t>
              </a:r>
            </a:p>
          </p:txBody>
        </p:sp>
        <p:sp>
          <p:nvSpPr>
            <p:cNvPr id="37" name="TextBox 37"/>
            <p:cNvSpPr txBox="1"/>
            <p:nvPr/>
          </p:nvSpPr>
          <p:spPr>
            <a:xfrm>
              <a:off x="8487156" y="2301240"/>
              <a:ext cx="1630192"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QED &amp; LogP</a:t>
              </a:r>
            </a:p>
          </p:txBody>
        </p:sp>
        <p:sp>
          <p:nvSpPr>
            <p:cNvPr id="38" name="TextBox 38"/>
            <p:cNvSpPr txBox="1"/>
            <p:nvPr/>
          </p:nvSpPr>
          <p:spPr>
            <a:xfrm>
              <a:off x="8489823" y="2815114"/>
              <a:ext cx="210356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To complement the single</a:t>
              </a:r>
            </a:p>
          </p:txBody>
        </p:sp>
        <p:sp>
          <p:nvSpPr>
            <p:cNvPr id="39" name="TextBox 39"/>
            <p:cNvSpPr txBox="1"/>
            <p:nvPr/>
          </p:nvSpPr>
          <p:spPr>
            <a:xfrm>
              <a:off x="8489823" y="3043714"/>
              <a:ext cx="229803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docking objective, DGAPN is</a:t>
              </a:r>
            </a:p>
          </p:txBody>
        </p:sp>
        <p:sp>
          <p:nvSpPr>
            <p:cNvPr id="40" name="TextBox 40"/>
            <p:cNvSpPr txBox="1"/>
            <p:nvPr/>
          </p:nvSpPr>
          <p:spPr>
            <a:xfrm>
              <a:off x="8489823" y="3272314"/>
              <a:ext cx="251150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also evaluated on two common</a:t>
              </a:r>
            </a:p>
          </p:txBody>
        </p:sp>
        <p:sp>
          <p:nvSpPr>
            <p:cNvPr id="41" name="TextBox 41"/>
            <p:cNvSpPr txBox="1"/>
            <p:nvPr/>
          </p:nvSpPr>
          <p:spPr>
            <a:xfrm>
              <a:off x="8489823" y="3500914"/>
              <a:ext cx="182562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ML generation tasks.</a:t>
              </a:r>
            </a:p>
          </p:txBody>
        </p:sp>
        <p:sp>
          <p:nvSpPr>
            <p:cNvPr id="42" name="Rectangle 42"/>
            <p:cNvSpPr/>
            <p:nvPr/>
          </p:nvSpPr>
          <p:spPr>
            <a:xfrm>
              <a:off x="8496300" y="4095750"/>
              <a:ext cx="2819400" cy="1123950"/>
            </a:xfrm>
            <a:prstGeom prst="roundRect">
              <a:avLst>
                <a:gd name="adj" fmla="val 6780"/>
              </a:avLst>
            </a:prstGeom>
            <a:solidFill>
              <a:schemeClr val="lt2"/>
            </a:solidFill>
            <a:ln>
              <a:noFill/>
            </a:ln>
          </p:spPr>
        </p:sp>
        <p:sp>
          <p:nvSpPr>
            <p:cNvPr id="43" name="TextBox 43"/>
            <p:cNvSpPr txBox="1"/>
            <p:nvPr/>
          </p:nvSpPr>
          <p:spPr>
            <a:xfrm>
              <a:off x="8642604" y="4271010"/>
              <a:ext cx="239628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QED — the drug-likeness score</a:t>
              </a:r>
            </a:p>
          </p:txBody>
        </p:sp>
        <p:sp>
          <p:nvSpPr>
            <p:cNvPr id="44" name="TextBox 44"/>
            <p:cNvSpPr txBox="1"/>
            <p:nvPr/>
          </p:nvSpPr>
          <p:spPr>
            <a:xfrm>
              <a:off x="8642604" y="4556760"/>
              <a:ext cx="217990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penalized LogP — a standard</a:t>
              </a:r>
            </a:p>
          </p:txBody>
        </p:sp>
        <p:sp>
          <p:nvSpPr>
            <p:cNvPr id="45" name="TextBox 45"/>
            <p:cNvSpPr txBox="1"/>
            <p:nvPr/>
          </p:nvSpPr>
          <p:spPr>
            <a:xfrm>
              <a:off x="8642604" y="4766310"/>
              <a:ext cx="224149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property-optimization value</a:t>
              </a:r>
            </a:p>
          </p:txBody>
        </p:sp>
      </p:grpSp>
      <p:grpSp>
        <p:nvGrpSpPr>
          <p:cNvPr id="49" name="Group 49"/>
          <p:cNvGrpSpPr/>
          <p:nvPr/>
        </p:nvGrpSpPr>
        <p:grpSpPr>
          <a:xfrm>
            <a:off x="566738" y="6597491"/>
            <a:ext cx="11058524" cy="161925"/>
            <a:chOff x="566738" y="6597491"/>
            <a:chExt cx="11058524" cy="161925"/>
          </a:xfrm>
        </p:grpSpPr>
        <p:sp>
          <p:nvSpPr>
            <p:cNvPr id="47" name="TextBox 47"/>
            <p:cNvSpPr txBox="1"/>
            <p:nvPr/>
          </p:nvSpPr>
          <p:spPr>
            <a:xfrm>
              <a:off x="566738" y="6597491"/>
              <a:ext cx="4763783"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DGAPN · Spatial Graph Attention and Curiosity-driven Policy for Antiviral Drug Discovery</a:t>
              </a:r>
            </a:p>
          </p:txBody>
        </p:sp>
        <p:sp>
          <p:nvSpPr>
            <p:cNvPr id="48" name="TextBox 48"/>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06</a:t>
              </a:r>
            </a:p>
          </p:txBody>
        </p:sp>
      </p:grpSp>
      <p:sp>
        <p:nvSpPr>
          <p:cNvPr id="50" name="cue_s06_c1_primary_benchmark_designs_novel_inhi" title="cue_s06_c1_primary_benchmark_designs_novel_inhi" descr="cue_s06_c1_primary_benchmark_designs_novel_inhi The primary benchmark designs novel inhibitors binding the NSP15 site of SARS-CoV-2."/>
          <p:cNvSpPr/>
          <p:nvPr/>
        </p:nvSpPr>
        <p:spPr>
          <a:xfrm>
            <a:off x="571804" y="1676095"/>
            <a:ext cx="3428390" cy="3848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2_binding_affinity_estimated_molecular" title="cue_s06_c2_binding_affinity_estimated_molecular" descr="cue_s06_c2_binding_affinity_estimated_molecular Binding affinity is estimated by molecular docking, using a GPU-accelerated tool on the protein's 3D structure, starting from a dataset of purchasable molecules with NSP15 docking scores."/>
          <p:cNvSpPr/>
          <p:nvPr/>
        </p:nvSpPr>
        <p:spPr>
          <a:xfrm>
            <a:off x="4381804" y="1676095"/>
            <a:ext cx="3428390" cy="3848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3_method_also_tested_standard_qed" title="cue_s06_c3_method_also_tested_standard_qed" descr="cue_s06_c3_method_also_tested_standard_qed The method is also tested on standard QED and penalized LogP optimization tasks."/>
          <p:cNvSpPr/>
          <p:nvPr/>
        </p:nvSpPr>
        <p:spPr>
          <a:xfrm>
            <a:off x="8191804" y="1676095"/>
            <a:ext cx="3428390" cy="3848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997029" cy="656939"/>
            <a:chOff x="571500" y="533400"/>
            <a:chExt cx="6997029"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78138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State-of-the-art docking on NSP15</a:t>
              </a:r>
            </a:p>
          </p:txBody>
        </p:sp>
        <p:sp>
          <p:nvSpPr>
            <p:cNvPr id="4" name="TextBox 4"/>
            <p:cNvSpPr txBox="1"/>
            <p:nvPr/>
          </p:nvSpPr>
          <p:spPr>
            <a:xfrm>
              <a:off x="795147" y="999649"/>
              <a:ext cx="317278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KEY RESULT · DGAPN VS FIVE BASELINES</a:t>
              </a:r>
            </a:p>
          </p:txBody>
        </p:sp>
      </p:grpSp>
      <p:grpSp>
        <p:nvGrpSpPr>
          <p:cNvPr id="30" name="Group 30"/>
          <p:cNvGrpSpPr/>
          <p:nvPr/>
        </p:nvGrpSpPr>
        <p:grpSpPr>
          <a:xfrm>
            <a:off x="571500" y="1600200"/>
            <a:ext cx="6477000" cy="4305300"/>
            <a:chOff x="571500" y="1600200"/>
            <a:chExt cx="6477000" cy="4305300"/>
          </a:xfrm>
        </p:grpSpPr>
        <p:sp>
          <p:nvSpPr>
            <p:cNvPr id="6" name="Rectangle 6"/>
            <p:cNvSpPr/>
            <p:nvPr/>
          </p:nvSpPr>
          <p:spPr>
            <a:xfrm>
              <a:off x="571500" y="1600200"/>
              <a:ext cx="6477000" cy="4305300"/>
            </a:xfrm>
            <a:prstGeom prst="roundRect">
              <a:avLst>
                <a:gd name="adj" fmla="val 3097"/>
              </a:avLst>
            </a:prstGeom>
            <a:solidFill>
              <a:schemeClr val="lt1"/>
            </a:solidFill>
            <a:ln w="14288">
              <a:solidFill>
                <a:schemeClr val="accent4"/>
              </a:solidFill>
            </a:ln>
          </p:spPr>
        </p:sp>
        <p:sp>
          <p:nvSpPr>
            <p:cNvPr id="7" name="Rectangle 7"/>
            <p:cNvSpPr/>
            <p:nvPr/>
          </p:nvSpPr>
          <p:spPr>
            <a:xfrm>
              <a:off x="571500" y="1600200"/>
              <a:ext cx="6477000" cy="57150"/>
            </a:xfrm>
            <a:prstGeom prst="roundRect">
              <a:avLst>
                <a:gd name="adj" fmla="val 50000"/>
              </a:avLst>
            </a:prstGeom>
            <a:solidFill>
              <a:srgbClr val="2F7D5B"/>
            </a:solidFill>
            <a:ln>
              <a:noFill/>
            </a:ln>
          </p:spPr>
        </p:sp>
        <p:sp>
          <p:nvSpPr>
            <p:cNvPr id="8" name="TextBox 8"/>
            <p:cNvSpPr txBox="1"/>
            <p:nvPr/>
          </p:nvSpPr>
          <p:spPr>
            <a:xfrm>
              <a:off x="871347" y="1914049"/>
              <a:ext cx="2821059"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DOCKING SCORE (LOWER = BETTER)</a:t>
              </a:r>
            </a:p>
          </p:txBody>
        </p:sp>
        <p:sp>
          <p:nvSpPr>
            <p:cNvPr id="9" name="TextBox 9"/>
            <p:cNvSpPr txBox="1"/>
            <p:nvPr/>
          </p:nvSpPr>
          <p:spPr>
            <a:xfrm>
              <a:off x="1061847" y="2295049"/>
              <a:ext cx="513628" cy="190690"/>
            </a:xfrm>
            <a:prstGeom prst="rect">
              <a:avLst/>
            </a:prstGeom>
            <a:noFill/>
            <a:ln>
              <a:noFill/>
            </a:ln>
          </p:spPr>
          <p:txBody>
            <a:bodyPr wrap="none" lIns="0" tIns="0" rIns="0" bIns="0" anchor="t" anchorCtr="0">
              <a:spAutoFit/>
            </a:bodyPr>
            <a:lstStyle/>
            <a:p>
              <a:pPr algn="l"/>
              <a:r>
                <a:rPr lang="en-US" sz="980" b="1" spc="75" dirty="0">
                  <a:solidFill>
                    <a:schemeClr val="dk2"/>
                  </a:solidFill>
                  <a:latin typeface="+mn-lt"/>
                  <a:ea typeface="+mn-ea"/>
                  <a:cs typeface="+mn-cs"/>
                </a:rPr>
                <a:t>MODEL</a:t>
              </a:r>
            </a:p>
          </p:txBody>
        </p:sp>
        <p:sp>
          <p:nvSpPr>
            <p:cNvPr id="10" name="TextBox 10"/>
            <p:cNvSpPr txBox="1"/>
            <p:nvPr/>
          </p:nvSpPr>
          <p:spPr>
            <a:xfrm>
              <a:off x="4294794" y="2295049"/>
              <a:ext cx="363913" cy="190690"/>
            </a:xfrm>
            <a:prstGeom prst="rect">
              <a:avLst/>
            </a:prstGeom>
            <a:noFill/>
            <a:ln>
              <a:noFill/>
            </a:ln>
          </p:spPr>
          <p:txBody>
            <a:bodyPr wrap="none" lIns="0" tIns="0" rIns="0" bIns="0" anchor="t" anchorCtr="0">
              <a:spAutoFit/>
            </a:bodyPr>
            <a:lstStyle/>
            <a:p>
              <a:pPr algn="ctr"/>
              <a:r>
                <a:rPr lang="en-US" sz="980" b="1" spc="75" dirty="0">
                  <a:solidFill>
                    <a:schemeClr val="dk2"/>
                  </a:solidFill>
                  <a:latin typeface="+mn-lt"/>
                  <a:ea typeface="+mn-ea"/>
                  <a:cs typeface="+mn-cs"/>
                </a:rPr>
                <a:t>BEST</a:t>
              </a:r>
            </a:p>
          </p:txBody>
        </p:sp>
        <p:sp>
          <p:nvSpPr>
            <p:cNvPr id="11" name="TextBox 11"/>
            <p:cNvSpPr txBox="1"/>
            <p:nvPr/>
          </p:nvSpPr>
          <p:spPr>
            <a:xfrm>
              <a:off x="5994657" y="2295049"/>
              <a:ext cx="393186" cy="190690"/>
            </a:xfrm>
            <a:prstGeom prst="rect">
              <a:avLst/>
            </a:prstGeom>
            <a:noFill/>
            <a:ln>
              <a:noFill/>
            </a:ln>
          </p:spPr>
          <p:txBody>
            <a:bodyPr wrap="none" lIns="0" tIns="0" rIns="0" bIns="0" anchor="t" anchorCtr="0">
              <a:spAutoFit/>
            </a:bodyPr>
            <a:lstStyle/>
            <a:p>
              <a:pPr algn="ctr"/>
              <a:r>
                <a:rPr lang="en-US" sz="980" b="1" spc="75" dirty="0">
                  <a:solidFill>
                    <a:schemeClr val="dk2"/>
                  </a:solidFill>
                  <a:latin typeface="+mn-lt"/>
                  <a:ea typeface="+mn-ea"/>
                  <a:cs typeface="+mn-cs"/>
                </a:rPr>
                <a:t>MEAN</a:t>
              </a:r>
            </a:p>
          </p:txBody>
        </p:sp>
        <p:sp>
          <p:nvSpPr>
            <p:cNvPr id="12" name="Line 12"/>
            <p:cNvSpPr/>
            <p:nvPr/>
          </p:nvSpPr>
          <p:spPr>
            <a:xfrm>
              <a:off x="876300" y="2533650"/>
              <a:ext cx="5867400" cy="9525"/>
            </a:xfrm>
            <a:custGeom>
              <a:avLst/>
              <a:gdLst/>
              <a:ahLst/>
              <a:cxnLst/>
              <a:rect l="l" t="t" r="r" b="b"/>
              <a:pathLst>
                <a:path w="5867400" h="9525">
                  <a:moveTo>
                    <a:pt x="0" y="0"/>
                  </a:moveTo>
                  <a:lnTo>
                    <a:pt x="5867400" y="0"/>
                  </a:lnTo>
                </a:path>
              </a:pathLst>
            </a:custGeom>
            <a:noFill/>
            <a:ln w="14288">
              <a:solidFill>
                <a:schemeClr val="accent4"/>
              </a:solidFill>
            </a:ln>
          </p:spPr>
        </p:sp>
        <p:sp>
          <p:nvSpPr>
            <p:cNvPr id="13" name="Rectangle 13"/>
            <p:cNvSpPr/>
            <p:nvPr/>
          </p:nvSpPr>
          <p:spPr>
            <a:xfrm>
              <a:off x="876300" y="2647950"/>
              <a:ext cx="5867400" cy="571500"/>
            </a:xfrm>
            <a:prstGeom prst="roundRect">
              <a:avLst>
                <a:gd name="adj" fmla="val 13333"/>
              </a:avLst>
            </a:prstGeom>
            <a:solidFill>
              <a:schemeClr val="accent6"/>
            </a:solidFill>
            <a:ln>
              <a:noFill/>
            </a:ln>
          </p:spPr>
        </p:sp>
        <p:sp>
          <p:nvSpPr>
            <p:cNvPr id="14" name="TextBox 14"/>
            <p:cNvSpPr txBox="1"/>
            <p:nvPr/>
          </p:nvSpPr>
          <p:spPr>
            <a:xfrm>
              <a:off x="1059180" y="2733675"/>
              <a:ext cx="763334"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DGAPN</a:t>
              </a:r>
            </a:p>
          </p:txBody>
        </p:sp>
        <p:sp>
          <p:nvSpPr>
            <p:cNvPr id="15" name="TextBox 15"/>
            <p:cNvSpPr txBox="1"/>
            <p:nvPr/>
          </p:nvSpPr>
          <p:spPr>
            <a:xfrm>
              <a:off x="1062038" y="3007995"/>
              <a:ext cx="572910" cy="176212"/>
            </a:xfrm>
            <a:prstGeom prst="rect">
              <a:avLst/>
            </a:prstGeom>
            <a:noFill/>
            <a:ln>
              <a:noFill/>
            </a:ln>
          </p:spPr>
          <p:txBody>
            <a:bodyPr wrap="none" lIns="0" tIns="0" rIns="0" bIns="0" anchor="t" anchorCtr="0">
              <a:spAutoFit/>
            </a:bodyPr>
            <a:lstStyle/>
            <a:p>
              <a:pPr algn="l"/>
              <a:r>
                <a:rPr lang="en-US" sz="900" i="1" dirty="0">
                  <a:solidFill>
                    <a:schemeClr val="accent2"/>
                  </a:solidFill>
                  <a:latin typeface="+mn-lt"/>
                  <a:ea typeface="+mn-ea"/>
                  <a:cs typeface="+mn-cs"/>
                </a:rPr>
                <a:t>this work</a:t>
              </a:r>
            </a:p>
          </p:txBody>
        </p:sp>
        <p:sp>
          <p:nvSpPr>
            <p:cNvPr id="16" name="TextBox 16"/>
            <p:cNvSpPr txBox="1"/>
            <p:nvPr/>
          </p:nvSpPr>
          <p:spPr>
            <a:xfrm>
              <a:off x="4012047" y="2818448"/>
              <a:ext cx="929406" cy="381381"/>
            </a:xfrm>
            <a:prstGeom prst="rect">
              <a:avLst/>
            </a:prstGeom>
            <a:noFill/>
            <a:ln>
              <a:noFill/>
            </a:ln>
          </p:spPr>
          <p:txBody>
            <a:bodyPr wrap="none" lIns="0" tIns="0" rIns="0" bIns="0" anchor="t" anchorCtr="0">
              <a:spAutoFit/>
            </a:bodyPr>
            <a:lstStyle/>
            <a:p>
              <a:pPr algn="ctr"/>
              <a:r>
                <a:rPr lang="en-US" sz="1950" b="1" dirty="0">
                  <a:solidFill>
                    <a:srgbClr val="2F7D5B"/>
                  </a:solidFill>
                  <a:latin typeface="Consolas"/>
                  <a:ea typeface="Consolas"/>
                  <a:cs typeface="Consolas"/>
                </a:rPr>
                <a:t>-10.07</a:t>
              </a:r>
            </a:p>
          </p:txBody>
        </p:sp>
        <p:sp>
          <p:nvSpPr>
            <p:cNvPr id="17" name="TextBox 17"/>
            <p:cNvSpPr txBox="1"/>
            <p:nvPr/>
          </p:nvSpPr>
          <p:spPr>
            <a:xfrm>
              <a:off x="5802347" y="2818448"/>
              <a:ext cx="777807" cy="381381"/>
            </a:xfrm>
            <a:prstGeom prst="rect">
              <a:avLst/>
            </a:prstGeom>
            <a:noFill/>
            <a:ln>
              <a:noFill/>
            </a:ln>
          </p:spPr>
          <p:txBody>
            <a:bodyPr wrap="none" lIns="0" tIns="0" rIns="0" bIns="0" anchor="t" anchorCtr="0">
              <a:spAutoFit/>
            </a:bodyPr>
            <a:lstStyle/>
            <a:p>
              <a:pPr algn="ctr"/>
              <a:r>
                <a:rPr lang="en-US" sz="1950" b="1" dirty="0">
                  <a:solidFill>
                    <a:srgbClr val="2F7D5B"/>
                  </a:solidFill>
                  <a:latin typeface="Consolas"/>
                  <a:ea typeface="Consolas"/>
                  <a:cs typeface="Consolas"/>
                </a:rPr>
                <a:t>-6.77</a:t>
              </a:r>
            </a:p>
          </p:txBody>
        </p:sp>
        <p:sp>
          <p:nvSpPr>
            <p:cNvPr id="18" name="TextBox 18"/>
            <p:cNvSpPr txBox="1"/>
            <p:nvPr/>
          </p:nvSpPr>
          <p:spPr>
            <a:xfrm>
              <a:off x="1060323" y="3462814"/>
              <a:ext cx="66071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MolDQN</a:t>
              </a:r>
            </a:p>
          </p:txBody>
        </p:sp>
        <p:sp>
          <p:nvSpPr>
            <p:cNvPr id="19" name="TextBox 19"/>
            <p:cNvSpPr txBox="1"/>
            <p:nvPr/>
          </p:nvSpPr>
          <p:spPr>
            <a:xfrm>
              <a:off x="1062038" y="3674745"/>
              <a:ext cx="1251395"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second-best baseline</a:t>
              </a:r>
            </a:p>
          </p:txBody>
        </p:sp>
        <p:sp>
          <p:nvSpPr>
            <p:cNvPr id="20" name="TextBox 20"/>
            <p:cNvSpPr txBox="1"/>
            <p:nvPr/>
          </p:nvSpPr>
          <p:spPr>
            <a:xfrm>
              <a:off x="4191476" y="3495675"/>
              <a:ext cx="570548" cy="293370"/>
            </a:xfrm>
            <a:prstGeom prst="rect">
              <a:avLst/>
            </a:prstGeom>
            <a:noFill/>
            <a:ln>
              <a:noFill/>
            </a:ln>
          </p:spPr>
          <p:txBody>
            <a:bodyPr wrap="none" lIns="0" tIns="0" rIns="0" bIns="0" anchor="t" anchorCtr="0">
              <a:spAutoFit/>
            </a:bodyPr>
            <a:lstStyle/>
            <a:p>
              <a:pPr algn="ctr"/>
              <a:r>
                <a:rPr lang="en-US" sz="1500" dirty="0">
                  <a:solidFill>
                    <a:schemeClr val="dk1"/>
                  </a:solidFill>
                  <a:latin typeface="Consolas"/>
                  <a:ea typeface="Consolas"/>
                  <a:cs typeface="Consolas"/>
                </a:rPr>
                <a:t>-8.01</a:t>
              </a:r>
            </a:p>
          </p:txBody>
        </p:sp>
        <p:sp>
          <p:nvSpPr>
            <p:cNvPr id="21" name="TextBox 21"/>
            <p:cNvSpPr txBox="1"/>
            <p:nvPr/>
          </p:nvSpPr>
          <p:spPr>
            <a:xfrm>
              <a:off x="5905976" y="3495675"/>
              <a:ext cx="570548" cy="293370"/>
            </a:xfrm>
            <a:prstGeom prst="rect">
              <a:avLst/>
            </a:prstGeom>
            <a:noFill/>
            <a:ln>
              <a:noFill/>
            </a:ln>
          </p:spPr>
          <p:txBody>
            <a:bodyPr wrap="none" lIns="0" tIns="0" rIns="0" bIns="0" anchor="t" anchorCtr="0">
              <a:spAutoFit/>
            </a:bodyPr>
            <a:lstStyle/>
            <a:p>
              <a:pPr algn="ctr"/>
              <a:r>
                <a:rPr lang="en-US" sz="1500" dirty="0">
                  <a:solidFill>
                    <a:schemeClr val="dk1"/>
                  </a:solidFill>
                  <a:latin typeface="Consolas"/>
                  <a:ea typeface="Consolas"/>
                  <a:cs typeface="Consolas"/>
                </a:rPr>
                <a:t>-5.38</a:t>
              </a:r>
            </a:p>
          </p:txBody>
        </p:sp>
        <p:sp>
          <p:nvSpPr>
            <p:cNvPr id="22" name="Line 22"/>
            <p:cNvSpPr/>
            <p:nvPr/>
          </p:nvSpPr>
          <p:spPr>
            <a:xfrm>
              <a:off x="876300" y="3943350"/>
              <a:ext cx="5867400" cy="9525"/>
            </a:xfrm>
            <a:custGeom>
              <a:avLst/>
              <a:gdLst/>
              <a:ahLst/>
              <a:cxnLst/>
              <a:rect l="l" t="t" r="r" b="b"/>
              <a:pathLst>
                <a:path w="5867400" h="9525">
                  <a:moveTo>
                    <a:pt x="0" y="0"/>
                  </a:moveTo>
                  <a:lnTo>
                    <a:pt x="5867400" y="0"/>
                  </a:lnTo>
                </a:path>
              </a:pathLst>
            </a:custGeom>
            <a:noFill/>
            <a:ln w="9525">
              <a:solidFill>
                <a:schemeClr val="accent4"/>
              </a:solidFill>
            </a:ln>
          </p:spPr>
        </p:sp>
        <p:sp>
          <p:nvSpPr>
            <p:cNvPr id="23" name="TextBox 23"/>
            <p:cNvSpPr txBox="1"/>
            <p:nvPr/>
          </p:nvSpPr>
          <p:spPr>
            <a:xfrm>
              <a:off x="1060704" y="4118610"/>
              <a:ext cx="359970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Also beaten: REINVENT · JTVAE · GCPN · MARS</a:t>
              </a:r>
            </a:p>
          </p:txBody>
        </p:sp>
        <p:sp>
          <p:nvSpPr>
            <p:cNvPr id="24" name="Rectangle 24"/>
            <p:cNvSpPr/>
            <p:nvPr/>
          </p:nvSpPr>
          <p:spPr>
            <a:xfrm>
              <a:off x="876300" y="4514850"/>
              <a:ext cx="5867400" cy="1162050"/>
            </a:xfrm>
            <a:prstGeom prst="roundRect">
              <a:avLst>
                <a:gd name="adj" fmla="val 6557"/>
              </a:avLst>
            </a:prstGeom>
            <a:solidFill>
              <a:schemeClr val="lt2"/>
            </a:solidFill>
            <a:ln>
              <a:noFill/>
            </a:ln>
          </p:spPr>
        </p:sp>
        <p:sp>
          <p:nvSpPr>
            <p:cNvPr id="25" name="Rectangle 25"/>
            <p:cNvSpPr/>
            <p:nvPr/>
          </p:nvSpPr>
          <p:spPr>
            <a:xfrm>
              <a:off x="876300" y="4514850"/>
              <a:ext cx="38100" cy="1162050"/>
            </a:xfrm>
            <a:prstGeom prst="rect">
              <a:avLst/>
            </a:prstGeom>
            <a:solidFill>
              <a:srgbClr val="2F7D5B"/>
            </a:solidFill>
            <a:ln>
              <a:noFill/>
            </a:ln>
          </p:spPr>
        </p:sp>
        <p:sp>
          <p:nvSpPr>
            <p:cNvPr id="26" name="TextBox 26"/>
            <p:cNvSpPr txBox="1"/>
            <p:nvPr/>
          </p:nvSpPr>
          <p:spPr>
            <a:xfrm>
              <a:off x="1061847" y="4695349"/>
              <a:ext cx="2311079" cy="190690"/>
            </a:xfrm>
            <a:prstGeom prst="rect">
              <a:avLst/>
            </a:prstGeom>
            <a:noFill/>
            <a:ln>
              <a:noFill/>
            </a:ln>
          </p:spPr>
          <p:txBody>
            <a:bodyPr wrap="none" lIns="0" tIns="0" rIns="0" bIns="0" anchor="t" anchorCtr="0">
              <a:spAutoFit/>
            </a:bodyPr>
            <a:lstStyle/>
            <a:p>
              <a:pPr algn="l"/>
              <a:r>
                <a:rPr lang="en-US" sz="980" b="1" spc="75" dirty="0">
                  <a:solidFill>
                    <a:srgbClr val="2F7D5B"/>
                  </a:solidFill>
                  <a:latin typeface="+mn-lt"/>
                  <a:ea typeface="+mn-ea"/>
                  <a:cs typeface="+mn-cs"/>
                </a:rPr>
                <a:t>STATISTICALLY OVERWHELMING</a:t>
              </a:r>
            </a:p>
          </p:txBody>
        </p:sp>
        <p:sp>
          <p:nvSpPr>
            <p:cNvPr id="27" name="TextBox 27"/>
            <p:cNvSpPr txBox="1"/>
            <p:nvPr/>
          </p:nvSpPr>
          <p:spPr>
            <a:xfrm>
              <a:off x="1060323" y="4967764"/>
              <a:ext cx="380118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 improvement over the second-best model</a:t>
              </a:r>
            </a:p>
          </p:txBody>
        </p:sp>
        <p:sp>
          <p:nvSpPr>
            <p:cNvPr id="28" name="TextBox 28"/>
            <p:cNvSpPr txBox="1"/>
            <p:nvPr/>
          </p:nvSpPr>
          <p:spPr>
            <a:xfrm>
              <a:off x="1060323" y="5196364"/>
              <a:ext cx="221856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carries a p-value of about</a:t>
              </a:r>
            </a:p>
          </p:txBody>
        </p:sp>
        <p:sp>
          <p:nvSpPr>
            <p:cNvPr id="29" name="TextBox 29"/>
            <p:cNvSpPr txBox="1"/>
            <p:nvPr/>
          </p:nvSpPr>
          <p:spPr>
            <a:xfrm>
              <a:off x="1059561" y="5427821"/>
              <a:ext cx="3473036"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Consolas"/>
                  <a:ea typeface="Consolas"/>
                  <a:cs typeface="Consolas"/>
                </a:rPr>
                <a:t>p = 8.55 × 10⁻²⁰⁹ (Welch's t-test)</a:t>
              </a:r>
            </a:p>
          </p:txBody>
        </p:sp>
      </p:grpSp>
      <p:grpSp>
        <p:nvGrpSpPr>
          <p:cNvPr id="48" name="Group 48"/>
          <p:cNvGrpSpPr/>
          <p:nvPr/>
        </p:nvGrpSpPr>
        <p:grpSpPr>
          <a:xfrm>
            <a:off x="7239000" y="1600200"/>
            <a:ext cx="4381500" cy="4305300"/>
            <a:chOff x="7239000" y="1600200"/>
            <a:chExt cx="4381500" cy="4305300"/>
          </a:xfrm>
        </p:grpSpPr>
        <p:sp>
          <p:nvSpPr>
            <p:cNvPr id="31" name="Rectangle 31"/>
            <p:cNvSpPr/>
            <p:nvPr/>
          </p:nvSpPr>
          <p:spPr>
            <a:xfrm>
              <a:off x="7239000" y="1600200"/>
              <a:ext cx="4381500" cy="4305300"/>
            </a:xfrm>
            <a:prstGeom prst="roundRect">
              <a:avLst>
                <a:gd name="adj" fmla="val 3097"/>
              </a:avLst>
            </a:prstGeom>
            <a:solidFill>
              <a:schemeClr val="lt1"/>
            </a:solidFill>
            <a:ln w="14288">
              <a:solidFill>
                <a:schemeClr val="accent4"/>
              </a:solidFill>
            </a:ln>
          </p:spPr>
        </p:sp>
        <p:sp>
          <p:nvSpPr>
            <p:cNvPr id="32" name="Rectangle 32"/>
            <p:cNvSpPr/>
            <p:nvPr/>
          </p:nvSpPr>
          <p:spPr>
            <a:xfrm>
              <a:off x="7239000" y="1600200"/>
              <a:ext cx="4381500" cy="57150"/>
            </a:xfrm>
            <a:prstGeom prst="roundRect">
              <a:avLst>
                <a:gd name="adj" fmla="val 50000"/>
              </a:avLst>
            </a:prstGeom>
            <a:solidFill>
              <a:schemeClr val="accent2"/>
            </a:solidFill>
            <a:ln>
              <a:noFill/>
            </a:ln>
          </p:spPr>
        </p:sp>
        <p:sp>
          <p:nvSpPr>
            <p:cNvPr id="33" name="TextBox 33"/>
            <p:cNvSpPr txBox="1"/>
            <p:nvPr/>
          </p:nvSpPr>
          <p:spPr>
            <a:xfrm>
              <a:off x="7538847" y="1914049"/>
              <a:ext cx="164192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BEYOND RAW BINDING</a:t>
              </a:r>
            </a:p>
          </p:txBody>
        </p:sp>
        <p:sp>
          <p:nvSpPr>
            <p:cNvPr id="34" name="Rectangle 34"/>
            <p:cNvSpPr/>
            <p:nvPr/>
          </p:nvSpPr>
          <p:spPr>
            <a:xfrm>
              <a:off x="7543800" y="2228850"/>
              <a:ext cx="3771900" cy="1600200"/>
            </a:xfrm>
            <a:prstGeom prst="roundRect">
              <a:avLst>
                <a:gd name="adj" fmla="val 5952"/>
              </a:avLst>
            </a:prstGeom>
            <a:solidFill>
              <a:schemeClr val="lt2"/>
            </a:solidFill>
            <a:ln>
              <a:noFill/>
            </a:ln>
          </p:spPr>
        </p:sp>
        <p:sp>
          <p:nvSpPr>
            <p:cNvPr id="35" name="TextBox 35"/>
            <p:cNvSpPr txBox="1"/>
            <p:nvPr/>
          </p:nvSpPr>
          <p:spPr>
            <a:xfrm>
              <a:off x="7727061" y="2379821"/>
              <a:ext cx="2615255"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Constrained optimization</a:t>
              </a:r>
            </a:p>
          </p:txBody>
        </p:sp>
        <p:sp>
          <p:nvSpPr>
            <p:cNvPr id="36" name="TextBox 36"/>
            <p:cNvSpPr txBox="1"/>
            <p:nvPr/>
          </p:nvSpPr>
          <p:spPr>
            <a:xfrm>
              <a:off x="7728204" y="2727960"/>
              <a:ext cx="263933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DGAPN gives the largest property</a:t>
              </a:r>
            </a:p>
          </p:txBody>
        </p:sp>
        <p:sp>
          <p:nvSpPr>
            <p:cNvPr id="37" name="TextBox 37"/>
            <p:cNvSpPr txBox="1"/>
            <p:nvPr/>
          </p:nvSpPr>
          <p:spPr>
            <a:xfrm>
              <a:off x="7728204" y="2937510"/>
              <a:ext cx="217688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improvements across every</a:t>
              </a:r>
            </a:p>
          </p:txBody>
        </p:sp>
        <p:sp>
          <p:nvSpPr>
            <p:cNvPr id="38" name="TextBox 38"/>
            <p:cNvSpPr txBox="1"/>
            <p:nvPr/>
          </p:nvSpPr>
          <p:spPr>
            <a:xfrm>
              <a:off x="7728204" y="3147060"/>
              <a:ext cx="224957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similarity threshold, versus</a:t>
              </a:r>
            </a:p>
          </p:txBody>
        </p:sp>
        <p:sp>
          <p:nvSpPr>
            <p:cNvPr id="39" name="TextBox 39"/>
            <p:cNvSpPr txBox="1"/>
            <p:nvPr/>
          </p:nvSpPr>
          <p:spPr>
            <a:xfrm>
              <a:off x="7728204" y="3356610"/>
              <a:ext cx="145822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MolDQN and MARS.</a:t>
              </a:r>
            </a:p>
          </p:txBody>
        </p:sp>
        <p:sp>
          <p:nvSpPr>
            <p:cNvPr id="40" name="Rectangle 40"/>
            <p:cNvSpPr/>
            <p:nvPr/>
          </p:nvSpPr>
          <p:spPr>
            <a:xfrm>
              <a:off x="7543800" y="3981450"/>
              <a:ext cx="3771900" cy="1752600"/>
            </a:xfrm>
            <a:prstGeom prst="roundRect">
              <a:avLst>
                <a:gd name="adj" fmla="val 5435"/>
              </a:avLst>
            </a:prstGeom>
            <a:solidFill>
              <a:schemeClr val="lt2"/>
            </a:solidFill>
            <a:ln>
              <a:noFill/>
            </a:ln>
          </p:spPr>
        </p:sp>
        <p:sp>
          <p:nvSpPr>
            <p:cNvPr id="41" name="TextBox 41"/>
            <p:cNvSpPr txBox="1"/>
            <p:nvPr/>
          </p:nvSpPr>
          <p:spPr>
            <a:xfrm>
              <a:off x="7727061" y="4132421"/>
              <a:ext cx="2638815"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Multi-objective (ω = 0.6)</a:t>
              </a:r>
            </a:p>
          </p:txBody>
        </p:sp>
        <p:sp>
          <p:nvSpPr>
            <p:cNvPr id="42" name="TextBox 42"/>
            <p:cNvSpPr txBox="1"/>
            <p:nvPr/>
          </p:nvSpPr>
          <p:spPr>
            <a:xfrm>
              <a:off x="7728204" y="4480560"/>
              <a:ext cx="289276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Trades a little affinity for markedly</a:t>
              </a:r>
            </a:p>
          </p:txBody>
        </p:sp>
        <p:sp>
          <p:nvSpPr>
            <p:cNvPr id="43" name="TextBox 43"/>
            <p:cNvSpPr txBox="1"/>
            <p:nvPr/>
          </p:nvSpPr>
          <p:spPr>
            <a:xfrm>
              <a:off x="7728204" y="4690110"/>
              <a:ext cx="279074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better drug-likeness and synthetic</a:t>
              </a:r>
            </a:p>
          </p:txBody>
        </p:sp>
        <p:sp>
          <p:nvSpPr>
            <p:cNvPr id="44" name="TextBox 44"/>
            <p:cNvSpPr txBox="1"/>
            <p:nvPr/>
          </p:nvSpPr>
          <p:spPr>
            <a:xfrm>
              <a:off x="7728204" y="4899660"/>
              <a:ext cx="279341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accessibility — QED 0.72, SA 2.20 —</a:t>
              </a:r>
            </a:p>
          </p:txBody>
        </p:sp>
        <p:sp>
          <p:nvSpPr>
            <p:cNvPr id="45" name="TextBox 45"/>
            <p:cNvSpPr txBox="1"/>
            <p:nvPr/>
          </p:nvSpPr>
          <p:spPr>
            <a:xfrm>
              <a:off x="7728204" y="5109210"/>
              <a:ext cx="268574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while keeping mean docking −5.69,</a:t>
              </a:r>
            </a:p>
          </p:txBody>
        </p:sp>
        <p:sp>
          <p:nvSpPr>
            <p:cNvPr id="46" name="TextBox 46"/>
            <p:cNvSpPr txBox="1"/>
            <p:nvPr/>
          </p:nvSpPr>
          <p:spPr>
            <a:xfrm>
              <a:off x="7728204" y="5318760"/>
              <a:ext cx="240304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still better than every single-</a:t>
              </a:r>
            </a:p>
          </p:txBody>
        </p:sp>
        <p:sp>
          <p:nvSpPr>
            <p:cNvPr id="47" name="TextBox 47"/>
            <p:cNvSpPr txBox="1"/>
            <p:nvPr/>
          </p:nvSpPr>
          <p:spPr>
            <a:xfrm>
              <a:off x="7728204" y="5528310"/>
              <a:ext cx="235458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objective baseline on docking.</a:t>
              </a:r>
            </a:p>
          </p:txBody>
        </p:sp>
      </p:grpSp>
      <p:grpSp>
        <p:nvGrpSpPr>
          <p:cNvPr id="51" name="Group 51"/>
          <p:cNvGrpSpPr/>
          <p:nvPr/>
        </p:nvGrpSpPr>
        <p:grpSpPr>
          <a:xfrm>
            <a:off x="566738" y="6597491"/>
            <a:ext cx="11058524" cy="161925"/>
            <a:chOff x="566738" y="6597491"/>
            <a:chExt cx="11058524" cy="161925"/>
          </a:xfrm>
        </p:grpSpPr>
        <p:sp>
          <p:nvSpPr>
            <p:cNvPr id="49" name="TextBox 49"/>
            <p:cNvSpPr txBox="1"/>
            <p:nvPr/>
          </p:nvSpPr>
          <p:spPr>
            <a:xfrm>
              <a:off x="566738" y="6597491"/>
              <a:ext cx="4629488"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Source: DGAPN, single-objective docking vs REINVENT · JTVAE · GCPN · MolDQN · MARS</a:t>
              </a:r>
            </a:p>
          </p:txBody>
        </p:sp>
        <p:sp>
          <p:nvSpPr>
            <p:cNvPr id="50" name="TextBox 50"/>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07</a:t>
              </a:r>
            </a:p>
          </p:txBody>
        </p:sp>
      </p:grpSp>
      <p:sp>
        <p:nvSpPr>
          <p:cNvPr id="52" name="cue_s07_c1_docking_against_nsp15_dgapn_clearly" title="cue_s07_c1_docking_against_nsp15_dgapn_clearly" descr="cue_s07_c1_docking_against_nsp15_dgapn_clearly On docking against NSP15, DGAPN clearly beats five state-of-the-art baselines, reaching a best score near minus ten and a mean of minus six point seven seven, well ahead of MolDQN, with an astronomically small p-value under Welch's t-test."/>
          <p:cNvSpPr/>
          <p:nvPr/>
        </p:nvSpPr>
        <p:spPr>
          <a:xfrm>
            <a:off x="571804" y="1599971"/>
            <a:ext cx="6476390"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7_c2_also_wins_constrained_optimization_e" title="cue_s07_c2_also_wins_constrained_optimization_e" descr="cue_s07_c2_also_wins_constrained_optimization_e It also wins constrained optimization at every similarity threshold, and in multi-objective mode trades slight affinity for markedly better drug-likeness and synthesizability."/>
          <p:cNvSpPr/>
          <p:nvPr/>
        </p:nvSpPr>
        <p:spPr>
          <a:xfrm>
            <a:off x="7239609" y="1599971"/>
            <a:ext cx="4381804"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078148" cy="656939"/>
            <a:chOff x="571500" y="533400"/>
            <a:chExt cx="6078148"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5862502"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Each component earns its place</a:t>
              </a:r>
            </a:p>
          </p:txBody>
        </p:sp>
        <p:sp>
          <p:nvSpPr>
            <p:cNvPr id="4" name="TextBox 4"/>
            <p:cNvSpPr txBox="1"/>
            <p:nvPr/>
          </p:nvSpPr>
          <p:spPr>
            <a:xfrm>
              <a:off x="795147" y="999649"/>
              <a:ext cx="3291169"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ABLATION STUDY · ISOLATING THE PIECES</a:t>
              </a:r>
            </a:p>
          </p:txBody>
        </p:sp>
      </p:grpSp>
      <p:grpSp>
        <p:nvGrpSpPr>
          <p:cNvPr id="8" name="Group 8"/>
          <p:cNvGrpSpPr/>
          <p:nvPr/>
        </p:nvGrpSpPr>
        <p:grpSpPr>
          <a:xfrm>
            <a:off x="571500" y="1428750"/>
            <a:ext cx="11049000" cy="533400"/>
            <a:chOff x="571500" y="1428750"/>
            <a:chExt cx="11049000" cy="533400"/>
          </a:xfrm>
        </p:grpSpPr>
        <p:sp>
          <p:nvSpPr>
            <p:cNvPr id="6" name="Rectangle 6"/>
            <p:cNvSpPr/>
            <p:nvPr/>
          </p:nvSpPr>
          <p:spPr>
            <a:xfrm>
              <a:off x="571500" y="1428750"/>
              <a:ext cx="11049000" cy="533400"/>
            </a:xfrm>
            <a:prstGeom prst="roundRect">
              <a:avLst>
                <a:gd name="adj" fmla="val 17857"/>
              </a:avLst>
            </a:prstGeom>
            <a:solidFill>
              <a:schemeClr val="accent1"/>
            </a:solidFill>
            <a:ln>
              <a:noFill/>
            </a:ln>
          </p:spPr>
        </p:sp>
        <p:sp>
          <p:nvSpPr>
            <p:cNvPr id="7" name="TextBox 7"/>
            <p:cNvSpPr txBox="1"/>
            <p:nvPr/>
          </p:nvSpPr>
          <p:spPr>
            <a:xfrm>
              <a:off x="793242" y="1616392"/>
              <a:ext cx="400894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Three targeted ablations, one clear verdict.</a:t>
              </a:r>
            </a:p>
          </p:txBody>
        </p:sp>
      </p:grpSp>
      <p:grpSp>
        <p:nvGrpSpPr>
          <p:cNvPr id="23" name="Group 23"/>
          <p:cNvGrpSpPr/>
          <p:nvPr/>
        </p:nvGrpSpPr>
        <p:grpSpPr>
          <a:xfrm>
            <a:off x="571500" y="2228850"/>
            <a:ext cx="3429000" cy="3638550"/>
            <a:chOff x="571500" y="2228850"/>
            <a:chExt cx="3429000" cy="3638550"/>
          </a:xfrm>
        </p:grpSpPr>
        <p:sp>
          <p:nvSpPr>
            <p:cNvPr id="9" name="Rectangle 9"/>
            <p:cNvSpPr/>
            <p:nvPr/>
          </p:nvSpPr>
          <p:spPr>
            <a:xfrm>
              <a:off x="571500" y="2228850"/>
              <a:ext cx="3429000" cy="3638550"/>
            </a:xfrm>
            <a:prstGeom prst="roundRect">
              <a:avLst>
                <a:gd name="adj" fmla="val 3889"/>
              </a:avLst>
            </a:prstGeom>
            <a:solidFill>
              <a:schemeClr val="lt1"/>
            </a:solidFill>
            <a:ln w="14288">
              <a:solidFill>
                <a:schemeClr val="accent4"/>
              </a:solidFill>
            </a:ln>
          </p:spPr>
        </p:sp>
        <p:sp>
          <p:nvSpPr>
            <p:cNvPr id="10" name="Rectangle 10"/>
            <p:cNvSpPr/>
            <p:nvPr/>
          </p:nvSpPr>
          <p:spPr>
            <a:xfrm>
              <a:off x="571500" y="2228850"/>
              <a:ext cx="3429000" cy="57150"/>
            </a:xfrm>
            <a:prstGeom prst="roundRect">
              <a:avLst>
                <a:gd name="adj" fmla="val 50000"/>
              </a:avLst>
            </a:prstGeom>
            <a:solidFill>
              <a:schemeClr val="accent2"/>
            </a:solidFill>
            <a:ln>
              <a:noFill/>
            </a:ln>
          </p:spPr>
        </p:sp>
        <p:sp>
          <p:nvSpPr>
            <p:cNvPr id="11" name="TextBox 11"/>
            <p:cNvSpPr txBox="1"/>
            <p:nvPr/>
          </p:nvSpPr>
          <p:spPr>
            <a:xfrm>
              <a:off x="871347" y="2523649"/>
              <a:ext cx="2000982"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A · SPATIAL CONVOLUTION</a:t>
              </a:r>
            </a:p>
          </p:txBody>
        </p:sp>
        <p:sp>
          <p:nvSpPr>
            <p:cNvPr id="12" name="TextBox 12"/>
            <p:cNvSpPr txBox="1"/>
            <p:nvPr/>
          </p:nvSpPr>
          <p:spPr>
            <a:xfrm>
              <a:off x="868299" y="2801779"/>
              <a:ext cx="2781257"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Better representations</a:t>
              </a:r>
            </a:p>
          </p:txBody>
        </p:sp>
        <p:sp>
          <p:nvSpPr>
            <p:cNvPr id="13" name="TextBox 13"/>
            <p:cNvSpPr txBox="1"/>
            <p:nvPr/>
          </p:nvSpPr>
          <p:spPr>
            <a:xfrm>
              <a:off x="870204" y="3261360"/>
              <a:ext cx="240805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Isolated in a purely supervised</a:t>
              </a:r>
            </a:p>
          </p:txBody>
        </p:sp>
        <p:sp>
          <p:nvSpPr>
            <p:cNvPr id="14" name="TextBox 14"/>
            <p:cNvSpPr txBox="1"/>
            <p:nvPr/>
          </p:nvSpPr>
          <p:spPr>
            <a:xfrm>
              <a:off x="870204" y="3470910"/>
              <a:ext cx="240521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setting on the NSP15 dataset,</a:t>
              </a:r>
            </a:p>
          </p:txBody>
        </p:sp>
        <p:sp>
          <p:nvSpPr>
            <p:cNvPr id="15" name="TextBox 15"/>
            <p:cNvSpPr txBox="1"/>
            <p:nvPr/>
          </p:nvSpPr>
          <p:spPr>
            <a:xfrm>
              <a:off x="870204" y="3680460"/>
              <a:ext cx="237881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loss curves over 40 runs show</a:t>
              </a:r>
            </a:p>
          </p:txBody>
        </p:sp>
        <p:sp>
          <p:nvSpPr>
            <p:cNvPr id="16" name="TextBox 16"/>
            <p:cNvSpPr txBox="1"/>
            <p:nvPr/>
          </p:nvSpPr>
          <p:spPr>
            <a:xfrm>
              <a:off x="870204" y="3890010"/>
              <a:ext cx="127223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 clear benefit.</a:t>
              </a:r>
            </a:p>
          </p:txBody>
        </p:sp>
        <p:sp>
          <p:nvSpPr>
            <p:cNvPr id="17" name="Rectangle 17"/>
            <p:cNvSpPr/>
            <p:nvPr/>
          </p:nvSpPr>
          <p:spPr>
            <a:xfrm>
              <a:off x="876300" y="4305300"/>
              <a:ext cx="2819400" cy="1333500"/>
            </a:xfrm>
            <a:prstGeom prst="roundRect">
              <a:avLst>
                <a:gd name="adj" fmla="val 5714"/>
              </a:avLst>
            </a:prstGeom>
            <a:solidFill>
              <a:schemeClr val="accent6"/>
            </a:solidFill>
            <a:ln>
              <a:noFill/>
            </a:ln>
          </p:spPr>
        </p:sp>
        <p:sp>
          <p:nvSpPr>
            <p:cNvPr id="18" name="TextBox 18"/>
            <p:cNvSpPr txBox="1"/>
            <p:nvPr/>
          </p:nvSpPr>
          <p:spPr>
            <a:xfrm>
              <a:off x="1061466" y="4515802"/>
              <a:ext cx="536014"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FINDING</a:t>
              </a:r>
            </a:p>
          </p:txBody>
        </p:sp>
        <p:sp>
          <p:nvSpPr>
            <p:cNvPr id="19" name="TextBox 19"/>
            <p:cNvSpPr txBox="1"/>
            <p:nvPr/>
          </p:nvSpPr>
          <p:spPr>
            <a:xfrm>
              <a:off x="1060704" y="4766310"/>
              <a:ext cx="195570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Spatial convolution has a</a:t>
              </a:r>
            </a:p>
          </p:txBody>
        </p:sp>
        <p:sp>
          <p:nvSpPr>
            <p:cNvPr id="20" name="TextBox 20"/>
            <p:cNvSpPr txBox="1"/>
            <p:nvPr/>
          </p:nvSpPr>
          <p:spPr>
            <a:xfrm>
              <a:off x="1060704" y="4975860"/>
              <a:ext cx="203149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strong positive effect on</a:t>
              </a:r>
            </a:p>
          </p:txBody>
        </p:sp>
        <p:sp>
          <p:nvSpPr>
            <p:cNvPr id="21" name="TextBox 21"/>
            <p:cNvSpPr txBox="1"/>
            <p:nvPr/>
          </p:nvSpPr>
          <p:spPr>
            <a:xfrm>
              <a:off x="1060704" y="5185410"/>
              <a:ext cx="211226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learning molecular feature</a:t>
              </a:r>
            </a:p>
          </p:txBody>
        </p:sp>
        <p:sp>
          <p:nvSpPr>
            <p:cNvPr id="22" name="TextBox 22"/>
            <p:cNvSpPr txBox="1"/>
            <p:nvPr/>
          </p:nvSpPr>
          <p:spPr>
            <a:xfrm>
              <a:off x="1060704" y="5394960"/>
              <a:ext cx="139339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representations.</a:t>
              </a:r>
            </a:p>
          </p:txBody>
        </p:sp>
      </p:grpSp>
      <p:grpSp>
        <p:nvGrpSpPr>
          <p:cNvPr id="39" name="Group 39"/>
          <p:cNvGrpSpPr/>
          <p:nvPr/>
        </p:nvGrpSpPr>
        <p:grpSpPr>
          <a:xfrm>
            <a:off x="4381500" y="2228850"/>
            <a:ext cx="3429000" cy="3638550"/>
            <a:chOff x="4381500" y="2228850"/>
            <a:chExt cx="3429000" cy="3638550"/>
          </a:xfrm>
        </p:grpSpPr>
        <p:sp>
          <p:nvSpPr>
            <p:cNvPr id="24" name="Rectangle 24"/>
            <p:cNvSpPr/>
            <p:nvPr/>
          </p:nvSpPr>
          <p:spPr>
            <a:xfrm>
              <a:off x="4381500" y="2228850"/>
              <a:ext cx="3429000" cy="3638550"/>
            </a:xfrm>
            <a:prstGeom prst="roundRect">
              <a:avLst>
                <a:gd name="adj" fmla="val 3889"/>
              </a:avLst>
            </a:prstGeom>
            <a:solidFill>
              <a:schemeClr val="lt1"/>
            </a:solidFill>
            <a:ln w="14288">
              <a:solidFill>
                <a:schemeClr val="accent4"/>
              </a:solidFill>
            </a:ln>
          </p:spPr>
        </p:sp>
        <p:sp>
          <p:nvSpPr>
            <p:cNvPr id="25" name="Rectangle 25"/>
            <p:cNvSpPr/>
            <p:nvPr/>
          </p:nvSpPr>
          <p:spPr>
            <a:xfrm>
              <a:off x="4381500" y="2228850"/>
              <a:ext cx="3429000" cy="57150"/>
            </a:xfrm>
            <a:prstGeom prst="roundRect">
              <a:avLst>
                <a:gd name="adj" fmla="val 50000"/>
              </a:avLst>
            </a:prstGeom>
            <a:solidFill>
              <a:schemeClr val="accent2"/>
            </a:solidFill>
            <a:ln>
              <a:noFill/>
            </a:ln>
          </p:spPr>
        </p:sp>
        <p:sp>
          <p:nvSpPr>
            <p:cNvPr id="26" name="TextBox 26"/>
            <p:cNvSpPr txBox="1"/>
            <p:nvPr/>
          </p:nvSpPr>
          <p:spPr>
            <a:xfrm>
              <a:off x="4681347" y="2523649"/>
              <a:ext cx="1818644"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B · INNOVATION REWARD</a:t>
              </a:r>
            </a:p>
          </p:txBody>
        </p:sp>
        <p:sp>
          <p:nvSpPr>
            <p:cNvPr id="27" name="TextBox 27"/>
            <p:cNvSpPr txBox="1"/>
            <p:nvPr/>
          </p:nvSpPr>
          <p:spPr>
            <a:xfrm>
              <a:off x="4678299" y="2801779"/>
              <a:ext cx="1753015"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Curiosity helps</a:t>
              </a:r>
            </a:p>
          </p:txBody>
        </p:sp>
        <p:sp>
          <p:nvSpPr>
            <p:cNvPr id="28" name="TextBox 28"/>
            <p:cNvSpPr txBox="1"/>
            <p:nvPr/>
          </p:nvSpPr>
          <p:spPr>
            <a:xfrm>
              <a:off x="4680204" y="3261360"/>
              <a:ext cx="244065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Full DGAPN vs GAPN without the</a:t>
              </a:r>
            </a:p>
          </p:txBody>
        </p:sp>
        <p:sp>
          <p:nvSpPr>
            <p:cNvPr id="29" name="TextBox 29"/>
            <p:cNvSpPr txBox="1"/>
            <p:nvPr/>
          </p:nvSpPr>
          <p:spPr>
            <a:xfrm>
              <a:off x="4680204" y="3470910"/>
              <a:ext cx="260497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innovation reward: the curiosity</a:t>
              </a:r>
            </a:p>
          </p:txBody>
        </p:sp>
        <p:sp>
          <p:nvSpPr>
            <p:cNvPr id="30" name="TextBox 30"/>
            <p:cNvSpPr txBox="1"/>
            <p:nvPr/>
          </p:nvSpPr>
          <p:spPr>
            <a:xfrm>
              <a:off x="4680204" y="3680460"/>
              <a:ext cx="233034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bonus improves best docking.</a:t>
              </a:r>
            </a:p>
          </p:txBody>
        </p:sp>
        <p:sp>
          <p:nvSpPr>
            <p:cNvPr id="31" name="Rectangle 31"/>
            <p:cNvSpPr/>
            <p:nvPr/>
          </p:nvSpPr>
          <p:spPr>
            <a:xfrm>
              <a:off x="4686300" y="4095750"/>
              <a:ext cx="2819400" cy="666750"/>
            </a:xfrm>
            <a:prstGeom prst="roundRect">
              <a:avLst>
                <a:gd name="adj" fmla="val 11429"/>
              </a:avLst>
            </a:prstGeom>
            <a:solidFill>
              <a:schemeClr val="lt2"/>
            </a:solidFill>
            <a:ln>
              <a:noFill/>
            </a:ln>
          </p:spPr>
        </p:sp>
        <p:sp>
          <p:nvSpPr>
            <p:cNvPr id="32" name="TextBox 32"/>
            <p:cNvSpPr txBox="1"/>
            <p:nvPr/>
          </p:nvSpPr>
          <p:spPr>
            <a:xfrm>
              <a:off x="4871466" y="4249102"/>
              <a:ext cx="6938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GAPN best</a:t>
              </a:r>
            </a:p>
          </p:txBody>
        </p:sp>
        <p:sp>
          <p:nvSpPr>
            <p:cNvPr id="33" name="TextBox 33"/>
            <p:cNvSpPr txBox="1"/>
            <p:nvPr/>
          </p:nvSpPr>
          <p:spPr>
            <a:xfrm>
              <a:off x="4869180" y="4448175"/>
              <a:ext cx="59831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Consolas"/>
                  <a:ea typeface="Consolas"/>
                  <a:cs typeface="Consolas"/>
                </a:rPr>
                <a:t>-9.19</a:t>
              </a:r>
            </a:p>
          </p:txBody>
        </p:sp>
        <p:sp>
          <p:nvSpPr>
            <p:cNvPr id="34" name="TextBox 34"/>
            <p:cNvSpPr txBox="1"/>
            <p:nvPr/>
          </p:nvSpPr>
          <p:spPr>
            <a:xfrm>
              <a:off x="6243066" y="4249102"/>
              <a:ext cx="776097" cy="205359"/>
            </a:xfrm>
            <a:prstGeom prst="rect">
              <a:avLst/>
            </a:prstGeom>
            <a:noFill/>
            <a:ln>
              <a:noFill/>
            </a:ln>
          </p:spPr>
          <p:txBody>
            <a:bodyPr wrap="none" lIns="0" tIns="0" rIns="0" bIns="0" anchor="t" anchorCtr="0">
              <a:spAutoFit/>
            </a:bodyPr>
            <a:lstStyle/>
            <a:p>
              <a:pPr algn="l"/>
              <a:r>
                <a:rPr lang="en-US" sz="1050" dirty="0">
                  <a:solidFill>
                    <a:schemeClr val="accent2"/>
                  </a:solidFill>
                  <a:latin typeface="+mn-lt"/>
                  <a:ea typeface="+mn-ea"/>
                  <a:cs typeface="+mn-cs"/>
                </a:rPr>
                <a:t>DGAPN best</a:t>
              </a:r>
            </a:p>
          </p:txBody>
        </p:sp>
        <p:sp>
          <p:nvSpPr>
            <p:cNvPr id="35" name="TextBox 35"/>
            <p:cNvSpPr txBox="1"/>
            <p:nvPr/>
          </p:nvSpPr>
          <p:spPr>
            <a:xfrm>
              <a:off x="6240780" y="4448175"/>
              <a:ext cx="714927" cy="293370"/>
            </a:xfrm>
            <a:prstGeom prst="rect">
              <a:avLst/>
            </a:prstGeom>
            <a:noFill/>
            <a:ln>
              <a:noFill/>
            </a:ln>
          </p:spPr>
          <p:txBody>
            <a:bodyPr wrap="none" lIns="0" tIns="0" rIns="0" bIns="0" anchor="t" anchorCtr="0">
              <a:spAutoFit/>
            </a:bodyPr>
            <a:lstStyle/>
            <a:p>
              <a:pPr algn="l"/>
              <a:r>
                <a:rPr lang="en-US" sz="1500" b="1" dirty="0">
                  <a:solidFill>
                    <a:srgbClr val="2F7D5B"/>
                  </a:solidFill>
                  <a:latin typeface="Consolas"/>
                  <a:ea typeface="Consolas"/>
                  <a:cs typeface="Consolas"/>
                </a:rPr>
                <a:t>-10.07</a:t>
              </a:r>
            </a:p>
          </p:txBody>
        </p:sp>
        <p:sp>
          <p:nvSpPr>
            <p:cNvPr id="36" name="TextBox 36"/>
            <p:cNvSpPr txBox="1"/>
            <p:nvPr/>
          </p:nvSpPr>
          <p:spPr>
            <a:xfrm>
              <a:off x="4680585" y="4964906"/>
              <a:ext cx="22706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Trade-off: it slightly worsens</a:t>
              </a:r>
            </a:p>
          </p:txBody>
        </p:sp>
        <p:sp>
          <p:nvSpPr>
            <p:cNvPr id="37" name="TextBox 37"/>
            <p:cNvSpPr txBox="1"/>
            <p:nvPr/>
          </p:nvSpPr>
          <p:spPr>
            <a:xfrm>
              <a:off x="4680585" y="5174456"/>
              <a:ext cx="220797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synthetic accessibility (SA) —</a:t>
              </a:r>
            </a:p>
          </p:txBody>
        </p:sp>
        <p:sp>
          <p:nvSpPr>
            <p:cNvPr id="38" name="TextBox 38"/>
            <p:cNvSpPr txBox="1"/>
            <p:nvPr/>
          </p:nvSpPr>
          <p:spPr>
            <a:xfrm>
              <a:off x="4680585" y="5384006"/>
              <a:ext cx="186183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docking-vs-SA balance.</a:t>
              </a:r>
            </a:p>
          </p:txBody>
        </p:sp>
      </p:grpSp>
      <p:grpSp>
        <p:nvGrpSpPr>
          <p:cNvPr id="54" name="Group 54"/>
          <p:cNvGrpSpPr/>
          <p:nvPr/>
        </p:nvGrpSpPr>
        <p:grpSpPr>
          <a:xfrm>
            <a:off x="8191500" y="2228850"/>
            <a:ext cx="3429000" cy="3638550"/>
            <a:chOff x="8191500" y="2228850"/>
            <a:chExt cx="3429000" cy="3638550"/>
          </a:xfrm>
        </p:grpSpPr>
        <p:sp>
          <p:nvSpPr>
            <p:cNvPr id="40" name="Rectangle 40"/>
            <p:cNvSpPr/>
            <p:nvPr/>
          </p:nvSpPr>
          <p:spPr>
            <a:xfrm>
              <a:off x="8191500" y="2228850"/>
              <a:ext cx="3429000" cy="3638550"/>
            </a:xfrm>
            <a:prstGeom prst="roundRect">
              <a:avLst>
                <a:gd name="adj" fmla="val 3889"/>
              </a:avLst>
            </a:prstGeom>
            <a:solidFill>
              <a:schemeClr val="lt1"/>
            </a:solidFill>
            <a:ln w="14288">
              <a:solidFill>
                <a:schemeClr val="accent4"/>
              </a:solidFill>
            </a:ln>
          </p:spPr>
        </p:sp>
        <p:sp>
          <p:nvSpPr>
            <p:cNvPr id="41" name="Rectangle 41"/>
            <p:cNvSpPr/>
            <p:nvPr/>
          </p:nvSpPr>
          <p:spPr>
            <a:xfrm>
              <a:off x="8191500" y="2228850"/>
              <a:ext cx="3429000" cy="57150"/>
            </a:xfrm>
            <a:prstGeom prst="roundRect">
              <a:avLst>
                <a:gd name="adj" fmla="val 50000"/>
              </a:avLst>
            </a:prstGeom>
            <a:solidFill>
              <a:srgbClr val="2F7D5B"/>
            </a:solidFill>
            <a:ln>
              <a:noFill/>
            </a:ln>
          </p:spPr>
        </p:sp>
        <p:sp>
          <p:nvSpPr>
            <p:cNvPr id="42" name="TextBox 42"/>
            <p:cNvSpPr txBox="1"/>
            <p:nvPr/>
          </p:nvSpPr>
          <p:spPr>
            <a:xfrm>
              <a:off x="8491347" y="2523649"/>
              <a:ext cx="1880540" cy="190690"/>
            </a:xfrm>
            <a:prstGeom prst="rect">
              <a:avLst/>
            </a:prstGeom>
            <a:noFill/>
            <a:ln>
              <a:noFill/>
            </a:ln>
          </p:spPr>
          <p:txBody>
            <a:bodyPr wrap="none" lIns="0" tIns="0" rIns="0" bIns="0" anchor="t" anchorCtr="0">
              <a:spAutoFit/>
            </a:bodyPr>
            <a:lstStyle/>
            <a:p>
              <a:pPr algn="l"/>
              <a:r>
                <a:rPr lang="en-US" sz="980" b="1" spc="75" dirty="0">
                  <a:solidFill>
                    <a:srgbClr val="2F7D5B"/>
                  </a:solidFill>
                  <a:latin typeface="+mn-lt"/>
                  <a:ea typeface="+mn-ea"/>
                  <a:cs typeface="+mn-cs"/>
                </a:rPr>
                <a:t>C · ENVIRONMENT DESIGN</a:t>
              </a:r>
            </a:p>
          </p:txBody>
        </p:sp>
        <p:sp>
          <p:nvSpPr>
            <p:cNvPr id="43" name="TextBox 43"/>
            <p:cNvSpPr txBox="1"/>
            <p:nvPr/>
          </p:nvSpPr>
          <p:spPr>
            <a:xfrm>
              <a:off x="8488299" y="2801779"/>
              <a:ext cx="2535188"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Beats a greedy oracle</a:t>
              </a:r>
            </a:p>
          </p:txBody>
        </p:sp>
        <p:sp>
          <p:nvSpPr>
            <p:cNvPr id="44" name="TextBox 44"/>
            <p:cNvSpPr txBox="1"/>
            <p:nvPr/>
          </p:nvSpPr>
          <p:spPr>
            <a:xfrm>
              <a:off x="8490204" y="3261360"/>
              <a:ext cx="191137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Remarkably, DGAPN even</a:t>
              </a:r>
            </a:p>
          </p:txBody>
        </p:sp>
        <p:sp>
          <p:nvSpPr>
            <p:cNvPr id="45" name="TextBox 45"/>
            <p:cNvSpPr txBox="1"/>
            <p:nvPr/>
          </p:nvSpPr>
          <p:spPr>
            <a:xfrm>
              <a:off x="8490204" y="3470910"/>
              <a:ext cx="219359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outperforms a greedy CReM</a:t>
              </a:r>
            </a:p>
          </p:txBody>
        </p:sp>
        <p:sp>
          <p:nvSpPr>
            <p:cNvPr id="46" name="TextBox 46"/>
            <p:cNvSpPr txBox="1"/>
            <p:nvPr/>
          </p:nvSpPr>
          <p:spPr>
            <a:xfrm>
              <a:off x="8490204" y="3680460"/>
              <a:ext cx="203149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oracle that has access to</a:t>
              </a:r>
            </a:p>
          </p:txBody>
        </p:sp>
        <p:sp>
          <p:nvSpPr>
            <p:cNvPr id="47" name="TextBox 47"/>
            <p:cNvSpPr txBox="1"/>
            <p:nvPr/>
          </p:nvSpPr>
          <p:spPr>
            <a:xfrm>
              <a:off x="8490204" y="3890010"/>
              <a:ext cx="245150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intermediate docking rewards.</a:t>
              </a:r>
            </a:p>
          </p:txBody>
        </p:sp>
        <p:sp>
          <p:nvSpPr>
            <p:cNvPr id="48" name="Rectangle 48"/>
            <p:cNvSpPr/>
            <p:nvPr/>
          </p:nvSpPr>
          <p:spPr>
            <a:xfrm>
              <a:off x="8496300" y="4305300"/>
              <a:ext cx="2819400" cy="1333500"/>
            </a:xfrm>
            <a:prstGeom prst="roundRect">
              <a:avLst>
                <a:gd name="adj" fmla="val 5714"/>
              </a:avLst>
            </a:prstGeom>
            <a:solidFill>
              <a:schemeClr val="accent6"/>
            </a:solidFill>
            <a:ln>
              <a:noFill/>
            </a:ln>
          </p:spPr>
        </p:sp>
        <p:sp>
          <p:nvSpPr>
            <p:cNvPr id="49" name="TextBox 49"/>
            <p:cNvSpPr txBox="1"/>
            <p:nvPr/>
          </p:nvSpPr>
          <p:spPr>
            <a:xfrm>
              <a:off x="8681466" y="4515802"/>
              <a:ext cx="116329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WHY IT MATTERS</a:t>
              </a:r>
            </a:p>
          </p:txBody>
        </p:sp>
        <p:sp>
          <p:nvSpPr>
            <p:cNvPr id="50" name="TextBox 50"/>
            <p:cNvSpPr txBox="1"/>
            <p:nvPr/>
          </p:nvSpPr>
          <p:spPr>
            <a:xfrm>
              <a:off x="8680704" y="4766310"/>
              <a:ext cx="184280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Environment design and</a:t>
              </a:r>
            </a:p>
          </p:txBody>
        </p:sp>
        <p:sp>
          <p:nvSpPr>
            <p:cNvPr id="51" name="TextBox 51"/>
            <p:cNvSpPr txBox="1"/>
            <p:nvPr/>
          </p:nvSpPr>
          <p:spPr>
            <a:xfrm>
              <a:off x="8680704" y="4975860"/>
              <a:ext cx="216072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action-space stochasticity</a:t>
              </a:r>
            </a:p>
          </p:txBody>
        </p:sp>
        <p:sp>
          <p:nvSpPr>
            <p:cNvPr id="52" name="TextBox 52"/>
            <p:cNvSpPr txBox="1"/>
            <p:nvPr/>
          </p:nvSpPr>
          <p:spPr>
            <a:xfrm>
              <a:off x="8680704" y="5185410"/>
              <a:ext cx="211226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alone are powerful drivers</a:t>
              </a:r>
            </a:p>
          </p:txBody>
        </p:sp>
        <p:sp>
          <p:nvSpPr>
            <p:cNvPr id="53" name="TextBox 53"/>
            <p:cNvSpPr txBox="1"/>
            <p:nvPr/>
          </p:nvSpPr>
          <p:spPr>
            <a:xfrm>
              <a:off x="8680704" y="5394960"/>
              <a:ext cx="122377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of exploration.</a:t>
              </a:r>
            </a:p>
          </p:txBody>
        </p:sp>
      </p:grpSp>
      <p:grpSp>
        <p:nvGrpSpPr>
          <p:cNvPr id="57" name="Group 57"/>
          <p:cNvGrpSpPr/>
          <p:nvPr/>
        </p:nvGrpSpPr>
        <p:grpSpPr>
          <a:xfrm>
            <a:off x="566738" y="6597491"/>
            <a:ext cx="11058524" cy="161925"/>
            <a:chOff x="566738" y="6597491"/>
            <a:chExt cx="11058524" cy="161925"/>
          </a:xfrm>
        </p:grpSpPr>
        <p:sp>
          <p:nvSpPr>
            <p:cNvPr id="55" name="TextBox 55"/>
            <p:cNvSpPr txBox="1"/>
            <p:nvPr/>
          </p:nvSpPr>
          <p:spPr>
            <a:xfrm>
              <a:off x="566738" y="6597491"/>
              <a:ext cx="4763783"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DGAPN · Spatial Graph Attention and Curiosity-driven Policy for Antiviral Drug Discovery</a:t>
              </a:r>
            </a:p>
          </p:txBody>
        </p:sp>
        <p:sp>
          <p:nvSpPr>
            <p:cNvPr id="56" name="TextBox 56"/>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08</a:t>
              </a:r>
            </a:p>
          </p:txBody>
        </p:sp>
      </p:grpSp>
      <p:sp>
        <p:nvSpPr>
          <p:cNvPr id="58" name="cue_s08_c1_authors_ablate_component" title="cue_s08_c1_authors_ablate_component" descr="cue_s08_c1_authors_ablate_component The authors ablate each component."/>
          <p:cNvSpPr/>
          <p:nvPr/>
        </p:nvSpPr>
        <p:spPr>
          <a:xfrm>
            <a:off x="571804" y="1428521"/>
            <a:ext cx="11048390" cy="5335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8_c2_supervised_setting_nsp15_loss_curves" title="cue_s08_c2_supervised_setting_nsp15_loss_curves" descr="cue_s08_c2_supervised_setting_nsp15_loss_curves In a supervised setting on NSP15, loss curves over forty runs show spatial convolution strongly improves molecular representation learning."/>
          <p:cNvSpPr/>
          <p:nvPr/>
        </p:nvSpPr>
        <p:spPr>
          <a:xfrm>
            <a:off x="571804" y="2228850"/>
            <a:ext cx="3428390" cy="36388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8_c3_comparing_full_dgapn_against_gapn" title="cue_s08_c3_comparing_full_dgapn_against_gapn" descr="cue_s08_c3_comparing_full_dgapn_against_gapn Comparing full DGAPN against GAPN without the innovation reward, the curiosity bonus lifts the best docking score, though it slightly worsens synthetic accessibility."/>
          <p:cNvSpPr/>
          <p:nvPr/>
        </p:nvSpPr>
        <p:spPr>
          <a:xfrm>
            <a:off x="4381804" y="2228850"/>
            <a:ext cx="3428390" cy="36388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8_c4_remarkably_dgapn_even_beats_greedy" title="cue_s08_c4_remarkably_dgapn_even_beats_greedy" descr="cue_s08_c4_remarkably_dgapn_even_beats_greedy Remarkably, DGAPN even beats a greedy CReM oracle that sees intermediate docking rewards."/>
          <p:cNvSpPr/>
          <p:nvPr/>
        </p:nvSpPr>
        <p:spPr>
          <a:xfrm>
            <a:off x="8191804" y="2228850"/>
            <a:ext cx="3428390" cy="36388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203312" cy="656939"/>
            <a:chOff x="571500" y="533400"/>
            <a:chExt cx="7203312"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987666"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numbers that capture the impact</a:t>
              </a:r>
            </a:p>
          </p:txBody>
        </p:sp>
        <p:sp>
          <p:nvSpPr>
            <p:cNvPr id="4" name="TextBox 4"/>
            <p:cNvSpPr txBox="1"/>
            <p:nvPr/>
          </p:nvSpPr>
          <p:spPr>
            <a:xfrm>
              <a:off x="795147" y="999649"/>
              <a:ext cx="456673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HEADLINE NUMBERS · NSP15 DOCKING + MULTI-OBJECTIVE</a:t>
              </a:r>
            </a:p>
          </p:txBody>
        </p:sp>
      </p:grpSp>
      <p:grpSp>
        <p:nvGrpSpPr>
          <p:cNvPr id="15" name="Group 15"/>
          <p:cNvGrpSpPr/>
          <p:nvPr/>
        </p:nvGrpSpPr>
        <p:grpSpPr>
          <a:xfrm>
            <a:off x="571500" y="1638300"/>
            <a:ext cx="5715000" cy="1238250"/>
            <a:chOff x="571500" y="1638300"/>
            <a:chExt cx="5715000" cy="1238250"/>
          </a:xfrm>
        </p:grpSpPr>
        <p:sp>
          <p:nvSpPr>
            <p:cNvPr id="6" name="Rectangle 6"/>
            <p:cNvSpPr/>
            <p:nvPr/>
          </p:nvSpPr>
          <p:spPr>
            <a:xfrm>
              <a:off x="571500" y="1638300"/>
              <a:ext cx="5715000" cy="1238250"/>
            </a:xfrm>
            <a:prstGeom prst="roundRect">
              <a:avLst>
                <a:gd name="adj" fmla="val 9231"/>
              </a:avLst>
            </a:prstGeom>
            <a:solidFill>
              <a:schemeClr val="lt1"/>
            </a:solidFill>
            <a:ln w="14288">
              <a:solidFill>
                <a:schemeClr val="accent4"/>
              </a:solidFill>
            </a:ln>
          </p:spPr>
        </p:sp>
        <p:sp>
          <p:nvSpPr>
            <p:cNvPr id="7" name="Rectangle 7"/>
            <p:cNvSpPr/>
            <p:nvPr/>
          </p:nvSpPr>
          <p:spPr>
            <a:xfrm>
              <a:off x="571500" y="1638300"/>
              <a:ext cx="57150" cy="1238250"/>
            </a:xfrm>
            <a:prstGeom prst="roundRect">
              <a:avLst>
                <a:gd name="adj" fmla="val 50000"/>
              </a:avLst>
            </a:prstGeom>
            <a:solidFill>
              <a:srgbClr val="2F7D5B"/>
            </a:solidFill>
            <a:ln>
              <a:noFill/>
            </a:ln>
          </p:spPr>
        </p:sp>
        <p:sp>
          <p:nvSpPr>
            <p:cNvPr id="8" name="TextBox 8"/>
            <p:cNvSpPr txBox="1"/>
            <p:nvPr/>
          </p:nvSpPr>
          <p:spPr>
            <a:xfrm>
              <a:off x="871347" y="1856899"/>
              <a:ext cx="3229466" cy="190690"/>
            </a:xfrm>
            <a:prstGeom prst="rect">
              <a:avLst/>
            </a:prstGeom>
            <a:noFill/>
            <a:ln>
              <a:noFill/>
            </a:ln>
          </p:spPr>
          <p:txBody>
            <a:bodyPr wrap="none" lIns="0" tIns="0" rIns="0" bIns="0" anchor="t" anchorCtr="0">
              <a:spAutoFit/>
            </a:bodyPr>
            <a:lstStyle/>
            <a:p>
              <a:pPr algn="l"/>
              <a:r>
                <a:rPr lang="en-US" sz="980" b="1" spc="75" dirty="0">
                  <a:solidFill>
                    <a:srgbClr val="2F7D5B"/>
                  </a:solidFill>
                  <a:latin typeface="+mn-lt"/>
                  <a:ea typeface="+mn-ea"/>
                  <a:cs typeface="+mn-cs"/>
                </a:rPr>
                <a:t>DOCKING SCORE · DGAPN VS BEST BASELINE</a:t>
              </a:r>
            </a:p>
          </p:txBody>
        </p:sp>
        <p:sp>
          <p:nvSpPr>
            <p:cNvPr id="9" name="TextBox 9"/>
            <p:cNvSpPr txBox="1"/>
            <p:nvPr/>
          </p:nvSpPr>
          <p:spPr>
            <a:xfrm>
              <a:off x="861060" y="2114550"/>
              <a:ext cx="142985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Consolas"/>
                  <a:ea typeface="Consolas"/>
                  <a:cs typeface="Consolas"/>
                </a:rPr>
                <a:t>-10.07</a:t>
              </a:r>
            </a:p>
          </p:txBody>
        </p:sp>
        <p:sp>
          <p:nvSpPr>
            <p:cNvPr id="10" name="TextBox 10"/>
            <p:cNvSpPr txBox="1"/>
            <p:nvPr/>
          </p:nvSpPr>
          <p:spPr>
            <a:xfrm>
              <a:off x="870966" y="2667952"/>
              <a:ext cx="128989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best (mean -6.77)</a:t>
              </a:r>
            </a:p>
          </p:txBody>
        </p:sp>
        <p:sp>
          <p:nvSpPr>
            <p:cNvPr id="11" name="TextBox 11"/>
            <p:cNvSpPr txBox="1"/>
            <p:nvPr/>
          </p:nvSpPr>
          <p:spPr>
            <a:xfrm>
              <a:off x="3419094" y="2189798"/>
              <a:ext cx="777807" cy="381381"/>
            </a:xfrm>
            <a:prstGeom prst="rect">
              <a:avLst/>
            </a:prstGeom>
            <a:noFill/>
            <a:ln>
              <a:noFill/>
            </a:ln>
          </p:spPr>
          <p:txBody>
            <a:bodyPr wrap="none" lIns="0" tIns="0" rIns="0" bIns="0" anchor="t" anchorCtr="0">
              <a:spAutoFit/>
            </a:bodyPr>
            <a:lstStyle/>
            <a:p>
              <a:pPr algn="l"/>
              <a:r>
                <a:rPr lang="en-US" sz="1950" b="1" dirty="0">
                  <a:solidFill>
                    <a:schemeClr val="accent5"/>
                  </a:solidFill>
                  <a:latin typeface="Consolas"/>
                  <a:ea typeface="Consolas"/>
                  <a:cs typeface="Consolas"/>
                </a:rPr>
                <a:t>-8.01</a:t>
              </a:r>
            </a:p>
          </p:txBody>
        </p:sp>
        <p:sp>
          <p:nvSpPr>
            <p:cNvPr id="12" name="TextBox 12"/>
            <p:cNvSpPr txBox="1"/>
            <p:nvPr/>
          </p:nvSpPr>
          <p:spPr>
            <a:xfrm>
              <a:off x="3423666" y="2515552"/>
              <a:ext cx="915314"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baseline best</a:t>
              </a:r>
            </a:p>
          </p:txBody>
        </p:sp>
        <p:sp>
          <p:nvSpPr>
            <p:cNvPr id="13" name="TextBox 13"/>
            <p:cNvSpPr txBox="1"/>
            <p:nvPr/>
          </p:nvSpPr>
          <p:spPr>
            <a:xfrm>
              <a:off x="4752594" y="2189798"/>
              <a:ext cx="777807" cy="381381"/>
            </a:xfrm>
            <a:prstGeom prst="rect">
              <a:avLst/>
            </a:prstGeom>
            <a:noFill/>
            <a:ln>
              <a:noFill/>
            </a:ln>
          </p:spPr>
          <p:txBody>
            <a:bodyPr wrap="none" lIns="0" tIns="0" rIns="0" bIns="0" anchor="t" anchorCtr="0">
              <a:spAutoFit/>
            </a:bodyPr>
            <a:lstStyle/>
            <a:p>
              <a:pPr algn="l"/>
              <a:r>
                <a:rPr lang="en-US" sz="1950" b="1" dirty="0">
                  <a:solidFill>
                    <a:schemeClr val="accent5"/>
                  </a:solidFill>
                  <a:latin typeface="Consolas"/>
                  <a:ea typeface="Consolas"/>
                  <a:cs typeface="Consolas"/>
                </a:rPr>
                <a:t>-5.38</a:t>
              </a:r>
            </a:p>
          </p:txBody>
        </p:sp>
        <p:sp>
          <p:nvSpPr>
            <p:cNvPr id="14" name="TextBox 14"/>
            <p:cNvSpPr txBox="1"/>
            <p:nvPr/>
          </p:nvSpPr>
          <p:spPr>
            <a:xfrm>
              <a:off x="4757166" y="2515552"/>
              <a:ext cx="943585"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baseline mean</a:t>
              </a:r>
            </a:p>
          </p:txBody>
        </p:sp>
      </p:grpSp>
      <p:grpSp>
        <p:nvGrpSpPr>
          <p:cNvPr id="21" name="Group 21"/>
          <p:cNvGrpSpPr/>
          <p:nvPr/>
        </p:nvGrpSpPr>
        <p:grpSpPr>
          <a:xfrm>
            <a:off x="571500" y="3009900"/>
            <a:ext cx="5715000" cy="1238250"/>
            <a:chOff x="571500" y="3009900"/>
            <a:chExt cx="5715000" cy="1238250"/>
          </a:xfrm>
        </p:grpSpPr>
        <p:sp>
          <p:nvSpPr>
            <p:cNvPr id="16" name="Rectangle 16"/>
            <p:cNvSpPr/>
            <p:nvPr/>
          </p:nvSpPr>
          <p:spPr>
            <a:xfrm>
              <a:off x="571500" y="3009900"/>
              <a:ext cx="5715000" cy="1238250"/>
            </a:xfrm>
            <a:prstGeom prst="roundRect">
              <a:avLst>
                <a:gd name="adj" fmla="val 9231"/>
              </a:avLst>
            </a:prstGeom>
            <a:solidFill>
              <a:schemeClr val="lt1"/>
            </a:solidFill>
            <a:ln w="14288">
              <a:solidFill>
                <a:schemeClr val="accent4"/>
              </a:solidFill>
            </a:ln>
          </p:spPr>
        </p:sp>
        <p:sp>
          <p:nvSpPr>
            <p:cNvPr id="17" name="Rectangle 17"/>
            <p:cNvSpPr/>
            <p:nvPr/>
          </p:nvSpPr>
          <p:spPr>
            <a:xfrm>
              <a:off x="571500" y="3009900"/>
              <a:ext cx="57150" cy="1238250"/>
            </a:xfrm>
            <a:prstGeom prst="roundRect">
              <a:avLst>
                <a:gd name="adj" fmla="val 50000"/>
              </a:avLst>
            </a:prstGeom>
            <a:solidFill>
              <a:schemeClr val="accent2"/>
            </a:solidFill>
            <a:ln>
              <a:noFill/>
            </a:ln>
          </p:spPr>
        </p:sp>
        <p:sp>
          <p:nvSpPr>
            <p:cNvPr id="18" name="TextBox 18"/>
            <p:cNvSpPr txBox="1"/>
            <p:nvPr/>
          </p:nvSpPr>
          <p:spPr>
            <a:xfrm>
              <a:off x="871347" y="3228499"/>
              <a:ext cx="2876078"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SIGNIFICANCE VS SECOND-BEST MODEL</a:t>
              </a:r>
            </a:p>
          </p:txBody>
        </p:sp>
        <p:sp>
          <p:nvSpPr>
            <p:cNvPr id="19" name="TextBox 19"/>
            <p:cNvSpPr txBox="1"/>
            <p:nvPr/>
          </p:nvSpPr>
          <p:spPr>
            <a:xfrm>
              <a:off x="863346" y="3610928"/>
              <a:ext cx="182813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Consolas"/>
                  <a:ea typeface="Consolas"/>
                  <a:cs typeface="Consolas"/>
                </a:rPr>
                <a:t>p ≈ 10⁻²⁰⁹</a:t>
              </a:r>
            </a:p>
          </p:txBody>
        </p:sp>
        <p:sp>
          <p:nvSpPr>
            <p:cNvPr id="20" name="TextBox 20"/>
            <p:cNvSpPr txBox="1"/>
            <p:nvPr/>
          </p:nvSpPr>
          <p:spPr>
            <a:xfrm>
              <a:off x="870966" y="4001452"/>
              <a:ext cx="284001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exact p = 8.55 × 10⁻²⁰⁹ · Welch's t-test</a:t>
              </a:r>
            </a:p>
          </p:txBody>
        </p:sp>
      </p:grpSp>
      <p:grpSp>
        <p:nvGrpSpPr>
          <p:cNvPr id="31" name="Group 31"/>
          <p:cNvGrpSpPr/>
          <p:nvPr/>
        </p:nvGrpSpPr>
        <p:grpSpPr>
          <a:xfrm>
            <a:off x="571500" y="4381500"/>
            <a:ext cx="5715000" cy="1524000"/>
            <a:chOff x="571500" y="4381500"/>
            <a:chExt cx="5715000" cy="1524000"/>
          </a:xfrm>
        </p:grpSpPr>
        <p:sp>
          <p:nvSpPr>
            <p:cNvPr id="22" name="Rectangle 22"/>
            <p:cNvSpPr/>
            <p:nvPr/>
          </p:nvSpPr>
          <p:spPr>
            <a:xfrm>
              <a:off x="571500" y="4381500"/>
              <a:ext cx="5715000" cy="1524000"/>
            </a:xfrm>
            <a:prstGeom prst="roundRect">
              <a:avLst>
                <a:gd name="adj" fmla="val 7500"/>
              </a:avLst>
            </a:prstGeom>
            <a:solidFill>
              <a:schemeClr val="lt2"/>
            </a:solidFill>
            <a:ln w="14288">
              <a:solidFill>
                <a:schemeClr val="accent4"/>
              </a:solidFill>
            </a:ln>
          </p:spPr>
        </p:sp>
        <p:sp>
          <p:nvSpPr>
            <p:cNvPr id="23" name="Rectangle 23"/>
            <p:cNvSpPr/>
            <p:nvPr/>
          </p:nvSpPr>
          <p:spPr>
            <a:xfrm>
              <a:off x="571500" y="4381500"/>
              <a:ext cx="57150" cy="1524000"/>
            </a:xfrm>
            <a:prstGeom prst="roundRect">
              <a:avLst>
                <a:gd name="adj" fmla="val 50000"/>
              </a:avLst>
            </a:prstGeom>
            <a:solidFill>
              <a:schemeClr val="accent3"/>
            </a:solidFill>
            <a:ln>
              <a:noFill/>
            </a:ln>
          </p:spPr>
        </p:sp>
        <p:sp>
          <p:nvSpPr>
            <p:cNvPr id="24" name="TextBox 24"/>
            <p:cNvSpPr txBox="1"/>
            <p:nvPr/>
          </p:nvSpPr>
          <p:spPr>
            <a:xfrm>
              <a:off x="871347" y="4600099"/>
              <a:ext cx="2624452"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MULTI-OBJECTIVE MODE (ω = 0.6)</a:t>
              </a:r>
            </a:p>
          </p:txBody>
        </p:sp>
        <p:sp>
          <p:nvSpPr>
            <p:cNvPr id="25" name="TextBox 25"/>
            <p:cNvSpPr txBox="1"/>
            <p:nvPr/>
          </p:nvSpPr>
          <p:spPr>
            <a:xfrm>
              <a:off x="1052322" y="5026342"/>
              <a:ext cx="915227" cy="557403"/>
            </a:xfrm>
            <a:prstGeom prst="rect">
              <a:avLst/>
            </a:prstGeom>
            <a:noFill/>
            <a:ln>
              <a:noFill/>
            </a:ln>
          </p:spPr>
          <p:txBody>
            <a:bodyPr wrap="none" lIns="0" tIns="0" rIns="0" bIns="0" anchor="t" anchorCtr="0">
              <a:spAutoFit/>
            </a:bodyPr>
            <a:lstStyle/>
            <a:p>
              <a:pPr algn="l"/>
              <a:r>
                <a:rPr lang="en-US" sz="2850" b="1" dirty="0">
                  <a:solidFill>
                    <a:schemeClr val="accent1"/>
                  </a:solidFill>
                  <a:latin typeface="Consolas"/>
                  <a:ea typeface="Consolas"/>
                  <a:cs typeface="Consolas"/>
                </a:rPr>
                <a:t>0.72</a:t>
              </a:r>
            </a:p>
          </p:txBody>
        </p:sp>
        <p:sp>
          <p:nvSpPr>
            <p:cNvPr id="26" name="TextBox 26"/>
            <p:cNvSpPr txBox="1"/>
            <p:nvPr/>
          </p:nvSpPr>
          <p:spPr>
            <a:xfrm>
              <a:off x="1061085" y="5479256"/>
              <a:ext cx="14828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QED · drug-likeness</a:t>
              </a:r>
            </a:p>
          </p:txBody>
        </p:sp>
        <p:sp>
          <p:nvSpPr>
            <p:cNvPr id="27" name="TextBox 27"/>
            <p:cNvSpPr txBox="1"/>
            <p:nvPr/>
          </p:nvSpPr>
          <p:spPr>
            <a:xfrm>
              <a:off x="3128772" y="5026342"/>
              <a:ext cx="915227" cy="557403"/>
            </a:xfrm>
            <a:prstGeom prst="rect">
              <a:avLst/>
            </a:prstGeom>
            <a:noFill/>
            <a:ln>
              <a:noFill/>
            </a:ln>
          </p:spPr>
          <p:txBody>
            <a:bodyPr wrap="none" lIns="0" tIns="0" rIns="0" bIns="0" anchor="t" anchorCtr="0">
              <a:spAutoFit/>
            </a:bodyPr>
            <a:lstStyle/>
            <a:p>
              <a:pPr algn="l"/>
              <a:r>
                <a:rPr lang="en-US" sz="2850" b="1" dirty="0">
                  <a:solidFill>
                    <a:schemeClr val="accent1"/>
                  </a:solidFill>
                  <a:latin typeface="Consolas"/>
                  <a:ea typeface="Consolas"/>
                  <a:cs typeface="Consolas"/>
                </a:rPr>
                <a:t>2.20</a:t>
              </a:r>
            </a:p>
          </p:txBody>
        </p:sp>
        <p:sp>
          <p:nvSpPr>
            <p:cNvPr id="28" name="TextBox 28"/>
            <p:cNvSpPr txBox="1"/>
            <p:nvPr/>
          </p:nvSpPr>
          <p:spPr>
            <a:xfrm>
              <a:off x="3137535" y="5479256"/>
              <a:ext cx="15362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SA · synthesizability</a:t>
              </a:r>
            </a:p>
          </p:txBody>
        </p:sp>
        <p:sp>
          <p:nvSpPr>
            <p:cNvPr id="29" name="TextBox 29"/>
            <p:cNvSpPr txBox="1"/>
            <p:nvPr/>
          </p:nvSpPr>
          <p:spPr>
            <a:xfrm>
              <a:off x="4864608" y="5074920"/>
              <a:ext cx="957301" cy="469392"/>
            </a:xfrm>
            <a:prstGeom prst="rect">
              <a:avLst/>
            </a:prstGeom>
            <a:noFill/>
            <a:ln>
              <a:noFill/>
            </a:ln>
          </p:spPr>
          <p:txBody>
            <a:bodyPr wrap="none" lIns="0" tIns="0" rIns="0" bIns="0" anchor="t" anchorCtr="0">
              <a:spAutoFit/>
            </a:bodyPr>
            <a:lstStyle/>
            <a:p>
              <a:pPr algn="l"/>
              <a:r>
                <a:rPr lang="en-US" sz="2400" b="1" dirty="0">
                  <a:solidFill>
                    <a:srgbClr val="2F7D5B"/>
                  </a:solidFill>
                  <a:latin typeface="Consolas"/>
                  <a:ea typeface="Consolas"/>
                  <a:cs typeface="Consolas"/>
                </a:rPr>
                <a:t>-5.69</a:t>
              </a:r>
            </a:p>
          </p:txBody>
        </p:sp>
        <p:sp>
          <p:nvSpPr>
            <p:cNvPr id="30" name="TextBox 30"/>
            <p:cNvSpPr txBox="1"/>
            <p:nvPr/>
          </p:nvSpPr>
          <p:spPr>
            <a:xfrm>
              <a:off x="4871085" y="5479256"/>
              <a:ext cx="96130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mean docking</a:t>
              </a:r>
            </a:p>
          </p:txBody>
        </p:sp>
      </p:grpSp>
      <p:grpSp>
        <p:nvGrpSpPr>
          <p:cNvPr id="35" name="Group 35"/>
          <p:cNvGrpSpPr/>
          <p:nvPr/>
        </p:nvGrpSpPr>
        <p:grpSpPr>
          <a:xfrm>
            <a:off x="6667500" y="1638300"/>
            <a:ext cx="4953000" cy="4267200"/>
            <a:chOff x="6667500" y="1638300"/>
            <a:chExt cx="4953000" cy="4267200"/>
          </a:xfrm>
        </p:grpSpPr>
        <p:sp>
          <p:nvSpPr>
            <p:cNvPr id="32" name="Rectangle 32"/>
            <p:cNvSpPr/>
            <p:nvPr/>
          </p:nvSpPr>
          <p:spPr>
            <a:xfrm>
              <a:off x="6667500" y="1638300"/>
              <a:ext cx="4953000" cy="4267200"/>
            </a:xfrm>
            <a:prstGeom prst="roundRect">
              <a:avLst>
                <a:gd name="adj" fmla="val 2679"/>
              </a:avLst>
            </a:prstGeom>
            <a:solidFill>
              <a:schemeClr val="lt2"/>
            </a:solidFill>
            <a:ln w="14288">
              <a:solidFill>
                <a:schemeClr val="accent4"/>
              </a:solidFill>
            </a:ln>
            <a:effectLst>
              <a:outerShdw blurRad="95250" dist="19050" dir="5400000" algn="ctr" rotWithShape="0">
                <a:srgbClr val="123B3A">
                  <a:alpha val="7500"/>
                </a:srgbClr>
              </a:outerShdw>
            </a:effectLst>
          </p:spPr>
        </p:sp>
        <p:pic>
          <p:nvPicPr>
            <p:cNvPr id="33" name="Image 33"/>
            <p:cNvPicPr>
              <a:picLocks noChangeAspect="1"/>
            </p:cNvPicPr>
            <p:nvPr/>
          </p:nvPicPr>
          <p:blipFill>
            <a:blip r:embed="rId2"/>
            <a:stretch>
              <a:fillRect/>
            </a:stretch>
          </p:blipFill>
          <p:spPr>
            <a:xfrm>
              <a:off x="7136869" y="1866900"/>
              <a:ext cx="4014261" cy="3619500"/>
            </a:xfrm>
            <a:prstGeom prst="rect">
              <a:avLst/>
            </a:prstGeom>
          </p:spPr>
        </p:pic>
        <p:sp>
          <p:nvSpPr>
            <p:cNvPr id="34" name="TextBox 34"/>
            <p:cNvSpPr txBox="1"/>
            <p:nvPr/>
          </p:nvSpPr>
          <p:spPr>
            <a:xfrm>
              <a:off x="7334229" y="5617845"/>
              <a:ext cx="3619541"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Figure 3 · QED vs docking score across objective weights (ω)</a:t>
              </a:r>
            </a:p>
          </p:txBody>
        </p:sp>
      </p:grpSp>
      <p:grpSp>
        <p:nvGrpSpPr>
          <p:cNvPr id="38" name="Group 38"/>
          <p:cNvGrpSpPr/>
          <p:nvPr/>
        </p:nvGrpSpPr>
        <p:grpSpPr>
          <a:xfrm>
            <a:off x="566738" y="6597491"/>
            <a:ext cx="11058524" cy="161925"/>
            <a:chOff x="566738" y="6597491"/>
            <a:chExt cx="11058524" cy="161925"/>
          </a:xfrm>
        </p:grpSpPr>
        <p:sp>
          <p:nvSpPr>
            <p:cNvPr id="36" name="TextBox 36"/>
            <p:cNvSpPr txBox="1"/>
            <p:nvPr/>
          </p:nvSpPr>
          <p:spPr>
            <a:xfrm>
              <a:off x="566738" y="6597491"/>
              <a:ext cx="4763783"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DGAPN · Spatial Graph Attention and Curiosity-driven Policy for Antiviral Drug Discovery</a:t>
              </a:r>
            </a:p>
          </p:txBody>
        </p:sp>
        <p:sp>
          <p:nvSpPr>
            <p:cNvPr id="37" name="TextBox 37"/>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09</a:t>
              </a:r>
            </a:p>
          </p:txBody>
        </p:sp>
      </p:grpSp>
      <p:sp>
        <p:nvSpPr>
          <p:cNvPr id="39" name="cue_s09_c1_nsp15_docking_dgapn_reaches_best" title="cue_s09_c1_nsp15_docking_dgapn_reaches_best" descr="cue_s09_c1_nsp15_docking_dgapn_reaches_best On NSP15 docking, DGAPN reaches a best score near minus ten and a mean of minus six point seven seven, versus roughly minus eight and minus five for the strongest baseline."/>
          <p:cNvSpPr/>
          <p:nvPr/>
        </p:nvSpPr>
        <p:spPr>
          <a:xfrm>
            <a:off x="571804" y="1638376"/>
            <a:ext cx="5715609" cy="12385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9_c2_gap_over_second_best_statistically_o" title="cue_s09_c2_gap_over_second_best_statistically_o" descr="cue_s09_c2_gap_over_second_best_statistically_o The gap over the second-best model is statistically overwhelming, p around ten to the minus two hundred ninth."/>
          <p:cNvSpPr/>
          <p:nvPr/>
        </p:nvSpPr>
        <p:spPr>
          <a:xfrm>
            <a:off x="571804" y="3009976"/>
            <a:ext cx="5715609" cy="12385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9_c3_multi_objective_mode_yields_qed_zero" title="cue_s09_c3_multi_objective_mode_yields_qed_zero" descr="cue_s09_c3_multi_objective_mode_yields_qed_zero In multi-objective mode it yields QED zero point seven two and synthetic accessibility two point two."/>
          <p:cNvSpPr/>
          <p:nvPr/>
        </p:nvSpPr>
        <p:spPr>
          <a:xfrm>
            <a:off x="571804" y="4381576"/>
            <a:ext cx="5715609" cy="15238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391925" cy="656939"/>
            <a:chOff x="571500" y="533400"/>
            <a:chExt cx="7391925"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17627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Spatial structure + curiosity pays off</a:t>
              </a:r>
            </a:p>
          </p:txBody>
        </p:sp>
        <p:sp>
          <p:nvSpPr>
            <p:cNvPr id="4" name="TextBox 4"/>
            <p:cNvSpPr txBox="1"/>
            <p:nvPr/>
          </p:nvSpPr>
          <p:spPr>
            <a:xfrm>
              <a:off x="795147" y="999649"/>
              <a:ext cx="79470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TAKEAWAY</a:t>
              </a:r>
            </a:p>
          </p:txBody>
        </p:sp>
      </p:grpSp>
      <p:grpSp>
        <p:nvGrpSpPr>
          <p:cNvPr id="11" name="Group 11"/>
          <p:cNvGrpSpPr/>
          <p:nvPr/>
        </p:nvGrpSpPr>
        <p:grpSpPr>
          <a:xfrm>
            <a:off x="571500" y="1485900"/>
            <a:ext cx="11070498" cy="1898523"/>
            <a:chOff x="571500" y="1485900"/>
            <a:chExt cx="11070498" cy="1898523"/>
          </a:xfrm>
        </p:grpSpPr>
        <p:sp>
          <p:nvSpPr>
            <p:cNvPr id="6" name="Rectangle 6"/>
            <p:cNvSpPr/>
            <p:nvPr/>
          </p:nvSpPr>
          <p:spPr>
            <a:xfrm>
              <a:off x="571500" y="1485900"/>
              <a:ext cx="11049000" cy="1809750"/>
            </a:xfrm>
            <a:prstGeom prst="roundRect">
              <a:avLst>
                <a:gd name="adj" fmla="val 7368"/>
              </a:avLst>
            </a:prstGeom>
            <a:gradFill>
              <a:gsLst>
                <a:gs pos="0">
                  <a:schemeClr val="accent1"/>
                </a:gs>
                <a:gs pos="100000">
                  <a:schemeClr val="accent2"/>
                </a:gs>
              </a:gsLst>
              <a:lin ang="0" scaled="1"/>
            </a:gradFill>
            <a:ln>
              <a:noFill/>
            </a:ln>
          </p:spPr>
        </p:sp>
        <p:sp>
          <p:nvSpPr>
            <p:cNvPr id="7" name="TextBox 7"/>
            <p:cNvSpPr txBox="1"/>
            <p:nvPr/>
          </p:nvSpPr>
          <p:spPr>
            <a:xfrm>
              <a:off x="909066" y="1886902"/>
              <a:ext cx="1579611" cy="205359"/>
            </a:xfrm>
            <a:prstGeom prst="rect">
              <a:avLst/>
            </a:prstGeom>
            <a:noFill/>
            <a:ln>
              <a:noFill/>
            </a:ln>
          </p:spPr>
          <p:txBody>
            <a:bodyPr wrap="none" lIns="0" tIns="0" rIns="0" bIns="0" anchor="t" anchorCtr="0">
              <a:spAutoFit/>
            </a:bodyPr>
            <a:lstStyle/>
            <a:p>
              <a:pPr algn="l"/>
              <a:r>
                <a:rPr lang="en-US" sz="1050" b="1" spc="150" dirty="0">
                  <a:solidFill>
                    <a:schemeClr val="accent3"/>
                  </a:solidFill>
                  <a:latin typeface="+mn-lt"/>
                  <a:ea typeface="+mn-ea"/>
                  <a:cs typeface="+mn-cs"/>
                </a:rPr>
                <a:t>THE BOTTOM LINE</a:t>
              </a:r>
            </a:p>
          </p:txBody>
        </p:sp>
        <p:sp>
          <p:nvSpPr>
            <p:cNvPr id="8" name="TextBox 8"/>
            <p:cNvSpPr txBox="1"/>
            <p:nvPr/>
          </p:nvSpPr>
          <p:spPr>
            <a:xfrm>
              <a:off x="903732" y="2211705"/>
              <a:ext cx="10738266"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j-lt"/>
                  <a:ea typeface="+mj-ea"/>
                  <a:cs typeface="+mj-cs"/>
                </a:rPr>
                <a:t>Combining spatial structure with curiosity generates drug candidates</a:t>
              </a:r>
            </a:p>
          </p:txBody>
        </p:sp>
        <p:sp>
          <p:nvSpPr>
            <p:cNvPr id="9" name="TextBox 9"/>
            <p:cNvSpPr txBox="1"/>
            <p:nvPr/>
          </p:nvSpPr>
          <p:spPr>
            <a:xfrm>
              <a:off x="903732" y="2592705"/>
              <a:ext cx="9524604"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j-lt"/>
                  <a:ea typeface="+mj-ea"/>
                  <a:cs typeface="+mj-cs"/>
                </a:rPr>
                <a:t>that bind more tightly and are easier to synthesize than prior</a:t>
              </a:r>
            </a:p>
          </p:txBody>
        </p:sp>
        <p:sp>
          <p:nvSpPr>
            <p:cNvPr id="10" name="TextBox 10"/>
            <p:cNvSpPr txBox="1"/>
            <p:nvPr/>
          </p:nvSpPr>
          <p:spPr>
            <a:xfrm>
              <a:off x="903732" y="2973705"/>
              <a:ext cx="4772970"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j-lt"/>
                  <a:ea typeface="+mj-ea"/>
                  <a:cs typeface="+mj-cs"/>
                </a:rPr>
                <a:t>state-of-the-art generators.</a:t>
              </a:r>
            </a:p>
          </p:txBody>
        </p:sp>
      </p:grpSp>
      <p:grpSp>
        <p:nvGrpSpPr>
          <p:cNvPr id="30" name="Group 30"/>
          <p:cNvGrpSpPr/>
          <p:nvPr/>
        </p:nvGrpSpPr>
        <p:grpSpPr>
          <a:xfrm>
            <a:off x="571500" y="3562350"/>
            <a:ext cx="11049000" cy="1676400"/>
            <a:chOff x="571500" y="3562350"/>
            <a:chExt cx="11049000" cy="1676400"/>
          </a:xfrm>
        </p:grpSpPr>
        <p:sp>
          <p:nvSpPr>
            <p:cNvPr id="12" name="Rectangle 12"/>
            <p:cNvSpPr/>
            <p:nvPr/>
          </p:nvSpPr>
          <p:spPr>
            <a:xfrm>
              <a:off x="571500" y="3562350"/>
              <a:ext cx="3429000" cy="1676400"/>
            </a:xfrm>
            <a:prstGeom prst="roundRect">
              <a:avLst>
                <a:gd name="adj" fmla="val 6818"/>
              </a:avLst>
            </a:prstGeom>
            <a:solidFill>
              <a:schemeClr val="lt1"/>
            </a:solidFill>
            <a:ln w="14288">
              <a:solidFill>
                <a:schemeClr val="accent4"/>
              </a:solidFill>
            </a:ln>
          </p:spPr>
        </p:sp>
        <p:sp>
          <p:nvSpPr>
            <p:cNvPr id="13" name="Rectangle 13"/>
            <p:cNvSpPr/>
            <p:nvPr/>
          </p:nvSpPr>
          <p:spPr>
            <a:xfrm>
              <a:off x="571500" y="3562350"/>
              <a:ext cx="3429000" cy="57150"/>
            </a:xfrm>
            <a:prstGeom prst="roundRect">
              <a:avLst>
                <a:gd name="adj" fmla="val 50000"/>
              </a:avLst>
            </a:prstGeom>
            <a:solidFill>
              <a:schemeClr val="accent2"/>
            </a:solidFill>
            <a:ln>
              <a:noFill/>
            </a:ln>
          </p:spPr>
        </p:sp>
        <p:sp>
          <p:nvSpPr>
            <p:cNvPr id="14" name="TextBox 14"/>
            <p:cNvSpPr txBox="1"/>
            <p:nvPr/>
          </p:nvSpPr>
          <p:spPr>
            <a:xfrm>
              <a:off x="871347" y="3857149"/>
              <a:ext cx="1709489"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1 · ENCODE GEOMETRY</a:t>
              </a:r>
            </a:p>
          </p:txBody>
        </p:sp>
        <p:sp>
          <p:nvSpPr>
            <p:cNvPr id="15" name="TextBox 15"/>
            <p:cNvSpPr txBox="1"/>
            <p:nvPr/>
          </p:nvSpPr>
          <p:spPr>
            <a:xfrm>
              <a:off x="869823" y="4167664"/>
              <a:ext cx="198262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Spatial graph attention</a:t>
              </a:r>
            </a:p>
          </p:txBody>
        </p:sp>
        <p:sp>
          <p:nvSpPr>
            <p:cNvPr id="16" name="TextBox 16"/>
            <p:cNvSpPr txBox="1"/>
            <p:nvPr/>
          </p:nvSpPr>
          <p:spPr>
            <a:xfrm>
              <a:off x="869823" y="4396264"/>
              <a:ext cx="186532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captures a molecule's</a:t>
              </a:r>
            </a:p>
          </p:txBody>
        </p:sp>
        <p:sp>
          <p:nvSpPr>
            <p:cNvPr id="17" name="TextBox 17"/>
            <p:cNvSpPr txBox="1"/>
            <p:nvPr/>
          </p:nvSpPr>
          <p:spPr>
            <a:xfrm>
              <a:off x="869823" y="4624864"/>
              <a:ext cx="244018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3D structure and chemistry.</a:t>
              </a:r>
            </a:p>
          </p:txBody>
        </p:sp>
        <p:sp>
          <p:nvSpPr>
            <p:cNvPr id="18" name="Rectangle 18"/>
            <p:cNvSpPr/>
            <p:nvPr/>
          </p:nvSpPr>
          <p:spPr>
            <a:xfrm>
              <a:off x="4381500" y="3562350"/>
              <a:ext cx="3429000" cy="1676400"/>
            </a:xfrm>
            <a:prstGeom prst="roundRect">
              <a:avLst>
                <a:gd name="adj" fmla="val 6818"/>
              </a:avLst>
            </a:prstGeom>
            <a:solidFill>
              <a:schemeClr val="lt1"/>
            </a:solidFill>
            <a:ln w="14288">
              <a:solidFill>
                <a:schemeClr val="accent4"/>
              </a:solidFill>
            </a:ln>
          </p:spPr>
        </p:sp>
        <p:sp>
          <p:nvSpPr>
            <p:cNvPr id="19" name="Rectangle 19"/>
            <p:cNvSpPr/>
            <p:nvPr/>
          </p:nvSpPr>
          <p:spPr>
            <a:xfrm>
              <a:off x="4381500" y="3562350"/>
              <a:ext cx="3429000" cy="57150"/>
            </a:xfrm>
            <a:prstGeom prst="roundRect">
              <a:avLst>
                <a:gd name="adj" fmla="val 50000"/>
              </a:avLst>
            </a:prstGeom>
            <a:solidFill>
              <a:schemeClr val="accent2"/>
            </a:solidFill>
            <a:ln>
              <a:noFill/>
            </a:ln>
          </p:spPr>
        </p:sp>
        <p:sp>
          <p:nvSpPr>
            <p:cNvPr id="20" name="TextBox 20"/>
            <p:cNvSpPr txBox="1"/>
            <p:nvPr/>
          </p:nvSpPr>
          <p:spPr>
            <a:xfrm>
              <a:off x="4681347" y="3857149"/>
              <a:ext cx="2008300"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2 · FRAGMENTS + NOVELTY</a:t>
              </a:r>
            </a:p>
          </p:txBody>
        </p:sp>
        <p:sp>
          <p:nvSpPr>
            <p:cNvPr id="21" name="TextBox 21"/>
            <p:cNvSpPr txBox="1"/>
            <p:nvPr/>
          </p:nvSpPr>
          <p:spPr>
            <a:xfrm>
              <a:off x="4679823" y="4167664"/>
              <a:ext cx="243103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Acting over whole fragments</a:t>
              </a:r>
            </a:p>
          </p:txBody>
        </p:sp>
        <p:sp>
          <p:nvSpPr>
            <p:cNvPr id="22" name="TextBox 22"/>
            <p:cNvSpPr txBox="1"/>
            <p:nvPr/>
          </p:nvSpPr>
          <p:spPr>
            <a:xfrm>
              <a:off x="4679823" y="4396264"/>
              <a:ext cx="222691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keeps molecules valid; RND</a:t>
              </a:r>
            </a:p>
          </p:txBody>
        </p:sp>
        <p:sp>
          <p:nvSpPr>
            <p:cNvPr id="23" name="TextBox 23"/>
            <p:cNvSpPr txBox="1"/>
            <p:nvPr/>
          </p:nvSpPr>
          <p:spPr>
            <a:xfrm>
              <a:off x="4679823" y="4624864"/>
              <a:ext cx="229610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rewards exploring novelty.</a:t>
              </a:r>
            </a:p>
          </p:txBody>
        </p:sp>
        <p:sp>
          <p:nvSpPr>
            <p:cNvPr id="24" name="Rectangle 24"/>
            <p:cNvSpPr/>
            <p:nvPr/>
          </p:nvSpPr>
          <p:spPr>
            <a:xfrm>
              <a:off x="8191500" y="3562350"/>
              <a:ext cx="3429000" cy="1676400"/>
            </a:xfrm>
            <a:prstGeom prst="roundRect">
              <a:avLst>
                <a:gd name="adj" fmla="val 6818"/>
              </a:avLst>
            </a:prstGeom>
            <a:solidFill>
              <a:schemeClr val="accent6"/>
            </a:solidFill>
            <a:ln w="14288">
              <a:solidFill>
                <a:schemeClr val="accent3"/>
              </a:solidFill>
            </a:ln>
          </p:spPr>
        </p:sp>
        <p:sp>
          <p:nvSpPr>
            <p:cNvPr id="25" name="Rectangle 25"/>
            <p:cNvSpPr/>
            <p:nvPr/>
          </p:nvSpPr>
          <p:spPr>
            <a:xfrm>
              <a:off x="8191500" y="3562350"/>
              <a:ext cx="3429000" cy="57150"/>
            </a:xfrm>
            <a:prstGeom prst="roundRect">
              <a:avLst>
                <a:gd name="adj" fmla="val 50000"/>
              </a:avLst>
            </a:prstGeom>
            <a:solidFill>
              <a:srgbClr val="2F7D5B"/>
            </a:solidFill>
            <a:ln>
              <a:noFill/>
            </a:ln>
          </p:spPr>
        </p:sp>
        <p:sp>
          <p:nvSpPr>
            <p:cNvPr id="26" name="TextBox 26"/>
            <p:cNvSpPr txBox="1"/>
            <p:nvPr/>
          </p:nvSpPr>
          <p:spPr>
            <a:xfrm>
              <a:off x="8491347" y="3857149"/>
              <a:ext cx="2215942" cy="190690"/>
            </a:xfrm>
            <a:prstGeom prst="rect">
              <a:avLst/>
            </a:prstGeom>
            <a:noFill/>
            <a:ln>
              <a:noFill/>
            </a:ln>
          </p:spPr>
          <p:txBody>
            <a:bodyPr wrap="none" lIns="0" tIns="0" rIns="0" bIns="0" anchor="t" anchorCtr="0">
              <a:spAutoFit/>
            </a:bodyPr>
            <a:lstStyle/>
            <a:p>
              <a:pPr algn="l"/>
              <a:r>
                <a:rPr lang="en-US" sz="980" b="1" spc="75" dirty="0">
                  <a:solidFill>
                    <a:srgbClr val="2F7D5B"/>
                  </a:solidFill>
                  <a:latin typeface="+mn-lt"/>
                  <a:ea typeface="+mn-ea"/>
                  <a:cs typeface="+mn-cs"/>
                </a:rPr>
                <a:t>3 · USER-DEFINED OBJECTIVE</a:t>
              </a:r>
            </a:p>
          </p:txBody>
        </p:sp>
        <p:sp>
          <p:nvSpPr>
            <p:cNvPr id="27" name="TextBox 27"/>
            <p:cNvSpPr txBox="1"/>
            <p:nvPr/>
          </p:nvSpPr>
          <p:spPr>
            <a:xfrm>
              <a:off x="8489823" y="4167664"/>
              <a:ext cx="259444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Practitioners can dial between</a:t>
              </a:r>
            </a:p>
          </p:txBody>
        </p:sp>
        <p:sp>
          <p:nvSpPr>
            <p:cNvPr id="28" name="TextBox 28"/>
            <p:cNvSpPr txBox="1"/>
            <p:nvPr/>
          </p:nvSpPr>
          <p:spPr>
            <a:xfrm>
              <a:off x="8489823" y="4396264"/>
              <a:ext cx="222718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pure binding affinity and a</a:t>
              </a:r>
            </a:p>
          </p:txBody>
        </p:sp>
        <p:sp>
          <p:nvSpPr>
            <p:cNvPr id="29" name="TextBox 29"/>
            <p:cNvSpPr txBox="1"/>
            <p:nvPr/>
          </p:nvSpPr>
          <p:spPr>
            <a:xfrm>
              <a:off x="8489823" y="4624864"/>
              <a:ext cx="277858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balanced, more drug-like result.</a:t>
              </a:r>
            </a:p>
          </p:txBody>
        </p:sp>
      </p:grpSp>
      <p:grpSp>
        <p:nvGrpSpPr>
          <p:cNvPr id="33" name="Group 33"/>
          <p:cNvGrpSpPr/>
          <p:nvPr/>
        </p:nvGrpSpPr>
        <p:grpSpPr>
          <a:xfrm>
            <a:off x="564642" y="5619750"/>
            <a:ext cx="7057531" cy="442151"/>
            <a:chOff x="564642" y="5619750"/>
            <a:chExt cx="7057531" cy="442151"/>
          </a:xfrm>
        </p:grpSpPr>
        <p:sp>
          <p:nvSpPr>
            <p:cNvPr id="31" name="Line 31"/>
            <p:cNvSpPr/>
            <p:nvPr/>
          </p:nvSpPr>
          <p:spPr>
            <a:xfrm>
              <a:off x="571500" y="5619750"/>
              <a:ext cx="952500" cy="9525"/>
            </a:xfrm>
            <a:custGeom>
              <a:avLst/>
              <a:gdLst/>
              <a:ahLst/>
              <a:cxnLst/>
              <a:rect l="l" t="t" r="r" b="b"/>
              <a:pathLst>
                <a:path w="952500" h="9525">
                  <a:moveTo>
                    <a:pt x="0" y="0"/>
                  </a:moveTo>
                  <a:lnTo>
                    <a:pt x="952500" y="0"/>
                  </a:lnTo>
                </a:path>
              </a:pathLst>
            </a:custGeom>
            <a:noFill/>
            <a:ln w="14288">
              <a:solidFill>
                <a:schemeClr val="accent1"/>
              </a:solidFill>
            </a:ln>
          </p:spPr>
        </p:sp>
        <p:sp>
          <p:nvSpPr>
            <p:cNvPr id="32" name="TextBox 32"/>
            <p:cNvSpPr txBox="1"/>
            <p:nvPr/>
          </p:nvSpPr>
          <p:spPr>
            <a:xfrm>
              <a:off x="564642" y="5797868"/>
              <a:ext cx="7057531" cy="264033"/>
            </a:xfrm>
            <a:prstGeom prst="rect">
              <a:avLst/>
            </a:prstGeom>
            <a:noFill/>
            <a:ln>
              <a:noFill/>
            </a:ln>
          </p:spPr>
          <p:txBody>
            <a:bodyPr wrap="none" lIns="0" tIns="0" rIns="0" bIns="0" anchor="t" anchorCtr="0">
              <a:spAutoFit/>
            </a:bodyPr>
            <a:lstStyle/>
            <a:p>
              <a:pPr algn="l"/>
              <a:r>
                <a:rPr lang="en-US" sz="1350" i="1" dirty="0">
                  <a:solidFill>
                    <a:schemeClr val="accent1"/>
                  </a:solidFill>
                  <a:latin typeface="+mj-lt"/>
                  <a:ea typeface="+mj-ea"/>
                  <a:cs typeface="+mj-cs"/>
                </a:rPr>
                <a:t>DGAPN · ICLR 2022 · arXiv:2106.02190 · github.com/yulun-rayn/DGAPN</a:t>
              </a:r>
            </a:p>
          </p:txBody>
        </p:sp>
      </p:grpSp>
      <p:sp>
        <p:nvSpPr>
          <p:cNvPr id="34" name="TextBox 34"/>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10</a:t>
            </a:r>
          </a:p>
        </p:txBody>
      </p:sp>
      <p:sp>
        <p:nvSpPr>
          <p:cNvPr id="35" name="cue_s10_c1_takeaway_combining_spatial_structure" title="cue_s10_c1_takeaway_combining_spatial_structure" descr="cue_s10_c1_takeaway_combining_spatial_structure The takeaway: combining spatial structure with curiosity pays off for molecular design."/>
          <p:cNvSpPr/>
          <p:nvPr/>
        </p:nvSpPr>
        <p:spPr>
          <a:xfrm>
            <a:off x="571804" y="1486128"/>
            <a:ext cx="11048390"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10_c2_encoding_3_geometry_through_spatial" title="cue_s10_c2_encoding_3_geometry_through_spatial" descr="cue_s10_c2_encoding_3_geometry_through_spatial By encoding 3D geometry through spatial graph attention, acting over whole fragments for synthesizability, and rewarding novelty with random network distillation, DGAPN designs tighter-binding, more synthesizable drug candidates than prior methods, with a user"/>
          <p:cNvSpPr/>
          <p:nvPr/>
        </p:nvSpPr>
        <p:spPr>
          <a:xfrm>
            <a:off x="571804" y="3562045"/>
            <a:ext cx="1104839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gapn_deck">
  <a:themeElements>
    <a:clrScheme name="dgapn_deck">
      <a:dk1>
        <a:srgbClr val="14201F"/>
      </a:dk1>
      <a:lt1>
        <a:srgbClr val="FFFFFF"/>
      </a:lt1>
      <a:dk2>
        <a:srgbClr val="48605C"/>
      </a:dk2>
      <a:lt2>
        <a:srgbClr val="F3F7F6"/>
      </a:lt2>
      <a:accent1>
        <a:srgbClr val="123B3A"/>
      </a:accent1>
      <a:accent2>
        <a:srgbClr val="10897A"/>
      </a:accent2>
      <a:accent3>
        <a:srgbClr val="3FB59E"/>
      </a:accent3>
      <a:accent4>
        <a:srgbClr val="E1EAE8"/>
      </a:accent4>
      <a:accent5>
        <a:srgbClr val="9AACA8"/>
      </a:accent5>
      <a:accent6>
        <a:srgbClr val="E6F3F0"/>
      </a:accent6>
      <a:hlink>
        <a:srgbClr val="10897A"/>
      </a:hlink>
      <a:folHlink>
        <a:srgbClr val="3FB59E"/>
      </a:folHlink>
    </a:clrScheme>
    <a:fontScheme name="dgapn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gapn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gapn_deck">
  <a:themeElements>
    <a:clrScheme name="dgapn_deck">
      <a:dk1>
        <a:srgbClr val="14201F"/>
      </a:dk1>
      <a:lt1>
        <a:srgbClr val="FFFFFF"/>
      </a:lt1>
      <a:dk2>
        <a:srgbClr val="48605C"/>
      </a:dk2>
      <a:lt2>
        <a:srgbClr val="F3F7F6"/>
      </a:lt2>
      <a:accent1>
        <a:srgbClr val="123B3A"/>
      </a:accent1>
      <a:accent2>
        <a:srgbClr val="10897A"/>
      </a:accent2>
      <a:accent3>
        <a:srgbClr val="3FB59E"/>
      </a:accent3>
      <a:accent4>
        <a:srgbClr val="E1EAE8"/>
      </a:accent4>
      <a:accent5>
        <a:srgbClr val="9AACA8"/>
      </a:accent5>
      <a:accent6>
        <a:srgbClr val="E6F3F0"/>
      </a:accent6>
      <a:hlink>
        <a:srgbClr val="10897A"/>
      </a:hlink>
      <a:folHlink>
        <a:srgbClr val="3FB59E"/>
      </a:folHlink>
    </a:clrScheme>
    <a:fontScheme name="dgapn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gapn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2026-07-15T07:24:55Z</dcterms:created>
  <dcterms:modified xsi:type="dcterms:W3CDTF">2026-07-15T07:24:55Z</dcterms:modified>
  <cp:category/>
  <cp:contentStatus/>
</cp:coreProperties>
</file>